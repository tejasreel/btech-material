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4"/>
  </p:notesMasterIdLst>
  <p:sldIdLst>
    <p:sldId id="256" r:id="rId2"/>
    <p:sldId id="260" r:id="rId3"/>
    <p:sldId id="264" r:id="rId4"/>
    <p:sldId id="265" r:id="rId5"/>
    <p:sldId id="266" r:id="rId6"/>
    <p:sldId id="267" r:id="rId7"/>
    <p:sldId id="268" r:id="rId8"/>
    <p:sldId id="269" r:id="rId9"/>
    <p:sldId id="270" r:id="rId10"/>
    <p:sldId id="271" r:id="rId11"/>
    <p:sldId id="272" r:id="rId12"/>
    <p:sldId id="273" r:id="rId13"/>
    <p:sldId id="274" r:id="rId14"/>
    <p:sldId id="278" r:id="rId15"/>
    <p:sldId id="279" r:id="rId16"/>
    <p:sldId id="280" r:id="rId17"/>
    <p:sldId id="281" r:id="rId18"/>
    <p:sldId id="282" r:id="rId19"/>
    <p:sldId id="283" r:id="rId20"/>
    <p:sldId id="284" r:id="rId21"/>
    <p:sldId id="285" r:id="rId22"/>
    <p:sldId id="286" r:id="rId23"/>
    <p:sldId id="287" r:id="rId24"/>
    <p:sldId id="288" r:id="rId25"/>
    <p:sldId id="289" r:id="rId26"/>
    <p:sldId id="290" r:id="rId27"/>
    <p:sldId id="291" r:id="rId28"/>
    <p:sldId id="292" r:id="rId29"/>
    <p:sldId id="293" r:id="rId30"/>
    <p:sldId id="294" r:id="rId31"/>
    <p:sldId id="295" r:id="rId32"/>
    <p:sldId id="296" r:id="rId33"/>
    <p:sldId id="297" r:id="rId34"/>
    <p:sldId id="298" r:id="rId35"/>
    <p:sldId id="299" r:id="rId36"/>
    <p:sldId id="300" r:id="rId37"/>
    <p:sldId id="301" r:id="rId38"/>
    <p:sldId id="340" r:id="rId39"/>
    <p:sldId id="341" r:id="rId40"/>
    <p:sldId id="306" r:id="rId41"/>
    <p:sldId id="307" r:id="rId42"/>
    <p:sldId id="308" r:id="rId43"/>
    <p:sldId id="309" r:id="rId44"/>
    <p:sldId id="310" r:id="rId45"/>
    <p:sldId id="305" r:id="rId46"/>
    <p:sldId id="311" r:id="rId47"/>
    <p:sldId id="312" r:id="rId48"/>
    <p:sldId id="313" r:id="rId49"/>
    <p:sldId id="314" r:id="rId50"/>
    <p:sldId id="315" r:id="rId51"/>
    <p:sldId id="316" r:id="rId52"/>
    <p:sldId id="318" r:id="rId53"/>
    <p:sldId id="319" r:id="rId54"/>
    <p:sldId id="344" r:id="rId55"/>
    <p:sldId id="342" r:id="rId56"/>
    <p:sldId id="346" r:id="rId57"/>
    <p:sldId id="347" r:id="rId58"/>
    <p:sldId id="322" r:id="rId59"/>
    <p:sldId id="323" r:id="rId60"/>
    <p:sldId id="324" r:id="rId61"/>
    <p:sldId id="325" r:id="rId62"/>
    <p:sldId id="326" r:id="rId63"/>
    <p:sldId id="337" r:id="rId64"/>
    <p:sldId id="329" r:id="rId65"/>
    <p:sldId id="333" r:id="rId66"/>
    <p:sldId id="335" r:id="rId67"/>
    <p:sldId id="331" r:id="rId68"/>
    <p:sldId id="332" r:id="rId69"/>
    <p:sldId id="334" r:id="rId70"/>
    <p:sldId id="328" r:id="rId71"/>
    <p:sldId id="336" r:id="rId72"/>
    <p:sldId id="338" r:id="rId73"/>
    <p:sldId id="348" r:id="rId74"/>
    <p:sldId id="349" r:id="rId75"/>
    <p:sldId id="350" r:id="rId76"/>
    <p:sldId id="351" r:id="rId77"/>
    <p:sldId id="352" r:id="rId78"/>
    <p:sldId id="353" r:id="rId79"/>
    <p:sldId id="354" r:id="rId80"/>
    <p:sldId id="355" r:id="rId81"/>
    <p:sldId id="356" r:id="rId82"/>
    <p:sldId id="357" r:id="rId83"/>
    <p:sldId id="358" r:id="rId84"/>
    <p:sldId id="359" r:id="rId85"/>
    <p:sldId id="360" r:id="rId86"/>
    <p:sldId id="361" r:id="rId87"/>
    <p:sldId id="362" r:id="rId88"/>
    <p:sldId id="363" r:id="rId89"/>
    <p:sldId id="364" r:id="rId90"/>
    <p:sldId id="365" r:id="rId91"/>
    <p:sldId id="366" r:id="rId92"/>
    <p:sldId id="367" r:id="rId9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68">
          <p15:clr>
            <a:srgbClr val="A4A3A4"/>
          </p15:clr>
        </p15:guide>
        <p15:guide id="2" orient="horz" pos="4272">
          <p15:clr>
            <a:srgbClr val="A4A3A4"/>
          </p15:clr>
        </p15:guide>
        <p15:guide id="3" orient="horz" pos="240">
          <p15:clr>
            <a:srgbClr val="A4A3A4"/>
          </p15:clr>
        </p15:guide>
        <p15:guide id="4" orient="horz" pos="3888">
          <p15:clr>
            <a:srgbClr val="A4A3A4"/>
          </p15:clr>
        </p15:guide>
        <p15:guide id="5" orient="horz" pos="864">
          <p15:clr>
            <a:srgbClr val="A4A3A4"/>
          </p15:clr>
        </p15:guide>
        <p15:guide id="6" orient="horz" pos="3984">
          <p15:clr>
            <a:srgbClr val="A4A3A4"/>
          </p15:clr>
        </p15:guide>
        <p15:guide id="7" orient="horz" pos="96">
          <p15:clr>
            <a:srgbClr val="A4A3A4"/>
          </p15:clr>
        </p15:guide>
        <p15:guide id="8" pos="5040">
          <p15:clr>
            <a:srgbClr val="A4A3A4"/>
          </p15:clr>
        </p15:guide>
        <p15:guide id="9" pos="48">
          <p15:clr>
            <a:srgbClr val="A4A3A4"/>
          </p15:clr>
        </p15:guide>
        <p15:guide id="10" pos="5712">
          <p15:clr>
            <a:srgbClr val="A4A3A4"/>
          </p15:clr>
        </p15:guide>
        <p15:guide id="11" pos="96">
          <p15:clr>
            <a:srgbClr val="A4A3A4"/>
          </p15:clr>
        </p15:guide>
        <p15:guide id="12" pos="55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E864AD6-E0EC-4607-BC00-A02B70581197}" v="38" dt="2024-03-13T04:08:31.1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3594" autoAdjust="0"/>
  </p:normalViewPr>
  <p:slideViewPr>
    <p:cSldViewPr showGuides="1">
      <p:cViewPr varScale="1">
        <p:scale>
          <a:sx n="82" d="100"/>
          <a:sy n="82" d="100"/>
        </p:scale>
        <p:origin x="1502" y="77"/>
      </p:cViewPr>
      <p:guideLst>
        <p:guide orient="horz" pos="768"/>
        <p:guide orient="horz" pos="4272"/>
        <p:guide orient="horz" pos="240"/>
        <p:guide orient="horz" pos="3888"/>
        <p:guide orient="horz" pos="864"/>
        <p:guide orient="horz" pos="3984"/>
        <p:guide orient="horz" pos="96"/>
        <p:guide pos="5040"/>
        <p:guide pos="48"/>
        <p:guide pos="5712"/>
        <p:guide pos="96"/>
        <p:guide pos="55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9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uligundla Neelakantan" userId="d690627465380b73" providerId="LiveId" clId="{AE864AD6-E0EC-4607-BC00-A02B70581197}"/>
    <pc:docChg chg="undo custSel addSld delSld modSld sldOrd">
      <pc:chgData name="Puligundla Neelakantan" userId="d690627465380b73" providerId="LiveId" clId="{AE864AD6-E0EC-4607-BC00-A02B70581197}" dt="2024-03-13T06:08:32.984" v="463" actId="20577"/>
      <pc:docMkLst>
        <pc:docMk/>
      </pc:docMkLst>
      <pc:sldChg chg="addSp modSp mod">
        <pc:chgData name="Puligundla Neelakantan" userId="d690627465380b73" providerId="LiveId" clId="{AE864AD6-E0EC-4607-BC00-A02B70581197}" dt="2024-02-15T05:01:28.105" v="51" actId="14100"/>
        <pc:sldMkLst>
          <pc:docMk/>
          <pc:sldMk cId="682523338" sldId="288"/>
        </pc:sldMkLst>
        <pc:spChg chg="mod">
          <ac:chgData name="Puligundla Neelakantan" userId="d690627465380b73" providerId="LiveId" clId="{AE864AD6-E0EC-4607-BC00-A02B70581197}" dt="2024-02-15T05:01:28.105" v="51" actId="14100"/>
          <ac:spMkLst>
            <pc:docMk/>
            <pc:sldMk cId="682523338" sldId="288"/>
            <ac:spMk id="7" creationId="{A3274401-F659-5560-11D8-6C15C57001F4}"/>
          </ac:spMkLst>
        </pc:spChg>
        <pc:cxnChg chg="add mod">
          <ac:chgData name="Puligundla Neelakantan" userId="d690627465380b73" providerId="LiveId" clId="{AE864AD6-E0EC-4607-BC00-A02B70581197}" dt="2024-02-15T04:57:34.201" v="43" actId="1076"/>
          <ac:cxnSpMkLst>
            <pc:docMk/>
            <pc:sldMk cId="682523338" sldId="288"/>
            <ac:cxnSpMk id="8" creationId="{38DB97EC-84C4-C88A-16A8-8460A4201B7C}"/>
          </ac:cxnSpMkLst>
        </pc:cxnChg>
        <pc:cxnChg chg="add mod">
          <ac:chgData name="Puligundla Neelakantan" userId="d690627465380b73" providerId="LiveId" clId="{AE864AD6-E0EC-4607-BC00-A02B70581197}" dt="2024-02-15T04:57:31.791" v="42" actId="1076"/>
          <ac:cxnSpMkLst>
            <pc:docMk/>
            <pc:sldMk cId="682523338" sldId="288"/>
            <ac:cxnSpMk id="11" creationId="{F94DDC29-427B-7D29-4569-A18A8EC52C4D}"/>
          </ac:cxnSpMkLst>
        </pc:cxnChg>
        <pc:cxnChg chg="add">
          <ac:chgData name="Puligundla Neelakantan" userId="d690627465380b73" providerId="LiveId" clId="{AE864AD6-E0EC-4607-BC00-A02B70581197}" dt="2024-02-15T04:56:55.914" v="36" actId="11529"/>
          <ac:cxnSpMkLst>
            <pc:docMk/>
            <pc:sldMk cId="682523338" sldId="288"/>
            <ac:cxnSpMk id="13" creationId="{162D3072-7D65-9710-64C7-08E7AD8C503A}"/>
          </ac:cxnSpMkLst>
        </pc:cxnChg>
        <pc:cxnChg chg="add mod">
          <ac:chgData name="Puligundla Neelakantan" userId="d690627465380b73" providerId="LiveId" clId="{AE864AD6-E0EC-4607-BC00-A02B70581197}" dt="2024-02-15T04:57:28.598" v="41" actId="1076"/>
          <ac:cxnSpMkLst>
            <pc:docMk/>
            <pc:sldMk cId="682523338" sldId="288"/>
            <ac:cxnSpMk id="15" creationId="{EFFC640A-83B9-B688-F39D-3C2CDCA9EED6}"/>
          </ac:cxnSpMkLst>
        </pc:cxnChg>
        <pc:cxnChg chg="add mod">
          <ac:chgData name="Puligundla Neelakantan" userId="d690627465380b73" providerId="LiveId" clId="{AE864AD6-E0EC-4607-BC00-A02B70581197}" dt="2024-02-15T04:57:49.749" v="45" actId="1076"/>
          <ac:cxnSpMkLst>
            <pc:docMk/>
            <pc:sldMk cId="682523338" sldId="288"/>
            <ac:cxnSpMk id="17" creationId="{4469E8CF-2365-6A1F-8D47-CCD5012F7109}"/>
          </ac:cxnSpMkLst>
        </pc:cxnChg>
      </pc:sldChg>
      <pc:sldChg chg="modSp mod">
        <pc:chgData name="Puligundla Neelakantan" userId="d690627465380b73" providerId="LiveId" clId="{AE864AD6-E0EC-4607-BC00-A02B70581197}" dt="2024-02-19T01:49:34.667" v="55" actId="15"/>
        <pc:sldMkLst>
          <pc:docMk/>
          <pc:sldMk cId="1060125282" sldId="294"/>
        </pc:sldMkLst>
        <pc:spChg chg="mod">
          <ac:chgData name="Puligundla Neelakantan" userId="d690627465380b73" providerId="LiveId" clId="{AE864AD6-E0EC-4607-BC00-A02B70581197}" dt="2024-02-19T01:49:34.667" v="55" actId="15"/>
          <ac:spMkLst>
            <pc:docMk/>
            <pc:sldMk cId="1060125282" sldId="294"/>
            <ac:spMk id="8" creationId="{EDB11AAA-5C3C-3754-2BED-63F53107C7A7}"/>
          </ac:spMkLst>
        </pc:spChg>
      </pc:sldChg>
      <pc:sldChg chg="modSp mod">
        <pc:chgData name="Puligundla Neelakantan" userId="d690627465380b73" providerId="LiveId" clId="{AE864AD6-E0EC-4607-BC00-A02B70581197}" dt="2024-02-19T01:50:09.297" v="56" actId="113"/>
        <pc:sldMkLst>
          <pc:docMk/>
          <pc:sldMk cId="1813236747" sldId="296"/>
        </pc:sldMkLst>
        <pc:spChg chg="mod">
          <ac:chgData name="Puligundla Neelakantan" userId="d690627465380b73" providerId="LiveId" clId="{AE864AD6-E0EC-4607-BC00-A02B70581197}" dt="2024-02-19T01:50:09.297" v="56" actId="113"/>
          <ac:spMkLst>
            <pc:docMk/>
            <pc:sldMk cId="1813236747" sldId="296"/>
            <ac:spMk id="8" creationId="{EDB11AAA-5C3C-3754-2BED-63F53107C7A7}"/>
          </ac:spMkLst>
        </pc:spChg>
      </pc:sldChg>
      <pc:sldChg chg="modSp mod">
        <pc:chgData name="Puligundla Neelakantan" userId="d690627465380b73" providerId="LiveId" clId="{AE864AD6-E0EC-4607-BC00-A02B70581197}" dt="2024-02-19T01:50:57.970" v="61" actId="113"/>
        <pc:sldMkLst>
          <pc:docMk/>
          <pc:sldMk cId="1196852354" sldId="300"/>
        </pc:sldMkLst>
        <pc:spChg chg="mod">
          <ac:chgData name="Puligundla Neelakantan" userId="d690627465380b73" providerId="LiveId" clId="{AE864AD6-E0EC-4607-BC00-A02B70581197}" dt="2024-02-19T01:50:57.970" v="61" actId="113"/>
          <ac:spMkLst>
            <pc:docMk/>
            <pc:sldMk cId="1196852354" sldId="300"/>
            <ac:spMk id="8" creationId="{421C585B-4B9B-F24D-443B-103A34124CE4}"/>
          </ac:spMkLst>
        </pc:spChg>
      </pc:sldChg>
      <pc:sldChg chg="del">
        <pc:chgData name="Puligundla Neelakantan" userId="d690627465380b73" providerId="LiveId" clId="{AE864AD6-E0EC-4607-BC00-A02B70581197}" dt="2024-02-14T14:02:17.222" v="0" actId="47"/>
        <pc:sldMkLst>
          <pc:docMk/>
          <pc:sldMk cId="4044353072" sldId="302"/>
        </pc:sldMkLst>
      </pc:sldChg>
      <pc:sldChg chg="del">
        <pc:chgData name="Puligundla Neelakantan" userId="d690627465380b73" providerId="LiveId" clId="{AE864AD6-E0EC-4607-BC00-A02B70581197}" dt="2024-02-14T14:02:17.222" v="0" actId="47"/>
        <pc:sldMkLst>
          <pc:docMk/>
          <pc:sldMk cId="1932665979" sldId="303"/>
        </pc:sldMkLst>
      </pc:sldChg>
      <pc:sldChg chg="del">
        <pc:chgData name="Puligundla Neelakantan" userId="d690627465380b73" providerId="LiveId" clId="{AE864AD6-E0EC-4607-BC00-A02B70581197}" dt="2024-02-14T14:02:17.222" v="0" actId="47"/>
        <pc:sldMkLst>
          <pc:docMk/>
          <pc:sldMk cId="351843967" sldId="304"/>
        </pc:sldMkLst>
      </pc:sldChg>
      <pc:sldChg chg="del">
        <pc:chgData name="Puligundla Neelakantan" userId="d690627465380b73" providerId="LiveId" clId="{AE864AD6-E0EC-4607-BC00-A02B70581197}" dt="2024-02-14T14:06:35.842" v="22" actId="2696"/>
        <pc:sldMkLst>
          <pc:docMk/>
          <pc:sldMk cId="596229770" sldId="305"/>
        </pc:sldMkLst>
      </pc:sldChg>
      <pc:sldChg chg="del">
        <pc:chgData name="Puligundla Neelakantan" userId="d690627465380b73" providerId="LiveId" clId="{AE864AD6-E0EC-4607-BC00-A02B70581197}" dt="2024-02-19T01:53:23.111" v="62" actId="2696"/>
        <pc:sldMkLst>
          <pc:docMk/>
          <pc:sldMk cId="795242016" sldId="317"/>
        </pc:sldMkLst>
      </pc:sldChg>
      <pc:sldChg chg="addSp delSp modSp mod">
        <pc:chgData name="Puligundla Neelakantan" userId="d690627465380b73" providerId="LiveId" clId="{AE864AD6-E0EC-4607-BC00-A02B70581197}" dt="2024-03-02T03:52:32.896" v="195"/>
        <pc:sldMkLst>
          <pc:docMk/>
          <pc:sldMk cId="1220168443" sldId="319"/>
        </pc:sldMkLst>
        <pc:spChg chg="add del mod">
          <ac:chgData name="Puligundla Neelakantan" userId="d690627465380b73" providerId="LiveId" clId="{AE864AD6-E0EC-4607-BC00-A02B70581197}" dt="2024-03-02T03:52:32.896" v="195"/>
          <ac:spMkLst>
            <pc:docMk/>
            <pc:sldMk cId="1220168443" sldId="319"/>
            <ac:spMk id="8" creationId="{DA87796D-1E03-4CD0-630C-5650B0EC8532}"/>
          </ac:spMkLst>
        </pc:spChg>
        <pc:picChg chg="del">
          <ac:chgData name="Puligundla Neelakantan" userId="d690627465380b73" providerId="LiveId" clId="{AE864AD6-E0EC-4607-BC00-A02B70581197}" dt="2024-02-19T02:09:07.282" v="68" actId="478"/>
          <ac:picMkLst>
            <pc:docMk/>
            <pc:sldMk cId="1220168443" sldId="319"/>
            <ac:picMk id="7" creationId="{42DA2EB7-6B4A-8586-A423-B16F7B2795A5}"/>
          </ac:picMkLst>
        </pc:picChg>
        <pc:picChg chg="del mod">
          <ac:chgData name="Puligundla Neelakantan" userId="d690627465380b73" providerId="LiveId" clId="{AE864AD6-E0EC-4607-BC00-A02B70581197}" dt="2024-02-19T02:09:08.288" v="69" actId="478"/>
          <ac:picMkLst>
            <pc:docMk/>
            <pc:sldMk cId="1220168443" sldId="319"/>
            <ac:picMk id="11" creationId="{5532D4C8-0F0C-EAED-8F82-E4A00F3A473C}"/>
          </ac:picMkLst>
        </pc:picChg>
      </pc:sldChg>
      <pc:sldChg chg="del">
        <pc:chgData name="Puligundla Neelakantan" userId="d690627465380b73" providerId="LiveId" clId="{AE864AD6-E0EC-4607-BC00-A02B70581197}" dt="2024-02-19T02:14:28.915" v="87" actId="2696"/>
        <pc:sldMkLst>
          <pc:docMk/>
          <pc:sldMk cId="2437816693" sldId="320"/>
        </pc:sldMkLst>
      </pc:sldChg>
      <pc:sldChg chg="del">
        <pc:chgData name="Puligundla Neelakantan" userId="d690627465380b73" providerId="LiveId" clId="{AE864AD6-E0EC-4607-BC00-A02B70581197}" dt="2024-02-19T01:55:06.699" v="63" actId="2696"/>
        <pc:sldMkLst>
          <pc:docMk/>
          <pc:sldMk cId="1923892537" sldId="321"/>
        </pc:sldMkLst>
      </pc:sldChg>
      <pc:sldChg chg="del">
        <pc:chgData name="Puligundla Neelakantan" userId="d690627465380b73" providerId="LiveId" clId="{AE864AD6-E0EC-4607-BC00-A02B70581197}" dt="2024-02-19T02:15:09.290" v="88" actId="2696"/>
        <pc:sldMkLst>
          <pc:docMk/>
          <pc:sldMk cId="3559443659" sldId="327"/>
        </pc:sldMkLst>
      </pc:sldChg>
      <pc:sldChg chg="ord">
        <pc:chgData name="Puligundla Neelakantan" userId="d690627465380b73" providerId="LiveId" clId="{AE864AD6-E0EC-4607-BC00-A02B70581197}" dt="2024-02-19T01:58:55.775" v="66"/>
        <pc:sldMkLst>
          <pc:docMk/>
          <pc:sldMk cId="672796797" sldId="328"/>
        </pc:sldMkLst>
      </pc:sldChg>
      <pc:sldChg chg="del">
        <pc:chgData name="Puligundla Neelakantan" userId="d690627465380b73" providerId="LiveId" clId="{AE864AD6-E0EC-4607-BC00-A02B70581197}" dt="2024-02-19T01:58:07.381" v="64" actId="2696"/>
        <pc:sldMkLst>
          <pc:docMk/>
          <pc:sldMk cId="1515469581" sldId="328"/>
        </pc:sldMkLst>
      </pc:sldChg>
      <pc:sldChg chg="del">
        <pc:chgData name="Puligundla Neelakantan" userId="d690627465380b73" providerId="LiveId" clId="{AE864AD6-E0EC-4607-BC00-A02B70581197}" dt="2024-02-22T05:49:12.477" v="187" actId="2696"/>
        <pc:sldMkLst>
          <pc:docMk/>
          <pc:sldMk cId="1054811855" sldId="329"/>
        </pc:sldMkLst>
      </pc:sldChg>
      <pc:sldChg chg="del">
        <pc:chgData name="Puligundla Neelakantan" userId="d690627465380b73" providerId="LiveId" clId="{AE864AD6-E0EC-4607-BC00-A02B70581197}" dt="2024-02-22T05:48:49.349" v="185" actId="2696"/>
        <pc:sldMkLst>
          <pc:docMk/>
          <pc:sldMk cId="2480830931" sldId="333"/>
        </pc:sldMkLst>
      </pc:sldChg>
      <pc:sldChg chg="add">
        <pc:chgData name="Puligundla Neelakantan" userId="d690627465380b73" providerId="LiveId" clId="{AE864AD6-E0EC-4607-BC00-A02B70581197}" dt="2024-02-22T05:48:54.025" v="186"/>
        <pc:sldMkLst>
          <pc:docMk/>
          <pc:sldMk cId="3529857205" sldId="333"/>
        </pc:sldMkLst>
      </pc:sldChg>
      <pc:sldChg chg="modSp add mod">
        <pc:chgData name="Puligundla Neelakantan" userId="d690627465380b73" providerId="LiveId" clId="{AE864AD6-E0EC-4607-BC00-A02B70581197}" dt="2024-02-24T07:03:38.361" v="188" actId="1076"/>
        <pc:sldMkLst>
          <pc:docMk/>
          <pc:sldMk cId="551855504" sldId="335"/>
        </pc:sldMkLst>
        <pc:picChg chg="mod">
          <ac:chgData name="Puligundla Neelakantan" userId="d690627465380b73" providerId="LiveId" clId="{AE864AD6-E0EC-4607-BC00-A02B70581197}" dt="2024-02-24T07:03:38.361" v="188" actId="1076"/>
          <ac:picMkLst>
            <pc:docMk/>
            <pc:sldMk cId="551855504" sldId="335"/>
            <ac:picMk id="8" creationId="{63095995-B1A8-B8DD-F6DE-8ACDDBD15A5F}"/>
          </ac:picMkLst>
        </pc:picChg>
      </pc:sldChg>
      <pc:sldChg chg="del">
        <pc:chgData name="Puligundla Neelakantan" userId="d690627465380b73" providerId="LiveId" clId="{AE864AD6-E0EC-4607-BC00-A02B70581197}" dt="2024-02-22T05:48:49.349" v="185" actId="2696"/>
        <pc:sldMkLst>
          <pc:docMk/>
          <pc:sldMk cId="4026261892" sldId="335"/>
        </pc:sldMkLst>
      </pc:sldChg>
      <pc:sldChg chg="modSp mod">
        <pc:chgData name="Puligundla Neelakantan" userId="d690627465380b73" providerId="LiveId" clId="{AE864AD6-E0EC-4607-BC00-A02B70581197}" dt="2024-02-21T03:37:25.157" v="184" actId="20577"/>
        <pc:sldMkLst>
          <pc:docMk/>
          <pc:sldMk cId="1123246068" sldId="337"/>
        </pc:sldMkLst>
        <pc:spChg chg="mod">
          <ac:chgData name="Puligundla Neelakantan" userId="d690627465380b73" providerId="LiveId" clId="{AE864AD6-E0EC-4607-BC00-A02B70581197}" dt="2024-02-19T02:15:51.362" v="90" actId="20577"/>
          <ac:spMkLst>
            <pc:docMk/>
            <pc:sldMk cId="1123246068" sldId="337"/>
            <ac:spMk id="3" creationId="{14856F03-B503-581C-520A-FC6F1704A1E5}"/>
          </ac:spMkLst>
        </pc:spChg>
        <pc:spChg chg="mod">
          <ac:chgData name="Puligundla Neelakantan" userId="d690627465380b73" providerId="LiveId" clId="{AE864AD6-E0EC-4607-BC00-A02B70581197}" dt="2024-02-21T03:37:25.157" v="184" actId="20577"/>
          <ac:spMkLst>
            <pc:docMk/>
            <pc:sldMk cId="1123246068" sldId="337"/>
            <ac:spMk id="7" creationId="{D79276E4-DFD4-E8E2-7B0F-5177A69B9444}"/>
          </ac:spMkLst>
        </pc:spChg>
      </pc:sldChg>
      <pc:sldChg chg="new del">
        <pc:chgData name="Puligundla Neelakantan" userId="d690627465380b73" providerId="LiveId" clId="{AE864AD6-E0EC-4607-BC00-A02B70581197}" dt="2024-02-14T14:02:33.605" v="3" actId="47"/>
        <pc:sldMkLst>
          <pc:docMk/>
          <pc:sldMk cId="1329529348" sldId="339"/>
        </pc:sldMkLst>
      </pc:sldChg>
      <pc:sldChg chg="addSp modSp add mod">
        <pc:chgData name="Puligundla Neelakantan" userId="d690627465380b73" providerId="LiveId" clId="{AE864AD6-E0EC-4607-BC00-A02B70581197}" dt="2024-02-14T14:06:00.057" v="21"/>
        <pc:sldMkLst>
          <pc:docMk/>
          <pc:sldMk cId="3496128441" sldId="340"/>
        </pc:sldMkLst>
        <pc:spChg chg="mod">
          <ac:chgData name="Puligundla Neelakantan" userId="d690627465380b73" providerId="LiveId" clId="{AE864AD6-E0EC-4607-BC00-A02B70581197}" dt="2024-02-14T14:02:51.418" v="9"/>
          <ac:spMkLst>
            <pc:docMk/>
            <pc:sldMk cId="3496128441" sldId="340"/>
            <ac:spMk id="2" creationId="{437DFDB0-E705-0BDA-C61F-775E32AF3006}"/>
          </ac:spMkLst>
        </pc:spChg>
        <pc:spChg chg="add">
          <ac:chgData name="Puligundla Neelakantan" userId="d690627465380b73" providerId="LiveId" clId="{AE864AD6-E0EC-4607-BC00-A02B70581197}" dt="2024-02-14T14:04:53.757" v="13"/>
          <ac:spMkLst>
            <pc:docMk/>
            <pc:sldMk cId="3496128441" sldId="340"/>
            <ac:spMk id="3" creationId="{FF7019E1-1650-6442-CBE7-B0E6CDD433CE}"/>
          </ac:spMkLst>
        </pc:spChg>
        <pc:spChg chg="add">
          <ac:chgData name="Puligundla Neelakantan" userId="d690627465380b73" providerId="LiveId" clId="{AE864AD6-E0EC-4607-BC00-A02B70581197}" dt="2024-02-14T14:04:58.644" v="14"/>
          <ac:spMkLst>
            <pc:docMk/>
            <pc:sldMk cId="3496128441" sldId="340"/>
            <ac:spMk id="7" creationId="{ED7E22CE-9C18-34A0-6AE8-A9D01A5C9D5F}"/>
          </ac:spMkLst>
        </pc:spChg>
        <pc:spChg chg="mod">
          <ac:chgData name="Puligundla Neelakantan" userId="d690627465380b73" providerId="LiveId" clId="{AE864AD6-E0EC-4607-BC00-A02B70581197}" dt="2024-02-14T14:06:00.057" v="21"/>
          <ac:spMkLst>
            <pc:docMk/>
            <pc:sldMk cId="3496128441" sldId="340"/>
            <ac:spMk id="8" creationId="{AB11780D-331E-F57A-9AF6-55E81DECE0A0}"/>
          </ac:spMkLst>
        </pc:spChg>
      </pc:sldChg>
      <pc:sldChg chg="modSp add mod">
        <pc:chgData name="Puligundla Neelakantan" userId="d690627465380b73" providerId="LiveId" clId="{AE864AD6-E0EC-4607-BC00-A02B70581197}" dt="2024-02-14T14:21:27.866" v="28" actId="13822"/>
        <pc:sldMkLst>
          <pc:docMk/>
          <pc:sldMk cId="1211285360" sldId="341"/>
        </pc:sldMkLst>
        <pc:spChg chg="mod">
          <ac:chgData name="Puligundla Neelakantan" userId="d690627465380b73" providerId="LiveId" clId="{AE864AD6-E0EC-4607-BC00-A02B70581197}" dt="2024-02-14T14:21:27.866" v="28" actId="13822"/>
          <ac:spMkLst>
            <pc:docMk/>
            <pc:sldMk cId="1211285360" sldId="341"/>
            <ac:spMk id="8" creationId="{8331B974-2805-A672-9F8D-68E9441E6D99}"/>
          </ac:spMkLst>
        </pc:spChg>
      </pc:sldChg>
      <pc:sldChg chg="new del">
        <pc:chgData name="Puligundla Neelakantan" userId="d690627465380b73" providerId="LiveId" clId="{AE864AD6-E0EC-4607-BC00-A02B70581197}" dt="2024-02-14T14:21:01.970" v="24" actId="680"/>
        <pc:sldMkLst>
          <pc:docMk/>
          <pc:sldMk cId="2100562159" sldId="341"/>
        </pc:sldMkLst>
      </pc:sldChg>
      <pc:sldChg chg="addSp delSp modSp add mod">
        <pc:chgData name="Puligundla Neelakantan" userId="d690627465380b73" providerId="LiveId" clId="{AE864AD6-E0EC-4607-BC00-A02B70581197}" dt="2024-02-19T04:14:34.323" v="144" actId="1076"/>
        <pc:sldMkLst>
          <pc:docMk/>
          <pc:sldMk cId="2126070055" sldId="342"/>
        </pc:sldMkLst>
        <pc:spChg chg="add">
          <ac:chgData name="Puligundla Neelakantan" userId="d690627465380b73" providerId="LiveId" clId="{AE864AD6-E0EC-4607-BC00-A02B70581197}" dt="2024-02-19T04:06:01.988" v="92"/>
          <ac:spMkLst>
            <pc:docMk/>
            <pc:sldMk cId="2126070055" sldId="342"/>
            <ac:spMk id="3" creationId="{7543574F-0221-B23E-EC18-A8C2B22C845D}"/>
          </ac:spMkLst>
        </pc:spChg>
        <pc:spChg chg="add">
          <ac:chgData name="Puligundla Neelakantan" userId="d690627465380b73" providerId="LiveId" clId="{AE864AD6-E0EC-4607-BC00-A02B70581197}" dt="2024-02-19T04:06:01.988" v="92"/>
          <ac:spMkLst>
            <pc:docMk/>
            <pc:sldMk cId="2126070055" sldId="342"/>
            <ac:spMk id="7" creationId="{0D3BD28B-D338-A2B4-CA6A-9B0D21ECC80C}"/>
          </ac:spMkLst>
        </pc:spChg>
        <pc:spChg chg="del">
          <ac:chgData name="Puligundla Neelakantan" userId="d690627465380b73" providerId="LiveId" clId="{AE864AD6-E0EC-4607-BC00-A02B70581197}" dt="2024-02-19T04:06:55.062" v="97" actId="478"/>
          <ac:spMkLst>
            <pc:docMk/>
            <pc:sldMk cId="2126070055" sldId="342"/>
            <ac:spMk id="8" creationId="{6C2E6C85-6F84-FBB3-CA02-C0BB5BD2E926}"/>
          </ac:spMkLst>
        </pc:spChg>
        <pc:spChg chg="del">
          <ac:chgData name="Puligundla Neelakantan" userId="d690627465380b73" providerId="LiveId" clId="{AE864AD6-E0EC-4607-BC00-A02B70581197}" dt="2024-02-19T04:08:05.658" v="107" actId="478"/>
          <ac:spMkLst>
            <pc:docMk/>
            <pc:sldMk cId="2126070055" sldId="342"/>
            <ac:spMk id="9" creationId="{C124152B-B4ED-8881-6940-A889ED57FCC0}"/>
          </ac:spMkLst>
        </pc:spChg>
        <pc:spChg chg="add">
          <ac:chgData name="Puligundla Neelakantan" userId="d690627465380b73" providerId="LiveId" clId="{AE864AD6-E0EC-4607-BC00-A02B70581197}" dt="2024-02-19T04:06:01.988" v="92"/>
          <ac:spMkLst>
            <pc:docMk/>
            <pc:sldMk cId="2126070055" sldId="342"/>
            <ac:spMk id="10" creationId="{D98B1C22-7A7E-E267-5419-E1232380A28D}"/>
          </ac:spMkLst>
        </pc:spChg>
        <pc:spChg chg="add">
          <ac:chgData name="Puligundla Neelakantan" userId="d690627465380b73" providerId="LiveId" clId="{AE864AD6-E0EC-4607-BC00-A02B70581197}" dt="2024-02-19T04:06:01.988" v="92"/>
          <ac:spMkLst>
            <pc:docMk/>
            <pc:sldMk cId="2126070055" sldId="342"/>
            <ac:spMk id="11" creationId="{ED17E781-64E3-6988-5806-B7C1D5E8572A}"/>
          </ac:spMkLst>
        </pc:spChg>
        <pc:spChg chg="add">
          <ac:chgData name="Puligundla Neelakantan" userId="d690627465380b73" providerId="LiveId" clId="{AE864AD6-E0EC-4607-BC00-A02B70581197}" dt="2024-02-19T04:06:01.988" v="92"/>
          <ac:spMkLst>
            <pc:docMk/>
            <pc:sldMk cId="2126070055" sldId="342"/>
            <ac:spMk id="12" creationId="{D08116A7-C178-0203-B71A-8CE9B3412C1B}"/>
          </ac:spMkLst>
        </pc:spChg>
        <pc:spChg chg="add">
          <ac:chgData name="Puligundla Neelakantan" userId="d690627465380b73" providerId="LiveId" clId="{AE864AD6-E0EC-4607-BC00-A02B70581197}" dt="2024-02-19T04:06:50.579" v="96"/>
          <ac:spMkLst>
            <pc:docMk/>
            <pc:sldMk cId="2126070055" sldId="342"/>
            <ac:spMk id="13" creationId="{F4DE9434-7022-0897-E810-DE2A5E2A5AEB}"/>
          </ac:spMkLst>
        </pc:spChg>
        <pc:spChg chg="add">
          <ac:chgData name="Puligundla Neelakantan" userId="d690627465380b73" providerId="LiveId" clId="{AE864AD6-E0EC-4607-BC00-A02B70581197}" dt="2024-02-19T04:06:50.579" v="96"/>
          <ac:spMkLst>
            <pc:docMk/>
            <pc:sldMk cId="2126070055" sldId="342"/>
            <ac:spMk id="14" creationId="{F209CCB1-6CE0-3896-9336-DB8BD257CBCA}"/>
          </ac:spMkLst>
        </pc:spChg>
        <pc:spChg chg="add">
          <ac:chgData name="Puligundla Neelakantan" userId="d690627465380b73" providerId="LiveId" clId="{AE864AD6-E0EC-4607-BC00-A02B70581197}" dt="2024-02-19T04:06:50.579" v="96"/>
          <ac:spMkLst>
            <pc:docMk/>
            <pc:sldMk cId="2126070055" sldId="342"/>
            <ac:spMk id="15" creationId="{D6C2E988-40ED-9476-1580-8F47145850B0}"/>
          </ac:spMkLst>
        </pc:spChg>
        <pc:spChg chg="add">
          <ac:chgData name="Puligundla Neelakantan" userId="d690627465380b73" providerId="LiveId" clId="{AE864AD6-E0EC-4607-BC00-A02B70581197}" dt="2024-02-19T04:06:50.579" v="96"/>
          <ac:spMkLst>
            <pc:docMk/>
            <pc:sldMk cId="2126070055" sldId="342"/>
            <ac:spMk id="16" creationId="{A3441590-7E99-243D-8585-28023063C6B4}"/>
          </ac:spMkLst>
        </pc:spChg>
        <pc:spChg chg="add">
          <ac:chgData name="Puligundla Neelakantan" userId="d690627465380b73" providerId="LiveId" clId="{AE864AD6-E0EC-4607-BC00-A02B70581197}" dt="2024-02-19T04:06:50.579" v="96"/>
          <ac:spMkLst>
            <pc:docMk/>
            <pc:sldMk cId="2126070055" sldId="342"/>
            <ac:spMk id="17" creationId="{2C63A2C8-FC3A-574B-FE87-9AF05C3E89B9}"/>
          </ac:spMkLst>
        </pc:spChg>
        <pc:spChg chg="add">
          <ac:chgData name="Puligundla Neelakantan" userId="d690627465380b73" providerId="LiveId" clId="{AE864AD6-E0EC-4607-BC00-A02B70581197}" dt="2024-02-19T04:06:50.579" v="96"/>
          <ac:spMkLst>
            <pc:docMk/>
            <pc:sldMk cId="2126070055" sldId="342"/>
            <ac:spMk id="18" creationId="{2FADF205-EC20-3EB2-3A71-21F31974A776}"/>
          </ac:spMkLst>
        </pc:spChg>
        <pc:spChg chg="add">
          <ac:chgData name="Puligundla Neelakantan" userId="d690627465380b73" providerId="LiveId" clId="{AE864AD6-E0EC-4607-BC00-A02B70581197}" dt="2024-02-19T04:06:50.579" v="96"/>
          <ac:spMkLst>
            <pc:docMk/>
            <pc:sldMk cId="2126070055" sldId="342"/>
            <ac:spMk id="19" creationId="{D455CE23-AF8F-881E-6CF1-8AC6AF17EC82}"/>
          </ac:spMkLst>
        </pc:spChg>
        <pc:spChg chg="add">
          <ac:chgData name="Puligundla Neelakantan" userId="d690627465380b73" providerId="LiveId" clId="{AE864AD6-E0EC-4607-BC00-A02B70581197}" dt="2024-02-19T04:06:50.579" v="96"/>
          <ac:spMkLst>
            <pc:docMk/>
            <pc:sldMk cId="2126070055" sldId="342"/>
            <ac:spMk id="20" creationId="{A2DDE249-1D23-AB86-1ABE-68B14C2608B6}"/>
          </ac:spMkLst>
        </pc:spChg>
        <pc:spChg chg="add">
          <ac:chgData name="Puligundla Neelakantan" userId="d690627465380b73" providerId="LiveId" clId="{AE864AD6-E0EC-4607-BC00-A02B70581197}" dt="2024-02-19T04:06:50.579" v="96"/>
          <ac:spMkLst>
            <pc:docMk/>
            <pc:sldMk cId="2126070055" sldId="342"/>
            <ac:spMk id="21" creationId="{A14233C4-4000-9E93-CCC9-BDF88E75CACE}"/>
          </ac:spMkLst>
        </pc:spChg>
        <pc:spChg chg="add mod">
          <ac:chgData name="Puligundla Neelakantan" userId="d690627465380b73" providerId="LiveId" clId="{AE864AD6-E0EC-4607-BC00-A02B70581197}" dt="2024-02-19T04:07:01.849" v="99" actId="1076"/>
          <ac:spMkLst>
            <pc:docMk/>
            <pc:sldMk cId="2126070055" sldId="342"/>
            <ac:spMk id="22" creationId="{5C99A1DF-8358-42DA-1187-DCE8ECFCA05A}"/>
          </ac:spMkLst>
        </pc:spChg>
        <pc:spChg chg="add mod">
          <ac:chgData name="Puligundla Neelakantan" userId="d690627465380b73" providerId="LiveId" clId="{AE864AD6-E0EC-4607-BC00-A02B70581197}" dt="2024-02-19T04:07:01.849" v="99" actId="1076"/>
          <ac:spMkLst>
            <pc:docMk/>
            <pc:sldMk cId="2126070055" sldId="342"/>
            <ac:spMk id="23" creationId="{5BE34944-E363-DB96-5C23-3EBA43DDFE07}"/>
          </ac:spMkLst>
        </pc:spChg>
        <pc:spChg chg="add mod">
          <ac:chgData name="Puligundla Neelakantan" userId="d690627465380b73" providerId="LiveId" clId="{AE864AD6-E0EC-4607-BC00-A02B70581197}" dt="2024-02-19T04:07:01.849" v="99" actId="1076"/>
          <ac:spMkLst>
            <pc:docMk/>
            <pc:sldMk cId="2126070055" sldId="342"/>
            <ac:spMk id="24" creationId="{F85D804E-C8F1-F0F1-1030-57C9FAFB68A9}"/>
          </ac:spMkLst>
        </pc:spChg>
        <pc:spChg chg="add mod">
          <ac:chgData name="Puligundla Neelakantan" userId="d690627465380b73" providerId="LiveId" clId="{AE864AD6-E0EC-4607-BC00-A02B70581197}" dt="2024-02-19T04:07:01.849" v="99" actId="1076"/>
          <ac:spMkLst>
            <pc:docMk/>
            <pc:sldMk cId="2126070055" sldId="342"/>
            <ac:spMk id="25" creationId="{5B848802-74EC-B281-C9E9-8BAFC99C0C4F}"/>
          </ac:spMkLst>
        </pc:spChg>
        <pc:spChg chg="add del mod">
          <ac:chgData name="Puligundla Neelakantan" userId="d690627465380b73" providerId="LiveId" clId="{AE864AD6-E0EC-4607-BC00-A02B70581197}" dt="2024-02-19T04:07:45.255" v="100" actId="478"/>
          <ac:spMkLst>
            <pc:docMk/>
            <pc:sldMk cId="2126070055" sldId="342"/>
            <ac:spMk id="26" creationId="{3FBFF2BA-6F69-4788-55AE-65ED5EB687E4}"/>
          </ac:spMkLst>
        </pc:spChg>
        <pc:spChg chg="add del mod">
          <ac:chgData name="Puligundla Neelakantan" userId="d690627465380b73" providerId="LiveId" clId="{AE864AD6-E0EC-4607-BC00-A02B70581197}" dt="2024-02-19T04:07:54.139" v="101" actId="478"/>
          <ac:spMkLst>
            <pc:docMk/>
            <pc:sldMk cId="2126070055" sldId="342"/>
            <ac:spMk id="27" creationId="{1DA3C3F7-38F2-FDE1-469B-2A48D8F0E99E}"/>
          </ac:spMkLst>
        </pc:spChg>
        <pc:spChg chg="add del mod">
          <ac:chgData name="Puligundla Neelakantan" userId="d690627465380b73" providerId="LiveId" clId="{AE864AD6-E0EC-4607-BC00-A02B70581197}" dt="2024-02-19T04:07:56.867" v="103" actId="478"/>
          <ac:spMkLst>
            <pc:docMk/>
            <pc:sldMk cId="2126070055" sldId="342"/>
            <ac:spMk id="28" creationId="{5F29455A-85D3-3489-47E0-295925E1D0A2}"/>
          </ac:spMkLst>
        </pc:spChg>
        <pc:spChg chg="add del mod">
          <ac:chgData name="Puligundla Neelakantan" userId="d690627465380b73" providerId="LiveId" clId="{AE864AD6-E0EC-4607-BC00-A02B70581197}" dt="2024-02-19T04:07:58.648" v="104" actId="478"/>
          <ac:spMkLst>
            <pc:docMk/>
            <pc:sldMk cId="2126070055" sldId="342"/>
            <ac:spMk id="29" creationId="{43CCF701-B885-15FE-7BA5-B53C495444C4}"/>
          </ac:spMkLst>
        </pc:spChg>
        <pc:spChg chg="add del mod">
          <ac:chgData name="Puligundla Neelakantan" userId="d690627465380b73" providerId="LiveId" clId="{AE864AD6-E0EC-4607-BC00-A02B70581197}" dt="2024-02-19T04:08:02.049" v="106" actId="478"/>
          <ac:spMkLst>
            <pc:docMk/>
            <pc:sldMk cId="2126070055" sldId="342"/>
            <ac:spMk id="30" creationId="{6C18ABA4-2574-8406-CFEC-734DE05A5E55}"/>
          </ac:spMkLst>
        </pc:spChg>
        <pc:spChg chg="add mod">
          <ac:chgData name="Puligundla Neelakantan" userId="d690627465380b73" providerId="LiveId" clId="{AE864AD6-E0EC-4607-BC00-A02B70581197}" dt="2024-02-19T04:14:34.323" v="144" actId="1076"/>
          <ac:spMkLst>
            <pc:docMk/>
            <pc:sldMk cId="2126070055" sldId="342"/>
            <ac:spMk id="32" creationId="{5955B360-125E-664E-53EC-2A55F0B70E08}"/>
          </ac:spMkLst>
        </pc:spChg>
      </pc:sldChg>
      <pc:sldChg chg="new del">
        <pc:chgData name="Puligundla Neelakantan" userId="d690627465380b73" providerId="LiveId" clId="{AE864AD6-E0EC-4607-BC00-A02B70581197}" dt="2024-02-19T04:06:42.157" v="95" actId="2696"/>
        <pc:sldMkLst>
          <pc:docMk/>
          <pc:sldMk cId="3836535209" sldId="343"/>
        </pc:sldMkLst>
      </pc:sldChg>
      <pc:sldChg chg="modSp add mod">
        <pc:chgData name="Puligundla Neelakantan" userId="d690627465380b73" providerId="LiveId" clId="{AE864AD6-E0EC-4607-BC00-A02B70581197}" dt="2024-02-19T04:14:49.595" v="148" actId="20577"/>
        <pc:sldMkLst>
          <pc:docMk/>
          <pc:sldMk cId="772176094" sldId="344"/>
        </pc:sldMkLst>
        <pc:spChg chg="mod">
          <ac:chgData name="Puligundla Neelakantan" userId="d690627465380b73" providerId="LiveId" clId="{AE864AD6-E0EC-4607-BC00-A02B70581197}" dt="2024-02-19T04:14:49.595" v="148" actId="20577"/>
          <ac:spMkLst>
            <pc:docMk/>
            <pc:sldMk cId="772176094" sldId="344"/>
            <ac:spMk id="8" creationId="{18880DD5-0AF0-C558-6305-1F7648D483A2}"/>
          </ac:spMkLst>
        </pc:spChg>
      </pc:sldChg>
      <pc:sldChg chg="new del">
        <pc:chgData name="Puligundla Neelakantan" userId="d690627465380b73" providerId="LiveId" clId="{AE864AD6-E0EC-4607-BC00-A02B70581197}" dt="2024-03-02T03:38:29.572" v="189" actId="2696"/>
        <pc:sldMkLst>
          <pc:docMk/>
          <pc:sldMk cId="2303747580" sldId="345"/>
        </pc:sldMkLst>
      </pc:sldChg>
      <pc:sldChg chg="addSp delSp modSp add mod">
        <pc:chgData name="Puligundla Neelakantan" userId="d690627465380b73" providerId="LiveId" clId="{AE864AD6-E0EC-4607-BC00-A02B70581197}" dt="2024-02-19T04:16:59.762" v="157" actId="14100"/>
        <pc:sldMkLst>
          <pc:docMk/>
          <pc:sldMk cId="2150153690" sldId="346"/>
        </pc:sldMkLst>
        <pc:spChg chg="add">
          <ac:chgData name="Puligundla Neelakantan" userId="d690627465380b73" providerId="LiveId" clId="{AE864AD6-E0EC-4607-BC00-A02B70581197}" dt="2024-02-19T04:16:32.650" v="154"/>
          <ac:spMkLst>
            <pc:docMk/>
            <pc:sldMk cId="2150153690" sldId="346"/>
            <ac:spMk id="3" creationId="{3508A175-C51C-E860-B32C-7D8A8CA70D3F}"/>
          </ac:spMkLst>
        </pc:spChg>
        <pc:spChg chg="add mod">
          <ac:chgData name="Puligundla Neelakantan" userId="d690627465380b73" providerId="LiveId" clId="{AE864AD6-E0EC-4607-BC00-A02B70581197}" dt="2024-02-19T04:16:59.762" v="157" actId="14100"/>
          <ac:spMkLst>
            <pc:docMk/>
            <pc:sldMk cId="2150153690" sldId="346"/>
            <ac:spMk id="8" creationId="{5E34A3D8-201F-FFAF-48CF-D65EA56789EB}"/>
          </ac:spMkLst>
        </pc:spChg>
        <pc:spChg chg="del mod">
          <ac:chgData name="Puligundla Neelakantan" userId="d690627465380b73" providerId="LiveId" clId="{AE864AD6-E0EC-4607-BC00-A02B70581197}" dt="2024-02-19T04:16:31.423" v="153"/>
          <ac:spMkLst>
            <pc:docMk/>
            <pc:sldMk cId="2150153690" sldId="346"/>
            <ac:spMk id="32" creationId="{9A2C89A4-6D52-1CF2-ED69-79420FDAF922}"/>
          </ac:spMkLst>
        </pc:spChg>
      </pc:sldChg>
      <pc:sldChg chg="addSp delSp modSp add mod">
        <pc:chgData name="Puligundla Neelakantan" userId="d690627465380b73" providerId="LiveId" clId="{AE864AD6-E0EC-4607-BC00-A02B70581197}" dt="2024-02-19T04:19:23.217" v="183" actId="33524"/>
        <pc:sldMkLst>
          <pc:docMk/>
          <pc:sldMk cId="72936905" sldId="347"/>
        </pc:sldMkLst>
        <pc:spChg chg="add">
          <ac:chgData name="Puligundla Neelakantan" userId="d690627465380b73" providerId="LiveId" clId="{AE864AD6-E0EC-4607-BC00-A02B70581197}" dt="2024-02-19T04:18:14.524" v="159"/>
          <ac:spMkLst>
            <pc:docMk/>
            <pc:sldMk cId="72936905" sldId="347"/>
            <ac:spMk id="3" creationId="{8E48CE85-9A3D-D3C3-5779-D9001D3B10EB}"/>
          </ac:spMkLst>
        </pc:spChg>
        <pc:spChg chg="add mod">
          <ac:chgData name="Puligundla Neelakantan" userId="d690627465380b73" providerId="LiveId" clId="{AE864AD6-E0EC-4607-BC00-A02B70581197}" dt="2024-02-19T04:19:23.217" v="183" actId="33524"/>
          <ac:spMkLst>
            <pc:docMk/>
            <pc:sldMk cId="72936905" sldId="347"/>
            <ac:spMk id="7" creationId="{474523E5-9825-7814-86EC-A06C8FC43197}"/>
          </ac:spMkLst>
        </pc:spChg>
        <pc:spChg chg="del mod">
          <ac:chgData name="Puligundla Neelakantan" userId="d690627465380b73" providerId="LiveId" clId="{AE864AD6-E0EC-4607-BC00-A02B70581197}" dt="2024-02-19T04:18:29.129" v="162"/>
          <ac:spMkLst>
            <pc:docMk/>
            <pc:sldMk cId="72936905" sldId="347"/>
            <ac:spMk id="8" creationId="{83DF2E40-2356-DB9F-E08C-A69B2237D300}"/>
          </ac:spMkLst>
        </pc:spChg>
      </pc:sldChg>
      <pc:sldChg chg="addSp delSp modSp add mod">
        <pc:chgData name="Puligundla Neelakantan" userId="d690627465380b73" providerId="LiveId" clId="{AE864AD6-E0EC-4607-BC00-A02B70581197}" dt="2024-03-11T03:46:26.743" v="211" actId="123"/>
        <pc:sldMkLst>
          <pc:docMk/>
          <pc:sldMk cId="86620655" sldId="348"/>
        </pc:sldMkLst>
        <pc:spChg chg="mod">
          <ac:chgData name="Puligundla Neelakantan" userId="d690627465380b73" providerId="LiveId" clId="{AE864AD6-E0EC-4607-BC00-A02B70581197}" dt="2024-03-11T03:46:11.936" v="208" actId="20577"/>
          <ac:spMkLst>
            <pc:docMk/>
            <pc:sldMk cId="86620655" sldId="348"/>
            <ac:spMk id="2" creationId="{00000000-0000-0000-0000-000000000000}"/>
          </ac:spMkLst>
        </pc:spChg>
        <pc:spChg chg="add mod">
          <ac:chgData name="Puligundla Neelakantan" userId="d690627465380b73" providerId="LiveId" clId="{AE864AD6-E0EC-4607-BC00-A02B70581197}" dt="2024-03-11T03:46:26.743" v="211" actId="123"/>
          <ac:spMkLst>
            <pc:docMk/>
            <pc:sldMk cId="86620655" sldId="348"/>
            <ac:spMk id="7" creationId="{94041DC5-CB06-18D7-6A80-3040A807A0C6}"/>
          </ac:spMkLst>
        </pc:spChg>
        <pc:picChg chg="del">
          <ac:chgData name="Puligundla Neelakantan" userId="d690627465380b73" providerId="LiveId" clId="{AE864AD6-E0EC-4607-BC00-A02B70581197}" dt="2024-03-11T03:44:59.754" v="198" actId="478"/>
          <ac:picMkLst>
            <pc:docMk/>
            <pc:sldMk cId="86620655" sldId="348"/>
            <ac:picMk id="12" creationId="{A8AD2496-9630-2EEC-0DDD-DABA1B386A18}"/>
          </ac:picMkLst>
        </pc:picChg>
      </pc:sldChg>
      <pc:sldChg chg="addSp modSp add mod">
        <pc:chgData name="Puligundla Neelakantan" userId="d690627465380b73" providerId="LiveId" clId="{AE864AD6-E0EC-4607-BC00-A02B70581197}" dt="2024-03-11T03:53:08.020" v="224" actId="20577"/>
        <pc:sldMkLst>
          <pc:docMk/>
          <pc:sldMk cId="426520968" sldId="349"/>
        </pc:sldMkLst>
        <pc:spChg chg="mod">
          <ac:chgData name="Puligundla Neelakantan" userId="d690627465380b73" providerId="LiveId" clId="{AE864AD6-E0EC-4607-BC00-A02B70581197}" dt="2024-03-11T03:47:01.444" v="215"/>
          <ac:spMkLst>
            <pc:docMk/>
            <pc:sldMk cId="426520968" sldId="349"/>
            <ac:spMk id="2" creationId="{00000000-0000-0000-0000-000000000000}"/>
          </ac:spMkLst>
        </pc:spChg>
        <pc:spChg chg="mod">
          <ac:chgData name="Puligundla Neelakantan" userId="d690627465380b73" providerId="LiveId" clId="{AE864AD6-E0EC-4607-BC00-A02B70581197}" dt="2024-03-11T03:46:34.733" v="214" actId="20577"/>
          <ac:spMkLst>
            <pc:docMk/>
            <pc:sldMk cId="426520968" sldId="349"/>
            <ac:spMk id="7" creationId="{94041DC5-CB06-18D7-6A80-3040A807A0C6}"/>
          </ac:spMkLst>
        </pc:spChg>
        <pc:spChg chg="add mod">
          <ac:chgData name="Puligundla Neelakantan" userId="d690627465380b73" providerId="LiveId" clId="{AE864AD6-E0EC-4607-BC00-A02B70581197}" dt="2024-03-11T03:53:08.020" v="224" actId="20577"/>
          <ac:spMkLst>
            <pc:docMk/>
            <pc:sldMk cId="426520968" sldId="349"/>
            <ac:spMk id="8" creationId="{7A710607-F83A-C72F-63AD-3508BBECC973}"/>
          </ac:spMkLst>
        </pc:spChg>
      </pc:sldChg>
      <pc:sldChg chg="modSp add mod">
        <pc:chgData name="Puligundla Neelakantan" userId="d690627465380b73" providerId="LiveId" clId="{AE864AD6-E0EC-4607-BC00-A02B70581197}" dt="2024-03-11T03:54:25.384" v="233" actId="313"/>
        <pc:sldMkLst>
          <pc:docMk/>
          <pc:sldMk cId="2306330142" sldId="350"/>
        </pc:sldMkLst>
        <pc:spChg chg="mod">
          <ac:chgData name="Puligundla Neelakantan" userId="d690627465380b73" providerId="LiveId" clId="{AE864AD6-E0EC-4607-BC00-A02B70581197}" dt="2024-03-11T03:54:25.384" v="233" actId="313"/>
          <ac:spMkLst>
            <pc:docMk/>
            <pc:sldMk cId="2306330142" sldId="350"/>
            <ac:spMk id="8" creationId="{7A710607-F83A-C72F-63AD-3508BBECC973}"/>
          </ac:spMkLst>
        </pc:spChg>
      </pc:sldChg>
      <pc:sldChg chg="modSp add mod">
        <pc:chgData name="Puligundla Neelakantan" userId="d690627465380b73" providerId="LiveId" clId="{AE864AD6-E0EC-4607-BC00-A02B70581197}" dt="2024-03-11T03:56:32.415" v="242"/>
        <pc:sldMkLst>
          <pc:docMk/>
          <pc:sldMk cId="3416294650" sldId="351"/>
        </pc:sldMkLst>
        <pc:spChg chg="mod">
          <ac:chgData name="Puligundla Neelakantan" userId="d690627465380b73" providerId="LiveId" clId="{AE864AD6-E0EC-4607-BC00-A02B70581197}" dt="2024-03-11T03:55:57.431" v="239" actId="20577"/>
          <ac:spMkLst>
            <pc:docMk/>
            <pc:sldMk cId="3416294650" sldId="351"/>
            <ac:spMk id="2" creationId="{00000000-0000-0000-0000-000000000000}"/>
          </ac:spMkLst>
        </pc:spChg>
        <pc:spChg chg="mod">
          <ac:chgData name="Puligundla Neelakantan" userId="d690627465380b73" providerId="LiveId" clId="{AE864AD6-E0EC-4607-BC00-A02B70581197}" dt="2024-03-11T03:56:32.415" v="242"/>
          <ac:spMkLst>
            <pc:docMk/>
            <pc:sldMk cId="3416294650" sldId="351"/>
            <ac:spMk id="8" creationId="{7A710607-F83A-C72F-63AD-3508BBECC973}"/>
          </ac:spMkLst>
        </pc:spChg>
      </pc:sldChg>
      <pc:sldChg chg="addSp delSp modSp add mod">
        <pc:chgData name="Puligundla Neelakantan" userId="d690627465380b73" providerId="LiveId" clId="{AE864AD6-E0EC-4607-BC00-A02B70581197}" dt="2024-03-11T04:00:10.566" v="271" actId="14100"/>
        <pc:sldMkLst>
          <pc:docMk/>
          <pc:sldMk cId="3413197980" sldId="352"/>
        </pc:sldMkLst>
        <pc:spChg chg="mod">
          <ac:chgData name="Puligundla Neelakantan" userId="d690627465380b73" providerId="LiveId" clId="{AE864AD6-E0EC-4607-BC00-A02B70581197}" dt="2024-03-11T04:00:10.566" v="271" actId="14100"/>
          <ac:spMkLst>
            <pc:docMk/>
            <pc:sldMk cId="3413197980" sldId="352"/>
            <ac:spMk id="2" creationId="{00000000-0000-0000-0000-000000000000}"/>
          </ac:spMkLst>
        </pc:spChg>
        <pc:spChg chg="del mod">
          <ac:chgData name="Puligundla Neelakantan" userId="d690627465380b73" providerId="LiveId" clId="{AE864AD6-E0EC-4607-BC00-A02B70581197}" dt="2024-03-11T03:57:09.905" v="250"/>
          <ac:spMkLst>
            <pc:docMk/>
            <pc:sldMk cId="3413197980" sldId="352"/>
            <ac:spMk id="8" creationId="{7A710607-F83A-C72F-63AD-3508BBECC973}"/>
          </ac:spMkLst>
        </pc:spChg>
        <pc:spChg chg="add mod">
          <ac:chgData name="Puligundla Neelakantan" userId="d690627465380b73" providerId="LiveId" clId="{AE864AD6-E0EC-4607-BC00-A02B70581197}" dt="2024-03-11T03:59:34.233" v="266" actId="1076"/>
          <ac:spMkLst>
            <pc:docMk/>
            <pc:sldMk cId="3413197980" sldId="352"/>
            <ac:spMk id="9" creationId="{375CE539-6F52-3FC4-5DBA-39A1D96D5FE3}"/>
          </ac:spMkLst>
        </pc:spChg>
        <pc:spChg chg="add mod">
          <ac:chgData name="Puligundla Neelakantan" userId="d690627465380b73" providerId="LiveId" clId="{AE864AD6-E0EC-4607-BC00-A02B70581197}" dt="2024-03-11T03:59:38.378" v="267" actId="1076"/>
          <ac:spMkLst>
            <pc:docMk/>
            <pc:sldMk cId="3413197980" sldId="352"/>
            <ac:spMk id="11" creationId="{E5AF631D-2079-7AC8-B3D4-AF95CEA951B4}"/>
          </ac:spMkLst>
        </pc:spChg>
      </pc:sldChg>
      <pc:sldChg chg="delSp modSp add mod">
        <pc:chgData name="Puligundla Neelakantan" userId="d690627465380b73" providerId="LiveId" clId="{AE864AD6-E0EC-4607-BC00-A02B70581197}" dt="2024-03-11T04:11:10.641" v="291" actId="113"/>
        <pc:sldMkLst>
          <pc:docMk/>
          <pc:sldMk cId="2071834826" sldId="353"/>
        </pc:sldMkLst>
        <pc:spChg chg="mod">
          <ac:chgData name="Puligundla Neelakantan" userId="d690627465380b73" providerId="LiveId" clId="{AE864AD6-E0EC-4607-BC00-A02B70581197}" dt="2024-03-11T04:01:51.566" v="274" actId="13822"/>
          <ac:spMkLst>
            <pc:docMk/>
            <pc:sldMk cId="2071834826" sldId="353"/>
            <ac:spMk id="2" creationId="{00000000-0000-0000-0000-000000000000}"/>
          </ac:spMkLst>
        </pc:spChg>
        <pc:spChg chg="mod">
          <ac:chgData name="Puligundla Neelakantan" userId="d690627465380b73" providerId="LiveId" clId="{AE864AD6-E0EC-4607-BC00-A02B70581197}" dt="2024-03-11T04:11:10.641" v="291" actId="113"/>
          <ac:spMkLst>
            <pc:docMk/>
            <pc:sldMk cId="2071834826" sldId="353"/>
            <ac:spMk id="9" creationId="{375CE539-6F52-3FC4-5DBA-39A1D96D5FE3}"/>
          </ac:spMkLst>
        </pc:spChg>
        <pc:spChg chg="del mod">
          <ac:chgData name="Puligundla Neelakantan" userId="d690627465380b73" providerId="LiveId" clId="{AE864AD6-E0EC-4607-BC00-A02B70581197}" dt="2024-03-11T03:58:32.604" v="260" actId="478"/>
          <ac:spMkLst>
            <pc:docMk/>
            <pc:sldMk cId="2071834826" sldId="353"/>
            <ac:spMk id="11" creationId="{E5AF631D-2079-7AC8-B3D4-AF95CEA951B4}"/>
          </ac:spMkLst>
        </pc:spChg>
      </pc:sldChg>
      <pc:sldChg chg="addSp delSp modSp add mod">
        <pc:chgData name="Puligundla Neelakantan" userId="d690627465380b73" providerId="LiveId" clId="{AE864AD6-E0EC-4607-BC00-A02B70581197}" dt="2024-03-11T04:11:57.475" v="298" actId="22"/>
        <pc:sldMkLst>
          <pc:docMk/>
          <pc:sldMk cId="1765505047" sldId="354"/>
        </pc:sldMkLst>
        <pc:spChg chg="mod">
          <ac:chgData name="Puligundla Neelakantan" userId="d690627465380b73" providerId="LiveId" clId="{AE864AD6-E0EC-4607-BC00-A02B70581197}" dt="2024-03-11T04:11:45.377" v="295"/>
          <ac:spMkLst>
            <pc:docMk/>
            <pc:sldMk cId="1765505047" sldId="354"/>
            <ac:spMk id="2" creationId="{00000000-0000-0000-0000-000000000000}"/>
          </ac:spMkLst>
        </pc:spChg>
        <pc:spChg chg="add del">
          <ac:chgData name="Puligundla Neelakantan" userId="d690627465380b73" providerId="LiveId" clId="{AE864AD6-E0EC-4607-BC00-A02B70581197}" dt="2024-03-11T04:11:57.475" v="298" actId="22"/>
          <ac:spMkLst>
            <pc:docMk/>
            <pc:sldMk cId="1765505047" sldId="354"/>
            <ac:spMk id="8" creationId="{F9683063-C9CB-856C-DAE9-B9456946E138}"/>
          </ac:spMkLst>
        </pc:spChg>
        <pc:spChg chg="mod">
          <ac:chgData name="Puligundla Neelakantan" userId="d690627465380b73" providerId="LiveId" clId="{AE864AD6-E0EC-4607-BC00-A02B70581197}" dt="2024-03-11T04:11:51.802" v="296" actId="21"/>
          <ac:spMkLst>
            <pc:docMk/>
            <pc:sldMk cId="1765505047" sldId="354"/>
            <ac:spMk id="9" creationId="{375CE539-6F52-3FC4-5DBA-39A1D96D5FE3}"/>
          </ac:spMkLst>
        </pc:spChg>
      </pc:sldChg>
      <pc:sldChg chg="modSp add mod">
        <pc:chgData name="Puligundla Neelakantan" userId="d690627465380b73" providerId="LiveId" clId="{AE864AD6-E0EC-4607-BC00-A02B70581197}" dt="2024-03-11T04:12:28.267" v="304"/>
        <pc:sldMkLst>
          <pc:docMk/>
          <pc:sldMk cId="2248226202" sldId="355"/>
        </pc:sldMkLst>
        <pc:spChg chg="mod">
          <ac:chgData name="Puligundla Neelakantan" userId="d690627465380b73" providerId="LiveId" clId="{AE864AD6-E0EC-4607-BC00-A02B70581197}" dt="2024-03-11T04:12:28.267" v="304"/>
          <ac:spMkLst>
            <pc:docMk/>
            <pc:sldMk cId="2248226202" sldId="355"/>
            <ac:spMk id="9" creationId="{375CE539-6F52-3FC4-5DBA-39A1D96D5FE3}"/>
          </ac:spMkLst>
        </pc:spChg>
      </pc:sldChg>
      <pc:sldChg chg="modSp add mod">
        <pc:chgData name="Puligundla Neelakantan" userId="d690627465380b73" providerId="LiveId" clId="{AE864AD6-E0EC-4607-BC00-A02B70581197}" dt="2024-03-11T04:15:20.623" v="312"/>
        <pc:sldMkLst>
          <pc:docMk/>
          <pc:sldMk cId="4150260065" sldId="356"/>
        </pc:sldMkLst>
        <pc:spChg chg="mod">
          <ac:chgData name="Puligundla Neelakantan" userId="d690627465380b73" providerId="LiveId" clId="{AE864AD6-E0EC-4607-BC00-A02B70581197}" dt="2024-03-11T04:14:51.523" v="308"/>
          <ac:spMkLst>
            <pc:docMk/>
            <pc:sldMk cId="4150260065" sldId="356"/>
            <ac:spMk id="2" creationId="{00000000-0000-0000-0000-000000000000}"/>
          </ac:spMkLst>
        </pc:spChg>
        <pc:spChg chg="mod">
          <ac:chgData name="Puligundla Neelakantan" userId="d690627465380b73" providerId="LiveId" clId="{AE864AD6-E0EC-4607-BC00-A02B70581197}" dt="2024-03-11T04:15:20.623" v="312"/>
          <ac:spMkLst>
            <pc:docMk/>
            <pc:sldMk cId="4150260065" sldId="356"/>
            <ac:spMk id="9" creationId="{375CE539-6F52-3FC4-5DBA-39A1D96D5FE3}"/>
          </ac:spMkLst>
        </pc:spChg>
      </pc:sldChg>
      <pc:sldChg chg="addSp modSp add mod">
        <pc:chgData name="Puligundla Neelakantan" userId="d690627465380b73" providerId="LiveId" clId="{AE864AD6-E0EC-4607-BC00-A02B70581197}" dt="2024-03-11T04:16:33.592" v="327" actId="14100"/>
        <pc:sldMkLst>
          <pc:docMk/>
          <pc:sldMk cId="1043644605" sldId="357"/>
        </pc:sldMkLst>
        <pc:spChg chg="mod">
          <ac:chgData name="Puligundla Neelakantan" userId="d690627465380b73" providerId="LiveId" clId="{AE864AD6-E0EC-4607-BC00-A02B70581197}" dt="2024-03-11T04:16:30.044" v="326" actId="1076"/>
          <ac:spMkLst>
            <pc:docMk/>
            <pc:sldMk cId="1043644605" sldId="357"/>
            <ac:spMk id="9" creationId="{375CE539-6F52-3FC4-5DBA-39A1D96D5FE3}"/>
          </ac:spMkLst>
        </pc:spChg>
        <pc:picChg chg="add mod">
          <ac:chgData name="Puligundla Neelakantan" userId="d690627465380b73" providerId="LiveId" clId="{AE864AD6-E0EC-4607-BC00-A02B70581197}" dt="2024-03-11T04:16:33.592" v="327" actId="14100"/>
          <ac:picMkLst>
            <pc:docMk/>
            <pc:sldMk cId="1043644605" sldId="357"/>
            <ac:picMk id="3" creationId="{C286D79B-A7A4-B552-F5F7-C1C93203DAF5}"/>
          </ac:picMkLst>
        </pc:picChg>
      </pc:sldChg>
      <pc:sldChg chg="addSp delSp modSp add mod">
        <pc:chgData name="Puligundla Neelakantan" userId="d690627465380b73" providerId="LiveId" clId="{AE864AD6-E0EC-4607-BC00-A02B70581197}" dt="2024-03-11T04:17:47.076" v="340" actId="1076"/>
        <pc:sldMkLst>
          <pc:docMk/>
          <pc:sldMk cId="140576773" sldId="358"/>
        </pc:sldMkLst>
        <pc:spChg chg="mod">
          <ac:chgData name="Puligundla Neelakantan" userId="d690627465380b73" providerId="LiveId" clId="{AE864AD6-E0EC-4607-BC00-A02B70581197}" dt="2024-03-11T04:17:30.243" v="334" actId="1076"/>
          <ac:spMkLst>
            <pc:docMk/>
            <pc:sldMk cId="140576773" sldId="358"/>
            <ac:spMk id="9" creationId="{375CE539-6F52-3FC4-5DBA-39A1D96D5FE3}"/>
          </ac:spMkLst>
        </pc:spChg>
        <pc:picChg chg="del">
          <ac:chgData name="Puligundla Neelakantan" userId="d690627465380b73" providerId="LiveId" clId="{AE864AD6-E0EC-4607-BC00-A02B70581197}" dt="2024-03-11T04:16:41.214" v="329" actId="478"/>
          <ac:picMkLst>
            <pc:docMk/>
            <pc:sldMk cId="140576773" sldId="358"/>
            <ac:picMk id="3" creationId="{C286D79B-A7A4-B552-F5F7-C1C93203DAF5}"/>
          </ac:picMkLst>
        </pc:picChg>
        <pc:picChg chg="add mod">
          <ac:chgData name="Puligundla Neelakantan" userId="d690627465380b73" providerId="LiveId" clId="{AE864AD6-E0EC-4607-BC00-A02B70581197}" dt="2024-03-11T04:17:47.076" v="340" actId="1076"/>
          <ac:picMkLst>
            <pc:docMk/>
            <pc:sldMk cId="140576773" sldId="358"/>
            <ac:picMk id="8" creationId="{A43648DB-6A1B-F8F1-0FF2-E9D7B2EB123C}"/>
          </ac:picMkLst>
        </pc:picChg>
      </pc:sldChg>
      <pc:sldChg chg="addSp delSp modSp new mod">
        <pc:chgData name="Puligundla Neelakantan" userId="d690627465380b73" providerId="LiveId" clId="{AE864AD6-E0EC-4607-BC00-A02B70581197}" dt="2024-03-11T04:18:32.659" v="346" actId="21"/>
        <pc:sldMkLst>
          <pc:docMk/>
          <pc:sldMk cId="412860660" sldId="359"/>
        </pc:sldMkLst>
        <pc:spChg chg="del">
          <ac:chgData name="Puligundla Neelakantan" userId="d690627465380b73" providerId="LiveId" clId="{AE864AD6-E0EC-4607-BC00-A02B70581197}" dt="2024-03-11T04:18:19.071" v="342" actId="478"/>
          <ac:spMkLst>
            <pc:docMk/>
            <pc:sldMk cId="412860660" sldId="359"/>
            <ac:spMk id="3" creationId="{B58A9C38-2FFD-20AE-D6ED-3B67DDB672C7}"/>
          </ac:spMkLst>
        </pc:spChg>
        <pc:spChg chg="add mod">
          <ac:chgData name="Puligundla Neelakantan" userId="d690627465380b73" providerId="LiveId" clId="{AE864AD6-E0EC-4607-BC00-A02B70581197}" dt="2024-03-11T04:18:32.659" v="346" actId="21"/>
          <ac:spMkLst>
            <pc:docMk/>
            <pc:sldMk cId="412860660" sldId="359"/>
            <ac:spMk id="8" creationId="{3FAEEA91-CADC-A034-75A9-EC4998ECF419}"/>
          </ac:spMkLst>
        </pc:spChg>
      </pc:sldChg>
      <pc:sldChg chg="addSp modSp add mod">
        <pc:chgData name="Puligundla Neelakantan" userId="d690627465380b73" providerId="LiveId" clId="{AE864AD6-E0EC-4607-BC00-A02B70581197}" dt="2024-03-11T04:19:24.206" v="356" actId="6549"/>
        <pc:sldMkLst>
          <pc:docMk/>
          <pc:sldMk cId="299997965" sldId="360"/>
        </pc:sldMkLst>
        <pc:spChg chg="add">
          <ac:chgData name="Puligundla Neelakantan" userId="d690627465380b73" providerId="LiveId" clId="{AE864AD6-E0EC-4607-BC00-A02B70581197}" dt="2024-03-11T04:18:57.559" v="351"/>
          <ac:spMkLst>
            <pc:docMk/>
            <pc:sldMk cId="299997965" sldId="360"/>
            <ac:spMk id="3" creationId="{49D199F7-6A40-AA55-DE56-858E169F4816}"/>
          </ac:spMkLst>
        </pc:spChg>
        <pc:spChg chg="add">
          <ac:chgData name="Puligundla Neelakantan" userId="d690627465380b73" providerId="LiveId" clId="{AE864AD6-E0EC-4607-BC00-A02B70581197}" dt="2024-03-11T04:18:57.559" v="351"/>
          <ac:spMkLst>
            <pc:docMk/>
            <pc:sldMk cId="299997965" sldId="360"/>
            <ac:spMk id="7" creationId="{DE65CEB3-1EE0-A052-06AB-D7EF33C236B7}"/>
          </ac:spMkLst>
        </pc:spChg>
        <pc:spChg chg="mod">
          <ac:chgData name="Puligundla Neelakantan" userId="d690627465380b73" providerId="LiveId" clId="{AE864AD6-E0EC-4607-BC00-A02B70581197}" dt="2024-03-11T04:19:24.206" v="356" actId="6549"/>
          <ac:spMkLst>
            <pc:docMk/>
            <pc:sldMk cId="299997965" sldId="360"/>
            <ac:spMk id="8" creationId="{3FAEEA91-CADC-A034-75A9-EC4998ECF419}"/>
          </ac:spMkLst>
        </pc:spChg>
        <pc:picChg chg="add">
          <ac:chgData name="Puligundla Neelakantan" userId="d690627465380b73" providerId="LiveId" clId="{AE864AD6-E0EC-4607-BC00-A02B70581197}" dt="2024-03-11T04:18:57.559" v="351"/>
          <ac:picMkLst>
            <pc:docMk/>
            <pc:sldMk cId="299997965" sldId="360"/>
            <ac:picMk id="1025" creationId="{5CB97028-9F31-12E1-0BCA-94DB8BC358EB}"/>
          </ac:picMkLst>
        </pc:picChg>
      </pc:sldChg>
      <pc:sldChg chg="addSp modSp add mod">
        <pc:chgData name="Puligundla Neelakantan" userId="d690627465380b73" providerId="LiveId" clId="{AE864AD6-E0EC-4607-BC00-A02B70581197}" dt="2024-03-11T04:20:10.014" v="365" actId="6549"/>
        <pc:sldMkLst>
          <pc:docMk/>
          <pc:sldMk cId="1863364696" sldId="361"/>
        </pc:sldMkLst>
        <pc:spChg chg="mod">
          <ac:chgData name="Puligundla Neelakantan" userId="d690627465380b73" providerId="LiveId" clId="{AE864AD6-E0EC-4607-BC00-A02B70581197}" dt="2024-03-11T04:19:34.607" v="359" actId="1076"/>
          <ac:spMkLst>
            <pc:docMk/>
            <pc:sldMk cId="1863364696" sldId="361"/>
            <ac:spMk id="8" creationId="{3FAEEA91-CADC-A034-75A9-EC4998ECF419}"/>
          </ac:spMkLst>
        </pc:spChg>
        <pc:spChg chg="add mod">
          <ac:chgData name="Puligundla Neelakantan" userId="d690627465380b73" providerId="LiveId" clId="{AE864AD6-E0EC-4607-BC00-A02B70581197}" dt="2024-03-11T04:20:10.014" v="365" actId="6549"/>
          <ac:spMkLst>
            <pc:docMk/>
            <pc:sldMk cId="1863364696" sldId="361"/>
            <ac:spMk id="9" creationId="{3C53BB79-BB92-F82B-A995-B7A3EB5A67D4}"/>
          </ac:spMkLst>
        </pc:spChg>
        <pc:picChg chg="add mod">
          <ac:chgData name="Puligundla Neelakantan" userId="d690627465380b73" providerId="LiveId" clId="{AE864AD6-E0EC-4607-BC00-A02B70581197}" dt="2024-03-11T04:19:51.089" v="361" actId="1076"/>
          <ac:picMkLst>
            <pc:docMk/>
            <pc:sldMk cId="1863364696" sldId="361"/>
            <ac:picMk id="3" creationId="{7A2F188A-B6B4-FC32-1071-4402003BDC7E}"/>
          </ac:picMkLst>
        </pc:picChg>
      </pc:sldChg>
      <pc:sldChg chg="addSp delSp modSp add mod">
        <pc:chgData name="Puligundla Neelakantan" userId="d690627465380b73" providerId="LiveId" clId="{AE864AD6-E0EC-4607-BC00-A02B70581197}" dt="2024-03-13T04:06:29.763" v="385" actId="21"/>
        <pc:sldMkLst>
          <pc:docMk/>
          <pc:sldMk cId="2559288661" sldId="362"/>
        </pc:sldMkLst>
        <pc:spChg chg="mod">
          <ac:chgData name="Puligundla Neelakantan" userId="d690627465380b73" providerId="LiveId" clId="{AE864AD6-E0EC-4607-BC00-A02B70581197}" dt="2024-03-13T04:05:37.178" v="380" actId="14100"/>
          <ac:spMkLst>
            <pc:docMk/>
            <pc:sldMk cId="2559288661" sldId="362"/>
            <ac:spMk id="2" creationId="{C0D7356C-14D6-B28E-7EE1-6970B5B6CAA3}"/>
          </ac:spMkLst>
        </pc:spChg>
        <pc:spChg chg="del mod">
          <ac:chgData name="Puligundla Neelakantan" userId="d690627465380b73" providerId="LiveId" clId="{AE864AD6-E0EC-4607-BC00-A02B70581197}" dt="2024-03-13T04:05:12.918" v="370"/>
          <ac:spMkLst>
            <pc:docMk/>
            <pc:sldMk cId="2559288661" sldId="362"/>
            <ac:spMk id="8" creationId="{3FAEEA91-CADC-A034-75A9-EC4998ECF419}"/>
          </ac:spMkLst>
        </pc:spChg>
        <pc:spChg chg="del">
          <ac:chgData name="Puligundla Neelakantan" userId="d690627465380b73" providerId="LiveId" clId="{AE864AD6-E0EC-4607-BC00-A02B70581197}" dt="2024-03-13T04:05:15.569" v="371" actId="478"/>
          <ac:spMkLst>
            <pc:docMk/>
            <pc:sldMk cId="2559288661" sldId="362"/>
            <ac:spMk id="9" creationId="{3C53BB79-BB92-F82B-A995-B7A3EB5A67D4}"/>
          </ac:spMkLst>
        </pc:spChg>
        <pc:spChg chg="add mod">
          <ac:chgData name="Puligundla Neelakantan" userId="d690627465380b73" providerId="LiveId" clId="{AE864AD6-E0EC-4607-BC00-A02B70581197}" dt="2024-03-13T04:06:29.763" v="385" actId="21"/>
          <ac:spMkLst>
            <pc:docMk/>
            <pc:sldMk cId="2559288661" sldId="362"/>
            <ac:spMk id="10" creationId="{9ADFA80F-4DC3-B24F-2204-484608C38502}"/>
          </ac:spMkLst>
        </pc:spChg>
        <pc:picChg chg="del">
          <ac:chgData name="Puligundla Neelakantan" userId="d690627465380b73" providerId="LiveId" clId="{AE864AD6-E0EC-4607-BC00-A02B70581197}" dt="2024-03-13T04:05:12.918" v="368" actId="478"/>
          <ac:picMkLst>
            <pc:docMk/>
            <pc:sldMk cId="2559288661" sldId="362"/>
            <ac:picMk id="3" creationId="{7A2F188A-B6B4-FC32-1071-4402003BDC7E}"/>
          </ac:picMkLst>
        </pc:picChg>
      </pc:sldChg>
      <pc:sldChg chg="modSp add mod">
        <pc:chgData name="Puligundla Neelakantan" userId="d690627465380b73" providerId="LiveId" clId="{AE864AD6-E0EC-4607-BC00-A02B70581197}" dt="2024-03-13T04:08:23.878" v="407" actId="20577"/>
        <pc:sldMkLst>
          <pc:docMk/>
          <pc:sldMk cId="4273780829" sldId="363"/>
        </pc:sldMkLst>
        <pc:spChg chg="mod">
          <ac:chgData name="Puligundla Neelakantan" userId="d690627465380b73" providerId="LiveId" clId="{AE864AD6-E0EC-4607-BC00-A02B70581197}" dt="2024-03-13T04:08:23.878" v="407" actId="20577"/>
          <ac:spMkLst>
            <pc:docMk/>
            <pc:sldMk cId="4273780829" sldId="363"/>
            <ac:spMk id="10" creationId="{9ADFA80F-4DC3-B24F-2204-484608C38502}"/>
          </ac:spMkLst>
        </pc:spChg>
      </pc:sldChg>
      <pc:sldChg chg="modSp add mod">
        <pc:chgData name="Puligundla Neelakantan" userId="d690627465380b73" providerId="LiveId" clId="{AE864AD6-E0EC-4607-BC00-A02B70581197}" dt="2024-03-13T04:09:14.120" v="420" actId="21"/>
        <pc:sldMkLst>
          <pc:docMk/>
          <pc:sldMk cId="1619076882" sldId="364"/>
        </pc:sldMkLst>
        <pc:spChg chg="mod">
          <ac:chgData name="Puligundla Neelakantan" userId="d690627465380b73" providerId="LiveId" clId="{AE864AD6-E0EC-4607-BC00-A02B70581197}" dt="2024-03-13T04:09:14.120" v="420" actId="21"/>
          <ac:spMkLst>
            <pc:docMk/>
            <pc:sldMk cId="1619076882" sldId="364"/>
            <ac:spMk id="10" creationId="{9ADFA80F-4DC3-B24F-2204-484608C38502}"/>
          </ac:spMkLst>
        </pc:spChg>
      </pc:sldChg>
      <pc:sldChg chg="addSp modSp add mod">
        <pc:chgData name="Puligundla Neelakantan" userId="d690627465380b73" providerId="LiveId" clId="{AE864AD6-E0EC-4607-BC00-A02B70581197}" dt="2024-03-13T04:21:53.741" v="448" actId="13822"/>
        <pc:sldMkLst>
          <pc:docMk/>
          <pc:sldMk cId="2457573109" sldId="365"/>
        </pc:sldMkLst>
        <pc:spChg chg="add mod">
          <ac:chgData name="Puligundla Neelakantan" userId="d690627465380b73" providerId="LiveId" clId="{AE864AD6-E0EC-4607-BC00-A02B70581197}" dt="2024-03-13T04:21:53.741" v="448" actId="13822"/>
          <ac:spMkLst>
            <pc:docMk/>
            <pc:sldMk cId="2457573109" sldId="365"/>
            <ac:spMk id="7" creationId="{84B7138F-7EA3-FDE2-68C5-433BCCAB0A96}"/>
          </ac:spMkLst>
        </pc:spChg>
        <pc:spChg chg="mod">
          <ac:chgData name="Puligundla Neelakantan" userId="d690627465380b73" providerId="LiveId" clId="{AE864AD6-E0EC-4607-BC00-A02B70581197}" dt="2024-03-13T04:11:27.003" v="445" actId="255"/>
          <ac:spMkLst>
            <pc:docMk/>
            <pc:sldMk cId="2457573109" sldId="365"/>
            <ac:spMk id="10" creationId="{9ADFA80F-4DC3-B24F-2204-484608C38502}"/>
          </ac:spMkLst>
        </pc:spChg>
      </pc:sldChg>
      <pc:sldChg chg="addSp delSp modSp add mod">
        <pc:chgData name="Puligundla Neelakantan" userId="d690627465380b73" providerId="LiveId" clId="{AE864AD6-E0EC-4607-BC00-A02B70581197}" dt="2024-03-13T06:08:32.984" v="463" actId="20577"/>
        <pc:sldMkLst>
          <pc:docMk/>
          <pc:sldMk cId="2586466873" sldId="366"/>
        </pc:sldMkLst>
        <pc:spChg chg="del">
          <ac:chgData name="Puligundla Neelakantan" userId="d690627465380b73" providerId="LiveId" clId="{AE864AD6-E0EC-4607-BC00-A02B70581197}" dt="2024-03-13T04:22:03.342" v="450" actId="478"/>
          <ac:spMkLst>
            <pc:docMk/>
            <pc:sldMk cId="2586466873" sldId="366"/>
            <ac:spMk id="7" creationId="{84B7138F-7EA3-FDE2-68C5-433BCCAB0A96}"/>
          </ac:spMkLst>
        </pc:spChg>
        <pc:spChg chg="add mod">
          <ac:chgData name="Puligundla Neelakantan" userId="d690627465380b73" providerId="LiveId" clId="{AE864AD6-E0EC-4607-BC00-A02B70581197}" dt="2024-03-13T06:08:32.984" v="463" actId="20577"/>
          <ac:spMkLst>
            <pc:docMk/>
            <pc:sldMk cId="2586466873" sldId="366"/>
            <ac:spMk id="8" creationId="{8C33AA8C-CFFD-3EC8-6A62-26FC06AE35DF}"/>
          </ac:spMkLst>
        </pc:spChg>
        <pc:spChg chg="del mod">
          <ac:chgData name="Puligundla Neelakantan" userId="d690627465380b73" providerId="LiveId" clId="{AE864AD6-E0EC-4607-BC00-A02B70581197}" dt="2024-03-13T04:22:07.733" v="453"/>
          <ac:spMkLst>
            <pc:docMk/>
            <pc:sldMk cId="2586466873" sldId="366"/>
            <ac:spMk id="10" creationId="{9ADFA80F-4DC3-B24F-2204-484608C38502}"/>
          </ac:spMkLst>
        </pc:spChg>
      </pc:sldChg>
      <pc:sldChg chg="modSp add mod">
        <pc:chgData name="Puligundla Neelakantan" userId="d690627465380b73" providerId="LiveId" clId="{AE864AD6-E0EC-4607-BC00-A02B70581197}" dt="2024-03-13T04:22:36.456" v="459"/>
        <pc:sldMkLst>
          <pc:docMk/>
          <pc:sldMk cId="3657885113" sldId="367"/>
        </pc:sldMkLst>
        <pc:spChg chg="mod">
          <ac:chgData name="Puligundla Neelakantan" userId="d690627465380b73" providerId="LiveId" clId="{AE864AD6-E0EC-4607-BC00-A02B70581197}" dt="2024-03-13T04:22:36.456" v="459"/>
          <ac:spMkLst>
            <pc:docMk/>
            <pc:sldMk cId="3657885113" sldId="367"/>
            <ac:spMk id="8" creationId="{8C33AA8C-CFFD-3EC8-6A62-26FC06AE35D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63B8F35-73A6-41C9-86E9-11CE927B6B58}" type="datetimeFigureOut">
              <a:rPr lang="en-US" smtClean="0"/>
              <a:t>3/13/2024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592A158-4768-412B-B84E-36AAF74B40B9}" type="slidenum">
              <a:rPr lang="en-US" smtClean="0"/>
              <a:t>‹#›</a:t>
            </a:fld>
            <a:endParaRPr lang="en-US"/>
          </a:p>
        </p:txBody>
      </p:sp>
    </p:spTree>
    <p:extLst>
      <p:ext uri="{BB962C8B-B14F-4D97-AF65-F5344CB8AC3E}">
        <p14:creationId xmlns:p14="http://schemas.microsoft.com/office/powerpoint/2010/main" val="12765882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A04CA91-3CD2-43DC-9594-2A703B8CA092}" type="datetime4">
              <a:rPr lang="en-US" smtClean="0"/>
              <a:t>March 13, 2024</a:t>
            </a:fld>
            <a:endParaRPr lang="en-US"/>
          </a:p>
        </p:txBody>
      </p:sp>
      <p:sp>
        <p:nvSpPr>
          <p:cNvPr id="5" name="Footer Placeholder 4"/>
          <p:cNvSpPr>
            <a:spLocks noGrp="1"/>
          </p:cNvSpPr>
          <p:nvPr>
            <p:ph type="ftr" sz="quarter" idx="11"/>
          </p:nvPr>
        </p:nvSpPr>
        <p:spPr>
          <a:xfrm>
            <a:off x="1676400" y="6351494"/>
            <a:ext cx="5029200" cy="365125"/>
          </a:xfrm>
        </p:spPr>
        <p:txBody>
          <a:bodyPr/>
          <a:lstStyle/>
          <a:p>
            <a:r>
              <a:rPr lang="en-US"/>
              <a:t>Department of Computer Science &amp; Engineering, VNRVJIET, Hyderabad</a:t>
            </a:r>
          </a:p>
        </p:txBody>
      </p:sp>
      <p:sp>
        <p:nvSpPr>
          <p:cNvPr id="6" name="Slide Number Placeholder 5"/>
          <p:cNvSpPr>
            <a:spLocks noGrp="1"/>
          </p:cNvSpPr>
          <p:nvPr>
            <p:ph type="sldNum" sz="quarter" idx="4"/>
          </p:nvPr>
        </p:nvSpPr>
        <p:spPr>
          <a:xfrm>
            <a:off x="8001000" y="6340475"/>
            <a:ext cx="762000" cy="365125"/>
          </a:xfrm>
          <a:prstGeom prst="rect">
            <a:avLst/>
          </a:prstGeom>
        </p:spPr>
        <p:txBody>
          <a:bodyPr vert="horz" lIns="0" tIns="45720" rIns="91440" bIns="45720" rtlCol="0" anchor="ctr"/>
          <a:lstStyle>
            <a:lvl1pPr algn="r">
              <a:defRPr sz="1100">
                <a:solidFill>
                  <a:schemeClr val="bg1"/>
                </a:solidFill>
              </a:defRPr>
            </a:lvl1pPr>
          </a:lstStyle>
          <a:p>
            <a:fld id="{C4FA3F07-B4E9-4FEB-BC07-B9713C186F28}" type="slidenum">
              <a:rPr lang="en-US" smtClean="0"/>
              <a:pPr/>
              <a:t>‹#›</a:t>
            </a:fld>
            <a:endParaRPr lang="en-US" dirty="0"/>
          </a:p>
        </p:txBody>
      </p:sp>
    </p:spTree>
    <p:extLst>
      <p:ext uri="{BB962C8B-B14F-4D97-AF65-F5344CB8AC3E}">
        <p14:creationId xmlns:p14="http://schemas.microsoft.com/office/powerpoint/2010/main" val="3834045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6553200" y="6340475"/>
            <a:ext cx="1371600" cy="365125"/>
          </a:xfrm>
        </p:spPr>
        <p:txBody>
          <a:bodyPr/>
          <a:lstStyle/>
          <a:p>
            <a:fld id="{F6C643BA-ACA1-44BF-9071-763295A35907}" type="datetime4">
              <a:rPr lang="en-US" smtClean="0"/>
              <a:t>March 13, 2024</a:t>
            </a:fld>
            <a:endParaRPr lang="en-US"/>
          </a:p>
        </p:txBody>
      </p:sp>
      <p:sp>
        <p:nvSpPr>
          <p:cNvPr id="5" name="Footer Placeholder 4"/>
          <p:cNvSpPr>
            <a:spLocks noGrp="1"/>
          </p:cNvSpPr>
          <p:nvPr>
            <p:ph type="ftr" sz="quarter" idx="11"/>
          </p:nvPr>
        </p:nvSpPr>
        <p:spPr/>
        <p:txBody>
          <a:bodyPr/>
          <a:lstStyle/>
          <a:p>
            <a:r>
              <a:rPr lang="en-US"/>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pPr/>
              <a:t>‹#›</a:t>
            </a:fld>
            <a:endParaRPr lang="en-US" dirty="0"/>
          </a:p>
        </p:txBody>
      </p:sp>
      <p:cxnSp>
        <p:nvCxnSpPr>
          <p:cNvPr id="8" name="Straight Connector 7"/>
          <p:cNvCxnSpPr/>
          <p:nvPr userDrawn="1"/>
        </p:nvCxnSpPr>
        <p:spPr>
          <a:xfrm>
            <a:off x="0" y="1219200"/>
            <a:ext cx="9144000" cy="0"/>
          </a:xfrm>
          <a:prstGeom prst="line">
            <a:avLst/>
          </a:prstGeom>
          <a:ln w="50800" cmpd="dbl"/>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63282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205BE5B-515E-412D-86C2-B1F3269CA20F}" type="datetime4">
              <a:rPr lang="en-US" smtClean="0"/>
              <a:t>March 13, 2024</a:t>
            </a:fld>
            <a:endParaRPr lang="en-US"/>
          </a:p>
        </p:txBody>
      </p:sp>
      <p:sp>
        <p:nvSpPr>
          <p:cNvPr id="5" name="Footer Placeholder 4"/>
          <p:cNvSpPr>
            <a:spLocks noGrp="1"/>
          </p:cNvSpPr>
          <p:nvPr>
            <p:ph type="ftr" sz="quarter" idx="11"/>
          </p:nvPr>
        </p:nvSpPr>
        <p:spPr/>
        <p:txBody>
          <a:bodyPr/>
          <a:lstStyle/>
          <a:p>
            <a:r>
              <a:rPr lang="en-US"/>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t>‹#›</a:t>
            </a:fld>
            <a:endParaRPr lang="en-US"/>
          </a:p>
        </p:txBody>
      </p:sp>
    </p:spTree>
    <p:extLst>
      <p:ext uri="{BB962C8B-B14F-4D97-AF65-F5344CB8AC3E}">
        <p14:creationId xmlns:p14="http://schemas.microsoft.com/office/powerpoint/2010/main" val="4052295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9A6B425-E75E-409A-BFE4-FB635A7355EA}" type="datetime4">
              <a:rPr lang="en-US" smtClean="0"/>
              <a:t>March 13, 2024</a:t>
            </a:fld>
            <a:endParaRPr lang="en-US"/>
          </a:p>
        </p:txBody>
      </p:sp>
      <p:sp>
        <p:nvSpPr>
          <p:cNvPr id="6" name="Footer Placeholder 5"/>
          <p:cNvSpPr>
            <a:spLocks noGrp="1"/>
          </p:cNvSpPr>
          <p:nvPr>
            <p:ph type="ftr" sz="quarter" idx="11"/>
          </p:nvPr>
        </p:nvSpPr>
        <p:spPr/>
        <p:txBody>
          <a:bodyPr/>
          <a:lstStyle/>
          <a:p>
            <a:r>
              <a:rPr lang="en-US"/>
              <a:t>Department of Computer Science &amp; Engineering, VNRVJIET, Hyderabad</a:t>
            </a:r>
          </a:p>
        </p:txBody>
      </p:sp>
      <p:sp>
        <p:nvSpPr>
          <p:cNvPr id="7" name="Slide Number Placeholder 6"/>
          <p:cNvSpPr>
            <a:spLocks noGrp="1"/>
          </p:cNvSpPr>
          <p:nvPr>
            <p:ph type="sldNum" sz="quarter" idx="12"/>
          </p:nvPr>
        </p:nvSpPr>
        <p:spPr/>
        <p:txBody>
          <a:bodyPr/>
          <a:lstStyle/>
          <a:p>
            <a:fld id="{C4FA3F07-B4E9-4FEB-BC07-B9713C186F28}" type="slidenum">
              <a:rPr lang="en-US" smtClean="0"/>
              <a:t>‹#›</a:t>
            </a:fld>
            <a:endParaRPr lang="en-US"/>
          </a:p>
        </p:txBody>
      </p:sp>
    </p:spTree>
    <p:extLst>
      <p:ext uri="{BB962C8B-B14F-4D97-AF65-F5344CB8AC3E}">
        <p14:creationId xmlns:p14="http://schemas.microsoft.com/office/powerpoint/2010/main" val="2679750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91D5381-EE49-4A38-9972-518E5CC5FFAB}" type="datetime4">
              <a:rPr lang="en-US" smtClean="0"/>
              <a:t>March 13, 2024</a:t>
            </a:fld>
            <a:endParaRPr lang="en-US"/>
          </a:p>
        </p:txBody>
      </p:sp>
      <p:sp>
        <p:nvSpPr>
          <p:cNvPr id="8" name="Footer Placeholder 7"/>
          <p:cNvSpPr>
            <a:spLocks noGrp="1"/>
          </p:cNvSpPr>
          <p:nvPr>
            <p:ph type="ftr" sz="quarter" idx="11"/>
          </p:nvPr>
        </p:nvSpPr>
        <p:spPr/>
        <p:txBody>
          <a:bodyPr/>
          <a:lstStyle/>
          <a:p>
            <a:r>
              <a:rPr lang="en-US"/>
              <a:t>Department of Computer Science &amp; Engineering, VNRVJIET, Hyderabad</a:t>
            </a:r>
          </a:p>
        </p:txBody>
      </p:sp>
      <p:sp>
        <p:nvSpPr>
          <p:cNvPr id="9" name="Slide Number Placeholder 8"/>
          <p:cNvSpPr>
            <a:spLocks noGrp="1"/>
          </p:cNvSpPr>
          <p:nvPr>
            <p:ph type="sldNum" sz="quarter" idx="12"/>
          </p:nvPr>
        </p:nvSpPr>
        <p:spPr/>
        <p:txBody>
          <a:bodyPr/>
          <a:lstStyle/>
          <a:p>
            <a:fld id="{C4FA3F07-B4E9-4FEB-BC07-B9713C186F28}" type="slidenum">
              <a:rPr lang="en-US" smtClean="0"/>
              <a:t>‹#›</a:t>
            </a:fld>
            <a:endParaRPr lang="en-US"/>
          </a:p>
        </p:txBody>
      </p:sp>
    </p:spTree>
    <p:extLst>
      <p:ext uri="{BB962C8B-B14F-4D97-AF65-F5344CB8AC3E}">
        <p14:creationId xmlns:p14="http://schemas.microsoft.com/office/powerpoint/2010/main" val="36412093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D9C1254-C0BA-4195-834D-EBBB9ACEF963}" type="datetime4">
              <a:rPr lang="en-US" smtClean="0"/>
              <a:t>March 13, 2024</a:t>
            </a:fld>
            <a:endParaRPr lang="en-US"/>
          </a:p>
        </p:txBody>
      </p:sp>
      <p:sp>
        <p:nvSpPr>
          <p:cNvPr id="4" name="Footer Placeholder 3"/>
          <p:cNvSpPr>
            <a:spLocks noGrp="1"/>
          </p:cNvSpPr>
          <p:nvPr>
            <p:ph type="ftr" sz="quarter" idx="11"/>
          </p:nvPr>
        </p:nvSpPr>
        <p:spPr/>
        <p:txBody>
          <a:bodyPr/>
          <a:lstStyle/>
          <a:p>
            <a:r>
              <a:rPr lang="en-US"/>
              <a:t>Department of Computer Science &amp; Engineering, VNRVJIET, Hyderabad</a:t>
            </a:r>
          </a:p>
        </p:txBody>
      </p:sp>
      <p:sp>
        <p:nvSpPr>
          <p:cNvPr id="5" name="Slide Number Placeholder 4"/>
          <p:cNvSpPr>
            <a:spLocks noGrp="1"/>
          </p:cNvSpPr>
          <p:nvPr>
            <p:ph type="sldNum" sz="quarter" idx="12"/>
          </p:nvPr>
        </p:nvSpPr>
        <p:spPr/>
        <p:txBody>
          <a:bodyPr/>
          <a:lstStyle/>
          <a:p>
            <a:fld id="{C4FA3F07-B4E9-4FEB-BC07-B9713C186F28}" type="slidenum">
              <a:rPr lang="en-US" smtClean="0"/>
              <a:t>‹#›</a:t>
            </a:fld>
            <a:endParaRPr lang="en-US"/>
          </a:p>
        </p:txBody>
      </p:sp>
    </p:spTree>
    <p:extLst>
      <p:ext uri="{BB962C8B-B14F-4D97-AF65-F5344CB8AC3E}">
        <p14:creationId xmlns:p14="http://schemas.microsoft.com/office/powerpoint/2010/main" val="24170042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1E43DD-DC4C-4B08-A97C-A1AF54666E5E}" type="datetime4">
              <a:rPr lang="en-US" smtClean="0"/>
              <a:t>March 13, 2024</a:t>
            </a:fld>
            <a:endParaRPr lang="en-US"/>
          </a:p>
        </p:txBody>
      </p:sp>
      <p:sp>
        <p:nvSpPr>
          <p:cNvPr id="3" name="Footer Placeholder 2"/>
          <p:cNvSpPr>
            <a:spLocks noGrp="1"/>
          </p:cNvSpPr>
          <p:nvPr>
            <p:ph type="ftr" sz="quarter" idx="11"/>
          </p:nvPr>
        </p:nvSpPr>
        <p:spPr/>
        <p:txBody>
          <a:bodyPr/>
          <a:lstStyle/>
          <a:p>
            <a:r>
              <a:rPr lang="en-US"/>
              <a:t>Department of Computer Science &amp; Engineering, VNRVJIET, Hyderabad</a:t>
            </a:r>
          </a:p>
        </p:txBody>
      </p:sp>
      <p:sp>
        <p:nvSpPr>
          <p:cNvPr id="4" name="Slide Number Placeholder 3"/>
          <p:cNvSpPr>
            <a:spLocks noGrp="1"/>
          </p:cNvSpPr>
          <p:nvPr>
            <p:ph type="sldNum" sz="quarter" idx="12"/>
          </p:nvPr>
        </p:nvSpPr>
        <p:spPr/>
        <p:txBody>
          <a:bodyPr/>
          <a:lstStyle/>
          <a:p>
            <a:fld id="{C4FA3F07-B4E9-4FEB-BC07-B9713C186F28}" type="slidenum">
              <a:rPr lang="en-US" smtClean="0"/>
              <a:t>‹#›</a:t>
            </a:fld>
            <a:endParaRPr lang="en-US"/>
          </a:p>
        </p:txBody>
      </p:sp>
    </p:spTree>
    <p:extLst>
      <p:ext uri="{BB962C8B-B14F-4D97-AF65-F5344CB8AC3E}">
        <p14:creationId xmlns:p14="http://schemas.microsoft.com/office/powerpoint/2010/main" val="28052462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0CE188-F664-4B0D-8AC6-20A184CAFF41}" type="datetime4">
              <a:rPr lang="en-US" smtClean="0"/>
              <a:t>March 13, 2024</a:t>
            </a:fld>
            <a:endParaRPr lang="en-US"/>
          </a:p>
        </p:txBody>
      </p:sp>
      <p:sp>
        <p:nvSpPr>
          <p:cNvPr id="6" name="Footer Placeholder 5"/>
          <p:cNvSpPr>
            <a:spLocks noGrp="1"/>
          </p:cNvSpPr>
          <p:nvPr>
            <p:ph type="ftr" sz="quarter" idx="11"/>
          </p:nvPr>
        </p:nvSpPr>
        <p:spPr/>
        <p:txBody>
          <a:bodyPr/>
          <a:lstStyle/>
          <a:p>
            <a:r>
              <a:rPr lang="en-US"/>
              <a:t>Department of Computer Science &amp; Engineering, VNRVJIET, Hyderabad</a:t>
            </a:r>
          </a:p>
        </p:txBody>
      </p:sp>
      <p:sp>
        <p:nvSpPr>
          <p:cNvPr id="7" name="Slide Number Placeholder 6"/>
          <p:cNvSpPr>
            <a:spLocks noGrp="1"/>
          </p:cNvSpPr>
          <p:nvPr>
            <p:ph type="sldNum" sz="quarter" idx="12"/>
          </p:nvPr>
        </p:nvSpPr>
        <p:spPr/>
        <p:txBody>
          <a:bodyPr/>
          <a:lstStyle/>
          <a:p>
            <a:fld id="{C4FA3F07-B4E9-4FEB-BC07-B9713C186F28}" type="slidenum">
              <a:rPr lang="en-US" smtClean="0"/>
              <a:t>‹#›</a:t>
            </a:fld>
            <a:endParaRPr lang="en-US"/>
          </a:p>
        </p:txBody>
      </p:sp>
    </p:spTree>
    <p:extLst>
      <p:ext uri="{BB962C8B-B14F-4D97-AF65-F5344CB8AC3E}">
        <p14:creationId xmlns:p14="http://schemas.microsoft.com/office/powerpoint/2010/main" val="30110688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CCB2588-DF27-44BC-A482-328866C3420F}" type="datetime4">
              <a:rPr lang="en-US" smtClean="0"/>
              <a:t>March 13, 2024</a:t>
            </a:fld>
            <a:endParaRPr lang="en-US"/>
          </a:p>
        </p:txBody>
      </p:sp>
      <p:sp>
        <p:nvSpPr>
          <p:cNvPr id="6" name="Footer Placeholder 5"/>
          <p:cNvSpPr>
            <a:spLocks noGrp="1"/>
          </p:cNvSpPr>
          <p:nvPr>
            <p:ph type="ftr" sz="quarter" idx="11"/>
          </p:nvPr>
        </p:nvSpPr>
        <p:spPr/>
        <p:txBody>
          <a:bodyPr/>
          <a:lstStyle/>
          <a:p>
            <a:r>
              <a:rPr lang="en-US"/>
              <a:t>Department of Computer Science &amp; Engineering, VNRVJIET, Hyderabad</a:t>
            </a:r>
          </a:p>
        </p:txBody>
      </p:sp>
      <p:sp>
        <p:nvSpPr>
          <p:cNvPr id="7" name="Slide Number Placeholder 6"/>
          <p:cNvSpPr>
            <a:spLocks noGrp="1"/>
          </p:cNvSpPr>
          <p:nvPr>
            <p:ph type="sldNum" sz="quarter" idx="12"/>
          </p:nvPr>
        </p:nvSpPr>
        <p:spPr/>
        <p:txBody>
          <a:bodyPr/>
          <a:lstStyle/>
          <a:p>
            <a:fld id="{C4FA3F07-B4E9-4FEB-BC07-B9713C186F28}" type="slidenum">
              <a:rPr lang="en-US" smtClean="0"/>
              <a:t>‹#›</a:t>
            </a:fld>
            <a:endParaRPr lang="en-US"/>
          </a:p>
        </p:txBody>
      </p:sp>
    </p:spTree>
    <p:extLst>
      <p:ext uri="{BB962C8B-B14F-4D97-AF65-F5344CB8AC3E}">
        <p14:creationId xmlns:p14="http://schemas.microsoft.com/office/powerpoint/2010/main" val="2838968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userDrawn="1"/>
        </p:nvSpPr>
        <p:spPr>
          <a:xfrm>
            <a:off x="4482" y="6324600"/>
            <a:ext cx="9144000" cy="533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52400" y="350838"/>
            <a:ext cx="7848600" cy="86836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304800" y="1371600"/>
            <a:ext cx="8458200" cy="48006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629400" y="6340475"/>
            <a:ext cx="1295400" cy="365125"/>
          </a:xfrm>
          <a:prstGeom prst="rect">
            <a:avLst/>
          </a:prstGeom>
        </p:spPr>
        <p:txBody>
          <a:bodyPr vert="horz" lIns="91440" tIns="45720" rIns="91440" bIns="45720" rtlCol="0" anchor="ctr"/>
          <a:lstStyle>
            <a:lvl1pPr algn="l">
              <a:defRPr sz="1100">
                <a:solidFill>
                  <a:schemeClr val="bg1"/>
                </a:solidFill>
              </a:defRPr>
            </a:lvl1pPr>
          </a:lstStyle>
          <a:p>
            <a:fld id="{D7464B53-3DD9-4B20-8321-AE9834B07E10}" type="datetime4">
              <a:rPr lang="en-US" smtClean="0"/>
              <a:t>March 13, 2024</a:t>
            </a:fld>
            <a:endParaRPr lang="en-US" dirty="0"/>
          </a:p>
        </p:txBody>
      </p:sp>
      <p:sp>
        <p:nvSpPr>
          <p:cNvPr id="5" name="Footer Placeholder 4"/>
          <p:cNvSpPr>
            <a:spLocks noGrp="1"/>
          </p:cNvSpPr>
          <p:nvPr>
            <p:ph type="ftr" sz="quarter" idx="3"/>
          </p:nvPr>
        </p:nvSpPr>
        <p:spPr>
          <a:xfrm>
            <a:off x="1524000" y="6351494"/>
            <a:ext cx="5029200" cy="365125"/>
          </a:xfrm>
          <a:prstGeom prst="rect">
            <a:avLst/>
          </a:prstGeom>
        </p:spPr>
        <p:txBody>
          <a:bodyPr vert="horz" lIns="91440" tIns="45720" rIns="91440" bIns="45720" rtlCol="0" anchor="ctr"/>
          <a:lstStyle>
            <a:lvl1pPr algn="ctr">
              <a:defRPr sz="1100">
                <a:solidFill>
                  <a:schemeClr val="bg1"/>
                </a:solidFill>
              </a:defRPr>
            </a:lvl1pPr>
          </a:lstStyle>
          <a:p>
            <a:r>
              <a:rPr lang="en-US"/>
              <a:t>Department of Computer Science &amp; Engineering, VNRVJIET, Hyderabad</a:t>
            </a:r>
            <a:endParaRPr lang="en-US" dirty="0"/>
          </a:p>
        </p:txBody>
      </p:sp>
      <p:sp>
        <p:nvSpPr>
          <p:cNvPr id="6" name="Slide Number Placeholder 5"/>
          <p:cNvSpPr>
            <a:spLocks noGrp="1"/>
          </p:cNvSpPr>
          <p:nvPr>
            <p:ph type="sldNum" sz="quarter" idx="4"/>
          </p:nvPr>
        </p:nvSpPr>
        <p:spPr>
          <a:xfrm>
            <a:off x="8001000" y="6340475"/>
            <a:ext cx="762000" cy="365125"/>
          </a:xfrm>
          <a:prstGeom prst="rect">
            <a:avLst/>
          </a:prstGeom>
        </p:spPr>
        <p:txBody>
          <a:bodyPr vert="horz" lIns="0" tIns="45720" rIns="91440" bIns="45720" rtlCol="0" anchor="ctr"/>
          <a:lstStyle>
            <a:lvl1pPr algn="r">
              <a:defRPr sz="1100">
                <a:solidFill>
                  <a:schemeClr val="bg1"/>
                </a:solidFill>
              </a:defRPr>
            </a:lvl1pPr>
          </a:lstStyle>
          <a:p>
            <a:fld id="{C4FA3F07-B4E9-4FEB-BC07-B9713C186F28}" type="slidenum">
              <a:rPr lang="en-US" smtClean="0"/>
              <a:pPr/>
              <a:t>‹#›</a:t>
            </a:fld>
            <a:endParaRPr lang="en-US" dirty="0"/>
          </a:p>
        </p:txBody>
      </p:sp>
      <p:sp>
        <p:nvSpPr>
          <p:cNvPr id="7" name="Rectangle 6"/>
          <p:cNvSpPr/>
          <p:nvPr userDrawn="1"/>
        </p:nvSpPr>
        <p:spPr>
          <a:xfrm>
            <a:off x="0" y="0"/>
            <a:ext cx="9144000" cy="152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7"/>
          <p:cNvPicPr>
            <a:picLocks noChangeAspect="1" noChangeArrowheads="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8001000" y="428673"/>
            <a:ext cx="838200" cy="7546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183776" y="6351494"/>
            <a:ext cx="12319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1" name="Straight Connector 10"/>
          <p:cNvCxnSpPr/>
          <p:nvPr userDrawn="1"/>
        </p:nvCxnSpPr>
        <p:spPr>
          <a:xfrm>
            <a:off x="4482" y="1219200"/>
            <a:ext cx="9144000" cy="0"/>
          </a:xfrm>
          <a:prstGeom prst="line">
            <a:avLst/>
          </a:prstGeom>
          <a:ln w="50800" cmpd="dbl"/>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30576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hdr="0"/>
  <p:txStyles>
    <p:titleStyle>
      <a:lvl1pPr algn="ctr" defTabSz="914400" rtl="0" eaLnBrk="1" latinLnBrk="0" hangingPunct="1">
        <a:spcBef>
          <a:spcPct val="0"/>
        </a:spcBef>
        <a:buNone/>
        <a:defRPr sz="4000" kern="1200">
          <a:solidFill>
            <a:schemeClr val="tx1"/>
          </a:solidFill>
          <a:latin typeface="+mj-lt"/>
          <a:ea typeface="+mj-ea"/>
          <a:cs typeface="+mj-cs"/>
        </a:defRPr>
      </a:lvl1pPr>
    </p:titleStyle>
    <p:bodyStyle>
      <a:lvl1pPr marL="282575" indent="-282575" algn="l" defTabSz="914400" rtl="0" eaLnBrk="1" latinLnBrk="0" hangingPunct="1">
        <a:spcBef>
          <a:spcPct val="200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spcBef>
          <a:spcPct val="20000"/>
        </a:spcBef>
        <a:buFont typeface="Wingdings" panose="05000000000000000000" pitchFamily="2" charset="2"/>
        <a:buChar char="§"/>
        <a:defRPr sz="1800" kern="1200">
          <a:solidFill>
            <a:schemeClr val="tx1"/>
          </a:solidFill>
          <a:latin typeface="+mn-lt"/>
          <a:ea typeface="+mn-ea"/>
          <a:cs typeface="+mn-cs"/>
        </a:defRPr>
      </a:lvl2pPr>
      <a:lvl3pPr marL="1089025" indent="-174625" algn="l" defTabSz="914400" rtl="0" eaLnBrk="1" latinLnBrk="0" hangingPunct="1">
        <a:spcBef>
          <a:spcPct val="20000"/>
        </a:spcBef>
        <a:buFont typeface="Wingdings" panose="05000000000000000000" pitchFamily="2" charset="2"/>
        <a:buChar char="§"/>
        <a:defRPr sz="1600" kern="1200">
          <a:solidFill>
            <a:schemeClr val="tx1"/>
          </a:solidFill>
          <a:latin typeface="+mn-lt"/>
          <a:ea typeface="+mn-ea"/>
          <a:cs typeface="+mn-cs"/>
        </a:defRPr>
      </a:lvl3pPr>
      <a:lvl4pPr marL="1546225" indent="-174625" algn="l" defTabSz="914400" rtl="0" eaLnBrk="1" latinLnBrk="0" hangingPunct="1">
        <a:spcBef>
          <a:spcPct val="20000"/>
        </a:spcBef>
        <a:buFont typeface="Wingdings" panose="05000000000000000000" pitchFamily="2" charset="2"/>
        <a:buChar char="§"/>
        <a:defRPr sz="1400" kern="1200">
          <a:solidFill>
            <a:schemeClr val="tx1"/>
          </a:solidFill>
          <a:latin typeface="+mn-lt"/>
          <a:ea typeface="+mn-ea"/>
          <a:cs typeface="+mn-cs"/>
        </a:defRPr>
      </a:lvl4pPr>
      <a:lvl5pPr marL="2003425" indent="-174625" algn="l" defTabSz="914400" rtl="0" eaLnBrk="1" latinLnBrk="0" hangingPunct="1">
        <a:spcBef>
          <a:spcPct val="200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 name="Title 1"/>
          <p:cNvSpPr>
            <a:spLocks noGrp="1"/>
          </p:cNvSpPr>
          <p:nvPr>
            <p:ph type="ctrTitle"/>
          </p:nvPr>
        </p:nvSpPr>
        <p:spPr>
          <a:xfrm>
            <a:off x="1714500" y="2470402"/>
            <a:ext cx="5715000" cy="1695451"/>
          </a:xfrm>
          <a:effectLst/>
        </p:spPr>
        <p:txBody>
          <a:bodyPr anchor="b">
            <a:normAutofit fontScale="90000"/>
          </a:bodyPr>
          <a:lstStyle/>
          <a:p>
            <a:br>
              <a:rPr lang="en-US" sz="2800" b="1" dirty="0">
                <a:solidFill>
                  <a:srgbClr val="002060"/>
                </a:solidFill>
              </a:rPr>
            </a:br>
            <a:br>
              <a:rPr lang="en-US" sz="2800" b="1" dirty="0">
                <a:solidFill>
                  <a:srgbClr val="002060"/>
                </a:solidFill>
              </a:rPr>
            </a:br>
            <a:br>
              <a:rPr lang="en-US" sz="2800" b="1" dirty="0">
                <a:solidFill>
                  <a:srgbClr val="002060"/>
                </a:solidFill>
              </a:rPr>
            </a:br>
            <a:br>
              <a:rPr lang="en-US" sz="2800" b="1" dirty="0">
                <a:solidFill>
                  <a:srgbClr val="002060"/>
                </a:solidFill>
              </a:rPr>
            </a:br>
            <a:br>
              <a:rPr lang="en-US" sz="2800" b="1" dirty="0">
                <a:solidFill>
                  <a:srgbClr val="002060"/>
                </a:solidFill>
              </a:rPr>
            </a:br>
            <a:br>
              <a:rPr lang="en-US" sz="2800" b="1" dirty="0">
                <a:solidFill>
                  <a:srgbClr val="002060"/>
                </a:solidFill>
              </a:rPr>
            </a:br>
            <a:r>
              <a:rPr lang="en-US" sz="2200" b="1" dirty="0">
                <a:solidFill>
                  <a:srgbClr val="002060"/>
                </a:solidFill>
                <a:latin typeface="+mn-lt"/>
                <a:ea typeface="+mn-ea"/>
                <a:cs typeface="Adobe Arabic" pitchFamily="18" charset="-78"/>
              </a:rPr>
              <a:t>Department of Computer Science &amp; Engineering</a:t>
            </a:r>
            <a:br>
              <a:rPr lang="en-US" sz="2700" b="1" i="1" dirty="0">
                <a:solidFill>
                  <a:srgbClr val="002060"/>
                </a:solidFill>
                <a:latin typeface="Adobe Arabic" pitchFamily="18" charset="-78"/>
                <a:cs typeface="Adobe Arabic" pitchFamily="18" charset="-78"/>
              </a:rPr>
            </a:br>
            <a:br>
              <a:rPr lang="en-US" sz="2700" b="1" dirty="0">
                <a:solidFill>
                  <a:srgbClr val="002060"/>
                </a:solidFill>
                <a:latin typeface="Adobe Arabic" pitchFamily="18" charset="-78"/>
                <a:cs typeface="Adobe Arabic" pitchFamily="18" charset="-78"/>
              </a:rPr>
            </a:br>
            <a:r>
              <a:rPr lang="en-US" sz="2200" b="1" dirty="0">
                <a:solidFill>
                  <a:srgbClr val="C00000"/>
                </a:solidFill>
                <a:latin typeface="+mn-lt"/>
                <a:ea typeface="+mn-ea"/>
                <a:cs typeface="+mn-cs"/>
              </a:rPr>
              <a:t>SUBJECT: DESIGN AND ANALYSIS OF ALGORITHMS </a:t>
            </a:r>
            <a:br>
              <a:rPr lang="en-US" sz="2200" b="1" dirty="0">
                <a:solidFill>
                  <a:srgbClr val="C00000"/>
                </a:solidFill>
                <a:latin typeface="+mn-lt"/>
                <a:ea typeface="+mn-ea"/>
                <a:cs typeface="+mn-cs"/>
              </a:rPr>
            </a:br>
            <a:r>
              <a:rPr lang="en-US" sz="1800" b="1" dirty="0">
                <a:solidFill>
                  <a:schemeClr val="tx1">
                    <a:lumMod val="50000"/>
                    <a:lumOff val="50000"/>
                  </a:schemeClr>
                </a:solidFill>
                <a:latin typeface="+mn-lt"/>
                <a:ea typeface="+mn-ea"/>
                <a:cs typeface="+mn-cs"/>
              </a:rPr>
              <a:t>SUBJECT CODE: </a:t>
            </a:r>
            <a:r>
              <a:rPr lang="en-US" sz="1800" b="1" dirty="0">
                <a:effectLst/>
                <a:latin typeface="Times New Roman" panose="02020603050405020304" pitchFamily="18" charset="0"/>
                <a:ea typeface="Calibri" panose="020F0502020204030204" pitchFamily="34" charset="0"/>
              </a:rPr>
              <a:t>19PC1CS03</a:t>
            </a:r>
            <a:br>
              <a:rPr lang="en-US" sz="1800" dirty="0">
                <a:solidFill>
                  <a:schemeClr val="accent2"/>
                </a:solidFill>
                <a:latin typeface="+mn-lt"/>
              </a:rPr>
            </a:br>
            <a:br>
              <a:rPr lang="en-US" sz="2400" b="1" dirty="0">
                <a:solidFill>
                  <a:schemeClr val="accent2"/>
                </a:solidFill>
              </a:rPr>
            </a:br>
            <a:r>
              <a:rPr lang="en-US" sz="1800" b="1" dirty="0">
                <a:latin typeface="+mn-lt"/>
              </a:rPr>
              <a:t>TOPIC NAME: INTRODUCTION TO ALGORITHMS </a:t>
            </a:r>
            <a:br>
              <a:rPr lang="en-US" sz="1800" b="1" dirty="0">
                <a:latin typeface="+mn-lt"/>
              </a:rPr>
            </a:br>
            <a:r>
              <a:rPr lang="en-US" sz="1800" b="1" dirty="0">
                <a:latin typeface="+mn-lt"/>
              </a:rPr>
              <a:t>YEAR:   II-YEAR    SEC: C</a:t>
            </a:r>
          </a:p>
        </p:txBody>
      </p:sp>
      <p:sp>
        <p:nvSpPr>
          <p:cNvPr id="3" name="Subtitle 2"/>
          <p:cNvSpPr>
            <a:spLocks noGrp="1"/>
          </p:cNvSpPr>
          <p:nvPr>
            <p:ph type="subTitle" idx="1"/>
          </p:nvPr>
        </p:nvSpPr>
        <p:spPr>
          <a:xfrm>
            <a:off x="2324100" y="5013324"/>
            <a:ext cx="4419600" cy="1006475"/>
          </a:xfrm>
        </p:spPr>
        <p:txBody>
          <a:bodyPr anchor="b">
            <a:normAutofit/>
          </a:bodyPr>
          <a:lstStyle/>
          <a:p>
            <a:r>
              <a:rPr lang="en-US" sz="1600" b="1" dirty="0">
                <a:solidFill>
                  <a:schemeClr val="tx1">
                    <a:lumMod val="50000"/>
                    <a:lumOff val="50000"/>
                  </a:schemeClr>
                </a:solidFill>
              </a:rPr>
              <a:t>Dr. P  </a:t>
            </a:r>
            <a:r>
              <a:rPr lang="en-US" sz="1600" b="1" dirty="0" err="1">
                <a:solidFill>
                  <a:schemeClr val="tx1">
                    <a:lumMod val="50000"/>
                    <a:lumOff val="50000"/>
                  </a:schemeClr>
                </a:solidFill>
              </a:rPr>
              <a:t>Neelakantan</a:t>
            </a:r>
            <a:endParaRPr lang="en-US" sz="1600" b="1" dirty="0">
              <a:solidFill>
                <a:schemeClr val="tx1">
                  <a:lumMod val="50000"/>
                  <a:lumOff val="50000"/>
                </a:schemeClr>
              </a:solidFill>
            </a:endParaRPr>
          </a:p>
          <a:p>
            <a:r>
              <a:rPr lang="en-US" sz="1600" b="1" dirty="0">
                <a:solidFill>
                  <a:schemeClr val="tx1">
                    <a:lumMod val="50000"/>
                    <a:lumOff val="50000"/>
                  </a:schemeClr>
                </a:solidFill>
              </a:rPr>
              <a:t>Professor</a:t>
            </a:r>
          </a:p>
          <a:p>
            <a:r>
              <a:rPr lang="en-US" sz="1600" b="1" i="1" dirty="0">
                <a:solidFill>
                  <a:schemeClr val="tx1">
                    <a:lumMod val="50000"/>
                    <a:lumOff val="50000"/>
                  </a:schemeClr>
                </a:solidFill>
              </a:rPr>
              <a:t>Email: neelakantan_p@vnrvjiet.in</a:t>
            </a:r>
            <a:endParaRPr lang="en-US" sz="1600" b="1" dirty="0">
              <a:solidFill>
                <a:srgbClr val="002060"/>
              </a:solidFill>
            </a:endParaRPr>
          </a:p>
        </p:txBody>
      </p:sp>
      <p:sp>
        <p:nvSpPr>
          <p:cNvPr id="4" name="Date Placeholder 3"/>
          <p:cNvSpPr>
            <a:spLocks noGrp="1"/>
          </p:cNvSpPr>
          <p:nvPr>
            <p:ph type="dt" sz="half" idx="10"/>
          </p:nvPr>
        </p:nvSpPr>
        <p:spPr/>
        <p:txBody>
          <a:bodyPr/>
          <a:lstStyle/>
          <a:p>
            <a:fld id="{61ABBBE7-7FE9-43B2-ADB9-BE203480941E}" type="datetime4">
              <a:rPr lang="en-US" smtClean="0"/>
              <a:t>March 13, 2024</a:t>
            </a:fld>
            <a:endParaRPr lang="en-US" dirty="0"/>
          </a:p>
        </p:txBody>
      </p:sp>
      <p:sp>
        <p:nvSpPr>
          <p:cNvPr id="5" name="Footer Placeholder 4"/>
          <p:cNvSpPr>
            <a:spLocks noGrp="1"/>
          </p:cNvSpPr>
          <p:nvPr>
            <p:ph type="ftr" sz="quarter" idx="11"/>
          </p:nvPr>
        </p:nvSpPr>
        <p:spPr/>
        <p:txBody>
          <a:bodyPr/>
          <a:lstStyle/>
          <a:p>
            <a:r>
              <a:rPr lang="en-US"/>
              <a:t>Department of Computer Science &amp; Engineering, VNRVJIET, Hyderabad</a:t>
            </a:r>
          </a:p>
        </p:txBody>
      </p:sp>
      <p:sp>
        <p:nvSpPr>
          <p:cNvPr id="6" name="Slide Number Placeholder 5"/>
          <p:cNvSpPr>
            <a:spLocks noGrp="1"/>
          </p:cNvSpPr>
          <p:nvPr>
            <p:ph type="sldNum" sz="quarter" idx="4"/>
          </p:nvPr>
        </p:nvSpPr>
        <p:spPr>
          <a:xfrm>
            <a:off x="8001000" y="6340475"/>
            <a:ext cx="762000" cy="365125"/>
          </a:xfrm>
        </p:spPr>
        <p:txBody>
          <a:bodyPr/>
          <a:lstStyle/>
          <a:p>
            <a:fld id="{C4FA3F07-B4E9-4FEB-BC07-B9713C186F28}" type="slidenum">
              <a:rPr lang="en-US" smtClean="0"/>
              <a:t>1</a:t>
            </a:fld>
            <a:endParaRPr lang="en-US"/>
          </a:p>
        </p:txBody>
      </p:sp>
      <p:sp>
        <p:nvSpPr>
          <p:cNvPr id="7" name="Rectangle 6"/>
          <p:cNvSpPr/>
          <p:nvPr/>
        </p:nvSpPr>
        <p:spPr>
          <a:xfrm>
            <a:off x="228600" y="381000"/>
            <a:ext cx="7848600" cy="830997"/>
          </a:xfrm>
          <a:prstGeom prst="rect">
            <a:avLst/>
          </a:prstGeom>
        </p:spPr>
        <p:txBody>
          <a:bodyPr wrap="square">
            <a:spAutoFit/>
          </a:bodyPr>
          <a:lstStyle/>
          <a:p>
            <a:pPr algn="ctr"/>
            <a:r>
              <a:rPr lang="en-US" sz="2400" b="1" dirty="0" err="1">
                <a:solidFill>
                  <a:srgbClr val="C00000"/>
                </a:solidFill>
                <a:latin typeface="+mj-lt"/>
              </a:rPr>
              <a:t>Vallurupalli</a:t>
            </a:r>
            <a:r>
              <a:rPr lang="en-US" sz="2400" b="1" dirty="0">
                <a:solidFill>
                  <a:srgbClr val="C00000"/>
                </a:solidFill>
                <a:latin typeface="+mj-lt"/>
              </a:rPr>
              <a:t>  </a:t>
            </a:r>
            <a:r>
              <a:rPr lang="en-US" sz="2400" b="1" dirty="0" err="1">
                <a:solidFill>
                  <a:srgbClr val="C00000"/>
                </a:solidFill>
                <a:latin typeface="+mj-lt"/>
              </a:rPr>
              <a:t>Nageswara</a:t>
            </a:r>
            <a:r>
              <a:rPr lang="en-US" sz="2400" b="1" dirty="0">
                <a:solidFill>
                  <a:srgbClr val="C00000"/>
                </a:solidFill>
                <a:latin typeface="+mj-lt"/>
              </a:rPr>
              <a:t> Rao </a:t>
            </a:r>
            <a:r>
              <a:rPr lang="en-US" sz="2400" b="1" dirty="0" err="1">
                <a:solidFill>
                  <a:srgbClr val="C00000"/>
                </a:solidFill>
                <a:latin typeface="+mj-lt"/>
              </a:rPr>
              <a:t>Vignana</a:t>
            </a:r>
            <a:r>
              <a:rPr lang="en-US" sz="2400" b="1" dirty="0">
                <a:solidFill>
                  <a:srgbClr val="C00000"/>
                </a:solidFill>
                <a:latin typeface="+mj-lt"/>
              </a:rPr>
              <a:t> </a:t>
            </a:r>
            <a:r>
              <a:rPr lang="en-US" sz="2400" b="1" dirty="0" err="1">
                <a:solidFill>
                  <a:srgbClr val="C00000"/>
                </a:solidFill>
                <a:latin typeface="+mj-lt"/>
              </a:rPr>
              <a:t>Jyothi</a:t>
            </a:r>
            <a:r>
              <a:rPr lang="en-US" sz="2400" b="1" dirty="0">
                <a:solidFill>
                  <a:srgbClr val="C00000"/>
                </a:solidFill>
                <a:latin typeface="+mj-lt"/>
              </a:rPr>
              <a:t> Institute of Engineering &amp;Technology</a:t>
            </a:r>
            <a:endParaRPr lang="en-US" sz="2400" b="1" dirty="0">
              <a:latin typeface="+mj-lt"/>
            </a:endParaRPr>
          </a:p>
        </p:txBody>
      </p:sp>
      <p:cxnSp>
        <p:nvCxnSpPr>
          <p:cNvPr id="9" name="Straight Connector 8"/>
          <p:cNvCxnSpPr/>
          <p:nvPr/>
        </p:nvCxnSpPr>
        <p:spPr>
          <a:xfrm>
            <a:off x="2171700" y="3432587"/>
            <a:ext cx="5105400" cy="0"/>
          </a:xfrm>
          <a:prstGeom prst="line">
            <a:avLst/>
          </a:prstGeom>
          <a:ln w="25400">
            <a:solidFill>
              <a:schemeClr val="tx1"/>
            </a:solidFill>
          </a:ln>
          <a:effectLst>
            <a:glow rad="63500">
              <a:schemeClr val="accent1">
                <a:satMod val="175000"/>
                <a:alpha val="40000"/>
              </a:schemeClr>
            </a:glow>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8342210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p:txBody>
          <a:bodyPr>
            <a:normAutofit/>
          </a:bodyPr>
          <a:lstStyle/>
          <a:p>
            <a:pPr marL="182880" algn="just">
              <a:spcBef>
                <a:spcPts val="0"/>
              </a:spcBef>
            </a:pPr>
            <a:r>
              <a:rPr lang="en-US" sz="1800" dirty="0">
                <a:solidFill>
                  <a:srgbClr val="000000"/>
                </a:solidFill>
                <a:effectLst/>
                <a:ea typeface="Calibri" panose="020F0502020204030204" pitchFamily="34" charset="0"/>
                <a:cs typeface="Times New Roman" panose="02020603050405020304" pitchFamily="18" charset="0"/>
              </a:rPr>
              <a:t>Characteristics of algorithm</a:t>
            </a:r>
          </a:p>
          <a:p>
            <a:pPr marL="182880" algn="just">
              <a:spcBef>
                <a:spcPts val="0"/>
              </a:spcBef>
            </a:pPr>
            <a:r>
              <a:rPr lang="en-US" sz="1800" dirty="0">
                <a:solidFill>
                  <a:srgbClr val="000000"/>
                </a:solidFill>
                <a:effectLst/>
                <a:ea typeface="Calibri" panose="020F0502020204030204" pitchFamily="34" charset="0"/>
                <a:cs typeface="Times New Roman" panose="02020603050405020304" pitchFamily="18" charset="0"/>
              </a:rPr>
              <a:t>Analysis of algorithms: </a:t>
            </a:r>
          </a:p>
          <a:p>
            <a:pPr marL="1043305" lvl="3" algn="just">
              <a:spcBef>
                <a:spcPts val="0"/>
              </a:spcBef>
            </a:pPr>
            <a:r>
              <a:rPr lang="en-US" sz="1800" dirty="0">
                <a:solidFill>
                  <a:srgbClr val="000000"/>
                </a:solidFill>
                <a:effectLst/>
                <a:ea typeface="Calibri" panose="020F0502020204030204" pitchFamily="34" charset="0"/>
                <a:cs typeface="Times New Roman" panose="02020603050405020304" pitchFamily="18" charset="0"/>
              </a:rPr>
              <a:t>Asymptotic analysis of complexity bounds – best, average and worst-case behavior</a:t>
            </a:r>
          </a:p>
          <a:p>
            <a:pPr marL="182880" algn="just">
              <a:spcBef>
                <a:spcPts val="0"/>
              </a:spcBef>
            </a:pPr>
            <a:r>
              <a:rPr lang="en-US" sz="1800" dirty="0">
                <a:solidFill>
                  <a:srgbClr val="000000"/>
                </a:solidFill>
                <a:effectLst/>
                <a:ea typeface="Calibri" panose="020F0502020204030204" pitchFamily="34" charset="0"/>
                <a:cs typeface="Times New Roman" panose="02020603050405020304" pitchFamily="18" charset="0"/>
              </a:rPr>
              <a:t> Performance measurements of Algorithm, Time and space trade-offs. </a:t>
            </a:r>
          </a:p>
          <a:p>
            <a:pPr marL="182880" marR="0" algn="just">
              <a:lnSpc>
                <a:spcPct val="107000"/>
              </a:lnSpc>
              <a:spcBef>
                <a:spcPts val="0"/>
              </a:spcBef>
              <a:spcAft>
                <a:spcPts val="800"/>
              </a:spcAft>
            </a:pPr>
            <a:r>
              <a:rPr lang="en-US" sz="1800" dirty="0">
                <a:effectLst/>
                <a:ea typeface="Calibri" panose="020F0502020204030204" pitchFamily="34" charset="0"/>
                <a:cs typeface="Times New Roman" panose="02020603050405020304" pitchFamily="18" charset="0"/>
              </a:rPr>
              <a:t>Divide and conquer General method, </a:t>
            </a:r>
          </a:p>
          <a:p>
            <a:pPr marL="182880" marR="0" algn="just">
              <a:lnSpc>
                <a:spcPct val="107000"/>
              </a:lnSpc>
              <a:spcBef>
                <a:spcPts val="0"/>
              </a:spcBef>
              <a:spcAft>
                <a:spcPts val="800"/>
              </a:spcAft>
            </a:pPr>
            <a:r>
              <a:rPr lang="en-US" sz="1800" dirty="0">
                <a:effectLst/>
                <a:ea typeface="Calibri" panose="020F0502020204030204" pitchFamily="34" charset="0"/>
                <a:cs typeface="Times New Roman" panose="02020603050405020304" pitchFamily="18" charset="0"/>
              </a:rPr>
              <a:t>applications-Binary search, </a:t>
            </a:r>
          </a:p>
          <a:p>
            <a:pPr marL="182880" marR="0" algn="just">
              <a:lnSpc>
                <a:spcPct val="107000"/>
              </a:lnSpc>
              <a:spcBef>
                <a:spcPts val="0"/>
              </a:spcBef>
              <a:spcAft>
                <a:spcPts val="800"/>
              </a:spcAft>
            </a:pPr>
            <a:r>
              <a:rPr lang="en-US" sz="1800" dirty="0">
                <a:effectLst/>
                <a:ea typeface="Calibri" panose="020F0502020204030204" pitchFamily="34" charset="0"/>
                <a:cs typeface="Times New Roman" panose="02020603050405020304" pitchFamily="18" charset="0"/>
              </a:rPr>
              <a:t>Quick sort, </a:t>
            </a:r>
          </a:p>
          <a:p>
            <a:pPr marL="182880" marR="0" algn="just">
              <a:lnSpc>
                <a:spcPct val="107000"/>
              </a:lnSpc>
              <a:spcBef>
                <a:spcPts val="0"/>
              </a:spcBef>
              <a:spcAft>
                <a:spcPts val="800"/>
              </a:spcAft>
            </a:pPr>
            <a:r>
              <a:rPr lang="en-US" sz="1800" dirty="0">
                <a:effectLst/>
                <a:ea typeface="Calibri" panose="020F0502020204030204" pitchFamily="34" charset="0"/>
                <a:cs typeface="Times New Roman" panose="02020603050405020304" pitchFamily="18" charset="0"/>
              </a:rPr>
              <a:t>Merge sort, </a:t>
            </a:r>
          </a:p>
          <a:p>
            <a:pPr marL="182880" marR="0" algn="just">
              <a:lnSpc>
                <a:spcPct val="107000"/>
              </a:lnSpc>
              <a:spcBef>
                <a:spcPts val="0"/>
              </a:spcBef>
              <a:spcAft>
                <a:spcPts val="800"/>
              </a:spcAft>
            </a:pPr>
            <a:r>
              <a:rPr lang="en-US" sz="1800" dirty="0">
                <a:effectLst/>
                <a:ea typeface="Calibri" panose="020F0502020204030204" pitchFamily="34" charset="0"/>
                <a:cs typeface="Times New Roman" panose="02020603050405020304" pitchFamily="18" charset="0"/>
              </a:rPr>
              <a:t>Strassen ‘s matrix multiplication. </a:t>
            </a:r>
          </a:p>
          <a:p>
            <a:pPr marL="182880" marR="0" algn="just">
              <a:lnSpc>
                <a:spcPct val="107000"/>
              </a:lnSpc>
              <a:spcBef>
                <a:spcPts val="0"/>
              </a:spcBef>
              <a:spcAft>
                <a:spcPts val="800"/>
              </a:spcAft>
            </a:pPr>
            <a:r>
              <a:rPr lang="en-US" sz="1800" dirty="0">
                <a:effectLst/>
                <a:ea typeface="Calibri" panose="020F0502020204030204" pitchFamily="34" charset="0"/>
                <a:cs typeface="Times New Roman" panose="02020603050405020304" pitchFamily="18" charset="0"/>
              </a:rPr>
              <a:t>Analysis of recursive algorithms through recurrence relations: </a:t>
            </a:r>
          </a:p>
          <a:p>
            <a:pPr marL="586105" lvl="1" algn="just">
              <a:lnSpc>
                <a:spcPct val="107000"/>
              </a:lnSpc>
              <a:spcBef>
                <a:spcPts val="0"/>
              </a:spcBef>
              <a:spcAft>
                <a:spcPts val="800"/>
              </a:spcAft>
            </a:pPr>
            <a:r>
              <a:rPr lang="en-US" dirty="0">
                <a:effectLst/>
                <a:ea typeface="Calibri" panose="020F0502020204030204" pitchFamily="34" charset="0"/>
                <a:cs typeface="Times New Roman" panose="02020603050405020304" pitchFamily="18" charset="0"/>
              </a:rPr>
              <a:t>Substitution method, </a:t>
            </a:r>
          </a:p>
          <a:p>
            <a:pPr marL="586105" lvl="1" algn="just">
              <a:lnSpc>
                <a:spcPct val="107000"/>
              </a:lnSpc>
              <a:spcBef>
                <a:spcPts val="0"/>
              </a:spcBef>
              <a:spcAft>
                <a:spcPts val="800"/>
              </a:spcAft>
            </a:pPr>
            <a:r>
              <a:rPr lang="en-US" dirty="0">
                <a:effectLst/>
                <a:ea typeface="Calibri" panose="020F0502020204030204" pitchFamily="34" charset="0"/>
                <a:cs typeface="Times New Roman" panose="02020603050405020304" pitchFamily="18" charset="0"/>
              </a:rPr>
              <a:t>Recursion tree method and Masters’ theorem.</a:t>
            </a:r>
          </a:p>
          <a:p>
            <a:endParaRPr lang="en-US" sz="2000" dirty="0">
              <a:latin typeface="+mj-lt"/>
            </a:endParaRPr>
          </a:p>
        </p:txBody>
      </p:sp>
      <p:sp>
        <p:nvSpPr>
          <p:cNvPr id="4" name="Date Placeholder 3"/>
          <p:cNvSpPr>
            <a:spLocks noGrp="1"/>
          </p:cNvSpPr>
          <p:nvPr>
            <p:ph type="dt" sz="half" idx="10"/>
          </p:nvPr>
        </p:nvSpPr>
        <p:spPr/>
        <p:txBody>
          <a:bodyPr/>
          <a:lstStyle/>
          <a:p>
            <a:fld id="{F6C643BA-ACA1-44BF-9071-763295A35907}" type="datetime4">
              <a:rPr lang="en-US" smtClean="0"/>
              <a:t>March 13, 2024</a:t>
            </a:fld>
            <a:endParaRPr lang="en-US"/>
          </a:p>
        </p:txBody>
      </p:sp>
      <p:sp>
        <p:nvSpPr>
          <p:cNvPr id="5" name="Footer Placeholder 4"/>
          <p:cNvSpPr>
            <a:spLocks noGrp="1"/>
          </p:cNvSpPr>
          <p:nvPr>
            <p:ph type="ftr" sz="quarter" idx="11"/>
          </p:nvPr>
        </p:nvSpPr>
        <p:spPr/>
        <p:txBody>
          <a:bodyPr/>
          <a:lstStyle/>
          <a:p>
            <a:r>
              <a:rPr lang="en-US"/>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pPr/>
              <a:t>2</a:t>
            </a:fld>
            <a:endParaRPr lang="en-US" dirty="0"/>
          </a:p>
        </p:txBody>
      </p:sp>
    </p:spTree>
    <p:extLst>
      <p:ext uri="{BB962C8B-B14F-4D97-AF65-F5344CB8AC3E}">
        <p14:creationId xmlns:p14="http://schemas.microsoft.com/office/powerpoint/2010/main" val="22641030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Algorithm</a:t>
            </a:r>
          </a:p>
        </p:txBody>
      </p:sp>
      <p:sp>
        <p:nvSpPr>
          <p:cNvPr id="4" name="Date Placeholder 3"/>
          <p:cNvSpPr>
            <a:spLocks noGrp="1"/>
          </p:cNvSpPr>
          <p:nvPr>
            <p:ph type="dt" sz="half" idx="10"/>
          </p:nvPr>
        </p:nvSpPr>
        <p:spPr/>
        <p:txBody>
          <a:bodyPr/>
          <a:lstStyle/>
          <a:p>
            <a:fld id="{F6C643BA-ACA1-44BF-9071-763295A35907}" type="datetime4">
              <a:rPr lang="en-US" smtClean="0">
                <a:solidFill>
                  <a:prstClr val="white"/>
                </a:solidFill>
              </a:rPr>
              <a:pPr/>
              <a:t>March 13, 2024</a:t>
            </a:fld>
            <a:endParaRPr lang="en-US">
              <a:solidFill>
                <a:prstClr val="white"/>
              </a:solidFill>
            </a:endParaRPr>
          </a:p>
        </p:txBody>
      </p:sp>
      <p:sp>
        <p:nvSpPr>
          <p:cNvPr id="5" name="Footer Placeholder 4"/>
          <p:cNvSpPr>
            <a:spLocks noGrp="1"/>
          </p:cNvSpPr>
          <p:nvPr>
            <p:ph type="ftr" sz="quarter" idx="11"/>
          </p:nvPr>
        </p:nvSpPr>
        <p:spPr/>
        <p:txBody>
          <a:bodyPr/>
          <a:lstStyle/>
          <a:p>
            <a:r>
              <a:rPr lang="en-US" dirty="0">
                <a:solidFill>
                  <a:prstClr val="white"/>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prstClr val="white"/>
                </a:solidFill>
              </a:rPr>
              <a:pPr/>
              <a:t>3</a:t>
            </a:fld>
            <a:endParaRPr lang="en-US" dirty="0">
              <a:solidFill>
                <a:prstClr val="white"/>
              </a:solidFill>
            </a:endParaRPr>
          </a:p>
        </p:txBody>
      </p:sp>
      <p:sp>
        <p:nvSpPr>
          <p:cNvPr id="7" name="TextBox 6">
            <a:extLst>
              <a:ext uri="{FF2B5EF4-FFF2-40B4-BE49-F238E27FC236}">
                <a16:creationId xmlns:a16="http://schemas.microsoft.com/office/drawing/2014/main" id="{12BBBCF9-E7DE-CAE2-DAAC-90B069ED044E}"/>
              </a:ext>
            </a:extLst>
          </p:cNvPr>
          <p:cNvSpPr txBox="1"/>
          <p:nvPr/>
        </p:nvSpPr>
        <p:spPr>
          <a:xfrm>
            <a:off x="381000" y="1284288"/>
            <a:ext cx="8534400" cy="4353692"/>
          </a:xfrm>
          <a:prstGeom prst="rect">
            <a:avLst/>
          </a:prstGeom>
          <a:noFill/>
        </p:spPr>
        <p:txBody>
          <a:bodyPr wrap="square">
            <a:spAutoFit/>
          </a:bodyPr>
          <a:lstStyle/>
          <a:p>
            <a:pPr marL="0" marR="0" indent="457200">
              <a:lnSpc>
                <a:spcPct val="107000"/>
              </a:lnSpc>
              <a:spcBef>
                <a:spcPts val="0"/>
              </a:spcBef>
              <a:spcAft>
                <a:spcPts val="800"/>
              </a:spcAft>
            </a:pPr>
            <a:r>
              <a:rPr lang="en-US" sz="1800" b="1"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An algorithm is a finite set of instructions that accomplishes a particular task. An algorithm must satisfy the following criteria</a:t>
            </a:r>
          </a:p>
          <a:p>
            <a:pPr marL="285750" marR="0" indent="-285750">
              <a:lnSpc>
                <a:spcPct val="107000"/>
              </a:lnSpc>
              <a:spcBef>
                <a:spcPts val="0"/>
              </a:spcBef>
              <a:spcAft>
                <a:spcPts val="800"/>
              </a:spcAft>
              <a:buFont typeface="Wingdings" panose="05000000000000000000" pitchFamily="2" charset="2"/>
              <a:buChar char="q"/>
            </a:pPr>
            <a:r>
              <a:rPr lang="en-US" sz="1800" b="1" dirty="0">
                <a:effectLst/>
                <a:latin typeface="Calibri" panose="020F0502020204030204" pitchFamily="34" charset="0"/>
                <a:ea typeface="Calibri" panose="020F0502020204030204" pitchFamily="34" charset="0"/>
                <a:cs typeface="Times New Roman" panose="02020603050405020304" pitchFamily="18" charset="0"/>
              </a:rPr>
              <a:t>Input: </a:t>
            </a:r>
            <a:r>
              <a:rPr lang="en-US" sz="1800" dirty="0">
                <a:effectLst/>
                <a:latin typeface="Calibri" panose="020F0502020204030204" pitchFamily="34" charset="0"/>
                <a:ea typeface="Calibri" panose="020F0502020204030204" pitchFamily="34" charset="0"/>
                <a:cs typeface="Times New Roman" panose="02020603050405020304" pitchFamily="18" charset="0"/>
              </a:rPr>
              <a:t>zero or more quantities are externally supplied</a:t>
            </a:r>
          </a:p>
          <a:p>
            <a:pPr marL="285750" marR="0" indent="-285750">
              <a:lnSpc>
                <a:spcPct val="107000"/>
              </a:lnSpc>
              <a:spcBef>
                <a:spcPts val="0"/>
              </a:spcBef>
              <a:spcAft>
                <a:spcPts val="800"/>
              </a:spcAft>
              <a:buFont typeface="Wingdings" panose="05000000000000000000" pitchFamily="2" charset="2"/>
              <a:buChar char="q"/>
            </a:pPr>
            <a:r>
              <a:rPr lang="en-US" sz="1800" b="1" dirty="0">
                <a:effectLst/>
                <a:latin typeface="Calibri" panose="020F0502020204030204" pitchFamily="34" charset="0"/>
                <a:ea typeface="Calibri" panose="020F0502020204030204" pitchFamily="34" charset="0"/>
                <a:cs typeface="Times New Roman" panose="02020603050405020304" pitchFamily="18" charset="0"/>
              </a:rPr>
              <a:t>Output: </a:t>
            </a:r>
            <a:r>
              <a:rPr lang="en-US" sz="1800" dirty="0">
                <a:effectLst/>
                <a:latin typeface="Calibri" panose="020F0502020204030204" pitchFamily="34" charset="0"/>
                <a:ea typeface="Calibri" panose="020F0502020204030204" pitchFamily="34" charset="0"/>
                <a:cs typeface="Times New Roman" panose="02020603050405020304" pitchFamily="18" charset="0"/>
              </a:rPr>
              <a:t>At least one quantity is produced</a:t>
            </a:r>
          </a:p>
          <a:p>
            <a:pPr marL="285750" marR="0" indent="-285750">
              <a:lnSpc>
                <a:spcPct val="107000"/>
              </a:lnSpc>
              <a:spcBef>
                <a:spcPts val="0"/>
              </a:spcBef>
              <a:spcAft>
                <a:spcPts val="800"/>
              </a:spcAft>
              <a:buFont typeface="Wingdings" panose="05000000000000000000" pitchFamily="2" charset="2"/>
              <a:buChar char="q"/>
            </a:pPr>
            <a:r>
              <a:rPr lang="en-US" sz="1800" b="1" dirty="0">
                <a:effectLst/>
                <a:latin typeface="Calibri" panose="020F0502020204030204" pitchFamily="34" charset="0"/>
                <a:ea typeface="Calibri" panose="020F0502020204030204" pitchFamily="34" charset="0"/>
                <a:cs typeface="Times New Roman" panose="02020603050405020304" pitchFamily="18" charset="0"/>
              </a:rPr>
              <a:t>Definiteness: </a:t>
            </a:r>
            <a:r>
              <a:rPr lang="en-US" sz="1800" dirty="0">
                <a:effectLst/>
                <a:latin typeface="Calibri" panose="020F0502020204030204" pitchFamily="34" charset="0"/>
                <a:ea typeface="Calibri" panose="020F0502020204030204" pitchFamily="34" charset="0"/>
                <a:cs typeface="Times New Roman" panose="02020603050405020304" pitchFamily="18" charset="0"/>
              </a:rPr>
              <a:t>Each instruction is clear and unambiguous</a:t>
            </a:r>
          </a:p>
          <a:p>
            <a:pPr marL="285750" marR="0" indent="-285750">
              <a:lnSpc>
                <a:spcPct val="107000"/>
              </a:lnSpc>
              <a:spcBef>
                <a:spcPts val="0"/>
              </a:spcBef>
              <a:spcAft>
                <a:spcPts val="800"/>
              </a:spcAft>
              <a:buFont typeface="Wingdings" panose="05000000000000000000" pitchFamily="2" charset="2"/>
              <a:buChar char="q"/>
            </a:pPr>
            <a:r>
              <a:rPr lang="en-US" sz="1800" b="1" dirty="0">
                <a:effectLst/>
                <a:latin typeface="Calibri" panose="020F0502020204030204" pitchFamily="34" charset="0"/>
                <a:ea typeface="Calibri" panose="020F0502020204030204" pitchFamily="34" charset="0"/>
                <a:cs typeface="Times New Roman" panose="02020603050405020304" pitchFamily="18" charset="0"/>
              </a:rPr>
              <a:t>Finiteness: </a:t>
            </a:r>
            <a:r>
              <a:rPr lang="en-US" sz="1800" dirty="0">
                <a:effectLst/>
                <a:latin typeface="Calibri" panose="020F0502020204030204" pitchFamily="34" charset="0"/>
                <a:ea typeface="Calibri" panose="020F0502020204030204" pitchFamily="34" charset="0"/>
                <a:cs typeface="Times New Roman" panose="02020603050405020304" pitchFamily="18" charset="0"/>
              </a:rPr>
              <a:t>If instructions of an algorithm is traced then the algorithm terminates after a finite number of steps</a:t>
            </a:r>
          </a:p>
          <a:p>
            <a:pPr marL="285750" marR="0" indent="-285750">
              <a:lnSpc>
                <a:spcPct val="107000"/>
              </a:lnSpc>
              <a:spcBef>
                <a:spcPts val="0"/>
              </a:spcBef>
              <a:spcAft>
                <a:spcPts val="800"/>
              </a:spcAft>
              <a:buFont typeface="Wingdings" panose="05000000000000000000" pitchFamily="2" charset="2"/>
              <a:buChar char="q"/>
            </a:pPr>
            <a:r>
              <a:rPr lang="en-US" sz="1800" b="1" dirty="0">
                <a:effectLst/>
                <a:latin typeface="Calibri" panose="020F0502020204030204" pitchFamily="34" charset="0"/>
                <a:ea typeface="Calibri" panose="020F0502020204030204" pitchFamily="34" charset="0"/>
                <a:cs typeface="Times New Roman" panose="02020603050405020304" pitchFamily="18" charset="0"/>
              </a:rPr>
              <a:t>Effectiveness:</a:t>
            </a:r>
            <a:r>
              <a:rPr lang="en-US" sz="1800" dirty="0">
                <a:effectLst/>
                <a:latin typeface="Calibri" panose="020F0502020204030204" pitchFamily="34" charset="0"/>
                <a:ea typeface="Calibri" panose="020F0502020204030204" pitchFamily="34" charset="0"/>
                <a:cs typeface="Times New Roman" panose="02020603050405020304" pitchFamily="18" charset="0"/>
              </a:rPr>
              <a:t> Every instruction must be very basic.</a:t>
            </a:r>
          </a:p>
          <a:p>
            <a:pPr marR="0">
              <a:lnSpc>
                <a:spcPct val="107000"/>
              </a:lnSpc>
              <a:spcBef>
                <a:spcPts val="0"/>
              </a:spcBef>
              <a:spcAft>
                <a:spcPts val="8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An algorithm is composed of a finite set of steps, each of which may require one or more operations. The possibility of a computer carrying out these operations necessitates that certain constraints be placed on the types of operations an algorithm can include. </a:t>
            </a:r>
          </a:p>
        </p:txBody>
      </p:sp>
    </p:spTree>
    <p:extLst>
      <p:ext uri="{BB962C8B-B14F-4D97-AF65-F5344CB8AC3E}">
        <p14:creationId xmlns:p14="http://schemas.microsoft.com/office/powerpoint/2010/main" val="20641514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Algorithm</a:t>
            </a:r>
          </a:p>
        </p:txBody>
      </p:sp>
      <p:sp>
        <p:nvSpPr>
          <p:cNvPr id="4" name="Date Placeholder 3"/>
          <p:cNvSpPr>
            <a:spLocks noGrp="1"/>
          </p:cNvSpPr>
          <p:nvPr>
            <p:ph type="dt" sz="half" idx="10"/>
          </p:nvPr>
        </p:nvSpPr>
        <p:spPr/>
        <p:txBody>
          <a:bodyPr/>
          <a:lstStyle/>
          <a:p>
            <a:fld id="{F6C643BA-ACA1-44BF-9071-763295A35907}" type="datetime4">
              <a:rPr lang="en-US" smtClean="0">
                <a:solidFill>
                  <a:prstClr val="white"/>
                </a:solidFill>
              </a:rPr>
              <a:pPr/>
              <a:t>March 13, 2024</a:t>
            </a:fld>
            <a:endParaRPr lang="en-US">
              <a:solidFill>
                <a:prstClr val="white"/>
              </a:solidFill>
            </a:endParaRPr>
          </a:p>
        </p:txBody>
      </p:sp>
      <p:sp>
        <p:nvSpPr>
          <p:cNvPr id="5" name="Footer Placeholder 4"/>
          <p:cNvSpPr>
            <a:spLocks noGrp="1"/>
          </p:cNvSpPr>
          <p:nvPr>
            <p:ph type="ftr" sz="quarter" idx="11"/>
          </p:nvPr>
        </p:nvSpPr>
        <p:spPr/>
        <p:txBody>
          <a:bodyPr/>
          <a:lstStyle/>
          <a:p>
            <a:r>
              <a:rPr lang="en-US" dirty="0">
                <a:solidFill>
                  <a:prstClr val="white"/>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prstClr val="white"/>
                </a:solidFill>
              </a:rPr>
              <a:pPr/>
              <a:t>4</a:t>
            </a:fld>
            <a:endParaRPr lang="en-US" dirty="0">
              <a:solidFill>
                <a:prstClr val="white"/>
              </a:solidFill>
            </a:endParaRPr>
          </a:p>
        </p:txBody>
      </p:sp>
      <p:sp>
        <p:nvSpPr>
          <p:cNvPr id="8" name="TextBox 7">
            <a:extLst>
              <a:ext uri="{FF2B5EF4-FFF2-40B4-BE49-F238E27FC236}">
                <a16:creationId xmlns:a16="http://schemas.microsoft.com/office/drawing/2014/main" id="{5A06EC48-E0CD-64C4-204A-4020CC235055}"/>
              </a:ext>
            </a:extLst>
          </p:cNvPr>
          <p:cNvSpPr txBox="1"/>
          <p:nvPr/>
        </p:nvSpPr>
        <p:spPr>
          <a:xfrm>
            <a:off x="381000" y="1398230"/>
            <a:ext cx="8153401" cy="3970318"/>
          </a:xfrm>
          <a:prstGeom prst="rect">
            <a:avLst/>
          </a:prstGeom>
          <a:noFill/>
        </p:spPr>
        <p:txBody>
          <a:bodyPr wrap="square">
            <a:spAutoFit/>
          </a:bodyPr>
          <a:lstStyle/>
          <a:p>
            <a:r>
              <a:rPr lang="en-US" b="1" dirty="0"/>
              <a:t>The study of algorithms include four distinct areas of study</a:t>
            </a:r>
          </a:p>
          <a:p>
            <a:endParaRPr lang="en-US" dirty="0"/>
          </a:p>
          <a:p>
            <a:pPr algn="just"/>
            <a:r>
              <a:rPr lang="en-US" b="1" dirty="0"/>
              <a:t>How to devise algorithms: Creating</a:t>
            </a:r>
            <a:r>
              <a:rPr lang="en-US" dirty="0"/>
              <a:t> algorithm may never be fully automated. Study of various design techniques proven to be useful in yielding good algorithms.</a:t>
            </a:r>
          </a:p>
          <a:p>
            <a:pPr algn="just"/>
            <a:r>
              <a:rPr lang="en-US" b="1" dirty="0"/>
              <a:t>How to validate algorithms</a:t>
            </a:r>
            <a:r>
              <a:rPr lang="en-US" dirty="0"/>
              <a:t>: Once an algorithm is devised , it is necessary to show that it computes the correct answer for all possible legal inputs and this process is known as algorithm validation.</a:t>
            </a:r>
          </a:p>
          <a:p>
            <a:pPr algn="just"/>
            <a:r>
              <a:rPr lang="en-US" b="1" dirty="0"/>
              <a:t>How to analyze algorithms: </a:t>
            </a:r>
            <a:r>
              <a:rPr lang="en-US" dirty="0"/>
              <a:t>As an algorithm is executed, it uses the computers central processing unit to perform operations and its memory (both immediate and auxiliary) to hold the program and data. </a:t>
            </a:r>
            <a:r>
              <a:rPr lang="en-US" b="1" dirty="0"/>
              <a:t>Analysis  of  algorithms or performance analysis </a:t>
            </a:r>
            <a:r>
              <a:rPr lang="en-US" dirty="0"/>
              <a:t>refers to the task of </a:t>
            </a:r>
            <a:r>
              <a:rPr lang="en-US" b="1" dirty="0"/>
              <a:t>determining how much com­puting time and storage an algorithm requires.</a:t>
            </a:r>
            <a:r>
              <a:rPr lang="en-US" dirty="0"/>
              <a:t> This is a  challenging  area which sometimes requires great mathematical skill.</a:t>
            </a:r>
          </a:p>
          <a:p>
            <a:pPr algn="just"/>
            <a:endParaRPr lang="en-US" dirty="0"/>
          </a:p>
        </p:txBody>
      </p:sp>
    </p:spTree>
    <p:extLst>
      <p:ext uri="{BB962C8B-B14F-4D97-AF65-F5344CB8AC3E}">
        <p14:creationId xmlns:p14="http://schemas.microsoft.com/office/powerpoint/2010/main" val="34067009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Algorithm</a:t>
            </a:r>
          </a:p>
        </p:txBody>
      </p:sp>
      <p:sp>
        <p:nvSpPr>
          <p:cNvPr id="4" name="Date Placeholder 3"/>
          <p:cNvSpPr>
            <a:spLocks noGrp="1"/>
          </p:cNvSpPr>
          <p:nvPr>
            <p:ph type="dt" sz="half" idx="10"/>
          </p:nvPr>
        </p:nvSpPr>
        <p:spPr/>
        <p:txBody>
          <a:bodyPr/>
          <a:lstStyle/>
          <a:p>
            <a:fld id="{F6C643BA-ACA1-44BF-9071-763295A35907}" type="datetime4">
              <a:rPr lang="en-US" smtClean="0">
                <a:solidFill>
                  <a:prstClr val="white"/>
                </a:solidFill>
              </a:rPr>
              <a:pPr/>
              <a:t>March 13, 2024</a:t>
            </a:fld>
            <a:endParaRPr lang="en-US">
              <a:solidFill>
                <a:prstClr val="white"/>
              </a:solidFill>
            </a:endParaRPr>
          </a:p>
        </p:txBody>
      </p:sp>
      <p:sp>
        <p:nvSpPr>
          <p:cNvPr id="5" name="Footer Placeholder 4"/>
          <p:cNvSpPr>
            <a:spLocks noGrp="1"/>
          </p:cNvSpPr>
          <p:nvPr>
            <p:ph type="ftr" sz="quarter" idx="11"/>
          </p:nvPr>
        </p:nvSpPr>
        <p:spPr/>
        <p:txBody>
          <a:bodyPr/>
          <a:lstStyle/>
          <a:p>
            <a:r>
              <a:rPr lang="en-US" dirty="0">
                <a:solidFill>
                  <a:prstClr val="white"/>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prstClr val="white"/>
                </a:solidFill>
              </a:rPr>
              <a:pPr/>
              <a:t>5</a:t>
            </a:fld>
            <a:endParaRPr lang="en-US" dirty="0">
              <a:solidFill>
                <a:prstClr val="white"/>
              </a:solidFill>
            </a:endParaRPr>
          </a:p>
        </p:txBody>
      </p:sp>
      <p:sp>
        <p:nvSpPr>
          <p:cNvPr id="8" name="TextBox 7">
            <a:extLst>
              <a:ext uri="{FF2B5EF4-FFF2-40B4-BE49-F238E27FC236}">
                <a16:creationId xmlns:a16="http://schemas.microsoft.com/office/drawing/2014/main" id="{5A06EC48-E0CD-64C4-204A-4020CC235055}"/>
              </a:ext>
            </a:extLst>
          </p:cNvPr>
          <p:cNvSpPr txBox="1"/>
          <p:nvPr/>
        </p:nvSpPr>
        <p:spPr>
          <a:xfrm>
            <a:off x="381000" y="1398230"/>
            <a:ext cx="8153401" cy="4471737"/>
          </a:xfrm>
          <a:prstGeom prst="rect">
            <a:avLst/>
          </a:prstGeom>
          <a:noFill/>
        </p:spPr>
        <p:txBody>
          <a:bodyPr wrap="square">
            <a:spAutoFit/>
          </a:bodyPr>
          <a:lstStyle/>
          <a:p>
            <a:pPr marL="0" marR="0" algn="just">
              <a:lnSpc>
                <a:spcPct val="107000"/>
              </a:lnSpc>
              <a:spcBef>
                <a:spcPts val="0"/>
              </a:spcBef>
              <a:spcAft>
                <a:spcPts val="800"/>
              </a:spcAft>
            </a:pPr>
            <a:r>
              <a:rPr lang="en-US" sz="1800" b="1" i="1" dirty="0">
                <a:effectLst/>
                <a:latin typeface="Calibri" panose="020F0502020204030204" pitchFamily="34" charset="0"/>
                <a:ea typeface="Calibri" panose="020F0502020204030204" pitchFamily="34" charset="0"/>
                <a:cs typeface="Times New Roman" panose="02020603050405020304" pitchFamily="18" charset="0"/>
              </a:rPr>
              <a:t>How</a:t>
            </a:r>
            <a:r>
              <a:rPr lang="en-US" sz="1800" b="1" i="1" spc="185"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i="1" dirty="0">
                <a:effectLst/>
                <a:latin typeface="Calibri" panose="020F0502020204030204" pitchFamily="34" charset="0"/>
                <a:ea typeface="Calibri" panose="020F0502020204030204" pitchFamily="34" charset="0"/>
                <a:cs typeface="Times New Roman" panose="02020603050405020304" pitchFamily="18" charset="0"/>
              </a:rPr>
              <a:t>to</a:t>
            </a:r>
            <a:r>
              <a:rPr lang="en-US" sz="1800" b="1" i="1" spc="8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i="1" dirty="0">
                <a:effectLst/>
                <a:latin typeface="Calibri" panose="020F0502020204030204" pitchFamily="34" charset="0"/>
                <a:ea typeface="Calibri" panose="020F0502020204030204" pitchFamily="34" charset="0"/>
                <a:cs typeface="Times New Roman" panose="02020603050405020304" pitchFamily="18" charset="0"/>
              </a:rPr>
              <a:t>test</a:t>
            </a:r>
            <a:r>
              <a:rPr lang="en-US" sz="1800" b="1" i="1" spc="13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i="1" dirty="0">
                <a:effectLst/>
                <a:latin typeface="Calibri" panose="020F0502020204030204" pitchFamily="34" charset="0"/>
                <a:ea typeface="Calibri" panose="020F0502020204030204" pitchFamily="34" charset="0"/>
                <a:cs typeface="Times New Roman" panose="02020603050405020304" pitchFamily="18" charset="0"/>
              </a:rPr>
              <a:t>a</a:t>
            </a:r>
            <a:r>
              <a:rPr lang="en-US" sz="1800" b="1" i="1" spc="5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i="1" dirty="0">
                <a:effectLst/>
                <a:latin typeface="Calibri" panose="020F0502020204030204" pitchFamily="34" charset="0"/>
                <a:ea typeface="Calibri" panose="020F0502020204030204" pitchFamily="34" charset="0"/>
                <a:cs typeface="Times New Roman" panose="02020603050405020304" pitchFamily="18" charset="0"/>
              </a:rPr>
              <a:t>program</a:t>
            </a:r>
            <a:r>
              <a:rPr lang="en-US" sz="1800" i="1" spc="27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r>
              <a:rPr lang="en-US" sz="1800" spc="-870" dirty="0">
                <a:effectLst/>
                <a:latin typeface="Calibri" panose="020F0502020204030204" pitchFamily="34" charset="0"/>
                <a:ea typeface="Calibri" panose="020F0502020204030204" pitchFamily="34" charset="0"/>
                <a:cs typeface="Times New Roman" panose="02020603050405020304" pitchFamily="18" charset="0"/>
              </a:rPr>
              <a:t> </a:t>
            </a:r>
            <a:r>
              <a:rPr lang="en-US" sz="1800" spc="-15" dirty="0">
                <a:effectLst/>
                <a:latin typeface="Calibri" panose="020F0502020204030204" pitchFamily="34" charset="0"/>
                <a:ea typeface="Calibri" panose="020F0502020204030204" pitchFamily="34" charset="0"/>
                <a:cs typeface="Times New Roman" panose="02020603050405020304" pitchFamily="18" charset="0"/>
              </a:rPr>
              <a:t>Testing</a:t>
            </a:r>
            <a:r>
              <a:rPr lang="en-US" sz="18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a</a:t>
            </a:r>
            <a:r>
              <a:rPr lang="en-US" sz="1800" spc="7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program</a:t>
            </a:r>
            <a:r>
              <a:rPr lang="en-US" sz="1800" spc="15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consists</a:t>
            </a:r>
            <a:r>
              <a:rPr lang="en-US" sz="1800" spc="9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of</a:t>
            </a:r>
            <a:r>
              <a:rPr lang="en-US" sz="1800" spc="9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two</a:t>
            </a:r>
            <a:r>
              <a:rPr lang="en-US" sz="1800" spc="11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phases:</a:t>
            </a:r>
            <a:r>
              <a:rPr lang="en-US" sz="1800" spc="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dirty="0">
                <a:effectLst/>
                <a:latin typeface="Calibri" panose="020F0502020204030204" pitchFamily="34" charset="0"/>
                <a:ea typeface="Calibri" panose="020F0502020204030204" pitchFamily="34" charset="0"/>
                <a:cs typeface="Times New Roman" panose="02020603050405020304" pitchFamily="18" charset="0"/>
              </a:rPr>
              <a:t>debugging</a:t>
            </a:r>
            <a:r>
              <a:rPr lang="en-US" sz="1800" b="1" spc="9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dirty="0">
                <a:effectLst/>
                <a:latin typeface="Calibri" panose="020F0502020204030204" pitchFamily="34" charset="0"/>
                <a:ea typeface="Calibri" panose="020F0502020204030204" pitchFamily="34" charset="0"/>
                <a:cs typeface="Times New Roman" panose="02020603050405020304" pitchFamily="18" charset="0"/>
              </a:rPr>
              <a:t>and</a:t>
            </a:r>
            <a:r>
              <a:rPr lang="en-US" sz="1800" b="1" spc="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dirty="0">
                <a:effectLst/>
                <a:latin typeface="Calibri" panose="020F0502020204030204" pitchFamily="34" charset="0"/>
                <a:ea typeface="Calibri" panose="020F0502020204030204" pitchFamily="34" charset="0"/>
                <a:cs typeface="Times New Roman" panose="02020603050405020304" pitchFamily="18" charset="0"/>
              </a:rPr>
              <a:t>profiling</a:t>
            </a:r>
            <a:r>
              <a:rPr lang="en-US" sz="1800" spc="15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(or</a:t>
            </a:r>
            <a:r>
              <a:rPr lang="en-US" sz="1800" spc="9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performance</a:t>
            </a:r>
            <a:r>
              <a:rPr lang="en-US" sz="1800" spc="14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measurement</a:t>
            </a:r>
            <a:r>
              <a:rPr lang="en-US" sz="1800" spc="-90" dirty="0">
                <a:effectLst/>
                <a:latin typeface="Calibri" panose="020F0502020204030204" pitchFamily="34" charset="0"/>
                <a:ea typeface="Calibri" panose="020F0502020204030204" pitchFamily="34" charset="0"/>
                <a:cs typeface="Times New Roman" panose="02020603050405020304" pitchFamily="18" charset="0"/>
              </a:rPr>
              <a:t>)</a:t>
            </a:r>
            <a:r>
              <a:rPr lang="en-US" sz="1800" spc="-135" dirty="0">
                <a:effectLst/>
                <a:latin typeface="Calibri" panose="020F0502020204030204" pitchFamily="34" charset="0"/>
                <a:ea typeface="Calibri" panose="020F0502020204030204" pitchFamily="34" charset="0"/>
                <a:cs typeface="Times New Roman" panose="02020603050405020304" pitchFamily="18" charset="0"/>
              </a:rPr>
              <a:t>.</a:t>
            </a:r>
            <a:r>
              <a:rPr lang="en-US" sz="1800" spc="270" dirty="0">
                <a:effectLst/>
                <a:latin typeface="Calibri" panose="020F0502020204030204" pitchFamily="34"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marR="0" indent="-285750" algn="just">
              <a:lnSpc>
                <a:spcPct val="107000"/>
              </a:lnSpc>
              <a:spcBef>
                <a:spcPts val="0"/>
              </a:spcBef>
              <a:spcAft>
                <a:spcPts val="800"/>
              </a:spcAft>
              <a:buFont typeface="Wingdings" panose="05000000000000000000" pitchFamily="2" charset="2"/>
              <a:buChar char="q"/>
            </a:pPr>
            <a:r>
              <a:rPr lang="en-US" sz="1800" b="1" i="1" dirty="0">
                <a:effectLst/>
                <a:latin typeface="Calibri" panose="020F0502020204030204" pitchFamily="34" charset="0"/>
                <a:ea typeface="Calibri" panose="020F0502020204030204" pitchFamily="34" charset="0"/>
                <a:cs typeface="Times New Roman" panose="02020603050405020304" pitchFamily="18" charset="0"/>
              </a:rPr>
              <a:t>Debugging</a:t>
            </a:r>
            <a:r>
              <a:rPr lang="en-US" sz="1800" i="1" spc="25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is</a:t>
            </a:r>
            <a:r>
              <a:rPr lang="en-US" sz="18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t</a:t>
            </a:r>
            <a:r>
              <a:rPr lang="en-US" sz="1800" spc="-190" dirty="0">
                <a:effectLst/>
                <a:latin typeface="Calibri" panose="020F0502020204030204" pitchFamily="34" charset="0"/>
                <a:ea typeface="Calibri" panose="020F0502020204030204" pitchFamily="34" charset="0"/>
                <a:cs typeface="Times New Roman" panose="02020603050405020304" pitchFamily="18" charset="0"/>
              </a:rPr>
              <a:t>h</a:t>
            </a:r>
            <a:r>
              <a:rPr lang="en-US" sz="1800" dirty="0">
                <a:effectLst/>
                <a:latin typeface="Calibri" panose="020F0502020204030204" pitchFamily="34" charset="0"/>
                <a:ea typeface="Calibri" panose="020F0502020204030204" pitchFamily="34" charset="0"/>
                <a:cs typeface="Times New Roman" panose="02020603050405020304" pitchFamily="18" charset="0"/>
              </a:rPr>
              <a:t>e process</a:t>
            </a:r>
            <a:r>
              <a:rPr lang="en-US" sz="1800" spc="23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of</a:t>
            </a:r>
            <a:r>
              <a:rPr lang="en-US" sz="1800" spc="2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executing</a:t>
            </a:r>
            <a:r>
              <a:rPr lang="en-US" sz="1800" spc="23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programs</a:t>
            </a:r>
            <a:r>
              <a:rPr lang="en-US" sz="1800" spc="25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on</a:t>
            </a:r>
            <a:r>
              <a:rPr lang="en-US" sz="1800" spc="16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sample</a:t>
            </a:r>
            <a:r>
              <a:rPr lang="en-US" sz="1800" spc="17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data</a:t>
            </a:r>
            <a:r>
              <a:rPr lang="en-US" sz="1800" spc="19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sets</a:t>
            </a:r>
            <a:r>
              <a:rPr lang="en-US" sz="1800" spc="17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to</a:t>
            </a:r>
            <a:r>
              <a:rPr lang="en-US" sz="1800" spc="21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determine</a:t>
            </a:r>
            <a:r>
              <a:rPr lang="en-US" sz="1800" spc="21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whether faulty</a:t>
            </a:r>
            <a:r>
              <a:rPr lang="en-US" sz="1800" spc="21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results</a:t>
            </a:r>
            <a:r>
              <a:rPr lang="en-US" sz="1800" spc="21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occur</a:t>
            </a:r>
            <a:r>
              <a:rPr lang="en-US" sz="1800" spc="20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and,</a:t>
            </a:r>
            <a:r>
              <a:rPr lang="en-US" sz="1800" spc="22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if</a:t>
            </a:r>
            <a:r>
              <a:rPr lang="en-US" sz="1800" spc="18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so,</a:t>
            </a:r>
            <a:r>
              <a:rPr lang="en-US" sz="1800" spc="21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to</a:t>
            </a:r>
            <a:r>
              <a:rPr lang="en-US" sz="1800" spc="19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correct </a:t>
            </a:r>
            <a:r>
              <a:rPr lang="en-US" sz="1800" spc="20" dirty="0">
                <a:effectLst/>
                <a:latin typeface="Calibri" panose="020F0502020204030204" pitchFamily="34" charset="0"/>
                <a:ea typeface="Calibri" panose="020F0502020204030204" pitchFamily="34" charset="0"/>
                <a:cs typeface="Times New Roman" panose="02020603050405020304" pitchFamily="18" charset="0"/>
              </a:rPr>
              <a:t>them.</a:t>
            </a:r>
            <a:r>
              <a:rPr lang="en-US" sz="1800" spc="27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Arial" panose="020B0604020202020204" pitchFamily="34" charset="0"/>
                <a:ea typeface="Calibri" panose="020F0502020204030204" pitchFamily="34" charset="0"/>
                <a:cs typeface="Times New Roman" panose="02020603050405020304" pitchFamily="18" charset="0"/>
              </a:rPr>
              <a:t>In</a:t>
            </a:r>
            <a:r>
              <a:rPr lang="en-US" sz="1800" spc="-145" dirty="0">
                <a:effectLst/>
                <a:latin typeface="Arial" panose="020B060402020202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cases</a:t>
            </a:r>
            <a:r>
              <a:rPr lang="en-US" sz="1800" spc="6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in</a:t>
            </a:r>
            <a:r>
              <a:rPr lang="en-US" sz="18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which</a:t>
            </a:r>
            <a:r>
              <a:rPr lang="en-US" sz="1800" spc="5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we</a:t>
            </a:r>
            <a:r>
              <a:rPr lang="en-US" sz="1800" spc="4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cannot</a:t>
            </a:r>
            <a:r>
              <a:rPr lang="en-US" sz="1800" spc="11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verify</a:t>
            </a:r>
            <a:r>
              <a:rPr lang="en-US" sz="1800" spc="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spc="35" dirty="0">
                <a:effectLst/>
                <a:latin typeface="Calibri" panose="020F0502020204030204" pitchFamily="34" charset="0"/>
                <a:ea typeface="Calibri" panose="020F0502020204030204" pitchFamily="34" charset="0"/>
                <a:cs typeface="Times New Roman" panose="02020603050405020304" pitchFamily="18" charset="0"/>
              </a:rPr>
              <a:t>the </a:t>
            </a:r>
            <a:r>
              <a:rPr lang="en-US" sz="1800" dirty="0">
                <a:effectLst/>
                <a:latin typeface="Calibri" panose="020F0502020204030204" pitchFamily="34" charset="0"/>
                <a:ea typeface="Calibri" panose="020F0502020204030204" pitchFamily="34" charset="0"/>
                <a:cs typeface="Times New Roman" panose="02020603050405020304" pitchFamily="18" charset="0"/>
              </a:rPr>
              <a:t>correct</a:t>
            </a:r>
            <a:r>
              <a:rPr lang="en-US" sz="1800" spc="-17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ness</a:t>
            </a:r>
            <a:r>
              <a:rPr lang="en-US" sz="18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of</a:t>
            </a:r>
            <a:r>
              <a:rPr lang="en-US" sz="1800" spc="11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output</a:t>
            </a:r>
            <a:r>
              <a:rPr lang="en-US" sz="1800" spc="21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on</a:t>
            </a:r>
            <a:r>
              <a:rPr lang="en-US" sz="1800" spc="14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sample</a:t>
            </a:r>
            <a:r>
              <a:rPr lang="en-US" sz="1800" spc="17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data,</a:t>
            </a:r>
            <a:r>
              <a:rPr lang="en-US" sz="1800" spc="18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t</a:t>
            </a:r>
            <a:r>
              <a:rPr lang="en-US" sz="1800" spc="-160" dirty="0">
                <a:effectLst/>
                <a:latin typeface="Calibri" panose="020F0502020204030204" pitchFamily="34" charset="0"/>
                <a:ea typeface="Calibri" panose="020F0502020204030204" pitchFamily="34" charset="0"/>
                <a:cs typeface="Times New Roman" panose="02020603050405020304" pitchFamily="18" charset="0"/>
              </a:rPr>
              <a:t>h</a:t>
            </a:r>
            <a:r>
              <a:rPr lang="en-US" sz="1800" dirty="0">
                <a:effectLst/>
                <a:latin typeface="Calibri" panose="020F0502020204030204" pitchFamily="34" charset="0"/>
                <a:ea typeface="Calibri" panose="020F0502020204030204" pitchFamily="34" charset="0"/>
                <a:cs typeface="Times New Roman" panose="02020603050405020304" pitchFamily="18" charset="0"/>
              </a:rPr>
              <a:t>e</a:t>
            </a:r>
            <a:r>
              <a:rPr lang="en-US" sz="1800" spc="14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following</a:t>
            </a:r>
            <a:r>
              <a:rPr lang="en-US" sz="1800" spc="16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strategy</a:t>
            </a:r>
            <a:r>
              <a:rPr lang="en-US" sz="1800" spc="19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can</a:t>
            </a:r>
            <a:r>
              <a:rPr lang="en-US" sz="1800" spc="18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be</a:t>
            </a:r>
            <a:r>
              <a:rPr lang="en-US" sz="1800" spc="15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employed:</a:t>
            </a:r>
            <a:r>
              <a:rPr lang="en-US" sz="1800" spc="11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let</a:t>
            </a:r>
            <a:r>
              <a:rPr lang="en-US" sz="1800" spc="22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more </a:t>
            </a:r>
            <a:r>
              <a:rPr lang="en-US" sz="1800" spc="25" dirty="0">
                <a:effectLst/>
                <a:latin typeface="Calibri" panose="020F0502020204030204" pitchFamily="34" charset="0"/>
                <a:ea typeface="Calibri" panose="020F0502020204030204" pitchFamily="34" charset="0"/>
                <a:cs typeface="Times New Roman" panose="02020603050405020304" pitchFamily="18" charset="0"/>
              </a:rPr>
              <a:t>than</a:t>
            </a:r>
            <a:r>
              <a:rPr lang="en-US" sz="1800" spc="1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one</a:t>
            </a:r>
            <a:r>
              <a:rPr lang="en-US" sz="1800" spc="-1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programmer</a:t>
            </a:r>
            <a:r>
              <a:rPr lang="en-US" sz="1800" spc="12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develop</a:t>
            </a:r>
            <a:r>
              <a:rPr lang="en-US" sz="1800" spc="1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programs</a:t>
            </a:r>
            <a:r>
              <a:rPr lang="en-US" sz="1800" spc="6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for</a:t>
            </a:r>
            <a:r>
              <a:rPr lang="en-US" sz="1800" spc="1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t</a:t>
            </a:r>
            <a:r>
              <a:rPr lang="en-US" sz="1800" spc="-180" dirty="0">
                <a:effectLst/>
                <a:latin typeface="Calibri" panose="020F0502020204030204" pitchFamily="34" charset="0"/>
                <a:ea typeface="Calibri" panose="020F0502020204030204" pitchFamily="34" charset="0"/>
                <a:cs typeface="Times New Roman" panose="02020603050405020304" pitchFamily="18" charset="0"/>
              </a:rPr>
              <a:t>h</a:t>
            </a:r>
            <a:r>
              <a:rPr lang="en-US" sz="1800" dirty="0">
                <a:effectLst/>
                <a:latin typeface="Calibri" panose="020F0502020204030204" pitchFamily="34" charset="0"/>
                <a:ea typeface="Calibri" panose="020F0502020204030204" pitchFamily="34" charset="0"/>
                <a:cs typeface="Times New Roman" panose="02020603050405020304" pitchFamily="18" charset="0"/>
              </a:rPr>
              <a:t>e same</a:t>
            </a:r>
            <a:r>
              <a:rPr lang="en-US" sz="1800" spc="-1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problem,</a:t>
            </a:r>
            <a:r>
              <a:rPr lang="en-US" sz="1800" spc="7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and</a:t>
            </a:r>
            <a:r>
              <a:rPr lang="en-US" sz="1800" spc="1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compare</a:t>
            </a:r>
            <a:r>
              <a:rPr lang="en-US" sz="1800" spc="115" dirty="0">
                <a:effectLst/>
                <a:latin typeface="Calibri" panose="020F0502020204030204" pitchFamily="34" charset="0"/>
                <a:ea typeface="Calibri" panose="020F0502020204030204" pitchFamily="34" charset="0"/>
                <a:cs typeface="Times New Roman" panose="02020603050405020304" pitchFamily="18" charset="0"/>
              </a:rPr>
              <a:t> </a:t>
            </a:r>
            <a:r>
              <a:rPr lang="en-US" sz="1800" spc="35" dirty="0">
                <a:effectLst/>
                <a:latin typeface="Calibri" panose="020F0502020204030204" pitchFamily="34" charset="0"/>
                <a:ea typeface="Calibri" panose="020F0502020204030204" pitchFamily="34" charset="0"/>
                <a:cs typeface="Times New Roman" panose="02020603050405020304" pitchFamily="18" charset="0"/>
              </a:rPr>
              <a:t>the</a:t>
            </a:r>
            <a:r>
              <a:rPr lang="en-US" sz="1800" spc="105" dirty="0">
                <a:effectLst/>
                <a:latin typeface="Calibri" panose="020F0502020204030204" pitchFamily="34" charset="0"/>
                <a:ea typeface="Calibri" panose="020F0502020204030204" pitchFamily="34" charset="0"/>
                <a:cs typeface="Times New Roman" panose="02020603050405020304" pitchFamily="18" charset="0"/>
              </a:rPr>
              <a:t> </a:t>
            </a:r>
            <a:r>
              <a:rPr lang="en-US" sz="1800" spc="15" dirty="0">
                <a:effectLst/>
                <a:latin typeface="Calibri" panose="020F0502020204030204" pitchFamily="34" charset="0"/>
                <a:ea typeface="Calibri" panose="020F0502020204030204" pitchFamily="34" charset="0"/>
                <a:cs typeface="Times New Roman" panose="02020603050405020304" pitchFamily="18" charset="0"/>
              </a:rPr>
              <a:t>out</a:t>
            </a:r>
            <a:r>
              <a:rPr lang="en-US" sz="1800" spc="10" dirty="0">
                <a:effectLst/>
                <a:latin typeface="Calibri" panose="020F0502020204030204" pitchFamily="34" charset="0"/>
                <a:ea typeface="Calibri" panose="020F0502020204030204" pitchFamily="34" charset="0"/>
                <a:cs typeface="Times New Roman" panose="02020603050405020304" pitchFamily="18" charset="0"/>
              </a:rPr>
              <a:t>puts</a:t>
            </a:r>
            <a:r>
              <a:rPr lang="en-US" sz="1800" spc="15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produced</a:t>
            </a:r>
            <a:r>
              <a:rPr lang="en-US" sz="1800" spc="2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by</a:t>
            </a:r>
            <a:r>
              <a:rPr lang="en-US" sz="1800" spc="170" dirty="0">
                <a:effectLst/>
                <a:latin typeface="Calibri" panose="020F0502020204030204" pitchFamily="34" charset="0"/>
                <a:ea typeface="Calibri" panose="020F0502020204030204" pitchFamily="34" charset="0"/>
                <a:cs typeface="Times New Roman" panose="02020603050405020304" pitchFamily="18" charset="0"/>
              </a:rPr>
              <a:t> </a:t>
            </a:r>
            <a:r>
              <a:rPr lang="en-US" sz="1800" spc="20" dirty="0">
                <a:effectLst/>
                <a:latin typeface="Calibri" panose="020F0502020204030204" pitchFamily="34" charset="0"/>
                <a:ea typeface="Calibri" panose="020F0502020204030204" pitchFamily="34" charset="0"/>
                <a:cs typeface="Times New Roman" panose="02020603050405020304" pitchFamily="18" charset="0"/>
              </a:rPr>
              <a:t>these</a:t>
            </a:r>
            <a:r>
              <a:rPr lang="en-US" sz="1800" spc="13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programs.</a:t>
            </a:r>
            <a:r>
              <a:rPr lang="en-US" sz="1800" spc="60" dirty="0">
                <a:effectLst/>
                <a:latin typeface="Calibri" panose="020F0502020204030204" pitchFamily="34"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R="0" algn="just">
              <a:lnSpc>
                <a:spcPct val="107000"/>
              </a:lnSpc>
              <a:spcBef>
                <a:spcPts val="0"/>
              </a:spcBef>
              <a:spcAft>
                <a:spcPts val="80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If</a:t>
            </a:r>
            <a:r>
              <a:rPr lang="en-US" sz="1800" spc="-130" dirty="0">
                <a:effectLst/>
                <a:latin typeface="Arial" panose="020B0604020202020204" pitchFamily="34" charset="0"/>
                <a:ea typeface="Calibri" panose="020F0502020204030204" pitchFamily="34" charset="0"/>
                <a:cs typeface="Times New Roman" panose="02020603050405020304" pitchFamily="18" charset="0"/>
              </a:rPr>
              <a:t> </a:t>
            </a:r>
            <a:r>
              <a:rPr lang="en-US" sz="1800" spc="35" dirty="0">
                <a:effectLst/>
                <a:latin typeface="Calibri" panose="020F0502020204030204" pitchFamily="34" charset="0"/>
                <a:ea typeface="Calibri" panose="020F0502020204030204" pitchFamily="34" charset="0"/>
                <a:cs typeface="Times New Roman" panose="02020603050405020304" pitchFamily="18" charset="0"/>
              </a:rPr>
              <a:t>the</a:t>
            </a:r>
            <a:r>
              <a:rPr lang="en-US" sz="1800" spc="9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outputs</a:t>
            </a:r>
            <a:r>
              <a:rPr lang="en-US" sz="1800" spc="12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match,</a:t>
            </a:r>
            <a:r>
              <a:rPr lang="en-US" sz="1800" spc="185" dirty="0">
                <a:effectLst/>
                <a:latin typeface="Calibri" panose="020F0502020204030204" pitchFamily="34" charset="0"/>
                <a:ea typeface="Calibri" panose="020F0502020204030204" pitchFamily="34" charset="0"/>
                <a:cs typeface="Times New Roman" panose="02020603050405020304" pitchFamily="18" charset="0"/>
              </a:rPr>
              <a:t> then</a:t>
            </a:r>
            <a:r>
              <a:rPr lang="en-US" sz="1800" spc="145" dirty="0">
                <a:effectLst/>
                <a:latin typeface="Calibri" panose="020F0502020204030204" pitchFamily="34" charset="0"/>
                <a:ea typeface="Calibri" panose="020F0502020204030204" pitchFamily="34" charset="0"/>
                <a:cs typeface="Times New Roman" panose="02020603050405020304" pitchFamily="18" charset="0"/>
              </a:rPr>
              <a:t> </a:t>
            </a:r>
            <a:r>
              <a:rPr lang="en-US" sz="1800" spc="20" dirty="0">
                <a:effectLst/>
                <a:latin typeface="Calibri" panose="020F0502020204030204" pitchFamily="34" charset="0"/>
                <a:ea typeface="Calibri" panose="020F0502020204030204" pitchFamily="34" charset="0"/>
                <a:cs typeface="Times New Roman" panose="02020603050405020304" pitchFamily="18" charset="0"/>
              </a:rPr>
              <a:t>there</a:t>
            </a:r>
            <a:r>
              <a:rPr lang="en-US" sz="1800" spc="15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is</a:t>
            </a:r>
            <a:r>
              <a:rPr lang="en-US" sz="1800" spc="-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a</a:t>
            </a:r>
            <a:r>
              <a:rPr lang="en-US" sz="1800" spc="-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good</a:t>
            </a:r>
            <a:r>
              <a:rPr lang="en-US" sz="18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chance</a:t>
            </a:r>
            <a:r>
              <a:rPr lang="en-US" sz="1800" spc="45" dirty="0">
                <a:effectLst/>
                <a:latin typeface="Calibri" panose="020F0502020204030204" pitchFamily="34" charset="0"/>
                <a:ea typeface="Calibri" panose="020F0502020204030204" pitchFamily="34" charset="0"/>
                <a:cs typeface="Times New Roman" panose="02020603050405020304" pitchFamily="18" charset="0"/>
              </a:rPr>
              <a:t> </a:t>
            </a:r>
            <a:r>
              <a:rPr lang="en-US" sz="1800" spc="25" dirty="0">
                <a:effectLst/>
                <a:latin typeface="Calibri" panose="020F0502020204030204" pitchFamily="34" charset="0"/>
                <a:ea typeface="Calibri" panose="020F0502020204030204" pitchFamily="34" charset="0"/>
                <a:cs typeface="Times New Roman" panose="02020603050405020304" pitchFamily="18" charset="0"/>
              </a:rPr>
              <a:t>t</a:t>
            </a:r>
            <a:r>
              <a:rPr lang="en-US" sz="1800" spc="20" dirty="0">
                <a:effectLst/>
                <a:latin typeface="Calibri" panose="020F0502020204030204" pitchFamily="34" charset="0"/>
                <a:ea typeface="Calibri" panose="020F0502020204030204" pitchFamily="34" charset="0"/>
                <a:cs typeface="Times New Roman" panose="02020603050405020304" pitchFamily="18" charset="0"/>
              </a:rPr>
              <a:t>hat</a:t>
            </a:r>
            <a:r>
              <a:rPr lang="en-US" sz="1800" spc="9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t</a:t>
            </a:r>
            <a:r>
              <a:rPr lang="en-US" sz="1800" spc="-180" dirty="0">
                <a:effectLst/>
                <a:latin typeface="Calibri" panose="020F0502020204030204" pitchFamily="34" charset="0"/>
                <a:ea typeface="Calibri" panose="020F0502020204030204" pitchFamily="34" charset="0"/>
                <a:cs typeface="Times New Roman" panose="02020603050405020304" pitchFamily="18" charset="0"/>
              </a:rPr>
              <a:t>h</a:t>
            </a:r>
            <a:r>
              <a:rPr lang="en-US" sz="1800" dirty="0">
                <a:effectLst/>
                <a:latin typeface="Calibri" panose="020F0502020204030204" pitchFamily="34" charset="0"/>
                <a:ea typeface="Calibri" panose="020F0502020204030204" pitchFamily="34" charset="0"/>
                <a:cs typeface="Times New Roman" panose="02020603050405020304" pitchFamily="18" charset="0"/>
              </a:rPr>
              <a:t>ey</a:t>
            </a:r>
            <a:r>
              <a:rPr lang="en-US" sz="1800" spc="7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are</a:t>
            </a:r>
            <a:r>
              <a:rPr lang="en-US" sz="18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correct.</a:t>
            </a:r>
            <a:r>
              <a:rPr lang="en-US" sz="1800" spc="17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A</a:t>
            </a:r>
            <a:r>
              <a:rPr lang="en-US" sz="1800" spc="5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proof</a:t>
            </a:r>
            <a:r>
              <a:rPr lang="en-US" sz="1800" spc="7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of</a:t>
            </a:r>
            <a:r>
              <a:rPr lang="en-US" sz="1800" spc="5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correctness</a:t>
            </a:r>
            <a:r>
              <a:rPr lang="en-US" sz="1800" spc="7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is</a:t>
            </a:r>
            <a:r>
              <a:rPr lang="en-US" sz="1800" spc="1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much</a:t>
            </a:r>
            <a:r>
              <a:rPr lang="en-US" sz="1800" spc="6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more</a:t>
            </a:r>
            <a:r>
              <a:rPr lang="en-US" sz="1800" spc="11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valuable</a:t>
            </a:r>
            <a:r>
              <a:rPr lang="en-US" sz="1800" spc="9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than</a:t>
            </a:r>
            <a:r>
              <a:rPr lang="en-US" sz="1800" spc="10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a</a:t>
            </a:r>
            <a:r>
              <a:rPr lang="en-US" sz="18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1800" spc="115" dirty="0">
                <a:effectLst/>
                <a:latin typeface="Calibri" panose="020F0502020204030204" pitchFamily="34" charset="0"/>
                <a:ea typeface="Calibri" panose="020F0502020204030204" pitchFamily="34" charset="0"/>
                <a:cs typeface="Times New Roman" panose="02020603050405020304" pitchFamily="18" charset="0"/>
              </a:rPr>
              <a:t>t</a:t>
            </a:r>
            <a:r>
              <a:rPr lang="en-US" sz="1800" dirty="0">
                <a:effectLst/>
                <a:latin typeface="Calibri" panose="020F0502020204030204" pitchFamily="34" charset="0"/>
                <a:ea typeface="Calibri" panose="020F0502020204030204" pitchFamily="34" charset="0"/>
                <a:cs typeface="Times New Roman" panose="02020603050405020304" pitchFamily="18" charset="0"/>
              </a:rPr>
              <a:t>housand</a:t>
            </a:r>
            <a:r>
              <a:rPr lang="en-US" sz="1800" spc="13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tests</a:t>
            </a:r>
            <a:r>
              <a:rPr lang="en-US" sz="1800" spc="13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(if</a:t>
            </a:r>
            <a:r>
              <a:rPr lang="en-US" sz="1800" spc="60" dirty="0">
                <a:effectLst/>
                <a:latin typeface="Calibri" panose="020F0502020204030204" pitchFamily="34" charset="0"/>
                <a:ea typeface="Calibri" panose="020F0502020204030204" pitchFamily="34" charset="0"/>
                <a:cs typeface="Times New Roman" panose="02020603050405020304" pitchFamily="18" charset="0"/>
              </a:rPr>
              <a:t> </a:t>
            </a:r>
            <a:r>
              <a:rPr lang="en-US" sz="1800" spc="25" dirty="0">
                <a:effectLst/>
                <a:latin typeface="Calibri" panose="020F0502020204030204" pitchFamily="34" charset="0"/>
                <a:ea typeface="Calibri" panose="020F0502020204030204" pitchFamily="34" charset="0"/>
                <a:cs typeface="Times New Roman" panose="02020603050405020304" pitchFamily="18" charset="0"/>
              </a:rPr>
              <a:t>t</a:t>
            </a:r>
            <a:r>
              <a:rPr lang="en-US" sz="1800" spc="20" dirty="0">
                <a:effectLst/>
                <a:latin typeface="Calibri" panose="020F0502020204030204" pitchFamily="34" charset="0"/>
                <a:ea typeface="Calibri" panose="020F0502020204030204" pitchFamily="34" charset="0"/>
                <a:cs typeface="Times New Roman" panose="02020603050405020304" pitchFamily="18" charset="0"/>
              </a:rPr>
              <a:t>hat</a:t>
            </a:r>
            <a:r>
              <a:rPr lang="en-US" sz="1800" spc="12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proof</a:t>
            </a:r>
            <a:r>
              <a:rPr lang="en-US" sz="1800" spc="14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is</a:t>
            </a:r>
            <a:r>
              <a:rPr lang="en-US" sz="1800" spc="6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correct</a:t>
            </a:r>
            <a:r>
              <a:rPr lang="en-US" sz="1800" spc="-135" dirty="0">
                <a:effectLst/>
                <a:latin typeface="Calibri" panose="020F0502020204030204" pitchFamily="34" charset="0"/>
                <a:ea typeface="Calibri" panose="020F0502020204030204" pitchFamily="34" charset="0"/>
                <a:cs typeface="Times New Roman" panose="02020603050405020304" pitchFamily="18" charset="0"/>
              </a:rPr>
              <a:t>)</a:t>
            </a:r>
            <a:r>
              <a:rPr lang="en-US" sz="1800" spc="-110" dirty="0">
                <a:effectLst/>
                <a:latin typeface="Calibri" panose="020F0502020204030204" pitchFamily="34" charset="0"/>
                <a:ea typeface="Calibri" panose="020F0502020204030204" pitchFamily="34" charset="0"/>
                <a:cs typeface="Times New Roman" panose="02020603050405020304" pitchFamily="18" charset="0"/>
              </a:rPr>
              <a:t>,</a:t>
            </a:r>
            <a:r>
              <a:rPr lang="en-US" sz="1800" spc="11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since</a:t>
            </a:r>
            <a:r>
              <a:rPr lang="en-US" sz="18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it</a:t>
            </a:r>
            <a:r>
              <a:rPr lang="en-US" sz="1800" spc="9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guarantees</a:t>
            </a:r>
            <a:r>
              <a:rPr lang="en-US" sz="1800" spc="260" dirty="0">
                <a:effectLst/>
                <a:latin typeface="Calibri" panose="020F0502020204030204" pitchFamily="34" charset="0"/>
                <a:ea typeface="Calibri" panose="020F0502020204030204" pitchFamily="34" charset="0"/>
                <a:cs typeface="Times New Roman" panose="02020603050405020304" pitchFamily="18" charset="0"/>
              </a:rPr>
              <a:t> </a:t>
            </a:r>
            <a:r>
              <a:rPr lang="en-US" sz="1800" spc="25" dirty="0">
                <a:effectLst/>
                <a:latin typeface="Calibri" panose="020F0502020204030204" pitchFamily="34" charset="0"/>
                <a:ea typeface="Calibri" panose="020F0502020204030204" pitchFamily="34" charset="0"/>
                <a:cs typeface="Times New Roman" panose="02020603050405020304" pitchFamily="18" charset="0"/>
              </a:rPr>
              <a:t>t</a:t>
            </a:r>
            <a:r>
              <a:rPr lang="en-US" sz="1800" spc="20" dirty="0">
                <a:effectLst/>
                <a:latin typeface="Calibri" panose="020F0502020204030204" pitchFamily="34" charset="0"/>
                <a:ea typeface="Calibri" panose="020F0502020204030204" pitchFamily="34" charset="0"/>
                <a:cs typeface="Times New Roman" panose="02020603050405020304" pitchFamily="18" charset="0"/>
              </a:rPr>
              <a:t>hat</a:t>
            </a:r>
            <a:r>
              <a:rPr lang="en-US" sz="1800" spc="22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t</a:t>
            </a:r>
            <a:r>
              <a:rPr lang="en-US" sz="1800" spc="-175" dirty="0">
                <a:effectLst/>
                <a:latin typeface="Calibri" panose="020F0502020204030204" pitchFamily="34" charset="0"/>
                <a:ea typeface="Calibri" panose="020F0502020204030204" pitchFamily="34" charset="0"/>
                <a:cs typeface="Times New Roman" panose="02020603050405020304" pitchFamily="18" charset="0"/>
              </a:rPr>
              <a:t>h</a:t>
            </a:r>
            <a:r>
              <a:rPr lang="en-US" sz="1800" dirty="0">
                <a:effectLst/>
                <a:latin typeface="Calibri" panose="020F0502020204030204" pitchFamily="34" charset="0"/>
                <a:ea typeface="Calibri" panose="020F0502020204030204" pitchFamily="34" charset="0"/>
                <a:cs typeface="Times New Roman" panose="02020603050405020304" pitchFamily="18" charset="0"/>
              </a:rPr>
              <a:t>e</a:t>
            </a:r>
            <a:r>
              <a:rPr lang="en-US" sz="1800" spc="15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program</a:t>
            </a:r>
            <a:r>
              <a:rPr lang="en-US" sz="1800" spc="22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will</a:t>
            </a:r>
            <a:r>
              <a:rPr lang="en-US" sz="1800" spc="15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work</a:t>
            </a:r>
            <a:r>
              <a:rPr lang="en-US" sz="1800" spc="23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correctly</a:t>
            </a:r>
            <a:r>
              <a:rPr lang="en-US" sz="1800" spc="21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for</a:t>
            </a:r>
            <a:r>
              <a:rPr lang="en-US" sz="1800" spc="16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all</a:t>
            </a:r>
            <a:r>
              <a:rPr lang="en-US" sz="1800" spc="14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possible</a:t>
            </a:r>
            <a:r>
              <a:rPr lang="en-US" sz="1800" spc="21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inputs.</a:t>
            </a:r>
            <a:r>
              <a:rPr lang="en-US" sz="1800" spc="215" dirty="0">
                <a:effectLst/>
                <a:latin typeface="Calibri" panose="020F0502020204030204" pitchFamily="34"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marR="0" indent="-285750" algn="just">
              <a:spcBef>
                <a:spcPts val="0"/>
              </a:spcBef>
              <a:spcAft>
                <a:spcPts val="0"/>
              </a:spcAft>
              <a:buFont typeface="Wingdings" panose="05000000000000000000" pitchFamily="2" charset="2"/>
              <a:buChar char="q"/>
            </a:pPr>
            <a:r>
              <a:rPr lang="en-US" sz="1800" b="1" i="1" spc="-10" dirty="0">
                <a:effectLst/>
                <a:latin typeface="Calibri" panose="020F0502020204030204" pitchFamily="34" charset="0"/>
                <a:ea typeface="Calibri" panose="020F0502020204030204" pitchFamily="34" charset="0"/>
                <a:cs typeface="Times New Roman" panose="02020603050405020304" pitchFamily="18" charset="0"/>
              </a:rPr>
              <a:t>Profiling</a:t>
            </a:r>
            <a:r>
              <a:rPr lang="en-US" sz="1800" b="1" i="1" spc="5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dirty="0">
                <a:effectLst/>
                <a:latin typeface="Calibri" panose="020F0502020204030204" pitchFamily="34" charset="0"/>
                <a:ea typeface="Calibri" panose="020F0502020204030204" pitchFamily="34" charset="0"/>
                <a:cs typeface="Times New Roman" panose="02020603050405020304" pitchFamily="18" charset="0"/>
              </a:rPr>
              <a:t>or</a:t>
            </a:r>
            <a:r>
              <a:rPr lang="en-US" sz="1800" b="1" spc="15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i="1" dirty="0">
                <a:effectLst/>
                <a:latin typeface="Calibri" panose="020F0502020204030204" pitchFamily="34" charset="0"/>
                <a:ea typeface="Calibri" panose="020F0502020204030204" pitchFamily="34" charset="0"/>
                <a:cs typeface="Times New Roman" panose="02020603050405020304" pitchFamily="18" charset="0"/>
              </a:rPr>
              <a:t>performance</a:t>
            </a:r>
            <a:r>
              <a:rPr lang="en-US" sz="1800" b="1" i="1" spc="28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i="1" dirty="0">
                <a:effectLst/>
                <a:latin typeface="Calibri" panose="020F0502020204030204" pitchFamily="34" charset="0"/>
                <a:ea typeface="Calibri" panose="020F0502020204030204" pitchFamily="34" charset="0"/>
                <a:cs typeface="Times New Roman" panose="02020603050405020304" pitchFamily="18" charset="0"/>
              </a:rPr>
              <a:t>measurement</a:t>
            </a:r>
            <a:r>
              <a:rPr lang="en-US" sz="1800" i="1" spc="12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is</a:t>
            </a:r>
            <a:r>
              <a:rPr lang="en-US" sz="1800" spc="15" dirty="0">
                <a:effectLst/>
                <a:latin typeface="Calibri" panose="020F0502020204030204" pitchFamily="34" charset="0"/>
                <a:ea typeface="Calibri" panose="020F0502020204030204" pitchFamily="34" charset="0"/>
                <a:cs typeface="Times New Roman" panose="02020603050405020304" pitchFamily="18" charset="0"/>
              </a:rPr>
              <a:t> </a:t>
            </a:r>
            <a:r>
              <a:rPr lang="en-US" sz="1800" spc="35" dirty="0">
                <a:effectLst/>
                <a:latin typeface="Calibri" panose="020F0502020204030204" pitchFamily="34" charset="0"/>
                <a:ea typeface="Calibri" panose="020F0502020204030204" pitchFamily="34" charset="0"/>
                <a:cs typeface="Times New Roman" panose="02020603050405020304" pitchFamily="18" charset="0"/>
              </a:rPr>
              <a:t>the </a:t>
            </a:r>
            <a:r>
              <a:rPr lang="en-US" sz="1800" dirty="0">
                <a:effectLst/>
                <a:latin typeface="Calibri" panose="020F0502020204030204" pitchFamily="34" charset="0"/>
                <a:ea typeface="Calibri" panose="020F0502020204030204" pitchFamily="34" charset="0"/>
                <a:cs typeface="Times New Roman" panose="02020603050405020304" pitchFamily="18" charset="0"/>
              </a:rPr>
              <a:t>process</a:t>
            </a:r>
            <a:r>
              <a:rPr lang="en-US" sz="1800" spc="7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of</a:t>
            </a:r>
            <a:r>
              <a:rPr lang="en-US" sz="18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executing</a:t>
            </a:r>
            <a:r>
              <a:rPr lang="en-US" sz="1800" spc="5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a</a:t>
            </a:r>
            <a:r>
              <a:rPr lang="en-US" sz="18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correct</a:t>
            </a:r>
            <a:r>
              <a:rPr lang="en-US" sz="1800" spc="11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program</a:t>
            </a:r>
            <a:r>
              <a:rPr lang="en-US" sz="1800" spc="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on</a:t>
            </a:r>
            <a:r>
              <a:rPr lang="en-US" sz="1800" spc="11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data</a:t>
            </a:r>
            <a:r>
              <a:rPr lang="en-US" sz="18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sets</a:t>
            </a:r>
            <a:r>
              <a:rPr lang="en-US" sz="18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and</a:t>
            </a:r>
            <a:r>
              <a:rPr lang="en-US" sz="1800" spc="13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measuring</a:t>
            </a:r>
            <a:r>
              <a:rPr lang="en-US" sz="1800" spc="115" dirty="0">
                <a:effectLst/>
                <a:latin typeface="Calibri" panose="020F0502020204030204" pitchFamily="34" charset="0"/>
                <a:ea typeface="Calibri" panose="020F0502020204030204" pitchFamily="34" charset="0"/>
                <a:cs typeface="Times New Roman" panose="02020603050405020304" pitchFamily="18" charset="0"/>
              </a:rPr>
              <a:t> </a:t>
            </a:r>
            <a:r>
              <a:rPr lang="en-US" sz="1800" spc="35" dirty="0">
                <a:effectLst/>
                <a:latin typeface="Calibri" panose="020F0502020204030204" pitchFamily="34" charset="0"/>
                <a:ea typeface="Calibri" panose="020F0502020204030204" pitchFamily="34" charset="0"/>
                <a:cs typeface="Times New Roman" panose="02020603050405020304" pitchFamily="18" charset="0"/>
              </a:rPr>
              <a:t>the</a:t>
            </a:r>
            <a:r>
              <a:rPr lang="en-US" sz="1800" spc="8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time</a:t>
            </a:r>
            <a:r>
              <a:rPr lang="en-US" sz="1800" spc="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and</a:t>
            </a:r>
            <a:r>
              <a:rPr lang="en-US" sz="1800" spc="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space</a:t>
            </a:r>
            <a:r>
              <a:rPr lang="en-US" sz="18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it</a:t>
            </a:r>
            <a:r>
              <a:rPr lang="en-US" sz="1800" spc="10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takes</a:t>
            </a:r>
            <a:r>
              <a:rPr lang="en-US" sz="1800" spc="11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to</a:t>
            </a:r>
            <a:r>
              <a:rPr lang="en-US" sz="1800" spc="9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compute</a:t>
            </a:r>
            <a:r>
              <a:rPr lang="en-US" sz="1800" spc="11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t</a:t>
            </a:r>
            <a:r>
              <a:rPr lang="en-US" sz="1800" spc="-155" dirty="0">
                <a:effectLst/>
                <a:latin typeface="Calibri" panose="020F0502020204030204" pitchFamily="34" charset="0"/>
                <a:ea typeface="Calibri" panose="020F0502020204030204" pitchFamily="34" charset="0"/>
                <a:cs typeface="Times New Roman" panose="02020603050405020304" pitchFamily="18" charset="0"/>
              </a:rPr>
              <a:t>h</a:t>
            </a:r>
            <a:r>
              <a:rPr lang="en-US" sz="1800" dirty="0">
                <a:effectLst/>
                <a:latin typeface="Calibri" panose="020F0502020204030204" pitchFamily="34" charset="0"/>
                <a:ea typeface="Calibri" panose="020F0502020204030204" pitchFamily="34" charset="0"/>
                <a:cs typeface="Times New Roman" panose="02020603050405020304" pitchFamily="18" charset="0"/>
              </a:rPr>
              <a:t>e</a:t>
            </a:r>
            <a:r>
              <a:rPr lang="en-US" sz="1800" spc="8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results.</a:t>
            </a:r>
          </a:p>
          <a:p>
            <a:pPr algn="just"/>
            <a:endParaRPr lang="en-US" dirty="0"/>
          </a:p>
        </p:txBody>
      </p:sp>
    </p:spTree>
    <p:extLst>
      <p:ext uri="{BB962C8B-B14F-4D97-AF65-F5344CB8AC3E}">
        <p14:creationId xmlns:p14="http://schemas.microsoft.com/office/powerpoint/2010/main" val="8803197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0" marR="0" fontAlgn="base">
              <a:lnSpc>
                <a:spcPct val="107000"/>
              </a:lnSpc>
              <a:spcBef>
                <a:spcPts val="0"/>
              </a:spcBef>
              <a:spcAft>
                <a:spcPts val="0"/>
              </a:spcAft>
            </a:pPr>
            <a:r>
              <a:rPr lang="en-US" sz="1800" b="1" kern="1800" dirty="0">
                <a:solidFill>
                  <a:srgbClr val="273239"/>
                </a:solidFill>
                <a:effectLst/>
                <a:latin typeface="Arial" panose="020B0604020202020204" pitchFamily="34" charset="0"/>
                <a:ea typeface="Times New Roman" panose="02020603050405020304" pitchFamily="18" charset="0"/>
                <a:cs typeface="Times New Roman" panose="02020603050405020304" pitchFamily="18" charset="0"/>
              </a:rPr>
              <a:t>Difference between Algorithm, Pseudocode and Program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prstClr val="white"/>
                </a:solidFill>
              </a:rPr>
              <a:pPr/>
              <a:t>March 13, 2024</a:t>
            </a:fld>
            <a:endParaRPr lang="en-US">
              <a:solidFill>
                <a:prstClr val="white"/>
              </a:solidFill>
            </a:endParaRPr>
          </a:p>
        </p:txBody>
      </p:sp>
      <p:sp>
        <p:nvSpPr>
          <p:cNvPr id="5" name="Footer Placeholder 4"/>
          <p:cNvSpPr>
            <a:spLocks noGrp="1"/>
          </p:cNvSpPr>
          <p:nvPr>
            <p:ph type="ftr" sz="quarter" idx="11"/>
          </p:nvPr>
        </p:nvSpPr>
        <p:spPr/>
        <p:txBody>
          <a:bodyPr/>
          <a:lstStyle/>
          <a:p>
            <a:r>
              <a:rPr lang="en-US" dirty="0">
                <a:solidFill>
                  <a:prstClr val="white"/>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prstClr val="white"/>
                </a:solidFill>
              </a:rPr>
              <a:pPr/>
              <a:t>6</a:t>
            </a:fld>
            <a:endParaRPr lang="en-US" dirty="0">
              <a:solidFill>
                <a:prstClr val="white"/>
              </a:solidFill>
            </a:endParaRPr>
          </a:p>
        </p:txBody>
      </p:sp>
      <p:sp>
        <p:nvSpPr>
          <p:cNvPr id="7" name="TextBox 6">
            <a:extLst>
              <a:ext uri="{FF2B5EF4-FFF2-40B4-BE49-F238E27FC236}">
                <a16:creationId xmlns:a16="http://schemas.microsoft.com/office/drawing/2014/main" id="{50051445-0799-AFCE-E0F7-FAB185BD6328}"/>
              </a:ext>
            </a:extLst>
          </p:cNvPr>
          <p:cNvSpPr txBox="1"/>
          <p:nvPr/>
        </p:nvSpPr>
        <p:spPr>
          <a:xfrm>
            <a:off x="600076" y="1247775"/>
            <a:ext cx="7848600" cy="4229619"/>
          </a:xfrm>
          <a:prstGeom prst="rect">
            <a:avLst/>
          </a:prstGeom>
          <a:noFill/>
        </p:spPr>
        <p:txBody>
          <a:bodyPr wrap="square">
            <a:spAutoFit/>
          </a:bodyPr>
          <a:lstStyle/>
          <a:p>
            <a:pPr marL="0" marR="0" algn="just">
              <a:spcBef>
                <a:spcPts val="0"/>
              </a:spcBef>
              <a:spcAft>
                <a:spcPts val="0"/>
              </a:spcAft>
            </a:pPr>
            <a:r>
              <a:rPr lang="en-US" b="1" dirty="0">
                <a:solidFill>
                  <a:srgbClr val="000000"/>
                </a:solidFill>
                <a:effectLst/>
                <a:ea typeface="Calibri" panose="020F0502020204030204" pitchFamily="34" charset="0"/>
                <a:cs typeface="Times New Roman" panose="02020603050405020304" pitchFamily="18" charset="0"/>
              </a:rPr>
              <a:t>Algorithm</a:t>
            </a:r>
            <a:endParaRPr lang="en-US" dirty="0">
              <a:effectLst/>
              <a:ea typeface="Calibri" panose="020F0502020204030204" pitchFamily="34" charset="0"/>
              <a:cs typeface="Times New Roman" panose="02020603050405020304" pitchFamily="18" charset="0"/>
            </a:endParaRPr>
          </a:p>
          <a:p>
            <a:pPr marL="0" marR="0">
              <a:spcBef>
                <a:spcPts val="0"/>
              </a:spcBef>
              <a:spcAft>
                <a:spcPts val="0"/>
              </a:spcAft>
            </a:pPr>
            <a:r>
              <a:rPr lang="en-US" dirty="0">
                <a:solidFill>
                  <a:srgbClr val="000000"/>
                </a:solidFill>
                <a:effectLst/>
                <a:ea typeface="Calibri" panose="020F0502020204030204" pitchFamily="34" charset="0"/>
                <a:cs typeface="Times New Roman" panose="02020603050405020304" pitchFamily="18" charset="0"/>
              </a:rPr>
              <a:t>An algorithm is a step-by-step procedure to solve a problem. A procedure is a finite sequence of instructions, where each is carried out in a finite amount of time. Every problem can be solved with the help of an algorithm. </a:t>
            </a:r>
            <a:endParaRPr lang="en-US" dirty="0">
              <a:effectLst/>
              <a:ea typeface="Calibri" panose="020F0502020204030204" pitchFamily="34" charset="0"/>
              <a:cs typeface="Times New Roman" panose="02020603050405020304" pitchFamily="18" charset="0"/>
            </a:endParaRPr>
          </a:p>
          <a:p>
            <a:pPr marL="0" marR="0">
              <a:lnSpc>
                <a:spcPct val="107000"/>
              </a:lnSpc>
              <a:spcBef>
                <a:spcPts val="200"/>
              </a:spcBef>
              <a:spcAft>
                <a:spcPts val="0"/>
              </a:spcAft>
            </a:pPr>
            <a:r>
              <a:rPr lang="en-US" b="1" dirty="0">
                <a:solidFill>
                  <a:srgbClr val="444444"/>
                </a:solidFill>
                <a:effectLst/>
                <a:ea typeface="Times New Roman" panose="02020603050405020304" pitchFamily="18" charset="0"/>
                <a:cs typeface="Times New Roman" panose="02020603050405020304" pitchFamily="18" charset="0"/>
              </a:rPr>
              <a:t> </a:t>
            </a:r>
            <a:r>
              <a:rPr lang="en-US" b="1" dirty="0">
                <a:solidFill>
                  <a:srgbClr val="000000"/>
                </a:solidFill>
                <a:effectLst/>
                <a:ea typeface="Times New Roman" panose="02020603050405020304" pitchFamily="18" charset="0"/>
                <a:cs typeface="Times New Roman" panose="02020603050405020304" pitchFamily="18" charset="0"/>
              </a:rPr>
              <a:t>Algorithm for linear search</a:t>
            </a:r>
            <a:endParaRPr lang="en-US" dirty="0">
              <a:effectLst/>
              <a:ea typeface="Calibri" panose="020F0502020204030204" pitchFamily="34" charset="0"/>
              <a:cs typeface="Times New Roman" panose="02020603050405020304" pitchFamily="18" charset="0"/>
            </a:endParaRPr>
          </a:p>
          <a:p>
            <a:pPr marL="742950" lvl="1" indent="-285750">
              <a:lnSpc>
                <a:spcPts val="1800"/>
              </a:lnSpc>
              <a:buSzPts val="1000"/>
              <a:buFont typeface="Wingdings" panose="05000000000000000000" pitchFamily="2" charset="2"/>
              <a:buChar char="q"/>
              <a:tabLst>
                <a:tab pos="457200" algn="l"/>
              </a:tabLst>
            </a:pPr>
            <a:r>
              <a:rPr lang="en-US" dirty="0">
                <a:solidFill>
                  <a:srgbClr val="000000"/>
                </a:solidFill>
                <a:effectLst/>
                <a:ea typeface="Times New Roman" panose="02020603050405020304" pitchFamily="18" charset="0"/>
                <a:cs typeface="Times New Roman" panose="02020603050405020304" pitchFamily="18" charset="0"/>
              </a:rPr>
              <a:t>Start searching for an element from the left-most part of the array.</a:t>
            </a:r>
            <a:endParaRPr lang="en-US" dirty="0">
              <a:effectLst/>
              <a:ea typeface="Calibri" panose="020F0502020204030204" pitchFamily="34" charset="0"/>
              <a:cs typeface="Times New Roman" panose="02020603050405020304" pitchFamily="18" charset="0"/>
            </a:endParaRPr>
          </a:p>
          <a:p>
            <a:pPr marL="742950" lvl="1" indent="-285750">
              <a:lnSpc>
                <a:spcPts val="1800"/>
              </a:lnSpc>
              <a:buSzPts val="1000"/>
              <a:buFont typeface="Wingdings" panose="05000000000000000000" pitchFamily="2" charset="2"/>
              <a:buChar char="q"/>
              <a:tabLst>
                <a:tab pos="457200" algn="l"/>
              </a:tabLst>
            </a:pPr>
            <a:r>
              <a:rPr lang="en-US" dirty="0">
                <a:solidFill>
                  <a:srgbClr val="000000"/>
                </a:solidFill>
                <a:effectLst/>
                <a:ea typeface="Times New Roman" panose="02020603050405020304" pitchFamily="18" charset="0"/>
                <a:cs typeface="Times New Roman" panose="02020603050405020304" pitchFamily="18" charset="0"/>
              </a:rPr>
              <a:t>Compare one element every iteration with the item_to_be_searched.</a:t>
            </a:r>
            <a:endParaRPr lang="en-US" dirty="0">
              <a:effectLst/>
              <a:ea typeface="Calibri" panose="020F0502020204030204" pitchFamily="34" charset="0"/>
              <a:cs typeface="Times New Roman" panose="02020603050405020304" pitchFamily="18" charset="0"/>
            </a:endParaRPr>
          </a:p>
          <a:p>
            <a:pPr marL="742950" lvl="1" indent="-285750">
              <a:lnSpc>
                <a:spcPts val="1800"/>
              </a:lnSpc>
              <a:buSzPts val="1000"/>
              <a:buFont typeface="Wingdings" panose="05000000000000000000" pitchFamily="2" charset="2"/>
              <a:buChar char="q"/>
              <a:tabLst>
                <a:tab pos="457200" algn="l"/>
              </a:tabLst>
            </a:pPr>
            <a:r>
              <a:rPr lang="en-US" dirty="0">
                <a:solidFill>
                  <a:srgbClr val="000000"/>
                </a:solidFill>
                <a:effectLst/>
                <a:ea typeface="Times New Roman" panose="02020603050405020304" pitchFamily="18" charset="0"/>
                <a:cs typeface="Times New Roman" panose="02020603050405020304" pitchFamily="18" charset="0"/>
              </a:rPr>
              <a:t>If no matches are found, return -1.</a:t>
            </a:r>
            <a:endParaRPr lang="en-US" dirty="0">
              <a:effectLst/>
              <a:ea typeface="Calibri" panose="020F0502020204030204" pitchFamily="34" charset="0"/>
              <a:cs typeface="Times New Roman" panose="02020603050405020304" pitchFamily="18" charset="0"/>
            </a:endParaRPr>
          </a:p>
          <a:p>
            <a:pPr marL="742950" lvl="1" indent="-285750">
              <a:lnSpc>
                <a:spcPts val="1800"/>
              </a:lnSpc>
              <a:buSzPts val="1000"/>
              <a:buFont typeface="Wingdings" panose="05000000000000000000" pitchFamily="2" charset="2"/>
              <a:buChar char="q"/>
              <a:tabLst>
                <a:tab pos="457200" algn="l"/>
              </a:tabLst>
            </a:pPr>
            <a:r>
              <a:rPr lang="en-US" dirty="0">
                <a:solidFill>
                  <a:srgbClr val="000000"/>
                </a:solidFill>
                <a:effectLst/>
                <a:ea typeface="Times New Roman" panose="02020603050405020304" pitchFamily="18" charset="0"/>
                <a:cs typeface="Times New Roman" panose="02020603050405020304" pitchFamily="18" charset="0"/>
              </a:rPr>
              <a:t>Otherwise, return the index at which the element is present.</a:t>
            </a:r>
            <a:endParaRPr lang="en-US" dirty="0">
              <a:effectLst/>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dirty="0">
                <a:effectLst/>
                <a:ea typeface="Calibri" panose="020F0502020204030204" pitchFamily="34" charset="0"/>
                <a:cs typeface="Times New Roman" panose="02020603050405020304" pitchFamily="18" charset="0"/>
              </a:rPr>
              <a:t> </a:t>
            </a:r>
            <a:r>
              <a:rPr lang="en-US" b="1" dirty="0">
                <a:solidFill>
                  <a:srgbClr val="000000"/>
                </a:solidFill>
                <a:effectLst/>
                <a:ea typeface="Times New Roman" panose="02020603050405020304" pitchFamily="18" charset="0"/>
                <a:cs typeface="Times New Roman" panose="02020603050405020304" pitchFamily="18" charset="0"/>
              </a:rPr>
              <a:t>Pseudocode</a:t>
            </a:r>
            <a:endParaRPr lang="en-US" b="1" dirty="0">
              <a:solidFill>
                <a:srgbClr val="2F5496"/>
              </a:solidFill>
              <a:effectLst/>
              <a:ea typeface="Times New Roman" panose="02020603050405020304" pitchFamily="18" charset="0"/>
              <a:cs typeface="Times New Roman" panose="02020603050405020304" pitchFamily="18" charset="0"/>
            </a:endParaRPr>
          </a:p>
          <a:p>
            <a:pPr marL="0" marR="0" algn="just">
              <a:spcBef>
                <a:spcPts val="0"/>
              </a:spcBef>
              <a:spcAft>
                <a:spcPts val="0"/>
              </a:spcAft>
            </a:pPr>
            <a:r>
              <a:rPr lang="en-US" dirty="0">
                <a:solidFill>
                  <a:srgbClr val="444444"/>
                </a:solidFill>
                <a:effectLst/>
                <a:ea typeface="Calibri" panose="020F0502020204030204" pitchFamily="34" charset="0"/>
                <a:cs typeface="Times New Roman" panose="02020603050405020304" pitchFamily="18" charset="0"/>
              </a:rPr>
              <a:t>Pseudocode is an informal way of writing a program. It is not exactly a computer program. It represents the algorithm of the program in natural language and mathematical notations. Usually, there is no particular code syntax to write a pseudocode. Therefore, there is no strict syntax as a usual programming language. It uses simple English language.</a:t>
            </a:r>
            <a:endParaRPr lang="en-US"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264787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0" marR="0" fontAlgn="base">
              <a:lnSpc>
                <a:spcPct val="107000"/>
              </a:lnSpc>
              <a:spcBef>
                <a:spcPts val="0"/>
              </a:spcBef>
              <a:spcAft>
                <a:spcPts val="0"/>
              </a:spcAft>
            </a:pPr>
            <a:r>
              <a:rPr lang="en-US" sz="1800" b="1" kern="1800" dirty="0">
                <a:solidFill>
                  <a:srgbClr val="273239"/>
                </a:solidFill>
                <a:effectLst/>
                <a:latin typeface="Arial" panose="020B0604020202020204" pitchFamily="34" charset="0"/>
                <a:ea typeface="Times New Roman" panose="02020603050405020304" pitchFamily="18" charset="0"/>
                <a:cs typeface="Times New Roman" panose="02020603050405020304" pitchFamily="18" charset="0"/>
              </a:rPr>
              <a:t>Difference between Algorithm, Pseudocode and Program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prstClr val="white"/>
                </a:solidFill>
              </a:rPr>
              <a:pPr/>
              <a:t>March 13, 2024</a:t>
            </a:fld>
            <a:endParaRPr lang="en-US">
              <a:solidFill>
                <a:prstClr val="white"/>
              </a:solidFill>
            </a:endParaRPr>
          </a:p>
        </p:txBody>
      </p:sp>
      <p:sp>
        <p:nvSpPr>
          <p:cNvPr id="5" name="Footer Placeholder 4"/>
          <p:cNvSpPr>
            <a:spLocks noGrp="1"/>
          </p:cNvSpPr>
          <p:nvPr>
            <p:ph type="ftr" sz="quarter" idx="11"/>
          </p:nvPr>
        </p:nvSpPr>
        <p:spPr/>
        <p:txBody>
          <a:bodyPr/>
          <a:lstStyle/>
          <a:p>
            <a:r>
              <a:rPr lang="en-US" dirty="0">
                <a:solidFill>
                  <a:prstClr val="white"/>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prstClr val="white"/>
                </a:solidFill>
              </a:rPr>
              <a:pPr/>
              <a:t>7</a:t>
            </a:fld>
            <a:endParaRPr lang="en-US" dirty="0">
              <a:solidFill>
                <a:prstClr val="white"/>
              </a:solidFill>
            </a:endParaRPr>
          </a:p>
        </p:txBody>
      </p:sp>
      <p:sp>
        <p:nvSpPr>
          <p:cNvPr id="7" name="TextBox 6">
            <a:extLst>
              <a:ext uri="{FF2B5EF4-FFF2-40B4-BE49-F238E27FC236}">
                <a16:creationId xmlns:a16="http://schemas.microsoft.com/office/drawing/2014/main" id="{50051445-0799-AFCE-E0F7-FAB185BD6328}"/>
              </a:ext>
            </a:extLst>
          </p:cNvPr>
          <p:cNvSpPr txBox="1"/>
          <p:nvPr/>
        </p:nvSpPr>
        <p:spPr>
          <a:xfrm>
            <a:off x="523875" y="1676400"/>
            <a:ext cx="7848600" cy="3894399"/>
          </a:xfrm>
          <a:prstGeom prst="rect">
            <a:avLst/>
          </a:prstGeom>
          <a:noFill/>
        </p:spPr>
        <p:txBody>
          <a:bodyPr wrap="square">
            <a:spAutoFit/>
          </a:bodyPr>
          <a:lstStyle/>
          <a:p>
            <a:pPr marL="0" marR="0">
              <a:lnSpc>
                <a:spcPct val="107000"/>
              </a:lnSpc>
              <a:spcBef>
                <a:spcPts val="600"/>
              </a:spcBef>
              <a:spcAft>
                <a:spcPts val="6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000000"/>
                </a:solidFill>
                <a:effectLst/>
                <a:latin typeface="var(--bs-font-monospace)"/>
                <a:ea typeface="Times New Roman" panose="02020603050405020304" pitchFamily="18" charset="0"/>
                <a:cs typeface="Courier New" panose="02070309020205020404" pitchFamily="49" charset="0"/>
              </a:rPr>
              <a:t>FUNCTION linear_search</a:t>
            </a:r>
            <a:r>
              <a:rPr lang="en-US" sz="1800" dirty="0">
                <a:solidFill>
                  <a:srgbClr val="666600"/>
                </a:solidFill>
                <a:effectLst/>
                <a:latin typeface="var(--bs-font-monospace)"/>
                <a:ea typeface="Times New Roman" panose="02020603050405020304" pitchFamily="18" charset="0"/>
                <a:cs typeface="Courier New" panose="02070309020205020404" pitchFamily="49" charset="0"/>
              </a:rPr>
              <a:t>(</a:t>
            </a:r>
            <a:r>
              <a:rPr lang="en-US" sz="1800" dirty="0">
                <a:solidFill>
                  <a:srgbClr val="000000"/>
                </a:solidFill>
                <a:effectLst/>
                <a:latin typeface="var(--bs-font-monospace)"/>
                <a:ea typeface="Times New Roman" panose="02020603050405020304" pitchFamily="18" charset="0"/>
                <a:cs typeface="Courier New" panose="02070309020205020404" pitchFamily="49" charset="0"/>
              </a:rPr>
              <a:t>array</a:t>
            </a:r>
            <a:r>
              <a:rPr lang="en-US" sz="1800" dirty="0">
                <a:solidFill>
                  <a:srgbClr val="666600"/>
                </a:solidFill>
                <a:effectLst/>
                <a:latin typeface="var(--bs-font-monospace)"/>
                <a:ea typeface="Times New Roman" panose="02020603050405020304" pitchFamily="18" charset="0"/>
                <a:cs typeface="Courier New" panose="02070309020205020404" pitchFamily="49" charset="0"/>
              </a:rPr>
              <a:t>,</a:t>
            </a:r>
            <a:r>
              <a:rPr lang="en-US" sz="1800" dirty="0">
                <a:solidFill>
                  <a:srgbClr val="000000"/>
                </a:solidFill>
                <a:effectLst/>
                <a:latin typeface="var(--bs-font-monospace)"/>
                <a:ea typeface="Times New Roman" panose="02020603050405020304" pitchFamily="18" charset="0"/>
                <a:cs typeface="Courier New" panose="02070309020205020404" pitchFamily="49" charset="0"/>
              </a:rPr>
              <a:t> search_item</a:t>
            </a:r>
            <a:r>
              <a:rPr lang="en-US" sz="1800" dirty="0">
                <a:solidFill>
                  <a:srgbClr val="666600"/>
                </a:solidFill>
                <a:effectLst/>
                <a:latin typeface="var(--bs-font-monospace)"/>
                <a:ea typeface="Times New Roman" panose="02020603050405020304" pitchFamily="18" charset="0"/>
                <a:cs typeface="Courier New" panose="02070309020205020404" pitchFamily="49"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600"/>
              </a:spcBef>
              <a:spcAft>
                <a:spcPts val="6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000000"/>
                </a:solidFill>
                <a:effectLst/>
                <a:latin typeface="var(--bs-font-monospace)"/>
                <a:ea typeface="Times New Roman" panose="02020603050405020304" pitchFamily="18" charset="0"/>
                <a:cs typeface="Courier New" panose="02070309020205020404" pitchFamily="49" charset="0"/>
              </a:rPr>
              <a:t>   FOR index FROM </a:t>
            </a:r>
            <a:r>
              <a:rPr lang="en-US" sz="1800" dirty="0">
                <a:solidFill>
                  <a:srgbClr val="006666"/>
                </a:solidFill>
                <a:effectLst/>
                <a:latin typeface="var(--bs-font-monospace)"/>
                <a:ea typeface="Times New Roman" panose="02020603050405020304" pitchFamily="18" charset="0"/>
                <a:cs typeface="Courier New" panose="02070309020205020404" pitchFamily="49" charset="0"/>
              </a:rPr>
              <a:t>0</a:t>
            </a:r>
            <a:r>
              <a:rPr lang="en-US" sz="1800" dirty="0">
                <a:solidFill>
                  <a:srgbClr val="000000"/>
                </a:solidFill>
                <a:effectLst/>
                <a:latin typeface="var(--bs-font-monospace)"/>
                <a:ea typeface="Times New Roman" panose="02020603050405020304" pitchFamily="18" charset="0"/>
                <a:cs typeface="Courier New" panose="02070309020205020404" pitchFamily="49" charset="0"/>
              </a:rPr>
              <a:t> </a:t>
            </a:r>
            <a:r>
              <a:rPr lang="en-US" sz="1800" dirty="0">
                <a:solidFill>
                  <a:srgbClr val="666600"/>
                </a:solidFill>
                <a:effectLst/>
                <a:latin typeface="var(--bs-font-monospace)"/>
                <a:ea typeface="Times New Roman" panose="02020603050405020304" pitchFamily="18" charset="0"/>
                <a:cs typeface="Courier New" panose="02070309020205020404" pitchFamily="49" charset="0"/>
              </a:rPr>
              <a:t>to </a:t>
            </a:r>
            <a:r>
              <a:rPr lang="en-US" sz="1800" dirty="0">
                <a:solidFill>
                  <a:srgbClr val="000000"/>
                </a:solidFill>
                <a:effectLst/>
                <a:latin typeface="var(--bs-font-monospace)"/>
                <a:ea typeface="Times New Roman" panose="02020603050405020304" pitchFamily="18" charset="0"/>
                <a:cs typeface="Courier New" panose="02070309020205020404" pitchFamily="49" charset="0"/>
              </a:rPr>
              <a:t> length</a:t>
            </a:r>
            <a:r>
              <a:rPr lang="en-US" sz="1800" dirty="0">
                <a:solidFill>
                  <a:srgbClr val="666600"/>
                </a:solidFill>
                <a:effectLst/>
                <a:latin typeface="var(--bs-font-monospace)"/>
                <a:ea typeface="Times New Roman" panose="02020603050405020304" pitchFamily="18" charset="0"/>
                <a:cs typeface="Courier New" panose="02070309020205020404" pitchFamily="49" charset="0"/>
              </a:rPr>
              <a:t>(</a:t>
            </a:r>
            <a:r>
              <a:rPr lang="en-US" sz="1800" dirty="0">
                <a:solidFill>
                  <a:srgbClr val="000000"/>
                </a:solidFill>
                <a:effectLst/>
                <a:latin typeface="var(--bs-font-monospace)"/>
                <a:ea typeface="Times New Roman" panose="02020603050405020304" pitchFamily="18" charset="0"/>
                <a:cs typeface="Courier New" panose="02070309020205020404" pitchFamily="49" charset="0"/>
              </a:rPr>
              <a:t>array</a:t>
            </a:r>
            <a:r>
              <a:rPr lang="en-US" sz="1800" dirty="0">
                <a:solidFill>
                  <a:srgbClr val="666600"/>
                </a:solidFill>
                <a:effectLst/>
                <a:latin typeface="var(--bs-font-monospace)"/>
                <a:ea typeface="Times New Roman" panose="02020603050405020304" pitchFamily="18" charset="0"/>
                <a:cs typeface="Courier New" panose="02070309020205020404" pitchFamily="49"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600"/>
              </a:spcBef>
              <a:spcAft>
                <a:spcPts val="6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000000"/>
                </a:solidFill>
                <a:effectLst/>
                <a:latin typeface="var(--bs-font-monospace)"/>
                <a:ea typeface="Times New Roman" panose="02020603050405020304" pitchFamily="18" charset="0"/>
                <a:cs typeface="Courier New" panose="02070309020205020404" pitchFamily="49" charset="0"/>
              </a:rPr>
              <a:t>   IF array </a:t>
            </a:r>
            <a:r>
              <a:rPr lang="en-US" sz="1800" dirty="0">
                <a:solidFill>
                  <a:srgbClr val="666600"/>
                </a:solidFill>
                <a:effectLst/>
                <a:latin typeface="var(--bs-font-monospace)"/>
                <a:ea typeface="Times New Roman" panose="02020603050405020304" pitchFamily="18" charset="0"/>
                <a:cs typeface="Courier New" panose="02070309020205020404" pitchFamily="49" charset="0"/>
              </a:rPr>
              <a:t>[</a:t>
            </a:r>
            <a:r>
              <a:rPr lang="en-US" sz="1800" dirty="0">
                <a:solidFill>
                  <a:srgbClr val="000000"/>
                </a:solidFill>
                <a:effectLst/>
                <a:latin typeface="var(--bs-font-monospace)"/>
                <a:ea typeface="Times New Roman" panose="02020603050405020304" pitchFamily="18" charset="0"/>
                <a:cs typeface="Courier New" panose="02070309020205020404" pitchFamily="49" charset="0"/>
              </a:rPr>
              <a:t>index</a:t>
            </a:r>
            <a:r>
              <a:rPr lang="en-US" sz="1800" dirty="0">
                <a:solidFill>
                  <a:srgbClr val="666600"/>
                </a:solidFill>
                <a:effectLst/>
                <a:latin typeface="var(--bs-font-monospace)"/>
                <a:ea typeface="Times New Roman" panose="02020603050405020304" pitchFamily="18" charset="0"/>
                <a:cs typeface="Courier New" panose="02070309020205020404" pitchFamily="49" charset="0"/>
              </a:rPr>
              <a:t>]</a:t>
            </a:r>
            <a:r>
              <a:rPr lang="en-US" sz="1800" dirty="0">
                <a:solidFill>
                  <a:srgbClr val="000000"/>
                </a:solidFill>
                <a:effectLst/>
                <a:latin typeface="var(--bs-font-monospace)"/>
                <a:ea typeface="Times New Roman" panose="02020603050405020304" pitchFamily="18" charset="0"/>
                <a:cs typeface="Courier New" panose="02070309020205020404" pitchFamily="49" charset="0"/>
              </a:rPr>
              <a:t> </a:t>
            </a:r>
            <a:r>
              <a:rPr lang="en-US" sz="1800" dirty="0">
                <a:solidFill>
                  <a:srgbClr val="666600"/>
                </a:solidFill>
                <a:effectLst/>
                <a:latin typeface="var(--bs-font-monospace)"/>
                <a:ea typeface="Times New Roman" panose="02020603050405020304" pitchFamily="18" charset="0"/>
                <a:cs typeface="Courier New" panose="02070309020205020404" pitchFamily="49" charset="0"/>
              </a:rPr>
              <a:t>==</a:t>
            </a:r>
            <a:r>
              <a:rPr lang="en-US" sz="1800" dirty="0">
                <a:solidFill>
                  <a:srgbClr val="000000"/>
                </a:solidFill>
                <a:effectLst/>
                <a:latin typeface="var(--bs-font-monospace)"/>
                <a:ea typeface="Times New Roman" panose="02020603050405020304" pitchFamily="18" charset="0"/>
                <a:cs typeface="Courier New" panose="02070309020205020404" pitchFamily="49" charset="0"/>
              </a:rPr>
              <a:t> search_item THEN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600"/>
              </a:spcBef>
              <a:spcAft>
                <a:spcPts val="6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000000"/>
                </a:solidFill>
                <a:effectLst/>
                <a:latin typeface="var(--bs-font-monospace)"/>
                <a:ea typeface="Times New Roman" panose="02020603050405020304" pitchFamily="18" charset="0"/>
                <a:cs typeface="Courier New" panose="02070309020205020404" pitchFamily="49" charset="0"/>
              </a:rPr>
              <a:t>      RETURN index</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600"/>
              </a:spcBef>
              <a:spcAft>
                <a:spcPts val="6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000000"/>
                </a:solidFill>
                <a:effectLst/>
                <a:latin typeface="var(--bs-font-monospace)"/>
                <a:ea typeface="Times New Roman" panose="02020603050405020304" pitchFamily="18" charset="0"/>
                <a:cs typeface="Courier New" panose="02070309020205020404" pitchFamily="49" charset="0"/>
              </a:rPr>
              <a:t>   ENDIF</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600"/>
              </a:spcBef>
              <a:spcAft>
                <a:spcPts val="6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000000"/>
                </a:solidFill>
                <a:effectLst/>
                <a:latin typeface="var(--bs-font-monospace)"/>
                <a:ea typeface="Times New Roman" panose="02020603050405020304" pitchFamily="18" charset="0"/>
                <a:cs typeface="Courier New" panose="02070309020205020404" pitchFamily="49" charset="0"/>
              </a:rPr>
              <a:t>   ENDLOOP</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600"/>
              </a:spcBef>
              <a:spcAft>
                <a:spcPts val="6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000000"/>
                </a:solidFill>
                <a:effectLst/>
                <a:latin typeface="var(--bs-font-monospace)"/>
                <a:ea typeface="Times New Roman" panose="02020603050405020304" pitchFamily="18" charset="0"/>
                <a:cs typeface="Courier New" panose="02070309020205020404" pitchFamily="49" charset="0"/>
              </a:rPr>
              <a:t>      RETURN </a:t>
            </a:r>
            <a:r>
              <a:rPr lang="en-US" sz="1800" dirty="0">
                <a:solidFill>
                  <a:srgbClr val="666600"/>
                </a:solidFill>
                <a:effectLst/>
                <a:latin typeface="var(--bs-font-monospace)"/>
                <a:ea typeface="Times New Roman" panose="02020603050405020304" pitchFamily="18" charset="0"/>
                <a:cs typeface="Courier New" panose="02070309020205020404" pitchFamily="49" charset="0"/>
              </a:rPr>
              <a:t>-</a:t>
            </a:r>
            <a:r>
              <a:rPr lang="en-US" sz="1800" dirty="0">
                <a:solidFill>
                  <a:srgbClr val="006666"/>
                </a:solidFill>
                <a:effectLst/>
                <a:latin typeface="var(--bs-font-monospace)"/>
                <a:ea typeface="Times New Roman" panose="02020603050405020304" pitchFamily="18" charset="0"/>
                <a:cs typeface="Courier New" panose="02070309020205020404" pitchFamily="49" charset="0"/>
              </a:rPr>
              <a:t>1</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600"/>
              </a:spcBef>
              <a:spcAft>
                <a:spcPts val="6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000088"/>
                </a:solidFill>
                <a:effectLst/>
                <a:latin typeface="var(--bs-font-monospace)"/>
                <a:ea typeface="Times New Roman" panose="02020603050405020304" pitchFamily="18" charset="0"/>
                <a:cs typeface="Courier New" panose="02070309020205020404" pitchFamily="49" charset="0"/>
              </a:rPr>
              <a:t>END</a:t>
            </a:r>
            <a:r>
              <a:rPr lang="en-US" sz="1800" dirty="0">
                <a:solidFill>
                  <a:srgbClr val="000000"/>
                </a:solidFill>
                <a:effectLst/>
                <a:latin typeface="var(--bs-font-monospace)"/>
                <a:ea typeface="Times New Roman" panose="02020603050405020304" pitchFamily="18" charset="0"/>
                <a:cs typeface="Courier New" panose="02070309020205020404" pitchFamily="49" charset="0"/>
              </a:rPr>
              <a:t> FUNCTION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spcBef>
                <a:spcPts val="0"/>
              </a:spcBef>
              <a:spcAft>
                <a:spcPts val="0"/>
              </a:spcAft>
            </a:pPr>
            <a:endParaRPr lang="en-US"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295205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ALGORITHM</a:t>
            </a:r>
            <a:r>
              <a:rPr lang="en-US" sz="1800" b="1" spc="6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SPECIFICATION</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prstClr val="white"/>
                </a:solidFill>
              </a:rPr>
              <a:pPr/>
              <a:t>March 13, 2024</a:t>
            </a:fld>
            <a:endParaRPr lang="en-US">
              <a:solidFill>
                <a:prstClr val="white"/>
              </a:solidFill>
            </a:endParaRPr>
          </a:p>
        </p:txBody>
      </p:sp>
      <p:sp>
        <p:nvSpPr>
          <p:cNvPr id="5" name="Footer Placeholder 4"/>
          <p:cNvSpPr>
            <a:spLocks noGrp="1"/>
          </p:cNvSpPr>
          <p:nvPr>
            <p:ph type="ftr" sz="quarter" idx="11"/>
          </p:nvPr>
        </p:nvSpPr>
        <p:spPr/>
        <p:txBody>
          <a:bodyPr/>
          <a:lstStyle/>
          <a:p>
            <a:r>
              <a:rPr lang="en-US" dirty="0">
                <a:solidFill>
                  <a:prstClr val="white"/>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prstClr val="white"/>
                </a:solidFill>
              </a:rPr>
              <a:pPr/>
              <a:t>8</a:t>
            </a:fld>
            <a:endParaRPr lang="en-US" dirty="0">
              <a:solidFill>
                <a:prstClr val="white"/>
              </a:solidFill>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C2B1F6A-6A6F-5F7C-E8A6-EA36A84F977B}"/>
                  </a:ext>
                </a:extLst>
              </p:cNvPr>
              <p:cNvSpPr txBox="1"/>
              <p:nvPr/>
            </p:nvSpPr>
            <p:spPr>
              <a:xfrm>
                <a:off x="457200" y="1447800"/>
                <a:ext cx="8153400" cy="4356577"/>
              </a:xfrm>
              <a:prstGeom prst="rect">
                <a:avLst/>
              </a:prstGeom>
              <a:noFill/>
            </p:spPr>
            <p:txBody>
              <a:bodyPr wrap="square">
                <a:spAutoFit/>
              </a:bodyPr>
              <a:lstStyle/>
              <a:p>
                <a:pPr marL="64770" marR="151130" indent="191770" algn="just">
                  <a:lnSpc>
                    <a:spcPct val="95000"/>
                  </a:lnSpc>
                  <a:spcBef>
                    <a:spcPts val="210"/>
                  </a:spcBef>
                  <a:spcAft>
                    <a:spcPts val="0"/>
                  </a:spcAft>
                </a:pPr>
                <a:r>
                  <a:rPr lang="en-US" sz="1800" dirty="0">
                    <a:effectLst/>
                    <a:ea typeface="Times New Roman" panose="02020603050405020304" pitchFamily="18" charset="0"/>
                    <a:cs typeface="Times New Roman" panose="02020603050405020304" pitchFamily="18" charset="0"/>
                  </a:rPr>
                  <a:t>Most of the algorithms using</a:t>
                </a:r>
                <a:r>
                  <a:rPr lang="en-US" sz="1800" spc="65" dirty="0">
                    <a:effectLst/>
                    <a:ea typeface="Times New Roman" panose="02020603050405020304" pitchFamily="18" charset="0"/>
                    <a:cs typeface="Times New Roman" panose="02020603050405020304" pitchFamily="18" charset="0"/>
                  </a:rPr>
                  <a:t> </a:t>
                </a:r>
                <a:r>
                  <a:rPr lang="en-US" sz="1800" dirty="0">
                    <a:effectLst/>
                    <a:ea typeface="Times New Roman" panose="02020603050405020304" pitchFamily="18" charset="0"/>
                    <a:cs typeface="Times New Roman" panose="02020603050405020304" pitchFamily="18" charset="0"/>
                  </a:rPr>
                  <a:t>a pseudocode</a:t>
                </a:r>
                <a:r>
                  <a:rPr lang="en-US" sz="1800" spc="55" dirty="0">
                    <a:effectLst/>
                    <a:ea typeface="Times New Roman" panose="02020603050405020304" pitchFamily="18" charset="0"/>
                    <a:cs typeface="Times New Roman" panose="02020603050405020304" pitchFamily="18" charset="0"/>
                  </a:rPr>
                  <a:t> </a:t>
                </a:r>
                <a:r>
                  <a:rPr lang="en-US" sz="1800" spc="25" dirty="0">
                    <a:effectLst/>
                    <a:ea typeface="Times New Roman" panose="02020603050405020304" pitchFamily="18" charset="0"/>
                    <a:cs typeface="Times New Roman" panose="02020603050405020304" pitchFamily="18" charset="0"/>
                  </a:rPr>
                  <a:t>follows the following conventions</a:t>
                </a:r>
                <a:endParaRPr lang="en-US" sz="1800" dirty="0">
                  <a:effectLst/>
                  <a:ea typeface="Times New Roman" panose="02020603050405020304" pitchFamily="18" charset="0"/>
                  <a:cs typeface="Times New Roman" panose="02020603050405020304" pitchFamily="18" charset="0"/>
                </a:endParaRPr>
              </a:p>
              <a:p>
                <a:pPr marL="0" marR="0">
                  <a:spcBef>
                    <a:spcPts val="35"/>
                  </a:spcBef>
                  <a:spcAft>
                    <a:spcPts val="0"/>
                  </a:spcAft>
                </a:pPr>
                <a:r>
                  <a:rPr lang="en-US" sz="2400" dirty="0">
                    <a:effectLst/>
                    <a:ea typeface="Times New Roman" panose="02020603050405020304" pitchFamily="18" charset="0"/>
                    <a:cs typeface="Times New Roman" panose="02020603050405020304" pitchFamily="18" charset="0"/>
                  </a:rPr>
                  <a:t> </a:t>
                </a:r>
                <a:r>
                  <a:rPr lang="en-US" sz="2400" b="1" dirty="0">
                    <a:effectLst/>
                    <a:ea typeface="Times New Roman" panose="02020603050405020304" pitchFamily="18" charset="0"/>
                    <a:cs typeface="Times New Roman" panose="02020603050405020304" pitchFamily="18" charset="0"/>
                  </a:rPr>
                  <a:t>Pseudocode</a:t>
                </a:r>
                <a:r>
                  <a:rPr lang="en-US" sz="2400" b="1" dirty="0">
                    <a:ea typeface="Times New Roman" panose="02020603050405020304" pitchFamily="18" charset="0"/>
                    <a:cs typeface="Times New Roman" panose="02020603050405020304" pitchFamily="18" charset="0"/>
                  </a:rPr>
                  <a:t> conventions </a:t>
                </a:r>
                <a:endParaRPr lang="en-US" sz="2000" b="1" dirty="0">
                  <a:effectLst/>
                  <a:ea typeface="Calibri" panose="020F0502020204030204" pitchFamily="34" charset="0"/>
                  <a:cs typeface="Times New Roman" panose="02020603050405020304" pitchFamily="18" charset="0"/>
                </a:endParaRPr>
              </a:p>
              <a:p>
                <a:pPr marL="596900" marR="0" indent="-342900">
                  <a:spcBef>
                    <a:spcPts val="0"/>
                  </a:spcBef>
                  <a:spcAft>
                    <a:spcPts val="0"/>
                  </a:spcAft>
                  <a:buFont typeface="+mj-lt"/>
                  <a:buAutoNum type="arabicPeriod"/>
                </a:pPr>
                <a:r>
                  <a:rPr lang="en-US" sz="1800" dirty="0">
                    <a:effectLst/>
                    <a:ea typeface="Times New Roman" panose="02020603050405020304" pitchFamily="18" charset="0"/>
                    <a:cs typeface="Times New Roman" panose="02020603050405020304" pitchFamily="18" charset="0"/>
                  </a:rPr>
                  <a:t>Comments begin</a:t>
                </a:r>
                <a:r>
                  <a:rPr lang="en-US" sz="1800" spc="5" dirty="0">
                    <a:effectLst/>
                    <a:ea typeface="Times New Roman" panose="02020603050405020304" pitchFamily="18" charset="0"/>
                    <a:cs typeface="Times New Roman" panose="02020603050405020304" pitchFamily="18" charset="0"/>
                  </a:rPr>
                  <a:t> </a:t>
                </a:r>
                <a:r>
                  <a:rPr lang="en-US" sz="1800" dirty="0">
                    <a:effectLst/>
                    <a:ea typeface="Times New Roman" panose="02020603050405020304" pitchFamily="18" charset="0"/>
                    <a:cs typeface="Times New Roman" panose="02020603050405020304" pitchFamily="18" charset="0"/>
                  </a:rPr>
                  <a:t>wit</a:t>
                </a:r>
                <a:r>
                  <a:rPr lang="en-US" sz="1800" spc="-205" dirty="0">
                    <a:effectLst/>
                    <a:ea typeface="Times New Roman" panose="02020603050405020304" pitchFamily="18" charset="0"/>
                    <a:cs typeface="Times New Roman" panose="02020603050405020304" pitchFamily="18" charset="0"/>
                  </a:rPr>
                  <a:t> </a:t>
                </a:r>
                <a:r>
                  <a:rPr lang="en-US" sz="1800" dirty="0">
                    <a:effectLst/>
                    <a:ea typeface="Times New Roman" panose="02020603050405020304" pitchFamily="18" charset="0"/>
                    <a:cs typeface="Times New Roman" panose="02020603050405020304" pitchFamily="18" charset="0"/>
                  </a:rPr>
                  <a:t>h</a:t>
                </a:r>
                <a:r>
                  <a:rPr lang="en-US" sz="1800" spc="5" dirty="0">
                    <a:effectLst/>
                    <a:ea typeface="Times New Roman" panose="02020603050405020304" pitchFamily="18" charset="0"/>
                    <a:cs typeface="Times New Roman" panose="02020603050405020304" pitchFamily="18" charset="0"/>
                  </a:rPr>
                  <a:t> </a:t>
                </a:r>
                <a:r>
                  <a:rPr lang="en-US" sz="1800" dirty="0">
                    <a:effectLst/>
                    <a:ea typeface="Times New Roman" panose="02020603050405020304" pitchFamily="18" charset="0"/>
                    <a:cs typeface="Times New Roman" panose="02020603050405020304" pitchFamily="18" charset="0"/>
                  </a:rPr>
                  <a:t>/</a:t>
                </a:r>
                <a:r>
                  <a:rPr lang="en-US" sz="1800" spc="-290" dirty="0">
                    <a:effectLst/>
                    <a:ea typeface="Times New Roman" panose="02020603050405020304" pitchFamily="18" charset="0"/>
                    <a:cs typeface="Times New Roman" panose="02020603050405020304" pitchFamily="18" charset="0"/>
                  </a:rPr>
                  <a:t> </a:t>
                </a:r>
                <a:r>
                  <a:rPr lang="en-US" sz="1800" dirty="0">
                    <a:effectLst/>
                    <a:ea typeface="Times New Roman" panose="02020603050405020304" pitchFamily="18" charset="0"/>
                    <a:cs typeface="Times New Roman" panose="02020603050405020304" pitchFamily="18" charset="0"/>
                  </a:rPr>
                  <a:t>/</a:t>
                </a:r>
                <a:r>
                  <a:rPr lang="en-US" sz="1800" spc="-80" dirty="0">
                    <a:effectLst/>
                    <a:ea typeface="Times New Roman" panose="02020603050405020304" pitchFamily="18" charset="0"/>
                    <a:cs typeface="Times New Roman" panose="02020603050405020304" pitchFamily="18" charset="0"/>
                  </a:rPr>
                  <a:t> </a:t>
                </a:r>
                <a:r>
                  <a:rPr lang="en-US" sz="1800" dirty="0">
                    <a:effectLst/>
                    <a:ea typeface="Times New Roman" panose="02020603050405020304" pitchFamily="18" charset="0"/>
                    <a:cs typeface="Times New Roman" panose="02020603050405020304" pitchFamily="18" charset="0"/>
                  </a:rPr>
                  <a:t>and</a:t>
                </a:r>
                <a:r>
                  <a:rPr lang="en-US" sz="1800" spc="-35" dirty="0">
                    <a:effectLst/>
                    <a:ea typeface="Times New Roman" panose="02020603050405020304" pitchFamily="18" charset="0"/>
                    <a:cs typeface="Times New Roman" panose="02020603050405020304" pitchFamily="18" charset="0"/>
                  </a:rPr>
                  <a:t> </a:t>
                </a:r>
                <a:r>
                  <a:rPr lang="en-US" sz="1800" dirty="0">
                    <a:effectLst/>
                    <a:ea typeface="Times New Roman" panose="02020603050405020304" pitchFamily="18" charset="0"/>
                    <a:cs typeface="Times New Roman" panose="02020603050405020304" pitchFamily="18" charset="0"/>
                  </a:rPr>
                  <a:t>continue</a:t>
                </a:r>
                <a:r>
                  <a:rPr lang="en-US" sz="1800" spc="10" dirty="0">
                    <a:effectLst/>
                    <a:ea typeface="Times New Roman" panose="02020603050405020304" pitchFamily="18" charset="0"/>
                    <a:cs typeface="Times New Roman" panose="02020603050405020304" pitchFamily="18" charset="0"/>
                  </a:rPr>
                  <a:t> </a:t>
                </a:r>
                <a:r>
                  <a:rPr lang="en-US" sz="1800" dirty="0">
                    <a:effectLst/>
                    <a:ea typeface="Times New Roman" panose="02020603050405020304" pitchFamily="18" charset="0"/>
                    <a:cs typeface="Times New Roman" panose="02020603050405020304" pitchFamily="18" charset="0"/>
                  </a:rPr>
                  <a:t>until</a:t>
                </a:r>
                <a:r>
                  <a:rPr lang="en-US" sz="1800" spc="-15" dirty="0">
                    <a:effectLst/>
                    <a:ea typeface="Times New Roman" panose="02020603050405020304" pitchFamily="18" charset="0"/>
                    <a:cs typeface="Times New Roman" panose="02020603050405020304" pitchFamily="18" charset="0"/>
                  </a:rPr>
                  <a:t> </a:t>
                </a:r>
                <a:r>
                  <a:rPr lang="en-US" sz="1800" dirty="0">
                    <a:effectLst/>
                    <a:ea typeface="Times New Roman" panose="02020603050405020304" pitchFamily="18" charset="0"/>
                    <a:cs typeface="Times New Roman" panose="02020603050405020304" pitchFamily="18" charset="0"/>
                  </a:rPr>
                  <a:t>t</a:t>
                </a:r>
                <a:r>
                  <a:rPr lang="en-US" sz="1800" spc="-210" dirty="0">
                    <a:effectLst/>
                    <a:ea typeface="Times New Roman" panose="02020603050405020304" pitchFamily="18" charset="0"/>
                    <a:cs typeface="Times New Roman" panose="02020603050405020304" pitchFamily="18" charset="0"/>
                  </a:rPr>
                  <a:t> </a:t>
                </a:r>
                <a:r>
                  <a:rPr lang="en-US" sz="1800" dirty="0">
                    <a:effectLst/>
                    <a:ea typeface="Times New Roman" panose="02020603050405020304" pitchFamily="18" charset="0"/>
                    <a:cs typeface="Times New Roman" panose="02020603050405020304" pitchFamily="18" charset="0"/>
                  </a:rPr>
                  <a:t>the</a:t>
                </a:r>
                <a:r>
                  <a:rPr lang="en-US" sz="1800" spc="-40" dirty="0">
                    <a:effectLst/>
                    <a:ea typeface="Times New Roman" panose="02020603050405020304" pitchFamily="18" charset="0"/>
                    <a:cs typeface="Times New Roman" panose="02020603050405020304" pitchFamily="18" charset="0"/>
                  </a:rPr>
                  <a:t> </a:t>
                </a:r>
                <a:r>
                  <a:rPr lang="en-US" sz="1800" dirty="0">
                    <a:effectLst/>
                    <a:ea typeface="Times New Roman" panose="02020603050405020304" pitchFamily="18" charset="0"/>
                    <a:cs typeface="Times New Roman" panose="02020603050405020304" pitchFamily="18" charset="0"/>
                  </a:rPr>
                  <a:t>end</a:t>
                </a:r>
                <a:r>
                  <a:rPr lang="en-US" sz="1800" spc="-15" dirty="0">
                    <a:effectLst/>
                    <a:ea typeface="Times New Roman" panose="02020603050405020304" pitchFamily="18" charset="0"/>
                    <a:cs typeface="Times New Roman" panose="02020603050405020304" pitchFamily="18" charset="0"/>
                  </a:rPr>
                  <a:t> </a:t>
                </a:r>
                <a:r>
                  <a:rPr lang="en-US" sz="1800" dirty="0">
                    <a:effectLst/>
                    <a:ea typeface="Times New Roman" panose="02020603050405020304" pitchFamily="18" charset="0"/>
                    <a:cs typeface="Times New Roman" panose="02020603050405020304" pitchFamily="18" charset="0"/>
                  </a:rPr>
                  <a:t>of</a:t>
                </a:r>
                <a:r>
                  <a:rPr lang="en-US" sz="1800" spc="-20" dirty="0">
                    <a:effectLst/>
                    <a:ea typeface="Times New Roman" panose="02020603050405020304" pitchFamily="18" charset="0"/>
                    <a:cs typeface="Times New Roman" panose="02020603050405020304" pitchFamily="18" charset="0"/>
                  </a:rPr>
                  <a:t> </a:t>
                </a:r>
                <a:r>
                  <a:rPr lang="en-US" sz="1800" dirty="0">
                    <a:effectLst/>
                    <a:ea typeface="Times New Roman" panose="02020603050405020304" pitchFamily="18" charset="0"/>
                    <a:cs typeface="Times New Roman" panose="02020603050405020304" pitchFamily="18" charset="0"/>
                  </a:rPr>
                  <a:t>line.</a:t>
                </a:r>
              </a:p>
              <a:p>
                <a:pPr marL="596900" marR="0" indent="-342900">
                  <a:spcBef>
                    <a:spcPts val="0"/>
                  </a:spcBef>
                  <a:spcAft>
                    <a:spcPts val="0"/>
                  </a:spcAft>
                  <a:buFont typeface="+mj-lt"/>
                  <a:buAutoNum type="arabicPeriod"/>
                </a:pPr>
                <a:r>
                  <a:rPr lang="en-US" sz="1800" dirty="0">
                    <a:effectLst/>
                    <a:ea typeface="Times New Roman" panose="02020603050405020304" pitchFamily="18" charset="0"/>
                    <a:cs typeface="Times New Roman" panose="02020603050405020304" pitchFamily="18" charset="0"/>
                  </a:rPr>
                  <a:t>Blocks</a:t>
                </a:r>
                <a:r>
                  <a:rPr lang="en-US" sz="1800" spc="240" dirty="0">
                    <a:effectLst/>
                    <a:ea typeface="Times New Roman" panose="02020603050405020304" pitchFamily="18" charset="0"/>
                    <a:cs typeface="Times New Roman" panose="02020603050405020304" pitchFamily="18" charset="0"/>
                  </a:rPr>
                  <a:t> </a:t>
                </a:r>
                <a:r>
                  <a:rPr lang="en-US" sz="1800" dirty="0">
                    <a:effectLst/>
                    <a:ea typeface="Times New Roman" panose="02020603050405020304" pitchFamily="18" charset="0"/>
                    <a:cs typeface="Times New Roman" panose="02020603050405020304" pitchFamily="18" charset="0"/>
                  </a:rPr>
                  <a:t>are</a:t>
                </a:r>
                <a:r>
                  <a:rPr lang="en-US" sz="1800" spc="205" dirty="0">
                    <a:effectLst/>
                    <a:ea typeface="Times New Roman" panose="02020603050405020304" pitchFamily="18" charset="0"/>
                    <a:cs typeface="Times New Roman" panose="02020603050405020304" pitchFamily="18" charset="0"/>
                  </a:rPr>
                  <a:t> </a:t>
                </a:r>
                <a:r>
                  <a:rPr lang="en-US" sz="1800" dirty="0">
                    <a:effectLst/>
                    <a:ea typeface="Times New Roman" panose="02020603050405020304" pitchFamily="18" charset="0"/>
                    <a:cs typeface="Times New Roman" panose="02020603050405020304" pitchFamily="18" charset="0"/>
                  </a:rPr>
                  <a:t>indicated</a:t>
                </a:r>
                <a:r>
                  <a:rPr lang="en-US" sz="1800" spc="240" dirty="0">
                    <a:effectLst/>
                    <a:ea typeface="Times New Roman" panose="02020603050405020304" pitchFamily="18" charset="0"/>
                    <a:cs typeface="Times New Roman" panose="02020603050405020304" pitchFamily="18" charset="0"/>
                  </a:rPr>
                  <a:t> </a:t>
                </a:r>
                <a:r>
                  <a:rPr lang="en-US" sz="1800" dirty="0">
                    <a:effectLst/>
                    <a:ea typeface="Times New Roman" panose="02020603050405020304" pitchFamily="18" charset="0"/>
                    <a:cs typeface="Times New Roman" panose="02020603050405020304" pitchFamily="18" charset="0"/>
                  </a:rPr>
                  <a:t>wit</a:t>
                </a:r>
                <a:r>
                  <a:rPr lang="en-US" sz="1800" spc="-155" dirty="0">
                    <a:effectLst/>
                    <a:ea typeface="Times New Roman" panose="02020603050405020304" pitchFamily="18" charset="0"/>
                    <a:cs typeface="Times New Roman" panose="02020603050405020304" pitchFamily="18" charset="0"/>
                  </a:rPr>
                  <a:t> </a:t>
                </a:r>
                <a:r>
                  <a:rPr lang="en-US" sz="1800" dirty="0">
                    <a:effectLst/>
                    <a:ea typeface="Times New Roman" panose="02020603050405020304" pitchFamily="18" charset="0"/>
                    <a:cs typeface="Times New Roman" panose="02020603050405020304" pitchFamily="18" charset="0"/>
                  </a:rPr>
                  <a:t>h</a:t>
                </a:r>
                <a:r>
                  <a:rPr lang="en-US" sz="1800" spc="205" dirty="0">
                    <a:effectLst/>
                    <a:ea typeface="Times New Roman" panose="02020603050405020304" pitchFamily="18" charset="0"/>
                    <a:cs typeface="Times New Roman" panose="02020603050405020304" pitchFamily="18" charset="0"/>
                  </a:rPr>
                  <a:t> </a:t>
                </a:r>
                <a:r>
                  <a:rPr lang="en-US" sz="1800" dirty="0">
                    <a:effectLst/>
                    <a:ea typeface="Times New Roman" panose="02020603050405020304" pitchFamily="18" charset="0"/>
                    <a:cs typeface="Times New Roman" panose="02020603050405020304" pitchFamily="18" charset="0"/>
                  </a:rPr>
                  <a:t>matching</a:t>
                </a:r>
                <a:r>
                  <a:rPr lang="en-US" sz="1800" spc="260" dirty="0">
                    <a:effectLst/>
                    <a:ea typeface="Times New Roman" panose="02020603050405020304" pitchFamily="18" charset="0"/>
                    <a:cs typeface="Times New Roman" panose="02020603050405020304" pitchFamily="18" charset="0"/>
                  </a:rPr>
                  <a:t> </a:t>
                </a:r>
                <a:r>
                  <a:rPr lang="en-US" sz="1800" dirty="0">
                    <a:effectLst/>
                    <a:ea typeface="Times New Roman" panose="02020603050405020304" pitchFamily="18" charset="0"/>
                    <a:cs typeface="Times New Roman" panose="02020603050405020304" pitchFamily="18" charset="0"/>
                  </a:rPr>
                  <a:t>braces:</a:t>
                </a:r>
                <a:r>
                  <a:rPr lang="en-US" sz="1800" spc="255" dirty="0">
                    <a:effectLst/>
                    <a:ea typeface="Times New Roman" panose="02020603050405020304" pitchFamily="18" charset="0"/>
                    <a:cs typeface="Times New Roman" panose="02020603050405020304" pitchFamily="18" charset="0"/>
                  </a:rPr>
                  <a:t> </a:t>
                </a:r>
                <a:r>
                  <a:rPr lang="en-US" sz="1800" dirty="0">
                    <a:effectLst/>
                    <a:ea typeface="Times New Roman" panose="02020603050405020304" pitchFamily="18" charset="0"/>
                    <a:cs typeface="Times New Roman" panose="02020603050405020304" pitchFamily="18" charset="0"/>
                  </a:rPr>
                  <a:t>{</a:t>
                </a:r>
                <a:r>
                  <a:rPr lang="en-US" sz="1800" spc="-95" dirty="0">
                    <a:effectLst/>
                    <a:ea typeface="Times New Roman" panose="02020603050405020304" pitchFamily="18" charset="0"/>
                    <a:cs typeface="Times New Roman" panose="02020603050405020304" pitchFamily="18" charset="0"/>
                  </a:rPr>
                  <a:t> </a:t>
                </a:r>
                <a:r>
                  <a:rPr lang="en-US" sz="1800" dirty="0">
                    <a:effectLst/>
                    <a:ea typeface="Times New Roman" panose="02020603050405020304" pitchFamily="18" charset="0"/>
                    <a:cs typeface="Times New Roman" panose="02020603050405020304" pitchFamily="18" charset="0"/>
                  </a:rPr>
                  <a:t>and</a:t>
                </a:r>
                <a:r>
                  <a:rPr lang="en-US" sz="1800" spc="275" dirty="0">
                    <a:effectLst/>
                    <a:ea typeface="Times New Roman" panose="02020603050405020304" pitchFamily="18" charset="0"/>
                    <a:cs typeface="Times New Roman" panose="02020603050405020304" pitchFamily="18" charset="0"/>
                  </a:rPr>
                  <a:t> </a:t>
                </a:r>
                <a:r>
                  <a:rPr lang="en-US" sz="1800" spc="-145" dirty="0">
                    <a:effectLst/>
                    <a:ea typeface="Times New Roman" panose="02020603050405020304" pitchFamily="18" charset="0"/>
                    <a:cs typeface="Times New Roman" panose="02020603050405020304" pitchFamily="18" charset="0"/>
                  </a:rPr>
                  <a:t>}</a:t>
                </a:r>
                <a:r>
                  <a:rPr lang="en-US" sz="1800" dirty="0">
                    <a:effectLst/>
                    <a:ea typeface="Times New Roman" panose="02020603050405020304" pitchFamily="18" charset="0"/>
                    <a:cs typeface="Times New Roman" panose="02020603050405020304" pitchFamily="18" charset="0"/>
                  </a:rPr>
                  <a:t>.</a:t>
                </a:r>
                <a:r>
                  <a:rPr lang="en-US" sz="1800" spc="230" dirty="0">
                    <a:effectLst/>
                    <a:ea typeface="Times New Roman" panose="02020603050405020304" pitchFamily="18" charset="0"/>
                    <a:cs typeface="Times New Roman" panose="02020603050405020304" pitchFamily="18" charset="0"/>
                  </a:rPr>
                  <a:t> </a:t>
                </a:r>
                <a:r>
                  <a:rPr lang="en-US" sz="1800" dirty="0">
                    <a:effectLst/>
                    <a:ea typeface="Times New Roman" panose="02020603050405020304" pitchFamily="18" charset="0"/>
                    <a:cs typeface="Times New Roman" panose="02020603050405020304" pitchFamily="18" charset="0"/>
                  </a:rPr>
                  <a:t>A</a:t>
                </a:r>
                <a:r>
                  <a:rPr lang="en-US" sz="1800" spc="250" dirty="0">
                    <a:effectLst/>
                    <a:ea typeface="Times New Roman" panose="02020603050405020304" pitchFamily="18" charset="0"/>
                    <a:cs typeface="Times New Roman" panose="02020603050405020304" pitchFamily="18" charset="0"/>
                  </a:rPr>
                  <a:t> </a:t>
                </a:r>
                <a:r>
                  <a:rPr lang="en-US" sz="1800" dirty="0">
                    <a:effectLst/>
                    <a:ea typeface="Times New Roman" panose="02020603050405020304" pitchFamily="18" charset="0"/>
                    <a:cs typeface="Times New Roman" panose="02020603050405020304" pitchFamily="18" charset="0"/>
                  </a:rPr>
                  <a:t>compound statement</a:t>
                </a:r>
                <a:r>
                  <a:rPr lang="en-US" sz="1800" spc="20" dirty="0">
                    <a:effectLst/>
                    <a:ea typeface="Times New Roman" panose="02020603050405020304" pitchFamily="18" charset="0"/>
                    <a:cs typeface="Times New Roman" panose="02020603050405020304" pitchFamily="18" charset="0"/>
                  </a:rPr>
                  <a:t> </a:t>
                </a:r>
                <a:r>
                  <a:rPr lang="en-US" sz="1800" dirty="0">
                    <a:effectLst/>
                    <a:ea typeface="Times New Roman" panose="02020603050405020304" pitchFamily="18" charset="0"/>
                    <a:cs typeface="Times New Roman" panose="02020603050405020304" pitchFamily="18" charset="0"/>
                  </a:rPr>
                  <a:t>(i.e.,</a:t>
                </a:r>
                <a:r>
                  <a:rPr lang="en-US" sz="1800" spc="140" dirty="0">
                    <a:effectLst/>
                    <a:ea typeface="Times New Roman" panose="02020603050405020304" pitchFamily="18" charset="0"/>
                    <a:cs typeface="Times New Roman" panose="02020603050405020304" pitchFamily="18" charset="0"/>
                  </a:rPr>
                  <a:t> </a:t>
                </a:r>
                <a:r>
                  <a:rPr lang="en-US" sz="1800" dirty="0">
                    <a:effectLst/>
                    <a:ea typeface="Times New Roman" panose="02020603050405020304" pitchFamily="18" charset="0"/>
                    <a:cs typeface="Times New Roman" panose="02020603050405020304" pitchFamily="18" charset="0"/>
                  </a:rPr>
                  <a:t>a</a:t>
                </a:r>
                <a:r>
                  <a:rPr lang="en-US" sz="1800" spc="85" dirty="0">
                    <a:effectLst/>
                    <a:ea typeface="Times New Roman" panose="02020603050405020304" pitchFamily="18" charset="0"/>
                    <a:cs typeface="Times New Roman" panose="02020603050405020304" pitchFamily="18" charset="0"/>
                  </a:rPr>
                  <a:t> </a:t>
                </a:r>
                <a:r>
                  <a:rPr lang="en-US" sz="1800" dirty="0">
                    <a:effectLst/>
                    <a:ea typeface="Times New Roman" panose="02020603050405020304" pitchFamily="18" charset="0"/>
                    <a:cs typeface="Times New Roman" panose="02020603050405020304" pitchFamily="18" charset="0"/>
                  </a:rPr>
                  <a:t>collection</a:t>
                </a:r>
                <a:r>
                  <a:rPr lang="en-US" sz="1800" spc="170" dirty="0">
                    <a:effectLst/>
                    <a:ea typeface="Times New Roman" panose="02020603050405020304" pitchFamily="18" charset="0"/>
                    <a:cs typeface="Times New Roman" panose="02020603050405020304" pitchFamily="18" charset="0"/>
                  </a:rPr>
                  <a:t> </a:t>
                </a:r>
                <a:r>
                  <a:rPr lang="en-US" sz="1800" dirty="0">
                    <a:effectLst/>
                    <a:ea typeface="Times New Roman" panose="02020603050405020304" pitchFamily="18" charset="0"/>
                    <a:cs typeface="Times New Roman" panose="02020603050405020304" pitchFamily="18" charset="0"/>
                  </a:rPr>
                  <a:t>of</a:t>
                </a:r>
                <a:r>
                  <a:rPr lang="en-US" sz="1800" spc="125" dirty="0">
                    <a:effectLst/>
                    <a:ea typeface="Times New Roman" panose="02020603050405020304" pitchFamily="18" charset="0"/>
                    <a:cs typeface="Times New Roman" panose="02020603050405020304" pitchFamily="18" charset="0"/>
                  </a:rPr>
                  <a:t> </a:t>
                </a:r>
                <a:r>
                  <a:rPr lang="en-US" sz="1800" dirty="0">
                    <a:effectLst/>
                    <a:ea typeface="Times New Roman" panose="02020603050405020304" pitchFamily="18" charset="0"/>
                    <a:cs typeface="Times New Roman" panose="02020603050405020304" pitchFamily="18" charset="0"/>
                  </a:rPr>
                  <a:t>simple</a:t>
                </a:r>
                <a:r>
                  <a:rPr lang="en-US" sz="1800" spc="80" dirty="0">
                    <a:effectLst/>
                    <a:ea typeface="Times New Roman" panose="02020603050405020304" pitchFamily="18" charset="0"/>
                    <a:cs typeface="Times New Roman" panose="02020603050405020304" pitchFamily="18" charset="0"/>
                  </a:rPr>
                  <a:t> </a:t>
                </a:r>
                <a:r>
                  <a:rPr lang="en-US" sz="1800" dirty="0">
                    <a:effectLst/>
                    <a:ea typeface="Times New Roman" panose="02020603050405020304" pitchFamily="18" charset="0"/>
                    <a:cs typeface="Times New Roman" panose="02020603050405020304" pitchFamily="18" charset="0"/>
                  </a:rPr>
                  <a:t>statements)</a:t>
                </a:r>
                <a:r>
                  <a:rPr lang="en-US" sz="1800" spc="225" dirty="0">
                    <a:effectLst/>
                    <a:ea typeface="Times New Roman" panose="02020603050405020304" pitchFamily="18" charset="0"/>
                    <a:cs typeface="Times New Roman" panose="02020603050405020304" pitchFamily="18" charset="0"/>
                  </a:rPr>
                  <a:t> </a:t>
                </a:r>
                <a:r>
                  <a:rPr lang="en-US" sz="1800" dirty="0">
                    <a:effectLst/>
                    <a:ea typeface="Times New Roman" panose="02020603050405020304" pitchFamily="18" charset="0"/>
                    <a:cs typeface="Times New Roman" panose="02020603050405020304" pitchFamily="18" charset="0"/>
                  </a:rPr>
                  <a:t>can</a:t>
                </a:r>
                <a:r>
                  <a:rPr lang="en-US" sz="1800" spc="130" dirty="0">
                    <a:effectLst/>
                    <a:ea typeface="Times New Roman" panose="02020603050405020304" pitchFamily="18" charset="0"/>
                    <a:cs typeface="Times New Roman" panose="02020603050405020304" pitchFamily="18" charset="0"/>
                  </a:rPr>
                  <a:t> </a:t>
                </a:r>
                <a:r>
                  <a:rPr lang="en-US" sz="1800" dirty="0">
                    <a:effectLst/>
                    <a:ea typeface="Times New Roman" panose="02020603050405020304" pitchFamily="18" charset="0"/>
                    <a:cs typeface="Times New Roman" panose="02020603050405020304" pitchFamily="18" charset="0"/>
                  </a:rPr>
                  <a:t>be</a:t>
                </a:r>
                <a:r>
                  <a:rPr lang="en-US" sz="1800" spc="125" dirty="0">
                    <a:effectLst/>
                    <a:ea typeface="Times New Roman" panose="02020603050405020304" pitchFamily="18" charset="0"/>
                    <a:cs typeface="Times New Roman" panose="02020603050405020304" pitchFamily="18" charset="0"/>
                  </a:rPr>
                  <a:t> </a:t>
                </a:r>
                <a:r>
                  <a:rPr lang="en-US" sz="1800" dirty="0">
                    <a:effectLst/>
                    <a:ea typeface="Times New Roman" panose="02020603050405020304" pitchFamily="18" charset="0"/>
                    <a:cs typeface="Times New Roman" panose="02020603050405020304" pitchFamily="18" charset="0"/>
                  </a:rPr>
                  <a:t>represented as</a:t>
                </a:r>
                <a:r>
                  <a:rPr lang="en-US" sz="1800" spc="110" dirty="0">
                    <a:effectLst/>
                    <a:ea typeface="Times New Roman" panose="02020603050405020304" pitchFamily="18" charset="0"/>
                    <a:cs typeface="Times New Roman" panose="02020603050405020304" pitchFamily="18" charset="0"/>
                  </a:rPr>
                  <a:t> </a:t>
                </a:r>
                <a:r>
                  <a:rPr lang="en-US" sz="1800" dirty="0">
                    <a:effectLst/>
                    <a:ea typeface="Times New Roman" panose="02020603050405020304" pitchFamily="18" charset="0"/>
                    <a:cs typeface="Times New Roman" panose="02020603050405020304" pitchFamily="18" charset="0"/>
                  </a:rPr>
                  <a:t>a</a:t>
                </a:r>
                <a:r>
                  <a:rPr lang="en-US" sz="1800" spc="90" dirty="0">
                    <a:effectLst/>
                    <a:ea typeface="Times New Roman" panose="02020603050405020304" pitchFamily="18" charset="0"/>
                    <a:cs typeface="Times New Roman" panose="02020603050405020304" pitchFamily="18" charset="0"/>
                  </a:rPr>
                  <a:t> </a:t>
                </a:r>
                <a:r>
                  <a:rPr lang="en-US" sz="1800" dirty="0">
                    <a:effectLst/>
                    <a:ea typeface="Times New Roman" panose="02020603050405020304" pitchFamily="18" charset="0"/>
                    <a:cs typeface="Times New Roman" panose="02020603050405020304" pitchFamily="18" charset="0"/>
                  </a:rPr>
                  <a:t>block.</a:t>
                </a:r>
                <a:r>
                  <a:rPr lang="en-US" sz="1800" spc="85" dirty="0">
                    <a:effectLst/>
                    <a:ea typeface="Times New Roman" panose="02020603050405020304" pitchFamily="18" charset="0"/>
                    <a:cs typeface="Times New Roman" panose="02020603050405020304" pitchFamily="18" charset="0"/>
                  </a:rPr>
                  <a:t> </a:t>
                </a:r>
                <a:r>
                  <a:rPr lang="en-US" sz="1800" dirty="0">
                    <a:effectLst/>
                    <a:ea typeface="Times New Roman" panose="02020603050405020304" pitchFamily="18" charset="0"/>
                    <a:cs typeface="Times New Roman" panose="02020603050405020304" pitchFamily="18" charset="0"/>
                  </a:rPr>
                  <a:t>The</a:t>
                </a:r>
                <a:r>
                  <a:rPr lang="en-US" sz="1800" spc="110" dirty="0">
                    <a:effectLst/>
                    <a:ea typeface="Times New Roman" panose="02020603050405020304" pitchFamily="18" charset="0"/>
                    <a:cs typeface="Times New Roman" panose="02020603050405020304" pitchFamily="18" charset="0"/>
                  </a:rPr>
                  <a:t> </a:t>
                </a:r>
                <a:r>
                  <a:rPr lang="en-US" sz="1800" dirty="0">
                    <a:effectLst/>
                    <a:ea typeface="Times New Roman" panose="02020603050405020304" pitchFamily="18" charset="0"/>
                    <a:cs typeface="Times New Roman" panose="02020603050405020304" pitchFamily="18" charset="0"/>
                  </a:rPr>
                  <a:t>body</a:t>
                </a:r>
                <a:r>
                  <a:rPr lang="en-US" sz="1800" spc="175" dirty="0">
                    <a:effectLst/>
                    <a:ea typeface="Times New Roman" panose="02020603050405020304" pitchFamily="18" charset="0"/>
                    <a:cs typeface="Times New Roman" panose="02020603050405020304" pitchFamily="18" charset="0"/>
                  </a:rPr>
                  <a:t> </a:t>
                </a:r>
                <a:r>
                  <a:rPr lang="en-US" sz="1800" dirty="0">
                    <a:effectLst/>
                    <a:ea typeface="Times New Roman" panose="02020603050405020304" pitchFamily="18" charset="0"/>
                    <a:cs typeface="Times New Roman" panose="02020603050405020304" pitchFamily="18" charset="0"/>
                  </a:rPr>
                  <a:t>of</a:t>
                </a:r>
                <a:r>
                  <a:rPr lang="en-US" sz="1800" spc="135" dirty="0">
                    <a:effectLst/>
                    <a:ea typeface="Times New Roman" panose="02020603050405020304" pitchFamily="18" charset="0"/>
                    <a:cs typeface="Times New Roman" panose="02020603050405020304" pitchFamily="18" charset="0"/>
                  </a:rPr>
                  <a:t> </a:t>
                </a:r>
                <a:r>
                  <a:rPr lang="en-US" sz="1800" dirty="0">
                    <a:effectLst/>
                    <a:ea typeface="Times New Roman" panose="02020603050405020304" pitchFamily="18" charset="0"/>
                    <a:cs typeface="Times New Roman" panose="02020603050405020304" pitchFamily="18" charset="0"/>
                  </a:rPr>
                  <a:t>a</a:t>
                </a:r>
                <a:r>
                  <a:rPr lang="en-US" sz="1800" spc="90" dirty="0">
                    <a:effectLst/>
                    <a:ea typeface="Times New Roman" panose="02020603050405020304" pitchFamily="18" charset="0"/>
                    <a:cs typeface="Times New Roman" panose="02020603050405020304" pitchFamily="18" charset="0"/>
                  </a:rPr>
                  <a:t> </a:t>
                </a:r>
                <a:r>
                  <a:rPr lang="en-US" sz="1800" dirty="0">
                    <a:effectLst/>
                    <a:ea typeface="Times New Roman" panose="02020603050405020304" pitchFamily="18" charset="0"/>
                    <a:cs typeface="Times New Roman" panose="02020603050405020304" pitchFamily="18" charset="0"/>
                  </a:rPr>
                  <a:t>procedure</a:t>
                </a:r>
                <a:r>
                  <a:rPr lang="en-US" sz="1800" spc="200" dirty="0">
                    <a:effectLst/>
                    <a:ea typeface="Times New Roman" panose="02020603050405020304" pitchFamily="18" charset="0"/>
                    <a:cs typeface="Times New Roman" panose="02020603050405020304" pitchFamily="18" charset="0"/>
                  </a:rPr>
                  <a:t> </a:t>
                </a:r>
                <a:r>
                  <a:rPr lang="en-US" sz="1800" dirty="0">
                    <a:effectLst/>
                    <a:ea typeface="Times New Roman" panose="02020603050405020304" pitchFamily="18" charset="0"/>
                    <a:cs typeface="Times New Roman" panose="02020603050405020304" pitchFamily="18" charset="0"/>
                  </a:rPr>
                  <a:t>also</a:t>
                </a:r>
                <a:r>
                  <a:rPr lang="en-US" sz="1800" spc="85" dirty="0">
                    <a:effectLst/>
                    <a:ea typeface="Times New Roman" panose="02020603050405020304" pitchFamily="18" charset="0"/>
                    <a:cs typeface="Times New Roman" panose="02020603050405020304" pitchFamily="18" charset="0"/>
                  </a:rPr>
                  <a:t> </a:t>
                </a:r>
                <a:r>
                  <a:rPr lang="en-US" sz="1800" dirty="0">
                    <a:effectLst/>
                    <a:ea typeface="Times New Roman" panose="02020603050405020304" pitchFamily="18" charset="0"/>
                    <a:cs typeface="Times New Roman" panose="02020603050405020304" pitchFamily="18" charset="0"/>
                  </a:rPr>
                  <a:t>forms</a:t>
                </a:r>
                <a:r>
                  <a:rPr lang="en-US" sz="1800" spc="120" dirty="0">
                    <a:effectLst/>
                    <a:ea typeface="Times New Roman" panose="02020603050405020304" pitchFamily="18" charset="0"/>
                    <a:cs typeface="Times New Roman" panose="02020603050405020304" pitchFamily="18" charset="0"/>
                  </a:rPr>
                  <a:t> </a:t>
                </a:r>
                <a:r>
                  <a:rPr lang="en-US" sz="1800" dirty="0">
                    <a:effectLst/>
                    <a:ea typeface="Times New Roman" panose="02020603050405020304" pitchFamily="18" charset="0"/>
                    <a:cs typeface="Times New Roman" panose="02020603050405020304" pitchFamily="18" charset="0"/>
                  </a:rPr>
                  <a:t>a</a:t>
                </a:r>
                <a:r>
                  <a:rPr lang="en-US" sz="1800" spc="95" dirty="0">
                    <a:effectLst/>
                    <a:ea typeface="Times New Roman" panose="02020603050405020304" pitchFamily="18" charset="0"/>
                    <a:cs typeface="Times New Roman" panose="02020603050405020304" pitchFamily="18" charset="0"/>
                  </a:rPr>
                  <a:t> </a:t>
                </a:r>
                <a:r>
                  <a:rPr lang="en-US" sz="1800" dirty="0">
                    <a:effectLst/>
                    <a:ea typeface="Times New Roman" panose="02020603050405020304" pitchFamily="18" charset="0"/>
                    <a:cs typeface="Times New Roman" panose="02020603050405020304" pitchFamily="18" charset="0"/>
                  </a:rPr>
                  <a:t>block.</a:t>
                </a:r>
                <a:r>
                  <a:rPr lang="en-US" sz="1800" spc="105" dirty="0">
                    <a:effectLst/>
                    <a:ea typeface="Times New Roman" panose="02020603050405020304" pitchFamily="18" charset="0"/>
                    <a:cs typeface="Times New Roman" panose="02020603050405020304" pitchFamily="18" charset="0"/>
                  </a:rPr>
                  <a:t> </a:t>
                </a:r>
                <a:r>
                  <a:rPr lang="en-US" sz="1800" dirty="0">
                    <a:effectLst/>
                    <a:ea typeface="Times New Roman" panose="02020603050405020304" pitchFamily="18" charset="0"/>
                    <a:cs typeface="Times New Roman" panose="02020603050405020304" pitchFamily="18" charset="0"/>
                  </a:rPr>
                  <a:t>Statements are</a:t>
                </a:r>
                <a:r>
                  <a:rPr lang="en-US" sz="1800" spc="65" dirty="0">
                    <a:effectLst/>
                    <a:ea typeface="Times New Roman" panose="02020603050405020304" pitchFamily="18" charset="0"/>
                    <a:cs typeface="Times New Roman" panose="02020603050405020304" pitchFamily="18" charset="0"/>
                  </a:rPr>
                  <a:t> </a:t>
                </a:r>
                <a:r>
                  <a:rPr lang="en-US" sz="1800" dirty="0">
                    <a:effectLst/>
                    <a:ea typeface="Times New Roman" panose="02020603050405020304" pitchFamily="18" charset="0"/>
                    <a:cs typeface="Times New Roman" panose="02020603050405020304" pitchFamily="18" charset="0"/>
                  </a:rPr>
                  <a:t>delimited</a:t>
                </a:r>
                <a:r>
                  <a:rPr lang="en-US" sz="1800" spc="125" dirty="0">
                    <a:effectLst/>
                    <a:ea typeface="Times New Roman" panose="02020603050405020304" pitchFamily="18" charset="0"/>
                    <a:cs typeface="Times New Roman" panose="02020603050405020304" pitchFamily="18" charset="0"/>
                  </a:rPr>
                  <a:t> </a:t>
                </a:r>
                <a:r>
                  <a:rPr lang="en-US" sz="1800" dirty="0">
                    <a:effectLst/>
                    <a:ea typeface="Times New Roman" panose="02020603050405020304" pitchFamily="18" charset="0"/>
                    <a:cs typeface="Times New Roman" panose="02020603050405020304" pitchFamily="18" charset="0"/>
                  </a:rPr>
                  <a:t>by</a:t>
                </a:r>
                <a:r>
                  <a:rPr lang="en-US" sz="1800" spc="155" dirty="0">
                    <a:effectLst/>
                    <a:ea typeface="Times New Roman" panose="02020603050405020304" pitchFamily="18" charset="0"/>
                    <a:cs typeface="Times New Roman" panose="02020603050405020304" pitchFamily="18" charset="0"/>
                  </a:rPr>
                  <a:t> </a:t>
                </a:r>
                <a:r>
                  <a:rPr lang="en-US" spc="155" dirty="0">
                    <a:ea typeface="Times New Roman" panose="02020603050405020304" pitchFamily="18" charset="0"/>
                    <a:cs typeface="Times New Roman" panose="02020603050405020304" pitchFamily="18" charset="0"/>
                  </a:rPr>
                  <a:t>;.</a:t>
                </a:r>
              </a:p>
              <a:p>
                <a:pPr marL="711200" marR="0" indent="-457200">
                  <a:spcBef>
                    <a:spcPts val="0"/>
                  </a:spcBef>
                  <a:spcAft>
                    <a:spcPts val="0"/>
                  </a:spcAft>
                  <a:buFont typeface="+mj-lt"/>
                  <a:buAutoNum type="arabicPeriod"/>
                </a:pPr>
                <a:r>
                  <a:rPr lang="en-US" sz="2000" dirty="0">
                    <a:effectLst/>
                    <a:ea typeface="Calibri" panose="020F0502020204030204" pitchFamily="34" charset="0"/>
                    <a:cs typeface="Times New Roman" panose="02020603050405020304" pitchFamily="18" charset="0"/>
                  </a:rPr>
                  <a:t>An</a:t>
                </a:r>
                <a:r>
                  <a:rPr lang="en-US" sz="2000" spc="235" dirty="0">
                    <a:effectLst/>
                    <a:ea typeface="Calibri" panose="020F0502020204030204" pitchFamily="34" charset="0"/>
                    <a:cs typeface="Times New Roman" panose="02020603050405020304" pitchFamily="18" charset="0"/>
                  </a:rPr>
                  <a:t> </a:t>
                </a:r>
                <a:r>
                  <a:rPr lang="en-US" sz="2000" dirty="0">
                    <a:effectLst/>
                    <a:ea typeface="Calibri" panose="020F0502020204030204" pitchFamily="34" charset="0"/>
                    <a:cs typeface="Times New Roman" panose="02020603050405020304" pitchFamily="18" charset="0"/>
                  </a:rPr>
                  <a:t>identifier</a:t>
                </a:r>
                <a:r>
                  <a:rPr lang="en-US" sz="2000" spc="250" dirty="0">
                    <a:effectLst/>
                    <a:ea typeface="Calibri" panose="020F0502020204030204" pitchFamily="34" charset="0"/>
                    <a:cs typeface="Times New Roman" panose="02020603050405020304" pitchFamily="18" charset="0"/>
                  </a:rPr>
                  <a:t> </a:t>
                </a:r>
                <a:r>
                  <a:rPr lang="en-US" sz="2000" dirty="0">
                    <a:effectLst/>
                    <a:ea typeface="Calibri" panose="020F0502020204030204" pitchFamily="34" charset="0"/>
                    <a:cs typeface="Times New Roman" panose="02020603050405020304" pitchFamily="18" charset="0"/>
                  </a:rPr>
                  <a:t>begins</a:t>
                </a:r>
                <a:r>
                  <a:rPr lang="en-US" sz="2000" spc="250" dirty="0">
                    <a:effectLst/>
                    <a:ea typeface="Calibri" panose="020F0502020204030204" pitchFamily="34" charset="0"/>
                    <a:cs typeface="Times New Roman" panose="02020603050405020304" pitchFamily="18" charset="0"/>
                  </a:rPr>
                  <a:t> </a:t>
                </a:r>
                <a:r>
                  <a:rPr lang="en-US" sz="2000" dirty="0">
                    <a:effectLst/>
                    <a:ea typeface="Calibri" panose="020F0502020204030204" pitchFamily="34" charset="0"/>
                    <a:cs typeface="Times New Roman" panose="02020603050405020304" pitchFamily="18" charset="0"/>
                  </a:rPr>
                  <a:t>with</a:t>
                </a:r>
                <a:r>
                  <a:rPr lang="en-US" sz="2000" spc="185" dirty="0">
                    <a:effectLst/>
                    <a:ea typeface="Calibri" panose="020F0502020204030204" pitchFamily="34" charset="0"/>
                    <a:cs typeface="Times New Roman" panose="02020603050405020304" pitchFamily="18" charset="0"/>
                  </a:rPr>
                  <a:t> </a:t>
                </a:r>
                <a:r>
                  <a:rPr lang="en-US" sz="2000" dirty="0">
                    <a:effectLst/>
                    <a:ea typeface="Calibri" panose="020F0502020204030204" pitchFamily="34" charset="0"/>
                    <a:cs typeface="Times New Roman" panose="02020603050405020304" pitchFamily="18" charset="0"/>
                  </a:rPr>
                  <a:t>a</a:t>
                </a:r>
                <a:r>
                  <a:rPr lang="en-US" sz="2000" spc="200" dirty="0">
                    <a:effectLst/>
                    <a:ea typeface="Calibri" panose="020F0502020204030204" pitchFamily="34" charset="0"/>
                    <a:cs typeface="Times New Roman" panose="02020603050405020304" pitchFamily="18" charset="0"/>
                  </a:rPr>
                  <a:t> </a:t>
                </a:r>
                <a:r>
                  <a:rPr lang="en-US" sz="2000" spc="15" dirty="0">
                    <a:effectLst/>
                    <a:ea typeface="Calibri" panose="020F0502020204030204" pitchFamily="34" charset="0"/>
                    <a:cs typeface="Times New Roman" panose="02020603050405020304" pitchFamily="18" charset="0"/>
                  </a:rPr>
                  <a:t>let</a:t>
                </a:r>
                <a:r>
                  <a:rPr lang="en-US" sz="2000" spc="10" dirty="0">
                    <a:effectLst/>
                    <a:ea typeface="Calibri" panose="020F0502020204030204" pitchFamily="34" charset="0"/>
                    <a:cs typeface="Times New Roman" panose="02020603050405020304" pitchFamily="18" charset="0"/>
                  </a:rPr>
                  <a:t>ter.</a:t>
                </a:r>
                <a:r>
                  <a:rPr lang="en-US" sz="2000" spc="50" dirty="0">
                    <a:effectLst/>
                    <a:ea typeface="Calibri" panose="020F0502020204030204" pitchFamily="34" charset="0"/>
                    <a:cs typeface="Times New Roman" panose="02020603050405020304" pitchFamily="18" charset="0"/>
                  </a:rPr>
                  <a:t> </a:t>
                </a:r>
                <a:endParaRPr lang="en-US" sz="2000" spc="50" dirty="0">
                  <a:ea typeface="Calibri" panose="020F0502020204030204" pitchFamily="34" charset="0"/>
                  <a:cs typeface="Times New Roman" panose="02020603050405020304" pitchFamily="18" charset="0"/>
                </a:endParaRPr>
              </a:p>
              <a:p>
                <a:pPr marL="711200" marR="0" indent="-457200">
                  <a:spcBef>
                    <a:spcPts val="0"/>
                  </a:spcBef>
                  <a:spcAft>
                    <a:spcPts val="0"/>
                  </a:spcAft>
                  <a:buFont typeface="+mj-lt"/>
                  <a:buAutoNum type="arabicPeriod"/>
                </a:pPr>
                <a:r>
                  <a:rPr lang="en-US" dirty="0">
                    <a:effectLst/>
                    <a:ea typeface="Calibri" panose="020F0502020204030204" pitchFamily="34" charset="0"/>
                    <a:cs typeface="Times New Roman" panose="02020603050405020304" pitchFamily="18" charset="0"/>
                  </a:rPr>
                  <a:t>Assignment </a:t>
                </a:r>
                <a:r>
                  <a:rPr lang="en-US" spc="105" dirty="0">
                    <a:effectLst/>
                    <a:ea typeface="Calibri" panose="020F0502020204030204" pitchFamily="34" charset="0"/>
                    <a:cs typeface="Times New Roman" panose="02020603050405020304" pitchFamily="18" charset="0"/>
                  </a:rPr>
                  <a:t> </a:t>
                </a:r>
                <a:r>
                  <a:rPr lang="en-US" dirty="0">
                    <a:effectLst/>
                    <a:ea typeface="Calibri" panose="020F0502020204030204" pitchFamily="34" charset="0"/>
                    <a:cs typeface="Times New Roman" panose="02020603050405020304" pitchFamily="18" charset="0"/>
                  </a:rPr>
                  <a:t>of</a:t>
                </a:r>
                <a:r>
                  <a:rPr lang="en-US" spc="195" dirty="0">
                    <a:effectLst/>
                    <a:ea typeface="Calibri" panose="020F0502020204030204" pitchFamily="34" charset="0"/>
                    <a:cs typeface="Times New Roman" panose="02020603050405020304" pitchFamily="18" charset="0"/>
                  </a:rPr>
                  <a:t> </a:t>
                </a:r>
                <a:r>
                  <a:rPr lang="en-US" dirty="0">
                    <a:effectLst/>
                    <a:ea typeface="Calibri" panose="020F0502020204030204" pitchFamily="34" charset="0"/>
                    <a:cs typeface="Times New Roman" panose="02020603050405020304" pitchFamily="18" charset="0"/>
                  </a:rPr>
                  <a:t>values</a:t>
                </a:r>
                <a:r>
                  <a:rPr lang="en-US" spc="230" dirty="0">
                    <a:effectLst/>
                    <a:ea typeface="Calibri" panose="020F0502020204030204" pitchFamily="34" charset="0"/>
                    <a:cs typeface="Times New Roman" panose="02020603050405020304" pitchFamily="18" charset="0"/>
                  </a:rPr>
                  <a:t> </a:t>
                </a:r>
                <a:r>
                  <a:rPr lang="en-US" dirty="0">
                    <a:effectLst/>
                    <a:ea typeface="Calibri" panose="020F0502020204030204" pitchFamily="34" charset="0"/>
                    <a:cs typeface="Times New Roman" panose="02020603050405020304" pitchFamily="18" charset="0"/>
                  </a:rPr>
                  <a:t>to</a:t>
                </a:r>
                <a:r>
                  <a:rPr lang="en-US" spc="180" dirty="0">
                    <a:effectLst/>
                    <a:ea typeface="Calibri" panose="020F0502020204030204" pitchFamily="34" charset="0"/>
                    <a:cs typeface="Times New Roman" panose="02020603050405020304" pitchFamily="18" charset="0"/>
                  </a:rPr>
                  <a:t> </a:t>
                </a:r>
                <a:r>
                  <a:rPr lang="en-US" dirty="0">
                    <a:effectLst/>
                    <a:ea typeface="Calibri" panose="020F0502020204030204" pitchFamily="34" charset="0"/>
                    <a:cs typeface="Times New Roman" panose="02020603050405020304" pitchFamily="18" charset="0"/>
                  </a:rPr>
                  <a:t>variables</a:t>
                </a:r>
                <a:r>
                  <a:rPr lang="en-US" spc="230" dirty="0">
                    <a:effectLst/>
                    <a:ea typeface="Calibri" panose="020F0502020204030204" pitchFamily="34" charset="0"/>
                    <a:cs typeface="Times New Roman" panose="02020603050405020304" pitchFamily="18" charset="0"/>
                  </a:rPr>
                  <a:t> </a:t>
                </a:r>
                <a:r>
                  <a:rPr lang="en-US" dirty="0">
                    <a:effectLst/>
                    <a:ea typeface="Calibri" panose="020F0502020204030204" pitchFamily="34" charset="0"/>
                    <a:cs typeface="Times New Roman" panose="02020603050405020304" pitchFamily="18" charset="0"/>
                  </a:rPr>
                  <a:t>is</a:t>
                </a:r>
                <a:r>
                  <a:rPr lang="en-US" spc="155" dirty="0">
                    <a:effectLst/>
                    <a:ea typeface="Calibri" panose="020F0502020204030204" pitchFamily="34" charset="0"/>
                    <a:cs typeface="Times New Roman" panose="02020603050405020304" pitchFamily="18" charset="0"/>
                  </a:rPr>
                  <a:t> </a:t>
                </a:r>
                <a:r>
                  <a:rPr lang="en-US" dirty="0">
                    <a:effectLst/>
                    <a:ea typeface="Calibri" panose="020F0502020204030204" pitchFamily="34" charset="0"/>
                    <a:cs typeface="Times New Roman" panose="02020603050405020304" pitchFamily="18" charset="0"/>
                  </a:rPr>
                  <a:t>done</a:t>
                </a:r>
                <a:r>
                  <a:rPr lang="en-US" spc="195" dirty="0">
                    <a:effectLst/>
                    <a:ea typeface="Calibri" panose="020F0502020204030204" pitchFamily="34" charset="0"/>
                    <a:cs typeface="Times New Roman" panose="02020603050405020304" pitchFamily="18" charset="0"/>
                  </a:rPr>
                  <a:t> </a:t>
                </a:r>
                <a:r>
                  <a:rPr lang="en-US" dirty="0">
                    <a:effectLst/>
                    <a:ea typeface="Calibri" panose="020F0502020204030204" pitchFamily="34" charset="0"/>
                    <a:cs typeface="Times New Roman" panose="02020603050405020304" pitchFamily="18" charset="0"/>
                  </a:rPr>
                  <a:t>using</a:t>
                </a:r>
                <a:r>
                  <a:rPr lang="en-US" spc="175" dirty="0">
                    <a:effectLst/>
                    <a:ea typeface="Calibri" panose="020F0502020204030204" pitchFamily="34" charset="0"/>
                    <a:cs typeface="Times New Roman" panose="02020603050405020304" pitchFamily="18" charset="0"/>
                  </a:rPr>
                  <a:t> </a:t>
                </a:r>
                <a:r>
                  <a:rPr lang="en-US" dirty="0">
                    <a:effectLst/>
                    <a:ea typeface="Calibri" panose="020F0502020204030204" pitchFamily="34" charset="0"/>
                    <a:cs typeface="Times New Roman" panose="02020603050405020304" pitchFamily="18" charset="0"/>
                  </a:rPr>
                  <a:t>t</a:t>
                </a:r>
                <a:r>
                  <a:rPr lang="en-US" spc="-125" dirty="0">
                    <a:effectLst/>
                    <a:ea typeface="Calibri" panose="020F0502020204030204" pitchFamily="34" charset="0"/>
                    <a:cs typeface="Times New Roman" panose="02020603050405020304" pitchFamily="18" charset="0"/>
                  </a:rPr>
                  <a:t> </a:t>
                </a:r>
                <a:r>
                  <a:rPr lang="en-US" dirty="0">
                    <a:effectLst/>
                    <a:ea typeface="Calibri" panose="020F0502020204030204" pitchFamily="34" charset="0"/>
                    <a:cs typeface="Times New Roman" panose="02020603050405020304" pitchFamily="18" charset="0"/>
                  </a:rPr>
                  <a:t>he</a:t>
                </a:r>
                <a:r>
                  <a:rPr lang="en-US" spc="220" dirty="0">
                    <a:effectLst/>
                    <a:ea typeface="Calibri" panose="020F0502020204030204" pitchFamily="34" charset="0"/>
                    <a:cs typeface="Times New Roman" panose="02020603050405020304" pitchFamily="18" charset="0"/>
                  </a:rPr>
                  <a:t> </a:t>
                </a:r>
                <a:r>
                  <a:rPr lang="en-US" dirty="0">
                    <a:effectLst/>
                    <a:ea typeface="Calibri" panose="020F0502020204030204" pitchFamily="34" charset="0"/>
                    <a:cs typeface="Times New Roman" panose="02020603050405020304" pitchFamily="18" charset="0"/>
                  </a:rPr>
                  <a:t>assignment </a:t>
                </a:r>
                <a:r>
                  <a:rPr lang="en-US" spc="30" dirty="0">
                    <a:effectLst/>
                    <a:ea typeface="Calibri" panose="020F0502020204030204" pitchFamily="34" charset="0"/>
                    <a:cs typeface="Times New Roman" panose="02020603050405020304" pitchFamily="18" charset="0"/>
                  </a:rPr>
                  <a:t> </a:t>
                </a:r>
                <a:r>
                  <a:rPr lang="en-US" dirty="0">
                    <a:effectLst/>
                    <a:ea typeface="Calibri" panose="020F0502020204030204" pitchFamily="34" charset="0"/>
                    <a:cs typeface="Times New Roman" panose="02020603050405020304" pitchFamily="18" charset="0"/>
                  </a:rPr>
                  <a:t>state­ment (</a:t>
                </a:r>
                <a:r>
                  <a:rPr lang="en-US" spc="-140" dirty="0">
                    <a:effectLst/>
                    <a:ea typeface="Calibri" panose="020F0502020204030204" pitchFamily="34" charset="0"/>
                    <a:cs typeface="Times New Roman" panose="02020603050405020304" pitchFamily="18" charset="0"/>
                  </a:rPr>
                  <a:t> </a:t>
                </a:r>
                <a:r>
                  <a:rPr lang="en-US" dirty="0">
                    <a:effectLst/>
                    <a:ea typeface="Calibri" panose="020F0502020204030204" pitchFamily="34" charset="0"/>
                    <a:cs typeface="Times New Roman" panose="02020603050405020304" pitchFamily="18" charset="0"/>
                  </a:rPr>
                  <a:t>variabl</a:t>
                </a:r>
                <a:r>
                  <a:rPr lang="en-US" spc="85" dirty="0">
                    <a:effectLst/>
                    <a:ea typeface="Calibri" panose="020F0502020204030204" pitchFamily="34" charset="0"/>
                    <a:cs typeface="Times New Roman" panose="02020603050405020304" pitchFamily="18" charset="0"/>
                  </a:rPr>
                  <a:t>e</a:t>
                </a:r>
                <a:r>
                  <a:rPr lang="en-US" dirty="0">
                    <a:effectLst/>
                    <a:ea typeface="Calibri" panose="020F0502020204030204" pitchFamily="34" charset="0"/>
                    <a:cs typeface="Times New Roman" panose="02020603050405020304" pitchFamily="18" charset="0"/>
                  </a:rPr>
                  <a:t>)</a:t>
                </a:r>
                <a:r>
                  <a:rPr lang="en-US" spc="225" dirty="0">
                    <a:effectLst/>
                    <a:ea typeface="Calibri" panose="020F0502020204030204" pitchFamily="34" charset="0"/>
                    <a:cs typeface="Times New Roman" panose="02020603050405020304" pitchFamily="18" charset="0"/>
                  </a:rPr>
                  <a:t> </a:t>
                </a:r>
                <a:r>
                  <a:rPr lang="en-US" dirty="0">
                    <a:effectLst/>
                    <a:ea typeface="Calibri" panose="020F0502020204030204" pitchFamily="34" charset="0"/>
                    <a:cs typeface="Times New Roman" panose="02020603050405020304" pitchFamily="18" charset="0"/>
                  </a:rPr>
                  <a:t>:=</a:t>
                </a:r>
                <a:r>
                  <a:rPr lang="en-US" spc="-50" dirty="0">
                    <a:effectLst/>
                    <a:ea typeface="Calibri" panose="020F0502020204030204" pitchFamily="34" charset="0"/>
                    <a:cs typeface="Times New Roman" panose="02020603050405020304" pitchFamily="18" charset="0"/>
                  </a:rPr>
                  <a:t> </a:t>
                </a:r>
                <a:r>
                  <a:rPr lang="en-US" dirty="0">
                    <a:effectLst/>
                    <a:ea typeface="Calibri" panose="020F0502020204030204" pitchFamily="34" charset="0"/>
                    <a:cs typeface="Times New Roman" panose="02020603050405020304" pitchFamily="18" charset="0"/>
                  </a:rPr>
                  <a:t>(</a:t>
                </a:r>
                <a:r>
                  <a:rPr lang="en-US" spc="-140" dirty="0">
                    <a:effectLst/>
                    <a:ea typeface="Calibri" panose="020F0502020204030204" pitchFamily="34" charset="0"/>
                    <a:cs typeface="Times New Roman" panose="02020603050405020304" pitchFamily="18" charset="0"/>
                  </a:rPr>
                  <a:t> </a:t>
                </a:r>
                <a:r>
                  <a:rPr lang="en-US" dirty="0">
                    <a:effectLst/>
                    <a:ea typeface="Calibri" panose="020F0502020204030204" pitchFamily="34" charset="0"/>
                    <a:cs typeface="Times New Roman" panose="02020603050405020304" pitchFamily="18" charset="0"/>
                  </a:rPr>
                  <a:t>expression</a:t>
                </a:r>
                <a:r>
                  <a:rPr lang="en-US" spc="-45" dirty="0">
                    <a:effectLst/>
                    <a:ea typeface="Calibri" panose="020F0502020204030204" pitchFamily="34" charset="0"/>
                    <a:cs typeface="Times New Roman" panose="02020603050405020304" pitchFamily="18" charset="0"/>
                  </a:rPr>
                  <a:t> </a:t>
                </a:r>
                <a:r>
                  <a:rPr lang="en-US" dirty="0">
                    <a:effectLst/>
                    <a:ea typeface="Calibri" panose="020F0502020204030204" pitchFamily="34" charset="0"/>
                    <a:cs typeface="Times New Roman" panose="02020603050405020304" pitchFamily="18" charset="0"/>
                  </a:rPr>
                  <a:t>);</a:t>
                </a:r>
              </a:p>
              <a:p>
                <a:pPr marL="711200" indent="-457200">
                  <a:buFont typeface="+mj-lt"/>
                  <a:buAutoNum type="arabicPeriod"/>
                </a:pPr>
                <a:r>
                  <a:rPr lang="en-US" sz="1800" b="1" i="1" dirty="0">
                    <a:effectLst/>
                    <a:ea typeface="Calibri" panose="020F0502020204030204" pitchFamily="34" charset="0"/>
                    <a:cs typeface="Times New Roman" panose="02020603050405020304" pitchFamily="18" charset="0"/>
                  </a:rPr>
                  <a:t>There</a:t>
                </a:r>
                <a:r>
                  <a:rPr lang="en-US" sz="1800" b="1" i="1" spc="245" dirty="0">
                    <a:effectLst/>
                    <a:ea typeface="Calibri" panose="020F0502020204030204" pitchFamily="34" charset="0"/>
                    <a:cs typeface="Times New Roman" panose="02020603050405020304" pitchFamily="18" charset="0"/>
                  </a:rPr>
                  <a:t> </a:t>
                </a:r>
                <a:r>
                  <a:rPr lang="en-US" sz="1800" b="1" i="1" dirty="0">
                    <a:effectLst/>
                    <a:ea typeface="Calibri" panose="020F0502020204030204" pitchFamily="34" charset="0"/>
                    <a:cs typeface="Times New Roman" panose="02020603050405020304" pitchFamily="18" charset="0"/>
                  </a:rPr>
                  <a:t>are</a:t>
                </a:r>
                <a:r>
                  <a:rPr lang="en-US" sz="1800" b="1" i="1" spc="215" dirty="0">
                    <a:effectLst/>
                    <a:ea typeface="Calibri" panose="020F0502020204030204" pitchFamily="34" charset="0"/>
                    <a:cs typeface="Times New Roman" panose="02020603050405020304" pitchFamily="18" charset="0"/>
                  </a:rPr>
                  <a:t> </a:t>
                </a:r>
                <a:r>
                  <a:rPr lang="en-US" sz="1800" b="1" i="1" dirty="0">
                    <a:effectLst/>
                    <a:ea typeface="Calibri" panose="020F0502020204030204" pitchFamily="34" charset="0"/>
                    <a:cs typeface="Times New Roman" panose="02020603050405020304" pitchFamily="18" charset="0"/>
                  </a:rPr>
                  <a:t>two</a:t>
                </a:r>
                <a:r>
                  <a:rPr lang="en-US" sz="1800" b="1" i="1" spc="285" dirty="0">
                    <a:effectLst/>
                    <a:ea typeface="Calibri" panose="020F0502020204030204" pitchFamily="34" charset="0"/>
                    <a:cs typeface="Times New Roman" panose="02020603050405020304" pitchFamily="18" charset="0"/>
                  </a:rPr>
                  <a:t> </a:t>
                </a:r>
                <a:r>
                  <a:rPr lang="en-US" sz="1800" b="1" i="1" dirty="0">
                    <a:effectLst/>
                    <a:ea typeface="Calibri" panose="020F0502020204030204" pitchFamily="34" charset="0"/>
                    <a:cs typeface="Times New Roman" panose="02020603050405020304" pitchFamily="18" charset="0"/>
                  </a:rPr>
                  <a:t>Boolean </a:t>
                </a:r>
                <a:r>
                  <a:rPr lang="en-US" sz="1800" b="1" i="1" spc="20" dirty="0">
                    <a:effectLst/>
                    <a:ea typeface="Calibri" panose="020F0502020204030204" pitchFamily="34" charset="0"/>
                    <a:cs typeface="Times New Roman" panose="02020603050405020304" pitchFamily="18" charset="0"/>
                  </a:rPr>
                  <a:t> </a:t>
                </a:r>
                <a:r>
                  <a:rPr lang="en-US" sz="1800" b="1" i="1" dirty="0">
                    <a:effectLst/>
                    <a:ea typeface="Calibri" panose="020F0502020204030204" pitchFamily="34" charset="0"/>
                    <a:cs typeface="Times New Roman" panose="02020603050405020304" pitchFamily="18" charset="0"/>
                  </a:rPr>
                  <a:t>values</a:t>
                </a:r>
                <a:r>
                  <a:rPr lang="en-US" sz="1800" b="1" i="1" spc="235" dirty="0">
                    <a:effectLst/>
                    <a:ea typeface="Calibri" panose="020F0502020204030204" pitchFamily="34" charset="0"/>
                    <a:cs typeface="Times New Roman" panose="02020603050405020304" pitchFamily="18" charset="0"/>
                  </a:rPr>
                  <a:t> </a:t>
                </a:r>
                <a:r>
                  <a:rPr lang="en-US" sz="1800" b="1" i="1" dirty="0">
                    <a:effectLst/>
                    <a:ea typeface="Calibri" panose="020F0502020204030204" pitchFamily="34" charset="0"/>
                    <a:cs typeface="Times New Roman" panose="02020603050405020304" pitchFamily="18" charset="0"/>
                  </a:rPr>
                  <a:t>true</a:t>
                </a:r>
                <a:r>
                  <a:rPr lang="en-US" sz="1800" b="1" i="1" spc="245" dirty="0">
                    <a:effectLst/>
                    <a:ea typeface="Calibri" panose="020F0502020204030204" pitchFamily="34" charset="0"/>
                    <a:cs typeface="Times New Roman" panose="02020603050405020304" pitchFamily="18" charset="0"/>
                  </a:rPr>
                  <a:t> </a:t>
                </a:r>
                <a:r>
                  <a:rPr lang="en-US" sz="1800" b="1" i="1" dirty="0">
                    <a:effectLst/>
                    <a:ea typeface="Calibri" panose="020F0502020204030204" pitchFamily="34" charset="0"/>
                    <a:cs typeface="Times New Roman" panose="02020603050405020304" pitchFamily="18" charset="0"/>
                  </a:rPr>
                  <a:t>and</a:t>
                </a:r>
                <a:r>
                  <a:rPr lang="en-US" sz="1800" b="1" i="1" spc="275" dirty="0">
                    <a:effectLst/>
                    <a:ea typeface="Calibri" panose="020F0502020204030204" pitchFamily="34" charset="0"/>
                    <a:cs typeface="Times New Roman" panose="02020603050405020304" pitchFamily="18" charset="0"/>
                  </a:rPr>
                  <a:t> </a:t>
                </a:r>
                <a:r>
                  <a:rPr lang="en-US" sz="1800" b="1" i="1" dirty="0">
                    <a:effectLst/>
                    <a:ea typeface="Calibri" panose="020F0502020204030204" pitchFamily="34" charset="0"/>
                    <a:cs typeface="Times New Roman" panose="02020603050405020304" pitchFamily="18" charset="0"/>
                  </a:rPr>
                  <a:t>false.  </a:t>
                </a:r>
                <a:r>
                  <a:rPr lang="en-US" sz="1800" b="1" i="1" spc="80" dirty="0">
                    <a:effectLst/>
                    <a:ea typeface="Calibri" panose="020F0502020204030204" pitchFamily="34" charset="0"/>
                    <a:cs typeface="Times New Roman" panose="02020603050405020304" pitchFamily="18" charset="0"/>
                  </a:rPr>
                  <a:t> </a:t>
                </a:r>
                <a:r>
                  <a:rPr lang="en-US" sz="1800" b="1" i="1" dirty="0">
                    <a:effectLst/>
                    <a:ea typeface="Calibri" panose="020F0502020204030204" pitchFamily="34" charset="0"/>
                    <a:cs typeface="Times New Roman" panose="02020603050405020304" pitchFamily="18" charset="0"/>
                  </a:rPr>
                  <a:t>In</a:t>
                </a:r>
                <a:r>
                  <a:rPr lang="en-US" sz="1800" b="1" i="1" spc="-5" dirty="0">
                    <a:effectLst/>
                    <a:ea typeface="Calibri" panose="020F0502020204030204" pitchFamily="34" charset="0"/>
                    <a:cs typeface="Times New Roman" panose="02020603050405020304" pitchFamily="18" charset="0"/>
                  </a:rPr>
                  <a:t> </a:t>
                </a:r>
                <a:r>
                  <a:rPr lang="en-US" sz="1800" b="1" i="1" dirty="0">
                    <a:effectLst/>
                    <a:ea typeface="Calibri" panose="020F0502020204030204" pitchFamily="34" charset="0"/>
                    <a:cs typeface="Times New Roman" panose="02020603050405020304" pitchFamily="18" charset="0"/>
                  </a:rPr>
                  <a:t>order</a:t>
                </a:r>
                <a:r>
                  <a:rPr lang="en-US" sz="1800" b="1" i="1" spc="285" dirty="0">
                    <a:effectLst/>
                    <a:ea typeface="Calibri" panose="020F0502020204030204" pitchFamily="34" charset="0"/>
                    <a:cs typeface="Times New Roman" panose="02020603050405020304" pitchFamily="18" charset="0"/>
                  </a:rPr>
                  <a:t> </a:t>
                </a:r>
                <a:r>
                  <a:rPr lang="en-US" sz="1800" b="1" i="1" dirty="0">
                    <a:effectLst/>
                    <a:ea typeface="Calibri" panose="020F0502020204030204" pitchFamily="34" charset="0"/>
                    <a:cs typeface="Times New Roman" panose="02020603050405020304" pitchFamily="18" charset="0"/>
                  </a:rPr>
                  <a:t>to</a:t>
                </a:r>
                <a:r>
                  <a:rPr lang="en-US" sz="1800" b="1" i="1" spc="260" dirty="0">
                    <a:effectLst/>
                    <a:ea typeface="Calibri" panose="020F0502020204030204" pitchFamily="34" charset="0"/>
                    <a:cs typeface="Times New Roman" panose="02020603050405020304" pitchFamily="18" charset="0"/>
                  </a:rPr>
                  <a:t> </a:t>
                </a:r>
                <a:r>
                  <a:rPr lang="en-US" sz="1800" b="1" i="1" dirty="0">
                    <a:effectLst/>
                    <a:ea typeface="Calibri" panose="020F0502020204030204" pitchFamily="34" charset="0"/>
                    <a:cs typeface="Times New Roman" panose="02020603050405020304" pitchFamily="18" charset="0"/>
                  </a:rPr>
                  <a:t>produce these</a:t>
                </a:r>
                <a:r>
                  <a:rPr lang="en-US" sz="1800" b="1" i="1" spc="55" dirty="0">
                    <a:effectLst/>
                    <a:ea typeface="Calibri" panose="020F0502020204030204" pitchFamily="34" charset="0"/>
                    <a:cs typeface="Times New Roman" panose="02020603050405020304" pitchFamily="18" charset="0"/>
                  </a:rPr>
                  <a:t> </a:t>
                </a:r>
                <a:r>
                  <a:rPr lang="en-US" sz="1800" b="1" i="1" dirty="0">
                    <a:effectLst/>
                    <a:ea typeface="Calibri" panose="020F0502020204030204" pitchFamily="34" charset="0"/>
                    <a:cs typeface="Times New Roman" panose="02020603050405020304" pitchFamily="18" charset="0"/>
                  </a:rPr>
                  <a:t>values,</a:t>
                </a:r>
                <a:r>
                  <a:rPr lang="en-US" sz="1800" b="1" i="1" spc="110" dirty="0">
                    <a:effectLst/>
                    <a:ea typeface="Calibri" panose="020F0502020204030204" pitchFamily="34" charset="0"/>
                    <a:cs typeface="Times New Roman" panose="02020603050405020304" pitchFamily="18" charset="0"/>
                  </a:rPr>
                  <a:t> </a:t>
                </a:r>
                <a:r>
                  <a:rPr lang="en-US" sz="1800" b="1" i="1" spc="35" dirty="0">
                    <a:effectLst/>
                    <a:ea typeface="Calibri" panose="020F0502020204030204" pitchFamily="34" charset="0"/>
                    <a:cs typeface="Times New Roman" panose="02020603050405020304" pitchFamily="18" charset="0"/>
                  </a:rPr>
                  <a:t>the</a:t>
                </a:r>
                <a:r>
                  <a:rPr lang="en-US" sz="1800" b="1" i="1" spc="60" dirty="0">
                    <a:effectLst/>
                    <a:ea typeface="Calibri" panose="020F0502020204030204" pitchFamily="34" charset="0"/>
                    <a:cs typeface="Times New Roman" panose="02020603050405020304" pitchFamily="18" charset="0"/>
                  </a:rPr>
                  <a:t> </a:t>
                </a:r>
                <a:r>
                  <a:rPr lang="en-US" sz="1800" b="1" i="1" dirty="0">
                    <a:effectLst/>
                    <a:ea typeface="Calibri" panose="020F0502020204030204" pitchFamily="34" charset="0"/>
                    <a:cs typeface="Times New Roman" panose="02020603050405020304" pitchFamily="18" charset="0"/>
                  </a:rPr>
                  <a:t>logical</a:t>
                </a:r>
                <a:r>
                  <a:rPr lang="en-US" sz="1800" b="1" i="1" spc="45" dirty="0">
                    <a:effectLst/>
                    <a:ea typeface="Calibri" panose="020F0502020204030204" pitchFamily="34" charset="0"/>
                    <a:cs typeface="Times New Roman" panose="02020603050405020304" pitchFamily="18" charset="0"/>
                  </a:rPr>
                  <a:t> </a:t>
                </a:r>
                <a:r>
                  <a:rPr lang="en-US" sz="1800" b="1" i="1" dirty="0">
                    <a:effectLst/>
                    <a:ea typeface="Calibri" panose="020F0502020204030204" pitchFamily="34" charset="0"/>
                    <a:cs typeface="Times New Roman" panose="02020603050405020304" pitchFamily="18" charset="0"/>
                  </a:rPr>
                  <a:t>operators</a:t>
                </a:r>
                <a:r>
                  <a:rPr lang="en-US" sz="1800" b="1" i="1" spc="65" dirty="0">
                    <a:effectLst/>
                    <a:ea typeface="Calibri" panose="020F0502020204030204" pitchFamily="34" charset="0"/>
                    <a:cs typeface="Times New Roman" panose="02020603050405020304" pitchFamily="18" charset="0"/>
                  </a:rPr>
                  <a:t> </a:t>
                </a:r>
                <a:r>
                  <a:rPr lang="en-US" sz="1800" b="1" i="1" dirty="0">
                    <a:effectLst/>
                    <a:ea typeface="Calibri" panose="020F0502020204030204" pitchFamily="34" charset="0"/>
                    <a:cs typeface="Times New Roman" panose="02020603050405020304" pitchFamily="18" charset="0"/>
                  </a:rPr>
                  <a:t>and,</a:t>
                </a:r>
                <a:r>
                  <a:rPr lang="en-US" sz="1800" b="1" i="1" spc="65" dirty="0">
                    <a:effectLst/>
                    <a:ea typeface="Calibri" panose="020F0502020204030204" pitchFamily="34" charset="0"/>
                    <a:cs typeface="Times New Roman" panose="02020603050405020304" pitchFamily="18" charset="0"/>
                  </a:rPr>
                  <a:t> </a:t>
                </a:r>
                <a:r>
                  <a:rPr lang="en-US" sz="1800" b="1" i="1" dirty="0">
                    <a:effectLst/>
                    <a:ea typeface="Calibri" panose="020F0502020204030204" pitchFamily="34" charset="0"/>
                    <a:cs typeface="Times New Roman" panose="02020603050405020304" pitchFamily="18" charset="0"/>
                  </a:rPr>
                  <a:t>or,</a:t>
                </a:r>
                <a:r>
                  <a:rPr lang="en-US" sz="1800" b="1" i="1" spc="70" dirty="0">
                    <a:effectLst/>
                    <a:ea typeface="Calibri" panose="020F0502020204030204" pitchFamily="34" charset="0"/>
                    <a:cs typeface="Times New Roman" panose="02020603050405020304" pitchFamily="18" charset="0"/>
                  </a:rPr>
                  <a:t> </a:t>
                </a:r>
                <a:r>
                  <a:rPr lang="en-US" sz="1800" b="1" i="1" dirty="0">
                    <a:effectLst/>
                    <a:ea typeface="Calibri" panose="020F0502020204030204" pitchFamily="34" charset="0"/>
                    <a:cs typeface="Times New Roman" panose="02020603050405020304" pitchFamily="18" charset="0"/>
                  </a:rPr>
                  <a:t>and</a:t>
                </a:r>
                <a:r>
                  <a:rPr lang="en-US" sz="1800" b="1" i="1" spc="80" dirty="0">
                    <a:effectLst/>
                    <a:ea typeface="Calibri" panose="020F0502020204030204" pitchFamily="34" charset="0"/>
                    <a:cs typeface="Times New Roman" panose="02020603050405020304" pitchFamily="18" charset="0"/>
                  </a:rPr>
                  <a:t> </a:t>
                </a:r>
                <a:r>
                  <a:rPr lang="en-US" sz="1800" b="1" i="1" dirty="0">
                    <a:effectLst/>
                    <a:ea typeface="Calibri" panose="020F0502020204030204" pitchFamily="34" charset="0"/>
                    <a:cs typeface="Times New Roman" panose="02020603050405020304" pitchFamily="18" charset="0"/>
                  </a:rPr>
                  <a:t>not</a:t>
                </a:r>
                <a:r>
                  <a:rPr lang="en-US" sz="1800" b="1" i="1" spc="75" dirty="0">
                    <a:effectLst/>
                    <a:ea typeface="Calibri" panose="020F0502020204030204" pitchFamily="34" charset="0"/>
                    <a:cs typeface="Times New Roman" panose="02020603050405020304" pitchFamily="18" charset="0"/>
                  </a:rPr>
                  <a:t> </a:t>
                </a:r>
                <a:r>
                  <a:rPr lang="en-US" sz="1800" b="1" i="1" dirty="0">
                    <a:effectLst/>
                    <a:ea typeface="Calibri" panose="020F0502020204030204" pitchFamily="34" charset="0"/>
                    <a:cs typeface="Times New Roman" panose="02020603050405020304" pitchFamily="18" charset="0"/>
                  </a:rPr>
                  <a:t>and</a:t>
                </a:r>
                <a:r>
                  <a:rPr lang="en-US" sz="1800" b="1" i="1" spc="50" dirty="0">
                    <a:effectLst/>
                    <a:ea typeface="Calibri" panose="020F0502020204030204" pitchFamily="34" charset="0"/>
                    <a:cs typeface="Times New Roman" panose="02020603050405020304" pitchFamily="18" charset="0"/>
                  </a:rPr>
                  <a:t> </a:t>
                </a:r>
                <a:r>
                  <a:rPr lang="en-US" sz="1800" b="1" i="1" spc="35" dirty="0">
                    <a:effectLst/>
                    <a:ea typeface="Calibri" panose="020F0502020204030204" pitchFamily="34" charset="0"/>
                    <a:cs typeface="Times New Roman" panose="02020603050405020304" pitchFamily="18" charset="0"/>
                  </a:rPr>
                  <a:t>the</a:t>
                </a:r>
                <a:r>
                  <a:rPr lang="en-US" sz="1800" b="1" i="1" spc="40" dirty="0">
                    <a:effectLst/>
                    <a:ea typeface="Calibri" panose="020F0502020204030204" pitchFamily="34" charset="0"/>
                    <a:cs typeface="Times New Roman" panose="02020603050405020304" pitchFamily="18" charset="0"/>
                  </a:rPr>
                  <a:t> </a:t>
                </a:r>
                <a:r>
                  <a:rPr lang="en-US" sz="1800" b="1" i="1" dirty="0">
                    <a:effectLst/>
                    <a:ea typeface="Calibri" panose="020F0502020204030204" pitchFamily="34" charset="0"/>
                    <a:cs typeface="Times New Roman" panose="02020603050405020304" pitchFamily="18" charset="0"/>
                  </a:rPr>
                  <a:t>relational operators  </a:t>
                </a:r>
                <a:r>
                  <a:rPr lang="en-US" sz="1800" b="1" i="1" spc="190" dirty="0">
                    <a:effectLst/>
                    <a:ea typeface="Calibri" panose="020F0502020204030204" pitchFamily="34" charset="0"/>
                    <a:cs typeface="Times New Roman" panose="02020603050405020304" pitchFamily="18" charset="0"/>
                  </a:rPr>
                  <a:t> </a:t>
                </a:r>
                <a:r>
                  <a:rPr lang="en-US" sz="1800" b="1" i="1" dirty="0">
                    <a:effectLst/>
                    <a:ea typeface="Calibri" panose="020F0502020204030204" pitchFamily="34" charset="0"/>
                    <a:cs typeface="Times New Roman" panose="02020603050405020304" pitchFamily="18" charset="0"/>
                  </a:rPr>
                  <a:t>&lt;, </a:t>
                </a:r>
                <a14:m>
                  <m:oMath xmlns:m="http://schemas.openxmlformats.org/officeDocument/2006/math">
                    <m:r>
                      <a:rPr lang="en-US" sz="1800" b="1" i="1" dirty="0" smtClean="0">
                        <a:effectLst/>
                        <a:latin typeface="Cambria Math" panose="02040503050406030204" pitchFamily="18" charset="0"/>
                        <a:ea typeface="Cambria Math" panose="02040503050406030204" pitchFamily="18" charset="0"/>
                        <a:cs typeface="Times New Roman" panose="02020603050405020304" pitchFamily="18" charset="0"/>
                      </a:rPr>
                      <m:t>≤,</m:t>
                    </m:r>
                  </m:oMath>
                </a14:m>
                <a:r>
                  <a:rPr lang="en-US" sz="1800" b="1" i="1" dirty="0">
                    <a:effectLst/>
                    <a:ea typeface="Calibri" panose="020F0502020204030204" pitchFamily="34" charset="0"/>
                    <a:cs typeface="Times New Roman" panose="02020603050405020304" pitchFamily="18" charset="0"/>
                  </a:rPr>
                  <a:t>=,</a:t>
                </a:r>
                <a:r>
                  <a:rPr lang="en-US" sz="1800" b="1" i="1" spc="-135" dirty="0">
                    <a:effectLst/>
                    <a:ea typeface="Calibri" panose="020F0502020204030204" pitchFamily="34" charset="0"/>
                    <a:cs typeface="Times New Roman" panose="02020603050405020304" pitchFamily="18" charset="0"/>
                  </a:rPr>
                  <a:t> </a:t>
                </a:r>
                <a14:m>
                  <m:oMath xmlns:m="http://schemas.openxmlformats.org/officeDocument/2006/math">
                    <m:r>
                      <a:rPr lang="en-US" sz="1800" b="1" i="1" dirty="0" smtClean="0">
                        <a:effectLst/>
                        <a:latin typeface="Cambria Math" panose="02040503050406030204" pitchFamily="18" charset="0"/>
                        <a:ea typeface="Cambria Math" panose="02040503050406030204" pitchFamily="18" charset="0"/>
                        <a:cs typeface="Times New Roman" panose="02020603050405020304" pitchFamily="18" charset="0"/>
                      </a:rPr>
                      <m:t>≠</m:t>
                    </m:r>
                  </m:oMath>
                </a14:m>
                <a:r>
                  <a:rPr lang="en-US" sz="1800" b="1" i="1" dirty="0">
                    <a:effectLst/>
                    <a:ea typeface="Calibri" panose="020F0502020204030204" pitchFamily="34" charset="0"/>
                    <a:cs typeface="Times New Roman" panose="02020603050405020304" pitchFamily="18" charset="0"/>
                  </a:rPr>
                  <a:t>, </a:t>
                </a:r>
                <a14:m>
                  <m:oMath xmlns:m="http://schemas.openxmlformats.org/officeDocument/2006/math">
                    <m:r>
                      <a:rPr lang="en-US" sz="1800" b="1" i="1" smtClean="0">
                        <a:effectLst/>
                        <a:latin typeface="Cambria Math" panose="02040503050406030204" pitchFamily="18" charset="0"/>
                        <a:ea typeface="Cambria Math" panose="02040503050406030204" pitchFamily="18" charset="0"/>
                        <a:cs typeface="Times New Roman" panose="02020603050405020304" pitchFamily="18" charset="0"/>
                      </a:rPr>
                      <m:t>≥,</m:t>
                    </m:r>
                  </m:oMath>
                </a14:m>
                <a:r>
                  <a:rPr lang="en-US" sz="1800" b="1" i="1" spc="165" dirty="0">
                    <a:effectLst/>
                    <a:ea typeface="Calibri" panose="020F0502020204030204" pitchFamily="34" charset="0"/>
                    <a:cs typeface="Times New Roman" panose="02020603050405020304" pitchFamily="18" charset="0"/>
                  </a:rPr>
                  <a:t> </a:t>
                </a:r>
                <a:r>
                  <a:rPr lang="en-US" sz="1800" b="1" i="1" dirty="0">
                    <a:effectLst/>
                    <a:ea typeface="Calibri" panose="020F0502020204030204" pitchFamily="34" charset="0"/>
                    <a:cs typeface="Times New Roman" panose="02020603050405020304" pitchFamily="18" charset="0"/>
                  </a:rPr>
                  <a:t>and </a:t>
                </a:r>
                <a:r>
                  <a:rPr lang="en-US" sz="1800" b="1" i="1" spc="105" dirty="0">
                    <a:effectLst/>
                    <a:ea typeface="Calibri" panose="020F0502020204030204" pitchFamily="34" charset="0"/>
                    <a:cs typeface="Times New Roman" panose="02020603050405020304" pitchFamily="18" charset="0"/>
                  </a:rPr>
                  <a:t> </a:t>
                </a:r>
                <a:r>
                  <a:rPr lang="en-US" sz="1800" b="1" i="1" dirty="0">
                    <a:effectLst/>
                    <a:ea typeface="Calibri" panose="020F0502020204030204" pitchFamily="34" charset="0"/>
                    <a:cs typeface="Times New Roman" panose="02020603050405020304" pitchFamily="18" charset="0"/>
                  </a:rPr>
                  <a:t>&gt;</a:t>
                </a:r>
                <a:r>
                  <a:rPr lang="en-US" sz="1800" b="1" i="1" spc="290" dirty="0">
                    <a:effectLst/>
                    <a:ea typeface="Calibri" panose="020F0502020204030204" pitchFamily="34" charset="0"/>
                    <a:cs typeface="Times New Roman" panose="02020603050405020304" pitchFamily="18" charset="0"/>
                  </a:rPr>
                  <a:t> </a:t>
                </a:r>
                <a:r>
                  <a:rPr lang="en-US" sz="1800" b="1" i="1" dirty="0">
                    <a:effectLst/>
                    <a:ea typeface="Calibri" panose="020F0502020204030204" pitchFamily="34" charset="0"/>
                    <a:cs typeface="Times New Roman" panose="02020603050405020304" pitchFamily="18" charset="0"/>
                  </a:rPr>
                  <a:t>are</a:t>
                </a:r>
                <a:r>
                  <a:rPr lang="en-US" sz="1800" b="1" i="1" spc="240" dirty="0">
                    <a:effectLst/>
                    <a:ea typeface="Calibri" panose="020F0502020204030204" pitchFamily="34" charset="0"/>
                    <a:cs typeface="Times New Roman" panose="02020603050405020304" pitchFamily="18" charset="0"/>
                  </a:rPr>
                  <a:t> </a:t>
                </a:r>
                <a:r>
                  <a:rPr lang="en-US" sz="1800" b="1" i="1" dirty="0">
                    <a:effectLst/>
                    <a:ea typeface="Calibri" panose="020F0502020204030204" pitchFamily="34" charset="0"/>
                    <a:cs typeface="Times New Roman" panose="02020603050405020304" pitchFamily="18" charset="0"/>
                  </a:rPr>
                  <a:t>provided.</a:t>
                </a:r>
              </a:p>
              <a:p>
                <a:pPr marL="254000" marR="0">
                  <a:spcBef>
                    <a:spcPts val="0"/>
                  </a:spcBef>
                  <a:spcAft>
                    <a:spcPts val="0"/>
                  </a:spcAft>
                </a:pPr>
                <a:endParaRPr lang="en-US" dirty="0">
                  <a:effectLst/>
                  <a:ea typeface="Calibri" panose="020F0502020204030204" pitchFamily="34" charset="0"/>
                  <a:cs typeface="Times New Roman" panose="02020603050405020304" pitchFamily="18" charset="0"/>
                </a:endParaRPr>
              </a:p>
              <a:p>
                <a:pPr marL="711200" marR="0" indent="-457200">
                  <a:spcBef>
                    <a:spcPts val="0"/>
                  </a:spcBef>
                  <a:spcAft>
                    <a:spcPts val="0"/>
                  </a:spcAft>
                  <a:buFont typeface="+mj-lt"/>
                  <a:buAutoNum type="arabicPeriod"/>
                </a:pPr>
                <a:endParaRPr lang="en-US" dirty="0">
                  <a:effectLst/>
                  <a:ea typeface="Calibri" panose="020F0502020204030204" pitchFamily="34" charset="0"/>
                  <a:cs typeface="Times New Roman" panose="02020603050405020304" pitchFamily="18" charset="0"/>
                </a:endParaRPr>
              </a:p>
              <a:p>
                <a:pPr marL="0" marR="0">
                  <a:spcBef>
                    <a:spcPts val="0"/>
                  </a:spcBef>
                  <a:spcAft>
                    <a:spcPts val="0"/>
                  </a:spcAft>
                </a:pPr>
                <a:r>
                  <a:rPr lang="en-US" sz="1800" dirty="0">
                    <a:effectLst/>
                    <a:ea typeface="Calibri" panose="020F0502020204030204" pitchFamily="34" charset="0"/>
                    <a:cs typeface="Times New Roman" panose="02020603050405020304" pitchFamily="18" charset="0"/>
                  </a:rPr>
                  <a:t> </a:t>
                </a:r>
              </a:p>
            </p:txBody>
          </p:sp>
        </mc:Choice>
        <mc:Fallback xmlns="">
          <p:sp>
            <p:nvSpPr>
              <p:cNvPr id="8" name="TextBox 7">
                <a:extLst>
                  <a:ext uri="{FF2B5EF4-FFF2-40B4-BE49-F238E27FC236}">
                    <a16:creationId xmlns:a16="http://schemas.microsoft.com/office/drawing/2014/main" id="{AC2B1F6A-6A6F-5F7C-E8A6-EA36A84F977B}"/>
                  </a:ext>
                </a:extLst>
              </p:cNvPr>
              <p:cNvSpPr txBox="1">
                <a:spLocks noRot="1" noChangeAspect="1" noMove="1" noResize="1" noEditPoints="1" noAdjustHandles="1" noChangeArrowheads="1" noChangeShapeType="1" noTextEdit="1"/>
              </p:cNvSpPr>
              <p:nvPr/>
            </p:nvSpPr>
            <p:spPr>
              <a:xfrm>
                <a:off x="457200" y="1447800"/>
                <a:ext cx="8153400" cy="4356577"/>
              </a:xfrm>
              <a:prstGeom prst="rect">
                <a:avLst/>
              </a:prstGeom>
              <a:blipFill>
                <a:blip r:embed="rId2"/>
                <a:stretch>
                  <a:fillRect l="-299" t="-1120" r="-374"/>
                </a:stretch>
              </a:blipFill>
            </p:spPr>
            <p:txBody>
              <a:bodyPr/>
              <a:lstStyle/>
              <a:p>
                <a:r>
                  <a:rPr lang="en-US">
                    <a:noFill/>
                  </a:rPr>
                  <a:t> </a:t>
                </a:r>
              </a:p>
            </p:txBody>
          </p:sp>
        </mc:Fallback>
      </mc:AlternateContent>
    </p:spTree>
    <p:extLst>
      <p:ext uri="{BB962C8B-B14F-4D97-AF65-F5344CB8AC3E}">
        <p14:creationId xmlns:p14="http://schemas.microsoft.com/office/powerpoint/2010/main" val="21752008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ALGORITHM</a:t>
            </a:r>
            <a:r>
              <a:rPr lang="en-US" sz="1800" b="1" spc="6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SPECIFICATION</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prstClr val="white"/>
                </a:solidFill>
              </a:rPr>
              <a:pPr/>
              <a:t>March 13, 2024</a:t>
            </a:fld>
            <a:endParaRPr lang="en-US">
              <a:solidFill>
                <a:prstClr val="white"/>
              </a:solidFill>
            </a:endParaRPr>
          </a:p>
        </p:txBody>
      </p:sp>
      <p:sp>
        <p:nvSpPr>
          <p:cNvPr id="5" name="Footer Placeholder 4"/>
          <p:cNvSpPr>
            <a:spLocks noGrp="1"/>
          </p:cNvSpPr>
          <p:nvPr>
            <p:ph type="ftr" sz="quarter" idx="11"/>
          </p:nvPr>
        </p:nvSpPr>
        <p:spPr/>
        <p:txBody>
          <a:bodyPr/>
          <a:lstStyle/>
          <a:p>
            <a:r>
              <a:rPr lang="en-US" dirty="0">
                <a:solidFill>
                  <a:prstClr val="white"/>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prstClr val="white"/>
                </a:solidFill>
              </a:rPr>
              <a:pPr/>
              <a:t>9</a:t>
            </a:fld>
            <a:endParaRPr lang="en-US" dirty="0">
              <a:solidFill>
                <a:prstClr val="white"/>
              </a:solidFill>
            </a:endParaRPr>
          </a:p>
        </p:txBody>
      </p:sp>
      <p:sp>
        <p:nvSpPr>
          <p:cNvPr id="8" name="TextBox 7">
            <a:extLst>
              <a:ext uri="{FF2B5EF4-FFF2-40B4-BE49-F238E27FC236}">
                <a16:creationId xmlns:a16="http://schemas.microsoft.com/office/drawing/2014/main" id="{AC2B1F6A-6A6F-5F7C-E8A6-EA36A84F977B}"/>
              </a:ext>
            </a:extLst>
          </p:cNvPr>
          <p:cNvSpPr txBox="1"/>
          <p:nvPr/>
        </p:nvSpPr>
        <p:spPr>
          <a:xfrm>
            <a:off x="457200" y="1447800"/>
            <a:ext cx="8153400" cy="4813112"/>
          </a:xfrm>
          <a:prstGeom prst="rect">
            <a:avLst/>
          </a:prstGeom>
          <a:noFill/>
        </p:spPr>
        <p:txBody>
          <a:bodyPr wrap="square">
            <a:spAutoFit/>
          </a:bodyPr>
          <a:lstStyle/>
          <a:p>
            <a:pPr marL="342900" marR="0" indent="-342900">
              <a:spcBef>
                <a:spcPts val="0"/>
              </a:spcBef>
              <a:spcAft>
                <a:spcPts val="0"/>
              </a:spcAft>
              <a:buFont typeface="+mj-lt"/>
              <a:buAutoNum type="arabicPeriod" startAt="6"/>
            </a:pPr>
            <a:r>
              <a:rPr lang="en-US" sz="1800" dirty="0">
                <a:effectLst/>
                <a:ea typeface="Calibri" panose="020F0502020204030204" pitchFamily="34" charset="0"/>
                <a:cs typeface="Times New Roman" panose="02020603050405020304" pitchFamily="18" charset="0"/>
              </a:rPr>
              <a:t>Elements</a:t>
            </a:r>
            <a:r>
              <a:rPr lang="en-US" sz="1800" spc="17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of</a:t>
            </a:r>
            <a:r>
              <a:rPr lang="en-US" sz="1800" spc="150"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multidimensional</a:t>
            </a:r>
            <a:r>
              <a:rPr lang="en-US" sz="1800" spc="220"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arrays</a:t>
            </a:r>
            <a:r>
              <a:rPr lang="en-US" sz="1800" spc="130"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are</a:t>
            </a:r>
            <a:r>
              <a:rPr lang="en-US" sz="1800" spc="90"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accessed</a:t>
            </a:r>
            <a:r>
              <a:rPr lang="en-US" sz="1800" spc="250"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using</a:t>
            </a:r>
            <a:r>
              <a:rPr lang="en-US" sz="1800" spc="19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a:t>
            </a:r>
            <a:r>
              <a:rPr lang="en-US" sz="1800" spc="60"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and</a:t>
            </a:r>
            <a:r>
              <a:rPr lang="en-US" sz="1800" spc="140"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a:t>
            </a:r>
            <a:r>
              <a:rPr lang="en-US" sz="1800" spc="75" dirty="0">
                <a:effectLst/>
                <a:ea typeface="Calibri" panose="020F0502020204030204" pitchFamily="34" charset="0"/>
                <a:cs typeface="Times New Roman" panose="02020603050405020304" pitchFamily="18" charset="0"/>
              </a:rPr>
              <a:t> </a:t>
            </a:r>
            <a:r>
              <a:rPr lang="en-US" sz="1800" spc="-30" dirty="0">
                <a:effectLst/>
                <a:ea typeface="Calibri" panose="020F0502020204030204" pitchFamily="34" charset="0"/>
                <a:cs typeface="Times New Roman" panose="02020603050405020304" pitchFamily="18" charset="0"/>
              </a:rPr>
              <a:t>F</a:t>
            </a:r>
            <a:r>
              <a:rPr lang="en-US" sz="1800" spc="-35" dirty="0">
                <a:effectLst/>
                <a:ea typeface="Calibri" panose="020F0502020204030204" pitchFamily="34" charset="0"/>
                <a:cs typeface="Times New Roman" panose="02020603050405020304" pitchFamily="18" charset="0"/>
              </a:rPr>
              <a:t>or</a:t>
            </a:r>
            <a:r>
              <a:rPr lang="en-US" sz="1800" spc="10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example,</a:t>
            </a:r>
            <a:r>
              <a:rPr lang="en-US" sz="1800" spc="20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if</a:t>
            </a:r>
            <a:r>
              <a:rPr lang="en-US" sz="1800" spc="125" dirty="0">
                <a:effectLst/>
                <a:ea typeface="Calibri" panose="020F0502020204030204" pitchFamily="34" charset="0"/>
                <a:cs typeface="Times New Roman" panose="02020603050405020304" pitchFamily="18" charset="0"/>
              </a:rPr>
              <a:t> </a:t>
            </a:r>
            <a:r>
              <a:rPr lang="en-US" sz="1800" i="1" dirty="0">
                <a:effectLst/>
                <a:ea typeface="Calibri" panose="020F0502020204030204" pitchFamily="34" charset="0"/>
                <a:cs typeface="Times New Roman" panose="02020603050405020304" pitchFamily="18" charset="0"/>
              </a:rPr>
              <a:t>A</a:t>
            </a:r>
            <a:r>
              <a:rPr lang="en-US" sz="1800" i="1" spc="130"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is</a:t>
            </a:r>
            <a:r>
              <a:rPr lang="en-US" sz="1800" spc="10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a</a:t>
            </a:r>
            <a:r>
              <a:rPr lang="en-US" sz="1800" spc="110"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two-dimensional</a:t>
            </a:r>
            <a:r>
              <a:rPr lang="en-US" sz="1800" spc="140"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array,</a:t>
            </a:r>
            <a:r>
              <a:rPr lang="en-US" sz="1800" spc="18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t</a:t>
            </a:r>
            <a:r>
              <a:rPr lang="en-US" sz="1800" spc="-170" dirty="0">
                <a:effectLst/>
                <a:ea typeface="Calibri" panose="020F0502020204030204" pitchFamily="34" charset="0"/>
                <a:cs typeface="Times New Roman" panose="02020603050405020304" pitchFamily="18" charset="0"/>
              </a:rPr>
              <a:t>h</a:t>
            </a:r>
            <a:r>
              <a:rPr lang="en-US" sz="1800" dirty="0">
                <a:effectLst/>
                <a:ea typeface="Calibri" panose="020F0502020204030204" pitchFamily="34" charset="0"/>
                <a:cs typeface="Times New Roman" panose="02020603050405020304" pitchFamily="18" charset="0"/>
              </a:rPr>
              <a:t>e</a:t>
            </a:r>
            <a:r>
              <a:rPr lang="en-US" sz="1800" spc="200"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(i,</a:t>
            </a:r>
            <a:r>
              <a:rPr lang="en-US" sz="1800" spc="-160"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j)</a:t>
            </a:r>
            <a:r>
              <a:rPr lang="en-US" sz="1800" spc="-95" dirty="0">
                <a:effectLst/>
                <a:ea typeface="Calibri" panose="020F0502020204030204" pitchFamily="34" charset="0"/>
                <a:cs typeface="Times New Roman" panose="02020603050405020304" pitchFamily="18" charset="0"/>
              </a:rPr>
              <a:t> </a:t>
            </a:r>
            <a:r>
              <a:rPr lang="en-US" sz="1800" spc="55" dirty="0" err="1">
                <a:effectLst/>
                <a:ea typeface="Calibri" panose="020F0502020204030204" pitchFamily="34" charset="0"/>
                <a:cs typeface="Times New Roman" panose="02020603050405020304" pitchFamily="18" charset="0"/>
              </a:rPr>
              <a:t>th</a:t>
            </a:r>
            <a:r>
              <a:rPr lang="en-US" sz="1800" spc="13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element</a:t>
            </a:r>
            <a:r>
              <a:rPr lang="en-US" sz="1800" spc="200"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of</a:t>
            </a:r>
            <a:r>
              <a:rPr lang="en-US" sz="1800" spc="145" dirty="0">
                <a:effectLst/>
                <a:ea typeface="Calibri" panose="020F0502020204030204" pitchFamily="34" charset="0"/>
                <a:cs typeface="Times New Roman" panose="02020603050405020304" pitchFamily="18" charset="0"/>
              </a:rPr>
              <a:t> </a:t>
            </a:r>
            <a:r>
              <a:rPr lang="en-US" sz="1800" spc="35" dirty="0">
                <a:effectLst/>
                <a:ea typeface="Calibri" panose="020F0502020204030204" pitchFamily="34" charset="0"/>
                <a:cs typeface="Times New Roman" panose="02020603050405020304" pitchFamily="18" charset="0"/>
              </a:rPr>
              <a:t>the</a:t>
            </a:r>
            <a:r>
              <a:rPr lang="en-US" sz="1800" spc="11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array</a:t>
            </a:r>
            <a:r>
              <a:rPr lang="en-US" sz="1800" spc="120"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is</a:t>
            </a:r>
            <a:r>
              <a:rPr lang="en-US" sz="1800" spc="60"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denoted</a:t>
            </a:r>
            <a:r>
              <a:rPr lang="en-US" sz="1800" spc="13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as</a:t>
            </a:r>
            <a:r>
              <a:rPr lang="en-US" sz="1800" spc="75" dirty="0">
                <a:effectLst/>
                <a:ea typeface="Calibri" panose="020F0502020204030204" pitchFamily="34" charset="0"/>
                <a:cs typeface="Times New Roman" panose="02020603050405020304" pitchFamily="18" charset="0"/>
              </a:rPr>
              <a:t> </a:t>
            </a:r>
            <a:r>
              <a:rPr lang="en-US" sz="1800" spc="5" dirty="0">
                <a:effectLst/>
                <a:ea typeface="Calibri" panose="020F0502020204030204" pitchFamily="34" charset="0"/>
                <a:cs typeface="Times New Roman" panose="02020603050405020304" pitchFamily="18" charset="0"/>
              </a:rPr>
              <a:t>A[</a:t>
            </a:r>
            <a:r>
              <a:rPr lang="en-US" sz="1800" dirty="0">
                <a:effectLst/>
                <a:ea typeface="Calibri" panose="020F0502020204030204" pitchFamily="34" charset="0"/>
                <a:cs typeface="Times New Roman" panose="02020603050405020304" pitchFamily="18" charset="0"/>
              </a:rPr>
              <a:t>i,</a:t>
            </a:r>
            <a:r>
              <a:rPr lang="en-US" sz="1800" spc="-15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j]. </a:t>
            </a:r>
            <a:r>
              <a:rPr lang="en-US" sz="1800" spc="30"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Array</a:t>
            </a:r>
            <a:r>
              <a:rPr lang="en-US" sz="1800" spc="160"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indices</a:t>
            </a:r>
            <a:r>
              <a:rPr lang="en-US" sz="1800" spc="80"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start</a:t>
            </a:r>
            <a:r>
              <a:rPr lang="en-US" sz="1800" spc="13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at</a:t>
            </a:r>
            <a:r>
              <a:rPr lang="en-US" sz="1800" spc="13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zero.</a:t>
            </a:r>
          </a:p>
          <a:p>
            <a:pPr marL="0" marR="0">
              <a:spcBef>
                <a:spcPts val="0"/>
              </a:spcBef>
              <a:spcAft>
                <a:spcPts val="0"/>
              </a:spcAft>
            </a:pPr>
            <a:r>
              <a:rPr lang="en-US" sz="1800" dirty="0">
                <a:effectLst/>
                <a:ea typeface="Calibri" panose="020F0502020204030204" pitchFamily="34" charset="0"/>
                <a:cs typeface="Times New Roman" panose="02020603050405020304" pitchFamily="18" charset="0"/>
              </a:rPr>
              <a:t> </a:t>
            </a:r>
          </a:p>
          <a:p>
            <a:pPr marL="342900" marR="0" indent="-342900">
              <a:spcBef>
                <a:spcPts val="0"/>
              </a:spcBef>
              <a:spcAft>
                <a:spcPts val="0"/>
              </a:spcAft>
              <a:buFont typeface="+mj-lt"/>
              <a:buAutoNum type="arabicPeriod" startAt="7"/>
            </a:pPr>
            <a:r>
              <a:rPr lang="en-US" sz="1800" dirty="0">
                <a:effectLst/>
                <a:ea typeface="Calibri" panose="020F0502020204030204" pitchFamily="34" charset="0"/>
                <a:cs typeface="Times New Roman" panose="02020603050405020304" pitchFamily="18" charset="0"/>
              </a:rPr>
              <a:t>The</a:t>
            </a:r>
            <a:r>
              <a:rPr lang="en-US" sz="1800" spc="-4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following</a:t>
            </a:r>
            <a:r>
              <a:rPr lang="en-US" sz="1800" spc="1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looping</a:t>
            </a:r>
            <a:r>
              <a:rPr lang="en-US" sz="1800" spc="-30"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statements</a:t>
            </a:r>
            <a:r>
              <a:rPr lang="en-US" sz="1800" spc="60"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are</a:t>
            </a:r>
            <a:r>
              <a:rPr lang="en-US" sz="1800" spc="-60"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employed:</a:t>
            </a:r>
            <a:r>
              <a:rPr lang="en-US" sz="1800" spc="190" dirty="0">
                <a:effectLst/>
                <a:ea typeface="Calibri" panose="020F0502020204030204" pitchFamily="34" charset="0"/>
                <a:cs typeface="Times New Roman" panose="02020603050405020304" pitchFamily="18" charset="0"/>
              </a:rPr>
              <a:t> </a:t>
            </a:r>
            <a:r>
              <a:rPr lang="en-US" sz="1800" b="1" dirty="0">
                <a:effectLst/>
                <a:ea typeface="Calibri" panose="020F0502020204030204" pitchFamily="34" charset="0"/>
                <a:cs typeface="Times New Roman" panose="02020603050405020304" pitchFamily="18" charset="0"/>
              </a:rPr>
              <a:t>for,</a:t>
            </a:r>
            <a:r>
              <a:rPr lang="en-US" sz="1800" b="1" spc="40" dirty="0">
                <a:effectLst/>
                <a:ea typeface="Calibri" panose="020F0502020204030204" pitchFamily="34" charset="0"/>
                <a:cs typeface="Times New Roman" panose="02020603050405020304" pitchFamily="18" charset="0"/>
              </a:rPr>
              <a:t> </a:t>
            </a:r>
            <a:r>
              <a:rPr lang="en-US" sz="1800" b="1" dirty="0">
                <a:effectLst/>
                <a:ea typeface="Calibri" panose="020F0502020204030204" pitchFamily="34" charset="0"/>
                <a:cs typeface="Times New Roman" panose="02020603050405020304" pitchFamily="18" charset="0"/>
              </a:rPr>
              <a:t>while,</a:t>
            </a:r>
            <a:r>
              <a:rPr lang="en-US" sz="1800" b="1" spc="80"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and</a:t>
            </a:r>
            <a:r>
              <a:rPr lang="en-US" sz="1800" spc="15" dirty="0">
                <a:effectLst/>
                <a:ea typeface="Calibri" panose="020F0502020204030204" pitchFamily="34" charset="0"/>
                <a:cs typeface="Times New Roman" panose="02020603050405020304" pitchFamily="18" charset="0"/>
              </a:rPr>
              <a:t> </a:t>
            </a:r>
            <a:r>
              <a:rPr lang="en-US" sz="1800" b="1" dirty="0">
                <a:effectLst/>
                <a:ea typeface="Calibri" panose="020F0502020204030204" pitchFamily="34" charset="0"/>
                <a:cs typeface="Times New Roman" panose="02020603050405020304" pitchFamily="18" charset="0"/>
              </a:rPr>
              <a:t>repeat­ until.</a:t>
            </a:r>
            <a:r>
              <a:rPr lang="en-US" sz="1800" b="1" spc="22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The</a:t>
            </a:r>
            <a:r>
              <a:rPr lang="en-US" sz="1800" spc="60" dirty="0">
                <a:effectLst/>
                <a:ea typeface="Calibri" panose="020F0502020204030204" pitchFamily="34" charset="0"/>
                <a:cs typeface="Times New Roman" panose="02020603050405020304" pitchFamily="18" charset="0"/>
              </a:rPr>
              <a:t> </a:t>
            </a:r>
            <a:r>
              <a:rPr lang="en-US" sz="1800" b="1" dirty="0">
                <a:effectLst/>
                <a:ea typeface="Calibri" panose="020F0502020204030204" pitchFamily="34" charset="0"/>
                <a:cs typeface="Times New Roman" panose="02020603050405020304" pitchFamily="18" charset="0"/>
              </a:rPr>
              <a:t>while</a:t>
            </a:r>
            <a:r>
              <a:rPr lang="en-US" sz="1800" b="1" spc="130"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loop</a:t>
            </a:r>
            <a:r>
              <a:rPr lang="en-US" sz="1800" spc="70"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takes</a:t>
            </a:r>
            <a:r>
              <a:rPr lang="en-US" sz="1800" spc="100" dirty="0">
                <a:effectLst/>
                <a:ea typeface="Calibri" panose="020F0502020204030204" pitchFamily="34" charset="0"/>
                <a:cs typeface="Times New Roman" panose="02020603050405020304" pitchFamily="18" charset="0"/>
              </a:rPr>
              <a:t> </a:t>
            </a:r>
            <a:r>
              <a:rPr lang="en-US" sz="1800" spc="35" dirty="0">
                <a:effectLst/>
                <a:ea typeface="Calibri" panose="020F0502020204030204" pitchFamily="34" charset="0"/>
                <a:cs typeface="Times New Roman" panose="02020603050405020304" pitchFamily="18" charset="0"/>
              </a:rPr>
              <a:t>the</a:t>
            </a:r>
            <a:r>
              <a:rPr lang="en-US" sz="1800" spc="8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following</a:t>
            </a:r>
            <a:r>
              <a:rPr lang="en-US" sz="1800" spc="50"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form:</a:t>
            </a:r>
          </a:p>
          <a:p>
            <a:pPr marL="914400" lvl="1"/>
            <a:r>
              <a:rPr lang="en-US" dirty="0">
                <a:effectLst/>
                <a:ea typeface="Times New Roman" panose="02020603050405020304" pitchFamily="18" charset="0"/>
                <a:cs typeface="Times New Roman" panose="02020603050405020304" pitchFamily="18" charset="0"/>
              </a:rPr>
              <a:t> </a:t>
            </a:r>
            <a:endParaRPr lang="en-US" dirty="0">
              <a:effectLst/>
              <a:ea typeface="Calibri" panose="020F0502020204030204" pitchFamily="34" charset="0"/>
              <a:cs typeface="Times New Roman" panose="02020603050405020304" pitchFamily="18" charset="0"/>
            </a:endParaRPr>
          </a:p>
          <a:p>
            <a:pPr marL="914400" lvl="1"/>
            <a:r>
              <a:rPr lang="en-US" b="1" dirty="0">
                <a:effectLst/>
                <a:ea typeface="Calibri" panose="020F0502020204030204" pitchFamily="34" charset="0"/>
                <a:cs typeface="Times New Roman" panose="02020603050405020304" pitchFamily="18" charset="0"/>
              </a:rPr>
              <a:t>while </a:t>
            </a:r>
            <a:r>
              <a:rPr lang="en-US" b="1" spc="255" dirty="0">
                <a:effectLst/>
                <a:ea typeface="Calibri" panose="020F0502020204030204" pitchFamily="34" charset="0"/>
                <a:cs typeface="Times New Roman" panose="02020603050405020304" pitchFamily="18" charset="0"/>
              </a:rPr>
              <a:t>(</a:t>
            </a:r>
            <a:r>
              <a:rPr lang="en-US" i="1" spc="-75" dirty="0">
                <a:effectLst/>
                <a:ea typeface="Calibri" panose="020F0502020204030204" pitchFamily="34" charset="0"/>
                <a:cs typeface="Times New Roman" panose="02020603050405020304" pitchFamily="18" charset="0"/>
              </a:rPr>
              <a:t> </a:t>
            </a:r>
            <a:r>
              <a:rPr lang="en-US" i="1" dirty="0">
                <a:effectLst/>
                <a:ea typeface="Calibri" panose="020F0502020204030204" pitchFamily="34" charset="0"/>
                <a:cs typeface="Times New Roman" panose="02020603050405020304" pitchFamily="18" charset="0"/>
              </a:rPr>
              <a:t>conditio</a:t>
            </a:r>
            <a:r>
              <a:rPr lang="en-US" i="1" spc="130" dirty="0">
                <a:effectLst/>
                <a:ea typeface="Calibri" panose="020F0502020204030204" pitchFamily="34" charset="0"/>
                <a:cs typeface="Times New Roman" panose="02020603050405020304" pitchFamily="18" charset="0"/>
              </a:rPr>
              <a:t>n</a:t>
            </a:r>
            <a:r>
              <a:rPr lang="en-US" i="1" dirty="0">
                <a:effectLst/>
                <a:ea typeface="Calibri" panose="020F0502020204030204" pitchFamily="34" charset="0"/>
                <a:cs typeface="Times New Roman" panose="02020603050405020304" pitchFamily="18" charset="0"/>
              </a:rPr>
              <a:t>) </a:t>
            </a:r>
            <a:r>
              <a:rPr lang="en-US" i="1" spc="260" dirty="0">
                <a:effectLst/>
                <a:ea typeface="Calibri" panose="020F0502020204030204" pitchFamily="34" charset="0"/>
                <a:cs typeface="Times New Roman" panose="02020603050405020304" pitchFamily="18" charset="0"/>
              </a:rPr>
              <a:t> </a:t>
            </a:r>
            <a:r>
              <a:rPr lang="en-US" b="1" dirty="0">
                <a:effectLst/>
                <a:ea typeface="Calibri" panose="020F0502020204030204" pitchFamily="34" charset="0"/>
                <a:cs typeface="Times New Roman" panose="02020603050405020304" pitchFamily="18" charset="0"/>
              </a:rPr>
              <a:t>do</a:t>
            </a:r>
            <a:endParaRPr lang="en-US" dirty="0">
              <a:effectLst/>
              <a:ea typeface="Calibri" panose="020F0502020204030204" pitchFamily="34" charset="0"/>
              <a:cs typeface="Times New Roman" panose="02020603050405020304" pitchFamily="18" charset="0"/>
            </a:endParaRPr>
          </a:p>
          <a:p>
            <a:pPr marL="914400" lvl="1"/>
            <a:r>
              <a:rPr lang="en-US" dirty="0">
                <a:effectLst/>
                <a:ea typeface="Calibri" panose="020F0502020204030204" pitchFamily="34" charset="0"/>
                <a:cs typeface="Times New Roman" panose="02020603050405020304" pitchFamily="18" charset="0"/>
              </a:rPr>
              <a:t>{</a:t>
            </a:r>
          </a:p>
          <a:p>
            <a:pPr marL="914400" lvl="1"/>
            <a:r>
              <a:rPr lang="en-US" dirty="0">
                <a:effectLst/>
                <a:ea typeface="Calibri" panose="020F0502020204030204" pitchFamily="34" charset="0"/>
                <a:cs typeface="Times New Roman" panose="02020603050405020304" pitchFamily="18" charset="0"/>
              </a:rPr>
              <a:t>(</a:t>
            </a:r>
            <a:r>
              <a:rPr lang="en-US" spc="-20" dirty="0">
                <a:effectLst/>
                <a:ea typeface="Calibri" panose="020F0502020204030204" pitchFamily="34" charset="0"/>
                <a:cs typeface="Times New Roman" panose="02020603050405020304" pitchFamily="18" charset="0"/>
              </a:rPr>
              <a:t> </a:t>
            </a:r>
            <a:r>
              <a:rPr lang="en-US" dirty="0">
                <a:effectLst/>
                <a:ea typeface="Calibri" panose="020F0502020204030204" pitchFamily="34" charset="0"/>
                <a:cs typeface="Times New Roman" panose="02020603050405020304" pitchFamily="18" charset="0"/>
              </a:rPr>
              <a:t>statement  </a:t>
            </a:r>
            <a:r>
              <a:rPr lang="en-US" spc="40" dirty="0">
                <a:effectLst/>
                <a:ea typeface="Calibri" panose="020F0502020204030204" pitchFamily="34" charset="0"/>
                <a:cs typeface="Times New Roman" panose="02020603050405020304" pitchFamily="18" charset="0"/>
              </a:rPr>
              <a:t> </a:t>
            </a:r>
            <a:r>
              <a:rPr lang="en-US" dirty="0">
                <a:effectLst/>
                <a:ea typeface="Calibri" panose="020F0502020204030204" pitchFamily="34" charset="0"/>
                <a:cs typeface="Times New Roman" panose="02020603050405020304" pitchFamily="18" charset="0"/>
              </a:rPr>
              <a:t>1)</a:t>
            </a:r>
          </a:p>
          <a:p>
            <a:pPr marL="914400" lvl="1"/>
            <a:r>
              <a:rPr lang="en-US" dirty="0">
                <a:effectLst/>
                <a:ea typeface="Times New Roman" panose="02020603050405020304" pitchFamily="18" charset="0"/>
                <a:cs typeface="Times New Roman" panose="02020603050405020304" pitchFamily="18" charset="0"/>
              </a:rPr>
              <a:t> </a:t>
            </a:r>
            <a:endParaRPr lang="en-US" dirty="0">
              <a:effectLst/>
              <a:ea typeface="Calibri" panose="020F0502020204030204" pitchFamily="34" charset="0"/>
              <a:cs typeface="Times New Roman" panose="02020603050405020304" pitchFamily="18" charset="0"/>
            </a:endParaRPr>
          </a:p>
          <a:p>
            <a:pPr marL="914400" lvl="1"/>
            <a:r>
              <a:rPr lang="en-US" i="1" dirty="0">
                <a:effectLst/>
                <a:ea typeface="Calibri" panose="020F0502020204030204" pitchFamily="34" charset="0"/>
                <a:cs typeface="Times New Roman" panose="02020603050405020304" pitchFamily="18" charset="0"/>
              </a:rPr>
              <a:t>(</a:t>
            </a:r>
            <a:r>
              <a:rPr lang="en-US" i="1" spc="-25" dirty="0">
                <a:effectLst/>
                <a:ea typeface="Calibri" panose="020F0502020204030204" pitchFamily="34" charset="0"/>
                <a:cs typeface="Times New Roman" panose="02020603050405020304" pitchFamily="18" charset="0"/>
              </a:rPr>
              <a:t> </a:t>
            </a:r>
            <a:r>
              <a:rPr lang="en-US" i="1" dirty="0">
                <a:effectLst/>
                <a:ea typeface="Calibri" panose="020F0502020204030204" pitchFamily="34" charset="0"/>
                <a:cs typeface="Times New Roman" panose="02020603050405020304" pitchFamily="18" charset="0"/>
              </a:rPr>
              <a:t>statement  </a:t>
            </a:r>
            <a:r>
              <a:rPr lang="en-US" i="1" spc="25" dirty="0">
                <a:effectLst/>
                <a:ea typeface="Calibri" panose="020F0502020204030204" pitchFamily="34" charset="0"/>
                <a:cs typeface="Times New Roman" panose="02020603050405020304" pitchFamily="18" charset="0"/>
              </a:rPr>
              <a:t> </a:t>
            </a:r>
            <a:r>
              <a:rPr lang="en-US" dirty="0">
                <a:effectLst/>
                <a:ea typeface="Calibri" panose="020F0502020204030204" pitchFamily="34" charset="0"/>
                <a:cs typeface="Times New Roman" panose="02020603050405020304" pitchFamily="18" charset="0"/>
              </a:rPr>
              <a:t>n)</a:t>
            </a:r>
          </a:p>
          <a:p>
            <a:pPr marL="914400" lvl="1"/>
            <a:r>
              <a:rPr lang="en-US" dirty="0">
                <a:effectLst/>
                <a:ea typeface="Calibri" panose="020F0502020204030204" pitchFamily="34" charset="0"/>
                <a:cs typeface="Times New Roman" panose="02020603050405020304" pitchFamily="18" charset="0"/>
              </a:rPr>
              <a:t>}</a:t>
            </a:r>
          </a:p>
          <a:p>
            <a:pPr marR="0">
              <a:spcBef>
                <a:spcPts val="0"/>
              </a:spcBef>
              <a:spcAft>
                <a:spcPts val="0"/>
              </a:spcAft>
            </a:pPr>
            <a:r>
              <a:rPr lang="en-US" sz="1800" dirty="0">
                <a:effectLst/>
                <a:ea typeface="Calibri" panose="020F0502020204030204" pitchFamily="34" charset="0"/>
                <a:cs typeface="Times New Roman" panose="02020603050405020304" pitchFamily="18" charset="0"/>
              </a:rPr>
              <a:t>As </a:t>
            </a:r>
            <a:r>
              <a:rPr lang="en-US" sz="1800" spc="10"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long</a:t>
            </a:r>
            <a:r>
              <a:rPr lang="en-US" sz="1800" spc="24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as </a:t>
            </a:r>
            <a:r>
              <a:rPr lang="en-US" sz="1800" spc="40" dirty="0">
                <a:effectLst/>
                <a:ea typeface="Calibri" panose="020F0502020204030204" pitchFamily="34" charset="0"/>
                <a:cs typeface="Times New Roman" panose="02020603050405020304" pitchFamily="18" charset="0"/>
              </a:rPr>
              <a:t> </a:t>
            </a:r>
            <a:r>
              <a:rPr lang="en-US" sz="1800" i="1" dirty="0">
                <a:effectLst/>
                <a:ea typeface="Calibri" panose="020F0502020204030204" pitchFamily="34" charset="0"/>
                <a:cs typeface="Times New Roman" panose="02020603050405020304" pitchFamily="18" charset="0"/>
              </a:rPr>
              <a:t>(</a:t>
            </a:r>
            <a:r>
              <a:rPr lang="en-US" sz="1800" i="1" spc="-120" dirty="0">
                <a:effectLst/>
                <a:ea typeface="Calibri" panose="020F0502020204030204" pitchFamily="34" charset="0"/>
                <a:cs typeface="Times New Roman" panose="02020603050405020304" pitchFamily="18" charset="0"/>
              </a:rPr>
              <a:t> </a:t>
            </a:r>
            <a:r>
              <a:rPr lang="en-US" sz="1800" i="1" dirty="0">
                <a:effectLst/>
                <a:ea typeface="Calibri" panose="020F0502020204030204" pitchFamily="34" charset="0"/>
                <a:cs typeface="Times New Roman" panose="02020603050405020304" pitchFamily="18" charset="0"/>
              </a:rPr>
              <a:t>conditio</a:t>
            </a:r>
            <a:r>
              <a:rPr lang="en-US" sz="1800" i="1" spc="135" dirty="0">
                <a:effectLst/>
                <a:ea typeface="Calibri" panose="020F0502020204030204" pitchFamily="34" charset="0"/>
                <a:cs typeface="Times New Roman" panose="02020603050405020304" pitchFamily="18" charset="0"/>
              </a:rPr>
              <a:t>n</a:t>
            </a:r>
            <a:r>
              <a:rPr lang="en-US" sz="1800" i="1" dirty="0">
                <a:effectLst/>
                <a:ea typeface="Calibri" panose="020F0502020204030204" pitchFamily="34" charset="0"/>
                <a:cs typeface="Times New Roman" panose="02020603050405020304" pitchFamily="18" charset="0"/>
              </a:rPr>
              <a:t>) </a:t>
            </a:r>
            <a:r>
              <a:rPr lang="en-US" sz="1800" i="1" spc="12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is</a:t>
            </a:r>
            <a:r>
              <a:rPr lang="en-US" sz="1800" spc="200" dirty="0">
                <a:effectLst/>
                <a:ea typeface="Calibri" panose="020F0502020204030204" pitchFamily="34" charset="0"/>
                <a:cs typeface="Times New Roman" panose="02020603050405020304" pitchFamily="18" charset="0"/>
              </a:rPr>
              <a:t> </a:t>
            </a:r>
            <a:r>
              <a:rPr lang="en-US" sz="1800" b="1" dirty="0">
                <a:effectLst/>
                <a:ea typeface="Calibri" panose="020F0502020204030204" pitchFamily="34" charset="0"/>
                <a:cs typeface="Times New Roman" panose="02020603050405020304" pitchFamily="18" charset="0"/>
              </a:rPr>
              <a:t>true, </a:t>
            </a:r>
            <a:r>
              <a:rPr lang="en-US" sz="1800" b="1" spc="7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t</a:t>
            </a:r>
            <a:r>
              <a:rPr lang="en-US" sz="1800" spc="-12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he</a:t>
            </a:r>
            <a:r>
              <a:rPr lang="en-US" sz="1800" spc="270"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statements </a:t>
            </a:r>
            <a:r>
              <a:rPr lang="en-US" sz="1800" spc="3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get </a:t>
            </a:r>
            <a:r>
              <a:rPr lang="en-US" sz="1800" spc="6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executed.  </a:t>
            </a:r>
            <a:r>
              <a:rPr lang="en-US" sz="1800" spc="11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When</a:t>
            </a:r>
            <a:r>
              <a:rPr lang="en-US" sz="1800" spc="280" dirty="0">
                <a:effectLst/>
                <a:ea typeface="Calibri" panose="020F0502020204030204" pitchFamily="34" charset="0"/>
                <a:cs typeface="Times New Roman" panose="02020603050405020304" pitchFamily="18" charset="0"/>
              </a:rPr>
              <a:t> </a:t>
            </a:r>
            <a:r>
              <a:rPr lang="en-US" sz="1800" i="1" dirty="0">
                <a:effectLst/>
                <a:ea typeface="Calibri" panose="020F0502020204030204" pitchFamily="34" charset="0"/>
                <a:cs typeface="Times New Roman" panose="02020603050405020304" pitchFamily="18" charset="0"/>
              </a:rPr>
              <a:t>(</a:t>
            </a:r>
            <a:r>
              <a:rPr lang="en-US" sz="1800" i="1" spc="-140" dirty="0">
                <a:effectLst/>
                <a:ea typeface="Calibri" panose="020F0502020204030204" pitchFamily="34" charset="0"/>
                <a:cs typeface="Times New Roman" panose="02020603050405020304" pitchFamily="18" charset="0"/>
              </a:rPr>
              <a:t> </a:t>
            </a:r>
            <a:r>
              <a:rPr lang="en-US" sz="1800" i="1" dirty="0">
                <a:effectLst/>
                <a:ea typeface="Calibri" panose="020F0502020204030204" pitchFamily="34" charset="0"/>
                <a:cs typeface="Times New Roman" panose="02020603050405020304" pitchFamily="18" charset="0"/>
              </a:rPr>
              <a:t>conditio</a:t>
            </a:r>
            <a:r>
              <a:rPr lang="en-US" sz="1800" i="1" spc="135" dirty="0">
                <a:effectLst/>
                <a:ea typeface="Calibri" panose="020F0502020204030204" pitchFamily="34" charset="0"/>
                <a:cs typeface="Times New Roman" panose="02020603050405020304" pitchFamily="18" charset="0"/>
              </a:rPr>
              <a:t>n</a:t>
            </a:r>
            <a:r>
              <a:rPr lang="en-US" sz="1800" i="1" dirty="0">
                <a:effectLst/>
                <a:ea typeface="Calibri" panose="020F0502020204030204" pitchFamily="34" charset="0"/>
                <a:cs typeface="Times New Roman" panose="02020603050405020304" pitchFamily="18" charset="0"/>
              </a:rPr>
              <a:t>)</a:t>
            </a:r>
            <a:r>
              <a:rPr lang="en-US" sz="1800" i="1" spc="17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becomes</a:t>
            </a:r>
            <a:r>
              <a:rPr lang="en-US" sz="1800" spc="95" dirty="0">
                <a:effectLst/>
                <a:ea typeface="Calibri" panose="020F0502020204030204" pitchFamily="34" charset="0"/>
                <a:cs typeface="Times New Roman" panose="02020603050405020304" pitchFamily="18" charset="0"/>
              </a:rPr>
              <a:t> </a:t>
            </a:r>
            <a:r>
              <a:rPr lang="en-US" sz="1800" b="1" dirty="0">
                <a:effectLst/>
                <a:ea typeface="Calibri" panose="020F0502020204030204" pitchFamily="34" charset="0"/>
                <a:cs typeface="Times New Roman" panose="02020603050405020304" pitchFamily="18" charset="0"/>
              </a:rPr>
              <a:t>false,</a:t>
            </a:r>
            <a:r>
              <a:rPr lang="en-US" sz="1800" b="1" spc="7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t</a:t>
            </a:r>
            <a:r>
              <a:rPr lang="en-US" sz="1800" spc="-14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he</a:t>
            </a:r>
            <a:r>
              <a:rPr lang="en-US" sz="1800" spc="4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loop</a:t>
            </a:r>
            <a:r>
              <a:rPr lang="en-US" sz="1800" spc="3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is</a:t>
            </a:r>
            <a:r>
              <a:rPr lang="en-US" sz="1800" spc="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exited.</a:t>
            </a:r>
            <a:r>
              <a:rPr lang="en-US" sz="1800" spc="20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The</a:t>
            </a:r>
            <a:r>
              <a:rPr lang="en-US" sz="1800" spc="10"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value</a:t>
            </a:r>
            <a:r>
              <a:rPr lang="en-US" sz="1800" spc="7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of</a:t>
            </a:r>
            <a:r>
              <a:rPr lang="en-US" sz="1800" spc="115" dirty="0">
                <a:effectLst/>
                <a:ea typeface="Calibri" panose="020F0502020204030204" pitchFamily="34" charset="0"/>
                <a:cs typeface="Times New Roman" panose="02020603050405020304" pitchFamily="18" charset="0"/>
              </a:rPr>
              <a:t> </a:t>
            </a:r>
            <a:r>
              <a:rPr lang="en-US" sz="1800" i="1" dirty="0">
                <a:effectLst/>
                <a:ea typeface="Calibri" panose="020F0502020204030204" pitchFamily="34" charset="0"/>
                <a:cs typeface="Times New Roman" panose="02020603050405020304" pitchFamily="18" charset="0"/>
              </a:rPr>
              <a:t>(</a:t>
            </a:r>
            <a:r>
              <a:rPr lang="en-US" sz="1800" i="1" spc="-115" dirty="0">
                <a:effectLst/>
                <a:ea typeface="Calibri" panose="020F0502020204030204" pitchFamily="34" charset="0"/>
                <a:cs typeface="Times New Roman" panose="02020603050405020304" pitchFamily="18" charset="0"/>
              </a:rPr>
              <a:t> </a:t>
            </a:r>
            <a:r>
              <a:rPr lang="en-US" sz="1800" i="1" dirty="0">
                <a:effectLst/>
                <a:ea typeface="Calibri" panose="020F0502020204030204" pitchFamily="34" charset="0"/>
                <a:cs typeface="Times New Roman" panose="02020603050405020304" pitchFamily="18" charset="0"/>
              </a:rPr>
              <a:t>conditio</a:t>
            </a:r>
            <a:r>
              <a:rPr lang="en-US" sz="1800" i="1" spc="110" dirty="0">
                <a:effectLst/>
                <a:ea typeface="Calibri" panose="020F0502020204030204" pitchFamily="34" charset="0"/>
                <a:cs typeface="Times New Roman" panose="02020603050405020304" pitchFamily="18" charset="0"/>
              </a:rPr>
              <a:t>n</a:t>
            </a:r>
            <a:r>
              <a:rPr lang="en-US" sz="1800" i="1" dirty="0">
                <a:effectLst/>
                <a:ea typeface="Calibri" panose="020F0502020204030204" pitchFamily="34" charset="0"/>
                <a:cs typeface="Times New Roman" panose="02020603050405020304" pitchFamily="18" charset="0"/>
              </a:rPr>
              <a:t>)</a:t>
            </a:r>
            <a:r>
              <a:rPr lang="en-US" sz="1800" i="1" spc="510"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is</a:t>
            </a:r>
            <a:r>
              <a:rPr lang="en-US" sz="1800" spc="14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evaluated</a:t>
            </a:r>
            <a:r>
              <a:rPr lang="en-US" sz="1800" spc="250"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at</a:t>
            </a:r>
            <a:r>
              <a:rPr lang="en-US" sz="1800" spc="210" dirty="0">
                <a:effectLst/>
                <a:ea typeface="Calibri" panose="020F0502020204030204" pitchFamily="34" charset="0"/>
                <a:cs typeface="Times New Roman" panose="02020603050405020304" pitchFamily="18" charset="0"/>
              </a:rPr>
              <a:t> </a:t>
            </a:r>
            <a:r>
              <a:rPr lang="en-US" sz="1800" spc="30" dirty="0">
                <a:effectLst/>
                <a:ea typeface="Calibri" panose="020F0502020204030204" pitchFamily="34" charset="0"/>
                <a:cs typeface="Times New Roman" panose="02020603050405020304" pitchFamily="18" charset="0"/>
              </a:rPr>
              <a:t>t</a:t>
            </a:r>
            <a:r>
              <a:rPr lang="en-US" sz="1800" spc="35" dirty="0">
                <a:effectLst/>
                <a:ea typeface="Calibri" panose="020F0502020204030204" pitchFamily="34" charset="0"/>
                <a:cs typeface="Times New Roman" panose="02020603050405020304" pitchFamily="18" charset="0"/>
              </a:rPr>
              <a:t>he</a:t>
            </a:r>
            <a:r>
              <a:rPr lang="en-US" sz="1800" spc="16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top</a:t>
            </a:r>
            <a:r>
              <a:rPr lang="en-US" sz="1800" spc="15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of</a:t>
            </a:r>
            <a:r>
              <a:rPr lang="en-US" sz="1800" spc="150" dirty="0">
                <a:effectLst/>
                <a:ea typeface="Calibri" panose="020F0502020204030204" pitchFamily="34" charset="0"/>
                <a:cs typeface="Times New Roman" panose="02020603050405020304" pitchFamily="18" charset="0"/>
              </a:rPr>
              <a:t> </a:t>
            </a:r>
            <a:r>
              <a:rPr lang="en-US" sz="1800" spc="30" dirty="0">
                <a:effectLst/>
                <a:ea typeface="Calibri" panose="020F0502020204030204" pitchFamily="34" charset="0"/>
                <a:cs typeface="Times New Roman" panose="02020603050405020304" pitchFamily="18" charset="0"/>
              </a:rPr>
              <a:t>t</a:t>
            </a:r>
            <a:r>
              <a:rPr lang="en-US" sz="1800" spc="35" dirty="0">
                <a:effectLst/>
                <a:ea typeface="Calibri" panose="020F0502020204030204" pitchFamily="34" charset="0"/>
                <a:cs typeface="Times New Roman" panose="02020603050405020304" pitchFamily="18" charset="0"/>
              </a:rPr>
              <a:t>he</a:t>
            </a:r>
            <a:r>
              <a:rPr lang="en-US" sz="1800" spc="160"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loop.</a:t>
            </a:r>
          </a:p>
          <a:p>
            <a:pPr marL="64770" marR="151130" indent="191770" algn="just">
              <a:lnSpc>
                <a:spcPct val="95000"/>
              </a:lnSpc>
              <a:spcBef>
                <a:spcPts val="210"/>
              </a:spcBef>
              <a:spcAft>
                <a:spcPts val="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300406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ALGORITHM</a:t>
            </a:r>
            <a:r>
              <a:rPr lang="en-US" sz="1800" b="1" spc="6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SPECIFICATION</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prstClr val="white"/>
                </a:solidFill>
              </a:rPr>
              <a:pPr/>
              <a:t>March 13, 2024</a:t>
            </a:fld>
            <a:endParaRPr lang="en-US">
              <a:solidFill>
                <a:prstClr val="white"/>
              </a:solidFill>
            </a:endParaRPr>
          </a:p>
        </p:txBody>
      </p:sp>
      <p:sp>
        <p:nvSpPr>
          <p:cNvPr id="5" name="Footer Placeholder 4"/>
          <p:cNvSpPr>
            <a:spLocks noGrp="1"/>
          </p:cNvSpPr>
          <p:nvPr>
            <p:ph type="ftr" sz="quarter" idx="11"/>
          </p:nvPr>
        </p:nvSpPr>
        <p:spPr/>
        <p:txBody>
          <a:bodyPr/>
          <a:lstStyle/>
          <a:p>
            <a:r>
              <a:rPr lang="en-US" dirty="0">
                <a:solidFill>
                  <a:prstClr val="white"/>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prstClr val="white"/>
                </a:solidFill>
              </a:rPr>
              <a:pPr/>
              <a:t>10</a:t>
            </a:fld>
            <a:endParaRPr lang="en-US" dirty="0">
              <a:solidFill>
                <a:prstClr val="white"/>
              </a:solidFill>
            </a:endParaRPr>
          </a:p>
        </p:txBody>
      </p:sp>
      <p:sp>
        <p:nvSpPr>
          <p:cNvPr id="8" name="TextBox 7">
            <a:extLst>
              <a:ext uri="{FF2B5EF4-FFF2-40B4-BE49-F238E27FC236}">
                <a16:creationId xmlns:a16="http://schemas.microsoft.com/office/drawing/2014/main" id="{AC2B1F6A-6A6F-5F7C-E8A6-EA36A84F977B}"/>
              </a:ext>
            </a:extLst>
          </p:cNvPr>
          <p:cNvSpPr txBox="1"/>
          <p:nvPr/>
        </p:nvSpPr>
        <p:spPr>
          <a:xfrm>
            <a:off x="457200" y="1447800"/>
            <a:ext cx="8153400" cy="3428118"/>
          </a:xfrm>
          <a:prstGeom prst="rect">
            <a:avLst/>
          </a:prstGeom>
          <a:noFill/>
        </p:spPr>
        <p:txBody>
          <a:bodyPr wrap="square">
            <a:spAutoFit/>
          </a:bodyPr>
          <a:lstStyle/>
          <a:p>
            <a:pPr marL="0" marR="0">
              <a:spcBef>
                <a:spcPts val="0"/>
              </a:spcBef>
              <a:spcAft>
                <a:spcPts val="0"/>
              </a:spcAft>
            </a:pPr>
            <a:r>
              <a:rPr lang="en-US" sz="1800" dirty="0">
                <a:effectLst/>
                <a:ea typeface="Calibri" panose="020F0502020204030204" pitchFamily="34" charset="0"/>
                <a:cs typeface="Times New Roman" panose="02020603050405020304" pitchFamily="18" charset="0"/>
              </a:rPr>
              <a:t>The</a:t>
            </a:r>
            <a:r>
              <a:rPr lang="en-US" sz="1800" spc="12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general</a:t>
            </a:r>
            <a:r>
              <a:rPr lang="en-US" sz="1800" spc="19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form</a:t>
            </a:r>
            <a:r>
              <a:rPr lang="en-US" sz="1800" spc="16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of</a:t>
            </a:r>
            <a:r>
              <a:rPr lang="en-US" sz="1800" spc="170"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a</a:t>
            </a:r>
            <a:r>
              <a:rPr lang="en-US" sz="1800" spc="130" dirty="0">
                <a:effectLst/>
                <a:ea typeface="Calibri" panose="020F0502020204030204" pitchFamily="34" charset="0"/>
                <a:cs typeface="Times New Roman" panose="02020603050405020304" pitchFamily="18" charset="0"/>
              </a:rPr>
              <a:t> </a:t>
            </a:r>
            <a:r>
              <a:rPr lang="en-US" sz="1800" b="1" dirty="0">
                <a:effectLst/>
                <a:ea typeface="Calibri" panose="020F0502020204030204" pitchFamily="34" charset="0"/>
                <a:cs typeface="Times New Roman" panose="02020603050405020304" pitchFamily="18" charset="0"/>
              </a:rPr>
              <a:t>for</a:t>
            </a:r>
            <a:r>
              <a:rPr lang="en-US" sz="1800" b="1" spc="13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loop</a:t>
            </a:r>
            <a:r>
              <a:rPr lang="en-US" sz="1800" spc="17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is</a:t>
            </a:r>
          </a:p>
          <a:p>
            <a:pPr marL="0" marR="0">
              <a:spcBef>
                <a:spcPts val="0"/>
              </a:spcBef>
              <a:spcAft>
                <a:spcPts val="0"/>
              </a:spcAft>
            </a:pPr>
            <a:r>
              <a:rPr lang="en-US" sz="1800" dirty="0">
                <a:effectLst/>
                <a:ea typeface="Times New Roman" panose="02020603050405020304" pitchFamily="18" charset="0"/>
                <a:cs typeface="Times New Roman" panose="02020603050405020304" pitchFamily="18" charset="0"/>
              </a:rPr>
              <a:t> </a:t>
            </a:r>
            <a:endParaRPr lang="en-US" sz="1800" dirty="0">
              <a:effectLst/>
              <a:ea typeface="Calibri" panose="020F0502020204030204" pitchFamily="34" charset="0"/>
              <a:cs typeface="Times New Roman" panose="02020603050405020304" pitchFamily="18" charset="0"/>
            </a:endParaRPr>
          </a:p>
          <a:p>
            <a:pPr marL="457200" marR="0">
              <a:spcBef>
                <a:spcPts val="0"/>
              </a:spcBef>
              <a:spcAft>
                <a:spcPts val="0"/>
              </a:spcAft>
            </a:pPr>
            <a:r>
              <a:rPr lang="en-US" sz="1800" b="1" dirty="0">
                <a:effectLst/>
                <a:ea typeface="Calibri" panose="020F0502020204030204" pitchFamily="34" charset="0"/>
                <a:cs typeface="Times New Roman" panose="02020603050405020304" pitchFamily="18" charset="0"/>
              </a:rPr>
              <a:t>for</a:t>
            </a:r>
            <a:r>
              <a:rPr lang="en-US" sz="1800" b="1" spc="70" dirty="0">
                <a:effectLst/>
                <a:ea typeface="Calibri" panose="020F0502020204030204" pitchFamily="34" charset="0"/>
                <a:cs typeface="Times New Roman" panose="02020603050405020304" pitchFamily="18" charset="0"/>
              </a:rPr>
              <a:t> </a:t>
            </a:r>
            <a:r>
              <a:rPr lang="en-US" sz="1800" i="1" dirty="0">
                <a:effectLst/>
                <a:ea typeface="Calibri" panose="020F0502020204030204" pitchFamily="34" charset="0"/>
                <a:cs typeface="Times New Roman" panose="02020603050405020304" pitchFamily="18" charset="0"/>
              </a:rPr>
              <a:t>variable</a:t>
            </a:r>
            <a:r>
              <a:rPr lang="en-US" sz="1800" i="1" spc="100" dirty="0">
                <a:effectLst/>
                <a:ea typeface="Calibri" panose="020F0502020204030204" pitchFamily="34" charset="0"/>
                <a:cs typeface="Times New Roman" panose="02020603050405020304" pitchFamily="18" charset="0"/>
              </a:rPr>
              <a:t>:</a:t>
            </a:r>
            <a:r>
              <a:rPr lang="en-US" sz="1800" dirty="0">
                <a:effectLst/>
                <a:ea typeface="Calibri" panose="020F0502020204030204" pitchFamily="34" charset="0"/>
                <a:cs typeface="Times New Roman" panose="02020603050405020304" pitchFamily="18" charset="0"/>
              </a:rPr>
              <a:t>=</a:t>
            </a:r>
            <a:r>
              <a:rPr lang="en-US" sz="1800" spc="-120" dirty="0">
                <a:effectLst/>
                <a:ea typeface="Calibri" panose="020F0502020204030204" pitchFamily="34" charset="0"/>
                <a:cs typeface="Times New Roman" panose="02020603050405020304" pitchFamily="18" charset="0"/>
              </a:rPr>
              <a:t> </a:t>
            </a:r>
            <a:r>
              <a:rPr lang="en-US" sz="1800" i="1" dirty="0">
                <a:effectLst/>
                <a:ea typeface="Calibri" panose="020F0502020204030204" pitchFamily="34" charset="0"/>
                <a:cs typeface="Times New Roman" panose="02020603050405020304" pitchFamily="18" charset="0"/>
              </a:rPr>
              <a:t>valuel</a:t>
            </a:r>
            <a:r>
              <a:rPr lang="en-US" sz="1800" i="1" spc="165" dirty="0">
                <a:effectLst/>
                <a:ea typeface="Calibri" panose="020F0502020204030204" pitchFamily="34" charset="0"/>
                <a:cs typeface="Times New Roman" panose="02020603050405020304" pitchFamily="18" charset="0"/>
              </a:rPr>
              <a:t> </a:t>
            </a:r>
            <a:r>
              <a:rPr lang="en-US" sz="1800" b="1" dirty="0">
                <a:effectLst/>
                <a:ea typeface="Calibri" panose="020F0502020204030204" pitchFamily="34" charset="0"/>
                <a:cs typeface="Times New Roman" panose="02020603050405020304" pitchFamily="18" charset="0"/>
              </a:rPr>
              <a:t>to</a:t>
            </a:r>
            <a:r>
              <a:rPr lang="en-US" sz="1800" b="1" spc="70" dirty="0">
                <a:effectLst/>
                <a:ea typeface="Calibri" panose="020F0502020204030204" pitchFamily="34" charset="0"/>
                <a:cs typeface="Times New Roman" panose="02020603050405020304" pitchFamily="18" charset="0"/>
              </a:rPr>
              <a:t> </a:t>
            </a:r>
            <a:r>
              <a:rPr lang="en-US" sz="1800" i="1" dirty="0">
                <a:effectLst/>
                <a:ea typeface="Calibri" panose="020F0502020204030204" pitchFamily="34" charset="0"/>
                <a:cs typeface="Times New Roman" panose="02020603050405020304" pitchFamily="18" charset="0"/>
              </a:rPr>
              <a:t>value2 </a:t>
            </a:r>
            <a:r>
              <a:rPr lang="en-US" sz="1800" i="1" spc="195" dirty="0">
                <a:effectLst/>
                <a:ea typeface="Calibri" panose="020F0502020204030204" pitchFamily="34" charset="0"/>
                <a:cs typeface="Times New Roman" panose="02020603050405020304" pitchFamily="18" charset="0"/>
              </a:rPr>
              <a:t> </a:t>
            </a:r>
            <a:r>
              <a:rPr lang="en-US" sz="1800" b="1" dirty="0">
                <a:effectLst/>
                <a:ea typeface="Calibri" panose="020F0502020204030204" pitchFamily="34" charset="0"/>
                <a:cs typeface="Times New Roman" panose="02020603050405020304" pitchFamily="18" charset="0"/>
              </a:rPr>
              <a:t>step</a:t>
            </a:r>
            <a:r>
              <a:rPr lang="en-US" sz="1800" b="1" spc="100" dirty="0">
                <a:effectLst/>
                <a:ea typeface="Calibri" panose="020F0502020204030204" pitchFamily="34" charset="0"/>
                <a:cs typeface="Times New Roman" panose="02020603050405020304" pitchFamily="18" charset="0"/>
              </a:rPr>
              <a:t> </a:t>
            </a:r>
            <a:r>
              <a:rPr lang="en-US" sz="1800" i="1" spc="5" dirty="0" err="1">
                <a:effectLst/>
                <a:ea typeface="Calibri" panose="020F0502020204030204" pitchFamily="34" charset="0"/>
                <a:cs typeface="Times New Roman" panose="02020603050405020304" pitchFamily="18" charset="0"/>
              </a:rPr>
              <a:t>step</a:t>
            </a:r>
            <a:r>
              <a:rPr lang="en-US" sz="1800" i="1" spc="150" dirty="0">
                <a:effectLst/>
                <a:ea typeface="Calibri" panose="020F0502020204030204" pitchFamily="34" charset="0"/>
                <a:cs typeface="Times New Roman" panose="02020603050405020304" pitchFamily="18" charset="0"/>
              </a:rPr>
              <a:t> </a:t>
            </a:r>
            <a:r>
              <a:rPr lang="en-US" sz="1800" b="1" dirty="0">
                <a:effectLst/>
                <a:ea typeface="Calibri" panose="020F0502020204030204" pitchFamily="34" charset="0"/>
                <a:cs typeface="Times New Roman" panose="02020603050405020304" pitchFamily="18" charset="0"/>
              </a:rPr>
              <a:t>do</a:t>
            </a:r>
            <a:endParaRPr lang="en-US" sz="1800" dirty="0">
              <a:effectLst/>
              <a:ea typeface="Calibri" panose="020F0502020204030204" pitchFamily="34" charset="0"/>
              <a:cs typeface="Times New Roman" panose="02020603050405020304" pitchFamily="18" charset="0"/>
            </a:endParaRPr>
          </a:p>
          <a:p>
            <a:pPr marL="457200" marR="0">
              <a:spcBef>
                <a:spcPts val="0"/>
              </a:spcBef>
              <a:spcAft>
                <a:spcPts val="0"/>
              </a:spcAft>
            </a:pPr>
            <a:r>
              <a:rPr lang="en-US" sz="1800" dirty="0">
                <a:effectLst/>
                <a:ea typeface="Calibri" panose="020F0502020204030204" pitchFamily="34" charset="0"/>
                <a:cs typeface="Times New Roman" panose="02020603050405020304" pitchFamily="18" charset="0"/>
              </a:rPr>
              <a:t>{</a:t>
            </a:r>
          </a:p>
          <a:p>
            <a:pPr marL="457200" marR="0">
              <a:spcBef>
                <a:spcPts val="0"/>
              </a:spcBef>
              <a:spcAft>
                <a:spcPts val="0"/>
              </a:spcAft>
            </a:pPr>
            <a:r>
              <a:rPr lang="en-US" sz="1800" dirty="0">
                <a:effectLst/>
                <a:ea typeface="Calibri" panose="020F0502020204030204" pitchFamily="34" charset="0"/>
                <a:cs typeface="Times New Roman" panose="02020603050405020304" pitchFamily="18" charset="0"/>
              </a:rPr>
              <a:t>(</a:t>
            </a:r>
            <a:r>
              <a:rPr lang="en-US" sz="1800" spc="-4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statement  </a:t>
            </a:r>
            <a:r>
              <a:rPr lang="en-US" sz="1800" spc="65" dirty="0">
                <a:effectLst/>
                <a:ea typeface="Calibri" panose="020F0502020204030204" pitchFamily="34" charset="0"/>
                <a:cs typeface="Times New Roman" panose="02020603050405020304" pitchFamily="18" charset="0"/>
              </a:rPr>
              <a:t> </a:t>
            </a:r>
            <a:r>
              <a:rPr lang="en-US" sz="1800" spc="-175" dirty="0">
                <a:effectLst/>
                <a:ea typeface="Calibri" panose="020F0502020204030204" pitchFamily="34" charset="0"/>
                <a:cs typeface="Times New Roman" panose="02020603050405020304" pitchFamily="18" charset="0"/>
              </a:rPr>
              <a:t>1</a:t>
            </a:r>
            <a:r>
              <a:rPr lang="en-US" sz="1800" dirty="0">
                <a:effectLst/>
                <a:ea typeface="Calibri" panose="020F0502020204030204" pitchFamily="34" charset="0"/>
                <a:cs typeface="Times New Roman" panose="02020603050405020304" pitchFamily="18" charset="0"/>
              </a:rPr>
              <a:t>)</a:t>
            </a:r>
          </a:p>
          <a:p>
            <a:pPr marL="457200" marR="0">
              <a:spcBef>
                <a:spcPts val="0"/>
              </a:spcBef>
              <a:spcAft>
                <a:spcPts val="0"/>
              </a:spcAft>
            </a:pPr>
            <a:r>
              <a:rPr lang="en-US" sz="1800" dirty="0">
                <a:effectLst/>
                <a:ea typeface="Arial" panose="020B0604020202020204" pitchFamily="34" charset="0"/>
                <a:cs typeface="Times New Roman" panose="02020603050405020304" pitchFamily="18" charset="0"/>
              </a:rPr>
              <a:t> </a:t>
            </a:r>
            <a:endParaRPr lang="en-US" sz="1800" dirty="0">
              <a:effectLst/>
              <a:ea typeface="Calibri" panose="020F0502020204030204" pitchFamily="34" charset="0"/>
              <a:cs typeface="Times New Roman" panose="02020603050405020304" pitchFamily="18" charset="0"/>
            </a:endParaRPr>
          </a:p>
          <a:p>
            <a:pPr marL="457200" marR="0">
              <a:spcBef>
                <a:spcPts val="0"/>
              </a:spcBef>
              <a:spcAft>
                <a:spcPts val="0"/>
              </a:spcAft>
            </a:pPr>
            <a:r>
              <a:rPr lang="en-US" sz="1800" i="1" dirty="0">
                <a:effectLst/>
                <a:ea typeface="Calibri" panose="020F0502020204030204" pitchFamily="34" charset="0"/>
                <a:cs typeface="Times New Roman" panose="02020603050405020304" pitchFamily="18" charset="0"/>
              </a:rPr>
              <a:t>(</a:t>
            </a:r>
            <a:r>
              <a:rPr lang="en-US" sz="1800" i="1" spc="-25" dirty="0">
                <a:effectLst/>
                <a:ea typeface="Calibri" panose="020F0502020204030204" pitchFamily="34" charset="0"/>
                <a:cs typeface="Times New Roman" panose="02020603050405020304" pitchFamily="18" charset="0"/>
              </a:rPr>
              <a:t> </a:t>
            </a:r>
            <a:r>
              <a:rPr lang="en-US" sz="1800" i="1" dirty="0">
                <a:effectLst/>
                <a:ea typeface="Calibri" panose="020F0502020204030204" pitchFamily="34" charset="0"/>
                <a:cs typeface="Times New Roman" panose="02020603050405020304" pitchFamily="18" charset="0"/>
              </a:rPr>
              <a:t>statement  </a:t>
            </a:r>
            <a:r>
              <a:rPr lang="en-US" sz="1800" i="1" spc="2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n)</a:t>
            </a:r>
          </a:p>
          <a:p>
            <a:pPr marL="457200" marR="0">
              <a:spcBef>
                <a:spcPts val="0"/>
              </a:spcBef>
              <a:spcAft>
                <a:spcPts val="0"/>
              </a:spcAft>
            </a:pPr>
            <a:r>
              <a:rPr lang="en-US" sz="1800" dirty="0">
                <a:effectLst/>
                <a:ea typeface="Calibri" panose="020F0502020204030204" pitchFamily="34" charset="0"/>
                <a:cs typeface="Times New Roman" panose="02020603050405020304" pitchFamily="18" charset="0"/>
              </a:rPr>
              <a:t>}</a:t>
            </a:r>
          </a:p>
          <a:p>
            <a:pPr marL="457200" marR="0">
              <a:spcBef>
                <a:spcPts val="0"/>
              </a:spcBef>
              <a:spcAft>
                <a:spcPts val="0"/>
              </a:spcAft>
            </a:pPr>
            <a:r>
              <a:rPr lang="en-US" sz="1800" dirty="0">
                <a:effectLst/>
                <a:ea typeface="Calibri" panose="020F0502020204030204" pitchFamily="34" charset="0"/>
                <a:cs typeface="Times New Roman" panose="02020603050405020304" pitchFamily="18" charset="0"/>
              </a:rPr>
              <a:t> </a:t>
            </a:r>
          </a:p>
          <a:p>
            <a:pPr marL="0" marR="0">
              <a:spcBef>
                <a:spcPts val="0"/>
              </a:spcBef>
              <a:spcAft>
                <a:spcPts val="0"/>
              </a:spcAft>
            </a:pPr>
            <a:r>
              <a:rPr lang="en-US" sz="1800" dirty="0">
                <a:effectLst/>
                <a:ea typeface="Calibri" panose="020F0502020204030204" pitchFamily="34" charset="0"/>
                <a:cs typeface="Times New Roman" panose="02020603050405020304" pitchFamily="18" charset="0"/>
              </a:rPr>
              <a:t>Here</a:t>
            </a:r>
            <a:r>
              <a:rPr lang="en-US" sz="1800" spc="200" dirty="0">
                <a:effectLst/>
                <a:ea typeface="Calibri" panose="020F0502020204030204" pitchFamily="34" charset="0"/>
                <a:cs typeface="Times New Roman" panose="02020603050405020304" pitchFamily="18" charset="0"/>
              </a:rPr>
              <a:t> </a:t>
            </a:r>
            <a:r>
              <a:rPr lang="en-US" sz="1800" i="1" dirty="0">
                <a:effectLst/>
                <a:ea typeface="Calibri" panose="020F0502020204030204" pitchFamily="34" charset="0"/>
                <a:cs typeface="Times New Roman" panose="02020603050405020304" pitchFamily="18" charset="0"/>
              </a:rPr>
              <a:t>va</a:t>
            </a:r>
            <a:r>
              <a:rPr lang="en-US" sz="1800" i="1" spc="150" dirty="0">
                <a:effectLst/>
                <a:ea typeface="Calibri" panose="020F0502020204030204" pitchFamily="34" charset="0"/>
                <a:cs typeface="Times New Roman" panose="02020603050405020304" pitchFamily="18" charset="0"/>
              </a:rPr>
              <a:t>l</a:t>
            </a:r>
            <a:r>
              <a:rPr lang="en-US" sz="1800" i="1" dirty="0">
                <a:effectLst/>
                <a:ea typeface="Calibri" panose="020F0502020204030204" pitchFamily="34" charset="0"/>
                <a:cs typeface="Times New Roman" panose="02020603050405020304" pitchFamily="18" charset="0"/>
              </a:rPr>
              <a:t>uel</a:t>
            </a:r>
            <a:r>
              <a:rPr lang="en-US" sz="1800" i="1" spc="-65" dirty="0">
                <a:effectLst/>
                <a:ea typeface="Calibri" panose="020F0502020204030204" pitchFamily="34" charset="0"/>
                <a:cs typeface="Times New Roman" panose="02020603050405020304" pitchFamily="18" charset="0"/>
              </a:rPr>
              <a:t> </a:t>
            </a:r>
            <a:r>
              <a:rPr lang="en-US" sz="1800" i="1" dirty="0">
                <a:effectLst/>
                <a:ea typeface="Calibri" panose="020F0502020204030204" pitchFamily="34" charset="0"/>
                <a:cs typeface="Times New Roman" panose="02020603050405020304" pitchFamily="18" charset="0"/>
              </a:rPr>
              <a:t>,</a:t>
            </a:r>
            <a:r>
              <a:rPr lang="en-US" sz="1800" i="1" spc="155" dirty="0">
                <a:effectLst/>
                <a:ea typeface="Calibri" panose="020F0502020204030204" pitchFamily="34" charset="0"/>
                <a:cs typeface="Times New Roman" panose="02020603050405020304" pitchFamily="18" charset="0"/>
              </a:rPr>
              <a:t> </a:t>
            </a:r>
            <a:r>
              <a:rPr lang="en-US" sz="1800" i="1" dirty="0">
                <a:effectLst/>
                <a:ea typeface="Calibri" panose="020F0502020204030204" pitchFamily="34" charset="0"/>
                <a:cs typeface="Times New Roman" panose="02020603050405020304" pitchFamily="18" charset="0"/>
              </a:rPr>
              <a:t>va</a:t>
            </a:r>
            <a:r>
              <a:rPr lang="en-US" sz="1800" i="1" spc="150" dirty="0">
                <a:effectLst/>
                <a:ea typeface="Calibri" panose="020F0502020204030204" pitchFamily="34" charset="0"/>
                <a:cs typeface="Times New Roman" panose="02020603050405020304" pitchFamily="18" charset="0"/>
              </a:rPr>
              <a:t>l</a:t>
            </a:r>
            <a:r>
              <a:rPr lang="en-US" sz="1800" i="1" dirty="0">
                <a:effectLst/>
                <a:ea typeface="Calibri" panose="020F0502020204030204" pitchFamily="34" charset="0"/>
                <a:cs typeface="Times New Roman" panose="02020603050405020304" pitchFamily="18" charset="0"/>
              </a:rPr>
              <a:t>ue2</a:t>
            </a:r>
            <a:r>
              <a:rPr lang="en-US" sz="1800" i="1" spc="-160" dirty="0">
                <a:effectLst/>
                <a:ea typeface="Calibri" panose="020F0502020204030204" pitchFamily="34" charset="0"/>
                <a:cs typeface="Times New Roman" panose="02020603050405020304" pitchFamily="18" charset="0"/>
              </a:rPr>
              <a:t> </a:t>
            </a:r>
            <a:r>
              <a:rPr lang="en-US" sz="1800" i="1" dirty="0">
                <a:effectLst/>
                <a:ea typeface="Calibri" panose="020F0502020204030204" pitchFamily="34" charset="0"/>
                <a:cs typeface="Times New Roman" panose="02020603050405020304" pitchFamily="18" charset="0"/>
              </a:rPr>
              <a:t>,</a:t>
            </a:r>
            <a:r>
              <a:rPr lang="en-US" sz="1800" i="1" spc="15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and</a:t>
            </a:r>
            <a:r>
              <a:rPr lang="en-US" sz="1800" spc="220" dirty="0">
                <a:effectLst/>
                <a:ea typeface="Calibri" panose="020F0502020204030204" pitchFamily="34" charset="0"/>
                <a:cs typeface="Times New Roman" panose="02020603050405020304" pitchFamily="18" charset="0"/>
              </a:rPr>
              <a:t> </a:t>
            </a:r>
            <a:r>
              <a:rPr lang="en-US" sz="1800" i="1" dirty="0">
                <a:effectLst/>
                <a:ea typeface="Calibri" panose="020F0502020204030204" pitchFamily="34" charset="0"/>
                <a:cs typeface="Times New Roman" panose="02020603050405020304" pitchFamily="18" charset="0"/>
              </a:rPr>
              <a:t>step </a:t>
            </a:r>
            <a:r>
              <a:rPr lang="en-US" sz="1800" dirty="0">
                <a:effectLst/>
                <a:ea typeface="Calibri" panose="020F0502020204030204" pitchFamily="34" charset="0"/>
                <a:cs typeface="Times New Roman" panose="02020603050405020304" pitchFamily="18" charset="0"/>
              </a:rPr>
              <a:t>are</a:t>
            </a:r>
            <a:r>
              <a:rPr lang="en-US" sz="1800" spc="150" dirty="0">
                <a:effectLst/>
                <a:ea typeface="Calibri" panose="020F0502020204030204" pitchFamily="34" charset="0"/>
                <a:cs typeface="Times New Roman" panose="02020603050405020304" pitchFamily="18" charset="0"/>
              </a:rPr>
              <a:t> </a:t>
            </a:r>
            <a:r>
              <a:rPr lang="en-US" sz="1800" spc="5" dirty="0">
                <a:effectLst/>
                <a:ea typeface="Calibri" panose="020F0502020204030204" pitchFamily="34" charset="0"/>
                <a:cs typeface="Times New Roman" panose="02020603050405020304" pitchFamily="18" charset="0"/>
              </a:rPr>
              <a:t>arithmetic</a:t>
            </a:r>
            <a:r>
              <a:rPr lang="en-US" sz="1800" spc="18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expressions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64770" marR="151130" indent="191770" algn="just">
              <a:lnSpc>
                <a:spcPct val="95000"/>
              </a:lnSpc>
              <a:spcBef>
                <a:spcPts val="210"/>
              </a:spcBef>
              <a:spcAft>
                <a:spcPts val="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568595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ALGORITHM</a:t>
            </a:r>
            <a:r>
              <a:rPr lang="en-US" sz="1800" b="1" spc="6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SPECIFICATION</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prstClr val="white"/>
                </a:solidFill>
              </a:rPr>
              <a:pPr/>
              <a:t>March 13, 2024</a:t>
            </a:fld>
            <a:endParaRPr lang="en-US">
              <a:solidFill>
                <a:prstClr val="white"/>
              </a:solidFill>
            </a:endParaRPr>
          </a:p>
        </p:txBody>
      </p:sp>
      <p:sp>
        <p:nvSpPr>
          <p:cNvPr id="5" name="Footer Placeholder 4"/>
          <p:cNvSpPr>
            <a:spLocks noGrp="1"/>
          </p:cNvSpPr>
          <p:nvPr>
            <p:ph type="ftr" sz="quarter" idx="11"/>
          </p:nvPr>
        </p:nvSpPr>
        <p:spPr/>
        <p:txBody>
          <a:bodyPr/>
          <a:lstStyle/>
          <a:p>
            <a:r>
              <a:rPr lang="en-US" dirty="0">
                <a:solidFill>
                  <a:prstClr val="white"/>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prstClr val="white"/>
                </a:solidFill>
              </a:rPr>
              <a:pPr/>
              <a:t>11</a:t>
            </a:fld>
            <a:endParaRPr lang="en-US" dirty="0">
              <a:solidFill>
                <a:prstClr val="white"/>
              </a:solidFill>
            </a:endParaRPr>
          </a:p>
        </p:txBody>
      </p:sp>
      <p:sp>
        <p:nvSpPr>
          <p:cNvPr id="8" name="TextBox 7">
            <a:extLst>
              <a:ext uri="{FF2B5EF4-FFF2-40B4-BE49-F238E27FC236}">
                <a16:creationId xmlns:a16="http://schemas.microsoft.com/office/drawing/2014/main" id="{AC2B1F6A-6A6F-5F7C-E8A6-EA36A84F977B}"/>
              </a:ext>
            </a:extLst>
          </p:cNvPr>
          <p:cNvSpPr txBox="1"/>
          <p:nvPr/>
        </p:nvSpPr>
        <p:spPr>
          <a:xfrm>
            <a:off x="457200" y="1447800"/>
            <a:ext cx="8153400" cy="4536114"/>
          </a:xfrm>
          <a:prstGeom prst="rect">
            <a:avLst/>
          </a:prstGeom>
          <a:noFill/>
        </p:spPr>
        <p:txBody>
          <a:bodyPr wrap="square">
            <a:spAutoFit/>
          </a:bodyPr>
          <a:lstStyle/>
          <a:p>
            <a:pPr marL="0" marR="0">
              <a:spcBef>
                <a:spcPts val="0"/>
              </a:spcBef>
              <a:spcAft>
                <a:spcPts val="0"/>
              </a:spcAft>
            </a:pPr>
            <a:r>
              <a:rPr lang="en-US" sz="1800" dirty="0">
                <a:effectLst/>
                <a:ea typeface="Calibri" panose="020F0502020204030204" pitchFamily="34" charset="0"/>
                <a:cs typeface="Times New Roman" panose="02020603050405020304" pitchFamily="18" charset="0"/>
              </a:rPr>
              <a:t>A</a:t>
            </a:r>
            <a:r>
              <a:rPr lang="en-US" sz="1800" spc="16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repeat-until</a:t>
            </a:r>
            <a:r>
              <a:rPr lang="en-US" sz="1800" spc="100"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statement</a:t>
            </a:r>
            <a:r>
              <a:rPr lang="en-US" sz="1800" spc="25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is</a:t>
            </a:r>
            <a:r>
              <a:rPr lang="en-US" sz="1800" spc="9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constructed</a:t>
            </a:r>
            <a:r>
              <a:rPr lang="en-US" sz="1800" spc="24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as</a:t>
            </a:r>
            <a:r>
              <a:rPr lang="en-US" sz="1800" spc="6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follows:</a:t>
            </a:r>
          </a:p>
          <a:p>
            <a:pPr marL="0" marR="0">
              <a:spcBef>
                <a:spcPts val="0"/>
              </a:spcBef>
              <a:spcAft>
                <a:spcPts val="0"/>
              </a:spcAft>
            </a:pPr>
            <a:r>
              <a:rPr lang="en-US" sz="1800" dirty="0">
                <a:effectLst/>
                <a:ea typeface="Times New Roman" panose="02020603050405020304" pitchFamily="18" charset="0"/>
                <a:cs typeface="Times New Roman" panose="02020603050405020304" pitchFamily="18" charset="0"/>
              </a:rPr>
              <a:t> </a:t>
            </a:r>
            <a:endParaRPr lang="en-US" sz="1800" dirty="0">
              <a:effectLst/>
              <a:ea typeface="Calibri" panose="020F0502020204030204" pitchFamily="34" charset="0"/>
              <a:cs typeface="Times New Roman" panose="02020603050405020304" pitchFamily="18" charset="0"/>
            </a:endParaRPr>
          </a:p>
          <a:p>
            <a:pPr marL="914400" lvl="1"/>
            <a:r>
              <a:rPr lang="en-US" b="1" i="1" dirty="0">
                <a:effectLst/>
                <a:ea typeface="Calibri" panose="020F0502020204030204" pitchFamily="34" charset="0"/>
                <a:cs typeface="Times New Roman" panose="02020603050405020304" pitchFamily="18" charset="0"/>
              </a:rPr>
              <a:t>repeat</a:t>
            </a:r>
          </a:p>
          <a:p>
            <a:pPr marL="914400" lvl="1"/>
            <a:r>
              <a:rPr lang="en-US" b="1" i="1" dirty="0">
                <a:effectLst/>
                <a:ea typeface="Calibri" panose="020F0502020204030204" pitchFamily="34" charset="0"/>
                <a:cs typeface="Times New Roman" panose="02020603050405020304" pitchFamily="18" charset="0"/>
              </a:rPr>
              <a:t>(</a:t>
            </a:r>
            <a:r>
              <a:rPr lang="en-US" b="1" i="1" spc="-70" dirty="0">
                <a:effectLst/>
                <a:ea typeface="Calibri" panose="020F0502020204030204" pitchFamily="34" charset="0"/>
                <a:cs typeface="Times New Roman" panose="02020603050405020304" pitchFamily="18" charset="0"/>
              </a:rPr>
              <a:t> </a:t>
            </a:r>
            <a:r>
              <a:rPr lang="en-US" b="1" i="1" dirty="0">
                <a:effectLst/>
                <a:ea typeface="Calibri" panose="020F0502020204030204" pitchFamily="34" charset="0"/>
                <a:cs typeface="Times New Roman" panose="02020603050405020304" pitchFamily="18" charset="0"/>
              </a:rPr>
              <a:t>statement  </a:t>
            </a:r>
            <a:r>
              <a:rPr lang="en-US" b="1" i="1" spc="70" dirty="0">
                <a:effectLst/>
                <a:ea typeface="Calibri" panose="020F0502020204030204" pitchFamily="34" charset="0"/>
                <a:cs typeface="Times New Roman" panose="02020603050405020304" pitchFamily="18" charset="0"/>
              </a:rPr>
              <a:t> </a:t>
            </a:r>
            <a:r>
              <a:rPr lang="en-US" b="1" i="1" spc="-175" dirty="0">
                <a:effectLst/>
                <a:ea typeface="Calibri" panose="020F0502020204030204" pitchFamily="34" charset="0"/>
                <a:cs typeface="Times New Roman" panose="02020603050405020304" pitchFamily="18" charset="0"/>
              </a:rPr>
              <a:t>1</a:t>
            </a:r>
            <a:r>
              <a:rPr lang="en-US" b="1" i="1" dirty="0">
                <a:effectLst/>
                <a:ea typeface="Calibri" panose="020F0502020204030204" pitchFamily="34" charset="0"/>
                <a:cs typeface="Times New Roman" panose="02020603050405020304" pitchFamily="18" charset="0"/>
              </a:rPr>
              <a:t>)</a:t>
            </a:r>
          </a:p>
          <a:p>
            <a:pPr marL="914400" lvl="1"/>
            <a:r>
              <a:rPr lang="en-US" b="1" i="1" dirty="0">
                <a:effectLst/>
                <a:ea typeface="Arial" panose="020B0604020202020204" pitchFamily="34" charset="0"/>
                <a:cs typeface="Times New Roman" panose="02020603050405020304" pitchFamily="18" charset="0"/>
              </a:rPr>
              <a:t> </a:t>
            </a:r>
            <a:endParaRPr lang="en-US" b="1" i="1" dirty="0">
              <a:effectLst/>
              <a:ea typeface="Calibri" panose="020F0502020204030204" pitchFamily="34" charset="0"/>
              <a:cs typeface="Times New Roman" panose="02020603050405020304" pitchFamily="18" charset="0"/>
            </a:endParaRPr>
          </a:p>
          <a:p>
            <a:pPr marL="914400" lvl="1"/>
            <a:r>
              <a:rPr lang="en-US" b="1" i="1" dirty="0">
                <a:effectLst/>
                <a:ea typeface="Calibri" panose="020F0502020204030204" pitchFamily="34" charset="0"/>
                <a:cs typeface="Times New Roman" panose="02020603050405020304" pitchFamily="18" charset="0"/>
              </a:rPr>
              <a:t>(</a:t>
            </a:r>
            <a:r>
              <a:rPr lang="en-US" b="1" i="1" spc="-30" dirty="0">
                <a:effectLst/>
                <a:ea typeface="Calibri" panose="020F0502020204030204" pitchFamily="34" charset="0"/>
                <a:cs typeface="Times New Roman" panose="02020603050405020304" pitchFamily="18" charset="0"/>
              </a:rPr>
              <a:t> </a:t>
            </a:r>
            <a:r>
              <a:rPr lang="en-US" b="1" i="1" dirty="0">
                <a:effectLst/>
                <a:ea typeface="Calibri" panose="020F0502020204030204" pitchFamily="34" charset="0"/>
                <a:cs typeface="Times New Roman" panose="02020603050405020304" pitchFamily="18" charset="0"/>
              </a:rPr>
              <a:t>statement </a:t>
            </a:r>
            <a:r>
              <a:rPr lang="en-US" b="1" i="1" spc="255" dirty="0">
                <a:effectLst/>
                <a:ea typeface="Calibri" panose="020F0502020204030204" pitchFamily="34" charset="0"/>
                <a:cs typeface="Times New Roman" panose="02020603050405020304" pitchFamily="18" charset="0"/>
              </a:rPr>
              <a:t> </a:t>
            </a:r>
            <a:r>
              <a:rPr lang="en-US" b="1" i="1" dirty="0">
                <a:effectLst/>
                <a:ea typeface="Calibri" panose="020F0502020204030204" pitchFamily="34" charset="0"/>
                <a:cs typeface="Times New Roman" panose="02020603050405020304" pitchFamily="18" charset="0"/>
              </a:rPr>
              <a:t>n) until </a:t>
            </a:r>
            <a:r>
              <a:rPr lang="en-US" b="1" i="1" spc="270" dirty="0">
                <a:effectLst/>
                <a:ea typeface="Calibri" panose="020F0502020204030204" pitchFamily="34" charset="0"/>
                <a:cs typeface="Times New Roman" panose="02020603050405020304" pitchFamily="18" charset="0"/>
              </a:rPr>
              <a:t> </a:t>
            </a:r>
            <a:r>
              <a:rPr lang="en-US" b="1" i="1" dirty="0">
                <a:effectLst/>
                <a:ea typeface="Calibri" panose="020F0502020204030204" pitchFamily="34" charset="0"/>
                <a:cs typeface="Times New Roman" panose="02020603050405020304" pitchFamily="18" charset="0"/>
              </a:rPr>
              <a:t>(</a:t>
            </a:r>
            <a:r>
              <a:rPr lang="en-US" b="1" i="1" spc="-60" dirty="0">
                <a:effectLst/>
                <a:ea typeface="Calibri" panose="020F0502020204030204" pitchFamily="34" charset="0"/>
                <a:cs typeface="Times New Roman" panose="02020603050405020304" pitchFamily="18" charset="0"/>
              </a:rPr>
              <a:t> </a:t>
            </a:r>
            <a:r>
              <a:rPr lang="en-US" b="1" i="1" dirty="0">
                <a:effectLst/>
                <a:ea typeface="Calibri" panose="020F0502020204030204" pitchFamily="34" charset="0"/>
                <a:cs typeface="Times New Roman" panose="02020603050405020304" pitchFamily="18" charset="0"/>
              </a:rPr>
              <a:t>conditio</a:t>
            </a:r>
            <a:r>
              <a:rPr lang="en-US" b="1" i="1" spc="130" dirty="0">
                <a:effectLst/>
                <a:ea typeface="Calibri" panose="020F0502020204030204" pitchFamily="34" charset="0"/>
                <a:cs typeface="Times New Roman" panose="02020603050405020304" pitchFamily="18" charset="0"/>
              </a:rPr>
              <a:t>n</a:t>
            </a:r>
            <a:r>
              <a:rPr lang="en-US" b="1" i="1" dirty="0">
                <a:effectLst/>
                <a:ea typeface="Calibri" panose="020F0502020204030204" pitchFamily="34" charset="0"/>
                <a:cs typeface="Times New Roman" panose="02020603050405020304" pitchFamily="18" charset="0"/>
              </a:rPr>
              <a:t>)</a:t>
            </a:r>
          </a:p>
          <a:p>
            <a:pPr marL="0" marR="0">
              <a:spcBef>
                <a:spcPts val="0"/>
              </a:spcBef>
              <a:spcAft>
                <a:spcPts val="0"/>
              </a:spcAft>
            </a:pPr>
            <a:r>
              <a:rPr lang="en-US" sz="1800" dirty="0">
                <a:effectLst/>
                <a:ea typeface="Calibri" panose="020F0502020204030204" pitchFamily="34" charset="0"/>
                <a:cs typeface="Times New Roman" panose="02020603050405020304" pitchFamily="18" charset="0"/>
              </a:rPr>
              <a:t> </a:t>
            </a:r>
            <a:endParaRPr lang="en-US" dirty="0">
              <a:ea typeface="Calibri" panose="020F0502020204030204" pitchFamily="34" charset="0"/>
              <a:cs typeface="Times New Roman" panose="02020603050405020304" pitchFamily="18" charset="0"/>
            </a:endParaRPr>
          </a:p>
          <a:p>
            <a:pPr marL="0" marR="0">
              <a:spcBef>
                <a:spcPts val="0"/>
              </a:spcBef>
              <a:spcAft>
                <a:spcPts val="0"/>
              </a:spcAft>
            </a:pPr>
            <a:r>
              <a:rPr lang="en-US" sz="1800" dirty="0">
                <a:effectLst/>
                <a:ea typeface="Calibri" panose="020F0502020204030204" pitchFamily="34" charset="0"/>
                <a:cs typeface="Times New Roman" panose="02020603050405020304" pitchFamily="18" charset="0"/>
              </a:rPr>
              <a:t>The</a:t>
            </a:r>
            <a:r>
              <a:rPr lang="en-US" sz="1800" spc="9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statements</a:t>
            </a:r>
            <a:r>
              <a:rPr lang="en-US" sz="1800" spc="16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are</a:t>
            </a:r>
            <a:r>
              <a:rPr lang="en-US" sz="1800" spc="7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executed</a:t>
            </a:r>
            <a:r>
              <a:rPr lang="en-US" sz="1800" spc="230"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as</a:t>
            </a:r>
            <a:r>
              <a:rPr lang="en-US" sz="1800" spc="90"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long</a:t>
            </a:r>
            <a:r>
              <a:rPr lang="en-US" sz="1800" spc="9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as</a:t>
            </a:r>
            <a:r>
              <a:rPr lang="en-US" sz="1800" spc="205" dirty="0">
                <a:effectLst/>
                <a:ea typeface="Calibri" panose="020F0502020204030204" pitchFamily="34" charset="0"/>
                <a:cs typeface="Times New Roman" panose="02020603050405020304" pitchFamily="18" charset="0"/>
              </a:rPr>
              <a:t> </a:t>
            </a:r>
            <a:r>
              <a:rPr lang="en-US" sz="1800" i="1" dirty="0">
                <a:effectLst/>
                <a:ea typeface="Calibri" panose="020F0502020204030204" pitchFamily="34" charset="0"/>
                <a:cs typeface="Times New Roman" panose="02020603050405020304" pitchFamily="18" charset="0"/>
              </a:rPr>
              <a:t>(</a:t>
            </a:r>
            <a:r>
              <a:rPr lang="en-US" sz="1800" i="1" spc="-140" dirty="0">
                <a:effectLst/>
                <a:ea typeface="Calibri" panose="020F0502020204030204" pitchFamily="34" charset="0"/>
                <a:cs typeface="Times New Roman" panose="02020603050405020304" pitchFamily="18" charset="0"/>
              </a:rPr>
              <a:t> </a:t>
            </a:r>
            <a:r>
              <a:rPr lang="en-US" sz="1800" i="1" dirty="0">
                <a:effectLst/>
                <a:ea typeface="Calibri" panose="020F0502020204030204" pitchFamily="34" charset="0"/>
                <a:cs typeface="Times New Roman" panose="02020603050405020304" pitchFamily="18" charset="0"/>
              </a:rPr>
              <a:t>conditio</a:t>
            </a:r>
            <a:r>
              <a:rPr lang="en-US" sz="1800" i="1" spc="135" dirty="0">
                <a:effectLst/>
                <a:ea typeface="Calibri" panose="020F0502020204030204" pitchFamily="34" charset="0"/>
                <a:cs typeface="Times New Roman" panose="02020603050405020304" pitchFamily="18" charset="0"/>
              </a:rPr>
              <a:t>n</a:t>
            </a:r>
            <a:r>
              <a:rPr lang="en-US" sz="1800" i="1" dirty="0">
                <a:effectLst/>
                <a:ea typeface="Calibri" panose="020F0502020204030204" pitchFamily="34" charset="0"/>
                <a:cs typeface="Times New Roman" panose="02020603050405020304" pitchFamily="18" charset="0"/>
              </a:rPr>
              <a:t>) </a:t>
            </a:r>
            <a:r>
              <a:rPr lang="en-US" sz="1800" i="1" spc="1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is</a:t>
            </a:r>
            <a:r>
              <a:rPr lang="en-US" sz="1800" spc="70"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false. </a:t>
            </a:r>
            <a:r>
              <a:rPr lang="en-US" sz="1800" spc="1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The</a:t>
            </a:r>
            <a:r>
              <a:rPr lang="en-US" sz="1800" spc="8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value</a:t>
            </a:r>
            <a:r>
              <a:rPr lang="en-US" sz="1800" spc="280"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of</a:t>
            </a:r>
            <a:r>
              <a:rPr lang="en-US" sz="1800" spc="265" dirty="0">
                <a:effectLst/>
                <a:ea typeface="Calibri" panose="020F0502020204030204" pitchFamily="34" charset="0"/>
                <a:cs typeface="Times New Roman" panose="02020603050405020304" pitchFamily="18" charset="0"/>
              </a:rPr>
              <a:t> </a:t>
            </a:r>
            <a:r>
              <a:rPr lang="en-US" sz="1800" i="1" dirty="0">
                <a:effectLst/>
                <a:ea typeface="Calibri" panose="020F0502020204030204" pitchFamily="34" charset="0"/>
                <a:cs typeface="Times New Roman" panose="02020603050405020304" pitchFamily="18" charset="0"/>
              </a:rPr>
              <a:t>(</a:t>
            </a:r>
            <a:r>
              <a:rPr lang="en-US" sz="1800" i="1" spc="-115" dirty="0">
                <a:effectLst/>
                <a:ea typeface="Calibri" panose="020F0502020204030204" pitchFamily="34" charset="0"/>
                <a:cs typeface="Times New Roman" panose="02020603050405020304" pitchFamily="18" charset="0"/>
              </a:rPr>
              <a:t> </a:t>
            </a:r>
            <a:r>
              <a:rPr lang="en-US" sz="1800" i="1" dirty="0">
                <a:effectLst/>
                <a:ea typeface="Calibri" panose="020F0502020204030204" pitchFamily="34" charset="0"/>
                <a:cs typeface="Times New Roman" panose="02020603050405020304" pitchFamily="18" charset="0"/>
              </a:rPr>
              <a:t>conditio</a:t>
            </a:r>
            <a:r>
              <a:rPr lang="en-US" sz="1800" i="1" spc="135" dirty="0">
                <a:effectLst/>
                <a:ea typeface="Calibri" panose="020F0502020204030204" pitchFamily="34" charset="0"/>
                <a:cs typeface="Times New Roman" panose="02020603050405020304" pitchFamily="18" charset="0"/>
              </a:rPr>
              <a:t>n</a:t>
            </a:r>
            <a:r>
              <a:rPr lang="en-US" sz="1800" i="1" dirty="0">
                <a:effectLst/>
                <a:ea typeface="Calibri" panose="020F0502020204030204" pitchFamily="34" charset="0"/>
                <a:cs typeface="Times New Roman" panose="02020603050405020304" pitchFamily="18" charset="0"/>
              </a:rPr>
              <a:t>) </a:t>
            </a:r>
            <a:r>
              <a:rPr lang="en-US" sz="1800" i="1" spc="3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is</a:t>
            </a:r>
            <a:r>
              <a:rPr lang="en-US" sz="1800" spc="13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computed</a:t>
            </a:r>
            <a:r>
              <a:rPr lang="en-US" sz="1800" spc="260"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after</a:t>
            </a:r>
            <a:r>
              <a:rPr lang="en-US" sz="1800" spc="19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executing</a:t>
            </a:r>
            <a:r>
              <a:rPr lang="en-US" sz="1800" spc="19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t</a:t>
            </a:r>
            <a:r>
              <a:rPr lang="en-US" sz="1800" spc="-12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he</a:t>
            </a:r>
            <a:r>
              <a:rPr lang="en-US" sz="1800" spc="175" dirty="0">
                <a:effectLst/>
                <a:ea typeface="Calibri" panose="020F0502020204030204" pitchFamily="34" charset="0"/>
                <a:cs typeface="Times New Roman" panose="02020603050405020304" pitchFamily="18" charset="0"/>
              </a:rPr>
              <a:t> </a:t>
            </a:r>
            <a:r>
              <a:rPr lang="en-US" sz="1800" dirty="0">
                <a:effectLst/>
                <a:ea typeface="Calibri" panose="020F0502020204030204" pitchFamily="34" charset="0"/>
                <a:cs typeface="Times New Roman" panose="02020603050405020304" pitchFamily="18" charset="0"/>
              </a:rPr>
              <a:t>statements.</a:t>
            </a:r>
          </a:p>
          <a:p>
            <a:pPr marL="0" marR="0">
              <a:spcBef>
                <a:spcPts val="0"/>
              </a:spcBef>
              <a:spcAft>
                <a:spcPts val="0"/>
              </a:spcAft>
            </a:pPr>
            <a:r>
              <a:rPr lang="en-US" sz="1800" dirty="0">
                <a:effectLst/>
                <a:ea typeface="Calibri" panose="020F0502020204030204" pitchFamily="34" charset="0"/>
                <a:cs typeface="Times New Roman" panose="02020603050405020304" pitchFamily="18" charset="0"/>
              </a:rPr>
              <a:t> </a:t>
            </a:r>
          </a:p>
          <a:p>
            <a:pPr marL="342900" marR="0" indent="-342900">
              <a:spcBef>
                <a:spcPts val="0"/>
              </a:spcBef>
              <a:spcAft>
                <a:spcPts val="0"/>
              </a:spcAft>
              <a:buFont typeface="+mj-lt"/>
              <a:buAutoNum type="arabicPeriod" startAt="8"/>
            </a:pPr>
            <a:r>
              <a:rPr lang="en-US" sz="1800" dirty="0">
                <a:effectLst/>
                <a:ea typeface="Calibri" panose="020F0502020204030204" pitchFamily="34" charset="0"/>
                <a:cs typeface="Times New Roman" panose="02020603050405020304" pitchFamily="18" charset="0"/>
              </a:rPr>
              <a:t>A  conditional  statement   has  the  following  forms:</a:t>
            </a:r>
          </a:p>
          <a:p>
            <a:pPr lvl="2"/>
            <a:r>
              <a:rPr lang="en-US" i="1" dirty="0">
                <a:effectLst/>
                <a:ea typeface="Calibri" panose="020F0502020204030204" pitchFamily="34" charset="0"/>
                <a:cs typeface="Times New Roman" panose="02020603050405020304" pitchFamily="18" charset="0"/>
              </a:rPr>
              <a:t>if  ( condition)  then  ( statement )</a:t>
            </a:r>
          </a:p>
          <a:p>
            <a:pPr lvl="2"/>
            <a:r>
              <a:rPr lang="en-US" i="1" dirty="0">
                <a:effectLst/>
                <a:ea typeface="Calibri" panose="020F0502020204030204" pitchFamily="34" charset="0"/>
                <a:cs typeface="Times New Roman" panose="02020603050405020304" pitchFamily="18" charset="0"/>
              </a:rPr>
              <a:t>if ( condition) then ( statement  1) else ( statement 2)</a:t>
            </a:r>
          </a:p>
          <a:p>
            <a:pPr lvl="2"/>
            <a:r>
              <a:rPr lang="en-US" i="1" dirty="0">
                <a:effectLst/>
                <a:ea typeface="Calibri" panose="020F0502020204030204" pitchFamily="34" charset="0"/>
                <a:cs typeface="Times New Roman" panose="02020603050405020304" pitchFamily="18" charset="0"/>
              </a:rPr>
              <a:t>Here ( condition)  is a Boolean expression and ( statement ) ,  ( statement  1), and (statement  2)  are  arbitrary  statements   (simple  or  compound) </a:t>
            </a:r>
            <a:r>
              <a:rPr lang="en-US" b="1" i="1" dirty="0">
                <a:effectLst/>
                <a:ea typeface="Calibri" panose="020F0502020204030204" pitchFamily="34" charset="0"/>
                <a:cs typeface="Times New Roman" panose="02020603050405020304" pitchFamily="18" charset="0"/>
              </a:rPr>
              <a:t>.</a:t>
            </a:r>
          </a:p>
          <a:p>
            <a:pPr marL="64770" marR="151130" indent="191770" algn="just">
              <a:lnSpc>
                <a:spcPct val="95000"/>
              </a:lnSpc>
              <a:spcBef>
                <a:spcPts val="210"/>
              </a:spcBef>
              <a:spcAft>
                <a:spcPts val="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723933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ALGORITHM</a:t>
            </a:r>
            <a:r>
              <a:rPr lang="en-US" sz="1800" b="1" spc="6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SPECIFICATION</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prstClr val="white"/>
                </a:solidFill>
              </a:rPr>
              <a:pPr/>
              <a:t>March 13, 2024</a:t>
            </a:fld>
            <a:endParaRPr lang="en-US">
              <a:solidFill>
                <a:prstClr val="white"/>
              </a:solidFill>
            </a:endParaRPr>
          </a:p>
        </p:txBody>
      </p:sp>
      <p:sp>
        <p:nvSpPr>
          <p:cNvPr id="5" name="Footer Placeholder 4"/>
          <p:cNvSpPr>
            <a:spLocks noGrp="1"/>
          </p:cNvSpPr>
          <p:nvPr>
            <p:ph type="ftr" sz="quarter" idx="11"/>
          </p:nvPr>
        </p:nvSpPr>
        <p:spPr/>
        <p:txBody>
          <a:bodyPr/>
          <a:lstStyle/>
          <a:p>
            <a:r>
              <a:rPr lang="en-US" dirty="0">
                <a:solidFill>
                  <a:prstClr val="white"/>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prstClr val="white"/>
                </a:solidFill>
              </a:rPr>
              <a:pPr/>
              <a:t>12</a:t>
            </a:fld>
            <a:endParaRPr lang="en-US" dirty="0">
              <a:solidFill>
                <a:prstClr val="white"/>
              </a:solidFill>
            </a:endParaRPr>
          </a:p>
        </p:txBody>
      </p:sp>
      <p:sp>
        <p:nvSpPr>
          <p:cNvPr id="8" name="TextBox 7">
            <a:extLst>
              <a:ext uri="{FF2B5EF4-FFF2-40B4-BE49-F238E27FC236}">
                <a16:creationId xmlns:a16="http://schemas.microsoft.com/office/drawing/2014/main" id="{AC2B1F6A-6A6F-5F7C-E8A6-EA36A84F977B}"/>
              </a:ext>
            </a:extLst>
          </p:cNvPr>
          <p:cNvSpPr txBox="1"/>
          <p:nvPr/>
        </p:nvSpPr>
        <p:spPr>
          <a:xfrm>
            <a:off x="457200" y="1447800"/>
            <a:ext cx="8153400" cy="4259115"/>
          </a:xfrm>
          <a:prstGeom prst="rect">
            <a:avLst/>
          </a:prstGeom>
          <a:noFill/>
        </p:spPr>
        <p:txBody>
          <a:bodyPr wrap="square">
            <a:spAutoFit/>
          </a:bodyPr>
          <a:lstStyle/>
          <a:p>
            <a:pPr lvl="1"/>
            <a:r>
              <a:rPr lang="en-US" dirty="0">
                <a:effectLst/>
                <a:ea typeface="Calibri" panose="020F0502020204030204" pitchFamily="34" charset="0"/>
                <a:cs typeface="Times New Roman" panose="02020603050405020304" pitchFamily="18" charset="0"/>
              </a:rPr>
              <a:t>We also employ the following case statement:</a:t>
            </a:r>
          </a:p>
          <a:p>
            <a:pPr lvl="2"/>
            <a:r>
              <a:rPr lang="en-US" dirty="0">
                <a:effectLst/>
                <a:ea typeface="Calibri" panose="020F0502020204030204" pitchFamily="34" charset="0"/>
                <a:cs typeface="Times New Roman" panose="02020603050405020304" pitchFamily="18" charset="0"/>
              </a:rPr>
              <a:t>case</a:t>
            </a:r>
          </a:p>
          <a:p>
            <a:pPr lvl="2"/>
            <a:r>
              <a:rPr lang="en-US" dirty="0">
                <a:effectLst/>
                <a:ea typeface="Calibri" panose="020F0502020204030204" pitchFamily="34" charset="0"/>
                <a:cs typeface="Times New Roman" panose="02020603050405020304" pitchFamily="18" charset="0"/>
              </a:rPr>
              <a:t>{</a:t>
            </a:r>
          </a:p>
          <a:p>
            <a:pPr lvl="2"/>
            <a:r>
              <a:rPr lang="en-US" dirty="0">
                <a:effectLst/>
                <a:ea typeface="Calibri" panose="020F0502020204030204" pitchFamily="34" charset="0"/>
                <a:cs typeface="Times New Roman" panose="02020603050405020304" pitchFamily="18" charset="0"/>
              </a:rPr>
              <a:t> </a:t>
            </a:r>
          </a:p>
          <a:p>
            <a:pPr lvl="2"/>
            <a:r>
              <a:rPr lang="en-US" dirty="0">
                <a:effectLst/>
                <a:ea typeface="Calibri" panose="020F0502020204030204" pitchFamily="34" charset="0"/>
                <a:cs typeface="Times New Roman" panose="02020603050405020304" pitchFamily="18" charset="0"/>
              </a:rPr>
              <a:t>}</a:t>
            </a:r>
          </a:p>
          <a:p>
            <a:pPr lvl="2"/>
            <a:r>
              <a:rPr lang="en-US" dirty="0">
                <a:effectLst/>
                <a:ea typeface="Calibri" panose="020F0502020204030204" pitchFamily="34" charset="0"/>
                <a:cs typeface="Times New Roman" panose="02020603050405020304" pitchFamily="18" charset="0"/>
              </a:rPr>
              <a:t> </a:t>
            </a:r>
          </a:p>
          <a:p>
            <a:pPr lvl="2"/>
            <a:r>
              <a:rPr lang="en-US" dirty="0">
                <a:effectLst/>
                <a:ea typeface="Calibri" panose="020F0502020204030204" pitchFamily="34" charset="0"/>
                <a:cs typeface="Times New Roman" panose="02020603050405020304" pitchFamily="18" charset="0"/>
              </a:rPr>
              <a:t>:( condition  1): ( statement  1)</a:t>
            </a:r>
          </a:p>
          <a:p>
            <a:pPr lvl="2"/>
            <a:r>
              <a:rPr lang="en-US" dirty="0">
                <a:effectLst/>
                <a:ea typeface="Calibri" panose="020F0502020204030204" pitchFamily="34" charset="0"/>
                <a:cs typeface="Times New Roman" panose="02020603050405020304" pitchFamily="18" charset="0"/>
              </a:rPr>
              <a:t> </a:t>
            </a:r>
          </a:p>
          <a:p>
            <a:pPr lvl="2"/>
            <a:r>
              <a:rPr lang="en-US" dirty="0">
                <a:effectLst/>
                <a:ea typeface="Calibri" panose="020F0502020204030204" pitchFamily="34" charset="0"/>
                <a:cs typeface="Times New Roman" panose="02020603050405020304" pitchFamily="18" charset="0"/>
              </a:rPr>
              <a:t>:( condition  n):  ( statement  n)</a:t>
            </a:r>
          </a:p>
          <a:p>
            <a:pPr lvl="2"/>
            <a:r>
              <a:rPr lang="en-US" dirty="0">
                <a:effectLst/>
                <a:ea typeface="Calibri" panose="020F0502020204030204" pitchFamily="34" charset="0"/>
                <a:cs typeface="Times New Roman" panose="02020603050405020304" pitchFamily="18" charset="0"/>
              </a:rPr>
              <a:t>:else:   ( statement  n + 1)</a:t>
            </a:r>
          </a:p>
          <a:p>
            <a:pPr marL="0" marR="0">
              <a:spcBef>
                <a:spcPts val="0"/>
              </a:spcBef>
              <a:spcAft>
                <a:spcPts val="0"/>
              </a:spcAft>
            </a:pPr>
            <a:r>
              <a:rPr lang="en-US" sz="1800" dirty="0">
                <a:effectLst/>
                <a:ea typeface="Calibri" panose="020F0502020204030204" pitchFamily="34" charset="0"/>
                <a:cs typeface="Times New Roman" panose="02020603050405020304" pitchFamily="18" charset="0"/>
              </a:rPr>
              <a:t> </a:t>
            </a:r>
          </a:p>
          <a:p>
            <a:pPr marL="342900" marR="0" indent="-342900">
              <a:spcBef>
                <a:spcPts val="0"/>
              </a:spcBef>
              <a:spcAft>
                <a:spcPts val="0"/>
              </a:spcAft>
              <a:buFont typeface="+mj-lt"/>
              <a:buAutoNum type="arabicPeriod" startAt="9"/>
            </a:pPr>
            <a:r>
              <a:rPr lang="en-US" sz="1800" dirty="0">
                <a:effectLst/>
                <a:ea typeface="Calibri" panose="020F0502020204030204" pitchFamily="34" charset="0"/>
                <a:cs typeface="Times New Roman" panose="02020603050405020304" pitchFamily="18" charset="0"/>
              </a:rPr>
              <a:t>Input and output are done using the instructions read and write.  No format is used to specify the size of input or output quantities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R="0">
              <a:spcBef>
                <a:spcPts val="0"/>
              </a:spcBef>
              <a:spcAft>
                <a:spcPts val="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64770" marR="151130" indent="191770" algn="just">
              <a:lnSpc>
                <a:spcPct val="95000"/>
              </a:lnSpc>
              <a:spcBef>
                <a:spcPts val="210"/>
              </a:spcBef>
              <a:spcAft>
                <a:spcPts val="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853692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ALGORITHM</a:t>
            </a:r>
            <a:r>
              <a:rPr lang="en-US" sz="1800" b="1" spc="6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SPECIFICATION</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prstClr val="white"/>
                </a:solidFill>
              </a:rPr>
              <a:pPr/>
              <a:t>March 13, 2024</a:t>
            </a:fld>
            <a:endParaRPr lang="en-US">
              <a:solidFill>
                <a:prstClr val="white"/>
              </a:solidFill>
            </a:endParaRPr>
          </a:p>
        </p:txBody>
      </p:sp>
      <p:sp>
        <p:nvSpPr>
          <p:cNvPr id="5" name="Footer Placeholder 4"/>
          <p:cNvSpPr>
            <a:spLocks noGrp="1"/>
          </p:cNvSpPr>
          <p:nvPr>
            <p:ph type="ftr" sz="quarter" idx="11"/>
          </p:nvPr>
        </p:nvSpPr>
        <p:spPr/>
        <p:txBody>
          <a:bodyPr/>
          <a:lstStyle/>
          <a:p>
            <a:r>
              <a:rPr lang="en-US" dirty="0">
                <a:solidFill>
                  <a:prstClr val="white"/>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prstClr val="white"/>
                </a:solidFill>
              </a:rPr>
              <a:pPr/>
              <a:t>13</a:t>
            </a:fld>
            <a:endParaRPr lang="en-US" dirty="0">
              <a:solidFill>
                <a:prstClr val="white"/>
              </a:solidFill>
            </a:endParaRPr>
          </a:p>
        </p:txBody>
      </p:sp>
      <p:sp>
        <p:nvSpPr>
          <p:cNvPr id="8" name="TextBox 7">
            <a:extLst>
              <a:ext uri="{FF2B5EF4-FFF2-40B4-BE49-F238E27FC236}">
                <a16:creationId xmlns:a16="http://schemas.microsoft.com/office/drawing/2014/main" id="{AC2B1F6A-6A6F-5F7C-E8A6-EA36A84F977B}"/>
              </a:ext>
            </a:extLst>
          </p:cNvPr>
          <p:cNvSpPr txBox="1"/>
          <p:nvPr/>
        </p:nvSpPr>
        <p:spPr>
          <a:xfrm>
            <a:off x="457200" y="1447800"/>
            <a:ext cx="8153400" cy="5090111"/>
          </a:xfrm>
          <a:prstGeom prst="rect">
            <a:avLst/>
          </a:prstGeom>
          <a:noFill/>
        </p:spPr>
        <p:txBody>
          <a:bodyPr wrap="square">
            <a:spAutoFit/>
          </a:bodyPr>
          <a:lstStyle/>
          <a:p>
            <a:pPr marL="0" marR="0">
              <a:spcBef>
                <a:spcPts val="0"/>
              </a:spcBef>
              <a:spcAft>
                <a:spcPts val="0"/>
              </a:spcAft>
            </a:pPr>
            <a:r>
              <a:rPr lang="en-US" sz="1800" dirty="0">
                <a:effectLst/>
                <a:ea typeface="Calibri" panose="020F0502020204030204" pitchFamily="34" charset="0"/>
                <a:cs typeface="Times New Roman" panose="02020603050405020304" pitchFamily="18" charset="0"/>
              </a:rPr>
              <a:t>There is only one type of procedure:  Algorithm. An algorithm consists of a heading and a body. The heading takes the form</a:t>
            </a:r>
          </a:p>
          <a:p>
            <a:pPr marL="0" marR="0">
              <a:spcBef>
                <a:spcPts val="0"/>
              </a:spcBef>
              <a:spcAft>
                <a:spcPts val="0"/>
              </a:spcAft>
            </a:pPr>
            <a:r>
              <a:rPr lang="en-US" sz="1800" b="1" dirty="0">
                <a:effectLst/>
                <a:ea typeface="Calibri" panose="020F0502020204030204" pitchFamily="34" charset="0"/>
                <a:cs typeface="Times New Roman" panose="02020603050405020304" pitchFamily="18" charset="0"/>
              </a:rPr>
              <a:t>Algorithm  Name  ( (parameter  list ) )</a:t>
            </a:r>
          </a:p>
          <a:p>
            <a:pPr marL="0" marR="0">
              <a:spcBef>
                <a:spcPts val="0"/>
              </a:spcBef>
              <a:spcAft>
                <a:spcPts val="0"/>
              </a:spcAft>
            </a:pPr>
            <a:r>
              <a:rPr lang="en-US" sz="1800" dirty="0">
                <a:effectLst/>
                <a:ea typeface="Calibri" panose="020F0502020204030204" pitchFamily="34" charset="0"/>
                <a:cs typeface="Times New Roman" panose="02020603050405020304" pitchFamily="18" charset="0"/>
              </a:rPr>
              <a:t> As an example, the following algorithm finds and returns the maximum of n given numbers:</a:t>
            </a:r>
          </a:p>
          <a:p>
            <a:pPr marL="0" marR="0">
              <a:spcBef>
                <a:spcPts val="0"/>
              </a:spcBef>
              <a:spcAft>
                <a:spcPts val="0"/>
              </a:spcAft>
            </a:pPr>
            <a:r>
              <a:rPr lang="en-US" sz="1800" dirty="0">
                <a:effectLst/>
                <a:ea typeface="Calibri" panose="020F0502020204030204" pitchFamily="34" charset="0"/>
                <a:cs typeface="Times New Roman" panose="02020603050405020304" pitchFamily="18" charset="0"/>
              </a:rPr>
              <a:t> </a:t>
            </a:r>
          </a:p>
          <a:p>
            <a:pPr marL="0" marR="0">
              <a:spcBef>
                <a:spcPts val="0"/>
              </a:spcBef>
              <a:spcAft>
                <a:spcPts val="0"/>
              </a:spcAft>
            </a:pPr>
            <a:r>
              <a:rPr lang="en-US" sz="1800" dirty="0">
                <a:effectLst/>
                <a:ea typeface="Calibri" panose="020F0502020204030204" pitchFamily="34" charset="0"/>
                <a:cs typeface="Times New Roman" panose="02020603050405020304" pitchFamily="18" charset="0"/>
              </a:rPr>
              <a:t>1	</a:t>
            </a:r>
            <a:r>
              <a:rPr lang="en-US" sz="1800">
                <a:effectLst/>
                <a:ea typeface="Calibri" panose="020F0502020204030204" pitchFamily="34" charset="0"/>
                <a:cs typeface="Times New Roman" panose="02020603050405020304" pitchFamily="18" charset="0"/>
              </a:rPr>
              <a:t>Algorithm Max</a:t>
            </a:r>
            <a:r>
              <a:rPr lang="en-US" sz="1800" dirty="0">
                <a:effectLst/>
                <a:ea typeface="Calibri" panose="020F0502020204030204" pitchFamily="34" charset="0"/>
                <a:cs typeface="Times New Roman" panose="02020603050405020304" pitchFamily="18" charset="0"/>
              </a:rPr>
              <a:t>(A,  n)</a:t>
            </a:r>
          </a:p>
          <a:p>
            <a:pPr marL="0" marR="0">
              <a:spcBef>
                <a:spcPts val="0"/>
              </a:spcBef>
              <a:spcAft>
                <a:spcPts val="0"/>
              </a:spcAft>
            </a:pPr>
            <a:r>
              <a:rPr lang="en-US" sz="1800" dirty="0">
                <a:effectLst/>
                <a:ea typeface="Calibri" panose="020F0502020204030204" pitchFamily="34" charset="0"/>
                <a:cs typeface="Times New Roman" panose="02020603050405020304" pitchFamily="18" charset="0"/>
              </a:rPr>
              <a:t>2	/ / A is an array of size n.</a:t>
            </a:r>
          </a:p>
          <a:p>
            <a:pPr marL="0" marR="0">
              <a:spcBef>
                <a:spcPts val="0"/>
              </a:spcBef>
              <a:spcAft>
                <a:spcPts val="0"/>
              </a:spcAft>
            </a:pPr>
            <a:r>
              <a:rPr lang="en-US" sz="1800" dirty="0">
                <a:effectLst/>
                <a:ea typeface="Calibri" panose="020F0502020204030204" pitchFamily="34" charset="0"/>
                <a:cs typeface="Times New Roman" panose="02020603050405020304" pitchFamily="18" charset="0"/>
              </a:rPr>
              <a:t>3	{</a:t>
            </a:r>
          </a:p>
          <a:p>
            <a:pPr marL="0" marR="0">
              <a:spcBef>
                <a:spcPts val="0"/>
              </a:spcBef>
              <a:spcAft>
                <a:spcPts val="0"/>
              </a:spcAft>
            </a:pPr>
            <a:r>
              <a:rPr lang="en-US" sz="1800" dirty="0">
                <a:effectLst/>
                <a:ea typeface="Calibri" panose="020F0502020204030204" pitchFamily="34" charset="0"/>
                <a:cs typeface="Times New Roman" panose="02020603050405020304" pitchFamily="18" charset="0"/>
              </a:rPr>
              <a:t>4	Result := A[i];</a:t>
            </a:r>
          </a:p>
          <a:p>
            <a:pPr marL="0" marR="0">
              <a:spcBef>
                <a:spcPts val="0"/>
              </a:spcBef>
              <a:spcAft>
                <a:spcPts val="0"/>
              </a:spcAft>
            </a:pPr>
            <a:r>
              <a:rPr lang="en-US" sz="1800" dirty="0">
                <a:effectLst/>
                <a:ea typeface="Calibri" panose="020F0502020204030204" pitchFamily="34" charset="0"/>
                <a:cs typeface="Times New Roman" panose="02020603050405020304" pitchFamily="18" charset="0"/>
              </a:rPr>
              <a:t>5	for i:= 2 to n do</a:t>
            </a:r>
          </a:p>
          <a:p>
            <a:pPr marL="0" marR="0">
              <a:spcBef>
                <a:spcPts val="0"/>
              </a:spcBef>
              <a:spcAft>
                <a:spcPts val="0"/>
              </a:spcAft>
            </a:pPr>
            <a:r>
              <a:rPr lang="en-US" sz="1800" dirty="0">
                <a:effectLst/>
                <a:ea typeface="Calibri" panose="020F0502020204030204" pitchFamily="34" charset="0"/>
                <a:cs typeface="Times New Roman" panose="02020603050405020304" pitchFamily="18" charset="0"/>
              </a:rPr>
              <a:t>6	if A[i] &gt; Result then Result := A[i];</a:t>
            </a:r>
          </a:p>
          <a:p>
            <a:pPr marL="0" marR="0">
              <a:spcBef>
                <a:spcPts val="0"/>
              </a:spcBef>
              <a:spcAft>
                <a:spcPts val="0"/>
              </a:spcAft>
            </a:pPr>
            <a:r>
              <a:rPr lang="en-US" sz="1800" dirty="0">
                <a:effectLst/>
                <a:ea typeface="Calibri" panose="020F0502020204030204" pitchFamily="34" charset="0"/>
                <a:cs typeface="Times New Roman" panose="02020603050405020304" pitchFamily="18" charset="0"/>
              </a:rPr>
              <a:t>7	return Result ;</a:t>
            </a:r>
          </a:p>
          <a:p>
            <a:pPr marL="0" marR="0">
              <a:spcBef>
                <a:spcPts val="0"/>
              </a:spcBef>
              <a:spcAft>
                <a:spcPts val="0"/>
              </a:spcAft>
            </a:pPr>
            <a:r>
              <a:rPr lang="en-US" sz="1800" dirty="0">
                <a:effectLst/>
                <a:ea typeface="Calibri" panose="020F0502020204030204" pitchFamily="34" charset="0"/>
                <a:cs typeface="Times New Roman" panose="02020603050405020304" pitchFamily="18" charset="0"/>
              </a:rPr>
              <a:t>8	}</a:t>
            </a:r>
          </a:p>
          <a:p>
            <a:pPr marL="0" marR="0">
              <a:spcBef>
                <a:spcPts val="0"/>
              </a:spcBef>
              <a:spcAft>
                <a:spcPts val="0"/>
              </a:spcAft>
            </a:pPr>
            <a:r>
              <a:rPr lang="en-US" sz="1800" dirty="0">
                <a:effectLst/>
                <a:ea typeface="Calibri" panose="020F0502020204030204" pitchFamily="34" charset="0"/>
                <a:cs typeface="Times New Roman" panose="02020603050405020304" pitchFamily="18" charset="0"/>
              </a:rPr>
              <a:t> </a:t>
            </a:r>
          </a:p>
          <a:p>
            <a:r>
              <a:rPr lang="en-US" sz="1800" dirty="0">
                <a:effectLst/>
                <a:ea typeface="Calibri" panose="020F0502020204030204" pitchFamily="34" charset="0"/>
              </a:rPr>
              <a:t>In  this  algorithm  (named  Max) ,  </a:t>
            </a:r>
            <a:r>
              <a:rPr lang="en-US" sz="1800" b="1" i="1" dirty="0">
                <a:effectLst/>
                <a:ea typeface="Calibri" panose="020F0502020204030204" pitchFamily="34" charset="0"/>
              </a:rPr>
              <a:t>A  and  n  </a:t>
            </a:r>
            <a:r>
              <a:rPr lang="en-US" sz="1800" dirty="0">
                <a:effectLst/>
                <a:ea typeface="Calibri" panose="020F0502020204030204" pitchFamily="34" charset="0"/>
              </a:rPr>
              <a:t>are  procedure parameters and </a:t>
            </a:r>
            <a:r>
              <a:rPr lang="en-US" sz="1800" b="1" i="1" dirty="0">
                <a:effectLst/>
                <a:ea typeface="Calibri" panose="020F0502020204030204" pitchFamily="34" charset="0"/>
              </a:rPr>
              <a:t>result and i </a:t>
            </a:r>
            <a:r>
              <a:rPr lang="en-US" sz="1800" dirty="0">
                <a:effectLst/>
                <a:ea typeface="Calibri" panose="020F0502020204030204" pitchFamily="34" charset="0"/>
              </a:rPr>
              <a:t>are local variables. </a:t>
            </a:r>
            <a:endParaRPr lang="en-US" dirty="0"/>
          </a:p>
          <a:p>
            <a:pPr marL="64770" marR="151130" indent="191770" algn="just">
              <a:lnSpc>
                <a:spcPct val="95000"/>
              </a:lnSpc>
              <a:spcBef>
                <a:spcPts val="210"/>
              </a:spcBef>
              <a:spcAft>
                <a:spcPts val="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865559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ALGORITHM</a:t>
            </a:r>
            <a:r>
              <a:rPr lang="en-US" sz="1800" b="1" spc="6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SPECIFICATION –Recursive Algorithms </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prstClr val="white"/>
                </a:solidFill>
              </a:rPr>
              <a:pPr/>
              <a:t>March 13, 2024</a:t>
            </a:fld>
            <a:endParaRPr lang="en-US">
              <a:solidFill>
                <a:prstClr val="white"/>
              </a:solidFill>
            </a:endParaRPr>
          </a:p>
        </p:txBody>
      </p:sp>
      <p:sp>
        <p:nvSpPr>
          <p:cNvPr id="5" name="Footer Placeholder 4"/>
          <p:cNvSpPr>
            <a:spLocks noGrp="1"/>
          </p:cNvSpPr>
          <p:nvPr>
            <p:ph type="ftr" sz="quarter" idx="11"/>
          </p:nvPr>
        </p:nvSpPr>
        <p:spPr/>
        <p:txBody>
          <a:bodyPr/>
          <a:lstStyle/>
          <a:p>
            <a:r>
              <a:rPr lang="en-US" dirty="0">
                <a:solidFill>
                  <a:prstClr val="white"/>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prstClr val="white"/>
                </a:solidFill>
              </a:rPr>
              <a:pPr/>
              <a:t>14</a:t>
            </a:fld>
            <a:endParaRPr lang="en-US" dirty="0">
              <a:solidFill>
                <a:prstClr val="white"/>
              </a:solidFill>
            </a:endParaRPr>
          </a:p>
        </p:txBody>
      </p:sp>
      <p:sp>
        <p:nvSpPr>
          <p:cNvPr id="7" name="TextBox 6">
            <a:extLst>
              <a:ext uri="{FF2B5EF4-FFF2-40B4-BE49-F238E27FC236}">
                <a16:creationId xmlns:a16="http://schemas.microsoft.com/office/drawing/2014/main" id="{CB34F3C5-4238-6219-3545-DE5E22E979F4}"/>
              </a:ext>
            </a:extLst>
          </p:cNvPr>
          <p:cNvSpPr txBox="1"/>
          <p:nvPr/>
        </p:nvSpPr>
        <p:spPr>
          <a:xfrm>
            <a:off x="876300" y="1347207"/>
            <a:ext cx="7391400" cy="1938992"/>
          </a:xfrm>
          <a:prstGeom prst="rect">
            <a:avLst/>
          </a:prstGeom>
          <a:noFill/>
        </p:spPr>
        <p:txBody>
          <a:bodyPr wrap="square">
            <a:spAutoFit/>
          </a:bodyPr>
          <a:lstStyle/>
          <a:p>
            <a:pPr marL="285750" indent="-285750">
              <a:buFont typeface="Wingdings" panose="05000000000000000000" pitchFamily="2" charset="2"/>
              <a:buChar char="q"/>
            </a:pPr>
            <a:r>
              <a:rPr lang="en-US" sz="2000" dirty="0"/>
              <a:t>A recursive function is a function that is defined in terms of itself.</a:t>
            </a:r>
          </a:p>
          <a:p>
            <a:pPr marL="285750" indent="-285750">
              <a:buFont typeface="Wingdings" panose="05000000000000000000" pitchFamily="2" charset="2"/>
              <a:buChar char="q"/>
            </a:pPr>
            <a:r>
              <a:rPr lang="en-US" sz="2000" dirty="0"/>
              <a:t>An algorithm is said to be recursive if the same algorithm is invoked in the body </a:t>
            </a:r>
          </a:p>
          <a:p>
            <a:pPr marL="285750" indent="-285750">
              <a:buFont typeface="Wingdings" panose="05000000000000000000" pitchFamily="2" charset="2"/>
              <a:buChar char="q"/>
            </a:pPr>
            <a:r>
              <a:rPr lang="en-US" sz="2000" dirty="0"/>
              <a:t>An algorithm that calls itself is </a:t>
            </a:r>
            <a:r>
              <a:rPr lang="en-US" sz="2000" b="1" dirty="0"/>
              <a:t>direct recursive</a:t>
            </a:r>
          </a:p>
          <a:p>
            <a:pPr marL="285750" indent="-285750">
              <a:buFont typeface="Wingdings" panose="05000000000000000000" pitchFamily="2" charset="2"/>
              <a:buChar char="q"/>
            </a:pPr>
            <a:r>
              <a:rPr lang="en-US" sz="2000" dirty="0"/>
              <a:t>Algorithm A is said to be </a:t>
            </a:r>
            <a:r>
              <a:rPr lang="en-US" sz="2000" b="1" dirty="0"/>
              <a:t>indirect recursive </a:t>
            </a:r>
            <a:r>
              <a:rPr lang="en-US" sz="2000" dirty="0"/>
              <a:t>if it calls another algorithms which in turn calls A. </a:t>
            </a:r>
          </a:p>
        </p:txBody>
      </p:sp>
      <p:sp>
        <p:nvSpPr>
          <p:cNvPr id="12" name="TextBox 11">
            <a:extLst>
              <a:ext uri="{FF2B5EF4-FFF2-40B4-BE49-F238E27FC236}">
                <a16:creationId xmlns:a16="http://schemas.microsoft.com/office/drawing/2014/main" id="{590AD6B4-D882-F4E0-761A-F2BB0E269F7F}"/>
              </a:ext>
            </a:extLst>
          </p:cNvPr>
          <p:cNvSpPr txBox="1"/>
          <p:nvPr/>
        </p:nvSpPr>
        <p:spPr>
          <a:xfrm>
            <a:off x="585789" y="3647350"/>
            <a:ext cx="2971799" cy="2031325"/>
          </a:xfrm>
          <a:prstGeom prst="rect">
            <a:avLst/>
          </a:prstGeom>
          <a:noFill/>
        </p:spPr>
        <p:txBody>
          <a:bodyPr wrap="square">
            <a:spAutoFit/>
          </a:bodyPr>
          <a:lstStyle/>
          <a:p>
            <a:pPr marL="0" marR="0">
              <a:spcBef>
                <a:spcPts val="0"/>
              </a:spcBef>
              <a:spcAft>
                <a:spcPts val="0"/>
              </a:spcAft>
            </a:pPr>
            <a:r>
              <a:rPr lang="en-US" dirty="0">
                <a:effectLst/>
                <a:latin typeface="Calibri" panose="020F0502020204030204" pitchFamily="34" charset="0"/>
                <a:ea typeface="Calibri" panose="020F0502020204030204" pitchFamily="34" charset="0"/>
                <a:cs typeface="Times New Roman" panose="02020603050405020304" pitchFamily="18" charset="0"/>
              </a:rPr>
              <a:t>void </a:t>
            </a:r>
            <a:r>
              <a:rPr lang="en-US" dirty="0" err="1">
                <a:effectLst/>
                <a:latin typeface="Calibri" panose="020F0502020204030204" pitchFamily="34" charset="0"/>
                <a:ea typeface="Calibri" panose="020F0502020204030204" pitchFamily="34" charset="0"/>
                <a:cs typeface="Times New Roman" panose="02020603050405020304" pitchFamily="18" charset="0"/>
              </a:rPr>
              <a:t>directRecCall</a:t>
            </a:r>
            <a:r>
              <a:rPr lang="en-US" dirty="0">
                <a:effectLst/>
                <a:latin typeface="Calibri" panose="020F0502020204030204" pitchFamily="34" charset="0"/>
                <a:ea typeface="Calibri" panose="020F0502020204030204" pitchFamily="34" charset="0"/>
                <a:cs typeface="Times New Roman" panose="02020603050405020304" pitchFamily="18" charset="0"/>
              </a:rPr>
              <a:t>()</a:t>
            </a:r>
          </a:p>
          <a:p>
            <a:pPr marL="0" marR="0">
              <a:spcBef>
                <a:spcPts val="0"/>
              </a:spcBef>
              <a:spcAft>
                <a:spcPts val="0"/>
              </a:spcAft>
            </a:pPr>
            <a:r>
              <a:rPr lang="en-US" dirty="0">
                <a:effectLst/>
                <a:latin typeface="Calibri" panose="020F0502020204030204" pitchFamily="34" charset="0"/>
                <a:ea typeface="Calibri" panose="020F0502020204030204" pitchFamily="34" charset="0"/>
                <a:cs typeface="Times New Roman" panose="02020603050405020304" pitchFamily="18" charset="0"/>
              </a:rPr>
              <a:t>{</a:t>
            </a:r>
          </a:p>
          <a:p>
            <a:pPr marL="0" marR="0">
              <a:spcBef>
                <a:spcPts val="0"/>
              </a:spcBef>
              <a:spcAft>
                <a:spcPts val="0"/>
              </a:spcAft>
            </a:pPr>
            <a:r>
              <a:rPr lang="en-US" dirty="0">
                <a:effectLst/>
                <a:latin typeface="Calibri" panose="020F0502020204030204" pitchFamily="34" charset="0"/>
                <a:ea typeface="Calibri" panose="020F0502020204030204" pitchFamily="34" charset="0"/>
                <a:cs typeface="Times New Roman" panose="02020603050405020304" pitchFamily="18" charset="0"/>
              </a:rPr>
              <a:t>    // Some code....</a:t>
            </a:r>
          </a:p>
          <a:p>
            <a:pPr marL="0" marR="0">
              <a:spcBef>
                <a:spcPts val="0"/>
              </a:spcBef>
              <a:spcAft>
                <a:spcPts val="0"/>
              </a:spcAft>
            </a:pPr>
            <a:r>
              <a:rPr lang="en-US" dirty="0">
                <a:effectLst/>
                <a:latin typeface="Calibri" panose="020F0502020204030204" pitchFamily="34" charset="0"/>
                <a:ea typeface="Calibri" panose="020F0502020204030204" pitchFamily="34" charset="0"/>
                <a:cs typeface="Times New Roman" panose="02020603050405020304" pitchFamily="18" charset="0"/>
              </a:rPr>
              <a:t>     </a:t>
            </a:r>
            <a:r>
              <a:rPr lang="en-US" dirty="0" err="1">
                <a:effectLst/>
                <a:latin typeface="Calibri" panose="020F0502020204030204" pitchFamily="34" charset="0"/>
                <a:ea typeface="Calibri" panose="020F0502020204030204" pitchFamily="34" charset="0"/>
                <a:cs typeface="Times New Roman" panose="02020603050405020304" pitchFamily="18" charset="0"/>
              </a:rPr>
              <a:t>directRecCall</a:t>
            </a:r>
            <a:r>
              <a:rPr lang="en-US" dirty="0">
                <a:effectLst/>
                <a:latin typeface="Calibri" panose="020F0502020204030204" pitchFamily="34" charset="0"/>
                <a:ea typeface="Calibri" panose="020F0502020204030204" pitchFamily="34" charset="0"/>
                <a:cs typeface="Times New Roman" panose="02020603050405020304" pitchFamily="18" charset="0"/>
              </a:rPr>
              <a:t>();</a:t>
            </a:r>
          </a:p>
          <a:p>
            <a:pPr marL="0" marR="0">
              <a:spcBef>
                <a:spcPts val="0"/>
              </a:spcBef>
              <a:spcAft>
                <a:spcPts val="0"/>
              </a:spcAft>
            </a:pPr>
            <a:r>
              <a:rPr lang="en-US" dirty="0">
                <a:effectLst/>
                <a:latin typeface="Calibri" panose="020F0502020204030204" pitchFamily="34" charset="0"/>
                <a:ea typeface="Calibri" panose="020F0502020204030204" pitchFamily="34" charset="0"/>
                <a:cs typeface="Times New Roman" panose="02020603050405020304" pitchFamily="18" charset="0"/>
              </a:rPr>
              <a:t>     // Some code...</a:t>
            </a:r>
          </a:p>
          <a:p>
            <a:pPr marL="0" marR="0">
              <a:spcBef>
                <a:spcPts val="0"/>
              </a:spcBef>
              <a:spcAft>
                <a:spcPts val="0"/>
              </a:spcAft>
            </a:pPr>
            <a:r>
              <a:rPr lang="en-US" dirty="0">
                <a:effectLst/>
                <a:latin typeface="Calibri" panose="020F0502020204030204" pitchFamily="34" charset="0"/>
                <a:ea typeface="Calibri" panose="020F0502020204030204" pitchFamily="34" charset="0"/>
                <a:cs typeface="Times New Roman" panose="02020603050405020304" pitchFamily="18" charset="0"/>
              </a:rPr>
              <a:t>}</a:t>
            </a:r>
          </a:p>
          <a:p>
            <a:pPr marL="0" marR="0">
              <a:spcBef>
                <a:spcPts val="0"/>
              </a:spcBef>
              <a:spcAft>
                <a:spcPts val="0"/>
              </a:spcAft>
            </a:pPr>
            <a:r>
              <a:rPr lang="en-US"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6" name="TextBox 15">
            <a:extLst>
              <a:ext uri="{FF2B5EF4-FFF2-40B4-BE49-F238E27FC236}">
                <a16:creationId xmlns:a16="http://schemas.microsoft.com/office/drawing/2014/main" id="{537F6BDF-9910-71D6-CFC5-AB19F48B83EE}"/>
              </a:ext>
            </a:extLst>
          </p:cNvPr>
          <p:cNvSpPr txBox="1"/>
          <p:nvPr/>
        </p:nvSpPr>
        <p:spPr>
          <a:xfrm>
            <a:off x="3381376" y="3429761"/>
            <a:ext cx="4586286" cy="2585323"/>
          </a:xfrm>
          <a:prstGeom prst="rect">
            <a:avLst/>
          </a:prstGeom>
          <a:noFill/>
        </p:spPr>
        <p:txBody>
          <a:bodyPr wrap="square">
            <a:spAutoFit/>
          </a:bodyPr>
          <a:lstStyle/>
          <a:p>
            <a:pPr marL="0" marR="0">
              <a:spcBef>
                <a:spcPts val="0"/>
              </a:spcBef>
              <a:spcAft>
                <a:spcPts val="0"/>
              </a:spcAft>
            </a:pPr>
            <a:r>
              <a:rPr lang="en-US" sz="1800" dirty="0">
                <a:effectLst/>
                <a:latin typeface="+mj-lt"/>
                <a:ea typeface="Calibri" panose="020F0502020204030204" pitchFamily="34" charset="0"/>
                <a:cs typeface="Times New Roman" panose="02020603050405020304" pitchFamily="18" charset="0"/>
              </a:rPr>
              <a:t>// An example of indirect recursion</a:t>
            </a:r>
          </a:p>
          <a:p>
            <a:pPr marL="0" marR="0">
              <a:spcBef>
                <a:spcPts val="0"/>
              </a:spcBef>
              <a:spcAft>
                <a:spcPts val="0"/>
              </a:spcAft>
            </a:pPr>
            <a:r>
              <a:rPr lang="en-US" sz="1800" dirty="0">
                <a:effectLst/>
                <a:latin typeface="+mj-lt"/>
                <a:ea typeface="Calibri" panose="020F0502020204030204" pitchFamily="34" charset="0"/>
                <a:cs typeface="Times New Roman" panose="02020603050405020304" pitchFamily="18" charset="0"/>
              </a:rPr>
              <a:t>void indirectRecCall1()</a:t>
            </a:r>
          </a:p>
          <a:p>
            <a:pPr marL="0" marR="0">
              <a:spcBef>
                <a:spcPts val="0"/>
              </a:spcBef>
              <a:spcAft>
                <a:spcPts val="0"/>
              </a:spcAft>
            </a:pPr>
            <a:r>
              <a:rPr lang="en-US" sz="1800" dirty="0">
                <a:effectLst/>
                <a:latin typeface="+mj-lt"/>
                <a:ea typeface="Calibri" panose="020F0502020204030204" pitchFamily="34" charset="0"/>
                <a:cs typeface="Times New Roman" panose="02020603050405020304" pitchFamily="18" charset="0"/>
              </a:rPr>
              <a:t>{</a:t>
            </a:r>
          </a:p>
          <a:p>
            <a:pPr marL="0" marR="0">
              <a:spcBef>
                <a:spcPts val="0"/>
              </a:spcBef>
              <a:spcAft>
                <a:spcPts val="0"/>
              </a:spcAft>
            </a:pPr>
            <a:r>
              <a:rPr lang="en-US" sz="1800" dirty="0">
                <a:effectLst/>
                <a:latin typeface="+mj-lt"/>
                <a:ea typeface="Calibri" panose="020F0502020204030204" pitchFamily="34" charset="0"/>
                <a:cs typeface="Times New Roman" panose="02020603050405020304" pitchFamily="18" charset="0"/>
              </a:rPr>
              <a:t>    // Some code...</a:t>
            </a:r>
          </a:p>
          <a:p>
            <a:pPr marL="0" marR="0">
              <a:spcBef>
                <a:spcPts val="0"/>
              </a:spcBef>
              <a:spcAft>
                <a:spcPts val="0"/>
              </a:spcAft>
            </a:pPr>
            <a:r>
              <a:rPr lang="en-US" sz="1800" dirty="0">
                <a:effectLst/>
                <a:latin typeface="+mj-lt"/>
                <a:ea typeface="Calibri" panose="020F0502020204030204" pitchFamily="34" charset="0"/>
                <a:cs typeface="Times New Roman" panose="02020603050405020304" pitchFamily="18" charset="0"/>
              </a:rPr>
              <a:t>     indirectRecCall2();</a:t>
            </a:r>
          </a:p>
          <a:p>
            <a:pPr marL="0" marR="0">
              <a:spcBef>
                <a:spcPts val="0"/>
              </a:spcBef>
              <a:spcAft>
                <a:spcPts val="0"/>
              </a:spcAft>
            </a:pPr>
            <a:r>
              <a:rPr lang="en-US" sz="1800" dirty="0">
                <a:effectLst/>
                <a:latin typeface="+mj-lt"/>
                <a:ea typeface="Calibri" panose="020F0502020204030204" pitchFamily="34" charset="0"/>
                <a:cs typeface="Times New Roman" panose="02020603050405020304" pitchFamily="18" charset="0"/>
              </a:rPr>
              <a:t>     // Some code...</a:t>
            </a:r>
          </a:p>
          <a:p>
            <a:pPr marL="0" marR="0">
              <a:spcBef>
                <a:spcPts val="0"/>
              </a:spcBef>
              <a:spcAft>
                <a:spcPts val="0"/>
              </a:spcAft>
            </a:pPr>
            <a:r>
              <a:rPr lang="en-US" sz="1800" dirty="0">
                <a:effectLst/>
                <a:latin typeface="+mj-lt"/>
                <a:ea typeface="Calibri" panose="020F0502020204030204" pitchFamily="34" charset="0"/>
                <a:cs typeface="Times New Roman" panose="02020603050405020304" pitchFamily="18" charset="0"/>
              </a:rPr>
              <a:t>}</a:t>
            </a:r>
          </a:p>
          <a:p>
            <a:pPr marL="0" marR="0">
              <a:spcBef>
                <a:spcPts val="0"/>
              </a:spcBef>
              <a:spcAft>
                <a:spcPts val="0"/>
              </a:spcAft>
            </a:pPr>
            <a:r>
              <a:rPr lang="en-US" sz="1800" dirty="0">
                <a:effectLst/>
                <a:latin typeface="+mj-lt"/>
                <a:ea typeface="Calibri" panose="020F0502020204030204" pitchFamily="34" charset="0"/>
                <a:cs typeface="Times New Roman" panose="02020603050405020304" pitchFamily="18" charset="0"/>
              </a:rPr>
              <a:t>void indirectRecCall2() {     // Some code...</a:t>
            </a:r>
          </a:p>
          <a:p>
            <a:pPr marL="0" marR="0">
              <a:spcBef>
                <a:spcPts val="0"/>
              </a:spcBef>
              <a:spcAft>
                <a:spcPts val="0"/>
              </a:spcAft>
            </a:pPr>
            <a:r>
              <a:rPr lang="en-US" sz="1800" dirty="0">
                <a:effectLst/>
                <a:latin typeface="+mj-lt"/>
                <a:ea typeface="Calibri" panose="020F0502020204030204" pitchFamily="34" charset="0"/>
                <a:cs typeface="Times New Roman" panose="02020603050405020304" pitchFamily="18" charset="0"/>
              </a:rPr>
              <a:t>     indirectRecCall1();      // Some code... }</a:t>
            </a:r>
            <a:endParaRPr lang="en-US" dirty="0">
              <a:latin typeface="+mj-lt"/>
            </a:endParaRPr>
          </a:p>
        </p:txBody>
      </p:sp>
    </p:spTree>
    <p:extLst>
      <p:ext uri="{BB962C8B-B14F-4D97-AF65-F5344CB8AC3E}">
        <p14:creationId xmlns:p14="http://schemas.microsoft.com/office/powerpoint/2010/main" val="4806875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b="1" dirty="0">
                <a:effectLst/>
                <a:latin typeface="+mj-lt"/>
                <a:ea typeface="Times New Roman" panose="02020603050405020304" pitchFamily="18" charset="0"/>
                <a:cs typeface="Times New Roman" panose="02020603050405020304" pitchFamily="18" charset="0"/>
              </a:rPr>
              <a:t>Performance Analysis </a:t>
            </a:r>
            <a:endParaRPr lang="en-US" sz="2800" dirty="0">
              <a:effectLst/>
              <a:latin typeface="+mj-lt"/>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prstClr val="white"/>
                </a:solidFill>
              </a:rPr>
              <a:pPr/>
              <a:t>March 13, 2024</a:t>
            </a:fld>
            <a:endParaRPr lang="en-US">
              <a:solidFill>
                <a:prstClr val="white"/>
              </a:solidFill>
            </a:endParaRPr>
          </a:p>
        </p:txBody>
      </p:sp>
      <p:sp>
        <p:nvSpPr>
          <p:cNvPr id="5" name="Footer Placeholder 4"/>
          <p:cNvSpPr>
            <a:spLocks noGrp="1"/>
          </p:cNvSpPr>
          <p:nvPr>
            <p:ph type="ftr" sz="quarter" idx="11"/>
          </p:nvPr>
        </p:nvSpPr>
        <p:spPr/>
        <p:txBody>
          <a:bodyPr/>
          <a:lstStyle/>
          <a:p>
            <a:r>
              <a:rPr lang="en-US" dirty="0">
                <a:solidFill>
                  <a:prstClr val="white"/>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prstClr val="white"/>
                </a:solidFill>
              </a:rPr>
              <a:pPr/>
              <a:t>15</a:t>
            </a:fld>
            <a:endParaRPr lang="en-US" dirty="0">
              <a:solidFill>
                <a:prstClr val="white"/>
              </a:solidFill>
            </a:endParaRPr>
          </a:p>
        </p:txBody>
      </p:sp>
      <p:sp>
        <p:nvSpPr>
          <p:cNvPr id="8" name="TextBox 7">
            <a:extLst>
              <a:ext uri="{FF2B5EF4-FFF2-40B4-BE49-F238E27FC236}">
                <a16:creationId xmlns:a16="http://schemas.microsoft.com/office/drawing/2014/main" id="{1A71BDF8-1E32-A446-BFD6-71CB95E08D6A}"/>
              </a:ext>
            </a:extLst>
          </p:cNvPr>
          <p:cNvSpPr txBox="1"/>
          <p:nvPr/>
        </p:nvSpPr>
        <p:spPr>
          <a:xfrm>
            <a:off x="647700" y="1443841"/>
            <a:ext cx="7848600" cy="3970318"/>
          </a:xfrm>
          <a:prstGeom prst="rect">
            <a:avLst/>
          </a:prstGeom>
          <a:noFill/>
        </p:spPr>
        <p:txBody>
          <a:bodyPr wrap="square">
            <a:spAutoFit/>
          </a:bodyPr>
          <a:lstStyle/>
          <a:p>
            <a:pPr algn="just"/>
            <a:r>
              <a:rPr lang="en-US" dirty="0"/>
              <a:t>Analyzing the performance of an algorithm is an important part of its design. One of the ways to estimate the performance of an algorithm is to analyze its complexity..</a:t>
            </a:r>
          </a:p>
          <a:p>
            <a:pPr algn="just"/>
            <a:endParaRPr lang="en-US" dirty="0"/>
          </a:p>
          <a:p>
            <a:pPr algn="just"/>
            <a:r>
              <a:rPr lang="en-US" dirty="0"/>
              <a:t> Any algorithm should have three key features:</a:t>
            </a:r>
          </a:p>
          <a:p>
            <a:pPr marL="285750" indent="-285750" algn="just">
              <a:buFont typeface="Wingdings" panose="05000000000000000000" pitchFamily="2" charset="2"/>
              <a:buChar char="q"/>
            </a:pPr>
            <a:r>
              <a:rPr lang="en-US" dirty="0"/>
              <a:t>It should be correct. An algorithm won't do you much good if it doesn't give you the right answers.</a:t>
            </a:r>
          </a:p>
          <a:p>
            <a:pPr marL="285750" indent="-285750" algn="just">
              <a:buFont typeface="Wingdings" panose="05000000000000000000" pitchFamily="2" charset="2"/>
              <a:buChar char="q"/>
            </a:pPr>
            <a:r>
              <a:rPr lang="en-US" dirty="0"/>
              <a:t>A good algorithm should be understandable. The best algorithm in the world won't do you any good if it's too complicated for you to implement on a computer.</a:t>
            </a:r>
          </a:p>
          <a:p>
            <a:pPr marL="285750" indent="-285750" algn="just">
              <a:buFont typeface="Wingdings" panose="05000000000000000000" pitchFamily="2" charset="2"/>
              <a:buChar char="q"/>
            </a:pPr>
            <a:r>
              <a:rPr lang="en-US" dirty="0"/>
              <a:t>A good algorithm should be efficient. Even if an algorithm produces a correct result, it won't help you much if it takes a thousand years or if it requires 1 billion terabytes of memory.</a:t>
            </a:r>
          </a:p>
          <a:p>
            <a:endParaRPr lang="en-US" dirty="0"/>
          </a:p>
        </p:txBody>
      </p:sp>
    </p:spTree>
    <p:extLst>
      <p:ext uri="{BB962C8B-B14F-4D97-AF65-F5344CB8AC3E}">
        <p14:creationId xmlns:p14="http://schemas.microsoft.com/office/powerpoint/2010/main" val="11943494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b="1" dirty="0">
                <a:effectLst/>
                <a:latin typeface="+mj-lt"/>
                <a:ea typeface="Times New Roman" panose="02020603050405020304" pitchFamily="18" charset="0"/>
                <a:cs typeface="Times New Roman" panose="02020603050405020304" pitchFamily="18" charset="0"/>
              </a:rPr>
              <a:t>Performance Analysis </a:t>
            </a:r>
            <a:endParaRPr lang="en-US" sz="2800" dirty="0">
              <a:effectLst/>
              <a:latin typeface="+mj-lt"/>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prstClr val="white"/>
                </a:solidFill>
              </a:rPr>
              <a:pPr/>
              <a:t>March 13, 2024</a:t>
            </a:fld>
            <a:endParaRPr lang="en-US">
              <a:solidFill>
                <a:prstClr val="white"/>
              </a:solidFill>
            </a:endParaRPr>
          </a:p>
        </p:txBody>
      </p:sp>
      <p:sp>
        <p:nvSpPr>
          <p:cNvPr id="5" name="Footer Placeholder 4"/>
          <p:cNvSpPr>
            <a:spLocks noGrp="1"/>
          </p:cNvSpPr>
          <p:nvPr>
            <p:ph type="ftr" sz="quarter" idx="11"/>
          </p:nvPr>
        </p:nvSpPr>
        <p:spPr/>
        <p:txBody>
          <a:bodyPr/>
          <a:lstStyle/>
          <a:p>
            <a:r>
              <a:rPr lang="en-US" dirty="0">
                <a:solidFill>
                  <a:prstClr val="white"/>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prstClr val="white"/>
                </a:solidFill>
              </a:rPr>
              <a:pPr/>
              <a:t>16</a:t>
            </a:fld>
            <a:endParaRPr lang="en-US" dirty="0">
              <a:solidFill>
                <a:prstClr val="white"/>
              </a:solidFill>
            </a:endParaRPr>
          </a:p>
        </p:txBody>
      </p:sp>
      <p:sp>
        <p:nvSpPr>
          <p:cNvPr id="8" name="TextBox 7">
            <a:extLst>
              <a:ext uri="{FF2B5EF4-FFF2-40B4-BE49-F238E27FC236}">
                <a16:creationId xmlns:a16="http://schemas.microsoft.com/office/drawing/2014/main" id="{1A71BDF8-1E32-A446-BFD6-71CB95E08D6A}"/>
              </a:ext>
            </a:extLst>
          </p:cNvPr>
          <p:cNvSpPr txBox="1"/>
          <p:nvPr/>
        </p:nvSpPr>
        <p:spPr>
          <a:xfrm>
            <a:off x="381000" y="1447800"/>
            <a:ext cx="8229600" cy="4801314"/>
          </a:xfrm>
          <a:prstGeom prst="rect">
            <a:avLst/>
          </a:prstGeom>
          <a:noFill/>
        </p:spPr>
        <p:txBody>
          <a:bodyPr wrap="square">
            <a:spAutoFit/>
          </a:bodyPr>
          <a:lstStyle/>
          <a:p>
            <a:r>
              <a:rPr lang="en-US" dirty="0"/>
              <a:t>There are two possible types of analysis to quantify the complexity of an algorithm:</a:t>
            </a:r>
          </a:p>
          <a:p>
            <a:pPr marL="285750" indent="-285750">
              <a:buFont typeface="Wingdings" panose="05000000000000000000" pitchFamily="2" charset="2"/>
              <a:buChar char="v"/>
            </a:pPr>
            <a:r>
              <a:rPr lang="en-US" b="1" dirty="0"/>
              <a:t>Space complexity analysis</a:t>
            </a:r>
            <a:r>
              <a:rPr lang="en-US" dirty="0"/>
              <a:t>: Estimates the runtime memory requirements needed to execute the algorithm.</a:t>
            </a:r>
          </a:p>
          <a:p>
            <a:pPr marL="285750" indent="-285750">
              <a:buFont typeface="Wingdings" panose="05000000000000000000" pitchFamily="2" charset="2"/>
              <a:buChar char="v"/>
            </a:pPr>
            <a:r>
              <a:rPr lang="en-US" b="1" dirty="0"/>
              <a:t>Time complexity analysis</a:t>
            </a:r>
            <a:r>
              <a:rPr lang="en-US" dirty="0"/>
              <a:t>: Estimates the time the algorithm will take to run.</a:t>
            </a:r>
          </a:p>
          <a:p>
            <a:pPr marL="285750" indent="-285750">
              <a:buFont typeface="Wingdings" panose="05000000000000000000" pitchFamily="2" charset="2"/>
              <a:buChar char="v"/>
            </a:pPr>
            <a:endParaRPr lang="en-US" dirty="0"/>
          </a:p>
          <a:p>
            <a:r>
              <a:rPr lang="en-US" b="1" dirty="0"/>
              <a:t>Space complexity analysis</a:t>
            </a:r>
          </a:p>
          <a:p>
            <a:pPr marL="285750" indent="-285750">
              <a:buFont typeface="Wingdings" panose="05000000000000000000" pitchFamily="2" charset="2"/>
              <a:buChar char="q"/>
            </a:pPr>
            <a:r>
              <a:rPr lang="en-US" dirty="0"/>
              <a:t>Space complexity analysis estimates the amount of memory required by the algorithm to process input data. </a:t>
            </a:r>
          </a:p>
          <a:p>
            <a:pPr marL="285750" indent="-285750">
              <a:buFont typeface="Wingdings" panose="05000000000000000000" pitchFamily="2" charset="2"/>
              <a:buChar char="q"/>
            </a:pPr>
            <a:r>
              <a:rPr lang="en-US" dirty="0"/>
              <a:t>While processing the input data, the algorithm needs to store the transient temporary data structures in memory. </a:t>
            </a:r>
          </a:p>
          <a:p>
            <a:pPr marL="285750" indent="-285750">
              <a:buFont typeface="Wingdings" panose="05000000000000000000" pitchFamily="2" charset="2"/>
              <a:buChar char="q"/>
            </a:pPr>
            <a:r>
              <a:rPr lang="en-US" dirty="0"/>
              <a:t>The way the algorithm is designed affects the number, type, and size of these data structures.</a:t>
            </a:r>
          </a:p>
          <a:p>
            <a:r>
              <a:rPr lang="en-US" dirty="0"/>
              <a:t>Space complexity analysis is a must for the efficient design of algorithms. If proper space complexity analysis is not conducted while designing a particular algorithm, insufficient memory availability for the transient temporary data structures may trigger unnecessary disk swapping, which could potentially considerably affect the performance and efficiency of the algorithm.</a:t>
            </a:r>
          </a:p>
        </p:txBody>
      </p:sp>
    </p:spTree>
    <p:extLst>
      <p:ext uri="{BB962C8B-B14F-4D97-AF65-F5344CB8AC3E}">
        <p14:creationId xmlns:p14="http://schemas.microsoft.com/office/powerpoint/2010/main" val="11509930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b="1" dirty="0">
                <a:effectLst/>
                <a:latin typeface="+mj-lt"/>
                <a:ea typeface="Times New Roman" panose="02020603050405020304" pitchFamily="18" charset="0"/>
                <a:cs typeface="Times New Roman" panose="02020603050405020304" pitchFamily="18" charset="0"/>
              </a:rPr>
              <a:t>Performance Analysis </a:t>
            </a:r>
            <a:endParaRPr lang="en-US" sz="2800" dirty="0">
              <a:effectLst/>
              <a:latin typeface="+mj-lt"/>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prstClr val="white"/>
                </a:solidFill>
              </a:rPr>
              <a:pPr/>
              <a:t>March 13, 2024</a:t>
            </a:fld>
            <a:endParaRPr lang="en-US">
              <a:solidFill>
                <a:prstClr val="white"/>
              </a:solidFill>
            </a:endParaRPr>
          </a:p>
        </p:txBody>
      </p:sp>
      <p:sp>
        <p:nvSpPr>
          <p:cNvPr id="5" name="Footer Placeholder 4"/>
          <p:cNvSpPr>
            <a:spLocks noGrp="1"/>
          </p:cNvSpPr>
          <p:nvPr>
            <p:ph type="ftr" sz="quarter" idx="11"/>
          </p:nvPr>
        </p:nvSpPr>
        <p:spPr/>
        <p:txBody>
          <a:bodyPr/>
          <a:lstStyle/>
          <a:p>
            <a:r>
              <a:rPr lang="en-US" dirty="0">
                <a:solidFill>
                  <a:prstClr val="white"/>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prstClr val="white"/>
                </a:solidFill>
              </a:rPr>
              <a:pPr/>
              <a:t>17</a:t>
            </a:fld>
            <a:endParaRPr lang="en-US" dirty="0">
              <a:solidFill>
                <a:prstClr val="white"/>
              </a:solidFill>
            </a:endParaRPr>
          </a:p>
        </p:txBody>
      </p:sp>
      <p:sp>
        <p:nvSpPr>
          <p:cNvPr id="8" name="TextBox 7">
            <a:extLst>
              <a:ext uri="{FF2B5EF4-FFF2-40B4-BE49-F238E27FC236}">
                <a16:creationId xmlns:a16="http://schemas.microsoft.com/office/drawing/2014/main" id="{1A71BDF8-1E32-A446-BFD6-71CB95E08D6A}"/>
              </a:ext>
            </a:extLst>
          </p:cNvPr>
          <p:cNvSpPr txBox="1"/>
          <p:nvPr/>
        </p:nvSpPr>
        <p:spPr>
          <a:xfrm>
            <a:off x="381000" y="1447800"/>
            <a:ext cx="8229600" cy="4524315"/>
          </a:xfrm>
          <a:prstGeom prst="rect">
            <a:avLst/>
          </a:prstGeom>
          <a:noFill/>
        </p:spPr>
        <p:txBody>
          <a:bodyPr wrap="square">
            <a:spAutoFit/>
          </a:bodyPr>
          <a:lstStyle/>
          <a:p>
            <a:r>
              <a:rPr lang="en-US" b="1" dirty="0"/>
              <a:t>Time complexity analysis</a:t>
            </a:r>
          </a:p>
          <a:p>
            <a:pPr marL="285750" indent="-285750">
              <a:buFont typeface="Wingdings" panose="05000000000000000000" pitchFamily="2" charset="2"/>
              <a:buChar char="q"/>
            </a:pPr>
            <a:r>
              <a:rPr lang="en-US" dirty="0"/>
              <a:t>Time complexity analysis estimates how long it will take for an algorithm to complete its assigned job based on its structure. </a:t>
            </a:r>
          </a:p>
          <a:p>
            <a:pPr marL="285750" indent="-285750">
              <a:buFont typeface="Wingdings" panose="05000000000000000000" pitchFamily="2" charset="2"/>
              <a:buChar char="q"/>
            </a:pPr>
            <a:r>
              <a:rPr lang="en-US" dirty="0"/>
              <a:t>In contrast to space complexity, time complexity is not dependent on any hardware that the algorithm will run on. </a:t>
            </a:r>
          </a:p>
          <a:p>
            <a:pPr marL="285750" indent="-285750">
              <a:buFont typeface="Wingdings" panose="05000000000000000000" pitchFamily="2" charset="2"/>
              <a:buChar char="q"/>
            </a:pPr>
            <a:r>
              <a:rPr lang="en-US" dirty="0"/>
              <a:t>Time complexity analysis solely depends on the structure of the algorithm itself. </a:t>
            </a:r>
          </a:p>
          <a:p>
            <a:endParaRPr lang="en-US" dirty="0"/>
          </a:p>
          <a:p>
            <a:pPr algn="just"/>
            <a:r>
              <a:rPr lang="en-US" dirty="0"/>
              <a:t>The overall goal of time complexity analysis is to try to answer these important questions—</a:t>
            </a:r>
            <a:r>
              <a:rPr lang="en-US" b="1" dirty="0"/>
              <a:t>will this algorithm scale? How well will this algorithm handle larger datasets?</a:t>
            </a:r>
          </a:p>
          <a:p>
            <a:pPr algn="just"/>
            <a:r>
              <a:rPr lang="en-US" dirty="0"/>
              <a:t>To answer these questions, we need to determine the effect on the performance of an </a:t>
            </a:r>
            <a:r>
              <a:rPr lang="en-US" b="1" dirty="0"/>
              <a:t>algorithm as the size of the data is increased and make sure that the algorithm is designed in a way that not only makes it accurate but also scales well. </a:t>
            </a:r>
          </a:p>
          <a:p>
            <a:pPr algn="just"/>
            <a:r>
              <a:rPr lang="en-US" dirty="0"/>
              <a:t>The performance of an algorithm is becoming more and more important for larger datasets in today's world of "big data."</a:t>
            </a:r>
          </a:p>
          <a:p>
            <a:endParaRPr lang="en-US" dirty="0"/>
          </a:p>
        </p:txBody>
      </p:sp>
    </p:spTree>
    <p:extLst>
      <p:ext uri="{BB962C8B-B14F-4D97-AF65-F5344CB8AC3E}">
        <p14:creationId xmlns:p14="http://schemas.microsoft.com/office/powerpoint/2010/main" val="32115561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b="1" dirty="0">
                <a:effectLst/>
                <a:latin typeface="+mj-lt"/>
                <a:ea typeface="Times New Roman" panose="02020603050405020304" pitchFamily="18" charset="0"/>
                <a:cs typeface="Times New Roman" panose="02020603050405020304" pitchFamily="18" charset="0"/>
              </a:rPr>
              <a:t>Performance Analysis </a:t>
            </a:r>
            <a:endParaRPr lang="en-US" sz="2800" dirty="0">
              <a:effectLst/>
              <a:latin typeface="+mj-lt"/>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prstClr val="white"/>
                </a:solidFill>
              </a:rPr>
              <a:pPr/>
              <a:t>March 13, 2024</a:t>
            </a:fld>
            <a:endParaRPr lang="en-US">
              <a:solidFill>
                <a:prstClr val="white"/>
              </a:solidFill>
            </a:endParaRPr>
          </a:p>
        </p:txBody>
      </p:sp>
      <p:sp>
        <p:nvSpPr>
          <p:cNvPr id="5" name="Footer Placeholder 4"/>
          <p:cNvSpPr>
            <a:spLocks noGrp="1"/>
          </p:cNvSpPr>
          <p:nvPr>
            <p:ph type="ftr" sz="quarter" idx="11"/>
          </p:nvPr>
        </p:nvSpPr>
        <p:spPr/>
        <p:txBody>
          <a:bodyPr/>
          <a:lstStyle/>
          <a:p>
            <a:r>
              <a:rPr lang="en-US" dirty="0">
                <a:solidFill>
                  <a:prstClr val="white"/>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prstClr val="white"/>
                </a:solidFill>
              </a:rPr>
              <a:pPr/>
              <a:t>18</a:t>
            </a:fld>
            <a:endParaRPr lang="en-US" dirty="0">
              <a:solidFill>
                <a:prstClr val="white"/>
              </a:solidFill>
            </a:endParaRPr>
          </a:p>
        </p:txBody>
      </p:sp>
      <p:sp>
        <p:nvSpPr>
          <p:cNvPr id="10" name="TextBox 9">
            <a:extLst>
              <a:ext uri="{FF2B5EF4-FFF2-40B4-BE49-F238E27FC236}">
                <a16:creationId xmlns:a16="http://schemas.microsoft.com/office/drawing/2014/main" id="{CD467136-61DE-60AD-28F4-71ABA41F3455}"/>
              </a:ext>
            </a:extLst>
          </p:cNvPr>
          <p:cNvSpPr txBox="1"/>
          <p:nvPr/>
        </p:nvSpPr>
        <p:spPr>
          <a:xfrm>
            <a:off x="595314" y="1219200"/>
            <a:ext cx="8396286" cy="4801314"/>
          </a:xfrm>
          <a:prstGeom prst="rect">
            <a:avLst/>
          </a:prstGeom>
          <a:noFill/>
        </p:spPr>
        <p:txBody>
          <a:bodyPr wrap="square">
            <a:spAutoFit/>
          </a:bodyPr>
          <a:lstStyle/>
          <a:p>
            <a:r>
              <a:rPr lang="en-US" dirty="0"/>
              <a:t>Any solution to a problem requires memory to complete its required task. For any algorithm, memory is used for the following entities:</a:t>
            </a:r>
          </a:p>
          <a:p>
            <a:endParaRPr lang="en-US" dirty="0"/>
          </a:p>
          <a:p>
            <a:pPr marL="285750" indent="-285750">
              <a:buFont typeface="Wingdings" panose="05000000000000000000" pitchFamily="2" charset="2"/>
              <a:buChar char="q"/>
            </a:pPr>
            <a:r>
              <a:rPr lang="en-US" dirty="0"/>
              <a:t>Variables be it temporary or constant.</a:t>
            </a:r>
          </a:p>
          <a:p>
            <a:pPr marL="285750" indent="-285750">
              <a:buFont typeface="Wingdings" panose="05000000000000000000" pitchFamily="2" charset="2"/>
              <a:buChar char="q"/>
            </a:pPr>
            <a:r>
              <a:rPr lang="en-US" dirty="0"/>
              <a:t>The instruction of the program.</a:t>
            </a:r>
          </a:p>
          <a:p>
            <a:pPr marL="285750" indent="-285750">
              <a:buFont typeface="Wingdings" panose="05000000000000000000" pitchFamily="2" charset="2"/>
              <a:buChar char="q"/>
            </a:pPr>
            <a:r>
              <a:rPr lang="en-US" dirty="0"/>
              <a:t>Memory is required for the execution that is for binary.</a:t>
            </a:r>
          </a:p>
          <a:p>
            <a:pPr marL="285750" indent="-285750">
              <a:buFont typeface="Wingdings" panose="05000000000000000000" pitchFamily="2" charset="2"/>
              <a:buChar char="q"/>
            </a:pPr>
            <a:endParaRPr lang="en-US" dirty="0"/>
          </a:p>
          <a:p>
            <a:r>
              <a:rPr lang="en-US" dirty="0"/>
              <a:t>Space complexity is the amount of space/memory required by the algorithm to execute and produce the result.</a:t>
            </a:r>
          </a:p>
          <a:p>
            <a:endParaRPr lang="en-US" dirty="0"/>
          </a:p>
          <a:p>
            <a:r>
              <a:rPr lang="en-US" dirty="0"/>
              <a:t>while executing, algorithm uses memory for three reasons:</a:t>
            </a:r>
          </a:p>
          <a:p>
            <a:endParaRPr lang="en-US" dirty="0"/>
          </a:p>
          <a:p>
            <a:r>
              <a:rPr lang="en-US" b="1" dirty="0"/>
              <a:t>Instruction space: </a:t>
            </a:r>
            <a:r>
              <a:rPr lang="en-US" dirty="0"/>
              <a:t>It is the amount of space/memory required to save the compiled version of the instruction.</a:t>
            </a:r>
          </a:p>
          <a:p>
            <a:r>
              <a:rPr lang="en-US" b="1" dirty="0"/>
              <a:t>Environmental Stack: </a:t>
            </a:r>
            <a:r>
              <a:rPr lang="en-US" dirty="0"/>
              <a:t>This is used during the function call. If an algorithm has a function which again calls a new function, then the context (variables) of the old function is stored in the system stack and is restored once the called function returns.</a:t>
            </a:r>
          </a:p>
        </p:txBody>
      </p:sp>
    </p:spTree>
    <p:extLst>
      <p:ext uri="{BB962C8B-B14F-4D97-AF65-F5344CB8AC3E}">
        <p14:creationId xmlns:p14="http://schemas.microsoft.com/office/powerpoint/2010/main" val="14888101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b="1" dirty="0">
                <a:effectLst/>
                <a:latin typeface="+mj-lt"/>
                <a:ea typeface="Times New Roman" panose="02020603050405020304" pitchFamily="18" charset="0"/>
                <a:cs typeface="Times New Roman" panose="02020603050405020304" pitchFamily="18" charset="0"/>
              </a:rPr>
              <a:t>Performance Analysis </a:t>
            </a:r>
            <a:endParaRPr lang="en-US" sz="2800" dirty="0">
              <a:effectLst/>
              <a:latin typeface="+mj-lt"/>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prstClr val="white"/>
                </a:solidFill>
              </a:rPr>
              <a:pPr/>
              <a:t>March 13, 2024</a:t>
            </a:fld>
            <a:endParaRPr lang="en-US">
              <a:solidFill>
                <a:prstClr val="white"/>
              </a:solidFill>
            </a:endParaRPr>
          </a:p>
        </p:txBody>
      </p:sp>
      <p:sp>
        <p:nvSpPr>
          <p:cNvPr id="5" name="Footer Placeholder 4"/>
          <p:cNvSpPr>
            <a:spLocks noGrp="1"/>
          </p:cNvSpPr>
          <p:nvPr>
            <p:ph type="ftr" sz="quarter" idx="11"/>
          </p:nvPr>
        </p:nvSpPr>
        <p:spPr/>
        <p:txBody>
          <a:bodyPr/>
          <a:lstStyle/>
          <a:p>
            <a:r>
              <a:rPr lang="en-US" dirty="0">
                <a:solidFill>
                  <a:prstClr val="white"/>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prstClr val="white"/>
                </a:solidFill>
              </a:rPr>
              <a:pPr/>
              <a:t>19</a:t>
            </a:fld>
            <a:endParaRPr lang="en-US" dirty="0">
              <a:solidFill>
                <a:prstClr val="white"/>
              </a:solidFill>
            </a:endParaRPr>
          </a:p>
        </p:txBody>
      </p:sp>
      <p:sp>
        <p:nvSpPr>
          <p:cNvPr id="10" name="TextBox 9">
            <a:extLst>
              <a:ext uri="{FF2B5EF4-FFF2-40B4-BE49-F238E27FC236}">
                <a16:creationId xmlns:a16="http://schemas.microsoft.com/office/drawing/2014/main" id="{CD467136-61DE-60AD-28F4-71ABA41F3455}"/>
              </a:ext>
            </a:extLst>
          </p:cNvPr>
          <p:cNvSpPr txBox="1"/>
          <p:nvPr/>
        </p:nvSpPr>
        <p:spPr>
          <a:xfrm>
            <a:off x="381000" y="1447800"/>
            <a:ext cx="8396286" cy="4247317"/>
          </a:xfrm>
          <a:prstGeom prst="rect">
            <a:avLst/>
          </a:prstGeom>
          <a:noFill/>
        </p:spPr>
        <p:txBody>
          <a:bodyPr wrap="square">
            <a:spAutoFit/>
          </a:bodyPr>
          <a:lstStyle/>
          <a:p>
            <a:r>
              <a:rPr lang="en-US" dirty="0"/>
              <a:t>For example, if a function A() calls function B() inside it, then all the variables of the function A() will get stored on the system stack temporarily, while the function B() is called and executed inside the function A().</a:t>
            </a:r>
          </a:p>
          <a:p>
            <a:endParaRPr lang="en-US" dirty="0"/>
          </a:p>
          <a:p>
            <a:r>
              <a:rPr lang="en-US" dirty="0"/>
              <a:t>Data Space: It is the amount of space required by variables and constant.</a:t>
            </a:r>
          </a:p>
          <a:p>
            <a:endParaRPr lang="en-US" dirty="0"/>
          </a:p>
          <a:p>
            <a:r>
              <a:rPr lang="en-US" dirty="0"/>
              <a:t>But while computing the space complexity of an algorithm, we would consider only Data space and </a:t>
            </a:r>
            <a:r>
              <a:rPr lang="en-US" b="1" i="1" dirty="0"/>
              <a:t>neglect the Instruction and Environmental Space.</a:t>
            </a:r>
          </a:p>
          <a:p>
            <a:endParaRPr lang="en-US" dirty="0"/>
          </a:p>
          <a:p>
            <a:r>
              <a:rPr lang="en-US" b="1" dirty="0"/>
              <a:t>Calculating the Space Complexity:</a:t>
            </a:r>
          </a:p>
          <a:p>
            <a:endParaRPr lang="en-US" b="1" dirty="0"/>
          </a:p>
          <a:p>
            <a:r>
              <a:rPr lang="en-US" i="1" dirty="0"/>
              <a:t>To calculate the space complexity, we need to know the amount of memory required by each different type of datatype variables. This varies depending upon the type of operating system but the method to calculate the system complexity remains the same.</a:t>
            </a:r>
          </a:p>
          <a:p>
            <a:endParaRPr lang="en-US" i="1" dirty="0"/>
          </a:p>
        </p:txBody>
      </p:sp>
    </p:spTree>
    <p:extLst>
      <p:ext uri="{BB962C8B-B14F-4D97-AF65-F5344CB8AC3E}">
        <p14:creationId xmlns:p14="http://schemas.microsoft.com/office/powerpoint/2010/main" val="11486618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b="1" dirty="0">
                <a:effectLst/>
                <a:latin typeface="+mj-lt"/>
                <a:ea typeface="Times New Roman" panose="02020603050405020304" pitchFamily="18" charset="0"/>
                <a:cs typeface="Times New Roman" panose="02020603050405020304" pitchFamily="18" charset="0"/>
              </a:rPr>
              <a:t>Performance Analysis </a:t>
            </a:r>
            <a:endParaRPr lang="en-US" sz="2800" dirty="0">
              <a:effectLst/>
              <a:latin typeface="+mj-lt"/>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prstClr val="white"/>
                </a:solidFill>
              </a:rPr>
              <a:pPr/>
              <a:t>March 13, 2024</a:t>
            </a:fld>
            <a:endParaRPr lang="en-US">
              <a:solidFill>
                <a:prstClr val="white"/>
              </a:solidFill>
            </a:endParaRPr>
          </a:p>
        </p:txBody>
      </p:sp>
      <p:sp>
        <p:nvSpPr>
          <p:cNvPr id="5" name="Footer Placeholder 4"/>
          <p:cNvSpPr>
            <a:spLocks noGrp="1"/>
          </p:cNvSpPr>
          <p:nvPr>
            <p:ph type="ftr" sz="quarter" idx="11"/>
          </p:nvPr>
        </p:nvSpPr>
        <p:spPr/>
        <p:txBody>
          <a:bodyPr/>
          <a:lstStyle/>
          <a:p>
            <a:r>
              <a:rPr lang="en-US" dirty="0">
                <a:solidFill>
                  <a:prstClr val="white"/>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prstClr val="white"/>
                </a:solidFill>
              </a:rPr>
              <a:pPr/>
              <a:t>20</a:t>
            </a:fld>
            <a:endParaRPr lang="en-US" dirty="0">
              <a:solidFill>
                <a:prstClr val="white"/>
              </a:solidFill>
            </a:endParaRPr>
          </a:p>
        </p:txBody>
      </p:sp>
      <p:sp>
        <p:nvSpPr>
          <p:cNvPr id="10" name="TextBox 9">
            <a:extLst>
              <a:ext uri="{FF2B5EF4-FFF2-40B4-BE49-F238E27FC236}">
                <a16:creationId xmlns:a16="http://schemas.microsoft.com/office/drawing/2014/main" id="{CD467136-61DE-60AD-28F4-71ABA41F3455}"/>
              </a:ext>
            </a:extLst>
          </p:cNvPr>
          <p:cNvSpPr txBox="1"/>
          <p:nvPr/>
        </p:nvSpPr>
        <p:spPr>
          <a:xfrm>
            <a:off x="381000" y="1447800"/>
            <a:ext cx="8396286" cy="4524315"/>
          </a:xfrm>
          <a:prstGeom prst="rect">
            <a:avLst/>
          </a:prstGeom>
          <a:noFill/>
        </p:spPr>
        <p:txBody>
          <a:bodyPr wrap="square">
            <a:spAutoFit/>
          </a:bodyPr>
          <a:lstStyle/>
          <a:p>
            <a:endParaRPr lang="en-US" dirty="0"/>
          </a:p>
          <a:p>
            <a:r>
              <a:rPr lang="en-US" dirty="0"/>
              <a:t>Example-1:</a:t>
            </a:r>
          </a:p>
          <a:p>
            <a:endParaRPr lang="en-US" dirty="0"/>
          </a:p>
          <a:p>
            <a:r>
              <a:rPr lang="en-US" dirty="0"/>
              <a:t>int fun()</a:t>
            </a:r>
          </a:p>
          <a:p>
            <a:r>
              <a:rPr lang="en-US" dirty="0"/>
              <a:t>{</a:t>
            </a:r>
          </a:p>
          <a:p>
            <a:r>
              <a:rPr lang="en-US" dirty="0"/>
              <a:t>    int d = a + b + c;</a:t>
            </a:r>
          </a:p>
          <a:p>
            <a:r>
              <a:rPr lang="en-US" dirty="0"/>
              <a:t>    return d;</a:t>
            </a:r>
          </a:p>
          <a:p>
            <a:r>
              <a:rPr lang="en-US" dirty="0"/>
              <a:t>}</a:t>
            </a:r>
          </a:p>
          <a:p>
            <a:r>
              <a:rPr lang="en-US" dirty="0"/>
              <a:t>In the above example, variables a, b, c, d are of integer type, hence they would be occupying 4 bytes each. The total memory required would be 16 bytes + 4 bytes for the return, making it 20 bytes.</a:t>
            </a:r>
          </a:p>
          <a:p>
            <a:endParaRPr lang="en-US" dirty="0"/>
          </a:p>
          <a:p>
            <a:r>
              <a:rPr lang="en-US" dirty="0"/>
              <a:t>The space required is fixed for the above example, hence it is called Constant space complexity.</a:t>
            </a:r>
          </a:p>
          <a:p>
            <a:endParaRPr lang="en-US" dirty="0"/>
          </a:p>
          <a:p>
            <a:endParaRPr lang="en-US" i="1" dirty="0"/>
          </a:p>
        </p:txBody>
      </p:sp>
    </p:spTree>
    <p:extLst>
      <p:ext uri="{BB962C8B-B14F-4D97-AF65-F5344CB8AC3E}">
        <p14:creationId xmlns:p14="http://schemas.microsoft.com/office/powerpoint/2010/main" val="27696599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b="1" dirty="0">
                <a:effectLst/>
                <a:latin typeface="+mj-lt"/>
                <a:ea typeface="Times New Roman" panose="02020603050405020304" pitchFamily="18" charset="0"/>
                <a:cs typeface="Times New Roman" panose="02020603050405020304" pitchFamily="18" charset="0"/>
              </a:rPr>
              <a:t>Performance Analysis </a:t>
            </a:r>
            <a:endParaRPr lang="en-US" sz="2800" dirty="0">
              <a:effectLst/>
              <a:latin typeface="+mj-lt"/>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prstClr val="white"/>
                </a:solidFill>
              </a:rPr>
              <a:pPr/>
              <a:t>March 13, 2024</a:t>
            </a:fld>
            <a:endParaRPr lang="en-US">
              <a:solidFill>
                <a:prstClr val="white"/>
              </a:solidFill>
            </a:endParaRPr>
          </a:p>
        </p:txBody>
      </p:sp>
      <p:sp>
        <p:nvSpPr>
          <p:cNvPr id="5" name="Footer Placeholder 4"/>
          <p:cNvSpPr>
            <a:spLocks noGrp="1"/>
          </p:cNvSpPr>
          <p:nvPr>
            <p:ph type="ftr" sz="quarter" idx="11"/>
          </p:nvPr>
        </p:nvSpPr>
        <p:spPr/>
        <p:txBody>
          <a:bodyPr/>
          <a:lstStyle/>
          <a:p>
            <a:r>
              <a:rPr lang="en-US" dirty="0">
                <a:solidFill>
                  <a:prstClr val="white"/>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prstClr val="white"/>
                </a:solidFill>
              </a:rPr>
              <a:pPr/>
              <a:t>21</a:t>
            </a:fld>
            <a:endParaRPr lang="en-US" dirty="0">
              <a:solidFill>
                <a:prstClr val="white"/>
              </a:solidFill>
            </a:endParaRPr>
          </a:p>
        </p:txBody>
      </p:sp>
      <p:sp>
        <p:nvSpPr>
          <p:cNvPr id="10" name="TextBox 9">
            <a:extLst>
              <a:ext uri="{FF2B5EF4-FFF2-40B4-BE49-F238E27FC236}">
                <a16:creationId xmlns:a16="http://schemas.microsoft.com/office/drawing/2014/main" id="{CD467136-61DE-60AD-28F4-71ABA41F3455}"/>
              </a:ext>
            </a:extLst>
          </p:cNvPr>
          <p:cNvSpPr txBox="1"/>
          <p:nvPr/>
        </p:nvSpPr>
        <p:spPr>
          <a:xfrm>
            <a:off x="381000" y="1447800"/>
            <a:ext cx="8396286" cy="4524315"/>
          </a:xfrm>
          <a:prstGeom prst="rect">
            <a:avLst/>
          </a:prstGeom>
          <a:noFill/>
        </p:spPr>
        <p:txBody>
          <a:bodyPr wrap="square">
            <a:spAutoFit/>
          </a:bodyPr>
          <a:lstStyle/>
          <a:p>
            <a:pPr lvl="1"/>
            <a:r>
              <a:rPr lang="en-US" dirty="0"/>
              <a:t>int sum ( int a [], int n)</a:t>
            </a:r>
          </a:p>
          <a:p>
            <a:pPr lvl="1"/>
            <a:r>
              <a:rPr lang="en-US" dirty="0"/>
              <a:t>{</a:t>
            </a:r>
          </a:p>
          <a:p>
            <a:pPr lvl="1"/>
            <a:r>
              <a:rPr lang="en-US" dirty="0"/>
              <a:t>  int result = 0;</a:t>
            </a:r>
          </a:p>
          <a:p>
            <a:pPr lvl="1"/>
            <a:r>
              <a:rPr lang="en-US" dirty="0"/>
              <a:t>  for ( int i =0; i &lt; n; i ++)</a:t>
            </a:r>
          </a:p>
          <a:p>
            <a:pPr lvl="1"/>
            <a:r>
              <a:rPr lang="en-US" dirty="0"/>
              <a:t>       result = result + a[i];</a:t>
            </a:r>
          </a:p>
          <a:p>
            <a:pPr lvl="1"/>
            <a:r>
              <a:rPr lang="en-US" dirty="0"/>
              <a:t>  return result;</a:t>
            </a:r>
          </a:p>
          <a:p>
            <a:pPr lvl="1"/>
            <a:r>
              <a:rPr lang="en-US" dirty="0"/>
              <a:t>}</a:t>
            </a:r>
          </a:p>
          <a:p>
            <a:r>
              <a:rPr lang="en-US" dirty="0"/>
              <a:t>Example-2:</a:t>
            </a:r>
          </a:p>
          <a:p>
            <a:endParaRPr lang="en-US" dirty="0"/>
          </a:p>
          <a:p>
            <a:r>
              <a:rPr lang="en-US" dirty="0"/>
              <a:t>In the above example, since it is an integer array and the size of the array is ‘n’, hence the total space occupied by array will be (n *4) bytes.</a:t>
            </a:r>
          </a:p>
          <a:p>
            <a:endParaRPr lang="en-US" dirty="0"/>
          </a:p>
          <a:p>
            <a:r>
              <a:rPr lang="en-US" dirty="0"/>
              <a:t>The other variables like ‘result’, ‘n’ and ‘i’ would be taking 4 bytes each. The total space would be 4n + 12. Thus, the space occupied by this algorithm is directly proportional to the size of the array that is linearly dependent on array size. </a:t>
            </a:r>
            <a:r>
              <a:rPr lang="en-US" b="1" dirty="0"/>
              <a:t>Hence, space complexity is known as linear space complexity.</a:t>
            </a:r>
            <a:endParaRPr lang="en-US" b="1" i="1" dirty="0"/>
          </a:p>
        </p:txBody>
      </p:sp>
    </p:spTree>
    <p:extLst>
      <p:ext uri="{BB962C8B-B14F-4D97-AF65-F5344CB8AC3E}">
        <p14:creationId xmlns:p14="http://schemas.microsoft.com/office/powerpoint/2010/main" val="28778117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b="1" dirty="0">
                <a:effectLst/>
                <a:latin typeface="+mj-lt"/>
                <a:ea typeface="Times New Roman" panose="02020603050405020304" pitchFamily="18" charset="0"/>
                <a:cs typeface="Times New Roman" panose="02020603050405020304" pitchFamily="18" charset="0"/>
              </a:rPr>
              <a:t>Performance Analysis </a:t>
            </a:r>
            <a:endParaRPr lang="en-US" sz="2800" dirty="0">
              <a:effectLst/>
              <a:latin typeface="+mj-lt"/>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prstClr val="white"/>
                </a:solidFill>
              </a:rPr>
              <a:pPr/>
              <a:t>March 13, 2024</a:t>
            </a:fld>
            <a:endParaRPr lang="en-US">
              <a:solidFill>
                <a:prstClr val="white"/>
              </a:solidFill>
            </a:endParaRPr>
          </a:p>
        </p:txBody>
      </p:sp>
      <p:sp>
        <p:nvSpPr>
          <p:cNvPr id="5" name="Footer Placeholder 4"/>
          <p:cNvSpPr>
            <a:spLocks noGrp="1"/>
          </p:cNvSpPr>
          <p:nvPr>
            <p:ph type="ftr" sz="quarter" idx="11"/>
          </p:nvPr>
        </p:nvSpPr>
        <p:spPr/>
        <p:txBody>
          <a:bodyPr/>
          <a:lstStyle/>
          <a:p>
            <a:r>
              <a:rPr lang="en-US" dirty="0">
                <a:solidFill>
                  <a:prstClr val="white"/>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prstClr val="white"/>
                </a:solidFill>
              </a:rPr>
              <a:pPr/>
              <a:t>22</a:t>
            </a:fld>
            <a:endParaRPr lang="en-US" dirty="0">
              <a:solidFill>
                <a:prstClr val="white"/>
              </a:solidFill>
            </a:endParaRPr>
          </a:p>
        </p:txBody>
      </p:sp>
      <p:sp>
        <p:nvSpPr>
          <p:cNvPr id="10" name="TextBox 9">
            <a:extLst>
              <a:ext uri="{FF2B5EF4-FFF2-40B4-BE49-F238E27FC236}">
                <a16:creationId xmlns:a16="http://schemas.microsoft.com/office/drawing/2014/main" id="{CD467136-61DE-60AD-28F4-71ABA41F3455}"/>
              </a:ext>
            </a:extLst>
          </p:cNvPr>
          <p:cNvSpPr txBox="1"/>
          <p:nvPr/>
        </p:nvSpPr>
        <p:spPr>
          <a:xfrm>
            <a:off x="381000" y="1447800"/>
            <a:ext cx="8396286" cy="3349122"/>
          </a:xfrm>
          <a:prstGeom prst="rect">
            <a:avLst/>
          </a:prstGeom>
          <a:noFill/>
        </p:spPr>
        <p:txBody>
          <a:bodyPr wrap="square">
            <a:spAutoFit/>
          </a:bodyPr>
          <a:lstStyle/>
          <a:p>
            <a:pPr marL="0" marR="0">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Analysis of algorithms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steps involved in carrying out mathematical analysis for the iterative algorithm are as follows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Measure the input size, that is the length of the input data</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Measure the running time using either step count or operation count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In the case of operation count find the worst best and average case efficiencies of the algorithm.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Identify the rate of growth(increasing the input size and assessing the behavior of  the algorithm)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992571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b="1" dirty="0">
                <a:effectLst/>
                <a:latin typeface="+mj-lt"/>
                <a:ea typeface="Times New Roman" panose="02020603050405020304" pitchFamily="18" charset="0"/>
                <a:cs typeface="Times New Roman" panose="02020603050405020304" pitchFamily="18" charset="0"/>
              </a:rPr>
              <a:t>Performance Analysis </a:t>
            </a:r>
            <a:endParaRPr lang="en-US" sz="2800" dirty="0">
              <a:effectLst/>
              <a:latin typeface="+mj-lt"/>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prstClr val="white"/>
                </a:solidFill>
              </a:rPr>
              <a:pPr/>
              <a:t>March 13, 2024</a:t>
            </a:fld>
            <a:endParaRPr lang="en-US">
              <a:solidFill>
                <a:prstClr val="white"/>
              </a:solidFill>
            </a:endParaRPr>
          </a:p>
        </p:txBody>
      </p:sp>
      <p:sp>
        <p:nvSpPr>
          <p:cNvPr id="5" name="Footer Placeholder 4"/>
          <p:cNvSpPr>
            <a:spLocks noGrp="1"/>
          </p:cNvSpPr>
          <p:nvPr>
            <p:ph type="ftr" sz="quarter" idx="11"/>
          </p:nvPr>
        </p:nvSpPr>
        <p:spPr/>
        <p:txBody>
          <a:bodyPr/>
          <a:lstStyle/>
          <a:p>
            <a:r>
              <a:rPr lang="en-US" dirty="0">
                <a:solidFill>
                  <a:prstClr val="white"/>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prstClr val="white"/>
                </a:solidFill>
              </a:rPr>
              <a:pPr/>
              <a:t>23</a:t>
            </a:fld>
            <a:endParaRPr lang="en-US" dirty="0">
              <a:solidFill>
                <a:prstClr val="white"/>
              </a:solidFill>
            </a:endParaRPr>
          </a:p>
        </p:txBody>
      </p:sp>
      <p:sp>
        <p:nvSpPr>
          <p:cNvPr id="7" name="TextBox 6">
            <a:extLst>
              <a:ext uri="{FF2B5EF4-FFF2-40B4-BE49-F238E27FC236}">
                <a16:creationId xmlns:a16="http://schemas.microsoft.com/office/drawing/2014/main" id="{A3274401-F659-5560-11D8-6C15C57001F4}"/>
              </a:ext>
            </a:extLst>
          </p:cNvPr>
          <p:cNvSpPr txBox="1"/>
          <p:nvPr/>
        </p:nvSpPr>
        <p:spPr>
          <a:xfrm>
            <a:off x="564357" y="1376226"/>
            <a:ext cx="8015286" cy="4818242"/>
          </a:xfrm>
          <a:prstGeom prst="rect">
            <a:avLst/>
          </a:prstGeom>
          <a:noFill/>
        </p:spPr>
        <p:txBody>
          <a:bodyPr wrap="square">
            <a:spAutoFit/>
          </a:bodyPr>
          <a:lstStyle/>
          <a:p>
            <a:pPr marL="0" marR="0">
              <a:lnSpc>
                <a:spcPct val="107000"/>
              </a:lnSpc>
              <a:spcBef>
                <a:spcPts val="0"/>
              </a:spcBef>
              <a:spcAft>
                <a:spcPts val="800"/>
              </a:spcAft>
            </a:pPr>
            <a:r>
              <a:rPr lang="en-US" b="1" dirty="0">
                <a:effectLst/>
                <a:ea typeface="Calibri" panose="020F0502020204030204" pitchFamily="34" charset="0"/>
                <a:cs typeface="Times New Roman" panose="02020603050405020304" pitchFamily="18" charset="0"/>
              </a:rPr>
              <a:t>Measuring input size</a:t>
            </a:r>
            <a:endParaRPr lang="en-US" dirty="0">
              <a:effectLst/>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dirty="0">
                <a:effectLst/>
                <a:ea typeface="Calibri" panose="020F0502020204030204" pitchFamily="34" charset="0"/>
                <a:cs typeface="Times New Roman" panose="02020603050405020304" pitchFamily="18" charset="0"/>
              </a:rPr>
              <a:t>Algorithm analysis is dependent on the size of the input. The input size </a:t>
            </a:r>
            <a:r>
              <a:rPr lang="en-US" b="1" dirty="0">
                <a:effectLst/>
                <a:ea typeface="Calibri" panose="020F0502020204030204" pitchFamily="34" charset="0"/>
                <a:cs typeface="Times New Roman" panose="02020603050405020304" pitchFamily="18" charset="0"/>
              </a:rPr>
              <a:t>N or n </a:t>
            </a:r>
            <a:r>
              <a:rPr lang="en-US" dirty="0">
                <a:effectLst/>
                <a:ea typeface="Calibri" panose="020F0502020204030204" pitchFamily="34" charset="0"/>
                <a:cs typeface="Times New Roman" panose="02020603050405020304" pitchFamily="18" charset="0"/>
              </a:rPr>
              <a:t>is denoted as the number of binary bits used to represent the input data. The efficiency of an algorithm is always expressed as a function of the input size. </a:t>
            </a:r>
          </a:p>
          <a:p>
            <a:pPr marL="0" marR="0" algn="just">
              <a:lnSpc>
                <a:spcPct val="107000"/>
              </a:lnSpc>
              <a:spcBef>
                <a:spcPts val="0"/>
              </a:spcBef>
              <a:spcAft>
                <a:spcPts val="800"/>
              </a:spcAft>
            </a:pPr>
            <a:r>
              <a:rPr lang="en-US" dirty="0">
                <a:effectLst/>
                <a:ea typeface="Calibri" panose="020F0502020204030204" pitchFamily="34" charset="0"/>
                <a:cs typeface="Times New Roman" panose="02020603050405020304" pitchFamily="18" charset="0"/>
              </a:rPr>
              <a:t>For example, finding the determinant of a matrix of order 3x3 may be a simple task. However, if the matrix order becomes 1024x1024, the runtime of the algorithm increases. </a:t>
            </a:r>
          </a:p>
          <a:p>
            <a:pPr marL="285750" marR="0" indent="-285750">
              <a:lnSpc>
                <a:spcPct val="107000"/>
              </a:lnSpc>
              <a:spcBef>
                <a:spcPts val="0"/>
              </a:spcBef>
              <a:spcAft>
                <a:spcPts val="800"/>
              </a:spcAft>
              <a:buFont typeface="Wingdings" panose="05000000000000000000" pitchFamily="2" charset="2"/>
              <a:buChar char="q"/>
            </a:pPr>
            <a:r>
              <a:rPr lang="en-US" b="1" dirty="0">
                <a:effectLst/>
                <a:ea typeface="Calibri" panose="020F0502020204030204" pitchFamily="34" charset="0"/>
                <a:cs typeface="Times New Roman" panose="02020603050405020304" pitchFamily="18" charset="0"/>
              </a:rPr>
              <a:t>Integer: </a:t>
            </a:r>
            <a:r>
              <a:rPr lang="en-US" dirty="0">
                <a:effectLst/>
                <a:ea typeface="Calibri" panose="020F0502020204030204" pitchFamily="34" charset="0"/>
                <a:cs typeface="Times New Roman" panose="02020603050405020304" pitchFamily="18" charset="0"/>
              </a:rPr>
              <a:t>The common practice is to use the number of bits required to store input. Input size is given as </a:t>
            </a:r>
            <a:r>
              <a:rPr lang="en-US" b="1" dirty="0">
                <a:effectLst/>
                <a:ea typeface="Calibri" panose="020F0502020204030204" pitchFamily="34" charset="0"/>
                <a:cs typeface="Times New Roman" panose="02020603050405020304" pitchFamily="18" charset="0"/>
              </a:rPr>
              <a:t>log</a:t>
            </a:r>
            <a:r>
              <a:rPr lang="en-US" b="1" baseline="-25000" dirty="0">
                <a:effectLst/>
                <a:ea typeface="Calibri" panose="020F0502020204030204" pitchFamily="34" charset="0"/>
                <a:cs typeface="Times New Roman" panose="02020603050405020304" pitchFamily="18" charset="0"/>
              </a:rPr>
              <a:t>2</a:t>
            </a:r>
            <a:r>
              <a:rPr lang="en-US" b="1" dirty="0">
                <a:effectLst/>
                <a:ea typeface="Calibri" panose="020F0502020204030204" pitchFamily="34" charset="0"/>
                <a:cs typeface="Times New Roman" panose="02020603050405020304" pitchFamily="18" charset="0"/>
              </a:rPr>
              <a:t>N. For example N=10 takes 4 bits as a binary representation. </a:t>
            </a:r>
            <a:endParaRPr lang="en-US" dirty="0">
              <a:effectLst/>
              <a:ea typeface="Calibri" panose="020F0502020204030204" pitchFamily="34" charset="0"/>
              <a:cs typeface="Times New Roman" panose="02020603050405020304" pitchFamily="18" charset="0"/>
            </a:endParaRPr>
          </a:p>
          <a:p>
            <a:pPr marL="285750" marR="0" indent="-285750">
              <a:lnSpc>
                <a:spcPct val="107000"/>
              </a:lnSpc>
              <a:spcBef>
                <a:spcPts val="0"/>
              </a:spcBef>
              <a:spcAft>
                <a:spcPts val="800"/>
              </a:spcAft>
              <a:buFont typeface="Wingdings" panose="05000000000000000000" pitchFamily="2" charset="2"/>
              <a:buChar char="q"/>
            </a:pPr>
            <a:r>
              <a:rPr lang="en-US" dirty="0">
                <a:effectLst/>
                <a:ea typeface="Calibri" panose="020F0502020204030204" pitchFamily="34" charset="0"/>
                <a:cs typeface="Times New Roman" panose="02020603050405020304" pitchFamily="18" charset="0"/>
              </a:rPr>
              <a:t>For </a:t>
            </a:r>
            <a:r>
              <a:rPr lang="en-US" b="1" dirty="0">
                <a:effectLst/>
                <a:ea typeface="Calibri" panose="020F0502020204030204" pitchFamily="34" charset="0"/>
                <a:cs typeface="Times New Roman" panose="02020603050405020304" pitchFamily="18" charset="0"/>
              </a:rPr>
              <a:t>matrices</a:t>
            </a:r>
            <a:r>
              <a:rPr lang="en-US" dirty="0">
                <a:effectLst/>
                <a:ea typeface="Calibri" panose="020F0502020204030204" pitchFamily="34" charset="0"/>
                <a:cs typeface="Times New Roman" panose="02020603050405020304" pitchFamily="18" charset="0"/>
              </a:rPr>
              <a:t> the order of the matrix is considered for finding the input size.</a:t>
            </a:r>
          </a:p>
          <a:p>
            <a:pPr marL="285750" marR="0" indent="-285750">
              <a:lnSpc>
                <a:spcPct val="107000"/>
              </a:lnSpc>
              <a:spcBef>
                <a:spcPts val="0"/>
              </a:spcBef>
              <a:spcAft>
                <a:spcPts val="800"/>
              </a:spcAft>
              <a:buFont typeface="Wingdings" panose="05000000000000000000" pitchFamily="2" charset="2"/>
              <a:buChar char="q"/>
            </a:pPr>
            <a:r>
              <a:rPr lang="en-US" b="1" dirty="0">
                <a:effectLst/>
                <a:ea typeface="Calibri" panose="020F0502020204030204" pitchFamily="34" charset="0"/>
                <a:cs typeface="Times New Roman" panose="02020603050405020304" pitchFamily="18" charset="0"/>
              </a:rPr>
              <a:t>Arrays</a:t>
            </a:r>
            <a:r>
              <a:rPr lang="en-US" dirty="0">
                <a:effectLst/>
                <a:ea typeface="Calibri" panose="020F0502020204030204" pitchFamily="34" charset="0"/>
                <a:cs typeface="Times New Roman" panose="02020603050405020304" pitchFamily="18" charset="0"/>
              </a:rPr>
              <a:t>: The order of the array can be used as the input size. </a:t>
            </a:r>
          </a:p>
          <a:p>
            <a:pPr marL="285750" indent="-285750">
              <a:buFont typeface="Wingdings" panose="05000000000000000000" pitchFamily="2" charset="2"/>
              <a:buChar char="q"/>
            </a:pPr>
            <a:r>
              <a:rPr lang="en-US" b="1" dirty="0">
                <a:effectLst/>
                <a:ea typeface="Calibri" panose="020F0502020204030204" pitchFamily="34" charset="0"/>
              </a:rPr>
              <a:t>Graphs:</a:t>
            </a:r>
            <a:r>
              <a:rPr lang="en-US" dirty="0">
                <a:effectLst/>
                <a:ea typeface="Calibri" panose="020F0502020204030204" pitchFamily="34" charset="0"/>
              </a:rPr>
              <a:t> Either number of edges or number of vertices or both can be used as the input size of the graph. </a:t>
            </a:r>
            <a:endParaRPr lang="en-US" dirty="0"/>
          </a:p>
        </p:txBody>
      </p:sp>
    </p:spTree>
    <p:extLst>
      <p:ext uri="{BB962C8B-B14F-4D97-AF65-F5344CB8AC3E}">
        <p14:creationId xmlns:p14="http://schemas.microsoft.com/office/powerpoint/2010/main" val="36006458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b="1" dirty="0">
                <a:effectLst/>
                <a:latin typeface="+mj-lt"/>
                <a:ea typeface="Times New Roman" panose="02020603050405020304" pitchFamily="18" charset="0"/>
                <a:cs typeface="Times New Roman" panose="02020603050405020304" pitchFamily="18" charset="0"/>
              </a:rPr>
              <a:t>Performance Analysis </a:t>
            </a:r>
            <a:endParaRPr lang="en-US" sz="2800" dirty="0">
              <a:effectLst/>
              <a:latin typeface="+mj-lt"/>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prstClr val="white"/>
                </a:solidFill>
              </a:rPr>
              <a:pPr/>
              <a:t>March 13, 2024</a:t>
            </a:fld>
            <a:endParaRPr lang="en-US">
              <a:solidFill>
                <a:prstClr val="white"/>
              </a:solidFill>
            </a:endParaRPr>
          </a:p>
        </p:txBody>
      </p:sp>
      <p:sp>
        <p:nvSpPr>
          <p:cNvPr id="5" name="Footer Placeholder 4"/>
          <p:cNvSpPr>
            <a:spLocks noGrp="1"/>
          </p:cNvSpPr>
          <p:nvPr>
            <p:ph type="ftr" sz="quarter" idx="11"/>
          </p:nvPr>
        </p:nvSpPr>
        <p:spPr/>
        <p:txBody>
          <a:bodyPr/>
          <a:lstStyle/>
          <a:p>
            <a:r>
              <a:rPr lang="en-US" dirty="0">
                <a:solidFill>
                  <a:prstClr val="white"/>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prstClr val="white"/>
                </a:solidFill>
              </a:rPr>
              <a:pPr/>
              <a:t>24</a:t>
            </a:fld>
            <a:endParaRPr lang="en-US" dirty="0">
              <a:solidFill>
                <a:prstClr val="white"/>
              </a:solidFill>
            </a:endParaRPr>
          </a:p>
        </p:txBody>
      </p:sp>
      <p:sp>
        <p:nvSpPr>
          <p:cNvPr id="7" name="TextBox 6">
            <a:extLst>
              <a:ext uri="{FF2B5EF4-FFF2-40B4-BE49-F238E27FC236}">
                <a16:creationId xmlns:a16="http://schemas.microsoft.com/office/drawing/2014/main" id="{A3274401-F659-5560-11D8-6C15C57001F4}"/>
              </a:ext>
            </a:extLst>
          </p:cNvPr>
          <p:cNvSpPr txBox="1"/>
          <p:nvPr/>
        </p:nvSpPr>
        <p:spPr>
          <a:xfrm>
            <a:off x="457201" y="1371600"/>
            <a:ext cx="7773954" cy="3135345"/>
          </a:xfrm>
          <a:prstGeom prst="rect">
            <a:avLst/>
          </a:prstGeom>
          <a:noFill/>
        </p:spPr>
        <p:txBody>
          <a:bodyPr wrap="square">
            <a:spAutoFit/>
          </a:bodyPr>
          <a:lstStyle/>
          <a:p>
            <a:pPr marL="0" marR="0">
              <a:lnSpc>
                <a:spcPct val="107000"/>
              </a:lnSpc>
              <a:spcBef>
                <a:spcPts val="0"/>
              </a:spcBef>
              <a:spcAft>
                <a:spcPts val="8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Measuring running time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Algorithm analysis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800"/>
              </a:spcAft>
            </a:pP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800"/>
              </a:spcAft>
            </a:pP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800"/>
              </a:spcAft>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Step count     operation count asymptotic analysis recurrence relations  amortized analysis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endParaRPr lang="en-US" dirty="0"/>
          </a:p>
        </p:txBody>
      </p:sp>
      <p:cxnSp>
        <p:nvCxnSpPr>
          <p:cNvPr id="8" name="Straight Arrow Connector 7">
            <a:extLst>
              <a:ext uri="{FF2B5EF4-FFF2-40B4-BE49-F238E27FC236}">
                <a16:creationId xmlns:a16="http://schemas.microsoft.com/office/drawing/2014/main" id="{38DB97EC-84C4-C88A-16A8-8460A4201B7C}"/>
              </a:ext>
            </a:extLst>
          </p:cNvPr>
          <p:cNvCxnSpPr>
            <a:cxnSpLocks/>
          </p:cNvCxnSpPr>
          <p:nvPr/>
        </p:nvCxnSpPr>
        <p:spPr>
          <a:xfrm flipH="1">
            <a:off x="1615048" y="2426092"/>
            <a:ext cx="2667000" cy="137160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1" name="Straight Arrow Connector 10">
            <a:extLst>
              <a:ext uri="{FF2B5EF4-FFF2-40B4-BE49-F238E27FC236}">
                <a16:creationId xmlns:a16="http://schemas.microsoft.com/office/drawing/2014/main" id="{F94DDC29-427B-7D29-4569-A18A8EC52C4D}"/>
              </a:ext>
            </a:extLst>
          </p:cNvPr>
          <p:cNvCxnSpPr/>
          <p:nvPr/>
        </p:nvCxnSpPr>
        <p:spPr>
          <a:xfrm flipH="1">
            <a:off x="2829934" y="2415073"/>
            <a:ext cx="1485900" cy="1371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162D3072-7D65-9710-64C7-08E7AD8C503A}"/>
              </a:ext>
            </a:extLst>
          </p:cNvPr>
          <p:cNvCxnSpPr/>
          <p:nvPr/>
        </p:nvCxnSpPr>
        <p:spPr>
          <a:xfrm>
            <a:off x="4343400" y="2438400"/>
            <a:ext cx="0" cy="1447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EFFC640A-83B9-B688-F39D-3C2CDCA9EED6}"/>
              </a:ext>
            </a:extLst>
          </p:cNvPr>
          <p:cNvCxnSpPr/>
          <p:nvPr/>
        </p:nvCxnSpPr>
        <p:spPr>
          <a:xfrm>
            <a:off x="4398533" y="2438400"/>
            <a:ext cx="1447800" cy="1371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469E8CF-2365-6A1F-8D47-CCD5012F7109}"/>
              </a:ext>
            </a:extLst>
          </p:cNvPr>
          <p:cNvCxnSpPr/>
          <p:nvPr/>
        </p:nvCxnSpPr>
        <p:spPr>
          <a:xfrm>
            <a:off x="4471483" y="2431854"/>
            <a:ext cx="2514600" cy="13689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25233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b="1" dirty="0">
                <a:effectLst/>
                <a:latin typeface="+mj-lt"/>
                <a:ea typeface="Times New Roman" panose="02020603050405020304" pitchFamily="18" charset="0"/>
                <a:cs typeface="Times New Roman" panose="02020603050405020304" pitchFamily="18" charset="0"/>
              </a:rPr>
              <a:t>Performance Analysis </a:t>
            </a:r>
            <a:endParaRPr lang="en-US" sz="2800" dirty="0">
              <a:effectLst/>
              <a:latin typeface="+mj-lt"/>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prstClr val="white"/>
                </a:solidFill>
              </a:rPr>
              <a:pPr/>
              <a:t>March 13, 2024</a:t>
            </a:fld>
            <a:endParaRPr lang="en-US">
              <a:solidFill>
                <a:prstClr val="white"/>
              </a:solidFill>
            </a:endParaRPr>
          </a:p>
        </p:txBody>
      </p:sp>
      <p:sp>
        <p:nvSpPr>
          <p:cNvPr id="5" name="Footer Placeholder 4"/>
          <p:cNvSpPr>
            <a:spLocks noGrp="1"/>
          </p:cNvSpPr>
          <p:nvPr>
            <p:ph type="ftr" sz="quarter" idx="11"/>
          </p:nvPr>
        </p:nvSpPr>
        <p:spPr/>
        <p:txBody>
          <a:bodyPr/>
          <a:lstStyle/>
          <a:p>
            <a:r>
              <a:rPr lang="en-US" dirty="0">
                <a:solidFill>
                  <a:prstClr val="white"/>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prstClr val="white"/>
                </a:solidFill>
              </a:rPr>
              <a:pPr/>
              <a:t>25</a:t>
            </a:fld>
            <a:endParaRPr lang="en-US" dirty="0">
              <a:solidFill>
                <a:prstClr val="white"/>
              </a:solidFill>
            </a:endParaRPr>
          </a:p>
        </p:txBody>
      </p:sp>
      <p:sp>
        <p:nvSpPr>
          <p:cNvPr id="7" name="TextBox 6">
            <a:extLst>
              <a:ext uri="{FF2B5EF4-FFF2-40B4-BE49-F238E27FC236}">
                <a16:creationId xmlns:a16="http://schemas.microsoft.com/office/drawing/2014/main" id="{A3274401-F659-5560-11D8-6C15C57001F4}"/>
              </a:ext>
            </a:extLst>
          </p:cNvPr>
          <p:cNvSpPr txBox="1"/>
          <p:nvPr/>
        </p:nvSpPr>
        <p:spPr>
          <a:xfrm>
            <a:off x="564357" y="1376226"/>
            <a:ext cx="8015286" cy="3554306"/>
          </a:xfrm>
          <a:prstGeom prst="rect">
            <a:avLst/>
          </a:prstGeom>
          <a:noFill/>
        </p:spPr>
        <p:txBody>
          <a:bodyPr wrap="square">
            <a:spAutoFit/>
          </a:bodyPr>
          <a:lstStyle/>
          <a:p>
            <a:pPr marL="0" marR="0" algn="just">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Step count: </a:t>
            </a:r>
          </a:p>
          <a:p>
            <a:pPr marL="285750" marR="0" indent="-285750" algn="just">
              <a:lnSpc>
                <a:spcPct val="107000"/>
              </a:lnSpc>
              <a:spcBef>
                <a:spcPts val="0"/>
              </a:spcBef>
              <a:spcAft>
                <a:spcPts val="800"/>
              </a:spcAft>
              <a:buFont typeface="Wingdings" panose="05000000000000000000" pitchFamily="2" charset="2"/>
              <a:buChar char="q"/>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idea is to count the number of instructions or steps that used by a given algorithm to perform the given task. </a:t>
            </a:r>
          </a:p>
          <a:p>
            <a:pPr marL="285750" marR="0" indent="-285750" algn="just">
              <a:lnSpc>
                <a:spcPct val="107000"/>
              </a:lnSpc>
              <a:spcBef>
                <a:spcPts val="0"/>
              </a:spcBef>
              <a:spcAft>
                <a:spcPts val="800"/>
              </a:spcAft>
              <a:buFont typeface="Wingdings" panose="05000000000000000000" pitchFamily="2" charset="2"/>
              <a:buChar char="q"/>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first step is to find steps for execution and frequency (or number of times ) of statements. </a:t>
            </a:r>
          </a:p>
          <a:p>
            <a:pPr marL="285750" marR="0" indent="-285750" algn="just">
              <a:lnSpc>
                <a:spcPct val="107000"/>
              </a:lnSpc>
              <a:spcBef>
                <a:spcPts val="0"/>
              </a:spcBef>
              <a:spcAft>
                <a:spcPts val="800"/>
              </a:spcAft>
              <a:buFont typeface="Wingdings" panose="05000000000000000000" pitchFamily="2" charset="2"/>
              <a:buChar char="q"/>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number of steps per execution is 0 for non-executable statements and generally 1 for executable statements. </a:t>
            </a:r>
          </a:p>
          <a:p>
            <a:pPr marL="285750" marR="0" indent="-285750" algn="just">
              <a:lnSpc>
                <a:spcPct val="107000"/>
              </a:lnSpc>
              <a:spcBef>
                <a:spcPts val="0"/>
              </a:spcBef>
              <a:spcAft>
                <a:spcPts val="800"/>
              </a:spcAft>
              <a:buFont typeface="Wingdings" panose="05000000000000000000" pitchFamily="2" charset="2"/>
              <a:buChar char="q"/>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This number varies only when a function is invoked, or composite structures are processed.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dirty="0"/>
          </a:p>
        </p:txBody>
      </p:sp>
    </p:spTree>
    <p:extLst>
      <p:ext uri="{BB962C8B-B14F-4D97-AF65-F5344CB8AC3E}">
        <p14:creationId xmlns:p14="http://schemas.microsoft.com/office/powerpoint/2010/main" val="3121269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b="1" dirty="0">
                <a:effectLst/>
                <a:latin typeface="+mj-lt"/>
                <a:ea typeface="Times New Roman" panose="02020603050405020304" pitchFamily="18" charset="0"/>
                <a:cs typeface="Times New Roman" panose="02020603050405020304" pitchFamily="18" charset="0"/>
              </a:rPr>
              <a:t>Performance Analysis </a:t>
            </a:r>
            <a:endParaRPr lang="en-US" sz="2800" dirty="0">
              <a:effectLst/>
              <a:latin typeface="+mj-lt"/>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prstClr val="white"/>
                </a:solidFill>
              </a:rPr>
              <a:pPr/>
              <a:t>March 13, 2024</a:t>
            </a:fld>
            <a:endParaRPr lang="en-US">
              <a:solidFill>
                <a:prstClr val="white"/>
              </a:solidFill>
            </a:endParaRPr>
          </a:p>
        </p:txBody>
      </p:sp>
      <p:sp>
        <p:nvSpPr>
          <p:cNvPr id="5" name="Footer Placeholder 4"/>
          <p:cNvSpPr>
            <a:spLocks noGrp="1"/>
          </p:cNvSpPr>
          <p:nvPr>
            <p:ph type="ftr" sz="quarter" idx="11"/>
          </p:nvPr>
        </p:nvSpPr>
        <p:spPr/>
        <p:txBody>
          <a:bodyPr/>
          <a:lstStyle/>
          <a:p>
            <a:r>
              <a:rPr lang="en-US" dirty="0">
                <a:solidFill>
                  <a:prstClr val="white"/>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prstClr val="white"/>
                </a:solidFill>
              </a:rPr>
              <a:pPr/>
              <a:t>26</a:t>
            </a:fld>
            <a:endParaRPr lang="en-US" dirty="0">
              <a:solidFill>
                <a:prstClr val="white"/>
              </a:solidFill>
            </a:endParaRPr>
          </a:p>
        </p:txBody>
      </p:sp>
      <p:sp>
        <p:nvSpPr>
          <p:cNvPr id="7" name="TextBox 6">
            <a:extLst>
              <a:ext uri="{FF2B5EF4-FFF2-40B4-BE49-F238E27FC236}">
                <a16:creationId xmlns:a16="http://schemas.microsoft.com/office/drawing/2014/main" id="{A3274401-F659-5560-11D8-6C15C57001F4}"/>
              </a:ext>
            </a:extLst>
          </p:cNvPr>
          <p:cNvSpPr txBox="1"/>
          <p:nvPr/>
        </p:nvSpPr>
        <p:spPr>
          <a:xfrm>
            <a:off x="564357" y="1376226"/>
            <a:ext cx="8015286" cy="3166764"/>
          </a:xfrm>
          <a:prstGeom prst="rect">
            <a:avLst/>
          </a:prstGeom>
          <a:noFill/>
        </p:spPr>
        <p:txBody>
          <a:bodyPr wrap="square">
            <a:spAutoFit/>
          </a:bodyPr>
          <a:lstStyle/>
          <a:p>
            <a:pPr marL="0" marR="0" algn="just">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Example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Algorithm simple(</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a,b,c</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Begin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457200" algn="just">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a=b+1;</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457200" algn="just">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c=a+2;</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457200" algn="just">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d=</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a+b</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end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dirty="0"/>
          </a:p>
        </p:txBody>
      </p:sp>
    </p:spTree>
    <p:extLst>
      <p:ext uri="{BB962C8B-B14F-4D97-AF65-F5344CB8AC3E}">
        <p14:creationId xmlns:p14="http://schemas.microsoft.com/office/powerpoint/2010/main" val="23659303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b="1" dirty="0">
                <a:effectLst/>
                <a:latin typeface="+mj-lt"/>
                <a:ea typeface="Times New Roman" panose="02020603050405020304" pitchFamily="18" charset="0"/>
                <a:cs typeface="Times New Roman" panose="02020603050405020304" pitchFamily="18" charset="0"/>
              </a:rPr>
              <a:t>Performance Analysis </a:t>
            </a:r>
            <a:endParaRPr lang="en-US" sz="2800" dirty="0">
              <a:effectLst/>
              <a:latin typeface="+mj-lt"/>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prstClr val="white"/>
                </a:solidFill>
              </a:rPr>
              <a:pPr/>
              <a:t>March 13, 2024</a:t>
            </a:fld>
            <a:endParaRPr lang="en-US">
              <a:solidFill>
                <a:prstClr val="white"/>
              </a:solidFill>
            </a:endParaRPr>
          </a:p>
        </p:txBody>
      </p:sp>
      <p:sp>
        <p:nvSpPr>
          <p:cNvPr id="5" name="Footer Placeholder 4"/>
          <p:cNvSpPr>
            <a:spLocks noGrp="1"/>
          </p:cNvSpPr>
          <p:nvPr>
            <p:ph type="ftr" sz="quarter" idx="11"/>
          </p:nvPr>
        </p:nvSpPr>
        <p:spPr/>
        <p:txBody>
          <a:bodyPr/>
          <a:lstStyle/>
          <a:p>
            <a:r>
              <a:rPr lang="en-US" dirty="0">
                <a:solidFill>
                  <a:prstClr val="white"/>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prstClr val="white"/>
                </a:solidFill>
              </a:rPr>
              <a:pPr/>
              <a:t>27</a:t>
            </a:fld>
            <a:endParaRPr lang="en-US" dirty="0">
              <a:solidFill>
                <a:prstClr val="white"/>
              </a:solidFill>
            </a:endParaRPr>
          </a:p>
        </p:txBody>
      </p:sp>
      <p:sp>
        <p:nvSpPr>
          <p:cNvPr id="7" name="TextBox 6">
            <a:extLst>
              <a:ext uri="{FF2B5EF4-FFF2-40B4-BE49-F238E27FC236}">
                <a16:creationId xmlns:a16="http://schemas.microsoft.com/office/drawing/2014/main" id="{A3274401-F659-5560-11D8-6C15C57001F4}"/>
              </a:ext>
            </a:extLst>
          </p:cNvPr>
          <p:cNvSpPr txBox="1"/>
          <p:nvPr/>
        </p:nvSpPr>
        <p:spPr>
          <a:xfrm>
            <a:off x="564357" y="1376226"/>
            <a:ext cx="8015286" cy="774507"/>
          </a:xfrm>
          <a:prstGeom prst="rect">
            <a:avLst/>
          </a:prstGeom>
          <a:noFill/>
        </p:spPr>
        <p:txBody>
          <a:bodyPr wrap="square">
            <a:spAutoFit/>
          </a:bodyPr>
          <a:lstStyle/>
          <a:p>
            <a:pPr marL="0" marR="0" algn="just">
              <a:lnSpc>
                <a:spcPct val="107000"/>
              </a:lnSpc>
              <a:spcBef>
                <a:spcPts val="0"/>
              </a:spcBef>
              <a:spcAft>
                <a:spcPts val="800"/>
              </a:spcAft>
            </a:pPr>
            <a:r>
              <a:rPr lang="en-US" dirty="0">
                <a:effectLst/>
                <a:ea typeface="Calibri" panose="020F0502020204030204" pitchFamily="34" charset="0"/>
                <a:cs typeface="Times New Roman" panose="02020603050405020304" pitchFamily="18" charset="0"/>
              </a:rPr>
              <a:t>step counts of  simple algorithm segment</a:t>
            </a:r>
          </a:p>
          <a:p>
            <a:pPr marL="0" marR="0" algn="just">
              <a:lnSpc>
                <a:spcPct val="107000"/>
              </a:lnSpc>
              <a:spcBef>
                <a:spcPts val="0"/>
              </a:spcBef>
              <a:spcAft>
                <a:spcPts val="800"/>
              </a:spcAft>
            </a:pPr>
            <a:endParaRPr lang="en-US" dirty="0"/>
          </a:p>
        </p:txBody>
      </p:sp>
      <p:graphicFrame>
        <p:nvGraphicFramePr>
          <p:cNvPr id="3" name="Table 2">
            <a:extLst>
              <a:ext uri="{FF2B5EF4-FFF2-40B4-BE49-F238E27FC236}">
                <a16:creationId xmlns:a16="http://schemas.microsoft.com/office/drawing/2014/main" id="{BBDA884A-EAF9-1365-6ED2-10F7CBC505E7}"/>
              </a:ext>
            </a:extLst>
          </p:cNvPr>
          <p:cNvGraphicFramePr>
            <a:graphicFrameLocks noGrp="1"/>
          </p:cNvGraphicFramePr>
          <p:nvPr>
            <p:extLst>
              <p:ext uri="{D42A27DB-BD31-4B8C-83A1-F6EECF244321}">
                <p14:modId xmlns:p14="http://schemas.microsoft.com/office/powerpoint/2010/main" val="522344310"/>
              </p:ext>
            </p:extLst>
          </p:nvPr>
        </p:nvGraphicFramePr>
        <p:xfrm>
          <a:off x="559594" y="1955679"/>
          <a:ext cx="6393651" cy="3124331"/>
        </p:xfrm>
        <a:graphic>
          <a:graphicData uri="http://schemas.openxmlformats.org/drawingml/2006/table">
            <a:tbl>
              <a:tblPr firstRow="1" firstCol="1" bandRow="1">
                <a:tableStyleId>{5C22544A-7EE6-4342-B048-85BDC9FD1C3A}</a:tableStyleId>
              </a:tblPr>
              <a:tblGrid>
                <a:gridCol w="1035843">
                  <a:extLst>
                    <a:ext uri="{9D8B030D-6E8A-4147-A177-3AD203B41FA5}">
                      <a16:colId xmlns:a16="http://schemas.microsoft.com/office/drawing/2014/main" val="1827753377"/>
                    </a:ext>
                  </a:extLst>
                </a:gridCol>
                <a:gridCol w="1521289">
                  <a:extLst>
                    <a:ext uri="{9D8B030D-6E8A-4147-A177-3AD203B41FA5}">
                      <a16:colId xmlns:a16="http://schemas.microsoft.com/office/drawing/2014/main" val="1363002025"/>
                    </a:ext>
                  </a:extLst>
                </a:gridCol>
                <a:gridCol w="1278566">
                  <a:extLst>
                    <a:ext uri="{9D8B030D-6E8A-4147-A177-3AD203B41FA5}">
                      <a16:colId xmlns:a16="http://schemas.microsoft.com/office/drawing/2014/main" val="1833934176"/>
                    </a:ext>
                  </a:extLst>
                </a:gridCol>
                <a:gridCol w="1278566">
                  <a:extLst>
                    <a:ext uri="{9D8B030D-6E8A-4147-A177-3AD203B41FA5}">
                      <a16:colId xmlns:a16="http://schemas.microsoft.com/office/drawing/2014/main" val="1609618047"/>
                    </a:ext>
                  </a:extLst>
                </a:gridCol>
                <a:gridCol w="1279387">
                  <a:extLst>
                    <a:ext uri="{9D8B030D-6E8A-4147-A177-3AD203B41FA5}">
                      <a16:colId xmlns:a16="http://schemas.microsoft.com/office/drawing/2014/main" val="1233993811"/>
                    </a:ext>
                  </a:extLst>
                </a:gridCol>
              </a:tblGrid>
              <a:tr h="568488">
                <a:tc>
                  <a:txBody>
                    <a:bodyPr/>
                    <a:lstStyle/>
                    <a:p>
                      <a:pPr marL="0" marR="0" algn="just">
                        <a:lnSpc>
                          <a:spcPct val="107000"/>
                        </a:lnSpc>
                        <a:spcBef>
                          <a:spcPts val="0"/>
                        </a:spcBef>
                        <a:spcAft>
                          <a:spcPts val="0"/>
                        </a:spcAft>
                      </a:pPr>
                      <a:r>
                        <a:rPr lang="en-US" sz="1800" dirty="0">
                          <a:effectLst/>
                        </a:rPr>
                        <a:t>Step number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a:effectLst/>
                        </a:rPr>
                        <a:t>Program</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a:effectLst/>
                        </a:rPr>
                        <a:t>Steps per execution</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dirty="0">
                          <a:effectLst/>
                        </a:rPr>
                        <a:t>Frequency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a:effectLst/>
                        </a:rPr>
                        <a:t>Total</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46270687"/>
                  </a:ext>
                </a:extLst>
              </a:tr>
              <a:tr h="859145">
                <a:tc>
                  <a:txBody>
                    <a:bodyPr/>
                    <a:lstStyle/>
                    <a:p>
                      <a:pPr marL="0" marR="0" algn="just">
                        <a:lnSpc>
                          <a:spcPct val="107000"/>
                        </a:lnSpc>
                        <a:spcBef>
                          <a:spcPts val="0"/>
                        </a:spcBef>
                        <a:spcAft>
                          <a:spcPts val="0"/>
                        </a:spcAft>
                      </a:pPr>
                      <a:r>
                        <a:rPr lang="en-US" sz="1800" dirty="0">
                          <a:effectLst/>
                        </a:rPr>
                        <a:t>1</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dirty="0">
                          <a:effectLst/>
                        </a:rPr>
                        <a:t>Algorithm simple(</a:t>
                      </a:r>
                      <a:r>
                        <a:rPr lang="en-US" sz="1800" dirty="0" err="1">
                          <a:effectLst/>
                        </a:rPr>
                        <a:t>a,b,c</a:t>
                      </a:r>
                      <a:r>
                        <a:rPr lang="en-US" sz="1800" dirty="0">
                          <a:effectLst/>
                        </a:rPr>
                        <a:t>)</a:t>
                      </a:r>
                    </a:p>
                    <a:p>
                      <a:pPr marL="0" marR="0" algn="just">
                        <a:lnSpc>
                          <a:spcPct val="107000"/>
                        </a:lnSpc>
                        <a:spcBef>
                          <a:spcPts val="0"/>
                        </a:spcBef>
                        <a:spcAft>
                          <a:spcPts val="0"/>
                        </a:spcAft>
                      </a:pPr>
                      <a:r>
                        <a:rPr lang="en-US" sz="1800" dirty="0">
                          <a:effectLst/>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a:effectLst/>
                        </a:rPr>
                        <a:t>0</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a:effectLst/>
                        </a:rPr>
                        <a:t>-</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a:effectLst/>
                        </a:rPr>
                        <a:t>0</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43809787"/>
                  </a:ext>
                </a:extLst>
              </a:tr>
              <a:tr h="277831">
                <a:tc>
                  <a:txBody>
                    <a:bodyPr/>
                    <a:lstStyle/>
                    <a:p>
                      <a:pPr marL="0" marR="0" algn="just">
                        <a:lnSpc>
                          <a:spcPct val="107000"/>
                        </a:lnSpc>
                        <a:spcBef>
                          <a:spcPts val="0"/>
                        </a:spcBef>
                        <a:spcAft>
                          <a:spcPts val="0"/>
                        </a:spcAft>
                      </a:pPr>
                      <a:r>
                        <a:rPr lang="en-US" sz="1800">
                          <a:effectLst/>
                        </a:rPr>
                        <a:t>2</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dirty="0">
                          <a:effectLst/>
                        </a:rPr>
                        <a:t>Begin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dirty="0">
                          <a:effectLst/>
                        </a:rPr>
                        <a:t>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a:effectLst/>
                        </a:rPr>
                        <a:t>-</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a:effectLst/>
                        </a:rPr>
                        <a:t>0</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86880876"/>
                  </a:ext>
                </a:extLst>
              </a:tr>
              <a:tr h="277831">
                <a:tc>
                  <a:txBody>
                    <a:bodyPr/>
                    <a:lstStyle/>
                    <a:p>
                      <a:pPr marL="0" marR="0" algn="just">
                        <a:lnSpc>
                          <a:spcPct val="107000"/>
                        </a:lnSpc>
                        <a:spcBef>
                          <a:spcPts val="0"/>
                        </a:spcBef>
                        <a:spcAft>
                          <a:spcPts val="0"/>
                        </a:spcAft>
                      </a:pPr>
                      <a:r>
                        <a:rPr lang="en-US" sz="1800">
                          <a:effectLst/>
                        </a:rPr>
                        <a:t>3</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a:effectLst/>
                        </a:rPr>
                        <a:t>a=b+1</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a:effectLst/>
                        </a:rPr>
                        <a:t>1</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a:effectLst/>
                        </a:rPr>
                        <a:t>1</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a:effectLst/>
                        </a:rPr>
                        <a:t>1</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71703652"/>
                  </a:ext>
                </a:extLst>
              </a:tr>
              <a:tr h="277831">
                <a:tc>
                  <a:txBody>
                    <a:bodyPr/>
                    <a:lstStyle/>
                    <a:p>
                      <a:pPr marL="0" marR="0" algn="just">
                        <a:lnSpc>
                          <a:spcPct val="107000"/>
                        </a:lnSpc>
                        <a:spcBef>
                          <a:spcPts val="0"/>
                        </a:spcBef>
                        <a:spcAft>
                          <a:spcPts val="0"/>
                        </a:spcAft>
                      </a:pPr>
                      <a:r>
                        <a:rPr lang="en-US" sz="1800">
                          <a:effectLst/>
                        </a:rPr>
                        <a:t>4</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a:effectLst/>
                        </a:rPr>
                        <a:t>c=a+2</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dirty="0">
                          <a:effectLst/>
                        </a:rPr>
                        <a:t>1</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a:effectLst/>
                        </a:rPr>
                        <a:t>1</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a:effectLst/>
                        </a:rPr>
                        <a:t>1</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86016750"/>
                  </a:ext>
                </a:extLst>
              </a:tr>
              <a:tr h="277831">
                <a:tc>
                  <a:txBody>
                    <a:bodyPr/>
                    <a:lstStyle/>
                    <a:p>
                      <a:pPr marL="0" marR="0" algn="just">
                        <a:lnSpc>
                          <a:spcPct val="107000"/>
                        </a:lnSpc>
                        <a:spcBef>
                          <a:spcPts val="0"/>
                        </a:spcBef>
                        <a:spcAft>
                          <a:spcPts val="0"/>
                        </a:spcAft>
                      </a:pPr>
                      <a:r>
                        <a:rPr lang="en-US" sz="1800">
                          <a:effectLst/>
                        </a:rPr>
                        <a:t>5</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a:effectLst/>
                        </a:rPr>
                        <a:t>d=a+b</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dirty="0">
                          <a:effectLst/>
                        </a:rPr>
                        <a:t>1</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a:effectLst/>
                        </a:rPr>
                        <a:t>1</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a:effectLst/>
                        </a:rPr>
                        <a:t>1</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2205836"/>
                  </a:ext>
                </a:extLst>
              </a:tr>
              <a:tr h="277831">
                <a:tc>
                  <a:txBody>
                    <a:bodyPr/>
                    <a:lstStyle/>
                    <a:p>
                      <a:pPr marL="0" marR="0" algn="just">
                        <a:lnSpc>
                          <a:spcPct val="107000"/>
                        </a:lnSpc>
                        <a:spcBef>
                          <a:spcPts val="0"/>
                        </a:spcBef>
                        <a:spcAft>
                          <a:spcPts val="0"/>
                        </a:spcAft>
                      </a:pPr>
                      <a:r>
                        <a:rPr lang="en-US" sz="1800">
                          <a:effectLst/>
                        </a:rPr>
                        <a:t>6</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a:effectLst/>
                        </a:rPr>
                        <a:t>End</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a:effectLst/>
                        </a:rPr>
                        <a:t>0</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dirty="0">
                          <a:effectLst/>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a:effectLst/>
                        </a:rPr>
                        <a:t>-</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96191866"/>
                  </a:ext>
                </a:extLst>
              </a:tr>
              <a:tr h="277831">
                <a:tc>
                  <a:txBody>
                    <a:bodyPr/>
                    <a:lstStyle/>
                    <a:p>
                      <a:pPr marL="0" marR="0" algn="just">
                        <a:lnSpc>
                          <a:spcPct val="107000"/>
                        </a:lnSpc>
                        <a:spcBef>
                          <a:spcPts val="0"/>
                        </a:spcBef>
                        <a:spcAft>
                          <a:spcPts val="0"/>
                        </a:spcAft>
                      </a:pPr>
                      <a:r>
                        <a:rPr lang="en-US" sz="1800">
                          <a:effectLst/>
                        </a:rPr>
                        <a:t>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a:effectLst/>
                        </a:rPr>
                        <a:t>Total</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a:effectLst/>
                        </a:rPr>
                        <a:t>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a:effectLst/>
                        </a:rPr>
                        <a:t>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dirty="0">
                          <a:effectLst/>
                        </a:rPr>
                        <a:t>3</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95005304"/>
                  </a:ext>
                </a:extLst>
              </a:tr>
            </a:tbl>
          </a:graphicData>
        </a:graphic>
      </p:graphicFrame>
      <p:sp>
        <p:nvSpPr>
          <p:cNvPr id="9" name="TextBox 8">
            <a:extLst>
              <a:ext uri="{FF2B5EF4-FFF2-40B4-BE49-F238E27FC236}">
                <a16:creationId xmlns:a16="http://schemas.microsoft.com/office/drawing/2014/main" id="{E64631BE-8D94-BB39-91B5-49776D0B8DC9}"/>
              </a:ext>
            </a:extLst>
          </p:cNvPr>
          <p:cNvSpPr txBox="1"/>
          <p:nvPr/>
        </p:nvSpPr>
        <p:spPr>
          <a:xfrm>
            <a:off x="838200" y="5280358"/>
            <a:ext cx="7086600" cy="670440"/>
          </a:xfrm>
          <a:prstGeom prst="rect">
            <a:avLst/>
          </a:prstGeom>
          <a:noFill/>
        </p:spPr>
        <p:txBody>
          <a:bodyPr wrap="square">
            <a:spAutoFit/>
          </a:bodyPr>
          <a:lstStyle/>
          <a:p>
            <a:pPr marL="0" marR="0" algn="just">
              <a:lnSpc>
                <a:spcPct val="107000"/>
              </a:lnSpc>
              <a:spcBef>
                <a:spcPts val="0"/>
              </a:spcBef>
              <a:spcAft>
                <a:spcPts val="800"/>
              </a:spcAft>
            </a:pPr>
            <a:r>
              <a:rPr lang="en-US" sz="1800" dirty="0">
                <a:effectLst/>
                <a:ea typeface="Calibri" panose="020F0502020204030204" pitchFamily="34" charset="0"/>
                <a:cs typeface="Times New Roman" panose="02020603050405020304" pitchFamily="18" charset="0"/>
              </a:rPr>
              <a:t>It  can be observed that the total is calculated by multiplying the number of steps per execution by frequency. Therefore  T(n)=3</a:t>
            </a:r>
            <a:endParaRPr lang="en-US" sz="16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290189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b="1" dirty="0">
                <a:effectLst/>
                <a:latin typeface="+mj-lt"/>
                <a:ea typeface="Times New Roman" panose="02020603050405020304" pitchFamily="18" charset="0"/>
                <a:cs typeface="Times New Roman" panose="02020603050405020304" pitchFamily="18" charset="0"/>
              </a:rPr>
              <a:t>Performance Analysis </a:t>
            </a:r>
            <a:endParaRPr lang="en-US" sz="2800" dirty="0">
              <a:effectLst/>
              <a:latin typeface="+mj-lt"/>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prstClr val="white"/>
                </a:solidFill>
              </a:rPr>
              <a:pPr/>
              <a:t>March 13, 2024</a:t>
            </a:fld>
            <a:endParaRPr lang="en-US">
              <a:solidFill>
                <a:prstClr val="white"/>
              </a:solidFill>
            </a:endParaRPr>
          </a:p>
        </p:txBody>
      </p:sp>
      <p:sp>
        <p:nvSpPr>
          <p:cNvPr id="5" name="Footer Placeholder 4"/>
          <p:cNvSpPr>
            <a:spLocks noGrp="1"/>
          </p:cNvSpPr>
          <p:nvPr>
            <p:ph type="ftr" sz="quarter" idx="11"/>
          </p:nvPr>
        </p:nvSpPr>
        <p:spPr/>
        <p:txBody>
          <a:bodyPr/>
          <a:lstStyle/>
          <a:p>
            <a:r>
              <a:rPr lang="en-US" dirty="0">
                <a:solidFill>
                  <a:prstClr val="white"/>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prstClr val="white"/>
                </a:solidFill>
              </a:rPr>
              <a:pPr/>
              <a:t>28</a:t>
            </a:fld>
            <a:endParaRPr lang="en-US" dirty="0">
              <a:solidFill>
                <a:prstClr val="white"/>
              </a:solidFill>
            </a:endParaRPr>
          </a:p>
        </p:txBody>
      </p:sp>
      <p:sp>
        <p:nvSpPr>
          <p:cNvPr id="7" name="TextBox 6">
            <a:extLst>
              <a:ext uri="{FF2B5EF4-FFF2-40B4-BE49-F238E27FC236}">
                <a16:creationId xmlns:a16="http://schemas.microsoft.com/office/drawing/2014/main" id="{A3274401-F659-5560-11D8-6C15C57001F4}"/>
              </a:ext>
            </a:extLst>
          </p:cNvPr>
          <p:cNvSpPr txBox="1"/>
          <p:nvPr/>
        </p:nvSpPr>
        <p:spPr>
          <a:xfrm>
            <a:off x="564357" y="1376226"/>
            <a:ext cx="8015286" cy="3966150"/>
          </a:xfrm>
          <a:prstGeom prst="rect">
            <a:avLst/>
          </a:prstGeom>
          <a:noFill/>
        </p:spPr>
        <p:txBody>
          <a:bodyPr wrap="square">
            <a:spAutoFit/>
          </a:bodyPr>
          <a:lstStyle/>
          <a:p>
            <a:pPr marL="0" marR="0" algn="just">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Algorithm sum()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Begin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Sum=0;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457200" algn="just">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For  i= 1 to n do</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gn="just">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Sum=sum+1</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457200" algn="just">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End for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Return sum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End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endParaRPr lang="en-US" dirty="0"/>
          </a:p>
        </p:txBody>
      </p:sp>
    </p:spTree>
    <p:extLst>
      <p:ext uri="{BB962C8B-B14F-4D97-AF65-F5344CB8AC3E}">
        <p14:creationId xmlns:p14="http://schemas.microsoft.com/office/powerpoint/2010/main" val="7743698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b="1" dirty="0">
                <a:effectLst/>
                <a:latin typeface="+mj-lt"/>
                <a:ea typeface="Times New Roman" panose="02020603050405020304" pitchFamily="18" charset="0"/>
                <a:cs typeface="Times New Roman" panose="02020603050405020304" pitchFamily="18" charset="0"/>
              </a:rPr>
              <a:t>Performance Analysis </a:t>
            </a:r>
            <a:endParaRPr lang="en-US" sz="2800" dirty="0">
              <a:effectLst/>
              <a:latin typeface="+mj-lt"/>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prstClr val="white"/>
                </a:solidFill>
              </a:rPr>
              <a:pPr/>
              <a:t>March 13, 2024</a:t>
            </a:fld>
            <a:endParaRPr lang="en-US">
              <a:solidFill>
                <a:prstClr val="white"/>
              </a:solidFill>
            </a:endParaRPr>
          </a:p>
        </p:txBody>
      </p:sp>
      <p:sp>
        <p:nvSpPr>
          <p:cNvPr id="5" name="Footer Placeholder 4"/>
          <p:cNvSpPr>
            <a:spLocks noGrp="1"/>
          </p:cNvSpPr>
          <p:nvPr>
            <p:ph type="ftr" sz="quarter" idx="11"/>
          </p:nvPr>
        </p:nvSpPr>
        <p:spPr/>
        <p:txBody>
          <a:bodyPr/>
          <a:lstStyle/>
          <a:p>
            <a:r>
              <a:rPr lang="en-US" dirty="0">
                <a:solidFill>
                  <a:prstClr val="white"/>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prstClr val="white"/>
                </a:solidFill>
              </a:rPr>
              <a:pPr/>
              <a:t>29</a:t>
            </a:fld>
            <a:endParaRPr lang="en-US" dirty="0">
              <a:solidFill>
                <a:prstClr val="white"/>
              </a:solidFill>
            </a:endParaRPr>
          </a:p>
        </p:txBody>
      </p:sp>
      <p:graphicFrame>
        <p:nvGraphicFramePr>
          <p:cNvPr id="3" name="Table 2">
            <a:extLst>
              <a:ext uri="{FF2B5EF4-FFF2-40B4-BE49-F238E27FC236}">
                <a16:creationId xmlns:a16="http://schemas.microsoft.com/office/drawing/2014/main" id="{DE675A05-B2C2-109A-AF89-D8616AD09739}"/>
              </a:ext>
            </a:extLst>
          </p:cNvPr>
          <p:cNvGraphicFramePr>
            <a:graphicFrameLocks noGrp="1"/>
          </p:cNvGraphicFramePr>
          <p:nvPr>
            <p:extLst>
              <p:ext uri="{D42A27DB-BD31-4B8C-83A1-F6EECF244321}">
                <p14:modId xmlns:p14="http://schemas.microsoft.com/office/powerpoint/2010/main" val="1454867114"/>
              </p:ext>
            </p:extLst>
          </p:nvPr>
        </p:nvGraphicFramePr>
        <p:xfrm>
          <a:off x="990600" y="1363310"/>
          <a:ext cx="6583680" cy="3685291"/>
        </p:xfrm>
        <a:graphic>
          <a:graphicData uri="http://schemas.openxmlformats.org/drawingml/2006/table">
            <a:tbl>
              <a:tblPr firstRow="1" firstCol="1" bandRow="1">
                <a:tableStyleId>{5C22544A-7EE6-4342-B048-85BDC9FD1C3A}</a:tableStyleId>
              </a:tblPr>
              <a:tblGrid>
                <a:gridCol w="1316736">
                  <a:extLst>
                    <a:ext uri="{9D8B030D-6E8A-4147-A177-3AD203B41FA5}">
                      <a16:colId xmlns:a16="http://schemas.microsoft.com/office/drawing/2014/main" val="3084331242"/>
                    </a:ext>
                  </a:extLst>
                </a:gridCol>
                <a:gridCol w="1316736">
                  <a:extLst>
                    <a:ext uri="{9D8B030D-6E8A-4147-A177-3AD203B41FA5}">
                      <a16:colId xmlns:a16="http://schemas.microsoft.com/office/drawing/2014/main" val="2386740688"/>
                    </a:ext>
                  </a:extLst>
                </a:gridCol>
                <a:gridCol w="1316736">
                  <a:extLst>
                    <a:ext uri="{9D8B030D-6E8A-4147-A177-3AD203B41FA5}">
                      <a16:colId xmlns:a16="http://schemas.microsoft.com/office/drawing/2014/main" val="1785313090"/>
                    </a:ext>
                  </a:extLst>
                </a:gridCol>
                <a:gridCol w="1316736">
                  <a:extLst>
                    <a:ext uri="{9D8B030D-6E8A-4147-A177-3AD203B41FA5}">
                      <a16:colId xmlns:a16="http://schemas.microsoft.com/office/drawing/2014/main" val="3052727223"/>
                    </a:ext>
                  </a:extLst>
                </a:gridCol>
                <a:gridCol w="1316736">
                  <a:extLst>
                    <a:ext uri="{9D8B030D-6E8A-4147-A177-3AD203B41FA5}">
                      <a16:colId xmlns:a16="http://schemas.microsoft.com/office/drawing/2014/main" val="2997845423"/>
                    </a:ext>
                  </a:extLst>
                </a:gridCol>
              </a:tblGrid>
              <a:tr h="569664">
                <a:tc>
                  <a:txBody>
                    <a:bodyPr/>
                    <a:lstStyle/>
                    <a:p>
                      <a:pPr marL="0" marR="0" algn="just">
                        <a:lnSpc>
                          <a:spcPct val="107000"/>
                        </a:lnSpc>
                        <a:spcBef>
                          <a:spcPts val="0"/>
                        </a:spcBef>
                        <a:spcAft>
                          <a:spcPts val="0"/>
                        </a:spcAft>
                      </a:pPr>
                      <a:r>
                        <a:rPr lang="en-US" sz="1800" dirty="0">
                          <a:effectLst/>
                        </a:rPr>
                        <a:t>Step number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dirty="0">
                          <a:effectLst/>
                        </a:rPr>
                        <a:t>Program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dirty="0">
                          <a:effectLst/>
                        </a:rPr>
                        <a:t>Steps per execution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dirty="0">
                          <a:effectLst/>
                        </a:rPr>
                        <a:t>Frequency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dirty="0">
                          <a:effectLst/>
                        </a:rPr>
                        <a:t>Total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86346546"/>
                  </a:ext>
                </a:extLst>
              </a:tr>
              <a:tr h="569664">
                <a:tc>
                  <a:txBody>
                    <a:bodyPr/>
                    <a:lstStyle/>
                    <a:p>
                      <a:pPr marL="0" marR="0" algn="just">
                        <a:lnSpc>
                          <a:spcPct val="107000"/>
                        </a:lnSpc>
                        <a:spcBef>
                          <a:spcPts val="0"/>
                        </a:spcBef>
                        <a:spcAft>
                          <a:spcPts val="0"/>
                        </a:spcAft>
                      </a:pPr>
                      <a:r>
                        <a:rPr lang="en-US" sz="1800" dirty="0">
                          <a:effectLst/>
                        </a:rPr>
                        <a:t>1</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dirty="0">
                          <a:effectLst/>
                        </a:rPr>
                        <a:t>Algorithm sum()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a:effectLst/>
                        </a:rPr>
                        <a:t>0</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a:effectLst/>
                        </a:rPr>
                        <a:t>-</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a:effectLst/>
                        </a:rPr>
                        <a:t>0</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94419853"/>
                  </a:ext>
                </a:extLst>
              </a:tr>
              <a:tr h="278372">
                <a:tc>
                  <a:txBody>
                    <a:bodyPr/>
                    <a:lstStyle/>
                    <a:p>
                      <a:pPr marL="0" marR="0" algn="just">
                        <a:lnSpc>
                          <a:spcPct val="107000"/>
                        </a:lnSpc>
                        <a:spcBef>
                          <a:spcPts val="0"/>
                        </a:spcBef>
                        <a:spcAft>
                          <a:spcPts val="0"/>
                        </a:spcAft>
                      </a:pPr>
                      <a:r>
                        <a:rPr lang="en-US" sz="1800" dirty="0">
                          <a:effectLst/>
                        </a:rPr>
                        <a:t>2</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dirty="0">
                          <a:effectLst/>
                        </a:rPr>
                        <a:t>Begin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a:effectLst/>
                        </a:rPr>
                        <a:t>0</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a:effectLst/>
                        </a:rPr>
                        <a:t>-</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a:effectLst/>
                        </a:rPr>
                        <a:t>0</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94957915"/>
                  </a:ext>
                </a:extLst>
              </a:tr>
              <a:tr h="278372">
                <a:tc>
                  <a:txBody>
                    <a:bodyPr/>
                    <a:lstStyle/>
                    <a:p>
                      <a:pPr marL="0" marR="0" algn="just">
                        <a:lnSpc>
                          <a:spcPct val="107000"/>
                        </a:lnSpc>
                        <a:spcBef>
                          <a:spcPts val="0"/>
                        </a:spcBef>
                        <a:spcAft>
                          <a:spcPts val="0"/>
                        </a:spcAft>
                      </a:pPr>
                      <a:r>
                        <a:rPr lang="en-US" sz="1800" dirty="0">
                          <a:effectLst/>
                        </a:rPr>
                        <a:t>3</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dirty="0">
                          <a:effectLst/>
                        </a:rPr>
                        <a:t>  Sum=0;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a:effectLst/>
                        </a:rPr>
                        <a:t>1</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a:effectLst/>
                        </a:rPr>
                        <a:t>1</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a:effectLst/>
                        </a:rPr>
                        <a:t>1</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95844472"/>
                  </a:ext>
                </a:extLst>
              </a:tr>
              <a:tr h="569664">
                <a:tc>
                  <a:txBody>
                    <a:bodyPr/>
                    <a:lstStyle/>
                    <a:p>
                      <a:pPr marL="0" marR="0" algn="just">
                        <a:lnSpc>
                          <a:spcPct val="107000"/>
                        </a:lnSpc>
                        <a:spcBef>
                          <a:spcPts val="0"/>
                        </a:spcBef>
                        <a:spcAft>
                          <a:spcPts val="0"/>
                        </a:spcAft>
                      </a:pPr>
                      <a:r>
                        <a:rPr lang="en-US" sz="1800">
                          <a:effectLst/>
                        </a:rPr>
                        <a:t>4</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dirty="0">
                          <a:effectLst/>
                        </a:rPr>
                        <a:t>For  i= 1 to n do</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dirty="0">
                          <a:effectLst/>
                        </a:rPr>
                        <a:t>1</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dirty="0">
                          <a:effectLst/>
                        </a:rPr>
                        <a:t>n+1</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dirty="0">
                          <a:effectLst/>
                        </a:rPr>
                        <a:t>n+1</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54572737"/>
                  </a:ext>
                </a:extLst>
              </a:tr>
              <a:tr h="278372">
                <a:tc>
                  <a:txBody>
                    <a:bodyPr/>
                    <a:lstStyle/>
                    <a:p>
                      <a:pPr marL="0" marR="0" algn="just">
                        <a:lnSpc>
                          <a:spcPct val="107000"/>
                        </a:lnSpc>
                        <a:spcBef>
                          <a:spcPts val="0"/>
                        </a:spcBef>
                        <a:spcAft>
                          <a:spcPts val="0"/>
                        </a:spcAft>
                      </a:pPr>
                      <a:r>
                        <a:rPr lang="en-US" sz="1800">
                          <a:effectLst/>
                        </a:rPr>
                        <a:t>5</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dirty="0">
                          <a:effectLst/>
                        </a:rPr>
                        <a:t>Sum=sum+1</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dirty="0">
                          <a:effectLst/>
                        </a:rPr>
                        <a:t>1</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a:effectLst/>
                        </a:rPr>
                        <a:t>n</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a:effectLst/>
                        </a:rPr>
                        <a:t>n</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22355044"/>
                  </a:ext>
                </a:extLst>
              </a:tr>
              <a:tr h="278372">
                <a:tc>
                  <a:txBody>
                    <a:bodyPr/>
                    <a:lstStyle/>
                    <a:p>
                      <a:pPr marL="0" marR="0" algn="just">
                        <a:lnSpc>
                          <a:spcPct val="107000"/>
                        </a:lnSpc>
                        <a:spcBef>
                          <a:spcPts val="0"/>
                        </a:spcBef>
                        <a:spcAft>
                          <a:spcPts val="0"/>
                        </a:spcAft>
                      </a:pPr>
                      <a:r>
                        <a:rPr lang="en-US" sz="1800">
                          <a:effectLst/>
                        </a:rPr>
                        <a:t>6</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dirty="0">
                          <a:effectLst/>
                        </a:rPr>
                        <a:t>End for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dirty="0">
                          <a:effectLst/>
                        </a:rPr>
                        <a:t>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dirty="0">
                          <a:effectLst/>
                        </a:rPr>
                        <a:t>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a:effectLst/>
                        </a:rPr>
                        <a:t>0</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93346906"/>
                  </a:ext>
                </a:extLst>
              </a:tr>
              <a:tr h="278372">
                <a:tc>
                  <a:txBody>
                    <a:bodyPr/>
                    <a:lstStyle/>
                    <a:p>
                      <a:pPr marL="0" marR="0" algn="just">
                        <a:lnSpc>
                          <a:spcPct val="107000"/>
                        </a:lnSpc>
                        <a:spcBef>
                          <a:spcPts val="0"/>
                        </a:spcBef>
                        <a:spcAft>
                          <a:spcPts val="0"/>
                        </a:spcAft>
                      </a:pPr>
                      <a:r>
                        <a:rPr lang="en-US" sz="1800">
                          <a:effectLst/>
                        </a:rPr>
                        <a:t>7</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a:effectLst/>
                        </a:rPr>
                        <a:t>Return sum</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dirty="0">
                          <a:effectLst/>
                        </a:rPr>
                        <a:t>1</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dirty="0">
                          <a:effectLst/>
                        </a:rPr>
                        <a:t>1</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dirty="0">
                          <a:effectLst/>
                        </a:rPr>
                        <a:t>1</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03702258"/>
                  </a:ext>
                </a:extLst>
              </a:tr>
              <a:tr h="278372">
                <a:tc>
                  <a:txBody>
                    <a:bodyPr/>
                    <a:lstStyle/>
                    <a:p>
                      <a:pPr marL="0" marR="0" algn="just">
                        <a:lnSpc>
                          <a:spcPct val="107000"/>
                        </a:lnSpc>
                        <a:spcBef>
                          <a:spcPts val="0"/>
                        </a:spcBef>
                        <a:spcAft>
                          <a:spcPts val="0"/>
                        </a:spcAft>
                      </a:pPr>
                      <a:r>
                        <a:rPr lang="en-US" sz="1800">
                          <a:effectLst/>
                        </a:rPr>
                        <a:t>8</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dirty="0">
                          <a:effectLst/>
                        </a:rPr>
                        <a:t>End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dirty="0">
                          <a:effectLst/>
                        </a:rPr>
                        <a:t>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dirty="0">
                          <a:effectLst/>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dirty="0">
                          <a:effectLst/>
                        </a:rPr>
                        <a:t>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86113656"/>
                  </a:ext>
                </a:extLst>
              </a:tr>
              <a:tr h="278372">
                <a:tc>
                  <a:txBody>
                    <a:bodyPr/>
                    <a:lstStyle/>
                    <a:p>
                      <a:pPr marL="0" marR="0" algn="just">
                        <a:lnSpc>
                          <a:spcPct val="107000"/>
                        </a:lnSpc>
                        <a:spcBef>
                          <a:spcPts val="0"/>
                        </a:spcBef>
                        <a:spcAft>
                          <a:spcPts val="0"/>
                        </a:spcAft>
                      </a:pPr>
                      <a:r>
                        <a:rPr lang="en-US" sz="1800">
                          <a:effectLst/>
                        </a:rPr>
                        <a:t>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a:effectLst/>
                        </a:rPr>
                        <a:t>Total</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a:effectLst/>
                        </a:rPr>
                        <a:t>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dirty="0">
                          <a:effectLst/>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dirty="0">
                          <a:effectLst/>
                        </a:rPr>
                        <a:t>2n+3</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34400647"/>
                  </a:ext>
                </a:extLst>
              </a:tr>
            </a:tbl>
          </a:graphicData>
        </a:graphic>
      </p:graphicFrame>
      <p:sp>
        <p:nvSpPr>
          <p:cNvPr id="9" name="TextBox 8">
            <a:extLst>
              <a:ext uri="{FF2B5EF4-FFF2-40B4-BE49-F238E27FC236}">
                <a16:creationId xmlns:a16="http://schemas.microsoft.com/office/drawing/2014/main" id="{BB8030E1-6486-58AC-60BF-518D9D090910}"/>
              </a:ext>
            </a:extLst>
          </p:cNvPr>
          <p:cNvSpPr txBox="1"/>
          <p:nvPr/>
        </p:nvSpPr>
        <p:spPr>
          <a:xfrm>
            <a:off x="685800" y="5083432"/>
            <a:ext cx="7543800" cy="966803"/>
          </a:xfrm>
          <a:prstGeom prst="rect">
            <a:avLst/>
          </a:prstGeom>
          <a:noFill/>
        </p:spPr>
        <p:txBody>
          <a:bodyPr wrap="square">
            <a:spAutoFit/>
          </a:bodyPr>
          <a:lstStyle/>
          <a:p>
            <a:pPr marL="0" marR="0" algn="just">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total count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is obtained by multiplying the steps per execution by the frequency . It can be observed that T(n)=2n+3 is the time complexity function of the above algorithm.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022258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b="1" dirty="0">
                <a:effectLst/>
                <a:latin typeface="+mj-lt"/>
                <a:ea typeface="Times New Roman" panose="02020603050405020304" pitchFamily="18" charset="0"/>
                <a:cs typeface="Times New Roman" panose="02020603050405020304" pitchFamily="18" charset="0"/>
              </a:rPr>
              <a:t>Performance Analysis </a:t>
            </a:r>
            <a:endParaRPr lang="en-US" sz="2800" dirty="0">
              <a:effectLst/>
              <a:latin typeface="+mj-lt"/>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prstClr val="white"/>
                </a:solidFill>
              </a:rPr>
              <a:pPr/>
              <a:t>March 13, 2024</a:t>
            </a:fld>
            <a:endParaRPr lang="en-US">
              <a:solidFill>
                <a:prstClr val="white"/>
              </a:solidFill>
            </a:endParaRPr>
          </a:p>
        </p:txBody>
      </p:sp>
      <p:sp>
        <p:nvSpPr>
          <p:cNvPr id="5" name="Footer Placeholder 4"/>
          <p:cNvSpPr>
            <a:spLocks noGrp="1"/>
          </p:cNvSpPr>
          <p:nvPr>
            <p:ph type="ftr" sz="quarter" idx="11"/>
          </p:nvPr>
        </p:nvSpPr>
        <p:spPr/>
        <p:txBody>
          <a:bodyPr/>
          <a:lstStyle/>
          <a:p>
            <a:r>
              <a:rPr lang="en-US" dirty="0">
                <a:solidFill>
                  <a:prstClr val="white"/>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prstClr val="white"/>
                </a:solidFill>
              </a:rPr>
              <a:pPr/>
              <a:t>30</a:t>
            </a:fld>
            <a:endParaRPr lang="en-US" dirty="0">
              <a:solidFill>
                <a:prstClr val="white"/>
              </a:solidFill>
            </a:endParaRPr>
          </a:p>
        </p:txBody>
      </p:sp>
      <p:sp>
        <p:nvSpPr>
          <p:cNvPr id="8" name="TextBox 7">
            <a:extLst>
              <a:ext uri="{FF2B5EF4-FFF2-40B4-BE49-F238E27FC236}">
                <a16:creationId xmlns:a16="http://schemas.microsoft.com/office/drawing/2014/main" id="{EDB11AAA-5C3C-3754-2BED-63F53107C7A7}"/>
              </a:ext>
            </a:extLst>
          </p:cNvPr>
          <p:cNvSpPr txBox="1"/>
          <p:nvPr/>
        </p:nvSpPr>
        <p:spPr>
          <a:xfrm>
            <a:off x="397670" y="1371600"/>
            <a:ext cx="8593929" cy="4842351"/>
          </a:xfrm>
          <a:prstGeom prst="rect">
            <a:avLst/>
          </a:prstGeom>
          <a:noFill/>
        </p:spPr>
        <p:txBody>
          <a:bodyPr wrap="square">
            <a:spAutoFit/>
          </a:bodyPr>
          <a:lstStyle/>
          <a:p>
            <a:pPr marL="285750" marR="0" indent="-285750" algn="just">
              <a:lnSpc>
                <a:spcPct val="107000"/>
              </a:lnSpc>
              <a:spcBef>
                <a:spcPts val="0"/>
              </a:spcBef>
              <a:spcAft>
                <a:spcPts val="800"/>
              </a:spcAft>
              <a:buFont typeface="Wingdings" panose="05000000000000000000" pitchFamily="2" charset="2"/>
              <a:buChar char="q"/>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Disadvantage:</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Evaluation of time complexity using step count is easy but the disadvantage of this method is it does not dependent on operands. For example, both a=a+10 and a=a+10000000 have the same step count.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285750" marR="0" indent="-285750" algn="just">
              <a:lnSpc>
                <a:spcPct val="107000"/>
              </a:lnSpc>
              <a:spcBef>
                <a:spcPts val="0"/>
              </a:spcBef>
              <a:spcAft>
                <a:spcPts val="800"/>
              </a:spcAft>
              <a:buFont typeface="Wingdings" panose="05000000000000000000" pitchFamily="2" charset="2"/>
              <a:buChar char="q"/>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Operation count: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Operation count is another way of performing algorithm analysis.  The idea is to count the number of operations instead of steps for algorithm analysis. Operations can be divided into elementary (basic) and non-elementary (non-basic operations) . Commonly used basic operations are </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assignment, comparison, arithmetic and logical</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operations.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285750" marR="0" indent="-285750" algn="just">
              <a:lnSpc>
                <a:spcPct val="107000"/>
              </a:lnSpc>
              <a:spcBef>
                <a:spcPts val="0"/>
              </a:spcBef>
              <a:spcAft>
                <a:spcPts val="800"/>
              </a:spcAft>
              <a:buFont typeface="Wingdings" panose="05000000000000000000" pitchFamily="2" charset="2"/>
              <a:buChar char="q"/>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Non elementary operations involve many elementary operations. ( example soring and finding the maximum </a:t>
            </a:r>
            <a:r>
              <a:rPr lang="en-US" b="1" dirty="0">
                <a:latin typeface="Times New Roman" panose="02020603050405020304" pitchFamily="18" charset="0"/>
                <a:ea typeface="Calibri" panose="020F0502020204030204" pitchFamily="34" charset="0"/>
                <a:cs typeface="Times New Roman" panose="02020603050405020304" pitchFamily="18" charset="0"/>
              </a:rPr>
              <a:t>or </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minimum of an array).</a:t>
            </a:r>
            <a:endParaRPr lang="en-US" sz="1600" b="1" dirty="0">
              <a:effectLst/>
              <a:latin typeface="Calibri" panose="020F0502020204030204" pitchFamily="34" charset="0"/>
              <a:ea typeface="Calibri" panose="020F0502020204030204" pitchFamily="34" charset="0"/>
              <a:cs typeface="Times New Roman" panose="02020603050405020304" pitchFamily="18" charset="0"/>
            </a:endParaRPr>
          </a:p>
          <a:p>
            <a:pPr marL="285750" marR="0" indent="-285750" algn="just">
              <a:lnSpc>
                <a:spcPct val="107000"/>
              </a:lnSpc>
              <a:spcBef>
                <a:spcPts val="0"/>
              </a:spcBef>
              <a:spcAft>
                <a:spcPts val="800"/>
              </a:spcAft>
              <a:buFont typeface="Wingdings" panose="05000000000000000000" pitchFamily="2" charset="2"/>
              <a:buChar char="q"/>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Steps required for performing an operation count is as follows: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gn="just">
              <a:lnSpc>
                <a:spcPct val="107000"/>
              </a:lnSpc>
              <a:spcAft>
                <a:spcPts val="800"/>
              </a:spcAft>
              <a:buFont typeface="Wingdings" panose="05000000000000000000" pitchFamily="2" charset="2"/>
              <a:buChar char="q"/>
            </a:pPr>
            <a:r>
              <a:rPr lang="en-US" dirty="0">
                <a:effectLst/>
                <a:latin typeface="Times New Roman" panose="02020603050405020304" pitchFamily="18" charset="0"/>
                <a:ea typeface="Calibri" panose="020F0502020204030204" pitchFamily="34" charset="0"/>
                <a:cs typeface="Times New Roman" panose="02020603050405020304" pitchFamily="18" charset="0"/>
              </a:rPr>
              <a:t> Count the number of basic operations of a program and express it as a formula</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gn="just">
              <a:lnSpc>
                <a:spcPct val="107000"/>
              </a:lnSpc>
              <a:spcAft>
                <a:spcPts val="800"/>
              </a:spcAft>
              <a:buFont typeface="Wingdings" panose="05000000000000000000" pitchFamily="2" charset="2"/>
              <a:buChar char="q"/>
            </a:pPr>
            <a:r>
              <a:rPr lang="en-US" dirty="0">
                <a:effectLst/>
                <a:latin typeface="Times New Roman" panose="02020603050405020304" pitchFamily="18" charset="0"/>
                <a:ea typeface="Calibri" panose="020F0502020204030204" pitchFamily="34" charset="0"/>
                <a:cs typeface="Times New Roman" panose="02020603050405020304" pitchFamily="18" charset="0"/>
              </a:rPr>
              <a:t>Simplify the formula</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gn="just">
              <a:lnSpc>
                <a:spcPct val="107000"/>
              </a:lnSpc>
              <a:spcAft>
                <a:spcPts val="800"/>
              </a:spcAft>
              <a:buFont typeface="Wingdings" panose="05000000000000000000" pitchFamily="2" charset="2"/>
              <a:buChar char="q"/>
            </a:pPr>
            <a:r>
              <a:rPr lang="en-US" dirty="0">
                <a:effectLst/>
                <a:latin typeface="Times New Roman" panose="02020603050405020304" pitchFamily="18" charset="0"/>
                <a:ea typeface="Calibri" panose="020F0502020204030204" pitchFamily="34" charset="0"/>
                <a:cs typeface="Times New Roman" panose="02020603050405020304" pitchFamily="18" charset="0"/>
              </a:rPr>
              <a:t>Represent time complexity as a function of operation count.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601252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b="1" dirty="0">
                <a:effectLst/>
                <a:latin typeface="+mj-lt"/>
                <a:ea typeface="Times New Roman" panose="02020603050405020304" pitchFamily="18" charset="0"/>
                <a:cs typeface="Times New Roman" panose="02020603050405020304" pitchFamily="18" charset="0"/>
              </a:rPr>
              <a:t>Performance Analysis </a:t>
            </a:r>
            <a:endParaRPr lang="en-US" sz="2800" dirty="0">
              <a:effectLst/>
              <a:latin typeface="+mj-lt"/>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prstClr val="white"/>
                </a:solidFill>
              </a:rPr>
              <a:pPr/>
              <a:t>March 13, 2024</a:t>
            </a:fld>
            <a:endParaRPr lang="en-US">
              <a:solidFill>
                <a:prstClr val="white"/>
              </a:solidFill>
            </a:endParaRPr>
          </a:p>
        </p:txBody>
      </p:sp>
      <p:sp>
        <p:nvSpPr>
          <p:cNvPr id="5" name="Footer Placeholder 4"/>
          <p:cNvSpPr>
            <a:spLocks noGrp="1"/>
          </p:cNvSpPr>
          <p:nvPr>
            <p:ph type="ftr" sz="quarter" idx="11"/>
          </p:nvPr>
        </p:nvSpPr>
        <p:spPr/>
        <p:txBody>
          <a:bodyPr/>
          <a:lstStyle/>
          <a:p>
            <a:r>
              <a:rPr lang="en-US" dirty="0">
                <a:solidFill>
                  <a:prstClr val="white"/>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prstClr val="white"/>
                </a:solidFill>
              </a:rPr>
              <a:pPr/>
              <a:t>31</a:t>
            </a:fld>
            <a:endParaRPr lang="en-US" dirty="0">
              <a:solidFill>
                <a:prstClr val="white"/>
              </a:solidFill>
            </a:endParaRPr>
          </a:p>
        </p:txBody>
      </p:sp>
      <p:sp>
        <p:nvSpPr>
          <p:cNvPr id="8" name="TextBox 7">
            <a:extLst>
              <a:ext uri="{FF2B5EF4-FFF2-40B4-BE49-F238E27FC236}">
                <a16:creationId xmlns:a16="http://schemas.microsoft.com/office/drawing/2014/main" id="{EDB11AAA-5C3C-3754-2BED-63F53107C7A7}"/>
              </a:ext>
            </a:extLst>
          </p:cNvPr>
          <p:cNvSpPr txBox="1"/>
          <p:nvPr/>
        </p:nvSpPr>
        <p:spPr>
          <a:xfrm>
            <a:off x="397670" y="1371600"/>
            <a:ext cx="8593929" cy="3565720"/>
          </a:xfrm>
          <a:prstGeom prst="rect">
            <a:avLst/>
          </a:prstGeom>
          <a:noFill/>
        </p:spPr>
        <p:txBody>
          <a:bodyPr wrap="square">
            <a:spAutoFit/>
          </a:bodyPr>
          <a:lstStyle/>
          <a:p>
            <a:pPr marL="0" marR="0" algn="just">
              <a:lnSpc>
                <a:spcPct val="107000"/>
              </a:lnSpc>
              <a:spcBef>
                <a:spcPts val="0"/>
              </a:spcBef>
              <a:spcAft>
                <a:spcPts val="8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Finding operation count: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Sequence: Let us consider the following algorithm segment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Begin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457200" algn="just">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S1</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457200" algn="just">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S2</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End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256383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b="1" dirty="0">
                <a:effectLst/>
                <a:latin typeface="+mj-lt"/>
                <a:ea typeface="Times New Roman" panose="02020603050405020304" pitchFamily="18" charset="0"/>
                <a:cs typeface="Times New Roman" panose="02020603050405020304" pitchFamily="18" charset="0"/>
              </a:rPr>
              <a:t>Performance Analysis </a:t>
            </a:r>
            <a:endParaRPr lang="en-US" sz="2800" dirty="0">
              <a:effectLst/>
              <a:latin typeface="+mj-lt"/>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prstClr val="white"/>
                </a:solidFill>
              </a:rPr>
              <a:pPr/>
              <a:t>March 13, 2024</a:t>
            </a:fld>
            <a:endParaRPr lang="en-US">
              <a:solidFill>
                <a:prstClr val="white"/>
              </a:solidFill>
            </a:endParaRPr>
          </a:p>
        </p:txBody>
      </p:sp>
      <p:sp>
        <p:nvSpPr>
          <p:cNvPr id="5" name="Footer Placeholder 4"/>
          <p:cNvSpPr>
            <a:spLocks noGrp="1"/>
          </p:cNvSpPr>
          <p:nvPr>
            <p:ph type="ftr" sz="quarter" idx="11"/>
          </p:nvPr>
        </p:nvSpPr>
        <p:spPr/>
        <p:txBody>
          <a:bodyPr/>
          <a:lstStyle/>
          <a:p>
            <a:r>
              <a:rPr lang="en-US" dirty="0">
                <a:solidFill>
                  <a:prstClr val="white"/>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prstClr val="white"/>
                </a:solidFill>
              </a:rPr>
              <a:pPr/>
              <a:t>32</a:t>
            </a:fld>
            <a:endParaRPr lang="en-US" dirty="0">
              <a:solidFill>
                <a:prstClr val="white"/>
              </a:solidFill>
            </a:endParaRPr>
          </a:p>
        </p:txBody>
      </p:sp>
      <p:sp>
        <p:nvSpPr>
          <p:cNvPr id="8" name="TextBox 7">
            <a:extLst>
              <a:ext uri="{FF2B5EF4-FFF2-40B4-BE49-F238E27FC236}">
                <a16:creationId xmlns:a16="http://schemas.microsoft.com/office/drawing/2014/main" id="{EDB11AAA-5C3C-3754-2BED-63F53107C7A7}"/>
              </a:ext>
            </a:extLst>
          </p:cNvPr>
          <p:cNvSpPr txBox="1"/>
          <p:nvPr/>
        </p:nvSpPr>
        <p:spPr>
          <a:xfrm>
            <a:off x="397670" y="1371600"/>
            <a:ext cx="8593929" cy="4147033"/>
          </a:xfrm>
          <a:prstGeom prst="rect">
            <a:avLst/>
          </a:prstGeom>
          <a:noFill/>
        </p:spPr>
        <p:txBody>
          <a:bodyPr wrap="square">
            <a:spAutoFit/>
          </a:bodyPr>
          <a:lstStyle/>
          <a:p>
            <a:pPr marL="0" marR="0" algn="just">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Let statement sq requires m operations and statement  s2 requires n operations , then whole algorithm statement requires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m+n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operations and called addition principle.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 Selection </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i="1" dirty="0">
                <a:effectLst/>
                <a:latin typeface="Times New Roman" panose="02020603050405020304" pitchFamily="18" charset="0"/>
                <a:ea typeface="Calibri" panose="020F0502020204030204" pitchFamily="34" charset="0"/>
                <a:cs typeface="Times New Roman" panose="02020603050405020304" pitchFamily="18" charset="0"/>
              </a:rPr>
              <a:t>if(condition C) then statement P   else statement Q</a:t>
            </a:r>
            <a:endParaRPr lang="en-US" sz="1800" b="1" i="1"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Let statement P requires m operations and statement Q requires n operations, thus if then else statement requires </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max(</a:t>
            </a:r>
            <a:r>
              <a:rPr lang="en-US" sz="1800" b="1" dirty="0" err="1">
                <a:effectLst/>
                <a:latin typeface="Times New Roman" panose="02020603050405020304" pitchFamily="18" charset="0"/>
                <a:ea typeface="Calibri" panose="020F0502020204030204" pitchFamily="34" charset="0"/>
                <a:cs typeface="Times New Roman" panose="02020603050405020304" pitchFamily="18" charset="0"/>
              </a:rPr>
              <a:t>m,n</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operations. Thus, the maximum number of operations </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of either with the ‘if part’ or the ‘else part’ is considered as the operation count of this segment.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1800" b="1" dirty="0">
                <a:effectLst/>
                <a:latin typeface="Times New Roman" panose="02020603050405020304" pitchFamily="18" charset="0"/>
                <a:ea typeface="Calibri" panose="020F0502020204030204" pitchFamily="34" charset="0"/>
              </a:rPr>
              <a:t>Repetition: </a:t>
            </a:r>
            <a:r>
              <a:rPr lang="en-US" sz="1800" dirty="0">
                <a:effectLst/>
                <a:latin typeface="Times New Roman" panose="02020603050405020304" pitchFamily="18" charset="0"/>
                <a:ea typeface="Calibri" panose="020F0502020204030204" pitchFamily="34" charset="0"/>
              </a:rPr>
              <a:t>There are three types of repetition. If loop executes a </a:t>
            </a:r>
            <a:r>
              <a:rPr lang="en-US" sz="1800" b="1" dirty="0">
                <a:effectLst/>
                <a:latin typeface="Times New Roman" panose="02020603050405020304" pitchFamily="18" charset="0"/>
                <a:ea typeface="Calibri" panose="020F0502020204030204" pitchFamily="34" charset="0"/>
              </a:rPr>
              <a:t>task n times and if the task involves m operations </a:t>
            </a:r>
            <a:r>
              <a:rPr lang="en-US" sz="1800" dirty="0">
                <a:effectLst/>
                <a:latin typeface="Times New Roman" panose="02020603050405020304" pitchFamily="18" charset="0"/>
                <a:ea typeface="Calibri" panose="020F0502020204030204" pitchFamily="34" charset="0"/>
              </a:rPr>
              <a:t>, then the operation count is given </a:t>
            </a:r>
            <a:r>
              <a:rPr lang="en-US" sz="1800" b="1" dirty="0" err="1">
                <a:effectLst/>
                <a:latin typeface="Times New Roman" panose="02020603050405020304" pitchFamily="18" charset="0"/>
                <a:ea typeface="Calibri" panose="020F0502020204030204" pitchFamily="34" charset="0"/>
              </a:rPr>
              <a:t>nxm</a:t>
            </a:r>
            <a:r>
              <a:rPr lang="en-US" sz="1800" dirty="0">
                <a:effectLst/>
                <a:latin typeface="Times New Roman" panose="02020603050405020304" pitchFamily="18" charset="0"/>
                <a:ea typeface="Calibri" panose="020F0502020204030204" pitchFamily="34" charset="0"/>
              </a:rPr>
              <a:t> . This is called multiplication principle.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132367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b="1" dirty="0">
                <a:effectLst/>
                <a:latin typeface="+mj-lt"/>
                <a:ea typeface="Times New Roman" panose="02020603050405020304" pitchFamily="18" charset="0"/>
                <a:cs typeface="Times New Roman" panose="02020603050405020304" pitchFamily="18" charset="0"/>
              </a:rPr>
              <a:t>Performance Analysis </a:t>
            </a:r>
            <a:endParaRPr lang="en-US" sz="2800" dirty="0">
              <a:effectLst/>
              <a:latin typeface="+mj-lt"/>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prstClr val="white"/>
                </a:solidFill>
              </a:rPr>
              <a:pPr/>
              <a:t>March 13, 2024</a:t>
            </a:fld>
            <a:endParaRPr lang="en-US">
              <a:solidFill>
                <a:prstClr val="white"/>
              </a:solidFill>
            </a:endParaRPr>
          </a:p>
        </p:txBody>
      </p:sp>
      <p:sp>
        <p:nvSpPr>
          <p:cNvPr id="5" name="Footer Placeholder 4"/>
          <p:cNvSpPr>
            <a:spLocks noGrp="1"/>
          </p:cNvSpPr>
          <p:nvPr>
            <p:ph type="ftr" sz="quarter" idx="11"/>
          </p:nvPr>
        </p:nvSpPr>
        <p:spPr/>
        <p:txBody>
          <a:bodyPr/>
          <a:lstStyle/>
          <a:p>
            <a:r>
              <a:rPr lang="en-US" dirty="0">
                <a:solidFill>
                  <a:prstClr val="white"/>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prstClr val="white"/>
                </a:solidFill>
              </a:rPr>
              <a:pPr/>
              <a:t>33</a:t>
            </a:fld>
            <a:endParaRPr lang="en-US" dirty="0">
              <a:solidFill>
                <a:prstClr val="white"/>
              </a:solidFill>
            </a:endParaRPr>
          </a:p>
        </p:txBody>
      </p:sp>
      <p:graphicFrame>
        <p:nvGraphicFramePr>
          <p:cNvPr id="3" name="Table 2">
            <a:extLst>
              <a:ext uri="{FF2B5EF4-FFF2-40B4-BE49-F238E27FC236}">
                <a16:creationId xmlns:a16="http://schemas.microsoft.com/office/drawing/2014/main" id="{CA55A4BB-BCCB-6947-179F-FFBEFDEA0030}"/>
              </a:ext>
            </a:extLst>
          </p:cNvPr>
          <p:cNvGraphicFramePr>
            <a:graphicFrameLocks noGrp="1"/>
          </p:cNvGraphicFramePr>
          <p:nvPr>
            <p:extLst>
              <p:ext uri="{D42A27DB-BD31-4B8C-83A1-F6EECF244321}">
                <p14:modId xmlns:p14="http://schemas.microsoft.com/office/powerpoint/2010/main" val="2503945458"/>
              </p:ext>
            </p:extLst>
          </p:nvPr>
        </p:nvGraphicFramePr>
        <p:xfrm>
          <a:off x="914400" y="1506905"/>
          <a:ext cx="7498080" cy="3474723"/>
        </p:xfrm>
        <a:graphic>
          <a:graphicData uri="http://schemas.openxmlformats.org/drawingml/2006/table">
            <a:tbl>
              <a:tblPr firstRow="1" firstCol="1" bandRow="1">
                <a:tableStyleId>{5C22544A-7EE6-4342-B048-85BDC9FD1C3A}</a:tableStyleId>
              </a:tblPr>
              <a:tblGrid>
                <a:gridCol w="1249680">
                  <a:extLst>
                    <a:ext uri="{9D8B030D-6E8A-4147-A177-3AD203B41FA5}">
                      <a16:colId xmlns:a16="http://schemas.microsoft.com/office/drawing/2014/main" val="772095317"/>
                    </a:ext>
                  </a:extLst>
                </a:gridCol>
                <a:gridCol w="1249680">
                  <a:extLst>
                    <a:ext uri="{9D8B030D-6E8A-4147-A177-3AD203B41FA5}">
                      <a16:colId xmlns:a16="http://schemas.microsoft.com/office/drawing/2014/main" val="1384698575"/>
                    </a:ext>
                  </a:extLst>
                </a:gridCol>
                <a:gridCol w="1249680">
                  <a:extLst>
                    <a:ext uri="{9D8B030D-6E8A-4147-A177-3AD203B41FA5}">
                      <a16:colId xmlns:a16="http://schemas.microsoft.com/office/drawing/2014/main" val="2978088931"/>
                    </a:ext>
                  </a:extLst>
                </a:gridCol>
                <a:gridCol w="1249680">
                  <a:extLst>
                    <a:ext uri="{9D8B030D-6E8A-4147-A177-3AD203B41FA5}">
                      <a16:colId xmlns:a16="http://schemas.microsoft.com/office/drawing/2014/main" val="2986606232"/>
                    </a:ext>
                  </a:extLst>
                </a:gridCol>
                <a:gridCol w="1249680">
                  <a:extLst>
                    <a:ext uri="{9D8B030D-6E8A-4147-A177-3AD203B41FA5}">
                      <a16:colId xmlns:a16="http://schemas.microsoft.com/office/drawing/2014/main" val="3130933496"/>
                    </a:ext>
                  </a:extLst>
                </a:gridCol>
                <a:gridCol w="1249680">
                  <a:extLst>
                    <a:ext uri="{9D8B030D-6E8A-4147-A177-3AD203B41FA5}">
                      <a16:colId xmlns:a16="http://schemas.microsoft.com/office/drawing/2014/main" val="2729185937"/>
                    </a:ext>
                  </a:extLst>
                </a:gridCol>
              </a:tblGrid>
              <a:tr h="496389">
                <a:tc>
                  <a:txBody>
                    <a:bodyPr/>
                    <a:lstStyle/>
                    <a:p>
                      <a:pPr marL="0" marR="0" algn="just">
                        <a:lnSpc>
                          <a:spcPct val="107000"/>
                        </a:lnSpc>
                        <a:spcBef>
                          <a:spcPts val="0"/>
                        </a:spcBef>
                        <a:spcAft>
                          <a:spcPts val="0"/>
                        </a:spcAft>
                      </a:pPr>
                      <a:r>
                        <a:rPr lang="en-US" sz="1200">
                          <a:effectLst/>
                        </a:rPr>
                        <a:t>Step number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Program</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Operations accounted for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Operation cost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Repetitions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Total cost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8303019"/>
                  </a:ext>
                </a:extLst>
              </a:tr>
              <a:tr h="496389">
                <a:tc>
                  <a:txBody>
                    <a:bodyPr/>
                    <a:lstStyle/>
                    <a:p>
                      <a:pPr marL="0" marR="0" algn="just">
                        <a:lnSpc>
                          <a:spcPct val="107000"/>
                        </a:lnSpc>
                        <a:spcBef>
                          <a:spcPts val="0"/>
                        </a:spcBef>
                        <a:spcAft>
                          <a:spcPts val="0"/>
                        </a:spcAft>
                      </a:pPr>
                      <a:r>
                        <a:rPr lang="en-US" sz="12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Algorithm swap(a,b)</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59842188"/>
                  </a:ext>
                </a:extLst>
              </a:tr>
              <a:tr h="496389">
                <a:tc>
                  <a:txBody>
                    <a:bodyPr/>
                    <a:lstStyle/>
                    <a:p>
                      <a:pPr marL="0" marR="0" algn="just">
                        <a:lnSpc>
                          <a:spcPct val="107000"/>
                        </a:lnSpc>
                        <a:spcBef>
                          <a:spcPts val="0"/>
                        </a:spcBef>
                        <a:spcAft>
                          <a:spcPts val="0"/>
                        </a:spcAft>
                      </a:pPr>
                      <a:r>
                        <a:rPr lang="en-US" sz="1200">
                          <a:effectLst/>
                        </a:rPr>
                        <a:t>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Begin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dirty="0">
                          <a:effectLst/>
                        </a:rPr>
                        <a: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22975541"/>
                  </a:ext>
                </a:extLst>
              </a:tr>
              <a:tr h="496389">
                <a:tc>
                  <a:txBody>
                    <a:bodyPr/>
                    <a:lstStyle/>
                    <a:p>
                      <a:pPr marL="0" marR="0" algn="just">
                        <a:lnSpc>
                          <a:spcPct val="107000"/>
                        </a:lnSpc>
                        <a:spcBef>
                          <a:spcPts val="0"/>
                        </a:spcBef>
                        <a:spcAft>
                          <a:spcPts val="0"/>
                        </a:spcAft>
                      </a:pPr>
                      <a:r>
                        <a:rPr lang="en-US" sz="1200">
                          <a:effectLst/>
                        </a:rPr>
                        <a:t>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  temp=a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assignment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C1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C1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13886331"/>
                  </a:ext>
                </a:extLst>
              </a:tr>
              <a:tr h="496389">
                <a:tc>
                  <a:txBody>
                    <a:bodyPr/>
                    <a:lstStyle/>
                    <a:p>
                      <a:pPr marL="0" marR="0" algn="just">
                        <a:lnSpc>
                          <a:spcPct val="107000"/>
                        </a:lnSpc>
                        <a:spcBef>
                          <a:spcPts val="0"/>
                        </a:spcBef>
                        <a:spcAft>
                          <a:spcPts val="0"/>
                        </a:spcAft>
                      </a:pPr>
                      <a:r>
                        <a:rPr lang="en-US" sz="1200">
                          <a:effectLst/>
                        </a:rPr>
                        <a:t>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a=b</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assignment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C2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C2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33530773"/>
                  </a:ext>
                </a:extLst>
              </a:tr>
              <a:tr h="496389">
                <a:tc>
                  <a:txBody>
                    <a:bodyPr/>
                    <a:lstStyle/>
                    <a:p>
                      <a:pPr marL="0" marR="0" algn="just">
                        <a:lnSpc>
                          <a:spcPct val="107000"/>
                        </a:lnSpc>
                        <a:spcBef>
                          <a:spcPts val="0"/>
                        </a:spcBef>
                        <a:spcAft>
                          <a:spcPts val="0"/>
                        </a:spcAft>
                      </a:pPr>
                      <a:r>
                        <a:rPr lang="en-US" sz="1200">
                          <a:effectLst/>
                        </a:rPr>
                        <a:t>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b=temp</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Assignment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C3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C3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83899233"/>
                  </a:ext>
                </a:extLst>
              </a:tr>
              <a:tr h="496389">
                <a:tc>
                  <a:txBody>
                    <a:bodyPr/>
                    <a:lstStyle/>
                    <a:p>
                      <a:pPr marL="0" marR="0" algn="just">
                        <a:lnSpc>
                          <a:spcPct val="107000"/>
                        </a:lnSpc>
                        <a:spcBef>
                          <a:spcPts val="0"/>
                        </a:spcBef>
                        <a:spcAft>
                          <a:spcPts val="0"/>
                        </a:spcAft>
                      </a:pPr>
                      <a:r>
                        <a:rPr lang="en-US" sz="1200">
                          <a:effectLst/>
                        </a:rPr>
                        <a:t>6</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end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26246421"/>
                  </a:ext>
                </a:extLst>
              </a:tr>
            </a:tbl>
          </a:graphicData>
        </a:graphic>
      </p:graphicFrame>
      <p:sp>
        <p:nvSpPr>
          <p:cNvPr id="9" name="TextBox 8">
            <a:extLst>
              <a:ext uri="{FF2B5EF4-FFF2-40B4-BE49-F238E27FC236}">
                <a16:creationId xmlns:a16="http://schemas.microsoft.com/office/drawing/2014/main" id="{AEFE0AC1-1ABE-ECA2-FDA0-EAA3B7A1AC6D}"/>
              </a:ext>
            </a:extLst>
          </p:cNvPr>
          <p:cNvSpPr txBox="1"/>
          <p:nvPr/>
        </p:nvSpPr>
        <p:spPr>
          <a:xfrm>
            <a:off x="1066800" y="5351095"/>
            <a:ext cx="4586286" cy="374077"/>
          </a:xfrm>
          <a:prstGeom prst="rect">
            <a:avLst/>
          </a:prstGeom>
          <a:noFill/>
        </p:spPr>
        <p:txBody>
          <a:bodyPr wrap="square">
            <a:spAutoFit/>
          </a:bodyPr>
          <a:lstStyle/>
          <a:p>
            <a:pPr marL="0" marR="0" algn="just">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T(n)= C1+C2+C3</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889354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b="1" dirty="0">
                <a:effectLst/>
                <a:latin typeface="+mj-lt"/>
                <a:ea typeface="Times New Roman" panose="02020603050405020304" pitchFamily="18" charset="0"/>
                <a:cs typeface="Times New Roman" panose="02020603050405020304" pitchFamily="18" charset="0"/>
              </a:rPr>
              <a:t>Performance Analysis </a:t>
            </a:r>
            <a:endParaRPr lang="en-US" sz="2800" dirty="0">
              <a:effectLst/>
              <a:latin typeface="+mj-lt"/>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prstClr val="white"/>
                </a:solidFill>
              </a:rPr>
              <a:pPr/>
              <a:t>March 13, 2024</a:t>
            </a:fld>
            <a:endParaRPr lang="en-US">
              <a:solidFill>
                <a:prstClr val="white"/>
              </a:solidFill>
            </a:endParaRPr>
          </a:p>
        </p:txBody>
      </p:sp>
      <p:sp>
        <p:nvSpPr>
          <p:cNvPr id="5" name="Footer Placeholder 4"/>
          <p:cNvSpPr>
            <a:spLocks noGrp="1"/>
          </p:cNvSpPr>
          <p:nvPr>
            <p:ph type="ftr" sz="quarter" idx="11"/>
          </p:nvPr>
        </p:nvSpPr>
        <p:spPr/>
        <p:txBody>
          <a:bodyPr/>
          <a:lstStyle/>
          <a:p>
            <a:r>
              <a:rPr lang="en-US" dirty="0">
                <a:solidFill>
                  <a:prstClr val="white"/>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prstClr val="white"/>
                </a:solidFill>
              </a:rPr>
              <a:pPr/>
              <a:t>34</a:t>
            </a:fld>
            <a:endParaRPr lang="en-US" dirty="0">
              <a:solidFill>
                <a:prstClr val="white"/>
              </a:solidFill>
            </a:endParaRPr>
          </a:p>
        </p:txBody>
      </p:sp>
      <p:graphicFrame>
        <p:nvGraphicFramePr>
          <p:cNvPr id="7" name="Table 6">
            <a:extLst>
              <a:ext uri="{FF2B5EF4-FFF2-40B4-BE49-F238E27FC236}">
                <a16:creationId xmlns:a16="http://schemas.microsoft.com/office/drawing/2014/main" id="{3CBE9B50-2A84-72F3-5F24-E331EF61A2C5}"/>
              </a:ext>
            </a:extLst>
          </p:cNvPr>
          <p:cNvGraphicFramePr>
            <a:graphicFrameLocks noGrp="1"/>
          </p:cNvGraphicFramePr>
          <p:nvPr>
            <p:extLst>
              <p:ext uri="{D42A27DB-BD31-4B8C-83A1-F6EECF244321}">
                <p14:modId xmlns:p14="http://schemas.microsoft.com/office/powerpoint/2010/main" val="1746693416"/>
              </p:ext>
            </p:extLst>
          </p:nvPr>
        </p:nvGraphicFramePr>
        <p:xfrm>
          <a:off x="594360" y="1524272"/>
          <a:ext cx="7406640" cy="3307915"/>
        </p:xfrm>
        <a:graphic>
          <a:graphicData uri="http://schemas.openxmlformats.org/drawingml/2006/table">
            <a:tbl>
              <a:tblPr firstRow="1" firstCol="1" bandRow="1">
                <a:tableStyleId>{5C22544A-7EE6-4342-B048-85BDC9FD1C3A}</a:tableStyleId>
              </a:tblPr>
              <a:tblGrid>
                <a:gridCol w="1233384">
                  <a:extLst>
                    <a:ext uri="{9D8B030D-6E8A-4147-A177-3AD203B41FA5}">
                      <a16:colId xmlns:a16="http://schemas.microsoft.com/office/drawing/2014/main" val="524407709"/>
                    </a:ext>
                  </a:extLst>
                </a:gridCol>
                <a:gridCol w="1400522">
                  <a:extLst>
                    <a:ext uri="{9D8B030D-6E8A-4147-A177-3AD203B41FA5}">
                      <a16:colId xmlns:a16="http://schemas.microsoft.com/office/drawing/2014/main" val="1795298697"/>
                    </a:ext>
                  </a:extLst>
                </a:gridCol>
                <a:gridCol w="1070990">
                  <a:extLst>
                    <a:ext uri="{9D8B030D-6E8A-4147-A177-3AD203B41FA5}">
                      <a16:colId xmlns:a16="http://schemas.microsoft.com/office/drawing/2014/main" val="507450823"/>
                    </a:ext>
                  </a:extLst>
                </a:gridCol>
                <a:gridCol w="1233384">
                  <a:extLst>
                    <a:ext uri="{9D8B030D-6E8A-4147-A177-3AD203B41FA5}">
                      <a16:colId xmlns:a16="http://schemas.microsoft.com/office/drawing/2014/main" val="1319819189"/>
                    </a:ext>
                  </a:extLst>
                </a:gridCol>
                <a:gridCol w="1234180">
                  <a:extLst>
                    <a:ext uri="{9D8B030D-6E8A-4147-A177-3AD203B41FA5}">
                      <a16:colId xmlns:a16="http://schemas.microsoft.com/office/drawing/2014/main" val="2479080065"/>
                    </a:ext>
                  </a:extLst>
                </a:gridCol>
                <a:gridCol w="1234180">
                  <a:extLst>
                    <a:ext uri="{9D8B030D-6E8A-4147-A177-3AD203B41FA5}">
                      <a16:colId xmlns:a16="http://schemas.microsoft.com/office/drawing/2014/main" val="4222373935"/>
                    </a:ext>
                  </a:extLst>
                </a:gridCol>
              </a:tblGrid>
              <a:tr h="454905">
                <a:tc>
                  <a:txBody>
                    <a:bodyPr/>
                    <a:lstStyle/>
                    <a:p>
                      <a:pPr marL="0" marR="0" algn="just">
                        <a:lnSpc>
                          <a:spcPct val="107000"/>
                        </a:lnSpc>
                        <a:spcBef>
                          <a:spcPts val="0"/>
                        </a:spcBef>
                        <a:spcAft>
                          <a:spcPts val="0"/>
                        </a:spcAft>
                      </a:pPr>
                      <a:r>
                        <a:rPr lang="en-US" sz="1200" dirty="0">
                          <a:effectLst/>
                        </a:rPr>
                        <a:t>Step number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Program</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Operations accounted for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Operation cost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Repetitions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Total cost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12667057"/>
                  </a:ext>
                </a:extLst>
              </a:tr>
              <a:tr h="454905">
                <a:tc>
                  <a:txBody>
                    <a:bodyPr/>
                    <a:lstStyle/>
                    <a:p>
                      <a:pPr marL="0" marR="0" algn="just">
                        <a:lnSpc>
                          <a:spcPct val="107000"/>
                        </a:lnSpc>
                        <a:spcBef>
                          <a:spcPts val="0"/>
                        </a:spcBef>
                        <a:spcAft>
                          <a:spcPts val="0"/>
                        </a:spcAft>
                      </a:pPr>
                      <a:r>
                        <a:rPr lang="en-US" sz="12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dirty="0">
                          <a:effectLst/>
                        </a:rPr>
                        <a:t>Algorithm sample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05090104"/>
                  </a:ext>
                </a:extLst>
              </a:tr>
              <a:tr h="454905">
                <a:tc>
                  <a:txBody>
                    <a:bodyPr/>
                    <a:lstStyle/>
                    <a:p>
                      <a:pPr marL="0" marR="0" algn="just">
                        <a:lnSpc>
                          <a:spcPct val="107000"/>
                        </a:lnSpc>
                        <a:spcBef>
                          <a:spcPts val="0"/>
                        </a:spcBef>
                        <a:spcAft>
                          <a:spcPts val="0"/>
                        </a:spcAft>
                      </a:pPr>
                      <a:r>
                        <a:rPr lang="en-US" sz="1200">
                          <a:effectLst/>
                        </a:rPr>
                        <a:t>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dirty="0">
                          <a:effectLst/>
                        </a:rPr>
                        <a:t>Begin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58870112"/>
                  </a:ext>
                </a:extLst>
              </a:tr>
              <a:tr h="562408">
                <a:tc>
                  <a:txBody>
                    <a:bodyPr/>
                    <a:lstStyle/>
                    <a:p>
                      <a:pPr marL="0" marR="0" algn="just">
                        <a:lnSpc>
                          <a:spcPct val="107000"/>
                        </a:lnSpc>
                        <a:spcBef>
                          <a:spcPts val="0"/>
                        </a:spcBef>
                        <a:spcAft>
                          <a:spcPts val="0"/>
                        </a:spcAft>
                      </a:pPr>
                      <a:r>
                        <a:rPr lang="en-US" sz="1200">
                          <a:effectLst/>
                        </a:rPr>
                        <a:t>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dirty="0">
                          <a:effectLst/>
                        </a:rPr>
                        <a:t> for k=1 to n do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dirty="0">
                          <a:effectLst/>
                        </a:rPr>
                        <a:t>Assignment, testing and increment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C1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n+1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(n+1)*c1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70903144"/>
                  </a:ext>
                </a:extLst>
              </a:tr>
              <a:tr h="454905">
                <a:tc>
                  <a:txBody>
                    <a:bodyPr/>
                    <a:lstStyle/>
                    <a:p>
                      <a:pPr marL="0" marR="0" algn="just">
                        <a:lnSpc>
                          <a:spcPct val="107000"/>
                        </a:lnSpc>
                        <a:spcBef>
                          <a:spcPts val="0"/>
                        </a:spcBef>
                        <a:spcAft>
                          <a:spcPts val="0"/>
                        </a:spcAft>
                      </a:pPr>
                      <a:r>
                        <a:rPr lang="en-US" sz="1200">
                          <a:effectLst/>
                        </a:rPr>
                        <a:t>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A=a*k</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Perform multiplication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dirty="0">
                          <a:effectLst/>
                        </a:rPr>
                        <a:t>C2</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dirty="0">
                          <a:effectLst/>
                        </a:rPr>
                        <a:t>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n*c2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82224363"/>
                  </a:ext>
                </a:extLst>
              </a:tr>
              <a:tr h="454905">
                <a:tc>
                  <a:txBody>
                    <a:bodyPr/>
                    <a:lstStyle/>
                    <a:p>
                      <a:pPr marL="0" marR="0" algn="just">
                        <a:lnSpc>
                          <a:spcPct val="107000"/>
                        </a:lnSpc>
                        <a:spcBef>
                          <a:spcPts val="0"/>
                        </a:spcBef>
                        <a:spcAft>
                          <a:spcPts val="0"/>
                        </a:spcAft>
                      </a:pPr>
                      <a:r>
                        <a:rPr lang="en-US" sz="1200">
                          <a:effectLst/>
                        </a:rPr>
                        <a:t>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End For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80837753"/>
                  </a:ext>
                </a:extLst>
              </a:tr>
              <a:tr h="454905">
                <a:tc>
                  <a:txBody>
                    <a:bodyPr/>
                    <a:lstStyle/>
                    <a:p>
                      <a:pPr marL="0" marR="0" algn="just">
                        <a:lnSpc>
                          <a:spcPct val="107000"/>
                        </a:lnSpc>
                        <a:spcBef>
                          <a:spcPts val="0"/>
                        </a:spcBef>
                        <a:spcAft>
                          <a:spcPts val="0"/>
                        </a:spcAft>
                      </a:pPr>
                      <a:r>
                        <a:rPr lang="en-US" sz="1200">
                          <a:effectLst/>
                        </a:rPr>
                        <a:t>6</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End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2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85611193"/>
                  </a:ext>
                </a:extLst>
              </a:tr>
            </a:tbl>
          </a:graphicData>
        </a:graphic>
      </p:graphicFrame>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6B856CE-F542-04C2-FA45-EEC8EB67A959}"/>
                  </a:ext>
                </a:extLst>
              </p:cNvPr>
              <p:cNvSpPr txBox="1"/>
              <p:nvPr/>
            </p:nvSpPr>
            <p:spPr>
              <a:xfrm>
                <a:off x="1371600" y="5146689"/>
                <a:ext cx="4586286" cy="374077"/>
              </a:xfrm>
              <a:prstGeom prst="rect">
                <a:avLst/>
              </a:prstGeom>
              <a:noFill/>
            </p:spPr>
            <p:txBody>
              <a:bodyPr wrap="square">
                <a:spAutoFit/>
              </a:bodyPr>
              <a:lstStyle/>
              <a:p>
                <a:pPr marL="0" marR="0" algn="just">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T(n)= (n+1) *c1+n*c2=(c1+c2) n+c1 </a:t>
                </a:r>
                <a14:m>
                  <m:oMath xmlns:m="http://schemas.openxmlformats.org/officeDocument/2006/math">
                    <m:r>
                      <a:rPr lang="en-US" sz="1800" i="1">
                        <a:effectLst/>
                        <a:latin typeface="Cambria Math" panose="02040503050406030204" pitchFamily="18" charset="0"/>
                        <a:ea typeface="Calibri" panose="020F0502020204030204" pitchFamily="34" charset="0"/>
                        <a:cs typeface="Times New Roman" panose="02020603050405020304" pitchFamily="18" charset="0"/>
                      </a:rPr>
                      <m:t>≈</m:t>
                    </m:r>
                  </m:oMath>
                </a14:m>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cn</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0" name="TextBox 9">
                <a:extLst>
                  <a:ext uri="{FF2B5EF4-FFF2-40B4-BE49-F238E27FC236}">
                    <a16:creationId xmlns:a16="http://schemas.microsoft.com/office/drawing/2014/main" id="{F6B856CE-F542-04C2-FA45-EEC8EB67A959}"/>
                  </a:ext>
                </a:extLst>
              </p:cNvPr>
              <p:cNvSpPr txBox="1">
                <a:spLocks noRot="1" noChangeAspect="1" noMove="1" noResize="1" noEditPoints="1" noAdjustHandles="1" noChangeArrowheads="1" noChangeShapeType="1" noTextEdit="1"/>
              </p:cNvSpPr>
              <p:nvPr/>
            </p:nvSpPr>
            <p:spPr>
              <a:xfrm>
                <a:off x="1371600" y="5146689"/>
                <a:ext cx="4586286" cy="374077"/>
              </a:xfrm>
              <a:prstGeom prst="rect">
                <a:avLst/>
              </a:prstGeom>
              <a:blipFill>
                <a:blip r:embed="rId2"/>
                <a:stretch>
                  <a:fillRect l="-1064" t="-8065" b="-22581"/>
                </a:stretch>
              </a:blipFill>
            </p:spPr>
            <p:txBody>
              <a:bodyPr/>
              <a:lstStyle/>
              <a:p>
                <a:r>
                  <a:rPr lang="en-US">
                    <a:noFill/>
                  </a:rPr>
                  <a:t> </a:t>
                </a:r>
              </a:p>
            </p:txBody>
          </p:sp>
        </mc:Fallback>
      </mc:AlternateContent>
    </p:spTree>
    <p:extLst>
      <p:ext uri="{BB962C8B-B14F-4D97-AF65-F5344CB8AC3E}">
        <p14:creationId xmlns:p14="http://schemas.microsoft.com/office/powerpoint/2010/main" val="30060976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b="1" dirty="0">
                <a:effectLst/>
                <a:latin typeface="+mj-lt"/>
                <a:ea typeface="Times New Roman" panose="02020603050405020304" pitchFamily="18" charset="0"/>
                <a:cs typeface="Times New Roman" panose="02020603050405020304" pitchFamily="18" charset="0"/>
              </a:rPr>
              <a:t>Performance Analysis </a:t>
            </a:r>
            <a:endParaRPr lang="en-US" sz="2800" dirty="0">
              <a:effectLst/>
              <a:latin typeface="+mj-lt"/>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prstClr val="white"/>
                </a:solidFill>
              </a:rPr>
              <a:pPr/>
              <a:t>March 13, 2024</a:t>
            </a:fld>
            <a:endParaRPr lang="en-US">
              <a:solidFill>
                <a:prstClr val="white"/>
              </a:solidFill>
            </a:endParaRPr>
          </a:p>
        </p:txBody>
      </p:sp>
      <p:sp>
        <p:nvSpPr>
          <p:cNvPr id="5" name="Footer Placeholder 4"/>
          <p:cNvSpPr>
            <a:spLocks noGrp="1"/>
          </p:cNvSpPr>
          <p:nvPr>
            <p:ph type="ftr" sz="quarter" idx="11"/>
          </p:nvPr>
        </p:nvSpPr>
        <p:spPr/>
        <p:txBody>
          <a:bodyPr/>
          <a:lstStyle/>
          <a:p>
            <a:r>
              <a:rPr lang="en-US" dirty="0">
                <a:solidFill>
                  <a:prstClr val="white"/>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prstClr val="white"/>
                </a:solidFill>
              </a:rPr>
              <a:pPr/>
              <a:t>35</a:t>
            </a:fld>
            <a:endParaRPr lang="en-US" dirty="0">
              <a:solidFill>
                <a:prstClr val="white"/>
              </a:solidFill>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21C585B-4B9B-F24D-443B-103A34124CE4}"/>
                  </a:ext>
                </a:extLst>
              </p:cNvPr>
              <p:cNvSpPr txBox="1"/>
              <p:nvPr/>
            </p:nvSpPr>
            <p:spPr>
              <a:xfrm>
                <a:off x="595314" y="1447800"/>
                <a:ext cx="8167686" cy="4673267"/>
              </a:xfrm>
              <a:prstGeom prst="rect">
                <a:avLst/>
              </a:prstGeom>
              <a:noFill/>
            </p:spPr>
            <p:txBody>
              <a:bodyPr wrap="square">
                <a:spAutoFit/>
              </a:bodyPr>
              <a:lstStyle/>
              <a:p>
                <a:pPr marL="0" marR="0" algn="just">
                  <a:lnSpc>
                    <a:spcPct val="107000"/>
                  </a:lnSpc>
                  <a:spcBef>
                    <a:spcPts val="0"/>
                  </a:spcBef>
                  <a:spcAft>
                    <a:spcPts val="80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Analysis of dominant operations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Counting all the operation of an entire algorithm may be difficult task. It would be much simple if the count of only the dominant operation is taken into account.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for i=1 to n do</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914400" marR="0" algn="just">
                  <a:lnSpc>
                    <a:spcPct val="107000"/>
                  </a:lnSpc>
                  <a:spcBef>
                    <a:spcPts val="0"/>
                  </a:spcBef>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for j=1  to n do</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914400" marR="0" algn="just">
                  <a:lnSpc>
                    <a:spcPct val="107000"/>
                  </a:lnSpc>
                  <a:spcBef>
                    <a:spcPts val="0"/>
                  </a:spcBef>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a=b*c</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914400" marR="0" algn="just">
                  <a:lnSpc>
                    <a:spcPct val="107000"/>
                  </a:lnSpc>
                  <a:spcBef>
                    <a:spcPts val="0"/>
                  </a:spcBef>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end for</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914400" marR="0" algn="just">
                  <a:lnSpc>
                    <a:spcPct val="107000"/>
                  </a:lnSpc>
                  <a:spcBef>
                    <a:spcPts val="0"/>
                  </a:spcBef>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end for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914400" marR="0" algn="just">
                  <a:lnSpc>
                    <a:spcPct val="107000"/>
                  </a:lnSpc>
                  <a:spcBef>
                    <a:spcPts val="0"/>
                  </a:spcBef>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914400" marR="0" algn="just">
                  <a:lnSpc>
                    <a:spcPct val="107000"/>
                  </a:lnSpc>
                  <a:spcBef>
                    <a:spcPts val="0"/>
                  </a:spcBef>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count = </a:t>
                </a:r>
                <a14:m>
                  <m:oMath xmlns:m="http://schemas.openxmlformats.org/officeDocument/2006/math">
                    <m:nary>
                      <m:naryPr>
                        <m:chr m:val="∑"/>
                        <m:limLoc m:val="undOv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naryPr>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=1</m:t>
                        </m:r>
                      </m:sub>
                      <m:sup>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𝑛</m:t>
                        </m:r>
                      </m:sup>
                      <m:e>
                        <m:nary>
                          <m:naryPr>
                            <m:chr m:val="∑"/>
                            <m:limLoc m:val="undOv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naryPr>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𝑗</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=1</m:t>
                            </m:r>
                          </m:sub>
                          <m:sup>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𝑛</m:t>
                            </m:r>
                          </m:sup>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1</m:t>
                            </m:r>
                          </m:e>
                        </m:nary>
                      </m:e>
                    </m:nary>
                  </m:oMath>
                </a14:m>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nary>
                      <m:naryPr>
                        <m:chr m:val="∑"/>
                        <m:limLoc m:val="undOv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naryPr>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=1</m:t>
                        </m:r>
                      </m:sub>
                      <m:sup>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𝑛</m:t>
                        </m:r>
                      </m:sup>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𝑛</m:t>
                        </m:r>
                      </m:e>
                    </m:nary>
                  </m:oMath>
                </a14:m>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=n</a:t>
                </a:r>
                <a:r>
                  <a:rPr lang="en-US" sz="1800" baseline="30000" dirty="0">
                    <a:effectLst/>
                    <a:latin typeface="Times New Roman" panose="02020603050405020304" pitchFamily="18" charset="0"/>
                    <a:ea typeface="Times New Roman" panose="02020603050405020304" pitchFamily="18" charset="0"/>
                    <a:cs typeface="Times New Roman" panose="02020603050405020304" pitchFamily="18" charset="0"/>
                  </a:rPr>
                  <a:t>2</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800" baseline="300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914400" marR="0" algn="just">
                  <a:lnSpc>
                    <a:spcPct val="107000"/>
                  </a:lnSpc>
                  <a:spcBef>
                    <a:spcPts val="0"/>
                  </a:spcBef>
                  <a:spcAft>
                    <a:spcPts val="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Therefore it can be inferred that the run time is n</a:t>
                </a:r>
                <a:r>
                  <a:rPr lang="en-US" sz="1800" b="1" baseline="30000" dirty="0">
                    <a:effectLst/>
                    <a:latin typeface="Times New Roman" panose="02020603050405020304" pitchFamily="18" charset="0"/>
                    <a:ea typeface="Times New Roman" panose="02020603050405020304" pitchFamily="18" charset="0"/>
                    <a:cs typeface="Times New Roman" panose="02020603050405020304" pitchFamily="18" charset="0"/>
                  </a:rPr>
                  <a:t>2</a:t>
                </a:r>
                <a:endParaRPr lang="en-US" sz="16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800" baseline="300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8" name="TextBox 7">
                <a:extLst>
                  <a:ext uri="{FF2B5EF4-FFF2-40B4-BE49-F238E27FC236}">
                    <a16:creationId xmlns:a16="http://schemas.microsoft.com/office/drawing/2014/main" id="{421C585B-4B9B-F24D-443B-103A34124CE4}"/>
                  </a:ext>
                </a:extLst>
              </p:cNvPr>
              <p:cNvSpPr txBox="1">
                <a:spLocks noRot="1" noChangeAspect="1" noMove="1" noResize="1" noEditPoints="1" noAdjustHandles="1" noChangeArrowheads="1" noChangeShapeType="1" noTextEdit="1"/>
              </p:cNvSpPr>
              <p:nvPr/>
            </p:nvSpPr>
            <p:spPr>
              <a:xfrm>
                <a:off x="595314" y="1447800"/>
                <a:ext cx="8167686" cy="4673267"/>
              </a:xfrm>
              <a:prstGeom prst="rect">
                <a:avLst/>
              </a:prstGeom>
              <a:blipFill>
                <a:blip r:embed="rId2"/>
                <a:stretch>
                  <a:fillRect l="-672" t="-783" r="-597"/>
                </a:stretch>
              </a:blipFill>
            </p:spPr>
            <p:txBody>
              <a:bodyPr/>
              <a:lstStyle/>
              <a:p>
                <a:r>
                  <a:rPr lang="en-US">
                    <a:noFill/>
                  </a:rPr>
                  <a:t> </a:t>
                </a:r>
              </a:p>
            </p:txBody>
          </p:sp>
        </mc:Fallback>
      </mc:AlternateContent>
    </p:spTree>
    <p:extLst>
      <p:ext uri="{BB962C8B-B14F-4D97-AF65-F5344CB8AC3E}">
        <p14:creationId xmlns:p14="http://schemas.microsoft.com/office/powerpoint/2010/main" val="39807076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b="1" dirty="0">
                <a:effectLst/>
                <a:latin typeface="+mj-lt"/>
                <a:ea typeface="Times New Roman" panose="02020603050405020304" pitchFamily="18" charset="0"/>
                <a:cs typeface="Times New Roman" panose="02020603050405020304" pitchFamily="18" charset="0"/>
              </a:rPr>
              <a:t>Performance Analysis </a:t>
            </a:r>
            <a:endParaRPr lang="en-US" sz="2800" dirty="0">
              <a:effectLst/>
              <a:latin typeface="+mj-lt"/>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prstClr val="white"/>
                </a:solidFill>
              </a:rPr>
              <a:pPr/>
              <a:t>March 13, 2024</a:t>
            </a:fld>
            <a:endParaRPr lang="en-US">
              <a:solidFill>
                <a:prstClr val="white"/>
              </a:solidFill>
            </a:endParaRPr>
          </a:p>
        </p:txBody>
      </p:sp>
      <p:sp>
        <p:nvSpPr>
          <p:cNvPr id="5" name="Footer Placeholder 4"/>
          <p:cNvSpPr>
            <a:spLocks noGrp="1"/>
          </p:cNvSpPr>
          <p:nvPr>
            <p:ph type="ftr" sz="quarter" idx="11"/>
          </p:nvPr>
        </p:nvSpPr>
        <p:spPr/>
        <p:txBody>
          <a:bodyPr/>
          <a:lstStyle/>
          <a:p>
            <a:r>
              <a:rPr lang="en-US" dirty="0">
                <a:solidFill>
                  <a:prstClr val="white"/>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prstClr val="white"/>
                </a:solidFill>
              </a:rPr>
              <a:pPr/>
              <a:t>36</a:t>
            </a:fld>
            <a:endParaRPr lang="en-US" dirty="0">
              <a:solidFill>
                <a:prstClr val="white"/>
              </a:solidFill>
            </a:endParaRPr>
          </a:p>
        </p:txBody>
      </p:sp>
      <p:sp>
        <p:nvSpPr>
          <p:cNvPr id="8" name="TextBox 7">
            <a:extLst>
              <a:ext uri="{FF2B5EF4-FFF2-40B4-BE49-F238E27FC236}">
                <a16:creationId xmlns:a16="http://schemas.microsoft.com/office/drawing/2014/main" id="{421C585B-4B9B-F24D-443B-103A34124CE4}"/>
              </a:ext>
            </a:extLst>
          </p:cNvPr>
          <p:cNvSpPr txBox="1"/>
          <p:nvPr/>
        </p:nvSpPr>
        <p:spPr>
          <a:xfrm>
            <a:off x="595314" y="1447800"/>
            <a:ext cx="8167686" cy="4034502"/>
          </a:xfrm>
          <a:prstGeom prst="rect">
            <a:avLst/>
          </a:prstGeom>
          <a:noFill/>
        </p:spPr>
        <p:txBody>
          <a:bodyPr wrap="square">
            <a:spAutoFit/>
          </a:bodyPr>
          <a:lstStyle/>
          <a:p>
            <a:pPr marL="285750" marR="0" indent="-285750" algn="just">
              <a:lnSpc>
                <a:spcPct val="107000"/>
              </a:lnSpc>
              <a:spcBef>
                <a:spcPts val="0"/>
              </a:spcBef>
              <a:spcAft>
                <a:spcPts val="800"/>
              </a:spcAft>
              <a:buFont typeface="Wingdings" panose="05000000000000000000" pitchFamily="2" charset="2"/>
              <a:buChar char="q"/>
            </a:pPr>
            <a:r>
              <a:rPr lang="en-US" sz="1800" b="1" dirty="0">
                <a:effectLst/>
                <a:ea typeface="Times New Roman" panose="02020603050405020304" pitchFamily="18" charset="0"/>
                <a:cs typeface="Times New Roman" panose="02020603050405020304" pitchFamily="18" charset="0"/>
              </a:rPr>
              <a:t>Uni-cost model</a:t>
            </a:r>
            <a:r>
              <a:rPr lang="en-US" sz="1800" dirty="0">
                <a:effectLst/>
                <a:ea typeface="Times New Roman" panose="02020603050405020304" pitchFamily="18" charset="0"/>
                <a:cs typeface="Times New Roman" panose="02020603050405020304" pitchFamily="18" charset="0"/>
              </a:rPr>
              <a:t>: in a uniform cost model, the cost for performing an operation is assumed to be one. The cost is not dependent on the operand.</a:t>
            </a:r>
            <a:endParaRPr lang="en-US" sz="1800" dirty="0">
              <a:effectLst/>
              <a:ea typeface="Calibri" panose="020F0502020204030204" pitchFamily="34" charset="0"/>
              <a:cs typeface="Times New Roman" panose="02020603050405020304" pitchFamily="18" charset="0"/>
            </a:endParaRPr>
          </a:p>
          <a:p>
            <a:pPr marL="285750" marR="0" indent="-285750" algn="just">
              <a:lnSpc>
                <a:spcPct val="107000"/>
              </a:lnSpc>
              <a:spcBef>
                <a:spcPts val="0"/>
              </a:spcBef>
              <a:spcAft>
                <a:spcPts val="0"/>
              </a:spcAft>
              <a:buFont typeface="Wingdings" panose="05000000000000000000" pitchFamily="2" charset="2"/>
              <a:buChar char="q"/>
            </a:pPr>
            <a:r>
              <a:rPr lang="en-US" sz="1800" dirty="0">
                <a:effectLst/>
                <a:ea typeface="Times New Roman" panose="02020603050405020304" pitchFamily="18" charset="0"/>
                <a:cs typeface="Times New Roman" panose="02020603050405020304" pitchFamily="18" charset="0"/>
              </a:rPr>
              <a:t>logarithm cost model: in a logarithmic cost model, the cost is dependent on the operand. If a larger integer is used, then the cost is determined as the logarithm of the size of operand multiplied by a factor </a:t>
            </a:r>
            <a:r>
              <a:rPr lang="en-US" sz="1800" b="1" dirty="0">
                <a:effectLst/>
                <a:ea typeface="Times New Roman" panose="02020603050405020304" pitchFamily="18" charset="0"/>
                <a:cs typeface="Times New Roman" panose="02020603050405020304" pitchFamily="18" charset="0"/>
              </a:rPr>
              <a:t>C(</a:t>
            </a:r>
            <a:r>
              <a:rPr lang="en-US" sz="1800" b="1" dirty="0" err="1">
                <a:effectLst/>
                <a:ea typeface="Times New Roman" panose="02020603050405020304" pitchFamily="18" charset="0"/>
                <a:cs typeface="Times New Roman" panose="02020603050405020304" pitchFamily="18" charset="0"/>
              </a:rPr>
              <a:t>eg</a:t>
            </a:r>
            <a:r>
              <a:rPr lang="en-US" sz="1800" b="1" dirty="0">
                <a:effectLst/>
                <a:ea typeface="Times New Roman" panose="02020603050405020304" pitchFamily="18" charset="0"/>
                <a:cs typeface="Times New Roman" panose="02020603050405020304" pitchFamily="18" charset="0"/>
              </a:rPr>
              <a:t> clogn).</a:t>
            </a:r>
            <a:r>
              <a:rPr lang="en-US" sz="1800" dirty="0">
                <a:effectLst/>
                <a:ea typeface="Times New Roman" panose="02020603050405020304" pitchFamily="18" charset="0"/>
                <a:cs typeface="Times New Roman" panose="02020603050405020304" pitchFamily="18" charset="0"/>
              </a:rPr>
              <a:t> This model can easily be simulated in a real word computer by scaling down the computer time with a constant.</a:t>
            </a:r>
            <a:endParaRPr lang="en-US" sz="1800" dirty="0">
              <a:effectLst/>
              <a:ea typeface="Calibri" panose="020F0502020204030204" pitchFamily="34" charset="0"/>
              <a:cs typeface="Times New Roman" panose="02020603050405020304" pitchFamily="18" charset="0"/>
            </a:endParaRPr>
          </a:p>
          <a:p>
            <a:pPr marL="285750" marR="0" indent="-285750" algn="just">
              <a:lnSpc>
                <a:spcPct val="107000"/>
              </a:lnSpc>
              <a:spcBef>
                <a:spcPts val="0"/>
              </a:spcBef>
              <a:spcAft>
                <a:spcPts val="0"/>
              </a:spcAft>
              <a:buFont typeface="Wingdings" panose="05000000000000000000" pitchFamily="2" charset="2"/>
              <a:buChar char="q"/>
            </a:pPr>
            <a:r>
              <a:rPr lang="en-US" sz="1800" dirty="0">
                <a:effectLst/>
                <a:ea typeface="Times New Roman" panose="02020603050405020304" pitchFamily="18" charset="0"/>
                <a:cs typeface="Times New Roman" panose="02020603050405020304" pitchFamily="18" charset="0"/>
              </a:rPr>
              <a:t>Mathematical analysis (or a priori analysis or theoretical analysis) is performed before the algorithm is translated into a program. Thus, mathematical analysis is used to estimate time complexity in terms of step count or operation count.</a:t>
            </a:r>
            <a:endParaRPr lang="en-US" sz="1800" dirty="0">
              <a:effectLst/>
              <a:ea typeface="Calibri" panose="020F0502020204030204" pitchFamily="34" charset="0"/>
              <a:cs typeface="Times New Roman" panose="02020603050405020304" pitchFamily="18" charset="0"/>
            </a:endParaRPr>
          </a:p>
          <a:p>
            <a:pPr marL="285750" marR="0" indent="-285750" algn="just">
              <a:lnSpc>
                <a:spcPct val="107000"/>
              </a:lnSpc>
              <a:spcBef>
                <a:spcPts val="0"/>
              </a:spcBef>
              <a:spcAft>
                <a:spcPts val="0"/>
              </a:spcAft>
              <a:buFont typeface="Wingdings" panose="05000000000000000000" pitchFamily="2" charset="2"/>
              <a:buChar char="q"/>
            </a:pPr>
            <a:r>
              <a:rPr lang="en-US" sz="1800" dirty="0">
                <a:effectLst/>
                <a:ea typeface="Times New Roman" panose="02020603050405020304" pitchFamily="18" charset="0"/>
                <a:cs typeface="Times New Roman" panose="02020603050405020304" pitchFamily="18" charset="0"/>
              </a:rPr>
              <a:t> </a:t>
            </a:r>
            <a:r>
              <a:rPr lang="en-US" sz="1800" b="1" dirty="0">
                <a:effectLst/>
                <a:ea typeface="Times New Roman" panose="02020603050405020304" pitchFamily="18" charset="0"/>
                <a:cs typeface="Times New Roman" panose="02020603050405020304" pitchFamily="18" charset="0"/>
              </a:rPr>
              <a:t>Mathematical analysis is independent of any particular machine, programming language, operating systems, compiler etc.</a:t>
            </a:r>
          </a:p>
          <a:p>
            <a:pPr marL="285750" indent="-285750" algn="just">
              <a:lnSpc>
                <a:spcPct val="107000"/>
              </a:lnSpc>
              <a:buFont typeface="Wingdings" panose="05000000000000000000" pitchFamily="2" charset="2"/>
              <a:buChar char="q"/>
            </a:pPr>
            <a:r>
              <a:rPr lang="en-US" sz="1800" dirty="0">
                <a:effectLst/>
                <a:ea typeface="Times New Roman" panose="02020603050405020304" pitchFamily="18" charset="0"/>
                <a:cs typeface="Times New Roman" panose="02020603050405020304" pitchFamily="18" charset="0"/>
              </a:rPr>
              <a:t>It is applied before the algorithm is converted into a program.</a:t>
            </a:r>
            <a:endParaRPr lang="en-US" sz="18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1968523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b="1" dirty="0">
                <a:effectLst/>
                <a:latin typeface="+mj-lt"/>
                <a:ea typeface="Times New Roman" panose="02020603050405020304" pitchFamily="18" charset="0"/>
                <a:cs typeface="Times New Roman" panose="02020603050405020304" pitchFamily="18" charset="0"/>
              </a:rPr>
              <a:t>Performance Analysis </a:t>
            </a:r>
            <a:endParaRPr lang="en-US" sz="2800" dirty="0">
              <a:effectLst/>
              <a:latin typeface="+mj-lt"/>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prstClr val="white"/>
                </a:solidFill>
              </a:rPr>
              <a:pPr/>
              <a:t>March 13, 2024</a:t>
            </a:fld>
            <a:endParaRPr lang="en-US">
              <a:solidFill>
                <a:prstClr val="white"/>
              </a:solidFill>
            </a:endParaRPr>
          </a:p>
        </p:txBody>
      </p:sp>
      <p:sp>
        <p:nvSpPr>
          <p:cNvPr id="5" name="Footer Placeholder 4"/>
          <p:cNvSpPr>
            <a:spLocks noGrp="1"/>
          </p:cNvSpPr>
          <p:nvPr>
            <p:ph type="ftr" sz="quarter" idx="11"/>
          </p:nvPr>
        </p:nvSpPr>
        <p:spPr/>
        <p:txBody>
          <a:bodyPr/>
          <a:lstStyle/>
          <a:p>
            <a:r>
              <a:rPr lang="en-US" dirty="0">
                <a:solidFill>
                  <a:prstClr val="white"/>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prstClr val="white"/>
                </a:solidFill>
              </a:rPr>
              <a:pPr/>
              <a:t>37</a:t>
            </a:fld>
            <a:endParaRPr lang="en-US" dirty="0">
              <a:solidFill>
                <a:prstClr val="white"/>
              </a:solidFill>
            </a:endParaRPr>
          </a:p>
        </p:txBody>
      </p:sp>
      <p:sp>
        <p:nvSpPr>
          <p:cNvPr id="8" name="TextBox 7">
            <a:extLst>
              <a:ext uri="{FF2B5EF4-FFF2-40B4-BE49-F238E27FC236}">
                <a16:creationId xmlns:a16="http://schemas.microsoft.com/office/drawing/2014/main" id="{421C585B-4B9B-F24D-443B-103A34124CE4}"/>
              </a:ext>
            </a:extLst>
          </p:cNvPr>
          <p:cNvSpPr txBox="1"/>
          <p:nvPr/>
        </p:nvSpPr>
        <p:spPr>
          <a:xfrm>
            <a:off x="595314" y="1447800"/>
            <a:ext cx="8167686" cy="2153731"/>
          </a:xfrm>
          <a:prstGeom prst="rect">
            <a:avLst/>
          </a:prstGeom>
          <a:noFill/>
        </p:spPr>
        <p:txBody>
          <a:bodyPr wrap="square">
            <a:spAutoFit/>
          </a:bodyPr>
          <a:lstStyle/>
          <a:p>
            <a:pPr marL="0" marR="0" algn="just">
              <a:lnSpc>
                <a:spcPct val="107000"/>
              </a:lnSpc>
              <a:spcBef>
                <a:spcPts val="0"/>
              </a:spcBef>
              <a:spcAft>
                <a:spcPts val="0"/>
              </a:spcAft>
            </a:pPr>
            <a:r>
              <a:rPr lang="en-US" sz="1800" dirty="0">
                <a:effectLst/>
                <a:ea typeface="Times New Roman" panose="02020603050405020304" pitchFamily="18" charset="0"/>
                <a:cs typeface="Times New Roman" panose="02020603050405020304" pitchFamily="18" charset="0"/>
              </a:rPr>
              <a:t> </a:t>
            </a:r>
            <a:r>
              <a:rPr lang="en-US" sz="1800" b="1" dirty="0">
                <a:effectLst/>
                <a:ea typeface="Times New Roman" panose="02020603050405020304" pitchFamily="18" charset="0"/>
                <a:cs typeface="Times New Roman" panose="02020603050405020304" pitchFamily="18" charset="0"/>
              </a:rPr>
              <a:t>Empirical analysis</a:t>
            </a:r>
            <a:endParaRPr lang="en-US" sz="1800" dirty="0">
              <a:effectLst/>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800" dirty="0">
                <a:effectLst/>
                <a:ea typeface="Times New Roman" panose="02020603050405020304" pitchFamily="18" charset="0"/>
                <a:cs typeface="Times New Roman" panose="02020603050405020304" pitchFamily="18" charset="0"/>
              </a:rPr>
              <a:t> </a:t>
            </a:r>
            <a:endParaRPr lang="en-US" sz="1800" dirty="0">
              <a:effectLst/>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800" dirty="0">
                <a:effectLst/>
                <a:ea typeface="Times New Roman" panose="02020603050405020304" pitchFamily="18" charset="0"/>
                <a:cs typeface="Times New Roman" panose="02020603050405020304" pitchFamily="18" charset="0"/>
              </a:rPr>
              <a:t>Empirical analysis is done after the algorithm is converted to a code. This analysis is dependent on the programming language or machine environment results of this analysis are dependent on the distribution of inputs and all machine dependencies are taken into account. </a:t>
            </a:r>
            <a:r>
              <a:rPr lang="en-US" sz="1800" b="1" dirty="0">
                <a:effectLst/>
                <a:ea typeface="Times New Roman" panose="02020603050405020304" pitchFamily="18" charset="0"/>
                <a:cs typeface="Times New Roman" panose="02020603050405020304" pitchFamily="18" charset="0"/>
              </a:rPr>
              <a:t>Mathematical analysis is difficult for lengthy algorithms </a:t>
            </a:r>
            <a:r>
              <a:rPr lang="en-US" sz="1800" dirty="0">
                <a:effectLst/>
                <a:ea typeface="Times New Roman" panose="02020603050405020304" pitchFamily="18" charset="0"/>
                <a:cs typeface="Times New Roman" panose="02020603050405020304" pitchFamily="18" charset="0"/>
              </a:rPr>
              <a:t>but for </a:t>
            </a:r>
            <a:r>
              <a:rPr lang="en-US" sz="1800" b="1" dirty="0">
                <a:effectLst/>
                <a:ea typeface="Times New Roman" panose="02020603050405020304" pitchFamily="18" charset="0"/>
                <a:cs typeface="Times New Roman" panose="02020603050405020304" pitchFamily="18" charset="0"/>
              </a:rPr>
              <a:t>empirical analysis, the length of the program is immaterial.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009066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CEA5E-BB0D-202D-948A-EBC576DEB9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7DFDB0-E705-0BDA-C61F-775E32AF3006}"/>
              </a:ext>
            </a:extLst>
          </p:cNvPr>
          <p:cNvSpPr>
            <a:spLocks noGrp="1"/>
          </p:cNvSpPr>
          <p:nvPr>
            <p:ph type="title"/>
          </p:nvPr>
        </p:nvSpPr>
        <p:spPr/>
        <p:txBody>
          <a:bodyPr>
            <a:normAutofit/>
          </a:bodyPr>
          <a:lstStyle/>
          <a:p>
            <a:pPr>
              <a:lnSpc>
                <a:spcPct val="107000"/>
              </a:lnSpc>
              <a:spcAft>
                <a:spcPts val="800"/>
              </a:spcAft>
            </a:pPr>
            <a:r>
              <a:rPr lang="en-IN" sz="2800" b="1" kern="10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Can we use loops in recursion</a:t>
            </a:r>
            <a:r>
              <a:rPr lang="en-IN" sz="2800" b="1" kern="100" dirty="0">
                <a:effectLst/>
                <a:latin typeface="Calibri" panose="020F0502020204030204" pitchFamily="34" charset="0"/>
                <a:ea typeface="Calibri" panose="020F0502020204030204" pitchFamily="34" charset="0"/>
                <a:cs typeface="Times New Roman" panose="02020603050405020304" pitchFamily="18" charset="0"/>
              </a:rPr>
              <a:t>?</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Date Placeholder 3">
            <a:extLst>
              <a:ext uri="{FF2B5EF4-FFF2-40B4-BE49-F238E27FC236}">
                <a16:creationId xmlns:a16="http://schemas.microsoft.com/office/drawing/2014/main" id="{9871B4F9-E154-BC33-6AA3-AD078D2336A4}"/>
              </a:ext>
            </a:extLst>
          </p:cNvPr>
          <p:cNvSpPr>
            <a:spLocks noGrp="1"/>
          </p:cNvSpPr>
          <p:nvPr>
            <p:ph type="dt" sz="half" idx="10"/>
          </p:nvPr>
        </p:nvSpPr>
        <p:spPr/>
        <p:txBody>
          <a:bodyPr/>
          <a:lstStyle/>
          <a:p>
            <a:fld id="{F6C643BA-ACA1-44BF-9071-763295A35907}" type="datetime4">
              <a:rPr lang="en-US" smtClean="0">
                <a:solidFill>
                  <a:prstClr val="white"/>
                </a:solidFill>
              </a:rPr>
              <a:pPr/>
              <a:t>March 13, 2024</a:t>
            </a:fld>
            <a:endParaRPr lang="en-US">
              <a:solidFill>
                <a:prstClr val="white"/>
              </a:solidFill>
            </a:endParaRPr>
          </a:p>
        </p:txBody>
      </p:sp>
      <p:sp>
        <p:nvSpPr>
          <p:cNvPr id="5" name="Footer Placeholder 4">
            <a:extLst>
              <a:ext uri="{FF2B5EF4-FFF2-40B4-BE49-F238E27FC236}">
                <a16:creationId xmlns:a16="http://schemas.microsoft.com/office/drawing/2014/main" id="{07519C20-2240-8DA8-7946-1819A8A3DF30}"/>
              </a:ext>
            </a:extLst>
          </p:cNvPr>
          <p:cNvSpPr>
            <a:spLocks noGrp="1"/>
          </p:cNvSpPr>
          <p:nvPr>
            <p:ph type="ftr" sz="quarter" idx="11"/>
          </p:nvPr>
        </p:nvSpPr>
        <p:spPr/>
        <p:txBody>
          <a:bodyPr/>
          <a:lstStyle/>
          <a:p>
            <a:r>
              <a:rPr lang="en-US" dirty="0">
                <a:solidFill>
                  <a:prstClr val="white"/>
                </a:solidFill>
              </a:rPr>
              <a:t>Department of Computer Science &amp; Engineering, VNRVJIET, Hyderabad</a:t>
            </a:r>
          </a:p>
        </p:txBody>
      </p:sp>
      <p:sp>
        <p:nvSpPr>
          <p:cNvPr id="6" name="Slide Number Placeholder 5">
            <a:extLst>
              <a:ext uri="{FF2B5EF4-FFF2-40B4-BE49-F238E27FC236}">
                <a16:creationId xmlns:a16="http://schemas.microsoft.com/office/drawing/2014/main" id="{5A944AD6-0BC9-B7AA-68A3-634FF68A8993}"/>
              </a:ext>
            </a:extLst>
          </p:cNvPr>
          <p:cNvSpPr>
            <a:spLocks noGrp="1"/>
          </p:cNvSpPr>
          <p:nvPr>
            <p:ph type="sldNum" sz="quarter" idx="12"/>
          </p:nvPr>
        </p:nvSpPr>
        <p:spPr/>
        <p:txBody>
          <a:bodyPr/>
          <a:lstStyle/>
          <a:p>
            <a:fld id="{C4FA3F07-B4E9-4FEB-BC07-B9713C186F28}" type="slidenum">
              <a:rPr lang="en-US" smtClean="0">
                <a:solidFill>
                  <a:prstClr val="white"/>
                </a:solidFill>
              </a:rPr>
              <a:pPr/>
              <a:t>38</a:t>
            </a:fld>
            <a:endParaRPr lang="en-US" dirty="0">
              <a:solidFill>
                <a:prstClr val="white"/>
              </a:solidFill>
            </a:endParaRPr>
          </a:p>
        </p:txBody>
      </p:sp>
      <p:sp>
        <p:nvSpPr>
          <p:cNvPr id="8" name="TextBox 7">
            <a:extLst>
              <a:ext uri="{FF2B5EF4-FFF2-40B4-BE49-F238E27FC236}">
                <a16:creationId xmlns:a16="http://schemas.microsoft.com/office/drawing/2014/main" id="{AB11780D-331E-F57A-9AF6-55E81DECE0A0}"/>
              </a:ext>
            </a:extLst>
          </p:cNvPr>
          <p:cNvSpPr txBox="1"/>
          <p:nvPr/>
        </p:nvSpPr>
        <p:spPr>
          <a:xfrm>
            <a:off x="595314" y="1447800"/>
            <a:ext cx="8167686" cy="4044441"/>
          </a:xfrm>
          <a:prstGeom prst="rect">
            <a:avLst/>
          </a:prstGeom>
          <a:noFill/>
        </p:spPr>
        <p:txBody>
          <a:bodyPr wrap="square">
            <a:spAutoFit/>
          </a:bodyPr>
          <a:lstStyle/>
          <a:p>
            <a:pPr algn="just">
              <a:lnSpc>
                <a:spcPct val="107000"/>
              </a:lnSpc>
              <a:spcAft>
                <a:spcPts val="800"/>
              </a:spcAft>
            </a:pPr>
            <a:r>
              <a:rPr lang="en-US" sz="1800" b="1" kern="0" dirty="0">
                <a:effectLst/>
                <a:latin typeface="Times New Roman" panose="02020603050405020304" pitchFamily="18" charset="0"/>
                <a:ea typeface="Calibri" panose="020F0502020204030204" pitchFamily="34" charset="0"/>
                <a:cs typeface="Times New Roman" panose="02020603050405020304" pitchFamily="18" charset="0"/>
              </a:rPr>
              <a:t>Technically, you can use for and while loops within recursive functions. However, doing so often defeats the purpose of recursion</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which is to break a problem down into smaller, more manageable subproblems.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Recursive functions typically rely on self-calling to solve smaller instances of the same problem until a base case is reached. Introducing loops within </a:t>
            </a:r>
            <a:r>
              <a:rPr lang="en-US" sz="1800" b="1" kern="0" dirty="0">
                <a:effectLst/>
                <a:latin typeface="Times New Roman" panose="02020603050405020304" pitchFamily="18" charset="0"/>
                <a:ea typeface="Calibri" panose="020F0502020204030204" pitchFamily="34" charset="0"/>
                <a:cs typeface="Times New Roman" panose="02020603050405020304" pitchFamily="18" charset="0"/>
              </a:rPr>
              <a:t>recursive functions can lead to unnecessary complexity and might make the code less readable.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Recursion is more intuitive and easier to code than Loop. So, you can say that recursion is better than loop constructs. But Loops have some advantages over recursion. </a:t>
            </a:r>
            <a:r>
              <a:rPr lang="en-IN" sz="1800" b="1" kern="0" dirty="0">
                <a:effectLst/>
                <a:latin typeface="Times New Roman" panose="02020603050405020304" pitchFamily="18" charset="0"/>
                <a:ea typeface="Calibri" panose="020F0502020204030204" pitchFamily="34" charset="0"/>
                <a:cs typeface="Times New Roman" panose="02020603050405020304" pitchFamily="18" charset="0"/>
              </a:rPr>
              <a:t>Recursion may cause Stack Overflow</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if you are making too long (deep) recursive calls.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961284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9CB94-E580-2C68-DB46-B067AB585D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7B2544-A7FD-3BA0-8018-0AD1001444D2}"/>
              </a:ext>
            </a:extLst>
          </p:cNvPr>
          <p:cNvSpPr>
            <a:spLocks noGrp="1"/>
          </p:cNvSpPr>
          <p:nvPr>
            <p:ph type="title"/>
          </p:nvPr>
        </p:nvSpPr>
        <p:spPr/>
        <p:txBody>
          <a:bodyPr>
            <a:normAutofit/>
          </a:bodyPr>
          <a:lstStyle/>
          <a:p>
            <a:pPr>
              <a:lnSpc>
                <a:spcPct val="107000"/>
              </a:lnSpc>
              <a:spcAft>
                <a:spcPts val="800"/>
              </a:spcAft>
            </a:pPr>
            <a:r>
              <a:rPr lang="en-IN" sz="2800" b="1" kern="10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Can we use loops in recursion</a:t>
            </a:r>
            <a:r>
              <a:rPr lang="en-IN" sz="2800" b="1" kern="100" dirty="0">
                <a:effectLst/>
                <a:latin typeface="Calibri" panose="020F0502020204030204" pitchFamily="34" charset="0"/>
                <a:ea typeface="Calibri" panose="020F0502020204030204" pitchFamily="34" charset="0"/>
                <a:cs typeface="Times New Roman" panose="02020603050405020304" pitchFamily="18" charset="0"/>
              </a:rPr>
              <a:t>?</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Date Placeholder 3">
            <a:extLst>
              <a:ext uri="{FF2B5EF4-FFF2-40B4-BE49-F238E27FC236}">
                <a16:creationId xmlns:a16="http://schemas.microsoft.com/office/drawing/2014/main" id="{69242C7A-2A55-D2B7-980F-4EEAF283EC63}"/>
              </a:ext>
            </a:extLst>
          </p:cNvPr>
          <p:cNvSpPr>
            <a:spLocks noGrp="1"/>
          </p:cNvSpPr>
          <p:nvPr>
            <p:ph type="dt" sz="half" idx="10"/>
          </p:nvPr>
        </p:nvSpPr>
        <p:spPr/>
        <p:txBody>
          <a:bodyPr/>
          <a:lstStyle/>
          <a:p>
            <a:fld id="{F6C643BA-ACA1-44BF-9071-763295A35907}" type="datetime4">
              <a:rPr lang="en-US" smtClean="0">
                <a:solidFill>
                  <a:prstClr val="white"/>
                </a:solidFill>
              </a:rPr>
              <a:pPr/>
              <a:t>March 13, 2024</a:t>
            </a:fld>
            <a:endParaRPr lang="en-US">
              <a:solidFill>
                <a:prstClr val="white"/>
              </a:solidFill>
            </a:endParaRPr>
          </a:p>
        </p:txBody>
      </p:sp>
      <p:sp>
        <p:nvSpPr>
          <p:cNvPr id="5" name="Footer Placeholder 4">
            <a:extLst>
              <a:ext uri="{FF2B5EF4-FFF2-40B4-BE49-F238E27FC236}">
                <a16:creationId xmlns:a16="http://schemas.microsoft.com/office/drawing/2014/main" id="{C5ECDAA1-5ED8-4B08-643F-F3B4B5ED78DF}"/>
              </a:ext>
            </a:extLst>
          </p:cNvPr>
          <p:cNvSpPr>
            <a:spLocks noGrp="1"/>
          </p:cNvSpPr>
          <p:nvPr>
            <p:ph type="ftr" sz="quarter" idx="11"/>
          </p:nvPr>
        </p:nvSpPr>
        <p:spPr/>
        <p:txBody>
          <a:bodyPr/>
          <a:lstStyle/>
          <a:p>
            <a:r>
              <a:rPr lang="en-US" dirty="0">
                <a:solidFill>
                  <a:prstClr val="white"/>
                </a:solidFill>
              </a:rPr>
              <a:t>Department of Computer Science &amp; Engineering, VNRVJIET, Hyderabad</a:t>
            </a:r>
          </a:p>
        </p:txBody>
      </p:sp>
      <p:sp>
        <p:nvSpPr>
          <p:cNvPr id="6" name="Slide Number Placeholder 5">
            <a:extLst>
              <a:ext uri="{FF2B5EF4-FFF2-40B4-BE49-F238E27FC236}">
                <a16:creationId xmlns:a16="http://schemas.microsoft.com/office/drawing/2014/main" id="{D3527A96-AE83-A264-5044-F60A838111B9}"/>
              </a:ext>
            </a:extLst>
          </p:cNvPr>
          <p:cNvSpPr>
            <a:spLocks noGrp="1"/>
          </p:cNvSpPr>
          <p:nvPr>
            <p:ph type="sldNum" sz="quarter" idx="12"/>
          </p:nvPr>
        </p:nvSpPr>
        <p:spPr/>
        <p:txBody>
          <a:bodyPr/>
          <a:lstStyle/>
          <a:p>
            <a:fld id="{C4FA3F07-B4E9-4FEB-BC07-B9713C186F28}" type="slidenum">
              <a:rPr lang="en-US" smtClean="0">
                <a:solidFill>
                  <a:prstClr val="white"/>
                </a:solidFill>
              </a:rPr>
              <a:pPr/>
              <a:t>39</a:t>
            </a:fld>
            <a:endParaRPr lang="en-US" dirty="0">
              <a:solidFill>
                <a:prstClr val="white"/>
              </a:solidFill>
            </a:endParaRPr>
          </a:p>
        </p:txBody>
      </p:sp>
      <p:sp>
        <p:nvSpPr>
          <p:cNvPr id="8" name="TextBox 7">
            <a:extLst>
              <a:ext uri="{FF2B5EF4-FFF2-40B4-BE49-F238E27FC236}">
                <a16:creationId xmlns:a16="http://schemas.microsoft.com/office/drawing/2014/main" id="{8331B974-2805-A672-9F8D-68E9441E6D99}"/>
              </a:ext>
            </a:extLst>
          </p:cNvPr>
          <p:cNvSpPr txBox="1"/>
          <p:nvPr/>
        </p:nvSpPr>
        <p:spPr>
          <a:xfrm>
            <a:off x="595314" y="1447800"/>
            <a:ext cx="8167686" cy="4524315"/>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marL="457200"/>
            <a:r>
              <a:rPr lang="en-IN" sz="1600" kern="100" dirty="0">
                <a:effectLst/>
                <a:latin typeface="Consolas" panose="020B0609020204030204" pitchFamily="49" charset="0"/>
                <a:ea typeface="Calibri" panose="020F0502020204030204" pitchFamily="34" charset="0"/>
                <a:cs typeface="Times New Roman" panose="02020603050405020304" pitchFamily="18" charset="0"/>
              </a:rPr>
              <a:t>void swap(int *a, int *b) {</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r>
              <a:rPr lang="en-IN" sz="1600" kern="100" dirty="0">
                <a:effectLst/>
                <a:latin typeface="Consolas" panose="020B0609020204030204" pitchFamily="49" charset="0"/>
                <a:ea typeface="Calibri" panose="020F0502020204030204" pitchFamily="34" charset="0"/>
                <a:cs typeface="Times New Roman" panose="02020603050405020304" pitchFamily="18" charset="0"/>
              </a:rPr>
              <a:t>  int temp = *a;</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r>
              <a:rPr lang="en-IN" sz="1600" kern="100" dirty="0">
                <a:effectLst/>
                <a:latin typeface="Consolas" panose="020B0609020204030204" pitchFamily="49" charset="0"/>
                <a:ea typeface="Calibri" panose="020F0502020204030204" pitchFamily="34" charset="0"/>
                <a:cs typeface="Times New Roman" panose="02020603050405020304" pitchFamily="18" charset="0"/>
              </a:rPr>
              <a:t>  *a = *b;</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r>
              <a:rPr lang="en-IN" sz="1600" kern="100" dirty="0">
                <a:effectLst/>
                <a:latin typeface="Consolas" panose="020B0609020204030204" pitchFamily="49" charset="0"/>
                <a:ea typeface="Calibri" panose="020F0502020204030204" pitchFamily="34" charset="0"/>
                <a:cs typeface="Times New Roman" panose="02020603050405020304" pitchFamily="18" charset="0"/>
              </a:rPr>
              <a:t>  *b = temp;</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r>
              <a:rPr lang="en-IN" sz="1600" kern="100" dirty="0">
                <a:effectLst/>
                <a:latin typeface="Consolas" panose="020B0609020204030204" pitchFamily="49" charset="0"/>
                <a:ea typeface="Calibri" panose="020F0502020204030204" pitchFamily="34" charset="0"/>
                <a:cs typeface="Times New Roman" panose="02020603050405020304" pitchFamily="18" charset="0"/>
              </a:rPr>
              <a:t>}</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r>
              <a:rPr lang="en-IN" sz="1600" kern="100" dirty="0">
                <a:effectLst/>
                <a:latin typeface="Consolas" panose="020B0609020204030204" pitchFamily="49" charset="0"/>
                <a:ea typeface="Calibri" panose="020F0502020204030204" pitchFamily="34" charset="0"/>
                <a:cs typeface="Times New Roman" panose="02020603050405020304" pitchFamily="18" charset="0"/>
              </a:rPr>
              <a:t>void </a:t>
            </a:r>
            <a:r>
              <a:rPr lang="en-IN" sz="1600" kern="100" dirty="0" err="1">
                <a:effectLst/>
                <a:latin typeface="Consolas" panose="020B0609020204030204" pitchFamily="49" charset="0"/>
                <a:ea typeface="Calibri" panose="020F0502020204030204" pitchFamily="34" charset="0"/>
                <a:cs typeface="Times New Roman" panose="02020603050405020304" pitchFamily="18" charset="0"/>
              </a:rPr>
              <a:t>bSort</a:t>
            </a:r>
            <a:r>
              <a:rPr lang="en-IN" sz="1600" kern="100" dirty="0">
                <a:effectLst/>
                <a:latin typeface="Consolas" panose="020B0609020204030204" pitchFamily="49" charset="0"/>
                <a:ea typeface="Calibri" panose="020F0502020204030204" pitchFamily="34" charset="0"/>
                <a:cs typeface="Times New Roman" panose="02020603050405020304" pitchFamily="18" charset="0"/>
              </a:rPr>
              <a:t>(int </a:t>
            </a:r>
            <a:r>
              <a:rPr lang="en-IN" sz="1600" kern="100" dirty="0" err="1">
                <a:effectLst/>
                <a:latin typeface="Consolas" panose="020B0609020204030204" pitchFamily="49" charset="0"/>
                <a:ea typeface="Calibri" panose="020F0502020204030204" pitchFamily="34" charset="0"/>
                <a:cs typeface="Times New Roman" panose="02020603050405020304" pitchFamily="18" charset="0"/>
              </a:rPr>
              <a:t>arr</a:t>
            </a:r>
            <a:r>
              <a:rPr lang="en-IN" sz="1600" kern="100" dirty="0">
                <a:effectLst/>
                <a:latin typeface="Consolas" panose="020B0609020204030204" pitchFamily="49" charset="0"/>
                <a:ea typeface="Calibri" panose="020F0502020204030204" pitchFamily="34" charset="0"/>
                <a:cs typeface="Times New Roman" panose="02020603050405020304" pitchFamily="18" charset="0"/>
              </a:rPr>
              <a:t>[], int n) {</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r>
              <a:rPr lang="en-IN" sz="1600" kern="100" dirty="0">
                <a:effectLst/>
                <a:latin typeface="Consolas" panose="020B0609020204030204" pitchFamily="49" charset="0"/>
                <a:ea typeface="Calibri" panose="020F0502020204030204" pitchFamily="34" charset="0"/>
                <a:cs typeface="Times New Roman" panose="02020603050405020304" pitchFamily="18" charset="0"/>
              </a:rPr>
              <a:t>  // Use recursion to simulate loop iterations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r>
              <a:rPr lang="en-IN" sz="1600" kern="100" dirty="0">
                <a:effectLst/>
                <a:latin typeface="Consolas" panose="020B0609020204030204" pitchFamily="49" charset="0"/>
                <a:ea typeface="Calibri" panose="020F0502020204030204" pitchFamily="34" charset="0"/>
                <a:cs typeface="Times New Roman" panose="02020603050405020304" pitchFamily="18" charset="0"/>
              </a:rPr>
              <a:t>  if (n == 1) {</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r>
              <a:rPr lang="en-IN" sz="1600" kern="100" dirty="0">
                <a:effectLst/>
                <a:latin typeface="Consolas" panose="020B0609020204030204" pitchFamily="49" charset="0"/>
                <a:ea typeface="Calibri" panose="020F0502020204030204" pitchFamily="34" charset="0"/>
                <a:cs typeface="Times New Roman" panose="02020603050405020304" pitchFamily="18" charset="0"/>
              </a:rPr>
              <a:t>    return; // Base case: array of size 1 is already sorted</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r>
              <a:rPr lang="en-IN" sz="1600" kern="100" dirty="0">
                <a:effectLst/>
                <a:latin typeface="Consolas" panose="020B0609020204030204" pitchFamily="49" charset="0"/>
                <a:ea typeface="Calibri" panose="020F0502020204030204" pitchFamily="34" charset="0"/>
                <a:cs typeface="Times New Roman" panose="02020603050405020304" pitchFamily="18" charset="0"/>
              </a:rPr>
              <a:t>  }</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r>
              <a:rPr lang="en-IN" sz="1600" kern="100" dirty="0">
                <a:effectLst/>
                <a:latin typeface="Consolas" panose="020B0609020204030204" pitchFamily="49" charset="0"/>
                <a:ea typeface="Calibri" panose="020F0502020204030204" pitchFamily="34" charset="0"/>
                <a:cs typeface="Times New Roman" panose="02020603050405020304" pitchFamily="18" charset="0"/>
              </a:rPr>
              <a:t> </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r>
              <a:rPr lang="en-IN" sz="1600" kern="100" dirty="0">
                <a:effectLst/>
                <a:latin typeface="Consolas" panose="020B0609020204030204" pitchFamily="49" charset="0"/>
                <a:ea typeface="Calibri" panose="020F0502020204030204" pitchFamily="34" charset="0"/>
                <a:cs typeface="Times New Roman" panose="02020603050405020304" pitchFamily="18" charset="0"/>
              </a:rPr>
              <a:t>  for (int i = 0; i &lt; n - 1; i++) {</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r>
              <a:rPr lang="en-IN" sz="1600" kern="100" dirty="0">
                <a:effectLst/>
                <a:latin typeface="Consolas" panose="020B0609020204030204" pitchFamily="49" charset="0"/>
                <a:ea typeface="Calibri" panose="020F0502020204030204" pitchFamily="34" charset="0"/>
                <a:cs typeface="Times New Roman" panose="02020603050405020304" pitchFamily="18" charset="0"/>
              </a:rPr>
              <a:t>    if (</a:t>
            </a:r>
            <a:r>
              <a:rPr lang="en-IN" sz="1600" kern="100" dirty="0" err="1">
                <a:effectLst/>
                <a:latin typeface="Consolas" panose="020B0609020204030204" pitchFamily="49" charset="0"/>
                <a:ea typeface="Calibri" panose="020F0502020204030204" pitchFamily="34" charset="0"/>
                <a:cs typeface="Times New Roman" panose="02020603050405020304" pitchFamily="18" charset="0"/>
              </a:rPr>
              <a:t>arr</a:t>
            </a:r>
            <a:r>
              <a:rPr lang="en-IN" sz="1600" kern="100" dirty="0">
                <a:effectLst/>
                <a:latin typeface="Consolas" panose="020B0609020204030204" pitchFamily="49" charset="0"/>
                <a:ea typeface="Calibri" panose="020F0502020204030204" pitchFamily="34" charset="0"/>
                <a:cs typeface="Times New Roman" panose="02020603050405020304" pitchFamily="18" charset="0"/>
              </a:rPr>
              <a:t>[i] &gt; </a:t>
            </a:r>
            <a:r>
              <a:rPr lang="en-IN" sz="1600" kern="100" dirty="0" err="1">
                <a:effectLst/>
                <a:latin typeface="Consolas" panose="020B0609020204030204" pitchFamily="49" charset="0"/>
                <a:ea typeface="Calibri" panose="020F0502020204030204" pitchFamily="34" charset="0"/>
                <a:cs typeface="Times New Roman" panose="02020603050405020304" pitchFamily="18" charset="0"/>
              </a:rPr>
              <a:t>arr</a:t>
            </a:r>
            <a:r>
              <a:rPr lang="en-IN" sz="1600" kern="100" dirty="0">
                <a:effectLst/>
                <a:latin typeface="Consolas" panose="020B0609020204030204" pitchFamily="49" charset="0"/>
                <a:ea typeface="Calibri" panose="020F0502020204030204" pitchFamily="34" charset="0"/>
                <a:cs typeface="Times New Roman" panose="02020603050405020304" pitchFamily="18" charset="0"/>
              </a:rPr>
              <a:t>[i + 1]) {</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r>
              <a:rPr lang="en-IN" sz="1600" kern="100" dirty="0">
                <a:effectLst/>
                <a:latin typeface="Consolas" panose="020B0609020204030204" pitchFamily="49" charset="0"/>
                <a:ea typeface="Calibri" panose="020F0502020204030204" pitchFamily="34" charset="0"/>
                <a:cs typeface="Times New Roman" panose="02020603050405020304" pitchFamily="18" charset="0"/>
              </a:rPr>
              <a:t>      swap(&amp;</a:t>
            </a:r>
            <a:r>
              <a:rPr lang="en-IN" sz="1600" kern="100" dirty="0" err="1">
                <a:effectLst/>
                <a:latin typeface="Consolas" panose="020B0609020204030204" pitchFamily="49" charset="0"/>
                <a:ea typeface="Calibri" panose="020F0502020204030204" pitchFamily="34" charset="0"/>
                <a:cs typeface="Times New Roman" panose="02020603050405020304" pitchFamily="18" charset="0"/>
              </a:rPr>
              <a:t>arr</a:t>
            </a:r>
            <a:r>
              <a:rPr lang="en-IN" sz="1600" kern="100" dirty="0">
                <a:effectLst/>
                <a:latin typeface="Consolas" panose="020B0609020204030204" pitchFamily="49" charset="0"/>
                <a:ea typeface="Calibri" panose="020F0502020204030204" pitchFamily="34" charset="0"/>
                <a:cs typeface="Times New Roman" panose="02020603050405020304" pitchFamily="18" charset="0"/>
              </a:rPr>
              <a:t>[i], &amp;</a:t>
            </a:r>
            <a:r>
              <a:rPr lang="en-IN" sz="1600" kern="100" dirty="0" err="1">
                <a:effectLst/>
                <a:latin typeface="Consolas" panose="020B0609020204030204" pitchFamily="49" charset="0"/>
                <a:ea typeface="Calibri" panose="020F0502020204030204" pitchFamily="34" charset="0"/>
                <a:cs typeface="Times New Roman" panose="02020603050405020304" pitchFamily="18" charset="0"/>
              </a:rPr>
              <a:t>arr</a:t>
            </a:r>
            <a:r>
              <a:rPr lang="en-IN" sz="1600" kern="100" dirty="0">
                <a:effectLst/>
                <a:latin typeface="Consolas" panose="020B0609020204030204" pitchFamily="49" charset="0"/>
                <a:ea typeface="Calibri" panose="020F0502020204030204" pitchFamily="34" charset="0"/>
                <a:cs typeface="Times New Roman" panose="02020603050405020304" pitchFamily="18" charset="0"/>
              </a:rPr>
              <a:t>[i + 1]);</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r>
              <a:rPr lang="en-IN" sz="1600" kern="100" dirty="0">
                <a:effectLst/>
                <a:latin typeface="Consolas" panose="020B0609020204030204" pitchFamily="49" charset="0"/>
                <a:ea typeface="Calibri" panose="020F0502020204030204" pitchFamily="34" charset="0"/>
                <a:cs typeface="Times New Roman" panose="02020603050405020304" pitchFamily="18" charset="0"/>
              </a:rPr>
              <a:t>    }</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r>
              <a:rPr lang="en-IN" sz="1600" kern="100" dirty="0">
                <a:effectLst/>
                <a:latin typeface="Consolas" panose="020B0609020204030204" pitchFamily="49" charset="0"/>
                <a:ea typeface="Calibri" panose="020F0502020204030204" pitchFamily="34" charset="0"/>
                <a:cs typeface="Times New Roman" panose="02020603050405020304" pitchFamily="18" charset="0"/>
              </a:rPr>
              <a:t>  } </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kern="100" dirty="0">
                <a:effectLst/>
                <a:latin typeface="Consolas" panose="020B0609020204030204" pitchFamily="49" charset="0"/>
                <a:ea typeface="Calibri" panose="020F0502020204030204" pitchFamily="34" charset="0"/>
                <a:cs typeface="Times New Roman" panose="02020603050405020304" pitchFamily="18" charset="0"/>
              </a:rPr>
              <a:t> </a:t>
            </a:r>
            <a:r>
              <a:rPr lang="en-IN" sz="1600" kern="100" dirty="0" err="1">
                <a:effectLst/>
                <a:latin typeface="Consolas" panose="020B0609020204030204" pitchFamily="49" charset="0"/>
                <a:ea typeface="Calibri" panose="020F0502020204030204" pitchFamily="34" charset="0"/>
                <a:cs typeface="Times New Roman" panose="02020603050405020304" pitchFamily="18" charset="0"/>
              </a:rPr>
              <a:t>bSort</a:t>
            </a:r>
            <a:r>
              <a:rPr lang="en-IN" sz="1600" kern="100" dirty="0">
                <a:effectLst/>
                <a:latin typeface="Consolas" panose="020B0609020204030204" pitchFamily="49" charset="0"/>
                <a:ea typeface="Calibri" panose="020F0502020204030204" pitchFamily="34" charset="0"/>
                <a:cs typeface="Times New Roman" panose="02020603050405020304" pitchFamily="18" charset="0"/>
              </a:rPr>
              <a:t>(</a:t>
            </a:r>
            <a:r>
              <a:rPr lang="en-IN" sz="1600" kern="100" dirty="0" err="1">
                <a:effectLst/>
                <a:latin typeface="Consolas" panose="020B0609020204030204" pitchFamily="49" charset="0"/>
                <a:ea typeface="Calibri" panose="020F0502020204030204" pitchFamily="34" charset="0"/>
                <a:cs typeface="Times New Roman" panose="02020603050405020304" pitchFamily="18" charset="0"/>
              </a:rPr>
              <a:t>arr</a:t>
            </a:r>
            <a:r>
              <a:rPr lang="en-IN" sz="1600" kern="100" dirty="0">
                <a:effectLst/>
                <a:latin typeface="Consolas" panose="020B0609020204030204" pitchFamily="49" charset="0"/>
                <a:ea typeface="Calibri" panose="020F0502020204030204" pitchFamily="34" charset="0"/>
                <a:cs typeface="Times New Roman" panose="02020603050405020304" pitchFamily="18" charset="0"/>
              </a:rPr>
              <a:t>, n - 1); // Recursively sort the remaining n-1 elements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r>
              <a:rPr lang="en-IN" sz="1600" kern="100" dirty="0">
                <a:effectLst/>
                <a:latin typeface="Consolas" panose="020B0609020204030204" pitchFamily="49" charset="0"/>
                <a:ea typeface="Calibri" panose="020F0502020204030204" pitchFamily="34" charset="0"/>
                <a:cs typeface="Times New Roman" panose="02020603050405020304" pitchFamily="18" charset="0"/>
              </a:rPr>
              <a:t>}</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112853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b="1" dirty="0">
                <a:effectLst/>
                <a:latin typeface="+mj-lt"/>
                <a:ea typeface="Times New Roman" panose="02020603050405020304" pitchFamily="18" charset="0"/>
                <a:cs typeface="Times New Roman" panose="02020603050405020304" pitchFamily="18" charset="0"/>
              </a:rPr>
              <a:t>For Understanding</a:t>
            </a:r>
            <a:endParaRPr lang="en-US" sz="2800" dirty="0">
              <a:effectLst/>
              <a:latin typeface="+mj-lt"/>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prstClr val="white"/>
                </a:solidFill>
              </a:rPr>
              <a:pPr/>
              <a:t>March 13, 2024</a:t>
            </a:fld>
            <a:endParaRPr lang="en-US">
              <a:solidFill>
                <a:prstClr val="white"/>
              </a:solidFill>
            </a:endParaRPr>
          </a:p>
        </p:txBody>
      </p:sp>
      <p:sp>
        <p:nvSpPr>
          <p:cNvPr id="5" name="Footer Placeholder 4"/>
          <p:cNvSpPr>
            <a:spLocks noGrp="1"/>
          </p:cNvSpPr>
          <p:nvPr>
            <p:ph type="ftr" sz="quarter" idx="11"/>
          </p:nvPr>
        </p:nvSpPr>
        <p:spPr/>
        <p:txBody>
          <a:bodyPr/>
          <a:lstStyle/>
          <a:p>
            <a:r>
              <a:rPr lang="en-US" dirty="0">
                <a:solidFill>
                  <a:prstClr val="white"/>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prstClr val="white"/>
                </a:solidFill>
              </a:rPr>
              <a:pPr/>
              <a:t>40</a:t>
            </a:fld>
            <a:endParaRPr lang="en-US" dirty="0">
              <a:solidFill>
                <a:prstClr val="white"/>
              </a:solidFill>
            </a:endParaRPr>
          </a:p>
        </p:txBody>
      </p:sp>
      <p:sp>
        <p:nvSpPr>
          <p:cNvPr id="9" name="TextBox 8">
            <a:extLst>
              <a:ext uri="{FF2B5EF4-FFF2-40B4-BE49-F238E27FC236}">
                <a16:creationId xmlns:a16="http://schemas.microsoft.com/office/drawing/2014/main" id="{DA5BB459-B347-9CF6-63B5-E29136A3AF04}"/>
              </a:ext>
            </a:extLst>
          </p:cNvPr>
          <p:cNvSpPr txBox="1"/>
          <p:nvPr/>
        </p:nvSpPr>
        <p:spPr>
          <a:xfrm>
            <a:off x="838200" y="1524000"/>
            <a:ext cx="7239000" cy="375359"/>
          </a:xfrm>
          <a:prstGeom prst="rect">
            <a:avLst/>
          </a:prstGeom>
          <a:noFill/>
        </p:spPr>
        <p:txBody>
          <a:bodyPr wrap="square">
            <a:spAutoFit/>
          </a:bodyPr>
          <a:lstStyle/>
          <a:p>
            <a:pPr marL="0" marR="0">
              <a:lnSpc>
                <a:spcPct val="107000"/>
              </a:lnSpc>
              <a:spcBef>
                <a:spcPts val="0"/>
              </a:spcBef>
              <a:spcAft>
                <a:spcPts val="800"/>
              </a:spcAft>
            </a:pPr>
            <a:r>
              <a:rPr lang="en-US" sz="1800" dirty="0">
                <a:effectLst/>
                <a:latin typeface="Source Sans Pro" panose="020B0503030403020204" pitchFamily="34" charset="0"/>
                <a:ea typeface="Times New Roman" panose="02020603050405020304" pitchFamily="18" charset="0"/>
                <a:cs typeface="Times New Roman" panose="02020603050405020304" pitchFamily="18" charset="0"/>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98E88EBA-A9FA-AC3D-020D-DAFC72ED8C03}"/>
              </a:ext>
            </a:extLst>
          </p:cNvPr>
          <p:cNvSpPr txBox="1"/>
          <p:nvPr/>
        </p:nvSpPr>
        <p:spPr>
          <a:xfrm>
            <a:off x="1371600" y="1716441"/>
            <a:ext cx="6096000" cy="2077235"/>
          </a:xfrm>
          <a:prstGeom prst="rect">
            <a:avLst/>
          </a:prstGeom>
          <a:noFill/>
        </p:spPr>
        <p:txBody>
          <a:bodyPr wrap="square">
            <a:spAutoFit/>
          </a:bodyPr>
          <a:lstStyle/>
          <a:p>
            <a:pPr marL="0" marR="0">
              <a:lnSpc>
                <a:spcPct val="107000"/>
              </a:lnSpc>
              <a:spcBef>
                <a:spcPts val="0"/>
              </a:spcBef>
              <a:spcAft>
                <a:spcPts val="800"/>
              </a:spcAft>
            </a:pPr>
            <a:r>
              <a:rPr lang="en-US" sz="4000" b="1" dirty="0">
                <a:effectLst/>
                <a:latin typeface="Source Sans Pro" panose="020B0503030403020204" pitchFamily="34" charset="0"/>
                <a:ea typeface="Times New Roman" panose="02020603050405020304" pitchFamily="18" charset="0"/>
                <a:cs typeface="Times New Roman" panose="02020603050405020304" pitchFamily="18" charset="0"/>
              </a:rPr>
              <a:t>1. O(1)</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latin typeface="Fira Code" panose="020B0809050000020004" pitchFamily="49" charset="0"/>
                <a:ea typeface="Times New Roman" panose="02020603050405020304" pitchFamily="18" charset="0"/>
                <a:cs typeface="Times New Roman" panose="02020603050405020304" pitchFamily="18" charset="0"/>
              </a:rPr>
              <a:t>void </a:t>
            </a:r>
            <a:r>
              <a:rPr lang="en-US" sz="1800" dirty="0" err="1">
                <a:effectLst/>
                <a:latin typeface="Fira Code" panose="020B0809050000020004" pitchFamily="49" charset="0"/>
                <a:ea typeface="Times New Roman" panose="02020603050405020304" pitchFamily="18" charset="0"/>
                <a:cs typeface="Times New Roman" panose="02020603050405020304" pitchFamily="18" charset="0"/>
              </a:rPr>
              <a:t>printFirstElementOfArray</a:t>
            </a:r>
            <a:r>
              <a:rPr lang="en-US" sz="1800" dirty="0">
                <a:effectLst/>
                <a:latin typeface="Fira Code" panose="020B0809050000020004" pitchFamily="49" charset="0"/>
                <a:ea typeface="Times New Roman" panose="02020603050405020304" pitchFamily="18" charset="0"/>
                <a:cs typeface="Times New Roman" panose="02020603050405020304" pitchFamily="18" charset="0"/>
              </a:rPr>
              <a:t>(int </a:t>
            </a:r>
            <a:r>
              <a:rPr lang="en-US" sz="1800" dirty="0" err="1">
                <a:effectLst/>
                <a:latin typeface="Fira Code" panose="020B0809050000020004" pitchFamily="49" charset="0"/>
                <a:ea typeface="Times New Roman" panose="02020603050405020304" pitchFamily="18" charset="0"/>
                <a:cs typeface="Times New Roman" panose="02020603050405020304" pitchFamily="18" charset="0"/>
              </a:rPr>
              <a:t>arr</a:t>
            </a:r>
            <a:r>
              <a:rPr lang="en-US" sz="1800" dirty="0">
                <a:effectLst/>
                <a:latin typeface="Fira Code" panose="020B0809050000020004" pitchFamily="49" charset="0"/>
                <a:ea typeface="Times New Roman" panose="02020603050405020304" pitchFamily="18" charset="0"/>
                <a:cs typeface="Times New Roman" panose="02020603050405020304" pitchFamily="18" charset="0"/>
              </a:rPr>
              <a: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latin typeface="Fira Code" panose="020B0809050000020004" pitchFamily="49" charset="0"/>
                <a:ea typeface="Times New Roman" panose="02020603050405020304" pitchFamily="18" charset="0"/>
                <a:cs typeface="Times New Roman" panose="02020603050405020304" pitchFamily="18" charset="0"/>
              </a:rPr>
              <a: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latin typeface="Fira Code" panose="020B0809050000020004" pitchFamily="49" charset="0"/>
                <a:ea typeface="Times New Roman" panose="02020603050405020304" pitchFamily="18" charset="0"/>
                <a:cs typeface="Times New Roman" panose="02020603050405020304" pitchFamily="18" charset="0"/>
              </a:rPr>
              <a:t>    </a:t>
            </a:r>
            <a:r>
              <a:rPr lang="en-US" sz="1800" dirty="0" err="1">
                <a:effectLst/>
                <a:latin typeface="Fira Code" panose="020B0809050000020004" pitchFamily="49" charset="0"/>
                <a:ea typeface="Times New Roman" panose="02020603050405020304" pitchFamily="18" charset="0"/>
                <a:cs typeface="Times New Roman" panose="02020603050405020304" pitchFamily="18" charset="0"/>
              </a:rPr>
              <a:t>printf</a:t>
            </a:r>
            <a:r>
              <a:rPr lang="en-US" sz="1800" dirty="0">
                <a:effectLst/>
                <a:latin typeface="Fira Code" panose="020B0809050000020004" pitchFamily="49" charset="0"/>
                <a:ea typeface="Times New Roman" panose="02020603050405020304" pitchFamily="18" charset="0"/>
                <a:cs typeface="Times New Roman" panose="02020603050405020304" pitchFamily="18" charset="0"/>
              </a:rPr>
              <a:t>("First element of array = %d",</a:t>
            </a:r>
            <a:r>
              <a:rPr lang="en-US" sz="1800" dirty="0" err="1">
                <a:effectLst/>
                <a:latin typeface="Fira Code" panose="020B0809050000020004" pitchFamily="49" charset="0"/>
                <a:ea typeface="Times New Roman" panose="02020603050405020304" pitchFamily="18" charset="0"/>
                <a:cs typeface="Times New Roman" panose="02020603050405020304" pitchFamily="18" charset="0"/>
              </a:rPr>
              <a:t>arr</a:t>
            </a:r>
            <a:r>
              <a:rPr lang="en-US" sz="1800" dirty="0">
                <a:effectLst/>
                <a:latin typeface="Fira Code" panose="020B0809050000020004" pitchFamily="49" charset="0"/>
                <a:ea typeface="Times New Roman" panose="02020603050405020304" pitchFamily="18" charset="0"/>
                <a:cs typeface="Times New Roman" panose="02020603050405020304" pitchFamily="18" charset="0"/>
              </a:rPr>
              <a:t>[0]);</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latin typeface="Fira Code" panose="020B0809050000020004" pitchFamily="49" charset="0"/>
                <a:ea typeface="Times New Roman" panose="02020603050405020304" pitchFamily="18" charset="0"/>
                <a:cs typeface="Times New Roman" panose="02020603050405020304" pitchFamily="18" charset="0"/>
              </a:rPr>
              <a: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8C41AA5C-B08E-B87B-78E1-2AC8785D05FB}"/>
              </a:ext>
            </a:extLst>
          </p:cNvPr>
          <p:cNvSpPr txBox="1"/>
          <p:nvPr/>
        </p:nvSpPr>
        <p:spPr>
          <a:xfrm>
            <a:off x="1143000" y="4133671"/>
            <a:ext cx="7239000" cy="923330"/>
          </a:xfrm>
          <a:prstGeom prst="rect">
            <a:avLst/>
          </a:prstGeom>
          <a:noFill/>
        </p:spPr>
        <p:txBody>
          <a:bodyPr wrap="square">
            <a:spAutoFit/>
          </a:bodyPr>
          <a:lstStyle/>
          <a:p>
            <a:r>
              <a:rPr lang="en-US" sz="1800" dirty="0">
                <a:effectLst/>
                <a:latin typeface="Source Sans Pro" panose="020B0503030403020204" pitchFamily="34" charset="0"/>
                <a:ea typeface="Times New Roman" panose="02020603050405020304" pitchFamily="18" charset="0"/>
                <a:cs typeface="Times New Roman" panose="02020603050405020304" pitchFamily="18" charset="0"/>
              </a:rPr>
              <a:t>This function runs in </a:t>
            </a:r>
            <a:r>
              <a:rPr lang="en-US" sz="1400" dirty="0">
                <a:effectLst/>
                <a:latin typeface="Fira Code" panose="020B0809050000020004" pitchFamily="49" charset="0"/>
                <a:ea typeface="Times New Roman" panose="02020603050405020304" pitchFamily="18" charset="0"/>
              </a:rPr>
              <a:t>O(1)</a:t>
            </a:r>
            <a:r>
              <a:rPr lang="en-US" sz="1800" dirty="0">
                <a:effectLst/>
                <a:latin typeface="Source Sans Pro" panose="020B0503030403020204" pitchFamily="34" charset="0"/>
                <a:ea typeface="Times New Roman" panose="02020603050405020304" pitchFamily="18" charset="0"/>
                <a:cs typeface="Times New Roman" panose="02020603050405020304" pitchFamily="18" charset="0"/>
              </a:rPr>
              <a:t> time (or "constant time") relative to its input. The input array could be 1 item or 1,000 items, but this function would still just require one step.</a:t>
            </a:r>
            <a:endParaRPr lang="en-US" dirty="0"/>
          </a:p>
        </p:txBody>
      </p:sp>
    </p:spTree>
    <p:extLst>
      <p:ext uri="{BB962C8B-B14F-4D97-AF65-F5344CB8AC3E}">
        <p14:creationId xmlns:p14="http://schemas.microsoft.com/office/powerpoint/2010/main" val="38461853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b="1" dirty="0">
                <a:effectLst/>
                <a:latin typeface="+mj-lt"/>
                <a:ea typeface="Times New Roman" panose="02020603050405020304" pitchFamily="18" charset="0"/>
                <a:cs typeface="Times New Roman" panose="02020603050405020304" pitchFamily="18" charset="0"/>
              </a:rPr>
              <a:t>For Understanding</a:t>
            </a:r>
            <a:endParaRPr lang="en-US" sz="2800" dirty="0">
              <a:effectLst/>
              <a:latin typeface="+mj-lt"/>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prstClr val="white"/>
                </a:solidFill>
              </a:rPr>
              <a:pPr/>
              <a:t>March 13, 2024</a:t>
            </a:fld>
            <a:endParaRPr lang="en-US">
              <a:solidFill>
                <a:prstClr val="white"/>
              </a:solidFill>
            </a:endParaRPr>
          </a:p>
        </p:txBody>
      </p:sp>
      <p:sp>
        <p:nvSpPr>
          <p:cNvPr id="5" name="Footer Placeholder 4"/>
          <p:cNvSpPr>
            <a:spLocks noGrp="1"/>
          </p:cNvSpPr>
          <p:nvPr>
            <p:ph type="ftr" sz="quarter" idx="11"/>
          </p:nvPr>
        </p:nvSpPr>
        <p:spPr/>
        <p:txBody>
          <a:bodyPr/>
          <a:lstStyle/>
          <a:p>
            <a:r>
              <a:rPr lang="en-US" dirty="0">
                <a:solidFill>
                  <a:prstClr val="white"/>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prstClr val="white"/>
                </a:solidFill>
              </a:rPr>
              <a:pPr/>
              <a:t>41</a:t>
            </a:fld>
            <a:endParaRPr lang="en-US" dirty="0">
              <a:solidFill>
                <a:prstClr val="white"/>
              </a:solidFill>
            </a:endParaRPr>
          </a:p>
        </p:txBody>
      </p:sp>
      <p:sp>
        <p:nvSpPr>
          <p:cNvPr id="9" name="TextBox 8">
            <a:extLst>
              <a:ext uri="{FF2B5EF4-FFF2-40B4-BE49-F238E27FC236}">
                <a16:creationId xmlns:a16="http://schemas.microsoft.com/office/drawing/2014/main" id="{DA5BB459-B347-9CF6-63B5-E29136A3AF04}"/>
              </a:ext>
            </a:extLst>
          </p:cNvPr>
          <p:cNvSpPr txBox="1"/>
          <p:nvPr/>
        </p:nvSpPr>
        <p:spPr>
          <a:xfrm>
            <a:off x="838200" y="1524000"/>
            <a:ext cx="7239000" cy="375359"/>
          </a:xfrm>
          <a:prstGeom prst="rect">
            <a:avLst/>
          </a:prstGeom>
          <a:noFill/>
        </p:spPr>
        <p:txBody>
          <a:bodyPr wrap="square">
            <a:spAutoFit/>
          </a:bodyPr>
          <a:lstStyle/>
          <a:p>
            <a:pPr marL="0" marR="0">
              <a:lnSpc>
                <a:spcPct val="107000"/>
              </a:lnSpc>
              <a:spcBef>
                <a:spcPts val="0"/>
              </a:spcBef>
              <a:spcAft>
                <a:spcPts val="800"/>
              </a:spcAft>
            </a:pPr>
            <a:r>
              <a:rPr lang="en-US" sz="1800" dirty="0">
                <a:effectLst/>
                <a:latin typeface="Source Sans Pro" panose="020B0503030403020204" pitchFamily="34" charset="0"/>
                <a:ea typeface="Times New Roman" panose="02020603050405020304" pitchFamily="18" charset="0"/>
                <a:cs typeface="Times New Roman" panose="02020603050405020304" pitchFamily="18" charset="0"/>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D0CB656E-0CE6-FEF8-AA32-58D7D48A360A}"/>
              </a:ext>
            </a:extLst>
          </p:cNvPr>
          <p:cNvSpPr txBox="1"/>
          <p:nvPr/>
        </p:nvSpPr>
        <p:spPr>
          <a:xfrm>
            <a:off x="783433" y="1711679"/>
            <a:ext cx="7508079" cy="3072829"/>
          </a:xfrm>
          <a:prstGeom prst="rect">
            <a:avLst/>
          </a:prstGeom>
          <a:noFill/>
        </p:spPr>
        <p:txBody>
          <a:bodyPr wrap="square">
            <a:spAutoFit/>
          </a:bodyPr>
          <a:lstStyle/>
          <a:p>
            <a:pPr marL="0" marR="0">
              <a:lnSpc>
                <a:spcPct val="107000"/>
              </a:lnSpc>
              <a:spcBef>
                <a:spcPts val="0"/>
              </a:spcBef>
              <a:spcAft>
                <a:spcPts val="800"/>
              </a:spcAft>
            </a:pPr>
            <a:r>
              <a:rPr lang="en-US" b="1" dirty="0">
                <a:effectLst/>
                <a:ea typeface="Times New Roman" panose="02020603050405020304" pitchFamily="18" charset="0"/>
                <a:cs typeface="Times New Roman" panose="02020603050405020304" pitchFamily="18" charset="0"/>
              </a:rPr>
              <a:t>O(n)</a:t>
            </a:r>
            <a:endParaRPr lang="en-US"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dirty="0">
                <a:effectLst/>
                <a:ea typeface="Times New Roman" panose="02020603050405020304" pitchFamily="18" charset="0"/>
                <a:cs typeface="Times New Roman" panose="02020603050405020304" pitchFamily="18" charset="0"/>
              </a:rPr>
              <a:t>void </a:t>
            </a:r>
            <a:r>
              <a:rPr lang="en-US" dirty="0" err="1">
                <a:effectLst/>
                <a:ea typeface="Times New Roman" panose="02020603050405020304" pitchFamily="18" charset="0"/>
                <a:cs typeface="Times New Roman" panose="02020603050405020304" pitchFamily="18" charset="0"/>
              </a:rPr>
              <a:t>printAllElementOfArray</a:t>
            </a:r>
            <a:r>
              <a:rPr lang="en-US" dirty="0">
                <a:effectLst/>
                <a:ea typeface="Times New Roman" panose="02020603050405020304" pitchFamily="18" charset="0"/>
                <a:cs typeface="Times New Roman" panose="02020603050405020304" pitchFamily="18" charset="0"/>
              </a:rPr>
              <a:t>(int </a:t>
            </a:r>
            <a:r>
              <a:rPr lang="en-US" dirty="0" err="1">
                <a:effectLst/>
                <a:ea typeface="Times New Roman" panose="02020603050405020304" pitchFamily="18" charset="0"/>
                <a:cs typeface="Times New Roman" panose="02020603050405020304" pitchFamily="18" charset="0"/>
              </a:rPr>
              <a:t>arr</a:t>
            </a:r>
            <a:r>
              <a:rPr lang="en-US" dirty="0">
                <a:effectLst/>
                <a:ea typeface="Times New Roman" panose="02020603050405020304" pitchFamily="18" charset="0"/>
                <a:cs typeface="Times New Roman" panose="02020603050405020304" pitchFamily="18" charset="0"/>
              </a:rPr>
              <a:t>[], int size)</a:t>
            </a:r>
            <a:endParaRPr lang="en-US"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dirty="0">
                <a:effectLst/>
                <a:ea typeface="Times New Roman" panose="02020603050405020304" pitchFamily="18" charset="0"/>
                <a:cs typeface="Times New Roman" panose="02020603050405020304" pitchFamily="18" charset="0"/>
              </a:rPr>
              <a:t>{</a:t>
            </a:r>
            <a:endParaRPr lang="en-US"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dirty="0">
                <a:effectLst/>
                <a:ea typeface="Times New Roman" panose="02020603050405020304" pitchFamily="18" charset="0"/>
                <a:cs typeface="Times New Roman" panose="02020603050405020304" pitchFamily="18" charset="0"/>
              </a:rPr>
              <a:t>    for (int i = 0; i &lt; size; i++)</a:t>
            </a:r>
            <a:endParaRPr lang="en-US"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dirty="0">
                <a:effectLst/>
                <a:ea typeface="Times New Roman" panose="02020603050405020304" pitchFamily="18" charset="0"/>
                <a:cs typeface="Times New Roman" panose="02020603050405020304" pitchFamily="18" charset="0"/>
              </a:rPr>
              <a:t>    {</a:t>
            </a:r>
            <a:endParaRPr lang="en-US"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dirty="0">
                <a:effectLst/>
                <a:ea typeface="Times New Roman" panose="02020603050405020304" pitchFamily="18" charset="0"/>
                <a:cs typeface="Times New Roman" panose="02020603050405020304" pitchFamily="18" charset="0"/>
              </a:rPr>
              <a:t>        </a:t>
            </a:r>
            <a:r>
              <a:rPr lang="en-US" dirty="0" err="1">
                <a:effectLst/>
                <a:ea typeface="Times New Roman" panose="02020603050405020304" pitchFamily="18" charset="0"/>
                <a:cs typeface="Times New Roman" panose="02020603050405020304" pitchFamily="18" charset="0"/>
              </a:rPr>
              <a:t>printf</a:t>
            </a:r>
            <a:r>
              <a:rPr lang="en-US" dirty="0">
                <a:effectLst/>
                <a:ea typeface="Times New Roman" panose="02020603050405020304" pitchFamily="18" charset="0"/>
                <a:cs typeface="Times New Roman" panose="02020603050405020304" pitchFamily="18" charset="0"/>
              </a:rPr>
              <a:t>("%d\n", </a:t>
            </a:r>
            <a:r>
              <a:rPr lang="en-US" dirty="0" err="1">
                <a:effectLst/>
                <a:ea typeface="Times New Roman" panose="02020603050405020304" pitchFamily="18" charset="0"/>
                <a:cs typeface="Times New Roman" panose="02020603050405020304" pitchFamily="18" charset="0"/>
              </a:rPr>
              <a:t>arr</a:t>
            </a:r>
            <a:r>
              <a:rPr lang="en-US" dirty="0">
                <a:effectLst/>
                <a:ea typeface="Times New Roman" panose="02020603050405020304" pitchFamily="18" charset="0"/>
                <a:cs typeface="Times New Roman" panose="02020603050405020304" pitchFamily="18" charset="0"/>
              </a:rPr>
              <a:t>[i]);</a:t>
            </a:r>
            <a:endParaRPr lang="en-US"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dirty="0">
                <a:effectLst/>
                <a:ea typeface="Times New Roman" panose="02020603050405020304" pitchFamily="18" charset="0"/>
                <a:cs typeface="Times New Roman" panose="02020603050405020304" pitchFamily="18" charset="0"/>
              </a:rPr>
              <a:t>    }</a:t>
            </a:r>
            <a:endParaRPr lang="en-US"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dirty="0">
                <a:effectLst/>
                <a:ea typeface="Times New Roman" panose="02020603050405020304" pitchFamily="18" charset="0"/>
                <a:cs typeface="Times New Roman" panose="02020603050405020304" pitchFamily="18" charset="0"/>
              </a:rPr>
              <a:t>}</a:t>
            </a:r>
            <a:endParaRPr lang="en-US" dirty="0">
              <a:effectLst/>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dirty="0">
                <a:effectLst/>
                <a:ea typeface="Times New Roman" panose="02020603050405020304" pitchFamily="18" charset="0"/>
                <a:cs typeface="Times New Roman" panose="02020603050405020304" pitchFamily="18" charset="0"/>
              </a:rPr>
              <a:t>This function runs in O(n) time (or "linear time"), where n is the number of items in the array. If the array has 10 items, we have to print 10 times. If it has 1000 items, we have to print 1000 times.</a:t>
            </a:r>
            <a:endParaRPr lang="en-US"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033636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b="1" dirty="0">
                <a:solidFill>
                  <a:schemeClr val="tx1"/>
                </a:solidFill>
                <a:effectLst/>
                <a:latin typeface="+mj-lt"/>
                <a:ea typeface="Times New Roman" panose="02020603050405020304" pitchFamily="18" charset="0"/>
                <a:cs typeface="Times New Roman" panose="02020603050405020304" pitchFamily="18" charset="0"/>
              </a:rPr>
              <a:t>For Understanding</a:t>
            </a:r>
            <a:endParaRPr lang="en-US" sz="2800" dirty="0">
              <a:solidFill>
                <a:schemeClr val="tx1"/>
              </a:solidFill>
              <a:effectLst/>
              <a:latin typeface="+mj-lt"/>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schemeClr val="tx1"/>
                </a:solidFill>
              </a:rPr>
              <a:pPr/>
              <a:t>March 13, 2024</a:t>
            </a:fld>
            <a:endParaRPr lang="en-US">
              <a:solidFill>
                <a:schemeClr val="tx1"/>
              </a:solidFill>
            </a:endParaRPr>
          </a:p>
        </p:txBody>
      </p:sp>
      <p:sp>
        <p:nvSpPr>
          <p:cNvPr id="5" name="Footer Placeholder 4"/>
          <p:cNvSpPr>
            <a:spLocks noGrp="1"/>
          </p:cNvSpPr>
          <p:nvPr>
            <p:ph type="ftr" sz="quarter" idx="11"/>
          </p:nvPr>
        </p:nvSpPr>
        <p:spPr/>
        <p:txBody>
          <a:bodyPr/>
          <a:lstStyle/>
          <a:p>
            <a:r>
              <a:rPr lang="en-US" dirty="0">
                <a:solidFill>
                  <a:schemeClr val="tx1"/>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schemeClr val="tx1"/>
                </a:solidFill>
              </a:rPr>
              <a:pPr/>
              <a:t>42</a:t>
            </a:fld>
            <a:endParaRPr lang="en-US" dirty="0">
              <a:solidFill>
                <a:schemeClr val="tx1"/>
              </a:solidFill>
            </a:endParaRPr>
          </a:p>
        </p:txBody>
      </p:sp>
      <p:sp>
        <p:nvSpPr>
          <p:cNvPr id="9" name="TextBox 8">
            <a:extLst>
              <a:ext uri="{FF2B5EF4-FFF2-40B4-BE49-F238E27FC236}">
                <a16:creationId xmlns:a16="http://schemas.microsoft.com/office/drawing/2014/main" id="{DA5BB459-B347-9CF6-63B5-E29136A3AF04}"/>
              </a:ext>
            </a:extLst>
          </p:cNvPr>
          <p:cNvSpPr txBox="1"/>
          <p:nvPr/>
        </p:nvSpPr>
        <p:spPr>
          <a:xfrm>
            <a:off x="838200" y="1524000"/>
            <a:ext cx="7239000" cy="375359"/>
          </a:xfrm>
          <a:prstGeom prst="rect">
            <a:avLst/>
          </a:prstGeom>
          <a:noFill/>
        </p:spPr>
        <p:txBody>
          <a:bodyPr wrap="square">
            <a:spAutoFit/>
          </a:bodyPr>
          <a:lstStyle/>
          <a:p>
            <a:pPr marL="0" marR="0">
              <a:lnSpc>
                <a:spcPct val="107000"/>
              </a:lnSpc>
              <a:spcBef>
                <a:spcPts val="0"/>
              </a:spcBef>
              <a:spcAft>
                <a:spcPts val="800"/>
              </a:spcAft>
            </a:pPr>
            <a:r>
              <a:rPr lang="en-US" sz="1800" dirty="0">
                <a:effectLst/>
                <a:latin typeface="Source Sans Pro" panose="020B0503030403020204" pitchFamily="34" charset="0"/>
                <a:ea typeface="Times New Roman" panose="02020603050405020304" pitchFamily="18" charset="0"/>
                <a:cs typeface="Times New Roman" panose="02020603050405020304" pitchFamily="18" charset="0"/>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1588FBE2-0D39-4DE5-5A99-E05481C187FC}"/>
              </a:ext>
            </a:extLst>
          </p:cNvPr>
          <p:cNvSpPr txBox="1"/>
          <p:nvPr/>
        </p:nvSpPr>
        <p:spPr>
          <a:xfrm>
            <a:off x="604838" y="1509713"/>
            <a:ext cx="8158161" cy="4396525"/>
          </a:xfrm>
          <a:prstGeom prst="rect">
            <a:avLst/>
          </a:prstGeom>
          <a:noFill/>
        </p:spPr>
        <p:txBody>
          <a:bodyPr wrap="square">
            <a:spAutoFit/>
          </a:bodyPr>
          <a:lstStyle/>
          <a:p>
            <a:pPr marL="0" marR="0">
              <a:lnSpc>
                <a:spcPct val="107000"/>
              </a:lnSpc>
              <a:spcBef>
                <a:spcPts val="0"/>
              </a:spcBef>
              <a:spcAft>
                <a:spcPts val="800"/>
              </a:spcAft>
            </a:pPr>
            <a:r>
              <a:rPr lang="en-US" b="1" dirty="0">
                <a:effectLst/>
                <a:latin typeface="+mj-lt"/>
                <a:ea typeface="Times New Roman" panose="02020603050405020304" pitchFamily="18" charset="0"/>
                <a:cs typeface="Times New Roman" panose="02020603050405020304" pitchFamily="18" charset="0"/>
              </a:rPr>
              <a:t>O(n</a:t>
            </a:r>
            <a:r>
              <a:rPr lang="en-US" b="1" baseline="30000" dirty="0">
                <a:effectLst/>
                <a:latin typeface="+mj-lt"/>
                <a:ea typeface="Times New Roman" panose="02020603050405020304" pitchFamily="18" charset="0"/>
                <a:cs typeface="Times New Roman" panose="02020603050405020304" pitchFamily="18" charset="0"/>
              </a:rPr>
              <a:t>2</a:t>
            </a:r>
            <a:r>
              <a:rPr lang="en-US" b="1" dirty="0">
                <a:effectLst/>
                <a:latin typeface="+mj-lt"/>
                <a:ea typeface="Times New Roman" panose="02020603050405020304" pitchFamily="18" charset="0"/>
                <a:cs typeface="Times New Roman" panose="02020603050405020304" pitchFamily="18" charset="0"/>
              </a:rPr>
              <a:t>)</a:t>
            </a:r>
            <a:endParaRPr lang="en-US" dirty="0">
              <a:effectLst/>
              <a:latin typeface="+mj-l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dirty="0">
                <a:effectLst/>
                <a:latin typeface="+mj-lt"/>
                <a:ea typeface="Times New Roman" panose="02020603050405020304" pitchFamily="18" charset="0"/>
                <a:cs typeface="Times New Roman" panose="02020603050405020304" pitchFamily="18" charset="0"/>
              </a:rPr>
              <a:t>void </a:t>
            </a:r>
            <a:r>
              <a:rPr lang="en-US" dirty="0" err="1">
                <a:effectLst/>
                <a:latin typeface="+mj-lt"/>
                <a:ea typeface="Times New Roman" panose="02020603050405020304" pitchFamily="18" charset="0"/>
                <a:cs typeface="Times New Roman" panose="02020603050405020304" pitchFamily="18" charset="0"/>
              </a:rPr>
              <a:t>printAllPossibleOrderedPairs</a:t>
            </a:r>
            <a:r>
              <a:rPr lang="en-US" dirty="0">
                <a:effectLst/>
                <a:latin typeface="+mj-lt"/>
                <a:ea typeface="Times New Roman" panose="02020603050405020304" pitchFamily="18" charset="0"/>
                <a:cs typeface="Times New Roman" panose="02020603050405020304" pitchFamily="18" charset="0"/>
              </a:rPr>
              <a:t>(int </a:t>
            </a:r>
            <a:r>
              <a:rPr lang="en-US" dirty="0" err="1">
                <a:effectLst/>
                <a:latin typeface="+mj-lt"/>
                <a:ea typeface="Times New Roman" panose="02020603050405020304" pitchFamily="18" charset="0"/>
                <a:cs typeface="Times New Roman" panose="02020603050405020304" pitchFamily="18" charset="0"/>
              </a:rPr>
              <a:t>arr</a:t>
            </a:r>
            <a:r>
              <a:rPr lang="en-US" dirty="0">
                <a:effectLst/>
                <a:latin typeface="+mj-lt"/>
                <a:ea typeface="Times New Roman" panose="02020603050405020304" pitchFamily="18" charset="0"/>
                <a:cs typeface="Times New Roman" panose="02020603050405020304" pitchFamily="18" charset="0"/>
              </a:rPr>
              <a:t>[], int size)</a:t>
            </a:r>
            <a:endParaRPr lang="en-US" dirty="0">
              <a:effectLst/>
              <a:latin typeface="+mj-l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dirty="0">
                <a:effectLst/>
                <a:latin typeface="+mj-lt"/>
                <a:ea typeface="Times New Roman" panose="02020603050405020304" pitchFamily="18" charset="0"/>
                <a:cs typeface="Times New Roman" panose="02020603050405020304" pitchFamily="18" charset="0"/>
              </a:rPr>
              <a:t>{</a:t>
            </a:r>
            <a:endParaRPr lang="en-US" dirty="0">
              <a:effectLst/>
              <a:latin typeface="+mj-l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dirty="0">
                <a:effectLst/>
                <a:latin typeface="+mj-lt"/>
                <a:ea typeface="Times New Roman" panose="02020603050405020304" pitchFamily="18" charset="0"/>
                <a:cs typeface="Times New Roman" panose="02020603050405020304" pitchFamily="18" charset="0"/>
              </a:rPr>
              <a:t>    for (int i = 0; i &lt; size; i++)</a:t>
            </a:r>
            <a:endParaRPr lang="en-US" dirty="0">
              <a:effectLst/>
              <a:latin typeface="+mj-l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dirty="0">
                <a:effectLst/>
                <a:latin typeface="+mj-lt"/>
                <a:ea typeface="Times New Roman" panose="02020603050405020304" pitchFamily="18" charset="0"/>
                <a:cs typeface="Times New Roman" panose="02020603050405020304" pitchFamily="18" charset="0"/>
              </a:rPr>
              <a:t>    {</a:t>
            </a:r>
            <a:endParaRPr lang="en-US" dirty="0">
              <a:effectLst/>
              <a:latin typeface="+mj-l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dirty="0">
                <a:effectLst/>
                <a:latin typeface="+mj-lt"/>
                <a:ea typeface="Times New Roman" panose="02020603050405020304" pitchFamily="18" charset="0"/>
                <a:cs typeface="Times New Roman" panose="02020603050405020304" pitchFamily="18" charset="0"/>
              </a:rPr>
              <a:t>        for (int j = 0; j &lt; size; </a:t>
            </a:r>
            <a:r>
              <a:rPr lang="en-US" dirty="0" err="1">
                <a:effectLst/>
                <a:latin typeface="+mj-lt"/>
                <a:ea typeface="Times New Roman" panose="02020603050405020304" pitchFamily="18" charset="0"/>
                <a:cs typeface="Times New Roman" panose="02020603050405020304" pitchFamily="18" charset="0"/>
              </a:rPr>
              <a:t>j++</a:t>
            </a:r>
            <a:r>
              <a:rPr lang="en-US" dirty="0">
                <a:effectLst/>
                <a:latin typeface="+mj-lt"/>
                <a:ea typeface="Times New Roman" panose="02020603050405020304" pitchFamily="18" charset="0"/>
                <a:cs typeface="Times New Roman" panose="02020603050405020304" pitchFamily="18" charset="0"/>
              </a:rPr>
              <a:t>)</a:t>
            </a:r>
            <a:endParaRPr lang="en-US" dirty="0">
              <a:effectLst/>
              <a:latin typeface="+mj-l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dirty="0">
                <a:effectLst/>
                <a:latin typeface="+mj-lt"/>
                <a:ea typeface="Times New Roman" panose="02020603050405020304" pitchFamily="18" charset="0"/>
                <a:cs typeface="Times New Roman" panose="02020603050405020304" pitchFamily="18" charset="0"/>
              </a:rPr>
              <a:t>        {</a:t>
            </a:r>
            <a:endParaRPr lang="en-US" dirty="0">
              <a:effectLst/>
              <a:latin typeface="+mj-l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dirty="0">
                <a:effectLst/>
                <a:latin typeface="+mj-lt"/>
                <a:ea typeface="Times New Roman" panose="02020603050405020304" pitchFamily="18" charset="0"/>
                <a:cs typeface="Times New Roman" panose="02020603050405020304" pitchFamily="18" charset="0"/>
              </a:rPr>
              <a:t>            </a:t>
            </a:r>
            <a:r>
              <a:rPr lang="en-US" dirty="0" err="1">
                <a:effectLst/>
                <a:latin typeface="+mj-lt"/>
                <a:ea typeface="Times New Roman" panose="02020603050405020304" pitchFamily="18" charset="0"/>
                <a:cs typeface="Times New Roman" panose="02020603050405020304" pitchFamily="18" charset="0"/>
              </a:rPr>
              <a:t>printf</a:t>
            </a:r>
            <a:r>
              <a:rPr lang="en-US" dirty="0">
                <a:effectLst/>
                <a:latin typeface="+mj-lt"/>
                <a:ea typeface="Times New Roman" panose="02020603050405020304" pitchFamily="18" charset="0"/>
                <a:cs typeface="Times New Roman" panose="02020603050405020304" pitchFamily="18" charset="0"/>
              </a:rPr>
              <a:t>("%d = %d\n", </a:t>
            </a:r>
            <a:r>
              <a:rPr lang="en-US" dirty="0" err="1">
                <a:effectLst/>
                <a:latin typeface="+mj-lt"/>
                <a:ea typeface="Times New Roman" panose="02020603050405020304" pitchFamily="18" charset="0"/>
                <a:cs typeface="Times New Roman" panose="02020603050405020304" pitchFamily="18" charset="0"/>
              </a:rPr>
              <a:t>arr</a:t>
            </a:r>
            <a:r>
              <a:rPr lang="en-US" dirty="0">
                <a:effectLst/>
                <a:latin typeface="+mj-lt"/>
                <a:ea typeface="Times New Roman" panose="02020603050405020304" pitchFamily="18" charset="0"/>
                <a:cs typeface="Times New Roman" panose="02020603050405020304" pitchFamily="18" charset="0"/>
              </a:rPr>
              <a:t>[i], </a:t>
            </a:r>
            <a:r>
              <a:rPr lang="en-US" dirty="0" err="1">
                <a:effectLst/>
                <a:latin typeface="+mj-lt"/>
                <a:ea typeface="Times New Roman" panose="02020603050405020304" pitchFamily="18" charset="0"/>
                <a:cs typeface="Times New Roman" panose="02020603050405020304" pitchFamily="18" charset="0"/>
              </a:rPr>
              <a:t>arr</a:t>
            </a:r>
            <a:r>
              <a:rPr lang="en-US" dirty="0">
                <a:effectLst/>
                <a:latin typeface="+mj-lt"/>
                <a:ea typeface="Times New Roman" panose="02020603050405020304" pitchFamily="18" charset="0"/>
                <a:cs typeface="Times New Roman" panose="02020603050405020304" pitchFamily="18" charset="0"/>
              </a:rPr>
              <a:t>[j]);</a:t>
            </a:r>
            <a:endParaRPr lang="en-US" dirty="0">
              <a:effectLst/>
              <a:latin typeface="+mj-l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dirty="0">
                <a:effectLst/>
                <a:latin typeface="+mj-lt"/>
                <a:ea typeface="Times New Roman" panose="02020603050405020304" pitchFamily="18" charset="0"/>
                <a:cs typeface="Times New Roman" panose="02020603050405020304" pitchFamily="18" charset="0"/>
              </a:rPr>
              <a:t>        }</a:t>
            </a:r>
            <a:endParaRPr lang="en-US" dirty="0">
              <a:effectLst/>
              <a:latin typeface="+mj-l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dirty="0">
                <a:effectLst/>
                <a:latin typeface="+mj-lt"/>
                <a:ea typeface="Times New Roman" panose="02020603050405020304" pitchFamily="18" charset="0"/>
                <a:cs typeface="Times New Roman" panose="02020603050405020304" pitchFamily="18" charset="0"/>
              </a:rPr>
              <a:t>     }</a:t>
            </a:r>
            <a:endParaRPr lang="en-US" dirty="0">
              <a:effectLst/>
              <a:latin typeface="+mj-l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dirty="0">
                <a:effectLst/>
                <a:latin typeface="+mj-lt"/>
                <a:ea typeface="Times New Roman" panose="02020603050405020304" pitchFamily="18" charset="0"/>
                <a:cs typeface="Times New Roman" panose="02020603050405020304" pitchFamily="18" charset="0"/>
              </a:rPr>
              <a:t>}</a:t>
            </a:r>
            <a:endParaRPr lang="en-US" dirty="0">
              <a:effectLst/>
              <a:latin typeface="+mj-lt"/>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dirty="0">
                <a:effectLst/>
                <a:latin typeface="+mj-lt"/>
                <a:ea typeface="Times New Roman" panose="02020603050405020304" pitchFamily="18" charset="0"/>
                <a:cs typeface="Times New Roman" panose="02020603050405020304" pitchFamily="18" charset="0"/>
              </a:rPr>
              <a:t>Here we're nesting two loops. If our array has n items, our outer loop runs n times and our inner loop runs n times for each iteration of the outer loop, giving us n</a:t>
            </a:r>
            <a:r>
              <a:rPr lang="en-US" baseline="30000" dirty="0">
                <a:effectLst/>
                <a:latin typeface="+mj-lt"/>
                <a:ea typeface="Times New Roman" panose="02020603050405020304" pitchFamily="18" charset="0"/>
                <a:cs typeface="Times New Roman" panose="02020603050405020304" pitchFamily="18" charset="0"/>
              </a:rPr>
              <a:t>2</a:t>
            </a:r>
            <a:r>
              <a:rPr lang="en-US" dirty="0">
                <a:effectLst/>
                <a:latin typeface="+mj-lt"/>
                <a:ea typeface="Times New Roman" panose="02020603050405020304" pitchFamily="18" charset="0"/>
                <a:cs typeface="Times New Roman" panose="02020603050405020304" pitchFamily="18" charset="0"/>
              </a:rPr>
              <a:t> total prints. Thus, this function runs in O(n</a:t>
            </a:r>
            <a:r>
              <a:rPr lang="en-US" baseline="30000" dirty="0">
                <a:effectLst/>
                <a:latin typeface="+mj-lt"/>
                <a:ea typeface="Times New Roman" panose="02020603050405020304" pitchFamily="18" charset="0"/>
                <a:cs typeface="Times New Roman" panose="02020603050405020304" pitchFamily="18" charset="0"/>
              </a:rPr>
              <a:t>2</a:t>
            </a:r>
            <a:r>
              <a:rPr lang="en-US" dirty="0">
                <a:effectLst/>
                <a:latin typeface="+mj-lt"/>
                <a:ea typeface="Times New Roman" panose="02020603050405020304" pitchFamily="18" charset="0"/>
                <a:cs typeface="Times New Roman" panose="02020603050405020304" pitchFamily="18" charset="0"/>
              </a:rPr>
              <a:t>) time (or "quadratic time"). If the array has 10 items, we have to print 100 times. If it has 1000 items, we have to print 1000000 times.</a:t>
            </a:r>
            <a:endParaRPr lang="en-US" dirty="0">
              <a:effectLst/>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228568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b="1" dirty="0">
                <a:solidFill>
                  <a:schemeClr val="tx1"/>
                </a:solidFill>
                <a:effectLst/>
                <a:latin typeface="+mj-lt"/>
                <a:ea typeface="Times New Roman" panose="02020603050405020304" pitchFamily="18" charset="0"/>
                <a:cs typeface="Times New Roman" panose="02020603050405020304" pitchFamily="18" charset="0"/>
              </a:rPr>
              <a:t>For Understanding</a:t>
            </a:r>
            <a:endParaRPr lang="en-US" sz="2800" dirty="0">
              <a:solidFill>
                <a:schemeClr val="tx1"/>
              </a:solidFill>
              <a:effectLst/>
              <a:latin typeface="+mj-lt"/>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schemeClr val="tx1"/>
                </a:solidFill>
              </a:rPr>
              <a:pPr/>
              <a:t>March 13, 2024</a:t>
            </a:fld>
            <a:endParaRPr lang="en-US">
              <a:solidFill>
                <a:schemeClr val="tx1"/>
              </a:solidFill>
            </a:endParaRPr>
          </a:p>
        </p:txBody>
      </p:sp>
      <p:sp>
        <p:nvSpPr>
          <p:cNvPr id="5" name="Footer Placeholder 4"/>
          <p:cNvSpPr>
            <a:spLocks noGrp="1"/>
          </p:cNvSpPr>
          <p:nvPr>
            <p:ph type="ftr" sz="quarter" idx="11"/>
          </p:nvPr>
        </p:nvSpPr>
        <p:spPr/>
        <p:txBody>
          <a:bodyPr/>
          <a:lstStyle/>
          <a:p>
            <a:r>
              <a:rPr lang="en-US" dirty="0">
                <a:solidFill>
                  <a:schemeClr val="tx1"/>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schemeClr val="tx1"/>
                </a:solidFill>
              </a:rPr>
              <a:pPr/>
              <a:t>43</a:t>
            </a:fld>
            <a:endParaRPr lang="en-US" dirty="0">
              <a:solidFill>
                <a:schemeClr val="tx1"/>
              </a:solidFill>
            </a:endParaRPr>
          </a:p>
        </p:txBody>
      </p:sp>
      <p:sp>
        <p:nvSpPr>
          <p:cNvPr id="9" name="TextBox 8">
            <a:extLst>
              <a:ext uri="{FF2B5EF4-FFF2-40B4-BE49-F238E27FC236}">
                <a16:creationId xmlns:a16="http://schemas.microsoft.com/office/drawing/2014/main" id="{DA5BB459-B347-9CF6-63B5-E29136A3AF04}"/>
              </a:ext>
            </a:extLst>
          </p:cNvPr>
          <p:cNvSpPr txBox="1"/>
          <p:nvPr/>
        </p:nvSpPr>
        <p:spPr>
          <a:xfrm>
            <a:off x="838200" y="1524000"/>
            <a:ext cx="7239000" cy="375359"/>
          </a:xfrm>
          <a:prstGeom prst="rect">
            <a:avLst/>
          </a:prstGeom>
          <a:noFill/>
        </p:spPr>
        <p:txBody>
          <a:bodyPr wrap="square">
            <a:spAutoFit/>
          </a:bodyPr>
          <a:lstStyle/>
          <a:p>
            <a:pPr marL="0" marR="0">
              <a:lnSpc>
                <a:spcPct val="107000"/>
              </a:lnSpc>
              <a:spcBef>
                <a:spcPts val="0"/>
              </a:spcBef>
              <a:spcAft>
                <a:spcPts val="800"/>
              </a:spcAft>
            </a:pPr>
            <a:r>
              <a:rPr lang="en-US" sz="1800" dirty="0">
                <a:effectLst/>
                <a:latin typeface="Source Sans Pro" panose="020B0503030403020204" pitchFamily="34" charset="0"/>
                <a:ea typeface="Times New Roman" panose="02020603050405020304" pitchFamily="18" charset="0"/>
                <a:cs typeface="Times New Roman" panose="02020603050405020304" pitchFamily="18" charset="0"/>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1588FBE2-0D39-4DE5-5A99-E05481C187FC}"/>
              </a:ext>
            </a:extLst>
          </p:cNvPr>
          <p:cNvSpPr txBox="1"/>
          <p:nvPr/>
        </p:nvSpPr>
        <p:spPr>
          <a:xfrm>
            <a:off x="838200" y="1677807"/>
            <a:ext cx="8158161" cy="3280835"/>
          </a:xfrm>
          <a:prstGeom prst="rect">
            <a:avLst/>
          </a:prstGeom>
          <a:noFill/>
        </p:spPr>
        <p:txBody>
          <a:bodyPr wrap="square">
            <a:spAutoFit/>
          </a:bodyPr>
          <a:lstStyle/>
          <a:p>
            <a:pPr marL="0" marR="0">
              <a:lnSpc>
                <a:spcPct val="107000"/>
              </a:lnSpc>
              <a:spcBef>
                <a:spcPts val="0"/>
              </a:spcBef>
              <a:spcAft>
                <a:spcPts val="800"/>
              </a:spcAft>
            </a:pPr>
            <a:r>
              <a:rPr lang="en-US" sz="1800" b="1" dirty="0">
                <a:effectLst/>
                <a:latin typeface="Source Sans Pro" panose="020B0503030403020204" pitchFamily="34" charset="0"/>
                <a:ea typeface="Times New Roman" panose="02020603050405020304" pitchFamily="18" charset="0"/>
                <a:cs typeface="Times New Roman" panose="02020603050405020304" pitchFamily="18" charset="0"/>
              </a:rPr>
              <a:t>O(2</a:t>
            </a:r>
            <a:r>
              <a:rPr lang="en-US" sz="1800" b="1" baseline="30000" dirty="0">
                <a:effectLst/>
                <a:latin typeface="Source Sans Pro" panose="020B0503030403020204" pitchFamily="34" charset="0"/>
                <a:ea typeface="Times New Roman" panose="02020603050405020304" pitchFamily="18" charset="0"/>
                <a:cs typeface="Times New Roman" panose="02020603050405020304" pitchFamily="18" charset="0"/>
              </a:rPr>
              <a:t>n</a:t>
            </a:r>
            <a:r>
              <a:rPr lang="en-US" sz="1800" b="1" dirty="0">
                <a:effectLst/>
                <a:latin typeface="Source Sans Pro" panose="020B0503030403020204" pitchFamily="34" charset="0"/>
                <a:ea typeface="Times New Roman" panose="02020603050405020304" pitchFamily="18" charset="0"/>
                <a:cs typeface="Times New Roman" panose="02020603050405020304" pitchFamily="18"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latin typeface="Fira Code" panose="020B0809050000020004" pitchFamily="49" charset="0"/>
                <a:ea typeface="Times New Roman" panose="02020603050405020304" pitchFamily="18" charset="0"/>
                <a:cs typeface="Times New Roman" panose="02020603050405020304" pitchFamily="18" charset="0"/>
              </a:rPr>
              <a:t>int </a:t>
            </a:r>
            <a:r>
              <a:rPr lang="en-US" sz="1800" dirty="0" err="1">
                <a:effectLst/>
                <a:latin typeface="Fira Code" panose="020B0809050000020004" pitchFamily="49" charset="0"/>
                <a:ea typeface="Times New Roman" panose="02020603050405020304" pitchFamily="18" charset="0"/>
                <a:cs typeface="Times New Roman" panose="02020603050405020304" pitchFamily="18" charset="0"/>
              </a:rPr>
              <a:t>fibonacci</a:t>
            </a:r>
            <a:r>
              <a:rPr lang="en-US" sz="1800" dirty="0">
                <a:effectLst/>
                <a:latin typeface="Fira Code" panose="020B0809050000020004" pitchFamily="49" charset="0"/>
                <a:ea typeface="Times New Roman" panose="02020603050405020304" pitchFamily="18" charset="0"/>
                <a:cs typeface="Times New Roman" panose="02020603050405020304" pitchFamily="18" charset="0"/>
              </a:rPr>
              <a:t>(int 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latin typeface="Fira Code" panose="020B0809050000020004" pitchFamily="49" charset="0"/>
                <a:ea typeface="Times New Roman" panose="02020603050405020304" pitchFamily="18" charset="0"/>
                <a:cs typeface="Times New Roman" panose="02020603050405020304" pitchFamily="18"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latin typeface="Fira Code" panose="020B0809050000020004" pitchFamily="49" charset="0"/>
                <a:ea typeface="Times New Roman" panose="02020603050405020304" pitchFamily="18" charset="0"/>
                <a:cs typeface="Times New Roman" panose="02020603050405020304" pitchFamily="18" charset="0"/>
              </a:rPr>
              <a:t>    if (n &lt;= 1) return num;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latin typeface="Fira Code" panose="020B0809050000020004" pitchFamily="49" charset="0"/>
                <a:ea typeface="Times New Roman" panose="02020603050405020304" pitchFamily="18" charset="0"/>
                <a:cs typeface="Times New Roman" panose="02020603050405020304" pitchFamily="18" charset="0"/>
              </a:rPr>
              <a:t>    return </a:t>
            </a:r>
            <a:r>
              <a:rPr lang="en-US" sz="1800" dirty="0" err="1">
                <a:effectLst/>
                <a:latin typeface="Fira Code" panose="020B0809050000020004" pitchFamily="49" charset="0"/>
                <a:ea typeface="Times New Roman" panose="02020603050405020304" pitchFamily="18" charset="0"/>
                <a:cs typeface="Times New Roman" panose="02020603050405020304" pitchFamily="18" charset="0"/>
              </a:rPr>
              <a:t>fibonacci</a:t>
            </a:r>
            <a:r>
              <a:rPr lang="en-US" sz="1800" dirty="0">
                <a:effectLst/>
                <a:latin typeface="Fira Code" panose="020B0809050000020004" pitchFamily="49" charset="0"/>
                <a:ea typeface="Times New Roman" panose="02020603050405020304" pitchFamily="18" charset="0"/>
                <a:cs typeface="Times New Roman" panose="02020603050405020304" pitchFamily="18" charset="0"/>
              </a:rPr>
              <a:t>(n - 2) + </a:t>
            </a:r>
            <a:r>
              <a:rPr lang="en-US" sz="1800" dirty="0" err="1">
                <a:effectLst/>
                <a:latin typeface="Fira Code" panose="020B0809050000020004" pitchFamily="49" charset="0"/>
                <a:ea typeface="Times New Roman" panose="02020603050405020304" pitchFamily="18" charset="0"/>
                <a:cs typeface="Times New Roman" panose="02020603050405020304" pitchFamily="18" charset="0"/>
              </a:rPr>
              <a:t>fibonacci</a:t>
            </a:r>
            <a:r>
              <a:rPr lang="en-US" sz="1800" dirty="0">
                <a:effectLst/>
                <a:latin typeface="Fira Code" panose="020B0809050000020004" pitchFamily="49" charset="0"/>
                <a:ea typeface="Times New Roman" panose="02020603050405020304" pitchFamily="18" charset="0"/>
                <a:cs typeface="Times New Roman" panose="02020603050405020304" pitchFamily="18" charset="0"/>
              </a:rPr>
              <a:t>(n - 1);</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latin typeface="Fira Code" panose="020B0809050000020004" pitchFamily="49" charset="0"/>
                <a:ea typeface="Times New Roman" panose="02020603050405020304" pitchFamily="18" charset="0"/>
                <a:cs typeface="Times New Roman" panose="02020603050405020304" pitchFamily="18"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Source Sans Pro" panose="020B0503030403020204" pitchFamily="34" charset="0"/>
                <a:ea typeface="Times New Roman" panose="02020603050405020304" pitchFamily="18" charset="0"/>
                <a:cs typeface="Times New Roman" panose="02020603050405020304" pitchFamily="18" charset="0"/>
              </a:rPr>
              <a:t>An example of an O(2</a:t>
            </a:r>
            <a:r>
              <a:rPr lang="en-US" sz="1800" baseline="30000" dirty="0">
                <a:effectLst/>
                <a:latin typeface="Source Sans Pro" panose="020B0503030403020204" pitchFamily="34" charset="0"/>
                <a:ea typeface="Times New Roman" panose="02020603050405020304" pitchFamily="18" charset="0"/>
                <a:cs typeface="Times New Roman" panose="02020603050405020304" pitchFamily="18" charset="0"/>
              </a:rPr>
              <a:t>n</a:t>
            </a:r>
            <a:r>
              <a:rPr lang="en-US" sz="1800" dirty="0">
                <a:effectLst/>
                <a:latin typeface="Source Sans Pro" panose="020B0503030403020204" pitchFamily="34" charset="0"/>
                <a:ea typeface="Times New Roman" panose="02020603050405020304" pitchFamily="18" charset="0"/>
                <a:cs typeface="Times New Roman" panose="02020603050405020304" pitchFamily="18" charset="0"/>
              </a:rPr>
              <a:t>) function is the recursive calculation of Fibonacci numbers. O(2</a:t>
            </a:r>
            <a:r>
              <a:rPr lang="en-US" sz="1800" baseline="30000" dirty="0">
                <a:effectLst/>
                <a:latin typeface="Source Sans Pro" panose="020B0503030403020204" pitchFamily="34" charset="0"/>
                <a:ea typeface="Times New Roman" panose="02020603050405020304" pitchFamily="18" charset="0"/>
                <a:cs typeface="Times New Roman" panose="02020603050405020304" pitchFamily="18" charset="0"/>
              </a:rPr>
              <a:t>n</a:t>
            </a:r>
            <a:r>
              <a:rPr lang="en-US" sz="1800" dirty="0">
                <a:effectLst/>
                <a:latin typeface="Source Sans Pro" panose="020B0503030403020204" pitchFamily="34" charset="0"/>
                <a:ea typeface="Times New Roman" panose="02020603050405020304" pitchFamily="18" charset="0"/>
                <a:cs typeface="Times New Roman" panose="02020603050405020304" pitchFamily="18" charset="0"/>
              </a:rPr>
              <a:t>) denotes an algorithm whose growth doubles with each addition to the input data set. The growth curve of an O(2</a:t>
            </a:r>
            <a:r>
              <a:rPr lang="en-US" sz="1800" baseline="30000" dirty="0">
                <a:effectLst/>
                <a:latin typeface="Source Sans Pro" panose="020B0503030403020204" pitchFamily="34" charset="0"/>
                <a:ea typeface="Times New Roman" panose="02020603050405020304" pitchFamily="18" charset="0"/>
                <a:cs typeface="Times New Roman" panose="02020603050405020304" pitchFamily="18" charset="0"/>
              </a:rPr>
              <a:t>n</a:t>
            </a:r>
            <a:r>
              <a:rPr lang="en-US" sz="1800" dirty="0">
                <a:effectLst/>
                <a:latin typeface="Source Sans Pro" panose="020B0503030403020204" pitchFamily="34" charset="0"/>
                <a:ea typeface="Times New Roman" panose="02020603050405020304" pitchFamily="18" charset="0"/>
                <a:cs typeface="Times New Roman" panose="02020603050405020304" pitchFamily="18" charset="0"/>
              </a:rPr>
              <a:t>) function is exponential - starting off very shallow, then rising </a:t>
            </a:r>
            <a:r>
              <a:rPr lang="en-US" i="0" dirty="0">
                <a:solidFill>
                  <a:srgbClr val="202124"/>
                </a:solidFill>
                <a:effectLst/>
                <a:latin typeface="arial" panose="020B0604020202020204" pitchFamily="34" charset="0"/>
              </a:rPr>
              <a:t>dynamically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endParaRPr lang="en-US" dirty="0">
              <a:effectLst/>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366838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b="1" dirty="0">
                <a:solidFill>
                  <a:schemeClr val="tx1"/>
                </a:solidFill>
                <a:effectLst/>
                <a:latin typeface="+mj-lt"/>
                <a:ea typeface="Times New Roman" panose="02020603050405020304" pitchFamily="18" charset="0"/>
                <a:cs typeface="Times New Roman" panose="02020603050405020304" pitchFamily="18" charset="0"/>
              </a:rPr>
              <a:t>For Understanding</a:t>
            </a:r>
            <a:endParaRPr lang="en-US" sz="2800" dirty="0">
              <a:solidFill>
                <a:schemeClr val="tx1"/>
              </a:solidFill>
              <a:effectLst/>
              <a:latin typeface="+mj-lt"/>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schemeClr val="tx1"/>
                </a:solidFill>
              </a:rPr>
              <a:pPr/>
              <a:t>March 13, 2024</a:t>
            </a:fld>
            <a:endParaRPr lang="en-US">
              <a:solidFill>
                <a:schemeClr val="tx1"/>
              </a:solidFill>
            </a:endParaRPr>
          </a:p>
        </p:txBody>
      </p:sp>
      <p:sp>
        <p:nvSpPr>
          <p:cNvPr id="5" name="Footer Placeholder 4"/>
          <p:cNvSpPr>
            <a:spLocks noGrp="1"/>
          </p:cNvSpPr>
          <p:nvPr>
            <p:ph type="ftr" sz="quarter" idx="11"/>
          </p:nvPr>
        </p:nvSpPr>
        <p:spPr/>
        <p:txBody>
          <a:bodyPr/>
          <a:lstStyle/>
          <a:p>
            <a:r>
              <a:rPr lang="en-US" dirty="0">
                <a:solidFill>
                  <a:schemeClr val="tx1"/>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schemeClr val="tx1"/>
                </a:solidFill>
              </a:rPr>
              <a:pPr/>
              <a:t>44</a:t>
            </a:fld>
            <a:endParaRPr lang="en-US" dirty="0">
              <a:solidFill>
                <a:schemeClr val="tx1"/>
              </a:solidFill>
            </a:endParaRPr>
          </a:p>
        </p:txBody>
      </p:sp>
      <p:sp>
        <p:nvSpPr>
          <p:cNvPr id="9" name="TextBox 8">
            <a:extLst>
              <a:ext uri="{FF2B5EF4-FFF2-40B4-BE49-F238E27FC236}">
                <a16:creationId xmlns:a16="http://schemas.microsoft.com/office/drawing/2014/main" id="{DA5BB459-B347-9CF6-63B5-E29136A3AF04}"/>
              </a:ext>
            </a:extLst>
          </p:cNvPr>
          <p:cNvSpPr txBox="1"/>
          <p:nvPr/>
        </p:nvSpPr>
        <p:spPr>
          <a:xfrm>
            <a:off x="838200" y="1524000"/>
            <a:ext cx="7239000" cy="375359"/>
          </a:xfrm>
          <a:prstGeom prst="rect">
            <a:avLst/>
          </a:prstGeom>
          <a:noFill/>
        </p:spPr>
        <p:txBody>
          <a:bodyPr wrap="square">
            <a:spAutoFit/>
          </a:bodyPr>
          <a:lstStyle/>
          <a:p>
            <a:pPr marL="0" marR="0">
              <a:lnSpc>
                <a:spcPct val="107000"/>
              </a:lnSpc>
              <a:spcBef>
                <a:spcPts val="0"/>
              </a:spcBef>
              <a:spcAft>
                <a:spcPts val="800"/>
              </a:spcAft>
            </a:pPr>
            <a:r>
              <a:rPr lang="en-US" sz="1800" dirty="0">
                <a:effectLst/>
                <a:latin typeface="Source Sans Pro" panose="020B0503030403020204" pitchFamily="34" charset="0"/>
                <a:ea typeface="Times New Roman" panose="02020603050405020304" pitchFamily="18" charset="0"/>
                <a:cs typeface="Times New Roman" panose="02020603050405020304" pitchFamily="18" charset="0"/>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1588FBE2-0D39-4DE5-5A99-E05481C187FC}"/>
              </a:ext>
            </a:extLst>
          </p:cNvPr>
          <p:cNvSpPr txBox="1"/>
          <p:nvPr/>
        </p:nvSpPr>
        <p:spPr>
          <a:xfrm>
            <a:off x="838200" y="1677807"/>
            <a:ext cx="8158161" cy="3280835"/>
          </a:xfrm>
          <a:prstGeom prst="rect">
            <a:avLst/>
          </a:prstGeom>
          <a:noFill/>
        </p:spPr>
        <p:txBody>
          <a:bodyPr wrap="square">
            <a:spAutoFit/>
          </a:bodyPr>
          <a:lstStyle/>
          <a:p>
            <a:pPr marL="0" marR="0">
              <a:lnSpc>
                <a:spcPct val="107000"/>
              </a:lnSpc>
              <a:spcBef>
                <a:spcPts val="0"/>
              </a:spcBef>
              <a:spcAft>
                <a:spcPts val="800"/>
              </a:spcAft>
            </a:pPr>
            <a:r>
              <a:rPr lang="en-US" sz="1800" b="1" dirty="0">
                <a:effectLst/>
                <a:latin typeface="Source Sans Pro" panose="020B0503030403020204" pitchFamily="34" charset="0"/>
                <a:ea typeface="Times New Roman" panose="02020603050405020304" pitchFamily="18" charset="0"/>
                <a:cs typeface="Times New Roman" panose="02020603050405020304" pitchFamily="18" charset="0"/>
              </a:rPr>
              <a:t>O(2</a:t>
            </a:r>
            <a:r>
              <a:rPr lang="en-US" sz="1800" b="1" baseline="30000" dirty="0">
                <a:effectLst/>
                <a:latin typeface="Source Sans Pro" panose="020B0503030403020204" pitchFamily="34" charset="0"/>
                <a:ea typeface="Times New Roman" panose="02020603050405020304" pitchFamily="18" charset="0"/>
                <a:cs typeface="Times New Roman" panose="02020603050405020304" pitchFamily="18" charset="0"/>
              </a:rPr>
              <a:t>n</a:t>
            </a:r>
            <a:r>
              <a:rPr lang="en-US" sz="1800" b="1" dirty="0">
                <a:effectLst/>
                <a:latin typeface="Source Sans Pro" panose="020B0503030403020204" pitchFamily="34" charset="0"/>
                <a:ea typeface="Times New Roman" panose="02020603050405020304" pitchFamily="18" charset="0"/>
                <a:cs typeface="Times New Roman" panose="02020603050405020304" pitchFamily="18"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latin typeface="Fira Code" panose="020B0809050000020004" pitchFamily="49" charset="0"/>
                <a:ea typeface="Times New Roman" panose="02020603050405020304" pitchFamily="18" charset="0"/>
                <a:cs typeface="Times New Roman" panose="02020603050405020304" pitchFamily="18" charset="0"/>
              </a:rPr>
              <a:t>int </a:t>
            </a:r>
            <a:r>
              <a:rPr lang="en-US" sz="1800" dirty="0" err="1">
                <a:effectLst/>
                <a:latin typeface="Fira Code" panose="020B0809050000020004" pitchFamily="49" charset="0"/>
                <a:ea typeface="Times New Roman" panose="02020603050405020304" pitchFamily="18" charset="0"/>
                <a:cs typeface="Times New Roman" panose="02020603050405020304" pitchFamily="18" charset="0"/>
              </a:rPr>
              <a:t>fibonacci</a:t>
            </a:r>
            <a:r>
              <a:rPr lang="en-US" sz="1800" dirty="0">
                <a:effectLst/>
                <a:latin typeface="Fira Code" panose="020B0809050000020004" pitchFamily="49" charset="0"/>
                <a:ea typeface="Times New Roman" panose="02020603050405020304" pitchFamily="18" charset="0"/>
                <a:cs typeface="Times New Roman" panose="02020603050405020304" pitchFamily="18" charset="0"/>
              </a:rPr>
              <a:t>(int 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latin typeface="Fira Code" panose="020B0809050000020004" pitchFamily="49" charset="0"/>
                <a:ea typeface="Times New Roman" panose="02020603050405020304" pitchFamily="18" charset="0"/>
                <a:cs typeface="Times New Roman" panose="02020603050405020304" pitchFamily="18"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latin typeface="Fira Code" panose="020B0809050000020004" pitchFamily="49" charset="0"/>
                <a:ea typeface="Times New Roman" panose="02020603050405020304" pitchFamily="18" charset="0"/>
                <a:cs typeface="Times New Roman" panose="02020603050405020304" pitchFamily="18" charset="0"/>
              </a:rPr>
              <a:t>    if (n &lt;= 1) return num;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latin typeface="Fira Code" panose="020B0809050000020004" pitchFamily="49" charset="0"/>
                <a:ea typeface="Times New Roman" panose="02020603050405020304" pitchFamily="18" charset="0"/>
                <a:cs typeface="Times New Roman" panose="02020603050405020304" pitchFamily="18" charset="0"/>
              </a:rPr>
              <a:t>    return </a:t>
            </a:r>
            <a:r>
              <a:rPr lang="en-US" sz="1800" dirty="0" err="1">
                <a:effectLst/>
                <a:latin typeface="Fira Code" panose="020B0809050000020004" pitchFamily="49" charset="0"/>
                <a:ea typeface="Times New Roman" panose="02020603050405020304" pitchFamily="18" charset="0"/>
                <a:cs typeface="Times New Roman" panose="02020603050405020304" pitchFamily="18" charset="0"/>
              </a:rPr>
              <a:t>fibonacci</a:t>
            </a:r>
            <a:r>
              <a:rPr lang="en-US" sz="1800" dirty="0">
                <a:effectLst/>
                <a:latin typeface="Fira Code" panose="020B0809050000020004" pitchFamily="49" charset="0"/>
                <a:ea typeface="Times New Roman" panose="02020603050405020304" pitchFamily="18" charset="0"/>
                <a:cs typeface="Times New Roman" panose="02020603050405020304" pitchFamily="18" charset="0"/>
              </a:rPr>
              <a:t>(n - 2) + </a:t>
            </a:r>
            <a:r>
              <a:rPr lang="en-US" sz="1800" dirty="0" err="1">
                <a:effectLst/>
                <a:latin typeface="Fira Code" panose="020B0809050000020004" pitchFamily="49" charset="0"/>
                <a:ea typeface="Times New Roman" panose="02020603050405020304" pitchFamily="18" charset="0"/>
                <a:cs typeface="Times New Roman" panose="02020603050405020304" pitchFamily="18" charset="0"/>
              </a:rPr>
              <a:t>fibonacci</a:t>
            </a:r>
            <a:r>
              <a:rPr lang="en-US" sz="1800" dirty="0">
                <a:effectLst/>
                <a:latin typeface="Fira Code" panose="020B0809050000020004" pitchFamily="49" charset="0"/>
                <a:ea typeface="Times New Roman" panose="02020603050405020304" pitchFamily="18" charset="0"/>
                <a:cs typeface="Times New Roman" panose="02020603050405020304" pitchFamily="18" charset="0"/>
              </a:rPr>
              <a:t>(n - 1);</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latin typeface="Fira Code" panose="020B0809050000020004" pitchFamily="49" charset="0"/>
                <a:ea typeface="Times New Roman" panose="02020603050405020304" pitchFamily="18" charset="0"/>
                <a:cs typeface="Times New Roman" panose="02020603050405020304" pitchFamily="18"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Source Sans Pro" panose="020B0503030403020204" pitchFamily="34" charset="0"/>
                <a:ea typeface="Times New Roman" panose="02020603050405020304" pitchFamily="18" charset="0"/>
                <a:cs typeface="Times New Roman" panose="02020603050405020304" pitchFamily="18" charset="0"/>
              </a:rPr>
              <a:t>An example of an O(2</a:t>
            </a:r>
            <a:r>
              <a:rPr lang="en-US" sz="1800" baseline="30000" dirty="0">
                <a:effectLst/>
                <a:latin typeface="Source Sans Pro" panose="020B0503030403020204" pitchFamily="34" charset="0"/>
                <a:ea typeface="Times New Roman" panose="02020603050405020304" pitchFamily="18" charset="0"/>
                <a:cs typeface="Times New Roman" panose="02020603050405020304" pitchFamily="18" charset="0"/>
              </a:rPr>
              <a:t>n</a:t>
            </a:r>
            <a:r>
              <a:rPr lang="en-US" sz="1800" dirty="0">
                <a:effectLst/>
                <a:latin typeface="Source Sans Pro" panose="020B0503030403020204" pitchFamily="34" charset="0"/>
                <a:ea typeface="Times New Roman" panose="02020603050405020304" pitchFamily="18" charset="0"/>
                <a:cs typeface="Times New Roman" panose="02020603050405020304" pitchFamily="18" charset="0"/>
              </a:rPr>
              <a:t>) function is the recursive calculation of Fibonacci numbers. O(2</a:t>
            </a:r>
            <a:r>
              <a:rPr lang="en-US" sz="1800" baseline="30000" dirty="0">
                <a:effectLst/>
                <a:latin typeface="Source Sans Pro" panose="020B0503030403020204" pitchFamily="34" charset="0"/>
                <a:ea typeface="Times New Roman" panose="02020603050405020304" pitchFamily="18" charset="0"/>
                <a:cs typeface="Times New Roman" panose="02020603050405020304" pitchFamily="18" charset="0"/>
              </a:rPr>
              <a:t>n</a:t>
            </a:r>
            <a:r>
              <a:rPr lang="en-US" sz="1800" dirty="0">
                <a:effectLst/>
                <a:latin typeface="Source Sans Pro" panose="020B0503030403020204" pitchFamily="34" charset="0"/>
                <a:ea typeface="Times New Roman" panose="02020603050405020304" pitchFamily="18" charset="0"/>
                <a:cs typeface="Times New Roman" panose="02020603050405020304" pitchFamily="18" charset="0"/>
              </a:rPr>
              <a:t>) denotes an algorithm whose growth doubles with each addition to the input data set. The growth curve of an O(2</a:t>
            </a:r>
            <a:r>
              <a:rPr lang="en-US" sz="1800" baseline="30000" dirty="0">
                <a:effectLst/>
                <a:latin typeface="Source Sans Pro" panose="020B0503030403020204" pitchFamily="34" charset="0"/>
                <a:ea typeface="Times New Roman" panose="02020603050405020304" pitchFamily="18" charset="0"/>
                <a:cs typeface="Times New Roman" panose="02020603050405020304" pitchFamily="18" charset="0"/>
              </a:rPr>
              <a:t>n</a:t>
            </a:r>
            <a:r>
              <a:rPr lang="en-US" sz="1800" dirty="0">
                <a:effectLst/>
                <a:latin typeface="Source Sans Pro" panose="020B0503030403020204" pitchFamily="34" charset="0"/>
                <a:ea typeface="Times New Roman" panose="02020603050405020304" pitchFamily="18" charset="0"/>
                <a:cs typeface="Times New Roman" panose="02020603050405020304" pitchFamily="18" charset="0"/>
              </a:rPr>
              <a:t>) function is exponential - starting off very shallow, then rising </a:t>
            </a:r>
            <a:r>
              <a:rPr lang="en-US" i="0" dirty="0">
                <a:solidFill>
                  <a:srgbClr val="202124"/>
                </a:solidFill>
                <a:effectLst/>
                <a:latin typeface="arial" panose="020B0604020202020204" pitchFamily="34" charset="0"/>
              </a:rPr>
              <a:t>dynamically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endParaRPr lang="en-US" dirty="0">
              <a:effectLst/>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820947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B3FC1-3889-3E8C-43B7-9FC83F8E73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8A1D1E-11A7-3776-6248-8195E89256C2}"/>
              </a:ext>
            </a:extLst>
          </p:cNvPr>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b="1" dirty="0">
                <a:effectLst/>
                <a:latin typeface="+mj-lt"/>
                <a:ea typeface="Times New Roman" panose="02020603050405020304" pitchFamily="18" charset="0"/>
                <a:cs typeface="Times New Roman" panose="02020603050405020304" pitchFamily="18" charset="0"/>
              </a:rPr>
              <a:t>For Understanding</a:t>
            </a:r>
            <a:endParaRPr lang="en-US" sz="2800" dirty="0">
              <a:effectLst/>
              <a:latin typeface="+mj-lt"/>
              <a:ea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70F35D89-707F-55B9-51C8-C186DBBF492D}"/>
              </a:ext>
            </a:extLst>
          </p:cNvPr>
          <p:cNvSpPr>
            <a:spLocks noGrp="1"/>
          </p:cNvSpPr>
          <p:nvPr>
            <p:ph type="dt" sz="half" idx="10"/>
          </p:nvPr>
        </p:nvSpPr>
        <p:spPr/>
        <p:txBody>
          <a:bodyPr/>
          <a:lstStyle/>
          <a:p>
            <a:fld id="{F6C643BA-ACA1-44BF-9071-763295A35907}" type="datetime4">
              <a:rPr lang="en-US" smtClean="0">
                <a:solidFill>
                  <a:prstClr val="white"/>
                </a:solidFill>
              </a:rPr>
              <a:pPr/>
              <a:t>March 13, 2024</a:t>
            </a:fld>
            <a:endParaRPr lang="en-US">
              <a:solidFill>
                <a:prstClr val="white"/>
              </a:solidFill>
            </a:endParaRPr>
          </a:p>
        </p:txBody>
      </p:sp>
      <p:sp>
        <p:nvSpPr>
          <p:cNvPr id="5" name="Footer Placeholder 4">
            <a:extLst>
              <a:ext uri="{FF2B5EF4-FFF2-40B4-BE49-F238E27FC236}">
                <a16:creationId xmlns:a16="http://schemas.microsoft.com/office/drawing/2014/main" id="{14CE57A9-6B1F-5AE5-52AD-5C53695F9E18}"/>
              </a:ext>
            </a:extLst>
          </p:cNvPr>
          <p:cNvSpPr>
            <a:spLocks noGrp="1"/>
          </p:cNvSpPr>
          <p:nvPr>
            <p:ph type="ftr" sz="quarter" idx="11"/>
          </p:nvPr>
        </p:nvSpPr>
        <p:spPr/>
        <p:txBody>
          <a:bodyPr/>
          <a:lstStyle/>
          <a:p>
            <a:r>
              <a:rPr lang="en-US" dirty="0">
                <a:solidFill>
                  <a:prstClr val="white"/>
                </a:solidFill>
              </a:rPr>
              <a:t>Department of Computer Science &amp; Engineering, VNRVJIET, Hyderabad</a:t>
            </a:r>
          </a:p>
        </p:txBody>
      </p:sp>
      <p:sp>
        <p:nvSpPr>
          <p:cNvPr id="6" name="Slide Number Placeholder 5">
            <a:extLst>
              <a:ext uri="{FF2B5EF4-FFF2-40B4-BE49-F238E27FC236}">
                <a16:creationId xmlns:a16="http://schemas.microsoft.com/office/drawing/2014/main" id="{25DC964E-00F2-B640-5F98-578F133A1D82}"/>
              </a:ext>
            </a:extLst>
          </p:cNvPr>
          <p:cNvSpPr>
            <a:spLocks noGrp="1"/>
          </p:cNvSpPr>
          <p:nvPr>
            <p:ph type="sldNum" sz="quarter" idx="12"/>
          </p:nvPr>
        </p:nvSpPr>
        <p:spPr/>
        <p:txBody>
          <a:bodyPr/>
          <a:lstStyle/>
          <a:p>
            <a:fld id="{C4FA3F07-B4E9-4FEB-BC07-B9713C186F28}" type="slidenum">
              <a:rPr lang="en-US" smtClean="0">
                <a:solidFill>
                  <a:prstClr val="white"/>
                </a:solidFill>
              </a:rPr>
              <a:pPr/>
              <a:t>45</a:t>
            </a:fld>
            <a:endParaRPr lang="en-US" dirty="0">
              <a:solidFill>
                <a:prstClr val="white"/>
              </a:solidFill>
            </a:endParaRPr>
          </a:p>
        </p:txBody>
      </p:sp>
      <p:sp>
        <p:nvSpPr>
          <p:cNvPr id="9" name="TextBox 8">
            <a:extLst>
              <a:ext uri="{FF2B5EF4-FFF2-40B4-BE49-F238E27FC236}">
                <a16:creationId xmlns:a16="http://schemas.microsoft.com/office/drawing/2014/main" id="{533D661D-360F-94DB-9F9B-18A44DD20B42}"/>
              </a:ext>
            </a:extLst>
          </p:cNvPr>
          <p:cNvSpPr txBox="1"/>
          <p:nvPr/>
        </p:nvSpPr>
        <p:spPr>
          <a:xfrm>
            <a:off x="838200" y="1524000"/>
            <a:ext cx="7239000" cy="375359"/>
          </a:xfrm>
          <a:prstGeom prst="rect">
            <a:avLst/>
          </a:prstGeom>
          <a:noFill/>
        </p:spPr>
        <p:txBody>
          <a:bodyPr wrap="square">
            <a:spAutoFit/>
          </a:bodyPr>
          <a:lstStyle/>
          <a:p>
            <a:pPr marL="0" marR="0">
              <a:lnSpc>
                <a:spcPct val="107000"/>
              </a:lnSpc>
              <a:spcBef>
                <a:spcPts val="0"/>
              </a:spcBef>
              <a:spcAft>
                <a:spcPts val="800"/>
              </a:spcAft>
            </a:pPr>
            <a:r>
              <a:rPr lang="en-US" sz="1800" dirty="0">
                <a:effectLst/>
                <a:latin typeface="Source Sans Pro" panose="020B0503030403020204" pitchFamily="34" charset="0"/>
                <a:ea typeface="Times New Roman" panose="02020603050405020304" pitchFamily="18" charset="0"/>
                <a:cs typeface="Times New Roman" panose="02020603050405020304" pitchFamily="18" charset="0"/>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0" name="Picture 9">
            <a:extLst>
              <a:ext uri="{FF2B5EF4-FFF2-40B4-BE49-F238E27FC236}">
                <a16:creationId xmlns:a16="http://schemas.microsoft.com/office/drawing/2014/main" id="{03C145E7-E470-8F4D-416B-F94934D7C2D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371600"/>
            <a:ext cx="6858000" cy="4299735"/>
          </a:xfrm>
          <a:prstGeom prst="rect">
            <a:avLst/>
          </a:prstGeom>
          <a:noFill/>
          <a:ln>
            <a:noFill/>
          </a:ln>
        </p:spPr>
      </p:pic>
    </p:spTree>
    <p:extLst>
      <p:ext uri="{BB962C8B-B14F-4D97-AF65-F5344CB8AC3E}">
        <p14:creationId xmlns:p14="http://schemas.microsoft.com/office/powerpoint/2010/main" val="22849213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b="1" dirty="0">
                <a:solidFill>
                  <a:schemeClr val="tx1"/>
                </a:solidFill>
                <a:effectLst/>
                <a:latin typeface="+mj-lt"/>
                <a:ea typeface="Times New Roman" panose="02020603050405020304" pitchFamily="18" charset="0"/>
                <a:cs typeface="Times New Roman" panose="02020603050405020304" pitchFamily="18" charset="0"/>
              </a:rPr>
              <a:t>For Understanding</a:t>
            </a:r>
            <a:endParaRPr lang="en-US" sz="2800" dirty="0">
              <a:solidFill>
                <a:schemeClr val="tx1"/>
              </a:solidFill>
              <a:effectLst/>
              <a:latin typeface="+mj-lt"/>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schemeClr val="tx1"/>
                </a:solidFill>
              </a:rPr>
              <a:pPr/>
              <a:t>March 13, 2024</a:t>
            </a:fld>
            <a:endParaRPr lang="en-US">
              <a:solidFill>
                <a:schemeClr val="tx1"/>
              </a:solidFill>
            </a:endParaRPr>
          </a:p>
        </p:txBody>
      </p:sp>
      <p:sp>
        <p:nvSpPr>
          <p:cNvPr id="5" name="Footer Placeholder 4"/>
          <p:cNvSpPr>
            <a:spLocks noGrp="1"/>
          </p:cNvSpPr>
          <p:nvPr>
            <p:ph type="ftr" sz="quarter" idx="11"/>
          </p:nvPr>
        </p:nvSpPr>
        <p:spPr/>
        <p:txBody>
          <a:bodyPr/>
          <a:lstStyle/>
          <a:p>
            <a:r>
              <a:rPr lang="en-US" dirty="0">
                <a:solidFill>
                  <a:schemeClr val="tx1"/>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schemeClr val="tx1"/>
                </a:solidFill>
              </a:rPr>
              <a:pPr/>
              <a:t>46</a:t>
            </a:fld>
            <a:endParaRPr lang="en-US" dirty="0">
              <a:solidFill>
                <a:schemeClr val="tx1"/>
              </a:solidFill>
            </a:endParaRPr>
          </a:p>
        </p:txBody>
      </p:sp>
      <p:sp>
        <p:nvSpPr>
          <p:cNvPr id="9" name="TextBox 8">
            <a:extLst>
              <a:ext uri="{FF2B5EF4-FFF2-40B4-BE49-F238E27FC236}">
                <a16:creationId xmlns:a16="http://schemas.microsoft.com/office/drawing/2014/main" id="{DA5BB459-B347-9CF6-63B5-E29136A3AF04}"/>
              </a:ext>
            </a:extLst>
          </p:cNvPr>
          <p:cNvSpPr txBox="1"/>
          <p:nvPr/>
        </p:nvSpPr>
        <p:spPr>
          <a:xfrm>
            <a:off x="838200" y="1524000"/>
            <a:ext cx="7239000" cy="375359"/>
          </a:xfrm>
          <a:prstGeom prst="rect">
            <a:avLst/>
          </a:prstGeom>
          <a:noFill/>
        </p:spPr>
        <p:txBody>
          <a:bodyPr wrap="square">
            <a:spAutoFit/>
          </a:bodyPr>
          <a:lstStyle/>
          <a:p>
            <a:pPr marL="0" marR="0">
              <a:lnSpc>
                <a:spcPct val="107000"/>
              </a:lnSpc>
              <a:spcBef>
                <a:spcPts val="0"/>
              </a:spcBef>
              <a:spcAft>
                <a:spcPts val="800"/>
              </a:spcAft>
            </a:pPr>
            <a:r>
              <a:rPr lang="en-US" sz="1800" dirty="0">
                <a:effectLst/>
                <a:latin typeface="Source Sans Pro" panose="020B0503030403020204" pitchFamily="34" charset="0"/>
                <a:ea typeface="Times New Roman" panose="02020603050405020304" pitchFamily="18" charset="0"/>
                <a:cs typeface="Times New Roman" panose="02020603050405020304" pitchFamily="18" charset="0"/>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1588FBE2-0D39-4DE5-5A99-E05481C187FC}"/>
              </a:ext>
            </a:extLst>
          </p:cNvPr>
          <p:cNvSpPr txBox="1"/>
          <p:nvPr/>
        </p:nvSpPr>
        <p:spPr>
          <a:xfrm>
            <a:off x="492919" y="1524000"/>
            <a:ext cx="8158161" cy="4393703"/>
          </a:xfrm>
          <a:prstGeom prst="rect">
            <a:avLst/>
          </a:prstGeom>
          <a:noFill/>
        </p:spPr>
        <p:txBody>
          <a:bodyPr wrap="square">
            <a:spAutoFit/>
          </a:bodyPr>
          <a:lstStyle/>
          <a:p>
            <a:pPr marL="0" marR="0">
              <a:lnSpc>
                <a:spcPct val="107000"/>
              </a:lnSpc>
              <a:spcBef>
                <a:spcPts val="0"/>
              </a:spcBef>
              <a:spcAft>
                <a:spcPts val="800"/>
              </a:spcAft>
            </a:pPr>
            <a:r>
              <a:rPr lang="en-US" sz="1800" b="1" dirty="0">
                <a:effectLst/>
                <a:ea typeface="Times New Roman" panose="02020603050405020304" pitchFamily="18" charset="0"/>
                <a:cs typeface="Times New Roman" panose="02020603050405020304" pitchFamily="18" charset="0"/>
              </a:rPr>
              <a:t>Drop the constants</a:t>
            </a:r>
            <a:endParaRPr lang="en-US" sz="1800" dirty="0">
              <a:effectLst/>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ea typeface="Times New Roman" panose="02020603050405020304" pitchFamily="18" charset="0"/>
                <a:cs typeface="Times New Roman" panose="02020603050405020304" pitchFamily="18" charset="0"/>
              </a:rPr>
              <a:t>When you're calculating the big O complexity of something, you just throw out the constants. Like:</a:t>
            </a:r>
            <a:endParaRPr lang="en-US" sz="1800"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ea typeface="Times New Roman" panose="02020603050405020304" pitchFamily="18" charset="0"/>
                <a:cs typeface="Times New Roman" panose="02020603050405020304" pitchFamily="18" charset="0"/>
              </a:rPr>
              <a:t>void </a:t>
            </a:r>
            <a:r>
              <a:rPr lang="en-US" sz="1800" dirty="0" err="1">
                <a:effectLst/>
                <a:ea typeface="Times New Roman" panose="02020603050405020304" pitchFamily="18" charset="0"/>
                <a:cs typeface="Times New Roman" panose="02020603050405020304" pitchFamily="18" charset="0"/>
              </a:rPr>
              <a:t>printAllItemsTwice</a:t>
            </a:r>
            <a:r>
              <a:rPr lang="en-US" sz="1800" dirty="0">
                <a:effectLst/>
                <a:ea typeface="Times New Roman" panose="02020603050405020304" pitchFamily="18" charset="0"/>
                <a:cs typeface="Times New Roman" panose="02020603050405020304" pitchFamily="18" charset="0"/>
              </a:rPr>
              <a:t>(int </a:t>
            </a:r>
            <a:r>
              <a:rPr lang="en-US" sz="1800" dirty="0" err="1">
                <a:effectLst/>
                <a:ea typeface="Times New Roman" panose="02020603050405020304" pitchFamily="18" charset="0"/>
                <a:cs typeface="Times New Roman" panose="02020603050405020304" pitchFamily="18" charset="0"/>
              </a:rPr>
              <a:t>arr</a:t>
            </a:r>
            <a:r>
              <a:rPr lang="en-US" sz="1800" dirty="0">
                <a:effectLst/>
                <a:ea typeface="Times New Roman" panose="02020603050405020304" pitchFamily="18" charset="0"/>
                <a:cs typeface="Times New Roman" panose="02020603050405020304" pitchFamily="18" charset="0"/>
              </a:rPr>
              <a:t>[], int size)</a:t>
            </a:r>
            <a:endParaRPr lang="en-US" sz="1800"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ea typeface="Times New Roman" panose="02020603050405020304" pitchFamily="18" charset="0"/>
                <a:cs typeface="Times New Roman" panose="02020603050405020304" pitchFamily="18" charset="0"/>
              </a:rPr>
              <a:t>{</a:t>
            </a:r>
            <a:endParaRPr lang="en-US" sz="1800"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ea typeface="Times New Roman" panose="02020603050405020304" pitchFamily="18" charset="0"/>
                <a:cs typeface="Times New Roman" panose="02020603050405020304" pitchFamily="18" charset="0"/>
              </a:rPr>
              <a:t>    for (int i = 0; i &lt; size; i++)</a:t>
            </a:r>
            <a:endParaRPr lang="en-US" sz="1800"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ea typeface="Times New Roman" panose="02020603050405020304" pitchFamily="18" charset="0"/>
                <a:cs typeface="Times New Roman" panose="02020603050405020304" pitchFamily="18" charset="0"/>
              </a:rPr>
              <a:t>    {</a:t>
            </a:r>
            <a:endParaRPr lang="en-US" sz="1800"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ea typeface="Times New Roman" panose="02020603050405020304" pitchFamily="18" charset="0"/>
                <a:cs typeface="Times New Roman" panose="02020603050405020304" pitchFamily="18" charset="0"/>
              </a:rPr>
              <a:t>        </a:t>
            </a:r>
            <a:r>
              <a:rPr lang="en-US" sz="1800" dirty="0" err="1">
                <a:effectLst/>
                <a:ea typeface="Times New Roman" panose="02020603050405020304" pitchFamily="18" charset="0"/>
                <a:cs typeface="Times New Roman" panose="02020603050405020304" pitchFamily="18" charset="0"/>
              </a:rPr>
              <a:t>printf</a:t>
            </a:r>
            <a:r>
              <a:rPr lang="en-US" sz="1800" dirty="0">
                <a:effectLst/>
                <a:ea typeface="Times New Roman" panose="02020603050405020304" pitchFamily="18" charset="0"/>
                <a:cs typeface="Times New Roman" panose="02020603050405020304" pitchFamily="18" charset="0"/>
              </a:rPr>
              <a:t>("%d\n", </a:t>
            </a:r>
            <a:r>
              <a:rPr lang="en-US" sz="1800" dirty="0" err="1">
                <a:effectLst/>
                <a:ea typeface="Times New Roman" panose="02020603050405020304" pitchFamily="18" charset="0"/>
                <a:cs typeface="Times New Roman" panose="02020603050405020304" pitchFamily="18" charset="0"/>
              </a:rPr>
              <a:t>arr</a:t>
            </a:r>
            <a:r>
              <a:rPr lang="en-US" sz="1800" dirty="0">
                <a:effectLst/>
                <a:ea typeface="Times New Roman" panose="02020603050405020304" pitchFamily="18" charset="0"/>
                <a:cs typeface="Times New Roman" panose="02020603050405020304" pitchFamily="18" charset="0"/>
              </a:rPr>
              <a:t>[i]);</a:t>
            </a:r>
            <a:endParaRPr lang="en-US" sz="1800"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ea typeface="Times New Roman" panose="02020603050405020304" pitchFamily="18" charset="0"/>
                <a:cs typeface="Times New Roman" panose="02020603050405020304" pitchFamily="18" charset="0"/>
              </a:rPr>
              <a:t>    }</a:t>
            </a:r>
            <a:endParaRPr lang="en-US" sz="1800"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ea typeface="Times New Roman" panose="02020603050405020304" pitchFamily="18" charset="0"/>
                <a:cs typeface="Times New Roman" panose="02020603050405020304" pitchFamily="18" charset="0"/>
              </a:rPr>
              <a:t>	</a:t>
            </a:r>
            <a:endParaRPr lang="en-US" sz="1800"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ea typeface="Times New Roman" panose="02020603050405020304" pitchFamily="18" charset="0"/>
                <a:cs typeface="Times New Roman" panose="02020603050405020304" pitchFamily="18" charset="0"/>
              </a:rPr>
              <a:t>    for (int i = 0; i &lt; size; i++)</a:t>
            </a:r>
            <a:endParaRPr lang="en-US" sz="1800"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ea typeface="Times New Roman" panose="02020603050405020304" pitchFamily="18" charset="0"/>
                <a:cs typeface="Times New Roman" panose="02020603050405020304" pitchFamily="18" charset="0"/>
              </a:rPr>
              <a:t>    {</a:t>
            </a:r>
            <a:endParaRPr lang="en-US" sz="1800"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ea typeface="Times New Roman" panose="02020603050405020304" pitchFamily="18" charset="0"/>
                <a:cs typeface="Times New Roman" panose="02020603050405020304" pitchFamily="18" charset="0"/>
              </a:rPr>
              <a:t>        </a:t>
            </a:r>
            <a:r>
              <a:rPr lang="en-US" sz="1800" dirty="0" err="1">
                <a:effectLst/>
                <a:ea typeface="Times New Roman" panose="02020603050405020304" pitchFamily="18" charset="0"/>
                <a:cs typeface="Times New Roman" panose="02020603050405020304" pitchFamily="18" charset="0"/>
              </a:rPr>
              <a:t>printf</a:t>
            </a:r>
            <a:r>
              <a:rPr lang="en-US" sz="1800" dirty="0">
                <a:effectLst/>
                <a:ea typeface="Times New Roman" panose="02020603050405020304" pitchFamily="18" charset="0"/>
                <a:cs typeface="Times New Roman" panose="02020603050405020304" pitchFamily="18" charset="0"/>
              </a:rPr>
              <a:t>("%d\n", </a:t>
            </a:r>
            <a:r>
              <a:rPr lang="en-US" sz="1800" dirty="0" err="1">
                <a:effectLst/>
                <a:ea typeface="Times New Roman" panose="02020603050405020304" pitchFamily="18" charset="0"/>
                <a:cs typeface="Times New Roman" panose="02020603050405020304" pitchFamily="18" charset="0"/>
              </a:rPr>
              <a:t>arr</a:t>
            </a:r>
            <a:r>
              <a:rPr lang="en-US" sz="1800" dirty="0">
                <a:effectLst/>
                <a:ea typeface="Times New Roman" panose="02020603050405020304" pitchFamily="18" charset="0"/>
                <a:cs typeface="Times New Roman" panose="02020603050405020304" pitchFamily="18" charset="0"/>
              </a:rPr>
              <a:t>[i]);</a:t>
            </a:r>
            <a:endParaRPr lang="en-US" sz="1800"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ea typeface="Times New Roman" panose="02020603050405020304" pitchFamily="18" charset="0"/>
                <a:cs typeface="Times New Roman" panose="02020603050405020304" pitchFamily="18" charset="0"/>
              </a:rPr>
              <a:t>    }</a:t>
            </a:r>
            <a:endParaRPr lang="en-US" sz="1800"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ea typeface="Times New Roman" panose="02020603050405020304" pitchFamily="18" charset="0"/>
                <a:cs typeface="Times New Roman" panose="02020603050405020304" pitchFamily="18" charset="0"/>
              </a:rPr>
              <a:t>}</a:t>
            </a:r>
            <a:endParaRPr lang="en-US" sz="1800" dirty="0">
              <a:effectLst/>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ea typeface="Times New Roman" panose="02020603050405020304" pitchFamily="18" charset="0"/>
                <a:cs typeface="Times New Roman" panose="02020603050405020304" pitchFamily="18" charset="0"/>
              </a:rPr>
              <a:t>This is O(2n), which we just call O(n).</a:t>
            </a:r>
            <a:endParaRPr lang="en-US" dirty="0">
              <a:effectLst/>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295305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b="1" dirty="0">
                <a:solidFill>
                  <a:schemeClr val="tx1"/>
                </a:solidFill>
                <a:effectLst/>
                <a:latin typeface="+mj-lt"/>
                <a:ea typeface="Times New Roman" panose="02020603050405020304" pitchFamily="18" charset="0"/>
                <a:cs typeface="Times New Roman" panose="02020603050405020304" pitchFamily="18" charset="0"/>
              </a:rPr>
              <a:t>For Understanding</a:t>
            </a:r>
            <a:endParaRPr lang="en-US" sz="2800" dirty="0">
              <a:solidFill>
                <a:schemeClr val="tx1"/>
              </a:solidFill>
              <a:effectLst/>
              <a:latin typeface="+mj-lt"/>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schemeClr val="tx1"/>
                </a:solidFill>
              </a:rPr>
              <a:pPr/>
              <a:t>March 13, 2024</a:t>
            </a:fld>
            <a:endParaRPr lang="en-US">
              <a:solidFill>
                <a:schemeClr val="tx1"/>
              </a:solidFill>
            </a:endParaRPr>
          </a:p>
        </p:txBody>
      </p:sp>
      <p:sp>
        <p:nvSpPr>
          <p:cNvPr id="5" name="Footer Placeholder 4"/>
          <p:cNvSpPr>
            <a:spLocks noGrp="1"/>
          </p:cNvSpPr>
          <p:nvPr>
            <p:ph type="ftr" sz="quarter" idx="11"/>
          </p:nvPr>
        </p:nvSpPr>
        <p:spPr/>
        <p:txBody>
          <a:bodyPr/>
          <a:lstStyle/>
          <a:p>
            <a:r>
              <a:rPr lang="en-US" dirty="0">
                <a:solidFill>
                  <a:schemeClr val="tx1"/>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schemeClr val="tx1"/>
                </a:solidFill>
              </a:rPr>
              <a:pPr/>
              <a:t>47</a:t>
            </a:fld>
            <a:endParaRPr lang="en-US" dirty="0">
              <a:solidFill>
                <a:schemeClr val="tx1"/>
              </a:solidFill>
            </a:endParaRPr>
          </a:p>
        </p:txBody>
      </p:sp>
      <p:sp>
        <p:nvSpPr>
          <p:cNvPr id="9" name="TextBox 8">
            <a:extLst>
              <a:ext uri="{FF2B5EF4-FFF2-40B4-BE49-F238E27FC236}">
                <a16:creationId xmlns:a16="http://schemas.microsoft.com/office/drawing/2014/main" id="{DA5BB459-B347-9CF6-63B5-E29136A3AF04}"/>
              </a:ext>
            </a:extLst>
          </p:cNvPr>
          <p:cNvSpPr txBox="1"/>
          <p:nvPr/>
        </p:nvSpPr>
        <p:spPr>
          <a:xfrm>
            <a:off x="838200" y="1524000"/>
            <a:ext cx="7239000" cy="375359"/>
          </a:xfrm>
          <a:prstGeom prst="rect">
            <a:avLst/>
          </a:prstGeom>
          <a:noFill/>
        </p:spPr>
        <p:txBody>
          <a:bodyPr wrap="square">
            <a:spAutoFit/>
          </a:bodyPr>
          <a:lstStyle/>
          <a:p>
            <a:pPr marL="0" marR="0">
              <a:lnSpc>
                <a:spcPct val="107000"/>
              </a:lnSpc>
              <a:spcBef>
                <a:spcPts val="0"/>
              </a:spcBef>
              <a:spcAft>
                <a:spcPts val="800"/>
              </a:spcAft>
            </a:pPr>
            <a:r>
              <a:rPr lang="en-US" sz="1800" dirty="0">
                <a:effectLst/>
                <a:latin typeface="Source Sans Pro" panose="020B0503030403020204" pitchFamily="34" charset="0"/>
                <a:ea typeface="Times New Roman" panose="02020603050405020304" pitchFamily="18" charset="0"/>
                <a:cs typeface="Times New Roman" panose="02020603050405020304" pitchFamily="18" charset="0"/>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430800A6-7DBE-E0DC-D031-35D8E0147F9F}"/>
              </a:ext>
            </a:extLst>
          </p:cNvPr>
          <p:cNvSpPr txBox="1"/>
          <p:nvPr/>
        </p:nvSpPr>
        <p:spPr>
          <a:xfrm>
            <a:off x="952500" y="1311275"/>
            <a:ext cx="7734300" cy="4778424"/>
          </a:xfrm>
          <a:prstGeom prst="rect">
            <a:avLst/>
          </a:prstGeom>
          <a:noFill/>
        </p:spPr>
        <p:txBody>
          <a:bodyPr wrap="square">
            <a:spAutoFit/>
          </a:bodyPr>
          <a:lstStyle/>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dirty="0">
                <a:effectLst/>
                <a:ea typeface="Times New Roman" panose="02020603050405020304" pitchFamily="18" charset="0"/>
                <a:cs typeface="Times New Roman" panose="02020603050405020304" pitchFamily="18" charset="0"/>
              </a:rPr>
              <a:t>void printFirstItemThenFirstHalfThenSayHi100Times(int </a:t>
            </a:r>
            <a:r>
              <a:rPr lang="en-US" dirty="0" err="1">
                <a:effectLst/>
                <a:ea typeface="Times New Roman" panose="02020603050405020304" pitchFamily="18" charset="0"/>
                <a:cs typeface="Times New Roman" panose="02020603050405020304" pitchFamily="18" charset="0"/>
              </a:rPr>
              <a:t>arr</a:t>
            </a:r>
            <a:r>
              <a:rPr lang="en-US" dirty="0">
                <a:effectLst/>
                <a:ea typeface="Times New Roman" panose="02020603050405020304" pitchFamily="18" charset="0"/>
                <a:cs typeface="Times New Roman" panose="02020603050405020304" pitchFamily="18" charset="0"/>
              </a:rPr>
              <a:t>[], int size)</a:t>
            </a:r>
            <a:endParaRPr lang="en-US"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dirty="0">
                <a:effectLst/>
                <a:ea typeface="Times New Roman" panose="02020603050405020304" pitchFamily="18" charset="0"/>
                <a:cs typeface="Times New Roman" panose="02020603050405020304" pitchFamily="18" charset="0"/>
              </a:rPr>
              <a:t>{</a:t>
            </a:r>
            <a:endParaRPr lang="en-US"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dirty="0">
                <a:effectLst/>
                <a:ea typeface="Times New Roman" panose="02020603050405020304" pitchFamily="18" charset="0"/>
                <a:cs typeface="Times New Roman" panose="02020603050405020304" pitchFamily="18" charset="0"/>
              </a:rPr>
              <a:t>    </a:t>
            </a:r>
            <a:r>
              <a:rPr lang="en-US" dirty="0" err="1">
                <a:effectLst/>
                <a:ea typeface="Times New Roman" panose="02020603050405020304" pitchFamily="18" charset="0"/>
                <a:cs typeface="Times New Roman" panose="02020603050405020304" pitchFamily="18" charset="0"/>
              </a:rPr>
              <a:t>printf</a:t>
            </a:r>
            <a:r>
              <a:rPr lang="en-US" dirty="0">
                <a:effectLst/>
                <a:ea typeface="Times New Roman" panose="02020603050405020304" pitchFamily="18" charset="0"/>
                <a:cs typeface="Times New Roman" panose="02020603050405020304" pitchFamily="18" charset="0"/>
              </a:rPr>
              <a:t>("First element of array = %d\n",</a:t>
            </a:r>
            <a:r>
              <a:rPr lang="en-US" dirty="0" err="1">
                <a:effectLst/>
                <a:ea typeface="Times New Roman" panose="02020603050405020304" pitchFamily="18" charset="0"/>
                <a:cs typeface="Times New Roman" panose="02020603050405020304" pitchFamily="18" charset="0"/>
              </a:rPr>
              <a:t>arr</a:t>
            </a:r>
            <a:r>
              <a:rPr lang="en-US" dirty="0">
                <a:effectLst/>
                <a:ea typeface="Times New Roman" panose="02020603050405020304" pitchFamily="18" charset="0"/>
                <a:cs typeface="Times New Roman" panose="02020603050405020304" pitchFamily="18" charset="0"/>
              </a:rPr>
              <a:t>[0]);</a:t>
            </a:r>
            <a:endParaRPr lang="en-US"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dirty="0">
                <a:effectLst/>
                <a:ea typeface="Times New Roman" panose="02020603050405020304" pitchFamily="18" charset="0"/>
                <a:cs typeface="Times New Roman" panose="02020603050405020304" pitchFamily="18" charset="0"/>
              </a:rPr>
              <a:t>	</a:t>
            </a:r>
            <a:endParaRPr lang="en-US"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dirty="0">
                <a:effectLst/>
                <a:ea typeface="Times New Roman" panose="02020603050405020304" pitchFamily="18" charset="0"/>
                <a:cs typeface="Times New Roman" panose="02020603050405020304" pitchFamily="18" charset="0"/>
              </a:rPr>
              <a:t>    for (int i = 0; i &lt; size/2; i++)</a:t>
            </a:r>
            <a:endParaRPr lang="en-US"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dirty="0">
                <a:effectLst/>
                <a:ea typeface="Times New Roman" panose="02020603050405020304" pitchFamily="18" charset="0"/>
                <a:cs typeface="Times New Roman" panose="02020603050405020304" pitchFamily="18" charset="0"/>
              </a:rPr>
              <a:t>    {</a:t>
            </a:r>
            <a:endParaRPr lang="en-US"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dirty="0">
                <a:effectLst/>
                <a:ea typeface="Times New Roman" panose="02020603050405020304" pitchFamily="18" charset="0"/>
                <a:cs typeface="Times New Roman" panose="02020603050405020304" pitchFamily="18" charset="0"/>
              </a:rPr>
              <a:t>        </a:t>
            </a:r>
            <a:r>
              <a:rPr lang="en-US" dirty="0" err="1">
                <a:effectLst/>
                <a:ea typeface="Times New Roman" panose="02020603050405020304" pitchFamily="18" charset="0"/>
                <a:cs typeface="Times New Roman" panose="02020603050405020304" pitchFamily="18" charset="0"/>
              </a:rPr>
              <a:t>printf</a:t>
            </a:r>
            <a:r>
              <a:rPr lang="en-US" dirty="0">
                <a:effectLst/>
                <a:ea typeface="Times New Roman" panose="02020603050405020304" pitchFamily="18" charset="0"/>
                <a:cs typeface="Times New Roman" panose="02020603050405020304" pitchFamily="18" charset="0"/>
              </a:rPr>
              <a:t>("%d\n", </a:t>
            </a:r>
            <a:r>
              <a:rPr lang="en-US" dirty="0" err="1">
                <a:effectLst/>
                <a:ea typeface="Times New Roman" panose="02020603050405020304" pitchFamily="18" charset="0"/>
                <a:cs typeface="Times New Roman" panose="02020603050405020304" pitchFamily="18" charset="0"/>
              </a:rPr>
              <a:t>arr</a:t>
            </a:r>
            <a:r>
              <a:rPr lang="en-US" dirty="0">
                <a:effectLst/>
                <a:ea typeface="Times New Roman" panose="02020603050405020304" pitchFamily="18" charset="0"/>
                <a:cs typeface="Times New Roman" panose="02020603050405020304" pitchFamily="18" charset="0"/>
              </a:rPr>
              <a:t>[i]);</a:t>
            </a:r>
            <a:endParaRPr lang="en-US"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dirty="0">
                <a:effectLst/>
                <a:ea typeface="Times New Roman" panose="02020603050405020304" pitchFamily="18" charset="0"/>
                <a:cs typeface="Times New Roman" panose="02020603050405020304" pitchFamily="18" charset="0"/>
              </a:rPr>
              <a:t>    }</a:t>
            </a:r>
            <a:endParaRPr lang="en-US"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dirty="0">
                <a:effectLst/>
                <a:ea typeface="Times New Roman" panose="02020603050405020304" pitchFamily="18" charset="0"/>
                <a:cs typeface="Times New Roman" panose="02020603050405020304" pitchFamily="18" charset="0"/>
              </a:rPr>
              <a:t> </a:t>
            </a:r>
            <a:endParaRPr lang="en-US"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dirty="0">
                <a:effectLst/>
                <a:ea typeface="Times New Roman" panose="02020603050405020304" pitchFamily="18" charset="0"/>
                <a:cs typeface="Times New Roman" panose="02020603050405020304" pitchFamily="18" charset="0"/>
              </a:rPr>
              <a:t>    for (int i = 0; i &lt; 100; i++)</a:t>
            </a:r>
            <a:endParaRPr lang="en-US"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dirty="0">
                <a:effectLst/>
                <a:ea typeface="Times New Roman" panose="02020603050405020304" pitchFamily="18" charset="0"/>
                <a:cs typeface="Times New Roman" panose="02020603050405020304" pitchFamily="18" charset="0"/>
              </a:rPr>
              <a:t>    {</a:t>
            </a:r>
            <a:endParaRPr lang="en-US"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dirty="0">
                <a:effectLst/>
                <a:ea typeface="Times New Roman" panose="02020603050405020304" pitchFamily="18" charset="0"/>
                <a:cs typeface="Times New Roman" panose="02020603050405020304" pitchFamily="18" charset="0"/>
              </a:rPr>
              <a:t>        </a:t>
            </a:r>
            <a:r>
              <a:rPr lang="en-US" dirty="0" err="1">
                <a:effectLst/>
                <a:ea typeface="Times New Roman" panose="02020603050405020304" pitchFamily="18" charset="0"/>
                <a:cs typeface="Times New Roman" panose="02020603050405020304" pitchFamily="18" charset="0"/>
              </a:rPr>
              <a:t>printf</a:t>
            </a:r>
            <a:r>
              <a:rPr lang="en-US" dirty="0">
                <a:effectLst/>
                <a:ea typeface="Times New Roman" panose="02020603050405020304" pitchFamily="18" charset="0"/>
                <a:cs typeface="Times New Roman" panose="02020603050405020304" pitchFamily="18" charset="0"/>
              </a:rPr>
              <a:t>("Hi\n");</a:t>
            </a:r>
            <a:endParaRPr lang="en-US"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dirty="0">
                <a:effectLst/>
                <a:ea typeface="Times New Roman" panose="02020603050405020304" pitchFamily="18" charset="0"/>
                <a:cs typeface="Times New Roman" panose="02020603050405020304" pitchFamily="18" charset="0"/>
              </a:rPr>
              <a:t>    }</a:t>
            </a:r>
            <a:endParaRPr lang="en-US"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dirty="0">
                <a:effectLst/>
                <a:ea typeface="Times New Roman" panose="02020603050405020304" pitchFamily="18" charset="0"/>
                <a:cs typeface="Times New Roman" panose="02020603050405020304" pitchFamily="18" charset="0"/>
              </a:rPr>
              <a:t>}</a:t>
            </a:r>
            <a:endParaRPr lang="en-US" dirty="0">
              <a:effectLst/>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dirty="0">
                <a:effectLst/>
                <a:ea typeface="Times New Roman" panose="02020603050405020304" pitchFamily="18" charset="0"/>
                <a:cs typeface="Times New Roman" panose="02020603050405020304" pitchFamily="18" charset="0"/>
              </a:rPr>
              <a:t>This is O(1 + n/2 + 100), which we just call O(n).</a:t>
            </a:r>
            <a:endParaRPr lang="en-US" dirty="0">
              <a:effectLst/>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dirty="0">
                <a:effectLst/>
                <a:ea typeface="Times New Roman" panose="02020603050405020304" pitchFamily="18" charset="0"/>
                <a:cs typeface="Times New Roman" panose="02020603050405020304" pitchFamily="18" charset="0"/>
              </a:rPr>
              <a:t>Why can we get away with this? Remember, for big O notation we're looking at what happens as n gets arbitrarily large. As n gets really big, adding 100 or dividing by 2 has a decreasingly significant effect.</a:t>
            </a:r>
            <a:endParaRPr lang="en-US"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232122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b="1" dirty="0">
                <a:solidFill>
                  <a:schemeClr val="tx1"/>
                </a:solidFill>
                <a:effectLst/>
                <a:latin typeface="+mj-lt"/>
                <a:ea typeface="Times New Roman" panose="02020603050405020304" pitchFamily="18" charset="0"/>
                <a:cs typeface="Times New Roman" panose="02020603050405020304" pitchFamily="18" charset="0"/>
              </a:rPr>
              <a:t>For Understanding</a:t>
            </a:r>
            <a:endParaRPr lang="en-US" sz="2800" dirty="0">
              <a:solidFill>
                <a:schemeClr val="tx1"/>
              </a:solidFill>
              <a:effectLst/>
              <a:latin typeface="+mj-lt"/>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schemeClr val="tx1"/>
                </a:solidFill>
              </a:rPr>
              <a:pPr/>
              <a:t>March 13, 2024</a:t>
            </a:fld>
            <a:endParaRPr lang="en-US">
              <a:solidFill>
                <a:schemeClr val="tx1"/>
              </a:solidFill>
            </a:endParaRPr>
          </a:p>
        </p:txBody>
      </p:sp>
      <p:sp>
        <p:nvSpPr>
          <p:cNvPr id="5" name="Footer Placeholder 4"/>
          <p:cNvSpPr>
            <a:spLocks noGrp="1"/>
          </p:cNvSpPr>
          <p:nvPr>
            <p:ph type="ftr" sz="quarter" idx="11"/>
          </p:nvPr>
        </p:nvSpPr>
        <p:spPr/>
        <p:txBody>
          <a:bodyPr/>
          <a:lstStyle/>
          <a:p>
            <a:r>
              <a:rPr lang="en-US" dirty="0">
                <a:solidFill>
                  <a:schemeClr val="tx1"/>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schemeClr val="tx1"/>
                </a:solidFill>
              </a:rPr>
              <a:pPr/>
              <a:t>48</a:t>
            </a:fld>
            <a:endParaRPr lang="en-US" dirty="0">
              <a:solidFill>
                <a:schemeClr val="tx1"/>
              </a:solidFill>
            </a:endParaRPr>
          </a:p>
        </p:txBody>
      </p:sp>
      <p:sp>
        <p:nvSpPr>
          <p:cNvPr id="9" name="TextBox 8">
            <a:extLst>
              <a:ext uri="{FF2B5EF4-FFF2-40B4-BE49-F238E27FC236}">
                <a16:creationId xmlns:a16="http://schemas.microsoft.com/office/drawing/2014/main" id="{DA5BB459-B347-9CF6-63B5-E29136A3AF04}"/>
              </a:ext>
            </a:extLst>
          </p:cNvPr>
          <p:cNvSpPr txBox="1"/>
          <p:nvPr/>
        </p:nvSpPr>
        <p:spPr>
          <a:xfrm>
            <a:off x="838200" y="1524000"/>
            <a:ext cx="7239000" cy="375359"/>
          </a:xfrm>
          <a:prstGeom prst="rect">
            <a:avLst/>
          </a:prstGeom>
          <a:noFill/>
        </p:spPr>
        <p:txBody>
          <a:bodyPr wrap="square">
            <a:spAutoFit/>
          </a:bodyPr>
          <a:lstStyle/>
          <a:p>
            <a:pPr marL="0" marR="0">
              <a:lnSpc>
                <a:spcPct val="107000"/>
              </a:lnSpc>
              <a:spcBef>
                <a:spcPts val="0"/>
              </a:spcBef>
              <a:spcAft>
                <a:spcPts val="800"/>
              </a:spcAft>
            </a:pPr>
            <a:r>
              <a:rPr lang="en-US" sz="1800" dirty="0">
                <a:effectLst/>
                <a:latin typeface="Source Sans Pro" panose="020B0503030403020204" pitchFamily="34" charset="0"/>
                <a:ea typeface="Times New Roman" panose="02020603050405020304" pitchFamily="18" charset="0"/>
                <a:cs typeface="Times New Roman" panose="02020603050405020304" pitchFamily="18" charset="0"/>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430800A6-7DBE-E0DC-D031-35D8E0147F9F}"/>
              </a:ext>
            </a:extLst>
          </p:cNvPr>
          <p:cNvSpPr txBox="1"/>
          <p:nvPr/>
        </p:nvSpPr>
        <p:spPr>
          <a:xfrm>
            <a:off x="952500" y="1311275"/>
            <a:ext cx="7848600" cy="4584653"/>
          </a:xfrm>
          <a:prstGeom prst="rect">
            <a:avLst/>
          </a:prstGeom>
          <a:noFill/>
        </p:spPr>
        <p:txBody>
          <a:bodyPr wrap="square">
            <a:spAutoFit/>
          </a:bodyPr>
          <a:lstStyle/>
          <a:p>
            <a:pPr marL="0" marR="0">
              <a:lnSpc>
                <a:spcPct val="107000"/>
              </a:lnSpc>
              <a:spcBef>
                <a:spcPts val="0"/>
              </a:spcBef>
              <a:spcAft>
                <a:spcPts val="800"/>
              </a:spcAft>
            </a:pPr>
            <a:r>
              <a:rPr lang="en-US" sz="1800" b="1" dirty="0">
                <a:effectLst/>
                <a:ea typeface="Times New Roman" panose="02020603050405020304" pitchFamily="18" charset="0"/>
                <a:cs typeface="Times New Roman" panose="02020603050405020304" pitchFamily="18" charset="0"/>
              </a:rPr>
              <a:t>6. Drop the less significant terms</a:t>
            </a:r>
            <a:endParaRPr lang="en-US" sz="1800"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ea typeface="Times New Roman" panose="02020603050405020304" pitchFamily="18" charset="0"/>
                <a:cs typeface="Times New Roman" panose="02020603050405020304" pitchFamily="18" charset="0"/>
              </a:rPr>
              <a:t>void </a:t>
            </a:r>
            <a:r>
              <a:rPr lang="en-US" sz="1800" dirty="0" err="1">
                <a:effectLst/>
                <a:ea typeface="Times New Roman" panose="02020603050405020304" pitchFamily="18" charset="0"/>
                <a:cs typeface="Times New Roman" panose="02020603050405020304" pitchFamily="18" charset="0"/>
              </a:rPr>
              <a:t>printAllNumbersThenAllPairSums</a:t>
            </a:r>
            <a:r>
              <a:rPr lang="en-US" sz="1800" dirty="0">
                <a:effectLst/>
                <a:ea typeface="Times New Roman" panose="02020603050405020304" pitchFamily="18" charset="0"/>
                <a:cs typeface="Times New Roman" panose="02020603050405020304" pitchFamily="18" charset="0"/>
              </a:rPr>
              <a:t>(int </a:t>
            </a:r>
            <a:r>
              <a:rPr lang="en-US" sz="1800" dirty="0" err="1">
                <a:effectLst/>
                <a:ea typeface="Times New Roman" panose="02020603050405020304" pitchFamily="18" charset="0"/>
                <a:cs typeface="Times New Roman" panose="02020603050405020304" pitchFamily="18" charset="0"/>
              </a:rPr>
              <a:t>arr</a:t>
            </a:r>
            <a:r>
              <a:rPr lang="en-US" sz="1800" dirty="0">
                <a:effectLst/>
                <a:ea typeface="Times New Roman" panose="02020603050405020304" pitchFamily="18" charset="0"/>
                <a:cs typeface="Times New Roman" panose="02020603050405020304" pitchFamily="18" charset="0"/>
              </a:rPr>
              <a:t>[], int size)</a:t>
            </a:r>
            <a:endParaRPr lang="en-US" sz="1800"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ea typeface="Times New Roman" panose="02020603050405020304" pitchFamily="18" charset="0"/>
                <a:cs typeface="Times New Roman" panose="02020603050405020304" pitchFamily="18" charset="0"/>
              </a:rPr>
              <a:t>{</a:t>
            </a:r>
            <a:endParaRPr lang="en-US" sz="1800"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ea typeface="Times New Roman" panose="02020603050405020304" pitchFamily="18" charset="0"/>
                <a:cs typeface="Times New Roman" panose="02020603050405020304" pitchFamily="18" charset="0"/>
              </a:rPr>
              <a:t>    for (int i = 0; i &lt; size; i++)</a:t>
            </a:r>
            <a:endParaRPr lang="en-US" sz="1800"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ea typeface="Times New Roman" panose="02020603050405020304" pitchFamily="18" charset="0"/>
                <a:cs typeface="Times New Roman" panose="02020603050405020304" pitchFamily="18" charset="0"/>
              </a:rPr>
              <a:t>    {</a:t>
            </a:r>
            <a:endParaRPr lang="en-US" sz="1800"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ea typeface="Times New Roman" panose="02020603050405020304" pitchFamily="18" charset="0"/>
                <a:cs typeface="Times New Roman" panose="02020603050405020304" pitchFamily="18" charset="0"/>
              </a:rPr>
              <a:t>        </a:t>
            </a:r>
            <a:r>
              <a:rPr lang="en-US" sz="1800" dirty="0" err="1">
                <a:effectLst/>
                <a:ea typeface="Times New Roman" panose="02020603050405020304" pitchFamily="18" charset="0"/>
                <a:cs typeface="Times New Roman" panose="02020603050405020304" pitchFamily="18" charset="0"/>
              </a:rPr>
              <a:t>printf</a:t>
            </a:r>
            <a:r>
              <a:rPr lang="en-US" sz="1800" dirty="0">
                <a:effectLst/>
                <a:ea typeface="Times New Roman" panose="02020603050405020304" pitchFamily="18" charset="0"/>
                <a:cs typeface="Times New Roman" panose="02020603050405020304" pitchFamily="18" charset="0"/>
              </a:rPr>
              <a:t>("%d\n", </a:t>
            </a:r>
            <a:r>
              <a:rPr lang="en-US" sz="1800" dirty="0" err="1">
                <a:effectLst/>
                <a:ea typeface="Times New Roman" panose="02020603050405020304" pitchFamily="18" charset="0"/>
                <a:cs typeface="Times New Roman" panose="02020603050405020304" pitchFamily="18" charset="0"/>
              </a:rPr>
              <a:t>arr</a:t>
            </a:r>
            <a:r>
              <a:rPr lang="en-US" sz="1800" dirty="0">
                <a:effectLst/>
                <a:ea typeface="Times New Roman" panose="02020603050405020304" pitchFamily="18" charset="0"/>
                <a:cs typeface="Times New Roman" panose="02020603050405020304" pitchFamily="18" charset="0"/>
              </a:rPr>
              <a:t>[i]);</a:t>
            </a:r>
            <a:endParaRPr lang="en-US" sz="1800"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ea typeface="Times New Roman" panose="02020603050405020304" pitchFamily="18" charset="0"/>
                <a:cs typeface="Times New Roman" panose="02020603050405020304" pitchFamily="18" charset="0"/>
              </a:rPr>
              <a:t>    }</a:t>
            </a:r>
            <a:endParaRPr lang="en-US" sz="1800"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ea typeface="Times New Roman" panose="02020603050405020304" pitchFamily="18" charset="0"/>
                <a:cs typeface="Times New Roman" panose="02020603050405020304" pitchFamily="18" charset="0"/>
              </a:rPr>
              <a:t> </a:t>
            </a:r>
            <a:endParaRPr lang="en-US" sz="1800" dirty="0">
              <a:effectLst/>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ea typeface="Times New Roman" panose="02020603050405020304" pitchFamily="18" charset="0"/>
                <a:cs typeface="Times New Roman" panose="02020603050405020304" pitchFamily="18" charset="0"/>
              </a:rPr>
              <a:t>    for (int i = 0; i &lt; size; i++)</a:t>
            </a:r>
            <a:endParaRPr lang="en-US" sz="1800"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ea typeface="Times New Roman" panose="02020603050405020304" pitchFamily="18" charset="0"/>
                <a:cs typeface="Times New Roman" panose="02020603050405020304" pitchFamily="18" charset="0"/>
              </a:rPr>
              <a:t>    {</a:t>
            </a:r>
            <a:endParaRPr lang="en-US" sz="1800"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ea typeface="Times New Roman" panose="02020603050405020304" pitchFamily="18" charset="0"/>
                <a:cs typeface="Times New Roman" panose="02020603050405020304" pitchFamily="18" charset="0"/>
              </a:rPr>
              <a:t>        for (int j = 0; j &lt; size; </a:t>
            </a:r>
            <a:r>
              <a:rPr lang="en-US" sz="1800" dirty="0" err="1">
                <a:effectLst/>
                <a:ea typeface="Times New Roman" panose="02020603050405020304" pitchFamily="18" charset="0"/>
                <a:cs typeface="Times New Roman" panose="02020603050405020304" pitchFamily="18" charset="0"/>
              </a:rPr>
              <a:t>j++</a:t>
            </a:r>
            <a:r>
              <a:rPr lang="en-US" sz="1800" dirty="0">
                <a:effectLst/>
                <a:ea typeface="Times New Roman" panose="02020603050405020304" pitchFamily="18" charset="0"/>
                <a:cs typeface="Times New Roman" panose="02020603050405020304" pitchFamily="18" charset="0"/>
              </a:rPr>
              <a:t>)</a:t>
            </a:r>
            <a:endParaRPr lang="en-US" sz="1800"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ea typeface="Times New Roman" panose="02020603050405020304" pitchFamily="18" charset="0"/>
                <a:cs typeface="Times New Roman" panose="02020603050405020304" pitchFamily="18" charset="0"/>
              </a:rPr>
              <a:t>        {</a:t>
            </a:r>
            <a:endParaRPr lang="en-US" sz="1800"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ea typeface="Times New Roman" panose="02020603050405020304" pitchFamily="18" charset="0"/>
                <a:cs typeface="Times New Roman" panose="02020603050405020304" pitchFamily="18" charset="0"/>
              </a:rPr>
              <a:t>            </a:t>
            </a:r>
            <a:r>
              <a:rPr lang="en-US" sz="1800" dirty="0" err="1">
                <a:effectLst/>
                <a:ea typeface="Times New Roman" panose="02020603050405020304" pitchFamily="18" charset="0"/>
                <a:cs typeface="Times New Roman" panose="02020603050405020304" pitchFamily="18" charset="0"/>
              </a:rPr>
              <a:t>printf</a:t>
            </a:r>
            <a:r>
              <a:rPr lang="en-US" sz="1800" dirty="0">
                <a:effectLst/>
                <a:ea typeface="Times New Roman" panose="02020603050405020304" pitchFamily="18" charset="0"/>
                <a:cs typeface="Times New Roman" panose="02020603050405020304" pitchFamily="18" charset="0"/>
              </a:rPr>
              <a:t>("%d\n", </a:t>
            </a:r>
            <a:r>
              <a:rPr lang="en-US" sz="1800" dirty="0" err="1">
                <a:effectLst/>
                <a:ea typeface="Times New Roman" panose="02020603050405020304" pitchFamily="18" charset="0"/>
                <a:cs typeface="Times New Roman" panose="02020603050405020304" pitchFamily="18" charset="0"/>
              </a:rPr>
              <a:t>arr</a:t>
            </a:r>
            <a:r>
              <a:rPr lang="en-US" sz="1800" dirty="0">
                <a:effectLst/>
                <a:ea typeface="Times New Roman" panose="02020603050405020304" pitchFamily="18" charset="0"/>
                <a:cs typeface="Times New Roman" panose="02020603050405020304" pitchFamily="18" charset="0"/>
              </a:rPr>
              <a:t>[i] + </a:t>
            </a:r>
            <a:r>
              <a:rPr lang="en-US" sz="1800" dirty="0" err="1">
                <a:effectLst/>
                <a:ea typeface="Times New Roman" panose="02020603050405020304" pitchFamily="18" charset="0"/>
                <a:cs typeface="Times New Roman" panose="02020603050405020304" pitchFamily="18" charset="0"/>
              </a:rPr>
              <a:t>arr</a:t>
            </a:r>
            <a:r>
              <a:rPr lang="en-US" sz="1800" dirty="0">
                <a:effectLst/>
                <a:ea typeface="Times New Roman" panose="02020603050405020304" pitchFamily="18" charset="0"/>
                <a:cs typeface="Times New Roman" panose="02020603050405020304" pitchFamily="18" charset="0"/>
              </a:rPr>
              <a:t>[j]);</a:t>
            </a:r>
            <a:endParaRPr lang="en-US" sz="1800"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ea typeface="Times New Roman" panose="02020603050405020304" pitchFamily="18" charset="0"/>
                <a:cs typeface="Times New Roman" panose="02020603050405020304" pitchFamily="18" charset="0"/>
              </a:rPr>
              <a:t>        }</a:t>
            </a:r>
            <a:endParaRPr lang="en-US" sz="1800"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ea typeface="Times New Roman" panose="02020603050405020304" pitchFamily="18" charset="0"/>
                <a:cs typeface="Times New Roman" panose="02020603050405020304" pitchFamily="18" charset="0"/>
              </a:rPr>
              <a:t>    }</a:t>
            </a:r>
            <a:endParaRPr lang="en-US" sz="1800"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ea typeface="Times New Roman" panose="02020603050405020304" pitchFamily="18" charset="0"/>
                <a:cs typeface="Times New Roman" panose="02020603050405020304" pitchFamily="18" charset="0"/>
              </a:rPr>
              <a:t>}</a:t>
            </a:r>
            <a:endParaRPr lang="en-US" sz="1800" dirty="0">
              <a:effectLst/>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ea typeface="Times New Roman" panose="02020603050405020304" pitchFamily="18" charset="0"/>
                <a:cs typeface="Times New Roman" panose="02020603050405020304" pitchFamily="18" charset="0"/>
              </a:rPr>
              <a:t>Here our runtime is O(n + n</a:t>
            </a:r>
            <a:r>
              <a:rPr lang="en-US" sz="1800" baseline="30000" dirty="0">
                <a:effectLst/>
                <a:ea typeface="Times New Roman" panose="02020603050405020304" pitchFamily="18" charset="0"/>
                <a:cs typeface="Times New Roman" panose="02020603050405020304" pitchFamily="18" charset="0"/>
              </a:rPr>
              <a:t>2</a:t>
            </a:r>
            <a:r>
              <a:rPr lang="en-US" sz="1800" dirty="0">
                <a:effectLst/>
                <a:ea typeface="Times New Roman" panose="02020603050405020304" pitchFamily="18" charset="0"/>
                <a:cs typeface="Times New Roman" panose="02020603050405020304" pitchFamily="18" charset="0"/>
              </a:rPr>
              <a:t>), which we just call O(n</a:t>
            </a:r>
            <a:r>
              <a:rPr lang="en-US" sz="1800" baseline="30000" dirty="0">
                <a:effectLst/>
                <a:ea typeface="Times New Roman" panose="02020603050405020304" pitchFamily="18" charset="0"/>
                <a:cs typeface="Times New Roman" panose="02020603050405020304" pitchFamily="18" charset="0"/>
              </a:rPr>
              <a:t>2</a:t>
            </a:r>
            <a:r>
              <a:rPr lang="en-US" sz="1800" dirty="0">
                <a:effectLst/>
                <a:ea typeface="Times New Roman" panose="02020603050405020304" pitchFamily="18" charset="0"/>
                <a:cs typeface="Times New Roman" panose="02020603050405020304" pitchFamily="18" charset="0"/>
              </a:rPr>
              <a:t>).</a:t>
            </a:r>
            <a:endParaRPr lang="en-US" sz="1800" dirty="0">
              <a:effectLst/>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D9158438-4B31-9039-7887-60AF181155F0}"/>
              </a:ext>
            </a:extLst>
          </p:cNvPr>
          <p:cNvSpPr/>
          <p:nvPr/>
        </p:nvSpPr>
        <p:spPr>
          <a:xfrm>
            <a:off x="5029200" y="2438400"/>
            <a:ext cx="3505200" cy="1371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a:lnSpc>
                <a:spcPct val="107000"/>
              </a:lnSpc>
              <a:spcBef>
                <a:spcPts val="0"/>
              </a:spcBef>
              <a:spcAft>
                <a:spcPts val="800"/>
              </a:spcAft>
            </a:pPr>
            <a:r>
              <a:rPr lang="en-US" sz="1800" b="1" dirty="0">
                <a:effectLst/>
                <a:ea typeface="Times New Roman" panose="02020603050405020304" pitchFamily="18" charset="0"/>
                <a:cs typeface="Times New Roman" panose="02020603050405020304" pitchFamily="18" charset="0"/>
              </a:rPr>
              <a:t>Similarly:</a:t>
            </a:r>
            <a:endParaRPr lang="en-US" sz="1800" dirty="0">
              <a:effectLst/>
              <a:ea typeface="Calibri" panose="020F0502020204030204" pitchFamily="34" charset="0"/>
              <a:cs typeface="Times New Roman" panose="02020603050405020304" pitchFamily="18" charset="0"/>
            </a:endParaRPr>
          </a:p>
          <a:p>
            <a:pPr marL="285750" marR="0" lvl="0" indent="-285750">
              <a:lnSpc>
                <a:spcPct val="107000"/>
              </a:lnSpc>
              <a:spcBef>
                <a:spcPts val="0"/>
              </a:spcBef>
              <a:spcAft>
                <a:spcPts val="750"/>
              </a:spcAft>
              <a:buSzPts val="1000"/>
              <a:buFont typeface="Wingdings" panose="05000000000000000000" pitchFamily="2" charset="2"/>
              <a:buChar char="q"/>
              <a:tabLst>
                <a:tab pos="457200" algn="l"/>
              </a:tabLst>
            </a:pPr>
            <a:r>
              <a:rPr lang="en-US" sz="1800" dirty="0">
                <a:effectLst/>
                <a:ea typeface="Times New Roman" panose="02020603050405020304" pitchFamily="18" charset="0"/>
                <a:cs typeface="Times New Roman" panose="02020603050405020304" pitchFamily="18" charset="0"/>
              </a:rPr>
              <a:t>O(n</a:t>
            </a:r>
            <a:r>
              <a:rPr lang="en-US" sz="1800" baseline="30000" dirty="0">
                <a:effectLst/>
                <a:ea typeface="Times New Roman" panose="02020603050405020304" pitchFamily="18" charset="0"/>
                <a:cs typeface="Times New Roman" panose="02020603050405020304" pitchFamily="18" charset="0"/>
              </a:rPr>
              <a:t>3</a:t>
            </a:r>
            <a:r>
              <a:rPr lang="en-US" sz="1800" dirty="0">
                <a:effectLst/>
                <a:ea typeface="Times New Roman" panose="02020603050405020304" pitchFamily="18" charset="0"/>
                <a:cs typeface="Times New Roman" panose="02020603050405020304" pitchFamily="18" charset="0"/>
              </a:rPr>
              <a:t> + 50n</a:t>
            </a:r>
            <a:r>
              <a:rPr lang="en-US" sz="1800" baseline="30000" dirty="0">
                <a:effectLst/>
                <a:ea typeface="Times New Roman" panose="02020603050405020304" pitchFamily="18" charset="0"/>
                <a:cs typeface="Times New Roman" panose="02020603050405020304" pitchFamily="18" charset="0"/>
              </a:rPr>
              <a:t>2</a:t>
            </a:r>
            <a:r>
              <a:rPr lang="en-US" sz="1800" dirty="0">
                <a:effectLst/>
                <a:ea typeface="Times New Roman" panose="02020603050405020304" pitchFamily="18" charset="0"/>
                <a:cs typeface="Times New Roman" panose="02020603050405020304" pitchFamily="18" charset="0"/>
              </a:rPr>
              <a:t> + 10000) is O(n</a:t>
            </a:r>
            <a:r>
              <a:rPr lang="en-US" sz="1800" baseline="30000" dirty="0">
                <a:effectLst/>
                <a:ea typeface="Times New Roman" panose="02020603050405020304" pitchFamily="18" charset="0"/>
                <a:cs typeface="Times New Roman" panose="02020603050405020304" pitchFamily="18" charset="0"/>
              </a:rPr>
              <a:t>3</a:t>
            </a:r>
            <a:r>
              <a:rPr lang="en-US" sz="1800" dirty="0">
                <a:effectLst/>
                <a:ea typeface="Times New Roman" panose="02020603050405020304" pitchFamily="18" charset="0"/>
                <a:cs typeface="Times New Roman" panose="02020603050405020304" pitchFamily="18" charset="0"/>
              </a:rPr>
              <a:t>)</a:t>
            </a:r>
            <a:endParaRPr lang="en-US" sz="1800" dirty="0">
              <a:effectLst/>
              <a:ea typeface="Calibri" panose="020F0502020204030204" pitchFamily="34" charset="0"/>
              <a:cs typeface="Times New Roman" panose="02020603050405020304" pitchFamily="18" charset="0"/>
            </a:endParaRPr>
          </a:p>
          <a:p>
            <a:pPr marL="285750" marR="0" lvl="0" indent="-285750">
              <a:lnSpc>
                <a:spcPct val="107000"/>
              </a:lnSpc>
              <a:spcBef>
                <a:spcPts val="0"/>
              </a:spcBef>
              <a:spcAft>
                <a:spcPts val="750"/>
              </a:spcAft>
              <a:buSzPts val="1000"/>
              <a:buFont typeface="Wingdings" panose="05000000000000000000" pitchFamily="2" charset="2"/>
              <a:buChar char="q"/>
              <a:tabLst>
                <a:tab pos="457200" algn="l"/>
              </a:tabLst>
            </a:pPr>
            <a:r>
              <a:rPr lang="en-US" sz="1800" dirty="0">
                <a:effectLst/>
                <a:ea typeface="Times New Roman" panose="02020603050405020304" pitchFamily="18" charset="0"/>
                <a:cs typeface="Times New Roman" panose="02020603050405020304" pitchFamily="18" charset="0"/>
              </a:rPr>
              <a:t>O((n + 30) * (n + 5)) is O(n</a:t>
            </a:r>
            <a:r>
              <a:rPr lang="en-US" sz="1800" baseline="30000" dirty="0">
                <a:effectLst/>
                <a:ea typeface="Times New Roman" panose="02020603050405020304" pitchFamily="18" charset="0"/>
                <a:cs typeface="Times New Roman" panose="02020603050405020304" pitchFamily="18" charset="0"/>
              </a:rPr>
              <a:t>2</a:t>
            </a:r>
            <a:r>
              <a:rPr lang="en-US" sz="1800" dirty="0">
                <a:effectLst/>
                <a:ea typeface="Times New Roman" panose="02020603050405020304" pitchFamily="18" charset="0"/>
                <a:cs typeface="Times New Roman" panose="02020603050405020304" pitchFamily="18" charset="0"/>
              </a:rPr>
              <a:t>)</a:t>
            </a:r>
            <a:endParaRPr lang="en-US" sz="18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9637308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b="1" dirty="0">
                <a:solidFill>
                  <a:schemeClr val="tx1"/>
                </a:solidFill>
                <a:effectLst/>
                <a:latin typeface="+mj-lt"/>
                <a:ea typeface="Times New Roman" panose="02020603050405020304" pitchFamily="18" charset="0"/>
                <a:cs typeface="Times New Roman" panose="02020603050405020304" pitchFamily="18" charset="0"/>
              </a:rPr>
              <a:t>For Understanding</a:t>
            </a:r>
            <a:endParaRPr lang="en-US" sz="2800" dirty="0">
              <a:solidFill>
                <a:schemeClr val="tx1"/>
              </a:solidFill>
              <a:effectLst/>
              <a:latin typeface="+mj-lt"/>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schemeClr val="tx1"/>
                </a:solidFill>
              </a:rPr>
              <a:pPr/>
              <a:t>March 13, 2024</a:t>
            </a:fld>
            <a:endParaRPr lang="en-US">
              <a:solidFill>
                <a:schemeClr val="tx1"/>
              </a:solidFill>
            </a:endParaRPr>
          </a:p>
        </p:txBody>
      </p:sp>
      <p:sp>
        <p:nvSpPr>
          <p:cNvPr id="5" name="Footer Placeholder 4"/>
          <p:cNvSpPr>
            <a:spLocks noGrp="1"/>
          </p:cNvSpPr>
          <p:nvPr>
            <p:ph type="ftr" sz="quarter" idx="11"/>
          </p:nvPr>
        </p:nvSpPr>
        <p:spPr/>
        <p:txBody>
          <a:bodyPr/>
          <a:lstStyle/>
          <a:p>
            <a:r>
              <a:rPr lang="en-US" dirty="0">
                <a:solidFill>
                  <a:schemeClr val="tx1"/>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schemeClr val="tx1"/>
                </a:solidFill>
              </a:rPr>
              <a:pPr/>
              <a:t>49</a:t>
            </a:fld>
            <a:endParaRPr lang="en-US" dirty="0">
              <a:solidFill>
                <a:schemeClr val="tx1"/>
              </a:solidFill>
            </a:endParaRPr>
          </a:p>
        </p:txBody>
      </p:sp>
      <p:sp>
        <p:nvSpPr>
          <p:cNvPr id="9" name="TextBox 8">
            <a:extLst>
              <a:ext uri="{FF2B5EF4-FFF2-40B4-BE49-F238E27FC236}">
                <a16:creationId xmlns:a16="http://schemas.microsoft.com/office/drawing/2014/main" id="{DA5BB459-B347-9CF6-63B5-E29136A3AF04}"/>
              </a:ext>
            </a:extLst>
          </p:cNvPr>
          <p:cNvSpPr txBox="1"/>
          <p:nvPr/>
        </p:nvSpPr>
        <p:spPr>
          <a:xfrm>
            <a:off x="838200" y="1524000"/>
            <a:ext cx="7239000" cy="375359"/>
          </a:xfrm>
          <a:prstGeom prst="rect">
            <a:avLst/>
          </a:prstGeom>
          <a:noFill/>
        </p:spPr>
        <p:txBody>
          <a:bodyPr wrap="square">
            <a:spAutoFit/>
          </a:bodyPr>
          <a:lstStyle/>
          <a:p>
            <a:pPr marL="0" marR="0">
              <a:lnSpc>
                <a:spcPct val="107000"/>
              </a:lnSpc>
              <a:spcBef>
                <a:spcPts val="0"/>
              </a:spcBef>
              <a:spcAft>
                <a:spcPts val="800"/>
              </a:spcAft>
            </a:pPr>
            <a:r>
              <a:rPr lang="en-US" sz="1800" dirty="0">
                <a:effectLst/>
                <a:latin typeface="Source Sans Pro" panose="020B0503030403020204" pitchFamily="34" charset="0"/>
                <a:ea typeface="Times New Roman" panose="02020603050405020304" pitchFamily="18" charset="0"/>
                <a:cs typeface="Times New Roman" panose="02020603050405020304" pitchFamily="18" charset="0"/>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0B589BD9-6810-85B8-1A47-F5BEA15CB90E}"/>
              </a:ext>
            </a:extLst>
          </p:cNvPr>
          <p:cNvSpPr txBox="1"/>
          <p:nvPr/>
        </p:nvSpPr>
        <p:spPr>
          <a:xfrm>
            <a:off x="519114" y="1495425"/>
            <a:ext cx="8243886" cy="4478149"/>
          </a:xfrm>
          <a:prstGeom prst="rect">
            <a:avLst/>
          </a:prstGeom>
          <a:noFill/>
        </p:spPr>
        <p:txBody>
          <a:bodyPr wrap="square">
            <a:spAutoFit/>
          </a:bodyPr>
          <a:lstStyle/>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ea typeface="Times New Roman" panose="02020603050405020304" pitchFamily="18" charset="0"/>
                <a:cs typeface="Times New Roman" panose="02020603050405020304" pitchFamily="18" charset="0"/>
              </a:rPr>
              <a:t>#include&lt;stdio.h&gt;</a:t>
            </a:r>
            <a:endParaRPr lang="en-US" sz="2400"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ea typeface="Times New Roman" panose="02020603050405020304" pitchFamily="18" charset="0"/>
                <a:cs typeface="Times New Roman" panose="02020603050405020304" pitchFamily="18" charset="0"/>
              </a:rPr>
              <a:t>#include&lt;time.h&gt;</a:t>
            </a:r>
            <a:endParaRPr lang="en-US" sz="2400"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ea typeface="Times New Roman" panose="02020603050405020304" pitchFamily="18" charset="0"/>
                <a:cs typeface="Times New Roman" panose="02020603050405020304" pitchFamily="18" charset="0"/>
              </a:rPr>
              <a:t>void </a:t>
            </a:r>
            <a:r>
              <a:rPr lang="en-US" sz="1800" dirty="0" err="1">
                <a:effectLst/>
                <a:ea typeface="Times New Roman" panose="02020603050405020304" pitchFamily="18" charset="0"/>
                <a:cs typeface="Times New Roman" panose="02020603050405020304" pitchFamily="18" charset="0"/>
              </a:rPr>
              <a:t>print_values</a:t>
            </a:r>
            <a:r>
              <a:rPr lang="en-US" sz="1800" dirty="0">
                <a:effectLst/>
                <a:ea typeface="Times New Roman" panose="02020603050405020304" pitchFamily="18" charset="0"/>
                <a:cs typeface="Times New Roman" panose="02020603050405020304" pitchFamily="18" charset="0"/>
              </a:rPr>
              <a:t>(int end) </a:t>
            </a:r>
            <a:endParaRPr lang="en-US" sz="2400"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ea typeface="Times New Roman" panose="02020603050405020304" pitchFamily="18" charset="0"/>
                <a:cs typeface="Times New Roman" panose="02020603050405020304" pitchFamily="18" charset="0"/>
              </a:rPr>
              <a:t>{</a:t>
            </a:r>
            <a:endParaRPr lang="en-US" sz="2400"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ea typeface="Times New Roman" panose="02020603050405020304" pitchFamily="18" charset="0"/>
                <a:cs typeface="Times New Roman" panose="02020603050405020304" pitchFamily="18" charset="0"/>
              </a:rPr>
              <a:t>    for (int i = 0; i &lt; end; i++)</a:t>
            </a:r>
            <a:endParaRPr lang="en-US" sz="2400"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ea typeface="Times New Roman" panose="02020603050405020304" pitchFamily="18" charset="0"/>
                <a:cs typeface="Times New Roman" panose="02020603050405020304" pitchFamily="18" charset="0"/>
              </a:rPr>
              <a:t>    {</a:t>
            </a:r>
            <a:endParaRPr lang="en-US" sz="2400"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ea typeface="Times New Roman" panose="02020603050405020304" pitchFamily="18" charset="0"/>
                <a:cs typeface="Times New Roman" panose="02020603050405020304" pitchFamily="18" charset="0"/>
              </a:rPr>
              <a:t>        </a:t>
            </a:r>
            <a:r>
              <a:rPr lang="en-US" sz="1800" dirty="0" err="1">
                <a:effectLst/>
                <a:ea typeface="Times New Roman" panose="02020603050405020304" pitchFamily="18" charset="0"/>
                <a:cs typeface="Times New Roman" panose="02020603050405020304" pitchFamily="18" charset="0"/>
              </a:rPr>
              <a:t>printf</a:t>
            </a:r>
            <a:r>
              <a:rPr lang="en-US" sz="1800" dirty="0">
                <a:effectLst/>
                <a:ea typeface="Times New Roman" panose="02020603050405020304" pitchFamily="18" charset="0"/>
                <a:cs typeface="Times New Roman" panose="02020603050405020304" pitchFamily="18" charset="0"/>
              </a:rPr>
              <a:t>("%d\n", i);</a:t>
            </a:r>
            <a:endParaRPr lang="en-US" sz="2400"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ea typeface="Times New Roman" panose="02020603050405020304" pitchFamily="18" charset="0"/>
                <a:cs typeface="Times New Roman" panose="02020603050405020304" pitchFamily="18" charset="0"/>
              </a:rPr>
              <a:t>    }</a:t>
            </a:r>
            <a:endParaRPr lang="en-US" sz="2400"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ea typeface="Times New Roman" panose="02020603050405020304" pitchFamily="18" charset="0"/>
                <a:cs typeface="Times New Roman" panose="02020603050405020304" pitchFamily="18" charset="0"/>
              </a:rPr>
              <a:t>}</a:t>
            </a:r>
            <a:endParaRPr lang="en-US" sz="2400"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ea typeface="Times New Roman" panose="02020603050405020304" pitchFamily="18" charset="0"/>
                <a:cs typeface="Times New Roman" panose="02020603050405020304" pitchFamily="18" charset="0"/>
              </a:rPr>
              <a:t>int main()</a:t>
            </a:r>
            <a:endParaRPr lang="en-US" sz="2400"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ea typeface="Times New Roman" panose="02020603050405020304" pitchFamily="18" charset="0"/>
                <a:cs typeface="Times New Roman" panose="02020603050405020304" pitchFamily="18" charset="0"/>
              </a:rPr>
              <a:t>{</a:t>
            </a:r>
            <a:endParaRPr lang="en-US" sz="2400"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ea typeface="Times New Roman" panose="02020603050405020304" pitchFamily="18" charset="0"/>
                <a:cs typeface="Times New Roman" panose="02020603050405020304" pitchFamily="18" charset="0"/>
              </a:rPr>
              <a:t>    </a:t>
            </a:r>
            <a:r>
              <a:rPr lang="en-US" sz="1800" dirty="0" err="1">
                <a:effectLst/>
                <a:ea typeface="Times New Roman" panose="02020603050405020304" pitchFamily="18" charset="0"/>
                <a:cs typeface="Times New Roman" panose="02020603050405020304" pitchFamily="18" charset="0"/>
              </a:rPr>
              <a:t>clock_t</a:t>
            </a:r>
            <a:r>
              <a:rPr lang="en-US" sz="1800" dirty="0">
                <a:effectLst/>
                <a:ea typeface="Times New Roman" panose="02020603050405020304" pitchFamily="18" charset="0"/>
                <a:cs typeface="Times New Roman" panose="02020603050405020304" pitchFamily="18" charset="0"/>
              </a:rPr>
              <a:t> t;      t = clock();       </a:t>
            </a:r>
            <a:r>
              <a:rPr lang="en-US" sz="1800" dirty="0" err="1">
                <a:effectLst/>
                <a:ea typeface="Times New Roman" panose="02020603050405020304" pitchFamily="18" charset="0"/>
                <a:cs typeface="Times New Roman" panose="02020603050405020304" pitchFamily="18" charset="0"/>
              </a:rPr>
              <a:t>print_values</a:t>
            </a:r>
            <a:r>
              <a:rPr lang="en-US" sz="1800" dirty="0">
                <a:effectLst/>
                <a:ea typeface="Times New Roman" panose="02020603050405020304" pitchFamily="18" charset="0"/>
                <a:cs typeface="Times New Roman" panose="02020603050405020304" pitchFamily="18" charset="0"/>
              </a:rPr>
              <a:t>(10000);</a:t>
            </a:r>
            <a:endParaRPr lang="en-US" sz="2400"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ea typeface="Times New Roman" panose="02020603050405020304" pitchFamily="18" charset="0"/>
                <a:cs typeface="Times New Roman" panose="02020603050405020304" pitchFamily="18" charset="0"/>
              </a:rPr>
              <a:t> </a:t>
            </a:r>
            <a:endParaRPr lang="en-US" sz="2400"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ea typeface="Times New Roman" panose="02020603050405020304" pitchFamily="18" charset="0"/>
                <a:cs typeface="Times New Roman" panose="02020603050405020304" pitchFamily="18" charset="0"/>
              </a:rPr>
              <a:t>    float diff = ((float)(clock() - t)) / CLOCKS_PER_SEC ;</a:t>
            </a:r>
            <a:endParaRPr lang="en-US" sz="2400"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ea typeface="Times New Roman" panose="02020603050405020304" pitchFamily="18" charset="0"/>
                <a:cs typeface="Times New Roman" panose="02020603050405020304" pitchFamily="18" charset="0"/>
              </a:rPr>
              <a:t>    </a:t>
            </a:r>
            <a:r>
              <a:rPr lang="en-US" sz="1800" dirty="0" err="1">
                <a:effectLst/>
                <a:ea typeface="Times New Roman" panose="02020603050405020304" pitchFamily="18" charset="0"/>
                <a:cs typeface="Times New Roman" panose="02020603050405020304" pitchFamily="18" charset="0"/>
              </a:rPr>
              <a:t>printf</a:t>
            </a:r>
            <a:r>
              <a:rPr lang="en-US" sz="1800" dirty="0">
                <a:effectLst/>
                <a:ea typeface="Times New Roman" panose="02020603050405020304" pitchFamily="18" charset="0"/>
                <a:cs typeface="Times New Roman" panose="02020603050405020304" pitchFamily="18" charset="0"/>
              </a:rPr>
              <a:t> ("\n\n diff=%f \n\n", diff);</a:t>
            </a:r>
            <a:endParaRPr lang="en-US" sz="2400"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ea typeface="Times New Roman" panose="02020603050405020304" pitchFamily="18" charset="0"/>
                <a:cs typeface="Times New Roman" panose="02020603050405020304" pitchFamily="18" charset="0"/>
              </a:rPr>
              <a:t> </a:t>
            </a:r>
            <a:endParaRPr lang="en-US" sz="2400"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ea typeface="Times New Roman" panose="02020603050405020304" pitchFamily="18" charset="0"/>
                <a:cs typeface="Times New Roman" panose="02020603050405020304" pitchFamily="18" charset="0"/>
              </a:rPr>
              <a:t>    return 0;</a:t>
            </a:r>
            <a:endParaRPr lang="en-US" sz="2400" dirty="0">
              <a:effectLst/>
              <a:ea typeface="Calibri" panose="020F0502020204030204" pitchFamily="34" charset="0"/>
              <a:cs typeface="Times New Roman" panose="02020603050405020304" pitchFamily="18" charset="0"/>
            </a:endParaRPr>
          </a:p>
          <a:p>
            <a:pPr marL="0" marR="0">
              <a:lnSpc>
                <a:spcPts val="19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ea typeface="Times New Roman" panose="02020603050405020304" pitchFamily="18" charset="0"/>
                <a:cs typeface="Times New Roman" panose="02020603050405020304" pitchFamily="18" charset="0"/>
              </a:rPr>
              <a:t>}</a:t>
            </a:r>
            <a:endParaRPr lang="en-US" sz="24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900602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b="1" dirty="0">
                <a:solidFill>
                  <a:schemeClr val="tx1"/>
                </a:solidFill>
                <a:latin typeface="+mj-lt"/>
                <a:ea typeface="Times New Roman" panose="02020603050405020304" pitchFamily="18" charset="0"/>
                <a:cs typeface="Times New Roman" panose="02020603050405020304" pitchFamily="18" charset="0"/>
              </a:rPr>
              <a:t>Step count  for recursive algorithms</a:t>
            </a:r>
            <a:endParaRPr lang="en-US" sz="2800" dirty="0">
              <a:solidFill>
                <a:schemeClr val="tx1"/>
              </a:solidFill>
              <a:effectLst/>
              <a:latin typeface="+mj-lt"/>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schemeClr val="tx1"/>
                </a:solidFill>
              </a:rPr>
              <a:pPr/>
              <a:t>March 13, 2024</a:t>
            </a:fld>
            <a:endParaRPr lang="en-US">
              <a:solidFill>
                <a:schemeClr val="tx1"/>
              </a:solidFill>
            </a:endParaRPr>
          </a:p>
        </p:txBody>
      </p:sp>
      <p:sp>
        <p:nvSpPr>
          <p:cNvPr id="5" name="Footer Placeholder 4"/>
          <p:cNvSpPr>
            <a:spLocks noGrp="1"/>
          </p:cNvSpPr>
          <p:nvPr>
            <p:ph type="ftr" sz="quarter" idx="11"/>
          </p:nvPr>
        </p:nvSpPr>
        <p:spPr/>
        <p:txBody>
          <a:bodyPr/>
          <a:lstStyle/>
          <a:p>
            <a:r>
              <a:rPr lang="en-US" dirty="0">
                <a:solidFill>
                  <a:schemeClr val="tx1"/>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schemeClr val="tx1"/>
                </a:solidFill>
              </a:rPr>
              <a:pPr/>
              <a:t>50</a:t>
            </a:fld>
            <a:endParaRPr lang="en-US" dirty="0">
              <a:solidFill>
                <a:schemeClr val="tx1"/>
              </a:solidFill>
            </a:endParaRPr>
          </a:p>
        </p:txBody>
      </p:sp>
      <p:sp>
        <p:nvSpPr>
          <p:cNvPr id="9" name="TextBox 8">
            <a:extLst>
              <a:ext uri="{FF2B5EF4-FFF2-40B4-BE49-F238E27FC236}">
                <a16:creationId xmlns:a16="http://schemas.microsoft.com/office/drawing/2014/main" id="{DA5BB459-B347-9CF6-63B5-E29136A3AF04}"/>
              </a:ext>
            </a:extLst>
          </p:cNvPr>
          <p:cNvSpPr txBox="1"/>
          <p:nvPr/>
        </p:nvSpPr>
        <p:spPr>
          <a:xfrm>
            <a:off x="838200" y="1524000"/>
            <a:ext cx="7239000" cy="375359"/>
          </a:xfrm>
          <a:prstGeom prst="rect">
            <a:avLst/>
          </a:prstGeom>
          <a:noFill/>
        </p:spPr>
        <p:txBody>
          <a:bodyPr wrap="square">
            <a:spAutoFit/>
          </a:bodyPr>
          <a:lstStyle/>
          <a:p>
            <a:pPr marL="0" marR="0">
              <a:lnSpc>
                <a:spcPct val="107000"/>
              </a:lnSpc>
              <a:spcBef>
                <a:spcPts val="0"/>
              </a:spcBef>
              <a:spcAft>
                <a:spcPts val="800"/>
              </a:spcAft>
            </a:pPr>
            <a:r>
              <a:rPr lang="en-US" sz="1800" dirty="0">
                <a:effectLst/>
                <a:latin typeface="Source Sans Pro" panose="020B0503030403020204" pitchFamily="34" charset="0"/>
                <a:ea typeface="Times New Roman" panose="02020603050405020304" pitchFamily="18" charset="0"/>
                <a:cs typeface="Times New Roman" panose="02020603050405020304" pitchFamily="18" charset="0"/>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571B6D94-AC91-AE65-C62D-1A18DC6ACEC1}"/>
              </a:ext>
            </a:extLst>
          </p:cNvPr>
          <p:cNvPicPr>
            <a:picLocks noChangeAspect="1"/>
          </p:cNvPicPr>
          <p:nvPr/>
        </p:nvPicPr>
        <p:blipFill>
          <a:blip r:embed="rId2"/>
          <a:stretch>
            <a:fillRect/>
          </a:stretch>
        </p:blipFill>
        <p:spPr>
          <a:xfrm>
            <a:off x="838200" y="1392655"/>
            <a:ext cx="7315200" cy="4072690"/>
          </a:xfrm>
          <a:prstGeom prst="rect">
            <a:avLst/>
          </a:prstGeom>
        </p:spPr>
      </p:pic>
    </p:spTree>
    <p:extLst>
      <p:ext uri="{BB962C8B-B14F-4D97-AF65-F5344CB8AC3E}">
        <p14:creationId xmlns:p14="http://schemas.microsoft.com/office/powerpoint/2010/main" val="23957434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b="1" dirty="0">
                <a:solidFill>
                  <a:schemeClr val="tx1"/>
                </a:solidFill>
                <a:latin typeface="+mj-lt"/>
                <a:ea typeface="Times New Roman" panose="02020603050405020304" pitchFamily="18" charset="0"/>
                <a:cs typeface="Times New Roman" panose="02020603050405020304" pitchFamily="18" charset="0"/>
              </a:rPr>
              <a:t>Step count  for recursive algorithms</a:t>
            </a:r>
            <a:endParaRPr lang="en-US" sz="2800" dirty="0">
              <a:solidFill>
                <a:schemeClr val="tx1"/>
              </a:solidFill>
              <a:effectLst/>
              <a:latin typeface="+mj-lt"/>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schemeClr val="tx1"/>
                </a:solidFill>
              </a:rPr>
              <a:pPr/>
              <a:t>March 13, 2024</a:t>
            </a:fld>
            <a:endParaRPr lang="en-US">
              <a:solidFill>
                <a:schemeClr val="tx1"/>
              </a:solidFill>
            </a:endParaRPr>
          </a:p>
        </p:txBody>
      </p:sp>
      <p:sp>
        <p:nvSpPr>
          <p:cNvPr id="5" name="Footer Placeholder 4"/>
          <p:cNvSpPr>
            <a:spLocks noGrp="1"/>
          </p:cNvSpPr>
          <p:nvPr>
            <p:ph type="ftr" sz="quarter" idx="11"/>
          </p:nvPr>
        </p:nvSpPr>
        <p:spPr/>
        <p:txBody>
          <a:bodyPr/>
          <a:lstStyle/>
          <a:p>
            <a:r>
              <a:rPr lang="en-US" dirty="0">
                <a:solidFill>
                  <a:schemeClr val="tx1"/>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schemeClr val="tx1"/>
                </a:solidFill>
              </a:rPr>
              <a:pPr/>
              <a:t>51</a:t>
            </a:fld>
            <a:endParaRPr lang="en-US" dirty="0">
              <a:solidFill>
                <a:schemeClr val="tx1"/>
              </a:solidFill>
            </a:endParaRPr>
          </a:p>
        </p:txBody>
      </p:sp>
      <p:sp>
        <p:nvSpPr>
          <p:cNvPr id="9" name="TextBox 8">
            <a:extLst>
              <a:ext uri="{FF2B5EF4-FFF2-40B4-BE49-F238E27FC236}">
                <a16:creationId xmlns:a16="http://schemas.microsoft.com/office/drawing/2014/main" id="{DA5BB459-B347-9CF6-63B5-E29136A3AF04}"/>
              </a:ext>
            </a:extLst>
          </p:cNvPr>
          <p:cNvSpPr txBox="1"/>
          <p:nvPr/>
        </p:nvSpPr>
        <p:spPr>
          <a:xfrm>
            <a:off x="838200" y="1524000"/>
            <a:ext cx="7239000" cy="375359"/>
          </a:xfrm>
          <a:prstGeom prst="rect">
            <a:avLst/>
          </a:prstGeom>
          <a:noFill/>
        </p:spPr>
        <p:txBody>
          <a:bodyPr wrap="square">
            <a:spAutoFit/>
          </a:bodyPr>
          <a:lstStyle/>
          <a:p>
            <a:pPr marL="0" marR="0">
              <a:lnSpc>
                <a:spcPct val="107000"/>
              </a:lnSpc>
              <a:spcBef>
                <a:spcPts val="0"/>
              </a:spcBef>
              <a:spcAft>
                <a:spcPts val="800"/>
              </a:spcAft>
            </a:pPr>
            <a:r>
              <a:rPr lang="en-US" sz="1800" dirty="0">
                <a:effectLst/>
                <a:latin typeface="Source Sans Pro" panose="020B0503030403020204" pitchFamily="34" charset="0"/>
                <a:ea typeface="Times New Roman" panose="02020603050405020304" pitchFamily="18" charset="0"/>
                <a:cs typeface="Times New Roman" panose="02020603050405020304" pitchFamily="18" charset="0"/>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Picture 7">
            <a:extLst>
              <a:ext uri="{FF2B5EF4-FFF2-40B4-BE49-F238E27FC236}">
                <a16:creationId xmlns:a16="http://schemas.microsoft.com/office/drawing/2014/main" id="{AA71384A-1B12-5D34-C22C-E30D405D18A5}"/>
              </a:ext>
            </a:extLst>
          </p:cNvPr>
          <p:cNvPicPr>
            <a:picLocks noChangeAspect="1"/>
          </p:cNvPicPr>
          <p:nvPr/>
        </p:nvPicPr>
        <p:blipFill>
          <a:blip r:embed="rId2"/>
          <a:stretch>
            <a:fillRect/>
          </a:stretch>
        </p:blipFill>
        <p:spPr>
          <a:xfrm>
            <a:off x="838200" y="1474873"/>
            <a:ext cx="7467600" cy="1420728"/>
          </a:xfrm>
          <a:prstGeom prst="rect">
            <a:avLst/>
          </a:prstGeom>
        </p:spPr>
      </p:pic>
      <p:pic>
        <p:nvPicPr>
          <p:cNvPr id="11" name="Picture 10">
            <a:extLst>
              <a:ext uri="{FF2B5EF4-FFF2-40B4-BE49-F238E27FC236}">
                <a16:creationId xmlns:a16="http://schemas.microsoft.com/office/drawing/2014/main" id="{79BAE4F9-F24C-819B-2EE7-5929CBAB7AA6}"/>
              </a:ext>
            </a:extLst>
          </p:cNvPr>
          <p:cNvPicPr>
            <a:picLocks noChangeAspect="1"/>
          </p:cNvPicPr>
          <p:nvPr/>
        </p:nvPicPr>
        <p:blipFill>
          <a:blip r:embed="rId3"/>
          <a:stretch>
            <a:fillRect/>
          </a:stretch>
        </p:blipFill>
        <p:spPr>
          <a:xfrm>
            <a:off x="838200" y="3200400"/>
            <a:ext cx="7467600" cy="2712715"/>
          </a:xfrm>
          <a:prstGeom prst="rect">
            <a:avLst/>
          </a:prstGeom>
        </p:spPr>
      </p:pic>
    </p:spTree>
    <p:extLst>
      <p:ext uri="{BB962C8B-B14F-4D97-AF65-F5344CB8AC3E}">
        <p14:creationId xmlns:p14="http://schemas.microsoft.com/office/powerpoint/2010/main" val="26410158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dirty="0">
                <a:solidFill>
                  <a:schemeClr val="tx1"/>
                </a:solidFill>
                <a:effectLst/>
                <a:latin typeface="+mj-lt"/>
                <a:ea typeface="Times New Roman" panose="02020603050405020304" pitchFamily="18" charset="0"/>
                <a:cs typeface="Times New Roman" panose="02020603050405020304" pitchFamily="18" charset="0"/>
              </a:rPr>
              <a:t>Asymptotic classes</a:t>
            </a:r>
          </a:p>
        </p:txBody>
      </p:sp>
      <p:sp>
        <p:nvSpPr>
          <p:cNvPr id="4" name="Date Placeholder 3"/>
          <p:cNvSpPr>
            <a:spLocks noGrp="1"/>
          </p:cNvSpPr>
          <p:nvPr>
            <p:ph type="dt" sz="half" idx="10"/>
          </p:nvPr>
        </p:nvSpPr>
        <p:spPr/>
        <p:txBody>
          <a:bodyPr/>
          <a:lstStyle/>
          <a:p>
            <a:fld id="{F6C643BA-ACA1-44BF-9071-763295A35907}" type="datetime4">
              <a:rPr lang="en-US" smtClean="0">
                <a:solidFill>
                  <a:schemeClr val="tx1"/>
                </a:solidFill>
              </a:rPr>
              <a:pPr/>
              <a:t>March 13, 2024</a:t>
            </a:fld>
            <a:endParaRPr lang="en-US">
              <a:solidFill>
                <a:schemeClr val="tx1"/>
              </a:solidFill>
            </a:endParaRPr>
          </a:p>
        </p:txBody>
      </p:sp>
      <p:sp>
        <p:nvSpPr>
          <p:cNvPr id="5" name="Footer Placeholder 4"/>
          <p:cNvSpPr>
            <a:spLocks noGrp="1"/>
          </p:cNvSpPr>
          <p:nvPr>
            <p:ph type="ftr" sz="quarter" idx="11"/>
          </p:nvPr>
        </p:nvSpPr>
        <p:spPr/>
        <p:txBody>
          <a:bodyPr/>
          <a:lstStyle/>
          <a:p>
            <a:r>
              <a:rPr lang="en-US" dirty="0">
                <a:solidFill>
                  <a:schemeClr val="tx1"/>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schemeClr val="tx1"/>
                </a:solidFill>
              </a:rPr>
              <a:pPr/>
              <a:t>52</a:t>
            </a:fld>
            <a:endParaRPr lang="en-US" dirty="0">
              <a:solidFill>
                <a:schemeClr val="tx1"/>
              </a:solidFill>
            </a:endParaRPr>
          </a:p>
        </p:txBody>
      </p:sp>
      <p:sp>
        <p:nvSpPr>
          <p:cNvPr id="9" name="TextBox 8">
            <a:extLst>
              <a:ext uri="{FF2B5EF4-FFF2-40B4-BE49-F238E27FC236}">
                <a16:creationId xmlns:a16="http://schemas.microsoft.com/office/drawing/2014/main" id="{DA5BB459-B347-9CF6-63B5-E29136A3AF04}"/>
              </a:ext>
            </a:extLst>
          </p:cNvPr>
          <p:cNvSpPr txBox="1"/>
          <p:nvPr/>
        </p:nvSpPr>
        <p:spPr>
          <a:xfrm>
            <a:off x="838200" y="1524000"/>
            <a:ext cx="7239000" cy="375359"/>
          </a:xfrm>
          <a:prstGeom prst="rect">
            <a:avLst/>
          </a:prstGeom>
          <a:noFill/>
        </p:spPr>
        <p:txBody>
          <a:bodyPr wrap="square">
            <a:spAutoFit/>
          </a:bodyPr>
          <a:lstStyle/>
          <a:p>
            <a:pPr marL="0" marR="0">
              <a:lnSpc>
                <a:spcPct val="107000"/>
              </a:lnSpc>
              <a:spcBef>
                <a:spcPts val="0"/>
              </a:spcBef>
              <a:spcAft>
                <a:spcPts val="800"/>
              </a:spcAft>
            </a:pPr>
            <a:r>
              <a:rPr lang="en-US" sz="1800" dirty="0">
                <a:effectLst/>
                <a:latin typeface="Source Sans Pro" panose="020B0503030403020204" pitchFamily="34" charset="0"/>
                <a:ea typeface="Times New Roman" panose="02020603050405020304" pitchFamily="18" charset="0"/>
                <a:cs typeface="Times New Roman" panose="02020603050405020304" pitchFamily="18" charset="0"/>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Picture 7">
            <a:extLst>
              <a:ext uri="{FF2B5EF4-FFF2-40B4-BE49-F238E27FC236}">
                <a16:creationId xmlns:a16="http://schemas.microsoft.com/office/drawing/2014/main" id="{598A54E4-943A-2034-EAEB-A8E988DD1FBF}"/>
              </a:ext>
            </a:extLst>
          </p:cNvPr>
          <p:cNvPicPr>
            <a:picLocks noChangeAspect="1"/>
          </p:cNvPicPr>
          <p:nvPr/>
        </p:nvPicPr>
        <p:blipFill>
          <a:blip r:embed="rId2"/>
          <a:stretch>
            <a:fillRect/>
          </a:stretch>
        </p:blipFill>
        <p:spPr>
          <a:xfrm>
            <a:off x="1752600" y="1414604"/>
            <a:ext cx="5029200" cy="4452796"/>
          </a:xfrm>
          <a:prstGeom prst="rect">
            <a:avLst/>
          </a:prstGeom>
        </p:spPr>
      </p:pic>
    </p:spTree>
    <p:extLst>
      <p:ext uri="{BB962C8B-B14F-4D97-AF65-F5344CB8AC3E}">
        <p14:creationId xmlns:p14="http://schemas.microsoft.com/office/powerpoint/2010/main" val="277857973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dirty="0">
                <a:solidFill>
                  <a:schemeClr val="tx1"/>
                </a:solidFill>
                <a:effectLst/>
                <a:latin typeface="+mj-lt"/>
                <a:ea typeface="Times New Roman" panose="02020603050405020304" pitchFamily="18" charset="0"/>
                <a:cs typeface="Times New Roman" panose="02020603050405020304" pitchFamily="18" charset="0"/>
              </a:rPr>
              <a:t>Asymptotic classes</a:t>
            </a:r>
          </a:p>
        </p:txBody>
      </p:sp>
      <p:sp>
        <p:nvSpPr>
          <p:cNvPr id="4" name="Date Placeholder 3"/>
          <p:cNvSpPr>
            <a:spLocks noGrp="1"/>
          </p:cNvSpPr>
          <p:nvPr>
            <p:ph type="dt" sz="half" idx="10"/>
          </p:nvPr>
        </p:nvSpPr>
        <p:spPr/>
        <p:txBody>
          <a:bodyPr/>
          <a:lstStyle/>
          <a:p>
            <a:fld id="{F6C643BA-ACA1-44BF-9071-763295A35907}" type="datetime4">
              <a:rPr lang="en-US" smtClean="0">
                <a:solidFill>
                  <a:schemeClr val="tx1"/>
                </a:solidFill>
              </a:rPr>
              <a:pPr/>
              <a:t>March 13, 2024</a:t>
            </a:fld>
            <a:endParaRPr lang="en-US">
              <a:solidFill>
                <a:schemeClr val="tx1"/>
              </a:solidFill>
            </a:endParaRPr>
          </a:p>
        </p:txBody>
      </p:sp>
      <p:sp>
        <p:nvSpPr>
          <p:cNvPr id="5" name="Footer Placeholder 4"/>
          <p:cNvSpPr>
            <a:spLocks noGrp="1"/>
          </p:cNvSpPr>
          <p:nvPr>
            <p:ph type="ftr" sz="quarter" idx="11"/>
          </p:nvPr>
        </p:nvSpPr>
        <p:spPr/>
        <p:txBody>
          <a:bodyPr/>
          <a:lstStyle/>
          <a:p>
            <a:r>
              <a:rPr lang="en-US" dirty="0">
                <a:solidFill>
                  <a:schemeClr val="tx1"/>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schemeClr val="tx1"/>
                </a:solidFill>
              </a:rPr>
              <a:pPr/>
              <a:t>53</a:t>
            </a:fld>
            <a:endParaRPr lang="en-US" dirty="0">
              <a:solidFill>
                <a:schemeClr val="tx1"/>
              </a:solidFill>
            </a:endParaRPr>
          </a:p>
        </p:txBody>
      </p:sp>
      <p:sp>
        <p:nvSpPr>
          <p:cNvPr id="9" name="TextBox 8">
            <a:extLst>
              <a:ext uri="{FF2B5EF4-FFF2-40B4-BE49-F238E27FC236}">
                <a16:creationId xmlns:a16="http://schemas.microsoft.com/office/drawing/2014/main" id="{DA5BB459-B347-9CF6-63B5-E29136A3AF04}"/>
              </a:ext>
            </a:extLst>
          </p:cNvPr>
          <p:cNvSpPr txBox="1"/>
          <p:nvPr/>
        </p:nvSpPr>
        <p:spPr>
          <a:xfrm>
            <a:off x="838200" y="1524000"/>
            <a:ext cx="7239000" cy="375359"/>
          </a:xfrm>
          <a:prstGeom prst="rect">
            <a:avLst/>
          </a:prstGeom>
          <a:noFill/>
        </p:spPr>
        <p:txBody>
          <a:bodyPr wrap="square">
            <a:spAutoFit/>
          </a:bodyPr>
          <a:lstStyle/>
          <a:p>
            <a:pPr marL="0" marR="0">
              <a:lnSpc>
                <a:spcPct val="107000"/>
              </a:lnSpc>
              <a:spcBef>
                <a:spcPts val="0"/>
              </a:spcBef>
              <a:spcAft>
                <a:spcPts val="800"/>
              </a:spcAft>
            </a:pPr>
            <a:r>
              <a:rPr lang="en-US" sz="1800" dirty="0">
                <a:effectLst/>
                <a:latin typeface="Source Sans Pro" panose="020B0503030403020204" pitchFamily="34" charset="0"/>
                <a:ea typeface="Times New Roman" panose="02020603050405020304" pitchFamily="18" charset="0"/>
                <a:cs typeface="Times New Roman" panose="02020603050405020304" pitchFamily="18" charset="0"/>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2016844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99B08-046E-C613-131C-2D996EC352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6812A4-3272-9006-0122-3566337641CF}"/>
              </a:ext>
            </a:extLst>
          </p:cNvPr>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dirty="0">
                <a:solidFill>
                  <a:schemeClr val="tx1"/>
                </a:solidFill>
                <a:effectLst/>
                <a:latin typeface="+mj-lt"/>
                <a:ea typeface="Times New Roman" panose="02020603050405020304" pitchFamily="18" charset="0"/>
                <a:cs typeface="Times New Roman" panose="02020603050405020304" pitchFamily="18" charset="0"/>
              </a:rPr>
              <a:t>Asymptotic classes</a:t>
            </a:r>
          </a:p>
        </p:txBody>
      </p:sp>
      <p:sp>
        <p:nvSpPr>
          <p:cNvPr id="4" name="Date Placeholder 3">
            <a:extLst>
              <a:ext uri="{FF2B5EF4-FFF2-40B4-BE49-F238E27FC236}">
                <a16:creationId xmlns:a16="http://schemas.microsoft.com/office/drawing/2014/main" id="{BF10165B-2602-A8DE-BA8F-DBC6E5D540E2}"/>
              </a:ext>
            </a:extLst>
          </p:cNvPr>
          <p:cNvSpPr>
            <a:spLocks noGrp="1"/>
          </p:cNvSpPr>
          <p:nvPr>
            <p:ph type="dt" sz="half" idx="10"/>
          </p:nvPr>
        </p:nvSpPr>
        <p:spPr/>
        <p:txBody>
          <a:bodyPr/>
          <a:lstStyle/>
          <a:p>
            <a:fld id="{F6C643BA-ACA1-44BF-9071-763295A35907}" type="datetime4">
              <a:rPr lang="en-US" smtClean="0">
                <a:solidFill>
                  <a:schemeClr val="tx1"/>
                </a:solidFill>
              </a:rPr>
              <a:pPr/>
              <a:t>March 13, 2024</a:t>
            </a:fld>
            <a:endParaRPr lang="en-US">
              <a:solidFill>
                <a:schemeClr val="tx1"/>
              </a:solidFill>
            </a:endParaRPr>
          </a:p>
        </p:txBody>
      </p:sp>
      <p:sp>
        <p:nvSpPr>
          <p:cNvPr id="5" name="Footer Placeholder 4">
            <a:extLst>
              <a:ext uri="{FF2B5EF4-FFF2-40B4-BE49-F238E27FC236}">
                <a16:creationId xmlns:a16="http://schemas.microsoft.com/office/drawing/2014/main" id="{F0C30428-C56A-171D-C42B-A8475429719A}"/>
              </a:ext>
            </a:extLst>
          </p:cNvPr>
          <p:cNvSpPr>
            <a:spLocks noGrp="1"/>
          </p:cNvSpPr>
          <p:nvPr>
            <p:ph type="ftr" sz="quarter" idx="11"/>
          </p:nvPr>
        </p:nvSpPr>
        <p:spPr/>
        <p:txBody>
          <a:bodyPr/>
          <a:lstStyle/>
          <a:p>
            <a:r>
              <a:rPr lang="en-US" dirty="0">
                <a:solidFill>
                  <a:schemeClr val="tx1"/>
                </a:solidFill>
              </a:rPr>
              <a:t>Department of Computer Science &amp; Engineering, VNRVJIET, Hyderabad</a:t>
            </a:r>
          </a:p>
        </p:txBody>
      </p:sp>
      <p:sp>
        <p:nvSpPr>
          <p:cNvPr id="6" name="Slide Number Placeholder 5">
            <a:extLst>
              <a:ext uri="{FF2B5EF4-FFF2-40B4-BE49-F238E27FC236}">
                <a16:creationId xmlns:a16="http://schemas.microsoft.com/office/drawing/2014/main" id="{A70E5037-74C5-4522-D207-89B99A128B1C}"/>
              </a:ext>
            </a:extLst>
          </p:cNvPr>
          <p:cNvSpPr>
            <a:spLocks noGrp="1"/>
          </p:cNvSpPr>
          <p:nvPr>
            <p:ph type="sldNum" sz="quarter" idx="12"/>
          </p:nvPr>
        </p:nvSpPr>
        <p:spPr/>
        <p:txBody>
          <a:bodyPr/>
          <a:lstStyle/>
          <a:p>
            <a:fld id="{C4FA3F07-B4E9-4FEB-BC07-B9713C186F28}" type="slidenum">
              <a:rPr lang="en-US" smtClean="0">
                <a:solidFill>
                  <a:schemeClr val="tx1"/>
                </a:solidFill>
              </a:rPr>
              <a:pPr/>
              <a:t>54</a:t>
            </a:fld>
            <a:endParaRPr lang="en-US" dirty="0">
              <a:solidFill>
                <a:schemeClr val="tx1"/>
              </a:solidFill>
            </a:endParaRPr>
          </a:p>
        </p:txBody>
      </p:sp>
      <p:sp>
        <p:nvSpPr>
          <p:cNvPr id="9" name="TextBox 8">
            <a:extLst>
              <a:ext uri="{FF2B5EF4-FFF2-40B4-BE49-F238E27FC236}">
                <a16:creationId xmlns:a16="http://schemas.microsoft.com/office/drawing/2014/main" id="{1C4C1B2B-930D-ABA0-9A99-C4B8DA07C7C5}"/>
              </a:ext>
            </a:extLst>
          </p:cNvPr>
          <p:cNvSpPr txBox="1"/>
          <p:nvPr/>
        </p:nvSpPr>
        <p:spPr>
          <a:xfrm>
            <a:off x="838200" y="1524000"/>
            <a:ext cx="7239000" cy="375359"/>
          </a:xfrm>
          <a:prstGeom prst="rect">
            <a:avLst/>
          </a:prstGeom>
          <a:noFill/>
        </p:spPr>
        <p:txBody>
          <a:bodyPr wrap="square">
            <a:spAutoFit/>
          </a:bodyPr>
          <a:lstStyle/>
          <a:p>
            <a:pPr marL="0" marR="0">
              <a:lnSpc>
                <a:spcPct val="107000"/>
              </a:lnSpc>
              <a:spcBef>
                <a:spcPts val="0"/>
              </a:spcBef>
              <a:spcAft>
                <a:spcPts val="800"/>
              </a:spcAft>
            </a:pPr>
            <a:r>
              <a:rPr lang="en-US" sz="1800" dirty="0">
                <a:effectLst/>
                <a:latin typeface="Source Sans Pro" panose="020B0503030403020204" pitchFamily="34" charset="0"/>
                <a:ea typeface="Times New Roman" panose="02020603050405020304" pitchFamily="18" charset="0"/>
                <a:cs typeface="Times New Roman" panose="02020603050405020304" pitchFamily="18" charset="0"/>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18880DD5-0AF0-C558-6305-1F7648D483A2}"/>
              </a:ext>
            </a:extLst>
          </p:cNvPr>
          <p:cNvSpPr txBox="1"/>
          <p:nvPr/>
        </p:nvSpPr>
        <p:spPr>
          <a:xfrm>
            <a:off x="544286" y="1689908"/>
            <a:ext cx="7848600" cy="2831544"/>
          </a:xfrm>
          <a:prstGeom prst="rect">
            <a:avLst/>
          </a:prstGeom>
          <a:noFill/>
        </p:spPr>
        <p:txBody>
          <a:bodyPr wrap="square">
            <a:spAutoFit/>
          </a:bodyPr>
          <a:lstStyle/>
          <a:p>
            <a:pPr fontAlgn="base"/>
            <a:r>
              <a:rPr lang="en-IN" sz="1800" b="1" spc="10" dirty="0">
                <a:solidFill>
                  <a:srgbClr val="273239"/>
                </a:solidFill>
                <a:effectLst/>
                <a:latin typeface="Nunito" pitchFamily="2" charset="0"/>
                <a:ea typeface="Times New Roman" panose="02020603050405020304" pitchFamily="18" charset="0"/>
              </a:rPr>
              <a:t>Big O notation (O): </a:t>
            </a:r>
            <a:endParaRPr lang="en-IN" sz="1600" dirty="0">
              <a:effectLst/>
              <a:latin typeface="Times New Roman" panose="02020603050405020304" pitchFamily="18" charset="0"/>
              <a:ea typeface="Times New Roman" panose="02020603050405020304" pitchFamily="18" charset="0"/>
            </a:endParaRPr>
          </a:p>
          <a:p>
            <a:pPr fontAlgn="base"/>
            <a:r>
              <a:rPr lang="en-IN" sz="1800" spc="10" dirty="0">
                <a:solidFill>
                  <a:srgbClr val="273239"/>
                </a:solidFill>
                <a:effectLst/>
                <a:latin typeface="Nunito" pitchFamily="2" charset="0"/>
                <a:ea typeface="Times New Roman" panose="02020603050405020304" pitchFamily="18" charset="0"/>
              </a:rPr>
              <a:t>It is defined as upper bound and upper bound on an algorithm is the most amount of time required ( the worst-case performance). </a:t>
            </a:r>
            <a:r>
              <a:rPr lang="en-IN" sz="1800" b="1" spc="10" dirty="0">
                <a:solidFill>
                  <a:srgbClr val="273239"/>
                </a:solidFill>
                <a:effectLst/>
                <a:latin typeface="Nunito" pitchFamily="2" charset="0"/>
                <a:ea typeface="Times New Roman" panose="02020603050405020304" pitchFamily="18" charset="0"/>
              </a:rPr>
              <a:t>Big O notation</a:t>
            </a:r>
            <a:r>
              <a:rPr lang="en-IN" sz="1800" spc="10" dirty="0">
                <a:solidFill>
                  <a:srgbClr val="273239"/>
                </a:solidFill>
                <a:effectLst/>
                <a:latin typeface="Nunito" pitchFamily="2" charset="0"/>
                <a:ea typeface="Times New Roman" panose="02020603050405020304" pitchFamily="18" charset="0"/>
              </a:rPr>
              <a:t> is used to describe the </a:t>
            </a:r>
            <a:r>
              <a:rPr lang="en-IN" sz="1800" b="1" spc="10" dirty="0">
                <a:solidFill>
                  <a:srgbClr val="273239"/>
                </a:solidFill>
                <a:effectLst/>
                <a:latin typeface="Nunito" pitchFamily="2" charset="0"/>
                <a:ea typeface="Times New Roman" panose="02020603050405020304" pitchFamily="18" charset="0"/>
              </a:rPr>
              <a:t>asymptotic upper bound</a:t>
            </a:r>
            <a:r>
              <a:rPr lang="en-IN" sz="1800" spc="10" dirty="0">
                <a:solidFill>
                  <a:srgbClr val="273239"/>
                </a:solidFill>
                <a:effectLst/>
                <a:latin typeface="Nunito" pitchFamily="2" charset="0"/>
                <a:ea typeface="Times New Roman" panose="02020603050405020304" pitchFamily="18" charset="0"/>
              </a:rPr>
              <a:t>. </a:t>
            </a:r>
            <a:br>
              <a:rPr lang="en-IN" sz="1800" spc="10" dirty="0">
                <a:solidFill>
                  <a:srgbClr val="273239"/>
                </a:solidFill>
                <a:effectLst/>
                <a:latin typeface="Nunito" pitchFamily="2" charset="0"/>
                <a:ea typeface="Times New Roman" panose="02020603050405020304" pitchFamily="18" charset="0"/>
              </a:rPr>
            </a:br>
            <a:br>
              <a:rPr lang="en-IN" sz="1800" spc="10" dirty="0">
                <a:solidFill>
                  <a:srgbClr val="273239"/>
                </a:solidFill>
                <a:effectLst/>
                <a:latin typeface="Nunito" pitchFamily="2" charset="0"/>
                <a:ea typeface="Times New Roman" panose="02020603050405020304" pitchFamily="18" charset="0"/>
              </a:rPr>
            </a:br>
            <a:r>
              <a:rPr lang="en-IN" sz="1800" spc="10" dirty="0">
                <a:solidFill>
                  <a:srgbClr val="273239"/>
                </a:solidFill>
                <a:effectLst/>
                <a:latin typeface="Nunito" pitchFamily="2" charset="0"/>
                <a:ea typeface="Times New Roman" panose="02020603050405020304" pitchFamily="18" charset="0"/>
              </a:rPr>
              <a:t>Mathematically, if</a:t>
            </a:r>
            <a:r>
              <a:rPr lang="en-IN" sz="1800" b="1" spc="10" dirty="0">
                <a:solidFill>
                  <a:srgbClr val="273239"/>
                </a:solidFill>
                <a:effectLst/>
                <a:latin typeface="Nunito" pitchFamily="2" charset="0"/>
                <a:ea typeface="Times New Roman" panose="02020603050405020304" pitchFamily="18" charset="0"/>
              </a:rPr>
              <a:t> f(n)</a:t>
            </a:r>
            <a:r>
              <a:rPr lang="en-IN" sz="1800" spc="10" dirty="0">
                <a:solidFill>
                  <a:srgbClr val="273239"/>
                </a:solidFill>
                <a:effectLst/>
                <a:latin typeface="Nunito" pitchFamily="2" charset="0"/>
                <a:ea typeface="Times New Roman" panose="02020603050405020304" pitchFamily="18" charset="0"/>
              </a:rPr>
              <a:t> describes the running time of an algorithm;   </a:t>
            </a:r>
          </a:p>
          <a:p>
            <a:pPr fontAlgn="base"/>
            <a:r>
              <a:rPr lang="en-IN" sz="1800" b="1" spc="10" dirty="0">
                <a:solidFill>
                  <a:srgbClr val="273239"/>
                </a:solidFill>
                <a:effectLst/>
                <a:latin typeface="Nunito" pitchFamily="2" charset="0"/>
                <a:ea typeface="Times New Roman" panose="02020603050405020304" pitchFamily="18" charset="0"/>
              </a:rPr>
              <a:t>f(n)</a:t>
            </a:r>
            <a:r>
              <a:rPr lang="en-IN" sz="1800" spc="10" dirty="0">
                <a:solidFill>
                  <a:srgbClr val="273239"/>
                </a:solidFill>
                <a:effectLst/>
                <a:latin typeface="Nunito" pitchFamily="2" charset="0"/>
                <a:ea typeface="Times New Roman" panose="02020603050405020304" pitchFamily="18" charset="0"/>
              </a:rPr>
              <a:t> is </a:t>
            </a:r>
            <a:r>
              <a:rPr lang="en-IN" sz="1800" b="1" spc="10" dirty="0">
                <a:solidFill>
                  <a:srgbClr val="273239"/>
                </a:solidFill>
                <a:effectLst/>
                <a:latin typeface="Nunito" pitchFamily="2" charset="0"/>
                <a:ea typeface="Times New Roman" panose="02020603050405020304" pitchFamily="18" charset="0"/>
              </a:rPr>
              <a:t>O(g(n))</a:t>
            </a:r>
            <a:r>
              <a:rPr lang="en-IN" sz="1800" spc="10" dirty="0">
                <a:solidFill>
                  <a:srgbClr val="273239"/>
                </a:solidFill>
                <a:effectLst/>
                <a:latin typeface="Nunito" pitchFamily="2" charset="0"/>
                <a:ea typeface="Times New Roman" panose="02020603050405020304" pitchFamily="18" charset="0"/>
              </a:rPr>
              <a:t> if there exist positive constant </a:t>
            </a:r>
            <a:r>
              <a:rPr lang="en-IN" sz="1800" b="1" spc="10" dirty="0">
                <a:solidFill>
                  <a:srgbClr val="273239"/>
                </a:solidFill>
                <a:effectLst/>
                <a:latin typeface="Nunito" pitchFamily="2" charset="0"/>
                <a:ea typeface="Times New Roman" panose="02020603050405020304" pitchFamily="18" charset="0"/>
              </a:rPr>
              <a:t>C</a:t>
            </a:r>
            <a:r>
              <a:rPr lang="en-IN" sz="1800" spc="10" dirty="0">
                <a:solidFill>
                  <a:srgbClr val="273239"/>
                </a:solidFill>
                <a:effectLst/>
                <a:latin typeface="Nunito" pitchFamily="2" charset="0"/>
                <a:ea typeface="Times New Roman" panose="02020603050405020304" pitchFamily="18" charset="0"/>
              </a:rPr>
              <a:t> and </a:t>
            </a:r>
            <a:r>
              <a:rPr lang="en-IN" sz="1800" b="1" spc="10" dirty="0">
                <a:solidFill>
                  <a:srgbClr val="273239"/>
                </a:solidFill>
                <a:effectLst/>
                <a:latin typeface="Nunito" pitchFamily="2" charset="0"/>
                <a:ea typeface="Times New Roman" panose="02020603050405020304" pitchFamily="18" charset="0"/>
              </a:rPr>
              <a:t>n0</a:t>
            </a:r>
            <a:r>
              <a:rPr lang="en-IN" sz="1800" spc="10" dirty="0">
                <a:solidFill>
                  <a:srgbClr val="273239"/>
                </a:solidFill>
                <a:effectLst/>
                <a:latin typeface="Nunito" pitchFamily="2" charset="0"/>
                <a:ea typeface="Times New Roman" panose="02020603050405020304" pitchFamily="18" charset="0"/>
              </a:rPr>
              <a:t> such that,</a:t>
            </a:r>
            <a:endParaRPr lang="en-IN" sz="1600" dirty="0">
              <a:effectLst/>
              <a:latin typeface="Times New Roman" panose="02020603050405020304" pitchFamily="18" charset="0"/>
              <a:ea typeface="Times New Roman" panose="02020603050405020304" pitchFamily="18" charset="0"/>
            </a:endParaRPr>
          </a:p>
          <a:p>
            <a:pPr fontAlgn="base"/>
            <a:r>
              <a:rPr lang="en-IN" sz="1800" i="1" spc="10" dirty="0">
                <a:solidFill>
                  <a:srgbClr val="273239"/>
                </a:solidFill>
                <a:effectLst/>
                <a:latin typeface="Nunito" pitchFamily="2" charset="0"/>
                <a:ea typeface="Times New Roman" panose="02020603050405020304" pitchFamily="18" charset="0"/>
              </a:rPr>
              <a:t>0 &lt;= f(n) &lt;= Cg(n) for all n &gt;= n0</a:t>
            </a:r>
            <a:r>
              <a:rPr lang="en-IN" sz="1600" dirty="0">
                <a:effectLst/>
                <a:latin typeface="Times New Roman" panose="02020603050405020304" pitchFamily="18" charset="0"/>
                <a:ea typeface="Times New Roman" panose="02020603050405020304" pitchFamily="18" charset="0"/>
              </a:rPr>
              <a:t>  </a:t>
            </a:r>
          </a:p>
          <a:p>
            <a:pPr fontAlgn="base"/>
            <a:endParaRPr lang="en-IN" sz="1600" dirty="0">
              <a:effectLst/>
              <a:latin typeface="Times New Roman" panose="02020603050405020304" pitchFamily="18" charset="0"/>
              <a:ea typeface="Times New Roman" panose="02020603050405020304" pitchFamily="18" charset="0"/>
            </a:endParaRPr>
          </a:p>
          <a:p>
            <a:pPr fontAlgn="base"/>
            <a:r>
              <a:rPr lang="en-IN" sz="1800" b="1" spc="10" dirty="0">
                <a:solidFill>
                  <a:srgbClr val="273239"/>
                </a:solidFill>
                <a:effectLst/>
                <a:latin typeface="Nunito" pitchFamily="2" charset="0"/>
                <a:ea typeface="Times New Roman" panose="02020603050405020304" pitchFamily="18" charset="0"/>
              </a:rPr>
              <a:t>n</a:t>
            </a:r>
            <a:r>
              <a:rPr lang="en-IN" sz="1800" spc="10" dirty="0">
                <a:solidFill>
                  <a:srgbClr val="273239"/>
                </a:solidFill>
                <a:effectLst/>
                <a:latin typeface="Nunito" pitchFamily="2" charset="0"/>
                <a:ea typeface="Times New Roman" panose="02020603050405020304" pitchFamily="18" charset="0"/>
              </a:rPr>
              <a:t> = used to give upper bound a function. </a:t>
            </a:r>
            <a:endParaRPr lang="en-IN"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7721760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EB585-B5C6-EB04-5FAB-EC1F325D82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EF421C-D7AF-80C5-D7F9-DFD924276073}"/>
              </a:ext>
            </a:extLst>
          </p:cNvPr>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dirty="0">
                <a:solidFill>
                  <a:schemeClr val="tx1"/>
                </a:solidFill>
                <a:effectLst/>
                <a:latin typeface="+mj-lt"/>
                <a:ea typeface="Times New Roman" panose="02020603050405020304" pitchFamily="18" charset="0"/>
                <a:cs typeface="Times New Roman" panose="02020603050405020304" pitchFamily="18" charset="0"/>
              </a:rPr>
              <a:t>Asymptotic classes</a:t>
            </a:r>
          </a:p>
        </p:txBody>
      </p:sp>
      <p:sp>
        <p:nvSpPr>
          <p:cNvPr id="4" name="Date Placeholder 3">
            <a:extLst>
              <a:ext uri="{FF2B5EF4-FFF2-40B4-BE49-F238E27FC236}">
                <a16:creationId xmlns:a16="http://schemas.microsoft.com/office/drawing/2014/main" id="{E0280666-F86A-1077-4782-800EEE44FD96}"/>
              </a:ext>
            </a:extLst>
          </p:cNvPr>
          <p:cNvSpPr>
            <a:spLocks noGrp="1"/>
          </p:cNvSpPr>
          <p:nvPr>
            <p:ph type="dt" sz="half" idx="10"/>
          </p:nvPr>
        </p:nvSpPr>
        <p:spPr/>
        <p:txBody>
          <a:bodyPr/>
          <a:lstStyle/>
          <a:p>
            <a:fld id="{F6C643BA-ACA1-44BF-9071-763295A35907}" type="datetime4">
              <a:rPr lang="en-US" smtClean="0">
                <a:solidFill>
                  <a:schemeClr val="tx1"/>
                </a:solidFill>
              </a:rPr>
              <a:pPr/>
              <a:t>March 13, 2024</a:t>
            </a:fld>
            <a:endParaRPr lang="en-US">
              <a:solidFill>
                <a:schemeClr val="tx1"/>
              </a:solidFill>
            </a:endParaRPr>
          </a:p>
        </p:txBody>
      </p:sp>
      <p:sp>
        <p:nvSpPr>
          <p:cNvPr id="5" name="Footer Placeholder 4">
            <a:extLst>
              <a:ext uri="{FF2B5EF4-FFF2-40B4-BE49-F238E27FC236}">
                <a16:creationId xmlns:a16="http://schemas.microsoft.com/office/drawing/2014/main" id="{DA04DB6B-6C22-BEAD-E85D-9AC71F08A7E0}"/>
              </a:ext>
            </a:extLst>
          </p:cNvPr>
          <p:cNvSpPr>
            <a:spLocks noGrp="1"/>
          </p:cNvSpPr>
          <p:nvPr>
            <p:ph type="ftr" sz="quarter" idx="11"/>
          </p:nvPr>
        </p:nvSpPr>
        <p:spPr/>
        <p:txBody>
          <a:bodyPr/>
          <a:lstStyle/>
          <a:p>
            <a:r>
              <a:rPr lang="en-US" dirty="0">
                <a:solidFill>
                  <a:schemeClr val="tx1"/>
                </a:solidFill>
              </a:rPr>
              <a:t>Department of Computer Science &amp; Engineering, VNRVJIET, Hyderabad</a:t>
            </a:r>
          </a:p>
        </p:txBody>
      </p:sp>
      <p:sp>
        <p:nvSpPr>
          <p:cNvPr id="6" name="Slide Number Placeholder 5">
            <a:extLst>
              <a:ext uri="{FF2B5EF4-FFF2-40B4-BE49-F238E27FC236}">
                <a16:creationId xmlns:a16="http://schemas.microsoft.com/office/drawing/2014/main" id="{6CAB1F6C-F219-5F13-C54C-F73CF5346F1A}"/>
              </a:ext>
            </a:extLst>
          </p:cNvPr>
          <p:cNvSpPr>
            <a:spLocks noGrp="1"/>
          </p:cNvSpPr>
          <p:nvPr>
            <p:ph type="sldNum" sz="quarter" idx="12"/>
          </p:nvPr>
        </p:nvSpPr>
        <p:spPr/>
        <p:txBody>
          <a:bodyPr/>
          <a:lstStyle/>
          <a:p>
            <a:fld id="{C4FA3F07-B4E9-4FEB-BC07-B9713C186F28}" type="slidenum">
              <a:rPr lang="en-US" smtClean="0">
                <a:solidFill>
                  <a:schemeClr val="tx1"/>
                </a:solidFill>
              </a:rPr>
              <a:pPr/>
              <a:t>55</a:t>
            </a:fld>
            <a:endParaRPr lang="en-US" dirty="0">
              <a:solidFill>
                <a:schemeClr val="tx1"/>
              </a:solidFill>
            </a:endParaRPr>
          </a:p>
        </p:txBody>
      </p:sp>
      <p:sp>
        <p:nvSpPr>
          <p:cNvPr id="22" name="Rectangle 21" descr="▪">
            <a:extLst>
              <a:ext uri="{FF2B5EF4-FFF2-40B4-BE49-F238E27FC236}">
                <a16:creationId xmlns:a16="http://schemas.microsoft.com/office/drawing/2014/main" id="{5C99A1DF-8358-42DA-1187-DCE8ECFCA05A}"/>
              </a:ext>
            </a:extLst>
          </p:cNvPr>
          <p:cNvSpPr>
            <a:spLocks noChangeAspect="1" noChangeArrowheads="1"/>
          </p:cNvSpPr>
          <p:nvPr/>
        </p:nvSpPr>
        <p:spPr bwMode="auto">
          <a:xfrm>
            <a:off x="805543" y="1891717"/>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IN"/>
          </a:p>
        </p:txBody>
      </p:sp>
      <p:sp>
        <p:nvSpPr>
          <p:cNvPr id="23" name="Rectangle 22" descr="▪">
            <a:extLst>
              <a:ext uri="{FF2B5EF4-FFF2-40B4-BE49-F238E27FC236}">
                <a16:creationId xmlns:a16="http://schemas.microsoft.com/office/drawing/2014/main" id="{5BE34944-E363-DB96-5C23-3EBA43DDFE07}"/>
              </a:ext>
            </a:extLst>
          </p:cNvPr>
          <p:cNvSpPr>
            <a:spLocks noChangeAspect="1" noChangeArrowheads="1"/>
          </p:cNvSpPr>
          <p:nvPr/>
        </p:nvSpPr>
        <p:spPr bwMode="auto">
          <a:xfrm>
            <a:off x="805543" y="1891717"/>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IN"/>
          </a:p>
        </p:txBody>
      </p:sp>
      <p:sp>
        <p:nvSpPr>
          <p:cNvPr id="24" name="Rectangle 23" descr="▪">
            <a:extLst>
              <a:ext uri="{FF2B5EF4-FFF2-40B4-BE49-F238E27FC236}">
                <a16:creationId xmlns:a16="http://schemas.microsoft.com/office/drawing/2014/main" id="{F85D804E-C8F1-F0F1-1030-57C9FAFB68A9}"/>
              </a:ext>
            </a:extLst>
          </p:cNvPr>
          <p:cNvSpPr>
            <a:spLocks noChangeAspect="1" noChangeArrowheads="1"/>
          </p:cNvSpPr>
          <p:nvPr/>
        </p:nvSpPr>
        <p:spPr bwMode="auto">
          <a:xfrm>
            <a:off x="805543" y="1891717"/>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IN"/>
          </a:p>
        </p:txBody>
      </p:sp>
      <p:sp>
        <p:nvSpPr>
          <p:cNvPr id="25" name="Rectangle 24" descr="▪">
            <a:extLst>
              <a:ext uri="{FF2B5EF4-FFF2-40B4-BE49-F238E27FC236}">
                <a16:creationId xmlns:a16="http://schemas.microsoft.com/office/drawing/2014/main" id="{5B848802-74EC-B281-C9E9-8BAFC99C0C4F}"/>
              </a:ext>
            </a:extLst>
          </p:cNvPr>
          <p:cNvSpPr>
            <a:spLocks noChangeAspect="1" noChangeArrowheads="1"/>
          </p:cNvSpPr>
          <p:nvPr/>
        </p:nvSpPr>
        <p:spPr bwMode="auto">
          <a:xfrm>
            <a:off x="805543" y="1891717"/>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IN"/>
          </a:p>
        </p:txBody>
      </p:sp>
      <p:sp>
        <p:nvSpPr>
          <p:cNvPr id="32" name="TextBox 31">
            <a:extLst>
              <a:ext uri="{FF2B5EF4-FFF2-40B4-BE49-F238E27FC236}">
                <a16:creationId xmlns:a16="http://schemas.microsoft.com/office/drawing/2014/main" id="{5955B360-125E-664E-53EC-2A55F0B70E08}"/>
              </a:ext>
            </a:extLst>
          </p:cNvPr>
          <p:cNvSpPr txBox="1"/>
          <p:nvPr/>
        </p:nvSpPr>
        <p:spPr>
          <a:xfrm>
            <a:off x="729342" y="1524000"/>
            <a:ext cx="7195458" cy="4247317"/>
          </a:xfrm>
          <a:prstGeom prst="rect">
            <a:avLst/>
          </a:prstGeom>
          <a:noFill/>
        </p:spPr>
        <p:txBody>
          <a:bodyPr wrap="square">
            <a:spAutoFit/>
          </a:bodyPr>
          <a:lstStyle/>
          <a:p>
            <a:r>
              <a:rPr lang="en-IN" b="1" dirty="0"/>
              <a:t>Some of the useful properties of Big-O notation analysis are as follow: </a:t>
            </a:r>
          </a:p>
          <a:p>
            <a:r>
              <a:rPr lang="en-IN" dirty="0"/>
              <a:t> </a:t>
            </a:r>
          </a:p>
          <a:p>
            <a:r>
              <a:rPr lang="en-IN" b="1" dirty="0"/>
              <a:t>Constant Multiplication: </a:t>
            </a:r>
          </a:p>
          <a:p>
            <a:r>
              <a:rPr lang="en-IN" sz="1800" i="1" spc="10" dirty="0">
                <a:solidFill>
                  <a:srgbClr val="273239"/>
                </a:solidFill>
                <a:effectLst/>
                <a:latin typeface="Nunito" pitchFamily="2" charset="0"/>
                <a:ea typeface="Aptos" panose="020B0004020202020204" pitchFamily="34" charset="0"/>
                <a:cs typeface="Times New Roman" panose="02020603050405020304" pitchFamily="18" charset="0"/>
              </a:rPr>
              <a:t>If f(n) = c.g(n), then O(f(n)) = O(g(n)) ; where c is a nonzero constant. </a:t>
            </a:r>
          </a:p>
          <a:p>
            <a:br>
              <a:rPr lang="en-IN" sz="1800" i="1" spc="10" dirty="0">
                <a:solidFill>
                  <a:srgbClr val="273239"/>
                </a:solidFill>
                <a:effectLst/>
                <a:latin typeface="Nunito" pitchFamily="2" charset="0"/>
                <a:ea typeface="Aptos" panose="020B0004020202020204" pitchFamily="34" charset="0"/>
                <a:cs typeface="Times New Roman" panose="02020603050405020304" pitchFamily="18" charset="0"/>
              </a:rPr>
            </a:br>
            <a:r>
              <a:rPr lang="en-IN" b="1" dirty="0"/>
              <a:t>Polynomial Function: </a:t>
            </a:r>
          </a:p>
          <a:p>
            <a:r>
              <a:rPr lang="en-IN" sz="1800" i="1" spc="10" dirty="0">
                <a:solidFill>
                  <a:srgbClr val="273239"/>
                </a:solidFill>
                <a:effectLst/>
                <a:latin typeface="Nunito" pitchFamily="2" charset="0"/>
                <a:ea typeface="Aptos" panose="020B0004020202020204" pitchFamily="34" charset="0"/>
                <a:cs typeface="Times New Roman" panose="02020603050405020304" pitchFamily="18" charset="0"/>
              </a:rPr>
              <a:t>If f(n) = a</a:t>
            </a:r>
            <a:r>
              <a:rPr lang="en-IN" sz="1800" i="1" spc="10" baseline="-25000" dirty="0">
                <a:solidFill>
                  <a:srgbClr val="273239"/>
                </a:solidFill>
                <a:effectLst/>
                <a:latin typeface="Nunito" pitchFamily="2" charset="0"/>
                <a:ea typeface="Aptos" panose="020B0004020202020204" pitchFamily="34" charset="0"/>
                <a:cs typeface="Times New Roman" panose="02020603050405020304" pitchFamily="18" charset="0"/>
              </a:rPr>
              <a:t>0</a:t>
            </a:r>
            <a:r>
              <a:rPr lang="en-IN" sz="1800" i="1" spc="10" dirty="0">
                <a:solidFill>
                  <a:srgbClr val="273239"/>
                </a:solidFill>
                <a:effectLst/>
                <a:latin typeface="Nunito" pitchFamily="2" charset="0"/>
                <a:ea typeface="Aptos" panose="020B0004020202020204" pitchFamily="34" charset="0"/>
                <a:cs typeface="Times New Roman" panose="02020603050405020304" pitchFamily="18" charset="0"/>
              </a:rPr>
              <a:t> + a</a:t>
            </a:r>
            <a:r>
              <a:rPr lang="en-IN" sz="1800" i="1" spc="10" baseline="-25000" dirty="0">
                <a:solidFill>
                  <a:srgbClr val="273239"/>
                </a:solidFill>
                <a:effectLst/>
                <a:latin typeface="Nunito" pitchFamily="2" charset="0"/>
                <a:ea typeface="Aptos" panose="020B0004020202020204" pitchFamily="34" charset="0"/>
                <a:cs typeface="Times New Roman" panose="02020603050405020304" pitchFamily="18" charset="0"/>
              </a:rPr>
              <a:t>1</a:t>
            </a:r>
            <a:r>
              <a:rPr lang="en-IN" sz="1800" i="1" spc="10" dirty="0">
                <a:solidFill>
                  <a:srgbClr val="273239"/>
                </a:solidFill>
                <a:effectLst/>
                <a:latin typeface="Nunito" pitchFamily="2" charset="0"/>
                <a:ea typeface="Aptos" panose="020B0004020202020204" pitchFamily="34" charset="0"/>
                <a:cs typeface="Times New Roman" panose="02020603050405020304" pitchFamily="18" charset="0"/>
              </a:rPr>
              <a:t>.n + a</a:t>
            </a:r>
            <a:r>
              <a:rPr lang="en-IN" sz="1800" i="1" spc="10" baseline="-25000" dirty="0">
                <a:solidFill>
                  <a:srgbClr val="273239"/>
                </a:solidFill>
                <a:effectLst/>
                <a:latin typeface="Nunito" pitchFamily="2" charset="0"/>
                <a:ea typeface="Aptos" panose="020B0004020202020204" pitchFamily="34" charset="0"/>
                <a:cs typeface="Times New Roman" panose="02020603050405020304" pitchFamily="18" charset="0"/>
              </a:rPr>
              <a:t>2</a:t>
            </a:r>
            <a:r>
              <a:rPr lang="en-IN" sz="1800" i="1" spc="10" dirty="0">
                <a:solidFill>
                  <a:srgbClr val="273239"/>
                </a:solidFill>
                <a:effectLst/>
                <a:latin typeface="Nunito" pitchFamily="2" charset="0"/>
                <a:ea typeface="Aptos" panose="020B0004020202020204" pitchFamily="34" charset="0"/>
                <a:cs typeface="Times New Roman" panose="02020603050405020304" pitchFamily="18" charset="0"/>
              </a:rPr>
              <a:t>.n</a:t>
            </a:r>
            <a:r>
              <a:rPr lang="en-IN" sz="1800" i="1" spc="10" baseline="30000" dirty="0">
                <a:solidFill>
                  <a:srgbClr val="273239"/>
                </a:solidFill>
                <a:effectLst/>
                <a:latin typeface="Nunito" pitchFamily="2" charset="0"/>
                <a:ea typeface="Aptos" panose="020B0004020202020204" pitchFamily="34" charset="0"/>
                <a:cs typeface="Times New Roman" panose="02020603050405020304" pitchFamily="18" charset="0"/>
              </a:rPr>
              <a:t>2</a:t>
            </a:r>
            <a:r>
              <a:rPr lang="en-IN" sz="1800" i="1" spc="10" dirty="0">
                <a:solidFill>
                  <a:srgbClr val="273239"/>
                </a:solidFill>
                <a:effectLst/>
                <a:latin typeface="Nunito" pitchFamily="2" charset="0"/>
                <a:ea typeface="Aptos" panose="020B0004020202020204" pitchFamily="34" charset="0"/>
                <a:cs typeface="Times New Roman" panose="02020603050405020304" pitchFamily="18" charset="0"/>
              </a:rPr>
              <a:t> + —- + a</a:t>
            </a:r>
            <a:r>
              <a:rPr lang="en-IN" sz="1800" i="1" spc="10" baseline="-25000" dirty="0">
                <a:solidFill>
                  <a:srgbClr val="273239"/>
                </a:solidFill>
                <a:effectLst/>
                <a:latin typeface="Nunito" pitchFamily="2" charset="0"/>
                <a:ea typeface="Aptos" panose="020B0004020202020204" pitchFamily="34" charset="0"/>
                <a:cs typeface="Times New Roman" panose="02020603050405020304" pitchFamily="18" charset="0"/>
              </a:rPr>
              <a:t>m</a:t>
            </a:r>
            <a:r>
              <a:rPr lang="en-IN" sz="1800" i="1" spc="10" dirty="0">
                <a:solidFill>
                  <a:srgbClr val="273239"/>
                </a:solidFill>
                <a:effectLst/>
                <a:latin typeface="Nunito" pitchFamily="2" charset="0"/>
                <a:ea typeface="Aptos" panose="020B0004020202020204" pitchFamily="34" charset="0"/>
                <a:cs typeface="Times New Roman" panose="02020603050405020304" pitchFamily="18" charset="0"/>
              </a:rPr>
              <a:t>.n</a:t>
            </a:r>
            <a:r>
              <a:rPr lang="en-IN" sz="1800" i="1" spc="10" baseline="30000" dirty="0">
                <a:solidFill>
                  <a:srgbClr val="273239"/>
                </a:solidFill>
                <a:effectLst/>
                <a:latin typeface="Nunito" pitchFamily="2" charset="0"/>
                <a:ea typeface="Aptos" panose="020B0004020202020204" pitchFamily="34" charset="0"/>
                <a:cs typeface="Times New Roman" panose="02020603050405020304" pitchFamily="18" charset="0"/>
              </a:rPr>
              <a:t>m</a:t>
            </a:r>
            <a:r>
              <a:rPr lang="en-IN" sz="1800" i="1" spc="10" dirty="0">
                <a:solidFill>
                  <a:srgbClr val="273239"/>
                </a:solidFill>
                <a:effectLst/>
                <a:latin typeface="Nunito" pitchFamily="2" charset="0"/>
                <a:ea typeface="Aptos" panose="020B0004020202020204" pitchFamily="34" charset="0"/>
                <a:cs typeface="Times New Roman" panose="02020603050405020304" pitchFamily="18" charset="0"/>
              </a:rPr>
              <a:t>, then O(f(n)) = O(n</a:t>
            </a:r>
            <a:r>
              <a:rPr lang="en-IN" sz="1800" i="1" spc="10" baseline="30000" dirty="0">
                <a:solidFill>
                  <a:srgbClr val="273239"/>
                </a:solidFill>
                <a:effectLst/>
                <a:latin typeface="Nunito" pitchFamily="2" charset="0"/>
                <a:ea typeface="Aptos" panose="020B0004020202020204" pitchFamily="34" charset="0"/>
                <a:cs typeface="Times New Roman" panose="02020603050405020304" pitchFamily="18" charset="0"/>
              </a:rPr>
              <a:t>m</a:t>
            </a:r>
            <a:r>
              <a:rPr lang="en-IN" sz="1800" i="1" spc="10" dirty="0">
                <a:solidFill>
                  <a:srgbClr val="273239"/>
                </a:solidFill>
                <a:effectLst/>
                <a:latin typeface="Nunito" pitchFamily="2" charset="0"/>
                <a:ea typeface="Aptos" panose="020B0004020202020204" pitchFamily="34" charset="0"/>
                <a:cs typeface="Times New Roman" panose="02020603050405020304" pitchFamily="18" charset="0"/>
              </a:rPr>
              <a:t>). </a:t>
            </a:r>
            <a:endParaRPr lang="en-IN" dirty="0"/>
          </a:p>
          <a:p>
            <a:r>
              <a:rPr lang="en-IN" b="1" dirty="0"/>
              <a:t>Summation Function: </a:t>
            </a:r>
          </a:p>
          <a:p>
            <a:r>
              <a:rPr lang="en-IN" sz="1800" i="1" spc="10" dirty="0">
                <a:solidFill>
                  <a:srgbClr val="273239"/>
                </a:solidFill>
                <a:effectLst/>
                <a:latin typeface="Nunito" pitchFamily="2" charset="0"/>
                <a:ea typeface="Aptos" panose="020B0004020202020204" pitchFamily="34" charset="0"/>
                <a:cs typeface="Times New Roman" panose="02020603050405020304" pitchFamily="18" charset="0"/>
              </a:rPr>
              <a:t>If f(n) = f</a:t>
            </a:r>
            <a:r>
              <a:rPr lang="en-IN" sz="1800" i="1" spc="10" baseline="-25000" dirty="0">
                <a:solidFill>
                  <a:srgbClr val="273239"/>
                </a:solidFill>
                <a:effectLst/>
                <a:latin typeface="Nunito" pitchFamily="2" charset="0"/>
                <a:ea typeface="Aptos" panose="020B0004020202020204" pitchFamily="34" charset="0"/>
                <a:cs typeface="Times New Roman" panose="02020603050405020304" pitchFamily="18" charset="0"/>
              </a:rPr>
              <a:t>1</a:t>
            </a:r>
            <a:r>
              <a:rPr lang="en-IN" sz="1800" i="1" spc="10" dirty="0">
                <a:solidFill>
                  <a:srgbClr val="273239"/>
                </a:solidFill>
                <a:effectLst/>
                <a:latin typeface="Nunito" pitchFamily="2" charset="0"/>
                <a:ea typeface="Aptos" panose="020B0004020202020204" pitchFamily="34" charset="0"/>
                <a:cs typeface="Times New Roman" panose="02020603050405020304" pitchFamily="18" charset="0"/>
              </a:rPr>
              <a:t>(n) + f</a:t>
            </a:r>
            <a:r>
              <a:rPr lang="en-IN" sz="1800" i="1" spc="10" baseline="-25000" dirty="0">
                <a:solidFill>
                  <a:srgbClr val="273239"/>
                </a:solidFill>
                <a:effectLst/>
                <a:latin typeface="Nunito" pitchFamily="2" charset="0"/>
                <a:ea typeface="Aptos" panose="020B0004020202020204" pitchFamily="34" charset="0"/>
                <a:cs typeface="Times New Roman" panose="02020603050405020304" pitchFamily="18" charset="0"/>
              </a:rPr>
              <a:t>2</a:t>
            </a:r>
            <a:r>
              <a:rPr lang="en-IN" sz="1800" i="1" spc="10" dirty="0">
                <a:solidFill>
                  <a:srgbClr val="273239"/>
                </a:solidFill>
                <a:effectLst/>
                <a:latin typeface="Nunito" pitchFamily="2" charset="0"/>
                <a:ea typeface="Aptos" panose="020B0004020202020204" pitchFamily="34" charset="0"/>
                <a:cs typeface="Times New Roman" panose="02020603050405020304" pitchFamily="18" charset="0"/>
              </a:rPr>
              <a:t>(n) + —- + f</a:t>
            </a:r>
            <a:r>
              <a:rPr lang="en-IN" sz="1800" i="1" spc="10" baseline="-25000" dirty="0">
                <a:solidFill>
                  <a:srgbClr val="273239"/>
                </a:solidFill>
                <a:effectLst/>
                <a:latin typeface="Nunito" pitchFamily="2" charset="0"/>
                <a:ea typeface="Aptos" panose="020B0004020202020204" pitchFamily="34" charset="0"/>
                <a:cs typeface="Times New Roman" panose="02020603050405020304" pitchFamily="18" charset="0"/>
              </a:rPr>
              <a:t>m</a:t>
            </a:r>
            <a:r>
              <a:rPr lang="en-IN" sz="1800" i="1" spc="10" dirty="0">
                <a:solidFill>
                  <a:srgbClr val="273239"/>
                </a:solidFill>
                <a:effectLst/>
                <a:latin typeface="Nunito" pitchFamily="2" charset="0"/>
                <a:ea typeface="Aptos" panose="020B0004020202020204" pitchFamily="34" charset="0"/>
                <a:cs typeface="Times New Roman" panose="02020603050405020304" pitchFamily="18" charset="0"/>
              </a:rPr>
              <a:t>(n) and f</a:t>
            </a:r>
            <a:r>
              <a:rPr lang="en-IN" sz="1800" i="1" spc="10" baseline="-25000" dirty="0">
                <a:solidFill>
                  <a:srgbClr val="273239"/>
                </a:solidFill>
                <a:effectLst/>
                <a:latin typeface="Nunito" pitchFamily="2" charset="0"/>
                <a:ea typeface="Aptos" panose="020B0004020202020204" pitchFamily="34" charset="0"/>
                <a:cs typeface="Times New Roman" panose="02020603050405020304" pitchFamily="18" charset="0"/>
              </a:rPr>
              <a:t>i</a:t>
            </a:r>
            <a:r>
              <a:rPr lang="en-IN" sz="1800" i="1" spc="10" dirty="0">
                <a:solidFill>
                  <a:srgbClr val="273239"/>
                </a:solidFill>
                <a:effectLst/>
                <a:latin typeface="Nunito" pitchFamily="2" charset="0"/>
                <a:ea typeface="Aptos" panose="020B0004020202020204" pitchFamily="34" charset="0"/>
                <a:cs typeface="Times New Roman" panose="02020603050405020304" pitchFamily="18" charset="0"/>
              </a:rPr>
              <a:t>(n)≤f</a:t>
            </a:r>
            <a:r>
              <a:rPr lang="en-IN" sz="1800" i="1" spc="10" baseline="-25000" dirty="0">
                <a:solidFill>
                  <a:srgbClr val="273239"/>
                </a:solidFill>
                <a:effectLst/>
                <a:latin typeface="Nunito" pitchFamily="2" charset="0"/>
                <a:ea typeface="Aptos" panose="020B0004020202020204" pitchFamily="34" charset="0"/>
                <a:cs typeface="Times New Roman" panose="02020603050405020304" pitchFamily="18" charset="0"/>
              </a:rPr>
              <a:t>i+1</a:t>
            </a:r>
            <a:r>
              <a:rPr lang="en-IN" sz="1800" i="1" spc="10" dirty="0">
                <a:solidFill>
                  <a:srgbClr val="273239"/>
                </a:solidFill>
                <a:effectLst/>
                <a:latin typeface="Nunito" pitchFamily="2" charset="0"/>
                <a:ea typeface="Aptos" panose="020B0004020202020204" pitchFamily="34" charset="0"/>
                <a:cs typeface="Times New Roman" panose="02020603050405020304" pitchFamily="18" charset="0"/>
              </a:rPr>
              <a:t>(n) </a:t>
            </a:r>
            <a:r>
              <a:rPr lang="en-IN" sz="1800" i="1" spc="10" dirty="0">
                <a:solidFill>
                  <a:srgbClr val="273239"/>
                </a:solidFill>
                <a:effectLst/>
                <a:latin typeface="Cambria Math" panose="02040503050406030204" pitchFamily="18" charset="0"/>
                <a:ea typeface="Aptos" panose="020B0004020202020204" pitchFamily="34" charset="0"/>
                <a:cs typeface="Cambria Math" panose="02040503050406030204" pitchFamily="18" charset="0"/>
              </a:rPr>
              <a:t>∀</a:t>
            </a:r>
            <a:r>
              <a:rPr lang="en-IN" sz="1800" i="1" spc="10" dirty="0">
                <a:solidFill>
                  <a:srgbClr val="273239"/>
                </a:solidFill>
                <a:effectLst/>
                <a:latin typeface="Nunito" pitchFamily="2" charset="0"/>
                <a:ea typeface="Aptos" panose="020B0004020202020204" pitchFamily="34" charset="0"/>
                <a:cs typeface="Times New Roman" panose="02020603050405020304" pitchFamily="18" charset="0"/>
              </a:rPr>
              <a:t> i=1, 2, </a:t>
            </a:r>
            <a:r>
              <a:rPr lang="en-IN" sz="1800" i="1" spc="10" dirty="0">
                <a:solidFill>
                  <a:srgbClr val="273239"/>
                </a:solidFill>
                <a:effectLst/>
                <a:latin typeface="Nunito" pitchFamily="2" charset="0"/>
                <a:ea typeface="Aptos" panose="020B0004020202020204" pitchFamily="34" charset="0"/>
                <a:cs typeface="Nunito" pitchFamily="2" charset="0"/>
              </a:rPr>
              <a:t>—</a:t>
            </a:r>
            <a:r>
              <a:rPr lang="en-IN" sz="1800" i="1" spc="10" dirty="0">
                <a:solidFill>
                  <a:srgbClr val="273239"/>
                </a:solidFill>
                <a:effectLst/>
                <a:latin typeface="Nunito" pitchFamily="2" charset="0"/>
                <a:ea typeface="Aptos" panose="020B0004020202020204" pitchFamily="34" charset="0"/>
                <a:cs typeface="Times New Roman" panose="02020603050405020304" pitchFamily="18" charset="0"/>
              </a:rPr>
              <a:t>-, m, </a:t>
            </a:r>
            <a:br>
              <a:rPr lang="en-IN" sz="1800" i="1" spc="10" dirty="0">
                <a:solidFill>
                  <a:srgbClr val="273239"/>
                </a:solidFill>
                <a:effectLst/>
                <a:latin typeface="Nunito" pitchFamily="2" charset="0"/>
                <a:ea typeface="Aptos" panose="020B0004020202020204" pitchFamily="34" charset="0"/>
                <a:cs typeface="Times New Roman" panose="02020603050405020304" pitchFamily="18" charset="0"/>
              </a:rPr>
            </a:br>
            <a:r>
              <a:rPr lang="en-IN" sz="1800" i="1" spc="10" dirty="0">
                <a:solidFill>
                  <a:srgbClr val="273239"/>
                </a:solidFill>
                <a:effectLst/>
                <a:latin typeface="Nunito" pitchFamily="2" charset="0"/>
                <a:ea typeface="Aptos" panose="020B0004020202020204" pitchFamily="34" charset="0"/>
                <a:cs typeface="Times New Roman" panose="02020603050405020304" pitchFamily="18" charset="0"/>
              </a:rPr>
              <a:t>then O(f(n)) = O(max(f</a:t>
            </a:r>
            <a:r>
              <a:rPr lang="en-IN" sz="1800" i="1" spc="10" baseline="-25000" dirty="0">
                <a:solidFill>
                  <a:srgbClr val="273239"/>
                </a:solidFill>
                <a:effectLst/>
                <a:latin typeface="Nunito" pitchFamily="2" charset="0"/>
                <a:ea typeface="Aptos" panose="020B0004020202020204" pitchFamily="34" charset="0"/>
                <a:cs typeface="Times New Roman" panose="02020603050405020304" pitchFamily="18" charset="0"/>
              </a:rPr>
              <a:t>1</a:t>
            </a:r>
            <a:r>
              <a:rPr lang="en-IN" sz="1800" i="1" spc="10" dirty="0">
                <a:solidFill>
                  <a:srgbClr val="273239"/>
                </a:solidFill>
                <a:effectLst/>
                <a:latin typeface="Nunito" pitchFamily="2" charset="0"/>
                <a:ea typeface="Aptos" panose="020B0004020202020204" pitchFamily="34" charset="0"/>
                <a:cs typeface="Times New Roman" panose="02020603050405020304" pitchFamily="18" charset="0"/>
              </a:rPr>
              <a:t>(n), f</a:t>
            </a:r>
            <a:r>
              <a:rPr lang="en-IN" sz="1800" i="1" spc="10" baseline="-25000" dirty="0">
                <a:solidFill>
                  <a:srgbClr val="273239"/>
                </a:solidFill>
                <a:effectLst/>
                <a:latin typeface="Nunito" pitchFamily="2" charset="0"/>
                <a:ea typeface="Aptos" panose="020B0004020202020204" pitchFamily="34" charset="0"/>
                <a:cs typeface="Times New Roman" panose="02020603050405020304" pitchFamily="18" charset="0"/>
              </a:rPr>
              <a:t>2</a:t>
            </a:r>
            <a:r>
              <a:rPr lang="en-IN" sz="1800" i="1" spc="10" dirty="0">
                <a:solidFill>
                  <a:srgbClr val="273239"/>
                </a:solidFill>
                <a:effectLst/>
                <a:latin typeface="Nunito" pitchFamily="2" charset="0"/>
                <a:ea typeface="Aptos" panose="020B0004020202020204" pitchFamily="34" charset="0"/>
                <a:cs typeface="Times New Roman" panose="02020603050405020304" pitchFamily="18" charset="0"/>
              </a:rPr>
              <a:t>(n), —-, f</a:t>
            </a:r>
            <a:r>
              <a:rPr lang="en-IN" sz="1800" i="1" spc="10" baseline="-25000" dirty="0">
                <a:solidFill>
                  <a:srgbClr val="273239"/>
                </a:solidFill>
                <a:effectLst/>
                <a:latin typeface="Nunito" pitchFamily="2" charset="0"/>
                <a:ea typeface="Aptos" panose="020B0004020202020204" pitchFamily="34" charset="0"/>
                <a:cs typeface="Times New Roman" panose="02020603050405020304" pitchFamily="18" charset="0"/>
              </a:rPr>
              <a:t>m</a:t>
            </a:r>
            <a:r>
              <a:rPr lang="en-IN" sz="1800" i="1" spc="10" dirty="0">
                <a:solidFill>
                  <a:srgbClr val="273239"/>
                </a:solidFill>
                <a:effectLst/>
                <a:latin typeface="Nunito" pitchFamily="2" charset="0"/>
                <a:ea typeface="Aptos" panose="020B0004020202020204" pitchFamily="34" charset="0"/>
                <a:cs typeface="Times New Roman" panose="02020603050405020304" pitchFamily="18" charset="0"/>
              </a:rPr>
              <a:t>(n))). </a:t>
            </a:r>
            <a:br>
              <a:rPr lang="en-IN" sz="1800" i="1" spc="10" dirty="0">
                <a:solidFill>
                  <a:srgbClr val="273239"/>
                </a:solidFill>
                <a:effectLst/>
                <a:latin typeface="Nunito" pitchFamily="2" charset="0"/>
                <a:ea typeface="Aptos" panose="020B0004020202020204" pitchFamily="34" charset="0"/>
                <a:cs typeface="Times New Roman" panose="02020603050405020304" pitchFamily="18" charset="0"/>
              </a:rPr>
            </a:br>
            <a:r>
              <a:rPr lang="en-IN" b="1" dirty="0"/>
              <a:t>Logarithmic Function: </a:t>
            </a:r>
          </a:p>
          <a:p>
            <a:r>
              <a:rPr lang="en-IN" sz="1800" i="1" spc="10" dirty="0">
                <a:solidFill>
                  <a:srgbClr val="273239"/>
                </a:solidFill>
                <a:effectLst/>
                <a:latin typeface="Nunito" pitchFamily="2" charset="0"/>
                <a:ea typeface="Aptos" panose="020B0004020202020204" pitchFamily="34" charset="0"/>
                <a:cs typeface="Times New Roman" panose="02020603050405020304" pitchFamily="18" charset="0"/>
              </a:rPr>
              <a:t>If f(n) = log</a:t>
            </a:r>
            <a:r>
              <a:rPr lang="en-IN" sz="1800" i="1" spc="10" baseline="-25000" dirty="0">
                <a:solidFill>
                  <a:srgbClr val="273239"/>
                </a:solidFill>
                <a:effectLst/>
                <a:latin typeface="Nunito" pitchFamily="2" charset="0"/>
                <a:ea typeface="Aptos" panose="020B0004020202020204" pitchFamily="34" charset="0"/>
                <a:cs typeface="Times New Roman" panose="02020603050405020304" pitchFamily="18" charset="0"/>
              </a:rPr>
              <a:t>a</a:t>
            </a:r>
            <a:r>
              <a:rPr lang="en-IN" sz="1800" i="1" spc="10" dirty="0">
                <a:solidFill>
                  <a:srgbClr val="273239"/>
                </a:solidFill>
                <a:effectLst/>
                <a:latin typeface="Nunito" pitchFamily="2" charset="0"/>
                <a:ea typeface="Aptos" panose="020B0004020202020204" pitchFamily="34" charset="0"/>
                <a:cs typeface="Times New Roman" panose="02020603050405020304" pitchFamily="18" charset="0"/>
              </a:rPr>
              <a:t>n and g(n)=log</a:t>
            </a:r>
            <a:r>
              <a:rPr lang="en-IN" sz="1800" i="1" spc="10" baseline="-25000" dirty="0">
                <a:solidFill>
                  <a:srgbClr val="273239"/>
                </a:solidFill>
                <a:effectLst/>
                <a:latin typeface="Nunito" pitchFamily="2" charset="0"/>
                <a:ea typeface="Aptos" panose="020B0004020202020204" pitchFamily="34" charset="0"/>
                <a:cs typeface="Times New Roman" panose="02020603050405020304" pitchFamily="18" charset="0"/>
              </a:rPr>
              <a:t>b</a:t>
            </a:r>
            <a:r>
              <a:rPr lang="en-IN" sz="1800" i="1" spc="10" dirty="0">
                <a:solidFill>
                  <a:srgbClr val="273239"/>
                </a:solidFill>
                <a:effectLst/>
                <a:latin typeface="Nunito" pitchFamily="2" charset="0"/>
                <a:ea typeface="Aptos" panose="020B0004020202020204" pitchFamily="34" charset="0"/>
                <a:cs typeface="Times New Roman" panose="02020603050405020304" pitchFamily="18" charset="0"/>
              </a:rPr>
              <a:t>n, then O(f(n))=O(g(n)) </a:t>
            </a:r>
          </a:p>
          <a:p>
            <a:br>
              <a:rPr lang="en-IN" sz="1800" i="1" spc="10" dirty="0">
                <a:solidFill>
                  <a:srgbClr val="273239"/>
                </a:solidFill>
                <a:effectLst/>
                <a:latin typeface="Nunito" pitchFamily="2" charset="0"/>
                <a:ea typeface="Aptos" panose="020B0004020202020204" pitchFamily="34" charset="0"/>
                <a:cs typeface="Times New Roman" panose="02020603050405020304" pitchFamily="18" charset="0"/>
              </a:rPr>
            </a:br>
            <a:r>
              <a:rPr lang="en-IN" dirty="0"/>
              <a:t>All log functions grow in the same manner in terms of Big-O.</a:t>
            </a:r>
          </a:p>
        </p:txBody>
      </p:sp>
    </p:spTree>
    <p:extLst>
      <p:ext uri="{BB962C8B-B14F-4D97-AF65-F5344CB8AC3E}">
        <p14:creationId xmlns:p14="http://schemas.microsoft.com/office/powerpoint/2010/main" val="212607005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96C14-8554-E023-249C-1FF8328AC8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39D2E5-BF1C-152B-AA9C-84CA50EB0841}"/>
              </a:ext>
            </a:extLst>
          </p:cNvPr>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dirty="0">
                <a:solidFill>
                  <a:schemeClr val="tx1"/>
                </a:solidFill>
                <a:effectLst/>
                <a:latin typeface="+mj-lt"/>
                <a:ea typeface="Times New Roman" panose="02020603050405020304" pitchFamily="18" charset="0"/>
                <a:cs typeface="Times New Roman" panose="02020603050405020304" pitchFamily="18" charset="0"/>
              </a:rPr>
              <a:t>Asymptotic classes</a:t>
            </a:r>
          </a:p>
        </p:txBody>
      </p:sp>
      <p:sp>
        <p:nvSpPr>
          <p:cNvPr id="4" name="Date Placeholder 3">
            <a:extLst>
              <a:ext uri="{FF2B5EF4-FFF2-40B4-BE49-F238E27FC236}">
                <a16:creationId xmlns:a16="http://schemas.microsoft.com/office/drawing/2014/main" id="{15DB8D9F-8297-73EB-372D-5DE2A483DA4B}"/>
              </a:ext>
            </a:extLst>
          </p:cNvPr>
          <p:cNvSpPr>
            <a:spLocks noGrp="1"/>
          </p:cNvSpPr>
          <p:nvPr>
            <p:ph type="dt" sz="half" idx="10"/>
          </p:nvPr>
        </p:nvSpPr>
        <p:spPr/>
        <p:txBody>
          <a:bodyPr/>
          <a:lstStyle/>
          <a:p>
            <a:fld id="{F6C643BA-ACA1-44BF-9071-763295A35907}" type="datetime4">
              <a:rPr lang="en-US" smtClean="0">
                <a:solidFill>
                  <a:schemeClr val="tx1"/>
                </a:solidFill>
              </a:rPr>
              <a:pPr/>
              <a:t>March 13, 2024</a:t>
            </a:fld>
            <a:endParaRPr lang="en-US">
              <a:solidFill>
                <a:schemeClr val="tx1"/>
              </a:solidFill>
            </a:endParaRPr>
          </a:p>
        </p:txBody>
      </p:sp>
      <p:sp>
        <p:nvSpPr>
          <p:cNvPr id="5" name="Footer Placeholder 4">
            <a:extLst>
              <a:ext uri="{FF2B5EF4-FFF2-40B4-BE49-F238E27FC236}">
                <a16:creationId xmlns:a16="http://schemas.microsoft.com/office/drawing/2014/main" id="{419408B4-FE6C-AD68-6629-FB1FC8ABA35A}"/>
              </a:ext>
            </a:extLst>
          </p:cNvPr>
          <p:cNvSpPr>
            <a:spLocks noGrp="1"/>
          </p:cNvSpPr>
          <p:nvPr>
            <p:ph type="ftr" sz="quarter" idx="11"/>
          </p:nvPr>
        </p:nvSpPr>
        <p:spPr/>
        <p:txBody>
          <a:bodyPr/>
          <a:lstStyle/>
          <a:p>
            <a:r>
              <a:rPr lang="en-US" dirty="0">
                <a:solidFill>
                  <a:schemeClr val="tx1"/>
                </a:solidFill>
              </a:rPr>
              <a:t>Department of Computer Science &amp; Engineering, VNRVJIET, Hyderabad</a:t>
            </a:r>
          </a:p>
        </p:txBody>
      </p:sp>
      <p:sp>
        <p:nvSpPr>
          <p:cNvPr id="6" name="Slide Number Placeholder 5">
            <a:extLst>
              <a:ext uri="{FF2B5EF4-FFF2-40B4-BE49-F238E27FC236}">
                <a16:creationId xmlns:a16="http://schemas.microsoft.com/office/drawing/2014/main" id="{5FC2D468-6392-88B8-B2A4-8C02BF62A93D}"/>
              </a:ext>
            </a:extLst>
          </p:cNvPr>
          <p:cNvSpPr>
            <a:spLocks noGrp="1"/>
          </p:cNvSpPr>
          <p:nvPr>
            <p:ph type="sldNum" sz="quarter" idx="12"/>
          </p:nvPr>
        </p:nvSpPr>
        <p:spPr/>
        <p:txBody>
          <a:bodyPr/>
          <a:lstStyle/>
          <a:p>
            <a:fld id="{C4FA3F07-B4E9-4FEB-BC07-B9713C186F28}" type="slidenum">
              <a:rPr lang="en-US" smtClean="0">
                <a:solidFill>
                  <a:schemeClr val="tx1"/>
                </a:solidFill>
              </a:rPr>
              <a:pPr/>
              <a:t>56</a:t>
            </a:fld>
            <a:endParaRPr lang="en-US" dirty="0">
              <a:solidFill>
                <a:schemeClr val="tx1"/>
              </a:solidFill>
            </a:endParaRPr>
          </a:p>
        </p:txBody>
      </p:sp>
      <p:sp>
        <p:nvSpPr>
          <p:cNvPr id="22" name="Rectangle 21" descr="▪">
            <a:extLst>
              <a:ext uri="{FF2B5EF4-FFF2-40B4-BE49-F238E27FC236}">
                <a16:creationId xmlns:a16="http://schemas.microsoft.com/office/drawing/2014/main" id="{5E4FE9E7-9D34-0A6C-F74B-CF92390A28BF}"/>
              </a:ext>
            </a:extLst>
          </p:cNvPr>
          <p:cNvSpPr>
            <a:spLocks noChangeAspect="1" noChangeArrowheads="1"/>
          </p:cNvSpPr>
          <p:nvPr/>
        </p:nvSpPr>
        <p:spPr bwMode="auto">
          <a:xfrm>
            <a:off x="805543" y="1891717"/>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IN"/>
          </a:p>
        </p:txBody>
      </p:sp>
      <p:sp>
        <p:nvSpPr>
          <p:cNvPr id="23" name="Rectangle 22" descr="▪">
            <a:extLst>
              <a:ext uri="{FF2B5EF4-FFF2-40B4-BE49-F238E27FC236}">
                <a16:creationId xmlns:a16="http://schemas.microsoft.com/office/drawing/2014/main" id="{F23790B8-D66A-8928-2960-474E0216CC83}"/>
              </a:ext>
            </a:extLst>
          </p:cNvPr>
          <p:cNvSpPr>
            <a:spLocks noChangeAspect="1" noChangeArrowheads="1"/>
          </p:cNvSpPr>
          <p:nvPr/>
        </p:nvSpPr>
        <p:spPr bwMode="auto">
          <a:xfrm>
            <a:off x="805543" y="1891717"/>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IN"/>
          </a:p>
        </p:txBody>
      </p:sp>
      <p:sp>
        <p:nvSpPr>
          <p:cNvPr id="24" name="Rectangle 23" descr="▪">
            <a:extLst>
              <a:ext uri="{FF2B5EF4-FFF2-40B4-BE49-F238E27FC236}">
                <a16:creationId xmlns:a16="http://schemas.microsoft.com/office/drawing/2014/main" id="{F840BB1B-7895-AD85-A329-ABE880777718}"/>
              </a:ext>
            </a:extLst>
          </p:cNvPr>
          <p:cNvSpPr>
            <a:spLocks noChangeAspect="1" noChangeArrowheads="1"/>
          </p:cNvSpPr>
          <p:nvPr/>
        </p:nvSpPr>
        <p:spPr bwMode="auto">
          <a:xfrm>
            <a:off x="805543" y="1891717"/>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IN"/>
          </a:p>
        </p:txBody>
      </p:sp>
      <p:sp>
        <p:nvSpPr>
          <p:cNvPr id="25" name="Rectangle 24" descr="▪">
            <a:extLst>
              <a:ext uri="{FF2B5EF4-FFF2-40B4-BE49-F238E27FC236}">
                <a16:creationId xmlns:a16="http://schemas.microsoft.com/office/drawing/2014/main" id="{37AD2797-46B2-B70C-8D9C-12404A208263}"/>
              </a:ext>
            </a:extLst>
          </p:cNvPr>
          <p:cNvSpPr>
            <a:spLocks noChangeAspect="1" noChangeArrowheads="1"/>
          </p:cNvSpPr>
          <p:nvPr/>
        </p:nvSpPr>
        <p:spPr bwMode="auto">
          <a:xfrm>
            <a:off x="805543" y="1891717"/>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IN"/>
          </a:p>
        </p:txBody>
      </p:sp>
      <p:sp>
        <p:nvSpPr>
          <p:cNvPr id="8" name="TextBox 7">
            <a:extLst>
              <a:ext uri="{FF2B5EF4-FFF2-40B4-BE49-F238E27FC236}">
                <a16:creationId xmlns:a16="http://schemas.microsoft.com/office/drawing/2014/main" id="{5E34A3D8-201F-FFAF-48CF-D65EA56789EB}"/>
              </a:ext>
            </a:extLst>
          </p:cNvPr>
          <p:cNvSpPr txBox="1"/>
          <p:nvPr/>
        </p:nvSpPr>
        <p:spPr>
          <a:xfrm>
            <a:off x="833534" y="1327490"/>
            <a:ext cx="7700865" cy="3916008"/>
          </a:xfrm>
          <a:prstGeom prst="rect">
            <a:avLst/>
          </a:prstGeom>
          <a:noFill/>
        </p:spPr>
        <p:txBody>
          <a:bodyPr wrap="square">
            <a:spAutoFit/>
          </a:bodyPr>
          <a:lstStyle/>
          <a:p>
            <a:pPr fontAlgn="base"/>
            <a:r>
              <a:rPr lang="en-IN" sz="1800" b="1" spc="10" dirty="0">
                <a:solidFill>
                  <a:srgbClr val="273239"/>
                </a:solidFill>
                <a:effectLst/>
                <a:latin typeface="Nunito" pitchFamily="2" charset="0"/>
                <a:ea typeface="Times New Roman" panose="02020603050405020304" pitchFamily="18" charset="0"/>
              </a:rPr>
              <a:t>2. Big Omega notation (Ω) :</a:t>
            </a:r>
            <a:r>
              <a:rPr lang="en-IN" sz="1800" spc="10" dirty="0">
                <a:solidFill>
                  <a:srgbClr val="273239"/>
                </a:solidFill>
                <a:effectLst/>
                <a:latin typeface="Nunito" pitchFamily="2" charset="0"/>
                <a:ea typeface="Times New Roman" panose="02020603050405020304" pitchFamily="18" charset="0"/>
              </a:rPr>
              <a:t> </a:t>
            </a:r>
            <a:endParaRPr lang="en-IN" sz="1600" dirty="0">
              <a:effectLst/>
              <a:latin typeface="Times New Roman" panose="02020603050405020304" pitchFamily="18" charset="0"/>
              <a:ea typeface="Times New Roman" panose="02020603050405020304" pitchFamily="18" charset="0"/>
            </a:endParaRPr>
          </a:p>
          <a:p>
            <a:pPr fontAlgn="base"/>
            <a:r>
              <a:rPr lang="en-IN" sz="1800" spc="10" dirty="0">
                <a:solidFill>
                  <a:srgbClr val="273239"/>
                </a:solidFill>
                <a:effectLst/>
                <a:latin typeface="Nunito" pitchFamily="2" charset="0"/>
                <a:ea typeface="Times New Roman" panose="02020603050405020304" pitchFamily="18" charset="0"/>
              </a:rPr>
              <a:t>It is define as lower bound and lower bound on an algorithm is the least amount of time required ( the most efficient way possible, in other words best case).</a:t>
            </a:r>
            <a:br>
              <a:rPr lang="en-IN" sz="1800" spc="10" dirty="0">
                <a:solidFill>
                  <a:srgbClr val="273239"/>
                </a:solidFill>
                <a:effectLst/>
                <a:latin typeface="Nunito" pitchFamily="2" charset="0"/>
                <a:ea typeface="Times New Roman" panose="02020603050405020304" pitchFamily="18" charset="0"/>
              </a:rPr>
            </a:br>
            <a:r>
              <a:rPr lang="en-IN" sz="1800" spc="10" dirty="0">
                <a:solidFill>
                  <a:srgbClr val="273239"/>
                </a:solidFill>
                <a:effectLst/>
                <a:latin typeface="Nunito" pitchFamily="2" charset="0"/>
                <a:ea typeface="Times New Roman" panose="02020603050405020304" pitchFamily="18" charset="0"/>
              </a:rPr>
              <a:t>Just like </a:t>
            </a:r>
            <a:r>
              <a:rPr lang="en-IN" sz="1800" b="1" spc="10" dirty="0">
                <a:solidFill>
                  <a:srgbClr val="273239"/>
                </a:solidFill>
                <a:effectLst/>
                <a:latin typeface="Nunito" pitchFamily="2" charset="0"/>
                <a:ea typeface="Times New Roman" panose="02020603050405020304" pitchFamily="18" charset="0"/>
              </a:rPr>
              <a:t>O</a:t>
            </a:r>
            <a:r>
              <a:rPr lang="en-IN" sz="1800" spc="10" dirty="0">
                <a:solidFill>
                  <a:srgbClr val="273239"/>
                </a:solidFill>
                <a:effectLst/>
                <a:latin typeface="Nunito" pitchFamily="2" charset="0"/>
                <a:ea typeface="Times New Roman" panose="02020603050405020304" pitchFamily="18" charset="0"/>
              </a:rPr>
              <a:t> </a:t>
            </a:r>
            <a:r>
              <a:rPr lang="en-IN" sz="1800" b="1" spc="10" dirty="0">
                <a:solidFill>
                  <a:srgbClr val="273239"/>
                </a:solidFill>
                <a:effectLst/>
                <a:latin typeface="Nunito" pitchFamily="2" charset="0"/>
                <a:ea typeface="Times New Roman" panose="02020603050405020304" pitchFamily="18" charset="0"/>
              </a:rPr>
              <a:t>notation</a:t>
            </a:r>
            <a:r>
              <a:rPr lang="en-IN" sz="1800" spc="10" dirty="0">
                <a:solidFill>
                  <a:srgbClr val="273239"/>
                </a:solidFill>
                <a:effectLst/>
                <a:latin typeface="Nunito" pitchFamily="2" charset="0"/>
                <a:ea typeface="Times New Roman" panose="02020603050405020304" pitchFamily="18" charset="0"/>
              </a:rPr>
              <a:t> provide an </a:t>
            </a:r>
            <a:r>
              <a:rPr lang="en-IN" sz="1800" b="1" spc="10" dirty="0">
                <a:solidFill>
                  <a:srgbClr val="273239"/>
                </a:solidFill>
                <a:effectLst/>
                <a:latin typeface="Nunito" pitchFamily="2" charset="0"/>
                <a:ea typeface="Times New Roman" panose="02020603050405020304" pitchFamily="18" charset="0"/>
              </a:rPr>
              <a:t>asymptotic upper bound</a:t>
            </a:r>
            <a:r>
              <a:rPr lang="en-IN" sz="1800" spc="10" dirty="0">
                <a:solidFill>
                  <a:srgbClr val="273239"/>
                </a:solidFill>
                <a:effectLst/>
                <a:latin typeface="Nunito" pitchFamily="2" charset="0"/>
                <a:ea typeface="Times New Roman" panose="02020603050405020304" pitchFamily="18" charset="0"/>
              </a:rPr>
              <a:t>, </a:t>
            </a:r>
            <a:r>
              <a:rPr lang="en-IN" sz="1800" b="1" spc="10" dirty="0">
                <a:solidFill>
                  <a:srgbClr val="273239"/>
                </a:solidFill>
                <a:effectLst/>
                <a:latin typeface="Nunito" pitchFamily="2" charset="0"/>
                <a:ea typeface="Times New Roman" panose="02020603050405020304" pitchFamily="18" charset="0"/>
              </a:rPr>
              <a:t>Ω</a:t>
            </a:r>
            <a:r>
              <a:rPr lang="en-IN" sz="1800" spc="10" dirty="0">
                <a:solidFill>
                  <a:srgbClr val="273239"/>
                </a:solidFill>
                <a:effectLst/>
                <a:latin typeface="Nunito" pitchFamily="2" charset="0"/>
                <a:ea typeface="Times New Roman" panose="02020603050405020304" pitchFamily="18" charset="0"/>
              </a:rPr>
              <a:t> </a:t>
            </a:r>
            <a:r>
              <a:rPr lang="en-IN" sz="1800" b="1" spc="10" dirty="0">
                <a:solidFill>
                  <a:srgbClr val="273239"/>
                </a:solidFill>
                <a:effectLst/>
                <a:latin typeface="Nunito" pitchFamily="2" charset="0"/>
                <a:ea typeface="Times New Roman" panose="02020603050405020304" pitchFamily="18" charset="0"/>
              </a:rPr>
              <a:t>notation</a:t>
            </a:r>
            <a:r>
              <a:rPr lang="en-IN" sz="1800" spc="10" dirty="0">
                <a:solidFill>
                  <a:srgbClr val="273239"/>
                </a:solidFill>
                <a:effectLst/>
                <a:latin typeface="Nunito" pitchFamily="2" charset="0"/>
                <a:ea typeface="Times New Roman" panose="02020603050405020304" pitchFamily="18" charset="0"/>
              </a:rPr>
              <a:t> provides </a:t>
            </a:r>
            <a:r>
              <a:rPr lang="en-IN" sz="1800" b="1" spc="10" dirty="0">
                <a:solidFill>
                  <a:srgbClr val="273239"/>
                </a:solidFill>
                <a:effectLst/>
                <a:latin typeface="Nunito" pitchFamily="2" charset="0"/>
                <a:ea typeface="Times New Roman" panose="02020603050405020304" pitchFamily="18" charset="0"/>
              </a:rPr>
              <a:t>asymptotic lower bound</a:t>
            </a:r>
            <a:r>
              <a:rPr lang="en-IN" sz="1800" spc="10" dirty="0">
                <a:solidFill>
                  <a:srgbClr val="273239"/>
                </a:solidFill>
                <a:effectLst/>
                <a:latin typeface="Nunito" pitchFamily="2" charset="0"/>
                <a:ea typeface="Times New Roman" panose="02020603050405020304" pitchFamily="18" charset="0"/>
              </a:rPr>
              <a:t>. </a:t>
            </a:r>
            <a:br>
              <a:rPr lang="en-IN" sz="1800" spc="10" dirty="0">
                <a:solidFill>
                  <a:srgbClr val="273239"/>
                </a:solidFill>
                <a:effectLst/>
                <a:latin typeface="Nunito" pitchFamily="2" charset="0"/>
                <a:ea typeface="Times New Roman" panose="02020603050405020304" pitchFamily="18" charset="0"/>
              </a:rPr>
            </a:br>
            <a:r>
              <a:rPr lang="en-IN" sz="1800" spc="10" dirty="0">
                <a:solidFill>
                  <a:srgbClr val="273239"/>
                </a:solidFill>
                <a:effectLst/>
                <a:latin typeface="Nunito" pitchFamily="2" charset="0"/>
                <a:ea typeface="Times New Roman" panose="02020603050405020304" pitchFamily="18" charset="0"/>
              </a:rPr>
              <a:t> </a:t>
            </a:r>
            <a:endParaRPr lang="en-IN" sz="1600" dirty="0">
              <a:effectLst/>
              <a:latin typeface="Times New Roman" panose="02020603050405020304" pitchFamily="18" charset="0"/>
              <a:ea typeface="Times New Roman" panose="02020603050405020304" pitchFamily="18" charset="0"/>
            </a:endParaRPr>
          </a:p>
          <a:p>
            <a:pPr fontAlgn="base"/>
            <a:r>
              <a:rPr lang="en-IN" sz="1800" spc="10" dirty="0">
                <a:solidFill>
                  <a:srgbClr val="273239"/>
                </a:solidFill>
                <a:effectLst/>
                <a:latin typeface="Nunito" pitchFamily="2" charset="0"/>
                <a:ea typeface="Times New Roman" panose="02020603050405020304" pitchFamily="18" charset="0"/>
              </a:rPr>
              <a:t>Let </a:t>
            </a:r>
            <a:r>
              <a:rPr lang="en-IN" sz="1600" b="1" dirty="0">
                <a:effectLst/>
                <a:latin typeface="Nunito" pitchFamily="2" charset="0"/>
                <a:ea typeface="Times New Roman" panose="02020603050405020304" pitchFamily="18" charset="0"/>
              </a:rPr>
              <a:t>f(n)</a:t>
            </a:r>
            <a:r>
              <a:rPr lang="en-IN" sz="1600" dirty="0">
                <a:effectLst/>
                <a:latin typeface="Times New Roman" panose="02020603050405020304" pitchFamily="18" charset="0"/>
                <a:ea typeface="Times New Roman" panose="02020603050405020304" pitchFamily="18" charset="0"/>
              </a:rPr>
              <a:t> define running time of an algorithm;</a:t>
            </a:r>
            <a:br>
              <a:rPr lang="en-IN" sz="1800" spc="10" dirty="0">
                <a:solidFill>
                  <a:srgbClr val="273239"/>
                </a:solidFill>
                <a:effectLst/>
                <a:latin typeface="Nunito" pitchFamily="2" charset="0"/>
                <a:ea typeface="Times New Roman" panose="02020603050405020304" pitchFamily="18" charset="0"/>
              </a:rPr>
            </a:br>
            <a:r>
              <a:rPr lang="en-IN" sz="1800" b="1" spc="10" dirty="0">
                <a:solidFill>
                  <a:srgbClr val="273239"/>
                </a:solidFill>
                <a:effectLst/>
                <a:latin typeface="Nunito" pitchFamily="2" charset="0"/>
                <a:ea typeface="Times New Roman" panose="02020603050405020304" pitchFamily="18" charset="0"/>
              </a:rPr>
              <a:t>f(n)</a:t>
            </a:r>
            <a:r>
              <a:rPr lang="en-IN" sz="1800" spc="10" dirty="0">
                <a:solidFill>
                  <a:srgbClr val="273239"/>
                </a:solidFill>
                <a:effectLst/>
                <a:latin typeface="Nunito" pitchFamily="2" charset="0"/>
                <a:ea typeface="Times New Roman" panose="02020603050405020304" pitchFamily="18" charset="0"/>
              </a:rPr>
              <a:t> is said to be</a:t>
            </a:r>
            <a:r>
              <a:rPr lang="en-IN" sz="1800" b="1" spc="10" dirty="0">
                <a:solidFill>
                  <a:srgbClr val="273239"/>
                </a:solidFill>
                <a:effectLst/>
                <a:latin typeface="Nunito" pitchFamily="2" charset="0"/>
                <a:ea typeface="Times New Roman" panose="02020603050405020304" pitchFamily="18" charset="0"/>
              </a:rPr>
              <a:t> Ω(g (n))</a:t>
            </a:r>
            <a:r>
              <a:rPr lang="en-IN" sz="1800" spc="10" dirty="0">
                <a:solidFill>
                  <a:srgbClr val="273239"/>
                </a:solidFill>
                <a:effectLst/>
                <a:latin typeface="Nunito" pitchFamily="2" charset="0"/>
                <a:ea typeface="Times New Roman" panose="02020603050405020304" pitchFamily="18" charset="0"/>
              </a:rPr>
              <a:t> if there exists positive constant </a:t>
            </a:r>
            <a:r>
              <a:rPr lang="en-IN" sz="1800" b="1" spc="10" dirty="0">
                <a:solidFill>
                  <a:srgbClr val="273239"/>
                </a:solidFill>
                <a:effectLst/>
                <a:latin typeface="Nunito" pitchFamily="2" charset="0"/>
                <a:ea typeface="Times New Roman" panose="02020603050405020304" pitchFamily="18" charset="0"/>
              </a:rPr>
              <a:t>C</a:t>
            </a:r>
            <a:r>
              <a:rPr lang="en-IN" sz="1800" spc="10" dirty="0">
                <a:solidFill>
                  <a:srgbClr val="273239"/>
                </a:solidFill>
                <a:effectLst/>
                <a:latin typeface="Nunito" pitchFamily="2" charset="0"/>
                <a:ea typeface="Times New Roman" panose="02020603050405020304" pitchFamily="18" charset="0"/>
              </a:rPr>
              <a:t> and </a:t>
            </a:r>
            <a:r>
              <a:rPr lang="en-IN" sz="1800" b="1" spc="10" dirty="0">
                <a:solidFill>
                  <a:srgbClr val="273239"/>
                </a:solidFill>
                <a:effectLst/>
                <a:latin typeface="Nunito" pitchFamily="2" charset="0"/>
                <a:ea typeface="Times New Roman" panose="02020603050405020304" pitchFamily="18" charset="0"/>
              </a:rPr>
              <a:t>(n0)</a:t>
            </a:r>
            <a:r>
              <a:rPr lang="en-IN" sz="1800" spc="10" dirty="0">
                <a:solidFill>
                  <a:srgbClr val="273239"/>
                </a:solidFill>
                <a:effectLst/>
                <a:latin typeface="Nunito" pitchFamily="2" charset="0"/>
                <a:ea typeface="Times New Roman" panose="02020603050405020304" pitchFamily="18" charset="0"/>
              </a:rPr>
              <a:t> such that </a:t>
            </a:r>
            <a:endParaRPr lang="en-IN" sz="1600" dirty="0">
              <a:effectLst/>
              <a:latin typeface="Times New Roman" panose="02020603050405020304" pitchFamily="18" charset="0"/>
              <a:ea typeface="Times New Roman" panose="02020603050405020304" pitchFamily="18" charset="0"/>
            </a:endParaRPr>
          </a:p>
          <a:p>
            <a:pPr fontAlgn="base"/>
            <a:r>
              <a:rPr lang="en-IN" sz="1800" i="1" spc="10" dirty="0">
                <a:solidFill>
                  <a:srgbClr val="273239"/>
                </a:solidFill>
                <a:effectLst/>
                <a:latin typeface="Nunito" pitchFamily="2" charset="0"/>
                <a:ea typeface="Times New Roman" panose="02020603050405020304" pitchFamily="18" charset="0"/>
              </a:rPr>
              <a:t>0 &lt;= Cg(n) &lt;= f(n) for all n &gt;= n0</a:t>
            </a:r>
            <a:r>
              <a:rPr lang="en-IN" sz="1600" dirty="0">
                <a:effectLst/>
                <a:latin typeface="Times New Roman" panose="02020603050405020304" pitchFamily="18" charset="0"/>
                <a:ea typeface="Times New Roman" panose="02020603050405020304" pitchFamily="18" charset="0"/>
              </a:rPr>
              <a:t> </a:t>
            </a:r>
            <a:r>
              <a:rPr lang="en-IN" sz="1800" b="1" spc="10" dirty="0">
                <a:solidFill>
                  <a:srgbClr val="273239"/>
                </a:solidFill>
                <a:effectLst/>
                <a:latin typeface="Nunito" pitchFamily="2" charset="0"/>
                <a:ea typeface="Times New Roman" panose="02020603050405020304" pitchFamily="18" charset="0"/>
              </a:rPr>
              <a:t>n</a:t>
            </a:r>
            <a:r>
              <a:rPr lang="en-IN" sz="1800" spc="10" dirty="0">
                <a:solidFill>
                  <a:srgbClr val="273239"/>
                </a:solidFill>
                <a:effectLst/>
                <a:latin typeface="Nunito" pitchFamily="2" charset="0"/>
                <a:ea typeface="Times New Roman" panose="02020603050405020304" pitchFamily="18" charset="0"/>
              </a:rPr>
              <a:t> = used to given lower bound on a function </a:t>
            </a:r>
            <a:br>
              <a:rPr lang="en-IN" sz="1800" spc="10" dirty="0">
                <a:solidFill>
                  <a:srgbClr val="273239"/>
                </a:solidFill>
                <a:effectLst/>
                <a:latin typeface="Nunito" pitchFamily="2" charset="0"/>
                <a:ea typeface="Times New Roman" panose="02020603050405020304" pitchFamily="18" charset="0"/>
              </a:rPr>
            </a:br>
            <a:r>
              <a:rPr lang="en-IN" sz="1800" spc="10" dirty="0">
                <a:solidFill>
                  <a:srgbClr val="273239"/>
                </a:solidFill>
                <a:effectLst/>
                <a:latin typeface="Nunito" pitchFamily="2" charset="0"/>
                <a:ea typeface="Times New Roman" panose="02020603050405020304" pitchFamily="18" charset="0"/>
              </a:rPr>
              <a:t>If a function is </a:t>
            </a:r>
            <a:r>
              <a:rPr lang="en-IN" sz="1800" b="1" spc="10" dirty="0">
                <a:solidFill>
                  <a:srgbClr val="273239"/>
                </a:solidFill>
                <a:effectLst/>
                <a:latin typeface="Nunito" pitchFamily="2" charset="0"/>
                <a:ea typeface="Times New Roman" panose="02020603050405020304" pitchFamily="18" charset="0"/>
              </a:rPr>
              <a:t>Ω(n-square)</a:t>
            </a:r>
            <a:r>
              <a:rPr lang="en-IN" sz="1800" spc="10" dirty="0">
                <a:solidFill>
                  <a:srgbClr val="273239"/>
                </a:solidFill>
                <a:effectLst/>
                <a:latin typeface="Nunito" pitchFamily="2" charset="0"/>
                <a:ea typeface="Times New Roman" panose="02020603050405020304" pitchFamily="18" charset="0"/>
              </a:rPr>
              <a:t> it is automatically </a:t>
            </a:r>
            <a:r>
              <a:rPr lang="en-IN" sz="1800" b="1" spc="10" dirty="0">
                <a:solidFill>
                  <a:srgbClr val="273239"/>
                </a:solidFill>
                <a:effectLst/>
                <a:latin typeface="Nunito" pitchFamily="2" charset="0"/>
                <a:ea typeface="Times New Roman" panose="02020603050405020304" pitchFamily="18" charset="0"/>
              </a:rPr>
              <a:t>Ω(n)</a:t>
            </a:r>
            <a:r>
              <a:rPr lang="en-IN" sz="1800" spc="10" dirty="0">
                <a:solidFill>
                  <a:srgbClr val="273239"/>
                </a:solidFill>
                <a:effectLst/>
                <a:latin typeface="Nunito" pitchFamily="2" charset="0"/>
                <a:ea typeface="Times New Roman" panose="02020603050405020304" pitchFamily="18" charset="0"/>
              </a:rPr>
              <a:t> as well. </a:t>
            </a:r>
            <a:endParaRPr lang="en-IN" sz="1600" dirty="0">
              <a:effectLst/>
              <a:latin typeface="Times New Roman" panose="02020603050405020304" pitchFamily="18" charset="0"/>
              <a:ea typeface="Times New Roman" panose="02020603050405020304" pitchFamily="18" charset="0"/>
            </a:endParaRPr>
          </a:p>
          <a:p>
            <a:pPr fontAlgn="base">
              <a:lnSpc>
                <a:spcPct val="107000"/>
              </a:lnSpc>
              <a:spcAft>
                <a:spcPts val="800"/>
              </a:spcAft>
            </a:pPr>
            <a:r>
              <a:rPr lang="en-IN" sz="1400" kern="100" dirty="0">
                <a:effectLst/>
                <a:latin typeface="Aptos" panose="020B0004020202020204" pitchFamily="34" charset="0"/>
                <a:ea typeface="Aptos" panose="020B0004020202020204" pitchFamily="34" charset="0"/>
                <a:cs typeface="Times New Roman" panose="02020603050405020304" pitchFamily="18" charset="0"/>
              </a:rPr>
              <a:t> </a:t>
            </a:r>
          </a:p>
        </p:txBody>
      </p:sp>
    </p:spTree>
    <p:extLst>
      <p:ext uri="{BB962C8B-B14F-4D97-AF65-F5344CB8AC3E}">
        <p14:creationId xmlns:p14="http://schemas.microsoft.com/office/powerpoint/2010/main" val="215015369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3D870-63A6-0A23-ED21-CBCB78E961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8DE92B-1D42-5C24-3AFF-E9092F8BD21D}"/>
              </a:ext>
            </a:extLst>
          </p:cNvPr>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dirty="0">
                <a:solidFill>
                  <a:schemeClr val="tx1"/>
                </a:solidFill>
                <a:effectLst/>
                <a:latin typeface="+mj-lt"/>
                <a:ea typeface="Times New Roman" panose="02020603050405020304" pitchFamily="18" charset="0"/>
                <a:cs typeface="Times New Roman" panose="02020603050405020304" pitchFamily="18" charset="0"/>
              </a:rPr>
              <a:t>Asymptotic classes</a:t>
            </a:r>
          </a:p>
        </p:txBody>
      </p:sp>
      <p:sp>
        <p:nvSpPr>
          <p:cNvPr id="4" name="Date Placeholder 3">
            <a:extLst>
              <a:ext uri="{FF2B5EF4-FFF2-40B4-BE49-F238E27FC236}">
                <a16:creationId xmlns:a16="http://schemas.microsoft.com/office/drawing/2014/main" id="{CF2F0613-B80D-E7AC-2AF2-08D16DEB48BD}"/>
              </a:ext>
            </a:extLst>
          </p:cNvPr>
          <p:cNvSpPr>
            <a:spLocks noGrp="1"/>
          </p:cNvSpPr>
          <p:nvPr>
            <p:ph type="dt" sz="half" idx="10"/>
          </p:nvPr>
        </p:nvSpPr>
        <p:spPr/>
        <p:txBody>
          <a:bodyPr/>
          <a:lstStyle/>
          <a:p>
            <a:fld id="{F6C643BA-ACA1-44BF-9071-763295A35907}" type="datetime4">
              <a:rPr lang="en-US" smtClean="0">
                <a:solidFill>
                  <a:schemeClr val="tx1"/>
                </a:solidFill>
              </a:rPr>
              <a:pPr/>
              <a:t>March 13, 2024</a:t>
            </a:fld>
            <a:endParaRPr lang="en-US">
              <a:solidFill>
                <a:schemeClr val="tx1"/>
              </a:solidFill>
            </a:endParaRPr>
          </a:p>
        </p:txBody>
      </p:sp>
      <p:sp>
        <p:nvSpPr>
          <p:cNvPr id="5" name="Footer Placeholder 4">
            <a:extLst>
              <a:ext uri="{FF2B5EF4-FFF2-40B4-BE49-F238E27FC236}">
                <a16:creationId xmlns:a16="http://schemas.microsoft.com/office/drawing/2014/main" id="{A3D38E22-654D-E508-BBBF-6BD0FB38DB32}"/>
              </a:ext>
            </a:extLst>
          </p:cNvPr>
          <p:cNvSpPr>
            <a:spLocks noGrp="1"/>
          </p:cNvSpPr>
          <p:nvPr>
            <p:ph type="ftr" sz="quarter" idx="11"/>
          </p:nvPr>
        </p:nvSpPr>
        <p:spPr/>
        <p:txBody>
          <a:bodyPr/>
          <a:lstStyle/>
          <a:p>
            <a:r>
              <a:rPr lang="en-US" dirty="0">
                <a:solidFill>
                  <a:schemeClr val="tx1"/>
                </a:solidFill>
              </a:rPr>
              <a:t>Department of Computer Science &amp; Engineering, VNRVJIET, Hyderabad</a:t>
            </a:r>
          </a:p>
        </p:txBody>
      </p:sp>
      <p:sp>
        <p:nvSpPr>
          <p:cNvPr id="6" name="Slide Number Placeholder 5">
            <a:extLst>
              <a:ext uri="{FF2B5EF4-FFF2-40B4-BE49-F238E27FC236}">
                <a16:creationId xmlns:a16="http://schemas.microsoft.com/office/drawing/2014/main" id="{F696ABBC-BDFC-0CB3-62CB-1AB0371B0F0C}"/>
              </a:ext>
            </a:extLst>
          </p:cNvPr>
          <p:cNvSpPr>
            <a:spLocks noGrp="1"/>
          </p:cNvSpPr>
          <p:nvPr>
            <p:ph type="sldNum" sz="quarter" idx="12"/>
          </p:nvPr>
        </p:nvSpPr>
        <p:spPr/>
        <p:txBody>
          <a:bodyPr/>
          <a:lstStyle/>
          <a:p>
            <a:fld id="{C4FA3F07-B4E9-4FEB-BC07-B9713C186F28}" type="slidenum">
              <a:rPr lang="en-US" smtClean="0">
                <a:solidFill>
                  <a:schemeClr val="tx1"/>
                </a:solidFill>
              </a:rPr>
              <a:pPr/>
              <a:t>57</a:t>
            </a:fld>
            <a:endParaRPr lang="en-US" dirty="0">
              <a:solidFill>
                <a:schemeClr val="tx1"/>
              </a:solidFill>
            </a:endParaRPr>
          </a:p>
        </p:txBody>
      </p:sp>
      <p:sp>
        <p:nvSpPr>
          <p:cNvPr id="22" name="Rectangle 21" descr="▪">
            <a:extLst>
              <a:ext uri="{FF2B5EF4-FFF2-40B4-BE49-F238E27FC236}">
                <a16:creationId xmlns:a16="http://schemas.microsoft.com/office/drawing/2014/main" id="{5980C2A2-112A-8B95-A240-E27DF1A21F3B}"/>
              </a:ext>
            </a:extLst>
          </p:cNvPr>
          <p:cNvSpPr>
            <a:spLocks noChangeAspect="1" noChangeArrowheads="1"/>
          </p:cNvSpPr>
          <p:nvPr/>
        </p:nvSpPr>
        <p:spPr bwMode="auto">
          <a:xfrm>
            <a:off x="805543" y="1891717"/>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IN"/>
          </a:p>
        </p:txBody>
      </p:sp>
      <p:sp>
        <p:nvSpPr>
          <p:cNvPr id="23" name="Rectangle 22" descr="▪">
            <a:extLst>
              <a:ext uri="{FF2B5EF4-FFF2-40B4-BE49-F238E27FC236}">
                <a16:creationId xmlns:a16="http://schemas.microsoft.com/office/drawing/2014/main" id="{4DE5E6FB-4DA5-9DB8-6C30-BE2A49A2BC9F}"/>
              </a:ext>
            </a:extLst>
          </p:cNvPr>
          <p:cNvSpPr>
            <a:spLocks noChangeAspect="1" noChangeArrowheads="1"/>
          </p:cNvSpPr>
          <p:nvPr/>
        </p:nvSpPr>
        <p:spPr bwMode="auto">
          <a:xfrm>
            <a:off x="805543" y="1891717"/>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IN"/>
          </a:p>
        </p:txBody>
      </p:sp>
      <p:sp>
        <p:nvSpPr>
          <p:cNvPr id="24" name="Rectangle 23" descr="▪">
            <a:extLst>
              <a:ext uri="{FF2B5EF4-FFF2-40B4-BE49-F238E27FC236}">
                <a16:creationId xmlns:a16="http://schemas.microsoft.com/office/drawing/2014/main" id="{7BDE72B1-C54D-6A64-4F71-2A44B1350ED9}"/>
              </a:ext>
            </a:extLst>
          </p:cNvPr>
          <p:cNvSpPr>
            <a:spLocks noChangeAspect="1" noChangeArrowheads="1"/>
          </p:cNvSpPr>
          <p:nvPr/>
        </p:nvSpPr>
        <p:spPr bwMode="auto">
          <a:xfrm>
            <a:off x="805543" y="1891717"/>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IN"/>
          </a:p>
        </p:txBody>
      </p:sp>
      <p:sp>
        <p:nvSpPr>
          <p:cNvPr id="25" name="Rectangle 24" descr="▪">
            <a:extLst>
              <a:ext uri="{FF2B5EF4-FFF2-40B4-BE49-F238E27FC236}">
                <a16:creationId xmlns:a16="http://schemas.microsoft.com/office/drawing/2014/main" id="{ACB726DC-D1C9-72F2-4B8C-6726E3AB694A}"/>
              </a:ext>
            </a:extLst>
          </p:cNvPr>
          <p:cNvSpPr>
            <a:spLocks noChangeAspect="1" noChangeArrowheads="1"/>
          </p:cNvSpPr>
          <p:nvPr/>
        </p:nvSpPr>
        <p:spPr bwMode="auto">
          <a:xfrm>
            <a:off x="805543" y="1891717"/>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IN"/>
          </a:p>
        </p:txBody>
      </p:sp>
      <p:sp>
        <p:nvSpPr>
          <p:cNvPr id="7" name="Rectangle 2">
            <a:extLst>
              <a:ext uri="{FF2B5EF4-FFF2-40B4-BE49-F238E27FC236}">
                <a16:creationId xmlns:a16="http://schemas.microsoft.com/office/drawing/2014/main" id="{474523E5-9825-7814-86EC-A06C8FC43197}"/>
              </a:ext>
            </a:extLst>
          </p:cNvPr>
          <p:cNvSpPr>
            <a:spLocks noChangeArrowheads="1"/>
          </p:cNvSpPr>
          <p:nvPr/>
        </p:nvSpPr>
        <p:spPr bwMode="auto">
          <a:xfrm>
            <a:off x="839755" y="1291680"/>
            <a:ext cx="7299649"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273239"/>
                </a:solidFill>
                <a:effectLst/>
                <a:ea typeface="Times New Roman" panose="02020603050405020304" pitchFamily="18" charset="0"/>
              </a:rPr>
              <a:t>3. Big Theta notation (</a:t>
            </a:r>
            <a:r>
              <a:rPr kumimoji="0" lang="en-US" altLang="en-US" b="1" i="0" u="none" strike="noStrike" cap="none" normalizeH="0" baseline="0" dirty="0">
                <a:ln>
                  <a:noFill/>
                </a:ln>
                <a:solidFill>
                  <a:srgbClr val="273239"/>
                </a:solidFill>
                <a:effectLst/>
                <a:ea typeface="Times New Roman" panose="02020603050405020304" pitchFamily="18" charset="0"/>
                <a:cs typeface="Cambria" panose="02040503050406030204" pitchFamily="18" charset="0"/>
              </a:rPr>
              <a:t>Θ</a:t>
            </a:r>
            <a:r>
              <a:rPr kumimoji="0" lang="en-US" altLang="en-US" b="1" i="0" u="none" strike="noStrike" cap="none" normalizeH="0" baseline="0" dirty="0">
                <a:ln>
                  <a:noFill/>
                </a:ln>
                <a:solidFill>
                  <a:srgbClr val="273239"/>
                </a:solidFill>
                <a:effectLst/>
                <a:ea typeface="Times New Roman" panose="02020603050405020304" pitchFamily="18" charset="0"/>
              </a:rPr>
              <a:t>) :</a:t>
            </a:r>
            <a:r>
              <a:rPr kumimoji="0" lang="en-US" altLang="en-US" b="0" i="0" u="none" strike="noStrike" cap="none" normalizeH="0" baseline="0" dirty="0">
                <a:ln>
                  <a:noFill/>
                </a:ln>
                <a:solidFill>
                  <a:srgbClr val="273239"/>
                </a:solidFill>
                <a:effectLst/>
                <a:ea typeface="Times New Roman" panose="02020603050405020304" pitchFamily="18" charset="0"/>
              </a:rPr>
              <a:t> </a:t>
            </a:r>
            <a:endParaRPr kumimoji="0" lang="en-US" altLang="en-US"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ea typeface="Times New Roman" panose="02020603050405020304" pitchFamily="18" charset="0"/>
              </a:rPr>
              <a:t>It indicates tightest bound and tightest bound is the best of all the worst-case times that the algorithm can take.</a:t>
            </a:r>
            <a:endParaRPr kumimoji="0" lang="en-US" altLang="en-US"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ea typeface="Times New Roman" panose="02020603050405020304" pitchFamily="18" charset="0"/>
              </a:rPr>
              <a:t>Let </a:t>
            </a:r>
            <a:r>
              <a:rPr kumimoji="0" lang="en-US" altLang="en-US" b="1" i="0" u="none" strike="noStrike" cap="none" normalizeH="0" baseline="0" dirty="0">
                <a:ln>
                  <a:noFill/>
                </a:ln>
                <a:solidFill>
                  <a:schemeClr val="tx1"/>
                </a:solidFill>
                <a:effectLst/>
                <a:ea typeface="Times New Roman" panose="02020603050405020304" pitchFamily="18" charset="0"/>
              </a:rPr>
              <a:t>f(n)</a:t>
            </a:r>
            <a:r>
              <a:rPr kumimoji="0" lang="en-US" altLang="en-US" b="0" i="0" u="none" strike="noStrike" cap="none" normalizeH="0" baseline="0" dirty="0">
                <a:ln>
                  <a:noFill/>
                </a:ln>
                <a:solidFill>
                  <a:schemeClr val="tx1"/>
                </a:solidFill>
                <a:effectLst/>
                <a:ea typeface="Times New Roman" panose="02020603050405020304" pitchFamily="18" charset="0"/>
              </a:rPr>
              <a:t> define running time of an algorithm. </a:t>
            </a:r>
            <a:br>
              <a:rPr kumimoji="0" lang="en-US" altLang="en-US" b="0" i="0" u="none" strike="noStrike" cap="none" normalizeH="0" baseline="0" dirty="0">
                <a:ln>
                  <a:noFill/>
                </a:ln>
                <a:solidFill>
                  <a:srgbClr val="273239"/>
                </a:solidFill>
                <a:effectLst/>
                <a:ea typeface="Times New Roman" panose="02020603050405020304" pitchFamily="18" charset="0"/>
              </a:rPr>
            </a:br>
            <a:r>
              <a:rPr kumimoji="0" lang="en-US" altLang="en-US" b="1" i="0" u="none" strike="noStrike" cap="none" normalizeH="0" baseline="0" dirty="0">
                <a:ln>
                  <a:noFill/>
                </a:ln>
                <a:solidFill>
                  <a:srgbClr val="273239"/>
                </a:solidFill>
                <a:effectLst/>
                <a:ea typeface="Times New Roman" panose="02020603050405020304" pitchFamily="18" charset="0"/>
              </a:rPr>
              <a:t>f(n)</a:t>
            </a:r>
            <a:r>
              <a:rPr kumimoji="0" lang="en-US" altLang="en-US" b="0" i="0" u="none" strike="noStrike" cap="none" normalizeH="0" baseline="0" dirty="0">
                <a:ln>
                  <a:noFill/>
                </a:ln>
                <a:solidFill>
                  <a:srgbClr val="273239"/>
                </a:solidFill>
                <a:effectLst/>
                <a:ea typeface="Times New Roman" panose="02020603050405020304" pitchFamily="18" charset="0"/>
              </a:rPr>
              <a:t> is said to be </a:t>
            </a:r>
            <a:r>
              <a:rPr kumimoji="0" lang="en-US" altLang="en-US" b="1" i="0" u="none" strike="noStrike" cap="none" normalizeH="0" baseline="0" dirty="0">
                <a:ln>
                  <a:noFill/>
                </a:ln>
                <a:solidFill>
                  <a:srgbClr val="273239"/>
                </a:solidFill>
                <a:effectLst/>
                <a:ea typeface="Times New Roman" panose="02020603050405020304" pitchFamily="18" charset="0"/>
                <a:cs typeface="Cambria" panose="02040503050406030204" pitchFamily="18" charset="0"/>
              </a:rPr>
              <a:t>Θ</a:t>
            </a:r>
            <a:r>
              <a:rPr kumimoji="0" lang="en-US" altLang="en-US" b="1" i="0" u="none" strike="noStrike" cap="none" normalizeH="0" baseline="0" dirty="0">
                <a:ln>
                  <a:noFill/>
                </a:ln>
                <a:solidFill>
                  <a:srgbClr val="273239"/>
                </a:solidFill>
                <a:effectLst/>
                <a:ea typeface="Times New Roman" panose="02020603050405020304" pitchFamily="18" charset="0"/>
              </a:rPr>
              <a:t>(g(n))</a:t>
            </a:r>
            <a:r>
              <a:rPr kumimoji="0" lang="en-US" altLang="en-US" b="0" i="0" u="none" strike="noStrike" cap="none" normalizeH="0" baseline="0" dirty="0">
                <a:ln>
                  <a:noFill/>
                </a:ln>
                <a:solidFill>
                  <a:srgbClr val="273239"/>
                </a:solidFill>
                <a:effectLst/>
                <a:ea typeface="Times New Roman" panose="02020603050405020304" pitchFamily="18" charset="0"/>
              </a:rPr>
              <a:t> if </a:t>
            </a:r>
            <a:r>
              <a:rPr kumimoji="0" lang="en-US" altLang="en-US" b="1" i="0" u="none" strike="noStrike" cap="none" normalizeH="0" baseline="0" dirty="0">
                <a:ln>
                  <a:noFill/>
                </a:ln>
                <a:solidFill>
                  <a:schemeClr val="tx1"/>
                </a:solidFill>
                <a:effectLst/>
                <a:ea typeface="Times New Roman" panose="02020603050405020304" pitchFamily="18" charset="0"/>
              </a:rPr>
              <a:t>f(n)</a:t>
            </a:r>
            <a:r>
              <a:rPr kumimoji="0" lang="en-US" altLang="en-US" b="0" i="0" u="none" strike="noStrike" cap="none" normalizeH="0" baseline="0" dirty="0">
                <a:ln>
                  <a:noFill/>
                </a:ln>
                <a:solidFill>
                  <a:schemeClr val="tx1"/>
                </a:solidFill>
                <a:effectLst/>
                <a:ea typeface="Times New Roman" panose="02020603050405020304" pitchFamily="18" charset="0"/>
              </a:rPr>
              <a:t> is </a:t>
            </a:r>
            <a:r>
              <a:rPr kumimoji="0" lang="en-US" altLang="en-US" b="1" i="0" u="none" strike="noStrike" cap="none" normalizeH="0" baseline="0" dirty="0">
                <a:ln>
                  <a:noFill/>
                </a:ln>
                <a:solidFill>
                  <a:schemeClr val="tx1"/>
                </a:solidFill>
                <a:effectLst/>
                <a:ea typeface="Times New Roman" panose="02020603050405020304" pitchFamily="18" charset="0"/>
              </a:rPr>
              <a:t>O(g(n))</a:t>
            </a:r>
            <a:r>
              <a:rPr kumimoji="0" lang="en-US" altLang="en-US" b="0" i="0" u="none" strike="noStrike" cap="none" normalizeH="0" baseline="0" dirty="0">
                <a:ln>
                  <a:noFill/>
                </a:ln>
                <a:solidFill>
                  <a:schemeClr val="tx1"/>
                </a:solidFill>
                <a:effectLst/>
                <a:ea typeface="Times New Roman" panose="02020603050405020304" pitchFamily="18" charset="0"/>
              </a:rPr>
              <a:t> and</a:t>
            </a:r>
            <a:r>
              <a:rPr kumimoji="0" lang="en-US" altLang="en-US" b="1" i="0" u="none" strike="noStrike" cap="none" normalizeH="0" baseline="0" dirty="0">
                <a:ln>
                  <a:noFill/>
                </a:ln>
                <a:solidFill>
                  <a:schemeClr val="tx1"/>
                </a:solidFill>
                <a:effectLst/>
                <a:ea typeface="Times New Roman" panose="02020603050405020304" pitchFamily="18" charset="0"/>
              </a:rPr>
              <a:t> f(n)</a:t>
            </a:r>
            <a:r>
              <a:rPr kumimoji="0" lang="en-US" altLang="en-US" b="0" i="0" u="none" strike="noStrike" cap="none" normalizeH="0" baseline="0" dirty="0">
                <a:ln>
                  <a:noFill/>
                </a:ln>
                <a:solidFill>
                  <a:schemeClr val="tx1"/>
                </a:solidFill>
                <a:effectLst/>
                <a:ea typeface="Times New Roman" panose="02020603050405020304" pitchFamily="18" charset="0"/>
              </a:rPr>
              <a:t> is </a:t>
            </a:r>
            <a:r>
              <a:rPr kumimoji="0" lang="en-US" altLang="en-US" b="1" i="0" u="none" strike="noStrike" cap="none" normalizeH="0" baseline="0" dirty="0">
                <a:ln>
                  <a:noFill/>
                </a:ln>
                <a:solidFill>
                  <a:schemeClr val="tx1"/>
                </a:solidFill>
                <a:effectLst/>
                <a:ea typeface="Times New Roman" panose="02020603050405020304" pitchFamily="18" charset="0"/>
              </a:rPr>
              <a:t>Ω(g(n)).</a:t>
            </a:r>
            <a:endParaRPr kumimoji="0" lang="en-US" altLang="en-US"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1" u="none" strike="noStrike" cap="none" normalizeH="0" baseline="0" dirty="0">
                <a:ln>
                  <a:noFill/>
                </a:ln>
                <a:solidFill>
                  <a:srgbClr val="273239"/>
                </a:solidFill>
                <a:effectLst/>
                <a:ea typeface="Times New Roman" panose="02020603050405020304" pitchFamily="18" charset="0"/>
              </a:rPr>
              <a:t>Mathematically, </a:t>
            </a:r>
            <a:endParaRPr kumimoji="0" lang="en-US" altLang="en-US"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1" u="none" strike="noStrike" cap="none" normalizeH="0" baseline="0" dirty="0">
                <a:ln>
                  <a:noFill/>
                </a:ln>
                <a:solidFill>
                  <a:srgbClr val="273239"/>
                </a:solidFill>
                <a:effectLst/>
                <a:ea typeface="Times New Roman" panose="02020603050405020304" pitchFamily="18" charset="0"/>
              </a:rPr>
              <a:t>0 &lt;= f(n) &lt;= C1g(n) for n &gt;= n0</a:t>
            </a:r>
            <a:br>
              <a:rPr kumimoji="0" lang="en-US" altLang="en-US" b="0" i="1" u="none" strike="noStrike" cap="none" normalizeH="0" baseline="0" dirty="0">
                <a:ln>
                  <a:noFill/>
                </a:ln>
                <a:solidFill>
                  <a:srgbClr val="273239"/>
                </a:solidFill>
                <a:effectLst/>
                <a:ea typeface="Times New Roman" panose="02020603050405020304" pitchFamily="18" charset="0"/>
              </a:rPr>
            </a:br>
            <a:r>
              <a:rPr kumimoji="0" lang="en-US" altLang="en-US" b="0" i="1" u="none" strike="noStrike" cap="none" normalizeH="0" baseline="0" dirty="0">
                <a:ln>
                  <a:noFill/>
                </a:ln>
                <a:solidFill>
                  <a:srgbClr val="273239"/>
                </a:solidFill>
                <a:effectLst/>
                <a:ea typeface="Times New Roman" panose="02020603050405020304" pitchFamily="18" charset="0"/>
              </a:rPr>
              <a:t>0 &lt;= C2g(n) &lt;= f(n) for n &gt;= n0</a:t>
            </a:r>
            <a:endParaRPr kumimoji="0" lang="en-US" altLang="en-US"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1" u="none" strike="noStrike" cap="none" normalizeH="0" baseline="0" dirty="0">
                <a:ln>
                  <a:noFill/>
                </a:ln>
                <a:solidFill>
                  <a:srgbClr val="273239"/>
                </a:solidFill>
                <a:effectLst/>
                <a:ea typeface="Times New Roman" panose="02020603050405020304" pitchFamily="18" charset="0"/>
              </a:rPr>
              <a:t>Merging both the equation, we get :  </a:t>
            </a:r>
            <a:endParaRPr kumimoji="0" lang="en-US" altLang="en-US"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1" u="none" strike="noStrike" cap="none" normalizeH="0" baseline="0" dirty="0">
                <a:ln>
                  <a:noFill/>
                </a:ln>
                <a:solidFill>
                  <a:srgbClr val="273239"/>
                </a:solidFill>
                <a:effectLst/>
                <a:ea typeface="Times New Roman" panose="02020603050405020304" pitchFamily="18" charset="0"/>
              </a:rPr>
              <a:t>0 &lt;= C2g(n) &lt;= f(n) &lt;= C1g(n) for n &gt;= n0</a:t>
            </a:r>
            <a:endParaRPr kumimoji="0" lang="en-US" altLang="en-US"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293690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dirty="0">
                <a:solidFill>
                  <a:schemeClr val="tx1"/>
                </a:solidFill>
                <a:effectLst/>
                <a:latin typeface="+mj-lt"/>
                <a:ea typeface="Times New Roman" panose="02020603050405020304" pitchFamily="18" charset="0"/>
                <a:cs typeface="Times New Roman" panose="02020603050405020304" pitchFamily="18" charset="0"/>
              </a:rPr>
              <a:t>Divide and Conquer</a:t>
            </a:r>
          </a:p>
        </p:txBody>
      </p:sp>
      <p:sp>
        <p:nvSpPr>
          <p:cNvPr id="4" name="Date Placeholder 3"/>
          <p:cNvSpPr>
            <a:spLocks noGrp="1"/>
          </p:cNvSpPr>
          <p:nvPr>
            <p:ph type="dt" sz="half" idx="10"/>
          </p:nvPr>
        </p:nvSpPr>
        <p:spPr/>
        <p:txBody>
          <a:bodyPr/>
          <a:lstStyle/>
          <a:p>
            <a:fld id="{F6C643BA-ACA1-44BF-9071-763295A35907}" type="datetime4">
              <a:rPr lang="en-US" smtClean="0">
                <a:solidFill>
                  <a:schemeClr val="tx1"/>
                </a:solidFill>
              </a:rPr>
              <a:pPr/>
              <a:t>March 13, 2024</a:t>
            </a:fld>
            <a:endParaRPr lang="en-US">
              <a:solidFill>
                <a:schemeClr val="tx1"/>
              </a:solidFill>
            </a:endParaRPr>
          </a:p>
        </p:txBody>
      </p:sp>
      <p:sp>
        <p:nvSpPr>
          <p:cNvPr id="5" name="Footer Placeholder 4"/>
          <p:cNvSpPr>
            <a:spLocks noGrp="1"/>
          </p:cNvSpPr>
          <p:nvPr>
            <p:ph type="ftr" sz="quarter" idx="11"/>
          </p:nvPr>
        </p:nvSpPr>
        <p:spPr/>
        <p:txBody>
          <a:bodyPr/>
          <a:lstStyle/>
          <a:p>
            <a:r>
              <a:rPr lang="en-US" dirty="0">
                <a:solidFill>
                  <a:schemeClr val="tx1"/>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schemeClr val="tx1"/>
                </a:solidFill>
              </a:rPr>
              <a:pPr/>
              <a:t>58</a:t>
            </a:fld>
            <a:endParaRPr lang="en-US" dirty="0">
              <a:solidFill>
                <a:schemeClr val="tx1"/>
              </a:solidFill>
            </a:endParaRPr>
          </a:p>
        </p:txBody>
      </p:sp>
      <p:pic>
        <p:nvPicPr>
          <p:cNvPr id="7" name="Picture 6">
            <a:extLst>
              <a:ext uri="{FF2B5EF4-FFF2-40B4-BE49-F238E27FC236}">
                <a16:creationId xmlns:a16="http://schemas.microsoft.com/office/drawing/2014/main" id="{1DC5EF8D-110D-1F63-B6A5-2EBD02156742}"/>
              </a:ext>
            </a:extLst>
          </p:cNvPr>
          <p:cNvPicPr>
            <a:picLocks noChangeAspect="1"/>
          </p:cNvPicPr>
          <p:nvPr/>
        </p:nvPicPr>
        <p:blipFill>
          <a:blip r:embed="rId2"/>
          <a:stretch>
            <a:fillRect/>
          </a:stretch>
        </p:blipFill>
        <p:spPr>
          <a:xfrm>
            <a:off x="1219200" y="1676400"/>
            <a:ext cx="6324600" cy="3657600"/>
          </a:xfrm>
          <a:prstGeom prst="rect">
            <a:avLst/>
          </a:prstGeom>
        </p:spPr>
      </p:pic>
    </p:spTree>
    <p:extLst>
      <p:ext uri="{BB962C8B-B14F-4D97-AF65-F5344CB8AC3E}">
        <p14:creationId xmlns:p14="http://schemas.microsoft.com/office/powerpoint/2010/main" val="28084825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dirty="0">
                <a:solidFill>
                  <a:schemeClr val="tx1"/>
                </a:solidFill>
                <a:effectLst/>
                <a:latin typeface="+mj-lt"/>
                <a:ea typeface="Times New Roman" panose="02020603050405020304" pitchFamily="18" charset="0"/>
                <a:cs typeface="Times New Roman" panose="02020603050405020304" pitchFamily="18" charset="0"/>
              </a:rPr>
              <a:t>Divide and Conquer</a:t>
            </a:r>
          </a:p>
        </p:txBody>
      </p:sp>
      <p:sp>
        <p:nvSpPr>
          <p:cNvPr id="4" name="Date Placeholder 3"/>
          <p:cNvSpPr>
            <a:spLocks noGrp="1"/>
          </p:cNvSpPr>
          <p:nvPr>
            <p:ph type="dt" sz="half" idx="10"/>
          </p:nvPr>
        </p:nvSpPr>
        <p:spPr/>
        <p:txBody>
          <a:bodyPr/>
          <a:lstStyle/>
          <a:p>
            <a:fld id="{F6C643BA-ACA1-44BF-9071-763295A35907}" type="datetime4">
              <a:rPr lang="en-US" smtClean="0">
                <a:solidFill>
                  <a:schemeClr val="tx1"/>
                </a:solidFill>
              </a:rPr>
              <a:pPr/>
              <a:t>March 13, 2024</a:t>
            </a:fld>
            <a:endParaRPr lang="en-US">
              <a:solidFill>
                <a:schemeClr val="tx1"/>
              </a:solidFill>
            </a:endParaRPr>
          </a:p>
        </p:txBody>
      </p:sp>
      <p:sp>
        <p:nvSpPr>
          <p:cNvPr id="5" name="Footer Placeholder 4"/>
          <p:cNvSpPr>
            <a:spLocks noGrp="1"/>
          </p:cNvSpPr>
          <p:nvPr>
            <p:ph type="ftr" sz="quarter" idx="11"/>
          </p:nvPr>
        </p:nvSpPr>
        <p:spPr/>
        <p:txBody>
          <a:bodyPr/>
          <a:lstStyle/>
          <a:p>
            <a:r>
              <a:rPr lang="en-US" dirty="0">
                <a:solidFill>
                  <a:schemeClr val="tx1"/>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schemeClr val="tx1"/>
                </a:solidFill>
              </a:rPr>
              <a:pPr/>
              <a:t>59</a:t>
            </a:fld>
            <a:endParaRPr lang="en-US" dirty="0">
              <a:solidFill>
                <a:schemeClr val="tx1"/>
              </a:solidFill>
            </a:endParaRPr>
          </a:p>
        </p:txBody>
      </p:sp>
      <p:pic>
        <p:nvPicPr>
          <p:cNvPr id="8" name="Picture 7">
            <a:extLst>
              <a:ext uri="{FF2B5EF4-FFF2-40B4-BE49-F238E27FC236}">
                <a16:creationId xmlns:a16="http://schemas.microsoft.com/office/drawing/2014/main" id="{4E65A810-91B6-B2D3-A83B-DC28EB40ADA6}"/>
              </a:ext>
            </a:extLst>
          </p:cNvPr>
          <p:cNvPicPr>
            <a:picLocks noChangeAspect="1"/>
          </p:cNvPicPr>
          <p:nvPr/>
        </p:nvPicPr>
        <p:blipFill>
          <a:blip r:embed="rId2"/>
          <a:stretch>
            <a:fillRect/>
          </a:stretch>
        </p:blipFill>
        <p:spPr>
          <a:xfrm>
            <a:off x="762000" y="1676400"/>
            <a:ext cx="6781800" cy="1600200"/>
          </a:xfrm>
          <a:prstGeom prst="rect">
            <a:avLst/>
          </a:prstGeom>
        </p:spPr>
      </p:pic>
      <p:pic>
        <p:nvPicPr>
          <p:cNvPr id="10" name="Picture 9">
            <a:extLst>
              <a:ext uri="{FF2B5EF4-FFF2-40B4-BE49-F238E27FC236}">
                <a16:creationId xmlns:a16="http://schemas.microsoft.com/office/drawing/2014/main" id="{12E80728-4E3F-8717-3CA2-7F620F7483ED}"/>
              </a:ext>
            </a:extLst>
          </p:cNvPr>
          <p:cNvPicPr>
            <a:picLocks noChangeAspect="1"/>
          </p:cNvPicPr>
          <p:nvPr/>
        </p:nvPicPr>
        <p:blipFill>
          <a:blip r:embed="rId3"/>
          <a:stretch>
            <a:fillRect/>
          </a:stretch>
        </p:blipFill>
        <p:spPr>
          <a:xfrm>
            <a:off x="1066800" y="3471862"/>
            <a:ext cx="6629400" cy="1709738"/>
          </a:xfrm>
          <a:prstGeom prst="rect">
            <a:avLst/>
          </a:prstGeom>
        </p:spPr>
      </p:pic>
    </p:spTree>
    <p:extLst>
      <p:ext uri="{BB962C8B-B14F-4D97-AF65-F5344CB8AC3E}">
        <p14:creationId xmlns:p14="http://schemas.microsoft.com/office/powerpoint/2010/main" val="100028624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dirty="0">
                <a:solidFill>
                  <a:schemeClr val="tx1"/>
                </a:solidFill>
                <a:effectLst/>
                <a:latin typeface="+mj-lt"/>
                <a:ea typeface="Times New Roman" panose="02020603050405020304" pitchFamily="18" charset="0"/>
                <a:cs typeface="Times New Roman" panose="02020603050405020304" pitchFamily="18" charset="0"/>
              </a:rPr>
              <a:t>Divide and Conquer</a:t>
            </a:r>
          </a:p>
        </p:txBody>
      </p:sp>
      <p:sp>
        <p:nvSpPr>
          <p:cNvPr id="4" name="Date Placeholder 3"/>
          <p:cNvSpPr>
            <a:spLocks noGrp="1"/>
          </p:cNvSpPr>
          <p:nvPr>
            <p:ph type="dt" sz="half" idx="10"/>
          </p:nvPr>
        </p:nvSpPr>
        <p:spPr/>
        <p:txBody>
          <a:bodyPr/>
          <a:lstStyle/>
          <a:p>
            <a:fld id="{F6C643BA-ACA1-44BF-9071-763295A35907}" type="datetime4">
              <a:rPr lang="en-US" smtClean="0">
                <a:solidFill>
                  <a:schemeClr val="tx1"/>
                </a:solidFill>
              </a:rPr>
              <a:pPr/>
              <a:t>March 13, 2024</a:t>
            </a:fld>
            <a:endParaRPr lang="en-US">
              <a:solidFill>
                <a:schemeClr val="tx1"/>
              </a:solidFill>
            </a:endParaRPr>
          </a:p>
        </p:txBody>
      </p:sp>
      <p:sp>
        <p:nvSpPr>
          <p:cNvPr id="5" name="Footer Placeholder 4"/>
          <p:cNvSpPr>
            <a:spLocks noGrp="1"/>
          </p:cNvSpPr>
          <p:nvPr>
            <p:ph type="ftr" sz="quarter" idx="11"/>
          </p:nvPr>
        </p:nvSpPr>
        <p:spPr/>
        <p:txBody>
          <a:bodyPr/>
          <a:lstStyle/>
          <a:p>
            <a:r>
              <a:rPr lang="en-US" dirty="0">
                <a:solidFill>
                  <a:schemeClr val="tx1"/>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schemeClr val="tx1"/>
                </a:solidFill>
              </a:rPr>
              <a:pPr/>
              <a:t>60</a:t>
            </a:fld>
            <a:endParaRPr lang="en-US" dirty="0">
              <a:solidFill>
                <a:schemeClr val="tx1"/>
              </a:solidFill>
            </a:endParaRPr>
          </a:p>
        </p:txBody>
      </p:sp>
      <p:pic>
        <p:nvPicPr>
          <p:cNvPr id="7" name="Picture 6">
            <a:extLst>
              <a:ext uri="{FF2B5EF4-FFF2-40B4-BE49-F238E27FC236}">
                <a16:creationId xmlns:a16="http://schemas.microsoft.com/office/drawing/2014/main" id="{785877E3-3ECE-41B6-333B-C8D1A45D8AA4}"/>
              </a:ext>
            </a:extLst>
          </p:cNvPr>
          <p:cNvPicPr>
            <a:picLocks noChangeAspect="1"/>
          </p:cNvPicPr>
          <p:nvPr/>
        </p:nvPicPr>
        <p:blipFill>
          <a:blip r:embed="rId2"/>
          <a:stretch>
            <a:fillRect/>
          </a:stretch>
        </p:blipFill>
        <p:spPr>
          <a:xfrm>
            <a:off x="914400" y="1617662"/>
            <a:ext cx="7239000" cy="3640138"/>
          </a:xfrm>
          <a:prstGeom prst="rect">
            <a:avLst/>
          </a:prstGeom>
        </p:spPr>
      </p:pic>
    </p:spTree>
    <p:extLst>
      <p:ext uri="{BB962C8B-B14F-4D97-AF65-F5344CB8AC3E}">
        <p14:creationId xmlns:p14="http://schemas.microsoft.com/office/powerpoint/2010/main" val="3409956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dirty="0">
                <a:solidFill>
                  <a:schemeClr val="tx1"/>
                </a:solidFill>
                <a:effectLst/>
                <a:latin typeface="+mj-lt"/>
                <a:ea typeface="Times New Roman" panose="02020603050405020304" pitchFamily="18" charset="0"/>
                <a:cs typeface="Times New Roman" panose="02020603050405020304" pitchFamily="18" charset="0"/>
              </a:rPr>
              <a:t>Divide and Conquer</a:t>
            </a:r>
          </a:p>
        </p:txBody>
      </p:sp>
      <p:sp>
        <p:nvSpPr>
          <p:cNvPr id="4" name="Date Placeholder 3"/>
          <p:cNvSpPr>
            <a:spLocks noGrp="1"/>
          </p:cNvSpPr>
          <p:nvPr>
            <p:ph type="dt" sz="half" idx="10"/>
          </p:nvPr>
        </p:nvSpPr>
        <p:spPr/>
        <p:txBody>
          <a:bodyPr/>
          <a:lstStyle/>
          <a:p>
            <a:fld id="{F6C643BA-ACA1-44BF-9071-763295A35907}" type="datetime4">
              <a:rPr lang="en-US" smtClean="0">
                <a:solidFill>
                  <a:schemeClr val="tx1"/>
                </a:solidFill>
              </a:rPr>
              <a:pPr/>
              <a:t>March 13, 2024</a:t>
            </a:fld>
            <a:endParaRPr lang="en-US">
              <a:solidFill>
                <a:schemeClr val="tx1"/>
              </a:solidFill>
            </a:endParaRPr>
          </a:p>
        </p:txBody>
      </p:sp>
      <p:sp>
        <p:nvSpPr>
          <p:cNvPr id="5" name="Footer Placeholder 4"/>
          <p:cNvSpPr>
            <a:spLocks noGrp="1"/>
          </p:cNvSpPr>
          <p:nvPr>
            <p:ph type="ftr" sz="quarter" idx="11"/>
          </p:nvPr>
        </p:nvSpPr>
        <p:spPr/>
        <p:txBody>
          <a:bodyPr/>
          <a:lstStyle/>
          <a:p>
            <a:r>
              <a:rPr lang="en-US" dirty="0">
                <a:solidFill>
                  <a:schemeClr val="tx1"/>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schemeClr val="tx1"/>
                </a:solidFill>
              </a:rPr>
              <a:pPr/>
              <a:t>61</a:t>
            </a:fld>
            <a:endParaRPr lang="en-US" dirty="0">
              <a:solidFill>
                <a:schemeClr val="tx1"/>
              </a:solidFill>
            </a:endParaRPr>
          </a:p>
        </p:txBody>
      </p:sp>
      <p:pic>
        <p:nvPicPr>
          <p:cNvPr id="8" name="Picture 7">
            <a:extLst>
              <a:ext uri="{FF2B5EF4-FFF2-40B4-BE49-F238E27FC236}">
                <a16:creationId xmlns:a16="http://schemas.microsoft.com/office/drawing/2014/main" id="{558BAE28-438A-CD01-EF09-03F29918EE5F}"/>
              </a:ext>
            </a:extLst>
          </p:cNvPr>
          <p:cNvPicPr>
            <a:picLocks noChangeAspect="1"/>
          </p:cNvPicPr>
          <p:nvPr/>
        </p:nvPicPr>
        <p:blipFill>
          <a:blip r:embed="rId2"/>
          <a:stretch>
            <a:fillRect/>
          </a:stretch>
        </p:blipFill>
        <p:spPr>
          <a:xfrm>
            <a:off x="990600" y="1371600"/>
            <a:ext cx="7239000" cy="4724400"/>
          </a:xfrm>
          <a:prstGeom prst="rect">
            <a:avLst/>
          </a:prstGeom>
        </p:spPr>
      </p:pic>
    </p:spTree>
    <p:extLst>
      <p:ext uri="{BB962C8B-B14F-4D97-AF65-F5344CB8AC3E}">
        <p14:creationId xmlns:p14="http://schemas.microsoft.com/office/powerpoint/2010/main" val="388078507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dirty="0">
                <a:solidFill>
                  <a:schemeClr val="tx1"/>
                </a:solidFill>
                <a:effectLst/>
                <a:latin typeface="+mj-lt"/>
                <a:ea typeface="Times New Roman" panose="02020603050405020304" pitchFamily="18" charset="0"/>
                <a:cs typeface="Times New Roman" panose="02020603050405020304" pitchFamily="18" charset="0"/>
              </a:rPr>
              <a:t>Divide and Conquer</a:t>
            </a:r>
          </a:p>
        </p:txBody>
      </p:sp>
      <p:sp>
        <p:nvSpPr>
          <p:cNvPr id="4" name="Date Placeholder 3"/>
          <p:cNvSpPr>
            <a:spLocks noGrp="1"/>
          </p:cNvSpPr>
          <p:nvPr>
            <p:ph type="dt" sz="half" idx="10"/>
          </p:nvPr>
        </p:nvSpPr>
        <p:spPr/>
        <p:txBody>
          <a:bodyPr/>
          <a:lstStyle/>
          <a:p>
            <a:fld id="{F6C643BA-ACA1-44BF-9071-763295A35907}" type="datetime4">
              <a:rPr lang="en-US" smtClean="0">
                <a:solidFill>
                  <a:schemeClr val="tx1"/>
                </a:solidFill>
              </a:rPr>
              <a:pPr/>
              <a:t>March 13, 2024</a:t>
            </a:fld>
            <a:endParaRPr lang="en-US">
              <a:solidFill>
                <a:schemeClr val="tx1"/>
              </a:solidFill>
            </a:endParaRPr>
          </a:p>
        </p:txBody>
      </p:sp>
      <p:sp>
        <p:nvSpPr>
          <p:cNvPr id="5" name="Footer Placeholder 4"/>
          <p:cNvSpPr>
            <a:spLocks noGrp="1"/>
          </p:cNvSpPr>
          <p:nvPr>
            <p:ph type="ftr" sz="quarter" idx="11"/>
          </p:nvPr>
        </p:nvSpPr>
        <p:spPr/>
        <p:txBody>
          <a:bodyPr/>
          <a:lstStyle/>
          <a:p>
            <a:r>
              <a:rPr lang="en-US" dirty="0">
                <a:solidFill>
                  <a:schemeClr val="tx1"/>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schemeClr val="tx1"/>
                </a:solidFill>
              </a:rPr>
              <a:pPr/>
              <a:t>62</a:t>
            </a:fld>
            <a:endParaRPr lang="en-US" dirty="0">
              <a:solidFill>
                <a:schemeClr val="tx1"/>
              </a:solidFill>
            </a:endParaRPr>
          </a:p>
        </p:txBody>
      </p:sp>
      <p:pic>
        <p:nvPicPr>
          <p:cNvPr id="7" name="Picture 6">
            <a:extLst>
              <a:ext uri="{FF2B5EF4-FFF2-40B4-BE49-F238E27FC236}">
                <a16:creationId xmlns:a16="http://schemas.microsoft.com/office/drawing/2014/main" id="{DB38D4CC-0243-014F-E15B-BC76E7B6A9D1}"/>
              </a:ext>
            </a:extLst>
          </p:cNvPr>
          <p:cNvPicPr>
            <a:picLocks noChangeAspect="1"/>
          </p:cNvPicPr>
          <p:nvPr/>
        </p:nvPicPr>
        <p:blipFill>
          <a:blip r:embed="rId2"/>
          <a:stretch>
            <a:fillRect/>
          </a:stretch>
        </p:blipFill>
        <p:spPr>
          <a:xfrm>
            <a:off x="990600" y="1600200"/>
            <a:ext cx="7467600" cy="4191000"/>
          </a:xfrm>
          <a:prstGeom prst="rect">
            <a:avLst/>
          </a:prstGeom>
        </p:spPr>
      </p:pic>
    </p:spTree>
    <p:extLst>
      <p:ext uri="{BB962C8B-B14F-4D97-AF65-F5344CB8AC3E}">
        <p14:creationId xmlns:p14="http://schemas.microsoft.com/office/powerpoint/2010/main" val="75076530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dirty="0">
                <a:solidFill>
                  <a:schemeClr val="tx1"/>
                </a:solidFill>
                <a:effectLst/>
                <a:latin typeface="+mj-lt"/>
                <a:ea typeface="Times New Roman" panose="02020603050405020304" pitchFamily="18" charset="0"/>
                <a:cs typeface="Times New Roman" panose="02020603050405020304" pitchFamily="18" charset="0"/>
              </a:rPr>
              <a:t>Quick sort</a:t>
            </a:r>
          </a:p>
        </p:txBody>
      </p:sp>
      <p:sp>
        <p:nvSpPr>
          <p:cNvPr id="4" name="Date Placeholder 3"/>
          <p:cNvSpPr>
            <a:spLocks noGrp="1"/>
          </p:cNvSpPr>
          <p:nvPr>
            <p:ph type="dt" sz="half" idx="10"/>
          </p:nvPr>
        </p:nvSpPr>
        <p:spPr/>
        <p:txBody>
          <a:bodyPr/>
          <a:lstStyle/>
          <a:p>
            <a:fld id="{F6C643BA-ACA1-44BF-9071-763295A35907}" type="datetime4">
              <a:rPr lang="en-US" smtClean="0">
                <a:solidFill>
                  <a:schemeClr val="tx1"/>
                </a:solidFill>
              </a:rPr>
              <a:pPr/>
              <a:t>March 13, 2024</a:t>
            </a:fld>
            <a:endParaRPr lang="en-US">
              <a:solidFill>
                <a:schemeClr val="tx1"/>
              </a:solidFill>
            </a:endParaRPr>
          </a:p>
        </p:txBody>
      </p:sp>
      <p:sp>
        <p:nvSpPr>
          <p:cNvPr id="5" name="Footer Placeholder 4"/>
          <p:cNvSpPr>
            <a:spLocks noGrp="1"/>
          </p:cNvSpPr>
          <p:nvPr>
            <p:ph type="ftr" sz="quarter" idx="11"/>
          </p:nvPr>
        </p:nvSpPr>
        <p:spPr/>
        <p:txBody>
          <a:bodyPr/>
          <a:lstStyle/>
          <a:p>
            <a:r>
              <a:rPr lang="en-US" dirty="0">
                <a:solidFill>
                  <a:schemeClr val="tx1"/>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schemeClr val="tx1"/>
                </a:solidFill>
              </a:rPr>
              <a:pPr/>
              <a:t>63</a:t>
            </a:fld>
            <a:endParaRPr lang="en-US" dirty="0">
              <a:solidFill>
                <a:schemeClr val="tx1"/>
              </a:solidFill>
            </a:endParaRPr>
          </a:p>
        </p:txBody>
      </p:sp>
      <p:sp>
        <p:nvSpPr>
          <p:cNvPr id="3" name="TextBox 2">
            <a:extLst>
              <a:ext uri="{FF2B5EF4-FFF2-40B4-BE49-F238E27FC236}">
                <a16:creationId xmlns:a16="http://schemas.microsoft.com/office/drawing/2014/main" id="{14856F03-B503-581C-520A-FC6F1704A1E5}"/>
              </a:ext>
            </a:extLst>
          </p:cNvPr>
          <p:cNvSpPr txBox="1"/>
          <p:nvPr/>
        </p:nvSpPr>
        <p:spPr>
          <a:xfrm>
            <a:off x="685800" y="1539161"/>
            <a:ext cx="3352800" cy="4062651"/>
          </a:xfrm>
          <a:prstGeom prst="rect">
            <a:avLst/>
          </a:prstGeom>
          <a:noFill/>
        </p:spPr>
        <p:txBody>
          <a:bodyPr wrap="square" rtlCol="0">
            <a:spAutoFit/>
          </a:bodyPr>
          <a:lstStyle/>
          <a:p>
            <a:r>
              <a:rPr lang="en-US" sz="2000" dirty="0"/>
              <a:t>Algorithm qsort(</a:t>
            </a:r>
            <a:r>
              <a:rPr lang="en-US" sz="2000" dirty="0" err="1"/>
              <a:t>A,m,n</a:t>
            </a:r>
            <a:r>
              <a:rPr lang="en-US" sz="2000" dirty="0"/>
              <a:t>)</a:t>
            </a:r>
          </a:p>
          <a:p>
            <a:r>
              <a:rPr lang="en-US" sz="2000" dirty="0"/>
              <a:t>{</a:t>
            </a:r>
            <a:br>
              <a:rPr lang="en-US" sz="2000" dirty="0"/>
            </a:br>
            <a:r>
              <a:rPr lang="en-US" sz="2000" dirty="0"/>
              <a:t>int i,j,k,l;</a:t>
            </a:r>
          </a:p>
          <a:p>
            <a:r>
              <a:rPr lang="en-US" sz="2000" dirty="0"/>
              <a:t>if(m&lt;n)</a:t>
            </a:r>
          </a:p>
          <a:p>
            <a:r>
              <a:rPr lang="en-US" sz="2000" dirty="0"/>
              <a:t>{</a:t>
            </a:r>
          </a:p>
          <a:p>
            <a:r>
              <a:rPr lang="en-US" sz="2000" dirty="0"/>
              <a:t>i=m;</a:t>
            </a:r>
          </a:p>
          <a:p>
            <a:r>
              <a:rPr lang="en-US" sz="2000" dirty="0"/>
              <a:t>j=n+1;</a:t>
            </a:r>
          </a:p>
          <a:p>
            <a:r>
              <a:rPr lang="en-US" sz="2000" dirty="0"/>
              <a:t>k=A[m];</a:t>
            </a:r>
          </a:p>
          <a:p>
            <a:r>
              <a:rPr lang="en-US" sz="2000" dirty="0"/>
              <a:t>do</a:t>
            </a:r>
          </a:p>
          <a:p>
            <a:r>
              <a:rPr lang="en-US" sz="2000" dirty="0"/>
              <a:t>{</a:t>
            </a:r>
          </a:p>
          <a:p>
            <a:r>
              <a:rPr lang="en-US" sz="2000" dirty="0"/>
              <a:t> do { i=i+1;} while(a[i]&lt;=k); }</a:t>
            </a:r>
          </a:p>
          <a:p>
            <a:r>
              <a:rPr lang="en-US" sz="2000" dirty="0"/>
              <a:t> do { j=</a:t>
            </a:r>
            <a:r>
              <a:rPr lang="en-US" sz="2000"/>
              <a:t>j-1;} while</a:t>
            </a:r>
            <a:r>
              <a:rPr lang="en-US" sz="2000" dirty="0"/>
              <a:t>(a[j]&gt;=k); }</a:t>
            </a:r>
          </a:p>
          <a:p>
            <a:endParaRPr lang="en-US" dirty="0"/>
          </a:p>
        </p:txBody>
      </p:sp>
      <p:sp>
        <p:nvSpPr>
          <p:cNvPr id="7" name="TextBox 6">
            <a:extLst>
              <a:ext uri="{FF2B5EF4-FFF2-40B4-BE49-F238E27FC236}">
                <a16:creationId xmlns:a16="http://schemas.microsoft.com/office/drawing/2014/main" id="{D79276E4-DFD4-E8E2-7B0F-5177A69B9444}"/>
              </a:ext>
            </a:extLst>
          </p:cNvPr>
          <p:cNvSpPr txBox="1"/>
          <p:nvPr/>
        </p:nvSpPr>
        <p:spPr>
          <a:xfrm>
            <a:off x="4329112" y="1528142"/>
            <a:ext cx="3352800" cy="3754874"/>
          </a:xfrm>
          <a:prstGeom prst="rect">
            <a:avLst/>
          </a:prstGeom>
          <a:noFill/>
        </p:spPr>
        <p:txBody>
          <a:bodyPr wrap="square" rtlCol="0">
            <a:spAutoFit/>
          </a:bodyPr>
          <a:lstStyle/>
          <a:p>
            <a:r>
              <a:rPr lang="en-US" sz="2000" dirty="0"/>
              <a:t>if(i&lt;j)</a:t>
            </a:r>
          </a:p>
          <a:p>
            <a:r>
              <a:rPr lang="en-US" sz="2000" dirty="0"/>
              <a:t>{</a:t>
            </a:r>
          </a:p>
          <a:p>
            <a:r>
              <a:rPr lang="en-US" sz="2000" dirty="0"/>
              <a:t>swap a[i] and a[j];</a:t>
            </a:r>
          </a:p>
          <a:p>
            <a:r>
              <a:rPr lang="en-US" sz="2000" dirty="0"/>
              <a:t>}</a:t>
            </a:r>
          </a:p>
          <a:p>
            <a:r>
              <a:rPr lang="en-US" sz="2000" dirty="0"/>
              <a:t>} </a:t>
            </a:r>
          </a:p>
          <a:p>
            <a:r>
              <a:rPr lang="en-US" sz="2000"/>
              <a:t>While(</a:t>
            </a:r>
            <a:r>
              <a:rPr lang="en-US" sz="2000" dirty="0"/>
              <a:t>i&lt;j)</a:t>
            </a:r>
          </a:p>
          <a:p>
            <a:r>
              <a:rPr lang="en-US" sz="2000" dirty="0"/>
              <a:t>Swap a[j] with pivot;</a:t>
            </a:r>
          </a:p>
          <a:p>
            <a:r>
              <a:rPr lang="en-US" sz="2000" dirty="0"/>
              <a:t>qsort(A,m,j-1);</a:t>
            </a:r>
          </a:p>
          <a:p>
            <a:r>
              <a:rPr lang="en-US" sz="2000" dirty="0"/>
              <a:t>qsort(A,j+1,n)</a:t>
            </a:r>
          </a:p>
          <a:p>
            <a:r>
              <a:rPr lang="en-US" sz="2000" dirty="0"/>
              <a:t>}</a:t>
            </a:r>
          </a:p>
          <a:p>
            <a:endParaRPr lang="en-US" sz="2000" dirty="0"/>
          </a:p>
          <a:p>
            <a:endParaRPr lang="en-US" dirty="0"/>
          </a:p>
        </p:txBody>
      </p:sp>
    </p:spTree>
    <p:extLst>
      <p:ext uri="{BB962C8B-B14F-4D97-AF65-F5344CB8AC3E}">
        <p14:creationId xmlns:p14="http://schemas.microsoft.com/office/powerpoint/2010/main" val="112324606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DD7B4-F7C1-95FF-8566-90A13BF7D7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B3205A-9D15-CB5C-6F0C-BF86A5600538}"/>
              </a:ext>
            </a:extLst>
          </p:cNvPr>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dirty="0">
                <a:solidFill>
                  <a:schemeClr val="tx1"/>
                </a:solidFill>
                <a:effectLst/>
                <a:latin typeface="+mj-lt"/>
                <a:ea typeface="Times New Roman" panose="02020603050405020304" pitchFamily="18" charset="0"/>
                <a:cs typeface="Times New Roman" panose="02020603050405020304" pitchFamily="18" charset="0"/>
              </a:rPr>
              <a:t>Merge sort</a:t>
            </a:r>
          </a:p>
        </p:txBody>
      </p:sp>
      <p:sp>
        <p:nvSpPr>
          <p:cNvPr id="4" name="Date Placeholder 3">
            <a:extLst>
              <a:ext uri="{FF2B5EF4-FFF2-40B4-BE49-F238E27FC236}">
                <a16:creationId xmlns:a16="http://schemas.microsoft.com/office/drawing/2014/main" id="{670ADDA7-079C-67EF-F71D-E0F9BD1654F4}"/>
              </a:ext>
            </a:extLst>
          </p:cNvPr>
          <p:cNvSpPr>
            <a:spLocks noGrp="1"/>
          </p:cNvSpPr>
          <p:nvPr>
            <p:ph type="dt" sz="half" idx="10"/>
          </p:nvPr>
        </p:nvSpPr>
        <p:spPr/>
        <p:txBody>
          <a:bodyPr/>
          <a:lstStyle/>
          <a:p>
            <a:fld id="{F6C643BA-ACA1-44BF-9071-763295A35907}" type="datetime4">
              <a:rPr lang="en-US" smtClean="0">
                <a:solidFill>
                  <a:schemeClr val="tx1"/>
                </a:solidFill>
              </a:rPr>
              <a:pPr/>
              <a:t>March 13, 2024</a:t>
            </a:fld>
            <a:endParaRPr lang="en-US">
              <a:solidFill>
                <a:schemeClr val="tx1"/>
              </a:solidFill>
            </a:endParaRPr>
          </a:p>
        </p:txBody>
      </p:sp>
      <p:sp>
        <p:nvSpPr>
          <p:cNvPr id="5" name="Footer Placeholder 4">
            <a:extLst>
              <a:ext uri="{FF2B5EF4-FFF2-40B4-BE49-F238E27FC236}">
                <a16:creationId xmlns:a16="http://schemas.microsoft.com/office/drawing/2014/main" id="{062F762B-8726-752A-9402-7C3CBDAD79E2}"/>
              </a:ext>
            </a:extLst>
          </p:cNvPr>
          <p:cNvSpPr>
            <a:spLocks noGrp="1"/>
          </p:cNvSpPr>
          <p:nvPr>
            <p:ph type="ftr" sz="quarter" idx="11"/>
          </p:nvPr>
        </p:nvSpPr>
        <p:spPr/>
        <p:txBody>
          <a:bodyPr/>
          <a:lstStyle/>
          <a:p>
            <a:r>
              <a:rPr lang="en-US" dirty="0">
                <a:solidFill>
                  <a:schemeClr val="tx1"/>
                </a:solidFill>
              </a:rPr>
              <a:t>Department of Computer Science &amp; Engineering, VNRVJIET, Hyderabad</a:t>
            </a:r>
          </a:p>
        </p:txBody>
      </p:sp>
      <p:sp>
        <p:nvSpPr>
          <p:cNvPr id="6" name="Slide Number Placeholder 5">
            <a:extLst>
              <a:ext uri="{FF2B5EF4-FFF2-40B4-BE49-F238E27FC236}">
                <a16:creationId xmlns:a16="http://schemas.microsoft.com/office/drawing/2014/main" id="{E49F2648-9DB8-EB19-DB0A-3E55340D2C78}"/>
              </a:ext>
            </a:extLst>
          </p:cNvPr>
          <p:cNvSpPr>
            <a:spLocks noGrp="1"/>
          </p:cNvSpPr>
          <p:nvPr>
            <p:ph type="sldNum" sz="quarter" idx="12"/>
          </p:nvPr>
        </p:nvSpPr>
        <p:spPr/>
        <p:txBody>
          <a:bodyPr/>
          <a:lstStyle/>
          <a:p>
            <a:fld id="{C4FA3F07-B4E9-4FEB-BC07-B9713C186F28}" type="slidenum">
              <a:rPr lang="en-US" smtClean="0">
                <a:solidFill>
                  <a:schemeClr val="tx1"/>
                </a:solidFill>
              </a:rPr>
              <a:pPr/>
              <a:t>64</a:t>
            </a:fld>
            <a:endParaRPr lang="en-US" dirty="0">
              <a:solidFill>
                <a:schemeClr val="tx1"/>
              </a:solidFill>
            </a:endParaRPr>
          </a:p>
        </p:txBody>
      </p:sp>
      <p:pic>
        <p:nvPicPr>
          <p:cNvPr id="7" name="Picture 6">
            <a:extLst>
              <a:ext uri="{FF2B5EF4-FFF2-40B4-BE49-F238E27FC236}">
                <a16:creationId xmlns:a16="http://schemas.microsoft.com/office/drawing/2014/main" id="{2A184B1D-1E08-F2C1-8365-ED2316FF424D}"/>
              </a:ext>
            </a:extLst>
          </p:cNvPr>
          <p:cNvPicPr>
            <a:picLocks noChangeAspect="1"/>
          </p:cNvPicPr>
          <p:nvPr/>
        </p:nvPicPr>
        <p:blipFill>
          <a:blip r:embed="rId2"/>
          <a:stretch>
            <a:fillRect/>
          </a:stretch>
        </p:blipFill>
        <p:spPr>
          <a:xfrm>
            <a:off x="152400" y="1457400"/>
            <a:ext cx="8610600" cy="4638600"/>
          </a:xfrm>
          <a:prstGeom prst="rect">
            <a:avLst/>
          </a:prstGeom>
        </p:spPr>
      </p:pic>
    </p:spTree>
    <p:extLst>
      <p:ext uri="{BB962C8B-B14F-4D97-AF65-F5344CB8AC3E}">
        <p14:creationId xmlns:p14="http://schemas.microsoft.com/office/powerpoint/2010/main" val="264525397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86C3-2843-DFD8-C8E1-96CDFC4E24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C85E6E-3437-3F4F-31DB-635C36061641}"/>
              </a:ext>
            </a:extLst>
          </p:cNvPr>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dirty="0">
                <a:solidFill>
                  <a:schemeClr val="tx1"/>
                </a:solidFill>
                <a:effectLst/>
                <a:latin typeface="+mj-lt"/>
                <a:ea typeface="Times New Roman" panose="02020603050405020304" pitchFamily="18" charset="0"/>
                <a:cs typeface="Times New Roman" panose="02020603050405020304" pitchFamily="18" charset="0"/>
              </a:rPr>
              <a:t>Merge Sort</a:t>
            </a:r>
          </a:p>
        </p:txBody>
      </p:sp>
      <p:sp>
        <p:nvSpPr>
          <p:cNvPr id="4" name="Date Placeholder 3">
            <a:extLst>
              <a:ext uri="{FF2B5EF4-FFF2-40B4-BE49-F238E27FC236}">
                <a16:creationId xmlns:a16="http://schemas.microsoft.com/office/drawing/2014/main" id="{6EFEE477-1810-F491-85D1-980DA80D797A}"/>
              </a:ext>
            </a:extLst>
          </p:cNvPr>
          <p:cNvSpPr>
            <a:spLocks noGrp="1"/>
          </p:cNvSpPr>
          <p:nvPr>
            <p:ph type="dt" sz="half" idx="10"/>
          </p:nvPr>
        </p:nvSpPr>
        <p:spPr/>
        <p:txBody>
          <a:bodyPr/>
          <a:lstStyle/>
          <a:p>
            <a:fld id="{F6C643BA-ACA1-44BF-9071-763295A35907}" type="datetime4">
              <a:rPr lang="en-US" smtClean="0">
                <a:solidFill>
                  <a:schemeClr val="tx1"/>
                </a:solidFill>
              </a:rPr>
              <a:pPr/>
              <a:t>March 13, 2024</a:t>
            </a:fld>
            <a:endParaRPr lang="en-US">
              <a:solidFill>
                <a:schemeClr val="tx1"/>
              </a:solidFill>
            </a:endParaRPr>
          </a:p>
        </p:txBody>
      </p:sp>
      <p:sp>
        <p:nvSpPr>
          <p:cNvPr id="5" name="Footer Placeholder 4">
            <a:extLst>
              <a:ext uri="{FF2B5EF4-FFF2-40B4-BE49-F238E27FC236}">
                <a16:creationId xmlns:a16="http://schemas.microsoft.com/office/drawing/2014/main" id="{D312F151-02E9-2D5F-339D-49D3505D9A9A}"/>
              </a:ext>
            </a:extLst>
          </p:cNvPr>
          <p:cNvSpPr>
            <a:spLocks noGrp="1"/>
          </p:cNvSpPr>
          <p:nvPr>
            <p:ph type="ftr" sz="quarter" idx="11"/>
          </p:nvPr>
        </p:nvSpPr>
        <p:spPr/>
        <p:txBody>
          <a:bodyPr/>
          <a:lstStyle/>
          <a:p>
            <a:r>
              <a:rPr lang="en-US" dirty="0">
                <a:solidFill>
                  <a:schemeClr val="tx1"/>
                </a:solidFill>
              </a:rPr>
              <a:t>Department of Computer Science &amp; Engineering, VNRVJIET, Hyderabad</a:t>
            </a:r>
          </a:p>
        </p:txBody>
      </p:sp>
      <p:sp>
        <p:nvSpPr>
          <p:cNvPr id="6" name="Slide Number Placeholder 5">
            <a:extLst>
              <a:ext uri="{FF2B5EF4-FFF2-40B4-BE49-F238E27FC236}">
                <a16:creationId xmlns:a16="http://schemas.microsoft.com/office/drawing/2014/main" id="{29B16329-713B-74BF-46A8-FCB0754102B7}"/>
              </a:ext>
            </a:extLst>
          </p:cNvPr>
          <p:cNvSpPr>
            <a:spLocks noGrp="1"/>
          </p:cNvSpPr>
          <p:nvPr>
            <p:ph type="sldNum" sz="quarter" idx="12"/>
          </p:nvPr>
        </p:nvSpPr>
        <p:spPr/>
        <p:txBody>
          <a:bodyPr/>
          <a:lstStyle/>
          <a:p>
            <a:fld id="{C4FA3F07-B4E9-4FEB-BC07-B9713C186F28}" type="slidenum">
              <a:rPr lang="en-US" smtClean="0">
                <a:solidFill>
                  <a:schemeClr val="tx1"/>
                </a:solidFill>
              </a:rPr>
              <a:pPr/>
              <a:t>65</a:t>
            </a:fld>
            <a:endParaRPr lang="en-US" dirty="0">
              <a:solidFill>
                <a:schemeClr val="tx1"/>
              </a:solidFill>
            </a:endParaRPr>
          </a:p>
        </p:txBody>
      </p:sp>
      <p:pic>
        <p:nvPicPr>
          <p:cNvPr id="7" name="Picture 6">
            <a:extLst>
              <a:ext uri="{FF2B5EF4-FFF2-40B4-BE49-F238E27FC236}">
                <a16:creationId xmlns:a16="http://schemas.microsoft.com/office/drawing/2014/main" id="{E6FD9C82-A088-0423-5229-FCD984FE7759}"/>
              </a:ext>
            </a:extLst>
          </p:cNvPr>
          <p:cNvPicPr>
            <a:picLocks noChangeAspect="1"/>
          </p:cNvPicPr>
          <p:nvPr/>
        </p:nvPicPr>
        <p:blipFill>
          <a:blip r:embed="rId2"/>
          <a:stretch>
            <a:fillRect/>
          </a:stretch>
        </p:blipFill>
        <p:spPr>
          <a:xfrm>
            <a:off x="609600" y="1488558"/>
            <a:ext cx="8153400" cy="3479364"/>
          </a:xfrm>
          <a:prstGeom prst="rect">
            <a:avLst/>
          </a:prstGeom>
        </p:spPr>
      </p:pic>
      <p:pic>
        <p:nvPicPr>
          <p:cNvPr id="12" name="Picture 11">
            <a:extLst>
              <a:ext uri="{FF2B5EF4-FFF2-40B4-BE49-F238E27FC236}">
                <a16:creationId xmlns:a16="http://schemas.microsoft.com/office/drawing/2014/main" id="{BCDA64B1-8B8A-0564-34E1-EAFD9A953F9A}"/>
              </a:ext>
            </a:extLst>
          </p:cNvPr>
          <p:cNvPicPr>
            <a:picLocks noChangeAspect="1"/>
          </p:cNvPicPr>
          <p:nvPr/>
        </p:nvPicPr>
        <p:blipFill>
          <a:blip r:embed="rId3"/>
          <a:stretch>
            <a:fillRect/>
          </a:stretch>
        </p:blipFill>
        <p:spPr>
          <a:xfrm>
            <a:off x="2473293" y="5380461"/>
            <a:ext cx="4426013" cy="547475"/>
          </a:xfrm>
          <a:prstGeom prst="rect">
            <a:avLst/>
          </a:prstGeom>
        </p:spPr>
      </p:pic>
    </p:spTree>
    <p:extLst>
      <p:ext uri="{BB962C8B-B14F-4D97-AF65-F5344CB8AC3E}">
        <p14:creationId xmlns:p14="http://schemas.microsoft.com/office/powerpoint/2010/main" val="352985720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590B8-DD20-A0DA-BBF1-A3F14AFFCD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441CC7-62CD-EA65-2EEA-B3DF799DF6A0}"/>
              </a:ext>
            </a:extLst>
          </p:cNvPr>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dirty="0">
                <a:solidFill>
                  <a:schemeClr val="tx1"/>
                </a:solidFill>
                <a:effectLst/>
                <a:latin typeface="+mj-lt"/>
                <a:ea typeface="Times New Roman" panose="02020603050405020304" pitchFamily="18" charset="0"/>
                <a:cs typeface="Times New Roman" panose="02020603050405020304" pitchFamily="18" charset="0"/>
              </a:rPr>
              <a:t>Merge Sort</a:t>
            </a:r>
          </a:p>
        </p:txBody>
      </p:sp>
      <p:sp>
        <p:nvSpPr>
          <p:cNvPr id="4" name="Date Placeholder 3">
            <a:extLst>
              <a:ext uri="{FF2B5EF4-FFF2-40B4-BE49-F238E27FC236}">
                <a16:creationId xmlns:a16="http://schemas.microsoft.com/office/drawing/2014/main" id="{4EA7A47E-83E7-4EBC-A95D-11729C841FDF}"/>
              </a:ext>
            </a:extLst>
          </p:cNvPr>
          <p:cNvSpPr>
            <a:spLocks noGrp="1"/>
          </p:cNvSpPr>
          <p:nvPr>
            <p:ph type="dt" sz="half" idx="10"/>
          </p:nvPr>
        </p:nvSpPr>
        <p:spPr/>
        <p:txBody>
          <a:bodyPr/>
          <a:lstStyle/>
          <a:p>
            <a:fld id="{F6C643BA-ACA1-44BF-9071-763295A35907}" type="datetime4">
              <a:rPr lang="en-US" smtClean="0">
                <a:solidFill>
                  <a:schemeClr val="tx1"/>
                </a:solidFill>
              </a:rPr>
              <a:pPr/>
              <a:t>March 13, 2024</a:t>
            </a:fld>
            <a:endParaRPr lang="en-US">
              <a:solidFill>
                <a:schemeClr val="tx1"/>
              </a:solidFill>
            </a:endParaRPr>
          </a:p>
        </p:txBody>
      </p:sp>
      <p:sp>
        <p:nvSpPr>
          <p:cNvPr id="5" name="Footer Placeholder 4">
            <a:extLst>
              <a:ext uri="{FF2B5EF4-FFF2-40B4-BE49-F238E27FC236}">
                <a16:creationId xmlns:a16="http://schemas.microsoft.com/office/drawing/2014/main" id="{A6D8B39D-FCB1-03C5-87F7-E1F79D94DC98}"/>
              </a:ext>
            </a:extLst>
          </p:cNvPr>
          <p:cNvSpPr>
            <a:spLocks noGrp="1"/>
          </p:cNvSpPr>
          <p:nvPr>
            <p:ph type="ftr" sz="quarter" idx="11"/>
          </p:nvPr>
        </p:nvSpPr>
        <p:spPr/>
        <p:txBody>
          <a:bodyPr/>
          <a:lstStyle/>
          <a:p>
            <a:r>
              <a:rPr lang="en-US" dirty="0">
                <a:solidFill>
                  <a:schemeClr val="tx1"/>
                </a:solidFill>
              </a:rPr>
              <a:t>Department of Computer Science &amp; Engineering, VNRVJIET, Hyderabad</a:t>
            </a:r>
          </a:p>
        </p:txBody>
      </p:sp>
      <p:sp>
        <p:nvSpPr>
          <p:cNvPr id="6" name="Slide Number Placeholder 5">
            <a:extLst>
              <a:ext uri="{FF2B5EF4-FFF2-40B4-BE49-F238E27FC236}">
                <a16:creationId xmlns:a16="http://schemas.microsoft.com/office/drawing/2014/main" id="{5471873D-69AE-C875-9F6B-0E9F88F9C820}"/>
              </a:ext>
            </a:extLst>
          </p:cNvPr>
          <p:cNvSpPr>
            <a:spLocks noGrp="1"/>
          </p:cNvSpPr>
          <p:nvPr>
            <p:ph type="sldNum" sz="quarter" idx="12"/>
          </p:nvPr>
        </p:nvSpPr>
        <p:spPr/>
        <p:txBody>
          <a:bodyPr/>
          <a:lstStyle/>
          <a:p>
            <a:fld id="{C4FA3F07-B4E9-4FEB-BC07-B9713C186F28}" type="slidenum">
              <a:rPr lang="en-US" smtClean="0">
                <a:solidFill>
                  <a:schemeClr val="tx1"/>
                </a:solidFill>
              </a:rPr>
              <a:pPr/>
              <a:t>66</a:t>
            </a:fld>
            <a:endParaRPr lang="en-US" dirty="0">
              <a:solidFill>
                <a:schemeClr val="tx1"/>
              </a:solidFill>
            </a:endParaRPr>
          </a:p>
        </p:txBody>
      </p:sp>
      <p:pic>
        <p:nvPicPr>
          <p:cNvPr id="8" name="Picture 7">
            <a:extLst>
              <a:ext uri="{FF2B5EF4-FFF2-40B4-BE49-F238E27FC236}">
                <a16:creationId xmlns:a16="http://schemas.microsoft.com/office/drawing/2014/main" id="{63095995-B1A8-B8DD-F6DE-8ACDDBD15A5F}"/>
              </a:ext>
            </a:extLst>
          </p:cNvPr>
          <p:cNvPicPr>
            <a:picLocks noChangeAspect="1"/>
          </p:cNvPicPr>
          <p:nvPr/>
        </p:nvPicPr>
        <p:blipFill>
          <a:blip r:embed="rId2"/>
          <a:stretch>
            <a:fillRect/>
          </a:stretch>
        </p:blipFill>
        <p:spPr>
          <a:xfrm>
            <a:off x="1009261" y="1626283"/>
            <a:ext cx="7391400" cy="3139122"/>
          </a:xfrm>
          <a:prstGeom prst="rect">
            <a:avLst/>
          </a:prstGeom>
        </p:spPr>
      </p:pic>
      <p:pic>
        <p:nvPicPr>
          <p:cNvPr id="10" name="Picture 9">
            <a:extLst>
              <a:ext uri="{FF2B5EF4-FFF2-40B4-BE49-F238E27FC236}">
                <a16:creationId xmlns:a16="http://schemas.microsoft.com/office/drawing/2014/main" id="{DF5FDC9A-C0D6-7DCD-0A2C-BAD890808440}"/>
              </a:ext>
            </a:extLst>
          </p:cNvPr>
          <p:cNvPicPr>
            <a:picLocks noChangeAspect="1"/>
          </p:cNvPicPr>
          <p:nvPr/>
        </p:nvPicPr>
        <p:blipFill>
          <a:blip r:embed="rId3"/>
          <a:stretch>
            <a:fillRect/>
          </a:stretch>
        </p:blipFill>
        <p:spPr>
          <a:xfrm>
            <a:off x="2463957" y="5394959"/>
            <a:ext cx="4117818" cy="365125"/>
          </a:xfrm>
          <a:prstGeom prst="rect">
            <a:avLst/>
          </a:prstGeom>
        </p:spPr>
      </p:pic>
    </p:spTree>
    <p:extLst>
      <p:ext uri="{BB962C8B-B14F-4D97-AF65-F5344CB8AC3E}">
        <p14:creationId xmlns:p14="http://schemas.microsoft.com/office/powerpoint/2010/main" val="55185550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dirty="0">
                <a:solidFill>
                  <a:schemeClr val="tx1"/>
                </a:solidFill>
                <a:effectLst/>
                <a:latin typeface="+mj-lt"/>
                <a:ea typeface="Times New Roman" panose="02020603050405020304" pitchFamily="18" charset="0"/>
                <a:cs typeface="Times New Roman" panose="02020603050405020304" pitchFamily="18" charset="0"/>
              </a:rPr>
              <a:t>Merge Sort</a:t>
            </a:r>
          </a:p>
        </p:txBody>
      </p:sp>
      <p:sp>
        <p:nvSpPr>
          <p:cNvPr id="4" name="Date Placeholder 3"/>
          <p:cNvSpPr>
            <a:spLocks noGrp="1"/>
          </p:cNvSpPr>
          <p:nvPr>
            <p:ph type="dt" sz="half" idx="10"/>
          </p:nvPr>
        </p:nvSpPr>
        <p:spPr/>
        <p:txBody>
          <a:bodyPr/>
          <a:lstStyle/>
          <a:p>
            <a:fld id="{F6C643BA-ACA1-44BF-9071-763295A35907}" type="datetime4">
              <a:rPr lang="en-US" smtClean="0">
                <a:solidFill>
                  <a:schemeClr val="tx1"/>
                </a:solidFill>
              </a:rPr>
              <a:pPr/>
              <a:t>March 13, 2024</a:t>
            </a:fld>
            <a:endParaRPr lang="en-US">
              <a:solidFill>
                <a:schemeClr val="tx1"/>
              </a:solidFill>
            </a:endParaRPr>
          </a:p>
        </p:txBody>
      </p:sp>
      <p:sp>
        <p:nvSpPr>
          <p:cNvPr id="5" name="Footer Placeholder 4"/>
          <p:cNvSpPr>
            <a:spLocks noGrp="1"/>
          </p:cNvSpPr>
          <p:nvPr>
            <p:ph type="ftr" sz="quarter" idx="11"/>
          </p:nvPr>
        </p:nvSpPr>
        <p:spPr/>
        <p:txBody>
          <a:bodyPr/>
          <a:lstStyle/>
          <a:p>
            <a:r>
              <a:rPr lang="en-US" dirty="0">
                <a:solidFill>
                  <a:schemeClr val="tx1"/>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schemeClr val="tx1"/>
                </a:solidFill>
              </a:rPr>
              <a:pPr/>
              <a:t>67</a:t>
            </a:fld>
            <a:endParaRPr lang="en-US" dirty="0">
              <a:solidFill>
                <a:schemeClr val="tx1"/>
              </a:solidFill>
            </a:endParaRPr>
          </a:p>
        </p:txBody>
      </p:sp>
      <p:pic>
        <p:nvPicPr>
          <p:cNvPr id="7" name="Picture 6">
            <a:extLst>
              <a:ext uri="{FF2B5EF4-FFF2-40B4-BE49-F238E27FC236}">
                <a16:creationId xmlns:a16="http://schemas.microsoft.com/office/drawing/2014/main" id="{0C4BD5FE-6868-1725-C0EB-BA420EF8B75E}"/>
              </a:ext>
            </a:extLst>
          </p:cNvPr>
          <p:cNvPicPr>
            <a:picLocks noChangeAspect="1"/>
          </p:cNvPicPr>
          <p:nvPr/>
        </p:nvPicPr>
        <p:blipFill>
          <a:blip r:embed="rId2"/>
          <a:stretch>
            <a:fillRect/>
          </a:stretch>
        </p:blipFill>
        <p:spPr>
          <a:xfrm>
            <a:off x="533400" y="1600200"/>
            <a:ext cx="7162800" cy="4419600"/>
          </a:xfrm>
          <a:prstGeom prst="rect">
            <a:avLst/>
          </a:prstGeom>
        </p:spPr>
      </p:pic>
    </p:spTree>
    <p:extLst>
      <p:ext uri="{BB962C8B-B14F-4D97-AF65-F5344CB8AC3E}">
        <p14:creationId xmlns:p14="http://schemas.microsoft.com/office/powerpoint/2010/main" val="233390292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dirty="0">
                <a:solidFill>
                  <a:schemeClr val="tx1"/>
                </a:solidFill>
                <a:effectLst/>
                <a:latin typeface="+mj-lt"/>
                <a:ea typeface="Times New Roman" panose="02020603050405020304" pitchFamily="18" charset="0"/>
                <a:cs typeface="Times New Roman" panose="02020603050405020304" pitchFamily="18" charset="0"/>
              </a:rPr>
              <a:t>Merge Sort</a:t>
            </a:r>
          </a:p>
        </p:txBody>
      </p:sp>
      <p:sp>
        <p:nvSpPr>
          <p:cNvPr id="4" name="Date Placeholder 3"/>
          <p:cNvSpPr>
            <a:spLocks noGrp="1"/>
          </p:cNvSpPr>
          <p:nvPr>
            <p:ph type="dt" sz="half" idx="10"/>
          </p:nvPr>
        </p:nvSpPr>
        <p:spPr/>
        <p:txBody>
          <a:bodyPr/>
          <a:lstStyle/>
          <a:p>
            <a:fld id="{F6C643BA-ACA1-44BF-9071-763295A35907}" type="datetime4">
              <a:rPr lang="en-US" smtClean="0">
                <a:solidFill>
                  <a:schemeClr val="tx1"/>
                </a:solidFill>
              </a:rPr>
              <a:pPr/>
              <a:t>March 13, 2024</a:t>
            </a:fld>
            <a:endParaRPr lang="en-US">
              <a:solidFill>
                <a:schemeClr val="tx1"/>
              </a:solidFill>
            </a:endParaRPr>
          </a:p>
        </p:txBody>
      </p:sp>
      <p:sp>
        <p:nvSpPr>
          <p:cNvPr id="5" name="Footer Placeholder 4"/>
          <p:cNvSpPr>
            <a:spLocks noGrp="1"/>
          </p:cNvSpPr>
          <p:nvPr>
            <p:ph type="ftr" sz="quarter" idx="11"/>
          </p:nvPr>
        </p:nvSpPr>
        <p:spPr/>
        <p:txBody>
          <a:bodyPr/>
          <a:lstStyle/>
          <a:p>
            <a:r>
              <a:rPr lang="en-US" dirty="0">
                <a:solidFill>
                  <a:schemeClr val="tx1"/>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schemeClr val="tx1"/>
                </a:solidFill>
              </a:rPr>
              <a:pPr/>
              <a:t>68</a:t>
            </a:fld>
            <a:endParaRPr lang="en-US" dirty="0">
              <a:solidFill>
                <a:schemeClr val="tx1"/>
              </a:solidFill>
            </a:endParaRPr>
          </a:p>
        </p:txBody>
      </p:sp>
      <p:pic>
        <p:nvPicPr>
          <p:cNvPr id="8" name="Picture 7">
            <a:extLst>
              <a:ext uri="{FF2B5EF4-FFF2-40B4-BE49-F238E27FC236}">
                <a16:creationId xmlns:a16="http://schemas.microsoft.com/office/drawing/2014/main" id="{B5E7903E-50D5-827C-E1F1-3171510AC05A}"/>
              </a:ext>
            </a:extLst>
          </p:cNvPr>
          <p:cNvPicPr>
            <a:picLocks noChangeAspect="1"/>
          </p:cNvPicPr>
          <p:nvPr/>
        </p:nvPicPr>
        <p:blipFill>
          <a:blip r:embed="rId2"/>
          <a:stretch>
            <a:fillRect/>
          </a:stretch>
        </p:blipFill>
        <p:spPr>
          <a:xfrm>
            <a:off x="342900" y="1437068"/>
            <a:ext cx="8191500" cy="4696557"/>
          </a:xfrm>
          <a:prstGeom prst="rect">
            <a:avLst/>
          </a:prstGeom>
        </p:spPr>
      </p:pic>
    </p:spTree>
    <p:extLst>
      <p:ext uri="{BB962C8B-B14F-4D97-AF65-F5344CB8AC3E}">
        <p14:creationId xmlns:p14="http://schemas.microsoft.com/office/powerpoint/2010/main" val="63590313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dirty="0">
                <a:solidFill>
                  <a:schemeClr val="tx1"/>
                </a:solidFill>
                <a:effectLst/>
                <a:latin typeface="+mj-lt"/>
                <a:ea typeface="Times New Roman" panose="02020603050405020304" pitchFamily="18" charset="0"/>
                <a:cs typeface="Times New Roman" panose="02020603050405020304" pitchFamily="18" charset="0"/>
              </a:rPr>
              <a:t>Merge Sort</a:t>
            </a:r>
          </a:p>
        </p:txBody>
      </p:sp>
      <p:sp>
        <p:nvSpPr>
          <p:cNvPr id="4" name="Date Placeholder 3"/>
          <p:cNvSpPr>
            <a:spLocks noGrp="1"/>
          </p:cNvSpPr>
          <p:nvPr>
            <p:ph type="dt" sz="half" idx="10"/>
          </p:nvPr>
        </p:nvSpPr>
        <p:spPr/>
        <p:txBody>
          <a:bodyPr/>
          <a:lstStyle/>
          <a:p>
            <a:fld id="{F6C643BA-ACA1-44BF-9071-763295A35907}" type="datetime4">
              <a:rPr lang="en-US" smtClean="0">
                <a:solidFill>
                  <a:schemeClr val="tx1"/>
                </a:solidFill>
              </a:rPr>
              <a:pPr/>
              <a:t>March 13, 2024</a:t>
            </a:fld>
            <a:endParaRPr lang="en-US">
              <a:solidFill>
                <a:schemeClr val="tx1"/>
              </a:solidFill>
            </a:endParaRPr>
          </a:p>
        </p:txBody>
      </p:sp>
      <p:sp>
        <p:nvSpPr>
          <p:cNvPr id="5" name="Footer Placeholder 4"/>
          <p:cNvSpPr>
            <a:spLocks noGrp="1"/>
          </p:cNvSpPr>
          <p:nvPr>
            <p:ph type="ftr" sz="quarter" idx="11"/>
          </p:nvPr>
        </p:nvSpPr>
        <p:spPr/>
        <p:txBody>
          <a:bodyPr/>
          <a:lstStyle/>
          <a:p>
            <a:r>
              <a:rPr lang="en-US" dirty="0">
                <a:solidFill>
                  <a:schemeClr val="tx1"/>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schemeClr val="tx1"/>
                </a:solidFill>
              </a:rPr>
              <a:pPr/>
              <a:t>69</a:t>
            </a:fld>
            <a:endParaRPr lang="en-US" dirty="0">
              <a:solidFill>
                <a:schemeClr val="tx1"/>
              </a:solidFill>
            </a:endParaRPr>
          </a:p>
        </p:txBody>
      </p:sp>
      <p:pic>
        <p:nvPicPr>
          <p:cNvPr id="8" name="Picture 7">
            <a:extLst>
              <a:ext uri="{FF2B5EF4-FFF2-40B4-BE49-F238E27FC236}">
                <a16:creationId xmlns:a16="http://schemas.microsoft.com/office/drawing/2014/main" id="{64AEA173-6EAA-5CF3-E2DE-15DDD81FB270}"/>
              </a:ext>
            </a:extLst>
          </p:cNvPr>
          <p:cNvPicPr>
            <a:picLocks noChangeAspect="1"/>
          </p:cNvPicPr>
          <p:nvPr/>
        </p:nvPicPr>
        <p:blipFill>
          <a:blip r:embed="rId2"/>
          <a:stretch>
            <a:fillRect/>
          </a:stretch>
        </p:blipFill>
        <p:spPr>
          <a:xfrm>
            <a:off x="876300" y="1802597"/>
            <a:ext cx="7391400" cy="1093003"/>
          </a:xfrm>
          <a:prstGeom prst="rect">
            <a:avLst/>
          </a:prstGeom>
        </p:spPr>
      </p:pic>
    </p:spTree>
    <p:extLst>
      <p:ext uri="{BB962C8B-B14F-4D97-AF65-F5344CB8AC3E}">
        <p14:creationId xmlns:p14="http://schemas.microsoft.com/office/powerpoint/2010/main" val="401484613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981DC-74C1-6B23-D810-D33069E7E6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BC9011-F758-AA40-F175-79D4E272E17E}"/>
              </a:ext>
            </a:extLst>
          </p:cNvPr>
          <p:cNvSpPr>
            <a:spLocks noGrp="1"/>
          </p:cNvSpPr>
          <p:nvPr>
            <p:ph type="title"/>
          </p:nvPr>
        </p:nvSpPr>
        <p:spPr/>
        <p:txBody>
          <a:bodyPr>
            <a:normAutofit/>
          </a:bodyPr>
          <a:lstStyle/>
          <a:p>
            <a:pPr marL="457200" marR="0" lvl="1" algn="just">
              <a:spcBef>
                <a:spcPts val="0"/>
              </a:spcBef>
              <a:spcAft>
                <a:spcPts val="0"/>
              </a:spcAft>
              <a:buSzPts val="1450"/>
              <a:tabLst>
                <a:tab pos="549910" algn="l"/>
              </a:tabLst>
            </a:pPr>
            <a:r>
              <a:rPr lang="en-US" sz="2800" dirty="0">
                <a:solidFill>
                  <a:schemeClr val="tx1"/>
                </a:solidFill>
                <a:effectLst/>
                <a:latin typeface="+mj-lt"/>
                <a:ea typeface="Times New Roman" panose="02020603050405020304" pitchFamily="18" charset="0"/>
                <a:cs typeface="Times New Roman" panose="02020603050405020304" pitchFamily="18" charset="0"/>
              </a:rPr>
              <a:t>Strassen's matrix multiplication</a:t>
            </a:r>
          </a:p>
        </p:txBody>
      </p:sp>
      <p:sp>
        <p:nvSpPr>
          <p:cNvPr id="4" name="Date Placeholder 3">
            <a:extLst>
              <a:ext uri="{FF2B5EF4-FFF2-40B4-BE49-F238E27FC236}">
                <a16:creationId xmlns:a16="http://schemas.microsoft.com/office/drawing/2014/main" id="{87EBEF37-4A6F-7D38-65E3-26B42AA05028}"/>
              </a:ext>
            </a:extLst>
          </p:cNvPr>
          <p:cNvSpPr>
            <a:spLocks noGrp="1"/>
          </p:cNvSpPr>
          <p:nvPr>
            <p:ph type="dt" sz="half" idx="10"/>
          </p:nvPr>
        </p:nvSpPr>
        <p:spPr/>
        <p:txBody>
          <a:bodyPr/>
          <a:lstStyle/>
          <a:p>
            <a:fld id="{F6C643BA-ACA1-44BF-9071-763295A35907}" type="datetime4">
              <a:rPr lang="en-US" smtClean="0">
                <a:solidFill>
                  <a:schemeClr val="tx1"/>
                </a:solidFill>
              </a:rPr>
              <a:pPr/>
              <a:t>March 13, 2024</a:t>
            </a:fld>
            <a:endParaRPr lang="en-US">
              <a:solidFill>
                <a:schemeClr val="tx1"/>
              </a:solidFill>
            </a:endParaRPr>
          </a:p>
        </p:txBody>
      </p:sp>
      <p:sp>
        <p:nvSpPr>
          <p:cNvPr id="5" name="Footer Placeholder 4">
            <a:extLst>
              <a:ext uri="{FF2B5EF4-FFF2-40B4-BE49-F238E27FC236}">
                <a16:creationId xmlns:a16="http://schemas.microsoft.com/office/drawing/2014/main" id="{D730E15C-05C2-29EC-DEEB-67730FF598AB}"/>
              </a:ext>
            </a:extLst>
          </p:cNvPr>
          <p:cNvSpPr>
            <a:spLocks noGrp="1"/>
          </p:cNvSpPr>
          <p:nvPr>
            <p:ph type="ftr" sz="quarter" idx="11"/>
          </p:nvPr>
        </p:nvSpPr>
        <p:spPr/>
        <p:txBody>
          <a:bodyPr/>
          <a:lstStyle/>
          <a:p>
            <a:r>
              <a:rPr lang="en-US" dirty="0">
                <a:solidFill>
                  <a:schemeClr val="tx1"/>
                </a:solidFill>
              </a:rPr>
              <a:t>Department of Computer Science &amp; Engineering, VNRVJIET, Hyderabad</a:t>
            </a:r>
          </a:p>
        </p:txBody>
      </p:sp>
      <p:sp>
        <p:nvSpPr>
          <p:cNvPr id="6" name="Slide Number Placeholder 5">
            <a:extLst>
              <a:ext uri="{FF2B5EF4-FFF2-40B4-BE49-F238E27FC236}">
                <a16:creationId xmlns:a16="http://schemas.microsoft.com/office/drawing/2014/main" id="{BF786E27-F3D2-EC98-6B6F-5BD89BA52CEA}"/>
              </a:ext>
            </a:extLst>
          </p:cNvPr>
          <p:cNvSpPr>
            <a:spLocks noGrp="1"/>
          </p:cNvSpPr>
          <p:nvPr>
            <p:ph type="sldNum" sz="quarter" idx="12"/>
          </p:nvPr>
        </p:nvSpPr>
        <p:spPr/>
        <p:txBody>
          <a:bodyPr/>
          <a:lstStyle/>
          <a:p>
            <a:fld id="{C4FA3F07-B4E9-4FEB-BC07-B9713C186F28}" type="slidenum">
              <a:rPr lang="en-US" smtClean="0">
                <a:solidFill>
                  <a:schemeClr val="tx1"/>
                </a:solidFill>
              </a:rPr>
              <a:pPr/>
              <a:t>70</a:t>
            </a:fld>
            <a:endParaRPr lang="en-US" dirty="0">
              <a:solidFill>
                <a:schemeClr val="tx1"/>
              </a:solidFill>
            </a:endParaRPr>
          </a:p>
        </p:txBody>
      </p:sp>
      <p:pic>
        <p:nvPicPr>
          <p:cNvPr id="8" name="Picture 7">
            <a:extLst>
              <a:ext uri="{FF2B5EF4-FFF2-40B4-BE49-F238E27FC236}">
                <a16:creationId xmlns:a16="http://schemas.microsoft.com/office/drawing/2014/main" id="{3DB28D46-8D06-1C05-EE48-13347A8FB51D}"/>
              </a:ext>
            </a:extLst>
          </p:cNvPr>
          <p:cNvPicPr>
            <a:picLocks noChangeAspect="1"/>
          </p:cNvPicPr>
          <p:nvPr/>
        </p:nvPicPr>
        <p:blipFill>
          <a:blip r:embed="rId2"/>
          <a:stretch>
            <a:fillRect/>
          </a:stretch>
        </p:blipFill>
        <p:spPr>
          <a:xfrm>
            <a:off x="762000" y="1676399"/>
            <a:ext cx="7467600" cy="4411607"/>
          </a:xfrm>
          <a:prstGeom prst="rect">
            <a:avLst/>
          </a:prstGeom>
        </p:spPr>
      </p:pic>
    </p:spTree>
    <p:extLst>
      <p:ext uri="{BB962C8B-B14F-4D97-AF65-F5344CB8AC3E}">
        <p14:creationId xmlns:p14="http://schemas.microsoft.com/office/powerpoint/2010/main" val="67279679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sz="1800" b="0" i="0" u="none" strike="noStrike" baseline="0" dirty="0">
                <a:solidFill>
                  <a:srgbClr val="000000"/>
                </a:solidFill>
                <a:latin typeface="Verdana" panose="020B0604030504040204" pitchFamily="34" charset="0"/>
              </a:rPr>
            </a:br>
            <a:r>
              <a:rPr lang="en-US" sz="2700" b="1" i="0" u="none" strike="noStrike" baseline="0" dirty="0">
                <a:solidFill>
                  <a:srgbClr val="000000"/>
                </a:solidFill>
              </a:rPr>
              <a:t>Master Theorem </a:t>
            </a:r>
            <a:br>
              <a:rPr lang="en-US" sz="1800" b="0" i="0" u="none" strike="noStrike" baseline="0" dirty="0">
                <a:solidFill>
                  <a:srgbClr val="000000"/>
                </a:solidFill>
                <a:latin typeface="Verdana" panose="020B0604030504040204" pitchFamily="34" charset="0"/>
              </a:rPr>
            </a:br>
            <a:endParaRPr lang="en-US" sz="2800" dirty="0">
              <a:solidFill>
                <a:schemeClr val="tx1"/>
              </a:solidFill>
              <a:effectLst/>
              <a:latin typeface="+mj-lt"/>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schemeClr val="tx1"/>
                </a:solidFill>
              </a:rPr>
              <a:pPr/>
              <a:t>March 13, 2024</a:t>
            </a:fld>
            <a:endParaRPr lang="en-US">
              <a:solidFill>
                <a:schemeClr val="tx1"/>
              </a:solidFill>
            </a:endParaRPr>
          </a:p>
        </p:txBody>
      </p:sp>
      <p:sp>
        <p:nvSpPr>
          <p:cNvPr id="5" name="Footer Placeholder 4"/>
          <p:cNvSpPr>
            <a:spLocks noGrp="1"/>
          </p:cNvSpPr>
          <p:nvPr>
            <p:ph type="ftr" sz="quarter" idx="11"/>
          </p:nvPr>
        </p:nvSpPr>
        <p:spPr/>
        <p:txBody>
          <a:bodyPr/>
          <a:lstStyle/>
          <a:p>
            <a:r>
              <a:rPr lang="en-US" dirty="0">
                <a:solidFill>
                  <a:schemeClr val="tx1"/>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schemeClr val="tx1"/>
                </a:solidFill>
              </a:rPr>
              <a:pPr/>
              <a:t>71</a:t>
            </a:fld>
            <a:endParaRPr lang="en-US" dirty="0">
              <a:solidFill>
                <a:schemeClr val="tx1"/>
              </a:solidFill>
            </a:endParaRPr>
          </a:p>
        </p:txBody>
      </p:sp>
      <p:sp>
        <p:nvSpPr>
          <p:cNvPr id="10" name="TextBox 9">
            <a:extLst>
              <a:ext uri="{FF2B5EF4-FFF2-40B4-BE49-F238E27FC236}">
                <a16:creationId xmlns:a16="http://schemas.microsoft.com/office/drawing/2014/main" id="{2B9051B4-D7A3-A674-D898-AA69754B208F}"/>
              </a:ext>
            </a:extLst>
          </p:cNvPr>
          <p:cNvSpPr txBox="1"/>
          <p:nvPr/>
        </p:nvSpPr>
        <p:spPr>
          <a:xfrm>
            <a:off x="528638" y="1447800"/>
            <a:ext cx="7848599" cy="1200329"/>
          </a:xfrm>
          <a:prstGeom prst="rect">
            <a:avLst/>
          </a:prstGeom>
          <a:noFill/>
        </p:spPr>
        <p:txBody>
          <a:bodyPr wrap="square">
            <a:spAutoFit/>
          </a:bodyPr>
          <a:lstStyle/>
          <a:p>
            <a:pPr algn="just"/>
            <a:r>
              <a:rPr lang="en-US" sz="1800" b="0" i="0" u="none" strike="noStrike" baseline="0" dirty="0">
                <a:solidFill>
                  <a:srgbClr val="000000"/>
                </a:solidFill>
                <a:latin typeface="+mj-lt"/>
              </a:rPr>
              <a:t>It is the method for solving divide-and-conquer recurrence equations does not require explicit use Mathematical induction. Method for determining the asymptotic characterization of a wide variety of recurrence equations. It is used for recurrence equations of the form: </a:t>
            </a:r>
          </a:p>
        </p:txBody>
      </p:sp>
      <p:pic>
        <p:nvPicPr>
          <p:cNvPr id="7" name="Picture 6">
            <a:extLst>
              <a:ext uri="{FF2B5EF4-FFF2-40B4-BE49-F238E27FC236}">
                <a16:creationId xmlns:a16="http://schemas.microsoft.com/office/drawing/2014/main" id="{33BDA4FC-0393-68C5-C4DD-7517EC63F2E9}"/>
              </a:ext>
            </a:extLst>
          </p:cNvPr>
          <p:cNvPicPr>
            <a:picLocks noChangeAspect="1"/>
          </p:cNvPicPr>
          <p:nvPr/>
        </p:nvPicPr>
        <p:blipFill>
          <a:blip r:embed="rId2"/>
          <a:stretch>
            <a:fillRect/>
          </a:stretch>
        </p:blipFill>
        <p:spPr>
          <a:xfrm>
            <a:off x="528638" y="2876729"/>
            <a:ext cx="7641125" cy="1285592"/>
          </a:xfrm>
          <a:prstGeom prst="rect">
            <a:avLst/>
          </a:prstGeom>
        </p:spPr>
      </p:pic>
      <p:pic>
        <p:nvPicPr>
          <p:cNvPr id="9" name="Picture 8">
            <a:extLst>
              <a:ext uri="{FF2B5EF4-FFF2-40B4-BE49-F238E27FC236}">
                <a16:creationId xmlns:a16="http://schemas.microsoft.com/office/drawing/2014/main" id="{2D0E4783-F885-6B0F-26E4-D79C94F78259}"/>
              </a:ext>
            </a:extLst>
          </p:cNvPr>
          <p:cNvPicPr>
            <a:picLocks noChangeAspect="1"/>
          </p:cNvPicPr>
          <p:nvPr/>
        </p:nvPicPr>
        <p:blipFill>
          <a:blip r:embed="rId3"/>
          <a:stretch>
            <a:fillRect/>
          </a:stretch>
        </p:blipFill>
        <p:spPr>
          <a:xfrm>
            <a:off x="528638" y="4231366"/>
            <a:ext cx="7749766" cy="1720158"/>
          </a:xfrm>
          <a:prstGeom prst="rect">
            <a:avLst/>
          </a:prstGeom>
        </p:spPr>
      </p:pic>
    </p:spTree>
    <p:extLst>
      <p:ext uri="{BB962C8B-B14F-4D97-AF65-F5344CB8AC3E}">
        <p14:creationId xmlns:p14="http://schemas.microsoft.com/office/powerpoint/2010/main" val="314445760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50838"/>
            <a:ext cx="6934200" cy="642937"/>
          </a:xfrm>
        </p:spPr>
        <p:txBody>
          <a:bodyPr>
            <a:normAutofit fontScale="90000"/>
          </a:bodyPr>
          <a:lstStyle/>
          <a:p>
            <a:br>
              <a:rPr lang="en-US" sz="1800" b="0" i="0" u="none" strike="noStrike" baseline="0" dirty="0">
                <a:solidFill>
                  <a:srgbClr val="000000"/>
                </a:solidFill>
                <a:latin typeface="Verdana" panose="020B0604030504040204" pitchFamily="34" charset="0"/>
              </a:rPr>
            </a:br>
            <a:r>
              <a:rPr lang="en-US" sz="2700" b="1" i="0" u="none" strike="noStrike" baseline="0" dirty="0">
                <a:solidFill>
                  <a:srgbClr val="000000"/>
                </a:solidFill>
              </a:rPr>
              <a:t>Master Theorem </a:t>
            </a:r>
            <a:br>
              <a:rPr lang="en-US" sz="1800" b="0" i="0" u="none" strike="noStrike" baseline="0" dirty="0">
                <a:solidFill>
                  <a:srgbClr val="000000"/>
                </a:solidFill>
                <a:latin typeface="Verdana" panose="020B0604030504040204" pitchFamily="34" charset="0"/>
              </a:rPr>
            </a:br>
            <a:endParaRPr lang="en-US" sz="2800" dirty="0">
              <a:solidFill>
                <a:schemeClr val="tx1"/>
              </a:solidFill>
              <a:effectLst/>
              <a:latin typeface="+mj-lt"/>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schemeClr val="tx1"/>
                </a:solidFill>
              </a:rPr>
              <a:pPr/>
              <a:t>March 13, 2024</a:t>
            </a:fld>
            <a:endParaRPr lang="en-US">
              <a:solidFill>
                <a:schemeClr val="tx1"/>
              </a:solidFill>
            </a:endParaRPr>
          </a:p>
        </p:txBody>
      </p:sp>
      <p:sp>
        <p:nvSpPr>
          <p:cNvPr id="5" name="Footer Placeholder 4"/>
          <p:cNvSpPr>
            <a:spLocks noGrp="1"/>
          </p:cNvSpPr>
          <p:nvPr>
            <p:ph type="ftr" sz="quarter" idx="11"/>
          </p:nvPr>
        </p:nvSpPr>
        <p:spPr/>
        <p:txBody>
          <a:bodyPr/>
          <a:lstStyle/>
          <a:p>
            <a:r>
              <a:rPr lang="en-US" dirty="0">
                <a:solidFill>
                  <a:schemeClr val="tx1"/>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schemeClr val="tx1"/>
                </a:solidFill>
              </a:rPr>
              <a:pPr/>
              <a:t>72</a:t>
            </a:fld>
            <a:endParaRPr lang="en-US" dirty="0">
              <a:solidFill>
                <a:schemeClr val="tx1"/>
              </a:solidFill>
            </a:endParaRPr>
          </a:p>
        </p:txBody>
      </p:sp>
      <p:pic>
        <p:nvPicPr>
          <p:cNvPr id="12" name="Picture 11">
            <a:extLst>
              <a:ext uri="{FF2B5EF4-FFF2-40B4-BE49-F238E27FC236}">
                <a16:creationId xmlns:a16="http://schemas.microsoft.com/office/drawing/2014/main" id="{A8AD2496-9630-2EEC-0DDD-DABA1B386A18}"/>
              </a:ext>
            </a:extLst>
          </p:cNvPr>
          <p:cNvPicPr>
            <a:picLocks noChangeAspect="1"/>
          </p:cNvPicPr>
          <p:nvPr/>
        </p:nvPicPr>
        <p:blipFill>
          <a:blip r:embed="rId2"/>
          <a:stretch>
            <a:fillRect/>
          </a:stretch>
        </p:blipFill>
        <p:spPr>
          <a:xfrm>
            <a:off x="990600" y="1619250"/>
            <a:ext cx="6934200" cy="4095750"/>
          </a:xfrm>
          <a:prstGeom prst="rect">
            <a:avLst/>
          </a:prstGeom>
        </p:spPr>
      </p:pic>
    </p:spTree>
    <p:extLst>
      <p:ext uri="{BB962C8B-B14F-4D97-AF65-F5344CB8AC3E}">
        <p14:creationId xmlns:p14="http://schemas.microsoft.com/office/powerpoint/2010/main" val="102536361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50838"/>
            <a:ext cx="6934200" cy="411162"/>
          </a:xfrm>
        </p:spPr>
        <p:txBody>
          <a:bodyPr>
            <a:normAutofit fontScale="90000"/>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lang="en-US" sz="1800" b="0" i="0" u="none" strike="noStrike" baseline="0" dirty="0">
                <a:solidFill>
                  <a:srgbClr val="000000"/>
                </a:solidFill>
                <a:latin typeface="Verdana" panose="020B0604030504040204" pitchFamily="34" charset="0"/>
              </a:rPr>
            </a:br>
            <a:br>
              <a:rPr lang="en-US" sz="1800" b="0" i="0" u="none" strike="noStrike" baseline="0" dirty="0">
                <a:solidFill>
                  <a:srgbClr val="000000"/>
                </a:solidFill>
                <a:latin typeface="Verdana" panose="020B0604030504040204" pitchFamily="34" charset="0"/>
              </a:rPr>
            </a:br>
            <a:br>
              <a:rPr lang="en-US" sz="1800" b="0" i="0" u="none" strike="noStrike" baseline="0" dirty="0">
                <a:solidFill>
                  <a:srgbClr val="000000"/>
                </a:solidFill>
                <a:latin typeface="Verdana" panose="020B0604030504040204" pitchFamily="34" charset="0"/>
              </a:rPr>
            </a:br>
            <a:r>
              <a:rPr kumimoji="0" lang="en-IN" sz="2000" b="1" i="0" u="none" strike="noStrike" kern="100" cap="none" spc="0" normalizeH="0" baseline="0" noProof="0" dirty="0" err="1">
                <a:ln>
                  <a:noFill/>
                </a:ln>
                <a:solidFill>
                  <a:prstClr val="black"/>
                </a:solidFill>
                <a:effectLst/>
                <a:uLnTx/>
                <a:uFillTx/>
                <a:latin typeface="Times New Roman" panose="02020603050405020304" pitchFamily="18" charset="0"/>
                <a:ea typeface="Aptos" panose="020B0004020202020204" pitchFamily="34" charset="0"/>
                <a:cs typeface="Times New Roman" panose="02020603050405020304" pitchFamily="18" charset="0"/>
              </a:rPr>
              <a:t>Apriori</a:t>
            </a:r>
            <a:r>
              <a:rPr kumimoji="0" lang="en-IN" sz="2000" b="1" i="0" u="none" strike="noStrike" kern="100" cap="none" spc="0" normalizeH="0" baseline="0" noProof="0" dirty="0">
                <a:ln>
                  <a:noFill/>
                </a:ln>
                <a:solidFill>
                  <a:prstClr val="black"/>
                </a:solidFill>
                <a:effectLst/>
                <a:uLnTx/>
                <a:uFillTx/>
                <a:latin typeface="Times New Roman" panose="02020603050405020304" pitchFamily="18" charset="0"/>
                <a:ea typeface="Aptos" panose="020B0004020202020204" pitchFamily="34" charset="0"/>
                <a:cs typeface="Times New Roman" panose="02020603050405020304" pitchFamily="18" charset="0"/>
              </a:rPr>
              <a:t> and </a:t>
            </a:r>
            <a:r>
              <a:rPr kumimoji="0" lang="en-IN" sz="2000" b="1" i="0" u="none" strike="noStrike" kern="100" cap="none" spc="0" normalizeH="0" baseline="0" noProof="0" dirty="0" err="1">
                <a:ln>
                  <a:noFill/>
                </a:ln>
                <a:solidFill>
                  <a:prstClr val="black"/>
                </a:solidFill>
                <a:effectLst/>
                <a:uLnTx/>
                <a:uFillTx/>
                <a:latin typeface="Times New Roman" panose="02020603050405020304" pitchFamily="18" charset="0"/>
                <a:ea typeface="Aptos" panose="020B0004020202020204" pitchFamily="34" charset="0"/>
                <a:cs typeface="Times New Roman" panose="02020603050405020304" pitchFamily="18" charset="0"/>
              </a:rPr>
              <a:t>Apostiari</a:t>
            </a:r>
            <a:r>
              <a:rPr kumimoji="0" lang="en-IN" sz="2000" b="1" i="0" u="none" strike="noStrike" kern="100" cap="none" spc="0" normalizeH="0" baseline="0" noProof="0" dirty="0">
                <a:ln>
                  <a:noFill/>
                </a:ln>
                <a:solidFill>
                  <a:prstClr val="black"/>
                </a:solidFill>
                <a:effectLst/>
                <a:uLnTx/>
                <a:uFillTx/>
                <a:latin typeface="Times New Roman" panose="02020603050405020304" pitchFamily="18" charset="0"/>
                <a:ea typeface="Aptos" panose="020B0004020202020204" pitchFamily="34" charset="0"/>
                <a:cs typeface="Times New Roman" panose="02020603050405020304" pitchFamily="18" charset="0"/>
              </a:rPr>
              <a:t> Analysis</a:t>
            </a:r>
            <a:br>
              <a:rPr kumimoji="0" lang="en-IN" sz="14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br>
            <a:br>
              <a:rPr lang="en-US" sz="1800" b="0" i="0" u="none" strike="noStrike" baseline="0" dirty="0">
                <a:solidFill>
                  <a:srgbClr val="000000"/>
                </a:solidFill>
                <a:latin typeface="Verdana" panose="020B0604030504040204" pitchFamily="34" charset="0"/>
              </a:rPr>
            </a:br>
            <a:endParaRPr lang="en-US" sz="2800" dirty="0">
              <a:solidFill>
                <a:schemeClr val="tx1"/>
              </a:solidFill>
              <a:effectLst/>
              <a:latin typeface="+mj-lt"/>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schemeClr val="tx1"/>
                </a:solidFill>
              </a:rPr>
              <a:pPr/>
              <a:t>March 13, 2024</a:t>
            </a:fld>
            <a:endParaRPr lang="en-US">
              <a:solidFill>
                <a:schemeClr val="tx1"/>
              </a:solidFill>
            </a:endParaRPr>
          </a:p>
        </p:txBody>
      </p:sp>
      <p:sp>
        <p:nvSpPr>
          <p:cNvPr id="5" name="Footer Placeholder 4"/>
          <p:cNvSpPr>
            <a:spLocks noGrp="1"/>
          </p:cNvSpPr>
          <p:nvPr>
            <p:ph type="ftr" sz="quarter" idx="11"/>
          </p:nvPr>
        </p:nvSpPr>
        <p:spPr/>
        <p:txBody>
          <a:bodyPr/>
          <a:lstStyle/>
          <a:p>
            <a:r>
              <a:rPr lang="en-US" dirty="0">
                <a:solidFill>
                  <a:schemeClr val="tx1"/>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schemeClr val="tx1"/>
                </a:solidFill>
              </a:rPr>
              <a:pPr/>
              <a:t>73</a:t>
            </a:fld>
            <a:endParaRPr lang="en-US" dirty="0">
              <a:solidFill>
                <a:schemeClr val="tx1"/>
              </a:solidFill>
            </a:endParaRPr>
          </a:p>
        </p:txBody>
      </p:sp>
      <p:sp>
        <p:nvSpPr>
          <p:cNvPr id="7" name="TextBox 6">
            <a:extLst>
              <a:ext uri="{FF2B5EF4-FFF2-40B4-BE49-F238E27FC236}">
                <a16:creationId xmlns:a16="http://schemas.microsoft.com/office/drawing/2014/main" id="{94041DC5-CB06-18D7-6A80-3040A807A0C6}"/>
              </a:ext>
            </a:extLst>
          </p:cNvPr>
          <p:cNvSpPr txBox="1"/>
          <p:nvPr/>
        </p:nvSpPr>
        <p:spPr>
          <a:xfrm>
            <a:off x="914400" y="1550180"/>
            <a:ext cx="7467600" cy="2862322"/>
          </a:xfrm>
          <a:prstGeom prst="rect">
            <a:avLst/>
          </a:prstGeom>
          <a:noFill/>
        </p:spPr>
        <p:txBody>
          <a:bodyPr wrap="square">
            <a:spAutoFit/>
          </a:bodyPr>
          <a:lstStyle/>
          <a:p>
            <a:pPr algn="just"/>
            <a:r>
              <a:rPr lang="en-IN"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IN" sz="1800" kern="100" dirty="0" err="1">
                <a:effectLst/>
                <a:latin typeface="Times New Roman" panose="02020603050405020304" pitchFamily="18" charset="0"/>
                <a:ea typeface="Aptos" panose="020B0004020202020204" pitchFamily="34" charset="0"/>
                <a:cs typeface="Times New Roman" panose="02020603050405020304" pitchFamily="18" charset="0"/>
              </a:rPr>
              <a:t>Apriori</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analysis means, analysis is performed prior to running it on a specific system. This analysis is a stage where a function is defined using some theoretical model. Hence, we determine the time and space complexity of an algorithm by just looking at the algorithm rather than running it on a particular system with a different memory, processor, and compiler.</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pPr algn="just"/>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pPr algn="just"/>
            <a:r>
              <a:rPr lang="en-IN" sz="1800" kern="100" dirty="0" err="1">
                <a:effectLst/>
                <a:latin typeface="Times New Roman" panose="02020603050405020304" pitchFamily="18" charset="0"/>
                <a:ea typeface="Aptos" panose="020B0004020202020204" pitchFamily="34" charset="0"/>
                <a:cs typeface="Times New Roman" panose="02020603050405020304" pitchFamily="18" charset="0"/>
              </a:rPr>
              <a:t>Apostiari</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analysis of an algorithm means we perform analysis of an algorithm only after running it on a system. It directly depends on the system and changes from system to system.</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pPr algn="just"/>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8662065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50838"/>
            <a:ext cx="6934200" cy="411162"/>
          </a:xfrm>
        </p:spPr>
        <p:txBody>
          <a:bodyPr>
            <a:normAutofit fontScale="90000"/>
          </a:bodyPr>
          <a:lstStyle/>
          <a:p>
            <a:pPr algn="l">
              <a:spcBef>
                <a:spcPts val="0"/>
              </a:spcBef>
              <a:defRPr/>
            </a:pPr>
            <a:br>
              <a:rPr lang="en-US" sz="1800" b="0" i="0" u="none" strike="noStrike" baseline="0" dirty="0">
                <a:solidFill>
                  <a:srgbClr val="000000"/>
                </a:solidFill>
                <a:latin typeface="Verdana" panose="020B0604030504040204" pitchFamily="34" charset="0"/>
              </a:rPr>
            </a:br>
            <a:br>
              <a:rPr lang="en-US" sz="1800" b="0" i="0" u="none" strike="noStrike" baseline="0" dirty="0">
                <a:solidFill>
                  <a:srgbClr val="000000"/>
                </a:solidFill>
                <a:latin typeface="Verdana" panose="020B0604030504040204" pitchFamily="34" charset="0"/>
              </a:rPr>
            </a:br>
            <a:br>
              <a:rPr lang="en-US" sz="1800" b="0" i="0" u="none" strike="noStrike" baseline="0" dirty="0">
                <a:solidFill>
                  <a:srgbClr val="000000"/>
                </a:solidFill>
                <a:latin typeface="Verdana" panose="020B0604030504040204" pitchFamily="34" charset="0"/>
              </a:rPr>
            </a:br>
            <a:r>
              <a:rPr lang="en-IN" sz="1800" b="1" kern="100" dirty="0">
                <a:effectLst/>
                <a:latin typeface="Times New Roman" panose="02020603050405020304" pitchFamily="18" charset="0"/>
                <a:ea typeface="Aptos" panose="020B0004020202020204" pitchFamily="34" charset="0"/>
                <a:cs typeface="Times New Roman" panose="02020603050405020304" pitchFamily="18" charset="0"/>
              </a:rPr>
              <a:t>Empirical Analysis </a:t>
            </a:r>
            <a:br>
              <a:rPr lang="en-IN" sz="1800" kern="100" dirty="0">
                <a:effectLst/>
                <a:latin typeface="Aptos" panose="020B0004020202020204" pitchFamily="34" charset="0"/>
                <a:ea typeface="Aptos" panose="020B0004020202020204" pitchFamily="34" charset="0"/>
                <a:cs typeface="Times New Roman" panose="02020603050405020304" pitchFamily="18" charset="0"/>
              </a:rPr>
            </a:br>
            <a:br>
              <a:rPr kumimoji="0" lang="en-IN" sz="14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br>
            <a:br>
              <a:rPr lang="en-US" sz="1800" b="0" i="0" u="none" strike="noStrike" baseline="0" dirty="0">
                <a:solidFill>
                  <a:srgbClr val="000000"/>
                </a:solidFill>
                <a:latin typeface="Verdana" panose="020B0604030504040204" pitchFamily="34" charset="0"/>
              </a:rPr>
            </a:br>
            <a:endParaRPr lang="en-US" sz="2800" dirty="0">
              <a:solidFill>
                <a:schemeClr val="tx1"/>
              </a:solidFill>
              <a:effectLst/>
              <a:latin typeface="+mj-lt"/>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schemeClr val="tx1"/>
                </a:solidFill>
              </a:rPr>
              <a:pPr/>
              <a:t>March 13, 2024</a:t>
            </a:fld>
            <a:endParaRPr lang="en-US">
              <a:solidFill>
                <a:schemeClr val="tx1"/>
              </a:solidFill>
            </a:endParaRPr>
          </a:p>
        </p:txBody>
      </p:sp>
      <p:sp>
        <p:nvSpPr>
          <p:cNvPr id="5" name="Footer Placeholder 4"/>
          <p:cNvSpPr>
            <a:spLocks noGrp="1"/>
          </p:cNvSpPr>
          <p:nvPr>
            <p:ph type="ftr" sz="quarter" idx="11"/>
          </p:nvPr>
        </p:nvSpPr>
        <p:spPr/>
        <p:txBody>
          <a:bodyPr/>
          <a:lstStyle/>
          <a:p>
            <a:r>
              <a:rPr lang="en-US" dirty="0">
                <a:solidFill>
                  <a:schemeClr val="tx1"/>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schemeClr val="tx1"/>
                </a:solidFill>
              </a:rPr>
              <a:pPr/>
              <a:t>74</a:t>
            </a:fld>
            <a:endParaRPr lang="en-US" dirty="0">
              <a:solidFill>
                <a:schemeClr val="tx1"/>
              </a:solidFill>
            </a:endParaRPr>
          </a:p>
        </p:txBody>
      </p:sp>
      <p:sp>
        <p:nvSpPr>
          <p:cNvPr id="7" name="TextBox 6">
            <a:extLst>
              <a:ext uri="{FF2B5EF4-FFF2-40B4-BE49-F238E27FC236}">
                <a16:creationId xmlns:a16="http://schemas.microsoft.com/office/drawing/2014/main" id="{94041DC5-CB06-18D7-6A80-3040A807A0C6}"/>
              </a:ext>
            </a:extLst>
          </p:cNvPr>
          <p:cNvSpPr txBox="1"/>
          <p:nvPr/>
        </p:nvSpPr>
        <p:spPr>
          <a:xfrm>
            <a:off x="914400" y="1550180"/>
            <a:ext cx="7467600" cy="369332"/>
          </a:xfrm>
          <a:prstGeom prst="rect">
            <a:avLst/>
          </a:prstGeom>
          <a:noFill/>
        </p:spPr>
        <p:txBody>
          <a:bodyPr wrap="square">
            <a:spAutoFit/>
          </a:bodyPr>
          <a:lstStyle/>
          <a:p>
            <a:pPr algn="just"/>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7A710607-F83A-C72F-63AD-3508BBECC973}"/>
              </a:ext>
            </a:extLst>
          </p:cNvPr>
          <p:cNvSpPr txBox="1"/>
          <p:nvPr/>
        </p:nvSpPr>
        <p:spPr>
          <a:xfrm>
            <a:off x="762000" y="1447800"/>
            <a:ext cx="7772400" cy="3354765"/>
          </a:xfrm>
          <a:prstGeom prst="rect">
            <a:avLst/>
          </a:prstGeom>
          <a:noFill/>
        </p:spPr>
        <p:txBody>
          <a:bodyPr wrap="square">
            <a:spAutoFit/>
          </a:bodyPr>
          <a:lstStyle/>
          <a:p>
            <a:r>
              <a:rPr lang="en-IN" sz="1800" kern="0" dirty="0">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Empirical analysis is a crucial technique used to complement theoretical analysis by evaluating the actual performance of algorithms using real-world data and experimentation. It provides insights into how algorithms behave in practical scenarios, accounting for factors not always considered in theoretical models.</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0" dirty="0">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800" b="1" kern="0" dirty="0">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1. Validating Theoretical Analysis: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b="1" kern="0" dirty="0">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r>
              <a:rPr lang="en-IN" sz="1800" kern="0" dirty="0">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Theoretical analysis, using tools like Big O notation, predicts an algorithm's complexity (e.g., time and space complexity) based on its operations. Empirical analysis allows you to test these predictions with real-world data. By running the algorithm on various data sets of different sizes and types, you can see if the predicted complexity holds true in practice.</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42652096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50838"/>
            <a:ext cx="6934200" cy="411162"/>
          </a:xfrm>
        </p:spPr>
        <p:txBody>
          <a:bodyPr>
            <a:normAutofit fontScale="90000"/>
          </a:bodyPr>
          <a:lstStyle/>
          <a:p>
            <a:pPr algn="l">
              <a:spcBef>
                <a:spcPts val="0"/>
              </a:spcBef>
              <a:defRPr/>
            </a:pPr>
            <a:br>
              <a:rPr lang="en-US" sz="1800" b="0" i="0" u="none" strike="noStrike" baseline="0" dirty="0">
                <a:solidFill>
                  <a:srgbClr val="000000"/>
                </a:solidFill>
                <a:latin typeface="Verdana" panose="020B0604030504040204" pitchFamily="34" charset="0"/>
              </a:rPr>
            </a:br>
            <a:br>
              <a:rPr lang="en-US" sz="1800" b="0" i="0" u="none" strike="noStrike" baseline="0" dirty="0">
                <a:solidFill>
                  <a:srgbClr val="000000"/>
                </a:solidFill>
                <a:latin typeface="Verdana" panose="020B0604030504040204" pitchFamily="34" charset="0"/>
              </a:rPr>
            </a:br>
            <a:br>
              <a:rPr lang="en-US" sz="1800" b="0" i="0" u="none" strike="noStrike" baseline="0" dirty="0">
                <a:solidFill>
                  <a:srgbClr val="000000"/>
                </a:solidFill>
                <a:latin typeface="Verdana" panose="020B0604030504040204" pitchFamily="34" charset="0"/>
              </a:rPr>
            </a:br>
            <a:r>
              <a:rPr lang="en-IN" sz="1800" b="1" kern="100" dirty="0">
                <a:effectLst/>
                <a:latin typeface="Times New Roman" panose="02020603050405020304" pitchFamily="18" charset="0"/>
                <a:ea typeface="Aptos" panose="020B0004020202020204" pitchFamily="34" charset="0"/>
                <a:cs typeface="Times New Roman" panose="02020603050405020304" pitchFamily="18" charset="0"/>
              </a:rPr>
              <a:t>Empirical Analysis </a:t>
            </a:r>
            <a:br>
              <a:rPr lang="en-IN" sz="1800" kern="100" dirty="0">
                <a:effectLst/>
                <a:latin typeface="Aptos" panose="020B0004020202020204" pitchFamily="34" charset="0"/>
                <a:ea typeface="Aptos" panose="020B0004020202020204" pitchFamily="34" charset="0"/>
                <a:cs typeface="Times New Roman" panose="02020603050405020304" pitchFamily="18" charset="0"/>
              </a:rPr>
            </a:br>
            <a:br>
              <a:rPr kumimoji="0" lang="en-IN" sz="14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br>
            <a:br>
              <a:rPr lang="en-US" sz="1800" b="0" i="0" u="none" strike="noStrike" baseline="0" dirty="0">
                <a:solidFill>
                  <a:srgbClr val="000000"/>
                </a:solidFill>
                <a:latin typeface="Verdana" panose="020B0604030504040204" pitchFamily="34" charset="0"/>
              </a:rPr>
            </a:br>
            <a:endParaRPr lang="en-US" sz="2800" dirty="0">
              <a:solidFill>
                <a:schemeClr val="tx1"/>
              </a:solidFill>
              <a:effectLst/>
              <a:latin typeface="+mj-lt"/>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schemeClr val="tx1"/>
                </a:solidFill>
              </a:rPr>
              <a:pPr/>
              <a:t>March 13, 2024</a:t>
            </a:fld>
            <a:endParaRPr lang="en-US">
              <a:solidFill>
                <a:schemeClr val="tx1"/>
              </a:solidFill>
            </a:endParaRPr>
          </a:p>
        </p:txBody>
      </p:sp>
      <p:sp>
        <p:nvSpPr>
          <p:cNvPr id="5" name="Footer Placeholder 4"/>
          <p:cNvSpPr>
            <a:spLocks noGrp="1"/>
          </p:cNvSpPr>
          <p:nvPr>
            <p:ph type="ftr" sz="quarter" idx="11"/>
          </p:nvPr>
        </p:nvSpPr>
        <p:spPr/>
        <p:txBody>
          <a:bodyPr/>
          <a:lstStyle/>
          <a:p>
            <a:r>
              <a:rPr lang="en-US" dirty="0">
                <a:solidFill>
                  <a:schemeClr val="tx1"/>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schemeClr val="tx1"/>
                </a:solidFill>
              </a:rPr>
              <a:pPr/>
              <a:t>75</a:t>
            </a:fld>
            <a:endParaRPr lang="en-US" dirty="0">
              <a:solidFill>
                <a:schemeClr val="tx1"/>
              </a:solidFill>
            </a:endParaRPr>
          </a:p>
        </p:txBody>
      </p:sp>
      <p:sp>
        <p:nvSpPr>
          <p:cNvPr id="7" name="TextBox 6">
            <a:extLst>
              <a:ext uri="{FF2B5EF4-FFF2-40B4-BE49-F238E27FC236}">
                <a16:creationId xmlns:a16="http://schemas.microsoft.com/office/drawing/2014/main" id="{94041DC5-CB06-18D7-6A80-3040A807A0C6}"/>
              </a:ext>
            </a:extLst>
          </p:cNvPr>
          <p:cNvSpPr txBox="1"/>
          <p:nvPr/>
        </p:nvSpPr>
        <p:spPr>
          <a:xfrm>
            <a:off x="914400" y="1550180"/>
            <a:ext cx="7467600" cy="369332"/>
          </a:xfrm>
          <a:prstGeom prst="rect">
            <a:avLst/>
          </a:prstGeom>
          <a:noFill/>
        </p:spPr>
        <p:txBody>
          <a:bodyPr wrap="square">
            <a:spAutoFit/>
          </a:bodyPr>
          <a:lstStyle/>
          <a:p>
            <a:pPr algn="just"/>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7A710607-F83A-C72F-63AD-3508BBECC973}"/>
              </a:ext>
            </a:extLst>
          </p:cNvPr>
          <p:cNvSpPr txBox="1"/>
          <p:nvPr/>
        </p:nvSpPr>
        <p:spPr>
          <a:xfrm>
            <a:off x="609600" y="1295400"/>
            <a:ext cx="7772400" cy="4801314"/>
          </a:xfrm>
          <a:prstGeom prst="rect">
            <a:avLst/>
          </a:prstGeom>
          <a:noFill/>
        </p:spPr>
        <p:txBody>
          <a:bodyPr wrap="square">
            <a:spAutoFit/>
          </a:bodyPr>
          <a:lstStyle/>
          <a:p>
            <a:r>
              <a:rPr lang="en-IN" sz="1800" b="1" kern="0" dirty="0">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Comparing Algorithms:  </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r>
              <a:rPr lang="en-IN" sz="1800" kern="0" dirty="0">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Often, multiple algorithms can solve the same problem with different theoretical complexities. Empirical analysis lets you compare the actual performance of these algorithms by running them on the same data sets and measuring their execution times and resource usage (e.g., memory). This helps you choose the most efficient algorithm for your specific needs and data characteristics.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0" dirty="0">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b="1" kern="0" dirty="0">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3. Identifying Practical Limitations: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b="1" kern="0" dirty="0">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800" kern="0" dirty="0">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Theoretical analysis typically focuses on idealized scenarios and may not capture all real-world factors that affect performance. Empirical analysis helps you uncover these limitations. It can reveal how factors like:</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buFont typeface="Symbol" panose="05050102010706020507" pitchFamily="18" charset="2"/>
              <a:buChar char=""/>
            </a:pPr>
            <a:r>
              <a:rPr lang="en-IN" sz="1800" kern="0" dirty="0">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Hardware architecture: Different CPU architectures or cache sizes can impact performance.</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buFont typeface="Symbol" panose="05050102010706020507" pitchFamily="18" charset="2"/>
              <a:buChar char=""/>
            </a:pPr>
            <a:r>
              <a:rPr lang="en-IN" sz="1800" kern="0" dirty="0">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Coding implementation: Different coding styles or libraries might have varying efficiency.</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buFont typeface="Symbol" panose="05050102010706020507" pitchFamily="18" charset="2"/>
              <a:buChar char=""/>
            </a:pPr>
            <a:r>
              <a:rPr lang="en-IN" sz="1800" kern="0" dirty="0">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Data distribution: The algorithm's performance might depend on the specific distribution of the input data (e.g., sorted vs. random).</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30633014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50838"/>
            <a:ext cx="6934200" cy="411162"/>
          </a:xfrm>
        </p:spPr>
        <p:txBody>
          <a:bodyPr>
            <a:normAutofit fontScale="90000"/>
          </a:bodyPr>
          <a:lstStyle/>
          <a:p>
            <a:pPr algn="l">
              <a:spcBef>
                <a:spcPts val="0"/>
              </a:spcBef>
              <a:defRPr/>
            </a:pPr>
            <a:br>
              <a:rPr lang="en-US" sz="1800" b="0" i="0" u="none" strike="noStrike" baseline="0" dirty="0">
                <a:solidFill>
                  <a:srgbClr val="000000"/>
                </a:solidFill>
                <a:latin typeface="Verdana" panose="020B0604030504040204" pitchFamily="34" charset="0"/>
              </a:rPr>
            </a:br>
            <a:br>
              <a:rPr lang="en-US" sz="1800" b="0" i="0" u="none" strike="noStrike" baseline="0" dirty="0">
                <a:solidFill>
                  <a:srgbClr val="000000"/>
                </a:solidFill>
                <a:latin typeface="Verdana" panose="020B0604030504040204" pitchFamily="34" charset="0"/>
              </a:rPr>
            </a:br>
            <a:br>
              <a:rPr lang="en-US" sz="1800" b="0" i="0" u="none" strike="noStrike" baseline="0" dirty="0">
                <a:solidFill>
                  <a:srgbClr val="000000"/>
                </a:solidFill>
                <a:latin typeface="Verdana" panose="020B0604030504040204" pitchFamily="34" charset="0"/>
              </a:rPr>
            </a:br>
            <a:br>
              <a:rPr lang="en-US" sz="1800" b="0" i="0" u="none" strike="noStrike" baseline="0" dirty="0">
                <a:solidFill>
                  <a:srgbClr val="000000"/>
                </a:solidFill>
                <a:latin typeface="Verdana" panose="020B0604030504040204" pitchFamily="34" charset="0"/>
              </a:rPr>
            </a:br>
            <a:r>
              <a:rPr lang="en-IN" sz="1800" b="1" kern="100" dirty="0">
                <a:effectLst/>
                <a:latin typeface="Times New Roman" panose="02020603050405020304" pitchFamily="18" charset="0"/>
                <a:ea typeface="Aptos" panose="020B0004020202020204" pitchFamily="34" charset="0"/>
                <a:cs typeface="Times New Roman" panose="02020603050405020304" pitchFamily="18" charset="0"/>
              </a:rPr>
              <a:t>Probabilistic Analysis </a:t>
            </a:r>
            <a:br>
              <a:rPr lang="en-IN" sz="1800" kern="100" dirty="0">
                <a:effectLst/>
                <a:latin typeface="Aptos" panose="020B0004020202020204" pitchFamily="34" charset="0"/>
                <a:ea typeface="Aptos" panose="020B0004020202020204" pitchFamily="34" charset="0"/>
                <a:cs typeface="Times New Roman" panose="02020603050405020304" pitchFamily="18" charset="0"/>
              </a:rPr>
            </a:br>
            <a:br>
              <a:rPr lang="en-IN" sz="1800" kern="100" dirty="0">
                <a:effectLst/>
                <a:latin typeface="Aptos" panose="020B0004020202020204" pitchFamily="34" charset="0"/>
                <a:ea typeface="Aptos" panose="020B0004020202020204" pitchFamily="34" charset="0"/>
                <a:cs typeface="Times New Roman" panose="02020603050405020304" pitchFamily="18" charset="0"/>
              </a:rPr>
            </a:br>
            <a:br>
              <a:rPr kumimoji="0" lang="en-IN" sz="14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br>
            <a:br>
              <a:rPr lang="en-US" sz="1800" b="0" i="0" u="none" strike="noStrike" baseline="0" dirty="0">
                <a:solidFill>
                  <a:srgbClr val="000000"/>
                </a:solidFill>
                <a:latin typeface="Verdana" panose="020B0604030504040204" pitchFamily="34" charset="0"/>
              </a:rPr>
            </a:br>
            <a:endParaRPr lang="en-US" sz="2800" dirty="0">
              <a:solidFill>
                <a:schemeClr val="tx1"/>
              </a:solidFill>
              <a:effectLst/>
              <a:latin typeface="+mj-lt"/>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schemeClr val="tx1"/>
                </a:solidFill>
              </a:rPr>
              <a:pPr/>
              <a:t>March 13, 2024</a:t>
            </a:fld>
            <a:endParaRPr lang="en-US">
              <a:solidFill>
                <a:schemeClr val="tx1"/>
              </a:solidFill>
            </a:endParaRPr>
          </a:p>
        </p:txBody>
      </p:sp>
      <p:sp>
        <p:nvSpPr>
          <p:cNvPr id="5" name="Footer Placeholder 4"/>
          <p:cNvSpPr>
            <a:spLocks noGrp="1"/>
          </p:cNvSpPr>
          <p:nvPr>
            <p:ph type="ftr" sz="quarter" idx="11"/>
          </p:nvPr>
        </p:nvSpPr>
        <p:spPr/>
        <p:txBody>
          <a:bodyPr/>
          <a:lstStyle/>
          <a:p>
            <a:r>
              <a:rPr lang="en-US" dirty="0">
                <a:solidFill>
                  <a:schemeClr val="tx1"/>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schemeClr val="tx1"/>
                </a:solidFill>
              </a:rPr>
              <a:pPr/>
              <a:t>76</a:t>
            </a:fld>
            <a:endParaRPr lang="en-US" dirty="0">
              <a:solidFill>
                <a:schemeClr val="tx1"/>
              </a:solidFill>
            </a:endParaRPr>
          </a:p>
        </p:txBody>
      </p:sp>
      <p:sp>
        <p:nvSpPr>
          <p:cNvPr id="7" name="TextBox 6">
            <a:extLst>
              <a:ext uri="{FF2B5EF4-FFF2-40B4-BE49-F238E27FC236}">
                <a16:creationId xmlns:a16="http://schemas.microsoft.com/office/drawing/2014/main" id="{94041DC5-CB06-18D7-6A80-3040A807A0C6}"/>
              </a:ext>
            </a:extLst>
          </p:cNvPr>
          <p:cNvSpPr txBox="1"/>
          <p:nvPr/>
        </p:nvSpPr>
        <p:spPr>
          <a:xfrm>
            <a:off x="914400" y="1550180"/>
            <a:ext cx="7467600" cy="369332"/>
          </a:xfrm>
          <a:prstGeom prst="rect">
            <a:avLst/>
          </a:prstGeom>
          <a:noFill/>
        </p:spPr>
        <p:txBody>
          <a:bodyPr wrap="square">
            <a:spAutoFit/>
          </a:bodyPr>
          <a:lstStyle/>
          <a:p>
            <a:pPr algn="just"/>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7A710607-F83A-C72F-63AD-3508BBECC973}"/>
              </a:ext>
            </a:extLst>
          </p:cNvPr>
          <p:cNvSpPr txBox="1"/>
          <p:nvPr/>
        </p:nvSpPr>
        <p:spPr>
          <a:xfrm>
            <a:off x="609600" y="1295400"/>
            <a:ext cx="7772400" cy="4185761"/>
          </a:xfrm>
          <a:prstGeom prst="rect">
            <a:avLst/>
          </a:prstGeom>
          <a:noFill/>
        </p:spPr>
        <p:txBody>
          <a:bodyPr wrap="square">
            <a:spAutoFit/>
          </a:bodyPr>
          <a:lstStyle/>
          <a:p>
            <a:pPr algn="just"/>
            <a:r>
              <a:rPr lang="en-IN" sz="1800" b="1"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dirty="0">
                <a:effectLst/>
                <a:latin typeface="Times New Roman" panose="02020603050405020304" pitchFamily="18" charset="0"/>
                <a:ea typeface="Aptos" panose="020B0004020202020204" pitchFamily="34" charset="0"/>
              </a:rPr>
              <a:t>Probabilistic analysis is a technique used to analyze the performance of algorithms by considering the probability distribution of the input data. Unlike traditional worst-case or best-case analysis, it provides a more realistic evaluation by accounting for the randomness or uncertainty often present in real-world data. </a:t>
            </a:r>
          </a:p>
          <a:p>
            <a:r>
              <a:rPr lang="en-IN" sz="1800" b="1" kern="100" dirty="0">
                <a:effectLst/>
                <a:latin typeface="Times New Roman" panose="02020603050405020304" pitchFamily="18" charset="0"/>
                <a:ea typeface="Aptos" panose="020B0004020202020204" pitchFamily="34" charset="0"/>
                <a:cs typeface="Times New Roman" panose="02020603050405020304" pitchFamily="18" charset="0"/>
              </a:rPr>
              <a:t>Example: Linear Search</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r>
              <a:rPr lang="en-IN" sz="1800" b="1" kern="100" dirty="0">
                <a:effectLst/>
                <a:latin typeface="Times New Roman" panose="02020603050405020304" pitchFamily="18" charset="0"/>
                <a:ea typeface="Aptos" panose="020B0004020202020204" pitchFamily="34" charset="0"/>
                <a:cs typeface="Times New Roman" panose="02020603050405020304" pitchFamily="18" charset="0"/>
              </a:rPr>
              <a:t>Probabilistic analysis allows us to consider the probability of finding the element at each position</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If we assume all positions are equally likely, the average number of comparisons becomes: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Average comparisons = (1/n) + (2/n) + ... + (n/n)</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 (n + n-1 + ... + 1) / n</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 n (n + 1) / 2n</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 (n + 1) / 2</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41629465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50837"/>
            <a:ext cx="6934200" cy="546925"/>
          </a:xfrm>
        </p:spPr>
        <p:style>
          <a:lnRef idx="3">
            <a:schemeClr val="lt1"/>
          </a:lnRef>
          <a:fillRef idx="1">
            <a:schemeClr val="accent4"/>
          </a:fillRef>
          <a:effectRef idx="1">
            <a:schemeClr val="accent4"/>
          </a:effectRef>
          <a:fontRef idx="minor">
            <a:schemeClr val="lt1"/>
          </a:fontRef>
        </p:style>
        <p:txBody>
          <a:bodyPr>
            <a:normAutofit fontScale="90000"/>
          </a:bodyPr>
          <a:lstStyle/>
          <a:p>
            <a:pPr>
              <a:spcBef>
                <a:spcPts val="0"/>
              </a:spcBef>
              <a:defRPr/>
            </a:pPr>
            <a:br>
              <a:rPr lang="en-US" sz="1800" b="0" i="0" u="none" strike="noStrike" baseline="0" dirty="0">
                <a:solidFill>
                  <a:srgbClr val="000000"/>
                </a:solidFill>
                <a:latin typeface="Verdana" panose="020B0604030504040204" pitchFamily="34" charset="0"/>
              </a:rPr>
            </a:br>
            <a:br>
              <a:rPr lang="en-US" sz="1800" b="0" i="0" u="none" strike="noStrike" baseline="0" dirty="0">
                <a:solidFill>
                  <a:srgbClr val="000000"/>
                </a:solidFill>
                <a:latin typeface="Verdana" panose="020B0604030504040204" pitchFamily="34" charset="0"/>
              </a:rPr>
            </a:br>
            <a:br>
              <a:rPr lang="en-US" sz="1800" b="0" i="0" u="none" strike="noStrike" baseline="0" dirty="0">
                <a:solidFill>
                  <a:srgbClr val="000000"/>
                </a:solidFill>
                <a:latin typeface="Verdana" panose="020B0604030504040204" pitchFamily="34" charset="0"/>
              </a:rPr>
            </a:br>
            <a:br>
              <a:rPr lang="en-US" sz="1800" b="0" i="0" u="none" strike="noStrike" baseline="0" dirty="0">
                <a:solidFill>
                  <a:srgbClr val="000000"/>
                </a:solidFill>
                <a:latin typeface="Verdana" panose="020B0604030504040204" pitchFamily="34" charset="0"/>
              </a:rPr>
            </a:br>
            <a:r>
              <a:rPr lang="en-IN" sz="2200" b="1" kern="100" dirty="0">
                <a:effectLst/>
                <a:latin typeface="Times New Roman" panose="02020603050405020304" pitchFamily="18" charset="0"/>
                <a:ea typeface="Aptos" panose="020B0004020202020204" pitchFamily="34" charset="0"/>
                <a:cs typeface="Times New Roman" panose="02020603050405020304" pitchFamily="18" charset="0"/>
              </a:rPr>
              <a:t>Amortized Analysis</a:t>
            </a:r>
            <a:br>
              <a:rPr lang="en-IN" sz="1800" kern="100" dirty="0">
                <a:effectLst/>
                <a:latin typeface="Aptos" panose="020B0004020202020204" pitchFamily="34" charset="0"/>
                <a:ea typeface="Aptos" panose="020B0004020202020204" pitchFamily="34" charset="0"/>
                <a:cs typeface="Times New Roman" panose="02020603050405020304" pitchFamily="18" charset="0"/>
              </a:rPr>
            </a:br>
            <a:br>
              <a:rPr lang="en-IN" sz="1800" kern="100" dirty="0">
                <a:effectLst/>
                <a:latin typeface="Aptos" panose="020B0004020202020204" pitchFamily="34" charset="0"/>
                <a:ea typeface="Aptos" panose="020B0004020202020204" pitchFamily="34" charset="0"/>
                <a:cs typeface="Times New Roman" panose="02020603050405020304" pitchFamily="18" charset="0"/>
              </a:rPr>
            </a:br>
            <a:br>
              <a:rPr kumimoji="0" lang="en-IN" sz="14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br>
            <a:br>
              <a:rPr lang="en-US" sz="1800" b="0" i="0" u="none" strike="noStrike" baseline="0" dirty="0">
                <a:solidFill>
                  <a:srgbClr val="000000"/>
                </a:solidFill>
                <a:latin typeface="Verdana" panose="020B0604030504040204" pitchFamily="34" charset="0"/>
              </a:rPr>
            </a:br>
            <a:endParaRPr lang="en-US" sz="2800" dirty="0">
              <a:solidFill>
                <a:schemeClr val="tx1"/>
              </a:solidFill>
              <a:effectLst/>
              <a:latin typeface="+mj-lt"/>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schemeClr val="tx1"/>
                </a:solidFill>
              </a:rPr>
              <a:pPr/>
              <a:t>March 13, 2024</a:t>
            </a:fld>
            <a:endParaRPr lang="en-US">
              <a:solidFill>
                <a:schemeClr val="tx1"/>
              </a:solidFill>
            </a:endParaRPr>
          </a:p>
        </p:txBody>
      </p:sp>
      <p:sp>
        <p:nvSpPr>
          <p:cNvPr id="5" name="Footer Placeholder 4"/>
          <p:cNvSpPr>
            <a:spLocks noGrp="1"/>
          </p:cNvSpPr>
          <p:nvPr>
            <p:ph type="ftr" sz="quarter" idx="11"/>
          </p:nvPr>
        </p:nvSpPr>
        <p:spPr/>
        <p:txBody>
          <a:bodyPr/>
          <a:lstStyle/>
          <a:p>
            <a:r>
              <a:rPr lang="en-US" dirty="0">
                <a:solidFill>
                  <a:schemeClr val="tx1"/>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schemeClr val="tx1"/>
                </a:solidFill>
              </a:rPr>
              <a:pPr/>
              <a:t>77</a:t>
            </a:fld>
            <a:endParaRPr lang="en-US" dirty="0">
              <a:solidFill>
                <a:schemeClr val="tx1"/>
              </a:solidFill>
            </a:endParaRPr>
          </a:p>
        </p:txBody>
      </p:sp>
      <p:sp>
        <p:nvSpPr>
          <p:cNvPr id="7" name="TextBox 6">
            <a:extLst>
              <a:ext uri="{FF2B5EF4-FFF2-40B4-BE49-F238E27FC236}">
                <a16:creationId xmlns:a16="http://schemas.microsoft.com/office/drawing/2014/main" id="{94041DC5-CB06-18D7-6A80-3040A807A0C6}"/>
              </a:ext>
            </a:extLst>
          </p:cNvPr>
          <p:cNvSpPr txBox="1"/>
          <p:nvPr/>
        </p:nvSpPr>
        <p:spPr>
          <a:xfrm>
            <a:off x="914400" y="1550180"/>
            <a:ext cx="7467600" cy="369332"/>
          </a:xfrm>
          <a:prstGeom prst="rect">
            <a:avLst/>
          </a:prstGeom>
          <a:noFill/>
        </p:spPr>
        <p:txBody>
          <a:bodyPr wrap="square">
            <a:spAutoFit/>
          </a:bodyPr>
          <a:lstStyle/>
          <a:p>
            <a:pPr algn="just"/>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375CE539-6F52-3FC4-5DBA-39A1D96D5FE3}"/>
              </a:ext>
            </a:extLst>
          </p:cNvPr>
          <p:cNvSpPr txBox="1"/>
          <p:nvPr/>
        </p:nvSpPr>
        <p:spPr>
          <a:xfrm>
            <a:off x="514739" y="1371600"/>
            <a:ext cx="7696200" cy="1200329"/>
          </a:xfrm>
          <a:prstGeom prst="rect">
            <a:avLst/>
          </a:prstGeom>
          <a:noFill/>
        </p:spPr>
        <p:txBody>
          <a:bodyPr wrap="square">
            <a:spAutoFit/>
          </a:bodyPr>
          <a:lstStyle/>
          <a:p>
            <a:pPr algn="just"/>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Amortized analysis is a technique used to analyze the performance of algorithms that exhibit fluctuations in their running time for individual operations. It helps us understand the average cost of an operation over a sequence of operations, even if some operations are more expensive than others.</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E5AF631D-2079-7AC8-B3D4-AF95CEA951B4}"/>
              </a:ext>
            </a:extLst>
          </p:cNvPr>
          <p:cNvSpPr txBox="1"/>
          <p:nvPr/>
        </p:nvSpPr>
        <p:spPr>
          <a:xfrm>
            <a:off x="514739" y="2748487"/>
            <a:ext cx="7557796" cy="3693319"/>
          </a:xfrm>
          <a:prstGeom prst="rect">
            <a:avLst/>
          </a:prstGeom>
          <a:noFill/>
        </p:spPr>
        <p:txBody>
          <a:bodyPr wrap="square">
            <a:spAutoFit/>
          </a:bodyPr>
          <a:lstStyle/>
          <a:p>
            <a:r>
              <a:rPr lang="en-IN" sz="1800" b="1" kern="100" dirty="0">
                <a:effectLst/>
                <a:latin typeface="Times New Roman" panose="02020603050405020304" pitchFamily="18" charset="0"/>
                <a:ea typeface="Aptos" panose="020B0004020202020204" pitchFamily="34" charset="0"/>
                <a:cs typeface="Times New Roman" panose="02020603050405020304" pitchFamily="18" charset="0"/>
              </a:rPr>
              <a:t>Scenario:</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Imagine a data structure that initially holds 4 elements and allows adding new elements. When the array reaches its capacity, it needs to be resized to double its size to accommodate more elements.</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b="1"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b="1" kern="100" dirty="0">
                <a:effectLst/>
                <a:latin typeface="Times New Roman" panose="02020603050405020304" pitchFamily="18" charset="0"/>
                <a:ea typeface="Aptos" panose="020B0004020202020204" pitchFamily="34" charset="0"/>
                <a:cs typeface="Times New Roman" panose="02020603050405020304" pitchFamily="18" charset="0"/>
              </a:rPr>
              <a:t>Analysis:</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b="1"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pPr algn="just"/>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Adding the first 4 elements: Each addition takes constant time (O(1)) as there's enough space. Adding the 5th element: This triggers a resize operation, which is expensive and takes O(n) time (copying existing elements to the new array). Looking at individual operations, the first 4 additions seem "cheap" at O(1), while the 5th operation is "expensive" at O(n). However, what about the average cost per operation?</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pPr algn="just"/>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41319798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50838"/>
            <a:ext cx="6934200" cy="411162"/>
          </a:xfrm>
        </p:spPr>
        <p:style>
          <a:lnRef idx="1">
            <a:schemeClr val="accent5"/>
          </a:lnRef>
          <a:fillRef idx="2">
            <a:schemeClr val="accent5"/>
          </a:fillRef>
          <a:effectRef idx="1">
            <a:schemeClr val="accent5"/>
          </a:effectRef>
          <a:fontRef idx="minor">
            <a:schemeClr val="dk1"/>
          </a:fontRef>
        </p:style>
        <p:txBody>
          <a:bodyPr>
            <a:normAutofit fontScale="90000"/>
          </a:bodyPr>
          <a:lstStyle/>
          <a:p>
            <a:pPr>
              <a:spcBef>
                <a:spcPts val="0"/>
              </a:spcBef>
              <a:defRPr/>
            </a:pPr>
            <a:br>
              <a:rPr lang="en-US" sz="1800" b="0" i="0" u="none" strike="noStrike" baseline="0" dirty="0">
                <a:solidFill>
                  <a:srgbClr val="000000"/>
                </a:solidFill>
                <a:latin typeface="Verdana" panose="020B0604030504040204" pitchFamily="34" charset="0"/>
              </a:rPr>
            </a:br>
            <a:br>
              <a:rPr lang="en-US" sz="1800" b="0" i="0" u="none" strike="noStrike" baseline="0" dirty="0">
                <a:solidFill>
                  <a:srgbClr val="000000"/>
                </a:solidFill>
                <a:latin typeface="Verdana" panose="020B0604030504040204" pitchFamily="34" charset="0"/>
              </a:rPr>
            </a:br>
            <a:br>
              <a:rPr lang="en-US" sz="1800" b="0" i="0" u="none" strike="noStrike" baseline="0" dirty="0">
                <a:solidFill>
                  <a:srgbClr val="000000"/>
                </a:solidFill>
                <a:latin typeface="Verdana" panose="020B0604030504040204" pitchFamily="34" charset="0"/>
              </a:rPr>
            </a:br>
            <a:br>
              <a:rPr lang="en-US" sz="1800" b="0" i="0" u="none" strike="noStrike" baseline="0" dirty="0">
                <a:solidFill>
                  <a:srgbClr val="000000"/>
                </a:solidFill>
                <a:latin typeface="Verdana" panose="020B0604030504040204" pitchFamily="34" charset="0"/>
              </a:rPr>
            </a:br>
            <a:r>
              <a:rPr lang="en-IN" sz="2700" b="1" kern="100" dirty="0">
                <a:effectLst/>
                <a:latin typeface="Times New Roman" panose="02020603050405020304" pitchFamily="18" charset="0"/>
                <a:ea typeface="Aptos" panose="020B0004020202020204" pitchFamily="34" charset="0"/>
                <a:cs typeface="Times New Roman" panose="02020603050405020304" pitchFamily="18" charset="0"/>
              </a:rPr>
              <a:t>Amortized Analysis</a:t>
            </a:r>
            <a:br>
              <a:rPr lang="en-IN" sz="2700" kern="100" dirty="0">
                <a:effectLst/>
                <a:latin typeface="Aptos" panose="020B0004020202020204" pitchFamily="34" charset="0"/>
                <a:ea typeface="Aptos" panose="020B0004020202020204" pitchFamily="34" charset="0"/>
                <a:cs typeface="Times New Roman" panose="02020603050405020304" pitchFamily="18" charset="0"/>
              </a:rPr>
            </a:br>
            <a:br>
              <a:rPr lang="en-IN" sz="1800" kern="100" dirty="0">
                <a:effectLst/>
                <a:latin typeface="Aptos" panose="020B0004020202020204" pitchFamily="34" charset="0"/>
                <a:ea typeface="Aptos" panose="020B0004020202020204" pitchFamily="34" charset="0"/>
                <a:cs typeface="Times New Roman" panose="02020603050405020304" pitchFamily="18" charset="0"/>
              </a:rPr>
            </a:br>
            <a:br>
              <a:rPr kumimoji="0" lang="en-IN" sz="14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br>
            <a:br>
              <a:rPr lang="en-US" sz="1800" b="0" i="0" u="none" strike="noStrike" baseline="0" dirty="0">
                <a:solidFill>
                  <a:srgbClr val="000000"/>
                </a:solidFill>
                <a:latin typeface="Verdana" panose="020B0604030504040204" pitchFamily="34" charset="0"/>
              </a:rPr>
            </a:br>
            <a:endParaRPr lang="en-US" sz="2800" dirty="0">
              <a:solidFill>
                <a:schemeClr val="tx1"/>
              </a:solidFill>
              <a:effectLst/>
              <a:latin typeface="+mj-lt"/>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schemeClr val="tx1"/>
                </a:solidFill>
              </a:rPr>
              <a:pPr/>
              <a:t>March 13, 2024</a:t>
            </a:fld>
            <a:endParaRPr lang="en-US">
              <a:solidFill>
                <a:schemeClr val="tx1"/>
              </a:solidFill>
            </a:endParaRPr>
          </a:p>
        </p:txBody>
      </p:sp>
      <p:sp>
        <p:nvSpPr>
          <p:cNvPr id="5" name="Footer Placeholder 4"/>
          <p:cNvSpPr>
            <a:spLocks noGrp="1"/>
          </p:cNvSpPr>
          <p:nvPr>
            <p:ph type="ftr" sz="quarter" idx="11"/>
          </p:nvPr>
        </p:nvSpPr>
        <p:spPr/>
        <p:txBody>
          <a:bodyPr/>
          <a:lstStyle/>
          <a:p>
            <a:r>
              <a:rPr lang="en-US" dirty="0">
                <a:solidFill>
                  <a:schemeClr val="tx1"/>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schemeClr val="tx1"/>
                </a:solidFill>
              </a:rPr>
              <a:pPr/>
              <a:t>78</a:t>
            </a:fld>
            <a:endParaRPr lang="en-US" dirty="0">
              <a:solidFill>
                <a:schemeClr val="tx1"/>
              </a:solidFill>
            </a:endParaRPr>
          </a:p>
        </p:txBody>
      </p:sp>
      <p:sp>
        <p:nvSpPr>
          <p:cNvPr id="7" name="TextBox 6">
            <a:extLst>
              <a:ext uri="{FF2B5EF4-FFF2-40B4-BE49-F238E27FC236}">
                <a16:creationId xmlns:a16="http://schemas.microsoft.com/office/drawing/2014/main" id="{94041DC5-CB06-18D7-6A80-3040A807A0C6}"/>
              </a:ext>
            </a:extLst>
          </p:cNvPr>
          <p:cNvSpPr txBox="1"/>
          <p:nvPr/>
        </p:nvSpPr>
        <p:spPr>
          <a:xfrm>
            <a:off x="914400" y="1550180"/>
            <a:ext cx="7467600" cy="369332"/>
          </a:xfrm>
          <a:prstGeom prst="rect">
            <a:avLst/>
          </a:prstGeom>
          <a:noFill/>
        </p:spPr>
        <p:txBody>
          <a:bodyPr wrap="square">
            <a:spAutoFit/>
          </a:bodyPr>
          <a:lstStyle/>
          <a:p>
            <a:pPr algn="just"/>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375CE539-6F52-3FC4-5DBA-39A1D96D5FE3}"/>
              </a:ext>
            </a:extLst>
          </p:cNvPr>
          <p:cNvSpPr txBox="1"/>
          <p:nvPr/>
        </p:nvSpPr>
        <p:spPr>
          <a:xfrm>
            <a:off x="609600" y="1523743"/>
            <a:ext cx="7848600" cy="2831544"/>
          </a:xfrm>
          <a:prstGeom prst="rect">
            <a:avLst/>
          </a:prstGeom>
          <a:noFill/>
        </p:spPr>
        <p:txBody>
          <a:bodyPr wrap="square">
            <a:spAutoFit/>
          </a:bodyPr>
          <a:lstStyle/>
          <a:p>
            <a:pPr algn="just"/>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Amortized analysis helps us analyze the entire sequence of operations and "spread" the cost of the expensive resize operation over all additions. Average cost per addition: We consider the total time taken for all 5 additions (constant time for the first 4 + O(n) for the resize) and divide it by the number of additions (5).</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pPr algn="just"/>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pPr algn="just"/>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This gives us an average cost of: (4 * O (1) + O(n)) / 5 ≈ O (1) + O(n/5)</a:t>
            </a:r>
          </a:p>
          <a:p>
            <a:pPr algn="just"/>
            <a:endParaRPr lang="en-IN" kern="100" dirty="0">
              <a:latin typeface="Times New Roman" panose="02020603050405020304" pitchFamily="18" charset="0"/>
              <a:ea typeface="Aptos" panose="020B0004020202020204" pitchFamily="34" charset="0"/>
              <a:cs typeface="Times New Roman" panose="02020603050405020304" pitchFamily="18" charset="0"/>
            </a:endParaRPr>
          </a:p>
          <a:p>
            <a:pPr algn="just"/>
            <a:r>
              <a:rPr lang="en-IN" sz="2000" b="1" kern="100" dirty="0">
                <a:effectLst/>
                <a:latin typeface="Times New Roman" panose="02020603050405020304" pitchFamily="18" charset="0"/>
                <a:ea typeface="Aptos" panose="020B0004020202020204" pitchFamily="34" charset="0"/>
                <a:cs typeface="Times New Roman" panose="02020603050405020304" pitchFamily="18" charset="0"/>
              </a:rPr>
              <a:t>Example: </a:t>
            </a:r>
            <a:r>
              <a:rPr lang="en-IN" sz="1800" b="1" kern="100" dirty="0">
                <a:effectLst/>
                <a:latin typeface="Times New Roman" panose="02020603050405020304" pitchFamily="18" charset="0"/>
                <a:ea typeface="Aptos" panose="020B0004020202020204" pitchFamily="34" charset="0"/>
                <a:cs typeface="Times New Roman" panose="02020603050405020304" pitchFamily="18" charset="0"/>
              </a:rPr>
              <a:t>Dynamic stacks:</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Pushing and popping elements usually takes constant time, but occasionally a resize is needed, which is amortized over all operations.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07183482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50838"/>
            <a:ext cx="6934200" cy="411162"/>
          </a:xfrm>
        </p:spPr>
        <p:style>
          <a:lnRef idx="1">
            <a:schemeClr val="accent5"/>
          </a:lnRef>
          <a:fillRef idx="2">
            <a:schemeClr val="accent5"/>
          </a:fillRef>
          <a:effectRef idx="1">
            <a:schemeClr val="accent5"/>
          </a:effectRef>
          <a:fontRef idx="minor">
            <a:schemeClr val="dk1"/>
          </a:fontRef>
        </p:style>
        <p:txBody>
          <a:bodyPr>
            <a:normAutofit fontScale="90000"/>
          </a:bodyPr>
          <a:lstStyle/>
          <a:p>
            <a:pPr>
              <a:spcBef>
                <a:spcPts val="0"/>
              </a:spcBef>
              <a:defRPr/>
            </a:pPr>
            <a:br>
              <a:rPr lang="en-US" sz="1800" b="0" i="0" u="none" strike="noStrike" baseline="0" dirty="0">
                <a:solidFill>
                  <a:srgbClr val="000000"/>
                </a:solidFill>
                <a:latin typeface="Verdana" panose="020B0604030504040204" pitchFamily="34" charset="0"/>
              </a:rPr>
            </a:br>
            <a:br>
              <a:rPr lang="en-US" sz="1800" b="0" i="0" u="none" strike="noStrike" baseline="0" dirty="0">
                <a:solidFill>
                  <a:srgbClr val="000000"/>
                </a:solidFill>
                <a:latin typeface="Verdana" panose="020B0604030504040204" pitchFamily="34" charset="0"/>
              </a:rPr>
            </a:br>
            <a:br>
              <a:rPr lang="en-US" sz="1800" b="0" i="0" u="none" strike="noStrike" baseline="0" dirty="0">
                <a:solidFill>
                  <a:srgbClr val="000000"/>
                </a:solidFill>
                <a:latin typeface="Verdana" panose="020B0604030504040204" pitchFamily="34" charset="0"/>
              </a:rPr>
            </a:br>
            <a:br>
              <a:rPr lang="en-US" sz="1800" b="0" i="0" u="none" strike="noStrike" baseline="0" dirty="0">
                <a:solidFill>
                  <a:srgbClr val="000000"/>
                </a:solidFill>
                <a:latin typeface="Verdana" panose="020B0604030504040204" pitchFamily="34" charset="0"/>
              </a:rPr>
            </a:br>
            <a:r>
              <a:rPr lang="en-IN" sz="2800" b="1" kern="0" dirty="0">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Time and space trade-off.</a:t>
            </a:r>
            <a:br>
              <a:rPr lang="en-IN" sz="2700" kern="100" dirty="0">
                <a:effectLst/>
                <a:latin typeface="Aptos" panose="020B0004020202020204" pitchFamily="34" charset="0"/>
                <a:ea typeface="Aptos" panose="020B0004020202020204" pitchFamily="34" charset="0"/>
                <a:cs typeface="Times New Roman" panose="02020603050405020304" pitchFamily="18" charset="0"/>
              </a:rPr>
            </a:br>
            <a:br>
              <a:rPr lang="en-IN" sz="1800" kern="100" dirty="0">
                <a:effectLst/>
                <a:latin typeface="Aptos" panose="020B0004020202020204" pitchFamily="34" charset="0"/>
                <a:ea typeface="Aptos" panose="020B0004020202020204" pitchFamily="34" charset="0"/>
                <a:cs typeface="Times New Roman" panose="02020603050405020304" pitchFamily="18" charset="0"/>
              </a:rPr>
            </a:br>
            <a:br>
              <a:rPr kumimoji="0" lang="en-IN" sz="14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br>
            <a:br>
              <a:rPr lang="en-US" sz="1800" b="0" i="0" u="none" strike="noStrike" baseline="0" dirty="0">
                <a:solidFill>
                  <a:srgbClr val="000000"/>
                </a:solidFill>
                <a:latin typeface="Verdana" panose="020B0604030504040204" pitchFamily="34" charset="0"/>
              </a:rPr>
            </a:br>
            <a:endParaRPr lang="en-US" sz="2800" dirty="0">
              <a:solidFill>
                <a:schemeClr val="tx1"/>
              </a:solidFill>
              <a:effectLst/>
              <a:latin typeface="+mj-lt"/>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schemeClr val="tx1"/>
                </a:solidFill>
              </a:rPr>
              <a:pPr/>
              <a:t>March 13, 2024</a:t>
            </a:fld>
            <a:endParaRPr lang="en-US">
              <a:solidFill>
                <a:schemeClr val="tx1"/>
              </a:solidFill>
            </a:endParaRPr>
          </a:p>
        </p:txBody>
      </p:sp>
      <p:sp>
        <p:nvSpPr>
          <p:cNvPr id="5" name="Footer Placeholder 4"/>
          <p:cNvSpPr>
            <a:spLocks noGrp="1"/>
          </p:cNvSpPr>
          <p:nvPr>
            <p:ph type="ftr" sz="quarter" idx="11"/>
          </p:nvPr>
        </p:nvSpPr>
        <p:spPr/>
        <p:txBody>
          <a:bodyPr/>
          <a:lstStyle/>
          <a:p>
            <a:r>
              <a:rPr lang="en-US" dirty="0">
                <a:solidFill>
                  <a:schemeClr val="tx1"/>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schemeClr val="tx1"/>
                </a:solidFill>
              </a:rPr>
              <a:pPr/>
              <a:t>79</a:t>
            </a:fld>
            <a:endParaRPr lang="en-US" dirty="0">
              <a:solidFill>
                <a:schemeClr val="tx1"/>
              </a:solidFill>
            </a:endParaRPr>
          </a:p>
        </p:txBody>
      </p:sp>
      <p:sp>
        <p:nvSpPr>
          <p:cNvPr id="7" name="TextBox 6">
            <a:extLst>
              <a:ext uri="{FF2B5EF4-FFF2-40B4-BE49-F238E27FC236}">
                <a16:creationId xmlns:a16="http://schemas.microsoft.com/office/drawing/2014/main" id="{94041DC5-CB06-18D7-6A80-3040A807A0C6}"/>
              </a:ext>
            </a:extLst>
          </p:cNvPr>
          <p:cNvSpPr txBox="1"/>
          <p:nvPr/>
        </p:nvSpPr>
        <p:spPr>
          <a:xfrm>
            <a:off x="914400" y="1550180"/>
            <a:ext cx="7467600" cy="369332"/>
          </a:xfrm>
          <a:prstGeom prst="rect">
            <a:avLst/>
          </a:prstGeom>
          <a:noFill/>
        </p:spPr>
        <p:txBody>
          <a:bodyPr wrap="square">
            <a:spAutoFit/>
          </a:bodyPr>
          <a:lstStyle/>
          <a:p>
            <a:pPr algn="just"/>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375CE539-6F52-3FC4-5DBA-39A1D96D5FE3}"/>
              </a:ext>
            </a:extLst>
          </p:cNvPr>
          <p:cNvSpPr txBox="1"/>
          <p:nvPr/>
        </p:nvSpPr>
        <p:spPr>
          <a:xfrm>
            <a:off x="609600" y="1523743"/>
            <a:ext cx="7848600" cy="3944157"/>
          </a:xfrm>
          <a:prstGeom prst="rect">
            <a:avLst/>
          </a:prstGeom>
          <a:noFill/>
        </p:spPr>
        <p:txBody>
          <a:bodyPr wrap="square">
            <a:spAutoFit/>
          </a:bodyPr>
          <a:lstStyle/>
          <a:p>
            <a:pPr algn="just">
              <a:lnSpc>
                <a:spcPct val="107000"/>
              </a:lnSpc>
              <a:spcAft>
                <a:spcPts val="800"/>
              </a:spcAft>
            </a:pPr>
            <a:r>
              <a:rPr lang="en-IN" sz="1800" kern="0" dirty="0">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It refers to the relationship between how much memory (space) an algorithm or program uses and how long it takes to run (time). Often, these two factors work in opposition:</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IN" sz="1800" b="1" kern="0" dirty="0">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Less Space, More Time:</a:t>
            </a:r>
            <a:r>
              <a:rPr lang="en-IN" sz="1800" kern="0" dirty="0">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 An algorithm can be designed to use minimal space, but this might mean it spends extra time searching through data or performing calculations.</a:t>
            </a:r>
            <a:endParaRPr lang="en-IN" sz="1800" kern="100" dirty="0">
              <a:solidFill>
                <a:srgbClr val="1F1F1F"/>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IN" sz="1800" b="1" kern="0" dirty="0">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More Space, Less Time:</a:t>
            </a:r>
            <a:r>
              <a:rPr lang="en-IN" sz="1800" kern="0" dirty="0">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 Conversely, an algorithm can be designed to prioritize speed by using additional space to store pre-computed information or optimized data structures.</a:t>
            </a:r>
            <a:endParaRPr lang="en-IN" sz="1800" kern="100" dirty="0">
              <a:solidFill>
                <a:srgbClr val="1F1F1F"/>
              </a:solidFill>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n-IN" sz="1800" kern="0" dirty="0">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This trade-off is a constant consideration when designing algorithms and data structures. The ideal scenario is to find an efficient balance between space and time complexity.</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76550504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50838"/>
            <a:ext cx="6934200" cy="411162"/>
          </a:xfrm>
        </p:spPr>
        <p:style>
          <a:lnRef idx="1">
            <a:schemeClr val="accent5"/>
          </a:lnRef>
          <a:fillRef idx="2">
            <a:schemeClr val="accent5"/>
          </a:fillRef>
          <a:effectRef idx="1">
            <a:schemeClr val="accent5"/>
          </a:effectRef>
          <a:fontRef idx="minor">
            <a:schemeClr val="dk1"/>
          </a:fontRef>
        </p:style>
        <p:txBody>
          <a:bodyPr>
            <a:normAutofit fontScale="90000"/>
          </a:bodyPr>
          <a:lstStyle/>
          <a:p>
            <a:pPr>
              <a:spcBef>
                <a:spcPts val="0"/>
              </a:spcBef>
              <a:defRPr/>
            </a:pPr>
            <a:br>
              <a:rPr lang="en-US" sz="1800" b="0" i="0" u="none" strike="noStrike" baseline="0" dirty="0">
                <a:solidFill>
                  <a:srgbClr val="000000"/>
                </a:solidFill>
                <a:latin typeface="Verdana" panose="020B0604030504040204" pitchFamily="34" charset="0"/>
              </a:rPr>
            </a:br>
            <a:br>
              <a:rPr lang="en-US" sz="1800" b="0" i="0" u="none" strike="noStrike" baseline="0" dirty="0">
                <a:solidFill>
                  <a:srgbClr val="000000"/>
                </a:solidFill>
                <a:latin typeface="Verdana" panose="020B0604030504040204" pitchFamily="34" charset="0"/>
              </a:rPr>
            </a:br>
            <a:br>
              <a:rPr lang="en-US" sz="1800" b="0" i="0" u="none" strike="noStrike" baseline="0" dirty="0">
                <a:solidFill>
                  <a:srgbClr val="000000"/>
                </a:solidFill>
                <a:latin typeface="Verdana" panose="020B0604030504040204" pitchFamily="34" charset="0"/>
              </a:rPr>
            </a:br>
            <a:br>
              <a:rPr lang="en-US" sz="1800" b="0" i="0" u="none" strike="noStrike" baseline="0" dirty="0">
                <a:solidFill>
                  <a:srgbClr val="000000"/>
                </a:solidFill>
                <a:latin typeface="Verdana" panose="020B0604030504040204" pitchFamily="34" charset="0"/>
              </a:rPr>
            </a:br>
            <a:r>
              <a:rPr lang="en-IN" sz="2800" b="1" kern="0" dirty="0">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Time and space trade-off.</a:t>
            </a:r>
            <a:br>
              <a:rPr lang="en-IN" sz="2700" kern="100" dirty="0">
                <a:effectLst/>
                <a:latin typeface="Aptos" panose="020B0004020202020204" pitchFamily="34" charset="0"/>
                <a:ea typeface="Aptos" panose="020B0004020202020204" pitchFamily="34" charset="0"/>
                <a:cs typeface="Times New Roman" panose="02020603050405020304" pitchFamily="18" charset="0"/>
              </a:rPr>
            </a:br>
            <a:br>
              <a:rPr lang="en-IN" sz="1800" kern="100" dirty="0">
                <a:effectLst/>
                <a:latin typeface="Aptos" panose="020B0004020202020204" pitchFamily="34" charset="0"/>
                <a:ea typeface="Aptos" panose="020B0004020202020204" pitchFamily="34" charset="0"/>
                <a:cs typeface="Times New Roman" panose="02020603050405020304" pitchFamily="18" charset="0"/>
              </a:rPr>
            </a:br>
            <a:br>
              <a:rPr kumimoji="0" lang="en-IN" sz="14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br>
            <a:br>
              <a:rPr lang="en-US" sz="1800" b="0" i="0" u="none" strike="noStrike" baseline="0" dirty="0">
                <a:solidFill>
                  <a:srgbClr val="000000"/>
                </a:solidFill>
                <a:latin typeface="Verdana" panose="020B0604030504040204" pitchFamily="34" charset="0"/>
              </a:rPr>
            </a:br>
            <a:endParaRPr lang="en-US" sz="2800" dirty="0">
              <a:solidFill>
                <a:schemeClr val="tx1"/>
              </a:solidFill>
              <a:effectLst/>
              <a:latin typeface="+mj-lt"/>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schemeClr val="tx1"/>
                </a:solidFill>
              </a:rPr>
              <a:pPr/>
              <a:t>March 13, 2024</a:t>
            </a:fld>
            <a:endParaRPr lang="en-US">
              <a:solidFill>
                <a:schemeClr val="tx1"/>
              </a:solidFill>
            </a:endParaRPr>
          </a:p>
        </p:txBody>
      </p:sp>
      <p:sp>
        <p:nvSpPr>
          <p:cNvPr id="5" name="Footer Placeholder 4"/>
          <p:cNvSpPr>
            <a:spLocks noGrp="1"/>
          </p:cNvSpPr>
          <p:nvPr>
            <p:ph type="ftr" sz="quarter" idx="11"/>
          </p:nvPr>
        </p:nvSpPr>
        <p:spPr/>
        <p:txBody>
          <a:bodyPr/>
          <a:lstStyle/>
          <a:p>
            <a:r>
              <a:rPr lang="en-US" dirty="0">
                <a:solidFill>
                  <a:schemeClr val="tx1"/>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schemeClr val="tx1"/>
                </a:solidFill>
              </a:rPr>
              <a:pPr/>
              <a:t>80</a:t>
            </a:fld>
            <a:endParaRPr lang="en-US" dirty="0">
              <a:solidFill>
                <a:schemeClr val="tx1"/>
              </a:solidFill>
            </a:endParaRPr>
          </a:p>
        </p:txBody>
      </p:sp>
      <p:sp>
        <p:nvSpPr>
          <p:cNvPr id="7" name="TextBox 6">
            <a:extLst>
              <a:ext uri="{FF2B5EF4-FFF2-40B4-BE49-F238E27FC236}">
                <a16:creationId xmlns:a16="http://schemas.microsoft.com/office/drawing/2014/main" id="{94041DC5-CB06-18D7-6A80-3040A807A0C6}"/>
              </a:ext>
            </a:extLst>
          </p:cNvPr>
          <p:cNvSpPr txBox="1"/>
          <p:nvPr/>
        </p:nvSpPr>
        <p:spPr>
          <a:xfrm>
            <a:off x="914400" y="1550180"/>
            <a:ext cx="7467600" cy="369332"/>
          </a:xfrm>
          <a:prstGeom prst="rect">
            <a:avLst/>
          </a:prstGeom>
          <a:noFill/>
        </p:spPr>
        <p:txBody>
          <a:bodyPr wrap="square">
            <a:spAutoFit/>
          </a:bodyPr>
          <a:lstStyle/>
          <a:p>
            <a:pPr algn="just"/>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375CE539-6F52-3FC4-5DBA-39A1D96D5FE3}"/>
              </a:ext>
            </a:extLst>
          </p:cNvPr>
          <p:cNvSpPr txBox="1"/>
          <p:nvPr/>
        </p:nvSpPr>
        <p:spPr>
          <a:xfrm>
            <a:off x="609600" y="1523743"/>
            <a:ext cx="7848600" cy="2645724"/>
          </a:xfrm>
          <a:prstGeom prst="rect">
            <a:avLst/>
          </a:prstGeom>
          <a:noFill/>
        </p:spPr>
        <p:txBody>
          <a:bodyPr wrap="square">
            <a:spAutoFit/>
          </a:bodyPr>
          <a:lstStyle/>
          <a:p>
            <a:pPr algn="just">
              <a:lnSpc>
                <a:spcPct val="107000"/>
              </a:lnSpc>
              <a:spcAft>
                <a:spcPts val="800"/>
              </a:spcAft>
            </a:pPr>
            <a:r>
              <a:rPr lang="en-IN" sz="1800" kern="0" dirty="0">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Here are some real-world examples of this trade-off:</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b="1" kern="0" dirty="0">
                <a:solidFill>
                  <a:srgbClr val="1F1F1F"/>
                </a:solidFill>
                <a:effectLst/>
                <a:latin typeface="Times New Roman" panose="02020603050405020304" pitchFamily="18" charset="0"/>
                <a:ea typeface="Times New Roman" panose="02020603050405020304" pitchFamily="18" charset="0"/>
              </a:rPr>
              <a:t>Compressed vs. Uncompressed Files:</a:t>
            </a:r>
            <a:r>
              <a:rPr lang="en-IN" sz="1800" kern="0" dirty="0">
                <a:solidFill>
                  <a:srgbClr val="1F1F1F"/>
                </a:solidFill>
                <a:effectLst/>
                <a:latin typeface="Times New Roman" panose="02020603050405020304" pitchFamily="18" charset="0"/>
                <a:ea typeface="Times New Roman" panose="02020603050405020304" pitchFamily="18" charset="0"/>
              </a:rPr>
              <a:t> Storing a file uncompressed takes up more space but allows for faster access. Compressing the file saves space but requires extra time to decompress it when needed.</a:t>
            </a:r>
          </a:p>
          <a:p>
            <a:endParaRPr lang="en-IN" kern="0" dirty="0">
              <a:solidFill>
                <a:srgbClr val="1F1F1F"/>
              </a:solidFill>
              <a:latin typeface="Times New Roman" panose="02020603050405020304" pitchFamily="18" charset="0"/>
              <a:ea typeface="Aptos" panose="020B0004020202020204" pitchFamily="34" charset="0"/>
              <a:cs typeface="Times New Roman" panose="02020603050405020304" pitchFamily="18" charset="0"/>
            </a:endParaRPr>
          </a:p>
          <a:p>
            <a:r>
              <a:rPr lang="en-IN" sz="1800" b="1" kern="0" dirty="0">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Hash Tables vs. Linked Lists:</a:t>
            </a:r>
            <a:r>
              <a:rPr lang="en-IN" sz="1800" kern="0" dirty="0">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 Hash tables offer very fast retrieval times by using more space to store additional data for quick lookups. Linked lists use less space but may require iterating through more elements to find the desired data.</a:t>
            </a:r>
            <a:endParaRPr lang="en-IN" sz="1800" kern="100" dirty="0">
              <a:solidFill>
                <a:srgbClr val="1F1F1F"/>
              </a:solidFill>
              <a:effectLst/>
              <a:latin typeface="Aptos" panose="020B0004020202020204" pitchFamily="34" charset="0"/>
              <a:ea typeface="Aptos" panose="020B0004020202020204" pitchFamily="34" charset="0"/>
              <a:cs typeface="Times New Roman" panose="02020603050405020304" pitchFamily="18" charset="0"/>
            </a:endParaRPr>
          </a:p>
          <a:p>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24822620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50838"/>
            <a:ext cx="6934200" cy="411162"/>
          </a:xfrm>
        </p:spPr>
        <p:style>
          <a:lnRef idx="1">
            <a:schemeClr val="accent5"/>
          </a:lnRef>
          <a:fillRef idx="2">
            <a:schemeClr val="accent5"/>
          </a:fillRef>
          <a:effectRef idx="1">
            <a:schemeClr val="accent5"/>
          </a:effectRef>
          <a:fontRef idx="minor">
            <a:schemeClr val="dk1"/>
          </a:fontRef>
        </p:style>
        <p:txBody>
          <a:bodyPr>
            <a:normAutofit fontScale="90000"/>
          </a:bodyPr>
          <a:lstStyle/>
          <a:p>
            <a:pPr>
              <a:spcBef>
                <a:spcPts val="0"/>
              </a:spcBef>
              <a:defRPr/>
            </a:pPr>
            <a:br>
              <a:rPr lang="en-US" sz="1800" b="0" i="0" u="none" strike="noStrike" baseline="0" dirty="0">
                <a:solidFill>
                  <a:srgbClr val="000000"/>
                </a:solidFill>
                <a:latin typeface="Verdana" panose="020B0604030504040204" pitchFamily="34" charset="0"/>
              </a:rPr>
            </a:br>
            <a:br>
              <a:rPr lang="en-US" sz="1800" b="0" i="0" u="none" strike="noStrike" baseline="0" dirty="0">
                <a:solidFill>
                  <a:srgbClr val="000000"/>
                </a:solidFill>
                <a:latin typeface="Verdana" panose="020B0604030504040204" pitchFamily="34" charset="0"/>
              </a:rPr>
            </a:br>
            <a:br>
              <a:rPr lang="en-US" sz="1800" b="0" i="0" u="none" strike="noStrike" baseline="0" dirty="0">
                <a:solidFill>
                  <a:srgbClr val="000000"/>
                </a:solidFill>
                <a:latin typeface="Verdana" panose="020B0604030504040204" pitchFamily="34" charset="0"/>
              </a:rPr>
            </a:br>
            <a:br>
              <a:rPr lang="en-US" sz="1800" b="0" i="0" u="none" strike="noStrike" baseline="0" dirty="0">
                <a:solidFill>
                  <a:srgbClr val="000000"/>
                </a:solidFill>
                <a:latin typeface="Verdana" panose="020B0604030504040204" pitchFamily="34" charset="0"/>
              </a:rPr>
            </a:br>
            <a:r>
              <a:rPr lang="en-IN" sz="2800" b="1" kern="100" dirty="0">
                <a:effectLst/>
                <a:latin typeface="Times New Roman" panose="02020603050405020304" pitchFamily="18" charset="0"/>
                <a:ea typeface="Aptos" panose="020B0004020202020204" pitchFamily="34" charset="0"/>
                <a:cs typeface="Times New Roman" panose="02020603050405020304" pitchFamily="18" charset="0"/>
              </a:rPr>
              <a:t>Recursive Tree Method</a:t>
            </a:r>
            <a:br>
              <a:rPr lang="en-IN" sz="2800" kern="100" dirty="0">
                <a:effectLst/>
                <a:latin typeface="Aptos" panose="020B0004020202020204" pitchFamily="34" charset="0"/>
                <a:ea typeface="Aptos" panose="020B0004020202020204" pitchFamily="34" charset="0"/>
                <a:cs typeface="Times New Roman" panose="02020603050405020304" pitchFamily="18" charset="0"/>
              </a:rPr>
            </a:br>
            <a:br>
              <a:rPr kumimoji="0" lang="en-IN" sz="14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br>
            <a:br>
              <a:rPr lang="en-US" sz="1800" b="0" i="0" u="none" strike="noStrike" baseline="0" dirty="0">
                <a:solidFill>
                  <a:srgbClr val="000000"/>
                </a:solidFill>
                <a:latin typeface="Verdana" panose="020B0604030504040204" pitchFamily="34" charset="0"/>
              </a:rPr>
            </a:br>
            <a:endParaRPr lang="en-US" sz="2800" dirty="0">
              <a:solidFill>
                <a:schemeClr val="tx1"/>
              </a:solidFill>
              <a:effectLst/>
              <a:latin typeface="+mj-lt"/>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schemeClr val="tx1"/>
                </a:solidFill>
              </a:rPr>
              <a:pPr/>
              <a:t>March 13, 2024</a:t>
            </a:fld>
            <a:endParaRPr lang="en-US">
              <a:solidFill>
                <a:schemeClr val="tx1"/>
              </a:solidFill>
            </a:endParaRPr>
          </a:p>
        </p:txBody>
      </p:sp>
      <p:sp>
        <p:nvSpPr>
          <p:cNvPr id="5" name="Footer Placeholder 4"/>
          <p:cNvSpPr>
            <a:spLocks noGrp="1"/>
          </p:cNvSpPr>
          <p:nvPr>
            <p:ph type="ftr" sz="quarter" idx="11"/>
          </p:nvPr>
        </p:nvSpPr>
        <p:spPr/>
        <p:txBody>
          <a:bodyPr/>
          <a:lstStyle/>
          <a:p>
            <a:r>
              <a:rPr lang="en-US" dirty="0">
                <a:solidFill>
                  <a:schemeClr val="tx1"/>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schemeClr val="tx1"/>
                </a:solidFill>
              </a:rPr>
              <a:pPr/>
              <a:t>81</a:t>
            </a:fld>
            <a:endParaRPr lang="en-US" dirty="0">
              <a:solidFill>
                <a:schemeClr val="tx1"/>
              </a:solidFill>
            </a:endParaRPr>
          </a:p>
        </p:txBody>
      </p:sp>
      <p:sp>
        <p:nvSpPr>
          <p:cNvPr id="7" name="TextBox 6">
            <a:extLst>
              <a:ext uri="{FF2B5EF4-FFF2-40B4-BE49-F238E27FC236}">
                <a16:creationId xmlns:a16="http://schemas.microsoft.com/office/drawing/2014/main" id="{94041DC5-CB06-18D7-6A80-3040A807A0C6}"/>
              </a:ext>
            </a:extLst>
          </p:cNvPr>
          <p:cNvSpPr txBox="1"/>
          <p:nvPr/>
        </p:nvSpPr>
        <p:spPr>
          <a:xfrm>
            <a:off x="914400" y="1550180"/>
            <a:ext cx="7467600" cy="369332"/>
          </a:xfrm>
          <a:prstGeom prst="rect">
            <a:avLst/>
          </a:prstGeom>
          <a:noFill/>
        </p:spPr>
        <p:txBody>
          <a:bodyPr wrap="square">
            <a:spAutoFit/>
          </a:bodyPr>
          <a:lstStyle/>
          <a:p>
            <a:pPr algn="just"/>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375CE539-6F52-3FC4-5DBA-39A1D96D5FE3}"/>
              </a:ext>
            </a:extLst>
          </p:cNvPr>
          <p:cNvSpPr txBox="1"/>
          <p:nvPr/>
        </p:nvSpPr>
        <p:spPr>
          <a:xfrm>
            <a:off x="609600" y="1523743"/>
            <a:ext cx="7848600" cy="2800767"/>
          </a:xfrm>
          <a:prstGeom prst="rect">
            <a:avLst/>
          </a:prstGeom>
          <a:noFill/>
        </p:spPr>
        <p:txBody>
          <a:bodyPr wrap="square">
            <a:spAutoFit/>
          </a:bodyPr>
          <a:lstStyle/>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A recursion tree is useful for visualizing what happens when a recurrence is iterated. It diagrams the tree of recursive calls and the amount of work done at each call.</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dirty="0">
                <a:effectLst/>
                <a:latin typeface="Times New Roman" panose="02020603050405020304" pitchFamily="18" charset="0"/>
                <a:ea typeface="Aptos" panose="020B0004020202020204" pitchFamily="34" charset="0"/>
              </a:rPr>
              <a:t>Recursion trees can be useful for gaining intuition about the closed form of a recurrence, but they are not a proof (and in fact it is easy to get the wrong answer with a recursion tree, as is the case with any method that includes ''...'' kinds of reasoning). </a:t>
            </a:r>
          </a:p>
          <a:p>
            <a:endParaRPr lang="en-IN" kern="100" dirty="0">
              <a:latin typeface="Times New Roman" panose="02020603050405020304" pitchFamily="18" charset="0"/>
              <a:ea typeface="Aptos" panose="020B0004020202020204" pitchFamily="34" charset="0"/>
              <a:cs typeface="Times New Roman" panose="02020603050405020304" pitchFamily="18" charset="0"/>
            </a:endParaRPr>
          </a:p>
          <a:p>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415026006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50838"/>
            <a:ext cx="6934200" cy="411162"/>
          </a:xfrm>
        </p:spPr>
        <p:style>
          <a:lnRef idx="1">
            <a:schemeClr val="accent5"/>
          </a:lnRef>
          <a:fillRef idx="2">
            <a:schemeClr val="accent5"/>
          </a:fillRef>
          <a:effectRef idx="1">
            <a:schemeClr val="accent5"/>
          </a:effectRef>
          <a:fontRef idx="minor">
            <a:schemeClr val="dk1"/>
          </a:fontRef>
        </p:style>
        <p:txBody>
          <a:bodyPr>
            <a:normAutofit fontScale="90000"/>
          </a:bodyPr>
          <a:lstStyle/>
          <a:p>
            <a:pPr>
              <a:spcBef>
                <a:spcPts val="0"/>
              </a:spcBef>
              <a:defRPr/>
            </a:pPr>
            <a:br>
              <a:rPr lang="en-US" sz="1800" b="0" i="0" u="none" strike="noStrike" baseline="0" dirty="0">
                <a:solidFill>
                  <a:srgbClr val="000000"/>
                </a:solidFill>
                <a:latin typeface="Verdana" panose="020B0604030504040204" pitchFamily="34" charset="0"/>
              </a:rPr>
            </a:br>
            <a:br>
              <a:rPr lang="en-US" sz="1800" b="0" i="0" u="none" strike="noStrike" baseline="0" dirty="0">
                <a:solidFill>
                  <a:srgbClr val="000000"/>
                </a:solidFill>
                <a:latin typeface="Verdana" panose="020B0604030504040204" pitchFamily="34" charset="0"/>
              </a:rPr>
            </a:br>
            <a:br>
              <a:rPr lang="en-US" sz="1800" b="0" i="0" u="none" strike="noStrike" baseline="0" dirty="0">
                <a:solidFill>
                  <a:srgbClr val="000000"/>
                </a:solidFill>
                <a:latin typeface="Verdana" panose="020B0604030504040204" pitchFamily="34" charset="0"/>
              </a:rPr>
            </a:br>
            <a:br>
              <a:rPr lang="en-US" sz="1800" b="0" i="0" u="none" strike="noStrike" baseline="0" dirty="0">
                <a:solidFill>
                  <a:srgbClr val="000000"/>
                </a:solidFill>
                <a:latin typeface="Verdana" panose="020B0604030504040204" pitchFamily="34" charset="0"/>
              </a:rPr>
            </a:br>
            <a:r>
              <a:rPr lang="en-IN" sz="2800" b="1" kern="100" dirty="0">
                <a:effectLst/>
                <a:latin typeface="Times New Roman" panose="02020603050405020304" pitchFamily="18" charset="0"/>
                <a:ea typeface="Aptos" panose="020B0004020202020204" pitchFamily="34" charset="0"/>
                <a:cs typeface="Times New Roman" panose="02020603050405020304" pitchFamily="18" charset="0"/>
              </a:rPr>
              <a:t>Recursive Tree Method</a:t>
            </a:r>
            <a:br>
              <a:rPr lang="en-IN" sz="2800" kern="100" dirty="0">
                <a:effectLst/>
                <a:latin typeface="Aptos" panose="020B0004020202020204" pitchFamily="34" charset="0"/>
                <a:ea typeface="Aptos" panose="020B0004020202020204" pitchFamily="34" charset="0"/>
                <a:cs typeface="Times New Roman" panose="02020603050405020304" pitchFamily="18" charset="0"/>
              </a:rPr>
            </a:br>
            <a:br>
              <a:rPr kumimoji="0" lang="en-IN" sz="14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br>
            <a:br>
              <a:rPr lang="en-US" sz="1800" b="0" i="0" u="none" strike="noStrike" baseline="0" dirty="0">
                <a:solidFill>
                  <a:srgbClr val="000000"/>
                </a:solidFill>
                <a:latin typeface="Verdana" panose="020B0604030504040204" pitchFamily="34" charset="0"/>
              </a:rPr>
            </a:br>
            <a:endParaRPr lang="en-US" sz="2800" dirty="0">
              <a:solidFill>
                <a:schemeClr val="tx1"/>
              </a:solidFill>
              <a:effectLst/>
              <a:latin typeface="+mj-lt"/>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schemeClr val="tx1"/>
                </a:solidFill>
              </a:rPr>
              <a:pPr/>
              <a:t>March 13, 2024</a:t>
            </a:fld>
            <a:endParaRPr lang="en-US">
              <a:solidFill>
                <a:schemeClr val="tx1"/>
              </a:solidFill>
            </a:endParaRPr>
          </a:p>
        </p:txBody>
      </p:sp>
      <p:sp>
        <p:nvSpPr>
          <p:cNvPr id="5" name="Footer Placeholder 4"/>
          <p:cNvSpPr>
            <a:spLocks noGrp="1"/>
          </p:cNvSpPr>
          <p:nvPr>
            <p:ph type="ftr" sz="quarter" idx="11"/>
          </p:nvPr>
        </p:nvSpPr>
        <p:spPr/>
        <p:txBody>
          <a:bodyPr/>
          <a:lstStyle/>
          <a:p>
            <a:r>
              <a:rPr lang="en-US" dirty="0">
                <a:solidFill>
                  <a:schemeClr val="tx1"/>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schemeClr val="tx1"/>
                </a:solidFill>
              </a:rPr>
              <a:pPr/>
              <a:t>82</a:t>
            </a:fld>
            <a:endParaRPr lang="en-US" dirty="0">
              <a:solidFill>
                <a:schemeClr val="tx1"/>
              </a:solidFill>
            </a:endParaRPr>
          </a:p>
        </p:txBody>
      </p:sp>
      <p:sp>
        <p:nvSpPr>
          <p:cNvPr id="7" name="TextBox 6">
            <a:extLst>
              <a:ext uri="{FF2B5EF4-FFF2-40B4-BE49-F238E27FC236}">
                <a16:creationId xmlns:a16="http://schemas.microsoft.com/office/drawing/2014/main" id="{94041DC5-CB06-18D7-6A80-3040A807A0C6}"/>
              </a:ext>
            </a:extLst>
          </p:cNvPr>
          <p:cNvSpPr txBox="1"/>
          <p:nvPr/>
        </p:nvSpPr>
        <p:spPr>
          <a:xfrm>
            <a:off x="914400" y="1550180"/>
            <a:ext cx="7467600" cy="369332"/>
          </a:xfrm>
          <a:prstGeom prst="rect">
            <a:avLst/>
          </a:prstGeom>
          <a:noFill/>
        </p:spPr>
        <p:txBody>
          <a:bodyPr wrap="square">
            <a:spAutoFit/>
          </a:bodyPr>
          <a:lstStyle/>
          <a:p>
            <a:pPr algn="just"/>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375CE539-6F52-3FC4-5DBA-39A1D96D5FE3}"/>
              </a:ext>
            </a:extLst>
          </p:cNvPr>
          <p:cNvSpPr txBox="1"/>
          <p:nvPr/>
        </p:nvSpPr>
        <p:spPr>
          <a:xfrm>
            <a:off x="561392" y="1550180"/>
            <a:ext cx="7848600" cy="2031325"/>
          </a:xfrm>
          <a:prstGeom prst="rect">
            <a:avLst/>
          </a:prstGeom>
          <a:noFill/>
        </p:spPr>
        <p:txBody>
          <a:bodyPr wrap="square">
            <a:spAutoFit/>
          </a:bodyPr>
          <a:lstStyle/>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Solve the following recurrence relation using recursion tree method-</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T(n) = 2T(n/2) + n</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 problem of size n will get divided into 2 sub-problems of size n/2.</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Then, each sub-problem of size n/2 will get divided into 2 sub-problems of size n/4 and so on.</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At the bottom most layer, the size of sub-problems will reduce to 1.</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3" name="Picture 2" descr="A diagram of a tree&#10;&#10;Description automatically generated">
            <a:extLst>
              <a:ext uri="{FF2B5EF4-FFF2-40B4-BE49-F238E27FC236}">
                <a16:creationId xmlns:a16="http://schemas.microsoft.com/office/drawing/2014/main" id="{C286D79B-A7A4-B552-F5F7-C1C93203DAF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3957382"/>
            <a:ext cx="5227320" cy="2214818"/>
          </a:xfrm>
          <a:prstGeom prst="rect">
            <a:avLst/>
          </a:prstGeom>
          <a:noFill/>
          <a:ln>
            <a:noFill/>
          </a:ln>
        </p:spPr>
      </p:pic>
    </p:spTree>
    <p:extLst>
      <p:ext uri="{BB962C8B-B14F-4D97-AF65-F5344CB8AC3E}">
        <p14:creationId xmlns:p14="http://schemas.microsoft.com/office/powerpoint/2010/main" val="104364460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50838"/>
            <a:ext cx="6934200" cy="411162"/>
          </a:xfrm>
        </p:spPr>
        <p:style>
          <a:lnRef idx="1">
            <a:schemeClr val="accent5"/>
          </a:lnRef>
          <a:fillRef idx="2">
            <a:schemeClr val="accent5"/>
          </a:fillRef>
          <a:effectRef idx="1">
            <a:schemeClr val="accent5"/>
          </a:effectRef>
          <a:fontRef idx="minor">
            <a:schemeClr val="dk1"/>
          </a:fontRef>
        </p:style>
        <p:txBody>
          <a:bodyPr>
            <a:normAutofit fontScale="90000"/>
          </a:bodyPr>
          <a:lstStyle/>
          <a:p>
            <a:pPr>
              <a:spcBef>
                <a:spcPts val="0"/>
              </a:spcBef>
              <a:defRPr/>
            </a:pPr>
            <a:br>
              <a:rPr lang="en-US" sz="1800" b="0" i="0" u="none" strike="noStrike" baseline="0" dirty="0">
                <a:solidFill>
                  <a:srgbClr val="000000"/>
                </a:solidFill>
                <a:latin typeface="Verdana" panose="020B0604030504040204" pitchFamily="34" charset="0"/>
              </a:rPr>
            </a:br>
            <a:br>
              <a:rPr lang="en-US" sz="1800" b="0" i="0" u="none" strike="noStrike" baseline="0" dirty="0">
                <a:solidFill>
                  <a:srgbClr val="000000"/>
                </a:solidFill>
                <a:latin typeface="Verdana" panose="020B0604030504040204" pitchFamily="34" charset="0"/>
              </a:rPr>
            </a:br>
            <a:br>
              <a:rPr lang="en-US" sz="1800" b="0" i="0" u="none" strike="noStrike" baseline="0" dirty="0">
                <a:solidFill>
                  <a:srgbClr val="000000"/>
                </a:solidFill>
                <a:latin typeface="Verdana" panose="020B0604030504040204" pitchFamily="34" charset="0"/>
              </a:rPr>
            </a:br>
            <a:br>
              <a:rPr lang="en-US" sz="1800" b="0" i="0" u="none" strike="noStrike" baseline="0" dirty="0">
                <a:solidFill>
                  <a:srgbClr val="000000"/>
                </a:solidFill>
                <a:latin typeface="Verdana" panose="020B0604030504040204" pitchFamily="34" charset="0"/>
              </a:rPr>
            </a:br>
            <a:r>
              <a:rPr lang="en-IN" sz="2800" b="1" kern="100" dirty="0">
                <a:effectLst/>
                <a:latin typeface="Times New Roman" panose="02020603050405020304" pitchFamily="18" charset="0"/>
                <a:ea typeface="Aptos" panose="020B0004020202020204" pitchFamily="34" charset="0"/>
                <a:cs typeface="Times New Roman" panose="02020603050405020304" pitchFamily="18" charset="0"/>
              </a:rPr>
              <a:t>Recursive Tree Method</a:t>
            </a:r>
            <a:br>
              <a:rPr lang="en-IN" sz="2800" kern="100" dirty="0">
                <a:effectLst/>
                <a:latin typeface="Aptos" panose="020B0004020202020204" pitchFamily="34" charset="0"/>
                <a:ea typeface="Aptos" panose="020B0004020202020204" pitchFamily="34" charset="0"/>
                <a:cs typeface="Times New Roman" panose="02020603050405020304" pitchFamily="18" charset="0"/>
              </a:rPr>
            </a:br>
            <a:br>
              <a:rPr kumimoji="0" lang="en-IN" sz="14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br>
            <a:br>
              <a:rPr lang="en-US" sz="1800" b="0" i="0" u="none" strike="noStrike" baseline="0" dirty="0">
                <a:solidFill>
                  <a:srgbClr val="000000"/>
                </a:solidFill>
                <a:latin typeface="Verdana" panose="020B0604030504040204" pitchFamily="34" charset="0"/>
              </a:rPr>
            </a:br>
            <a:endParaRPr lang="en-US" sz="2800" dirty="0">
              <a:solidFill>
                <a:schemeClr val="tx1"/>
              </a:solidFill>
              <a:effectLst/>
              <a:latin typeface="+mj-lt"/>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C643BA-ACA1-44BF-9071-763295A35907}" type="datetime4">
              <a:rPr lang="en-US" smtClean="0">
                <a:solidFill>
                  <a:schemeClr val="tx1"/>
                </a:solidFill>
              </a:rPr>
              <a:pPr/>
              <a:t>March 13, 2024</a:t>
            </a:fld>
            <a:endParaRPr lang="en-US">
              <a:solidFill>
                <a:schemeClr val="tx1"/>
              </a:solidFill>
            </a:endParaRPr>
          </a:p>
        </p:txBody>
      </p:sp>
      <p:sp>
        <p:nvSpPr>
          <p:cNvPr id="5" name="Footer Placeholder 4"/>
          <p:cNvSpPr>
            <a:spLocks noGrp="1"/>
          </p:cNvSpPr>
          <p:nvPr>
            <p:ph type="ftr" sz="quarter" idx="11"/>
          </p:nvPr>
        </p:nvSpPr>
        <p:spPr/>
        <p:txBody>
          <a:bodyPr/>
          <a:lstStyle/>
          <a:p>
            <a:r>
              <a:rPr lang="en-US" dirty="0">
                <a:solidFill>
                  <a:schemeClr val="tx1"/>
                </a:solidFill>
              </a:rPr>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solidFill>
                  <a:schemeClr val="tx1"/>
                </a:solidFill>
              </a:rPr>
              <a:pPr/>
              <a:t>83</a:t>
            </a:fld>
            <a:endParaRPr lang="en-US" dirty="0">
              <a:solidFill>
                <a:schemeClr val="tx1"/>
              </a:solidFill>
            </a:endParaRPr>
          </a:p>
        </p:txBody>
      </p:sp>
      <p:sp>
        <p:nvSpPr>
          <p:cNvPr id="7" name="TextBox 6">
            <a:extLst>
              <a:ext uri="{FF2B5EF4-FFF2-40B4-BE49-F238E27FC236}">
                <a16:creationId xmlns:a16="http://schemas.microsoft.com/office/drawing/2014/main" id="{94041DC5-CB06-18D7-6A80-3040A807A0C6}"/>
              </a:ext>
            </a:extLst>
          </p:cNvPr>
          <p:cNvSpPr txBox="1"/>
          <p:nvPr/>
        </p:nvSpPr>
        <p:spPr>
          <a:xfrm>
            <a:off x="914400" y="1550180"/>
            <a:ext cx="7467600" cy="369332"/>
          </a:xfrm>
          <a:prstGeom prst="rect">
            <a:avLst/>
          </a:prstGeom>
          <a:noFill/>
        </p:spPr>
        <p:txBody>
          <a:bodyPr wrap="square">
            <a:spAutoFit/>
          </a:bodyPr>
          <a:lstStyle/>
          <a:p>
            <a:pPr algn="just"/>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375CE539-6F52-3FC4-5DBA-39A1D96D5FE3}"/>
              </a:ext>
            </a:extLst>
          </p:cNvPr>
          <p:cNvSpPr txBox="1"/>
          <p:nvPr/>
        </p:nvSpPr>
        <p:spPr>
          <a:xfrm>
            <a:off x="304800" y="1575062"/>
            <a:ext cx="5139612" cy="4144853"/>
          </a:xfrm>
          <a:prstGeom prst="rect">
            <a:avLst/>
          </a:prstGeom>
          <a:noFill/>
        </p:spPr>
        <p:txBody>
          <a:bodyPr wrap="square">
            <a:spAutoFit/>
          </a:bodyPr>
          <a:lstStyle/>
          <a:p>
            <a:pPr>
              <a:lnSpc>
                <a:spcPct val="107000"/>
              </a:lnSpc>
              <a:spcBef>
                <a:spcPts val="300"/>
              </a:spcBef>
              <a:spcAft>
                <a:spcPts val="900"/>
              </a:spcAft>
            </a:pPr>
            <a:r>
              <a:rPr lang="en-IN" sz="1800" kern="0" dirty="0">
                <a:solidFill>
                  <a:srgbClr val="303030"/>
                </a:solidFill>
                <a:effectLst/>
                <a:latin typeface="Times New Roman" panose="02020603050405020304" pitchFamily="18" charset="0"/>
                <a:ea typeface="Times New Roman" panose="02020603050405020304" pitchFamily="18" charset="0"/>
                <a:cs typeface="Times New Roman" panose="02020603050405020304" pitchFamily="18" charset="0"/>
              </a:rPr>
              <a:t>The given recurrence relation shows-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Bef>
                <a:spcPts val="300"/>
              </a:spcBef>
              <a:spcAft>
                <a:spcPts val="300"/>
              </a:spcAft>
              <a:buSzPts val="1000"/>
              <a:buFont typeface="Symbol" panose="05050102010706020507" pitchFamily="18" charset="2"/>
              <a:buChar char=""/>
              <a:tabLst>
                <a:tab pos="457200" algn="l"/>
              </a:tabLst>
            </a:pPr>
            <a:r>
              <a:rPr lang="en-IN" sz="1800" kern="0" dirty="0">
                <a:solidFill>
                  <a:srgbClr val="303030"/>
                </a:solidFill>
                <a:effectLst/>
                <a:latin typeface="Times New Roman" panose="02020603050405020304" pitchFamily="18" charset="0"/>
                <a:ea typeface="Times New Roman" panose="02020603050405020304" pitchFamily="18" charset="0"/>
                <a:cs typeface="Times New Roman" panose="02020603050405020304" pitchFamily="18" charset="0"/>
              </a:rPr>
              <a:t>The cost of dividing a problem of size n into its 2 sub-problems and then combining its solution is n.</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Bef>
                <a:spcPts val="300"/>
              </a:spcBef>
              <a:spcAft>
                <a:spcPts val="300"/>
              </a:spcAft>
              <a:buSzPts val="1000"/>
              <a:buFont typeface="Symbol" panose="05050102010706020507" pitchFamily="18" charset="2"/>
              <a:buChar char=""/>
              <a:tabLst>
                <a:tab pos="457200" algn="l"/>
              </a:tabLst>
            </a:pPr>
            <a:r>
              <a:rPr lang="en-IN" sz="1800" kern="0" dirty="0">
                <a:solidFill>
                  <a:srgbClr val="303030"/>
                </a:solidFill>
                <a:effectLst/>
                <a:latin typeface="Times New Roman" panose="02020603050405020304" pitchFamily="18" charset="0"/>
                <a:ea typeface="Times New Roman" panose="02020603050405020304" pitchFamily="18" charset="0"/>
                <a:cs typeface="Times New Roman" panose="02020603050405020304" pitchFamily="18" charset="0"/>
              </a:rPr>
              <a:t>The cost of dividing a problem of size n/2 into its 2 sub-problems and then combining its solution is n/2 and so on.</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Bef>
                <a:spcPts val="300"/>
              </a:spcBef>
              <a:spcAft>
                <a:spcPts val="900"/>
              </a:spcAft>
            </a:pPr>
            <a:r>
              <a:rPr lang="en-IN" sz="1800" kern="0" dirty="0">
                <a:solidFill>
                  <a:srgbClr val="30303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Bef>
                <a:spcPts val="300"/>
              </a:spcBef>
              <a:spcAft>
                <a:spcPts val="900"/>
              </a:spcAft>
            </a:pPr>
            <a:r>
              <a:rPr lang="en-IN" sz="1800" kern="0" dirty="0">
                <a:solidFill>
                  <a:srgbClr val="303030"/>
                </a:solidFill>
                <a:effectLst/>
                <a:latin typeface="Times New Roman" panose="02020603050405020304" pitchFamily="18" charset="0"/>
                <a:ea typeface="Times New Roman" panose="02020603050405020304" pitchFamily="18" charset="0"/>
                <a:cs typeface="Times New Roman" panose="02020603050405020304" pitchFamily="18" charset="0"/>
              </a:rPr>
              <a:t>This is illustrated through following recursion tree where each node represents the cost of the corresponding sub-problem-</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8" name="Picture 7" descr="A diagram of a tree&#10;&#10;Description automatically generated">
            <a:extLst>
              <a:ext uri="{FF2B5EF4-FFF2-40B4-BE49-F238E27FC236}">
                <a16:creationId xmlns:a16="http://schemas.microsoft.com/office/drawing/2014/main" id="{A43648DB-6A1B-F8F1-0FF2-E9D7B2EB123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802085" y="1908626"/>
            <a:ext cx="2579915" cy="3124200"/>
          </a:xfrm>
          <a:prstGeom prst="rect">
            <a:avLst/>
          </a:prstGeom>
          <a:noFill/>
          <a:ln>
            <a:noFill/>
          </a:ln>
        </p:spPr>
      </p:pic>
    </p:spTree>
    <p:extLst>
      <p:ext uri="{BB962C8B-B14F-4D97-AF65-F5344CB8AC3E}">
        <p14:creationId xmlns:p14="http://schemas.microsoft.com/office/powerpoint/2010/main" val="14057677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7356C-14D6-B28E-7EE1-6970B5B6CAA3}"/>
              </a:ext>
            </a:extLst>
          </p:cNvPr>
          <p:cNvSpPr>
            <a:spLocks noGrp="1"/>
          </p:cNvSpPr>
          <p:nvPr>
            <p:ph type="title"/>
          </p:nvPr>
        </p:nvSpPr>
        <p:spPr/>
        <p:txBody>
          <a:bodyPr/>
          <a:lstStyle/>
          <a:p>
            <a:endParaRPr lang="en-IN"/>
          </a:p>
        </p:txBody>
      </p:sp>
      <p:sp>
        <p:nvSpPr>
          <p:cNvPr id="4" name="Date Placeholder 3">
            <a:extLst>
              <a:ext uri="{FF2B5EF4-FFF2-40B4-BE49-F238E27FC236}">
                <a16:creationId xmlns:a16="http://schemas.microsoft.com/office/drawing/2014/main" id="{BF515FC9-73D5-8B2D-632A-1230932D6676}"/>
              </a:ext>
            </a:extLst>
          </p:cNvPr>
          <p:cNvSpPr>
            <a:spLocks noGrp="1"/>
          </p:cNvSpPr>
          <p:nvPr>
            <p:ph type="dt" sz="half" idx="10"/>
          </p:nvPr>
        </p:nvSpPr>
        <p:spPr/>
        <p:txBody>
          <a:bodyPr/>
          <a:lstStyle/>
          <a:p>
            <a:fld id="{F6C643BA-ACA1-44BF-9071-763295A35907}" type="datetime4">
              <a:rPr lang="en-US" smtClean="0"/>
              <a:t>March 13, 2024</a:t>
            </a:fld>
            <a:endParaRPr lang="en-US"/>
          </a:p>
        </p:txBody>
      </p:sp>
      <p:sp>
        <p:nvSpPr>
          <p:cNvPr id="5" name="Footer Placeholder 4">
            <a:extLst>
              <a:ext uri="{FF2B5EF4-FFF2-40B4-BE49-F238E27FC236}">
                <a16:creationId xmlns:a16="http://schemas.microsoft.com/office/drawing/2014/main" id="{80BE7E5C-7D27-9286-2306-D15884AE705E}"/>
              </a:ext>
            </a:extLst>
          </p:cNvPr>
          <p:cNvSpPr>
            <a:spLocks noGrp="1"/>
          </p:cNvSpPr>
          <p:nvPr>
            <p:ph type="ftr" sz="quarter" idx="11"/>
          </p:nvPr>
        </p:nvSpPr>
        <p:spPr/>
        <p:txBody>
          <a:bodyPr/>
          <a:lstStyle/>
          <a:p>
            <a:r>
              <a:rPr lang="en-US"/>
              <a:t>Department of Computer Science &amp; Engineering, VNRVJIET, Hyderabad</a:t>
            </a:r>
          </a:p>
        </p:txBody>
      </p:sp>
      <p:sp>
        <p:nvSpPr>
          <p:cNvPr id="6" name="Slide Number Placeholder 5">
            <a:extLst>
              <a:ext uri="{FF2B5EF4-FFF2-40B4-BE49-F238E27FC236}">
                <a16:creationId xmlns:a16="http://schemas.microsoft.com/office/drawing/2014/main" id="{22776885-E58E-9D7B-5A7D-EA76FCF1A095}"/>
              </a:ext>
            </a:extLst>
          </p:cNvPr>
          <p:cNvSpPr>
            <a:spLocks noGrp="1"/>
          </p:cNvSpPr>
          <p:nvPr>
            <p:ph type="sldNum" sz="quarter" idx="12"/>
          </p:nvPr>
        </p:nvSpPr>
        <p:spPr/>
        <p:txBody>
          <a:bodyPr/>
          <a:lstStyle/>
          <a:p>
            <a:fld id="{C4FA3F07-B4E9-4FEB-BC07-B9713C186F28}" type="slidenum">
              <a:rPr lang="en-US" smtClean="0"/>
              <a:pPr/>
              <a:t>84</a:t>
            </a:fld>
            <a:endParaRPr lang="en-US" dirty="0"/>
          </a:p>
        </p:txBody>
      </p:sp>
      <p:sp>
        <p:nvSpPr>
          <p:cNvPr id="8" name="TextBox 7">
            <a:extLst>
              <a:ext uri="{FF2B5EF4-FFF2-40B4-BE49-F238E27FC236}">
                <a16:creationId xmlns:a16="http://schemas.microsoft.com/office/drawing/2014/main" id="{3FAEEA91-CADC-A034-75A9-EC4998ECF419}"/>
              </a:ext>
            </a:extLst>
          </p:cNvPr>
          <p:cNvSpPr txBox="1"/>
          <p:nvPr/>
        </p:nvSpPr>
        <p:spPr>
          <a:xfrm>
            <a:off x="990600" y="1600200"/>
            <a:ext cx="7620000" cy="3970318"/>
          </a:xfrm>
          <a:prstGeom prst="rect">
            <a:avLst/>
          </a:prstGeom>
          <a:noFill/>
        </p:spPr>
        <p:txBody>
          <a:bodyPr wrap="square">
            <a:spAutoFit/>
          </a:bodyPr>
          <a:lstStyle/>
          <a:p>
            <a:r>
              <a:rPr lang="en-IN" sz="1800" b="1" kern="100" dirty="0">
                <a:effectLst/>
                <a:latin typeface="Times New Roman" panose="02020603050405020304" pitchFamily="18" charset="0"/>
                <a:ea typeface="Aptos" panose="020B0004020202020204" pitchFamily="34" charset="0"/>
                <a:cs typeface="Times New Roman" panose="02020603050405020304" pitchFamily="18" charset="0"/>
              </a:rPr>
              <a:t>Step-02:</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Determine cost of each level-</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Cost of level-0 = n</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Cost of level-1 = n/2 + n/2 = n</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Cost of level-2 = n/4 + n/4 + n/4 + n/4 = n and so on.</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b="1" kern="100" dirty="0">
                <a:effectLst/>
                <a:latin typeface="Times New Roman" panose="02020603050405020304" pitchFamily="18" charset="0"/>
                <a:ea typeface="Aptos" panose="020B0004020202020204" pitchFamily="34" charset="0"/>
                <a:cs typeface="Times New Roman" panose="02020603050405020304" pitchFamily="18" charset="0"/>
              </a:rPr>
              <a:t>Step-03:</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Determine total number of levels in the recursion tree-</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Size of sub-problem at level-0 = n/2</a:t>
            </a:r>
            <a:r>
              <a:rPr lang="en-IN" sz="1800" kern="100" baseline="30000" dirty="0">
                <a:effectLst/>
                <a:latin typeface="Times New Roman" panose="02020603050405020304" pitchFamily="18" charset="0"/>
                <a:ea typeface="Aptos" panose="020B0004020202020204" pitchFamily="34" charset="0"/>
                <a:cs typeface="Times New Roman" panose="02020603050405020304" pitchFamily="18" charset="0"/>
              </a:rPr>
              <a:t>0</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Size of sub-problem at level-1 = n/2</a:t>
            </a:r>
            <a:r>
              <a:rPr lang="en-IN" sz="1800" kern="100" baseline="30000" dirty="0">
                <a:effectLst/>
                <a:latin typeface="Times New Roman" panose="02020603050405020304" pitchFamily="18" charset="0"/>
                <a:ea typeface="Aptos" panose="020B0004020202020204" pitchFamily="34" charset="0"/>
                <a:cs typeface="Times New Roman" panose="02020603050405020304" pitchFamily="18" charset="0"/>
              </a:rPr>
              <a:t>1</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Size of sub-problem at level-2 = n/2</a:t>
            </a:r>
            <a:r>
              <a:rPr lang="en-IN" sz="1800" kern="100" baseline="30000" dirty="0">
                <a:effectLst/>
                <a:latin typeface="Times New Roman" panose="02020603050405020304" pitchFamily="18" charset="0"/>
                <a:ea typeface="Aptos" panose="020B0004020202020204" pitchFamily="34" charset="0"/>
                <a:cs typeface="Times New Roman" panose="02020603050405020304" pitchFamily="18" charset="0"/>
              </a:rPr>
              <a:t>2</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41286066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7356C-14D6-B28E-7EE1-6970B5B6CAA3}"/>
              </a:ext>
            </a:extLst>
          </p:cNvPr>
          <p:cNvSpPr>
            <a:spLocks noGrp="1"/>
          </p:cNvSpPr>
          <p:nvPr>
            <p:ph type="title"/>
          </p:nvPr>
        </p:nvSpPr>
        <p:spPr/>
        <p:txBody>
          <a:bodyPr/>
          <a:lstStyle/>
          <a:p>
            <a:endParaRPr lang="en-IN"/>
          </a:p>
        </p:txBody>
      </p:sp>
      <p:sp>
        <p:nvSpPr>
          <p:cNvPr id="4" name="Date Placeholder 3">
            <a:extLst>
              <a:ext uri="{FF2B5EF4-FFF2-40B4-BE49-F238E27FC236}">
                <a16:creationId xmlns:a16="http://schemas.microsoft.com/office/drawing/2014/main" id="{BF515FC9-73D5-8B2D-632A-1230932D6676}"/>
              </a:ext>
            </a:extLst>
          </p:cNvPr>
          <p:cNvSpPr>
            <a:spLocks noGrp="1"/>
          </p:cNvSpPr>
          <p:nvPr>
            <p:ph type="dt" sz="half" idx="10"/>
          </p:nvPr>
        </p:nvSpPr>
        <p:spPr/>
        <p:txBody>
          <a:bodyPr/>
          <a:lstStyle/>
          <a:p>
            <a:fld id="{F6C643BA-ACA1-44BF-9071-763295A35907}" type="datetime4">
              <a:rPr lang="en-US" smtClean="0"/>
              <a:t>March 13, 2024</a:t>
            </a:fld>
            <a:endParaRPr lang="en-US"/>
          </a:p>
        </p:txBody>
      </p:sp>
      <p:sp>
        <p:nvSpPr>
          <p:cNvPr id="5" name="Footer Placeholder 4">
            <a:extLst>
              <a:ext uri="{FF2B5EF4-FFF2-40B4-BE49-F238E27FC236}">
                <a16:creationId xmlns:a16="http://schemas.microsoft.com/office/drawing/2014/main" id="{80BE7E5C-7D27-9286-2306-D15884AE705E}"/>
              </a:ext>
            </a:extLst>
          </p:cNvPr>
          <p:cNvSpPr>
            <a:spLocks noGrp="1"/>
          </p:cNvSpPr>
          <p:nvPr>
            <p:ph type="ftr" sz="quarter" idx="11"/>
          </p:nvPr>
        </p:nvSpPr>
        <p:spPr/>
        <p:txBody>
          <a:bodyPr/>
          <a:lstStyle/>
          <a:p>
            <a:r>
              <a:rPr lang="en-US"/>
              <a:t>Department of Computer Science &amp; Engineering, VNRVJIET, Hyderabad</a:t>
            </a:r>
          </a:p>
        </p:txBody>
      </p:sp>
      <p:sp>
        <p:nvSpPr>
          <p:cNvPr id="6" name="Slide Number Placeholder 5">
            <a:extLst>
              <a:ext uri="{FF2B5EF4-FFF2-40B4-BE49-F238E27FC236}">
                <a16:creationId xmlns:a16="http://schemas.microsoft.com/office/drawing/2014/main" id="{22776885-E58E-9D7B-5A7D-EA76FCF1A095}"/>
              </a:ext>
            </a:extLst>
          </p:cNvPr>
          <p:cNvSpPr>
            <a:spLocks noGrp="1"/>
          </p:cNvSpPr>
          <p:nvPr>
            <p:ph type="sldNum" sz="quarter" idx="12"/>
          </p:nvPr>
        </p:nvSpPr>
        <p:spPr/>
        <p:txBody>
          <a:bodyPr/>
          <a:lstStyle/>
          <a:p>
            <a:fld id="{C4FA3F07-B4E9-4FEB-BC07-B9713C186F28}" type="slidenum">
              <a:rPr lang="en-US" smtClean="0"/>
              <a:pPr/>
              <a:t>85</a:t>
            </a:fld>
            <a:endParaRPr lang="en-US" dirty="0"/>
          </a:p>
        </p:txBody>
      </p:sp>
      <p:sp>
        <p:nvSpPr>
          <p:cNvPr id="8" name="TextBox 7">
            <a:extLst>
              <a:ext uri="{FF2B5EF4-FFF2-40B4-BE49-F238E27FC236}">
                <a16:creationId xmlns:a16="http://schemas.microsoft.com/office/drawing/2014/main" id="{3FAEEA91-CADC-A034-75A9-EC4998ECF419}"/>
              </a:ext>
            </a:extLst>
          </p:cNvPr>
          <p:cNvSpPr txBox="1"/>
          <p:nvPr/>
        </p:nvSpPr>
        <p:spPr>
          <a:xfrm>
            <a:off x="990600" y="1600200"/>
            <a:ext cx="7620000" cy="4524315"/>
          </a:xfrm>
          <a:prstGeom prst="rect">
            <a:avLst/>
          </a:prstGeom>
          <a:noFill/>
        </p:spPr>
        <p:txBody>
          <a:bodyPr wrap="square">
            <a:spAutoFit/>
          </a:bodyPr>
          <a:lstStyle/>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Continuing in similar manner, we have-</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Size of sub-problem at level-i = n/2</a:t>
            </a:r>
            <a:r>
              <a:rPr lang="en-IN" sz="1800" kern="100" baseline="30000" dirty="0">
                <a:effectLst/>
                <a:latin typeface="Times New Roman" panose="02020603050405020304" pitchFamily="18" charset="0"/>
                <a:ea typeface="Aptos" panose="020B0004020202020204" pitchFamily="34" charset="0"/>
                <a:cs typeface="Times New Roman" panose="02020603050405020304" pitchFamily="18" charset="0"/>
              </a:rPr>
              <a:t>i</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Suppose at level-x (last level), size of sub-problem becomes 1. Then-</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pPr indent="457200"/>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n / 2</a:t>
            </a:r>
            <a:r>
              <a:rPr lang="en-IN" sz="1800" kern="100" baseline="30000" dirty="0">
                <a:effectLst/>
                <a:latin typeface="Times New Roman" panose="02020603050405020304" pitchFamily="18" charset="0"/>
                <a:ea typeface="Aptos" panose="020B0004020202020204" pitchFamily="34" charset="0"/>
                <a:cs typeface="Times New Roman" panose="02020603050405020304" pitchFamily="18" charset="0"/>
              </a:rPr>
              <a:t>x</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 1</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pPr indent="457200"/>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2</a:t>
            </a:r>
            <a:r>
              <a:rPr lang="en-IN" sz="1800" kern="100" baseline="30000" dirty="0">
                <a:effectLst/>
                <a:latin typeface="Times New Roman" panose="02020603050405020304" pitchFamily="18" charset="0"/>
                <a:ea typeface="Aptos" panose="020B0004020202020204" pitchFamily="34" charset="0"/>
                <a:cs typeface="Times New Roman" panose="02020603050405020304" pitchFamily="18" charset="0"/>
              </a:rPr>
              <a:t>x</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 n</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pPr indent="457200"/>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Taking log on both sides, we get-</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pPr indent="457200"/>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xlog2 = </a:t>
            </a:r>
            <a:r>
              <a:rPr lang="en-IN" sz="1800" kern="100" dirty="0" err="1">
                <a:effectLst/>
                <a:latin typeface="Times New Roman" panose="02020603050405020304" pitchFamily="18" charset="0"/>
                <a:ea typeface="Aptos" panose="020B0004020202020204" pitchFamily="34" charset="0"/>
                <a:cs typeface="Times New Roman" panose="02020603050405020304" pitchFamily="18" charset="0"/>
              </a:rPr>
              <a:t>logn</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pPr indent="457200"/>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x = log</a:t>
            </a:r>
            <a:r>
              <a:rPr lang="en-IN" sz="1800" kern="100" baseline="-25000" dirty="0">
                <a:effectLst/>
                <a:latin typeface="Times New Roman" panose="02020603050405020304" pitchFamily="18" charset="0"/>
                <a:ea typeface="Aptos" panose="020B0004020202020204" pitchFamily="34" charset="0"/>
                <a:cs typeface="Times New Roman" panose="02020603050405020304" pitchFamily="18" charset="0"/>
              </a:rPr>
              <a:t>2</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n</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Cambria Math" panose="02040503050406030204" pitchFamily="18" charset="0"/>
                <a:ea typeface="Aptos" panose="020B0004020202020204" pitchFamily="34" charset="0"/>
                <a:cs typeface="Cambria Math" panose="02040503050406030204" pitchFamily="18" charset="0"/>
              </a:rPr>
              <a:t>∴</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Total number of levels in the recursion tree = log</a:t>
            </a:r>
            <a:r>
              <a:rPr lang="en-IN" sz="1800" kern="100" baseline="-25000" dirty="0">
                <a:effectLst/>
                <a:latin typeface="Times New Roman" panose="02020603050405020304" pitchFamily="18" charset="0"/>
                <a:ea typeface="Aptos" panose="020B0004020202020204" pitchFamily="34" charset="0"/>
                <a:cs typeface="Times New Roman" panose="02020603050405020304" pitchFamily="18" charset="0"/>
              </a:rPr>
              <a:t>2</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n + 1</a:t>
            </a:r>
          </a:p>
          <a:p>
            <a:r>
              <a:rPr lang="en-IN" sz="1800" b="1" kern="100" dirty="0">
                <a:effectLst/>
                <a:latin typeface="Times New Roman" panose="02020603050405020304" pitchFamily="18" charset="0"/>
                <a:ea typeface="Aptos" panose="020B0004020202020204" pitchFamily="34" charset="0"/>
                <a:cs typeface="Times New Roman" panose="02020603050405020304" pitchFamily="18" charset="0"/>
              </a:rPr>
              <a:t>Step-04:</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Determine number of nodes in the last level-</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Level-0 has 2</a:t>
            </a:r>
            <a:r>
              <a:rPr lang="en-IN" sz="1800" kern="100" baseline="30000" dirty="0">
                <a:effectLst/>
                <a:latin typeface="Times New Roman" panose="02020603050405020304" pitchFamily="18" charset="0"/>
                <a:ea typeface="Aptos" panose="020B0004020202020204" pitchFamily="34" charset="0"/>
                <a:cs typeface="Times New Roman" panose="02020603050405020304" pitchFamily="18" charset="0"/>
              </a:rPr>
              <a:t>0</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nodes i.e. 1 node</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Level-1 has 2</a:t>
            </a:r>
            <a:r>
              <a:rPr lang="en-IN" sz="1800" kern="100" baseline="30000" dirty="0">
                <a:effectLst/>
                <a:latin typeface="Times New Roman" panose="02020603050405020304" pitchFamily="18" charset="0"/>
                <a:ea typeface="Aptos" panose="020B0004020202020204" pitchFamily="34" charset="0"/>
                <a:cs typeface="Times New Roman" panose="02020603050405020304" pitchFamily="18" charset="0"/>
              </a:rPr>
              <a:t>1</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nodes i.e. 2 nodes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Level-2 has 2</a:t>
            </a:r>
            <a:r>
              <a:rPr lang="en-IN" sz="1800" kern="100" baseline="30000" dirty="0">
                <a:effectLst/>
                <a:latin typeface="Times New Roman" panose="02020603050405020304" pitchFamily="18" charset="0"/>
                <a:ea typeface="Aptos" panose="020B0004020202020204" pitchFamily="34" charset="0"/>
                <a:cs typeface="Times New Roman" panose="02020603050405020304" pitchFamily="18" charset="0"/>
              </a:rPr>
              <a:t>2</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nodes i.e. 4 nodes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9999796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7356C-14D6-B28E-7EE1-6970B5B6CAA3}"/>
              </a:ext>
            </a:extLst>
          </p:cNvPr>
          <p:cNvSpPr>
            <a:spLocks noGrp="1"/>
          </p:cNvSpPr>
          <p:nvPr>
            <p:ph type="title"/>
          </p:nvPr>
        </p:nvSpPr>
        <p:spPr/>
        <p:txBody>
          <a:bodyPr/>
          <a:lstStyle/>
          <a:p>
            <a:endParaRPr lang="en-IN"/>
          </a:p>
        </p:txBody>
      </p:sp>
      <p:sp>
        <p:nvSpPr>
          <p:cNvPr id="4" name="Date Placeholder 3">
            <a:extLst>
              <a:ext uri="{FF2B5EF4-FFF2-40B4-BE49-F238E27FC236}">
                <a16:creationId xmlns:a16="http://schemas.microsoft.com/office/drawing/2014/main" id="{BF515FC9-73D5-8B2D-632A-1230932D6676}"/>
              </a:ext>
            </a:extLst>
          </p:cNvPr>
          <p:cNvSpPr>
            <a:spLocks noGrp="1"/>
          </p:cNvSpPr>
          <p:nvPr>
            <p:ph type="dt" sz="half" idx="10"/>
          </p:nvPr>
        </p:nvSpPr>
        <p:spPr/>
        <p:txBody>
          <a:bodyPr/>
          <a:lstStyle/>
          <a:p>
            <a:fld id="{F6C643BA-ACA1-44BF-9071-763295A35907}" type="datetime4">
              <a:rPr lang="en-US" smtClean="0"/>
              <a:t>March 13, 2024</a:t>
            </a:fld>
            <a:endParaRPr lang="en-US"/>
          </a:p>
        </p:txBody>
      </p:sp>
      <p:sp>
        <p:nvSpPr>
          <p:cNvPr id="5" name="Footer Placeholder 4">
            <a:extLst>
              <a:ext uri="{FF2B5EF4-FFF2-40B4-BE49-F238E27FC236}">
                <a16:creationId xmlns:a16="http://schemas.microsoft.com/office/drawing/2014/main" id="{80BE7E5C-7D27-9286-2306-D15884AE705E}"/>
              </a:ext>
            </a:extLst>
          </p:cNvPr>
          <p:cNvSpPr>
            <a:spLocks noGrp="1"/>
          </p:cNvSpPr>
          <p:nvPr>
            <p:ph type="ftr" sz="quarter" idx="11"/>
          </p:nvPr>
        </p:nvSpPr>
        <p:spPr/>
        <p:txBody>
          <a:bodyPr/>
          <a:lstStyle/>
          <a:p>
            <a:r>
              <a:rPr lang="en-US"/>
              <a:t>Department of Computer Science &amp; Engineering, VNRVJIET, Hyderabad</a:t>
            </a:r>
          </a:p>
        </p:txBody>
      </p:sp>
      <p:sp>
        <p:nvSpPr>
          <p:cNvPr id="6" name="Slide Number Placeholder 5">
            <a:extLst>
              <a:ext uri="{FF2B5EF4-FFF2-40B4-BE49-F238E27FC236}">
                <a16:creationId xmlns:a16="http://schemas.microsoft.com/office/drawing/2014/main" id="{22776885-E58E-9D7B-5A7D-EA76FCF1A095}"/>
              </a:ext>
            </a:extLst>
          </p:cNvPr>
          <p:cNvSpPr>
            <a:spLocks noGrp="1"/>
          </p:cNvSpPr>
          <p:nvPr>
            <p:ph type="sldNum" sz="quarter" idx="12"/>
          </p:nvPr>
        </p:nvSpPr>
        <p:spPr/>
        <p:txBody>
          <a:bodyPr/>
          <a:lstStyle/>
          <a:p>
            <a:fld id="{C4FA3F07-B4E9-4FEB-BC07-B9713C186F28}" type="slidenum">
              <a:rPr lang="en-US" smtClean="0"/>
              <a:pPr/>
              <a:t>86</a:t>
            </a:fld>
            <a:endParaRPr lang="en-US"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FAEEA91-CADC-A034-75A9-EC4998ECF419}"/>
                  </a:ext>
                </a:extLst>
              </p:cNvPr>
              <p:cNvSpPr txBox="1"/>
              <p:nvPr/>
            </p:nvSpPr>
            <p:spPr>
              <a:xfrm>
                <a:off x="749559" y="1600200"/>
                <a:ext cx="7620000" cy="3908762"/>
              </a:xfrm>
              <a:prstGeom prst="rect">
                <a:avLst/>
              </a:prstGeom>
              <a:noFill/>
            </p:spPr>
            <p:txBody>
              <a:bodyPr wrap="square">
                <a:spAutoFit/>
              </a:bodyPr>
              <a:lstStyle/>
              <a:p>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Continuing in similar manner, we have-</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br>
                  <a:rPr lang="en-IN" sz="1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b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Level-</a:t>
                </a:r>
                <a14:m>
                  <m:oMath xmlns:m="http://schemas.openxmlformats.org/officeDocument/2006/math">
                    <m:func>
                      <m:funcPr>
                        <m:ctrlPr>
                          <a:rPr lang="en-IN" sz="1800" i="1" kern="100" baseline="30000">
                            <a:effectLst/>
                            <a:latin typeface="Cambria Math" panose="02040503050406030204" pitchFamily="18" charset="0"/>
                            <a:ea typeface="Aptos" panose="020B0004020202020204" pitchFamily="34" charset="0"/>
                            <a:cs typeface="Times New Roman" panose="02020603050405020304" pitchFamily="18" charset="0"/>
                          </a:rPr>
                        </m:ctrlPr>
                      </m:funcPr>
                      <m:fName>
                        <m:sSub>
                          <m:sSubPr>
                            <m:ctrlPr>
                              <a:rPr lang="en-IN" sz="1800" i="1" kern="100" baseline="30000">
                                <a:effectLst/>
                                <a:latin typeface="Cambria Math" panose="02040503050406030204" pitchFamily="18" charset="0"/>
                                <a:ea typeface="Aptos" panose="020B0004020202020204" pitchFamily="34" charset="0"/>
                                <a:cs typeface="Times New Roman" panose="02020603050405020304" pitchFamily="18" charset="0"/>
                              </a:rPr>
                            </m:ctrlPr>
                          </m:sSubPr>
                          <m:e>
                            <m:r>
                              <m:rPr>
                                <m:sty m:val="p"/>
                              </m:rPr>
                              <a:rPr lang="en-IN" sz="1800" kern="100" baseline="30000">
                                <a:effectLst/>
                                <a:latin typeface="Cambria Math" panose="02040503050406030204" pitchFamily="18" charset="0"/>
                                <a:ea typeface="Aptos" panose="020B0004020202020204" pitchFamily="34" charset="0"/>
                                <a:cs typeface="Times New Roman" panose="02020603050405020304" pitchFamily="18" charset="0"/>
                              </a:rPr>
                              <m:t>log</m:t>
                            </m:r>
                          </m:e>
                          <m:sub>
                            <m:r>
                              <a:rPr lang="en-IN" sz="1800" kern="100" baseline="30000">
                                <a:effectLst/>
                                <a:latin typeface="Cambria Math" panose="02040503050406030204" pitchFamily="18" charset="0"/>
                                <a:ea typeface="Aptos" panose="020B0004020202020204" pitchFamily="34" charset="0"/>
                                <a:cs typeface="Times New Roman" panose="02020603050405020304" pitchFamily="18" charset="0"/>
                              </a:rPr>
                              <m:t>2</m:t>
                            </m:r>
                          </m:sub>
                        </m:sSub>
                      </m:fName>
                      <m:e>
                        <m:r>
                          <m:rPr>
                            <m:sty m:val="p"/>
                          </m:rPr>
                          <a:rPr lang="en-IN" sz="1800" kern="100" baseline="30000">
                            <a:effectLst/>
                            <a:latin typeface="Cambria Math" panose="02040503050406030204" pitchFamily="18" charset="0"/>
                            <a:ea typeface="Aptos" panose="020B0004020202020204" pitchFamily="34" charset="0"/>
                            <a:cs typeface="Times New Roman" panose="02020603050405020304" pitchFamily="18" charset="0"/>
                          </a:rPr>
                          <m:t>n</m:t>
                        </m:r>
                      </m:e>
                    </m:func>
                  </m:oMath>
                </a14:m>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has </a:t>
                </a:r>
                <a14:m>
                  <m:oMath xmlns:m="http://schemas.openxmlformats.org/officeDocument/2006/math">
                    <m:sSup>
                      <m:sSupPr>
                        <m:ctrlPr>
                          <a:rPr lang="en-IN" sz="1800" i="1" kern="100">
                            <a:effectLst/>
                            <a:latin typeface="Cambria Math" panose="02040503050406030204" pitchFamily="18" charset="0"/>
                            <a:ea typeface="Aptos" panose="020B0004020202020204" pitchFamily="34" charset="0"/>
                            <a:cs typeface="Times New Roman" panose="02020603050405020304" pitchFamily="18" charset="0"/>
                          </a:rPr>
                        </m:ctrlPr>
                      </m:sSupPr>
                      <m:e>
                        <m:r>
                          <a:rPr lang="en-IN" sz="1800" kern="100">
                            <a:effectLst/>
                            <a:latin typeface="Cambria Math" panose="02040503050406030204" pitchFamily="18" charset="0"/>
                            <a:ea typeface="Aptos" panose="020B0004020202020204" pitchFamily="34" charset="0"/>
                            <a:cs typeface="Times New Roman" panose="02020603050405020304" pitchFamily="18" charset="0"/>
                          </a:rPr>
                          <m:t>2</m:t>
                        </m:r>
                      </m:e>
                      <m:sup>
                        <m:func>
                          <m:funcPr>
                            <m:ctrlPr>
                              <a:rPr lang="en-IN" sz="1800" i="1" kern="100" baseline="30000">
                                <a:effectLst/>
                                <a:latin typeface="Cambria Math" panose="02040503050406030204" pitchFamily="18" charset="0"/>
                                <a:ea typeface="Aptos" panose="020B0004020202020204" pitchFamily="34" charset="0"/>
                                <a:cs typeface="Times New Roman" panose="02020603050405020304" pitchFamily="18" charset="0"/>
                              </a:rPr>
                            </m:ctrlPr>
                          </m:funcPr>
                          <m:fName>
                            <m:sSub>
                              <m:sSubPr>
                                <m:ctrlPr>
                                  <a:rPr lang="en-IN" sz="1800" i="1" kern="100" baseline="30000">
                                    <a:effectLst/>
                                    <a:latin typeface="Cambria Math" panose="02040503050406030204" pitchFamily="18" charset="0"/>
                                    <a:ea typeface="Aptos" panose="020B0004020202020204" pitchFamily="34" charset="0"/>
                                    <a:cs typeface="Times New Roman" panose="02020603050405020304" pitchFamily="18" charset="0"/>
                                  </a:rPr>
                                </m:ctrlPr>
                              </m:sSubPr>
                              <m:e>
                                <m:r>
                                  <m:rPr>
                                    <m:sty m:val="p"/>
                                  </m:rPr>
                                  <a:rPr lang="en-IN" sz="1800" kern="100" baseline="30000">
                                    <a:effectLst/>
                                    <a:latin typeface="Cambria Math" panose="02040503050406030204" pitchFamily="18" charset="0"/>
                                    <a:ea typeface="Aptos" panose="020B0004020202020204" pitchFamily="34" charset="0"/>
                                    <a:cs typeface="Times New Roman" panose="02020603050405020304" pitchFamily="18" charset="0"/>
                                  </a:rPr>
                                  <m:t>log</m:t>
                                </m:r>
                              </m:e>
                              <m:sub>
                                <m:r>
                                  <a:rPr lang="en-IN" sz="1800" kern="100" baseline="30000">
                                    <a:effectLst/>
                                    <a:latin typeface="Cambria Math" panose="02040503050406030204" pitchFamily="18" charset="0"/>
                                    <a:ea typeface="Aptos" panose="020B0004020202020204" pitchFamily="34" charset="0"/>
                                    <a:cs typeface="Times New Roman" panose="02020603050405020304" pitchFamily="18" charset="0"/>
                                  </a:rPr>
                                  <m:t>2</m:t>
                                </m:r>
                              </m:sub>
                            </m:sSub>
                          </m:fName>
                          <m:e>
                            <m:r>
                              <m:rPr>
                                <m:sty m:val="p"/>
                              </m:rPr>
                              <a:rPr lang="en-IN" sz="1800" kern="100" baseline="30000">
                                <a:effectLst/>
                                <a:latin typeface="Cambria Math" panose="02040503050406030204" pitchFamily="18" charset="0"/>
                                <a:ea typeface="Aptos" panose="020B0004020202020204" pitchFamily="34" charset="0"/>
                                <a:cs typeface="Times New Roman" panose="02020603050405020304" pitchFamily="18" charset="0"/>
                              </a:rPr>
                              <m:t>n</m:t>
                            </m:r>
                          </m:e>
                        </m:func>
                      </m:sup>
                    </m:sSup>
                  </m:oMath>
                </a14:m>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nodes i.e. n nodes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b="1" kern="100" dirty="0">
                    <a:effectLst/>
                    <a:latin typeface="Times New Roman" panose="02020603050405020304" pitchFamily="18" charset="0"/>
                    <a:ea typeface="Aptos" panose="020B0004020202020204" pitchFamily="34" charset="0"/>
                    <a:cs typeface="Times New Roman" panose="02020603050405020304" pitchFamily="18" charset="0"/>
                  </a:rPr>
                  <a:t>Step-05:</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Determine cost of last level-</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Cost of last level = n x T(1) = θ(n)</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b="1" kern="100" dirty="0">
                    <a:effectLst/>
                    <a:latin typeface="Times New Roman" panose="02020603050405020304" pitchFamily="18" charset="0"/>
                    <a:ea typeface="Aptos" panose="020B0004020202020204" pitchFamily="34" charset="0"/>
                    <a:cs typeface="Times New Roman" panose="02020603050405020304" pitchFamily="18" charset="0"/>
                  </a:rPr>
                  <a:t>Step-06:</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Add costs of all the levels of the recursion tree and simplify the expression so obtained in terms of asymptotic notation-</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p:txBody>
          </p:sp>
        </mc:Choice>
        <mc:Fallback xmlns="">
          <p:sp>
            <p:nvSpPr>
              <p:cNvPr id="8" name="TextBox 7">
                <a:extLst>
                  <a:ext uri="{FF2B5EF4-FFF2-40B4-BE49-F238E27FC236}">
                    <a16:creationId xmlns:a16="http://schemas.microsoft.com/office/drawing/2014/main" id="{3FAEEA91-CADC-A034-75A9-EC4998ECF419}"/>
                  </a:ext>
                </a:extLst>
              </p:cNvPr>
              <p:cNvSpPr txBox="1">
                <a:spLocks noRot="1" noChangeAspect="1" noMove="1" noResize="1" noEditPoints="1" noAdjustHandles="1" noChangeArrowheads="1" noChangeShapeType="1" noTextEdit="1"/>
              </p:cNvSpPr>
              <p:nvPr/>
            </p:nvSpPr>
            <p:spPr>
              <a:xfrm>
                <a:off x="749559" y="1600200"/>
                <a:ext cx="7620000" cy="3908762"/>
              </a:xfrm>
              <a:prstGeom prst="rect">
                <a:avLst/>
              </a:prstGeom>
              <a:blipFill>
                <a:blip r:embed="rId2"/>
                <a:stretch>
                  <a:fillRect l="-720"/>
                </a:stretch>
              </a:blipFill>
            </p:spPr>
            <p:txBody>
              <a:bodyPr/>
              <a:lstStyle/>
              <a:p>
                <a:r>
                  <a:rPr lang="en-IN">
                    <a:noFill/>
                  </a:rPr>
                  <a:t> </a:t>
                </a:r>
              </a:p>
            </p:txBody>
          </p:sp>
        </mc:Fallback>
      </mc:AlternateContent>
      <p:pic>
        <p:nvPicPr>
          <p:cNvPr id="3" name="Picture 2" descr="A black and white math symbol&#10;&#10;Description automatically generated with medium confidence">
            <a:extLst>
              <a:ext uri="{FF2B5EF4-FFF2-40B4-BE49-F238E27FC236}">
                <a16:creationId xmlns:a16="http://schemas.microsoft.com/office/drawing/2014/main" id="{7A2F188A-B6B4-FC32-1071-4402003BDC7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74420" y="5341622"/>
            <a:ext cx="2964180" cy="693420"/>
          </a:xfrm>
          <a:prstGeom prst="rect">
            <a:avLst/>
          </a:prstGeom>
          <a:noFill/>
          <a:ln>
            <a:noFill/>
          </a:ln>
        </p:spPr>
      </p:pic>
      <p:sp>
        <p:nvSpPr>
          <p:cNvPr id="9" name="TextBox 8">
            <a:extLst>
              <a:ext uri="{FF2B5EF4-FFF2-40B4-BE49-F238E27FC236}">
                <a16:creationId xmlns:a16="http://schemas.microsoft.com/office/drawing/2014/main" id="{3C53BB79-BB92-F82B-A995-B7A3EB5A67D4}"/>
              </a:ext>
            </a:extLst>
          </p:cNvPr>
          <p:cNvSpPr txBox="1"/>
          <p:nvPr/>
        </p:nvSpPr>
        <p:spPr>
          <a:xfrm>
            <a:off x="4394563" y="5196520"/>
            <a:ext cx="4585996" cy="722314"/>
          </a:xfrm>
          <a:prstGeom prst="rect">
            <a:avLst/>
          </a:prstGeom>
          <a:noFill/>
        </p:spPr>
        <p:txBody>
          <a:bodyPr wrap="square">
            <a:spAutoFit/>
          </a:bodyPr>
          <a:lstStyle/>
          <a:p>
            <a:r>
              <a:rPr lang="en-IN" sz="2000" kern="100" dirty="0">
                <a:effectLst/>
                <a:latin typeface="Times New Roman" panose="02020603050405020304" pitchFamily="18" charset="0"/>
                <a:ea typeface="Aptos" panose="020B0004020202020204" pitchFamily="34" charset="0"/>
                <a:cs typeface="Times New Roman" panose="02020603050405020304" pitchFamily="18" charset="0"/>
              </a:rPr>
              <a:t>= n x log</a:t>
            </a:r>
            <a:r>
              <a:rPr lang="en-IN" sz="2000" kern="100" baseline="-25000" dirty="0">
                <a:effectLst/>
                <a:latin typeface="Times New Roman" panose="02020603050405020304" pitchFamily="18" charset="0"/>
                <a:ea typeface="Aptos" panose="020B0004020202020204" pitchFamily="34" charset="0"/>
                <a:cs typeface="Times New Roman" panose="02020603050405020304" pitchFamily="18" charset="0"/>
              </a:rPr>
              <a:t>2</a:t>
            </a:r>
            <a:r>
              <a:rPr lang="en-IN" sz="2000" kern="100" dirty="0">
                <a:effectLst/>
                <a:latin typeface="Times New Roman" panose="02020603050405020304" pitchFamily="18" charset="0"/>
                <a:ea typeface="Aptos" panose="020B0004020202020204" pitchFamily="34" charset="0"/>
                <a:cs typeface="Times New Roman" panose="02020603050405020304" pitchFamily="18" charset="0"/>
              </a:rPr>
              <a:t>n + θ (</a:t>
            </a:r>
            <a:r>
              <a:rPr lang="en-IN" sz="2000" kern="100">
                <a:effectLst/>
                <a:latin typeface="Times New Roman" panose="02020603050405020304" pitchFamily="18" charset="0"/>
                <a:ea typeface="Aptos" panose="020B0004020202020204" pitchFamily="34" charset="0"/>
                <a:cs typeface="Times New Roman" panose="02020603050405020304" pitchFamily="18" charset="0"/>
              </a:rPr>
              <a:t>n) </a:t>
            </a:r>
            <a:r>
              <a:rPr lang="en-IN" sz="1800" ker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 </a:t>
            </a:r>
            <a:r>
              <a:rPr lang="en-IN" sz="1800" kern="0" dirty="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nlog</a:t>
            </a:r>
            <a:r>
              <a:rPr lang="en-IN" sz="1800" kern="0" baseline="-25000" dirty="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2</a:t>
            </a:r>
            <a:r>
              <a:rPr lang="en-IN" sz="1800" kern="0" dirty="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n + θ (n)</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marL="457200">
              <a:lnSpc>
                <a:spcPct val="107000"/>
              </a:lnSpc>
              <a:spcBef>
                <a:spcPts val="300"/>
              </a:spcBef>
              <a:spcAft>
                <a:spcPts val="900"/>
              </a:spcAft>
            </a:pPr>
            <a:r>
              <a:rPr lang="en-IN" sz="1800" kern="0" dirty="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 </a:t>
            </a:r>
            <a:r>
              <a:rPr lang="en-IN" sz="1800" b="1" kern="0" dirty="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θ (nlog</a:t>
            </a:r>
            <a:r>
              <a:rPr lang="en-IN" sz="1800" b="1" kern="0" baseline="-25000" dirty="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2</a:t>
            </a:r>
            <a:r>
              <a:rPr lang="en-IN" sz="1800" b="1" kern="0" dirty="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n)</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86336469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7356C-14D6-B28E-7EE1-6970B5B6CAA3}"/>
              </a:ext>
            </a:extLst>
          </p:cNvPr>
          <p:cNvSpPr>
            <a:spLocks noGrp="1"/>
          </p:cNvSpPr>
          <p:nvPr>
            <p:ph type="title"/>
          </p:nvPr>
        </p:nvSpPr>
        <p:spPr>
          <a:xfrm>
            <a:off x="1219200" y="350838"/>
            <a:ext cx="5943600" cy="487362"/>
          </a:xfrm>
        </p:spPr>
        <p:txBody>
          <a:bodyPr>
            <a:normAutofit fontScale="90000"/>
          </a:bodyPr>
          <a:lstStyle/>
          <a:p>
            <a:br>
              <a:rPr lang="en-IN" sz="40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IN" sz="40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Master Theorem</a:t>
            </a:r>
            <a:br>
              <a:rPr lang="en-IN" sz="3200" kern="100" dirty="0">
                <a:effectLst/>
                <a:latin typeface="Aptos" panose="020B0004020202020204" pitchFamily="34" charset="0"/>
                <a:ea typeface="Aptos" panose="020B0004020202020204" pitchFamily="34" charset="0"/>
                <a:cs typeface="Times New Roman" panose="02020603050405020304" pitchFamily="18" charset="0"/>
              </a:rPr>
            </a:br>
            <a:endParaRPr lang="en-IN" dirty="0"/>
          </a:p>
        </p:txBody>
      </p:sp>
      <p:sp>
        <p:nvSpPr>
          <p:cNvPr id="4" name="Date Placeholder 3">
            <a:extLst>
              <a:ext uri="{FF2B5EF4-FFF2-40B4-BE49-F238E27FC236}">
                <a16:creationId xmlns:a16="http://schemas.microsoft.com/office/drawing/2014/main" id="{BF515FC9-73D5-8B2D-632A-1230932D6676}"/>
              </a:ext>
            </a:extLst>
          </p:cNvPr>
          <p:cNvSpPr>
            <a:spLocks noGrp="1"/>
          </p:cNvSpPr>
          <p:nvPr>
            <p:ph type="dt" sz="half" idx="10"/>
          </p:nvPr>
        </p:nvSpPr>
        <p:spPr/>
        <p:txBody>
          <a:bodyPr/>
          <a:lstStyle/>
          <a:p>
            <a:fld id="{F6C643BA-ACA1-44BF-9071-763295A35907}" type="datetime4">
              <a:rPr lang="en-US" smtClean="0"/>
              <a:t>March 13, 2024</a:t>
            </a:fld>
            <a:endParaRPr lang="en-US"/>
          </a:p>
        </p:txBody>
      </p:sp>
      <p:sp>
        <p:nvSpPr>
          <p:cNvPr id="5" name="Footer Placeholder 4">
            <a:extLst>
              <a:ext uri="{FF2B5EF4-FFF2-40B4-BE49-F238E27FC236}">
                <a16:creationId xmlns:a16="http://schemas.microsoft.com/office/drawing/2014/main" id="{80BE7E5C-7D27-9286-2306-D15884AE705E}"/>
              </a:ext>
            </a:extLst>
          </p:cNvPr>
          <p:cNvSpPr>
            <a:spLocks noGrp="1"/>
          </p:cNvSpPr>
          <p:nvPr>
            <p:ph type="ftr" sz="quarter" idx="11"/>
          </p:nvPr>
        </p:nvSpPr>
        <p:spPr/>
        <p:txBody>
          <a:bodyPr/>
          <a:lstStyle/>
          <a:p>
            <a:r>
              <a:rPr lang="en-US"/>
              <a:t>Department of Computer Science &amp; Engineering, VNRVJIET, Hyderabad</a:t>
            </a:r>
          </a:p>
        </p:txBody>
      </p:sp>
      <p:sp>
        <p:nvSpPr>
          <p:cNvPr id="6" name="Slide Number Placeholder 5">
            <a:extLst>
              <a:ext uri="{FF2B5EF4-FFF2-40B4-BE49-F238E27FC236}">
                <a16:creationId xmlns:a16="http://schemas.microsoft.com/office/drawing/2014/main" id="{22776885-E58E-9D7B-5A7D-EA76FCF1A095}"/>
              </a:ext>
            </a:extLst>
          </p:cNvPr>
          <p:cNvSpPr>
            <a:spLocks noGrp="1"/>
          </p:cNvSpPr>
          <p:nvPr>
            <p:ph type="sldNum" sz="quarter" idx="12"/>
          </p:nvPr>
        </p:nvSpPr>
        <p:spPr/>
        <p:txBody>
          <a:bodyPr/>
          <a:lstStyle/>
          <a:p>
            <a:fld id="{C4FA3F07-B4E9-4FEB-BC07-B9713C186F28}" type="slidenum">
              <a:rPr lang="en-US" smtClean="0"/>
              <a:pPr/>
              <a:t>87</a:t>
            </a:fld>
            <a:endParaRPr lang="en-US" dirty="0"/>
          </a:p>
        </p:txBody>
      </p:sp>
      <p:sp>
        <p:nvSpPr>
          <p:cNvPr id="10" name="TextBox 9">
            <a:extLst>
              <a:ext uri="{FF2B5EF4-FFF2-40B4-BE49-F238E27FC236}">
                <a16:creationId xmlns:a16="http://schemas.microsoft.com/office/drawing/2014/main" id="{9ADFA80F-4DC3-B24F-2204-484608C38502}"/>
              </a:ext>
            </a:extLst>
          </p:cNvPr>
          <p:cNvSpPr txBox="1"/>
          <p:nvPr/>
        </p:nvSpPr>
        <p:spPr>
          <a:xfrm>
            <a:off x="800100" y="1333991"/>
            <a:ext cx="7543800" cy="4002378"/>
          </a:xfrm>
          <a:prstGeom prst="rect">
            <a:avLst/>
          </a:prstGeom>
          <a:noFill/>
        </p:spPr>
        <p:txBody>
          <a:bodyPr wrap="square">
            <a:spAutoFit/>
          </a:bodyPr>
          <a:lstStyle/>
          <a:p>
            <a:pPr>
              <a:lnSpc>
                <a:spcPct val="107000"/>
              </a:lnSpc>
              <a:spcAft>
                <a:spcPts val="800"/>
              </a:spcAft>
            </a:pPr>
            <a:r>
              <a:rPr lang="en-IN"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Master’s theorem is one of the many methods that are applied to calculate time complexities of algorithms. </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IN"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Recurrence relations are equations that define the sequence of elements in which a term is a function of its preceding term. In algorithm analysis, the recurrence relations are usually formed when loops are present in an algorithm</a:t>
            </a:r>
            <a:r>
              <a:rPr lang="en-IN" sz="1800" kern="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b="1" kern="100" dirty="0">
                <a:effectLst/>
                <a:latin typeface="Times New Roman" panose="02020603050405020304" pitchFamily="18" charset="0"/>
                <a:ea typeface="Aptos" panose="020B0004020202020204" pitchFamily="34" charset="0"/>
                <a:cs typeface="Times New Roman" panose="02020603050405020304" pitchFamily="18" charset="0"/>
              </a:rPr>
              <a:t>Problem Statement</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Master’s theorem can only be applied on decreasing and dividing recurring functions. If the relation is not decreasing or dividing, master’s theorem must not be applied.</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b="1" kern="100" dirty="0">
                <a:effectLst/>
                <a:latin typeface="Times New Roman" panose="02020603050405020304" pitchFamily="18" charset="0"/>
                <a:ea typeface="Aptos" panose="020B0004020202020204" pitchFamily="34" charset="0"/>
                <a:cs typeface="Times New Roman" panose="02020603050405020304" pitchFamily="18" charset="0"/>
              </a:rPr>
              <a:t>Master’s Theorem for Dividing Functions</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t>
            </a: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Consider a relation of type −</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IN"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T(n) = </a:t>
            </a:r>
            <a:r>
              <a:rPr lang="en-IN" sz="1800" kern="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a:t>
            </a:r>
            <a:r>
              <a:rPr lang="en-IN"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(n/b) + f(n)</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55928866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7356C-14D6-B28E-7EE1-6970B5B6CAA3}"/>
              </a:ext>
            </a:extLst>
          </p:cNvPr>
          <p:cNvSpPr>
            <a:spLocks noGrp="1"/>
          </p:cNvSpPr>
          <p:nvPr>
            <p:ph type="title"/>
          </p:nvPr>
        </p:nvSpPr>
        <p:spPr>
          <a:xfrm>
            <a:off x="1219200" y="350838"/>
            <a:ext cx="5943600" cy="487362"/>
          </a:xfrm>
        </p:spPr>
        <p:txBody>
          <a:bodyPr>
            <a:normAutofit fontScale="90000"/>
          </a:bodyPr>
          <a:lstStyle/>
          <a:p>
            <a:br>
              <a:rPr lang="en-IN" sz="40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IN" sz="40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Master Theorem</a:t>
            </a:r>
            <a:br>
              <a:rPr lang="en-IN" sz="3200" kern="100" dirty="0">
                <a:effectLst/>
                <a:latin typeface="Aptos" panose="020B0004020202020204" pitchFamily="34" charset="0"/>
                <a:ea typeface="Aptos" panose="020B0004020202020204" pitchFamily="34" charset="0"/>
                <a:cs typeface="Times New Roman" panose="02020603050405020304" pitchFamily="18" charset="0"/>
              </a:rPr>
            </a:br>
            <a:endParaRPr lang="en-IN" dirty="0"/>
          </a:p>
        </p:txBody>
      </p:sp>
      <p:sp>
        <p:nvSpPr>
          <p:cNvPr id="4" name="Date Placeholder 3">
            <a:extLst>
              <a:ext uri="{FF2B5EF4-FFF2-40B4-BE49-F238E27FC236}">
                <a16:creationId xmlns:a16="http://schemas.microsoft.com/office/drawing/2014/main" id="{BF515FC9-73D5-8B2D-632A-1230932D6676}"/>
              </a:ext>
            </a:extLst>
          </p:cNvPr>
          <p:cNvSpPr>
            <a:spLocks noGrp="1"/>
          </p:cNvSpPr>
          <p:nvPr>
            <p:ph type="dt" sz="half" idx="10"/>
          </p:nvPr>
        </p:nvSpPr>
        <p:spPr/>
        <p:txBody>
          <a:bodyPr/>
          <a:lstStyle/>
          <a:p>
            <a:fld id="{F6C643BA-ACA1-44BF-9071-763295A35907}" type="datetime4">
              <a:rPr lang="en-US" smtClean="0"/>
              <a:t>March 13, 2024</a:t>
            </a:fld>
            <a:endParaRPr lang="en-US"/>
          </a:p>
        </p:txBody>
      </p:sp>
      <p:sp>
        <p:nvSpPr>
          <p:cNvPr id="5" name="Footer Placeholder 4">
            <a:extLst>
              <a:ext uri="{FF2B5EF4-FFF2-40B4-BE49-F238E27FC236}">
                <a16:creationId xmlns:a16="http://schemas.microsoft.com/office/drawing/2014/main" id="{80BE7E5C-7D27-9286-2306-D15884AE705E}"/>
              </a:ext>
            </a:extLst>
          </p:cNvPr>
          <p:cNvSpPr>
            <a:spLocks noGrp="1"/>
          </p:cNvSpPr>
          <p:nvPr>
            <p:ph type="ftr" sz="quarter" idx="11"/>
          </p:nvPr>
        </p:nvSpPr>
        <p:spPr/>
        <p:txBody>
          <a:bodyPr/>
          <a:lstStyle/>
          <a:p>
            <a:r>
              <a:rPr lang="en-US"/>
              <a:t>Department of Computer Science &amp; Engineering, VNRVJIET, Hyderabad</a:t>
            </a:r>
          </a:p>
        </p:txBody>
      </p:sp>
      <p:sp>
        <p:nvSpPr>
          <p:cNvPr id="6" name="Slide Number Placeholder 5">
            <a:extLst>
              <a:ext uri="{FF2B5EF4-FFF2-40B4-BE49-F238E27FC236}">
                <a16:creationId xmlns:a16="http://schemas.microsoft.com/office/drawing/2014/main" id="{22776885-E58E-9D7B-5A7D-EA76FCF1A095}"/>
              </a:ext>
            </a:extLst>
          </p:cNvPr>
          <p:cNvSpPr>
            <a:spLocks noGrp="1"/>
          </p:cNvSpPr>
          <p:nvPr>
            <p:ph type="sldNum" sz="quarter" idx="12"/>
          </p:nvPr>
        </p:nvSpPr>
        <p:spPr/>
        <p:txBody>
          <a:bodyPr/>
          <a:lstStyle/>
          <a:p>
            <a:fld id="{C4FA3F07-B4E9-4FEB-BC07-B9713C186F28}" type="slidenum">
              <a:rPr lang="en-US" smtClean="0"/>
              <a:pPr/>
              <a:t>88</a:t>
            </a:fld>
            <a:endParaRPr lang="en-US" dirty="0"/>
          </a:p>
        </p:txBody>
      </p:sp>
      <p:sp>
        <p:nvSpPr>
          <p:cNvPr id="10" name="TextBox 9">
            <a:extLst>
              <a:ext uri="{FF2B5EF4-FFF2-40B4-BE49-F238E27FC236}">
                <a16:creationId xmlns:a16="http://schemas.microsoft.com/office/drawing/2014/main" id="{9ADFA80F-4DC3-B24F-2204-484608C38502}"/>
              </a:ext>
            </a:extLst>
          </p:cNvPr>
          <p:cNvSpPr txBox="1"/>
          <p:nvPr/>
        </p:nvSpPr>
        <p:spPr>
          <a:xfrm>
            <a:off x="533400" y="1295400"/>
            <a:ext cx="8229600" cy="4801314"/>
          </a:xfrm>
          <a:prstGeom prst="rect">
            <a:avLst/>
          </a:prstGeom>
          <a:noFill/>
        </p:spPr>
        <p:txBody>
          <a:bodyPr wrap="square">
            <a:spAutoFit/>
          </a:bodyPr>
          <a:lstStyle/>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where, a &gt;= 1 and b &gt; 1,</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n − size of the problem</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a − number of sub-problems in the recursion</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n/b − size of the sub problems based on the assumption that all sub-problems are of the same size.</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f(n) − represents the cost of work done outside the recursion -&gt; Θ (</a:t>
            </a:r>
            <a:r>
              <a:rPr lang="en-IN" sz="1800" kern="100" dirty="0" err="1">
                <a:effectLst/>
                <a:latin typeface="Times New Roman" panose="02020603050405020304" pitchFamily="18" charset="0"/>
                <a:ea typeface="Aptos" panose="020B0004020202020204" pitchFamily="34" charset="0"/>
                <a:cs typeface="Times New Roman" panose="02020603050405020304" pitchFamily="18" charset="0"/>
              </a:rPr>
              <a:t>n</a:t>
            </a:r>
            <a:r>
              <a:rPr lang="en-IN" sz="1800" kern="100" baseline="30000" dirty="0" err="1">
                <a:effectLst/>
                <a:latin typeface="Times New Roman" panose="02020603050405020304" pitchFamily="18" charset="0"/>
                <a:ea typeface="Aptos" panose="020B0004020202020204" pitchFamily="34" charset="0"/>
                <a:cs typeface="Times New Roman" panose="02020603050405020304" pitchFamily="18" charset="0"/>
              </a:rPr>
              <a:t>k</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IN" sz="1800" kern="100" dirty="0" err="1">
                <a:effectLst/>
                <a:latin typeface="Times New Roman" panose="02020603050405020304" pitchFamily="18" charset="0"/>
                <a:ea typeface="Aptos" panose="020B0004020202020204" pitchFamily="34" charset="0"/>
                <a:cs typeface="Times New Roman" panose="02020603050405020304" pitchFamily="18" charset="0"/>
              </a:rPr>
              <a:t>logn</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p), where k &gt;= 0 and p is a real number.</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If the recurrence relation is in the above given form, then there are three cases in the master theorem to determine the asymptotic notations −</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b="1" kern="100" dirty="0">
                <a:effectLst/>
                <a:latin typeface="Times New Roman" panose="02020603050405020304" pitchFamily="18" charset="0"/>
                <a:ea typeface="Aptos" panose="020B0004020202020204" pitchFamily="34" charset="0"/>
                <a:cs typeface="Times New Roman" panose="02020603050405020304" pitchFamily="18" charset="0"/>
              </a:rPr>
              <a:t>Case 1:</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if a &gt; b</a:t>
            </a:r>
            <a:r>
              <a:rPr lang="en-IN" sz="1800" kern="100" baseline="30000" dirty="0">
                <a:effectLst/>
                <a:latin typeface="Times New Roman" panose="02020603050405020304" pitchFamily="18" charset="0"/>
                <a:ea typeface="Aptos" panose="020B0004020202020204" pitchFamily="34" charset="0"/>
                <a:cs typeface="Times New Roman" panose="02020603050405020304" pitchFamily="18" charset="0"/>
              </a:rPr>
              <a:t>k</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then T(n)= Θ (n</a:t>
            </a:r>
            <a:r>
              <a:rPr lang="en-IN" sz="1800" kern="100" baseline="30000" dirty="0">
                <a:effectLst/>
                <a:latin typeface="Times New Roman" panose="02020603050405020304" pitchFamily="18" charset="0"/>
                <a:ea typeface="Aptos" panose="020B0004020202020204" pitchFamily="34" charset="0"/>
                <a:cs typeface="Times New Roman" panose="02020603050405020304" pitchFamily="18" charset="0"/>
              </a:rPr>
              <a:t>log</a:t>
            </a:r>
            <a:r>
              <a:rPr lang="en-IN" sz="1800" kern="100" baseline="-25000" dirty="0">
                <a:effectLst/>
                <a:latin typeface="Times New Roman" panose="02020603050405020304" pitchFamily="18" charset="0"/>
                <a:ea typeface="Aptos" panose="020B0004020202020204" pitchFamily="34" charset="0"/>
                <a:cs typeface="Times New Roman" panose="02020603050405020304" pitchFamily="18" charset="0"/>
              </a:rPr>
              <a:t>b</a:t>
            </a:r>
            <a:r>
              <a:rPr lang="en-IN" sz="1800" kern="100" baseline="30000" dirty="0">
                <a:effectLst/>
                <a:latin typeface="Times New Roman" panose="02020603050405020304" pitchFamily="18" charset="0"/>
                <a:ea typeface="Aptos" panose="020B0004020202020204" pitchFamily="34" charset="0"/>
                <a:cs typeface="Times New Roman" panose="02020603050405020304" pitchFamily="18" charset="0"/>
              </a:rPr>
              <a:t> a</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[log</a:t>
            </a:r>
            <a:r>
              <a:rPr lang="en-IN" sz="1800" kern="100" baseline="-25000" dirty="0">
                <a:effectLst/>
                <a:latin typeface="Times New Roman" panose="02020603050405020304" pitchFamily="18" charset="0"/>
                <a:ea typeface="Aptos" panose="020B0004020202020204" pitchFamily="34" charset="0"/>
                <a:cs typeface="Times New Roman" panose="02020603050405020304" pitchFamily="18" charset="0"/>
              </a:rPr>
              <a:t>b</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 = log a / log b]</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b="1" kern="100" dirty="0">
                <a:effectLst/>
                <a:latin typeface="Times New Roman" panose="02020603050405020304" pitchFamily="18" charset="0"/>
                <a:ea typeface="Aptos" panose="020B0004020202020204" pitchFamily="34" charset="0"/>
                <a:cs typeface="Times New Roman" panose="02020603050405020304" pitchFamily="18" charset="0"/>
              </a:rPr>
              <a:t>Case 2:</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if a = b</a:t>
            </a:r>
            <a:r>
              <a:rPr lang="en-IN" sz="1800" kern="100" baseline="30000" dirty="0">
                <a:effectLst/>
                <a:latin typeface="Times New Roman" panose="02020603050405020304" pitchFamily="18" charset="0"/>
                <a:ea typeface="Aptos" panose="020B0004020202020204" pitchFamily="34" charset="0"/>
                <a:cs typeface="Times New Roman" panose="02020603050405020304" pitchFamily="18" charset="0"/>
              </a:rPr>
              <a:t>k</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mj-lt"/>
              <a:buAutoNum type="romanLcPeriod"/>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If p &gt; -1, then T(n) = Θ (n</a:t>
            </a:r>
            <a:r>
              <a:rPr lang="en-IN" sz="1800" kern="100" baseline="30000" dirty="0">
                <a:effectLst/>
                <a:latin typeface="Times New Roman" panose="02020603050405020304" pitchFamily="18" charset="0"/>
                <a:ea typeface="Aptos" panose="020B0004020202020204" pitchFamily="34" charset="0"/>
                <a:cs typeface="Times New Roman" panose="02020603050405020304" pitchFamily="18" charset="0"/>
              </a:rPr>
              <a:t>logb a</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log</a:t>
            </a:r>
            <a:r>
              <a:rPr lang="en-IN" sz="1800" kern="100" baseline="30000" dirty="0">
                <a:effectLst/>
                <a:latin typeface="Times New Roman" panose="02020603050405020304" pitchFamily="18" charset="0"/>
                <a:ea typeface="Aptos" panose="020B0004020202020204" pitchFamily="34" charset="0"/>
                <a:cs typeface="Times New Roman" panose="02020603050405020304" pitchFamily="18" charset="0"/>
              </a:rPr>
              <a:t>p+1 </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n)</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mj-lt"/>
              <a:buAutoNum type="romanLcPeriod"/>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If p = -1, then T(n) = Θ (n </a:t>
            </a:r>
            <a:r>
              <a:rPr lang="en-IN" sz="1800" kern="100" baseline="30000" dirty="0">
                <a:effectLst/>
                <a:latin typeface="Times New Roman" panose="02020603050405020304" pitchFamily="18" charset="0"/>
                <a:ea typeface="Aptos" panose="020B0004020202020204" pitchFamily="34" charset="0"/>
                <a:cs typeface="Times New Roman" panose="02020603050405020304" pitchFamily="18" charset="0"/>
              </a:rPr>
              <a:t>logb a</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log </a:t>
            </a:r>
            <a:r>
              <a:rPr lang="en-IN" sz="1800" kern="100" dirty="0" err="1">
                <a:effectLst/>
                <a:latin typeface="Times New Roman" panose="02020603050405020304" pitchFamily="18" charset="0"/>
                <a:ea typeface="Aptos" panose="020B0004020202020204" pitchFamily="34" charset="0"/>
                <a:cs typeface="Times New Roman" panose="02020603050405020304" pitchFamily="18" charset="0"/>
              </a:rPr>
              <a:t>log</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n)</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mj-lt"/>
              <a:buAutoNum type="romanLcPeriod"/>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If p &lt; -1, then T(n) = Θ (n </a:t>
            </a:r>
            <a:r>
              <a:rPr lang="en-IN" sz="1800" kern="100" baseline="30000" dirty="0">
                <a:effectLst/>
                <a:latin typeface="Times New Roman" panose="02020603050405020304" pitchFamily="18" charset="0"/>
                <a:ea typeface="Aptos" panose="020B0004020202020204" pitchFamily="34" charset="0"/>
                <a:cs typeface="Times New Roman" panose="02020603050405020304" pitchFamily="18" charset="0"/>
              </a:rPr>
              <a:t>logb a</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427378082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7356C-14D6-B28E-7EE1-6970B5B6CAA3}"/>
              </a:ext>
            </a:extLst>
          </p:cNvPr>
          <p:cNvSpPr>
            <a:spLocks noGrp="1"/>
          </p:cNvSpPr>
          <p:nvPr>
            <p:ph type="title"/>
          </p:nvPr>
        </p:nvSpPr>
        <p:spPr>
          <a:xfrm>
            <a:off x="1219200" y="350838"/>
            <a:ext cx="5943600" cy="487362"/>
          </a:xfrm>
        </p:spPr>
        <p:txBody>
          <a:bodyPr>
            <a:normAutofit fontScale="90000"/>
          </a:bodyPr>
          <a:lstStyle/>
          <a:p>
            <a:br>
              <a:rPr lang="en-IN" sz="40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IN" sz="40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Master Theorem</a:t>
            </a:r>
            <a:br>
              <a:rPr lang="en-IN" sz="3200" kern="100" dirty="0">
                <a:effectLst/>
                <a:latin typeface="Aptos" panose="020B0004020202020204" pitchFamily="34" charset="0"/>
                <a:ea typeface="Aptos" panose="020B0004020202020204" pitchFamily="34" charset="0"/>
                <a:cs typeface="Times New Roman" panose="02020603050405020304" pitchFamily="18" charset="0"/>
              </a:rPr>
            </a:br>
            <a:endParaRPr lang="en-IN" dirty="0"/>
          </a:p>
        </p:txBody>
      </p:sp>
      <p:sp>
        <p:nvSpPr>
          <p:cNvPr id="4" name="Date Placeholder 3">
            <a:extLst>
              <a:ext uri="{FF2B5EF4-FFF2-40B4-BE49-F238E27FC236}">
                <a16:creationId xmlns:a16="http://schemas.microsoft.com/office/drawing/2014/main" id="{BF515FC9-73D5-8B2D-632A-1230932D6676}"/>
              </a:ext>
            </a:extLst>
          </p:cNvPr>
          <p:cNvSpPr>
            <a:spLocks noGrp="1"/>
          </p:cNvSpPr>
          <p:nvPr>
            <p:ph type="dt" sz="half" idx="10"/>
          </p:nvPr>
        </p:nvSpPr>
        <p:spPr/>
        <p:txBody>
          <a:bodyPr/>
          <a:lstStyle/>
          <a:p>
            <a:fld id="{F6C643BA-ACA1-44BF-9071-763295A35907}" type="datetime4">
              <a:rPr lang="en-US" smtClean="0"/>
              <a:t>March 13, 2024</a:t>
            </a:fld>
            <a:endParaRPr lang="en-US"/>
          </a:p>
        </p:txBody>
      </p:sp>
      <p:sp>
        <p:nvSpPr>
          <p:cNvPr id="5" name="Footer Placeholder 4">
            <a:extLst>
              <a:ext uri="{FF2B5EF4-FFF2-40B4-BE49-F238E27FC236}">
                <a16:creationId xmlns:a16="http://schemas.microsoft.com/office/drawing/2014/main" id="{80BE7E5C-7D27-9286-2306-D15884AE705E}"/>
              </a:ext>
            </a:extLst>
          </p:cNvPr>
          <p:cNvSpPr>
            <a:spLocks noGrp="1"/>
          </p:cNvSpPr>
          <p:nvPr>
            <p:ph type="ftr" sz="quarter" idx="11"/>
          </p:nvPr>
        </p:nvSpPr>
        <p:spPr/>
        <p:txBody>
          <a:bodyPr/>
          <a:lstStyle/>
          <a:p>
            <a:r>
              <a:rPr lang="en-US"/>
              <a:t>Department of Computer Science &amp; Engineering, VNRVJIET, Hyderabad</a:t>
            </a:r>
          </a:p>
        </p:txBody>
      </p:sp>
      <p:sp>
        <p:nvSpPr>
          <p:cNvPr id="6" name="Slide Number Placeholder 5">
            <a:extLst>
              <a:ext uri="{FF2B5EF4-FFF2-40B4-BE49-F238E27FC236}">
                <a16:creationId xmlns:a16="http://schemas.microsoft.com/office/drawing/2014/main" id="{22776885-E58E-9D7B-5A7D-EA76FCF1A095}"/>
              </a:ext>
            </a:extLst>
          </p:cNvPr>
          <p:cNvSpPr>
            <a:spLocks noGrp="1"/>
          </p:cNvSpPr>
          <p:nvPr>
            <p:ph type="sldNum" sz="quarter" idx="12"/>
          </p:nvPr>
        </p:nvSpPr>
        <p:spPr/>
        <p:txBody>
          <a:bodyPr/>
          <a:lstStyle/>
          <a:p>
            <a:fld id="{C4FA3F07-B4E9-4FEB-BC07-B9713C186F28}" type="slidenum">
              <a:rPr lang="en-US" smtClean="0"/>
              <a:pPr/>
              <a:t>89</a:t>
            </a:fld>
            <a:endParaRPr lang="en-US" dirty="0"/>
          </a:p>
        </p:txBody>
      </p:sp>
      <p:sp>
        <p:nvSpPr>
          <p:cNvPr id="10" name="TextBox 9">
            <a:extLst>
              <a:ext uri="{FF2B5EF4-FFF2-40B4-BE49-F238E27FC236}">
                <a16:creationId xmlns:a16="http://schemas.microsoft.com/office/drawing/2014/main" id="{9ADFA80F-4DC3-B24F-2204-484608C38502}"/>
              </a:ext>
            </a:extLst>
          </p:cNvPr>
          <p:cNvSpPr txBox="1"/>
          <p:nvPr/>
        </p:nvSpPr>
        <p:spPr>
          <a:xfrm>
            <a:off x="533400" y="1295400"/>
            <a:ext cx="8229600" cy="4478149"/>
          </a:xfrm>
          <a:prstGeom prst="rect">
            <a:avLst/>
          </a:prstGeom>
          <a:noFill/>
        </p:spPr>
        <p:txBody>
          <a:bodyPr wrap="square">
            <a:spAutoFit/>
          </a:bodyPr>
          <a:lstStyle/>
          <a:p>
            <a:endParaRPr lang="en-IN" sz="11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600" b="1" kern="100" dirty="0">
                <a:effectLst/>
                <a:latin typeface="Times New Roman" panose="02020603050405020304" pitchFamily="18" charset="0"/>
                <a:ea typeface="Aptos" panose="020B0004020202020204" pitchFamily="34" charset="0"/>
                <a:cs typeface="Times New Roman" panose="02020603050405020304" pitchFamily="18" charset="0"/>
              </a:rPr>
              <a:t>Case 3:</a:t>
            </a:r>
            <a:r>
              <a:rPr lang="en-IN" sz="1600" kern="100" dirty="0">
                <a:effectLst/>
                <a:latin typeface="Times New Roman" panose="02020603050405020304" pitchFamily="18" charset="0"/>
                <a:ea typeface="Aptos" panose="020B0004020202020204" pitchFamily="34" charset="0"/>
                <a:cs typeface="Times New Roman" panose="02020603050405020304" pitchFamily="18" charset="0"/>
              </a:rPr>
              <a:t> if a &lt; b</a:t>
            </a:r>
            <a:r>
              <a:rPr lang="en-IN" sz="1600" kern="100" baseline="30000" dirty="0">
                <a:effectLst/>
                <a:latin typeface="Times New Roman" panose="02020603050405020304" pitchFamily="18" charset="0"/>
                <a:ea typeface="Aptos" panose="020B0004020202020204" pitchFamily="34" charset="0"/>
                <a:cs typeface="Times New Roman" panose="02020603050405020304" pitchFamily="18" charset="0"/>
              </a:rPr>
              <a:t>k</a:t>
            </a:r>
            <a:r>
              <a:rPr lang="en-IN" sz="16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marL="457200"/>
            <a:r>
              <a:rPr lang="en-IN" sz="1600" kern="100" dirty="0">
                <a:effectLst/>
                <a:latin typeface="Times New Roman" panose="02020603050405020304" pitchFamily="18" charset="0"/>
                <a:ea typeface="Aptos" panose="020B0004020202020204" pitchFamily="34" charset="0"/>
                <a:cs typeface="Times New Roman" panose="02020603050405020304" pitchFamily="18" charset="0"/>
              </a:rPr>
              <a:t> </a:t>
            </a:r>
          </a:p>
          <a:p>
            <a:pPr marL="457200"/>
            <a:r>
              <a:rPr lang="en-IN" sz="1600" kern="100" dirty="0">
                <a:effectLst/>
                <a:latin typeface="Times New Roman" panose="02020603050405020304" pitchFamily="18" charset="0"/>
                <a:ea typeface="Aptos" panose="020B0004020202020204" pitchFamily="34" charset="0"/>
                <a:cs typeface="Times New Roman" panose="02020603050405020304" pitchFamily="18" charset="0"/>
              </a:rPr>
              <a:t>if p &gt;= 0, then t(n) = θ (</a:t>
            </a:r>
            <a:r>
              <a:rPr lang="en-IN" sz="1600" kern="100" dirty="0" err="1">
                <a:effectLst/>
                <a:latin typeface="Times New Roman" panose="02020603050405020304" pitchFamily="18" charset="0"/>
                <a:ea typeface="Aptos" panose="020B0004020202020204" pitchFamily="34" charset="0"/>
                <a:cs typeface="Times New Roman" panose="02020603050405020304" pitchFamily="18" charset="0"/>
              </a:rPr>
              <a:t>n</a:t>
            </a:r>
            <a:r>
              <a:rPr lang="en-IN" sz="1600" kern="100" baseline="30000" dirty="0" err="1">
                <a:effectLst/>
                <a:latin typeface="Times New Roman" panose="02020603050405020304" pitchFamily="18" charset="0"/>
                <a:ea typeface="Aptos" panose="020B0004020202020204" pitchFamily="34" charset="0"/>
                <a:cs typeface="Times New Roman" panose="02020603050405020304" pitchFamily="18" charset="0"/>
              </a:rPr>
              <a:t>k</a:t>
            </a:r>
            <a:r>
              <a:rPr lang="en-IN"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IN" sz="1600" kern="100" dirty="0" err="1">
                <a:effectLst/>
                <a:latin typeface="Times New Roman" panose="02020603050405020304" pitchFamily="18" charset="0"/>
                <a:ea typeface="Aptos" panose="020B0004020202020204" pitchFamily="34" charset="0"/>
                <a:cs typeface="Times New Roman" panose="02020603050405020304" pitchFamily="18" charset="0"/>
              </a:rPr>
              <a:t>log</a:t>
            </a:r>
            <a:r>
              <a:rPr lang="en-IN" sz="1600" kern="100" baseline="30000" dirty="0" err="1">
                <a:effectLst/>
                <a:latin typeface="Times New Roman" panose="02020603050405020304" pitchFamily="18" charset="0"/>
                <a:ea typeface="Aptos" panose="020B0004020202020204" pitchFamily="34" charset="0"/>
                <a:cs typeface="Times New Roman" panose="02020603050405020304" pitchFamily="18" charset="0"/>
              </a:rPr>
              <a:t>p</a:t>
            </a:r>
            <a:r>
              <a:rPr lang="en-IN" sz="1600" kern="100" dirty="0">
                <a:effectLst/>
                <a:latin typeface="Times New Roman" panose="02020603050405020304" pitchFamily="18" charset="0"/>
                <a:ea typeface="Aptos" panose="020B0004020202020204" pitchFamily="34" charset="0"/>
                <a:cs typeface="Times New Roman" panose="02020603050405020304" pitchFamily="18" charset="0"/>
              </a:rPr>
              <a:t> n).</a:t>
            </a:r>
          </a:p>
          <a:p>
            <a:pPr marL="457200"/>
            <a:r>
              <a:rPr lang="en-IN" sz="1600" kern="100" dirty="0">
                <a:effectLst/>
                <a:latin typeface="Times New Roman" panose="02020603050405020304" pitchFamily="18" charset="0"/>
                <a:ea typeface="Aptos" panose="020B0004020202020204" pitchFamily="34" charset="0"/>
                <a:cs typeface="Times New Roman" panose="02020603050405020304" pitchFamily="18" charset="0"/>
              </a:rPr>
              <a:t>if p &lt; 0, then t(n) = θ (</a:t>
            </a:r>
            <a:r>
              <a:rPr lang="en-IN" sz="1600" kern="100" dirty="0" err="1">
                <a:effectLst/>
                <a:latin typeface="Times New Roman" panose="02020603050405020304" pitchFamily="18" charset="0"/>
                <a:ea typeface="Aptos" panose="020B0004020202020204" pitchFamily="34" charset="0"/>
                <a:cs typeface="Times New Roman" panose="02020603050405020304" pitchFamily="18" charset="0"/>
              </a:rPr>
              <a:t>n</a:t>
            </a:r>
            <a:r>
              <a:rPr lang="en-IN" sz="1600" kern="100" baseline="30000" dirty="0" err="1">
                <a:effectLst/>
                <a:latin typeface="Times New Roman" panose="02020603050405020304" pitchFamily="18" charset="0"/>
                <a:ea typeface="Aptos" panose="020B0004020202020204" pitchFamily="34" charset="0"/>
                <a:cs typeface="Times New Roman" panose="02020603050405020304" pitchFamily="18" charset="0"/>
              </a:rPr>
              <a:t>k</a:t>
            </a:r>
            <a:r>
              <a:rPr lang="en-IN" sz="1600" kern="100" dirty="0">
                <a:effectLst/>
                <a:latin typeface="Times New Roman" panose="02020603050405020304" pitchFamily="18" charset="0"/>
                <a:ea typeface="Aptos" panose="020B0004020202020204" pitchFamily="34" charset="0"/>
                <a:cs typeface="Times New Roman" panose="02020603050405020304" pitchFamily="18" charset="0"/>
              </a:rPr>
              <a:t>)</a:t>
            </a:r>
          </a:p>
          <a:p>
            <a:r>
              <a:rPr lang="en-IN" sz="1600" kern="100" dirty="0">
                <a:effectLst/>
                <a:latin typeface="Times New Roman" panose="02020603050405020304" pitchFamily="18" charset="0"/>
                <a:ea typeface="Aptos" panose="020B0004020202020204" pitchFamily="34" charset="0"/>
                <a:cs typeface="Times New Roman" panose="02020603050405020304" pitchFamily="18" charset="0"/>
              </a:rPr>
              <a:t> </a:t>
            </a:r>
          </a:p>
          <a:p>
            <a:r>
              <a:rPr lang="en-IN" sz="1800" b="1" kern="100" dirty="0">
                <a:effectLst/>
                <a:latin typeface="Times New Roman" panose="02020603050405020304" pitchFamily="18" charset="0"/>
                <a:ea typeface="Aptos" panose="020B0004020202020204" pitchFamily="34" charset="0"/>
                <a:cs typeface="Times New Roman" panose="02020603050405020304" pitchFamily="18" charset="0"/>
              </a:rPr>
              <a:t>Master’s Theorem for Decreasing Functions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Consider a relation of type −</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T(n) = </a:t>
            </a:r>
            <a:r>
              <a:rPr lang="en-IN" sz="1800" kern="100" dirty="0" err="1">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aT</a:t>
            </a:r>
            <a:r>
              <a:rPr lang="en-IN" sz="1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(n-b) + f(n)</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where a &gt;= 1 and b &gt; 1, f(n) is asymptotically positive</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Here,</a:t>
            </a:r>
            <a:endParaRPr lang="en-IN" kern="100" dirty="0">
              <a:latin typeface="Aptos" panose="020B0004020202020204" pitchFamily="34" charset="0"/>
              <a:ea typeface="Aptos" panose="020B0004020202020204" pitchFamily="34" charset="0"/>
              <a:cs typeface="Times New Roman" panose="02020603050405020304" pitchFamily="18" charset="0"/>
            </a:endParaRPr>
          </a:p>
          <a:p>
            <a:r>
              <a:rPr lang="en-IN" sz="1800" b="1"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n</a:t>
            </a:r>
            <a:r>
              <a:rPr lang="en-IN" sz="1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 size of the problem</a:t>
            </a:r>
            <a:endParaRPr lang="en-IN" kern="100" dirty="0">
              <a:latin typeface="Aptos" panose="020B0004020202020204" pitchFamily="34" charset="0"/>
              <a:ea typeface="Aptos" panose="020B0004020202020204" pitchFamily="34" charset="0"/>
              <a:cs typeface="Times New Roman" panose="02020603050405020304" pitchFamily="18" charset="0"/>
            </a:endParaRPr>
          </a:p>
          <a:p>
            <a:r>
              <a:rPr lang="en-IN" sz="1800" b="1"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a</a:t>
            </a:r>
            <a:r>
              <a:rPr lang="en-IN" sz="1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 number of sub-problems in the recursion</a:t>
            </a:r>
            <a:endParaRPr lang="en-IN" kern="100" dirty="0">
              <a:latin typeface="Aptos" panose="020B0004020202020204" pitchFamily="34" charset="0"/>
              <a:ea typeface="Aptos" panose="020B0004020202020204" pitchFamily="34" charset="0"/>
              <a:cs typeface="Times New Roman" panose="02020603050405020304" pitchFamily="18" charset="0"/>
            </a:endParaRPr>
          </a:p>
          <a:p>
            <a:r>
              <a:rPr lang="en-IN" sz="1800" b="1"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n-b</a:t>
            </a:r>
            <a:r>
              <a:rPr lang="en-IN" sz="1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 size of the sub problems based on the assumption that all sub-problems are of the same size.</a:t>
            </a:r>
            <a:endParaRPr lang="en-IN" kern="100" dirty="0">
              <a:latin typeface="Aptos" panose="020B0004020202020204" pitchFamily="34" charset="0"/>
              <a:ea typeface="Aptos" panose="020B0004020202020204" pitchFamily="34" charset="0"/>
              <a:cs typeface="Times New Roman" panose="02020603050405020304" pitchFamily="18" charset="0"/>
            </a:endParaRPr>
          </a:p>
          <a:p>
            <a:r>
              <a:rPr lang="en-IN" sz="1800" b="1"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f(n)</a:t>
            </a:r>
            <a:r>
              <a:rPr lang="en-IN" sz="1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 represents the cost of work done outside the recursion -&gt; Θ(</a:t>
            </a:r>
            <a:r>
              <a:rPr lang="en-IN" sz="1800" kern="100" dirty="0" err="1">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n</a:t>
            </a:r>
            <a:r>
              <a:rPr lang="en-IN" sz="1800" kern="100" baseline="30000" dirty="0" err="1">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k</a:t>
            </a:r>
            <a:r>
              <a:rPr lang="en-IN" sz="1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where k &gt;= 0.</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61907688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7356C-14D6-B28E-7EE1-6970B5B6CAA3}"/>
              </a:ext>
            </a:extLst>
          </p:cNvPr>
          <p:cNvSpPr>
            <a:spLocks noGrp="1"/>
          </p:cNvSpPr>
          <p:nvPr>
            <p:ph type="title"/>
          </p:nvPr>
        </p:nvSpPr>
        <p:spPr>
          <a:xfrm>
            <a:off x="1219200" y="350838"/>
            <a:ext cx="5943600" cy="487362"/>
          </a:xfrm>
        </p:spPr>
        <p:txBody>
          <a:bodyPr>
            <a:normAutofit fontScale="90000"/>
          </a:bodyPr>
          <a:lstStyle/>
          <a:p>
            <a:br>
              <a:rPr lang="en-IN" sz="40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IN" sz="40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Master Theorem</a:t>
            </a:r>
            <a:br>
              <a:rPr lang="en-IN" sz="3200" kern="100" dirty="0">
                <a:effectLst/>
                <a:latin typeface="Aptos" panose="020B0004020202020204" pitchFamily="34" charset="0"/>
                <a:ea typeface="Aptos" panose="020B0004020202020204" pitchFamily="34" charset="0"/>
                <a:cs typeface="Times New Roman" panose="02020603050405020304" pitchFamily="18" charset="0"/>
              </a:rPr>
            </a:br>
            <a:endParaRPr lang="en-IN" dirty="0"/>
          </a:p>
        </p:txBody>
      </p:sp>
      <p:sp>
        <p:nvSpPr>
          <p:cNvPr id="4" name="Date Placeholder 3">
            <a:extLst>
              <a:ext uri="{FF2B5EF4-FFF2-40B4-BE49-F238E27FC236}">
                <a16:creationId xmlns:a16="http://schemas.microsoft.com/office/drawing/2014/main" id="{BF515FC9-73D5-8B2D-632A-1230932D6676}"/>
              </a:ext>
            </a:extLst>
          </p:cNvPr>
          <p:cNvSpPr>
            <a:spLocks noGrp="1"/>
          </p:cNvSpPr>
          <p:nvPr>
            <p:ph type="dt" sz="half" idx="10"/>
          </p:nvPr>
        </p:nvSpPr>
        <p:spPr/>
        <p:txBody>
          <a:bodyPr/>
          <a:lstStyle/>
          <a:p>
            <a:fld id="{F6C643BA-ACA1-44BF-9071-763295A35907}" type="datetime4">
              <a:rPr lang="en-US" smtClean="0"/>
              <a:t>March 13, 2024</a:t>
            </a:fld>
            <a:endParaRPr lang="en-US"/>
          </a:p>
        </p:txBody>
      </p:sp>
      <p:sp>
        <p:nvSpPr>
          <p:cNvPr id="5" name="Footer Placeholder 4">
            <a:extLst>
              <a:ext uri="{FF2B5EF4-FFF2-40B4-BE49-F238E27FC236}">
                <a16:creationId xmlns:a16="http://schemas.microsoft.com/office/drawing/2014/main" id="{80BE7E5C-7D27-9286-2306-D15884AE705E}"/>
              </a:ext>
            </a:extLst>
          </p:cNvPr>
          <p:cNvSpPr>
            <a:spLocks noGrp="1"/>
          </p:cNvSpPr>
          <p:nvPr>
            <p:ph type="ftr" sz="quarter" idx="11"/>
          </p:nvPr>
        </p:nvSpPr>
        <p:spPr/>
        <p:txBody>
          <a:bodyPr/>
          <a:lstStyle/>
          <a:p>
            <a:r>
              <a:rPr lang="en-US"/>
              <a:t>Department of Computer Science &amp; Engineering, VNRVJIET, Hyderabad</a:t>
            </a:r>
          </a:p>
        </p:txBody>
      </p:sp>
      <p:sp>
        <p:nvSpPr>
          <p:cNvPr id="6" name="Slide Number Placeholder 5">
            <a:extLst>
              <a:ext uri="{FF2B5EF4-FFF2-40B4-BE49-F238E27FC236}">
                <a16:creationId xmlns:a16="http://schemas.microsoft.com/office/drawing/2014/main" id="{22776885-E58E-9D7B-5A7D-EA76FCF1A095}"/>
              </a:ext>
            </a:extLst>
          </p:cNvPr>
          <p:cNvSpPr>
            <a:spLocks noGrp="1"/>
          </p:cNvSpPr>
          <p:nvPr>
            <p:ph type="sldNum" sz="quarter" idx="12"/>
          </p:nvPr>
        </p:nvSpPr>
        <p:spPr/>
        <p:txBody>
          <a:bodyPr/>
          <a:lstStyle/>
          <a:p>
            <a:fld id="{C4FA3F07-B4E9-4FEB-BC07-B9713C186F28}" type="slidenum">
              <a:rPr lang="en-US" smtClean="0"/>
              <a:pPr/>
              <a:t>90</a:t>
            </a:fld>
            <a:endParaRPr lang="en-US" dirty="0"/>
          </a:p>
        </p:txBody>
      </p:sp>
      <p:sp>
        <p:nvSpPr>
          <p:cNvPr id="10" name="TextBox 9">
            <a:extLst>
              <a:ext uri="{FF2B5EF4-FFF2-40B4-BE49-F238E27FC236}">
                <a16:creationId xmlns:a16="http://schemas.microsoft.com/office/drawing/2014/main" id="{9ADFA80F-4DC3-B24F-2204-484608C38502}"/>
              </a:ext>
            </a:extLst>
          </p:cNvPr>
          <p:cNvSpPr txBox="1"/>
          <p:nvPr/>
        </p:nvSpPr>
        <p:spPr>
          <a:xfrm>
            <a:off x="609600" y="1295400"/>
            <a:ext cx="5334000" cy="4739759"/>
          </a:xfrm>
          <a:prstGeom prst="rect">
            <a:avLst/>
          </a:prstGeom>
          <a:noFill/>
        </p:spPr>
        <p:txBody>
          <a:bodyPr wrap="square">
            <a:spAutoFit/>
          </a:bodyPr>
          <a:lstStyle/>
          <a:p>
            <a:r>
              <a:rPr lang="en-IN"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If the recurrence relation is in the above given form, then there are three cases in the master theorem to determine the asymptotic notations −</a:t>
            </a:r>
            <a:endParaRPr lang="en-IN"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457200"/>
            <a:r>
              <a:rPr lang="en-IN"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if a = 1, T(n) = O (n</a:t>
            </a:r>
            <a:r>
              <a:rPr lang="en-IN" kern="100" baseline="300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k+1</a:t>
            </a:r>
            <a:r>
              <a:rPr lang="en-IN"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a:t>
            </a:r>
            <a:endParaRPr lang="en-IN"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457200"/>
            <a:r>
              <a:rPr lang="en-IN"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if a &gt; 1, T(n) = O (a</a:t>
            </a:r>
            <a:r>
              <a:rPr lang="en-IN" kern="100" baseline="300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n/b</a:t>
            </a:r>
            <a:r>
              <a:rPr lang="en-IN"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 </a:t>
            </a:r>
            <a:r>
              <a:rPr lang="en-IN" kern="100" dirty="0" err="1">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n</a:t>
            </a:r>
            <a:r>
              <a:rPr lang="en-IN" kern="100" baseline="30000" dirty="0" err="1">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k</a:t>
            </a:r>
            <a:r>
              <a:rPr lang="en-IN"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a:t>
            </a:r>
            <a:endParaRPr lang="en-IN"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457200"/>
            <a:r>
              <a:rPr lang="en-IN"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if a &lt; 1, T(n) = O (</a:t>
            </a:r>
            <a:r>
              <a:rPr lang="en-IN" kern="100" dirty="0" err="1">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n</a:t>
            </a:r>
            <a:r>
              <a:rPr lang="en-IN" kern="100" baseline="30000" dirty="0" err="1">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k</a:t>
            </a:r>
            <a:r>
              <a:rPr lang="en-IN"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a:t>
            </a:r>
            <a:endParaRPr lang="en-IN" kern="100" dirty="0">
              <a:effectLst/>
              <a:latin typeface="Times New Roman" panose="02020603050405020304" pitchFamily="18" charset="0"/>
              <a:ea typeface="Aptos" panose="020B0004020202020204" pitchFamily="34" charset="0"/>
              <a:cs typeface="Times New Roman" panose="02020603050405020304" pitchFamily="18" charset="0"/>
            </a:endParaRPr>
          </a:p>
          <a:p>
            <a:r>
              <a:rPr lang="en-IN" kern="100" dirty="0">
                <a:effectLst/>
                <a:latin typeface="Times New Roman" panose="02020603050405020304" pitchFamily="18" charset="0"/>
                <a:ea typeface="Aptos" panose="020B0004020202020204" pitchFamily="34" charset="0"/>
                <a:cs typeface="Times New Roman" panose="02020603050405020304" pitchFamily="18" charset="0"/>
              </a:rPr>
              <a:t> </a:t>
            </a:r>
          </a:p>
          <a:p>
            <a:r>
              <a:rPr lang="en-IN" kern="100" dirty="0">
                <a:effectLst/>
                <a:latin typeface="Times New Roman" panose="02020603050405020304" pitchFamily="18" charset="0"/>
                <a:ea typeface="Aptos" panose="020B0004020202020204" pitchFamily="34" charset="0"/>
                <a:cs typeface="Times New Roman" panose="02020603050405020304" pitchFamily="18" charset="0"/>
              </a:rPr>
              <a:t>Examples</a:t>
            </a:r>
          </a:p>
          <a:p>
            <a:r>
              <a:rPr lang="en-IN" kern="100" dirty="0">
                <a:effectLst/>
                <a:latin typeface="Times New Roman" panose="02020603050405020304" pitchFamily="18" charset="0"/>
                <a:ea typeface="Aptos" panose="020B0004020202020204" pitchFamily="34" charset="0"/>
                <a:cs typeface="Times New Roman" panose="02020603050405020304" pitchFamily="18" charset="0"/>
              </a:rPr>
              <a:t>Few examples to apply master’s theorem on dividing recurrence relations −</a:t>
            </a:r>
          </a:p>
          <a:p>
            <a:r>
              <a:rPr lang="en-IN"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IN" b="1" kern="100" dirty="0">
                <a:effectLst/>
                <a:latin typeface="Times New Roman" panose="02020603050405020304" pitchFamily="18" charset="0"/>
                <a:ea typeface="Aptos" panose="020B0004020202020204" pitchFamily="34" charset="0"/>
                <a:cs typeface="Times New Roman" panose="02020603050405020304" pitchFamily="18" charset="0"/>
              </a:rPr>
              <a:t>Example 1</a:t>
            </a:r>
          </a:p>
          <a:p>
            <a:r>
              <a:rPr lang="en-IN" kern="100" dirty="0">
                <a:effectLst/>
                <a:latin typeface="Times New Roman" panose="02020603050405020304" pitchFamily="18" charset="0"/>
                <a:ea typeface="Aptos" panose="020B0004020202020204" pitchFamily="34" charset="0"/>
                <a:cs typeface="Times New Roman" panose="02020603050405020304" pitchFamily="18" charset="0"/>
              </a:rPr>
              <a:t>Consider a recurrence relation given as T(n) = 8T(n/2) + n</a:t>
            </a:r>
            <a:r>
              <a:rPr lang="en-IN" kern="100" baseline="30000" dirty="0">
                <a:effectLst/>
                <a:latin typeface="Times New Roman" panose="02020603050405020304" pitchFamily="18" charset="0"/>
                <a:ea typeface="Aptos" panose="020B0004020202020204" pitchFamily="34" charset="0"/>
                <a:cs typeface="Times New Roman" panose="02020603050405020304" pitchFamily="18" charset="0"/>
              </a:rPr>
              <a:t>2</a:t>
            </a:r>
            <a:endParaRPr lang="en-IN" kern="100" dirty="0">
              <a:effectLst/>
              <a:latin typeface="Times New Roman" panose="02020603050405020304" pitchFamily="18" charset="0"/>
              <a:ea typeface="Aptos" panose="020B0004020202020204" pitchFamily="34" charset="0"/>
              <a:cs typeface="Times New Roman" panose="02020603050405020304" pitchFamily="18" charset="0"/>
            </a:endParaRPr>
          </a:p>
          <a:p>
            <a:r>
              <a:rPr lang="en-IN" kern="100" dirty="0">
                <a:effectLst/>
                <a:latin typeface="Times New Roman" panose="02020603050405020304" pitchFamily="18" charset="0"/>
                <a:ea typeface="Aptos" panose="020B0004020202020204" pitchFamily="34" charset="0"/>
                <a:cs typeface="Times New Roman" panose="02020603050405020304" pitchFamily="18" charset="0"/>
              </a:rPr>
              <a:t> </a:t>
            </a:r>
          </a:p>
          <a:p>
            <a:r>
              <a:rPr lang="en-IN" kern="100" dirty="0">
                <a:effectLst/>
                <a:latin typeface="Times New Roman" panose="02020603050405020304" pitchFamily="18" charset="0"/>
                <a:ea typeface="Aptos" panose="020B0004020202020204" pitchFamily="34" charset="0"/>
                <a:cs typeface="Times New Roman" panose="02020603050405020304" pitchFamily="18" charset="0"/>
              </a:rPr>
              <a:t>In this problem, a = 8, b</a:t>
            </a:r>
            <a:r>
              <a:rPr lang="en-IN" kern="100" baseline="30000" dirty="0">
                <a:effectLst/>
                <a:latin typeface="Times New Roman" panose="02020603050405020304" pitchFamily="18" charset="0"/>
                <a:ea typeface="Aptos" panose="020B0004020202020204" pitchFamily="34" charset="0"/>
                <a:cs typeface="Times New Roman" panose="02020603050405020304" pitchFamily="18" charset="0"/>
              </a:rPr>
              <a:t>k</a:t>
            </a:r>
            <a:r>
              <a:rPr lang="en-IN" kern="100" dirty="0">
                <a:effectLst/>
                <a:latin typeface="Times New Roman" panose="02020603050405020304" pitchFamily="18" charset="0"/>
                <a:ea typeface="Aptos" panose="020B0004020202020204" pitchFamily="34" charset="0"/>
                <a:cs typeface="Times New Roman" panose="02020603050405020304" pitchFamily="18" charset="0"/>
              </a:rPr>
              <a:t> = 2</a:t>
            </a:r>
            <a:r>
              <a:rPr lang="en-IN" kern="100" baseline="30000" dirty="0">
                <a:effectLst/>
                <a:latin typeface="Times New Roman" panose="02020603050405020304" pitchFamily="18" charset="0"/>
                <a:ea typeface="Aptos" panose="020B0004020202020204" pitchFamily="34" charset="0"/>
                <a:cs typeface="Times New Roman" panose="02020603050405020304" pitchFamily="18" charset="0"/>
              </a:rPr>
              <a:t>2</a:t>
            </a:r>
            <a:r>
              <a:rPr lang="en-IN" kern="100" dirty="0">
                <a:effectLst/>
                <a:latin typeface="Times New Roman" panose="02020603050405020304" pitchFamily="18" charset="0"/>
                <a:ea typeface="Aptos" panose="020B0004020202020204" pitchFamily="34" charset="0"/>
                <a:cs typeface="Times New Roman" panose="02020603050405020304" pitchFamily="18" charset="0"/>
              </a:rPr>
              <a:t> and f(n) = Θ (</a:t>
            </a:r>
            <a:r>
              <a:rPr lang="en-IN" kern="100" dirty="0" err="1">
                <a:effectLst/>
                <a:latin typeface="Times New Roman" panose="02020603050405020304" pitchFamily="18" charset="0"/>
                <a:ea typeface="Aptos" panose="020B0004020202020204" pitchFamily="34" charset="0"/>
                <a:cs typeface="Times New Roman" panose="02020603050405020304" pitchFamily="18" charset="0"/>
              </a:rPr>
              <a:t>n</a:t>
            </a:r>
            <a:r>
              <a:rPr lang="en-IN" kern="100" baseline="30000" dirty="0" err="1">
                <a:effectLst/>
                <a:latin typeface="Times New Roman" panose="02020603050405020304" pitchFamily="18" charset="0"/>
                <a:ea typeface="Aptos" panose="020B0004020202020204" pitchFamily="34" charset="0"/>
                <a:cs typeface="Times New Roman" panose="02020603050405020304" pitchFamily="18" charset="0"/>
              </a:rPr>
              <a:t>k</a:t>
            </a:r>
            <a:r>
              <a:rPr lang="en-IN"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IN" kern="100" dirty="0" err="1">
                <a:effectLst/>
                <a:latin typeface="Times New Roman" panose="02020603050405020304" pitchFamily="18" charset="0"/>
                <a:ea typeface="Aptos" panose="020B0004020202020204" pitchFamily="34" charset="0"/>
                <a:cs typeface="Times New Roman" panose="02020603050405020304" pitchFamily="18" charset="0"/>
              </a:rPr>
              <a:t>logn</a:t>
            </a:r>
            <a:r>
              <a:rPr lang="en-IN" kern="100" dirty="0">
                <a:effectLst/>
                <a:latin typeface="Times New Roman" panose="02020603050405020304" pitchFamily="18" charset="0"/>
                <a:ea typeface="Aptos" panose="020B0004020202020204" pitchFamily="34" charset="0"/>
                <a:cs typeface="Times New Roman" panose="02020603050405020304" pitchFamily="18" charset="0"/>
              </a:rPr>
              <a:t> p) = n</a:t>
            </a:r>
            <a:r>
              <a:rPr lang="en-IN" kern="100" baseline="30000" dirty="0">
                <a:effectLst/>
                <a:latin typeface="Times New Roman" panose="02020603050405020304" pitchFamily="18" charset="0"/>
                <a:ea typeface="Aptos" panose="020B0004020202020204" pitchFamily="34" charset="0"/>
                <a:cs typeface="Times New Roman" panose="02020603050405020304" pitchFamily="18" charset="0"/>
              </a:rPr>
              <a:t>2</a:t>
            </a:r>
            <a:r>
              <a:rPr lang="en-IN" kern="100" dirty="0">
                <a:effectLst/>
                <a:latin typeface="Times New Roman" panose="02020603050405020304" pitchFamily="18" charset="0"/>
                <a:ea typeface="Aptos" panose="020B0004020202020204" pitchFamily="34" charset="0"/>
                <a:cs typeface="Times New Roman" panose="02020603050405020304" pitchFamily="18" charset="0"/>
              </a:rPr>
              <a:t>, giving us k = 2 and p = 0. a = 8 &gt; b</a:t>
            </a:r>
            <a:r>
              <a:rPr lang="en-IN" kern="100" baseline="30000" dirty="0">
                <a:effectLst/>
                <a:latin typeface="Times New Roman" panose="02020603050405020304" pitchFamily="18" charset="0"/>
                <a:ea typeface="Aptos" panose="020B0004020202020204" pitchFamily="34" charset="0"/>
                <a:cs typeface="Times New Roman" panose="02020603050405020304" pitchFamily="18" charset="0"/>
              </a:rPr>
              <a:t>k</a:t>
            </a:r>
            <a:r>
              <a:rPr lang="en-IN" kern="100" dirty="0">
                <a:effectLst/>
                <a:latin typeface="Times New Roman" panose="02020603050405020304" pitchFamily="18" charset="0"/>
                <a:ea typeface="Aptos" panose="020B0004020202020204" pitchFamily="34" charset="0"/>
                <a:cs typeface="Times New Roman" panose="02020603050405020304" pitchFamily="18" charset="0"/>
              </a:rPr>
              <a:t> = 2</a:t>
            </a:r>
            <a:r>
              <a:rPr lang="en-IN" kern="100" baseline="30000" dirty="0">
                <a:effectLst/>
                <a:latin typeface="Times New Roman" panose="02020603050405020304" pitchFamily="18" charset="0"/>
                <a:ea typeface="Aptos" panose="020B0004020202020204" pitchFamily="34" charset="0"/>
                <a:cs typeface="Times New Roman" panose="02020603050405020304" pitchFamily="18" charset="0"/>
              </a:rPr>
              <a:t>2</a:t>
            </a:r>
            <a:r>
              <a:rPr lang="en-IN" kern="100" dirty="0">
                <a:effectLst/>
                <a:latin typeface="Times New Roman" panose="02020603050405020304" pitchFamily="18" charset="0"/>
                <a:ea typeface="Aptos" panose="020B0004020202020204" pitchFamily="34" charset="0"/>
                <a:cs typeface="Times New Roman" panose="02020603050405020304" pitchFamily="18" charset="0"/>
              </a:rPr>
              <a:t> = 4,</a:t>
            </a:r>
          </a:p>
          <a:p>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84B7138F-7EA3-FDE2-68C5-433BCCAB0A96}"/>
              </a:ext>
            </a:extLst>
          </p:cNvPr>
          <p:cNvSpPr txBox="1"/>
          <p:nvPr/>
        </p:nvSpPr>
        <p:spPr>
          <a:xfrm>
            <a:off x="6172200" y="1295400"/>
            <a:ext cx="2819400" cy="3139321"/>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en-IN" kern="100" dirty="0">
                <a:effectLst/>
                <a:latin typeface="Times New Roman" panose="02020603050405020304" pitchFamily="18" charset="0"/>
                <a:ea typeface="Aptos" panose="020B0004020202020204" pitchFamily="34" charset="0"/>
                <a:cs typeface="Times New Roman" panose="02020603050405020304" pitchFamily="18" charset="0"/>
              </a:rPr>
              <a:t>Hence, case 1 must be applied for this equation.</a:t>
            </a:r>
          </a:p>
          <a:p>
            <a:r>
              <a:rPr lang="en-IN" kern="100" dirty="0">
                <a:effectLst/>
                <a:latin typeface="Times New Roman" panose="02020603050405020304" pitchFamily="18" charset="0"/>
                <a:ea typeface="Aptos" panose="020B0004020202020204" pitchFamily="34" charset="0"/>
                <a:cs typeface="Times New Roman" panose="02020603050405020304" pitchFamily="18" charset="0"/>
              </a:rPr>
              <a:t>To calculate, T(n) = Θ (nlog</a:t>
            </a:r>
            <a:r>
              <a:rPr lang="en-IN" kern="100" baseline="-25000" dirty="0">
                <a:effectLst/>
                <a:latin typeface="Times New Roman" panose="02020603050405020304" pitchFamily="18" charset="0"/>
                <a:ea typeface="Aptos" panose="020B0004020202020204" pitchFamily="34" charset="0"/>
                <a:cs typeface="Times New Roman" panose="02020603050405020304" pitchFamily="18" charset="0"/>
              </a:rPr>
              <a:t>b</a:t>
            </a:r>
            <a:r>
              <a:rPr lang="en-IN" kern="100" dirty="0">
                <a:effectLst/>
                <a:latin typeface="Times New Roman" panose="02020603050405020304" pitchFamily="18" charset="0"/>
                <a:ea typeface="Aptos" panose="020B0004020202020204" pitchFamily="34" charset="0"/>
                <a:cs typeface="Times New Roman" panose="02020603050405020304" pitchFamily="18" charset="0"/>
              </a:rPr>
              <a:t> a)</a:t>
            </a:r>
          </a:p>
          <a:p>
            <a:r>
              <a:rPr lang="en-IN" kern="100" dirty="0">
                <a:effectLst/>
                <a:latin typeface="Times New Roman" panose="02020603050405020304" pitchFamily="18" charset="0"/>
                <a:ea typeface="Aptos" panose="020B0004020202020204" pitchFamily="34" charset="0"/>
                <a:cs typeface="Times New Roman" panose="02020603050405020304" pitchFamily="18" charset="0"/>
              </a:rPr>
              <a:t>   = nlog2</a:t>
            </a:r>
            <a:r>
              <a:rPr lang="en-IN" kern="100" baseline="30000" dirty="0">
                <a:effectLst/>
                <a:latin typeface="Times New Roman" panose="02020603050405020304" pitchFamily="18" charset="0"/>
                <a:ea typeface="Aptos" panose="020B0004020202020204" pitchFamily="34" charset="0"/>
                <a:cs typeface="Times New Roman" panose="02020603050405020304" pitchFamily="18" charset="0"/>
              </a:rPr>
              <a:t>8</a:t>
            </a:r>
            <a:endParaRPr lang="en-IN" kern="100" dirty="0">
              <a:effectLst/>
              <a:latin typeface="Times New Roman" panose="02020603050405020304" pitchFamily="18" charset="0"/>
              <a:ea typeface="Aptos" panose="020B0004020202020204" pitchFamily="34" charset="0"/>
              <a:cs typeface="Times New Roman" panose="02020603050405020304" pitchFamily="18" charset="0"/>
            </a:endParaRPr>
          </a:p>
          <a:p>
            <a:r>
              <a:rPr lang="en-IN" kern="100" dirty="0">
                <a:effectLst/>
                <a:latin typeface="Times New Roman" panose="02020603050405020304" pitchFamily="18" charset="0"/>
                <a:ea typeface="Aptos" panose="020B0004020202020204" pitchFamily="34" charset="0"/>
                <a:cs typeface="Times New Roman" panose="02020603050405020304" pitchFamily="18" charset="0"/>
              </a:rPr>
              <a:t>   = n (log 8 / log 2)</a:t>
            </a:r>
          </a:p>
          <a:p>
            <a:r>
              <a:rPr lang="en-IN" kern="100" dirty="0">
                <a:effectLst/>
                <a:latin typeface="Times New Roman" panose="02020603050405020304" pitchFamily="18" charset="0"/>
                <a:ea typeface="Aptos" panose="020B0004020202020204" pitchFamily="34" charset="0"/>
                <a:cs typeface="Times New Roman" panose="02020603050405020304" pitchFamily="18" charset="0"/>
              </a:rPr>
              <a:t>   = n</a:t>
            </a:r>
            <a:r>
              <a:rPr lang="en-IN" kern="100" baseline="30000" dirty="0">
                <a:effectLst/>
                <a:latin typeface="Times New Roman" panose="02020603050405020304" pitchFamily="18" charset="0"/>
                <a:ea typeface="Aptos" panose="020B0004020202020204" pitchFamily="34" charset="0"/>
                <a:cs typeface="Times New Roman" panose="02020603050405020304" pitchFamily="18" charset="0"/>
              </a:rPr>
              <a:t>3</a:t>
            </a:r>
            <a:endParaRPr lang="en-IN" kern="100" dirty="0">
              <a:effectLst/>
              <a:latin typeface="Times New Roman" panose="02020603050405020304" pitchFamily="18" charset="0"/>
              <a:ea typeface="Aptos" panose="020B0004020202020204" pitchFamily="34" charset="0"/>
              <a:cs typeface="Times New Roman" panose="02020603050405020304" pitchFamily="18" charset="0"/>
            </a:endParaRPr>
          </a:p>
          <a:p>
            <a:r>
              <a:rPr lang="en-IN" kern="100" dirty="0">
                <a:effectLst/>
                <a:latin typeface="Times New Roman" panose="02020603050405020304" pitchFamily="18" charset="0"/>
                <a:ea typeface="Aptos" panose="020B0004020202020204" pitchFamily="34" charset="0"/>
                <a:cs typeface="Times New Roman" panose="02020603050405020304" pitchFamily="18" charset="0"/>
              </a:rPr>
              <a:t>Therefore, T(n) = Θ(n</a:t>
            </a:r>
            <a:r>
              <a:rPr lang="en-IN" kern="100" baseline="30000" dirty="0">
                <a:effectLst/>
                <a:latin typeface="Times New Roman" panose="02020603050405020304" pitchFamily="18" charset="0"/>
                <a:ea typeface="Aptos" panose="020B0004020202020204" pitchFamily="34" charset="0"/>
                <a:cs typeface="Times New Roman" panose="02020603050405020304" pitchFamily="18" charset="0"/>
              </a:rPr>
              <a:t>3</a:t>
            </a:r>
            <a:r>
              <a:rPr lang="en-IN" kern="100" dirty="0">
                <a:effectLst/>
                <a:latin typeface="Times New Roman" panose="02020603050405020304" pitchFamily="18" charset="0"/>
                <a:ea typeface="Aptos" panose="020B0004020202020204" pitchFamily="34" charset="0"/>
                <a:cs typeface="Times New Roman" panose="02020603050405020304" pitchFamily="18" charset="0"/>
              </a:rPr>
              <a:t>) is the tight bound for this equation.</a:t>
            </a:r>
          </a:p>
          <a:p>
            <a:endParaRPr lang="en-IN" kern="100" dirty="0">
              <a:effectLst/>
              <a:latin typeface="Times New Roman" panose="02020603050405020304" pitchFamily="18"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45757310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7356C-14D6-B28E-7EE1-6970B5B6CAA3}"/>
              </a:ext>
            </a:extLst>
          </p:cNvPr>
          <p:cNvSpPr>
            <a:spLocks noGrp="1"/>
          </p:cNvSpPr>
          <p:nvPr>
            <p:ph type="title"/>
          </p:nvPr>
        </p:nvSpPr>
        <p:spPr>
          <a:xfrm>
            <a:off x="1219200" y="350838"/>
            <a:ext cx="5943600" cy="487362"/>
          </a:xfrm>
        </p:spPr>
        <p:txBody>
          <a:bodyPr>
            <a:normAutofit fontScale="90000"/>
          </a:bodyPr>
          <a:lstStyle/>
          <a:p>
            <a:br>
              <a:rPr lang="en-IN" sz="40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IN" sz="40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Master Theorem</a:t>
            </a:r>
            <a:br>
              <a:rPr lang="en-IN" sz="3200" kern="100" dirty="0">
                <a:effectLst/>
                <a:latin typeface="Aptos" panose="020B0004020202020204" pitchFamily="34" charset="0"/>
                <a:ea typeface="Aptos" panose="020B0004020202020204" pitchFamily="34" charset="0"/>
                <a:cs typeface="Times New Roman" panose="02020603050405020304" pitchFamily="18" charset="0"/>
              </a:rPr>
            </a:br>
            <a:endParaRPr lang="en-IN" dirty="0"/>
          </a:p>
        </p:txBody>
      </p:sp>
      <p:sp>
        <p:nvSpPr>
          <p:cNvPr id="4" name="Date Placeholder 3">
            <a:extLst>
              <a:ext uri="{FF2B5EF4-FFF2-40B4-BE49-F238E27FC236}">
                <a16:creationId xmlns:a16="http://schemas.microsoft.com/office/drawing/2014/main" id="{BF515FC9-73D5-8B2D-632A-1230932D6676}"/>
              </a:ext>
            </a:extLst>
          </p:cNvPr>
          <p:cNvSpPr>
            <a:spLocks noGrp="1"/>
          </p:cNvSpPr>
          <p:nvPr>
            <p:ph type="dt" sz="half" idx="10"/>
          </p:nvPr>
        </p:nvSpPr>
        <p:spPr/>
        <p:txBody>
          <a:bodyPr/>
          <a:lstStyle/>
          <a:p>
            <a:fld id="{F6C643BA-ACA1-44BF-9071-763295A35907}" type="datetime4">
              <a:rPr lang="en-US" smtClean="0"/>
              <a:t>March 13, 2024</a:t>
            </a:fld>
            <a:endParaRPr lang="en-US"/>
          </a:p>
        </p:txBody>
      </p:sp>
      <p:sp>
        <p:nvSpPr>
          <p:cNvPr id="5" name="Footer Placeholder 4">
            <a:extLst>
              <a:ext uri="{FF2B5EF4-FFF2-40B4-BE49-F238E27FC236}">
                <a16:creationId xmlns:a16="http://schemas.microsoft.com/office/drawing/2014/main" id="{80BE7E5C-7D27-9286-2306-D15884AE705E}"/>
              </a:ext>
            </a:extLst>
          </p:cNvPr>
          <p:cNvSpPr>
            <a:spLocks noGrp="1"/>
          </p:cNvSpPr>
          <p:nvPr>
            <p:ph type="ftr" sz="quarter" idx="11"/>
          </p:nvPr>
        </p:nvSpPr>
        <p:spPr/>
        <p:txBody>
          <a:bodyPr/>
          <a:lstStyle/>
          <a:p>
            <a:r>
              <a:rPr lang="en-US"/>
              <a:t>Department of Computer Science &amp; Engineering, VNRVJIET, Hyderabad</a:t>
            </a:r>
          </a:p>
        </p:txBody>
      </p:sp>
      <p:sp>
        <p:nvSpPr>
          <p:cNvPr id="6" name="Slide Number Placeholder 5">
            <a:extLst>
              <a:ext uri="{FF2B5EF4-FFF2-40B4-BE49-F238E27FC236}">
                <a16:creationId xmlns:a16="http://schemas.microsoft.com/office/drawing/2014/main" id="{22776885-E58E-9D7B-5A7D-EA76FCF1A095}"/>
              </a:ext>
            </a:extLst>
          </p:cNvPr>
          <p:cNvSpPr>
            <a:spLocks noGrp="1"/>
          </p:cNvSpPr>
          <p:nvPr>
            <p:ph type="sldNum" sz="quarter" idx="12"/>
          </p:nvPr>
        </p:nvSpPr>
        <p:spPr/>
        <p:txBody>
          <a:bodyPr/>
          <a:lstStyle/>
          <a:p>
            <a:fld id="{C4FA3F07-B4E9-4FEB-BC07-B9713C186F28}" type="slidenum">
              <a:rPr lang="en-US" smtClean="0"/>
              <a:pPr/>
              <a:t>91</a:t>
            </a:fld>
            <a:endParaRPr lang="en-US" dirty="0"/>
          </a:p>
        </p:txBody>
      </p:sp>
      <p:sp>
        <p:nvSpPr>
          <p:cNvPr id="8" name="TextBox 7">
            <a:extLst>
              <a:ext uri="{FF2B5EF4-FFF2-40B4-BE49-F238E27FC236}">
                <a16:creationId xmlns:a16="http://schemas.microsoft.com/office/drawing/2014/main" id="{8C33AA8C-CFFD-3EC8-6A62-26FC06AE35DF}"/>
              </a:ext>
            </a:extLst>
          </p:cNvPr>
          <p:cNvSpPr txBox="1"/>
          <p:nvPr/>
        </p:nvSpPr>
        <p:spPr>
          <a:xfrm>
            <a:off x="603380" y="1524000"/>
            <a:ext cx="8159620" cy="3476721"/>
          </a:xfrm>
          <a:prstGeom prst="rect">
            <a:avLst/>
          </a:prstGeom>
          <a:noFill/>
        </p:spPr>
        <p:txBody>
          <a:bodyPr wrap="square">
            <a:spAutoFit/>
          </a:bodyPr>
          <a:lstStyle/>
          <a:p>
            <a:r>
              <a:rPr lang="en-IN" sz="1800" b="1" kern="100" dirty="0">
                <a:effectLst/>
                <a:latin typeface="Times New Roman" panose="02020603050405020304" pitchFamily="18" charset="0"/>
                <a:ea typeface="Aptos" panose="020B0004020202020204" pitchFamily="34" charset="0"/>
                <a:cs typeface="Times New Roman" panose="02020603050405020304" pitchFamily="18" charset="0"/>
              </a:rPr>
              <a:t>Example 2</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IN" sz="18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Consider a recurrence relation given as T(n) = 4T(n/2) + n</a:t>
            </a:r>
            <a:r>
              <a:rPr lang="en-IN" sz="1800" b="1" kern="0" baseline="30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In this problem, a = 4, b = 2 and f(n) = Θ (</a:t>
            </a:r>
            <a:r>
              <a:rPr lang="en-IN" sz="1800" kern="100" dirty="0" err="1">
                <a:effectLst/>
                <a:latin typeface="Times New Roman" panose="02020603050405020304" pitchFamily="18" charset="0"/>
                <a:ea typeface="Aptos" panose="020B0004020202020204" pitchFamily="34" charset="0"/>
                <a:cs typeface="Times New Roman" panose="02020603050405020304" pitchFamily="18" charset="0"/>
              </a:rPr>
              <a:t>n</a:t>
            </a:r>
            <a:r>
              <a:rPr lang="en-IN" sz="1800" kern="100" baseline="30000" dirty="0" err="1">
                <a:effectLst/>
                <a:latin typeface="Times New Roman" panose="02020603050405020304" pitchFamily="18" charset="0"/>
                <a:ea typeface="Aptos" panose="020B0004020202020204" pitchFamily="34" charset="0"/>
                <a:cs typeface="Times New Roman" panose="02020603050405020304" pitchFamily="18" charset="0"/>
              </a:rPr>
              <a:t>k</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IN" sz="1800" kern="100" dirty="0" err="1">
                <a:effectLst/>
                <a:latin typeface="Times New Roman" panose="02020603050405020304" pitchFamily="18" charset="0"/>
                <a:ea typeface="Aptos" panose="020B0004020202020204" pitchFamily="34" charset="0"/>
                <a:cs typeface="Times New Roman" panose="02020603050405020304" pitchFamily="18" charset="0"/>
              </a:rPr>
              <a:t>logn</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p) = n</a:t>
            </a:r>
            <a:r>
              <a:rPr lang="en-IN" sz="1800" kern="100" baseline="30000" dirty="0">
                <a:effectLst/>
                <a:latin typeface="Times New Roman" panose="02020603050405020304" pitchFamily="18" charset="0"/>
                <a:ea typeface="Aptos" panose="020B0004020202020204" pitchFamily="34" charset="0"/>
                <a:cs typeface="Times New Roman" panose="02020603050405020304" pitchFamily="18" charset="0"/>
              </a:rPr>
              <a:t>2</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giving us k = 2 and p = 0.</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a = 4 = b</a:t>
            </a:r>
            <a:r>
              <a:rPr lang="en-IN" sz="1800" kern="100" baseline="30000" dirty="0">
                <a:effectLst/>
                <a:latin typeface="Times New Roman" panose="02020603050405020304" pitchFamily="18" charset="0"/>
                <a:ea typeface="Aptos" panose="020B0004020202020204" pitchFamily="34" charset="0"/>
                <a:cs typeface="Times New Roman" panose="02020603050405020304" pitchFamily="18" charset="0"/>
              </a:rPr>
              <a:t>k</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 2</a:t>
            </a:r>
            <a:r>
              <a:rPr lang="en-IN" sz="1800" kern="100" baseline="30000" dirty="0">
                <a:effectLst/>
                <a:latin typeface="Times New Roman" panose="02020603050405020304" pitchFamily="18" charset="0"/>
                <a:ea typeface="Aptos" panose="020B0004020202020204" pitchFamily="34" charset="0"/>
                <a:cs typeface="Times New Roman" panose="02020603050405020304" pitchFamily="18" charset="0"/>
              </a:rPr>
              <a:t>2</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 4, p &gt; -1</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Hence, case 2(i) must be applied for this equation.</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pPr lvl="0"/>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To calculate, T(n) = Θ (</a:t>
            </a:r>
            <a:r>
              <a:rPr lang="en-IN" sz="1800" kern="100" dirty="0" err="1">
                <a:effectLst/>
                <a:latin typeface="Times New Roman" panose="02020603050405020304" pitchFamily="18" charset="0"/>
                <a:ea typeface="Aptos" panose="020B0004020202020204" pitchFamily="34" charset="0"/>
                <a:cs typeface="Times New Roman" panose="02020603050405020304" pitchFamily="18" charset="0"/>
              </a:rPr>
              <a:t>n</a:t>
            </a:r>
            <a:r>
              <a:rPr lang="en-IN" sz="1800" kern="100" baseline="30000" dirty="0" err="1">
                <a:effectLst/>
                <a:latin typeface="Times New Roman" panose="02020603050405020304" pitchFamily="18" charset="0"/>
                <a:ea typeface="Aptos" panose="020B0004020202020204" pitchFamily="34" charset="0"/>
                <a:cs typeface="Times New Roman" panose="02020603050405020304" pitchFamily="18" charset="0"/>
              </a:rPr>
              <a:t>logb</a:t>
            </a:r>
            <a:r>
              <a:rPr lang="en-IN" sz="1800" kern="100" baseline="30000" dirty="0">
                <a:effectLst/>
                <a:latin typeface="Times New Roman" panose="02020603050405020304" pitchFamily="18" charset="0"/>
                <a:ea typeface="Aptos" panose="020B0004020202020204" pitchFamily="34" charset="0"/>
                <a:cs typeface="Times New Roman" panose="02020603050405020304" pitchFamily="18" charset="0"/>
              </a:rPr>
              <a:t> a</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log</a:t>
            </a:r>
            <a:r>
              <a:rPr lang="en-IN" sz="1800" kern="100" baseline="30000" dirty="0">
                <a:effectLst/>
                <a:latin typeface="Times New Roman" panose="02020603050405020304" pitchFamily="18" charset="0"/>
                <a:ea typeface="Aptos" panose="020B0004020202020204" pitchFamily="34" charset="0"/>
                <a:cs typeface="Times New Roman" panose="02020603050405020304" pitchFamily="18" charset="0"/>
              </a:rPr>
              <a:t>p+1 </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n)</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 nlog</a:t>
            </a:r>
            <a:r>
              <a:rPr lang="en-IN" sz="1800" kern="100" baseline="-25000" dirty="0">
                <a:effectLst/>
                <a:latin typeface="Times New Roman" panose="02020603050405020304" pitchFamily="18" charset="0"/>
                <a:ea typeface="Aptos" panose="020B0004020202020204" pitchFamily="34" charset="0"/>
                <a:cs typeface="Times New Roman" panose="02020603050405020304" pitchFamily="18" charset="0"/>
              </a:rPr>
              <a:t>2</a:t>
            </a:r>
            <a:r>
              <a:rPr lang="en-IN" sz="1800" kern="100" baseline="30000" dirty="0">
                <a:effectLst/>
                <a:latin typeface="Times New Roman" panose="02020603050405020304" pitchFamily="18" charset="0"/>
                <a:ea typeface="Aptos" panose="020B0004020202020204" pitchFamily="34" charset="0"/>
                <a:cs typeface="Times New Roman" panose="02020603050405020304" pitchFamily="18" charset="0"/>
              </a:rPr>
              <a:t>4</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log0+1n</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 n</a:t>
            </a:r>
            <a:r>
              <a:rPr lang="en-IN" sz="1800" kern="100" baseline="30000" dirty="0">
                <a:effectLst/>
                <a:latin typeface="Times New Roman" panose="02020603050405020304" pitchFamily="18" charset="0"/>
                <a:ea typeface="Aptos" panose="020B0004020202020204" pitchFamily="34" charset="0"/>
                <a:cs typeface="Times New Roman" panose="02020603050405020304" pitchFamily="18" charset="0"/>
              </a:rPr>
              <a:t>2</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logn</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Therefore, T(n) = Θ(n</a:t>
            </a:r>
            <a:r>
              <a:rPr lang="en-IN" sz="1800" kern="100" baseline="30000" dirty="0">
                <a:effectLst/>
                <a:latin typeface="Times New Roman" panose="02020603050405020304" pitchFamily="18" charset="0"/>
                <a:ea typeface="Aptos" panose="020B0004020202020204" pitchFamily="34" charset="0"/>
                <a:cs typeface="Times New Roman" panose="02020603050405020304" pitchFamily="18" charset="0"/>
              </a:rPr>
              <a:t>2</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logn) is the tight bound for this equation.</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400" kern="100" dirty="0">
                <a:effectLst/>
                <a:latin typeface="Aptos" panose="020B0004020202020204" pitchFamily="34" charset="0"/>
                <a:ea typeface="Aptos" panose="020B0004020202020204" pitchFamily="34" charset="0"/>
                <a:cs typeface="Times New Roman" panose="02020603050405020304" pitchFamily="18" charset="0"/>
              </a:rPr>
              <a:t> </a:t>
            </a:r>
          </a:p>
        </p:txBody>
      </p:sp>
    </p:spTree>
    <p:extLst>
      <p:ext uri="{BB962C8B-B14F-4D97-AF65-F5344CB8AC3E}">
        <p14:creationId xmlns:p14="http://schemas.microsoft.com/office/powerpoint/2010/main" val="258646687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7356C-14D6-B28E-7EE1-6970B5B6CAA3}"/>
              </a:ext>
            </a:extLst>
          </p:cNvPr>
          <p:cNvSpPr>
            <a:spLocks noGrp="1"/>
          </p:cNvSpPr>
          <p:nvPr>
            <p:ph type="title"/>
          </p:nvPr>
        </p:nvSpPr>
        <p:spPr>
          <a:xfrm>
            <a:off x="1219200" y="350838"/>
            <a:ext cx="5943600" cy="487362"/>
          </a:xfrm>
        </p:spPr>
        <p:txBody>
          <a:bodyPr>
            <a:normAutofit fontScale="90000"/>
          </a:bodyPr>
          <a:lstStyle/>
          <a:p>
            <a:br>
              <a:rPr lang="en-IN" sz="40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IN" sz="40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Master Theorem</a:t>
            </a:r>
            <a:br>
              <a:rPr lang="en-IN" sz="3200" kern="100" dirty="0">
                <a:effectLst/>
                <a:latin typeface="Aptos" panose="020B0004020202020204" pitchFamily="34" charset="0"/>
                <a:ea typeface="Aptos" panose="020B0004020202020204" pitchFamily="34" charset="0"/>
                <a:cs typeface="Times New Roman" panose="02020603050405020304" pitchFamily="18" charset="0"/>
              </a:rPr>
            </a:br>
            <a:endParaRPr lang="en-IN" dirty="0"/>
          </a:p>
        </p:txBody>
      </p:sp>
      <p:sp>
        <p:nvSpPr>
          <p:cNvPr id="4" name="Date Placeholder 3">
            <a:extLst>
              <a:ext uri="{FF2B5EF4-FFF2-40B4-BE49-F238E27FC236}">
                <a16:creationId xmlns:a16="http://schemas.microsoft.com/office/drawing/2014/main" id="{BF515FC9-73D5-8B2D-632A-1230932D6676}"/>
              </a:ext>
            </a:extLst>
          </p:cNvPr>
          <p:cNvSpPr>
            <a:spLocks noGrp="1"/>
          </p:cNvSpPr>
          <p:nvPr>
            <p:ph type="dt" sz="half" idx="10"/>
          </p:nvPr>
        </p:nvSpPr>
        <p:spPr/>
        <p:txBody>
          <a:bodyPr/>
          <a:lstStyle/>
          <a:p>
            <a:fld id="{F6C643BA-ACA1-44BF-9071-763295A35907}" type="datetime4">
              <a:rPr lang="en-US" smtClean="0"/>
              <a:t>March 13, 2024</a:t>
            </a:fld>
            <a:endParaRPr lang="en-US"/>
          </a:p>
        </p:txBody>
      </p:sp>
      <p:sp>
        <p:nvSpPr>
          <p:cNvPr id="5" name="Footer Placeholder 4">
            <a:extLst>
              <a:ext uri="{FF2B5EF4-FFF2-40B4-BE49-F238E27FC236}">
                <a16:creationId xmlns:a16="http://schemas.microsoft.com/office/drawing/2014/main" id="{80BE7E5C-7D27-9286-2306-D15884AE705E}"/>
              </a:ext>
            </a:extLst>
          </p:cNvPr>
          <p:cNvSpPr>
            <a:spLocks noGrp="1"/>
          </p:cNvSpPr>
          <p:nvPr>
            <p:ph type="ftr" sz="quarter" idx="11"/>
          </p:nvPr>
        </p:nvSpPr>
        <p:spPr/>
        <p:txBody>
          <a:bodyPr/>
          <a:lstStyle/>
          <a:p>
            <a:r>
              <a:rPr lang="en-US"/>
              <a:t>Department of Computer Science &amp; Engineering, VNRVJIET, Hyderabad</a:t>
            </a:r>
          </a:p>
        </p:txBody>
      </p:sp>
      <p:sp>
        <p:nvSpPr>
          <p:cNvPr id="6" name="Slide Number Placeholder 5">
            <a:extLst>
              <a:ext uri="{FF2B5EF4-FFF2-40B4-BE49-F238E27FC236}">
                <a16:creationId xmlns:a16="http://schemas.microsoft.com/office/drawing/2014/main" id="{22776885-E58E-9D7B-5A7D-EA76FCF1A095}"/>
              </a:ext>
            </a:extLst>
          </p:cNvPr>
          <p:cNvSpPr>
            <a:spLocks noGrp="1"/>
          </p:cNvSpPr>
          <p:nvPr>
            <p:ph type="sldNum" sz="quarter" idx="12"/>
          </p:nvPr>
        </p:nvSpPr>
        <p:spPr/>
        <p:txBody>
          <a:bodyPr/>
          <a:lstStyle/>
          <a:p>
            <a:fld id="{C4FA3F07-B4E9-4FEB-BC07-B9713C186F28}" type="slidenum">
              <a:rPr lang="en-US" smtClean="0"/>
              <a:pPr/>
              <a:t>92</a:t>
            </a:fld>
            <a:endParaRPr lang="en-US" dirty="0"/>
          </a:p>
        </p:txBody>
      </p:sp>
      <p:sp>
        <p:nvSpPr>
          <p:cNvPr id="8" name="TextBox 7">
            <a:extLst>
              <a:ext uri="{FF2B5EF4-FFF2-40B4-BE49-F238E27FC236}">
                <a16:creationId xmlns:a16="http://schemas.microsoft.com/office/drawing/2014/main" id="{8C33AA8C-CFFD-3EC8-6A62-26FC06AE35DF}"/>
              </a:ext>
            </a:extLst>
          </p:cNvPr>
          <p:cNvSpPr txBox="1"/>
          <p:nvPr/>
        </p:nvSpPr>
        <p:spPr>
          <a:xfrm>
            <a:off x="603380" y="1524000"/>
            <a:ext cx="8159620" cy="3631763"/>
          </a:xfrm>
          <a:prstGeom prst="rect">
            <a:avLst/>
          </a:prstGeom>
          <a:noFill/>
        </p:spPr>
        <p:txBody>
          <a:bodyPr wrap="square">
            <a:spAutoFit/>
          </a:bodyPr>
          <a:lstStyle/>
          <a:p>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b="1" kern="100" dirty="0">
                <a:effectLst/>
                <a:latin typeface="Times New Roman" panose="02020603050405020304" pitchFamily="18" charset="0"/>
                <a:ea typeface="Aptos" panose="020B0004020202020204" pitchFamily="34" charset="0"/>
                <a:cs typeface="Times New Roman" panose="02020603050405020304" pitchFamily="18" charset="0"/>
              </a:rPr>
              <a:t>Example 3</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Consider a recurrence relation given as T(n) = 2T(n/2) + n/log n</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In this problem, a = 2, b = 2 and f(n) = Θ (</a:t>
            </a:r>
            <a:r>
              <a:rPr lang="en-IN" sz="1800" kern="100" dirty="0" err="1">
                <a:effectLst/>
                <a:latin typeface="Times New Roman" panose="02020603050405020304" pitchFamily="18" charset="0"/>
                <a:ea typeface="Aptos" panose="020B0004020202020204" pitchFamily="34" charset="0"/>
                <a:cs typeface="Times New Roman" panose="02020603050405020304" pitchFamily="18" charset="0"/>
              </a:rPr>
              <a:t>n</a:t>
            </a:r>
            <a:r>
              <a:rPr lang="en-IN" sz="1800" kern="100" baseline="30000" dirty="0" err="1">
                <a:effectLst/>
                <a:latin typeface="Times New Roman" panose="02020603050405020304" pitchFamily="18" charset="0"/>
                <a:ea typeface="Aptos" panose="020B0004020202020204" pitchFamily="34" charset="0"/>
                <a:cs typeface="Times New Roman" panose="02020603050405020304" pitchFamily="18" charset="0"/>
              </a:rPr>
              <a:t>k</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IN" sz="1800" kern="100" dirty="0" err="1">
                <a:effectLst/>
                <a:latin typeface="Times New Roman" panose="02020603050405020304" pitchFamily="18" charset="0"/>
                <a:ea typeface="Aptos" panose="020B0004020202020204" pitchFamily="34" charset="0"/>
                <a:cs typeface="Times New Roman" panose="02020603050405020304" pitchFamily="18" charset="0"/>
              </a:rPr>
              <a:t>logn</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p) = n/log n, </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giving us k = 1 and p = -1.</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a = 2 = b</a:t>
            </a:r>
            <a:r>
              <a:rPr lang="en-IN" sz="1800" kern="100" baseline="30000" dirty="0">
                <a:effectLst/>
                <a:latin typeface="Times New Roman" panose="02020603050405020304" pitchFamily="18" charset="0"/>
                <a:ea typeface="Aptos" panose="020B0004020202020204" pitchFamily="34" charset="0"/>
                <a:cs typeface="Times New Roman" panose="02020603050405020304" pitchFamily="18" charset="0"/>
              </a:rPr>
              <a:t>k</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 2</a:t>
            </a:r>
            <a:r>
              <a:rPr lang="en-IN" sz="1800" kern="100" baseline="30000" dirty="0">
                <a:effectLst/>
                <a:latin typeface="Times New Roman" panose="02020603050405020304" pitchFamily="18" charset="0"/>
                <a:ea typeface="Aptos" panose="020B0004020202020204" pitchFamily="34" charset="0"/>
                <a:cs typeface="Times New Roman" panose="02020603050405020304" pitchFamily="18" charset="0"/>
              </a:rPr>
              <a:t>1</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 2, p = -1</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Hence, case 2(ii) must be applied for this equation.</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To calculate, T(n) = Θ (n logb</a:t>
            </a:r>
            <a:r>
              <a:rPr lang="en-IN" sz="1800" kern="100" baseline="30000" dirty="0">
                <a:effectLst/>
                <a:latin typeface="Times New Roman" panose="02020603050405020304" pitchFamily="18" charset="0"/>
                <a:ea typeface="Aptos" panose="020B0004020202020204" pitchFamily="34" charset="0"/>
                <a:cs typeface="Times New Roman" panose="02020603050405020304" pitchFamily="18" charset="0"/>
              </a:rPr>
              <a:t> a</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log </a:t>
            </a:r>
            <a:r>
              <a:rPr lang="en-IN" sz="1800" kern="100" dirty="0" err="1">
                <a:effectLst/>
                <a:latin typeface="Times New Roman" panose="02020603050405020304" pitchFamily="18" charset="0"/>
                <a:ea typeface="Aptos" panose="020B0004020202020204" pitchFamily="34" charset="0"/>
                <a:cs typeface="Times New Roman" panose="02020603050405020304" pitchFamily="18" charset="0"/>
              </a:rPr>
              <a:t>log</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n)</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 nlog2</a:t>
            </a:r>
            <a:r>
              <a:rPr lang="en-IN" sz="1800" kern="100" baseline="30000" dirty="0">
                <a:effectLst/>
                <a:latin typeface="Times New Roman" panose="02020603050405020304" pitchFamily="18" charset="0"/>
                <a:ea typeface="Aptos" panose="020B0004020202020204" pitchFamily="34" charset="0"/>
                <a:cs typeface="Times New Roman" panose="02020603050405020304" pitchFamily="18" charset="0"/>
              </a:rPr>
              <a:t>2</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log </a:t>
            </a:r>
            <a:r>
              <a:rPr lang="en-IN" sz="1800" kern="100" dirty="0" err="1">
                <a:effectLst/>
                <a:latin typeface="Times New Roman" panose="02020603050405020304" pitchFamily="18" charset="0"/>
                <a:ea typeface="Aptos" panose="020B0004020202020204" pitchFamily="34" charset="0"/>
                <a:cs typeface="Times New Roman" panose="02020603050405020304" pitchFamily="18" charset="0"/>
              </a:rPr>
              <a:t>logn</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 n.log(</a:t>
            </a:r>
            <a:r>
              <a:rPr lang="en-IN" sz="1800" kern="100" dirty="0" err="1">
                <a:effectLst/>
                <a:latin typeface="Times New Roman" panose="02020603050405020304" pitchFamily="18" charset="0"/>
                <a:ea typeface="Aptos" panose="020B0004020202020204" pitchFamily="34" charset="0"/>
                <a:cs typeface="Times New Roman" panose="02020603050405020304" pitchFamily="18" charset="0"/>
              </a:rPr>
              <a:t>logn</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Therefore, T(n) = Θ(n.log(</a:t>
            </a:r>
            <a:r>
              <a:rPr lang="en-IN" sz="1800" kern="100" dirty="0" err="1">
                <a:effectLst/>
                <a:latin typeface="Times New Roman" panose="02020603050405020304" pitchFamily="18" charset="0"/>
                <a:ea typeface="Aptos" panose="020B0004020202020204" pitchFamily="34" charset="0"/>
                <a:cs typeface="Times New Roman" panose="02020603050405020304" pitchFamily="18" charset="0"/>
              </a:rPr>
              <a:t>logn</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is the tight bound for this equation.</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657885113"/>
      </p:ext>
    </p:extLst>
  </p:cSld>
  <p:clrMapOvr>
    <a:masterClrMapping/>
  </p:clrMapOvr>
</p:sld>
</file>

<file path=ppt/theme/theme1.xml><?xml version="1.0" encoding="utf-8"?>
<a:theme xmlns:a="http://schemas.openxmlformats.org/drawingml/2006/main" name="Office Theme">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5945</TotalTime>
  <Words>9978</Words>
  <Application>Microsoft Office PowerPoint</Application>
  <PresentationFormat>On-screen Show (4:3)</PresentationFormat>
  <Paragraphs>1229</Paragraphs>
  <Slides>92</Slides>
  <Notes>0</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92</vt:i4>
      </vt:variant>
    </vt:vector>
  </HeadingPairs>
  <TitlesOfParts>
    <vt:vector size="108" baseType="lpstr">
      <vt:lpstr>Adobe Arabic</vt:lpstr>
      <vt:lpstr>Aptos</vt:lpstr>
      <vt:lpstr>arial</vt:lpstr>
      <vt:lpstr>arial</vt:lpstr>
      <vt:lpstr>Calibri</vt:lpstr>
      <vt:lpstr>Cambria Math</vt:lpstr>
      <vt:lpstr>Consolas</vt:lpstr>
      <vt:lpstr>Fira Code</vt:lpstr>
      <vt:lpstr>Nunito</vt:lpstr>
      <vt:lpstr>Source Sans Pro</vt:lpstr>
      <vt:lpstr>Symbol</vt:lpstr>
      <vt:lpstr>Times New Roman</vt:lpstr>
      <vt:lpstr>var(--bs-font-monospace)</vt:lpstr>
      <vt:lpstr>Verdana</vt:lpstr>
      <vt:lpstr>Wingdings</vt:lpstr>
      <vt:lpstr>Office Theme</vt:lpstr>
      <vt:lpstr>      Department of Computer Science &amp; Engineering  SUBJECT: DESIGN AND ANALYSIS OF ALGORITHMS  SUBJECT CODE: 19PC1CS03  TOPIC NAME: INTRODUCTION TO ALGORITHMS  YEAR:   II-YEAR    SEC: C</vt:lpstr>
      <vt:lpstr>Agenda</vt:lpstr>
      <vt:lpstr>Algorithm</vt:lpstr>
      <vt:lpstr>Algorithm</vt:lpstr>
      <vt:lpstr>Algorithm</vt:lpstr>
      <vt:lpstr>Difference between Algorithm, Pseudocode and Program</vt:lpstr>
      <vt:lpstr>Difference between Algorithm, Pseudocode and Program</vt:lpstr>
      <vt:lpstr>ALGORITHM SPECIFICATION</vt:lpstr>
      <vt:lpstr>ALGORITHM SPECIFICATION</vt:lpstr>
      <vt:lpstr>ALGORITHM SPECIFICATION</vt:lpstr>
      <vt:lpstr>ALGORITHM SPECIFICATION</vt:lpstr>
      <vt:lpstr>ALGORITHM SPECIFICATION</vt:lpstr>
      <vt:lpstr>ALGORITHM SPECIFICATION</vt:lpstr>
      <vt:lpstr>ALGORITHM SPECIFICATION –Recursive Algorithms </vt:lpstr>
      <vt:lpstr>Performance Analysis </vt:lpstr>
      <vt:lpstr>Performance Analysis </vt:lpstr>
      <vt:lpstr>Performance Analysis </vt:lpstr>
      <vt:lpstr>Performance Analysis </vt:lpstr>
      <vt:lpstr>Performance Analysis </vt:lpstr>
      <vt:lpstr>Performance Analysis </vt:lpstr>
      <vt:lpstr>Performance Analysis </vt:lpstr>
      <vt:lpstr>Performance Analysis </vt:lpstr>
      <vt:lpstr>Performance Analysis </vt:lpstr>
      <vt:lpstr>Performance Analysis </vt:lpstr>
      <vt:lpstr>Performance Analysis </vt:lpstr>
      <vt:lpstr>Performance Analysis </vt:lpstr>
      <vt:lpstr>Performance Analysis </vt:lpstr>
      <vt:lpstr>Performance Analysis </vt:lpstr>
      <vt:lpstr>Performance Analysis </vt:lpstr>
      <vt:lpstr>Performance Analysis </vt:lpstr>
      <vt:lpstr>Performance Analysis </vt:lpstr>
      <vt:lpstr>Performance Analysis </vt:lpstr>
      <vt:lpstr>Performance Analysis </vt:lpstr>
      <vt:lpstr>Performance Analysis </vt:lpstr>
      <vt:lpstr>Performance Analysis </vt:lpstr>
      <vt:lpstr>Performance Analysis </vt:lpstr>
      <vt:lpstr>Performance Analysis </vt:lpstr>
      <vt:lpstr>Can we use loops in recursion?</vt:lpstr>
      <vt:lpstr>Can we use loops in recursion?</vt:lpstr>
      <vt:lpstr>For Understanding</vt:lpstr>
      <vt:lpstr>For Understanding</vt:lpstr>
      <vt:lpstr>For Understanding</vt:lpstr>
      <vt:lpstr>For Understanding</vt:lpstr>
      <vt:lpstr>For Understanding</vt:lpstr>
      <vt:lpstr>For Understanding</vt:lpstr>
      <vt:lpstr>For Understanding</vt:lpstr>
      <vt:lpstr>For Understanding</vt:lpstr>
      <vt:lpstr>For Understanding</vt:lpstr>
      <vt:lpstr>For Understanding</vt:lpstr>
      <vt:lpstr>Step count  for recursive algorithms</vt:lpstr>
      <vt:lpstr>Step count  for recursive algorithms</vt:lpstr>
      <vt:lpstr>Asymptotic classes</vt:lpstr>
      <vt:lpstr>Asymptotic classes</vt:lpstr>
      <vt:lpstr>Asymptotic classes</vt:lpstr>
      <vt:lpstr>Asymptotic classes</vt:lpstr>
      <vt:lpstr>Asymptotic classes</vt:lpstr>
      <vt:lpstr>Asymptotic classes</vt:lpstr>
      <vt:lpstr>Divide and Conquer</vt:lpstr>
      <vt:lpstr>Divide and Conquer</vt:lpstr>
      <vt:lpstr>Divide and Conquer</vt:lpstr>
      <vt:lpstr>Divide and Conquer</vt:lpstr>
      <vt:lpstr>Divide and Conquer</vt:lpstr>
      <vt:lpstr>Quick sort</vt:lpstr>
      <vt:lpstr>Merge sort</vt:lpstr>
      <vt:lpstr>Merge Sort</vt:lpstr>
      <vt:lpstr>Merge Sort</vt:lpstr>
      <vt:lpstr>Merge Sort</vt:lpstr>
      <vt:lpstr>Merge Sort</vt:lpstr>
      <vt:lpstr>Merge Sort</vt:lpstr>
      <vt:lpstr>Strassen's matrix multiplication</vt:lpstr>
      <vt:lpstr> Master Theorem  </vt:lpstr>
      <vt:lpstr> Master Theorem  </vt:lpstr>
      <vt:lpstr>   Apriori and Apostiari Analysis  </vt:lpstr>
      <vt:lpstr>   Empirical Analysis    </vt:lpstr>
      <vt:lpstr>   Empirical Analysis    </vt:lpstr>
      <vt:lpstr>    Probabilistic Analysis     </vt:lpstr>
      <vt:lpstr>    Amortized Analysis    </vt:lpstr>
      <vt:lpstr>    Amortized Analysis    </vt:lpstr>
      <vt:lpstr>    Time and space trade-off.    </vt:lpstr>
      <vt:lpstr>    Time and space trade-off.    </vt:lpstr>
      <vt:lpstr>    Recursive Tree Method   </vt:lpstr>
      <vt:lpstr>    Recursive Tree Method   </vt:lpstr>
      <vt:lpstr>    Recursive Tree Method   </vt:lpstr>
      <vt:lpstr>PowerPoint Presentation</vt:lpstr>
      <vt:lpstr>PowerPoint Presentation</vt:lpstr>
      <vt:lpstr>PowerPoint Presentation</vt:lpstr>
      <vt:lpstr> Master Theorem </vt:lpstr>
      <vt:lpstr> Master Theorem </vt:lpstr>
      <vt:lpstr> Master Theorem </vt:lpstr>
      <vt:lpstr> Master Theorem </vt:lpstr>
      <vt:lpstr> Master Theorem </vt:lpstr>
      <vt:lpstr> Master Theorem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Department of Computer Science &amp; Engineering   SUBJECT: Computer Networks Subject Code: 18PC1IT06  Topic Name: Data Link Layer and Medium Access Sub Layer:  III year, sec:</dc:title>
  <dc:creator>Dr Puligunda Neelakantan</dc:creator>
  <cp:lastModifiedBy>Puligundla Neelakantan</cp:lastModifiedBy>
  <cp:revision>66</cp:revision>
  <dcterms:created xsi:type="dcterms:W3CDTF">2020-07-19T14:07:24Z</dcterms:created>
  <dcterms:modified xsi:type="dcterms:W3CDTF">2024-03-13T06:08:41Z</dcterms:modified>
</cp:coreProperties>
</file>