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78"/>
  </p:notesMasterIdLst>
  <p:sldIdLst>
    <p:sldId id="256" r:id="rId2"/>
    <p:sldId id="349" r:id="rId3"/>
    <p:sldId id="350" r:id="rId4"/>
    <p:sldId id="351" r:id="rId5"/>
    <p:sldId id="352" r:id="rId6"/>
    <p:sldId id="353" r:id="rId7"/>
    <p:sldId id="355"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3" r:id="rId51"/>
    <p:sldId id="304" r:id="rId52"/>
    <p:sldId id="307" r:id="rId53"/>
    <p:sldId id="308" r:id="rId54"/>
    <p:sldId id="309" r:id="rId55"/>
    <p:sldId id="310" r:id="rId56"/>
    <p:sldId id="311" r:id="rId57"/>
    <p:sldId id="312" r:id="rId58"/>
    <p:sldId id="313" r:id="rId59"/>
    <p:sldId id="314" r:id="rId60"/>
    <p:sldId id="315" r:id="rId61"/>
    <p:sldId id="316" r:id="rId62"/>
    <p:sldId id="317" r:id="rId63"/>
    <p:sldId id="320" r:id="rId64"/>
    <p:sldId id="328" r:id="rId65"/>
    <p:sldId id="329" r:id="rId66"/>
    <p:sldId id="330" r:id="rId67"/>
    <p:sldId id="331" r:id="rId68"/>
    <p:sldId id="332" r:id="rId69"/>
    <p:sldId id="333" r:id="rId70"/>
    <p:sldId id="334" r:id="rId71"/>
    <p:sldId id="335" r:id="rId72"/>
    <p:sldId id="336" r:id="rId73"/>
    <p:sldId id="337" r:id="rId74"/>
    <p:sldId id="338" r:id="rId75"/>
    <p:sldId id="342" r:id="rId76"/>
    <p:sldId id="343" r:id="rId77"/>
  </p:sldIdLst>
  <p:sldSz cx="9144000" cy="6858000" type="screen4x3"/>
  <p:notesSz cx="6858000" cy="9144000"/>
  <p:embeddedFontLst>
    <p:embeddedFont>
      <p:font typeface="Calibri Light" panose="020F0302020204030204" pitchFamily="34" charset="0"/>
      <p:regular r:id="rId79"/>
      <p:italic r:id="rId80"/>
    </p:embeddedFont>
    <p:embeddedFont>
      <p:font typeface="Calibri" panose="020F0502020204030204" pitchFamily="34" charset="0"/>
      <p:regular r:id="rId81"/>
      <p:bold r:id="rId82"/>
      <p:italic r:id="rId83"/>
      <p:boldItalic r:id="rId84"/>
    </p:embeddedFont>
    <p:embeddedFont>
      <p:font typeface="Ruge Boogie" panose="020B0604020202020204" charset="0"/>
      <p:regular r:id="rId85"/>
    </p:embeddedFont>
    <p:embeddedFont>
      <p:font typeface="Bookman Old Style" panose="02050604050505020204" pitchFamily="18" charset="0"/>
      <p:regular r:id="rId86"/>
      <p:bold r:id="rId87"/>
      <p:italic r:id="rId88"/>
      <p:boldItalic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1" roundtripDataSignature="AMtx7mgdXifpzY8727Ja83HDOPoeGLBIl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C18630-08E3-4F52-8463-D1399F7941C1}">
  <a:tblStyle styleId="{6BC18630-08E3-4F52-8463-D1399F7941C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BF5"/>
          </a:solidFill>
        </a:fill>
      </a:tcStyle>
    </a:wholeTbl>
    <a:band1H>
      <a:tcTxStyle/>
      <a:tcStyle>
        <a:tcBdr/>
        <a:fill>
          <a:solidFill>
            <a:srgbClr val="CAD4EA"/>
          </a:solidFill>
        </a:fill>
      </a:tcStyle>
    </a:band1H>
    <a:band2H>
      <a:tcTxStyle/>
      <a:tcStyle>
        <a:tcBdr/>
      </a:tcStyle>
    </a:band2H>
    <a:band1V>
      <a:tcTxStyle/>
      <a:tcStyle>
        <a:tcBdr/>
        <a:fill>
          <a:solidFill>
            <a:srgbClr val="CA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426"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font" Target="fonts/font6.fntdata"/><Relationship Id="rId89" Type="http://schemas.openxmlformats.org/officeDocument/2006/relationships/font" Target="fonts/font11.fntdata"/><Relationship Id="rId112"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font" Target="fonts/font1.fntdata"/><Relationship Id="rId87" Type="http://schemas.openxmlformats.org/officeDocument/2006/relationships/font" Target="fonts/font9.fntdata"/><Relationship Id="rId115"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13"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2.fntdata"/><Relationship Id="rId85"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5.fntdata"/><Relationship Id="rId88" Type="http://schemas.openxmlformats.org/officeDocument/2006/relationships/font" Target="fonts/font10.fntdata"/><Relationship Id="rId11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font" Target="fonts/font3.fntdata"/><Relationship Id="rId86"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583684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2055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0338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0998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2745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7135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6887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6652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3594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69259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6468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5908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3751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87855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39731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145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29035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6307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5957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99211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77363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32225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31953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91599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91918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91563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95493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90749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30847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54042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78963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2" name="Google Shape;272;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84646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56671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5" name="Google Shape;295;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34156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9847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10742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42986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73473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12002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16068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73738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4" name="Google Shape;364;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01037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0" name="Google Shape;370;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78692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 name="Google Shape;376;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68906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85643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33977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582347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16055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0" name="Google Shape;430;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29719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6" name="Google Shape;436;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29961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5" name="Google Shape;455;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61547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00082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56309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12145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0" name="Google Shape;480;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30273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534808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70495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0" name="Google Shape;510;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30913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65757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75422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0" name="Google Shape;570;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40909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412766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945388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8" name="Google Shape;598;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289918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4" name="Google Shape;604;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60817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8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0" name="Google Shape;610;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545792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6" name="Google Shape;616;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741101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2" name="Google Shape;622;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966302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0" name="Google Shape;630;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940028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6" name="Google Shape;656;p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620109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3" name="Google Shape;663;p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945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566043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746654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776367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45554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02114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75472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205822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046468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386014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443253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20904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7071293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jpg"/></Relationships>
</file>

<file path=ppt/slides/_rels/slide41.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jpg"/><Relationship Id="rId7" Type="http://schemas.openxmlformats.org/officeDocument/2006/relationships/image" Target="../media/image13.jp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gif"/></Relationships>
</file>

<file path=ppt/slides/_rels/slide4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2.jp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8" Type="http://schemas.openxmlformats.org/officeDocument/2006/relationships/image" Target="../media/image28.jpg"/><Relationship Id="rId3" Type="http://schemas.openxmlformats.org/officeDocument/2006/relationships/image" Target="../media/image23.jpg"/><Relationship Id="rId7" Type="http://schemas.openxmlformats.org/officeDocument/2006/relationships/image" Target="../media/image27.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26.jpg"/><Relationship Id="rId5" Type="http://schemas.openxmlformats.org/officeDocument/2006/relationships/image" Target="../media/image25.jpg"/><Relationship Id="rId4" Type="http://schemas.openxmlformats.org/officeDocument/2006/relationships/image" Target="../media/image24.jpg"/><Relationship Id="rId9" Type="http://schemas.openxmlformats.org/officeDocument/2006/relationships/image" Target="../media/image29.jp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8" Type="http://schemas.openxmlformats.org/officeDocument/2006/relationships/image" Target="../media/image36.jpg"/><Relationship Id="rId3" Type="http://schemas.openxmlformats.org/officeDocument/2006/relationships/image" Target="../media/image31.png"/><Relationship Id="rId7" Type="http://schemas.openxmlformats.org/officeDocument/2006/relationships/image" Target="../media/image35.jpg"/><Relationship Id="rId12" Type="http://schemas.openxmlformats.org/officeDocument/2006/relationships/image" Target="../media/image40.jp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34.jpg"/><Relationship Id="rId11" Type="http://schemas.openxmlformats.org/officeDocument/2006/relationships/image" Target="../media/image39.jpg"/><Relationship Id="rId5" Type="http://schemas.openxmlformats.org/officeDocument/2006/relationships/image" Target="../media/image33.png"/><Relationship Id="rId10" Type="http://schemas.openxmlformats.org/officeDocument/2006/relationships/image" Target="../media/image38.jpg"/><Relationship Id="rId4" Type="http://schemas.openxmlformats.org/officeDocument/2006/relationships/image" Target="../media/image32.png"/><Relationship Id="rId9" Type="http://schemas.openxmlformats.org/officeDocument/2006/relationships/image" Target="../media/image37.jp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90" name="Google Shape;90;p1"/>
          <p:cNvSpPr/>
          <p:nvPr/>
        </p:nvSpPr>
        <p:spPr>
          <a:xfrm>
            <a:off x="152400" y="1798982"/>
            <a:ext cx="8839200" cy="3210340"/>
          </a:xfrm>
          <a:prstGeom prst="horizontalScroll">
            <a:avLst>
              <a:gd name="adj" fmla="val 12500"/>
            </a:avLst>
          </a:prstGeom>
          <a:solidFill>
            <a:srgbClr val="105964"/>
          </a:solidFill>
          <a:ln w="57150" cap="flat" cmpd="sng">
            <a:solidFill>
              <a:srgbClr val="D8D8D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800" b="1" i="0" u="none" strike="noStrike" cap="none" dirty="0">
                <a:solidFill>
                  <a:srgbClr val="F8F8F8"/>
                </a:solidFill>
                <a:latin typeface="Bookman Old Style"/>
                <a:ea typeface="Bookman Old Style"/>
                <a:cs typeface="Bookman Old Style"/>
                <a:sym typeface="Bookman Old Style"/>
              </a:rPr>
              <a:t>Unit-V</a:t>
            </a:r>
          </a:p>
          <a:p>
            <a:pPr marL="0" marR="0" lvl="0" indent="0" algn="ctr" rtl="0">
              <a:spcBef>
                <a:spcPts val="0"/>
              </a:spcBef>
              <a:spcAft>
                <a:spcPts val="0"/>
              </a:spcAft>
              <a:buNone/>
            </a:pPr>
            <a:r>
              <a:rPr lang="en-IN" sz="4800" b="1" i="0" u="none" strike="noStrike" cap="none" dirty="0">
                <a:solidFill>
                  <a:srgbClr val="F8F8F8"/>
                </a:solidFill>
                <a:latin typeface="Bookman Old Style"/>
                <a:ea typeface="Bookman Old Style"/>
                <a:cs typeface="Bookman Old Style"/>
                <a:sym typeface="Bookman Old Style"/>
              </a:rPr>
              <a:t>INTELLECTUAL PROPERTY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E94D270-C2BA-C089-A42D-C7DC89D3571F}"/>
              </a:ext>
            </a:extLst>
          </p:cNvPr>
          <p:cNvSpPr>
            <a:spLocks noGrp="1"/>
          </p:cNvSpPr>
          <p:nvPr>
            <p:ph type="title"/>
          </p:nvPr>
        </p:nvSpPr>
        <p:spPr>
          <a:xfrm>
            <a:off x="457200" y="274638"/>
            <a:ext cx="8229600" cy="699397"/>
          </a:xfrm>
        </p:spPr>
        <p:txBody>
          <a:bodyPr>
            <a:normAutofit/>
          </a:bodyPr>
          <a:lstStyle/>
          <a:p>
            <a: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t>Economics behind development of IPR</a:t>
            </a:r>
            <a:endParaRPr lang="en-IN" sz="6600" dirty="0"/>
          </a:p>
        </p:txBody>
      </p:sp>
      <p:sp>
        <p:nvSpPr>
          <p:cNvPr id="6" name="Text Placeholder 5">
            <a:extLst>
              <a:ext uri="{FF2B5EF4-FFF2-40B4-BE49-F238E27FC236}">
                <a16:creationId xmlns:a16="http://schemas.microsoft.com/office/drawing/2014/main" xmlns="" id="{BB162DCC-48DF-17B0-0567-21E684970F8A}"/>
              </a:ext>
            </a:extLst>
          </p:cNvPr>
          <p:cNvSpPr>
            <a:spLocks noGrp="1"/>
          </p:cNvSpPr>
          <p:nvPr>
            <p:ph idx="1"/>
          </p:nvPr>
        </p:nvSpPr>
        <p:spPr>
          <a:xfrm>
            <a:off x="457200" y="1123122"/>
            <a:ext cx="8229600" cy="5347252"/>
          </a:xfrm>
        </p:spPr>
        <p:txBody>
          <a:bodyPr>
            <a:normAutofit/>
          </a:bodyPr>
          <a:lstStyle/>
          <a:p>
            <a:pPr algn="just">
              <a:lnSpc>
                <a:spcPct val="150000"/>
              </a:lnSpc>
            </a:pPr>
            <a:r>
              <a:rPr lang="en-IN" sz="2000" b="1" kern="100" dirty="0">
                <a:effectLst/>
                <a:latin typeface="Times New Roman" panose="02020603050405020304" pitchFamily="18" charset="0"/>
                <a:ea typeface="Calibri" panose="020F0502020204030204" pitchFamily="34" charset="0"/>
                <a:cs typeface="Times New Roman" panose="02020603050405020304" pitchFamily="18" charset="0"/>
              </a:rPr>
              <a:t>Intellectual Property Rights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(IPR) are critical to the development and innovation in an economy. The economics behind the development of IPR revolves around several key principles and impacts:</a:t>
            </a:r>
          </a:p>
          <a:p>
            <a:pPr indent="79375">
              <a:lnSpc>
                <a:spcPct val="150000"/>
              </a:lnSpc>
              <a:buFont typeface="Wingdings" panose="05000000000000000000" pitchFamily="2" charset="2"/>
              <a:buChar char="Ø"/>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1. Incentivizing Innovation and Creativity</a:t>
            </a:r>
          </a:p>
          <a:p>
            <a:pPr indent="79375">
              <a:lnSpc>
                <a:spcPct val="150000"/>
              </a:lnSpc>
              <a:buFont typeface="Wingdings" panose="05000000000000000000" pitchFamily="2" charset="2"/>
              <a:buChar char="Ø"/>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2. Promoting Economic Growth</a:t>
            </a:r>
            <a:endParaRPr lang="en-IN" sz="2000" kern="100" dirty="0">
              <a:latin typeface="Times New Roman" panose="02020603050405020304" pitchFamily="18" charset="0"/>
              <a:ea typeface="Calibri" panose="020F0502020204030204" pitchFamily="34" charset="0"/>
              <a:cs typeface="Times New Roman" panose="02020603050405020304" pitchFamily="18" charset="0"/>
            </a:endParaRPr>
          </a:p>
          <a:p>
            <a:pPr indent="79375">
              <a:lnSpc>
                <a:spcPct val="150000"/>
              </a:lnSpc>
              <a:buFont typeface="Wingdings" panose="05000000000000000000" pitchFamily="2" charset="2"/>
              <a:buChar char="Ø"/>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3. Market Expansio</a:t>
            </a:r>
            <a:r>
              <a:rPr lang="en-IN" sz="2000" kern="100" dirty="0">
                <a:latin typeface="Times New Roman" panose="02020603050405020304" pitchFamily="18" charset="0"/>
                <a:ea typeface="Calibri" panose="020F0502020204030204" pitchFamily="34" charset="0"/>
                <a:cs typeface="Times New Roman" panose="02020603050405020304" pitchFamily="18" charset="0"/>
              </a:rPr>
              <a:t>n</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79375">
              <a:lnSpc>
                <a:spcPct val="150000"/>
              </a:lnSpc>
              <a:buFont typeface="Wingdings" panose="05000000000000000000" pitchFamily="2" charset="2"/>
              <a:buChar char="Ø"/>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4. Balancing Interests</a:t>
            </a:r>
          </a:p>
          <a:p>
            <a:pPr indent="79375">
              <a:lnSpc>
                <a:spcPct val="150000"/>
              </a:lnSpc>
              <a:spcBef>
                <a:spcPts val="0"/>
              </a:spcBef>
              <a:spcAft>
                <a:spcPts val="800"/>
              </a:spcAft>
              <a:buFont typeface="Wingdings" panose="05000000000000000000" pitchFamily="2" charset="2"/>
              <a:buChar char="Ø"/>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5. Legal and Economic Institutions</a:t>
            </a:r>
          </a:p>
          <a:p>
            <a:pPr indent="79375">
              <a:lnSpc>
                <a:spcPct val="150000"/>
              </a:lnSpc>
              <a:spcBef>
                <a:spcPts val="0"/>
              </a:spcBef>
              <a:spcAft>
                <a:spcPts val="800"/>
              </a:spcAft>
              <a:buFont typeface="Wingdings" panose="05000000000000000000" pitchFamily="2" charset="2"/>
              <a:buChar char="Ø"/>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6. Economic Costs and Benefits</a:t>
            </a:r>
          </a:p>
          <a:p>
            <a:pPr indent="79375">
              <a:lnSpc>
                <a:spcPct val="150000"/>
              </a:lnSpc>
              <a:buFont typeface="Wingdings" panose="05000000000000000000" pitchFamily="2" charset="2"/>
              <a:buChar char="Ø"/>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7. IPR and Knowledge Spillovers</a:t>
            </a:r>
          </a:p>
          <a:p>
            <a:endParaRPr lang="en-IN" dirty="0"/>
          </a:p>
        </p:txBody>
      </p:sp>
    </p:spTree>
    <p:extLst>
      <p:ext uri="{BB962C8B-B14F-4D97-AF65-F5344CB8AC3E}">
        <p14:creationId xmlns:p14="http://schemas.microsoft.com/office/powerpoint/2010/main" val="1771859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0F5702DD-ABFF-651A-6754-4414A6F990AB}"/>
              </a:ext>
            </a:extLst>
          </p:cNvPr>
          <p:cNvSpPr>
            <a:spLocks noGrp="1"/>
          </p:cNvSpPr>
          <p:nvPr>
            <p:ph type="title"/>
          </p:nvPr>
        </p:nvSpPr>
        <p:spPr>
          <a:xfrm>
            <a:off x="457200" y="0"/>
            <a:ext cx="8229600" cy="665922"/>
          </a:xfrm>
        </p:spPr>
        <p:txBody>
          <a:bodyPr>
            <a:normAutofit/>
          </a:bodyPr>
          <a:lstStyle/>
          <a:p>
            <a: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t>Economics behind development of IPR</a:t>
            </a:r>
            <a:endParaRPr lang="en-IN" sz="6600" dirty="0"/>
          </a:p>
        </p:txBody>
      </p:sp>
      <p:sp>
        <p:nvSpPr>
          <p:cNvPr id="5" name="Text Placeholder 4">
            <a:extLst>
              <a:ext uri="{FF2B5EF4-FFF2-40B4-BE49-F238E27FC236}">
                <a16:creationId xmlns:a16="http://schemas.microsoft.com/office/drawing/2014/main" xmlns="" id="{4CBF1B33-C8F2-3845-8BA2-6EED92820547}"/>
              </a:ext>
            </a:extLst>
          </p:cNvPr>
          <p:cNvSpPr>
            <a:spLocks noGrp="1"/>
          </p:cNvSpPr>
          <p:nvPr>
            <p:ph idx="1"/>
          </p:nvPr>
        </p:nvSpPr>
        <p:spPr>
          <a:xfrm>
            <a:off x="0" y="665923"/>
            <a:ext cx="8686800" cy="5917440"/>
          </a:xfrm>
        </p:spPr>
        <p:txBody>
          <a:bodyPr>
            <a:normAutofit/>
          </a:bodyPr>
          <a:lstStyle/>
          <a:p>
            <a:pPr marL="114300" indent="0">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 Incentivizing Innovation and Creativity:</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gn="just">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i="1" u="sng" kern="100" dirty="0">
                <a:effectLst/>
                <a:latin typeface="Times New Roman" panose="02020603050405020304" pitchFamily="18" charset="0"/>
                <a:ea typeface="Calibri" panose="020F0502020204030204" pitchFamily="34" charset="0"/>
                <a:cs typeface="Times New Roman" panose="02020603050405020304" pitchFamily="18" charset="0"/>
              </a:rPr>
              <a:t>Monopoly Power</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IPR grants temporary monopoly power to creators and innovators by protecting their inventions, designs, brands, and creative works from unauthorized use. This exclusivity allows them to recoup the investments made in research and development (R&amp;D).</a:t>
            </a:r>
          </a:p>
          <a:p>
            <a:pPr marL="114300" indent="0" algn="just">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i="1" u="sng" kern="100" dirty="0">
                <a:effectLst/>
                <a:latin typeface="Times New Roman" panose="02020603050405020304" pitchFamily="18" charset="0"/>
                <a:ea typeface="Calibri" panose="020F0502020204030204" pitchFamily="34" charset="0"/>
                <a:cs typeface="Times New Roman" panose="02020603050405020304" pitchFamily="18" charset="0"/>
              </a:rPr>
              <a:t>R&amp;D Investments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protection provided by IPR encourages firms and individuals to invest in R&amp;D, knowing they can potentially reap financial rewards without immediate competition copying their innovations.</a:t>
            </a:r>
          </a:p>
          <a:p>
            <a:pPr marL="114300" indent="0" algn="just">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2. Promoting Economic Growth:</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gn="just">
              <a:lnSpc>
                <a:spcPct val="107000"/>
              </a:lnSpc>
              <a:spcAft>
                <a:spcPts val="800"/>
              </a:spcAft>
              <a:buNone/>
            </a:pPr>
            <a:r>
              <a:rPr lang="en-IN" sz="18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i="1" u="sng" kern="100" dirty="0">
                <a:effectLst/>
                <a:latin typeface="Times New Roman" panose="02020603050405020304" pitchFamily="18" charset="0"/>
                <a:ea typeface="Calibri" panose="020F0502020204030204" pitchFamily="34" charset="0"/>
                <a:cs typeface="Times New Roman" panose="02020603050405020304" pitchFamily="18" charset="0"/>
              </a:rPr>
              <a:t>Productivity Gains: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Innovations protected by IPR can lead to significant productivity gains. New technologies, processes, and products improve efficiency and effectiveness across various sectors of the economy.</a:t>
            </a:r>
          </a:p>
          <a:p>
            <a:pPr marL="114300" indent="0" algn="just">
              <a:lnSpc>
                <a:spcPct val="107000"/>
              </a:lnSpc>
              <a:spcAft>
                <a:spcPts val="800"/>
              </a:spcAft>
              <a:buNone/>
            </a:pPr>
            <a:r>
              <a:rPr lang="en-IN" sz="1800" i="1" u="sng" kern="100" dirty="0">
                <a:effectLst/>
                <a:latin typeface="Times New Roman" panose="02020603050405020304" pitchFamily="18" charset="0"/>
                <a:ea typeface="Calibri" panose="020F0502020204030204" pitchFamily="34" charset="0"/>
                <a:cs typeface="Times New Roman" panose="02020603050405020304" pitchFamily="18" charset="0"/>
              </a:rPr>
              <a:t>- Industry Growth:</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Sectors with strong IPR protection, such as pharmaceuticals, technology, and entertainment, tend to experience rapid growth. These industries often rely heavily on IPR to protect their investments and stimulate further development.</a:t>
            </a:r>
          </a:p>
          <a:p>
            <a:endParaRPr lang="en-IN" dirty="0"/>
          </a:p>
        </p:txBody>
      </p:sp>
    </p:spTree>
    <p:extLst>
      <p:ext uri="{BB962C8B-B14F-4D97-AF65-F5344CB8AC3E}">
        <p14:creationId xmlns:p14="http://schemas.microsoft.com/office/powerpoint/2010/main" val="638020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84A7391B-81D9-B413-3918-6AF8F805B363}"/>
              </a:ext>
            </a:extLst>
          </p:cNvPr>
          <p:cNvSpPr>
            <a:spLocks noGrp="1"/>
          </p:cNvSpPr>
          <p:nvPr>
            <p:ph type="title"/>
          </p:nvPr>
        </p:nvSpPr>
        <p:spPr>
          <a:xfrm>
            <a:off x="0" y="0"/>
            <a:ext cx="8686800" cy="596348"/>
          </a:xfrm>
        </p:spPr>
        <p:txBody>
          <a:bodyPr>
            <a:noAutofit/>
          </a:bodyPr>
          <a:lstStyle/>
          <a:p>
            <a: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t>Economics behind development of IPR</a:t>
            </a:r>
            <a:endParaRPr lang="en-IN" sz="3200" dirty="0"/>
          </a:p>
        </p:txBody>
      </p:sp>
      <p:sp>
        <p:nvSpPr>
          <p:cNvPr id="5" name="Text Placeholder 4">
            <a:extLst>
              <a:ext uri="{FF2B5EF4-FFF2-40B4-BE49-F238E27FC236}">
                <a16:creationId xmlns:a16="http://schemas.microsoft.com/office/drawing/2014/main" xmlns="" id="{E116541E-2193-2432-FDA9-853F499B039F}"/>
              </a:ext>
            </a:extLst>
          </p:cNvPr>
          <p:cNvSpPr>
            <a:spLocks noGrp="1"/>
          </p:cNvSpPr>
          <p:nvPr>
            <p:ph idx="1"/>
          </p:nvPr>
        </p:nvSpPr>
        <p:spPr>
          <a:xfrm>
            <a:off x="0" y="745435"/>
            <a:ext cx="9144000" cy="6042991"/>
          </a:xfrm>
        </p:spPr>
        <p:txBody>
          <a:bodyPr>
            <a:normAutofit/>
          </a:bodyPr>
          <a:lstStyle/>
          <a:p>
            <a:pPr marL="114300" indent="0">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3. Market Expansion:</a:t>
            </a:r>
          </a:p>
          <a:p>
            <a:pPr marL="114300" indent="0">
              <a:lnSpc>
                <a:spcPct val="107000"/>
              </a:lnSpc>
              <a:spcAft>
                <a:spcPts val="800"/>
              </a:spcAft>
              <a:buNone/>
            </a:pPr>
            <a:r>
              <a:rPr lang="en-IN" sz="1800" i="1" u="sng" kern="100" dirty="0">
                <a:effectLst/>
                <a:latin typeface="Times New Roman" panose="02020603050405020304" pitchFamily="18" charset="0"/>
                <a:ea typeface="Calibri" panose="020F0502020204030204" pitchFamily="34" charset="0"/>
                <a:cs typeface="Times New Roman" panose="02020603050405020304" pitchFamily="18" charset="0"/>
              </a:rPr>
              <a:t>Global Trade:</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Strong IPR protection can facilitate international trade by providing confidence to foreign investors and companies that their IP will be protected. This can lead to increased exports and imports of high-tech goods and services.</a:t>
            </a:r>
          </a:p>
          <a:p>
            <a:pPr marL="114300" indent="0" algn="just">
              <a:lnSpc>
                <a:spcPct val="107000"/>
              </a:lnSpc>
              <a:spcAft>
                <a:spcPts val="800"/>
              </a:spcAft>
              <a:buNone/>
            </a:pPr>
            <a:r>
              <a:rPr lang="en-IN" sz="1800" i="1" u="sng" kern="100" dirty="0">
                <a:effectLst/>
                <a:latin typeface="Times New Roman" panose="02020603050405020304" pitchFamily="18" charset="0"/>
                <a:ea typeface="Calibri" panose="020F0502020204030204" pitchFamily="34" charset="0"/>
                <a:cs typeface="Times New Roman" panose="02020603050405020304" pitchFamily="18" charset="0"/>
              </a:rPr>
              <a:t>Foreign Direct Investment (FDI):</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Countries with robust IPR regimes often attract more FDI. Multinational companies prefer investing in markets where their innovations and brands are protected.</a:t>
            </a:r>
          </a:p>
          <a:p>
            <a:pPr marL="114300" indent="0">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4. Balancing Interests: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gn="just">
              <a:lnSpc>
                <a:spcPct val="107000"/>
              </a:lnSpc>
              <a:spcAft>
                <a:spcPts val="800"/>
              </a:spcAft>
              <a:buNone/>
            </a:pPr>
            <a:r>
              <a:rPr lang="en-IN" sz="1800" i="1" u="sng" kern="100" dirty="0">
                <a:effectLst/>
                <a:latin typeface="Times New Roman" panose="02020603050405020304" pitchFamily="18" charset="0"/>
                <a:ea typeface="Calibri" panose="020F0502020204030204" pitchFamily="34" charset="0"/>
                <a:cs typeface="Times New Roman" panose="02020603050405020304" pitchFamily="18" charset="0"/>
              </a:rPr>
              <a:t>Access vs. Incentives: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There is a delicate balance between providing incentives for innovation and ensuring access to new technologies and medicines. For instance, while patent protection encourages pharmaceutical companies to develop new drugs, it can also lead to high prices, restricting access for some populations.</a:t>
            </a:r>
          </a:p>
          <a:p>
            <a:pPr marL="114300" indent="0" algn="just">
              <a:lnSpc>
                <a:spcPct val="107000"/>
              </a:lnSpc>
              <a:spcAft>
                <a:spcPts val="800"/>
              </a:spcAft>
              <a:buNone/>
            </a:pPr>
            <a:r>
              <a:rPr lang="en-IN" sz="1800" i="1" u="sng" kern="100" dirty="0">
                <a:effectLst/>
                <a:latin typeface="Times New Roman" panose="02020603050405020304" pitchFamily="18" charset="0"/>
                <a:ea typeface="Calibri" panose="020F0502020204030204" pitchFamily="34" charset="0"/>
                <a:cs typeface="Times New Roman" panose="02020603050405020304" pitchFamily="18" charset="0"/>
              </a:rPr>
              <a:t> Duration of Protection:</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The duration of IPR protection (e.g., patents typically last 20 years) is designed to balance the need to reward innovators and eventually allow public access to the innovations.</a:t>
            </a:r>
          </a:p>
          <a:p>
            <a:pPr marL="114300" indent="0">
              <a:lnSpc>
                <a:spcPct val="107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2727079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A4CC043B-31AB-3E69-74D9-AB1D3E43F235}"/>
              </a:ext>
            </a:extLst>
          </p:cNvPr>
          <p:cNvSpPr>
            <a:spLocks noGrp="1"/>
          </p:cNvSpPr>
          <p:nvPr>
            <p:ph type="title"/>
          </p:nvPr>
        </p:nvSpPr>
        <p:spPr>
          <a:xfrm>
            <a:off x="99391" y="0"/>
            <a:ext cx="8885583" cy="731837"/>
          </a:xfrm>
        </p:spPr>
        <p:txBody>
          <a:bodyPr>
            <a:noAutofit/>
          </a:bodyPr>
          <a:lstStyle/>
          <a:p>
            <a:r>
              <a:rPr lang="en-IN" sz="3200" b="1" kern="100" dirty="0">
                <a:effectLst/>
                <a:latin typeface="Times New Roman" panose="02020603050405020304" pitchFamily="18" charset="0"/>
                <a:ea typeface="Calibri" panose="020F0502020204030204" pitchFamily="34" charset="0"/>
                <a:cs typeface="Times New Roman" panose="02020603050405020304" pitchFamily="18" charset="0"/>
              </a:rPr>
              <a:t>Economics behind development of IPR</a:t>
            </a:r>
            <a:endParaRPr lang="en-IN" sz="3200" dirty="0"/>
          </a:p>
        </p:txBody>
      </p:sp>
      <p:sp>
        <p:nvSpPr>
          <p:cNvPr id="5" name="Text Placeholder 4">
            <a:extLst>
              <a:ext uri="{FF2B5EF4-FFF2-40B4-BE49-F238E27FC236}">
                <a16:creationId xmlns:a16="http://schemas.microsoft.com/office/drawing/2014/main" xmlns="" id="{6226F6C4-6BB5-88F5-3993-4575688D6FDB}"/>
              </a:ext>
            </a:extLst>
          </p:cNvPr>
          <p:cNvSpPr>
            <a:spLocks noGrp="1"/>
          </p:cNvSpPr>
          <p:nvPr>
            <p:ph idx="1"/>
          </p:nvPr>
        </p:nvSpPr>
        <p:spPr>
          <a:xfrm>
            <a:off x="99391" y="731838"/>
            <a:ext cx="9044609" cy="6126162"/>
          </a:xfrm>
        </p:spPr>
        <p:txBody>
          <a:bodyPr>
            <a:normAutofit fontScale="92500" lnSpcReduction="10000"/>
          </a:bodyPr>
          <a:lstStyle/>
          <a:p>
            <a:pPr marL="114300" indent="0">
              <a:lnSpc>
                <a:spcPct val="150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5. Legal and Economic Institutions: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 indent="0" algn="just">
              <a:lnSpc>
                <a:spcPct val="150000"/>
              </a:lnSpc>
              <a:spcAft>
                <a:spcPts val="800"/>
              </a:spcAft>
              <a:buNone/>
            </a:pPr>
            <a:r>
              <a:rPr lang="en-IN" sz="1800" i="1" u="sng" kern="100" dirty="0">
                <a:effectLst/>
                <a:latin typeface="Calibri" panose="020F0502020204030204" pitchFamily="34" charset="0"/>
                <a:ea typeface="Calibri" panose="020F0502020204030204" pitchFamily="34" charset="0"/>
                <a:cs typeface="Times New Roman" panose="02020603050405020304" pitchFamily="18" charset="0"/>
              </a:rPr>
              <a:t>Legal Framework:</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 well-functioning legal system is crucial for the enforcement of IPR. Clear laws, effective judicial processes, and enforcement mechanisms ensure that rights holders can protect their IP.</a:t>
            </a:r>
          </a:p>
          <a:p>
            <a:pPr marL="114300" indent="0" algn="just">
              <a:lnSpc>
                <a:spcPct val="150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i="1" u="sng" kern="100" dirty="0">
                <a:effectLst/>
                <a:latin typeface="Calibri" panose="020F0502020204030204" pitchFamily="34" charset="0"/>
                <a:ea typeface="Calibri" panose="020F0502020204030204" pitchFamily="34" charset="0"/>
                <a:cs typeface="Times New Roman" panose="02020603050405020304" pitchFamily="18" charset="0"/>
              </a:rPr>
              <a:t>Economic Institutions: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Institutions like patent offices, regulatory bodies, and international organizations (e.g., WTO, WIPO) play key roles in the administration and harmonization of IPR globally.</a:t>
            </a:r>
          </a:p>
          <a:p>
            <a:pPr marL="114300" indent="0">
              <a:lnSpc>
                <a:spcPct val="110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6. Economic Costs and Benefits:</a:t>
            </a:r>
          </a:p>
          <a:p>
            <a:pPr marL="114300" indent="0" algn="just">
              <a:lnSpc>
                <a:spcPct val="150000"/>
              </a:lnSpc>
              <a:spcAft>
                <a:spcPts val="800"/>
              </a:spcAft>
              <a:buNone/>
            </a:pPr>
            <a:r>
              <a:rPr lang="en-IN" sz="1800" i="1" u="sng" kern="100" dirty="0">
                <a:effectLst/>
                <a:latin typeface="Calibri" panose="020F0502020204030204" pitchFamily="34" charset="0"/>
                <a:ea typeface="Calibri" panose="020F0502020204030204" pitchFamily="34" charset="0"/>
                <a:cs typeface="Times New Roman" panose="02020603050405020304" pitchFamily="18" charset="0"/>
              </a:rPr>
              <a:t>- Costs: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Implementing and enforcing IPR can be costly for governments and businesses. There are administrative costs, legal fees, and the potential for anti-competitive practices that can arise from excessive IP protection.</a:t>
            </a:r>
          </a:p>
          <a:p>
            <a:pPr marL="114300" indent="0" algn="just">
              <a:lnSpc>
                <a:spcPct val="150000"/>
              </a:lnSpc>
              <a:spcAft>
                <a:spcPts val="800"/>
              </a:spcAft>
              <a:buNone/>
            </a:pPr>
            <a:r>
              <a:rPr lang="en-IN" sz="1800" i="1" u="sng" kern="100" dirty="0">
                <a:effectLst/>
                <a:latin typeface="Calibri" panose="020F0502020204030204" pitchFamily="34" charset="0"/>
                <a:ea typeface="Calibri" panose="020F0502020204030204" pitchFamily="34" charset="0"/>
                <a:cs typeface="Times New Roman" panose="02020603050405020304" pitchFamily="18" charset="0"/>
              </a:rPr>
              <a:t>- Benefits: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benefits include enhanced innovation, economic growth, job creation, and improvements in standards of living. IPR also fosters a competitive market environment, leading to a diverse range of products and services.</a:t>
            </a:r>
          </a:p>
          <a:p>
            <a:endParaRPr lang="en-IN" dirty="0"/>
          </a:p>
        </p:txBody>
      </p:sp>
    </p:spTree>
    <p:extLst>
      <p:ext uri="{BB962C8B-B14F-4D97-AF65-F5344CB8AC3E}">
        <p14:creationId xmlns:p14="http://schemas.microsoft.com/office/powerpoint/2010/main" val="2551741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58E75A1D-2739-B11F-C632-DC2C89AD7F74}"/>
              </a:ext>
            </a:extLst>
          </p:cNvPr>
          <p:cNvSpPr>
            <a:spLocks noGrp="1"/>
          </p:cNvSpPr>
          <p:nvPr>
            <p:ph type="title"/>
          </p:nvPr>
        </p:nvSpPr>
        <p:spPr>
          <a:xfrm>
            <a:off x="457200" y="0"/>
            <a:ext cx="8229600" cy="731837"/>
          </a:xfrm>
        </p:spPr>
        <p:txBody>
          <a:bodyPr>
            <a:noAutofit/>
          </a:bodyPr>
          <a:lstStyle/>
          <a:p>
            <a:r>
              <a:rPr lang="en-IN" sz="3600" b="1" kern="100" dirty="0">
                <a:effectLst/>
                <a:latin typeface="Times New Roman" panose="02020603050405020304" pitchFamily="18" charset="0"/>
                <a:ea typeface="Calibri" panose="020F0502020204030204" pitchFamily="34" charset="0"/>
                <a:cs typeface="Times New Roman" panose="02020603050405020304" pitchFamily="18" charset="0"/>
              </a:rPr>
              <a:t>Economics behind development of IPR</a:t>
            </a:r>
            <a:endParaRPr lang="en-IN" sz="3600" dirty="0"/>
          </a:p>
        </p:txBody>
      </p:sp>
      <p:sp>
        <p:nvSpPr>
          <p:cNvPr id="5" name="Text Placeholder 4">
            <a:extLst>
              <a:ext uri="{FF2B5EF4-FFF2-40B4-BE49-F238E27FC236}">
                <a16:creationId xmlns:a16="http://schemas.microsoft.com/office/drawing/2014/main" xmlns="" id="{C170F459-0065-E4CC-A1D8-14663DDCD02D}"/>
              </a:ext>
            </a:extLst>
          </p:cNvPr>
          <p:cNvSpPr>
            <a:spLocks noGrp="1"/>
          </p:cNvSpPr>
          <p:nvPr>
            <p:ph idx="1"/>
          </p:nvPr>
        </p:nvSpPr>
        <p:spPr>
          <a:xfrm>
            <a:off x="0" y="815010"/>
            <a:ext cx="9004852" cy="6042990"/>
          </a:xfrm>
        </p:spPr>
        <p:txBody>
          <a:bodyPr>
            <a:normAutofit/>
          </a:bodyPr>
          <a:lstStyle/>
          <a:p>
            <a:pPr marL="114300" indent="0">
              <a:lnSpc>
                <a:spcPct val="150000"/>
              </a:lnSpc>
              <a:spcAft>
                <a:spcPts val="800"/>
              </a:spcAft>
              <a:buNone/>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7. IPR and Knowledge Spillovers:</a:t>
            </a:r>
          </a:p>
          <a:p>
            <a:pPr marL="114300" indent="0" algn="just">
              <a:lnSpc>
                <a:spcPct val="150000"/>
              </a:lnSpc>
              <a:spcAft>
                <a:spcPts val="800"/>
              </a:spcAft>
              <a:buNone/>
            </a:pPr>
            <a:r>
              <a:rPr lang="en-IN" sz="1800" b="1" i="1" u="sng" kern="100" dirty="0">
                <a:effectLst/>
                <a:latin typeface="Calibri" panose="020F0502020204030204" pitchFamily="34" charset="0"/>
                <a:ea typeface="Calibri" panose="020F0502020204030204" pitchFamily="34" charset="0"/>
                <a:cs typeface="Times New Roman" panose="02020603050405020304" pitchFamily="18" charset="0"/>
              </a:rPr>
              <a:t>Knowledge Diffusion: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While IPR protects individual innovations, it also encourages the diffusion of knowledge. Published patents, for example, disclose technical details that others can learn from and build upon once the protection expires.</a:t>
            </a:r>
          </a:p>
          <a:p>
            <a:pPr marL="114300" indent="0" algn="just">
              <a:lnSpc>
                <a:spcPct val="150000"/>
              </a:lnSpc>
              <a:spcAft>
                <a:spcPts val="800"/>
              </a:spcAft>
              <a:buNone/>
            </a:pPr>
            <a:r>
              <a:rPr lang="en-IN" sz="1800" b="1" i="1" u="sng" kern="100" dirty="0">
                <a:effectLst/>
                <a:latin typeface="Calibri" panose="020F0502020204030204" pitchFamily="34" charset="0"/>
                <a:ea typeface="Calibri" panose="020F0502020204030204" pitchFamily="34" charset="0"/>
                <a:cs typeface="Times New Roman" panose="02020603050405020304" pitchFamily="18" charset="0"/>
              </a:rPr>
              <a:t> Collaborations: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IPR can facilitate collaborations and partnerships, as clear ownership of IP encourages companies to share knowledge and work together without fear of losing their competitive edge.</a:t>
            </a:r>
          </a:p>
          <a:p>
            <a:pPr marL="0" indent="457200" algn="just">
              <a:lnSpc>
                <a:spcPct val="150000"/>
              </a:lnSpc>
              <a:spcAft>
                <a:spcPts val="800"/>
              </a:spcAft>
              <a:buNone/>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development of IPR is a complex interplay of encouraging innovation, promoting economic growth, balancing interests, and ensuring effective legal and economic frameworks. By understanding and strategically managing these aspects, economies can harness the full potential of IPR to drive development and prosperity.</a:t>
            </a:r>
          </a:p>
          <a:p>
            <a:endParaRPr lang="en-IN" dirty="0"/>
          </a:p>
        </p:txBody>
      </p:sp>
    </p:spTree>
    <p:extLst>
      <p:ext uri="{BB962C8B-B14F-4D97-AF65-F5344CB8AC3E}">
        <p14:creationId xmlns:p14="http://schemas.microsoft.com/office/powerpoint/2010/main" val="458527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B2700B-C958-FB4B-E02E-CCF093374B12}"/>
              </a:ext>
            </a:extLst>
          </p:cNvPr>
          <p:cNvSpPr>
            <a:spLocks noGrp="1"/>
          </p:cNvSpPr>
          <p:nvPr>
            <p:ph type="ctrTitle"/>
          </p:nvPr>
        </p:nvSpPr>
        <p:spPr/>
        <p:txBody>
          <a:bodyPr/>
          <a:lstStyle/>
          <a:p>
            <a:r>
              <a:rPr lang="en-IN" sz="4400" b="1" dirty="0">
                <a:solidFill>
                  <a:schemeClr val="dk1"/>
                </a:solidFill>
                <a:latin typeface="Times New Roman"/>
                <a:ea typeface="Times New Roman"/>
                <a:cs typeface="Times New Roman"/>
                <a:sym typeface="Times New Roman"/>
              </a:rPr>
              <a:t>Intellectual Property Rights</a:t>
            </a:r>
            <a:endParaRPr lang="en-IN" dirty="0"/>
          </a:p>
        </p:txBody>
      </p:sp>
      <p:sp>
        <p:nvSpPr>
          <p:cNvPr id="3" name="Subtitle 2">
            <a:extLst>
              <a:ext uri="{FF2B5EF4-FFF2-40B4-BE49-F238E27FC236}">
                <a16:creationId xmlns:a16="http://schemas.microsoft.com/office/drawing/2014/main" xmlns="" id="{88F6C055-EBD7-2478-2095-FED70469E3E4}"/>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351861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533400" y="1981200"/>
            <a:ext cx="8229600" cy="32004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200000"/>
              </a:lnSpc>
              <a:spcBef>
                <a:spcPts val="0"/>
              </a:spcBef>
              <a:spcAft>
                <a:spcPts val="0"/>
              </a:spcAft>
              <a:buClr>
                <a:srgbClr val="FF0000"/>
              </a:buClr>
              <a:buSzPct val="100000"/>
              <a:buFont typeface="Times New Roman"/>
              <a:buNone/>
            </a:pPr>
            <a:r>
              <a:rPr lang="en-IN" dirty="0">
                <a:solidFill>
                  <a:srgbClr val="FF0000"/>
                </a:solidFill>
                <a:latin typeface="Times New Roman"/>
                <a:ea typeface="Times New Roman"/>
                <a:cs typeface="Times New Roman"/>
                <a:sym typeface="Times New Roman"/>
              </a:rPr>
              <a:t>A Fundamental Principle of </a:t>
            </a:r>
            <a:br>
              <a:rPr lang="en-IN" dirty="0">
                <a:solidFill>
                  <a:srgbClr val="FF0000"/>
                </a:solidFill>
                <a:latin typeface="Times New Roman"/>
                <a:ea typeface="Times New Roman"/>
                <a:cs typeface="Times New Roman"/>
                <a:sym typeface="Times New Roman"/>
              </a:rPr>
            </a:br>
            <a:r>
              <a:rPr lang="en-IN" dirty="0">
                <a:solidFill>
                  <a:srgbClr val="FF0000"/>
                </a:solidFill>
                <a:latin typeface="Times New Roman"/>
                <a:ea typeface="Times New Roman"/>
                <a:cs typeface="Times New Roman"/>
                <a:sym typeface="Times New Roman"/>
              </a:rPr>
              <a:t>Intellectual Property Rights Is </a:t>
            </a:r>
            <a:br>
              <a:rPr lang="en-IN" dirty="0">
                <a:solidFill>
                  <a:srgbClr val="FF0000"/>
                </a:solidFill>
                <a:latin typeface="Times New Roman"/>
                <a:ea typeface="Times New Roman"/>
                <a:cs typeface="Times New Roman"/>
                <a:sym typeface="Times New Roman"/>
              </a:rPr>
            </a:br>
            <a:r>
              <a:rPr lang="en-IN" dirty="0">
                <a:solidFill>
                  <a:srgbClr val="FF0000"/>
                </a:solidFill>
                <a:latin typeface="Times New Roman"/>
                <a:ea typeface="Times New Roman"/>
                <a:cs typeface="Times New Roman"/>
                <a:sym typeface="Times New Roman"/>
              </a:rPr>
              <a:t>To Protect The Creator From Infringement</a:t>
            </a:r>
            <a:r>
              <a:rPr lang="en-IN" sz="4000" dirty="0">
                <a:solidFill>
                  <a:srgbClr val="FF0000"/>
                </a:solidFill>
                <a:latin typeface="Times New Roman"/>
                <a:ea typeface="Times New Roman"/>
                <a:cs typeface="Times New Roman"/>
                <a:sym typeface="Times New Roman"/>
              </a:rPr>
              <a:t/>
            </a:r>
            <a:br>
              <a:rPr lang="en-IN" sz="4000" dirty="0">
                <a:solidFill>
                  <a:srgbClr val="FF0000"/>
                </a:solidFill>
                <a:latin typeface="Times New Roman"/>
                <a:ea typeface="Times New Roman"/>
                <a:cs typeface="Times New Roman"/>
                <a:sym typeface="Times New Roman"/>
              </a:rPr>
            </a:b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3"/>
          <p:cNvSpPr/>
          <p:nvPr/>
        </p:nvSpPr>
        <p:spPr>
          <a:xfrm>
            <a:off x="152400" y="609600"/>
            <a:ext cx="8610600" cy="6232475"/>
          </a:xfrm>
          <a:prstGeom prst="rect">
            <a:avLst/>
          </a:prstGeom>
          <a:noFill/>
          <a:ln>
            <a:noFill/>
          </a:ln>
        </p:spPr>
        <p:txBody>
          <a:bodyPr spcFirstLastPara="1" wrap="square" lIns="91425" tIns="45700" rIns="91425" bIns="45700" anchor="t" anchorCtr="0">
            <a:spAutoFit/>
          </a:bodyPr>
          <a:lstStyle/>
          <a:p>
            <a:pPr marL="720725" marR="0" lvl="0" indent="-720725" algn="l" rtl="0">
              <a:lnSpc>
                <a:spcPct val="200000"/>
              </a:lnSpc>
              <a:spcBef>
                <a:spcPts val="0"/>
              </a:spcBef>
              <a:spcAft>
                <a:spcPts val="0"/>
              </a:spcAft>
              <a:buClr>
                <a:schemeClr val="dk1"/>
              </a:buClr>
              <a:buSzPts val="2000"/>
              <a:buFont typeface="Noto Sans Symbols"/>
              <a:buChar char="⮚"/>
            </a:pPr>
            <a:r>
              <a:rPr lang="en-IN" sz="2000" dirty="0">
                <a:solidFill>
                  <a:schemeClr val="dk1"/>
                </a:solidFill>
                <a:latin typeface="Times New Roman"/>
                <a:ea typeface="Times New Roman"/>
                <a:cs typeface="Times New Roman"/>
                <a:sym typeface="Times New Roman"/>
              </a:rPr>
              <a:t> </a:t>
            </a:r>
            <a:r>
              <a:rPr lang="en-IN" sz="2400" b="1" dirty="0">
                <a:solidFill>
                  <a:schemeClr val="dk1"/>
                </a:solidFill>
                <a:latin typeface="Times New Roman"/>
                <a:ea typeface="Times New Roman"/>
                <a:cs typeface="Times New Roman"/>
                <a:sym typeface="Times New Roman"/>
              </a:rPr>
              <a:t>Intellectual Property </a:t>
            </a:r>
            <a:r>
              <a:rPr lang="en-IN" sz="2400" dirty="0">
                <a:solidFill>
                  <a:schemeClr val="dk1"/>
                </a:solidFill>
                <a:latin typeface="Times New Roman"/>
                <a:ea typeface="Times New Roman"/>
                <a:cs typeface="Times New Roman"/>
                <a:sym typeface="Times New Roman"/>
              </a:rPr>
              <a:t>means the legal rights which results from intellectual activity in industrial, scientific, literary and artistic fields.</a:t>
            </a:r>
            <a:endParaRPr dirty="0"/>
          </a:p>
          <a:p>
            <a:pPr marL="720725" marR="0" lvl="0" indent="-720725" algn="l" rtl="0">
              <a:lnSpc>
                <a:spcPct val="200000"/>
              </a:lnSpc>
              <a:spcBef>
                <a:spcPts val="1750"/>
              </a:spcBef>
              <a:spcAft>
                <a:spcPts val="0"/>
              </a:spcAft>
              <a:buClr>
                <a:schemeClr val="dk1"/>
              </a:buClr>
              <a:buSzPts val="2400"/>
              <a:buFont typeface="Noto Sans Symbols"/>
              <a:buChar char="⮚"/>
            </a:pPr>
            <a:r>
              <a:rPr lang="en-IN" sz="2400" b="1" dirty="0">
                <a:solidFill>
                  <a:schemeClr val="dk1"/>
                </a:solidFill>
                <a:latin typeface="Times New Roman"/>
                <a:ea typeface="Times New Roman"/>
                <a:cs typeface="Times New Roman"/>
                <a:sym typeface="Times New Roman"/>
              </a:rPr>
              <a:t>Intellectual Property Rights</a:t>
            </a:r>
            <a:r>
              <a:rPr lang="en-IN" sz="2400" dirty="0">
                <a:solidFill>
                  <a:schemeClr val="dk1"/>
                </a:solidFill>
                <a:latin typeface="Times New Roman"/>
                <a:ea typeface="Times New Roman"/>
                <a:cs typeface="Times New Roman"/>
                <a:sym typeface="Times New Roman"/>
              </a:rPr>
              <a:t> are the exclusive rights granted to the owner of the said property for a certain time period for its commercial exploitation subject to the provisions of national laws and international agreements, with a view to reward the intellectual creativity.</a:t>
            </a:r>
            <a:endParaRPr sz="2400" dirty="0">
              <a:solidFill>
                <a:schemeClr val="dk1"/>
              </a:solidFill>
              <a:latin typeface="Times New Roman"/>
              <a:ea typeface="Times New Roman"/>
              <a:cs typeface="Times New Roman"/>
              <a:sym typeface="Times New Roman"/>
            </a:endParaRPr>
          </a:p>
        </p:txBody>
      </p:sp>
      <p:sp>
        <p:nvSpPr>
          <p:cNvPr id="104" name="Google Shape;104;p3"/>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Intellectual Property Rights (IPR)</a:t>
            </a:r>
            <a:endParaRPr/>
          </a:p>
        </p:txBody>
      </p:sp>
    </p:spTree>
  </p:cSld>
  <p:clrMapOvr>
    <a:masterClrMapping/>
  </p:clrMapOvr>
  <p:transition>
    <p:circl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4"/>
          <p:cNvSpPr/>
          <p:nvPr/>
        </p:nvSpPr>
        <p:spPr>
          <a:xfrm>
            <a:off x="457200" y="685800"/>
            <a:ext cx="8382000" cy="6109365"/>
          </a:xfrm>
          <a:prstGeom prst="rect">
            <a:avLst/>
          </a:prstGeom>
          <a:noFill/>
          <a:ln>
            <a:noFill/>
          </a:ln>
        </p:spPr>
        <p:txBody>
          <a:bodyPr spcFirstLastPara="1" wrap="square" lIns="91425" tIns="45700" rIns="91425" bIns="45700" anchor="t" anchorCtr="0">
            <a:spAutoFit/>
          </a:bodyPr>
          <a:lstStyle/>
          <a:p>
            <a:pPr marL="539750" marR="0" lvl="0" indent="-539750" algn="just" rtl="0">
              <a:lnSpc>
                <a:spcPct val="200000"/>
              </a:lnSpc>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IP owner can sell or license or mortgage their IP</a:t>
            </a:r>
            <a:endParaRPr/>
          </a:p>
          <a:p>
            <a:pPr marL="539750" marR="0" lvl="0" indent="-539750" algn="just" rtl="0">
              <a:lnSpc>
                <a:spcPct val="200000"/>
              </a:lnSpc>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These rights safeguards the creators from unauthorized access of their IP.</a:t>
            </a:r>
            <a:endParaRPr/>
          </a:p>
          <a:p>
            <a:pPr marL="539750" marR="0" lvl="0" indent="-539750" algn="just" rtl="0">
              <a:lnSpc>
                <a:spcPct val="200000"/>
              </a:lnSpc>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These rights promote creativity, encourages fair-trading, and in turn contributes to economic, scientific and social development. </a:t>
            </a:r>
            <a:endParaRPr/>
          </a:p>
          <a:p>
            <a:pPr marL="539750" marR="0" lvl="0" indent="-539750" algn="just" rtl="0">
              <a:lnSpc>
                <a:spcPct val="200000"/>
              </a:lnSpc>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These rights increase market value of a business.</a:t>
            </a:r>
            <a:endParaRPr/>
          </a:p>
          <a:p>
            <a:pPr marL="539750" marR="0" lvl="0" indent="-539750" algn="just" rtl="0">
              <a:lnSpc>
                <a:spcPct val="200000"/>
              </a:lnSpc>
              <a:spcBef>
                <a:spcPts val="0"/>
              </a:spcBef>
              <a:spcAft>
                <a:spcPts val="0"/>
              </a:spcAft>
              <a:buClr>
                <a:srgbClr val="FF0000"/>
              </a:buClr>
              <a:buSzPts val="2300"/>
              <a:buFont typeface="Noto Sans Symbols"/>
              <a:buChar char="⮚"/>
            </a:pPr>
            <a:r>
              <a:rPr lang="en-IN" sz="2300" b="1">
                <a:solidFill>
                  <a:srgbClr val="FF0000"/>
                </a:solidFill>
                <a:latin typeface="Times New Roman"/>
                <a:ea typeface="Times New Roman"/>
                <a:cs typeface="Times New Roman"/>
                <a:sym typeface="Times New Roman"/>
              </a:rPr>
              <a:t>IP protection is not a choice but a necessity </a:t>
            </a:r>
            <a:r>
              <a:rPr lang="en-IN" sz="2300">
                <a:solidFill>
                  <a:schemeClr val="dk1"/>
                </a:solidFill>
                <a:latin typeface="Times New Roman"/>
                <a:ea typeface="Times New Roman"/>
                <a:cs typeface="Times New Roman"/>
                <a:sym typeface="Times New Roman"/>
              </a:rPr>
              <a:t>for a business to gain and maintain a competitive edge in the global market.</a:t>
            </a:r>
            <a:endParaRPr/>
          </a:p>
          <a:p>
            <a:pPr marL="360363" marR="0" lvl="0" indent="-360363" algn="l" rtl="0">
              <a:spcBef>
                <a:spcPts val="0"/>
              </a:spcBef>
              <a:spcAft>
                <a:spcPts val="0"/>
              </a:spcAft>
              <a:buNone/>
            </a:pPr>
            <a:endParaRPr sz="2300">
              <a:solidFill>
                <a:schemeClr val="dk1"/>
              </a:solidFill>
              <a:latin typeface="Times New Roman"/>
              <a:ea typeface="Times New Roman"/>
              <a:cs typeface="Times New Roman"/>
              <a:sym typeface="Times New Roman"/>
            </a:endParaRPr>
          </a:p>
        </p:txBody>
      </p:sp>
      <p:sp>
        <p:nvSpPr>
          <p:cNvPr id="110" name="Google Shape;110;p4"/>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Intellectual Property Rights (IPR)</a:t>
            </a:r>
            <a:endParaRPr/>
          </a:p>
        </p:txBody>
      </p:sp>
    </p:spTree>
  </p:cSld>
  <p:clrMapOvr>
    <a:masterClrMapping/>
  </p:clrMapOvr>
  <p:transition>
    <p:circl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5"/>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Types of Intellectual Property Rights</a:t>
            </a:r>
            <a:endParaRPr/>
          </a:p>
        </p:txBody>
      </p:sp>
      <p:sp>
        <p:nvSpPr>
          <p:cNvPr id="116" name="Google Shape;116;p5"/>
          <p:cNvSpPr/>
          <p:nvPr/>
        </p:nvSpPr>
        <p:spPr>
          <a:xfrm>
            <a:off x="2514600" y="1371600"/>
            <a:ext cx="3962400" cy="3739485"/>
          </a:xfrm>
          <a:prstGeom prst="rect">
            <a:avLst/>
          </a:prstGeom>
          <a:noFill/>
          <a:ln>
            <a:noFill/>
          </a:ln>
        </p:spPr>
        <p:txBody>
          <a:bodyPr spcFirstLastPara="1" wrap="square" lIns="91425" tIns="45700" rIns="91425" bIns="45700" anchor="t" anchorCtr="0">
            <a:spAutoFit/>
          </a:bodyPr>
          <a:lstStyle/>
          <a:p>
            <a:pPr marL="720725" marR="0" lvl="0" indent="-720725" algn="l" rtl="0">
              <a:lnSpc>
                <a:spcPct val="20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Patents</a:t>
            </a:r>
            <a:endParaRPr/>
          </a:p>
          <a:p>
            <a:pPr marL="720725" marR="0" lvl="0" indent="-720725" algn="l" rtl="0">
              <a:lnSpc>
                <a:spcPct val="200000"/>
              </a:lnSpc>
              <a:spcBef>
                <a:spcPts val="175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Trademarks</a:t>
            </a:r>
            <a:endParaRPr/>
          </a:p>
          <a:p>
            <a:pPr marL="720725" marR="0" lvl="0" indent="-720725" algn="l" rtl="0">
              <a:lnSpc>
                <a:spcPct val="200000"/>
              </a:lnSpc>
              <a:spcBef>
                <a:spcPts val="175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Copyrights</a:t>
            </a:r>
            <a:endParaRPr/>
          </a:p>
          <a:p>
            <a:pPr marL="720725" marR="0" lvl="0" indent="-720725" algn="l" rtl="0">
              <a:lnSpc>
                <a:spcPct val="200000"/>
              </a:lnSpc>
              <a:spcBef>
                <a:spcPts val="175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Industrial Designs</a:t>
            </a:r>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6"/>
          <p:cNvSpPr/>
          <p:nvPr/>
        </p:nvSpPr>
        <p:spPr>
          <a:xfrm>
            <a:off x="609600" y="1066800"/>
            <a:ext cx="8229600" cy="3124200"/>
          </a:xfrm>
          <a:prstGeom prst="horizontalScroll">
            <a:avLst>
              <a:gd name="adj" fmla="val 12500"/>
            </a:avLst>
          </a:prstGeom>
          <a:solidFill>
            <a:srgbClr val="089CA2"/>
          </a:solidFill>
          <a:ln w="57150"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8800" b="1" i="1">
                <a:solidFill>
                  <a:schemeClr val="lt1"/>
                </a:solidFill>
                <a:latin typeface="Ruge Boogie"/>
                <a:ea typeface="Ruge Boogie"/>
                <a:cs typeface="Ruge Boogie"/>
                <a:sym typeface="Ruge Boogie"/>
              </a:rPr>
              <a:t>PATENT</a:t>
            </a:r>
            <a:endParaRPr/>
          </a:p>
          <a:p>
            <a:pPr marL="0" marR="0" lvl="0" indent="0" algn="ctr" rtl="0">
              <a:spcBef>
                <a:spcPts val="0"/>
              </a:spcBef>
              <a:spcAft>
                <a:spcPts val="0"/>
              </a:spcAft>
              <a:buNone/>
            </a:pPr>
            <a:r>
              <a:rPr lang="en-IN" sz="6000" b="1" i="1">
                <a:solidFill>
                  <a:schemeClr val="lt1"/>
                </a:solidFill>
                <a:latin typeface="Ruge Boogie"/>
                <a:ea typeface="Ruge Boogie"/>
                <a:cs typeface="Ruge Boogie"/>
                <a:sym typeface="Ruge Boogie"/>
              </a:rPr>
              <a:t>PROTECT YOUR IDEA</a:t>
            </a:r>
            <a:endParaRPr/>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7"/>
          <p:cNvSpPr txBox="1">
            <a:spLocks noGrp="1"/>
          </p:cNvSpPr>
          <p:nvPr>
            <p:ph type="subTitle" idx="1"/>
          </p:nvPr>
        </p:nvSpPr>
        <p:spPr>
          <a:xfrm>
            <a:off x="838200" y="1143000"/>
            <a:ext cx="7696200" cy="4114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rgbClr val="888888"/>
              </a:buClr>
              <a:buSzPts val="3200"/>
              <a:buNone/>
            </a:pPr>
            <a:endParaRPr>
              <a:solidFill>
                <a:schemeClr val="dk1"/>
              </a:solidFill>
              <a:latin typeface="Times New Roman"/>
              <a:ea typeface="Times New Roman"/>
              <a:cs typeface="Times New Roman"/>
              <a:sym typeface="Times New Roman"/>
            </a:endParaRPr>
          </a:p>
          <a:p>
            <a:pPr marL="0" lvl="0" indent="0" algn="just" rtl="0">
              <a:spcBef>
                <a:spcPts val="640"/>
              </a:spcBef>
              <a:spcAft>
                <a:spcPts val="0"/>
              </a:spcAft>
              <a:buClr>
                <a:schemeClr val="dk1"/>
              </a:buClr>
              <a:buSzPts val="3200"/>
              <a:buNone/>
            </a:pPr>
            <a:r>
              <a:rPr lang="en-IN">
                <a:solidFill>
                  <a:schemeClr val="dk1"/>
                </a:solidFill>
                <a:latin typeface="Times New Roman"/>
                <a:ea typeface="Times New Roman"/>
                <a:cs typeface="Times New Roman"/>
                <a:sym typeface="Times New Roman"/>
              </a:rPr>
              <a:t>Patent is an </a:t>
            </a:r>
            <a:r>
              <a:rPr lang="en-IN" b="1" i="1">
                <a:solidFill>
                  <a:srgbClr val="FF0000"/>
                </a:solidFill>
                <a:latin typeface="Times New Roman"/>
                <a:ea typeface="Times New Roman"/>
                <a:cs typeface="Times New Roman"/>
                <a:sym typeface="Times New Roman"/>
              </a:rPr>
              <a:t>exclusive</a:t>
            </a:r>
            <a:r>
              <a:rPr lang="en-IN">
                <a:solidFill>
                  <a:schemeClr val="dk1"/>
                </a:solidFill>
                <a:latin typeface="Times New Roman"/>
                <a:ea typeface="Times New Roman"/>
                <a:cs typeface="Times New Roman"/>
                <a:sym typeface="Times New Roman"/>
              </a:rPr>
              <a:t> ownership right granted by the government to the owner of an invention, in exchange for the </a:t>
            </a:r>
            <a:r>
              <a:rPr lang="en-IN" b="1" i="1">
                <a:solidFill>
                  <a:srgbClr val="FF0000"/>
                </a:solidFill>
                <a:latin typeface="Times New Roman"/>
                <a:ea typeface="Times New Roman"/>
                <a:cs typeface="Times New Roman"/>
                <a:sym typeface="Times New Roman"/>
              </a:rPr>
              <a:t>public disclosure </a:t>
            </a:r>
            <a:r>
              <a:rPr lang="en-IN">
                <a:solidFill>
                  <a:schemeClr val="dk1"/>
                </a:solidFill>
                <a:latin typeface="Times New Roman"/>
                <a:ea typeface="Times New Roman"/>
                <a:cs typeface="Times New Roman"/>
                <a:sym typeface="Times New Roman"/>
              </a:rPr>
              <a:t>of the invention.</a:t>
            </a:r>
            <a:endParaRPr>
              <a:solidFill>
                <a:schemeClr val="dk1"/>
              </a:solidFill>
              <a:latin typeface="Times New Roman"/>
              <a:ea typeface="Times New Roman"/>
              <a:cs typeface="Times New Roman"/>
              <a:sym typeface="Times New Roman"/>
            </a:endParaRPr>
          </a:p>
          <a:p>
            <a:pPr marL="339725" lvl="0" indent="-212725" algn="just" rtl="0">
              <a:spcBef>
                <a:spcPts val="400"/>
              </a:spcBef>
              <a:spcAft>
                <a:spcPts val="0"/>
              </a:spcAft>
              <a:buClr>
                <a:srgbClr val="888888"/>
              </a:buClr>
              <a:buSzPts val="2000"/>
              <a:buFont typeface="Noto Sans Symbols"/>
              <a:buNone/>
            </a:pPr>
            <a:endParaRPr sz="2000" b="0">
              <a:solidFill>
                <a:schemeClr val="dk1"/>
              </a:solidFill>
              <a:latin typeface="Times New Roman"/>
              <a:ea typeface="Times New Roman"/>
              <a:cs typeface="Times New Roman"/>
              <a:sym typeface="Times New Roman"/>
            </a:endParaRPr>
          </a:p>
        </p:txBody>
      </p:sp>
      <p:sp>
        <p:nvSpPr>
          <p:cNvPr id="127" name="Google Shape;127;p7"/>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What is a Patent?</a:t>
            </a:r>
            <a:endParaRPr sz="3200" b="1">
              <a:solidFill>
                <a:schemeClr val="lt1"/>
              </a:solidFill>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subTitle" idx="1"/>
          </p:nvPr>
        </p:nvSpPr>
        <p:spPr>
          <a:xfrm>
            <a:off x="1295400" y="1066800"/>
            <a:ext cx="6781800" cy="5562600"/>
          </a:xfrm>
          <a:prstGeom prst="rect">
            <a:avLst/>
          </a:prstGeom>
          <a:noFill/>
          <a:ln>
            <a:noFill/>
          </a:ln>
        </p:spPr>
        <p:txBody>
          <a:bodyPr spcFirstLastPara="1" wrap="square" lIns="91425" tIns="45700" rIns="91425" bIns="45700" anchor="t" anchorCtr="0">
            <a:noAutofit/>
          </a:bodyPr>
          <a:lstStyle/>
          <a:p>
            <a:pPr marL="360363" lvl="0" indent="-360363" algn="just" rtl="0">
              <a:lnSpc>
                <a:spcPct val="150000"/>
              </a:lnSpc>
              <a:spcBef>
                <a:spcPts val="0"/>
              </a:spcBef>
              <a:spcAft>
                <a:spcPts val="0"/>
              </a:spcAft>
              <a:buClr>
                <a:schemeClr val="dk1"/>
              </a:buClr>
              <a:buSzPts val="2300"/>
              <a:buNone/>
            </a:pPr>
            <a:r>
              <a:rPr lang="en-IN" sz="2300">
                <a:solidFill>
                  <a:schemeClr val="dk1"/>
                </a:solidFill>
                <a:latin typeface="Times New Roman"/>
                <a:ea typeface="Times New Roman"/>
                <a:cs typeface="Times New Roman"/>
                <a:sym typeface="Times New Roman"/>
              </a:rPr>
              <a:t>Exclusive right to prevent third parties from:</a:t>
            </a:r>
            <a:endParaRPr/>
          </a:p>
          <a:p>
            <a:pPr marL="720725" lvl="0" indent="-360363" algn="just" rtl="0">
              <a:lnSpc>
                <a:spcPct val="150000"/>
              </a:lnSpc>
              <a:spcBef>
                <a:spcPts val="46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Making </a:t>
            </a:r>
            <a:endParaRPr/>
          </a:p>
          <a:p>
            <a:pPr marL="720725" lvl="0" indent="-360363" algn="just" rtl="0">
              <a:lnSpc>
                <a:spcPct val="150000"/>
              </a:lnSpc>
              <a:spcBef>
                <a:spcPts val="46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Using</a:t>
            </a:r>
            <a:endParaRPr/>
          </a:p>
          <a:p>
            <a:pPr marL="720725" lvl="0" indent="-360363" algn="just" rtl="0">
              <a:lnSpc>
                <a:spcPct val="150000"/>
              </a:lnSpc>
              <a:spcBef>
                <a:spcPts val="46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Offering for sale </a:t>
            </a:r>
            <a:endParaRPr/>
          </a:p>
          <a:p>
            <a:pPr marL="720725" lvl="0" indent="-360363" algn="just" rtl="0">
              <a:lnSpc>
                <a:spcPct val="150000"/>
              </a:lnSpc>
              <a:spcBef>
                <a:spcPts val="46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Selling</a:t>
            </a:r>
            <a:endParaRPr/>
          </a:p>
          <a:p>
            <a:pPr marL="720725" lvl="0" indent="-360363" algn="just" rtl="0">
              <a:lnSpc>
                <a:spcPct val="150000"/>
              </a:lnSpc>
              <a:spcBef>
                <a:spcPts val="46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Importing product or the product obtained directly by the patented processc</a:t>
            </a:r>
            <a:endParaRPr sz="2300" b="0">
              <a:solidFill>
                <a:schemeClr val="dk1"/>
              </a:solidFill>
              <a:latin typeface="Times New Roman"/>
              <a:ea typeface="Times New Roman"/>
              <a:cs typeface="Times New Roman"/>
              <a:sym typeface="Times New Roman"/>
            </a:endParaRPr>
          </a:p>
        </p:txBody>
      </p:sp>
      <p:sp>
        <p:nvSpPr>
          <p:cNvPr id="133" name="Google Shape;133;p8"/>
          <p:cNvSpPr txBox="1"/>
          <p:nvPr/>
        </p:nvSpPr>
        <p:spPr>
          <a:xfrm>
            <a:off x="0" y="0"/>
            <a:ext cx="9144000" cy="6858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Rights of a Patentee</a:t>
            </a: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9"/>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fontScale="92500"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What is an Invention?</a:t>
            </a:r>
            <a:endParaRPr sz="2000" b="0" i="0" u="none" strike="noStrike" cap="none">
              <a:solidFill>
                <a:schemeClr val="dk1"/>
              </a:solidFill>
              <a:latin typeface="Times New Roman"/>
              <a:ea typeface="Times New Roman"/>
              <a:cs typeface="Times New Roman"/>
              <a:sym typeface="Times New Roman"/>
            </a:endParaRPr>
          </a:p>
          <a:p>
            <a:pPr marL="339725" marR="0" lvl="0" indent="-257492" algn="just" rtl="0">
              <a:lnSpc>
                <a:spcPct val="100000"/>
              </a:lnSpc>
              <a:spcBef>
                <a:spcPts val="600"/>
              </a:spcBef>
              <a:spcAft>
                <a:spcPts val="0"/>
              </a:spcAft>
              <a:buClr>
                <a:schemeClr val="accent1"/>
              </a:buClr>
              <a:buSzPct val="700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
        <p:nvSpPr>
          <p:cNvPr id="139" name="Google Shape;139;p9"/>
          <p:cNvSpPr txBox="1"/>
          <p:nvPr/>
        </p:nvSpPr>
        <p:spPr>
          <a:xfrm>
            <a:off x="381000" y="381000"/>
            <a:ext cx="8534400" cy="4114800"/>
          </a:xfrm>
          <a:prstGeom prst="rect">
            <a:avLst/>
          </a:prstGeom>
          <a:noFill/>
          <a:ln>
            <a:noFill/>
          </a:ln>
        </p:spPr>
        <p:txBody>
          <a:bodyPr spcFirstLastPara="1" wrap="square" lIns="91425" tIns="45700" rIns="91425" bIns="45700" anchor="t" anchorCtr="0">
            <a:noAutofit/>
          </a:bodyPr>
          <a:lstStyle/>
          <a:p>
            <a:pPr marL="360363" marR="0" lvl="0" indent="-360363" algn="just" rtl="0">
              <a:lnSpc>
                <a:spcPct val="200000"/>
              </a:lnSpc>
              <a:spcBef>
                <a:spcPts val="0"/>
              </a:spcBef>
              <a:spcAft>
                <a:spcPts val="0"/>
              </a:spcAft>
              <a:buClr>
                <a:srgbClr val="062328"/>
              </a:buClr>
              <a:buSzPts val="2800"/>
              <a:buFont typeface="Arial"/>
              <a:buNone/>
            </a:pPr>
            <a:r>
              <a:rPr lang="en-IN" sz="2800" b="0" i="0" u="none" strike="noStrike" cap="none">
                <a:solidFill>
                  <a:srgbClr val="062328"/>
                </a:solidFill>
                <a:latin typeface="Times New Roman"/>
                <a:ea typeface="Times New Roman"/>
                <a:cs typeface="Times New Roman"/>
                <a:sym typeface="Times New Roman"/>
              </a:rPr>
              <a:t>Invention means </a:t>
            </a:r>
            <a:endParaRPr/>
          </a:p>
          <a:p>
            <a:pPr marL="900113" marR="0" lvl="0" indent="-457200" algn="just" rtl="0">
              <a:lnSpc>
                <a:spcPct val="200000"/>
              </a:lnSpc>
              <a:spcBef>
                <a:spcPts val="560"/>
              </a:spcBef>
              <a:spcAft>
                <a:spcPts val="0"/>
              </a:spcAft>
              <a:buClr>
                <a:srgbClr val="062328"/>
              </a:buClr>
              <a:buSzPts val="2800"/>
              <a:buFont typeface="Noto Sans Symbols"/>
              <a:buChar char="⮚"/>
            </a:pPr>
            <a:r>
              <a:rPr lang="en-IN" sz="2800" b="0" i="0" u="none" strike="noStrike" cap="none">
                <a:solidFill>
                  <a:srgbClr val="062328"/>
                </a:solidFill>
                <a:latin typeface="Times New Roman"/>
                <a:ea typeface="Times New Roman"/>
                <a:cs typeface="Times New Roman"/>
                <a:sym typeface="Times New Roman"/>
              </a:rPr>
              <a:t>a </a:t>
            </a:r>
            <a:r>
              <a:rPr lang="en-IN" sz="2800" b="1" i="0" u="none" strike="noStrike" cap="none">
                <a:solidFill>
                  <a:srgbClr val="54A838"/>
                </a:solidFill>
                <a:latin typeface="Times New Roman"/>
                <a:ea typeface="Times New Roman"/>
                <a:cs typeface="Times New Roman"/>
                <a:sym typeface="Times New Roman"/>
              </a:rPr>
              <a:t>product</a:t>
            </a:r>
            <a:r>
              <a:rPr lang="en-IN" sz="2800" b="0" i="0" u="none" strike="noStrike" cap="none">
                <a:solidFill>
                  <a:srgbClr val="062328"/>
                </a:solidFill>
                <a:latin typeface="Times New Roman"/>
                <a:ea typeface="Times New Roman"/>
                <a:cs typeface="Times New Roman"/>
                <a:sym typeface="Times New Roman"/>
              </a:rPr>
              <a:t> or </a:t>
            </a:r>
            <a:r>
              <a:rPr lang="en-IN" sz="2800" b="1" i="0" u="none" strike="noStrike" cap="none">
                <a:solidFill>
                  <a:srgbClr val="54A838"/>
                </a:solidFill>
                <a:latin typeface="Times New Roman"/>
                <a:ea typeface="Times New Roman"/>
                <a:cs typeface="Times New Roman"/>
                <a:sym typeface="Times New Roman"/>
              </a:rPr>
              <a:t>process</a:t>
            </a:r>
            <a:r>
              <a:rPr lang="en-IN" sz="2800" b="0" i="0" u="none" strike="noStrike" cap="none">
                <a:solidFill>
                  <a:srgbClr val="062328"/>
                </a:solidFill>
                <a:latin typeface="Times New Roman"/>
                <a:ea typeface="Times New Roman"/>
                <a:cs typeface="Times New Roman"/>
                <a:sym typeface="Times New Roman"/>
              </a:rPr>
              <a:t> or both </a:t>
            </a:r>
            <a:endParaRPr/>
          </a:p>
          <a:p>
            <a:pPr marL="900113" marR="0" lvl="0" indent="-457200" algn="just" rtl="0">
              <a:lnSpc>
                <a:spcPct val="200000"/>
              </a:lnSpc>
              <a:spcBef>
                <a:spcPts val="560"/>
              </a:spcBef>
              <a:spcAft>
                <a:spcPts val="0"/>
              </a:spcAft>
              <a:buClr>
                <a:srgbClr val="062328"/>
              </a:buClr>
              <a:buSzPts val="2800"/>
              <a:buFont typeface="Noto Sans Symbols"/>
              <a:buChar char="⮚"/>
            </a:pPr>
            <a:r>
              <a:rPr lang="en-IN" sz="2800" b="0" i="0" u="none" strike="noStrike" cap="none">
                <a:solidFill>
                  <a:srgbClr val="062328"/>
                </a:solidFill>
                <a:latin typeface="Times New Roman"/>
                <a:ea typeface="Times New Roman"/>
                <a:cs typeface="Times New Roman"/>
                <a:sym typeface="Times New Roman"/>
              </a:rPr>
              <a:t>be </a:t>
            </a:r>
            <a:r>
              <a:rPr lang="en-IN" sz="2800" b="0" i="0" u="none" strike="noStrike" cap="none">
                <a:solidFill>
                  <a:srgbClr val="FF0000"/>
                </a:solidFill>
                <a:latin typeface="Times New Roman"/>
                <a:ea typeface="Times New Roman"/>
                <a:cs typeface="Times New Roman"/>
                <a:sym typeface="Times New Roman"/>
              </a:rPr>
              <a:t>novel </a:t>
            </a:r>
            <a:endParaRPr/>
          </a:p>
          <a:p>
            <a:pPr marL="900113" marR="0" lvl="0" indent="-457200" algn="just" rtl="0">
              <a:lnSpc>
                <a:spcPct val="200000"/>
              </a:lnSpc>
              <a:spcBef>
                <a:spcPts val="560"/>
              </a:spcBef>
              <a:spcAft>
                <a:spcPts val="0"/>
              </a:spcAft>
              <a:buClr>
                <a:srgbClr val="062328"/>
              </a:buClr>
              <a:buSzPts val="2800"/>
              <a:buFont typeface="Noto Sans Symbols"/>
              <a:buChar char="⮚"/>
            </a:pPr>
            <a:r>
              <a:rPr lang="en-IN" sz="2800" b="0" i="0" u="none" strike="noStrike" cap="none">
                <a:solidFill>
                  <a:srgbClr val="062328"/>
                </a:solidFill>
                <a:latin typeface="Times New Roman"/>
                <a:ea typeface="Times New Roman"/>
                <a:cs typeface="Times New Roman"/>
                <a:sym typeface="Times New Roman"/>
              </a:rPr>
              <a:t>involves an </a:t>
            </a:r>
            <a:r>
              <a:rPr lang="en-IN" sz="2800" b="0" i="0" u="none" strike="noStrike" cap="none">
                <a:solidFill>
                  <a:srgbClr val="FF0000"/>
                </a:solidFill>
                <a:latin typeface="Times New Roman"/>
                <a:ea typeface="Times New Roman"/>
                <a:cs typeface="Times New Roman"/>
                <a:sym typeface="Times New Roman"/>
              </a:rPr>
              <a:t>inventive step </a:t>
            </a:r>
            <a:endParaRPr/>
          </a:p>
          <a:p>
            <a:pPr marL="900113" marR="0" lvl="0" indent="-457200" algn="just" rtl="0">
              <a:lnSpc>
                <a:spcPct val="200000"/>
              </a:lnSpc>
              <a:spcBef>
                <a:spcPts val="560"/>
              </a:spcBef>
              <a:spcAft>
                <a:spcPts val="0"/>
              </a:spcAft>
              <a:buClr>
                <a:srgbClr val="062328"/>
              </a:buClr>
              <a:buSzPts val="2800"/>
              <a:buFont typeface="Noto Sans Symbols"/>
              <a:buChar char="⮚"/>
            </a:pPr>
            <a:r>
              <a:rPr lang="en-IN" sz="2800" b="0" i="0" u="none" strike="noStrike" cap="none">
                <a:solidFill>
                  <a:srgbClr val="062328"/>
                </a:solidFill>
                <a:latin typeface="Times New Roman"/>
                <a:ea typeface="Times New Roman"/>
                <a:cs typeface="Times New Roman"/>
                <a:sym typeface="Times New Roman"/>
              </a:rPr>
              <a:t>be capable of </a:t>
            </a:r>
            <a:r>
              <a:rPr lang="en-IN" sz="2800" b="0" i="0" u="none" strike="noStrike" cap="none">
                <a:solidFill>
                  <a:srgbClr val="FF0000"/>
                </a:solidFill>
                <a:latin typeface="Times New Roman"/>
                <a:ea typeface="Times New Roman"/>
                <a:cs typeface="Times New Roman"/>
                <a:sym typeface="Times New Roman"/>
              </a:rPr>
              <a:t>industrial application</a:t>
            </a:r>
            <a:endParaRPr/>
          </a:p>
          <a:p>
            <a:pPr marL="900113" marR="0" lvl="0" indent="-457200" algn="just" rtl="0">
              <a:lnSpc>
                <a:spcPct val="200000"/>
              </a:lnSpc>
              <a:spcBef>
                <a:spcPts val="560"/>
              </a:spcBef>
              <a:spcAft>
                <a:spcPts val="0"/>
              </a:spcAft>
              <a:buClr>
                <a:srgbClr val="062328"/>
              </a:buClr>
              <a:buSzPts val="2800"/>
              <a:buFont typeface="Noto Sans Symbols"/>
              <a:buChar char="⮚"/>
            </a:pPr>
            <a:r>
              <a:rPr lang="en-IN" sz="2800" b="0" i="0" u="none" strike="noStrike" cap="none">
                <a:solidFill>
                  <a:srgbClr val="062328"/>
                </a:solidFill>
                <a:latin typeface="Times New Roman"/>
                <a:ea typeface="Times New Roman"/>
                <a:cs typeface="Times New Roman"/>
                <a:sym typeface="Times New Roman"/>
              </a:rPr>
              <a:t>not fall under </a:t>
            </a:r>
            <a:r>
              <a:rPr lang="en-IN" sz="2800" b="0" i="0" u="none" strike="noStrike" cap="none">
                <a:solidFill>
                  <a:srgbClr val="FF0000"/>
                </a:solidFill>
                <a:latin typeface="Times New Roman"/>
                <a:ea typeface="Times New Roman"/>
                <a:cs typeface="Times New Roman"/>
                <a:sym typeface="Times New Roman"/>
              </a:rPr>
              <a:t>Sections 3 </a:t>
            </a:r>
            <a:r>
              <a:rPr lang="en-IN" sz="2800">
                <a:solidFill>
                  <a:srgbClr val="FF0000"/>
                </a:solidFill>
                <a:latin typeface="Times New Roman"/>
                <a:ea typeface="Times New Roman"/>
                <a:cs typeface="Times New Roman"/>
                <a:sym typeface="Times New Roman"/>
              </a:rPr>
              <a:t>and 4 </a:t>
            </a:r>
            <a:r>
              <a:rPr lang="en-IN" sz="2800">
                <a:solidFill>
                  <a:srgbClr val="062328"/>
                </a:solidFill>
                <a:latin typeface="Times New Roman"/>
                <a:ea typeface="Times New Roman"/>
                <a:cs typeface="Times New Roman"/>
                <a:sym typeface="Times New Roman"/>
              </a:rPr>
              <a:t>of the Patents Act, 1970 </a:t>
            </a:r>
            <a:endParaRPr/>
          </a:p>
          <a:p>
            <a:pPr marL="900113" marR="0" lvl="0" indent="-279400" algn="just" rtl="0">
              <a:lnSpc>
                <a:spcPct val="200000"/>
              </a:lnSpc>
              <a:spcBef>
                <a:spcPts val="560"/>
              </a:spcBef>
              <a:spcAft>
                <a:spcPts val="0"/>
              </a:spcAft>
              <a:buClr>
                <a:schemeClr val="dk1"/>
              </a:buClr>
              <a:buSzPts val="2800"/>
              <a:buFont typeface="Noto Sans Symbols"/>
              <a:buNone/>
            </a:pPr>
            <a:endParaRPr sz="2800" b="0" i="0" u="none" strike="noStrike" cap="none">
              <a:solidFill>
                <a:srgbClr val="FF0000"/>
              </a:solidFill>
              <a:latin typeface="Times New Roman"/>
              <a:ea typeface="Times New Roman"/>
              <a:cs typeface="Times New Roman"/>
              <a:sym typeface="Times New Roman"/>
            </a:endParaRPr>
          </a:p>
        </p:txBody>
      </p:sp>
    </p:spTree>
  </p:cSld>
  <p:clrMapOvr>
    <a:masterClrMapping/>
  </p:clrMapOvr>
  <p:transition>
    <p:split dir="in"/>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0"/>
          <p:cNvSpPr/>
          <p:nvPr/>
        </p:nvSpPr>
        <p:spPr>
          <a:xfrm>
            <a:off x="304800" y="685800"/>
            <a:ext cx="8534400" cy="5747727"/>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a:solidFill>
                  <a:schemeClr val="dk1"/>
                </a:solidFill>
                <a:latin typeface="Times New Roman"/>
                <a:ea typeface="Times New Roman"/>
                <a:cs typeface="Times New Roman"/>
                <a:sym typeface="Times New Roman"/>
              </a:rPr>
              <a:t>An invention is considered to be novel, if it is not known to the public through publication or prior use anywhere in the world before filing a patent application.</a:t>
            </a:r>
            <a:endParaRPr/>
          </a:p>
          <a:p>
            <a:pPr marL="360363" marR="0" lvl="0" indent="-360363" algn="ctr" rtl="0">
              <a:lnSpc>
                <a:spcPct val="150000"/>
              </a:lnSpc>
              <a:spcBef>
                <a:spcPts val="0"/>
              </a:spcBef>
              <a:spcAft>
                <a:spcPts val="0"/>
              </a:spcAft>
              <a:buNone/>
            </a:pPr>
            <a:r>
              <a:rPr lang="en-IN" sz="2300" b="1" u="sng">
                <a:solidFill>
                  <a:schemeClr val="dk1"/>
                </a:solidFill>
                <a:latin typeface="Times New Roman"/>
                <a:ea typeface="Times New Roman"/>
                <a:cs typeface="Times New Roman"/>
                <a:sym typeface="Times New Roman"/>
              </a:rPr>
              <a:t>Prior art</a:t>
            </a:r>
            <a:endParaRPr/>
          </a:p>
          <a:p>
            <a:pPr marL="1620838" marR="0" lvl="0" indent="-457200" algn="l" rtl="0">
              <a:lnSpc>
                <a:spcPct val="150000"/>
              </a:lnSpc>
              <a:spcBef>
                <a:spcPts val="0"/>
              </a:spcBef>
              <a:spcAft>
                <a:spcPts val="0"/>
              </a:spcAft>
              <a:buClr>
                <a:schemeClr val="dk1"/>
              </a:buClr>
              <a:buSzPts val="2100"/>
              <a:buFont typeface="Noto Sans Symbols"/>
              <a:buChar char="⮚"/>
            </a:pPr>
            <a:r>
              <a:rPr lang="en-IN" sz="2100">
                <a:solidFill>
                  <a:schemeClr val="dk1"/>
                </a:solidFill>
                <a:latin typeface="Times New Roman"/>
                <a:ea typeface="Times New Roman"/>
                <a:cs typeface="Times New Roman"/>
                <a:sym typeface="Times New Roman"/>
              </a:rPr>
              <a:t>Patents</a:t>
            </a:r>
            <a:endParaRPr/>
          </a:p>
          <a:p>
            <a:pPr marL="1620838" marR="0" lvl="0" indent="-457200" algn="l" rtl="0">
              <a:lnSpc>
                <a:spcPct val="150000"/>
              </a:lnSpc>
              <a:spcBef>
                <a:spcPts val="0"/>
              </a:spcBef>
              <a:spcAft>
                <a:spcPts val="0"/>
              </a:spcAft>
              <a:buClr>
                <a:schemeClr val="dk1"/>
              </a:buClr>
              <a:buSzPts val="2100"/>
              <a:buFont typeface="Noto Sans Symbols"/>
              <a:buChar char="⮚"/>
            </a:pPr>
            <a:r>
              <a:rPr lang="en-IN" sz="2100">
                <a:solidFill>
                  <a:schemeClr val="dk1"/>
                </a:solidFill>
                <a:latin typeface="Times New Roman"/>
                <a:ea typeface="Times New Roman"/>
                <a:cs typeface="Times New Roman"/>
                <a:sym typeface="Times New Roman"/>
              </a:rPr>
              <a:t>Scientific Papers</a:t>
            </a:r>
            <a:endParaRPr/>
          </a:p>
          <a:p>
            <a:pPr marL="1620838" marR="0" lvl="0" indent="-457200" algn="l" rtl="0">
              <a:lnSpc>
                <a:spcPct val="150000"/>
              </a:lnSpc>
              <a:spcBef>
                <a:spcPts val="0"/>
              </a:spcBef>
              <a:spcAft>
                <a:spcPts val="0"/>
              </a:spcAft>
              <a:buClr>
                <a:schemeClr val="dk1"/>
              </a:buClr>
              <a:buSzPts val="2100"/>
              <a:buFont typeface="Noto Sans Symbols"/>
              <a:buChar char="⮚"/>
            </a:pPr>
            <a:r>
              <a:rPr lang="en-IN" sz="2100">
                <a:solidFill>
                  <a:schemeClr val="dk1"/>
                </a:solidFill>
                <a:latin typeface="Times New Roman"/>
                <a:ea typeface="Times New Roman"/>
                <a:cs typeface="Times New Roman"/>
                <a:sym typeface="Times New Roman"/>
              </a:rPr>
              <a:t>Journals , Magazines &amp; Report Articles</a:t>
            </a:r>
            <a:endParaRPr/>
          </a:p>
          <a:p>
            <a:pPr marL="1620838" marR="0" lvl="0" indent="-457200" algn="l" rtl="0">
              <a:lnSpc>
                <a:spcPct val="150000"/>
              </a:lnSpc>
              <a:spcBef>
                <a:spcPts val="0"/>
              </a:spcBef>
              <a:spcAft>
                <a:spcPts val="0"/>
              </a:spcAft>
              <a:buClr>
                <a:schemeClr val="dk1"/>
              </a:buClr>
              <a:buSzPts val="2100"/>
              <a:buFont typeface="Noto Sans Symbols"/>
              <a:buChar char="⮚"/>
            </a:pPr>
            <a:r>
              <a:rPr lang="en-IN" sz="2100">
                <a:solidFill>
                  <a:schemeClr val="dk1"/>
                </a:solidFill>
                <a:latin typeface="Times New Roman"/>
                <a:ea typeface="Times New Roman"/>
                <a:cs typeface="Times New Roman"/>
                <a:sym typeface="Times New Roman"/>
              </a:rPr>
              <a:t>Books, Manual, Catalogues &amp; Brochures</a:t>
            </a:r>
            <a:endParaRPr/>
          </a:p>
          <a:p>
            <a:pPr marL="1620838" marR="0" lvl="0" indent="-457200" algn="l" rtl="0">
              <a:lnSpc>
                <a:spcPct val="150000"/>
              </a:lnSpc>
              <a:spcBef>
                <a:spcPts val="0"/>
              </a:spcBef>
              <a:spcAft>
                <a:spcPts val="0"/>
              </a:spcAft>
              <a:buClr>
                <a:schemeClr val="dk1"/>
              </a:buClr>
              <a:buSzPts val="2100"/>
              <a:buFont typeface="Noto Sans Symbols"/>
              <a:buChar char="⮚"/>
            </a:pPr>
            <a:r>
              <a:rPr lang="en-IN" sz="2100">
                <a:solidFill>
                  <a:schemeClr val="dk1"/>
                </a:solidFill>
                <a:latin typeface="Times New Roman"/>
                <a:ea typeface="Times New Roman"/>
                <a:cs typeface="Times New Roman"/>
                <a:sym typeface="Times New Roman"/>
              </a:rPr>
              <a:t>Public discussions (conference and seminar) </a:t>
            </a:r>
            <a:endParaRPr/>
          </a:p>
          <a:p>
            <a:pPr marL="1620838" marR="0" lvl="0" indent="-457200" algn="l" rtl="0">
              <a:lnSpc>
                <a:spcPct val="150000"/>
              </a:lnSpc>
              <a:spcBef>
                <a:spcPts val="0"/>
              </a:spcBef>
              <a:spcAft>
                <a:spcPts val="0"/>
              </a:spcAft>
              <a:buClr>
                <a:schemeClr val="dk1"/>
              </a:buClr>
              <a:buSzPts val="2100"/>
              <a:buFont typeface="Noto Sans Symbols"/>
              <a:buChar char="⮚"/>
            </a:pPr>
            <a:r>
              <a:rPr lang="en-IN" sz="2100">
                <a:solidFill>
                  <a:schemeClr val="dk1"/>
                </a:solidFill>
                <a:latin typeface="Times New Roman"/>
                <a:ea typeface="Times New Roman"/>
                <a:cs typeface="Times New Roman"/>
                <a:sym typeface="Times New Roman"/>
              </a:rPr>
              <a:t>Newspapers</a:t>
            </a:r>
            <a:endParaRPr/>
          </a:p>
          <a:p>
            <a:pPr marL="1620838" marR="0" lvl="0" indent="-457200" algn="l" rtl="0">
              <a:lnSpc>
                <a:spcPct val="150000"/>
              </a:lnSpc>
              <a:spcBef>
                <a:spcPts val="0"/>
              </a:spcBef>
              <a:spcAft>
                <a:spcPts val="0"/>
              </a:spcAft>
              <a:buClr>
                <a:schemeClr val="dk1"/>
              </a:buClr>
              <a:buSzPts val="2100"/>
              <a:buFont typeface="Noto Sans Symbols"/>
              <a:buChar char="⮚"/>
            </a:pPr>
            <a:r>
              <a:rPr lang="en-IN" sz="2100">
                <a:solidFill>
                  <a:schemeClr val="dk1"/>
                </a:solidFill>
                <a:latin typeface="Times New Roman"/>
                <a:ea typeface="Times New Roman"/>
                <a:cs typeface="Times New Roman"/>
                <a:sym typeface="Times New Roman"/>
              </a:rPr>
              <a:t>Products, etc</a:t>
            </a:r>
            <a:endParaRPr/>
          </a:p>
        </p:txBody>
      </p:sp>
      <p:sp>
        <p:nvSpPr>
          <p:cNvPr id="145" name="Google Shape;145;p10"/>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Novelty</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1"/>
          <p:cNvSpPr/>
          <p:nvPr/>
        </p:nvSpPr>
        <p:spPr>
          <a:xfrm>
            <a:off x="304800" y="1524000"/>
            <a:ext cx="8534400" cy="4001095"/>
          </a:xfrm>
          <a:prstGeom prst="rect">
            <a:avLst/>
          </a:prstGeom>
          <a:noFill/>
          <a:ln>
            <a:noFill/>
          </a:ln>
        </p:spPr>
        <p:txBody>
          <a:bodyPr spcFirstLastPara="1" wrap="square" lIns="91425" tIns="45700" rIns="91425" bIns="45700" anchor="t" anchorCtr="0">
            <a:spAutoFit/>
          </a:bodyPr>
          <a:lstStyle/>
          <a:p>
            <a:pPr marL="360363" marR="0" lvl="0" indent="-360363" algn="l" rtl="0">
              <a:spcBef>
                <a:spcPts val="0"/>
              </a:spcBef>
              <a:spcAft>
                <a:spcPts val="0"/>
              </a:spcAft>
              <a:buNone/>
            </a:pPr>
            <a:endParaRPr sz="2200">
              <a:solidFill>
                <a:schemeClr val="dk1"/>
              </a:solidFill>
              <a:latin typeface="Times New Roman"/>
              <a:ea typeface="Times New Roman"/>
              <a:cs typeface="Times New Roman"/>
              <a:sym typeface="Times New Roman"/>
            </a:endParaRPr>
          </a:p>
          <a:p>
            <a:pPr marL="360363" marR="0" lvl="0" indent="0" algn="just" rtl="0">
              <a:lnSpc>
                <a:spcPct val="150000"/>
              </a:lnSpc>
              <a:spcBef>
                <a:spcPts val="0"/>
              </a:spcBef>
              <a:spcAft>
                <a:spcPts val="0"/>
              </a:spcAft>
              <a:buNone/>
            </a:pPr>
            <a:r>
              <a:rPr lang="en-IN" sz="2800">
                <a:solidFill>
                  <a:schemeClr val="dk1"/>
                </a:solidFill>
                <a:latin typeface="Times New Roman"/>
                <a:ea typeface="Times New Roman"/>
                <a:cs typeface="Times New Roman"/>
                <a:sym typeface="Times New Roman"/>
              </a:rPr>
              <a:t>“Inventive step" means a feature of an invention that involves </a:t>
            </a:r>
            <a:r>
              <a:rPr lang="en-IN" sz="2800" i="1">
                <a:solidFill>
                  <a:srgbClr val="FF0000"/>
                </a:solidFill>
                <a:latin typeface="Times New Roman"/>
                <a:ea typeface="Times New Roman"/>
                <a:cs typeface="Times New Roman"/>
                <a:sym typeface="Times New Roman"/>
              </a:rPr>
              <a:t>technical advance </a:t>
            </a:r>
            <a:r>
              <a:rPr lang="en-IN" sz="2800">
                <a:solidFill>
                  <a:schemeClr val="dk1"/>
                </a:solidFill>
                <a:latin typeface="Times New Roman"/>
                <a:ea typeface="Times New Roman"/>
                <a:cs typeface="Times New Roman"/>
                <a:sym typeface="Times New Roman"/>
              </a:rPr>
              <a:t>as compared to the existing knowledge or having </a:t>
            </a:r>
            <a:r>
              <a:rPr lang="en-IN" sz="2800" i="1">
                <a:solidFill>
                  <a:srgbClr val="FF0000"/>
                </a:solidFill>
                <a:latin typeface="Times New Roman"/>
                <a:ea typeface="Times New Roman"/>
                <a:cs typeface="Times New Roman"/>
                <a:sym typeface="Times New Roman"/>
              </a:rPr>
              <a:t>economic significance </a:t>
            </a:r>
            <a:r>
              <a:rPr lang="en-IN" sz="2800">
                <a:solidFill>
                  <a:schemeClr val="dk1"/>
                </a:solidFill>
                <a:latin typeface="Times New Roman"/>
                <a:ea typeface="Times New Roman"/>
                <a:cs typeface="Times New Roman"/>
                <a:sym typeface="Times New Roman"/>
              </a:rPr>
              <a:t>or both and that makes the invention not obvious to a person skilled in the art.</a:t>
            </a:r>
            <a:endParaRPr/>
          </a:p>
          <a:p>
            <a:pPr marL="623888" marR="0" lvl="0" indent="-220662" algn="l" rtl="0">
              <a:spcBef>
                <a:spcPts val="0"/>
              </a:spcBef>
              <a:spcAft>
                <a:spcPts val="0"/>
              </a:spcAft>
              <a:buClr>
                <a:schemeClr val="dk1"/>
              </a:buClr>
              <a:buSzPts val="2200"/>
              <a:buFont typeface="Noto Sans Symbols"/>
              <a:buNone/>
            </a:pPr>
            <a:endParaRPr sz="2200">
              <a:solidFill>
                <a:schemeClr val="dk1"/>
              </a:solidFill>
              <a:latin typeface="Times New Roman"/>
              <a:ea typeface="Times New Roman"/>
              <a:cs typeface="Times New Roman"/>
              <a:sym typeface="Times New Roman"/>
            </a:endParaRPr>
          </a:p>
        </p:txBody>
      </p:sp>
      <p:sp>
        <p:nvSpPr>
          <p:cNvPr id="151" name="Google Shape;151;p11"/>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INVENTIVE STEP</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2"/>
          <p:cNvSpPr txBox="1">
            <a:spLocks noGrp="1"/>
          </p:cNvSpPr>
          <p:nvPr>
            <p:ph type="subTitle" idx="1"/>
          </p:nvPr>
        </p:nvSpPr>
        <p:spPr>
          <a:xfrm>
            <a:off x="762000" y="1295400"/>
            <a:ext cx="3810000" cy="5029200"/>
          </a:xfrm>
          <a:prstGeom prst="rect">
            <a:avLst/>
          </a:prstGeom>
          <a:noFill/>
          <a:ln>
            <a:noFill/>
          </a:ln>
        </p:spPr>
        <p:txBody>
          <a:bodyPr spcFirstLastPara="1" wrap="square" lIns="91425" tIns="45700" rIns="91425" bIns="45700" anchor="t" anchorCtr="0">
            <a:noAutofit/>
          </a:bodyPr>
          <a:lstStyle/>
          <a:p>
            <a:pPr marL="0" lvl="0" indent="0" algn="just" rtl="0">
              <a:lnSpc>
                <a:spcPct val="170000"/>
              </a:lnSpc>
              <a:spcBef>
                <a:spcPts val="0"/>
              </a:spcBef>
              <a:spcAft>
                <a:spcPts val="0"/>
              </a:spcAft>
              <a:buClr>
                <a:schemeClr val="dk1"/>
              </a:buClr>
              <a:buSzPts val="2300"/>
              <a:buNone/>
            </a:pPr>
            <a:r>
              <a:rPr lang="en-IN" sz="2300">
                <a:solidFill>
                  <a:schemeClr val="dk1"/>
                </a:solidFill>
                <a:latin typeface="Times New Roman"/>
                <a:ea typeface="Times New Roman"/>
                <a:cs typeface="Times New Roman"/>
                <a:sym typeface="Times New Roman"/>
              </a:rPr>
              <a:t>Example:</a:t>
            </a:r>
            <a:endParaRPr/>
          </a:p>
          <a:p>
            <a:pPr marL="0" lvl="0" indent="0" algn="just" rtl="0">
              <a:lnSpc>
                <a:spcPct val="170000"/>
              </a:lnSpc>
              <a:spcBef>
                <a:spcPts val="460"/>
              </a:spcBef>
              <a:spcAft>
                <a:spcPts val="0"/>
              </a:spcAft>
              <a:buClr>
                <a:schemeClr val="dk1"/>
              </a:buClr>
              <a:buSzPts val="2300"/>
              <a:buNone/>
            </a:pPr>
            <a:r>
              <a:rPr lang="en-IN" sz="2300">
                <a:solidFill>
                  <a:schemeClr val="dk1"/>
                </a:solidFill>
                <a:latin typeface="Times New Roman"/>
                <a:ea typeface="Times New Roman"/>
                <a:cs typeface="Times New Roman"/>
                <a:sym typeface="Times New Roman"/>
              </a:rPr>
              <a:t>Ear cleaning bud with a ball-like elastic body made of flexible plastic, instead of cotton swab</a:t>
            </a:r>
            <a:endParaRPr/>
          </a:p>
        </p:txBody>
      </p:sp>
      <p:sp>
        <p:nvSpPr>
          <p:cNvPr id="157" name="Google Shape;157;p12"/>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fontScale="92500"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INVENTIVE STEP</a:t>
            </a:r>
            <a:endParaRPr/>
          </a:p>
        </p:txBody>
      </p:sp>
      <p:pic>
        <p:nvPicPr>
          <p:cNvPr id="158" name="Google Shape;158;p12"/>
          <p:cNvPicPr preferRelativeResize="0"/>
          <p:nvPr/>
        </p:nvPicPr>
        <p:blipFill rotWithShape="1">
          <a:blip r:embed="rId3">
            <a:alphaModFix/>
          </a:blip>
          <a:srcRect/>
          <a:stretch/>
        </p:blipFill>
        <p:spPr>
          <a:xfrm>
            <a:off x="4953000" y="838200"/>
            <a:ext cx="3613772" cy="5877846"/>
          </a:xfrm>
          <a:prstGeom prst="rect">
            <a:avLst/>
          </a:prstGeom>
          <a:noFill/>
          <a:ln>
            <a:noFill/>
          </a:ln>
        </p:spPr>
      </p:pic>
    </p:spTree>
  </p:cSld>
  <p:clrMapOvr>
    <a:masterClrMapping/>
  </p:clrMapOvr>
  <p:transition>
    <p:split dir="in"/>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3"/>
          <p:cNvSpPr txBox="1">
            <a:spLocks noGrp="1"/>
          </p:cNvSpPr>
          <p:nvPr>
            <p:ph type="subTitle" idx="1"/>
          </p:nvPr>
        </p:nvSpPr>
        <p:spPr>
          <a:xfrm>
            <a:off x="1752600" y="1905000"/>
            <a:ext cx="5943600" cy="2209800"/>
          </a:xfrm>
          <a:prstGeom prst="rect">
            <a:avLst/>
          </a:prstGeom>
          <a:noFill/>
          <a:ln>
            <a:noFill/>
          </a:ln>
        </p:spPr>
        <p:txBody>
          <a:bodyPr spcFirstLastPara="1" wrap="square" lIns="91425" tIns="45700" rIns="91425" bIns="45700" anchor="t" anchorCtr="0">
            <a:noAutofit/>
          </a:bodyPr>
          <a:lstStyle/>
          <a:p>
            <a:pPr marL="339725" lvl="0" indent="-339725" algn="just" rtl="0">
              <a:lnSpc>
                <a:spcPct val="170000"/>
              </a:lnSpc>
              <a:spcBef>
                <a:spcPts val="0"/>
              </a:spcBef>
              <a:spcAft>
                <a:spcPts val="0"/>
              </a:spcAft>
              <a:buClr>
                <a:schemeClr val="dk1"/>
              </a:buClr>
              <a:buSzPts val="3200"/>
              <a:buNone/>
            </a:pPr>
            <a:r>
              <a:rPr lang="en-IN">
                <a:solidFill>
                  <a:schemeClr val="dk1"/>
                </a:solidFill>
                <a:latin typeface="Times New Roman"/>
                <a:ea typeface="Times New Roman"/>
                <a:cs typeface="Times New Roman"/>
                <a:sym typeface="Times New Roman"/>
              </a:rPr>
              <a:t>Invention is capable of being made or used in an industry</a:t>
            </a:r>
            <a:endParaRPr/>
          </a:p>
          <a:p>
            <a:pPr marL="539750" lvl="0" indent="0" algn="just" rtl="0">
              <a:lnSpc>
                <a:spcPct val="170000"/>
              </a:lnSpc>
              <a:spcBef>
                <a:spcPts val="440"/>
              </a:spcBef>
              <a:spcAft>
                <a:spcPts val="0"/>
              </a:spcAft>
              <a:buClr>
                <a:srgbClr val="888888"/>
              </a:buClr>
              <a:buSzPts val="2200"/>
              <a:buNone/>
            </a:pPr>
            <a:endParaRPr sz="2200">
              <a:solidFill>
                <a:srgbClr val="FF0000"/>
              </a:solidFill>
              <a:latin typeface="Times New Roman"/>
              <a:ea typeface="Times New Roman"/>
              <a:cs typeface="Times New Roman"/>
              <a:sym typeface="Times New Roman"/>
            </a:endParaRPr>
          </a:p>
        </p:txBody>
      </p:sp>
      <p:sp>
        <p:nvSpPr>
          <p:cNvPr id="164" name="Google Shape;164;p13"/>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INDUSTRIAL APPLICABILITY</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4"/>
          <p:cNvSpPr/>
          <p:nvPr/>
        </p:nvSpPr>
        <p:spPr>
          <a:xfrm>
            <a:off x="685800" y="838200"/>
            <a:ext cx="7467600" cy="7217360"/>
          </a:xfrm>
          <a:prstGeom prst="rect">
            <a:avLst/>
          </a:prstGeom>
          <a:noFill/>
          <a:ln>
            <a:noFill/>
          </a:ln>
        </p:spPr>
        <p:txBody>
          <a:bodyPr spcFirstLastPara="1" wrap="square" lIns="91425" tIns="45700" rIns="91425" bIns="45700" anchor="t" anchorCtr="0">
            <a:spAutoFit/>
          </a:bodyPr>
          <a:lstStyle/>
          <a:p>
            <a:pPr marL="442913" marR="0" lvl="0" indent="-442913" algn="just" rtl="0">
              <a:lnSpc>
                <a:spcPct val="150000"/>
              </a:lnSpc>
              <a:spcBef>
                <a:spcPts val="0"/>
              </a:spcBef>
              <a:spcAft>
                <a:spcPts val="0"/>
              </a:spcAft>
              <a:buClr>
                <a:schemeClr val="dk1"/>
              </a:buClr>
              <a:buSzPts val="2100"/>
              <a:buFont typeface="Noto Sans Symbols"/>
              <a:buChar char="⮚"/>
            </a:pPr>
            <a:r>
              <a:rPr lang="en-IN" sz="2100">
                <a:solidFill>
                  <a:schemeClr val="dk1"/>
                </a:solidFill>
                <a:latin typeface="Times New Roman"/>
                <a:ea typeface="Times New Roman"/>
                <a:cs typeface="Times New Roman"/>
                <a:sym typeface="Times New Roman"/>
              </a:rPr>
              <a:t>If the invention is still under research or development or experimentation stage and a delay is expected in attaining the final stage</a:t>
            </a:r>
            <a:endParaRPr sz="2100">
              <a:solidFill>
                <a:schemeClr val="dk1"/>
              </a:solidFill>
              <a:latin typeface="Times New Roman"/>
              <a:ea typeface="Times New Roman"/>
              <a:cs typeface="Times New Roman"/>
              <a:sym typeface="Times New Roman"/>
            </a:endParaRPr>
          </a:p>
          <a:p>
            <a:pPr marL="442913" marR="0" lvl="0" indent="-442913" algn="just" rtl="0">
              <a:lnSpc>
                <a:spcPct val="150000"/>
              </a:lnSpc>
              <a:spcBef>
                <a:spcPts val="0"/>
              </a:spcBef>
              <a:spcAft>
                <a:spcPts val="0"/>
              </a:spcAft>
              <a:buClr>
                <a:schemeClr val="dk1"/>
              </a:buClr>
              <a:buSzPts val="2100"/>
              <a:buFont typeface="Noto Sans Symbols"/>
              <a:buChar char="⮚"/>
            </a:pPr>
            <a:r>
              <a:rPr lang="en-IN" sz="2100">
                <a:solidFill>
                  <a:schemeClr val="dk1"/>
                </a:solidFill>
                <a:latin typeface="Times New Roman"/>
                <a:ea typeface="Times New Roman"/>
                <a:cs typeface="Times New Roman"/>
                <a:sym typeface="Times New Roman"/>
              </a:rPr>
              <a:t>Secures </a:t>
            </a:r>
            <a:r>
              <a:rPr lang="en-IN" sz="2100" b="1" i="1">
                <a:solidFill>
                  <a:srgbClr val="FF0000"/>
                </a:solidFill>
                <a:latin typeface="Times New Roman"/>
                <a:ea typeface="Times New Roman"/>
                <a:cs typeface="Times New Roman"/>
                <a:sym typeface="Times New Roman"/>
              </a:rPr>
              <a:t>priority date</a:t>
            </a:r>
            <a:endParaRPr/>
          </a:p>
          <a:p>
            <a:pPr marL="442913" marR="0" lvl="0" indent="-442913" algn="just" rtl="0">
              <a:lnSpc>
                <a:spcPct val="150000"/>
              </a:lnSpc>
              <a:spcBef>
                <a:spcPts val="0"/>
              </a:spcBef>
              <a:spcAft>
                <a:spcPts val="0"/>
              </a:spcAft>
              <a:buClr>
                <a:schemeClr val="dk1"/>
              </a:buClr>
              <a:buSzPts val="2100"/>
              <a:buFont typeface="Noto Sans Symbols"/>
              <a:buChar char="⮚"/>
            </a:pPr>
            <a:r>
              <a:rPr lang="en-IN" sz="2100">
                <a:solidFill>
                  <a:schemeClr val="dk1"/>
                </a:solidFill>
                <a:latin typeface="Times New Roman"/>
                <a:ea typeface="Times New Roman"/>
                <a:cs typeface="Times New Roman"/>
                <a:sym typeface="Times New Roman"/>
              </a:rPr>
              <a:t>Complete specification should be filed within </a:t>
            </a:r>
            <a:r>
              <a:rPr lang="en-IN" sz="2100" b="1" i="1">
                <a:solidFill>
                  <a:srgbClr val="FF0000"/>
                </a:solidFill>
                <a:latin typeface="Times New Roman"/>
                <a:ea typeface="Times New Roman"/>
                <a:cs typeface="Times New Roman"/>
                <a:sym typeface="Times New Roman"/>
              </a:rPr>
              <a:t>12 months </a:t>
            </a:r>
            <a:r>
              <a:rPr lang="en-IN" sz="2100">
                <a:solidFill>
                  <a:schemeClr val="dk1"/>
                </a:solidFill>
                <a:latin typeface="Times New Roman"/>
                <a:ea typeface="Times New Roman"/>
                <a:cs typeface="Times New Roman"/>
                <a:sym typeface="Times New Roman"/>
              </a:rPr>
              <a:t>from the date of filing of provisional specification</a:t>
            </a:r>
            <a:endParaRPr/>
          </a:p>
          <a:p>
            <a:pPr marL="442913" marR="0" lvl="0" indent="-442913" algn="l" rtl="0">
              <a:lnSpc>
                <a:spcPct val="150000"/>
              </a:lnSpc>
              <a:spcBef>
                <a:spcPts val="0"/>
              </a:spcBef>
              <a:spcAft>
                <a:spcPts val="0"/>
              </a:spcAft>
              <a:buClr>
                <a:schemeClr val="dk1"/>
              </a:buClr>
              <a:buSzPts val="2100"/>
              <a:buFont typeface="Noto Sans Symbols"/>
              <a:buChar char="⮚"/>
            </a:pPr>
            <a:r>
              <a:rPr lang="en-IN" sz="2100">
                <a:solidFill>
                  <a:schemeClr val="dk1"/>
                </a:solidFill>
                <a:latin typeface="Times New Roman"/>
                <a:ea typeface="Times New Roman"/>
                <a:cs typeface="Times New Roman"/>
                <a:sym typeface="Times New Roman"/>
              </a:rPr>
              <a:t> Filing of Drawings &amp; Claims are optional in Provisional Specification</a:t>
            </a:r>
            <a:endParaRPr/>
          </a:p>
          <a:p>
            <a:pPr marL="442913" marR="0" lvl="0" indent="-442913" algn="l" rtl="0">
              <a:lnSpc>
                <a:spcPct val="150000"/>
              </a:lnSpc>
              <a:spcBef>
                <a:spcPts val="0"/>
              </a:spcBef>
              <a:spcAft>
                <a:spcPts val="0"/>
              </a:spcAft>
              <a:buClr>
                <a:schemeClr val="dk1"/>
              </a:buClr>
              <a:buSzPts val="2100"/>
              <a:buFont typeface="Noto Sans Symbols"/>
              <a:buChar char="⮚"/>
            </a:pPr>
            <a:r>
              <a:rPr lang="en-IN" sz="2100">
                <a:solidFill>
                  <a:schemeClr val="dk1"/>
                </a:solidFill>
                <a:latin typeface="Times New Roman"/>
                <a:ea typeface="Times New Roman"/>
                <a:cs typeface="Times New Roman"/>
                <a:sym typeface="Times New Roman"/>
              </a:rPr>
              <a:t>If two or more provisional specifications filed by an applicant are </a:t>
            </a:r>
            <a:r>
              <a:rPr lang="en-IN" sz="2100" b="1">
                <a:solidFill>
                  <a:srgbClr val="FF0000"/>
                </a:solidFill>
                <a:latin typeface="Times New Roman"/>
                <a:ea typeface="Times New Roman"/>
                <a:cs typeface="Times New Roman"/>
                <a:sym typeface="Times New Roman"/>
              </a:rPr>
              <a:t>cognate</a:t>
            </a:r>
            <a:r>
              <a:rPr lang="en-IN" sz="2100">
                <a:solidFill>
                  <a:schemeClr val="dk1"/>
                </a:solidFill>
                <a:latin typeface="Times New Roman"/>
                <a:ea typeface="Times New Roman"/>
                <a:cs typeface="Times New Roman"/>
                <a:sym typeface="Times New Roman"/>
              </a:rPr>
              <a:t> or if one is a modification of the other, the applicant may file one complete specification covering all the provisional applications. </a:t>
            </a:r>
            <a:endParaRPr/>
          </a:p>
          <a:p>
            <a:pPr marL="442913" marR="0" lvl="0" indent="-309563" algn="l" rtl="0">
              <a:lnSpc>
                <a:spcPct val="150000"/>
              </a:lnSpc>
              <a:spcBef>
                <a:spcPts val="0"/>
              </a:spcBef>
              <a:spcAft>
                <a:spcPts val="0"/>
              </a:spcAft>
              <a:buClr>
                <a:schemeClr val="dk1"/>
              </a:buClr>
              <a:buSzPts val="2100"/>
              <a:buFont typeface="Noto Sans Symbols"/>
              <a:buNone/>
            </a:pPr>
            <a:endParaRPr sz="2100">
              <a:solidFill>
                <a:schemeClr val="dk1"/>
              </a:solidFill>
              <a:latin typeface="Times New Roman"/>
              <a:ea typeface="Times New Roman"/>
              <a:cs typeface="Times New Roman"/>
              <a:sym typeface="Times New Roman"/>
            </a:endParaRPr>
          </a:p>
          <a:p>
            <a:pPr marL="442913" marR="0" lvl="0" indent="-309563" algn="l" rtl="0">
              <a:lnSpc>
                <a:spcPct val="150000"/>
              </a:lnSpc>
              <a:spcBef>
                <a:spcPts val="0"/>
              </a:spcBef>
              <a:spcAft>
                <a:spcPts val="0"/>
              </a:spcAft>
              <a:buClr>
                <a:schemeClr val="dk1"/>
              </a:buClr>
              <a:buSzPts val="2100"/>
              <a:buFont typeface="Noto Sans Symbols"/>
              <a:buNone/>
            </a:pPr>
            <a:endParaRPr sz="2100">
              <a:solidFill>
                <a:schemeClr val="dk1"/>
              </a:solidFill>
              <a:latin typeface="Times New Roman"/>
              <a:ea typeface="Times New Roman"/>
              <a:cs typeface="Times New Roman"/>
              <a:sym typeface="Times New Roman"/>
            </a:endParaRPr>
          </a:p>
          <a:p>
            <a:pPr marL="457200" marR="0" lvl="1" indent="-457200" algn="l" rtl="0">
              <a:lnSpc>
                <a:spcPct val="90000"/>
              </a:lnSpc>
              <a:spcBef>
                <a:spcPts val="400"/>
              </a:spcBef>
              <a:spcAft>
                <a:spcPts val="0"/>
              </a:spcAft>
              <a:buNone/>
            </a:pPr>
            <a:endParaRPr sz="2000" b="0" i="0" u="none" strike="noStrike" cap="none">
              <a:solidFill>
                <a:schemeClr val="dk1"/>
              </a:solidFill>
              <a:latin typeface="Times New Roman"/>
              <a:ea typeface="Times New Roman"/>
              <a:cs typeface="Times New Roman"/>
              <a:sym typeface="Times New Roman"/>
            </a:endParaRPr>
          </a:p>
        </p:txBody>
      </p:sp>
      <p:sp>
        <p:nvSpPr>
          <p:cNvPr id="170" name="Google Shape;170;p14"/>
          <p:cNvSpPr txBox="1"/>
          <p:nvPr/>
        </p:nvSpPr>
        <p:spPr>
          <a:xfrm>
            <a:off x="0" y="0"/>
            <a:ext cx="9144000" cy="6096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Provisional Specification</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5"/>
          <p:cNvSpPr txBox="1">
            <a:spLocks noGrp="1"/>
          </p:cNvSpPr>
          <p:nvPr>
            <p:ph type="subTitle" idx="1"/>
          </p:nvPr>
        </p:nvSpPr>
        <p:spPr>
          <a:xfrm>
            <a:off x="1447800" y="838200"/>
            <a:ext cx="6172200" cy="5486400"/>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400"/>
              <a:buNone/>
            </a:pPr>
            <a:r>
              <a:rPr lang="en-IN" sz="2400">
                <a:solidFill>
                  <a:schemeClr val="dk1"/>
                </a:solidFill>
                <a:latin typeface="Times New Roman"/>
                <a:ea typeface="Times New Roman"/>
                <a:cs typeface="Times New Roman"/>
                <a:sym typeface="Times New Roman"/>
              </a:rPr>
              <a:t>Submission of complete specification is necessary to obtain a patent :</a:t>
            </a:r>
            <a:endParaRPr/>
          </a:p>
          <a:p>
            <a:pPr marL="1260475" lvl="0" indent="-539750" algn="just" rtl="0">
              <a:lnSpc>
                <a:spcPct val="150000"/>
              </a:lnSpc>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Title</a:t>
            </a:r>
            <a:endParaRPr/>
          </a:p>
          <a:p>
            <a:pPr marL="1260475" lvl="0" indent="-539750" algn="just" rtl="0">
              <a:lnSpc>
                <a:spcPct val="150000"/>
              </a:lnSpc>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Abstract</a:t>
            </a:r>
            <a:endParaRPr/>
          </a:p>
          <a:p>
            <a:pPr marL="1260475" lvl="0" indent="-539750" algn="just" rtl="0">
              <a:lnSpc>
                <a:spcPct val="150000"/>
              </a:lnSpc>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Field of Invention</a:t>
            </a:r>
            <a:endParaRPr/>
          </a:p>
          <a:p>
            <a:pPr marL="1260475" lvl="0" indent="-539750" algn="just" rtl="0">
              <a:lnSpc>
                <a:spcPct val="150000"/>
              </a:lnSpc>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Background</a:t>
            </a:r>
            <a:endParaRPr/>
          </a:p>
          <a:p>
            <a:pPr marL="1260475" lvl="0" indent="-539750" algn="just" rtl="0">
              <a:lnSpc>
                <a:spcPct val="150000"/>
              </a:lnSpc>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Description of the Invention</a:t>
            </a:r>
            <a:endParaRPr/>
          </a:p>
          <a:p>
            <a:pPr marL="1260475" lvl="0" indent="-539750" algn="just" rtl="0">
              <a:lnSpc>
                <a:spcPct val="150000"/>
              </a:lnSpc>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Drawings</a:t>
            </a:r>
            <a:endParaRPr/>
          </a:p>
          <a:p>
            <a:pPr marL="1260475" lvl="0" indent="-539750" algn="just" rtl="0">
              <a:lnSpc>
                <a:spcPct val="150000"/>
              </a:lnSpc>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Claims </a:t>
            </a:r>
            <a:endParaRPr/>
          </a:p>
        </p:txBody>
      </p:sp>
      <p:sp>
        <p:nvSpPr>
          <p:cNvPr id="176" name="Google Shape;176;p15"/>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Complete Specification</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6"/>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000" b="1">
                <a:solidFill>
                  <a:schemeClr val="lt1"/>
                </a:solidFill>
                <a:latin typeface="Times New Roman"/>
                <a:ea typeface="Times New Roman"/>
                <a:cs typeface="Times New Roman"/>
                <a:sym typeface="Times New Roman"/>
              </a:rPr>
              <a:t>Example</a:t>
            </a:r>
            <a:endParaRPr/>
          </a:p>
        </p:txBody>
      </p:sp>
      <p:sp>
        <p:nvSpPr>
          <p:cNvPr id="182" name="Google Shape;182;p16"/>
          <p:cNvSpPr/>
          <p:nvPr/>
        </p:nvSpPr>
        <p:spPr>
          <a:xfrm>
            <a:off x="609600" y="1371600"/>
            <a:ext cx="5943600" cy="3886705"/>
          </a:xfrm>
          <a:prstGeom prst="rect">
            <a:avLst/>
          </a:prstGeom>
          <a:noFill/>
          <a:ln>
            <a:noFill/>
          </a:ln>
        </p:spPr>
        <p:txBody>
          <a:bodyPr spcFirstLastPara="1" wrap="square" lIns="91425" tIns="45700" rIns="91425" bIns="45700" anchor="t" anchorCtr="0">
            <a:spAutoFit/>
          </a:bodyPr>
          <a:lstStyle/>
          <a:p>
            <a:pPr marL="0" marR="0" lvl="0" indent="0" algn="ctr" rtl="0">
              <a:lnSpc>
                <a:spcPct val="80000"/>
              </a:lnSpc>
              <a:spcBef>
                <a:spcPts val="0"/>
              </a:spcBef>
              <a:spcAft>
                <a:spcPts val="0"/>
              </a:spcAft>
              <a:buClr>
                <a:schemeClr val="dk1"/>
              </a:buClr>
              <a:buSzPts val="2400"/>
              <a:buFont typeface="Times New Roman"/>
              <a:buNone/>
            </a:pPr>
            <a:r>
              <a:rPr lang="en-IN" sz="2400" b="1">
                <a:solidFill>
                  <a:schemeClr val="dk1"/>
                </a:solidFill>
                <a:latin typeface="Times New Roman"/>
                <a:ea typeface="Times New Roman"/>
                <a:cs typeface="Times New Roman"/>
                <a:sym typeface="Times New Roman"/>
              </a:rPr>
              <a:t>Ring-pull Cans</a:t>
            </a:r>
            <a:endParaRPr sz="2400">
              <a:solidFill>
                <a:schemeClr val="dk1"/>
              </a:solidFill>
              <a:latin typeface="Times New Roman"/>
              <a:ea typeface="Times New Roman"/>
              <a:cs typeface="Times New Roman"/>
              <a:sym typeface="Times New Roman"/>
            </a:endParaRPr>
          </a:p>
          <a:p>
            <a:pPr marL="0" marR="0" lvl="0" indent="0" algn="just" rtl="0">
              <a:lnSpc>
                <a:spcPct val="170000"/>
              </a:lnSpc>
              <a:spcBef>
                <a:spcPts val="960"/>
              </a:spcBef>
              <a:spcAft>
                <a:spcPts val="0"/>
              </a:spcAft>
              <a:buNone/>
            </a:pPr>
            <a:r>
              <a:rPr lang="en-IN" sz="2300">
                <a:solidFill>
                  <a:schemeClr val="dk1"/>
                </a:solidFill>
                <a:latin typeface="Times New Roman"/>
                <a:ea typeface="Times New Roman"/>
                <a:cs typeface="Times New Roman"/>
                <a:sym typeface="Times New Roman"/>
              </a:rPr>
              <a:t>The inventor licensed the system for opening Coca-Cola cans at 1/10 of a penny per can. During the period of validity of the patent the inventor obtained 1,48,000 UK pounds a day on royalties.</a:t>
            </a:r>
            <a:endParaRPr/>
          </a:p>
          <a:p>
            <a:pPr marL="0" marR="0" lvl="0" indent="0" algn="l" rtl="0">
              <a:lnSpc>
                <a:spcPct val="80000"/>
              </a:lnSpc>
              <a:spcBef>
                <a:spcPts val="0"/>
              </a:spcBef>
              <a:spcAft>
                <a:spcPts val="0"/>
              </a:spcAft>
              <a:buNone/>
            </a:pPr>
            <a:endParaRPr sz="1800">
              <a:solidFill>
                <a:schemeClr val="dk1"/>
              </a:solidFill>
              <a:latin typeface="Calibri"/>
              <a:ea typeface="Calibri"/>
              <a:cs typeface="Calibri"/>
              <a:sym typeface="Calibri"/>
            </a:endParaRPr>
          </a:p>
        </p:txBody>
      </p:sp>
      <p:pic>
        <p:nvPicPr>
          <p:cNvPr id="183" name="Google Shape;183;p16"/>
          <p:cNvPicPr preferRelativeResize="0"/>
          <p:nvPr/>
        </p:nvPicPr>
        <p:blipFill rotWithShape="1">
          <a:blip r:embed="rId3">
            <a:alphaModFix/>
          </a:blip>
          <a:srcRect/>
          <a:stretch/>
        </p:blipFill>
        <p:spPr>
          <a:xfrm>
            <a:off x="6553200" y="1219200"/>
            <a:ext cx="1895475" cy="1543050"/>
          </a:xfrm>
          <a:prstGeom prst="rect">
            <a:avLst/>
          </a:prstGeom>
          <a:noFill/>
          <a:ln>
            <a:noFill/>
          </a:ln>
        </p:spPr>
      </p:pic>
      <p:pic>
        <p:nvPicPr>
          <p:cNvPr id="184" name="Google Shape;184;p16" descr="Picture 6"/>
          <p:cNvPicPr preferRelativeResize="0"/>
          <p:nvPr/>
        </p:nvPicPr>
        <p:blipFill rotWithShape="1">
          <a:blip r:embed="rId4">
            <a:alphaModFix/>
          </a:blip>
          <a:srcRect/>
          <a:stretch/>
        </p:blipFill>
        <p:spPr>
          <a:xfrm>
            <a:off x="6934200" y="3048000"/>
            <a:ext cx="1336678" cy="2209800"/>
          </a:xfrm>
          <a:prstGeom prst="rect">
            <a:avLst/>
          </a:prstGeom>
          <a:noFill/>
          <a:ln>
            <a:noFill/>
          </a:ln>
        </p:spPr>
      </p:pic>
    </p:spTree>
  </p:cSld>
  <p:clrMapOvr>
    <a:masterClrMapping/>
  </p:clrMapOvr>
  <p:transition>
    <p:split dir="in"/>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17"/>
          <p:cNvPicPr preferRelativeResize="0">
            <a:picLocks noGrp="1"/>
          </p:cNvPicPr>
          <p:nvPr>
            <p:ph idx="1"/>
          </p:nvPr>
        </p:nvPicPr>
        <p:blipFill rotWithShape="1">
          <a:blip r:embed="rId3">
            <a:alphaModFix/>
          </a:blip>
          <a:srcRect/>
          <a:stretch/>
        </p:blipFill>
        <p:spPr>
          <a:xfrm>
            <a:off x="6858000" y="2362201"/>
            <a:ext cx="1833564" cy="1738436"/>
          </a:xfrm>
          <a:prstGeom prst="rect">
            <a:avLst/>
          </a:prstGeom>
          <a:noFill/>
          <a:ln>
            <a:noFill/>
          </a:ln>
        </p:spPr>
      </p:pic>
      <p:sp>
        <p:nvSpPr>
          <p:cNvPr id="190" name="Google Shape;190;p17"/>
          <p:cNvSpPr/>
          <p:nvPr/>
        </p:nvSpPr>
        <p:spPr>
          <a:xfrm>
            <a:off x="533400" y="1447800"/>
            <a:ext cx="5486400" cy="4139595"/>
          </a:xfrm>
          <a:prstGeom prst="rect">
            <a:avLst/>
          </a:prstGeom>
          <a:noFill/>
          <a:ln>
            <a:noFill/>
          </a:ln>
        </p:spPr>
        <p:txBody>
          <a:bodyPr spcFirstLastPara="1" wrap="square" lIns="91425" tIns="45700" rIns="91425" bIns="45700" anchor="t" anchorCtr="0">
            <a:spAutoFit/>
          </a:bodyPr>
          <a:lstStyle/>
          <a:p>
            <a:pPr marL="0" marR="0" lvl="0" indent="0" algn="ctr" rtl="0">
              <a:lnSpc>
                <a:spcPct val="80000"/>
              </a:lnSpc>
              <a:spcBef>
                <a:spcPts val="0"/>
              </a:spcBef>
              <a:spcAft>
                <a:spcPts val="0"/>
              </a:spcAft>
              <a:buNone/>
            </a:pPr>
            <a:r>
              <a:rPr lang="en-IN" sz="2400" b="1">
                <a:solidFill>
                  <a:schemeClr val="dk1"/>
                </a:solidFill>
                <a:latin typeface="Times New Roman"/>
                <a:ea typeface="Times New Roman"/>
                <a:cs typeface="Times New Roman"/>
                <a:sym typeface="Times New Roman"/>
              </a:rPr>
              <a:t>Post-it Notes</a:t>
            </a:r>
            <a:endParaRPr/>
          </a:p>
          <a:p>
            <a:pPr marL="0" marR="0" lvl="0" indent="0" algn="just" rtl="0">
              <a:lnSpc>
                <a:spcPct val="170000"/>
              </a:lnSpc>
              <a:spcBef>
                <a:spcPts val="460"/>
              </a:spcBef>
              <a:spcAft>
                <a:spcPts val="0"/>
              </a:spcAft>
              <a:buNone/>
            </a:pPr>
            <a:r>
              <a:rPr lang="en-IN" sz="2300">
                <a:solidFill>
                  <a:schemeClr val="dk1"/>
                </a:solidFill>
                <a:latin typeface="Times New Roman"/>
                <a:ea typeface="Times New Roman"/>
                <a:cs typeface="Times New Roman"/>
                <a:sym typeface="Times New Roman"/>
              </a:rPr>
              <a:t>The glue used for Post-its was invented by chance by 3M.</a:t>
            </a:r>
            <a:endParaRPr/>
          </a:p>
          <a:p>
            <a:pPr marL="0" marR="0" lvl="0" indent="0" algn="just" rtl="0">
              <a:lnSpc>
                <a:spcPct val="170000"/>
              </a:lnSpc>
              <a:spcBef>
                <a:spcPts val="460"/>
              </a:spcBef>
              <a:spcAft>
                <a:spcPts val="0"/>
              </a:spcAft>
              <a:buNone/>
            </a:pPr>
            <a:r>
              <a:rPr lang="en-IN" sz="2300">
                <a:solidFill>
                  <a:schemeClr val="dk1"/>
                </a:solidFill>
                <a:latin typeface="Times New Roman"/>
                <a:ea typeface="Times New Roman"/>
                <a:cs typeface="Times New Roman"/>
                <a:sym typeface="Times New Roman"/>
              </a:rPr>
              <a:t>Initially ignored by the inventor but valued by the manager, it was then patented. It subsequently brought huge profits to the company through licensing agreements.</a:t>
            </a:r>
            <a:endParaRPr sz="2300">
              <a:solidFill>
                <a:schemeClr val="dk1"/>
              </a:solidFill>
              <a:latin typeface="Times New Roman"/>
              <a:ea typeface="Times New Roman"/>
              <a:cs typeface="Times New Roman"/>
              <a:sym typeface="Times New Roman"/>
            </a:endParaRPr>
          </a:p>
        </p:txBody>
      </p:sp>
      <p:sp>
        <p:nvSpPr>
          <p:cNvPr id="191" name="Google Shape;191;p17"/>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000" b="1">
                <a:solidFill>
                  <a:schemeClr val="lt1"/>
                </a:solidFill>
                <a:latin typeface="Times New Roman"/>
                <a:ea typeface="Times New Roman"/>
                <a:cs typeface="Times New Roman"/>
                <a:sym typeface="Times New Roman"/>
              </a:rPr>
              <a:t>Example</a:t>
            </a:r>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8"/>
          <p:cNvSpPr txBox="1">
            <a:spLocks noGrp="1"/>
          </p:cNvSpPr>
          <p:nvPr>
            <p:ph type="subTitle" idx="1"/>
          </p:nvPr>
        </p:nvSpPr>
        <p:spPr>
          <a:xfrm>
            <a:off x="1143000" y="1066800"/>
            <a:ext cx="6858000" cy="5105400"/>
          </a:xfrm>
          <a:prstGeom prst="rect">
            <a:avLst/>
          </a:prstGeom>
          <a:noFill/>
          <a:ln>
            <a:noFill/>
          </a:ln>
        </p:spPr>
        <p:txBody>
          <a:bodyPr spcFirstLastPara="1" wrap="square" lIns="91425" tIns="45700" rIns="91425" bIns="45700" anchor="t" anchorCtr="0">
            <a:noAutofit/>
          </a:bodyPr>
          <a:lstStyle/>
          <a:p>
            <a:pPr marL="339725" lvl="0" indent="-187325" algn="just" rtl="0">
              <a:spcBef>
                <a:spcPts val="0"/>
              </a:spcBef>
              <a:spcAft>
                <a:spcPts val="0"/>
              </a:spcAft>
              <a:buClr>
                <a:srgbClr val="888888"/>
              </a:buClr>
              <a:buSzPts val="2400"/>
              <a:buFont typeface="Noto Sans Symbols"/>
              <a:buNone/>
            </a:pPr>
            <a:endParaRPr sz="2400">
              <a:solidFill>
                <a:schemeClr val="dk1"/>
              </a:solidFill>
              <a:latin typeface="Times New Roman"/>
              <a:ea typeface="Times New Roman"/>
              <a:cs typeface="Times New Roman"/>
              <a:sym typeface="Times New Roman"/>
            </a:endParaRPr>
          </a:p>
          <a:p>
            <a:pPr marL="900113" lvl="0" indent="-539750" algn="just" rtl="0">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Avoid wastage of time, money and resources on an invention that would not be patentable</a:t>
            </a:r>
            <a:endParaRPr/>
          </a:p>
          <a:p>
            <a:pPr marL="900113" lvl="0" indent="-387350" algn="just" rtl="0">
              <a:spcBef>
                <a:spcPts val="480"/>
              </a:spcBef>
              <a:spcAft>
                <a:spcPts val="0"/>
              </a:spcAft>
              <a:buClr>
                <a:srgbClr val="888888"/>
              </a:buClr>
              <a:buSzPts val="2400"/>
              <a:buFont typeface="Noto Sans Symbols"/>
              <a:buNone/>
            </a:pPr>
            <a:endParaRPr sz="2400">
              <a:solidFill>
                <a:schemeClr val="dk1"/>
              </a:solidFill>
              <a:latin typeface="Times New Roman"/>
              <a:ea typeface="Times New Roman"/>
              <a:cs typeface="Times New Roman"/>
              <a:sym typeface="Times New Roman"/>
            </a:endParaRPr>
          </a:p>
          <a:p>
            <a:pPr marL="900113" lvl="0" indent="-539750" algn="just" rtl="0">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Competitor tracking </a:t>
            </a:r>
            <a:endParaRPr/>
          </a:p>
          <a:p>
            <a:pPr marL="900113" lvl="0" indent="-387350" algn="just" rtl="0">
              <a:spcBef>
                <a:spcPts val="480"/>
              </a:spcBef>
              <a:spcAft>
                <a:spcPts val="0"/>
              </a:spcAft>
              <a:buClr>
                <a:srgbClr val="888888"/>
              </a:buClr>
              <a:buSzPts val="2400"/>
              <a:buFont typeface="Noto Sans Symbols"/>
              <a:buNone/>
            </a:pPr>
            <a:endParaRPr sz="2400">
              <a:solidFill>
                <a:schemeClr val="dk1"/>
              </a:solidFill>
              <a:latin typeface="Times New Roman"/>
              <a:ea typeface="Times New Roman"/>
              <a:cs typeface="Times New Roman"/>
              <a:sym typeface="Times New Roman"/>
            </a:endParaRPr>
          </a:p>
          <a:p>
            <a:pPr marL="900113" lvl="0" indent="-539750" algn="just" rtl="0">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Avoid patent infringement</a:t>
            </a:r>
            <a:endParaRPr/>
          </a:p>
          <a:p>
            <a:pPr marL="900113" lvl="0" indent="-387350" algn="just" rtl="0">
              <a:spcBef>
                <a:spcPts val="480"/>
              </a:spcBef>
              <a:spcAft>
                <a:spcPts val="0"/>
              </a:spcAft>
              <a:buClr>
                <a:srgbClr val="888888"/>
              </a:buClr>
              <a:buSzPts val="2400"/>
              <a:buFont typeface="Noto Sans Symbols"/>
              <a:buNone/>
            </a:pPr>
            <a:endParaRPr sz="2400">
              <a:solidFill>
                <a:schemeClr val="dk1"/>
              </a:solidFill>
              <a:latin typeface="Times New Roman"/>
              <a:ea typeface="Times New Roman"/>
              <a:cs typeface="Times New Roman"/>
              <a:sym typeface="Times New Roman"/>
            </a:endParaRPr>
          </a:p>
          <a:p>
            <a:pPr marL="900113" lvl="0" indent="-539750" algn="just" rtl="0">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Technology tracking </a:t>
            </a:r>
            <a:endParaRPr/>
          </a:p>
          <a:p>
            <a:pPr marL="900113" lvl="0" indent="-387350" algn="just" rtl="0">
              <a:spcBef>
                <a:spcPts val="480"/>
              </a:spcBef>
              <a:spcAft>
                <a:spcPts val="0"/>
              </a:spcAft>
              <a:buClr>
                <a:srgbClr val="888888"/>
              </a:buClr>
              <a:buSzPts val="2400"/>
              <a:buFont typeface="Noto Sans Symbols"/>
              <a:buNone/>
            </a:pPr>
            <a:endParaRPr sz="2400">
              <a:solidFill>
                <a:schemeClr val="dk1"/>
              </a:solidFill>
              <a:latin typeface="Times New Roman"/>
              <a:ea typeface="Times New Roman"/>
              <a:cs typeface="Times New Roman"/>
              <a:sym typeface="Times New Roman"/>
            </a:endParaRPr>
          </a:p>
          <a:p>
            <a:pPr marL="900113" lvl="0" indent="-539750" algn="just" rtl="0">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 Licensing opportunities </a:t>
            </a:r>
            <a:endParaRPr/>
          </a:p>
          <a:p>
            <a:pPr marL="339725" lvl="0" indent="-339725" algn="just" rtl="0">
              <a:spcBef>
                <a:spcPts val="480"/>
              </a:spcBef>
              <a:spcAft>
                <a:spcPts val="0"/>
              </a:spcAft>
              <a:buClr>
                <a:srgbClr val="888888"/>
              </a:buClr>
              <a:buSzPts val="2400"/>
              <a:buNone/>
            </a:pPr>
            <a:endParaRPr sz="2400" b="0">
              <a:solidFill>
                <a:schemeClr val="dk1"/>
              </a:solidFill>
              <a:latin typeface="Times New Roman"/>
              <a:ea typeface="Times New Roman"/>
              <a:cs typeface="Times New Roman"/>
              <a:sym typeface="Times New Roman"/>
            </a:endParaRPr>
          </a:p>
        </p:txBody>
      </p:sp>
      <p:sp>
        <p:nvSpPr>
          <p:cNvPr id="197" name="Google Shape;197;p18"/>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Why Patent Search</a:t>
            </a:r>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9"/>
          <p:cNvSpPr/>
          <p:nvPr/>
        </p:nvSpPr>
        <p:spPr>
          <a:xfrm>
            <a:off x="990600" y="914400"/>
            <a:ext cx="7620000" cy="5262979"/>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IN" sz="2400">
                <a:solidFill>
                  <a:schemeClr val="dk1"/>
                </a:solidFill>
                <a:latin typeface="Times New Roman"/>
                <a:ea typeface="Times New Roman"/>
                <a:cs typeface="Times New Roman"/>
                <a:sym typeface="Times New Roman"/>
              </a:rPr>
              <a:t>An application for a Patent for an invention may be</a:t>
            </a:r>
            <a:endParaRPr/>
          </a:p>
          <a:p>
            <a:pPr marL="0" marR="0" lvl="0" indent="0" algn="l" rtl="0">
              <a:lnSpc>
                <a:spcPct val="200000"/>
              </a:lnSpc>
              <a:spcBef>
                <a:spcPts val="0"/>
              </a:spcBef>
              <a:spcAft>
                <a:spcPts val="0"/>
              </a:spcAft>
              <a:buNone/>
            </a:pPr>
            <a:r>
              <a:rPr lang="en-IN" sz="2400">
                <a:solidFill>
                  <a:schemeClr val="dk1"/>
                </a:solidFill>
                <a:latin typeface="Times New Roman"/>
                <a:ea typeface="Times New Roman"/>
                <a:cs typeface="Times New Roman"/>
                <a:sym typeface="Times New Roman"/>
              </a:rPr>
              <a:t>made by any of the following persons either alone or</a:t>
            </a:r>
            <a:endParaRPr/>
          </a:p>
          <a:p>
            <a:pPr marL="0" marR="0" lvl="0" indent="0" algn="l" rtl="0">
              <a:lnSpc>
                <a:spcPct val="200000"/>
              </a:lnSpc>
              <a:spcBef>
                <a:spcPts val="0"/>
              </a:spcBef>
              <a:spcAft>
                <a:spcPts val="0"/>
              </a:spcAft>
              <a:buNone/>
            </a:pPr>
            <a:r>
              <a:rPr lang="en-IN" sz="2400">
                <a:solidFill>
                  <a:schemeClr val="dk1"/>
                </a:solidFill>
                <a:latin typeface="Times New Roman"/>
                <a:ea typeface="Times New Roman"/>
                <a:cs typeface="Times New Roman"/>
                <a:sym typeface="Times New Roman"/>
              </a:rPr>
              <a:t>jointly with any other person:</a:t>
            </a:r>
            <a:endParaRPr/>
          </a:p>
          <a:p>
            <a:pPr marL="1081088" marR="0" lvl="0" indent="-541338" algn="l" rtl="0">
              <a:lnSpc>
                <a:spcPct val="20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True and first inventor</a:t>
            </a:r>
            <a:endParaRPr/>
          </a:p>
          <a:p>
            <a:pPr marL="1081088" marR="0" lvl="0" indent="-541338" algn="l" rtl="0">
              <a:lnSpc>
                <a:spcPct val="20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True and first inventor‘s assignee</a:t>
            </a:r>
            <a:endParaRPr/>
          </a:p>
          <a:p>
            <a:pPr marL="1081088" marR="0" lvl="0" indent="-541338" algn="l" rtl="0">
              <a:lnSpc>
                <a:spcPct val="20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Legal representative of deceased true and first inventor or his/her assignee</a:t>
            </a:r>
            <a:endParaRPr/>
          </a:p>
        </p:txBody>
      </p:sp>
      <p:sp>
        <p:nvSpPr>
          <p:cNvPr id="203" name="Google Shape;203;p19"/>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Who can apply for a patent?</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0"/>
          <p:cNvSpPr txBox="1">
            <a:spLocks noGrp="1"/>
          </p:cNvSpPr>
          <p:nvPr>
            <p:ph type="subTitle" idx="1"/>
          </p:nvPr>
        </p:nvSpPr>
        <p:spPr>
          <a:xfrm>
            <a:off x="838200" y="1295400"/>
            <a:ext cx="7315200" cy="4114800"/>
          </a:xfrm>
          <a:prstGeom prst="rect">
            <a:avLst/>
          </a:prstGeom>
          <a:noFill/>
          <a:ln>
            <a:noFill/>
          </a:ln>
        </p:spPr>
        <p:txBody>
          <a:bodyPr spcFirstLastPara="1" wrap="square" lIns="91425" tIns="45700" rIns="91425" bIns="45700" anchor="t" anchorCtr="0">
            <a:noAutofit/>
          </a:bodyPr>
          <a:lstStyle/>
          <a:p>
            <a:pPr marL="360363" lvl="0" indent="-360363" algn="just" rtl="0">
              <a:lnSpc>
                <a:spcPct val="200000"/>
              </a:lnSpc>
              <a:spcBef>
                <a:spcPts val="0"/>
              </a:spcBef>
              <a:spcAft>
                <a:spcPts val="0"/>
              </a:spcAft>
              <a:buClr>
                <a:schemeClr val="dk1"/>
              </a:buClr>
              <a:buSzPts val="3200"/>
              <a:buNone/>
            </a:pPr>
            <a:r>
              <a:rPr lang="en-IN">
                <a:solidFill>
                  <a:schemeClr val="dk1"/>
                </a:solidFill>
                <a:latin typeface="Times New Roman"/>
                <a:ea typeface="Times New Roman"/>
                <a:cs typeface="Times New Roman"/>
                <a:sym typeface="Times New Roman"/>
              </a:rPr>
              <a:t>   Claims of a Complete Specification shall relate to a </a:t>
            </a:r>
            <a:r>
              <a:rPr lang="en-IN" b="1" i="1">
                <a:solidFill>
                  <a:srgbClr val="FF0000"/>
                </a:solidFill>
                <a:latin typeface="Times New Roman"/>
                <a:ea typeface="Times New Roman"/>
                <a:cs typeface="Times New Roman"/>
                <a:sym typeface="Times New Roman"/>
              </a:rPr>
              <a:t>single invention</a:t>
            </a:r>
            <a:r>
              <a:rPr lang="en-IN">
                <a:solidFill>
                  <a:schemeClr val="dk1"/>
                </a:solidFill>
                <a:latin typeface="Times New Roman"/>
                <a:ea typeface="Times New Roman"/>
                <a:cs typeface="Times New Roman"/>
                <a:sym typeface="Times New Roman"/>
              </a:rPr>
              <a:t>, or to a group of inventions linked so as to form a </a:t>
            </a:r>
            <a:r>
              <a:rPr lang="en-IN" b="1" i="1">
                <a:solidFill>
                  <a:srgbClr val="FF0000"/>
                </a:solidFill>
                <a:latin typeface="Times New Roman"/>
                <a:ea typeface="Times New Roman"/>
                <a:cs typeface="Times New Roman"/>
                <a:sym typeface="Times New Roman"/>
              </a:rPr>
              <a:t>single inventive concept</a:t>
            </a:r>
            <a:endParaRPr b="1" i="1">
              <a:solidFill>
                <a:srgbClr val="FF0000"/>
              </a:solidFill>
              <a:latin typeface="Times New Roman"/>
              <a:ea typeface="Times New Roman"/>
              <a:cs typeface="Times New Roman"/>
              <a:sym typeface="Times New Roman"/>
            </a:endParaRPr>
          </a:p>
        </p:txBody>
      </p:sp>
      <p:sp>
        <p:nvSpPr>
          <p:cNvPr id="209" name="Google Shape;209;p20"/>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Unity of Invention</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1"/>
          <p:cNvSpPr/>
          <p:nvPr/>
        </p:nvSpPr>
        <p:spPr>
          <a:xfrm>
            <a:off x="2209800" y="1295400"/>
            <a:ext cx="3886200" cy="4364528"/>
          </a:xfrm>
          <a:prstGeom prst="rect">
            <a:avLst/>
          </a:prstGeom>
          <a:noFill/>
          <a:ln>
            <a:noFill/>
          </a:ln>
        </p:spPr>
        <p:txBody>
          <a:bodyPr spcFirstLastPara="1" wrap="square" lIns="91425" tIns="45700" rIns="91425" bIns="45700" anchor="t" anchorCtr="0">
            <a:spAutoFit/>
          </a:bodyPr>
          <a:lstStyle/>
          <a:p>
            <a:pPr marL="720725" marR="0" lvl="0" indent="-720725" algn="l" rtl="0">
              <a:lnSpc>
                <a:spcPct val="250000"/>
              </a:lnSpc>
              <a:spcBef>
                <a:spcPts val="0"/>
              </a:spcBef>
              <a:spcAft>
                <a:spcPts val="0"/>
              </a:spcAft>
              <a:buNone/>
            </a:pPr>
            <a:r>
              <a:rPr lang="en-IN" sz="2300">
                <a:solidFill>
                  <a:schemeClr val="dk1"/>
                </a:solidFill>
                <a:latin typeface="Times New Roman"/>
                <a:ea typeface="Times New Roman"/>
                <a:cs typeface="Times New Roman"/>
                <a:sym typeface="Times New Roman"/>
              </a:rPr>
              <a:t>1. Ordinary Application</a:t>
            </a:r>
            <a:endParaRPr/>
          </a:p>
          <a:p>
            <a:pPr marL="720725" marR="0" lvl="0" indent="-720725" algn="l" rtl="0">
              <a:lnSpc>
                <a:spcPct val="250000"/>
              </a:lnSpc>
              <a:spcBef>
                <a:spcPts val="0"/>
              </a:spcBef>
              <a:spcAft>
                <a:spcPts val="0"/>
              </a:spcAft>
              <a:buNone/>
            </a:pPr>
            <a:r>
              <a:rPr lang="en-IN" sz="2300">
                <a:solidFill>
                  <a:schemeClr val="dk1"/>
                </a:solidFill>
                <a:latin typeface="Times New Roman"/>
                <a:ea typeface="Times New Roman"/>
                <a:cs typeface="Times New Roman"/>
                <a:sym typeface="Times New Roman"/>
              </a:rPr>
              <a:t>2. Convention Application</a:t>
            </a:r>
            <a:endParaRPr/>
          </a:p>
          <a:p>
            <a:pPr marL="720725" marR="0" lvl="0" indent="-720725" algn="l" rtl="0">
              <a:lnSpc>
                <a:spcPct val="250000"/>
              </a:lnSpc>
              <a:spcBef>
                <a:spcPts val="0"/>
              </a:spcBef>
              <a:spcAft>
                <a:spcPts val="0"/>
              </a:spcAft>
              <a:buNone/>
            </a:pPr>
            <a:r>
              <a:rPr lang="en-IN" sz="2300">
                <a:solidFill>
                  <a:schemeClr val="dk1"/>
                </a:solidFill>
                <a:latin typeface="Times New Roman"/>
                <a:ea typeface="Times New Roman"/>
                <a:cs typeface="Times New Roman"/>
                <a:sym typeface="Times New Roman"/>
              </a:rPr>
              <a:t>3. PCT Application</a:t>
            </a:r>
            <a:endParaRPr/>
          </a:p>
          <a:p>
            <a:pPr marL="720725" marR="0" lvl="0" indent="-720725" algn="l" rtl="0">
              <a:lnSpc>
                <a:spcPct val="250000"/>
              </a:lnSpc>
              <a:spcBef>
                <a:spcPts val="0"/>
              </a:spcBef>
              <a:spcAft>
                <a:spcPts val="0"/>
              </a:spcAft>
              <a:buNone/>
            </a:pPr>
            <a:r>
              <a:rPr lang="en-IN" sz="2300">
                <a:solidFill>
                  <a:schemeClr val="dk1"/>
                </a:solidFill>
                <a:latin typeface="Times New Roman"/>
                <a:ea typeface="Times New Roman"/>
                <a:cs typeface="Times New Roman"/>
                <a:sym typeface="Times New Roman"/>
              </a:rPr>
              <a:t>4. Divisional Application</a:t>
            </a:r>
            <a:endParaRPr/>
          </a:p>
          <a:p>
            <a:pPr marL="720725" marR="0" lvl="0" indent="-720725" algn="l" rtl="0">
              <a:lnSpc>
                <a:spcPct val="250000"/>
              </a:lnSpc>
              <a:spcBef>
                <a:spcPts val="0"/>
              </a:spcBef>
              <a:spcAft>
                <a:spcPts val="0"/>
              </a:spcAft>
              <a:buNone/>
            </a:pPr>
            <a:r>
              <a:rPr lang="en-IN" sz="2300">
                <a:solidFill>
                  <a:schemeClr val="dk1"/>
                </a:solidFill>
                <a:latin typeface="Times New Roman"/>
                <a:ea typeface="Times New Roman"/>
                <a:cs typeface="Times New Roman"/>
                <a:sym typeface="Times New Roman"/>
              </a:rPr>
              <a:t>5. Patent of Addition</a:t>
            </a:r>
            <a:endParaRPr/>
          </a:p>
        </p:txBody>
      </p:sp>
      <p:sp>
        <p:nvSpPr>
          <p:cNvPr id="215" name="Google Shape;215;p21"/>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Type of Patent Applications</a:t>
            </a:r>
            <a:endParaRPr/>
          </a:p>
        </p:txBody>
      </p:sp>
    </p:spTree>
  </p:cSld>
  <p:clrMapOvr>
    <a:masterClrMapping/>
  </p:clrMapOvr>
  <p:transition>
    <p:circl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IN" sz="4400">
                <a:latin typeface="Times New Roman"/>
                <a:ea typeface="Times New Roman"/>
                <a:cs typeface="Times New Roman"/>
                <a:sym typeface="Times New Roman"/>
              </a:rPr>
              <a:t>Convention Application</a:t>
            </a:r>
            <a:endParaRPr/>
          </a:p>
        </p:txBody>
      </p:sp>
      <p:sp>
        <p:nvSpPr>
          <p:cNvPr id="221" name="Google Shape;221;p22"/>
          <p:cNvSpPr txBox="1">
            <a:spLocks noGrp="1"/>
          </p:cNvSpPr>
          <p:nvPr>
            <p:ph idx="1"/>
          </p:nvPr>
        </p:nvSpPr>
        <p:spPr>
          <a:xfrm>
            <a:off x="457200" y="1600201"/>
            <a:ext cx="8229600" cy="4495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111111"/>
              </a:buClr>
              <a:buSzPts val="3200"/>
              <a:buChar char="•"/>
            </a:pPr>
            <a:r>
              <a:rPr lang="en-IN" b="0" i="0">
                <a:solidFill>
                  <a:srgbClr val="111111"/>
                </a:solidFill>
                <a:latin typeface="Arial"/>
                <a:ea typeface="Arial"/>
                <a:cs typeface="Arial"/>
                <a:sym typeface="Arial"/>
              </a:rPr>
              <a:t>An application filed in India claiming a priority date based on the same or substantially similar application filed in one or more of the convention countries.</a:t>
            </a:r>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Times New Roman"/>
              <a:buNone/>
            </a:pPr>
            <a:r>
              <a:rPr lang="en-IN" sz="4400">
                <a:latin typeface="Times New Roman"/>
                <a:ea typeface="Times New Roman"/>
                <a:cs typeface="Times New Roman"/>
                <a:sym typeface="Times New Roman"/>
              </a:rPr>
              <a:t>PCT Application</a:t>
            </a:r>
            <a:endParaRPr/>
          </a:p>
        </p:txBody>
      </p:sp>
      <p:sp>
        <p:nvSpPr>
          <p:cNvPr id="227" name="Google Shape;227;p2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111111"/>
              </a:buClr>
              <a:buSzPts val="3200"/>
              <a:buChar char="•"/>
            </a:pPr>
            <a:r>
              <a:rPr lang="en-IN" b="0" i="0">
                <a:solidFill>
                  <a:srgbClr val="111111"/>
                </a:solidFill>
                <a:latin typeface="Arial"/>
                <a:ea typeface="Arial"/>
                <a:cs typeface="Arial"/>
                <a:sym typeface="Arial"/>
              </a:rPr>
              <a:t>An international application filed under the Patent Cooperation Treaty, designating India as one of the countries where the applicant seeks protection.</a:t>
            </a:r>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4"/>
          <p:cNvSpPr/>
          <p:nvPr/>
        </p:nvSpPr>
        <p:spPr>
          <a:xfrm>
            <a:off x="838200" y="1600200"/>
            <a:ext cx="7239000" cy="3774238"/>
          </a:xfrm>
          <a:prstGeom prst="rect">
            <a:avLst/>
          </a:prstGeom>
          <a:noFill/>
          <a:ln>
            <a:noFill/>
          </a:ln>
        </p:spPr>
        <p:txBody>
          <a:bodyPr spcFirstLastPara="1" wrap="square" lIns="91425" tIns="45700" rIns="91425" bIns="45700" anchor="t" anchorCtr="0">
            <a:spAutoFit/>
          </a:bodyPr>
          <a:lstStyle/>
          <a:p>
            <a:pPr marL="360363" marR="0" lvl="0" indent="0" algn="just" rtl="0">
              <a:lnSpc>
                <a:spcPct val="250000"/>
              </a:lnSpc>
              <a:spcBef>
                <a:spcPts val="0"/>
              </a:spcBef>
              <a:spcAft>
                <a:spcPts val="0"/>
              </a:spcAft>
              <a:buNone/>
            </a:pPr>
            <a:r>
              <a:rPr lang="en-IN" sz="2500">
                <a:solidFill>
                  <a:schemeClr val="dk1"/>
                </a:solidFill>
                <a:latin typeface="Times New Roman"/>
                <a:ea typeface="Times New Roman"/>
                <a:cs typeface="Times New Roman"/>
                <a:sym typeface="Times New Roman"/>
              </a:rPr>
              <a:t>If the parent application describes more than one invention then applicant is required to split the parent application into one or more divisional applications each claiming only a single invention.</a:t>
            </a:r>
            <a:endParaRPr/>
          </a:p>
        </p:txBody>
      </p:sp>
      <p:sp>
        <p:nvSpPr>
          <p:cNvPr id="233" name="Google Shape;233;p24"/>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Divisional Application</a:t>
            </a:r>
            <a:endParaRPr/>
          </a:p>
        </p:txBody>
      </p:sp>
    </p:spTree>
  </p:cSld>
  <p:clrMapOvr>
    <a:masterClrMapping/>
  </p:clrMapOvr>
  <p:transition>
    <p:circl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5"/>
          <p:cNvSpPr/>
          <p:nvPr/>
        </p:nvSpPr>
        <p:spPr>
          <a:xfrm>
            <a:off x="533400" y="1210428"/>
            <a:ext cx="8229600" cy="4708981"/>
          </a:xfrm>
          <a:prstGeom prst="rect">
            <a:avLst/>
          </a:prstGeom>
          <a:noFill/>
          <a:ln>
            <a:noFill/>
          </a:ln>
        </p:spPr>
        <p:txBody>
          <a:bodyPr spcFirstLastPara="1" wrap="square" lIns="91425" tIns="45700" rIns="91425" bIns="45700" anchor="t" anchorCtr="0">
            <a:spAutoFit/>
          </a:bodyPr>
          <a:lstStyle/>
          <a:p>
            <a:pPr marL="720725" marR="0" lvl="0" indent="-360363" algn="just" rtl="0">
              <a:lnSpc>
                <a:spcPct val="200000"/>
              </a:lnSpc>
              <a:spcBef>
                <a:spcPts val="0"/>
              </a:spcBef>
              <a:spcAft>
                <a:spcPts val="0"/>
              </a:spcAft>
              <a:buClr>
                <a:schemeClr val="dk1"/>
              </a:buClr>
              <a:buSzPts val="2500"/>
              <a:buFont typeface="Noto Sans Symbols"/>
              <a:buChar char="⮚"/>
            </a:pPr>
            <a:r>
              <a:rPr lang="en-IN" sz="2500">
                <a:solidFill>
                  <a:schemeClr val="dk1"/>
                </a:solidFill>
                <a:latin typeface="Times New Roman"/>
                <a:ea typeface="Times New Roman"/>
                <a:cs typeface="Times New Roman"/>
                <a:sym typeface="Times New Roman"/>
              </a:rPr>
              <a:t>Patent application - for an improvement or modification of the invention described or disclosed in main application for which a patent already granted or applied for</a:t>
            </a:r>
            <a:endParaRPr/>
          </a:p>
          <a:p>
            <a:pPr marL="720725" marR="0" lvl="0" indent="-360363" algn="just" rtl="0">
              <a:lnSpc>
                <a:spcPct val="200000"/>
              </a:lnSpc>
              <a:spcBef>
                <a:spcPts val="0"/>
              </a:spcBef>
              <a:spcAft>
                <a:spcPts val="0"/>
              </a:spcAft>
              <a:buClr>
                <a:schemeClr val="dk1"/>
              </a:buClr>
              <a:buSzPts val="2500"/>
              <a:buFont typeface="Noto Sans Symbols"/>
              <a:buChar char="⮚"/>
            </a:pPr>
            <a:r>
              <a:rPr lang="en-IN" sz="2500">
                <a:solidFill>
                  <a:schemeClr val="dk1"/>
                </a:solidFill>
                <a:latin typeface="Times New Roman"/>
                <a:ea typeface="Times New Roman"/>
                <a:cs typeface="Times New Roman"/>
                <a:sym typeface="Times New Roman"/>
              </a:rPr>
              <a:t>No Renewal Fees </a:t>
            </a:r>
            <a:endParaRPr/>
          </a:p>
          <a:p>
            <a:pPr marL="720725" marR="0" lvl="0" indent="-360363" algn="just" rtl="0">
              <a:lnSpc>
                <a:spcPct val="200000"/>
              </a:lnSpc>
              <a:spcBef>
                <a:spcPts val="0"/>
              </a:spcBef>
              <a:spcAft>
                <a:spcPts val="0"/>
              </a:spcAft>
              <a:buClr>
                <a:schemeClr val="dk1"/>
              </a:buClr>
              <a:buSzPts val="2500"/>
              <a:buFont typeface="Noto Sans Symbols"/>
              <a:buChar char="⮚"/>
            </a:pPr>
            <a:r>
              <a:rPr lang="en-IN" sz="2500">
                <a:solidFill>
                  <a:schemeClr val="dk1"/>
                </a:solidFill>
                <a:latin typeface="Times New Roman"/>
                <a:ea typeface="Times New Roman"/>
                <a:cs typeface="Times New Roman"/>
                <a:sym typeface="Times New Roman"/>
              </a:rPr>
              <a:t>Term of Patent expires along with the main Patent</a:t>
            </a:r>
            <a:endParaRPr/>
          </a:p>
        </p:txBody>
      </p:sp>
      <p:sp>
        <p:nvSpPr>
          <p:cNvPr id="239" name="Google Shape;239;p25"/>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Patent of Addition</a:t>
            </a:r>
            <a:endParaRPr/>
          </a:p>
        </p:txBody>
      </p:sp>
    </p:spTree>
  </p:cSld>
  <p:clrMapOvr>
    <a:masterClrMapping/>
  </p:clrMapOvr>
  <p:transition>
    <p:circl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6"/>
          <p:cNvSpPr txBox="1">
            <a:spLocks noGrp="1"/>
          </p:cNvSpPr>
          <p:nvPr>
            <p:ph idx="1"/>
          </p:nvPr>
        </p:nvSpPr>
        <p:spPr>
          <a:xfrm>
            <a:off x="381000" y="1066801"/>
            <a:ext cx="8153400" cy="5257799"/>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400"/>
              <a:buNone/>
            </a:pPr>
            <a:r>
              <a:rPr lang="en-IN" sz="2400">
                <a:latin typeface="Times New Roman"/>
                <a:ea typeface="Times New Roman"/>
                <a:cs typeface="Times New Roman"/>
                <a:sym typeface="Times New Roman"/>
              </a:rPr>
              <a:t>Residents of India require prior permission to apply for patents outside India under following circumstances:</a:t>
            </a:r>
            <a:endParaRPr/>
          </a:p>
          <a:p>
            <a:pPr marL="342900" lvl="0" indent="-342900" algn="l" rtl="0">
              <a:spcBef>
                <a:spcPts val="480"/>
              </a:spcBef>
              <a:spcAft>
                <a:spcPts val="0"/>
              </a:spcAft>
              <a:buClr>
                <a:schemeClr val="dk1"/>
              </a:buClr>
              <a:buSzPts val="2400"/>
              <a:buChar char="•"/>
            </a:pPr>
            <a:r>
              <a:rPr lang="en-IN" sz="2400">
                <a:latin typeface="Times New Roman"/>
                <a:ea typeface="Times New Roman"/>
                <a:cs typeface="Times New Roman"/>
                <a:sym typeface="Times New Roman"/>
              </a:rPr>
              <a:t>The applicant or inventor is Indian resident</a:t>
            </a:r>
            <a:endParaRPr/>
          </a:p>
          <a:p>
            <a:pPr marL="342900" lvl="0" indent="-342900" algn="l" rtl="0">
              <a:spcBef>
                <a:spcPts val="480"/>
              </a:spcBef>
              <a:spcAft>
                <a:spcPts val="0"/>
              </a:spcAft>
              <a:buClr>
                <a:schemeClr val="dk1"/>
              </a:buClr>
              <a:buSzPts val="2400"/>
              <a:buChar char="•"/>
            </a:pPr>
            <a:r>
              <a:rPr lang="en-IN" sz="2400">
                <a:latin typeface="Times New Roman"/>
                <a:ea typeface="Times New Roman"/>
                <a:cs typeface="Times New Roman"/>
                <a:sym typeface="Times New Roman"/>
              </a:rPr>
              <a:t>Applicant does not wish to file patent application in India prior to filing outside India </a:t>
            </a:r>
            <a:endParaRPr/>
          </a:p>
          <a:p>
            <a:pPr marL="342900" lvl="0" indent="-342900" algn="l" rtl="0">
              <a:spcBef>
                <a:spcPts val="480"/>
              </a:spcBef>
              <a:spcAft>
                <a:spcPts val="0"/>
              </a:spcAft>
              <a:buClr>
                <a:schemeClr val="dk1"/>
              </a:buClr>
              <a:buSzPts val="2400"/>
              <a:buChar char="•"/>
            </a:pPr>
            <a:r>
              <a:rPr lang="en-IN" sz="2400">
                <a:latin typeface="Times New Roman"/>
                <a:ea typeface="Times New Roman"/>
                <a:cs typeface="Times New Roman"/>
                <a:sym typeface="Times New Roman"/>
              </a:rPr>
              <a:t>If the applicant is Indian resident, a patent application has been filed in India and </a:t>
            </a:r>
            <a:r>
              <a:rPr lang="en-IN" sz="2400" b="1">
                <a:solidFill>
                  <a:srgbClr val="C00000"/>
                </a:solidFill>
                <a:latin typeface="Times New Roman"/>
                <a:ea typeface="Times New Roman"/>
                <a:cs typeface="Times New Roman"/>
                <a:sym typeface="Times New Roman"/>
              </a:rPr>
              <a:t>six weeks</a:t>
            </a:r>
            <a:r>
              <a:rPr lang="en-IN" sz="2400">
                <a:latin typeface="Times New Roman"/>
                <a:ea typeface="Times New Roman"/>
                <a:cs typeface="Times New Roman"/>
                <a:sym typeface="Times New Roman"/>
              </a:rPr>
              <a:t> period is not yet over from that date </a:t>
            </a:r>
            <a:endParaRPr/>
          </a:p>
          <a:p>
            <a:pPr marL="342900" lvl="0" indent="-342900" algn="l" rtl="0">
              <a:spcBef>
                <a:spcPts val="480"/>
              </a:spcBef>
              <a:spcAft>
                <a:spcPts val="0"/>
              </a:spcAft>
              <a:buClr>
                <a:schemeClr val="dk1"/>
              </a:buClr>
              <a:buSzPts val="2400"/>
              <a:buChar char="•"/>
            </a:pPr>
            <a:r>
              <a:rPr lang="en-IN" sz="2400">
                <a:latin typeface="Times New Roman"/>
                <a:ea typeface="Times New Roman"/>
                <a:cs typeface="Times New Roman"/>
                <a:sym typeface="Times New Roman"/>
              </a:rPr>
              <a:t>The invention relates to atomic energy or defence purpose. However if the invention is relevant for Defence or Atomic Energy purpose, no permission shall be granted without the consent of Central Government.</a:t>
            </a:r>
            <a:endParaRPr/>
          </a:p>
        </p:txBody>
      </p:sp>
      <p:sp>
        <p:nvSpPr>
          <p:cNvPr id="245" name="Google Shape;245;p26"/>
          <p:cNvSpPr txBox="1"/>
          <p:nvPr/>
        </p:nvSpPr>
        <p:spPr>
          <a:xfrm>
            <a:off x="0" y="0"/>
            <a:ext cx="9144000" cy="914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IN" sz="2400" b="1">
                <a:solidFill>
                  <a:schemeClr val="lt1"/>
                </a:solidFill>
                <a:latin typeface="Times New Roman"/>
                <a:ea typeface="Times New Roman"/>
                <a:cs typeface="Times New Roman"/>
                <a:sym typeface="Times New Roman"/>
              </a:rPr>
              <a:t>Residents Not To Apply For Patents Outside India Without Prior Permission</a:t>
            </a:r>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7"/>
          <p:cNvSpPr txBox="1">
            <a:spLocks noGrp="1"/>
          </p:cNvSpPr>
          <p:nvPr>
            <p:ph idx="1"/>
          </p:nvPr>
        </p:nvSpPr>
        <p:spPr>
          <a:xfrm>
            <a:off x="1295400" y="1066801"/>
            <a:ext cx="5486400" cy="5257799"/>
          </a:xfrm>
          <a:prstGeom prst="rect">
            <a:avLst/>
          </a:prstGeom>
          <a:noFill/>
          <a:ln>
            <a:noFill/>
          </a:ln>
        </p:spPr>
        <p:txBody>
          <a:bodyPr spcFirstLastPara="1" wrap="square" lIns="91425" tIns="45700" rIns="91425" bIns="45700" anchor="t" anchorCtr="0">
            <a:noAutofit/>
          </a:bodyPr>
          <a:lstStyle/>
          <a:p>
            <a:pPr marL="342900" lvl="0" indent="-342900" algn="l" rtl="0">
              <a:lnSpc>
                <a:spcPct val="150000"/>
              </a:lnSpc>
              <a:spcBef>
                <a:spcPts val="0"/>
              </a:spcBef>
              <a:spcAft>
                <a:spcPts val="0"/>
              </a:spcAft>
              <a:buClr>
                <a:schemeClr val="dk1"/>
              </a:buClr>
              <a:buSzPts val="2400"/>
              <a:buNone/>
            </a:pPr>
            <a:r>
              <a:rPr lang="en-IN" sz="2400" b="1">
                <a:latin typeface="Times New Roman"/>
                <a:ea typeface="Times New Roman"/>
                <a:cs typeface="Times New Roman"/>
                <a:sym typeface="Times New Roman"/>
              </a:rPr>
              <a:t>Penalties for Non-Compliance :</a:t>
            </a:r>
            <a:endParaRPr/>
          </a:p>
          <a:p>
            <a:pPr marL="531813" lvl="0" indent="-531813" algn="l" rtl="0">
              <a:lnSpc>
                <a:spcPct val="150000"/>
              </a:lnSpc>
              <a:spcBef>
                <a:spcPts val="480"/>
              </a:spcBef>
              <a:spcAft>
                <a:spcPts val="0"/>
              </a:spcAft>
              <a:buClr>
                <a:schemeClr val="dk1"/>
              </a:buClr>
              <a:buSzPts val="2400"/>
              <a:buFont typeface="Noto Sans Symbols"/>
              <a:buChar char="⮚"/>
            </a:pPr>
            <a:r>
              <a:rPr lang="en-IN" sz="2400">
                <a:latin typeface="Times New Roman"/>
                <a:ea typeface="Times New Roman"/>
                <a:cs typeface="Times New Roman"/>
                <a:sym typeface="Times New Roman"/>
              </a:rPr>
              <a:t>Imprisonment for a term up to Two Years </a:t>
            </a:r>
            <a:endParaRPr/>
          </a:p>
          <a:p>
            <a:pPr marL="531813" lvl="0" indent="-531813" algn="l" rtl="0">
              <a:lnSpc>
                <a:spcPct val="150000"/>
              </a:lnSpc>
              <a:spcBef>
                <a:spcPts val="480"/>
              </a:spcBef>
              <a:spcAft>
                <a:spcPts val="0"/>
              </a:spcAft>
              <a:buClr>
                <a:schemeClr val="dk1"/>
              </a:buClr>
              <a:buSzPts val="2400"/>
              <a:buFont typeface="Noto Sans Symbols"/>
              <a:buChar char="⮚"/>
            </a:pPr>
            <a:r>
              <a:rPr lang="en-IN" sz="2400">
                <a:latin typeface="Times New Roman"/>
                <a:ea typeface="Times New Roman"/>
                <a:cs typeface="Times New Roman"/>
                <a:sym typeface="Times New Roman"/>
              </a:rPr>
              <a:t>Fine</a:t>
            </a:r>
            <a:endParaRPr/>
          </a:p>
          <a:p>
            <a:pPr marL="531813" lvl="0" indent="-531813" algn="l" rtl="0">
              <a:lnSpc>
                <a:spcPct val="150000"/>
              </a:lnSpc>
              <a:spcBef>
                <a:spcPts val="480"/>
              </a:spcBef>
              <a:spcAft>
                <a:spcPts val="0"/>
              </a:spcAft>
              <a:buClr>
                <a:schemeClr val="dk1"/>
              </a:buClr>
              <a:buSzPts val="2400"/>
              <a:buFont typeface="Noto Sans Symbols"/>
              <a:buChar char="⮚"/>
            </a:pPr>
            <a:r>
              <a:rPr lang="en-IN" sz="2400">
                <a:latin typeface="Times New Roman"/>
                <a:ea typeface="Times New Roman"/>
                <a:cs typeface="Times New Roman"/>
                <a:sym typeface="Times New Roman"/>
              </a:rPr>
              <a:t>Both Imprisonment and Fine</a:t>
            </a:r>
            <a:endParaRPr sz="2400">
              <a:latin typeface="Times New Roman"/>
              <a:ea typeface="Times New Roman"/>
              <a:cs typeface="Times New Roman"/>
              <a:sym typeface="Times New Roman"/>
            </a:endParaRPr>
          </a:p>
          <a:p>
            <a:pPr marL="531813" lvl="0" indent="-531813" algn="l" rtl="0">
              <a:lnSpc>
                <a:spcPct val="150000"/>
              </a:lnSpc>
              <a:spcBef>
                <a:spcPts val="480"/>
              </a:spcBef>
              <a:spcAft>
                <a:spcPts val="0"/>
              </a:spcAft>
              <a:buClr>
                <a:schemeClr val="dk1"/>
              </a:buClr>
              <a:buSzPts val="2400"/>
              <a:buFont typeface="Noto Sans Symbols"/>
              <a:buChar char="⮚"/>
            </a:pPr>
            <a:r>
              <a:rPr lang="en-IN" sz="2400">
                <a:latin typeface="Times New Roman"/>
                <a:ea typeface="Times New Roman"/>
                <a:cs typeface="Times New Roman"/>
                <a:sym typeface="Times New Roman"/>
              </a:rPr>
              <a:t>Abandonment of Indian Patent Application</a:t>
            </a:r>
            <a:endParaRPr/>
          </a:p>
          <a:p>
            <a:pPr marL="531813" lvl="0" indent="-531813" algn="l" rtl="0">
              <a:lnSpc>
                <a:spcPct val="150000"/>
              </a:lnSpc>
              <a:spcBef>
                <a:spcPts val="480"/>
              </a:spcBef>
              <a:spcAft>
                <a:spcPts val="0"/>
              </a:spcAft>
              <a:buClr>
                <a:schemeClr val="dk1"/>
              </a:buClr>
              <a:buSzPts val="2400"/>
              <a:buFont typeface="Noto Sans Symbols"/>
              <a:buChar char="⮚"/>
            </a:pPr>
            <a:r>
              <a:rPr lang="en-IN" sz="2400">
                <a:latin typeface="Times New Roman"/>
                <a:ea typeface="Times New Roman"/>
                <a:cs typeface="Times New Roman"/>
                <a:sym typeface="Times New Roman"/>
              </a:rPr>
              <a:t>Revocation of Indian Patent Grant</a:t>
            </a:r>
            <a:endParaRPr/>
          </a:p>
        </p:txBody>
      </p:sp>
      <p:sp>
        <p:nvSpPr>
          <p:cNvPr id="251" name="Google Shape;251;p27"/>
          <p:cNvSpPr txBox="1"/>
          <p:nvPr/>
        </p:nvSpPr>
        <p:spPr>
          <a:xfrm>
            <a:off x="0" y="0"/>
            <a:ext cx="9144000" cy="914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IN" sz="2400" b="1">
                <a:solidFill>
                  <a:schemeClr val="lt1"/>
                </a:solidFill>
                <a:latin typeface="Times New Roman"/>
                <a:ea typeface="Times New Roman"/>
                <a:cs typeface="Times New Roman"/>
                <a:sym typeface="Times New Roman"/>
              </a:rPr>
              <a:t>Residents Not To Apply For Patents Outside India Without Prior Permission</a:t>
            </a:r>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8"/>
          <p:cNvSpPr txBox="1">
            <a:spLocks noGrp="1"/>
          </p:cNvSpPr>
          <p:nvPr>
            <p:ph idx="1"/>
          </p:nvPr>
        </p:nvSpPr>
        <p:spPr>
          <a:xfrm>
            <a:off x="1447800" y="2362200"/>
            <a:ext cx="6477000" cy="12192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IN"/>
              <a:t>An application for patent can be filed either in </a:t>
            </a:r>
            <a:r>
              <a:rPr lang="en-IN">
                <a:solidFill>
                  <a:srgbClr val="FF0000"/>
                </a:solidFill>
              </a:rPr>
              <a:t>Hindi </a:t>
            </a:r>
            <a:r>
              <a:rPr lang="en-IN"/>
              <a:t>or </a:t>
            </a:r>
            <a:r>
              <a:rPr lang="en-IN">
                <a:solidFill>
                  <a:srgbClr val="FF0000"/>
                </a:solidFill>
              </a:rPr>
              <a:t>English</a:t>
            </a:r>
            <a:endParaRPr/>
          </a:p>
        </p:txBody>
      </p:sp>
      <p:sp>
        <p:nvSpPr>
          <p:cNvPr id="257" name="Google Shape;257;p28"/>
          <p:cNvSpPr txBox="1"/>
          <p:nvPr/>
        </p:nvSpPr>
        <p:spPr>
          <a:xfrm>
            <a:off x="0" y="0"/>
            <a:ext cx="9144000" cy="1143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In which language can an application for patent be filed with the Indian Patent Office?</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29"/>
          <p:cNvSpPr txBox="1"/>
          <p:nvPr/>
        </p:nvSpPr>
        <p:spPr>
          <a:xfrm>
            <a:off x="381000" y="838201"/>
            <a:ext cx="8534400" cy="5632311"/>
          </a:xfrm>
          <a:prstGeom prst="rect">
            <a:avLst/>
          </a:prstGeom>
          <a:noFill/>
          <a:ln>
            <a:noFill/>
          </a:ln>
        </p:spPr>
        <p:txBody>
          <a:bodyPr spcFirstLastPara="1" wrap="square" lIns="91425" tIns="45700" rIns="91425" bIns="45700" anchor="t" anchorCtr="0">
            <a:spAutoFit/>
          </a:bodyPr>
          <a:lstStyle/>
          <a:p>
            <a:pPr marL="720725" marR="0" lvl="0" indent="-720725" algn="l" rtl="0">
              <a:lnSpc>
                <a:spcPct val="15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Patent protection is Territorial Right </a:t>
            </a:r>
            <a:endParaRPr/>
          </a:p>
          <a:p>
            <a:pPr marL="720725" marR="0" lvl="0" indent="-568325"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a:p>
            <a:pPr marL="720725" marR="0" lvl="0" indent="-720725" algn="l" rtl="0">
              <a:lnSpc>
                <a:spcPct val="15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Obtain patent in each country where you want to protect your invention. </a:t>
            </a:r>
            <a:endParaRPr/>
          </a:p>
          <a:p>
            <a:pPr marL="720725" marR="0" lvl="0" indent="-568325"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a:p>
            <a:pPr marL="720725" marR="0" lvl="0" indent="-720725" algn="l" rtl="0">
              <a:lnSpc>
                <a:spcPct val="15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There is no Patent Valid Worldwide</a:t>
            </a:r>
            <a:endParaRPr/>
          </a:p>
          <a:p>
            <a:pPr marL="720725" marR="0" lvl="0" indent="-568325" algn="l" rtl="0">
              <a:lnSpc>
                <a:spcPct val="150000"/>
              </a:lnSpc>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a:p>
            <a:pPr marL="720725" marR="0" lvl="0" indent="-720725" algn="l" rtl="0">
              <a:lnSpc>
                <a:spcPct val="15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Paris Convention ~177 Countries</a:t>
            </a:r>
            <a:endParaRPr/>
          </a:p>
          <a:p>
            <a:pPr marL="720725" marR="0" lvl="0" indent="-568325" algn="l"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a:p>
            <a:pPr marL="720725" marR="0" lvl="0" indent="-720725" algn="l" rtl="0">
              <a:lnSpc>
                <a:spcPct val="15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Patent Cooperation Treaty (PCT) ~  International Patent System - 152 Countries</a:t>
            </a:r>
            <a:endParaRPr/>
          </a:p>
        </p:txBody>
      </p:sp>
      <p:sp>
        <p:nvSpPr>
          <p:cNvPr id="263" name="Google Shape;263;p29"/>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Foreign Patent Filing</a:t>
            </a:r>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pic>
        <p:nvPicPr>
          <p:cNvPr id="268" name="Google Shape;268;p30" descr="C:\Users\Sailaja\Documents\Sailaja_Feb 2 2015\Files\IPR\sAILAJA\paris_pct.gif"/>
          <p:cNvPicPr preferRelativeResize="0"/>
          <p:nvPr/>
        </p:nvPicPr>
        <p:blipFill rotWithShape="1">
          <a:blip r:embed="rId3">
            <a:alphaModFix/>
          </a:blip>
          <a:srcRect/>
          <a:stretch/>
        </p:blipFill>
        <p:spPr>
          <a:xfrm>
            <a:off x="228600" y="914400"/>
            <a:ext cx="8551951" cy="5791200"/>
          </a:xfrm>
          <a:prstGeom prst="rect">
            <a:avLst/>
          </a:prstGeom>
          <a:noFill/>
          <a:ln>
            <a:noFill/>
          </a:ln>
        </p:spPr>
      </p:pic>
      <p:sp>
        <p:nvSpPr>
          <p:cNvPr id="269" name="Google Shape;269;p30"/>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Foreign Patent Filing</a:t>
            </a:r>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1"/>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Term of Patent</a:t>
            </a:r>
            <a:endParaRPr sz="2000" b="0" i="0" u="none" strike="noStrike" cap="none">
              <a:solidFill>
                <a:schemeClr val="dk1"/>
              </a:solidFill>
              <a:latin typeface="Times New Roman"/>
              <a:ea typeface="Times New Roman"/>
              <a:cs typeface="Times New Roman"/>
              <a:sym typeface="Times New Roman"/>
            </a:endParaRPr>
          </a:p>
        </p:txBody>
      </p:sp>
      <p:sp>
        <p:nvSpPr>
          <p:cNvPr id="275" name="Google Shape;275;p31"/>
          <p:cNvSpPr/>
          <p:nvPr/>
        </p:nvSpPr>
        <p:spPr>
          <a:xfrm>
            <a:off x="152400" y="1219200"/>
            <a:ext cx="8229600" cy="3822328"/>
          </a:xfrm>
          <a:prstGeom prst="rect">
            <a:avLst/>
          </a:prstGeom>
          <a:noFill/>
          <a:ln>
            <a:noFill/>
          </a:ln>
        </p:spPr>
        <p:txBody>
          <a:bodyPr spcFirstLastPara="1" wrap="square" lIns="91425" tIns="45700" rIns="91425" bIns="45700" anchor="t" anchorCtr="0">
            <a:spAutoFit/>
          </a:bodyPr>
          <a:lstStyle/>
          <a:p>
            <a:pPr marL="720725" marR="0" lvl="0" indent="-360363" algn="just" rtl="0">
              <a:lnSpc>
                <a:spcPct val="200000"/>
              </a:lnSpc>
              <a:spcBef>
                <a:spcPts val="0"/>
              </a:spcBef>
              <a:spcAft>
                <a:spcPts val="0"/>
              </a:spcAft>
              <a:buClr>
                <a:schemeClr val="dk1"/>
              </a:buClr>
              <a:buSzPts val="2500"/>
              <a:buFont typeface="Noto Sans Symbols"/>
              <a:buChar char="⮚"/>
            </a:pPr>
            <a:r>
              <a:rPr lang="en-IN" sz="2500">
                <a:solidFill>
                  <a:schemeClr val="dk1"/>
                </a:solidFill>
                <a:latin typeface="Times New Roman"/>
                <a:ea typeface="Times New Roman"/>
                <a:cs typeface="Times New Roman"/>
                <a:sym typeface="Times New Roman"/>
              </a:rPr>
              <a:t>The term of Patent is </a:t>
            </a:r>
            <a:r>
              <a:rPr lang="en-IN" sz="2500" b="1">
                <a:solidFill>
                  <a:srgbClr val="FF0000"/>
                </a:solidFill>
                <a:latin typeface="Times New Roman"/>
                <a:ea typeface="Times New Roman"/>
                <a:cs typeface="Times New Roman"/>
                <a:sym typeface="Times New Roman"/>
              </a:rPr>
              <a:t>20 years </a:t>
            </a:r>
            <a:r>
              <a:rPr lang="en-IN" sz="2500">
                <a:solidFill>
                  <a:schemeClr val="dk1"/>
                </a:solidFill>
                <a:latin typeface="Times New Roman"/>
                <a:ea typeface="Times New Roman"/>
                <a:cs typeface="Times New Roman"/>
                <a:sym typeface="Times New Roman"/>
              </a:rPr>
              <a:t>from the </a:t>
            </a:r>
            <a:r>
              <a:rPr lang="en-IN" sz="2500" b="1">
                <a:solidFill>
                  <a:srgbClr val="FF0000"/>
                </a:solidFill>
                <a:latin typeface="Times New Roman"/>
                <a:ea typeface="Times New Roman"/>
                <a:cs typeface="Times New Roman"/>
                <a:sym typeface="Times New Roman"/>
              </a:rPr>
              <a:t>date of filing </a:t>
            </a:r>
            <a:r>
              <a:rPr lang="en-IN" sz="2500">
                <a:solidFill>
                  <a:schemeClr val="dk1"/>
                </a:solidFill>
                <a:latin typeface="Times New Roman"/>
                <a:ea typeface="Times New Roman"/>
                <a:cs typeface="Times New Roman"/>
                <a:sym typeface="Times New Roman"/>
              </a:rPr>
              <a:t>of application </a:t>
            </a:r>
            <a:endParaRPr/>
          </a:p>
          <a:p>
            <a:pPr marL="720725" marR="0" lvl="0" indent="-360363" algn="just" rtl="0">
              <a:lnSpc>
                <a:spcPct val="200000"/>
              </a:lnSpc>
              <a:spcBef>
                <a:spcPts val="0"/>
              </a:spcBef>
              <a:spcAft>
                <a:spcPts val="0"/>
              </a:spcAft>
              <a:buClr>
                <a:schemeClr val="dk1"/>
              </a:buClr>
              <a:buSzPts val="2500"/>
              <a:buFont typeface="Noto Sans Symbols"/>
              <a:buChar char="⮚"/>
            </a:pPr>
            <a:r>
              <a:rPr lang="en-IN" sz="2500">
                <a:solidFill>
                  <a:schemeClr val="dk1"/>
                </a:solidFill>
                <a:latin typeface="Times New Roman"/>
                <a:ea typeface="Times New Roman"/>
                <a:cs typeface="Times New Roman"/>
                <a:sym typeface="Times New Roman"/>
              </a:rPr>
              <a:t> For application filed under national phase under Patent Cooperation Treaty(PCT), the term of patent will be 20 years from the </a:t>
            </a:r>
            <a:r>
              <a:rPr lang="en-IN" sz="2500" b="1">
                <a:solidFill>
                  <a:srgbClr val="FF0000"/>
                </a:solidFill>
                <a:latin typeface="Times New Roman"/>
                <a:ea typeface="Times New Roman"/>
                <a:cs typeface="Times New Roman"/>
                <a:sym typeface="Times New Roman"/>
              </a:rPr>
              <a:t>International filing date</a:t>
            </a:r>
            <a:r>
              <a:rPr lang="en-IN" sz="2500">
                <a:solidFill>
                  <a:schemeClr val="dk1"/>
                </a:solidFill>
                <a:latin typeface="Times New Roman"/>
                <a:ea typeface="Times New Roman"/>
                <a:cs typeface="Times New Roman"/>
                <a:sym typeface="Times New Roman"/>
              </a:rPr>
              <a:t>.</a:t>
            </a:r>
            <a:endParaRPr/>
          </a:p>
        </p:txBody>
      </p:sp>
    </p:spTree>
  </p:cSld>
  <p:clrMapOvr>
    <a:masterClrMapping/>
  </p:clrMapOvr>
  <p:transition>
    <p:split dir="in"/>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4"/>
          <p:cNvSpPr/>
          <p:nvPr/>
        </p:nvSpPr>
        <p:spPr>
          <a:xfrm>
            <a:off x="533400" y="1066800"/>
            <a:ext cx="8229600" cy="3124200"/>
          </a:xfrm>
          <a:prstGeom prst="horizontalScroll">
            <a:avLst>
              <a:gd name="adj" fmla="val 12500"/>
            </a:avLst>
          </a:prstGeom>
          <a:solidFill>
            <a:srgbClr val="089CA2"/>
          </a:solidFill>
          <a:ln w="57150"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8800" b="1" i="1">
                <a:solidFill>
                  <a:schemeClr val="lt1"/>
                </a:solidFill>
                <a:latin typeface="Ruge Boogie"/>
                <a:ea typeface="Ruge Boogie"/>
                <a:cs typeface="Ruge Boogie"/>
                <a:sym typeface="Ruge Boogie"/>
              </a:rPr>
              <a:t>Trademarks</a:t>
            </a:r>
            <a:endParaRPr/>
          </a:p>
        </p:txBody>
      </p:sp>
    </p:spTree>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5"/>
          <p:cNvSpPr/>
          <p:nvPr/>
        </p:nvSpPr>
        <p:spPr>
          <a:xfrm>
            <a:off x="609600" y="609600"/>
            <a:ext cx="7924800" cy="563231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a:solidFill>
                  <a:schemeClr val="dk1"/>
                </a:solidFill>
                <a:latin typeface="Times New Roman"/>
                <a:ea typeface="Times New Roman"/>
                <a:cs typeface="Times New Roman"/>
                <a:sym typeface="Times New Roman"/>
              </a:rPr>
              <a:t>A Trademark (popularly known as brand name) is a visual symbol </a:t>
            </a:r>
            <a:endParaRPr/>
          </a:p>
          <a:p>
            <a:pPr marL="360363" marR="0" lvl="0" indent="-360363" algn="just" rtl="0">
              <a:lnSpc>
                <a:spcPct val="150000"/>
              </a:lnSpc>
              <a:spcBef>
                <a:spcPts val="0"/>
              </a:spcBef>
              <a:spcAft>
                <a:spcPts val="0"/>
              </a:spcAft>
              <a:buNone/>
            </a:pPr>
            <a:r>
              <a:rPr lang="en-IN" sz="2400">
                <a:solidFill>
                  <a:schemeClr val="dk1"/>
                </a:solidFill>
                <a:latin typeface="Times New Roman"/>
                <a:ea typeface="Times New Roman"/>
                <a:cs typeface="Times New Roman"/>
                <a:sym typeface="Times New Roman"/>
              </a:rPr>
              <a:t>- which may be a name, device, word, signature, label, numeral, shape of goods, packaging or combination of colours or any combination </a:t>
            </a:r>
            <a:endParaRPr/>
          </a:p>
          <a:p>
            <a:pPr marL="360363" marR="0" lvl="0" indent="-360363" algn="just" rtl="0">
              <a:lnSpc>
                <a:spcPct val="150000"/>
              </a:lnSpc>
              <a:spcBef>
                <a:spcPts val="0"/>
              </a:spcBef>
              <a:spcAft>
                <a:spcPts val="0"/>
              </a:spcAft>
              <a:buNone/>
            </a:pPr>
            <a:r>
              <a:rPr lang="en-IN" sz="2400">
                <a:solidFill>
                  <a:schemeClr val="dk1"/>
                </a:solidFill>
                <a:latin typeface="Times New Roman"/>
                <a:ea typeface="Times New Roman"/>
                <a:cs typeface="Times New Roman"/>
                <a:sym typeface="Times New Roman"/>
              </a:rPr>
              <a:t>-  used by one undertaking on goods or services or other articles of commerce to </a:t>
            </a:r>
            <a:r>
              <a:rPr lang="en-IN" sz="2800" b="1" i="1">
                <a:solidFill>
                  <a:srgbClr val="FF0000"/>
                </a:solidFill>
                <a:latin typeface="Arial"/>
                <a:ea typeface="Arial"/>
                <a:cs typeface="Arial"/>
                <a:sym typeface="Arial"/>
              </a:rPr>
              <a:t>distinguish</a:t>
            </a:r>
            <a:r>
              <a:rPr lang="en-IN" sz="2400">
                <a:solidFill>
                  <a:schemeClr val="dk1"/>
                </a:solidFill>
                <a:latin typeface="Times New Roman"/>
                <a:ea typeface="Times New Roman"/>
                <a:cs typeface="Times New Roman"/>
                <a:sym typeface="Times New Roman"/>
              </a:rPr>
              <a:t> it from other similar goods or services originating from a different undertaking.</a:t>
            </a:r>
            <a:endParaRPr/>
          </a:p>
          <a:p>
            <a:pPr marL="0" marR="0" lvl="0" indent="0" algn="just" rtl="0">
              <a:lnSpc>
                <a:spcPct val="150000"/>
              </a:lnSpc>
              <a:spcBef>
                <a:spcPts val="0"/>
              </a:spcBef>
              <a:spcAft>
                <a:spcPts val="0"/>
              </a:spcAft>
              <a:buNone/>
            </a:pPr>
            <a:r>
              <a:rPr lang="en-IN"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p:txBody>
      </p:sp>
      <p:sp>
        <p:nvSpPr>
          <p:cNvPr id="298" name="Google Shape;298;p35"/>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Trade Marks</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6"/>
          <p:cNvSpPr/>
          <p:nvPr/>
        </p:nvSpPr>
        <p:spPr>
          <a:xfrm>
            <a:off x="457200" y="761999"/>
            <a:ext cx="8467725"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b="1" dirty="0">
              <a:solidFill>
                <a:srgbClr val="003D7A"/>
              </a:solidFill>
              <a:latin typeface="Calibri"/>
              <a:ea typeface="Calibri"/>
              <a:cs typeface="Calibri"/>
              <a:sym typeface="Calibri"/>
            </a:endParaRPr>
          </a:p>
          <a:p>
            <a:pPr marL="0" marR="0" lvl="0" indent="0" algn="l" rtl="0">
              <a:spcBef>
                <a:spcPts val="0"/>
              </a:spcBef>
              <a:spcAft>
                <a:spcPts val="0"/>
              </a:spcAft>
              <a:buNone/>
            </a:pPr>
            <a:r>
              <a:rPr lang="en-IN" sz="2800" b="1" dirty="0">
                <a:solidFill>
                  <a:srgbClr val="003D7A"/>
                </a:solidFill>
                <a:latin typeface="Calibri"/>
                <a:ea typeface="Calibri"/>
                <a:cs typeface="Calibri"/>
                <a:sym typeface="Calibri"/>
              </a:rPr>
              <a:t>WORD</a:t>
            </a:r>
            <a:r>
              <a:rPr lang="en-IN" sz="2000" b="1" dirty="0">
                <a:solidFill>
                  <a:srgbClr val="003D7A"/>
                </a:solidFill>
                <a:latin typeface="Calibri"/>
                <a:ea typeface="Calibri"/>
                <a:cs typeface="Calibri"/>
                <a:sym typeface="Calibri"/>
              </a:rPr>
              <a:t>           -       JAVA  / MICROSOFT </a:t>
            </a:r>
            <a:endParaRPr dirty="0"/>
          </a:p>
          <a:p>
            <a:pPr marL="0" marR="0" lvl="0" indent="0" algn="l" rtl="0">
              <a:spcBef>
                <a:spcPts val="0"/>
              </a:spcBef>
              <a:spcAft>
                <a:spcPts val="0"/>
              </a:spcAft>
              <a:buNone/>
            </a:pPr>
            <a:endParaRPr sz="2000" b="1" dirty="0">
              <a:solidFill>
                <a:srgbClr val="003D7A"/>
              </a:solidFill>
              <a:latin typeface="Calibri"/>
              <a:ea typeface="Calibri"/>
              <a:cs typeface="Calibri"/>
              <a:sym typeface="Calibri"/>
            </a:endParaRPr>
          </a:p>
          <a:p>
            <a:pPr marL="0" marR="0" lvl="0" indent="0" algn="l" rtl="0">
              <a:spcBef>
                <a:spcPts val="0"/>
              </a:spcBef>
              <a:spcAft>
                <a:spcPts val="0"/>
              </a:spcAft>
              <a:buNone/>
            </a:pPr>
            <a:endParaRPr sz="2000" b="1" dirty="0">
              <a:solidFill>
                <a:srgbClr val="003D7A"/>
              </a:solidFill>
              <a:latin typeface="Calibri"/>
              <a:ea typeface="Calibri"/>
              <a:cs typeface="Calibri"/>
              <a:sym typeface="Calibri"/>
            </a:endParaRPr>
          </a:p>
          <a:p>
            <a:pPr marL="0" marR="0" lvl="0" indent="0" algn="l" rtl="0">
              <a:spcBef>
                <a:spcPts val="0"/>
              </a:spcBef>
              <a:spcAft>
                <a:spcPts val="0"/>
              </a:spcAft>
              <a:buNone/>
            </a:pPr>
            <a:endParaRPr sz="2000" b="1" dirty="0">
              <a:solidFill>
                <a:srgbClr val="003D7A"/>
              </a:solidFill>
              <a:latin typeface="Calibri"/>
              <a:ea typeface="Calibri"/>
              <a:cs typeface="Calibri"/>
              <a:sym typeface="Calibri"/>
            </a:endParaRPr>
          </a:p>
          <a:p>
            <a:pPr marL="0" marR="0" lvl="0" indent="0" algn="l" rtl="0">
              <a:spcBef>
                <a:spcPts val="0"/>
              </a:spcBef>
              <a:spcAft>
                <a:spcPts val="0"/>
              </a:spcAft>
              <a:buNone/>
            </a:pPr>
            <a:r>
              <a:rPr lang="en-IN" sz="2800" b="1" dirty="0">
                <a:solidFill>
                  <a:srgbClr val="003D7A"/>
                </a:solidFill>
                <a:latin typeface="Calibri"/>
                <a:ea typeface="Calibri"/>
                <a:cs typeface="Calibri"/>
                <a:sym typeface="Calibri"/>
              </a:rPr>
              <a:t>LOGO  </a:t>
            </a:r>
            <a:r>
              <a:rPr lang="en-IN" sz="2000" b="1" dirty="0">
                <a:solidFill>
                  <a:srgbClr val="003D7A"/>
                </a:solidFill>
                <a:latin typeface="Calibri"/>
                <a:ea typeface="Calibri"/>
                <a:cs typeface="Calibri"/>
                <a:sym typeface="Calibri"/>
              </a:rPr>
              <a:t>          -</a:t>
            </a:r>
            <a:endParaRPr dirty="0"/>
          </a:p>
          <a:p>
            <a:pPr marL="0" marR="0" lvl="0" indent="0" algn="l" rtl="0">
              <a:spcBef>
                <a:spcPts val="0"/>
              </a:spcBef>
              <a:spcAft>
                <a:spcPts val="0"/>
              </a:spcAft>
              <a:buNone/>
            </a:pPr>
            <a:endParaRPr sz="2000" b="1" dirty="0">
              <a:solidFill>
                <a:srgbClr val="003D7A"/>
              </a:solidFill>
              <a:latin typeface="Calibri"/>
              <a:ea typeface="Calibri"/>
              <a:cs typeface="Calibri"/>
              <a:sym typeface="Calibri"/>
            </a:endParaRPr>
          </a:p>
          <a:p>
            <a:pPr marL="0" marR="0" lvl="0" indent="0" algn="l" rtl="0">
              <a:spcBef>
                <a:spcPts val="0"/>
              </a:spcBef>
              <a:spcAft>
                <a:spcPts val="0"/>
              </a:spcAft>
              <a:buNone/>
            </a:pPr>
            <a:endParaRPr sz="2000" b="1" dirty="0">
              <a:solidFill>
                <a:srgbClr val="003D7A"/>
              </a:solidFill>
              <a:latin typeface="Calibri"/>
              <a:ea typeface="Calibri"/>
              <a:cs typeface="Calibri"/>
              <a:sym typeface="Calibri"/>
            </a:endParaRPr>
          </a:p>
          <a:p>
            <a:pPr marL="0" marR="0" lvl="0" indent="0" algn="l" rtl="0">
              <a:spcBef>
                <a:spcPts val="0"/>
              </a:spcBef>
              <a:spcAft>
                <a:spcPts val="0"/>
              </a:spcAft>
              <a:buNone/>
            </a:pPr>
            <a:r>
              <a:rPr lang="en-IN" sz="2000" b="1" dirty="0">
                <a:solidFill>
                  <a:srgbClr val="003D7A"/>
                </a:solidFill>
                <a:latin typeface="Calibri"/>
                <a:ea typeface="Calibri"/>
                <a:cs typeface="Calibri"/>
                <a:sym typeface="Calibri"/>
              </a:rPr>
              <a:t>  </a:t>
            </a:r>
            <a:endParaRPr dirty="0"/>
          </a:p>
          <a:p>
            <a:pPr marL="0" marR="0" lvl="0" indent="0" algn="l" rtl="0">
              <a:spcBef>
                <a:spcPts val="0"/>
              </a:spcBef>
              <a:spcAft>
                <a:spcPts val="0"/>
              </a:spcAft>
              <a:buNone/>
            </a:pPr>
            <a:endParaRPr sz="2000" b="1" dirty="0">
              <a:solidFill>
                <a:srgbClr val="003D7A"/>
              </a:solidFill>
              <a:latin typeface="Calibri"/>
              <a:ea typeface="Calibri"/>
              <a:cs typeface="Calibri"/>
              <a:sym typeface="Calibri"/>
            </a:endParaRPr>
          </a:p>
          <a:p>
            <a:pPr marL="0" marR="0" lvl="0" indent="0" algn="l" rtl="0">
              <a:spcBef>
                <a:spcPts val="0"/>
              </a:spcBef>
              <a:spcAft>
                <a:spcPts val="0"/>
              </a:spcAft>
              <a:buNone/>
            </a:pPr>
            <a:endParaRPr sz="2000" b="1" dirty="0">
              <a:solidFill>
                <a:srgbClr val="003D7A"/>
              </a:solidFill>
              <a:latin typeface="Calibri"/>
              <a:ea typeface="Calibri"/>
              <a:cs typeface="Calibri"/>
              <a:sym typeface="Calibri"/>
            </a:endParaRPr>
          </a:p>
          <a:p>
            <a:pPr marL="0" marR="0" lvl="0" indent="0" algn="l" rtl="0">
              <a:spcBef>
                <a:spcPts val="0"/>
              </a:spcBef>
              <a:spcAft>
                <a:spcPts val="0"/>
              </a:spcAft>
              <a:buNone/>
            </a:pPr>
            <a:r>
              <a:rPr lang="en-IN" sz="2000" b="1" dirty="0">
                <a:solidFill>
                  <a:srgbClr val="003D7A"/>
                </a:solidFill>
                <a:latin typeface="Calibri"/>
                <a:ea typeface="Calibri"/>
                <a:cs typeface="Calibri"/>
                <a:sym typeface="Calibri"/>
              </a:rPr>
              <a:t>        </a:t>
            </a:r>
            <a:endParaRPr dirty="0"/>
          </a:p>
          <a:p>
            <a:pPr marL="0" marR="0" lvl="0" indent="0" algn="l" rtl="0">
              <a:spcBef>
                <a:spcPts val="0"/>
              </a:spcBef>
              <a:spcAft>
                <a:spcPts val="0"/>
              </a:spcAft>
              <a:buNone/>
            </a:pPr>
            <a:r>
              <a:rPr lang="en-IN" sz="3200" b="1" dirty="0">
                <a:solidFill>
                  <a:srgbClr val="003D7A"/>
                </a:solidFill>
                <a:latin typeface="Calibri"/>
                <a:ea typeface="Calibri"/>
                <a:cs typeface="Calibri"/>
                <a:sym typeface="Calibri"/>
              </a:rPr>
              <a:t>     </a:t>
            </a:r>
            <a:endParaRPr dirty="0"/>
          </a:p>
        </p:txBody>
      </p:sp>
      <p:pic>
        <p:nvPicPr>
          <p:cNvPr id="304" name="Google Shape;304;p36" descr="C:\Users\Sailaja\Documents\Sailaja_Feb 2 2015\Files\IPR\sAILAJA\peacock.jpg"/>
          <p:cNvPicPr preferRelativeResize="0"/>
          <p:nvPr/>
        </p:nvPicPr>
        <p:blipFill rotWithShape="1">
          <a:blip r:embed="rId3">
            <a:alphaModFix/>
          </a:blip>
          <a:srcRect/>
          <a:stretch/>
        </p:blipFill>
        <p:spPr>
          <a:xfrm>
            <a:off x="4191000" y="4114800"/>
            <a:ext cx="3890761" cy="1752600"/>
          </a:xfrm>
          <a:prstGeom prst="rect">
            <a:avLst/>
          </a:prstGeom>
          <a:noFill/>
          <a:ln>
            <a:noFill/>
          </a:ln>
        </p:spPr>
      </p:pic>
      <p:pic>
        <p:nvPicPr>
          <p:cNvPr id="305" name="Google Shape;305;p36" descr="Apple"/>
          <p:cNvPicPr preferRelativeResize="0"/>
          <p:nvPr/>
        </p:nvPicPr>
        <p:blipFill rotWithShape="1">
          <a:blip r:embed="rId4">
            <a:alphaModFix/>
          </a:blip>
          <a:srcRect/>
          <a:stretch/>
        </p:blipFill>
        <p:spPr>
          <a:xfrm>
            <a:off x="762000" y="3429000"/>
            <a:ext cx="2209800" cy="2788558"/>
          </a:xfrm>
          <a:prstGeom prst="rect">
            <a:avLst/>
          </a:prstGeom>
          <a:noFill/>
          <a:ln>
            <a:noFill/>
          </a:ln>
        </p:spPr>
      </p:pic>
      <p:sp>
        <p:nvSpPr>
          <p:cNvPr id="306" name="Google Shape;306;p36"/>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fontScale="92500"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Examples </a:t>
            </a:r>
            <a:endParaRPr sz="2600">
              <a:solidFill>
                <a:srgbClr val="000000"/>
              </a:solidFill>
              <a:latin typeface="Times New Roman"/>
              <a:ea typeface="Times New Roman"/>
              <a:cs typeface="Times New Roman"/>
              <a:sym typeface="Times New Roman"/>
            </a:endParaRPr>
          </a:p>
        </p:txBody>
      </p:sp>
      <p:sp>
        <p:nvSpPr>
          <p:cNvPr id="307" name="Google Shape;307;p36"/>
          <p:cNvSpPr/>
          <p:nvPr/>
        </p:nvSpPr>
        <p:spPr>
          <a:xfrm>
            <a:off x="4343400" y="6015335"/>
            <a:ext cx="4191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b="1">
                <a:solidFill>
                  <a:srgbClr val="003D7A"/>
                </a:solidFill>
                <a:latin typeface="Calibri"/>
                <a:ea typeface="Calibri"/>
                <a:cs typeface="Calibri"/>
                <a:sym typeface="Calibri"/>
              </a:rPr>
              <a:t>NBC's peacock style design</a:t>
            </a:r>
            <a:endParaRPr sz="2400" b="1">
              <a:solidFill>
                <a:srgbClr val="003D7A"/>
              </a:solidFill>
              <a:latin typeface="Calibri"/>
              <a:ea typeface="Calibri"/>
              <a:cs typeface="Calibri"/>
              <a:sym typeface="Calibri"/>
            </a:endParaRPr>
          </a:p>
        </p:txBody>
      </p:sp>
      <p:pic>
        <p:nvPicPr>
          <p:cNvPr id="308" name="Google Shape;308;p36" descr="C:\Users\Vijay\Documents\Study Material\2016_IPR\IPR_GOV\Trademark\download (1).jpg"/>
          <p:cNvPicPr preferRelativeResize="0"/>
          <p:nvPr/>
        </p:nvPicPr>
        <p:blipFill rotWithShape="1">
          <a:blip r:embed="rId5">
            <a:alphaModFix/>
          </a:blip>
          <a:srcRect/>
          <a:stretch/>
        </p:blipFill>
        <p:spPr>
          <a:xfrm>
            <a:off x="3733800" y="2057400"/>
            <a:ext cx="4419600" cy="1599587"/>
          </a:xfrm>
          <a:prstGeom prst="rect">
            <a:avLst/>
          </a:prstGeom>
          <a:noFill/>
          <a:ln>
            <a:noFill/>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7"/>
          <p:cNvSpPr/>
          <p:nvPr/>
        </p:nvSpPr>
        <p:spPr>
          <a:xfrm>
            <a:off x="914400" y="1143000"/>
            <a:ext cx="8001000"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1">
              <a:solidFill>
                <a:srgbClr val="003D7A"/>
              </a:solidFill>
              <a:latin typeface="Calibri"/>
              <a:ea typeface="Calibri"/>
              <a:cs typeface="Calibri"/>
              <a:sym typeface="Calibri"/>
            </a:endParaRPr>
          </a:p>
          <a:p>
            <a:pPr marL="0" marR="0" lvl="0" indent="0" algn="l" rtl="0">
              <a:spcBef>
                <a:spcPts val="900"/>
              </a:spcBef>
              <a:spcAft>
                <a:spcPts val="0"/>
              </a:spcAft>
              <a:buNone/>
            </a:pPr>
            <a:endParaRPr sz="1800" b="1">
              <a:solidFill>
                <a:srgbClr val="003D7A"/>
              </a:solidFill>
              <a:latin typeface="Calibri"/>
              <a:ea typeface="Calibri"/>
              <a:cs typeface="Calibri"/>
              <a:sym typeface="Calibri"/>
            </a:endParaRPr>
          </a:p>
          <a:p>
            <a:pPr marL="0" marR="0" lvl="0" indent="0" algn="l" rtl="0">
              <a:spcBef>
                <a:spcPts val="900"/>
              </a:spcBef>
              <a:spcAft>
                <a:spcPts val="0"/>
              </a:spcAft>
              <a:buNone/>
            </a:pPr>
            <a:endParaRPr sz="1800" b="1">
              <a:solidFill>
                <a:srgbClr val="003D7A"/>
              </a:solidFill>
              <a:latin typeface="Calibri"/>
              <a:ea typeface="Calibri"/>
              <a:cs typeface="Calibri"/>
              <a:sym typeface="Calibri"/>
            </a:endParaRPr>
          </a:p>
          <a:p>
            <a:pPr marL="0" marR="0" lvl="0" indent="0" algn="l" rtl="0">
              <a:spcBef>
                <a:spcPts val="900"/>
              </a:spcBef>
              <a:spcAft>
                <a:spcPts val="0"/>
              </a:spcAft>
              <a:buNone/>
            </a:pPr>
            <a:endParaRPr sz="1800" b="1">
              <a:solidFill>
                <a:srgbClr val="003D7A"/>
              </a:solidFill>
              <a:latin typeface="Calibri"/>
              <a:ea typeface="Calibri"/>
              <a:cs typeface="Calibri"/>
              <a:sym typeface="Calibri"/>
            </a:endParaRPr>
          </a:p>
          <a:p>
            <a:pPr marL="0" marR="0" lvl="0" indent="0" algn="l" rtl="0">
              <a:spcBef>
                <a:spcPts val="900"/>
              </a:spcBef>
              <a:spcAft>
                <a:spcPts val="0"/>
              </a:spcAft>
              <a:buNone/>
            </a:pPr>
            <a:endParaRPr sz="1800" b="1">
              <a:solidFill>
                <a:srgbClr val="003D7A"/>
              </a:solidFill>
              <a:latin typeface="Calibri"/>
              <a:ea typeface="Calibri"/>
              <a:cs typeface="Calibri"/>
              <a:sym typeface="Calibri"/>
            </a:endParaRPr>
          </a:p>
          <a:p>
            <a:pPr marL="0" marR="0" lvl="0" indent="0" algn="l" rtl="0">
              <a:spcBef>
                <a:spcPts val="900"/>
              </a:spcBef>
              <a:spcAft>
                <a:spcPts val="0"/>
              </a:spcAft>
              <a:buNone/>
            </a:pPr>
            <a:endParaRPr sz="1800" b="1">
              <a:solidFill>
                <a:srgbClr val="003D7A"/>
              </a:solidFill>
              <a:latin typeface="Calibri"/>
              <a:ea typeface="Calibri"/>
              <a:cs typeface="Calibri"/>
              <a:sym typeface="Calibri"/>
            </a:endParaRPr>
          </a:p>
          <a:p>
            <a:pPr marL="0" marR="0" lvl="0" indent="0" algn="l" rtl="0">
              <a:spcBef>
                <a:spcPts val="900"/>
              </a:spcBef>
              <a:spcAft>
                <a:spcPts val="0"/>
              </a:spcAft>
              <a:buNone/>
            </a:pPr>
            <a:r>
              <a:rPr lang="en-IN" sz="1800" b="1">
                <a:solidFill>
                  <a:srgbClr val="003D7A"/>
                </a:solidFill>
                <a:latin typeface="Calibri"/>
                <a:ea typeface="Calibri"/>
                <a:cs typeface="Calibri"/>
                <a:sym typeface="Calibri"/>
              </a:rPr>
              <a:t>NAME         -        TATA  /   BIRLA  /   GODREJ</a:t>
            </a:r>
            <a:endParaRPr/>
          </a:p>
          <a:p>
            <a:pPr marL="0" marR="0" lvl="0" indent="0" algn="l" rtl="0">
              <a:spcBef>
                <a:spcPts val="900"/>
              </a:spcBef>
              <a:spcAft>
                <a:spcPts val="0"/>
              </a:spcAft>
              <a:buNone/>
            </a:pPr>
            <a:endParaRPr sz="1800" b="1">
              <a:solidFill>
                <a:srgbClr val="003D7A"/>
              </a:solidFill>
              <a:latin typeface="Calibri"/>
              <a:ea typeface="Calibri"/>
              <a:cs typeface="Calibri"/>
              <a:sym typeface="Calibri"/>
            </a:endParaRPr>
          </a:p>
          <a:p>
            <a:pPr marL="0" marR="0" lvl="0" indent="0" algn="l" rtl="0">
              <a:spcBef>
                <a:spcPts val="900"/>
              </a:spcBef>
              <a:spcAft>
                <a:spcPts val="0"/>
              </a:spcAft>
              <a:buNone/>
            </a:pPr>
            <a:r>
              <a:rPr lang="en-IN" sz="1800" b="1">
                <a:solidFill>
                  <a:srgbClr val="003D7A"/>
                </a:solidFill>
                <a:latin typeface="Calibri"/>
                <a:ea typeface="Calibri"/>
                <a:cs typeface="Calibri"/>
                <a:sym typeface="Calibri"/>
              </a:rPr>
              <a:t>Slogans       - </a:t>
            </a:r>
            <a:endParaRPr/>
          </a:p>
          <a:p>
            <a:pPr marL="0" marR="0" lvl="0" indent="0" algn="l" rtl="0">
              <a:spcBef>
                <a:spcPts val="900"/>
              </a:spcBef>
              <a:spcAft>
                <a:spcPts val="0"/>
              </a:spcAft>
              <a:buNone/>
            </a:pPr>
            <a:endParaRPr sz="1800" b="1">
              <a:solidFill>
                <a:srgbClr val="003D7A"/>
              </a:solidFill>
              <a:latin typeface="Calibri"/>
              <a:ea typeface="Calibri"/>
              <a:cs typeface="Calibri"/>
              <a:sym typeface="Calibri"/>
            </a:endParaRPr>
          </a:p>
          <a:p>
            <a:pPr marL="0" marR="0" lvl="0" indent="0" algn="l" rtl="0">
              <a:spcBef>
                <a:spcPts val="900"/>
              </a:spcBef>
              <a:spcAft>
                <a:spcPts val="0"/>
              </a:spcAft>
              <a:buNone/>
            </a:pPr>
            <a:endParaRPr sz="1800" b="1">
              <a:solidFill>
                <a:srgbClr val="003D7A"/>
              </a:solidFill>
              <a:latin typeface="Calibri"/>
              <a:ea typeface="Calibri"/>
              <a:cs typeface="Calibri"/>
              <a:sym typeface="Calibri"/>
            </a:endParaRPr>
          </a:p>
          <a:p>
            <a:pPr marL="0" marR="0" lvl="0" indent="0" algn="l" rtl="0">
              <a:spcBef>
                <a:spcPts val="900"/>
              </a:spcBef>
              <a:spcAft>
                <a:spcPts val="0"/>
              </a:spcAft>
              <a:buNone/>
            </a:pPr>
            <a:endParaRPr sz="1800" b="1">
              <a:solidFill>
                <a:srgbClr val="003D7A"/>
              </a:solidFill>
              <a:latin typeface="Calibri"/>
              <a:ea typeface="Calibri"/>
              <a:cs typeface="Calibri"/>
              <a:sym typeface="Calibri"/>
            </a:endParaRPr>
          </a:p>
          <a:p>
            <a:pPr marL="0" marR="0" lvl="0" indent="0" algn="l" rtl="0">
              <a:spcBef>
                <a:spcPts val="900"/>
              </a:spcBef>
              <a:spcAft>
                <a:spcPts val="0"/>
              </a:spcAft>
              <a:buNone/>
            </a:pPr>
            <a:endParaRPr sz="1800" b="1">
              <a:solidFill>
                <a:srgbClr val="003D7A"/>
              </a:solidFill>
              <a:latin typeface="Calibri"/>
              <a:ea typeface="Calibri"/>
              <a:cs typeface="Calibri"/>
              <a:sym typeface="Calibri"/>
            </a:endParaRPr>
          </a:p>
        </p:txBody>
      </p:sp>
      <p:pic>
        <p:nvPicPr>
          <p:cNvPr id="314" name="Google Shape;314;p37" descr="cocacola"/>
          <p:cNvPicPr preferRelativeResize="0"/>
          <p:nvPr/>
        </p:nvPicPr>
        <p:blipFill rotWithShape="1">
          <a:blip r:embed="rId3">
            <a:alphaModFix/>
          </a:blip>
          <a:srcRect/>
          <a:stretch/>
        </p:blipFill>
        <p:spPr>
          <a:xfrm>
            <a:off x="7086600" y="914400"/>
            <a:ext cx="1600200" cy="1981200"/>
          </a:xfrm>
          <a:prstGeom prst="rect">
            <a:avLst/>
          </a:prstGeom>
          <a:noFill/>
          <a:ln>
            <a:noFill/>
          </a:ln>
        </p:spPr>
      </p:pic>
      <p:pic>
        <p:nvPicPr>
          <p:cNvPr id="315" name="Google Shape;315;p37" descr="pepsi"/>
          <p:cNvPicPr preferRelativeResize="0"/>
          <p:nvPr/>
        </p:nvPicPr>
        <p:blipFill rotWithShape="1">
          <a:blip r:embed="rId4">
            <a:alphaModFix/>
          </a:blip>
          <a:srcRect/>
          <a:stretch/>
        </p:blipFill>
        <p:spPr>
          <a:xfrm>
            <a:off x="7086600" y="3276600"/>
            <a:ext cx="1587500" cy="1316268"/>
          </a:xfrm>
          <a:prstGeom prst="rect">
            <a:avLst/>
          </a:prstGeom>
          <a:noFill/>
          <a:ln>
            <a:noFill/>
          </a:ln>
        </p:spPr>
      </p:pic>
      <p:pic>
        <p:nvPicPr>
          <p:cNvPr id="316" name="Google Shape;316;p37" descr="C:\Users\Sailaja\Documents\Sailaja_Feb 2 2015\Files\IPR\sAILAJA\Lovin-ItMcDs_Print.jpg"/>
          <p:cNvPicPr preferRelativeResize="0"/>
          <p:nvPr/>
        </p:nvPicPr>
        <p:blipFill rotWithShape="1">
          <a:blip r:embed="rId5">
            <a:alphaModFix/>
          </a:blip>
          <a:srcRect/>
          <a:stretch/>
        </p:blipFill>
        <p:spPr>
          <a:xfrm>
            <a:off x="6172200" y="4724400"/>
            <a:ext cx="1893904" cy="1828802"/>
          </a:xfrm>
          <a:prstGeom prst="rect">
            <a:avLst/>
          </a:prstGeom>
          <a:noFill/>
          <a:ln>
            <a:noFill/>
          </a:ln>
        </p:spPr>
      </p:pic>
      <p:sp>
        <p:nvSpPr>
          <p:cNvPr id="317" name="Google Shape;317;p37"/>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fontScale="92500"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Examples </a:t>
            </a:r>
            <a:endParaRPr sz="2600">
              <a:solidFill>
                <a:srgbClr val="000000"/>
              </a:solidFill>
              <a:latin typeface="Times New Roman"/>
              <a:ea typeface="Times New Roman"/>
              <a:cs typeface="Times New Roman"/>
              <a:sym typeface="Times New Roman"/>
            </a:endParaRPr>
          </a:p>
        </p:txBody>
      </p:sp>
      <p:pic>
        <p:nvPicPr>
          <p:cNvPr id="318" name="Google Shape;318;p37" descr="Just do it!"/>
          <p:cNvPicPr preferRelativeResize="0"/>
          <p:nvPr/>
        </p:nvPicPr>
        <p:blipFill rotWithShape="1">
          <a:blip r:embed="rId6">
            <a:alphaModFix/>
          </a:blip>
          <a:srcRect/>
          <a:stretch/>
        </p:blipFill>
        <p:spPr>
          <a:xfrm>
            <a:off x="1676400" y="5029200"/>
            <a:ext cx="3238500" cy="1295400"/>
          </a:xfrm>
          <a:prstGeom prst="rect">
            <a:avLst/>
          </a:prstGeom>
          <a:noFill/>
          <a:ln>
            <a:noFill/>
          </a:ln>
        </p:spPr>
      </p:pic>
      <p:pic>
        <p:nvPicPr>
          <p:cNvPr id="319" name="Google Shape;319;p37" descr="C:\Users\Vijay\Documents\Study Material\2016_IPR\IPR_GOV\Trademark\imagedoc2.jpg"/>
          <p:cNvPicPr preferRelativeResize="0"/>
          <p:nvPr/>
        </p:nvPicPr>
        <p:blipFill rotWithShape="1">
          <a:blip r:embed="rId7">
            <a:alphaModFix/>
          </a:blip>
          <a:srcRect/>
          <a:stretch/>
        </p:blipFill>
        <p:spPr>
          <a:xfrm>
            <a:off x="4267200" y="838200"/>
            <a:ext cx="2590800" cy="2396175"/>
          </a:xfrm>
          <a:prstGeom prst="rect">
            <a:avLst/>
          </a:prstGeom>
          <a:noFill/>
          <a:ln>
            <a:noFill/>
          </a:ln>
        </p:spPr>
      </p:pic>
      <p:pic>
        <p:nvPicPr>
          <p:cNvPr id="320" name="Google Shape;320;p37" descr="Image result for CHOCOLATE COMPANIES"/>
          <p:cNvPicPr preferRelativeResize="0"/>
          <p:nvPr/>
        </p:nvPicPr>
        <p:blipFill rotWithShape="1">
          <a:blip r:embed="rId8">
            <a:alphaModFix/>
          </a:blip>
          <a:srcRect/>
          <a:stretch/>
        </p:blipFill>
        <p:spPr>
          <a:xfrm>
            <a:off x="381000" y="762000"/>
            <a:ext cx="3429000" cy="2332226"/>
          </a:xfrm>
          <a:prstGeom prst="rect">
            <a:avLst/>
          </a:prstGeom>
          <a:noFill/>
          <a:ln>
            <a:noFill/>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8"/>
          <p:cNvSpPr txBox="1">
            <a:spLocks noGrp="1"/>
          </p:cNvSpPr>
          <p:nvPr>
            <p:ph type="title"/>
          </p:nvPr>
        </p:nvSpPr>
        <p:spPr>
          <a:xfrm>
            <a:off x="304800" y="0"/>
            <a:ext cx="4724400" cy="792162"/>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Calibri"/>
              <a:buNone/>
            </a:pPr>
            <a:r>
              <a:rPr lang="en-IN" sz="3200"/>
              <a:t>Certification Mark</a:t>
            </a:r>
            <a:endParaRPr/>
          </a:p>
        </p:txBody>
      </p:sp>
      <p:pic>
        <p:nvPicPr>
          <p:cNvPr id="326" name="Google Shape;326;p38" descr="http://fashionjewellerykodagu.com/images/bis_logo_main.png"/>
          <p:cNvPicPr preferRelativeResize="0"/>
          <p:nvPr/>
        </p:nvPicPr>
        <p:blipFill rotWithShape="1">
          <a:blip r:embed="rId3">
            <a:alphaModFix/>
          </a:blip>
          <a:srcRect/>
          <a:stretch/>
        </p:blipFill>
        <p:spPr>
          <a:xfrm>
            <a:off x="685800" y="609600"/>
            <a:ext cx="1828800" cy="2151530"/>
          </a:xfrm>
          <a:prstGeom prst="rect">
            <a:avLst/>
          </a:prstGeom>
          <a:noFill/>
          <a:ln>
            <a:noFill/>
          </a:ln>
        </p:spPr>
      </p:pic>
      <p:pic>
        <p:nvPicPr>
          <p:cNvPr id="327" name="Google Shape;327;p38" descr="http://iet.jrc.ec.europa.eu/etv/sites/etv/files/images/news/iso-logo.gif"/>
          <p:cNvPicPr preferRelativeResize="0"/>
          <p:nvPr/>
        </p:nvPicPr>
        <p:blipFill rotWithShape="1">
          <a:blip r:embed="rId4">
            <a:alphaModFix/>
          </a:blip>
          <a:srcRect/>
          <a:stretch/>
        </p:blipFill>
        <p:spPr>
          <a:xfrm>
            <a:off x="6781800" y="152400"/>
            <a:ext cx="2033262" cy="1828800"/>
          </a:xfrm>
          <a:prstGeom prst="rect">
            <a:avLst/>
          </a:prstGeom>
          <a:noFill/>
          <a:ln>
            <a:noFill/>
          </a:ln>
        </p:spPr>
      </p:pic>
      <p:sp>
        <p:nvSpPr>
          <p:cNvPr id="328" name="Google Shape;328;p38"/>
          <p:cNvSpPr/>
          <p:nvPr/>
        </p:nvSpPr>
        <p:spPr>
          <a:xfrm>
            <a:off x="228600" y="3657600"/>
            <a:ext cx="2774286"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a:solidFill>
                  <a:schemeClr val="dk1"/>
                </a:solidFill>
                <a:latin typeface="Calibri"/>
                <a:ea typeface="Calibri"/>
                <a:cs typeface="Calibri"/>
                <a:sym typeface="Calibri"/>
              </a:rPr>
              <a:t>Collective Mark</a:t>
            </a:r>
            <a:endParaRPr sz="3200">
              <a:solidFill>
                <a:schemeClr val="dk1"/>
              </a:solidFill>
              <a:latin typeface="Calibri"/>
              <a:ea typeface="Calibri"/>
              <a:cs typeface="Calibri"/>
              <a:sym typeface="Calibri"/>
            </a:endParaRPr>
          </a:p>
        </p:txBody>
      </p:sp>
      <p:pic>
        <p:nvPicPr>
          <p:cNvPr id="329" name="Google Shape;329;p38" descr="https://quickcompanyin.s3.amazonaws.com/images/1181/content_CAlogo.jpg"/>
          <p:cNvPicPr preferRelativeResize="0"/>
          <p:nvPr/>
        </p:nvPicPr>
        <p:blipFill rotWithShape="1">
          <a:blip r:embed="rId5">
            <a:alphaModFix/>
          </a:blip>
          <a:srcRect/>
          <a:stretch/>
        </p:blipFill>
        <p:spPr>
          <a:xfrm>
            <a:off x="6400800" y="2667000"/>
            <a:ext cx="2304343" cy="1752600"/>
          </a:xfrm>
          <a:prstGeom prst="rect">
            <a:avLst/>
          </a:prstGeom>
          <a:noFill/>
          <a:ln>
            <a:noFill/>
          </a:ln>
        </p:spPr>
      </p:pic>
      <p:pic>
        <p:nvPicPr>
          <p:cNvPr id="330" name="Google Shape;330;p38" descr="Woolmark-example"/>
          <p:cNvPicPr preferRelativeResize="0"/>
          <p:nvPr/>
        </p:nvPicPr>
        <p:blipFill rotWithShape="1">
          <a:blip r:embed="rId6">
            <a:alphaModFix/>
          </a:blip>
          <a:srcRect/>
          <a:stretch/>
        </p:blipFill>
        <p:spPr>
          <a:xfrm>
            <a:off x="3962400" y="152400"/>
            <a:ext cx="2631771" cy="2103304"/>
          </a:xfrm>
          <a:prstGeom prst="rect">
            <a:avLst/>
          </a:prstGeom>
          <a:noFill/>
          <a:ln>
            <a:noFill/>
          </a:ln>
        </p:spPr>
      </p:pic>
      <p:sp>
        <p:nvSpPr>
          <p:cNvPr id="331" name="Google Shape;331;p38"/>
          <p:cNvSpPr/>
          <p:nvPr/>
        </p:nvSpPr>
        <p:spPr>
          <a:xfrm>
            <a:off x="5721588" y="2362200"/>
            <a:ext cx="34224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dk1"/>
                </a:solidFill>
                <a:latin typeface="Calibri"/>
                <a:ea typeface="Calibri"/>
                <a:cs typeface="Calibri"/>
                <a:sym typeface="Calibri"/>
              </a:rPr>
              <a:t>Institute of Chartered Accountants</a:t>
            </a:r>
            <a:endParaRPr/>
          </a:p>
        </p:txBody>
      </p:sp>
      <p:sp>
        <p:nvSpPr>
          <p:cNvPr id="332" name="Google Shape;332;p38"/>
          <p:cNvSpPr/>
          <p:nvPr/>
        </p:nvSpPr>
        <p:spPr>
          <a:xfrm>
            <a:off x="228600" y="4648200"/>
            <a:ext cx="8915400" cy="769441"/>
          </a:xfrm>
          <a:prstGeom prst="rect">
            <a:avLst/>
          </a:prstGeom>
          <a:noFill/>
          <a:ln>
            <a:noFill/>
          </a:ln>
        </p:spPr>
        <p:txBody>
          <a:bodyPr spcFirstLastPara="1" wrap="square" lIns="91425" tIns="45700" rIns="91425" bIns="45700" anchor="t" anchorCtr="0">
            <a:spAutoFit/>
          </a:bodyPr>
          <a:lstStyle/>
          <a:p>
            <a:pPr marL="360363" marR="0" lvl="0" indent="-360363" algn="l" rtl="0">
              <a:spcBef>
                <a:spcPts val="0"/>
              </a:spcBef>
              <a:spcAft>
                <a:spcPts val="0"/>
              </a:spcAft>
              <a:buClr>
                <a:schemeClr val="dk1"/>
              </a:buClr>
              <a:buSzPts val="2200"/>
              <a:buFont typeface="Noto Sans Symbols"/>
              <a:buChar char="⮚"/>
            </a:pPr>
            <a:r>
              <a:rPr lang="en-IN" sz="2200">
                <a:solidFill>
                  <a:schemeClr val="dk1"/>
                </a:solidFill>
                <a:latin typeface="Times New Roman"/>
                <a:ea typeface="Times New Roman"/>
                <a:cs typeface="Times New Roman"/>
                <a:sym typeface="Times New Roman"/>
              </a:rPr>
              <a:t>Brooke Bond is used as a Collective Mark for its brands—Red Label, Taj Mahal, and Taaza</a:t>
            </a:r>
            <a:endParaRPr sz="2200">
              <a:solidFill>
                <a:schemeClr val="dk1"/>
              </a:solidFill>
              <a:latin typeface="Times New Roman"/>
              <a:ea typeface="Times New Roman"/>
              <a:cs typeface="Times New Roman"/>
              <a:sym typeface="Times New Roman"/>
            </a:endParaRPr>
          </a:p>
        </p:txBody>
      </p:sp>
      <p:pic>
        <p:nvPicPr>
          <p:cNvPr id="333" name="Google Shape;333;p38" descr="www.cii.in/images/Upload/CII%20Logo369.png"/>
          <p:cNvPicPr preferRelativeResize="0"/>
          <p:nvPr/>
        </p:nvPicPr>
        <p:blipFill rotWithShape="1">
          <a:blip r:embed="rId7">
            <a:alphaModFix/>
          </a:blip>
          <a:srcRect/>
          <a:stretch/>
        </p:blipFill>
        <p:spPr>
          <a:xfrm>
            <a:off x="3048000" y="2514600"/>
            <a:ext cx="2667828" cy="1981200"/>
          </a:xfrm>
          <a:prstGeom prst="rect">
            <a:avLst/>
          </a:prstGeom>
          <a:noFill/>
          <a:ln>
            <a:noFill/>
          </a:ln>
        </p:spPr>
      </p:pic>
      <p:sp>
        <p:nvSpPr>
          <p:cNvPr id="334" name="Google Shape;334;p38"/>
          <p:cNvSpPr/>
          <p:nvPr/>
        </p:nvSpPr>
        <p:spPr>
          <a:xfrm>
            <a:off x="228600" y="5638800"/>
            <a:ext cx="8686800" cy="923330"/>
          </a:xfrm>
          <a:prstGeom prst="rect">
            <a:avLst/>
          </a:prstGeom>
          <a:noFill/>
          <a:ln>
            <a:noFill/>
          </a:ln>
        </p:spPr>
        <p:txBody>
          <a:bodyPr spcFirstLastPara="1" wrap="square" lIns="91425" tIns="45700" rIns="91425" bIns="45700" anchor="t" anchorCtr="0">
            <a:spAutoFit/>
          </a:bodyPr>
          <a:lstStyle/>
          <a:p>
            <a:pPr marL="2155825" marR="0" lvl="0" indent="-2155825" algn="l" rtl="0">
              <a:spcBef>
                <a:spcPts val="0"/>
              </a:spcBef>
              <a:spcAft>
                <a:spcPts val="0"/>
              </a:spcAft>
              <a:buNone/>
            </a:pPr>
            <a:r>
              <a:rPr lang="en-IN" sz="3200">
                <a:solidFill>
                  <a:schemeClr val="dk1"/>
                </a:solidFill>
                <a:latin typeface="Calibri"/>
                <a:ea typeface="Calibri"/>
                <a:cs typeface="Calibri"/>
                <a:sym typeface="Calibri"/>
              </a:rPr>
              <a:t>Series mark </a:t>
            </a:r>
            <a:r>
              <a:rPr lang="en-IN" sz="2400">
                <a:solidFill>
                  <a:schemeClr val="dk1"/>
                </a:solidFill>
                <a:latin typeface="Calibri"/>
                <a:ea typeface="Calibri"/>
                <a:cs typeface="Calibri"/>
                <a:sym typeface="Calibri"/>
              </a:rPr>
              <a:t>: </a:t>
            </a:r>
            <a:r>
              <a:rPr lang="en-IN" sz="2200">
                <a:solidFill>
                  <a:schemeClr val="dk1"/>
                </a:solidFill>
                <a:latin typeface="Times New Roman"/>
                <a:ea typeface="Times New Roman"/>
                <a:cs typeface="Times New Roman"/>
                <a:sym typeface="Times New Roman"/>
              </a:rPr>
              <a:t>McDonald has series marks incorporating the term “Mc” like Mc chicken, Mc Café, Mc Donuts etc.</a:t>
            </a:r>
            <a:endParaRPr sz="22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pic>
        <p:nvPicPr>
          <p:cNvPr id="339" name="Google Shape;339;p39" descr="OLFACTORY MARKS are potentially registrable, as they can indicate commercial origin&#10;of goods or services. But in practice ..."/>
          <p:cNvPicPr preferRelativeResize="0"/>
          <p:nvPr/>
        </p:nvPicPr>
        <p:blipFill rotWithShape="1">
          <a:blip r:embed="rId3">
            <a:alphaModFix/>
          </a:blip>
          <a:srcRect/>
          <a:stretch/>
        </p:blipFill>
        <p:spPr>
          <a:xfrm>
            <a:off x="4419600" y="685800"/>
            <a:ext cx="3886200" cy="2514600"/>
          </a:xfrm>
          <a:prstGeom prst="rect">
            <a:avLst/>
          </a:prstGeom>
          <a:noFill/>
          <a:ln>
            <a:noFill/>
          </a:ln>
        </p:spPr>
      </p:pic>
      <p:sp>
        <p:nvSpPr>
          <p:cNvPr id="340" name="Google Shape;340;p39"/>
          <p:cNvSpPr/>
          <p:nvPr/>
        </p:nvSpPr>
        <p:spPr>
          <a:xfrm>
            <a:off x="228600" y="1600200"/>
            <a:ext cx="8915400" cy="4524315"/>
          </a:xfrm>
          <a:prstGeom prst="rect">
            <a:avLst/>
          </a:prstGeom>
          <a:noFill/>
          <a:ln>
            <a:noFill/>
          </a:ln>
        </p:spPr>
        <p:txBody>
          <a:bodyPr spcFirstLastPara="1" wrap="square" lIns="91425" tIns="45700" rIns="91425" bIns="45700" anchor="t" anchorCtr="0">
            <a:spAutoFit/>
          </a:bodyPr>
          <a:lstStyle/>
          <a:p>
            <a:pPr marL="720725" marR="0" lvl="0" indent="-720725" algn="l" rtl="0">
              <a:lnSpc>
                <a:spcPct val="200000"/>
              </a:lnSpc>
              <a:spcBef>
                <a:spcPts val="0"/>
              </a:spcBef>
              <a:spcAft>
                <a:spcPts val="0"/>
              </a:spcAft>
              <a:buClr>
                <a:srgbClr val="002060"/>
              </a:buClr>
              <a:buSzPts val="2400"/>
              <a:buFont typeface="Noto Sans Symbols"/>
              <a:buChar char="⮚"/>
            </a:pPr>
            <a:r>
              <a:rPr lang="en-IN" sz="2400">
                <a:solidFill>
                  <a:srgbClr val="002060"/>
                </a:solidFill>
                <a:latin typeface="Times New Roman"/>
                <a:ea typeface="Times New Roman"/>
                <a:cs typeface="Times New Roman"/>
                <a:sym typeface="Times New Roman"/>
              </a:rPr>
              <a:t>MGM’s lion roar</a:t>
            </a:r>
            <a:endParaRPr/>
          </a:p>
          <a:p>
            <a:pPr marL="720725" marR="0" lvl="0" indent="-720725" algn="l" rtl="0">
              <a:lnSpc>
                <a:spcPct val="200000"/>
              </a:lnSpc>
              <a:spcBef>
                <a:spcPts val="0"/>
              </a:spcBef>
              <a:spcAft>
                <a:spcPts val="0"/>
              </a:spcAft>
              <a:buClr>
                <a:srgbClr val="002060"/>
              </a:buClr>
              <a:buSzPts val="2400"/>
              <a:buFont typeface="Noto Sans Symbols"/>
              <a:buChar char="⮚"/>
            </a:pPr>
            <a:r>
              <a:rPr lang="en-IN" sz="2400">
                <a:solidFill>
                  <a:srgbClr val="002060"/>
                </a:solidFill>
                <a:latin typeface="Times New Roman"/>
                <a:ea typeface="Times New Roman"/>
                <a:cs typeface="Times New Roman"/>
                <a:sym typeface="Times New Roman"/>
              </a:rPr>
              <a:t>3- note Yahoo Yodel </a:t>
            </a:r>
            <a:endParaRPr/>
          </a:p>
          <a:p>
            <a:pPr marL="720725" marR="0" lvl="0" indent="-720725" algn="l" rtl="0">
              <a:lnSpc>
                <a:spcPct val="200000"/>
              </a:lnSpc>
              <a:spcBef>
                <a:spcPts val="0"/>
              </a:spcBef>
              <a:spcAft>
                <a:spcPts val="0"/>
              </a:spcAft>
              <a:buClr>
                <a:srgbClr val="002060"/>
              </a:buClr>
              <a:buSzPts val="2400"/>
              <a:buFont typeface="Noto Sans Symbols"/>
              <a:buChar char="⮚"/>
            </a:pPr>
            <a:r>
              <a:rPr lang="en-IN" sz="2400">
                <a:solidFill>
                  <a:srgbClr val="002060"/>
                </a:solidFill>
                <a:latin typeface="Times New Roman"/>
                <a:ea typeface="Times New Roman"/>
                <a:cs typeface="Times New Roman"/>
                <a:sym typeface="Times New Roman"/>
              </a:rPr>
              <a:t>ICICI Bank – (Corporate jingle - Dhin Chik Dhin Chik) - ICICI Bank is the first Indian entity to obtain sound mark registration</a:t>
            </a:r>
            <a:endParaRPr/>
          </a:p>
          <a:p>
            <a:pPr marL="720725" marR="0" lvl="0" indent="-720725" algn="l" rtl="0">
              <a:lnSpc>
                <a:spcPct val="200000"/>
              </a:lnSpc>
              <a:spcBef>
                <a:spcPts val="0"/>
              </a:spcBef>
              <a:spcAft>
                <a:spcPts val="0"/>
              </a:spcAft>
              <a:buClr>
                <a:srgbClr val="002060"/>
              </a:buClr>
              <a:buSzPts val="2400"/>
              <a:buFont typeface="Noto Sans Symbols"/>
              <a:buChar char="⮚"/>
            </a:pPr>
            <a:r>
              <a:rPr lang="en-IN" sz="2400">
                <a:solidFill>
                  <a:srgbClr val="002060"/>
                </a:solidFill>
                <a:latin typeface="Times New Roman"/>
                <a:ea typeface="Times New Roman"/>
                <a:cs typeface="Times New Roman"/>
                <a:sym typeface="Times New Roman"/>
              </a:rPr>
              <a:t>National Stock Exchange – (Theme song)</a:t>
            </a:r>
            <a:endParaRPr/>
          </a:p>
          <a:p>
            <a:pPr marL="720725" marR="0" lvl="0" indent="-720725" algn="l" rtl="0">
              <a:lnSpc>
                <a:spcPct val="200000"/>
              </a:lnSpc>
              <a:spcBef>
                <a:spcPts val="0"/>
              </a:spcBef>
              <a:spcAft>
                <a:spcPts val="0"/>
              </a:spcAft>
              <a:buClr>
                <a:srgbClr val="002060"/>
              </a:buClr>
              <a:buSzPts val="2400"/>
              <a:buFont typeface="Noto Sans Symbols"/>
              <a:buChar char="⮚"/>
            </a:pPr>
            <a:r>
              <a:rPr lang="en-IN" sz="2400">
                <a:solidFill>
                  <a:srgbClr val="002060"/>
                </a:solidFill>
                <a:latin typeface="Times New Roman"/>
                <a:ea typeface="Times New Roman"/>
                <a:cs typeface="Times New Roman"/>
                <a:sym typeface="Times New Roman"/>
              </a:rPr>
              <a:t>Britannia Industries (Four note bell sound)</a:t>
            </a:r>
            <a:endParaRPr/>
          </a:p>
        </p:txBody>
      </p:sp>
      <p:sp>
        <p:nvSpPr>
          <p:cNvPr id="341" name="Google Shape;341;p39"/>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fontScale="92500"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Examples - Sound marks</a:t>
            </a:r>
            <a:endParaRPr/>
          </a:p>
          <a:p>
            <a:pPr marL="0" marR="0" lvl="0" indent="0" algn="ctr" rtl="0">
              <a:spcBef>
                <a:spcPts val="600"/>
              </a:spcBef>
              <a:spcAft>
                <a:spcPts val="0"/>
              </a:spcAft>
              <a:buNone/>
            </a:pPr>
            <a:endParaRPr sz="2600">
              <a:solidFill>
                <a:srgbClr val="000000"/>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0"/>
          <p:cNvSpPr txBox="1">
            <a:spLocks noGrp="1"/>
          </p:cNvSpPr>
          <p:nvPr>
            <p:ph idx="1"/>
          </p:nvPr>
        </p:nvSpPr>
        <p:spPr>
          <a:xfrm>
            <a:off x="762000" y="1676400"/>
            <a:ext cx="8229600" cy="4525963"/>
          </a:xfrm>
          <a:prstGeom prst="rect">
            <a:avLst/>
          </a:prstGeom>
          <a:noFill/>
          <a:ln>
            <a:noFill/>
          </a:ln>
        </p:spPr>
        <p:txBody>
          <a:bodyPr spcFirstLastPara="1" wrap="square" lIns="91425" tIns="45700" rIns="91425" bIns="45700" anchor="t" anchorCtr="0">
            <a:normAutofit/>
          </a:bodyPr>
          <a:lstStyle/>
          <a:p>
            <a:pPr marL="720725" lvl="0" indent="-720725" algn="l" rtl="0">
              <a:lnSpc>
                <a:spcPct val="150000"/>
              </a:lnSpc>
              <a:spcBef>
                <a:spcPts val="0"/>
              </a:spcBef>
              <a:spcAft>
                <a:spcPts val="0"/>
              </a:spcAft>
              <a:buClr>
                <a:schemeClr val="dk1"/>
              </a:buClr>
              <a:buSzPts val="3200"/>
              <a:buFont typeface="Noto Sans Symbols"/>
              <a:buChar char="⮚"/>
            </a:pPr>
            <a:r>
              <a:rPr lang="en-IN" dirty="0"/>
              <a:t>Magazines</a:t>
            </a:r>
            <a:endParaRPr dirty="0"/>
          </a:p>
          <a:p>
            <a:pPr marL="720725" lvl="0" indent="-720725" algn="l" rtl="0">
              <a:lnSpc>
                <a:spcPct val="150000"/>
              </a:lnSpc>
              <a:spcBef>
                <a:spcPts val="640"/>
              </a:spcBef>
              <a:spcAft>
                <a:spcPts val="0"/>
              </a:spcAft>
              <a:buClr>
                <a:schemeClr val="dk1"/>
              </a:buClr>
              <a:buSzPts val="3200"/>
              <a:buFont typeface="Noto Sans Symbols"/>
              <a:buChar char="⮚"/>
            </a:pPr>
            <a:r>
              <a:rPr lang="en-IN" dirty="0"/>
              <a:t>Pens, paper and erasers </a:t>
            </a:r>
            <a:endParaRPr dirty="0"/>
          </a:p>
          <a:p>
            <a:pPr marL="720725" lvl="0" indent="-720725" algn="l" rtl="0">
              <a:lnSpc>
                <a:spcPct val="150000"/>
              </a:lnSpc>
              <a:spcBef>
                <a:spcPts val="640"/>
              </a:spcBef>
              <a:spcAft>
                <a:spcPts val="0"/>
              </a:spcAft>
              <a:buClr>
                <a:schemeClr val="dk1"/>
              </a:buClr>
              <a:buSzPts val="3200"/>
              <a:buFont typeface="Noto Sans Symbols"/>
              <a:buChar char="⮚"/>
            </a:pPr>
            <a:r>
              <a:rPr lang="en-IN" dirty="0"/>
              <a:t>Smell of rose for tyres </a:t>
            </a:r>
            <a:endParaRPr dirty="0"/>
          </a:p>
          <a:p>
            <a:pPr marL="720725" lvl="0" indent="-720725" algn="l" rtl="0">
              <a:lnSpc>
                <a:spcPct val="150000"/>
              </a:lnSpc>
              <a:spcBef>
                <a:spcPts val="640"/>
              </a:spcBef>
              <a:spcAft>
                <a:spcPts val="0"/>
              </a:spcAft>
              <a:buClr>
                <a:schemeClr val="dk1"/>
              </a:buClr>
              <a:buSzPts val="3200"/>
              <a:buFont typeface="Noto Sans Symbols"/>
              <a:buChar char="⮚"/>
            </a:pPr>
            <a:r>
              <a:rPr lang="en-IN" dirty="0"/>
              <a:t>Smell of freshly cut grass for Tennis balls </a:t>
            </a:r>
            <a:endParaRPr dirty="0"/>
          </a:p>
          <a:p>
            <a:pPr marL="720725" lvl="0" indent="-720725" algn="l" rtl="0">
              <a:lnSpc>
                <a:spcPct val="150000"/>
              </a:lnSpc>
              <a:spcBef>
                <a:spcPts val="640"/>
              </a:spcBef>
              <a:spcAft>
                <a:spcPts val="0"/>
              </a:spcAft>
              <a:buClr>
                <a:schemeClr val="dk1"/>
              </a:buClr>
              <a:buSzPts val="3200"/>
              <a:buFont typeface="Noto Sans Symbols"/>
              <a:buChar char="⮚"/>
            </a:pPr>
            <a:r>
              <a:rPr lang="en-IN" dirty="0"/>
              <a:t>Smell of vanilla for office files </a:t>
            </a:r>
            <a:endParaRPr dirty="0"/>
          </a:p>
          <a:p>
            <a:pPr marL="342900" lvl="0" indent="-139700" algn="l" rtl="0">
              <a:spcBef>
                <a:spcPts val="640"/>
              </a:spcBef>
              <a:spcAft>
                <a:spcPts val="0"/>
              </a:spcAft>
              <a:buClr>
                <a:schemeClr val="dk1"/>
              </a:buClr>
              <a:buSzPts val="3200"/>
              <a:buNone/>
            </a:pPr>
            <a:endParaRPr dirty="0"/>
          </a:p>
        </p:txBody>
      </p:sp>
      <p:sp>
        <p:nvSpPr>
          <p:cNvPr id="347" name="Google Shape;347;p40"/>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fontScale="92500"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Examples </a:t>
            </a:r>
            <a:endParaRPr sz="2600">
              <a:solidFill>
                <a:srgbClr val="000000"/>
              </a:solidFill>
              <a:latin typeface="Times New Roman"/>
              <a:ea typeface="Times New Roman"/>
              <a:cs typeface="Times New Roman"/>
              <a:sym typeface="Times New Roman"/>
            </a:endParaRPr>
          </a:p>
        </p:txBody>
      </p:sp>
      <p:sp>
        <p:nvSpPr>
          <p:cNvPr id="348" name="Google Shape;348;p40"/>
          <p:cNvSpPr/>
          <p:nvPr/>
        </p:nvSpPr>
        <p:spPr>
          <a:xfrm>
            <a:off x="914400" y="685800"/>
            <a:ext cx="76962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600" dirty="0">
                <a:solidFill>
                  <a:srgbClr val="07674D"/>
                </a:solidFill>
                <a:latin typeface="Times New Roman"/>
                <a:ea typeface="Times New Roman"/>
                <a:cs typeface="Times New Roman"/>
                <a:sym typeface="Times New Roman"/>
              </a:rPr>
              <a:t>Smell or Scent or Trademarks</a:t>
            </a:r>
            <a:endParaRPr sz="3600" dirty="0">
              <a:solidFill>
                <a:srgbClr val="07674D"/>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pic>
        <p:nvPicPr>
          <p:cNvPr id="353" name="Google Shape;353;p41" descr="C:\Users\Vijay\Documents\Study Material\2016_IPR\IPR_GOV\Trademark\download.jpg"/>
          <p:cNvPicPr preferRelativeResize="0"/>
          <p:nvPr/>
        </p:nvPicPr>
        <p:blipFill rotWithShape="1">
          <a:blip r:embed="rId3">
            <a:alphaModFix/>
          </a:blip>
          <a:srcRect/>
          <a:stretch/>
        </p:blipFill>
        <p:spPr>
          <a:xfrm>
            <a:off x="4495800" y="228600"/>
            <a:ext cx="4572000" cy="5943600"/>
          </a:xfrm>
          <a:prstGeom prst="rect">
            <a:avLst/>
          </a:prstGeom>
          <a:noFill/>
          <a:ln>
            <a:noFill/>
          </a:ln>
        </p:spPr>
      </p:pic>
      <p:sp>
        <p:nvSpPr>
          <p:cNvPr id="354" name="Google Shape;354;p41"/>
          <p:cNvSpPr txBox="1"/>
          <p:nvPr/>
        </p:nvSpPr>
        <p:spPr>
          <a:xfrm>
            <a:off x="76200" y="1143000"/>
            <a:ext cx="4343400" cy="2133600"/>
          </a:xfrm>
          <a:prstGeom prst="rect">
            <a:avLst/>
          </a:prstGeom>
          <a:no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l" rtl="0">
              <a:spcBef>
                <a:spcPts val="0"/>
              </a:spcBef>
              <a:spcAft>
                <a:spcPts val="0"/>
              </a:spcAft>
              <a:buNone/>
            </a:pPr>
            <a:r>
              <a:rPr lang="en-IN" sz="2400">
                <a:solidFill>
                  <a:schemeClr val="dk1"/>
                </a:solidFill>
                <a:latin typeface="Times New Roman"/>
                <a:ea typeface="Times New Roman"/>
                <a:cs typeface="Times New Roman"/>
                <a:sym typeface="Times New Roman"/>
              </a:rPr>
              <a:t>Sony Music Entertainment India Pvt. Ltd., which recorded the Tamil-English song -  </a:t>
            </a:r>
            <a:r>
              <a:rPr lang="en-IN" sz="2400">
                <a:solidFill>
                  <a:srgbClr val="C00000"/>
                </a:solidFill>
                <a:latin typeface="Times New Roman"/>
                <a:ea typeface="Times New Roman"/>
                <a:cs typeface="Times New Roman"/>
                <a:sym typeface="Times New Roman"/>
              </a:rPr>
              <a:t>Trademarked ‘WHY THIS KOLAVERI DI’ </a:t>
            </a:r>
            <a:r>
              <a:rPr lang="en-IN" sz="3200" b="1">
                <a:solidFill>
                  <a:schemeClr val="dk1"/>
                </a:solidFill>
                <a:latin typeface="Times New Roman"/>
                <a:ea typeface="Times New Roman"/>
                <a:cs typeface="Times New Roman"/>
                <a:sym typeface="Times New Roman"/>
              </a:rPr>
              <a:t> </a:t>
            </a:r>
            <a:endParaRPr sz="2000" b="0" i="0" u="none" strike="noStrike" cap="none">
              <a:solidFill>
                <a:schemeClr val="dk1"/>
              </a:solidFill>
              <a:latin typeface="Times New Roman"/>
              <a:ea typeface="Times New Roman"/>
              <a:cs typeface="Times New Roman"/>
              <a:sym typeface="Times New Roman"/>
            </a:endParaRPr>
          </a:p>
        </p:txBody>
      </p:sp>
      <p:pic>
        <p:nvPicPr>
          <p:cNvPr id="355" name="Google Shape;355;p41" descr="C:\Users\Vijay\Documents\Study Material\2016_IPR\IPR_GOV\Trademark\imagedoc.jpg"/>
          <p:cNvPicPr preferRelativeResize="0"/>
          <p:nvPr/>
        </p:nvPicPr>
        <p:blipFill rotWithShape="1">
          <a:blip r:embed="rId4">
            <a:alphaModFix/>
          </a:blip>
          <a:srcRect/>
          <a:stretch/>
        </p:blipFill>
        <p:spPr>
          <a:xfrm>
            <a:off x="228600" y="4267200"/>
            <a:ext cx="4107882" cy="1981198"/>
          </a:xfrm>
          <a:prstGeom prst="rect">
            <a:avLst/>
          </a:prstGeom>
          <a:noFill/>
          <a:ln>
            <a:noFill/>
          </a:ln>
        </p:spPr>
      </p:pic>
    </p:spTree>
  </p:cSld>
  <p:clrMapOvr>
    <a:masterClrMapping/>
  </p:clrMapOvr>
  <p:transition>
    <p:circl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2"/>
          <p:cNvSpPr/>
          <p:nvPr/>
        </p:nvSpPr>
        <p:spPr>
          <a:xfrm>
            <a:off x="609600" y="749656"/>
            <a:ext cx="8001000" cy="5078313"/>
          </a:xfrm>
          <a:prstGeom prst="rect">
            <a:avLst/>
          </a:prstGeom>
          <a:noFill/>
          <a:ln>
            <a:noFill/>
          </a:ln>
        </p:spPr>
        <p:txBody>
          <a:bodyPr spcFirstLastPara="1" wrap="square" lIns="91425" tIns="45700" rIns="91425" bIns="45700" anchor="t" anchorCtr="0">
            <a:spAutoFit/>
          </a:bodyPr>
          <a:lstStyle/>
          <a:p>
            <a:pPr marL="539750" marR="0" lvl="0" indent="-539750" algn="l" rtl="0">
              <a:lnSpc>
                <a:spcPct val="150000"/>
              </a:lnSpc>
              <a:spcBef>
                <a:spcPts val="0"/>
              </a:spcBef>
              <a:spcAft>
                <a:spcPts val="0"/>
              </a:spcAft>
              <a:buClr>
                <a:srgbClr val="000000"/>
              </a:buClr>
              <a:buSzPts val="2400"/>
              <a:buFont typeface="Noto Sans Symbols"/>
              <a:buChar char="⮚"/>
            </a:pPr>
            <a:r>
              <a:rPr lang="en-IN" sz="2400">
                <a:solidFill>
                  <a:srgbClr val="000000"/>
                </a:solidFill>
                <a:latin typeface="Times New Roman"/>
                <a:ea typeface="Times New Roman"/>
                <a:cs typeface="Times New Roman"/>
                <a:sym typeface="Times New Roman"/>
              </a:rPr>
              <a:t>Promotes the image of a company and its range of goods &amp; services</a:t>
            </a:r>
            <a:endParaRPr/>
          </a:p>
          <a:p>
            <a:pPr marL="539750" marR="0" lvl="0" indent="-539750" algn="l" rtl="0">
              <a:lnSpc>
                <a:spcPct val="150000"/>
              </a:lnSpc>
              <a:spcBef>
                <a:spcPts val="0"/>
              </a:spcBef>
              <a:spcAft>
                <a:spcPts val="0"/>
              </a:spcAft>
              <a:buClr>
                <a:srgbClr val="000000"/>
              </a:buClr>
              <a:buSzPts val="2400"/>
              <a:buFont typeface="Noto Sans Symbols"/>
              <a:buChar char="⮚"/>
            </a:pPr>
            <a:r>
              <a:rPr lang="en-IN" sz="2400">
                <a:solidFill>
                  <a:srgbClr val="000000"/>
                </a:solidFill>
                <a:latin typeface="Times New Roman"/>
                <a:ea typeface="Times New Roman"/>
                <a:cs typeface="Times New Roman"/>
                <a:sym typeface="Times New Roman"/>
              </a:rPr>
              <a:t>Guards the commercial goodwill of the trader </a:t>
            </a:r>
            <a:endParaRPr/>
          </a:p>
          <a:p>
            <a:pPr marL="539750" marR="0" lvl="0" indent="-539750" algn="l" rtl="0">
              <a:lnSpc>
                <a:spcPct val="150000"/>
              </a:lnSpc>
              <a:spcBef>
                <a:spcPts val="0"/>
              </a:spcBef>
              <a:spcAft>
                <a:spcPts val="0"/>
              </a:spcAft>
              <a:buClr>
                <a:srgbClr val="000000"/>
              </a:buClr>
              <a:buSzPts val="2400"/>
              <a:buFont typeface="Noto Sans Symbols"/>
              <a:buChar char="⮚"/>
            </a:pPr>
            <a:r>
              <a:rPr lang="en-IN" sz="2400">
                <a:solidFill>
                  <a:srgbClr val="000000"/>
                </a:solidFill>
                <a:latin typeface="Times New Roman"/>
                <a:ea typeface="Times New Roman"/>
                <a:cs typeface="Times New Roman"/>
                <a:sym typeface="Times New Roman"/>
              </a:rPr>
              <a:t>Indicates the source of goods or services</a:t>
            </a:r>
            <a:endParaRPr/>
          </a:p>
          <a:p>
            <a:pPr marL="539750" marR="0" lvl="0" indent="-539750" algn="l" rtl="0">
              <a:lnSpc>
                <a:spcPct val="150000"/>
              </a:lnSpc>
              <a:spcBef>
                <a:spcPts val="0"/>
              </a:spcBef>
              <a:spcAft>
                <a:spcPts val="0"/>
              </a:spcAft>
              <a:buClr>
                <a:srgbClr val="000000"/>
              </a:buClr>
              <a:buSzPts val="2400"/>
              <a:buFont typeface="Noto Sans Symbols"/>
              <a:buChar char="⮚"/>
            </a:pPr>
            <a:r>
              <a:rPr lang="en-IN" sz="2400">
                <a:solidFill>
                  <a:srgbClr val="000000"/>
                </a:solidFill>
                <a:latin typeface="Times New Roman"/>
                <a:ea typeface="Times New Roman"/>
                <a:cs typeface="Times New Roman"/>
                <a:sym typeface="Times New Roman"/>
              </a:rPr>
              <a:t>Protection of consumers from deception</a:t>
            </a:r>
            <a:endParaRPr/>
          </a:p>
          <a:p>
            <a:pPr marL="539750" marR="0" lvl="0" indent="-539750" algn="l" rtl="0">
              <a:lnSpc>
                <a:spcPct val="150000"/>
              </a:lnSpc>
              <a:spcBef>
                <a:spcPts val="0"/>
              </a:spcBef>
              <a:spcAft>
                <a:spcPts val="0"/>
              </a:spcAft>
              <a:buClr>
                <a:srgbClr val="000000"/>
              </a:buClr>
              <a:buSzPts val="2400"/>
              <a:buFont typeface="Noto Sans Symbols"/>
              <a:buChar char="⮚"/>
            </a:pPr>
            <a:r>
              <a:rPr lang="en-IN" sz="2400">
                <a:solidFill>
                  <a:srgbClr val="000000"/>
                </a:solidFill>
                <a:latin typeface="Times New Roman"/>
                <a:ea typeface="Times New Roman"/>
                <a:cs typeface="Times New Roman"/>
                <a:sym typeface="Times New Roman"/>
              </a:rPr>
              <a:t>Monetary gains can be achieved by licensing / assignment</a:t>
            </a:r>
            <a:endParaRPr/>
          </a:p>
          <a:p>
            <a:pPr marL="539750" marR="0" lvl="0" indent="-539750" algn="l" rtl="0">
              <a:lnSpc>
                <a:spcPct val="150000"/>
              </a:lnSpc>
              <a:spcBef>
                <a:spcPts val="0"/>
              </a:spcBef>
              <a:spcAft>
                <a:spcPts val="0"/>
              </a:spcAft>
              <a:buClr>
                <a:srgbClr val="000000"/>
              </a:buClr>
              <a:buSzPts val="2400"/>
              <a:buFont typeface="Noto Sans Symbols"/>
              <a:buChar char="⮚"/>
            </a:pPr>
            <a:r>
              <a:rPr lang="en-IN" sz="2400">
                <a:solidFill>
                  <a:srgbClr val="000000"/>
                </a:solidFill>
                <a:latin typeface="Times New Roman"/>
                <a:ea typeface="Times New Roman"/>
                <a:cs typeface="Times New Roman"/>
                <a:sym typeface="Times New Roman"/>
              </a:rPr>
              <a:t>A well-chosen and well-publicized trademark often has value far beyond the physical assets of a company, so it should be protected properly.</a:t>
            </a:r>
            <a:endParaRPr/>
          </a:p>
        </p:txBody>
      </p:sp>
      <p:sp>
        <p:nvSpPr>
          <p:cNvPr id="361" name="Google Shape;361;p42"/>
          <p:cNvSpPr txBox="1"/>
          <p:nvPr/>
        </p:nvSpPr>
        <p:spPr>
          <a:xfrm>
            <a:off x="0" y="0"/>
            <a:ext cx="9144000" cy="6858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Functions of a Trademark</a:t>
            </a:r>
            <a:endParaRPr/>
          </a:p>
          <a:p>
            <a:pPr marL="0" marR="0" lvl="0" indent="0"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43"/>
          <p:cNvSpPr/>
          <p:nvPr/>
        </p:nvSpPr>
        <p:spPr>
          <a:xfrm>
            <a:off x="762000" y="828289"/>
            <a:ext cx="7848600" cy="5701561"/>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IN" sz="2400">
                <a:solidFill>
                  <a:srgbClr val="000000"/>
                </a:solidFill>
                <a:latin typeface="Times New Roman"/>
                <a:ea typeface="Times New Roman"/>
                <a:cs typeface="Times New Roman"/>
                <a:sym typeface="Times New Roman"/>
              </a:rPr>
              <a:t>The legal requirements to register a trademark under the Act are:  </a:t>
            </a:r>
            <a:br>
              <a:rPr lang="en-IN" sz="2400">
                <a:solidFill>
                  <a:srgbClr val="000000"/>
                </a:solidFill>
                <a:latin typeface="Times New Roman"/>
                <a:ea typeface="Times New Roman"/>
                <a:cs typeface="Times New Roman"/>
                <a:sym typeface="Times New Roman"/>
              </a:rPr>
            </a:br>
            <a:endParaRPr sz="2400">
              <a:solidFill>
                <a:srgbClr val="000000"/>
              </a:solidFill>
              <a:latin typeface="Times New Roman"/>
              <a:ea typeface="Times New Roman"/>
              <a:cs typeface="Times New Roman"/>
              <a:sym typeface="Times New Roman"/>
            </a:endParaRPr>
          </a:p>
          <a:p>
            <a:pPr marL="720725" marR="0" lvl="0" indent="-720725" algn="just" rtl="0">
              <a:lnSpc>
                <a:spcPct val="200000"/>
              </a:lnSpc>
              <a:spcBef>
                <a:spcPts val="0"/>
              </a:spcBef>
              <a:spcAft>
                <a:spcPts val="0"/>
              </a:spcAft>
              <a:buClr>
                <a:srgbClr val="000000"/>
              </a:buClr>
              <a:buSzPts val="2400"/>
              <a:buFont typeface="Noto Sans Symbols"/>
              <a:buChar char="⮚"/>
            </a:pPr>
            <a:r>
              <a:rPr lang="en-IN" sz="2400">
                <a:solidFill>
                  <a:srgbClr val="000000"/>
                </a:solidFill>
                <a:latin typeface="Times New Roman"/>
                <a:ea typeface="Times New Roman"/>
                <a:cs typeface="Times New Roman"/>
                <a:sym typeface="Times New Roman"/>
              </a:rPr>
              <a:t>The selected mark should be capable of being represented graphically (that is in the paper form).</a:t>
            </a:r>
            <a:endParaRPr/>
          </a:p>
          <a:p>
            <a:pPr marL="720725" marR="0" lvl="0" indent="-720725" algn="just" rtl="0">
              <a:lnSpc>
                <a:spcPct val="200000"/>
              </a:lnSpc>
              <a:spcBef>
                <a:spcPts val="0"/>
              </a:spcBef>
              <a:spcAft>
                <a:spcPts val="0"/>
              </a:spcAft>
              <a:buClr>
                <a:srgbClr val="000000"/>
              </a:buClr>
              <a:buSzPts val="2400"/>
              <a:buFont typeface="Noto Sans Symbols"/>
              <a:buChar char="⮚"/>
            </a:pPr>
            <a:r>
              <a:rPr lang="en-IN" sz="2400">
                <a:solidFill>
                  <a:srgbClr val="000000"/>
                </a:solidFill>
                <a:latin typeface="Times New Roman"/>
                <a:ea typeface="Times New Roman"/>
                <a:cs typeface="Times New Roman"/>
                <a:sym typeface="Times New Roman"/>
              </a:rPr>
              <a:t>It should be capable of distinguishing the goods or services of one undertaking from those of others.       </a:t>
            </a:r>
            <a:endParaRPr/>
          </a:p>
          <a:p>
            <a:pPr marL="339725" marR="0" lvl="0" indent="-193675" algn="just" rtl="0">
              <a:lnSpc>
                <a:spcPct val="150000"/>
              </a:lnSpc>
              <a:spcBef>
                <a:spcPts val="0"/>
              </a:spcBef>
              <a:spcAft>
                <a:spcPts val="0"/>
              </a:spcAft>
              <a:buClr>
                <a:schemeClr val="dk1"/>
              </a:buClr>
              <a:buSzPts val="2300"/>
              <a:buFont typeface="Noto Sans Symbols"/>
              <a:buNone/>
            </a:pPr>
            <a:endParaRPr sz="2300">
              <a:solidFill>
                <a:schemeClr val="dk1"/>
              </a:solidFill>
              <a:latin typeface="Times New Roman"/>
              <a:ea typeface="Times New Roman"/>
              <a:cs typeface="Times New Roman"/>
              <a:sym typeface="Times New Roman"/>
            </a:endParaRPr>
          </a:p>
          <a:p>
            <a:pPr marL="360363" marR="0" lvl="0" indent="-233363" algn="l" rtl="0">
              <a:lnSpc>
                <a:spcPct val="150000"/>
              </a:lnSpc>
              <a:spcBef>
                <a:spcPts val="0"/>
              </a:spcBef>
              <a:spcAft>
                <a:spcPts val="0"/>
              </a:spcAft>
              <a:buClr>
                <a:schemeClr val="dk1"/>
              </a:buClr>
              <a:buSzPts val="2000"/>
              <a:buFont typeface="Noto Sans Symbols"/>
              <a:buNone/>
            </a:pPr>
            <a:endParaRPr sz="2000">
              <a:solidFill>
                <a:schemeClr val="dk1"/>
              </a:solidFill>
              <a:latin typeface="Times New Roman"/>
              <a:ea typeface="Times New Roman"/>
              <a:cs typeface="Times New Roman"/>
              <a:sym typeface="Times New Roman"/>
            </a:endParaRPr>
          </a:p>
        </p:txBody>
      </p:sp>
      <p:sp>
        <p:nvSpPr>
          <p:cNvPr id="367" name="Google Shape;367;p43"/>
          <p:cNvSpPr txBox="1"/>
          <p:nvPr/>
        </p:nvSpPr>
        <p:spPr>
          <a:xfrm>
            <a:off x="0" y="0"/>
            <a:ext cx="9144000" cy="6858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Requirements</a:t>
            </a:r>
            <a:endParaRPr/>
          </a:p>
          <a:p>
            <a:pPr marL="0" marR="0" lvl="0" indent="0"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44"/>
          <p:cNvSpPr/>
          <p:nvPr/>
        </p:nvSpPr>
        <p:spPr>
          <a:xfrm>
            <a:off x="152400" y="533400"/>
            <a:ext cx="8839200" cy="6093976"/>
          </a:xfrm>
          <a:prstGeom prst="rect">
            <a:avLst/>
          </a:prstGeom>
          <a:noFill/>
          <a:ln>
            <a:noFill/>
          </a:ln>
        </p:spPr>
        <p:txBody>
          <a:bodyPr spcFirstLastPara="1" wrap="square" lIns="91425" tIns="45700" rIns="91425" bIns="45700" anchor="t" anchorCtr="0">
            <a:spAutoFit/>
          </a:bodyPr>
          <a:lstStyle/>
          <a:p>
            <a:pPr marL="539750" marR="0" lvl="0" indent="-539750" algn="l" rtl="0">
              <a:lnSpc>
                <a:spcPct val="150000"/>
              </a:lnSpc>
              <a:spcBef>
                <a:spcPts val="0"/>
              </a:spcBef>
              <a:spcAft>
                <a:spcPts val="0"/>
              </a:spcAft>
              <a:buClr>
                <a:schemeClr val="dk1"/>
              </a:buClr>
              <a:buSzPts val="2000"/>
              <a:buFont typeface="Noto Sans Symbols"/>
              <a:buChar char="⮚"/>
            </a:pPr>
            <a:r>
              <a:rPr lang="en-IN" sz="2000">
                <a:solidFill>
                  <a:schemeClr val="dk1"/>
                </a:solidFill>
                <a:latin typeface="Times New Roman"/>
                <a:ea typeface="Times New Roman"/>
                <a:cs typeface="Times New Roman"/>
                <a:sym typeface="Times New Roman"/>
              </a:rPr>
              <a:t>If the mark is of such nature as to deceive the public or cause confusion</a:t>
            </a:r>
            <a:endParaRPr/>
          </a:p>
          <a:p>
            <a:pPr marL="539750" marR="0" lvl="0" indent="-539750" algn="l" rtl="0">
              <a:lnSpc>
                <a:spcPct val="150000"/>
              </a:lnSpc>
              <a:spcBef>
                <a:spcPts val="0"/>
              </a:spcBef>
              <a:spcAft>
                <a:spcPts val="0"/>
              </a:spcAft>
              <a:buClr>
                <a:schemeClr val="dk1"/>
              </a:buClr>
              <a:buSzPts val="2000"/>
              <a:buFont typeface="Noto Sans Symbols"/>
              <a:buChar char="⮚"/>
            </a:pPr>
            <a:r>
              <a:rPr lang="en-IN" sz="2000">
                <a:solidFill>
                  <a:schemeClr val="dk1"/>
                </a:solidFill>
                <a:latin typeface="Times New Roman"/>
                <a:ea typeface="Times New Roman"/>
                <a:cs typeface="Times New Roman"/>
                <a:sym typeface="Times New Roman"/>
              </a:rPr>
              <a:t>If it contains any matter likely to hurt the religious susceptibilities of any class or section of the citizens of India.   Ex. Ganapathi chapples</a:t>
            </a:r>
            <a:endParaRPr sz="2000">
              <a:solidFill>
                <a:schemeClr val="dk1"/>
              </a:solidFill>
              <a:latin typeface="Times New Roman"/>
              <a:ea typeface="Times New Roman"/>
              <a:cs typeface="Times New Roman"/>
              <a:sym typeface="Times New Roman"/>
            </a:endParaRPr>
          </a:p>
          <a:p>
            <a:pPr marL="539750" marR="0" lvl="0" indent="-539750" algn="l" rtl="0">
              <a:lnSpc>
                <a:spcPct val="150000"/>
              </a:lnSpc>
              <a:spcBef>
                <a:spcPts val="0"/>
              </a:spcBef>
              <a:spcAft>
                <a:spcPts val="0"/>
              </a:spcAft>
              <a:buClr>
                <a:schemeClr val="dk1"/>
              </a:buClr>
              <a:buSzPts val="2000"/>
              <a:buFont typeface="Noto Sans Symbols"/>
              <a:buChar char="⮚"/>
            </a:pPr>
            <a:r>
              <a:rPr lang="en-IN" sz="2000">
                <a:solidFill>
                  <a:schemeClr val="dk1"/>
                </a:solidFill>
                <a:latin typeface="Times New Roman"/>
                <a:ea typeface="Times New Roman"/>
                <a:cs typeface="Times New Roman"/>
                <a:sym typeface="Times New Roman"/>
              </a:rPr>
              <a:t>If it contains scandalous or obscene matters</a:t>
            </a:r>
            <a:endParaRPr/>
          </a:p>
          <a:p>
            <a:pPr marL="539750" marR="0" lvl="0" indent="-539750" algn="l" rtl="0">
              <a:lnSpc>
                <a:spcPct val="150000"/>
              </a:lnSpc>
              <a:spcBef>
                <a:spcPts val="0"/>
              </a:spcBef>
              <a:spcAft>
                <a:spcPts val="0"/>
              </a:spcAft>
              <a:buClr>
                <a:schemeClr val="dk1"/>
              </a:buClr>
              <a:buSzPts val="2000"/>
              <a:buFont typeface="Noto Sans Symbols"/>
              <a:buChar char="⮚"/>
            </a:pPr>
            <a:r>
              <a:rPr lang="en-IN" sz="2000">
                <a:solidFill>
                  <a:schemeClr val="dk1"/>
                </a:solidFill>
                <a:latin typeface="Times New Roman"/>
                <a:ea typeface="Times New Roman"/>
                <a:cs typeface="Times New Roman"/>
                <a:sym typeface="Times New Roman"/>
              </a:rPr>
              <a:t>If its use is prohibited under the Emblems and Names (Prevention of Improper use) Act, 1950    Ex. UNO, WHO</a:t>
            </a:r>
            <a:endParaRPr/>
          </a:p>
          <a:p>
            <a:pPr marL="539750" marR="0" lvl="0" indent="-539750" algn="l" rtl="0">
              <a:lnSpc>
                <a:spcPct val="150000"/>
              </a:lnSpc>
              <a:spcBef>
                <a:spcPts val="0"/>
              </a:spcBef>
              <a:spcAft>
                <a:spcPts val="0"/>
              </a:spcAft>
              <a:buClr>
                <a:schemeClr val="dk1"/>
              </a:buClr>
              <a:buSzPts val="2000"/>
              <a:buFont typeface="Noto Sans Symbols"/>
              <a:buChar char="⮚"/>
            </a:pPr>
            <a:r>
              <a:rPr lang="en-IN" sz="2000">
                <a:solidFill>
                  <a:schemeClr val="dk1"/>
                </a:solidFill>
                <a:latin typeface="Times New Roman"/>
                <a:ea typeface="Times New Roman"/>
                <a:cs typeface="Times New Roman"/>
                <a:sym typeface="Times New Roman"/>
              </a:rPr>
              <a:t>No indication as to character (Descriptiveness)   Ex. BEEF AND BREW restaurants</a:t>
            </a:r>
            <a:endParaRPr/>
          </a:p>
          <a:p>
            <a:pPr marL="539750" marR="0" lvl="0" indent="-539750" algn="l" rtl="0">
              <a:lnSpc>
                <a:spcPct val="150000"/>
              </a:lnSpc>
              <a:spcBef>
                <a:spcPts val="0"/>
              </a:spcBef>
              <a:spcAft>
                <a:spcPts val="0"/>
              </a:spcAft>
              <a:buClr>
                <a:schemeClr val="dk1"/>
              </a:buClr>
              <a:buSzPts val="2000"/>
              <a:buFont typeface="Noto Sans Symbols"/>
              <a:buChar char="⮚"/>
            </a:pPr>
            <a:r>
              <a:rPr lang="en-IN" sz="2000">
                <a:solidFill>
                  <a:schemeClr val="dk1"/>
                </a:solidFill>
                <a:latin typeface="Times New Roman"/>
                <a:ea typeface="Times New Roman"/>
                <a:cs typeface="Times New Roman"/>
                <a:sym typeface="Times New Roman"/>
              </a:rPr>
              <a:t>Shape as to nature and technical result Ex. Shape of football</a:t>
            </a:r>
            <a:endParaRPr/>
          </a:p>
          <a:p>
            <a:pPr marL="0" marR="0" lvl="0" indent="0" algn="l" rtl="0">
              <a:lnSpc>
                <a:spcPct val="150000"/>
              </a:lnSpc>
              <a:spcBef>
                <a:spcPts val="0"/>
              </a:spcBef>
              <a:spcAft>
                <a:spcPts val="0"/>
              </a:spcAft>
              <a:buNone/>
            </a:pPr>
            <a:r>
              <a:rPr lang="en-IN" sz="2000" b="1">
                <a:solidFill>
                  <a:srgbClr val="000000"/>
                </a:solidFill>
                <a:latin typeface="Times New Roman"/>
                <a:ea typeface="Times New Roman"/>
                <a:cs typeface="Times New Roman"/>
                <a:sym typeface="Times New Roman"/>
              </a:rPr>
              <a:t>Exceptions</a:t>
            </a:r>
            <a:endParaRPr/>
          </a:p>
          <a:p>
            <a:pPr marL="803275" marR="0" lvl="0" indent="-442913" algn="l" rtl="0">
              <a:lnSpc>
                <a:spcPct val="150000"/>
              </a:lnSpc>
              <a:spcBef>
                <a:spcPts val="0"/>
              </a:spcBef>
              <a:spcAft>
                <a:spcPts val="0"/>
              </a:spcAft>
              <a:buClr>
                <a:srgbClr val="000000"/>
              </a:buClr>
              <a:buSzPts val="2000"/>
              <a:buFont typeface="Noto Sans Symbols"/>
              <a:buChar char="⮚"/>
            </a:pPr>
            <a:r>
              <a:rPr lang="en-IN" sz="2000">
                <a:solidFill>
                  <a:srgbClr val="000000"/>
                </a:solidFill>
                <a:latin typeface="Times New Roman"/>
                <a:ea typeface="Times New Roman"/>
                <a:cs typeface="Times New Roman"/>
                <a:sym typeface="Times New Roman"/>
              </a:rPr>
              <a:t>Honest and concurrent use </a:t>
            </a:r>
            <a:endParaRPr/>
          </a:p>
          <a:p>
            <a:pPr marL="803275" marR="0" lvl="0" indent="-442913" algn="l" rtl="0">
              <a:lnSpc>
                <a:spcPct val="150000"/>
              </a:lnSpc>
              <a:spcBef>
                <a:spcPts val="0"/>
              </a:spcBef>
              <a:spcAft>
                <a:spcPts val="0"/>
              </a:spcAft>
              <a:buClr>
                <a:srgbClr val="000000"/>
              </a:buClr>
              <a:buSzPts val="2000"/>
              <a:buFont typeface="Noto Sans Symbols"/>
              <a:buChar char="⮚"/>
            </a:pPr>
            <a:r>
              <a:rPr lang="en-IN" sz="2000">
                <a:solidFill>
                  <a:srgbClr val="000000"/>
                </a:solidFill>
                <a:latin typeface="Times New Roman"/>
                <a:ea typeface="Times New Roman"/>
                <a:cs typeface="Times New Roman"/>
                <a:sym typeface="Times New Roman"/>
              </a:rPr>
              <a:t>Acquiring distinctive character/secondary meaning by its use or well-known</a:t>
            </a:r>
            <a:endParaRPr/>
          </a:p>
          <a:p>
            <a:pPr marL="803275" marR="0" lvl="0" indent="-442913" algn="l" rtl="0">
              <a:lnSpc>
                <a:spcPct val="150000"/>
              </a:lnSpc>
              <a:spcBef>
                <a:spcPts val="0"/>
              </a:spcBef>
              <a:spcAft>
                <a:spcPts val="0"/>
              </a:spcAft>
              <a:buNone/>
            </a:pPr>
            <a:r>
              <a:rPr lang="en-IN" sz="2000">
                <a:solidFill>
                  <a:srgbClr val="000000"/>
                </a:solidFill>
                <a:latin typeface="Times New Roman"/>
                <a:ea typeface="Times New Roman"/>
                <a:cs typeface="Times New Roman"/>
                <a:sym typeface="Times New Roman"/>
              </a:rPr>
              <a:t>           Ex.  Head &amp; Shoulders, Fair &amp; Lovely</a:t>
            </a:r>
            <a:endParaRPr sz="2000">
              <a:solidFill>
                <a:schemeClr val="dk1"/>
              </a:solidFill>
              <a:latin typeface="Times New Roman"/>
              <a:ea typeface="Times New Roman"/>
              <a:cs typeface="Times New Roman"/>
              <a:sym typeface="Times New Roman"/>
            </a:endParaRPr>
          </a:p>
        </p:txBody>
      </p:sp>
      <p:sp>
        <p:nvSpPr>
          <p:cNvPr id="373" name="Google Shape;373;p44"/>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Not Registrable</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4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chemeClr val="dk1"/>
              </a:buClr>
              <a:buSzPts val="3200"/>
              <a:buNone/>
            </a:pPr>
            <a:r>
              <a:rPr lang="en-IN"/>
              <a:t>    Initial registration of trademark shall be for a period of </a:t>
            </a:r>
            <a:r>
              <a:rPr lang="en-IN">
                <a:solidFill>
                  <a:srgbClr val="FF0000"/>
                </a:solidFill>
              </a:rPr>
              <a:t>10 years </a:t>
            </a:r>
            <a:r>
              <a:rPr lang="en-IN"/>
              <a:t>and can be renewed from time to time for an </a:t>
            </a:r>
            <a:r>
              <a:rPr lang="en-IN">
                <a:solidFill>
                  <a:srgbClr val="FF0000"/>
                </a:solidFill>
              </a:rPr>
              <a:t>unlimited period </a:t>
            </a:r>
            <a:r>
              <a:rPr lang="en-IN"/>
              <a:t>by payment of renewal fees.</a:t>
            </a:r>
            <a:endParaRPr/>
          </a:p>
          <a:p>
            <a:pPr marL="342900" lvl="0" indent="-139700" algn="l" rtl="0">
              <a:spcBef>
                <a:spcPts val="640"/>
              </a:spcBef>
              <a:spcAft>
                <a:spcPts val="0"/>
              </a:spcAft>
              <a:buClr>
                <a:schemeClr val="dk1"/>
              </a:buClr>
              <a:buSzPts val="3200"/>
              <a:buNone/>
            </a:pPr>
            <a:endParaRPr/>
          </a:p>
        </p:txBody>
      </p:sp>
      <p:sp>
        <p:nvSpPr>
          <p:cNvPr id="379" name="Google Shape;379;p45"/>
          <p:cNvSpPr txBox="1"/>
          <p:nvPr/>
        </p:nvSpPr>
        <p:spPr>
          <a:xfrm>
            <a:off x="0" y="0"/>
            <a:ext cx="9144000" cy="6858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Term of Protection</a:t>
            </a: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48"/>
          <p:cNvSpPr txBox="1">
            <a:spLocks noGrp="1"/>
          </p:cNvSpPr>
          <p:nvPr>
            <p:ph type="subTitle" idx="1"/>
          </p:nvPr>
        </p:nvSpPr>
        <p:spPr>
          <a:xfrm>
            <a:off x="838200" y="1371600"/>
            <a:ext cx="7543800" cy="3810000"/>
          </a:xfrm>
          <a:prstGeom prst="rect">
            <a:avLst/>
          </a:prstGeom>
          <a:noFill/>
          <a:ln>
            <a:noFill/>
          </a:ln>
        </p:spPr>
        <p:txBody>
          <a:bodyPr spcFirstLastPara="1" wrap="square" lIns="91425" tIns="45700" rIns="91425" bIns="45700" anchor="t" anchorCtr="0">
            <a:noAutofit/>
          </a:bodyPr>
          <a:lstStyle/>
          <a:p>
            <a:pPr marL="539750" lvl="0" indent="-539750" algn="just" rtl="0">
              <a:lnSpc>
                <a:spcPct val="150000"/>
              </a:lnSpc>
              <a:spcBef>
                <a:spcPts val="0"/>
              </a:spcBef>
              <a:spcAft>
                <a:spcPts val="0"/>
              </a:spcAft>
              <a:buClr>
                <a:srgbClr val="0C0C0C"/>
              </a:buClr>
              <a:buSzPts val="2400"/>
              <a:buNone/>
            </a:pPr>
            <a:r>
              <a:rPr lang="en-IN" sz="2400">
                <a:solidFill>
                  <a:srgbClr val="0C0C0C"/>
                </a:solidFill>
                <a:latin typeface="Times New Roman"/>
                <a:ea typeface="Times New Roman"/>
                <a:cs typeface="Times New Roman"/>
                <a:sym typeface="Times New Roman"/>
              </a:rPr>
              <a:t>A Trademark may be designated by the following symbols:</a:t>
            </a:r>
            <a:endParaRPr/>
          </a:p>
          <a:p>
            <a:pPr marL="900113" lvl="0" indent="-539750" algn="just" rtl="0">
              <a:lnSpc>
                <a:spcPct val="150000"/>
              </a:lnSpc>
              <a:spcBef>
                <a:spcPts val="800"/>
              </a:spcBef>
              <a:spcAft>
                <a:spcPts val="0"/>
              </a:spcAft>
              <a:buClr>
                <a:schemeClr val="dk1"/>
              </a:buClr>
              <a:buSzPts val="4000"/>
              <a:buFont typeface="Noto Sans Symbols"/>
              <a:buChar char="⮚"/>
            </a:pPr>
            <a:r>
              <a:rPr lang="en-IN" sz="4000">
                <a:solidFill>
                  <a:schemeClr val="dk1"/>
                </a:solidFill>
                <a:latin typeface="Times New Roman"/>
                <a:ea typeface="Times New Roman"/>
                <a:cs typeface="Times New Roman"/>
                <a:sym typeface="Times New Roman"/>
              </a:rPr>
              <a:t>TM</a:t>
            </a:r>
            <a:r>
              <a:rPr lang="en-IN" sz="2400">
                <a:solidFill>
                  <a:schemeClr val="dk1"/>
                </a:solidFill>
                <a:latin typeface="Times New Roman"/>
                <a:ea typeface="Times New Roman"/>
                <a:cs typeface="Times New Roman"/>
                <a:sym typeface="Times New Roman"/>
              </a:rPr>
              <a:t>    -  </a:t>
            </a:r>
            <a:r>
              <a:rPr lang="en-IN" sz="2400">
                <a:solidFill>
                  <a:srgbClr val="02485C"/>
                </a:solidFill>
                <a:latin typeface="Times New Roman"/>
                <a:ea typeface="Times New Roman"/>
                <a:cs typeface="Times New Roman"/>
                <a:sym typeface="Times New Roman"/>
              </a:rPr>
              <a:t> </a:t>
            </a:r>
            <a:r>
              <a:rPr lang="en-IN" sz="2400">
                <a:solidFill>
                  <a:srgbClr val="0C0C0C"/>
                </a:solidFill>
                <a:latin typeface="Times New Roman"/>
                <a:ea typeface="Times New Roman"/>
                <a:cs typeface="Times New Roman"/>
                <a:sym typeface="Times New Roman"/>
              </a:rPr>
              <a:t>For an unregistered trademark</a:t>
            </a:r>
            <a:endParaRPr/>
          </a:p>
          <a:p>
            <a:pPr marL="1081088" lvl="0" indent="-720725" algn="just" rtl="0">
              <a:lnSpc>
                <a:spcPct val="150000"/>
              </a:lnSpc>
              <a:spcBef>
                <a:spcPts val="1080"/>
              </a:spcBef>
              <a:spcAft>
                <a:spcPts val="0"/>
              </a:spcAft>
              <a:buClr>
                <a:schemeClr val="dk1"/>
              </a:buClr>
              <a:buSzPts val="5400"/>
              <a:buFont typeface="Noto Sans Symbols"/>
              <a:buChar char="⮚"/>
            </a:pPr>
            <a:r>
              <a:rPr lang="en-IN" sz="5400">
                <a:solidFill>
                  <a:schemeClr val="dk1"/>
                </a:solidFill>
                <a:latin typeface="Times New Roman"/>
                <a:ea typeface="Times New Roman"/>
                <a:cs typeface="Times New Roman"/>
                <a:sym typeface="Times New Roman"/>
              </a:rPr>
              <a:t>® </a:t>
            </a:r>
            <a:r>
              <a:rPr lang="en-IN" sz="2400">
                <a:solidFill>
                  <a:schemeClr val="dk1"/>
                </a:solidFill>
                <a:latin typeface="Times New Roman"/>
                <a:ea typeface="Times New Roman"/>
                <a:cs typeface="Times New Roman"/>
                <a:sym typeface="Times New Roman"/>
              </a:rPr>
              <a:t>      -   </a:t>
            </a:r>
            <a:r>
              <a:rPr lang="en-IN" sz="2400">
                <a:solidFill>
                  <a:srgbClr val="0C0C0C"/>
                </a:solidFill>
                <a:latin typeface="Times New Roman"/>
                <a:ea typeface="Times New Roman"/>
                <a:cs typeface="Times New Roman"/>
                <a:sym typeface="Times New Roman"/>
              </a:rPr>
              <a:t>Registered trademark </a:t>
            </a:r>
            <a:endParaRPr/>
          </a:p>
          <a:p>
            <a:pPr marL="900113" lvl="0" indent="-539750" algn="just" rtl="0">
              <a:lnSpc>
                <a:spcPct val="150000"/>
              </a:lnSpc>
              <a:spcBef>
                <a:spcPts val="880"/>
              </a:spcBef>
              <a:spcAft>
                <a:spcPts val="0"/>
              </a:spcAft>
              <a:buClr>
                <a:schemeClr val="dk1"/>
              </a:buClr>
              <a:buSzPts val="2400"/>
              <a:buNone/>
            </a:pPr>
            <a:r>
              <a:rPr lang="en-IN" sz="2400">
                <a:solidFill>
                  <a:schemeClr val="dk1"/>
                </a:solidFill>
                <a:latin typeface="Times New Roman"/>
                <a:ea typeface="Times New Roman"/>
                <a:cs typeface="Times New Roman"/>
                <a:sym typeface="Times New Roman"/>
              </a:rPr>
              <a:t>                        Ex: </a:t>
            </a:r>
            <a:r>
              <a:rPr lang="en-IN" sz="1800"/>
              <a:t> </a:t>
            </a:r>
            <a:r>
              <a:rPr lang="en-IN" b="1">
                <a:solidFill>
                  <a:srgbClr val="062328"/>
                </a:solidFill>
              </a:rPr>
              <a:t>Paradise</a:t>
            </a:r>
            <a:r>
              <a:rPr lang="en-IN" sz="4400" b="1" baseline="30000">
                <a:solidFill>
                  <a:srgbClr val="062328"/>
                </a:solidFill>
              </a:rPr>
              <a:t>®</a:t>
            </a:r>
            <a:endParaRPr sz="4400" b="1">
              <a:solidFill>
                <a:srgbClr val="062328"/>
              </a:solidFill>
            </a:endParaRPr>
          </a:p>
          <a:p>
            <a:pPr marL="900113" lvl="0" indent="-539750" algn="just" rtl="0">
              <a:lnSpc>
                <a:spcPct val="150000"/>
              </a:lnSpc>
              <a:spcBef>
                <a:spcPts val="360"/>
              </a:spcBef>
              <a:spcAft>
                <a:spcPts val="0"/>
              </a:spcAft>
              <a:buClr>
                <a:srgbClr val="888888"/>
              </a:buClr>
              <a:buSzPts val="1800"/>
              <a:buNone/>
            </a:pPr>
            <a:endParaRPr sz="1800">
              <a:solidFill>
                <a:schemeClr val="dk1"/>
              </a:solidFill>
              <a:latin typeface="Times New Roman"/>
              <a:ea typeface="Times New Roman"/>
              <a:cs typeface="Times New Roman"/>
              <a:sym typeface="Times New Roman"/>
            </a:endParaRPr>
          </a:p>
          <a:p>
            <a:pPr marL="539750" lvl="0" indent="-387350" algn="just" rtl="0">
              <a:spcBef>
                <a:spcPts val="480"/>
              </a:spcBef>
              <a:spcAft>
                <a:spcPts val="0"/>
              </a:spcAft>
              <a:buClr>
                <a:srgbClr val="888888"/>
              </a:buClr>
              <a:buSzPts val="2400"/>
              <a:buFont typeface="Noto Sans Symbols"/>
              <a:buNone/>
            </a:pPr>
            <a:endParaRPr sz="2400">
              <a:solidFill>
                <a:schemeClr val="dk1"/>
              </a:solidFill>
              <a:latin typeface="Times New Roman"/>
              <a:ea typeface="Times New Roman"/>
              <a:cs typeface="Times New Roman"/>
              <a:sym typeface="Times New Roman"/>
            </a:endParaRPr>
          </a:p>
          <a:p>
            <a:pPr marL="339725" lvl="0" indent="-339725" algn="just" rtl="0">
              <a:spcBef>
                <a:spcPts val="480"/>
              </a:spcBef>
              <a:spcAft>
                <a:spcPts val="0"/>
              </a:spcAft>
              <a:buClr>
                <a:srgbClr val="888888"/>
              </a:buClr>
              <a:buSzPts val="2400"/>
              <a:buNone/>
            </a:pPr>
            <a:endParaRPr sz="2400" b="0">
              <a:solidFill>
                <a:schemeClr val="dk1"/>
              </a:solidFill>
              <a:latin typeface="Times New Roman"/>
              <a:ea typeface="Times New Roman"/>
              <a:cs typeface="Times New Roman"/>
              <a:sym typeface="Times New Roman"/>
            </a:endParaRPr>
          </a:p>
        </p:txBody>
      </p:sp>
      <p:sp>
        <p:nvSpPr>
          <p:cNvPr id="397" name="Google Shape;397;p48"/>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Trademark symbol</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49"/>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342900" lvl="0" indent="-342900" algn="l" rtl="0">
              <a:lnSpc>
                <a:spcPct val="150000"/>
              </a:lnSpc>
              <a:spcBef>
                <a:spcPts val="0"/>
              </a:spcBef>
              <a:spcAft>
                <a:spcPts val="0"/>
              </a:spcAft>
              <a:buClr>
                <a:srgbClr val="000000"/>
              </a:buClr>
              <a:buSzPts val="2400"/>
              <a:buChar char="•"/>
            </a:pPr>
            <a:r>
              <a:rPr lang="en-IN" sz="2400">
                <a:solidFill>
                  <a:srgbClr val="000000"/>
                </a:solidFill>
                <a:latin typeface="Times New Roman"/>
                <a:ea typeface="Times New Roman"/>
                <a:cs typeface="Times New Roman"/>
                <a:sym typeface="Times New Roman"/>
              </a:rPr>
              <a:t>Passing off is a form of tort used to enforce unregistered trade mark rights. </a:t>
            </a:r>
            <a:endParaRPr/>
          </a:p>
          <a:p>
            <a:pPr marL="342900" lvl="0" indent="-342900" algn="l" rtl="0">
              <a:lnSpc>
                <a:spcPct val="150000"/>
              </a:lnSpc>
              <a:spcBef>
                <a:spcPts val="480"/>
              </a:spcBef>
              <a:spcAft>
                <a:spcPts val="0"/>
              </a:spcAft>
              <a:buClr>
                <a:srgbClr val="000000"/>
              </a:buClr>
              <a:buSzPts val="2400"/>
              <a:buChar char="•"/>
            </a:pPr>
            <a:r>
              <a:rPr lang="en-IN" sz="2400">
                <a:solidFill>
                  <a:srgbClr val="000000"/>
                </a:solidFill>
                <a:latin typeface="Times New Roman"/>
                <a:ea typeface="Times New Roman"/>
                <a:cs typeface="Times New Roman"/>
                <a:sym typeface="Times New Roman"/>
              </a:rPr>
              <a:t>The tort of passing off protects the goodwill of a trader from a misrepresentation.                     </a:t>
            </a:r>
            <a:endParaRPr sz="2400" b="1">
              <a:solidFill>
                <a:srgbClr val="FF0000"/>
              </a:solidFill>
              <a:latin typeface="Times New Roman"/>
              <a:ea typeface="Times New Roman"/>
              <a:cs typeface="Times New Roman"/>
              <a:sym typeface="Times New Roman"/>
            </a:endParaRPr>
          </a:p>
          <a:p>
            <a:pPr marL="342900" lvl="0" indent="-342900" algn="l" rtl="0">
              <a:lnSpc>
                <a:spcPct val="150000"/>
              </a:lnSpc>
              <a:spcBef>
                <a:spcPts val="480"/>
              </a:spcBef>
              <a:spcAft>
                <a:spcPts val="0"/>
              </a:spcAft>
              <a:buClr>
                <a:srgbClr val="000000"/>
              </a:buClr>
              <a:buSzPts val="2400"/>
              <a:buChar char="•"/>
            </a:pPr>
            <a:r>
              <a:rPr lang="en-IN" sz="2400">
                <a:solidFill>
                  <a:srgbClr val="000000"/>
                </a:solidFill>
                <a:latin typeface="Times New Roman"/>
                <a:ea typeface="Times New Roman"/>
                <a:cs typeface="Times New Roman"/>
                <a:sym typeface="Times New Roman"/>
              </a:rPr>
              <a:t>No one is entitled to represent his goods or services as being the goods or services of another</a:t>
            </a:r>
            <a:endParaRPr/>
          </a:p>
        </p:txBody>
      </p:sp>
      <p:sp>
        <p:nvSpPr>
          <p:cNvPr id="403" name="Google Shape;403;p49"/>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Passing off action for Unregistered Trademark</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52"/>
          <p:cNvSpPr txBox="1">
            <a:spLocks noGrp="1"/>
          </p:cNvSpPr>
          <p:nvPr>
            <p:ph type="subTitle" idx="1"/>
          </p:nvPr>
        </p:nvSpPr>
        <p:spPr>
          <a:xfrm>
            <a:off x="762000" y="990600"/>
            <a:ext cx="7924800" cy="5715000"/>
          </a:xfrm>
          <a:prstGeom prst="rect">
            <a:avLst/>
          </a:prstGeom>
          <a:noFill/>
          <a:ln>
            <a:noFill/>
          </a:ln>
        </p:spPr>
        <p:txBody>
          <a:bodyPr spcFirstLastPara="1" wrap="square" lIns="91425" tIns="45700" rIns="91425" bIns="45700" anchor="t" anchorCtr="0">
            <a:noAutofit/>
          </a:bodyPr>
          <a:lstStyle/>
          <a:p>
            <a:pPr marL="339725" lvl="0" indent="-339725" algn="just" rtl="0">
              <a:lnSpc>
                <a:spcPct val="170000"/>
              </a:lnSpc>
              <a:spcBef>
                <a:spcPts val="0"/>
              </a:spcBef>
              <a:spcAft>
                <a:spcPts val="0"/>
              </a:spcAft>
              <a:buClr>
                <a:schemeClr val="dk1"/>
              </a:buClr>
              <a:buSzPts val="2200"/>
              <a:buFont typeface="Noto Sans Symbols"/>
              <a:buChar char="⮚"/>
            </a:pPr>
            <a:r>
              <a:rPr lang="en-IN" sz="2200" b="0">
                <a:solidFill>
                  <a:schemeClr val="dk1"/>
                </a:solidFill>
                <a:latin typeface="Times New Roman"/>
                <a:ea typeface="Times New Roman"/>
                <a:cs typeface="Times New Roman"/>
                <a:sym typeface="Times New Roman"/>
              </a:rPr>
              <a:t>Ordinary application:</a:t>
            </a:r>
            <a:endParaRPr/>
          </a:p>
          <a:p>
            <a:pPr marL="339725" lvl="0" indent="-339725" algn="just" rtl="0">
              <a:lnSpc>
                <a:spcPct val="170000"/>
              </a:lnSpc>
              <a:spcBef>
                <a:spcPts val="440"/>
              </a:spcBef>
              <a:spcAft>
                <a:spcPts val="0"/>
              </a:spcAft>
              <a:buClr>
                <a:schemeClr val="dk1"/>
              </a:buClr>
              <a:buSzPts val="2200"/>
              <a:buNone/>
            </a:pPr>
            <a:r>
              <a:rPr lang="en-IN" sz="2200" b="0">
                <a:solidFill>
                  <a:schemeClr val="dk1"/>
                </a:solidFill>
                <a:latin typeface="Times New Roman"/>
                <a:ea typeface="Times New Roman"/>
                <a:cs typeface="Times New Roman"/>
                <a:sym typeface="Times New Roman"/>
              </a:rPr>
              <a:t>           An ordinary application does not claim priority.</a:t>
            </a:r>
            <a:endParaRPr/>
          </a:p>
          <a:p>
            <a:pPr marL="339725" lvl="0" indent="-339725" algn="just" rtl="0">
              <a:lnSpc>
                <a:spcPct val="170000"/>
              </a:lnSpc>
              <a:spcBef>
                <a:spcPts val="440"/>
              </a:spcBef>
              <a:spcAft>
                <a:spcPts val="0"/>
              </a:spcAft>
              <a:buClr>
                <a:schemeClr val="dk1"/>
              </a:buClr>
              <a:buSzPts val="2200"/>
              <a:buFont typeface="Noto Sans Symbols"/>
              <a:buChar char="⮚"/>
            </a:pPr>
            <a:r>
              <a:rPr lang="en-IN" sz="2200" b="0">
                <a:solidFill>
                  <a:schemeClr val="dk1"/>
                </a:solidFill>
                <a:latin typeface="Times New Roman"/>
                <a:ea typeface="Times New Roman"/>
                <a:cs typeface="Times New Roman"/>
                <a:sym typeface="Times New Roman"/>
              </a:rPr>
              <a:t>Reciprocity application:</a:t>
            </a:r>
            <a:endParaRPr/>
          </a:p>
          <a:p>
            <a:pPr marL="720725" lvl="0" indent="0" algn="just" rtl="0">
              <a:lnSpc>
                <a:spcPct val="170000"/>
              </a:lnSpc>
              <a:spcBef>
                <a:spcPts val="440"/>
              </a:spcBef>
              <a:spcAft>
                <a:spcPts val="0"/>
              </a:spcAft>
              <a:buClr>
                <a:schemeClr val="dk1"/>
              </a:buClr>
              <a:buSzPts val="2200"/>
              <a:buNone/>
            </a:pPr>
            <a:r>
              <a:rPr lang="en-IN" sz="2200" b="0">
                <a:solidFill>
                  <a:schemeClr val="dk1"/>
                </a:solidFill>
                <a:latin typeface="Times New Roman"/>
                <a:ea typeface="Times New Roman"/>
                <a:cs typeface="Times New Roman"/>
                <a:sym typeface="Times New Roman"/>
              </a:rPr>
              <a:t> A reciprocity application claims priority of an application filed previously in a convention country. Such an application shall be filed in India within six months from the date of filing in convention country. </a:t>
            </a:r>
            <a:endParaRPr sz="2200" b="1">
              <a:solidFill>
                <a:srgbClr val="FF0000"/>
              </a:solidFill>
              <a:latin typeface="Times New Roman"/>
              <a:ea typeface="Times New Roman"/>
              <a:cs typeface="Times New Roman"/>
              <a:sym typeface="Times New Roman"/>
            </a:endParaRPr>
          </a:p>
          <a:p>
            <a:pPr marL="539750" lvl="0" indent="0" algn="just" rtl="0">
              <a:lnSpc>
                <a:spcPct val="170000"/>
              </a:lnSpc>
              <a:spcBef>
                <a:spcPts val="440"/>
              </a:spcBef>
              <a:spcAft>
                <a:spcPts val="0"/>
              </a:spcAft>
              <a:buClr>
                <a:srgbClr val="888888"/>
              </a:buClr>
              <a:buSzPts val="2200"/>
              <a:buNone/>
            </a:pPr>
            <a:endParaRPr sz="2200">
              <a:solidFill>
                <a:srgbClr val="FF0000"/>
              </a:solidFill>
              <a:latin typeface="Times New Roman"/>
              <a:ea typeface="Times New Roman"/>
              <a:cs typeface="Times New Roman"/>
              <a:sym typeface="Times New Roman"/>
            </a:endParaRPr>
          </a:p>
        </p:txBody>
      </p:sp>
      <p:sp>
        <p:nvSpPr>
          <p:cNvPr id="421" name="Google Shape;421;p52"/>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Type of Applications</a:t>
            </a: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53"/>
          <p:cNvSpPr/>
          <p:nvPr/>
        </p:nvSpPr>
        <p:spPr>
          <a:xfrm>
            <a:off x="533400" y="1012174"/>
            <a:ext cx="8458200" cy="4702826"/>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IN" sz="2800" b="1">
                <a:solidFill>
                  <a:schemeClr val="dk1"/>
                </a:solidFill>
                <a:latin typeface="Times New Roman"/>
                <a:ea typeface="Times New Roman"/>
                <a:cs typeface="Times New Roman"/>
                <a:sym typeface="Times New Roman"/>
              </a:rPr>
              <a:t>Madrid system </a:t>
            </a:r>
            <a:r>
              <a:rPr lang="en-IN" sz="2800">
                <a:solidFill>
                  <a:schemeClr val="dk1"/>
                </a:solidFill>
                <a:latin typeface="Times New Roman"/>
                <a:ea typeface="Times New Roman"/>
                <a:cs typeface="Times New Roman"/>
                <a:sym typeface="Times New Roman"/>
              </a:rPr>
              <a:t>- Administered by WIPO ~ 121 countries </a:t>
            </a:r>
            <a:endParaRPr sz="2800">
              <a:solidFill>
                <a:schemeClr val="dk1"/>
              </a:solidFill>
              <a:latin typeface="Times New Roman"/>
              <a:ea typeface="Times New Roman"/>
              <a:cs typeface="Times New Roman"/>
              <a:sym typeface="Times New Roman"/>
            </a:endParaRPr>
          </a:p>
          <a:p>
            <a:pPr marL="360363" marR="0" lvl="1" indent="0" algn="l" rtl="0">
              <a:lnSpc>
                <a:spcPct val="150000"/>
              </a:lnSpc>
              <a:spcBef>
                <a:spcPts val="560"/>
              </a:spcBef>
              <a:spcAft>
                <a:spcPts val="0"/>
              </a:spcAft>
              <a:buNone/>
            </a:pPr>
            <a:r>
              <a:rPr lang="en-IN" sz="2800" b="0" i="0" u="none" strike="noStrike" cap="none">
                <a:solidFill>
                  <a:schemeClr val="dk1"/>
                </a:solidFill>
                <a:latin typeface="Calibri"/>
                <a:ea typeface="Calibri"/>
                <a:cs typeface="Calibri"/>
                <a:sym typeface="Calibri"/>
              </a:rPr>
              <a:t>Trademark protection can be obtained in many jurisdictions by filing one application, in one language with one set of fees, and make any changes (e.g. changes of name or address) and renew registration across all applicable jurisdictions through a single administrative process</a:t>
            </a:r>
            <a:endParaRPr sz="2800" b="0" i="0" u="none" strike="noStrike" cap="none">
              <a:solidFill>
                <a:schemeClr val="dk1"/>
              </a:solidFill>
              <a:latin typeface="Times New Roman"/>
              <a:ea typeface="Times New Roman"/>
              <a:cs typeface="Times New Roman"/>
              <a:sym typeface="Times New Roman"/>
            </a:endParaRPr>
          </a:p>
        </p:txBody>
      </p:sp>
      <p:sp>
        <p:nvSpPr>
          <p:cNvPr id="427" name="Google Shape;427;p53"/>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International Trademark Registration</a:t>
            </a:r>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54"/>
          <p:cNvSpPr txBox="1"/>
          <p:nvPr/>
        </p:nvSpPr>
        <p:spPr>
          <a:xfrm>
            <a:off x="381000" y="6400800"/>
            <a:ext cx="564295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chemeClr val="dk1"/>
                </a:solidFill>
                <a:latin typeface="Times New Roman"/>
                <a:ea typeface="Times New Roman"/>
                <a:cs typeface="Times New Roman"/>
                <a:sym typeface="Times New Roman"/>
              </a:rPr>
              <a:t>Copyright © 2020, Sailaja Sarvepalli, All Rights Reserved.</a:t>
            </a:r>
            <a:endParaRPr/>
          </a:p>
        </p:txBody>
      </p:sp>
      <p:sp>
        <p:nvSpPr>
          <p:cNvPr id="433" name="Google Shape;433;p54"/>
          <p:cNvSpPr/>
          <p:nvPr/>
        </p:nvSpPr>
        <p:spPr>
          <a:xfrm>
            <a:off x="533400" y="1066800"/>
            <a:ext cx="8229600" cy="3124200"/>
          </a:xfrm>
          <a:prstGeom prst="horizontalScroll">
            <a:avLst>
              <a:gd name="adj" fmla="val 12500"/>
            </a:avLst>
          </a:prstGeom>
          <a:solidFill>
            <a:srgbClr val="089CA2"/>
          </a:solidFill>
          <a:ln w="57150"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8800" b="1" i="1">
                <a:solidFill>
                  <a:schemeClr val="lt1"/>
                </a:solidFill>
                <a:latin typeface="Ruge Boogie"/>
                <a:ea typeface="Ruge Boogie"/>
                <a:cs typeface="Ruge Boogie"/>
                <a:sym typeface="Ruge Boogie"/>
              </a:rPr>
              <a:t>COPYRIGHT</a:t>
            </a:r>
            <a:endParaRPr/>
          </a:p>
        </p:txBody>
      </p:sp>
    </p:spTree>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55"/>
          <p:cNvSpPr txBox="1">
            <a:spLocks noGrp="1"/>
          </p:cNvSpPr>
          <p:nvPr>
            <p:ph type="subTitle" idx="1"/>
          </p:nvPr>
        </p:nvSpPr>
        <p:spPr>
          <a:xfrm>
            <a:off x="228600" y="533400"/>
            <a:ext cx="8305800" cy="12954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2400"/>
              <a:buNone/>
            </a:pPr>
            <a:r>
              <a:rPr lang="en-IN" sz="2400">
                <a:solidFill>
                  <a:schemeClr val="dk1"/>
                </a:solidFill>
                <a:latin typeface="Times New Roman"/>
                <a:ea typeface="Times New Roman"/>
                <a:cs typeface="Times New Roman"/>
                <a:sym typeface="Times New Roman"/>
              </a:rPr>
              <a:t>Copyright is a right given by the law to creators of literary, dramatic, musical and artistic works and producers of cinematograph films and sound recordings.</a:t>
            </a:r>
            <a:endParaRPr sz="2000" b="0">
              <a:solidFill>
                <a:schemeClr val="dk1"/>
              </a:solidFill>
              <a:latin typeface="Times New Roman"/>
              <a:ea typeface="Times New Roman"/>
              <a:cs typeface="Times New Roman"/>
              <a:sym typeface="Times New Roman"/>
            </a:endParaRPr>
          </a:p>
        </p:txBody>
      </p:sp>
      <p:sp>
        <p:nvSpPr>
          <p:cNvPr id="439" name="Google Shape;439;p55"/>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COPYRIGHT</a:t>
            </a:r>
            <a:endParaRPr/>
          </a:p>
          <a:p>
            <a:pPr marL="0" marR="0" lvl="0" indent="0"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pic>
        <p:nvPicPr>
          <p:cNvPr id="440" name="Google Shape;440;p55" descr="http://www.americasfoundation.net/littleprince_marv_lyons_photos/167%20drama.jpg"/>
          <p:cNvPicPr preferRelativeResize="0"/>
          <p:nvPr/>
        </p:nvPicPr>
        <p:blipFill rotWithShape="1">
          <a:blip r:embed="rId3">
            <a:alphaModFix/>
          </a:blip>
          <a:srcRect/>
          <a:stretch/>
        </p:blipFill>
        <p:spPr>
          <a:xfrm>
            <a:off x="152400" y="4876800"/>
            <a:ext cx="2038350" cy="1541463"/>
          </a:xfrm>
          <a:prstGeom prst="rect">
            <a:avLst/>
          </a:prstGeom>
          <a:noFill/>
          <a:ln>
            <a:noFill/>
          </a:ln>
        </p:spPr>
      </p:pic>
      <p:pic>
        <p:nvPicPr>
          <p:cNvPr id="441" name="Google Shape;441;p55" descr="http://www.lookstein.org/images/books.jpg"/>
          <p:cNvPicPr preferRelativeResize="0"/>
          <p:nvPr/>
        </p:nvPicPr>
        <p:blipFill rotWithShape="1">
          <a:blip r:embed="rId4">
            <a:alphaModFix/>
          </a:blip>
          <a:srcRect/>
          <a:stretch/>
        </p:blipFill>
        <p:spPr>
          <a:xfrm>
            <a:off x="990600" y="1828800"/>
            <a:ext cx="1335088" cy="1725613"/>
          </a:xfrm>
          <a:prstGeom prst="rect">
            <a:avLst/>
          </a:prstGeom>
          <a:noFill/>
          <a:ln>
            <a:noFill/>
          </a:ln>
        </p:spPr>
      </p:pic>
      <p:pic>
        <p:nvPicPr>
          <p:cNvPr id="442" name="Google Shape;442;p55" descr="http://www.cubaconnect.co.uk/images/prods/cuban music cd.jpg"/>
          <p:cNvPicPr preferRelativeResize="0"/>
          <p:nvPr/>
        </p:nvPicPr>
        <p:blipFill rotWithShape="1">
          <a:blip r:embed="rId5">
            <a:alphaModFix/>
          </a:blip>
          <a:srcRect/>
          <a:stretch/>
        </p:blipFill>
        <p:spPr>
          <a:xfrm>
            <a:off x="6629400" y="2133600"/>
            <a:ext cx="1882775" cy="1822450"/>
          </a:xfrm>
          <a:prstGeom prst="rect">
            <a:avLst/>
          </a:prstGeom>
          <a:noFill/>
          <a:ln>
            <a:noFill/>
          </a:ln>
        </p:spPr>
      </p:pic>
      <p:pic>
        <p:nvPicPr>
          <p:cNvPr id="443" name="Google Shape;443;p55" descr="http://www.toursnicaragua.com/images/solentiname-painting.jpg"/>
          <p:cNvPicPr preferRelativeResize="0"/>
          <p:nvPr/>
        </p:nvPicPr>
        <p:blipFill rotWithShape="1">
          <a:blip r:embed="rId6">
            <a:alphaModFix/>
          </a:blip>
          <a:srcRect/>
          <a:stretch/>
        </p:blipFill>
        <p:spPr>
          <a:xfrm>
            <a:off x="5181600" y="4419600"/>
            <a:ext cx="1752600" cy="2362200"/>
          </a:xfrm>
          <a:prstGeom prst="rect">
            <a:avLst/>
          </a:prstGeom>
          <a:noFill/>
          <a:ln>
            <a:noFill/>
          </a:ln>
        </p:spPr>
      </p:pic>
      <p:pic>
        <p:nvPicPr>
          <p:cNvPr id="444" name="Google Shape;444;p55" descr="http://www.pyramidsoundstudios.com/Images/st-desk1big.gif"/>
          <p:cNvPicPr preferRelativeResize="0"/>
          <p:nvPr/>
        </p:nvPicPr>
        <p:blipFill rotWithShape="1">
          <a:blip r:embed="rId7">
            <a:alphaModFix/>
          </a:blip>
          <a:srcRect/>
          <a:stretch/>
        </p:blipFill>
        <p:spPr>
          <a:xfrm>
            <a:off x="2895600" y="4800600"/>
            <a:ext cx="1819275" cy="1874838"/>
          </a:xfrm>
          <a:prstGeom prst="rect">
            <a:avLst/>
          </a:prstGeom>
          <a:noFill/>
          <a:ln>
            <a:noFill/>
          </a:ln>
        </p:spPr>
      </p:pic>
      <p:pic>
        <p:nvPicPr>
          <p:cNvPr id="445" name="Google Shape;445;p55" descr="http://www.the-scientist.com/images/yr2002/jun24/film.jpg"/>
          <p:cNvPicPr preferRelativeResize="0"/>
          <p:nvPr/>
        </p:nvPicPr>
        <p:blipFill rotWithShape="1">
          <a:blip r:embed="rId8">
            <a:alphaModFix/>
          </a:blip>
          <a:srcRect/>
          <a:stretch/>
        </p:blipFill>
        <p:spPr>
          <a:xfrm>
            <a:off x="3581400" y="1828800"/>
            <a:ext cx="1114425" cy="1727200"/>
          </a:xfrm>
          <a:prstGeom prst="rect">
            <a:avLst/>
          </a:prstGeom>
          <a:noFill/>
          <a:ln>
            <a:noFill/>
          </a:ln>
        </p:spPr>
      </p:pic>
      <p:sp>
        <p:nvSpPr>
          <p:cNvPr id="446" name="Google Shape;446;p55"/>
          <p:cNvSpPr/>
          <p:nvPr/>
        </p:nvSpPr>
        <p:spPr>
          <a:xfrm>
            <a:off x="914400" y="3657600"/>
            <a:ext cx="1465263" cy="51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b="1">
                <a:solidFill>
                  <a:schemeClr val="dk1"/>
                </a:solidFill>
                <a:latin typeface="Times New Roman"/>
                <a:ea typeface="Times New Roman"/>
                <a:cs typeface="Times New Roman"/>
                <a:sym typeface="Times New Roman"/>
              </a:rPr>
              <a:t>Literary</a:t>
            </a:r>
            <a:endParaRPr/>
          </a:p>
        </p:txBody>
      </p:sp>
      <p:sp>
        <p:nvSpPr>
          <p:cNvPr id="447" name="Google Shape;447;p55"/>
          <p:cNvSpPr/>
          <p:nvPr/>
        </p:nvSpPr>
        <p:spPr>
          <a:xfrm>
            <a:off x="4800600" y="2562225"/>
            <a:ext cx="1033463" cy="51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b="1">
                <a:solidFill>
                  <a:schemeClr val="dk1"/>
                </a:solidFill>
                <a:latin typeface="Times New Roman"/>
                <a:ea typeface="Times New Roman"/>
                <a:cs typeface="Times New Roman"/>
                <a:sym typeface="Times New Roman"/>
              </a:rPr>
              <a:t>Films</a:t>
            </a:r>
            <a:endParaRPr/>
          </a:p>
        </p:txBody>
      </p:sp>
      <p:sp>
        <p:nvSpPr>
          <p:cNvPr id="448" name="Google Shape;448;p55"/>
          <p:cNvSpPr/>
          <p:nvPr/>
        </p:nvSpPr>
        <p:spPr>
          <a:xfrm>
            <a:off x="228600" y="4267200"/>
            <a:ext cx="1625600" cy="51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b="1">
                <a:solidFill>
                  <a:schemeClr val="dk1"/>
                </a:solidFill>
                <a:latin typeface="Times New Roman"/>
                <a:ea typeface="Times New Roman"/>
                <a:cs typeface="Times New Roman"/>
                <a:sym typeface="Times New Roman"/>
              </a:rPr>
              <a:t>Dramatic</a:t>
            </a:r>
            <a:endParaRPr/>
          </a:p>
        </p:txBody>
      </p:sp>
      <p:sp>
        <p:nvSpPr>
          <p:cNvPr id="449" name="Google Shape;449;p55"/>
          <p:cNvSpPr/>
          <p:nvPr/>
        </p:nvSpPr>
        <p:spPr>
          <a:xfrm>
            <a:off x="7086600" y="1600200"/>
            <a:ext cx="1387475" cy="51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b="1">
                <a:solidFill>
                  <a:schemeClr val="dk1"/>
                </a:solidFill>
                <a:latin typeface="Times New Roman"/>
                <a:ea typeface="Times New Roman"/>
                <a:cs typeface="Times New Roman"/>
                <a:sym typeface="Times New Roman"/>
              </a:rPr>
              <a:t>Musical</a:t>
            </a:r>
            <a:endParaRPr/>
          </a:p>
        </p:txBody>
      </p:sp>
      <p:sp>
        <p:nvSpPr>
          <p:cNvPr id="450" name="Google Shape;450;p55"/>
          <p:cNvSpPr/>
          <p:nvPr/>
        </p:nvSpPr>
        <p:spPr>
          <a:xfrm>
            <a:off x="2362200" y="4191000"/>
            <a:ext cx="2824163" cy="51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b="1">
                <a:solidFill>
                  <a:schemeClr val="dk1"/>
                </a:solidFill>
                <a:latin typeface="Times New Roman"/>
                <a:ea typeface="Times New Roman"/>
                <a:cs typeface="Times New Roman"/>
                <a:sym typeface="Times New Roman"/>
              </a:rPr>
              <a:t>Sound Recording</a:t>
            </a:r>
            <a:endParaRPr/>
          </a:p>
        </p:txBody>
      </p:sp>
      <p:sp>
        <p:nvSpPr>
          <p:cNvPr id="451" name="Google Shape;451;p55"/>
          <p:cNvSpPr/>
          <p:nvPr/>
        </p:nvSpPr>
        <p:spPr>
          <a:xfrm>
            <a:off x="6629400" y="3962400"/>
            <a:ext cx="1328738" cy="5191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b="1">
                <a:solidFill>
                  <a:schemeClr val="dk1"/>
                </a:solidFill>
                <a:latin typeface="Times New Roman"/>
                <a:ea typeface="Times New Roman"/>
                <a:cs typeface="Times New Roman"/>
                <a:sym typeface="Times New Roman"/>
              </a:rPr>
              <a:t>Artistic</a:t>
            </a:r>
            <a:endParaRPr/>
          </a:p>
        </p:txBody>
      </p:sp>
      <p:pic>
        <p:nvPicPr>
          <p:cNvPr id="452" name="Google Shape;452;p55" descr="Image result for engraving meaning"/>
          <p:cNvPicPr preferRelativeResize="0"/>
          <p:nvPr/>
        </p:nvPicPr>
        <p:blipFill rotWithShape="1">
          <a:blip r:embed="rId9">
            <a:alphaModFix/>
          </a:blip>
          <a:srcRect/>
          <a:stretch/>
        </p:blipFill>
        <p:spPr>
          <a:xfrm>
            <a:off x="7391400" y="4724400"/>
            <a:ext cx="1524000" cy="1752600"/>
          </a:xfrm>
          <a:prstGeom prst="rect">
            <a:avLst/>
          </a:prstGeom>
          <a:noFill/>
          <a:ln>
            <a:noFill/>
          </a:ln>
        </p:spPr>
      </p:pic>
    </p:spTree>
  </p:cSld>
  <p:clrMapOvr>
    <a:masterClrMapping/>
  </p:clrMapOvr>
  <p:transition>
    <p:split dir="in"/>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56"/>
          <p:cNvSpPr/>
          <p:nvPr/>
        </p:nvSpPr>
        <p:spPr>
          <a:xfrm>
            <a:off x="228600" y="1149489"/>
            <a:ext cx="8610600" cy="3785652"/>
          </a:xfrm>
          <a:prstGeom prst="rect">
            <a:avLst/>
          </a:prstGeom>
          <a:noFill/>
          <a:ln>
            <a:noFill/>
          </a:ln>
        </p:spPr>
        <p:txBody>
          <a:bodyPr spcFirstLastPara="1" wrap="square" lIns="91425" tIns="45700" rIns="91425" bIns="45700" anchor="t" anchorCtr="0">
            <a:spAutoFit/>
          </a:bodyPr>
          <a:lstStyle/>
          <a:p>
            <a:pPr marL="539750" marR="0" lvl="0" indent="-539750" algn="just" rtl="0">
              <a:spcBef>
                <a:spcPts val="0"/>
              </a:spcBef>
              <a:spcAft>
                <a:spcPts val="0"/>
              </a:spcAft>
              <a:buNone/>
            </a:pPr>
            <a:endParaRPr sz="2400">
              <a:solidFill>
                <a:schemeClr val="dk1"/>
              </a:solidFill>
              <a:latin typeface="Times New Roman"/>
              <a:ea typeface="Times New Roman"/>
              <a:cs typeface="Times New Roman"/>
              <a:sym typeface="Times New Roman"/>
            </a:endParaRPr>
          </a:p>
          <a:p>
            <a:pPr marL="539750" marR="0" lvl="0" indent="-539750" algn="just" rtl="0">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Copyright gives protection for the expression of an idea and not for the idea itself. </a:t>
            </a:r>
            <a:endParaRPr/>
          </a:p>
          <a:p>
            <a:pPr marL="539750" marR="0" lvl="0" indent="-387350" algn="just" rtl="0">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a:p>
            <a:pPr marL="539750" marR="0" lvl="0" indent="-539750" algn="just" rtl="0">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For example, many authors write textbooks on physics covering various aspects like heat, optics etc. Even though these topics are covered in several books by different authors, each author will have a copyright on the book written by him, provided the book is not a copy of some other book published earlier.</a:t>
            </a:r>
            <a:endParaRPr/>
          </a:p>
          <a:p>
            <a:pPr marL="360363" marR="0" lvl="0" indent="-360363" algn="l"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458" name="Google Shape;458;p56"/>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COPYRIGHT</a:t>
            </a:r>
            <a:endParaRPr/>
          </a:p>
        </p:txBody>
      </p:sp>
    </p:spTree>
  </p:cSld>
  <p:clrMapOvr>
    <a:masterClrMapping/>
  </p:clrMapOvr>
  <p:transition>
    <p:circl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7"/>
          <p:cNvSpPr txBox="1">
            <a:spLocks noGrp="1"/>
          </p:cNvSpPr>
          <p:nvPr>
            <p:ph idx="1"/>
          </p:nvPr>
        </p:nvSpPr>
        <p:spPr>
          <a:xfrm>
            <a:off x="457200" y="1600200"/>
            <a:ext cx="5029200" cy="4525963"/>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3200"/>
              <a:buChar char="•"/>
            </a:pPr>
            <a:r>
              <a:rPr lang="en-IN">
                <a:latin typeface="Times New Roman"/>
                <a:ea typeface="Times New Roman"/>
                <a:cs typeface="Times New Roman"/>
                <a:sym typeface="Times New Roman"/>
              </a:rPr>
              <a:t>“Originality” – it should originate from the author – product of independent creation</a:t>
            </a:r>
            <a:endParaRPr/>
          </a:p>
          <a:p>
            <a:pPr marL="342900" lvl="0" indent="-342900" algn="just" rtl="0">
              <a:lnSpc>
                <a:spcPct val="90000"/>
              </a:lnSpc>
              <a:spcBef>
                <a:spcPts val="640"/>
              </a:spcBef>
              <a:spcAft>
                <a:spcPts val="0"/>
              </a:spcAft>
              <a:buClr>
                <a:schemeClr val="dk1"/>
              </a:buClr>
              <a:buSzPts val="3200"/>
              <a:buFont typeface="Calibri"/>
              <a:buNone/>
            </a:pPr>
            <a:endParaRPr>
              <a:latin typeface="Times New Roman"/>
              <a:ea typeface="Times New Roman"/>
              <a:cs typeface="Times New Roman"/>
              <a:sym typeface="Times New Roman"/>
            </a:endParaRPr>
          </a:p>
          <a:p>
            <a:pPr marL="342900" lvl="0" indent="-342900" algn="just" rtl="0">
              <a:lnSpc>
                <a:spcPct val="90000"/>
              </a:lnSpc>
              <a:spcBef>
                <a:spcPts val="640"/>
              </a:spcBef>
              <a:spcAft>
                <a:spcPts val="0"/>
              </a:spcAft>
              <a:buClr>
                <a:schemeClr val="dk1"/>
              </a:buClr>
              <a:buSzPts val="3200"/>
              <a:buChar char="•"/>
            </a:pPr>
            <a:r>
              <a:rPr lang="en-IN">
                <a:latin typeface="Times New Roman"/>
                <a:ea typeface="Times New Roman"/>
                <a:cs typeface="Times New Roman"/>
                <a:sym typeface="Times New Roman"/>
              </a:rPr>
              <a:t>“Fixation” – should be fixed in a medium i.e., medium can be a piece of paper, cassette,etc</a:t>
            </a:r>
            <a:endParaRPr>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a:p>
        </p:txBody>
      </p:sp>
      <p:sp>
        <p:nvSpPr>
          <p:cNvPr id="464" name="Google Shape;464;p57"/>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fontScale="92500"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REQUIREMENTS OF COPYRIGHT PROTECTION</a:t>
            </a:r>
            <a:endParaRPr sz="3200" b="1">
              <a:solidFill>
                <a:schemeClr val="lt1"/>
              </a:solidFill>
              <a:latin typeface="Times New Roman"/>
              <a:ea typeface="Times New Roman"/>
              <a:cs typeface="Times New Roman"/>
              <a:sym typeface="Times New Roman"/>
            </a:endParaRPr>
          </a:p>
        </p:txBody>
      </p:sp>
      <p:pic>
        <p:nvPicPr>
          <p:cNvPr id="465" name="Google Shape;465;p57" descr="Image result for copyright"/>
          <p:cNvPicPr preferRelativeResize="0"/>
          <p:nvPr/>
        </p:nvPicPr>
        <p:blipFill rotWithShape="1">
          <a:blip r:embed="rId3">
            <a:alphaModFix/>
          </a:blip>
          <a:srcRect/>
          <a:stretch/>
        </p:blipFill>
        <p:spPr>
          <a:xfrm>
            <a:off x="6400800" y="2362200"/>
            <a:ext cx="2143125" cy="2143125"/>
          </a:xfrm>
          <a:prstGeom prst="rect">
            <a:avLst/>
          </a:prstGeom>
          <a:noFill/>
          <a:ln>
            <a:noFill/>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58"/>
          <p:cNvSpPr/>
          <p:nvPr/>
        </p:nvSpPr>
        <p:spPr>
          <a:xfrm>
            <a:off x="304800" y="986135"/>
            <a:ext cx="8610600" cy="4524315"/>
          </a:xfrm>
          <a:prstGeom prst="rect">
            <a:avLst/>
          </a:prstGeom>
          <a:noFill/>
          <a:ln>
            <a:noFill/>
          </a:ln>
        </p:spPr>
        <p:txBody>
          <a:bodyPr spcFirstLastPara="1" wrap="square" lIns="91425" tIns="45700" rIns="91425" bIns="45700" anchor="t" anchorCtr="0">
            <a:spAutoFit/>
          </a:bodyPr>
          <a:lstStyle/>
          <a:p>
            <a:pPr marL="539750" marR="0" lvl="0" indent="-539750" algn="just" rtl="0">
              <a:lnSpc>
                <a:spcPct val="15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Copyright subsists </a:t>
            </a:r>
            <a:r>
              <a:rPr lang="en-IN" sz="2400" b="1" i="1">
                <a:solidFill>
                  <a:srgbClr val="FF0000"/>
                </a:solidFill>
                <a:latin typeface="Times New Roman"/>
                <a:ea typeface="Times New Roman"/>
                <a:cs typeface="Times New Roman"/>
                <a:sym typeface="Times New Roman"/>
              </a:rPr>
              <a:t>worldwide</a:t>
            </a:r>
            <a:endParaRPr/>
          </a:p>
          <a:p>
            <a:pPr marL="539750" marR="0" lvl="0" indent="-387350" algn="just" rtl="0">
              <a:lnSpc>
                <a:spcPct val="150000"/>
              </a:lnSpc>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a:p>
            <a:pPr marL="539750" marR="0" lvl="0" indent="-539750" algn="just" rtl="0">
              <a:lnSpc>
                <a:spcPct val="15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Acquisition of copyright is </a:t>
            </a:r>
            <a:r>
              <a:rPr lang="en-IN" sz="2400" b="1" i="1">
                <a:solidFill>
                  <a:srgbClr val="FF0000"/>
                </a:solidFill>
                <a:latin typeface="Times New Roman"/>
                <a:ea typeface="Times New Roman"/>
                <a:cs typeface="Times New Roman"/>
                <a:sym typeface="Times New Roman"/>
              </a:rPr>
              <a:t>automatic</a:t>
            </a:r>
            <a:r>
              <a:rPr lang="en-IN" sz="2400">
                <a:solidFill>
                  <a:schemeClr val="dk1"/>
                </a:solidFill>
                <a:latin typeface="Times New Roman"/>
                <a:ea typeface="Times New Roman"/>
                <a:cs typeface="Times New Roman"/>
                <a:sym typeface="Times New Roman"/>
              </a:rPr>
              <a:t> and it does not require any formality, but it is advisable to register.</a:t>
            </a:r>
            <a:endParaRPr/>
          </a:p>
          <a:p>
            <a:pPr marL="539750" marR="0" lvl="0" indent="-387350" algn="just" rtl="0">
              <a:lnSpc>
                <a:spcPct val="150000"/>
              </a:lnSpc>
              <a:spcBef>
                <a:spcPts val="0"/>
              </a:spcBef>
              <a:spcAft>
                <a:spcPts val="0"/>
              </a:spcAft>
              <a:buClr>
                <a:schemeClr val="dk1"/>
              </a:buClr>
              <a:buSzPts val="2400"/>
              <a:buFont typeface="Noto Sans Symbols"/>
              <a:buNone/>
            </a:pPr>
            <a:endParaRPr sz="2400">
              <a:solidFill>
                <a:schemeClr val="dk1"/>
              </a:solidFill>
              <a:latin typeface="Times New Roman"/>
              <a:ea typeface="Times New Roman"/>
              <a:cs typeface="Times New Roman"/>
              <a:sym typeface="Times New Roman"/>
            </a:endParaRPr>
          </a:p>
          <a:p>
            <a:pPr marL="539750" marR="0" lvl="0" indent="-539750" algn="just" rtl="0">
              <a:lnSpc>
                <a:spcPct val="15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Certificate of registration of copyright - serves as prima facie evidence in a court of law with reference to dispute relating to ownership of copyright.</a:t>
            </a:r>
            <a:endParaRPr sz="2400">
              <a:solidFill>
                <a:schemeClr val="dk1"/>
              </a:solidFill>
              <a:latin typeface="Times New Roman"/>
              <a:ea typeface="Times New Roman"/>
              <a:cs typeface="Times New Roman"/>
              <a:sym typeface="Times New Roman"/>
            </a:endParaRPr>
          </a:p>
        </p:txBody>
      </p:sp>
      <p:sp>
        <p:nvSpPr>
          <p:cNvPr id="471" name="Google Shape;471;p58"/>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Copyright</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9"/>
          <p:cNvSpPr txBox="1">
            <a:spLocks noGrp="1"/>
          </p:cNvSpPr>
          <p:nvPr>
            <p:ph idx="1"/>
          </p:nvPr>
        </p:nvSpPr>
        <p:spPr>
          <a:xfrm>
            <a:off x="1676400" y="685800"/>
            <a:ext cx="5943600" cy="6019800"/>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20000"/>
              </a:lnSpc>
              <a:spcBef>
                <a:spcPts val="0"/>
              </a:spcBef>
              <a:spcAft>
                <a:spcPts val="0"/>
              </a:spcAft>
              <a:buClr>
                <a:schemeClr val="dk1"/>
              </a:buClr>
              <a:buSzPct val="100000"/>
              <a:buFont typeface="Noto Sans Symbols"/>
              <a:buChar char="⮚"/>
            </a:pPr>
            <a:r>
              <a:rPr lang="en-IN">
                <a:latin typeface="Times New Roman"/>
                <a:ea typeface="Times New Roman"/>
                <a:cs typeface="Times New Roman"/>
                <a:sym typeface="Times New Roman"/>
              </a:rPr>
              <a:t>Life of Copyright owner + 60 years</a:t>
            </a:r>
            <a:endParaRPr/>
          </a:p>
          <a:p>
            <a:pPr marL="1081088" lvl="0" indent="-360363" algn="l" rtl="0">
              <a:lnSpc>
                <a:spcPct val="120000"/>
              </a:lnSpc>
              <a:spcBef>
                <a:spcPts val="448"/>
              </a:spcBef>
              <a:spcAft>
                <a:spcPts val="0"/>
              </a:spcAft>
              <a:buClr>
                <a:schemeClr val="dk1"/>
              </a:buClr>
              <a:buSzPct val="100000"/>
              <a:buChar char="•"/>
            </a:pPr>
            <a:r>
              <a:rPr lang="en-IN">
                <a:latin typeface="Times New Roman"/>
                <a:ea typeface="Times New Roman"/>
                <a:cs typeface="Times New Roman"/>
                <a:sym typeface="Times New Roman"/>
              </a:rPr>
              <a:t>Literary </a:t>
            </a:r>
            <a:endParaRPr/>
          </a:p>
          <a:p>
            <a:pPr marL="1081088" lvl="0" indent="-360363" algn="l" rtl="0">
              <a:lnSpc>
                <a:spcPct val="120000"/>
              </a:lnSpc>
              <a:spcBef>
                <a:spcPts val="448"/>
              </a:spcBef>
              <a:spcAft>
                <a:spcPts val="0"/>
              </a:spcAft>
              <a:buClr>
                <a:schemeClr val="dk1"/>
              </a:buClr>
              <a:buSzPct val="100000"/>
              <a:buChar char="•"/>
            </a:pPr>
            <a:r>
              <a:rPr lang="en-IN">
                <a:latin typeface="Times New Roman"/>
                <a:ea typeface="Times New Roman"/>
                <a:cs typeface="Times New Roman"/>
                <a:sym typeface="Times New Roman"/>
              </a:rPr>
              <a:t>Dramatic </a:t>
            </a:r>
            <a:endParaRPr/>
          </a:p>
          <a:p>
            <a:pPr marL="1081088" lvl="0" indent="-360363" algn="l" rtl="0">
              <a:lnSpc>
                <a:spcPct val="120000"/>
              </a:lnSpc>
              <a:spcBef>
                <a:spcPts val="448"/>
              </a:spcBef>
              <a:spcAft>
                <a:spcPts val="0"/>
              </a:spcAft>
              <a:buClr>
                <a:schemeClr val="dk1"/>
              </a:buClr>
              <a:buSzPct val="100000"/>
              <a:buChar char="•"/>
            </a:pPr>
            <a:r>
              <a:rPr lang="en-IN">
                <a:latin typeface="Times New Roman"/>
                <a:ea typeface="Times New Roman"/>
                <a:cs typeface="Times New Roman"/>
                <a:sym typeface="Times New Roman"/>
              </a:rPr>
              <a:t>Musical</a:t>
            </a:r>
            <a:endParaRPr/>
          </a:p>
          <a:p>
            <a:pPr marL="1081088" lvl="0" indent="-360363" algn="l" rtl="0">
              <a:lnSpc>
                <a:spcPct val="120000"/>
              </a:lnSpc>
              <a:spcBef>
                <a:spcPts val="448"/>
              </a:spcBef>
              <a:spcAft>
                <a:spcPts val="0"/>
              </a:spcAft>
              <a:buClr>
                <a:schemeClr val="dk1"/>
              </a:buClr>
              <a:buSzPct val="100000"/>
              <a:buChar char="•"/>
            </a:pPr>
            <a:r>
              <a:rPr lang="en-IN">
                <a:latin typeface="Times New Roman"/>
                <a:ea typeface="Times New Roman"/>
                <a:cs typeface="Times New Roman"/>
                <a:sym typeface="Times New Roman"/>
              </a:rPr>
              <a:t>Artistic works </a:t>
            </a:r>
            <a:endParaRPr/>
          </a:p>
          <a:p>
            <a:pPr marL="342900" lvl="0" indent="-342900" algn="l" rtl="0">
              <a:lnSpc>
                <a:spcPct val="120000"/>
              </a:lnSpc>
              <a:spcBef>
                <a:spcPts val="448"/>
              </a:spcBef>
              <a:spcAft>
                <a:spcPts val="0"/>
              </a:spcAft>
              <a:buClr>
                <a:schemeClr val="dk1"/>
              </a:buClr>
              <a:buSzPct val="100000"/>
              <a:buFont typeface="Noto Sans Symbols"/>
              <a:buChar char="⮚"/>
            </a:pPr>
            <a:r>
              <a:rPr lang="en-IN">
                <a:latin typeface="Times New Roman"/>
                <a:ea typeface="Times New Roman"/>
                <a:cs typeface="Times New Roman"/>
                <a:sym typeface="Times New Roman"/>
              </a:rPr>
              <a:t>60 years</a:t>
            </a:r>
            <a:endParaRPr/>
          </a:p>
          <a:p>
            <a:pPr marL="1081088" lvl="0" indent="-360363" algn="l" rtl="0">
              <a:lnSpc>
                <a:spcPct val="120000"/>
              </a:lnSpc>
              <a:spcBef>
                <a:spcPts val="448"/>
              </a:spcBef>
              <a:spcAft>
                <a:spcPts val="0"/>
              </a:spcAft>
              <a:buClr>
                <a:schemeClr val="dk1"/>
              </a:buClr>
              <a:buSzPct val="100000"/>
              <a:buChar char="•"/>
            </a:pPr>
            <a:r>
              <a:rPr lang="en-IN">
                <a:latin typeface="Times New Roman"/>
                <a:ea typeface="Times New Roman"/>
                <a:cs typeface="Times New Roman"/>
                <a:sym typeface="Times New Roman"/>
              </a:rPr>
              <a:t>Cinematograph films </a:t>
            </a:r>
            <a:endParaRPr/>
          </a:p>
          <a:p>
            <a:pPr marL="1081088" lvl="0" indent="-360363" algn="l" rtl="0">
              <a:lnSpc>
                <a:spcPct val="120000"/>
              </a:lnSpc>
              <a:spcBef>
                <a:spcPts val="448"/>
              </a:spcBef>
              <a:spcAft>
                <a:spcPts val="0"/>
              </a:spcAft>
              <a:buClr>
                <a:schemeClr val="dk1"/>
              </a:buClr>
              <a:buSzPct val="100000"/>
              <a:buChar char="•"/>
            </a:pPr>
            <a:r>
              <a:rPr lang="en-IN">
                <a:latin typeface="Times New Roman"/>
                <a:ea typeface="Times New Roman"/>
                <a:cs typeface="Times New Roman"/>
                <a:sym typeface="Times New Roman"/>
              </a:rPr>
              <a:t>Photographs</a:t>
            </a:r>
            <a:endParaRPr/>
          </a:p>
          <a:p>
            <a:pPr marL="1081088" lvl="0" indent="-360363" algn="l" rtl="0">
              <a:lnSpc>
                <a:spcPct val="120000"/>
              </a:lnSpc>
              <a:spcBef>
                <a:spcPts val="448"/>
              </a:spcBef>
              <a:spcAft>
                <a:spcPts val="0"/>
              </a:spcAft>
              <a:buClr>
                <a:schemeClr val="dk1"/>
              </a:buClr>
              <a:buSzPct val="100000"/>
              <a:buChar char="•"/>
            </a:pPr>
            <a:r>
              <a:rPr lang="en-IN">
                <a:latin typeface="Times New Roman"/>
                <a:ea typeface="Times New Roman"/>
                <a:cs typeface="Times New Roman"/>
                <a:sym typeface="Times New Roman"/>
              </a:rPr>
              <a:t>Sound recordings</a:t>
            </a:r>
            <a:endParaRPr/>
          </a:p>
          <a:p>
            <a:pPr marL="1081088" lvl="0" indent="-360363" algn="l" rtl="0">
              <a:lnSpc>
                <a:spcPct val="120000"/>
              </a:lnSpc>
              <a:spcBef>
                <a:spcPts val="448"/>
              </a:spcBef>
              <a:spcAft>
                <a:spcPts val="0"/>
              </a:spcAft>
              <a:buClr>
                <a:schemeClr val="dk1"/>
              </a:buClr>
              <a:buSzPct val="100000"/>
              <a:buChar char="•"/>
            </a:pPr>
            <a:r>
              <a:rPr lang="en-IN">
                <a:latin typeface="Times New Roman"/>
                <a:ea typeface="Times New Roman"/>
                <a:cs typeface="Times New Roman"/>
                <a:sym typeface="Times New Roman"/>
              </a:rPr>
              <a:t>Posthumous publications </a:t>
            </a:r>
            <a:endParaRPr/>
          </a:p>
          <a:p>
            <a:pPr marL="1081088" lvl="0" indent="-360363" algn="l" rtl="0">
              <a:lnSpc>
                <a:spcPct val="120000"/>
              </a:lnSpc>
              <a:spcBef>
                <a:spcPts val="448"/>
              </a:spcBef>
              <a:spcAft>
                <a:spcPts val="0"/>
              </a:spcAft>
              <a:buClr>
                <a:schemeClr val="dk1"/>
              </a:buClr>
              <a:buSzPct val="100000"/>
              <a:buChar char="•"/>
            </a:pPr>
            <a:r>
              <a:rPr lang="en-IN">
                <a:latin typeface="Times New Roman"/>
                <a:ea typeface="Times New Roman"/>
                <a:cs typeface="Times New Roman"/>
                <a:sym typeface="Times New Roman"/>
              </a:rPr>
              <a:t>Anonymous and pseudonymous publications</a:t>
            </a:r>
            <a:endParaRPr/>
          </a:p>
          <a:p>
            <a:pPr marL="1081088" lvl="0" indent="-360363" algn="l" rtl="0">
              <a:lnSpc>
                <a:spcPct val="120000"/>
              </a:lnSpc>
              <a:spcBef>
                <a:spcPts val="448"/>
              </a:spcBef>
              <a:spcAft>
                <a:spcPts val="0"/>
              </a:spcAft>
              <a:buClr>
                <a:schemeClr val="dk1"/>
              </a:buClr>
              <a:buSzPct val="100000"/>
              <a:buChar char="•"/>
            </a:pPr>
            <a:r>
              <a:rPr lang="en-IN">
                <a:latin typeface="Times New Roman"/>
                <a:ea typeface="Times New Roman"/>
                <a:cs typeface="Times New Roman"/>
                <a:sym typeface="Times New Roman"/>
              </a:rPr>
              <a:t>Government works </a:t>
            </a:r>
            <a:endParaRPr/>
          </a:p>
          <a:p>
            <a:pPr marL="1081088" lvl="0" indent="-360363" algn="l" rtl="0">
              <a:lnSpc>
                <a:spcPct val="120000"/>
              </a:lnSpc>
              <a:spcBef>
                <a:spcPts val="448"/>
              </a:spcBef>
              <a:spcAft>
                <a:spcPts val="0"/>
              </a:spcAft>
              <a:buClr>
                <a:schemeClr val="dk1"/>
              </a:buClr>
              <a:buSzPct val="100000"/>
              <a:buChar char="•"/>
            </a:pPr>
            <a:r>
              <a:rPr lang="en-IN">
                <a:latin typeface="Times New Roman"/>
                <a:ea typeface="Times New Roman"/>
                <a:cs typeface="Times New Roman"/>
                <a:sym typeface="Times New Roman"/>
              </a:rPr>
              <a:t>International organisations works</a:t>
            </a:r>
            <a:endParaRPr/>
          </a:p>
          <a:p>
            <a:pPr marL="717550" lvl="0" indent="-357188" algn="l" rtl="0">
              <a:lnSpc>
                <a:spcPct val="120000"/>
              </a:lnSpc>
              <a:spcBef>
                <a:spcPts val="448"/>
              </a:spcBef>
              <a:spcAft>
                <a:spcPts val="0"/>
              </a:spcAft>
              <a:buClr>
                <a:schemeClr val="dk1"/>
              </a:buClr>
              <a:buSzPct val="100000"/>
              <a:buNone/>
            </a:pPr>
            <a:endParaRPr>
              <a:latin typeface="Times New Roman"/>
              <a:ea typeface="Times New Roman"/>
              <a:cs typeface="Times New Roman"/>
              <a:sym typeface="Times New Roman"/>
            </a:endParaRPr>
          </a:p>
          <a:p>
            <a:pPr marL="717550" lvl="0" indent="-357188" algn="l" rtl="0">
              <a:lnSpc>
                <a:spcPct val="120000"/>
              </a:lnSpc>
              <a:spcBef>
                <a:spcPts val="448"/>
              </a:spcBef>
              <a:spcAft>
                <a:spcPts val="0"/>
              </a:spcAft>
              <a:buClr>
                <a:schemeClr val="dk1"/>
              </a:buClr>
              <a:buSzPct val="100000"/>
              <a:buNone/>
            </a:pPr>
            <a:endParaRPr/>
          </a:p>
        </p:txBody>
      </p:sp>
      <p:sp>
        <p:nvSpPr>
          <p:cNvPr id="477" name="Google Shape;477;p59"/>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Term of Copyright Protection </a:t>
            </a:r>
            <a:endParaRPr sz="3200" b="1">
              <a:solidFill>
                <a:schemeClr val="lt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60"/>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WHO OWNS THE COPYRIGHT IN A WORK?</a:t>
            </a: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
        <p:nvSpPr>
          <p:cNvPr id="483" name="Google Shape;483;p60"/>
          <p:cNvSpPr/>
          <p:nvPr/>
        </p:nvSpPr>
        <p:spPr>
          <a:xfrm>
            <a:off x="685800" y="1066800"/>
            <a:ext cx="7924800" cy="4401205"/>
          </a:xfrm>
          <a:prstGeom prst="rect">
            <a:avLst/>
          </a:prstGeom>
          <a:noFill/>
          <a:ln>
            <a:noFill/>
          </a:ln>
        </p:spPr>
        <p:txBody>
          <a:bodyPr spcFirstLastPara="1" wrap="square" lIns="91425" tIns="45700" rIns="91425" bIns="45700" anchor="t" anchorCtr="0">
            <a:spAutoFit/>
          </a:bodyPr>
          <a:lstStyle/>
          <a:p>
            <a:pPr marL="720725" marR="0" lvl="0" indent="-720725" algn="l" rtl="0">
              <a:lnSpc>
                <a:spcPct val="200000"/>
              </a:lnSpc>
              <a:spcBef>
                <a:spcPts val="0"/>
              </a:spcBef>
              <a:spcAft>
                <a:spcPts val="0"/>
              </a:spcAft>
              <a:buClr>
                <a:schemeClr val="dk1"/>
              </a:buClr>
              <a:buSzPts val="2800"/>
              <a:buFont typeface="Noto Sans Symbols"/>
              <a:buChar char="⮚"/>
            </a:pPr>
            <a:r>
              <a:rPr lang="en-IN" sz="2800">
                <a:solidFill>
                  <a:schemeClr val="dk1"/>
                </a:solidFill>
                <a:latin typeface="Times New Roman"/>
                <a:ea typeface="Times New Roman"/>
                <a:cs typeface="Times New Roman"/>
                <a:sym typeface="Times New Roman"/>
              </a:rPr>
              <a:t>Author is the first owner of copyright in a work</a:t>
            </a:r>
            <a:endParaRPr/>
          </a:p>
          <a:p>
            <a:pPr marL="1635125" marR="0" lvl="2" indent="-720725" algn="l" rtl="0">
              <a:lnSpc>
                <a:spcPct val="200000"/>
              </a:lnSpc>
              <a:spcBef>
                <a:spcPts val="0"/>
              </a:spcBef>
              <a:spcAft>
                <a:spcPts val="0"/>
              </a:spcAft>
              <a:buClr>
                <a:schemeClr val="dk1"/>
              </a:buClr>
              <a:buSzPts val="2800"/>
              <a:buFont typeface="Noto Sans Symbols"/>
              <a:buChar char="⮚"/>
            </a:pPr>
            <a:r>
              <a:rPr lang="en-IN" sz="2800" b="0" i="0" u="none" strike="noStrike" cap="none">
                <a:solidFill>
                  <a:schemeClr val="dk1"/>
                </a:solidFill>
                <a:latin typeface="Times New Roman"/>
                <a:ea typeface="Times New Roman"/>
                <a:cs typeface="Times New Roman"/>
                <a:sym typeface="Times New Roman"/>
              </a:rPr>
              <a:t>Exceptions:</a:t>
            </a:r>
            <a:endParaRPr/>
          </a:p>
          <a:p>
            <a:pPr marL="1884363" marR="0" lvl="0" indent="-442913" algn="l" rtl="0">
              <a:lnSpc>
                <a:spcPct val="200000"/>
              </a:lnSpc>
              <a:spcBef>
                <a:spcPts val="0"/>
              </a:spcBef>
              <a:spcAft>
                <a:spcPts val="0"/>
              </a:spcAft>
              <a:buClr>
                <a:schemeClr val="dk1"/>
              </a:buClr>
              <a:buSzPts val="2800"/>
              <a:buFont typeface="Noto Sans Symbols"/>
              <a:buChar char="⮚"/>
            </a:pPr>
            <a:r>
              <a:rPr lang="en-IN" sz="2800">
                <a:solidFill>
                  <a:schemeClr val="dk1"/>
                </a:solidFill>
                <a:latin typeface="Times New Roman"/>
                <a:ea typeface="Times New Roman"/>
                <a:cs typeface="Times New Roman"/>
                <a:sym typeface="Times New Roman"/>
              </a:rPr>
              <a:t>Written agreement to the contrary</a:t>
            </a:r>
            <a:endParaRPr/>
          </a:p>
          <a:p>
            <a:pPr marL="1884363" marR="0" lvl="0" indent="-442913" algn="l" rtl="0">
              <a:lnSpc>
                <a:spcPct val="200000"/>
              </a:lnSpc>
              <a:spcBef>
                <a:spcPts val="0"/>
              </a:spcBef>
              <a:spcAft>
                <a:spcPts val="0"/>
              </a:spcAft>
              <a:buClr>
                <a:schemeClr val="dk1"/>
              </a:buClr>
              <a:buSzPts val="2800"/>
              <a:buFont typeface="Noto Sans Symbols"/>
              <a:buChar char="⮚"/>
            </a:pPr>
            <a:r>
              <a:rPr lang="en-IN" sz="2800">
                <a:solidFill>
                  <a:schemeClr val="dk1"/>
                </a:solidFill>
                <a:latin typeface="Times New Roman"/>
                <a:ea typeface="Times New Roman"/>
                <a:cs typeface="Times New Roman"/>
                <a:sym typeface="Times New Roman"/>
              </a:rPr>
              <a:t>Made for valuable consideration</a:t>
            </a:r>
            <a:endParaRPr/>
          </a:p>
          <a:p>
            <a:pPr marL="1884363" marR="0" lvl="0" indent="-442913" algn="l" rtl="0">
              <a:lnSpc>
                <a:spcPct val="200000"/>
              </a:lnSpc>
              <a:spcBef>
                <a:spcPts val="0"/>
              </a:spcBef>
              <a:spcAft>
                <a:spcPts val="0"/>
              </a:spcAft>
              <a:buClr>
                <a:schemeClr val="dk1"/>
              </a:buClr>
              <a:buSzPts val="2800"/>
              <a:buFont typeface="Noto Sans Symbols"/>
              <a:buChar char="⮚"/>
            </a:pPr>
            <a:r>
              <a:rPr lang="en-IN" sz="2800">
                <a:solidFill>
                  <a:schemeClr val="dk1"/>
                </a:solidFill>
                <a:latin typeface="Times New Roman"/>
                <a:ea typeface="Times New Roman"/>
                <a:cs typeface="Times New Roman"/>
                <a:sym typeface="Times New Roman"/>
              </a:rPr>
              <a:t>Employer</a:t>
            </a:r>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61"/>
          <p:cNvSpPr txBox="1"/>
          <p:nvPr/>
        </p:nvSpPr>
        <p:spPr>
          <a:xfrm>
            <a:off x="0" y="0"/>
            <a:ext cx="9144000" cy="6858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COPYRIGHT – A BUNDLE OF RIGHTS</a:t>
            </a:r>
            <a:endParaRPr/>
          </a:p>
          <a:p>
            <a:pPr marL="0" marR="0" lvl="0" indent="0"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
        <p:nvSpPr>
          <p:cNvPr id="489" name="Google Shape;489;p61"/>
          <p:cNvSpPr txBox="1"/>
          <p:nvPr/>
        </p:nvSpPr>
        <p:spPr>
          <a:xfrm>
            <a:off x="1981200" y="762000"/>
            <a:ext cx="5029200" cy="54102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1"/>
              </a:buClr>
              <a:buSzPts val="1960"/>
              <a:buFont typeface="Noto Sans Symbols"/>
              <a:buNone/>
            </a:pPr>
            <a:r>
              <a:rPr lang="en-IN" sz="2800" b="1" i="0" u="sng" strike="noStrike" cap="none">
                <a:solidFill>
                  <a:srgbClr val="000000"/>
                </a:solidFill>
                <a:latin typeface="Times New Roman"/>
                <a:ea typeface="Times New Roman"/>
                <a:cs typeface="Times New Roman"/>
                <a:sym typeface="Times New Roman"/>
              </a:rPr>
              <a:t>Economic Rights </a:t>
            </a:r>
            <a:endParaRPr/>
          </a:p>
          <a:p>
            <a:pPr marL="0" marR="0" lvl="0" indent="0" algn="just" rtl="0">
              <a:lnSpc>
                <a:spcPct val="90000"/>
              </a:lnSpc>
              <a:spcBef>
                <a:spcPts val="600"/>
              </a:spcBef>
              <a:spcAft>
                <a:spcPts val="0"/>
              </a:spcAft>
              <a:buClr>
                <a:schemeClr val="accent1"/>
              </a:buClr>
              <a:buSzPts val="1610"/>
              <a:buFont typeface="Calibri"/>
              <a:buNone/>
            </a:pPr>
            <a:endParaRPr sz="2300" b="1" i="0" u="none" strike="noStrike" cap="none">
              <a:solidFill>
                <a:schemeClr val="dk2"/>
              </a:solidFill>
              <a:latin typeface="Times New Roman"/>
              <a:ea typeface="Times New Roman"/>
              <a:cs typeface="Times New Roman"/>
              <a:sym typeface="Times New Roman"/>
            </a:endParaRPr>
          </a:p>
          <a:p>
            <a:pPr marL="623888" marR="0" lvl="1" indent="-444500" algn="l" rtl="0">
              <a:lnSpc>
                <a:spcPct val="90000"/>
              </a:lnSpc>
              <a:spcBef>
                <a:spcPts val="460"/>
              </a:spcBef>
              <a:spcAft>
                <a:spcPts val="0"/>
              </a:spcAft>
              <a:buClr>
                <a:schemeClr val="accent1"/>
              </a:buClr>
              <a:buSzPts val="1840"/>
              <a:buFont typeface="Noto Sans Symbols"/>
              <a:buChar char="⮚"/>
            </a:pPr>
            <a:r>
              <a:rPr lang="en-IN" sz="2300" b="0" i="0" u="none" strike="noStrike" cap="none">
                <a:solidFill>
                  <a:srgbClr val="000000"/>
                </a:solidFill>
                <a:latin typeface="Times New Roman"/>
                <a:ea typeface="Times New Roman"/>
                <a:cs typeface="Times New Roman"/>
                <a:sym typeface="Times New Roman"/>
              </a:rPr>
              <a:t>Reproduction or make copies</a:t>
            </a:r>
            <a:endParaRPr/>
          </a:p>
          <a:p>
            <a:pPr marL="623888" marR="0" lvl="1" indent="-327660" algn="l" rtl="0">
              <a:lnSpc>
                <a:spcPct val="90000"/>
              </a:lnSpc>
              <a:spcBef>
                <a:spcPts val="460"/>
              </a:spcBef>
              <a:spcAft>
                <a:spcPts val="0"/>
              </a:spcAft>
              <a:buClr>
                <a:schemeClr val="accent1"/>
              </a:buClr>
              <a:buSzPts val="1840"/>
              <a:buFont typeface="Noto Sans Symbols"/>
              <a:buNone/>
            </a:pPr>
            <a:endParaRPr sz="2300" b="0" i="0" u="none" strike="noStrike" cap="none">
              <a:solidFill>
                <a:schemeClr val="dk1"/>
              </a:solidFill>
              <a:latin typeface="Times New Roman"/>
              <a:ea typeface="Times New Roman"/>
              <a:cs typeface="Times New Roman"/>
              <a:sym typeface="Times New Roman"/>
            </a:endParaRPr>
          </a:p>
          <a:p>
            <a:pPr marL="623888" marR="0" lvl="1" indent="-444500" algn="l" rtl="0">
              <a:lnSpc>
                <a:spcPct val="90000"/>
              </a:lnSpc>
              <a:spcBef>
                <a:spcPts val="460"/>
              </a:spcBef>
              <a:spcAft>
                <a:spcPts val="0"/>
              </a:spcAft>
              <a:buClr>
                <a:schemeClr val="accent1"/>
              </a:buClr>
              <a:buSzPts val="1840"/>
              <a:buFont typeface="Noto Sans Symbols"/>
              <a:buChar char="⮚"/>
            </a:pPr>
            <a:r>
              <a:rPr lang="en-IN" sz="2300" b="0" i="0" u="none" strike="noStrike" cap="none">
                <a:solidFill>
                  <a:srgbClr val="000000"/>
                </a:solidFill>
                <a:latin typeface="Times New Roman"/>
                <a:ea typeface="Times New Roman"/>
                <a:cs typeface="Times New Roman"/>
                <a:sym typeface="Times New Roman"/>
              </a:rPr>
              <a:t>Issue copies- sell, distribute, etc .</a:t>
            </a:r>
            <a:endParaRPr/>
          </a:p>
          <a:p>
            <a:pPr marL="623888" marR="0" lvl="1" indent="-444500" algn="l" rtl="0">
              <a:lnSpc>
                <a:spcPct val="90000"/>
              </a:lnSpc>
              <a:spcBef>
                <a:spcPts val="460"/>
              </a:spcBef>
              <a:spcAft>
                <a:spcPts val="0"/>
              </a:spcAft>
              <a:buNone/>
            </a:pPr>
            <a:r>
              <a:rPr lang="en-IN" sz="2300" b="0" i="0" u="none" strike="noStrike" cap="none">
                <a:solidFill>
                  <a:schemeClr val="dk1"/>
                </a:solidFill>
                <a:latin typeface="Times New Roman"/>
                <a:ea typeface="Times New Roman"/>
                <a:cs typeface="Times New Roman"/>
                <a:sym typeface="Times New Roman"/>
              </a:rPr>
              <a:t> </a:t>
            </a:r>
            <a:endParaRPr/>
          </a:p>
          <a:p>
            <a:pPr marL="623888" marR="0" lvl="1" indent="-444500" algn="l" rtl="0">
              <a:lnSpc>
                <a:spcPct val="90000"/>
              </a:lnSpc>
              <a:spcBef>
                <a:spcPts val="460"/>
              </a:spcBef>
              <a:spcAft>
                <a:spcPts val="0"/>
              </a:spcAft>
              <a:buClr>
                <a:schemeClr val="accent1"/>
              </a:buClr>
              <a:buSzPts val="1840"/>
              <a:buFont typeface="Noto Sans Symbols"/>
              <a:buChar char="⮚"/>
            </a:pPr>
            <a:r>
              <a:rPr lang="en-IN" sz="2300" b="0" i="0" u="none" strike="noStrike" cap="none">
                <a:solidFill>
                  <a:srgbClr val="000000"/>
                </a:solidFill>
                <a:latin typeface="Times New Roman"/>
                <a:ea typeface="Times New Roman"/>
                <a:cs typeface="Times New Roman"/>
                <a:sym typeface="Times New Roman"/>
              </a:rPr>
              <a:t>Performance </a:t>
            </a:r>
            <a:endParaRPr sz="2300" b="0" i="0" u="none" strike="noStrike" cap="none">
              <a:solidFill>
                <a:schemeClr val="dk1"/>
              </a:solidFill>
              <a:latin typeface="Times New Roman"/>
              <a:ea typeface="Times New Roman"/>
              <a:cs typeface="Times New Roman"/>
              <a:sym typeface="Times New Roman"/>
            </a:endParaRPr>
          </a:p>
          <a:p>
            <a:pPr marL="623888" marR="0" lvl="1" indent="-327660" algn="l" rtl="0">
              <a:lnSpc>
                <a:spcPct val="90000"/>
              </a:lnSpc>
              <a:spcBef>
                <a:spcPts val="460"/>
              </a:spcBef>
              <a:spcAft>
                <a:spcPts val="0"/>
              </a:spcAft>
              <a:buClr>
                <a:schemeClr val="accent1"/>
              </a:buClr>
              <a:buSzPts val="1840"/>
              <a:buFont typeface="Noto Sans Symbols"/>
              <a:buNone/>
            </a:pPr>
            <a:endParaRPr sz="2300" b="0" i="0" u="none" strike="noStrike" cap="none">
              <a:solidFill>
                <a:schemeClr val="dk1"/>
              </a:solidFill>
              <a:latin typeface="Times New Roman"/>
              <a:ea typeface="Times New Roman"/>
              <a:cs typeface="Times New Roman"/>
              <a:sym typeface="Times New Roman"/>
            </a:endParaRPr>
          </a:p>
          <a:p>
            <a:pPr marL="623888" marR="0" lvl="1" indent="-444500" algn="l" rtl="0">
              <a:lnSpc>
                <a:spcPct val="90000"/>
              </a:lnSpc>
              <a:spcBef>
                <a:spcPts val="460"/>
              </a:spcBef>
              <a:spcAft>
                <a:spcPts val="0"/>
              </a:spcAft>
              <a:buClr>
                <a:schemeClr val="accent1"/>
              </a:buClr>
              <a:buSzPts val="1840"/>
              <a:buFont typeface="Noto Sans Symbols"/>
              <a:buChar char="⮚"/>
            </a:pPr>
            <a:r>
              <a:rPr lang="en-IN" sz="2300" b="0" i="0" u="none" strike="noStrike" cap="none">
                <a:solidFill>
                  <a:schemeClr val="dk1"/>
                </a:solidFill>
                <a:latin typeface="Times New Roman"/>
                <a:ea typeface="Times New Roman"/>
                <a:cs typeface="Times New Roman"/>
                <a:sym typeface="Times New Roman"/>
              </a:rPr>
              <a:t>Communication to public</a:t>
            </a:r>
            <a:endParaRPr sz="2300" b="0" i="0" u="none" strike="noStrike" cap="none">
              <a:solidFill>
                <a:schemeClr val="dk1"/>
              </a:solidFill>
              <a:latin typeface="Times New Roman"/>
              <a:ea typeface="Times New Roman"/>
              <a:cs typeface="Times New Roman"/>
              <a:sym typeface="Times New Roman"/>
            </a:endParaRPr>
          </a:p>
          <a:p>
            <a:pPr marL="623888" marR="0" lvl="1" indent="-327660" algn="l" rtl="0">
              <a:lnSpc>
                <a:spcPct val="90000"/>
              </a:lnSpc>
              <a:spcBef>
                <a:spcPts val="460"/>
              </a:spcBef>
              <a:spcAft>
                <a:spcPts val="0"/>
              </a:spcAft>
              <a:buClr>
                <a:schemeClr val="accent1"/>
              </a:buClr>
              <a:buSzPts val="1840"/>
              <a:buFont typeface="Noto Sans Symbols"/>
              <a:buNone/>
            </a:pPr>
            <a:endParaRPr sz="2300" b="0" i="0" u="none" strike="noStrike" cap="none">
              <a:solidFill>
                <a:schemeClr val="dk1"/>
              </a:solidFill>
              <a:latin typeface="Times New Roman"/>
              <a:ea typeface="Times New Roman"/>
              <a:cs typeface="Times New Roman"/>
              <a:sym typeface="Times New Roman"/>
            </a:endParaRPr>
          </a:p>
          <a:p>
            <a:pPr marL="623888" marR="0" lvl="1" indent="-444500" algn="l" rtl="0">
              <a:lnSpc>
                <a:spcPct val="90000"/>
              </a:lnSpc>
              <a:spcBef>
                <a:spcPts val="460"/>
              </a:spcBef>
              <a:spcAft>
                <a:spcPts val="0"/>
              </a:spcAft>
              <a:buClr>
                <a:schemeClr val="accent1"/>
              </a:buClr>
              <a:buSzPts val="1840"/>
              <a:buFont typeface="Noto Sans Symbols"/>
              <a:buChar char="⮚"/>
            </a:pPr>
            <a:r>
              <a:rPr lang="en-IN" sz="2300" b="0" i="0" u="none" strike="noStrike" cap="none">
                <a:solidFill>
                  <a:srgbClr val="000000"/>
                </a:solidFill>
                <a:latin typeface="Times New Roman"/>
                <a:ea typeface="Times New Roman"/>
                <a:cs typeface="Times New Roman"/>
                <a:sym typeface="Times New Roman"/>
              </a:rPr>
              <a:t>Adaptation</a:t>
            </a:r>
            <a:r>
              <a:rPr lang="en-IN" sz="2300" b="0" i="0" u="none" strike="noStrike" cap="none">
                <a:solidFill>
                  <a:schemeClr val="dk1"/>
                </a:solidFill>
                <a:latin typeface="Times New Roman"/>
                <a:ea typeface="Times New Roman"/>
                <a:cs typeface="Times New Roman"/>
                <a:sym typeface="Times New Roman"/>
              </a:rPr>
              <a:t> </a:t>
            </a:r>
            <a:endParaRPr/>
          </a:p>
          <a:p>
            <a:pPr marL="623888" marR="0" lvl="1" indent="-327660" algn="l" rtl="0">
              <a:lnSpc>
                <a:spcPct val="90000"/>
              </a:lnSpc>
              <a:spcBef>
                <a:spcPts val="460"/>
              </a:spcBef>
              <a:spcAft>
                <a:spcPts val="0"/>
              </a:spcAft>
              <a:buClr>
                <a:schemeClr val="accent1"/>
              </a:buClr>
              <a:buSzPts val="1840"/>
              <a:buFont typeface="Noto Sans Symbols"/>
              <a:buNone/>
            </a:pPr>
            <a:endParaRPr sz="2300" b="0" i="0" u="none" strike="noStrike" cap="none">
              <a:solidFill>
                <a:schemeClr val="dk1"/>
              </a:solidFill>
              <a:latin typeface="Times New Roman"/>
              <a:ea typeface="Times New Roman"/>
              <a:cs typeface="Times New Roman"/>
              <a:sym typeface="Times New Roman"/>
            </a:endParaRPr>
          </a:p>
          <a:p>
            <a:pPr marL="623888" marR="0" lvl="1" indent="-444500" algn="l" rtl="0">
              <a:lnSpc>
                <a:spcPct val="90000"/>
              </a:lnSpc>
              <a:spcBef>
                <a:spcPts val="460"/>
              </a:spcBef>
              <a:spcAft>
                <a:spcPts val="0"/>
              </a:spcAft>
              <a:buClr>
                <a:schemeClr val="accent1"/>
              </a:buClr>
              <a:buSzPts val="1840"/>
              <a:buFont typeface="Noto Sans Symbols"/>
              <a:buChar char="⮚"/>
            </a:pPr>
            <a:r>
              <a:rPr lang="en-IN" sz="2300" b="0" i="0" u="none" strike="noStrike" cap="none">
                <a:solidFill>
                  <a:schemeClr val="dk1"/>
                </a:solidFill>
                <a:latin typeface="Times New Roman"/>
                <a:ea typeface="Times New Roman"/>
                <a:cs typeface="Times New Roman"/>
                <a:sym typeface="Times New Roman"/>
              </a:rPr>
              <a:t>Translation</a:t>
            </a:r>
            <a:endParaRPr/>
          </a:p>
          <a:p>
            <a:pPr marL="623888" marR="0" lvl="1" indent="-444500" algn="l" rtl="0">
              <a:lnSpc>
                <a:spcPct val="90000"/>
              </a:lnSpc>
              <a:spcBef>
                <a:spcPts val="460"/>
              </a:spcBef>
              <a:spcAft>
                <a:spcPts val="0"/>
              </a:spcAft>
              <a:buNone/>
            </a:pPr>
            <a:endParaRPr sz="2300" b="0" i="0" u="none" strike="noStrike" cap="none">
              <a:solidFill>
                <a:schemeClr val="dk1"/>
              </a:solidFill>
              <a:latin typeface="Times New Roman"/>
              <a:ea typeface="Times New Roman"/>
              <a:cs typeface="Times New Roman"/>
              <a:sym typeface="Times New Roman"/>
            </a:endParaRPr>
          </a:p>
          <a:p>
            <a:pPr marL="623888" marR="0" lvl="1" indent="-444500" algn="l" rtl="0">
              <a:lnSpc>
                <a:spcPct val="90000"/>
              </a:lnSpc>
              <a:spcBef>
                <a:spcPts val="460"/>
              </a:spcBef>
              <a:spcAft>
                <a:spcPts val="0"/>
              </a:spcAft>
              <a:buClr>
                <a:schemeClr val="accent1"/>
              </a:buClr>
              <a:buSzPts val="1840"/>
              <a:buFont typeface="Noto Sans Symbols"/>
              <a:buChar char="⮚"/>
            </a:pPr>
            <a:r>
              <a:rPr lang="en-IN" sz="2300" b="0" i="0" u="none" strike="noStrike" cap="none">
                <a:solidFill>
                  <a:srgbClr val="000000"/>
                </a:solidFill>
                <a:latin typeface="Times New Roman"/>
                <a:ea typeface="Times New Roman"/>
                <a:cs typeface="Times New Roman"/>
                <a:sym typeface="Times New Roman"/>
              </a:rPr>
              <a:t>Assignment / License</a:t>
            </a:r>
            <a:r>
              <a:rPr lang="en-IN" sz="2300" b="0" i="0" u="none" strike="noStrike" cap="none">
                <a:solidFill>
                  <a:schemeClr val="dk1"/>
                </a:solidFill>
                <a:latin typeface="Times New Roman"/>
                <a:ea typeface="Times New Roman"/>
                <a:cs typeface="Times New Roman"/>
                <a:sym typeface="Times New Roman"/>
              </a:rPr>
              <a:t> </a:t>
            </a:r>
            <a:endParaRPr/>
          </a:p>
        </p:txBody>
      </p:sp>
    </p:spTree>
  </p:cSld>
  <p:clrMapOvr>
    <a:masterClrMapping/>
  </p:clrMapOvr>
  <p:transition>
    <p:split dir="in"/>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2"/>
          <p:cNvSpPr txBox="1"/>
          <p:nvPr/>
        </p:nvSpPr>
        <p:spPr>
          <a:xfrm>
            <a:off x="0" y="0"/>
            <a:ext cx="9144000" cy="6858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COPYRIGHT – A BUNDLE OF RIGHTS</a:t>
            </a:r>
            <a:endParaRPr/>
          </a:p>
          <a:p>
            <a:pPr marL="0" marR="0" lvl="0" indent="0"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
        <p:nvSpPr>
          <p:cNvPr id="495" name="Google Shape;495;p62"/>
          <p:cNvSpPr txBox="1"/>
          <p:nvPr/>
        </p:nvSpPr>
        <p:spPr>
          <a:xfrm>
            <a:off x="533400" y="1219200"/>
            <a:ext cx="8382000" cy="4724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0" algn="l" rtl="0">
              <a:spcBef>
                <a:spcPts val="600"/>
              </a:spcBef>
              <a:spcAft>
                <a:spcPts val="0"/>
              </a:spcAft>
              <a:buNone/>
            </a:pPr>
            <a:r>
              <a:rPr lang="en-IN" sz="2400" b="1">
                <a:solidFill>
                  <a:schemeClr val="dk1"/>
                </a:solidFill>
                <a:latin typeface="Times New Roman"/>
                <a:ea typeface="Times New Roman"/>
                <a:cs typeface="Times New Roman"/>
                <a:sym typeface="Times New Roman"/>
              </a:rPr>
              <a:t>Moral rights </a:t>
            </a:r>
            <a:r>
              <a:rPr lang="en-IN" sz="2400">
                <a:solidFill>
                  <a:schemeClr val="dk1"/>
                </a:solidFill>
                <a:latin typeface="Times New Roman"/>
                <a:ea typeface="Times New Roman"/>
                <a:cs typeface="Times New Roman"/>
                <a:sym typeface="Times New Roman"/>
              </a:rPr>
              <a:t>are independent of the economic rights of author and remains with him even after assignment of the copyright.</a:t>
            </a:r>
            <a:endParaRPr sz="2400">
              <a:solidFill>
                <a:schemeClr val="dk1"/>
              </a:solidFill>
              <a:latin typeface="Times New Roman"/>
              <a:ea typeface="Times New Roman"/>
              <a:cs typeface="Times New Roman"/>
              <a:sym typeface="Times New Roman"/>
            </a:endParaRPr>
          </a:p>
          <a:p>
            <a:pPr marL="274320" marR="0" lvl="0" indent="-274320" algn="l" rtl="0">
              <a:lnSpc>
                <a:spcPct val="100000"/>
              </a:lnSpc>
              <a:spcBef>
                <a:spcPts val="600"/>
              </a:spcBef>
              <a:spcAft>
                <a:spcPts val="0"/>
              </a:spcAft>
              <a:buClr>
                <a:schemeClr val="accent1"/>
              </a:buClr>
              <a:buSzPts val="1540"/>
              <a:buFont typeface="Calibri"/>
              <a:buNone/>
            </a:pPr>
            <a:endParaRPr sz="2200" b="1" i="0" u="sng" strike="noStrike" cap="none">
              <a:solidFill>
                <a:schemeClr val="dk1"/>
              </a:solidFill>
              <a:latin typeface="Times New Roman"/>
              <a:ea typeface="Times New Roman"/>
              <a:cs typeface="Times New Roman"/>
              <a:sym typeface="Times New Roman"/>
            </a:endParaRPr>
          </a:p>
          <a:p>
            <a:pPr marL="274320" marR="0" lvl="0" indent="-274320" algn="l" rtl="0">
              <a:lnSpc>
                <a:spcPct val="100000"/>
              </a:lnSpc>
              <a:spcBef>
                <a:spcPts val="600"/>
              </a:spcBef>
              <a:spcAft>
                <a:spcPts val="0"/>
              </a:spcAft>
              <a:buClr>
                <a:schemeClr val="accent1"/>
              </a:buClr>
              <a:buSzPts val="1540"/>
              <a:buFont typeface="Calibri"/>
              <a:buNone/>
            </a:pPr>
            <a:endParaRPr sz="2200" b="1" i="0" u="sng" strike="noStrike" cap="none">
              <a:solidFill>
                <a:schemeClr val="dk1"/>
              </a:solidFill>
              <a:latin typeface="Times New Roman"/>
              <a:ea typeface="Times New Roman"/>
              <a:cs typeface="Times New Roman"/>
              <a:sym typeface="Times New Roman"/>
            </a:endParaRPr>
          </a:p>
          <a:p>
            <a:pPr marL="639763" marR="0" lvl="1" indent="-376238" algn="l" rtl="0">
              <a:spcBef>
                <a:spcPts val="440"/>
              </a:spcBef>
              <a:spcAft>
                <a:spcPts val="0"/>
              </a:spcAft>
              <a:buClr>
                <a:schemeClr val="accent1"/>
              </a:buClr>
              <a:buSzPts val="1760"/>
              <a:buFont typeface="Noto Sans Symbols"/>
              <a:buChar char="⮚"/>
            </a:pPr>
            <a:r>
              <a:rPr lang="en-IN" sz="2200" b="0" i="0" u="none" strike="noStrike" cap="none">
                <a:solidFill>
                  <a:schemeClr val="dk1"/>
                </a:solidFill>
                <a:latin typeface="Times New Roman"/>
                <a:ea typeface="Times New Roman"/>
                <a:cs typeface="Times New Roman"/>
                <a:sym typeface="Times New Roman"/>
              </a:rPr>
              <a:t>Right to Paternity - Claim of authorship of the work </a:t>
            </a:r>
            <a:endParaRPr sz="2200" b="0" i="0" u="none" strike="noStrike" cap="none">
              <a:solidFill>
                <a:schemeClr val="dk1"/>
              </a:solidFill>
              <a:latin typeface="Times New Roman"/>
              <a:ea typeface="Times New Roman"/>
              <a:cs typeface="Times New Roman"/>
              <a:sym typeface="Times New Roman"/>
            </a:endParaRPr>
          </a:p>
          <a:p>
            <a:pPr marL="639763" marR="0" lvl="1" indent="-264478" algn="just" rtl="0">
              <a:lnSpc>
                <a:spcPct val="100000"/>
              </a:lnSpc>
              <a:spcBef>
                <a:spcPts val="440"/>
              </a:spcBef>
              <a:spcAft>
                <a:spcPts val="0"/>
              </a:spcAft>
              <a:buClr>
                <a:schemeClr val="accent1"/>
              </a:buClr>
              <a:buSzPts val="1760"/>
              <a:buFont typeface="Noto Sans Symbols"/>
              <a:buNone/>
            </a:pPr>
            <a:endParaRPr sz="2200" b="0" i="0" u="none" strike="noStrike" cap="none">
              <a:solidFill>
                <a:schemeClr val="dk1"/>
              </a:solidFill>
              <a:latin typeface="Times New Roman"/>
              <a:ea typeface="Times New Roman"/>
              <a:cs typeface="Times New Roman"/>
              <a:sym typeface="Times New Roman"/>
            </a:endParaRPr>
          </a:p>
          <a:p>
            <a:pPr marL="639763" marR="0" lvl="1" indent="-376238" algn="just" rtl="0">
              <a:spcBef>
                <a:spcPts val="440"/>
              </a:spcBef>
              <a:spcAft>
                <a:spcPts val="0"/>
              </a:spcAft>
              <a:buClr>
                <a:schemeClr val="accent1"/>
              </a:buClr>
              <a:buSzPts val="1760"/>
              <a:buFont typeface="Noto Sans Symbols"/>
              <a:buChar char="⮚"/>
            </a:pPr>
            <a:r>
              <a:rPr lang="en-IN" sz="2200" b="0" i="0" u="none" strike="noStrike" cap="none">
                <a:solidFill>
                  <a:schemeClr val="dk1"/>
                </a:solidFill>
                <a:latin typeface="Times New Roman"/>
                <a:ea typeface="Times New Roman"/>
                <a:cs typeface="Times New Roman"/>
                <a:sym typeface="Times New Roman"/>
              </a:rPr>
              <a:t>Right to Integrity - Object against mutilation/distortion of work</a:t>
            </a:r>
            <a:endParaRPr sz="4800" b="0" i="0" u="none" strike="noStrike" cap="none">
              <a:solidFill>
                <a:schemeClr val="dk1"/>
              </a:solidFill>
              <a:latin typeface="Times New Roman"/>
              <a:ea typeface="Times New Roman"/>
              <a:cs typeface="Times New Roman"/>
              <a:sym typeface="Times New Roman"/>
            </a:endParaRPr>
          </a:p>
          <a:p>
            <a:pPr marL="639763" marR="0" lvl="1" indent="-269558" algn="just" rtl="0">
              <a:lnSpc>
                <a:spcPct val="100000"/>
              </a:lnSpc>
              <a:spcBef>
                <a:spcPts val="420"/>
              </a:spcBef>
              <a:spcAft>
                <a:spcPts val="0"/>
              </a:spcAft>
              <a:buClr>
                <a:schemeClr val="accent1"/>
              </a:buClr>
              <a:buSzPts val="1680"/>
              <a:buFont typeface="Noto Sans Symbols"/>
              <a:buNone/>
            </a:pPr>
            <a:endParaRPr sz="2100" b="1"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65"/>
          <p:cNvSpPr txBox="1">
            <a:spLocks noGrp="1"/>
          </p:cNvSpPr>
          <p:nvPr>
            <p:ph type="subTitle" idx="1"/>
          </p:nvPr>
        </p:nvSpPr>
        <p:spPr>
          <a:xfrm>
            <a:off x="228600" y="762000"/>
            <a:ext cx="8763000" cy="5715000"/>
          </a:xfrm>
          <a:prstGeom prst="rect">
            <a:avLst/>
          </a:prstGeom>
          <a:noFill/>
          <a:ln>
            <a:noFill/>
          </a:ln>
        </p:spPr>
        <p:txBody>
          <a:bodyPr spcFirstLastPara="1" wrap="square" lIns="91425" tIns="45700" rIns="91425" bIns="45700" anchor="t" anchorCtr="0">
            <a:noAutofit/>
          </a:bodyPr>
          <a:lstStyle/>
          <a:p>
            <a:pPr marL="339725" lvl="0" indent="-339725" algn="just" rtl="0">
              <a:lnSpc>
                <a:spcPct val="170000"/>
              </a:lnSpc>
              <a:spcBef>
                <a:spcPts val="0"/>
              </a:spcBef>
              <a:spcAft>
                <a:spcPts val="0"/>
              </a:spcAft>
              <a:buClr>
                <a:schemeClr val="dk1"/>
              </a:buClr>
              <a:buSzPts val="2200"/>
              <a:buFont typeface="Noto Sans Symbols"/>
              <a:buChar char="⮚"/>
            </a:pPr>
            <a:r>
              <a:rPr lang="en-IN" sz="2200">
                <a:solidFill>
                  <a:schemeClr val="dk1"/>
                </a:solidFill>
                <a:latin typeface="Times New Roman"/>
                <a:ea typeface="Times New Roman"/>
                <a:cs typeface="Times New Roman"/>
                <a:sym typeface="Times New Roman"/>
              </a:rPr>
              <a:t>Copyright Societies – Issues licenses, collects and distributes royalties after making deductions for the administrative expenses.</a:t>
            </a:r>
            <a:endParaRPr/>
          </a:p>
          <a:p>
            <a:pPr marL="0" lvl="0" indent="0" algn="ctr" rtl="0">
              <a:spcBef>
                <a:spcPts val="440"/>
              </a:spcBef>
              <a:spcAft>
                <a:spcPts val="0"/>
              </a:spcAft>
              <a:buClr>
                <a:srgbClr val="888888"/>
              </a:buClr>
              <a:buSzPts val="2200"/>
              <a:buNone/>
            </a:pPr>
            <a:endParaRPr sz="2200" b="1">
              <a:solidFill>
                <a:schemeClr val="dk1"/>
              </a:solidFill>
              <a:latin typeface="Times New Roman"/>
              <a:ea typeface="Times New Roman"/>
              <a:cs typeface="Times New Roman"/>
              <a:sym typeface="Times New Roman"/>
            </a:endParaRPr>
          </a:p>
          <a:p>
            <a:pPr marL="0" lvl="0" indent="0" algn="ctr" rtl="0">
              <a:spcBef>
                <a:spcPts val="440"/>
              </a:spcBef>
              <a:spcAft>
                <a:spcPts val="0"/>
              </a:spcAft>
              <a:buClr>
                <a:schemeClr val="dk1"/>
              </a:buClr>
              <a:buSzPts val="2200"/>
              <a:buNone/>
            </a:pPr>
            <a:r>
              <a:rPr lang="en-IN" sz="2200" b="1">
                <a:solidFill>
                  <a:schemeClr val="dk1"/>
                </a:solidFill>
                <a:latin typeface="Times New Roman"/>
                <a:ea typeface="Times New Roman"/>
                <a:cs typeface="Times New Roman"/>
                <a:sym typeface="Times New Roman"/>
              </a:rPr>
              <a:t>Registered copyright societies in India</a:t>
            </a:r>
            <a:endParaRPr/>
          </a:p>
          <a:p>
            <a:pPr marL="0" lvl="0" indent="0" algn="ctr" rtl="0">
              <a:spcBef>
                <a:spcPts val="440"/>
              </a:spcBef>
              <a:spcAft>
                <a:spcPts val="0"/>
              </a:spcAft>
              <a:buClr>
                <a:srgbClr val="888888"/>
              </a:buClr>
              <a:buSzPts val="2200"/>
              <a:buNone/>
            </a:pPr>
            <a:endParaRPr sz="2200" b="1">
              <a:solidFill>
                <a:schemeClr val="dk1"/>
              </a:solidFill>
              <a:latin typeface="Times New Roman"/>
              <a:ea typeface="Times New Roman"/>
              <a:cs typeface="Times New Roman"/>
              <a:sym typeface="Times New Roman"/>
            </a:endParaRPr>
          </a:p>
          <a:p>
            <a:pPr marL="900113" lvl="0" indent="-539750" algn="l" rtl="0">
              <a:spcBef>
                <a:spcPts val="440"/>
              </a:spcBef>
              <a:spcAft>
                <a:spcPts val="0"/>
              </a:spcAft>
              <a:buClr>
                <a:schemeClr val="dk1"/>
              </a:buClr>
              <a:buSzPts val="2200"/>
              <a:buFont typeface="Noto Sans Symbols"/>
              <a:buChar char="⮚"/>
            </a:pPr>
            <a:r>
              <a:rPr lang="en-IN" sz="2200">
                <a:solidFill>
                  <a:schemeClr val="dk1"/>
                </a:solidFill>
                <a:latin typeface="Times New Roman"/>
                <a:ea typeface="Times New Roman"/>
                <a:cs typeface="Times New Roman"/>
                <a:sym typeface="Times New Roman"/>
              </a:rPr>
              <a:t>Society for Copyright Regulation of Indian Producers for Film and Television (SCRIPT) 135 Continental Building, Dr. A.B. Road, Worli, Mumbai 400 018, (for cinematograph and television films)</a:t>
            </a:r>
            <a:endParaRPr/>
          </a:p>
          <a:p>
            <a:pPr marL="900113" lvl="0" indent="-539750" algn="l" rtl="0">
              <a:spcBef>
                <a:spcPts val="440"/>
              </a:spcBef>
              <a:spcAft>
                <a:spcPts val="0"/>
              </a:spcAft>
              <a:buClr>
                <a:schemeClr val="dk1"/>
              </a:buClr>
              <a:buSzPts val="2200"/>
              <a:buFont typeface="Noto Sans Symbols"/>
              <a:buChar char="⮚"/>
            </a:pPr>
            <a:r>
              <a:rPr lang="en-IN" sz="2200">
                <a:solidFill>
                  <a:schemeClr val="dk1"/>
                </a:solidFill>
                <a:latin typeface="Times New Roman"/>
                <a:ea typeface="Times New Roman"/>
                <a:cs typeface="Times New Roman"/>
                <a:sym typeface="Times New Roman"/>
              </a:rPr>
              <a:t>The Indian Performing Right Society Limited (IPRS), 208, Golden Chambers, 2nd Floor, New Andheri Link Road, Andheri (W), Mumbai400 058 (for musical works)</a:t>
            </a:r>
            <a:endParaRPr/>
          </a:p>
          <a:p>
            <a:pPr marL="900113" lvl="0" indent="-539750" algn="l" rtl="0">
              <a:spcBef>
                <a:spcPts val="440"/>
              </a:spcBef>
              <a:spcAft>
                <a:spcPts val="0"/>
              </a:spcAft>
              <a:buClr>
                <a:schemeClr val="dk1"/>
              </a:buClr>
              <a:buSzPts val="2200"/>
              <a:buFont typeface="Noto Sans Symbols"/>
              <a:buChar char="⮚"/>
            </a:pPr>
            <a:r>
              <a:rPr lang="en-IN" sz="2200">
                <a:solidFill>
                  <a:schemeClr val="dk1"/>
                </a:solidFill>
                <a:latin typeface="Times New Roman"/>
                <a:ea typeface="Times New Roman"/>
                <a:cs typeface="Times New Roman"/>
                <a:sym typeface="Times New Roman"/>
              </a:rPr>
              <a:t>Phonographic Performance Limited (PPL) Flame Proof Equipment Building, B.39, Off New Link Road, Andheri (West), Mumbai 400 053 (for sound recordings) , etc</a:t>
            </a:r>
            <a:endParaRPr/>
          </a:p>
        </p:txBody>
      </p:sp>
      <p:sp>
        <p:nvSpPr>
          <p:cNvPr id="513" name="Google Shape;513;p65"/>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Copyright Societies</a:t>
            </a: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73"/>
          <p:cNvSpPr/>
          <p:nvPr/>
        </p:nvSpPr>
        <p:spPr>
          <a:xfrm>
            <a:off x="533400" y="1066800"/>
            <a:ext cx="8229600" cy="3124200"/>
          </a:xfrm>
          <a:prstGeom prst="horizontalScroll">
            <a:avLst>
              <a:gd name="adj" fmla="val 12500"/>
            </a:avLst>
          </a:prstGeom>
          <a:solidFill>
            <a:srgbClr val="089CA2"/>
          </a:solidFill>
          <a:ln w="57150" cap="flat" cmpd="sng">
            <a:solidFill>
              <a:srgbClr val="59595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6600" b="1" i="1">
                <a:solidFill>
                  <a:schemeClr val="lt1"/>
                </a:solidFill>
                <a:latin typeface="Ruge Boogie"/>
                <a:ea typeface="Ruge Boogie"/>
                <a:cs typeface="Ruge Boogie"/>
                <a:sym typeface="Ruge Boogie"/>
              </a:rPr>
              <a:t>INDUSTRIAL DESIGNS</a:t>
            </a:r>
            <a:endParaRPr/>
          </a:p>
        </p:txBody>
      </p:sp>
    </p:spTree>
  </p:cSld>
  <p:clrMapOvr>
    <a:masterClrMapping/>
  </p:clrMapOvr>
  <p:transition>
    <p:fad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74"/>
          <p:cNvSpPr txBox="1">
            <a:spLocks noGrp="1"/>
          </p:cNvSpPr>
          <p:nvPr>
            <p:ph type="subTitle" idx="1"/>
          </p:nvPr>
        </p:nvSpPr>
        <p:spPr>
          <a:xfrm>
            <a:off x="838200" y="914400"/>
            <a:ext cx="7696200" cy="54102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ct val="100000"/>
              <a:buNone/>
            </a:pPr>
            <a:r>
              <a:rPr lang="en-IN" sz="2400" b="0">
                <a:solidFill>
                  <a:schemeClr val="dk1"/>
                </a:solidFill>
                <a:latin typeface="Times New Roman"/>
                <a:ea typeface="Times New Roman"/>
                <a:cs typeface="Times New Roman"/>
                <a:sym typeface="Times New Roman"/>
              </a:rPr>
              <a:t>Design refers to the features of </a:t>
            </a:r>
            <a:endParaRPr/>
          </a:p>
          <a:p>
            <a:pPr marL="539750" lvl="0" indent="-179388" algn="just" rtl="0">
              <a:spcBef>
                <a:spcPts val="444"/>
              </a:spcBef>
              <a:spcAft>
                <a:spcPts val="0"/>
              </a:spcAft>
              <a:buClr>
                <a:schemeClr val="dk1"/>
              </a:buClr>
              <a:buSzPct val="100000"/>
              <a:buFont typeface="Noto Sans Symbols"/>
              <a:buChar char="⮚"/>
            </a:pPr>
            <a:r>
              <a:rPr lang="en-IN" sz="2400" b="0">
                <a:solidFill>
                  <a:schemeClr val="dk1"/>
                </a:solidFill>
                <a:latin typeface="Times New Roman"/>
                <a:ea typeface="Times New Roman"/>
                <a:cs typeface="Times New Roman"/>
                <a:sym typeface="Times New Roman"/>
              </a:rPr>
              <a:t>  Shape</a:t>
            </a:r>
            <a:endParaRPr/>
          </a:p>
          <a:p>
            <a:pPr marL="539750" lvl="0" indent="-179388" algn="just" rtl="0">
              <a:spcBef>
                <a:spcPts val="444"/>
              </a:spcBef>
              <a:spcAft>
                <a:spcPts val="0"/>
              </a:spcAft>
              <a:buClr>
                <a:schemeClr val="dk1"/>
              </a:buClr>
              <a:buSzPct val="100000"/>
              <a:buFont typeface="Noto Sans Symbols"/>
              <a:buChar char="⮚"/>
            </a:pPr>
            <a:r>
              <a:rPr lang="en-IN" sz="2400" b="0">
                <a:solidFill>
                  <a:schemeClr val="dk1"/>
                </a:solidFill>
                <a:latin typeface="Times New Roman"/>
                <a:ea typeface="Times New Roman"/>
                <a:cs typeface="Times New Roman"/>
                <a:sym typeface="Times New Roman"/>
              </a:rPr>
              <a:t>  Configuration</a:t>
            </a:r>
            <a:endParaRPr/>
          </a:p>
          <a:p>
            <a:pPr marL="539750" lvl="0" indent="-179388" algn="just" rtl="0">
              <a:spcBef>
                <a:spcPts val="444"/>
              </a:spcBef>
              <a:spcAft>
                <a:spcPts val="0"/>
              </a:spcAft>
              <a:buClr>
                <a:schemeClr val="dk1"/>
              </a:buClr>
              <a:buSzPct val="100000"/>
              <a:buFont typeface="Noto Sans Symbols"/>
              <a:buChar char="⮚"/>
            </a:pPr>
            <a:r>
              <a:rPr lang="en-IN" sz="2400" b="0">
                <a:solidFill>
                  <a:schemeClr val="dk1"/>
                </a:solidFill>
                <a:latin typeface="Times New Roman"/>
                <a:ea typeface="Times New Roman"/>
                <a:cs typeface="Times New Roman"/>
                <a:sym typeface="Times New Roman"/>
              </a:rPr>
              <a:t>  Pattern</a:t>
            </a:r>
            <a:endParaRPr/>
          </a:p>
          <a:p>
            <a:pPr marL="539750" lvl="0" indent="-179388" algn="just" rtl="0">
              <a:spcBef>
                <a:spcPts val="444"/>
              </a:spcBef>
              <a:spcAft>
                <a:spcPts val="0"/>
              </a:spcAft>
              <a:buClr>
                <a:schemeClr val="dk1"/>
              </a:buClr>
              <a:buSzPct val="100000"/>
              <a:buFont typeface="Noto Sans Symbols"/>
              <a:buChar char="⮚"/>
            </a:pPr>
            <a:r>
              <a:rPr lang="en-IN" sz="2400" b="0">
                <a:solidFill>
                  <a:schemeClr val="dk1"/>
                </a:solidFill>
                <a:latin typeface="Times New Roman"/>
                <a:ea typeface="Times New Roman"/>
                <a:cs typeface="Times New Roman"/>
                <a:sym typeface="Times New Roman"/>
              </a:rPr>
              <a:t>  Ornamentation </a:t>
            </a:r>
            <a:endParaRPr/>
          </a:p>
          <a:p>
            <a:pPr marL="539750" lvl="0" indent="-179388" algn="just" rtl="0">
              <a:spcBef>
                <a:spcPts val="444"/>
              </a:spcBef>
              <a:spcAft>
                <a:spcPts val="0"/>
              </a:spcAft>
              <a:buClr>
                <a:schemeClr val="dk1"/>
              </a:buClr>
              <a:buSzPct val="100000"/>
              <a:buFont typeface="Noto Sans Symbols"/>
              <a:buChar char="⮚"/>
            </a:pPr>
            <a:r>
              <a:rPr lang="en-IN" sz="2400" b="0">
                <a:solidFill>
                  <a:schemeClr val="dk1"/>
                </a:solidFill>
                <a:latin typeface="Times New Roman"/>
                <a:ea typeface="Times New Roman"/>
                <a:cs typeface="Times New Roman"/>
                <a:sym typeface="Times New Roman"/>
              </a:rPr>
              <a:t>  Composition of lines or colors </a:t>
            </a:r>
            <a:endParaRPr/>
          </a:p>
          <a:p>
            <a:pPr marL="0" lvl="0" indent="0" algn="just" rtl="0">
              <a:spcBef>
                <a:spcPts val="444"/>
              </a:spcBef>
              <a:spcAft>
                <a:spcPts val="0"/>
              </a:spcAft>
              <a:buClr>
                <a:schemeClr val="dk1"/>
              </a:buClr>
              <a:buSzPct val="100000"/>
              <a:buNone/>
            </a:pPr>
            <a:r>
              <a:rPr lang="en-IN" sz="2400" b="0">
                <a:solidFill>
                  <a:schemeClr val="dk1"/>
                </a:solidFill>
                <a:latin typeface="Times New Roman"/>
                <a:ea typeface="Times New Roman"/>
                <a:cs typeface="Times New Roman"/>
                <a:sym typeface="Times New Roman"/>
              </a:rPr>
              <a:t>applied to any article, whether in two or three dimensional or in both forms, by any industrial process or means whether manual, mechanical or chemical, separate or combined, which in </a:t>
            </a:r>
            <a:r>
              <a:rPr lang="en-IN" sz="2400" b="1">
                <a:solidFill>
                  <a:srgbClr val="FF0000"/>
                </a:solidFill>
                <a:latin typeface="Times New Roman"/>
                <a:ea typeface="Times New Roman"/>
                <a:cs typeface="Times New Roman"/>
                <a:sym typeface="Times New Roman"/>
              </a:rPr>
              <a:t>the finished article appeals to and judged solely by the eye</a:t>
            </a:r>
            <a:r>
              <a:rPr lang="en-IN" sz="2400" b="0">
                <a:solidFill>
                  <a:schemeClr val="dk1"/>
                </a:solidFill>
                <a:latin typeface="Times New Roman"/>
                <a:ea typeface="Times New Roman"/>
                <a:cs typeface="Times New Roman"/>
                <a:sym typeface="Times New Roman"/>
              </a:rPr>
              <a:t>. </a:t>
            </a:r>
            <a:endParaRPr/>
          </a:p>
          <a:p>
            <a:pPr marL="0" lvl="0" indent="0" algn="just" rtl="0">
              <a:spcBef>
                <a:spcPts val="444"/>
              </a:spcBef>
              <a:spcAft>
                <a:spcPts val="0"/>
              </a:spcAft>
              <a:buClr>
                <a:schemeClr val="dk1"/>
              </a:buClr>
              <a:buSzPct val="100000"/>
              <a:buNone/>
            </a:pPr>
            <a:r>
              <a:rPr lang="en-IN" sz="2400">
                <a:solidFill>
                  <a:schemeClr val="dk1"/>
                </a:solidFill>
                <a:latin typeface="Times New Roman"/>
                <a:ea typeface="Times New Roman"/>
                <a:cs typeface="Times New Roman"/>
                <a:sym typeface="Times New Roman"/>
              </a:rPr>
              <a:t>Article means any article of manufacture and any substance, artificial, or partly artificial and partly natural; and includes any part of an article capable of being made and sold separately.</a:t>
            </a:r>
            <a:endParaRPr sz="2400" b="0">
              <a:solidFill>
                <a:schemeClr val="dk1"/>
              </a:solidFill>
              <a:latin typeface="Times New Roman"/>
              <a:ea typeface="Times New Roman"/>
              <a:cs typeface="Times New Roman"/>
              <a:sym typeface="Times New Roman"/>
            </a:endParaRPr>
          </a:p>
          <a:p>
            <a:pPr marL="0" lvl="0" indent="0" algn="just" rtl="0">
              <a:spcBef>
                <a:spcPts val="370"/>
              </a:spcBef>
              <a:spcAft>
                <a:spcPts val="0"/>
              </a:spcAft>
              <a:buClr>
                <a:srgbClr val="888888"/>
              </a:buClr>
              <a:buSzPct val="100000"/>
              <a:buNone/>
            </a:pPr>
            <a:endParaRPr sz="2000" b="0">
              <a:solidFill>
                <a:schemeClr val="dk1"/>
              </a:solidFill>
              <a:latin typeface="Times New Roman"/>
              <a:ea typeface="Times New Roman"/>
              <a:cs typeface="Times New Roman"/>
              <a:sym typeface="Times New Roman"/>
            </a:endParaRPr>
          </a:p>
          <a:p>
            <a:pPr marL="339725" lvl="0" indent="-222250" algn="just" rtl="0">
              <a:spcBef>
                <a:spcPts val="370"/>
              </a:spcBef>
              <a:spcAft>
                <a:spcPts val="0"/>
              </a:spcAft>
              <a:buClr>
                <a:srgbClr val="888888"/>
              </a:buClr>
              <a:buSzPct val="100000"/>
              <a:buFont typeface="Noto Sans Symbols"/>
              <a:buNone/>
            </a:pPr>
            <a:endParaRPr sz="2000" b="0">
              <a:solidFill>
                <a:schemeClr val="dk1"/>
              </a:solidFill>
              <a:latin typeface="Times New Roman"/>
              <a:ea typeface="Times New Roman"/>
              <a:cs typeface="Times New Roman"/>
              <a:sym typeface="Times New Roman"/>
            </a:endParaRPr>
          </a:p>
        </p:txBody>
      </p:sp>
      <p:sp>
        <p:nvSpPr>
          <p:cNvPr id="567" name="Google Shape;567;p74"/>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Industrial Design under the Designs Act, 2000</a:t>
            </a:r>
            <a:endParaRPr sz="3200" b="1">
              <a:solidFill>
                <a:schemeClr val="lt1"/>
              </a:solidFill>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75"/>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Examples</a:t>
            </a:r>
            <a:endParaRPr sz="3200" b="1" i="0" strike="noStrike" cap="none">
              <a:solidFill>
                <a:schemeClr val="lt1"/>
              </a:solidFill>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pic>
        <p:nvPicPr>
          <p:cNvPr id="573" name="Google Shape;573;p75"/>
          <p:cNvPicPr preferRelativeResize="0"/>
          <p:nvPr/>
        </p:nvPicPr>
        <p:blipFill rotWithShape="1">
          <a:blip r:embed="rId3">
            <a:alphaModFix/>
          </a:blip>
          <a:srcRect/>
          <a:stretch/>
        </p:blipFill>
        <p:spPr>
          <a:xfrm>
            <a:off x="228600" y="914400"/>
            <a:ext cx="1600200" cy="2343955"/>
          </a:xfrm>
          <a:prstGeom prst="rect">
            <a:avLst/>
          </a:prstGeom>
          <a:noFill/>
          <a:ln>
            <a:noFill/>
          </a:ln>
        </p:spPr>
      </p:pic>
      <p:pic>
        <p:nvPicPr>
          <p:cNvPr id="574" name="Google Shape;574;p75"/>
          <p:cNvPicPr preferRelativeResize="0"/>
          <p:nvPr/>
        </p:nvPicPr>
        <p:blipFill rotWithShape="1">
          <a:blip r:embed="rId4">
            <a:alphaModFix/>
          </a:blip>
          <a:srcRect/>
          <a:stretch/>
        </p:blipFill>
        <p:spPr>
          <a:xfrm>
            <a:off x="2209800" y="990600"/>
            <a:ext cx="1771904" cy="2743200"/>
          </a:xfrm>
          <a:prstGeom prst="rect">
            <a:avLst/>
          </a:prstGeom>
          <a:noFill/>
          <a:ln>
            <a:noFill/>
          </a:ln>
        </p:spPr>
      </p:pic>
      <p:pic>
        <p:nvPicPr>
          <p:cNvPr id="575" name="Google Shape;575;p75"/>
          <p:cNvPicPr preferRelativeResize="0"/>
          <p:nvPr/>
        </p:nvPicPr>
        <p:blipFill rotWithShape="1">
          <a:blip r:embed="rId5">
            <a:alphaModFix/>
          </a:blip>
          <a:srcRect/>
          <a:stretch/>
        </p:blipFill>
        <p:spPr>
          <a:xfrm>
            <a:off x="6781801" y="838201"/>
            <a:ext cx="1905000" cy="2469980"/>
          </a:xfrm>
          <a:prstGeom prst="rect">
            <a:avLst/>
          </a:prstGeom>
          <a:noFill/>
          <a:ln>
            <a:noFill/>
          </a:ln>
        </p:spPr>
      </p:pic>
      <p:sp>
        <p:nvSpPr>
          <p:cNvPr id="576" name="Google Shape;576;p75"/>
          <p:cNvSpPr txBox="1"/>
          <p:nvPr/>
        </p:nvSpPr>
        <p:spPr>
          <a:xfrm>
            <a:off x="7010400" y="3352800"/>
            <a:ext cx="1676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a:solidFill>
                  <a:srgbClr val="000000"/>
                </a:solidFill>
                <a:latin typeface="Times New Roman"/>
                <a:ea typeface="Times New Roman"/>
                <a:cs typeface="Times New Roman"/>
                <a:sym typeface="Times New Roman"/>
              </a:rPr>
              <a:t>Perfume Bottle</a:t>
            </a:r>
            <a:endParaRPr/>
          </a:p>
        </p:txBody>
      </p:sp>
      <p:pic>
        <p:nvPicPr>
          <p:cNvPr id="577" name="Google Shape;577;p75" descr="cap1"/>
          <p:cNvPicPr preferRelativeResize="0"/>
          <p:nvPr/>
        </p:nvPicPr>
        <p:blipFill rotWithShape="1">
          <a:blip r:embed="rId6">
            <a:alphaModFix/>
          </a:blip>
          <a:srcRect/>
          <a:stretch/>
        </p:blipFill>
        <p:spPr>
          <a:xfrm>
            <a:off x="169178" y="3276600"/>
            <a:ext cx="1812022" cy="1828800"/>
          </a:xfrm>
          <a:prstGeom prst="rect">
            <a:avLst/>
          </a:prstGeom>
          <a:noFill/>
          <a:ln>
            <a:noFill/>
          </a:ln>
        </p:spPr>
      </p:pic>
      <p:pic>
        <p:nvPicPr>
          <p:cNvPr id="578" name="Google Shape;578;p75" descr="ornament"/>
          <p:cNvPicPr preferRelativeResize="0"/>
          <p:nvPr/>
        </p:nvPicPr>
        <p:blipFill rotWithShape="1">
          <a:blip r:embed="rId7">
            <a:alphaModFix/>
          </a:blip>
          <a:srcRect/>
          <a:stretch/>
        </p:blipFill>
        <p:spPr>
          <a:xfrm>
            <a:off x="228600" y="5181600"/>
            <a:ext cx="1344706" cy="1524000"/>
          </a:xfrm>
          <a:prstGeom prst="rect">
            <a:avLst/>
          </a:prstGeom>
          <a:noFill/>
          <a:ln>
            <a:noFill/>
          </a:ln>
        </p:spPr>
      </p:pic>
      <p:pic>
        <p:nvPicPr>
          <p:cNvPr id="579" name="Google Shape;579;p75" descr="C:\Documents and Settings\K. BALAKRISHNAN\Desktop\Pictures\s-a-16.jpg"/>
          <p:cNvPicPr preferRelativeResize="0"/>
          <p:nvPr/>
        </p:nvPicPr>
        <p:blipFill rotWithShape="1">
          <a:blip r:embed="rId8">
            <a:alphaModFix/>
          </a:blip>
          <a:srcRect/>
          <a:stretch/>
        </p:blipFill>
        <p:spPr>
          <a:xfrm>
            <a:off x="2225675" y="4495800"/>
            <a:ext cx="1965325" cy="2270125"/>
          </a:xfrm>
          <a:prstGeom prst="rect">
            <a:avLst/>
          </a:prstGeom>
          <a:noFill/>
          <a:ln>
            <a:noFill/>
          </a:ln>
        </p:spPr>
      </p:pic>
      <p:pic>
        <p:nvPicPr>
          <p:cNvPr id="580" name="Google Shape;580;p75" descr="C:\Documents and Settings\K. BALAKRISHNAN\Desktop\Pictures\wh1696.jpg"/>
          <p:cNvPicPr preferRelativeResize="0"/>
          <p:nvPr/>
        </p:nvPicPr>
        <p:blipFill rotWithShape="1">
          <a:blip r:embed="rId9">
            <a:alphaModFix/>
          </a:blip>
          <a:srcRect/>
          <a:stretch/>
        </p:blipFill>
        <p:spPr>
          <a:xfrm>
            <a:off x="6096000" y="4116387"/>
            <a:ext cx="2741613" cy="2741613"/>
          </a:xfrm>
          <a:prstGeom prst="rect">
            <a:avLst/>
          </a:prstGeom>
          <a:noFill/>
          <a:ln>
            <a:noFill/>
          </a:ln>
        </p:spPr>
      </p:pic>
      <p:pic>
        <p:nvPicPr>
          <p:cNvPr id="581" name="Google Shape;581;p75" descr="C:\Documents and Settings\K. BALAKRISHNAN\Desktop\Pictures\JJ-16.jpg"/>
          <p:cNvPicPr preferRelativeResize="0"/>
          <p:nvPr/>
        </p:nvPicPr>
        <p:blipFill rotWithShape="1">
          <a:blip r:embed="rId10">
            <a:alphaModFix/>
          </a:blip>
          <a:srcRect/>
          <a:stretch/>
        </p:blipFill>
        <p:spPr>
          <a:xfrm>
            <a:off x="4267200" y="914400"/>
            <a:ext cx="2057400" cy="2057400"/>
          </a:xfrm>
          <a:prstGeom prst="rect">
            <a:avLst/>
          </a:prstGeom>
          <a:noFill/>
          <a:ln>
            <a:noFill/>
          </a:ln>
        </p:spPr>
      </p:pic>
      <p:pic>
        <p:nvPicPr>
          <p:cNvPr id="582" name="Google Shape;582;p75" descr="ph02747j"/>
          <p:cNvPicPr preferRelativeResize="0"/>
          <p:nvPr/>
        </p:nvPicPr>
        <p:blipFill rotWithShape="1">
          <a:blip r:embed="rId11">
            <a:alphaModFix/>
          </a:blip>
          <a:srcRect l="22221" r="25000"/>
          <a:stretch/>
        </p:blipFill>
        <p:spPr>
          <a:xfrm>
            <a:off x="4419600" y="5010150"/>
            <a:ext cx="1447800" cy="1847850"/>
          </a:xfrm>
          <a:prstGeom prst="rect">
            <a:avLst/>
          </a:prstGeom>
          <a:noFill/>
          <a:ln>
            <a:noFill/>
          </a:ln>
        </p:spPr>
      </p:pic>
      <p:pic>
        <p:nvPicPr>
          <p:cNvPr id="583" name="Google Shape;583;p75" descr="http://ipindiaservices.gov.in/Design_Docs/250001-300000/273721/publication-273721-registered.jpg"/>
          <p:cNvPicPr preferRelativeResize="0"/>
          <p:nvPr/>
        </p:nvPicPr>
        <p:blipFill rotWithShape="1">
          <a:blip r:embed="rId12">
            <a:alphaModFix/>
          </a:blip>
          <a:srcRect/>
          <a:stretch/>
        </p:blipFill>
        <p:spPr>
          <a:xfrm>
            <a:off x="4267200" y="3124200"/>
            <a:ext cx="1729982" cy="1676400"/>
          </a:xfrm>
          <a:prstGeom prst="rect">
            <a:avLst/>
          </a:prstGeom>
          <a:noFill/>
          <a:ln>
            <a:noFill/>
          </a:ln>
        </p:spPr>
      </p:pic>
    </p:spTree>
  </p:cSld>
  <p:clrMapOvr>
    <a:masterClrMapping/>
  </p:clrMapOvr>
  <p:transition>
    <p:split dir="in"/>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76"/>
          <p:cNvSpPr/>
          <p:nvPr/>
        </p:nvSpPr>
        <p:spPr>
          <a:xfrm>
            <a:off x="762000" y="828288"/>
            <a:ext cx="7848600" cy="5332229"/>
          </a:xfrm>
          <a:prstGeom prst="rect">
            <a:avLst/>
          </a:prstGeom>
          <a:noFill/>
          <a:ln>
            <a:noFill/>
          </a:ln>
        </p:spPr>
        <p:txBody>
          <a:bodyPr spcFirstLastPara="1" wrap="square" lIns="91425" tIns="45700" rIns="91425" bIns="45700" anchor="t" anchorCtr="0">
            <a:spAutoFit/>
          </a:bodyPr>
          <a:lstStyle/>
          <a:p>
            <a:pPr marL="360363" marR="0" lvl="0" indent="-360363" algn="l" rtl="0">
              <a:lnSpc>
                <a:spcPct val="150000"/>
              </a:lnSpc>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Exclusive right to apply a design to the article in the class in which the design has been registered.</a:t>
            </a:r>
            <a:endParaRPr/>
          </a:p>
          <a:p>
            <a:pPr marL="360363" marR="0" lvl="0" indent="-360363" algn="l" rtl="0">
              <a:lnSpc>
                <a:spcPct val="150000"/>
              </a:lnSpc>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Owner can license or sell or mortgage his design as legal property for a consideration or royalty. </a:t>
            </a:r>
            <a:endParaRPr sz="2300">
              <a:solidFill>
                <a:schemeClr val="dk1"/>
              </a:solidFill>
              <a:latin typeface="Times New Roman"/>
              <a:ea typeface="Times New Roman"/>
              <a:cs typeface="Times New Roman"/>
              <a:sym typeface="Times New Roman"/>
            </a:endParaRPr>
          </a:p>
          <a:p>
            <a:pPr marL="339725" marR="0" lvl="0" indent="-339725" algn="just" rtl="0">
              <a:lnSpc>
                <a:spcPct val="150000"/>
              </a:lnSpc>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Safeguards the owner from unauthorized access by others.</a:t>
            </a:r>
            <a:endParaRPr/>
          </a:p>
          <a:p>
            <a:pPr marL="339725" marR="0" lvl="0" indent="-339725" algn="just" rtl="0">
              <a:lnSpc>
                <a:spcPct val="150000"/>
              </a:lnSpc>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Adds value to a company or to its products</a:t>
            </a:r>
            <a:endParaRPr/>
          </a:p>
          <a:p>
            <a:pPr marL="339725" marR="0" lvl="0" indent="-339725" algn="just" rtl="0">
              <a:lnSpc>
                <a:spcPct val="150000"/>
              </a:lnSpc>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Provides commercial advantage</a:t>
            </a:r>
            <a:endParaRPr/>
          </a:p>
          <a:p>
            <a:pPr marL="339725" marR="0" lvl="0" indent="-339725" algn="just" rtl="0">
              <a:lnSpc>
                <a:spcPct val="150000"/>
              </a:lnSpc>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Encourages fair-trading, promote creativity, and contributes to economic and social development.</a:t>
            </a:r>
            <a:endParaRPr/>
          </a:p>
          <a:p>
            <a:pPr marL="360363" marR="0" lvl="0" indent="-233363" algn="l" rtl="0">
              <a:lnSpc>
                <a:spcPct val="150000"/>
              </a:lnSpc>
              <a:spcBef>
                <a:spcPts val="0"/>
              </a:spcBef>
              <a:spcAft>
                <a:spcPts val="0"/>
              </a:spcAft>
              <a:buClr>
                <a:schemeClr val="dk1"/>
              </a:buClr>
              <a:buSzPts val="2000"/>
              <a:buFont typeface="Noto Sans Symbols"/>
              <a:buNone/>
            </a:pPr>
            <a:endParaRPr sz="2000">
              <a:solidFill>
                <a:schemeClr val="dk1"/>
              </a:solidFill>
              <a:latin typeface="Times New Roman"/>
              <a:ea typeface="Times New Roman"/>
              <a:cs typeface="Times New Roman"/>
              <a:sym typeface="Times New Roman"/>
            </a:endParaRPr>
          </a:p>
        </p:txBody>
      </p:sp>
      <p:sp>
        <p:nvSpPr>
          <p:cNvPr id="589" name="Google Shape;589;p76"/>
          <p:cNvSpPr txBox="1"/>
          <p:nvPr/>
        </p:nvSpPr>
        <p:spPr>
          <a:xfrm>
            <a:off x="0" y="0"/>
            <a:ext cx="9144000" cy="6858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Benefits of Design Registration</a:t>
            </a:r>
            <a:endParaRPr/>
          </a:p>
          <a:p>
            <a:pPr marL="0" marR="0" lvl="0" indent="0"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77"/>
          <p:cNvSpPr/>
          <p:nvPr/>
        </p:nvSpPr>
        <p:spPr>
          <a:xfrm>
            <a:off x="381000" y="685801"/>
            <a:ext cx="8458200" cy="6109365"/>
          </a:xfrm>
          <a:prstGeom prst="rect">
            <a:avLst/>
          </a:prstGeom>
          <a:noFill/>
          <a:ln>
            <a:noFill/>
          </a:ln>
        </p:spPr>
        <p:txBody>
          <a:bodyPr spcFirstLastPara="1" wrap="square" lIns="91425" tIns="45700" rIns="91425" bIns="45700" anchor="t" anchorCtr="0">
            <a:spAutoFit/>
          </a:bodyPr>
          <a:lstStyle/>
          <a:p>
            <a:pPr marL="360363" marR="0" lvl="0" indent="-360363" algn="l" rtl="0">
              <a:spcBef>
                <a:spcPts val="0"/>
              </a:spcBef>
              <a:spcAft>
                <a:spcPts val="0"/>
              </a:spcAft>
              <a:buNone/>
            </a:pPr>
            <a:r>
              <a:rPr lang="en-IN" sz="2300">
                <a:solidFill>
                  <a:schemeClr val="dk1"/>
                </a:solidFill>
                <a:latin typeface="Times New Roman"/>
                <a:ea typeface="Times New Roman"/>
                <a:cs typeface="Times New Roman"/>
                <a:sym typeface="Times New Roman"/>
              </a:rPr>
              <a:t>A design should :</a:t>
            </a:r>
            <a:endParaRPr/>
          </a:p>
          <a:p>
            <a:pPr marL="623888" marR="0" lvl="0" indent="-360363" algn="l" rtl="0">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Be new or original</a:t>
            </a:r>
            <a:endParaRPr/>
          </a:p>
          <a:p>
            <a:pPr marL="1077913" marR="0" lvl="0" indent="-454025" algn="l" rtl="0">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A design is considered to be new when it has not been disclosed to the public, anywhere in India or in any other Country, by publication or by use or in any other way, prior to the filing date or priority date.</a:t>
            </a:r>
            <a:endParaRPr/>
          </a:p>
          <a:p>
            <a:pPr marL="1077913" marR="0" lvl="0" indent="-454025" algn="l" rtl="0">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‘Original’ in relation to a design, means:</a:t>
            </a:r>
            <a:endParaRPr/>
          </a:p>
          <a:p>
            <a:pPr marL="1441450" marR="0" lvl="0" indent="-277813" algn="l" rtl="0">
              <a:spcBef>
                <a:spcPts val="0"/>
              </a:spcBef>
              <a:spcAft>
                <a:spcPts val="0"/>
              </a:spcAft>
              <a:buNone/>
            </a:pPr>
            <a:r>
              <a:rPr lang="en-IN" sz="2300">
                <a:solidFill>
                  <a:schemeClr val="dk1"/>
                </a:solidFill>
                <a:latin typeface="Times New Roman"/>
                <a:ea typeface="Times New Roman"/>
                <a:cs typeface="Times New Roman"/>
                <a:sym typeface="Times New Roman"/>
              </a:rPr>
              <a:t>a. originating from the author of design, and </a:t>
            </a:r>
            <a:endParaRPr/>
          </a:p>
          <a:p>
            <a:pPr marL="1441450" marR="0" lvl="0" indent="-277813" algn="l" rtl="0">
              <a:spcBef>
                <a:spcPts val="0"/>
              </a:spcBef>
              <a:spcAft>
                <a:spcPts val="0"/>
              </a:spcAft>
              <a:buNone/>
            </a:pPr>
            <a:r>
              <a:rPr lang="en-IN" sz="2300">
                <a:solidFill>
                  <a:schemeClr val="dk1"/>
                </a:solidFill>
                <a:latin typeface="Times New Roman"/>
                <a:ea typeface="Times New Roman"/>
                <a:cs typeface="Times New Roman"/>
                <a:sym typeface="Times New Roman"/>
              </a:rPr>
              <a:t>b. includes the cases, which though old in themselves yet are new in their application. Ex: making a flower vase in the form of figure of Taj Mahal</a:t>
            </a:r>
            <a:endParaRPr sz="2300">
              <a:solidFill>
                <a:schemeClr val="dk1"/>
              </a:solidFill>
              <a:latin typeface="Times New Roman"/>
              <a:ea typeface="Times New Roman"/>
              <a:cs typeface="Times New Roman"/>
              <a:sym typeface="Times New Roman"/>
            </a:endParaRPr>
          </a:p>
          <a:p>
            <a:pPr marL="623888" marR="0" lvl="0" indent="-360363" algn="l" rtl="0">
              <a:lnSpc>
                <a:spcPct val="150000"/>
              </a:lnSpc>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Be significantly distinguishable from known designs or combination of known designs.</a:t>
            </a:r>
            <a:endParaRPr/>
          </a:p>
          <a:p>
            <a:pPr marL="623888" marR="0" lvl="0" indent="-360363" algn="l" rtl="0">
              <a:lnSpc>
                <a:spcPct val="150000"/>
              </a:lnSpc>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Be applied to an article and should appeal to the eye.</a:t>
            </a:r>
            <a:endParaRPr/>
          </a:p>
          <a:p>
            <a:pPr marL="623888" marR="0" lvl="0" indent="-360363" algn="l" rtl="0">
              <a:lnSpc>
                <a:spcPct val="150000"/>
              </a:lnSpc>
              <a:spcBef>
                <a:spcPts val="0"/>
              </a:spcBef>
              <a:spcAft>
                <a:spcPts val="0"/>
              </a:spcAft>
              <a:buClr>
                <a:schemeClr val="dk1"/>
              </a:buClr>
              <a:buSzPts val="2300"/>
              <a:buFont typeface="Noto Sans Symbols"/>
              <a:buChar char="⮚"/>
            </a:pPr>
            <a:r>
              <a:rPr lang="en-IN" sz="2300">
                <a:solidFill>
                  <a:schemeClr val="dk1"/>
                </a:solidFill>
                <a:latin typeface="Times New Roman"/>
                <a:ea typeface="Times New Roman"/>
                <a:cs typeface="Times New Roman"/>
                <a:sym typeface="Times New Roman"/>
              </a:rPr>
              <a:t>Not be contrary to public order or morality</a:t>
            </a:r>
            <a:endParaRPr sz="2400">
              <a:solidFill>
                <a:schemeClr val="dk1"/>
              </a:solidFill>
              <a:latin typeface="Times New Roman"/>
              <a:ea typeface="Times New Roman"/>
              <a:cs typeface="Times New Roman"/>
              <a:sym typeface="Times New Roman"/>
            </a:endParaRPr>
          </a:p>
        </p:txBody>
      </p:sp>
      <p:sp>
        <p:nvSpPr>
          <p:cNvPr id="595" name="Google Shape;595;p77"/>
          <p:cNvSpPr txBox="1"/>
          <p:nvPr/>
        </p:nvSpPr>
        <p:spPr>
          <a:xfrm>
            <a:off x="0" y="0"/>
            <a:ext cx="9144000" cy="5334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lnSpcReduction="1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Essential Requirements for Design registration</a:t>
            </a: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78"/>
          <p:cNvSpPr txBox="1">
            <a:spLocks noGrp="1"/>
          </p:cNvSpPr>
          <p:nvPr>
            <p:ph type="subTitle" idx="1"/>
          </p:nvPr>
        </p:nvSpPr>
        <p:spPr>
          <a:xfrm>
            <a:off x="762000" y="990600"/>
            <a:ext cx="7924800" cy="5715000"/>
          </a:xfrm>
          <a:prstGeom prst="rect">
            <a:avLst/>
          </a:prstGeom>
          <a:noFill/>
          <a:ln>
            <a:noFill/>
          </a:ln>
        </p:spPr>
        <p:txBody>
          <a:bodyPr spcFirstLastPara="1" wrap="square" lIns="91425" tIns="45700" rIns="91425" bIns="45700" anchor="t" anchorCtr="0">
            <a:noAutofit/>
          </a:bodyPr>
          <a:lstStyle/>
          <a:p>
            <a:pPr marL="339725" lvl="0" indent="-339725" algn="just" rtl="0">
              <a:lnSpc>
                <a:spcPct val="170000"/>
              </a:lnSpc>
              <a:spcBef>
                <a:spcPts val="0"/>
              </a:spcBef>
              <a:spcAft>
                <a:spcPts val="0"/>
              </a:spcAft>
              <a:buClr>
                <a:schemeClr val="dk1"/>
              </a:buClr>
              <a:buSzPts val="2200"/>
              <a:buFont typeface="Noto Sans Symbols"/>
              <a:buChar char="⮚"/>
            </a:pPr>
            <a:r>
              <a:rPr lang="en-IN" sz="2200" b="0">
                <a:solidFill>
                  <a:schemeClr val="dk1"/>
                </a:solidFill>
                <a:latin typeface="Times New Roman"/>
                <a:ea typeface="Times New Roman"/>
                <a:cs typeface="Times New Roman"/>
                <a:sym typeface="Times New Roman"/>
              </a:rPr>
              <a:t>Ordinary application:</a:t>
            </a:r>
            <a:endParaRPr/>
          </a:p>
          <a:p>
            <a:pPr marL="339725" lvl="0" indent="-339725" algn="just" rtl="0">
              <a:lnSpc>
                <a:spcPct val="170000"/>
              </a:lnSpc>
              <a:spcBef>
                <a:spcPts val="440"/>
              </a:spcBef>
              <a:spcAft>
                <a:spcPts val="0"/>
              </a:spcAft>
              <a:buClr>
                <a:schemeClr val="dk1"/>
              </a:buClr>
              <a:buSzPts val="2200"/>
              <a:buNone/>
            </a:pPr>
            <a:r>
              <a:rPr lang="en-IN" sz="2200" b="0">
                <a:solidFill>
                  <a:schemeClr val="dk1"/>
                </a:solidFill>
                <a:latin typeface="Times New Roman"/>
                <a:ea typeface="Times New Roman"/>
                <a:cs typeface="Times New Roman"/>
                <a:sym typeface="Times New Roman"/>
              </a:rPr>
              <a:t>           An ordinary application does not claim priority.</a:t>
            </a:r>
            <a:endParaRPr/>
          </a:p>
          <a:p>
            <a:pPr marL="339725" lvl="0" indent="-339725" algn="just" rtl="0">
              <a:lnSpc>
                <a:spcPct val="170000"/>
              </a:lnSpc>
              <a:spcBef>
                <a:spcPts val="440"/>
              </a:spcBef>
              <a:spcAft>
                <a:spcPts val="0"/>
              </a:spcAft>
              <a:buClr>
                <a:schemeClr val="dk1"/>
              </a:buClr>
              <a:buSzPts val="2200"/>
              <a:buFont typeface="Noto Sans Symbols"/>
              <a:buChar char="⮚"/>
            </a:pPr>
            <a:r>
              <a:rPr lang="en-IN" sz="2200" b="0">
                <a:solidFill>
                  <a:schemeClr val="dk1"/>
                </a:solidFill>
                <a:latin typeface="Times New Roman"/>
                <a:ea typeface="Times New Roman"/>
                <a:cs typeface="Times New Roman"/>
                <a:sym typeface="Times New Roman"/>
              </a:rPr>
              <a:t>Reciprocity application:</a:t>
            </a:r>
            <a:endParaRPr/>
          </a:p>
          <a:p>
            <a:pPr marL="720725" lvl="0" indent="0" algn="just" rtl="0">
              <a:lnSpc>
                <a:spcPct val="170000"/>
              </a:lnSpc>
              <a:spcBef>
                <a:spcPts val="440"/>
              </a:spcBef>
              <a:spcAft>
                <a:spcPts val="0"/>
              </a:spcAft>
              <a:buClr>
                <a:schemeClr val="dk1"/>
              </a:buClr>
              <a:buSzPts val="2200"/>
              <a:buNone/>
            </a:pPr>
            <a:r>
              <a:rPr lang="en-IN" sz="2200" b="0">
                <a:solidFill>
                  <a:schemeClr val="dk1"/>
                </a:solidFill>
                <a:latin typeface="Times New Roman"/>
                <a:ea typeface="Times New Roman"/>
                <a:cs typeface="Times New Roman"/>
                <a:sym typeface="Times New Roman"/>
              </a:rPr>
              <a:t> A reciprocity application claims priority of an application filed previously in a convention country. Such an application shall be filed in India within six months from the date of filing in convention country. This period of </a:t>
            </a:r>
            <a:r>
              <a:rPr lang="en-IN" sz="2200" b="1">
                <a:solidFill>
                  <a:srgbClr val="FF0000"/>
                </a:solidFill>
                <a:latin typeface="Times New Roman"/>
                <a:ea typeface="Times New Roman"/>
                <a:cs typeface="Times New Roman"/>
                <a:sym typeface="Times New Roman"/>
              </a:rPr>
              <a:t>six months is not extendable.</a:t>
            </a:r>
            <a:endParaRPr/>
          </a:p>
          <a:p>
            <a:pPr marL="539750" lvl="0" indent="0" algn="just" rtl="0">
              <a:lnSpc>
                <a:spcPct val="170000"/>
              </a:lnSpc>
              <a:spcBef>
                <a:spcPts val="440"/>
              </a:spcBef>
              <a:spcAft>
                <a:spcPts val="0"/>
              </a:spcAft>
              <a:buClr>
                <a:srgbClr val="888888"/>
              </a:buClr>
              <a:buSzPts val="2200"/>
              <a:buNone/>
            </a:pPr>
            <a:endParaRPr sz="2200">
              <a:solidFill>
                <a:srgbClr val="FF0000"/>
              </a:solidFill>
              <a:latin typeface="Times New Roman"/>
              <a:ea typeface="Times New Roman"/>
              <a:cs typeface="Times New Roman"/>
              <a:sym typeface="Times New Roman"/>
            </a:endParaRPr>
          </a:p>
        </p:txBody>
      </p:sp>
      <p:sp>
        <p:nvSpPr>
          <p:cNvPr id="601" name="Google Shape;601;p78"/>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Type of Applications</a:t>
            </a: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79"/>
          <p:cNvSpPr/>
          <p:nvPr/>
        </p:nvSpPr>
        <p:spPr>
          <a:xfrm>
            <a:off x="0" y="533400"/>
            <a:ext cx="9144000" cy="5586145"/>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None/>
            </a:pPr>
            <a:r>
              <a:rPr lang="en-IN" sz="2100" b="1">
                <a:solidFill>
                  <a:srgbClr val="FF0000"/>
                </a:solidFill>
                <a:latin typeface="Times New Roman"/>
                <a:ea typeface="Times New Roman"/>
                <a:cs typeface="Times New Roman"/>
                <a:sym typeface="Times New Roman"/>
              </a:rPr>
              <a:t>Industrial design rights are territorial</a:t>
            </a:r>
            <a:r>
              <a:rPr lang="en-IN" sz="2100">
                <a:solidFill>
                  <a:schemeClr val="dk1"/>
                </a:solidFill>
                <a:latin typeface="Times New Roman"/>
                <a:ea typeface="Times New Roman"/>
                <a:cs typeface="Times New Roman"/>
                <a:sym typeface="Times New Roman"/>
              </a:rPr>
              <a:t>, so rights are limited to the country (or region) where protection is granted.</a:t>
            </a:r>
            <a:endParaRPr/>
          </a:p>
          <a:p>
            <a:pPr marL="0" marR="0" lvl="0" indent="0" algn="ctr" rtl="0">
              <a:spcBef>
                <a:spcPts val="0"/>
              </a:spcBef>
              <a:spcAft>
                <a:spcPts val="0"/>
              </a:spcAft>
              <a:buNone/>
            </a:pPr>
            <a:endParaRPr sz="2100">
              <a:solidFill>
                <a:schemeClr val="dk1"/>
              </a:solidFill>
              <a:latin typeface="Times New Roman"/>
              <a:ea typeface="Times New Roman"/>
              <a:cs typeface="Times New Roman"/>
              <a:sym typeface="Times New Roman"/>
            </a:endParaRPr>
          </a:p>
          <a:p>
            <a:pPr marL="360363" marR="0" lvl="0" indent="-360363" algn="l" rtl="0">
              <a:lnSpc>
                <a:spcPct val="90000"/>
              </a:lnSpc>
              <a:spcBef>
                <a:spcPts val="600"/>
              </a:spcBef>
              <a:spcAft>
                <a:spcPts val="0"/>
              </a:spcAft>
              <a:buClr>
                <a:schemeClr val="accent1"/>
              </a:buClr>
              <a:buSzPts val="1400"/>
              <a:buFont typeface="Noto Sans Symbols"/>
              <a:buChar char="⮚"/>
            </a:pPr>
            <a:r>
              <a:rPr lang="en-IN" sz="2000" b="1">
                <a:solidFill>
                  <a:schemeClr val="dk2"/>
                </a:solidFill>
                <a:latin typeface="Times New Roman"/>
                <a:ea typeface="Times New Roman"/>
                <a:cs typeface="Times New Roman"/>
                <a:sym typeface="Times New Roman"/>
              </a:rPr>
              <a:t>The national route</a:t>
            </a:r>
            <a:endParaRPr/>
          </a:p>
          <a:p>
            <a:pPr marL="360363" marR="0" lvl="0" indent="-360363" algn="l" rtl="0">
              <a:lnSpc>
                <a:spcPct val="90000"/>
              </a:lnSpc>
              <a:spcBef>
                <a:spcPts val="600"/>
              </a:spcBef>
              <a:spcAft>
                <a:spcPts val="0"/>
              </a:spcAft>
              <a:buNone/>
            </a:pPr>
            <a:r>
              <a:rPr lang="en-IN" sz="2000" b="1">
                <a:solidFill>
                  <a:schemeClr val="dk2"/>
                </a:solidFill>
                <a:latin typeface="Times New Roman"/>
                <a:ea typeface="Times New Roman"/>
                <a:cs typeface="Times New Roman"/>
                <a:sym typeface="Times New Roman"/>
              </a:rPr>
              <a:t>          </a:t>
            </a:r>
            <a:r>
              <a:rPr lang="en-IN" sz="2000">
                <a:solidFill>
                  <a:schemeClr val="dk1"/>
                </a:solidFill>
                <a:latin typeface="Times New Roman"/>
                <a:ea typeface="Times New Roman"/>
                <a:cs typeface="Times New Roman"/>
                <a:sym typeface="Times New Roman"/>
              </a:rPr>
              <a:t>Apply in Each country where you seek protection</a:t>
            </a:r>
            <a:endParaRPr/>
          </a:p>
          <a:p>
            <a:pPr marL="360363" marR="0" lvl="0" indent="-360363" algn="l" rtl="0">
              <a:lnSpc>
                <a:spcPct val="90000"/>
              </a:lnSpc>
              <a:spcBef>
                <a:spcPts val="600"/>
              </a:spcBef>
              <a:spcAft>
                <a:spcPts val="0"/>
              </a:spcAft>
              <a:buClr>
                <a:schemeClr val="accent1"/>
              </a:buClr>
              <a:buSzPts val="1400"/>
              <a:buFont typeface="Noto Sans Symbols"/>
              <a:buChar char="⮚"/>
            </a:pPr>
            <a:r>
              <a:rPr lang="en-IN" sz="2000" b="1">
                <a:solidFill>
                  <a:schemeClr val="dk2"/>
                </a:solidFill>
                <a:latin typeface="Times New Roman"/>
                <a:ea typeface="Times New Roman"/>
                <a:cs typeface="Times New Roman"/>
                <a:sym typeface="Times New Roman"/>
              </a:rPr>
              <a:t>The regional route (for some countries only which are members of a regional agreement)</a:t>
            </a:r>
            <a:endParaRPr/>
          </a:p>
          <a:p>
            <a:pPr marL="539750" marR="0" lvl="1" indent="-179387" algn="l" rtl="0">
              <a:lnSpc>
                <a:spcPct val="90000"/>
              </a:lnSpc>
              <a:spcBef>
                <a:spcPts val="400"/>
              </a:spcBef>
              <a:spcAft>
                <a:spcPts val="0"/>
              </a:spcAft>
              <a:buClr>
                <a:schemeClr val="accent1"/>
              </a:buClr>
              <a:buSzPts val="1600"/>
              <a:buFont typeface="Noto Sans Symbols"/>
              <a:buChar char="▪"/>
            </a:pPr>
            <a:r>
              <a:rPr lang="en-IN" sz="2000" b="0" i="0" u="none" strike="noStrike" cap="none">
                <a:solidFill>
                  <a:schemeClr val="dk1"/>
                </a:solidFill>
                <a:latin typeface="Times New Roman"/>
                <a:ea typeface="Times New Roman"/>
                <a:cs typeface="Times New Roman"/>
                <a:sym typeface="Times New Roman"/>
              </a:rPr>
              <a:t>African Intellectual Property Organization (OAPI) - Bangui Agreement; </a:t>
            </a:r>
            <a:endParaRPr/>
          </a:p>
          <a:p>
            <a:pPr marL="539750" marR="0" lvl="1" indent="-179387" algn="l" rtl="0">
              <a:lnSpc>
                <a:spcPct val="90000"/>
              </a:lnSpc>
              <a:spcBef>
                <a:spcPts val="400"/>
              </a:spcBef>
              <a:spcAft>
                <a:spcPts val="0"/>
              </a:spcAft>
              <a:buClr>
                <a:schemeClr val="accent1"/>
              </a:buClr>
              <a:buSzPts val="1600"/>
              <a:buFont typeface="Noto Sans Symbols"/>
              <a:buChar char="▪"/>
            </a:pPr>
            <a:r>
              <a:rPr lang="en-IN" sz="2000" b="0" i="0" u="none" strike="noStrike" cap="none">
                <a:solidFill>
                  <a:schemeClr val="dk1"/>
                </a:solidFill>
                <a:latin typeface="Times New Roman"/>
                <a:ea typeface="Times New Roman"/>
                <a:cs typeface="Times New Roman"/>
                <a:sym typeface="Times New Roman"/>
              </a:rPr>
              <a:t>African Regional Intellectual Property Organization (ARIPO)-Lusaka Agreement;</a:t>
            </a:r>
            <a:endParaRPr/>
          </a:p>
          <a:p>
            <a:pPr marL="539750" marR="0" lvl="1" indent="-179387" algn="l" rtl="0">
              <a:lnSpc>
                <a:spcPct val="90000"/>
              </a:lnSpc>
              <a:spcBef>
                <a:spcPts val="400"/>
              </a:spcBef>
              <a:spcAft>
                <a:spcPts val="0"/>
              </a:spcAft>
              <a:buClr>
                <a:schemeClr val="accent1"/>
              </a:buClr>
              <a:buSzPts val="1600"/>
              <a:buFont typeface="Noto Sans Symbols"/>
              <a:buChar char="▪"/>
            </a:pPr>
            <a:r>
              <a:rPr lang="en-IN" sz="2000" b="0" i="0" u="none" strike="noStrike" cap="none">
                <a:solidFill>
                  <a:schemeClr val="dk1"/>
                </a:solidFill>
                <a:latin typeface="Times New Roman"/>
                <a:ea typeface="Times New Roman"/>
                <a:cs typeface="Times New Roman"/>
                <a:sym typeface="Times New Roman"/>
              </a:rPr>
              <a:t>Benelux Office for Intellectual Property (BOIP) - Three “Benelux” countries; and</a:t>
            </a:r>
            <a:endParaRPr/>
          </a:p>
          <a:p>
            <a:pPr marL="539750" marR="0" lvl="1" indent="-179387" algn="l" rtl="0">
              <a:lnSpc>
                <a:spcPct val="90000"/>
              </a:lnSpc>
              <a:spcBef>
                <a:spcPts val="400"/>
              </a:spcBef>
              <a:spcAft>
                <a:spcPts val="0"/>
              </a:spcAft>
              <a:buClr>
                <a:schemeClr val="accent1"/>
              </a:buClr>
              <a:buSzPts val="1600"/>
              <a:buFont typeface="Noto Sans Symbols"/>
              <a:buChar char="▪"/>
            </a:pPr>
            <a:r>
              <a:rPr lang="en-IN" sz="2000" b="0" i="0" u="none" strike="noStrike" cap="none">
                <a:solidFill>
                  <a:schemeClr val="dk1"/>
                </a:solidFill>
                <a:latin typeface="Times New Roman"/>
                <a:ea typeface="Times New Roman"/>
                <a:cs typeface="Times New Roman"/>
                <a:sym typeface="Times New Roman"/>
              </a:rPr>
              <a:t>Office for Harmonization in the Internal Market (trademarks and designs) (OHIM)- European Union </a:t>
            </a:r>
            <a:endParaRPr/>
          </a:p>
          <a:p>
            <a:pPr marL="457200" marR="0" lvl="1" indent="-457200" algn="l" rtl="0">
              <a:lnSpc>
                <a:spcPct val="90000"/>
              </a:lnSpc>
              <a:spcBef>
                <a:spcPts val="400"/>
              </a:spcBef>
              <a:spcAft>
                <a:spcPts val="0"/>
              </a:spcAft>
              <a:buClr>
                <a:schemeClr val="accent1"/>
              </a:buClr>
              <a:buSzPts val="1600"/>
              <a:buFont typeface="Noto Sans Symbols"/>
              <a:buChar char="⮚"/>
            </a:pPr>
            <a:r>
              <a:rPr lang="en-IN" sz="2000" b="1" i="0" u="none" strike="noStrike" cap="none">
                <a:solidFill>
                  <a:schemeClr val="dk2"/>
                </a:solidFill>
                <a:latin typeface="Times New Roman"/>
                <a:ea typeface="Times New Roman"/>
                <a:cs typeface="Times New Roman"/>
                <a:sym typeface="Times New Roman"/>
              </a:rPr>
              <a:t>The international route</a:t>
            </a:r>
            <a:endParaRPr/>
          </a:p>
          <a:p>
            <a:pPr marL="457200" marR="0" lvl="1" indent="-457200" algn="l" rtl="0">
              <a:lnSpc>
                <a:spcPct val="90000"/>
              </a:lnSpc>
              <a:spcBef>
                <a:spcPts val="400"/>
              </a:spcBef>
              <a:spcAft>
                <a:spcPts val="0"/>
              </a:spcAft>
              <a:buNone/>
            </a:pPr>
            <a:r>
              <a:rPr lang="en-IN" sz="2000" b="1" i="0" u="none" strike="noStrike" cap="none">
                <a:solidFill>
                  <a:schemeClr val="dk2"/>
                </a:solidFill>
                <a:latin typeface="Times New Roman"/>
                <a:ea typeface="Times New Roman"/>
                <a:cs typeface="Times New Roman"/>
                <a:sym typeface="Times New Roman"/>
              </a:rPr>
              <a:t>            </a:t>
            </a:r>
            <a:r>
              <a:rPr lang="en-IN" sz="2000" b="0" i="0" u="none" strike="noStrike" cap="none">
                <a:solidFill>
                  <a:schemeClr val="dk1"/>
                </a:solidFill>
                <a:latin typeface="Times New Roman"/>
                <a:ea typeface="Times New Roman"/>
                <a:cs typeface="Times New Roman"/>
                <a:sym typeface="Times New Roman"/>
              </a:rPr>
              <a:t>Hague agreement - Administered by WIPO ~ Registration in 83 territories - one single international application, all the designs must belong to the same class of the Locarno Classification.</a:t>
            </a:r>
            <a:endParaRPr sz="2000" b="0" i="0" u="none" strike="noStrike" cap="none">
              <a:solidFill>
                <a:schemeClr val="dk1"/>
              </a:solidFill>
              <a:latin typeface="Times New Roman"/>
              <a:ea typeface="Times New Roman"/>
              <a:cs typeface="Times New Roman"/>
              <a:sym typeface="Times New Roman"/>
            </a:endParaRPr>
          </a:p>
        </p:txBody>
      </p:sp>
      <p:sp>
        <p:nvSpPr>
          <p:cNvPr id="607" name="Google Shape;607;p79"/>
          <p:cNvSpPr txBox="1"/>
          <p:nvPr/>
        </p:nvSpPr>
        <p:spPr>
          <a:xfrm>
            <a:off x="0" y="0"/>
            <a:ext cx="9144000" cy="4572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fontScale="92500" lnSpcReduction="20000"/>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Protection at Home and Abroad</a:t>
            </a:r>
            <a:endParaRPr/>
          </a:p>
          <a:p>
            <a:pPr marL="339725" marR="0" lvl="0" indent="-257492" algn="just" rtl="0">
              <a:lnSpc>
                <a:spcPct val="100000"/>
              </a:lnSpc>
              <a:spcBef>
                <a:spcPts val="600"/>
              </a:spcBef>
              <a:spcAft>
                <a:spcPts val="0"/>
              </a:spcAft>
              <a:buClr>
                <a:schemeClr val="accent1"/>
              </a:buClr>
              <a:buSzPct val="700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circl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80"/>
          <p:cNvSpPr txBox="1">
            <a:spLocks noGrp="1"/>
          </p:cNvSpPr>
          <p:nvPr>
            <p:ph type="subTitle" idx="1"/>
          </p:nvPr>
        </p:nvSpPr>
        <p:spPr>
          <a:xfrm>
            <a:off x="457200" y="838200"/>
            <a:ext cx="8458200" cy="6019800"/>
          </a:xfrm>
          <a:prstGeom prst="rect">
            <a:avLst/>
          </a:prstGeom>
          <a:noFill/>
          <a:ln>
            <a:noFill/>
          </a:ln>
        </p:spPr>
        <p:txBody>
          <a:bodyPr spcFirstLastPara="1" wrap="square" lIns="91425" tIns="45700" rIns="91425" bIns="45700" anchor="t" anchorCtr="0">
            <a:noAutofit/>
          </a:bodyPr>
          <a:lstStyle/>
          <a:p>
            <a:pPr marL="339725" lvl="0" indent="-339725" algn="just" rtl="0">
              <a:lnSpc>
                <a:spcPct val="15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In the Designs, classification of goods are given in the Third Schedule based on Locarno Agreement.</a:t>
            </a:r>
            <a:endParaRPr/>
          </a:p>
          <a:p>
            <a:pPr marL="339725" lvl="0" indent="-339725" algn="just" rtl="0">
              <a:lnSpc>
                <a:spcPct val="150000"/>
              </a:lnSpc>
              <a:spcBef>
                <a:spcPts val="480"/>
              </a:spcBef>
              <a:spcAft>
                <a:spcPts val="0"/>
              </a:spcAft>
              <a:buClr>
                <a:schemeClr val="dk1"/>
              </a:buClr>
              <a:buSzPts val="2400"/>
              <a:buNone/>
            </a:pPr>
            <a:r>
              <a:rPr lang="en-IN" sz="2400">
                <a:solidFill>
                  <a:schemeClr val="dk1"/>
                </a:solidFill>
                <a:latin typeface="Times New Roman"/>
                <a:ea typeface="Times New Roman"/>
                <a:cs typeface="Times New Roman"/>
                <a:sym typeface="Times New Roman"/>
              </a:rPr>
              <a:t>     Example : If the article relates to ‘Watches’, the name should be provided accordingly and should be classified under Class 10 and sub-class -02.</a:t>
            </a:r>
            <a:endParaRPr/>
          </a:p>
          <a:p>
            <a:pPr marL="360363" lvl="0" indent="-360363" algn="just" rtl="0">
              <a:lnSpc>
                <a:spcPct val="150000"/>
              </a:lnSpc>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32 classes</a:t>
            </a:r>
            <a:endParaRPr/>
          </a:p>
          <a:p>
            <a:pPr marL="360363" lvl="0" indent="-360363" algn="just" rtl="0">
              <a:lnSpc>
                <a:spcPct val="150000"/>
              </a:lnSpc>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Protection is confined to that class in which the design is registered</a:t>
            </a:r>
            <a:endParaRPr/>
          </a:p>
        </p:txBody>
      </p:sp>
      <p:sp>
        <p:nvSpPr>
          <p:cNvPr id="613" name="Google Shape;613;p80"/>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Classification of Goods</a:t>
            </a: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81"/>
          <p:cNvSpPr txBox="1">
            <a:spLocks noGrp="1"/>
          </p:cNvSpPr>
          <p:nvPr>
            <p:ph type="subTitle" idx="1"/>
          </p:nvPr>
        </p:nvSpPr>
        <p:spPr>
          <a:xfrm>
            <a:off x="304800" y="990600"/>
            <a:ext cx="8610600" cy="5105400"/>
          </a:xfrm>
          <a:prstGeom prst="rect">
            <a:avLst/>
          </a:prstGeom>
          <a:noFill/>
          <a:ln>
            <a:noFill/>
          </a:ln>
        </p:spPr>
        <p:txBody>
          <a:bodyPr spcFirstLastPara="1" wrap="square" lIns="91425" tIns="45700" rIns="91425" bIns="45700" anchor="t" anchorCtr="0">
            <a:noAutofit/>
          </a:bodyPr>
          <a:lstStyle/>
          <a:p>
            <a:pPr marL="339725" lvl="0" indent="-339725" algn="just" rtl="0">
              <a:spcBef>
                <a:spcPts val="0"/>
              </a:spcBef>
              <a:spcAft>
                <a:spcPts val="0"/>
              </a:spcAft>
              <a:buClr>
                <a:schemeClr val="dk1"/>
              </a:buClr>
              <a:buSzPts val="2400"/>
              <a:buFont typeface="Noto Sans Symbols"/>
              <a:buChar char="⮚"/>
            </a:pPr>
            <a:r>
              <a:rPr lang="en-IN" sz="2400" b="0">
                <a:solidFill>
                  <a:schemeClr val="dk1"/>
                </a:solidFill>
                <a:latin typeface="Times New Roman"/>
                <a:ea typeface="Times New Roman"/>
                <a:cs typeface="Times New Roman"/>
                <a:sym typeface="Times New Roman"/>
              </a:rPr>
              <a:t>It may be noted that for registering a design in more than one class, a </a:t>
            </a:r>
            <a:r>
              <a:rPr lang="en-IN" sz="2400">
                <a:solidFill>
                  <a:srgbClr val="FF0000"/>
                </a:solidFill>
                <a:latin typeface="Times New Roman"/>
                <a:ea typeface="Times New Roman"/>
                <a:cs typeface="Times New Roman"/>
                <a:sym typeface="Times New Roman"/>
              </a:rPr>
              <a:t>separate application is required to be filed for each class</a:t>
            </a:r>
            <a:r>
              <a:rPr lang="en-IN" sz="2400" b="0">
                <a:solidFill>
                  <a:schemeClr val="dk1"/>
                </a:solidFill>
                <a:latin typeface="Times New Roman"/>
                <a:ea typeface="Times New Roman"/>
                <a:cs typeface="Times New Roman"/>
                <a:sym typeface="Times New Roman"/>
              </a:rPr>
              <a:t>.</a:t>
            </a:r>
            <a:endParaRPr/>
          </a:p>
          <a:p>
            <a:pPr marL="339725" lvl="0" indent="-339725" algn="just" rtl="0">
              <a:spcBef>
                <a:spcPts val="480"/>
              </a:spcBef>
              <a:spcAft>
                <a:spcPts val="0"/>
              </a:spcAft>
              <a:buClr>
                <a:schemeClr val="dk1"/>
              </a:buClr>
              <a:buSzPts val="2400"/>
              <a:buFont typeface="Noto Sans Symbols"/>
              <a:buChar char="⮚"/>
            </a:pPr>
            <a:r>
              <a:rPr lang="en-IN" sz="2400" b="0">
                <a:solidFill>
                  <a:schemeClr val="dk1"/>
                </a:solidFill>
                <a:latin typeface="Times New Roman"/>
                <a:ea typeface="Times New Roman"/>
                <a:cs typeface="Times New Roman"/>
                <a:sym typeface="Times New Roman"/>
              </a:rPr>
              <a:t>In case, the applicant has already registered a design in any other class of articles, the fact of such registration along with the registration number shall be mentioned in Form-1.</a:t>
            </a:r>
            <a:endParaRPr/>
          </a:p>
          <a:p>
            <a:pPr marL="360363" lvl="0" indent="-360363" algn="just" rtl="0">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More than one design may be registered as a set of articles if meets the following requirements :</a:t>
            </a:r>
            <a:endParaRPr/>
          </a:p>
          <a:p>
            <a:pPr marL="360363" lvl="0" indent="82549" algn="just" rtl="0">
              <a:spcBef>
                <a:spcPts val="480"/>
              </a:spcBef>
              <a:spcAft>
                <a:spcPts val="0"/>
              </a:spcAft>
              <a:buClr>
                <a:schemeClr val="dk1"/>
              </a:buClr>
              <a:buSzPts val="2400"/>
              <a:buNone/>
            </a:pPr>
            <a:r>
              <a:rPr lang="en-IN" sz="2400">
                <a:solidFill>
                  <a:schemeClr val="dk1"/>
                </a:solidFill>
                <a:latin typeface="Times New Roman"/>
                <a:ea typeface="Times New Roman"/>
                <a:cs typeface="Times New Roman"/>
                <a:sym typeface="Times New Roman"/>
              </a:rPr>
              <a:t>a. Ordinarily on sale or intended to be used together,</a:t>
            </a:r>
            <a:endParaRPr/>
          </a:p>
          <a:p>
            <a:pPr marL="360363" lvl="0" indent="82549" algn="just" rtl="0">
              <a:spcBef>
                <a:spcPts val="480"/>
              </a:spcBef>
              <a:spcAft>
                <a:spcPts val="0"/>
              </a:spcAft>
              <a:buClr>
                <a:schemeClr val="dk1"/>
              </a:buClr>
              <a:buSzPts val="2400"/>
              <a:buNone/>
            </a:pPr>
            <a:r>
              <a:rPr lang="en-IN" sz="2400">
                <a:solidFill>
                  <a:schemeClr val="dk1"/>
                </a:solidFill>
                <a:latin typeface="Times New Roman"/>
                <a:ea typeface="Times New Roman"/>
                <a:cs typeface="Times New Roman"/>
                <a:sym typeface="Times New Roman"/>
              </a:rPr>
              <a:t>b. All having common design even though articles are different (same class),</a:t>
            </a:r>
            <a:endParaRPr/>
          </a:p>
          <a:p>
            <a:pPr marL="360363" lvl="0" indent="82549" algn="just" rtl="0">
              <a:spcBef>
                <a:spcPts val="480"/>
              </a:spcBef>
              <a:spcAft>
                <a:spcPts val="0"/>
              </a:spcAft>
              <a:buClr>
                <a:schemeClr val="dk1"/>
              </a:buClr>
              <a:buSzPts val="2400"/>
              <a:buNone/>
            </a:pPr>
            <a:r>
              <a:rPr lang="en-IN" sz="2400">
                <a:solidFill>
                  <a:schemeClr val="dk1"/>
                </a:solidFill>
                <a:latin typeface="Times New Roman"/>
                <a:ea typeface="Times New Roman"/>
                <a:cs typeface="Times New Roman"/>
                <a:sym typeface="Times New Roman"/>
              </a:rPr>
              <a:t>c. Same general character.</a:t>
            </a:r>
            <a:endParaRPr/>
          </a:p>
          <a:p>
            <a:pPr marL="360363" lvl="0" indent="82549" algn="just" rtl="0">
              <a:spcBef>
                <a:spcPts val="480"/>
              </a:spcBef>
              <a:spcAft>
                <a:spcPts val="0"/>
              </a:spcAft>
              <a:buClr>
                <a:schemeClr val="dk1"/>
              </a:buClr>
              <a:buSzPts val="2400"/>
              <a:buNone/>
            </a:pPr>
            <a:r>
              <a:rPr lang="en-IN" sz="2400">
                <a:solidFill>
                  <a:schemeClr val="dk1"/>
                </a:solidFill>
                <a:latin typeface="Times New Roman"/>
                <a:ea typeface="Times New Roman"/>
                <a:cs typeface="Times New Roman"/>
                <a:sym typeface="Times New Roman"/>
              </a:rPr>
              <a:t>Ex: tea set, dinner set, furniture set etc.</a:t>
            </a:r>
            <a:endParaRPr/>
          </a:p>
          <a:p>
            <a:pPr marL="339725" lvl="0" indent="-339725" algn="just" rtl="0">
              <a:spcBef>
                <a:spcPts val="480"/>
              </a:spcBef>
              <a:spcAft>
                <a:spcPts val="0"/>
              </a:spcAft>
              <a:buClr>
                <a:srgbClr val="888888"/>
              </a:buClr>
              <a:buSzPts val="2400"/>
              <a:buNone/>
            </a:pPr>
            <a:endParaRPr sz="2400" b="0">
              <a:solidFill>
                <a:schemeClr val="dk1"/>
              </a:solidFill>
              <a:latin typeface="Times New Roman"/>
              <a:ea typeface="Times New Roman"/>
              <a:cs typeface="Times New Roman"/>
              <a:sym typeface="Times New Roman"/>
            </a:endParaRPr>
          </a:p>
        </p:txBody>
      </p:sp>
      <p:sp>
        <p:nvSpPr>
          <p:cNvPr id="619" name="Google Shape;619;p81"/>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Classification of Goods</a:t>
            </a: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82"/>
          <p:cNvSpPr txBox="1">
            <a:spLocks noGrp="1"/>
          </p:cNvSpPr>
          <p:nvPr>
            <p:ph type="subTitle" idx="1"/>
          </p:nvPr>
        </p:nvSpPr>
        <p:spPr>
          <a:xfrm>
            <a:off x="990600" y="990600"/>
            <a:ext cx="7620000" cy="1371600"/>
          </a:xfrm>
          <a:prstGeom prst="rect">
            <a:avLst/>
          </a:prstGeom>
          <a:noFill/>
          <a:ln>
            <a:noFill/>
          </a:ln>
        </p:spPr>
        <p:txBody>
          <a:bodyPr spcFirstLastPara="1" wrap="square" lIns="91425" tIns="45700" rIns="91425" bIns="45700" anchor="t" anchorCtr="0">
            <a:normAutofit/>
          </a:bodyPr>
          <a:lstStyle/>
          <a:p>
            <a:pPr marL="360363" lvl="0" indent="-360363" algn="just" rtl="0">
              <a:lnSpc>
                <a:spcPct val="150000"/>
              </a:lnSpc>
              <a:spcBef>
                <a:spcPts val="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Ten years from the date of registration</a:t>
            </a:r>
            <a:endParaRPr/>
          </a:p>
          <a:p>
            <a:pPr marL="360363" lvl="0" indent="-360363" algn="just" rtl="0">
              <a:lnSpc>
                <a:spcPct val="150000"/>
              </a:lnSpc>
              <a:spcBef>
                <a:spcPts val="480"/>
              </a:spcBef>
              <a:spcAft>
                <a:spcPts val="0"/>
              </a:spcAft>
              <a:buClr>
                <a:schemeClr val="dk1"/>
              </a:buClr>
              <a:buSzPts val="2400"/>
              <a:buFont typeface="Noto Sans Symbols"/>
              <a:buChar char="⮚"/>
            </a:pPr>
            <a:r>
              <a:rPr lang="en-IN" sz="2400">
                <a:solidFill>
                  <a:schemeClr val="dk1"/>
                </a:solidFill>
                <a:latin typeface="Times New Roman"/>
                <a:ea typeface="Times New Roman"/>
                <a:cs typeface="Times New Roman"/>
                <a:sym typeface="Times New Roman"/>
              </a:rPr>
              <a:t>Extendable for another Five years</a:t>
            </a:r>
            <a:endParaRPr/>
          </a:p>
          <a:p>
            <a:pPr marL="0" lvl="0" indent="0" algn="just" rtl="0">
              <a:spcBef>
                <a:spcPts val="400"/>
              </a:spcBef>
              <a:spcAft>
                <a:spcPts val="0"/>
              </a:spcAft>
              <a:buClr>
                <a:srgbClr val="888888"/>
              </a:buClr>
              <a:buSzPts val="2000"/>
              <a:buNone/>
            </a:pPr>
            <a:endParaRPr sz="2000">
              <a:solidFill>
                <a:schemeClr val="dk1"/>
              </a:solidFill>
              <a:latin typeface="Times New Roman"/>
              <a:ea typeface="Times New Roman"/>
              <a:cs typeface="Times New Roman"/>
              <a:sym typeface="Times New Roman"/>
            </a:endParaRPr>
          </a:p>
          <a:p>
            <a:pPr marL="0" lvl="0" indent="0" algn="just" rtl="0">
              <a:spcBef>
                <a:spcPts val="400"/>
              </a:spcBef>
              <a:spcAft>
                <a:spcPts val="0"/>
              </a:spcAft>
              <a:buClr>
                <a:srgbClr val="888888"/>
              </a:buClr>
              <a:buSzPts val="2000"/>
              <a:buNone/>
            </a:pPr>
            <a:endParaRPr sz="2000" b="0">
              <a:solidFill>
                <a:schemeClr val="dk1"/>
              </a:solidFill>
              <a:latin typeface="Times New Roman"/>
              <a:ea typeface="Times New Roman"/>
              <a:cs typeface="Times New Roman"/>
              <a:sym typeface="Times New Roman"/>
            </a:endParaRPr>
          </a:p>
        </p:txBody>
      </p:sp>
      <p:sp>
        <p:nvSpPr>
          <p:cNvPr id="625" name="Google Shape;625;p82"/>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Term of Registered Design</a:t>
            </a:r>
            <a:endParaRPr sz="2000" b="0" i="0" u="none" strike="noStrike" cap="none">
              <a:solidFill>
                <a:schemeClr val="dk1"/>
              </a:solidFill>
              <a:latin typeface="Times New Roman"/>
              <a:ea typeface="Times New Roman"/>
              <a:cs typeface="Times New Roman"/>
              <a:sym typeface="Times New Roman"/>
            </a:endParaRPr>
          </a:p>
        </p:txBody>
      </p:sp>
      <p:sp>
        <p:nvSpPr>
          <p:cNvPr id="626" name="Google Shape;626;p82"/>
          <p:cNvSpPr txBox="1"/>
          <p:nvPr/>
        </p:nvSpPr>
        <p:spPr>
          <a:xfrm>
            <a:off x="0" y="342900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Cease of Design</a:t>
            </a:r>
            <a:endParaRPr sz="2000" b="0" i="0" u="none" strike="noStrike" cap="none">
              <a:solidFill>
                <a:schemeClr val="dk1"/>
              </a:solidFill>
              <a:latin typeface="Times New Roman"/>
              <a:ea typeface="Times New Roman"/>
              <a:cs typeface="Times New Roman"/>
              <a:sym typeface="Times New Roman"/>
            </a:endParaRPr>
          </a:p>
        </p:txBody>
      </p:sp>
      <p:sp>
        <p:nvSpPr>
          <p:cNvPr id="627" name="Google Shape;627;p82"/>
          <p:cNvSpPr/>
          <p:nvPr/>
        </p:nvSpPr>
        <p:spPr>
          <a:xfrm>
            <a:off x="381000" y="4426803"/>
            <a:ext cx="8458200" cy="83099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IN" sz="2400">
                <a:solidFill>
                  <a:schemeClr val="dk1"/>
                </a:solidFill>
                <a:latin typeface="Times New Roman"/>
                <a:ea typeface="Times New Roman"/>
                <a:cs typeface="Times New Roman"/>
                <a:sym typeface="Times New Roman"/>
              </a:rPr>
              <a:t>Non-payment of extension fee before due date results in to ceasing of design</a:t>
            </a:r>
            <a:endParaRPr/>
          </a:p>
        </p:txBody>
      </p:sp>
    </p:spTree>
  </p:cSld>
  <p:clrMapOvr>
    <a:masterClrMapping/>
  </p:clrMapOvr>
  <p:transition>
    <p:split dir="in"/>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83"/>
          <p:cNvSpPr txBox="1">
            <a:spLocks noGrp="1"/>
          </p:cNvSpPr>
          <p:nvPr>
            <p:ph type="subTitle" idx="1"/>
          </p:nvPr>
        </p:nvSpPr>
        <p:spPr>
          <a:xfrm>
            <a:off x="1219200" y="1600200"/>
            <a:ext cx="7315200" cy="4191000"/>
          </a:xfrm>
          <a:prstGeom prst="rect">
            <a:avLst/>
          </a:prstGeom>
          <a:noFill/>
          <a:ln>
            <a:noFill/>
          </a:ln>
        </p:spPr>
        <p:txBody>
          <a:bodyPr spcFirstLastPara="1" wrap="square" lIns="91425" tIns="45700" rIns="91425" bIns="45700" anchor="t" anchorCtr="0">
            <a:normAutofit/>
          </a:bodyPr>
          <a:lstStyle/>
          <a:p>
            <a:pPr marL="0" lvl="0" indent="0" algn="just" rtl="0">
              <a:lnSpc>
                <a:spcPct val="150000"/>
              </a:lnSpc>
              <a:spcBef>
                <a:spcPts val="0"/>
              </a:spcBef>
              <a:spcAft>
                <a:spcPts val="0"/>
              </a:spcAft>
              <a:buClr>
                <a:schemeClr val="dk1"/>
              </a:buClr>
              <a:buSzPts val="2400"/>
              <a:buNone/>
            </a:pPr>
            <a:r>
              <a:rPr lang="en-IN" sz="2400" b="0">
                <a:solidFill>
                  <a:schemeClr val="dk1"/>
                </a:solidFill>
                <a:latin typeface="Times New Roman"/>
                <a:ea typeface="Times New Roman"/>
                <a:cs typeface="Times New Roman"/>
                <a:sym typeface="Times New Roman"/>
              </a:rPr>
              <a:t>A proprietor shall have no right to institute a suit or</a:t>
            </a:r>
            <a:endParaRPr/>
          </a:p>
          <a:p>
            <a:pPr marL="0" lvl="0" indent="0" algn="just" rtl="0">
              <a:lnSpc>
                <a:spcPct val="150000"/>
              </a:lnSpc>
              <a:spcBef>
                <a:spcPts val="480"/>
              </a:spcBef>
              <a:spcAft>
                <a:spcPts val="0"/>
              </a:spcAft>
              <a:buClr>
                <a:schemeClr val="dk1"/>
              </a:buClr>
              <a:buSzPts val="2400"/>
              <a:buNone/>
            </a:pPr>
            <a:r>
              <a:rPr lang="en-IN" sz="2400" b="0">
                <a:solidFill>
                  <a:schemeClr val="dk1"/>
                </a:solidFill>
                <a:latin typeface="Times New Roman"/>
                <a:ea typeface="Times New Roman"/>
                <a:cs typeface="Times New Roman"/>
                <a:sym typeface="Times New Roman"/>
              </a:rPr>
              <a:t>proceeding in respect of piracy of design or infringement of  copyright, which has been committed between the date on which the design ceased to have effect and the date of</a:t>
            </a:r>
            <a:endParaRPr/>
          </a:p>
          <a:p>
            <a:pPr marL="0" lvl="0" indent="0" algn="just" rtl="0">
              <a:lnSpc>
                <a:spcPct val="150000"/>
              </a:lnSpc>
              <a:spcBef>
                <a:spcPts val="480"/>
              </a:spcBef>
              <a:spcAft>
                <a:spcPts val="0"/>
              </a:spcAft>
              <a:buClr>
                <a:schemeClr val="dk1"/>
              </a:buClr>
              <a:buSzPts val="2400"/>
              <a:buNone/>
            </a:pPr>
            <a:r>
              <a:rPr lang="en-IN" sz="2400" b="0">
                <a:solidFill>
                  <a:schemeClr val="dk1"/>
                </a:solidFill>
                <a:latin typeface="Times New Roman"/>
                <a:ea typeface="Times New Roman"/>
                <a:cs typeface="Times New Roman"/>
                <a:sym typeface="Times New Roman"/>
              </a:rPr>
              <a:t>restoration of the design.</a:t>
            </a:r>
            <a:endParaRPr sz="2400" b="0">
              <a:solidFill>
                <a:schemeClr val="dk1"/>
              </a:solidFill>
              <a:latin typeface="Times New Roman"/>
              <a:ea typeface="Times New Roman"/>
              <a:cs typeface="Times New Roman"/>
              <a:sym typeface="Times New Roman"/>
            </a:endParaRPr>
          </a:p>
        </p:txBody>
      </p:sp>
      <p:sp>
        <p:nvSpPr>
          <p:cNvPr id="633" name="Google Shape;633;p83"/>
          <p:cNvSpPr txBox="1"/>
          <p:nvPr/>
        </p:nvSpPr>
        <p:spPr>
          <a:xfrm>
            <a:off x="0" y="0"/>
            <a:ext cx="9144000" cy="762000"/>
          </a:xfrm>
          <a:prstGeom prst="rect">
            <a:avLst/>
          </a:prstGeom>
          <a:solidFill>
            <a:srgbClr val="105964"/>
          </a:solidFill>
          <a:ln w="38100" cap="flat" cmpd="sng">
            <a:solidFill>
              <a:srgbClr val="F2F2F2"/>
            </a:solidFill>
            <a:prstDash val="solid"/>
            <a:round/>
            <a:headEnd type="none" w="sm" len="sm"/>
            <a:tailEnd type="none" w="sm" len="sm"/>
          </a:ln>
        </p:spPr>
        <p:txBody>
          <a:bodyPr spcFirstLastPara="1" wrap="square" lIns="91425" tIns="45700" rIns="91425" bIns="45700" anchor="t" anchorCtr="0">
            <a:normAutofit/>
          </a:bodyPr>
          <a:lstStyle/>
          <a:p>
            <a:pPr marL="0" marR="0" lvl="0" indent="0" algn="ctr" rtl="0">
              <a:spcBef>
                <a:spcPts val="0"/>
              </a:spcBef>
              <a:spcAft>
                <a:spcPts val="0"/>
              </a:spcAft>
              <a:buNone/>
            </a:pPr>
            <a:r>
              <a:rPr lang="en-IN" sz="3200" b="1">
                <a:solidFill>
                  <a:schemeClr val="lt1"/>
                </a:solidFill>
                <a:latin typeface="Times New Roman"/>
                <a:ea typeface="Times New Roman"/>
                <a:cs typeface="Times New Roman"/>
                <a:sym typeface="Times New Roman"/>
              </a:rPr>
              <a:t>Rights in lapsed design, which has been restored</a:t>
            </a:r>
            <a:endParaRPr/>
          </a:p>
          <a:p>
            <a:pPr marL="0" marR="0" lvl="0" indent="0" algn="ctr" rtl="0">
              <a:spcBef>
                <a:spcPts val="600"/>
              </a:spcBef>
              <a:spcAft>
                <a:spcPts val="0"/>
              </a:spcAft>
              <a:buNone/>
            </a:pPr>
            <a:endParaRPr sz="3200" b="1" i="0" strike="noStrike" cap="none">
              <a:solidFill>
                <a:schemeClr val="lt1"/>
              </a:solidFill>
              <a:latin typeface="Times New Roman"/>
              <a:ea typeface="Times New Roman"/>
              <a:cs typeface="Times New Roman"/>
              <a:sym typeface="Times New Roman"/>
            </a:endParaRPr>
          </a:p>
          <a:p>
            <a:pPr marL="0" marR="0" lvl="0" indent="0" algn="just" rtl="0">
              <a:lnSpc>
                <a:spcPct val="100000"/>
              </a:lnSpc>
              <a:spcBef>
                <a:spcPts val="600"/>
              </a:spcBef>
              <a:spcAft>
                <a:spcPts val="0"/>
              </a:spcAft>
              <a:buClr>
                <a:schemeClr val="accent1"/>
              </a:buClr>
              <a:buSzPts val="1400"/>
              <a:buFont typeface="Arial"/>
              <a:buNone/>
            </a:pPr>
            <a:endParaRPr sz="2000" b="0" i="0" u="none" strike="noStrike" cap="none">
              <a:solidFill>
                <a:schemeClr val="dk1"/>
              </a:solidFill>
              <a:latin typeface="Times New Roman"/>
              <a:ea typeface="Times New Roman"/>
              <a:cs typeface="Times New Roman"/>
              <a:sym typeface="Times New Roman"/>
            </a:endParaRPr>
          </a:p>
          <a:p>
            <a:pPr marL="339725" marR="0" lvl="0" indent="-250825" algn="just" rtl="0">
              <a:lnSpc>
                <a:spcPct val="100000"/>
              </a:lnSpc>
              <a:spcBef>
                <a:spcPts val="600"/>
              </a:spcBef>
              <a:spcAft>
                <a:spcPts val="0"/>
              </a:spcAft>
              <a:buClr>
                <a:schemeClr val="accent1"/>
              </a:buClr>
              <a:buSzPts val="1400"/>
              <a:buFont typeface="Noto Sans Symbols"/>
              <a:buNone/>
            </a:pPr>
            <a:endParaRPr sz="2000" b="0" i="0" u="none" strike="noStrike" cap="none">
              <a:solidFill>
                <a:schemeClr val="dk1"/>
              </a:solidFill>
              <a:latin typeface="Times New Roman"/>
              <a:ea typeface="Times New Roman"/>
              <a:cs typeface="Times New Roman"/>
              <a:sym typeface="Times New Roman"/>
            </a:endParaRPr>
          </a:p>
        </p:txBody>
      </p:sp>
    </p:spTree>
  </p:cSld>
  <p:clrMapOvr>
    <a:masterClrMapping/>
  </p:clrMapOvr>
  <p:transition>
    <p:split dir="in"/>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8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pic>
        <p:nvPicPr>
          <p:cNvPr id="659" name="Google Shape;659;p87"/>
          <p:cNvPicPr preferRelativeResize="0"/>
          <p:nvPr/>
        </p:nvPicPr>
        <p:blipFill rotWithShape="1">
          <a:blip r:embed="rId3">
            <a:alphaModFix/>
          </a:blip>
          <a:srcRect/>
          <a:stretch/>
        </p:blipFill>
        <p:spPr>
          <a:xfrm>
            <a:off x="0" y="304800"/>
            <a:ext cx="8229600" cy="6553200"/>
          </a:xfrm>
          <a:prstGeom prst="rect">
            <a:avLst/>
          </a:prstGeom>
          <a:noFill/>
          <a:ln>
            <a:noFill/>
          </a:ln>
        </p:spPr>
      </p:pic>
      <p:graphicFrame>
        <p:nvGraphicFramePr>
          <p:cNvPr id="660" name="Google Shape;660;p87"/>
          <p:cNvGraphicFramePr/>
          <p:nvPr/>
        </p:nvGraphicFramePr>
        <p:xfrm>
          <a:off x="8153400" y="914400"/>
          <a:ext cx="914400" cy="4231650"/>
        </p:xfrm>
        <a:graphic>
          <a:graphicData uri="http://schemas.openxmlformats.org/drawingml/2006/table">
            <a:tbl>
              <a:tblPr firstRow="1" bandRow="1">
                <a:noFill/>
                <a:tableStyleId>{6BC18630-08E3-4F52-8463-D1399F7941C1}</a:tableStyleId>
              </a:tblPr>
              <a:tblGrid>
                <a:gridCol w="914400">
                  <a:extLst>
                    <a:ext uri="{9D8B030D-6E8A-4147-A177-3AD203B41FA5}">
                      <a16:colId xmlns:a16="http://schemas.microsoft.com/office/drawing/2014/main" xmlns="" val="20000"/>
                    </a:ext>
                  </a:extLst>
                </a:gridCol>
              </a:tblGrid>
              <a:tr h="685800">
                <a:tc>
                  <a:txBody>
                    <a:bodyPr/>
                    <a:lstStyle/>
                    <a:p>
                      <a:pPr marL="0" marR="0" lvl="0" indent="0" algn="ctr" rtl="0">
                        <a:lnSpc>
                          <a:spcPct val="100000"/>
                        </a:lnSpc>
                        <a:spcBef>
                          <a:spcPts val="0"/>
                        </a:spcBef>
                        <a:spcAft>
                          <a:spcPts val="0"/>
                        </a:spcAft>
                        <a:buClr>
                          <a:schemeClr val="dk1"/>
                        </a:buClr>
                        <a:buSzPts val="1600"/>
                        <a:buFont typeface="Times New Roman"/>
                        <a:buNone/>
                      </a:pPr>
                      <a:r>
                        <a:rPr lang="en-IN" sz="1600" b="1" u="none" strike="noStrike" cap="none">
                          <a:solidFill>
                            <a:schemeClr val="dk1"/>
                          </a:solidFill>
                          <a:latin typeface="Times New Roman"/>
                          <a:ea typeface="Times New Roman"/>
                          <a:cs typeface="Times New Roman"/>
                          <a:sym typeface="Times New Roman"/>
                        </a:rPr>
                        <a:t>2019-20 </a:t>
                      </a:r>
                      <a:endParaRPr/>
                    </a:p>
                  </a:txBody>
                  <a:tcPr marL="91450" marR="91450" marT="45725" marB="45725"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8EC5F7"/>
                    </a:solidFill>
                  </a:tcPr>
                </a:tc>
                <a:extLst>
                  <a:ext uri="{0D108BD9-81ED-4DB2-BD59-A6C34878D82A}">
                    <a16:rowId xmlns:a16="http://schemas.microsoft.com/office/drawing/2014/main" xmlns="" val="10000"/>
                  </a:ext>
                </a:extLst>
              </a:tr>
              <a:tr h="609600">
                <a:tc>
                  <a:txBody>
                    <a:bodyPr/>
                    <a:lstStyle/>
                    <a:p>
                      <a:pPr marL="0" marR="0" lvl="0" indent="0" algn="ctr" rtl="0">
                        <a:lnSpc>
                          <a:spcPct val="100000"/>
                        </a:lnSpc>
                        <a:spcBef>
                          <a:spcPts val="0"/>
                        </a:spcBef>
                        <a:spcAft>
                          <a:spcPts val="0"/>
                        </a:spcAft>
                        <a:buClr>
                          <a:schemeClr val="dk1"/>
                        </a:buClr>
                        <a:buSzPts val="1600"/>
                        <a:buFont typeface="Times New Roman"/>
                        <a:buNone/>
                      </a:pPr>
                      <a:r>
                        <a:rPr lang="en-IN" sz="1600" b="1" u="none" strike="noStrike" cap="none">
                          <a:solidFill>
                            <a:schemeClr val="dk1"/>
                          </a:solidFill>
                          <a:latin typeface="Times New Roman"/>
                          <a:ea typeface="Times New Roman"/>
                          <a:cs typeface="Times New Roman"/>
                          <a:sym typeface="Times New Roman"/>
                        </a:rPr>
                        <a:t>56,284 </a:t>
                      </a:r>
                      <a:endParaRPr/>
                    </a:p>
                  </a:txBody>
                  <a:tcPr marL="91450" marR="91450" marT="45725" marB="45725"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1"/>
                  </a:ext>
                </a:extLst>
              </a:tr>
              <a:tr h="685800">
                <a:tc>
                  <a:txBody>
                    <a:bodyPr/>
                    <a:lstStyle/>
                    <a:p>
                      <a:pPr marL="0" marR="0" lvl="0" indent="0" algn="ctr" rtl="0">
                        <a:lnSpc>
                          <a:spcPct val="100000"/>
                        </a:lnSpc>
                        <a:spcBef>
                          <a:spcPts val="0"/>
                        </a:spcBef>
                        <a:spcAft>
                          <a:spcPts val="0"/>
                        </a:spcAft>
                        <a:buClr>
                          <a:schemeClr val="dk1"/>
                        </a:buClr>
                        <a:buSzPts val="1600"/>
                        <a:buFont typeface="Times New Roman"/>
                        <a:buNone/>
                      </a:pPr>
                      <a:r>
                        <a:rPr lang="en-IN" sz="1600" b="1" u="none" strike="noStrike" cap="none">
                          <a:solidFill>
                            <a:schemeClr val="dk1"/>
                          </a:solidFill>
                          <a:latin typeface="Times New Roman"/>
                          <a:ea typeface="Times New Roman"/>
                          <a:cs typeface="Times New Roman"/>
                          <a:sym typeface="Times New Roman"/>
                        </a:rPr>
                        <a:t>14,272 </a:t>
                      </a:r>
                      <a:endParaRPr/>
                    </a:p>
                  </a:txBody>
                  <a:tcPr marL="91450" marR="91450" marT="45725" marB="45725"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2"/>
                  </a:ext>
                </a:extLst>
              </a:tr>
              <a:tr h="685800">
                <a:tc>
                  <a:txBody>
                    <a:bodyPr/>
                    <a:lstStyle/>
                    <a:p>
                      <a:pPr marL="0" marR="0" lvl="0" indent="0" algn="ctr" rtl="0">
                        <a:lnSpc>
                          <a:spcPct val="100000"/>
                        </a:lnSpc>
                        <a:spcBef>
                          <a:spcPts val="0"/>
                        </a:spcBef>
                        <a:spcAft>
                          <a:spcPts val="0"/>
                        </a:spcAft>
                        <a:buClr>
                          <a:schemeClr val="dk1"/>
                        </a:buClr>
                        <a:buSzPts val="1600"/>
                        <a:buFont typeface="Times New Roman"/>
                        <a:buNone/>
                      </a:pPr>
                      <a:r>
                        <a:rPr lang="en-IN" sz="1600" b="1" u="none" strike="noStrike" cap="none">
                          <a:solidFill>
                            <a:schemeClr val="dk1"/>
                          </a:solidFill>
                          <a:latin typeface="Times New Roman"/>
                          <a:ea typeface="Times New Roman"/>
                          <a:cs typeface="Times New Roman"/>
                          <a:sym typeface="Times New Roman"/>
                        </a:rPr>
                        <a:t>3,34,815 </a:t>
                      </a:r>
                      <a:endParaRPr/>
                    </a:p>
                  </a:txBody>
                  <a:tcPr marL="91450" marR="91450" marT="45725" marB="45725"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3"/>
                  </a:ext>
                </a:extLst>
              </a:tr>
              <a:tr h="762000">
                <a:tc>
                  <a:txBody>
                    <a:bodyPr/>
                    <a:lstStyle/>
                    <a:p>
                      <a:pPr marL="0" marR="0" lvl="0" indent="0" algn="ctr" rtl="0">
                        <a:lnSpc>
                          <a:spcPct val="100000"/>
                        </a:lnSpc>
                        <a:spcBef>
                          <a:spcPts val="0"/>
                        </a:spcBef>
                        <a:spcAft>
                          <a:spcPts val="0"/>
                        </a:spcAft>
                        <a:buClr>
                          <a:schemeClr val="dk1"/>
                        </a:buClr>
                        <a:buSzPts val="1600"/>
                        <a:buFont typeface="Calibri"/>
                        <a:buNone/>
                      </a:pPr>
                      <a:endParaRPr sz="1600" b="1" u="none" strike="noStrike" cap="none">
                        <a:solidFill>
                          <a:schemeClr val="dk1"/>
                        </a:solidFill>
                        <a:latin typeface="Times New Roman"/>
                        <a:ea typeface="Times New Roman"/>
                        <a:cs typeface="Times New Roman"/>
                        <a:sym typeface="Times New Roman"/>
                      </a:endParaRPr>
                    </a:p>
                  </a:txBody>
                  <a:tcPr marL="91450" marR="91450" marT="45725" marB="45725"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4"/>
                  </a:ext>
                </a:extLst>
              </a:tr>
              <a:tr h="802650">
                <a:tc>
                  <a:txBody>
                    <a:bodyPr/>
                    <a:lstStyle/>
                    <a:p>
                      <a:pPr marL="0" marR="0" lvl="0" indent="0" algn="ctr" rtl="0">
                        <a:lnSpc>
                          <a:spcPct val="100000"/>
                        </a:lnSpc>
                        <a:spcBef>
                          <a:spcPts val="0"/>
                        </a:spcBef>
                        <a:spcAft>
                          <a:spcPts val="0"/>
                        </a:spcAft>
                        <a:buClr>
                          <a:schemeClr val="dk1"/>
                        </a:buClr>
                        <a:buSzPts val="1600"/>
                        <a:buFont typeface="Times New Roman"/>
                        <a:buNone/>
                      </a:pPr>
                      <a:r>
                        <a:rPr lang="en-IN" sz="1600" b="1" u="none" strike="noStrike" cap="none">
                          <a:solidFill>
                            <a:schemeClr val="dk1"/>
                          </a:solidFill>
                          <a:latin typeface="Times New Roman"/>
                          <a:ea typeface="Times New Roman"/>
                          <a:cs typeface="Times New Roman"/>
                          <a:sym typeface="Times New Roman"/>
                        </a:rPr>
                        <a:t>21,905 </a:t>
                      </a:r>
                      <a:endParaRPr/>
                    </a:p>
                  </a:txBody>
                  <a:tcPr marL="91450" marR="91450" marT="45725" marB="45725" anchor="ctr" anchorCtr="1">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5"/>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88"/>
          <p:cNvSpPr txBox="1">
            <a:spLocks noGrp="1"/>
          </p:cNvSpPr>
          <p:nvPr>
            <p:ph idx="1"/>
          </p:nvPr>
        </p:nvSpPr>
        <p:spPr>
          <a:xfrm>
            <a:off x="76200" y="76200"/>
            <a:ext cx="8915400" cy="6705600"/>
          </a:xfrm>
          <a:prstGeom prst="rect">
            <a:avLst/>
          </a:prstGeom>
          <a:noFill/>
          <a:ln>
            <a:noFill/>
          </a:ln>
        </p:spPr>
        <p:txBody>
          <a:bodyPr spcFirstLastPara="1" wrap="square" lIns="91425" tIns="45700" rIns="91425" bIns="45700" anchor="t" anchorCtr="0">
            <a:normAutofit fontScale="77500" lnSpcReduction="20000"/>
          </a:bodyPr>
          <a:lstStyle/>
          <a:p>
            <a:pPr marL="539750" lvl="0" indent="-431482" algn="just" rtl="0">
              <a:lnSpc>
                <a:spcPct val="150000"/>
              </a:lnSpc>
              <a:spcBef>
                <a:spcPts val="0"/>
              </a:spcBef>
              <a:spcAft>
                <a:spcPts val="0"/>
              </a:spcAft>
              <a:buClr>
                <a:schemeClr val="dk1"/>
              </a:buClr>
              <a:buSzPct val="100000"/>
              <a:buFont typeface="Noto Sans Symbols"/>
              <a:buNone/>
            </a:pPr>
            <a:endParaRPr sz="2200">
              <a:latin typeface="Times New Roman"/>
              <a:ea typeface="Times New Roman"/>
              <a:cs typeface="Times New Roman"/>
              <a:sym typeface="Times New Roman"/>
            </a:endParaRPr>
          </a:p>
          <a:p>
            <a:pPr marL="539750" lvl="0" indent="-539750" algn="just" rtl="0">
              <a:lnSpc>
                <a:spcPct val="150000"/>
              </a:lnSpc>
              <a:spcBef>
                <a:spcPts val="403"/>
              </a:spcBef>
              <a:spcAft>
                <a:spcPts val="0"/>
              </a:spcAft>
              <a:buClr>
                <a:schemeClr val="dk1"/>
              </a:buClr>
              <a:buSzPct val="100000"/>
              <a:buFont typeface="Noto Sans Symbols"/>
              <a:buChar char="⮚"/>
            </a:pPr>
            <a:r>
              <a:rPr lang="en-IN" sz="2600">
                <a:latin typeface="Times New Roman"/>
                <a:ea typeface="Times New Roman"/>
                <a:cs typeface="Times New Roman"/>
                <a:sym typeface="Times New Roman"/>
              </a:rPr>
              <a:t>India’s ranking in the Global Innovation Index 2021 has climbed 35 notches, from 81st in 2015-16 to 46th in 2021, released by the World Intellectual Property Organization.</a:t>
            </a:r>
            <a:endParaRPr/>
          </a:p>
          <a:p>
            <a:pPr marL="539750" lvl="0" indent="-539750" algn="just" rtl="0">
              <a:lnSpc>
                <a:spcPct val="150000"/>
              </a:lnSpc>
              <a:spcBef>
                <a:spcPts val="403"/>
              </a:spcBef>
              <a:spcAft>
                <a:spcPts val="0"/>
              </a:spcAft>
              <a:buClr>
                <a:schemeClr val="dk1"/>
              </a:buClr>
              <a:buSzPct val="100000"/>
              <a:buFont typeface="Noto Sans Symbols"/>
              <a:buChar char="⮚"/>
            </a:pPr>
            <a:r>
              <a:rPr lang="en-IN" sz="2600">
                <a:latin typeface="Times New Roman"/>
                <a:ea typeface="Times New Roman"/>
                <a:cs typeface="Times New Roman"/>
                <a:sym typeface="Times New Roman"/>
              </a:rPr>
              <a:t>India has improved its overall IP score from 38.4 per cent to 38.6 per cent, and the country is ranked 43 out of 55 countries on the International Intellectual Property Index 2022. This index was released by the Global Innovation Policy Center of the U.S. Chamber of Commerce.</a:t>
            </a:r>
            <a:endParaRPr/>
          </a:p>
          <a:p>
            <a:pPr marL="539750" lvl="0" indent="-539750" algn="just" rtl="0">
              <a:lnSpc>
                <a:spcPct val="150000"/>
              </a:lnSpc>
              <a:spcBef>
                <a:spcPts val="403"/>
              </a:spcBef>
              <a:spcAft>
                <a:spcPts val="0"/>
              </a:spcAft>
              <a:buClr>
                <a:schemeClr val="dk1"/>
              </a:buClr>
              <a:buSzPct val="100000"/>
              <a:buFont typeface="Noto Sans Symbols"/>
              <a:buChar char="⮚"/>
            </a:pPr>
            <a:r>
              <a:rPr lang="en-IN" sz="2600">
                <a:latin typeface="Times New Roman"/>
                <a:ea typeface="Times New Roman"/>
                <a:cs typeface="Times New Roman"/>
                <a:sym typeface="Times New Roman"/>
              </a:rPr>
              <a:t>The number of patent filings increased from 42,763 in 2014-15 to 66,440 in 2021-22.</a:t>
            </a:r>
            <a:endParaRPr/>
          </a:p>
          <a:p>
            <a:pPr marL="539750" lvl="0" indent="-539750" algn="just" rtl="0">
              <a:lnSpc>
                <a:spcPct val="150000"/>
              </a:lnSpc>
              <a:spcBef>
                <a:spcPts val="403"/>
              </a:spcBef>
              <a:spcAft>
                <a:spcPts val="0"/>
              </a:spcAft>
              <a:buClr>
                <a:schemeClr val="dk1"/>
              </a:buClr>
              <a:buSzPct val="100000"/>
              <a:buFont typeface="Noto Sans Symbols"/>
              <a:buChar char="⮚"/>
            </a:pPr>
            <a:r>
              <a:rPr lang="en-IN" sz="2600">
                <a:latin typeface="Times New Roman"/>
                <a:ea typeface="Times New Roman"/>
                <a:cs typeface="Times New Roman"/>
                <a:sym typeface="Times New Roman"/>
              </a:rPr>
              <a:t>India granted 30,074 patents in 2021-22 as compared to 5,978 in 2014-15.</a:t>
            </a:r>
            <a:endParaRPr/>
          </a:p>
          <a:p>
            <a:pPr marL="539750" lvl="0" indent="-539750" algn="just" rtl="0">
              <a:lnSpc>
                <a:spcPct val="150000"/>
              </a:lnSpc>
              <a:spcBef>
                <a:spcPts val="403"/>
              </a:spcBef>
              <a:spcAft>
                <a:spcPts val="0"/>
              </a:spcAft>
              <a:buClr>
                <a:schemeClr val="dk1"/>
              </a:buClr>
              <a:buSzPct val="100000"/>
              <a:buFont typeface="Noto Sans Symbols"/>
              <a:buChar char="⮚"/>
            </a:pPr>
            <a:r>
              <a:rPr lang="en-IN" sz="2600">
                <a:latin typeface="Times New Roman"/>
                <a:ea typeface="Times New Roman"/>
                <a:cs typeface="Times New Roman"/>
                <a:sym typeface="Times New Roman"/>
              </a:rPr>
              <a:t>For the first time in the last 11 years, the number of domestic patent filing has surpassed the number of international patent filing at Indian Patent office in January-March 2022 quarter. Of the total 19,796 patent applications filed, 10,706 were filed by Indian applicants and 9,090 by non-Indian applicants.</a:t>
            </a:r>
            <a:endParaRPr/>
          </a:p>
          <a:p>
            <a:pPr marL="539750" lvl="0" indent="-431482" algn="just" rtl="0">
              <a:lnSpc>
                <a:spcPct val="150000"/>
              </a:lnSpc>
              <a:spcBef>
                <a:spcPts val="1241"/>
              </a:spcBef>
              <a:spcAft>
                <a:spcPts val="0"/>
              </a:spcAft>
              <a:buClr>
                <a:schemeClr val="dk1"/>
              </a:buClr>
              <a:buSzPct val="100000"/>
              <a:buFont typeface="Noto Sans Symbols"/>
              <a:buNone/>
            </a:pPr>
            <a:endParaRPr sz="22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751</TotalTime>
  <Words>3748</Words>
  <Application>Microsoft Office PowerPoint</Application>
  <PresentationFormat>On-screen Show (4:3)</PresentationFormat>
  <Paragraphs>430</Paragraphs>
  <Slides>76</Slides>
  <Notes>70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76</vt:i4>
      </vt:variant>
    </vt:vector>
  </HeadingPairs>
  <TitlesOfParts>
    <vt:vector size="85" baseType="lpstr">
      <vt:lpstr>Calibri Light</vt:lpstr>
      <vt:lpstr>Arial</vt:lpstr>
      <vt:lpstr>Noto Sans Symbols</vt:lpstr>
      <vt:lpstr>Wingdings</vt:lpstr>
      <vt:lpstr>Calibri</vt:lpstr>
      <vt:lpstr>Ruge Boogie</vt:lpstr>
      <vt:lpstr>Bookman Old Style</vt:lpstr>
      <vt:lpstr>Times New Roman</vt:lpstr>
      <vt:lpstr>Office Theme</vt:lpstr>
      <vt:lpstr>PowerPoint Presentation</vt:lpstr>
      <vt:lpstr>Economics behind development of IPR</vt:lpstr>
      <vt:lpstr>Economics behind development of IPR</vt:lpstr>
      <vt:lpstr>Economics behind development of IPR</vt:lpstr>
      <vt:lpstr>Economics behind development of IPR</vt:lpstr>
      <vt:lpstr>Economics behind development of IPR</vt:lpstr>
      <vt:lpstr>Intellectual Property Rights</vt:lpstr>
      <vt:lpstr>A Fundamental Principle of  Intellectual Property Rights Is  To Protect The Creator From Infringement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Convention Application</vt:lpstr>
      <vt:lpstr>PCT Application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Certification 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sailaja</dc:creator>
  <cp:lastModifiedBy>Microsoft account</cp:lastModifiedBy>
  <cp:revision>7</cp:revision>
  <dcterms:created xsi:type="dcterms:W3CDTF">2015-02-16T11:17:00Z</dcterms:created>
  <dcterms:modified xsi:type="dcterms:W3CDTF">2024-07-04T17:55:35Z</dcterms:modified>
</cp:coreProperties>
</file>