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72" r:id="rId12"/>
    <p:sldId id="271" r:id="rId13"/>
    <p:sldId id="266" r:id="rId14"/>
    <p:sldId id="267" r:id="rId15"/>
    <p:sldId id="268" r:id="rId16"/>
    <p:sldId id="269" r:id="rId17"/>
    <p:sldId id="270"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62" autoAdjust="0"/>
    <p:restoredTop sz="94660"/>
  </p:normalViewPr>
  <p:slideViewPr>
    <p:cSldViewPr>
      <p:cViewPr varScale="1">
        <p:scale>
          <a:sx n="68" d="100"/>
          <a:sy n="68" d="100"/>
        </p:scale>
        <p:origin x="-576"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9/12/2022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9/12/2022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9/12/2022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9/12/2022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9/12/2022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FINANCIAL MANAGEMENT</a:t>
            </a:r>
            <a:endParaRPr lang="en-US" dirty="0"/>
          </a:p>
        </p:txBody>
      </p:sp>
      <p:sp>
        <p:nvSpPr>
          <p:cNvPr id="3" name="Subtitle 2"/>
          <p:cNvSpPr>
            <a:spLocks noGrp="1"/>
          </p:cNvSpPr>
          <p:nvPr>
            <p:ph type="subTitle" idx="1"/>
          </p:nvPr>
        </p:nvSpPr>
        <p:spPr/>
        <p:txBody>
          <a:bodyPr/>
          <a:lstStyle/>
          <a:p>
            <a:r>
              <a:rPr lang="en-US" dirty="0" smtClean="0">
                <a:solidFill>
                  <a:srgbClr val="FF0000"/>
                </a:solidFill>
              </a:rPr>
              <a:t>INTRODUCTION</a:t>
            </a:r>
            <a:endParaRPr lang="en-US" dirty="0">
              <a:solidFill>
                <a:srgbClr val="FF0000"/>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6324600"/>
          </a:xfrm>
        </p:spPr>
        <p:txBody>
          <a:bodyPr/>
          <a:lstStyle/>
          <a:p>
            <a:pPr>
              <a:buNone/>
            </a:pPr>
            <a:r>
              <a:rPr lang="en-US" dirty="0" smtClean="0">
                <a:solidFill>
                  <a:srgbClr val="FF0000"/>
                </a:solidFill>
              </a:rPr>
              <a:t>INTRODUCTION </a:t>
            </a:r>
          </a:p>
          <a:p>
            <a:r>
              <a:rPr lang="en-US" dirty="0" smtClean="0"/>
              <a:t>Finance is called “The science of money”. It studies the principles and the methods of obtaining, control of money from those who have saved it, and of administering it by those into whose control it passes. It is the process of conversion of accumulated funds to productive use.</a:t>
            </a: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6248400"/>
          </a:xfrm>
        </p:spPr>
        <p:txBody>
          <a:bodyPr>
            <a:normAutofit/>
          </a:bodyPr>
          <a:lstStyle/>
          <a:p>
            <a:pPr>
              <a:buNone/>
            </a:pPr>
            <a:r>
              <a:rPr lang="en-US" dirty="0" smtClean="0">
                <a:solidFill>
                  <a:srgbClr val="FF0000"/>
                </a:solidFill>
              </a:rPr>
              <a:t>MEANING OF FINANCIAL MANAGEMENT</a:t>
            </a:r>
          </a:p>
          <a:p>
            <a:pPr>
              <a:buNone/>
            </a:pPr>
            <a:endParaRPr lang="en-US" dirty="0" smtClean="0"/>
          </a:p>
          <a:p>
            <a:pPr algn="just">
              <a:buNone/>
            </a:pPr>
            <a:r>
              <a:rPr lang="en-US" dirty="0" smtClean="0"/>
              <a:t>Financial management is that managerial activity which is concerned with the planning and controlling of the firm’s financial resources. In other words it is concerned with acquiring, financing and managing assets to accomplish the overall goal of a business enterprise (mainly to </a:t>
            </a:r>
            <a:r>
              <a:rPr lang="en-US" dirty="0" err="1" smtClean="0"/>
              <a:t>maximise</a:t>
            </a:r>
            <a:r>
              <a:rPr lang="en-US" dirty="0" smtClean="0"/>
              <a:t> the shareholder’s wealth)</a:t>
            </a:r>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6324600"/>
          </a:xfrm>
        </p:spPr>
        <p:txBody>
          <a:bodyPr/>
          <a:lstStyle/>
          <a:p>
            <a:pPr>
              <a:buNone/>
            </a:pPr>
            <a:r>
              <a:rPr lang="en-US" dirty="0" smtClean="0">
                <a:solidFill>
                  <a:srgbClr val="FF0000"/>
                </a:solidFill>
              </a:rPr>
              <a:t>DEFINITION OF FINANCIAL MANAGEMENT</a:t>
            </a:r>
          </a:p>
          <a:p>
            <a:r>
              <a:rPr lang="en-US" dirty="0" smtClean="0"/>
              <a:t>“Financial management is concerned with the efficient use of an important economic resource, namely capital funds” - </a:t>
            </a:r>
            <a:r>
              <a:rPr lang="en-US" dirty="0" smtClean="0">
                <a:solidFill>
                  <a:srgbClr val="FF0000"/>
                </a:solidFill>
              </a:rPr>
              <a:t>Solomon Ezra &amp; J. John Pringle.</a:t>
            </a:r>
          </a:p>
          <a:p>
            <a:endParaRPr lang="en-US" dirty="0" smtClean="0"/>
          </a:p>
          <a:p>
            <a:r>
              <a:rPr lang="en-US" dirty="0" smtClean="0"/>
              <a:t> “Financial management is the operational activity of a business that is responsible for obtaining and effectively utilizing the funds necessary for efficient business operations”- </a:t>
            </a:r>
            <a:r>
              <a:rPr lang="en-US" dirty="0" smtClean="0">
                <a:solidFill>
                  <a:srgbClr val="FF0000"/>
                </a:solidFill>
              </a:rPr>
              <a:t>J.L. Massie.</a:t>
            </a:r>
            <a:endParaRPr lang="en-US" dirty="0">
              <a:solidFill>
                <a:srgbClr val="FF0000"/>
              </a:solidFill>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381000"/>
            <a:ext cx="8458200" cy="6172200"/>
          </a:xfrm>
        </p:spPr>
        <p:txBody>
          <a:bodyPr/>
          <a:lstStyle/>
          <a:p>
            <a:pPr>
              <a:buNone/>
            </a:pPr>
            <a:r>
              <a:rPr lang="en-US" dirty="0" smtClean="0">
                <a:solidFill>
                  <a:srgbClr val="FF0000"/>
                </a:solidFill>
              </a:rPr>
              <a:t>Objectives of Financial Management</a:t>
            </a:r>
            <a:r>
              <a:rPr lang="en-US" dirty="0" smtClean="0"/>
              <a:t>:</a:t>
            </a:r>
          </a:p>
          <a:p>
            <a:pPr>
              <a:buNone/>
            </a:pPr>
            <a:r>
              <a:rPr lang="en-US" dirty="0" smtClean="0"/>
              <a:t>• Create wealth for the business</a:t>
            </a:r>
          </a:p>
          <a:p>
            <a:pPr>
              <a:buNone/>
            </a:pPr>
            <a:r>
              <a:rPr lang="en-US" dirty="0" smtClean="0"/>
              <a:t>• Generate cash</a:t>
            </a:r>
          </a:p>
          <a:p>
            <a:pPr>
              <a:buNone/>
            </a:pPr>
            <a:r>
              <a:rPr lang="en-US" dirty="0" smtClean="0"/>
              <a:t>• Provide an adequate return on investment - bearing in mind the risks that the business is taking and the resources invested.</a:t>
            </a:r>
          </a:p>
          <a:p>
            <a:pPr>
              <a:buNone/>
            </a:pPr>
            <a:r>
              <a:rPr lang="en-US" dirty="0" smtClean="0"/>
              <a:t># There are three </a:t>
            </a:r>
            <a:r>
              <a:rPr lang="en-US" dirty="0" smtClean="0">
                <a:solidFill>
                  <a:srgbClr val="FF0000"/>
                </a:solidFill>
              </a:rPr>
              <a:t>key elements </a:t>
            </a:r>
            <a:r>
              <a:rPr lang="en-US" dirty="0" smtClean="0"/>
              <a:t>to the </a:t>
            </a:r>
            <a:r>
              <a:rPr lang="en-US" dirty="0" smtClean="0">
                <a:solidFill>
                  <a:srgbClr val="FF0000"/>
                </a:solidFill>
              </a:rPr>
              <a:t>process of Financial Management:</a:t>
            </a:r>
          </a:p>
          <a:p>
            <a:pPr marL="514350" indent="-514350">
              <a:buAutoNum type="arabicParenBoth"/>
            </a:pPr>
            <a:r>
              <a:rPr lang="en-US" dirty="0" smtClean="0"/>
              <a:t>Financial Planning</a:t>
            </a:r>
          </a:p>
          <a:p>
            <a:pPr marL="514350" indent="-514350">
              <a:buAutoNum type="arabicParenBoth"/>
            </a:pPr>
            <a:r>
              <a:rPr lang="en-US" dirty="0" smtClean="0"/>
              <a:t> Financial Control</a:t>
            </a:r>
          </a:p>
          <a:p>
            <a:pPr marL="514350" indent="-514350">
              <a:buAutoNum type="arabicParenBoth"/>
            </a:pPr>
            <a:r>
              <a:rPr lang="en-US" dirty="0" smtClean="0"/>
              <a:t>Financial Decision-making</a:t>
            </a:r>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228600"/>
            <a:ext cx="8686800" cy="6400800"/>
          </a:xfrm>
        </p:spPr>
        <p:txBody>
          <a:bodyPr>
            <a:normAutofit fontScale="92500"/>
          </a:bodyPr>
          <a:lstStyle/>
          <a:p>
            <a:pPr>
              <a:buNone/>
            </a:pPr>
            <a:r>
              <a:rPr lang="en-US" dirty="0" smtClean="0">
                <a:solidFill>
                  <a:srgbClr val="FF0000"/>
                </a:solidFill>
              </a:rPr>
              <a:t>Nature of Financial Management </a:t>
            </a:r>
          </a:p>
          <a:p>
            <a:r>
              <a:rPr lang="en-US" dirty="0" smtClean="0"/>
              <a:t> It is an indispensable organ of business management. </a:t>
            </a:r>
          </a:p>
          <a:p>
            <a:r>
              <a:rPr lang="en-US" dirty="0" smtClean="0"/>
              <a:t> Its function is different from accounting function. </a:t>
            </a:r>
          </a:p>
          <a:p>
            <a:r>
              <a:rPr lang="en-US" dirty="0" smtClean="0"/>
              <a:t> It is a </a:t>
            </a:r>
            <a:r>
              <a:rPr lang="en-US" dirty="0" err="1" smtClean="0"/>
              <a:t>centralised</a:t>
            </a:r>
            <a:r>
              <a:rPr lang="en-US" dirty="0" smtClean="0"/>
              <a:t> function.</a:t>
            </a:r>
          </a:p>
          <a:p>
            <a:r>
              <a:rPr lang="en-US" dirty="0" smtClean="0"/>
              <a:t> Helpful in decisions of top management.</a:t>
            </a:r>
          </a:p>
          <a:p>
            <a:r>
              <a:rPr lang="en-US" dirty="0" smtClean="0"/>
              <a:t> It applicable to all types of concerns.</a:t>
            </a:r>
          </a:p>
          <a:p>
            <a:r>
              <a:rPr lang="en-US" dirty="0" smtClean="0"/>
              <a:t> It needs financial planning, control and follow-up.</a:t>
            </a:r>
          </a:p>
          <a:p>
            <a:r>
              <a:rPr lang="en-US" dirty="0" smtClean="0"/>
              <a:t> It related with different disciplines like economics, accounting, law, information technology, mathematics etc</a:t>
            </a:r>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52400"/>
            <a:ext cx="8763000" cy="6553200"/>
          </a:xfrm>
        </p:spPr>
        <p:txBody>
          <a:bodyPr>
            <a:normAutofit fontScale="70000" lnSpcReduction="20000"/>
          </a:bodyPr>
          <a:lstStyle/>
          <a:p>
            <a:r>
              <a:rPr lang="en-US" dirty="0" smtClean="0">
                <a:solidFill>
                  <a:srgbClr val="FF0000"/>
                </a:solidFill>
              </a:rPr>
              <a:t>SCOPE OF FINANCIAL MANAGEMENT:</a:t>
            </a:r>
          </a:p>
          <a:p>
            <a:r>
              <a:rPr lang="en-US" sz="3400" dirty="0" smtClean="0"/>
              <a:t>Estimating the total requirements of funds for a given period. </a:t>
            </a:r>
          </a:p>
          <a:p>
            <a:r>
              <a:rPr lang="en-US" sz="3400" dirty="0" smtClean="0"/>
              <a:t>Raising funds through various sources, both national and international, keeping in mind the cost effectiveness. </a:t>
            </a:r>
          </a:p>
          <a:p>
            <a:r>
              <a:rPr lang="en-US" sz="3400" dirty="0" smtClean="0"/>
              <a:t> Investing the funds in both long term as well as short term capital needs.</a:t>
            </a:r>
          </a:p>
          <a:p>
            <a:r>
              <a:rPr lang="en-US" sz="3400" dirty="0" smtClean="0"/>
              <a:t> Funding day-to-day working capital requirements of business.</a:t>
            </a:r>
          </a:p>
          <a:p>
            <a:r>
              <a:rPr lang="en-US" sz="3400" dirty="0" smtClean="0"/>
              <a:t>Collecting on time from debtors and paying to creditors on time.</a:t>
            </a:r>
          </a:p>
          <a:p>
            <a:r>
              <a:rPr lang="en-US" sz="3400" dirty="0" smtClean="0"/>
              <a:t> Managing funds and treasury operations. </a:t>
            </a:r>
          </a:p>
          <a:p>
            <a:r>
              <a:rPr lang="en-US" sz="3400" dirty="0" smtClean="0"/>
              <a:t> Ensuring a satisfactory return to all the stake holders.</a:t>
            </a:r>
          </a:p>
          <a:p>
            <a:r>
              <a:rPr lang="en-US" sz="3400" dirty="0" smtClean="0"/>
              <a:t> Paying interest on borrowings.</a:t>
            </a:r>
          </a:p>
          <a:p>
            <a:r>
              <a:rPr lang="en-US" sz="3400" dirty="0" smtClean="0"/>
              <a:t> Repaying lenders on due dates.</a:t>
            </a:r>
          </a:p>
          <a:p>
            <a:r>
              <a:rPr lang="en-US" sz="3400" dirty="0" smtClean="0"/>
              <a:t> Maximizing the wealth of the shareholders over the long term.</a:t>
            </a:r>
          </a:p>
          <a:p>
            <a:r>
              <a:rPr lang="en-US" sz="3400" dirty="0" smtClean="0"/>
              <a:t>  Interfacing with the capital markets.</a:t>
            </a:r>
          </a:p>
          <a:p>
            <a:r>
              <a:rPr lang="en-US" sz="3400" dirty="0" smtClean="0"/>
              <a:t> Awareness to all the latest developments in the financial markets. Increasing the firm’s competitive financial strength in the market. </a:t>
            </a:r>
          </a:p>
          <a:p>
            <a:r>
              <a:rPr lang="en-US" sz="3400" dirty="0" smtClean="0"/>
              <a:t> Adhering to the requirements of corporate governance.</a:t>
            </a:r>
            <a:endParaRPr lang="en-US" sz="34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304800"/>
            <a:ext cx="8686800" cy="6400800"/>
          </a:xfrm>
        </p:spPr>
        <p:txBody>
          <a:bodyPr>
            <a:normAutofit fontScale="85000" lnSpcReduction="20000"/>
          </a:bodyPr>
          <a:lstStyle/>
          <a:p>
            <a:pPr algn="just"/>
            <a:r>
              <a:rPr lang="en-US" dirty="0" smtClean="0">
                <a:solidFill>
                  <a:srgbClr val="FF0000"/>
                </a:solidFill>
              </a:rPr>
              <a:t>FUNCTIONS OF FINANCIAL MANAGEMENT</a:t>
            </a:r>
            <a:r>
              <a:rPr lang="en-US" dirty="0" smtClean="0"/>
              <a:t>: The modern approach to the financial management is concerned with the solution of major problems like investment financing and dividend decisions of the financial operations of a business enterprise. Thus, the functions of financial management can be broadly classified into three major decisions, namely: </a:t>
            </a:r>
          </a:p>
          <a:p>
            <a:pPr>
              <a:buNone/>
            </a:pPr>
            <a:r>
              <a:rPr lang="en-US" dirty="0" smtClean="0"/>
              <a:t>	(a) </a:t>
            </a:r>
            <a:r>
              <a:rPr lang="en-US" dirty="0" smtClean="0">
                <a:solidFill>
                  <a:srgbClr val="FF0000"/>
                </a:solidFill>
              </a:rPr>
              <a:t>Investment decisions:  </a:t>
            </a:r>
            <a:r>
              <a:rPr lang="en-US" dirty="0" smtClean="0"/>
              <a:t>These decisions relate to the selection of assets in which funds will be invested by a firm</a:t>
            </a:r>
            <a:endParaRPr lang="en-US" dirty="0" smtClean="0">
              <a:solidFill>
                <a:srgbClr val="FF0000"/>
              </a:solidFill>
            </a:endParaRPr>
          </a:p>
          <a:p>
            <a:pPr>
              <a:buNone/>
            </a:pPr>
            <a:r>
              <a:rPr lang="en-US" dirty="0" smtClean="0"/>
              <a:t>	(b) </a:t>
            </a:r>
            <a:r>
              <a:rPr lang="en-US" dirty="0" smtClean="0">
                <a:solidFill>
                  <a:srgbClr val="002060"/>
                </a:solidFill>
              </a:rPr>
              <a:t>Financing decisions: </a:t>
            </a:r>
            <a:r>
              <a:rPr lang="en-US" dirty="0" smtClean="0"/>
              <a:t>These decisions relate to acquiring the optimum finance to meet financial objectives and seeing that fixed and working capital are effectively managed</a:t>
            </a:r>
            <a:endParaRPr lang="en-US" dirty="0" smtClean="0">
              <a:solidFill>
                <a:srgbClr val="002060"/>
              </a:solidFill>
            </a:endParaRPr>
          </a:p>
          <a:p>
            <a:pPr>
              <a:buNone/>
            </a:pPr>
            <a:r>
              <a:rPr lang="en-US" dirty="0" smtClean="0"/>
              <a:t>	(c) </a:t>
            </a:r>
            <a:r>
              <a:rPr lang="en-US" dirty="0" smtClean="0">
                <a:solidFill>
                  <a:schemeClr val="accent6">
                    <a:lumMod val="75000"/>
                  </a:schemeClr>
                </a:solidFill>
              </a:rPr>
              <a:t>Dividend decisions: </a:t>
            </a:r>
            <a:r>
              <a:rPr lang="en-US" dirty="0" smtClean="0"/>
              <a:t>These decisions relate to the determination as to how much and how frequently cash can be paid </a:t>
            </a:r>
            <a:endParaRPr lang="en-US" dirty="0">
              <a:solidFill>
                <a:schemeClr val="accent6">
                  <a:lumMod val="75000"/>
                </a:schemeClr>
              </a:solidFill>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6248400"/>
          </a:xfrm>
        </p:spPr>
        <p:txBody>
          <a:bodyPr>
            <a:normAutofit fontScale="85000" lnSpcReduction="20000"/>
          </a:bodyPr>
          <a:lstStyle/>
          <a:p>
            <a:r>
              <a:rPr lang="en-US" dirty="0" smtClean="0"/>
              <a:t>FUNCTIONAL AREAS OF FINANCIAL MANAGEMENT </a:t>
            </a:r>
          </a:p>
          <a:p>
            <a:r>
              <a:rPr lang="en-US" dirty="0" smtClean="0"/>
              <a:t> Capital Budgeting</a:t>
            </a:r>
          </a:p>
          <a:p>
            <a:r>
              <a:rPr lang="en-US" dirty="0" smtClean="0"/>
              <a:t>  Working Capital Management</a:t>
            </a:r>
          </a:p>
          <a:p>
            <a:r>
              <a:rPr lang="en-US" dirty="0" smtClean="0"/>
              <a:t> Dividend Policies</a:t>
            </a:r>
          </a:p>
          <a:p>
            <a:r>
              <a:rPr lang="en-US" dirty="0" smtClean="0"/>
              <a:t>  Acquisitions and Mergers</a:t>
            </a:r>
          </a:p>
          <a:p>
            <a:r>
              <a:rPr lang="en-US" dirty="0" smtClean="0"/>
              <a:t> Corporate Taxation</a:t>
            </a:r>
          </a:p>
          <a:p>
            <a:r>
              <a:rPr lang="en-US" dirty="0" smtClean="0"/>
              <a:t>  Determining Financial Needs</a:t>
            </a:r>
          </a:p>
          <a:p>
            <a:r>
              <a:rPr lang="en-US" dirty="0" smtClean="0"/>
              <a:t> Determining Sources of Funds</a:t>
            </a:r>
          </a:p>
          <a:p>
            <a:r>
              <a:rPr lang="en-US" dirty="0" smtClean="0"/>
              <a:t>  Financial Analysis</a:t>
            </a:r>
          </a:p>
          <a:p>
            <a:r>
              <a:rPr lang="en-US" dirty="0" smtClean="0"/>
              <a:t>  Optimal Capital Structure</a:t>
            </a:r>
          </a:p>
          <a:p>
            <a:r>
              <a:rPr lang="en-US" dirty="0" smtClean="0"/>
              <a:t> Cost Volume Profit Analysis </a:t>
            </a:r>
          </a:p>
          <a:p>
            <a:r>
              <a:rPr lang="en-US" dirty="0" smtClean="0"/>
              <a:t> Profit Planning and Control</a:t>
            </a:r>
          </a:p>
          <a:p>
            <a:r>
              <a:rPr lang="en-US" dirty="0" smtClean="0"/>
              <a:t> Fixed Assets Management</a:t>
            </a:r>
          </a:p>
          <a:p>
            <a:r>
              <a:rPr lang="en-US" dirty="0" smtClean="0"/>
              <a:t> Project Planning and Evaluation</a:t>
            </a:r>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304800"/>
            <a:ext cx="8686800" cy="6324600"/>
          </a:xfrm>
        </p:spPr>
        <p:txBody>
          <a:bodyPr>
            <a:normAutofit fontScale="92500" lnSpcReduction="10000"/>
          </a:bodyPr>
          <a:lstStyle/>
          <a:p>
            <a:r>
              <a:rPr lang="en-US" dirty="0" smtClean="0"/>
              <a:t>OBJECTIVE OF FINANCIAL MANAGEMENT :</a:t>
            </a:r>
          </a:p>
          <a:p>
            <a:r>
              <a:rPr lang="en-US" dirty="0" smtClean="0"/>
              <a:t>Financial Management deals with activities which have financial implications. Efficient financial management requires the existence of some objectives or goals because judgment as to whether or not a financial decision is efficient must be made in the light of some objectives. It includes-</a:t>
            </a:r>
          </a:p>
          <a:p>
            <a:r>
              <a:rPr lang="en-US" dirty="0" smtClean="0"/>
              <a:t> Profit </a:t>
            </a:r>
            <a:r>
              <a:rPr lang="en-US" dirty="0" err="1" smtClean="0"/>
              <a:t>maximisation</a:t>
            </a:r>
            <a:r>
              <a:rPr lang="en-US" dirty="0" smtClean="0"/>
              <a:t> and wealth /value </a:t>
            </a:r>
            <a:r>
              <a:rPr lang="en-US" dirty="0" err="1" smtClean="0"/>
              <a:t>maximisation</a:t>
            </a:r>
            <a:endParaRPr lang="en-US" dirty="0" smtClean="0"/>
          </a:p>
          <a:p>
            <a:r>
              <a:rPr lang="en-US" dirty="0" smtClean="0"/>
              <a:t>  Achieving a higher growth rate.</a:t>
            </a:r>
          </a:p>
          <a:p>
            <a:r>
              <a:rPr lang="en-US" dirty="0" smtClean="0"/>
              <a:t>  Attaining a large market share.</a:t>
            </a:r>
          </a:p>
          <a:p>
            <a:r>
              <a:rPr lang="en-US" dirty="0" smtClean="0"/>
              <a:t>  Promoting employee welfare</a:t>
            </a:r>
          </a:p>
          <a:p>
            <a:r>
              <a:rPr lang="en-US" dirty="0" smtClean="0"/>
              <a:t>  Increasing customer satisfaction.</a:t>
            </a:r>
          </a:p>
          <a:p>
            <a:r>
              <a:rPr lang="en-US" dirty="0" smtClean="0"/>
              <a:t>  Improve community life. </a:t>
            </a:r>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idx="1"/>
          </p:nvPr>
        </p:nvSpPr>
        <p:spPr>
          <a:xfrm>
            <a:off x="228600" y="304800"/>
            <a:ext cx="8686800" cy="6324600"/>
          </a:xfrm>
        </p:spPr>
        <p:txBody>
          <a:bodyPr/>
          <a:lstStyle/>
          <a:p>
            <a:r>
              <a:rPr lang="en-US" dirty="0" smtClean="0"/>
              <a:t>FINANCIAL ENVIRONMENT: </a:t>
            </a:r>
          </a:p>
          <a:p>
            <a:r>
              <a:rPr lang="en-US" dirty="0" smtClean="0"/>
              <a:t>A financial environment is a part of an economy with the major players being firms, investors, and markets. Essentially, this sector can represent a large part of a well-developed economy as individuals who retain private property have the ability to grow their capital</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304800"/>
            <a:ext cx="8686800" cy="6400800"/>
          </a:xfrm>
        </p:spPr>
        <p:txBody>
          <a:bodyPr/>
          <a:lstStyle/>
          <a:p>
            <a:r>
              <a:rPr lang="en-US" dirty="0" smtClean="0"/>
              <a:t>Financial environment: </a:t>
            </a:r>
          </a:p>
          <a:p>
            <a:r>
              <a:rPr lang="en-US" dirty="0" smtClean="0"/>
              <a:t>Financial </a:t>
            </a:r>
            <a:r>
              <a:rPr lang="en-US" sz="2400" dirty="0" smtClean="0"/>
              <a:t>Institutions-An intermediary that channels the savings of individuals, businesses and governments into loans or investments - Investment banks, Commercial banks, Financial services corporations, Credit unions, Mutual funds</a:t>
            </a:r>
          </a:p>
          <a:p>
            <a:r>
              <a:rPr lang="en-US" dirty="0" smtClean="0"/>
              <a:t>Financial markets-</a:t>
            </a:r>
            <a:r>
              <a:rPr lang="en-US" sz="2400" dirty="0" smtClean="0"/>
              <a:t>Financial markets are forums in which suppliers of funds and demanders of funds can transact business directly</a:t>
            </a:r>
          </a:p>
          <a:p>
            <a:r>
              <a:rPr lang="en-US" sz="2400" dirty="0" smtClean="0"/>
              <a:t> Physical asset vs. financial asset market </a:t>
            </a:r>
          </a:p>
          <a:p>
            <a:r>
              <a:rPr lang="en-US" sz="2400" dirty="0" smtClean="0"/>
              <a:t>Spot vs. future markets</a:t>
            </a:r>
          </a:p>
          <a:p>
            <a:r>
              <a:rPr lang="en-US" sz="2400" dirty="0" smtClean="0"/>
              <a:t>Money vs. capital markets </a:t>
            </a:r>
          </a:p>
          <a:p>
            <a:r>
              <a:rPr lang="en-US" sz="2400" dirty="0" smtClean="0"/>
              <a:t>Differences between Money Markets and Capital Markets</a:t>
            </a:r>
          </a:p>
          <a:p>
            <a:r>
              <a:rPr lang="en-US" sz="2400" dirty="0" smtClean="0"/>
              <a:t>Primary vs. secondary markets </a:t>
            </a:r>
            <a:endParaRPr lang="en-US" sz="2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fontScale="92500" lnSpcReduction="10000"/>
          </a:bodyPr>
          <a:lstStyle/>
          <a:p>
            <a:r>
              <a:rPr lang="en-US" dirty="0" smtClean="0"/>
              <a:t>TIME VALUE OF MONEY AND MATHEMATICS OF FINANCE: Concept:</a:t>
            </a:r>
          </a:p>
          <a:p>
            <a:r>
              <a:rPr lang="en-US" dirty="0" smtClean="0"/>
              <a:t> We know that 100 in hand today is more valuable than 100 receivable after a year. </a:t>
            </a:r>
          </a:p>
          <a:p>
            <a:r>
              <a:rPr lang="en-US" dirty="0" smtClean="0"/>
              <a:t>We will not part with 100 now if the same sum is repaid after a year. But we might part with 100 now if we are assured that 110 will be paid at the end of the first year.</a:t>
            </a:r>
          </a:p>
          <a:p>
            <a:r>
              <a:rPr lang="en-US" dirty="0" smtClean="0"/>
              <a:t> This “additional Compensation” required for parting 100 today, is called “interest” or “the time value of money”. </a:t>
            </a:r>
          </a:p>
          <a:p>
            <a:r>
              <a:rPr lang="en-US" dirty="0" smtClean="0"/>
              <a:t>It is expressed in terms of percentage per annum.</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228600"/>
            <a:ext cx="8686800" cy="6400800"/>
          </a:xfrm>
        </p:spPr>
        <p:txBody>
          <a:bodyPr>
            <a:normAutofit/>
          </a:bodyPr>
          <a:lstStyle/>
          <a:p>
            <a:r>
              <a:rPr lang="en-US" dirty="0" smtClean="0"/>
              <a:t>Money should have time value for the following reasons:</a:t>
            </a:r>
          </a:p>
          <a:p>
            <a:r>
              <a:rPr lang="en-US" dirty="0" smtClean="0"/>
              <a:t> </a:t>
            </a:r>
            <a:r>
              <a:rPr lang="en-US" sz="2800" dirty="0" smtClean="0"/>
              <a:t>Money can be employed productively to generate real returns; </a:t>
            </a:r>
          </a:p>
          <a:p>
            <a:r>
              <a:rPr lang="en-US" sz="2800" dirty="0" smtClean="0"/>
              <a:t> In an inflationary period, a rupee today has higher purchasing power than a rupee in the future;</a:t>
            </a:r>
          </a:p>
          <a:p>
            <a:r>
              <a:rPr lang="en-US" sz="2800" dirty="0" smtClean="0"/>
              <a:t>Due to uncertainties in the future, current consumption is preferred to future Consumption. </a:t>
            </a:r>
          </a:p>
          <a:p>
            <a:endParaRPr lang="en-US" sz="2800" dirty="0" smtClean="0"/>
          </a:p>
          <a:p>
            <a:r>
              <a:rPr lang="en-US" sz="2800" dirty="0" smtClean="0"/>
              <a:t>Nominal </a:t>
            </a:r>
            <a:r>
              <a:rPr lang="en-US" sz="2800" dirty="0" smtClean="0"/>
              <a:t>or market interest rate = Real rate of interest or return (+) Expected rate of inflation (+) Risk premiums to compensate for uncertainty.</a:t>
            </a:r>
            <a:endParaRPr lang="en-US" sz="2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304800"/>
            <a:ext cx="8686800" cy="6324600"/>
          </a:xfrm>
        </p:spPr>
        <p:txBody>
          <a:bodyPr>
            <a:normAutofit fontScale="92500" lnSpcReduction="20000"/>
          </a:bodyPr>
          <a:lstStyle/>
          <a:p>
            <a:r>
              <a:rPr lang="en-US" dirty="0" smtClean="0"/>
              <a:t>Time Value of Money and mathematics </a:t>
            </a:r>
          </a:p>
          <a:p>
            <a:r>
              <a:rPr lang="en-US" dirty="0" smtClean="0"/>
              <a:t>(1) Compounding: We find the Future Values (FV) of all the cash flows at the end of the time period at a given rate of interest.</a:t>
            </a:r>
          </a:p>
          <a:p>
            <a:r>
              <a:rPr lang="en-US" dirty="0" smtClean="0"/>
              <a:t> (2) Discounting: We determine the Time Value of Money at Time “O” by comparing the initial outflow with the sum of the Present Values (PV) of the future inflows at a given rate of interest.</a:t>
            </a:r>
          </a:p>
          <a:p>
            <a:r>
              <a:rPr lang="en-US" dirty="0" smtClean="0"/>
              <a:t>Time Value of Money </a:t>
            </a:r>
          </a:p>
          <a:p>
            <a:r>
              <a:rPr lang="en-US" dirty="0" smtClean="0"/>
              <a:t>Compounding 			Discounting </a:t>
            </a:r>
          </a:p>
          <a:p>
            <a:r>
              <a:rPr lang="en-US" dirty="0" smtClean="0"/>
              <a:t>(Future Value)      		(Present Value) </a:t>
            </a:r>
          </a:p>
          <a:p>
            <a:r>
              <a:rPr lang="en-US" dirty="0" smtClean="0"/>
              <a:t>(a) Single Flow			 (a) Single Flow </a:t>
            </a:r>
          </a:p>
          <a:p>
            <a:r>
              <a:rPr lang="en-US" dirty="0" smtClean="0"/>
              <a:t>(b) Multiple Flows 	   (b) Uneven Multiple Flows</a:t>
            </a:r>
          </a:p>
          <a:p>
            <a:r>
              <a:rPr lang="en-US" dirty="0" smtClean="0"/>
              <a:t>(c) Annuity			 (c) Annuity</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228600"/>
            <a:ext cx="8686800" cy="6400800"/>
          </a:xfrm>
        </p:spPr>
        <p:txBody>
          <a:bodyPr>
            <a:normAutofit lnSpcReduction="10000"/>
          </a:bodyPr>
          <a:lstStyle/>
          <a:p>
            <a:r>
              <a:rPr lang="en-US" dirty="0" smtClean="0"/>
              <a:t>Future Value of a Single Flow</a:t>
            </a:r>
          </a:p>
          <a:p>
            <a:r>
              <a:rPr lang="en-US" dirty="0" smtClean="0"/>
              <a:t> It is the process to determine the future value of a lump sum amount invested at one point of time.</a:t>
            </a:r>
          </a:p>
          <a:p>
            <a:pPr>
              <a:buNone/>
            </a:pPr>
            <a:r>
              <a:rPr lang="en-US" dirty="0" smtClean="0"/>
              <a:t>			 </a:t>
            </a:r>
            <a:r>
              <a:rPr lang="en-US" dirty="0" err="1" smtClean="0"/>
              <a:t>FVn</a:t>
            </a:r>
            <a:r>
              <a:rPr lang="en-US" dirty="0" smtClean="0"/>
              <a:t> = PV (1+i)n</a:t>
            </a:r>
            <a:r>
              <a:rPr lang="en-US" smtClean="0"/>
              <a:t>	</a:t>
            </a:r>
          </a:p>
          <a:p>
            <a:pPr>
              <a:buNone/>
            </a:pPr>
            <a:r>
              <a:rPr lang="en-US" smtClean="0"/>
              <a:t>where</a:t>
            </a:r>
            <a:endParaRPr lang="en-US" dirty="0" smtClean="0"/>
          </a:p>
          <a:p>
            <a:r>
              <a:rPr lang="en-US" dirty="0" err="1" smtClean="0"/>
              <a:t>FVn</a:t>
            </a:r>
            <a:r>
              <a:rPr lang="en-US" dirty="0" smtClean="0"/>
              <a:t> = Future value of initial cash outflow after n years </a:t>
            </a:r>
          </a:p>
          <a:p>
            <a:r>
              <a:rPr lang="en-US" dirty="0" smtClean="0"/>
              <a:t>PV = Initial cash outflow</a:t>
            </a:r>
          </a:p>
          <a:p>
            <a:r>
              <a:rPr lang="en-US" dirty="0" smtClean="0"/>
              <a:t> </a:t>
            </a:r>
            <a:r>
              <a:rPr lang="en-US" dirty="0" err="1" smtClean="0"/>
              <a:t>i</a:t>
            </a:r>
            <a:r>
              <a:rPr lang="en-US" dirty="0" smtClean="0"/>
              <a:t> = Rate of Interest p.a.</a:t>
            </a:r>
          </a:p>
          <a:p>
            <a:r>
              <a:rPr lang="en-US" dirty="0" smtClean="0"/>
              <a:t> n = Life of the Investment and </a:t>
            </a:r>
          </a:p>
          <a:p>
            <a:r>
              <a:rPr lang="en-US" dirty="0" smtClean="0"/>
              <a:t>(1+i)n = Future Value of Interest Factor (FVIF)</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304800"/>
            <a:ext cx="8686800" cy="6324600"/>
          </a:xfrm>
        </p:spPr>
        <p:txBody>
          <a:bodyPr/>
          <a:lstStyle/>
          <a:p>
            <a:r>
              <a:rPr lang="en-US" sz="2800" dirty="0" smtClean="0"/>
              <a:t>Under compound value concept the interest earned during year is added to principal amount in the next year..</a:t>
            </a:r>
          </a:p>
          <a:p>
            <a:r>
              <a:rPr lang="en-US" sz="2400" dirty="0" smtClean="0">
                <a:solidFill>
                  <a:srgbClr val="FF0000"/>
                </a:solidFill>
              </a:rPr>
              <a:t>Principal amount  + 1</a:t>
            </a:r>
            <a:r>
              <a:rPr lang="en-US" sz="2400" baseline="30000" dirty="0" smtClean="0">
                <a:solidFill>
                  <a:srgbClr val="FF0000"/>
                </a:solidFill>
              </a:rPr>
              <a:t>st</a:t>
            </a:r>
            <a:r>
              <a:rPr lang="en-US" sz="2400" dirty="0" smtClean="0">
                <a:solidFill>
                  <a:srgbClr val="FF0000"/>
                </a:solidFill>
              </a:rPr>
              <a:t> yr Interest = 2</a:t>
            </a:r>
            <a:r>
              <a:rPr lang="en-US" sz="2400" baseline="30000" dirty="0" smtClean="0">
                <a:solidFill>
                  <a:srgbClr val="FF0000"/>
                </a:solidFill>
              </a:rPr>
              <a:t>nd</a:t>
            </a:r>
            <a:r>
              <a:rPr lang="en-US" sz="2400" dirty="0" smtClean="0">
                <a:solidFill>
                  <a:srgbClr val="FF0000"/>
                </a:solidFill>
              </a:rPr>
              <a:t> yr Principal amount</a:t>
            </a:r>
          </a:p>
          <a:p>
            <a:r>
              <a:rPr lang="en-US" sz="2400" dirty="0" smtClean="0"/>
              <a:t>It is calculated as A = P(1+i)^n where</a:t>
            </a:r>
          </a:p>
          <a:p>
            <a:r>
              <a:rPr lang="en-US" sz="2400" dirty="0" smtClean="0"/>
              <a:t>A= Amount at the end of the period n </a:t>
            </a:r>
          </a:p>
          <a:p>
            <a:r>
              <a:rPr lang="en-US" sz="2400" dirty="0" smtClean="0"/>
              <a:t>P = Principal amount in the beginning of the year</a:t>
            </a:r>
          </a:p>
          <a:p>
            <a:r>
              <a:rPr lang="en-US" sz="2400" dirty="0" smtClean="0"/>
              <a:t>.</a:t>
            </a:r>
            <a:r>
              <a:rPr lang="en-US" sz="2400" dirty="0" err="1" smtClean="0"/>
              <a:t>i</a:t>
            </a:r>
            <a:r>
              <a:rPr lang="en-US" sz="2400" dirty="0" smtClean="0"/>
              <a:t> = Interest rate ; n= no. of years</a:t>
            </a:r>
          </a:p>
          <a:p>
            <a:pPr>
              <a:buNone/>
            </a:pPr>
            <a:r>
              <a:rPr lang="en-US" sz="2400" dirty="0" smtClean="0"/>
              <a:t>Multiple compound periods</a:t>
            </a:r>
          </a:p>
          <a:p>
            <a:pPr>
              <a:buNone/>
            </a:pPr>
            <a:r>
              <a:rPr lang="en-US" sz="2400" dirty="0" smtClean="0"/>
              <a:t>   A = P(1+i/m)^m x n</a:t>
            </a:r>
          </a:p>
          <a:p>
            <a:pPr>
              <a:buNone/>
            </a:pPr>
            <a:r>
              <a:rPr lang="en-US" sz="2400" dirty="0" smtClean="0"/>
              <a:t>Where  m = no. of times per </a:t>
            </a:r>
            <a:r>
              <a:rPr lang="en-US" sz="2400" smtClean="0"/>
              <a:t>year compounding</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116</TotalTime>
  <Words>1183</Words>
  <Application>Microsoft Office PowerPoint</Application>
  <PresentationFormat>On-screen Show (4:3)</PresentationFormat>
  <Paragraphs>115</Paragraphs>
  <Slides>17</Slides>
  <Notes>0</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Office Theme</vt:lpstr>
      <vt:lpstr>FINANCIAL MANAGEMENT</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my pc</dc:creator>
  <cp:lastModifiedBy>my pc</cp:lastModifiedBy>
  <cp:revision>35</cp:revision>
  <dcterms:created xsi:type="dcterms:W3CDTF">2006-08-16T00:00:00Z</dcterms:created>
  <dcterms:modified xsi:type="dcterms:W3CDTF">2022-09-12T08:13:25Z</dcterms:modified>
</cp:coreProperties>
</file>