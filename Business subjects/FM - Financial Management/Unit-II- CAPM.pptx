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Capital Asset Pricing Model (CAPM)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3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477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dirty="0"/>
              <a:t>The Capital Asset Pricing Model (CAPM) is </a:t>
            </a:r>
            <a:r>
              <a:rPr lang="en-US" sz="2800" dirty="0" smtClean="0"/>
              <a:t>a Model </a:t>
            </a:r>
            <a:r>
              <a:rPr lang="en-US" sz="2800" dirty="0"/>
              <a:t>that describes the relationship </a:t>
            </a:r>
            <a:r>
              <a:rPr lang="en-US" sz="2800" dirty="0" smtClean="0"/>
              <a:t>between the </a:t>
            </a:r>
            <a:r>
              <a:rPr lang="en-US" sz="2800" dirty="0"/>
              <a:t>expected return and risk of investing in a security. It shows that the expected return on </a:t>
            </a:r>
            <a:r>
              <a:rPr lang="en-US" sz="2800" dirty="0" smtClean="0"/>
              <a:t>a security </a:t>
            </a:r>
            <a:r>
              <a:rPr lang="en-US" sz="2800" dirty="0"/>
              <a:t>is equal to the risk-free return plus a risk premium, which is based on the beta of </a:t>
            </a:r>
            <a:r>
              <a:rPr lang="en-US" sz="2800" dirty="0" smtClean="0"/>
              <a:t>that security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800" dirty="0"/>
              <a:t>The capital asset pricing model was developed by the financial economist (and later, </a:t>
            </a:r>
            <a:r>
              <a:rPr lang="en-US" sz="2800" dirty="0" smtClean="0"/>
              <a:t>Nobel laureate </a:t>
            </a:r>
            <a:r>
              <a:rPr lang="en-US" sz="2800" dirty="0"/>
              <a:t>in </a:t>
            </a:r>
            <a:r>
              <a:rPr lang="en-US" sz="2800" dirty="0" smtClean="0"/>
              <a:t>economics ) </a:t>
            </a:r>
            <a:r>
              <a:rPr lang="en-US" sz="2800" dirty="0"/>
              <a:t>William Sharpe, set out in his 1970 book Portfolio Theory and </a:t>
            </a:r>
            <a:r>
              <a:rPr lang="en-US" sz="2800" dirty="0" smtClean="0"/>
              <a:t>Capital Markets</a:t>
            </a:r>
            <a:r>
              <a:rPr lang="en-US" sz="2800" dirty="0"/>
              <a:t>. His model starts with the idea that individual investment contains two types of risk</a:t>
            </a:r>
            <a:r>
              <a:rPr lang="en-US" sz="2800" dirty="0" smtClean="0"/>
              <a:t>: systematic and </a:t>
            </a:r>
            <a:r>
              <a:rPr lang="en-US" sz="2800" dirty="0" err="1" smtClean="0"/>
              <a:t>Unsystamatic</a:t>
            </a:r>
            <a:r>
              <a:rPr lang="en-US" sz="2800" dirty="0" smtClean="0"/>
              <a:t> Risk</a:t>
            </a:r>
            <a:endParaRPr lang="en-US" sz="28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800" dirty="0"/>
              <a:t>CAPM is calculated according to the following </a:t>
            </a:r>
            <a:r>
              <a:rPr lang="en-US" sz="2800" dirty="0" smtClean="0"/>
              <a:t>formula</a:t>
            </a:r>
          </a:p>
          <a:p>
            <a:pPr marL="0" indent="0">
              <a:buNone/>
            </a:pPr>
            <a:r>
              <a:rPr lang="en-US" sz="2800" dirty="0"/>
              <a:t>Ra=</a:t>
            </a:r>
            <a:r>
              <a:rPr lang="en-US" sz="2800" dirty="0" err="1"/>
              <a:t>Rrf+Ba</a:t>
            </a:r>
            <a:r>
              <a:rPr lang="en-US" sz="2800" dirty="0"/>
              <a:t>(</a:t>
            </a:r>
            <a:r>
              <a:rPr lang="en-US" sz="2800" dirty="0" err="1"/>
              <a:t>Rm-Rrf</a:t>
            </a:r>
            <a:r>
              <a:rPr lang="en-US" sz="2800" dirty="0" smtClean="0"/>
              <a:t>)</a:t>
            </a:r>
          </a:p>
          <a:p>
            <a:pPr marL="0" indent="0">
              <a:buNone/>
            </a:pPr>
            <a:r>
              <a:rPr lang="en-US" sz="2800" dirty="0" smtClean="0"/>
              <a:t>Where</a:t>
            </a:r>
          </a:p>
          <a:p>
            <a:r>
              <a:rPr lang="en-US" sz="2800" dirty="0"/>
              <a:t>Ra = Expected return on a security</a:t>
            </a:r>
          </a:p>
          <a:p>
            <a:r>
              <a:rPr lang="en-US" sz="2800" dirty="0" err="1"/>
              <a:t>Rrf</a:t>
            </a:r>
            <a:r>
              <a:rPr lang="en-US" sz="2800" dirty="0"/>
              <a:t> = Risk-free rate</a:t>
            </a:r>
          </a:p>
          <a:p>
            <a:r>
              <a:rPr lang="en-US" sz="2800" dirty="0"/>
              <a:t>Ba = Beta of the security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74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553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Expected return = Risk free rate+ (Beta x Market risk premium)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Rm</a:t>
            </a:r>
            <a:r>
              <a:rPr lang="en-US" dirty="0" smtClean="0"/>
              <a:t> </a:t>
            </a:r>
            <a:r>
              <a:rPr lang="en-US" dirty="0"/>
              <a:t>= Expected return of the market</a:t>
            </a:r>
          </a:p>
          <a:p>
            <a:r>
              <a:rPr lang="en-US" dirty="0"/>
              <a:t>Note: “Risk Premium” = (</a:t>
            </a:r>
            <a:r>
              <a:rPr lang="en-US" dirty="0" err="1"/>
              <a:t>Rm</a:t>
            </a:r>
            <a:r>
              <a:rPr lang="en-US" dirty="0"/>
              <a:t> – </a:t>
            </a:r>
            <a:r>
              <a:rPr lang="en-US" dirty="0" err="1"/>
              <a:t>Rrf</a:t>
            </a:r>
            <a:r>
              <a:rPr lang="en-US" dirty="0"/>
              <a:t>)</a:t>
            </a:r>
          </a:p>
          <a:p>
            <a:r>
              <a:rPr lang="en-US" sz="2400" dirty="0"/>
              <a:t>The CAPM formula is used for calculating the expected returns of an asset. It is based on </a:t>
            </a:r>
            <a:r>
              <a:rPr lang="en-US" sz="2400" dirty="0" smtClean="0"/>
              <a:t>the idea </a:t>
            </a:r>
            <a:r>
              <a:rPr lang="en-US" sz="2400" dirty="0"/>
              <a:t>of systematic risk (otherwise known as non-diversifiable risk) that investors need to </a:t>
            </a:r>
            <a:r>
              <a:rPr lang="en-US" sz="2400" dirty="0" smtClean="0"/>
              <a:t>be compensated </a:t>
            </a:r>
            <a:r>
              <a:rPr lang="en-US" sz="2400" dirty="0"/>
              <a:t>for in the form of a risk premium. A risk premium is a rate of return greater than </a:t>
            </a:r>
            <a:r>
              <a:rPr lang="en-US" sz="2400" dirty="0" smtClean="0"/>
              <a:t>the risk-free </a:t>
            </a:r>
            <a:r>
              <a:rPr lang="en-US" sz="2400" dirty="0"/>
              <a:t>rate. When investing, investors desire a higher risk premium when taking on more </a:t>
            </a:r>
            <a:r>
              <a:rPr lang="en-US" sz="2400" dirty="0" smtClean="0"/>
              <a:t>risky investment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046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68680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759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763000" cy="6477000"/>
          </a:xfrm>
        </p:spPr>
        <p:txBody>
          <a:bodyPr>
            <a:normAutofit/>
          </a:bodyPr>
          <a:lstStyle/>
          <a:p>
            <a:r>
              <a:rPr lang="en-US" sz="2400" dirty="0"/>
              <a:t>Let’s calculate the expected return on a stock, using the Capital Asset Pricing Model (</a:t>
            </a:r>
            <a:r>
              <a:rPr lang="en-US" sz="2400" dirty="0" smtClean="0"/>
              <a:t>CAPM)formula</a:t>
            </a:r>
            <a:r>
              <a:rPr lang="en-US" sz="2400" dirty="0"/>
              <a:t>. Suppose the following information about a stock is known:</a:t>
            </a:r>
          </a:p>
          <a:p>
            <a:pPr marL="0" indent="0">
              <a:buNone/>
            </a:pPr>
            <a:r>
              <a:rPr lang="en-US" sz="2400" dirty="0" smtClean="0"/>
              <a:t>It </a:t>
            </a:r>
            <a:r>
              <a:rPr lang="en-US" sz="2400" dirty="0"/>
              <a:t>trades on the NYSE and its operations are based in the United </a:t>
            </a:r>
            <a:r>
              <a:rPr lang="en-US" sz="2400" dirty="0" smtClean="0"/>
              <a:t>States  Current </a:t>
            </a:r>
            <a:r>
              <a:rPr lang="en-US" sz="2400" dirty="0"/>
              <a:t>yield on a U.S. 10-year treasury is 2.5%</a:t>
            </a:r>
          </a:p>
          <a:p>
            <a:pPr marL="0" indent="0">
              <a:buNone/>
            </a:pPr>
            <a:r>
              <a:rPr lang="en-US" sz="2400" dirty="0" smtClean="0"/>
              <a:t>The </a:t>
            </a:r>
            <a:r>
              <a:rPr lang="en-US" sz="2400" dirty="0"/>
              <a:t>average excess historical annual return for U.S. stocks is 7.5%</a:t>
            </a:r>
          </a:p>
          <a:p>
            <a:pPr marL="0" indent="0">
              <a:buNone/>
            </a:pPr>
            <a:r>
              <a:rPr lang="en-US" sz="2400" dirty="0" smtClean="0"/>
              <a:t>The </a:t>
            </a:r>
            <a:r>
              <a:rPr lang="en-US" sz="2400" dirty="0"/>
              <a:t>beta of the stock is 1.25 (meaning its average return is 1.25x as volatile as </a:t>
            </a:r>
            <a:r>
              <a:rPr lang="en-US" sz="2400" dirty="0" smtClean="0"/>
              <a:t>the S&amp;P500 </a:t>
            </a:r>
            <a:r>
              <a:rPr lang="en-US" sz="2400" dirty="0"/>
              <a:t>over the last 2 </a:t>
            </a:r>
            <a:r>
              <a:rPr lang="en-US" sz="2400" dirty="0" smtClean="0"/>
              <a:t>years</a:t>
            </a:r>
          </a:p>
          <a:p>
            <a:r>
              <a:rPr lang="en-US" sz="2400" dirty="0"/>
              <a:t>What is the expected return of the security using the CAPM formula?</a:t>
            </a:r>
          </a:p>
          <a:p>
            <a:r>
              <a:rPr lang="en-US" sz="2400" dirty="0"/>
              <a:t>Let’s break down the answer using the formula from above in the article:</a:t>
            </a:r>
          </a:p>
          <a:p>
            <a:pPr marL="0" indent="0">
              <a:buNone/>
            </a:pPr>
            <a:r>
              <a:rPr lang="en-US" sz="2400" dirty="0" smtClean="0"/>
              <a:t>Expected </a:t>
            </a:r>
            <a:r>
              <a:rPr lang="en-US" sz="2400" dirty="0"/>
              <a:t>return = Risk Free Rate + [Beta x Market Return Premium]</a:t>
            </a:r>
          </a:p>
          <a:p>
            <a:r>
              <a:rPr lang="en-US" sz="2400" dirty="0" smtClean="0"/>
              <a:t>Expected </a:t>
            </a:r>
            <a:r>
              <a:rPr lang="en-US" sz="2400" dirty="0"/>
              <a:t>return = 2.5% + [1.25 x 7.5%]</a:t>
            </a:r>
          </a:p>
          <a:p>
            <a:r>
              <a:rPr lang="en-US" sz="2400" dirty="0" smtClean="0"/>
              <a:t>Expected </a:t>
            </a:r>
            <a:r>
              <a:rPr lang="en-US" sz="2400" dirty="0"/>
              <a:t>return = 11.9%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example 2, imagine an investor is </a:t>
            </a:r>
            <a:r>
              <a:rPr lang="en-US" dirty="0" smtClean="0"/>
              <a:t>contemplating </a:t>
            </a:r>
            <a:r>
              <a:rPr lang="en-US" dirty="0"/>
              <a:t>a stock worth $100 per share today </a:t>
            </a:r>
            <a:r>
              <a:rPr lang="en-US" dirty="0" smtClean="0"/>
              <a:t>that pays </a:t>
            </a:r>
            <a:r>
              <a:rPr lang="en-US" dirty="0"/>
              <a:t>a 3% annual dividend. The stock has a beta compared to the market of 1.3, which means </a:t>
            </a:r>
            <a:r>
              <a:rPr lang="en-US" dirty="0" smtClean="0"/>
              <a:t>it is </a:t>
            </a:r>
            <a:r>
              <a:rPr lang="en-US" dirty="0"/>
              <a:t>riskier than a market portfolio. Also, assume that the risk-free rate is 3% and this </a:t>
            </a:r>
            <a:r>
              <a:rPr lang="en-US" dirty="0" smtClean="0"/>
              <a:t>investor expects </a:t>
            </a:r>
            <a:r>
              <a:rPr lang="en-US" dirty="0"/>
              <a:t>the market to rise in value by 8% per year.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expected return of the stock based on the CAPM formula is </a:t>
            </a:r>
          </a:p>
          <a:p>
            <a:r>
              <a:rPr lang="en-US" dirty="0" err="1"/>
              <a:t>ERi</a:t>
            </a:r>
            <a:r>
              <a:rPr lang="en-US" dirty="0"/>
              <a:t>= 3%+1.3 × (8%−3) =9.5%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83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 dirty="0" smtClean="0"/>
              <a:t>3-The </a:t>
            </a:r>
            <a:r>
              <a:rPr lang="en-US" dirty="0"/>
              <a:t>beta of </a:t>
            </a:r>
            <a:r>
              <a:rPr lang="en-US" dirty="0" err="1"/>
              <a:t>McGrow</a:t>
            </a:r>
            <a:r>
              <a:rPr lang="en-US" dirty="0"/>
              <a:t> Co. is 1.2. The risk-free rate is 3.5 percent and the expected return on the market is 8 percent. What is the stock’s required return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dirty="0" smtClean="0"/>
              <a:t>Solution</a:t>
            </a:r>
          </a:p>
          <a:p>
            <a:r>
              <a:rPr lang="en-US" dirty="0" smtClean="0"/>
              <a:t>E(R</a:t>
            </a:r>
            <a:r>
              <a:rPr lang="en-US" dirty="0"/>
              <a:t>) = k=</a:t>
            </a:r>
            <a:r>
              <a:rPr lang="en-US" dirty="0" err="1"/>
              <a:t>Rf</a:t>
            </a:r>
            <a:r>
              <a:rPr lang="en-US" dirty="0"/>
              <a:t>+ beta * (</a:t>
            </a:r>
            <a:r>
              <a:rPr lang="en-US" dirty="0" err="1"/>
              <a:t>Rm-Rf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=3.5</a:t>
            </a:r>
            <a:r>
              <a:rPr lang="en-US" dirty="0"/>
              <a:t>%+1.2 * (8%-3.5%) =8.9%</a:t>
            </a:r>
          </a:p>
        </p:txBody>
      </p:sp>
    </p:spTree>
    <p:extLst>
      <p:ext uri="{BB962C8B-B14F-4D97-AF65-F5344CB8AC3E}">
        <p14:creationId xmlns:p14="http://schemas.microsoft.com/office/powerpoint/2010/main" val="575286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629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Advantages of the CAPM</a:t>
            </a:r>
          </a:p>
          <a:p>
            <a:pPr algn="just"/>
            <a:r>
              <a:rPr lang="en-US" dirty="0"/>
              <a:t>The CAPM has several advantages over other methods of calculating required return, </a:t>
            </a:r>
            <a:r>
              <a:rPr lang="en-US" dirty="0" smtClean="0"/>
              <a:t>explaining why </a:t>
            </a:r>
            <a:r>
              <a:rPr lang="en-US" dirty="0"/>
              <a:t>it has been popular for more than 40 years: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considers only systematic risk, reflecting a reality in which most investors </a:t>
            </a:r>
            <a:r>
              <a:rPr lang="en-US" dirty="0" smtClean="0"/>
              <a:t>have diversified </a:t>
            </a:r>
            <a:r>
              <a:rPr lang="en-US" dirty="0"/>
              <a:t>portfolios from which unsystematic risk has been essentially </a:t>
            </a:r>
            <a:r>
              <a:rPr lang="en-US" dirty="0" smtClean="0"/>
              <a:t>eliminated. It </a:t>
            </a:r>
            <a:r>
              <a:rPr lang="en-US" dirty="0"/>
              <a:t>is a theoretically-derived relationship between required return and systematic </a:t>
            </a:r>
            <a:r>
              <a:rPr lang="en-US" dirty="0" smtClean="0"/>
              <a:t>risk which </a:t>
            </a:r>
            <a:r>
              <a:rPr lang="en-US" dirty="0"/>
              <a:t>has been subject to frequent empirical research and testing.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generally seen as a much better method of calculating the cost of equity than </a:t>
            </a:r>
            <a:r>
              <a:rPr lang="en-US" dirty="0" smtClean="0"/>
              <a:t>the dividend </a:t>
            </a:r>
            <a:r>
              <a:rPr lang="en-US" dirty="0"/>
              <a:t>growth model (DGM) in that it explicitly considers a company’s level </a:t>
            </a:r>
            <a:r>
              <a:rPr lang="en-US" dirty="0" err="1" smtClean="0"/>
              <a:t>ofsystematic</a:t>
            </a:r>
            <a:r>
              <a:rPr lang="en-US" dirty="0" smtClean="0"/>
              <a:t> </a:t>
            </a:r>
            <a:r>
              <a:rPr lang="en-US" dirty="0"/>
              <a:t>risk relative to the stock market as a whole.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clearly superior to the WACC in providing discount rates for use in </a:t>
            </a:r>
            <a:r>
              <a:rPr lang="en-US" dirty="0" smtClean="0"/>
              <a:t>investment appraisal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28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8915400" cy="647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Disadvantages of the </a:t>
            </a:r>
            <a:r>
              <a:rPr lang="en-US" dirty="0" smtClean="0"/>
              <a:t>CAPM</a:t>
            </a:r>
          </a:p>
          <a:p>
            <a:pPr marL="0" indent="0">
              <a:buNone/>
            </a:pPr>
            <a:r>
              <a:rPr lang="en-US" sz="2400" dirty="0" smtClean="0"/>
              <a:t>-To </a:t>
            </a:r>
            <a:r>
              <a:rPr lang="en-US" sz="2400" dirty="0"/>
              <a:t>use the CAPM, values need to be assigned to the risk-free rate of return, the return on </a:t>
            </a:r>
            <a:r>
              <a:rPr lang="en-US" sz="2400" dirty="0" smtClean="0"/>
              <a:t>the market</a:t>
            </a:r>
            <a:r>
              <a:rPr lang="en-US" sz="2400" dirty="0"/>
              <a:t>, or the equity risk premium (ERP), and the equity beta.</a:t>
            </a:r>
          </a:p>
          <a:p>
            <a:pPr marL="0" indent="0">
              <a:buNone/>
            </a:pPr>
            <a:r>
              <a:rPr lang="en-US" sz="2400" dirty="0" smtClean="0"/>
              <a:t>-The </a:t>
            </a:r>
            <a:r>
              <a:rPr lang="en-US" sz="2400" dirty="0"/>
              <a:t>yield on short-term government debt, which is used as a substitute for the risk-free rate </a:t>
            </a:r>
            <a:r>
              <a:rPr lang="en-US" sz="2400" dirty="0" smtClean="0"/>
              <a:t>of return</a:t>
            </a:r>
            <a:r>
              <a:rPr lang="en-US" sz="2400" dirty="0"/>
              <a:t>, is not fixed but changes regularly with changing economic circumstances. A </a:t>
            </a:r>
            <a:r>
              <a:rPr lang="en-US" sz="2400" dirty="0" smtClean="0"/>
              <a:t>short-term average </a:t>
            </a:r>
            <a:r>
              <a:rPr lang="en-US" sz="2400" dirty="0"/>
              <a:t>value can be used to smooth out this volatility.</a:t>
            </a:r>
          </a:p>
          <a:p>
            <a:pPr marL="0" indent="0">
              <a:buNone/>
            </a:pPr>
            <a:r>
              <a:rPr lang="en-US" sz="2400" dirty="0" smtClean="0"/>
              <a:t>- Finding </a:t>
            </a:r>
            <a:r>
              <a:rPr lang="en-US" sz="2400" dirty="0"/>
              <a:t>a value for the equity risk premium (ERP) is more difficult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 smtClean="0"/>
              <a:t>- Beta </a:t>
            </a:r>
            <a:r>
              <a:rPr lang="en-US" sz="2400" dirty="0"/>
              <a:t>values are now calculated and published regularly for all stock exchange-listed </a:t>
            </a:r>
            <a:r>
              <a:rPr lang="en-US" sz="2400" dirty="0" smtClean="0"/>
              <a:t>companies. The </a:t>
            </a:r>
            <a:r>
              <a:rPr lang="en-US" sz="2400" dirty="0"/>
              <a:t>problem here is that uncertainty arises in the value of the expected return because the </a:t>
            </a:r>
            <a:r>
              <a:rPr lang="en-US" sz="2400" dirty="0" smtClean="0"/>
              <a:t>value of </a:t>
            </a:r>
            <a:r>
              <a:rPr lang="en-US" sz="2400" dirty="0"/>
              <a:t>beta is not constant, but changes over time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56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830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Capital Asset Pricing Model (CAPM)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Capital Asset Pricing Model (CAPM)</dc:title>
  <dc:creator>pc</dc:creator>
  <cp:lastModifiedBy>pc</cp:lastModifiedBy>
  <cp:revision>11</cp:revision>
  <dcterms:created xsi:type="dcterms:W3CDTF">2006-08-16T00:00:00Z</dcterms:created>
  <dcterms:modified xsi:type="dcterms:W3CDTF">2024-09-05T10:31:49Z</dcterms:modified>
</cp:coreProperties>
</file>