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4"/>
  </p:notesMasterIdLst>
  <p:sldIdLst>
    <p:sldId id="256" r:id="rId5"/>
    <p:sldId id="262" r:id="rId6"/>
    <p:sldId id="272" r:id="rId7"/>
    <p:sldId id="265" r:id="rId8"/>
    <p:sldId id="273" r:id="rId9"/>
    <p:sldId id="268" r:id="rId10"/>
    <p:sldId id="274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72"/>
            <p14:sldId id="265"/>
            <p14:sldId id="273"/>
            <p14:sldId id="268"/>
            <p14:sldId id="274"/>
            <p14:sldId id="270"/>
            <p14:sldId id="271"/>
          </p14:sldIdLst>
        </p14:section>
        <p14:section name="Learn More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467F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>
        <p:scale>
          <a:sx n="75" d="100"/>
          <a:sy n="75" d="100"/>
        </p:scale>
        <p:origin x="974" y="33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ownloads\cdn-dynmedia-1.microsoft.com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E:\Downloads\cdn-dynmedia-1.microsoft.com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'[cdn-dynmedia-1.microsoft.com.xlsx]ComparativeBalance Sheets'!$B$6</c:f>
              <c:strCache>
                <c:ptCount val="1"/>
                <c:pt idx="0">
                  <c:v>June 30, 2022</c:v>
                </c:pt>
              </c:strCache>
            </c:strRef>
          </c:tx>
          <c:spPr>
            <a:solidFill>
              <a:srgbClr val="1A467F"/>
            </a:solidFill>
            <a:ln>
              <a:noFill/>
            </a:ln>
            <a:effectLst/>
          </c:spPr>
          <c:invertIfNegative val="0"/>
          <c:cat>
            <c:strRef>
              <c:f>'[cdn-dynmedia-1.microsoft.com.xlsx]ComparativeBalance Sheets'!$A$22,'[cdn-dynmedia-1.microsoft.com.xlsx]ComparativeBalance Sheets'!$A$38,'[cdn-dynmedia-1.microsoft.com.xlsx]ComparativeBalance Sheets'!$A$44</c:f>
              <c:strCache>
                <c:ptCount val="3"/>
                <c:pt idx="0">
                  <c:v>            Total assets</c:v>
                </c:pt>
                <c:pt idx="1">
                  <c:v>         Total liabilities</c:v>
                </c:pt>
                <c:pt idx="2">
                  <c:v>         Total stockholders' equity</c:v>
                </c:pt>
              </c:strCache>
            </c:strRef>
          </c:cat>
          <c:val>
            <c:numRef>
              <c:f>'[cdn-dynmedia-1.microsoft.com.xlsx]ComparativeBalance Sheets'!$B$22,'[cdn-dynmedia-1.microsoft.com.xlsx]ComparativeBalance Sheets'!$B$38,'[cdn-dynmedia-1.microsoft.com.xlsx]ComparativeBalance Sheets'!$B$44</c:f>
              <c:numCache>
                <c:formatCode>#,##0_);\(#,##0\)</c:formatCode>
                <c:ptCount val="3"/>
                <c:pt idx="0" formatCode="_(&quot;$&quot;#,##0_);_(&quot;$&quot;\(#,##0\);_(@_)">
                  <c:v>364840</c:v>
                </c:pt>
                <c:pt idx="1">
                  <c:v>198298</c:v>
                </c:pt>
                <c:pt idx="2">
                  <c:v>166542</c:v>
                </c:pt>
              </c:numCache>
            </c:numRef>
          </c:val>
        </c:ser>
        <c:ser>
          <c:idx val="1"/>
          <c:order val="1"/>
          <c:tx>
            <c:strRef>
              <c:f>'[cdn-dynmedia-1.microsoft.com.xlsx]ComparativeBalance Sheets'!$C$6</c:f>
              <c:strCache>
                <c:ptCount val="1"/>
                <c:pt idx="0">
                  <c:v>June 30,
2023</c:v>
                </c:pt>
              </c:strCache>
            </c:strRef>
          </c:tx>
          <c:spPr>
            <a:solidFill>
              <a:schemeClr val="accent1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'[cdn-dynmedia-1.microsoft.com.xlsx]ComparativeBalance Sheets'!$A$22,'[cdn-dynmedia-1.microsoft.com.xlsx]ComparativeBalance Sheets'!$A$38,'[cdn-dynmedia-1.microsoft.com.xlsx]ComparativeBalance Sheets'!$A$44</c:f>
              <c:strCache>
                <c:ptCount val="3"/>
                <c:pt idx="0">
                  <c:v>            Total assets</c:v>
                </c:pt>
                <c:pt idx="1">
                  <c:v>         Total liabilities</c:v>
                </c:pt>
                <c:pt idx="2">
                  <c:v>         Total stockholders' equity</c:v>
                </c:pt>
              </c:strCache>
            </c:strRef>
          </c:cat>
          <c:val>
            <c:numRef>
              <c:f>'[cdn-dynmedia-1.microsoft.com.xlsx]ComparativeBalance Sheets'!$C$22,'[cdn-dynmedia-1.microsoft.com.xlsx]ComparativeBalance Sheets'!$C$38,'[cdn-dynmedia-1.microsoft.com.xlsx]ComparativeBalance Sheets'!$C$44</c:f>
              <c:numCache>
                <c:formatCode>#,##0_);\(#,##0\)</c:formatCode>
                <c:ptCount val="3"/>
                <c:pt idx="0" formatCode="_(&quot;$&quot;#,##0_);_(&quot;$&quot;\(#,##0\);_(@_)">
                  <c:v>411976</c:v>
                </c:pt>
                <c:pt idx="1">
                  <c:v>205753</c:v>
                </c:pt>
                <c:pt idx="2">
                  <c:v>206223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93163408"/>
        <c:axId val="393160272"/>
      </c:barChart>
      <c:catAx>
        <c:axId val="393163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3160272"/>
        <c:crosses val="autoZero"/>
        <c:auto val="1"/>
        <c:lblAlgn val="ctr"/>
        <c:lblOffset val="100"/>
        <c:noMultiLvlLbl val="0"/>
      </c:catAx>
      <c:valAx>
        <c:axId val="393160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#,##0_);_(&quot;$&quot;\(#,##0\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931634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Debt and</a:t>
            </a:r>
            <a:r>
              <a:rPr lang="en-US" baseline="0"/>
              <a:t> Retained Earnings</a:t>
            </a:r>
            <a:endParaRPr lang="en-US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'[cdn-dynmedia-1.microsoft.com.xlsx]ComparativeBalance Sheets'!$A$32</c:f>
              <c:strCache>
                <c:ptCount val="1"/>
                <c:pt idx="0">
                  <c:v>Long-term debt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strRef>
              <c:f>'[cdn-dynmedia-1.microsoft.com.xlsx]ComparativeBalance Sheets'!$B$6:$C$6</c:f>
              <c:strCache>
                <c:ptCount val="2"/>
                <c:pt idx="0">
                  <c:v>June 30, 2022</c:v>
                </c:pt>
                <c:pt idx="1">
                  <c:v>June 30,
2023</c:v>
                </c:pt>
              </c:strCache>
            </c:strRef>
          </c:cat>
          <c:val>
            <c:numRef>
              <c:f>'[cdn-dynmedia-1.microsoft.com.xlsx]ComparativeBalance Sheets'!$B$32:$C$32</c:f>
              <c:numCache>
                <c:formatCode>#,##0_);\(#,##0\)</c:formatCode>
                <c:ptCount val="2"/>
                <c:pt idx="0">
                  <c:v>47032</c:v>
                </c:pt>
                <c:pt idx="1">
                  <c:v>41990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'[cdn-dynmedia-1.microsoft.com.xlsx]ComparativeBalance Sheets'!$A$42</c:f>
              <c:strCache>
                <c:ptCount val="1"/>
                <c:pt idx="0">
                  <c:v>   Retained earnings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'[cdn-dynmedia-1.microsoft.com.xlsx]ComparativeBalance Sheets'!$B$6:$C$6</c:f>
              <c:strCache>
                <c:ptCount val="2"/>
                <c:pt idx="0">
                  <c:v>June 30, 2022</c:v>
                </c:pt>
                <c:pt idx="1">
                  <c:v>June 30,
2023</c:v>
                </c:pt>
              </c:strCache>
            </c:strRef>
          </c:cat>
          <c:val>
            <c:numRef>
              <c:f>'[cdn-dynmedia-1.microsoft.com.xlsx]ComparativeBalance Sheets'!$B$42:$C$42</c:f>
              <c:numCache>
                <c:formatCode>#,##0_);\(#,##0\)</c:formatCode>
                <c:ptCount val="2"/>
                <c:pt idx="0">
                  <c:v>84281</c:v>
                </c:pt>
                <c:pt idx="1">
                  <c:v>118848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'[cdn-dynmedia-1.microsoft.com.xlsx]ComparativeBalance Sheets'!$A$26</c:f>
              <c:strCache>
                <c:ptCount val="1"/>
                <c:pt idx="0">
                  <c:v>   Current portion of long-term debt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3"/>
              </a:solidFill>
              <a:ln w="9525">
                <a:solidFill>
                  <a:schemeClr val="accent3"/>
                </a:solidFill>
              </a:ln>
              <a:effectLst/>
            </c:spPr>
          </c:marker>
          <c:cat>
            <c:strRef>
              <c:f>'[cdn-dynmedia-1.microsoft.com.xlsx]ComparativeBalance Sheets'!$B$6:$C$6</c:f>
              <c:strCache>
                <c:ptCount val="2"/>
                <c:pt idx="0">
                  <c:v>June 30, 2022</c:v>
                </c:pt>
                <c:pt idx="1">
                  <c:v>June 30,
2023</c:v>
                </c:pt>
              </c:strCache>
            </c:strRef>
          </c:cat>
          <c:val>
            <c:numRef>
              <c:f>'[cdn-dynmedia-1.microsoft.com.xlsx]ComparativeBalance Sheets'!$B$26:$C$26</c:f>
              <c:numCache>
                <c:formatCode>#,##0_);\(#,##0\)</c:formatCode>
                <c:ptCount val="2"/>
                <c:pt idx="0">
                  <c:v>2749</c:v>
                </c:pt>
                <c:pt idx="1">
                  <c:v>5247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40117352"/>
        <c:axId val="740116960"/>
      </c:lineChart>
      <c:catAx>
        <c:axId val="740117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116960"/>
        <c:crosses val="autoZero"/>
        <c:auto val="1"/>
        <c:lblAlgn val="ctr"/>
        <c:lblOffset val="100"/>
        <c:noMultiLvlLbl val="0"/>
      </c:catAx>
      <c:valAx>
        <c:axId val="7401169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\(#,##0\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40117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3/13/2025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1561381"/>
            <a:ext cx="10515600" cy="28872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tx1"/>
                </a:solidFill>
              </a:rPr>
              <a:t>Microsoft </a:t>
            </a:r>
            <a:r>
              <a:rPr lang="en-US" dirty="0" smtClean="0">
                <a:solidFill>
                  <a:schemeClr val="tx1"/>
                </a:solidFill>
              </a:rPr>
              <a:t/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Financial Statements 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Evaluation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By</a:t>
            </a:r>
          </a:p>
          <a:p>
            <a:r>
              <a:rPr lang="en-US" dirty="0" smtClean="0">
                <a:solidFill>
                  <a:schemeClr val="tx1"/>
                </a:solidFill>
              </a:rPr>
              <a:t>22071A3258 – Tejasree Lokireddy</a:t>
            </a:r>
          </a:p>
        </p:txBody>
      </p:sp>
      <p:pic>
        <p:nvPicPr>
          <p:cNvPr id="1036" name="Picture 12" descr="microsoft-logo - Great Minds Event Managemen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1" y="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Comparative Balance Sheet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751936" y="1714338"/>
            <a:ext cx="3738783" cy="3457102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Strong Cash </a:t>
            </a:r>
            <a:r>
              <a:rPr lang="en-US" b="1" dirty="0" smtClean="0">
                <a:solidFill>
                  <a:schemeClr val="tx1"/>
                </a:solidFill>
              </a:rPr>
              <a:t>Position: Cash </a:t>
            </a:r>
            <a:r>
              <a:rPr lang="en-US" b="1" dirty="0">
                <a:solidFill>
                  <a:schemeClr val="tx1"/>
                </a:solidFill>
              </a:rPr>
              <a:t>&amp; cash equivalents increased 149%, </a:t>
            </a:r>
            <a:r>
              <a:rPr lang="en-US" dirty="0">
                <a:solidFill>
                  <a:schemeClr val="tx1"/>
                </a:solidFill>
              </a:rPr>
              <a:t>improving liquidity for operations and investments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Higher Investment in </a:t>
            </a:r>
            <a:r>
              <a:rPr lang="en-US" b="1" dirty="0" smtClean="0">
                <a:solidFill>
                  <a:schemeClr val="tx1"/>
                </a:solidFill>
              </a:rPr>
              <a:t>Infrastructure: Property </a:t>
            </a:r>
            <a:r>
              <a:rPr lang="en-US" b="1" dirty="0">
                <a:solidFill>
                  <a:schemeClr val="tx1"/>
                </a:solidFill>
              </a:rPr>
              <a:t>&amp; equipment grew by 28.5%, </a:t>
            </a:r>
            <a:r>
              <a:rPr lang="en-US" dirty="0">
                <a:solidFill>
                  <a:schemeClr val="tx1"/>
                </a:solidFill>
              </a:rPr>
              <a:t>indicating expansion in cloud and AI capabilities.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7580" y="1471204"/>
            <a:ext cx="7233267" cy="3943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Comparative Balance Sheet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751936" y="1714338"/>
            <a:ext cx="3738783" cy="345710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Debt </a:t>
            </a:r>
            <a:r>
              <a:rPr lang="en-US" b="1" dirty="0">
                <a:solidFill>
                  <a:schemeClr val="tx1"/>
                </a:solidFill>
              </a:rPr>
              <a:t>Reduction Strengthens Financial </a:t>
            </a:r>
            <a:r>
              <a:rPr lang="en-US" b="1" dirty="0" smtClean="0">
                <a:solidFill>
                  <a:schemeClr val="tx1"/>
                </a:solidFill>
              </a:rPr>
              <a:t>Health: Long-term </a:t>
            </a:r>
            <a:r>
              <a:rPr lang="en-US" b="1" dirty="0">
                <a:solidFill>
                  <a:schemeClr val="tx1"/>
                </a:solidFill>
              </a:rPr>
              <a:t>debt declined by 10.7%</a:t>
            </a:r>
            <a:r>
              <a:rPr lang="en-US" dirty="0">
                <a:solidFill>
                  <a:schemeClr val="tx1"/>
                </a:solidFill>
              </a:rPr>
              <a:t>, lowering leverage and interest obligations.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Stronger Equity Base: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Retained </a:t>
            </a:r>
            <a:r>
              <a:rPr lang="en-US" b="1" dirty="0">
                <a:solidFill>
                  <a:schemeClr val="tx1"/>
                </a:solidFill>
              </a:rPr>
              <a:t>earnings rose by 41%</a:t>
            </a:r>
            <a:r>
              <a:rPr lang="en-US" dirty="0">
                <a:solidFill>
                  <a:schemeClr val="tx1"/>
                </a:solidFill>
              </a:rPr>
              <a:t>, reflecting high profitability and reinvestment capacity.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800" y="1614635"/>
            <a:ext cx="7172960" cy="448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0110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Commo</a:t>
            </a:r>
            <a:r>
              <a:rPr lang="en-US" dirty="0" smtClean="0">
                <a:solidFill>
                  <a:schemeClr val="tx1"/>
                </a:solidFill>
              </a:rPr>
              <a:t>n Size</a:t>
            </a:r>
            <a:r>
              <a:rPr lang="en-US" dirty="0" smtClean="0">
                <a:solidFill>
                  <a:schemeClr val="tx1"/>
                </a:solidFill>
              </a:rPr>
              <a:t> Balance Sheet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2593" y="1906733"/>
            <a:ext cx="7138174" cy="3641272"/>
          </a:xfrm>
          <a:prstGeom prst="rect">
            <a:avLst/>
          </a:prstGeom>
        </p:spPr>
      </p:pic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751936" y="1998818"/>
            <a:ext cx="3738783" cy="345710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Cash Reserves Nearly Doubled</a:t>
            </a:r>
            <a:r>
              <a:rPr lang="en-US" dirty="0" smtClean="0">
                <a:solidFill>
                  <a:schemeClr val="tx1"/>
                </a:solidFill>
              </a:rPr>
              <a:t>: Cash </a:t>
            </a:r>
            <a:r>
              <a:rPr lang="en-US" dirty="0">
                <a:solidFill>
                  <a:schemeClr val="tx1"/>
                </a:solidFill>
              </a:rPr>
              <a:t>&amp; cash equivalents grew from </a:t>
            </a:r>
            <a:r>
              <a:rPr lang="en-US" b="1" dirty="0">
                <a:solidFill>
                  <a:schemeClr val="tx1"/>
                </a:solidFill>
              </a:rPr>
              <a:t>3.82% to 8.42% </a:t>
            </a:r>
            <a:r>
              <a:rPr lang="en-US" dirty="0">
                <a:solidFill>
                  <a:schemeClr val="tx1"/>
                </a:solidFill>
              </a:rPr>
              <a:t>of total assets, improving short-term liquidity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Reduced </a:t>
            </a:r>
            <a:r>
              <a:rPr lang="en-US" b="1" dirty="0">
                <a:solidFill>
                  <a:schemeClr val="tx1"/>
                </a:solidFill>
              </a:rPr>
              <a:t>Short-term Investments</a:t>
            </a:r>
            <a:r>
              <a:rPr lang="en-US" b="1" dirty="0" smtClean="0">
                <a:solidFill>
                  <a:schemeClr val="tx1"/>
                </a:solidFill>
              </a:rPr>
              <a:t>: </a:t>
            </a:r>
            <a:r>
              <a:rPr lang="en-US" dirty="0" smtClean="0">
                <a:solidFill>
                  <a:schemeClr val="tx1"/>
                </a:solidFill>
              </a:rPr>
              <a:t>Short-term </a:t>
            </a:r>
            <a:r>
              <a:rPr lang="en-US" dirty="0">
                <a:solidFill>
                  <a:schemeClr val="tx1"/>
                </a:solidFill>
              </a:rPr>
              <a:t>investments dropped from </a:t>
            </a:r>
            <a:r>
              <a:rPr lang="en-US" b="1" dirty="0">
                <a:solidFill>
                  <a:schemeClr val="tx1"/>
                </a:solidFill>
              </a:rPr>
              <a:t>24.9% to 18.6%, </a:t>
            </a:r>
            <a:r>
              <a:rPr lang="en-US" dirty="0">
                <a:solidFill>
                  <a:schemeClr val="tx1"/>
                </a:solidFill>
              </a:rPr>
              <a:t>indicating a shift toward liquid assets.</a:t>
            </a:r>
          </a:p>
        </p:txBody>
      </p:sp>
    </p:spTree>
    <p:extLst>
      <p:ext uri="{BB962C8B-B14F-4D97-AF65-F5344CB8AC3E}">
        <p14:creationId xmlns:p14="http://schemas.microsoft.com/office/powerpoint/2010/main" val="614862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Commo</a:t>
            </a:r>
            <a:r>
              <a:rPr lang="en-US" dirty="0" smtClean="0">
                <a:solidFill>
                  <a:schemeClr val="tx1"/>
                </a:solidFill>
              </a:rPr>
              <a:t>n Size</a:t>
            </a:r>
            <a:r>
              <a:rPr lang="en-US" dirty="0" smtClean="0">
                <a:solidFill>
                  <a:schemeClr val="tx1"/>
                </a:solidFill>
              </a:rPr>
              <a:t> Balance Sheet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Content Placeholder 2"/>
          <p:cNvSpPr>
            <a:spLocks noGrp="1"/>
          </p:cNvSpPr>
          <p:nvPr>
            <p:ph idx="1"/>
          </p:nvPr>
        </p:nvSpPr>
        <p:spPr>
          <a:xfrm>
            <a:off x="751936" y="1998818"/>
            <a:ext cx="3738783" cy="345710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Lower Debt Proportion</a:t>
            </a:r>
            <a:r>
              <a:rPr lang="en-US" b="1" dirty="0" smtClean="0">
                <a:solidFill>
                  <a:schemeClr val="tx1"/>
                </a:solidFill>
              </a:rPr>
              <a:t>: </a:t>
            </a:r>
            <a:r>
              <a:rPr lang="en-US" dirty="0" smtClean="0">
                <a:solidFill>
                  <a:schemeClr val="tx1"/>
                </a:solidFill>
              </a:rPr>
              <a:t>Long-term </a:t>
            </a:r>
            <a:r>
              <a:rPr lang="en-US" dirty="0">
                <a:solidFill>
                  <a:schemeClr val="tx1"/>
                </a:solidFill>
              </a:rPr>
              <a:t>debt declined from </a:t>
            </a:r>
            <a:r>
              <a:rPr lang="en-US" b="1" dirty="0">
                <a:solidFill>
                  <a:schemeClr val="tx1"/>
                </a:solidFill>
              </a:rPr>
              <a:t>12.89% to 10.19%, </a:t>
            </a:r>
            <a:r>
              <a:rPr lang="en-US" dirty="0">
                <a:solidFill>
                  <a:schemeClr val="tx1"/>
                </a:solidFill>
              </a:rPr>
              <a:t>reducing financial risk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Higher </a:t>
            </a:r>
            <a:r>
              <a:rPr lang="en-US" b="1" dirty="0">
                <a:solidFill>
                  <a:schemeClr val="tx1"/>
                </a:solidFill>
              </a:rPr>
              <a:t>Equity Contribution</a:t>
            </a:r>
            <a:r>
              <a:rPr lang="en-US" b="1" dirty="0" smtClean="0">
                <a:solidFill>
                  <a:schemeClr val="tx1"/>
                </a:solidFill>
              </a:rPr>
              <a:t>: </a:t>
            </a:r>
            <a:r>
              <a:rPr lang="en-US" dirty="0" smtClean="0">
                <a:solidFill>
                  <a:schemeClr val="tx1"/>
                </a:solidFill>
              </a:rPr>
              <a:t>Stockholders</a:t>
            </a:r>
            <a:r>
              <a:rPr lang="en-US" dirty="0">
                <a:solidFill>
                  <a:schemeClr val="tx1"/>
                </a:solidFill>
              </a:rPr>
              <a:t>' equity rose from </a:t>
            </a:r>
            <a:r>
              <a:rPr lang="en-US" b="1" dirty="0">
                <a:solidFill>
                  <a:schemeClr val="tx1"/>
                </a:solidFill>
              </a:rPr>
              <a:t>45.63% to 50.04%,</a:t>
            </a:r>
            <a:r>
              <a:rPr lang="en-US" dirty="0">
                <a:solidFill>
                  <a:schemeClr val="tx1"/>
                </a:solidFill>
              </a:rPr>
              <a:t> reflecting stronger financial stability.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1571598"/>
            <a:ext cx="6746240" cy="5055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8279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71120"/>
            <a:ext cx="10749367" cy="120886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Trend Analysis –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Total Assets vs. Total Liabilities vs. Equity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2011681"/>
            <a:ext cx="4167753" cy="358330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tx1"/>
                </a:solidFill>
              </a:rPr>
              <a:t>Total Assets Up by 12.92%</a:t>
            </a:r>
            <a:r>
              <a:rPr lang="en-US" dirty="0">
                <a:solidFill>
                  <a:schemeClr val="tx1"/>
                </a:solidFill>
              </a:rPr>
              <a:t> – Business expansion and higher infrastructure </a:t>
            </a:r>
            <a:r>
              <a:rPr lang="en-US" dirty="0" smtClean="0">
                <a:solidFill>
                  <a:schemeClr val="tx1"/>
                </a:solidFill>
              </a:rPr>
              <a:t>investment.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Total </a:t>
            </a:r>
            <a:r>
              <a:rPr lang="en-US" b="1" dirty="0">
                <a:solidFill>
                  <a:schemeClr val="tx1"/>
                </a:solidFill>
              </a:rPr>
              <a:t>Liabilities Up by 3.76%</a:t>
            </a:r>
            <a:r>
              <a:rPr lang="en-US" dirty="0">
                <a:solidFill>
                  <a:schemeClr val="tx1"/>
                </a:solidFill>
              </a:rPr>
              <a:t> – Increase in short-term obligations, but reduced long-term </a:t>
            </a:r>
            <a:r>
              <a:rPr lang="en-US" dirty="0" smtClean="0">
                <a:solidFill>
                  <a:schemeClr val="tx1"/>
                </a:solidFill>
              </a:rPr>
              <a:t>debt.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Equity </a:t>
            </a:r>
            <a:r>
              <a:rPr lang="en-US" b="1" dirty="0">
                <a:solidFill>
                  <a:schemeClr val="tx1"/>
                </a:solidFill>
              </a:rPr>
              <a:t>Up by 23.83%</a:t>
            </a:r>
            <a:r>
              <a:rPr lang="en-US" dirty="0">
                <a:solidFill>
                  <a:schemeClr val="tx1"/>
                </a:solidFill>
              </a:rPr>
              <a:t> – Higher retained earnings and reinvestment for growth.</a:t>
            </a:r>
          </a:p>
        </p:txBody>
      </p:sp>
      <p:graphicFrame>
        <p:nvGraphicFramePr>
          <p:cNvPr id="5" name="Char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49096892"/>
              </p:ext>
            </p:extLst>
          </p:nvPr>
        </p:nvGraphicFramePr>
        <p:xfrm>
          <a:off x="5283200" y="1833880"/>
          <a:ext cx="6070601" cy="4445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528120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71120"/>
            <a:ext cx="10749367" cy="120886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Trend Analysis –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Debt reduction and Increased Earnings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7997530"/>
              </p:ext>
            </p:extLst>
          </p:nvPr>
        </p:nvGraphicFramePr>
        <p:xfrm>
          <a:off x="5760720" y="1803400"/>
          <a:ext cx="6035040" cy="405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Content Placeholder 2"/>
          <p:cNvSpPr txBox="1">
            <a:spLocks/>
          </p:cNvSpPr>
          <p:nvPr/>
        </p:nvSpPr>
        <p:spPr>
          <a:xfrm>
            <a:off x="838201" y="2743374"/>
            <a:ext cx="4167753" cy="2092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None/>
              <a:defRPr sz="16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ct val="30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mtClean="0">
                <a:solidFill>
                  <a:schemeClr val="tx1"/>
                </a:solidFill>
              </a:rPr>
              <a:t>Long-term debt reduced by 10.7%</a:t>
            </a:r>
            <a:r>
              <a:rPr lang="en-US" smtClean="0">
                <a:solidFill>
                  <a:schemeClr val="tx1"/>
                </a:solidFill>
              </a:rPr>
              <a:t>, signaling lower financial risk.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smtClean="0">
                <a:solidFill>
                  <a:schemeClr val="tx1"/>
                </a:solidFill>
              </a:rPr>
              <a:t>41% increase</a:t>
            </a:r>
            <a:r>
              <a:rPr lang="en-US" smtClean="0">
                <a:solidFill>
                  <a:schemeClr val="tx1"/>
                </a:solidFill>
              </a:rPr>
              <a:t> in retained earnings, highlighting strong profitability.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7186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71120"/>
            <a:ext cx="10749367" cy="120886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Trend Analysis </a:t>
            </a:r>
            <a:r>
              <a:rPr lang="en-US" dirty="0" smtClean="0">
                <a:solidFill>
                  <a:schemeClr val="tx1"/>
                </a:solidFill>
              </a:rPr>
              <a:t>–</a:t>
            </a:r>
            <a:br>
              <a:rPr lang="en-US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Asset Composition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041" y="1971040"/>
            <a:ext cx="5110480" cy="3952240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Increased </a:t>
            </a:r>
            <a:r>
              <a:rPr lang="en-US" b="1" dirty="0">
                <a:solidFill>
                  <a:schemeClr val="tx1"/>
                </a:solidFill>
              </a:rPr>
              <a:t>Cash Reserves</a:t>
            </a:r>
            <a:r>
              <a:rPr lang="en-US" dirty="0">
                <a:solidFill>
                  <a:schemeClr val="tx1"/>
                </a:solidFill>
              </a:rPr>
              <a:t> – More liquidity for strategic </a:t>
            </a:r>
            <a:r>
              <a:rPr lang="en-US" dirty="0" smtClean="0">
                <a:solidFill>
                  <a:schemeClr val="tx1"/>
                </a:solidFill>
              </a:rPr>
              <a:t>flexibility.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Lower </a:t>
            </a:r>
            <a:r>
              <a:rPr lang="en-US" b="1" dirty="0">
                <a:solidFill>
                  <a:schemeClr val="tx1"/>
                </a:solidFill>
              </a:rPr>
              <a:t>Short-term Investments</a:t>
            </a:r>
            <a:r>
              <a:rPr lang="en-US" dirty="0">
                <a:solidFill>
                  <a:schemeClr val="tx1"/>
                </a:solidFill>
              </a:rPr>
              <a:t> – Shift towards cash </a:t>
            </a:r>
            <a:r>
              <a:rPr lang="en-US" dirty="0" smtClean="0">
                <a:solidFill>
                  <a:schemeClr val="tx1"/>
                </a:solidFill>
              </a:rPr>
              <a:t>holdings </a:t>
            </a:r>
            <a:r>
              <a:rPr lang="en-US" dirty="0">
                <a:solidFill>
                  <a:schemeClr val="tx1"/>
                </a:solidFill>
              </a:rPr>
              <a:t>and long-term </a:t>
            </a:r>
            <a:r>
              <a:rPr lang="en-US" dirty="0" smtClean="0">
                <a:solidFill>
                  <a:schemeClr val="tx1"/>
                </a:solidFill>
              </a:rPr>
              <a:t>growth.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Higher </a:t>
            </a:r>
            <a:r>
              <a:rPr lang="en-US" b="1" dirty="0">
                <a:solidFill>
                  <a:schemeClr val="tx1"/>
                </a:solidFill>
              </a:rPr>
              <a:t>Investment in Property &amp; Equipment</a:t>
            </a:r>
            <a:r>
              <a:rPr lang="en-US" dirty="0">
                <a:solidFill>
                  <a:schemeClr val="tx1"/>
                </a:solidFill>
              </a:rPr>
              <a:t> – Strong focus on AI &amp; cloud </a:t>
            </a:r>
            <a:r>
              <a:rPr lang="en-US" dirty="0" smtClean="0">
                <a:solidFill>
                  <a:schemeClr val="tx1"/>
                </a:solidFill>
              </a:rPr>
              <a:t>expansion.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smtClean="0">
                <a:solidFill>
                  <a:schemeClr val="tx1"/>
                </a:solidFill>
              </a:rPr>
              <a:t>Reduced </a:t>
            </a:r>
            <a:r>
              <a:rPr lang="en-US" b="1" dirty="0">
                <a:solidFill>
                  <a:schemeClr val="tx1"/>
                </a:solidFill>
              </a:rPr>
              <a:t>Goodwill &amp; Inventory</a:t>
            </a:r>
            <a:r>
              <a:rPr lang="en-US" dirty="0">
                <a:solidFill>
                  <a:schemeClr val="tx1"/>
                </a:solidFill>
              </a:rPr>
              <a:t> – Indicating streamlined operations &amp; fewer acquisitions.</a:t>
            </a:r>
          </a:p>
        </p:txBody>
      </p:sp>
      <p:pic>
        <p:nvPicPr>
          <p:cNvPr id="2054" name="Picture 6" descr="Output image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390"/>
          <a:stretch/>
        </p:blipFill>
        <p:spPr bwMode="auto">
          <a:xfrm>
            <a:off x="5415281" y="1391920"/>
            <a:ext cx="3927316" cy="3228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Output image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72"/>
          <a:stretch/>
        </p:blipFill>
        <p:spPr bwMode="auto">
          <a:xfrm>
            <a:off x="8660038" y="3835572"/>
            <a:ext cx="3531962" cy="2948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2948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THANK YOU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959546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70C04F-E7AC-41AB-9C6D-1B1BB88BFF7F}">
  <ds:schemaRefs>
    <ds:schemaRef ds:uri="http://purl.org/dc/terms/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4873beb7-5857-4685-be1f-d57550cc96cc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843</TotalTime>
  <Words>307</Words>
  <Application>Microsoft Office PowerPoint</Application>
  <PresentationFormat>Widescreen</PresentationFormat>
  <Paragraphs>31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Microsoft  Financial Statements  Evaluation</vt:lpstr>
      <vt:lpstr>Comparative Balance Sheet</vt:lpstr>
      <vt:lpstr>Comparative Balance Sheet</vt:lpstr>
      <vt:lpstr>Common Size Balance Sheet</vt:lpstr>
      <vt:lpstr>Common Size Balance Sheet</vt:lpstr>
      <vt:lpstr>Trend Analysis –  Total Assets vs. Total Liabilities vs. Equity</vt:lpstr>
      <vt:lpstr>Trend Analysis –  Debt reduction and Increased Earnings</vt:lpstr>
      <vt:lpstr>Trend Analysis – Asset Composition</vt:lpstr>
      <vt:lpstr>THANK YOU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Airtel  Financial Statements  Evaluation</dc:title>
  <dc:creator>Microsoft account</dc:creator>
  <cp:keywords/>
  <cp:lastModifiedBy>Microsoft account</cp:lastModifiedBy>
  <cp:revision>14</cp:revision>
  <dcterms:created xsi:type="dcterms:W3CDTF">2025-03-13T16:32:08Z</dcterms:created>
  <dcterms:modified xsi:type="dcterms:W3CDTF">2025-03-14T06:35:33Z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