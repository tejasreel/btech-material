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4" r:id="rId21"/>
    <p:sldId id="275" r:id="rId22"/>
    <p:sldId id="277" r:id="rId23"/>
    <p:sldId id="278" r:id="rId24"/>
    <p:sldId id="279" r:id="rId25"/>
    <p:sldId id="283" r:id="rId26"/>
    <p:sldId id="280" r:id="rId27"/>
    <p:sldId id="281" r:id="rId28"/>
    <p:sldId id="282"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B0824A-3D5F-493F-8D6C-78B40739F660}" type="doc">
      <dgm:prSet loTypeId="urn:microsoft.com/office/officeart/2005/8/layout/equation1" loCatId="relationship" qsTypeId="urn:microsoft.com/office/officeart/2005/8/quickstyle/simple1" qsCatId="simple" csTypeId="urn:microsoft.com/office/officeart/2005/8/colors/accent1_2" csCatId="accent1" phldr="1"/>
      <dgm:spPr/>
    </dgm:pt>
    <dgm:pt modelId="{F03E7E10-1632-4934-ADA9-DF4B96680D26}">
      <dgm:prSet phldrT="[Text]"/>
      <dgm:spPr>
        <a:solidFill>
          <a:srgbClr val="00B050"/>
        </a:solidFill>
      </dgm:spPr>
      <dgm:t>
        <a:bodyPr/>
        <a:lstStyle/>
        <a:p>
          <a:r>
            <a:rPr lang="en-US" dirty="0" smtClean="0"/>
            <a:t>ASSETS</a:t>
          </a:r>
          <a:endParaRPr lang="en-US" dirty="0"/>
        </a:p>
      </dgm:t>
    </dgm:pt>
    <dgm:pt modelId="{C288C749-1617-4514-A9FD-3E31F7D88828}" type="parTrans" cxnId="{C591B2D3-C8DC-4856-BFE6-5D1D4526A35D}">
      <dgm:prSet/>
      <dgm:spPr/>
      <dgm:t>
        <a:bodyPr/>
        <a:lstStyle/>
        <a:p>
          <a:endParaRPr lang="en-US"/>
        </a:p>
      </dgm:t>
    </dgm:pt>
    <dgm:pt modelId="{EFFACA73-259E-4F1E-B5BD-4B5EF510DB00}" type="sibTrans" cxnId="{C591B2D3-C8DC-4856-BFE6-5D1D4526A35D}">
      <dgm:prSet/>
      <dgm:spPr>
        <a:solidFill>
          <a:srgbClr val="92D050"/>
        </a:solidFill>
      </dgm:spPr>
      <dgm:t>
        <a:bodyPr/>
        <a:lstStyle/>
        <a:p>
          <a:endParaRPr lang="en-US"/>
        </a:p>
      </dgm:t>
    </dgm:pt>
    <dgm:pt modelId="{05CA045C-F77B-4B24-8E78-5812C7235019}">
      <dgm:prSet phldrT="[Text]"/>
      <dgm:spPr>
        <a:solidFill>
          <a:srgbClr val="00B050"/>
        </a:solidFill>
      </dgm:spPr>
      <dgm:t>
        <a:bodyPr/>
        <a:lstStyle/>
        <a:p>
          <a:r>
            <a:rPr lang="en-US" dirty="0" smtClean="0"/>
            <a:t>CAPITAL</a:t>
          </a:r>
          <a:endParaRPr lang="en-US" dirty="0"/>
        </a:p>
      </dgm:t>
    </dgm:pt>
    <dgm:pt modelId="{66178429-ECD4-46CD-A2AD-820DDE3BF701}" type="parTrans" cxnId="{45149476-1FF3-4A1F-AF9A-3C1C5E759545}">
      <dgm:prSet/>
      <dgm:spPr/>
      <dgm:t>
        <a:bodyPr/>
        <a:lstStyle/>
        <a:p>
          <a:endParaRPr lang="en-US"/>
        </a:p>
      </dgm:t>
    </dgm:pt>
    <dgm:pt modelId="{0587E5A7-FC02-4CB2-B843-8F6AF22054CD}" type="sibTrans" cxnId="{45149476-1FF3-4A1F-AF9A-3C1C5E759545}">
      <dgm:prSet/>
      <dgm:spPr>
        <a:solidFill>
          <a:srgbClr val="92D050"/>
        </a:solidFill>
      </dgm:spPr>
      <dgm:t>
        <a:bodyPr/>
        <a:lstStyle/>
        <a:p>
          <a:endParaRPr lang="en-US"/>
        </a:p>
      </dgm:t>
    </dgm:pt>
    <dgm:pt modelId="{088AF306-AC10-4FF1-AB64-D19CC96C0754}">
      <dgm:prSet phldrT="[Text]"/>
      <dgm:spPr>
        <a:solidFill>
          <a:srgbClr val="00B050"/>
        </a:solidFill>
      </dgm:spPr>
      <dgm:t>
        <a:bodyPr/>
        <a:lstStyle/>
        <a:p>
          <a:r>
            <a:rPr lang="en-US" dirty="0" smtClean="0"/>
            <a:t>LIABILITIES</a:t>
          </a:r>
          <a:endParaRPr lang="en-US" dirty="0"/>
        </a:p>
      </dgm:t>
    </dgm:pt>
    <dgm:pt modelId="{7E7F0035-B7E2-45D8-8F65-1A3096EBED0D}" type="parTrans" cxnId="{5C196752-9485-4965-B566-E319CC1EE6E7}">
      <dgm:prSet/>
      <dgm:spPr/>
      <dgm:t>
        <a:bodyPr/>
        <a:lstStyle/>
        <a:p>
          <a:endParaRPr lang="en-US"/>
        </a:p>
      </dgm:t>
    </dgm:pt>
    <dgm:pt modelId="{F9F8CFBD-08BA-4106-81F4-43A31A907DBE}" type="sibTrans" cxnId="{5C196752-9485-4965-B566-E319CC1EE6E7}">
      <dgm:prSet/>
      <dgm:spPr/>
      <dgm:t>
        <a:bodyPr/>
        <a:lstStyle/>
        <a:p>
          <a:endParaRPr lang="en-US"/>
        </a:p>
      </dgm:t>
    </dgm:pt>
    <dgm:pt modelId="{5F8F9B72-5B3E-4538-803C-70982E7984D2}" type="pres">
      <dgm:prSet presAssocID="{E1B0824A-3D5F-493F-8D6C-78B40739F660}" presName="linearFlow" presStyleCnt="0">
        <dgm:presLayoutVars>
          <dgm:dir/>
          <dgm:resizeHandles val="exact"/>
        </dgm:presLayoutVars>
      </dgm:prSet>
      <dgm:spPr/>
    </dgm:pt>
    <dgm:pt modelId="{88BC6F6C-1796-4727-878D-39F46BA9CEFC}" type="pres">
      <dgm:prSet presAssocID="{F03E7E10-1632-4934-ADA9-DF4B96680D26}" presName="node" presStyleLbl="node1" presStyleIdx="0" presStyleCnt="3" custScaleX="180682" custLinFactX="-67996" custLinFactNeighborX="-100000" custLinFactNeighborY="4468">
        <dgm:presLayoutVars>
          <dgm:bulletEnabled val="1"/>
        </dgm:presLayoutVars>
      </dgm:prSet>
      <dgm:spPr/>
      <dgm:t>
        <a:bodyPr/>
        <a:lstStyle/>
        <a:p>
          <a:endParaRPr lang="en-US"/>
        </a:p>
      </dgm:t>
    </dgm:pt>
    <dgm:pt modelId="{CCC90698-D7E4-43A9-AF7A-A3F356451D72}" type="pres">
      <dgm:prSet presAssocID="{EFFACA73-259E-4F1E-B5BD-4B5EF510DB00}" presName="spacerL" presStyleCnt="0"/>
      <dgm:spPr/>
    </dgm:pt>
    <dgm:pt modelId="{D8E883AE-19EC-4066-8669-EEAEB2F2F0CA}" type="pres">
      <dgm:prSet presAssocID="{EFFACA73-259E-4F1E-B5BD-4B5EF510DB00}" presName="sibTrans" presStyleLbl="sibTrans2D1" presStyleIdx="0" presStyleCnt="2" custLinFactX="369764" custLinFactNeighborX="400000" custLinFactNeighborY="736"/>
      <dgm:spPr/>
      <dgm:t>
        <a:bodyPr/>
        <a:lstStyle/>
        <a:p>
          <a:endParaRPr lang="en-US"/>
        </a:p>
      </dgm:t>
    </dgm:pt>
    <dgm:pt modelId="{EF52F877-040B-4C7B-993A-B0609D3C9E6A}" type="pres">
      <dgm:prSet presAssocID="{EFFACA73-259E-4F1E-B5BD-4B5EF510DB00}" presName="spacerR" presStyleCnt="0"/>
      <dgm:spPr/>
    </dgm:pt>
    <dgm:pt modelId="{82DE41CB-42F1-4774-B32D-237F5D40D215}" type="pres">
      <dgm:prSet presAssocID="{05CA045C-F77B-4B24-8E78-5812C7235019}" presName="node" presStyleLbl="node1" presStyleIdx="1" presStyleCnt="3" custScaleX="172529" custLinFactX="-4192" custLinFactNeighborX="-100000" custLinFactNeighborY="4468">
        <dgm:presLayoutVars>
          <dgm:bulletEnabled val="1"/>
        </dgm:presLayoutVars>
      </dgm:prSet>
      <dgm:spPr/>
      <dgm:t>
        <a:bodyPr/>
        <a:lstStyle/>
        <a:p>
          <a:endParaRPr lang="en-US"/>
        </a:p>
      </dgm:t>
    </dgm:pt>
    <dgm:pt modelId="{FA51081A-5344-461F-8F9D-86AED76C57B1}" type="pres">
      <dgm:prSet presAssocID="{0587E5A7-FC02-4CB2-B843-8F6AF22054CD}" presName="spacerL" presStyleCnt="0"/>
      <dgm:spPr/>
    </dgm:pt>
    <dgm:pt modelId="{AAB89734-2A72-4B29-96A6-B1D7AA008A8F}" type="pres">
      <dgm:prSet presAssocID="{0587E5A7-FC02-4CB2-B843-8F6AF22054CD}" presName="sibTrans" presStyleLbl="sibTrans2D1" presStyleIdx="1" presStyleCnt="2" custLinFactX="-387081" custLinFactNeighborX="-400000" custLinFactNeighborY="736"/>
      <dgm:spPr/>
      <dgm:t>
        <a:bodyPr/>
        <a:lstStyle/>
        <a:p>
          <a:endParaRPr lang="en-US"/>
        </a:p>
      </dgm:t>
    </dgm:pt>
    <dgm:pt modelId="{AFE11339-37EA-431B-B218-42A6BC3EFB62}" type="pres">
      <dgm:prSet presAssocID="{0587E5A7-FC02-4CB2-B843-8F6AF22054CD}" presName="spacerR" presStyleCnt="0"/>
      <dgm:spPr/>
    </dgm:pt>
    <dgm:pt modelId="{5E78B687-587C-4C60-87AB-8062F056EC99}" type="pres">
      <dgm:prSet presAssocID="{088AF306-AC10-4FF1-AB64-D19CC96C0754}" presName="node" presStyleLbl="node1" presStyleIdx="2" presStyleCnt="3" custScaleX="155498">
        <dgm:presLayoutVars>
          <dgm:bulletEnabled val="1"/>
        </dgm:presLayoutVars>
      </dgm:prSet>
      <dgm:spPr/>
      <dgm:t>
        <a:bodyPr/>
        <a:lstStyle/>
        <a:p>
          <a:endParaRPr lang="en-US"/>
        </a:p>
      </dgm:t>
    </dgm:pt>
  </dgm:ptLst>
  <dgm:cxnLst>
    <dgm:cxn modelId="{8C917C14-F9A3-43A6-A536-D60F727CC52B}" type="presOf" srcId="{0587E5A7-FC02-4CB2-B843-8F6AF22054CD}" destId="{AAB89734-2A72-4B29-96A6-B1D7AA008A8F}" srcOrd="0" destOrd="0" presId="urn:microsoft.com/office/officeart/2005/8/layout/equation1"/>
    <dgm:cxn modelId="{45149476-1FF3-4A1F-AF9A-3C1C5E759545}" srcId="{E1B0824A-3D5F-493F-8D6C-78B40739F660}" destId="{05CA045C-F77B-4B24-8E78-5812C7235019}" srcOrd="1" destOrd="0" parTransId="{66178429-ECD4-46CD-A2AD-820DDE3BF701}" sibTransId="{0587E5A7-FC02-4CB2-B843-8F6AF22054CD}"/>
    <dgm:cxn modelId="{11820BFE-D474-46E0-A8FF-0A1454E032D9}" type="presOf" srcId="{088AF306-AC10-4FF1-AB64-D19CC96C0754}" destId="{5E78B687-587C-4C60-87AB-8062F056EC99}" srcOrd="0" destOrd="0" presId="urn:microsoft.com/office/officeart/2005/8/layout/equation1"/>
    <dgm:cxn modelId="{C591B2D3-C8DC-4856-BFE6-5D1D4526A35D}" srcId="{E1B0824A-3D5F-493F-8D6C-78B40739F660}" destId="{F03E7E10-1632-4934-ADA9-DF4B96680D26}" srcOrd="0" destOrd="0" parTransId="{C288C749-1617-4514-A9FD-3E31F7D88828}" sibTransId="{EFFACA73-259E-4F1E-B5BD-4B5EF510DB00}"/>
    <dgm:cxn modelId="{F797D0D8-AD1B-4C08-9D8C-7C01A23274DE}" type="presOf" srcId="{F03E7E10-1632-4934-ADA9-DF4B96680D26}" destId="{88BC6F6C-1796-4727-878D-39F46BA9CEFC}" srcOrd="0" destOrd="0" presId="urn:microsoft.com/office/officeart/2005/8/layout/equation1"/>
    <dgm:cxn modelId="{621D44EE-B3D5-4208-A748-23796638942D}" type="presOf" srcId="{E1B0824A-3D5F-493F-8D6C-78B40739F660}" destId="{5F8F9B72-5B3E-4538-803C-70982E7984D2}" srcOrd="0" destOrd="0" presId="urn:microsoft.com/office/officeart/2005/8/layout/equation1"/>
    <dgm:cxn modelId="{5C196752-9485-4965-B566-E319CC1EE6E7}" srcId="{E1B0824A-3D5F-493F-8D6C-78B40739F660}" destId="{088AF306-AC10-4FF1-AB64-D19CC96C0754}" srcOrd="2" destOrd="0" parTransId="{7E7F0035-B7E2-45D8-8F65-1A3096EBED0D}" sibTransId="{F9F8CFBD-08BA-4106-81F4-43A31A907DBE}"/>
    <dgm:cxn modelId="{11700E35-222A-4ACF-B2C5-FC4C0807E2E8}" type="presOf" srcId="{EFFACA73-259E-4F1E-B5BD-4B5EF510DB00}" destId="{D8E883AE-19EC-4066-8669-EEAEB2F2F0CA}" srcOrd="0" destOrd="0" presId="urn:microsoft.com/office/officeart/2005/8/layout/equation1"/>
    <dgm:cxn modelId="{A64B746A-C3B9-4142-8834-07FB697838D0}" type="presOf" srcId="{05CA045C-F77B-4B24-8E78-5812C7235019}" destId="{82DE41CB-42F1-4774-B32D-237F5D40D215}" srcOrd="0" destOrd="0" presId="urn:microsoft.com/office/officeart/2005/8/layout/equation1"/>
    <dgm:cxn modelId="{A7CD37D1-0192-44CC-B569-F309BB1789B4}" type="presParOf" srcId="{5F8F9B72-5B3E-4538-803C-70982E7984D2}" destId="{88BC6F6C-1796-4727-878D-39F46BA9CEFC}" srcOrd="0" destOrd="0" presId="urn:microsoft.com/office/officeart/2005/8/layout/equation1"/>
    <dgm:cxn modelId="{AD70F533-F3D6-4EB3-9A57-FC40801E2107}" type="presParOf" srcId="{5F8F9B72-5B3E-4538-803C-70982E7984D2}" destId="{CCC90698-D7E4-43A9-AF7A-A3F356451D72}" srcOrd="1" destOrd="0" presId="urn:microsoft.com/office/officeart/2005/8/layout/equation1"/>
    <dgm:cxn modelId="{E8EE7A57-DF50-4EC0-B1F2-03CFC1212DE7}" type="presParOf" srcId="{5F8F9B72-5B3E-4538-803C-70982E7984D2}" destId="{D8E883AE-19EC-4066-8669-EEAEB2F2F0CA}" srcOrd="2" destOrd="0" presId="urn:microsoft.com/office/officeart/2005/8/layout/equation1"/>
    <dgm:cxn modelId="{347AF173-9467-4696-A07E-DCEDD7A0C9CA}" type="presParOf" srcId="{5F8F9B72-5B3E-4538-803C-70982E7984D2}" destId="{EF52F877-040B-4C7B-993A-B0609D3C9E6A}" srcOrd="3" destOrd="0" presId="urn:microsoft.com/office/officeart/2005/8/layout/equation1"/>
    <dgm:cxn modelId="{87C69EC4-4415-4D70-99F2-D4621FEF7641}" type="presParOf" srcId="{5F8F9B72-5B3E-4538-803C-70982E7984D2}" destId="{82DE41CB-42F1-4774-B32D-237F5D40D215}" srcOrd="4" destOrd="0" presId="urn:microsoft.com/office/officeart/2005/8/layout/equation1"/>
    <dgm:cxn modelId="{13497C07-2498-4116-95E9-DFFF183A0FA5}" type="presParOf" srcId="{5F8F9B72-5B3E-4538-803C-70982E7984D2}" destId="{FA51081A-5344-461F-8F9D-86AED76C57B1}" srcOrd="5" destOrd="0" presId="urn:microsoft.com/office/officeart/2005/8/layout/equation1"/>
    <dgm:cxn modelId="{8AB4745B-A008-4F50-890A-A965352B68DC}" type="presParOf" srcId="{5F8F9B72-5B3E-4538-803C-70982E7984D2}" destId="{AAB89734-2A72-4B29-96A6-B1D7AA008A8F}" srcOrd="6" destOrd="0" presId="urn:microsoft.com/office/officeart/2005/8/layout/equation1"/>
    <dgm:cxn modelId="{471C592C-6F75-497D-85E4-EB0118F2702E}" type="presParOf" srcId="{5F8F9B72-5B3E-4538-803C-70982E7984D2}" destId="{AFE11339-37EA-431B-B218-42A6BC3EFB62}" srcOrd="7" destOrd="0" presId="urn:microsoft.com/office/officeart/2005/8/layout/equation1"/>
    <dgm:cxn modelId="{A6BB9981-26CA-432C-B03B-017324C4E801}" type="presParOf" srcId="{5F8F9B72-5B3E-4538-803C-70982E7984D2}" destId="{5E78B687-587C-4C60-87AB-8062F056EC99}" srcOrd="8" destOrd="0" presId="urn:microsoft.com/office/officeart/2005/8/layout/equation1"/>
  </dgm:cxnLst>
  <dgm:bg/>
  <dgm:whole/>
</dgm:dataModel>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2/21/2023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Accountancy</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77000"/>
          </a:xfrm>
        </p:spPr>
        <p:txBody>
          <a:bodyPr>
            <a:normAutofit fontScale="92500" lnSpcReduction="10000"/>
          </a:bodyPr>
          <a:lstStyle/>
          <a:p>
            <a:r>
              <a:rPr lang="en-US" b="1" dirty="0" smtClean="0">
                <a:solidFill>
                  <a:srgbClr val="0070C0"/>
                </a:solidFill>
              </a:rPr>
              <a:t>Need of Accountancy</a:t>
            </a:r>
            <a:r>
              <a:rPr lang="en-US" dirty="0" smtClean="0"/>
              <a:t>:  the main aim of business is to earn profit.</a:t>
            </a:r>
          </a:p>
          <a:p>
            <a:pPr algn="just"/>
            <a:r>
              <a:rPr lang="en-US" dirty="0" smtClean="0"/>
              <a:t>Business is a exchange of goods and services conducted with a intention of earning profits</a:t>
            </a:r>
          </a:p>
          <a:p>
            <a:pPr algn="just"/>
            <a:r>
              <a:rPr lang="en-US" dirty="0" smtClean="0"/>
              <a:t>Business information is required for planning, control, evaluation performance and decision. For this all business transactions are to be recorded to know whether business is running with profits or losses</a:t>
            </a:r>
          </a:p>
          <a:p>
            <a:pPr algn="just"/>
            <a:r>
              <a:rPr lang="en-US" dirty="0" smtClean="0"/>
              <a:t>In order to know above purpose it would be necessary to record business transactions according to well devised system. </a:t>
            </a:r>
          </a:p>
          <a:p>
            <a:pPr algn="just"/>
            <a:r>
              <a:rPr lang="en-US" dirty="0" smtClean="0"/>
              <a:t>Book-keeping and accountancy is the name given to such system.</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400800"/>
          </a:xfrm>
        </p:spPr>
        <p:txBody>
          <a:bodyPr/>
          <a:lstStyle/>
          <a:p>
            <a:pPr algn="just"/>
            <a:r>
              <a:rPr lang="en-US" dirty="0" smtClean="0">
                <a:solidFill>
                  <a:srgbClr val="0070C0"/>
                </a:solidFill>
              </a:rPr>
              <a:t>Meaning of Book-keeping</a:t>
            </a:r>
            <a:r>
              <a:rPr lang="en-US" dirty="0" smtClean="0"/>
              <a:t>: Book-keeping is the art and science of Recording, Classifying and Summarizing business transactions business transactions in money’s worth accurately and systematically so that the businessman may be able to know his profits or losses during a specified period and also true financial on a particular date.</a:t>
            </a:r>
          </a:p>
          <a:p>
            <a:pPr algn="just"/>
            <a:r>
              <a:rPr lang="en-US" dirty="0" smtClean="0">
                <a:solidFill>
                  <a:srgbClr val="0070C0"/>
                </a:solidFill>
              </a:rPr>
              <a:t>According Carter </a:t>
            </a:r>
            <a:r>
              <a:rPr lang="en-US" dirty="0" smtClean="0"/>
              <a:t>“Book-keeping is the science and art of correctly recording in books of accounts all those transactions that result in the transfer of money or money’s worth.</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lstStyle/>
          <a:p>
            <a:r>
              <a:rPr lang="en-US" dirty="0" smtClean="0">
                <a:solidFill>
                  <a:srgbClr val="002060"/>
                </a:solidFill>
              </a:rPr>
              <a:t>Definition of Accountancy</a:t>
            </a:r>
            <a:r>
              <a:rPr lang="en-US" dirty="0" smtClean="0"/>
              <a:t>:</a:t>
            </a:r>
          </a:p>
          <a:p>
            <a:r>
              <a:rPr lang="en-US" dirty="0" smtClean="0"/>
              <a:t>According </a:t>
            </a:r>
            <a:r>
              <a:rPr lang="en-US" sz="2800" u="sng" dirty="0" smtClean="0"/>
              <a:t>AICPA</a:t>
            </a:r>
            <a:r>
              <a:rPr lang="en-US" dirty="0" smtClean="0"/>
              <a:t> the “art of recording classifying and summarizing in a significant manner in terms of money transactions and events which I part, at least of a financial character and interpreting the results thereof”</a:t>
            </a:r>
          </a:p>
          <a:p>
            <a:pPr algn="just"/>
            <a:r>
              <a:rPr lang="en-US" i="1" dirty="0" smtClean="0"/>
              <a:t>American accounting association </a:t>
            </a:r>
            <a:r>
              <a:rPr lang="en-US" dirty="0" smtClean="0"/>
              <a:t>defines as the process of identifying measuring and communicating economic information to permit informed judgments and decisions by users of the information”</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lstStyle/>
          <a:p>
            <a:r>
              <a:rPr lang="en-US" dirty="0" smtClean="0">
                <a:solidFill>
                  <a:srgbClr val="7030A0"/>
                </a:solidFill>
              </a:rPr>
              <a:t>From the above information it is clear that</a:t>
            </a:r>
            <a:r>
              <a:rPr lang="en-US" dirty="0" smtClean="0"/>
              <a:t>:</a:t>
            </a:r>
          </a:p>
          <a:p>
            <a:pPr>
              <a:buNone/>
            </a:pPr>
            <a:endParaRPr lang="en-US" dirty="0" smtClean="0"/>
          </a:p>
          <a:p>
            <a:pPr algn="just">
              <a:buNone/>
            </a:pPr>
            <a:r>
              <a:rPr lang="en-US" dirty="0" smtClean="0"/>
              <a:t>	- it is the art of recording business transactions</a:t>
            </a:r>
          </a:p>
          <a:p>
            <a:pPr algn="just">
              <a:buNone/>
            </a:pPr>
            <a:r>
              <a:rPr lang="en-US" dirty="0" smtClean="0"/>
              <a:t>	- it is the art of classifying business transaction</a:t>
            </a:r>
          </a:p>
          <a:p>
            <a:pPr algn="just">
              <a:buNone/>
            </a:pPr>
            <a:r>
              <a:rPr lang="en-US" dirty="0" smtClean="0"/>
              <a:t>	- the transitions or events of a business must be recorded in terms of money only</a:t>
            </a:r>
          </a:p>
          <a:p>
            <a:pPr algn="just">
              <a:buNone/>
            </a:pPr>
            <a:r>
              <a:rPr lang="en-US" dirty="0" smtClean="0"/>
              <a:t>	- art of summarizing financial transactions</a:t>
            </a:r>
          </a:p>
          <a:p>
            <a:pPr algn="just">
              <a:buNone/>
            </a:pPr>
            <a:r>
              <a:rPr lang="en-US" dirty="0" smtClean="0"/>
              <a:t>	- art of analyzing and interpretation of these transactions.</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lstStyle/>
          <a:p>
            <a:r>
              <a:rPr lang="en-US" dirty="0" smtClean="0">
                <a:solidFill>
                  <a:srgbClr val="0070C0"/>
                </a:solidFill>
              </a:rPr>
              <a:t>Objects of Accountancy:</a:t>
            </a:r>
          </a:p>
          <a:p>
            <a:pPr lvl="1" algn="just"/>
            <a:r>
              <a:rPr lang="en-US" dirty="0" smtClean="0"/>
              <a:t>To ascertain whether the business operations have been profitable or not</a:t>
            </a:r>
          </a:p>
          <a:p>
            <a:pPr lvl="1" algn="just"/>
            <a:r>
              <a:rPr lang="en-US" dirty="0" smtClean="0"/>
              <a:t>To ascertain the financial position of the business</a:t>
            </a:r>
          </a:p>
          <a:p>
            <a:pPr lvl="1" algn="just"/>
            <a:r>
              <a:rPr lang="en-US" dirty="0" smtClean="0"/>
              <a:t>Information helpful for planning control evaluation of performance and decision making.</a:t>
            </a:r>
          </a:p>
          <a:p>
            <a:pPr lvl="1" algn="just">
              <a:buNone/>
            </a:pPr>
            <a:r>
              <a:rPr lang="en-US" sz="3200" dirty="0" smtClean="0">
                <a:solidFill>
                  <a:srgbClr val="0070C0"/>
                </a:solidFill>
              </a:rPr>
              <a:t>Functions: </a:t>
            </a:r>
          </a:p>
          <a:p>
            <a:pPr lvl="1">
              <a:buFontTx/>
              <a:buChar char="-"/>
            </a:pPr>
            <a:r>
              <a:rPr lang="en-US" dirty="0" smtClean="0"/>
              <a:t>Systematic record of business transactions</a:t>
            </a:r>
          </a:p>
          <a:p>
            <a:pPr lvl="1">
              <a:buFontTx/>
              <a:buChar char="-"/>
            </a:pPr>
            <a:r>
              <a:rPr lang="en-US" dirty="0" smtClean="0"/>
              <a:t>Protecting the property of the business</a:t>
            </a:r>
          </a:p>
          <a:p>
            <a:pPr lvl="1">
              <a:buFontTx/>
              <a:buChar char="-"/>
            </a:pPr>
            <a:r>
              <a:rPr lang="en-US" dirty="0" smtClean="0"/>
              <a:t>Communicating results to interested parties</a:t>
            </a:r>
          </a:p>
          <a:p>
            <a:pPr lvl="1">
              <a:buFontTx/>
              <a:buChar char="-"/>
            </a:pPr>
            <a:r>
              <a:rPr lang="en-US" dirty="0" smtClean="0"/>
              <a:t>Compliance with legal requirements</a:t>
            </a:r>
          </a:p>
          <a:p>
            <a:pPr lvl="1">
              <a:buNone/>
            </a:pPr>
            <a:endParaRPr lang="en-US" sz="32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400800"/>
          </a:xfrm>
        </p:spPr>
        <p:txBody>
          <a:bodyPr/>
          <a:lstStyle/>
          <a:p>
            <a:r>
              <a:rPr lang="en-US" dirty="0" smtClean="0">
                <a:solidFill>
                  <a:srgbClr val="7030A0"/>
                </a:solidFill>
              </a:rPr>
              <a:t>Advantages of Accounting</a:t>
            </a:r>
            <a:r>
              <a:rPr lang="en-US" dirty="0" smtClean="0"/>
              <a:t>:</a:t>
            </a:r>
          </a:p>
          <a:p>
            <a:r>
              <a:rPr lang="en-US" dirty="0" smtClean="0"/>
              <a:t>Replacement of memory</a:t>
            </a:r>
          </a:p>
          <a:p>
            <a:r>
              <a:rPr lang="en-US" dirty="0" smtClean="0"/>
              <a:t>Evidence of court</a:t>
            </a:r>
          </a:p>
          <a:p>
            <a:r>
              <a:rPr lang="en-US" dirty="0" smtClean="0"/>
              <a:t>Settlement of taxation liability</a:t>
            </a:r>
          </a:p>
          <a:p>
            <a:r>
              <a:rPr lang="en-US" dirty="0" smtClean="0"/>
              <a:t>Comparative study</a:t>
            </a:r>
          </a:p>
          <a:p>
            <a:r>
              <a:rPr lang="en-US" dirty="0" smtClean="0"/>
              <a:t>Sale of business</a:t>
            </a:r>
          </a:p>
          <a:p>
            <a:r>
              <a:rPr lang="en-US" dirty="0" smtClean="0"/>
              <a:t>Assistance to the insolvent person</a:t>
            </a:r>
          </a:p>
          <a:p>
            <a:r>
              <a:rPr lang="en-US" dirty="0" smtClean="0"/>
              <a:t>Assistance to various parties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lstStyle/>
          <a:p>
            <a:r>
              <a:rPr lang="en-US" dirty="0" smtClean="0">
                <a:solidFill>
                  <a:srgbClr val="7030A0"/>
                </a:solidFill>
              </a:rPr>
              <a:t>Limitations of Accounting:</a:t>
            </a:r>
          </a:p>
          <a:p>
            <a:pPr>
              <a:buNone/>
            </a:pPr>
            <a:r>
              <a:rPr lang="en-US" dirty="0" smtClean="0"/>
              <a:t>	- Records only monetary transactions</a:t>
            </a:r>
          </a:p>
          <a:p>
            <a:pPr>
              <a:buNone/>
            </a:pPr>
            <a:r>
              <a:rPr lang="en-US" dirty="0" smtClean="0"/>
              <a:t>	- Effect of price level changes not considered</a:t>
            </a:r>
          </a:p>
          <a:p>
            <a:pPr>
              <a:buNone/>
            </a:pPr>
            <a:r>
              <a:rPr lang="en-US" dirty="0" smtClean="0"/>
              <a:t>	-No realistic information </a:t>
            </a:r>
          </a:p>
          <a:p>
            <a:pPr>
              <a:buNone/>
            </a:pPr>
            <a:r>
              <a:rPr lang="en-US" dirty="0" smtClean="0"/>
              <a:t>	-Personal bias of accountant affects the    	accounting statements</a:t>
            </a:r>
          </a:p>
          <a:p>
            <a:pPr>
              <a:buNone/>
            </a:pPr>
            <a:r>
              <a:rPr lang="en-US" dirty="0" smtClean="0"/>
              <a:t>	-Permits alternative treatments</a:t>
            </a:r>
          </a:p>
          <a:p>
            <a:pPr>
              <a:buNone/>
            </a:pPr>
            <a:r>
              <a:rPr lang="en-US" dirty="0" smtClean="0"/>
              <a:t>	-No real test of managerial performance</a:t>
            </a:r>
          </a:p>
          <a:p>
            <a:pPr>
              <a:buNone/>
            </a:pPr>
            <a:r>
              <a:rPr lang="en-US" dirty="0" smtClean="0"/>
              <a:t>	-Historical in nature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8763000" cy="6019800"/>
          </a:xfrm>
        </p:spPr>
        <p:txBody>
          <a:bodyPr/>
          <a:lstStyle/>
          <a:p>
            <a:r>
              <a:rPr lang="en-US" sz="2800" dirty="0" smtClean="0">
                <a:solidFill>
                  <a:srgbClr val="002060"/>
                </a:solidFill>
              </a:rPr>
              <a:t>Branches of Accounting</a:t>
            </a:r>
            <a:r>
              <a:rPr lang="en-US" dirty="0" smtClean="0">
                <a:solidFill>
                  <a:srgbClr val="002060"/>
                </a:solidFill>
              </a:rPr>
              <a:t>:</a:t>
            </a:r>
          </a:p>
          <a:p>
            <a:pPr lvl="2"/>
            <a:r>
              <a:rPr lang="en-US" sz="2800" dirty="0" smtClean="0">
                <a:solidFill>
                  <a:srgbClr val="0070C0"/>
                </a:solidFill>
              </a:rPr>
              <a:t>Financial Accounting </a:t>
            </a:r>
            <a:r>
              <a:rPr lang="en-US" dirty="0" smtClean="0"/>
              <a:t>– used to ascertain profit or loss during  a specified period and to know true financial position on a particular date. </a:t>
            </a:r>
          </a:p>
          <a:p>
            <a:pPr lvl="2">
              <a:buNone/>
            </a:pPr>
            <a:endParaRPr lang="en-US" dirty="0" smtClean="0"/>
          </a:p>
          <a:p>
            <a:pPr lvl="2"/>
            <a:r>
              <a:rPr lang="en-US" sz="2800" dirty="0" smtClean="0">
                <a:solidFill>
                  <a:srgbClr val="FF0000"/>
                </a:solidFill>
              </a:rPr>
              <a:t>Cost accounting</a:t>
            </a:r>
            <a:r>
              <a:rPr lang="en-US" dirty="0" smtClean="0"/>
              <a:t>: used to ascertain cost relating to the various activities of  the business and to have cost control.</a:t>
            </a:r>
          </a:p>
          <a:p>
            <a:pPr lvl="2">
              <a:buNone/>
            </a:pPr>
            <a:endParaRPr lang="en-US" dirty="0" smtClean="0"/>
          </a:p>
          <a:p>
            <a:pPr lvl="2"/>
            <a:r>
              <a:rPr lang="en-US" sz="2800" dirty="0" smtClean="0">
                <a:solidFill>
                  <a:srgbClr val="00B050"/>
                </a:solidFill>
              </a:rPr>
              <a:t>Management Accounting</a:t>
            </a:r>
            <a:r>
              <a:rPr lang="en-US" dirty="0" smtClean="0"/>
              <a:t>: used to take managerial decisions to the management and assist to discharge various functions such as planning, control, evaluation of performance and decision making.</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Accounting terminology</a:t>
            </a:r>
            <a:endParaRPr lang="en-US" dirty="0"/>
          </a:p>
        </p:txBody>
      </p:sp>
      <p:sp>
        <p:nvSpPr>
          <p:cNvPr id="3" name="Content Placeholder 2"/>
          <p:cNvSpPr>
            <a:spLocks noGrp="1"/>
          </p:cNvSpPr>
          <p:nvPr>
            <p:ph sz="half" idx="1"/>
          </p:nvPr>
        </p:nvSpPr>
        <p:spPr/>
        <p:txBody>
          <a:bodyPr>
            <a:normAutofit fontScale="77500" lnSpcReduction="20000"/>
          </a:bodyPr>
          <a:lstStyle/>
          <a:p>
            <a:r>
              <a:rPr lang="en-US" dirty="0" smtClean="0"/>
              <a:t>Business transaction</a:t>
            </a:r>
          </a:p>
          <a:p>
            <a:r>
              <a:rPr lang="en-US" dirty="0" smtClean="0"/>
              <a:t>Cash transaction</a:t>
            </a:r>
          </a:p>
          <a:p>
            <a:r>
              <a:rPr lang="en-US" dirty="0" smtClean="0"/>
              <a:t> credit transaction</a:t>
            </a:r>
          </a:p>
          <a:p>
            <a:r>
              <a:rPr lang="en-US" dirty="0" smtClean="0"/>
              <a:t>Non cash transaction</a:t>
            </a:r>
          </a:p>
          <a:p>
            <a:r>
              <a:rPr lang="en-US" dirty="0" smtClean="0"/>
              <a:t>Proprietor</a:t>
            </a:r>
          </a:p>
          <a:p>
            <a:r>
              <a:rPr lang="en-US" dirty="0" smtClean="0"/>
              <a:t>Capital </a:t>
            </a:r>
          </a:p>
          <a:p>
            <a:r>
              <a:rPr lang="en-US" dirty="0" smtClean="0"/>
              <a:t>Drawings</a:t>
            </a:r>
          </a:p>
          <a:p>
            <a:r>
              <a:rPr lang="en-US" dirty="0" smtClean="0"/>
              <a:t> goods</a:t>
            </a:r>
          </a:p>
          <a:p>
            <a:r>
              <a:rPr lang="en-US" dirty="0" smtClean="0"/>
              <a:t> debtors</a:t>
            </a:r>
          </a:p>
          <a:p>
            <a:r>
              <a:rPr lang="en-US" dirty="0" smtClean="0"/>
              <a:t> creditors</a:t>
            </a:r>
          </a:p>
          <a:p>
            <a:r>
              <a:rPr lang="en-US" dirty="0" smtClean="0"/>
              <a:t>Assets</a:t>
            </a:r>
          </a:p>
          <a:p>
            <a:r>
              <a:rPr lang="en-US" dirty="0" smtClean="0"/>
              <a:t>Liabilities</a:t>
            </a:r>
          </a:p>
          <a:p>
            <a:endParaRPr lang="en-US" dirty="0"/>
          </a:p>
        </p:txBody>
      </p:sp>
      <p:sp>
        <p:nvSpPr>
          <p:cNvPr id="5" name="Content Placeholder 4"/>
          <p:cNvSpPr>
            <a:spLocks noGrp="1"/>
          </p:cNvSpPr>
          <p:nvPr>
            <p:ph sz="half" idx="2"/>
          </p:nvPr>
        </p:nvSpPr>
        <p:spPr/>
        <p:txBody>
          <a:bodyPr>
            <a:normAutofit fontScale="77500" lnSpcReduction="20000"/>
          </a:bodyPr>
          <a:lstStyle/>
          <a:p>
            <a:r>
              <a:rPr lang="en-US" dirty="0" smtClean="0"/>
              <a:t>Books debts</a:t>
            </a:r>
          </a:p>
          <a:p>
            <a:r>
              <a:rPr lang="en-US" dirty="0" smtClean="0"/>
              <a:t> good debts</a:t>
            </a:r>
          </a:p>
          <a:p>
            <a:r>
              <a:rPr lang="en-US" dirty="0" smtClean="0"/>
              <a:t> bad debts</a:t>
            </a:r>
          </a:p>
          <a:p>
            <a:r>
              <a:rPr lang="en-US" dirty="0" smtClean="0"/>
              <a:t>Net worth</a:t>
            </a:r>
          </a:p>
          <a:p>
            <a:r>
              <a:rPr lang="en-US" dirty="0" smtClean="0"/>
              <a:t> revenue</a:t>
            </a:r>
          </a:p>
          <a:p>
            <a:r>
              <a:rPr lang="en-US" dirty="0" smtClean="0"/>
              <a:t>Expense</a:t>
            </a:r>
          </a:p>
          <a:p>
            <a:r>
              <a:rPr lang="en-US" dirty="0" smtClean="0"/>
              <a:t> loss</a:t>
            </a:r>
          </a:p>
          <a:p>
            <a:r>
              <a:rPr lang="en-US" dirty="0" smtClean="0"/>
              <a:t> Debit and Credit</a:t>
            </a:r>
          </a:p>
          <a:p>
            <a:r>
              <a:rPr lang="en-US" dirty="0" smtClean="0"/>
              <a:t>Entry </a:t>
            </a:r>
          </a:p>
          <a:p>
            <a:r>
              <a:rPr lang="en-US" dirty="0" smtClean="0"/>
              <a:t>Posting</a:t>
            </a:r>
          </a:p>
          <a:p>
            <a:r>
              <a:rPr lang="en-US" dirty="0" smtClean="0"/>
              <a:t> books of accounts</a:t>
            </a:r>
          </a:p>
          <a:p>
            <a:r>
              <a:rPr lang="en-US" dirty="0" smtClean="0"/>
              <a:t> Journal </a:t>
            </a:r>
          </a:p>
          <a:p>
            <a:r>
              <a:rPr lang="en-US" dirty="0" smtClean="0"/>
              <a:t>Ledger</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Accounting equation:</a:t>
            </a:r>
          </a:p>
          <a:p>
            <a:endParaRPr lang="en-US" dirty="0" smtClean="0"/>
          </a:p>
          <a:p>
            <a:endParaRPr lang="en-US" dirty="0" smtClean="0"/>
          </a:p>
          <a:p>
            <a:r>
              <a:rPr lang="en-US" dirty="0" smtClean="0"/>
              <a:t>Assets –Liabilities  = Capital</a:t>
            </a:r>
          </a:p>
          <a:p>
            <a:r>
              <a:rPr lang="en-US" dirty="0" smtClean="0"/>
              <a:t>Assets = liabilities + capital</a:t>
            </a:r>
          </a:p>
          <a:p>
            <a:r>
              <a:rPr lang="en-US" dirty="0" smtClean="0"/>
              <a:t>Capital = Assets </a:t>
            </a:r>
            <a:r>
              <a:rPr lang="en-US" smtClean="0"/>
              <a:t>- liabilities</a:t>
            </a: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Accounting Cycle:</a:t>
            </a:r>
          </a:p>
          <a:p>
            <a:endParaRPr lang="en-US" dirty="0" smtClean="0"/>
          </a:p>
          <a:p>
            <a:r>
              <a:rPr lang="en-US" dirty="0" smtClean="0"/>
              <a:t>Journal   Ledger  Trail balance    Trading a/c  Profit and Loss a/c   Balance Sheet</a:t>
            </a:r>
            <a:endParaRPr lang="en-US" dirty="0"/>
          </a:p>
        </p:txBody>
      </p:sp>
      <p:sp>
        <p:nvSpPr>
          <p:cNvPr id="7" name="Right Arrow 6"/>
          <p:cNvSpPr/>
          <p:nvPr/>
        </p:nvSpPr>
        <p:spPr>
          <a:xfrm>
            <a:off x="2133600" y="1676400"/>
            <a:ext cx="152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8" name="Right Arrow 7"/>
          <p:cNvSpPr/>
          <p:nvPr/>
        </p:nvSpPr>
        <p:spPr>
          <a:xfrm>
            <a:off x="3505200" y="1676400"/>
            <a:ext cx="152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5791200" y="1676400"/>
            <a:ext cx="152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8001000" y="1676400"/>
            <a:ext cx="228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3962400" y="2209800"/>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a:off x="6629400" y="2286000"/>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0800000">
            <a:off x="609600" y="2819400"/>
            <a:ext cx="6934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152400" y="2286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85800" y="1828800"/>
            <a:ext cx="152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a:off x="7277100" y="25527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lstStyle/>
          <a:p>
            <a:r>
              <a:rPr lang="en-US" dirty="0" smtClean="0"/>
              <a:t>Accounting Principles:</a:t>
            </a:r>
          </a:p>
          <a:p>
            <a:pPr lvl="1"/>
            <a:r>
              <a:rPr lang="en-US" dirty="0" smtClean="0"/>
              <a:t>Accounting Concepts</a:t>
            </a:r>
          </a:p>
          <a:p>
            <a:pPr lvl="1"/>
            <a:r>
              <a:rPr lang="en-US" dirty="0" smtClean="0"/>
              <a:t>Accounting Conventions</a:t>
            </a:r>
          </a:p>
          <a:p>
            <a:pPr lvl="1">
              <a:buNone/>
            </a:pPr>
            <a:endParaRPr lang="en-US" dirty="0" smtClean="0"/>
          </a:p>
          <a:p>
            <a:pPr lvl="1">
              <a:buNone/>
            </a:pPr>
            <a:r>
              <a:rPr lang="en-US" dirty="0" smtClean="0">
                <a:solidFill>
                  <a:srgbClr val="FF0000"/>
                </a:solidFill>
              </a:rPr>
              <a:t>Accounting Concepts</a:t>
            </a:r>
          </a:p>
          <a:p>
            <a:pPr lvl="1">
              <a:buNone/>
            </a:pPr>
            <a:r>
              <a:rPr lang="en-US" dirty="0" smtClean="0"/>
              <a:t>	Business Entity Concepts</a:t>
            </a:r>
          </a:p>
          <a:p>
            <a:pPr lvl="1">
              <a:buNone/>
            </a:pPr>
            <a:r>
              <a:rPr lang="en-US" dirty="0" smtClean="0"/>
              <a:t>	Dual aspect concept</a:t>
            </a:r>
          </a:p>
          <a:p>
            <a:pPr lvl="1">
              <a:buNone/>
            </a:pPr>
            <a:r>
              <a:rPr lang="en-US" dirty="0" smtClean="0"/>
              <a:t>	Accounting period concept</a:t>
            </a:r>
          </a:p>
          <a:p>
            <a:pPr lvl="1">
              <a:buNone/>
            </a:pPr>
            <a:r>
              <a:rPr lang="en-US" dirty="0" smtClean="0"/>
              <a:t>	Money measurement concept</a:t>
            </a:r>
          </a:p>
          <a:p>
            <a:pPr lvl="1">
              <a:buNone/>
            </a:pPr>
            <a:r>
              <a:rPr lang="en-US" dirty="0" smtClean="0"/>
              <a:t>	Going concern concept</a:t>
            </a:r>
          </a:p>
          <a:p>
            <a:pPr lvl="1">
              <a:buNone/>
            </a:pPr>
            <a:r>
              <a:rPr lang="en-US" dirty="0" smtClean="0"/>
              <a:t>	Cost concept</a:t>
            </a:r>
          </a:p>
          <a:p>
            <a:pPr lvl="1">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lstStyle/>
          <a:p>
            <a:r>
              <a:rPr lang="en-US" dirty="0" smtClean="0">
                <a:solidFill>
                  <a:srgbClr val="FF0000"/>
                </a:solidFill>
              </a:rPr>
              <a:t>Accounting Conventions</a:t>
            </a:r>
            <a:r>
              <a:rPr lang="en-US" dirty="0" smtClean="0"/>
              <a:t>:</a:t>
            </a:r>
          </a:p>
          <a:p>
            <a:pPr lvl="1"/>
            <a:r>
              <a:rPr lang="en-US" dirty="0" smtClean="0"/>
              <a:t>Convention of Consistency</a:t>
            </a:r>
          </a:p>
          <a:p>
            <a:pPr lvl="1"/>
            <a:r>
              <a:rPr lang="en-US" dirty="0" smtClean="0"/>
              <a:t>Convention of materiality</a:t>
            </a:r>
          </a:p>
          <a:p>
            <a:pPr lvl="1"/>
            <a:r>
              <a:rPr lang="en-US" dirty="0" smtClean="0"/>
              <a:t>Convention of full disclosure</a:t>
            </a:r>
          </a:p>
          <a:p>
            <a:pPr lvl="1"/>
            <a:r>
              <a:rPr lang="en-US" dirty="0" smtClean="0"/>
              <a:t>Convention of conservatism</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a:bodyPr>
          <a:lstStyle/>
          <a:p>
            <a:pPr>
              <a:buNone/>
            </a:pPr>
            <a:r>
              <a:rPr lang="en-US" b="1" dirty="0" smtClean="0"/>
              <a:t>Accounting concepts:</a:t>
            </a:r>
          </a:p>
          <a:p>
            <a:pPr>
              <a:buNone/>
            </a:pPr>
            <a:r>
              <a:rPr lang="en-US" b="1" dirty="0" smtClean="0"/>
              <a:t>1. Business Entity Concept:</a:t>
            </a:r>
            <a:r>
              <a:rPr lang="en-US" dirty="0" smtClean="0"/>
              <a:t> </a:t>
            </a:r>
            <a:r>
              <a:rPr lang="en-US" sz="2800" dirty="0" smtClean="0"/>
              <a:t>According to this concept, business is treated apart from the proprietor who brings cash and other assets called capital into the business . All the transactions are entered in the books of business even treating the owner as a creditor. Capital is thus a liability to the business. Whenever business receives cash from the proprietor, cash account is debited as the business is getting benefit and the capital account is credited as it represents the proprietor who gives the benef</a:t>
            </a:r>
            <a:r>
              <a:rPr lang="en-US" dirty="0" smtClean="0"/>
              <a:t>it. </a:t>
            </a:r>
            <a:endParaRPr lang="en-US" b="1" dirty="0" smtClean="0"/>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rmAutofit fontScale="77500" lnSpcReduction="20000"/>
          </a:bodyPr>
          <a:lstStyle/>
          <a:p>
            <a:pPr marL="0" indent="1588" algn="just">
              <a:lnSpc>
                <a:spcPct val="110000"/>
              </a:lnSpc>
              <a:spcBef>
                <a:spcPts val="0"/>
              </a:spcBef>
              <a:buNone/>
            </a:pPr>
            <a:r>
              <a:rPr lang="en-US" sz="3600" b="1" dirty="0" smtClean="0"/>
              <a:t>2. Dual Aspect Concept: </a:t>
            </a:r>
            <a:r>
              <a:rPr lang="en-US" sz="3600" dirty="0" smtClean="0"/>
              <a:t>This </a:t>
            </a:r>
            <a:r>
              <a:rPr lang="en-US" dirty="0" smtClean="0"/>
              <a:t>aspect provides the very basis for recording business transactions into the book of accounts. Every business transaction engrosses two aspects, one aspect is regarding taking the benefit, second one regarding giving the benefit. These are indicated with the words ‘debit’ and ‘credit’.  </a:t>
            </a:r>
            <a:r>
              <a:rPr lang="en-US" dirty="0" err="1" smtClean="0"/>
              <a:t>Atleast</a:t>
            </a:r>
            <a:r>
              <a:rPr lang="en-US" dirty="0" smtClean="0"/>
              <a:t> two accounts will be involved in recording a transaction. The double entry accounting system is based on this concept. </a:t>
            </a:r>
          </a:p>
          <a:p>
            <a:pPr marL="0" indent="1588" algn="just">
              <a:lnSpc>
                <a:spcPct val="110000"/>
              </a:lnSpc>
              <a:spcBef>
                <a:spcPts val="0"/>
              </a:spcBef>
              <a:buNone/>
            </a:pPr>
            <a:r>
              <a:rPr lang="en-US" dirty="0" smtClean="0"/>
              <a:t>	The duality principle can be explained in the form of an accounting equation and every transaction affects this equation. </a:t>
            </a:r>
          </a:p>
          <a:p>
            <a:pPr marL="0" indent="1588" algn="just">
              <a:lnSpc>
                <a:spcPct val="110000"/>
              </a:lnSpc>
              <a:spcBef>
                <a:spcPts val="0"/>
              </a:spcBef>
              <a:buNone/>
            </a:pPr>
            <a:endParaRPr lang="en-US" b="1" dirty="0" smtClean="0"/>
          </a:p>
          <a:p>
            <a:pPr marL="0" indent="1588" algn="just">
              <a:lnSpc>
                <a:spcPct val="110000"/>
              </a:lnSpc>
              <a:spcBef>
                <a:spcPts val="0"/>
              </a:spcBef>
              <a:buNone/>
            </a:pPr>
            <a:endParaRPr lang="en-US" b="1" dirty="0" smtClean="0"/>
          </a:p>
          <a:p>
            <a:pPr marL="0" indent="1588" algn="just">
              <a:lnSpc>
                <a:spcPct val="110000"/>
              </a:lnSpc>
              <a:spcBef>
                <a:spcPts val="0"/>
              </a:spcBef>
              <a:buNone/>
            </a:pPr>
            <a:endParaRPr lang="en-US" b="1" dirty="0" smtClean="0"/>
          </a:p>
          <a:p>
            <a:pPr marL="0" indent="1588" algn="just">
              <a:lnSpc>
                <a:spcPct val="110000"/>
              </a:lnSpc>
              <a:spcBef>
                <a:spcPts val="0"/>
              </a:spcBef>
              <a:buNone/>
            </a:pPr>
            <a:endParaRPr lang="en-US" b="1" dirty="0" smtClean="0"/>
          </a:p>
          <a:p>
            <a:pPr marL="0" indent="1588" algn="just">
              <a:lnSpc>
                <a:spcPct val="110000"/>
              </a:lnSpc>
              <a:spcBef>
                <a:spcPts val="0"/>
              </a:spcBef>
              <a:buNone/>
            </a:pPr>
            <a:r>
              <a:rPr lang="en-US" b="1" dirty="0" err="1" smtClean="0"/>
              <a:t>Eg</a:t>
            </a:r>
            <a:r>
              <a:rPr lang="en-US" b="1" dirty="0" smtClean="0"/>
              <a:t>: </a:t>
            </a:r>
            <a:r>
              <a:rPr lang="en-US" dirty="0" smtClean="0"/>
              <a:t>The proprietor starts a business with cash  Rs.100000 in his own building The total of these two items Rs.1100000 is the assets of the business and these two are the benefits the business is receiving. The total assets must be equal to the total liabilities</a:t>
            </a:r>
            <a:endParaRPr lang="en-US" dirty="0"/>
          </a:p>
        </p:txBody>
      </p:sp>
      <p:graphicFrame>
        <p:nvGraphicFramePr>
          <p:cNvPr id="4" name="Diagram 3"/>
          <p:cNvGraphicFramePr/>
          <p:nvPr/>
        </p:nvGraphicFramePr>
        <p:xfrm>
          <a:off x="838200" y="3352800"/>
          <a:ext cx="7162800" cy="137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8991600" cy="6400800"/>
          </a:xfrm>
        </p:spPr>
        <p:txBody>
          <a:bodyPr>
            <a:noAutofit/>
          </a:bodyPr>
          <a:lstStyle/>
          <a:p>
            <a:pPr algn="just">
              <a:buNone/>
            </a:pPr>
            <a:r>
              <a:rPr lang="en-US" sz="2800" b="1" dirty="0" smtClean="0"/>
              <a:t>3.Going Concern Concept:</a:t>
            </a:r>
            <a:r>
              <a:rPr lang="en-US" sz="2800" dirty="0" smtClean="0"/>
              <a:t> This concept assumes that the business will be continued indefinitely and will not be liquidated. Recording of transactions is based on this concept like division of expenses and incomes into revenue and capital. Assets are valued on historic cost and not on sale price; depreciation is charged on historic cost and expected life of the asset but not on market price. This concept is base for the investors to contribute funds because of the assurance of the continuity of the business. </a:t>
            </a:r>
          </a:p>
          <a:p>
            <a:pPr marL="0" indent="1588" algn="just">
              <a:buNone/>
            </a:pPr>
            <a:r>
              <a:rPr lang="en-US" sz="2800" b="1" dirty="0" smtClean="0"/>
              <a:t>4. ACCOUNTING PERIOD CONCEPT:	</a:t>
            </a:r>
            <a:r>
              <a:rPr lang="en-US" sz="2800" dirty="0" smtClean="0"/>
              <a:t>Accounting period is the span of time used for calculations and preparation of financial statements,  generally taken for twelve months. The companies whose shares are listed on stock exchange have to publish quarterly results.</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77000"/>
          </a:xfrm>
        </p:spPr>
        <p:txBody>
          <a:bodyPr>
            <a:normAutofit fontScale="92500"/>
          </a:bodyPr>
          <a:lstStyle/>
          <a:p>
            <a:pPr algn="just">
              <a:buNone/>
            </a:pPr>
            <a:r>
              <a:rPr lang="en-US" sz="4000" b="1" dirty="0" smtClean="0"/>
              <a:t>5</a:t>
            </a:r>
            <a:r>
              <a:rPr lang="en-US" sz="3300" b="1" dirty="0" smtClean="0"/>
              <a:t>. MONEY MEASUREMENT CONCEPT: </a:t>
            </a:r>
            <a:r>
              <a:rPr lang="en-US" sz="3300" dirty="0" smtClean="0"/>
              <a:t>Every transaction or event which can be measured in terms of money can only be entered in accounts like expenses and incomes, receipts and payments. The transactions having no monetary value can’t be entered like skilled </a:t>
            </a:r>
            <a:r>
              <a:rPr lang="en-US" sz="3300" dirty="0" err="1" smtClean="0"/>
              <a:t>labour</a:t>
            </a:r>
            <a:r>
              <a:rPr lang="en-US" sz="3300" dirty="0" smtClean="0"/>
              <a:t>, capabilities of managers and items measured in physical terms like 50 acres of land, five stairs building, stock because these are valued in different terms. Cost of land, construction cost of land, price of stock can be entered. This concept also has limitations; land bought ten years back does not worth the same at present, so inflation accounting has been introduced.</a:t>
            </a:r>
          </a:p>
          <a:p>
            <a:endParaRPr lang="en-US" dirty="0" smtClean="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lstStyle/>
          <a:p>
            <a:pPr>
              <a:buNone/>
            </a:pPr>
            <a:r>
              <a:rPr lang="en-US" b="1" dirty="0" smtClean="0"/>
              <a:t>6. COST (HISTORIC) CONCEPT: </a:t>
            </a:r>
            <a:r>
              <a:rPr lang="en-US" dirty="0" smtClean="0"/>
              <a:t> This concept requires to record all the assets at their cost price </a:t>
            </a:r>
            <a:r>
              <a:rPr lang="en-US" dirty="0" err="1" smtClean="0"/>
              <a:t>ie</a:t>
            </a:r>
            <a:r>
              <a:rPr lang="en-US" dirty="0" smtClean="0"/>
              <a:t>: price paid to acquire it which includes, purchase price, transportation, installation expenses. This price is the base for all subsequent accounting. The cost is reduced by charging depreciation every year to the extent the value of the asset used and the depreciated value of the asset is called ‘book value’ and is differentiated from market value.</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62500" lnSpcReduction="20000"/>
          </a:bodyPr>
          <a:lstStyle/>
          <a:p>
            <a:pPr marL="0" indent="1588" algn="ctr">
              <a:buNone/>
            </a:pPr>
            <a:r>
              <a:rPr lang="en-US" b="1" dirty="0" smtClean="0">
                <a:solidFill>
                  <a:srgbClr val="00B050"/>
                </a:solidFill>
              </a:rPr>
              <a:t>ACCOUNTING CONVENTIONS</a:t>
            </a:r>
          </a:p>
          <a:p>
            <a:pPr marL="0" indent="1588" algn="just">
              <a:buAutoNum type="arabicPeriod"/>
            </a:pPr>
            <a:r>
              <a:rPr lang="en-US" sz="3800" b="1" dirty="0" smtClean="0"/>
              <a:t>CONVENTION OF DISCLOSURE: </a:t>
            </a:r>
            <a:r>
              <a:rPr lang="en-US" sz="3800" dirty="0" smtClean="0"/>
              <a:t>Information provided by financial statements are used by different  persons called stakeholders depending on their need. This convention implies that the accounts are prepared honestly following all the concepts and conventions, rules and regulations and all the material facts are substantially disclosed especially in case of joint stock company where management and owners are separate. Contingent losses should be provided for but not the contingent profits because such events are likely to have a substantial influence on the earnings and financial position of the entity.</a:t>
            </a:r>
          </a:p>
          <a:p>
            <a:pPr marL="0" indent="1588" algn="just">
              <a:buNone/>
            </a:pPr>
            <a:endParaRPr lang="en-US" sz="3800" dirty="0" smtClean="0"/>
          </a:p>
          <a:p>
            <a:pPr marL="0" indent="1588" algn="just">
              <a:buNone/>
            </a:pPr>
            <a:r>
              <a:rPr lang="en-US" sz="3800" b="1" dirty="0" smtClean="0"/>
              <a:t>2. CONVENTION OF MATERIALITY: </a:t>
            </a:r>
            <a:r>
              <a:rPr lang="en-US" sz="3800" dirty="0" smtClean="0"/>
              <a:t>All the facts which are necessary for the investors to make proper evaluations and take a decision are to be disclosed like increasing capacity of the enterprise, change in the method of depreciation or any event which would likely to impact the liability should be disclosed. But the amount involved is small so that the amount cannot be allocated for more than a year need not be disclosed like purchase of stationery.</a:t>
            </a:r>
            <a:endParaRPr lang="en-US" sz="3800" b="1" dirty="0" smtClean="0"/>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477000"/>
          </a:xfrm>
        </p:spPr>
        <p:txBody>
          <a:bodyPr>
            <a:normAutofit fontScale="85000" lnSpcReduction="20000"/>
          </a:bodyPr>
          <a:lstStyle/>
          <a:p>
            <a:pPr marL="0" indent="1588" algn="just">
              <a:buNone/>
            </a:pPr>
            <a:r>
              <a:rPr lang="en-US" b="1" dirty="0" smtClean="0"/>
              <a:t>3. CONVENTION OF CONSISTENCY: </a:t>
            </a:r>
            <a:r>
              <a:rPr lang="en-US" dirty="0" smtClean="0"/>
              <a:t>It is essential that the accounting practices remain unchanged from one accounting period to another period may be for drawing conclusion regarding the performance of the enterprise compared to the previous years and also with the performance of other companies in the industry. Consistency eliminates personal bias. But necessary and required changes can be made with proper disclosure and their probable effect on the financial results.</a:t>
            </a:r>
          </a:p>
          <a:p>
            <a:pPr marL="0" indent="1588" algn="just">
              <a:buNone/>
            </a:pPr>
            <a:endParaRPr lang="en-US" dirty="0" smtClean="0"/>
          </a:p>
          <a:p>
            <a:pPr marL="0" indent="1588" algn="just">
              <a:buNone/>
            </a:pPr>
            <a:r>
              <a:rPr lang="en-US" b="1" dirty="0" smtClean="0"/>
              <a:t>4. CONVENTION OF CONSERVATISEM: </a:t>
            </a:r>
            <a:r>
              <a:rPr lang="en-US" dirty="0" smtClean="0"/>
              <a:t>According to this convention all the possible losses are to are to be considered but all the prospective profits are to be left. </a:t>
            </a:r>
          </a:p>
          <a:p>
            <a:pPr marL="0" indent="1588" algn="just">
              <a:buNone/>
            </a:pPr>
            <a:r>
              <a:rPr lang="en-US" b="1" dirty="0" err="1" smtClean="0"/>
              <a:t>Eg</a:t>
            </a:r>
            <a:r>
              <a:rPr lang="en-US" b="1" dirty="0" smtClean="0"/>
              <a:t>: </a:t>
            </a:r>
            <a:r>
              <a:rPr lang="en-US" dirty="0" smtClean="0"/>
              <a:t> provision for doubtful debts and discount of debtors, valuing the stock at market price or cost price which is less, </a:t>
            </a:r>
            <a:r>
              <a:rPr lang="en-US" dirty="0" err="1" smtClean="0"/>
              <a:t>amortising</a:t>
            </a:r>
            <a:r>
              <a:rPr lang="en-US" dirty="0" smtClean="0"/>
              <a:t> goodwill, shoeing insurance policy at surrender value.</a:t>
            </a:r>
            <a:endParaRPr lang="en-US" b="1" dirty="0" smtClean="0"/>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rmAutofit fontScale="92500" lnSpcReduction="10000"/>
          </a:bodyPr>
          <a:lstStyle/>
          <a:p>
            <a:r>
              <a:rPr lang="en-US" dirty="0" smtClean="0">
                <a:latin typeface="Times New Roman" pitchFamily="18" charset="0"/>
                <a:cs typeface="Times New Roman" pitchFamily="18" charset="0"/>
              </a:rPr>
              <a:t>Classification of accounts : </a:t>
            </a:r>
          </a:p>
          <a:p>
            <a:r>
              <a:rPr lang="en-US" dirty="0" smtClean="0">
                <a:solidFill>
                  <a:srgbClr val="FF0000"/>
                </a:solidFill>
                <a:latin typeface="Times New Roman" pitchFamily="18" charset="0"/>
                <a:cs typeface="Times New Roman" pitchFamily="18" charset="0"/>
              </a:rPr>
              <a:t>Personal account </a:t>
            </a:r>
            <a:r>
              <a:rPr lang="en-US" dirty="0" smtClean="0">
                <a:latin typeface="Times New Roman" pitchFamily="18" charset="0"/>
                <a:cs typeface="Times New Roman" pitchFamily="18" charset="0"/>
              </a:rPr>
              <a:t>– Names individuals, firms, representatives personal account</a:t>
            </a:r>
          </a:p>
          <a:p>
            <a:pPr>
              <a:buNone/>
            </a:pPr>
            <a:r>
              <a:rPr lang="en-US" dirty="0" smtClean="0">
                <a:latin typeface="Times New Roman" pitchFamily="18" charset="0"/>
                <a:cs typeface="Times New Roman" pitchFamily="18" charset="0"/>
              </a:rPr>
              <a:t>        Ex: Rama a/c, Suresh s/c, SBI a/c, Outstanding salaries a/c</a:t>
            </a:r>
          </a:p>
          <a:p>
            <a:endParaRPr lang="en-US"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Real account </a:t>
            </a:r>
            <a:r>
              <a:rPr lang="en-US" dirty="0" smtClean="0">
                <a:latin typeface="Times New Roman" pitchFamily="18" charset="0"/>
                <a:cs typeface="Times New Roman" pitchFamily="18" charset="0"/>
              </a:rPr>
              <a:t>– Deals with purchase and sale of assets </a:t>
            </a:r>
          </a:p>
          <a:p>
            <a:pPr>
              <a:buNone/>
            </a:pPr>
            <a:r>
              <a:rPr lang="en-US" dirty="0" smtClean="0">
                <a:latin typeface="Times New Roman" pitchFamily="18" charset="0"/>
                <a:cs typeface="Times New Roman" pitchFamily="18" charset="0"/>
              </a:rPr>
              <a:t>                  Ex: Building, Furniture</a:t>
            </a:r>
          </a:p>
          <a:p>
            <a:endParaRPr lang="en-US"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Nominal account </a:t>
            </a:r>
            <a:r>
              <a:rPr lang="en-US" dirty="0" smtClean="0">
                <a:latin typeface="Times New Roman" pitchFamily="18" charset="0"/>
                <a:cs typeface="Times New Roman" pitchFamily="18" charset="0"/>
              </a:rPr>
              <a:t>– Deals with  all expenses and losses and incomes and gains</a:t>
            </a:r>
          </a:p>
          <a:p>
            <a:r>
              <a:rPr lang="en-US" dirty="0" smtClean="0">
                <a:latin typeface="Times New Roman" pitchFamily="18" charset="0"/>
                <a:cs typeface="Times New Roman" pitchFamily="18" charset="0"/>
              </a:rPr>
              <a:t>    Ex: Salaries paid, Rent received </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lstStyle/>
          <a:p>
            <a:r>
              <a:rPr lang="en-US" dirty="0" smtClean="0"/>
              <a:t>Rules </a:t>
            </a:r>
          </a:p>
          <a:p>
            <a:r>
              <a:rPr lang="en-US" dirty="0" smtClean="0">
                <a:solidFill>
                  <a:srgbClr val="FF0000"/>
                </a:solidFill>
              </a:rPr>
              <a:t>Personal account</a:t>
            </a:r>
          </a:p>
          <a:p>
            <a:pPr lvl="2">
              <a:buNone/>
            </a:pPr>
            <a:r>
              <a:rPr lang="en-US" sz="2800" dirty="0" smtClean="0"/>
              <a:t>            Debit the receiver </a:t>
            </a:r>
          </a:p>
          <a:p>
            <a:pPr lvl="2">
              <a:buNone/>
            </a:pPr>
            <a:r>
              <a:rPr lang="en-US" sz="2800" dirty="0" smtClean="0"/>
              <a:t>            Credit the giver</a:t>
            </a:r>
          </a:p>
          <a:p>
            <a:pPr lvl="1">
              <a:buNone/>
            </a:pPr>
            <a:r>
              <a:rPr lang="en-US" dirty="0" smtClean="0">
                <a:solidFill>
                  <a:srgbClr val="FF0000"/>
                </a:solidFill>
              </a:rPr>
              <a:t>Real account</a:t>
            </a:r>
          </a:p>
          <a:p>
            <a:pPr lvl="1">
              <a:buNone/>
            </a:pPr>
            <a:r>
              <a:rPr lang="en-US" dirty="0" smtClean="0"/>
              <a:t>			 Debit what comes in</a:t>
            </a:r>
          </a:p>
          <a:p>
            <a:pPr lvl="1">
              <a:buNone/>
            </a:pPr>
            <a:r>
              <a:rPr lang="en-US" dirty="0" smtClean="0"/>
              <a:t>			 Credit what goes out</a:t>
            </a:r>
          </a:p>
          <a:p>
            <a:pPr lvl="1">
              <a:buNone/>
            </a:pPr>
            <a:r>
              <a:rPr lang="en-US" dirty="0" smtClean="0">
                <a:solidFill>
                  <a:srgbClr val="FF0000"/>
                </a:solidFill>
              </a:rPr>
              <a:t>Nominal account</a:t>
            </a:r>
          </a:p>
          <a:p>
            <a:pPr lvl="1">
              <a:buNone/>
            </a:pPr>
            <a:r>
              <a:rPr lang="en-US" dirty="0" smtClean="0"/>
              <a:t>	 		 Debit all expenses and losses</a:t>
            </a:r>
          </a:p>
          <a:p>
            <a:pPr lvl="1">
              <a:buNone/>
            </a:pPr>
            <a:r>
              <a:rPr lang="en-US" dirty="0" smtClean="0"/>
              <a:t>			 Credit all incomes and gains</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rmAutofit fontScale="92500" lnSpcReduction="10000"/>
          </a:bodyPr>
          <a:lstStyle/>
          <a:p>
            <a:pPr>
              <a:buNone/>
            </a:pPr>
            <a:r>
              <a:rPr lang="en-US" i="1" dirty="0" smtClean="0">
                <a:solidFill>
                  <a:srgbClr val="FF0000"/>
                </a:solidFill>
              </a:rPr>
              <a:t>Journalism the following transactions</a:t>
            </a:r>
          </a:p>
          <a:p>
            <a:r>
              <a:rPr lang="en-US" dirty="0" smtClean="0"/>
              <a:t>1. Land purchased for cash Rs.2000</a:t>
            </a:r>
          </a:p>
          <a:p>
            <a:r>
              <a:rPr lang="en-US" dirty="0" smtClean="0"/>
              <a:t>2. Gold sold for cash Rs.1000</a:t>
            </a:r>
          </a:p>
          <a:p>
            <a:r>
              <a:rPr lang="en-US" dirty="0" smtClean="0"/>
              <a:t>3. Furniture sold for cash Rs.1500</a:t>
            </a:r>
          </a:p>
          <a:p>
            <a:r>
              <a:rPr lang="en-US" dirty="0" smtClean="0"/>
              <a:t>4. Goods purchased for cash Rs.3000</a:t>
            </a:r>
          </a:p>
          <a:p>
            <a:r>
              <a:rPr lang="en-US" dirty="0" smtClean="0"/>
              <a:t>5. Sold goods for cash Rs.2500</a:t>
            </a:r>
          </a:p>
          <a:p>
            <a:r>
              <a:rPr lang="en-US" dirty="0" smtClean="0"/>
              <a:t>6. </a:t>
            </a:r>
            <a:r>
              <a:rPr lang="en-US" dirty="0" err="1" smtClean="0"/>
              <a:t>Mixi</a:t>
            </a:r>
            <a:r>
              <a:rPr lang="en-US" dirty="0" smtClean="0"/>
              <a:t> purchased for Rs.200</a:t>
            </a:r>
          </a:p>
          <a:p>
            <a:r>
              <a:rPr lang="en-US" dirty="0" smtClean="0"/>
              <a:t>7. Cycle sold for  Rs. 150</a:t>
            </a:r>
          </a:p>
          <a:p>
            <a:r>
              <a:rPr lang="en-US" dirty="0" smtClean="0"/>
              <a:t>8. Purchased goods from Mahesh Rs.240</a:t>
            </a:r>
          </a:p>
          <a:p>
            <a:r>
              <a:rPr lang="en-US" dirty="0" smtClean="0"/>
              <a:t>Goods purchased from </a:t>
            </a:r>
            <a:r>
              <a:rPr lang="en-US" dirty="0" err="1" smtClean="0"/>
              <a:t>Gopi</a:t>
            </a:r>
            <a:r>
              <a:rPr lang="en-US" dirty="0" smtClean="0"/>
              <a:t> Rs.150</a:t>
            </a:r>
          </a:p>
          <a:p>
            <a:r>
              <a:rPr lang="en-US" dirty="0" smtClean="0"/>
              <a:t>Cash deposited in to Bank Rs.250</a:t>
            </a:r>
          </a:p>
          <a:p>
            <a:r>
              <a:rPr lang="en-US" dirty="0" smtClean="0"/>
              <a:t>Cash withdraw from Bank Rs.300</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77000"/>
          </a:xfrm>
        </p:spPr>
        <p:txBody>
          <a:bodyPr>
            <a:normAutofit/>
          </a:bodyPr>
          <a:lstStyle/>
          <a:p>
            <a:pPr algn="ctr">
              <a:buNone/>
            </a:pPr>
            <a:r>
              <a:rPr lang="en-US" sz="2800" b="1" dirty="0" smtClean="0"/>
              <a:t>LEDGER   </a:t>
            </a:r>
            <a:endParaRPr lang="en-US" sz="2800" dirty="0" smtClean="0"/>
          </a:p>
          <a:p>
            <a:pPr>
              <a:buNone/>
            </a:pPr>
            <a:r>
              <a:rPr lang="en-US" sz="2800" dirty="0" smtClean="0"/>
              <a:t>After journalizing the transactions, the entries in the journal are transferred to appropriate accounts in the ledger to know the exact position of each account on any particular date.</a:t>
            </a:r>
          </a:p>
          <a:p>
            <a:pPr>
              <a:buNone/>
            </a:pPr>
            <a:r>
              <a:rPr lang="en-US" sz="2800" dirty="0" smtClean="0"/>
              <a:t>Ledger is a book in which various personal, real and nominal accounts are opened and positing are made. It is a book of final entry. All business transactions are first recorded in journal and then recorded in ledger. This process is called as “posting”. This is the </a:t>
            </a:r>
            <a:r>
              <a:rPr lang="en-US" sz="2800" dirty="0" err="1" smtClean="0"/>
              <a:t>proforma</a:t>
            </a:r>
            <a:r>
              <a:rPr lang="en-US" sz="2800" dirty="0" smtClean="0"/>
              <a:t>. </a:t>
            </a:r>
          </a:p>
          <a:p>
            <a:pPr algn="ctr">
              <a:buNone/>
            </a:pPr>
            <a:r>
              <a:rPr lang="en-US" sz="1600" b="1" dirty="0" smtClean="0"/>
              <a:t>Name of the account</a:t>
            </a:r>
          </a:p>
          <a:p>
            <a:pPr>
              <a:buNone/>
            </a:pPr>
            <a:endParaRPr lang="en-US" sz="2800" dirty="0"/>
          </a:p>
        </p:txBody>
      </p:sp>
      <p:graphicFrame>
        <p:nvGraphicFramePr>
          <p:cNvPr id="6" name="Table 5"/>
          <p:cNvGraphicFramePr>
            <a:graphicFrameLocks noGrp="1"/>
          </p:cNvGraphicFramePr>
          <p:nvPr/>
        </p:nvGraphicFramePr>
        <p:xfrm>
          <a:off x="304800" y="5029200"/>
          <a:ext cx="8610599" cy="1600200"/>
        </p:xfrm>
        <a:graphic>
          <a:graphicData uri="http://schemas.openxmlformats.org/drawingml/2006/table">
            <a:tbl>
              <a:tblPr firstRow="1" bandRow="1">
                <a:tableStyleId>{5C22544A-7EE6-4342-B048-85BDC9FD1C3A}</a:tableStyleId>
              </a:tblPr>
              <a:tblGrid>
                <a:gridCol w="939338"/>
                <a:gridCol w="2348345"/>
                <a:gridCol w="1017616"/>
                <a:gridCol w="782782"/>
                <a:gridCol w="2455719"/>
                <a:gridCol w="1066799"/>
              </a:tblGrid>
              <a:tr h="695109">
                <a:tc>
                  <a:txBody>
                    <a:bodyPr/>
                    <a:lstStyle/>
                    <a:p>
                      <a:r>
                        <a:rPr lang="en-US" dirty="0" smtClean="0"/>
                        <a:t>Date</a:t>
                      </a:r>
                      <a:endParaRPr lang="en-US" dirty="0"/>
                    </a:p>
                  </a:txBody>
                  <a:tcPr/>
                </a:tc>
                <a:tc>
                  <a:txBody>
                    <a:bodyPr/>
                    <a:lstStyle/>
                    <a:p>
                      <a:r>
                        <a:rPr lang="en-US" dirty="0" smtClean="0"/>
                        <a:t>Particulars</a:t>
                      </a:r>
                      <a:endParaRPr lang="en-US" dirty="0"/>
                    </a:p>
                  </a:txBody>
                  <a:tcPr/>
                </a:tc>
                <a:tc>
                  <a:txBody>
                    <a:bodyPr/>
                    <a:lstStyle/>
                    <a:p>
                      <a:r>
                        <a:rPr lang="en-US" dirty="0" smtClean="0"/>
                        <a:t>Amount</a:t>
                      </a:r>
                      <a:endParaRPr lang="en-US" dirty="0"/>
                    </a:p>
                  </a:txBody>
                  <a:tcPr/>
                </a:tc>
                <a:tc>
                  <a:txBody>
                    <a:bodyPr/>
                    <a:lstStyle/>
                    <a:p>
                      <a:r>
                        <a:rPr lang="en-US" dirty="0" smtClean="0"/>
                        <a:t>Date</a:t>
                      </a:r>
                      <a:endParaRPr lang="en-US" dirty="0"/>
                    </a:p>
                  </a:txBody>
                  <a:tcPr/>
                </a:tc>
                <a:tc>
                  <a:txBody>
                    <a:bodyPr/>
                    <a:lstStyle/>
                    <a:p>
                      <a:r>
                        <a:rPr lang="en-US" dirty="0" smtClean="0"/>
                        <a:t>Particulars</a:t>
                      </a:r>
                      <a:endParaRPr lang="en-US" dirty="0"/>
                    </a:p>
                  </a:txBody>
                  <a:tcPr/>
                </a:tc>
                <a:tc>
                  <a:txBody>
                    <a:bodyPr/>
                    <a:lstStyle/>
                    <a:p>
                      <a:r>
                        <a:rPr lang="en-US" dirty="0" smtClean="0"/>
                        <a:t>Amount</a:t>
                      </a:r>
                      <a:endParaRPr lang="en-US" dirty="0"/>
                    </a:p>
                  </a:txBody>
                  <a:tcPr/>
                </a:tc>
              </a:tr>
              <a:tr h="905091">
                <a:tc>
                  <a:txBody>
                    <a:bodyPr/>
                    <a:lstStyle/>
                    <a:p>
                      <a:endParaRPr lang="en-US"/>
                    </a:p>
                  </a:txBody>
                  <a:tcPr/>
                </a:tc>
                <a:tc>
                  <a:txBody>
                    <a:bodyPr/>
                    <a:lstStyle/>
                    <a:p>
                      <a:r>
                        <a:rPr lang="en-US" dirty="0" smtClean="0"/>
                        <a:t>To X a/c-----</a:t>
                      </a:r>
                      <a:endParaRPr lang="en-US" dirty="0"/>
                    </a:p>
                  </a:txBody>
                  <a:tcPr/>
                </a:tc>
                <a:tc>
                  <a:txBody>
                    <a:bodyPr/>
                    <a:lstStyle/>
                    <a:p>
                      <a:endParaRPr lang="en-US"/>
                    </a:p>
                  </a:txBody>
                  <a:tcPr/>
                </a:tc>
                <a:tc>
                  <a:txBody>
                    <a:bodyPr/>
                    <a:lstStyle/>
                    <a:p>
                      <a:endParaRPr lang="en-US" dirty="0"/>
                    </a:p>
                  </a:txBody>
                  <a:tcPr/>
                </a:tc>
                <a:tc>
                  <a:txBody>
                    <a:bodyPr/>
                    <a:lstStyle/>
                    <a:p>
                      <a:r>
                        <a:rPr lang="en-US" dirty="0" smtClean="0"/>
                        <a:t>By Y a/c----</a:t>
                      </a:r>
                      <a:endParaRPr lang="en-US" dirty="0"/>
                    </a:p>
                  </a:txBody>
                  <a:tcPr/>
                </a:tc>
                <a:tc>
                  <a:txBody>
                    <a:bodyPr/>
                    <a:lstStyle/>
                    <a:p>
                      <a:endParaRPr lang="en-US" dirty="0"/>
                    </a:p>
                  </a:txBody>
                  <a:tcPr/>
                </a:tc>
              </a:tr>
            </a:tbl>
          </a:graphicData>
        </a:graphic>
      </p:graphicFrame>
      <p:cxnSp>
        <p:nvCxnSpPr>
          <p:cNvPr id="8" name="Straight Connector 7"/>
          <p:cNvCxnSpPr/>
          <p:nvPr/>
        </p:nvCxnSpPr>
        <p:spPr>
          <a:xfrm>
            <a:off x="3581400" y="6400800"/>
            <a:ext cx="99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848600" y="6400800"/>
            <a:ext cx="10668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400800"/>
          </a:xfrm>
        </p:spPr>
        <p:txBody>
          <a:bodyPr/>
          <a:lstStyle/>
          <a:p>
            <a:pPr algn="ctr"/>
            <a:r>
              <a:rPr lang="en-US" sz="2800" b="1" dirty="0" smtClean="0"/>
              <a:t>Subsidiary books:</a:t>
            </a:r>
          </a:p>
          <a:p>
            <a:r>
              <a:rPr lang="en-US" sz="2800" dirty="0" smtClean="0"/>
              <a:t>When business transactions are very few, there is only one  Journal where all transactions are recorded. In big business concerns, recording of all transactions in one journal and then posting then into ledger will be very inconvenient and will involve a lot  of clerical work. To over come this difficulty big business concerns adopt system of subsidiary books. Under this system instead of maintaining one book several books are open on separate heads. </a:t>
            </a:r>
            <a:endParaRPr lang="en-US" sz="2800" dirty="0" smtClean="0"/>
          </a:p>
          <a:p>
            <a:r>
              <a:rPr lang="en-US" sz="2800" dirty="0" smtClean="0"/>
              <a:t>Subsidiary books are books of original as all the transactions are first recorded in these books before they are in respective ledgers</a:t>
            </a:r>
            <a:endParaRPr lang="en-US" sz="2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lstStyle/>
          <a:p>
            <a:r>
              <a:rPr lang="en-US" dirty="0" smtClean="0"/>
              <a:t>The following subsidiary books are used.</a:t>
            </a:r>
          </a:p>
          <a:p>
            <a:pPr>
              <a:buNone/>
            </a:pPr>
            <a:r>
              <a:rPr lang="en-US" dirty="0" smtClean="0"/>
              <a:t>	1. Purchases book</a:t>
            </a:r>
          </a:p>
          <a:p>
            <a:pPr>
              <a:buNone/>
            </a:pPr>
            <a:r>
              <a:rPr lang="en-US" dirty="0" smtClean="0"/>
              <a:t>	</a:t>
            </a:r>
            <a:r>
              <a:rPr lang="en-US" dirty="0" smtClean="0"/>
              <a:t>2. </a:t>
            </a:r>
            <a:r>
              <a:rPr lang="en-US" dirty="0" smtClean="0"/>
              <a:t>S</a:t>
            </a:r>
            <a:r>
              <a:rPr lang="en-US" dirty="0" smtClean="0"/>
              <a:t>ales book</a:t>
            </a:r>
          </a:p>
          <a:p>
            <a:pPr>
              <a:buNone/>
            </a:pPr>
            <a:r>
              <a:rPr lang="en-US" dirty="0" smtClean="0"/>
              <a:t>	</a:t>
            </a:r>
            <a:r>
              <a:rPr lang="en-US" dirty="0" smtClean="0"/>
              <a:t>3.Purchases returns book</a:t>
            </a:r>
          </a:p>
          <a:p>
            <a:pPr>
              <a:buNone/>
            </a:pPr>
            <a:r>
              <a:rPr lang="en-US" dirty="0" smtClean="0"/>
              <a:t>	</a:t>
            </a:r>
            <a:r>
              <a:rPr lang="en-US" dirty="0" smtClean="0"/>
              <a:t>4. Sales returns book</a:t>
            </a:r>
          </a:p>
          <a:p>
            <a:pPr>
              <a:buNone/>
            </a:pPr>
            <a:r>
              <a:rPr lang="en-US" dirty="0" smtClean="0"/>
              <a:t>	</a:t>
            </a:r>
            <a:r>
              <a:rPr lang="en-US" dirty="0" smtClean="0"/>
              <a:t>5. Cash book</a:t>
            </a:r>
          </a:p>
          <a:p>
            <a:pPr>
              <a:buNone/>
            </a:pPr>
            <a:r>
              <a:rPr lang="en-US" dirty="0" smtClean="0"/>
              <a:t>	</a:t>
            </a:r>
            <a:r>
              <a:rPr lang="en-US" dirty="0" smtClean="0"/>
              <a:t>6. Bills receivable book</a:t>
            </a:r>
          </a:p>
          <a:p>
            <a:pPr>
              <a:buNone/>
            </a:pPr>
            <a:r>
              <a:rPr lang="en-US" dirty="0" smtClean="0"/>
              <a:t>	</a:t>
            </a:r>
            <a:r>
              <a:rPr lang="en-US" dirty="0" smtClean="0"/>
              <a:t>7. Bills payable book</a:t>
            </a:r>
          </a:p>
          <a:p>
            <a:pPr>
              <a:buNone/>
            </a:pPr>
            <a:r>
              <a:rPr lang="en-US" dirty="0" smtClean="0"/>
              <a:t>	</a:t>
            </a:r>
            <a:r>
              <a:rPr lang="en-US" dirty="0" smtClean="0"/>
              <a:t>8. Journal proper</a:t>
            </a:r>
          </a:p>
          <a:p>
            <a:pPr>
              <a:buNone/>
            </a:pP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lstStyle/>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1692</Words>
  <Application>Microsoft Office PowerPoint</Application>
  <PresentationFormat>On-screen Show (4:3)</PresentationFormat>
  <Paragraphs>179</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Introduction to Accountancy</vt:lpstr>
      <vt:lpstr>Slide 2</vt:lpstr>
      <vt:lpstr>Slide 3</vt:lpstr>
      <vt:lpstr>Slide 4</vt:lpstr>
      <vt:lpstr>Slide 5</vt:lpstr>
      <vt:lpstr>Slide 6</vt:lpstr>
      <vt:lpstr>Slide 7</vt:lpstr>
      <vt:lpstr>Slide 8</vt:lpstr>
      <vt:lpstr>Slide 9</vt:lpstr>
      <vt:lpstr>Accounting terminology</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Accountancy</dc:title>
  <dc:creator>my pc</dc:creator>
  <cp:lastModifiedBy>my pc</cp:lastModifiedBy>
  <cp:revision>39</cp:revision>
  <dcterms:created xsi:type="dcterms:W3CDTF">2006-08-16T00:00:00Z</dcterms:created>
  <dcterms:modified xsi:type="dcterms:W3CDTF">2023-02-21T11:14:34Z</dcterms:modified>
</cp:coreProperties>
</file>