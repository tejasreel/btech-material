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ms-office.chartstyle+xml" PartName="/ppt/charts/style1.xml"/>
  <Override ContentType="application/vnd.ms-office.chartstyle+xml" PartName="/ppt/charts/style2.xml"/>
  <Override ContentType="application/vnd.ms-office.chartcolorstyle+xml" PartName="/ppt/charts/colors1.xml"/>
  <Override ContentType="application/vnd.ms-office.chartcolorstyle+xml" PartName="/ppt/charts/colors2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cdn-dynmedia-1.microsoft.co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cdn-dynmedia-1.microsoft.com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'[cdn-dynmedia-1.microsoft.com.xlsx]ComparativeBalance Sheets'!$A$21</c:f>
              <c:strCache>
                <c:ptCount val="1"/>
                <c:pt idx="0">
                  <c:v>            Total assets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'[cdn-dynmedia-1.microsoft.com.xlsx]ComparativeBalance Sheets'!$B$21:$D$21</c:f>
              <c:numCache>
                <c:formatCode>_("$"#,##0_);_("$"\(#,##0\);_(@_)</c:formatCode>
                <c:ptCount val="3"/>
                <c:pt idx="0">
                  <c:v>411976</c:v>
                </c:pt>
                <c:pt idx="1">
                  <c:v>549301.33333333326</c:v>
                </c:pt>
                <c:pt idx="2">
                  <c:v>686626.66666666674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697507616"/>
        <c:axId val="-697504896"/>
      </c:barChart>
      <c:catAx>
        <c:axId val="-6975076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97504896"/>
        <c:crosses val="autoZero"/>
        <c:auto val="1"/>
        <c:lblAlgn val="ctr"/>
        <c:lblOffset val="100"/>
        <c:noMultiLvlLbl val="0"/>
      </c:catAx>
      <c:valAx>
        <c:axId val="-69750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#,##0_);_(&quot;$&quot;\(#,##0\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97507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'[cdn-dynmedia-1.microsoft.com.xlsx]ComparativeBalance Sheets'!$A$43</c:f>
              <c:strCache>
                <c:ptCount val="1"/>
                <c:pt idx="0">
                  <c:v>            Total liabilities and stockholders' equity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'[cdn-dynmedia-1.microsoft.com.xlsx]ComparativeBalance Sheets'!$B$43:$D$43</c:f>
              <c:numCache>
                <c:formatCode>_("$"#,##0_);_("$"\(#,##0\);_(@_)</c:formatCode>
                <c:ptCount val="3"/>
                <c:pt idx="0">
                  <c:v>411976</c:v>
                </c:pt>
                <c:pt idx="1">
                  <c:v>549301.33333333326</c:v>
                </c:pt>
                <c:pt idx="2">
                  <c:v>686626.66666666674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697512512"/>
        <c:axId val="-697517952"/>
      </c:barChart>
      <c:catAx>
        <c:axId val="-6975125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97517952"/>
        <c:crosses val="autoZero"/>
        <c:auto val="1"/>
        <c:lblAlgn val="ctr"/>
        <c:lblOffset val="100"/>
        <c:noMultiLvlLbl val="0"/>
      </c:catAx>
      <c:valAx>
        <c:axId val="-697517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#,##0_);_(&quot;$&quot;\(#,##0\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97512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6744A-403D-42A1-BFE7-61DA46EE7C6C}" type="datetimeFigureOut">
              <a:rPr lang="en-US" smtClean="0"/>
              <a:t>4/24/2025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5635-4EFD-4447-A451-86C57984FA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02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 bwMode="grayWhite"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75000"/>
            </a:schemeClr>
          </a:solidFill>
        </p:spPr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69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3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22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2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55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6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7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73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58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 smtClean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Add a footer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t>4/24/2025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97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>
            <a:lumMod val="75000"/>
          </a:schemeClr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>
            <a:lumMod val="75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lumMod val="60000"/>
            <a:lumOff val="4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>
            <a:lumMod val="75000"/>
          </a:schemeClr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lumMod val="75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285750" algn="l" rtl="0" eaLnBrk="1" latinLnBrk="0" hangingPunct="1">
        <a:spcBef>
          <a:spcPts val="370"/>
        </a:spcBef>
        <a:buClr>
          <a:schemeClr val="accent3">
            <a:lumMod val="50000"/>
          </a:schemeClr>
        </a:buClr>
        <a:buFont typeface="Arial" panose="020B0604020202020204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Microsoft Flexible Budget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315" y="3245318"/>
            <a:ext cx="5727370" cy="320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7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6657" y="594648"/>
            <a:ext cx="5769350" cy="53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500196" y="2628511"/>
            <a:ext cx="5133300" cy="23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Assets: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Current Assets Drive Majority of Asset Base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100% capacity,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Assets = $307,095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making up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44.7%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total assets.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high liquidity and agility to meet short-term obligations and growth opportunities.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Cash &amp; Investments Form a Strong Liquidity Backbone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cash, cash equivalents, and short-term investments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rise from $111,262 → $185,437.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66.6% growth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directly aligned with capacity increase.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Solid buffer for operational stability, acquisitions, or R&amp;D.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761522" y="282133"/>
          <a:ext cx="8668956" cy="6293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785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07575" y="528124"/>
            <a:ext cx="6626350" cy="563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 txBox="1"/>
          <p:nvPr/>
        </p:nvSpPr>
        <p:spPr>
          <a:xfrm>
            <a:off x="893175" y="528130"/>
            <a:ext cx="4214400" cy="41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Liabilities:</a:t>
            </a:r>
            <a:endParaRPr b="1"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 At 100% capacity:</a:t>
            </a:r>
            <a:endParaRPr>
              <a:solidFill>
                <a:schemeClr val="dk1"/>
              </a:solidFill>
            </a:endParaRPr>
          </a:p>
          <a:p>
            <a:pPr indent="-1143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>
                <a:solidFill>
                  <a:schemeClr val="dk1"/>
                </a:solidFill>
              </a:rPr>
              <a:t> Total Equity = $343,705 (50.1%)</a:t>
            </a:r>
            <a:endParaRPr sz="1800">
              <a:solidFill>
                <a:schemeClr val="dk1"/>
              </a:solidFill>
            </a:endParaRPr>
          </a:p>
          <a:p>
            <a:pPr indent="-1143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>
                <a:solidFill>
                  <a:schemeClr val="dk1"/>
                </a:solidFill>
              </a:rPr>
              <a:t> Total Liabilities = $342,922 (49.9%)</a:t>
            </a:r>
            <a:endParaRPr sz="1800">
              <a:solidFill>
                <a:schemeClr val="dk1"/>
              </a:solidFill>
            </a:endParaRPr>
          </a:p>
          <a:p>
            <a:pPr indent="-1143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 Shows a </a:t>
            </a:r>
            <a:r>
              <a:rPr b="1" lang="en-US" sz="1800">
                <a:solidFill>
                  <a:schemeClr val="dk1"/>
                </a:solidFill>
              </a:rPr>
              <a:t>balanced approach</a:t>
            </a:r>
            <a:r>
              <a:rPr lang="en-US" sz="1800">
                <a:solidFill>
                  <a:schemeClr val="dk1"/>
                </a:solidFill>
              </a:rPr>
              <a:t> to funding growth through both internal (retained earnings) and external (debt and obligations) sources.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761522" y="282133"/>
          <a:ext cx="8668956" cy="6293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50492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usiness plan presentation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 plan presentation.potx" id="{B0CF94B3-F59B-427A-A620-6B86E9154593}" vid="{92489599-94E0-42FA-BFD7-90FE9B56DF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