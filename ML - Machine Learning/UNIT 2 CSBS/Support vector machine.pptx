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320" r:id="rId2"/>
    <p:sldId id="437" r:id="rId3"/>
    <p:sldId id="536" r:id="rId4"/>
    <p:sldId id="538" r:id="rId5"/>
    <p:sldId id="532" r:id="rId6"/>
    <p:sldId id="487" r:id="rId7"/>
    <p:sldId id="539" r:id="rId8"/>
    <p:sldId id="447" r:id="rId9"/>
    <p:sldId id="483" r:id="rId10"/>
    <p:sldId id="485" r:id="rId11"/>
    <p:sldId id="486" r:id="rId12"/>
    <p:sldId id="480" r:id="rId13"/>
    <p:sldId id="448" r:id="rId14"/>
    <p:sldId id="482" r:id="rId15"/>
    <p:sldId id="540" r:id="rId16"/>
    <p:sldId id="481" r:id="rId17"/>
    <p:sldId id="469" r:id="rId18"/>
    <p:sldId id="474" r:id="rId19"/>
    <p:sldId id="475" r:id="rId20"/>
    <p:sldId id="493" r:id="rId21"/>
    <p:sldId id="495" r:id="rId22"/>
    <p:sldId id="545" r:id="rId23"/>
    <p:sldId id="546" r:id="rId24"/>
    <p:sldId id="449" r:id="rId25"/>
    <p:sldId id="531" r:id="rId26"/>
    <p:sldId id="492" r:id="rId27"/>
    <p:sldId id="534" r:id="rId28"/>
    <p:sldId id="542" r:id="rId29"/>
    <p:sldId id="543" r:id="rId30"/>
    <p:sldId id="544" r:id="rId31"/>
    <p:sldId id="533" r:id="rId32"/>
    <p:sldId id="445" r:id="rId33"/>
    <p:sldId id="460" r:id="rId34"/>
    <p:sldId id="537"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950" autoAdjust="0"/>
    <p:restoredTop sz="94660"/>
  </p:normalViewPr>
  <p:slideViewPr>
    <p:cSldViewPr snapToGrid="0">
      <p:cViewPr>
        <p:scale>
          <a:sx n="75" d="100"/>
          <a:sy n="75" d="100"/>
        </p:scale>
        <p:origin x="1022" y="23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diagrams/_rels/data1.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hyperlink" Target="https://monkeylearn.com/machine-learning/" TargetMode="External"/><Relationship Id="rId6" Type="http://schemas.openxmlformats.org/officeDocument/2006/relationships/image" Target="../media/image4.png"/><Relationship Id="rId5" Type="http://schemas.openxmlformats.org/officeDocument/2006/relationships/image" Target="../media/image5.svg"/><Relationship Id="rId4" Type="http://schemas.openxmlformats.org/officeDocument/2006/relationships/image" Target="../media/image3.pn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D4C96ED1-2C38-4808-9247-42A31BC25B9C}"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6411F2DD-6BBF-4298-B414-DBEDBAB42B62}">
      <dgm:prSet/>
      <dgm:spPr/>
      <dgm:t>
        <a:bodyPr/>
        <a:lstStyle/>
        <a:p>
          <a:r>
            <a:rPr lang="en-US" dirty="0"/>
            <a:t>Support Vector Machine” (SVM) is a </a:t>
          </a:r>
          <a:r>
            <a:rPr lang="en-US" u="sng" dirty="0"/>
            <a:t>supervised machine </a:t>
          </a:r>
          <a:r>
            <a:rPr lang="en-US" dirty="0"/>
            <a:t>learning algorithm which can be used for </a:t>
          </a:r>
          <a:r>
            <a:rPr lang="en-US" u="sng" dirty="0"/>
            <a:t>both classification or regression challenges.</a:t>
          </a:r>
        </a:p>
      </dgm:t>
    </dgm:pt>
    <dgm:pt modelId="{21AF0340-9FC8-4F0B-8A00-F1CA5236DFC4}" type="parTrans" cxnId="{8528AF87-02B2-4DE6-BD5B-209AE112E09B}">
      <dgm:prSet/>
      <dgm:spPr/>
      <dgm:t>
        <a:bodyPr/>
        <a:lstStyle/>
        <a:p>
          <a:endParaRPr lang="en-US"/>
        </a:p>
      </dgm:t>
    </dgm:pt>
    <dgm:pt modelId="{401606C1-D0B2-4AC9-9352-D028BB55F1A4}" type="sibTrans" cxnId="{8528AF87-02B2-4DE6-BD5B-209AE112E09B}">
      <dgm:prSet/>
      <dgm:spPr/>
      <dgm:t>
        <a:bodyPr/>
        <a:lstStyle/>
        <a:p>
          <a:endParaRPr lang="en-US"/>
        </a:p>
      </dgm:t>
    </dgm:pt>
    <dgm:pt modelId="{865761B1-9739-46ED-8DF2-A4DBD9AD3AA4}">
      <dgm:prSet/>
      <dgm:spPr/>
      <dgm:t>
        <a:bodyPr/>
        <a:lstStyle/>
        <a:p>
          <a:r>
            <a:rPr lang="en-US" b="0" i="0"/>
            <a:t>A support vector machine (SVM) is a supervised </a:t>
          </a:r>
          <a:r>
            <a:rPr lang="en-US" b="0" i="0">
              <a:hlinkClick xmlns:r="http://schemas.openxmlformats.org/officeDocument/2006/relationships" r:id="rId1"/>
            </a:rPr>
            <a:t>machine learning</a:t>
          </a:r>
          <a:r>
            <a:rPr lang="en-US" b="0" i="0"/>
            <a:t> model that uses classification algorithms for two-group classification problems. After giving an SVM model sets of labeled training data for each category, they’re able to categorize new text.</a:t>
          </a:r>
          <a:endParaRPr lang="en-US"/>
        </a:p>
      </dgm:t>
    </dgm:pt>
    <dgm:pt modelId="{EC5CCF94-7A37-46DB-87D3-5BCE915C1E0B}" type="parTrans" cxnId="{5ECE1B5E-F2DE-4721-AA39-72C60F862983}">
      <dgm:prSet/>
      <dgm:spPr/>
      <dgm:t>
        <a:bodyPr/>
        <a:lstStyle/>
        <a:p>
          <a:endParaRPr lang="en-US"/>
        </a:p>
      </dgm:t>
    </dgm:pt>
    <dgm:pt modelId="{A56F3C68-2683-4A71-8B83-9316B5A5DA9C}" type="sibTrans" cxnId="{5ECE1B5E-F2DE-4721-AA39-72C60F862983}">
      <dgm:prSet/>
      <dgm:spPr/>
      <dgm:t>
        <a:bodyPr/>
        <a:lstStyle/>
        <a:p>
          <a:endParaRPr lang="en-US"/>
        </a:p>
      </dgm:t>
    </dgm:pt>
    <dgm:pt modelId="{93BFDA6F-BF59-46D5-B660-DB956B4204B6}">
      <dgm:prSet/>
      <dgm:spPr/>
      <dgm:t>
        <a:bodyPr/>
        <a:lstStyle/>
        <a:p>
          <a:r>
            <a:rPr lang="en-US"/>
            <a:t>The objective of the support vector machine algorithm is to find a hyperplane in an N-dimensional space(N — the number of features) that distinctly classifies the data points.</a:t>
          </a:r>
        </a:p>
      </dgm:t>
    </dgm:pt>
    <dgm:pt modelId="{80C8796D-8429-4315-9723-E5AF62F9FD8A}" type="parTrans" cxnId="{B6258516-B48E-45D0-A54B-F03864BE0330}">
      <dgm:prSet/>
      <dgm:spPr/>
      <dgm:t>
        <a:bodyPr/>
        <a:lstStyle/>
        <a:p>
          <a:endParaRPr lang="en-US"/>
        </a:p>
      </dgm:t>
    </dgm:pt>
    <dgm:pt modelId="{6E6556DB-3DEA-40B6-93B9-87C4D4D78E6F}" type="sibTrans" cxnId="{B6258516-B48E-45D0-A54B-F03864BE0330}">
      <dgm:prSet/>
      <dgm:spPr/>
      <dgm:t>
        <a:bodyPr/>
        <a:lstStyle/>
        <a:p>
          <a:endParaRPr lang="en-US"/>
        </a:p>
      </dgm:t>
    </dgm:pt>
    <dgm:pt modelId="{309C7D51-C473-4545-BC5A-D0543857DA95}" type="pres">
      <dgm:prSet presAssocID="{D4C96ED1-2C38-4808-9247-42A31BC25B9C}" presName="root" presStyleCnt="0">
        <dgm:presLayoutVars>
          <dgm:dir/>
          <dgm:resizeHandles val="exact"/>
        </dgm:presLayoutVars>
      </dgm:prSet>
      <dgm:spPr/>
      <dgm:t>
        <a:bodyPr/>
        <a:lstStyle/>
        <a:p>
          <a:endParaRPr lang="en-US"/>
        </a:p>
      </dgm:t>
    </dgm:pt>
    <dgm:pt modelId="{3A5329DB-9C5A-4189-87BD-96B4691064CA}" type="pres">
      <dgm:prSet presAssocID="{6411F2DD-6BBF-4298-B414-DBEDBAB42B62}" presName="compNode" presStyleCnt="0"/>
      <dgm:spPr/>
    </dgm:pt>
    <dgm:pt modelId="{2D985535-BAEF-4B7D-8985-B35CF7D51DA0}" type="pres">
      <dgm:prSet presAssocID="{6411F2DD-6BBF-4298-B414-DBEDBAB42B62}" presName="bgRect" presStyleLbl="bgShp" presStyleIdx="0" presStyleCnt="3"/>
      <dgm:spPr/>
    </dgm:pt>
    <dgm:pt modelId="{9B2A20AE-5B70-4E1D-8DBF-9A94071DCB30}" type="pres">
      <dgm:prSet presAssocID="{6411F2DD-6BBF-4298-B414-DBEDBAB42B62}" presName="iconRect" presStyleLbl="node1" presStyleIdx="0" presStyleCnt="3"/>
      <dgm:spPr>
        <a:blipFill>
          <a:blip xmlns:r="http://schemas.openxmlformats.org/officeDocument/2006/relationships"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a:blipFill>
        <a:ln>
          <a:noFill/>
        </a:ln>
      </dgm:spPr>
      <dgm:extLst>
        <a:ext uri="{E40237B7-FDA0-4F09-8148-C483321AD2D9}">
          <dgm14:cNvPr xmlns:dgm14="http://schemas.microsoft.com/office/drawing/2010/diagram" id="0" name="" descr="Arrow Circle"/>
        </a:ext>
      </dgm:extLst>
    </dgm:pt>
    <dgm:pt modelId="{B986C3E2-FC40-416D-B085-A1AD7285D368}" type="pres">
      <dgm:prSet presAssocID="{6411F2DD-6BBF-4298-B414-DBEDBAB42B62}" presName="spaceRect" presStyleCnt="0"/>
      <dgm:spPr/>
    </dgm:pt>
    <dgm:pt modelId="{6AFD4525-C9E1-41AF-AE9E-658F1F2D3556}" type="pres">
      <dgm:prSet presAssocID="{6411F2DD-6BBF-4298-B414-DBEDBAB42B62}" presName="parTx" presStyleLbl="revTx" presStyleIdx="0" presStyleCnt="3">
        <dgm:presLayoutVars>
          <dgm:chMax val="0"/>
          <dgm:chPref val="0"/>
        </dgm:presLayoutVars>
      </dgm:prSet>
      <dgm:spPr/>
      <dgm:t>
        <a:bodyPr/>
        <a:lstStyle/>
        <a:p>
          <a:endParaRPr lang="en-US"/>
        </a:p>
      </dgm:t>
    </dgm:pt>
    <dgm:pt modelId="{7E54F126-01CA-4395-979B-0401087C1CC0}" type="pres">
      <dgm:prSet presAssocID="{401606C1-D0B2-4AC9-9352-D028BB55F1A4}" presName="sibTrans" presStyleCnt="0"/>
      <dgm:spPr/>
    </dgm:pt>
    <dgm:pt modelId="{8F6B6963-6146-4EA1-A5A4-970FA13CAA42}" type="pres">
      <dgm:prSet presAssocID="{865761B1-9739-46ED-8DF2-A4DBD9AD3AA4}" presName="compNode" presStyleCnt="0"/>
      <dgm:spPr/>
    </dgm:pt>
    <dgm:pt modelId="{B30E46F2-1AFF-495F-83F2-FC5A62BD46AC}" type="pres">
      <dgm:prSet presAssocID="{865761B1-9739-46ED-8DF2-A4DBD9AD3AA4}" presName="bgRect" presStyleLbl="bgShp" presStyleIdx="1" presStyleCnt="3"/>
      <dgm:spPr/>
    </dgm:pt>
    <dgm:pt modelId="{5648B036-9B37-4C1B-AD2D-05763E4E8FC7}" type="pres">
      <dgm:prSet presAssocID="{865761B1-9739-46ED-8DF2-A4DBD9AD3AA4}" presName="iconRect" presStyleLbl="node1" presStyleIdx="1" presStyleCnt="3"/>
      <dgm:spPr>
        <a:blipFill>
          <a:blip xmlns:r="http://schemas.openxmlformats.org/officeDocument/2006/relationships"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a:blipFill>
        <a:ln>
          <a:noFill/>
        </a:ln>
      </dgm:spPr>
      <dgm:extLst>
        <a:ext uri="{E40237B7-FDA0-4F09-8148-C483321AD2D9}">
          <dgm14:cNvPr xmlns:dgm14="http://schemas.microsoft.com/office/drawing/2010/diagram" id="0" name="" descr="Flowchart"/>
        </a:ext>
      </dgm:extLst>
    </dgm:pt>
    <dgm:pt modelId="{9111B900-E954-4C58-90B3-9E96FDC0D9AC}" type="pres">
      <dgm:prSet presAssocID="{865761B1-9739-46ED-8DF2-A4DBD9AD3AA4}" presName="spaceRect" presStyleCnt="0"/>
      <dgm:spPr/>
    </dgm:pt>
    <dgm:pt modelId="{83675B3E-F2F6-4C51-9676-AD763E6EC83E}" type="pres">
      <dgm:prSet presAssocID="{865761B1-9739-46ED-8DF2-A4DBD9AD3AA4}" presName="parTx" presStyleLbl="revTx" presStyleIdx="1" presStyleCnt="3">
        <dgm:presLayoutVars>
          <dgm:chMax val="0"/>
          <dgm:chPref val="0"/>
        </dgm:presLayoutVars>
      </dgm:prSet>
      <dgm:spPr/>
      <dgm:t>
        <a:bodyPr/>
        <a:lstStyle/>
        <a:p>
          <a:endParaRPr lang="en-US"/>
        </a:p>
      </dgm:t>
    </dgm:pt>
    <dgm:pt modelId="{D8E0CF4C-EB5A-449B-8BCA-F57DB8B8558A}" type="pres">
      <dgm:prSet presAssocID="{A56F3C68-2683-4A71-8B83-9316B5A5DA9C}" presName="sibTrans" presStyleCnt="0"/>
      <dgm:spPr/>
    </dgm:pt>
    <dgm:pt modelId="{C1E275DE-D86D-4234-9BC8-A211143B4E40}" type="pres">
      <dgm:prSet presAssocID="{93BFDA6F-BF59-46D5-B660-DB956B4204B6}" presName="compNode" presStyleCnt="0"/>
      <dgm:spPr/>
    </dgm:pt>
    <dgm:pt modelId="{B6E276DC-0A62-4E26-BBB8-E02F1C739A77}" type="pres">
      <dgm:prSet presAssocID="{93BFDA6F-BF59-46D5-B660-DB956B4204B6}" presName="bgRect" presStyleLbl="bgShp" presStyleIdx="2" presStyleCnt="3"/>
      <dgm:spPr/>
    </dgm:pt>
    <dgm:pt modelId="{8321558D-FCF1-48D1-B834-A1D1D1F25FA7}" type="pres">
      <dgm:prSet presAssocID="{93BFDA6F-BF59-46D5-B660-DB956B4204B6}" presName="iconRect" presStyleLbl="node1" presStyleIdx="2" presStyleCnt="3"/>
      <dgm:spPr>
        <a:blipFill>
          <a:blip xmlns:r="http://schemas.openxmlformats.org/officeDocument/2006/relationships"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a:blipFill>
        <a:ln>
          <a:noFill/>
        </a:ln>
      </dgm:spPr>
      <dgm:extLst>
        <a:ext uri="{E40237B7-FDA0-4F09-8148-C483321AD2D9}">
          <dgm14:cNvPr xmlns:dgm14="http://schemas.microsoft.com/office/drawing/2010/diagram" id="0" name="" descr="Astronaut"/>
        </a:ext>
      </dgm:extLst>
    </dgm:pt>
    <dgm:pt modelId="{3FF141AB-B05C-4210-9AED-B6D95E7C2946}" type="pres">
      <dgm:prSet presAssocID="{93BFDA6F-BF59-46D5-B660-DB956B4204B6}" presName="spaceRect" presStyleCnt="0"/>
      <dgm:spPr/>
    </dgm:pt>
    <dgm:pt modelId="{24FB6472-C3BC-4428-8A6B-A0A62B05E3C4}" type="pres">
      <dgm:prSet presAssocID="{93BFDA6F-BF59-46D5-B660-DB956B4204B6}" presName="parTx" presStyleLbl="revTx" presStyleIdx="2" presStyleCnt="3">
        <dgm:presLayoutVars>
          <dgm:chMax val="0"/>
          <dgm:chPref val="0"/>
        </dgm:presLayoutVars>
      </dgm:prSet>
      <dgm:spPr/>
      <dgm:t>
        <a:bodyPr/>
        <a:lstStyle/>
        <a:p>
          <a:endParaRPr lang="en-US"/>
        </a:p>
      </dgm:t>
    </dgm:pt>
  </dgm:ptLst>
  <dgm:cxnLst>
    <dgm:cxn modelId="{1AF40F24-AA6E-4FEC-B582-3D6D216C2029}" type="presOf" srcId="{D4C96ED1-2C38-4808-9247-42A31BC25B9C}" destId="{309C7D51-C473-4545-BC5A-D0543857DA95}" srcOrd="0" destOrd="0" presId="urn:microsoft.com/office/officeart/2018/2/layout/IconVerticalSolidList"/>
    <dgm:cxn modelId="{86151EBE-13E7-4DBF-B3AF-DC96733F7717}" type="presOf" srcId="{93BFDA6F-BF59-46D5-B660-DB956B4204B6}" destId="{24FB6472-C3BC-4428-8A6B-A0A62B05E3C4}" srcOrd="0" destOrd="0" presId="urn:microsoft.com/office/officeart/2018/2/layout/IconVerticalSolidList"/>
    <dgm:cxn modelId="{5ECE1B5E-F2DE-4721-AA39-72C60F862983}" srcId="{D4C96ED1-2C38-4808-9247-42A31BC25B9C}" destId="{865761B1-9739-46ED-8DF2-A4DBD9AD3AA4}" srcOrd="1" destOrd="0" parTransId="{EC5CCF94-7A37-46DB-87D3-5BCE915C1E0B}" sibTransId="{A56F3C68-2683-4A71-8B83-9316B5A5DA9C}"/>
    <dgm:cxn modelId="{2E5662F9-5C18-46FE-88AF-D23C18707F0B}" type="presOf" srcId="{865761B1-9739-46ED-8DF2-A4DBD9AD3AA4}" destId="{83675B3E-F2F6-4C51-9676-AD763E6EC83E}" srcOrd="0" destOrd="0" presId="urn:microsoft.com/office/officeart/2018/2/layout/IconVerticalSolidList"/>
    <dgm:cxn modelId="{29249FC4-F1B3-4AF9-B734-3D032EC66BE7}" type="presOf" srcId="{6411F2DD-6BBF-4298-B414-DBEDBAB42B62}" destId="{6AFD4525-C9E1-41AF-AE9E-658F1F2D3556}" srcOrd="0" destOrd="0" presId="urn:microsoft.com/office/officeart/2018/2/layout/IconVerticalSolidList"/>
    <dgm:cxn modelId="{B6258516-B48E-45D0-A54B-F03864BE0330}" srcId="{D4C96ED1-2C38-4808-9247-42A31BC25B9C}" destId="{93BFDA6F-BF59-46D5-B660-DB956B4204B6}" srcOrd="2" destOrd="0" parTransId="{80C8796D-8429-4315-9723-E5AF62F9FD8A}" sibTransId="{6E6556DB-3DEA-40B6-93B9-87C4D4D78E6F}"/>
    <dgm:cxn modelId="{8528AF87-02B2-4DE6-BD5B-209AE112E09B}" srcId="{D4C96ED1-2C38-4808-9247-42A31BC25B9C}" destId="{6411F2DD-6BBF-4298-B414-DBEDBAB42B62}" srcOrd="0" destOrd="0" parTransId="{21AF0340-9FC8-4F0B-8A00-F1CA5236DFC4}" sibTransId="{401606C1-D0B2-4AC9-9352-D028BB55F1A4}"/>
    <dgm:cxn modelId="{1C7B1491-5CEE-4787-96DA-54478936C4A3}" type="presParOf" srcId="{309C7D51-C473-4545-BC5A-D0543857DA95}" destId="{3A5329DB-9C5A-4189-87BD-96B4691064CA}" srcOrd="0" destOrd="0" presId="urn:microsoft.com/office/officeart/2018/2/layout/IconVerticalSolidList"/>
    <dgm:cxn modelId="{D8EC0EC6-9657-40AE-95D4-DAAFB26DE3D8}" type="presParOf" srcId="{3A5329DB-9C5A-4189-87BD-96B4691064CA}" destId="{2D985535-BAEF-4B7D-8985-B35CF7D51DA0}" srcOrd="0" destOrd="0" presId="urn:microsoft.com/office/officeart/2018/2/layout/IconVerticalSolidList"/>
    <dgm:cxn modelId="{D5CB925F-8055-41C1-BA69-F8E961C98DD1}" type="presParOf" srcId="{3A5329DB-9C5A-4189-87BD-96B4691064CA}" destId="{9B2A20AE-5B70-4E1D-8DBF-9A94071DCB30}" srcOrd="1" destOrd="0" presId="urn:microsoft.com/office/officeart/2018/2/layout/IconVerticalSolidList"/>
    <dgm:cxn modelId="{01119E00-231A-42DB-9764-6CA7D523DF4A}" type="presParOf" srcId="{3A5329DB-9C5A-4189-87BD-96B4691064CA}" destId="{B986C3E2-FC40-416D-B085-A1AD7285D368}" srcOrd="2" destOrd="0" presId="urn:microsoft.com/office/officeart/2018/2/layout/IconVerticalSolidList"/>
    <dgm:cxn modelId="{34D13B86-579D-44BB-826C-5662C12F57EC}" type="presParOf" srcId="{3A5329DB-9C5A-4189-87BD-96B4691064CA}" destId="{6AFD4525-C9E1-41AF-AE9E-658F1F2D3556}" srcOrd="3" destOrd="0" presId="urn:microsoft.com/office/officeart/2018/2/layout/IconVerticalSolidList"/>
    <dgm:cxn modelId="{F518D7DF-C01C-485D-904A-08596E653451}" type="presParOf" srcId="{309C7D51-C473-4545-BC5A-D0543857DA95}" destId="{7E54F126-01CA-4395-979B-0401087C1CC0}" srcOrd="1" destOrd="0" presId="urn:microsoft.com/office/officeart/2018/2/layout/IconVerticalSolidList"/>
    <dgm:cxn modelId="{474D86AB-59DF-4433-9D83-D0CDE551DD8E}" type="presParOf" srcId="{309C7D51-C473-4545-BC5A-D0543857DA95}" destId="{8F6B6963-6146-4EA1-A5A4-970FA13CAA42}" srcOrd="2" destOrd="0" presId="urn:microsoft.com/office/officeart/2018/2/layout/IconVerticalSolidList"/>
    <dgm:cxn modelId="{C7754B3E-300D-40F8-BE8F-7977E670CBDF}" type="presParOf" srcId="{8F6B6963-6146-4EA1-A5A4-970FA13CAA42}" destId="{B30E46F2-1AFF-495F-83F2-FC5A62BD46AC}" srcOrd="0" destOrd="0" presId="urn:microsoft.com/office/officeart/2018/2/layout/IconVerticalSolidList"/>
    <dgm:cxn modelId="{1ED6CF5C-4F5F-4A4F-92A6-83B304247AB9}" type="presParOf" srcId="{8F6B6963-6146-4EA1-A5A4-970FA13CAA42}" destId="{5648B036-9B37-4C1B-AD2D-05763E4E8FC7}" srcOrd="1" destOrd="0" presId="urn:microsoft.com/office/officeart/2018/2/layout/IconVerticalSolidList"/>
    <dgm:cxn modelId="{080724FA-6CE1-4D20-9A6E-EAD14C797714}" type="presParOf" srcId="{8F6B6963-6146-4EA1-A5A4-970FA13CAA42}" destId="{9111B900-E954-4C58-90B3-9E96FDC0D9AC}" srcOrd="2" destOrd="0" presId="urn:microsoft.com/office/officeart/2018/2/layout/IconVerticalSolidList"/>
    <dgm:cxn modelId="{3E825D0C-7247-4357-A11C-615FB81809B9}" type="presParOf" srcId="{8F6B6963-6146-4EA1-A5A4-970FA13CAA42}" destId="{83675B3E-F2F6-4C51-9676-AD763E6EC83E}" srcOrd="3" destOrd="0" presId="urn:microsoft.com/office/officeart/2018/2/layout/IconVerticalSolidList"/>
    <dgm:cxn modelId="{66D3D990-7D3D-4A74-BF74-91BC4D3E3D8F}" type="presParOf" srcId="{309C7D51-C473-4545-BC5A-D0543857DA95}" destId="{D8E0CF4C-EB5A-449B-8BCA-F57DB8B8558A}" srcOrd="3" destOrd="0" presId="urn:microsoft.com/office/officeart/2018/2/layout/IconVerticalSolidList"/>
    <dgm:cxn modelId="{DB3153FE-7063-44BE-BCCB-E284FE1C0D1F}" type="presParOf" srcId="{309C7D51-C473-4545-BC5A-D0543857DA95}" destId="{C1E275DE-D86D-4234-9BC8-A211143B4E40}" srcOrd="4" destOrd="0" presId="urn:microsoft.com/office/officeart/2018/2/layout/IconVerticalSolidList"/>
    <dgm:cxn modelId="{29308DAF-53C2-434F-ABD3-2D260AFB8C35}" type="presParOf" srcId="{C1E275DE-D86D-4234-9BC8-A211143B4E40}" destId="{B6E276DC-0A62-4E26-BBB8-E02F1C739A77}" srcOrd="0" destOrd="0" presId="urn:microsoft.com/office/officeart/2018/2/layout/IconVerticalSolidList"/>
    <dgm:cxn modelId="{F3A1CDF6-5780-48EC-B87D-8FD693F04251}" type="presParOf" srcId="{C1E275DE-D86D-4234-9BC8-A211143B4E40}" destId="{8321558D-FCF1-48D1-B834-A1D1D1F25FA7}" srcOrd="1" destOrd="0" presId="urn:microsoft.com/office/officeart/2018/2/layout/IconVerticalSolidList"/>
    <dgm:cxn modelId="{1E5C83E0-91B6-4123-B4FB-0276A5543DB9}" type="presParOf" srcId="{C1E275DE-D86D-4234-9BC8-A211143B4E40}" destId="{3FF141AB-B05C-4210-9AED-B6D95E7C2946}" srcOrd="2" destOrd="0" presId="urn:microsoft.com/office/officeart/2018/2/layout/IconVerticalSolidList"/>
    <dgm:cxn modelId="{DCA23748-EAC2-4D8D-A894-3C21A8581648}" type="presParOf" srcId="{C1E275DE-D86D-4234-9BC8-A211143B4E40}" destId="{24FB6472-C3BC-4428-8A6B-A0A62B05E3C4}"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xmlns="">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92C081-6A9B-4A2D-B936-26EBE37838C9}" type="datetimeFigureOut">
              <a:rPr lang="en-IN" smtClean="0"/>
              <a:t>02-12-2024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FE8AC54-906E-437A-8660-FBBDA7E52790}" type="slidenum">
              <a:rPr lang="en-IN" smtClean="0"/>
              <a:t>‹#›</a:t>
            </a:fld>
            <a:endParaRPr lang="en-IN"/>
          </a:p>
        </p:txBody>
      </p:sp>
    </p:spTree>
    <p:extLst>
      <p:ext uri="{BB962C8B-B14F-4D97-AF65-F5344CB8AC3E}">
        <p14:creationId xmlns:p14="http://schemas.microsoft.com/office/powerpoint/2010/main" val="1400699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66485DB-6355-47A6-ABCE-F416926EEF60}" type="slidenum">
              <a:rPr lang="en-IN" smtClean="0"/>
              <a:t>1</a:t>
            </a:fld>
            <a:endParaRPr lang="en-IN"/>
          </a:p>
        </p:txBody>
      </p:sp>
    </p:spTree>
    <p:extLst>
      <p:ext uri="{BB962C8B-B14F-4D97-AF65-F5344CB8AC3E}">
        <p14:creationId xmlns:p14="http://schemas.microsoft.com/office/powerpoint/2010/main" val="27805102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C6298A1-263E-470F-8B57-769014E879FE}" type="slidenum">
              <a:rPr lang="en-IN" smtClean="0"/>
              <a:t>5</a:t>
            </a:fld>
            <a:endParaRPr lang="en-IN"/>
          </a:p>
        </p:txBody>
      </p:sp>
    </p:spTree>
    <p:extLst>
      <p:ext uri="{BB962C8B-B14F-4D97-AF65-F5344CB8AC3E}">
        <p14:creationId xmlns:p14="http://schemas.microsoft.com/office/powerpoint/2010/main" val="16604466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Positive and negative half space</a:t>
            </a:r>
          </a:p>
          <a:p>
            <a:r>
              <a:rPr lang="en-US" dirty="0"/>
              <a:t>A gives orientation and b gives position</a:t>
            </a:r>
            <a:endParaRPr lang="en-IN" dirty="0"/>
          </a:p>
        </p:txBody>
      </p:sp>
      <p:sp>
        <p:nvSpPr>
          <p:cNvPr id="4" name="Slide Number Placeholder 3"/>
          <p:cNvSpPr>
            <a:spLocks noGrp="1"/>
          </p:cNvSpPr>
          <p:nvPr>
            <p:ph type="sldNum" sz="quarter" idx="5"/>
          </p:nvPr>
        </p:nvSpPr>
        <p:spPr/>
        <p:txBody>
          <a:bodyPr/>
          <a:lstStyle/>
          <a:p>
            <a:fld id="{96E9542B-D297-45A2-BAA8-4614E84CADA4}" type="slidenum">
              <a:rPr lang="en-IN" smtClean="0"/>
              <a:t>9</a:t>
            </a:fld>
            <a:endParaRPr lang="en-IN"/>
          </a:p>
        </p:txBody>
      </p:sp>
    </p:spTree>
    <p:extLst>
      <p:ext uri="{BB962C8B-B14F-4D97-AF65-F5344CB8AC3E}">
        <p14:creationId xmlns:p14="http://schemas.microsoft.com/office/powerpoint/2010/main" val="30681394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6E9542B-D297-45A2-BAA8-4614E84CADA4}" type="slidenum">
              <a:rPr lang="en-IN" smtClean="0"/>
              <a:t>18</a:t>
            </a:fld>
            <a:endParaRPr lang="en-IN"/>
          </a:p>
        </p:txBody>
      </p:sp>
    </p:spTree>
    <p:extLst>
      <p:ext uri="{BB962C8B-B14F-4D97-AF65-F5344CB8AC3E}">
        <p14:creationId xmlns:p14="http://schemas.microsoft.com/office/powerpoint/2010/main" val="4170145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Draw a vector from x_ to x+. Margin is given by the dot product of vector x_ to x+ with unit vector in the direction of w</a:t>
            </a:r>
          </a:p>
        </p:txBody>
      </p:sp>
      <p:sp>
        <p:nvSpPr>
          <p:cNvPr id="4" name="Slide Number Placeholder 3"/>
          <p:cNvSpPr>
            <a:spLocks noGrp="1"/>
          </p:cNvSpPr>
          <p:nvPr>
            <p:ph type="sldNum" sz="quarter" idx="5"/>
          </p:nvPr>
        </p:nvSpPr>
        <p:spPr/>
        <p:txBody>
          <a:bodyPr/>
          <a:lstStyle/>
          <a:p>
            <a:fld id="{AC6298A1-263E-470F-8B57-769014E879FE}" type="slidenum">
              <a:rPr lang="en-IN" smtClean="0"/>
              <a:t>19</a:t>
            </a:fld>
            <a:endParaRPr lang="en-IN"/>
          </a:p>
        </p:txBody>
      </p:sp>
    </p:spTree>
    <p:extLst>
      <p:ext uri="{BB962C8B-B14F-4D97-AF65-F5344CB8AC3E}">
        <p14:creationId xmlns:p14="http://schemas.microsoft.com/office/powerpoint/2010/main" val="25059964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C6298A1-263E-470F-8B57-769014E879FE}" type="slidenum">
              <a:rPr lang="en-IN" smtClean="0"/>
              <a:t>21</a:t>
            </a:fld>
            <a:endParaRPr lang="en-IN"/>
          </a:p>
        </p:txBody>
      </p:sp>
    </p:spTree>
    <p:extLst>
      <p:ext uri="{BB962C8B-B14F-4D97-AF65-F5344CB8AC3E}">
        <p14:creationId xmlns:p14="http://schemas.microsoft.com/office/powerpoint/2010/main" val="412487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10070B0-7A5B-4540-ADF1-709744F067A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5D8B3B29-8C23-42B0-A73A-BB53FC631F9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BD4C1BD2-84BE-4AD8-B08D-378AE29601FE}"/>
              </a:ext>
            </a:extLst>
          </p:cNvPr>
          <p:cNvSpPr>
            <a:spLocks noGrp="1"/>
          </p:cNvSpPr>
          <p:nvPr>
            <p:ph type="dt" sz="half" idx="10"/>
          </p:nvPr>
        </p:nvSpPr>
        <p:spPr/>
        <p:txBody>
          <a:bodyPr/>
          <a:lstStyle/>
          <a:p>
            <a:fld id="{C00143EF-BD23-4CB3-A86E-EEB1B314FD9E}" type="datetimeFigureOut">
              <a:rPr lang="en-IN" smtClean="0"/>
              <a:t>02-12-2024</a:t>
            </a:fld>
            <a:endParaRPr lang="en-IN"/>
          </a:p>
        </p:txBody>
      </p:sp>
      <p:sp>
        <p:nvSpPr>
          <p:cNvPr id="5" name="Footer Placeholder 4">
            <a:extLst>
              <a:ext uri="{FF2B5EF4-FFF2-40B4-BE49-F238E27FC236}">
                <a16:creationId xmlns:a16="http://schemas.microsoft.com/office/drawing/2014/main" xmlns="" id="{4D531C64-FBDA-4086-8D97-A45FDADBCF1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964F7AC8-AC59-4415-B947-3FD8F796BD2F}"/>
              </a:ext>
            </a:extLst>
          </p:cNvPr>
          <p:cNvSpPr>
            <a:spLocks noGrp="1"/>
          </p:cNvSpPr>
          <p:nvPr>
            <p:ph type="sldNum" sz="quarter" idx="12"/>
          </p:nvPr>
        </p:nvSpPr>
        <p:spPr/>
        <p:txBody>
          <a:bodyPr/>
          <a:lstStyle/>
          <a:p>
            <a:fld id="{A92AAF97-FB1F-4C65-BC70-D1163BEEF288}" type="slidenum">
              <a:rPr lang="en-IN" smtClean="0"/>
              <a:t>‹#›</a:t>
            </a:fld>
            <a:endParaRPr lang="en-IN"/>
          </a:p>
        </p:txBody>
      </p:sp>
    </p:spTree>
    <p:extLst>
      <p:ext uri="{BB962C8B-B14F-4D97-AF65-F5344CB8AC3E}">
        <p14:creationId xmlns:p14="http://schemas.microsoft.com/office/powerpoint/2010/main" val="20687718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7119D3B-92CE-4753-835F-5E72EA033D9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BA6B15F1-F785-441B-983E-2310A692B7F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40F94249-7ED2-4292-92C0-05155DEDA099}"/>
              </a:ext>
            </a:extLst>
          </p:cNvPr>
          <p:cNvSpPr>
            <a:spLocks noGrp="1"/>
          </p:cNvSpPr>
          <p:nvPr>
            <p:ph type="dt" sz="half" idx="10"/>
          </p:nvPr>
        </p:nvSpPr>
        <p:spPr/>
        <p:txBody>
          <a:bodyPr/>
          <a:lstStyle/>
          <a:p>
            <a:fld id="{C00143EF-BD23-4CB3-A86E-EEB1B314FD9E}" type="datetimeFigureOut">
              <a:rPr lang="en-IN" smtClean="0"/>
              <a:t>02-12-2024</a:t>
            </a:fld>
            <a:endParaRPr lang="en-IN"/>
          </a:p>
        </p:txBody>
      </p:sp>
      <p:sp>
        <p:nvSpPr>
          <p:cNvPr id="5" name="Footer Placeholder 4">
            <a:extLst>
              <a:ext uri="{FF2B5EF4-FFF2-40B4-BE49-F238E27FC236}">
                <a16:creationId xmlns:a16="http://schemas.microsoft.com/office/drawing/2014/main" xmlns="" id="{7F59E7ED-9217-480D-98C6-1E6561F446A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4D56E446-1C77-404C-A9AF-AB2581612793}"/>
              </a:ext>
            </a:extLst>
          </p:cNvPr>
          <p:cNvSpPr>
            <a:spLocks noGrp="1"/>
          </p:cNvSpPr>
          <p:nvPr>
            <p:ph type="sldNum" sz="quarter" idx="12"/>
          </p:nvPr>
        </p:nvSpPr>
        <p:spPr/>
        <p:txBody>
          <a:bodyPr/>
          <a:lstStyle/>
          <a:p>
            <a:fld id="{A92AAF97-FB1F-4C65-BC70-D1163BEEF288}" type="slidenum">
              <a:rPr lang="en-IN" smtClean="0"/>
              <a:t>‹#›</a:t>
            </a:fld>
            <a:endParaRPr lang="en-IN"/>
          </a:p>
        </p:txBody>
      </p:sp>
    </p:spTree>
    <p:extLst>
      <p:ext uri="{BB962C8B-B14F-4D97-AF65-F5344CB8AC3E}">
        <p14:creationId xmlns:p14="http://schemas.microsoft.com/office/powerpoint/2010/main" val="14167992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2324A94-3CB2-4F75-8E78-5D23C6CBCD2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1F44E2B3-019F-43F8-9798-51969E7B074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16891FFD-8DCE-48A3-BC11-B9B2CB2B72B0}"/>
              </a:ext>
            </a:extLst>
          </p:cNvPr>
          <p:cNvSpPr>
            <a:spLocks noGrp="1"/>
          </p:cNvSpPr>
          <p:nvPr>
            <p:ph type="dt" sz="half" idx="10"/>
          </p:nvPr>
        </p:nvSpPr>
        <p:spPr/>
        <p:txBody>
          <a:bodyPr/>
          <a:lstStyle/>
          <a:p>
            <a:fld id="{C00143EF-BD23-4CB3-A86E-EEB1B314FD9E}" type="datetimeFigureOut">
              <a:rPr lang="en-IN" smtClean="0"/>
              <a:t>02-12-2024</a:t>
            </a:fld>
            <a:endParaRPr lang="en-IN"/>
          </a:p>
        </p:txBody>
      </p:sp>
      <p:sp>
        <p:nvSpPr>
          <p:cNvPr id="5" name="Footer Placeholder 4">
            <a:extLst>
              <a:ext uri="{FF2B5EF4-FFF2-40B4-BE49-F238E27FC236}">
                <a16:creationId xmlns:a16="http://schemas.microsoft.com/office/drawing/2014/main" xmlns="" id="{A91ECB41-A5A0-4A76-98E2-6BE5EF9C08E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1758A23E-EA49-4289-8E0F-451E2578CFA4}"/>
              </a:ext>
            </a:extLst>
          </p:cNvPr>
          <p:cNvSpPr>
            <a:spLocks noGrp="1"/>
          </p:cNvSpPr>
          <p:nvPr>
            <p:ph type="sldNum" sz="quarter" idx="12"/>
          </p:nvPr>
        </p:nvSpPr>
        <p:spPr/>
        <p:txBody>
          <a:bodyPr/>
          <a:lstStyle/>
          <a:p>
            <a:fld id="{A92AAF97-FB1F-4C65-BC70-D1163BEEF288}" type="slidenum">
              <a:rPr lang="en-IN" smtClean="0"/>
              <a:t>‹#›</a:t>
            </a:fld>
            <a:endParaRPr lang="en-IN"/>
          </a:p>
        </p:txBody>
      </p:sp>
    </p:spTree>
    <p:extLst>
      <p:ext uri="{BB962C8B-B14F-4D97-AF65-F5344CB8AC3E}">
        <p14:creationId xmlns:p14="http://schemas.microsoft.com/office/powerpoint/2010/main" val="19794595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B8A4C66-6458-476A-9FD1-A95B0BF25B9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56C73BAD-A1E0-4D27-A6B5-7C7BA05F23D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6EB11930-7DB8-4F2E-B3EE-B7AE5631D47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C260D927-33B1-43F7-A51D-0656B0099EE0}"/>
              </a:ext>
            </a:extLst>
          </p:cNvPr>
          <p:cNvSpPr>
            <a:spLocks noGrp="1"/>
          </p:cNvSpPr>
          <p:nvPr>
            <p:ph type="dt" sz="half" idx="10"/>
          </p:nvPr>
        </p:nvSpPr>
        <p:spPr/>
        <p:txBody>
          <a:bodyPr/>
          <a:lstStyle/>
          <a:p>
            <a:fld id="{C00143EF-BD23-4CB3-A86E-EEB1B314FD9E}" type="datetimeFigureOut">
              <a:rPr lang="en-IN" smtClean="0"/>
              <a:t>02-12-2024</a:t>
            </a:fld>
            <a:endParaRPr lang="en-IN"/>
          </a:p>
        </p:txBody>
      </p:sp>
      <p:sp>
        <p:nvSpPr>
          <p:cNvPr id="6" name="Footer Placeholder 5">
            <a:extLst>
              <a:ext uri="{FF2B5EF4-FFF2-40B4-BE49-F238E27FC236}">
                <a16:creationId xmlns:a16="http://schemas.microsoft.com/office/drawing/2014/main" xmlns="" id="{4499C22A-5539-4506-AEDB-66B246EE72C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7A3B789D-288A-47CF-83DD-1BBB1C5D9D7D}"/>
              </a:ext>
            </a:extLst>
          </p:cNvPr>
          <p:cNvSpPr>
            <a:spLocks noGrp="1"/>
          </p:cNvSpPr>
          <p:nvPr>
            <p:ph type="sldNum" sz="quarter" idx="12"/>
          </p:nvPr>
        </p:nvSpPr>
        <p:spPr/>
        <p:txBody>
          <a:bodyPr/>
          <a:lstStyle/>
          <a:p>
            <a:fld id="{A92AAF97-FB1F-4C65-BC70-D1163BEEF288}" type="slidenum">
              <a:rPr lang="en-IN" smtClean="0"/>
              <a:t>‹#›</a:t>
            </a:fld>
            <a:endParaRPr lang="en-IN"/>
          </a:p>
        </p:txBody>
      </p:sp>
    </p:spTree>
    <p:extLst>
      <p:ext uri="{BB962C8B-B14F-4D97-AF65-F5344CB8AC3E}">
        <p14:creationId xmlns:p14="http://schemas.microsoft.com/office/powerpoint/2010/main" val="28305492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5AB096B-2C5E-4D87-A9CF-F75E955CE1B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23BCA7FE-8526-4AF1-988D-B1DAE694394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84EC38D6-912C-44BF-B03C-0453EB89A06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EE4AE8AD-4D81-4564-903D-633C6C7E198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57005586-98AC-49D3-A59D-386D20DF808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30C597BD-A34C-4409-8B1F-BE9FD6BCBCA7}"/>
              </a:ext>
            </a:extLst>
          </p:cNvPr>
          <p:cNvSpPr>
            <a:spLocks noGrp="1"/>
          </p:cNvSpPr>
          <p:nvPr>
            <p:ph type="dt" sz="half" idx="10"/>
          </p:nvPr>
        </p:nvSpPr>
        <p:spPr/>
        <p:txBody>
          <a:bodyPr/>
          <a:lstStyle/>
          <a:p>
            <a:fld id="{C00143EF-BD23-4CB3-A86E-EEB1B314FD9E}" type="datetimeFigureOut">
              <a:rPr lang="en-IN" smtClean="0"/>
              <a:t>02-12-2024</a:t>
            </a:fld>
            <a:endParaRPr lang="en-IN"/>
          </a:p>
        </p:txBody>
      </p:sp>
      <p:sp>
        <p:nvSpPr>
          <p:cNvPr id="8" name="Footer Placeholder 7">
            <a:extLst>
              <a:ext uri="{FF2B5EF4-FFF2-40B4-BE49-F238E27FC236}">
                <a16:creationId xmlns:a16="http://schemas.microsoft.com/office/drawing/2014/main" xmlns="" id="{991CD773-3EAE-436F-B041-2ADE1FA091D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xmlns="" id="{0A4F8099-838B-40B1-9096-79C3593765CB}"/>
              </a:ext>
            </a:extLst>
          </p:cNvPr>
          <p:cNvSpPr>
            <a:spLocks noGrp="1"/>
          </p:cNvSpPr>
          <p:nvPr>
            <p:ph type="sldNum" sz="quarter" idx="12"/>
          </p:nvPr>
        </p:nvSpPr>
        <p:spPr/>
        <p:txBody>
          <a:bodyPr/>
          <a:lstStyle/>
          <a:p>
            <a:fld id="{A92AAF97-FB1F-4C65-BC70-D1163BEEF288}" type="slidenum">
              <a:rPr lang="en-IN" smtClean="0"/>
              <a:t>‹#›</a:t>
            </a:fld>
            <a:endParaRPr lang="en-IN"/>
          </a:p>
        </p:txBody>
      </p:sp>
    </p:spTree>
    <p:extLst>
      <p:ext uri="{BB962C8B-B14F-4D97-AF65-F5344CB8AC3E}">
        <p14:creationId xmlns:p14="http://schemas.microsoft.com/office/powerpoint/2010/main" val="5175845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9BADD84-CFED-4B56-BC2F-4BA9F8112F6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C7B5507E-72C4-4A77-A1A0-5CB518861750}"/>
              </a:ext>
            </a:extLst>
          </p:cNvPr>
          <p:cNvSpPr>
            <a:spLocks noGrp="1"/>
          </p:cNvSpPr>
          <p:nvPr>
            <p:ph type="dt" sz="half" idx="10"/>
          </p:nvPr>
        </p:nvSpPr>
        <p:spPr/>
        <p:txBody>
          <a:bodyPr/>
          <a:lstStyle/>
          <a:p>
            <a:fld id="{C00143EF-BD23-4CB3-A86E-EEB1B314FD9E}" type="datetimeFigureOut">
              <a:rPr lang="en-IN" smtClean="0"/>
              <a:t>02-12-2024</a:t>
            </a:fld>
            <a:endParaRPr lang="en-IN"/>
          </a:p>
        </p:txBody>
      </p:sp>
      <p:sp>
        <p:nvSpPr>
          <p:cNvPr id="4" name="Footer Placeholder 3">
            <a:extLst>
              <a:ext uri="{FF2B5EF4-FFF2-40B4-BE49-F238E27FC236}">
                <a16:creationId xmlns:a16="http://schemas.microsoft.com/office/drawing/2014/main" xmlns="" id="{3A6DD793-32E0-4FB3-8835-1B3BE7AF72C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xmlns="" id="{651F68AD-FB01-449D-AB62-BBB802A1F36E}"/>
              </a:ext>
            </a:extLst>
          </p:cNvPr>
          <p:cNvSpPr>
            <a:spLocks noGrp="1"/>
          </p:cNvSpPr>
          <p:nvPr>
            <p:ph type="sldNum" sz="quarter" idx="12"/>
          </p:nvPr>
        </p:nvSpPr>
        <p:spPr/>
        <p:txBody>
          <a:bodyPr/>
          <a:lstStyle/>
          <a:p>
            <a:fld id="{A92AAF97-FB1F-4C65-BC70-D1163BEEF288}" type="slidenum">
              <a:rPr lang="en-IN" smtClean="0"/>
              <a:t>‹#›</a:t>
            </a:fld>
            <a:endParaRPr lang="en-IN"/>
          </a:p>
        </p:txBody>
      </p:sp>
    </p:spTree>
    <p:extLst>
      <p:ext uri="{BB962C8B-B14F-4D97-AF65-F5344CB8AC3E}">
        <p14:creationId xmlns:p14="http://schemas.microsoft.com/office/powerpoint/2010/main" val="15523021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9135C557-C455-4D5D-B1AA-0FB46D425804}"/>
              </a:ext>
            </a:extLst>
          </p:cNvPr>
          <p:cNvSpPr>
            <a:spLocks noGrp="1"/>
          </p:cNvSpPr>
          <p:nvPr>
            <p:ph type="dt" sz="half" idx="10"/>
          </p:nvPr>
        </p:nvSpPr>
        <p:spPr/>
        <p:txBody>
          <a:bodyPr/>
          <a:lstStyle/>
          <a:p>
            <a:fld id="{C00143EF-BD23-4CB3-A86E-EEB1B314FD9E}" type="datetimeFigureOut">
              <a:rPr lang="en-IN" smtClean="0"/>
              <a:t>02-12-2024</a:t>
            </a:fld>
            <a:endParaRPr lang="en-IN"/>
          </a:p>
        </p:txBody>
      </p:sp>
      <p:sp>
        <p:nvSpPr>
          <p:cNvPr id="3" name="Footer Placeholder 2">
            <a:extLst>
              <a:ext uri="{FF2B5EF4-FFF2-40B4-BE49-F238E27FC236}">
                <a16:creationId xmlns:a16="http://schemas.microsoft.com/office/drawing/2014/main" xmlns="" id="{FA18511A-A401-44B6-9FFA-7E1A23221FC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xmlns="" id="{449F0B6A-33B4-436C-A77B-8E81BB291AA1}"/>
              </a:ext>
            </a:extLst>
          </p:cNvPr>
          <p:cNvSpPr>
            <a:spLocks noGrp="1"/>
          </p:cNvSpPr>
          <p:nvPr>
            <p:ph type="sldNum" sz="quarter" idx="12"/>
          </p:nvPr>
        </p:nvSpPr>
        <p:spPr/>
        <p:txBody>
          <a:bodyPr/>
          <a:lstStyle/>
          <a:p>
            <a:fld id="{A92AAF97-FB1F-4C65-BC70-D1163BEEF288}" type="slidenum">
              <a:rPr lang="en-IN" smtClean="0"/>
              <a:t>‹#›</a:t>
            </a:fld>
            <a:endParaRPr lang="en-IN"/>
          </a:p>
        </p:txBody>
      </p:sp>
    </p:spTree>
    <p:extLst>
      <p:ext uri="{BB962C8B-B14F-4D97-AF65-F5344CB8AC3E}">
        <p14:creationId xmlns:p14="http://schemas.microsoft.com/office/powerpoint/2010/main" val="38514244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EFAA81D-A135-40F8-A641-D840C246D3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50FA97B9-5F8C-4804-807C-1F87FED53C0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8E893161-4A6B-435F-8928-0CCE202614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4064005B-38E9-4636-8918-5037CCC0DA18}"/>
              </a:ext>
            </a:extLst>
          </p:cNvPr>
          <p:cNvSpPr>
            <a:spLocks noGrp="1"/>
          </p:cNvSpPr>
          <p:nvPr>
            <p:ph type="dt" sz="half" idx="10"/>
          </p:nvPr>
        </p:nvSpPr>
        <p:spPr/>
        <p:txBody>
          <a:bodyPr/>
          <a:lstStyle/>
          <a:p>
            <a:fld id="{C00143EF-BD23-4CB3-A86E-EEB1B314FD9E}" type="datetimeFigureOut">
              <a:rPr lang="en-IN" smtClean="0"/>
              <a:t>02-12-2024</a:t>
            </a:fld>
            <a:endParaRPr lang="en-IN"/>
          </a:p>
        </p:txBody>
      </p:sp>
      <p:sp>
        <p:nvSpPr>
          <p:cNvPr id="6" name="Footer Placeholder 5">
            <a:extLst>
              <a:ext uri="{FF2B5EF4-FFF2-40B4-BE49-F238E27FC236}">
                <a16:creationId xmlns:a16="http://schemas.microsoft.com/office/drawing/2014/main" xmlns="" id="{E63106C4-12D3-4901-8DFF-5D2A76E1053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E6DBD142-189D-48D8-AFDC-05AEB3477852}"/>
              </a:ext>
            </a:extLst>
          </p:cNvPr>
          <p:cNvSpPr>
            <a:spLocks noGrp="1"/>
          </p:cNvSpPr>
          <p:nvPr>
            <p:ph type="sldNum" sz="quarter" idx="12"/>
          </p:nvPr>
        </p:nvSpPr>
        <p:spPr/>
        <p:txBody>
          <a:bodyPr/>
          <a:lstStyle/>
          <a:p>
            <a:fld id="{A92AAF97-FB1F-4C65-BC70-D1163BEEF288}" type="slidenum">
              <a:rPr lang="en-IN" smtClean="0"/>
              <a:t>‹#›</a:t>
            </a:fld>
            <a:endParaRPr lang="en-IN"/>
          </a:p>
        </p:txBody>
      </p:sp>
    </p:spTree>
    <p:extLst>
      <p:ext uri="{BB962C8B-B14F-4D97-AF65-F5344CB8AC3E}">
        <p14:creationId xmlns:p14="http://schemas.microsoft.com/office/powerpoint/2010/main" val="16697715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A50C5C2-58EA-4932-9B59-1504258C77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294BBFAB-213A-4290-94D1-8171E10241C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CA8F51D0-9BA0-43B6-8CA1-8C13C2C91F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43AA71BD-3027-46B4-A661-75B30750B577}"/>
              </a:ext>
            </a:extLst>
          </p:cNvPr>
          <p:cNvSpPr>
            <a:spLocks noGrp="1"/>
          </p:cNvSpPr>
          <p:nvPr>
            <p:ph type="dt" sz="half" idx="10"/>
          </p:nvPr>
        </p:nvSpPr>
        <p:spPr/>
        <p:txBody>
          <a:bodyPr/>
          <a:lstStyle/>
          <a:p>
            <a:fld id="{C00143EF-BD23-4CB3-A86E-EEB1B314FD9E}" type="datetimeFigureOut">
              <a:rPr lang="en-IN" smtClean="0"/>
              <a:t>02-12-2024</a:t>
            </a:fld>
            <a:endParaRPr lang="en-IN"/>
          </a:p>
        </p:txBody>
      </p:sp>
      <p:sp>
        <p:nvSpPr>
          <p:cNvPr id="6" name="Footer Placeholder 5">
            <a:extLst>
              <a:ext uri="{FF2B5EF4-FFF2-40B4-BE49-F238E27FC236}">
                <a16:creationId xmlns:a16="http://schemas.microsoft.com/office/drawing/2014/main" xmlns="" id="{8475F419-37D4-4C6F-9C50-95245367219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17653202-6F6E-433A-AA38-D0CAEE49479E}"/>
              </a:ext>
            </a:extLst>
          </p:cNvPr>
          <p:cNvSpPr>
            <a:spLocks noGrp="1"/>
          </p:cNvSpPr>
          <p:nvPr>
            <p:ph type="sldNum" sz="quarter" idx="12"/>
          </p:nvPr>
        </p:nvSpPr>
        <p:spPr/>
        <p:txBody>
          <a:bodyPr/>
          <a:lstStyle/>
          <a:p>
            <a:fld id="{A92AAF97-FB1F-4C65-BC70-D1163BEEF288}" type="slidenum">
              <a:rPr lang="en-IN" smtClean="0"/>
              <a:t>‹#›</a:t>
            </a:fld>
            <a:endParaRPr lang="en-IN"/>
          </a:p>
        </p:txBody>
      </p:sp>
    </p:spTree>
    <p:extLst>
      <p:ext uri="{BB962C8B-B14F-4D97-AF65-F5344CB8AC3E}">
        <p14:creationId xmlns:p14="http://schemas.microsoft.com/office/powerpoint/2010/main" val="34938965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B53462E-003B-4291-8A9A-A3B39326FF5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8ACBFCBA-7BF1-4DC8-9294-9639CCABB40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53D824D0-026F-4435-9560-C82AE5A40701}"/>
              </a:ext>
            </a:extLst>
          </p:cNvPr>
          <p:cNvSpPr>
            <a:spLocks noGrp="1"/>
          </p:cNvSpPr>
          <p:nvPr>
            <p:ph type="dt" sz="half" idx="10"/>
          </p:nvPr>
        </p:nvSpPr>
        <p:spPr/>
        <p:txBody>
          <a:bodyPr/>
          <a:lstStyle/>
          <a:p>
            <a:fld id="{C00143EF-BD23-4CB3-A86E-EEB1B314FD9E}" type="datetimeFigureOut">
              <a:rPr lang="en-IN" smtClean="0"/>
              <a:t>02-12-2024</a:t>
            </a:fld>
            <a:endParaRPr lang="en-IN"/>
          </a:p>
        </p:txBody>
      </p:sp>
      <p:sp>
        <p:nvSpPr>
          <p:cNvPr id="5" name="Footer Placeholder 4">
            <a:extLst>
              <a:ext uri="{FF2B5EF4-FFF2-40B4-BE49-F238E27FC236}">
                <a16:creationId xmlns:a16="http://schemas.microsoft.com/office/drawing/2014/main" xmlns="" id="{95EBC75A-558F-4625-AC64-15C779EFDE4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2FA77E9E-6560-4AA8-B1AB-46025CD600AA}"/>
              </a:ext>
            </a:extLst>
          </p:cNvPr>
          <p:cNvSpPr>
            <a:spLocks noGrp="1"/>
          </p:cNvSpPr>
          <p:nvPr>
            <p:ph type="sldNum" sz="quarter" idx="12"/>
          </p:nvPr>
        </p:nvSpPr>
        <p:spPr/>
        <p:txBody>
          <a:bodyPr/>
          <a:lstStyle/>
          <a:p>
            <a:fld id="{A92AAF97-FB1F-4C65-BC70-D1163BEEF288}" type="slidenum">
              <a:rPr lang="en-IN" smtClean="0"/>
              <a:t>‹#›</a:t>
            </a:fld>
            <a:endParaRPr lang="en-IN"/>
          </a:p>
        </p:txBody>
      </p:sp>
    </p:spTree>
    <p:extLst>
      <p:ext uri="{BB962C8B-B14F-4D97-AF65-F5344CB8AC3E}">
        <p14:creationId xmlns:p14="http://schemas.microsoft.com/office/powerpoint/2010/main" val="27247748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61FE39C7-6B94-44D0-AD7F-A04AA1E9547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9A911B76-949C-4A03-BF91-572B9AED325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26829D28-37A6-4EF9-AE2F-F330A537EACC}"/>
              </a:ext>
            </a:extLst>
          </p:cNvPr>
          <p:cNvSpPr>
            <a:spLocks noGrp="1"/>
          </p:cNvSpPr>
          <p:nvPr>
            <p:ph type="dt" sz="half" idx="10"/>
          </p:nvPr>
        </p:nvSpPr>
        <p:spPr/>
        <p:txBody>
          <a:bodyPr/>
          <a:lstStyle/>
          <a:p>
            <a:fld id="{C00143EF-BD23-4CB3-A86E-EEB1B314FD9E}" type="datetimeFigureOut">
              <a:rPr lang="en-IN" smtClean="0"/>
              <a:t>02-12-2024</a:t>
            </a:fld>
            <a:endParaRPr lang="en-IN"/>
          </a:p>
        </p:txBody>
      </p:sp>
      <p:sp>
        <p:nvSpPr>
          <p:cNvPr id="5" name="Footer Placeholder 4">
            <a:extLst>
              <a:ext uri="{FF2B5EF4-FFF2-40B4-BE49-F238E27FC236}">
                <a16:creationId xmlns:a16="http://schemas.microsoft.com/office/drawing/2014/main" xmlns="" id="{3D6BA5D6-D51E-476C-969E-AFC7D7CA049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7A380BAE-9C06-4722-862E-C0A8134CCE07}"/>
              </a:ext>
            </a:extLst>
          </p:cNvPr>
          <p:cNvSpPr>
            <a:spLocks noGrp="1"/>
          </p:cNvSpPr>
          <p:nvPr>
            <p:ph type="sldNum" sz="quarter" idx="12"/>
          </p:nvPr>
        </p:nvSpPr>
        <p:spPr/>
        <p:txBody>
          <a:bodyPr/>
          <a:lstStyle/>
          <a:p>
            <a:fld id="{A92AAF97-FB1F-4C65-BC70-D1163BEEF288}" type="slidenum">
              <a:rPr lang="en-IN" smtClean="0"/>
              <a:t>‹#›</a:t>
            </a:fld>
            <a:endParaRPr lang="en-IN"/>
          </a:p>
        </p:txBody>
      </p:sp>
    </p:spTree>
    <p:extLst>
      <p:ext uri="{BB962C8B-B14F-4D97-AF65-F5344CB8AC3E}">
        <p14:creationId xmlns:p14="http://schemas.microsoft.com/office/powerpoint/2010/main" val="40993188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E505FAA5-37D4-4EA4-A207-848806CC06D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9C1DF014-918B-4E59-962A-DC20E92224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DDC135E5-B2E2-40A0-A30A-57C07770969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00143EF-BD23-4CB3-A86E-EEB1B314FD9E}" type="datetimeFigureOut">
              <a:rPr lang="en-IN" smtClean="0"/>
              <a:t>02-12-2024</a:t>
            </a:fld>
            <a:endParaRPr lang="en-IN"/>
          </a:p>
        </p:txBody>
      </p:sp>
      <p:sp>
        <p:nvSpPr>
          <p:cNvPr id="5" name="Footer Placeholder 4">
            <a:extLst>
              <a:ext uri="{FF2B5EF4-FFF2-40B4-BE49-F238E27FC236}">
                <a16:creationId xmlns:a16="http://schemas.microsoft.com/office/drawing/2014/main" xmlns="" id="{F6CF7DBE-E168-445B-8DB6-662FAE982E6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xmlns="" id="{1BCDDEDE-BCE1-406A-BA04-041DE7B4E1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2AAF97-FB1F-4C65-BC70-D1163BEEF288}" type="slidenum">
              <a:rPr lang="en-IN" smtClean="0"/>
              <a:t>‹#›</a:t>
            </a:fld>
            <a:endParaRPr lang="en-IN"/>
          </a:p>
        </p:txBody>
      </p:sp>
    </p:spTree>
    <p:extLst>
      <p:ext uri="{BB962C8B-B14F-4D97-AF65-F5344CB8AC3E}">
        <p14:creationId xmlns:p14="http://schemas.microsoft.com/office/powerpoint/2010/main" val="34501201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hyperlink" Target="https://www.bing.com/ck/a?!&amp;&amp;p=9158114ba42c886bJmltdHM9MTY2ODU1NjgwMCZpZ3VpZD0zZWZjMWQzYy01ZDhiLTY1NzEtM2I1Yy0wYzhhNWM2MzY0ZDYmaW5zaWQ9NTIwOA&amp;ptn=3&amp;hsh=3&amp;fclid=3efc1d3c-5d8b-6571-3b5c-0c8a5c6364d6&amp;psq=deprtaement+of+computer+scoence+and+engimnerring&amp;u=a1aHR0cHM6Ly93d3cuc2N1LmVkdS9lbmdpbmVlcmluZy9hY2FkZW1pYy1wcm9ncmFtcy9kZXBhcnRtZW50LW9mLWNvbXB1dGVyLWVuZ2luZWVyaW5nLw&amp;ntb=1" TargetMode="Externa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3.png"/><Relationship Id="rId1" Type="http://schemas.openxmlformats.org/officeDocument/2006/relationships/slideLayout" Target="../slideLayouts/slideLayout6.xml"/><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50.png"/><Relationship Id="rId1" Type="http://schemas.openxmlformats.org/officeDocument/2006/relationships/slideLayout" Target="../slideLayouts/slideLayout6.xml"/><Relationship Id="rId6" Type="http://schemas.openxmlformats.org/officeDocument/2006/relationships/image" Target="../media/image15.png"/><Relationship Id="rId5" Type="http://schemas.openxmlformats.org/officeDocument/2006/relationships/image" Target="../media/image11.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6.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3.png"/><Relationship Id="rId7" Type="http://schemas.openxmlformats.org/officeDocument/2006/relationships/image" Target="../media/image25.png"/><Relationship Id="rId2" Type="http://schemas.openxmlformats.org/officeDocument/2006/relationships/image" Target="../media/image59.png"/><Relationship Id="rId1" Type="http://schemas.openxmlformats.org/officeDocument/2006/relationships/slideLayout" Target="../slideLayouts/slideLayout6.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image" Target="../media/image27.png"/><Relationship Id="rId7" Type="http://schemas.openxmlformats.org/officeDocument/2006/relationships/image" Target="../media/image69.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68.png"/><Relationship Id="rId5" Type="http://schemas.openxmlformats.org/officeDocument/2006/relationships/image" Target="../media/image29.png"/><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24.png"/><Relationship Id="rId3" Type="http://schemas.openxmlformats.org/officeDocument/2006/relationships/image" Target="../media/image71.png"/><Relationship Id="rId7" Type="http://schemas.openxmlformats.org/officeDocument/2006/relationships/image" Target="../media/image27.png"/><Relationship Id="rId12" Type="http://schemas.openxmlformats.org/officeDocument/2006/relationships/image" Target="../media/image79.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74.png"/><Relationship Id="rId11" Type="http://schemas.openxmlformats.org/officeDocument/2006/relationships/image" Target="../media/image78.png"/><Relationship Id="rId5" Type="http://schemas.openxmlformats.org/officeDocument/2006/relationships/image" Target="../media/image73.png"/><Relationship Id="rId10" Type="http://schemas.openxmlformats.org/officeDocument/2006/relationships/image" Target="../media/image77.png"/><Relationship Id="rId4" Type="http://schemas.openxmlformats.org/officeDocument/2006/relationships/image" Target="../media/image72.png"/><Relationship Id="rId9" Type="http://schemas.openxmlformats.org/officeDocument/2006/relationships/image" Target="../media/image31.png"/><Relationship Id="rId14" Type="http://schemas.openxmlformats.org/officeDocument/2006/relationships/image" Target="../media/image80.png"/></Relationships>
</file>

<file path=ppt/slides/_rels/slide2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36.png"/><Relationship Id="rId1" Type="http://schemas.openxmlformats.org/officeDocument/2006/relationships/slideLayout" Target="../slideLayouts/slideLayout6.xml"/><Relationship Id="rId5" Type="http://schemas.openxmlformats.org/officeDocument/2006/relationships/image" Target="../media/image37.png"/><Relationship Id="rId4" Type="http://schemas.openxmlformats.org/officeDocument/2006/relationships/image" Target="../media/image86.png"/></Relationships>
</file>

<file path=ppt/slides/_rels/slide27.xml.rels><?xml version="1.0" encoding="UTF-8" standalone="yes"?>
<Relationships xmlns="http://schemas.openxmlformats.org/package/2006/relationships"><Relationship Id="rId3" Type="http://schemas.openxmlformats.org/officeDocument/2006/relationships/image" Target="../media/image400.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www.youtube.com/watch?v=kcQ0RzLfB_0" TargetMode="External"/><Relationship Id="rId2" Type="http://schemas.openxmlformats.org/officeDocument/2006/relationships/hyperlink" Target="https://www.youtube.com/watch?v=7vSGI9FCCaY" TargetMode="External"/><Relationship Id="rId1" Type="http://schemas.openxmlformats.org/officeDocument/2006/relationships/slideLayout" Target="../slideLayouts/slideLayout2.xml"/><Relationship Id="rId4" Type="http://schemas.openxmlformats.org/officeDocument/2006/relationships/hyperlink" Target="https://www.youtube.com/watch?v=250lg4576OQ&amp;t=1474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xmlns="" id="{E14D4819-D7DD-F22A-4C68-D50A73BD631A}"/>
              </a:ext>
            </a:extLst>
          </p:cNvPr>
          <p:cNvSpPr>
            <a:spLocks noChangeArrowheads="1"/>
          </p:cNvSpPr>
          <p:nvPr/>
        </p:nvSpPr>
        <p:spPr bwMode="auto">
          <a:xfrm>
            <a:off x="258058" y="-29963"/>
            <a:ext cx="11801419" cy="4632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457200" algn="ctr"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Cambria" panose="02040503050406030204" pitchFamily="18" charset="0"/>
                <a:ea typeface="Calibri" panose="020F0502020204030204" pitchFamily="34" charset="0"/>
                <a:cs typeface="Times New Roman" panose="02020603050405020304" pitchFamily="18" charset="0"/>
              </a:rPr>
              <a:t>VALLURUPALLI NAGESWARA RAO VIGNANA JYOTHI </a:t>
            </a:r>
            <a:r>
              <a:rPr lang="en-US" altLang="en-US" sz="2800" dirty="0"/>
              <a:t> </a:t>
            </a:r>
            <a:r>
              <a:rPr kumimoji="0" lang="en-US" altLang="en-US" sz="2800" b="1" i="0" u="none" strike="noStrike" cap="none" normalizeH="0" baseline="0" dirty="0">
                <a:ln>
                  <a:noFill/>
                </a:ln>
                <a:solidFill>
                  <a:srgbClr val="000000"/>
                </a:solidFill>
                <a:effectLst/>
                <a:latin typeface="Cambria" panose="02040503050406030204" pitchFamily="18" charset="0"/>
                <a:ea typeface="Calibri" panose="020F0502020204030204" pitchFamily="34" charset="0"/>
                <a:cs typeface="Arial" panose="020B0604020202020204" pitchFamily="34" charset="0"/>
              </a:rPr>
              <a:t>INSTITUTE OF ENGINEERING AND TECHNOLOGY</a:t>
            </a:r>
            <a:endParaRPr kumimoji="0" lang="en-US" altLang="en-US" sz="2800" b="0" i="0" u="none" strike="noStrike" cap="none" normalizeH="0" baseline="0" dirty="0">
              <a:ln>
                <a:noFill/>
              </a:ln>
              <a:solidFill>
                <a:schemeClr val="tx1"/>
              </a:solidFill>
              <a:effectLst/>
            </a:endParaRPr>
          </a:p>
          <a:p>
            <a:pPr marL="0" marR="0" lvl="0" indent="457200" algn="ctr" defTabSz="914400" rtl="0" eaLnBrk="0" fontAlgn="base" latinLnBrk="0" hangingPunct="0">
              <a:lnSpc>
                <a:spcPct val="100000"/>
              </a:lnSpc>
              <a:spcBef>
                <a:spcPct val="0"/>
              </a:spcBef>
              <a:spcAft>
                <a:spcPct val="0"/>
              </a:spcAft>
              <a:buClrTx/>
              <a:buSzTx/>
              <a:buFontTx/>
              <a:buNone/>
              <a:tabLst/>
            </a:pPr>
            <a:endParaRPr kumimoji="0" lang="en-US" altLang="en-US" sz="4000" b="1" i="0" u="none" strike="noStrike" cap="none" normalizeH="0" baseline="0" dirty="0">
              <a:ln>
                <a:noFill/>
              </a:ln>
              <a:solidFill>
                <a:srgbClr val="0070C0"/>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457200" algn="l" defTabSz="914400" rtl="0" eaLnBrk="0" fontAlgn="base" latinLnBrk="0" hangingPunct="0">
              <a:lnSpc>
                <a:spcPct val="100000"/>
              </a:lnSpc>
              <a:spcBef>
                <a:spcPct val="0"/>
              </a:spcBef>
              <a:spcAft>
                <a:spcPct val="0"/>
              </a:spcAft>
              <a:buClrTx/>
              <a:buSzTx/>
              <a:buFontTx/>
              <a:buNone/>
              <a:tabLst/>
            </a:pPr>
            <a:endParaRPr lang="en-US" altLang="en-US" sz="2200" b="1"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a:p>
            <a:pPr marL="0" marR="0" lvl="0" indent="457200" algn="l" defTabSz="914400" rtl="0" eaLnBrk="0" fontAlgn="base" latinLnBrk="0" hangingPunct="0">
              <a:lnSpc>
                <a:spcPct val="100000"/>
              </a:lnSpc>
              <a:spcBef>
                <a:spcPct val="0"/>
              </a:spcBef>
              <a:spcAft>
                <a:spcPct val="0"/>
              </a:spcAft>
              <a:buClrTx/>
              <a:buSzTx/>
              <a:buFontTx/>
              <a:buNone/>
              <a:tabLst/>
            </a:pPr>
            <a:endParaRPr kumimoji="0" lang="en-US" altLang="en-US" sz="2200" b="1" i="0" u="none" strike="noStrike" cap="none" normalizeH="0" baseline="0" dirty="0">
              <a:ln>
                <a:noFill/>
              </a:ln>
              <a:solidFill>
                <a:srgbClr val="0070C0"/>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457200" algn="l" defTabSz="914400" rtl="0" eaLnBrk="0" fontAlgn="base" latinLnBrk="0" hangingPunct="0">
              <a:lnSpc>
                <a:spcPct val="100000"/>
              </a:lnSpc>
              <a:spcBef>
                <a:spcPct val="0"/>
              </a:spcBef>
              <a:spcAft>
                <a:spcPct val="0"/>
              </a:spcAft>
              <a:buClrTx/>
              <a:buSzTx/>
              <a:buFontTx/>
              <a:buNone/>
              <a:tabLst/>
            </a:pPr>
            <a:endParaRPr lang="en-US" altLang="en-US" sz="2200" b="1"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a:p>
            <a:pPr marL="0" marR="0" lvl="0" indent="457200" algn="l" defTabSz="914400" rtl="0" eaLnBrk="0" fontAlgn="base" latinLnBrk="0" hangingPunct="0">
              <a:lnSpc>
                <a:spcPct val="100000"/>
              </a:lnSpc>
              <a:spcBef>
                <a:spcPct val="0"/>
              </a:spcBef>
              <a:spcAft>
                <a:spcPct val="0"/>
              </a:spcAft>
              <a:buClrTx/>
              <a:buSzTx/>
              <a:buFontTx/>
              <a:buNone/>
              <a:tabLst/>
            </a:pPr>
            <a:endParaRPr kumimoji="0" lang="en-US" altLang="en-US" sz="2200" b="1" i="0" u="none" strike="noStrike" cap="none" normalizeH="0" baseline="0" dirty="0">
              <a:ln>
                <a:noFill/>
              </a:ln>
              <a:solidFill>
                <a:srgbClr val="0070C0"/>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457200" algn="ctr" defTabSz="914400" rtl="0" eaLnBrk="0" fontAlgn="base" latinLnBrk="0" hangingPunct="0">
              <a:lnSpc>
                <a:spcPct val="100000"/>
              </a:lnSpc>
              <a:spcBef>
                <a:spcPct val="0"/>
              </a:spcBef>
              <a:spcAft>
                <a:spcPct val="0"/>
              </a:spcAft>
              <a:buClrTx/>
              <a:buSzTx/>
              <a:buFontTx/>
              <a:buNone/>
              <a:tabLst/>
            </a:pPr>
            <a:endParaRPr kumimoji="0" lang="en-US" altLang="en-US" sz="2200" b="1" i="0" u="none" strike="noStrike" cap="none" normalizeH="0" baseline="0" dirty="0">
              <a:ln>
                <a:noFill/>
              </a:ln>
              <a:solidFill>
                <a:srgbClr val="0070C0"/>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457200" algn="ctr"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a:ln>
                  <a:noFill/>
                </a:ln>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t>Department of Computer Science and Engineering</a:t>
            </a:r>
          </a:p>
          <a:p>
            <a:pPr marL="0" marR="0" lvl="0" indent="457200" algn="ctr" defTabSz="914400" rtl="0" eaLnBrk="0" fontAlgn="base" latinLnBrk="0" hangingPunct="0">
              <a:lnSpc>
                <a:spcPct val="100000"/>
              </a:lnSpc>
              <a:spcBef>
                <a:spcPct val="0"/>
              </a:spcBef>
              <a:spcAft>
                <a:spcPct val="0"/>
              </a:spcAft>
              <a:buClrTx/>
              <a:buSzTx/>
              <a:buFontTx/>
              <a:buNone/>
              <a:tabLst/>
            </a:pPr>
            <a:endParaRPr lang="en-IN" sz="2000" b="0" i="0" dirty="0">
              <a:solidFill>
                <a:srgbClr val="222222"/>
              </a:solidFill>
              <a:effectLst/>
              <a:latin typeface="Google Sans"/>
            </a:endParaRPr>
          </a:p>
          <a:p>
            <a:pPr marL="0" marR="0" lvl="0" indent="457200" algn="ctr" defTabSz="914400" rtl="0" eaLnBrk="0" fontAlgn="base" latinLnBrk="0" hangingPunct="0">
              <a:lnSpc>
                <a:spcPct val="100000"/>
              </a:lnSpc>
              <a:spcBef>
                <a:spcPct val="0"/>
              </a:spcBef>
              <a:spcAft>
                <a:spcPct val="0"/>
              </a:spcAft>
              <a:buClrTx/>
              <a:buSzTx/>
              <a:buFontTx/>
              <a:buNone/>
              <a:tabLst/>
            </a:pPr>
            <a:r>
              <a:rPr lang="en-IN" sz="2000" b="1" dirty="0"/>
              <a:t>Support Vector Machine</a:t>
            </a:r>
            <a:r>
              <a:rPr lang="en-US" sz="1000" b="0" i="0" dirty="0">
                <a:solidFill>
                  <a:srgbClr val="292929"/>
                </a:solidFill>
                <a:effectLst/>
                <a:latin typeface="sohne"/>
              </a:rPr>
              <a:t/>
            </a:r>
            <a:br>
              <a:rPr lang="en-US" sz="1000" b="0" i="0" dirty="0">
                <a:solidFill>
                  <a:srgbClr val="292929"/>
                </a:solidFill>
                <a:effectLst/>
                <a:latin typeface="sohne"/>
              </a:rPr>
            </a:br>
            <a:endParaRPr lang="en-US" altLang="en-US" sz="300" b="1"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a:p>
            <a:pPr marL="0" marR="0" lvl="0" indent="45720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025" name="Picture 3">
            <a:extLst>
              <a:ext uri="{FF2B5EF4-FFF2-40B4-BE49-F238E27FC236}">
                <a16:creationId xmlns:a16="http://schemas.microsoft.com/office/drawing/2014/main" xmlns="" id="{1F402572-1AC1-C244-FE3C-D3880CA04C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63417" y="1335521"/>
            <a:ext cx="1790700" cy="1668463"/>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xmlns="" id="{4601E913-B864-500D-8186-0A789C882082}"/>
              </a:ext>
            </a:extLst>
          </p:cNvPr>
          <p:cNvSpPr>
            <a:spLocks noChangeArrowheads="1"/>
          </p:cNvSpPr>
          <p:nvPr/>
        </p:nvSpPr>
        <p:spPr bwMode="auto">
          <a:xfrm>
            <a:off x="4057871" y="4608952"/>
            <a:ext cx="4201791"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8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dobe Caslon Pro"/>
                <a:ea typeface="Calibri" panose="020F0502020204030204" pitchFamily="34" charset="0"/>
                <a:cs typeface="Times New Roman" panose="02020603050405020304" pitchFamily="18" charset="0"/>
              </a:rPr>
              <a:t>MACHINE LEARNING</a:t>
            </a:r>
            <a:endParaRPr kumimoji="0" lang="en-US" altLang="en-US" sz="8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dobe Caslon Pro"/>
                <a:ea typeface="Calibri" panose="020F0502020204030204" pitchFamily="34" charset="0"/>
                <a:cs typeface="Times New Roman" panose="02020603050405020304" pitchFamily="18" charset="0"/>
              </a:rPr>
              <a:t>BTech CSE (III Year-II Sem)</a:t>
            </a:r>
            <a:r>
              <a:rPr kumimoji="0" lang="en-US" altLang="en-US" sz="1800" b="1" i="0" u="none" strike="noStrike" cap="none" normalizeH="0" baseline="0" dirty="0">
                <a:ln>
                  <a:noFill/>
                </a:ln>
                <a:solidFill>
                  <a:schemeClr val="tx1"/>
                </a:solidFill>
                <a:effectLst/>
                <a:latin typeface="Adobe Caslon Pro"/>
                <a:ea typeface="Calibri" panose="020F0502020204030204" pitchFamily="34" charset="0"/>
                <a:cs typeface="Times New Roman" panose="02020603050405020304" pitchFamily="18" charset="0"/>
              </a:rPr>
              <a:t> </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dobe Caslon Pro"/>
                <a:ea typeface="Calibri" panose="020F0502020204030204" pitchFamily="34" charset="0"/>
                <a:cs typeface="Times New Roman" panose="02020603050405020304" pitchFamily="18" charset="0"/>
              </a:rPr>
              <a:t>Dr. Kriti Ohri</a:t>
            </a:r>
            <a:endParaRPr kumimoji="0" lang="en-US" altLang="en-US" sz="8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dobe Caslon Pro"/>
                <a:ea typeface="Calibri" panose="020F0502020204030204" pitchFamily="34" charset="0"/>
                <a:cs typeface="Times New Roman" panose="02020603050405020304" pitchFamily="18" charset="0"/>
              </a:rPr>
              <a:t>Assistant Professor</a:t>
            </a:r>
            <a:endParaRPr kumimoji="0" lang="en-US" altLang="en-US" sz="8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dobe Caslon Pro"/>
                <a:ea typeface="Calibri" panose="020F0502020204030204" pitchFamily="34" charset="0"/>
                <a:cs typeface="Times New Roman" panose="02020603050405020304" pitchFamily="18" charset="0"/>
                <a:hlinkClick r:id="rId4"/>
              </a:rPr>
              <a:t>Department of Computer Science and Engineering</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Footer Placeholder 4">
            <a:extLst>
              <a:ext uri="{FF2B5EF4-FFF2-40B4-BE49-F238E27FC236}">
                <a16:creationId xmlns:a16="http://schemas.microsoft.com/office/drawing/2014/main" xmlns="" id="{FF3375C2-6977-6830-5E74-51E3850230E9}"/>
              </a:ext>
            </a:extLst>
          </p:cNvPr>
          <p:cNvSpPr>
            <a:spLocks noGrp="1"/>
          </p:cNvSpPr>
          <p:nvPr>
            <p:ph type="ftr" sz="quarter" idx="11"/>
          </p:nvPr>
        </p:nvSpPr>
        <p:spPr/>
        <p:txBody>
          <a:bodyPr/>
          <a:lstStyle/>
          <a:p>
            <a:r>
              <a:rPr lang="en-IN"/>
              <a:t>Machine Learning</a:t>
            </a:r>
          </a:p>
        </p:txBody>
      </p:sp>
      <p:sp>
        <p:nvSpPr>
          <p:cNvPr id="7" name="Date Placeholder 6">
            <a:extLst>
              <a:ext uri="{FF2B5EF4-FFF2-40B4-BE49-F238E27FC236}">
                <a16:creationId xmlns:a16="http://schemas.microsoft.com/office/drawing/2014/main" xmlns="" id="{104C03E4-1F28-2FB0-9B80-AE079E772F4D}"/>
              </a:ext>
            </a:extLst>
          </p:cNvPr>
          <p:cNvSpPr>
            <a:spLocks noGrp="1"/>
          </p:cNvSpPr>
          <p:nvPr>
            <p:ph type="dt" sz="half" idx="10"/>
          </p:nvPr>
        </p:nvSpPr>
        <p:spPr/>
        <p:txBody>
          <a:bodyPr/>
          <a:lstStyle/>
          <a:p>
            <a:r>
              <a:rPr lang="en-US"/>
              <a:t>Kriti Ohri</a:t>
            </a:r>
            <a:endParaRPr lang="en-IN"/>
          </a:p>
        </p:txBody>
      </p:sp>
    </p:spTree>
    <p:extLst>
      <p:ext uri="{BB962C8B-B14F-4D97-AF65-F5344CB8AC3E}">
        <p14:creationId xmlns:p14="http://schemas.microsoft.com/office/powerpoint/2010/main" val="966335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0717A6C-9A8A-456C-9B38-78B665FD5663}"/>
              </a:ext>
            </a:extLst>
          </p:cNvPr>
          <p:cNvSpPr>
            <a:spLocks noGrp="1"/>
          </p:cNvSpPr>
          <p:nvPr>
            <p:ph type="title"/>
          </p:nvPr>
        </p:nvSpPr>
        <p:spPr>
          <a:xfrm>
            <a:off x="841248" y="256032"/>
            <a:ext cx="10506456" cy="1014984"/>
          </a:xfrm>
        </p:spPr>
        <p:txBody>
          <a:bodyPr anchor="b">
            <a:normAutofit/>
          </a:bodyPr>
          <a:lstStyle/>
          <a:p>
            <a:r>
              <a:rPr lang="en-IN" b="1" dirty="0"/>
              <a:t>Support Vector Machine</a:t>
            </a:r>
          </a:p>
        </p:txBody>
      </p:sp>
      <p:graphicFrame>
        <p:nvGraphicFramePr>
          <p:cNvPr id="5" name="Content Placeholder 2">
            <a:extLst>
              <a:ext uri="{FF2B5EF4-FFF2-40B4-BE49-F238E27FC236}">
                <a16:creationId xmlns:a16="http://schemas.microsoft.com/office/drawing/2014/main" xmlns="" id="{53E54199-DE05-4109-A4C8-B21B07D4CCC9}"/>
              </a:ext>
            </a:extLst>
          </p:cNvPr>
          <p:cNvGraphicFramePr>
            <a:graphicFrameLocks noGrp="1"/>
          </p:cNvGraphicFramePr>
          <p:nvPr>
            <p:ph idx="1"/>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63442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9DB6D52-5148-479B-8E1D-97934A5F65BC}"/>
              </a:ext>
            </a:extLst>
          </p:cNvPr>
          <p:cNvSpPr>
            <a:spLocks noGrp="1"/>
          </p:cNvSpPr>
          <p:nvPr>
            <p:ph type="title"/>
          </p:nvPr>
        </p:nvSpPr>
        <p:spPr/>
        <p:txBody>
          <a:bodyPr/>
          <a:lstStyle/>
          <a:p>
            <a:r>
              <a:rPr lang="en-US" sz="3600" dirty="0">
                <a:solidFill>
                  <a:srgbClr val="4A4A4A"/>
                </a:solidFill>
                <a:latin typeface="Open Sans" panose="020B0606030504020204" pitchFamily="34" charset="0"/>
              </a:rPr>
              <a:t>F</a:t>
            </a:r>
            <a:r>
              <a:rPr lang="en-US" sz="3600" b="0" i="0" dirty="0">
                <a:solidFill>
                  <a:srgbClr val="4A4A4A"/>
                </a:solidFill>
                <a:effectLst/>
                <a:latin typeface="Open Sans" panose="020B0606030504020204" pitchFamily="34" charset="0"/>
              </a:rPr>
              <a:t>eatures of SVM:</a:t>
            </a:r>
            <a:r>
              <a:rPr lang="en-US" b="0" i="0" dirty="0">
                <a:solidFill>
                  <a:srgbClr val="4A4A4A"/>
                </a:solidFill>
                <a:effectLst/>
                <a:latin typeface="Open Sans" panose="020B0606030504020204" pitchFamily="34" charset="0"/>
              </a:rPr>
              <a:t/>
            </a:r>
            <a:br>
              <a:rPr lang="en-US" b="0" i="0" dirty="0">
                <a:solidFill>
                  <a:srgbClr val="4A4A4A"/>
                </a:solidFill>
                <a:effectLst/>
                <a:latin typeface="Open Sans" panose="020B0606030504020204" pitchFamily="34" charset="0"/>
              </a:rPr>
            </a:br>
            <a:endParaRPr lang="en-IN" dirty="0"/>
          </a:p>
        </p:txBody>
      </p:sp>
      <p:sp>
        <p:nvSpPr>
          <p:cNvPr id="3" name="Content Placeholder 2">
            <a:extLst>
              <a:ext uri="{FF2B5EF4-FFF2-40B4-BE49-F238E27FC236}">
                <a16:creationId xmlns:a16="http://schemas.microsoft.com/office/drawing/2014/main" xmlns="" id="{F947CFC7-FD92-4285-9DC1-691CD0308A1A}"/>
              </a:ext>
            </a:extLst>
          </p:cNvPr>
          <p:cNvSpPr>
            <a:spLocks noGrp="1"/>
          </p:cNvSpPr>
          <p:nvPr>
            <p:ph idx="1"/>
          </p:nvPr>
        </p:nvSpPr>
        <p:spPr/>
        <p:txBody>
          <a:bodyPr>
            <a:normAutofit fontScale="85000" lnSpcReduction="10000"/>
          </a:bodyPr>
          <a:lstStyle/>
          <a:p>
            <a:r>
              <a:rPr lang="en-US" sz="3100" dirty="0">
                <a:latin typeface="Times New Roman" panose="02020603050405020304" pitchFamily="18" charset="0"/>
                <a:cs typeface="Times New Roman" panose="02020603050405020304" pitchFamily="18" charset="0"/>
              </a:rPr>
              <a:t>SVM is a supervised learning algorithm. This means that SVM trains on a set of labeled data. SVM studies the labeled training data and then classifies any new input data depending on what it learned in the training phase.</a:t>
            </a:r>
          </a:p>
          <a:p>
            <a:r>
              <a:rPr lang="en-US" sz="3100" dirty="0">
                <a:latin typeface="Times New Roman" panose="02020603050405020304" pitchFamily="18" charset="0"/>
                <a:cs typeface="Times New Roman" panose="02020603050405020304" pitchFamily="18" charset="0"/>
              </a:rPr>
              <a:t>A main advantage of SVM is that it can be used for both classification and regression problems. Though SVM is mainly known for classification, the SVR (Support Vector Regressor) is used for regression problems.</a:t>
            </a:r>
          </a:p>
          <a:p>
            <a:r>
              <a:rPr lang="en-US" sz="3100" dirty="0">
                <a:solidFill>
                  <a:srgbClr val="FF0000"/>
                </a:solidFill>
                <a:latin typeface="Times New Roman" panose="02020603050405020304" pitchFamily="18" charset="0"/>
                <a:cs typeface="Times New Roman" panose="02020603050405020304" pitchFamily="18" charset="0"/>
              </a:rPr>
              <a:t>SVM can be used for classifying non-linear data by using the kernel trick. </a:t>
            </a:r>
            <a:r>
              <a:rPr lang="en-US" sz="3100" dirty="0">
                <a:latin typeface="Times New Roman" panose="02020603050405020304" pitchFamily="18" charset="0"/>
                <a:cs typeface="Times New Roman" panose="02020603050405020304" pitchFamily="18" charset="0"/>
              </a:rPr>
              <a:t>The kernel trick means transforming data into another dimension that has a clear dividing margin between classes of data. After which you can easily draw a hyperplane between the various classes of data.</a:t>
            </a: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367954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7D8BFDA-ADD1-72C2-76D9-7487F9C88AAD}"/>
              </a:ext>
            </a:extLst>
          </p:cNvPr>
          <p:cNvSpPr>
            <a:spLocks noGrp="1"/>
          </p:cNvSpPr>
          <p:nvPr>
            <p:ph type="title"/>
          </p:nvPr>
        </p:nvSpPr>
        <p:spPr/>
        <p:txBody>
          <a:bodyPr/>
          <a:lstStyle/>
          <a:p>
            <a:endParaRPr lang="en-US"/>
          </a:p>
        </p:txBody>
      </p:sp>
      <p:pic>
        <p:nvPicPr>
          <p:cNvPr id="4" name="Picture 3">
            <a:extLst>
              <a:ext uri="{FF2B5EF4-FFF2-40B4-BE49-F238E27FC236}">
                <a16:creationId xmlns:a16="http://schemas.microsoft.com/office/drawing/2014/main" xmlns="" id="{32FB24A1-92CC-AE30-5381-27A7D64240FC}"/>
              </a:ext>
            </a:extLst>
          </p:cNvPr>
          <p:cNvPicPr>
            <a:picLocks noChangeAspect="1"/>
          </p:cNvPicPr>
          <p:nvPr/>
        </p:nvPicPr>
        <p:blipFill>
          <a:blip r:embed="rId2"/>
          <a:stretch>
            <a:fillRect/>
          </a:stretch>
        </p:blipFill>
        <p:spPr>
          <a:xfrm>
            <a:off x="2320413" y="1027906"/>
            <a:ext cx="7299849" cy="5519171"/>
          </a:xfrm>
          <a:prstGeom prst="rect">
            <a:avLst/>
          </a:prstGeom>
        </p:spPr>
      </p:pic>
    </p:spTree>
    <p:extLst>
      <p:ext uri="{BB962C8B-B14F-4D97-AF65-F5344CB8AC3E}">
        <p14:creationId xmlns:p14="http://schemas.microsoft.com/office/powerpoint/2010/main" val="25795747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91DDD0E-9713-4568-99D7-28CE07F2150B}"/>
              </a:ext>
            </a:extLst>
          </p:cNvPr>
          <p:cNvSpPr>
            <a:spLocks noGrp="1"/>
          </p:cNvSpPr>
          <p:nvPr>
            <p:ph type="title"/>
          </p:nvPr>
        </p:nvSpPr>
        <p:spPr/>
        <p:txBody>
          <a:bodyPr/>
          <a:lstStyle/>
          <a:p>
            <a:endParaRPr lang="en-IN"/>
          </a:p>
        </p:txBody>
      </p:sp>
      <p:sp>
        <p:nvSpPr>
          <p:cNvPr id="4" name="TextBox 3">
            <a:extLst>
              <a:ext uri="{FF2B5EF4-FFF2-40B4-BE49-F238E27FC236}">
                <a16:creationId xmlns:a16="http://schemas.microsoft.com/office/drawing/2014/main" xmlns="" id="{AF0B7E85-7422-4683-B756-83BBF940A6BE}"/>
              </a:ext>
            </a:extLst>
          </p:cNvPr>
          <p:cNvSpPr txBox="1"/>
          <p:nvPr/>
        </p:nvSpPr>
        <p:spPr>
          <a:xfrm>
            <a:off x="936025" y="2190396"/>
            <a:ext cx="10110916" cy="3046988"/>
          </a:xfrm>
          <a:prstGeom prst="rect">
            <a:avLst/>
          </a:prstGeom>
          <a:noFill/>
        </p:spPr>
        <p:txBody>
          <a:bodyPr wrap="square">
            <a:spAutoFit/>
          </a:bodyPr>
          <a:lstStyle/>
          <a:p>
            <a:pPr algn="just"/>
            <a:r>
              <a:rPr lang="en-US" sz="2400" dirty="0">
                <a:latin typeface="Times New Roman" panose="02020603050405020304" pitchFamily="18" charset="0"/>
                <a:cs typeface="Times New Roman" panose="02020603050405020304" pitchFamily="18" charset="0"/>
              </a:rPr>
              <a:t>An SVM is implemented in a slightly different way than other machine learning algorithms. It is capable of performing classification, regression and outlier detection.</a:t>
            </a:r>
          </a:p>
          <a:p>
            <a:pPr algn="just"/>
            <a:r>
              <a:rPr lang="en-US" sz="2400" dirty="0">
                <a:latin typeface="Times New Roman" panose="02020603050405020304" pitchFamily="18" charset="0"/>
                <a:cs typeface="Times New Roman" panose="02020603050405020304" pitchFamily="18" charset="0"/>
              </a:rPr>
              <a:t>Support Vector Machine is a discriminative classifier that is formally designed by a separative hyperplane. It is a representation of examples as points in space that are mapped so that the points of different categories are separated by a gap as wide as possible. In addition to this, an SVM can also perform non-linear classification. Let us take a look at how the Support Vector Machine work.</a:t>
            </a:r>
          </a:p>
        </p:txBody>
      </p:sp>
    </p:spTree>
    <p:extLst>
      <p:ext uri="{BB962C8B-B14F-4D97-AF65-F5344CB8AC3E}">
        <p14:creationId xmlns:p14="http://schemas.microsoft.com/office/powerpoint/2010/main" val="11024034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5CEC582-42BC-4E5B-80E7-FEE7672B3817}"/>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xmlns="" id="{C8EF3E0A-76DE-42BB-BD84-634519DEC1A8}"/>
              </a:ext>
            </a:extLst>
          </p:cNvPr>
          <p:cNvPicPr>
            <a:picLocks noGrp="1" noChangeAspect="1"/>
          </p:cNvPicPr>
          <p:nvPr>
            <p:ph idx="1"/>
          </p:nvPr>
        </p:nvPicPr>
        <p:blipFill>
          <a:blip r:embed="rId2"/>
          <a:stretch>
            <a:fillRect/>
          </a:stretch>
        </p:blipFill>
        <p:spPr>
          <a:xfrm>
            <a:off x="3386847" y="1937887"/>
            <a:ext cx="4134830" cy="3311159"/>
          </a:xfrm>
          <a:prstGeom prst="rect">
            <a:avLst/>
          </a:prstGeom>
        </p:spPr>
      </p:pic>
      <p:sp>
        <p:nvSpPr>
          <p:cNvPr id="5" name="TextBox 4">
            <a:extLst>
              <a:ext uri="{FF2B5EF4-FFF2-40B4-BE49-F238E27FC236}">
                <a16:creationId xmlns:a16="http://schemas.microsoft.com/office/drawing/2014/main" xmlns="" id="{25B601FD-C851-45D9-9279-331EBD140B2E}"/>
              </a:ext>
            </a:extLst>
          </p:cNvPr>
          <p:cNvSpPr txBox="1"/>
          <p:nvPr/>
        </p:nvSpPr>
        <p:spPr>
          <a:xfrm>
            <a:off x="3181996" y="5282641"/>
            <a:ext cx="4602761" cy="369332"/>
          </a:xfrm>
          <a:prstGeom prst="rect">
            <a:avLst/>
          </a:prstGeom>
          <a:noFill/>
        </p:spPr>
        <p:txBody>
          <a:bodyPr wrap="square" rtlCol="0">
            <a:spAutoFit/>
          </a:bodyPr>
          <a:lstStyle/>
          <a:p>
            <a:r>
              <a:rPr lang="en-US" dirty="0"/>
              <a:t>SVM supports non linear classification </a:t>
            </a:r>
            <a:endParaRPr lang="en-IN" dirty="0"/>
          </a:p>
        </p:txBody>
      </p:sp>
    </p:spTree>
    <p:extLst>
      <p:ext uri="{BB962C8B-B14F-4D97-AF65-F5344CB8AC3E}">
        <p14:creationId xmlns:p14="http://schemas.microsoft.com/office/powerpoint/2010/main" val="27639784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C859E08-105C-070F-B4BA-569D23FB9E1B}"/>
              </a:ext>
            </a:extLst>
          </p:cNvPr>
          <p:cNvSpPr>
            <a:spLocks noGrp="1"/>
          </p:cNvSpPr>
          <p:nvPr>
            <p:ph type="title"/>
          </p:nvPr>
        </p:nvSpPr>
        <p:spPr/>
        <p:txBody>
          <a:bodyPr/>
          <a:lstStyle/>
          <a:p>
            <a:endParaRPr lang="en-US"/>
          </a:p>
        </p:txBody>
      </p:sp>
      <p:pic>
        <p:nvPicPr>
          <p:cNvPr id="4" name="Picture 3">
            <a:extLst>
              <a:ext uri="{FF2B5EF4-FFF2-40B4-BE49-F238E27FC236}">
                <a16:creationId xmlns:a16="http://schemas.microsoft.com/office/drawing/2014/main" xmlns="" id="{E6A2C3AE-A55D-D774-B894-B10F792510BF}"/>
              </a:ext>
            </a:extLst>
          </p:cNvPr>
          <p:cNvPicPr>
            <a:picLocks noChangeAspect="1"/>
          </p:cNvPicPr>
          <p:nvPr/>
        </p:nvPicPr>
        <p:blipFill>
          <a:blip r:embed="rId2"/>
          <a:stretch>
            <a:fillRect/>
          </a:stretch>
        </p:blipFill>
        <p:spPr>
          <a:xfrm>
            <a:off x="1504336" y="274816"/>
            <a:ext cx="8425576" cy="6328032"/>
          </a:xfrm>
          <a:prstGeom prst="rect">
            <a:avLst/>
          </a:prstGeom>
        </p:spPr>
      </p:pic>
    </p:spTree>
    <p:extLst>
      <p:ext uri="{BB962C8B-B14F-4D97-AF65-F5344CB8AC3E}">
        <p14:creationId xmlns:p14="http://schemas.microsoft.com/office/powerpoint/2010/main" val="16712869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D0167C6-37A9-4364-8B94-6BBE4137FFB0}"/>
              </a:ext>
            </a:extLst>
          </p:cNvPr>
          <p:cNvSpPr>
            <a:spLocks noGrp="1"/>
          </p:cNvSpPr>
          <p:nvPr>
            <p:ph type="title"/>
          </p:nvPr>
        </p:nvSpPr>
        <p:spPr>
          <a:xfrm>
            <a:off x="261425" y="24933"/>
            <a:ext cx="10515600" cy="861329"/>
          </a:xfrm>
        </p:spPr>
        <p:txBody>
          <a:bodyPr/>
          <a:lstStyle/>
          <a:p>
            <a:pPr algn="ctr"/>
            <a:r>
              <a:rPr lang="en-IN" i="0" dirty="0">
                <a:solidFill>
                  <a:srgbClr val="111111"/>
                </a:solidFill>
                <a:effectLst/>
                <a:latin typeface="Arabic Typesetting" panose="03020402040406030203" pitchFamily="66" charset="-78"/>
                <a:cs typeface="Arabic Typesetting" panose="03020402040406030203" pitchFamily="66" charset="-78"/>
              </a:rPr>
              <a:t>Problem with Logistic Regression</a:t>
            </a:r>
            <a:endParaRPr lang="en-IN" dirty="0">
              <a:latin typeface="Arabic Typesetting" panose="03020402040406030203" pitchFamily="66" charset="-78"/>
              <a:cs typeface="Arabic Typesetting" panose="03020402040406030203" pitchFamily="66" charset="-78"/>
            </a:endParaRPr>
          </a:p>
        </p:txBody>
      </p:sp>
      <p:sp>
        <p:nvSpPr>
          <p:cNvPr id="3" name="Content Placeholder 2">
            <a:extLst>
              <a:ext uri="{FF2B5EF4-FFF2-40B4-BE49-F238E27FC236}">
                <a16:creationId xmlns:a16="http://schemas.microsoft.com/office/drawing/2014/main" xmlns="" id="{F32CC6F5-D179-45A0-990A-C1DDCA87559B}"/>
              </a:ext>
            </a:extLst>
          </p:cNvPr>
          <p:cNvSpPr>
            <a:spLocks noGrp="1"/>
          </p:cNvSpPr>
          <p:nvPr>
            <p:ph idx="1"/>
          </p:nvPr>
        </p:nvSpPr>
        <p:spPr>
          <a:xfrm>
            <a:off x="196948" y="829991"/>
            <a:ext cx="7055187" cy="4797089"/>
          </a:xfrm>
        </p:spPr>
        <p:txBody>
          <a:bodyPr>
            <a:normAutofit fontScale="77500" lnSpcReduction="20000"/>
          </a:bodyPr>
          <a:lstStyle/>
          <a:p>
            <a:r>
              <a:rPr lang="en-US" dirty="0">
                <a:latin typeface="Times New Roman" panose="02020603050405020304" pitchFamily="18" charset="0"/>
                <a:cs typeface="Times New Roman" panose="02020603050405020304" pitchFamily="18" charset="0"/>
              </a:rPr>
              <a:t>Logistic Regression helps solve classification problems separating the instances into two classes. However, there is an infinite number of decision boundaries, and Logistic Regression only picks an arbitrary one.</a:t>
            </a:r>
          </a:p>
          <a:p>
            <a:r>
              <a:rPr lang="en-US" dirty="0">
                <a:latin typeface="Times New Roman" panose="02020603050405020304" pitchFamily="18" charset="0"/>
                <a:cs typeface="Times New Roman" panose="02020603050405020304" pitchFamily="18" charset="0"/>
              </a:rPr>
              <a:t>For point C, since it’s far away from the decision boundary, we are quite certain to classify it as 1 (green).</a:t>
            </a:r>
          </a:p>
          <a:p>
            <a:r>
              <a:rPr lang="en-US" dirty="0">
                <a:latin typeface="Times New Roman" panose="02020603050405020304" pitchFamily="18" charset="0"/>
                <a:cs typeface="Times New Roman" panose="02020603050405020304" pitchFamily="18" charset="0"/>
              </a:rPr>
              <a:t>For point A, even though we classify it as 1 for now, since it is close to the decision boundary, if the boundary moves a little to the right, we would mark point A as “0” instead. Hence, we’re much more confident about our prediction at C than at A.</a:t>
            </a:r>
          </a:p>
          <a:p>
            <a:r>
              <a:rPr lang="en-US" dirty="0">
                <a:latin typeface="Times New Roman" panose="02020603050405020304" pitchFamily="18" charset="0"/>
                <a:cs typeface="Times New Roman" panose="02020603050405020304" pitchFamily="18" charset="0"/>
              </a:rPr>
              <a:t>Logistic Regression doesn’t care whether the instances are close to the decision boundary. Therefore, the decision boundary it picks may not be optimal.</a:t>
            </a:r>
          </a:p>
          <a:p>
            <a:endParaRPr lang="en-IN" dirty="0">
              <a:latin typeface="Times New Roman" panose="02020603050405020304" pitchFamily="18" charset="0"/>
              <a:cs typeface="Times New Roman" panose="02020603050405020304" pitchFamily="18" charset="0"/>
            </a:endParaRPr>
          </a:p>
        </p:txBody>
      </p:sp>
      <p:pic>
        <p:nvPicPr>
          <p:cNvPr id="10242" name="Picture 2">
            <a:extLst>
              <a:ext uri="{FF2B5EF4-FFF2-40B4-BE49-F238E27FC236}">
                <a16:creationId xmlns:a16="http://schemas.microsoft.com/office/drawing/2014/main" xmlns="" id="{6AADBF17-6C95-4CD8-AA27-703D1C62BE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77219" y="1628554"/>
            <a:ext cx="4404338" cy="336547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xmlns="" id="{536F641A-34CF-4149-B0CC-F5927BC28287}"/>
              </a:ext>
            </a:extLst>
          </p:cNvPr>
          <p:cNvSpPr txBox="1"/>
          <p:nvPr/>
        </p:nvSpPr>
        <p:spPr>
          <a:xfrm>
            <a:off x="261424" y="5704843"/>
            <a:ext cx="11428827" cy="830997"/>
          </a:xfrm>
          <a:prstGeom prst="rect">
            <a:avLst/>
          </a:prstGeom>
          <a:noFill/>
        </p:spPr>
        <p:txBody>
          <a:bodyPr wrap="square">
            <a:spAutoFit/>
          </a:bodyPr>
          <a:lstStyle/>
          <a:p>
            <a:pPr algn="ctr"/>
            <a:r>
              <a:rPr lang="en-US" sz="2400" b="0" i="0" dirty="0">
                <a:effectLst/>
                <a:latin typeface="Arabic Typesetting" panose="03020402040406030203" pitchFamily="66" charset="-78"/>
                <a:cs typeface="Arabic Typesetting" panose="03020402040406030203" pitchFamily="66" charset="-78"/>
              </a:rPr>
              <a:t>Therefore, the optimal decision boundary should be able to maximize the distance between the decision boundary and all instances. i.e., maximize the margins.</a:t>
            </a:r>
            <a:endParaRPr lang="en-IN" sz="2400" dirty="0">
              <a:latin typeface="Arabic Typesetting" panose="03020402040406030203" pitchFamily="66" charset="-78"/>
              <a:cs typeface="Arabic Typesetting" panose="03020402040406030203" pitchFamily="66" charset="-78"/>
            </a:endParaRPr>
          </a:p>
        </p:txBody>
      </p:sp>
    </p:spTree>
    <p:extLst>
      <p:ext uri="{BB962C8B-B14F-4D97-AF65-F5344CB8AC3E}">
        <p14:creationId xmlns:p14="http://schemas.microsoft.com/office/powerpoint/2010/main" val="29034894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0938A62-1215-409E-96BC-9623CB61D360}"/>
              </a:ext>
            </a:extLst>
          </p:cNvPr>
          <p:cNvSpPr>
            <a:spLocks noGrp="1"/>
          </p:cNvSpPr>
          <p:nvPr>
            <p:ph type="title"/>
          </p:nvPr>
        </p:nvSpPr>
        <p:spPr>
          <a:xfrm>
            <a:off x="569168" y="433908"/>
            <a:ext cx="10689771" cy="602825"/>
          </a:xfrm>
        </p:spPr>
        <p:txBody>
          <a:bodyPr>
            <a:noAutofit/>
          </a:bodyPr>
          <a:lstStyle/>
          <a:p>
            <a:r>
              <a:rPr lang="en-US" sz="3600" b="1" dirty="0"/>
              <a:t>Logistic Regression Linear classifier –two class problem</a:t>
            </a:r>
            <a:endParaRPr lang="en-IN" sz="3600" b="1" dirty="0"/>
          </a:p>
        </p:txBody>
      </p:sp>
      <p:pic>
        <p:nvPicPr>
          <p:cNvPr id="4" name="Picture 3">
            <a:extLst>
              <a:ext uri="{FF2B5EF4-FFF2-40B4-BE49-F238E27FC236}">
                <a16:creationId xmlns:a16="http://schemas.microsoft.com/office/drawing/2014/main" xmlns="" id="{F23386B3-3CF1-4C22-9EDD-8F451F1CE61A}"/>
              </a:ext>
            </a:extLst>
          </p:cNvPr>
          <p:cNvPicPr>
            <a:picLocks noChangeAspect="1"/>
          </p:cNvPicPr>
          <p:nvPr/>
        </p:nvPicPr>
        <p:blipFill>
          <a:blip r:embed="rId3"/>
          <a:stretch>
            <a:fillRect/>
          </a:stretch>
        </p:blipFill>
        <p:spPr>
          <a:xfrm>
            <a:off x="812801" y="1361973"/>
            <a:ext cx="5349919" cy="4403828"/>
          </a:xfrm>
          <a:prstGeom prst="rect">
            <a:avLst/>
          </a:prstGeom>
        </p:spPr>
      </p:pic>
      <p:pic>
        <p:nvPicPr>
          <p:cNvPr id="6" name="Picture 5">
            <a:extLst>
              <a:ext uri="{FF2B5EF4-FFF2-40B4-BE49-F238E27FC236}">
                <a16:creationId xmlns:a16="http://schemas.microsoft.com/office/drawing/2014/main" xmlns="" id="{7C5F9008-FCDF-411F-9701-FD222BD0D5D5}"/>
              </a:ext>
            </a:extLst>
          </p:cNvPr>
          <p:cNvPicPr>
            <a:picLocks noChangeAspect="1"/>
          </p:cNvPicPr>
          <p:nvPr/>
        </p:nvPicPr>
        <p:blipFill>
          <a:blip r:embed="rId4"/>
          <a:stretch>
            <a:fillRect/>
          </a:stretch>
        </p:blipFill>
        <p:spPr>
          <a:xfrm>
            <a:off x="7422988" y="2203025"/>
            <a:ext cx="3985240" cy="2336800"/>
          </a:xfrm>
          <a:prstGeom prst="rect">
            <a:avLst/>
          </a:prstGeom>
        </p:spPr>
      </p:pic>
      <p:pic>
        <p:nvPicPr>
          <p:cNvPr id="3" name="Picture 2">
            <a:extLst>
              <a:ext uri="{FF2B5EF4-FFF2-40B4-BE49-F238E27FC236}">
                <a16:creationId xmlns:a16="http://schemas.microsoft.com/office/drawing/2014/main" xmlns="" id="{978EF120-CC34-9CD9-EDA4-4F8410BA01F3}"/>
              </a:ext>
            </a:extLst>
          </p:cNvPr>
          <p:cNvPicPr>
            <a:picLocks noChangeAspect="1"/>
          </p:cNvPicPr>
          <p:nvPr/>
        </p:nvPicPr>
        <p:blipFill>
          <a:blip r:embed="rId5"/>
          <a:stretch>
            <a:fillRect/>
          </a:stretch>
        </p:blipFill>
        <p:spPr>
          <a:xfrm>
            <a:off x="4031020" y="2344692"/>
            <a:ext cx="393700" cy="393700"/>
          </a:xfrm>
          <a:prstGeom prst="rect">
            <a:avLst/>
          </a:prstGeom>
        </p:spPr>
      </p:pic>
      <p:pic>
        <p:nvPicPr>
          <p:cNvPr id="5" name="Picture 4">
            <a:extLst>
              <a:ext uri="{FF2B5EF4-FFF2-40B4-BE49-F238E27FC236}">
                <a16:creationId xmlns:a16="http://schemas.microsoft.com/office/drawing/2014/main" xmlns="" id="{505869A9-5798-BA07-B1CD-61A814CFE99E}"/>
              </a:ext>
            </a:extLst>
          </p:cNvPr>
          <p:cNvPicPr>
            <a:picLocks noChangeAspect="1"/>
          </p:cNvPicPr>
          <p:nvPr/>
        </p:nvPicPr>
        <p:blipFill>
          <a:blip r:embed="rId6"/>
          <a:stretch>
            <a:fillRect/>
          </a:stretch>
        </p:blipFill>
        <p:spPr>
          <a:xfrm>
            <a:off x="2195870" y="4196925"/>
            <a:ext cx="381000" cy="342900"/>
          </a:xfrm>
          <a:prstGeom prst="rect">
            <a:avLst/>
          </a:prstGeom>
        </p:spPr>
      </p:pic>
    </p:spTree>
    <p:extLst>
      <p:ext uri="{BB962C8B-B14F-4D97-AF65-F5344CB8AC3E}">
        <p14:creationId xmlns:p14="http://schemas.microsoft.com/office/powerpoint/2010/main" val="35393367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FC15B05-F404-477D-9B12-AE5E51C29DEE}"/>
              </a:ext>
            </a:extLst>
          </p:cNvPr>
          <p:cNvSpPr>
            <a:spLocks noGrp="1"/>
          </p:cNvSpPr>
          <p:nvPr>
            <p:ph type="title"/>
          </p:nvPr>
        </p:nvSpPr>
        <p:spPr>
          <a:xfrm>
            <a:off x="2780270" y="514605"/>
            <a:ext cx="7379730" cy="602825"/>
          </a:xfrm>
        </p:spPr>
        <p:txBody>
          <a:bodyPr>
            <a:normAutofit fontScale="90000"/>
          </a:bodyPr>
          <a:lstStyle/>
          <a:p>
            <a:endParaRPr lang="en-IN" dirty="0"/>
          </a:p>
        </p:txBody>
      </p:sp>
      <p:pic>
        <p:nvPicPr>
          <p:cNvPr id="4" name="Picture 3">
            <a:extLst>
              <a:ext uri="{FF2B5EF4-FFF2-40B4-BE49-F238E27FC236}">
                <a16:creationId xmlns:a16="http://schemas.microsoft.com/office/drawing/2014/main" xmlns="" id="{8B9C2981-E1ED-4A24-9B51-5F8D4B5DA614}"/>
              </a:ext>
            </a:extLst>
          </p:cNvPr>
          <p:cNvPicPr>
            <a:picLocks noChangeAspect="1"/>
          </p:cNvPicPr>
          <p:nvPr/>
        </p:nvPicPr>
        <p:blipFill>
          <a:blip r:embed="rId2"/>
          <a:stretch>
            <a:fillRect/>
          </a:stretch>
        </p:blipFill>
        <p:spPr>
          <a:xfrm>
            <a:off x="1219201" y="1810590"/>
            <a:ext cx="6184900" cy="4348336"/>
          </a:xfrm>
          <a:prstGeom prst="rect">
            <a:avLst/>
          </a:prstGeom>
        </p:spPr>
      </p:pic>
      <p:sp>
        <p:nvSpPr>
          <p:cNvPr id="5" name="TextBox 4">
            <a:extLst>
              <a:ext uri="{FF2B5EF4-FFF2-40B4-BE49-F238E27FC236}">
                <a16:creationId xmlns:a16="http://schemas.microsoft.com/office/drawing/2014/main" xmlns="" id="{FB3AA901-3095-4315-ABF8-804DC4CD40A5}"/>
              </a:ext>
            </a:extLst>
          </p:cNvPr>
          <p:cNvSpPr txBox="1"/>
          <p:nvPr/>
        </p:nvSpPr>
        <p:spPr>
          <a:xfrm>
            <a:off x="8331200" y="2413000"/>
            <a:ext cx="3759200" cy="1241622"/>
          </a:xfrm>
          <a:prstGeom prst="rect">
            <a:avLst/>
          </a:prstGeom>
          <a:noFill/>
        </p:spPr>
        <p:txBody>
          <a:bodyPr wrap="square" rtlCol="0">
            <a:spAutoFit/>
          </a:bodyPr>
          <a:lstStyle/>
          <a:p>
            <a:r>
              <a:rPr lang="en-US" sz="1867" dirty="0"/>
              <a:t>Multiple lines can separate the region, but which one is best??</a:t>
            </a:r>
          </a:p>
          <a:p>
            <a:r>
              <a:rPr lang="en-US" sz="1867" dirty="0"/>
              <a:t>I have to identify which one is preferred , that’s where SVM comes.</a:t>
            </a:r>
            <a:endParaRPr lang="en-IN" sz="1867" dirty="0"/>
          </a:p>
        </p:txBody>
      </p:sp>
      <p:pic>
        <p:nvPicPr>
          <p:cNvPr id="6" name="Picture 5">
            <a:extLst>
              <a:ext uri="{FF2B5EF4-FFF2-40B4-BE49-F238E27FC236}">
                <a16:creationId xmlns:a16="http://schemas.microsoft.com/office/drawing/2014/main" xmlns="" id="{A2B61AE1-8AE5-405B-ACCF-A052F993EFA1}"/>
              </a:ext>
            </a:extLst>
          </p:cNvPr>
          <p:cNvPicPr>
            <a:picLocks noChangeAspect="1"/>
          </p:cNvPicPr>
          <p:nvPr/>
        </p:nvPicPr>
        <p:blipFill>
          <a:blip r:embed="rId3"/>
          <a:stretch>
            <a:fillRect/>
          </a:stretch>
        </p:blipFill>
        <p:spPr>
          <a:xfrm>
            <a:off x="8128000" y="4281847"/>
            <a:ext cx="3363528" cy="1972251"/>
          </a:xfrm>
          <a:prstGeom prst="rect">
            <a:avLst/>
          </a:prstGeom>
        </p:spPr>
      </p:pic>
      <p:pic>
        <p:nvPicPr>
          <p:cNvPr id="8" name="Picture 7">
            <a:extLst>
              <a:ext uri="{FF2B5EF4-FFF2-40B4-BE49-F238E27FC236}">
                <a16:creationId xmlns:a16="http://schemas.microsoft.com/office/drawing/2014/main" xmlns="" id="{6618B68C-B535-4155-BE08-93F65CAEABB6}"/>
              </a:ext>
            </a:extLst>
          </p:cNvPr>
          <p:cNvPicPr>
            <a:picLocks noChangeAspect="1"/>
          </p:cNvPicPr>
          <p:nvPr/>
        </p:nvPicPr>
        <p:blipFill>
          <a:blip r:embed="rId4"/>
          <a:stretch>
            <a:fillRect/>
          </a:stretch>
        </p:blipFill>
        <p:spPr>
          <a:xfrm>
            <a:off x="5899150" y="3232150"/>
            <a:ext cx="393700" cy="393700"/>
          </a:xfrm>
          <a:prstGeom prst="rect">
            <a:avLst/>
          </a:prstGeom>
        </p:spPr>
      </p:pic>
      <p:pic>
        <p:nvPicPr>
          <p:cNvPr id="10" name="Picture 9">
            <a:extLst>
              <a:ext uri="{FF2B5EF4-FFF2-40B4-BE49-F238E27FC236}">
                <a16:creationId xmlns:a16="http://schemas.microsoft.com/office/drawing/2014/main" xmlns="" id="{EFC31D52-A2FD-4EB1-9650-3E755EE18E92}"/>
              </a:ext>
            </a:extLst>
          </p:cNvPr>
          <p:cNvPicPr>
            <a:picLocks noChangeAspect="1"/>
          </p:cNvPicPr>
          <p:nvPr/>
        </p:nvPicPr>
        <p:blipFill>
          <a:blip r:embed="rId5"/>
          <a:stretch>
            <a:fillRect/>
          </a:stretch>
        </p:blipFill>
        <p:spPr>
          <a:xfrm>
            <a:off x="4064000" y="5084383"/>
            <a:ext cx="381000" cy="342900"/>
          </a:xfrm>
          <a:prstGeom prst="rect">
            <a:avLst/>
          </a:prstGeom>
        </p:spPr>
      </p:pic>
      <p:sp>
        <p:nvSpPr>
          <p:cNvPr id="3" name="Rectangle 2">
            <a:extLst>
              <a:ext uri="{FF2B5EF4-FFF2-40B4-BE49-F238E27FC236}">
                <a16:creationId xmlns:a16="http://schemas.microsoft.com/office/drawing/2014/main" xmlns="" id="{65542EF5-3319-46BF-9B07-9674B368EF39}"/>
              </a:ext>
            </a:extLst>
          </p:cNvPr>
          <p:cNvSpPr/>
          <p:nvPr/>
        </p:nvSpPr>
        <p:spPr>
          <a:xfrm>
            <a:off x="1515762" y="1837038"/>
            <a:ext cx="5041557" cy="4530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Which line best fits the data</a:t>
            </a:r>
            <a:endParaRPr lang="en-IN" dirty="0"/>
          </a:p>
        </p:txBody>
      </p:sp>
    </p:spTree>
    <p:extLst>
      <p:ext uri="{BB962C8B-B14F-4D97-AF65-F5344CB8AC3E}">
        <p14:creationId xmlns:p14="http://schemas.microsoft.com/office/powerpoint/2010/main" val="3288327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EEBEFC4-6FD7-41D4-93C5-EBFF8FFAEDF3}"/>
              </a:ext>
            </a:extLst>
          </p:cNvPr>
          <p:cNvSpPr>
            <a:spLocks noGrp="1"/>
          </p:cNvSpPr>
          <p:nvPr>
            <p:ph type="title"/>
          </p:nvPr>
        </p:nvSpPr>
        <p:spPr/>
        <p:txBody>
          <a:bodyPr/>
          <a:lstStyle/>
          <a:p>
            <a:endParaRPr lang="en-IN"/>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xmlns="" id="{BA375317-A201-4540-A1D0-118BA4E63803}"/>
                  </a:ext>
                </a:extLst>
              </p:cNvPr>
              <p:cNvSpPr txBox="1"/>
              <p:nvPr/>
            </p:nvSpPr>
            <p:spPr>
              <a:xfrm>
                <a:off x="6995232" y="2850871"/>
                <a:ext cx="5080000" cy="3740704"/>
              </a:xfrm>
              <a:prstGeom prst="rect">
                <a:avLst/>
              </a:prstGeom>
              <a:noFill/>
            </p:spPr>
            <p:txBody>
              <a:bodyPr wrap="square" rtlCol="0">
                <a:spAutoFit/>
              </a:bodyPr>
              <a:lstStyle/>
              <a:p>
                <a:r>
                  <a:rPr lang="en-US" sz="2133" dirty="0"/>
                  <a:t>Training pair is given as (</a:t>
                </a:r>
                <a14:m>
                  <m:oMath xmlns:m="http://schemas.openxmlformats.org/officeDocument/2006/math">
                    <m:sSub>
                      <m:sSubPr>
                        <m:ctrlPr>
                          <a:rPr lang="en-US" sz="2133" i="1" dirty="0">
                            <a:latin typeface="Cambria Math" panose="02040503050406030204" pitchFamily="18" charset="0"/>
                          </a:rPr>
                        </m:ctrlPr>
                      </m:sSubPr>
                      <m:e>
                        <m:r>
                          <a:rPr lang="en-US" sz="2133" i="1" dirty="0">
                            <a:latin typeface="Cambria Math" panose="02040503050406030204" pitchFamily="18" charset="0"/>
                          </a:rPr>
                          <m:t>𝑥</m:t>
                        </m:r>
                      </m:e>
                      <m:sub>
                        <m:r>
                          <a:rPr lang="en-US" sz="2133" i="1" dirty="0">
                            <a:latin typeface="Cambria Math" panose="02040503050406030204" pitchFamily="18" charset="0"/>
                          </a:rPr>
                          <m:t>𝑖</m:t>
                        </m:r>
                      </m:sub>
                    </m:sSub>
                  </m:oMath>
                </a14:m>
                <a:r>
                  <a:rPr lang="en-US" sz="2133" dirty="0"/>
                  <a:t>,</a:t>
                </a:r>
                <a14:m>
                  <m:oMath xmlns:m="http://schemas.openxmlformats.org/officeDocument/2006/math">
                    <m:sSub>
                      <m:sSubPr>
                        <m:ctrlPr>
                          <a:rPr lang="en-US" sz="2133" i="1" dirty="0">
                            <a:latin typeface="Cambria Math" panose="02040503050406030204" pitchFamily="18" charset="0"/>
                          </a:rPr>
                        </m:ctrlPr>
                      </m:sSubPr>
                      <m:e>
                        <m:r>
                          <a:rPr lang="en-US" sz="2133" i="1" dirty="0">
                            <a:latin typeface="Cambria Math" panose="02040503050406030204" pitchFamily="18" charset="0"/>
                          </a:rPr>
                          <m:t>𝑦</m:t>
                        </m:r>
                      </m:e>
                      <m:sub>
                        <m:r>
                          <a:rPr lang="en-US" sz="2133" i="1" dirty="0">
                            <a:latin typeface="Cambria Math" panose="02040503050406030204" pitchFamily="18" charset="0"/>
                          </a:rPr>
                          <m:t>𝑖</m:t>
                        </m:r>
                      </m:sub>
                    </m:sSub>
                    <m:r>
                      <a:rPr lang="en-US" sz="2133" dirty="0">
                        <a:latin typeface="Cambria Math" panose="02040503050406030204" pitchFamily="18" charset="0"/>
                      </a:rPr>
                      <m:t>)</m:t>
                    </m:r>
                  </m:oMath>
                </a14:m>
                <a:r>
                  <a:rPr lang="en-US" sz="2133" dirty="0"/>
                  <a:t>, </a:t>
                </a:r>
                <a14:m>
                  <m:oMath xmlns:m="http://schemas.openxmlformats.org/officeDocument/2006/math">
                    <m:sSub>
                      <m:sSubPr>
                        <m:ctrlPr>
                          <a:rPr lang="en-US" sz="2133" i="1" dirty="0">
                            <a:latin typeface="Cambria Math" panose="02040503050406030204" pitchFamily="18" charset="0"/>
                          </a:rPr>
                        </m:ctrlPr>
                      </m:sSubPr>
                      <m:e>
                        <m:r>
                          <a:rPr lang="en-US" sz="2133" i="1" dirty="0">
                            <a:latin typeface="Cambria Math" panose="02040503050406030204" pitchFamily="18" charset="0"/>
                          </a:rPr>
                          <m:t>𝑦</m:t>
                        </m:r>
                      </m:e>
                      <m:sub>
                        <m:r>
                          <a:rPr lang="en-US" sz="2133" i="1" dirty="0">
                            <a:latin typeface="Cambria Math" panose="02040503050406030204" pitchFamily="18" charset="0"/>
                          </a:rPr>
                          <m:t>𝑖</m:t>
                        </m:r>
                      </m:sub>
                    </m:sSub>
                  </m:oMath>
                </a14:m>
                <a:r>
                  <a:rPr lang="en-US" sz="2133" dirty="0"/>
                  <a:t>indicates the class to which </a:t>
                </a:r>
                <a14:m>
                  <m:oMath xmlns:m="http://schemas.openxmlformats.org/officeDocument/2006/math">
                    <m:sSub>
                      <m:sSubPr>
                        <m:ctrlPr>
                          <a:rPr lang="en-US" sz="2133" i="1">
                            <a:latin typeface="Cambria Math" panose="02040503050406030204" pitchFamily="18" charset="0"/>
                          </a:rPr>
                        </m:ctrlPr>
                      </m:sSubPr>
                      <m:e>
                        <m:r>
                          <a:rPr lang="en-US" sz="2133" i="1">
                            <a:latin typeface="Cambria Math" panose="02040503050406030204" pitchFamily="18" charset="0"/>
                          </a:rPr>
                          <m:t> </m:t>
                        </m:r>
                        <m:r>
                          <a:rPr lang="en-US" sz="2133" i="1">
                            <a:latin typeface="Cambria Math" panose="02040503050406030204" pitchFamily="18" charset="0"/>
                          </a:rPr>
                          <m:t>𝑥</m:t>
                        </m:r>
                      </m:e>
                      <m:sub>
                        <m:r>
                          <a:rPr lang="en-US" sz="2133" i="1">
                            <a:latin typeface="Cambria Math" panose="02040503050406030204" pitchFamily="18" charset="0"/>
                          </a:rPr>
                          <m:t>𝑖</m:t>
                        </m:r>
                      </m:sub>
                    </m:sSub>
                  </m:oMath>
                </a14:m>
                <a:r>
                  <a:rPr lang="en-US" sz="2133" dirty="0"/>
                  <a:t>belongs.</a:t>
                </a:r>
              </a:p>
              <a:p>
                <a:endParaRPr lang="en-US" sz="2133" dirty="0"/>
              </a:p>
              <a:p>
                <a14:m>
                  <m:oMath xmlns:m="http://schemas.openxmlformats.org/officeDocument/2006/math">
                    <m:sSub>
                      <m:sSubPr>
                        <m:ctrlPr>
                          <a:rPr lang="en-US" sz="2133" i="1">
                            <a:latin typeface="Cambria Math" panose="02040503050406030204" pitchFamily="18" charset="0"/>
                          </a:rPr>
                        </m:ctrlPr>
                      </m:sSubPr>
                      <m:e>
                        <m:r>
                          <a:rPr lang="en-US" sz="2133" i="1">
                            <a:latin typeface="Cambria Math" panose="02040503050406030204" pitchFamily="18" charset="0"/>
                          </a:rPr>
                          <m:t>𝑦</m:t>
                        </m:r>
                      </m:e>
                      <m:sub>
                        <m:r>
                          <a:rPr lang="en-US" sz="2133" i="1">
                            <a:latin typeface="Cambria Math" panose="02040503050406030204" pitchFamily="18" charset="0"/>
                          </a:rPr>
                          <m:t>𝑖</m:t>
                        </m:r>
                      </m:sub>
                    </m:sSub>
                  </m:oMath>
                </a14:m>
                <a:r>
                  <a:rPr lang="en-US" sz="2133" dirty="0"/>
                  <a:t>=+1 	if </a:t>
                </a:r>
                <a14:m>
                  <m:oMath xmlns:m="http://schemas.openxmlformats.org/officeDocument/2006/math">
                    <m:sSub>
                      <m:sSubPr>
                        <m:ctrlPr>
                          <a:rPr lang="en-US" sz="2133" i="1" dirty="0">
                            <a:latin typeface="Cambria Math" panose="02040503050406030204" pitchFamily="18" charset="0"/>
                          </a:rPr>
                        </m:ctrlPr>
                      </m:sSubPr>
                      <m:e>
                        <m:r>
                          <a:rPr lang="en-US" sz="2133" i="1" dirty="0">
                            <a:latin typeface="Cambria Math" panose="02040503050406030204" pitchFamily="18" charset="0"/>
                          </a:rPr>
                          <m:t>𝑥</m:t>
                        </m:r>
                      </m:e>
                      <m:sub>
                        <m:r>
                          <a:rPr lang="en-US" sz="2133" i="1" dirty="0">
                            <a:latin typeface="Cambria Math" panose="02040503050406030204" pitchFamily="18" charset="0"/>
                          </a:rPr>
                          <m:t>𝑖</m:t>
                        </m:r>
                      </m:sub>
                    </m:sSub>
                    <m:r>
                      <a:rPr lang="en-US" sz="2133" i="1" dirty="0">
                        <a:latin typeface="Cambria Math" panose="02040503050406030204" pitchFamily="18" charset="0"/>
                      </a:rPr>
                      <m:t> </m:t>
                    </m:r>
                  </m:oMath>
                </a14:m>
                <a:r>
                  <a:rPr lang="en-US" sz="2133" dirty="0"/>
                  <a:t>belongs </a:t>
                </a:r>
                <a14:m>
                  <m:oMath xmlns:m="http://schemas.openxmlformats.org/officeDocument/2006/math">
                    <m:sSub>
                      <m:sSubPr>
                        <m:ctrlPr>
                          <a:rPr lang="en-US" sz="2133" i="1">
                            <a:latin typeface="Cambria Math" panose="02040503050406030204" pitchFamily="18" charset="0"/>
                          </a:rPr>
                        </m:ctrlPr>
                      </m:sSubPr>
                      <m:e>
                        <m:r>
                          <a:rPr lang="en-US" sz="2133" i="1">
                            <a:latin typeface="Cambria Math" panose="02040503050406030204" pitchFamily="18" charset="0"/>
                          </a:rPr>
                          <m:t>𝑤</m:t>
                        </m:r>
                      </m:e>
                      <m:sub>
                        <m:r>
                          <a:rPr lang="en-US" sz="2133" i="1">
                            <a:latin typeface="Cambria Math" panose="02040503050406030204" pitchFamily="18" charset="0"/>
                          </a:rPr>
                          <m:t>1</m:t>
                        </m:r>
                      </m:sub>
                    </m:sSub>
                  </m:oMath>
                </a14:m>
                <a:endParaRPr lang="en-US" sz="2133" dirty="0"/>
              </a:p>
              <a:p>
                <a14:m>
                  <m:oMath xmlns:m="http://schemas.openxmlformats.org/officeDocument/2006/math">
                    <m:sSub>
                      <m:sSubPr>
                        <m:ctrlPr>
                          <a:rPr lang="en-US" sz="2133" i="1">
                            <a:latin typeface="Cambria Math" panose="02040503050406030204" pitchFamily="18" charset="0"/>
                          </a:rPr>
                        </m:ctrlPr>
                      </m:sSubPr>
                      <m:e>
                        <m:r>
                          <a:rPr lang="en-US" sz="2133" i="1">
                            <a:latin typeface="Cambria Math" panose="02040503050406030204" pitchFamily="18" charset="0"/>
                          </a:rPr>
                          <m:t>𝑦</m:t>
                        </m:r>
                      </m:e>
                      <m:sub>
                        <m:r>
                          <a:rPr lang="en-US" sz="2133" i="1">
                            <a:latin typeface="Cambria Math" panose="02040503050406030204" pitchFamily="18" charset="0"/>
                          </a:rPr>
                          <m:t>𝑖</m:t>
                        </m:r>
                      </m:sub>
                    </m:sSub>
                  </m:oMath>
                </a14:m>
                <a:r>
                  <a:rPr lang="en-US" sz="2133" dirty="0"/>
                  <a:t>=-1 	if </a:t>
                </a:r>
                <a14:m>
                  <m:oMath xmlns:m="http://schemas.openxmlformats.org/officeDocument/2006/math">
                    <m:sSub>
                      <m:sSubPr>
                        <m:ctrlPr>
                          <a:rPr lang="en-US" sz="2133" i="1" dirty="0">
                            <a:latin typeface="Cambria Math" panose="02040503050406030204" pitchFamily="18" charset="0"/>
                          </a:rPr>
                        </m:ctrlPr>
                      </m:sSubPr>
                      <m:e>
                        <m:r>
                          <a:rPr lang="en-US" sz="2133" i="1" dirty="0">
                            <a:latin typeface="Cambria Math" panose="02040503050406030204" pitchFamily="18" charset="0"/>
                          </a:rPr>
                          <m:t>𝑥</m:t>
                        </m:r>
                      </m:e>
                      <m:sub>
                        <m:r>
                          <a:rPr lang="en-US" sz="2133" i="1" dirty="0">
                            <a:latin typeface="Cambria Math" panose="02040503050406030204" pitchFamily="18" charset="0"/>
                          </a:rPr>
                          <m:t>𝑖</m:t>
                        </m:r>
                      </m:sub>
                    </m:sSub>
                  </m:oMath>
                </a14:m>
                <a:r>
                  <a:rPr lang="en-US" sz="2133" dirty="0"/>
                  <a:t> belongs to </a:t>
                </a:r>
                <a14:m>
                  <m:oMath xmlns:m="http://schemas.openxmlformats.org/officeDocument/2006/math">
                    <m:sSub>
                      <m:sSubPr>
                        <m:ctrlPr>
                          <a:rPr lang="en-US" sz="2133" i="1">
                            <a:latin typeface="Cambria Math" panose="02040503050406030204" pitchFamily="18" charset="0"/>
                          </a:rPr>
                        </m:ctrlPr>
                      </m:sSubPr>
                      <m:e>
                        <m:r>
                          <a:rPr lang="en-US" sz="2133" i="1">
                            <a:latin typeface="Cambria Math" panose="02040503050406030204" pitchFamily="18" charset="0"/>
                          </a:rPr>
                          <m:t>𝑤</m:t>
                        </m:r>
                      </m:e>
                      <m:sub>
                        <m:r>
                          <a:rPr lang="en-US" sz="2133" i="1">
                            <a:latin typeface="Cambria Math" panose="02040503050406030204" pitchFamily="18" charset="0"/>
                          </a:rPr>
                          <m:t>2</m:t>
                        </m:r>
                      </m:sub>
                    </m:sSub>
                  </m:oMath>
                </a14:m>
                <a:endParaRPr lang="en-IN" sz="2133" dirty="0"/>
              </a:p>
              <a:p>
                <a:endParaRPr lang="en-IN" sz="2133" dirty="0"/>
              </a:p>
              <a:p>
                <a:r>
                  <a:rPr lang="en-IN" sz="2133" dirty="0"/>
                  <a:t>Combining together, we get unified classification rule, that should be satisfied for every correct classification</a:t>
                </a:r>
              </a:p>
              <a:p>
                <a:endParaRPr lang="en-IN" sz="2133" dirty="0"/>
              </a:p>
              <a:p>
                <a14:m>
                  <m:oMath xmlns:m="http://schemas.openxmlformats.org/officeDocument/2006/math">
                    <m:sSub>
                      <m:sSubPr>
                        <m:ctrlPr>
                          <a:rPr lang="en-IN" sz="2133" b="1" i="1">
                            <a:latin typeface="Cambria Math" panose="02040503050406030204" pitchFamily="18" charset="0"/>
                          </a:rPr>
                        </m:ctrlPr>
                      </m:sSubPr>
                      <m:e>
                        <m:r>
                          <a:rPr lang="en-US" sz="2133" b="1" i="1">
                            <a:latin typeface="Cambria Math" panose="02040503050406030204" pitchFamily="18" charset="0"/>
                          </a:rPr>
                          <m:t>𝒚</m:t>
                        </m:r>
                      </m:e>
                      <m:sub>
                        <m:r>
                          <a:rPr lang="en-US" sz="2133" b="1" i="1">
                            <a:latin typeface="Cambria Math" panose="02040503050406030204" pitchFamily="18" charset="0"/>
                          </a:rPr>
                          <m:t>𝒊</m:t>
                        </m:r>
                      </m:sub>
                    </m:sSub>
                    <m:sSub>
                      <m:sSubPr>
                        <m:ctrlPr>
                          <a:rPr lang="en-IN" sz="2133" b="1" i="1">
                            <a:latin typeface="Cambria Math" panose="02040503050406030204" pitchFamily="18" charset="0"/>
                          </a:rPr>
                        </m:ctrlPr>
                      </m:sSubPr>
                      <m:e>
                        <m:r>
                          <a:rPr lang="en-US" sz="2133" b="1" i="1">
                            <a:latin typeface="Cambria Math" panose="02040503050406030204" pitchFamily="18" charset="0"/>
                          </a:rPr>
                          <m:t>(</m:t>
                        </m:r>
                        <m:sSubSup>
                          <m:sSubSupPr>
                            <m:ctrlPr>
                              <a:rPr lang="en-US" sz="2133" b="1" i="1">
                                <a:latin typeface="Cambria Math" panose="02040503050406030204" pitchFamily="18" charset="0"/>
                              </a:rPr>
                            </m:ctrlPr>
                          </m:sSubSupPr>
                          <m:e>
                            <m:r>
                              <a:rPr lang="en-US" sz="2133" b="1" i="1">
                                <a:latin typeface="Cambria Math" panose="02040503050406030204" pitchFamily="18" charset="0"/>
                              </a:rPr>
                              <m:t>𝒂</m:t>
                            </m:r>
                          </m:e>
                          <m:sub>
                            <m:r>
                              <a:rPr lang="en-US" sz="2133" b="1" i="1">
                                <a:latin typeface="Cambria Math" panose="02040503050406030204" pitchFamily="18" charset="0"/>
                              </a:rPr>
                              <m:t>.</m:t>
                            </m:r>
                          </m:sub>
                          <m:sup>
                            <m:r>
                              <a:rPr lang="en-US" sz="2133" b="1" i="1">
                                <a:latin typeface="Cambria Math" panose="02040503050406030204" pitchFamily="18" charset="0"/>
                              </a:rPr>
                              <m:t>𝒕</m:t>
                            </m:r>
                          </m:sup>
                        </m:sSubSup>
                        <m:r>
                          <a:rPr lang="en-US" sz="2133" b="1" i="1" smtClean="0">
                            <a:latin typeface="Cambria Math" panose="02040503050406030204" pitchFamily="18" charset="0"/>
                          </a:rPr>
                          <m:t>𝑿</m:t>
                        </m:r>
                      </m:e>
                      <m:sub>
                        <m:r>
                          <a:rPr lang="en-US" sz="2133" b="1" i="1">
                            <a:latin typeface="Cambria Math" panose="02040503050406030204" pitchFamily="18" charset="0"/>
                          </a:rPr>
                          <m:t>𝒊</m:t>
                        </m:r>
                      </m:sub>
                    </m:sSub>
                  </m:oMath>
                </a14:m>
                <a:r>
                  <a:rPr lang="en-IN" sz="2133" b="1" dirty="0"/>
                  <a:t>+b)&gt;0</a:t>
                </a:r>
              </a:p>
            </p:txBody>
          </p:sp>
        </mc:Choice>
        <mc:Fallback xmlns="">
          <p:sp>
            <p:nvSpPr>
              <p:cNvPr id="5" name="TextBox 4">
                <a:extLst>
                  <a:ext uri="{FF2B5EF4-FFF2-40B4-BE49-F238E27FC236}">
                    <a16:creationId xmlns:a16="http://schemas.microsoft.com/office/drawing/2014/main" id="{BA375317-A201-4540-A1D0-118BA4E63803}"/>
                  </a:ext>
                </a:extLst>
              </p:cNvPr>
              <p:cNvSpPr txBox="1">
                <a:spLocks noRot="1" noChangeAspect="1" noMove="1" noResize="1" noEditPoints="1" noAdjustHandles="1" noChangeArrowheads="1" noChangeShapeType="1" noTextEdit="1"/>
              </p:cNvSpPr>
              <p:nvPr/>
            </p:nvSpPr>
            <p:spPr>
              <a:xfrm>
                <a:off x="6995232" y="2850871"/>
                <a:ext cx="5080000" cy="3740704"/>
              </a:xfrm>
              <a:prstGeom prst="rect">
                <a:avLst/>
              </a:prstGeom>
              <a:blipFill>
                <a:blip r:embed="rId2"/>
                <a:stretch>
                  <a:fillRect l="-1441" t="-979" b="-1305"/>
                </a:stretch>
              </a:blipFill>
            </p:spPr>
            <p:txBody>
              <a:bodyPr/>
              <a:lstStyle/>
              <a:p>
                <a:r>
                  <a:rPr lang="en-IN">
                    <a:noFill/>
                  </a:rPr>
                  <a:t> </a:t>
                </a:r>
              </a:p>
            </p:txBody>
          </p:sp>
        </mc:Fallback>
      </mc:AlternateContent>
      <p:pic>
        <p:nvPicPr>
          <p:cNvPr id="7" name="Picture 6">
            <a:extLst>
              <a:ext uri="{FF2B5EF4-FFF2-40B4-BE49-F238E27FC236}">
                <a16:creationId xmlns:a16="http://schemas.microsoft.com/office/drawing/2014/main" xmlns="" id="{731AE46B-C8A7-47EC-9972-9AE36FB82DA4}"/>
              </a:ext>
            </a:extLst>
          </p:cNvPr>
          <p:cNvPicPr>
            <a:picLocks noChangeAspect="1"/>
          </p:cNvPicPr>
          <p:nvPr/>
        </p:nvPicPr>
        <p:blipFill>
          <a:blip r:embed="rId3"/>
          <a:stretch>
            <a:fillRect/>
          </a:stretch>
        </p:blipFill>
        <p:spPr>
          <a:xfrm>
            <a:off x="1578475" y="2311401"/>
            <a:ext cx="4527200" cy="3359151"/>
          </a:xfrm>
          <a:prstGeom prst="rect">
            <a:avLst/>
          </a:prstGeom>
        </p:spPr>
      </p:pic>
      <p:pic>
        <p:nvPicPr>
          <p:cNvPr id="8" name="Picture 7">
            <a:extLst>
              <a:ext uri="{FF2B5EF4-FFF2-40B4-BE49-F238E27FC236}">
                <a16:creationId xmlns:a16="http://schemas.microsoft.com/office/drawing/2014/main" xmlns="" id="{8F54F5DA-17E7-4D11-9F58-1F0EA501D29F}"/>
              </a:ext>
            </a:extLst>
          </p:cNvPr>
          <p:cNvPicPr>
            <a:picLocks noChangeAspect="1"/>
          </p:cNvPicPr>
          <p:nvPr/>
        </p:nvPicPr>
        <p:blipFill>
          <a:blip r:embed="rId4"/>
          <a:stretch>
            <a:fillRect/>
          </a:stretch>
        </p:blipFill>
        <p:spPr>
          <a:xfrm>
            <a:off x="2743200" y="4546601"/>
            <a:ext cx="381000" cy="342900"/>
          </a:xfrm>
          <a:prstGeom prst="rect">
            <a:avLst/>
          </a:prstGeom>
        </p:spPr>
      </p:pic>
      <p:pic>
        <p:nvPicPr>
          <p:cNvPr id="9" name="Picture 8">
            <a:extLst>
              <a:ext uri="{FF2B5EF4-FFF2-40B4-BE49-F238E27FC236}">
                <a16:creationId xmlns:a16="http://schemas.microsoft.com/office/drawing/2014/main" xmlns="" id="{A446D239-A460-486E-B84D-E12897F109EB}"/>
              </a:ext>
            </a:extLst>
          </p:cNvPr>
          <p:cNvPicPr>
            <a:picLocks noChangeAspect="1"/>
          </p:cNvPicPr>
          <p:nvPr/>
        </p:nvPicPr>
        <p:blipFill>
          <a:blip r:embed="rId5"/>
          <a:stretch>
            <a:fillRect/>
          </a:stretch>
        </p:blipFill>
        <p:spPr>
          <a:xfrm>
            <a:off x="5008033" y="3042413"/>
            <a:ext cx="393700" cy="393700"/>
          </a:xfrm>
          <a:prstGeom prst="rect">
            <a:avLst/>
          </a:prstGeom>
        </p:spPr>
      </p:pic>
      <p:pic>
        <p:nvPicPr>
          <p:cNvPr id="10" name="Picture 9">
            <a:extLst>
              <a:ext uri="{FF2B5EF4-FFF2-40B4-BE49-F238E27FC236}">
                <a16:creationId xmlns:a16="http://schemas.microsoft.com/office/drawing/2014/main" xmlns="" id="{A8FBCA02-AF7B-4D20-A1E7-ACB28A816361}"/>
              </a:ext>
            </a:extLst>
          </p:cNvPr>
          <p:cNvPicPr>
            <a:picLocks noChangeAspect="1"/>
          </p:cNvPicPr>
          <p:nvPr/>
        </p:nvPicPr>
        <p:blipFill>
          <a:blip r:embed="rId6"/>
          <a:stretch>
            <a:fillRect/>
          </a:stretch>
        </p:blipFill>
        <p:spPr>
          <a:xfrm>
            <a:off x="7664558" y="796535"/>
            <a:ext cx="3365284" cy="1967147"/>
          </a:xfrm>
          <a:prstGeom prst="rect">
            <a:avLst/>
          </a:prstGeom>
        </p:spPr>
      </p:pic>
    </p:spTree>
    <p:extLst>
      <p:ext uri="{BB962C8B-B14F-4D97-AF65-F5344CB8AC3E}">
        <p14:creationId xmlns:p14="http://schemas.microsoft.com/office/powerpoint/2010/main" val="7423861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6A963CB-0B91-4060-9A51-9BFE0F0F041C}"/>
              </a:ext>
            </a:extLst>
          </p:cNvPr>
          <p:cNvSpPr>
            <a:spLocks noGrp="1"/>
          </p:cNvSpPr>
          <p:nvPr>
            <p:ph type="title"/>
          </p:nvPr>
        </p:nvSpPr>
        <p:spPr>
          <a:xfrm>
            <a:off x="838200" y="12797"/>
            <a:ext cx="10515600" cy="1325563"/>
          </a:xfrm>
        </p:spPr>
        <p:txBody>
          <a:bodyPr>
            <a:normAutofit/>
          </a:bodyPr>
          <a:lstStyle/>
          <a:p>
            <a:r>
              <a:rPr lang="en-US" sz="2800" b="1" dirty="0">
                <a:solidFill>
                  <a:srgbClr val="FF0000"/>
                </a:solidFill>
              </a:rPr>
              <a:t>Important diagram for SVM</a:t>
            </a:r>
            <a:endParaRPr lang="en-IN" sz="2800" b="1" dirty="0">
              <a:solidFill>
                <a:srgbClr val="FF0000"/>
              </a:solidFill>
            </a:endParaRPr>
          </a:p>
        </p:txBody>
      </p:sp>
      <p:pic>
        <p:nvPicPr>
          <p:cNvPr id="3" name="Picture 2" descr="hyperplane - support vector machine in python- edureka">
            <a:extLst>
              <a:ext uri="{FF2B5EF4-FFF2-40B4-BE49-F238E27FC236}">
                <a16:creationId xmlns:a16="http://schemas.microsoft.com/office/drawing/2014/main" xmlns="" id="{DD3B1776-A1B9-4A70-AD95-C5A2AC57DE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15900" y="959754"/>
            <a:ext cx="6680590" cy="434089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xmlns="" id="{F63A3AA9-B2AF-4691-B68B-231F8C9E5830}"/>
              </a:ext>
            </a:extLst>
          </p:cNvPr>
          <p:cNvSpPr txBox="1"/>
          <p:nvPr/>
        </p:nvSpPr>
        <p:spPr>
          <a:xfrm>
            <a:off x="8782049" y="3632200"/>
            <a:ext cx="3149600" cy="2124236"/>
          </a:xfrm>
          <a:prstGeom prst="rect">
            <a:avLst/>
          </a:prstGeom>
          <a:noFill/>
        </p:spPr>
        <p:txBody>
          <a:bodyPr wrap="square" rtlCol="0">
            <a:spAutoFit/>
          </a:bodyPr>
          <a:lstStyle/>
          <a:p>
            <a:r>
              <a:rPr lang="en-US" sz="1467" b="1" dirty="0">
                <a:solidFill>
                  <a:srgbClr val="FF0000"/>
                </a:solidFill>
                <a:latin typeface="arial" panose="020B0604020202020204" pitchFamily="34" charset="0"/>
              </a:rPr>
              <a:t>Support vectors </a:t>
            </a:r>
            <a:r>
              <a:rPr lang="en-US" sz="1467" dirty="0">
                <a:solidFill>
                  <a:srgbClr val="202124"/>
                </a:solidFill>
                <a:latin typeface="arial" panose="020B0604020202020204" pitchFamily="34" charset="0"/>
              </a:rPr>
              <a:t>are data points that are closer to the hyperplane and influence the position and orientation of the hyperplane. Using these support vectors, we maximize the margin of the classifier. This distance from the decision surface to the closest data point determines the margin of the classifier</a:t>
            </a:r>
            <a:endParaRPr lang="en-IN" sz="1467" dirty="0">
              <a:solidFill>
                <a:srgbClr val="202124"/>
              </a:solidFill>
              <a:latin typeface="arial" panose="020B0604020202020204" pitchFamily="34" charset="0"/>
            </a:endParaRPr>
          </a:p>
        </p:txBody>
      </p:sp>
      <p:sp>
        <p:nvSpPr>
          <p:cNvPr id="5" name="TextBox 4">
            <a:extLst>
              <a:ext uri="{FF2B5EF4-FFF2-40B4-BE49-F238E27FC236}">
                <a16:creationId xmlns:a16="http://schemas.microsoft.com/office/drawing/2014/main" xmlns="" id="{94587075-BEE1-4394-9DE3-241BE023F7EE}"/>
              </a:ext>
            </a:extLst>
          </p:cNvPr>
          <p:cNvSpPr txBox="1"/>
          <p:nvPr/>
        </p:nvSpPr>
        <p:spPr>
          <a:xfrm>
            <a:off x="9293015" y="317210"/>
            <a:ext cx="2192189" cy="1446935"/>
          </a:xfrm>
          <a:prstGeom prst="rect">
            <a:avLst/>
          </a:prstGeom>
          <a:noFill/>
        </p:spPr>
        <p:txBody>
          <a:bodyPr wrap="square" rtlCol="0">
            <a:spAutoFit/>
          </a:bodyPr>
          <a:lstStyle/>
          <a:p>
            <a:r>
              <a:rPr lang="en-US" sz="1467" dirty="0">
                <a:solidFill>
                  <a:srgbClr val="202124"/>
                </a:solidFill>
                <a:latin typeface="arial" panose="020B0604020202020204" pitchFamily="34" charset="0"/>
              </a:rPr>
              <a:t>This distance from the decision surface to the closest data point determines the </a:t>
            </a:r>
            <a:r>
              <a:rPr lang="en-US" sz="1467" dirty="0">
                <a:solidFill>
                  <a:srgbClr val="FF0000"/>
                </a:solidFill>
                <a:latin typeface="arial" panose="020B0604020202020204" pitchFamily="34" charset="0"/>
              </a:rPr>
              <a:t>margin</a:t>
            </a:r>
            <a:r>
              <a:rPr lang="en-US" sz="1467" dirty="0">
                <a:solidFill>
                  <a:srgbClr val="202124"/>
                </a:solidFill>
                <a:latin typeface="arial" panose="020B0604020202020204" pitchFamily="34" charset="0"/>
              </a:rPr>
              <a:t> of the classifier</a:t>
            </a:r>
            <a:endParaRPr lang="en-IN" sz="1467" dirty="0"/>
          </a:p>
        </p:txBody>
      </p:sp>
      <p:sp>
        <p:nvSpPr>
          <p:cNvPr id="6" name="TextBox 5">
            <a:extLst>
              <a:ext uri="{FF2B5EF4-FFF2-40B4-BE49-F238E27FC236}">
                <a16:creationId xmlns:a16="http://schemas.microsoft.com/office/drawing/2014/main" xmlns="" id="{BE2C0A32-DD01-45AA-9DBA-63B7E5E3A68F}"/>
              </a:ext>
            </a:extLst>
          </p:cNvPr>
          <p:cNvSpPr txBox="1"/>
          <p:nvPr/>
        </p:nvSpPr>
        <p:spPr>
          <a:xfrm>
            <a:off x="9550400" y="2115287"/>
            <a:ext cx="2192189" cy="769634"/>
          </a:xfrm>
          <a:prstGeom prst="rect">
            <a:avLst/>
          </a:prstGeom>
          <a:noFill/>
        </p:spPr>
        <p:txBody>
          <a:bodyPr wrap="square" rtlCol="0">
            <a:spAutoFit/>
          </a:bodyPr>
          <a:lstStyle/>
          <a:p>
            <a:r>
              <a:rPr lang="en-US" sz="1467" dirty="0">
                <a:solidFill>
                  <a:srgbClr val="202124"/>
                </a:solidFill>
                <a:latin typeface="arial" panose="020B0604020202020204" pitchFamily="34" charset="0"/>
              </a:rPr>
              <a:t>A hyperplane divides the space into two disconnected parts.</a:t>
            </a:r>
            <a:endParaRPr lang="en-IN" sz="1467" dirty="0">
              <a:solidFill>
                <a:srgbClr val="202124"/>
              </a:solidFill>
              <a:latin typeface="arial" panose="020B0604020202020204" pitchFamily="34" charset="0"/>
            </a:endParaRPr>
          </a:p>
        </p:txBody>
      </p:sp>
      <p:pic>
        <p:nvPicPr>
          <p:cNvPr id="8" name="Picture 7">
            <a:extLst>
              <a:ext uri="{FF2B5EF4-FFF2-40B4-BE49-F238E27FC236}">
                <a16:creationId xmlns:a16="http://schemas.microsoft.com/office/drawing/2014/main" xmlns="" id="{7ED2A165-7A28-4D44-93D6-BB6C4BE0D203}"/>
              </a:ext>
            </a:extLst>
          </p:cNvPr>
          <p:cNvPicPr>
            <a:picLocks noChangeAspect="1"/>
          </p:cNvPicPr>
          <p:nvPr/>
        </p:nvPicPr>
        <p:blipFill>
          <a:blip r:embed="rId3"/>
          <a:stretch>
            <a:fillRect/>
          </a:stretch>
        </p:blipFill>
        <p:spPr>
          <a:xfrm>
            <a:off x="314085" y="2308331"/>
            <a:ext cx="1450827" cy="1379262"/>
          </a:xfrm>
          <a:prstGeom prst="rect">
            <a:avLst/>
          </a:prstGeom>
        </p:spPr>
      </p:pic>
      <p:pic>
        <p:nvPicPr>
          <p:cNvPr id="10" name="Picture 9">
            <a:extLst>
              <a:ext uri="{FF2B5EF4-FFF2-40B4-BE49-F238E27FC236}">
                <a16:creationId xmlns:a16="http://schemas.microsoft.com/office/drawing/2014/main" xmlns="" id="{8F9BD53E-1BEC-4CBD-BCA2-E5F4344BF895}"/>
              </a:ext>
            </a:extLst>
          </p:cNvPr>
          <p:cNvPicPr>
            <a:picLocks noChangeAspect="1"/>
          </p:cNvPicPr>
          <p:nvPr/>
        </p:nvPicPr>
        <p:blipFill>
          <a:blip r:embed="rId4"/>
          <a:stretch>
            <a:fillRect/>
          </a:stretch>
        </p:blipFill>
        <p:spPr>
          <a:xfrm>
            <a:off x="1349000" y="3192892"/>
            <a:ext cx="1866900" cy="1352550"/>
          </a:xfrm>
          <a:prstGeom prst="rect">
            <a:avLst/>
          </a:prstGeom>
        </p:spPr>
      </p:pic>
      <p:cxnSp>
        <p:nvCxnSpPr>
          <p:cNvPr id="12" name="Straight Connector 11">
            <a:extLst>
              <a:ext uri="{FF2B5EF4-FFF2-40B4-BE49-F238E27FC236}">
                <a16:creationId xmlns:a16="http://schemas.microsoft.com/office/drawing/2014/main" xmlns="" id="{06ABCAE2-62D3-46E7-A81C-0A1F0F974971}"/>
              </a:ext>
            </a:extLst>
          </p:cNvPr>
          <p:cNvCxnSpPr/>
          <p:nvPr/>
        </p:nvCxnSpPr>
        <p:spPr>
          <a:xfrm flipH="1">
            <a:off x="1378818" y="2143747"/>
            <a:ext cx="145052" cy="3567056"/>
          </a:xfrm>
          <a:prstGeom prst="line">
            <a:avLst/>
          </a:prstGeom>
          <a:ln w="15875"/>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xmlns="" id="{3D41E944-DD50-4BEB-A310-C34FCBA56ECA}"/>
              </a:ext>
            </a:extLst>
          </p:cNvPr>
          <p:cNvCxnSpPr>
            <a:cxnSpLocks/>
          </p:cNvCxnSpPr>
          <p:nvPr/>
        </p:nvCxnSpPr>
        <p:spPr>
          <a:xfrm flipV="1">
            <a:off x="1206861" y="2085639"/>
            <a:ext cx="125136" cy="3625164"/>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xmlns="" id="{AF85F7C8-0C71-47BB-87B0-960AF06BD47A}"/>
              </a:ext>
            </a:extLst>
          </p:cNvPr>
          <p:cNvCxnSpPr/>
          <p:nvPr/>
        </p:nvCxnSpPr>
        <p:spPr>
          <a:xfrm flipH="1">
            <a:off x="1532371" y="2115287"/>
            <a:ext cx="145052" cy="3567056"/>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xmlns="" id="{8B9A3E85-0A75-49AC-8CF9-0C77A76C88FE}"/>
              </a:ext>
            </a:extLst>
          </p:cNvPr>
          <p:cNvSpPr txBox="1"/>
          <p:nvPr/>
        </p:nvSpPr>
        <p:spPr>
          <a:xfrm>
            <a:off x="314085" y="5846927"/>
            <a:ext cx="1866900" cy="923330"/>
          </a:xfrm>
          <a:prstGeom prst="rect">
            <a:avLst/>
          </a:prstGeom>
          <a:noFill/>
        </p:spPr>
        <p:txBody>
          <a:bodyPr wrap="square" rtlCol="0">
            <a:spAutoFit/>
          </a:bodyPr>
          <a:lstStyle/>
          <a:p>
            <a:r>
              <a:rPr lang="en-US" dirty="0"/>
              <a:t>Margin is less</a:t>
            </a:r>
          </a:p>
          <a:p>
            <a:r>
              <a:rPr lang="en-US" dirty="0"/>
              <a:t>(Not a good choice)</a:t>
            </a:r>
            <a:endParaRPr lang="en-IN" dirty="0"/>
          </a:p>
        </p:txBody>
      </p:sp>
      <p:sp>
        <p:nvSpPr>
          <p:cNvPr id="18" name="TextBox 17">
            <a:extLst>
              <a:ext uri="{FF2B5EF4-FFF2-40B4-BE49-F238E27FC236}">
                <a16:creationId xmlns:a16="http://schemas.microsoft.com/office/drawing/2014/main" xmlns="" id="{2558823B-E02A-4931-853A-28624F0F5372}"/>
              </a:ext>
            </a:extLst>
          </p:cNvPr>
          <p:cNvSpPr txBox="1"/>
          <p:nvPr/>
        </p:nvSpPr>
        <p:spPr>
          <a:xfrm>
            <a:off x="5363612" y="5300644"/>
            <a:ext cx="1866900" cy="369332"/>
          </a:xfrm>
          <a:prstGeom prst="rect">
            <a:avLst/>
          </a:prstGeom>
          <a:noFill/>
        </p:spPr>
        <p:txBody>
          <a:bodyPr wrap="square" rtlCol="0">
            <a:spAutoFit/>
          </a:bodyPr>
          <a:lstStyle/>
          <a:p>
            <a:r>
              <a:rPr lang="en-US" dirty="0"/>
              <a:t>Margin is more</a:t>
            </a:r>
            <a:endParaRPr lang="en-IN" dirty="0"/>
          </a:p>
        </p:txBody>
      </p:sp>
    </p:spTree>
    <p:extLst>
      <p:ext uri="{BB962C8B-B14F-4D97-AF65-F5344CB8AC3E}">
        <p14:creationId xmlns:p14="http://schemas.microsoft.com/office/powerpoint/2010/main" val="23375649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0717A6C-9A8A-456C-9B38-78B665FD5663}"/>
              </a:ext>
            </a:extLst>
          </p:cNvPr>
          <p:cNvSpPr>
            <a:spLocks noGrp="1"/>
          </p:cNvSpPr>
          <p:nvPr>
            <p:ph type="title"/>
          </p:nvPr>
        </p:nvSpPr>
        <p:spPr>
          <a:xfrm>
            <a:off x="784321" y="111907"/>
            <a:ext cx="5925968" cy="619613"/>
          </a:xfrm>
        </p:spPr>
        <p:txBody>
          <a:bodyPr>
            <a:normAutofit fontScale="90000"/>
          </a:bodyPr>
          <a:lstStyle/>
          <a:p>
            <a:r>
              <a:rPr lang="en-IN" dirty="0"/>
              <a:t>Support Vector Machine</a:t>
            </a:r>
          </a:p>
        </p:txBody>
      </p:sp>
      <p:sp>
        <p:nvSpPr>
          <p:cNvPr id="3" name="Content Placeholder 2">
            <a:extLst>
              <a:ext uri="{FF2B5EF4-FFF2-40B4-BE49-F238E27FC236}">
                <a16:creationId xmlns:a16="http://schemas.microsoft.com/office/drawing/2014/main" xmlns="" id="{7648332C-5CD2-4767-B2DE-8423EBBDE5DF}"/>
              </a:ext>
            </a:extLst>
          </p:cNvPr>
          <p:cNvSpPr>
            <a:spLocks noGrp="1"/>
          </p:cNvSpPr>
          <p:nvPr>
            <p:ph idx="1"/>
          </p:nvPr>
        </p:nvSpPr>
        <p:spPr>
          <a:xfrm>
            <a:off x="112542" y="1055076"/>
            <a:ext cx="6597747" cy="2560321"/>
          </a:xfrm>
        </p:spPr>
        <p:txBody>
          <a:bodyPr>
            <a:normAutofit fontScale="77500" lnSpcReduction="20000"/>
          </a:bodyPr>
          <a:lstStyle/>
          <a:p>
            <a:pPr marL="0" indent="0" algn="just">
              <a:lnSpc>
                <a:spcPct val="100000"/>
              </a:lnSpc>
              <a:buNone/>
            </a:pPr>
            <a:r>
              <a:rPr lang="en-US" sz="3200" dirty="0">
                <a:latin typeface="Times New Roman" panose="02020603050405020304" pitchFamily="18" charset="0"/>
                <a:cs typeface="Times New Roman" panose="02020603050405020304" pitchFamily="18" charset="0"/>
              </a:rPr>
              <a:t>The objective of applying SVMs is to find the best line in two dimensions or the best hyperplane in more than two dimensions in order to help us separate our space into classes. The hyperplane (line) is found through the maximum margin, i.e., the maximum distance between data points of both classes.</a:t>
            </a:r>
          </a:p>
        </p:txBody>
      </p:sp>
      <p:pic>
        <p:nvPicPr>
          <p:cNvPr id="5" name="Picture 4">
            <a:extLst>
              <a:ext uri="{FF2B5EF4-FFF2-40B4-BE49-F238E27FC236}">
                <a16:creationId xmlns:a16="http://schemas.microsoft.com/office/drawing/2014/main" xmlns="" id="{7714097F-5989-4B78-9388-C89231D9FB47}"/>
              </a:ext>
            </a:extLst>
          </p:cNvPr>
          <p:cNvPicPr>
            <a:picLocks noChangeAspect="1"/>
          </p:cNvPicPr>
          <p:nvPr/>
        </p:nvPicPr>
        <p:blipFill>
          <a:blip r:embed="rId2"/>
          <a:stretch>
            <a:fillRect/>
          </a:stretch>
        </p:blipFill>
        <p:spPr>
          <a:xfrm>
            <a:off x="6875537" y="111907"/>
            <a:ext cx="5203921" cy="3685736"/>
          </a:xfrm>
          <a:prstGeom prst="rect">
            <a:avLst/>
          </a:prstGeom>
        </p:spPr>
      </p:pic>
      <p:sp>
        <p:nvSpPr>
          <p:cNvPr id="8" name="TextBox 7">
            <a:extLst>
              <a:ext uri="{FF2B5EF4-FFF2-40B4-BE49-F238E27FC236}">
                <a16:creationId xmlns:a16="http://schemas.microsoft.com/office/drawing/2014/main" xmlns="" id="{D0CBD17B-B34A-4FCA-B31E-3AD6CF6AC4CD}"/>
              </a:ext>
            </a:extLst>
          </p:cNvPr>
          <p:cNvSpPr txBox="1"/>
          <p:nvPr/>
        </p:nvSpPr>
        <p:spPr>
          <a:xfrm>
            <a:off x="112542" y="3389674"/>
            <a:ext cx="11966916" cy="3046988"/>
          </a:xfrm>
          <a:prstGeom prst="rect">
            <a:avLst/>
          </a:prstGeom>
          <a:noFill/>
        </p:spPr>
        <p:txBody>
          <a:bodyPr wrap="square">
            <a:spAutoFit/>
          </a:bodyPr>
          <a:lstStyle/>
          <a:p>
            <a:pPr marL="0" indent="0" algn="just">
              <a:lnSpc>
                <a:spcPct val="100000"/>
              </a:lnSpc>
              <a:buNone/>
            </a:pPr>
            <a:r>
              <a:rPr lang="en-US" sz="2400" u="sng" dirty="0">
                <a:latin typeface="Times New Roman" panose="02020603050405020304" pitchFamily="18" charset="0"/>
                <a:cs typeface="Times New Roman" panose="02020603050405020304" pitchFamily="18" charset="0"/>
              </a:rPr>
              <a:t>Support Vector, Hyperplane, and Margin</a:t>
            </a:r>
          </a:p>
          <a:p>
            <a:pPr marL="457200" indent="-457200" algn="just">
              <a:lnSpc>
                <a:spcPct val="10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vector points closest to the hyperplane are known as the support vector points.</a:t>
            </a:r>
          </a:p>
          <a:p>
            <a:pPr marL="457200" indent="-457200" algn="just">
              <a:lnSpc>
                <a:spcPct val="10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dimension of the hyperplane depends upon the number of features. If the number of input features is 2, then the hyperplane is just a line. If the number of input features is 3, then the hyperplane becomes a two-dimensional plane. It becomes difficult to imagine when the number of features exceeds 3.</a:t>
            </a:r>
          </a:p>
          <a:p>
            <a:pPr marL="457200" indent="-457200" algn="just">
              <a:lnSpc>
                <a:spcPct val="10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distance of the vectors from the hyperplane is called the margin, which is a separation of a line to the closest class points. </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165491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03B9E32-17A4-43C3-A76D-84EDD1B77519}"/>
              </a:ext>
            </a:extLst>
          </p:cNvPr>
          <p:cNvSpPr>
            <a:spLocks noGrp="1"/>
          </p:cNvSpPr>
          <p:nvPr>
            <p:ph type="title"/>
          </p:nvPr>
        </p:nvSpPr>
        <p:spPr/>
        <p:txBody>
          <a:bodyPr/>
          <a:lstStyle/>
          <a:p>
            <a:endParaRPr lang="en-IN"/>
          </a:p>
        </p:txBody>
      </p:sp>
      <p:pic>
        <p:nvPicPr>
          <p:cNvPr id="13314" name="Picture 2" descr="support vector machine ">
            <a:extLst>
              <a:ext uri="{FF2B5EF4-FFF2-40B4-BE49-F238E27FC236}">
                <a16:creationId xmlns:a16="http://schemas.microsoft.com/office/drawing/2014/main" xmlns="" id="{17DD1095-D548-4DBD-8FA2-E531AE0708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95123"/>
            <a:ext cx="12192000" cy="45720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xmlns="" id="{192AABAF-1871-433A-87D2-A39A7F92D5B0}"/>
              </a:ext>
            </a:extLst>
          </p:cNvPr>
          <p:cNvSpPr txBox="1"/>
          <p:nvPr/>
        </p:nvSpPr>
        <p:spPr>
          <a:xfrm>
            <a:off x="812800" y="5481622"/>
            <a:ext cx="10769600" cy="830997"/>
          </a:xfrm>
          <a:prstGeom prst="rect">
            <a:avLst/>
          </a:prstGeom>
          <a:noFill/>
        </p:spPr>
        <p:txBody>
          <a:bodyPr wrap="square" rtlCol="0">
            <a:spAutoFit/>
          </a:bodyPr>
          <a:lstStyle/>
          <a:p>
            <a:r>
              <a:rPr lang="en-US" sz="1600" dirty="0">
                <a:solidFill>
                  <a:srgbClr val="000000"/>
                </a:solidFill>
                <a:latin typeface="Lato"/>
              </a:rPr>
              <a:t>From the above diagram, we can assume infinite hyperplanes(left). The maximum margin classifier comes with a single hyperplane that divides the data(right). The data touching the positive and negative hyperplanes is referred to as support vectors.</a:t>
            </a:r>
            <a:endParaRPr lang="en-IN" sz="1600" dirty="0"/>
          </a:p>
        </p:txBody>
      </p:sp>
    </p:spTree>
    <p:extLst>
      <p:ext uri="{BB962C8B-B14F-4D97-AF65-F5344CB8AC3E}">
        <p14:creationId xmlns:p14="http://schemas.microsoft.com/office/powerpoint/2010/main" val="23331654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EB1927D-7F4C-68DB-2E40-DE407C489691}"/>
              </a:ext>
            </a:extLst>
          </p:cNvPr>
          <p:cNvSpPr>
            <a:spLocks noGrp="1"/>
          </p:cNvSpPr>
          <p:nvPr>
            <p:ph type="title"/>
          </p:nvPr>
        </p:nvSpPr>
        <p:spPr/>
        <p:txBody>
          <a:bodyPr/>
          <a:lstStyle/>
          <a:p>
            <a:endParaRPr lang="en-US"/>
          </a:p>
        </p:txBody>
      </p:sp>
      <p:pic>
        <p:nvPicPr>
          <p:cNvPr id="6" name="Picture 5">
            <a:extLst>
              <a:ext uri="{FF2B5EF4-FFF2-40B4-BE49-F238E27FC236}">
                <a16:creationId xmlns:a16="http://schemas.microsoft.com/office/drawing/2014/main" xmlns="" id="{2FDE4201-F2E5-F4DA-D9FD-133D31CDDAD7}"/>
              </a:ext>
            </a:extLst>
          </p:cNvPr>
          <p:cNvPicPr>
            <a:picLocks noChangeAspect="1"/>
          </p:cNvPicPr>
          <p:nvPr/>
        </p:nvPicPr>
        <p:blipFill>
          <a:blip r:embed="rId2"/>
          <a:stretch>
            <a:fillRect/>
          </a:stretch>
        </p:blipFill>
        <p:spPr>
          <a:xfrm>
            <a:off x="2506669" y="750338"/>
            <a:ext cx="7178662" cy="5357324"/>
          </a:xfrm>
          <a:prstGeom prst="rect">
            <a:avLst/>
          </a:prstGeom>
        </p:spPr>
      </p:pic>
    </p:spTree>
    <p:extLst>
      <p:ext uri="{BB962C8B-B14F-4D97-AF65-F5344CB8AC3E}">
        <p14:creationId xmlns:p14="http://schemas.microsoft.com/office/powerpoint/2010/main" val="34655441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FC117EE-F7A4-476A-9BD1-99A126FA5F5D}"/>
              </a:ext>
            </a:extLst>
          </p:cNvPr>
          <p:cNvSpPr>
            <a:spLocks noGrp="1"/>
          </p:cNvSpPr>
          <p:nvPr>
            <p:ph type="title"/>
          </p:nvPr>
        </p:nvSpPr>
        <p:spPr/>
        <p:txBody>
          <a:bodyPr/>
          <a:lstStyle/>
          <a:p>
            <a:endParaRPr lang="en-IN"/>
          </a:p>
        </p:txBody>
      </p:sp>
      <p:pic>
        <p:nvPicPr>
          <p:cNvPr id="3" name="Picture 2">
            <a:extLst>
              <a:ext uri="{FF2B5EF4-FFF2-40B4-BE49-F238E27FC236}">
                <a16:creationId xmlns:a16="http://schemas.microsoft.com/office/drawing/2014/main" xmlns="" id="{F362D846-9214-445B-83D0-48476701B098}"/>
              </a:ext>
            </a:extLst>
          </p:cNvPr>
          <p:cNvPicPr>
            <a:picLocks noChangeAspect="1"/>
          </p:cNvPicPr>
          <p:nvPr/>
        </p:nvPicPr>
        <p:blipFill>
          <a:blip r:embed="rId2"/>
          <a:stretch>
            <a:fillRect/>
          </a:stretch>
        </p:blipFill>
        <p:spPr>
          <a:xfrm>
            <a:off x="3759200" y="1224317"/>
            <a:ext cx="3899560" cy="2611084"/>
          </a:xfrm>
          <a:prstGeom prst="rect">
            <a:avLst/>
          </a:prstGeom>
        </p:spPr>
      </p:pic>
      <p:pic>
        <p:nvPicPr>
          <p:cNvPr id="4" name="Picture 3">
            <a:extLst>
              <a:ext uri="{FF2B5EF4-FFF2-40B4-BE49-F238E27FC236}">
                <a16:creationId xmlns:a16="http://schemas.microsoft.com/office/drawing/2014/main" xmlns="" id="{AA03877E-D2E3-4FCF-9F82-0413525E18BA}"/>
              </a:ext>
            </a:extLst>
          </p:cNvPr>
          <p:cNvPicPr>
            <a:picLocks noChangeAspect="1"/>
          </p:cNvPicPr>
          <p:nvPr/>
        </p:nvPicPr>
        <p:blipFill>
          <a:blip r:embed="rId3"/>
          <a:stretch>
            <a:fillRect/>
          </a:stretch>
        </p:blipFill>
        <p:spPr>
          <a:xfrm>
            <a:off x="3759200" y="4038429"/>
            <a:ext cx="3899560" cy="2819571"/>
          </a:xfrm>
          <a:prstGeom prst="rect">
            <a:avLst/>
          </a:prstGeom>
        </p:spPr>
      </p:pic>
      <p:sp>
        <p:nvSpPr>
          <p:cNvPr id="5" name="TextBox 4">
            <a:extLst>
              <a:ext uri="{FF2B5EF4-FFF2-40B4-BE49-F238E27FC236}">
                <a16:creationId xmlns:a16="http://schemas.microsoft.com/office/drawing/2014/main" xmlns="" id="{83DF2EE0-734E-4CE7-8102-705E2B771CCA}"/>
              </a:ext>
            </a:extLst>
          </p:cNvPr>
          <p:cNvSpPr txBox="1"/>
          <p:nvPr/>
        </p:nvSpPr>
        <p:spPr>
          <a:xfrm>
            <a:off x="8432800" y="4648201"/>
            <a:ext cx="2133600" cy="461665"/>
          </a:xfrm>
          <a:prstGeom prst="rect">
            <a:avLst/>
          </a:prstGeom>
          <a:noFill/>
        </p:spPr>
        <p:txBody>
          <a:bodyPr wrap="square" rtlCol="0">
            <a:spAutoFit/>
          </a:bodyPr>
          <a:lstStyle/>
          <a:p>
            <a:r>
              <a:rPr lang="en-US" sz="2400" dirty="0"/>
              <a:t>Margin is more</a:t>
            </a:r>
            <a:endParaRPr lang="en-IN" sz="2400" dirty="0"/>
          </a:p>
        </p:txBody>
      </p:sp>
      <p:sp>
        <p:nvSpPr>
          <p:cNvPr id="6" name="TextBox 5">
            <a:extLst>
              <a:ext uri="{FF2B5EF4-FFF2-40B4-BE49-F238E27FC236}">
                <a16:creationId xmlns:a16="http://schemas.microsoft.com/office/drawing/2014/main" xmlns="" id="{75F627A9-C206-4B2D-BDA3-A06E876137DC}"/>
              </a:ext>
            </a:extLst>
          </p:cNvPr>
          <p:cNvSpPr txBox="1"/>
          <p:nvPr/>
        </p:nvSpPr>
        <p:spPr>
          <a:xfrm>
            <a:off x="8432800" y="2108201"/>
            <a:ext cx="2133600" cy="461665"/>
          </a:xfrm>
          <a:prstGeom prst="rect">
            <a:avLst/>
          </a:prstGeom>
          <a:noFill/>
        </p:spPr>
        <p:txBody>
          <a:bodyPr wrap="square" rtlCol="0">
            <a:spAutoFit/>
          </a:bodyPr>
          <a:lstStyle/>
          <a:p>
            <a:r>
              <a:rPr lang="en-US" sz="2400" dirty="0"/>
              <a:t>Margin is less</a:t>
            </a:r>
            <a:endParaRPr lang="en-IN" sz="2400" dirty="0"/>
          </a:p>
        </p:txBody>
      </p:sp>
    </p:spTree>
    <p:extLst>
      <p:ext uri="{BB962C8B-B14F-4D97-AF65-F5344CB8AC3E}">
        <p14:creationId xmlns:p14="http://schemas.microsoft.com/office/powerpoint/2010/main" val="19475884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xmlns="" id="{314E61AF-290D-4BB7-A6BD-EBBF3CD9F3D1}"/>
                  </a:ext>
                </a:extLst>
              </p:cNvPr>
              <p:cNvSpPr txBox="1"/>
              <p:nvPr/>
            </p:nvSpPr>
            <p:spPr>
              <a:xfrm>
                <a:off x="6908800" y="1803400"/>
                <a:ext cx="4368800" cy="2368534"/>
              </a:xfrm>
              <a:prstGeom prst="rect">
                <a:avLst/>
              </a:prstGeom>
              <a:noFill/>
            </p:spPr>
            <p:txBody>
              <a:bodyPr wrap="square" rtlCol="0">
                <a:spAutoFit/>
              </a:bodyPr>
              <a:lstStyle/>
              <a:p>
                <a:r>
                  <a:rPr lang="en-US" sz="2400" dirty="0"/>
                  <a:t>Distance of a data point X from a separating plane </a:t>
                </a:r>
                <a14:m>
                  <m:oMath xmlns:m="http://schemas.openxmlformats.org/officeDocument/2006/math">
                    <m:sSup>
                      <m:sSupPr>
                        <m:ctrlPr>
                          <a:rPr lang="en-IN" sz="2400" i="1" smtClean="0">
                            <a:latin typeface="Cambria Math" panose="02040503050406030204" pitchFamily="18" charset="0"/>
                          </a:rPr>
                        </m:ctrlPr>
                      </m:sSupPr>
                      <m:e>
                        <m:r>
                          <a:rPr lang="en-US" sz="2400" i="1">
                            <a:latin typeface="Cambria Math" panose="02040503050406030204" pitchFamily="18" charset="0"/>
                          </a:rPr>
                          <m:t>𝑎</m:t>
                        </m:r>
                      </m:e>
                      <m:sup>
                        <m:r>
                          <a:rPr lang="en-US" sz="2400" i="1">
                            <a:latin typeface="Cambria Math" panose="02040503050406030204" pitchFamily="18" charset="0"/>
                          </a:rPr>
                          <m:t>𝑡</m:t>
                        </m:r>
                      </m:sup>
                    </m:sSup>
                    <m:r>
                      <a:rPr lang="en-US" sz="2400" b="0" i="1" smtClean="0">
                        <a:latin typeface="Cambria Math" panose="02040503050406030204" pitchFamily="18" charset="0"/>
                      </a:rPr>
                      <m:t>𝑋</m:t>
                    </m:r>
                    <m:r>
                      <a:rPr lang="en-US" sz="2400" i="1">
                        <a:latin typeface="Cambria Math" panose="02040503050406030204" pitchFamily="18" charset="0"/>
                      </a:rPr>
                      <m:t>+</m:t>
                    </m:r>
                    <m:r>
                      <a:rPr lang="en-US" sz="2400" i="1">
                        <a:latin typeface="Cambria Math" panose="02040503050406030204" pitchFamily="18" charset="0"/>
                      </a:rPr>
                      <m:t>𝑏</m:t>
                    </m:r>
                  </m:oMath>
                </a14:m>
                <a:r>
                  <a:rPr lang="en-US" sz="2400" dirty="0"/>
                  <a:t>=0  is given by-</a:t>
                </a:r>
              </a:p>
              <a:p>
                <a:endParaRPr lang="en-US" sz="2400" dirty="0"/>
              </a:p>
              <a:p>
                <a:pPr/>
                <a14:m>
                  <m:oMathPara xmlns:m="http://schemas.openxmlformats.org/officeDocument/2006/math">
                    <m:oMathParaPr>
                      <m:jc m:val="centerGroup"/>
                    </m:oMathParaPr>
                    <m:oMath xmlns:m="http://schemas.openxmlformats.org/officeDocument/2006/math">
                      <m:f>
                        <m:fPr>
                          <m:ctrlPr>
                            <a:rPr lang="en-IN" sz="2400" i="1">
                              <a:latin typeface="Cambria Math" panose="02040503050406030204" pitchFamily="18" charset="0"/>
                            </a:rPr>
                          </m:ctrlPr>
                        </m:fPr>
                        <m:num>
                          <m:sSup>
                            <m:sSupPr>
                              <m:ctrlPr>
                                <a:rPr lang="en-IN" sz="2400" i="1">
                                  <a:latin typeface="Cambria Math" panose="02040503050406030204" pitchFamily="18" charset="0"/>
                                </a:rPr>
                              </m:ctrlPr>
                            </m:sSupPr>
                            <m:e>
                              <m:r>
                                <a:rPr lang="en-US" sz="2400" i="1">
                                  <a:latin typeface="Cambria Math" panose="02040503050406030204" pitchFamily="18" charset="0"/>
                                </a:rPr>
                                <m:t>𝑎</m:t>
                              </m:r>
                            </m:e>
                            <m:sup>
                              <m:r>
                                <a:rPr lang="en-US" sz="2400" i="1">
                                  <a:latin typeface="Cambria Math" panose="02040503050406030204" pitchFamily="18" charset="0"/>
                                </a:rPr>
                                <m:t>𝑡</m:t>
                              </m:r>
                            </m:sup>
                          </m:sSup>
                          <m:r>
                            <a:rPr lang="en-US" sz="2400" b="0" i="1" smtClean="0">
                              <a:latin typeface="Cambria Math" panose="02040503050406030204" pitchFamily="18" charset="0"/>
                            </a:rPr>
                            <m:t>𝑋</m:t>
                          </m:r>
                          <m:r>
                            <a:rPr lang="en-US" sz="2400" i="1">
                              <a:latin typeface="Cambria Math" panose="02040503050406030204" pitchFamily="18" charset="0"/>
                            </a:rPr>
                            <m:t>+</m:t>
                          </m:r>
                          <m:r>
                            <a:rPr lang="en-US" sz="2400" i="1">
                              <a:latin typeface="Cambria Math" panose="02040503050406030204" pitchFamily="18" charset="0"/>
                            </a:rPr>
                            <m:t>𝑏</m:t>
                          </m:r>
                        </m:num>
                        <m:den>
                          <m:r>
                            <a:rPr lang="en-US" sz="2400" i="1">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𝑎</m:t>
                              </m:r>
                            </m:e>
                          </m:d>
                          <m:r>
                            <a:rPr lang="en-US" sz="2400" i="1">
                              <a:latin typeface="Cambria Math" panose="02040503050406030204" pitchFamily="18" charset="0"/>
                            </a:rPr>
                            <m:t>|</m:t>
                          </m:r>
                        </m:den>
                      </m:f>
                    </m:oMath>
                  </m:oMathPara>
                </a14:m>
                <a:endParaRPr lang="en-IN" sz="2400" dirty="0"/>
              </a:p>
            </p:txBody>
          </p:sp>
        </mc:Choice>
        <mc:Fallback xmlns="">
          <p:sp>
            <p:nvSpPr>
              <p:cNvPr id="9" name="TextBox 8">
                <a:extLst>
                  <a:ext uri="{FF2B5EF4-FFF2-40B4-BE49-F238E27FC236}">
                    <a16:creationId xmlns:a16="http://schemas.microsoft.com/office/drawing/2014/main" id="{314E61AF-290D-4BB7-A6BD-EBBF3CD9F3D1}"/>
                  </a:ext>
                </a:extLst>
              </p:cNvPr>
              <p:cNvSpPr txBox="1">
                <a:spLocks noRot="1" noChangeAspect="1" noMove="1" noResize="1" noEditPoints="1" noAdjustHandles="1" noChangeArrowheads="1" noChangeShapeType="1" noTextEdit="1"/>
              </p:cNvSpPr>
              <p:nvPr/>
            </p:nvSpPr>
            <p:spPr>
              <a:xfrm>
                <a:off x="6908800" y="1803400"/>
                <a:ext cx="4368800" cy="2368534"/>
              </a:xfrm>
              <a:prstGeom prst="rect">
                <a:avLst/>
              </a:prstGeom>
              <a:blipFill>
                <a:blip r:embed="rId2"/>
                <a:stretch>
                  <a:fillRect l="-2092" t="-2062" r="-279"/>
                </a:stretch>
              </a:blipFill>
            </p:spPr>
            <p:txBody>
              <a:bodyPr/>
              <a:lstStyle/>
              <a:p>
                <a:r>
                  <a:rPr lang="en-IN">
                    <a:noFill/>
                  </a:rPr>
                  <a:t> </a:t>
                </a:r>
              </a:p>
            </p:txBody>
          </p:sp>
        </mc:Fallback>
      </mc:AlternateContent>
      <p:sp>
        <p:nvSpPr>
          <p:cNvPr id="10" name="TextBox 9">
            <a:extLst>
              <a:ext uri="{FF2B5EF4-FFF2-40B4-BE49-F238E27FC236}">
                <a16:creationId xmlns:a16="http://schemas.microsoft.com/office/drawing/2014/main" xmlns="" id="{686E4288-AEB2-4DF8-8573-9337BF6D8E89}"/>
              </a:ext>
            </a:extLst>
          </p:cNvPr>
          <p:cNvSpPr txBox="1"/>
          <p:nvPr/>
        </p:nvSpPr>
        <p:spPr>
          <a:xfrm>
            <a:off x="7010400" y="4343400"/>
            <a:ext cx="4267200" cy="1569660"/>
          </a:xfrm>
          <a:prstGeom prst="rect">
            <a:avLst/>
          </a:prstGeom>
          <a:noFill/>
        </p:spPr>
        <p:txBody>
          <a:bodyPr wrap="square" rtlCol="0">
            <a:spAutoFit/>
          </a:bodyPr>
          <a:lstStyle/>
          <a:p>
            <a:r>
              <a:rPr lang="en-US" sz="2400" dirty="0"/>
              <a:t>More the distance of a point x from the separating plane more is the confidence that a sample is classified correctly</a:t>
            </a:r>
            <a:endParaRPr lang="en-IN" sz="2400" dirty="0"/>
          </a:p>
        </p:txBody>
      </p:sp>
      <p:pic>
        <p:nvPicPr>
          <p:cNvPr id="12" name="Picture 11">
            <a:extLst>
              <a:ext uri="{FF2B5EF4-FFF2-40B4-BE49-F238E27FC236}">
                <a16:creationId xmlns:a16="http://schemas.microsoft.com/office/drawing/2014/main" xmlns="" id="{74AF126D-87A7-4756-A648-927D8EA15967}"/>
              </a:ext>
            </a:extLst>
          </p:cNvPr>
          <p:cNvPicPr>
            <a:picLocks noChangeAspect="1"/>
          </p:cNvPicPr>
          <p:nvPr/>
        </p:nvPicPr>
        <p:blipFill>
          <a:blip r:embed="rId3"/>
          <a:stretch>
            <a:fillRect/>
          </a:stretch>
        </p:blipFill>
        <p:spPr>
          <a:xfrm>
            <a:off x="711200" y="1408551"/>
            <a:ext cx="3899560" cy="2819571"/>
          </a:xfrm>
          <a:prstGeom prst="rect">
            <a:avLst/>
          </a:prstGeom>
        </p:spPr>
      </p:pic>
      <p:pic>
        <p:nvPicPr>
          <p:cNvPr id="19" name="Picture 18">
            <a:extLst>
              <a:ext uri="{FF2B5EF4-FFF2-40B4-BE49-F238E27FC236}">
                <a16:creationId xmlns:a16="http://schemas.microsoft.com/office/drawing/2014/main" xmlns="" id="{062100DE-2609-466D-A355-C94B2BDA7D7B}"/>
              </a:ext>
            </a:extLst>
          </p:cNvPr>
          <p:cNvPicPr>
            <a:picLocks noChangeAspect="1"/>
          </p:cNvPicPr>
          <p:nvPr/>
        </p:nvPicPr>
        <p:blipFill>
          <a:blip r:embed="rId4"/>
          <a:stretch>
            <a:fillRect/>
          </a:stretch>
        </p:blipFill>
        <p:spPr>
          <a:xfrm>
            <a:off x="4134180" y="2906227"/>
            <a:ext cx="1955800" cy="558800"/>
          </a:xfrm>
          <a:prstGeom prst="rect">
            <a:avLst/>
          </a:prstGeom>
        </p:spPr>
      </p:pic>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xmlns="" id="{F9B1AB1F-AC57-4EC4-A417-9B70668ECF22}"/>
                  </a:ext>
                </a:extLst>
              </p:cNvPr>
              <p:cNvSpPr txBox="1"/>
              <p:nvPr/>
            </p:nvSpPr>
            <p:spPr>
              <a:xfrm>
                <a:off x="3556001" y="2249467"/>
                <a:ext cx="1352358" cy="369332"/>
              </a:xfrm>
              <a:prstGeom prst="rect">
                <a:avLst/>
              </a:prstGeom>
              <a:noFill/>
            </p:spPr>
            <p:txBody>
              <a:bodyPr wrap="none" lIns="0" tIns="0" rIns="0" bIns="0" rtlCol="0">
                <a:spAutoFit/>
              </a:bodyPr>
              <a:lstStyle/>
              <a:p>
                <a14:m>
                  <m:oMath xmlns:m="http://schemas.openxmlformats.org/officeDocument/2006/math">
                    <m:sSup>
                      <m:sSupPr>
                        <m:ctrlPr>
                          <a:rPr lang="en-IN" sz="2400" i="1" smtClean="0">
                            <a:latin typeface="Cambria Math" panose="02040503050406030204" pitchFamily="18" charset="0"/>
                          </a:rPr>
                        </m:ctrlPr>
                      </m:sSupPr>
                      <m:e>
                        <m:r>
                          <a:rPr lang="en-US" sz="2400" i="1">
                            <a:latin typeface="Cambria Math" panose="02040503050406030204" pitchFamily="18" charset="0"/>
                          </a:rPr>
                          <m:t>𝑎</m:t>
                        </m:r>
                      </m:e>
                      <m:sup>
                        <m:r>
                          <a:rPr lang="en-US" sz="2400" i="1">
                            <a:latin typeface="Cambria Math" panose="02040503050406030204" pitchFamily="18" charset="0"/>
                          </a:rPr>
                          <m:t>𝑡</m:t>
                        </m:r>
                      </m:sup>
                    </m:sSup>
                    <m:r>
                      <a:rPr lang="en-US" sz="2400" b="0" i="1" smtClean="0">
                        <a:latin typeface="Cambria Math" panose="02040503050406030204" pitchFamily="18" charset="0"/>
                      </a:rPr>
                      <m:t>𝑋</m:t>
                    </m:r>
                    <m:r>
                      <a:rPr lang="en-US" sz="2400" i="1">
                        <a:latin typeface="Cambria Math" panose="02040503050406030204" pitchFamily="18" charset="0"/>
                      </a:rPr>
                      <m:t>+</m:t>
                    </m:r>
                    <m:r>
                      <a:rPr lang="en-US" sz="2400" i="1">
                        <a:latin typeface="Cambria Math" panose="02040503050406030204" pitchFamily="18" charset="0"/>
                      </a:rPr>
                      <m:t>𝑏</m:t>
                    </m:r>
                  </m:oMath>
                </a14:m>
                <a:r>
                  <a:rPr lang="en-IN" sz="2400" dirty="0"/>
                  <a:t>=1</a:t>
                </a:r>
              </a:p>
            </p:txBody>
          </p:sp>
        </mc:Choice>
        <mc:Fallback xmlns="">
          <p:sp>
            <p:nvSpPr>
              <p:cNvPr id="20" name="TextBox 19">
                <a:extLst>
                  <a:ext uri="{FF2B5EF4-FFF2-40B4-BE49-F238E27FC236}">
                    <a16:creationId xmlns:a16="http://schemas.microsoft.com/office/drawing/2014/main" id="{F9B1AB1F-AC57-4EC4-A417-9B70668ECF22}"/>
                  </a:ext>
                </a:extLst>
              </p:cNvPr>
              <p:cNvSpPr txBox="1">
                <a:spLocks noRot="1" noChangeAspect="1" noMove="1" noResize="1" noEditPoints="1" noAdjustHandles="1" noChangeArrowheads="1" noChangeShapeType="1" noTextEdit="1"/>
              </p:cNvSpPr>
              <p:nvPr/>
            </p:nvSpPr>
            <p:spPr>
              <a:xfrm>
                <a:off x="3556001" y="2249467"/>
                <a:ext cx="1352358" cy="369332"/>
              </a:xfrm>
              <a:prstGeom prst="rect">
                <a:avLst/>
              </a:prstGeom>
              <a:blipFill>
                <a:blip r:embed="rId5"/>
                <a:stretch>
                  <a:fillRect l="-5405" t="-24590" r="-12613" b="-4918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xmlns="" id="{E2FA34A6-E33C-4854-B83C-4895C449FB3E}"/>
                  </a:ext>
                </a:extLst>
              </p:cNvPr>
              <p:cNvSpPr txBox="1"/>
              <p:nvPr/>
            </p:nvSpPr>
            <p:spPr>
              <a:xfrm>
                <a:off x="2000756" y="3858789"/>
                <a:ext cx="1446935" cy="369332"/>
              </a:xfrm>
              <a:prstGeom prst="rect">
                <a:avLst/>
              </a:prstGeom>
              <a:noFill/>
            </p:spPr>
            <p:txBody>
              <a:bodyPr wrap="none" lIns="0" tIns="0" rIns="0" bIns="0" rtlCol="0">
                <a:spAutoFit/>
              </a:bodyPr>
              <a:lstStyle/>
              <a:p>
                <a14:m>
                  <m:oMath xmlns:m="http://schemas.openxmlformats.org/officeDocument/2006/math">
                    <m:sSup>
                      <m:sSupPr>
                        <m:ctrlPr>
                          <a:rPr lang="en-IN" sz="2400" i="1" smtClean="0">
                            <a:latin typeface="Cambria Math" panose="02040503050406030204" pitchFamily="18" charset="0"/>
                          </a:rPr>
                        </m:ctrlPr>
                      </m:sSupPr>
                      <m:e>
                        <m:r>
                          <a:rPr lang="en-US" sz="2400" i="1">
                            <a:latin typeface="Cambria Math" panose="02040503050406030204" pitchFamily="18" charset="0"/>
                          </a:rPr>
                          <m:t>𝑎</m:t>
                        </m:r>
                      </m:e>
                      <m:sup>
                        <m:r>
                          <a:rPr lang="en-US" sz="2400" i="1">
                            <a:latin typeface="Cambria Math" panose="02040503050406030204" pitchFamily="18" charset="0"/>
                          </a:rPr>
                          <m:t>𝑡</m:t>
                        </m:r>
                      </m:sup>
                    </m:sSup>
                    <m:r>
                      <a:rPr lang="en-US" sz="2400" b="0" i="1" smtClean="0">
                        <a:latin typeface="Cambria Math" panose="02040503050406030204" pitchFamily="18" charset="0"/>
                      </a:rPr>
                      <m:t>𝑋</m:t>
                    </m:r>
                    <m:r>
                      <a:rPr lang="en-US" sz="2400" i="1">
                        <a:latin typeface="Cambria Math" panose="02040503050406030204" pitchFamily="18" charset="0"/>
                      </a:rPr>
                      <m:t>+</m:t>
                    </m:r>
                    <m:r>
                      <a:rPr lang="en-US" sz="2400" i="1">
                        <a:latin typeface="Cambria Math" panose="02040503050406030204" pitchFamily="18" charset="0"/>
                      </a:rPr>
                      <m:t>𝑏</m:t>
                    </m:r>
                  </m:oMath>
                </a14:m>
                <a:r>
                  <a:rPr lang="en-IN" sz="2400" dirty="0"/>
                  <a:t>=-1</a:t>
                </a:r>
              </a:p>
            </p:txBody>
          </p:sp>
        </mc:Choice>
        <mc:Fallback xmlns="">
          <p:sp>
            <p:nvSpPr>
              <p:cNvPr id="21" name="TextBox 20">
                <a:extLst>
                  <a:ext uri="{FF2B5EF4-FFF2-40B4-BE49-F238E27FC236}">
                    <a16:creationId xmlns:a16="http://schemas.microsoft.com/office/drawing/2014/main" id="{E2FA34A6-E33C-4854-B83C-4895C449FB3E}"/>
                  </a:ext>
                </a:extLst>
              </p:cNvPr>
              <p:cNvSpPr txBox="1">
                <a:spLocks noRot="1" noChangeAspect="1" noMove="1" noResize="1" noEditPoints="1" noAdjustHandles="1" noChangeArrowheads="1" noChangeShapeType="1" noTextEdit="1"/>
              </p:cNvSpPr>
              <p:nvPr/>
            </p:nvSpPr>
            <p:spPr>
              <a:xfrm>
                <a:off x="2000756" y="3858789"/>
                <a:ext cx="1446935" cy="369332"/>
              </a:xfrm>
              <a:prstGeom prst="rect">
                <a:avLst/>
              </a:prstGeom>
              <a:blipFill>
                <a:blip r:embed="rId6"/>
                <a:stretch>
                  <a:fillRect l="-5042" t="-24590" r="-11345" b="-49180"/>
                </a:stretch>
              </a:blipFill>
            </p:spPr>
            <p:txBody>
              <a:bodyPr/>
              <a:lstStyle/>
              <a:p>
                <a:r>
                  <a:rPr lang="en-IN">
                    <a:noFill/>
                  </a:rPr>
                  <a:t> </a:t>
                </a:r>
              </a:p>
            </p:txBody>
          </p:sp>
        </mc:Fallback>
      </mc:AlternateContent>
      <p:cxnSp>
        <p:nvCxnSpPr>
          <p:cNvPr id="23" name="Straight Arrow Connector 22">
            <a:extLst>
              <a:ext uri="{FF2B5EF4-FFF2-40B4-BE49-F238E27FC236}">
                <a16:creationId xmlns:a16="http://schemas.microsoft.com/office/drawing/2014/main" xmlns="" id="{213E1308-0D6F-4B08-B6EF-AAE138D24674}"/>
              </a:ext>
            </a:extLst>
          </p:cNvPr>
          <p:cNvCxnSpPr/>
          <p:nvPr/>
        </p:nvCxnSpPr>
        <p:spPr>
          <a:xfrm flipV="1">
            <a:off x="2962968" y="2479974"/>
            <a:ext cx="367247" cy="1846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xmlns="" id="{5D934650-BD02-4CD8-A1ED-23DC4E692400}"/>
              </a:ext>
            </a:extLst>
          </p:cNvPr>
          <p:cNvCxnSpPr>
            <a:cxnSpLocks/>
          </p:cNvCxnSpPr>
          <p:nvPr/>
        </p:nvCxnSpPr>
        <p:spPr>
          <a:xfrm>
            <a:off x="3460119" y="3180900"/>
            <a:ext cx="67406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xmlns="" id="{57267FEF-1539-49AB-BD93-09C977895992}"/>
              </a:ext>
            </a:extLst>
          </p:cNvPr>
          <p:cNvCxnSpPr>
            <a:cxnSpLocks/>
          </p:cNvCxnSpPr>
          <p:nvPr/>
        </p:nvCxnSpPr>
        <p:spPr>
          <a:xfrm flipH="1">
            <a:off x="2534282" y="3384101"/>
            <a:ext cx="513719" cy="4746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Title 28">
            <a:extLst>
              <a:ext uri="{FF2B5EF4-FFF2-40B4-BE49-F238E27FC236}">
                <a16:creationId xmlns:a16="http://schemas.microsoft.com/office/drawing/2014/main" xmlns="" id="{13344153-068D-478B-969C-3A1E00B2296E}"/>
              </a:ext>
            </a:extLst>
          </p:cNvPr>
          <p:cNvSpPr>
            <a:spLocks noGrp="1"/>
          </p:cNvSpPr>
          <p:nvPr>
            <p:ph type="title"/>
          </p:nvPr>
        </p:nvSpPr>
        <p:spPr/>
        <p:txBody>
          <a:bodyPr/>
          <a:lstStyle/>
          <a:p>
            <a:endParaRPr lang="en-IN"/>
          </a:p>
        </p:txBody>
      </p:sp>
      <p:pic>
        <p:nvPicPr>
          <p:cNvPr id="2" name="Picture 1">
            <a:extLst>
              <a:ext uri="{FF2B5EF4-FFF2-40B4-BE49-F238E27FC236}">
                <a16:creationId xmlns:a16="http://schemas.microsoft.com/office/drawing/2014/main" xmlns="" id="{E72136FF-863E-4C87-BA7E-D2C745521FDC}"/>
              </a:ext>
            </a:extLst>
          </p:cNvPr>
          <p:cNvPicPr>
            <a:picLocks noChangeAspect="1"/>
          </p:cNvPicPr>
          <p:nvPr/>
        </p:nvPicPr>
        <p:blipFill>
          <a:blip r:embed="rId7"/>
          <a:stretch>
            <a:fillRect/>
          </a:stretch>
        </p:blipFill>
        <p:spPr>
          <a:xfrm>
            <a:off x="2270802" y="1548907"/>
            <a:ext cx="390178" cy="396274"/>
          </a:xfrm>
          <a:prstGeom prst="rect">
            <a:avLst/>
          </a:prstGeom>
        </p:spPr>
      </p:pic>
      <p:pic>
        <p:nvPicPr>
          <p:cNvPr id="3" name="Picture 2">
            <a:extLst>
              <a:ext uri="{FF2B5EF4-FFF2-40B4-BE49-F238E27FC236}">
                <a16:creationId xmlns:a16="http://schemas.microsoft.com/office/drawing/2014/main" xmlns="" id="{96C161CA-B3AD-4817-8614-4437ACA41C63}"/>
              </a:ext>
            </a:extLst>
          </p:cNvPr>
          <p:cNvPicPr>
            <a:picLocks noChangeAspect="1"/>
          </p:cNvPicPr>
          <p:nvPr/>
        </p:nvPicPr>
        <p:blipFill>
          <a:blip r:embed="rId8"/>
          <a:stretch>
            <a:fillRect/>
          </a:stretch>
        </p:blipFill>
        <p:spPr>
          <a:xfrm>
            <a:off x="1331381" y="3123621"/>
            <a:ext cx="384081" cy="341406"/>
          </a:xfrm>
          <a:prstGeom prst="rect">
            <a:avLst/>
          </a:prstGeom>
        </p:spPr>
      </p:pic>
    </p:spTree>
    <p:extLst>
      <p:ext uri="{BB962C8B-B14F-4D97-AF65-F5344CB8AC3E}">
        <p14:creationId xmlns:p14="http://schemas.microsoft.com/office/powerpoint/2010/main" val="25373672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EE3E602-EE03-4E3E-8F19-673A6A4A6A19}"/>
              </a:ext>
            </a:extLst>
          </p:cNvPr>
          <p:cNvSpPr>
            <a:spLocks noGrp="1"/>
          </p:cNvSpPr>
          <p:nvPr>
            <p:ph type="title"/>
          </p:nvPr>
        </p:nvSpPr>
        <p:spPr/>
        <p:txBody>
          <a:bodyPr/>
          <a:lstStyle/>
          <a:p>
            <a:endParaRPr lang="en-IN"/>
          </a:p>
        </p:txBody>
      </p:sp>
      <p:pic>
        <p:nvPicPr>
          <p:cNvPr id="4" name="Picture 3">
            <a:extLst>
              <a:ext uri="{FF2B5EF4-FFF2-40B4-BE49-F238E27FC236}">
                <a16:creationId xmlns:a16="http://schemas.microsoft.com/office/drawing/2014/main" xmlns="" id="{62271C09-5BD0-4E2C-B105-C79489FFC2A6}"/>
              </a:ext>
            </a:extLst>
          </p:cNvPr>
          <p:cNvPicPr>
            <a:picLocks noChangeAspect="1"/>
          </p:cNvPicPr>
          <p:nvPr/>
        </p:nvPicPr>
        <p:blipFill>
          <a:blip r:embed="rId3"/>
          <a:stretch>
            <a:fillRect/>
          </a:stretch>
        </p:blipFill>
        <p:spPr>
          <a:xfrm>
            <a:off x="406400" y="1505743"/>
            <a:ext cx="5543640" cy="3962400"/>
          </a:xfrm>
          <a:prstGeom prst="rect">
            <a:avLst/>
          </a:prstGeom>
        </p:spPr>
      </p:pic>
      <p:pic>
        <p:nvPicPr>
          <p:cNvPr id="5" name="Picture 4">
            <a:extLst>
              <a:ext uri="{FF2B5EF4-FFF2-40B4-BE49-F238E27FC236}">
                <a16:creationId xmlns:a16="http://schemas.microsoft.com/office/drawing/2014/main" xmlns="" id="{2C794CF6-F5F6-4483-8D38-A3EB6813D7F0}"/>
              </a:ext>
            </a:extLst>
          </p:cNvPr>
          <p:cNvPicPr>
            <a:picLocks noChangeAspect="1"/>
          </p:cNvPicPr>
          <p:nvPr/>
        </p:nvPicPr>
        <p:blipFill>
          <a:blip r:embed="rId4"/>
          <a:stretch>
            <a:fillRect/>
          </a:stretch>
        </p:blipFill>
        <p:spPr>
          <a:xfrm>
            <a:off x="4609728" y="2717801"/>
            <a:ext cx="390177" cy="390177"/>
          </a:xfrm>
          <a:prstGeom prst="rect">
            <a:avLst/>
          </a:prstGeom>
        </p:spPr>
      </p:pic>
      <p:pic>
        <p:nvPicPr>
          <p:cNvPr id="6" name="Picture 5">
            <a:extLst>
              <a:ext uri="{FF2B5EF4-FFF2-40B4-BE49-F238E27FC236}">
                <a16:creationId xmlns:a16="http://schemas.microsoft.com/office/drawing/2014/main" xmlns="" id="{EFF0DD64-0151-4FA9-AF7A-236D71FB2914}"/>
              </a:ext>
            </a:extLst>
          </p:cNvPr>
          <p:cNvPicPr>
            <a:picLocks noChangeAspect="1"/>
          </p:cNvPicPr>
          <p:nvPr/>
        </p:nvPicPr>
        <p:blipFill>
          <a:blip r:embed="rId5"/>
          <a:stretch>
            <a:fillRect/>
          </a:stretch>
        </p:blipFill>
        <p:spPr>
          <a:xfrm>
            <a:off x="2235201" y="4546600"/>
            <a:ext cx="382049" cy="341405"/>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xmlns="" id="{5522F4A5-50E0-49BC-A716-49F77C06B7C6}"/>
                  </a:ext>
                </a:extLst>
              </p:cNvPr>
              <p:cNvSpPr txBox="1"/>
              <p:nvPr/>
            </p:nvSpPr>
            <p:spPr>
              <a:xfrm>
                <a:off x="6510975" y="739019"/>
                <a:ext cx="165173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IN" sz="2400" i="1">
                              <a:latin typeface="Cambria Math" panose="02040503050406030204" pitchFamily="18" charset="0"/>
                            </a:rPr>
                          </m:ctrlPr>
                        </m:sSupPr>
                        <m:e>
                          <m:r>
                            <a:rPr lang="en-US" sz="2400" i="1">
                              <a:latin typeface="Cambria Math" panose="02040503050406030204" pitchFamily="18" charset="0"/>
                            </a:rPr>
                            <m:t>𝑎</m:t>
                          </m:r>
                        </m:e>
                        <m:sup>
                          <m:r>
                            <a:rPr lang="en-US" sz="2400" i="1">
                              <a:latin typeface="Cambria Math" panose="02040503050406030204" pitchFamily="18" charset="0"/>
                            </a:rPr>
                            <m:t>𝑡</m:t>
                          </m:r>
                        </m:sup>
                      </m:sSup>
                      <m:r>
                        <a:rPr lang="en-US" sz="2400" i="1">
                          <a:latin typeface="Cambria Math" panose="02040503050406030204" pitchFamily="18" charset="0"/>
                        </a:rPr>
                        <m:t>𝑥</m:t>
                      </m:r>
                      <m:r>
                        <a:rPr lang="en-US" sz="2400" i="1">
                          <a:latin typeface="Cambria Math" panose="02040503050406030204" pitchFamily="18" charset="0"/>
                        </a:rPr>
                        <m:t>+</m:t>
                      </m:r>
                      <m:r>
                        <a:rPr lang="en-US" sz="2400" i="1">
                          <a:latin typeface="Cambria Math" panose="02040503050406030204" pitchFamily="18" charset="0"/>
                        </a:rPr>
                        <m:t>𝑏</m:t>
                      </m:r>
                      <m:r>
                        <a:rPr lang="en-US" sz="2400">
                          <a:latin typeface="Cambria Math" panose="02040503050406030204" pitchFamily="18" charset="0"/>
                        </a:rPr>
                        <m:t>&gt;</m:t>
                      </m:r>
                      <m:r>
                        <m:rPr>
                          <m:sty m:val="p"/>
                        </m:rPr>
                        <a:rPr lang="en-US" sz="2400">
                          <a:latin typeface="Cambria Math" panose="02040503050406030204" pitchFamily="18" charset="0"/>
                        </a:rPr>
                        <m:t>d</m:t>
                      </m:r>
                    </m:oMath>
                  </m:oMathPara>
                </a14:m>
                <a:endParaRPr lang="en-IN" sz="2400" dirty="0"/>
              </a:p>
            </p:txBody>
          </p:sp>
        </mc:Choice>
        <mc:Fallback xmlns="">
          <p:sp>
            <p:nvSpPr>
              <p:cNvPr id="7" name="TextBox 6">
                <a:extLst>
                  <a:ext uri="{FF2B5EF4-FFF2-40B4-BE49-F238E27FC236}">
                    <a16:creationId xmlns:a16="http://schemas.microsoft.com/office/drawing/2014/main" id="{5522F4A5-50E0-49BC-A716-49F77C06B7C6}"/>
                  </a:ext>
                </a:extLst>
              </p:cNvPr>
              <p:cNvSpPr txBox="1">
                <a:spLocks noRot="1" noChangeAspect="1" noMove="1" noResize="1" noEditPoints="1" noAdjustHandles="1" noChangeArrowheads="1" noChangeShapeType="1" noTextEdit="1"/>
              </p:cNvSpPr>
              <p:nvPr/>
            </p:nvSpPr>
            <p:spPr>
              <a:xfrm>
                <a:off x="6510975" y="739019"/>
                <a:ext cx="1651734" cy="369332"/>
              </a:xfrm>
              <a:prstGeom prst="rect">
                <a:avLst/>
              </a:prstGeom>
              <a:blipFill>
                <a:blip r:embed="rId6"/>
                <a:stretch>
                  <a:fillRect l="-1845" r="-4059" b="-655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xmlns="" id="{3C4EEFAF-3C6D-4D47-A005-D1E76E7B1CCA}"/>
                  </a:ext>
                </a:extLst>
              </p:cNvPr>
              <p:cNvSpPr txBox="1"/>
              <p:nvPr/>
            </p:nvSpPr>
            <p:spPr>
              <a:xfrm>
                <a:off x="6510975" y="1357745"/>
                <a:ext cx="188096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IN" sz="2400" i="1">
                              <a:latin typeface="Cambria Math" panose="02040503050406030204" pitchFamily="18" charset="0"/>
                            </a:rPr>
                          </m:ctrlPr>
                        </m:sSupPr>
                        <m:e>
                          <m:r>
                            <a:rPr lang="en-US" sz="2400" i="1">
                              <a:latin typeface="Cambria Math" panose="02040503050406030204" pitchFamily="18" charset="0"/>
                            </a:rPr>
                            <m:t>𝑎</m:t>
                          </m:r>
                        </m:e>
                        <m:sup>
                          <m:r>
                            <a:rPr lang="en-US" sz="2400" i="1">
                              <a:latin typeface="Cambria Math" panose="02040503050406030204" pitchFamily="18" charset="0"/>
                            </a:rPr>
                            <m:t>𝑡</m:t>
                          </m:r>
                        </m:sup>
                      </m:sSup>
                      <m:r>
                        <a:rPr lang="en-US" sz="2400" i="1">
                          <a:latin typeface="Cambria Math" panose="02040503050406030204" pitchFamily="18" charset="0"/>
                        </a:rPr>
                        <m:t>𝑥</m:t>
                      </m:r>
                      <m:r>
                        <a:rPr lang="en-US" sz="2400" i="1">
                          <a:latin typeface="Cambria Math" panose="02040503050406030204" pitchFamily="18" charset="0"/>
                        </a:rPr>
                        <m:t>+</m:t>
                      </m:r>
                      <m:r>
                        <a:rPr lang="en-US" sz="2400" i="1">
                          <a:latin typeface="Cambria Math" panose="02040503050406030204" pitchFamily="18" charset="0"/>
                        </a:rPr>
                        <m:t>𝑏</m:t>
                      </m:r>
                      <m:r>
                        <a:rPr lang="en-US" sz="2400">
                          <a:latin typeface="Cambria Math" panose="02040503050406030204" pitchFamily="18" charset="0"/>
                        </a:rPr>
                        <m:t>&lt;−</m:t>
                      </m:r>
                      <m:r>
                        <m:rPr>
                          <m:sty m:val="p"/>
                        </m:rPr>
                        <a:rPr lang="en-US" sz="2400">
                          <a:latin typeface="Cambria Math" panose="02040503050406030204" pitchFamily="18" charset="0"/>
                        </a:rPr>
                        <m:t>d</m:t>
                      </m:r>
                    </m:oMath>
                  </m:oMathPara>
                </a14:m>
                <a:endParaRPr lang="en-IN" sz="2400" dirty="0"/>
              </a:p>
            </p:txBody>
          </p:sp>
        </mc:Choice>
        <mc:Fallback xmlns="">
          <p:sp>
            <p:nvSpPr>
              <p:cNvPr id="8" name="TextBox 7">
                <a:extLst>
                  <a:ext uri="{FF2B5EF4-FFF2-40B4-BE49-F238E27FC236}">
                    <a16:creationId xmlns:a16="http://schemas.microsoft.com/office/drawing/2014/main" id="{3C4EEFAF-3C6D-4D47-A005-D1E76E7B1CCA}"/>
                  </a:ext>
                </a:extLst>
              </p:cNvPr>
              <p:cNvSpPr txBox="1">
                <a:spLocks noRot="1" noChangeAspect="1" noMove="1" noResize="1" noEditPoints="1" noAdjustHandles="1" noChangeArrowheads="1" noChangeShapeType="1" noTextEdit="1"/>
              </p:cNvSpPr>
              <p:nvPr/>
            </p:nvSpPr>
            <p:spPr>
              <a:xfrm>
                <a:off x="6510975" y="1357745"/>
                <a:ext cx="1880963" cy="369332"/>
              </a:xfrm>
              <a:prstGeom prst="rect">
                <a:avLst/>
              </a:prstGeom>
              <a:blipFill>
                <a:blip r:embed="rId7"/>
                <a:stretch>
                  <a:fillRect l="-1618" t="-1667" r="-3236" b="-8333"/>
                </a:stretch>
              </a:blipFill>
            </p:spPr>
            <p:txBody>
              <a:bodyPr/>
              <a:lstStyle/>
              <a:p>
                <a:r>
                  <a:rPr lang="en-IN">
                    <a:noFill/>
                  </a:rPr>
                  <a:t> </a:t>
                </a:r>
              </a:p>
            </p:txBody>
          </p:sp>
        </mc:Fallback>
      </mc:AlternateContent>
      <p:sp>
        <p:nvSpPr>
          <p:cNvPr id="9" name="TextBox 8">
            <a:extLst>
              <a:ext uri="{FF2B5EF4-FFF2-40B4-BE49-F238E27FC236}">
                <a16:creationId xmlns:a16="http://schemas.microsoft.com/office/drawing/2014/main" xmlns="" id="{E1699390-D076-4380-A841-82BA17DCCFB4}"/>
              </a:ext>
            </a:extLst>
          </p:cNvPr>
          <p:cNvSpPr txBox="1"/>
          <p:nvPr/>
        </p:nvSpPr>
        <p:spPr>
          <a:xfrm>
            <a:off x="8534400" y="648618"/>
            <a:ext cx="3352800" cy="461665"/>
          </a:xfrm>
          <a:prstGeom prst="rect">
            <a:avLst/>
          </a:prstGeom>
          <a:noFill/>
        </p:spPr>
        <p:txBody>
          <a:bodyPr wrap="square" rtlCol="0">
            <a:spAutoFit/>
          </a:bodyPr>
          <a:lstStyle/>
          <a:p>
            <a:r>
              <a:rPr lang="en-US" sz="2400" dirty="0"/>
              <a:t>If x belongs to w1 class </a:t>
            </a:r>
            <a:endParaRPr lang="en-IN" sz="2400" dirty="0"/>
          </a:p>
        </p:txBody>
      </p:sp>
      <p:sp>
        <p:nvSpPr>
          <p:cNvPr id="10" name="TextBox 9">
            <a:extLst>
              <a:ext uri="{FF2B5EF4-FFF2-40B4-BE49-F238E27FC236}">
                <a16:creationId xmlns:a16="http://schemas.microsoft.com/office/drawing/2014/main" xmlns="" id="{980242BA-4152-4222-AA08-D26631968328}"/>
              </a:ext>
            </a:extLst>
          </p:cNvPr>
          <p:cNvSpPr txBox="1"/>
          <p:nvPr/>
        </p:nvSpPr>
        <p:spPr>
          <a:xfrm>
            <a:off x="8534400" y="1296190"/>
            <a:ext cx="3352800" cy="461665"/>
          </a:xfrm>
          <a:prstGeom prst="rect">
            <a:avLst/>
          </a:prstGeom>
          <a:noFill/>
        </p:spPr>
        <p:txBody>
          <a:bodyPr wrap="square" rtlCol="0">
            <a:spAutoFit/>
          </a:bodyPr>
          <a:lstStyle/>
          <a:p>
            <a:r>
              <a:rPr lang="en-US" sz="2400" dirty="0"/>
              <a:t>If x belongs to w2 class </a:t>
            </a:r>
            <a:endParaRPr lang="en-IN" sz="2400" dirty="0"/>
          </a:p>
        </p:txBody>
      </p:sp>
      <p:sp>
        <p:nvSpPr>
          <p:cNvPr id="11" name="TextBox 10">
            <a:extLst>
              <a:ext uri="{FF2B5EF4-FFF2-40B4-BE49-F238E27FC236}">
                <a16:creationId xmlns:a16="http://schemas.microsoft.com/office/drawing/2014/main" xmlns="" id="{C80678CA-3F7E-4E2D-9302-9FEFEC4EA682}"/>
              </a:ext>
            </a:extLst>
          </p:cNvPr>
          <p:cNvSpPr txBox="1"/>
          <p:nvPr/>
        </p:nvSpPr>
        <p:spPr>
          <a:xfrm>
            <a:off x="6356472" y="2037338"/>
            <a:ext cx="4368800" cy="461665"/>
          </a:xfrm>
          <a:prstGeom prst="rect">
            <a:avLst/>
          </a:prstGeom>
          <a:noFill/>
        </p:spPr>
        <p:txBody>
          <a:bodyPr wrap="square" rtlCol="0">
            <a:spAutoFit/>
          </a:bodyPr>
          <a:lstStyle/>
          <a:p>
            <a:r>
              <a:rPr lang="en-US" sz="2400" dirty="0"/>
              <a:t>Where, d is the threshold</a:t>
            </a:r>
            <a:endParaRPr lang="en-IN" sz="2400" dirty="0"/>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xmlns="" id="{358E010C-F443-4BE2-959A-0261A71259FD}"/>
                  </a:ext>
                </a:extLst>
              </p:cNvPr>
              <p:cNvSpPr txBox="1"/>
              <p:nvPr/>
            </p:nvSpPr>
            <p:spPr>
              <a:xfrm>
                <a:off x="6095999" y="2717801"/>
                <a:ext cx="6096000" cy="3785652"/>
              </a:xfrm>
              <a:prstGeom prst="rect">
                <a:avLst/>
              </a:prstGeom>
              <a:noFill/>
            </p:spPr>
            <p:txBody>
              <a:bodyPr wrap="square">
                <a:spAutoFit/>
              </a:bodyPr>
              <a:lstStyle/>
              <a:p>
                <a:r>
                  <a:rPr lang="en-US" sz="2400" dirty="0"/>
                  <a:t>So, now I can have a uniform classification rule</a:t>
                </a:r>
              </a:p>
              <a:p>
                <a:endParaRPr lang="en-IN" sz="2400" dirty="0"/>
              </a:p>
              <a:p>
                <a14:m>
                  <m:oMath xmlns:m="http://schemas.openxmlformats.org/officeDocument/2006/math">
                    <m:sSub>
                      <m:sSubPr>
                        <m:ctrlPr>
                          <a:rPr lang="en-IN" sz="2400" b="1" i="1">
                            <a:latin typeface="Cambria Math" panose="02040503050406030204" pitchFamily="18" charset="0"/>
                          </a:rPr>
                        </m:ctrlPr>
                      </m:sSubPr>
                      <m:e>
                        <m:r>
                          <a:rPr lang="en-US" sz="2400" b="1" i="1">
                            <a:latin typeface="Cambria Math" panose="02040503050406030204" pitchFamily="18" charset="0"/>
                          </a:rPr>
                          <m:t>𝒚</m:t>
                        </m:r>
                      </m:e>
                      <m:sub>
                        <m:r>
                          <a:rPr lang="en-US" sz="2400" b="1" i="1">
                            <a:latin typeface="Cambria Math" panose="02040503050406030204" pitchFamily="18" charset="0"/>
                          </a:rPr>
                          <m:t>𝒊</m:t>
                        </m:r>
                      </m:sub>
                    </m:sSub>
                    <m:sSub>
                      <m:sSubPr>
                        <m:ctrlPr>
                          <a:rPr lang="en-IN" sz="2400" b="1" i="1">
                            <a:latin typeface="Cambria Math" panose="02040503050406030204" pitchFamily="18" charset="0"/>
                          </a:rPr>
                        </m:ctrlPr>
                      </m:sSubPr>
                      <m:e>
                        <m:r>
                          <a:rPr lang="en-US" sz="2400" b="1" i="1">
                            <a:latin typeface="Cambria Math" panose="02040503050406030204" pitchFamily="18" charset="0"/>
                          </a:rPr>
                          <m:t>(</m:t>
                        </m:r>
                        <m:sSubSup>
                          <m:sSubSupPr>
                            <m:ctrlPr>
                              <a:rPr lang="en-US" sz="2400" b="1" i="1">
                                <a:latin typeface="Cambria Math" panose="02040503050406030204" pitchFamily="18" charset="0"/>
                              </a:rPr>
                            </m:ctrlPr>
                          </m:sSubSupPr>
                          <m:e>
                            <m:r>
                              <a:rPr lang="en-US" sz="2400" b="1" i="1">
                                <a:latin typeface="Cambria Math" panose="02040503050406030204" pitchFamily="18" charset="0"/>
                              </a:rPr>
                              <m:t>𝒂</m:t>
                            </m:r>
                          </m:e>
                          <m:sub>
                            <m:r>
                              <a:rPr lang="en-US" sz="2400" b="1" i="1">
                                <a:latin typeface="Cambria Math" panose="02040503050406030204" pitchFamily="18" charset="0"/>
                              </a:rPr>
                              <m:t>.</m:t>
                            </m:r>
                          </m:sub>
                          <m:sup>
                            <m:r>
                              <a:rPr lang="en-US" sz="2400" b="1" i="1">
                                <a:latin typeface="Cambria Math" panose="02040503050406030204" pitchFamily="18" charset="0"/>
                              </a:rPr>
                              <m:t>𝒕</m:t>
                            </m:r>
                          </m:sup>
                        </m:sSubSup>
                        <m:r>
                          <a:rPr lang="en-US" sz="2400" b="1" i="1">
                            <a:latin typeface="Cambria Math" panose="02040503050406030204" pitchFamily="18" charset="0"/>
                          </a:rPr>
                          <m:t>𝒙</m:t>
                        </m:r>
                      </m:e>
                      <m:sub>
                        <m:r>
                          <a:rPr lang="en-US" sz="2400" b="1" i="1">
                            <a:latin typeface="Cambria Math" panose="02040503050406030204" pitchFamily="18" charset="0"/>
                          </a:rPr>
                          <m:t>𝒊</m:t>
                        </m:r>
                      </m:sub>
                    </m:sSub>
                  </m:oMath>
                </a14:m>
                <a:r>
                  <a:rPr lang="en-IN" sz="2400" b="1" dirty="0"/>
                  <a:t>+b)&gt;d</a:t>
                </a:r>
              </a:p>
              <a:p>
                <a:endParaRPr lang="en-IN" sz="2400" b="1" dirty="0"/>
              </a:p>
              <a:p>
                <a:r>
                  <a:rPr lang="en-IN" sz="2400" dirty="0"/>
                  <a:t>After normalization, I can write as:</a:t>
                </a:r>
              </a:p>
              <a:p>
                <a:endParaRPr lang="en-IN" sz="2400" dirty="0"/>
              </a:p>
              <a:p>
                <a14:m>
                  <m:oMath xmlns:m="http://schemas.openxmlformats.org/officeDocument/2006/math">
                    <m:sSub>
                      <m:sSubPr>
                        <m:ctrlPr>
                          <a:rPr lang="en-IN" sz="2400" b="1" i="1">
                            <a:highlight>
                              <a:srgbClr val="FFFF00"/>
                            </a:highlight>
                            <a:latin typeface="Cambria Math" panose="02040503050406030204" pitchFamily="18" charset="0"/>
                          </a:rPr>
                        </m:ctrlPr>
                      </m:sSubPr>
                      <m:e>
                        <m:r>
                          <a:rPr lang="en-US" sz="2400" b="1" i="1">
                            <a:highlight>
                              <a:srgbClr val="FFFF00"/>
                            </a:highlight>
                            <a:latin typeface="Cambria Math" panose="02040503050406030204" pitchFamily="18" charset="0"/>
                          </a:rPr>
                          <m:t>𝒚</m:t>
                        </m:r>
                      </m:e>
                      <m:sub>
                        <m:r>
                          <a:rPr lang="en-US" sz="2400" b="1" i="1">
                            <a:highlight>
                              <a:srgbClr val="FFFF00"/>
                            </a:highlight>
                            <a:latin typeface="Cambria Math" panose="02040503050406030204" pitchFamily="18" charset="0"/>
                          </a:rPr>
                          <m:t>𝒊</m:t>
                        </m:r>
                      </m:sub>
                    </m:sSub>
                    <m:sSub>
                      <m:sSubPr>
                        <m:ctrlPr>
                          <a:rPr lang="en-IN" sz="2400" b="1" i="1">
                            <a:highlight>
                              <a:srgbClr val="FFFF00"/>
                            </a:highlight>
                            <a:latin typeface="Cambria Math" panose="02040503050406030204" pitchFamily="18" charset="0"/>
                          </a:rPr>
                        </m:ctrlPr>
                      </m:sSubPr>
                      <m:e>
                        <m:r>
                          <a:rPr lang="en-US" sz="2400" b="1" i="1">
                            <a:highlight>
                              <a:srgbClr val="FFFF00"/>
                            </a:highlight>
                            <a:latin typeface="Cambria Math" panose="02040503050406030204" pitchFamily="18" charset="0"/>
                          </a:rPr>
                          <m:t>(</m:t>
                        </m:r>
                        <m:sSubSup>
                          <m:sSubSupPr>
                            <m:ctrlPr>
                              <a:rPr lang="en-US" sz="2400" b="1" i="1">
                                <a:highlight>
                                  <a:srgbClr val="FFFF00"/>
                                </a:highlight>
                                <a:latin typeface="Cambria Math" panose="02040503050406030204" pitchFamily="18" charset="0"/>
                              </a:rPr>
                            </m:ctrlPr>
                          </m:sSubSupPr>
                          <m:e>
                            <m:r>
                              <a:rPr lang="en-US" sz="2400" b="1" i="1">
                                <a:highlight>
                                  <a:srgbClr val="FFFF00"/>
                                </a:highlight>
                                <a:latin typeface="Cambria Math" panose="02040503050406030204" pitchFamily="18" charset="0"/>
                              </a:rPr>
                              <m:t>𝒂</m:t>
                            </m:r>
                          </m:e>
                          <m:sub>
                            <m:r>
                              <a:rPr lang="en-US" sz="2400" b="1" i="1">
                                <a:highlight>
                                  <a:srgbClr val="FFFF00"/>
                                </a:highlight>
                                <a:latin typeface="Cambria Math" panose="02040503050406030204" pitchFamily="18" charset="0"/>
                              </a:rPr>
                              <m:t>.</m:t>
                            </m:r>
                          </m:sub>
                          <m:sup>
                            <m:r>
                              <a:rPr lang="en-US" sz="2400" b="1" i="1">
                                <a:highlight>
                                  <a:srgbClr val="FFFF00"/>
                                </a:highlight>
                                <a:latin typeface="Cambria Math" panose="02040503050406030204" pitchFamily="18" charset="0"/>
                              </a:rPr>
                              <m:t>𝒕</m:t>
                            </m:r>
                          </m:sup>
                        </m:sSubSup>
                        <m:r>
                          <a:rPr lang="en-US" sz="2400" b="1" i="1">
                            <a:highlight>
                              <a:srgbClr val="FFFF00"/>
                            </a:highlight>
                            <a:latin typeface="Cambria Math" panose="02040503050406030204" pitchFamily="18" charset="0"/>
                          </a:rPr>
                          <m:t>𝒙</m:t>
                        </m:r>
                      </m:e>
                      <m:sub>
                        <m:r>
                          <a:rPr lang="en-US" sz="2400" b="1" i="1">
                            <a:highlight>
                              <a:srgbClr val="FFFF00"/>
                            </a:highlight>
                            <a:latin typeface="Cambria Math" panose="02040503050406030204" pitchFamily="18" charset="0"/>
                          </a:rPr>
                          <m:t>𝒊</m:t>
                        </m:r>
                      </m:sub>
                    </m:sSub>
                  </m:oMath>
                </a14:m>
                <a:r>
                  <a:rPr lang="en-IN" sz="2400" b="1" dirty="0">
                    <a:highlight>
                      <a:srgbClr val="FFFF00"/>
                    </a:highlight>
                  </a:rPr>
                  <a:t>+b)&gt;=1</a:t>
                </a:r>
              </a:p>
              <a:p>
                <a:endParaRPr lang="en-IN" sz="2400" dirty="0"/>
              </a:p>
              <a:p>
                <a:r>
                  <a:rPr lang="en-IN" sz="2400" dirty="0"/>
                  <a:t>This is used while designing the SVM classifier.</a:t>
                </a:r>
              </a:p>
              <a:p>
                <a:r>
                  <a:rPr lang="en-IN" sz="2400" b="1" dirty="0"/>
                  <a:t> </a:t>
                </a:r>
              </a:p>
            </p:txBody>
          </p:sp>
        </mc:Choice>
        <mc:Fallback xmlns="">
          <p:sp>
            <p:nvSpPr>
              <p:cNvPr id="14" name="TextBox 13">
                <a:extLst>
                  <a:ext uri="{FF2B5EF4-FFF2-40B4-BE49-F238E27FC236}">
                    <a16:creationId xmlns:a16="http://schemas.microsoft.com/office/drawing/2014/main" id="{358E010C-F443-4BE2-959A-0261A71259FD}"/>
                  </a:ext>
                </a:extLst>
              </p:cNvPr>
              <p:cNvSpPr txBox="1">
                <a:spLocks noRot="1" noChangeAspect="1" noMove="1" noResize="1" noEditPoints="1" noAdjustHandles="1" noChangeArrowheads="1" noChangeShapeType="1" noTextEdit="1"/>
              </p:cNvSpPr>
              <p:nvPr/>
            </p:nvSpPr>
            <p:spPr>
              <a:xfrm>
                <a:off x="6095999" y="2717801"/>
                <a:ext cx="6096000" cy="3785652"/>
              </a:xfrm>
              <a:prstGeom prst="rect">
                <a:avLst/>
              </a:prstGeom>
              <a:blipFill>
                <a:blip r:embed="rId8"/>
                <a:stretch>
                  <a:fillRect l="-1500" t="-1288"/>
                </a:stretch>
              </a:blipFill>
            </p:spPr>
            <p:txBody>
              <a:bodyPr/>
              <a:lstStyle/>
              <a:p>
                <a:r>
                  <a:rPr lang="en-IN">
                    <a:noFill/>
                  </a:rPr>
                  <a:t> </a:t>
                </a:r>
              </a:p>
            </p:txBody>
          </p:sp>
        </mc:Fallback>
      </mc:AlternateContent>
    </p:spTree>
    <p:extLst>
      <p:ext uri="{BB962C8B-B14F-4D97-AF65-F5344CB8AC3E}">
        <p14:creationId xmlns:p14="http://schemas.microsoft.com/office/powerpoint/2010/main" val="35852840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6B07803-AB67-4AD1-A32A-A2E6FA831646}"/>
              </a:ext>
            </a:extLst>
          </p:cNvPr>
          <p:cNvSpPr>
            <a:spLocks noGrp="1"/>
          </p:cNvSpPr>
          <p:nvPr>
            <p:ph type="title"/>
          </p:nvPr>
        </p:nvSpPr>
        <p:spPr>
          <a:xfrm>
            <a:off x="3336139" y="480296"/>
            <a:ext cx="6633832" cy="602825"/>
          </a:xfrm>
        </p:spPr>
        <p:txBody>
          <a:bodyPr>
            <a:normAutofit fontScale="90000"/>
          </a:bodyPr>
          <a:lstStyle/>
          <a:p>
            <a:r>
              <a:rPr lang="en-US" b="1" dirty="0"/>
              <a:t>Margin has to be maximized</a:t>
            </a:r>
            <a:endParaRPr lang="en-IN" b="1"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xmlns="" id="{38D4D287-02AA-4264-BD5D-6BEE63842AB9}"/>
                  </a:ext>
                </a:extLst>
              </p:cNvPr>
              <p:cNvSpPr txBox="1"/>
              <p:nvPr/>
            </p:nvSpPr>
            <p:spPr>
              <a:xfrm>
                <a:off x="7237105" y="1321869"/>
                <a:ext cx="2326936" cy="73866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IN" sz="2400" i="1" smtClean="0">
                              <a:latin typeface="Cambria Math" panose="02040503050406030204" pitchFamily="18" charset="0"/>
                            </a:rPr>
                          </m:ctrlPr>
                        </m:sSupPr>
                        <m:e>
                          <m:r>
                            <a:rPr lang="en-US" sz="2400" i="1">
                              <a:latin typeface="Cambria Math" panose="02040503050406030204" pitchFamily="18" charset="0"/>
                            </a:rPr>
                            <m:t>𝑎</m:t>
                          </m:r>
                        </m:e>
                        <m:sup>
                          <m:r>
                            <a:rPr lang="en-US" sz="2400" i="1">
                              <a:latin typeface="Cambria Math" panose="02040503050406030204" pitchFamily="18" charset="0"/>
                            </a:rPr>
                            <m:t>𝑡</m:t>
                          </m:r>
                        </m:sup>
                      </m:sSup>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m:t>
                          </m:r>
                        </m:sub>
                      </m:sSub>
                      <m:r>
                        <a:rPr lang="en-US" sz="2400" i="1">
                          <a:latin typeface="Cambria Math" panose="02040503050406030204" pitchFamily="18" charset="0"/>
                        </a:rPr>
                        <m:t>+</m:t>
                      </m:r>
                      <m:r>
                        <a:rPr lang="en-US" sz="2400" i="1">
                          <a:latin typeface="Cambria Math" panose="02040503050406030204" pitchFamily="18" charset="0"/>
                        </a:rPr>
                        <m:t>𝑏</m:t>
                      </m:r>
                      <m:r>
                        <a:rPr lang="en-US" sz="2400">
                          <a:latin typeface="Cambria Math" panose="02040503050406030204" pitchFamily="18" charset="0"/>
                        </a:rPr>
                        <m:t>=1</m:t>
                      </m:r>
                    </m:oMath>
                  </m:oMathPara>
                </a14:m>
                <a:endParaRPr lang="en-US" sz="2400" dirty="0"/>
              </a:p>
              <a:p>
                <a:pPr/>
                <a14:m>
                  <m:oMathPara xmlns:m="http://schemas.openxmlformats.org/officeDocument/2006/math">
                    <m:oMathParaPr>
                      <m:jc m:val="centerGroup"/>
                    </m:oMathParaPr>
                    <m:oMath xmlns:m="http://schemas.openxmlformats.org/officeDocument/2006/math">
                      <m:sSup>
                        <m:sSupPr>
                          <m:ctrlPr>
                            <a:rPr lang="en-IN" sz="2400" i="1">
                              <a:latin typeface="Cambria Math" panose="02040503050406030204" pitchFamily="18" charset="0"/>
                            </a:rPr>
                          </m:ctrlPr>
                        </m:sSupPr>
                        <m:e>
                          <m:r>
                            <a:rPr lang="en-US" sz="2400" i="1">
                              <a:latin typeface="Cambria Math" panose="02040503050406030204" pitchFamily="18" charset="0"/>
                            </a:rPr>
                            <m:t>𝑎</m:t>
                          </m:r>
                        </m:e>
                        <m:sup>
                          <m:r>
                            <a:rPr lang="en-US" sz="2400" i="1">
                              <a:latin typeface="Cambria Math" panose="02040503050406030204" pitchFamily="18" charset="0"/>
                            </a:rPr>
                            <m:t>𝑡</m:t>
                          </m:r>
                        </m:sup>
                      </m:sSup>
                      <m:sSub>
                        <m:sSubPr>
                          <m:ctrlPr>
                            <a:rPr lang="en-US" sz="2400" i="1" smtClean="0">
                              <a:latin typeface="Cambria Math" panose="02040503050406030204" pitchFamily="18" charset="0"/>
                            </a:rPr>
                          </m:ctrlPr>
                        </m:sSubPr>
                        <m:e>
                          <m:r>
                            <a:rPr lang="en-US" sz="2400" i="1">
                              <a:latin typeface="Cambria Math" panose="02040503050406030204" pitchFamily="18" charset="0"/>
                            </a:rPr>
                            <m:t>𝑥</m:t>
                          </m:r>
                        </m:e>
                        <m:sub>
                          <m:r>
                            <a:rPr lang="en-US" sz="2400" b="0" i="1" smtClean="0">
                              <a:latin typeface="Cambria Math" panose="02040503050406030204" pitchFamily="18" charset="0"/>
                            </a:rPr>
                            <m:t>−</m:t>
                          </m:r>
                        </m:sub>
                      </m:sSub>
                      <m:r>
                        <a:rPr lang="en-US" sz="2400" i="1">
                          <a:latin typeface="Cambria Math" panose="02040503050406030204" pitchFamily="18" charset="0"/>
                        </a:rPr>
                        <m:t>+</m:t>
                      </m:r>
                      <m:r>
                        <a:rPr lang="en-US" sz="2400" i="1">
                          <a:latin typeface="Cambria Math" panose="02040503050406030204" pitchFamily="18" charset="0"/>
                        </a:rPr>
                        <m:t>𝑏</m:t>
                      </m:r>
                      <m:r>
                        <a:rPr lang="en-US" sz="2400">
                          <a:latin typeface="Cambria Math" panose="02040503050406030204" pitchFamily="18" charset="0"/>
                        </a:rPr>
                        <m:t>=−1</m:t>
                      </m:r>
                    </m:oMath>
                  </m:oMathPara>
                </a14:m>
                <a:endParaRPr lang="en-IN" sz="2400" dirty="0"/>
              </a:p>
            </p:txBody>
          </p:sp>
        </mc:Choice>
        <mc:Fallback xmlns="">
          <p:sp>
            <p:nvSpPr>
              <p:cNvPr id="5" name="TextBox 4">
                <a:extLst>
                  <a:ext uri="{FF2B5EF4-FFF2-40B4-BE49-F238E27FC236}">
                    <a16:creationId xmlns:a16="http://schemas.microsoft.com/office/drawing/2014/main" id="{38D4D287-02AA-4264-BD5D-6BEE63842AB9}"/>
                  </a:ext>
                </a:extLst>
              </p:cNvPr>
              <p:cNvSpPr txBox="1">
                <a:spLocks noRot="1" noChangeAspect="1" noMove="1" noResize="1" noEditPoints="1" noAdjustHandles="1" noChangeArrowheads="1" noChangeShapeType="1" noTextEdit="1"/>
              </p:cNvSpPr>
              <p:nvPr/>
            </p:nvSpPr>
            <p:spPr>
              <a:xfrm>
                <a:off x="7237105" y="1321869"/>
                <a:ext cx="2326936" cy="738664"/>
              </a:xfrm>
              <a:prstGeom prst="rect">
                <a:avLst/>
              </a:prstGeom>
              <a:blipFill>
                <a:blip r:embed="rId3"/>
                <a:stretch>
                  <a:fillRect b="-330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xmlns="" id="{0D2E0BBA-6A58-49E3-932F-FD4EC547545F}"/>
                  </a:ext>
                </a:extLst>
              </p:cNvPr>
              <p:cNvSpPr txBox="1"/>
              <p:nvPr/>
            </p:nvSpPr>
            <p:spPr>
              <a:xfrm>
                <a:off x="7313126" y="2163431"/>
                <a:ext cx="2235484"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IN" sz="2400" i="1">
                              <a:latin typeface="Cambria Math" panose="02040503050406030204" pitchFamily="18" charset="0"/>
                            </a:rPr>
                          </m:ctrlPr>
                        </m:sSupPr>
                        <m:e>
                          <m:r>
                            <a:rPr lang="en-US" sz="2400" i="1">
                              <a:latin typeface="Cambria Math" panose="02040503050406030204" pitchFamily="18" charset="0"/>
                            </a:rPr>
                            <m:t>𝑎</m:t>
                          </m:r>
                        </m:e>
                        <m:sup>
                          <m:r>
                            <a:rPr lang="en-US" sz="2400" i="1">
                              <a:latin typeface="Cambria Math" panose="02040503050406030204" pitchFamily="18" charset="0"/>
                            </a:rPr>
                            <m:t>𝑡</m:t>
                          </m:r>
                        </m:sup>
                      </m:sSup>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m:t>
                              </m:r>
                            </m:sub>
                          </m:sSub>
                        </m:e>
                      </m:d>
                      <m:r>
                        <a:rPr lang="en-US" sz="2400" i="1">
                          <a:latin typeface="Cambria Math" panose="02040503050406030204" pitchFamily="18" charset="0"/>
                        </a:rPr>
                        <m:t>=2</m:t>
                      </m:r>
                    </m:oMath>
                  </m:oMathPara>
                </a14:m>
                <a:endParaRPr lang="en-IN" sz="2400" dirty="0"/>
              </a:p>
            </p:txBody>
          </p:sp>
        </mc:Choice>
        <mc:Fallback xmlns="">
          <p:sp>
            <p:nvSpPr>
              <p:cNvPr id="8" name="TextBox 7">
                <a:extLst>
                  <a:ext uri="{FF2B5EF4-FFF2-40B4-BE49-F238E27FC236}">
                    <a16:creationId xmlns:a16="http://schemas.microsoft.com/office/drawing/2014/main" id="{0D2E0BBA-6A58-49E3-932F-FD4EC547545F}"/>
                  </a:ext>
                </a:extLst>
              </p:cNvPr>
              <p:cNvSpPr txBox="1">
                <a:spLocks noRot="1" noChangeAspect="1" noMove="1" noResize="1" noEditPoints="1" noAdjustHandles="1" noChangeArrowheads="1" noChangeShapeType="1" noTextEdit="1"/>
              </p:cNvSpPr>
              <p:nvPr/>
            </p:nvSpPr>
            <p:spPr>
              <a:xfrm>
                <a:off x="7313126" y="2163431"/>
                <a:ext cx="2235484" cy="369332"/>
              </a:xfrm>
              <a:prstGeom prst="rect">
                <a:avLst/>
              </a:prstGeom>
              <a:blipFill>
                <a:blip r:embed="rId4"/>
                <a:stretch>
                  <a:fillRect l="-1366" r="-2732" b="-1666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xmlns="" id="{B6E18BDC-F687-45B9-81C4-A516FE61C415}"/>
                  </a:ext>
                </a:extLst>
              </p:cNvPr>
              <p:cNvSpPr txBox="1"/>
              <p:nvPr/>
            </p:nvSpPr>
            <p:spPr>
              <a:xfrm>
                <a:off x="7341302" y="3647071"/>
                <a:ext cx="2628669" cy="626005"/>
              </a:xfrm>
              <a:prstGeom prst="rect">
                <a:avLst/>
              </a:prstGeom>
              <a:noFill/>
            </p:spPr>
            <p:txBody>
              <a:bodyPr wrap="square" lIns="0" tIns="0" rIns="0" bIns="0" rtlCol="0">
                <a:spAutoFit/>
              </a:bodyPr>
              <a:lstStyle/>
              <a:p>
                <a14:m>
                  <m:oMath xmlns:m="http://schemas.openxmlformats.org/officeDocument/2006/math">
                    <m:f>
                      <m:fPr>
                        <m:ctrlPr>
                          <a:rPr lang="en-IN" sz="2400" i="1">
                            <a:latin typeface="Cambria Math" panose="02040503050406030204" pitchFamily="18" charset="0"/>
                          </a:rPr>
                        </m:ctrlPr>
                      </m:fPr>
                      <m:num>
                        <m:sSup>
                          <m:sSupPr>
                            <m:ctrlPr>
                              <a:rPr lang="en-IN" sz="2400" i="1">
                                <a:latin typeface="Cambria Math" panose="02040503050406030204" pitchFamily="18" charset="0"/>
                              </a:rPr>
                            </m:ctrlPr>
                          </m:sSupPr>
                          <m:e>
                            <m:r>
                              <a:rPr lang="en-US" sz="2400" i="1">
                                <a:latin typeface="Cambria Math" panose="02040503050406030204" pitchFamily="18" charset="0"/>
                              </a:rPr>
                              <m:t>𝑎</m:t>
                            </m:r>
                          </m:e>
                          <m:sup>
                            <m:r>
                              <a:rPr lang="en-US" sz="2400" i="1">
                                <a:latin typeface="Cambria Math" panose="02040503050406030204" pitchFamily="18" charset="0"/>
                              </a:rPr>
                              <m:t>𝑡</m:t>
                            </m:r>
                          </m:sup>
                        </m:sSup>
                      </m:num>
                      <m:den>
                        <m:r>
                          <a:rPr lang="en-US" sz="2400" i="1">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𝑎</m:t>
                            </m:r>
                          </m:e>
                        </m:d>
                        <m:r>
                          <a:rPr lang="en-US" sz="2400" i="1">
                            <a:latin typeface="Cambria Math" panose="02040503050406030204" pitchFamily="18" charset="0"/>
                          </a:rPr>
                          <m:t>|</m:t>
                        </m:r>
                      </m:den>
                    </m:f>
                  </m:oMath>
                </a14:m>
                <a:r>
                  <a:rPr lang="en-US" sz="2400" dirty="0"/>
                  <a:t> </a:t>
                </a:r>
                <a14:m>
                  <m:oMath xmlns:m="http://schemas.openxmlformats.org/officeDocument/2006/math">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m:t>
                            </m:r>
                          </m:sub>
                        </m:sSub>
                      </m:e>
                    </m:d>
                    <m:r>
                      <a:rPr lang="en-US" sz="2400" i="1">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2</m:t>
                        </m:r>
                      </m:num>
                      <m:den>
                        <m:r>
                          <a:rPr lang="en-US" sz="2400" i="1">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𝑎</m:t>
                            </m:r>
                          </m:e>
                        </m:d>
                        <m:r>
                          <a:rPr lang="en-US" sz="2400" i="1">
                            <a:latin typeface="Cambria Math" panose="02040503050406030204" pitchFamily="18" charset="0"/>
                          </a:rPr>
                          <m:t>|</m:t>
                        </m:r>
                      </m:den>
                    </m:f>
                  </m:oMath>
                </a14:m>
                <a:endParaRPr lang="en-IN" sz="2400" dirty="0"/>
              </a:p>
            </p:txBody>
          </p:sp>
        </mc:Choice>
        <mc:Fallback xmlns="">
          <p:sp>
            <p:nvSpPr>
              <p:cNvPr id="9" name="TextBox 8">
                <a:extLst>
                  <a:ext uri="{FF2B5EF4-FFF2-40B4-BE49-F238E27FC236}">
                    <a16:creationId xmlns:a16="http://schemas.microsoft.com/office/drawing/2014/main" id="{B6E18BDC-F687-45B9-81C4-A516FE61C415}"/>
                  </a:ext>
                </a:extLst>
              </p:cNvPr>
              <p:cNvSpPr txBox="1">
                <a:spLocks noRot="1" noChangeAspect="1" noMove="1" noResize="1" noEditPoints="1" noAdjustHandles="1" noChangeArrowheads="1" noChangeShapeType="1" noTextEdit="1"/>
              </p:cNvSpPr>
              <p:nvPr/>
            </p:nvSpPr>
            <p:spPr>
              <a:xfrm>
                <a:off x="7341302" y="3647071"/>
                <a:ext cx="2628669" cy="626005"/>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xmlns="" id="{8F4B224A-BA9A-4C8E-9B12-CE09AFCE5E39}"/>
                  </a:ext>
                </a:extLst>
              </p:cNvPr>
              <p:cNvSpPr txBox="1"/>
              <p:nvPr/>
            </p:nvSpPr>
            <p:spPr>
              <a:xfrm>
                <a:off x="7518400" y="5387192"/>
                <a:ext cx="2844800" cy="461665"/>
              </a:xfrm>
              <a:prstGeom prst="rect">
                <a:avLst/>
              </a:prstGeom>
              <a:noFill/>
            </p:spPr>
            <p:txBody>
              <a:bodyPr wrap="square">
                <a:spAutoFit/>
              </a:bodyPr>
              <a:lstStyle/>
              <a:p>
                <a14:m>
                  <m:oMath xmlns:m="http://schemas.openxmlformats.org/officeDocument/2006/math">
                    <m:sSub>
                      <m:sSubPr>
                        <m:ctrlPr>
                          <a:rPr lang="en-IN" sz="2400" b="1" i="1" smtClean="0">
                            <a:latin typeface="Cambria Math" panose="02040503050406030204" pitchFamily="18" charset="0"/>
                          </a:rPr>
                        </m:ctrlPr>
                      </m:sSubPr>
                      <m:e>
                        <m:r>
                          <a:rPr lang="en-US" sz="2400" b="1" i="1">
                            <a:latin typeface="Cambria Math" panose="02040503050406030204" pitchFamily="18" charset="0"/>
                          </a:rPr>
                          <m:t>𝒚</m:t>
                        </m:r>
                      </m:e>
                      <m:sub>
                        <m:r>
                          <a:rPr lang="en-US" sz="2400" b="1" i="1">
                            <a:latin typeface="Cambria Math" panose="02040503050406030204" pitchFamily="18" charset="0"/>
                          </a:rPr>
                          <m:t>𝒊</m:t>
                        </m:r>
                      </m:sub>
                    </m:sSub>
                    <m:sSub>
                      <m:sSubPr>
                        <m:ctrlPr>
                          <a:rPr lang="en-IN" sz="2400" b="1" i="1">
                            <a:latin typeface="Cambria Math" panose="02040503050406030204" pitchFamily="18" charset="0"/>
                          </a:rPr>
                        </m:ctrlPr>
                      </m:sSubPr>
                      <m:e>
                        <m:r>
                          <a:rPr lang="en-US" sz="2400" b="1" i="1">
                            <a:latin typeface="Cambria Math" panose="02040503050406030204" pitchFamily="18" charset="0"/>
                          </a:rPr>
                          <m:t>(</m:t>
                        </m:r>
                        <m:sSubSup>
                          <m:sSubSupPr>
                            <m:ctrlPr>
                              <a:rPr lang="en-US" sz="2400" b="1" i="1">
                                <a:latin typeface="Cambria Math" panose="02040503050406030204" pitchFamily="18" charset="0"/>
                              </a:rPr>
                            </m:ctrlPr>
                          </m:sSubSupPr>
                          <m:e>
                            <m:r>
                              <a:rPr lang="en-US" sz="2400" b="1" i="1">
                                <a:latin typeface="Cambria Math" panose="02040503050406030204" pitchFamily="18" charset="0"/>
                              </a:rPr>
                              <m:t>𝒂</m:t>
                            </m:r>
                          </m:e>
                          <m:sub>
                            <m:r>
                              <a:rPr lang="en-US" sz="2400" b="1" i="1">
                                <a:latin typeface="Cambria Math" panose="02040503050406030204" pitchFamily="18" charset="0"/>
                              </a:rPr>
                              <m:t>.</m:t>
                            </m:r>
                          </m:sub>
                          <m:sup>
                            <m:r>
                              <a:rPr lang="en-US" sz="2400" b="1" i="1">
                                <a:latin typeface="Cambria Math" panose="02040503050406030204" pitchFamily="18" charset="0"/>
                              </a:rPr>
                              <m:t>𝒕</m:t>
                            </m:r>
                          </m:sup>
                        </m:sSubSup>
                        <m:r>
                          <a:rPr lang="en-US" sz="2400" b="1" i="1" smtClean="0">
                            <a:latin typeface="Cambria Math" panose="02040503050406030204" pitchFamily="18" charset="0"/>
                          </a:rPr>
                          <m:t>𝑿</m:t>
                        </m:r>
                      </m:e>
                      <m:sub>
                        <m:r>
                          <a:rPr lang="en-US" sz="2400" b="1" i="1">
                            <a:latin typeface="Cambria Math" panose="02040503050406030204" pitchFamily="18" charset="0"/>
                          </a:rPr>
                          <m:t>𝒊</m:t>
                        </m:r>
                      </m:sub>
                    </m:sSub>
                  </m:oMath>
                </a14:m>
                <a:r>
                  <a:rPr lang="en-IN" sz="2400" b="1" dirty="0"/>
                  <a:t>+b)&gt;=1</a:t>
                </a:r>
              </a:p>
            </p:txBody>
          </p:sp>
        </mc:Choice>
        <mc:Fallback xmlns="">
          <p:sp>
            <p:nvSpPr>
              <p:cNvPr id="11" name="TextBox 10">
                <a:extLst>
                  <a:ext uri="{FF2B5EF4-FFF2-40B4-BE49-F238E27FC236}">
                    <a16:creationId xmlns:a16="http://schemas.microsoft.com/office/drawing/2014/main" id="{8F4B224A-BA9A-4C8E-9B12-CE09AFCE5E39}"/>
                  </a:ext>
                </a:extLst>
              </p:cNvPr>
              <p:cNvSpPr txBox="1">
                <a:spLocks noRot="1" noChangeAspect="1" noMove="1" noResize="1" noEditPoints="1" noAdjustHandles="1" noChangeArrowheads="1" noChangeShapeType="1" noTextEdit="1"/>
              </p:cNvSpPr>
              <p:nvPr/>
            </p:nvSpPr>
            <p:spPr>
              <a:xfrm>
                <a:off x="7518400" y="5387192"/>
                <a:ext cx="2844800" cy="461665"/>
              </a:xfrm>
              <a:prstGeom prst="rect">
                <a:avLst/>
              </a:prstGeom>
              <a:blipFill>
                <a:blip r:embed="rId6"/>
                <a:stretch>
                  <a:fillRect l="-642" t="-10667" b="-30667"/>
                </a:stretch>
              </a:blipFill>
            </p:spPr>
            <p:txBody>
              <a:bodyPr/>
              <a:lstStyle/>
              <a:p>
                <a:r>
                  <a:rPr lang="en-IN">
                    <a:noFill/>
                  </a:rPr>
                  <a:t> </a:t>
                </a:r>
              </a:p>
            </p:txBody>
          </p:sp>
        </mc:Fallback>
      </mc:AlternateContent>
      <p:pic>
        <p:nvPicPr>
          <p:cNvPr id="12" name="Picture 11">
            <a:extLst>
              <a:ext uri="{FF2B5EF4-FFF2-40B4-BE49-F238E27FC236}">
                <a16:creationId xmlns:a16="http://schemas.microsoft.com/office/drawing/2014/main" xmlns="" id="{E9CF6D8B-08BD-466D-B7BA-0E6A7EF3F742}"/>
              </a:ext>
            </a:extLst>
          </p:cNvPr>
          <p:cNvPicPr>
            <a:picLocks noChangeAspect="1"/>
          </p:cNvPicPr>
          <p:nvPr/>
        </p:nvPicPr>
        <p:blipFill>
          <a:blip r:embed="rId7"/>
          <a:stretch>
            <a:fillRect/>
          </a:stretch>
        </p:blipFill>
        <p:spPr>
          <a:xfrm>
            <a:off x="1007026" y="2482596"/>
            <a:ext cx="5853797" cy="4184090"/>
          </a:xfrm>
          <a:prstGeom prst="rect">
            <a:avLst/>
          </a:prstGeom>
        </p:spPr>
      </p:pic>
      <p:pic>
        <p:nvPicPr>
          <p:cNvPr id="14" name="Picture 13">
            <a:extLst>
              <a:ext uri="{FF2B5EF4-FFF2-40B4-BE49-F238E27FC236}">
                <a16:creationId xmlns:a16="http://schemas.microsoft.com/office/drawing/2014/main" xmlns="" id="{1750AFAE-3322-4A9A-A0B0-1FDD7A4CC8FF}"/>
              </a:ext>
            </a:extLst>
          </p:cNvPr>
          <p:cNvPicPr>
            <a:picLocks noChangeAspect="1"/>
          </p:cNvPicPr>
          <p:nvPr/>
        </p:nvPicPr>
        <p:blipFill>
          <a:blip r:embed="rId8"/>
          <a:stretch>
            <a:fillRect/>
          </a:stretch>
        </p:blipFill>
        <p:spPr>
          <a:xfrm>
            <a:off x="4243811" y="3878588"/>
            <a:ext cx="406400" cy="317500"/>
          </a:xfrm>
          <a:prstGeom prst="rect">
            <a:avLst/>
          </a:prstGeom>
        </p:spPr>
      </p:pic>
      <p:pic>
        <p:nvPicPr>
          <p:cNvPr id="16" name="Picture 15">
            <a:extLst>
              <a:ext uri="{FF2B5EF4-FFF2-40B4-BE49-F238E27FC236}">
                <a16:creationId xmlns:a16="http://schemas.microsoft.com/office/drawing/2014/main" xmlns="" id="{0FE610E5-EF4B-4345-836E-9776A4C22527}"/>
              </a:ext>
            </a:extLst>
          </p:cNvPr>
          <p:cNvPicPr>
            <a:picLocks noChangeAspect="1"/>
          </p:cNvPicPr>
          <p:nvPr/>
        </p:nvPicPr>
        <p:blipFill>
          <a:blip r:embed="rId9"/>
          <a:stretch>
            <a:fillRect/>
          </a:stretch>
        </p:blipFill>
        <p:spPr>
          <a:xfrm>
            <a:off x="2928177" y="4592161"/>
            <a:ext cx="330200" cy="355600"/>
          </a:xfrm>
          <a:prstGeom prst="rect">
            <a:avLst/>
          </a:prstGeom>
        </p:spPr>
      </p:pic>
      <p:sp>
        <p:nvSpPr>
          <p:cNvPr id="17" name="Oval 16">
            <a:extLst>
              <a:ext uri="{FF2B5EF4-FFF2-40B4-BE49-F238E27FC236}">
                <a16:creationId xmlns:a16="http://schemas.microsoft.com/office/drawing/2014/main" xmlns="" id="{65E2748C-3B4D-484E-AEE7-C991A21BCC98}"/>
              </a:ext>
            </a:extLst>
          </p:cNvPr>
          <p:cNvSpPr/>
          <p:nvPr/>
        </p:nvSpPr>
        <p:spPr>
          <a:xfrm>
            <a:off x="3291842" y="4557589"/>
            <a:ext cx="60959" cy="60959"/>
          </a:xfrm>
          <a:prstGeom prst="ellipse">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sz="2400"/>
          </a:p>
        </p:txBody>
      </p:sp>
      <p:sp>
        <p:nvSpPr>
          <p:cNvPr id="18" name="Oval 17">
            <a:extLst>
              <a:ext uri="{FF2B5EF4-FFF2-40B4-BE49-F238E27FC236}">
                <a16:creationId xmlns:a16="http://schemas.microsoft.com/office/drawing/2014/main" xmlns="" id="{088D43CD-6332-4C1C-BA7F-1236704A0395}"/>
              </a:ext>
            </a:extLst>
          </p:cNvPr>
          <p:cNvSpPr/>
          <p:nvPr/>
        </p:nvSpPr>
        <p:spPr>
          <a:xfrm>
            <a:off x="4123706" y="4171631"/>
            <a:ext cx="60959" cy="60959"/>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sz="2400"/>
          </a:p>
        </p:txBody>
      </p:sp>
      <p:cxnSp>
        <p:nvCxnSpPr>
          <p:cNvPr id="20" name="Straight Arrow Connector 19">
            <a:extLst>
              <a:ext uri="{FF2B5EF4-FFF2-40B4-BE49-F238E27FC236}">
                <a16:creationId xmlns:a16="http://schemas.microsoft.com/office/drawing/2014/main" xmlns="" id="{EC1805EA-E225-4F26-9852-4F071C5C2D2F}"/>
              </a:ext>
            </a:extLst>
          </p:cNvPr>
          <p:cNvCxnSpPr>
            <a:endCxn id="18" idx="2"/>
          </p:cNvCxnSpPr>
          <p:nvPr/>
        </p:nvCxnSpPr>
        <p:spPr>
          <a:xfrm flipV="1">
            <a:off x="3291841" y="4202109"/>
            <a:ext cx="831864" cy="338619"/>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22" name="Straight Connector 21">
            <a:extLst>
              <a:ext uri="{FF2B5EF4-FFF2-40B4-BE49-F238E27FC236}">
                <a16:creationId xmlns:a16="http://schemas.microsoft.com/office/drawing/2014/main" xmlns="" id="{84CF652B-AAE6-4F12-B38D-85A06EBAE6A0}"/>
              </a:ext>
            </a:extLst>
          </p:cNvPr>
          <p:cNvCxnSpPr>
            <a:cxnSpLocks/>
          </p:cNvCxnSpPr>
          <p:nvPr/>
        </p:nvCxnSpPr>
        <p:spPr>
          <a:xfrm flipH="1">
            <a:off x="3599169" y="4242620"/>
            <a:ext cx="539039" cy="594552"/>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xmlns="" id="{29695603-3308-480C-8032-964AF1958250}"/>
              </a:ext>
            </a:extLst>
          </p:cNvPr>
          <p:cNvCxnSpPr/>
          <p:nvPr/>
        </p:nvCxnSpPr>
        <p:spPr>
          <a:xfrm flipV="1">
            <a:off x="3082773" y="3632201"/>
            <a:ext cx="270027" cy="3547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xmlns="" id="{F8ECA287-65A3-43EC-9E9D-E224D1381FEE}"/>
                  </a:ext>
                </a:extLst>
              </p:cNvPr>
              <p:cNvSpPr txBox="1"/>
              <p:nvPr/>
            </p:nvSpPr>
            <p:spPr>
              <a:xfrm>
                <a:off x="3032584" y="3027593"/>
                <a:ext cx="640432" cy="42428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IN" sz="1467" i="1">
                              <a:latin typeface="Cambria Math" panose="02040503050406030204" pitchFamily="18" charset="0"/>
                            </a:rPr>
                          </m:ctrlPr>
                        </m:fPr>
                        <m:num>
                          <m:r>
                            <a:rPr lang="en-US" sz="1467" i="1">
                              <a:latin typeface="Cambria Math" panose="02040503050406030204" pitchFamily="18" charset="0"/>
                            </a:rPr>
                            <m:t>𝑎</m:t>
                          </m:r>
                        </m:num>
                        <m:den>
                          <m:r>
                            <a:rPr lang="en-US" sz="1467" i="1">
                              <a:latin typeface="Cambria Math" panose="02040503050406030204" pitchFamily="18" charset="0"/>
                            </a:rPr>
                            <m:t>|</m:t>
                          </m:r>
                          <m:d>
                            <m:dPr>
                              <m:begChr m:val="|"/>
                              <m:endChr m:val="|"/>
                              <m:ctrlPr>
                                <a:rPr lang="en-US" sz="1467" i="1">
                                  <a:latin typeface="Cambria Math" panose="02040503050406030204" pitchFamily="18" charset="0"/>
                                </a:rPr>
                              </m:ctrlPr>
                            </m:dPr>
                            <m:e>
                              <m:r>
                                <a:rPr lang="en-US" sz="1467" i="1">
                                  <a:latin typeface="Cambria Math" panose="02040503050406030204" pitchFamily="18" charset="0"/>
                                </a:rPr>
                                <m:t>𝑎</m:t>
                              </m:r>
                            </m:e>
                          </m:d>
                          <m:r>
                            <a:rPr lang="en-US" sz="1467" i="1">
                              <a:latin typeface="Cambria Math" panose="02040503050406030204" pitchFamily="18" charset="0"/>
                            </a:rPr>
                            <m:t>|</m:t>
                          </m:r>
                        </m:den>
                      </m:f>
                    </m:oMath>
                  </m:oMathPara>
                </a14:m>
                <a:endParaRPr lang="en-IN" sz="2400" dirty="0"/>
              </a:p>
            </p:txBody>
          </p:sp>
        </mc:Choice>
        <mc:Fallback xmlns="">
          <p:sp>
            <p:nvSpPr>
              <p:cNvPr id="25" name="TextBox 24">
                <a:extLst>
                  <a:ext uri="{FF2B5EF4-FFF2-40B4-BE49-F238E27FC236}">
                    <a16:creationId xmlns:a16="http://schemas.microsoft.com/office/drawing/2014/main" id="{F8ECA287-65A3-43EC-9E9D-E224D1381FEE}"/>
                  </a:ext>
                </a:extLst>
              </p:cNvPr>
              <p:cNvSpPr txBox="1">
                <a:spLocks noRot="1" noChangeAspect="1" noMove="1" noResize="1" noEditPoints="1" noAdjustHandles="1" noChangeArrowheads="1" noChangeShapeType="1" noTextEdit="1"/>
              </p:cNvSpPr>
              <p:nvPr/>
            </p:nvSpPr>
            <p:spPr>
              <a:xfrm>
                <a:off x="3032584" y="3027593"/>
                <a:ext cx="640432" cy="424283"/>
              </a:xfrm>
              <a:prstGeom prst="rect">
                <a:avLst/>
              </a:prstGeom>
              <a:blipFill>
                <a:blip r:embed="rId10"/>
                <a:stretch>
                  <a:fillRect t="-1449" b="-2318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xmlns="" id="{1A168F48-40ED-4EF3-847F-F5DE61705739}"/>
                  </a:ext>
                </a:extLst>
              </p:cNvPr>
              <p:cNvSpPr txBox="1"/>
              <p:nvPr/>
            </p:nvSpPr>
            <p:spPr>
              <a:xfrm>
                <a:off x="7376711" y="2826342"/>
                <a:ext cx="1759521" cy="626005"/>
              </a:xfrm>
              <a:prstGeom prst="rect">
                <a:avLst/>
              </a:prstGeom>
              <a:noFill/>
            </p:spPr>
            <p:txBody>
              <a:bodyPr wrap="none" lIns="0" tIns="0" rIns="0" bIns="0" rtlCol="0">
                <a:spAutoFit/>
              </a:bodyPr>
              <a:lstStyle/>
              <a:p>
                <a:r>
                  <a:rPr lang="en-IN" sz="2400" dirty="0"/>
                  <a:t> </a:t>
                </a:r>
                <a14:m>
                  <m:oMath xmlns:m="http://schemas.openxmlformats.org/officeDocument/2006/math">
                    <m:f>
                      <m:fPr>
                        <m:ctrlPr>
                          <a:rPr lang="en-IN" sz="2400" i="1">
                            <a:latin typeface="Cambria Math" panose="02040503050406030204" pitchFamily="18" charset="0"/>
                          </a:rPr>
                        </m:ctrlPr>
                      </m:fPr>
                      <m:num>
                        <m:sSup>
                          <m:sSupPr>
                            <m:ctrlPr>
                              <a:rPr lang="en-IN" sz="2400" i="1">
                                <a:latin typeface="Cambria Math" panose="02040503050406030204" pitchFamily="18" charset="0"/>
                              </a:rPr>
                            </m:ctrlPr>
                          </m:sSupPr>
                          <m:e>
                            <m:r>
                              <a:rPr lang="en-US" sz="2400" i="1">
                                <a:latin typeface="Cambria Math" panose="02040503050406030204" pitchFamily="18" charset="0"/>
                              </a:rPr>
                              <m:t>𝑎</m:t>
                            </m:r>
                          </m:e>
                          <m:sup>
                            <m:r>
                              <a:rPr lang="en-US" sz="2400" i="1">
                                <a:latin typeface="Cambria Math" panose="02040503050406030204" pitchFamily="18" charset="0"/>
                              </a:rPr>
                              <m:t>𝑡</m:t>
                            </m:r>
                          </m:sup>
                        </m:sSup>
                      </m:num>
                      <m:den>
                        <m:r>
                          <a:rPr lang="en-US" sz="2400" i="1">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𝑎</m:t>
                            </m:r>
                          </m:e>
                        </m:d>
                        <m:r>
                          <a:rPr lang="en-US" sz="2400" i="1">
                            <a:latin typeface="Cambria Math" panose="02040503050406030204" pitchFamily="18" charset="0"/>
                          </a:rPr>
                          <m:t>|</m:t>
                        </m:r>
                      </m:den>
                    </m:f>
                  </m:oMath>
                </a14:m>
                <a:r>
                  <a:rPr lang="en-IN" sz="2400" dirty="0"/>
                  <a:t>(</a:t>
                </a:r>
                <a14:m>
                  <m:oMath xmlns:m="http://schemas.openxmlformats.org/officeDocument/2006/math">
                    <m:sSub>
                      <m:sSubPr>
                        <m:ctrlPr>
                          <a:rPr lang="en-IN" sz="2400" i="1" dirty="0">
                            <a:latin typeface="Cambria Math" panose="02040503050406030204" pitchFamily="18" charset="0"/>
                          </a:rPr>
                        </m:ctrlPr>
                      </m:sSubPr>
                      <m:e>
                        <m:r>
                          <a:rPr lang="en-US" sz="2400" i="1" dirty="0">
                            <a:latin typeface="Cambria Math" panose="02040503050406030204" pitchFamily="18" charset="0"/>
                          </a:rPr>
                          <m:t>𝑥</m:t>
                        </m:r>
                      </m:e>
                      <m:sub>
                        <m:r>
                          <a:rPr lang="en-US" sz="2400" i="1" dirty="0">
                            <a:latin typeface="Cambria Math" panose="02040503050406030204" pitchFamily="18" charset="0"/>
                          </a:rPr>
                          <m:t>+</m:t>
                        </m:r>
                      </m:sub>
                    </m:sSub>
                    <m:r>
                      <a:rPr lang="en-US" sz="2400" i="1" dirty="0">
                        <a:latin typeface="Cambria Math" panose="02040503050406030204" pitchFamily="18" charset="0"/>
                      </a:rPr>
                      <m:t>−</m:t>
                    </m:r>
                    <m:sSub>
                      <m:sSubPr>
                        <m:ctrlPr>
                          <a:rPr lang="en-US" sz="2400" i="1" dirty="0">
                            <a:latin typeface="Cambria Math" panose="02040503050406030204" pitchFamily="18" charset="0"/>
                          </a:rPr>
                        </m:ctrlPr>
                      </m:sSubPr>
                      <m:e>
                        <m:r>
                          <a:rPr lang="en-US" sz="2400" i="1" dirty="0">
                            <a:latin typeface="Cambria Math" panose="02040503050406030204" pitchFamily="18" charset="0"/>
                          </a:rPr>
                          <m:t>𝑥</m:t>
                        </m:r>
                      </m:e>
                      <m:sub>
                        <m:r>
                          <a:rPr lang="en-US" sz="2400" i="1" dirty="0">
                            <a:latin typeface="Cambria Math" panose="02040503050406030204" pitchFamily="18" charset="0"/>
                          </a:rPr>
                          <m:t>−</m:t>
                        </m:r>
                      </m:sub>
                    </m:sSub>
                    <m:r>
                      <a:rPr lang="en-US" sz="2400" i="1" dirty="0">
                        <a:latin typeface="Cambria Math" panose="02040503050406030204" pitchFamily="18" charset="0"/>
                      </a:rPr>
                      <m:t>)</m:t>
                    </m:r>
                  </m:oMath>
                </a14:m>
                <a:endParaRPr lang="en-IN" sz="2400" dirty="0"/>
              </a:p>
            </p:txBody>
          </p:sp>
        </mc:Choice>
        <mc:Fallback xmlns="">
          <p:sp>
            <p:nvSpPr>
              <p:cNvPr id="26" name="TextBox 25">
                <a:extLst>
                  <a:ext uri="{FF2B5EF4-FFF2-40B4-BE49-F238E27FC236}">
                    <a16:creationId xmlns:a16="http://schemas.microsoft.com/office/drawing/2014/main" id="{1A168F48-40ED-4EF3-847F-F5DE61705739}"/>
                  </a:ext>
                </a:extLst>
              </p:cNvPr>
              <p:cNvSpPr txBox="1">
                <a:spLocks noRot="1" noChangeAspect="1" noMove="1" noResize="1" noEditPoints="1" noAdjustHandles="1" noChangeArrowheads="1" noChangeShapeType="1" noTextEdit="1"/>
              </p:cNvSpPr>
              <p:nvPr/>
            </p:nvSpPr>
            <p:spPr>
              <a:xfrm>
                <a:off x="7376711" y="2826342"/>
                <a:ext cx="1759521" cy="626005"/>
              </a:xfrm>
              <a:prstGeom prst="rect">
                <a:avLst/>
              </a:prstGeom>
              <a:blipFill>
                <a:blip r:embed="rId11"/>
                <a:stretch>
                  <a:fillRect b="-9804"/>
                </a:stretch>
              </a:blipFill>
            </p:spPr>
            <p:txBody>
              <a:bodyPr/>
              <a:lstStyle/>
              <a:p>
                <a:r>
                  <a:rPr lang="en-IN">
                    <a:noFill/>
                  </a:rPr>
                  <a:t> </a:t>
                </a:r>
              </a:p>
            </p:txBody>
          </p:sp>
        </mc:Fallback>
      </mc:AlternateContent>
      <p:cxnSp>
        <p:nvCxnSpPr>
          <p:cNvPr id="28" name="Straight Connector 27">
            <a:extLst>
              <a:ext uri="{FF2B5EF4-FFF2-40B4-BE49-F238E27FC236}">
                <a16:creationId xmlns:a16="http://schemas.microsoft.com/office/drawing/2014/main" xmlns="" id="{F17BF1C9-0B68-4453-97E0-1B5A206AA181}"/>
              </a:ext>
            </a:extLst>
          </p:cNvPr>
          <p:cNvCxnSpPr/>
          <p:nvPr/>
        </p:nvCxnSpPr>
        <p:spPr>
          <a:xfrm>
            <a:off x="7269657" y="2051250"/>
            <a:ext cx="2234816" cy="29263"/>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xmlns="" id="{98EC74AC-1BD0-4FAA-BB95-35B192B7291D}"/>
              </a:ext>
            </a:extLst>
          </p:cNvPr>
          <p:cNvCxnSpPr>
            <a:cxnSpLocks/>
          </p:cNvCxnSpPr>
          <p:nvPr/>
        </p:nvCxnSpPr>
        <p:spPr>
          <a:xfrm flipV="1">
            <a:off x="10063621" y="3745673"/>
            <a:ext cx="839281" cy="2758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xmlns="" id="{962C7390-AD55-48F9-82E5-279585BB6F77}"/>
              </a:ext>
            </a:extLst>
          </p:cNvPr>
          <p:cNvSpPr txBox="1"/>
          <p:nvPr/>
        </p:nvSpPr>
        <p:spPr>
          <a:xfrm>
            <a:off x="10736213" y="3425602"/>
            <a:ext cx="897524" cy="338554"/>
          </a:xfrm>
          <a:prstGeom prst="rect">
            <a:avLst/>
          </a:prstGeom>
          <a:noFill/>
        </p:spPr>
        <p:txBody>
          <a:bodyPr wrap="square" rtlCol="0">
            <a:spAutoFit/>
          </a:bodyPr>
          <a:lstStyle/>
          <a:p>
            <a:r>
              <a:rPr lang="en-US" sz="1600" dirty="0"/>
              <a:t>margin</a:t>
            </a:r>
            <a:endParaRPr lang="en-IN" sz="1600" dirty="0"/>
          </a:p>
        </p:txBody>
      </p:sp>
      <p:sp>
        <p:nvSpPr>
          <p:cNvPr id="33" name="TextBox 32">
            <a:extLst>
              <a:ext uri="{FF2B5EF4-FFF2-40B4-BE49-F238E27FC236}">
                <a16:creationId xmlns:a16="http://schemas.microsoft.com/office/drawing/2014/main" xmlns="" id="{1DBE3CA8-A77A-4C33-BA86-001D6232422B}"/>
              </a:ext>
            </a:extLst>
          </p:cNvPr>
          <p:cNvSpPr txBox="1"/>
          <p:nvPr/>
        </p:nvSpPr>
        <p:spPr>
          <a:xfrm>
            <a:off x="7376711" y="4682986"/>
            <a:ext cx="3666575" cy="584775"/>
          </a:xfrm>
          <a:prstGeom prst="rect">
            <a:avLst/>
          </a:prstGeom>
          <a:noFill/>
        </p:spPr>
        <p:txBody>
          <a:bodyPr wrap="square" rtlCol="0">
            <a:spAutoFit/>
          </a:bodyPr>
          <a:lstStyle/>
          <a:p>
            <a:r>
              <a:rPr lang="en-US" sz="1600" dirty="0"/>
              <a:t>We need to maximize the margin but keeping the constraint in mind i.e.</a:t>
            </a:r>
            <a:endParaRPr lang="en-IN" sz="1600" dirty="0"/>
          </a:p>
        </p:txBody>
      </p:sp>
      <p:sp>
        <p:nvSpPr>
          <p:cNvPr id="35" name="TextBox 34">
            <a:extLst>
              <a:ext uri="{FF2B5EF4-FFF2-40B4-BE49-F238E27FC236}">
                <a16:creationId xmlns:a16="http://schemas.microsoft.com/office/drawing/2014/main" xmlns="" id="{BDC2CDC8-E02A-465A-9AB1-9F182CB3C362}"/>
              </a:ext>
            </a:extLst>
          </p:cNvPr>
          <p:cNvSpPr txBox="1"/>
          <p:nvPr/>
        </p:nvSpPr>
        <p:spPr>
          <a:xfrm>
            <a:off x="7353568" y="6160373"/>
            <a:ext cx="4635232" cy="666977"/>
          </a:xfrm>
          <a:prstGeom prst="rect">
            <a:avLst/>
          </a:prstGeom>
          <a:noFill/>
        </p:spPr>
        <p:txBody>
          <a:bodyPr wrap="square" rtlCol="0">
            <a:spAutoFit/>
          </a:bodyPr>
          <a:lstStyle/>
          <a:p>
            <a:r>
              <a:rPr lang="en-US" sz="1867" dirty="0"/>
              <a:t>Hence, it becomes a constraint optimization problem which is solved by </a:t>
            </a:r>
            <a:r>
              <a:rPr lang="en-IN" sz="1867" b="1" dirty="0" err="1">
                <a:solidFill>
                  <a:srgbClr val="202124"/>
                </a:solidFill>
                <a:latin typeface="arial" panose="020B0604020202020204" pitchFamily="34" charset="0"/>
              </a:rPr>
              <a:t>Lagrangian</a:t>
            </a:r>
            <a:r>
              <a:rPr lang="en-IN" sz="1867" dirty="0">
                <a:solidFill>
                  <a:srgbClr val="202124"/>
                </a:solidFill>
                <a:latin typeface="arial" panose="020B0604020202020204" pitchFamily="34" charset="0"/>
              </a:rPr>
              <a:t> </a:t>
            </a:r>
            <a:endParaRPr lang="en-IN" sz="1867"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xmlns="" id="{F69434F7-EB2D-4419-8F08-3FC54B02380A}"/>
                  </a:ext>
                </a:extLst>
              </p:cNvPr>
              <p:cNvSpPr txBox="1"/>
              <p:nvPr/>
            </p:nvSpPr>
            <p:spPr>
              <a:xfrm>
                <a:off x="5088073" y="4406204"/>
                <a:ext cx="1352358" cy="369332"/>
              </a:xfrm>
              <a:prstGeom prst="rect">
                <a:avLst/>
              </a:prstGeom>
              <a:noFill/>
            </p:spPr>
            <p:txBody>
              <a:bodyPr wrap="none" lIns="0" tIns="0" rIns="0" bIns="0" rtlCol="0">
                <a:spAutoFit/>
              </a:bodyPr>
              <a:lstStyle/>
              <a:p>
                <a14:m>
                  <m:oMath xmlns:m="http://schemas.openxmlformats.org/officeDocument/2006/math">
                    <m:sSup>
                      <m:sSupPr>
                        <m:ctrlPr>
                          <a:rPr lang="en-IN" sz="2400" i="1" smtClean="0">
                            <a:latin typeface="Cambria Math" panose="02040503050406030204" pitchFamily="18" charset="0"/>
                          </a:rPr>
                        </m:ctrlPr>
                      </m:sSupPr>
                      <m:e>
                        <m:r>
                          <a:rPr lang="en-US" sz="2400" i="1">
                            <a:latin typeface="Cambria Math" panose="02040503050406030204" pitchFamily="18" charset="0"/>
                          </a:rPr>
                          <m:t>𝑎</m:t>
                        </m:r>
                      </m:e>
                      <m:sup>
                        <m:r>
                          <a:rPr lang="en-US" sz="2400" i="1">
                            <a:latin typeface="Cambria Math" panose="02040503050406030204" pitchFamily="18" charset="0"/>
                          </a:rPr>
                          <m:t>𝑡</m:t>
                        </m:r>
                      </m:sup>
                    </m:sSup>
                    <m:r>
                      <a:rPr lang="en-US" sz="2400" b="0" i="1" smtClean="0">
                        <a:latin typeface="Cambria Math" panose="02040503050406030204" pitchFamily="18" charset="0"/>
                      </a:rPr>
                      <m:t>𝑋</m:t>
                    </m:r>
                    <m:r>
                      <a:rPr lang="en-US" sz="2400" i="1">
                        <a:latin typeface="Cambria Math" panose="02040503050406030204" pitchFamily="18" charset="0"/>
                      </a:rPr>
                      <m:t>+</m:t>
                    </m:r>
                    <m:r>
                      <a:rPr lang="en-US" sz="2400" i="1">
                        <a:latin typeface="Cambria Math" panose="02040503050406030204" pitchFamily="18" charset="0"/>
                      </a:rPr>
                      <m:t>𝑏</m:t>
                    </m:r>
                  </m:oMath>
                </a14:m>
                <a:r>
                  <a:rPr lang="en-IN" sz="2400" dirty="0"/>
                  <a:t>=1</a:t>
                </a:r>
              </a:p>
            </p:txBody>
          </p:sp>
        </mc:Choice>
        <mc:Fallback xmlns="">
          <p:sp>
            <p:nvSpPr>
              <p:cNvPr id="36" name="TextBox 35">
                <a:extLst>
                  <a:ext uri="{FF2B5EF4-FFF2-40B4-BE49-F238E27FC236}">
                    <a16:creationId xmlns:a16="http://schemas.microsoft.com/office/drawing/2014/main" id="{F69434F7-EB2D-4419-8F08-3FC54B02380A}"/>
                  </a:ext>
                </a:extLst>
              </p:cNvPr>
              <p:cNvSpPr txBox="1">
                <a:spLocks noRot="1" noChangeAspect="1" noMove="1" noResize="1" noEditPoints="1" noAdjustHandles="1" noChangeArrowheads="1" noChangeShapeType="1" noTextEdit="1"/>
              </p:cNvSpPr>
              <p:nvPr/>
            </p:nvSpPr>
            <p:spPr>
              <a:xfrm>
                <a:off x="5088073" y="4406204"/>
                <a:ext cx="1352358" cy="369332"/>
              </a:xfrm>
              <a:prstGeom prst="rect">
                <a:avLst/>
              </a:prstGeom>
              <a:blipFill>
                <a:blip r:embed="rId12"/>
                <a:stretch>
                  <a:fillRect l="-5856" t="-26667" r="-12162" b="-50000"/>
                </a:stretch>
              </a:blipFill>
            </p:spPr>
            <p:txBody>
              <a:bodyPr/>
              <a:lstStyle/>
              <a:p>
                <a:r>
                  <a:rPr lang="en-IN">
                    <a:noFill/>
                  </a:rPr>
                  <a:t> </a:t>
                </a:r>
              </a:p>
            </p:txBody>
          </p:sp>
        </mc:Fallback>
      </mc:AlternateContent>
      <p:pic>
        <p:nvPicPr>
          <p:cNvPr id="37" name="Picture 36">
            <a:extLst>
              <a:ext uri="{FF2B5EF4-FFF2-40B4-BE49-F238E27FC236}">
                <a16:creationId xmlns:a16="http://schemas.microsoft.com/office/drawing/2014/main" xmlns="" id="{36263D5D-28EC-446E-884E-FAB799D56FE3}"/>
              </a:ext>
            </a:extLst>
          </p:cNvPr>
          <p:cNvPicPr>
            <a:picLocks noChangeAspect="1"/>
          </p:cNvPicPr>
          <p:nvPr/>
        </p:nvPicPr>
        <p:blipFill>
          <a:blip r:embed="rId13"/>
          <a:stretch>
            <a:fillRect/>
          </a:stretch>
        </p:blipFill>
        <p:spPr>
          <a:xfrm>
            <a:off x="4905023" y="5019139"/>
            <a:ext cx="1955800" cy="558800"/>
          </a:xfrm>
          <a:prstGeom prst="rect">
            <a:avLst/>
          </a:prstGeom>
        </p:spPr>
      </p:pic>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xmlns="" id="{DDF7D264-47AD-4EBF-9570-4553BEAB3854}"/>
                  </a:ext>
                </a:extLst>
              </p:cNvPr>
              <p:cNvSpPr txBox="1"/>
              <p:nvPr/>
            </p:nvSpPr>
            <p:spPr>
              <a:xfrm>
                <a:off x="3229587" y="5331472"/>
                <a:ext cx="1446935" cy="369332"/>
              </a:xfrm>
              <a:prstGeom prst="rect">
                <a:avLst/>
              </a:prstGeom>
              <a:noFill/>
            </p:spPr>
            <p:txBody>
              <a:bodyPr wrap="none" lIns="0" tIns="0" rIns="0" bIns="0" rtlCol="0">
                <a:spAutoFit/>
              </a:bodyPr>
              <a:lstStyle/>
              <a:p>
                <a14:m>
                  <m:oMath xmlns:m="http://schemas.openxmlformats.org/officeDocument/2006/math">
                    <m:sSup>
                      <m:sSupPr>
                        <m:ctrlPr>
                          <a:rPr lang="en-IN" sz="2400" i="1" smtClean="0">
                            <a:latin typeface="Cambria Math" panose="02040503050406030204" pitchFamily="18" charset="0"/>
                          </a:rPr>
                        </m:ctrlPr>
                      </m:sSupPr>
                      <m:e>
                        <m:r>
                          <a:rPr lang="en-US" sz="2400" i="1">
                            <a:latin typeface="Cambria Math" panose="02040503050406030204" pitchFamily="18" charset="0"/>
                          </a:rPr>
                          <m:t>𝑎</m:t>
                        </m:r>
                      </m:e>
                      <m:sup>
                        <m:r>
                          <a:rPr lang="en-US" sz="2400" i="1">
                            <a:latin typeface="Cambria Math" panose="02040503050406030204" pitchFamily="18" charset="0"/>
                          </a:rPr>
                          <m:t>𝑡</m:t>
                        </m:r>
                      </m:sup>
                    </m:sSup>
                    <m:r>
                      <a:rPr lang="en-US" sz="2400" b="0" i="1" smtClean="0">
                        <a:latin typeface="Cambria Math" panose="02040503050406030204" pitchFamily="18" charset="0"/>
                      </a:rPr>
                      <m:t>𝑋</m:t>
                    </m:r>
                    <m:r>
                      <a:rPr lang="en-US" sz="2400" i="1">
                        <a:latin typeface="Cambria Math" panose="02040503050406030204" pitchFamily="18" charset="0"/>
                      </a:rPr>
                      <m:t>+</m:t>
                    </m:r>
                    <m:r>
                      <a:rPr lang="en-US" sz="2400" i="1">
                        <a:latin typeface="Cambria Math" panose="02040503050406030204" pitchFamily="18" charset="0"/>
                      </a:rPr>
                      <m:t>𝑏</m:t>
                    </m:r>
                  </m:oMath>
                </a14:m>
                <a:r>
                  <a:rPr lang="en-IN" sz="2400" dirty="0"/>
                  <a:t>=-1</a:t>
                </a:r>
              </a:p>
            </p:txBody>
          </p:sp>
        </mc:Choice>
        <mc:Fallback xmlns="">
          <p:sp>
            <p:nvSpPr>
              <p:cNvPr id="38" name="TextBox 37">
                <a:extLst>
                  <a:ext uri="{FF2B5EF4-FFF2-40B4-BE49-F238E27FC236}">
                    <a16:creationId xmlns:a16="http://schemas.microsoft.com/office/drawing/2014/main" id="{DDF7D264-47AD-4EBF-9570-4553BEAB3854}"/>
                  </a:ext>
                </a:extLst>
              </p:cNvPr>
              <p:cNvSpPr txBox="1">
                <a:spLocks noRot="1" noChangeAspect="1" noMove="1" noResize="1" noEditPoints="1" noAdjustHandles="1" noChangeArrowheads="1" noChangeShapeType="1" noTextEdit="1"/>
              </p:cNvSpPr>
              <p:nvPr/>
            </p:nvSpPr>
            <p:spPr>
              <a:xfrm>
                <a:off x="3229587" y="5331472"/>
                <a:ext cx="1446935" cy="369332"/>
              </a:xfrm>
              <a:prstGeom prst="rect">
                <a:avLst/>
              </a:prstGeom>
              <a:blipFill>
                <a:blip r:embed="rId14"/>
                <a:stretch>
                  <a:fillRect l="-5485" t="-26667" r="-11392" b="-50000"/>
                </a:stretch>
              </a:blipFill>
            </p:spPr>
            <p:txBody>
              <a:bodyPr/>
              <a:lstStyle/>
              <a:p>
                <a:r>
                  <a:rPr lang="en-IN">
                    <a:noFill/>
                  </a:rPr>
                  <a:t> </a:t>
                </a:r>
              </a:p>
            </p:txBody>
          </p:sp>
        </mc:Fallback>
      </mc:AlternateContent>
      <p:sp>
        <p:nvSpPr>
          <p:cNvPr id="3" name="TextBox 2">
            <a:extLst>
              <a:ext uri="{FF2B5EF4-FFF2-40B4-BE49-F238E27FC236}">
                <a16:creationId xmlns:a16="http://schemas.microsoft.com/office/drawing/2014/main" xmlns="" id="{4093A272-57D1-4B73-A7B3-1D3F2B17D2F4}"/>
              </a:ext>
            </a:extLst>
          </p:cNvPr>
          <p:cNvSpPr txBox="1"/>
          <p:nvPr/>
        </p:nvSpPr>
        <p:spPr>
          <a:xfrm>
            <a:off x="3615146" y="2686369"/>
            <a:ext cx="2610556" cy="307777"/>
          </a:xfrm>
          <a:prstGeom prst="rect">
            <a:avLst/>
          </a:prstGeom>
          <a:noFill/>
        </p:spPr>
        <p:txBody>
          <a:bodyPr wrap="square" rtlCol="0">
            <a:spAutoFit/>
          </a:bodyPr>
          <a:lstStyle/>
          <a:p>
            <a:r>
              <a:rPr lang="en-US" sz="1400" b="1" dirty="0"/>
              <a:t>Unit vector in the direction of a </a:t>
            </a:r>
            <a:endParaRPr lang="en-IN" sz="1400" b="1" dirty="0"/>
          </a:p>
        </p:txBody>
      </p:sp>
    </p:spTree>
    <p:extLst>
      <p:ext uri="{BB962C8B-B14F-4D97-AF65-F5344CB8AC3E}">
        <p14:creationId xmlns:p14="http://schemas.microsoft.com/office/powerpoint/2010/main" val="33060885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D6C7DDE-DF87-4008-A170-1FE0FF7401EA}"/>
              </a:ext>
            </a:extLst>
          </p:cNvPr>
          <p:cNvSpPr>
            <a:spLocks noGrp="1"/>
          </p:cNvSpPr>
          <p:nvPr>
            <p:ph type="title"/>
          </p:nvPr>
        </p:nvSpPr>
        <p:spPr>
          <a:xfrm>
            <a:off x="935476" y="23018"/>
            <a:ext cx="10515600" cy="1325563"/>
          </a:xfrm>
        </p:spPr>
        <p:txBody>
          <a:bodyPr/>
          <a:lstStyle/>
          <a:p>
            <a:endParaRPr lang="en-IN"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xmlns="" id="{EDB1D630-4137-4C79-B7A4-8CC74BD4F97B}"/>
                  </a:ext>
                </a:extLst>
              </p:cNvPr>
              <p:cNvSpPr>
                <a:spLocks noGrp="1"/>
              </p:cNvSpPr>
              <p:nvPr>
                <p:ph type="body" idx="1"/>
              </p:nvPr>
            </p:nvSpPr>
            <p:spPr>
              <a:xfrm>
                <a:off x="760256" y="1409192"/>
                <a:ext cx="10189633" cy="4763008"/>
              </a:xfrm>
            </p:spPr>
            <p:txBody>
              <a:bodyPr>
                <a:normAutofit fontScale="92500" lnSpcReduction="20000"/>
              </a:bodyPr>
              <a:lstStyle/>
              <a:p>
                <a:r>
                  <a:rPr lang="en-US" dirty="0"/>
                  <a:t>a and b paramters should be choosen such that</a:t>
                </a:r>
              </a:p>
              <a:p>
                <a:pPr marL="0" indent="0">
                  <a:buNone/>
                </a:pPr>
                <a:r>
                  <a:rPr lang="en-US" dirty="0"/>
                  <a:t>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2</m:t>
                        </m:r>
                      </m:num>
                      <m:den>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𝑎</m:t>
                            </m:r>
                          </m:e>
                        </m:d>
                        <m:r>
                          <a:rPr lang="en-US" b="0" i="1" smtClean="0">
                            <a:latin typeface="Cambria Math" panose="02040503050406030204" pitchFamily="18" charset="0"/>
                          </a:rPr>
                          <m:t>|</m:t>
                        </m:r>
                      </m:den>
                    </m:f>
                    <m:r>
                      <a:rPr lang="en-US" b="0" i="0" smtClean="0">
                        <a:latin typeface="Cambria Math" panose="02040503050406030204" pitchFamily="18" charset="0"/>
                      </a:rPr>
                      <m:t> </m:t>
                    </m:r>
                    <m:r>
                      <m:rPr>
                        <m:sty m:val="p"/>
                      </m:rPr>
                      <a:rPr lang="en-US" b="0" i="0" smtClean="0">
                        <a:latin typeface="Cambria Math" panose="02040503050406030204" pitchFamily="18" charset="0"/>
                      </a:rPr>
                      <m:t>which</m:t>
                    </m:r>
                    <m:r>
                      <a:rPr lang="en-US" b="0" i="0" smtClean="0">
                        <a:latin typeface="Cambria Math" panose="02040503050406030204" pitchFamily="18" charset="0"/>
                      </a:rPr>
                      <m:t> </m:t>
                    </m:r>
                    <m:r>
                      <m:rPr>
                        <m:sty m:val="p"/>
                      </m:rPr>
                      <a:rPr lang="en-US" b="0" i="0" smtClean="0">
                        <a:latin typeface="Cambria Math" panose="02040503050406030204" pitchFamily="18" charset="0"/>
                      </a:rPr>
                      <m:t>is</m:t>
                    </m:r>
                    <m:r>
                      <a:rPr lang="en-US" b="0" i="0" smtClean="0">
                        <a:latin typeface="Cambria Math" panose="02040503050406030204" pitchFamily="18" charset="0"/>
                      </a:rPr>
                      <m:t> </m:t>
                    </m:r>
                    <m:r>
                      <m:rPr>
                        <m:sty m:val="p"/>
                      </m:rPr>
                      <a:rPr lang="en-US" b="0" i="0" smtClean="0">
                        <a:latin typeface="Cambria Math" panose="02040503050406030204" pitchFamily="18" charset="0"/>
                      </a:rPr>
                      <m:t>the</m:t>
                    </m:r>
                    <m:r>
                      <a:rPr lang="en-US" b="0" i="0" smtClean="0">
                        <a:latin typeface="Cambria Math" panose="02040503050406030204" pitchFamily="18" charset="0"/>
                      </a:rPr>
                      <m:t> </m:t>
                    </m:r>
                    <m:r>
                      <m:rPr>
                        <m:sty m:val="p"/>
                      </m:rPr>
                      <a:rPr lang="en-US" b="0" i="0" smtClean="0">
                        <a:latin typeface="Cambria Math" panose="02040503050406030204" pitchFamily="18" charset="0"/>
                      </a:rPr>
                      <m:t>margin</m:t>
                    </m:r>
                    <m:r>
                      <a:rPr lang="en-US" b="0" i="0" smtClean="0">
                        <a:latin typeface="Cambria Math" panose="02040503050406030204" pitchFamily="18" charset="0"/>
                      </a:rPr>
                      <m:t> </m:t>
                    </m:r>
                    <m:r>
                      <m:rPr>
                        <m:sty m:val="p"/>
                      </m:rPr>
                      <a:rPr lang="en-US" b="0" i="0" smtClean="0">
                        <a:latin typeface="Cambria Math" panose="02040503050406030204" pitchFamily="18" charset="0"/>
                      </a:rPr>
                      <m:t>is</m:t>
                    </m:r>
                    <m:r>
                      <a:rPr lang="en-US" b="0" i="0" smtClean="0">
                        <a:latin typeface="Cambria Math" panose="02040503050406030204" pitchFamily="18" charset="0"/>
                      </a:rPr>
                      <m:t> </m:t>
                    </m:r>
                    <m:r>
                      <m:rPr>
                        <m:sty m:val="p"/>
                      </m:rPr>
                      <a:rPr lang="en-US" b="0" i="0" smtClean="0">
                        <a:latin typeface="Cambria Math" panose="02040503050406030204" pitchFamily="18" charset="0"/>
                      </a:rPr>
                      <m:t>maximized</m:t>
                    </m:r>
                    <m:r>
                      <a:rPr lang="en-US" b="0" i="0" smtClean="0">
                        <a:latin typeface="Cambria Math" panose="02040503050406030204" pitchFamily="18" charset="0"/>
                      </a:rPr>
                      <m:t>, </m:t>
                    </m:r>
                  </m:oMath>
                </a14:m>
                <a:endParaRPr lang="en-US" b="0" dirty="0"/>
              </a:p>
              <a:p>
                <a:endParaRPr lang="en-US" dirty="0"/>
              </a:p>
              <a:p>
                <a:pPr marL="0" indent="0">
                  <a:buNone/>
                </a:pPr>
                <a:r>
                  <a:rPr lang="en-US" b="0" dirty="0"/>
                  <a:t>Maximize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2</m:t>
                        </m:r>
                      </m:num>
                      <m:den>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𝑎</m:t>
                            </m:r>
                          </m:e>
                        </m:d>
                        <m:r>
                          <a:rPr lang="en-US" b="0" i="1" smtClean="0">
                            <a:latin typeface="Cambria Math" panose="02040503050406030204" pitchFamily="18" charset="0"/>
                          </a:rPr>
                          <m:t>|</m:t>
                        </m:r>
                      </m:den>
                    </m:f>
                  </m:oMath>
                </a14:m>
                <a:endParaRPr lang="en-US" b="0" dirty="0"/>
              </a:p>
              <a:p>
                <a:endParaRPr lang="en-IN" dirty="0"/>
              </a:p>
              <a:p>
                <a:r>
                  <a:rPr lang="en-IN" dirty="0"/>
                  <a:t>In other way it can also be written as :</a:t>
                </a:r>
              </a:p>
              <a:p>
                <a:pPr marL="0" indent="0">
                  <a:buNone/>
                </a:pPr>
                <a:r>
                  <a:rPr lang="en-IN" dirty="0"/>
                  <a:t> minimize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𝑎</m:t>
                            </m:r>
                          </m:e>
                        </m:d>
                        <m:r>
                          <a:rPr lang="en-US" b="0" i="1" smtClean="0">
                            <a:latin typeface="Cambria Math" panose="02040503050406030204" pitchFamily="18" charset="0"/>
                          </a:rPr>
                          <m:t>|</m:t>
                        </m:r>
                      </m:num>
                      <m:den>
                        <m:r>
                          <a:rPr lang="en-US" b="0" i="1" smtClean="0">
                            <a:latin typeface="Cambria Math" panose="02040503050406030204" pitchFamily="18" charset="0"/>
                          </a:rPr>
                          <m:t>2</m:t>
                        </m:r>
                      </m:den>
                    </m:f>
                    <m:r>
                      <a:rPr lang="en-US" b="0" i="0" smtClean="0">
                        <a:latin typeface="Cambria Math" panose="02040503050406030204" pitchFamily="18" charset="0"/>
                      </a:rPr>
                      <m:t> </m:t>
                    </m:r>
                  </m:oMath>
                </a14:m>
                <a:endParaRPr lang="en-IN" dirty="0"/>
              </a:p>
              <a:p>
                <a:endParaRPr lang="en-IN" dirty="0"/>
              </a:p>
              <a:p>
                <a:r>
                  <a:rPr lang="en-IN" dirty="0">
                    <a:highlight>
                      <a:srgbClr val="FFFF00"/>
                    </a:highlight>
                  </a:rPr>
                  <a:t>The final objective function or loss function for hard SVM :</a:t>
                </a:r>
              </a:p>
              <a:p>
                <a:pPr marL="0" indent="0">
                  <a:buNone/>
                </a:pPr>
                <a:r>
                  <a:rPr lang="en-IN" dirty="0"/>
                  <a:t>   min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𝑎</m:t>
                            </m:r>
                          </m:e>
                        </m:d>
                        <m:r>
                          <a:rPr lang="en-US" b="0" i="1" smtClean="0">
                            <a:latin typeface="Cambria Math" panose="02040503050406030204" pitchFamily="18" charset="0"/>
                          </a:rPr>
                          <m:t>|</m:t>
                        </m:r>
                      </m:num>
                      <m:den>
                        <m:r>
                          <a:rPr lang="en-US" b="0" i="1" smtClean="0">
                            <a:latin typeface="Cambria Math" panose="02040503050406030204" pitchFamily="18" charset="0"/>
                          </a:rPr>
                          <m:t>2</m:t>
                        </m:r>
                      </m:den>
                    </m:f>
                  </m:oMath>
                </a14:m>
                <a:endParaRPr lang="en-IN" dirty="0"/>
              </a:p>
              <a:p>
                <a:endParaRPr lang="en-IN" dirty="0"/>
              </a:p>
            </p:txBody>
          </p:sp>
        </mc:Choice>
        <mc:Fallback xmlns="">
          <p:sp>
            <p:nvSpPr>
              <p:cNvPr id="3" name="Text Placeholder 2">
                <a:extLst>
                  <a:ext uri="{FF2B5EF4-FFF2-40B4-BE49-F238E27FC236}">
                    <a16:creationId xmlns:a16="http://schemas.microsoft.com/office/drawing/2014/main" id="{EDB1D630-4137-4C79-B7A4-8CC74BD4F97B}"/>
                  </a:ext>
                </a:extLst>
              </p:cNvPr>
              <p:cNvSpPr>
                <a:spLocks noGrp="1" noRot="1" noChangeAspect="1" noMove="1" noResize="1" noEditPoints="1" noAdjustHandles="1" noChangeArrowheads="1" noChangeShapeType="1" noTextEdit="1"/>
              </p:cNvSpPr>
              <p:nvPr>
                <p:ph type="body" idx="1"/>
              </p:nvPr>
            </p:nvSpPr>
            <p:spPr>
              <a:xfrm>
                <a:off x="760256" y="1409192"/>
                <a:ext cx="10189633" cy="4763008"/>
              </a:xfrm>
              <a:blipFill>
                <a:blip r:embed="rId2"/>
                <a:stretch>
                  <a:fillRect l="-1077" t="-3197"/>
                </a:stretch>
              </a:blipFill>
            </p:spPr>
            <p:txBody>
              <a:bodyPr/>
              <a:lstStyle/>
              <a:p>
                <a:r>
                  <a:rPr lang="en-US">
                    <a:noFill/>
                  </a:rPr>
                  <a:t> </a:t>
                </a:r>
              </a:p>
            </p:txBody>
          </p:sp>
        </mc:Fallback>
      </mc:AlternateContent>
    </p:spTree>
    <p:extLst>
      <p:ext uri="{BB962C8B-B14F-4D97-AF65-F5344CB8AC3E}">
        <p14:creationId xmlns:p14="http://schemas.microsoft.com/office/powerpoint/2010/main" val="32916985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4E4A7FC-8E73-4233-9540-638A45B5A168}"/>
              </a:ext>
            </a:extLst>
          </p:cNvPr>
          <p:cNvSpPr>
            <a:spLocks noGrp="1"/>
          </p:cNvSpPr>
          <p:nvPr>
            <p:ph type="title"/>
          </p:nvPr>
        </p:nvSpPr>
        <p:spPr/>
        <p:txBody>
          <a:bodyPr/>
          <a:lstStyle/>
          <a:p>
            <a:r>
              <a:rPr lang="en-US" dirty="0"/>
              <a:t>Hard SVM and Soft SVM</a:t>
            </a:r>
            <a:endParaRPr lang="en-IN" dirty="0"/>
          </a:p>
        </p:txBody>
      </p:sp>
      <p:pic>
        <p:nvPicPr>
          <p:cNvPr id="5" name="Content Placeholder 4">
            <a:extLst>
              <a:ext uri="{FF2B5EF4-FFF2-40B4-BE49-F238E27FC236}">
                <a16:creationId xmlns:a16="http://schemas.microsoft.com/office/drawing/2014/main" xmlns="" id="{F6D65AF4-4C57-4350-B0EB-D34A4DF0D260}"/>
              </a:ext>
            </a:extLst>
          </p:cNvPr>
          <p:cNvPicPr>
            <a:picLocks noGrp="1" noChangeAspect="1"/>
          </p:cNvPicPr>
          <p:nvPr>
            <p:ph idx="1"/>
          </p:nvPr>
        </p:nvPicPr>
        <p:blipFill>
          <a:blip r:embed="rId3"/>
          <a:stretch>
            <a:fillRect/>
          </a:stretch>
        </p:blipFill>
        <p:spPr>
          <a:xfrm>
            <a:off x="838200" y="1474383"/>
            <a:ext cx="10515600" cy="3394179"/>
          </a:xfrm>
        </p:spPr>
      </p:pic>
      <p:sp>
        <p:nvSpPr>
          <p:cNvPr id="6" name="TextBox 5">
            <a:extLst>
              <a:ext uri="{FF2B5EF4-FFF2-40B4-BE49-F238E27FC236}">
                <a16:creationId xmlns:a16="http://schemas.microsoft.com/office/drawing/2014/main" xmlns="" id="{9D7B2970-0A53-4A2C-BEB4-07B733198164}"/>
              </a:ext>
            </a:extLst>
          </p:cNvPr>
          <p:cNvSpPr txBox="1"/>
          <p:nvPr/>
        </p:nvSpPr>
        <p:spPr>
          <a:xfrm>
            <a:off x="1728280" y="5282447"/>
            <a:ext cx="4367720" cy="1200329"/>
          </a:xfrm>
          <a:prstGeom prst="rect">
            <a:avLst/>
          </a:prstGeom>
          <a:noFill/>
        </p:spPr>
        <p:txBody>
          <a:bodyPr wrap="square" rtlCol="0">
            <a:spAutoFit/>
          </a:bodyPr>
          <a:lstStyle/>
          <a:p>
            <a:r>
              <a:rPr lang="en-US" b="1" dirty="0"/>
              <a:t>Can use Hard SVM</a:t>
            </a:r>
          </a:p>
          <a:p>
            <a:pPr marL="285750" indent="-285750">
              <a:buFont typeface="Arial" panose="020B0604020202020204" pitchFamily="34" charset="0"/>
              <a:buChar char="•"/>
            </a:pPr>
            <a:r>
              <a:rPr lang="en-US" dirty="0">
                <a:solidFill>
                  <a:srgbClr val="FF0000"/>
                </a:solidFill>
              </a:rPr>
              <a:t>Hard Margin: requires that all data points are classified correctly</a:t>
            </a:r>
          </a:p>
          <a:p>
            <a:pPr marL="285750" indent="-285750">
              <a:buFont typeface="Arial" panose="020B0604020202020204" pitchFamily="34" charset="0"/>
              <a:buChar char="•"/>
            </a:pPr>
            <a:r>
              <a:rPr lang="en-US" b="1" dirty="0">
                <a:solidFill>
                  <a:srgbClr val="FF0000"/>
                </a:solidFill>
              </a:rPr>
              <a:t>Sensitive to outliers</a:t>
            </a:r>
            <a:endParaRPr lang="en-IN" b="1" dirty="0">
              <a:solidFill>
                <a:srgbClr val="FF0000"/>
              </a:solidFill>
            </a:endParaRPr>
          </a:p>
        </p:txBody>
      </p:sp>
      <p:sp>
        <p:nvSpPr>
          <p:cNvPr id="7" name="TextBox 6">
            <a:extLst>
              <a:ext uri="{FF2B5EF4-FFF2-40B4-BE49-F238E27FC236}">
                <a16:creationId xmlns:a16="http://schemas.microsoft.com/office/drawing/2014/main" xmlns="" id="{DAFAB9DD-D76B-40E3-9AF9-7E7BC3ED03DB}"/>
              </a:ext>
            </a:extLst>
          </p:cNvPr>
          <p:cNvSpPr txBox="1"/>
          <p:nvPr/>
        </p:nvSpPr>
        <p:spPr>
          <a:xfrm>
            <a:off x="6833287" y="5012003"/>
            <a:ext cx="4646140" cy="1200329"/>
          </a:xfrm>
          <a:prstGeom prst="rect">
            <a:avLst/>
          </a:prstGeom>
          <a:noFill/>
        </p:spPr>
        <p:txBody>
          <a:bodyPr wrap="square" rtlCol="0">
            <a:spAutoFit/>
          </a:bodyPr>
          <a:lstStyle/>
          <a:p>
            <a:r>
              <a:rPr lang="en-US" b="1" dirty="0"/>
              <a:t>Cannot use hard SVM, use soft SVM as data of both classes is intermingled.</a:t>
            </a:r>
          </a:p>
          <a:p>
            <a:r>
              <a:rPr lang="en-US" dirty="0">
                <a:solidFill>
                  <a:srgbClr val="FF0000"/>
                </a:solidFill>
              </a:rPr>
              <a:t>Slack variables </a:t>
            </a:r>
            <a:r>
              <a:rPr lang="en-US" dirty="0" err="1">
                <a:solidFill>
                  <a:srgbClr val="FF0000"/>
                </a:solidFill>
              </a:rPr>
              <a:t>εi</a:t>
            </a:r>
            <a:r>
              <a:rPr lang="en-US" dirty="0">
                <a:solidFill>
                  <a:srgbClr val="FF0000"/>
                </a:solidFill>
              </a:rPr>
              <a:t> can be added to allow misclassification of difficult or noisy examples.</a:t>
            </a:r>
            <a:endParaRPr lang="en-IN" b="1" dirty="0">
              <a:solidFill>
                <a:srgbClr val="FF0000"/>
              </a:solidFill>
            </a:endParaRPr>
          </a:p>
        </p:txBody>
      </p:sp>
      <p:sp>
        <p:nvSpPr>
          <p:cNvPr id="3" name="TextBox 2">
            <a:extLst>
              <a:ext uri="{FF2B5EF4-FFF2-40B4-BE49-F238E27FC236}">
                <a16:creationId xmlns:a16="http://schemas.microsoft.com/office/drawing/2014/main" xmlns="" id="{F0C09F1F-8AB9-988B-8B92-221072740D06}"/>
              </a:ext>
            </a:extLst>
          </p:cNvPr>
          <p:cNvSpPr txBox="1"/>
          <p:nvPr/>
        </p:nvSpPr>
        <p:spPr>
          <a:xfrm>
            <a:off x="7096498" y="1343632"/>
            <a:ext cx="4119717" cy="369332"/>
          </a:xfrm>
          <a:prstGeom prst="rect">
            <a:avLst/>
          </a:prstGeom>
          <a:solidFill>
            <a:schemeClr val="bg1"/>
          </a:solidFill>
        </p:spPr>
        <p:txBody>
          <a:bodyPr wrap="square" rtlCol="0">
            <a:spAutoFit/>
          </a:bodyPr>
          <a:lstStyle/>
          <a:p>
            <a:r>
              <a:rPr lang="en-US" b="1" dirty="0"/>
              <a:t>Data has noise</a:t>
            </a:r>
          </a:p>
        </p:txBody>
      </p:sp>
    </p:spTree>
    <p:extLst>
      <p:ext uri="{BB962C8B-B14F-4D97-AF65-F5344CB8AC3E}">
        <p14:creationId xmlns:p14="http://schemas.microsoft.com/office/powerpoint/2010/main" val="18840663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84AD0D2-E6AA-6BAB-21B1-51E143BD038E}"/>
              </a:ext>
            </a:extLst>
          </p:cNvPr>
          <p:cNvSpPr>
            <a:spLocks noGrp="1"/>
          </p:cNvSpPr>
          <p:nvPr>
            <p:ph type="title"/>
          </p:nvPr>
        </p:nvSpPr>
        <p:spPr/>
        <p:txBody>
          <a:bodyPr/>
          <a:lstStyle/>
          <a:p>
            <a:r>
              <a:rPr lang="en-US" b="1" dirty="0"/>
              <a:t>Hard SVM (Hard-Margin SVM)</a:t>
            </a:r>
            <a:br>
              <a:rPr lang="en-US" b="1" dirty="0"/>
            </a:br>
            <a:endParaRPr lang="en-US" dirty="0"/>
          </a:p>
        </p:txBody>
      </p:sp>
      <p:sp>
        <p:nvSpPr>
          <p:cNvPr id="3" name="Content Placeholder 2">
            <a:extLst>
              <a:ext uri="{FF2B5EF4-FFF2-40B4-BE49-F238E27FC236}">
                <a16:creationId xmlns:a16="http://schemas.microsoft.com/office/drawing/2014/main" xmlns="" id="{6BC23C88-FDF6-EF86-7FB1-C7A3DD21C42A}"/>
              </a:ext>
            </a:extLst>
          </p:cNvPr>
          <p:cNvSpPr>
            <a:spLocks noGrp="1"/>
          </p:cNvSpPr>
          <p:nvPr>
            <p:ph idx="1"/>
          </p:nvPr>
        </p:nvSpPr>
        <p:spPr/>
        <p:txBody>
          <a:bodyPr>
            <a:normAutofit fontScale="77500" lnSpcReduction="20000"/>
          </a:bodyPr>
          <a:lstStyle/>
          <a:p>
            <a:pPr>
              <a:buFont typeface="Arial" panose="020B0604020202020204" pitchFamily="34" charset="0"/>
              <a:buChar char="•"/>
            </a:pPr>
            <a:r>
              <a:rPr lang="en-US" b="1" dirty="0"/>
              <a:t>Definition</a:t>
            </a:r>
            <a:r>
              <a:rPr lang="en-US" dirty="0"/>
              <a:t>: A hard-margin SVM assumes that the data is </a:t>
            </a:r>
            <a:r>
              <a:rPr lang="en-US" b="1" dirty="0"/>
              <a:t>perfectly linearly separable</a:t>
            </a:r>
            <a:r>
              <a:rPr lang="en-US" dirty="0"/>
              <a:t>, meaning that there exists a hyperplane that can separate the two classes without any misclassifications.</a:t>
            </a:r>
          </a:p>
          <a:p>
            <a:pPr>
              <a:buFont typeface="Arial" panose="020B0604020202020204" pitchFamily="34" charset="0"/>
              <a:buChar char="•"/>
            </a:pPr>
            <a:r>
              <a:rPr lang="en-US" b="1" dirty="0"/>
              <a:t>Key Idea</a:t>
            </a:r>
            <a:r>
              <a:rPr lang="en-US" dirty="0"/>
              <a:t>: The algorithm tries to find the hyperplane that maximizes the </a:t>
            </a:r>
            <a:r>
              <a:rPr lang="en-US" b="1" dirty="0"/>
              <a:t>margin</a:t>
            </a:r>
            <a:r>
              <a:rPr lang="en-US" dirty="0"/>
              <a:t> (the distance between the hyperplane and the closest data points, known as the </a:t>
            </a:r>
            <a:r>
              <a:rPr lang="en-US" b="1" dirty="0"/>
              <a:t>support vectors</a:t>
            </a:r>
            <a:r>
              <a:rPr lang="en-US" dirty="0"/>
              <a:t>) while ensuring that no data points are misclassified.</a:t>
            </a:r>
          </a:p>
          <a:p>
            <a:r>
              <a:rPr lang="en-US" b="1" dirty="0"/>
              <a:t>Characteristics:</a:t>
            </a:r>
          </a:p>
          <a:p>
            <a:pPr>
              <a:buFont typeface="Arial" panose="020B0604020202020204" pitchFamily="34" charset="0"/>
              <a:buChar char="•"/>
            </a:pPr>
            <a:r>
              <a:rPr lang="en-US" b="1" dirty="0"/>
              <a:t>Strictly Linear Separation</a:t>
            </a:r>
            <a:r>
              <a:rPr lang="en-US" dirty="0"/>
              <a:t>: All the data points must lie on the correct side of the margin (i.e., no points are allowed to fall inside the margin or be misclassified).</a:t>
            </a:r>
          </a:p>
          <a:p>
            <a:pPr>
              <a:buFont typeface="Arial" panose="020B0604020202020204" pitchFamily="34" charset="0"/>
              <a:buChar char="•"/>
            </a:pPr>
            <a:r>
              <a:rPr lang="en-US" b="1" dirty="0"/>
              <a:t>No Tolerance for Misclassifications</a:t>
            </a:r>
            <a:r>
              <a:rPr lang="en-US" dirty="0"/>
              <a:t>: There is zero tolerance for classification errors or margin violations. If the data isn't linearly separable, a hard SVM cannot be used.</a:t>
            </a:r>
          </a:p>
          <a:p>
            <a:pPr>
              <a:buFont typeface="Arial" panose="020B0604020202020204" pitchFamily="34" charset="0"/>
              <a:buChar char="•"/>
            </a:pPr>
            <a:r>
              <a:rPr lang="en-US" b="1" dirty="0"/>
              <a:t>Optimal for Clean Data</a:t>
            </a:r>
            <a:r>
              <a:rPr lang="en-US" dirty="0"/>
              <a:t>: Hard SVM works well only when the data is perfectly separable and free of noise or outliers. It fails to handle datasets with noise or overlapping classes because it tries to fit a strict linear boundary.</a:t>
            </a:r>
          </a:p>
          <a:p>
            <a:endParaRPr lang="en-US" dirty="0"/>
          </a:p>
        </p:txBody>
      </p:sp>
    </p:spTree>
    <p:extLst>
      <p:ext uri="{BB962C8B-B14F-4D97-AF65-F5344CB8AC3E}">
        <p14:creationId xmlns:p14="http://schemas.microsoft.com/office/powerpoint/2010/main" val="27169418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F0D4D4B-E62C-94AF-888F-E458BFE2006D}"/>
              </a:ext>
            </a:extLst>
          </p:cNvPr>
          <p:cNvSpPr>
            <a:spLocks noGrp="1"/>
          </p:cNvSpPr>
          <p:nvPr>
            <p:ph type="title"/>
          </p:nvPr>
        </p:nvSpPr>
        <p:spPr/>
        <p:txBody>
          <a:bodyPr/>
          <a:lstStyle/>
          <a:p>
            <a:r>
              <a:rPr lang="en-US" b="1" dirty="0"/>
              <a:t>Soft-Margin SVM</a:t>
            </a:r>
          </a:p>
        </p:txBody>
      </p:sp>
      <p:sp>
        <p:nvSpPr>
          <p:cNvPr id="3" name="Content Placeholder 2">
            <a:extLst>
              <a:ext uri="{FF2B5EF4-FFF2-40B4-BE49-F238E27FC236}">
                <a16:creationId xmlns:a16="http://schemas.microsoft.com/office/drawing/2014/main" xmlns="" id="{EB35C7CE-332E-4C3C-38C1-5C3F04B929E3}"/>
              </a:ext>
            </a:extLst>
          </p:cNvPr>
          <p:cNvSpPr>
            <a:spLocks noGrp="1"/>
          </p:cNvSpPr>
          <p:nvPr>
            <p:ph idx="1"/>
          </p:nvPr>
        </p:nvSpPr>
        <p:spPr/>
        <p:txBody>
          <a:bodyPr>
            <a:normAutofit fontScale="77500" lnSpcReduction="20000"/>
          </a:bodyPr>
          <a:lstStyle/>
          <a:p>
            <a:pPr>
              <a:buFont typeface="Arial" panose="020B0604020202020204" pitchFamily="34" charset="0"/>
              <a:buChar char="•"/>
            </a:pPr>
            <a:r>
              <a:rPr lang="en-US" b="1" dirty="0"/>
              <a:t>Definition</a:t>
            </a:r>
            <a:r>
              <a:rPr lang="en-US" dirty="0"/>
              <a:t>: A soft-margin SVM relaxes the requirement that the data must be perfectly linearly separable. It allows some data points to violate the margin or even be misclassified. The goal is to find a balance between maximizing the margin and minimizing classification errors.</a:t>
            </a:r>
          </a:p>
          <a:p>
            <a:pPr>
              <a:buFont typeface="Arial" panose="020B0604020202020204" pitchFamily="34" charset="0"/>
              <a:buChar char="•"/>
            </a:pPr>
            <a:r>
              <a:rPr lang="en-US" b="1" dirty="0"/>
              <a:t>Key Idea</a:t>
            </a:r>
            <a:r>
              <a:rPr lang="en-US" dirty="0"/>
              <a:t>: Instead of insisting that every point be classified correctly, the soft SVM introduces </a:t>
            </a:r>
            <a:r>
              <a:rPr lang="en-US" b="1" dirty="0"/>
              <a:t>slack variables</a:t>
            </a:r>
            <a:r>
              <a:rPr lang="en-US" dirty="0"/>
              <a:t> to allow some points to fall within the margin or be misclassified. This makes it more flexible in dealing with real-world data that may contain noise, overlaps, or outliers.</a:t>
            </a:r>
          </a:p>
          <a:p>
            <a:pPr>
              <a:buFont typeface="Arial" panose="020B0604020202020204" pitchFamily="34" charset="0"/>
              <a:buChar char="•"/>
            </a:pPr>
            <a:r>
              <a:rPr lang="en-US" b="1" dirty="0"/>
              <a:t>Definition</a:t>
            </a:r>
            <a:r>
              <a:rPr lang="en-US" dirty="0"/>
              <a:t>: A soft-margin SVM relaxes the requirement that the data must be perfectly linearly separable. It allows some data points to violate the margin or even be misclassified. The goal is to find a balance between maximizing the margin and minimizing classification errors.</a:t>
            </a:r>
          </a:p>
          <a:p>
            <a:pPr>
              <a:buFont typeface="Arial" panose="020B0604020202020204" pitchFamily="34" charset="0"/>
              <a:buChar char="•"/>
            </a:pPr>
            <a:r>
              <a:rPr lang="en-US" b="1" dirty="0"/>
              <a:t>Key Idea</a:t>
            </a:r>
            <a:r>
              <a:rPr lang="en-US" dirty="0"/>
              <a:t>: Instead of insisting that every point be classified correctly, the soft SVM introduces </a:t>
            </a:r>
            <a:r>
              <a:rPr lang="en-US" b="1" dirty="0"/>
              <a:t>slack variables</a:t>
            </a:r>
            <a:r>
              <a:rPr lang="en-US" dirty="0"/>
              <a:t> to allow some points to fall within the margin or be misclassified. This makes it more flexible in dealing with real-world data that may contain noise, overlaps, or outliers.</a:t>
            </a:r>
          </a:p>
          <a:p>
            <a:endParaRPr lang="en-US" dirty="0"/>
          </a:p>
        </p:txBody>
      </p:sp>
    </p:spTree>
    <p:extLst>
      <p:ext uri="{BB962C8B-B14F-4D97-AF65-F5344CB8AC3E}">
        <p14:creationId xmlns:p14="http://schemas.microsoft.com/office/powerpoint/2010/main" val="15363837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a:extLst>
              <a:ext uri="{FF2B5EF4-FFF2-40B4-BE49-F238E27FC236}">
                <a16:creationId xmlns:a16="http://schemas.microsoft.com/office/drawing/2014/main" xmlns="" id="{D9B8FD36-A2E3-41B8-AD6A-80C5A5B62D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0843" y="68827"/>
            <a:ext cx="4642338" cy="3829203"/>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a:extLst>
              <a:ext uri="{FF2B5EF4-FFF2-40B4-BE49-F238E27FC236}">
                <a16:creationId xmlns:a16="http://schemas.microsoft.com/office/drawing/2014/main" xmlns="" id="{17E0D3BC-84BA-4FC8-8441-E9B303BBA5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81367" y="353962"/>
            <a:ext cx="6063637" cy="3583858"/>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xmlns="" id="{674040DF-DC7A-4A78-97DD-22AB5A64F3AB}"/>
              </a:ext>
            </a:extLst>
          </p:cNvPr>
          <p:cNvSpPr txBox="1"/>
          <p:nvPr/>
        </p:nvSpPr>
        <p:spPr>
          <a:xfrm>
            <a:off x="464233" y="3947545"/>
            <a:ext cx="11549575" cy="2554545"/>
          </a:xfrm>
          <a:prstGeom prst="rect">
            <a:avLst/>
          </a:prstGeom>
          <a:noFill/>
        </p:spPr>
        <p:txBody>
          <a:bodyPr wrap="square">
            <a:spAutoFit/>
          </a:bodyPr>
          <a:lstStyle/>
          <a:p>
            <a:pPr algn="just"/>
            <a:r>
              <a:rPr lang="en-US" sz="2000" b="1" i="0" dirty="0">
                <a:solidFill>
                  <a:srgbClr val="111111"/>
                </a:solidFill>
                <a:effectLst/>
                <a:latin typeface="Times New Roman" panose="02020603050405020304" pitchFamily="18" charset="0"/>
                <a:cs typeface="Times New Roman" panose="02020603050405020304" pitchFamily="18" charset="0"/>
              </a:rPr>
              <a:t>Hard Margin</a:t>
            </a:r>
            <a:endParaRPr lang="en-US" sz="2000" b="0" i="0" dirty="0">
              <a:solidFill>
                <a:srgbClr val="111111"/>
              </a:solidFill>
              <a:effectLst/>
              <a:latin typeface="Times New Roman" panose="02020603050405020304" pitchFamily="18" charset="0"/>
              <a:cs typeface="Times New Roman" panose="02020603050405020304" pitchFamily="18" charset="0"/>
            </a:endParaRPr>
          </a:p>
          <a:p>
            <a:pPr algn="just"/>
            <a:r>
              <a:rPr lang="en-US" sz="2000" b="0" i="0" dirty="0">
                <a:solidFill>
                  <a:srgbClr val="111111"/>
                </a:solidFill>
                <a:effectLst/>
                <a:latin typeface="Times New Roman" panose="02020603050405020304" pitchFamily="18" charset="0"/>
                <a:cs typeface="Times New Roman" panose="02020603050405020304" pitchFamily="18" charset="0"/>
              </a:rPr>
              <a:t>If the training data is linearly separable, we can select two parallel hyperplanes that separate the two classes of data, so that the distance between them is as large as possible.</a:t>
            </a:r>
          </a:p>
          <a:p>
            <a:pPr algn="just"/>
            <a:r>
              <a:rPr lang="en-US" sz="2000" b="1" i="0" dirty="0">
                <a:solidFill>
                  <a:srgbClr val="111111"/>
                </a:solidFill>
                <a:effectLst/>
                <a:latin typeface="Times New Roman" panose="02020603050405020304" pitchFamily="18" charset="0"/>
                <a:cs typeface="Times New Roman" panose="02020603050405020304" pitchFamily="18" charset="0"/>
              </a:rPr>
              <a:t>Soft Margin</a:t>
            </a:r>
            <a:endParaRPr lang="en-US" sz="2000" b="0" i="0" dirty="0">
              <a:solidFill>
                <a:srgbClr val="111111"/>
              </a:solidFill>
              <a:effectLst/>
              <a:latin typeface="Times New Roman" panose="02020603050405020304" pitchFamily="18" charset="0"/>
              <a:cs typeface="Times New Roman" panose="02020603050405020304" pitchFamily="18" charset="0"/>
            </a:endParaRPr>
          </a:p>
          <a:p>
            <a:pPr algn="just"/>
            <a:r>
              <a:rPr lang="en-US" sz="2000" b="0" i="0" dirty="0">
                <a:solidFill>
                  <a:srgbClr val="111111"/>
                </a:solidFill>
                <a:effectLst/>
                <a:latin typeface="Times New Roman" panose="02020603050405020304" pitchFamily="18" charset="0"/>
                <a:cs typeface="Times New Roman" panose="02020603050405020304" pitchFamily="18" charset="0"/>
              </a:rPr>
              <a:t>As most of the real-world data are not fully linearly separable, we will allow some margin violation to occur, which is called soft margin classification. </a:t>
            </a:r>
          </a:p>
          <a:p>
            <a:pPr algn="just"/>
            <a:r>
              <a:rPr lang="en-US" sz="2000" b="0" i="0" dirty="0">
                <a:solidFill>
                  <a:srgbClr val="111111"/>
                </a:solidFill>
                <a:effectLst/>
                <a:latin typeface="Times New Roman" panose="02020603050405020304" pitchFamily="18" charset="0"/>
                <a:cs typeface="Times New Roman" panose="02020603050405020304" pitchFamily="18" charset="0"/>
              </a:rPr>
              <a:t>In order to find the maximal margin, we need to maximize the margin between the data points and the hyperplane.</a:t>
            </a:r>
          </a:p>
        </p:txBody>
      </p:sp>
    </p:spTree>
    <p:extLst>
      <p:ext uri="{BB962C8B-B14F-4D97-AF65-F5344CB8AC3E}">
        <p14:creationId xmlns:p14="http://schemas.microsoft.com/office/powerpoint/2010/main" val="15084798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0841DFD-CF68-4CC0-B9C4-D32A627FCFF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B677919C-EF0F-40F5-8B54-DEDB0DEA294B}"/>
              </a:ext>
            </a:extLst>
          </p:cNvPr>
          <p:cNvSpPr>
            <a:spLocks noGrp="1"/>
          </p:cNvSpPr>
          <p:nvPr>
            <p:ph idx="1"/>
          </p:nvPr>
        </p:nvSpPr>
        <p:spPr/>
        <p:txBody>
          <a:bodyPr/>
          <a:lstStyle/>
          <a:p>
            <a:r>
              <a:rPr lang="en-US" dirty="0"/>
              <a:t>Hard-margin SVMs fail if data is not linearly separable and is sensitive to outliers. The goal of hard-margin SVMs is to find a hyperplane H that maximizes the margin m. </a:t>
            </a:r>
          </a:p>
          <a:p>
            <a:r>
              <a:rPr lang="en-US" dirty="0"/>
              <a:t>Soft SVM allows few points to violate margin with slack variables.</a:t>
            </a:r>
          </a:p>
          <a:p>
            <a:r>
              <a:rPr lang="en-US" dirty="0"/>
              <a:t>A soft-margin SVM modifies the constraints from the hard-margin SVM by allowing some points to violate the margin. Soft Margin deals with noisy data and misclassifications.</a:t>
            </a:r>
          </a:p>
          <a:p>
            <a:r>
              <a:rPr lang="en-IN" dirty="0">
                <a:solidFill>
                  <a:srgbClr val="FF0000"/>
                </a:solidFill>
              </a:rPr>
              <a:t>Our objective is that we want to Maximize margin with noise using soft SVM</a:t>
            </a:r>
            <a:endParaRPr lang="en-US" dirty="0">
              <a:solidFill>
                <a:srgbClr val="FF0000"/>
              </a:solidFill>
            </a:endParaRPr>
          </a:p>
        </p:txBody>
      </p:sp>
    </p:spTree>
    <p:extLst>
      <p:ext uri="{BB962C8B-B14F-4D97-AF65-F5344CB8AC3E}">
        <p14:creationId xmlns:p14="http://schemas.microsoft.com/office/powerpoint/2010/main" val="39840343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A5C08A2-7425-4D59-BBEC-E94CDC2654E0}"/>
              </a:ext>
            </a:extLst>
          </p:cNvPr>
          <p:cNvSpPr>
            <a:spLocks noGrp="1"/>
          </p:cNvSpPr>
          <p:nvPr>
            <p:ph type="title"/>
          </p:nvPr>
        </p:nvSpPr>
        <p:spPr>
          <a:xfrm>
            <a:off x="4165600" y="381001"/>
            <a:ext cx="5769696" cy="602825"/>
          </a:xfrm>
        </p:spPr>
        <p:txBody>
          <a:bodyPr>
            <a:normAutofit fontScale="90000"/>
          </a:bodyPr>
          <a:lstStyle/>
          <a:p>
            <a:r>
              <a:rPr lang="en-US" dirty="0"/>
              <a:t>Hard SVM and Soft SVM</a:t>
            </a:r>
            <a:endParaRPr lang="en-IN" dirty="0"/>
          </a:p>
        </p:txBody>
      </p:sp>
      <p:pic>
        <p:nvPicPr>
          <p:cNvPr id="21506" name="Picture 2" descr="Math behind SVM(Support Vector Machine) | by MLMath.io | Medium">
            <a:extLst>
              <a:ext uri="{FF2B5EF4-FFF2-40B4-BE49-F238E27FC236}">
                <a16:creationId xmlns:a16="http://schemas.microsoft.com/office/drawing/2014/main" xmlns="" id="{697F666F-8E71-4DA2-AA1D-3451DC770C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9430" y="1414677"/>
            <a:ext cx="9956800" cy="5375229"/>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xmlns="" id="{2B0E8F7F-7DF5-490D-AE31-20AACEFAE5F5}"/>
                  </a:ext>
                </a:extLst>
              </p:cNvPr>
              <p:cNvSpPr txBox="1"/>
              <p:nvPr/>
            </p:nvSpPr>
            <p:spPr>
              <a:xfrm>
                <a:off x="1030051" y="5562290"/>
                <a:ext cx="2844800" cy="461665"/>
              </a:xfrm>
              <a:prstGeom prst="rect">
                <a:avLst/>
              </a:prstGeom>
              <a:noFill/>
            </p:spPr>
            <p:txBody>
              <a:bodyPr wrap="square">
                <a:spAutoFit/>
              </a:bodyPr>
              <a:lstStyle/>
              <a:p>
                <a14:m>
                  <m:oMath xmlns:m="http://schemas.openxmlformats.org/officeDocument/2006/math">
                    <m:sSub>
                      <m:sSubPr>
                        <m:ctrlPr>
                          <a:rPr lang="en-IN" sz="2400" b="1" i="1" smtClean="0">
                            <a:latin typeface="Cambria Math" panose="02040503050406030204" pitchFamily="18" charset="0"/>
                          </a:rPr>
                        </m:ctrlPr>
                      </m:sSubPr>
                      <m:e>
                        <m:r>
                          <a:rPr lang="en-US" sz="2400" b="1" i="1">
                            <a:latin typeface="Cambria Math" panose="02040503050406030204" pitchFamily="18" charset="0"/>
                          </a:rPr>
                          <m:t>𝒚</m:t>
                        </m:r>
                      </m:e>
                      <m:sub>
                        <m:r>
                          <a:rPr lang="en-US" sz="2400" b="1" i="1">
                            <a:latin typeface="Cambria Math" panose="02040503050406030204" pitchFamily="18" charset="0"/>
                          </a:rPr>
                          <m:t>𝒊</m:t>
                        </m:r>
                      </m:sub>
                    </m:sSub>
                    <m:sSub>
                      <m:sSubPr>
                        <m:ctrlPr>
                          <a:rPr lang="en-IN" sz="2400" b="1" i="1">
                            <a:latin typeface="Cambria Math" panose="02040503050406030204" pitchFamily="18" charset="0"/>
                          </a:rPr>
                        </m:ctrlPr>
                      </m:sSubPr>
                      <m:e>
                        <m:r>
                          <a:rPr lang="en-US" sz="2400" b="1" i="1">
                            <a:latin typeface="Cambria Math" panose="02040503050406030204" pitchFamily="18" charset="0"/>
                          </a:rPr>
                          <m:t>(</m:t>
                        </m:r>
                        <m:sSubSup>
                          <m:sSubSupPr>
                            <m:ctrlPr>
                              <a:rPr lang="en-US" sz="2400" b="1" i="1">
                                <a:latin typeface="Cambria Math" panose="02040503050406030204" pitchFamily="18" charset="0"/>
                              </a:rPr>
                            </m:ctrlPr>
                          </m:sSubSupPr>
                          <m:e>
                            <m:r>
                              <a:rPr lang="en-US" sz="2400" b="1" i="1">
                                <a:latin typeface="Cambria Math" panose="02040503050406030204" pitchFamily="18" charset="0"/>
                              </a:rPr>
                              <m:t>𝒂</m:t>
                            </m:r>
                          </m:e>
                          <m:sub>
                            <m:r>
                              <a:rPr lang="en-US" sz="2400" b="1" i="1">
                                <a:latin typeface="Cambria Math" panose="02040503050406030204" pitchFamily="18" charset="0"/>
                              </a:rPr>
                              <m:t>.</m:t>
                            </m:r>
                          </m:sub>
                          <m:sup>
                            <m:r>
                              <a:rPr lang="en-US" sz="2400" b="1" i="1">
                                <a:latin typeface="Cambria Math" panose="02040503050406030204" pitchFamily="18" charset="0"/>
                              </a:rPr>
                              <m:t>𝒕</m:t>
                            </m:r>
                          </m:sup>
                        </m:sSubSup>
                        <m:r>
                          <a:rPr lang="en-US" sz="2400" b="1" i="1" smtClean="0">
                            <a:latin typeface="Cambria Math" panose="02040503050406030204" pitchFamily="18" charset="0"/>
                          </a:rPr>
                          <m:t>𝑿</m:t>
                        </m:r>
                      </m:e>
                      <m:sub>
                        <m:r>
                          <a:rPr lang="en-US" sz="2400" b="1" i="1">
                            <a:latin typeface="Cambria Math" panose="02040503050406030204" pitchFamily="18" charset="0"/>
                          </a:rPr>
                          <m:t>𝒊</m:t>
                        </m:r>
                      </m:sub>
                    </m:sSub>
                  </m:oMath>
                </a14:m>
                <a:r>
                  <a:rPr lang="en-IN" sz="2400" b="1" dirty="0"/>
                  <a:t>+b)&gt;=1</a:t>
                </a:r>
              </a:p>
            </p:txBody>
          </p:sp>
        </mc:Choice>
        <mc:Fallback xmlns="">
          <p:sp>
            <p:nvSpPr>
              <p:cNvPr id="4" name="TextBox 3">
                <a:extLst>
                  <a:ext uri="{FF2B5EF4-FFF2-40B4-BE49-F238E27FC236}">
                    <a16:creationId xmlns:a16="http://schemas.microsoft.com/office/drawing/2014/main" id="{2B0E8F7F-7DF5-490D-AE31-20AACEFAE5F5}"/>
                  </a:ext>
                </a:extLst>
              </p:cNvPr>
              <p:cNvSpPr txBox="1">
                <a:spLocks noRot="1" noChangeAspect="1" noMove="1" noResize="1" noEditPoints="1" noAdjustHandles="1" noChangeArrowheads="1" noChangeShapeType="1" noTextEdit="1"/>
              </p:cNvSpPr>
              <p:nvPr/>
            </p:nvSpPr>
            <p:spPr>
              <a:xfrm>
                <a:off x="1030051" y="5562290"/>
                <a:ext cx="2844800" cy="461665"/>
              </a:xfrm>
              <a:prstGeom prst="rect">
                <a:avLst/>
              </a:prstGeom>
              <a:blipFill>
                <a:blip r:embed="rId3"/>
                <a:stretch>
                  <a:fillRect l="-857" t="-10526" b="-2894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xmlns="" id="{6D6895F3-3764-4A80-BDF1-2424E0F0F5CD}"/>
                  </a:ext>
                </a:extLst>
              </p:cNvPr>
              <p:cNvSpPr txBox="1"/>
              <p:nvPr/>
            </p:nvSpPr>
            <p:spPr>
              <a:xfrm>
                <a:off x="9230468" y="5793122"/>
                <a:ext cx="2844800" cy="461665"/>
              </a:xfrm>
              <a:prstGeom prst="rect">
                <a:avLst/>
              </a:prstGeom>
              <a:noFill/>
            </p:spPr>
            <p:txBody>
              <a:bodyPr wrap="square">
                <a:spAutoFit/>
              </a:bodyPr>
              <a:lstStyle/>
              <a:p>
                <a14:m>
                  <m:oMath xmlns:m="http://schemas.openxmlformats.org/officeDocument/2006/math">
                    <m:sSub>
                      <m:sSubPr>
                        <m:ctrlPr>
                          <a:rPr lang="en-IN" sz="2400" b="1" i="1" smtClean="0">
                            <a:latin typeface="Cambria Math" panose="02040503050406030204" pitchFamily="18" charset="0"/>
                          </a:rPr>
                        </m:ctrlPr>
                      </m:sSubPr>
                      <m:e>
                        <m:r>
                          <a:rPr lang="en-US" sz="2400" b="1" i="1">
                            <a:latin typeface="Cambria Math" panose="02040503050406030204" pitchFamily="18" charset="0"/>
                          </a:rPr>
                          <m:t>𝒚</m:t>
                        </m:r>
                      </m:e>
                      <m:sub>
                        <m:r>
                          <a:rPr lang="en-US" sz="2400" b="1" i="1">
                            <a:latin typeface="Cambria Math" panose="02040503050406030204" pitchFamily="18" charset="0"/>
                          </a:rPr>
                          <m:t>𝒊</m:t>
                        </m:r>
                      </m:sub>
                    </m:sSub>
                    <m:sSub>
                      <m:sSubPr>
                        <m:ctrlPr>
                          <a:rPr lang="en-IN" sz="2400" b="1" i="1">
                            <a:latin typeface="Cambria Math" panose="02040503050406030204" pitchFamily="18" charset="0"/>
                          </a:rPr>
                        </m:ctrlPr>
                      </m:sSubPr>
                      <m:e>
                        <m:r>
                          <a:rPr lang="en-US" sz="2400" b="1" i="1">
                            <a:latin typeface="Cambria Math" panose="02040503050406030204" pitchFamily="18" charset="0"/>
                          </a:rPr>
                          <m:t>(</m:t>
                        </m:r>
                        <m:sSubSup>
                          <m:sSubSupPr>
                            <m:ctrlPr>
                              <a:rPr lang="en-US" sz="2400" b="1" i="1">
                                <a:latin typeface="Cambria Math" panose="02040503050406030204" pitchFamily="18" charset="0"/>
                              </a:rPr>
                            </m:ctrlPr>
                          </m:sSubSupPr>
                          <m:e>
                            <m:r>
                              <a:rPr lang="en-US" sz="2400" b="1" i="1">
                                <a:latin typeface="Cambria Math" panose="02040503050406030204" pitchFamily="18" charset="0"/>
                              </a:rPr>
                              <m:t>𝒂</m:t>
                            </m:r>
                          </m:e>
                          <m:sub>
                            <m:r>
                              <a:rPr lang="en-US" sz="2400" b="1" i="1">
                                <a:latin typeface="Cambria Math" panose="02040503050406030204" pitchFamily="18" charset="0"/>
                              </a:rPr>
                              <m:t>.</m:t>
                            </m:r>
                          </m:sub>
                          <m:sup>
                            <m:r>
                              <a:rPr lang="en-US" sz="2400" b="1" i="1">
                                <a:latin typeface="Cambria Math" panose="02040503050406030204" pitchFamily="18" charset="0"/>
                              </a:rPr>
                              <m:t>𝒕</m:t>
                            </m:r>
                          </m:sup>
                        </m:sSubSup>
                        <m:r>
                          <a:rPr lang="en-US" sz="2400" b="1" i="1" smtClean="0">
                            <a:latin typeface="Cambria Math" panose="02040503050406030204" pitchFamily="18" charset="0"/>
                          </a:rPr>
                          <m:t>𝑿</m:t>
                        </m:r>
                      </m:e>
                      <m:sub>
                        <m:r>
                          <a:rPr lang="en-US" sz="2400" b="1" i="1">
                            <a:latin typeface="Cambria Math" panose="02040503050406030204" pitchFamily="18" charset="0"/>
                          </a:rPr>
                          <m:t>𝒊</m:t>
                        </m:r>
                      </m:sub>
                    </m:sSub>
                  </m:oMath>
                </a14:m>
                <a:r>
                  <a:rPr lang="en-IN" sz="2400" b="1" dirty="0"/>
                  <a:t>+b)&gt;=1-</a:t>
                </a:r>
                <a:r>
                  <a:rPr lang="en-IN" sz="2400" dirty="0"/>
                  <a:t> </a:t>
                </a:r>
                <a14:m>
                  <m:oMath xmlns:m="http://schemas.openxmlformats.org/officeDocument/2006/math">
                    <m:sSub>
                      <m:sSubPr>
                        <m:ctrlPr>
                          <a:rPr lang="en-IN" sz="2400" i="1">
                            <a:latin typeface="Cambria Math" panose="02040503050406030204" pitchFamily="18" charset="0"/>
                          </a:rPr>
                        </m:ctrlPr>
                      </m:sSubPr>
                      <m:e>
                        <m:r>
                          <a:rPr lang="en-IN" sz="2400" i="1">
                            <a:latin typeface="Cambria Math" panose="02040503050406030204" pitchFamily="18" charset="0"/>
                          </a:rPr>
                          <m:t>𝞷</m:t>
                        </m:r>
                      </m:e>
                      <m:sub>
                        <m:r>
                          <a:rPr lang="en-US" sz="2400" i="1">
                            <a:latin typeface="Cambria Math" panose="02040503050406030204" pitchFamily="18" charset="0"/>
                          </a:rPr>
                          <m:t>𝑖</m:t>
                        </m:r>
                      </m:sub>
                    </m:sSub>
                  </m:oMath>
                </a14:m>
                <a:endParaRPr lang="en-IN" sz="2400" b="1" dirty="0"/>
              </a:p>
            </p:txBody>
          </p:sp>
        </mc:Choice>
        <mc:Fallback xmlns="">
          <p:sp>
            <p:nvSpPr>
              <p:cNvPr id="5" name="TextBox 4">
                <a:extLst>
                  <a:ext uri="{FF2B5EF4-FFF2-40B4-BE49-F238E27FC236}">
                    <a16:creationId xmlns:a16="http://schemas.microsoft.com/office/drawing/2014/main" id="{6D6895F3-3764-4A80-BDF1-2424E0F0F5CD}"/>
                  </a:ext>
                </a:extLst>
              </p:cNvPr>
              <p:cNvSpPr txBox="1">
                <a:spLocks noRot="1" noChangeAspect="1" noMove="1" noResize="1" noEditPoints="1" noAdjustHandles="1" noChangeArrowheads="1" noChangeShapeType="1" noTextEdit="1"/>
              </p:cNvSpPr>
              <p:nvPr/>
            </p:nvSpPr>
            <p:spPr>
              <a:xfrm>
                <a:off x="9230468" y="5793122"/>
                <a:ext cx="2844800" cy="461665"/>
              </a:xfrm>
              <a:prstGeom prst="rect">
                <a:avLst/>
              </a:prstGeom>
              <a:blipFill>
                <a:blip r:embed="rId4"/>
                <a:stretch>
                  <a:fillRect l="-642" t="-10526" b="-28947"/>
                </a:stretch>
              </a:blipFill>
            </p:spPr>
            <p:txBody>
              <a:bodyPr/>
              <a:lstStyle/>
              <a:p>
                <a:r>
                  <a:rPr lang="en-IN">
                    <a:noFill/>
                  </a:rPr>
                  <a:t> </a:t>
                </a:r>
              </a:p>
            </p:txBody>
          </p:sp>
        </mc:Fallback>
      </mc:AlternateContent>
      <p:sp>
        <p:nvSpPr>
          <p:cNvPr id="9" name="TextBox 8">
            <a:extLst>
              <a:ext uri="{FF2B5EF4-FFF2-40B4-BE49-F238E27FC236}">
                <a16:creationId xmlns:a16="http://schemas.microsoft.com/office/drawing/2014/main" xmlns="" id="{DF7C7A70-7127-4B02-99F0-53137A64A2EC}"/>
              </a:ext>
            </a:extLst>
          </p:cNvPr>
          <p:cNvSpPr txBox="1"/>
          <p:nvPr/>
        </p:nvSpPr>
        <p:spPr>
          <a:xfrm>
            <a:off x="7658101" y="3917625"/>
            <a:ext cx="695067" cy="369332"/>
          </a:xfrm>
          <a:prstGeom prst="rect">
            <a:avLst/>
          </a:prstGeom>
          <a:noFill/>
        </p:spPr>
        <p:txBody>
          <a:bodyPr wrap="square">
            <a:spAutoFit/>
          </a:bodyPr>
          <a:lstStyle/>
          <a:p>
            <a:r>
              <a:rPr lang="en-IN" dirty="0"/>
              <a:t>𝞷_1</a:t>
            </a:r>
          </a:p>
        </p:txBody>
      </p:sp>
      <p:sp>
        <p:nvSpPr>
          <p:cNvPr id="10" name="TextBox 9">
            <a:extLst>
              <a:ext uri="{FF2B5EF4-FFF2-40B4-BE49-F238E27FC236}">
                <a16:creationId xmlns:a16="http://schemas.microsoft.com/office/drawing/2014/main" xmlns="" id="{3C97ED60-6EA1-4D4A-AC4E-F8561A0E12A3}"/>
              </a:ext>
            </a:extLst>
          </p:cNvPr>
          <p:cNvSpPr txBox="1"/>
          <p:nvPr/>
        </p:nvSpPr>
        <p:spPr>
          <a:xfrm>
            <a:off x="8402595" y="3244334"/>
            <a:ext cx="695067" cy="369332"/>
          </a:xfrm>
          <a:prstGeom prst="rect">
            <a:avLst/>
          </a:prstGeom>
          <a:noFill/>
        </p:spPr>
        <p:txBody>
          <a:bodyPr wrap="square">
            <a:spAutoFit/>
          </a:bodyPr>
          <a:lstStyle/>
          <a:p>
            <a:r>
              <a:rPr lang="en-IN" dirty="0"/>
              <a:t>𝞷_2</a:t>
            </a:r>
          </a:p>
        </p:txBody>
      </p:sp>
      <p:sp>
        <p:nvSpPr>
          <p:cNvPr id="11" name="TextBox 10">
            <a:extLst>
              <a:ext uri="{FF2B5EF4-FFF2-40B4-BE49-F238E27FC236}">
                <a16:creationId xmlns:a16="http://schemas.microsoft.com/office/drawing/2014/main" xmlns="" id="{61C80FF5-C949-4CCA-8EF9-32A93F93A2A9}"/>
              </a:ext>
            </a:extLst>
          </p:cNvPr>
          <p:cNvSpPr txBox="1"/>
          <p:nvPr/>
        </p:nvSpPr>
        <p:spPr>
          <a:xfrm>
            <a:off x="8750128" y="3754755"/>
            <a:ext cx="695067" cy="369332"/>
          </a:xfrm>
          <a:prstGeom prst="rect">
            <a:avLst/>
          </a:prstGeom>
          <a:noFill/>
        </p:spPr>
        <p:txBody>
          <a:bodyPr wrap="square">
            <a:spAutoFit/>
          </a:bodyPr>
          <a:lstStyle/>
          <a:p>
            <a:r>
              <a:rPr lang="en-IN" dirty="0"/>
              <a:t>𝞷_3</a:t>
            </a:r>
          </a:p>
        </p:txBody>
      </p:sp>
      <p:sp>
        <p:nvSpPr>
          <p:cNvPr id="12" name="TextBox 11">
            <a:extLst>
              <a:ext uri="{FF2B5EF4-FFF2-40B4-BE49-F238E27FC236}">
                <a16:creationId xmlns:a16="http://schemas.microsoft.com/office/drawing/2014/main" xmlns="" id="{F0C95066-85D7-4E31-94AC-F099D71099CD}"/>
              </a:ext>
            </a:extLst>
          </p:cNvPr>
          <p:cNvSpPr txBox="1"/>
          <p:nvPr/>
        </p:nvSpPr>
        <p:spPr>
          <a:xfrm>
            <a:off x="9730430" y="2652861"/>
            <a:ext cx="695067" cy="369332"/>
          </a:xfrm>
          <a:prstGeom prst="rect">
            <a:avLst/>
          </a:prstGeom>
          <a:noFill/>
        </p:spPr>
        <p:txBody>
          <a:bodyPr wrap="square">
            <a:spAutoFit/>
          </a:bodyPr>
          <a:lstStyle/>
          <a:p>
            <a:r>
              <a:rPr lang="en-IN" dirty="0"/>
              <a:t>𝞷_4</a:t>
            </a:r>
          </a:p>
        </p:txBody>
      </p:sp>
      <p:pic>
        <p:nvPicPr>
          <p:cNvPr id="6" name="Picture 5">
            <a:extLst>
              <a:ext uri="{FF2B5EF4-FFF2-40B4-BE49-F238E27FC236}">
                <a16:creationId xmlns:a16="http://schemas.microsoft.com/office/drawing/2014/main" xmlns="" id="{CAEA3973-DAB2-4272-A9E6-1DDAC376640C}"/>
              </a:ext>
            </a:extLst>
          </p:cNvPr>
          <p:cNvPicPr>
            <a:picLocks noChangeAspect="1"/>
          </p:cNvPicPr>
          <p:nvPr/>
        </p:nvPicPr>
        <p:blipFill>
          <a:blip r:embed="rId5"/>
          <a:stretch>
            <a:fillRect/>
          </a:stretch>
        </p:blipFill>
        <p:spPr>
          <a:xfrm>
            <a:off x="408030" y="804202"/>
            <a:ext cx="11029950" cy="476250"/>
          </a:xfrm>
          <a:prstGeom prst="rect">
            <a:avLst/>
          </a:prstGeom>
        </p:spPr>
      </p:pic>
    </p:spTree>
    <p:extLst>
      <p:ext uri="{BB962C8B-B14F-4D97-AF65-F5344CB8AC3E}">
        <p14:creationId xmlns:p14="http://schemas.microsoft.com/office/powerpoint/2010/main" val="1664366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D6C7DDE-DF87-4008-A170-1FE0FF7401EA}"/>
              </a:ext>
            </a:extLst>
          </p:cNvPr>
          <p:cNvSpPr>
            <a:spLocks noGrp="1"/>
          </p:cNvSpPr>
          <p:nvPr>
            <p:ph type="title"/>
          </p:nvPr>
        </p:nvSpPr>
        <p:spPr>
          <a:xfrm>
            <a:off x="935476" y="23018"/>
            <a:ext cx="10515600" cy="1325563"/>
          </a:xfrm>
        </p:spPr>
        <p:txBody>
          <a:bodyPr/>
          <a:lstStyle/>
          <a:p>
            <a:endParaRPr lang="en-IN"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xmlns="" id="{EDB1D630-4137-4C79-B7A4-8CC74BD4F97B}"/>
                  </a:ext>
                </a:extLst>
              </p:cNvPr>
              <p:cNvSpPr>
                <a:spLocks noGrp="1"/>
              </p:cNvSpPr>
              <p:nvPr>
                <p:ph type="body" idx="1"/>
              </p:nvPr>
            </p:nvSpPr>
            <p:spPr>
              <a:xfrm>
                <a:off x="809418" y="1684496"/>
                <a:ext cx="10189633" cy="4763008"/>
              </a:xfrm>
            </p:spPr>
            <p:txBody>
              <a:bodyPr>
                <a:normAutofit/>
              </a:bodyPr>
              <a:lstStyle/>
              <a:p>
                <a:endParaRPr lang="en-IN" dirty="0"/>
              </a:p>
              <a:p>
                <a:r>
                  <a:rPr lang="en-IN" dirty="0">
                    <a:highlight>
                      <a:srgbClr val="FFFF00"/>
                    </a:highlight>
                  </a:rPr>
                  <a:t>The final objective function or loss function is  (for soft SVM):</a:t>
                </a:r>
              </a:p>
              <a:p>
                <a:pPr marL="0" indent="0">
                  <a:buNone/>
                </a:pPr>
                <a:r>
                  <a:rPr lang="en-IN" dirty="0"/>
                  <a:t>   min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𝑎</m:t>
                            </m:r>
                          </m:e>
                        </m:d>
                        <m:r>
                          <a:rPr lang="en-US" b="0" i="1" smtClean="0">
                            <a:latin typeface="Cambria Math" panose="02040503050406030204" pitchFamily="18" charset="0"/>
                          </a:rPr>
                          <m:t>|</m:t>
                        </m:r>
                      </m:num>
                      <m:den>
                        <m:r>
                          <a:rPr lang="en-US" b="0" i="1" smtClean="0">
                            <a:latin typeface="Cambria Math" panose="02040503050406030204" pitchFamily="18" charset="0"/>
                          </a:rPr>
                          <m:t>2</m:t>
                        </m:r>
                      </m:den>
                    </m:f>
                    <m:r>
                      <a:rPr lang="en-US" b="0" i="0" smtClean="0">
                        <a:latin typeface="Cambria Math" panose="02040503050406030204" pitchFamily="18" charset="0"/>
                      </a:rPr>
                      <m:t> </m:t>
                    </m:r>
                  </m:oMath>
                </a14:m>
                <a:r>
                  <a:rPr lang="en-IN" dirty="0"/>
                  <a:t>+ </a:t>
                </a:r>
                <a14:m>
                  <m:oMath xmlns:m="http://schemas.openxmlformats.org/officeDocument/2006/math">
                    <m:sSub>
                      <m:sSubPr>
                        <m:ctrlPr>
                          <a:rPr lang="en-IN"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𝑖</m:t>
                        </m:r>
                      </m:sub>
                    </m:sSub>
                    <m:nary>
                      <m:naryPr>
                        <m:chr m:val="∑"/>
                        <m:ctrlPr>
                          <a:rPr lang="en-IN" i="1" smtClean="0">
                            <a:latin typeface="Cambria Math" panose="02040503050406030204" pitchFamily="18" charset="0"/>
                          </a:rPr>
                        </m:ctrlPr>
                      </m:naryPr>
                      <m:sub>
                        <m:r>
                          <m:rPr>
                            <m:brk m:alnAt="23"/>
                          </m:rPr>
                          <a:rPr lang="en-US" b="0" i="1" smtClean="0">
                            <a:latin typeface="Cambria Math" panose="02040503050406030204" pitchFamily="18" charset="0"/>
                          </a:rPr>
                          <m:t>𝑖</m:t>
                        </m:r>
                      </m:sub>
                      <m:sup>
                        <m:r>
                          <a:rPr lang="en-US" b="0" i="1" smtClean="0">
                            <a:latin typeface="Cambria Math" panose="02040503050406030204" pitchFamily="18" charset="0"/>
                          </a:rPr>
                          <m:t>𝑁</m:t>
                        </m:r>
                      </m:sup>
                      <m:e>
                        <m:sSub>
                          <m:sSubPr>
                            <m:ctrlPr>
                              <a:rPr lang="en-IN" i="1" smtClean="0">
                                <a:latin typeface="Cambria Math" panose="02040503050406030204" pitchFamily="18" charset="0"/>
                              </a:rPr>
                            </m:ctrlPr>
                          </m:sSubPr>
                          <m:e>
                            <m:r>
                              <a:rPr lang="en-IN" i="1" smtClean="0">
                                <a:latin typeface="Cambria Math" panose="02040503050406030204" pitchFamily="18" charset="0"/>
                              </a:rPr>
                              <m:t>𝞷</m:t>
                            </m:r>
                          </m:e>
                          <m:sub>
                            <m:r>
                              <a:rPr lang="en-US" b="0" i="1" smtClean="0">
                                <a:latin typeface="Cambria Math" panose="02040503050406030204" pitchFamily="18" charset="0"/>
                              </a:rPr>
                              <m:t>𝑖</m:t>
                            </m:r>
                          </m:sub>
                        </m:sSub>
                      </m:e>
                    </m:nary>
                  </m:oMath>
                </a14:m>
                <a:endParaRPr lang="en-IN" dirty="0"/>
              </a:p>
              <a:p>
                <a:endParaRPr lang="en-IN" dirty="0"/>
              </a:p>
            </p:txBody>
          </p:sp>
        </mc:Choice>
        <mc:Fallback xmlns="">
          <p:sp>
            <p:nvSpPr>
              <p:cNvPr id="3" name="Text Placeholder 2">
                <a:extLst>
                  <a:ext uri="{FF2B5EF4-FFF2-40B4-BE49-F238E27FC236}">
                    <a16:creationId xmlns:a16="http://schemas.microsoft.com/office/drawing/2014/main" id="{EDB1D630-4137-4C79-B7A4-8CC74BD4F97B}"/>
                  </a:ext>
                </a:extLst>
              </p:cNvPr>
              <p:cNvSpPr>
                <a:spLocks noGrp="1" noRot="1" noChangeAspect="1" noMove="1" noResize="1" noEditPoints="1" noAdjustHandles="1" noChangeArrowheads="1" noChangeShapeType="1" noTextEdit="1"/>
              </p:cNvSpPr>
              <p:nvPr>
                <p:ph type="body" idx="1"/>
              </p:nvPr>
            </p:nvSpPr>
            <p:spPr>
              <a:xfrm>
                <a:off x="809418" y="1684496"/>
                <a:ext cx="10189633" cy="4763008"/>
              </a:xfrm>
              <a:blipFill>
                <a:blip r:embed="rId2"/>
                <a:stretch>
                  <a:fillRect l="-10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xmlns="" id="{BD92E1FF-858D-4E82-AC20-A5A3B3E5E752}"/>
                  </a:ext>
                </a:extLst>
              </p:cNvPr>
              <p:cNvSpPr txBox="1"/>
              <p:nvPr/>
            </p:nvSpPr>
            <p:spPr>
              <a:xfrm>
                <a:off x="6756600" y="3004176"/>
                <a:ext cx="3545264" cy="1938992"/>
              </a:xfrm>
              <a:prstGeom prst="rect">
                <a:avLst/>
              </a:prstGeom>
              <a:noFill/>
            </p:spPr>
            <p:txBody>
              <a:bodyPr wrap="square" rtlCol="0">
                <a:spAutoFit/>
              </a:bodyPr>
              <a:lstStyle/>
              <a:p>
                <a14:m>
                  <m:oMath xmlns:m="http://schemas.openxmlformats.org/officeDocument/2006/math">
                    <m:sSub>
                      <m:sSubPr>
                        <m:ctrlPr>
                          <a:rPr lang="en-IN" sz="2400" b="1" i="1">
                            <a:latin typeface="Cambria Math" panose="02040503050406030204" pitchFamily="18" charset="0"/>
                          </a:rPr>
                        </m:ctrlPr>
                      </m:sSubPr>
                      <m:e>
                        <m:r>
                          <a:rPr lang="en-US" sz="2400" b="1" i="1">
                            <a:latin typeface="Cambria Math" panose="02040503050406030204" pitchFamily="18" charset="0"/>
                          </a:rPr>
                          <m:t>𝑪</m:t>
                        </m:r>
                      </m:e>
                      <m:sub>
                        <m:r>
                          <a:rPr lang="en-US" sz="2400" b="1" i="1">
                            <a:latin typeface="Cambria Math" panose="02040503050406030204" pitchFamily="18" charset="0"/>
                          </a:rPr>
                          <m:t>𝒊</m:t>
                        </m:r>
                      </m:sub>
                    </m:sSub>
                    <m:r>
                      <a:rPr lang="en-US" sz="2400" b="1" i="1">
                        <a:latin typeface="Cambria Math" panose="02040503050406030204" pitchFamily="18" charset="0"/>
                      </a:rPr>
                      <m:t> </m:t>
                    </m:r>
                  </m:oMath>
                </a14:m>
                <a:r>
                  <a:rPr lang="en-US" sz="2400" dirty="0"/>
                  <a:t>-How many errors the model can consider, or number of misclassifications </a:t>
                </a:r>
              </a:p>
              <a:p>
                <a14:m>
                  <m:oMath xmlns:m="http://schemas.openxmlformats.org/officeDocument/2006/math">
                    <m:sSub>
                      <m:sSubPr>
                        <m:ctrlPr>
                          <a:rPr lang="en-IN" sz="2400" i="1">
                            <a:latin typeface="Cambria Math" panose="02040503050406030204" pitchFamily="18" charset="0"/>
                          </a:rPr>
                        </m:ctrlPr>
                      </m:sSubPr>
                      <m:e>
                        <m:r>
                          <a:rPr lang="en-IN" sz="2400" i="1">
                            <a:latin typeface="Cambria Math" panose="02040503050406030204" pitchFamily="18" charset="0"/>
                          </a:rPr>
                          <m:t>𝞷</m:t>
                        </m:r>
                      </m:e>
                      <m:sub>
                        <m:r>
                          <a:rPr lang="en-US" sz="2400" i="1">
                            <a:latin typeface="Cambria Math" panose="02040503050406030204" pitchFamily="18" charset="0"/>
                          </a:rPr>
                          <m:t>𝑖</m:t>
                        </m:r>
                      </m:sub>
                    </m:sSub>
                  </m:oMath>
                </a14:m>
                <a:r>
                  <a:rPr lang="en-US" sz="2400" dirty="0"/>
                  <a:t> is the value of errors </a:t>
                </a:r>
                <a:endParaRPr lang="en-IN" sz="2400" dirty="0"/>
              </a:p>
            </p:txBody>
          </p:sp>
        </mc:Choice>
        <mc:Fallback xmlns="">
          <p:sp>
            <p:nvSpPr>
              <p:cNvPr id="4" name="TextBox 3">
                <a:extLst>
                  <a:ext uri="{FF2B5EF4-FFF2-40B4-BE49-F238E27FC236}">
                    <a16:creationId xmlns:a16="http://schemas.microsoft.com/office/drawing/2014/main" id="{BD92E1FF-858D-4E82-AC20-A5A3B3E5E752}"/>
                  </a:ext>
                </a:extLst>
              </p:cNvPr>
              <p:cNvSpPr txBox="1">
                <a:spLocks noRot="1" noChangeAspect="1" noMove="1" noResize="1" noEditPoints="1" noAdjustHandles="1" noChangeArrowheads="1" noChangeShapeType="1" noTextEdit="1"/>
              </p:cNvSpPr>
              <p:nvPr/>
            </p:nvSpPr>
            <p:spPr>
              <a:xfrm>
                <a:off x="6756600" y="3004176"/>
                <a:ext cx="3545264" cy="1938992"/>
              </a:xfrm>
              <a:prstGeom prst="rect">
                <a:avLst/>
              </a:prstGeom>
              <a:blipFill>
                <a:blip r:embed="rId3"/>
                <a:stretch>
                  <a:fillRect l="-2577" t="-2516" b="-6289"/>
                </a:stretch>
              </a:blipFill>
            </p:spPr>
            <p:txBody>
              <a:bodyPr/>
              <a:lstStyle/>
              <a:p>
                <a:r>
                  <a:rPr lang="en-IN">
                    <a:noFill/>
                  </a:rPr>
                  <a:t> </a:t>
                </a:r>
              </a:p>
            </p:txBody>
          </p:sp>
        </mc:Fallback>
      </mc:AlternateContent>
    </p:spTree>
    <p:extLst>
      <p:ext uri="{BB962C8B-B14F-4D97-AF65-F5344CB8AC3E}">
        <p14:creationId xmlns:p14="http://schemas.microsoft.com/office/powerpoint/2010/main" val="86496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BDF961D-2BAA-0752-88A0-B1B00DA8DF95}"/>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xmlns="" id="{79B1F159-7013-480B-184D-AA28C9C95A3C}"/>
              </a:ext>
            </a:extLst>
          </p:cNvPr>
          <p:cNvPicPr>
            <a:picLocks noGrp="1" noChangeAspect="1"/>
          </p:cNvPicPr>
          <p:nvPr>
            <p:ph idx="1"/>
          </p:nvPr>
        </p:nvPicPr>
        <p:blipFill>
          <a:blip r:embed="rId2"/>
          <a:stretch>
            <a:fillRect/>
          </a:stretch>
        </p:blipFill>
        <p:spPr>
          <a:xfrm>
            <a:off x="1213808" y="1393005"/>
            <a:ext cx="6256740" cy="4732492"/>
          </a:xfrm>
        </p:spPr>
      </p:pic>
      <p:pic>
        <p:nvPicPr>
          <p:cNvPr id="7" name="Picture 6">
            <a:extLst>
              <a:ext uri="{FF2B5EF4-FFF2-40B4-BE49-F238E27FC236}">
                <a16:creationId xmlns:a16="http://schemas.microsoft.com/office/drawing/2014/main" xmlns="" id="{38AF1C4D-7586-3F52-6CED-FE4663226AD3}"/>
              </a:ext>
            </a:extLst>
          </p:cNvPr>
          <p:cNvPicPr>
            <a:picLocks noChangeAspect="1"/>
          </p:cNvPicPr>
          <p:nvPr/>
        </p:nvPicPr>
        <p:blipFill>
          <a:blip r:embed="rId3"/>
          <a:stretch>
            <a:fillRect/>
          </a:stretch>
        </p:blipFill>
        <p:spPr>
          <a:xfrm>
            <a:off x="8905202" y="3090973"/>
            <a:ext cx="2758679" cy="990686"/>
          </a:xfrm>
          <a:prstGeom prst="rect">
            <a:avLst/>
          </a:prstGeom>
        </p:spPr>
      </p:pic>
    </p:spTree>
    <p:extLst>
      <p:ext uri="{BB962C8B-B14F-4D97-AF65-F5344CB8AC3E}">
        <p14:creationId xmlns:p14="http://schemas.microsoft.com/office/powerpoint/2010/main" val="26583859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5A78072-3C16-F229-63B9-FF3BDA4142DA}"/>
              </a:ext>
            </a:extLst>
          </p:cNvPr>
          <p:cNvSpPr>
            <a:spLocks noGrp="1"/>
          </p:cNvSpPr>
          <p:nvPr>
            <p:ph type="title"/>
          </p:nvPr>
        </p:nvSpPr>
        <p:spPr/>
        <p:txBody>
          <a:bodyPr/>
          <a:lstStyle/>
          <a:p>
            <a:r>
              <a:rPr lang="en-US" dirty="0"/>
              <a:t>Dual formulation</a:t>
            </a:r>
          </a:p>
        </p:txBody>
      </p:sp>
      <p:sp>
        <p:nvSpPr>
          <p:cNvPr id="7" name="Content Placeholder 6">
            <a:extLst>
              <a:ext uri="{FF2B5EF4-FFF2-40B4-BE49-F238E27FC236}">
                <a16:creationId xmlns:a16="http://schemas.microsoft.com/office/drawing/2014/main" xmlns="" id="{96840738-BE9C-9A19-559D-2CF94EF48210}"/>
              </a:ext>
            </a:extLst>
          </p:cNvPr>
          <p:cNvSpPr>
            <a:spLocks noGrp="1"/>
          </p:cNvSpPr>
          <p:nvPr>
            <p:ph idx="1"/>
          </p:nvPr>
        </p:nvSpPr>
        <p:spPr/>
        <p:txBody>
          <a:bodyPr/>
          <a:lstStyle/>
          <a:p>
            <a:endParaRPr lang="en-US"/>
          </a:p>
        </p:txBody>
      </p:sp>
      <p:pic>
        <p:nvPicPr>
          <p:cNvPr id="9" name="Picture 8">
            <a:extLst>
              <a:ext uri="{FF2B5EF4-FFF2-40B4-BE49-F238E27FC236}">
                <a16:creationId xmlns:a16="http://schemas.microsoft.com/office/drawing/2014/main" xmlns="" id="{FDBBA56B-B5BE-6BD4-8E05-8AB1F1E5FB0A}"/>
              </a:ext>
            </a:extLst>
          </p:cNvPr>
          <p:cNvPicPr>
            <a:picLocks noChangeAspect="1"/>
          </p:cNvPicPr>
          <p:nvPr/>
        </p:nvPicPr>
        <p:blipFill>
          <a:blip r:embed="rId2"/>
          <a:stretch>
            <a:fillRect/>
          </a:stretch>
        </p:blipFill>
        <p:spPr>
          <a:xfrm>
            <a:off x="2468565" y="1513975"/>
            <a:ext cx="7254869" cy="4419983"/>
          </a:xfrm>
          <a:prstGeom prst="rect">
            <a:avLst/>
          </a:prstGeom>
        </p:spPr>
      </p:pic>
    </p:spTree>
    <p:extLst>
      <p:ext uri="{BB962C8B-B14F-4D97-AF65-F5344CB8AC3E}">
        <p14:creationId xmlns:p14="http://schemas.microsoft.com/office/powerpoint/2010/main" val="26618762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461D382-0731-14DC-D5A8-774C153ACD03}"/>
              </a:ext>
            </a:extLst>
          </p:cNvPr>
          <p:cNvSpPr>
            <a:spLocks noGrp="1"/>
          </p:cNvSpPr>
          <p:nvPr>
            <p:ph type="title"/>
          </p:nvPr>
        </p:nvSpPr>
        <p:spPr/>
        <p:txBody>
          <a:bodyPr/>
          <a:lstStyle/>
          <a:p>
            <a:r>
              <a:rPr lang="en-US" b="1" dirty="0"/>
              <a:t>Summary of Key Concepts:</a:t>
            </a:r>
            <a:br>
              <a:rPr lang="en-US" b="1" dirty="0"/>
            </a:br>
            <a:endParaRPr lang="en-US" dirty="0"/>
          </a:p>
        </p:txBody>
      </p:sp>
      <p:sp>
        <p:nvSpPr>
          <p:cNvPr id="3" name="Content Placeholder 2">
            <a:extLst>
              <a:ext uri="{FF2B5EF4-FFF2-40B4-BE49-F238E27FC236}">
                <a16:creationId xmlns:a16="http://schemas.microsoft.com/office/drawing/2014/main" xmlns="" id="{12784D83-7AB3-F65E-E9C7-49C1580B2979}"/>
              </a:ext>
            </a:extLst>
          </p:cNvPr>
          <p:cNvSpPr>
            <a:spLocks noGrp="1"/>
          </p:cNvSpPr>
          <p:nvPr>
            <p:ph idx="1"/>
          </p:nvPr>
        </p:nvSpPr>
        <p:spPr/>
        <p:txBody>
          <a:bodyPr>
            <a:normAutofit/>
          </a:bodyPr>
          <a:lstStyle/>
          <a:p>
            <a:pPr>
              <a:buFont typeface="Arial" panose="020B0604020202020204" pitchFamily="34" charset="0"/>
              <a:buChar char="•"/>
            </a:pPr>
            <a:r>
              <a:rPr lang="en-US" b="1" dirty="0"/>
              <a:t>Margin Maximization</a:t>
            </a:r>
            <a:r>
              <a:rPr lang="en-US" dirty="0"/>
              <a:t>: Maximizes the separation between classes.</a:t>
            </a:r>
          </a:p>
          <a:p>
            <a:pPr>
              <a:buFont typeface="Arial" panose="020B0604020202020204" pitchFamily="34" charset="0"/>
              <a:buChar char="•"/>
            </a:pPr>
            <a:r>
              <a:rPr lang="en-US" b="1" dirty="0"/>
              <a:t>Support Vectors</a:t>
            </a:r>
            <a:r>
              <a:rPr lang="en-US" dirty="0"/>
              <a:t>: Key data points that define the decision boundary.</a:t>
            </a:r>
          </a:p>
          <a:p>
            <a:pPr>
              <a:buFont typeface="Arial" panose="020B0604020202020204" pitchFamily="34" charset="0"/>
              <a:buChar char="•"/>
            </a:pPr>
            <a:r>
              <a:rPr lang="en-US" b="1" dirty="0"/>
              <a:t>Kernel Trick</a:t>
            </a:r>
            <a:r>
              <a:rPr lang="en-US" dirty="0"/>
              <a:t>: Allows non-linear data to be separated by mapping it to a higher-dimensional space.</a:t>
            </a:r>
          </a:p>
          <a:p>
            <a:pPr>
              <a:buFont typeface="Arial" panose="020B0604020202020204" pitchFamily="34" charset="0"/>
              <a:buChar char="•"/>
            </a:pPr>
            <a:r>
              <a:rPr lang="en-US" b="1" dirty="0"/>
              <a:t>Effective in High Dimensions</a:t>
            </a:r>
            <a:r>
              <a:rPr lang="en-US" dirty="0"/>
              <a:t>: Handles datasets with a large number of features well.</a:t>
            </a:r>
          </a:p>
          <a:p>
            <a:pPr>
              <a:buFont typeface="Arial" panose="020B0604020202020204" pitchFamily="34" charset="0"/>
              <a:buChar char="•"/>
            </a:pPr>
            <a:r>
              <a:rPr lang="en-US" b="1" dirty="0"/>
              <a:t>Soft Margin</a:t>
            </a:r>
            <a:r>
              <a:rPr lang="en-US" dirty="0"/>
              <a:t>: Deals with noisy data and misclassifications.</a:t>
            </a:r>
          </a:p>
          <a:p>
            <a:r>
              <a:rPr lang="en-US" dirty="0"/>
              <a:t>SVM is a versatile and effective algorithm for both classification and regression, especially when there is a clear margin between classes.</a:t>
            </a:r>
          </a:p>
          <a:p>
            <a:endParaRPr lang="en-US" dirty="0"/>
          </a:p>
        </p:txBody>
      </p:sp>
    </p:spTree>
    <p:extLst>
      <p:ext uri="{BB962C8B-B14F-4D97-AF65-F5344CB8AC3E}">
        <p14:creationId xmlns:p14="http://schemas.microsoft.com/office/powerpoint/2010/main" val="22267874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CC445FC-F6F9-43B9-91EF-352F09CBB2A7}"/>
              </a:ext>
            </a:extLst>
          </p:cNvPr>
          <p:cNvSpPr>
            <a:spLocks noGrp="1"/>
          </p:cNvSpPr>
          <p:nvPr>
            <p:ph type="title"/>
          </p:nvPr>
        </p:nvSpPr>
        <p:spPr/>
        <p:txBody>
          <a:bodyPr/>
          <a:lstStyle/>
          <a:p>
            <a:endParaRPr lang="en-IN" dirty="0"/>
          </a:p>
        </p:txBody>
      </p:sp>
      <p:sp>
        <p:nvSpPr>
          <p:cNvPr id="4" name="TextBox 3">
            <a:extLst>
              <a:ext uri="{FF2B5EF4-FFF2-40B4-BE49-F238E27FC236}">
                <a16:creationId xmlns:a16="http://schemas.microsoft.com/office/drawing/2014/main" xmlns="" id="{11252ACC-8B43-45ED-94ED-A0092EAF0B40}"/>
              </a:ext>
            </a:extLst>
          </p:cNvPr>
          <p:cNvSpPr txBox="1"/>
          <p:nvPr/>
        </p:nvSpPr>
        <p:spPr>
          <a:xfrm>
            <a:off x="1309816" y="2108530"/>
            <a:ext cx="9094573" cy="4524315"/>
          </a:xfrm>
          <a:prstGeom prst="rect">
            <a:avLst/>
          </a:prstGeom>
          <a:noFill/>
        </p:spPr>
        <p:txBody>
          <a:bodyPr wrap="square">
            <a:spAutoFit/>
          </a:bodyPr>
          <a:lstStyle/>
          <a:p>
            <a:pPr algn="just"/>
            <a:r>
              <a:rPr lang="en-US" b="1" dirty="0">
                <a:solidFill>
                  <a:srgbClr val="4A4A4A"/>
                </a:solidFill>
                <a:latin typeface="Open Sans" panose="020B0606030504020204" pitchFamily="34" charset="0"/>
              </a:rPr>
              <a:t>Advantages of SVM</a:t>
            </a:r>
          </a:p>
          <a:p>
            <a:pPr algn="just">
              <a:buFont typeface="Arial" panose="020B0604020202020204" pitchFamily="34" charset="0"/>
              <a:buChar char="•"/>
            </a:pPr>
            <a:r>
              <a:rPr lang="en-US" dirty="0"/>
              <a:t>Effective in high dimensional spaces</a:t>
            </a:r>
          </a:p>
          <a:p>
            <a:pPr algn="just">
              <a:buFont typeface="Arial" panose="020B0604020202020204" pitchFamily="34" charset="0"/>
              <a:buChar char="•"/>
            </a:pPr>
            <a:r>
              <a:rPr lang="en-US" dirty="0"/>
              <a:t>Still effective in cases where the number of dimensions is greater than the number of samples</a:t>
            </a:r>
          </a:p>
          <a:p>
            <a:pPr algn="just">
              <a:buFont typeface="Arial" panose="020B0604020202020204" pitchFamily="34" charset="0"/>
              <a:buChar char="•"/>
            </a:pPr>
            <a:r>
              <a:rPr lang="en-US" dirty="0"/>
              <a:t>Uses a subset of training points in the decision function that makes it memory efficient</a:t>
            </a:r>
          </a:p>
          <a:p>
            <a:pPr algn="just">
              <a:buFont typeface="Arial" panose="020B0604020202020204" pitchFamily="34" charset="0"/>
              <a:buChar char="•"/>
            </a:pPr>
            <a:r>
              <a:rPr lang="en-US" dirty="0"/>
              <a:t>Different kernel functions can be specified for the decision function that also makes it versatile</a:t>
            </a:r>
          </a:p>
          <a:p>
            <a:pPr algn="just">
              <a:buFont typeface="Arial" panose="020B0604020202020204" pitchFamily="34" charset="0"/>
              <a:buChar char="•"/>
            </a:pPr>
            <a:r>
              <a:rPr lang="en-US" dirty="0"/>
              <a:t>SVM is less prone to overfitting</a:t>
            </a:r>
          </a:p>
          <a:p>
            <a:pPr algn="just">
              <a:buFont typeface="Arial" panose="020B0604020202020204" pitchFamily="34" charset="0"/>
              <a:buChar char="•"/>
            </a:pPr>
            <a:r>
              <a:rPr lang="en-US" dirty="0"/>
              <a:t>Works Well for Binary and Multi-Class Classification</a:t>
            </a:r>
          </a:p>
          <a:p>
            <a:pPr algn="just">
              <a:buFont typeface="Arial" panose="020B0604020202020204" pitchFamily="34" charset="0"/>
              <a:buChar char="•"/>
            </a:pPr>
            <a:r>
              <a:rPr lang="en-US" dirty="0"/>
              <a:t>Support for Linear and Non-Linear Classification</a:t>
            </a:r>
          </a:p>
          <a:p>
            <a:pPr algn="just">
              <a:buFont typeface="Arial" panose="020B0604020202020204" pitchFamily="34" charset="0"/>
              <a:buChar char="•"/>
            </a:pPr>
            <a:r>
              <a:rPr lang="en-US" dirty="0"/>
              <a:t>SVM for Outlier Detection</a:t>
            </a:r>
          </a:p>
          <a:p>
            <a:pPr algn="just">
              <a:buFont typeface="Arial" panose="020B0604020202020204" pitchFamily="34" charset="0"/>
              <a:buChar char="•"/>
            </a:pPr>
            <a:endParaRPr lang="en-US" dirty="0">
              <a:solidFill>
                <a:srgbClr val="4A4A4A"/>
              </a:solidFill>
              <a:latin typeface="Open Sans" panose="020B0606030504020204" pitchFamily="34" charset="0"/>
            </a:endParaRPr>
          </a:p>
          <a:p>
            <a:pPr algn="just"/>
            <a:r>
              <a:rPr lang="en-US" b="1" i="0" dirty="0">
                <a:solidFill>
                  <a:srgbClr val="4A4A4A"/>
                </a:solidFill>
                <a:effectLst/>
                <a:latin typeface="Open Sans" panose="020B0606030504020204" pitchFamily="34" charset="0"/>
              </a:rPr>
              <a:t>Disadvantages of SVM</a:t>
            </a:r>
            <a:endParaRPr lang="en-US" b="0" i="0" dirty="0">
              <a:solidFill>
                <a:srgbClr val="4A4A4A"/>
              </a:solidFill>
              <a:effectLst/>
              <a:latin typeface="Open Sans" panose="020B0606030504020204" pitchFamily="34" charset="0"/>
            </a:endParaRPr>
          </a:p>
          <a:p>
            <a:pPr algn="just">
              <a:buFont typeface="Arial" panose="020B0604020202020204" pitchFamily="34" charset="0"/>
              <a:buChar char="•"/>
            </a:pPr>
            <a:r>
              <a:rPr lang="en-US" dirty="0"/>
              <a:t>If the number of features is much larger than the number of samples, avoid over-fitting in choosing kernel functions and regularization term is crucial.</a:t>
            </a:r>
          </a:p>
          <a:p>
            <a:pPr algn="l">
              <a:buFont typeface="Arial" panose="020B0604020202020204" pitchFamily="34" charset="0"/>
              <a:buChar char="•"/>
            </a:pPr>
            <a:r>
              <a:rPr lang="en-US" dirty="0"/>
              <a:t>SVMs do not directly provide probability estimates, these are calculated using five-fold cross-validation.</a:t>
            </a:r>
          </a:p>
          <a:p>
            <a:pPr algn="l"/>
            <a:r>
              <a:rPr lang="en-US" b="0" i="0" dirty="0">
                <a:solidFill>
                  <a:srgbClr val="4A4A4A"/>
                </a:solidFill>
                <a:effectLst/>
                <a:latin typeface="Open Sans" panose="020B0606030504020204" pitchFamily="34" charset="0"/>
              </a:rPr>
              <a:t> </a:t>
            </a:r>
          </a:p>
        </p:txBody>
      </p:sp>
    </p:spTree>
    <p:extLst>
      <p:ext uri="{BB962C8B-B14F-4D97-AF65-F5344CB8AC3E}">
        <p14:creationId xmlns:p14="http://schemas.microsoft.com/office/powerpoint/2010/main" val="42697057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6846DC7-03FE-43BE-9873-C3A975C136A8}"/>
              </a:ext>
            </a:extLst>
          </p:cNvPr>
          <p:cNvSpPr>
            <a:spLocks noGrp="1"/>
          </p:cNvSpPr>
          <p:nvPr>
            <p:ph type="title"/>
          </p:nvPr>
        </p:nvSpPr>
        <p:spPr>
          <a:xfrm>
            <a:off x="838200" y="365125"/>
            <a:ext cx="4664529" cy="1325563"/>
          </a:xfrm>
          <a:solidFill>
            <a:schemeClr val="accent2"/>
          </a:solidFill>
        </p:spPr>
        <p:txBody>
          <a:bodyPr/>
          <a:lstStyle/>
          <a:p>
            <a:r>
              <a:rPr lang="en-IN" dirty="0"/>
              <a:t>Dual formulation</a:t>
            </a:r>
          </a:p>
        </p:txBody>
      </p:sp>
      <p:sp>
        <p:nvSpPr>
          <p:cNvPr id="3" name="Content Placeholder 2">
            <a:extLst>
              <a:ext uri="{FF2B5EF4-FFF2-40B4-BE49-F238E27FC236}">
                <a16:creationId xmlns:a16="http://schemas.microsoft.com/office/drawing/2014/main" xmlns="" id="{0E044C82-0E6A-4FDF-B37E-24E404DAC2CA}"/>
              </a:ext>
            </a:extLst>
          </p:cNvPr>
          <p:cNvSpPr>
            <a:spLocks noGrp="1"/>
          </p:cNvSpPr>
          <p:nvPr>
            <p:ph idx="1"/>
          </p:nvPr>
        </p:nvSpPr>
        <p:spPr>
          <a:xfrm>
            <a:off x="838200" y="1972439"/>
            <a:ext cx="4664530" cy="1697068"/>
          </a:xfrm>
          <a:solidFill>
            <a:schemeClr val="accent1">
              <a:lumMod val="40000"/>
              <a:lumOff val="60000"/>
            </a:schemeClr>
          </a:solidFill>
        </p:spPr>
        <p:txBody>
          <a:bodyPr/>
          <a:lstStyle/>
          <a:p>
            <a:r>
              <a:rPr lang="en-US" b="0" i="0" dirty="0">
                <a:solidFill>
                  <a:srgbClr val="292929"/>
                </a:solidFill>
                <a:effectLst/>
                <a:latin typeface="charter"/>
              </a:rPr>
              <a:t>Now, let’s consider the case when our data set is not at all linearly separable.</a:t>
            </a:r>
            <a:endParaRPr lang="en-IN" dirty="0"/>
          </a:p>
        </p:txBody>
      </p:sp>
      <p:pic>
        <p:nvPicPr>
          <p:cNvPr id="4" name="Picture 3">
            <a:extLst>
              <a:ext uri="{FF2B5EF4-FFF2-40B4-BE49-F238E27FC236}">
                <a16:creationId xmlns:a16="http://schemas.microsoft.com/office/drawing/2014/main" xmlns="" id="{3C75086A-4C2C-4590-A799-A126A4C3E30E}"/>
              </a:ext>
            </a:extLst>
          </p:cNvPr>
          <p:cNvPicPr>
            <a:picLocks noChangeAspect="1"/>
          </p:cNvPicPr>
          <p:nvPr/>
        </p:nvPicPr>
        <p:blipFill>
          <a:blip r:embed="rId2"/>
          <a:stretch>
            <a:fillRect/>
          </a:stretch>
        </p:blipFill>
        <p:spPr>
          <a:xfrm>
            <a:off x="5738811" y="342100"/>
            <a:ext cx="5081589" cy="3217529"/>
          </a:xfrm>
          <a:prstGeom prst="rect">
            <a:avLst/>
          </a:prstGeom>
        </p:spPr>
      </p:pic>
      <p:sp>
        <p:nvSpPr>
          <p:cNvPr id="9" name="TextBox 8">
            <a:extLst>
              <a:ext uri="{FF2B5EF4-FFF2-40B4-BE49-F238E27FC236}">
                <a16:creationId xmlns:a16="http://schemas.microsoft.com/office/drawing/2014/main" xmlns="" id="{54EFDFE2-3CC6-456A-8703-C9205A7A1581}"/>
              </a:ext>
            </a:extLst>
          </p:cNvPr>
          <p:cNvSpPr txBox="1"/>
          <p:nvPr/>
        </p:nvSpPr>
        <p:spPr>
          <a:xfrm>
            <a:off x="506866" y="3779384"/>
            <a:ext cx="11220450" cy="1697068"/>
          </a:xfrm>
          <a:prstGeom prst="rect">
            <a:avLst/>
          </a:prstGeom>
          <a:solidFill>
            <a:schemeClr val="accent2">
              <a:lumMod val="40000"/>
              <a:lumOff val="60000"/>
            </a:schemeClr>
          </a:solidFill>
        </p:spPr>
        <p:txBody>
          <a:bodyPr wrap="square">
            <a:spAutoFit/>
          </a:bodyPr>
          <a:lstStyle/>
          <a:p>
            <a:pPr algn="just">
              <a:lnSpc>
                <a:spcPct val="150000"/>
              </a:lnSpc>
            </a:pPr>
            <a:r>
              <a:rPr lang="en-US" sz="2400" b="0" i="0" dirty="0">
                <a:solidFill>
                  <a:srgbClr val="292929"/>
                </a:solidFill>
                <a:effectLst/>
                <a:latin typeface="charter"/>
              </a:rPr>
              <a:t>basically, we can separate each data point by projecting it into the higher dimension by adding relevant features to it as we do in logistic regression. But with SVM there is a powerful way to achieve this task of projecting the data into a higher dimension. </a:t>
            </a:r>
            <a:endParaRPr lang="en-IN" sz="2400" dirty="0"/>
          </a:p>
        </p:txBody>
      </p:sp>
      <p:sp>
        <p:nvSpPr>
          <p:cNvPr id="13" name="TextBox 12">
            <a:extLst>
              <a:ext uri="{FF2B5EF4-FFF2-40B4-BE49-F238E27FC236}">
                <a16:creationId xmlns:a16="http://schemas.microsoft.com/office/drawing/2014/main" xmlns="" id="{663AA30C-AD2B-4964-98F6-3BB0E8761A48}"/>
              </a:ext>
            </a:extLst>
          </p:cNvPr>
          <p:cNvSpPr txBox="1"/>
          <p:nvPr/>
        </p:nvSpPr>
        <p:spPr>
          <a:xfrm>
            <a:off x="506866" y="6027003"/>
            <a:ext cx="11189153" cy="830997"/>
          </a:xfrm>
          <a:prstGeom prst="rect">
            <a:avLst/>
          </a:prstGeom>
          <a:solidFill>
            <a:schemeClr val="accent4"/>
          </a:solidFill>
        </p:spPr>
        <p:txBody>
          <a:bodyPr wrap="square">
            <a:spAutoFit/>
          </a:bodyPr>
          <a:lstStyle/>
          <a:p>
            <a:pPr algn="ctr"/>
            <a:r>
              <a:rPr lang="en-US" sz="2400" dirty="0"/>
              <a:t> The alternative method is dual form of SVM which uses Lagrange’s multiplier to solve the constraints optimization problem.</a:t>
            </a:r>
            <a:endParaRPr lang="en-IN" sz="2400" dirty="0"/>
          </a:p>
        </p:txBody>
      </p:sp>
    </p:spTree>
    <p:extLst>
      <p:ext uri="{BB962C8B-B14F-4D97-AF65-F5344CB8AC3E}">
        <p14:creationId xmlns:p14="http://schemas.microsoft.com/office/powerpoint/2010/main" val="4234875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fade">
                                      <p:cBhvr>
                                        <p:cTn id="7" dur="1000"/>
                                        <p:tgtEl>
                                          <p:spTgt spid="3">
                                            <p:bg/>
                                          </p:spTgt>
                                        </p:tgtEl>
                                      </p:cBhvr>
                                    </p:animEffect>
                                    <p:anim calcmode="lin" valueType="num">
                                      <p:cBhvr>
                                        <p:cTn id="8" dur="1000" fill="hold"/>
                                        <p:tgtEl>
                                          <p:spTgt spid="3">
                                            <p:bg/>
                                          </p:spTgt>
                                        </p:tgtEl>
                                        <p:attrNameLst>
                                          <p:attrName>ppt_x</p:attrName>
                                        </p:attrNameLst>
                                      </p:cBhvr>
                                      <p:tavLst>
                                        <p:tav tm="0">
                                          <p:val>
                                            <p:strVal val="#ppt_x"/>
                                          </p:val>
                                        </p:tav>
                                        <p:tav tm="100000">
                                          <p:val>
                                            <p:strVal val="#ppt_x"/>
                                          </p:val>
                                        </p:tav>
                                      </p:tavLst>
                                    </p:anim>
                                    <p:anim calcmode="lin" valueType="num">
                                      <p:cBhvr>
                                        <p:cTn id="9" dur="1000" fill="hold"/>
                                        <p:tgtEl>
                                          <p:spTgt spid="3">
                                            <p:bg/>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1000"/>
                                        <p:tgtEl>
                                          <p:spTgt spid="4"/>
                                        </p:tgtEl>
                                      </p:cBhvr>
                                    </p:animEffect>
                                    <p:anim calcmode="lin" valueType="num">
                                      <p:cBhvr>
                                        <p:cTn id="20" dur="1000" fill="hold"/>
                                        <p:tgtEl>
                                          <p:spTgt spid="4"/>
                                        </p:tgtEl>
                                        <p:attrNameLst>
                                          <p:attrName>ppt_x</p:attrName>
                                        </p:attrNameLst>
                                      </p:cBhvr>
                                      <p:tavLst>
                                        <p:tav tm="0">
                                          <p:val>
                                            <p:strVal val="#ppt_x"/>
                                          </p:val>
                                        </p:tav>
                                        <p:tav tm="100000">
                                          <p:val>
                                            <p:strVal val="#ppt_x"/>
                                          </p:val>
                                        </p:tav>
                                      </p:tavLst>
                                    </p:anim>
                                    <p:anim calcmode="lin" valueType="num">
                                      <p:cBhvr>
                                        <p:cTn id="21"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1000"/>
                                        <p:tgtEl>
                                          <p:spTgt spid="9"/>
                                        </p:tgtEl>
                                      </p:cBhvr>
                                    </p:animEffect>
                                    <p:anim calcmode="lin" valueType="num">
                                      <p:cBhvr>
                                        <p:cTn id="27" dur="1000" fill="hold"/>
                                        <p:tgtEl>
                                          <p:spTgt spid="9"/>
                                        </p:tgtEl>
                                        <p:attrNameLst>
                                          <p:attrName>ppt_x</p:attrName>
                                        </p:attrNameLst>
                                      </p:cBhvr>
                                      <p:tavLst>
                                        <p:tav tm="0">
                                          <p:val>
                                            <p:strVal val="#ppt_x"/>
                                          </p:val>
                                        </p:tav>
                                        <p:tav tm="100000">
                                          <p:val>
                                            <p:strVal val="#ppt_x"/>
                                          </p:val>
                                        </p:tav>
                                      </p:tavLst>
                                    </p:anim>
                                    <p:anim calcmode="lin" valueType="num">
                                      <p:cBhvr>
                                        <p:cTn id="28"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1000"/>
                                        <p:tgtEl>
                                          <p:spTgt spid="13"/>
                                        </p:tgtEl>
                                      </p:cBhvr>
                                    </p:animEffect>
                                    <p:anim calcmode="lin" valueType="num">
                                      <p:cBhvr>
                                        <p:cTn id="34" dur="1000" fill="hold"/>
                                        <p:tgtEl>
                                          <p:spTgt spid="13"/>
                                        </p:tgtEl>
                                        <p:attrNameLst>
                                          <p:attrName>ppt_x</p:attrName>
                                        </p:attrNameLst>
                                      </p:cBhvr>
                                      <p:tavLst>
                                        <p:tav tm="0">
                                          <p:val>
                                            <p:strVal val="#ppt_x"/>
                                          </p:val>
                                        </p:tav>
                                        <p:tav tm="100000">
                                          <p:val>
                                            <p:strVal val="#ppt_x"/>
                                          </p:val>
                                        </p:tav>
                                      </p:tavLst>
                                    </p:anim>
                                    <p:anim calcmode="lin" valueType="num">
                                      <p:cBhvr>
                                        <p:cTn id="35"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9" grpId="0" animBg="1"/>
      <p:bldP spid="13"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66C4934-C1F8-4C6D-A3A7-E4A6E471C1BE}"/>
              </a:ext>
            </a:extLst>
          </p:cNvPr>
          <p:cNvSpPr>
            <a:spLocks noGrp="1"/>
          </p:cNvSpPr>
          <p:nvPr>
            <p:ph type="title"/>
          </p:nvPr>
        </p:nvSpPr>
        <p:spPr>
          <a:xfrm>
            <a:off x="331763" y="18255"/>
            <a:ext cx="10515600" cy="1064957"/>
          </a:xfrm>
        </p:spPr>
        <p:txBody>
          <a:bodyPr/>
          <a:lstStyle/>
          <a:p>
            <a:r>
              <a:rPr lang="en-US" b="0" i="0" dirty="0">
                <a:solidFill>
                  <a:srgbClr val="444444"/>
                </a:solidFill>
                <a:effectLst/>
                <a:latin typeface="Georgia" panose="02040502050405020303" pitchFamily="18" charset="0"/>
              </a:rPr>
              <a:t>Applications of SVM in Real World</a:t>
            </a:r>
            <a:endParaRPr lang="en-IN" dirty="0"/>
          </a:p>
        </p:txBody>
      </p:sp>
      <p:sp>
        <p:nvSpPr>
          <p:cNvPr id="3" name="Content Placeholder 2">
            <a:extLst>
              <a:ext uri="{FF2B5EF4-FFF2-40B4-BE49-F238E27FC236}">
                <a16:creationId xmlns:a16="http://schemas.microsoft.com/office/drawing/2014/main" xmlns="" id="{6076C5D2-BED7-4FEA-B13E-2313076B6728}"/>
              </a:ext>
            </a:extLst>
          </p:cNvPr>
          <p:cNvSpPr>
            <a:spLocks noGrp="1"/>
          </p:cNvSpPr>
          <p:nvPr>
            <p:ph idx="1"/>
          </p:nvPr>
        </p:nvSpPr>
        <p:spPr>
          <a:xfrm>
            <a:off x="331763" y="1266092"/>
            <a:ext cx="11260015" cy="5022166"/>
          </a:xfrm>
        </p:spPr>
        <p:txBody>
          <a:bodyPr>
            <a:normAutofit fontScale="70000" lnSpcReduction="20000"/>
          </a:bodyPr>
          <a:lstStyle/>
          <a:p>
            <a:pPr marL="0" indent="0">
              <a:buNone/>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SVMs depends on supervised learning algorithms. The aim of using SVM is to correctly classify unseen data. SVMs have several applications in several fields. Some common applications of SVM are-</a:t>
            </a:r>
          </a:p>
          <a:p>
            <a:r>
              <a:rPr lang="en-US" dirty="0">
                <a:solidFill>
                  <a:schemeClr val="tx1">
                    <a:lumMod val="95000"/>
                    <a:lumOff val="5000"/>
                  </a:schemeClr>
                </a:solidFill>
                <a:latin typeface="Times New Roman" panose="02020603050405020304" pitchFamily="18" charset="0"/>
                <a:cs typeface="Times New Roman" panose="02020603050405020304" pitchFamily="18" charset="0"/>
              </a:rPr>
              <a:t>Face detection – </a:t>
            </a:r>
            <a:r>
              <a:rPr lang="en-US" dirty="0" err="1">
                <a:solidFill>
                  <a:schemeClr val="tx1">
                    <a:lumMod val="95000"/>
                    <a:lumOff val="5000"/>
                  </a:schemeClr>
                </a:solidFill>
                <a:latin typeface="Times New Roman" panose="02020603050405020304" pitchFamily="18" charset="0"/>
                <a:cs typeface="Times New Roman" panose="02020603050405020304" pitchFamily="18" charset="0"/>
              </a:rPr>
              <a:t>SVMc</a:t>
            </a:r>
            <a:r>
              <a:rPr lang="en-US" dirty="0">
                <a:solidFill>
                  <a:schemeClr val="tx1">
                    <a:lumMod val="95000"/>
                    <a:lumOff val="5000"/>
                  </a:schemeClr>
                </a:solidFill>
                <a:latin typeface="Times New Roman" panose="02020603050405020304" pitchFamily="18" charset="0"/>
                <a:cs typeface="Times New Roman" panose="02020603050405020304" pitchFamily="18" charset="0"/>
              </a:rPr>
              <a:t> classify parts of the image as a face and non-face and create a square boundary around the face.</a:t>
            </a:r>
          </a:p>
          <a:p>
            <a:r>
              <a:rPr lang="en-US" dirty="0">
                <a:solidFill>
                  <a:schemeClr val="tx1">
                    <a:lumMod val="95000"/>
                    <a:lumOff val="5000"/>
                  </a:schemeClr>
                </a:solidFill>
                <a:latin typeface="Times New Roman" panose="02020603050405020304" pitchFamily="18" charset="0"/>
                <a:cs typeface="Times New Roman" panose="02020603050405020304" pitchFamily="18" charset="0"/>
              </a:rPr>
              <a:t>Text and hypertext categorization – SVMs allow Text and hypertext categorization for both inductive and </a:t>
            </a:r>
            <a:r>
              <a:rPr lang="en-US" dirty="0" err="1">
                <a:solidFill>
                  <a:schemeClr val="tx1">
                    <a:lumMod val="95000"/>
                    <a:lumOff val="5000"/>
                  </a:schemeClr>
                </a:solidFill>
                <a:latin typeface="Times New Roman" panose="02020603050405020304" pitchFamily="18" charset="0"/>
                <a:cs typeface="Times New Roman" panose="02020603050405020304" pitchFamily="18" charset="0"/>
              </a:rPr>
              <a:t>transductive</a:t>
            </a:r>
            <a:r>
              <a:rPr lang="en-US" dirty="0">
                <a:solidFill>
                  <a:schemeClr val="tx1">
                    <a:lumMod val="95000"/>
                    <a:lumOff val="5000"/>
                  </a:schemeClr>
                </a:solidFill>
                <a:latin typeface="Times New Roman" panose="02020603050405020304" pitchFamily="18" charset="0"/>
                <a:cs typeface="Times New Roman" panose="02020603050405020304" pitchFamily="18" charset="0"/>
              </a:rPr>
              <a:t> models. They use training data to classify documents into different categories. It categorizes on the basis of the score generated and then compares with the threshold value.</a:t>
            </a:r>
          </a:p>
          <a:p>
            <a:r>
              <a:rPr lang="en-US" dirty="0">
                <a:solidFill>
                  <a:schemeClr val="tx1">
                    <a:lumMod val="95000"/>
                    <a:lumOff val="5000"/>
                  </a:schemeClr>
                </a:solidFill>
                <a:latin typeface="Times New Roman" panose="02020603050405020304" pitchFamily="18" charset="0"/>
                <a:cs typeface="Times New Roman" panose="02020603050405020304" pitchFamily="18" charset="0"/>
              </a:rPr>
              <a:t>Classification of images – Use of SVMs provides better search accuracy for image classification. It provides better accuracy in comparison to the traditional query-based searching techniques.</a:t>
            </a:r>
          </a:p>
          <a:p>
            <a:r>
              <a:rPr lang="en-US" dirty="0">
                <a:solidFill>
                  <a:schemeClr val="tx1">
                    <a:lumMod val="95000"/>
                    <a:lumOff val="5000"/>
                  </a:schemeClr>
                </a:solidFill>
                <a:latin typeface="Times New Roman" panose="02020603050405020304" pitchFamily="18" charset="0"/>
                <a:cs typeface="Times New Roman" panose="02020603050405020304" pitchFamily="18" charset="0"/>
              </a:rPr>
              <a:t>Bioinformatics – It includes protein classification and cancer classification. We use SVM for identifying the classification of genes, patients on the basis of genes and other biological problems.</a:t>
            </a:r>
          </a:p>
          <a:p>
            <a:r>
              <a:rPr lang="en-US" dirty="0">
                <a:solidFill>
                  <a:schemeClr val="tx1">
                    <a:lumMod val="95000"/>
                    <a:lumOff val="5000"/>
                  </a:schemeClr>
                </a:solidFill>
                <a:latin typeface="Times New Roman" panose="02020603050405020304" pitchFamily="18" charset="0"/>
                <a:cs typeface="Times New Roman" panose="02020603050405020304" pitchFamily="18" charset="0"/>
              </a:rPr>
              <a:t>Protein fold and remote homology detection – Apply SVM algorithms for protein remote homology detection.</a:t>
            </a:r>
          </a:p>
          <a:p>
            <a:r>
              <a:rPr lang="en-US" dirty="0">
                <a:solidFill>
                  <a:schemeClr val="tx1">
                    <a:lumMod val="95000"/>
                    <a:lumOff val="5000"/>
                  </a:schemeClr>
                </a:solidFill>
                <a:latin typeface="Times New Roman" panose="02020603050405020304" pitchFamily="18" charset="0"/>
                <a:cs typeface="Times New Roman" panose="02020603050405020304" pitchFamily="18" charset="0"/>
              </a:rPr>
              <a:t>Handwriting recognition – We use SVMs to recognize handwritten characters used widely.</a:t>
            </a:r>
          </a:p>
          <a:p>
            <a:r>
              <a:rPr lang="en-US" dirty="0">
                <a:solidFill>
                  <a:schemeClr val="tx1">
                    <a:lumMod val="95000"/>
                    <a:lumOff val="5000"/>
                  </a:schemeClr>
                </a:solidFill>
                <a:latin typeface="Times New Roman" panose="02020603050405020304" pitchFamily="18" charset="0"/>
                <a:cs typeface="Times New Roman" panose="02020603050405020304" pitchFamily="18" charset="0"/>
              </a:rPr>
              <a:t>Generalized predictive control(GPC) – Use SVM based GPC to control chaotic dynamics with useful parameters.</a:t>
            </a:r>
            <a:endParaRPr lang="en-IN"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264163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74EB3DB-5F18-FCE0-8D78-F29D8D0E20ED}"/>
              </a:ext>
            </a:extLst>
          </p:cNvPr>
          <p:cNvSpPr>
            <a:spLocks noGrp="1"/>
          </p:cNvSpPr>
          <p:nvPr>
            <p:ph type="title"/>
          </p:nvPr>
        </p:nvSpPr>
        <p:spPr/>
        <p:txBody>
          <a:bodyPr/>
          <a:lstStyle/>
          <a:p>
            <a:r>
              <a:rPr lang="en-IN" dirty="0"/>
              <a:t>References</a:t>
            </a:r>
          </a:p>
        </p:txBody>
      </p:sp>
      <p:sp>
        <p:nvSpPr>
          <p:cNvPr id="3" name="Content Placeholder 2">
            <a:extLst>
              <a:ext uri="{FF2B5EF4-FFF2-40B4-BE49-F238E27FC236}">
                <a16:creationId xmlns:a16="http://schemas.microsoft.com/office/drawing/2014/main" xmlns="" id="{A5308BE9-154E-3E5F-CC17-EBD9FAA2FFAD}"/>
              </a:ext>
            </a:extLst>
          </p:cNvPr>
          <p:cNvSpPr>
            <a:spLocks noGrp="1"/>
          </p:cNvSpPr>
          <p:nvPr>
            <p:ph idx="1"/>
          </p:nvPr>
        </p:nvSpPr>
        <p:spPr/>
        <p:txBody>
          <a:bodyPr/>
          <a:lstStyle/>
          <a:p>
            <a:r>
              <a:rPr lang="en-IN" dirty="0">
                <a:hlinkClick r:id="rId2"/>
              </a:rPr>
              <a:t>https://www.youtube.com/watch?v=7vSGI9FCCaY</a:t>
            </a:r>
            <a:endParaRPr lang="en-IN" dirty="0"/>
          </a:p>
          <a:p>
            <a:r>
              <a:rPr lang="en-IN" dirty="0">
                <a:hlinkClick r:id="rId3"/>
              </a:rPr>
              <a:t>https://www.youtube.com/watch?v=kcQ0RzLfB_0</a:t>
            </a:r>
            <a:endParaRPr lang="en-IN" dirty="0"/>
          </a:p>
          <a:p>
            <a:r>
              <a:rPr lang="en-IN">
                <a:hlinkClick r:id="rId4"/>
              </a:rPr>
              <a:t>Lecture 12 : Support Vector Machine - II - YouTube</a:t>
            </a:r>
            <a:endParaRPr lang="en-IN" dirty="0"/>
          </a:p>
        </p:txBody>
      </p:sp>
    </p:spTree>
    <p:extLst>
      <p:ext uri="{BB962C8B-B14F-4D97-AF65-F5344CB8AC3E}">
        <p14:creationId xmlns:p14="http://schemas.microsoft.com/office/powerpoint/2010/main" val="28385399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36853</TotalTime>
  <Words>1931</Words>
  <Application>Microsoft Office PowerPoint</Application>
  <PresentationFormat>Widescreen</PresentationFormat>
  <Paragraphs>196</Paragraphs>
  <Slides>34</Slides>
  <Notes>6</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34</vt:i4>
      </vt:variant>
    </vt:vector>
  </HeadingPairs>
  <TitlesOfParts>
    <vt:vector size="50" baseType="lpstr">
      <vt:lpstr>Adobe Caslon Pro</vt:lpstr>
      <vt:lpstr>Arabic Typesetting</vt:lpstr>
      <vt:lpstr>Arial</vt:lpstr>
      <vt:lpstr>Arial</vt:lpstr>
      <vt:lpstr>Calibri</vt:lpstr>
      <vt:lpstr>Calibri Light</vt:lpstr>
      <vt:lpstr>Cambria</vt:lpstr>
      <vt:lpstr>Cambria Math</vt:lpstr>
      <vt:lpstr>charter</vt:lpstr>
      <vt:lpstr>Georgia</vt:lpstr>
      <vt:lpstr>Google Sans</vt:lpstr>
      <vt:lpstr>Lato</vt:lpstr>
      <vt:lpstr>Open Sans</vt:lpstr>
      <vt:lpstr>sohne</vt:lpstr>
      <vt:lpstr>Times New Roman</vt:lpstr>
      <vt:lpstr>Office Theme</vt:lpstr>
      <vt:lpstr>PowerPoint Presentation</vt:lpstr>
      <vt:lpstr>Support Vector Machine</vt:lpstr>
      <vt:lpstr>Features of SVM: </vt:lpstr>
      <vt:lpstr>PowerPoint Presentation</vt:lpstr>
      <vt:lpstr>PowerPoint Presentation</vt:lpstr>
      <vt:lpstr>PowerPoint Presentation</vt:lpstr>
      <vt:lpstr>PowerPoint Presentation</vt:lpstr>
      <vt:lpstr>Problem with Logistic Regression</vt:lpstr>
      <vt:lpstr>Logistic Regression Linear classifier –two class problem</vt:lpstr>
      <vt:lpstr>PowerPoint Presentation</vt:lpstr>
      <vt:lpstr>PowerPoint Presentation</vt:lpstr>
      <vt:lpstr>Important diagram for SVM</vt:lpstr>
      <vt:lpstr>Support Vector Machine</vt:lpstr>
      <vt:lpstr>PowerPoint Presentation</vt:lpstr>
      <vt:lpstr>PowerPoint Presentation</vt:lpstr>
      <vt:lpstr>PowerPoint Presentation</vt:lpstr>
      <vt:lpstr>PowerPoint Presentation</vt:lpstr>
      <vt:lpstr>PowerPoint Presentation</vt:lpstr>
      <vt:lpstr>Margin has to be maximized</vt:lpstr>
      <vt:lpstr>PowerPoint Presentation</vt:lpstr>
      <vt:lpstr>Hard SVM and Soft SVM</vt:lpstr>
      <vt:lpstr>Hard SVM (Hard-Margin SVM) </vt:lpstr>
      <vt:lpstr>Soft-Margin SVM</vt:lpstr>
      <vt:lpstr>PowerPoint Presentation</vt:lpstr>
      <vt:lpstr>PowerPoint Presentation</vt:lpstr>
      <vt:lpstr>Hard SVM and Soft SVM</vt:lpstr>
      <vt:lpstr>PowerPoint Presentation</vt:lpstr>
      <vt:lpstr>PowerPoint Presentation</vt:lpstr>
      <vt:lpstr>Dual formulation</vt:lpstr>
      <vt:lpstr>Summary of Key Concepts: </vt:lpstr>
      <vt:lpstr>PowerPoint Presentation</vt:lpstr>
      <vt:lpstr>Dual formulation</vt:lpstr>
      <vt:lpstr>Applications of SVM in Real World</vt:lpstr>
      <vt:lpstr>References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Support Vector Machine</dc:title>
  <dc:creator>kriti ohri</dc:creator>
  <cp:lastModifiedBy>Microsoft account</cp:lastModifiedBy>
  <cp:revision>15</cp:revision>
  <dcterms:created xsi:type="dcterms:W3CDTF">2021-07-15T17:59:58Z</dcterms:created>
  <dcterms:modified xsi:type="dcterms:W3CDTF">2024-12-02T16:35:42Z</dcterms:modified>
</cp:coreProperties>
</file>