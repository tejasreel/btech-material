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4" r:id="rId4"/>
    <p:sldId id="258" r:id="rId5"/>
    <p:sldId id="259" r:id="rId6"/>
    <p:sldId id="260" r:id="rId7"/>
    <p:sldId id="261" r:id="rId8"/>
    <p:sldId id="29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95" r:id="rId2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98621" y="385953"/>
            <a:ext cx="2746756" cy="452119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34A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16913"/>
            <a:ext cx="4323715" cy="179451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317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98621" y="385953"/>
            <a:ext cx="2746756" cy="452119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34A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317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98621" y="385953"/>
            <a:ext cx="2746756" cy="452119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rgbClr val="034AE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317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401557" y="4830038"/>
            <a:ext cx="231775" cy="178435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752601" y="1496059"/>
            <a:ext cx="433057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5"/>
              </a:spcBef>
            </a:pP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Receiver operating characteristic</a:t>
            </a:r>
            <a:b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r>
              <a:rPr lang="en-IN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(ROC)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8479281" y="4830038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2785" y="385953"/>
            <a:ext cx="1139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9281" y="4830038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56563"/>
            <a:ext cx="447484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Receiver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operating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characteristics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curve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Optimum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threshold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5ACF-E72A-688D-8B15-E1C9B114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FFED2-B150-DEF2-06FC-7F94E9656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216913"/>
            <a:ext cx="7769860" cy="179451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An 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ROC curve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(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receiver operating characteristic curve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) is a graph showing the performance of a classification model at all classification thresholds. This curve plots two parameters:</a:t>
            </a:r>
          </a:p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True Positive Rate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False Positive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77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85953"/>
            <a:ext cx="1896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ROC</a:t>
            </a:r>
            <a:r>
              <a:rPr spc="-8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560" y="1026414"/>
            <a:ext cx="4810125" cy="32632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30" dirty="0">
                <a:latin typeface="Calibri"/>
                <a:cs typeface="Calibri"/>
              </a:rPr>
              <a:t>True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Positive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Fraction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TPF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(TP+FN)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also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sensitivity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true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abnormals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abnormal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observer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False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Positive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Fraction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FPF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FP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(FP+TN)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i="1" spc="-5" dirty="0">
                <a:latin typeface="Calibri"/>
                <a:cs typeface="Calibri"/>
              </a:rPr>
              <a:t>Specificity</a:t>
            </a:r>
            <a:r>
              <a:rPr sz="1800" i="1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5" dirty="0">
                <a:latin typeface="Calibri"/>
                <a:cs typeface="Calibri"/>
              </a:rPr>
              <a:t> (TN+FP)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30" dirty="0">
                <a:latin typeface="Calibri"/>
                <a:cs typeface="Calibri"/>
              </a:rPr>
              <a:t>True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normals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normal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observer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FPF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specificity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85459" y="1525524"/>
            <a:ext cx="3489960" cy="2967355"/>
            <a:chOff x="5585459" y="1525524"/>
            <a:chExt cx="3489960" cy="29673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5459" y="1525524"/>
              <a:ext cx="3489960" cy="29672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5383" y="2532849"/>
              <a:ext cx="1564767" cy="1405737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211059" y="4260443"/>
            <a:ext cx="1389380" cy="76835"/>
          </a:xfrm>
          <a:custGeom>
            <a:avLst/>
            <a:gdLst/>
            <a:ahLst/>
            <a:cxnLst/>
            <a:rect l="l" t="t" r="r" b="b"/>
            <a:pathLst>
              <a:path w="1389380" h="76835">
                <a:moveTo>
                  <a:pt x="1388417" y="71399"/>
                </a:moveTo>
                <a:lnTo>
                  <a:pt x="1361071" y="71399"/>
                </a:lnTo>
                <a:lnTo>
                  <a:pt x="1372120" y="75222"/>
                </a:lnTo>
                <a:lnTo>
                  <a:pt x="1373263" y="75526"/>
                </a:lnTo>
                <a:lnTo>
                  <a:pt x="1377454" y="76288"/>
                </a:lnTo>
                <a:lnTo>
                  <a:pt x="1378724" y="76403"/>
                </a:lnTo>
                <a:lnTo>
                  <a:pt x="1385074" y="76441"/>
                </a:lnTo>
                <a:lnTo>
                  <a:pt x="1387360" y="74790"/>
                </a:lnTo>
                <a:lnTo>
                  <a:pt x="1388417" y="71399"/>
                </a:lnTo>
                <a:close/>
              </a:path>
              <a:path w="1389380" h="76835">
                <a:moveTo>
                  <a:pt x="1388708" y="69278"/>
                </a:moveTo>
                <a:lnTo>
                  <a:pt x="1352816" y="69278"/>
                </a:lnTo>
                <a:lnTo>
                  <a:pt x="1357261" y="70319"/>
                </a:lnTo>
                <a:lnTo>
                  <a:pt x="1361452" y="71551"/>
                </a:lnTo>
                <a:lnTo>
                  <a:pt x="1361071" y="71399"/>
                </a:lnTo>
                <a:lnTo>
                  <a:pt x="1388417" y="71399"/>
                </a:lnTo>
                <a:lnTo>
                  <a:pt x="1388884" y="69900"/>
                </a:lnTo>
                <a:lnTo>
                  <a:pt x="1388708" y="69278"/>
                </a:lnTo>
                <a:close/>
              </a:path>
              <a:path w="1389380" h="76835">
                <a:moveTo>
                  <a:pt x="1356753" y="70205"/>
                </a:moveTo>
                <a:lnTo>
                  <a:pt x="1357152" y="70319"/>
                </a:lnTo>
                <a:lnTo>
                  <a:pt x="1356753" y="70205"/>
                </a:lnTo>
                <a:close/>
              </a:path>
              <a:path w="1389380" h="76835">
                <a:moveTo>
                  <a:pt x="1387759" y="66954"/>
                </a:moveTo>
                <a:lnTo>
                  <a:pt x="1341894" y="66954"/>
                </a:lnTo>
                <a:lnTo>
                  <a:pt x="1348117" y="68249"/>
                </a:lnTo>
                <a:lnTo>
                  <a:pt x="1352816" y="69303"/>
                </a:lnTo>
                <a:lnTo>
                  <a:pt x="1388708" y="69278"/>
                </a:lnTo>
                <a:lnTo>
                  <a:pt x="1388122" y="67208"/>
                </a:lnTo>
                <a:lnTo>
                  <a:pt x="1387759" y="66954"/>
                </a:lnTo>
                <a:close/>
              </a:path>
              <a:path w="1389380" h="76835">
                <a:moveTo>
                  <a:pt x="1347990" y="68237"/>
                </a:moveTo>
                <a:close/>
              </a:path>
              <a:path w="1389380" h="76835">
                <a:moveTo>
                  <a:pt x="1341935" y="66962"/>
                </a:moveTo>
                <a:close/>
              </a:path>
              <a:path w="1389380" h="76835">
                <a:moveTo>
                  <a:pt x="1385946" y="65684"/>
                </a:moveTo>
                <a:lnTo>
                  <a:pt x="1335417" y="65684"/>
                </a:lnTo>
                <a:lnTo>
                  <a:pt x="1341935" y="66962"/>
                </a:lnTo>
                <a:lnTo>
                  <a:pt x="1387759" y="66954"/>
                </a:lnTo>
                <a:lnTo>
                  <a:pt x="1385946" y="65684"/>
                </a:lnTo>
                <a:close/>
              </a:path>
              <a:path w="1389380" h="76835">
                <a:moveTo>
                  <a:pt x="1384041" y="64287"/>
                </a:moveTo>
                <a:lnTo>
                  <a:pt x="1327543" y="64287"/>
                </a:lnTo>
                <a:lnTo>
                  <a:pt x="1335544" y="65709"/>
                </a:lnTo>
                <a:lnTo>
                  <a:pt x="1335417" y="65684"/>
                </a:lnTo>
                <a:lnTo>
                  <a:pt x="1385946" y="65684"/>
                </a:lnTo>
                <a:lnTo>
                  <a:pt x="1384041" y="64287"/>
                </a:lnTo>
                <a:close/>
              </a:path>
              <a:path w="1389380" h="76835">
                <a:moveTo>
                  <a:pt x="1382047" y="62915"/>
                </a:moveTo>
                <a:lnTo>
                  <a:pt x="1318907" y="62915"/>
                </a:lnTo>
                <a:lnTo>
                  <a:pt x="1327670" y="64312"/>
                </a:lnTo>
                <a:lnTo>
                  <a:pt x="1327543" y="64287"/>
                </a:lnTo>
                <a:lnTo>
                  <a:pt x="1384041" y="64287"/>
                </a:lnTo>
                <a:lnTo>
                  <a:pt x="1382915" y="63461"/>
                </a:lnTo>
                <a:lnTo>
                  <a:pt x="1382047" y="62915"/>
                </a:lnTo>
                <a:close/>
              </a:path>
              <a:path w="1389380" h="76835">
                <a:moveTo>
                  <a:pt x="1376631" y="59893"/>
                </a:moveTo>
                <a:lnTo>
                  <a:pt x="1296301" y="59893"/>
                </a:lnTo>
                <a:lnTo>
                  <a:pt x="1308493" y="61429"/>
                </a:lnTo>
                <a:lnTo>
                  <a:pt x="1318907" y="62941"/>
                </a:lnTo>
                <a:lnTo>
                  <a:pt x="1382047" y="62915"/>
                </a:lnTo>
                <a:lnTo>
                  <a:pt x="1378724" y="60921"/>
                </a:lnTo>
                <a:lnTo>
                  <a:pt x="1377962" y="60502"/>
                </a:lnTo>
                <a:lnTo>
                  <a:pt x="1376631" y="59893"/>
                </a:lnTo>
                <a:close/>
              </a:path>
              <a:path w="1389380" h="76835">
                <a:moveTo>
                  <a:pt x="1308366" y="61417"/>
                </a:moveTo>
                <a:close/>
              </a:path>
              <a:path w="1389380" h="76835">
                <a:moveTo>
                  <a:pt x="1373607" y="58508"/>
                </a:moveTo>
                <a:lnTo>
                  <a:pt x="1282966" y="58508"/>
                </a:lnTo>
                <a:lnTo>
                  <a:pt x="1296428" y="59918"/>
                </a:lnTo>
                <a:lnTo>
                  <a:pt x="1376631" y="59893"/>
                </a:lnTo>
                <a:lnTo>
                  <a:pt x="1373607" y="58508"/>
                </a:lnTo>
                <a:close/>
              </a:path>
              <a:path w="1389380" h="76835">
                <a:moveTo>
                  <a:pt x="1283059" y="58518"/>
                </a:moveTo>
                <a:close/>
              </a:path>
              <a:path w="1389380" h="76835">
                <a:moveTo>
                  <a:pt x="1370742" y="57289"/>
                </a:moveTo>
                <a:lnTo>
                  <a:pt x="1268996" y="57289"/>
                </a:lnTo>
                <a:lnTo>
                  <a:pt x="1283059" y="58518"/>
                </a:lnTo>
                <a:lnTo>
                  <a:pt x="1373607" y="58508"/>
                </a:lnTo>
                <a:lnTo>
                  <a:pt x="1371739" y="57670"/>
                </a:lnTo>
                <a:lnTo>
                  <a:pt x="1370742" y="57289"/>
                </a:lnTo>
                <a:close/>
              </a:path>
              <a:path w="1389380" h="76835">
                <a:moveTo>
                  <a:pt x="1367850" y="56184"/>
                </a:moveTo>
                <a:lnTo>
                  <a:pt x="1253248" y="56184"/>
                </a:lnTo>
                <a:lnTo>
                  <a:pt x="1268996" y="57302"/>
                </a:lnTo>
                <a:lnTo>
                  <a:pt x="1370742" y="57289"/>
                </a:lnTo>
                <a:lnTo>
                  <a:pt x="1367850" y="56184"/>
                </a:lnTo>
                <a:close/>
              </a:path>
              <a:path w="1389380" h="76835">
                <a:moveTo>
                  <a:pt x="972756" y="22783"/>
                </a:moveTo>
                <a:lnTo>
                  <a:pt x="828814" y="22783"/>
                </a:lnTo>
                <a:lnTo>
                  <a:pt x="885583" y="27254"/>
                </a:lnTo>
                <a:lnTo>
                  <a:pt x="1119390" y="48933"/>
                </a:lnTo>
                <a:lnTo>
                  <a:pt x="1139329" y="50545"/>
                </a:lnTo>
                <a:lnTo>
                  <a:pt x="1159268" y="51765"/>
                </a:lnTo>
                <a:lnTo>
                  <a:pt x="1218196" y="54368"/>
                </a:lnTo>
                <a:lnTo>
                  <a:pt x="1236230" y="55219"/>
                </a:lnTo>
                <a:lnTo>
                  <a:pt x="1253375" y="56197"/>
                </a:lnTo>
                <a:lnTo>
                  <a:pt x="1253248" y="56184"/>
                </a:lnTo>
                <a:lnTo>
                  <a:pt x="1367850" y="56184"/>
                </a:lnTo>
                <a:lnTo>
                  <a:pt x="1366786" y="55778"/>
                </a:lnTo>
                <a:lnTo>
                  <a:pt x="1321066" y="47066"/>
                </a:lnTo>
                <a:lnTo>
                  <a:pt x="1270012" y="42544"/>
                </a:lnTo>
                <a:lnTo>
                  <a:pt x="1159903" y="38392"/>
                </a:lnTo>
                <a:lnTo>
                  <a:pt x="1140329" y="37337"/>
                </a:lnTo>
                <a:lnTo>
                  <a:pt x="1120533" y="35890"/>
                </a:lnTo>
                <a:lnTo>
                  <a:pt x="1101102" y="34201"/>
                </a:lnTo>
                <a:lnTo>
                  <a:pt x="972756" y="22783"/>
                </a:lnTo>
                <a:close/>
              </a:path>
              <a:path w="1389380" h="76835">
                <a:moveTo>
                  <a:pt x="1140091" y="37325"/>
                </a:moveTo>
                <a:lnTo>
                  <a:pt x="1140329" y="37337"/>
                </a:lnTo>
                <a:lnTo>
                  <a:pt x="1140091" y="37325"/>
                </a:lnTo>
                <a:close/>
              </a:path>
              <a:path w="1389380" h="76835">
                <a:moveTo>
                  <a:pt x="535063" y="0"/>
                </a:moveTo>
                <a:lnTo>
                  <a:pt x="454545" y="1028"/>
                </a:lnTo>
                <a:lnTo>
                  <a:pt x="390791" y="3200"/>
                </a:lnTo>
                <a:lnTo>
                  <a:pt x="328561" y="6400"/>
                </a:lnTo>
                <a:lnTo>
                  <a:pt x="210451" y="15938"/>
                </a:lnTo>
                <a:lnTo>
                  <a:pt x="149237" y="20612"/>
                </a:lnTo>
                <a:lnTo>
                  <a:pt x="117868" y="22415"/>
                </a:lnTo>
                <a:lnTo>
                  <a:pt x="117995" y="22415"/>
                </a:lnTo>
                <a:lnTo>
                  <a:pt x="108597" y="22859"/>
                </a:lnTo>
                <a:lnTo>
                  <a:pt x="84594" y="23710"/>
                </a:lnTo>
                <a:lnTo>
                  <a:pt x="70624" y="23977"/>
                </a:lnTo>
                <a:lnTo>
                  <a:pt x="52946" y="24079"/>
                </a:lnTo>
                <a:lnTo>
                  <a:pt x="47840" y="24155"/>
                </a:lnTo>
                <a:lnTo>
                  <a:pt x="8674" y="26250"/>
                </a:lnTo>
                <a:lnTo>
                  <a:pt x="4457" y="26796"/>
                </a:lnTo>
                <a:lnTo>
                  <a:pt x="1219" y="27216"/>
                </a:lnTo>
                <a:lnTo>
                  <a:pt x="0" y="28740"/>
                </a:lnTo>
                <a:lnTo>
                  <a:pt x="223" y="31356"/>
                </a:lnTo>
                <a:lnTo>
                  <a:pt x="349" y="32207"/>
                </a:lnTo>
                <a:lnTo>
                  <a:pt x="1752" y="33451"/>
                </a:lnTo>
                <a:lnTo>
                  <a:pt x="5041" y="33312"/>
                </a:lnTo>
                <a:lnTo>
                  <a:pt x="9182" y="33172"/>
                </a:lnTo>
                <a:lnTo>
                  <a:pt x="11315" y="33070"/>
                </a:lnTo>
                <a:lnTo>
                  <a:pt x="17437" y="32664"/>
                </a:lnTo>
                <a:lnTo>
                  <a:pt x="19900" y="32499"/>
                </a:lnTo>
                <a:lnTo>
                  <a:pt x="22009" y="32372"/>
                </a:lnTo>
                <a:lnTo>
                  <a:pt x="24828" y="32207"/>
                </a:lnTo>
                <a:lnTo>
                  <a:pt x="26949" y="32092"/>
                </a:lnTo>
                <a:lnTo>
                  <a:pt x="29781" y="31953"/>
                </a:lnTo>
                <a:lnTo>
                  <a:pt x="35115" y="31711"/>
                </a:lnTo>
                <a:lnTo>
                  <a:pt x="39382" y="31559"/>
                </a:lnTo>
                <a:lnTo>
                  <a:pt x="42951" y="31457"/>
                </a:lnTo>
                <a:lnTo>
                  <a:pt x="47980" y="31356"/>
                </a:lnTo>
                <a:lnTo>
                  <a:pt x="53009" y="31292"/>
                </a:lnTo>
                <a:lnTo>
                  <a:pt x="77482" y="31114"/>
                </a:lnTo>
                <a:lnTo>
                  <a:pt x="100215" y="30568"/>
                </a:lnTo>
                <a:lnTo>
                  <a:pt x="128409" y="29387"/>
                </a:lnTo>
                <a:lnTo>
                  <a:pt x="161302" y="27368"/>
                </a:lnTo>
                <a:lnTo>
                  <a:pt x="267601" y="19011"/>
                </a:lnTo>
                <a:lnTo>
                  <a:pt x="298208" y="16700"/>
                </a:lnTo>
                <a:lnTo>
                  <a:pt x="298081" y="16700"/>
                </a:lnTo>
                <a:lnTo>
                  <a:pt x="329069" y="14693"/>
                </a:lnTo>
                <a:lnTo>
                  <a:pt x="375678" y="12509"/>
                </a:lnTo>
                <a:lnTo>
                  <a:pt x="438543" y="10744"/>
                </a:lnTo>
                <a:lnTo>
                  <a:pt x="814819" y="10121"/>
                </a:lnTo>
                <a:lnTo>
                  <a:pt x="738136" y="5321"/>
                </a:lnTo>
                <a:lnTo>
                  <a:pt x="669175" y="2349"/>
                </a:lnTo>
                <a:lnTo>
                  <a:pt x="583831" y="317"/>
                </a:lnTo>
                <a:lnTo>
                  <a:pt x="535063" y="0"/>
                </a:lnTo>
                <a:close/>
              </a:path>
              <a:path w="1389380" h="76835">
                <a:moveTo>
                  <a:pt x="857816" y="13309"/>
                </a:moveTo>
                <a:lnTo>
                  <a:pt x="668794" y="13309"/>
                </a:lnTo>
                <a:lnTo>
                  <a:pt x="720610" y="15811"/>
                </a:lnTo>
                <a:lnTo>
                  <a:pt x="737501" y="16763"/>
                </a:lnTo>
                <a:lnTo>
                  <a:pt x="828814" y="22796"/>
                </a:lnTo>
                <a:lnTo>
                  <a:pt x="972756" y="22783"/>
                </a:lnTo>
                <a:lnTo>
                  <a:pt x="857816" y="13309"/>
                </a:lnTo>
                <a:close/>
              </a:path>
              <a:path w="1389380" h="76835">
                <a:moveTo>
                  <a:pt x="814819" y="10121"/>
                </a:moveTo>
                <a:lnTo>
                  <a:pt x="518807" y="10121"/>
                </a:lnTo>
                <a:lnTo>
                  <a:pt x="535063" y="10185"/>
                </a:lnTo>
                <a:lnTo>
                  <a:pt x="600595" y="11112"/>
                </a:lnTo>
                <a:lnTo>
                  <a:pt x="600468" y="11112"/>
                </a:lnTo>
                <a:lnTo>
                  <a:pt x="668794" y="13322"/>
                </a:lnTo>
                <a:lnTo>
                  <a:pt x="857816" y="13309"/>
                </a:lnTo>
                <a:lnTo>
                  <a:pt x="814819" y="101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743" y="992885"/>
            <a:ext cx="1926589" cy="277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Evaluating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classifiers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(via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5" dirty="0">
                <a:latin typeface="Calibri"/>
                <a:cs typeface="Calibri"/>
              </a:rPr>
              <a:t> ROC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curves)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Calibri"/>
              <a:cs typeface="Calibri"/>
            </a:endParaRPr>
          </a:p>
          <a:p>
            <a:pPr marL="12700" marR="181610">
              <a:lnSpc>
                <a:spcPct val="100000"/>
              </a:lnSpc>
            </a:pPr>
            <a:r>
              <a:rPr sz="1500" spc="-5" dirty="0">
                <a:latin typeface="Calibri"/>
                <a:cs typeface="Calibri"/>
              </a:rPr>
              <a:t>Classifier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5" dirty="0">
                <a:latin typeface="Calibri"/>
                <a:cs typeface="Calibri"/>
              </a:rPr>
              <a:t>can’t 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distinguish </a:t>
            </a:r>
            <a:r>
              <a:rPr sz="1500" spc="-10" dirty="0">
                <a:latin typeface="Calibri"/>
                <a:cs typeface="Calibri"/>
              </a:rPr>
              <a:t>between </a:t>
            </a:r>
            <a:r>
              <a:rPr sz="1500" spc="-5" dirty="0">
                <a:latin typeface="Calibri"/>
                <a:cs typeface="Calibri"/>
              </a:rPr>
              <a:t> normal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abnormal.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Calibri"/>
              <a:cs typeface="Calibri"/>
            </a:endParaRPr>
          </a:p>
          <a:p>
            <a:pPr marL="12700" marR="27559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B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better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makes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some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mistakes.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Calibri"/>
              <a:cs typeface="Calibri"/>
            </a:endParaRPr>
          </a:p>
          <a:p>
            <a:pPr marL="12700" marR="567055">
              <a:lnSpc>
                <a:spcPct val="101299"/>
              </a:lnSpc>
            </a:pPr>
            <a:r>
              <a:rPr sz="1500" dirty="0">
                <a:latin typeface="Calibri"/>
                <a:cs typeface="Calibri"/>
              </a:rPr>
              <a:t>C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makes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very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few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mistakes</a:t>
            </a:r>
            <a:r>
              <a:rPr sz="1500" spc="-10" dirty="0">
                <a:latin typeface="Tahoma"/>
                <a:cs typeface="Tahoma"/>
              </a:rPr>
              <a:t>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8355" y="612648"/>
            <a:ext cx="5372100" cy="3581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E9C450-BE13-DBDC-590D-B37CE2128180}"/>
              </a:ext>
            </a:extLst>
          </p:cNvPr>
          <p:cNvSpPr txBox="1"/>
          <p:nvPr/>
        </p:nvSpPr>
        <p:spPr>
          <a:xfrm>
            <a:off x="256743" y="4161520"/>
            <a:ext cx="457200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lvl="1">
              <a:lnSpc>
                <a:spcPct val="100000"/>
              </a:lnSpc>
              <a:spcBef>
                <a:spcPts val="430"/>
              </a:spcBef>
              <a:tabLst>
                <a:tab pos="756285" algn="l"/>
                <a:tab pos="756920" algn="l"/>
              </a:tabLst>
            </a:pPr>
            <a:r>
              <a:rPr lang="en-IN" sz="1800" spc="-5" dirty="0">
                <a:latin typeface="Calibri"/>
                <a:cs typeface="Calibri"/>
              </a:rPr>
              <a:t>Sensitivity or TPF</a:t>
            </a:r>
            <a:r>
              <a:rPr lang="en-IN" sz="1800" spc="-25" dirty="0">
                <a:latin typeface="Calibri"/>
                <a:cs typeface="Calibri"/>
              </a:rPr>
              <a:t> </a:t>
            </a:r>
            <a:r>
              <a:rPr lang="en-IN" sz="1800" dirty="0">
                <a:latin typeface="Calibri"/>
                <a:cs typeface="Calibri"/>
              </a:rPr>
              <a:t>=</a:t>
            </a:r>
            <a:r>
              <a:rPr lang="en-IN" sz="1800" spc="-10" dirty="0">
                <a:latin typeface="Calibri"/>
                <a:cs typeface="Calibri"/>
              </a:rPr>
              <a:t> </a:t>
            </a:r>
            <a:r>
              <a:rPr lang="en-IN" sz="1800" spc="-5" dirty="0">
                <a:latin typeface="Calibri"/>
                <a:cs typeface="Calibri"/>
              </a:rPr>
              <a:t>TP</a:t>
            </a:r>
            <a:r>
              <a:rPr lang="en-IN" sz="1800" spc="-15" dirty="0">
                <a:latin typeface="Calibri"/>
                <a:cs typeface="Calibri"/>
              </a:rPr>
              <a:t> </a:t>
            </a:r>
            <a:r>
              <a:rPr lang="en-IN" sz="1800" dirty="0">
                <a:latin typeface="Calibri"/>
                <a:cs typeface="Calibri"/>
              </a:rPr>
              <a:t>/</a:t>
            </a:r>
            <a:r>
              <a:rPr lang="en-IN" sz="1800" spc="-10" dirty="0">
                <a:latin typeface="Calibri"/>
                <a:cs typeface="Calibri"/>
              </a:rPr>
              <a:t> </a:t>
            </a:r>
            <a:r>
              <a:rPr lang="en-IN" sz="1800" spc="-5" dirty="0">
                <a:latin typeface="Calibri"/>
                <a:cs typeface="Calibri"/>
              </a:rPr>
              <a:t>(TP+FN)</a:t>
            </a:r>
          </a:p>
          <a:p>
            <a:pPr marL="469265" lvl="1">
              <a:spcBef>
                <a:spcPts val="430"/>
              </a:spcBef>
              <a:tabLst>
                <a:tab pos="756285" algn="l"/>
                <a:tab pos="756920" algn="l"/>
              </a:tabLst>
            </a:pPr>
            <a:r>
              <a:rPr lang="en-IN" sz="1800" i="1" spc="-5" dirty="0">
                <a:latin typeface="Calibri"/>
                <a:cs typeface="Calibri"/>
              </a:rPr>
              <a:t>Specificity</a:t>
            </a:r>
            <a:r>
              <a:rPr lang="en-IN" sz="1800" i="1" spc="5" dirty="0">
                <a:latin typeface="Calibri"/>
                <a:cs typeface="Calibri"/>
              </a:rPr>
              <a:t> </a:t>
            </a:r>
            <a:r>
              <a:rPr lang="en-IN" sz="1800" dirty="0">
                <a:latin typeface="Calibri"/>
                <a:cs typeface="Calibri"/>
              </a:rPr>
              <a:t>=</a:t>
            </a:r>
            <a:r>
              <a:rPr lang="en-IN" sz="1800" spc="-15" dirty="0">
                <a:latin typeface="Calibri"/>
                <a:cs typeface="Calibri"/>
              </a:rPr>
              <a:t> </a:t>
            </a:r>
            <a:r>
              <a:rPr lang="en-IN" sz="1800" spc="-5" dirty="0">
                <a:latin typeface="Calibri"/>
                <a:cs typeface="Calibri"/>
              </a:rPr>
              <a:t>TN</a:t>
            </a:r>
            <a:r>
              <a:rPr lang="en-IN" sz="1800" spc="-15" dirty="0">
                <a:latin typeface="Calibri"/>
                <a:cs typeface="Calibri"/>
              </a:rPr>
              <a:t> </a:t>
            </a:r>
            <a:r>
              <a:rPr lang="en-IN" sz="1800" dirty="0">
                <a:latin typeface="Calibri"/>
                <a:cs typeface="Calibri"/>
              </a:rPr>
              <a:t>/</a:t>
            </a:r>
            <a:r>
              <a:rPr lang="en-IN" sz="1800" spc="-5" dirty="0">
                <a:latin typeface="Calibri"/>
                <a:cs typeface="Calibri"/>
              </a:rPr>
              <a:t> (TN+FP)</a:t>
            </a:r>
            <a:endParaRPr lang="en-IN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925" y="2038350"/>
            <a:ext cx="119570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ahoma"/>
                <a:cs typeface="Tahoma"/>
              </a:rPr>
              <a:t>“Perfect” 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means no 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false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5" dirty="0">
                <a:latin typeface="Tahoma"/>
                <a:cs typeface="Tahoma"/>
              </a:rPr>
              <a:t>positives </a:t>
            </a:r>
            <a:r>
              <a:rPr sz="1500" spc="-4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 no </a:t>
            </a:r>
            <a:r>
              <a:rPr sz="1500" spc="-10" dirty="0">
                <a:latin typeface="Tahoma"/>
                <a:cs typeface="Tahoma"/>
              </a:rPr>
              <a:t>false </a:t>
            </a:r>
            <a:r>
              <a:rPr sz="1500" spc="-5" dirty="0">
                <a:latin typeface="Tahoma"/>
                <a:cs typeface="Tahoma"/>
              </a:rPr>
              <a:t> negatives.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8355" y="612648"/>
            <a:ext cx="53721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85953"/>
            <a:ext cx="1896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ROC</a:t>
            </a:r>
            <a:r>
              <a:rPr spc="-8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623" y="843788"/>
            <a:ext cx="60337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ROC</a:t>
            </a:r>
            <a:r>
              <a:rPr sz="2000" dirty="0">
                <a:latin typeface="Calibri"/>
                <a:cs typeface="Calibri"/>
              </a:rPr>
              <a:t> =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receiver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operator/operating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characteristic/curve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7420" y="1516380"/>
            <a:ext cx="5652515" cy="2785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BBA1-1E17-E81D-0776-CB5C699C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8B56C-8694-AE3F-9E25-7B22F3FBB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Performance Metrics: Confusion matrix, Precision, Recall, and F1 Score | by  Vaibhav Jayaswal | Towards Data Science">
            <a:extLst>
              <a:ext uri="{FF2B5EF4-FFF2-40B4-BE49-F238E27FC236}">
                <a16:creationId xmlns:a16="http://schemas.microsoft.com/office/drawing/2014/main" id="{78F70092-8760-27AE-2A0F-7E16BC0DB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1371600"/>
            <a:ext cx="32194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14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5797" y="385953"/>
            <a:ext cx="4771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5" dirty="0">
                <a:latin typeface="Calibri"/>
                <a:cs typeface="Calibri"/>
              </a:rPr>
              <a:t>Area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Under</a:t>
            </a:r>
            <a:r>
              <a:rPr b="0" spc="1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the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ROC</a:t>
            </a:r>
            <a:r>
              <a:rPr b="0" spc="-10" dirty="0">
                <a:latin typeface="Calibri"/>
                <a:cs typeface="Calibri"/>
              </a:rPr>
              <a:t> Curve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(AUC)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7732" y="870354"/>
            <a:ext cx="3790188" cy="37656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5797" y="385953"/>
            <a:ext cx="4771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5" dirty="0">
                <a:latin typeface="Calibri"/>
                <a:cs typeface="Calibri"/>
              </a:rPr>
              <a:t>Area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Under</a:t>
            </a:r>
            <a:r>
              <a:rPr b="0" spc="15" dirty="0">
                <a:latin typeface="Calibri"/>
                <a:cs typeface="Calibri"/>
              </a:rPr>
              <a:t> </a:t>
            </a:r>
            <a:r>
              <a:rPr b="0" spc="-5" dirty="0">
                <a:latin typeface="Calibri"/>
                <a:cs typeface="Calibri"/>
              </a:rPr>
              <a:t>the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ROC</a:t>
            </a:r>
            <a:r>
              <a:rPr b="0" spc="-10" dirty="0">
                <a:latin typeface="Calibri"/>
                <a:cs typeface="Calibri"/>
              </a:rPr>
              <a:t> Curve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15" dirty="0">
                <a:latin typeface="Calibri"/>
                <a:cs typeface="Calibri"/>
              </a:rPr>
              <a:t>(AUC)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4813"/>
            <a:ext cx="397764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AUC?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spc="-5" dirty="0">
                <a:latin typeface="Calibri"/>
                <a:cs typeface="Calibri"/>
              </a:rPr>
              <a:t>Maximum 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(perfect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8903" y="1200911"/>
            <a:ext cx="3327679" cy="31059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552" y="385953"/>
            <a:ext cx="4866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Area</a:t>
            </a:r>
            <a:r>
              <a:rPr spc="20" dirty="0"/>
              <a:t> </a:t>
            </a:r>
            <a:r>
              <a:rPr spc="-5" dirty="0"/>
              <a:t>Under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15" dirty="0"/>
              <a:t>ROC</a:t>
            </a:r>
            <a:r>
              <a:rPr spc="5" dirty="0"/>
              <a:t> </a:t>
            </a:r>
            <a:r>
              <a:rPr spc="-10" dirty="0"/>
              <a:t>Curve</a:t>
            </a:r>
            <a:r>
              <a:rPr spc="10" dirty="0"/>
              <a:t> </a:t>
            </a:r>
            <a:r>
              <a:rPr spc="-15" dirty="0"/>
              <a:t>(AUC)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0055"/>
            <a:ext cx="2745740" cy="17938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AUC?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Maximum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(perfect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prediction)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5" dirty="0">
                <a:latin typeface="Calibri"/>
                <a:cs typeface="Calibri"/>
              </a:rPr>
              <a:t>(just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guessing)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2164" y="1063915"/>
            <a:ext cx="3705205" cy="35278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5608" y="385953"/>
            <a:ext cx="4728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Selecting</a:t>
            </a:r>
            <a:r>
              <a:rPr spc="30" dirty="0"/>
              <a:t> </a:t>
            </a:r>
            <a:r>
              <a:rPr spc="-5" dirty="0"/>
              <a:t>a</a:t>
            </a:r>
            <a:r>
              <a:rPr spc="10" dirty="0"/>
              <a:t> </a:t>
            </a:r>
            <a:r>
              <a:rPr spc="-15" dirty="0"/>
              <a:t>Threshold</a:t>
            </a:r>
            <a:r>
              <a:rPr spc="25" dirty="0"/>
              <a:t> </a:t>
            </a:r>
            <a:r>
              <a:rPr spc="-5" dirty="0"/>
              <a:t>using</a:t>
            </a:r>
            <a:r>
              <a:rPr spc="5" dirty="0"/>
              <a:t> </a:t>
            </a:r>
            <a:r>
              <a:rPr spc="-20" dirty="0"/>
              <a:t>ROC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54813"/>
            <a:ext cx="4486910" cy="10528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Choose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threshold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best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off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15" dirty="0">
                <a:latin typeface="Calibri"/>
                <a:cs typeface="Calibri"/>
              </a:rPr>
              <a:t>cost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failing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detect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positives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800" spc="-10" dirty="0">
                <a:latin typeface="Calibri"/>
                <a:cs typeface="Calibri"/>
              </a:rPr>
              <a:t>costs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raising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alarms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234" y="360934"/>
            <a:ext cx="1320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ROC</a:t>
            </a:r>
            <a:r>
              <a:rPr spc="-75" dirty="0"/>
              <a:t> </a:t>
            </a:r>
            <a:r>
              <a:rPr spc="-10" dirty="0"/>
              <a:t>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286" y="997152"/>
            <a:ext cx="659955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700" dirty="0">
                <a:latin typeface="Calibri"/>
                <a:cs typeface="Calibri"/>
              </a:rPr>
              <a:t>A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typical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look of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ROC</a:t>
            </a:r>
            <a:r>
              <a:rPr sz="1700" dirty="0">
                <a:latin typeface="Calibri"/>
                <a:cs typeface="Calibri"/>
              </a:rPr>
              <a:t> plot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few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points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shown in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following</a:t>
            </a:r>
            <a:endParaRPr sz="17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1700" spc="-5" dirty="0">
                <a:latin typeface="Calibri"/>
                <a:cs typeface="Calibri"/>
              </a:rPr>
              <a:t>figure.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5286" y="3726281"/>
            <a:ext cx="65017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700" spc="-5" dirty="0">
                <a:latin typeface="Calibri"/>
                <a:cs typeface="Calibri"/>
              </a:rPr>
              <a:t>Note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four</a:t>
            </a:r>
            <a:r>
              <a:rPr sz="1700" spc="-5" dirty="0">
                <a:latin typeface="Calibri"/>
                <a:cs typeface="Calibri"/>
              </a:rPr>
              <a:t> cornered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points </a:t>
            </a:r>
            <a:r>
              <a:rPr sz="1700" spc="-10" dirty="0">
                <a:latin typeface="Calibri"/>
                <a:cs typeface="Calibri"/>
              </a:rPr>
              <a:t>are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four</a:t>
            </a:r>
            <a:r>
              <a:rPr sz="1700" spc="-5" dirty="0">
                <a:latin typeface="Calibri"/>
                <a:cs typeface="Calibri"/>
              </a:rPr>
              <a:t> extreme cases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of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classifiers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1389888"/>
            <a:ext cx="3486912" cy="21214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7680" y="385953"/>
            <a:ext cx="66268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Interpretation</a:t>
            </a:r>
            <a:r>
              <a:rPr spc="5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20" dirty="0"/>
              <a:t>Different</a:t>
            </a:r>
            <a:r>
              <a:rPr spc="35" dirty="0"/>
              <a:t> </a:t>
            </a:r>
            <a:r>
              <a:rPr spc="-20" dirty="0"/>
              <a:t>Points</a:t>
            </a:r>
            <a:r>
              <a:rPr spc="20" dirty="0"/>
              <a:t> </a:t>
            </a:r>
            <a:r>
              <a:rPr spc="-5" dirty="0"/>
              <a:t>in</a:t>
            </a:r>
            <a:r>
              <a:rPr spc="10" dirty="0"/>
              <a:t> </a:t>
            </a:r>
            <a:r>
              <a:rPr spc="-15" dirty="0"/>
              <a:t>ROC</a:t>
            </a:r>
            <a:r>
              <a:rPr dirty="0"/>
              <a:t> </a:t>
            </a:r>
            <a:r>
              <a:rPr spc="-10" dirty="0"/>
              <a:t>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1" y="856080"/>
            <a:ext cx="5636260" cy="310084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four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points </a:t>
            </a:r>
            <a:r>
              <a:rPr dirty="0">
                <a:latin typeface="Calibri"/>
                <a:cs typeface="Calibri"/>
              </a:rPr>
              <a:t>(A,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B,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D)</a:t>
            </a:r>
            <a:endParaRPr dirty="0">
              <a:latin typeface="Calibri"/>
              <a:cs typeface="Calibri"/>
            </a:endParaRPr>
          </a:p>
          <a:p>
            <a:pPr marL="355600" marR="27368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>
                <a:latin typeface="Calibri"/>
                <a:cs typeface="Calibri"/>
              </a:rPr>
              <a:t>A: </a:t>
            </a:r>
            <a:r>
              <a:rPr spc="-5" dirty="0">
                <a:latin typeface="Calibri"/>
                <a:cs typeface="Calibri"/>
              </a:rPr>
              <a:t>TPR </a:t>
            </a:r>
            <a:r>
              <a:rPr dirty="0">
                <a:latin typeface="Calibri"/>
                <a:cs typeface="Calibri"/>
              </a:rPr>
              <a:t>= 1, </a:t>
            </a:r>
            <a:r>
              <a:rPr spc="-5" dirty="0">
                <a:latin typeface="Calibri"/>
                <a:cs typeface="Calibri"/>
              </a:rPr>
              <a:t>FPR </a:t>
            </a:r>
            <a:r>
              <a:rPr dirty="0">
                <a:latin typeface="Calibri"/>
                <a:cs typeface="Calibri"/>
              </a:rPr>
              <a:t>= 0, the ideal model, </a:t>
            </a:r>
            <a:r>
              <a:rPr spc="-5" dirty="0">
                <a:latin typeface="Calibri"/>
                <a:cs typeface="Calibri"/>
              </a:rPr>
              <a:t>i.e.,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10" dirty="0">
                <a:latin typeface="Calibri"/>
                <a:cs typeface="Calibri"/>
              </a:rPr>
              <a:t>perfect </a:t>
            </a:r>
            <a:r>
              <a:rPr spc="-4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classifier,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no </a:t>
            </a:r>
            <a:r>
              <a:rPr spc="-10" dirty="0">
                <a:latin typeface="Calibri"/>
                <a:cs typeface="Calibri"/>
              </a:rPr>
              <a:t>false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results</a:t>
            </a:r>
            <a:endParaRPr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>
                <a:latin typeface="Calibri"/>
                <a:cs typeface="Calibri"/>
              </a:rPr>
              <a:t>B:</a:t>
            </a:r>
            <a:r>
              <a:rPr spc="-5" dirty="0">
                <a:latin typeface="Calibri"/>
                <a:cs typeface="Calibri"/>
              </a:rPr>
              <a:t> TPR</a:t>
            </a:r>
            <a:r>
              <a:rPr dirty="0">
                <a:latin typeface="Calibri"/>
                <a:cs typeface="Calibri"/>
              </a:rPr>
              <a:t> = 0,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FPR</a:t>
            </a:r>
            <a:r>
              <a:rPr dirty="0">
                <a:latin typeface="Calibri"/>
                <a:cs typeface="Calibri"/>
              </a:rPr>
              <a:t> = 1,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worst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classifier,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not </a:t>
            </a:r>
            <a:r>
              <a:rPr dirty="0">
                <a:latin typeface="Calibri"/>
                <a:cs typeface="Calibri"/>
              </a:rPr>
              <a:t>able</a:t>
            </a:r>
            <a:r>
              <a:rPr spc="-10" dirty="0">
                <a:latin typeface="Calibri"/>
                <a:cs typeface="Calibri"/>
              </a:rPr>
              <a:t> to</a:t>
            </a:r>
            <a:endParaRPr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predict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single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instance</a:t>
            </a:r>
            <a:endParaRPr dirty="0">
              <a:latin typeface="Calibri"/>
              <a:cs typeface="Calibri"/>
            </a:endParaRPr>
          </a:p>
          <a:p>
            <a:pPr marL="355600" marR="10922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latin typeface="Calibri"/>
                <a:cs typeface="Calibri"/>
              </a:rPr>
              <a:t>C: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TPR</a:t>
            </a:r>
            <a:r>
              <a:rPr dirty="0">
                <a:latin typeface="Calibri"/>
                <a:cs typeface="Calibri"/>
              </a:rPr>
              <a:t> =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0,</a:t>
            </a:r>
            <a:r>
              <a:rPr spc="-5" dirty="0">
                <a:latin typeface="Calibri"/>
                <a:cs typeface="Calibri"/>
              </a:rPr>
              <a:t> FPR</a:t>
            </a:r>
            <a:r>
              <a:rPr dirty="0">
                <a:latin typeface="Calibri"/>
                <a:cs typeface="Calibri"/>
              </a:rPr>
              <a:t> =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predicts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every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instance </a:t>
            </a:r>
            <a:r>
              <a:rPr spc="-44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Negative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class,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i.e.,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ultra-conservative </a:t>
            </a:r>
            <a:r>
              <a:rPr spc="-5" dirty="0">
                <a:latin typeface="Calibri"/>
                <a:cs typeface="Calibri"/>
              </a:rPr>
              <a:t> classifier</a:t>
            </a:r>
            <a:endParaRPr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latin typeface="Calibri"/>
                <a:cs typeface="Calibri"/>
              </a:rPr>
              <a:t>D: TPR </a:t>
            </a:r>
            <a:r>
              <a:rPr dirty="0">
                <a:latin typeface="Calibri"/>
                <a:cs typeface="Calibri"/>
              </a:rPr>
              <a:t>= 1, </a:t>
            </a:r>
            <a:r>
              <a:rPr spc="-5" dirty="0">
                <a:latin typeface="Calibri"/>
                <a:cs typeface="Calibri"/>
              </a:rPr>
              <a:t>FPR </a:t>
            </a:r>
            <a:r>
              <a:rPr dirty="0">
                <a:latin typeface="Calibri"/>
                <a:cs typeface="Calibri"/>
              </a:rPr>
              <a:t>= 1, the model </a:t>
            </a:r>
            <a:r>
              <a:rPr spc="-5" dirty="0">
                <a:latin typeface="Calibri"/>
                <a:cs typeface="Calibri"/>
              </a:rPr>
              <a:t>predicts </a:t>
            </a:r>
            <a:r>
              <a:rPr spc="-10" dirty="0">
                <a:latin typeface="Calibri"/>
                <a:cs typeface="Calibri"/>
              </a:rPr>
              <a:t>every </a:t>
            </a:r>
            <a:r>
              <a:rPr spc="-5" dirty="0">
                <a:latin typeface="Calibri"/>
                <a:cs typeface="Calibri"/>
              </a:rPr>
              <a:t>instance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dirty="0">
                <a:latin typeface="Calibri"/>
                <a:cs typeface="Calibri"/>
              </a:rPr>
              <a:t> be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Positive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class,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i.e.,</a:t>
            </a:r>
            <a:r>
              <a:rPr dirty="0">
                <a:latin typeface="Calibri"/>
                <a:cs typeface="Calibri"/>
              </a:rPr>
              <a:t> it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ultra-liberal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classifier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1047750"/>
            <a:ext cx="3198813" cy="23622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340233"/>
            <a:ext cx="66268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Interpretation</a:t>
            </a:r>
            <a:r>
              <a:rPr spc="5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20" dirty="0"/>
              <a:t>Different</a:t>
            </a:r>
            <a:r>
              <a:rPr spc="35" dirty="0"/>
              <a:t> </a:t>
            </a:r>
            <a:r>
              <a:rPr spc="-20" dirty="0"/>
              <a:t>Points</a:t>
            </a:r>
            <a:r>
              <a:rPr spc="20" dirty="0"/>
              <a:t> </a:t>
            </a:r>
            <a:r>
              <a:rPr spc="-5" dirty="0"/>
              <a:t>in</a:t>
            </a:r>
            <a:r>
              <a:rPr spc="10" dirty="0"/>
              <a:t> </a:t>
            </a:r>
            <a:r>
              <a:rPr spc="-15" dirty="0"/>
              <a:t>ROC</a:t>
            </a:r>
            <a:r>
              <a:rPr dirty="0"/>
              <a:t> </a:t>
            </a:r>
            <a:r>
              <a:rPr spc="-10" dirty="0"/>
              <a:t>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90" y="932180"/>
            <a:ext cx="5592445" cy="341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439420" indent="-3429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Let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interpret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different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ROC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plot.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points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on the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upper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diagonal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region</a:t>
            </a:r>
            <a:endParaRPr sz="2000">
              <a:latin typeface="Calibri"/>
              <a:cs typeface="Calibri"/>
            </a:endParaRPr>
          </a:p>
          <a:p>
            <a:pPr marL="355600" marR="169545" indent="-342900">
              <a:lnSpc>
                <a:spcPct val="90000"/>
              </a:lnSpc>
              <a:spcBef>
                <a:spcPts val="12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All </a:t>
            </a:r>
            <a:r>
              <a:rPr sz="2000" spc="-5" dirty="0">
                <a:latin typeface="Calibri"/>
                <a:cs typeface="Calibri"/>
              </a:rPr>
              <a:t>points, </a:t>
            </a:r>
            <a:r>
              <a:rPr sz="2000" dirty="0">
                <a:latin typeface="Calibri"/>
                <a:cs typeface="Calibri"/>
              </a:rPr>
              <a:t>which </a:t>
            </a:r>
            <a:r>
              <a:rPr sz="2000" spc="-10" dirty="0">
                <a:latin typeface="Calibri"/>
                <a:cs typeface="Calibri"/>
              </a:rPr>
              <a:t>reside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upper-diagonal </a:t>
            </a:r>
            <a:r>
              <a:rPr sz="2000" spc="-5" dirty="0">
                <a:latin typeface="Calibri"/>
                <a:cs typeface="Calibri"/>
              </a:rPr>
              <a:t>region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corresponding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classifiers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“good”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 their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TPR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5" dirty="0">
                <a:latin typeface="Calibri"/>
                <a:cs typeface="Calibri"/>
              </a:rPr>
              <a:t>FPR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(i.e.,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FPRs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lower</a:t>
            </a:r>
            <a:r>
              <a:rPr sz="2000" dirty="0">
                <a:latin typeface="Calibri"/>
                <a:cs typeface="Calibri"/>
              </a:rPr>
              <a:t> than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TPRs)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ts val="2280"/>
              </a:lnSpc>
              <a:spcBef>
                <a:spcPts val="2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Here,</a:t>
            </a:r>
            <a:r>
              <a:rPr sz="2000" dirty="0">
                <a:latin typeface="Calibri"/>
                <a:cs typeface="Calibri"/>
              </a:rPr>
              <a:t> X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better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 as X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 higher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TPR</a:t>
            </a:r>
            <a:r>
              <a:rPr sz="2000" dirty="0">
                <a:latin typeface="Calibri"/>
                <a:cs typeface="Calibri"/>
              </a:rPr>
              <a:t> 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</a:pPr>
            <a:r>
              <a:rPr sz="2000" spc="-10" dirty="0">
                <a:latin typeface="Calibri"/>
                <a:cs typeface="Calibri"/>
              </a:rPr>
              <a:t>lower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FPR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Z.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ts val="2160"/>
              </a:lnSpc>
              <a:spcBef>
                <a:spcPts val="5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10" dirty="0">
                <a:latin typeface="Calibri"/>
                <a:cs typeface="Calibri"/>
              </a:rPr>
              <a:t> we compare </a:t>
            </a:r>
            <a:r>
              <a:rPr sz="2000" dirty="0">
                <a:latin typeface="Calibri"/>
                <a:cs typeface="Calibri"/>
              </a:rPr>
              <a:t>X and </a:t>
            </a:r>
            <a:r>
              <a:rPr sz="2000" spc="-130" dirty="0">
                <a:latin typeface="Calibri"/>
                <a:cs typeface="Calibri"/>
              </a:rPr>
              <a:t>Y,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neither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classifier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superior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77128" y="1755648"/>
            <a:ext cx="3167380" cy="1991995"/>
            <a:chOff x="5977128" y="1755648"/>
            <a:chExt cx="3167380" cy="1991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7128" y="1755648"/>
              <a:ext cx="3166872" cy="19918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3071" y="2310003"/>
              <a:ext cx="167767" cy="1447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6525" y="2148967"/>
              <a:ext cx="295380" cy="32385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6109" y="176606"/>
            <a:ext cx="6627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Interpretation</a:t>
            </a:r>
            <a:r>
              <a:rPr spc="6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20" dirty="0"/>
              <a:t>Different</a:t>
            </a:r>
            <a:r>
              <a:rPr spc="35" dirty="0"/>
              <a:t> </a:t>
            </a:r>
            <a:r>
              <a:rPr spc="-20" dirty="0"/>
              <a:t>Points</a:t>
            </a:r>
            <a:r>
              <a:rPr spc="20"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spc="-15" dirty="0"/>
              <a:t>ROC</a:t>
            </a:r>
            <a:r>
              <a:rPr spc="5" dirty="0"/>
              <a:t> </a:t>
            </a:r>
            <a:r>
              <a:rPr spc="-10" dirty="0"/>
              <a:t>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577" y="1039749"/>
            <a:ext cx="5257165" cy="341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4965" marR="98425" indent="-3429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Let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interpret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different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ROC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points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lower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diagonal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756285" marR="5080" lvl="1" indent="-287020">
              <a:lnSpc>
                <a:spcPts val="2160"/>
              </a:lnSpc>
              <a:spcBef>
                <a:spcPts val="5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The Lower-diagonal </a:t>
            </a:r>
            <a:r>
              <a:rPr sz="2000" dirty="0">
                <a:latin typeface="Calibri"/>
                <a:cs typeface="Calibri"/>
              </a:rPr>
              <a:t>triangle </a:t>
            </a:r>
            <a:r>
              <a:rPr sz="2000" spc="-5" dirty="0">
                <a:latin typeface="Calibri"/>
                <a:cs typeface="Calibri"/>
              </a:rPr>
              <a:t>corresponds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classifiers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worst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random </a:t>
            </a:r>
            <a:r>
              <a:rPr sz="2000" spc="-5" dirty="0">
                <a:latin typeface="Calibri"/>
                <a:cs typeface="Calibri"/>
              </a:rPr>
              <a:t> classifiers</a:t>
            </a:r>
            <a:endParaRPr sz="2000">
              <a:latin typeface="Calibri"/>
              <a:cs typeface="Calibri"/>
            </a:endParaRPr>
          </a:p>
          <a:p>
            <a:pPr marL="756285" marR="21590" lvl="1" indent="-287020">
              <a:lnSpc>
                <a:spcPts val="216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classifier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worser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" dirty="0">
                <a:latin typeface="Calibri"/>
                <a:cs typeface="Calibri"/>
              </a:rPr>
              <a:t> random </a:t>
            </a:r>
            <a:r>
              <a:rPr sz="2000" dirty="0">
                <a:latin typeface="Calibri"/>
                <a:cs typeface="Calibri"/>
              </a:rPr>
              <a:t> guessing,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simply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reversing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prediction,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get </a:t>
            </a:r>
            <a:r>
              <a:rPr sz="2000" spc="-5" dirty="0">
                <a:latin typeface="Calibri"/>
                <a:cs typeface="Calibri"/>
              </a:rPr>
              <a:t>good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results.</a:t>
            </a:r>
            <a:endParaRPr sz="2000">
              <a:latin typeface="Calibri"/>
              <a:cs typeface="Calibri"/>
            </a:endParaRPr>
          </a:p>
          <a:p>
            <a:pPr marL="469900" marR="113030">
              <a:lnSpc>
                <a:spcPts val="2160"/>
              </a:lnSpc>
              <a:spcBef>
                <a:spcPts val="480"/>
              </a:spcBef>
            </a:pPr>
            <a:r>
              <a:rPr sz="2000" dirty="0">
                <a:latin typeface="Calibri"/>
                <a:cs typeface="Calibri"/>
              </a:rPr>
              <a:t>W’(0.2, 0.4) is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better </a:t>
            </a:r>
            <a:r>
              <a:rPr sz="2000" spc="-15" dirty="0">
                <a:latin typeface="Calibri"/>
                <a:cs typeface="Calibri"/>
              </a:rPr>
              <a:t>version </a:t>
            </a:r>
            <a:r>
              <a:rPr sz="2000" dirty="0">
                <a:latin typeface="Calibri"/>
                <a:cs typeface="Calibri"/>
              </a:rPr>
              <a:t>than W(0.4,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0.2),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W’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mirror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reflection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2535" y="1138427"/>
            <a:ext cx="3284220" cy="1991995"/>
            <a:chOff x="5812535" y="1138427"/>
            <a:chExt cx="3284220" cy="1991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2535" y="1138427"/>
              <a:ext cx="3284219" cy="19918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26098" y="2227071"/>
              <a:ext cx="1079500" cy="505459"/>
            </a:xfrm>
            <a:custGeom>
              <a:avLst/>
              <a:gdLst/>
              <a:ahLst/>
              <a:cxnLst/>
              <a:rect l="l" t="t" r="r" b="b"/>
              <a:pathLst>
                <a:path w="1079500" h="505460">
                  <a:moveTo>
                    <a:pt x="450469" y="500126"/>
                  </a:moveTo>
                  <a:lnTo>
                    <a:pt x="449199" y="498475"/>
                  </a:lnTo>
                  <a:lnTo>
                    <a:pt x="432054" y="495935"/>
                  </a:lnTo>
                  <a:lnTo>
                    <a:pt x="432181" y="495935"/>
                  </a:lnTo>
                  <a:lnTo>
                    <a:pt x="398780" y="490728"/>
                  </a:lnTo>
                  <a:lnTo>
                    <a:pt x="379844" y="487553"/>
                  </a:lnTo>
                  <a:lnTo>
                    <a:pt x="379095" y="487426"/>
                  </a:lnTo>
                  <a:lnTo>
                    <a:pt x="379095" y="487553"/>
                  </a:lnTo>
                  <a:lnTo>
                    <a:pt x="376212" y="487045"/>
                  </a:lnTo>
                  <a:lnTo>
                    <a:pt x="356730" y="483616"/>
                  </a:lnTo>
                  <a:lnTo>
                    <a:pt x="316865" y="476758"/>
                  </a:lnTo>
                  <a:lnTo>
                    <a:pt x="316738" y="476758"/>
                  </a:lnTo>
                  <a:lnTo>
                    <a:pt x="294767" y="473329"/>
                  </a:lnTo>
                  <a:lnTo>
                    <a:pt x="294640" y="473329"/>
                  </a:lnTo>
                  <a:lnTo>
                    <a:pt x="271272" y="470154"/>
                  </a:lnTo>
                  <a:lnTo>
                    <a:pt x="271272" y="470027"/>
                  </a:lnTo>
                  <a:lnTo>
                    <a:pt x="247777" y="467106"/>
                  </a:lnTo>
                  <a:lnTo>
                    <a:pt x="140081" y="454914"/>
                  </a:lnTo>
                  <a:lnTo>
                    <a:pt x="122047" y="452628"/>
                  </a:lnTo>
                  <a:lnTo>
                    <a:pt x="122174" y="452628"/>
                  </a:lnTo>
                  <a:lnTo>
                    <a:pt x="105537" y="450342"/>
                  </a:lnTo>
                  <a:lnTo>
                    <a:pt x="105664" y="450342"/>
                  </a:lnTo>
                  <a:lnTo>
                    <a:pt x="89789" y="447929"/>
                  </a:lnTo>
                  <a:lnTo>
                    <a:pt x="89916" y="447929"/>
                  </a:lnTo>
                  <a:lnTo>
                    <a:pt x="75438" y="445389"/>
                  </a:lnTo>
                  <a:lnTo>
                    <a:pt x="75565" y="445389"/>
                  </a:lnTo>
                  <a:lnTo>
                    <a:pt x="63246" y="442849"/>
                  </a:lnTo>
                  <a:lnTo>
                    <a:pt x="63373" y="442849"/>
                  </a:lnTo>
                  <a:lnTo>
                    <a:pt x="52197" y="440182"/>
                  </a:lnTo>
                  <a:lnTo>
                    <a:pt x="52324" y="440182"/>
                  </a:lnTo>
                  <a:lnTo>
                    <a:pt x="41656" y="437388"/>
                  </a:lnTo>
                  <a:lnTo>
                    <a:pt x="35598" y="435737"/>
                  </a:lnTo>
                  <a:lnTo>
                    <a:pt x="33274" y="435102"/>
                  </a:lnTo>
                  <a:lnTo>
                    <a:pt x="33401" y="435102"/>
                  </a:lnTo>
                  <a:lnTo>
                    <a:pt x="26670" y="433197"/>
                  </a:lnTo>
                  <a:lnTo>
                    <a:pt x="19177" y="431165"/>
                  </a:lnTo>
                  <a:lnTo>
                    <a:pt x="19050" y="431165"/>
                  </a:lnTo>
                  <a:lnTo>
                    <a:pt x="13449" y="429895"/>
                  </a:lnTo>
                  <a:lnTo>
                    <a:pt x="8750" y="428879"/>
                  </a:lnTo>
                  <a:lnTo>
                    <a:pt x="8890" y="428879"/>
                  </a:lnTo>
                  <a:lnTo>
                    <a:pt x="4318" y="427609"/>
                  </a:lnTo>
                  <a:lnTo>
                    <a:pt x="3175" y="427228"/>
                  </a:lnTo>
                  <a:lnTo>
                    <a:pt x="2032" y="427609"/>
                  </a:lnTo>
                  <a:lnTo>
                    <a:pt x="1143" y="428371"/>
                  </a:lnTo>
                  <a:lnTo>
                    <a:pt x="381" y="429260"/>
                  </a:lnTo>
                  <a:lnTo>
                    <a:pt x="0" y="430403"/>
                  </a:lnTo>
                  <a:lnTo>
                    <a:pt x="749" y="432689"/>
                  </a:lnTo>
                  <a:lnTo>
                    <a:pt x="1651" y="433578"/>
                  </a:lnTo>
                  <a:lnTo>
                    <a:pt x="2794" y="433705"/>
                  </a:lnTo>
                  <a:lnTo>
                    <a:pt x="7493" y="434721"/>
                  </a:lnTo>
                  <a:lnTo>
                    <a:pt x="7366" y="434721"/>
                  </a:lnTo>
                  <a:lnTo>
                    <a:pt x="12065" y="435864"/>
                  </a:lnTo>
                  <a:lnTo>
                    <a:pt x="11925" y="435737"/>
                  </a:lnTo>
                  <a:lnTo>
                    <a:pt x="17526" y="437261"/>
                  </a:lnTo>
                  <a:lnTo>
                    <a:pt x="17399" y="437261"/>
                  </a:lnTo>
                  <a:lnTo>
                    <a:pt x="24765" y="439547"/>
                  </a:lnTo>
                  <a:lnTo>
                    <a:pt x="39624" y="444373"/>
                  </a:lnTo>
                  <a:lnTo>
                    <a:pt x="50292" y="447421"/>
                  </a:lnTo>
                  <a:lnTo>
                    <a:pt x="50419" y="447548"/>
                  </a:lnTo>
                  <a:lnTo>
                    <a:pt x="61468" y="450469"/>
                  </a:lnTo>
                  <a:lnTo>
                    <a:pt x="61595" y="450469"/>
                  </a:lnTo>
                  <a:lnTo>
                    <a:pt x="73787" y="453517"/>
                  </a:lnTo>
                  <a:lnTo>
                    <a:pt x="73914" y="453517"/>
                  </a:lnTo>
                  <a:lnTo>
                    <a:pt x="88265" y="456438"/>
                  </a:lnTo>
                  <a:lnTo>
                    <a:pt x="88392" y="456438"/>
                  </a:lnTo>
                  <a:lnTo>
                    <a:pt x="104140" y="459232"/>
                  </a:lnTo>
                  <a:lnTo>
                    <a:pt x="104267" y="459232"/>
                  </a:lnTo>
                  <a:lnTo>
                    <a:pt x="120777" y="461899"/>
                  </a:lnTo>
                  <a:lnTo>
                    <a:pt x="138811" y="464439"/>
                  </a:lnTo>
                  <a:lnTo>
                    <a:pt x="138811" y="464566"/>
                  </a:lnTo>
                  <a:lnTo>
                    <a:pt x="159004" y="467106"/>
                  </a:lnTo>
                  <a:lnTo>
                    <a:pt x="159004" y="467233"/>
                  </a:lnTo>
                  <a:lnTo>
                    <a:pt x="179451" y="469646"/>
                  </a:lnTo>
                  <a:lnTo>
                    <a:pt x="179578" y="469646"/>
                  </a:lnTo>
                  <a:lnTo>
                    <a:pt x="270002" y="480441"/>
                  </a:lnTo>
                  <a:lnTo>
                    <a:pt x="269875" y="480441"/>
                  </a:lnTo>
                  <a:lnTo>
                    <a:pt x="293243" y="483743"/>
                  </a:lnTo>
                  <a:lnTo>
                    <a:pt x="293116" y="483616"/>
                  </a:lnTo>
                  <a:lnTo>
                    <a:pt x="315087" y="487172"/>
                  </a:lnTo>
                  <a:lnTo>
                    <a:pt x="315087" y="487045"/>
                  </a:lnTo>
                  <a:lnTo>
                    <a:pt x="377317" y="497713"/>
                  </a:lnTo>
                  <a:lnTo>
                    <a:pt x="377444" y="497713"/>
                  </a:lnTo>
                  <a:lnTo>
                    <a:pt x="397256" y="500634"/>
                  </a:lnTo>
                  <a:lnTo>
                    <a:pt x="397383" y="500761"/>
                  </a:lnTo>
                  <a:lnTo>
                    <a:pt x="415163" y="502920"/>
                  </a:lnTo>
                  <a:lnTo>
                    <a:pt x="431165" y="504190"/>
                  </a:lnTo>
                  <a:lnTo>
                    <a:pt x="446786" y="504952"/>
                  </a:lnTo>
                  <a:lnTo>
                    <a:pt x="448564" y="504952"/>
                  </a:lnTo>
                  <a:lnTo>
                    <a:pt x="450088" y="503682"/>
                  </a:lnTo>
                  <a:lnTo>
                    <a:pt x="450342" y="501904"/>
                  </a:lnTo>
                  <a:lnTo>
                    <a:pt x="450469" y="500126"/>
                  </a:lnTo>
                  <a:close/>
                </a:path>
                <a:path w="1079500" h="505460">
                  <a:moveTo>
                    <a:pt x="545223" y="135382"/>
                  </a:moveTo>
                  <a:lnTo>
                    <a:pt x="503428" y="130810"/>
                  </a:lnTo>
                  <a:lnTo>
                    <a:pt x="503428" y="130683"/>
                  </a:lnTo>
                  <a:lnTo>
                    <a:pt x="470535" y="127508"/>
                  </a:lnTo>
                  <a:lnTo>
                    <a:pt x="455676" y="126238"/>
                  </a:lnTo>
                  <a:lnTo>
                    <a:pt x="443865" y="125349"/>
                  </a:lnTo>
                  <a:lnTo>
                    <a:pt x="443738" y="125222"/>
                  </a:lnTo>
                  <a:lnTo>
                    <a:pt x="431038" y="124460"/>
                  </a:lnTo>
                  <a:lnTo>
                    <a:pt x="420116" y="124206"/>
                  </a:lnTo>
                  <a:lnTo>
                    <a:pt x="410718" y="124587"/>
                  </a:lnTo>
                  <a:lnTo>
                    <a:pt x="410337" y="124587"/>
                  </a:lnTo>
                  <a:lnTo>
                    <a:pt x="403098" y="125349"/>
                  </a:lnTo>
                  <a:lnTo>
                    <a:pt x="402717" y="125349"/>
                  </a:lnTo>
                  <a:lnTo>
                    <a:pt x="397637" y="126365"/>
                  </a:lnTo>
                  <a:lnTo>
                    <a:pt x="397129" y="126365"/>
                  </a:lnTo>
                  <a:lnTo>
                    <a:pt x="392684" y="127635"/>
                  </a:lnTo>
                  <a:lnTo>
                    <a:pt x="383476" y="135890"/>
                  </a:lnTo>
                  <a:lnTo>
                    <a:pt x="383171" y="136588"/>
                  </a:lnTo>
                  <a:lnTo>
                    <a:pt x="382524" y="137033"/>
                  </a:lnTo>
                  <a:lnTo>
                    <a:pt x="380492" y="138684"/>
                  </a:lnTo>
                  <a:lnTo>
                    <a:pt x="379603" y="141478"/>
                  </a:lnTo>
                  <a:lnTo>
                    <a:pt x="380492" y="143891"/>
                  </a:lnTo>
                  <a:lnTo>
                    <a:pt x="381381" y="146431"/>
                  </a:lnTo>
                  <a:lnTo>
                    <a:pt x="383794" y="147955"/>
                  </a:lnTo>
                  <a:lnTo>
                    <a:pt x="386334" y="147828"/>
                  </a:lnTo>
                  <a:lnTo>
                    <a:pt x="389001" y="147828"/>
                  </a:lnTo>
                  <a:lnTo>
                    <a:pt x="391287" y="145923"/>
                  </a:lnTo>
                  <a:lnTo>
                    <a:pt x="391922" y="143383"/>
                  </a:lnTo>
                  <a:lnTo>
                    <a:pt x="392430" y="141478"/>
                  </a:lnTo>
                  <a:lnTo>
                    <a:pt x="392303" y="141986"/>
                  </a:lnTo>
                  <a:lnTo>
                    <a:pt x="392480" y="141478"/>
                  </a:lnTo>
                  <a:lnTo>
                    <a:pt x="392811" y="140589"/>
                  </a:lnTo>
                  <a:lnTo>
                    <a:pt x="393039" y="139954"/>
                  </a:lnTo>
                  <a:lnTo>
                    <a:pt x="393268" y="139573"/>
                  </a:lnTo>
                  <a:lnTo>
                    <a:pt x="393344" y="139433"/>
                  </a:lnTo>
                  <a:lnTo>
                    <a:pt x="396265" y="137972"/>
                  </a:lnTo>
                  <a:lnTo>
                    <a:pt x="397052" y="137795"/>
                  </a:lnTo>
                  <a:lnTo>
                    <a:pt x="399923" y="137160"/>
                  </a:lnTo>
                  <a:lnTo>
                    <a:pt x="399542" y="137160"/>
                  </a:lnTo>
                  <a:lnTo>
                    <a:pt x="404622" y="136271"/>
                  </a:lnTo>
                  <a:lnTo>
                    <a:pt x="404241" y="136398"/>
                  </a:lnTo>
                  <a:lnTo>
                    <a:pt x="405447" y="136271"/>
                  </a:lnTo>
                  <a:lnTo>
                    <a:pt x="409054" y="135890"/>
                  </a:lnTo>
                  <a:lnTo>
                    <a:pt x="411480" y="135636"/>
                  </a:lnTo>
                  <a:lnTo>
                    <a:pt x="419989" y="135394"/>
                  </a:lnTo>
                  <a:lnTo>
                    <a:pt x="419862" y="135382"/>
                  </a:lnTo>
                  <a:lnTo>
                    <a:pt x="545223" y="135382"/>
                  </a:lnTo>
                  <a:close/>
                </a:path>
                <a:path w="1079500" h="505460">
                  <a:moveTo>
                    <a:pt x="754634" y="165862"/>
                  </a:moveTo>
                  <a:lnTo>
                    <a:pt x="753491" y="164211"/>
                  </a:lnTo>
                  <a:lnTo>
                    <a:pt x="751840" y="163830"/>
                  </a:lnTo>
                  <a:lnTo>
                    <a:pt x="739013" y="161290"/>
                  </a:lnTo>
                  <a:lnTo>
                    <a:pt x="738886" y="161290"/>
                  </a:lnTo>
                  <a:lnTo>
                    <a:pt x="724535" y="158623"/>
                  </a:lnTo>
                  <a:lnTo>
                    <a:pt x="708279" y="155829"/>
                  </a:lnTo>
                  <a:lnTo>
                    <a:pt x="690245" y="153162"/>
                  </a:lnTo>
                  <a:lnTo>
                    <a:pt x="690118" y="153162"/>
                  </a:lnTo>
                  <a:lnTo>
                    <a:pt x="669671" y="150368"/>
                  </a:lnTo>
                  <a:lnTo>
                    <a:pt x="669671" y="150241"/>
                  </a:lnTo>
                  <a:lnTo>
                    <a:pt x="545223" y="135382"/>
                  </a:lnTo>
                  <a:lnTo>
                    <a:pt x="419989" y="135394"/>
                  </a:lnTo>
                  <a:lnTo>
                    <a:pt x="430403" y="135636"/>
                  </a:lnTo>
                  <a:lnTo>
                    <a:pt x="442976" y="136398"/>
                  </a:lnTo>
                  <a:lnTo>
                    <a:pt x="469519" y="138684"/>
                  </a:lnTo>
                  <a:lnTo>
                    <a:pt x="502285" y="141859"/>
                  </a:lnTo>
                  <a:lnTo>
                    <a:pt x="520573" y="143891"/>
                  </a:lnTo>
                  <a:lnTo>
                    <a:pt x="520446" y="143891"/>
                  </a:lnTo>
                  <a:lnTo>
                    <a:pt x="603631" y="153289"/>
                  </a:lnTo>
                  <a:lnTo>
                    <a:pt x="688721" y="163703"/>
                  </a:lnTo>
                  <a:lnTo>
                    <a:pt x="688848" y="163703"/>
                  </a:lnTo>
                  <a:lnTo>
                    <a:pt x="723265" y="167767"/>
                  </a:lnTo>
                  <a:lnTo>
                    <a:pt x="750824" y="170434"/>
                  </a:lnTo>
                  <a:lnTo>
                    <a:pt x="752602" y="170561"/>
                  </a:lnTo>
                  <a:lnTo>
                    <a:pt x="754126" y="169291"/>
                  </a:lnTo>
                  <a:lnTo>
                    <a:pt x="754634" y="165862"/>
                  </a:lnTo>
                  <a:close/>
                </a:path>
                <a:path w="1079500" h="505460">
                  <a:moveTo>
                    <a:pt x="1079119" y="154178"/>
                  </a:moveTo>
                  <a:lnTo>
                    <a:pt x="1078484" y="152273"/>
                  </a:lnTo>
                  <a:lnTo>
                    <a:pt x="1076960" y="151638"/>
                  </a:lnTo>
                  <a:lnTo>
                    <a:pt x="1044067" y="135890"/>
                  </a:lnTo>
                  <a:lnTo>
                    <a:pt x="1043940" y="135890"/>
                  </a:lnTo>
                  <a:lnTo>
                    <a:pt x="1009396" y="120523"/>
                  </a:lnTo>
                  <a:lnTo>
                    <a:pt x="1009269" y="120523"/>
                  </a:lnTo>
                  <a:lnTo>
                    <a:pt x="972820" y="105410"/>
                  </a:lnTo>
                  <a:lnTo>
                    <a:pt x="972693" y="105410"/>
                  </a:lnTo>
                  <a:lnTo>
                    <a:pt x="936117" y="91059"/>
                  </a:lnTo>
                  <a:lnTo>
                    <a:pt x="900557" y="77597"/>
                  </a:lnTo>
                  <a:lnTo>
                    <a:pt x="865378" y="64770"/>
                  </a:lnTo>
                  <a:lnTo>
                    <a:pt x="832739" y="53213"/>
                  </a:lnTo>
                  <a:lnTo>
                    <a:pt x="832739" y="53086"/>
                  </a:lnTo>
                  <a:lnTo>
                    <a:pt x="754126" y="26035"/>
                  </a:lnTo>
                  <a:lnTo>
                    <a:pt x="736053" y="19812"/>
                  </a:lnTo>
                  <a:lnTo>
                    <a:pt x="725678" y="16256"/>
                  </a:lnTo>
                  <a:lnTo>
                    <a:pt x="725424" y="16129"/>
                  </a:lnTo>
                  <a:lnTo>
                    <a:pt x="708774" y="11049"/>
                  </a:lnTo>
                  <a:lnTo>
                    <a:pt x="705866" y="10160"/>
                  </a:lnTo>
                  <a:lnTo>
                    <a:pt x="705612" y="10033"/>
                  </a:lnTo>
                  <a:lnTo>
                    <a:pt x="688594" y="5715"/>
                  </a:lnTo>
                  <a:lnTo>
                    <a:pt x="688213" y="5715"/>
                  </a:lnTo>
                  <a:lnTo>
                    <a:pt x="674624" y="3175"/>
                  </a:lnTo>
                  <a:lnTo>
                    <a:pt x="674370" y="3048"/>
                  </a:lnTo>
                  <a:lnTo>
                    <a:pt x="663702" y="1524"/>
                  </a:lnTo>
                  <a:lnTo>
                    <a:pt x="663575" y="1524"/>
                  </a:lnTo>
                  <a:lnTo>
                    <a:pt x="652399" y="0"/>
                  </a:lnTo>
                  <a:lnTo>
                    <a:pt x="650494" y="762"/>
                  </a:lnTo>
                  <a:lnTo>
                    <a:pt x="649351" y="2286"/>
                  </a:lnTo>
                  <a:lnTo>
                    <a:pt x="648208" y="3937"/>
                  </a:lnTo>
                  <a:lnTo>
                    <a:pt x="647954" y="5969"/>
                  </a:lnTo>
                  <a:lnTo>
                    <a:pt x="649732" y="9525"/>
                  </a:lnTo>
                  <a:lnTo>
                    <a:pt x="651383" y="10668"/>
                  </a:lnTo>
                  <a:lnTo>
                    <a:pt x="653415" y="10795"/>
                  </a:lnTo>
                  <a:lnTo>
                    <a:pt x="662686" y="11176"/>
                  </a:lnTo>
                  <a:lnTo>
                    <a:pt x="662305" y="11049"/>
                  </a:lnTo>
                  <a:lnTo>
                    <a:pt x="672973" y="12573"/>
                  </a:lnTo>
                  <a:lnTo>
                    <a:pt x="672719" y="12573"/>
                  </a:lnTo>
                  <a:lnTo>
                    <a:pt x="686308" y="15367"/>
                  </a:lnTo>
                  <a:lnTo>
                    <a:pt x="686054" y="15367"/>
                  </a:lnTo>
                  <a:lnTo>
                    <a:pt x="703072" y="19939"/>
                  </a:lnTo>
                  <a:lnTo>
                    <a:pt x="702818" y="19812"/>
                  </a:lnTo>
                  <a:lnTo>
                    <a:pt x="722376" y="26162"/>
                  </a:lnTo>
                  <a:lnTo>
                    <a:pt x="722249" y="26035"/>
                  </a:lnTo>
                  <a:lnTo>
                    <a:pt x="769874" y="42926"/>
                  </a:lnTo>
                  <a:lnTo>
                    <a:pt x="770001" y="42926"/>
                  </a:lnTo>
                  <a:lnTo>
                    <a:pt x="798068" y="52578"/>
                  </a:lnTo>
                  <a:lnTo>
                    <a:pt x="797941" y="52578"/>
                  </a:lnTo>
                  <a:lnTo>
                    <a:pt x="829183" y="63373"/>
                  </a:lnTo>
                  <a:lnTo>
                    <a:pt x="896747" y="87884"/>
                  </a:lnTo>
                  <a:lnTo>
                    <a:pt x="968756" y="115570"/>
                  </a:lnTo>
                  <a:lnTo>
                    <a:pt x="968629" y="115570"/>
                  </a:lnTo>
                  <a:lnTo>
                    <a:pt x="1040384" y="144399"/>
                  </a:lnTo>
                  <a:lnTo>
                    <a:pt x="1075944" y="158115"/>
                  </a:lnTo>
                  <a:lnTo>
                    <a:pt x="1077849" y="157353"/>
                  </a:lnTo>
                  <a:lnTo>
                    <a:pt x="1078484" y="155829"/>
                  </a:lnTo>
                  <a:lnTo>
                    <a:pt x="1079119" y="15417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414" y="246634"/>
            <a:ext cx="5309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Tuning</a:t>
            </a:r>
            <a:r>
              <a:rPr spc="-5" dirty="0"/>
              <a:t> a</a:t>
            </a:r>
            <a:r>
              <a:rPr spc="5" dirty="0"/>
              <a:t> </a:t>
            </a:r>
            <a:r>
              <a:rPr spc="-10" dirty="0"/>
              <a:t>Classifier</a:t>
            </a:r>
            <a:r>
              <a:rPr spc="30" dirty="0"/>
              <a:t> </a:t>
            </a:r>
            <a:r>
              <a:rPr spc="-10" dirty="0"/>
              <a:t>through</a:t>
            </a:r>
            <a:r>
              <a:rPr spc="20" dirty="0"/>
              <a:t> </a:t>
            </a:r>
            <a:r>
              <a:rPr spc="-15" dirty="0"/>
              <a:t>ROC</a:t>
            </a:r>
            <a:r>
              <a:rPr spc="-10" dirty="0"/>
              <a:t> 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373" y="985850"/>
            <a:ext cx="5149215" cy="32581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3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Using </a:t>
            </a:r>
            <a:r>
              <a:rPr sz="2000" spc="-5" dirty="0">
                <a:latin typeface="Calibri"/>
                <a:cs typeface="Calibri"/>
              </a:rPr>
              <a:t>ROC plot, </a:t>
            </a:r>
            <a:r>
              <a:rPr sz="2000" spc="-10" dirty="0">
                <a:latin typeface="Calibri"/>
                <a:cs typeface="Calibri"/>
              </a:rPr>
              <a:t>we </a:t>
            </a:r>
            <a:r>
              <a:rPr sz="2000" spc="-5" dirty="0">
                <a:latin typeface="Calibri"/>
                <a:cs typeface="Calibri"/>
              </a:rPr>
              <a:t>can </a:t>
            </a:r>
            <a:r>
              <a:rPr sz="2000" spc="-10" dirty="0">
                <a:latin typeface="Calibri"/>
                <a:cs typeface="Calibri"/>
              </a:rPr>
              <a:t>compare two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sz="2000" spc="-10" dirty="0">
                <a:latin typeface="Calibri"/>
                <a:cs typeface="Calibri"/>
              </a:rPr>
              <a:t>more </a:t>
            </a:r>
            <a:r>
              <a:rPr sz="2000" spc="-5" dirty="0">
                <a:latin typeface="Calibri"/>
                <a:cs typeface="Calibri"/>
              </a:rPr>
              <a:t> classifiers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 </a:t>
            </a:r>
            <a:r>
              <a:rPr sz="2000" spc="-5" dirty="0">
                <a:latin typeface="Calibri"/>
                <a:cs typeface="Calibri"/>
              </a:rPr>
              <a:t>TPR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FPR values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plot also depicts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trade-off between TPR 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FPR 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25" dirty="0">
                <a:latin typeface="Calibri"/>
                <a:cs typeface="Calibri"/>
              </a:rPr>
              <a:t>classifier.</a:t>
            </a:r>
            <a:endParaRPr sz="2000">
              <a:latin typeface="Calibri"/>
              <a:cs typeface="Calibri"/>
            </a:endParaRPr>
          </a:p>
          <a:p>
            <a:pPr marL="355600" marR="304800" indent="-342900">
              <a:lnSpc>
                <a:spcPts val="2160"/>
              </a:lnSpc>
              <a:spcBef>
                <a:spcPts val="5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Examining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ROC</a:t>
            </a:r>
            <a:r>
              <a:rPr sz="2000" dirty="0">
                <a:latin typeface="Calibri"/>
                <a:cs typeface="Calibri"/>
              </a:rPr>
              <a:t> curves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give </a:t>
            </a:r>
            <a:r>
              <a:rPr sz="2000" spc="-5" dirty="0">
                <a:latin typeface="Calibri"/>
                <a:cs typeface="Calibri"/>
              </a:rPr>
              <a:t>insights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best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way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tuning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parameters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classifier.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ts val="2280"/>
              </a:lnSpc>
              <a:spcBef>
                <a:spcPts val="2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example,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curve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C2,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</a:pPr>
            <a:r>
              <a:rPr sz="2000" spc="-5" dirty="0">
                <a:latin typeface="Calibri"/>
                <a:cs typeface="Calibri"/>
              </a:rPr>
              <a:t>degraded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after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 </a:t>
            </a:r>
            <a:r>
              <a:rPr sz="2000" spc="-130" dirty="0">
                <a:latin typeface="Calibri"/>
                <a:cs typeface="Calibri"/>
              </a:rPr>
              <a:t>P.</a:t>
            </a:r>
            <a:endParaRPr sz="2000">
              <a:latin typeface="Calibri"/>
              <a:cs typeface="Calibri"/>
            </a:endParaRPr>
          </a:p>
          <a:p>
            <a:pPr marL="355600" marR="24765" indent="-342900">
              <a:lnSpc>
                <a:spcPts val="216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Similarly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observation </a:t>
            </a:r>
            <a:r>
              <a:rPr sz="2000" dirty="0">
                <a:latin typeface="Calibri"/>
                <a:cs typeface="Calibri"/>
              </a:rPr>
              <a:t>C1, </a:t>
            </a:r>
            <a:r>
              <a:rPr sz="2000" spc="-10" dirty="0">
                <a:latin typeface="Calibri"/>
                <a:cs typeface="Calibri"/>
              </a:rPr>
              <a:t>beyond </a:t>
            </a:r>
            <a:r>
              <a:rPr sz="2000" dirty="0">
                <a:latin typeface="Calibri"/>
                <a:cs typeface="Calibri"/>
              </a:rPr>
              <a:t>Q 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settings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acceptable.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9947" y="1645920"/>
            <a:ext cx="3165348" cy="19004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1373" y="856234"/>
            <a:ext cx="4272915" cy="326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851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35" dirty="0">
                <a:latin typeface="Calibri"/>
                <a:cs typeface="Calibri"/>
              </a:rPr>
              <a:t>We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concept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</a:t>
            </a:r>
            <a:r>
              <a:rPr sz="1800" spc="-15" dirty="0">
                <a:solidFill>
                  <a:srgbClr val="A40020"/>
                </a:solidFill>
                <a:latin typeface="Calibri"/>
                <a:cs typeface="Calibri"/>
              </a:rPr>
              <a:t>area</a:t>
            </a:r>
            <a:r>
              <a:rPr sz="180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Calibri"/>
                <a:cs typeface="Calibri"/>
              </a:rPr>
              <a:t>under </a:t>
            </a:r>
            <a:r>
              <a:rPr sz="1800" spc="-395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Calibri"/>
                <a:cs typeface="Calibri"/>
              </a:rPr>
              <a:t>curve</a:t>
            </a:r>
            <a:r>
              <a:rPr sz="1800" spc="-5" dirty="0">
                <a:latin typeface="Calibri"/>
                <a:cs typeface="Calibri"/>
              </a:rPr>
              <a:t>”</a:t>
            </a:r>
            <a:r>
              <a:rPr sz="1800" spc="-10" dirty="0">
                <a:latin typeface="Calibri"/>
                <a:cs typeface="Calibri"/>
              </a:rPr>
              <a:t> (AUC)</a:t>
            </a:r>
            <a:r>
              <a:rPr sz="1800" dirty="0">
                <a:latin typeface="Calibri"/>
                <a:cs typeface="Calibri"/>
              </a:rPr>
              <a:t> as 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classifiers.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perfect,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 </a:t>
            </a:r>
            <a:r>
              <a:rPr sz="1800" spc="-5" dirty="0">
                <a:latin typeface="Calibri"/>
                <a:cs typeface="Calibri"/>
              </a:rPr>
              <a:t>its </a:t>
            </a:r>
            <a:r>
              <a:rPr sz="1800" spc="-10" dirty="0">
                <a:latin typeface="Calibri"/>
                <a:cs typeface="Calibri"/>
              </a:rPr>
              <a:t>AUC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 </a:t>
            </a:r>
            <a:r>
              <a:rPr sz="1800" spc="-5" dirty="0">
                <a:latin typeface="Calibri"/>
                <a:cs typeface="Calibri"/>
              </a:rPr>
              <a:t>simply</a:t>
            </a:r>
            <a:r>
              <a:rPr sz="1800" spc="-10" dirty="0">
                <a:latin typeface="Calibri"/>
                <a:cs typeface="Calibri"/>
              </a:rPr>
              <a:t> performs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guessing,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5" dirty="0">
                <a:latin typeface="Calibri"/>
                <a:cs typeface="Calibri"/>
              </a:rPr>
              <a:t> its</a:t>
            </a:r>
            <a:r>
              <a:rPr sz="1800" spc="-10" dirty="0">
                <a:latin typeface="Calibri"/>
                <a:cs typeface="Calibri"/>
              </a:rPr>
              <a:t> AUC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0.5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 is </a:t>
            </a:r>
            <a:r>
              <a:rPr sz="1800" spc="-10" dirty="0">
                <a:latin typeface="Calibri"/>
                <a:cs typeface="Calibri"/>
              </a:rPr>
              <a:t>strictly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other, 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larger</a:t>
            </a:r>
            <a:r>
              <a:rPr sz="1800" spc="-5" dirty="0">
                <a:latin typeface="Calibri"/>
                <a:cs typeface="Calibri"/>
              </a:rPr>
              <a:t> value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other.</a:t>
            </a:r>
            <a:endParaRPr sz="1800">
              <a:latin typeface="Calibri"/>
              <a:cs typeface="Calibri"/>
            </a:endParaRPr>
          </a:p>
          <a:p>
            <a:pPr marL="355600" marR="13081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Here,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best,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C2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5" dirty="0">
                <a:latin typeface="Calibri"/>
                <a:cs typeface="Calibri"/>
              </a:rPr>
              <a:t> C1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AUC(C3)&gt;AUC(C2)&gt;AUC(C1).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6442" y="204342"/>
            <a:ext cx="5621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Comparing</a:t>
            </a:r>
            <a:r>
              <a:rPr spc="-5" dirty="0"/>
              <a:t> </a:t>
            </a:r>
            <a:r>
              <a:rPr spc="-10" dirty="0"/>
              <a:t>Classifiers</a:t>
            </a:r>
            <a:r>
              <a:rPr spc="25" dirty="0"/>
              <a:t> </a:t>
            </a:r>
            <a:r>
              <a:rPr spc="-10" dirty="0"/>
              <a:t>trough</a:t>
            </a:r>
            <a:r>
              <a:rPr spc="15" dirty="0"/>
              <a:t> </a:t>
            </a:r>
            <a:r>
              <a:rPr spc="-15" dirty="0"/>
              <a:t>ROC </a:t>
            </a:r>
            <a:r>
              <a:rPr spc="-10" dirty="0"/>
              <a:t>Plot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56503" y="1764792"/>
            <a:ext cx="2974975" cy="1786255"/>
            <a:chOff x="5556503" y="1764792"/>
            <a:chExt cx="2974975" cy="1786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6503" y="1764792"/>
              <a:ext cx="2974848" cy="1786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7519" y="2736723"/>
              <a:ext cx="370839" cy="23418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92273" y="737362"/>
            <a:ext cx="3472815" cy="3474720"/>
            <a:chOff x="2192273" y="737362"/>
            <a:chExt cx="3472815" cy="3474720"/>
          </a:xfrm>
        </p:grpSpPr>
        <p:sp>
          <p:nvSpPr>
            <p:cNvPr id="3" name="object 3"/>
            <p:cNvSpPr/>
            <p:nvPr/>
          </p:nvSpPr>
          <p:spPr>
            <a:xfrm>
              <a:off x="2229611" y="743712"/>
              <a:ext cx="3429000" cy="3429000"/>
            </a:xfrm>
            <a:custGeom>
              <a:avLst/>
              <a:gdLst/>
              <a:ahLst/>
              <a:cxnLst/>
              <a:rect l="l" t="t" r="r" b="b"/>
              <a:pathLst>
                <a:path w="3429000" h="3429000">
                  <a:moveTo>
                    <a:pt x="0" y="0"/>
                  </a:moveTo>
                  <a:lnTo>
                    <a:pt x="3429000" y="0"/>
                  </a:lnTo>
                </a:path>
                <a:path w="3429000" h="3429000">
                  <a:moveTo>
                    <a:pt x="3429000" y="0"/>
                  </a:moveTo>
                  <a:lnTo>
                    <a:pt x="3429000" y="342900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92274" y="744473"/>
              <a:ext cx="3467100" cy="3467100"/>
            </a:xfrm>
            <a:custGeom>
              <a:avLst/>
              <a:gdLst/>
              <a:ahLst/>
              <a:cxnLst/>
              <a:rect l="l" t="t" r="r" b="b"/>
              <a:pathLst>
                <a:path w="3467100" h="3467100">
                  <a:moveTo>
                    <a:pt x="3467100" y="3429000"/>
                  </a:moveTo>
                  <a:lnTo>
                    <a:pt x="3429000" y="3409950"/>
                  </a:lnTo>
                  <a:lnTo>
                    <a:pt x="3390900" y="3390900"/>
                  </a:lnTo>
                  <a:lnTo>
                    <a:pt x="3390900" y="3409950"/>
                  </a:lnTo>
                  <a:lnTo>
                    <a:pt x="57150" y="3409950"/>
                  </a:lnTo>
                  <a:lnTo>
                    <a:pt x="57150" y="76200"/>
                  </a:lnTo>
                  <a:lnTo>
                    <a:pt x="76200" y="76200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19050" y="76200"/>
                  </a:lnTo>
                  <a:lnTo>
                    <a:pt x="19050" y="3429000"/>
                  </a:lnTo>
                  <a:lnTo>
                    <a:pt x="38100" y="3429000"/>
                  </a:lnTo>
                  <a:lnTo>
                    <a:pt x="38100" y="3448050"/>
                  </a:lnTo>
                  <a:lnTo>
                    <a:pt x="3390900" y="3448050"/>
                  </a:lnTo>
                  <a:lnTo>
                    <a:pt x="3390900" y="3467100"/>
                  </a:lnTo>
                  <a:lnTo>
                    <a:pt x="3429000" y="3448050"/>
                  </a:lnTo>
                  <a:lnTo>
                    <a:pt x="3467100" y="3429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39747" y="2115308"/>
            <a:ext cx="444500" cy="14046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25"/>
              </a:lnSpc>
            </a:pPr>
            <a:r>
              <a:rPr sz="1500" spc="-25" dirty="0">
                <a:latin typeface="Calibri"/>
                <a:cs typeface="Calibri"/>
              </a:rPr>
              <a:t>True </a:t>
            </a:r>
            <a:r>
              <a:rPr sz="1500" spc="-10" dirty="0">
                <a:latin typeface="Calibri"/>
                <a:cs typeface="Calibri"/>
              </a:rPr>
              <a:t>Positive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Rate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Calibri"/>
                <a:cs typeface="Calibri"/>
              </a:rPr>
              <a:t>(sensitivity)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0517" y="3968292"/>
            <a:ext cx="1670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0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350" b="1" dirty="0">
                <a:latin typeface="Comic Sans MS"/>
                <a:cs typeface="Comic Sans MS"/>
              </a:rPr>
              <a:t>%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7616" y="824229"/>
            <a:ext cx="4826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100%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7370" y="4219143"/>
            <a:ext cx="1702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340" marR="5080" indent="-42227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False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Positive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Rate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(1-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specificity)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93798" y="4311497"/>
            <a:ext cx="1670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0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350" b="1" dirty="0">
                <a:latin typeface="Comic Sans MS"/>
                <a:cs typeface="Comic Sans MS"/>
              </a:rPr>
              <a:t>%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0152" y="4254195"/>
            <a:ext cx="34099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100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350" b="1" dirty="0">
                <a:latin typeface="Comic Sans MS"/>
                <a:cs typeface="Comic Sans MS"/>
              </a:rPr>
              <a:t>%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23516" y="737616"/>
            <a:ext cx="1727200" cy="3154680"/>
            <a:chOff x="2223516" y="737616"/>
            <a:chExt cx="1727200" cy="315468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0104" y="737616"/>
              <a:ext cx="70104" cy="685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2216" y="851916"/>
              <a:ext cx="68580" cy="685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1022604"/>
              <a:ext cx="68579" cy="701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8504" y="1423416"/>
              <a:ext cx="70103" cy="685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7816" y="2279904"/>
              <a:ext cx="68579" cy="701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9904" y="2965704"/>
              <a:ext cx="70103" cy="7010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3516" y="3537204"/>
              <a:ext cx="68579" cy="701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23516" y="3823716"/>
              <a:ext cx="68579" cy="6858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165341" y="1831085"/>
            <a:ext cx="2801620" cy="828675"/>
            <a:chOff x="6165341" y="1831085"/>
            <a:chExt cx="2801620" cy="828675"/>
          </a:xfrm>
        </p:grpSpPr>
        <p:sp>
          <p:nvSpPr>
            <p:cNvPr id="21" name="object 21"/>
            <p:cNvSpPr/>
            <p:nvPr/>
          </p:nvSpPr>
          <p:spPr>
            <a:xfrm>
              <a:off x="7259573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65341" y="2580893"/>
              <a:ext cx="2801620" cy="58419"/>
            </a:xfrm>
            <a:custGeom>
              <a:avLst/>
              <a:gdLst/>
              <a:ahLst/>
              <a:cxnLst/>
              <a:rect l="l" t="t" r="r" b="b"/>
              <a:pathLst>
                <a:path w="2801620" h="58419">
                  <a:moveTo>
                    <a:pt x="2743200" y="0"/>
                  </a:moveTo>
                  <a:lnTo>
                    <a:pt x="2743200" y="57912"/>
                  </a:lnTo>
                  <a:lnTo>
                    <a:pt x="2772156" y="43433"/>
                  </a:lnTo>
                  <a:lnTo>
                    <a:pt x="2757678" y="43433"/>
                  </a:lnTo>
                  <a:lnTo>
                    <a:pt x="2757678" y="14478"/>
                  </a:lnTo>
                  <a:lnTo>
                    <a:pt x="2772156" y="14478"/>
                  </a:lnTo>
                  <a:lnTo>
                    <a:pt x="2743200" y="0"/>
                  </a:lnTo>
                  <a:close/>
                </a:path>
                <a:path w="2801620" h="58419">
                  <a:moveTo>
                    <a:pt x="2743200" y="14478"/>
                  </a:moveTo>
                  <a:lnTo>
                    <a:pt x="0" y="14478"/>
                  </a:lnTo>
                  <a:lnTo>
                    <a:pt x="0" y="43433"/>
                  </a:lnTo>
                  <a:lnTo>
                    <a:pt x="2743200" y="43433"/>
                  </a:lnTo>
                  <a:lnTo>
                    <a:pt x="2743200" y="14478"/>
                  </a:lnTo>
                  <a:close/>
                </a:path>
                <a:path w="2801620" h="58419">
                  <a:moveTo>
                    <a:pt x="2772156" y="14478"/>
                  </a:moveTo>
                  <a:lnTo>
                    <a:pt x="2757678" y="14478"/>
                  </a:lnTo>
                  <a:lnTo>
                    <a:pt x="2757678" y="43433"/>
                  </a:lnTo>
                  <a:lnTo>
                    <a:pt x="2772156" y="43433"/>
                  </a:lnTo>
                  <a:lnTo>
                    <a:pt x="2801112" y="28956"/>
                  </a:lnTo>
                  <a:lnTo>
                    <a:pt x="2772156" y="144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9281" y="2125281"/>
              <a:ext cx="1536700" cy="481965"/>
            </a:xfrm>
            <a:custGeom>
              <a:avLst/>
              <a:gdLst/>
              <a:ahLst/>
              <a:cxnLst/>
              <a:rect l="l" t="t" r="r" b="b"/>
              <a:pathLst>
                <a:path w="1536700" h="481964">
                  <a:moveTo>
                    <a:pt x="0" y="481520"/>
                  </a:moveTo>
                  <a:lnTo>
                    <a:pt x="41614" y="477305"/>
                  </a:lnTo>
                  <a:lnTo>
                    <a:pt x="102885" y="470757"/>
                  </a:lnTo>
                  <a:lnTo>
                    <a:pt x="167895" y="462446"/>
                  </a:lnTo>
                  <a:lnTo>
                    <a:pt x="220725" y="452945"/>
                  </a:lnTo>
                  <a:lnTo>
                    <a:pt x="283289" y="433450"/>
                  </a:lnTo>
                  <a:lnTo>
                    <a:pt x="331089" y="402145"/>
                  </a:lnTo>
                  <a:lnTo>
                    <a:pt x="382762" y="345551"/>
                  </a:lnTo>
                  <a:lnTo>
                    <a:pt x="408223" y="311580"/>
                  </a:lnTo>
                  <a:lnTo>
                    <a:pt x="433959" y="277431"/>
                  </a:lnTo>
                  <a:lnTo>
                    <a:pt x="459126" y="242784"/>
                  </a:lnTo>
                  <a:lnTo>
                    <a:pt x="483854" y="206470"/>
                  </a:lnTo>
                  <a:lnTo>
                    <a:pt x="509986" y="170203"/>
                  </a:lnTo>
                  <a:lnTo>
                    <a:pt x="539369" y="135699"/>
                  </a:lnTo>
                  <a:lnTo>
                    <a:pt x="574821" y="100845"/>
                  </a:lnTo>
                  <a:lnTo>
                    <a:pt x="614680" y="65468"/>
                  </a:lnTo>
                  <a:lnTo>
                    <a:pt x="654061" y="34472"/>
                  </a:lnTo>
                  <a:lnTo>
                    <a:pt x="688086" y="12763"/>
                  </a:lnTo>
                  <a:lnTo>
                    <a:pt x="736488" y="0"/>
                  </a:lnTo>
                  <a:lnTo>
                    <a:pt x="756469" y="4155"/>
                  </a:lnTo>
                  <a:lnTo>
                    <a:pt x="799728" y="26082"/>
                  </a:lnTo>
                  <a:lnTo>
                    <a:pt x="844357" y="68056"/>
                  </a:lnTo>
                  <a:lnTo>
                    <a:pt x="889563" y="127496"/>
                  </a:lnTo>
                  <a:lnTo>
                    <a:pt x="912907" y="165830"/>
                  </a:lnTo>
                  <a:lnTo>
                    <a:pt x="935442" y="204497"/>
                  </a:lnTo>
                  <a:lnTo>
                    <a:pt x="955928" y="238188"/>
                  </a:lnTo>
                  <a:lnTo>
                    <a:pt x="988298" y="288988"/>
                  </a:lnTo>
                  <a:lnTo>
                    <a:pt x="1019810" y="329501"/>
                  </a:lnTo>
                  <a:lnTo>
                    <a:pt x="1061021" y="364347"/>
                  </a:lnTo>
                  <a:lnTo>
                    <a:pt x="1102233" y="391477"/>
                  </a:lnTo>
                  <a:lnTo>
                    <a:pt x="1147202" y="414855"/>
                  </a:lnTo>
                  <a:lnTo>
                    <a:pt x="1164209" y="422592"/>
                  </a:lnTo>
                  <a:lnTo>
                    <a:pt x="1180159" y="432895"/>
                  </a:lnTo>
                  <a:lnTo>
                    <a:pt x="1195133" y="444531"/>
                  </a:lnTo>
                  <a:lnTo>
                    <a:pt x="1216965" y="455453"/>
                  </a:lnTo>
                  <a:lnTo>
                    <a:pt x="1291858" y="466951"/>
                  </a:lnTo>
                  <a:lnTo>
                    <a:pt x="1341232" y="469065"/>
                  </a:lnTo>
                  <a:lnTo>
                    <a:pt x="1395983" y="470296"/>
                  </a:lnTo>
                  <a:lnTo>
                    <a:pt x="1450481" y="470988"/>
                  </a:lnTo>
                  <a:lnTo>
                    <a:pt x="1499093" y="471483"/>
                  </a:lnTo>
                  <a:lnTo>
                    <a:pt x="1536192" y="472122"/>
                  </a:lnTo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64045" y="2120727"/>
              <a:ext cx="1742439" cy="492759"/>
            </a:xfrm>
            <a:custGeom>
              <a:avLst/>
              <a:gdLst/>
              <a:ahLst/>
              <a:cxnLst/>
              <a:rect l="l" t="t" r="r" b="b"/>
              <a:pathLst>
                <a:path w="1742440" h="492760">
                  <a:moveTo>
                    <a:pt x="0" y="492170"/>
                  </a:moveTo>
                  <a:lnTo>
                    <a:pt x="42493" y="488259"/>
                  </a:lnTo>
                  <a:lnTo>
                    <a:pt x="82867" y="483836"/>
                  </a:lnTo>
                  <a:lnTo>
                    <a:pt x="148971" y="471596"/>
                  </a:lnTo>
                  <a:lnTo>
                    <a:pt x="191583" y="444236"/>
                  </a:lnTo>
                  <a:lnTo>
                    <a:pt x="208533" y="430575"/>
                  </a:lnTo>
                  <a:lnTo>
                    <a:pt x="235471" y="412557"/>
                  </a:lnTo>
                  <a:lnTo>
                    <a:pt x="267922" y="391110"/>
                  </a:lnTo>
                  <a:lnTo>
                    <a:pt x="300491" y="368853"/>
                  </a:lnTo>
                  <a:lnTo>
                    <a:pt x="327786" y="348406"/>
                  </a:lnTo>
                  <a:lnTo>
                    <a:pt x="346884" y="331128"/>
                  </a:lnTo>
                  <a:lnTo>
                    <a:pt x="361124" y="315243"/>
                  </a:lnTo>
                  <a:lnTo>
                    <a:pt x="374221" y="298954"/>
                  </a:lnTo>
                  <a:lnTo>
                    <a:pt x="389889" y="280461"/>
                  </a:lnTo>
                  <a:lnTo>
                    <a:pt x="408531" y="258296"/>
                  </a:lnTo>
                  <a:lnTo>
                    <a:pt x="428434" y="233630"/>
                  </a:lnTo>
                  <a:lnTo>
                    <a:pt x="449861" y="208631"/>
                  </a:lnTo>
                  <a:lnTo>
                    <a:pt x="473075" y="185465"/>
                  </a:lnTo>
                  <a:lnTo>
                    <a:pt x="498865" y="164881"/>
                  </a:lnTo>
                  <a:lnTo>
                    <a:pt x="526811" y="145667"/>
                  </a:lnTo>
                  <a:lnTo>
                    <a:pt x="555353" y="127333"/>
                  </a:lnTo>
                  <a:lnTo>
                    <a:pt x="582929" y="109392"/>
                  </a:lnTo>
                  <a:lnTo>
                    <a:pt x="609086" y="91029"/>
                  </a:lnTo>
                  <a:lnTo>
                    <a:pt x="634634" y="72689"/>
                  </a:lnTo>
                  <a:lnTo>
                    <a:pt x="659921" y="55493"/>
                  </a:lnTo>
                  <a:lnTo>
                    <a:pt x="711221" y="27142"/>
                  </a:lnTo>
                  <a:lnTo>
                    <a:pt x="764033" y="5500"/>
                  </a:lnTo>
                  <a:lnTo>
                    <a:pt x="816604" y="0"/>
                  </a:lnTo>
                  <a:lnTo>
                    <a:pt x="843041" y="3712"/>
                  </a:lnTo>
                  <a:lnTo>
                    <a:pt x="893952" y="19984"/>
                  </a:lnTo>
                  <a:lnTo>
                    <a:pt x="941657" y="47734"/>
                  </a:lnTo>
                  <a:lnTo>
                    <a:pt x="983360" y="81579"/>
                  </a:lnTo>
                  <a:lnTo>
                    <a:pt x="1014412" y="117361"/>
                  </a:lnTo>
                  <a:lnTo>
                    <a:pt x="1027045" y="135550"/>
                  </a:lnTo>
                  <a:lnTo>
                    <a:pt x="1038605" y="152191"/>
                  </a:lnTo>
                  <a:lnTo>
                    <a:pt x="1047944" y="166568"/>
                  </a:lnTo>
                  <a:lnTo>
                    <a:pt x="1055211" y="179576"/>
                  </a:lnTo>
                  <a:lnTo>
                    <a:pt x="1062716" y="192035"/>
                  </a:lnTo>
                  <a:lnTo>
                    <a:pt x="1072769" y="204769"/>
                  </a:lnTo>
                  <a:lnTo>
                    <a:pt x="1087167" y="218390"/>
                  </a:lnTo>
                  <a:lnTo>
                    <a:pt x="1104233" y="232296"/>
                  </a:lnTo>
                  <a:lnTo>
                    <a:pt x="1121060" y="245489"/>
                  </a:lnTo>
                  <a:lnTo>
                    <a:pt x="1134745" y="256966"/>
                  </a:lnTo>
                  <a:lnTo>
                    <a:pt x="1143335" y="265684"/>
                  </a:lnTo>
                  <a:lnTo>
                    <a:pt x="1148699" y="272508"/>
                  </a:lnTo>
                  <a:lnTo>
                    <a:pt x="1153943" y="279022"/>
                  </a:lnTo>
                  <a:lnTo>
                    <a:pt x="1162177" y="286811"/>
                  </a:lnTo>
                  <a:lnTo>
                    <a:pt x="1174680" y="295919"/>
                  </a:lnTo>
                  <a:lnTo>
                    <a:pt x="1189815" y="305480"/>
                  </a:lnTo>
                  <a:lnTo>
                    <a:pt x="1206021" y="315993"/>
                  </a:lnTo>
                  <a:lnTo>
                    <a:pt x="1221739" y="327959"/>
                  </a:lnTo>
                  <a:lnTo>
                    <a:pt x="1236440" y="342298"/>
                  </a:lnTo>
                  <a:lnTo>
                    <a:pt x="1251045" y="358566"/>
                  </a:lnTo>
                  <a:lnTo>
                    <a:pt x="1265888" y="374929"/>
                  </a:lnTo>
                  <a:lnTo>
                    <a:pt x="1297273" y="402248"/>
                  </a:lnTo>
                  <a:lnTo>
                    <a:pt x="1330880" y="424112"/>
                  </a:lnTo>
                  <a:lnTo>
                    <a:pt x="1367426" y="439040"/>
                  </a:lnTo>
                  <a:lnTo>
                    <a:pt x="1406911" y="446986"/>
                  </a:lnTo>
                  <a:lnTo>
                    <a:pt x="1430274" y="451149"/>
                  </a:lnTo>
                  <a:lnTo>
                    <a:pt x="1482582" y="460944"/>
                  </a:lnTo>
                  <a:lnTo>
                    <a:pt x="1548892" y="470834"/>
                  </a:lnTo>
                  <a:lnTo>
                    <a:pt x="1595342" y="475896"/>
                  </a:lnTo>
                  <a:lnTo>
                    <a:pt x="1649793" y="481137"/>
                  </a:lnTo>
                  <a:lnTo>
                    <a:pt x="1702053" y="485925"/>
                  </a:lnTo>
                  <a:lnTo>
                    <a:pt x="1741931" y="489630"/>
                  </a:lnTo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30261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D7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4561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16773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31073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45373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59673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73973" y="1831085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ln w="28956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58711" y="2120086"/>
              <a:ext cx="1771014" cy="510540"/>
            </a:xfrm>
            <a:custGeom>
              <a:avLst/>
              <a:gdLst/>
              <a:ahLst/>
              <a:cxnLst/>
              <a:rect l="l" t="t" r="r" b="b"/>
              <a:pathLst>
                <a:path w="1771015" h="510539">
                  <a:moveTo>
                    <a:pt x="0" y="510337"/>
                  </a:moveTo>
                  <a:lnTo>
                    <a:pt x="43176" y="506253"/>
                  </a:lnTo>
                  <a:lnTo>
                    <a:pt x="84232" y="501669"/>
                  </a:lnTo>
                  <a:lnTo>
                    <a:pt x="151511" y="489001"/>
                  </a:lnTo>
                  <a:lnTo>
                    <a:pt x="194784" y="460623"/>
                  </a:lnTo>
                  <a:lnTo>
                    <a:pt x="212089" y="446456"/>
                  </a:lnTo>
                  <a:lnTo>
                    <a:pt x="239414" y="427767"/>
                  </a:lnTo>
                  <a:lnTo>
                    <a:pt x="272383" y="405530"/>
                  </a:lnTo>
                  <a:lnTo>
                    <a:pt x="305494" y="382484"/>
                  </a:lnTo>
                  <a:lnTo>
                    <a:pt x="333247" y="361366"/>
                  </a:lnTo>
                  <a:lnTo>
                    <a:pt x="352665" y="343386"/>
                  </a:lnTo>
                  <a:lnTo>
                    <a:pt x="367141" y="326870"/>
                  </a:lnTo>
                  <a:lnTo>
                    <a:pt x="380450" y="309949"/>
                  </a:lnTo>
                  <a:lnTo>
                    <a:pt x="396366" y="290754"/>
                  </a:lnTo>
                  <a:lnTo>
                    <a:pt x="415351" y="267767"/>
                  </a:lnTo>
                  <a:lnTo>
                    <a:pt x="435562" y="242208"/>
                  </a:lnTo>
                  <a:lnTo>
                    <a:pt x="457321" y="216316"/>
                  </a:lnTo>
                  <a:lnTo>
                    <a:pt x="480948" y="192329"/>
                  </a:lnTo>
                  <a:lnTo>
                    <a:pt x="507160" y="170949"/>
                  </a:lnTo>
                  <a:lnTo>
                    <a:pt x="535574" y="151022"/>
                  </a:lnTo>
                  <a:lnTo>
                    <a:pt x="564584" y="132000"/>
                  </a:lnTo>
                  <a:lnTo>
                    <a:pt x="592582" y="113335"/>
                  </a:lnTo>
                  <a:lnTo>
                    <a:pt x="619140" y="94361"/>
                  </a:lnTo>
                  <a:lnTo>
                    <a:pt x="645128" y="75362"/>
                  </a:lnTo>
                  <a:lnTo>
                    <a:pt x="670877" y="57507"/>
                  </a:lnTo>
                  <a:lnTo>
                    <a:pt x="723052" y="28130"/>
                  </a:lnTo>
                  <a:lnTo>
                    <a:pt x="776714" y="5707"/>
                  </a:lnTo>
                  <a:lnTo>
                    <a:pt x="830141" y="0"/>
                  </a:lnTo>
                  <a:lnTo>
                    <a:pt x="857011" y="3861"/>
                  </a:lnTo>
                  <a:lnTo>
                    <a:pt x="908812" y="20752"/>
                  </a:lnTo>
                  <a:lnTo>
                    <a:pt x="957310" y="49438"/>
                  </a:lnTo>
                  <a:lnTo>
                    <a:pt x="999616" y="84506"/>
                  </a:lnTo>
                  <a:lnTo>
                    <a:pt x="1031271" y="121669"/>
                  </a:lnTo>
                  <a:lnTo>
                    <a:pt x="1055878" y="157785"/>
                  </a:lnTo>
                  <a:lnTo>
                    <a:pt x="1072737" y="186170"/>
                  </a:lnTo>
                  <a:lnTo>
                    <a:pt x="1080345" y="199076"/>
                  </a:lnTo>
                  <a:lnTo>
                    <a:pt x="1090548" y="212268"/>
                  </a:lnTo>
                  <a:lnTo>
                    <a:pt x="1105197" y="226401"/>
                  </a:lnTo>
                  <a:lnTo>
                    <a:pt x="1122584" y="240843"/>
                  </a:lnTo>
                  <a:lnTo>
                    <a:pt x="1139733" y="254523"/>
                  </a:lnTo>
                  <a:lnTo>
                    <a:pt x="1153667" y="266370"/>
                  </a:lnTo>
                  <a:lnTo>
                    <a:pt x="1162335" y="275482"/>
                  </a:lnTo>
                  <a:lnTo>
                    <a:pt x="1167764" y="282594"/>
                  </a:lnTo>
                  <a:lnTo>
                    <a:pt x="1173098" y="289373"/>
                  </a:lnTo>
                  <a:lnTo>
                    <a:pt x="1181481" y="297485"/>
                  </a:lnTo>
                  <a:lnTo>
                    <a:pt x="1194214" y="306883"/>
                  </a:lnTo>
                  <a:lnTo>
                    <a:pt x="1209627" y="316757"/>
                  </a:lnTo>
                  <a:lnTo>
                    <a:pt x="1226111" y="327632"/>
                  </a:lnTo>
                  <a:lnTo>
                    <a:pt x="1242060" y="340030"/>
                  </a:lnTo>
                  <a:lnTo>
                    <a:pt x="1257026" y="354959"/>
                  </a:lnTo>
                  <a:lnTo>
                    <a:pt x="1271873" y="371828"/>
                  </a:lnTo>
                  <a:lnTo>
                    <a:pt x="1286958" y="388768"/>
                  </a:lnTo>
                  <a:lnTo>
                    <a:pt x="1318893" y="417077"/>
                  </a:lnTo>
                  <a:lnTo>
                    <a:pt x="1353020" y="439791"/>
                  </a:lnTo>
                  <a:lnTo>
                    <a:pt x="1390140" y="455219"/>
                  </a:lnTo>
                  <a:lnTo>
                    <a:pt x="1430299" y="463458"/>
                  </a:lnTo>
                  <a:lnTo>
                    <a:pt x="1454022" y="467792"/>
                  </a:lnTo>
                  <a:lnTo>
                    <a:pt x="1507251" y="477952"/>
                  </a:lnTo>
                  <a:lnTo>
                    <a:pt x="1574672" y="488112"/>
                  </a:lnTo>
                  <a:lnTo>
                    <a:pt x="1621905" y="493454"/>
                  </a:lnTo>
                  <a:lnTo>
                    <a:pt x="1677257" y="498939"/>
                  </a:lnTo>
                  <a:lnTo>
                    <a:pt x="1730371" y="503900"/>
                  </a:lnTo>
                  <a:lnTo>
                    <a:pt x="1770888" y="507670"/>
                  </a:lnTo>
                </a:path>
              </a:pathLst>
            </a:custGeom>
            <a:ln w="57911">
              <a:solidFill>
                <a:srgbClr val="D7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00899" y="2124868"/>
              <a:ext cx="1600200" cy="506095"/>
            </a:xfrm>
            <a:custGeom>
              <a:avLst/>
              <a:gdLst/>
              <a:ahLst/>
              <a:cxnLst/>
              <a:rect l="l" t="t" r="r" b="b"/>
              <a:pathLst>
                <a:path w="1600200" h="506094">
                  <a:moveTo>
                    <a:pt x="0" y="505555"/>
                  </a:moveTo>
                  <a:lnTo>
                    <a:pt x="80292" y="497236"/>
                  </a:lnTo>
                  <a:lnTo>
                    <a:pt x="134764" y="490943"/>
                  </a:lnTo>
                  <a:lnTo>
                    <a:pt x="187456" y="483625"/>
                  </a:lnTo>
                  <a:lnTo>
                    <a:pt x="229870" y="475583"/>
                  </a:lnTo>
                  <a:lnTo>
                    <a:pt x="266920" y="465641"/>
                  </a:lnTo>
                  <a:lnTo>
                    <a:pt x="319399" y="441471"/>
                  </a:lnTo>
                  <a:lnTo>
                    <a:pt x="372018" y="395479"/>
                  </a:lnTo>
                  <a:lnTo>
                    <a:pt x="398684" y="362823"/>
                  </a:lnTo>
                  <a:lnTo>
                    <a:pt x="425207" y="327142"/>
                  </a:lnTo>
                  <a:lnTo>
                    <a:pt x="451993" y="291306"/>
                  </a:lnTo>
                  <a:lnTo>
                    <a:pt x="478248" y="254888"/>
                  </a:lnTo>
                  <a:lnTo>
                    <a:pt x="504015" y="216757"/>
                  </a:lnTo>
                  <a:lnTo>
                    <a:pt x="531235" y="178720"/>
                  </a:lnTo>
                  <a:lnTo>
                    <a:pt x="561848" y="142589"/>
                  </a:lnTo>
                  <a:lnTo>
                    <a:pt x="598737" y="105941"/>
                  </a:lnTo>
                  <a:lnTo>
                    <a:pt x="640270" y="68770"/>
                  </a:lnTo>
                  <a:lnTo>
                    <a:pt x="681327" y="36218"/>
                  </a:lnTo>
                  <a:lnTo>
                    <a:pt x="716788" y="13430"/>
                  </a:lnTo>
                  <a:lnTo>
                    <a:pt x="767127" y="0"/>
                  </a:lnTo>
                  <a:lnTo>
                    <a:pt x="787957" y="4357"/>
                  </a:lnTo>
                  <a:lnTo>
                    <a:pt x="832993" y="27384"/>
                  </a:lnTo>
                  <a:lnTo>
                    <a:pt x="879475" y="71437"/>
                  </a:lnTo>
                  <a:lnTo>
                    <a:pt x="926655" y="133875"/>
                  </a:lnTo>
                  <a:lnTo>
                    <a:pt x="950976" y="174132"/>
                  </a:lnTo>
                  <a:lnTo>
                    <a:pt x="974439" y="214747"/>
                  </a:lnTo>
                  <a:lnTo>
                    <a:pt x="995806" y="250158"/>
                  </a:lnTo>
                  <a:lnTo>
                    <a:pt x="1029493" y="303434"/>
                  </a:lnTo>
                  <a:lnTo>
                    <a:pt x="1062227" y="346043"/>
                  </a:lnTo>
                  <a:lnTo>
                    <a:pt x="1105217" y="382492"/>
                  </a:lnTo>
                  <a:lnTo>
                    <a:pt x="1148206" y="410940"/>
                  </a:lnTo>
                  <a:lnTo>
                    <a:pt x="1195034" y="435550"/>
                  </a:lnTo>
                  <a:lnTo>
                    <a:pt x="1212723" y="443706"/>
                  </a:lnTo>
                  <a:lnTo>
                    <a:pt x="1229373" y="454540"/>
                  </a:lnTo>
                  <a:lnTo>
                    <a:pt x="1244965" y="466756"/>
                  </a:lnTo>
                  <a:lnTo>
                    <a:pt x="1267676" y="478210"/>
                  </a:lnTo>
                  <a:lnTo>
                    <a:pt x="1305686" y="486759"/>
                  </a:lnTo>
                  <a:lnTo>
                    <a:pt x="1345688" y="490248"/>
                  </a:lnTo>
                  <a:lnTo>
                    <a:pt x="1397141" y="492450"/>
                  </a:lnTo>
                  <a:lnTo>
                    <a:pt x="1454181" y="493728"/>
                  </a:lnTo>
                  <a:lnTo>
                    <a:pt x="1510947" y="494445"/>
                  </a:lnTo>
                  <a:lnTo>
                    <a:pt x="1561574" y="494964"/>
                  </a:lnTo>
                  <a:lnTo>
                    <a:pt x="1600200" y="495649"/>
                  </a:lnTo>
                </a:path>
              </a:pathLst>
            </a:custGeom>
            <a:ln w="5791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3603116" y="258521"/>
            <a:ext cx="16510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ROC</a:t>
            </a:r>
            <a:r>
              <a:rPr sz="3000" spc="-105" dirty="0"/>
              <a:t> </a:t>
            </a:r>
            <a:r>
              <a:rPr sz="3000" spc="-5" dirty="0"/>
              <a:t>curve</a:t>
            </a:r>
            <a:endParaRPr sz="3000"/>
          </a:p>
        </p:txBody>
      </p:sp>
      <p:sp>
        <p:nvSpPr>
          <p:cNvPr id="35" name="object 35"/>
          <p:cNvSpPr/>
          <p:nvPr/>
        </p:nvSpPr>
        <p:spPr>
          <a:xfrm>
            <a:off x="2235691" y="732715"/>
            <a:ext cx="3433445" cy="3441065"/>
          </a:xfrm>
          <a:custGeom>
            <a:avLst/>
            <a:gdLst/>
            <a:ahLst/>
            <a:cxnLst/>
            <a:rect l="l" t="t" r="r" b="b"/>
            <a:pathLst>
              <a:path w="3433445" h="3441065">
                <a:moveTo>
                  <a:pt x="3432826" y="10996"/>
                </a:moveTo>
                <a:lnTo>
                  <a:pt x="3374061" y="10181"/>
                </a:lnTo>
                <a:lnTo>
                  <a:pt x="3315335" y="9369"/>
                </a:lnTo>
                <a:lnTo>
                  <a:pt x="3256688" y="8565"/>
                </a:lnTo>
                <a:lnTo>
                  <a:pt x="3198160" y="7773"/>
                </a:lnTo>
                <a:lnTo>
                  <a:pt x="3139793" y="6997"/>
                </a:lnTo>
                <a:lnTo>
                  <a:pt x="3081624" y="6242"/>
                </a:lnTo>
                <a:lnTo>
                  <a:pt x="3023695" y="5510"/>
                </a:lnTo>
                <a:lnTo>
                  <a:pt x="2966046" y="4806"/>
                </a:lnTo>
                <a:lnTo>
                  <a:pt x="2908716" y="4134"/>
                </a:lnTo>
                <a:lnTo>
                  <a:pt x="2851746" y="3498"/>
                </a:lnTo>
                <a:lnTo>
                  <a:pt x="2795176" y="2903"/>
                </a:lnTo>
                <a:lnTo>
                  <a:pt x="2739045" y="2351"/>
                </a:lnTo>
                <a:lnTo>
                  <a:pt x="2683394" y="1847"/>
                </a:lnTo>
                <a:lnTo>
                  <a:pt x="2628262" y="1395"/>
                </a:lnTo>
                <a:lnTo>
                  <a:pt x="2573690" y="999"/>
                </a:lnTo>
                <a:lnTo>
                  <a:pt x="2519718" y="663"/>
                </a:lnTo>
                <a:lnTo>
                  <a:pt x="2466386" y="391"/>
                </a:lnTo>
                <a:lnTo>
                  <a:pt x="2413733" y="187"/>
                </a:lnTo>
                <a:lnTo>
                  <a:pt x="2361801" y="55"/>
                </a:lnTo>
                <a:lnTo>
                  <a:pt x="2310628" y="0"/>
                </a:lnTo>
                <a:lnTo>
                  <a:pt x="2260255" y="23"/>
                </a:lnTo>
                <a:lnTo>
                  <a:pt x="2210722" y="131"/>
                </a:lnTo>
                <a:lnTo>
                  <a:pt x="2162068" y="327"/>
                </a:lnTo>
                <a:lnTo>
                  <a:pt x="2114335" y="615"/>
                </a:lnTo>
                <a:lnTo>
                  <a:pt x="2067562" y="999"/>
                </a:lnTo>
                <a:lnTo>
                  <a:pt x="2021788" y="1483"/>
                </a:lnTo>
                <a:lnTo>
                  <a:pt x="1977055" y="2071"/>
                </a:lnTo>
                <a:lnTo>
                  <a:pt x="1933401" y="2767"/>
                </a:lnTo>
                <a:lnTo>
                  <a:pt x="1890868" y="3574"/>
                </a:lnTo>
                <a:lnTo>
                  <a:pt x="1849495" y="4498"/>
                </a:lnTo>
                <a:lnTo>
                  <a:pt x="1809322" y="5542"/>
                </a:lnTo>
                <a:lnTo>
                  <a:pt x="1770389" y="6710"/>
                </a:lnTo>
                <a:lnTo>
                  <a:pt x="1696403" y="9433"/>
                </a:lnTo>
                <a:lnTo>
                  <a:pt x="1575146" y="15731"/>
                </a:lnTo>
                <a:lnTo>
                  <a:pt x="1500047" y="21141"/>
                </a:lnTo>
                <a:lnTo>
                  <a:pt x="1434807" y="27228"/>
                </a:lnTo>
                <a:lnTo>
                  <a:pt x="1378100" y="33992"/>
                </a:lnTo>
                <a:lnTo>
                  <a:pt x="1328597" y="41431"/>
                </a:lnTo>
                <a:lnTo>
                  <a:pt x="1284974" y="49547"/>
                </a:lnTo>
                <a:lnTo>
                  <a:pt x="1245903" y="58339"/>
                </a:lnTo>
                <a:lnTo>
                  <a:pt x="1176111" y="77953"/>
                </a:lnTo>
                <a:lnTo>
                  <a:pt x="1108608" y="100272"/>
                </a:lnTo>
                <a:lnTo>
                  <a:pt x="1072398" y="112446"/>
                </a:lnTo>
                <a:lnTo>
                  <a:pt x="1032780" y="125296"/>
                </a:lnTo>
                <a:lnTo>
                  <a:pt x="979345" y="142756"/>
                </a:lnTo>
                <a:lnTo>
                  <a:pt x="927624" y="160959"/>
                </a:lnTo>
                <a:lnTo>
                  <a:pt x="877618" y="180078"/>
                </a:lnTo>
                <a:lnTo>
                  <a:pt x="829326" y="200285"/>
                </a:lnTo>
                <a:lnTo>
                  <a:pt x="782749" y="221753"/>
                </a:lnTo>
                <a:lnTo>
                  <a:pt x="737886" y="244653"/>
                </a:lnTo>
                <a:lnTo>
                  <a:pt x="694738" y="269158"/>
                </a:lnTo>
                <a:lnTo>
                  <a:pt x="653304" y="295440"/>
                </a:lnTo>
                <a:lnTo>
                  <a:pt x="613585" y="323671"/>
                </a:lnTo>
                <a:lnTo>
                  <a:pt x="575580" y="354023"/>
                </a:lnTo>
                <a:lnTo>
                  <a:pt x="539582" y="385027"/>
                </a:lnTo>
                <a:lnTo>
                  <a:pt x="505691" y="415745"/>
                </a:lnTo>
                <a:lnTo>
                  <a:pt x="473737" y="447035"/>
                </a:lnTo>
                <a:lnTo>
                  <a:pt x="443549" y="479753"/>
                </a:lnTo>
                <a:lnTo>
                  <a:pt x="414957" y="514758"/>
                </a:lnTo>
                <a:lnTo>
                  <a:pt x="387790" y="552905"/>
                </a:lnTo>
                <a:lnTo>
                  <a:pt x="361877" y="595053"/>
                </a:lnTo>
                <a:lnTo>
                  <a:pt x="337048" y="642059"/>
                </a:lnTo>
                <a:lnTo>
                  <a:pt x="313132" y="694780"/>
                </a:lnTo>
                <a:lnTo>
                  <a:pt x="289957" y="754073"/>
                </a:lnTo>
                <a:lnTo>
                  <a:pt x="276708" y="792889"/>
                </a:lnTo>
                <a:lnTo>
                  <a:pt x="263854" y="835075"/>
                </a:lnTo>
                <a:lnTo>
                  <a:pt x="251396" y="880249"/>
                </a:lnTo>
                <a:lnTo>
                  <a:pt x="239333" y="928026"/>
                </a:lnTo>
                <a:lnTo>
                  <a:pt x="227666" y="978024"/>
                </a:lnTo>
                <a:lnTo>
                  <a:pt x="216394" y="1029859"/>
                </a:lnTo>
                <a:lnTo>
                  <a:pt x="205518" y="1083148"/>
                </a:lnTo>
                <a:lnTo>
                  <a:pt x="195037" y="1137506"/>
                </a:lnTo>
                <a:lnTo>
                  <a:pt x="184952" y="1192550"/>
                </a:lnTo>
                <a:lnTo>
                  <a:pt x="175262" y="1247896"/>
                </a:lnTo>
                <a:lnTo>
                  <a:pt x="165968" y="1303162"/>
                </a:lnTo>
                <a:lnTo>
                  <a:pt x="157069" y="1357963"/>
                </a:lnTo>
                <a:lnTo>
                  <a:pt x="148566" y="1411917"/>
                </a:lnTo>
                <a:lnTo>
                  <a:pt x="140458" y="1464638"/>
                </a:lnTo>
                <a:lnTo>
                  <a:pt x="132745" y="1515744"/>
                </a:lnTo>
                <a:lnTo>
                  <a:pt x="125429" y="1564852"/>
                </a:lnTo>
                <a:lnTo>
                  <a:pt x="118507" y="1611577"/>
                </a:lnTo>
                <a:lnTo>
                  <a:pt x="110905" y="1666115"/>
                </a:lnTo>
                <a:lnTo>
                  <a:pt x="104345" y="1719553"/>
                </a:lnTo>
                <a:lnTo>
                  <a:pt x="98701" y="1771952"/>
                </a:lnTo>
                <a:lnTo>
                  <a:pt x="93848" y="1823374"/>
                </a:lnTo>
                <a:lnTo>
                  <a:pt x="89662" y="1873882"/>
                </a:lnTo>
                <a:lnTo>
                  <a:pt x="86017" y="1923536"/>
                </a:lnTo>
                <a:lnTo>
                  <a:pt x="82789" y="1972400"/>
                </a:lnTo>
                <a:lnTo>
                  <a:pt x="79852" y="2020535"/>
                </a:lnTo>
                <a:lnTo>
                  <a:pt x="77082" y="2068003"/>
                </a:lnTo>
                <a:lnTo>
                  <a:pt x="74354" y="2114866"/>
                </a:lnTo>
                <a:lnTo>
                  <a:pt x="71542" y="2161185"/>
                </a:lnTo>
                <a:lnTo>
                  <a:pt x="68522" y="2207024"/>
                </a:lnTo>
                <a:lnTo>
                  <a:pt x="65169" y="2252443"/>
                </a:lnTo>
                <a:lnTo>
                  <a:pt x="61357" y="2297504"/>
                </a:lnTo>
                <a:lnTo>
                  <a:pt x="55947" y="2353756"/>
                </a:lnTo>
                <a:lnTo>
                  <a:pt x="50194" y="2408380"/>
                </a:lnTo>
                <a:lnTo>
                  <a:pt x="44225" y="2461635"/>
                </a:lnTo>
                <a:lnTo>
                  <a:pt x="38171" y="2513776"/>
                </a:lnTo>
                <a:lnTo>
                  <a:pt x="32160" y="2565061"/>
                </a:lnTo>
                <a:lnTo>
                  <a:pt x="26320" y="2615744"/>
                </a:lnTo>
                <a:lnTo>
                  <a:pt x="20781" y="2666084"/>
                </a:lnTo>
                <a:lnTo>
                  <a:pt x="15672" y="2716336"/>
                </a:lnTo>
                <a:lnTo>
                  <a:pt x="11120" y="2766757"/>
                </a:lnTo>
                <a:lnTo>
                  <a:pt x="7256" y="2817603"/>
                </a:lnTo>
                <a:lnTo>
                  <a:pt x="4207" y="2869131"/>
                </a:lnTo>
                <a:lnTo>
                  <a:pt x="2061" y="2923235"/>
                </a:lnTo>
                <a:lnTo>
                  <a:pt x="729" y="2980778"/>
                </a:lnTo>
                <a:lnTo>
                  <a:pt x="85" y="3040472"/>
                </a:lnTo>
                <a:lnTo>
                  <a:pt x="0" y="3101026"/>
                </a:lnTo>
                <a:lnTo>
                  <a:pt x="343" y="3161154"/>
                </a:lnTo>
                <a:lnTo>
                  <a:pt x="987" y="3219564"/>
                </a:lnTo>
                <a:lnTo>
                  <a:pt x="1803" y="3274970"/>
                </a:lnTo>
                <a:lnTo>
                  <a:pt x="2662" y="3326081"/>
                </a:lnTo>
                <a:lnTo>
                  <a:pt x="3435" y="3371608"/>
                </a:lnTo>
                <a:lnTo>
                  <a:pt x="3993" y="3410264"/>
                </a:lnTo>
                <a:lnTo>
                  <a:pt x="4207" y="3440758"/>
                </a:lnTo>
              </a:path>
            </a:pathLst>
          </a:custGeom>
          <a:ln w="38099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05221" y="1997710"/>
            <a:ext cx="2180590" cy="2077085"/>
            <a:chOff x="5205221" y="1997710"/>
            <a:chExt cx="2180590" cy="2077085"/>
          </a:xfrm>
        </p:grpSpPr>
        <p:sp>
          <p:nvSpPr>
            <p:cNvPr id="3" name="object 3"/>
            <p:cNvSpPr/>
            <p:nvPr/>
          </p:nvSpPr>
          <p:spPr>
            <a:xfrm>
              <a:off x="5242559" y="2004060"/>
              <a:ext cx="2136775" cy="2032000"/>
            </a:xfrm>
            <a:custGeom>
              <a:avLst/>
              <a:gdLst/>
              <a:ahLst/>
              <a:cxnLst/>
              <a:rect l="l" t="t" r="r" b="b"/>
              <a:pathLst>
                <a:path w="2136775" h="2032000">
                  <a:moveTo>
                    <a:pt x="0" y="0"/>
                  </a:moveTo>
                  <a:lnTo>
                    <a:pt x="2136647" y="0"/>
                  </a:lnTo>
                </a:path>
                <a:path w="2136775" h="2032000">
                  <a:moveTo>
                    <a:pt x="2136647" y="0"/>
                  </a:moveTo>
                  <a:lnTo>
                    <a:pt x="2136647" y="2031491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05222" y="2004821"/>
              <a:ext cx="2174875" cy="2070100"/>
            </a:xfrm>
            <a:custGeom>
              <a:avLst/>
              <a:gdLst/>
              <a:ahLst/>
              <a:cxnLst/>
              <a:rect l="l" t="t" r="r" b="b"/>
              <a:pathLst>
                <a:path w="2174875" h="2070100">
                  <a:moveTo>
                    <a:pt x="2174748" y="2031492"/>
                  </a:moveTo>
                  <a:lnTo>
                    <a:pt x="2136648" y="2012442"/>
                  </a:lnTo>
                  <a:lnTo>
                    <a:pt x="2098548" y="1993392"/>
                  </a:lnTo>
                  <a:lnTo>
                    <a:pt x="2098548" y="2012442"/>
                  </a:lnTo>
                  <a:lnTo>
                    <a:pt x="57150" y="2012442"/>
                  </a:lnTo>
                  <a:lnTo>
                    <a:pt x="57150" y="76200"/>
                  </a:lnTo>
                  <a:lnTo>
                    <a:pt x="76200" y="76200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19050" y="76200"/>
                  </a:lnTo>
                  <a:lnTo>
                    <a:pt x="19050" y="2031492"/>
                  </a:lnTo>
                  <a:lnTo>
                    <a:pt x="38100" y="2031492"/>
                  </a:lnTo>
                  <a:lnTo>
                    <a:pt x="38100" y="2050542"/>
                  </a:lnTo>
                  <a:lnTo>
                    <a:pt x="2098548" y="2050542"/>
                  </a:lnTo>
                  <a:lnTo>
                    <a:pt x="2098548" y="2069592"/>
                  </a:lnTo>
                  <a:lnTo>
                    <a:pt x="2136648" y="2050542"/>
                  </a:lnTo>
                  <a:lnTo>
                    <a:pt x="2174748" y="2031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821682" y="2749939"/>
            <a:ext cx="139700" cy="8655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latin typeface="Calibri"/>
                <a:cs typeface="Calibri"/>
              </a:rPr>
              <a:t>True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7582" y="3928668"/>
            <a:ext cx="86995" cy="2305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latin typeface="Calibri"/>
                <a:cs typeface="Calibri"/>
              </a:rPr>
              <a:t>0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650" spc="15" dirty="0">
                <a:latin typeface="Calibri"/>
                <a:cs typeface="Calibri"/>
              </a:rPr>
              <a:t>%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2952" y="2064511"/>
            <a:ext cx="24066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100%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8105" y="4197197"/>
            <a:ext cx="8883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/>
                <a:cs typeface="Calibri"/>
              </a:rPr>
              <a:t>False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0560" y="4131055"/>
            <a:ext cx="946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74483" y="4096003"/>
            <a:ext cx="17208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5" dirty="0">
                <a:latin typeface="Calibri"/>
                <a:cs typeface="Calibri"/>
              </a:rPr>
              <a:t>100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24271" y="1985772"/>
            <a:ext cx="2174875" cy="2070100"/>
            <a:chOff x="5224271" y="1985772"/>
            <a:chExt cx="2174875" cy="2070100"/>
          </a:xfrm>
        </p:grpSpPr>
        <p:sp>
          <p:nvSpPr>
            <p:cNvPr id="12" name="object 12"/>
            <p:cNvSpPr/>
            <p:nvPr/>
          </p:nvSpPr>
          <p:spPr>
            <a:xfrm>
              <a:off x="6952487" y="2004060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59" h="33655">
                  <a:moveTo>
                    <a:pt x="27177" y="0"/>
                  </a:moveTo>
                  <a:lnTo>
                    <a:pt x="7873" y="0"/>
                  </a:lnTo>
                  <a:lnTo>
                    <a:pt x="0" y="7492"/>
                  </a:lnTo>
                  <a:lnTo>
                    <a:pt x="0" y="16763"/>
                  </a:lnTo>
                  <a:lnTo>
                    <a:pt x="0" y="26034"/>
                  </a:lnTo>
                  <a:lnTo>
                    <a:pt x="7873" y="33527"/>
                  </a:lnTo>
                  <a:lnTo>
                    <a:pt x="27177" y="33527"/>
                  </a:lnTo>
                  <a:lnTo>
                    <a:pt x="35051" y="26034"/>
                  </a:lnTo>
                  <a:lnTo>
                    <a:pt x="35051" y="7492"/>
                  </a:lnTo>
                  <a:lnTo>
                    <a:pt x="271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52487" y="2004060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59" h="33655">
                  <a:moveTo>
                    <a:pt x="0" y="16763"/>
                  </a:moveTo>
                  <a:lnTo>
                    <a:pt x="0" y="7492"/>
                  </a:lnTo>
                  <a:lnTo>
                    <a:pt x="7873" y="0"/>
                  </a:lnTo>
                  <a:lnTo>
                    <a:pt x="17525" y="0"/>
                  </a:lnTo>
                  <a:lnTo>
                    <a:pt x="27177" y="0"/>
                  </a:lnTo>
                  <a:lnTo>
                    <a:pt x="35051" y="7492"/>
                  </a:lnTo>
                  <a:lnTo>
                    <a:pt x="35051" y="16763"/>
                  </a:lnTo>
                  <a:lnTo>
                    <a:pt x="35051" y="26034"/>
                  </a:lnTo>
                  <a:lnTo>
                    <a:pt x="27177" y="33527"/>
                  </a:lnTo>
                  <a:lnTo>
                    <a:pt x="17525" y="33527"/>
                  </a:lnTo>
                  <a:lnTo>
                    <a:pt x="7873" y="33527"/>
                  </a:lnTo>
                  <a:lnTo>
                    <a:pt x="0" y="26034"/>
                  </a:lnTo>
                  <a:lnTo>
                    <a:pt x="0" y="1676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30923" y="2071116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28448" y="0"/>
                  </a:moveTo>
                  <a:lnTo>
                    <a:pt x="8127" y="0"/>
                  </a:lnTo>
                  <a:lnTo>
                    <a:pt x="0" y="7492"/>
                  </a:lnTo>
                  <a:lnTo>
                    <a:pt x="0" y="16763"/>
                  </a:lnTo>
                  <a:lnTo>
                    <a:pt x="0" y="26034"/>
                  </a:lnTo>
                  <a:lnTo>
                    <a:pt x="8127" y="33527"/>
                  </a:lnTo>
                  <a:lnTo>
                    <a:pt x="28448" y="33527"/>
                  </a:lnTo>
                  <a:lnTo>
                    <a:pt x="36575" y="26034"/>
                  </a:lnTo>
                  <a:lnTo>
                    <a:pt x="36575" y="7492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30923" y="2071116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0" y="16763"/>
                  </a:moveTo>
                  <a:lnTo>
                    <a:pt x="0" y="7492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492"/>
                  </a:lnTo>
                  <a:lnTo>
                    <a:pt x="36575" y="16763"/>
                  </a:lnTo>
                  <a:lnTo>
                    <a:pt x="36575" y="26034"/>
                  </a:lnTo>
                  <a:lnTo>
                    <a:pt x="28448" y="33527"/>
                  </a:lnTo>
                  <a:lnTo>
                    <a:pt x="18287" y="33527"/>
                  </a:lnTo>
                  <a:lnTo>
                    <a:pt x="8127" y="33527"/>
                  </a:lnTo>
                  <a:lnTo>
                    <a:pt x="0" y="26034"/>
                  </a:lnTo>
                  <a:lnTo>
                    <a:pt x="0" y="167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10883" y="2308860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60" h="33655">
                  <a:moveTo>
                    <a:pt x="27177" y="0"/>
                  </a:moveTo>
                  <a:lnTo>
                    <a:pt x="7874" y="0"/>
                  </a:lnTo>
                  <a:lnTo>
                    <a:pt x="0" y="7492"/>
                  </a:lnTo>
                  <a:lnTo>
                    <a:pt x="0" y="16763"/>
                  </a:lnTo>
                  <a:lnTo>
                    <a:pt x="0" y="26034"/>
                  </a:lnTo>
                  <a:lnTo>
                    <a:pt x="7874" y="33527"/>
                  </a:lnTo>
                  <a:lnTo>
                    <a:pt x="27177" y="33527"/>
                  </a:lnTo>
                  <a:lnTo>
                    <a:pt x="35051" y="26034"/>
                  </a:lnTo>
                  <a:lnTo>
                    <a:pt x="35051" y="7492"/>
                  </a:lnTo>
                  <a:lnTo>
                    <a:pt x="271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10883" y="2308860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60" h="33655">
                  <a:moveTo>
                    <a:pt x="0" y="16763"/>
                  </a:moveTo>
                  <a:lnTo>
                    <a:pt x="0" y="7492"/>
                  </a:lnTo>
                  <a:lnTo>
                    <a:pt x="7874" y="0"/>
                  </a:lnTo>
                  <a:lnTo>
                    <a:pt x="17525" y="0"/>
                  </a:lnTo>
                  <a:lnTo>
                    <a:pt x="27177" y="0"/>
                  </a:lnTo>
                  <a:lnTo>
                    <a:pt x="35051" y="7492"/>
                  </a:lnTo>
                  <a:lnTo>
                    <a:pt x="35051" y="16763"/>
                  </a:lnTo>
                  <a:lnTo>
                    <a:pt x="35051" y="26034"/>
                  </a:lnTo>
                  <a:lnTo>
                    <a:pt x="27177" y="33527"/>
                  </a:lnTo>
                  <a:lnTo>
                    <a:pt x="17525" y="33527"/>
                  </a:lnTo>
                  <a:lnTo>
                    <a:pt x="7874" y="33527"/>
                  </a:lnTo>
                  <a:lnTo>
                    <a:pt x="0" y="26034"/>
                  </a:lnTo>
                  <a:lnTo>
                    <a:pt x="0" y="1676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60947" y="2511552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28448" y="0"/>
                  </a:moveTo>
                  <a:lnTo>
                    <a:pt x="8127" y="0"/>
                  </a:lnTo>
                  <a:lnTo>
                    <a:pt x="0" y="7493"/>
                  </a:lnTo>
                  <a:lnTo>
                    <a:pt x="0" y="16764"/>
                  </a:lnTo>
                  <a:lnTo>
                    <a:pt x="0" y="26035"/>
                  </a:lnTo>
                  <a:lnTo>
                    <a:pt x="8127" y="33528"/>
                  </a:lnTo>
                  <a:lnTo>
                    <a:pt x="28448" y="33528"/>
                  </a:lnTo>
                  <a:lnTo>
                    <a:pt x="36575" y="26035"/>
                  </a:lnTo>
                  <a:lnTo>
                    <a:pt x="36575" y="749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60947" y="2511552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0" y="16764"/>
                  </a:moveTo>
                  <a:lnTo>
                    <a:pt x="0" y="7493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493"/>
                  </a:lnTo>
                  <a:lnTo>
                    <a:pt x="36575" y="16764"/>
                  </a:lnTo>
                  <a:lnTo>
                    <a:pt x="36575" y="26035"/>
                  </a:lnTo>
                  <a:lnTo>
                    <a:pt x="28448" y="33528"/>
                  </a:lnTo>
                  <a:lnTo>
                    <a:pt x="18287" y="33528"/>
                  </a:lnTo>
                  <a:lnTo>
                    <a:pt x="8127" y="33528"/>
                  </a:lnTo>
                  <a:lnTo>
                    <a:pt x="0" y="26035"/>
                  </a:lnTo>
                  <a:lnTo>
                    <a:pt x="0" y="167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12535" y="2816352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60" h="33655">
                  <a:moveTo>
                    <a:pt x="27177" y="0"/>
                  </a:moveTo>
                  <a:lnTo>
                    <a:pt x="7874" y="0"/>
                  </a:lnTo>
                  <a:lnTo>
                    <a:pt x="0" y="7493"/>
                  </a:lnTo>
                  <a:lnTo>
                    <a:pt x="0" y="16764"/>
                  </a:lnTo>
                  <a:lnTo>
                    <a:pt x="0" y="26035"/>
                  </a:lnTo>
                  <a:lnTo>
                    <a:pt x="7874" y="33528"/>
                  </a:lnTo>
                  <a:lnTo>
                    <a:pt x="27177" y="33528"/>
                  </a:lnTo>
                  <a:lnTo>
                    <a:pt x="35051" y="26035"/>
                  </a:lnTo>
                  <a:lnTo>
                    <a:pt x="35051" y="7493"/>
                  </a:lnTo>
                  <a:lnTo>
                    <a:pt x="271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2535" y="2816352"/>
              <a:ext cx="35560" cy="33655"/>
            </a:xfrm>
            <a:custGeom>
              <a:avLst/>
              <a:gdLst/>
              <a:ahLst/>
              <a:cxnLst/>
              <a:rect l="l" t="t" r="r" b="b"/>
              <a:pathLst>
                <a:path w="35560" h="33655">
                  <a:moveTo>
                    <a:pt x="0" y="16764"/>
                  </a:moveTo>
                  <a:lnTo>
                    <a:pt x="0" y="7493"/>
                  </a:lnTo>
                  <a:lnTo>
                    <a:pt x="7874" y="0"/>
                  </a:lnTo>
                  <a:lnTo>
                    <a:pt x="17525" y="0"/>
                  </a:lnTo>
                  <a:lnTo>
                    <a:pt x="27177" y="0"/>
                  </a:lnTo>
                  <a:lnTo>
                    <a:pt x="35051" y="7493"/>
                  </a:lnTo>
                  <a:lnTo>
                    <a:pt x="35051" y="16764"/>
                  </a:lnTo>
                  <a:lnTo>
                    <a:pt x="35051" y="26035"/>
                  </a:lnTo>
                  <a:lnTo>
                    <a:pt x="27177" y="33528"/>
                  </a:lnTo>
                  <a:lnTo>
                    <a:pt x="17525" y="33528"/>
                  </a:lnTo>
                  <a:lnTo>
                    <a:pt x="7874" y="33528"/>
                  </a:lnTo>
                  <a:lnTo>
                    <a:pt x="0" y="26035"/>
                  </a:lnTo>
                  <a:lnTo>
                    <a:pt x="0" y="167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62599" y="3121152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28448" y="0"/>
                  </a:moveTo>
                  <a:lnTo>
                    <a:pt x="8127" y="0"/>
                  </a:lnTo>
                  <a:lnTo>
                    <a:pt x="0" y="7493"/>
                  </a:lnTo>
                  <a:lnTo>
                    <a:pt x="0" y="16764"/>
                  </a:lnTo>
                  <a:lnTo>
                    <a:pt x="0" y="26035"/>
                  </a:lnTo>
                  <a:lnTo>
                    <a:pt x="8127" y="33528"/>
                  </a:lnTo>
                  <a:lnTo>
                    <a:pt x="28448" y="33528"/>
                  </a:lnTo>
                  <a:lnTo>
                    <a:pt x="36575" y="26035"/>
                  </a:lnTo>
                  <a:lnTo>
                    <a:pt x="36575" y="749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62599" y="3121152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5">
                  <a:moveTo>
                    <a:pt x="0" y="16764"/>
                  </a:moveTo>
                  <a:lnTo>
                    <a:pt x="0" y="7493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493"/>
                  </a:lnTo>
                  <a:lnTo>
                    <a:pt x="36575" y="16764"/>
                  </a:lnTo>
                  <a:lnTo>
                    <a:pt x="36575" y="26035"/>
                  </a:lnTo>
                  <a:lnTo>
                    <a:pt x="28448" y="33528"/>
                  </a:lnTo>
                  <a:lnTo>
                    <a:pt x="18287" y="33528"/>
                  </a:lnTo>
                  <a:lnTo>
                    <a:pt x="8127" y="33528"/>
                  </a:lnTo>
                  <a:lnTo>
                    <a:pt x="0" y="26035"/>
                  </a:lnTo>
                  <a:lnTo>
                    <a:pt x="0" y="167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84291" y="3493008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29" h="35560">
                  <a:moveTo>
                    <a:pt x="28448" y="0"/>
                  </a:moveTo>
                  <a:lnTo>
                    <a:pt x="8128" y="0"/>
                  </a:lnTo>
                  <a:lnTo>
                    <a:pt x="0" y="7874"/>
                  </a:lnTo>
                  <a:lnTo>
                    <a:pt x="0" y="17526"/>
                  </a:lnTo>
                  <a:lnTo>
                    <a:pt x="0" y="27178"/>
                  </a:lnTo>
                  <a:lnTo>
                    <a:pt x="8128" y="35052"/>
                  </a:lnTo>
                  <a:lnTo>
                    <a:pt x="28448" y="35052"/>
                  </a:lnTo>
                  <a:lnTo>
                    <a:pt x="36575" y="27178"/>
                  </a:lnTo>
                  <a:lnTo>
                    <a:pt x="36575" y="7874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4291" y="3493008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29" h="35560">
                  <a:moveTo>
                    <a:pt x="0" y="17526"/>
                  </a:moveTo>
                  <a:lnTo>
                    <a:pt x="0" y="7874"/>
                  </a:lnTo>
                  <a:lnTo>
                    <a:pt x="8128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874"/>
                  </a:lnTo>
                  <a:lnTo>
                    <a:pt x="36575" y="17526"/>
                  </a:lnTo>
                  <a:lnTo>
                    <a:pt x="36575" y="27178"/>
                  </a:lnTo>
                  <a:lnTo>
                    <a:pt x="28448" y="35052"/>
                  </a:lnTo>
                  <a:lnTo>
                    <a:pt x="18287" y="35052"/>
                  </a:lnTo>
                  <a:lnTo>
                    <a:pt x="8128" y="35052"/>
                  </a:lnTo>
                  <a:lnTo>
                    <a:pt x="0" y="27178"/>
                  </a:lnTo>
                  <a:lnTo>
                    <a:pt x="0" y="1752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77611" y="3899916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4">
                  <a:moveTo>
                    <a:pt x="28448" y="0"/>
                  </a:moveTo>
                  <a:lnTo>
                    <a:pt x="8127" y="0"/>
                  </a:lnTo>
                  <a:lnTo>
                    <a:pt x="0" y="7505"/>
                  </a:lnTo>
                  <a:lnTo>
                    <a:pt x="0" y="16764"/>
                  </a:lnTo>
                  <a:lnTo>
                    <a:pt x="0" y="26022"/>
                  </a:lnTo>
                  <a:lnTo>
                    <a:pt x="8127" y="33528"/>
                  </a:lnTo>
                  <a:lnTo>
                    <a:pt x="28448" y="33528"/>
                  </a:lnTo>
                  <a:lnTo>
                    <a:pt x="36575" y="26022"/>
                  </a:lnTo>
                  <a:lnTo>
                    <a:pt x="36575" y="7505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77611" y="3899916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29" h="33654">
                  <a:moveTo>
                    <a:pt x="0" y="16764"/>
                  </a:moveTo>
                  <a:lnTo>
                    <a:pt x="0" y="7505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505"/>
                  </a:lnTo>
                  <a:lnTo>
                    <a:pt x="36575" y="16764"/>
                  </a:lnTo>
                  <a:lnTo>
                    <a:pt x="36575" y="26022"/>
                  </a:lnTo>
                  <a:lnTo>
                    <a:pt x="28448" y="33528"/>
                  </a:lnTo>
                  <a:lnTo>
                    <a:pt x="18287" y="33528"/>
                  </a:lnTo>
                  <a:lnTo>
                    <a:pt x="8127" y="33528"/>
                  </a:lnTo>
                  <a:lnTo>
                    <a:pt x="0" y="26022"/>
                  </a:lnTo>
                  <a:lnTo>
                    <a:pt x="0" y="1676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43321" y="2004822"/>
              <a:ext cx="2136775" cy="2032000"/>
            </a:xfrm>
            <a:custGeom>
              <a:avLst/>
              <a:gdLst/>
              <a:ahLst/>
              <a:cxnLst/>
              <a:rect l="l" t="t" r="r" b="b"/>
              <a:pathLst>
                <a:path w="2136775" h="2032000">
                  <a:moveTo>
                    <a:pt x="2136648" y="0"/>
                  </a:moveTo>
                  <a:lnTo>
                    <a:pt x="2078853" y="3202"/>
                  </a:lnTo>
                  <a:lnTo>
                    <a:pt x="2021474" y="6494"/>
                  </a:lnTo>
                  <a:lnTo>
                    <a:pt x="1964930" y="9981"/>
                  </a:lnTo>
                  <a:lnTo>
                    <a:pt x="1909635" y="13763"/>
                  </a:lnTo>
                  <a:lnTo>
                    <a:pt x="1856007" y="17944"/>
                  </a:lnTo>
                  <a:lnTo>
                    <a:pt x="1804463" y="22627"/>
                  </a:lnTo>
                  <a:lnTo>
                    <a:pt x="1755419" y="27914"/>
                  </a:lnTo>
                  <a:lnTo>
                    <a:pt x="1709293" y="33908"/>
                  </a:lnTo>
                  <a:lnTo>
                    <a:pt x="1654422" y="41648"/>
                  </a:lnTo>
                  <a:lnTo>
                    <a:pt x="1606455" y="48918"/>
                  </a:lnTo>
                  <a:lnTo>
                    <a:pt x="1562433" y="57134"/>
                  </a:lnTo>
                  <a:lnTo>
                    <a:pt x="1519395" y="67709"/>
                  </a:lnTo>
                  <a:lnTo>
                    <a:pt x="1474381" y="82060"/>
                  </a:lnTo>
                  <a:lnTo>
                    <a:pt x="1424431" y="101600"/>
                  </a:lnTo>
                  <a:lnTo>
                    <a:pt x="1382601" y="120264"/>
                  </a:lnTo>
                  <a:lnTo>
                    <a:pt x="1337911" y="142045"/>
                  </a:lnTo>
                  <a:lnTo>
                    <a:pt x="1291408" y="166344"/>
                  </a:lnTo>
                  <a:lnTo>
                    <a:pt x="1244139" y="192563"/>
                  </a:lnTo>
                  <a:lnTo>
                    <a:pt x="1197150" y="220104"/>
                  </a:lnTo>
                  <a:lnTo>
                    <a:pt x="1151487" y="248368"/>
                  </a:lnTo>
                  <a:lnTo>
                    <a:pt x="1108196" y="276757"/>
                  </a:lnTo>
                  <a:lnTo>
                    <a:pt x="1068324" y="304672"/>
                  </a:lnTo>
                  <a:lnTo>
                    <a:pt x="1027122" y="336328"/>
                  </a:lnTo>
                  <a:lnTo>
                    <a:pt x="989330" y="368475"/>
                  </a:lnTo>
                  <a:lnTo>
                    <a:pt x="954020" y="401261"/>
                  </a:lnTo>
                  <a:lnTo>
                    <a:pt x="920263" y="434836"/>
                  </a:lnTo>
                  <a:lnTo>
                    <a:pt x="887130" y="469349"/>
                  </a:lnTo>
                  <a:lnTo>
                    <a:pt x="853693" y="504947"/>
                  </a:lnTo>
                  <a:lnTo>
                    <a:pt x="819023" y="541782"/>
                  </a:lnTo>
                  <a:lnTo>
                    <a:pt x="787565" y="575296"/>
                  </a:lnTo>
                  <a:lnTo>
                    <a:pt x="755651" y="610107"/>
                  </a:lnTo>
                  <a:lnTo>
                    <a:pt x="723526" y="645920"/>
                  </a:lnTo>
                  <a:lnTo>
                    <a:pt x="691435" y="682434"/>
                  </a:lnTo>
                  <a:lnTo>
                    <a:pt x="659624" y="719353"/>
                  </a:lnTo>
                  <a:lnTo>
                    <a:pt x="628338" y="756380"/>
                  </a:lnTo>
                  <a:lnTo>
                    <a:pt x="597823" y="793216"/>
                  </a:lnTo>
                  <a:lnTo>
                    <a:pt x="568325" y="829563"/>
                  </a:lnTo>
                  <a:lnTo>
                    <a:pt x="535682" y="869918"/>
                  </a:lnTo>
                  <a:lnTo>
                    <a:pt x="503903" y="909288"/>
                  </a:lnTo>
                  <a:lnTo>
                    <a:pt x="472936" y="948416"/>
                  </a:lnTo>
                  <a:lnTo>
                    <a:pt x="442726" y="988043"/>
                  </a:lnTo>
                  <a:lnTo>
                    <a:pt x="413220" y="1028913"/>
                  </a:lnTo>
                  <a:lnTo>
                    <a:pt x="384365" y="1071766"/>
                  </a:lnTo>
                  <a:lnTo>
                    <a:pt x="356107" y="1117345"/>
                  </a:lnTo>
                  <a:lnTo>
                    <a:pt x="331908" y="1159370"/>
                  </a:lnTo>
                  <a:lnTo>
                    <a:pt x="308266" y="1202888"/>
                  </a:lnTo>
                  <a:lnTo>
                    <a:pt x="285181" y="1247799"/>
                  </a:lnTo>
                  <a:lnTo>
                    <a:pt x="262651" y="1294002"/>
                  </a:lnTo>
                  <a:lnTo>
                    <a:pt x="240675" y="1341396"/>
                  </a:lnTo>
                  <a:lnTo>
                    <a:pt x="219251" y="1389880"/>
                  </a:lnTo>
                  <a:lnTo>
                    <a:pt x="198378" y="1439351"/>
                  </a:lnTo>
                  <a:lnTo>
                    <a:pt x="178053" y="1489709"/>
                  </a:lnTo>
                  <a:lnTo>
                    <a:pt x="160063" y="1537522"/>
                  </a:lnTo>
                  <a:lnTo>
                    <a:pt x="141932" y="1589506"/>
                  </a:lnTo>
                  <a:lnTo>
                    <a:pt x="123951" y="1643992"/>
                  </a:lnTo>
                  <a:lnTo>
                    <a:pt x="106413" y="1699309"/>
                  </a:lnTo>
                  <a:lnTo>
                    <a:pt x="89608" y="1753788"/>
                  </a:lnTo>
                  <a:lnTo>
                    <a:pt x="73829" y="1805759"/>
                  </a:lnTo>
                  <a:lnTo>
                    <a:pt x="59367" y="1853550"/>
                  </a:lnTo>
                  <a:lnTo>
                    <a:pt x="46513" y="1895493"/>
                  </a:lnTo>
                  <a:lnTo>
                    <a:pt x="35560" y="1929917"/>
                  </a:lnTo>
                  <a:lnTo>
                    <a:pt x="18359" y="1981496"/>
                  </a:lnTo>
                  <a:lnTo>
                    <a:pt x="8921" y="2008212"/>
                  </a:lnTo>
                  <a:lnTo>
                    <a:pt x="3913" y="2021175"/>
                  </a:lnTo>
                  <a:lnTo>
                    <a:pt x="0" y="2031491"/>
                  </a:lnTo>
                </a:path>
              </a:pathLst>
            </a:custGeom>
            <a:ln w="380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015489" y="1947417"/>
            <a:ext cx="2225040" cy="2096770"/>
            <a:chOff x="2015489" y="1947417"/>
            <a:chExt cx="2225040" cy="2096770"/>
          </a:xfrm>
        </p:grpSpPr>
        <p:sp>
          <p:nvSpPr>
            <p:cNvPr id="30" name="object 30"/>
            <p:cNvSpPr/>
            <p:nvPr/>
          </p:nvSpPr>
          <p:spPr>
            <a:xfrm>
              <a:off x="2052827" y="1953767"/>
              <a:ext cx="2181225" cy="2051685"/>
            </a:xfrm>
            <a:custGeom>
              <a:avLst/>
              <a:gdLst/>
              <a:ahLst/>
              <a:cxnLst/>
              <a:rect l="l" t="t" r="r" b="b"/>
              <a:pathLst>
                <a:path w="2181225" h="2051685">
                  <a:moveTo>
                    <a:pt x="0" y="0"/>
                  </a:moveTo>
                  <a:lnTo>
                    <a:pt x="2180844" y="0"/>
                  </a:lnTo>
                </a:path>
                <a:path w="2181225" h="2051685">
                  <a:moveTo>
                    <a:pt x="2180844" y="0"/>
                  </a:moveTo>
                  <a:lnTo>
                    <a:pt x="2180844" y="205130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5490" y="1954529"/>
              <a:ext cx="2219325" cy="2089785"/>
            </a:xfrm>
            <a:custGeom>
              <a:avLst/>
              <a:gdLst/>
              <a:ahLst/>
              <a:cxnLst/>
              <a:rect l="l" t="t" r="r" b="b"/>
              <a:pathLst>
                <a:path w="2219325" h="2089785">
                  <a:moveTo>
                    <a:pt x="2218944" y="2051304"/>
                  </a:moveTo>
                  <a:lnTo>
                    <a:pt x="2180844" y="2032254"/>
                  </a:lnTo>
                  <a:lnTo>
                    <a:pt x="2142744" y="2013204"/>
                  </a:lnTo>
                  <a:lnTo>
                    <a:pt x="2142744" y="2032254"/>
                  </a:lnTo>
                  <a:lnTo>
                    <a:pt x="57150" y="2032254"/>
                  </a:lnTo>
                  <a:lnTo>
                    <a:pt x="57150" y="76212"/>
                  </a:lnTo>
                  <a:lnTo>
                    <a:pt x="76200" y="76212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12"/>
                  </a:lnTo>
                  <a:lnTo>
                    <a:pt x="19050" y="76212"/>
                  </a:lnTo>
                  <a:lnTo>
                    <a:pt x="19050" y="2051304"/>
                  </a:lnTo>
                  <a:lnTo>
                    <a:pt x="38100" y="2051304"/>
                  </a:lnTo>
                  <a:lnTo>
                    <a:pt x="38100" y="2070354"/>
                  </a:lnTo>
                  <a:lnTo>
                    <a:pt x="2142744" y="2070354"/>
                  </a:lnTo>
                  <a:lnTo>
                    <a:pt x="2142744" y="2089404"/>
                  </a:lnTo>
                  <a:lnTo>
                    <a:pt x="2180844" y="2070354"/>
                  </a:lnTo>
                  <a:lnTo>
                    <a:pt x="2218944" y="20513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619757" y="2708410"/>
            <a:ext cx="139700" cy="8655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latin typeface="Calibri"/>
                <a:cs typeface="Calibri"/>
              </a:rPr>
              <a:t>True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41119" y="3897884"/>
            <a:ext cx="86995" cy="2305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latin typeface="Calibri"/>
                <a:cs typeface="Calibri"/>
              </a:rPr>
              <a:t>0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650" spc="15" dirty="0">
                <a:latin typeface="Calibri"/>
                <a:cs typeface="Calibri"/>
              </a:rPr>
              <a:t>%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21916" y="2017014"/>
            <a:ext cx="24066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100%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47264" y="4169155"/>
            <a:ext cx="8883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/>
                <a:cs typeface="Calibri"/>
              </a:rPr>
              <a:t>False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56892" y="4099966"/>
            <a:ext cx="946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22852" y="4066743"/>
            <a:ext cx="24066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100%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031874" y="1929648"/>
            <a:ext cx="2221865" cy="2095500"/>
            <a:chOff x="2031874" y="1929648"/>
            <a:chExt cx="2221865" cy="2095500"/>
          </a:xfrm>
        </p:grpSpPr>
        <p:sp>
          <p:nvSpPr>
            <p:cNvPr id="39" name="object 39"/>
            <p:cNvSpPr/>
            <p:nvPr/>
          </p:nvSpPr>
          <p:spPr>
            <a:xfrm>
              <a:off x="3107435" y="1953767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30" h="35560">
                  <a:moveTo>
                    <a:pt x="28447" y="0"/>
                  </a:moveTo>
                  <a:lnTo>
                    <a:pt x="8127" y="0"/>
                  </a:lnTo>
                  <a:lnTo>
                    <a:pt x="0" y="7874"/>
                  </a:lnTo>
                  <a:lnTo>
                    <a:pt x="0" y="17525"/>
                  </a:lnTo>
                  <a:lnTo>
                    <a:pt x="0" y="27177"/>
                  </a:lnTo>
                  <a:lnTo>
                    <a:pt x="8127" y="35051"/>
                  </a:lnTo>
                  <a:lnTo>
                    <a:pt x="28447" y="35051"/>
                  </a:lnTo>
                  <a:lnTo>
                    <a:pt x="36575" y="27177"/>
                  </a:lnTo>
                  <a:lnTo>
                    <a:pt x="36575" y="7874"/>
                  </a:lnTo>
                  <a:lnTo>
                    <a:pt x="2844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07435" y="1953767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30" h="35560">
                  <a:moveTo>
                    <a:pt x="0" y="17525"/>
                  </a:moveTo>
                  <a:lnTo>
                    <a:pt x="0" y="7874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7" y="0"/>
                  </a:lnTo>
                  <a:lnTo>
                    <a:pt x="36575" y="7874"/>
                  </a:lnTo>
                  <a:lnTo>
                    <a:pt x="36575" y="17525"/>
                  </a:lnTo>
                  <a:lnTo>
                    <a:pt x="36575" y="27177"/>
                  </a:lnTo>
                  <a:lnTo>
                    <a:pt x="28447" y="35051"/>
                  </a:lnTo>
                  <a:lnTo>
                    <a:pt x="18287" y="35051"/>
                  </a:lnTo>
                  <a:lnTo>
                    <a:pt x="8127" y="35051"/>
                  </a:lnTo>
                  <a:lnTo>
                    <a:pt x="0" y="27177"/>
                  </a:lnTo>
                  <a:lnTo>
                    <a:pt x="0" y="1752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06623" y="2022347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30" h="35560">
                  <a:moveTo>
                    <a:pt x="28448" y="0"/>
                  </a:moveTo>
                  <a:lnTo>
                    <a:pt x="8127" y="0"/>
                  </a:lnTo>
                  <a:lnTo>
                    <a:pt x="0" y="7874"/>
                  </a:lnTo>
                  <a:lnTo>
                    <a:pt x="0" y="17525"/>
                  </a:lnTo>
                  <a:lnTo>
                    <a:pt x="0" y="27177"/>
                  </a:lnTo>
                  <a:lnTo>
                    <a:pt x="8127" y="35051"/>
                  </a:lnTo>
                  <a:lnTo>
                    <a:pt x="28448" y="35051"/>
                  </a:lnTo>
                  <a:lnTo>
                    <a:pt x="36575" y="27177"/>
                  </a:lnTo>
                  <a:lnTo>
                    <a:pt x="36575" y="7874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06623" y="2022347"/>
              <a:ext cx="36830" cy="35560"/>
            </a:xfrm>
            <a:custGeom>
              <a:avLst/>
              <a:gdLst/>
              <a:ahLst/>
              <a:cxnLst/>
              <a:rect l="l" t="t" r="r" b="b"/>
              <a:pathLst>
                <a:path w="36830" h="35560">
                  <a:moveTo>
                    <a:pt x="0" y="17525"/>
                  </a:moveTo>
                  <a:lnTo>
                    <a:pt x="0" y="7874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874"/>
                  </a:lnTo>
                  <a:lnTo>
                    <a:pt x="36575" y="17525"/>
                  </a:lnTo>
                  <a:lnTo>
                    <a:pt x="36575" y="27177"/>
                  </a:lnTo>
                  <a:lnTo>
                    <a:pt x="28448" y="35051"/>
                  </a:lnTo>
                  <a:lnTo>
                    <a:pt x="18287" y="35051"/>
                  </a:lnTo>
                  <a:lnTo>
                    <a:pt x="8127" y="35051"/>
                  </a:lnTo>
                  <a:lnTo>
                    <a:pt x="0" y="27177"/>
                  </a:lnTo>
                  <a:lnTo>
                    <a:pt x="0" y="1752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15539" y="2125979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5">
                  <a:moveTo>
                    <a:pt x="28448" y="0"/>
                  </a:moveTo>
                  <a:lnTo>
                    <a:pt x="8128" y="0"/>
                  </a:lnTo>
                  <a:lnTo>
                    <a:pt x="0" y="7493"/>
                  </a:lnTo>
                  <a:lnTo>
                    <a:pt x="0" y="16763"/>
                  </a:lnTo>
                  <a:lnTo>
                    <a:pt x="0" y="26034"/>
                  </a:lnTo>
                  <a:lnTo>
                    <a:pt x="8128" y="33527"/>
                  </a:lnTo>
                  <a:lnTo>
                    <a:pt x="28448" y="33527"/>
                  </a:lnTo>
                  <a:lnTo>
                    <a:pt x="36576" y="26034"/>
                  </a:lnTo>
                  <a:lnTo>
                    <a:pt x="36576" y="749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15539" y="2125979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5">
                  <a:moveTo>
                    <a:pt x="0" y="16763"/>
                  </a:moveTo>
                  <a:lnTo>
                    <a:pt x="0" y="7493"/>
                  </a:lnTo>
                  <a:lnTo>
                    <a:pt x="8128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6" y="7493"/>
                  </a:lnTo>
                  <a:lnTo>
                    <a:pt x="36576" y="16763"/>
                  </a:lnTo>
                  <a:lnTo>
                    <a:pt x="36576" y="26034"/>
                  </a:lnTo>
                  <a:lnTo>
                    <a:pt x="28448" y="33527"/>
                  </a:lnTo>
                  <a:lnTo>
                    <a:pt x="18287" y="33527"/>
                  </a:lnTo>
                  <a:lnTo>
                    <a:pt x="8128" y="33527"/>
                  </a:lnTo>
                  <a:lnTo>
                    <a:pt x="0" y="26034"/>
                  </a:lnTo>
                  <a:lnTo>
                    <a:pt x="0" y="167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34183" y="2365247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5">
                  <a:moveTo>
                    <a:pt x="28448" y="0"/>
                  </a:moveTo>
                  <a:lnTo>
                    <a:pt x="8128" y="0"/>
                  </a:lnTo>
                  <a:lnTo>
                    <a:pt x="0" y="7493"/>
                  </a:lnTo>
                  <a:lnTo>
                    <a:pt x="0" y="16763"/>
                  </a:lnTo>
                  <a:lnTo>
                    <a:pt x="0" y="26034"/>
                  </a:lnTo>
                  <a:lnTo>
                    <a:pt x="8128" y="33527"/>
                  </a:lnTo>
                  <a:lnTo>
                    <a:pt x="28448" y="33527"/>
                  </a:lnTo>
                  <a:lnTo>
                    <a:pt x="36576" y="26034"/>
                  </a:lnTo>
                  <a:lnTo>
                    <a:pt x="36576" y="749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34183" y="2365247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5">
                  <a:moveTo>
                    <a:pt x="0" y="16763"/>
                  </a:moveTo>
                  <a:lnTo>
                    <a:pt x="0" y="7493"/>
                  </a:lnTo>
                  <a:lnTo>
                    <a:pt x="8128" y="0"/>
                  </a:lnTo>
                  <a:lnTo>
                    <a:pt x="18288" y="0"/>
                  </a:lnTo>
                  <a:lnTo>
                    <a:pt x="28448" y="0"/>
                  </a:lnTo>
                  <a:lnTo>
                    <a:pt x="36576" y="7493"/>
                  </a:lnTo>
                  <a:lnTo>
                    <a:pt x="36576" y="16763"/>
                  </a:lnTo>
                  <a:lnTo>
                    <a:pt x="36576" y="26034"/>
                  </a:lnTo>
                  <a:lnTo>
                    <a:pt x="28448" y="33527"/>
                  </a:lnTo>
                  <a:lnTo>
                    <a:pt x="18288" y="33527"/>
                  </a:lnTo>
                  <a:lnTo>
                    <a:pt x="8128" y="33527"/>
                  </a:lnTo>
                  <a:lnTo>
                    <a:pt x="0" y="26034"/>
                  </a:lnTo>
                  <a:lnTo>
                    <a:pt x="0" y="167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24455" y="2877311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5">
                  <a:moveTo>
                    <a:pt x="28448" y="0"/>
                  </a:moveTo>
                  <a:lnTo>
                    <a:pt x="8127" y="0"/>
                  </a:lnTo>
                  <a:lnTo>
                    <a:pt x="0" y="7493"/>
                  </a:lnTo>
                  <a:lnTo>
                    <a:pt x="0" y="16763"/>
                  </a:lnTo>
                  <a:lnTo>
                    <a:pt x="0" y="26035"/>
                  </a:lnTo>
                  <a:lnTo>
                    <a:pt x="8127" y="33527"/>
                  </a:lnTo>
                  <a:lnTo>
                    <a:pt x="28448" y="33527"/>
                  </a:lnTo>
                  <a:lnTo>
                    <a:pt x="36575" y="26035"/>
                  </a:lnTo>
                  <a:lnTo>
                    <a:pt x="36575" y="7493"/>
                  </a:lnTo>
                  <a:lnTo>
                    <a:pt x="284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24455" y="2877311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5">
                  <a:moveTo>
                    <a:pt x="0" y="16763"/>
                  </a:moveTo>
                  <a:lnTo>
                    <a:pt x="0" y="7493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8" y="0"/>
                  </a:lnTo>
                  <a:lnTo>
                    <a:pt x="36575" y="7493"/>
                  </a:lnTo>
                  <a:lnTo>
                    <a:pt x="36575" y="16763"/>
                  </a:lnTo>
                  <a:lnTo>
                    <a:pt x="36575" y="26035"/>
                  </a:lnTo>
                  <a:lnTo>
                    <a:pt x="28448" y="33527"/>
                  </a:lnTo>
                  <a:lnTo>
                    <a:pt x="18287" y="33527"/>
                  </a:lnTo>
                  <a:lnTo>
                    <a:pt x="8127" y="33527"/>
                  </a:lnTo>
                  <a:lnTo>
                    <a:pt x="0" y="26035"/>
                  </a:lnTo>
                  <a:lnTo>
                    <a:pt x="0" y="167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87879" y="3287267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4">
                  <a:moveTo>
                    <a:pt x="28447" y="0"/>
                  </a:moveTo>
                  <a:lnTo>
                    <a:pt x="8127" y="0"/>
                  </a:lnTo>
                  <a:lnTo>
                    <a:pt x="0" y="7492"/>
                  </a:lnTo>
                  <a:lnTo>
                    <a:pt x="0" y="16763"/>
                  </a:lnTo>
                  <a:lnTo>
                    <a:pt x="0" y="26034"/>
                  </a:lnTo>
                  <a:lnTo>
                    <a:pt x="8127" y="33527"/>
                  </a:lnTo>
                  <a:lnTo>
                    <a:pt x="28447" y="33527"/>
                  </a:lnTo>
                  <a:lnTo>
                    <a:pt x="36575" y="26034"/>
                  </a:lnTo>
                  <a:lnTo>
                    <a:pt x="36575" y="7492"/>
                  </a:lnTo>
                  <a:lnTo>
                    <a:pt x="2844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87879" y="3287267"/>
              <a:ext cx="36830" cy="33655"/>
            </a:xfrm>
            <a:custGeom>
              <a:avLst/>
              <a:gdLst/>
              <a:ahLst/>
              <a:cxnLst/>
              <a:rect l="l" t="t" r="r" b="b"/>
              <a:pathLst>
                <a:path w="36830" h="33654">
                  <a:moveTo>
                    <a:pt x="0" y="16763"/>
                  </a:moveTo>
                  <a:lnTo>
                    <a:pt x="0" y="7492"/>
                  </a:lnTo>
                  <a:lnTo>
                    <a:pt x="8127" y="0"/>
                  </a:lnTo>
                  <a:lnTo>
                    <a:pt x="18287" y="0"/>
                  </a:lnTo>
                  <a:lnTo>
                    <a:pt x="28447" y="0"/>
                  </a:lnTo>
                  <a:lnTo>
                    <a:pt x="36575" y="7492"/>
                  </a:lnTo>
                  <a:lnTo>
                    <a:pt x="36575" y="16763"/>
                  </a:lnTo>
                  <a:lnTo>
                    <a:pt x="36575" y="26034"/>
                  </a:lnTo>
                  <a:lnTo>
                    <a:pt x="28447" y="33527"/>
                  </a:lnTo>
                  <a:lnTo>
                    <a:pt x="18287" y="33527"/>
                  </a:lnTo>
                  <a:lnTo>
                    <a:pt x="8127" y="33527"/>
                  </a:lnTo>
                  <a:lnTo>
                    <a:pt x="0" y="26034"/>
                  </a:lnTo>
                  <a:lnTo>
                    <a:pt x="0" y="1676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52827" y="362864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178" y="0"/>
                  </a:moveTo>
                  <a:lnTo>
                    <a:pt x="7874" y="0"/>
                  </a:lnTo>
                  <a:lnTo>
                    <a:pt x="0" y="7873"/>
                  </a:lnTo>
                  <a:lnTo>
                    <a:pt x="0" y="17525"/>
                  </a:lnTo>
                  <a:lnTo>
                    <a:pt x="0" y="27177"/>
                  </a:lnTo>
                  <a:lnTo>
                    <a:pt x="7874" y="35051"/>
                  </a:lnTo>
                  <a:lnTo>
                    <a:pt x="27178" y="35051"/>
                  </a:lnTo>
                  <a:lnTo>
                    <a:pt x="35052" y="27177"/>
                  </a:lnTo>
                  <a:lnTo>
                    <a:pt x="35052" y="7873"/>
                  </a:lnTo>
                  <a:lnTo>
                    <a:pt x="2717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052827" y="362864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0" y="17525"/>
                  </a:moveTo>
                  <a:lnTo>
                    <a:pt x="0" y="7873"/>
                  </a:lnTo>
                  <a:lnTo>
                    <a:pt x="7874" y="0"/>
                  </a:lnTo>
                  <a:lnTo>
                    <a:pt x="17526" y="0"/>
                  </a:lnTo>
                  <a:lnTo>
                    <a:pt x="27178" y="0"/>
                  </a:lnTo>
                  <a:lnTo>
                    <a:pt x="35052" y="7873"/>
                  </a:lnTo>
                  <a:lnTo>
                    <a:pt x="35052" y="17525"/>
                  </a:lnTo>
                  <a:lnTo>
                    <a:pt x="35052" y="27177"/>
                  </a:lnTo>
                  <a:lnTo>
                    <a:pt x="27178" y="35051"/>
                  </a:lnTo>
                  <a:lnTo>
                    <a:pt x="17526" y="35051"/>
                  </a:lnTo>
                  <a:lnTo>
                    <a:pt x="7874" y="35051"/>
                  </a:lnTo>
                  <a:lnTo>
                    <a:pt x="0" y="27177"/>
                  </a:lnTo>
                  <a:lnTo>
                    <a:pt x="0" y="1752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052827" y="3799331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7178" y="0"/>
                  </a:moveTo>
                  <a:lnTo>
                    <a:pt x="7874" y="0"/>
                  </a:lnTo>
                  <a:lnTo>
                    <a:pt x="0" y="7874"/>
                  </a:lnTo>
                  <a:lnTo>
                    <a:pt x="0" y="17526"/>
                  </a:lnTo>
                  <a:lnTo>
                    <a:pt x="0" y="27178"/>
                  </a:lnTo>
                  <a:lnTo>
                    <a:pt x="7874" y="35052"/>
                  </a:lnTo>
                  <a:lnTo>
                    <a:pt x="27178" y="35052"/>
                  </a:lnTo>
                  <a:lnTo>
                    <a:pt x="35052" y="27178"/>
                  </a:lnTo>
                  <a:lnTo>
                    <a:pt x="35052" y="7874"/>
                  </a:lnTo>
                  <a:lnTo>
                    <a:pt x="2717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052827" y="3799331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0" y="17526"/>
                  </a:moveTo>
                  <a:lnTo>
                    <a:pt x="0" y="7874"/>
                  </a:lnTo>
                  <a:lnTo>
                    <a:pt x="7874" y="0"/>
                  </a:lnTo>
                  <a:lnTo>
                    <a:pt x="17526" y="0"/>
                  </a:lnTo>
                  <a:lnTo>
                    <a:pt x="27178" y="0"/>
                  </a:lnTo>
                  <a:lnTo>
                    <a:pt x="35052" y="7874"/>
                  </a:lnTo>
                  <a:lnTo>
                    <a:pt x="35052" y="17526"/>
                  </a:lnTo>
                  <a:lnTo>
                    <a:pt x="35052" y="27178"/>
                  </a:lnTo>
                  <a:lnTo>
                    <a:pt x="27178" y="35052"/>
                  </a:lnTo>
                  <a:lnTo>
                    <a:pt x="17526" y="35052"/>
                  </a:lnTo>
                  <a:lnTo>
                    <a:pt x="7874" y="35052"/>
                  </a:lnTo>
                  <a:lnTo>
                    <a:pt x="0" y="27178"/>
                  </a:lnTo>
                  <a:lnTo>
                    <a:pt x="0" y="1752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050924" y="1948698"/>
              <a:ext cx="2183765" cy="2057400"/>
            </a:xfrm>
            <a:custGeom>
              <a:avLst/>
              <a:gdLst/>
              <a:ahLst/>
              <a:cxnLst/>
              <a:rect l="l" t="t" r="r" b="b"/>
              <a:pathLst>
                <a:path w="2183765" h="2057400">
                  <a:moveTo>
                    <a:pt x="2183509" y="6593"/>
                  </a:moveTo>
                  <a:lnTo>
                    <a:pt x="2124055" y="5815"/>
                  </a:lnTo>
                  <a:lnTo>
                    <a:pt x="2064702" y="5047"/>
                  </a:lnTo>
                  <a:lnTo>
                    <a:pt x="2005552" y="4299"/>
                  </a:lnTo>
                  <a:lnTo>
                    <a:pt x="1946708" y="3579"/>
                  </a:lnTo>
                  <a:lnTo>
                    <a:pt x="1888273" y="2898"/>
                  </a:lnTo>
                  <a:lnTo>
                    <a:pt x="1830349" y="2265"/>
                  </a:lnTo>
                  <a:lnTo>
                    <a:pt x="1773039" y="1690"/>
                  </a:lnTo>
                  <a:lnTo>
                    <a:pt x="1716445" y="1183"/>
                  </a:lnTo>
                  <a:lnTo>
                    <a:pt x="1660670" y="753"/>
                  </a:lnTo>
                  <a:lnTo>
                    <a:pt x="1605816" y="410"/>
                  </a:lnTo>
                  <a:lnTo>
                    <a:pt x="1551986" y="164"/>
                  </a:lnTo>
                  <a:lnTo>
                    <a:pt x="1499283" y="24"/>
                  </a:lnTo>
                  <a:lnTo>
                    <a:pt x="1447808" y="0"/>
                  </a:lnTo>
                  <a:lnTo>
                    <a:pt x="1397665" y="101"/>
                  </a:lnTo>
                  <a:lnTo>
                    <a:pt x="1348957" y="338"/>
                  </a:lnTo>
                  <a:lnTo>
                    <a:pt x="1301785" y="719"/>
                  </a:lnTo>
                  <a:lnTo>
                    <a:pt x="1256252" y="1255"/>
                  </a:lnTo>
                  <a:lnTo>
                    <a:pt x="1212461" y="1956"/>
                  </a:lnTo>
                  <a:lnTo>
                    <a:pt x="1170514" y="2830"/>
                  </a:lnTo>
                  <a:lnTo>
                    <a:pt x="1130514" y="3888"/>
                  </a:lnTo>
                  <a:lnTo>
                    <a:pt x="1056765" y="6593"/>
                  </a:lnTo>
                  <a:lnTo>
                    <a:pt x="971234" y="11373"/>
                  </a:lnTo>
                  <a:lnTo>
                    <a:pt x="903105" y="17233"/>
                  </a:lnTo>
                  <a:lnTo>
                    <a:pt x="848755" y="24171"/>
                  </a:lnTo>
                  <a:lnTo>
                    <a:pt x="804559" y="32184"/>
                  </a:lnTo>
                  <a:lnTo>
                    <a:pt x="766894" y="41268"/>
                  </a:lnTo>
                  <a:lnTo>
                    <a:pt x="696660" y="62638"/>
                  </a:lnTo>
                  <a:lnTo>
                    <a:pt x="656842" y="74919"/>
                  </a:lnTo>
                  <a:lnTo>
                    <a:pt x="600825" y="92556"/>
                  </a:lnTo>
                  <a:lnTo>
                    <a:pt x="547834" y="111617"/>
                  </a:lnTo>
                  <a:lnTo>
                    <a:pt x="497870" y="132577"/>
                  </a:lnTo>
                  <a:lnTo>
                    <a:pt x="450933" y="155907"/>
                  </a:lnTo>
                  <a:lnTo>
                    <a:pt x="407023" y="182081"/>
                  </a:lnTo>
                  <a:lnTo>
                    <a:pt x="366139" y="211571"/>
                  </a:lnTo>
                  <a:lnTo>
                    <a:pt x="328697" y="242374"/>
                  </a:lnTo>
                  <a:lnTo>
                    <a:pt x="294780" y="273632"/>
                  </a:lnTo>
                  <a:lnTo>
                    <a:pt x="263889" y="307726"/>
                  </a:lnTo>
                  <a:lnTo>
                    <a:pt x="235527" y="347038"/>
                  </a:lnTo>
                  <a:lnTo>
                    <a:pt x="209197" y="393948"/>
                  </a:lnTo>
                  <a:lnTo>
                    <a:pt x="184402" y="450839"/>
                  </a:lnTo>
                  <a:lnTo>
                    <a:pt x="170214" y="491502"/>
                  </a:lnTo>
                  <a:lnTo>
                    <a:pt x="156756" y="537529"/>
                  </a:lnTo>
                  <a:lnTo>
                    <a:pt x="144028" y="587793"/>
                  </a:lnTo>
                  <a:lnTo>
                    <a:pt x="132030" y="641166"/>
                  </a:lnTo>
                  <a:lnTo>
                    <a:pt x="120760" y="696521"/>
                  </a:lnTo>
                  <a:lnTo>
                    <a:pt x="110217" y="752728"/>
                  </a:lnTo>
                  <a:lnTo>
                    <a:pt x="100402" y="808662"/>
                  </a:lnTo>
                  <a:lnTo>
                    <a:pt x="91312" y="863193"/>
                  </a:lnTo>
                  <a:lnTo>
                    <a:pt x="82949" y="915194"/>
                  </a:lnTo>
                  <a:lnTo>
                    <a:pt x="75309" y="963538"/>
                  </a:lnTo>
                  <a:lnTo>
                    <a:pt x="67279" y="1020174"/>
                  </a:lnTo>
                  <a:lnTo>
                    <a:pt x="61097" y="1074869"/>
                  </a:lnTo>
                  <a:lnTo>
                    <a:pt x="56338" y="1127827"/>
                  </a:lnTo>
                  <a:lnTo>
                    <a:pt x="52576" y="1179248"/>
                  </a:lnTo>
                  <a:lnTo>
                    <a:pt x="49386" y="1229335"/>
                  </a:lnTo>
                  <a:lnTo>
                    <a:pt x="46341" y="1278292"/>
                  </a:lnTo>
                  <a:lnTo>
                    <a:pt x="43017" y="1326320"/>
                  </a:lnTo>
                  <a:lnTo>
                    <a:pt x="38987" y="1373621"/>
                  </a:lnTo>
                  <a:lnTo>
                    <a:pt x="33490" y="1426042"/>
                  </a:lnTo>
                  <a:lnTo>
                    <a:pt x="27554" y="1476265"/>
                  </a:lnTo>
                  <a:lnTo>
                    <a:pt x="21506" y="1524887"/>
                  </a:lnTo>
                  <a:lnTo>
                    <a:pt x="15668" y="1572510"/>
                  </a:lnTo>
                  <a:lnTo>
                    <a:pt x="10366" y="1619733"/>
                  </a:lnTo>
                  <a:lnTo>
                    <a:pt x="5924" y="1667156"/>
                  </a:lnTo>
                  <a:lnTo>
                    <a:pt x="2665" y="1715378"/>
                  </a:lnTo>
                  <a:lnTo>
                    <a:pt x="746" y="1767190"/>
                  </a:lnTo>
                  <a:lnTo>
                    <a:pt x="0" y="1822987"/>
                  </a:lnTo>
                  <a:lnTo>
                    <a:pt x="106" y="1879780"/>
                  </a:lnTo>
                  <a:lnTo>
                    <a:pt x="746" y="1934581"/>
                  </a:lnTo>
                  <a:lnTo>
                    <a:pt x="1599" y="1984400"/>
                  </a:lnTo>
                  <a:lnTo>
                    <a:pt x="2345" y="2026247"/>
                  </a:lnTo>
                  <a:lnTo>
                    <a:pt x="2665" y="2057135"/>
                  </a:lnTo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479294" y="1335785"/>
            <a:ext cx="1346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good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test: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23052" y="1278077"/>
            <a:ext cx="1322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poor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test: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xfrm>
            <a:off x="2833877" y="219913"/>
            <a:ext cx="358965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ROC</a:t>
            </a:r>
            <a:r>
              <a:rPr sz="3000" spc="-55" dirty="0"/>
              <a:t> </a:t>
            </a:r>
            <a:r>
              <a:rPr sz="3000" spc="-5" dirty="0"/>
              <a:t>curve</a:t>
            </a:r>
            <a:r>
              <a:rPr sz="3000" spc="-25" dirty="0"/>
              <a:t> </a:t>
            </a:r>
            <a:r>
              <a:rPr sz="3000" spc="-10" dirty="0"/>
              <a:t>comparison</a:t>
            </a:r>
            <a:endParaRPr sz="3000"/>
          </a:p>
        </p:txBody>
      </p:sp>
      <p:sp>
        <p:nvSpPr>
          <p:cNvPr id="59" name="object 59"/>
          <p:cNvSpPr/>
          <p:nvPr/>
        </p:nvSpPr>
        <p:spPr>
          <a:xfrm>
            <a:off x="2526792" y="1705355"/>
            <a:ext cx="1144905" cy="40005"/>
          </a:xfrm>
          <a:custGeom>
            <a:avLst/>
            <a:gdLst/>
            <a:ahLst/>
            <a:cxnLst/>
            <a:rect l="l" t="t" r="r" b="b"/>
            <a:pathLst>
              <a:path w="1144904" h="40005">
                <a:moveTo>
                  <a:pt x="15747" y="4064"/>
                </a:moveTo>
                <a:lnTo>
                  <a:pt x="5460" y="4064"/>
                </a:lnTo>
                <a:lnTo>
                  <a:pt x="3556" y="4318"/>
                </a:lnTo>
                <a:lnTo>
                  <a:pt x="1524" y="4699"/>
                </a:lnTo>
                <a:lnTo>
                  <a:pt x="0" y="6477"/>
                </a:lnTo>
                <a:lnTo>
                  <a:pt x="0" y="10668"/>
                </a:lnTo>
                <a:lnTo>
                  <a:pt x="1524" y="12446"/>
                </a:lnTo>
                <a:lnTo>
                  <a:pt x="3682" y="12827"/>
                </a:lnTo>
                <a:lnTo>
                  <a:pt x="5460" y="13081"/>
                </a:lnTo>
                <a:lnTo>
                  <a:pt x="11175" y="13081"/>
                </a:lnTo>
                <a:lnTo>
                  <a:pt x="20193" y="13335"/>
                </a:lnTo>
                <a:lnTo>
                  <a:pt x="20065" y="13335"/>
                </a:lnTo>
                <a:lnTo>
                  <a:pt x="26162" y="13589"/>
                </a:lnTo>
                <a:lnTo>
                  <a:pt x="41020" y="14605"/>
                </a:lnTo>
                <a:lnTo>
                  <a:pt x="47667" y="15240"/>
                </a:lnTo>
                <a:lnTo>
                  <a:pt x="57912" y="16256"/>
                </a:lnTo>
                <a:lnTo>
                  <a:pt x="57784" y="16256"/>
                </a:lnTo>
                <a:lnTo>
                  <a:pt x="67818" y="17526"/>
                </a:lnTo>
                <a:lnTo>
                  <a:pt x="67690" y="17526"/>
                </a:lnTo>
                <a:lnTo>
                  <a:pt x="77850" y="18796"/>
                </a:lnTo>
                <a:lnTo>
                  <a:pt x="118871" y="25400"/>
                </a:lnTo>
                <a:lnTo>
                  <a:pt x="134365" y="27686"/>
                </a:lnTo>
                <a:lnTo>
                  <a:pt x="134493" y="27686"/>
                </a:lnTo>
                <a:lnTo>
                  <a:pt x="151383" y="29972"/>
                </a:lnTo>
                <a:lnTo>
                  <a:pt x="170180" y="32131"/>
                </a:lnTo>
                <a:lnTo>
                  <a:pt x="191134" y="34163"/>
                </a:lnTo>
                <a:lnTo>
                  <a:pt x="236219" y="37338"/>
                </a:lnTo>
                <a:lnTo>
                  <a:pt x="288797" y="39243"/>
                </a:lnTo>
                <a:lnTo>
                  <a:pt x="318388" y="39624"/>
                </a:lnTo>
                <a:lnTo>
                  <a:pt x="349884" y="39497"/>
                </a:lnTo>
                <a:lnTo>
                  <a:pt x="383031" y="38989"/>
                </a:lnTo>
                <a:lnTo>
                  <a:pt x="453389" y="36957"/>
                </a:lnTo>
                <a:lnTo>
                  <a:pt x="567816" y="33147"/>
                </a:lnTo>
                <a:lnTo>
                  <a:pt x="685926" y="31369"/>
                </a:lnTo>
                <a:lnTo>
                  <a:pt x="916558" y="28956"/>
                </a:lnTo>
                <a:lnTo>
                  <a:pt x="318515" y="28956"/>
                </a:lnTo>
                <a:lnTo>
                  <a:pt x="289051" y="28829"/>
                </a:lnTo>
                <a:lnTo>
                  <a:pt x="261746" y="28194"/>
                </a:lnTo>
                <a:lnTo>
                  <a:pt x="261874" y="28194"/>
                </a:lnTo>
                <a:lnTo>
                  <a:pt x="236727" y="27178"/>
                </a:lnTo>
                <a:lnTo>
                  <a:pt x="236855" y="27178"/>
                </a:lnTo>
                <a:lnTo>
                  <a:pt x="213487" y="25908"/>
                </a:lnTo>
                <a:lnTo>
                  <a:pt x="192024" y="24257"/>
                </a:lnTo>
                <a:lnTo>
                  <a:pt x="171195" y="22352"/>
                </a:lnTo>
                <a:lnTo>
                  <a:pt x="153632" y="20320"/>
                </a:lnTo>
                <a:lnTo>
                  <a:pt x="152653" y="20320"/>
                </a:lnTo>
                <a:lnTo>
                  <a:pt x="120268" y="15875"/>
                </a:lnTo>
                <a:lnTo>
                  <a:pt x="105790" y="13589"/>
                </a:lnTo>
                <a:lnTo>
                  <a:pt x="91566" y="11176"/>
                </a:lnTo>
                <a:lnTo>
                  <a:pt x="79247" y="9398"/>
                </a:lnTo>
                <a:lnTo>
                  <a:pt x="68960" y="8001"/>
                </a:lnTo>
                <a:lnTo>
                  <a:pt x="58927" y="6858"/>
                </a:lnTo>
                <a:lnTo>
                  <a:pt x="49910" y="5842"/>
                </a:lnTo>
                <a:lnTo>
                  <a:pt x="41782" y="5207"/>
                </a:lnTo>
                <a:lnTo>
                  <a:pt x="33908" y="4699"/>
                </a:lnTo>
                <a:lnTo>
                  <a:pt x="26669" y="4318"/>
                </a:lnTo>
                <a:lnTo>
                  <a:pt x="15747" y="4064"/>
                </a:lnTo>
                <a:close/>
              </a:path>
              <a:path w="1144904" h="40005">
                <a:moveTo>
                  <a:pt x="1136608" y="17526"/>
                </a:moveTo>
                <a:lnTo>
                  <a:pt x="1117092" y="17526"/>
                </a:lnTo>
                <a:lnTo>
                  <a:pt x="1105661" y="28956"/>
                </a:lnTo>
                <a:lnTo>
                  <a:pt x="1104392" y="30353"/>
                </a:lnTo>
                <a:lnTo>
                  <a:pt x="1104265" y="32385"/>
                </a:lnTo>
                <a:lnTo>
                  <a:pt x="1106550" y="35433"/>
                </a:lnTo>
                <a:lnTo>
                  <a:pt x="1108709" y="35814"/>
                </a:lnTo>
                <a:lnTo>
                  <a:pt x="1110360" y="34925"/>
                </a:lnTo>
                <a:lnTo>
                  <a:pt x="1124204" y="26670"/>
                </a:lnTo>
                <a:lnTo>
                  <a:pt x="1124458" y="26416"/>
                </a:lnTo>
                <a:lnTo>
                  <a:pt x="1132967" y="20701"/>
                </a:lnTo>
                <a:lnTo>
                  <a:pt x="1133474" y="20193"/>
                </a:lnTo>
                <a:lnTo>
                  <a:pt x="1136608" y="17526"/>
                </a:lnTo>
                <a:close/>
              </a:path>
              <a:path w="1144904" h="40005">
                <a:moveTo>
                  <a:pt x="1087500" y="6985"/>
                </a:moveTo>
                <a:lnTo>
                  <a:pt x="1067434" y="9017"/>
                </a:lnTo>
                <a:lnTo>
                  <a:pt x="1043050" y="11049"/>
                </a:lnTo>
                <a:lnTo>
                  <a:pt x="1043178" y="11049"/>
                </a:lnTo>
                <a:lnTo>
                  <a:pt x="1015872" y="12827"/>
                </a:lnTo>
                <a:lnTo>
                  <a:pt x="985266" y="14351"/>
                </a:lnTo>
                <a:lnTo>
                  <a:pt x="916305" y="16383"/>
                </a:lnTo>
                <a:lnTo>
                  <a:pt x="606551" y="20447"/>
                </a:lnTo>
                <a:lnTo>
                  <a:pt x="567563" y="21463"/>
                </a:lnTo>
                <a:lnTo>
                  <a:pt x="452881" y="25654"/>
                </a:lnTo>
                <a:lnTo>
                  <a:pt x="417321" y="27051"/>
                </a:lnTo>
                <a:lnTo>
                  <a:pt x="349757" y="28829"/>
                </a:lnTo>
                <a:lnTo>
                  <a:pt x="318515" y="28956"/>
                </a:lnTo>
                <a:lnTo>
                  <a:pt x="916558" y="28956"/>
                </a:lnTo>
                <a:lnTo>
                  <a:pt x="985900" y="27178"/>
                </a:lnTo>
                <a:lnTo>
                  <a:pt x="1043940" y="23876"/>
                </a:lnTo>
                <a:lnTo>
                  <a:pt x="1088770" y="20066"/>
                </a:lnTo>
                <a:lnTo>
                  <a:pt x="1104645" y="18415"/>
                </a:lnTo>
                <a:lnTo>
                  <a:pt x="1117603" y="16954"/>
                </a:lnTo>
                <a:lnTo>
                  <a:pt x="1123949" y="10033"/>
                </a:lnTo>
                <a:lnTo>
                  <a:pt x="1126870" y="7112"/>
                </a:lnTo>
                <a:lnTo>
                  <a:pt x="1087500" y="7112"/>
                </a:lnTo>
                <a:close/>
              </a:path>
              <a:path w="1144904" h="40005">
                <a:moveTo>
                  <a:pt x="152526" y="20193"/>
                </a:moveTo>
                <a:lnTo>
                  <a:pt x="153632" y="20320"/>
                </a:lnTo>
                <a:lnTo>
                  <a:pt x="152526" y="20193"/>
                </a:lnTo>
                <a:close/>
              </a:path>
              <a:path w="1144904" h="40005">
                <a:moveTo>
                  <a:pt x="1134820" y="15009"/>
                </a:moveTo>
                <a:lnTo>
                  <a:pt x="1131823" y="15240"/>
                </a:lnTo>
                <a:lnTo>
                  <a:pt x="1132078" y="15240"/>
                </a:lnTo>
                <a:lnTo>
                  <a:pt x="1126362" y="15875"/>
                </a:lnTo>
                <a:lnTo>
                  <a:pt x="1117603" y="16954"/>
                </a:lnTo>
                <a:lnTo>
                  <a:pt x="1116965" y="17653"/>
                </a:lnTo>
                <a:lnTo>
                  <a:pt x="1136608" y="17526"/>
                </a:lnTo>
                <a:lnTo>
                  <a:pt x="1139301" y="15234"/>
                </a:lnTo>
                <a:lnTo>
                  <a:pt x="1136269" y="15113"/>
                </a:lnTo>
                <a:lnTo>
                  <a:pt x="1134820" y="15009"/>
                </a:lnTo>
                <a:close/>
              </a:path>
              <a:path w="1144904" h="40005">
                <a:moveTo>
                  <a:pt x="1139534" y="1270"/>
                </a:moveTo>
                <a:lnTo>
                  <a:pt x="1133347" y="1270"/>
                </a:lnTo>
                <a:lnTo>
                  <a:pt x="1132770" y="1397"/>
                </a:lnTo>
                <a:lnTo>
                  <a:pt x="1129537" y="4445"/>
                </a:lnTo>
                <a:lnTo>
                  <a:pt x="1123822" y="10160"/>
                </a:lnTo>
                <a:lnTo>
                  <a:pt x="1117603" y="16954"/>
                </a:lnTo>
                <a:lnTo>
                  <a:pt x="1126362" y="15875"/>
                </a:lnTo>
                <a:lnTo>
                  <a:pt x="1132078" y="15240"/>
                </a:lnTo>
                <a:lnTo>
                  <a:pt x="1131823" y="15240"/>
                </a:lnTo>
                <a:lnTo>
                  <a:pt x="1134820" y="15009"/>
                </a:lnTo>
                <a:lnTo>
                  <a:pt x="1134491" y="14986"/>
                </a:lnTo>
                <a:lnTo>
                  <a:pt x="1139602" y="14986"/>
                </a:lnTo>
                <a:lnTo>
                  <a:pt x="1140079" y="14605"/>
                </a:lnTo>
                <a:lnTo>
                  <a:pt x="1141730" y="12827"/>
                </a:lnTo>
                <a:lnTo>
                  <a:pt x="1142910" y="11646"/>
                </a:lnTo>
                <a:lnTo>
                  <a:pt x="1143706" y="9017"/>
                </a:lnTo>
                <a:lnTo>
                  <a:pt x="1144396" y="6858"/>
                </a:lnTo>
                <a:lnTo>
                  <a:pt x="1142468" y="3810"/>
                </a:lnTo>
                <a:lnTo>
                  <a:pt x="1141769" y="2627"/>
                </a:lnTo>
                <a:lnTo>
                  <a:pt x="1140333" y="1778"/>
                </a:lnTo>
                <a:lnTo>
                  <a:pt x="1139534" y="1270"/>
                </a:lnTo>
                <a:close/>
              </a:path>
              <a:path w="1144904" h="40005">
                <a:moveTo>
                  <a:pt x="1142910" y="11646"/>
                </a:moveTo>
                <a:lnTo>
                  <a:pt x="1141730" y="12827"/>
                </a:lnTo>
                <a:lnTo>
                  <a:pt x="1140079" y="14605"/>
                </a:lnTo>
                <a:lnTo>
                  <a:pt x="1139301" y="15234"/>
                </a:lnTo>
                <a:lnTo>
                  <a:pt x="1139452" y="15234"/>
                </a:lnTo>
                <a:lnTo>
                  <a:pt x="1142492" y="13081"/>
                </a:lnTo>
                <a:lnTo>
                  <a:pt x="1142910" y="11646"/>
                </a:lnTo>
                <a:close/>
              </a:path>
              <a:path w="1144904" h="40005">
                <a:moveTo>
                  <a:pt x="1139602" y="14986"/>
                </a:moveTo>
                <a:lnTo>
                  <a:pt x="1135125" y="14986"/>
                </a:lnTo>
                <a:lnTo>
                  <a:pt x="1134820" y="15009"/>
                </a:lnTo>
                <a:lnTo>
                  <a:pt x="1136269" y="15113"/>
                </a:lnTo>
                <a:lnTo>
                  <a:pt x="1139301" y="15234"/>
                </a:lnTo>
                <a:lnTo>
                  <a:pt x="1139602" y="14986"/>
                </a:lnTo>
                <a:close/>
              </a:path>
              <a:path w="1144904" h="40005">
                <a:moveTo>
                  <a:pt x="1135125" y="14986"/>
                </a:moveTo>
                <a:lnTo>
                  <a:pt x="1134491" y="14986"/>
                </a:lnTo>
                <a:lnTo>
                  <a:pt x="1134820" y="15009"/>
                </a:lnTo>
                <a:lnTo>
                  <a:pt x="1135125" y="14986"/>
                </a:lnTo>
                <a:close/>
              </a:path>
              <a:path w="1144904" h="40005">
                <a:moveTo>
                  <a:pt x="1144396" y="6858"/>
                </a:moveTo>
                <a:lnTo>
                  <a:pt x="1142910" y="11646"/>
                </a:lnTo>
                <a:lnTo>
                  <a:pt x="1144016" y="10541"/>
                </a:lnTo>
                <a:lnTo>
                  <a:pt x="1144396" y="6858"/>
                </a:lnTo>
                <a:close/>
              </a:path>
              <a:path w="1144904" h="40005">
                <a:moveTo>
                  <a:pt x="1115441" y="3810"/>
                </a:moveTo>
                <a:lnTo>
                  <a:pt x="1103248" y="5334"/>
                </a:lnTo>
                <a:lnTo>
                  <a:pt x="1087500" y="7112"/>
                </a:lnTo>
                <a:lnTo>
                  <a:pt x="1126870" y="7112"/>
                </a:lnTo>
                <a:lnTo>
                  <a:pt x="1129537" y="4445"/>
                </a:lnTo>
                <a:lnTo>
                  <a:pt x="1130076" y="3937"/>
                </a:lnTo>
                <a:lnTo>
                  <a:pt x="1115441" y="3937"/>
                </a:lnTo>
                <a:close/>
              </a:path>
              <a:path w="1144904" h="40005">
                <a:moveTo>
                  <a:pt x="1141769" y="2627"/>
                </a:moveTo>
                <a:lnTo>
                  <a:pt x="1142861" y="4445"/>
                </a:lnTo>
                <a:lnTo>
                  <a:pt x="1144396" y="6858"/>
                </a:lnTo>
                <a:lnTo>
                  <a:pt x="1143127" y="3429"/>
                </a:lnTo>
                <a:lnTo>
                  <a:pt x="1141769" y="2627"/>
                </a:lnTo>
                <a:close/>
              </a:path>
              <a:path w="1144904" h="40005">
                <a:moveTo>
                  <a:pt x="1132792" y="1376"/>
                </a:moveTo>
                <a:lnTo>
                  <a:pt x="1130045" y="1905"/>
                </a:lnTo>
                <a:lnTo>
                  <a:pt x="1130427" y="1905"/>
                </a:lnTo>
                <a:lnTo>
                  <a:pt x="1115441" y="3937"/>
                </a:lnTo>
                <a:lnTo>
                  <a:pt x="1130076" y="3937"/>
                </a:lnTo>
                <a:lnTo>
                  <a:pt x="1132792" y="1376"/>
                </a:lnTo>
                <a:close/>
              </a:path>
              <a:path w="1144904" h="40005">
                <a:moveTo>
                  <a:pt x="1137538" y="0"/>
                </a:moveTo>
                <a:lnTo>
                  <a:pt x="1140333" y="1778"/>
                </a:lnTo>
                <a:lnTo>
                  <a:pt x="1141769" y="2627"/>
                </a:lnTo>
                <a:lnTo>
                  <a:pt x="1140968" y="1270"/>
                </a:lnTo>
                <a:lnTo>
                  <a:pt x="1137538" y="0"/>
                </a:lnTo>
                <a:close/>
              </a:path>
              <a:path w="1144904" h="40005">
                <a:moveTo>
                  <a:pt x="1132849" y="1322"/>
                </a:moveTo>
                <a:lnTo>
                  <a:pt x="1132585" y="1397"/>
                </a:lnTo>
                <a:lnTo>
                  <a:pt x="1132810" y="1359"/>
                </a:lnTo>
                <a:close/>
              </a:path>
              <a:path w="1144904" h="40005">
                <a:moveTo>
                  <a:pt x="1133347" y="1270"/>
                </a:moveTo>
                <a:lnTo>
                  <a:pt x="1132810" y="1359"/>
                </a:lnTo>
                <a:lnTo>
                  <a:pt x="1133347" y="1270"/>
                </a:lnTo>
                <a:close/>
              </a:path>
              <a:path w="1144904" h="40005">
                <a:moveTo>
                  <a:pt x="1137538" y="0"/>
                </a:moveTo>
                <a:lnTo>
                  <a:pt x="1132849" y="1322"/>
                </a:lnTo>
                <a:lnTo>
                  <a:pt x="1133347" y="1270"/>
                </a:lnTo>
                <a:lnTo>
                  <a:pt x="1139534" y="1270"/>
                </a:lnTo>
                <a:lnTo>
                  <a:pt x="1137538" y="0"/>
                </a:lnTo>
                <a:close/>
              </a:path>
              <a:path w="1144904" h="40005">
                <a:moveTo>
                  <a:pt x="1137538" y="0"/>
                </a:moveTo>
                <a:lnTo>
                  <a:pt x="1133983" y="254"/>
                </a:lnTo>
                <a:lnTo>
                  <a:pt x="1132849" y="1322"/>
                </a:lnTo>
                <a:lnTo>
                  <a:pt x="11375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76241" y="1600708"/>
            <a:ext cx="1388745" cy="109855"/>
          </a:xfrm>
          <a:custGeom>
            <a:avLst/>
            <a:gdLst/>
            <a:ahLst/>
            <a:cxnLst/>
            <a:rect l="l" t="t" r="r" b="b"/>
            <a:pathLst>
              <a:path w="1388745" h="109855">
                <a:moveTo>
                  <a:pt x="1385140" y="89788"/>
                </a:moveTo>
                <a:lnTo>
                  <a:pt x="1371014" y="89788"/>
                </a:lnTo>
                <a:lnTo>
                  <a:pt x="1366696" y="102742"/>
                </a:lnTo>
                <a:lnTo>
                  <a:pt x="1365934" y="104901"/>
                </a:lnTo>
                <a:lnTo>
                  <a:pt x="1366950" y="107441"/>
                </a:lnTo>
                <a:lnTo>
                  <a:pt x="1369109" y="108457"/>
                </a:lnTo>
                <a:lnTo>
                  <a:pt x="1371141" y="109474"/>
                </a:lnTo>
                <a:lnTo>
                  <a:pt x="1373808" y="108712"/>
                </a:lnTo>
                <a:lnTo>
                  <a:pt x="1375078" y="106679"/>
                </a:lnTo>
                <a:lnTo>
                  <a:pt x="1382444" y="95250"/>
                </a:lnTo>
                <a:lnTo>
                  <a:pt x="1382698" y="94614"/>
                </a:lnTo>
                <a:lnTo>
                  <a:pt x="1385140" y="89788"/>
                </a:lnTo>
                <a:close/>
              </a:path>
              <a:path w="1388745" h="109855">
                <a:moveTo>
                  <a:pt x="1372671" y="83441"/>
                </a:moveTo>
                <a:lnTo>
                  <a:pt x="1370887" y="90042"/>
                </a:lnTo>
                <a:lnTo>
                  <a:pt x="1371014" y="89788"/>
                </a:lnTo>
                <a:lnTo>
                  <a:pt x="1385140" y="89788"/>
                </a:lnTo>
                <a:lnTo>
                  <a:pt x="1387003" y="86105"/>
                </a:lnTo>
                <a:lnTo>
                  <a:pt x="1374189" y="86105"/>
                </a:lnTo>
                <a:lnTo>
                  <a:pt x="1372671" y="83441"/>
                </a:lnTo>
                <a:close/>
              </a:path>
              <a:path w="1388745" h="109855">
                <a:moveTo>
                  <a:pt x="150692" y="13207"/>
                </a:moveTo>
                <a:lnTo>
                  <a:pt x="66724" y="13207"/>
                </a:lnTo>
                <a:lnTo>
                  <a:pt x="81964" y="14858"/>
                </a:lnTo>
                <a:lnTo>
                  <a:pt x="98093" y="16763"/>
                </a:lnTo>
                <a:lnTo>
                  <a:pt x="115492" y="19303"/>
                </a:lnTo>
                <a:lnTo>
                  <a:pt x="133907" y="22225"/>
                </a:lnTo>
                <a:lnTo>
                  <a:pt x="195756" y="32638"/>
                </a:lnTo>
                <a:lnTo>
                  <a:pt x="220013" y="36575"/>
                </a:lnTo>
                <a:lnTo>
                  <a:pt x="246429" y="40386"/>
                </a:lnTo>
                <a:lnTo>
                  <a:pt x="273099" y="44195"/>
                </a:lnTo>
                <a:lnTo>
                  <a:pt x="334821" y="52069"/>
                </a:lnTo>
                <a:lnTo>
                  <a:pt x="439342" y="63118"/>
                </a:lnTo>
                <a:lnTo>
                  <a:pt x="493723" y="67821"/>
                </a:lnTo>
                <a:lnTo>
                  <a:pt x="517447" y="69722"/>
                </a:lnTo>
                <a:lnTo>
                  <a:pt x="601648" y="75311"/>
                </a:lnTo>
                <a:lnTo>
                  <a:pt x="690294" y="79882"/>
                </a:lnTo>
                <a:lnTo>
                  <a:pt x="874317" y="86232"/>
                </a:lnTo>
                <a:lnTo>
                  <a:pt x="966265" y="88011"/>
                </a:lnTo>
                <a:lnTo>
                  <a:pt x="1011858" y="88264"/>
                </a:lnTo>
                <a:lnTo>
                  <a:pt x="1057705" y="87883"/>
                </a:lnTo>
                <a:lnTo>
                  <a:pt x="1100377" y="86994"/>
                </a:lnTo>
                <a:lnTo>
                  <a:pt x="1140763" y="85597"/>
                </a:lnTo>
                <a:lnTo>
                  <a:pt x="1213915" y="81279"/>
                </a:lnTo>
                <a:lnTo>
                  <a:pt x="1245665" y="78612"/>
                </a:lnTo>
                <a:lnTo>
                  <a:pt x="1246173" y="78612"/>
                </a:lnTo>
                <a:lnTo>
                  <a:pt x="1269414" y="75183"/>
                </a:lnTo>
                <a:lnTo>
                  <a:pt x="1271894" y="74675"/>
                </a:lnTo>
                <a:lnTo>
                  <a:pt x="1011858" y="74675"/>
                </a:lnTo>
                <a:lnTo>
                  <a:pt x="966392" y="74549"/>
                </a:lnTo>
                <a:lnTo>
                  <a:pt x="920291" y="73913"/>
                </a:lnTo>
                <a:lnTo>
                  <a:pt x="874571" y="72897"/>
                </a:lnTo>
                <a:lnTo>
                  <a:pt x="735125" y="68452"/>
                </a:lnTo>
                <a:lnTo>
                  <a:pt x="735252" y="68452"/>
                </a:lnTo>
                <a:lnTo>
                  <a:pt x="718156" y="67817"/>
                </a:lnTo>
                <a:lnTo>
                  <a:pt x="646860" y="64769"/>
                </a:lnTo>
                <a:lnTo>
                  <a:pt x="602283" y="62483"/>
                </a:lnTo>
                <a:lnTo>
                  <a:pt x="561649" y="59943"/>
                </a:lnTo>
                <a:lnTo>
                  <a:pt x="559611" y="59943"/>
                </a:lnTo>
                <a:lnTo>
                  <a:pt x="478839" y="53975"/>
                </a:lnTo>
                <a:lnTo>
                  <a:pt x="478966" y="53975"/>
                </a:lnTo>
                <a:lnTo>
                  <a:pt x="403528" y="47243"/>
                </a:lnTo>
                <a:lnTo>
                  <a:pt x="368984" y="43687"/>
                </a:lnTo>
                <a:lnTo>
                  <a:pt x="336218" y="40004"/>
                </a:lnTo>
                <a:lnTo>
                  <a:pt x="304849" y="36194"/>
                </a:lnTo>
                <a:lnTo>
                  <a:pt x="274750" y="32384"/>
                </a:lnTo>
                <a:lnTo>
                  <a:pt x="221664" y="24891"/>
                </a:lnTo>
                <a:lnTo>
                  <a:pt x="221791" y="24891"/>
                </a:lnTo>
                <a:lnTo>
                  <a:pt x="197661" y="21208"/>
                </a:lnTo>
                <a:lnTo>
                  <a:pt x="154608" y="13969"/>
                </a:lnTo>
                <a:lnTo>
                  <a:pt x="150692" y="13207"/>
                </a:lnTo>
                <a:close/>
              </a:path>
              <a:path w="1388745" h="109855">
                <a:moveTo>
                  <a:pt x="1373427" y="80644"/>
                </a:moveTo>
                <a:lnTo>
                  <a:pt x="1372671" y="83441"/>
                </a:lnTo>
                <a:lnTo>
                  <a:pt x="1374189" y="86105"/>
                </a:lnTo>
                <a:lnTo>
                  <a:pt x="1373427" y="80644"/>
                </a:lnTo>
                <a:close/>
              </a:path>
              <a:path w="1388745" h="109855">
                <a:moveTo>
                  <a:pt x="1387801" y="80644"/>
                </a:moveTo>
                <a:lnTo>
                  <a:pt x="1373427" y="80644"/>
                </a:lnTo>
                <a:lnTo>
                  <a:pt x="1374189" y="86105"/>
                </a:lnTo>
                <a:lnTo>
                  <a:pt x="1387003" y="86105"/>
                </a:lnTo>
                <a:lnTo>
                  <a:pt x="1388159" y="83819"/>
                </a:lnTo>
                <a:lnTo>
                  <a:pt x="1388099" y="81279"/>
                </a:lnTo>
                <a:lnTo>
                  <a:pt x="1387801" y="80644"/>
                </a:lnTo>
                <a:close/>
              </a:path>
              <a:path w="1388745" h="109855">
                <a:moveTo>
                  <a:pt x="1368790" y="76630"/>
                </a:moveTo>
                <a:lnTo>
                  <a:pt x="1372671" y="83441"/>
                </a:lnTo>
                <a:lnTo>
                  <a:pt x="1373427" y="80644"/>
                </a:lnTo>
                <a:lnTo>
                  <a:pt x="1387801" y="80644"/>
                </a:lnTo>
                <a:lnTo>
                  <a:pt x="1387143" y="79247"/>
                </a:lnTo>
                <a:lnTo>
                  <a:pt x="1386318" y="77596"/>
                </a:lnTo>
                <a:lnTo>
                  <a:pt x="1370125" y="77596"/>
                </a:lnTo>
                <a:lnTo>
                  <a:pt x="1368790" y="76630"/>
                </a:lnTo>
                <a:close/>
              </a:path>
              <a:path w="1388745" h="109855">
                <a:moveTo>
                  <a:pt x="1367966" y="75183"/>
                </a:moveTo>
                <a:lnTo>
                  <a:pt x="1368790" y="76630"/>
                </a:lnTo>
                <a:lnTo>
                  <a:pt x="1370125" y="77596"/>
                </a:lnTo>
                <a:lnTo>
                  <a:pt x="1367966" y="75183"/>
                </a:lnTo>
                <a:close/>
              </a:path>
              <a:path w="1388745" h="109855">
                <a:moveTo>
                  <a:pt x="1385111" y="75183"/>
                </a:moveTo>
                <a:lnTo>
                  <a:pt x="1367966" y="75183"/>
                </a:lnTo>
                <a:lnTo>
                  <a:pt x="1370125" y="77596"/>
                </a:lnTo>
                <a:lnTo>
                  <a:pt x="1386318" y="77596"/>
                </a:lnTo>
                <a:lnTo>
                  <a:pt x="1385111" y="75183"/>
                </a:lnTo>
                <a:close/>
              </a:path>
              <a:path w="1388745" h="109855">
                <a:moveTo>
                  <a:pt x="1363623" y="72888"/>
                </a:moveTo>
                <a:lnTo>
                  <a:pt x="1368790" y="76630"/>
                </a:lnTo>
                <a:lnTo>
                  <a:pt x="1367966" y="75183"/>
                </a:lnTo>
                <a:lnTo>
                  <a:pt x="1385111" y="75183"/>
                </a:lnTo>
                <a:lnTo>
                  <a:pt x="1384159" y="73278"/>
                </a:lnTo>
                <a:lnTo>
                  <a:pt x="1364664" y="73278"/>
                </a:lnTo>
                <a:lnTo>
                  <a:pt x="1363623" y="72888"/>
                </a:lnTo>
                <a:close/>
              </a:path>
              <a:path w="1388745" h="109855">
                <a:moveTo>
                  <a:pt x="1244395" y="64134"/>
                </a:moveTo>
                <a:lnTo>
                  <a:pt x="1212772" y="67055"/>
                </a:lnTo>
                <a:lnTo>
                  <a:pt x="1177720" y="69595"/>
                </a:lnTo>
                <a:lnTo>
                  <a:pt x="1177847" y="69595"/>
                </a:lnTo>
                <a:lnTo>
                  <a:pt x="1140128" y="71627"/>
                </a:lnTo>
                <a:lnTo>
                  <a:pt x="1099869" y="73151"/>
                </a:lnTo>
                <a:lnTo>
                  <a:pt x="1057578" y="74167"/>
                </a:lnTo>
                <a:lnTo>
                  <a:pt x="1011858" y="74675"/>
                </a:lnTo>
                <a:lnTo>
                  <a:pt x="1271894" y="74675"/>
                </a:lnTo>
                <a:lnTo>
                  <a:pt x="1296211" y="70738"/>
                </a:lnTo>
                <a:lnTo>
                  <a:pt x="1296935" y="70738"/>
                </a:lnTo>
                <a:lnTo>
                  <a:pt x="1321230" y="67944"/>
                </a:lnTo>
                <a:lnTo>
                  <a:pt x="1331200" y="67944"/>
                </a:lnTo>
                <a:lnTo>
                  <a:pt x="1341594" y="67821"/>
                </a:lnTo>
                <a:lnTo>
                  <a:pt x="1340661" y="67690"/>
                </a:lnTo>
                <a:lnTo>
                  <a:pt x="1381243" y="67690"/>
                </a:lnTo>
                <a:lnTo>
                  <a:pt x="1379269" y="65277"/>
                </a:lnTo>
                <a:lnTo>
                  <a:pt x="1377899" y="64262"/>
                </a:lnTo>
                <a:lnTo>
                  <a:pt x="1243887" y="64262"/>
                </a:lnTo>
                <a:lnTo>
                  <a:pt x="1244395" y="64134"/>
                </a:lnTo>
                <a:close/>
              </a:path>
              <a:path w="1388745" h="109855">
                <a:moveTo>
                  <a:pt x="1362759" y="72262"/>
                </a:moveTo>
                <a:lnTo>
                  <a:pt x="1363648" y="72897"/>
                </a:lnTo>
                <a:lnTo>
                  <a:pt x="1364664" y="73278"/>
                </a:lnTo>
                <a:lnTo>
                  <a:pt x="1362759" y="72262"/>
                </a:lnTo>
                <a:close/>
              </a:path>
              <a:path w="1388745" h="109855">
                <a:moveTo>
                  <a:pt x="1383651" y="72262"/>
                </a:moveTo>
                <a:lnTo>
                  <a:pt x="1362759" y="72262"/>
                </a:lnTo>
                <a:lnTo>
                  <a:pt x="1364664" y="73278"/>
                </a:lnTo>
                <a:lnTo>
                  <a:pt x="1384159" y="73278"/>
                </a:lnTo>
                <a:lnTo>
                  <a:pt x="1383651" y="72262"/>
                </a:lnTo>
                <a:close/>
              </a:path>
              <a:path w="1388745" h="109855">
                <a:moveTo>
                  <a:pt x="1355216" y="69735"/>
                </a:moveTo>
                <a:lnTo>
                  <a:pt x="1363623" y="72888"/>
                </a:lnTo>
                <a:lnTo>
                  <a:pt x="1362759" y="72262"/>
                </a:lnTo>
                <a:lnTo>
                  <a:pt x="1383651" y="72262"/>
                </a:lnTo>
                <a:lnTo>
                  <a:pt x="1382444" y="69850"/>
                </a:lnTo>
                <a:lnTo>
                  <a:pt x="1356028" y="69850"/>
                </a:lnTo>
                <a:lnTo>
                  <a:pt x="1355216" y="69735"/>
                </a:lnTo>
                <a:close/>
              </a:path>
              <a:path w="1388745" h="109855">
                <a:moveTo>
                  <a:pt x="1296935" y="70738"/>
                </a:moveTo>
                <a:lnTo>
                  <a:pt x="1296211" y="70738"/>
                </a:lnTo>
                <a:lnTo>
                  <a:pt x="1295830" y="70865"/>
                </a:lnTo>
                <a:lnTo>
                  <a:pt x="1296935" y="70738"/>
                </a:lnTo>
                <a:close/>
              </a:path>
              <a:path w="1388745" h="109855">
                <a:moveTo>
                  <a:pt x="1354504" y="69468"/>
                </a:moveTo>
                <a:lnTo>
                  <a:pt x="1355216" y="69735"/>
                </a:lnTo>
                <a:lnTo>
                  <a:pt x="1356028" y="69850"/>
                </a:lnTo>
                <a:lnTo>
                  <a:pt x="1354504" y="69468"/>
                </a:lnTo>
                <a:close/>
              </a:path>
              <a:path w="1388745" h="109855">
                <a:moveTo>
                  <a:pt x="1382254" y="69468"/>
                </a:moveTo>
                <a:lnTo>
                  <a:pt x="1354504" y="69468"/>
                </a:lnTo>
                <a:lnTo>
                  <a:pt x="1356028" y="69850"/>
                </a:lnTo>
                <a:lnTo>
                  <a:pt x="1382444" y="69850"/>
                </a:lnTo>
                <a:lnTo>
                  <a:pt x="1382254" y="69468"/>
                </a:lnTo>
                <a:close/>
              </a:path>
              <a:path w="1388745" h="109855">
                <a:moveTo>
                  <a:pt x="1381243" y="67690"/>
                </a:moveTo>
                <a:lnTo>
                  <a:pt x="1340661" y="67690"/>
                </a:lnTo>
                <a:lnTo>
                  <a:pt x="1341931" y="67817"/>
                </a:lnTo>
                <a:lnTo>
                  <a:pt x="1341594" y="67821"/>
                </a:lnTo>
                <a:lnTo>
                  <a:pt x="1355216" y="69735"/>
                </a:lnTo>
                <a:lnTo>
                  <a:pt x="1354504" y="69468"/>
                </a:lnTo>
                <a:lnTo>
                  <a:pt x="1382254" y="69468"/>
                </a:lnTo>
                <a:lnTo>
                  <a:pt x="1381555" y="68071"/>
                </a:lnTo>
                <a:lnTo>
                  <a:pt x="1381243" y="67690"/>
                </a:lnTo>
                <a:close/>
              </a:path>
              <a:path w="1388745" h="109855">
                <a:moveTo>
                  <a:pt x="1331200" y="67944"/>
                </a:moveTo>
                <a:lnTo>
                  <a:pt x="1321230" y="67944"/>
                </a:lnTo>
                <a:lnTo>
                  <a:pt x="1320468" y="68071"/>
                </a:lnTo>
                <a:lnTo>
                  <a:pt x="1331200" y="67944"/>
                </a:lnTo>
                <a:close/>
              </a:path>
              <a:path w="1388745" h="109855">
                <a:moveTo>
                  <a:pt x="1340661" y="67690"/>
                </a:moveTo>
                <a:lnTo>
                  <a:pt x="1341594" y="67821"/>
                </a:lnTo>
                <a:lnTo>
                  <a:pt x="1341931" y="67817"/>
                </a:lnTo>
                <a:lnTo>
                  <a:pt x="1340661" y="67690"/>
                </a:lnTo>
                <a:close/>
              </a:path>
              <a:path w="1388745" h="109855">
                <a:moveTo>
                  <a:pt x="1342820" y="52450"/>
                </a:moveTo>
                <a:lnTo>
                  <a:pt x="1341677" y="52450"/>
                </a:lnTo>
                <a:lnTo>
                  <a:pt x="1320341" y="52831"/>
                </a:lnTo>
                <a:lnTo>
                  <a:pt x="1319452" y="52831"/>
                </a:lnTo>
                <a:lnTo>
                  <a:pt x="1294052" y="55879"/>
                </a:lnTo>
                <a:lnTo>
                  <a:pt x="1293671" y="56006"/>
                </a:lnTo>
                <a:lnTo>
                  <a:pt x="1267128" y="60578"/>
                </a:lnTo>
                <a:lnTo>
                  <a:pt x="1243887" y="64262"/>
                </a:lnTo>
                <a:lnTo>
                  <a:pt x="1377899" y="64262"/>
                </a:lnTo>
                <a:lnTo>
                  <a:pt x="1371903" y="59816"/>
                </a:lnTo>
                <a:lnTo>
                  <a:pt x="1369998" y="58800"/>
                </a:lnTo>
                <a:lnTo>
                  <a:pt x="1359711" y="54990"/>
                </a:lnTo>
                <a:lnTo>
                  <a:pt x="1358187" y="54609"/>
                </a:lnTo>
                <a:lnTo>
                  <a:pt x="1342820" y="52450"/>
                </a:lnTo>
                <a:close/>
              </a:path>
              <a:path w="1388745" h="109855">
                <a:moveTo>
                  <a:pt x="559611" y="59816"/>
                </a:moveTo>
                <a:lnTo>
                  <a:pt x="561649" y="59943"/>
                </a:lnTo>
                <a:lnTo>
                  <a:pt x="559611" y="59816"/>
                </a:lnTo>
                <a:close/>
              </a:path>
              <a:path w="1388745" h="109855">
                <a:moveTo>
                  <a:pt x="138162" y="11175"/>
                </a:moveTo>
                <a:lnTo>
                  <a:pt x="22909" y="11175"/>
                </a:lnTo>
                <a:lnTo>
                  <a:pt x="31164" y="11302"/>
                </a:lnTo>
                <a:lnTo>
                  <a:pt x="41832" y="11556"/>
                </a:lnTo>
                <a:lnTo>
                  <a:pt x="53897" y="12191"/>
                </a:lnTo>
                <a:lnTo>
                  <a:pt x="66851" y="13334"/>
                </a:lnTo>
                <a:lnTo>
                  <a:pt x="150692" y="13207"/>
                </a:lnTo>
                <a:lnTo>
                  <a:pt x="138162" y="11175"/>
                </a:lnTo>
                <a:close/>
              </a:path>
              <a:path w="1388745" h="109855">
                <a:moveTo>
                  <a:pt x="322" y="7028"/>
                </a:moveTo>
                <a:lnTo>
                  <a:pt x="225" y="7238"/>
                </a:lnTo>
                <a:lnTo>
                  <a:pt x="125" y="8000"/>
                </a:lnTo>
                <a:lnTo>
                  <a:pt x="430" y="9525"/>
                </a:lnTo>
                <a:lnTo>
                  <a:pt x="1594" y="10815"/>
                </a:lnTo>
                <a:lnTo>
                  <a:pt x="2843" y="12064"/>
                </a:lnTo>
                <a:lnTo>
                  <a:pt x="4621" y="12572"/>
                </a:lnTo>
                <a:lnTo>
                  <a:pt x="6399" y="11937"/>
                </a:lnTo>
                <a:lnTo>
                  <a:pt x="7034" y="11683"/>
                </a:lnTo>
                <a:lnTo>
                  <a:pt x="7288" y="11683"/>
                </a:lnTo>
                <a:lnTo>
                  <a:pt x="8304" y="11429"/>
                </a:lnTo>
                <a:lnTo>
                  <a:pt x="7161" y="11429"/>
                </a:lnTo>
                <a:lnTo>
                  <a:pt x="8733" y="11037"/>
                </a:lnTo>
                <a:lnTo>
                  <a:pt x="10311" y="8636"/>
                </a:lnTo>
                <a:lnTo>
                  <a:pt x="811" y="8636"/>
                </a:lnTo>
                <a:lnTo>
                  <a:pt x="322" y="7028"/>
                </a:lnTo>
                <a:close/>
              </a:path>
              <a:path w="1388745" h="109855">
                <a:moveTo>
                  <a:pt x="8733" y="11037"/>
                </a:moveTo>
                <a:lnTo>
                  <a:pt x="7161" y="11429"/>
                </a:lnTo>
                <a:lnTo>
                  <a:pt x="8467" y="11389"/>
                </a:lnTo>
                <a:lnTo>
                  <a:pt x="8812" y="11302"/>
                </a:lnTo>
                <a:lnTo>
                  <a:pt x="8558" y="11302"/>
                </a:lnTo>
                <a:lnTo>
                  <a:pt x="8733" y="11037"/>
                </a:lnTo>
                <a:close/>
              </a:path>
              <a:path w="1388745" h="109855">
                <a:moveTo>
                  <a:pt x="8467" y="11389"/>
                </a:moveTo>
                <a:lnTo>
                  <a:pt x="7161" y="11429"/>
                </a:lnTo>
                <a:lnTo>
                  <a:pt x="8304" y="11429"/>
                </a:lnTo>
                <a:lnTo>
                  <a:pt x="8467" y="11389"/>
                </a:lnTo>
                <a:close/>
              </a:path>
              <a:path w="1388745" h="109855">
                <a:moveTo>
                  <a:pt x="135812" y="10794"/>
                </a:moveTo>
                <a:lnTo>
                  <a:pt x="9701" y="10794"/>
                </a:lnTo>
                <a:lnTo>
                  <a:pt x="9320" y="11175"/>
                </a:lnTo>
                <a:lnTo>
                  <a:pt x="8467" y="11389"/>
                </a:lnTo>
                <a:lnTo>
                  <a:pt x="15289" y="11175"/>
                </a:lnTo>
                <a:lnTo>
                  <a:pt x="138162" y="11175"/>
                </a:lnTo>
                <a:lnTo>
                  <a:pt x="135812" y="10794"/>
                </a:lnTo>
                <a:close/>
              </a:path>
              <a:path w="1388745" h="109855">
                <a:moveTo>
                  <a:pt x="9666" y="10803"/>
                </a:moveTo>
                <a:lnTo>
                  <a:pt x="8733" y="11037"/>
                </a:lnTo>
                <a:lnTo>
                  <a:pt x="8558" y="11302"/>
                </a:lnTo>
                <a:lnTo>
                  <a:pt x="9666" y="10803"/>
                </a:lnTo>
                <a:close/>
              </a:path>
              <a:path w="1388745" h="109855">
                <a:moveTo>
                  <a:pt x="9655" y="10815"/>
                </a:moveTo>
                <a:lnTo>
                  <a:pt x="8558" y="11302"/>
                </a:lnTo>
                <a:lnTo>
                  <a:pt x="8812" y="11302"/>
                </a:lnTo>
                <a:lnTo>
                  <a:pt x="9320" y="11175"/>
                </a:lnTo>
                <a:lnTo>
                  <a:pt x="9655" y="10815"/>
                </a:lnTo>
                <a:close/>
              </a:path>
              <a:path w="1388745" h="109855">
                <a:moveTo>
                  <a:pt x="11479" y="6857"/>
                </a:moveTo>
                <a:lnTo>
                  <a:pt x="8733" y="11037"/>
                </a:lnTo>
                <a:lnTo>
                  <a:pt x="9674" y="10794"/>
                </a:lnTo>
                <a:lnTo>
                  <a:pt x="10971" y="9397"/>
                </a:lnTo>
                <a:lnTo>
                  <a:pt x="11352" y="7238"/>
                </a:lnTo>
                <a:lnTo>
                  <a:pt x="11479" y="6857"/>
                </a:lnTo>
                <a:close/>
              </a:path>
              <a:path w="1388745" h="109855">
                <a:moveTo>
                  <a:pt x="109764" y="6857"/>
                </a:moveTo>
                <a:lnTo>
                  <a:pt x="11479" y="6857"/>
                </a:lnTo>
                <a:lnTo>
                  <a:pt x="11352" y="7238"/>
                </a:lnTo>
                <a:lnTo>
                  <a:pt x="10971" y="9397"/>
                </a:lnTo>
                <a:lnTo>
                  <a:pt x="9666" y="10803"/>
                </a:lnTo>
                <a:lnTo>
                  <a:pt x="135685" y="10794"/>
                </a:lnTo>
                <a:lnTo>
                  <a:pt x="117143" y="8000"/>
                </a:lnTo>
                <a:lnTo>
                  <a:pt x="109764" y="6857"/>
                </a:lnTo>
                <a:close/>
              </a:path>
              <a:path w="1388745" h="109855">
                <a:moveTo>
                  <a:pt x="5637" y="3175"/>
                </a:moveTo>
                <a:lnTo>
                  <a:pt x="3097" y="3175"/>
                </a:lnTo>
                <a:lnTo>
                  <a:pt x="1446" y="4317"/>
                </a:lnTo>
                <a:lnTo>
                  <a:pt x="811" y="5968"/>
                </a:lnTo>
                <a:lnTo>
                  <a:pt x="401" y="6857"/>
                </a:lnTo>
                <a:lnTo>
                  <a:pt x="386" y="7238"/>
                </a:lnTo>
                <a:lnTo>
                  <a:pt x="811" y="8636"/>
                </a:lnTo>
                <a:lnTo>
                  <a:pt x="2237" y="4952"/>
                </a:lnTo>
                <a:lnTo>
                  <a:pt x="2335" y="4699"/>
                </a:lnTo>
                <a:lnTo>
                  <a:pt x="2698" y="4699"/>
                </a:lnTo>
                <a:lnTo>
                  <a:pt x="5637" y="3175"/>
                </a:lnTo>
                <a:close/>
              </a:path>
              <a:path w="1388745" h="109855">
                <a:moveTo>
                  <a:pt x="79392" y="3175"/>
                </a:moveTo>
                <a:lnTo>
                  <a:pt x="5637" y="3175"/>
                </a:lnTo>
                <a:lnTo>
                  <a:pt x="2244" y="4934"/>
                </a:lnTo>
                <a:lnTo>
                  <a:pt x="811" y="8636"/>
                </a:lnTo>
                <a:lnTo>
                  <a:pt x="10311" y="8636"/>
                </a:lnTo>
                <a:lnTo>
                  <a:pt x="11479" y="6857"/>
                </a:lnTo>
                <a:lnTo>
                  <a:pt x="109764" y="6857"/>
                </a:lnTo>
                <a:lnTo>
                  <a:pt x="99617" y="5461"/>
                </a:lnTo>
                <a:lnTo>
                  <a:pt x="83234" y="3555"/>
                </a:lnTo>
                <a:lnTo>
                  <a:pt x="79392" y="3175"/>
                </a:lnTo>
                <a:close/>
              </a:path>
              <a:path w="1388745" h="109855">
                <a:moveTo>
                  <a:pt x="31418" y="0"/>
                </a:moveTo>
                <a:lnTo>
                  <a:pt x="22909" y="0"/>
                </a:lnTo>
                <a:lnTo>
                  <a:pt x="15162" y="126"/>
                </a:lnTo>
                <a:lnTo>
                  <a:pt x="0" y="5968"/>
                </a:lnTo>
                <a:lnTo>
                  <a:pt x="322" y="7028"/>
                </a:lnTo>
                <a:lnTo>
                  <a:pt x="811" y="5968"/>
                </a:lnTo>
                <a:lnTo>
                  <a:pt x="1446" y="4317"/>
                </a:lnTo>
                <a:lnTo>
                  <a:pt x="3097" y="3175"/>
                </a:lnTo>
                <a:lnTo>
                  <a:pt x="79392" y="3175"/>
                </a:lnTo>
                <a:lnTo>
                  <a:pt x="67867" y="2031"/>
                </a:lnTo>
                <a:lnTo>
                  <a:pt x="54659" y="1015"/>
                </a:lnTo>
                <a:lnTo>
                  <a:pt x="42340" y="380"/>
                </a:lnTo>
                <a:lnTo>
                  <a:pt x="31418" y="0"/>
                </a:lnTo>
                <a:close/>
              </a:path>
              <a:path w="1388745" h="109855">
                <a:moveTo>
                  <a:pt x="2244" y="4934"/>
                </a:moveTo>
                <a:close/>
              </a:path>
              <a:path w="1388745" h="109855">
                <a:moveTo>
                  <a:pt x="2698" y="4699"/>
                </a:moveTo>
                <a:lnTo>
                  <a:pt x="2335" y="4699"/>
                </a:lnTo>
                <a:lnTo>
                  <a:pt x="2244" y="4934"/>
                </a:lnTo>
                <a:lnTo>
                  <a:pt x="2698" y="46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3594" y="935482"/>
            <a:ext cx="1151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Best</a:t>
            </a:r>
            <a:r>
              <a:rPr sz="1800" spc="-8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Test: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7352" y="992885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Worst</a:t>
            </a:r>
            <a:r>
              <a:rPr sz="1800" spc="-8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test: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5238" y="1708150"/>
            <a:ext cx="1913889" cy="1857375"/>
            <a:chOff x="2285238" y="1708150"/>
            <a:chExt cx="1913889" cy="1857375"/>
          </a:xfrm>
        </p:grpSpPr>
        <p:sp>
          <p:nvSpPr>
            <p:cNvPr id="5" name="object 5"/>
            <p:cNvSpPr/>
            <p:nvPr/>
          </p:nvSpPr>
          <p:spPr>
            <a:xfrm>
              <a:off x="2322576" y="1714500"/>
              <a:ext cx="1870075" cy="1812289"/>
            </a:xfrm>
            <a:custGeom>
              <a:avLst/>
              <a:gdLst/>
              <a:ahLst/>
              <a:cxnLst/>
              <a:rect l="l" t="t" r="r" b="b"/>
              <a:pathLst>
                <a:path w="1870075" h="1812289">
                  <a:moveTo>
                    <a:pt x="0" y="0"/>
                  </a:moveTo>
                  <a:lnTo>
                    <a:pt x="1869948" y="0"/>
                  </a:lnTo>
                </a:path>
                <a:path w="1870075" h="1812289">
                  <a:moveTo>
                    <a:pt x="1869948" y="0"/>
                  </a:moveTo>
                  <a:lnTo>
                    <a:pt x="1869948" y="181203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5238" y="1715261"/>
              <a:ext cx="1908175" cy="1850389"/>
            </a:xfrm>
            <a:custGeom>
              <a:avLst/>
              <a:gdLst/>
              <a:ahLst/>
              <a:cxnLst/>
              <a:rect l="l" t="t" r="r" b="b"/>
              <a:pathLst>
                <a:path w="1908175" h="1850389">
                  <a:moveTo>
                    <a:pt x="1908048" y="1812036"/>
                  </a:moveTo>
                  <a:lnTo>
                    <a:pt x="1869948" y="1792998"/>
                  </a:lnTo>
                  <a:lnTo>
                    <a:pt x="1831848" y="1773948"/>
                  </a:lnTo>
                  <a:lnTo>
                    <a:pt x="1831848" y="1792998"/>
                  </a:lnTo>
                  <a:lnTo>
                    <a:pt x="57150" y="1792998"/>
                  </a:lnTo>
                  <a:lnTo>
                    <a:pt x="57150" y="76200"/>
                  </a:lnTo>
                  <a:lnTo>
                    <a:pt x="76200" y="76200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19050" y="76200"/>
                  </a:lnTo>
                  <a:lnTo>
                    <a:pt x="19050" y="1812048"/>
                  </a:lnTo>
                  <a:lnTo>
                    <a:pt x="38100" y="1812048"/>
                  </a:lnTo>
                  <a:lnTo>
                    <a:pt x="38100" y="1831086"/>
                  </a:lnTo>
                  <a:lnTo>
                    <a:pt x="1831848" y="1831086"/>
                  </a:lnTo>
                  <a:lnTo>
                    <a:pt x="1831848" y="1850136"/>
                  </a:lnTo>
                  <a:lnTo>
                    <a:pt x="1869948" y="1831086"/>
                  </a:lnTo>
                  <a:lnTo>
                    <a:pt x="1908048" y="1812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58975" y="2274959"/>
            <a:ext cx="139700" cy="8655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latin typeface="Calibri"/>
                <a:cs typeface="Calibri"/>
              </a:rPr>
              <a:t>True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2014" y="3434588"/>
            <a:ext cx="86995" cy="2305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latin typeface="Calibri"/>
                <a:cs typeface="Calibri"/>
              </a:rPr>
              <a:t>0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650" spc="15" dirty="0">
                <a:latin typeface="Calibri"/>
                <a:cs typeface="Calibri"/>
              </a:rPr>
              <a:t>%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5198" y="1771650"/>
            <a:ext cx="24066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100%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6375" y="3674491"/>
            <a:ext cx="8883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alibri"/>
                <a:cs typeface="Calibri"/>
              </a:rPr>
              <a:t>False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0355" y="3613861"/>
            <a:ext cx="9461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2852" y="3583940"/>
            <a:ext cx="17208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spc="5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60670" y="1708150"/>
            <a:ext cx="1869439" cy="1790700"/>
            <a:chOff x="5360670" y="1708150"/>
            <a:chExt cx="1869439" cy="1790700"/>
          </a:xfrm>
        </p:grpSpPr>
        <p:sp>
          <p:nvSpPr>
            <p:cNvPr id="14" name="object 14"/>
            <p:cNvSpPr/>
            <p:nvPr/>
          </p:nvSpPr>
          <p:spPr>
            <a:xfrm>
              <a:off x="5398008" y="1714500"/>
              <a:ext cx="1826260" cy="1744980"/>
            </a:xfrm>
            <a:custGeom>
              <a:avLst/>
              <a:gdLst/>
              <a:ahLst/>
              <a:cxnLst/>
              <a:rect l="l" t="t" r="r" b="b"/>
              <a:pathLst>
                <a:path w="1826259" h="1744979">
                  <a:moveTo>
                    <a:pt x="0" y="0"/>
                  </a:moveTo>
                  <a:lnTo>
                    <a:pt x="1825751" y="0"/>
                  </a:lnTo>
                </a:path>
                <a:path w="1826259" h="1744979">
                  <a:moveTo>
                    <a:pt x="1825751" y="0"/>
                  </a:moveTo>
                  <a:lnTo>
                    <a:pt x="1825751" y="1744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0670" y="1715261"/>
              <a:ext cx="1864360" cy="1783714"/>
            </a:xfrm>
            <a:custGeom>
              <a:avLst/>
              <a:gdLst/>
              <a:ahLst/>
              <a:cxnLst/>
              <a:rect l="l" t="t" r="r" b="b"/>
              <a:pathLst>
                <a:path w="1864359" h="1783714">
                  <a:moveTo>
                    <a:pt x="1863852" y="1744980"/>
                  </a:moveTo>
                  <a:lnTo>
                    <a:pt x="1825752" y="1725930"/>
                  </a:lnTo>
                  <a:lnTo>
                    <a:pt x="1787652" y="1706880"/>
                  </a:lnTo>
                  <a:lnTo>
                    <a:pt x="1787652" y="1725930"/>
                  </a:lnTo>
                  <a:lnTo>
                    <a:pt x="57150" y="1725930"/>
                  </a:lnTo>
                  <a:lnTo>
                    <a:pt x="57150" y="76200"/>
                  </a:lnTo>
                  <a:lnTo>
                    <a:pt x="76200" y="76200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19050" y="76200"/>
                  </a:lnTo>
                  <a:lnTo>
                    <a:pt x="19050" y="1744980"/>
                  </a:lnTo>
                  <a:lnTo>
                    <a:pt x="38100" y="1744980"/>
                  </a:lnTo>
                  <a:lnTo>
                    <a:pt x="38100" y="1764042"/>
                  </a:lnTo>
                  <a:lnTo>
                    <a:pt x="1787652" y="1764042"/>
                  </a:lnTo>
                  <a:lnTo>
                    <a:pt x="1787652" y="1783092"/>
                  </a:lnTo>
                  <a:lnTo>
                    <a:pt x="1825752" y="1764042"/>
                  </a:lnTo>
                  <a:lnTo>
                    <a:pt x="1863852" y="1744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13020" y="2221111"/>
            <a:ext cx="139700" cy="8655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latin typeface="Calibri"/>
                <a:cs typeface="Calibri"/>
              </a:rPr>
              <a:t>True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Positive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33542" y="3371850"/>
            <a:ext cx="86995" cy="2305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latin typeface="Calibri"/>
                <a:cs typeface="Calibri"/>
              </a:rPr>
              <a:t>0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650" spc="15" dirty="0">
                <a:latin typeface="Calibri"/>
                <a:cs typeface="Calibri"/>
              </a:rPr>
              <a:t>%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51552" y="1770379"/>
            <a:ext cx="23939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</a:t>
            </a:r>
            <a:r>
              <a:rPr sz="750" spc="-10" dirty="0">
                <a:latin typeface="Calibri"/>
                <a:cs typeface="Calibri"/>
              </a:rPr>
              <a:t>0</a:t>
            </a: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17311" y="3545204"/>
            <a:ext cx="946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5796" y="3515614"/>
            <a:ext cx="1236345" cy="2590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825"/>
              </a:lnSpc>
              <a:spcBef>
                <a:spcPts val="105"/>
              </a:spcBef>
            </a:pPr>
            <a:r>
              <a:rPr sz="750" dirty="0">
                <a:latin typeface="Calibri"/>
                <a:cs typeface="Calibri"/>
              </a:rPr>
              <a:t>100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ts val="1005"/>
              </a:lnSpc>
              <a:tabLst>
                <a:tab pos="1076960" algn="l"/>
              </a:tabLst>
            </a:pPr>
            <a:r>
              <a:rPr sz="1350" spc="-7" baseline="6172" dirty="0">
                <a:latin typeface="Calibri"/>
                <a:cs typeface="Calibri"/>
              </a:rPr>
              <a:t>False</a:t>
            </a:r>
            <a:r>
              <a:rPr sz="1350" spc="15" baseline="6172" dirty="0">
                <a:latin typeface="Calibri"/>
                <a:cs typeface="Calibri"/>
              </a:rPr>
              <a:t> </a:t>
            </a:r>
            <a:r>
              <a:rPr sz="1350" spc="-7" baseline="6172" dirty="0">
                <a:latin typeface="Calibri"/>
                <a:cs typeface="Calibri"/>
              </a:rPr>
              <a:t>Positive</a:t>
            </a:r>
            <a:r>
              <a:rPr sz="1350" spc="15" baseline="6172" dirty="0">
                <a:latin typeface="Calibri"/>
                <a:cs typeface="Calibri"/>
              </a:rPr>
              <a:t> </a:t>
            </a:r>
            <a:r>
              <a:rPr sz="1350" baseline="6172" dirty="0">
                <a:latin typeface="Calibri"/>
                <a:cs typeface="Calibri"/>
              </a:rPr>
              <a:t>Rate	</a:t>
            </a:r>
            <a:r>
              <a:rPr sz="750" dirty="0">
                <a:latin typeface="Calibri"/>
                <a:cs typeface="Calibri"/>
              </a:rPr>
              <a:t>%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25623" y="1696211"/>
            <a:ext cx="1847850" cy="1791970"/>
            <a:chOff x="2325623" y="1696211"/>
            <a:chExt cx="1847850" cy="1791970"/>
          </a:xfrm>
        </p:grpSpPr>
        <p:sp>
          <p:nvSpPr>
            <p:cNvPr id="22" name="object 22"/>
            <p:cNvSpPr/>
            <p:nvPr/>
          </p:nvSpPr>
          <p:spPr>
            <a:xfrm>
              <a:off x="2344673" y="1715261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182880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44673" y="1715261"/>
              <a:ext cx="0" cy="1772920"/>
            </a:xfrm>
            <a:custGeom>
              <a:avLst/>
              <a:gdLst/>
              <a:ahLst/>
              <a:cxnLst/>
              <a:rect l="l" t="t" r="r" b="b"/>
              <a:pathLst>
                <a:path h="1772920">
                  <a:moveTo>
                    <a:pt x="0" y="1772412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5430773" y="1715261"/>
            <a:ext cx="1771014" cy="1714500"/>
          </a:xfrm>
          <a:custGeom>
            <a:avLst/>
            <a:gdLst/>
            <a:ahLst/>
            <a:cxnLst/>
            <a:rect l="l" t="t" r="r" b="b"/>
            <a:pathLst>
              <a:path w="1771015" h="1714500">
                <a:moveTo>
                  <a:pt x="1770887" y="0"/>
                </a:moveTo>
                <a:lnTo>
                  <a:pt x="0" y="1714500"/>
                </a:lnTo>
              </a:path>
            </a:pathLst>
          </a:custGeom>
          <a:ln w="38100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308098" y="4133799"/>
            <a:ext cx="17722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don’t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overlap</a:t>
            </a:r>
            <a:r>
              <a:rPr sz="1800" spc="-10" dirty="0">
                <a:latin typeface="Calibri"/>
                <a:cs typeface="Calibri"/>
              </a:rPr>
              <a:t> 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94452" y="4133799"/>
            <a:ext cx="1801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overlap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968498" y="219913"/>
            <a:ext cx="32067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ROC</a:t>
            </a:r>
            <a:r>
              <a:rPr sz="3000" spc="-65" dirty="0"/>
              <a:t> </a:t>
            </a:r>
            <a:r>
              <a:rPr sz="3000" spc="-5" dirty="0"/>
              <a:t>curve</a:t>
            </a:r>
            <a:r>
              <a:rPr sz="3000" spc="-40" dirty="0"/>
              <a:t> </a:t>
            </a:r>
            <a:r>
              <a:rPr sz="3000" spc="-15" dirty="0"/>
              <a:t>extremes</a:t>
            </a:r>
            <a:endParaRPr sz="3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3897" y="250316"/>
            <a:ext cx="4694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ROC</a:t>
            </a:r>
            <a:r>
              <a:rPr sz="4400" spc="-30" dirty="0"/>
              <a:t> </a:t>
            </a:r>
            <a:r>
              <a:rPr sz="4400" spc="-5" dirty="0"/>
              <a:t>curve</a:t>
            </a:r>
            <a:r>
              <a:rPr sz="4400" spc="-45" dirty="0"/>
              <a:t> </a:t>
            </a:r>
            <a:r>
              <a:rPr sz="4400" spc="-20" dirty="0"/>
              <a:t>extremes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772411"/>
            <a:ext cx="4038600" cy="1752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8615" y="990600"/>
            <a:ext cx="3477767" cy="3162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4938" y="385953"/>
            <a:ext cx="1752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Typical</a:t>
            </a:r>
            <a:r>
              <a:rPr spc="-55" dirty="0"/>
              <a:t> </a:t>
            </a:r>
            <a:r>
              <a:rPr spc="-20" dirty="0"/>
              <a:t>ROC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7" y="1757172"/>
            <a:ext cx="4829556" cy="22570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403" y="944880"/>
            <a:ext cx="3476244" cy="3162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4670" y="385953"/>
            <a:ext cx="2994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ROC</a:t>
            </a:r>
            <a:r>
              <a:rPr spc="-35" dirty="0"/>
              <a:t> </a:t>
            </a:r>
            <a:r>
              <a:rPr spc="-5" dirty="0"/>
              <a:t>curve</a:t>
            </a:r>
            <a:r>
              <a:rPr spc="-10" dirty="0"/>
              <a:t> </a:t>
            </a:r>
            <a:r>
              <a:rPr spc="-20" dirty="0"/>
              <a:t>extremes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11" y="1556003"/>
            <a:ext cx="4094988" cy="2113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1832" y="1123188"/>
            <a:ext cx="3476244" cy="3162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F59D-9FFD-8DFC-1163-7E3020FA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0B988-EF14-CE19-FB00-CF599772A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890" y="681826"/>
            <a:ext cx="5540220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33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4848</TotalTime>
  <Words>916</Words>
  <Application>Microsoft Office PowerPoint</Application>
  <PresentationFormat>On-screen Show (16:9)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</vt:lpstr>
      <vt:lpstr>Arial MT</vt:lpstr>
      <vt:lpstr>Calibri</vt:lpstr>
      <vt:lpstr>Comic Sans MS</vt:lpstr>
      <vt:lpstr>Roboto</vt:lpstr>
      <vt:lpstr>Tahoma</vt:lpstr>
      <vt:lpstr>Office Theme</vt:lpstr>
      <vt:lpstr>Receiver operating characteristic (ROC)</vt:lpstr>
      <vt:lpstr>Agenda</vt:lpstr>
      <vt:lpstr>ROC</vt:lpstr>
      <vt:lpstr>ROC analysis</vt:lpstr>
      <vt:lpstr>PowerPoint Presentation</vt:lpstr>
      <vt:lpstr>PowerPoint Presentation</vt:lpstr>
      <vt:lpstr>ROC analysis</vt:lpstr>
      <vt:lpstr>PowerPoint Presentation</vt:lpstr>
      <vt:lpstr>Area Under the ROC Curve (AUC)</vt:lpstr>
      <vt:lpstr>Area Under the ROC Curve (AUC)</vt:lpstr>
      <vt:lpstr>Area Under the ROC Curve (AUC)</vt:lpstr>
      <vt:lpstr>Selecting a Threshold using ROC</vt:lpstr>
      <vt:lpstr>ROC Plot</vt:lpstr>
      <vt:lpstr>Interpretation of Different Points in ROC Plot</vt:lpstr>
      <vt:lpstr>Interpretation of Different Points in ROC Plot</vt:lpstr>
      <vt:lpstr>Interpretation of Different Points in ROC Plot</vt:lpstr>
      <vt:lpstr>Tuning a Classifier through ROC Plot</vt:lpstr>
      <vt:lpstr>Comparing Classifiers trough ROC Plot</vt:lpstr>
      <vt:lpstr>ROC curve</vt:lpstr>
      <vt:lpstr>ROC curve comparison</vt:lpstr>
      <vt:lpstr>ROC curve extremes</vt:lpstr>
      <vt:lpstr>ROC curve extremes</vt:lpstr>
      <vt:lpstr>Typical ROC</vt:lpstr>
      <vt:lpstr>ROC curve extremes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IITR</dc:creator>
  <cp:lastModifiedBy>Kriti Ohri</cp:lastModifiedBy>
  <cp:revision>3</cp:revision>
  <dcterms:created xsi:type="dcterms:W3CDTF">2022-09-06T08:58:08Z</dcterms:created>
  <dcterms:modified xsi:type="dcterms:W3CDTF">2024-09-22T14:22:00Z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2022-09-06T00:00:00Z</vt:filetime>
  </property>
</Properties>
</file>