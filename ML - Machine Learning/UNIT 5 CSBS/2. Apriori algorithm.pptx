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7" r:id="rId10"/>
    <p:sldId id="269" r:id="rId11"/>
    <p:sldId id="270" r:id="rId12"/>
    <p:sldId id="332" r:id="rId13"/>
    <p:sldId id="334" r:id="rId14"/>
    <p:sldId id="271" r:id="rId15"/>
    <p:sldId id="329" r:id="rId16"/>
    <p:sldId id="282" r:id="rId17"/>
    <p:sldId id="330" r:id="rId18"/>
    <p:sldId id="272" r:id="rId19"/>
    <p:sldId id="273" r:id="rId20"/>
    <p:sldId id="336" r:id="rId21"/>
    <p:sldId id="337" r:id="rId22"/>
    <p:sldId id="315" r:id="rId23"/>
    <p:sldId id="340" r:id="rId24"/>
    <p:sldId id="338" r:id="rId25"/>
    <p:sldId id="339" r:id="rId26"/>
    <p:sldId id="316" r:id="rId27"/>
    <p:sldId id="317" r:id="rId28"/>
    <p:sldId id="318" r:id="rId29"/>
    <p:sldId id="319" r:id="rId30"/>
    <p:sldId id="320" r:id="rId31"/>
    <p:sldId id="321" r:id="rId32"/>
    <p:sldId id="322" r:id="rId33"/>
    <p:sldId id="323" r:id="rId34"/>
    <p:sldId id="324" r:id="rId35"/>
    <p:sldId id="328" r:id="rId36"/>
    <p:sldId id="33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67533-9918-4748-A4EB-93AB2A00B2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A83710-9C84-4A5A-8CD3-58B7624213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D56E1A8-6951-47A9-8937-BD17C7C79FA6}"/>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5" name="Footer Placeholder 4">
            <a:extLst>
              <a:ext uri="{FF2B5EF4-FFF2-40B4-BE49-F238E27FC236}">
                <a16:creationId xmlns:a16="http://schemas.microsoft.com/office/drawing/2014/main" id="{1AAC94F1-BBA9-427F-A37E-2F171A8386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4A2A38-B4FC-47F2-9D15-C7C292342031}"/>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7186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99A85-4CE5-4A25-A4B4-562BA8DA32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826554-35A1-4F77-8DB0-87A41F97B8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6C6F7C-D02D-484A-BEAA-E4F7DBF4D453}"/>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5" name="Footer Placeholder 4">
            <a:extLst>
              <a:ext uri="{FF2B5EF4-FFF2-40B4-BE49-F238E27FC236}">
                <a16:creationId xmlns:a16="http://schemas.microsoft.com/office/drawing/2014/main" id="{4BFE8C03-836D-4302-8552-98F98CCBA8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ECE495-5A37-4788-BF6C-B2F47662EAB7}"/>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575044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20E7-94C2-402B-99E6-0D9181C853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AE99879-3CFF-4E1E-A93C-EC6D2437E9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F9BAD4-17DA-4F57-AECA-1E35B882B00E}"/>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5" name="Footer Placeholder 4">
            <a:extLst>
              <a:ext uri="{FF2B5EF4-FFF2-40B4-BE49-F238E27FC236}">
                <a16:creationId xmlns:a16="http://schemas.microsoft.com/office/drawing/2014/main" id="{1C66209B-F935-40C6-A1C1-5C409423B4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7B7202-49D4-4147-BA2E-DFB70EC6FD40}"/>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327392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6279-82B6-4088-9523-D5A43F94CE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6CA4B6-3B1B-405D-90F6-782D17FB85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89BBBBD-9D5E-487A-8312-5D4A9BB9D7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C4C681-7D0C-4769-A95A-40D195020715}"/>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6" name="Footer Placeholder 5">
            <a:extLst>
              <a:ext uri="{FF2B5EF4-FFF2-40B4-BE49-F238E27FC236}">
                <a16:creationId xmlns:a16="http://schemas.microsoft.com/office/drawing/2014/main" id="{42EF81A7-06A8-4006-88E1-D385C6861E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E3C2C1-D33D-48D8-963B-F17C44DFB367}"/>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7818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4A6DD-7BF4-449F-AE25-172D022E066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0CA3B1-66C9-45F5-98DE-FBCE70EBF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F08259-B35C-416A-8EBE-48A74E96B0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1B88373-F4C6-49D7-855E-104F2CB9D9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C7D0A0-957F-4705-96EC-2B8B219F5D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5AB8D9D-A5A5-4395-ADE4-F1D1E15D5CEC}"/>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8" name="Footer Placeholder 7">
            <a:extLst>
              <a:ext uri="{FF2B5EF4-FFF2-40B4-BE49-F238E27FC236}">
                <a16:creationId xmlns:a16="http://schemas.microsoft.com/office/drawing/2014/main" id="{0CE50753-99F4-4907-8BF6-48B8E59323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A728DC8-7439-4B23-94A4-D50770724FC1}"/>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1465572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1E7FA-2FCD-49B7-8550-FD8678B8B0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16B610-6C9C-4F27-AD49-62605F3985F0}"/>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4" name="Footer Placeholder 3">
            <a:extLst>
              <a:ext uri="{FF2B5EF4-FFF2-40B4-BE49-F238E27FC236}">
                <a16:creationId xmlns:a16="http://schemas.microsoft.com/office/drawing/2014/main" id="{ABF2A9AE-C73F-4A88-9F12-6D7F79E4F7E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A5D59F-6E31-4A33-99A4-B28FF3C05D8D}"/>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1436515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6C034-2093-492B-A8BC-7A6C4B409CF3}"/>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3" name="Footer Placeholder 2">
            <a:extLst>
              <a:ext uri="{FF2B5EF4-FFF2-40B4-BE49-F238E27FC236}">
                <a16:creationId xmlns:a16="http://schemas.microsoft.com/office/drawing/2014/main" id="{55F6EDC4-B9BC-477D-9967-442611C391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95CAF29-1183-4B61-A380-51F6B35FB4AA}"/>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108518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5DCEB-6EDA-4117-A3DB-15AFA32701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69B74A3-3965-4B88-B34B-5CC7BFD785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4CBBB9-F97B-4689-A8A4-DD594B5B1A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629A49-408A-444F-8ADC-66F0999DC2C5}"/>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6" name="Footer Placeholder 5">
            <a:extLst>
              <a:ext uri="{FF2B5EF4-FFF2-40B4-BE49-F238E27FC236}">
                <a16:creationId xmlns:a16="http://schemas.microsoft.com/office/drawing/2014/main" id="{7ABD6773-D067-47EB-9FB1-4189A0198F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657974-AD43-4DF0-8D05-8F3A9F8A8198}"/>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3788942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FF4EA-6B81-44C5-88F7-F3854F90F9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EA4724C-2DAF-4F79-8D8A-30078638D6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E63E53-2541-4158-A3CE-ED56A6D1F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0E844-0E25-4FA8-BA1D-30E886B0F545}"/>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6" name="Footer Placeholder 5">
            <a:extLst>
              <a:ext uri="{FF2B5EF4-FFF2-40B4-BE49-F238E27FC236}">
                <a16:creationId xmlns:a16="http://schemas.microsoft.com/office/drawing/2014/main" id="{5363399E-0F8E-4BE5-9FD2-716C486BC0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7F6AEF-E2B5-4CDF-A942-CFBCD8A7F107}"/>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2329315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479F-D37A-4419-87C9-9E6F4A5F338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32AA2C-8BAB-4A7E-9553-1D5CA490D6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3D82DC-EFA0-4AAC-A3BD-956C4826EB62}"/>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5" name="Footer Placeholder 4">
            <a:extLst>
              <a:ext uri="{FF2B5EF4-FFF2-40B4-BE49-F238E27FC236}">
                <a16:creationId xmlns:a16="http://schemas.microsoft.com/office/drawing/2014/main" id="{0AB1C69E-5C4F-4BEF-AD4D-0D6F850A1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10FEB8-ED05-4A7F-ACE1-06F47F50B4A7}"/>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2941379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1DBC0A-62FB-4E30-8633-7621C560F4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0A3D90-5EC0-4C82-BE3F-AEDDAED272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E1B444-3985-4A26-B1D1-1F2A325DAA6C}"/>
              </a:ext>
            </a:extLst>
          </p:cNvPr>
          <p:cNvSpPr>
            <a:spLocks noGrp="1"/>
          </p:cNvSpPr>
          <p:nvPr>
            <p:ph type="dt" sz="half" idx="10"/>
          </p:nvPr>
        </p:nvSpPr>
        <p:spPr/>
        <p:txBody>
          <a:bodyPr/>
          <a:lstStyle/>
          <a:p>
            <a:fld id="{A1242BB3-05B1-4FE4-9F8C-24741C3DA0C8}" type="datetimeFigureOut">
              <a:rPr lang="en-IN" smtClean="0"/>
              <a:t>11-12-2023</a:t>
            </a:fld>
            <a:endParaRPr lang="en-IN"/>
          </a:p>
        </p:txBody>
      </p:sp>
      <p:sp>
        <p:nvSpPr>
          <p:cNvPr id="5" name="Footer Placeholder 4">
            <a:extLst>
              <a:ext uri="{FF2B5EF4-FFF2-40B4-BE49-F238E27FC236}">
                <a16:creationId xmlns:a16="http://schemas.microsoft.com/office/drawing/2014/main" id="{1B9F15C2-878B-43EE-91D3-6932991FA5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57702C-8B19-48FC-B122-C82DF3DD7394}"/>
              </a:ext>
            </a:extLst>
          </p:cNvPr>
          <p:cNvSpPr>
            <a:spLocks noGrp="1"/>
          </p:cNvSpPr>
          <p:nvPr>
            <p:ph type="sldNum" sz="quarter" idx="12"/>
          </p:nvPr>
        </p:nvSpPr>
        <p:spPr/>
        <p:txBody>
          <a:bodyPr/>
          <a:lstStyle/>
          <a:p>
            <a:fld id="{FC534855-20BE-4D87-B32F-2540D3355B26}" type="slidenum">
              <a:rPr lang="en-IN" smtClean="0"/>
              <a:t>‹#›</a:t>
            </a:fld>
            <a:endParaRPr lang="en-IN"/>
          </a:p>
        </p:txBody>
      </p:sp>
    </p:spTree>
    <p:extLst>
      <p:ext uri="{BB962C8B-B14F-4D97-AF65-F5344CB8AC3E}">
        <p14:creationId xmlns:p14="http://schemas.microsoft.com/office/powerpoint/2010/main" val="3763350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p>
        </p:txBody>
      </p:sp>
      <p:sp>
        <p:nvSpPr>
          <p:cNvPr id="3" name="Text Placeholder 2"/>
          <p:cNvSpPr>
            <a:spLocks noGrp="1"/>
          </p:cNvSpPr>
          <p:nvPr>
            <p:ph type="body" sz="half" idx="1"/>
          </p:nvPr>
        </p:nvSpPr>
        <p:spPr>
          <a:xfrm>
            <a:off x="548217"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5484" y="1143000"/>
            <a:ext cx="5444067" cy="5181600"/>
          </a:xfrm>
        </p:spPr>
        <p:txBody>
          <a:bodyPr/>
          <a:lstStyle/>
          <a:p>
            <a:pPr lvl="0"/>
            <a:endParaRPr lang="en-US" noProof="0"/>
          </a:p>
        </p:txBody>
      </p:sp>
    </p:spTree>
    <p:extLst>
      <p:ext uri="{BB962C8B-B14F-4D97-AF65-F5344CB8AC3E}">
        <p14:creationId xmlns:p14="http://schemas.microsoft.com/office/powerpoint/2010/main" val="1130463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938401-A995-4318-9A72-6477586CB2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E94E6B-C309-415F-84C6-FBBC90D064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500F8C-A525-45D4-8E7A-69FB84344D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242BB3-05B1-4FE4-9F8C-24741C3DA0C8}" type="datetimeFigureOut">
              <a:rPr lang="en-IN" smtClean="0"/>
              <a:t>11-12-2023</a:t>
            </a:fld>
            <a:endParaRPr lang="en-IN"/>
          </a:p>
        </p:txBody>
      </p:sp>
      <p:sp>
        <p:nvSpPr>
          <p:cNvPr id="5" name="Footer Placeholder 4">
            <a:extLst>
              <a:ext uri="{FF2B5EF4-FFF2-40B4-BE49-F238E27FC236}">
                <a16:creationId xmlns:a16="http://schemas.microsoft.com/office/drawing/2014/main" id="{C03966B8-7938-4A39-818F-2ECA217D39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A7C46EB-B026-462E-9DF1-B081627287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34855-20BE-4D87-B32F-2540D3355B26}" type="slidenum">
              <a:rPr lang="en-IN" smtClean="0"/>
              <a:t>‹#›</a:t>
            </a:fld>
            <a:endParaRPr lang="en-IN"/>
          </a:p>
        </p:txBody>
      </p:sp>
    </p:spTree>
    <p:extLst>
      <p:ext uri="{BB962C8B-B14F-4D97-AF65-F5344CB8AC3E}">
        <p14:creationId xmlns:p14="http://schemas.microsoft.com/office/powerpoint/2010/main" val="2835892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4.wmf"/><Relationship Id="rId4" Type="http://schemas.openxmlformats.org/officeDocument/2006/relationships/oleObject" Target="../embeddings/oleObject4.bin"/><Relationship Id="rId9" Type="http://schemas.openxmlformats.org/officeDocument/2006/relationships/image" Target="../media/image6.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8.bin"/><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9.bin"/><Relationship Id="rId1" Type="http://schemas.openxmlformats.org/officeDocument/2006/relationships/slideLayout" Target="../slideLayouts/slideLayout7.xml"/><Relationship Id="rId5" Type="http://schemas.openxmlformats.org/officeDocument/2006/relationships/image" Target="../media/image10.emf"/><Relationship Id="rId4"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4.wmf"/><Relationship Id="rId4" Type="http://schemas.openxmlformats.org/officeDocument/2006/relationships/oleObject" Target="../embeddings/oleObject4.bin"/><Relationship Id="rId9" Type="http://schemas.openxmlformats.org/officeDocument/2006/relationships/image" Target="../media/image6.emf"/></Relationships>
</file>

<file path=ppt/slides/_rels/slide1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1.bin"/><Relationship Id="rId1" Type="http://schemas.openxmlformats.org/officeDocument/2006/relationships/slideLayout" Target="../slideLayouts/slideLayout6.xml"/><Relationship Id="rId6" Type="http://schemas.openxmlformats.org/officeDocument/2006/relationships/image" Target="../media/image14.emf"/><Relationship Id="rId5" Type="http://schemas.openxmlformats.org/officeDocument/2006/relationships/image" Target="../media/image13.wmf"/><Relationship Id="rId4" Type="http://schemas.openxmlformats.org/officeDocument/2006/relationships/oleObject" Target="../embeddings/oleObject1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www.vldb.org/conf/1994/P487.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h_l3b2CIQ_o" TargetMode="External"/><Relationship Id="rId2" Type="http://schemas.openxmlformats.org/officeDocument/2006/relationships/hyperlink" Target="https://www.mygreatlearning.com/blog/apriori-algorithm-explained/" TargetMode="External"/><Relationship Id="rId1" Type="http://schemas.openxmlformats.org/officeDocument/2006/relationships/slideLayout" Target="../slideLayouts/slideLayout2.xml"/><Relationship Id="rId4" Type="http://schemas.openxmlformats.org/officeDocument/2006/relationships/hyperlink" Target="https://www.edureka.co/blog/apriori-algorithm/#apriori-algorith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br>
            <a:br>
              <a:rPr lang="en-US" dirty="0"/>
            </a:br>
            <a:r>
              <a:rPr lang="en-US" dirty="0" err="1">
                <a:solidFill>
                  <a:srgbClr val="C00000"/>
                </a:solidFill>
              </a:rPr>
              <a:t>Apriori</a:t>
            </a:r>
            <a:r>
              <a:rPr lang="en-US" dirty="0">
                <a:solidFill>
                  <a:srgbClr val="C00000"/>
                </a:solidFill>
              </a:rPr>
              <a:t> Algorithm for Association Rule Mining</a:t>
            </a:r>
          </a:p>
        </p:txBody>
      </p:sp>
    </p:spTree>
    <p:extLst>
      <p:ext uri="{BB962C8B-B14F-4D97-AF65-F5344CB8AC3E}">
        <p14:creationId xmlns:p14="http://schemas.microsoft.com/office/powerpoint/2010/main" val="2298387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dirty="0"/>
              <a:t>Association Rule Mining</a:t>
            </a:r>
          </a:p>
        </p:txBody>
      </p:sp>
      <p:sp>
        <p:nvSpPr>
          <p:cNvPr id="3075" name="Rectangle 3"/>
          <p:cNvSpPr>
            <a:spLocks noGrp="1" noChangeArrowheads="1"/>
          </p:cNvSpPr>
          <p:nvPr>
            <p:ph type="body" idx="1"/>
          </p:nvPr>
        </p:nvSpPr>
        <p:spPr>
          <a:xfrm>
            <a:off x="1936750" y="1371576"/>
            <a:ext cx="8318500" cy="1143000"/>
          </a:xfrm>
        </p:spPr>
        <p:txBody>
          <a:bodyPr/>
          <a:lstStyle/>
          <a:p>
            <a:pPr>
              <a:lnSpc>
                <a:spcPct val="90000"/>
              </a:lnSpc>
            </a:pPr>
            <a:r>
              <a:rPr lang="en-US" sz="2400" dirty="0"/>
              <a:t>Given a set of transactions, find rules that will predict the occurrence of an item based on the occurrences of other items in the transaction</a:t>
            </a:r>
          </a:p>
        </p:txBody>
      </p:sp>
      <p:sp>
        <p:nvSpPr>
          <p:cNvPr id="3076" name="Text Box 4"/>
          <p:cNvSpPr txBox="1">
            <a:spLocks noChangeArrowheads="1"/>
          </p:cNvSpPr>
          <p:nvPr/>
        </p:nvSpPr>
        <p:spPr bwMode="auto">
          <a:xfrm>
            <a:off x="1828800" y="2819401"/>
            <a:ext cx="419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a:solidFill>
                  <a:srgbClr val="0C6D9C"/>
                </a:solidFill>
              </a:rPr>
              <a:t>Market-Basket transactions</a:t>
            </a:r>
          </a:p>
        </p:txBody>
      </p:sp>
      <p:graphicFrame>
        <p:nvGraphicFramePr>
          <p:cNvPr id="3077" name="Object 5"/>
          <p:cNvGraphicFramePr>
            <a:graphicFrameLocks noChangeAspect="1"/>
          </p:cNvGraphicFramePr>
          <p:nvPr/>
        </p:nvGraphicFramePr>
        <p:xfrm>
          <a:off x="1752600" y="3429001"/>
          <a:ext cx="4343400" cy="2532063"/>
        </p:xfrm>
        <a:graphic>
          <a:graphicData uri="http://schemas.openxmlformats.org/presentationml/2006/ole">
            <mc:AlternateContent xmlns:mc="http://schemas.openxmlformats.org/markup-compatibility/2006">
              <mc:Choice xmlns:v="urn:schemas-microsoft-com:vml" Requires="v">
                <p:oleObj name="Document" r:id="rId2" imgW="3433292" imgH="1998228" progId="Word.Document.8">
                  <p:embed/>
                </p:oleObj>
              </mc:Choice>
              <mc:Fallback>
                <p:oleObj name="Document" r:id="rId2" imgW="3433292" imgH="1998228" progId="Word.Document.8">
                  <p:embed/>
                  <p:pic>
                    <p:nvPicPr>
                      <p:cNvPr id="307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429001"/>
                        <a:ext cx="4343400" cy="2532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8" name="Text Box 6"/>
          <p:cNvSpPr txBox="1">
            <a:spLocks noChangeArrowheads="1"/>
          </p:cNvSpPr>
          <p:nvPr/>
        </p:nvSpPr>
        <p:spPr bwMode="auto">
          <a:xfrm>
            <a:off x="6400800" y="3048001"/>
            <a:ext cx="381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a:t>Example of Association Rules</a:t>
            </a:r>
          </a:p>
        </p:txBody>
      </p:sp>
      <p:sp>
        <p:nvSpPr>
          <p:cNvPr id="3079" name="Text Box 7"/>
          <p:cNvSpPr txBox="1">
            <a:spLocks noChangeArrowheads="1"/>
          </p:cNvSpPr>
          <p:nvPr/>
        </p:nvSpPr>
        <p:spPr bwMode="auto">
          <a:xfrm>
            <a:off x="6858000" y="3657600"/>
            <a:ext cx="32766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1800" b="0"/>
              <a:t>{Diaper} </a:t>
            </a:r>
            <a:r>
              <a:rPr lang="en-US" sz="1800" b="0">
                <a:sym typeface="Symbol" pitchFamily="18" charset="2"/>
              </a:rPr>
              <a:t> {Beer},</a:t>
            </a:r>
            <a:br>
              <a:rPr lang="en-US" sz="1800" b="0">
                <a:sym typeface="Symbol" pitchFamily="18" charset="2"/>
              </a:rPr>
            </a:br>
            <a:r>
              <a:rPr lang="en-US" sz="1800" b="0">
                <a:sym typeface="Symbol" pitchFamily="18" charset="2"/>
              </a:rPr>
              <a:t>{Milk, Bread}  {Eggs,Coke},</a:t>
            </a:r>
            <a:br>
              <a:rPr lang="en-US" sz="1800" b="0">
                <a:sym typeface="Symbol" pitchFamily="18" charset="2"/>
              </a:rPr>
            </a:br>
            <a:r>
              <a:rPr lang="en-US" sz="1800" b="0">
                <a:sym typeface="Symbol" pitchFamily="18" charset="2"/>
              </a:rPr>
              <a:t>{Beer, Bread}  {Milk},</a:t>
            </a:r>
          </a:p>
        </p:txBody>
      </p:sp>
      <p:sp>
        <p:nvSpPr>
          <p:cNvPr id="3080" name="Text Box 8"/>
          <p:cNvSpPr txBox="1">
            <a:spLocks noChangeArrowheads="1"/>
          </p:cNvSpPr>
          <p:nvPr/>
        </p:nvSpPr>
        <p:spPr bwMode="auto">
          <a:xfrm>
            <a:off x="6400800" y="4953001"/>
            <a:ext cx="4038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b="0" dirty="0">
                <a:solidFill>
                  <a:schemeClr val="bg1"/>
                </a:solidFill>
              </a:rPr>
              <a:t>Implication means co-occurrence, not causality!</a:t>
            </a:r>
          </a:p>
        </p:txBody>
      </p:sp>
    </p:spTree>
    <p:extLst>
      <p:ext uri="{BB962C8B-B14F-4D97-AF65-F5344CB8AC3E}">
        <p14:creationId xmlns:p14="http://schemas.microsoft.com/office/powerpoint/2010/main" val="4101186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r>
              <a:rPr lang="en-US"/>
              <a:t>Definition: Frequent Itemset</a:t>
            </a:r>
          </a:p>
        </p:txBody>
      </p:sp>
      <p:sp>
        <p:nvSpPr>
          <p:cNvPr id="1231875" name="Rectangle 3"/>
          <p:cNvSpPr>
            <a:spLocks noGrp="1" noChangeArrowheads="1"/>
          </p:cNvSpPr>
          <p:nvPr>
            <p:ph type="body" sz="half" idx="1"/>
          </p:nvPr>
        </p:nvSpPr>
        <p:spPr>
          <a:xfrm>
            <a:off x="1828800" y="1066800"/>
            <a:ext cx="4876800" cy="5334000"/>
          </a:xfrm>
          <a:noFill/>
        </p:spPr>
        <p:txBody>
          <a:bodyPr/>
          <a:lstStyle/>
          <a:p>
            <a:pPr marL="342900" indent="-342900"/>
            <a:r>
              <a:rPr lang="en-US" sz="2000" b="1"/>
              <a:t>Itemset</a:t>
            </a:r>
          </a:p>
          <a:p>
            <a:pPr marL="742950" lvl="1" indent="-285750"/>
            <a:r>
              <a:rPr lang="en-US" sz="1800"/>
              <a:t>A collection of one or more items</a:t>
            </a:r>
          </a:p>
          <a:p>
            <a:pPr lvl="2"/>
            <a:r>
              <a:rPr lang="en-US" sz="1600"/>
              <a:t>Example: {Milk, Bread, Diaper}</a:t>
            </a:r>
          </a:p>
          <a:p>
            <a:pPr marL="742950" lvl="1" indent="-285750"/>
            <a:r>
              <a:rPr lang="en-US" sz="1800"/>
              <a:t>k-itemset</a:t>
            </a:r>
          </a:p>
          <a:p>
            <a:pPr lvl="2"/>
            <a:r>
              <a:rPr lang="en-US" sz="1600"/>
              <a:t>An itemset that contains k items</a:t>
            </a:r>
            <a:endParaRPr lang="en-US" sz="1600" b="1"/>
          </a:p>
          <a:p>
            <a:pPr marL="342900" indent="-342900"/>
            <a:r>
              <a:rPr lang="en-US" sz="2000" b="1"/>
              <a:t>Support count (</a:t>
            </a:r>
            <a:r>
              <a:rPr lang="en-US" sz="2000" b="1">
                <a:sym typeface="Symbol" pitchFamily="18" charset="2"/>
              </a:rPr>
              <a:t>)</a:t>
            </a:r>
          </a:p>
          <a:p>
            <a:pPr marL="742950" lvl="1" indent="-285750"/>
            <a:r>
              <a:rPr lang="en-US" sz="1800"/>
              <a:t>Frequency of occurrence of an itemset</a:t>
            </a:r>
          </a:p>
          <a:p>
            <a:pPr marL="742950" lvl="1" indent="-285750"/>
            <a:r>
              <a:rPr lang="en-US" sz="1800"/>
              <a:t>E.g.   </a:t>
            </a:r>
            <a:r>
              <a:rPr lang="en-US" sz="1800">
                <a:sym typeface="Symbol" pitchFamily="18" charset="2"/>
              </a:rPr>
              <a:t>({Milk, Bread,Diaper}) = 2 </a:t>
            </a:r>
            <a:endParaRPr lang="en-US" sz="1800"/>
          </a:p>
          <a:p>
            <a:pPr marL="342900" indent="-342900"/>
            <a:r>
              <a:rPr lang="en-US" sz="2000" b="1"/>
              <a:t>Support</a:t>
            </a:r>
          </a:p>
          <a:p>
            <a:pPr marL="742950" lvl="1" indent="-285750"/>
            <a:r>
              <a:rPr lang="en-US" sz="1800"/>
              <a:t>Fraction of transactions that contain an itemset</a:t>
            </a:r>
          </a:p>
          <a:p>
            <a:pPr marL="742950" lvl="1" indent="-285750"/>
            <a:r>
              <a:rPr lang="en-US" sz="1800"/>
              <a:t>E.g.   s({Milk, Bread, Diaper}) = 2/5</a:t>
            </a:r>
          </a:p>
          <a:p>
            <a:pPr marL="342900" indent="-342900"/>
            <a:r>
              <a:rPr lang="en-US" sz="2000" b="1"/>
              <a:t>Frequent Itemset</a:t>
            </a:r>
          </a:p>
          <a:p>
            <a:pPr marL="742950" lvl="1" indent="-285750"/>
            <a:r>
              <a:rPr lang="en-US" sz="1800"/>
              <a:t>An itemset whose support is greater than or equal to a </a:t>
            </a:r>
            <a:r>
              <a:rPr lang="en-US" sz="1800" i="1"/>
              <a:t>minsup</a:t>
            </a:r>
            <a:r>
              <a:rPr lang="en-US" sz="1800"/>
              <a:t> threshold</a:t>
            </a:r>
          </a:p>
        </p:txBody>
      </p:sp>
      <p:graphicFrame>
        <p:nvGraphicFramePr>
          <p:cNvPr id="4100" name="Object 45"/>
          <p:cNvGraphicFramePr>
            <a:graphicFrameLocks noGrp="1" noChangeAspect="1"/>
          </p:cNvGraphicFramePr>
          <p:nvPr>
            <p:ph type="clipArt" sz="half" idx="2"/>
          </p:nvPr>
        </p:nvGraphicFramePr>
        <p:xfrm>
          <a:off x="6940551" y="2089150"/>
          <a:ext cx="3622675" cy="2173288"/>
        </p:xfrm>
        <a:graphic>
          <a:graphicData uri="http://schemas.openxmlformats.org/presentationml/2006/ole">
            <mc:AlternateContent xmlns:mc="http://schemas.openxmlformats.org/markup-compatibility/2006">
              <mc:Choice xmlns:v="urn:schemas-microsoft-com:vml" Requires="v">
                <p:oleObj name="Document" r:id="rId2" imgW="3354070" imgH="2012830" progId="Word.Document.8">
                  <p:embed/>
                </p:oleObj>
              </mc:Choice>
              <mc:Fallback>
                <p:oleObj name="Document" r:id="rId2" imgW="3354070" imgH="2012830" progId="Word.Document.8">
                  <p:embed/>
                  <p:pic>
                    <p:nvPicPr>
                      <p:cNvPr id="4100" name="Object 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0551" y="2089150"/>
                        <a:ext cx="3622675" cy="2173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692428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18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18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18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3187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31875">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318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3187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31875">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3187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3187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31875">
                                            <p:txEl>
                                              <p:pRg st="10" end="1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31875">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3187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87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Definition: Association Rule</a:t>
            </a:r>
          </a:p>
        </p:txBody>
      </p:sp>
      <p:grpSp>
        <p:nvGrpSpPr>
          <p:cNvPr id="1210390" name="Group 22"/>
          <p:cNvGrpSpPr>
            <a:grpSpLocks/>
          </p:cNvGrpSpPr>
          <p:nvPr/>
        </p:nvGrpSpPr>
        <p:grpSpPr bwMode="auto">
          <a:xfrm>
            <a:off x="6308726" y="3657600"/>
            <a:ext cx="3978275" cy="2527300"/>
            <a:chOff x="3014" y="2304"/>
            <a:chExt cx="2506" cy="1592"/>
          </a:xfrm>
        </p:grpSpPr>
        <p:sp>
          <p:nvSpPr>
            <p:cNvPr id="5126" name="Text Box 11"/>
            <p:cNvSpPr txBox="1">
              <a:spLocks noChangeArrowheads="1"/>
            </p:cNvSpPr>
            <p:nvPr/>
          </p:nvSpPr>
          <p:spPr bwMode="auto">
            <a:xfrm>
              <a:off x="3264" y="2304"/>
              <a:ext cx="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r>
                <a:rPr lang="en-US" sz="2000" b="0">
                  <a:solidFill>
                    <a:srgbClr val="FF0000"/>
                  </a:solidFill>
                  <a:latin typeface="Times New Roman" pitchFamily="18" charset="0"/>
                </a:rPr>
                <a:t>Example:</a:t>
              </a:r>
              <a:endParaRPr lang="en-US" sz="2800" b="0">
                <a:solidFill>
                  <a:srgbClr val="FF0000"/>
                </a:solidFill>
                <a:latin typeface="Times New Roman" pitchFamily="18" charset="0"/>
              </a:endParaRPr>
            </a:p>
          </p:txBody>
        </p:sp>
        <p:graphicFrame>
          <p:nvGraphicFramePr>
            <p:cNvPr id="5127" name="Object 12"/>
            <p:cNvGraphicFramePr>
              <a:graphicFrameLocks noChangeAspect="1"/>
            </p:cNvGraphicFramePr>
            <p:nvPr/>
          </p:nvGraphicFramePr>
          <p:xfrm>
            <a:off x="3779" y="2545"/>
            <a:ext cx="1741" cy="239"/>
          </p:xfrm>
          <a:graphic>
            <a:graphicData uri="http://schemas.openxmlformats.org/presentationml/2006/ole">
              <mc:AlternateContent xmlns:mc="http://schemas.openxmlformats.org/markup-compatibility/2006">
                <mc:Choice xmlns:v="urn:schemas-microsoft-com:vml" Requires="v">
                  <p:oleObj name="Equation" r:id="rId2" imgW="1459866" imgH="203112" progId="Equation.3">
                    <p:embed/>
                  </p:oleObj>
                </mc:Choice>
                <mc:Fallback>
                  <p:oleObj name="Equation" r:id="rId2" imgW="1459866" imgH="203112" progId="Equation.3">
                    <p:embed/>
                    <p:pic>
                      <p:nvPicPr>
                        <p:cNvPr id="5127"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 y="2545"/>
                          <a:ext cx="1741"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8" name="Object 13"/>
            <p:cNvGraphicFramePr>
              <a:graphicFrameLocks noChangeAspect="1"/>
            </p:cNvGraphicFramePr>
            <p:nvPr/>
          </p:nvGraphicFramePr>
          <p:xfrm>
            <a:off x="3060" y="2928"/>
            <a:ext cx="2460" cy="445"/>
          </p:xfrm>
          <a:graphic>
            <a:graphicData uri="http://schemas.openxmlformats.org/presentationml/2006/ole">
              <mc:AlternateContent xmlns:mc="http://schemas.openxmlformats.org/markup-compatibility/2006">
                <mc:Choice xmlns:v="urn:schemas-microsoft-com:vml" Requires="v">
                  <p:oleObj name="Equation" r:id="rId4" imgW="4318000" imgH="787400" progId="Equation.3">
                    <p:embed/>
                  </p:oleObj>
                </mc:Choice>
                <mc:Fallback>
                  <p:oleObj name="Equation" r:id="rId4" imgW="4318000" imgH="787400" progId="Equation.3">
                    <p:embed/>
                    <p:pic>
                      <p:nvPicPr>
                        <p:cNvPr id="5128"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0" y="2928"/>
                          <a:ext cx="2460" cy="4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9" name="Object 14"/>
            <p:cNvGraphicFramePr>
              <a:graphicFrameLocks noChangeAspect="1"/>
            </p:cNvGraphicFramePr>
            <p:nvPr/>
          </p:nvGraphicFramePr>
          <p:xfrm>
            <a:off x="3014" y="3456"/>
            <a:ext cx="2475" cy="440"/>
          </p:xfrm>
          <a:graphic>
            <a:graphicData uri="http://schemas.openxmlformats.org/presentationml/2006/ole">
              <mc:AlternateContent xmlns:mc="http://schemas.openxmlformats.org/markup-compatibility/2006">
                <mc:Choice xmlns:v="urn:schemas-microsoft-com:vml" Requires="v">
                  <p:oleObj name="Equation" r:id="rId6" imgW="4470400" imgH="787400" progId="Equation.3">
                    <p:embed/>
                  </p:oleObj>
                </mc:Choice>
                <mc:Fallback>
                  <p:oleObj name="Equation" r:id="rId6" imgW="4470400" imgH="787400" progId="Equation.3">
                    <p:embed/>
                    <p:pic>
                      <p:nvPicPr>
                        <p:cNvPr id="5129"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4" y="3456"/>
                          <a:ext cx="2475" cy="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10387" name="Rectangle 19"/>
          <p:cNvSpPr>
            <a:spLocks noChangeArrowheads="1"/>
          </p:cNvSpPr>
          <p:nvPr/>
        </p:nvSpPr>
        <p:spPr bwMode="auto">
          <a:xfrm>
            <a:off x="1828800" y="1066800"/>
            <a:ext cx="4876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342900" indent="-342900">
              <a:spcBef>
                <a:spcPct val="10000"/>
              </a:spcBef>
              <a:spcAft>
                <a:spcPts val="400"/>
              </a:spcAft>
              <a:buClr>
                <a:srgbClr val="0C7B9C"/>
              </a:buClr>
              <a:buSzPct val="75000"/>
              <a:buFont typeface="Monotype Sorts" pitchFamily="2" charset="2"/>
              <a:buChar char="l"/>
            </a:pPr>
            <a:r>
              <a:rPr lang="en-US" sz="2000" dirty="0"/>
              <a:t>Association Rule</a:t>
            </a:r>
          </a:p>
          <a:p>
            <a:pPr marL="742950" lvl="1" indent="-285750">
              <a:spcBef>
                <a:spcPct val="10000"/>
              </a:spcBef>
              <a:spcAft>
                <a:spcPts val="400"/>
              </a:spcAft>
              <a:buClr>
                <a:srgbClr val="0C7B9C"/>
              </a:buClr>
              <a:buSzPct val="100000"/>
              <a:buFont typeface="Arial" pitchFamily="34" charset="0"/>
              <a:buChar char="–"/>
            </a:pPr>
            <a:r>
              <a:rPr lang="en-US" dirty="0"/>
              <a:t>An implication expression of the form X </a:t>
            </a:r>
            <a:r>
              <a:rPr lang="en-US" dirty="0">
                <a:sym typeface="Symbol" pitchFamily="18" charset="2"/>
              </a:rPr>
              <a:t> Y, where X and Y are </a:t>
            </a:r>
            <a:r>
              <a:rPr lang="en-US" dirty="0" err="1">
                <a:sym typeface="Symbol" pitchFamily="18" charset="2"/>
              </a:rPr>
              <a:t>itemsets</a:t>
            </a:r>
            <a:endParaRPr lang="en-US" dirty="0">
              <a:sym typeface="Symbol" pitchFamily="18" charset="2"/>
            </a:endParaRPr>
          </a:p>
          <a:p>
            <a:pPr marL="742950" lvl="1" indent="-285750">
              <a:spcBef>
                <a:spcPct val="10000"/>
              </a:spcBef>
              <a:spcAft>
                <a:spcPts val="400"/>
              </a:spcAft>
              <a:buClr>
                <a:srgbClr val="0C7B9C"/>
              </a:buClr>
              <a:buSzPct val="100000"/>
              <a:buFont typeface="Arial" pitchFamily="34" charset="0"/>
              <a:buChar char="–"/>
            </a:pPr>
            <a:r>
              <a:rPr lang="en-US" dirty="0"/>
              <a:t>Example:</a:t>
            </a:r>
            <a:br>
              <a:rPr lang="en-US" dirty="0"/>
            </a:br>
            <a:r>
              <a:rPr lang="en-US" dirty="0"/>
              <a:t>   {Milk, Diaper} </a:t>
            </a:r>
            <a:r>
              <a:rPr lang="en-US" dirty="0">
                <a:sym typeface="Symbol" pitchFamily="18" charset="2"/>
              </a:rPr>
              <a:t> {Beer}</a:t>
            </a:r>
            <a:r>
              <a:rPr lang="en-US" dirty="0"/>
              <a:t> </a:t>
            </a:r>
          </a:p>
          <a:p>
            <a:pPr marL="742950" lvl="1" indent="-285750">
              <a:spcBef>
                <a:spcPct val="10000"/>
              </a:spcBef>
              <a:spcAft>
                <a:spcPts val="400"/>
              </a:spcAft>
              <a:buClr>
                <a:srgbClr val="0C7B9C"/>
              </a:buClr>
              <a:buSzPct val="100000"/>
            </a:pPr>
            <a:endParaRPr lang="en-US" dirty="0"/>
          </a:p>
          <a:p>
            <a:pPr marL="342900" indent="-342900">
              <a:spcBef>
                <a:spcPct val="10000"/>
              </a:spcBef>
              <a:spcAft>
                <a:spcPts val="400"/>
              </a:spcAft>
              <a:buClr>
                <a:srgbClr val="0C7B9C"/>
              </a:buClr>
              <a:buSzPct val="75000"/>
              <a:buFont typeface="Monotype Sorts" pitchFamily="2" charset="2"/>
              <a:buChar char="l"/>
            </a:pPr>
            <a:r>
              <a:rPr lang="en-US" sz="2000" dirty="0"/>
              <a:t>Rule Evaluation Metrics</a:t>
            </a:r>
            <a:endParaRPr lang="en-US" sz="2000" dirty="0">
              <a:sym typeface="Symbol" pitchFamily="18" charset="2"/>
            </a:endParaRPr>
          </a:p>
          <a:p>
            <a:pPr marL="742950" lvl="1" indent="-285750">
              <a:spcBef>
                <a:spcPct val="10000"/>
              </a:spcBef>
              <a:spcAft>
                <a:spcPts val="400"/>
              </a:spcAft>
              <a:buClr>
                <a:srgbClr val="0C7B9C"/>
              </a:buClr>
              <a:buSzPct val="100000"/>
              <a:buFont typeface="Arial" pitchFamily="34" charset="0"/>
              <a:buChar char="–"/>
            </a:pPr>
            <a:r>
              <a:rPr lang="en-US" dirty="0"/>
              <a:t>Support (s)</a:t>
            </a:r>
          </a:p>
          <a:p>
            <a:pPr marL="1143000" lvl="2" indent="-228600">
              <a:spcBef>
                <a:spcPct val="10000"/>
              </a:spcBef>
              <a:spcAft>
                <a:spcPts val="400"/>
              </a:spcAft>
              <a:buClr>
                <a:srgbClr val="0C7B9C"/>
              </a:buClr>
              <a:buSzPct val="70000"/>
              <a:buFont typeface="Wingdings" pitchFamily="2" charset="2"/>
              <a:buChar char="u"/>
            </a:pPr>
            <a:r>
              <a:rPr lang="en-US" sz="1600" dirty="0"/>
              <a:t>Fraction of transactions that contain both X and Y</a:t>
            </a:r>
          </a:p>
          <a:p>
            <a:pPr marL="742950" lvl="1" indent="-285750">
              <a:spcBef>
                <a:spcPct val="10000"/>
              </a:spcBef>
              <a:spcAft>
                <a:spcPts val="400"/>
              </a:spcAft>
              <a:buClr>
                <a:srgbClr val="0C7B9C"/>
              </a:buClr>
              <a:buSzPct val="100000"/>
              <a:buFont typeface="Arial" pitchFamily="34" charset="0"/>
              <a:buChar char="–"/>
            </a:pPr>
            <a:r>
              <a:rPr lang="en-US" dirty="0"/>
              <a:t>Confidence (c)</a:t>
            </a:r>
          </a:p>
          <a:p>
            <a:pPr marL="1143000" lvl="2" indent="-228600">
              <a:spcBef>
                <a:spcPct val="10000"/>
              </a:spcBef>
              <a:spcAft>
                <a:spcPts val="400"/>
              </a:spcAft>
              <a:buClr>
                <a:srgbClr val="0C7B9C"/>
              </a:buClr>
              <a:buSzPct val="70000"/>
              <a:buFont typeface="Wingdings" pitchFamily="2" charset="2"/>
              <a:buChar char="u"/>
            </a:pPr>
            <a:r>
              <a:rPr lang="en-US" sz="1600" dirty="0"/>
              <a:t>Measures how often items in Y </a:t>
            </a:r>
            <a:br>
              <a:rPr lang="en-US" sz="1600" dirty="0"/>
            </a:br>
            <a:r>
              <a:rPr lang="en-US" sz="1600" dirty="0"/>
              <a:t>appear in transactions that</a:t>
            </a:r>
            <a:br>
              <a:rPr lang="en-US" sz="1600" dirty="0"/>
            </a:br>
            <a:r>
              <a:rPr lang="en-US" sz="1600" dirty="0"/>
              <a:t>contain X</a:t>
            </a:r>
          </a:p>
        </p:txBody>
      </p:sp>
      <p:graphicFrame>
        <p:nvGraphicFramePr>
          <p:cNvPr id="5125" name="Object 21"/>
          <p:cNvGraphicFramePr>
            <a:graphicFrameLocks noGrp="1" noChangeAspect="1"/>
          </p:cNvGraphicFramePr>
          <p:nvPr>
            <p:ph idx="1"/>
          </p:nvPr>
        </p:nvGraphicFramePr>
        <p:xfrm>
          <a:off x="6940551" y="1303338"/>
          <a:ext cx="3586163" cy="2152650"/>
        </p:xfrm>
        <a:graphic>
          <a:graphicData uri="http://schemas.openxmlformats.org/presentationml/2006/ole">
            <mc:AlternateContent xmlns:mc="http://schemas.openxmlformats.org/markup-compatibility/2006">
              <mc:Choice xmlns:v="urn:schemas-microsoft-com:vml" Requires="v">
                <p:oleObj name="Document" r:id="rId8" imgW="3354070" imgH="2012830" progId="Word.Document.8">
                  <p:embed/>
                </p:oleObj>
              </mc:Choice>
              <mc:Fallback>
                <p:oleObj name="Document" r:id="rId8" imgW="3354070" imgH="2012830" progId="Word.Document.8">
                  <p:embed/>
                  <p:pic>
                    <p:nvPicPr>
                      <p:cNvPr id="5125" name="Object 21"/>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40551" y="1303338"/>
                        <a:ext cx="3586163" cy="215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349604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03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103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03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038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1038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1038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1038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10387">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10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038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Association Rule Mining Task</a:t>
            </a:r>
          </a:p>
        </p:txBody>
      </p:sp>
      <p:sp>
        <p:nvSpPr>
          <p:cNvPr id="1236995" name="Rectangle 3"/>
          <p:cNvSpPr>
            <a:spLocks noGrp="1" noChangeArrowheads="1"/>
          </p:cNvSpPr>
          <p:nvPr>
            <p:ph type="body" idx="1"/>
          </p:nvPr>
        </p:nvSpPr>
        <p:spPr/>
        <p:txBody>
          <a:bodyPr>
            <a:normAutofit/>
          </a:bodyPr>
          <a:lstStyle/>
          <a:p>
            <a:r>
              <a:rPr lang="en-US" dirty="0"/>
              <a:t>Given a set of transactions T, the goal of association rule mining is to find all rules having </a:t>
            </a:r>
          </a:p>
          <a:p>
            <a:pPr lvl="1"/>
            <a:r>
              <a:rPr lang="en-US" dirty="0"/>
              <a:t>support </a:t>
            </a:r>
            <a:r>
              <a:rPr lang="en-US" dirty="0">
                <a:cs typeface="Arial" pitchFamily="34" charset="0"/>
              </a:rPr>
              <a:t>≥ </a:t>
            </a:r>
            <a:r>
              <a:rPr lang="en-US" i="1" dirty="0" err="1">
                <a:cs typeface="Arial" pitchFamily="34" charset="0"/>
              </a:rPr>
              <a:t>minsup</a:t>
            </a:r>
            <a:r>
              <a:rPr lang="en-US" i="1" dirty="0">
                <a:cs typeface="Arial" pitchFamily="34" charset="0"/>
              </a:rPr>
              <a:t> </a:t>
            </a:r>
            <a:r>
              <a:rPr lang="en-US" dirty="0">
                <a:cs typeface="Arial" pitchFamily="34" charset="0"/>
              </a:rPr>
              <a:t>threshold</a:t>
            </a:r>
          </a:p>
          <a:p>
            <a:pPr lvl="1"/>
            <a:r>
              <a:rPr lang="en-US" dirty="0">
                <a:cs typeface="Arial" pitchFamily="34" charset="0"/>
              </a:rPr>
              <a:t>confidence ≥ </a:t>
            </a:r>
            <a:r>
              <a:rPr lang="en-US" i="1" dirty="0" err="1">
                <a:cs typeface="Arial" pitchFamily="34" charset="0"/>
              </a:rPr>
              <a:t>minconf</a:t>
            </a:r>
            <a:r>
              <a:rPr lang="en-US" i="1" dirty="0">
                <a:cs typeface="Arial" pitchFamily="34" charset="0"/>
              </a:rPr>
              <a:t> </a:t>
            </a:r>
            <a:r>
              <a:rPr lang="en-US" dirty="0">
                <a:cs typeface="Arial" pitchFamily="34" charset="0"/>
              </a:rPr>
              <a:t>threshold</a:t>
            </a:r>
          </a:p>
          <a:p>
            <a:pPr lvl="1"/>
            <a:endParaRPr lang="en-US" dirty="0">
              <a:cs typeface="Arial" pitchFamily="34" charset="0"/>
            </a:endParaRPr>
          </a:p>
        </p:txBody>
      </p:sp>
    </p:spTree>
    <p:extLst>
      <p:ext uri="{BB962C8B-B14F-4D97-AF65-F5344CB8AC3E}">
        <p14:creationId xmlns:p14="http://schemas.microsoft.com/office/powerpoint/2010/main" val="20041312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69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69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6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699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Mining Association Rules</a:t>
            </a:r>
          </a:p>
        </p:txBody>
      </p:sp>
      <p:sp>
        <p:nvSpPr>
          <p:cNvPr id="7171" name="Text Box 4"/>
          <p:cNvSpPr txBox="1">
            <a:spLocks noChangeArrowheads="1"/>
          </p:cNvSpPr>
          <p:nvPr/>
        </p:nvSpPr>
        <p:spPr bwMode="auto">
          <a:xfrm>
            <a:off x="5791200" y="1219200"/>
            <a:ext cx="47244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r>
              <a:rPr lang="en-US" sz="2400" b="0">
                <a:solidFill>
                  <a:srgbClr val="CC3300"/>
                </a:solidFill>
                <a:sym typeface="Symbol" pitchFamily="18" charset="2"/>
              </a:rPr>
              <a:t>Example of Rules:</a:t>
            </a:r>
            <a:br>
              <a:rPr lang="en-US" sz="2400" b="0">
                <a:solidFill>
                  <a:srgbClr val="CC3300"/>
                </a:solidFill>
                <a:sym typeface="Symbol" pitchFamily="18" charset="2"/>
              </a:rPr>
            </a:br>
            <a:endParaRPr lang="en-US" sz="1000" b="0">
              <a:solidFill>
                <a:srgbClr val="CC3300"/>
              </a:solidFill>
              <a:sym typeface="Symbol" pitchFamily="18" charset="2"/>
            </a:endParaRPr>
          </a:p>
          <a:p>
            <a:r>
              <a:rPr lang="en-US" sz="2000" b="0"/>
              <a:t>{Milk,Diaper} </a:t>
            </a:r>
            <a:r>
              <a:rPr lang="en-US" sz="2000" b="0">
                <a:sym typeface="Symbol" pitchFamily="18" charset="2"/>
              </a:rPr>
              <a:t> {Beer} (s=0.4, c=0.67)</a:t>
            </a:r>
            <a:br>
              <a:rPr lang="en-US" sz="2000" b="0">
                <a:sym typeface="Symbol" pitchFamily="18" charset="2"/>
              </a:rPr>
            </a:br>
            <a:r>
              <a:rPr lang="en-US" sz="2000" b="0"/>
              <a:t>{Milk,Beer} </a:t>
            </a:r>
            <a:r>
              <a:rPr lang="en-US" sz="2000" b="0">
                <a:sym typeface="Symbol" pitchFamily="18" charset="2"/>
              </a:rPr>
              <a:t> {Diaper} (s=0.4, c=1.0)</a:t>
            </a:r>
          </a:p>
          <a:p>
            <a:r>
              <a:rPr lang="en-US" sz="2000" b="0"/>
              <a:t>{Diaper,Beer} </a:t>
            </a:r>
            <a:r>
              <a:rPr lang="en-US" sz="2000" b="0">
                <a:sym typeface="Symbol" pitchFamily="18" charset="2"/>
              </a:rPr>
              <a:t> {Milk} (s=0.4, c=0.67)</a:t>
            </a:r>
          </a:p>
          <a:p>
            <a:r>
              <a:rPr lang="en-US" sz="2000" b="0">
                <a:sym typeface="Symbol" pitchFamily="18" charset="2"/>
              </a:rPr>
              <a:t>{Beer}  {Milk,Diaper} (s=0.4, c=0.67) </a:t>
            </a:r>
            <a:br>
              <a:rPr lang="en-US" sz="2000" b="0">
                <a:sym typeface="Symbol" pitchFamily="18" charset="2"/>
              </a:rPr>
            </a:br>
            <a:r>
              <a:rPr lang="en-US" sz="2000" b="0">
                <a:sym typeface="Symbol" pitchFamily="18" charset="2"/>
              </a:rPr>
              <a:t>{Diaper}  {Milk,Beer} (s=0.4, c=0.5) </a:t>
            </a:r>
          </a:p>
          <a:p>
            <a:r>
              <a:rPr lang="en-US" sz="2000" b="0">
                <a:sym typeface="Symbol" pitchFamily="18" charset="2"/>
              </a:rPr>
              <a:t>{Milk}  {Diaper,Beer} (s=0.4, c=0.5)</a:t>
            </a:r>
          </a:p>
        </p:txBody>
      </p:sp>
      <p:graphicFrame>
        <p:nvGraphicFramePr>
          <p:cNvPr id="7172" name="Object 5"/>
          <p:cNvGraphicFramePr>
            <a:graphicFrameLocks noGrp="1" noChangeAspect="1"/>
          </p:cNvGraphicFramePr>
          <p:nvPr>
            <p:ph idx="1"/>
          </p:nvPr>
        </p:nvGraphicFramePr>
        <p:xfrm>
          <a:off x="1828800" y="1524000"/>
          <a:ext cx="3733800" cy="2241550"/>
        </p:xfrm>
        <a:graphic>
          <a:graphicData uri="http://schemas.openxmlformats.org/presentationml/2006/ole">
            <mc:AlternateContent xmlns:mc="http://schemas.openxmlformats.org/markup-compatibility/2006">
              <mc:Choice xmlns:v="urn:schemas-microsoft-com:vml" Requires="v">
                <p:oleObj name="Document" r:id="rId2" imgW="3359338" imgH="2015504" progId="Word.Document.8">
                  <p:embed/>
                </p:oleObj>
              </mc:Choice>
              <mc:Fallback>
                <p:oleObj name="Document" r:id="rId2" imgW="3359338" imgH="2015504" progId="Word.Document.8">
                  <p:embed/>
                  <p:pic>
                    <p:nvPicPr>
                      <p:cNvPr id="7172"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524000"/>
                        <a:ext cx="3733800" cy="224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11399" name="Text Box 7"/>
          <p:cNvSpPr txBox="1">
            <a:spLocks noChangeArrowheads="1"/>
          </p:cNvSpPr>
          <p:nvPr/>
        </p:nvSpPr>
        <p:spPr bwMode="auto">
          <a:xfrm>
            <a:off x="1905000" y="3886200"/>
            <a:ext cx="79248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r>
              <a:rPr lang="en-US" sz="2400" b="0">
                <a:solidFill>
                  <a:srgbClr val="CC3300"/>
                </a:solidFill>
                <a:sym typeface="Symbol" pitchFamily="18" charset="2"/>
              </a:rPr>
              <a:t>Observations:</a:t>
            </a:r>
          </a:p>
          <a:p>
            <a:pPr>
              <a:spcBef>
                <a:spcPct val="50000"/>
              </a:spcBef>
              <a:buFontTx/>
              <a:buChar char="•"/>
            </a:pPr>
            <a:r>
              <a:rPr lang="en-US" sz="2000" b="0">
                <a:sym typeface="Symbol" pitchFamily="18" charset="2"/>
              </a:rPr>
              <a:t> All the above rules are binary partitions of the same itemset: </a:t>
            </a:r>
            <a:br>
              <a:rPr lang="en-US" sz="2000" b="0">
                <a:sym typeface="Symbol" pitchFamily="18" charset="2"/>
              </a:rPr>
            </a:br>
            <a:r>
              <a:rPr lang="en-US" sz="2000" b="0">
                <a:sym typeface="Symbol" pitchFamily="18" charset="2"/>
              </a:rPr>
              <a:t>	{Milk, Diaper, Beer}</a:t>
            </a:r>
          </a:p>
          <a:p>
            <a:pPr>
              <a:spcBef>
                <a:spcPct val="50000"/>
              </a:spcBef>
              <a:buFontTx/>
              <a:buChar char="•"/>
            </a:pPr>
            <a:r>
              <a:rPr lang="en-US" sz="2000" b="0">
                <a:sym typeface="Symbol" pitchFamily="18" charset="2"/>
              </a:rPr>
              <a:t> Rules originating from the same itemset have identical support but</a:t>
            </a:r>
            <a:br>
              <a:rPr lang="en-US" sz="2000" b="0">
                <a:sym typeface="Symbol" pitchFamily="18" charset="2"/>
              </a:rPr>
            </a:br>
            <a:r>
              <a:rPr lang="en-US" sz="2000" b="0">
                <a:sym typeface="Symbol" pitchFamily="18" charset="2"/>
              </a:rPr>
              <a:t>  can have different confidence</a:t>
            </a:r>
          </a:p>
          <a:p>
            <a:pPr>
              <a:spcBef>
                <a:spcPct val="50000"/>
              </a:spcBef>
              <a:buFontTx/>
              <a:buChar char="•"/>
            </a:pPr>
            <a:r>
              <a:rPr lang="en-US" sz="2000" b="0">
                <a:sym typeface="Symbol" pitchFamily="18" charset="2"/>
              </a:rPr>
              <a:t> Thus, we may decouple the support and confidence requirements</a:t>
            </a:r>
          </a:p>
        </p:txBody>
      </p:sp>
    </p:spTree>
    <p:extLst>
      <p:ext uri="{BB962C8B-B14F-4D97-AF65-F5344CB8AC3E}">
        <p14:creationId xmlns:p14="http://schemas.microsoft.com/office/powerpoint/2010/main" val="31765488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13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139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Mining Association Rules</a:t>
            </a:r>
          </a:p>
        </p:txBody>
      </p:sp>
      <p:sp>
        <p:nvSpPr>
          <p:cNvPr id="8195" name="Rectangle 3"/>
          <p:cNvSpPr>
            <a:spLocks noGrp="1" noChangeArrowheads="1"/>
          </p:cNvSpPr>
          <p:nvPr>
            <p:ph type="body" idx="1"/>
          </p:nvPr>
        </p:nvSpPr>
        <p:spPr/>
        <p:txBody>
          <a:bodyPr>
            <a:normAutofit/>
          </a:bodyPr>
          <a:lstStyle/>
          <a:p>
            <a:pPr marL="533400" indent="-533400"/>
            <a:r>
              <a:rPr lang="en-US" dirty="0"/>
              <a:t>Two-step approach: </a:t>
            </a:r>
          </a:p>
          <a:p>
            <a:pPr marL="914400" lvl="1" indent="-457200">
              <a:buFont typeface="Arial" pitchFamily="34" charset="0"/>
              <a:buAutoNum type="arabicPeriod"/>
            </a:pPr>
            <a:r>
              <a:rPr lang="en-US" dirty="0">
                <a:solidFill>
                  <a:srgbClr val="FF0000"/>
                </a:solidFill>
              </a:rPr>
              <a:t>Frequent Itemset Generation</a:t>
            </a:r>
            <a:endParaRPr lang="en-US" dirty="0"/>
          </a:p>
          <a:p>
            <a:pPr marL="1295400" lvl="2" indent="-381000">
              <a:buFont typeface="Arial" pitchFamily="34" charset="0"/>
              <a:buChar char="–"/>
            </a:pPr>
            <a:r>
              <a:rPr lang="en-US" dirty="0"/>
              <a:t>Generate all </a:t>
            </a:r>
            <a:r>
              <a:rPr lang="en-US" dirty="0" err="1"/>
              <a:t>itemsets</a:t>
            </a:r>
            <a:r>
              <a:rPr lang="en-US" dirty="0"/>
              <a:t> whose support </a:t>
            </a:r>
            <a:r>
              <a:rPr lang="en-US" dirty="0">
                <a:sym typeface="Symbol" pitchFamily="18" charset="2"/>
              </a:rPr>
              <a:t> </a:t>
            </a:r>
            <a:r>
              <a:rPr lang="en-US" dirty="0" err="1"/>
              <a:t>minsup</a:t>
            </a:r>
            <a:r>
              <a:rPr lang="en-US" dirty="0"/>
              <a:t> (minimum support)</a:t>
            </a:r>
          </a:p>
          <a:p>
            <a:pPr marL="1295400" lvl="2" indent="-381000">
              <a:buNone/>
            </a:pPr>
            <a:endParaRPr lang="en-US" dirty="0"/>
          </a:p>
          <a:p>
            <a:pPr marL="914400" lvl="1" indent="-457200">
              <a:buFont typeface="Arial" pitchFamily="34" charset="0"/>
              <a:buAutoNum type="arabicPeriod"/>
            </a:pPr>
            <a:r>
              <a:rPr lang="en-US" dirty="0">
                <a:solidFill>
                  <a:srgbClr val="FF0000"/>
                </a:solidFill>
              </a:rPr>
              <a:t>Rule Generation</a:t>
            </a:r>
            <a:endParaRPr lang="en-US" dirty="0"/>
          </a:p>
          <a:p>
            <a:pPr marL="1295400" lvl="2" indent="-381000">
              <a:buFont typeface="Arial" pitchFamily="34" charset="0"/>
              <a:buChar char="–"/>
            </a:pPr>
            <a:r>
              <a:rPr lang="en-US" dirty="0"/>
              <a:t>Generate high confidence rules from each frequent itemset, where each rule is a binary partitioning of a frequent itemset</a:t>
            </a:r>
          </a:p>
          <a:p>
            <a:pPr marL="533400" indent="-533400"/>
            <a:endParaRPr lang="en-US" dirty="0"/>
          </a:p>
          <a:p>
            <a:pPr marL="533400" indent="-533400"/>
            <a:r>
              <a:rPr lang="en-US" dirty="0"/>
              <a:t>Frequent itemset generation is still computationally expensive</a:t>
            </a:r>
          </a:p>
          <a:p>
            <a:pPr marL="533400" indent="-533400">
              <a:buNone/>
            </a:pPr>
            <a:endParaRPr lang="en-US" dirty="0"/>
          </a:p>
        </p:txBody>
      </p:sp>
    </p:spTree>
    <p:extLst>
      <p:ext uri="{BB962C8B-B14F-4D97-AF65-F5344CB8AC3E}">
        <p14:creationId xmlns:p14="http://schemas.microsoft.com/office/powerpoint/2010/main" val="1873515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Frequent Itemset Generation</a:t>
            </a:r>
          </a:p>
        </p:txBody>
      </p:sp>
      <p:graphicFrame>
        <p:nvGraphicFramePr>
          <p:cNvPr id="9219" name="Object 3"/>
          <p:cNvGraphicFramePr>
            <a:graphicFrameLocks noChangeAspect="1"/>
          </p:cNvGraphicFramePr>
          <p:nvPr/>
        </p:nvGraphicFramePr>
        <p:xfrm>
          <a:off x="1828801" y="990601"/>
          <a:ext cx="7034213" cy="5313363"/>
        </p:xfrm>
        <a:graphic>
          <a:graphicData uri="http://schemas.openxmlformats.org/presentationml/2006/ole">
            <mc:AlternateContent xmlns:mc="http://schemas.openxmlformats.org/markup-compatibility/2006">
              <mc:Choice xmlns:v="urn:schemas-microsoft-com:vml" Requires="v">
                <p:oleObj name="VISIO" r:id="rId2" imgW="9811512" imgH="7395972" progId="">
                  <p:embed/>
                </p:oleObj>
              </mc:Choice>
              <mc:Fallback>
                <p:oleObj name="VISIO" r:id="rId2" imgW="9811512" imgH="7395972" progId="">
                  <p:embed/>
                  <p:pic>
                    <p:nvPicPr>
                      <p:cNvPr id="921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990601"/>
                        <a:ext cx="7034213" cy="531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Text Box 4"/>
          <p:cNvSpPr txBox="1">
            <a:spLocks noChangeArrowheads="1"/>
          </p:cNvSpPr>
          <p:nvPr/>
        </p:nvSpPr>
        <p:spPr bwMode="auto">
          <a:xfrm>
            <a:off x="7772400" y="5257801"/>
            <a:ext cx="2743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a:t>Given d items, there are 2</a:t>
            </a:r>
            <a:r>
              <a:rPr lang="en-US" sz="2000" baseline="30000"/>
              <a:t>d</a:t>
            </a:r>
            <a:r>
              <a:rPr lang="en-US" sz="2000"/>
              <a:t> possible candidate itemsets</a:t>
            </a:r>
            <a:endParaRPr lang="en-US" sz="2000">
              <a:sym typeface="Symbol" pitchFamily="18" charset="2"/>
            </a:endParaRPr>
          </a:p>
        </p:txBody>
      </p:sp>
    </p:spTree>
    <p:extLst>
      <p:ext uri="{BB962C8B-B14F-4D97-AF65-F5344CB8AC3E}">
        <p14:creationId xmlns:p14="http://schemas.microsoft.com/office/powerpoint/2010/main" val="3983679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905000" y="152400"/>
            <a:ext cx="8534400" cy="533400"/>
          </a:xfrm>
        </p:spPr>
        <p:txBody>
          <a:bodyPr>
            <a:normAutofit fontScale="90000"/>
          </a:bodyPr>
          <a:lstStyle/>
          <a:p>
            <a:r>
              <a:rPr lang="en-US"/>
              <a:t>Frequent Itemset Generation Strategies</a:t>
            </a:r>
          </a:p>
        </p:txBody>
      </p:sp>
      <p:sp>
        <p:nvSpPr>
          <p:cNvPr id="12291" name="Rectangle 3"/>
          <p:cNvSpPr>
            <a:spLocks noGrp="1" noChangeArrowheads="1"/>
          </p:cNvSpPr>
          <p:nvPr>
            <p:ph type="body" idx="1"/>
          </p:nvPr>
        </p:nvSpPr>
        <p:spPr>
          <a:xfrm>
            <a:off x="1935163" y="1066800"/>
            <a:ext cx="8318500" cy="5257800"/>
          </a:xfrm>
        </p:spPr>
        <p:txBody>
          <a:bodyPr>
            <a:normAutofit/>
          </a:bodyPr>
          <a:lstStyle/>
          <a:p>
            <a:pPr>
              <a:lnSpc>
                <a:spcPct val="90000"/>
              </a:lnSpc>
            </a:pPr>
            <a:r>
              <a:rPr lang="en-US" dirty="0"/>
              <a:t>Reduce the </a:t>
            </a:r>
            <a:r>
              <a:rPr lang="en-US" dirty="0">
                <a:solidFill>
                  <a:srgbClr val="FF0000"/>
                </a:solidFill>
              </a:rPr>
              <a:t>number of candidates</a:t>
            </a:r>
            <a:r>
              <a:rPr lang="en-US" dirty="0"/>
              <a:t> (M)</a:t>
            </a:r>
          </a:p>
          <a:p>
            <a:pPr lvl="1">
              <a:lnSpc>
                <a:spcPct val="90000"/>
              </a:lnSpc>
            </a:pPr>
            <a:r>
              <a:rPr lang="en-US" dirty="0"/>
              <a:t>Complete search: M=2</a:t>
            </a:r>
            <a:r>
              <a:rPr lang="en-US" baseline="30000" dirty="0"/>
              <a:t>d</a:t>
            </a:r>
          </a:p>
          <a:p>
            <a:pPr lvl="1">
              <a:lnSpc>
                <a:spcPct val="90000"/>
              </a:lnSpc>
            </a:pPr>
            <a:r>
              <a:rPr lang="en-US" dirty="0"/>
              <a:t>Use pruning techniques to reduce M</a:t>
            </a:r>
          </a:p>
          <a:p>
            <a:pPr lvl="4">
              <a:lnSpc>
                <a:spcPct val="90000"/>
              </a:lnSpc>
            </a:pPr>
            <a:endParaRPr lang="en-US" sz="1200" dirty="0">
              <a:latin typeface="Times New Roman" pitchFamily="18" charset="0"/>
            </a:endParaRPr>
          </a:p>
          <a:p>
            <a:pPr>
              <a:lnSpc>
                <a:spcPct val="90000"/>
              </a:lnSpc>
            </a:pPr>
            <a:r>
              <a:rPr lang="en-US" dirty="0">
                <a:solidFill>
                  <a:schemeClr val="bg1"/>
                </a:solidFill>
              </a:rPr>
              <a:t>Reduce the number of transactions (N)</a:t>
            </a:r>
          </a:p>
          <a:p>
            <a:pPr lvl="1">
              <a:lnSpc>
                <a:spcPct val="90000"/>
              </a:lnSpc>
            </a:pPr>
            <a:r>
              <a:rPr lang="en-US" dirty="0">
                <a:solidFill>
                  <a:schemeClr val="bg1"/>
                </a:solidFill>
              </a:rPr>
              <a:t>Reduce size of N as the size of itemset increases</a:t>
            </a:r>
          </a:p>
          <a:p>
            <a:pPr lvl="1">
              <a:lnSpc>
                <a:spcPct val="90000"/>
              </a:lnSpc>
            </a:pPr>
            <a:r>
              <a:rPr lang="en-US" dirty="0">
                <a:solidFill>
                  <a:schemeClr val="bg1"/>
                </a:solidFill>
              </a:rPr>
              <a:t>Used by DHP and vertical-based mining algorithms</a:t>
            </a:r>
          </a:p>
          <a:p>
            <a:pPr lvl="4">
              <a:lnSpc>
                <a:spcPct val="90000"/>
              </a:lnSpc>
            </a:pPr>
            <a:endParaRPr lang="en-US" sz="1000" dirty="0">
              <a:solidFill>
                <a:schemeClr val="bg1"/>
              </a:solidFill>
              <a:latin typeface="Times New Roman" pitchFamily="18" charset="0"/>
            </a:endParaRPr>
          </a:p>
          <a:p>
            <a:pPr>
              <a:lnSpc>
                <a:spcPct val="90000"/>
              </a:lnSpc>
            </a:pPr>
            <a:r>
              <a:rPr lang="en-US" dirty="0">
                <a:solidFill>
                  <a:schemeClr val="bg1"/>
                </a:solidFill>
              </a:rPr>
              <a:t>Reduce the number of comparisons (NM)</a:t>
            </a:r>
          </a:p>
          <a:p>
            <a:pPr lvl="1">
              <a:lnSpc>
                <a:spcPct val="90000"/>
              </a:lnSpc>
            </a:pPr>
            <a:r>
              <a:rPr lang="en-US" dirty="0">
                <a:solidFill>
                  <a:schemeClr val="bg1"/>
                </a:solidFill>
              </a:rPr>
              <a:t>Use efficient data structures to store the candidates or transactions</a:t>
            </a:r>
          </a:p>
          <a:p>
            <a:pPr lvl="1">
              <a:lnSpc>
                <a:spcPct val="90000"/>
              </a:lnSpc>
            </a:pPr>
            <a:r>
              <a:rPr lang="en-US" dirty="0">
                <a:solidFill>
                  <a:schemeClr val="bg1"/>
                </a:solidFill>
              </a:rPr>
              <a:t>No need to match every candidate against every transaction</a:t>
            </a:r>
          </a:p>
        </p:txBody>
      </p:sp>
    </p:spTree>
    <p:extLst>
      <p:ext uri="{BB962C8B-B14F-4D97-AF65-F5344CB8AC3E}">
        <p14:creationId xmlns:p14="http://schemas.microsoft.com/office/powerpoint/2010/main" val="1319720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p:cNvSpPr>
            <a:spLocks noGrp="1"/>
          </p:cNvSpPr>
          <p:nvPr>
            <p:ph type="sldNum" sz="quarter" idx="4294967295"/>
          </p:nvPr>
        </p:nvSpPr>
        <p:spPr bwMode="auto">
          <a:xfrm>
            <a:off x="8077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fld id="{5784DA9E-016D-4B2F-9629-80463BCD281D}" type="slidenum">
              <a:rPr lang="en-US"/>
              <a:pPr/>
              <a:t>10</a:t>
            </a:fld>
            <a:endParaRPr lang="en-US"/>
          </a:p>
        </p:txBody>
      </p:sp>
      <p:sp>
        <p:nvSpPr>
          <p:cNvPr id="14339" name="Rectangle 2"/>
          <p:cNvSpPr>
            <a:spLocks noGrp="1"/>
          </p:cNvSpPr>
          <p:nvPr>
            <p:ph type="title"/>
          </p:nvPr>
        </p:nvSpPr>
        <p:spPr>
          <a:xfrm>
            <a:off x="762000" y="406399"/>
            <a:ext cx="10515600" cy="1325563"/>
          </a:xfrm>
        </p:spPr>
        <p:txBody>
          <a:bodyPr vert="horz" lIns="0" tIns="45720" rIns="0" bIns="0" rtlCol="0" anchor="ctr">
            <a:normAutofit/>
          </a:bodyPr>
          <a:lstStyle/>
          <a:p>
            <a:r>
              <a:rPr lang="en-US" altLang="zh-CN" dirty="0" err="1">
                <a:ea typeface="隶书"/>
                <a:cs typeface="隶书"/>
              </a:rPr>
              <a:t>Apriori</a:t>
            </a:r>
            <a:r>
              <a:rPr lang="en-US" altLang="zh-CN" dirty="0">
                <a:ea typeface="隶书"/>
                <a:cs typeface="隶书"/>
              </a:rPr>
              <a:t> Principle</a:t>
            </a:r>
          </a:p>
        </p:txBody>
      </p:sp>
      <p:sp>
        <p:nvSpPr>
          <p:cNvPr id="40963" name="Rectangle 3"/>
          <p:cNvSpPr>
            <a:spLocks noGrp="1"/>
          </p:cNvSpPr>
          <p:nvPr>
            <p:ph type="body" idx="1"/>
          </p:nvPr>
        </p:nvSpPr>
        <p:spPr/>
        <p:txBody>
          <a:bodyPr/>
          <a:lstStyle/>
          <a:p>
            <a:pPr marL="273050" indent="-273050">
              <a:spcBef>
                <a:spcPct val="0"/>
              </a:spcBef>
            </a:pPr>
            <a:r>
              <a:rPr lang="en-US" altLang="zh-TW" sz="2000" dirty="0">
                <a:ea typeface="PMingLiU" pitchFamily="18" charset="-120"/>
              </a:rPr>
              <a:t>If an itemset is frequent, then all of its subsets must also be frequent</a:t>
            </a:r>
          </a:p>
          <a:p>
            <a:pPr marL="273050" indent="-273050">
              <a:spcBef>
                <a:spcPct val="0"/>
              </a:spcBef>
            </a:pPr>
            <a:r>
              <a:rPr lang="en-US" altLang="zh-TW" sz="2000" dirty="0">
                <a:ea typeface="PMingLiU" pitchFamily="18" charset="-120"/>
              </a:rPr>
              <a:t>If an itemset is infrequent, then all of its supersets must be infrequent too</a:t>
            </a:r>
            <a:endParaRPr lang="en-US" altLang="zh-CN" sz="2000" dirty="0">
              <a:ea typeface="SimSun" pitchFamily="2" charset="-122"/>
              <a:sym typeface="Wingdings" pitchFamily="2" charset="2"/>
            </a:endParaRPr>
          </a:p>
        </p:txBody>
      </p:sp>
    </p:spTree>
    <p:extLst>
      <p:ext uri="{BB962C8B-B14F-4D97-AF65-F5344CB8AC3E}">
        <p14:creationId xmlns:p14="http://schemas.microsoft.com/office/powerpoint/2010/main" val="4880747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fade">
                                      <p:cBhvr>
                                        <p:cTn id="7" dur="1000"/>
                                        <p:tgtEl>
                                          <p:spTgt spid="409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0963">
                                            <p:txEl>
                                              <p:pRg st="1" end="1"/>
                                            </p:txEl>
                                          </p:spTgt>
                                        </p:tgtEl>
                                        <p:attrNameLst>
                                          <p:attrName>style.visibility</p:attrName>
                                        </p:attrNameLst>
                                      </p:cBhvr>
                                      <p:to>
                                        <p:strVal val="visible"/>
                                      </p:to>
                                    </p:set>
                                    <p:animEffect transition="in" filter="fade">
                                      <p:cBhvr>
                                        <p:cTn id="12" dur="1000"/>
                                        <p:tgtEl>
                                          <p:spTgt spid="409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
          <p:cNvGrpSpPr>
            <a:grpSpLocks/>
          </p:cNvGrpSpPr>
          <p:nvPr/>
        </p:nvGrpSpPr>
        <p:grpSpPr bwMode="auto">
          <a:xfrm>
            <a:off x="1752601" y="1089026"/>
            <a:ext cx="8831263" cy="5235575"/>
            <a:chOff x="144" y="686"/>
            <a:chExt cx="5563" cy="3298"/>
          </a:xfrm>
        </p:grpSpPr>
        <p:sp>
          <p:nvSpPr>
            <p:cNvPr id="15367" name="Line 3"/>
            <p:cNvSpPr>
              <a:spLocks noChangeShapeType="1"/>
            </p:cNvSpPr>
            <p:nvPr/>
          </p:nvSpPr>
          <p:spPr bwMode="auto">
            <a:xfrm flipV="1">
              <a:off x="864" y="1920"/>
              <a:ext cx="576"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8" name="Text Box 4"/>
            <p:cNvSpPr txBox="1">
              <a:spLocks noChangeArrowheads="1"/>
            </p:cNvSpPr>
            <p:nvPr/>
          </p:nvSpPr>
          <p:spPr bwMode="auto">
            <a:xfrm>
              <a:off x="144" y="2112"/>
              <a:ext cx="100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b="0" dirty="0">
                  <a:solidFill>
                    <a:srgbClr val="0C6D9C"/>
                  </a:solidFill>
                </a:rPr>
                <a:t>Found to be Infrequent</a:t>
              </a:r>
              <a:endParaRPr lang="en-US" sz="2000" b="0" dirty="0">
                <a:solidFill>
                  <a:srgbClr val="0C6D9C"/>
                </a:solidFill>
                <a:sym typeface="Symbol" pitchFamily="18" charset="2"/>
              </a:endParaRPr>
            </a:p>
          </p:txBody>
        </p:sp>
        <p:graphicFrame>
          <p:nvGraphicFramePr>
            <p:cNvPr id="15369" name="Object 5"/>
            <p:cNvGraphicFramePr>
              <a:graphicFrameLocks noChangeAspect="1"/>
            </p:cNvGraphicFramePr>
            <p:nvPr/>
          </p:nvGraphicFramePr>
          <p:xfrm>
            <a:off x="1392" y="686"/>
            <a:ext cx="4315" cy="3298"/>
          </p:xfrm>
          <a:graphic>
            <a:graphicData uri="http://schemas.openxmlformats.org/presentationml/2006/ole">
              <mc:AlternateContent xmlns:mc="http://schemas.openxmlformats.org/markup-compatibility/2006">
                <mc:Choice xmlns:v="urn:schemas-microsoft-com:vml" Requires="v">
                  <p:oleObj name="Visio" r:id="rId2" imgW="9866478" imgH="7377618" progId="">
                    <p:embed/>
                  </p:oleObj>
                </mc:Choice>
                <mc:Fallback>
                  <p:oleObj name="Visio" r:id="rId2" imgW="9866478" imgH="7377618" progId="">
                    <p:embed/>
                    <p:pic>
                      <p:nvPicPr>
                        <p:cNvPr id="1536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2" y="686"/>
                          <a:ext cx="4315" cy="3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363" name="Rectangle 6"/>
          <p:cNvSpPr>
            <a:spLocks noGrp="1" noChangeArrowheads="1"/>
          </p:cNvSpPr>
          <p:nvPr>
            <p:ph type="title" idx="4294967295"/>
          </p:nvPr>
        </p:nvSpPr>
        <p:spPr/>
        <p:txBody>
          <a:bodyPr/>
          <a:lstStyle/>
          <a:p>
            <a:r>
              <a:rPr lang="en-US" sz="2800" dirty="0"/>
              <a:t>Illustrating </a:t>
            </a:r>
            <a:r>
              <a:rPr lang="en-US" sz="2800" dirty="0" err="1"/>
              <a:t>Apriori</a:t>
            </a:r>
            <a:r>
              <a:rPr lang="en-US" sz="2800" dirty="0"/>
              <a:t> Principle</a:t>
            </a:r>
          </a:p>
        </p:txBody>
      </p:sp>
      <p:grpSp>
        <p:nvGrpSpPr>
          <p:cNvPr id="1239047" name="Group 7"/>
          <p:cNvGrpSpPr>
            <a:grpSpLocks/>
          </p:cNvGrpSpPr>
          <p:nvPr/>
        </p:nvGrpSpPr>
        <p:grpSpPr bwMode="auto">
          <a:xfrm>
            <a:off x="3709448" y="1069224"/>
            <a:ext cx="6850063" cy="5235575"/>
            <a:chOff x="1392" y="686"/>
            <a:chExt cx="4315" cy="3298"/>
          </a:xfrm>
        </p:grpSpPr>
        <p:graphicFrame>
          <p:nvGraphicFramePr>
            <p:cNvPr id="15365" name="Object 8"/>
            <p:cNvGraphicFramePr>
              <a:graphicFrameLocks noChangeAspect="1"/>
            </p:cNvGraphicFramePr>
            <p:nvPr/>
          </p:nvGraphicFramePr>
          <p:xfrm>
            <a:off x="1392" y="686"/>
            <a:ext cx="4315" cy="3298"/>
          </p:xfrm>
          <a:graphic>
            <a:graphicData uri="http://schemas.openxmlformats.org/presentationml/2006/ole">
              <mc:AlternateContent xmlns:mc="http://schemas.openxmlformats.org/markup-compatibility/2006">
                <mc:Choice xmlns:v="urn:schemas-microsoft-com:vml" Requires="v">
                  <p:oleObj name="Visio" r:id="rId4" imgW="9866478" imgH="7377618" progId="">
                    <p:embed/>
                  </p:oleObj>
                </mc:Choice>
                <mc:Fallback>
                  <p:oleObj name="Visio" r:id="rId4" imgW="9866478" imgH="7377618" progId="">
                    <p:embed/>
                    <p:pic>
                      <p:nvPicPr>
                        <p:cNvPr id="15365"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2" y="686"/>
                          <a:ext cx="4315" cy="3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6" name="Text Box 9"/>
            <p:cNvSpPr txBox="1">
              <a:spLocks noChangeArrowheads="1"/>
            </p:cNvSpPr>
            <p:nvPr/>
          </p:nvSpPr>
          <p:spPr bwMode="auto">
            <a:xfrm>
              <a:off x="1488" y="3494"/>
              <a:ext cx="91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b="0">
                  <a:solidFill>
                    <a:srgbClr val="FF0000"/>
                  </a:solidFill>
                </a:rPr>
                <a:t>Pruned supersets</a:t>
              </a:r>
              <a:endParaRPr lang="en-US" sz="2000" b="0">
                <a:solidFill>
                  <a:srgbClr val="FF0000"/>
                </a:solidFill>
                <a:sym typeface="Symbol" pitchFamily="18" charset="2"/>
              </a:endParaRPr>
            </a:p>
          </p:txBody>
        </p:sp>
      </p:grpSp>
      <p:sp>
        <p:nvSpPr>
          <p:cNvPr id="3" name="TextBox 2">
            <a:extLst>
              <a:ext uri="{FF2B5EF4-FFF2-40B4-BE49-F238E27FC236}">
                <a16:creationId xmlns:a16="http://schemas.microsoft.com/office/drawing/2014/main" id="{0CBA804D-815D-EA47-DA85-3D2B5ACDCD5C}"/>
              </a:ext>
            </a:extLst>
          </p:cNvPr>
          <p:cNvSpPr txBox="1"/>
          <p:nvPr/>
        </p:nvSpPr>
        <p:spPr>
          <a:xfrm>
            <a:off x="287519" y="4738549"/>
            <a:ext cx="3243605" cy="1754326"/>
          </a:xfrm>
          <a:prstGeom prst="rect">
            <a:avLst/>
          </a:prstGeom>
          <a:noFill/>
        </p:spPr>
        <p:txBody>
          <a:bodyPr wrap="square">
            <a:spAutoFit/>
          </a:bodyPr>
          <a:lstStyle/>
          <a:p>
            <a:pPr marL="273050" indent="-273050">
              <a:spcBef>
                <a:spcPct val="0"/>
              </a:spcBef>
            </a:pPr>
            <a:r>
              <a:rPr lang="en-US" altLang="zh-TW" sz="1800" dirty="0">
                <a:ea typeface="PMingLiU" pitchFamily="18" charset="-120"/>
              </a:rPr>
              <a:t>If an itemset is frequent, then all of its subsets must also be frequent</a:t>
            </a:r>
          </a:p>
          <a:p>
            <a:pPr marL="273050" indent="-273050">
              <a:spcBef>
                <a:spcPct val="0"/>
              </a:spcBef>
            </a:pPr>
            <a:r>
              <a:rPr lang="en-US" altLang="zh-TW" sz="1800" dirty="0">
                <a:ea typeface="PMingLiU" pitchFamily="18" charset="-120"/>
              </a:rPr>
              <a:t>If an itemset is infrequent, then all of its supersets must be infrequent too</a:t>
            </a:r>
            <a:endParaRPr lang="en-US" altLang="zh-CN" sz="1800" dirty="0">
              <a:ea typeface="SimSun" pitchFamily="2" charset="-122"/>
              <a:sym typeface="Wingdings" pitchFamily="2" charset="2"/>
            </a:endParaRPr>
          </a:p>
        </p:txBody>
      </p:sp>
    </p:spTree>
    <p:extLst>
      <p:ext uri="{BB962C8B-B14F-4D97-AF65-F5344CB8AC3E}">
        <p14:creationId xmlns:p14="http://schemas.microsoft.com/office/powerpoint/2010/main" val="11699648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390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B8C60-76A7-F437-B264-176F504B063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39FB8B2-4881-0F15-22C6-388986670AAE}"/>
              </a:ext>
            </a:extLst>
          </p:cNvPr>
          <p:cNvPicPr>
            <a:picLocks noGrp="1" noChangeAspect="1"/>
          </p:cNvPicPr>
          <p:nvPr>
            <p:ph idx="1"/>
          </p:nvPr>
        </p:nvPicPr>
        <p:blipFill>
          <a:blip r:embed="rId2"/>
          <a:stretch>
            <a:fillRect/>
          </a:stretch>
        </p:blipFill>
        <p:spPr>
          <a:xfrm>
            <a:off x="1562100" y="1763532"/>
            <a:ext cx="8941994" cy="4413431"/>
          </a:xfrm>
        </p:spPr>
      </p:pic>
    </p:spTree>
    <p:extLst>
      <p:ext uri="{BB962C8B-B14F-4D97-AF65-F5344CB8AC3E}">
        <p14:creationId xmlns:p14="http://schemas.microsoft.com/office/powerpoint/2010/main" val="3593035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Definition: Association Rule</a:t>
            </a:r>
          </a:p>
        </p:txBody>
      </p:sp>
      <p:grpSp>
        <p:nvGrpSpPr>
          <p:cNvPr id="1210390" name="Group 22"/>
          <p:cNvGrpSpPr>
            <a:grpSpLocks/>
          </p:cNvGrpSpPr>
          <p:nvPr/>
        </p:nvGrpSpPr>
        <p:grpSpPr bwMode="auto">
          <a:xfrm>
            <a:off x="6308726" y="3657600"/>
            <a:ext cx="3978275" cy="2527300"/>
            <a:chOff x="3014" y="2304"/>
            <a:chExt cx="2506" cy="1592"/>
          </a:xfrm>
        </p:grpSpPr>
        <p:sp>
          <p:nvSpPr>
            <p:cNvPr id="5126" name="Text Box 11"/>
            <p:cNvSpPr txBox="1">
              <a:spLocks noChangeArrowheads="1"/>
            </p:cNvSpPr>
            <p:nvPr/>
          </p:nvSpPr>
          <p:spPr bwMode="auto">
            <a:xfrm>
              <a:off x="3264" y="2304"/>
              <a:ext cx="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r>
                <a:rPr lang="en-US" sz="2000" b="0">
                  <a:solidFill>
                    <a:srgbClr val="FF0000"/>
                  </a:solidFill>
                  <a:latin typeface="Times New Roman" pitchFamily="18" charset="0"/>
                </a:rPr>
                <a:t>Example:</a:t>
              </a:r>
              <a:endParaRPr lang="en-US" sz="2800" b="0">
                <a:solidFill>
                  <a:srgbClr val="FF0000"/>
                </a:solidFill>
                <a:latin typeface="Times New Roman" pitchFamily="18" charset="0"/>
              </a:endParaRPr>
            </a:p>
          </p:txBody>
        </p:sp>
        <p:graphicFrame>
          <p:nvGraphicFramePr>
            <p:cNvPr id="5127" name="Object 12"/>
            <p:cNvGraphicFramePr>
              <a:graphicFrameLocks noChangeAspect="1"/>
            </p:cNvGraphicFramePr>
            <p:nvPr/>
          </p:nvGraphicFramePr>
          <p:xfrm>
            <a:off x="3779" y="2545"/>
            <a:ext cx="1741" cy="239"/>
          </p:xfrm>
          <a:graphic>
            <a:graphicData uri="http://schemas.openxmlformats.org/presentationml/2006/ole">
              <mc:AlternateContent xmlns:mc="http://schemas.openxmlformats.org/markup-compatibility/2006">
                <mc:Choice xmlns:v="urn:schemas-microsoft-com:vml" Requires="v">
                  <p:oleObj name="Equation" r:id="rId2" imgW="1459866" imgH="203112" progId="Equation.3">
                    <p:embed/>
                  </p:oleObj>
                </mc:Choice>
                <mc:Fallback>
                  <p:oleObj name="Equation" r:id="rId2" imgW="1459866" imgH="203112" progId="Equation.3">
                    <p:embed/>
                    <p:pic>
                      <p:nvPicPr>
                        <p:cNvPr id="5127"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 y="2545"/>
                          <a:ext cx="1741"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8" name="Object 13"/>
            <p:cNvGraphicFramePr>
              <a:graphicFrameLocks noChangeAspect="1"/>
            </p:cNvGraphicFramePr>
            <p:nvPr/>
          </p:nvGraphicFramePr>
          <p:xfrm>
            <a:off x="3060" y="2928"/>
            <a:ext cx="2460" cy="445"/>
          </p:xfrm>
          <a:graphic>
            <a:graphicData uri="http://schemas.openxmlformats.org/presentationml/2006/ole">
              <mc:AlternateContent xmlns:mc="http://schemas.openxmlformats.org/markup-compatibility/2006">
                <mc:Choice xmlns:v="urn:schemas-microsoft-com:vml" Requires="v">
                  <p:oleObj name="Equation" r:id="rId4" imgW="4318000" imgH="787400" progId="Equation.3">
                    <p:embed/>
                  </p:oleObj>
                </mc:Choice>
                <mc:Fallback>
                  <p:oleObj name="Equation" r:id="rId4" imgW="4318000" imgH="787400" progId="Equation.3">
                    <p:embed/>
                    <p:pic>
                      <p:nvPicPr>
                        <p:cNvPr id="5128"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0" y="2928"/>
                          <a:ext cx="2460" cy="4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9" name="Object 14"/>
            <p:cNvGraphicFramePr>
              <a:graphicFrameLocks noChangeAspect="1"/>
            </p:cNvGraphicFramePr>
            <p:nvPr/>
          </p:nvGraphicFramePr>
          <p:xfrm>
            <a:off x="3014" y="3456"/>
            <a:ext cx="2475" cy="440"/>
          </p:xfrm>
          <a:graphic>
            <a:graphicData uri="http://schemas.openxmlformats.org/presentationml/2006/ole">
              <mc:AlternateContent xmlns:mc="http://schemas.openxmlformats.org/markup-compatibility/2006">
                <mc:Choice xmlns:v="urn:schemas-microsoft-com:vml" Requires="v">
                  <p:oleObj name="Equation" r:id="rId6" imgW="4470400" imgH="787400" progId="Equation.3">
                    <p:embed/>
                  </p:oleObj>
                </mc:Choice>
                <mc:Fallback>
                  <p:oleObj name="Equation" r:id="rId6" imgW="4470400" imgH="787400" progId="Equation.3">
                    <p:embed/>
                    <p:pic>
                      <p:nvPicPr>
                        <p:cNvPr id="5129"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4" y="3456"/>
                          <a:ext cx="2475" cy="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10387" name="Rectangle 19"/>
          <p:cNvSpPr>
            <a:spLocks noChangeArrowheads="1"/>
          </p:cNvSpPr>
          <p:nvPr/>
        </p:nvSpPr>
        <p:spPr bwMode="auto">
          <a:xfrm>
            <a:off x="1828800" y="1066800"/>
            <a:ext cx="4876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342900" indent="-342900">
              <a:spcBef>
                <a:spcPct val="10000"/>
              </a:spcBef>
              <a:spcAft>
                <a:spcPts val="400"/>
              </a:spcAft>
              <a:buClr>
                <a:srgbClr val="0C7B9C"/>
              </a:buClr>
              <a:buSzPct val="75000"/>
              <a:buFont typeface="Monotype Sorts" pitchFamily="2" charset="2"/>
              <a:buChar char="l"/>
            </a:pPr>
            <a:r>
              <a:rPr lang="en-US" sz="2000" dirty="0"/>
              <a:t>Association Rule</a:t>
            </a:r>
          </a:p>
          <a:p>
            <a:pPr marL="742950" lvl="1" indent="-285750">
              <a:spcBef>
                <a:spcPct val="10000"/>
              </a:spcBef>
              <a:spcAft>
                <a:spcPts val="400"/>
              </a:spcAft>
              <a:buClr>
                <a:srgbClr val="0C7B9C"/>
              </a:buClr>
              <a:buSzPct val="100000"/>
              <a:buFont typeface="Arial" pitchFamily="34" charset="0"/>
              <a:buChar char="–"/>
            </a:pPr>
            <a:r>
              <a:rPr lang="en-US" dirty="0"/>
              <a:t>An implication expression of the form X </a:t>
            </a:r>
            <a:r>
              <a:rPr lang="en-US" dirty="0">
                <a:sym typeface="Symbol" pitchFamily="18" charset="2"/>
              </a:rPr>
              <a:t> Y, where X and Y are </a:t>
            </a:r>
            <a:r>
              <a:rPr lang="en-US" dirty="0" err="1">
                <a:sym typeface="Symbol" pitchFamily="18" charset="2"/>
              </a:rPr>
              <a:t>itemsets</a:t>
            </a:r>
            <a:endParaRPr lang="en-US" dirty="0">
              <a:sym typeface="Symbol" pitchFamily="18" charset="2"/>
            </a:endParaRPr>
          </a:p>
          <a:p>
            <a:pPr marL="742950" lvl="1" indent="-285750">
              <a:spcBef>
                <a:spcPct val="10000"/>
              </a:spcBef>
              <a:spcAft>
                <a:spcPts val="400"/>
              </a:spcAft>
              <a:buClr>
                <a:srgbClr val="0C7B9C"/>
              </a:buClr>
              <a:buSzPct val="100000"/>
              <a:buFont typeface="Arial" pitchFamily="34" charset="0"/>
              <a:buChar char="–"/>
            </a:pPr>
            <a:r>
              <a:rPr lang="en-US" dirty="0"/>
              <a:t>Example:</a:t>
            </a:r>
            <a:br>
              <a:rPr lang="en-US" dirty="0"/>
            </a:br>
            <a:r>
              <a:rPr lang="en-US" dirty="0"/>
              <a:t>   {Milk, Diaper} </a:t>
            </a:r>
            <a:r>
              <a:rPr lang="en-US" dirty="0">
                <a:sym typeface="Symbol" pitchFamily="18" charset="2"/>
              </a:rPr>
              <a:t> {Beer}</a:t>
            </a:r>
            <a:r>
              <a:rPr lang="en-US" dirty="0"/>
              <a:t> </a:t>
            </a:r>
          </a:p>
          <a:p>
            <a:pPr marL="742950" lvl="1" indent="-285750">
              <a:spcBef>
                <a:spcPct val="10000"/>
              </a:spcBef>
              <a:spcAft>
                <a:spcPts val="400"/>
              </a:spcAft>
              <a:buClr>
                <a:srgbClr val="0C7B9C"/>
              </a:buClr>
              <a:buSzPct val="100000"/>
            </a:pPr>
            <a:endParaRPr lang="en-US" dirty="0"/>
          </a:p>
          <a:p>
            <a:pPr marL="342900" indent="-342900">
              <a:spcBef>
                <a:spcPct val="10000"/>
              </a:spcBef>
              <a:spcAft>
                <a:spcPts val="400"/>
              </a:spcAft>
              <a:buClr>
                <a:srgbClr val="0C7B9C"/>
              </a:buClr>
              <a:buSzPct val="75000"/>
              <a:buFont typeface="Monotype Sorts" pitchFamily="2" charset="2"/>
              <a:buChar char="l"/>
            </a:pPr>
            <a:r>
              <a:rPr lang="en-US" sz="2000" dirty="0"/>
              <a:t>Rule Evaluation Metrics</a:t>
            </a:r>
            <a:endParaRPr lang="en-US" sz="2000" dirty="0">
              <a:sym typeface="Symbol" pitchFamily="18" charset="2"/>
            </a:endParaRPr>
          </a:p>
          <a:p>
            <a:pPr marL="742950" lvl="1" indent="-285750">
              <a:spcBef>
                <a:spcPct val="10000"/>
              </a:spcBef>
              <a:spcAft>
                <a:spcPts val="400"/>
              </a:spcAft>
              <a:buClr>
                <a:srgbClr val="0C7B9C"/>
              </a:buClr>
              <a:buSzPct val="100000"/>
              <a:buFont typeface="Arial" pitchFamily="34" charset="0"/>
              <a:buChar char="–"/>
            </a:pPr>
            <a:r>
              <a:rPr lang="en-US" dirty="0"/>
              <a:t>Support (s)</a:t>
            </a:r>
          </a:p>
          <a:p>
            <a:pPr marL="1143000" lvl="2" indent="-228600">
              <a:spcBef>
                <a:spcPct val="10000"/>
              </a:spcBef>
              <a:spcAft>
                <a:spcPts val="400"/>
              </a:spcAft>
              <a:buClr>
                <a:srgbClr val="0C7B9C"/>
              </a:buClr>
              <a:buSzPct val="70000"/>
              <a:buFont typeface="Wingdings" pitchFamily="2" charset="2"/>
              <a:buChar char="u"/>
            </a:pPr>
            <a:r>
              <a:rPr lang="en-US" sz="1600" dirty="0"/>
              <a:t>Fraction of transactions that contain both X and Y</a:t>
            </a:r>
          </a:p>
          <a:p>
            <a:pPr marL="742950" lvl="1" indent="-285750">
              <a:spcBef>
                <a:spcPct val="10000"/>
              </a:spcBef>
              <a:spcAft>
                <a:spcPts val="400"/>
              </a:spcAft>
              <a:buClr>
                <a:srgbClr val="0C7B9C"/>
              </a:buClr>
              <a:buSzPct val="100000"/>
              <a:buFont typeface="Arial" pitchFamily="34" charset="0"/>
              <a:buChar char="–"/>
            </a:pPr>
            <a:r>
              <a:rPr lang="en-US" dirty="0"/>
              <a:t>Confidence (c)</a:t>
            </a:r>
          </a:p>
          <a:p>
            <a:pPr marL="1143000" lvl="2" indent="-228600">
              <a:spcBef>
                <a:spcPct val="10000"/>
              </a:spcBef>
              <a:spcAft>
                <a:spcPts val="400"/>
              </a:spcAft>
              <a:buClr>
                <a:srgbClr val="0C7B9C"/>
              </a:buClr>
              <a:buSzPct val="70000"/>
              <a:buFont typeface="Wingdings" pitchFamily="2" charset="2"/>
              <a:buChar char="u"/>
            </a:pPr>
            <a:r>
              <a:rPr lang="en-US" sz="1600" dirty="0"/>
              <a:t>Measures how often items in Y </a:t>
            </a:r>
            <a:br>
              <a:rPr lang="en-US" sz="1600" dirty="0"/>
            </a:br>
            <a:r>
              <a:rPr lang="en-US" sz="1600" dirty="0"/>
              <a:t>appear in transactions that</a:t>
            </a:r>
            <a:br>
              <a:rPr lang="en-US" sz="1600" dirty="0"/>
            </a:br>
            <a:r>
              <a:rPr lang="en-US" sz="1600" dirty="0"/>
              <a:t>contain X</a:t>
            </a:r>
          </a:p>
        </p:txBody>
      </p:sp>
      <p:graphicFrame>
        <p:nvGraphicFramePr>
          <p:cNvPr id="5125" name="Object 21"/>
          <p:cNvGraphicFramePr>
            <a:graphicFrameLocks noGrp="1" noChangeAspect="1"/>
          </p:cNvGraphicFramePr>
          <p:nvPr>
            <p:ph idx="1"/>
          </p:nvPr>
        </p:nvGraphicFramePr>
        <p:xfrm>
          <a:off x="6940551" y="1303338"/>
          <a:ext cx="3586163" cy="2152650"/>
        </p:xfrm>
        <a:graphic>
          <a:graphicData uri="http://schemas.openxmlformats.org/presentationml/2006/ole">
            <mc:AlternateContent xmlns:mc="http://schemas.openxmlformats.org/markup-compatibility/2006">
              <mc:Choice xmlns:v="urn:schemas-microsoft-com:vml" Requires="v">
                <p:oleObj name="Document" r:id="rId8" imgW="3354070" imgH="2012830" progId="Word.Document.8">
                  <p:embed/>
                </p:oleObj>
              </mc:Choice>
              <mc:Fallback>
                <p:oleObj name="Document" r:id="rId8" imgW="3354070" imgH="2012830" progId="Word.Document.8">
                  <p:embed/>
                  <p:pic>
                    <p:nvPicPr>
                      <p:cNvPr id="5125" name="Object 21"/>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40551" y="1303338"/>
                        <a:ext cx="3586163" cy="215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041449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03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103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03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038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1038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1038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1038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10387">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10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038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Illustrating Apriori Principle</a:t>
            </a:r>
          </a:p>
        </p:txBody>
      </p:sp>
      <p:graphicFrame>
        <p:nvGraphicFramePr>
          <p:cNvPr id="16387" name="Object 3"/>
          <p:cNvGraphicFramePr>
            <a:graphicFrameLocks noChangeAspect="1"/>
          </p:cNvGraphicFramePr>
          <p:nvPr/>
        </p:nvGraphicFramePr>
        <p:xfrm>
          <a:off x="1828801" y="1371601"/>
          <a:ext cx="2289175" cy="2498725"/>
        </p:xfrm>
        <a:graphic>
          <a:graphicData uri="http://schemas.openxmlformats.org/presentationml/2006/ole">
            <mc:AlternateContent xmlns:mc="http://schemas.openxmlformats.org/markup-compatibility/2006">
              <mc:Choice xmlns:v="urn:schemas-microsoft-com:vml" Requires="v">
                <p:oleObj name="Document" r:id="rId2" imgW="2289048" imgH="2494788" progId="Word.Document.8">
                  <p:embed/>
                </p:oleObj>
              </mc:Choice>
              <mc:Fallback>
                <p:oleObj name="Document" r:id="rId2" imgW="2289048" imgH="2494788" progId="Word.Document.8">
                  <p:embed/>
                  <p:pic>
                    <p:nvPicPr>
                      <p:cNvPr id="1638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1371601"/>
                        <a:ext cx="2289175" cy="2498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88" name="Object 4"/>
          <p:cNvGraphicFramePr>
            <a:graphicFrameLocks noChangeAspect="1"/>
          </p:cNvGraphicFramePr>
          <p:nvPr/>
        </p:nvGraphicFramePr>
        <p:xfrm>
          <a:off x="4876800" y="2133600"/>
          <a:ext cx="3327400" cy="2128838"/>
        </p:xfrm>
        <a:graphic>
          <a:graphicData uri="http://schemas.openxmlformats.org/presentationml/2006/ole">
            <mc:AlternateContent xmlns:mc="http://schemas.openxmlformats.org/markup-compatibility/2006">
              <mc:Choice xmlns:v="urn:schemas-microsoft-com:vml" Requires="v">
                <p:oleObj name="Document" r:id="rId4" imgW="3328416" imgH="2008632" progId="Word.Document.8">
                  <p:embed/>
                </p:oleObj>
              </mc:Choice>
              <mc:Fallback>
                <p:oleObj name="Document" r:id="rId4" imgW="3328416" imgH="2008632" progId="Word.Document.8">
                  <p:embed/>
                  <p:pic>
                    <p:nvPicPr>
                      <p:cNvPr id="1638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2133600"/>
                        <a:ext cx="3327400" cy="2128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0" name="Text Box 6"/>
          <p:cNvSpPr txBox="1">
            <a:spLocks noChangeArrowheads="1"/>
          </p:cNvSpPr>
          <p:nvPr/>
        </p:nvSpPr>
        <p:spPr bwMode="auto">
          <a:xfrm>
            <a:off x="4038601" y="1295401"/>
            <a:ext cx="20558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r>
              <a:rPr lang="en-US" sz="1800" b="0">
                <a:latin typeface="Tahoma" pitchFamily="34" charset="0"/>
              </a:rPr>
              <a:t>Items (1-itemsets)</a:t>
            </a:r>
          </a:p>
        </p:txBody>
      </p:sp>
      <p:sp>
        <p:nvSpPr>
          <p:cNvPr id="16391" name="Text Box 7"/>
          <p:cNvSpPr txBox="1">
            <a:spLocks noChangeArrowheads="1"/>
          </p:cNvSpPr>
          <p:nvPr/>
        </p:nvSpPr>
        <p:spPr bwMode="auto">
          <a:xfrm>
            <a:off x="7620001" y="2055813"/>
            <a:ext cx="2790825"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r>
              <a:rPr lang="en-US" sz="1800" b="0">
                <a:latin typeface="Tahoma" pitchFamily="34" charset="0"/>
              </a:rPr>
              <a:t>Pairs (2-itemsets)</a:t>
            </a:r>
          </a:p>
          <a:p>
            <a:endParaRPr lang="en-US" sz="1800" b="0">
              <a:latin typeface="Tahoma" pitchFamily="34" charset="0"/>
            </a:endParaRPr>
          </a:p>
          <a:p>
            <a:r>
              <a:rPr lang="en-US" sz="1800" b="0">
                <a:latin typeface="Tahoma" pitchFamily="34" charset="0"/>
              </a:rPr>
              <a:t>(No need to generate</a:t>
            </a:r>
            <a:br>
              <a:rPr lang="en-US" sz="1800" b="0">
                <a:latin typeface="Tahoma" pitchFamily="34" charset="0"/>
              </a:rPr>
            </a:br>
            <a:r>
              <a:rPr lang="en-US" sz="1800" b="0">
                <a:latin typeface="Tahoma" pitchFamily="34" charset="0"/>
              </a:rPr>
              <a:t>candidates involving Coke</a:t>
            </a:r>
            <a:br>
              <a:rPr lang="en-US" sz="1800" b="0">
                <a:latin typeface="Tahoma" pitchFamily="34" charset="0"/>
              </a:rPr>
            </a:br>
            <a:r>
              <a:rPr lang="en-US" sz="1800" b="0">
                <a:latin typeface="Tahoma" pitchFamily="34" charset="0"/>
              </a:rPr>
              <a:t>or Eggs)</a:t>
            </a:r>
            <a:endParaRPr lang="en-US" sz="2400" b="0">
              <a:latin typeface="Times New Roman" pitchFamily="18" charset="0"/>
            </a:endParaRPr>
          </a:p>
        </p:txBody>
      </p:sp>
      <p:sp>
        <p:nvSpPr>
          <p:cNvPr id="16393" name="Line 9"/>
          <p:cNvSpPr>
            <a:spLocks noChangeShapeType="1"/>
          </p:cNvSpPr>
          <p:nvPr/>
        </p:nvSpPr>
        <p:spPr bwMode="auto">
          <a:xfrm>
            <a:off x="6934200" y="4038600"/>
            <a:ext cx="304800" cy="304800"/>
          </a:xfrm>
          <a:prstGeom prst="line">
            <a:avLst/>
          </a:prstGeom>
          <a:noFill/>
          <a:ln w="73025" cmpd="tri">
            <a:solidFill>
              <a:srgbClr val="CC0000"/>
            </a:solidFill>
            <a:round/>
            <a:headEnd/>
            <a:tailEnd type="arrow"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4" name="Line 10"/>
          <p:cNvSpPr>
            <a:spLocks noChangeShapeType="1"/>
          </p:cNvSpPr>
          <p:nvPr/>
        </p:nvSpPr>
        <p:spPr bwMode="auto">
          <a:xfrm>
            <a:off x="4343400" y="1981200"/>
            <a:ext cx="304800" cy="304800"/>
          </a:xfrm>
          <a:prstGeom prst="line">
            <a:avLst/>
          </a:prstGeom>
          <a:noFill/>
          <a:ln w="73025" cmpd="tri">
            <a:solidFill>
              <a:srgbClr val="CC0000"/>
            </a:solidFill>
            <a:round/>
            <a:headEnd/>
            <a:tailEnd type="arrow"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6" name="Text Box 12"/>
          <p:cNvSpPr txBox="1">
            <a:spLocks noChangeArrowheads="1"/>
          </p:cNvSpPr>
          <p:nvPr/>
        </p:nvSpPr>
        <p:spPr bwMode="auto">
          <a:xfrm>
            <a:off x="11112" y="1821482"/>
            <a:ext cx="1289788" cy="1015663"/>
          </a:xfrm>
          <a:prstGeom prst="rect">
            <a:avLst/>
          </a:prstGeom>
          <a:solidFill>
            <a:srgbClr val="FFFF99"/>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lgn="ctr"/>
            <a:r>
              <a:rPr lang="en-US" sz="2000" b="0" dirty="0">
                <a:latin typeface="Tahoma" pitchFamily="34" charset="0"/>
              </a:rPr>
              <a:t>Minimum Support = 3</a:t>
            </a:r>
          </a:p>
        </p:txBody>
      </p:sp>
      <p:pic>
        <p:nvPicPr>
          <p:cNvPr id="2" name="Picture 1">
            <a:extLst>
              <a:ext uri="{FF2B5EF4-FFF2-40B4-BE49-F238E27FC236}">
                <a16:creationId xmlns:a16="http://schemas.microsoft.com/office/drawing/2014/main" id="{A01EEF41-E026-EB20-C093-F631FB71A100}"/>
              </a:ext>
            </a:extLst>
          </p:cNvPr>
          <p:cNvPicPr>
            <a:picLocks noChangeAspect="1"/>
          </p:cNvPicPr>
          <p:nvPr/>
        </p:nvPicPr>
        <p:blipFill>
          <a:blip r:embed="rId6"/>
          <a:stretch>
            <a:fillRect/>
          </a:stretch>
        </p:blipFill>
        <p:spPr>
          <a:xfrm>
            <a:off x="616371" y="4485131"/>
            <a:ext cx="3587496" cy="2154936"/>
          </a:xfrm>
          <a:prstGeom prst="rect">
            <a:avLst/>
          </a:prstGeom>
        </p:spPr>
      </p:pic>
    </p:spTree>
    <p:extLst>
      <p:ext uri="{BB962C8B-B14F-4D97-AF65-F5344CB8AC3E}">
        <p14:creationId xmlns:p14="http://schemas.microsoft.com/office/powerpoint/2010/main" val="2190662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2C5C3-6DF3-4957-A684-53CBD7D55B29}"/>
              </a:ext>
            </a:extLst>
          </p:cNvPr>
          <p:cNvSpPr>
            <a:spLocks noGrp="1"/>
          </p:cNvSpPr>
          <p:nvPr>
            <p:ph type="title"/>
          </p:nvPr>
        </p:nvSpPr>
        <p:spPr/>
        <p:txBody>
          <a:bodyPr/>
          <a:lstStyle/>
          <a:p>
            <a:r>
              <a:rPr lang="en-US" altLang="zh-CN" dirty="0" err="1">
                <a:ea typeface="隶书"/>
                <a:cs typeface="隶书"/>
              </a:rPr>
              <a:t>Apriori</a:t>
            </a:r>
            <a:r>
              <a:rPr lang="en-US" altLang="zh-CN" dirty="0">
                <a:ea typeface="隶书"/>
                <a:cs typeface="隶书"/>
              </a:rPr>
              <a:t> Algorithm</a:t>
            </a:r>
            <a:endParaRPr lang="en-IN" dirty="0"/>
          </a:p>
        </p:txBody>
      </p:sp>
      <p:sp>
        <p:nvSpPr>
          <p:cNvPr id="3" name="Content Placeholder 2">
            <a:extLst>
              <a:ext uri="{FF2B5EF4-FFF2-40B4-BE49-F238E27FC236}">
                <a16:creationId xmlns:a16="http://schemas.microsoft.com/office/drawing/2014/main" id="{20220AF3-1C8E-48C5-ACF9-1C1F0729904E}"/>
              </a:ext>
            </a:extLst>
          </p:cNvPr>
          <p:cNvSpPr>
            <a:spLocks noGrp="1"/>
          </p:cNvSpPr>
          <p:nvPr>
            <p:ph idx="1"/>
          </p:nvPr>
        </p:nvSpPr>
        <p:spPr/>
        <p:txBody>
          <a:bodyPr>
            <a:normAutofit/>
          </a:bodyPr>
          <a:lstStyle/>
          <a:p>
            <a:r>
              <a:rPr lang="en-US" sz="2400" b="0" i="0" dirty="0" err="1">
                <a:solidFill>
                  <a:srgbClr val="4A4A4A"/>
                </a:solidFill>
                <a:effectLst/>
                <a:latin typeface="Times New Roman" panose="02020603050405020304" pitchFamily="18" charset="0"/>
                <a:cs typeface="Times New Roman" panose="02020603050405020304" pitchFamily="18" charset="0"/>
              </a:rPr>
              <a:t>Apriori</a:t>
            </a:r>
            <a:r>
              <a:rPr lang="en-US" sz="2400" b="0" i="0" dirty="0">
                <a:solidFill>
                  <a:srgbClr val="4A4A4A"/>
                </a:solidFill>
                <a:effectLst/>
                <a:latin typeface="Times New Roman" panose="02020603050405020304" pitchFamily="18" charset="0"/>
                <a:cs typeface="Times New Roman" panose="02020603050405020304" pitchFamily="18" charset="0"/>
              </a:rPr>
              <a:t> algorithm uses frequent </a:t>
            </a:r>
            <a:r>
              <a:rPr lang="en-US" sz="2400" b="0" i="0" dirty="0" err="1">
                <a:solidFill>
                  <a:srgbClr val="4A4A4A"/>
                </a:solidFill>
                <a:effectLst/>
                <a:latin typeface="Times New Roman" panose="02020603050405020304" pitchFamily="18" charset="0"/>
                <a:cs typeface="Times New Roman" panose="02020603050405020304" pitchFamily="18" charset="0"/>
              </a:rPr>
              <a:t>itemsets</a:t>
            </a:r>
            <a:r>
              <a:rPr lang="en-US" sz="2400" b="0" i="0" dirty="0">
                <a:solidFill>
                  <a:srgbClr val="4A4A4A"/>
                </a:solidFill>
                <a:effectLst/>
                <a:latin typeface="Times New Roman" panose="02020603050405020304" pitchFamily="18" charset="0"/>
                <a:cs typeface="Times New Roman" panose="02020603050405020304" pitchFamily="18" charset="0"/>
              </a:rPr>
              <a:t> to generate association rules. It is based on the concept that a subset of a frequent itemset must also be a frequent itemset. Frequent Itemset is an itemset whose support value is greater than a threshold value(support).</a:t>
            </a:r>
          </a:p>
          <a:p>
            <a:endParaRPr lang="en-US" sz="2400" b="0" i="0" dirty="0">
              <a:solidFill>
                <a:srgbClr val="4A4A4A"/>
              </a:solidFill>
              <a:effectLst/>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2115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4294967295"/>
          </p:nvPr>
        </p:nvSpPr>
        <p:spPr bwMode="auto">
          <a:xfrm>
            <a:off x="8077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fld id="{D2097192-89EB-4928-A363-3EB9397524FF}" type="slidenum">
              <a:rPr lang="en-US"/>
              <a:pPr/>
              <a:t>16</a:t>
            </a:fld>
            <a:endParaRPr lang="en-US"/>
          </a:p>
        </p:txBody>
      </p:sp>
      <p:sp>
        <p:nvSpPr>
          <p:cNvPr id="27651" name="Rectangle 2"/>
          <p:cNvSpPr>
            <a:spLocks noGrp="1" noChangeArrowheads="1"/>
          </p:cNvSpPr>
          <p:nvPr>
            <p:ph type="title"/>
          </p:nvPr>
        </p:nvSpPr>
        <p:spPr/>
        <p:txBody>
          <a:bodyPr/>
          <a:lstStyle/>
          <a:p>
            <a:r>
              <a:rPr lang="en-US" altLang="zh-CN">
                <a:ea typeface="SimSun" pitchFamily="2" charset="-122"/>
              </a:rPr>
              <a:t>Algorithms to find frequent pattern</a:t>
            </a:r>
            <a:endParaRPr lang="en-US"/>
          </a:p>
        </p:txBody>
      </p:sp>
      <p:sp>
        <p:nvSpPr>
          <p:cNvPr id="27652" name="Rectangle 3"/>
          <p:cNvSpPr>
            <a:spLocks noGrp="1" noChangeArrowheads="1"/>
          </p:cNvSpPr>
          <p:nvPr>
            <p:ph type="body" idx="1"/>
          </p:nvPr>
        </p:nvSpPr>
        <p:spPr/>
        <p:txBody>
          <a:bodyPr/>
          <a:lstStyle/>
          <a:p>
            <a:pPr>
              <a:lnSpc>
                <a:spcPct val="80000"/>
              </a:lnSpc>
            </a:pPr>
            <a:r>
              <a:rPr lang="en-US" altLang="zh-CN" sz="2400" b="1" dirty="0" err="1">
                <a:ea typeface="SimSun" pitchFamily="2" charset="-122"/>
              </a:rPr>
              <a:t>Apriori</a:t>
            </a:r>
            <a:r>
              <a:rPr lang="en-US" altLang="zh-CN" sz="2400" dirty="0">
                <a:ea typeface="SimSun" pitchFamily="2" charset="-122"/>
              </a:rPr>
              <a:t>: uses a </a:t>
            </a:r>
            <a:r>
              <a:rPr lang="en-US" altLang="zh-CN" sz="2400" dirty="0">
                <a:solidFill>
                  <a:srgbClr val="C00000"/>
                </a:solidFill>
                <a:ea typeface="SimSun" pitchFamily="2" charset="-122"/>
              </a:rPr>
              <a:t>generate-and-test approach</a:t>
            </a:r>
            <a:r>
              <a:rPr lang="en-US" altLang="zh-CN" sz="2400" dirty="0">
                <a:ea typeface="SimSun" pitchFamily="2" charset="-122"/>
              </a:rPr>
              <a:t> – generates candidate </a:t>
            </a:r>
            <a:r>
              <a:rPr lang="en-US" altLang="zh-CN" sz="2400" dirty="0" err="1">
                <a:ea typeface="SimSun" pitchFamily="2" charset="-122"/>
              </a:rPr>
              <a:t>itemsets</a:t>
            </a:r>
            <a:r>
              <a:rPr lang="en-US" altLang="zh-CN" sz="2400" dirty="0">
                <a:ea typeface="SimSun" pitchFamily="2" charset="-122"/>
              </a:rPr>
              <a:t> and tests if they are frequent</a:t>
            </a:r>
          </a:p>
          <a:p>
            <a:pPr lvl="1">
              <a:lnSpc>
                <a:spcPct val="80000"/>
              </a:lnSpc>
            </a:pPr>
            <a:r>
              <a:rPr lang="en-US" altLang="zh-CN" sz="2000" dirty="0">
                <a:ea typeface="SimSun" pitchFamily="2" charset="-122"/>
              </a:rPr>
              <a:t>Generation of candidate </a:t>
            </a:r>
            <a:r>
              <a:rPr lang="en-US" altLang="zh-CN" sz="2000" dirty="0" err="1">
                <a:ea typeface="SimSun" pitchFamily="2" charset="-122"/>
              </a:rPr>
              <a:t>itemsets</a:t>
            </a:r>
            <a:r>
              <a:rPr lang="en-US" altLang="zh-CN" sz="2000" dirty="0">
                <a:ea typeface="SimSun" pitchFamily="2" charset="-122"/>
              </a:rPr>
              <a:t> is expensive (in both space and time)</a:t>
            </a:r>
          </a:p>
          <a:p>
            <a:pPr lvl="1">
              <a:lnSpc>
                <a:spcPct val="80000"/>
              </a:lnSpc>
            </a:pPr>
            <a:r>
              <a:rPr lang="en-US" altLang="zh-CN" sz="2000" dirty="0">
                <a:ea typeface="SimSun" pitchFamily="2" charset="-122"/>
              </a:rPr>
              <a:t>Support counting is expensive</a:t>
            </a:r>
          </a:p>
          <a:p>
            <a:pPr lvl="2">
              <a:lnSpc>
                <a:spcPct val="80000"/>
              </a:lnSpc>
            </a:pPr>
            <a:r>
              <a:rPr lang="en-US" altLang="zh-CN" sz="1800" dirty="0">
                <a:ea typeface="SimSun" pitchFamily="2" charset="-122"/>
              </a:rPr>
              <a:t>Subset checking (computationally expensive)</a:t>
            </a:r>
          </a:p>
          <a:p>
            <a:pPr lvl="2">
              <a:lnSpc>
                <a:spcPct val="80000"/>
              </a:lnSpc>
            </a:pPr>
            <a:r>
              <a:rPr lang="en-US" altLang="zh-CN" sz="1800" dirty="0">
                <a:ea typeface="SimSun" pitchFamily="2" charset="-122"/>
              </a:rPr>
              <a:t>Multiple Database scans (I/O)</a:t>
            </a:r>
          </a:p>
          <a:p>
            <a:pPr>
              <a:lnSpc>
                <a:spcPct val="80000"/>
              </a:lnSpc>
            </a:pPr>
            <a:endParaRPr lang="en-US" sz="2400" dirty="0"/>
          </a:p>
        </p:txBody>
      </p:sp>
    </p:spTree>
    <p:extLst>
      <p:ext uri="{BB962C8B-B14F-4D97-AF65-F5344CB8AC3E}">
        <p14:creationId xmlns:p14="http://schemas.microsoft.com/office/powerpoint/2010/main" val="308875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DF5C5-89A1-4591-9769-F1A3197C65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5CB15B-1A29-4C1D-AEDF-F73769341F4F}"/>
              </a:ext>
            </a:extLst>
          </p:cNvPr>
          <p:cNvSpPr>
            <a:spLocks noGrp="1"/>
          </p:cNvSpPr>
          <p:nvPr>
            <p:ph idx="1"/>
          </p:nvPr>
        </p:nvSpPr>
        <p:spPr>
          <a:xfrm>
            <a:off x="838200" y="1476833"/>
            <a:ext cx="10515600" cy="4351338"/>
          </a:xfrm>
        </p:spPr>
        <p:txBody>
          <a:bodyPr>
            <a:normAutofit fontScale="55000" lnSpcReduction="20000"/>
          </a:bodyPr>
          <a:lstStyle/>
          <a:p>
            <a:pPr marL="0" indent="0" algn="l">
              <a:buNone/>
            </a:pPr>
            <a:r>
              <a:rPr lang="en-US" b="1" i="0" dirty="0">
                <a:solidFill>
                  <a:schemeClr val="bg1"/>
                </a:solidFill>
                <a:effectLst/>
                <a:latin typeface="Poppins" panose="00000500000000000000" pitchFamily="2" charset="0"/>
              </a:rPr>
              <a:t>Why the name?</a:t>
            </a:r>
            <a:endParaRPr lang="en-US" b="0" i="0" dirty="0">
              <a:solidFill>
                <a:schemeClr val="bg1"/>
              </a:solidFill>
              <a:effectLst/>
              <a:latin typeface="Poppins" panose="00000500000000000000" pitchFamily="2" charset="0"/>
            </a:endParaRPr>
          </a:p>
          <a:p>
            <a:pPr algn="l"/>
            <a:r>
              <a:rPr lang="en-US" b="0" i="0" dirty="0">
                <a:solidFill>
                  <a:schemeClr val="bg1"/>
                </a:solidFill>
                <a:effectLst/>
                <a:latin typeface="Poppins" panose="00000500000000000000" pitchFamily="2" charset="0"/>
              </a:rPr>
              <a:t>It uses prior(a-prior) knowledge of frequent itemset properties.</a:t>
            </a:r>
          </a:p>
          <a:p>
            <a:pPr marL="0" indent="0" algn="l">
              <a:buNone/>
            </a:pPr>
            <a:r>
              <a:rPr lang="en-US" b="1" i="0" dirty="0">
                <a:solidFill>
                  <a:srgbClr val="111111"/>
                </a:solidFill>
                <a:effectLst/>
                <a:latin typeface="Poppins" panose="00000500000000000000" pitchFamily="2" charset="0"/>
              </a:rPr>
              <a:t>Who introduced it?</a:t>
            </a:r>
            <a:endParaRPr lang="en-US" b="0" i="0" dirty="0">
              <a:solidFill>
                <a:srgbClr val="111111"/>
              </a:solidFill>
              <a:effectLst/>
              <a:latin typeface="Poppins" panose="00000500000000000000" pitchFamily="2" charset="0"/>
            </a:endParaRPr>
          </a:p>
          <a:p>
            <a:pPr algn="l"/>
            <a:r>
              <a:rPr lang="en-US" b="0" i="0" u="none" strike="noStrike" dirty="0">
                <a:solidFill>
                  <a:srgbClr val="4DB2EC"/>
                </a:solidFill>
                <a:effectLst/>
                <a:latin typeface="Poppins" panose="00000500000000000000" pitchFamily="2" charset="0"/>
                <a:hlinkClick r:id="rId2"/>
              </a:rPr>
              <a:t>Rakesh Agrawal and Ramakrishnan Srikant</a:t>
            </a:r>
            <a:r>
              <a:rPr lang="en-US" b="0" i="0" dirty="0">
                <a:solidFill>
                  <a:srgbClr val="000000"/>
                </a:solidFill>
                <a:effectLst/>
                <a:latin typeface="Poppins" panose="00000500000000000000" pitchFamily="2" charset="0"/>
              </a:rPr>
              <a:t> in 1994.</a:t>
            </a:r>
          </a:p>
          <a:p>
            <a:pPr marL="0" indent="0" algn="l">
              <a:buNone/>
            </a:pPr>
            <a:r>
              <a:rPr lang="en-US" b="1" i="0" dirty="0">
                <a:solidFill>
                  <a:srgbClr val="111111"/>
                </a:solidFill>
                <a:effectLst/>
                <a:latin typeface="Poppins" panose="00000500000000000000" pitchFamily="2" charset="0"/>
              </a:rPr>
              <a:t>Assumptions</a:t>
            </a:r>
            <a:endParaRPr lang="en-US" b="0" i="0" dirty="0">
              <a:solidFill>
                <a:srgbClr val="111111"/>
              </a:solidFill>
              <a:effectLst/>
              <a:latin typeface="Poppins" panose="00000500000000000000" pitchFamily="2" charset="0"/>
            </a:endParaRPr>
          </a:p>
          <a:p>
            <a:pPr algn="l">
              <a:buFont typeface="Arial" panose="020B0604020202020204" pitchFamily="34" charset="0"/>
              <a:buChar char="•"/>
            </a:pPr>
            <a:r>
              <a:rPr lang="en-US" b="0" i="0" dirty="0">
                <a:solidFill>
                  <a:srgbClr val="000000"/>
                </a:solidFill>
                <a:effectLst/>
                <a:latin typeface="Poppins" panose="00000500000000000000" pitchFamily="2" charset="0"/>
              </a:rPr>
              <a:t>All subsets of a frequent itemset must be frequent (</a:t>
            </a:r>
            <a:r>
              <a:rPr lang="en-US" b="0" i="0" dirty="0" err="1">
                <a:solidFill>
                  <a:srgbClr val="000000"/>
                </a:solidFill>
                <a:effectLst/>
                <a:latin typeface="Poppins" panose="00000500000000000000" pitchFamily="2" charset="0"/>
              </a:rPr>
              <a:t>Apriori</a:t>
            </a:r>
            <a:r>
              <a:rPr lang="en-US" b="0" i="0" dirty="0">
                <a:solidFill>
                  <a:srgbClr val="000000"/>
                </a:solidFill>
                <a:effectLst/>
                <a:latin typeface="Poppins" panose="00000500000000000000" pitchFamily="2" charset="0"/>
              </a:rPr>
              <a:t> property)</a:t>
            </a:r>
          </a:p>
          <a:p>
            <a:pPr algn="l">
              <a:buFont typeface="Arial" panose="020B0604020202020204" pitchFamily="34" charset="0"/>
              <a:buChar char="•"/>
            </a:pPr>
            <a:r>
              <a:rPr lang="en-US" b="0" i="0" dirty="0">
                <a:solidFill>
                  <a:srgbClr val="000000"/>
                </a:solidFill>
                <a:effectLst/>
                <a:latin typeface="Poppins" panose="00000500000000000000" pitchFamily="2" charset="0"/>
              </a:rPr>
              <a:t>If an itemset is infrequent, all its supersets will be infrequent and thus can be ignored (Antimonotone property)</a:t>
            </a:r>
          </a:p>
          <a:p>
            <a:pPr marL="0" indent="0" algn="l">
              <a:buNone/>
            </a:pPr>
            <a:r>
              <a:rPr lang="en-US" b="1" i="0" dirty="0">
                <a:solidFill>
                  <a:srgbClr val="111111"/>
                </a:solidFill>
                <a:effectLst/>
                <a:latin typeface="Poppins" panose="00000500000000000000" pitchFamily="2" charset="0"/>
              </a:rPr>
              <a:t>How to decide on the frequency?</a:t>
            </a:r>
            <a:endParaRPr lang="en-US" b="0" i="0" dirty="0">
              <a:solidFill>
                <a:srgbClr val="111111"/>
              </a:solidFill>
              <a:effectLst/>
              <a:latin typeface="Poppins" panose="00000500000000000000" pitchFamily="2" charset="0"/>
            </a:endParaRPr>
          </a:p>
          <a:p>
            <a:pPr algn="l"/>
            <a:r>
              <a:rPr lang="en-US" b="0" i="0" dirty="0">
                <a:solidFill>
                  <a:srgbClr val="000000"/>
                </a:solidFill>
                <a:effectLst/>
                <a:latin typeface="Poppins" panose="00000500000000000000" pitchFamily="2" charset="0"/>
              </a:rPr>
              <a:t>A minimum threshold is set on the expert advice or user understanding.</a:t>
            </a:r>
          </a:p>
          <a:p>
            <a:pPr marL="0" indent="0" algn="l">
              <a:buNone/>
            </a:pPr>
            <a:r>
              <a:rPr lang="en-US" b="1" i="0" dirty="0">
                <a:solidFill>
                  <a:srgbClr val="111111"/>
                </a:solidFill>
                <a:effectLst/>
                <a:latin typeface="Poppins" panose="00000500000000000000" pitchFamily="2" charset="0"/>
              </a:rPr>
              <a:t>Steps:</a:t>
            </a:r>
            <a:endParaRPr lang="en-US" b="0" i="0" dirty="0">
              <a:solidFill>
                <a:srgbClr val="111111"/>
              </a:solidFill>
              <a:effectLst/>
              <a:latin typeface="Poppins" panose="00000500000000000000" pitchFamily="2" charset="0"/>
            </a:endParaRPr>
          </a:p>
          <a:p>
            <a:pPr algn="l">
              <a:buFont typeface="+mj-lt"/>
              <a:buAutoNum type="arabicPeriod"/>
            </a:pPr>
            <a:r>
              <a:rPr lang="en-US" b="0" i="0" dirty="0">
                <a:solidFill>
                  <a:srgbClr val="C00000"/>
                </a:solidFill>
                <a:effectLst/>
                <a:latin typeface="Poppins" panose="00000500000000000000" pitchFamily="2" charset="0"/>
              </a:rPr>
              <a:t>Join Step</a:t>
            </a:r>
            <a:r>
              <a:rPr lang="en-US" b="0" i="0" dirty="0">
                <a:solidFill>
                  <a:srgbClr val="000000"/>
                </a:solidFill>
                <a:effectLst/>
                <a:latin typeface="Poppins" panose="00000500000000000000" pitchFamily="2" charset="0"/>
              </a:rPr>
              <a:t>: This step generates (K+1) itemset from K-item sets by joining each item with itself.</a:t>
            </a:r>
          </a:p>
          <a:p>
            <a:pPr algn="l">
              <a:buFont typeface="+mj-lt"/>
              <a:buAutoNum type="arabicPeriod"/>
            </a:pPr>
            <a:r>
              <a:rPr lang="en-US" b="0" i="0" dirty="0">
                <a:solidFill>
                  <a:srgbClr val="C00000"/>
                </a:solidFill>
                <a:effectLst/>
                <a:latin typeface="Poppins" panose="00000500000000000000" pitchFamily="2" charset="0"/>
              </a:rPr>
              <a:t>Prune Step: </a:t>
            </a:r>
            <a:r>
              <a:rPr lang="en-US" b="0" i="0" dirty="0">
                <a:solidFill>
                  <a:srgbClr val="000000"/>
                </a:solidFill>
                <a:effectLst/>
                <a:latin typeface="Poppins" panose="00000500000000000000" pitchFamily="2" charset="0"/>
              </a:rPr>
              <a:t>This step scans the count of each item in the database. If the candidate item does not meet minimum support, then it is regarded as infrequent, and thus it is removed. This step is performed to reduce the size of the candidate </a:t>
            </a:r>
            <a:r>
              <a:rPr lang="en-US" b="0" i="0" dirty="0" err="1">
                <a:solidFill>
                  <a:srgbClr val="000000"/>
                </a:solidFill>
                <a:effectLst/>
                <a:latin typeface="Poppins" panose="00000500000000000000" pitchFamily="2" charset="0"/>
              </a:rPr>
              <a:t>itemsets</a:t>
            </a:r>
            <a:r>
              <a:rPr lang="en-US" b="0" i="0" dirty="0">
                <a:solidFill>
                  <a:srgbClr val="000000"/>
                </a:solidFill>
                <a:effectLst/>
                <a:latin typeface="Poppins" panose="00000500000000000000" pitchFamily="2" charset="0"/>
              </a:rPr>
              <a:t>.</a:t>
            </a:r>
          </a:p>
          <a:p>
            <a:endParaRPr lang="en-IN" dirty="0"/>
          </a:p>
        </p:txBody>
      </p:sp>
    </p:spTree>
    <p:extLst>
      <p:ext uri="{BB962C8B-B14F-4D97-AF65-F5344CB8AC3E}">
        <p14:creationId xmlns:p14="http://schemas.microsoft.com/office/powerpoint/2010/main" val="3512557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b="1" dirty="0" err="1"/>
              <a:t>Apriori</a:t>
            </a:r>
            <a:r>
              <a:rPr lang="en-US" b="1" dirty="0"/>
              <a:t> Algorithm</a:t>
            </a:r>
          </a:p>
        </p:txBody>
      </p:sp>
      <p:sp>
        <p:nvSpPr>
          <p:cNvPr id="17411" name="Rectangle 3"/>
          <p:cNvSpPr>
            <a:spLocks noGrp="1" noChangeArrowheads="1"/>
          </p:cNvSpPr>
          <p:nvPr>
            <p:ph type="body" idx="1"/>
          </p:nvPr>
        </p:nvSpPr>
        <p:spPr>
          <a:xfrm>
            <a:off x="1981200" y="1217613"/>
            <a:ext cx="8229600" cy="4514850"/>
          </a:xfrm>
        </p:spPr>
        <p:txBody>
          <a:bodyPr>
            <a:normAutofit/>
          </a:bodyPr>
          <a:lstStyle/>
          <a:p>
            <a:pPr marL="0" indent="0">
              <a:buNone/>
            </a:pPr>
            <a:r>
              <a:rPr lang="en-US" dirty="0"/>
              <a:t>Method: </a:t>
            </a:r>
            <a:endParaRPr lang="en-US" sz="2000" dirty="0"/>
          </a:p>
          <a:p>
            <a:pPr marL="742950" lvl="1" indent="-285750"/>
            <a:r>
              <a:rPr lang="en-US" dirty="0"/>
              <a:t>Let k=1</a:t>
            </a:r>
          </a:p>
          <a:p>
            <a:pPr marL="742950" lvl="1" indent="-285750"/>
            <a:r>
              <a:rPr lang="en-US" dirty="0"/>
              <a:t>Generate frequent </a:t>
            </a:r>
            <a:r>
              <a:rPr lang="en-US" dirty="0" err="1"/>
              <a:t>itemsets</a:t>
            </a:r>
            <a:r>
              <a:rPr lang="en-US" dirty="0"/>
              <a:t> of length 1</a:t>
            </a:r>
          </a:p>
          <a:p>
            <a:pPr marL="742950" lvl="1" indent="-285750"/>
            <a:r>
              <a:rPr lang="en-US" dirty="0"/>
              <a:t>Repeat until no new frequent </a:t>
            </a:r>
            <a:r>
              <a:rPr lang="en-US" dirty="0" err="1"/>
              <a:t>itemsets</a:t>
            </a:r>
            <a:r>
              <a:rPr lang="en-US" dirty="0"/>
              <a:t> are identified</a:t>
            </a:r>
          </a:p>
          <a:p>
            <a:pPr lvl="2"/>
            <a:r>
              <a:rPr lang="en-US" dirty="0"/>
              <a:t>Generate length (k+1) candidate </a:t>
            </a:r>
            <a:r>
              <a:rPr lang="en-US" dirty="0" err="1"/>
              <a:t>itemsets</a:t>
            </a:r>
            <a:r>
              <a:rPr lang="en-US" dirty="0"/>
              <a:t> from length k frequent </a:t>
            </a:r>
            <a:r>
              <a:rPr lang="en-US" dirty="0" err="1"/>
              <a:t>itemsets</a:t>
            </a:r>
            <a:endParaRPr lang="en-US" dirty="0"/>
          </a:p>
          <a:p>
            <a:pPr lvl="2"/>
            <a:r>
              <a:rPr lang="en-US" dirty="0"/>
              <a:t>Prune candidate </a:t>
            </a:r>
            <a:r>
              <a:rPr lang="en-US" dirty="0" err="1"/>
              <a:t>itemsets</a:t>
            </a:r>
            <a:r>
              <a:rPr lang="en-US" dirty="0"/>
              <a:t> containing subsets of length k that are infrequent </a:t>
            </a:r>
          </a:p>
          <a:p>
            <a:pPr lvl="2"/>
            <a:r>
              <a:rPr lang="en-US" dirty="0"/>
              <a:t>Count the support of each candidate by scanning the DB</a:t>
            </a:r>
          </a:p>
          <a:p>
            <a:pPr lvl="2"/>
            <a:r>
              <a:rPr lang="en-US" dirty="0"/>
              <a:t>Eliminate candidates that are infrequent, leaving only those that are frequent</a:t>
            </a:r>
          </a:p>
        </p:txBody>
      </p:sp>
    </p:spTree>
    <p:extLst>
      <p:ext uri="{BB962C8B-B14F-4D97-AF65-F5344CB8AC3E}">
        <p14:creationId xmlns:p14="http://schemas.microsoft.com/office/powerpoint/2010/main" val="4177647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descr="AprioriAlgorithm/4-Examp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
            <a:ext cx="5715000" cy="570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2" descr="AprioriAlgorithm/3-D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407" y="2038599"/>
            <a:ext cx="1943100"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5"/>
          <p:cNvSpPr>
            <a:spLocks noChangeArrowheads="1"/>
          </p:cNvSpPr>
          <p:nvPr/>
        </p:nvSpPr>
        <p:spPr bwMode="auto">
          <a:xfrm>
            <a:off x="1305220" y="916237"/>
            <a:ext cx="29876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dirty="0"/>
              <a:t>Example </a:t>
            </a:r>
          </a:p>
          <a:p>
            <a:r>
              <a:rPr lang="en-US" dirty="0"/>
              <a:t>A database has five transactions. Let the min sup = 50% and min conf = 80%.</a:t>
            </a:r>
          </a:p>
        </p:txBody>
      </p:sp>
      <p:sp>
        <p:nvSpPr>
          <p:cNvPr id="2" name="TextBox 1">
            <a:extLst>
              <a:ext uri="{FF2B5EF4-FFF2-40B4-BE49-F238E27FC236}">
                <a16:creationId xmlns:a16="http://schemas.microsoft.com/office/drawing/2014/main" id="{AFE73C80-F823-9D83-2A8F-FF60718343B3}"/>
              </a:ext>
            </a:extLst>
          </p:cNvPr>
          <p:cNvSpPr txBox="1"/>
          <p:nvPr/>
        </p:nvSpPr>
        <p:spPr>
          <a:xfrm>
            <a:off x="171744" y="4867523"/>
            <a:ext cx="1790700" cy="369332"/>
          </a:xfrm>
          <a:prstGeom prst="rect">
            <a:avLst/>
          </a:prstGeom>
          <a:noFill/>
        </p:spPr>
        <p:txBody>
          <a:bodyPr wrap="square" rtlCol="0">
            <a:spAutoFit/>
          </a:bodyPr>
          <a:lstStyle/>
          <a:p>
            <a:r>
              <a:rPr lang="en-IN" dirty="0"/>
              <a:t>50/100*4=2</a:t>
            </a:r>
          </a:p>
        </p:txBody>
      </p:sp>
      <p:cxnSp>
        <p:nvCxnSpPr>
          <p:cNvPr id="4" name="Straight Arrow Connector 3">
            <a:extLst>
              <a:ext uri="{FF2B5EF4-FFF2-40B4-BE49-F238E27FC236}">
                <a16:creationId xmlns:a16="http://schemas.microsoft.com/office/drawing/2014/main" id="{1CBF078A-031E-ED9C-A292-CE1390B9BEF8}"/>
              </a:ext>
            </a:extLst>
          </p:cNvPr>
          <p:cNvCxnSpPr/>
          <p:nvPr/>
        </p:nvCxnSpPr>
        <p:spPr>
          <a:xfrm flipH="1">
            <a:off x="819444" y="2038599"/>
            <a:ext cx="561975" cy="2705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 name="Table 5">
            <a:extLst>
              <a:ext uri="{FF2B5EF4-FFF2-40B4-BE49-F238E27FC236}">
                <a16:creationId xmlns:a16="http://schemas.microsoft.com/office/drawing/2014/main" id="{B973C80E-54FB-967B-5CED-0A25D413613C}"/>
              </a:ext>
            </a:extLst>
          </p:cNvPr>
          <p:cNvGraphicFramePr>
            <a:graphicFrameLocks noGrp="1"/>
          </p:cNvGraphicFramePr>
          <p:nvPr>
            <p:extLst>
              <p:ext uri="{D42A27DB-BD31-4B8C-83A1-F6EECF244321}">
                <p14:modId xmlns:p14="http://schemas.microsoft.com/office/powerpoint/2010/main" val="4231176525"/>
              </p:ext>
            </p:extLst>
          </p:nvPr>
        </p:nvGraphicFramePr>
        <p:xfrm>
          <a:off x="4867570" y="5606187"/>
          <a:ext cx="1019175" cy="654078"/>
        </p:xfrm>
        <a:graphic>
          <a:graphicData uri="http://schemas.openxmlformats.org/drawingml/2006/table">
            <a:tbl>
              <a:tblPr firstRow="1" bandRow="1">
                <a:tableStyleId>{5940675A-B579-460E-94D1-54222C63F5DA}</a:tableStyleId>
              </a:tblPr>
              <a:tblGrid>
                <a:gridCol w="1019175">
                  <a:extLst>
                    <a:ext uri="{9D8B030D-6E8A-4147-A177-3AD203B41FA5}">
                      <a16:colId xmlns:a16="http://schemas.microsoft.com/office/drawing/2014/main" val="2471273272"/>
                    </a:ext>
                  </a:extLst>
                </a:gridCol>
              </a:tblGrid>
              <a:tr h="327039">
                <a:tc>
                  <a:txBody>
                    <a:bodyPr/>
                    <a:lstStyle/>
                    <a:p>
                      <a:r>
                        <a:rPr lang="en-IN" sz="1400" dirty="0"/>
                        <a:t>ABC</a:t>
                      </a:r>
                    </a:p>
                  </a:txBody>
                  <a:tcPr/>
                </a:tc>
                <a:extLst>
                  <a:ext uri="{0D108BD9-81ED-4DB2-BD59-A6C34878D82A}">
                    <a16:rowId xmlns:a16="http://schemas.microsoft.com/office/drawing/2014/main" val="2756310303"/>
                  </a:ext>
                </a:extLst>
              </a:tr>
              <a:tr h="327039">
                <a:tc>
                  <a:txBody>
                    <a:bodyPr/>
                    <a:lstStyle/>
                    <a:p>
                      <a:r>
                        <a:rPr lang="en-IN" sz="1400" dirty="0"/>
                        <a:t>ACE</a:t>
                      </a:r>
                    </a:p>
                  </a:txBody>
                  <a:tcPr/>
                </a:tc>
                <a:extLst>
                  <a:ext uri="{0D108BD9-81ED-4DB2-BD59-A6C34878D82A}">
                    <a16:rowId xmlns:a16="http://schemas.microsoft.com/office/drawing/2014/main" val="1098664774"/>
                  </a:ext>
                </a:extLst>
              </a:tr>
            </a:tbl>
          </a:graphicData>
        </a:graphic>
      </p:graphicFrame>
      <p:sp>
        <p:nvSpPr>
          <p:cNvPr id="8" name="TextBox 7">
            <a:extLst>
              <a:ext uri="{FF2B5EF4-FFF2-40B4-BE49-F238E27FC236}">
                <a16:creationId xmlns:a16="http://schemas.microsoft.com/office/drawing/2014/main" id="{7C8CC946-B240-B7E8-4057-E1AA260FE713}"/>
              </a:ext>
            </a:extLst>
          </p:cNvPr>
          <p:cNvSpPr txBox="1"/>
          <p:nvPr/>
        </p:nvSpPr>
        <p:spPr>
          <a:xfrm>
            <a:off x="5505253" y="5236855"/>
            <a:ext cx="381491" cy="369332"/>
          </a:xfrm>
          <a:prstGeom prst="rect">
            <a:avLst/>
          </a:prstGeom>
          <a:noFill/>
        </p:spPr>
        <p:txBody>
          <a:bodyPr wrap="square" rtlCol="0">
            <a:spAutoFit/>
          </a:bodyPr>
          <a:lstStyle/>
          <a:p>
            <a:r>
              <a:rPr lang="en-IN" dirty="0"/>
              <a:t>2</a:t>
            </a:r>
          </a:p>
        </p:txBody>
      </p:sp>
      <p:sp>
        <p:nvSpPr>
          <p:cNvPr id="9" name="TextBox 8">
            <a:extLst>
              <a:ext uri="{FF2B5EF4-FFF2-40B4-BE49-F238E27FC236}">
                <a16:creationId xmlns:a16="http://schemas.microsoft.com/office/drawing/2014/main" id="{3B6E8415-E9FF-B4AD-2DE6-A342952CFE77}"/>
              </a:ext>
            </a:extLst>
          </p:cNvPr>
          <p:cNvSpPr txBox="1"/>
          <p:nvPr/>
        </p:nvSpPr>
        <p:spPr>
          <a:xfrm>
            <a:off x="5505252" y="5613538"/>
            <a:ext cx="381491" cy="369332"/>
          </a:xfrm>
          <a:prstGeom prst="rect">
            <a:avLst/>
          </a:prstGeom>
          <a:noFill/>
        </p:spPr>
        <p:txBody>
          <a:bodyPr wrap="square" rtlCol="0">
            <a:spAutoFit/>
          </a:bodyPr>
          <a:lstStyle/>
          <a:p>
            <a:r>
              <a:rPr lang="en-IN" dirty="0"/>
              <a:t>1</a:t>
            </a:r>
          </a:p>
        </p:txBody>
      </p:sp>
      <p:sp>
        <p:nvSpPr>
          <p:cNvPr id="10" name="TextBox 9">
            <a:extLst>
              <a:ext uri="{FF2B5EF4-FFF2-40B4-BE49-F238E27FC236}">
                <a16:creationId xmlns:a16="http://schemas.microsoft.com/office/drawing/2014/main" id="{2F7B7DBE-B6B2-296F-C629-A0C70F803F04}"/>
              </a:ext>
            </a:extLst>
          </p:cNvPr>
          <p:cNvSpPr txBox="1"/>
          <p:nvPr/>
        </p:nvSpPr>
        <p:spPr>
          <a:xfrm>
            <a:off x="5505250" y="5898284"/>
            <a:ext cx="381491" cy="369332"/>
          </a:xfrm>
          <a:prstGeom prst="rect">
            <a:avLst/>
          </a:prstGeom>
          <a:noFill/>
        </p:spPr>
        <p:txBody>
          <a:bodyPr wrap="square" rtlCol="0">
            <a:spAutoFit/>
          </a:bodyPr>
          <a:lstStyle/>
          <a:p>
            <a:r>
              <a:rPr lang="en-IN" dirty="0"/>
              <a:t>1</a:t>
            </a:r>
          </a:p>
        </p:txBody>
      </p:sp>
      <p:sp>
        <p:nvSpPr>
          <p:cNvPr id="11" name="TextBox 10">
            <a:extLst>
              <a:ext uri="{FF2B5EF4-FFF2-40B4-BE49-F238E27FC236}">
                <a16:creationId xmlns:a16="http://schemas.microsoft.com/office/drawing/2014/main" id="{890AE355-60C8-7F57-5582-1037DE6B7C1B}"/>
              </a:ext>
            </a:extLst>
          </p:cNvPr>
          <p:cNvSpPr txBox="1"/>
          <p:nvPr/>
        </p:nvSpPr>
        <p:spPr>
          <a:xfrm>
            <a:off x="5364588" y="5101636"/>
            <a:ext cx="1715682" cy="276999"/>
          </a:xfrm>
          <a:prstGeom prst="rect">
            <a:avLst/>
          </a:prstGeom>
          <a:noFill/>
        </p:spPr>
        <p:txBody>
          <a:bodyPr wrap="square" rtlCol="0">
            <a:spAutoFit/>
          </a:bodyPr>
          <a:lstStyle/>
          <a:p>
            <a:r>
              <a:rPr lang="en-IN" sz="1200" dirty="0"/>
              <a:t>Support </a:t>
            </a:r>
          </a:p>
        </p:txBody>
      </p:sp>
      <p:cxnSp>
        <p:nvCxnSpPr>
          <p:cNvPr id="13" name="Straight Arrow Connector 12">
            <a:extLst>
              <a:ext uri="{FF2B5EF4-FFF2-40B4-BE49-F238E27FC236}">
                <a16:creationId xmlns:a16="http://schemas.microsoft.com/office/drawing/2014/main" id="{1FC9273B-157F-FDA0-4922-0400EF6440A6}"/>
              </a:ext>
            </a:extLst>
          </p:cNvPr>
          <p:cNvCxnSpPr/>
          <p:nvPr/>
        </p:nvCxnSpPr>
        <p:spPr>
          <a:xfrm>
            <a:off x="4062953" y="688157"/>
            <a:ext cx="8046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25598AC-E433-5938-D772-B143BD36B6AC}"/>
              </a:ext>
            </a:extLst>
          </p:cNvPr>
          <p:cNvSpPr txBox="1"/>
          <p:nvPr/>
        </p:nvSpPr>
        <p:spPr>
          <a:xfrm>
            <a:off x="3605507" y="470808"/>
            <a:ext cx="961534" cy="369332"/>
          </a:xfrm>
          <a:prstGeom prst="rect">
            <a:avLst/>
          </a:prstGeom>
          <a:noFill/>
        </p:spPr>
        <p:txBody>
          <a:bodyPr wrap="square" rtlCol="0">
            <a:spAutoFit/>
          </a:bodyPr>
          <a:lstStyle/>
          <a:p>
            <a:r>
              <a:rPr lang="en-IN" dirty="0">
                <a:highlight>
                  <a:srgbClr val="FFFF00"/>
                </a:highlight>
              </a:rPr>
              <a:t>start</a:t>
            </a:r>
          </a:p>
        </p:txBody>
      </p:sp>
    </p:spTree>
    <p:extLst>
      <p:ext uri="{BB962C8B-B14F-4D97-AF65-F5344CB8AC3E}">
        <p14:creationId xmlns:p14="http://schemas.microsoft.com/office/powerpoint/2010/main" val="579106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E40C7-1235-B35E-A544-E41B078C95D4}"/>
              </a:ext>
            </a:extLst>
          </p:cNvPr>
          <p:cNvSpPr>
            <a:spLocks noGrp="1"/>
          </p:cNvSpPr>
          <p:nvPr>
            <p:ph type="title"/>
          </p:nvPr>
        </p:nvSpPr>
        <p:spPr/>
        <p:txBody>
          <a:bodyPr/>
          <a:lstStyle/>
          <a:p>
            <a:r>
              <a:rPr lang="en-IN" dirty="0"/>
              <a:t>Next step is rule generation from frequent </a:t>
            </a:r>
            <a:r>
              <a:rPr lang="en-IN" dirty="0" err="1"/>
              <a:t>itemsets</a:t>
            </a:r>
            <a:endParaRPr lang="en-IN" dirty="0"/>
          </a:p>
        </p:txBody>
      </p:sp>
      <p:pic>
        <p:nvPicPr>
          <p:cNvPr id="5" name="Content Placeholder 4">
            <a:extLst>
              <a:ext uri="{FF2B5EF4-FFF2-40B4-BE49-F238E27FC236}">
                <a16:creationId xmlns:a16="http://schemas.microsoft.com/office/drawing/2014/main" id="{2D5E8DC8-0E58-D257-282F-87EDA4B4A6E8}"/>
              </a:ext>
            </a:extLst>
          </p:cNvPr>
          <p:cNvPicPr>
            <a:picLocks noGrp="1" noChangeAspect="1"/>
          </p:cNvPicPr>
          <p:nvPr>
            <p:ph idx="1"/>
          </p:nvPr>
        </p:nvPicPr>
        <p:blipFill>
          <a:blip r:embed="rId2"/>
          <a:stretch>
            <a:fillRect/>
          </a:stretch>
        </p:blipFill>
        <p:spPr>
          <a:xfrm>
            <a:off x="2215462" y="1935004"/>
            <a:ext cx="7761075" cy="4697493"/>
          </a:xfrm>
        </p:spPr>
      </p:pic>
    </p:spTree>
    <p:extLst>
      <p:ext uri="{BB962C8B-B14F-4D97-AF65-F5344CB8AC3E}">
        <p14:creationId xmlns:p14="http://schemas.microsoft.com/office/powerpoint/2010/main" val="3722565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5D924-B6F7-DF45-E322-8D89E05E065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7AFC73C-257E-FF67-F8F5-0227B81AC761}"/>
              </a:ext>
            </a:extLst>
          </p:cNvPr>
          <p:cNvPicPr>
            <a:picLocks noGrp="1" noChangeAspect="1"/>
          </p:cNvPicPr>
          <p:nvPr>
            <p:ph idx="1"/>
          </p:nvPr>
        </p:nvPicPr>
        <p:blipFill>
          <a:blip r:embed="rId2"/>
          <a:stretch>
            <a:fillRect/>
          </a:stretch>
        </p:blipFill>
        <p:spPr>
          <a:xfrm>
            <a:off x="1275490" y="414779"/>
            <a:ext cx="9112847" cy="6078096"/>
          </a:xfrm>
        </p:spPr>
      </p:pic>
      <p:sp>
        <p:nvSpPr>
          <p:cNvPr id="8" name="Rectangle 7">
            <a:extLst>
              <a:ext uri="{FF2B5EF4-FFF2-40B4-BE49-F238E27FC236}">
                <a16:creationId xmlns:a16="http://schemas.microsoft.com/office/drawing/2014/main" id="{DFF927CF-9B79-71E6-44DC-B0AB20E9ED0B}"/>
              </a:ext>
            </a:extLst>
          </p:cNvPr>
          <p:cNvSpPr/>
          <p:nvPr/>
        </p:nvSpPr>
        <p:spPr>
          <a:xfrm>
            <a:off x="1275491" y="3355942"/>
            <a:ext cx="9641018" cy="282804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84297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10E1A-4C78-4978-AC63-1CDBC260939D}"/>
              </a:ext>
            </a:extLst>
          </p:cNvPr>
          <p:cNvSpPr>
            <a:spLocks noGrp="1"/>
          </p:cNvSpPr>
          <p:nvPr>
            <p:ph type="title"/>
          </p:nvPr>
        </p:nvSpPr>
        <p:spPr/>
        <p:txBody>
          <a:bodyPr/>
          <a:lstStyle/>
          <a:p>
            <a:r>
              <a:rPr lang="en-US" dirty="0"/>
              <a:t>Finding strong association rules</a:t>
            </a:r>
            <a:endParaRPr lang="en-IN" dirty="0"/>
          </a:p>
        </p:txBody>
      </p:sp>
      <p:sp>
        <p:nvSpPr>
          <p:cNvPr id="3" name="Content Placeholder 2">
            <a:extLst>
              <a:ext uri="{FF2B5EF4-FFF2-40B4-BE49-F238E27FC236}">
                <a16:creationId xmlns:a16="http://schemas.microsoft.com/office/drawing/2014/main" id="{E0EE7BDD-068D-4716-A315-84D17067296D}"/>
              </a:ext>
            </a:extLst>
          </p:cNvPr>
          <p:cNvSpPr>
            <a:spLocks noGrp="1"/>
          </p:cNvSpPr>
          <p:nvPr>
            <p:ph idx="1"/>
          </p:nvPr>
        </p:nvSpPr>
        <p:spPr/>
        <p:txBody>
          <a:bodyPr>
            <a:normAutofit fontScale="25000" lnSpcReduction="20000"/>
          </a:bodyPr>
          <a:lstStyle/>
          <a:p>
            <a:pPr algn="l">
              <a:lnSpc>
                <a:spcPct val="120000"/>
              </a:lnSpc>
            </a:pPr>
            <a:r>
              <a:rPr lang="en-IN" sz="4400" dirty="0">
                <a:solidFill>
                  <a:srgbClr val="4A4A4A"/>
                </a:solidFill>
                <a:latin typeface="Open Sans" panose="020B0606030504020204" pitchFamily="34" charset="0"/>
              </a:rPr>
              <a:t>With</a:t>
            </a:r>
            <a:r>
              <a:rPr lang="en-IN" sz="4400" b="1" dirty="0">
                <a:solidFill>
                  <a:srgbClr val="4A4A4A"/>
                </a:solidFill>
                <a:latin typeface="Open Sans" panose="020B0606030504020204" pitchFamily="34" charset="0"/>
              </a:rPr>
              <a:t> L3 </a:t>
            </a:r>
            <a:r>
              <a:rPr lang="en-IN" sz="4400" dirty="0">
                <a:solidFill>
                  <a:srgbClr val="4A4A4A"/>
                </a:solidFill>
                <a:latin typeface="Open Sans" panose="020B0606030504020204" pitchFamily="34" charset="0"/>
              </a:rPr>
              <a:t>we get the following  frequent itemset:</a:t>
            </a:r>
          </a:p>
          <a:p>
            <a:pPr algn="l">
              <a:lnSpc>
                <a:spcPct val="120000"/>
              </a:lnSpc>
            </a:pPr>
            <a:r>
              <a:rPr lang="en-IN" sz="4400" b="1" dirty="0">
                <a:solidFill>
                  <a:srgbClr val="4A4A4A"/>
                </a:solidFill>
                <a:latin typeface="Open Sans" panose="020B0606030504020204" pitchFamily="34" charset="0"/>
              </a:rPr>
              <a:t>For </a:t>
            </a:r>
            <a:r>
              <a:rPr lang="en-IN" sz="4400" b="1" dirty="0">
                <a:solidFill>
                  <a:srgbClr val="4A4A4A"/>
                </a:solidFill>
                <a:highlight>
                  <a:srgbClr val="FFFF00"/>
                </a:highlight>
                <a:latin typeface="Open Sans" panose="020B0606030504020204" pitchFamily="34" charset="0"/>
              </a:rPr>
              <a:t>I = {B,C,E}</a:t>
            </a:r>
            <a:r>
              <a:rPr lang="en-IN" sz="4400" dirty="0">
                <a:solidFill>
                  <a:srgbClr val="4A4A4A"/>
                </a:solidFill>
                <a:highlight>
                  <a:srgbClr val="FFFF00"/>
                </a:highlight>
                <a:latin typeface="Open Sans" panose="020B0606030504020204" pitchFamily="34" charset="0"/>
              </a:rPr>
              <a:t>, </a:t>
            </a:r>
            <a:r>
              <a:rPr lang="en-IN" sz="4400" b="1" dirty="0">
                <a:solidFill>
                  <a:srgbClr val="4A4A4A"/>
                </a:solidFill>
                <a:latin typeface="Open Sans" panose="020B0606030504020204" pitchFamily="34" charset="0"/>
              </a:rPr>
              <a:t>subsets </a:t>
            </a:r>
            <a:r>
              <a:rPr lang="en-IN" sz="4400" dirty="0">
                <a:solidFill>
                  <a:srgbClr val="4A4A4A"/>
                </a:solidFill>
                <a:latin typeface="Open Sans" panose="020B0606030504020204" pitchFamily="34" charset="0"/>
              </a:rPr>
              <a:t>are {B,C}, {B,E}, {C,E}, {B}, {C}, {E}, {B,C,E}</a:t>
            </a:r>
          </a:p>
          <a:p>
            <a:pPr algn="l">
              <a:lnSpc>
                <a:spcPct val="120000"/>
              </a:lnSpc>
            </a:pPr>
            <a:r>
              <a:rPr lang="en-US" sz="4400" dirty="0">
                <a:solidFill>
                  <a:srgbClr val="4A4A4A"/>
                </a:solidFill>
                <a:highlight>
                  <a:srgbClr val="FFFF00"/>
                </a:highlight>
                <a:latin typeface="Open Sans" panose="020B0606030504020204" pitchFamily="34" charset="0"/>
              </a:rPr>
              <a:t>Now let’s assume a minimum confidence value is 80%.</a:t>
            </a:r>
          </a:p>
          <a:p>
            <a:pPr algn="l">
              <a:lnSpc>
                <a:spcPct val="120000"/>
              </a:lnSpc>
            </a:pPr>
            <a:r>
              <a:rPr lang="en-US" sz="4400" dirty="0">
                <a:solidFill>
                  <a:srgbClr val="4A4A4A"/>
                </a:solidFill>
                <a:latin typeface="Open Sans" panose="020B0606030504020204" pitchFamily="34" charset="0"/>
              </a:rPr>
              <a:t>For every subsets S of I, the output the rule</a:t>
            </a:r>
          </a:p>
          <a:p>
            <a:pPr>
              <a:lnSpc>
                <a:spcPct val="120000"/>
              </a:lnSpc>
            </a:pPr>
            <a:r>
              <a:rPr lang="en-US" sz="4400" b="1" dirty="0">
                <a:solidFill>
                  <a:srgbClr val="4A4A4A"/>
                </a:solidFill>
                <a:latin typeface="Open Sans" panose="020B0606030504020204" pitchFamily="34" charset="0"/>
              </a:rPr>
              <a:t>S –&gt; (I-S) (means S recommends I-S)</a:t>
            </a:r>
          </a:p>
          <a:p>
            <a:pPr>
              <a:lnSpc>
                <a:spcPct val="120000"/>
              </a:lnSpc>
            </a:pPr>
            <a:r>
              <a:rPr lang="en-US" sz="4400" dirty="0">
                <a:solidFill>
                  <a:srgbClr val="4A4A4A"/>
                </a:solidFill>
                <a:latin typeface="Open Sans" panose="020B0606030504020204" pitchFamily="34" charset="0"/>
              </a:rPr>
              <a:t>if confidence of a rule is &gt;= </a:t>
            </a:r>
            <a:r>
              <a:rPr lang="en-US" sz="4400" dirty="0" err="1">
                <a:solidFill>
                  <a:srgbClr val="4A4A4A"/>
                </a:solidFill>
                <a:latin typeface="Open Sans" panose="020B0606030504020204" pitchFamily="34" charset="0"/>
              </a:rPr>
              <a:t>min_conf</a:t>
            </a:r>
            <a:r>
              <a:rPr lang="en-US" sz="4400" dirty="0">
                <a:solidFill>
                  <a:srgbClr val="4A4A4A"/>
                </a:solidFill>
                <a:latin typeface="Open Sans" panose="020B0606030504020204" pitchFamily="34" charset="0"/>
              </a:rPr>
              <a:t> value, select the rule</a:t>
            </a:r>
          </a:p>
          <a:p>
            <a:pPr>
              <a:lnSpc>
                <a:spcPct val="120000"/>
              </a:lnSpc>
            </a:pPr>
            <a:r>
              <a:rPr lang="en-US" sz="4400" dirty="0">
                <a:solidFill>
                  <a:srgbClr val="4A4A4A"/>
                </a:solidFill>
                <a:latin typeface="Open Sans" panose="020B0606030504020204" pitchFamily="34" charset="0"/>
              </a:rPr>
              <a:t>{B,C} –&gt; ({B,C,E} – {B,C}) means </a:t>
            </a:r>
            <a:r>
              <a:rPr lang="en-US" sz="4400" b="1" dirty="0">
                <a:solidFill>
                  <a:srgbClr val="4A4A4A"/>
                </a:solidFill>
                <a:latin typeface="Open Sans" panose="020B0606030504020204" pitchFamily="34" charset="0"/>
              </a:rPr>
              <a:t>B &amp; C –&gt; E, find its confidence</a:t>
            </a:r>
          </a:p>
          <a:p>
            <a:pPr>
              <a:lnSpc>
                <a:spcPct val="120000"/>
              </a:lnSpc>
            </a:pPr>
            <a:r>
              <a:rPr lang="en-US" sz="4400" b="1" dirty="0">
                <a:solidFill>
                  <a:srgbClr val="4A4A4A"/>
                </a:solidFill>
                <a:latin typeface="Open Sans" panose="020B0606030504020204" pitchFamily="34" charset="0"/>
              </a:rPr>
              <a:t>Confidence</a:t>
            </a:r>
            <a:r>
              <a:rPr lang="en-US" sz="4400" dirty="0">
                <a:solidFill>
                  <a:srgbClr val="4A4A4A"/>
                </a:solidFill>
                <a:latin typeface="Open Sans" panose="020B0606030504020204" pitchFamily="34" charset="0"/>
              </a:rPr>
              <a:t> = support(B,C,E)/support(B,C) = 2/2 = 100% &gt; 80%</a:t>
            </a:r>
          </a:p>
          <a:p>
            <a:pPr>
              <a:lnSpc>
                <a:spcPct val="120000"/>
              </a:lnSpc>
            </a:pPr>
            <a:r>
              <a:rPr lang="en-US" sz="4400" b="1" dirty="0">
                <a:solidFill>
                  <a:srgbClr val="4A4A4A"/>
                </a:solidFill>
                <a:latin typeface="Open Sans" panose="020B0606030504020204" pitchFamily="34" charset="0"/>
              </a:rPr>
              <a:t>Hence Rule 1 is Selected: B &amp; C –&gt; E  as its confidence is greater than min confidence that is 80%</a:t>
            </a:r>
          </a:p>
          <a:p>
            <a:pPr>
              <a:lnSpc>
                <a:spcPct val="120000"/>
              </a:lnSpc>
            </a:pPr>
            <a:r>
              <a:rPr lang="en-US" sz="4400" b="1" dirty="0">
                <a:solidFill>
                  <a:srgbClr val="4A4A4A"/>
                </a:solidFill>
                <a:latin typeface="Open Sans" panose="020B0606030504020204" pitchFamily="34" charset="0"/>
              </a:rPr>
              <a:t>Similarly do with all subsets and calculate the confidence of rules</a:t>
            </a:r>
            <a:endParaRPr lang="en-US" sz="3600" b="1" dirty="0">
              <a:solidFill>
                <a:srgbClr val="4A4A4A"/>
              </a:solidFill>
              <a:latin typeface="Open Sans" panose="020B0606030504020204" pitchFamily="34" charset="0"/>
            </a:endParaRPr>
          </a:p>
          <a:p>
            <a:pPr>
              <a:lnSpc>
                <a:spcPct val="120000"/>
              </a:lnSpc>
            </a:pPr>
            <a:r>
              <a:rPr lang="en-US" sz="3600" dirty="0">
                <a:solidFill>
                  <a:srgbClr val="4A4A4A"/>
                </a:solidFill>
                <a:latin typeface="Open Sans" panose="020B0606030504020204" pitchFamily="34" charset="0"/>
              </a:rPr>
              <a:t>{B,E} –&gt; ({B,C,E} – {B,E}) means </a:t>
            </a:r>
            <a:r>
              <a:rPr lang="en-US" sz="3600" b="1" dirty="0">
                <a:solidFill>
                  <a:srgbClr val="4A4A4A"/>
                </a:solidFill>
                <a:latin typeface="Open Sans" panose="020B0606030504020204" pitchFamily="34" charset="0"/>
              </a:rPr>
              <a:t>B &amp; E –&gt; C </a:t>
            </a:r>
          </a:p>
          <a:p>
            <a:pPr>
              <a:lnSpc>
                <a:spcPct val="120000"/>
              </a:lnSpc>
            </a:pPr>
            <a:r>
              <a:rPr lang="en-US" sz="3600" dirty="0">
                <a:solidFill>
                  <a:srgbClr val="4A4A4A"/>
                </a:solidFill>
                <a:latin typeface="Open Sans" panose="020B0606030504020204" pitchFamily="34" charset="0"/>
              </a:rPr>
              <a:t>{C,E} –&gt; ({B,C,E} – {C,E}) means </a:t>
            </a:r>
            <a:r>
              <a:rPr lang="en-US" sz="3600" b="1" dirty="0">
                <a:solidFill>
                  <a:srgbClr val="4A4A4A"/>
                </a:solidFill>
                <a:latin typeface="Open Sans" panose="020B0606030504020204" pitchFamily="34" charset="0"/>
              </a:rPr>
              <a:t>C &amp; E –&gt; B</a:t>
            </a:r>
          </a:p>
          <a:p>
            <a:pPr>
              <a:lnSpc>
                <a:spcPct val="120000"/>
              </a:lnSpc>
            </a:pPr>
            <a:r>
              <a:rPr lang="en-US" sz="3600" dirty="0">
                <a:solidFill>
                  <a:srgbClr val="4A4A4A"/>
                </a:solidFill>
                <a:latin typeface="Open Sans" panose="020B0606030504020204" pitchFamily="34" charset="0"/>
              </a:rPr>
              <a:t>{B} –&gt; ({B,C,E} – {B}) means </a:t>
            </a:r>
            <a:r>
              <a:rPr lang="en-US" sz="3600" b="1" dirty="0">
                <a:solidFill>
                  <a:srgbClr val="4A4A4A"/>
                </a:solidFill>
                <a:latin typeface="Open Sans" panose="020B0606030504020204" pitchFamily="34" charset="0"/>
              </a:rPr>
              <a:t>B –&gt;{C,E}</a:t>
            </a:r>
          </a:p>
          <a:p>
            <a:pPr>
              <a:lnSpc>
                <a:spcPct val="120000"/>
              </a:lnSpc>
            </a:pPr>
            <a:r>
              <a:rPr lang="en-US" sz="3600" dirty="0">
                <a:solidFill>
                  <a:srgbClr val="4A4A4A"/>
                </a:solidFill>
                <a:latin typeface="Open Sans" panose="020B0606030504020204" pitchFamily="34" charset="0"/>
              </a:rPr>
              <a:t>{C} –&gt; ({B,C,E} – {C}) means </a:t>
            </a:r>
            <a:r>
              <a:rPr lang="en-US" sz="3600" b="1" dirty="0">
                <a:solidFill>
                  <a:srgbClr val="4A4A4A"/>
                </a:solidFill>
                <a:latin typeface="Open Sans" panose="020B0606030504020204" pitchFamily="34" charset="0"/>
              </a:rPr>
              <a:t>B –&gt;{B,E}</a:t>
            </a:r>
          </a:p>
          <a:p>
            <a:pPr>
              <a:lnSpc>
                <a:spcPct val="120000"/>
              </a:lnSpc>
            </a:pPr>
            <a:r>
              <a:rPr lang="en-US" sz="3600" dirty="0">
                <a:solidFill>
                  <a:srgbClr val="4A4A4A"/>
                </a:solidFill>
                <a:latin typeface="Open Sans" panose="020B0606030504020204" pitchFamily="34" charset="0"/>
              </a:rPr>
              <a:t>{E} –&gt; ({B,C,E} – {E}) means </a:t>
            </a:r>
            <a:r>
              <a:rPr lang="en-US" sz="3600" b="1" dirty="0">
                <a:solidFill>
                  <a:srgbClr val="4A4A4A"/>
                </a:solidFill>
                <a:latin typeface="Open Sans" panose="020B0606030504020204" pitchFamily="34" charset="0"/>
              </a:rPr>
              <a:t>B –&gt;{B,C}</a:t>
            </a:r>
          </a:p>
          <a:p>
            <a:pPr>
              <a:lnSpc>
                <a:spcPct val="120000"/>
              </a:lnSpc>
            </a:pPr>
            <a:r>
              <a:rPr lang="en-US" sz="3600" dirty="0">
                <a:solidFill>
                  <a:srgbClr val="4A4A4A"/>
                </a:solidFill>
                <a:latin typeface="Open Sans" panose="020B0606030504020204" pitchFamily="34" charset="0"/>
              </a:rPr>
              <a:t>{B,C,,E} –&gt; ({B,C,E} – {B,C,E})  means {B,C,E}-&gt;null</a:t>
            </a:r>
            <a:endParaRPr lang="en-US" sz="3600" b="1" dirty="0">
              <a:solidFill>
                <a:srgbClr val="4A4A4A"/>
              </a:solidFill>
              <a:latin typeface="Open Sans" panose="020B0606030504020204" pitchFamily="34" charset="0"/>
            </a:endParaRPr>
          </a:p>
          <a:p>
            <a:endParaRPr lang="en-US" sz="1600" b="1" dirty="0">
              <a:solidFill>
                <a:srgbClr val="4A4A4A"/>
              </a:solidFill>
              <a:latin typeface="Open Sans" panose="020B0606030504020204" pitchFamily="34" charset="0"/>
            </a:endParaRPr>
          </a:p>
          <a:p>
            <a:endParaRPr lang="en-US" sz="1600" b="1" dirty="0">
              <a:solidFill>
                <a:srgbClr val="4A4A4A"/>
              </a:solidFill>
              <a:latin typeface="Open Sans" panose="020B0606030504020204" pitchFamily="34" charset="0"/>
            </a:endParaRPr>
          </a:p>
          <a:p>
            <a:endParaRPr lang="en-US" sz="1600" b="1" dirty="0">
              <a:solidFill>
                <a:srgbClr val="4A4A4A"/>
              </a:solidFill>
              <a:latin typeface="Open Sans" panose="020B0606030504020204" pitchFamily="34" charset="0"/>
            </a:endParaRPr>
          </a:p>
          <a:p>
            <a:endParaRPr lang="en-US" sz="1600" b="1" dirty="0">
              <a:solidFill>
                <a:srgbClr val="4A4A4A"/>
              </a:solidFill>
              <a:latin typeface="Open Sans" panose="020B0606030504020204" pitchFamily="34" charset="0"/>
            </a:endParaRPr>
          </a:p>
          <a:p>
            <a:endParaRPr lang="en-US" sz="1600" b="1" dirty="0">
              <a:solidFill>
                <a:srgbClr val="4A4A4A"/>
              </a:solidFill>
              <a:latin typeface="Open Sans" panose="020B0606030504020204" pitchFamily="34" charset="0"/>
            </a:endParaRPr>
          </a:p>
          <a:p>
            <a:pPr algn="l">
              <a:buFont typeface="Arial" panose="020B0604020202020204" pitchFamily="34" charset="0"/>
              <a:buChar char="•"/>
            </a:pPr>
            <a:endParaRPr lang="en-US" sz="1600" b="1" dirty="0">
              <a:solidFill>
                <a:srgbClr val="4A4A4A"/>
              </a:solidFill>
              <a:latin typeface="Open Sans" panose="020B0606030504020204" pitchFamily="34" charset="0"/>
            </a:endParaRPr>
          </a:p>
          <a:p>
            <a:pPr marL="0" indent="0">
              <a:buNone/>
            </a:pPr>
            <a:br>
              <a:rPr lang="en-IN" b="0" i="0" dirty="0">
                <a:solidFill>
                  <a:srgbClr val="4A4A4A"/>
                </a:solidFill>
                <a:effectLst/>
                <a:latin typeface="Open Sans" panose="020B0606030504020204" pitchFamily="34" charset="0"/>
              </a:rPr>
            </a:br>
            <a:endParaRPr lang="en-IN" dirty="0"/>
          </a:p>
        </p:txBody>
      </p:sp>
      <p:pic>
        <p:nvPicPr>
          <p:cNvPr id="4" name="Picture 2" descr="AprioriAlgorithm/3-DB.JPG">
            <a:extLst>
              <a:ext uri="{FF2B5EF4-FFF2-40B4-BE49-F238E27FC236}">
                <a16:creationId xmlns:a16="http://schemas.microsoft.com/office/drawing/2014/main" id="{F4DB969F-E37C-4D1C-8B4C-116732A7EE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3962400"/>
            <a:ext cx="1638300" cy="1839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7885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1A92E-BF3A-09D3-8C58-E180A205CE4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E77493F-8BCB-1D10-3E45-06240BD55472}"/>
              </a:ext>
            </a:extLst>
          </p:cNvPr>
          <p:cNvPicPr>
            <a:picLocks noGrp="1" noChangeAspect="1"/>
          </p:cNvPicPr>
          <p:nvPr>
            <p:ph idx="1"/>
          </p:nvPr>
        </p:nvPicPr>
        <p:blipFill>
          <a:blip r:embed="rId2"/>
          <a:stretch>
            <a:fillRect/>
          </a:stretch>
        </p:blipFill>
        <p:spPr>
          <a:xfrm>
            <a:off x="1593129" y="793087"/>
            <a:ext cx="8334361" cy="5600692"/>
          </a:xfrm>
        </p:spPr>
      </p:pic>
    </p:spTree>
    <p:extLst>
      <p:ext uri="{BB962C8B-B14F-4D97-AF65-F5344CB8AC3E}">
        <p14:creationId xmlns:p14="http://schemas.microsoft.com/office/powerpoint/2010/main" val="37232505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65411-EB98-DDE4-E897-0A8A0ADF9F7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566B6DF-9B92-EF53-42AC-00FB14C6CD00}"/>
              </a:ext>
            </a:extLst>
          </p:cNvPr>
          <p:cNvPicPr>
            <a:picLocks noGrp="1" noChangeAspect="1"/>
          </p:cNvPicPr>
          <p:nvPr>
            <p:ph idx="1"/>
          </p:nvPr>
        </p:nvPicPr>
        <p:blipFill>
          <a:blip r:embed="rId2"/>
          <a:stretch>
            <a:fillRect/>
          </a:stretch>
        </p:blipFill>
        <p:spPr>
          <a:xfrm>
            <a:off x="2881493" y="1400175"/>
            <a:ext cx="6923741" cy="4786313"/>
          </a:xfrm>
        </p:spPr>
      </p:pic>
    </p:spTree>
    <p:extLst>
      <p:ext uri="{BB962C8B-B14F-4D97-AF65-F5344CB8AC3E}">
        <p14:creationId xmlns:p14="http://schemas.microsoft.com/office/powerpoint/2010/main" val="332113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005BD-E718-B296-2DE7-33D18E69264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CDF3EC8-D7E3-7F73-6788-958867439E6C}"/>
              </a:ext>
            </a:extLst>
          </p:cNvPr>
          <p:cNvPicPr>
            <a:picLocks noGrp="1" noChangeAspect="1"/>
          </p:cNvPicPr>
          <p:nvPr>
            <p:ph idx="1"/>
          </p:nvPr>
        </p:nvPicPr>
        <p:blipFill>
          <a:blip r:embed="rId2"/>
          <a:stretch>
            <a:fillRect/>
          </a:stretch>
        </p:blipFill>
        <p:spPr>
          <a:xfrm>
            <a:off x="2323773" y="2682920"/>
            <a:ext cx="7544454" cy="2636748"/>
          </a:xfrm>
        </p:spPr>
      </p:pic>
    </p:spTree>
    <p:extLst>
      <p:ext uri="{BB962C8B-B14F-4D97-AF65-F5344CB8AC3E}">
        <p14:creationId xmlns:p14="http://schemas.microsoft.com/office/powerpoint/2010/main" val="3637894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814D-FA58-4DDE-AF73-947C6E5A9E40}"/>
              </a:ext>
            </a:extLst>
          </p:cNvPr>
          <p:cNvSpPr>
            <a:spLocks noGrp="1"/>
          </p:cNvSpPr>
          <p:nvPr>
            <p:ph type="title"/>
          </p:nvPr>
        </p:nvSpPr>
        <p:spPr/>
        <p:txBody>
          <a:bodyPr>
            <a:normAutofit/>
          </a:bodyPr>
          <a:lstStyle/>
          <a:p>
            <a:r>
              <a:rPr lang="en-US" b="1" dirty="0" err="1">
                <a:solidFill>
                  <a:srgbClr val="545454"/>
                </a:solidFill>
                <a:latin typeface="Open Sans" panose="020B0606030504020204" pitchFamily="34" charset="0"/>
              </a:rPr>
              <a:t>Ap</a:t>
            </a:r>
            <a:r>
              <a:rPr lang="en-US" b="1" i="0" dirty="0" err="1">
                <a:solidFill>
                  <a:srgbClr val="545454"/>
                </a:solidFill>
                <a:effectLst/>
                <a:latin typeface="Open Sans" panose="020B0606030504020204" pitchFamily="34" charset="0"/>
              </a:rPr>
              <a:t>riori</a:t>
            </a:r>
            <a:r>
              <a:rPr lang="en-US" b="1" i="0" dirty="0">
                <a:solidFill>
                  <a:srgbClr val="545454"/>
                </a:solidFill>
                <a:effectLst/>
                <a:latin typeface="Open Sans" panose="020B0606030504020204" pitchFamily="34" charset="0"/>
              </a:rPr>
              <a:t> Algorithm</a:t>
            </a:r>
            <a:r>
              <a:rPr lang="en-US" b="1" dirty="0">
                <a:solidFill>
                  <a:srgbClr val="545454"/>
                </a:solidFill>
                <a:latin typeface="Open Sans" panose="020B0606030504020204" pitchFamily="34" charset="0"/>
              </a:rPr>
              <a:t> Numerical</a:t>
            </a:r>
            <a:endParaRPr lang="en-IN" dirty="0"/>
          </a:p>
        </p:txBody>
      </p:sp>
      <p:pic>
        <p:nvPicPr>
          <p:cNvPr id="38914" name="Picture 2">
            <a:extLst>
              <a:ext uri="{FF2B5EF4-FFF2-40B4-BE49-F238E27FC236}">
                <a16:creationId xmlns:a16="http://schemas.microsoft.com/office/drawing/2014/main" id="{FD376E62-BDF7-4CCE-A916-32578C97B5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71800" y="2768904"/>
            <a:ext cx="190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FF05971-94C9-4247-B85E-535AFF42A258}"/>
              </a:ext>
            </a:extLst>
          </p:cNvPr>
          <p:cNvSpPr txBox="1"/>
          <p:nvPr/>
        </p:nvSpPr>
        <p:spPr>
          <a:xfrm>
            <a:off x="2971800" y="1752601"/>
            <a:ext cx="6858000" cy="646331"/>
          </a:xfrm>
          <a:prstGeom prst="rect">
            <a:avLst/>
          </a:prstGeom>
          <a:noFill/>
        </p:spPr>
        <p:txBody>
          <a:bodyPr wrap="square">
            <a:spAutoFit/>
          </a:bodyPr>
          <a:lstStyle/>
          <a:p>
            <a:r>
              <a:rPr lang="en-US" dirty="0"/>
              <a:t>Consider the following dataset and we will find frequent </a:t>
            </a:r>
            <a:r>
              <a:rPr lang="en-US" dirty="0" err="1"/>
              <a:t>itemsets</a:t>
            </a:r>
            <a:r>
              <a:rPr lang="en-US" dirty="0"/>
              <a:t> and generate association rules for them using </a:t>
            </a:r>
            <a:r>
              <a:rPr lang="en-US" dirty="0" err="1"/>
              <a:t>apriori</a:t>
            </a:r>
            <a:r>
              <a:rPr lang="en-US" dirty="0"/>
              <a:t> algorithm</a:t>
            </a:r>
            <a:endParaRPr lang="en-IN" dirty="0"/>
          </a:p>
        </p:txBody>
      </p:sp>
      <p:sp>
        <p:nvSpPr>
          <p:cNvPr id="8" name="TextBox 7">
            <a:extLst>
              <a:ext uri="{FF2B5EF4-FFF2-40B4-BE49-F238E27FC236}">
                <a16:creationId xmlns:a16="http://schemas.microsoft.com/office/drawing/2014/main" id="{6226F00E-DF68-49A0-B1EA-9E47EF0CC297}"/>
              </a:ext>
            </a:extLst>
          </p:cNvPr>
          <p:cNvSpPr txBox="1"/>
          <p:nvPr/>
        </p:nvSpPr>
        <p:spPr>
          <a:xfrm>
            <a:off x="6324600" y="3105834"/>
            <a:ext cx="4572000" cy="923330"/>
          </a:xfrm>
          <a:prstGeom prst="rect">
            <a:avLst/>
          </a:prstGeom>
          <a:noFill/>
        </p:spPr>
        <p:txBody>
          <a:bodyPr wrap="square">
            <a:spAutoFit/>
          </a:bodyPr>
          <a:lstStyle/>
          <a:p>
            <a:r>
              <a:rPr lang="en-US" dirty="0">
                <a:solidFill>
                  <a:srgbClr val="C00000"/>
                </a:solidFill>
              </a:rPr>
              <a:t>Given</a:t>
            </a:r>
          </a:p>
          <a:p>
            <a:r>
              <a:rPr lang="en-US" dirty="0"/>
              <a:t>minimum support count is 2</a:t>
            </a:r>
          </a:p>
          <a:p>
            <a:r>
              <a:rPr lang="en-US" dirty="0"/>
              <a:t>minimum confidence is 50%</a:t>
            </a:r>
            <a:endParaRPr lang="en-IN" dirty="0"/>
          </a:p>
        </p:txBody>
      </p:sp>
    </p:spTree>
    <p:extLst>
      <p:ext uri="{BB962C8B-B14F-4D97-AF65-F5344CB8AC3E}">
        <p14:creationId xmlns:p14="http://schemas.microsoft.com/office/powerpoint/2010/main" val="1535602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35C34-FD8D-4127-AF71-3F54492227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4F3CE8-F5CA-4E3E-897A-4A4F25F0395A}"/>
              </a:ext>
            </a:extLst>
          </p:cNvPr>
          <p:cNvSpPr>
            <a:spLocks noGrp="1"/>
          </p:cNvSpPr>
          <p:nvPr>
            <p:ph idx="1"/>
          </p:nvPr>
        </p:nvSpPr>
        <p:spPr/>
        <p:txBody>
          <a:bodyPr>
            <a:normAutofit/>
          </a:bodyPr>
          <a:lstStyle/>
          <a:p>
            <a:r>
              <a:rPr lang="en-US" sz="1800" b="1" dirty="0">
                <a:solidFill>
                  <a:srgbClr val="273239"/>
                </a:solidFill>
                <a:latin typeface="urw-din"/>
              </a:rPr>
              <a:t>Step-1: </a:t>
            </a:r>
            <a:r>
              <a:rPr lang="en-US" sz="1800" dirty="0">
                <a:solidFill>
                  <a:srgbClr val="273239"/>
                </a:solidFill>
                <a:latin typeface="urw-din"/>
              </a:rPr>
              <a:t>K=1</a:t>
            </a:r>
            <a:br>
              <a:rPr lang="en-US" sz="1800" dirty="0"/>
            </a:br>
            <a:r>
              <a:rPr lang="en-US" sz="1800" dirty="0">
                <a:solidFill>
                  <a:srgbClr val="273239"/>
                </a:solidFill>
                <a:latin typeface="urw-din"/>
              </a:rPr>
              <a:t>(I) Create a table containing support count of each item present in dataset – Called </a:t>
            </a:r>
            <a:r>
              <a:rPr lang="en-US" sz="1800" b="1" dirty="0">
                <a:solidFill>
                  <a:srgbClr val="273239"/>
                </a:solidFill>
                <a:latin typeface="urw-din"/>
              </a:rPr>
              <a:t>C1(candidate set)</a:t>
            </a:r>
            <a:endParaRPr lang="en-IN" sz="1800" dirty="0"/>
          </a:p>
        </p:txBody>
      </p:sp>
      <p:pic>
        <p:nvPicPr>
          <p:cNvPr id="4" name="Picture 2">
            <a:extLst>
              <a:ext uri="{FF2B5EF4-FFF2-40B4-BE49-F238E27FC236}">
                <a16:creationId xmlns:a16="http://schemas.microsoft.com/office/drawing/2014/main" id="{98E8B2BD-7660-4409-BBE1-C147B381F3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199" y="2756553"/>
            <a:ext cx="2004767" cy="3007151"/>
          </a:xfrm>
          <a:prstGeom prst="rect">
            <a:avLst/>
          </a:prstGeom>
          <a:noFill/>
          <a:extLst>
            <a:ext uri="{909E8E84-426E-40DD-AFC4-6F175D3DCCD1}">
              <a14:hiddenFill xmlns:a14="http://schemas.microsoft.com/office/drawing/2010/main">
                <a:solidFill>
                  <a:srgbClr val="FFFFFF"/>
                </a:solidFill>
              </a14:hiddenFill>
            </a:ext>
          </a:extLst>
        </p:spPr>
      </p:pic>
      <p:pic>
        <p:nvPicPr>
          <p:cNvPr id="39938" name="Picture 2">
            <a:extLst>
              <a:ext uri="{FF2B5EF4-FFF2-40B4-BE49-F238E27FC236}">
                <a16:creationId xmlns:a16="http://schemas.microsoft.com/office/drawing/2014/main" id="{80FBFF96-96BC-4229-B100-A66BDD4AA6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2666" y="3087278"/>
            <a:ext cx="2835876"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5965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81081-AEDA-49F9-8630-E1534C632BE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E358811-37D1-4C7D-A0E0-F2D9F722617D}"/>
              </a:ext>
            </a:extLst>
          </p:cNvPr>
          <p:cNvSpPr>
            <a:spLocks noGrp="1"/>
          </p:cNvSpPr>
          <p:nvPr>
            <p:ph idx="1"/>
          </p:nvPr>
        </p:nvSpPr>
        <p:spPr>
          <a:xfrm>
            <a:off x="1962665" y="1695451"/>
            <a:ext cx="8229600" cy="4525963"/>
          </a:xfrm>
        </p:spPr>
        <p:txBody>
          <a:bodyPr/>
          <a:lstStyle/>
          <a:p>
            <a:r>
              <a:rPr lang="en-US" sz="1800" dirty="0">
                <a:solidFill>
                  <a:srgbClr val="273239"/>
                </a:solidFill>
                <a:latin typeface="urw-din"/>
              </a:rPr>
              <a:t>(II) compare candidate set item’s support count with minimum support count(here </a:t>
            </a:r>
            <a:r>
              <a:rPr lang="en-US" sz="1800" dirty="0" err="1">
                <a:solidFill>
                  <a:srgbClr val="273239"/>
                </a:solidFill>
                <a:latin typeface="urw-din"/>
              </a:rPr>
              <a:t>min_support</a:t>
            </a:r>
            <a:r>
              <a:rPr lang="en-US" sz="1800" dirty="0">
                <a:solidFill>
                  <a:srgbClr val="273239"/>
                </a:solidFill>
                <a:latin typeface="urw-din"/>
              </a:rPr>
              <a:t>=2 if </a:t>
            </a:r>
            <a:r>
              <a:rPr lang="en-US" sz="1800" dirty="0" err="1">
                <a:solidFill>
                  <a:srgbClr val="273239"/>
                </a:solidFill>
                <a:latin typeface="urw-din"/>
              </a:rPr>
              <a:t>support_count</a:t>
            </a:r>
            <a:r>
              <a:rPr lang="en-US" sz="1800" dirty="0">
                <a:solidFill>
                  <a:srgbClr val="273239"/>
                </a:solidFill>
                <a:latin typeface="urw-din"/>
              </a:rPr>
              <a:t> of candidate set items is less than </a:t>
            </a:r>
            <a:r>
              <a:rPr lang="en-US" sz="1800" dirty="0" err="1">
                <a:solidFill>
                  <a:srgbClr val="273239"/>
                </a:solidFill>
                <a:latin typeface="urw-din"/>
              </a:rPr>
              <a:t>min_support</a:t>
            </a:r>
            <a:r>
              <a:rPr lang="en-US" sz="1800" dirty="0">
                <a:solidFill>
                  <a:srgbClr val="273239"/>
                </a:solidFill>
                <a:latin typeface="urw-din"/>
              </a:rPr>
              <a:t> then remove those items). This gives us itemset L1.</a:t>
            </a:r>
            <a:endParaRPr lang="en-IN" sz="1800" dirty="0">
              <a:solidFill>
                <a:srgbClr val="273239"/>
              </a:solidFill>
              <a:latin typeface="urw-din"/>
            </a:endParaRPr>
          </a:p>
        </p:txBody>
      </p:sp>
      <p:pic>
        <p:nvPicPr>
          <p:cNvPr id="40962" name="Picture 2">
            <a:extLst>
              <a:ext uri="{FF2B5EF4-FFF2-40B4-BE49-F238E27FC236}">
                <a16:creationId xmlns:a16="http://schemas.microsoft.com/office/drawing/2014/main" id="{70D22EFC-2739-4014-9FD7-81AE68989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2142" y="3283981"/>
            <a:ext cx="2209801" cy="2362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11125B0-6871-4A04-9355-A74DD634C791}"/>
              </a:ext>
            </a:extLst>
          </p:cNvPr>
          <p:cNvSpPr txBox="1"/>
          <p:nvPr/>
        </p:nvSpPr>
        <p:spPr>
          <a:xfrm>
            <a:off x="4114800" y="2895600"/>
            <a:ext cx="1295400" cy="369332"/>
          </a:xfrm>
          <a:prstGeom prst="rect">
            <a:avLst/>
          </a:prstGeom>
          <a:noFill/>
        </p:spPr>
        <p:txBody>
          <a:bodyPr wrap="square" rtlCol="0">
            <a:spAutoFit/>
          </a:bodyPr>
          <a:lstStyle/>
          <a:p>
            <a:r>
              <a:rPr lang="en-US" dirty="0">
                <a:solidFill>
                  <a:srgbClr val="273239"/>
                </a:solidFill>
                <a:latin typeface="urw-din"/>
              </a:rPr>
              <a:t>L1</a:t>
            </a:r>
            <a:endParaRPr lang="en-IN" dirty="0"/>
          </a:p>
        </p:txBody>
      </p:sp>
    </p:spTree>
    <p:extLst>
      <p:ext uri="{BB962C8B-B14F-4D97-AF65-F5344CB8AC3E}">
        <p14:creationId xmlns:p14="http://schemas.microsoft.com/office/powerpoint/2010/main" val="501882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81496-56BD-49A8-8C4A-F2ECA9DF56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2A1A46-E455-4C7E-BF2B-20BD43E84ACC}"/>
              </a:ext>
            </a:extLst>
          </p:cNvPr>
          <p:cNvSpPr>
            <a:spLocks noGrp="1"/>
          </p:cNvSpPr>
          <p:nvPr>
            <p:ph idx="1"/>
          </p:nvPr>
        </p:nvSpPr>
        <p:spPr>
          <a:xfrm>
            <a:off x="1981200" y="1051718"/>
            <a:ext cx="8229600" cy="4525963"/>
          </a:xfrm>
        </p:spPr>
        <p:txBody>
          <a:bodyPr>
            <a:normAutofit/>
          </a:bodyPr>
          <a:lstStyle/>
          <a:p>
            <a:pPr algn="l" fontAlgn="base"/>
            <a:r>
              <a:rPr lang="en-US" sz="1900" b="1" dirty="0">
                <a:solidFill>
                  <a:srgbClr val="273239"/>
                </a:solidFill>
                <a:latin typeface="urw-din"/>
              </a:rPr>
              <a:t>Step-2: K=2</a:t>
            </a:r>
          </a:p>
          <a:p>
            <a:pPr algn="l" fontAlgn="base">
              <a:buFont typeface="Arial" panose="020B0604020202020204" pitchFamily="34" charset="0"/>
              <a:buChar char="•"/>
            </a:pPr>
            <a:r>
              <a:rPr lang="en-US" sz="1900" dirty="0">
                <a:solidFill>
                  <a:srgbClr val="273239"/>
                </a:solidFill>
                <a:latin typeface="urw-din"/>
              </a:rPr>
              <a:t>Generate candidate set C2 using L1 (this is called join step). Condition of joining L</a:t>
            </a:r>
            <a:r>
              <a:rPr lang="en-US" sz="1200" dirty="0">
                <a:solidFill>
                  <a:srgbClr val="273239"/>
                </a:solidFill>
                <a:latin typeface="urw-din"/>
              </a:rPr>
              <a:t>k-1</a:t>
            </a:r>
            <a:r>
              <a:rPr lang="en-US" sz="1900" dirty="0">
                <a:solidFill>
                  <a:srgbClr val="273239"/>
                </a:solidFill>
                <a:latin typeface="urw-din"/>
              </a:rPr>
              <a:t> and L</a:t>
            </a:r>
            <a:r>
              <a:rPr lang="en-US" sz="1200" dirty="0">
                <a:solidFill>
                  <a:srgbClr val="273239"/>
                </a:solidFill>
                <a:latin typeface="urw-din"/>
              </a:rPr>
              <a:t>k-1</a:t>
            </a:r>
            <a:r>
              <a:rPr lang="en-US" sz="1900" dirty="0">
                <a:solidFill>
                  <a:srgbClr val="273239"/>
                </a:solidFill>
                <a:latin typeface="urw-din"/>
              </a:rPr>
              <a:t> is that it should have (K-2) elements in common.</a:t>
            </a:r>
          </a:p>
          <a:p>
            <a:pPr algn="l" fontAlgn="base">
              <a:buFont typeface="Arial" panose="020B0604020202020204" pitchFamily="34" charset="0"/>
              <a:buChar char="•"/>
            </a:pPr>
            <a:r>
              <a:rPr lang="en-US" sz="1900" dirty="0">
                <a:solidFill>
                  <a:srgbClr val="273239"/>
                </a:solidFill>
                <a:latin typeface="urw-din"/>
              </a:rPr>
              <a:t>Check all subsets of an itemset are frequent or not and if not frequent remove that itemset.(Example subset of{I1, I2} are {I1}, {I2} they are </a:t>
            </a:r>
            <a:r>
              <a:rPr lang="en-US" sz="1900" dirty="0" err="1">
                <a:solidFill>
                  <a:srgbClr val="273239"/>
                </a:solidFill>
                <a:latin typeface="urw-din"/>
              </a:rPr>
              <a:t>frequent.Check</a:t>
            </a:r>
            <a:r>
              <a:rPr lang="en-US" sz="1900" dirty="0">
                <a:solidFill>
                  <a:srgbClr val="273239"/>
                </a:solidFill>
                <a:latin typeface="urw-din"/>
              </a:rPr>
              <a:t> for each itemset)</a:t>
            </a:r>
          </a:p>
          <a:p>
            <a:pPr algn="l" fontAlgn="base">
              <a:buFont typeface="Arial" panose="020B0604020202020204" pitchFamily="34" charset="0"/>
              <a:buChar char="•"/>
            </a:pPr>
            <a:r>
              <a:rPr lang="en-US" sz="1900" dirty="0">
                <a:solidFill>
                  <a:srgbClr val="273239"/>
                </a:solidFill>
                <a:latin typeface="urw-din"/>
              </a:rPr>
              <a:t>Now find support count of these </a:t>
            </a:r>
            <a:r>
              <a:rPr lang="en-US" sz="1900" dirty="0" err="1">
                <a:solidFill>
                  <a:srgbClr val="273239"/>
                </a:solidFill>
                <a:latin typeface="urw-din"/>
              </a:rPr>
              <a:t>itemsets</a:t>
            </a:r>
            <a:r>
              <a:rPr lang="en-US" sz="1900" dirty="0">
                <a:solidFill>
                  <a:srgbClr val="273239"/>
                </a:solidFill>
                <a:latin typeface="urw-din"/>
              </a:rPr>
              <a:t> by searching in dataset.</a:t>
            </a:r>
          </a:p>
          <a:p>
            <a:pPr marL="0" indent="0">
              <a:buNone/>
            </a:pPr>
            <a:endParaRPr lang="en-IN" dirty="0"/>
          </a:p>
          <a:p>
            <a:pPr marL="0" indent="0">
              <a:buNone/>
            </a:pPr>
            <a:endParaRPr lang="en-IN" dirty="0"/>
          </a:p>
        </p:txBody>
      </p:sp>
      <p:pic>
        <p:nvPicPr>
          <p:cNvPr id="41986" name="Picture 2" descr="Lightbox">
            <a:extLst>
              <a:ext uri="{FF2B5EF4-FFF2-40B4-BE49-F238E27FC236}">
                <a16:creationId xmlns:a16="http://schemas.microsoft.com/office/drawing/2014/main" id="{D363B3D8-7ABD-4B37-8100-72DDEF9769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3175" y="3510077"/>
            <a:ext cx="1752600" cy="28572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0941E21-DC47-42BD-9890-2A2AB6721A27}"/>
              </a:ext>
            </a:extLst>
          </p:cNvPr>
          <p:cNvSpPr txBox="1"/>
          <p:nvPr/>
        </p:nvSpPr>
        <p:spPr>
          <a:xfrm>
            <a:off x="5075504" y="3244334"/>
            <a:ext cx="609600" cy="369332"/>
          </a:xfrm>
          <a:prstGeom prst="rect">
            <a:avLst/>
          </a:prstGeom>
          <a:noFill/>
        </p:spPr>
        <p:txBody>
          <a:bodyPr wrap="square" rtlCol="0">
            <a:spAutoFit/>
          </a:bodyPr>
          <a:lstStyle/>
          <a:p>
            <a:r>
              <a:rPr lang="en-US" dirty="0">
                <a:solidFill>
                  <a:srgbClr val="273239"/>
                </a:solidFill>
                <a:latin typeface="urw-din"/>
              </a:rPr>
              <a:t>C2</a:t>
            </a:r>
            <a:endParaRPr lang="en-IN" dirty="0"/>
          </a:p>
        </p:txBody>
      </p:sp>
      <p:pic>
        <p:nvPicPr>
          <p:cNvPr id="5" name="Picture 2">
            <a:extLst>
              <a:ext uri="{FF2B5EF4-FFF2-40B4-BE49-F238E27FC236}">
                <a16:creationId xmlns:a16="http://schemas.microsoft.com/office/drawing/2014/main" id="{D1F16BCD-E43D-E81C-0AF2-11BC16E0DF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8129" y="3314699"/>
            <a:ext cx="1905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87443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B96E1-BED4-4A3D-9F4C-4E9EB5AA82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9EF7E7-E0A5-4AD1-AF16-B39F00958A0F}"/>
              </a:ext>
            </a:extLst>
          </p:cNvPr>
          <p:cNvSpPr>
            <a:spLocks noGrp="1"/>
          </p:cNvSpPr>
          <p:nvPr>
            <p:ph idx="1"/>
          </p:nvPr>
        </p:nvSpPr>
        <p:spPr>
          <a:xfrm>
            <a:off x="2018270" y="1600201"/>
            <a:ext cx="8229600" cy="4525963"/>
          </a:xfrm>
        </p:spPr>
        <p:txBody>
          <a:bodyPr/>
          <a:lstStyle/>
          <a:p>
            <a:pPr fontAlgn="base"/>
            <a:r>
              <a:rPr lang="en-US" sz="1900" dirty="0">
                <a:solidFill>
                  <a:srgbClr val="273239"/>
                </a:solidFill>
                <a:latin typeface="urw-din"/>
              </a:rPr>
              <a:t>(II) compare candidate (C2) support count with minimum support count(here </a:t>
            </a:r>
            <a:r>
              <a:rPr lang="en-US" sz="1900" dirty="0" err="1">
                <a:solidFill>
                  <a:srgbClr val="273239"/>
                </a:solidFill>
                <a:latin typeface="urw-din"/>
              </a:rPr>
              <a:t>min_support</a:t>
            </a:r>
            <a:r>
              <a:rPr lang="en-US" sz="1900" dirty="0">
                <a:solidFill>
                  <a:srgbClr val="273239"/>
                </a:solidFill>
                <a:latin typeface="urw-din"/>
              </a:rPr>
              <a:t>=2 if </a:t>
            </a:r>
            <a:r>
              <a:rPr lang="en-US" sz="1900" dirty="0" err="1">
                <a:solidFill>
                  <a:srgbClr val="273239"/>
                </a:solidFill>
                <a:latin typeface="urw-din"/>
              </a:rPr>
              <a:t>support_count</a:t>
            </a:r>
            <a:r>
              <a:rPr lang="en-US" sz="1900" dirty="0">
                <a:solidFill>
                  <a:srgbClr val="273239"/>
                </a:solidFill>
                <a:latin typeface="urw-din"/>
              </a:rPr>
              <a:t> of candidate set item is less than </a:t>
            </a:r>
            <a:r>
              <a:rPr lang="en-US" sz="1900" dirty="0" err="1">
                <a:solidFill>
                  <a:srgbClr val="273239"/>
                </a:solidFill>
                <a:latin typeface="urw-din"/>
              </a:rPr>
              <a:t>min_support</a:t>
            </a:r>
            <a:r>
              <a:rPr lang="en-US" sz="1900" dirty="0">
                <a:solidFill>
                  <a:srgbClr val="273239"/>
                </a:solidFill>
                <a:latin typeface="urw-din"/>
              </a:rPr>
              <a:t> then remove those items) this gives us itemset L2.</a:t>
            </a:r>
          </a:p>
          <a:p>
            <a:pPr fontAlgn="base"/>
            <a:endParaRPr lang="en-IN" sz="1900" dirty="0">
              <a:solidFill>
                <a:srgbClr val="273239"/>
              </a:solidFill>
              <a:latin typeface="urw-din"/>
            </a:endParaRPr>
          </a:p>
        </p:txBody>
      </p:sp>
      <p:pic>
        <p:nvPicPr>
          <p:cNvPr id="43010" name="Picture 2" descr="Lightbox">
            <a:extLst>
              <a:ext uri="{FF2B5EF4-FFF2-40B4-BE49-F238E27FC236}">
                <a16:creationId xmlns:a16="http://schemas.microsoft.com/office/drawing/2014/main" id="{FD3C0D6F-D14A-43AD-A869-518B22BD29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599" y="3200399"/>
            <a:ext cx="2175235" cy="264231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4C99E64-EBC8-4FB5-A0D5-D161C63F0FA9}"/>
              </a:ext>
            </a:extLst>
          </p:cNvPr>
          <p:cNvSpPr/>
          <p:nvPr/>
        </p:nvSpPr>
        <p:spPr>
          <a:xfrm>
            <a:off x="4894126" y="5493063"/>
            <a:ext cx="2081707"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C2EC8D5-49A4-4EC3-AFD6-533A481C7C5E}"/>
              </a:ext>
            </a:extLst>
          </p:cNvPr>
          <p:cNvSpPr txBox="1"/>
          <p:nvPr/>
        </p:nvSpPr>
        <p:spPr>
          <a:xfrm>
            <a:off x="5261648" y="2739787"/>
            <a:ext cx="1295400" cy="369332"/>
          </a:xfrm>
          <a:prstGeom prst="rect">
            <a:avLst/>
          </a:prstGeom>
          <a:noFill/>
        </p:spPr>
        <p:txBody>
          <a:bodyPr wrap="square" rtlCol="0">
            <a:spAutoFit/>
          </a:bodyPr>
          <a:lstStyle/>
          <a:p>
            <a:r>
              <a:rPr lang="en-US" dirty="0">
                <a:solidFill>
                  <a:srgbClr val="273239"/>
                </a:solidFill>
                <a:latin typeface="urw-din"/>
              </a:rPr>
              <a:t>L2</a:t>
            </a:r>
            <a:endParaRPr lang="en-IN" dirty="0"/>
          </a:p>
        </p:txBody>
      </p:sp>
    </p:spTree>
    <p:extLst>
      <p:ext uri="{BB962C8B-B14F-4D97-AF65-F5344CB8AC3E}">
        <p14:creationId xmlns:p14="http://schemas.microsoft.com/office/powerpoint/2010/main" val="2925470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C785C-BA44-4C4B-8457-4217263DF0A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7071F2-C79F-40CA-B495-2AC5B48A7B8D}"/>
              </a:ext>
            </a:extLst>
          </p:cNvPr>
          <p:cNvSpPr>
            <a:spLocks noGrp="1"/>
          </p:cNvSpPr>
          <p:nvPr>
            <p:ph idx="1"/>
          </p:nvPr>
        </p:nvSpPr>
        <p:spPr>
          <a:xfrm>
            <a:off x="1993556" y="1339607"/>
            <a:ext cx="8229600" cy="4525963"/>
          </a:xfrm>
        </p:spPr>
        <p:txBody>
          <a:bodyPr>
            <a:normAutofit/>
          </a:bodyPr>
          <a:lstStyle/>
          <a:p>
            <a:pPr algn="l" fontAlgn="base"/>
            <a:r>
              <a:rPr lang="en-US" sz="1200" b="1" dirty="0">
                <a:solidFill>
                  <a:srgbClr val="273239"/>
                </a:solidFill>
                <a:latin typeface="urw-din"/>
              </a:rPr>
              <a:t>Step-3:</a:t>
            </a:r>
          </a:p>
          <a:p>
            <a:pPr algn="l" fontAlgn="base">
              <a:buFont typeface="Arial" panose="020B0604020202020204" pitchFamily="34" charset="0"/>
              <a:buChar char="•"/>
            </a:pPr>
            <a:r>
              <a:rPr lang="en-US" sz="1200" dirty="0">
                <a:solidFill>
                  <a:srgbClr val="273239"/>
                </a:solidFill>
                <a:latin typeface="urw-din"/>
              </a:rPr>
              <a:t>Generate candidate set C3 using L2 (join step). Condition of joining Lk-1 and Lk-1 is that it should have (K-2) elements in common. So here, for L2, first element should match.</a:t>
            </a:r>
            <a:br>
              <a:rPr lang="en-US" sz="1200" dirty="0">
                <a:solidFill>
                  <a:srgbClr val="273239"/>
                </a:solidFill>
                <a:latin typeface="urw-din"/>
              </a:rPr>
            </a:br>
            <a:r>
              <a:rPr lang="en-US" sz="1200" dirty="0">
                <a:solidFill>
                  <a:srgbClr val="273239"/>
                </a:solidFill>
                <a:latin typeface="urw-din"/>
              </a:rPr>
              <a:t>So itemset generated by joining L2 is {I1, I2, I3}{I1, I2, I5}{I1, I3, i5}{I2, I3, I4}{I2, I4, I5}{I2, I3, I5}</a:t>
            </a:r>
          </a:p>
          <a:p>
            <a:pPr algn="l" fontAlgn="base">
              <a:buFont typeface="Arial" panose="020B0604020202020204" pitchFamily="34" charset="0"/>
              <a:buChar char="•"/>
            </a:pPr>
            <a:r>
              <a:rPr lang="en-US" sz="1200" dirty="0">
                <a:solidFill>
                  <a:srgbClr val="273239"/>
                </a:solidFill>
                <a:latin typeface="urw-din"/>
              </a:rPr>
              <a:t>Check if all subsets of these </a:t>
            </a:r>
            <a:r>
              <a:rPr lang="en-US" sz="1200" dirty="0" err="1">
                <a:solidFill>
                  <a:srgbClr val="273239"/>
                </a:solidFill>
                <a:latin typeface="urw-din"/>
              </a:rPr>
              <a:t>itemsets</a:t>
            </a:r>
            <a:r>
              <a:rPr lang="en-US" sz="1200" dirty="0">
                <a:solidFill>
                  <a:srgbClr val="273239"/>
                </a:solidFill>
                <a:latin typeface="urw-din"/>
              </a:rPr>
              <a:t> are frequent or not and if not, then remove that itemset.(Here subset of {I1, I2, I3} are {I1, I2},{I2, I3},{I1, I3} which are frequent. For {I2, I3, I4}, subset {I3, I4} is not frequent so remove it. Similarly check for every itemset)find support count of these remaining itemset by searching in dataset.</a:t>
            </a:r>
          </a:p>
          <a:p>
            <a:pPr algn="l" fontAlgn="base">
              <a:buFont typeface="Arial" panose="020B0604020202020204" pitchFamily="34" charset="0"/>
              <a:buChar char="•"/>
            </a:pPr>
            <a:r>
              <a:rPr lang="en-US" sz="1200" dirty="0">
                <a:solidFill>
                  <a:srgbClr val="273239"/>
                </a:solidFill>
                <a:latin typeface="urw-din"/>
              </a:rPr>
              <a:t>(II) Compare candidate (C3) support count with minimum support count(here </a:t>
            </a:r>
            <a:r>
              <a:rPr lang="en-US" sz="1200" dirty="0" err="1">
                <a:solidFill>
                  <a:srgbClr val="273239"/>
                </a:solidFill>
                <a:latin typeface="urw-din"/>
              </a:rPr>
              <a:t>min_support</a:t>
            </a:r>
            <a:r>
              <a:rPr lang="en-US" sz="1200" dirty="0">
                <a:solidFill>
                  <a:srgbClr val="273239"/>
                </a:solidFill>
                <a:latin typeface="urw-din"/>
              </a:rPr>
              <a:t>=2 if </a:t>
            </a:r>
            <a:r>
              <a:rPr lang="en-US" sz="1200" dirty="0" err="1">
                <a:solidFill>
                  <a:srgbClr val="273239"/>
                </a:solidFill>
                <a:latin typeface="urw-din"/>
              </a:rPr>
              <a:t>support_count</a:t>
            </a:r>
            <a:r>
              <a:rPr lang="en-US" sz="1200" dirty="0">
                <a:solidFill>
                  <a:srgbClr val="273239"/>
                </a:solidFill>
                <a:latin typeface="urw-din"/>
              </a:rPr>
              <a:t> of candidate set item is less than </a:t>
            </a:r>
            <a:r>
              <a:rPr lang="en-US" sz="1200" dirty="0" err="1">
                <a:solidFill>
                  <a:srgbClr val="273239"/>
                </a:solidFill>
                <a:latin typeface="urw-din"/>
              </a:rPr>
              <a:t>min_support</a:t>
            </a:r>
            <a:r>
              <a:rPr lang="en-US" sz="1200" dirty="0">
                <a:solidFill>
                  <a:srgbClr val="273239"/>
                </a:solidFill>
                <a:latin typeface="urw-din"/>
              </a:rPr>
              <a:t> then remove those items) this gives us itemset L3</a:t>
            </a:r>
            <a:r>
              <a:rPr lang="en-US" sz="900" dirty="0">
                <a:solidFill>
                  <a:srgbClr val="273239"/>
                </a:solidFill>
                <a:latin typeface="urw-din"/>
              </a:rPr>
              <a:t>.</a:t>
            </a:r>
            <a:endParaRPr lang="en-US" sz="1200" dirty="0">
              <a:solidFill>
                <a:srgbClr val="273239"/>
              </a:solidFill>
              <a:latin typeface="urw-din"/>
            </a:endParaRPr>
          </a:p>
          <a:p>
            <a:pPr marL="0" indent="0">
              <a:buNone/>
            </a:pPr>
            <a:r>
              <a:rPr lang="en-US" sz="2000" dirty="0">
                <a:solidFill>
                  <a:srgbClr val="273239"/>
                </a:solidFill>
                <a:latin typeface="urw-din"/>
              </a:rPr>
              <a:t>	</a:t>
            </a:r>
            <a:r>
              <a:rPr lang="en-US" sz="1400" dirty="0">
                <a:solidFill>
                  <a:srgbClr val="273239"/>
                </a:solidFill>
                <a:latin typeface="urw-din"/>
              </a:rPr>
              <a:t> C3</a:t>
            </a:r>
            <a:endParaRPr lang="en-IN" sz="2000" dirty="0"/>
          </a:p>
        </p:txBody>
      </p:sp>
      <p:pic>
        <p:nvPicPr>
          <p:cNvPr id="44034" name="Picture 2" descr="Lightbox">
            <a:extLst>
              <a:ext uri="{FF2B5EF4-FFF2-40B4-BE49-F238E27FC236}">
                <a16:creationId xmlns:a16="http://schemas.microsoft.com/office/drawing/2014/main" id="{A68F8949-D7AD-4150-BDBA-F81674DC3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1" y="4170948"/>
            <a:ext cx="1609725" cy="6953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38A62CC-088D-46A7-A510-AE3E2304344A}"/>
              </a:ext>
            </a:extLst>
          </p:cNvPr>
          <p:cNvPicPr>
            <a:picLocks noChangeAspect="1"/>
          </p:cNvPicPr>
          <p:nvPr/>
        </p:nvPicPr>
        <p:blipFill>
          <a:blip r:embed="rId3"/>
          <a:stretch>
            <a:fillRect/>
          </a:stretch>
        </p:blipFill>
        <p:spPr>
          <a:xfrm>
            <a:off x="10198444" y="2655747"/>
            <a:ext cx="1324232" cy="1609310"/>
          </a:xfrm>
          <a:prstGeom prst="rect">
            <a:avLst/>
          </a:prstGeom>
        </p:spPr>
      </p:pic>
      <p:graphicFrame>
        <p:nvGraphicFramePr>
          <p:cNvPr id="5" name="Table 5">
            <a:extLst>
              <a:ext uri="{FF2B5EF4-FFF2-40B4-BE49-F238E27FC236}">
                <a16:creationId xmlns:a16="http://schemas.microsoft.com/office/drawing/2014/main" id="{E1C4B128-9ED9-4A91-AC9D-2426E46C0410}"/>
              </a:ext>
            </a:extLst>
          </p:cNvPr>
          <p:cNvGraphicFramePr>
            <a:graphicFrameLocks noGrp="1"/>
          </p:cNvGraphicFramePr>
          <p:nvPr/>
        </p:nvGraphicFramePr>
        <p:xfrm>
          <a:off x="2619631" y="3602588"/>
          <a:ext cx="2133600" cy="256032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1690235360"/>
                    </a:ext>
                  </a:extLst>
                </a:gridCol>
                <a:gridCol w="1066800">
                  <a:extLst>
                    <a:ext uri="{9D8B030D-6E8A-4147-A177-3AD203B41FA5}">
                      <a16:colId xmlns:a16="http://schemas.microsoft.com/office/drawing/2014/main" val="4244299542"/>
                    </a:ext>
                  </a:extLst>
                </a:gridCol>
              </a:tblGrid>
              <a:tr h="257920">
                <a:tc>
                  <a:txBody>
                    <a:bodyPr/>
                    <a:lstStyle/>
                    <a:p>
                      <a:r>
                        <a:rPr lang="en-US" sz="1000" kern="1200" dirty="0">
                          <a:solidFill>
                            <a:schemeClr val="bg1"/>
                          </a:solidFill>
                          <a:latin typeface="urw-din"/>
                          <a:ea typeface="+mn-ea"/>
                          <a:cs typeface="+mn-cs"/>
                        </a:rPr>
                        <a:t>Itemset</a:t>
                      </a:r>
                      <a:endParaRPr lang="en-IN" sz="1000" kern="1200" dirty="0">
                        <a:solidFill>
                          <a:schemeClr val="bg1"/>
                        </a:solidFill>
                        <a:latin typeface="urw-din"/>
                        <a:ea typeface="+mn-ea"/>
                        <a:cs typeface="+mn-cs"/>
                      </a:endParaRPr>
                    </a:p>
                  </a:txBody>
                  <a:tcPr/>
                </a:tc>
                <a:tc>
                  <a:txBody>
                    <a:bodyPr/>
                    <a:lstStyle/>
                    <a:p>
                      <a:pPr marL="0" indent="0" algn="l" defTabSz="914400" rtl="0" eaLnBrk="1" fontAlgn="base" latinLnBrk="0" hangingPunct="1">
                        <a:spcBef>
                          <a:spcPct val="20000"/>
                        </a:spcBef>
                        <a:buFont typeface="Arial" panose="020B0604020202020204" pitchFamily="34" charset="0"/>
                        <a:buNone/>
                      </a:pPr>
                      <a:r>
                        <a:rPr lang="en-US" sz="1200" kern="1200" dirty="0" err="1">
                          <a:solidFill>
                            <a:schemeClr val="bg1"/>
                          </a:solidFill>
                          <a:latin typeface="urw-din"/>
                          <a:ea typeface="+mn-ea"/>
                          <a:cs typeface="+mn-cs"/>
                        </a:rPr>
                        <a:t>Sup_count</a:t>
                      </a:r>
                      <a:endParaRPr lang="en-IN" sz="1200" kern="1200" dirty="0">
                        <a:solidFill>
                          <a:schemeClr val="bg1"/>
                        </a:solidFill>
                        <a:latin typeface="urw-din"/>
                        <a:ea typeface="+mn-ea"/>
                        <a:cs typeface="+mn-cs"/>
                      </a:endParaRPr>
                    </a:p>
                  </a:txBody>
                  <a:tcPr/>
                </a:tc>
                <a:extLst>
                  <a:ext uri="{0D108BD9-81ED-4DB2-BD59-A6C34878D82A}">
                    <a16:rowId xmlns:a16="http://schemas.microsoft.com/office/drawing/2014/main" val="2912943428"/>
                  </a:ext>
                </a:extLst>
              </a:tr>
              <a:tr h="343893">
                <a:tc>
                  <a:txBody>
                    <a:bodyPr/>
                    <a:lstStyle/>
                    <a:p>
                      <a:r>
                        <a:rPr lang="en-US" sz="1200" dirty="0">
                          <a:solidFill>
                            <a:srgbClr val="273239"/>
                          </a:solidFill>
                          <a:latin typeface="urw-din"/>
                        </a:rPr>
                        <a:t>{I1, I2, I3}</a:t>
                      </a:r>
                      <a:endParaRPr lang="en-IN" sz="1200" dirty="0"/>
                    </a:p>
                  </a:txBody>
                  <a:tcPr/>
                </a:tc>
                <a:tc>
                  <a:txBody>
                    <a:bodyPr/>
                    <a:lstStyle/>
                    <a:p>
                      <a:r>
                        <a:rPr lang="en-US" dirty="0"/>
                        <a:t>2</a:t>
                      </a:r>
                      <a:endParaRPr lang="en-IN" dirty="0"/>
                    </a:p>
                  </a:txBody>
                  <a:tcPr/>
                </a:tc>
                <a:extLst>
                  <a:ext uri="{0D108BD9-81ED-4DB2-BD59-A6C34878D82A}">
                    <a16:rowId xmlns:a16="http://schemas.microsoft.com/office/drawing/2014/main" val="4244615962"/>
                  </a:ext>
                </a:extLst>
              </a:tr>
              <a:tr h="343893">
                <a:tc>
                  <a:txBody>
                    <a:bodyPr/>
                    <a:lstStyle/>
                    <a:p>
                      <a:r>
                        <a:rPr lang="en-US" sz="1200" dirty="0">
                          <a:solidFill>
                            <a:srgbClr val="273239"/>
                          </a:solidFill>
                          <a:latin typeface="urw-din"/>
                        </a:rPr>
                        <a:t>{I1, I2, I5}</a:t>
                      </a:r>
                      <a:endParaRPr lang="en-IN" sz="1200" dirty="0"/>
                    </a:p>
                  </a:txBody>
                  <a:tcPr/>
                </a:tc>
                <a:tc>
                  <a:txBody>
                    <a:bodyPr/>
                    <a:lstStyle/>
                    <a:p>
                      <a:r>
                        <a:rPr lang="en-US" dirty="0"/>
                        <a:t>2</a:t>
                      </a:r>
                      <a:endParaRPr lang="en-IN" dirty="0"/>
                    </a:p>
                  </a:txBody>
                  <a:tcPr/>
                </a:tc>
                <a:extLst>
                  <a:ext uri="{0D108BD9-81ED-4DB2-BD59-A6C34878D82A}">
                    <a16:rowId xmlns:a16="http://schemas.microsoft.com/office/drawing/2014/main" val="627106776"/>
                  </a:ext>
                </a:extLst>
              </a:tr>
              <a:tr h="343893">
                <a:tc>
                  <a:txBody>
                    <a:bodyPr/>
                    <a:lstStyle/>
                    <a:p>
                      <a:r>
                        <a:rPr lang="en-US" sz="1200" dirty="0">
                          <a:solidFill>
                            <a:srgbClr val="273239"/>
                          </a:solidFill>
                          <a:latin typeface="urw-din"/>
                        </a:rPr>
                        <a:t>{I1, I3, i5}</a:t>
                      </a:r>
                      <a:endParaRPr lang="en-IN" sz="1200" dirty="0"/>
                    </a:p>
                  </a:txBody>
                  <a:tcPr/>
                </a:tc>
                <a:tc>
                  <a:txBody>
                    <a:bodyPr/>
                    <a:lstStyle/>
                    <a:p>
                      <a:r>
                        <a:rPr lang="en-US" dirty="0"/>
                        <a:t>1</a:t>
                      </a:r>
                      <a:endParaRPr lang="en-IN" dirty="0"/>
                    </a:p>
                  </a:txBody>
                  <a:tcPr/>
                </a:tc>
                <a:extLst>
                  <a:ext uri="{0D108BD9-81ED-4DB2-BD59-A6C34878D82A}">
                    <a16:rowId xmlns:a16="http://schemas.microsoft.com/office/drawing/2014/main" val="3744642960"/>
                  </a:ext>
                </a:extLst>
              </a:tr>
              <a:tr h="343893">
                <a:tc>
                  <a:txBody>
                    <a:bodyPr/>
                    <a:lstStyle/>
                    <a:p>
                      <a:r>
                        <a:rPr lang="en-US" sz="1200" dirty="0">
                          <a:solidFill>
                            <a:srgbClr val="273239"/>
                          </a:solidFill>
                          <a:latin typeface="urw-din"/>
                        </a:rPr>
                        <a:t>{I2, I3, I4}</a:t>
                      </a:r>
                      <a:endParaRPr lang="en-IN" sz="1200" dirty="0"/>
                    </a:p>
                  </a:txBody>
                  <a:tcPr/>
                </a:tc>
                <a:tc>
                  <a:txBody>
                    <a:bodyPr/>
                    <a:lstStyle/>
                    <a:p>
                      <a:r>
                        <a:rPr lang="en-US" dirty="0"/>
                        <a:t>0</a:t>
                      </a:r>
                      <a:endParaRPr lang="en-IN" dirty="0"/>
                    </a:p>
                  </a:txBody>
                  <a:tcPr/>
                </a:tc>
                <a:extLst>
                  <a:ext uri="{0D108BD9-81ED-4DB2-BD59-A6C34878D82A}">
                    <a16:rowId xmlns:a16="http://schemas.microsoft.com/office/drawing/2014/main" val="1967165865"/>
                  </a:ext>
                </a:extLst>
              </a:tr>
              <a:tr h="343893">
                <a:tc>
                  <a:txBody>
                    <a:bodyPr/>
                    <a:lstStyle/>
                    <a:p>
                      <a:r>
                        <a:rPr lang="en-US" sz="1200" dirty="0">
                          <a:solidFill>
                            <a:srgbClr val="273239"/>
                          </a:solidFill>
                          <a:latin typeface="urw-din"/>
                        </a:rPr>
                        <a:t>{I2, I4, I5}</a:t>
                      </a:r>
                      <a:endParaRPr lang="en-IN" sz="1200" dirty="0"/>
                    </a:p>
                  </a:txBody>
                  <a:tcPr/>
                </a:tc>
                <a:tc>
                  <a:txBody>
                    <a:bodyPr/>
                    <a:lstStyle/>
                    <a:p>
                      <a:r>
                        <a:rPr lang="en-US" dirty="0"/>
                        <a:t>0</a:t>
                      </a:r>
                      <a:endParaRPr lang="en-IN" dirty="0"/>
                    </a:p>
                  </a:txBody>
                  <a:tcPr/>
                </a:tc>
                <a:extLst>
                  <a:ext uri="{0D108BD9-81ED-4DB2-BD59-A6C34878D82A}">
                    <a16:rowId xmlns:a16="http://schemas.microsoft.com/office/drawing/2014/main" val="1319013173"/>
                  </a:ext>
                </a:extLst>
              </a:tr>
              <a:tr h="4298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73239"/>
                          </a:solidFill>
                          <a:latin typeface="urw-din"/>
                        </a:rPr>
                        <a:t>{I2, I3, I5}</a:t>
                      </a:r>
                    </a:p>
                    <a:p>
                      <a:endParaRPr lang="en-IN" sz="1200" dirty="0"/>
                    </a:p>
                  </a:txBody>
                  <a:tcPr/>
                </a:tc>
                <a:tc>
                  <a:txBody>
                    <a:bodyPr/>
                    <a:lstStyle/>
                    <a:p>
                      <a:r>
                        <a:rPr lang="en-US" dirty="0"/>
                        <a:t>1</a:t>
                      </a:r>
                      <a:endParaRPr lang="en-IN" dirty="0"/>
                    </a:p>
                  </a:txBody>
                  <a:tcPr/>
                </a:tc>
                <a:extLst>
                  <a:ext uri="{0D108BD9-81ED-4DB2-BD59-A6C34878D82A}">
                    <a16:rowId xmlns:a16="http://schemas.microsoft.com/office/drawing/2014/main" val="214041853"/>
                  </a:ext>
                </a:extLst>
              </a:tr>
            </a:tbl>
          </a:graphicData>
        </a:graphic>
      </p:graphicFrame>
      <p:pic>
        <p:nvPicPr>
          <p:cNvPr id="7" name="Picture 2">
            <a:extLst>
              <a:ext uri="{FF2B5EF4-FFF2-40B4-BE49-F238E27FC236}">
                <a16:creationId xmlns:a16="http://schemas.microsoft.com/office/drawing/2014/main" id="{346281C0-9A96-481E-86A0-6DF0DB6F25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46457" y="4431078"/>
            <a:ext cx="1564014" cy="217463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32DE53D-AD9C-430C-9A3F-88E8370523F3}"/>
              </a:ext>
            </a:extLst>
          </p:cNvPr>
          <p:cNvSpPr txBox="1"/>
          <p:nvPr/>
        </p:nvSpPr>
        <p:spPr>
          <a:xfrm>
            <a:off x="6172200" y="3886200"/>
            <a:ext cx="533400" cy="369332"/>
          </a:xfrm>
          <a:prstGeom prst="rect">
            <a:avLst/>
          </a:prstGeom>
          <a:noFill/>
        </p:spPr>
        <p:txBody>
          <a:bodyPr wrap="square" rtlCol="0">
            <a:spAutoFit/>
          </a:bodyPr>
          <a:lstStyle/>
          <a:p>
            <a:r>
              <a:rPr lang="en-US" dirty="0"/>
              <a:t>L3</a:t>
            </a:r>
            <a:endParaRPr lang="en-IN" dirty="0"/>
          </a:p>
        </p:txBody>
      </p:sp>
      <p:sp>
        <p:nvSpPr>
          <p:cNvPr id="8" name="TextBox 7">
            <a:extLst>
              <a:ext uri="{FF2B5EF4-FFF2-40B4-BE49-F238E27FC236}">
                <a16:creationId xmlns:a16="http://schemas.microsoft.com/office/drawing/2014/main" id="{37FBF3D2-5B5B-B504-3C39-19063873A2E7}"/>
              </a:ext>
            </a:extLst>
          </p:cNvPr>
          <p:cNvSpPr txBox="1"/>
          <p:nvPr/>
        </p:nvSpPr>
        <p:spPr>
          <a:xfrm>
            <a:off x="7429499" y="4431078"/>
            <a:ext cx="2066925" cy="923330"/>
          </a:xfrm>
          <a:prstGeom prst="rect">
            <a:avLst/>
          </a:prstGeom>
          <a:noFill/>
        </p:spPr>
        <p:txBody>
          <a:bodyPr wrap="square" rtlCol="0">
            <a:spAutoFit/>
          </a:bodyPr>
          <a:lstStyle/>
          <a:p>
            <a:r>
              <a:rPr lang="en-IN" dirty="0"/>
              <a:t>So, I1,I2,I3 and I1,I2,I5 are frequent </a:t>
            </a:r>
            <a:r>
              <a:rPr lang="en-IN" dirty="0" err="1"/>
              <a:t>itemsets</a:t>
            </a:r>
            <a:endParaRPr lang="en-IN" dirty="0"/>
          </a:p>
        </p:txBody>
      </p:sp>
    </p:spTree>
    <p:extLst>
      <p:ext uri="{BB962C8B-B14F-4D97-AF65-F5344CB8AC3E}">
        <p14:creationId xmlns:p14="http://schemas.microsoft.com/office/powerpoint/2010/main" val="1658827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5370D-53FB-4508-BFA2-7ADA1C4E16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AFB865-97D2-4325-A4BE-E312D68A03AB}"/>
              </a:ext>
            </a:extLst>
          </p:cNvPr>
          <p:cNvSpPr>
            <a:spLocks noGrp="1"/>
          </p:cNvSpPr>
          <p:nvPr>
            <p:ph idx="1"/>
          </p:nvPr>
        </p:nvSpPr>
        <p:spPr/>
        <p:txBody>
          <a:bodyPr>
            <a:normAutofit/>
          </a:bodyPr>
          <a:lstStyle/>
          <a:p>
            <a:pPr fontAlgn="base"/>
            <a:r>
              <a:rPr lang="en-US" sz="1300" dirty="0">
                <a:solidFill>
                  <a:srgbClr val="273239"/>
                </a:solidFill>
                <a:latin typeface="urw-din"/>
              </a:rPr>
              <a:t>Step-4:</a:t>
            </a:r>
          </a:p>
          <a:p>
            <a:pPr fontAlgn="base"/>
            <a:r>
              <a:rPr lang="en-US" sz="1300" dirty="0">
                <a:solidFill>
                  <a:srgbClr val="273239"/>
                </a:solidFill>
                <a:latin typeface="urw-din"/>
              </a:rPr>
              <a:t>Generate candidate set C4 using L3 (join step). Condition of joining Lk-1 and Lk-1 (K=4) is that, they should have (K-2) elements in common. So here, for L3, first 2 elements (items) should match.</a:t>
            </a:r>
          </a:p>
          <a:p>
            <a:pPr fontAlgn="base"/>
            <a:r>
              <a:rPr lang="en-US" sz="1300" b="1" dirty="0">
                <a:solidFill>
                  <a:srgbClr val="273239"/>
                </a:solidFill>
                <a:latin typeface="urw-din"/>
              </a:rPr>
              <a:t>Check all subsets of these </a:t>
            </a:r>
            <a:r>
              <a:rPr lang="en-US" sz="1300" b="1" dirty="0" err="1">
                <a:solidFill>
                  <a:srgbClr val="273239"/>
                </a:solidFill>
                <a:latin typeface="urw-din"/>
              </a:rPr>
              <a:t>itemsets</a:t>
            </a:r>
            <a:r>
              <a:rPr lang="en-US" sz="1300" b="1" dirty="0">
                <a:solidFill>
                  <a:srgbClr val="273239"/>
                </a:solidFill>
                <a:latin typeface="urw-din"/>
              </a:rPr>
              <a:t> are frequent or not (Here itemset formed by joining L3 is {I1, I2, I3, I5} so its subset contains {I1, I3, I5}, which is not frequent). So no itemset in C4</a:t>
            </a:r>
          </a:p>
          <a:p>
            <a:pPr fontAlgn="base"/>
            <a:r>
              <a:rPr lang="en-US" sz="1300" dirty="0">
                <a:solidFill>
                  <a:srgbClr val="273239"/>
                </a:solidFill>
                <a:latin typeface="urw-din"/>
              </a:rPr>
              <a:t>We stop here because no frequent </a:t>
            </a:r>
            <a:r>
              <a:rPr lang="en-US" sz="1300" dirty="0" err="1">
                <a:solidFill>
                  <a:srgbClr val="273239"/>
                </a:solidFill>
                <a:latin typeface="urw-din"/>
              </a:rPr>
              <a:t>itemsets</a:t>
            </a:r>
            <a:r>
              <a:rPr lang="en-US" sz="1300" dirty="0">
                <a:solidFill>
                  <a:srgbClr val="273239"/>
                </a:solidFill>
                <a:latin typeface="urw-din"/>
              </a:rPr>
              <a:t> are found further</a:t>
            </a:r>
          </a:p>
          <a:p>
            <a:pPr marL="0" indent="0">
              <a:buNone/>
            </a:pPr>
            <a:endParaRPr lang="en-IN" dirty="0"/>
          </a:p>
        </p:txBody>
      </p:sp>
      <p:graphicFrame>
        <p:nvGraphicFramePr>
          <p:cNvPr id="5" name="Table 5">
            <a:extLst>
              <a:ext uri="{FF2B5EF4-FFF2-40B4-BE49-F238E27FC236}">
                <a16:creationId xmlns:a16="http://schemas.microsoft.com/office/drawing/2014/main" id="{60838126-9DBA-4180-8C42-6795A5CFCE8F}"/>
              </a:ext>
            </a:extLst>
          </p:cNvPr>
          <p:cNvGraphicFramePr>
            <a:graphicFrameLocks noGrp="1"/>
          </p:cNvGraphicFramePr>
          <p:nvPr/>
        </p:nvGraphicFramePr>
        <p:xfrm>
          <a:off x="2743200" y="3863182"/>
          <a:ext cx="2743200" cy="658051"/>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1456161848"/>
                    </a:ext>
                  </a:extLst>
                </a:gridCol>
                <a:gridCol w="1371600">
                  <a:extLst>
                    <a:ext uri="{9D8B030D-6E8A-4147-A177-3AD203B41FA5}">
                      <a16:colId xmlns:a16="http://schemas.microsoft.com/office/drawing/2014/main" val="4218176351"/>
                    </a:ext>
                  </a:extLst>
                </a:gridCol>
              </a:tblGrid>
              <a:tr h="248888">
                <a:tc>
                  <a:txBody>
                    <a:bodyPr/>
                    <a:lstStyle/>
                    <a:p>
                      <a:r>
                        <a:rPr lang="en-US" sz="1000" kern="1200" dirty="0">
                          <a:solidFill>
                            <a:schemeClr val="bg1"/>
                          </a:solidFill>
                          <a:latin typeface="urw-din"/>
                          <a:ea typeface="+mn-ea"/>
                          <a:cs typeface="+mn-cs"/>
                        </a:rPr>
                        <a:t>Itemset</a:t>
                      </a:r>
                      <a:endParaRPr lang="en-IN" sz="1000" kern="1200" dirty="0">
                        <a:solidFill>
                          <a:schemeClr val="bg1"/>
                        </a:solidFill>
                        <a:latin typeface="urw-din"/>
                        <a:ea typeface="+mn-ea"/>
                        <a:cs typeface="+mn-cs"/>
                      </a:endParaRPr>
                    </a:p>
                  </a:txBody>
                  <a:tcPr/>
                </a:tc>
                <a:tc>
                  <a:txBody>
                    <a:bodyPr/>
                    <a:lstStyle/>
                    <a:p>
                      <a:pPr marL="0" indent="0" algn="l" defTabSz="914400" rtl="0" eaLnBrk="1" fontAlgn="base" latinLnBrk="0" hangingPunct="1">
                        <a:spcBef>
                          <a:spcPct val="20000"/>
                        </a:spcBef>
                        <a:buFont typeface="Arial" panose="020B0604020202020204" pitchFamily="34" charset="0"/>
                        <a:buNone/>
                      </a:pPr>
                      <a:r>
                        <a:rPr lang="en-US" sz="1200" kern="1200" dirty="0" err="1">
                          <a:solidFill>
                            <a:schemeClr val="bg1"/>
                          </a:solidFill>
                          <a:latin typeface="urw-din"/>
                          <a:ea typeface="+mn-ea"/>
                          <a:cs typeface="+mn-cs"/>
                        </a:rPr>
                        <a:t>Sup_count</a:t>
                      </a:r>
                      <a:endParaRPr lang="en-IN" sz="1200" kern="1200" dirty="0">
                        <a:solidFill>
                          <a:schemeClr val="bg1"/>
                        </a:solidFill>
                        <a:latin typeface="urw-din"/>
                        <a:ea typeface="+mn-ea"/>
                        <a:cs typeface="+mn-cs"/>
                      </a:endParaRPr>
                    </a:p>
                  </a:txBody>
                  <a:tcPr/>
                </a:tc>
                <a:extLst>
                  <a:ext uri="{0D108BD9-81ED-4DB2-BD59-A6C34878D82A}">
                    <a16:rowId xmlns:a16="http://schemas.microsoft.com/office/drawing/2014/main" val="327429587"/>
                  </a:ext>
                </a:extLst>
              </a:tr>
              <a:tr h="3837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kern="1200" dirty="0">
                          <a:solidFill>
                            <a:srgbClr val="273239"/>
                          </a:solidFill>
                          <a:latin typeface="urw-din"/>
                          <a:ea typeface="+mn-ea"/>
                          <a:cs typeface="+mn-cs"/>
                        </a:rPr>
                        <a:t>{I1, I2, I3, I5}</a:t>
                      </a:r>
                      <a:endParaRPr lang="en-IN" sz="1300" kern="1200" dirty="0">
                        <a:solidFill>
                          <a:srgbClr val="273239"/>
                        </a:solidFill>
                        <a:latin typeface="urw-din"/>
                        <a:ea typeface="+mn-ea"/>
                        <a:cs typeface="+mn-cs"/>
                      </a:endParaRPr>
                    </a:p>
                  </a:txBody>
                  <a:tcPr/>
                </a:tc>
                <a:tc>
                  <a:txBody>
                    <a:bodyPr/>
                    <a:lstStyle/>
                    <a:p>
                      <a:r>
                        <a:rPr lang="el-GR" sz="1300" kern="1200" dirty="0">
                          <a:solidFill>
                            <a:srgbClr val="273239"/>
                          </a:solidFill>
                          <a:latin typeface="urw-din"/>
                          <a:ea typeface="+mn-ea"/>
                          <a:cs typeface="+mn-cs"/>
                        </a:rPr>
                        <a:t>Φ </a:t>
                      </a:r>
                      <a:endParaRPr lang="en-IN" sz="1300" kern="1200" dirty="0">
                        <a:solidFill>
                          <a:srgbClr val="273239"/>
                        </a:solidFill>
                        <a:latin typeface="urw-din"/>
                        <a:ea typeface="+mn-ea"/>
                        <a:cs typeface="+mn-cs"/>
                      </a:endParaRPr>
                    </a:p>
                  </a:txBody>
                  <a:tcPr/>
                </a:tc>
                <a:extLst>
                  <a:ext uri="{0D108BD9-81ED-4DB2-BD59-A6C34878D82A}">
                    <a16:rowId xmlns:a16="http://schemas.microsoft.com/office/drawing/2014/main" val="4017245787"/>
                  </a:ext>
                </a:extLst>
              </a:tr>
            </a:tbl>
          </a:graphicData>
        </a:graphic>
      </p:graphicFrame>
      <p:sp>
        <p:nvSpPr>
          <p:cNvPr id="7" name="TextBox 6">
            <a:extLst>
              <a:ext uri="{FF2B5EF4-FFF2-40B4-BE49-F238E27FC236}">
                <a16:creationId xmlns:a16="http://schemas.microsoft.com/office/drawing/2014/main" id="{C34E0F01-4E58-43E6-890E-108EF2A7D89E}"/>
              </a:ext>
            </a:extLst>
          </p:cNvPr>
          <p:cNvSpPr txBox="1"/>
          <p:nvPr/>
        </p:nvSpPr>
        <p:spPr>
          <a:xfrm>
            <a:off x="2895600" y="3410465"/>
            <a:ext cx="533400" cy="369332"/>
          </a:xfrm>
          <a:prstGeom prst="rect">
            <a:avLst/>
          </a:prstGeom>
          <a:noFill/>
        </p:spPr>
        <p:txBody>
          <a:bodyPr wrap="square">
            <a:spAutoFit/>
          </a:bodyPr>
          <a:lstStyle/>
          <a:p>
            <a:r>
              <a:rPr lang="en-US" dirty="0">
                <a:solidFill>
                  <a:srgbClr val="273239"/>
                </a:solidFill>
                <a:latin typeface="urw-din"/>
              </a:rPr>
              <a:t>C4</a:t>
            </a:r>
            <a:endParaRPr lang="en-IN" dirty="0"/>
          </a:p>
        </p:txBody>
      </p:sp>
      <p:cxnSp>
        <p:nvCxnSpPr>
          <p:cNvPr id="9" name="Straight Arrow Connector 8">
            <a:extLst>
              <a:ext uri="{FF2B5EF4-FFF2-40B4-BE49-F238E27FC236}">
                <a16:creationId xmlns:a16="http://schemas.microsoft.com/office/drawing/2014/main" id="{12EF33BB-B401-47EF-944E-24DA471561AD}"/>
              </a:ext>
            </a:extLst>
          </p:cNvPr>
          <p:cNvCxnSpPr/>
          <p:nvPr/>
        </p:nvCxnSpPr>
        <p:spPr>
          <a:xfrm>
            <a:off x="5715000" y="4232513"/>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2B888DC-2D8F-4AD1-B233-88409A3E7BBB}"/>
              </a:ext>
            </a:extLst>
          </p:cNvPr>
          <p:cNvSpPr txBox="1"/>
          <p:nvPr/>
        </p:nvSpPr>
        <p:spPr>
          <a:xfrm>
            <a:off x="6858000" y="3429000"/>
            <a:ext cx="533400" cy="369332"/>
          </a:xfrm>
          <a:prstGeom prst="rect">
            <a:avLst/>
          </a:prstGeom>
          <a:noFill/>
        </p:spPr>
        <p:txBody>
          <a:bodyPr wrap="square">
            <a:spAutoFit/>
          </a:bodyPr>
          <a:lstStyle/>
          <a:p>
            <a:r>
              <a:rPr lang="en-US" dirty="0">
                <a:solidFill>
                  <a:srgbClr val="273239"/>
                </a:solidFill>
                <a:latin typeface="urw-din"/>
              </a:rPr>
              <a:t>L4</a:t>
            </a:r>
            <a:endParaRPr lang="en-IN" dirty="0"/>
          </a:p>
        </p:txBody>
      </p:sp>
      <p:graphicFrame>
        <p:nvGraphicFramePr>
          <p:cNvPr id="13" name="Table 13">
            <a:extLst>
              <a:ext uri="{FF2B5EF4-FFF2-40B4-BE49-F238E27FC236}">
                <a16:creationId xmlns:a16="http://schemas.microsoft.com/office/drawing/2014/main" id="{A1F8D099-ABA4-45C1-846F-E80FE86CE2CB}"/>
              </a:ext>
            </a:extLst>
          </p:cNvPr>
          <p:cNvGraphicFramePr>
            <a:graphicFrameLocks noGrp="1"/>
          </p:cNvGraphicFramePr>
          <p:nvPr/>
        </p:nvGraphicFramePr>
        <p:xfrm>
          <a:off x="6858000" y="3912473"/>
          <a:ext cx="1219200" cy="6400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762219968"/>
                    </a:ext>
                  </a:extLst>
                </a:gridCol>
              </a:tblGrid>
              <a:tr h="50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kern="1200" dirty="0">
                          <a:solidFill>
                            <a:srgbClr val="273239"/>
                          </a:solidFill>
                          <a:latin typeface="urw-din"/>
                          <a:ea typeface="+mn-ea"/>
                          <a:cs typeface="+mn-cs"/>
                        </a:rPr>
                        <a:t>Φ </a:t>
                      </a:r>
                      <a:endParaRPr lang="en-IN" sz="1800" kern="1200" dirty="0">
                        <a:solidFill>
                          <a:srgbClr val="273239"/>
                        </a:solidFill>
                        <a:latin typeface="urw-din"/>
                        <a:ea typeface="+mn-ea"/>
                        <a:cs typeface="+mn-cs"/>
                      </a:endParaRPr>
                    </a:p>
                    <a:p>
                      <a:endParaRPr lang="en-IN" dirty="0"/>
                    </a:p>
                  </a:txBody>
                  <a:tcPr>
                    <a:solidFill>
                      <a:schemeClr val="bg1"/>
                    </a:solidFill>
                  </a:tcPr>
                </a:tc>
                <a:extLst>
                  <a:ext uri="{0D108BD9-81ED-4DB2-BD59-A6C34878D82A}">
                    <a16:rowId xmlns:a16="http://schemas.microsoft.com/office/drawing/2014/main" val="1248118881"/>
                  </a:ext>
                </a:extLst>
              </a:tr>
            </a:tbl>
          </a:graphicData>
        </a:graphic>
      </p:graphicFrame>
    </p:spTree>
    <p:extLst>
      <p:ext uri="{BB962C8B-B14F-4D97-AF65-F5344CB8AC3E}">
        <p14:creationId xmlns:p14="http://schemas.microsoft.com/office/powerpoint/2010/main" val="15318541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AE479-134A-4302-B7E2-A515E3E9990C}"/>
              </a:ext>
            </a:extLst>
          </p:cNvPr>
          <p:cNvSpPr>
            <a:spLocks noGrp="1"/>
          </p:cNvSpPr>
          <p:nvPr>
            <p:ph type="title"/>
          </p:nvPr>
        </p:nvSpPr>
        <p:spPr>
          <a:xfrm>
            <a:off x="838200" y="38743"/>
            <a:ext cx="10515600" cy="1325563"/>
          </a:xfrm>
        </p:spPr>
        <p:txBody>
          <a:bodyPr/>
          <a:lstStyle/>
          <a:p>
            <a:r>
              <a:rPr lang="en-US" dirty="0"/>
              <a:t>Generation of association rules</a:t>
            </a:r>
            <a:endParaRPr lang="en-IN" dirty="0"/>
          </a:p>
        </p:txBody>
      </p:sp>
      <p:sp>
        <p:nvSpPr>
          <p:cNvPr id="3" name="Content Placeholder 2">
            <a:extLst>
              <a:ext uri="{FF2B5EF4-FFF2-40B4-BE49-F238E27FC236}">
                <a16:creationId xmlns:a16="http://schemas.microsoft.com/office/drawing/2014/main" id="{43AA283F-D446-49F5-9E75-B19D308663D6}"/>
              </a:ext>
            </a:extLst>
          </p:cNvPr>
          <p:cNvSpPr>
            <a:spLocks noGrp="1"/>
          </p:cNvSpPr>
          <p:nvPr>
            <p:ph idx="1"/>
          </p:nvPr>
        </p:nvSpPr>
        <p:spPr>
          <a:xfrm>
            <a:off x="422742" y="1100355"/>
            <a:ext cx="10515600" cy="4351338"/>
          </a:xfrm>
        </p:spPr>
        <p:txBody>
          <a:bodyPr>
            <a:noAutofit/>
          </a:bodyPr>
          <a:lstStyle/>
          <a:p>
            <a:pPr marL="0" indent="0">
              <a:buNone/>
            </a:pPr>
            <a:r>
              <a:rPr lang="en-US" sz="1200" dirty="0"/>
              <a:t>Thus, we have discovered all the frequent item-sets. Now generation of strong association rule comes into picture. For that we need to calculate confidence of each rule.</a:t>
            </a:r>
          </a:p>
          <a:p>
            <a:pPr marL="0" indent="0">
              <a:buNone/>
            </a:pPr>
            <a:r>
              <a:rPr lang="en-US" sz="1200" dirty="0"/>
              <a:t>Confidence –</a:t>
            </a:r>
          </a:p>
          <a:p>
            <a:pPr marL="0" indent="0">
              <a:buNone/>
            </a:pPr>
            <a:r>
              <a:rPr lang="en-US" sz="1200" dirty="0"/>
              <a:t>A confidence of 50% means that 50% of the customers, who purchased milk and bread also bought butter.</a:t>
            </a:r>
          </a:p>
          <a:p>
            <a:pPr marL="0" indent="0">
              <a:buNone/>
            </a:pPr>
            <a:r>
              <a:rPr lang="en-US" sz="1200" dirty="0"/>
              <a:t>Confidence(A-&gt;B)=</a:t>
            </a:r>
            <a:r>
              <a:rPr lang="en-US" sz="1200" dirty="0" err="1"/>
              <a:t>Support_count</a:t>
            </a:r>
            <a:r>
              <a:rPr lang="en-US" sz="1200" dirty="0"/>
              <a:t>(A∪B)/</a:t>
            </a:r>
            <a:r>
              <a:rPr lang="en-US" sz="1200" dirty="0" err="1"/>
              <a:t>Support_count</a:t>
            </a:r>
            <a:r>
              <a:rPr lang="en-US" sz="1200" dirty="0"/>
              <a:t>(A)</a:t>
            </a:r>
            <a:endParaRPr lang="en-US" sz="1200" b="1" dirty="0"/>
          </a:p>
          <a:p>
            <a:pPr marL="0" indent="0">
              <a:buNone/>
            </a:pPr>
            <a:r>
              <a:rPr lang="en-US" sz="1200" b="1" dirty="0"/>
              <a:t>So here, by taking an example of any frequent itemset, we will show the rule generation.</a:t>
            </a:r>
          </a:p>
          <a:p>
            <a:pPr marL="0" indent="0">
              <a:buNone/>
            </a:pPr>
            <a:r>
              <a:rPr lang="en-US" sz="1200" dirty="0"/>
              <a:t>Itemset  considered is {I1, I2, I3} //from L3</a:t>
            </a:r>
          </a:p>
          <a:p>
            <a:pPr marL="0" indent="0">
              <a:buNone/>
            </a:pPr>
            <a:r>
              <a:rPr lang="en-US" sz="1200" dirty="0"/>
              <a:t>Generate all non empty subsets of </a:t>
            </a:r>
            <a:r>
              <a:rPr lang="en-US" sz="1200" dirty="0">
                <a:solidFill>
                  <a:srgbClr val="FF0000"/>
                </a:solidFill>
              </a:rPr>
              <a:t>{I1, I2, I3} </a:t>
            </a:r>
            <a:r>
              <a:rPr lang="en-US" sz="1200" dirty="0"/>
              <a:t>–{I1},{I2},{I3}, {I1,I2},{I1,I3},{I2,I3},(I1,I2,I3}</a:t>
            </a:r>
          </a:p>
          <a:p>
            <a:pPr marL="0" indent="0">
              <a:buNone/>
            </a:pPr>
            <a:r>
              <a:rPr lang="en-US" sz="1200" dirty="0"/>
              <a:t>Take the first subset</a:t>
            </a:r>
          </a:p>
          <a:p>
            <a:pPr marL="0" indent="0">
              <a:buNone/>
            </a:pPr>
            <a:r>
              <a:rPr lang="en-US" sz="1200" dirty="0"/>
              <a:t>{I1}-&gt;(I1,I2,I3}- {I1}</a:t>
            </a:r>
          </a:p>
          <a:p>
            <a:pPr marL="0" indent="0">
              <a:buNone/>
            </a:pPr>
            <a:r>
              <a:rPr lang="en-US" sz="1200" dirty="0"/>
              <a:t>{I1}-&gt;{I2,I3}</a:t>
            </a:r>
          </a:p>
          <a:p>
            <a:pPr marL="0" indent="0">
              <a:buNone/>
            </a:pPr>
            <a:r>
              <a:rPr lang="en-US" sz="1200" dirty="0"/>
              <a:t>[I1]=&gt;[I2^I3] //confidence = sup(I1^I2^I3)/sup(I1) = 2/6*100=33%</a:t>
            </a:r>
          </a:p>
          <a:p>
            <a:pPr marL="0" indent="0">
              <a:buNone/>
            </a:pPr>
            <a:r>
              <a:rPr lang="en-US" sz="1200" dirty="0"/>
              <a:t>Similarly for all subsets</a:t>
            </a:r>
          </a:p>
          <a:p>
            <a:pPr marL="0" indent="0">
              <a:buNone/>
            </a:pPr>
            <a:r>
              <a:rPr lang="en-US" sz="1200" dirty="0"/>
              <a:t>[I2]=&gt;[I1^I3] //confidence = sup(I1^I2^I3)/sup(I2) = 2/7*100=28%</a:t>
            </a:r>
          </a:p>
          <a:p>
            <a:pPr marL="0" indent="0">
              <a:buNone/>
            </a:pPr>
            <a:r>
              <a:rPr lang="en-US" sz="1200" dirty="0"/>
              <a:t>[I3]=&gt;[I1^I2] //confidence = sup(I1^I2^I3)/sup(I3) = 2/6*100=33%</a:t>
            </a:r>
          </a:p>
          <a:p>
            <a:pPr marL="0" indent="0">
              <a:buNone/>
            </a:pPr>
            <a:r>
              <a:rPr lang="en-US" sz="1200" dirty="0">
                <a:solidFill>
                  <a:schemeClr val="accent2"/>
                </a:solidFill>
              </a:rPr>
              <a:t>[I1^I2]=&gt;[I3] //confidence = sup(I1^I2^I3)/sup(I1^I2) = 2/4*100=50%</a:t>
            </a:r>
          </a:p>
          <a:p>
            <a:pPr marL="0" indent="0">
              <a:buNone/>
            </a:pPr>
            <a:r>
              <a:rPr lang="en-US" sz="1200" dirty="0">
                <a:solidFill>
                  <a:schemeClr val="accent2"/>
                </a:solidFill>
              </a:rPr>
              <a:t>[I1^I3]=&gt;[I2] //confidence = sup(I1^I2^I3)/sup(I1^I3) = 2/4*100=50%</a:t>
            </a:r>
          </a:p>
          <a:p>
            <a:pPr marL="0" indent="0">
              <a:buNone/>
            </a:pPr>
            <a:r>
              <a:rPr lang="en-US" sz="1200" dirty="0">
                <a:solidFill>
                  <a:schemeClr val="accent2"/>
                </a:solidFill>
              </a:rPr>
              <a:t>[I2^I3]=&gt;[I1] //confidence = sup(I1^I2^I3)/sup(I2^I3) = 2/4*100=50%</a:t>
            </a:r>
          </a:p>
          <a:p>
            <a:pPr marL="0" indent="0">
              <a:buNone/>
            </a:pPr>
            <a:r>
              <a:rPr lang="en-US" sz="1200" dirty="0"/>
              <a:t>So if minimum confidence is 50%, then last 3 rules can be considered as strong association rules.</a:t>
            </a:r>
            <a:endParaRPr lang="en-IN" sz="1200" dirty="0"/>
          </a:p>
        </p:txBody>
      </p:sp>
      <p:pic>
        <p:nvPicPr>
          <p:cNvPr id="5" name="Picture 2">
            <a:extLst>
              <a:ext uri="{FF2B5EF4-FFF2-40B4-BE49-F238E27FC236}">
                <a16:creationId xmlns:a16="http://schemas.microsoft.com/office/drawing/2014/main" id="{B21430B5-E60B-4165-B5BF-3D47227E76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2743200"/>
            <a:ext cx="1564014" cy="2174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36087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8C50F-EC07-4FD9-BDE3-90EA1A9453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B91EE0-3EC6-4D8D-BC14-F9BE5F3E17AC}"/>
              </a:ext>
            </a:extLst>
          </p:cNvPr>
          <p:cNvSpPr>
            <a:spLocks noGrp="1"/>
          </p:cNvSpPr>
          <p:nvPr>
            <p:ph idx="1"/>
          </p:nvPr>
        </p:nvSpPr>
        <p:spPr/>
        <p:txBody>
          <a:bodyPr>
            <a:normAutofit fontScale="92500" lnSpcReduction="10000"/>
          </a:bodyPr>
          <a:lstStyle/>
          <a:p>
            <a:pPr marL="0" indent="0">
              <a:buNone/>
            </a:pPr>
            <a:r>
              <a:rPr lang="en-US" sz="1500" b="1" dirty="0" err="1">
                <a:solidFill>
                  <a:srgbClr val="545454"/>
                </a:solidFill>
                <a:latin typeface="Times New Roman" panose="02020603050405020304" pitchFamily="18" charset="0"/>
                <a:cs typeface="Times New Roman" panose="02020603050405020304" pitchFamily="18" charset="0"/>
              </a:rPr>
              <a:t>Ap</a:t>
            </a:r>
            <a:r>
              <a:rPr lang="en-US" sz="1500" b="1" i="0" dirty="0" err="1">
                <a:solidFill>
                  <a:srgbClr val="545454"/>
                </a:solidFill>
                <a:effectLst/>
                <a:latin typeface="Times New Roman" panose="02020603050405020304" pitchFamily="18" charset="0"/>
                <a:cs typeface="Times New Roman" panose="02020603050405020304" pitchFamily="18" charset="0"/>
              </a:rPr>
              <a:t>riori</a:t>
            </a:r>
            <a:r>
              <a:rPr lang="en-US" sz="1500" b="1" i="0" dirty="0">
                <a:solidFill>
                  <a:srgbClr val="545454"/>
                </a:solidFill>
                <a:effectLst/>
                <a:latin typeface="Times New Roman" panose="02020603050405020304" pitchFamily="18" charset="0"/>
                <a:cs typeface="Times New Roman" panose="02020603050405020304" pitchFamily="18" charset="0"/>
              </a:rPr>
              <a:t> Algorithm</a:t>
            </a:r>
          </a:p>
          <a:p>
            <a:pPr algn="l"/>
            <a:r>
              <a:rPr lang="en-US" sz="1500" b="0" i="0" dirty="0" err="1">
                <a:solidFill>
                  <a:srgbClr val="6E6E6E"/>
                </a:solidFill>
                <a:effectLst/>
                <a:latin typeface="Times New Roman" panose="02020603050405020304" pitchFamily="18" charset="0"/>
                <a:cs typeface="Times New Roman" panose="02020603050405020304" pitchFamily="18" charset="0"/>
              </a:rPr>
              <a:t>Apriori</a:t>
            </a:r>
            <a:r>
              <a:rPr lang="en-US" sz="1500" b="0" i="0" dirty="0">
                <a:solidFill>
                  <a:srgbClr val="6E6E6E"/>
                </a:solidFill>
                <a:effectLst/>
                <a:latin typeface="Times New Roman" panose="02020603050405020304" pitchFamily="18" charset="0"/>
                <a:cs typeface="Times New Roman" panose="02020603050405020304" pitchFamily="18" charset="0"/>
              </a:rPr>
              <a:t> is a classic algorithm for mining frequent items for </a:t>
            </a:r>
            <a:r>
              <a:rPr lang="en-US" sz="1500" b="0" i="0" dirty="0" err="1">
                <a:solidFill>
                  <a:srgbClr val="6E6E6E"/>
                </a:solidFill>
                <a:effectLst/>
                <a:latin typeface="Times New Roman" panose="02020603050405020304" pitchFamily="18" charset="0"/>
                <a:cs typeface="Times New Roman" panose="02020603050405020304" pitchFamily="18" charset="0"/>
              </a:rPr>
              <a:t>boolean</a:t>
            </a:r>
            <a:r>
              <a:rPr lang="en-US" sz="1500" b="0" i="0" dirty="0">
                <a:solidFill>
                  <a:srgbClr val="6E6E6E"/>
                </a:solidFill>
                <a:effectLst/>
                <a:latin typeface="Times New Roman" panose="02020603050405020304" pitchFamily="18" charset="0"/>
                <a:cs typeface="Times New Roman" panose="02020603050405020304" pitchFamily="18" charset="0"/>
              </a:rPr>
              <a:t> Association rule.</a:t>
            </a:r>
          </a:p>
          <a:p>
            <a:pPr algn="l"/>
            <a:r>
              <a:rPr lang="en-US" sz="1500" b="0" i="0" dirty="0">
                <a:solidFill>
                  <a:srgbClr val="6E6E6E"/>
                </a:solidFill>
                <a:effectLst/>
                <a:latin typeface="Times New Roman" panose="02020603050405020304" pitchFamily="18" charset="0"/>
                <a:cs typeface="Times New Roman" panose="02020603050405020304" pitchFamily="18" charset="0"/>
              </a:rPr>
              <a:t>It is designed for finding Association rules in a database that contains transactions.</a:t>
            </a:r>
          </a:p>
          <a:p>
            <a:pPr marL="0" indent="0">
              <a:buNone/>
            </a:pPr>
            <a:r>
              <a:rPr lang="en-US" sz="1500" b="1" i="0" dirty="0">
                <a:solidFill>
                  <a:srgbClr val="545454"/>
                </a:solidFill>
                <a:effectLst/>
                <a:latin typeface="Times New Roman" panose="02020603050405020304" pitchFamily="18" charset="0"/>
                <a:cs typeface="Times New Roman" panose="02020603050405020304" pitchFamily="18" charset="0"/>
              </a:rPr>
              <a:t>Advantages of </a:t>
            </a:r>
            <a:r>
              <a:rPr lang="en-US" sz="1500" b="1" i="0" dirty="0" err="1">
                <a:solidFill>
                  <a:srgbClr val="545454"/>
                </a:solidFill>
                <a:effectLst/>
                <a:latin typeface="Times New Roman" panose="02020603050405020304" pitchFamily="18" charset="0"/>
                <a:cs typeface="Times New Roman" panose="02020603050405020304" pitchFamily="18" charset="0"/>
              </a:rPr>
              <a:t>Apriori</a:t>
            </a:r>
            <a:r>
              <a:rPr lang="en-US" sz="1500" b="1" i="0" dirty="0">
                <a:solidFill>
                  <a:srgbClr val="545454"/>
                </a:solidFill>
                <a:effectLst/>
                <a:latin typeface="Times New Roman" panose="02020603050405020304" pitchFamily="18" charset="0"/>
                <a:cs typeface="Times New Roman" panose="02020603050405020304" pitchFamily="18" charset="0"/>
              </a:rPr>
              <a:t> algorithm</a:t>
            </a:r>
          </a:p>
          <a:p>
            <a:pPr algn="l"/>
            <a:r>
              <a:rPr lang="en-US" sz="1500" b="0" i="0" dirty="0">
                <a:solidFill>
                  <a:srgbClr val="6E6E6E"/>
                </a:solidFill>
                <a:effectLst/>
                <a:latin typeface="Times New Roman" panose="02020603050405020304" pitchFamily="18" charset="0"/>
                <a:cs typeface="Times New Roman" panose="02020603050405020304" pitchFamily="18" charset="0"/>
              </a:rPr>
              <a:t>Easy to implement</a:t>
            </a:r>
          </a:p>
          <a:p>
            <a:pPr algn="l"/>
            <a:r>
              <a:rPr lang="en-US" sz="1500" b="0" i="0" dirty="0">
                <a:solidFill>
                  <a:srgbClr val="6E6E6E"/>
                </a:solidFill>
                <a:effectLst/>
                <a:latin typeface="Times New Roman" panose="02020603050405020304" pitchFamily="18" charset="0"/>
                <a:cs typeface="Times New Roman" panose="02020603050405020304" pitchFamily="18" charset="0"/>
              </a:rPr>
              <a:t>Use large itemset property</a:t>
            </a:r>
          </a:p>
          <a:p>
            <a:pPr marL="0" indent="0">
              <a:buNone/>
            </a:pPr>
            <a:r>
              <a:rPr lang="en-US" sz="1500" b="1" i="0" dirty="0">
                <a:solidFill>
                  <a:srgbClr val="545454"/>
                </a:solidFill>
                <a:effectLst/>
                <a:latin typeface="Times New Roman" panose="02020603050405020304" pitchFamily="18" charset="0"/>
                <a:cs typeface="Times New Roman" panose="02020603050405020304" pitchFamily="18" charset="0"/>
              </a:rPr>
              <a:t>Disadvantages of </a:t>
            </a:r>
            <a:r>
              <a:rPr lang="en-US" sz="1500" b="1" i="0" dirty="0" err="1">
                <a:solidFill>
                  <a:srgbClr val="545454"/>
                </a:solidFill>
                <a:effectLst/>
                <a:latin typeface="Times New Roman" panose="02020603050405020304" pitchFamily="18" charset="0"/>
                <a:cs typeface="Times New Roman" panose="02020603050405020304" pitchFamily="18" charset="0"/>
              </a:rPr>
              <a:t>Apriori</a:t>
            </a:r>
            <a:r>
              <a:rPr lang="en-US" sz="1500" b="1" i="0" dirty="0">
                <a:solidFill>
                  <a:srgbClr val="545454"/>
                </a:solidFill>
                <a:effectLst/>
                <a:latin typeface="Times New Roman" panose="02020603050405020304" pitchFamily="18" charset="0"/>
                <a:cs typeface="Times New Roman" panose="02020603050405020304" pitchFamily="18" charset="0"/>
              </a:rPr>
              <a:t> algorithm</a:t>
            </a:r>
          </a:p>
          <a:p>
            <a:pPr algn="l"/>
            <a:r>
              <a:rPr lang="en-US" sz="1500" b="0" i="0" dirty="0">
                <a:solidFill>
                  <a:srgbClr val="6E6E6E"/>
                </a:solidFill>
                <a:effectLst/>
                <a:latin typeface="Times New Roman" panose="02020603050405020304" pitchFamily="18" charset="0"/>
                <a:cs typeface="Times New Roman" panose="02020603050405020304" pitchFamily="18" charset="0"/>
              </a:rPr>
              <a:t>Requires many database scans</a:t>
            </a:r>
          </a:p>
          <a:p>
            <a:pPr algn="l"/>
            <a:r>
              <a:rPr lang="en-US" sz="1500" b="0" i="0" dirty="0">
                <a:solidFill>
                  <a:srgbClr val="6E6E6E"/>
                </a:solidFill>
                <a:effectLst/>
                <a:latin typeface="Times New Roman" panose="02020603050405020304" pitchFamily="18" charset="0"/>
                <a:cs typeface="Times New Roman" panose="02020603050405020304" pitchFamily="18" charset="0"/>
              </a:rPr>
              <a:t>Very slow</a:t>
            </a:r>
          </a:p>
          <a:p>
            <a:pPr algn="l"/>
            <a:r>
              <a:rPr lang="en-US" sz="1500" dirty="0">
                <a:solidFill>
                  <a:srgbClr val="6E6E6E"/>
                </a:solidFill>
                <a:latin typeface="Times New Roman" panose="02020603050405020304" pitchFamily="18" charset="0"/>
                <a:cs typeface="Times New Roman" panose="02020603050405020304" pitchFamily="18" charset="0"/>
              </a:rPr>
              <a:t>Time complexity is more</a:t>
            </a:r>
          </a:p>
          <a:p>
            <a:pPr algn="l"/>
            <a:r>
              <a:rPr lang="en-US" sz="1500" b="0" i="0" dirty="0">
                <a:solidFill>
                  <a:srgbClr val="6E6E6E"/>
                </a:solidFill>
                <a:effectLst/>
                <a:latin typeface="Times New Roman" panose="02020603050405020304" pitchFamily="18" charset="0"/>
                <a:cs typeface="Times New Roman" panose="02020603050405020304" pitchFamily="18" charset="0"/>
              </a:rPr>
              <a:t>At each step, candidate sets have to be built.</a:t>
            </a:r>
          </a:p>
          <a:p>
            <a:pPr algn="l"/>
            <a:r>
              <a:rPr lang="en-US" sz="1500" b="0" i="0" dirty="0">
                <a:solidFill>
                  <a:srgbClr val="6E6E6E"/>
                </a:solidFill>
                <a:effectLst/>
                <a:latin typeface="Times New Roman" panose="02020603050405020304" pitchFamily="18" charset="0"/>
                <a:cs typeface="Times New Roman" panose="02020603050405020304" pitchFamily="18" charset="0"/>
              </a:rPr>
              <a:t>To build the candidate sets, the algorithm has to repeatedly scan the database.</a:t>
            </a:r>
          </a:p>
          <a:p>
            <a:pPr algn="l"/>
            <a:r>
              <a:rPr lang="en-US" sz="1500" b="0" i="0" dirty="0">
                <a:solidFill>
                  <a:srgbClr val="6E6E6E"/>
                </a:solidFill>
                <a:effectLst/>
                <a:latin typeface="Times New Roman" panose="02020603050405020304" pitchFamily="18" charset="0"/>
                <a:cs typeface="Times New Roman" panose="02020603050405020304" pitchFamily="18" charset="0"/>
              </a:rPr>
              <a:t>These properties inevitably make the algorithm slower. To overcome these redundant steps, a new association-rule mining algorithm was developed named Frequent Pattern Growth Algorithm. It overcomes the disadvantages of the </a:t>
            </a:r>
            <a:r>
              <a:rPr lang="en-US" sz="1500" b="0" i="0" dirty="0" err="1">
                <a:solidFill>
                  <a:srgbClr val="6E6E6E"/>
                </a:solidFill>
                <a:effectLst/>
                <a:latin typeface="Times New Roman" panose="02020603050405020304" pitchFamily="18" charset="0"/>
                <a:cs typeface="Times New Roman" panose="02020603050405020304" pitchFamily="18" charset="0"/>
              </a:rPr>
              <a:t>Apriori</a:t>
            </a:r>
            <a:r>
              <a:rPr lang="en-US" sz="1500" b="0" i="0" dirty="0">
                <a:solidFill>
                  <a:srgbClr val="6E6E6E"/>
                </a:solidFill>
                <a:effectLst/>
                <a:latin typeface="Times New Roman" panose="02020603050405020304" pitchFamily="18" charset="0"/>
                <a:cs typeface="Times New Roman" panose="02020603050405020304" pitchFamily="18" charset="0"/>
              </a:rPr>
              <a:t> algorithm by storing all the transactions in a </a:t>
            </a:r>
            <a:r>
              <a:rPr lang="en-US" sz="1500" b="0" i="0" dirty="0" err="1">
                <a:solidFill>
                  <a:srgbClr val="6E6E6E"/>
                </a:solidFill>
                <a:effectLst/>
                <a:latin typeface="Times New Roman" panose="02020603050405020304" pitchFamily="18" charset="0"/>
                <a:cs typeface="Times New Roman" panose="02020603050405020304" pitchFamily="18" charset="0"/>
              </a:rPr>
              <a:t>Trie</a:t>
            </a:r>
            <a:r>
              <a:rPr lang="en-US" sz="1500" b="0" i="0" dirty="0">
                <a:solidFill>
                  <a:srgbClr val="6E6E6E"/>
                </a:solidFill>
                <a:effectLst/>
                <a:latin typeface="Times New Roman" panose="02020603050405020304" pitchFamily="18" charset="0"/>
                <a:cs typeface="Times New Roman" panose="02020603050405020304" pitchFamily="18" charset="0"/>
              </a:rPr>
              <a:t> Data Structure</a:t>
            </a:r>
          </a:p>
          <a:p>
            <a:endParaRPr lang="en-IN" dirty="0"/>
          </a:p>
        </p:txBody>
      </p:sp>
    </p:spTree>
    <p:extLst>
      <p:ext uri="{BB962C8B-B14F-4D97-AF65-F5344CB8AC3E}">
        <p14:creationId xmlns:p14="http://schemas.microsoft.com/office/powerpoint/2010/main" val="27660405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AFE20-77D3-4640-A6DC-D21C4A92CA84}"/>
              </a:ext>
            </a:extLst>
          </p:cNvPr>
          <p:cNvSpPr>
            <a:spLocks noGrp="1"/>
          </p:cNvSpPr>
          <p:nvPr>
            <p:ph type="title"/>
          </p:nvPr>
        </p:nvSpPr>
        <p:spPr/>
        <p:txBody>
          <a:bodyPr/>
          <a:lstStyle/>
          <a:p>
            <a:r>
              <a:rPr lang="en-IN" dirty="0"/>
              <a:t>Limitation</a:t>
            </a:r>
          </a:p>
        </p:txBody>
      </p:sp>
      <p:sp>
        <p:nvSpPr>
          <p:cNvPr id="3" name="Content Placeholder 2">
            <a:extLst>
              <a:ext uri="{FF2B5EF4-FFF2-40B4-BE49-F238E27FC236}">
                <a16:creationId xmlns:a16="http://schemas.microsoft.com/office/drawing/2014/main" id="{1F1408F7-B319-42BC-9F70-AA110D542E43}"/>
              </a:ext>
            </a:extLst>
          </p:cNvPr>
          <p:cNvSpPr>
            <a:spLocks noGrp="1"/>
          </p:cNvSpPr>
          <p:nvPr>
            <p:ph idx="1"/>
          </p:nvPr>
        </p:nvSpPr>
        <p:spPr/>
        <p:txBody>
          <a:bodyPr/>
          <a:lstStyle/>
          <a:p>
            <a:pPr algn="l">
              <a:buFont typeface="+mj-lt"/>
              <a:buAutoNum type="arabicPeriod"/>
            </a:pPr>
            <a:r>
              <a:rPr lang="en-US" sz="1800" b="0" i="0" dirty="0">
                <a:solidFill>
                  <a:srgbClr val="3A3A3A"/>
                </a:solidFill>
                <a:effectLst/>
                <a:latin typeface="Work Sans" panose="020B0604020202020204" pitchFamily="2" charset="0"/>
              </a:rPr>
              <a:t>Using </a:t>
            </a:r>
            <a:r>
              <a:rPr lang="en-US" sz="1800" b="0" i="0" dirty="0" err="1">
                <a:solidFill>
                  <a:srgbClr val="3A3A3A"/>
                </a:solidFill>
                <a:effectLst/>
                <a:latin typeface="Work Sans" panose="020B0604020202020204" pitchFamily="2" charset="0"/>
              </a:rPr>
              <a:t>Apriori</a:t>
            </a:r>
            <a:r>
              <a:rPr lang="en-US" sz="1800" b="0" i="0" dirty="0">
                <a:solidFill>
                  <a:srgbClr val="3A3A3A"/>
                </a:solidFill>
                <a:effectLst/>
                <a:latin typeface="Work Sans" panose="020B0604020202020204" pitchFamily="2" charset="0"/>
              </a:rPr>
              <a:t> needs a generation of candidate </a:t>
            </a:r>
            <a:r>
              <a:rPr lang="en-US" sz="1800" b="0" i="0" dirty="0" err="1">
                <a:solidFill>
                  <a:srgbClr val="3A3A3A"/>
                </a:solidFill>
                <a:effectLst/>
                <a:latin typeface="Work Sans" panose="020B0604020202020204" pitchFamily="2" charset="0"/>
              </a:rPr>
              <a:t>itemsets</a:t>
            </a:r>
            <a:r>
              <a:rPr lang="en-US" sz="1800" b="0" i="0" dirty="0">
                <a:solidFill>
                  <a:srgbClr val="3A3A3A"/>
                </a:solidFill>
                <a:effectLst/>
                <a:latin typeface="Work Sans" panose="020B0604020202020204" pitchFamily="2" charset="0"/>
              </a:rPr>
              <a:t>. These </a:t>
            </a:r>
            <a:r>
              <a:rPr lang="en-US" sz="1800" b="0" i="0" dirty="0" err="1">
                <a:solidFill>
                  <a:srgbClr val="3A3A3A"/>
                </a:solidFill>
                <a:effectLst/>
                <a:latin typeface="Work Sans" panose="020B0604020202020204" pitchFamily="2" charset="0"/>
              </a:rPr>
              <a:t>itemsets</a:t>
            </a:r>
            <a:r>
              <a:rPr lang="en-US" sz="1800" b="0" i="0" dirty="0">
                <a:solidFill>
                  <a:srgbClr val="3A3A3A"/>
                </a:solidFill>
                <a:effectLst/>
                <a:latin typeface="Work Sans" panose="020B0604020202020204" pitchFamily="2" charset="0"/>
              </a:rPr>
              <a:t> may be large in number if the itemset in the database is huge.</a:t>
            </a:r>
          </a:p>
          <a:p>
            <a:pPr algn="l">
              <a:buFont typeface="+mj-lt"/>
              <a:buAutoNum type="arabicPeriod"/>
            </a:pPr>
            <a:r>
              <a:rPr lang="en-US" sz="1800" b="0" i="0" dirty="0" err="1">
                <a:solidFill>
                  <a:srgbClr val="3A3A3A"/>
                </a:solidFill>
                <a:effectLst/>
                <a:latin typeface="Work Sans" panose="020B0604020202020204" pitchFamily="2" charset="0"/>
              </a:rPr>
              <a:t>Apriori</a:t>
            </a:r>
            <a:r>
              <a:rPr lang="en-US" sz="1800" b="0" i="0" dirty="0">
                <a:solidFill>
                  <a:srgbClr val="3A3A3A"/>
                </a:solidFill>
                <a:effectLst/>
                <a:latin typeface="Work Sans" panose="020B0604020202020204" pitchFamily="2" charset="0"/>
              </a:rPr>
              <a:t> needs multiple scans of the database to check the support of each itemset generated and this leads to high costs.</a:t>
            </a:r>
          </a:p>
          <a:p>
            <a:endParaRPr lang="en-IN" dirty="0"/>
          </a:p>
        </p:txBody>
      </p:sp>
    </p:spTree>
    <p:extLst>
      <p:ext uri="{BB962C8B-B14F-4D97-AF65-F5344CB8AC3E}">
        <p14:creationId xmlns:p14="http://schemas.microsoft.com/office/powerpoint/2010/main" val="6456414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302F8-DA34-43D1-A164-F66BF6A1B435}"/>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CA1AD3FF-B60A-40DD-A8D7-6CF2C5569C03}"/>
              </a:ext>
            </a:extLst>
          </p:cNvPr>
          <p:cNvSpPr>
            <a:spLocks noGrp="1"/>
          </p:cNvSpPr>
          <p:nvPr>
            <p:ph idx="1"/>
          </p:nvPr>
        </p:nvSpPr>
        <p:spPr/>
        <p:txBody>
          <a:bodyPr/>
          <a:lstStyle/>
          <a:p>
            <a:r>
              <a:rPr lang="en-IN" dirty="0">
                <a:hlinkClick r:id="rId2"/>
              </a:rPr>
              <a:t>https://www.mygreatlearning.com/blog/apriori-algorithm-explained/</a:t>
            </a:r>
            <a:endParaRPr lang="en-IN" dirty="0"/>
          </a:p>
          <a:p>
            <a:r>
              <a:rPr lang="en-IN" dirty="0">
                <a:hlinkClick r:id="rId3"/>
              </a:rPr>
              <a:t>https://www.youtube.com/watch?v=h_l3b2CIQ_o</a:t>
            </a:r>
            <a:endParaRPr lang="en-IN" dirty="0"/>
          </a:p>
          <a:p>
            <a:r>
              <a:rPr lang="en-IN" dirty="0">
                <a:hlinkClick r:id="rId4"/>
              </a:rPr>
              <a:t>https://www.edureka.co/blog/apriori-algorithm/#apriori-algorithm</a:t>
            </a:r>
            <a:endParaRPr lang="en-IN" dirty="0"/>
          </a:p>
          <a:p>
            <a:endParaRPr lang="en-IN" dirty="0"/>
          </a:p>
        </p:txBody>
      </p:sp>
    </p:spTree>
    <p:extLst>
      <p:ext uri="{BB962C8B-B14F-4D97-AF65-F5344CB8AC3E}">
        <p14:creationId xmlns:p14="http://schemas.microsoft.com/office/powerpoint/2010/main" val="57917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29358</TotalTime>
  <Words>2685</Words>
  <Application>Microsoft Office PowerPoint</Application>
  <PresentationFormat>Widescreen</PresentationFormat>
  <Paragraphs>246</Paragraphs>
  <Slides>36</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4</vt:i4>
      </vt:variant>
      <vt:variant>
        <vt:lpstr>Slide Titles</vt:lpstr>
      </vt:variant>
      <vt:variant>
        <vt:i4>36</vt:i4>
      </vt:variant>
    </vt:vector>
  </HeadingPairs>
  <TitlesOfParts>
    <vt:vector size="52" baseType="lpstr">
      <vt:lpstr>Arial</vt:lpstr>
      <vt:lpstr>Calibri</vt:lpstr>
      <vt:lpstr>Calibri Light</vt:lpstr>
      <vt:lpstr>Monotype Sorts</vt:lpstr>
      <vt:lpstr>Open Sans</vt:lpstr>
      <vt:lpstr>Poppins</vt:lpstr>
      <vt:lpstr>Tahoma</vt:lpstr>
      <vt:lpstr>Times New Roman</vt:lpstr>
      <vt:lpstr>urw-din</vt:lpstr>
      <vt:lpstr>Wingdings</vt:lpstr>
      <vt:lpstr>Work Sans</vt:lpstr>
      <vt:lpstr>Office Theme</vt:lpstr>
      <vt:lpstr>Document</vt:lpstr>
      <vt:lpstr>Equation</vt:lpstr>
      <vt:lpstr>VISIO</vt:lpstr>
      <vt:lpstr>Visio</vt:lpstr>
      <vt:lpstr>  Apriori Algorithm for Association Rule Mining</vt:lpstr>
      <vt:lpstr>Association Rule Mining</vt:lpstr>
      <vt:lpstr>Definition: Frequent Itemset</vt:lpstr>
      <vt:lpstr>Definition: Association Rule</vt:lpstr>
      <vt:lpstr>Association Rule Mining Task</vt:lpstr>
      <vt:lpstr>Mining Association Rules</vt:lpstr>
      <vt:lpstr>Mining Association Rules</vt:lpstr>
      <vt:lpstr>Frequent Itemset Generation</vt:lpstr>
      <vt:lpstr>Frequent Itemset Generation Strategies</vt:lpstr>
      <vt:lpstr>Apriori Principle</vt:lpstr>
      <vt:lpstr>Illustrating Apriori Principle</vt:lpstr>
      <vt:lpstr>PowerPoint Presentation</vt:lpstr>
      <vt:lpstr>Definition: Association Rule</vt:lpstr>
      <vt:lpstr>Illustrating Apriori Principle</vt:lpstr>
      <vt:lpstr>Apriori Algorithm</vt:lpstr>
      <vt:lpstr>Algorithms to find frequent pattern</vt:lpstr>
      <vt:lpstr>PowerPoint Presentation</vt:lpstr>
      <vt:lpstr>Apriori Algorithm</vt:lpstr>
      <vt:lpstr>PowerPoint Presentation</vt:lpstr>
      <vt:lpstr>Next step is rule generation from frequent itemsets</vt:lpstr>
      <vt:lpstr>PowerPoint Presentation</vt:lpstr>
      <vt:lpstr>Finding strong association rules</vt:lpstr>
      <vt:lpstr>PowerPoint Presentation</vt:lpstr>
      <vt:lpstr>PowerPoint Presentation</vt:lpstr>
      <vt:lpstr>PowerPoint Presentation</vt:lpstr>
      <vt:lpstr>Apriori Algorithm Numerical</vt:lpstr>
      <vt:lpstr>PowerPoint Presentation</vt:lpstr>
      <vt:lpstr>PowerPoint Presentation</vt:lpstr>
      <vt:lpstr>PowerPoint Presentation</vt:lpstr>
      <vt:lpstr>PowerPoint Presentation</vt:lpstr>
      <vt:lpstr>PowerPoint Presentation</vt:lpstr>
      <vt:lpstr>PowerPoint Presentation</vt:lpstr>
      <vt:lpstr>Generation of association rules</vt:lpstr>
      <vt:lpstr>PowerPoint Presentation</vt:lpstr>
      <vt:lpstr>Limitation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Apriori Algorithm for Association Rule Mining</dc:title>
  <dc:creator>kriti ohri</dc:creator>
  <cp:lastModifiedBy>kriti ohri</cp:lastModifiedBy>
  <cp:revision>8</cp:revision>
  <dcterms:created xsi:type="dcterms:W3CDTF">2021-12-07T09:57:42Z</dcterms:created>
  <dcterms:modified xsi:type="dcterms:W3CDTF">2023-12-26T08:39:02Z</dcterms:modified>
</cp:coreProperties>
</file>