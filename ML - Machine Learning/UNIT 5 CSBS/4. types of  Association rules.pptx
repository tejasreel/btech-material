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57" r:id="rId4"/>
    <p:sldId id="269" r:id="rId5"/>
    <p:sldId id="258" r:id="rId6"/>
    <p:sldId id="259" r:id="rId7"/>
    <p:sldId id="271" r:id="rId8"/>
    <p:sldId id="273" r:id="rId9"/>
    <p:sldId id="260" r:id="rId10"/>
    <p:sldId id="268" r:id="rId11"/>
    <p:sldId id="282" r:id="rId12"/>
    <p:sldId id="261" r:id="rId13"/>
    <p:sldId id="278" r:id="rId14"/>
    <p:sldId id="264" r:id="rId15"/>
    <p:sldId id="262" r:id="rId16"/>
    <p:sldId id="263" r:id="rId17"/>
    <p:sldId id="275" r:id="rId18"/>
    <p:sldId id="276" r:id="rId19"/>
    <p:sldId id="279" r:id="rId20"/>
    <p:sldId id="280" r:id="rId21"/>
    <p:sldId id="281" r:id="rId22"/>
    <p:sldId id="277" r:id="rId23"/>
    <p:sldId id="265" r:id="rId24"/>
    <p:sldId id="266" r:id="rId25"/>
    <p:sldId id="267"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p:cViewPr varScale="1">
        <p:scale>
          <a:sx n="99" d="100"/>
          <a:sy n="99" d="100"/>
        </p:scale>
        <p:origin x="221"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microsoft.com/office/2007/relationships/hdphoto" Target="../media/hdphoto2.wd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Mining Multidimensional Association Rules</a:t>
            </a:r>
            <a:br>
              <a:rPr lang="en-US" dirty="0"/>
            </a:br>
            <a:r>
              <a:rPr lang="en-IN" sz="1800" b="1" i="0" dirty="0">
                <a:solidFill>
                  <a:srgbClr val="000000"/>
                </a:solidFill>
                <a:effectLst/>
                <a:latin typeface="Times New Roman" panose="02020603050405020304" pitchFamily="18" charset="0"/>
              </a:rPr>
              <a:t> </a:t>
            </a:r>
            <a:r>
              <a:rPr lang="en-IN" dirty="0"/>
              <a:t>quantitative</a:t>
            </a:r>
            <a:r>
              <a:rPr lang="en-US" dirty="0"/>
              <a:t> Rules</a:t>
            </a:r>
            <a:br>
              <a:rPr lang="en-US" dirty="0"/>
            </a:br>
            <a:r>
              <a:rPr lang="en-US" dirty="0"/>
              <a:t>Multi-Level Rules</a:t>
            </a:r>
            <a:br>
              <a:rPr lang="en-US" dirty="0"/>
            </a:br>
            <a:r>
              <a:rPr lang="en-US" dirty="0"/>
              <a:t>Constraint based Rules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E5A5A-36E6-46CA-8ADA-3CAF777EC99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15FA627-C941-450E-8A95-C731D212DDB6}"/>
              </a:ext>
            </a:extLst>
          </p:cNvPr>
          <p:cNvPicPr>
            <a:picLocks noGrp="1" noChangeAspect="1"/>
          </p:cNvPicPr>
          <p:nvPr>
            <p:ph idx="1"/>
          </p:nvPr>
        </p:nvPicPr>
        <p:blipFill>
          <a:blip r:embed="rId2"/>
          <a:stretch>
            <a:fillRect/>
          </a:stretch>
        </p:blipFill>
        <p:spPr>
          <a:xfrm>
            <a:off x="457200" y="2020046"/>
            <a:ext cx="8229600" cy="3686270"/>
          </a:xfrm>
        </p:spPr>
      </p:pic>
    </p:spTree>
    <p:extLst>
      <p:ext uri="{BB962C8B-B14F-4D97-AF65-F5344CB8AC3E}">
        <p14:creationId xmlns:p14="http://schemas.microsoft.com/office/powerpoint/2010/main" val="3518051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Mining Multidimensional Association Rules </a:t>
            </a:r>
          </a:p>
        </p:txBody>
      </p:sp>
      <p:sp>
        <p:nvSpPr>
          <p:cNvPr id="3" name="Content Placeholder 2"/>
          <p:cNvSpPr>
            <a:spLocks noGrp="1"/>
          </p:cNvSpPr>
          <p:nvPr>
            <p:ph idx="1"/>
          </p:nvPr>
        </p:nvSpPr>
        <p:spPr/>
        <p:txBody>
          <a:bodyPr>
            <a:normAutofit/>
          </a:bodyPr>
          <a:lstStyle/>
          <a:p>
            <a:pPr algn="just">
              <a:lnSpc>
                <a:spcPct val="150000"/>
              </a:lnSpc>
            </a:pPr>
            <a:r>
              <a:rPr lang="en-US" dirty="0"/>
              <a:t>Single dimensional or </a:t>
            </a:r>
            <a:r>
              <a:rPr lang="en-US" dirty="0" err="1"/>
              <a:t>intradimensional</a:t>
            </a:r>
            <a:r>
              <a:rPr lang="en-US" dirty="0"/>
              <a:t> association rule contains a single distinct predicate (e.g., buys) with multiple occurrences i.e., the predicate occurs more than once within the rule.</a:t>
            </a:r>
          </a:p>
          <a:p>
            <a:pPr marL="0" indent="0" algn="just">
              <a:lnSpc>
                <a:spcPct val="150000"/>
              </a:lnSpc>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472B5-7D00-4D41-9A06-3BEB0D8D85A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33C3977-7035-497E-9224-82BEC2256400}"/>
              </a:ext>
            </a:extLst>
          </p:cNvPr>
          <p:cNvPicPr>
            <a:picLocks noGrp="1" noChangeAspect="1"/>
          </p:cNvPicPr>
          <p:nvPr>
            <p:ph idx="1"/>
          </p:nvPr>
        </p:nvPicPr>
        <p:blipFill>
          <a:blip r:embed="rId2"/>
          <a:stretch>
            <a:fillRect/>
          </a:stretch>
        </p:blipFill>
        <p:spPr>
          <a:xfrm>
            <a:off x="457200" y="1854139"/>
            <a:ext cx="8229600" cy="4018084"/>
          </a:xfrm>
        </p:spPr>
      </p:pic>
    </p:spTree>
    <p:extLst>
      <p:ext uri="{BB962C8B-B14F-4D97-AF65-F5344CB8AC3E}">
        <p14:creationId xmlns:p14="http://schemas.microsoft.com/office/powerpoint/2010/main" val="803435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Mining Multidimensional Association Rules </a:t>
            </a:r>
          </a:p>
        </p:txBody>
      </p:sp>
      <p:sp>
        <p:nvSpPr>
          <p:cNvPr id="3" name="Content Placeholder 2"/>
          <p:cNvSpPr>
            <a:spLocks noGrp="1"/>
          </p:cNvSpPr>
          <p:nvPr>
            <p:ph idx="1"/>
          </p:nvPr>
        </p:nvSpPr>
        <p:spPr>
          <a:xfrm>
            <a:off x="304800" y="1600200"/>
            <a:ext cx="8534400" cy="4525963"/>
          </a:xfrm>
        </p:spPr>
        <p:txBody>
          <a:bodyPr>
            <a:normAutofit fontScale="85000" lnSpcReduction="20000"/>
          </a:bodyPr>
          <a:lstStyle/>
          <a:p>
            <a:pPr algn="just">
              <a:lnSpc>
                <a:spcPct val="150000"/>
              </a:lnSpc>
            </a:pPr>
            <a:r>
              <a:rPr lang="en-US" dirty="0"/>
              <a:t>Association rules that involve two or more dimensions or predicates can be referred to as multidimensional association rules.</a:t>
            </a:r>
          </a:p>
          <a:p>
            <a:pPr algn="just">
              <a:lnSpc>
                <a:spcPct val="150000"/>
              </a:lnSpc>
            </a:pPr>
            <a:r>
              <a:rPr lang="en-US" sz="2400" i="1" dirty="0">
                <a:solidFill>
                  <a:srgbClr val="C00000"/>
                </a:solidFill>
              </a:rPr>
              <a:t>age(X, “20…29”) ^ occupation(X, “student”)=&gt;buys(X, “laptop”)</a:t>
            </a:r>
            <a:endParaRPr lang="en-US" sz="2400" dirty="0">
              <a:solidFill>
                <a:srgbClr val="C00000"/>
              </a:solidFill>
            </a:endParaRPr>
          </a:p>
          <a:p>
            <a:pPr algn="just">
              <a:lnSpc>
                <a:spcPct val="150000"/>
              </a:lnSpc>
            </a:pPr>
            <a:r>
              <a:rPr lang="en-US" dirty="0"/>
              <a:t>Rule contains three predicates (age, occupation, and buys), each of which occurs only once in the rule.</a:t>
            </a:r>
          </a:p>
          <a:p>
            <a:pPr algn="just">
              <a:lnSpc>
                <a:spcPct val="150000"/>
              </a:lnSpc>
            </a:pPr>
            <a:r>
              <a:rPr lang="en-US" dirty="0"/>
              <a:t>Multidimensional association rules with no repeated predicates are called inter-dimensional association rules.</a:t>
            </a:r>
          </a:p>
          <a:p>
            <a:pPr algn="just">
              <a:lnSpc>
                <a:spcPct val="150000"/>
              </a:lnSpc>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525963"/>
          </a:xfrm>
        </p:spPr>
        <p:txBody>
          <a:bodyPr>
            <a:normAutofit fontScale="92500" lnSpcReduction="10000"/>
          </a:bodyPr>
          <a:lstStyle/>
          <a:p>
            <a:pPr algn="just">
              <a:lnSpc>
                <a:spcPct val="150000"/>
              </a:lnSpc>
            </a:pPr>
            <a:r>
              <a:rPr lang="en-US" dirty="0"/>
              <a:t>Also mine multidimensional association rules with repeated predicates, which contain multiple occurrences of some predicates. These rules are called hybrid- dimensional association rules. An example of such a rule is the following, where the predicate buys is repeated:</a:t>
            </a:r>
          </a:p>
          <a:p>
            <a:pPr algn="just">
              <a:lnSpc>
                <a:spcPct val="150000"/>
              </a:lnSpc>
            </a:pPr>
            <a:r>
              <a:rPr lang="en-US" sz="2400" dirty="0">
                <a:solidFill>
                  <a:srgbClr val="C00000"/>
                </a:solidFill>
              </a:rPr>
              <a:t>age(X, ―20…29‖)^buys(X, ―laptop‖)=&gt;buys(X, ―HP printer‖)</a:t>
            </a:r>
          </a:p>
          <a:p>
            <a:pPr algn="just">
              <a:lnSpc>
                <a:spcPct val="150000"/>
              </a:lnSpc>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3A2EA-A8DD-450C-B486-D6F9E6417B1D}"/>
              </a:ext>
            </a:extLst>
          </p:cNvPr>
          <p:cNvSpPr>
            <a:spLocks noGrp="1"/>
          </p:cNvSpPr>
          <p:nvPr>
            <p:ph type="title"/>
          </p:nvPr>
        </p:nvSpPr>
        <p:spPr/>
        <p:txBody>
          <a:bodyPr>
            <a:normAutofit fontScale="90000"/>
          </a:bodyPr>
          <a:lstStyle/>
          <a:p>
            <a:r>
              <a:rPr lang="en-US" dirty="0"/>
              <a:t>Multidimensional Association Rules</a:t>
            </a:r>
            <a:endParaRPr lang="en-IN" dirty="0"/>
          </a:p>
        </p:txBody>
      </p:sp>
      <p:pic>
        <p:nvPicPr>
          <p:cNvPr id="5" name="Content Placeholder 4">
            <a:extLst>
              <a:ext uri="{FF2B5EF4-FFF2-40B4-BE49-F238E27FC236}">
                <a16:creationId xmlns:a16="http://schemas.microsoft.com/office/drawing/2014/main" id="{51BCD725-F7C3-44C0-A552-9C3996577406}"/>
              </a:ext>
            </a:extLst>
          </p:cNvPr>
          <p:cNvPicPr>
            <a:picLocks noGrp="1" noChangeAspect="1"/>
          </p:cNvPicPr>
          <p:nvPr>
            <p:ph idx="1"/>
          </p:nvPr>
        </p:nvPicPr>
        <p:blipFill>
          <a:blip r:embed="rId2"/>
          <a:stretch>
            <a:fillRect/>
          </a:stretch>
        </p:blipFill>
        <p:spPr>
          <a:xfrm>
            <a:off x="457200" y="2370201"/>
            <a:ext cx="8229600" cy="2985961"/>
          </a:xfrm>
        </p:spPr>
      </p:pic>
    </p:spTree>
    <p:extLst>
      <p:ext uri="{BB962C8B-B14F-4D97-AF65-F5344CB8AC3E}">
        <p14:creationId xmlns:p14="http://schemas.microsoft.com/office/powerpoint/2010/main" val="1465928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FF302-0C71-4D1E-853D-785477618C3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7BD29D3-BE6B-4B7D-9CC0-E72C46C4D9AF}"/>
              </a:ext>
            </a:extLst>
          </p:cNvPr>
          <p:cNvPicPr>
            <a:picLocks noGrp="1" noChangeAspect="1"/>
          </p:cNvPicPr>
          <p:nvPr>
            <p:ph idx="1"/>
          </p:nvPr>
        </p:nvPicPr>
        <p:blipFill>
          <a:blip r:embed="rId2"/>
          <a:stretch>
            <a:fillRect/>
          </a:stretch>
        </p:blipFill>
        <p:spPr>
          <a:xfrm>
            <a:off x="727008" y="1600200"/>
            <a:ext cx="7689984" cy="4525963"/>
          </a:xfrm>
        </p:spPr>
      </p:pic>
    </p:spTree>
    <p:extLst>
      <p:ext uri="{BB962C8B-B14F-4D97-AF65-F5344CB8AC3E}">
        <p14:creationId xmlns:p14="http://schemas.microsoft.com/office/powerpoint/2010/main" val="3451718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a:t>Mining Quantitative Association Rules</a:t>
            </a:r>
          </a:p>
        </p:txBody>
      </p:sp>
      <p:sp>
        <p:nvSpPr>
          <p:cNvPr id="3" name="Content Placeholder 2"/>
          <p:cNvSpPr>
            <a:spLocks noGrp="1"/>
          </p:cNvSpPr>
          <p:nvPr>
            <p:ph idx="1"/>
          </p:nvPr>
        </p:nvSpPr>
        <p:spPr>
          <a:xfrm>
            <a:off x="228600" y="1295400"/>
            <a:ext cx="8763000" cy="5257800"/>
          </a:xfrm>
        </p:spPr>
        <p:txBody>
          <a:bodyPr>
            <a:normAutofit fontScale="77500" lnSpcReduction="20000"/>
          </a:bodyPr>
          <a:lstStyle/>
          <a:p>
            <a:pPr algn="just">
              <a:lnSpc>
                <a:spcPct val="150000"/>
              </a:lnSpc>
            </a:pPr>
            <a:r>
              <a:rPr lang="en-US" sz="2800" dirty="0"/>
              <a:t>Quantitative association rules are multidimensional association rules in which the numeric attributes are </a:t>
            </a:r>
            <a:r>
              <a:rPr lang="en-US" sz="2800" i="1" dirty="0"/>
              <a:t>dynamically </a:t>
            </a:r>
            <a:r>
              <a:rPr lang="en-US" sz="2800" dirty="0" err="1"/>
              <a:t>discretized</a:t>
            </a:r>
            <a:r>
              <a:rPr lang="en-US" sz="2800" dirty="0"/>
              <a:t> during the mining process so as to satisfy some mining criteria, such as maximizing the confidence or compactness of the rules mined.</a:t>
            </a:r>
          </a:p>
          <a:p>
            <a:pPr algn="just">
              <a:lnSpc>
                <a:spcPct val="160000"/>
              </a:lnSpc>
            </a:pPr>
            <a:r>
              <a:rPr lang="en-US" sz="2800" dirty="0"/>
              <a:t>we focus specifically on how to mine quantitative association rules having two quantitative attributes on the left-hand side of the rule and one categorical attribute on the right-hand side of the rule. That is</a:t>
            </a:r>
          </a:p>
          <a:p>
            <a:pPr lvl="2">
              <a:buNone/>
            </a:pPr>
            <a:r>
              <a:rPr lang="en-US" dirty="0">
                <a:solidFill>
                  <a:srgbClr val="C00000"/>
                </a:solidFill>
              </a:rPr>
              <a:t>quantitative attributes ^ quantitative attributes =&gt; categorical attribute </a:t>
            </a:r>
          </a:p>
          <a:p>
            <a:pPr marL="292100" marR="737870" indent="114300" algn="just">
              <a:lnSpc>
                <a:spcPct val="150000"/>
              </a:lnSpc>
              <a:spcBef>
                <a:spcPts val="770"/>
              </a:spcBef>
              <a:buNone/>
            </a:pPr>
            <a:r>
              <a:rPr lang="en-US" sz="2800" dirty="0">
                <a:latin typeface="Times New Roman"/>
                <a:ea typeface="Times New Roman"/>
              </a:rPr>
              <a:t>Such rules have been referred to as two-dimensional quantitative association rules, because they contain two quantitative dimensions</a:t>
            </a:r>
            <a:r>
              <a:rPr lang="en-US" dirty="0">
                <a:latin typeface="Times New Roman"/>
                <a:ea typeface="Times New Roman"/>
              </a:rPr>
              <a:t>.</a:t>
            </a:r>
          </a:p>
          <a:p>
            <a:pPr>
              <a:buNone/>
            </a:pPr>
            <a:endParaRPr lang="en-US" dirty="0"/>
          </a:p>
          <a:p>
            <a:pPr algn="just">
              <a:lnSpc>
                <a:spcPct val="150000"/>
              </a:lnSpc>
            </a:pPr>
            <a:endParaRPr lang="en-US" sz="2800" dirty="0"/>
          </a:p>
          <a:p>
            <a:pPr algn="just"/>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328DA-B7D9-4ADE-B2AD-AE5B5C943E65}"/>
              </a:ext>
            </a:extLst>
          </p:cNvPr>
          <p:cNvSpPr>
            <a:spLocks noGrp="1"/>
          </p:cNvSpPr>
          <p:nvPr>
            <p:ph type="title"/>
          </p:nvPr>
        </p:nvSpPr>
        <p:spPr/>
        <p:txBody>
          <a:bodyPr/>
          <a:lstStyle/>
          <a:p>
            <a:endParaRPr lang="en-IN"/>
          </a:p>
        </p:txBody>
      </p:sp>
      <p:sp>
        <p:nvSpPr>
          <p:cNvPr id="4" name="Content Placeholder 3">
            <a:extLst>
              <a:ext uri="{FF2B5EF4-FFF2-40B4-BE49-F238E27FC236}">
                <a16:creationId xmlns:a16="http://schemas.microsoft.com/office/drawing/2014/main" id="{674236F9-4B2E-495C-A97B-F721C15871F8}"/>
              </a:ext>
            </a:extLst>
          </p:cNvPr>
          <p:cNvSpPr>
            <a:spLocks noGrp="1"/>
          </p:cNvSpPr>
          <p:nvPr>
            <p:ph idx="1"/>
          </p:nvPr>
        </p:nvSpPr>
        <p:spPr/>
        <p:txBody>
          <a:bodyPr/>
          <a:lstStyle/>
          <a:p>
            <a:endParaRPr lang="en-IN"/>
          </a:p>
        </p:txBody>
      </p:sp>
      <p:pic>
        <p:nvPicPr>
          <p:cNvPr id="1028" name="Picture 4" descr="Mining Frequent Patterns and Association Rules - ppt download">
            <a:extLst>
              <a:ext uri="{FF2B5EF4-FFF2-40B4-BE49-F238E27FC236}">
                <a16:creationId xmlns:a16="http://schemas.microsoft.com/office/drawing/2014/main" id="{91B60819-F3C1-4FD9-989D-9DDFD6EBDD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74638"/>
            <a:ext cx="8077200" cy="605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3154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B4225-A893-4FEF-B391-D7B7545D93C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8A2233A-B9D9-4BB8-BA18-FB5AF4B94DCC}"/>
              </a:ext>
            </a:extLst>
          </p:cNvPr>
          <p:cNvPicPr>
            <a:picLocks noGrp="1" noChangeAspect="1"/>
          </p:cNvPicPr>
          <p:nvPr>
            <p:ph idx="1"/>
          </p:nvPr>
        </p:nvPicPr>
        <p:blipFill>
          <a:blip r:embed="rId2"/>
          <a:stretch>
            <a:fillRect/>
          </a:stretch>
        </p:blipFill>
        <p:spPr>
          <a:xfrm>
            <a:off x="2514600" y="1905000"/>
            <a:ext cx="3695700" cy="933450"/>
          </a:xfrm>
          <a:prstGeom prst="rect">
            <a:avLst/>
          </a:prstGeom>
        </p:spPr>
      </p:pic>
      <p:pic>
        <p:nvPicPr>
          <p:cNvPr id="6" name="Picture 5">
            <a:extLst>
              <a:ext uri="{FF2B5EF4-FFF2-40B4-BE49-F238E27FC236}">
                <a16:creationId xmlns:a16="http://schemas.microsoft.com/office/drawing/2014/main" id="{14564FBD-D005-418A-89AE-7E044D70E2C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48000"/>
                    </a14:imgEffect>
                  </a14:imgLayer>
                </a14:imgProps>
              </a:ext>
            </a:extLst>
          </a:blip>
          <a:stretch>
            <a:fillRect/>
          </a:stretch>
        </p:blipFill>
        <p:spPr>
          <a:xfrm>
            <a:off x="1981200" y="3733801"/>
            <a:ext cx="5715000" cy="410766"/>
          </a:xfrm>
          <a:prstGeom prst="rect">
            <a:avLst/>
          </a:prstGeom>
        </p:spPr>
      </p:pic>
    </p:spTree>
    <p:extLst>
      <p:ext uri="{BB962C8B-B14F-4D97-AF65-F5344CB8AC3E}">
        <p14:creationId xmlns:p14="http://schemas.microsoft.com/office/powerpoint/2010/main" val="343369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CONSTRAINT BASED ASSOCIATION RULES</a:t>
            </a:r>
            <a:endParaRPr lang="en-US" sz="3600" dirty="0"/>
          </a:p>
        </p:txBody>
      </p:sp>
      <p:sp>
        <p:nvSpPr>
          <p:cNvPr id="3" name="Content Placeholder 2"/>
          <p:cNvSpPr>
            <a:spLocks noGrp="1"/>
          </p:cNvSpPr>
          <p:nvPr>
            <p:ph idx="1"/>
          </p:nvPr>
        </p:nvSpPr>
        <p:spPr>
          <a:xfrm>
            <a:off x="304800" y="1524000"/>
            <a:ext cx="8534400" cy="5029200"/>
          </a:xfrm>
        </p:spPr>
        <p:txBody>
          <a:bodyPr>
            <a:noAutofit/>
          </a:bodyPr>
          <a:lstStyle/>
          <a:p>
            <a:pPr algn="just"/>
            <a:r>
              <a:rPr lang="en-US" sz="2200" dirty="0"/>
              <a:t>A data mining process may uncover thousands of rules from a given set of data, most of which end up being unrelated or uninteresting to the users.</a:t>
            </a:r>
          </a:p>
          <a:p>
            <a:pPr algn="just"/>
            <a:r>
              <a:rPr lang="en-US" sz="2200" dirty="0"/>
              <a:t>Users have a good sense of which “direction” of mining may lead to interesting patterns and the “form” of the patterns or rules they would like to find.</a:t>
            </a:r>
          </a:p>
          <a:p>
            <a:pPr algn="just"/>
            <a:r>
              <a:rPr lang="en-US" sz="2200" dirty="0"/>
              <a:t>A good heuristic is to have the users specify such intuition or expectations as constraints to confine the search space.</a:t>
            </a:r>
          </a:p>
          <a:p>
            <a:pPr algn="just"/>
            <a:r>
              <a:rPr lang="en-US" sz="2200" dirty="0"/>
              <a:t>This strategy is known as constraint-based mining.</a:t>
            </a:r>
          </a:p>
          <a:p>
            <a:pPr algn="just"/>
            <a:r>
              <a:rPr lang="en-US" sz="2200" dirty="0"/>
              <a:t>Constraint based mining provides</a:t>
            </a:r>
          </a:p>
          <a:p>
            <a:pPr lvl="1" algn="just"/>
            <a:r>
              <a:rPr lang="en-US" sz="2200" b="1" dirty="0"/>
              <a:t>User Flexibility:</a:t>
            </a:r>
            <a:r>
              <a:rPr lang="en-US" sz="2200" dirty="0"/>
              <a:t> provides constraints on what to be mined.</a:t>
            </a:r>
          </a:p>
          <a:p>
            <a:pPr lvl="1" algn="just"/>
            <a:r>
              <a:rPr lang="en-US" sz="2200" b="1" dirty="0"/>
              <a:t>System Optimization:</a:t>
            </a:r>
            <a:r>
              <a:rPr lang="en-US" sz="2200" dirty="0"/>
              <a:t> explores constraints to help efficient mining.</a:t>
            </a:r>
          </a:p>
          <a:p>
            <a:pPr algn="just">
              <a:buNone/>
            </a:pPr>
            <a:br>
              <a:rPr lang="en-US" sz="2200" dirty="0"/>
            </a:b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EAB3B-A664-44BF-A1E7-6CEAA16551C4}"/>
              </a:ext>
            </a:extLst>
          </p:cNvPr>
          <p:cNvSpPr>
            <a:spLocks noGrp="1"/>
          </p:cNvSpPr>
          <p:nvPr>
            <p:ph type="title"/>
          </p:nvPr>
        </p:nvSpPr>
        <p:spPr/>
        <p:txBody>
          <a:bodyPr>
            <a:normAutofit fontScale="90000"/>
          </a:bodyPr>
          <a:lstStyle/>
          <a:p>
            <a:r>
              <a:rPr lang="en-US" dirty="0"/>
              <a:t>Constraints can be of the following types</a:t>
            </a:r>
            <a:endParaRPr lang="en-IN" dirty="0"/>
          </a:p>
        </p:txBody>
      </p:sp>
      <p:sp>
        <p:nvSpPr>
          <p:cNvPr id="3" name="Content Placeholder 2">
            <a:extLst>
              <a:ext uri="{FF2B5EF4-FFF2-40B4-BE49-F238E27FC236}">
                <a16:creationId xmlns:a16="http://schemas.microsoft.com/office/drawing/2014/main" id="{70CF7EB2-FE37-43CA-8B68-E548D1CFA0C7}"/>
              </a:ext>
            </a:extLst>
          </p:cNvPr>
          <p:cNvSpPr>
            <a:spLocks noGrp="1"/>
          </p:cNvSpPr>
          <p:nvPr>
            <p:ph idx="1"/>
          </p:nvPr>
        </p:nvSpPr>
        <p:spPr/>
        <p:txBody>
          <a:bodyPr/>
          <a:lstStyle/>
          <a:p>
            <a:r>
              <a:rPr lang="en-US" dirty="0"/>
              <a:t>Knowledge type</a:t>
            </a:r>
          </a:p>
          <a:p>
            <a:r>
              <a:rPr lang="en-US" dirty="0"/>
              <a:t>Data Constraint</a:t>
            </a:r>
          </a:p>
          <a:p>
            <a:r>
              <a:rPr lang="en-US" dirty="0"/>
              <a:t>Dimension and level constraint</a:t>
            </a:r>
          </a:p>
          <a:p>
            <a:r>
              <a:rPr lang="en-US" dirty="0"/>
              <a:t>Interestingness constraint</a:t>
            </a:r>
          </a:p>
          <a:p>
            <a:r>
              <a:rPr lang="en-US" dirty="0"/>
              <a:t>Rule constraints</a:t>
            </a:r>
          </a:p>
          <a:p>
            <a:endParaRPr lang="en-US" dirty="0"/>
          </a:p>
          <a:p>
            <a:endParaRPr lang="en-US" dirty="0"/>
          </a:p>
          <a:p>
            <a:endParaRPr lang="en-IN" dirty="0"/>
          </a:p>
        </p:txBody>
      </p:sp>
    </p:spTree>
    <p:extLst>
      <p:ext uri="{BB962C8B-B14F-4D97-AF65-F5344CB8AC3E}">
        <p14:creationId xmlns:p14="http://schemas.microsoft.com/office/powerpoint/2010/main" val="1151126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CONSTRAINT BASED ASSOCIATION RULES</a:t>
            </a:r>
            <a:endParaRPr lang="en-US" sz="3600" dirty="0"/>
          </a:p>
        </p:txBody>
      </p:sp>
      <p:sp>
        <p:nvSpPr>
          <p:cNvPr id="3" name="Content Placeholder 2"/>
          <p:cNvSpPr>
            <a:spLocks noGrp="1"/>
          </p:cNvSpPr>
          <p:nvPr>
            <p:ph idx="1"/>
          </p:nvPr>
        </p:nvSpPr>
        <p:spPr/>
        <p:txBody>
          <a:bodyPr>
            <a:normAutofit fontScale="77500" lnSpcReduction="20000"/>
          </a:bodyPr>
          <a:lstStyle/>
          <a:p>
            <a:pPr algn="just">
              <a:lnSpc>
                <a:spcPct val="160000"/>
              </a:lnSpc>
            </a:pPr>
            <a:r>
              <a:rPr lang="en-US" dirty="0"/>
              <a:t>In order to make the mining process more efficient rule based constraint mining :</a:t>
            </a:r>
          </a:p>
          <a:p>
            <a:pPr algn="just">
              <a:lnSpc>
                <a:spcPct val="160000"/>
              </a:lnSpc>
            </a:pPr>
            <a:r>
              <a:rPr lang="en-US" dirty="0"/>
              <a:t>Allows users to describe the rules that they would like to uncover. </a:t>
            </a:r>
          </a:p>
          <a:p>
            <a:pPr algn="just">
              <a:lnSpc>
                <a:spcPct val="160000"/>
              </a:lnSpc>
            </a:pPr>
            <a:r>
              <a:rPr lang="en-US" dirty="0"/>
              <a:t>Provides a sophisticated mining query optimizer that can be used to exploit the constraints specified by the user. </a:t>
            </a:r>
          </a:p>
          <a:p>
            <a:pPr algn="just">
              <a:lnSpc>
                <a:spcPct val="160000"/>
              </a:lnSpc>
            </a:pPr>
            <a:r>
              <a:rPr lang="en-US" dirty="0"/>
              <a:t>Encourages interactive exploratory mining and analysis.</a:t>
            </a:r>
          </a:p>
        </p:txBody>
      </p:sp>
    </p:spTree>
    <p:extLst>
      <p:ext uri="{BB962C8B-B14F-4D97-AF65-F5344CB8AC3E}">
        <p14:creationId xmlns:p14="http://schemas.microsoft.com/office/powerpoint/2010/main" val="2367742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CONSTRAINT BASED ASSOCIATION RULES</a:t>
            </a:r>
            <a:endParaRPr lang="en-US" sz="3600" dirty="0"/>
          </a:p>
        </p:txBody>
      </p:sp>
      <p:sp>
        <p:nvSpPr>
          <p:cNvPr id="3" name="Content Placeholder 2"/>
          <p:cNvSpPr>
            <a:spLocks noGrp="1"/>
          </p:cNvSpPr>
          <p:nvPr>
            <p:ph idx="1"/>
          </p:nvPr>
        </p:nvSpPr>
        <p:spPr>
          <a:xfrm>
            <a:off x="228600" y="1371600"/>
            <a:ext cx="8763000" cy="5257800"/>
          </a:xfrm>
        </p:spPr>
        <p:txBody>
          <a:bodyPr>
            <a:noAutofit/>
          </a:bodyPr>
          <a:lstStyle/>
          <a:p>
            <a:pPr algn="just">
              <a:lnSpc>
                <a:spcPct val="150000"/>
              </a:lnSpc>
            </a:pPr>
            <a:r>
              <a:rPr lang="en-US" sz="2600" dirty="0"/>
              <a:t>The constraints can include the following:</a:t>
            </a:r>
          </a:p>
          <a:p>
            <a:pPr algn="just">
              <a:lnSpc>
                <a:spcPct val="150000"/>
              </a:lnSpc>
            </a:pPr>
            <a:r>
              <a:rPr lang="en-US" sz="2600" b="1" dirty="0"/>
              <a:t>Knowledge type constraints:</a:t>
            </a:r>
            <a:r>
              <a:rPr lang="en-US" sz="2600" dirty="0"/>
              <a:t> These specify the type of knowledge to be mined, such as association or correlation.</a:t>
            </a:r>
          </a:p>
          <a:p>
            <a:pPr algn="just">
              <a:lnSpc>
                <a:spcPct val="150000"/>
              </a:lnSpc>
            </a:pPr>
            <a:r>
              <a:rPr lang="en-US" sz="2600" b="1" dirty="0"/>
              <a:t>Data constraints</a:t>
            </a:r>
            <a:r>
              <a:rPr lang="en-US" sz="2600" dirty="0"/>
              <a:t>: These specify the set of task-relevant data.</a:t>
            </a:r>
          </a:p>
          <a:p>
            <a:pPr lvl="1" algn="just">
              <a:lnSpc>
                <a:spcPct val="150000"/>
              </a:lnSpc>
            </a:pPr>
            <a:r>
              <a:rPr lang="en-US" sz="2600" b="1" dirty="0"/>
              <a:t>Dimension/level constraints:</a:t>
            </a:r>
            <a:r>
              <a:rPr lang="en-US" sz="2600" dirty="0"/>
              <a:t> These specify the desired dimensions (or attributes) of the data, or levels of the concept hierarchies, to be used in mining.</a:t>
            </a:r>
          </a:p>
          <a:p>
            <a:pPr algn="just">
              <a:lnSpc>
                <a:spcPct val="150000"/>
              </a:lnSpc>
            </a:pPr>
            <a:endParaRPr lang="en-US" sz="2600" dirty="0"/>
          </a:p>
        </p:txBody>
      </p:sp>
    </p:spTree>
    <p:extLst>
      <p:ext uri="{BB962C8B-B14F-4D97-AF65-F5344CB8AC3E}">
        <p14:creationId xmlns:p14="http://schemas.microsoft.com/office/powerpoint/2010/main" val="3632345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CONSTRAINT BASED ASSOCIATION RULES</a:t>
            </a:r>
            <a:endParaRPr lang="en-US" sz="3600" dirty="0"/>
          </a:p>
        </p:txBody>
      </p:sp>
      <p:sp>
        <p:nvSpPr>
          <p:cNvPr id="3" name="Content Placeholder 2"/>
          <p:cNvSpPr>
            <a:spLocks noGrp="1"/>
          </p:cNvSpPr>
          <p:nvPr>
            <p:ph idx="1"/>
          </p:nvPr>
        </p:nvSpPr>
        <p:spPr>
          <a:xfrm>
            <a:off x="381000" y="1600200"/>
            <a:ext cx="8458200" cy="4800600"/>
          </a:xfrm>
        </p:spPr>
        <p:txBody>
          <a:bodyPr>
            <a:normAutofit fontScale="70000" lnSpcReduction="20000"/>
          </a:bodyPr>
          <a:lstStyle/>
          <a:p>
            <a:pPr algn="just">
              <a:lnSpc>
                <a:spcPct val="170000"/>
              </a:lnSpc>
            </a:pPr>
            <a:r>
              <a:rPr lang="en-US" b="1" dirty="0"/>
              <a:t>Interestingness constraints:</a:t>
            </a:r>
            <a:r>
              <a:rPr lang="en-US" dirty="0"/>
              <a:t> These specify thresholds on statistical measures of rule interestingness, such as support, confidence, and correlation.</a:t>
            </a:r>
          </a:p>
          <a:p>
            <a:pPr lvl="1" algn="just">
              <a:lnSpc>
                <a:spcPct val="170000"/>
              </a:lnSpc>
            </a:pPr>
            <a:r>
              <a:rPr lang="en-US" b="1" dirty="0"/>
              <a:t>Rule constraints:</a:t>
            </a:r>
            <a:r>
              <a:rPr lang="en-US" dirty="0"/>
              <a:t> These specify the form of rules to be mined. Such constraints may be expressed as rule templates, as the maximum or minimum number of predicates that can occur in the rule antecedent or consequent, or as relationships among attributes, attribute values, and/or aggregates. The above constraints can be specified using a high-level declarative data mining query language and user interface.</a:t>
            </a:r>
          </a:p>
          <a:p>
            <a:pPr algn="just">
              <a:lnSpc>
                <a:spcPct val="170000"/>
              </a:lnSpc>
            </a:pPr>
            <a:endParaRPr lang="en-US" dirty="0"/>
          </a:p>
        </p:txBody>
      </p:sp>
    </p:spTree>
    <p:extLst>
      <p:ext uri="{BB962C8B-B14F-4D97-AF65-F5344CB8AC3E}">
        <p14:creationId xmlns:p14="http://schemas.microsoft.com/office/powerpoint/2010/main" val="1198720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BDB29-2DC8-44B1-8EDE-1E4D561E6480}"/>
              </a:ext>
            </a:extLst>
          </p:cNvPr>
          <p:cNvSpPr>
            <a:spLocks noGrp="1"/>
          </p:cNvSpPr>
          <p:nvPr>
            <p:ph type="title"/>
          </p:nvPr>
        </p:nvSpPr>
        <p:spPr/>
        <p:txBody>
          <a:bodyPr/>
          <a:lstStyle/>
          <a:p>
            <a:r>
              <a:rPr lang="en-US" dirty="0"/>
              <a:t>Multi level association rule</a:t>
            </a:r>
            <a:endParaRPr lang="en-IN" dirty="0"/>
          </a:p>
        </p:txBody>
      </p:sp>
      <p:sp>
        <p:nvSpPr>
          <p:cNvPr id="3" name="Content Placeholder 2">
            <a:extLst>
              <a:ext uri="{FF2B5EF4-FFF2-40B4-BE49-F238E27FC236}">
                <a16:creationId xmlns:a16="http://schemas.microsoft.com/office/drawing/2014/main" id="{331B6452-2EF1-446E-A979-93D0A15DF931}"/>
              </a:ext>
            </a:extLst>
          </p:cNvPr>
          <p:cNvSpPr>
            <a:spLocks noGrp="1"/>
          </p:cNvSpPr>
          <p:nvPr>
            <p:ph idx="1"/>
          </p:nvPr>
        </p:nvSpPr>
        <p:spPr/>
        <p:txBody>
          <a:bodyPr>
            <a:normAutofit fontScale="92500"/>
          </a:bodyPr>
          <a:lstStyle/>
          <a:p>
            <a:pPr algn="just">
              <a:buFont typeface="Arial" panose="020B0604020202020204" pitchFamily="34" charset="0"/>
              <a:buChar char="•"/>
            </a:pPr>
            <a:r>
              <a:rPr lang="en-US" b="0" i="0" dirty="0">
                <a:solidFill>
                  <a:srgbClr val="333333"/>
                </a:solidFill>
                <a:effectLst/>
                <a:latin typeface="Source Sans Pro" panose="020B0503030403020204" pitchFamily="34" charset="0"/>
              </a:rPr>
              <a:t>Association rules generated from mining data at multiple levels of abstraction are called multiple-level or multilevel association rules.</a:t>
            </a:r>
          </a:p>
          <a:p>
            <a:pPr algn="just">
              <a:buFont typeface="Arial" panose="020B0604020202020204" pitchFamily="34" charset="0"/>
              <a:buChar char="•"/>
            </a:pPr>
            <a:r>
              <a:rPr lang="en-US" b="0" i="0" dirty="0">
                <a:solidFill>
                  <a:srgbClr val="333333"/>
                </a:solidFill>
                <a:effectLst/>
                <a:latin typeface="Source Sans Pro" panose="020B0503030403020204" pitchFamily="34" charset="0"/>
              </a:rPr>
              <a:t>Multilevel association rules can be mined efficiently using concept hierarchies under a support-confidence framework.</a:t>
            </a:r>
          </a:p>
          <a:p>
            <a:pPr algn="just">
              <a:buFont typeface="Arial" panose="020B0604020202020204" pitchFamily="34" charset="0"/>
              <a:buChar char="•"/>
            </a:pPr>
            <a:r>
              <a:rPr lang="en-US" b="0" i="0" dirty="0">
                <a:solidFill>
                  <a:srgbClr val="333333"/>
                </a:solidFill>
                <a:effectLst/>
                <a:latin typeface="Source Sans Pro" panose="020B0503030403020204" pitchFamily="34" charset="0"/>
              </a:rPr>
              <a:t>Rules at high concept level may add to common sense while rules at low concept level may not be useful always.</a:t>
            </a:r>
          </a:p>
          <a:p>
            <a:endParaRPr lang="en-IN" dirty="0"/>
          </a:p>
        </p:txBody>
      </p:sp>
    </p:spTree>
    <p:extLst>
      <p:ext uri="{BB962C8B-B14F-4D97-AF65-F5344CB8AC3E}">
        <p14:creationId xmlns:p14="http://schemas.microsoft.com/office/powerpoint/2010/main" val="1267428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212C2-C3C9-4689-AD6D-6DB293BF0AA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258079D-D75A-4646-968E-9C67708A2AB6}"/>
              </a:ext>
            </a:extLst>
          </p:cNvPr>
          <p:cNvPicPr>
            <a:picLocks noGrp="1" noChangeAspect="1"/>
          </p:cNvPicPr>
          <p:nvPr>
            <p:ph idx="1"/>
          </p:nvPr>
        </p:nvPicPr>
        <p:blipFill>
          <a:blip r:embed="rId2"/>
          <a:stretch>
            <a:fillRect/>
          </a:stretch>
        </p:blipFill>
        <p:spPr>
          <a:xfrm>
            <a:off x="228600" y="1752600"/>
            <a:ext cx="8229600" cy="1096802"/>
          </a:xfrm>
        </p:spPr>
      </p:pic>
      <p:pic>
        <p:nvPicPr>
          <p:cNvPr id="2050" name="Picture 2" descr="shareengineer: DATA WAREHOUSING AND MINIG ENGINEERING LECTURE NOTES--Mining  Various Kinds of Association Rules">
            <a:extLst>
              <a:ext uri="{FF2B5EF4-FFF2-40B4-BE49-F238E27FC236}">
                <a16:creationId xmlns:a16="http://schemas.microsoft.com/office/drawing/2014/main" id="{BD75B80C-76B3-46DF-9655-02440E754127}"/>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8000"/>
                    </a14:imgEffect>
                  </a14:imgLayer>
                </a14:imgProps>
              </a:ext>
              <a:ext uri="{28A0092B-C50C-407E-A947-70E740481C1C}">
                <a14:useLocalDpi xmlns:a14="http://schemas.microsoft.com/office/drawing/2010/main" val="0"/>
              </a:ext>
            </a:extLst>
          </a:blip>
          <a:srcRect/>
          <a:stretch>
            <a:fillRect/>
          </a:stretch>
        </p:blipFill>
        <p:spPr bwMode="auto">
          <a:xfrm>
            <a:off x="191814" y="2849402"/>
            <a:ext cx="8266386"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208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0BEE-3F80-472E-89FB-8FDEF5FD6EC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6C13C24-9E1D-42D9-8136-BBF2D55BEAF2}"/>
              </a:ext>
            </a:extLst>
          </p:cNvPr>
          <p:cNvSpPr>
            <a:spLocks noGrp="1"/>
          </p:cNvSpPr>
          <p:nvPr>
            <p:ph idx="1"/>
          </p:nvPr>
        </p:nvSpPr>
        <p:spPr/>
        <p:txBody>
          <a:bodyPr>
            <a:normAutofit fontScale="77500" lnSpcReduction="20000"/>
          </a:bodyPr>
          <a:lstStyle/>
          <a:p>
            <a:pPr marL="0" indent="0" algn="just">
              <a:buNone/>
            </a:pPr>
            <a:r>
              <a:rPr lang="en-US" b="0" i="0" dirty="0">
                <a:solidFill>
                  <a:srgbClr val="C00000"/>
                </a:solidFill>
                <a:effectLst/>
                <a:latin typeface="Source Sans Pro" panose="020B0503030403020204" pitchFamily="34" charset="0"/>
              </a:rPr>
              <a:t>Using uniform minimum support for all levels:</a:t>
            </a:r>
          </a:p>
          <a:p>
            <a:pPr algn="just">
              <a:buFont typeface="Arial" panose="020B0604020202020204" pitchFamily="34" charset="0"/>
              <a:buChar char="•"/>
            </a:pPr>
            <a:r>
              <a:rPr lang="en-US" b="0" i="0" dirty="0">
                <a:solidFill>
                  <a:srgbClr val="333333"/>
                </a:solidFill>
                <a:effectLst/>
                <a:latin typeface="Source Sans Pro" panose="020B0503030403020204" pitchFamily="34" charset="0"/>
              </a:rPr>
              <a:t>When a uniform minimum support threshold is used, the search procedure is simplified.</a:t>
            </a:r>
          </a:p>
          <a:p>
            <a:pPr algn="just">
              <a:buFont typeface="Arial" panose="020B0604020202020204" pitchFamily="34" charset="0"/>
              <a:buChar char="•"/>
            </a:pPr>
            <a:r>
              <a:rPr lang="en-US" b="0" i="0" dirty="0">
                <a:solidFill>
                  <a:srgbClr val="333333"/>
                </a:solidFill>
                <a:effectLst/>
                <a:latin typeface="Source Sans Pro" panose="020B0503030403020204" pitchFamily="34" charset="0"/>
              </a:rPr>
              <a:t>The method is also simple, in that users are required to specify only one minimum support threshold.</a:t>
            </a:r>
          </a:p>
          <a:p>
            <a:pPr algn="just">
              <a:buFont typeface="Arial" panose="020B0604020202020204" pitchFamily="34" charset="0"/>
              <a:buChar char="•"/>
            </a:pPr>
            <a:r>
              <a:rPr lang="en-US" b="0" i="0" dirty="0">
                <a:solidFill>
                  <a:srgbClr val="333333"/>
                </a:solidFill>
                <a:effectLst/>
                <a:latin typeface="Source Sans Pro" panose="020B0503030403020204" pitchFamily="34" charset="0"/>
              </a:rPr>
              <a:t>The same minimum support threshold is used when mining at each level of abstraction.</a:t>
            </a:r>
          </a:p>
          <a:p>
            <a:pPr algn="just">
              <a:buFont typeface="Arial" panose="020B0604020202020204" pitchFamily="34" charset="0"/>
              <a:buChar char="•"/>
            </a:pPr>
            <a:r>
              <a:rPr lang="en-US" b="0" i="0" dirty="0">
                <a:solidFill>
                  <a:srgbClr val="333333"/>
                </a:solidFill>
                <a:effectLst/>
                <a:latin typeface="Source Sans Pro" panose="020B0503030403020204" pitchFamily="34" charset="0"/>
              </a:rPr>
              <a:t>For example,  a minimum support threshold of 5% is used throughout.</a:t>
            </a:r>
          </a:p>
          <a:p>
            <a:pPr algn="just">
              <a:buFont typeface="Arial" panose="020B0604020202020204" pitchFamily="34" charset="0"/>
              <a:buChar char="•"/>
            </a:pPr>
            <a:r>
              <a:rPr lang="en-US" b="0" i="0" dirty="0">
                <a:solidFill>
                  <a:srgbClr val="333333"/>
                </a:solidFill>
                <a:effectLst/>
                <a:latin typeface="Source Sans Pro" panose="020B0503030403020204" pitchFamily="34" charset="0"/>
              </a:rPr>
              <a:t>(e.g. for mining from “computer” down to “laptop computer”).</a:t>
            </a:r>
          </a:p>
          <a:p>
            <a:pPr algn="just">
              <a:buFont typeface="Arial" panose="020B0604020202020204" pitchFamily="34" charset="0"/>
              <a:buChar char="•"/>
            </a:pPr>
            <a:r>
              <a:rPr lang="en-US" b="0" i="0" dirty="0">
                <a:solidFill>
                  <a:srgbClr val="333333"/>
                </a:solidFill>
                <a:effectLst/>
                <a:latin typeface="Source Sans Pro" panose="020B0503030403020204" pitchFamily="34" charset="0"/>
              </a:rPr>
              <a:t>Both “computer” and “laptop computer” are found to be frequent, while “desktop computer” is not.</a:t>
            </a:r>
          </a:p>
          <a:p>
            <a:endParaRPr lang="en-IN" dirty="0"/>
          </a:p>
        </p:txBody>
      </p:sp>
    </p:spTree>
    <p:extLst>
      <p:ext uri="{BB962C8B-B14F-4D97-AF65-F5344CB8AC3E}">
        <p14:creationId xmlns:p14="http://schemas.microsoft.com/office/powerpoint/2010/main" val="2971186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59A1A-C900-451B-846D-AA8DC7B7CD0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99F4554-AEC1-47D9-966A-6CF7A4DCCA47}"/>
              </a:ext>
            </a:extLst>
          </p:cNvPr>
          <p:cNvSpPr>
            <a:spLocks noGrp="1"/>
          </p:cNvSpPr>
          <p:nvPr>
            <p:ph idx="1"/>
          </p:nvPr>
        </p:nvSpPr>
        <p:spPr/>
        <p:txBody>
          <a:bodyPr>
            <a:normAutofit/>
          </a:bodyPr>
          <a:lstStyle/>
          <a:p>
            <a:pPr marL="0" indent="0" algn="just">
              <a:lnSpc>
                <a:spcPct val="80000"/>
              </a:lnSpc>
              <a:buNone/>
            </a:pPr>
            <a:r>
              <a:rPr lang="en-US" sz="2500" dirty="0">
                <a:solidFill>
                  <a:srgbClr val="C00000"/>
                </a:solidFill>
                <a:latin typeface="Source Sans Pro" panose="020B0503030403020204" pitchFamily="34" charset="0"/>
              </a:rPr>
              <a:t>Drawbacks of uniform min support count :</a:t>
            </a:r>
          </a:p>
          <a:p>
            <a:pPr algn="just">
              <a:lnSpc>
                <a:spcPct val="80000"/>
              </a:lnSpc>
            </a:pPr>
            <a:endParaRPr lang="en-US" sz="2500" dirty="0">
              <a:solidFill>
                <a:srgbClr val="333333"/>
              </a:solidFill>
              <a:latin typeface="Source Sans Pro" panose="020B0503030403020204" pitchFamily="34" charset="0"/>
            </a:endParaRPr>
          </a:p>
          <a:p>
            <a:pPr marL="0" indent="0" algn="just">
              <a:lnSpc>
                <a:spcPct val="80000"/>
              </a:lnSpc>
              <a:buNone/>
            </a:pPr>
            <a:r>
              <a:rPr lang="en-US" sz="2500" dirty="0">
                <a:solidFill>
                  <a:srgbClr val="333333"/>
                </a:solidFill>
                <a:latin typeface="Source Sans Pro" panose="020B0503030403020204" pitchFamily="34" charset="0"/>
              </a:rPr>
              <a:t>1.  If the minimum support threshold is set too high, it could miss some meaningful associations occurring at low abstraction levels.</a:t>
            </a:r>
          </a:p>
          <a:p>
            <a:pPr algn="just">
              <a:lnSpc>
                <a:spcPct val="80000"/>
              </a:lnSpc>
            </a:pPr>
            <a:endParaRPr lang="en-US" sz="2500" dirty="0">
              <a:solidFill>
                <a:srgbClr val="333333"/>
              </a:solidFill>
              <a:latin typeface="Source Sans Pro" panose="020B0503030403020204" pitchFamily="34" charset="0"/>
            </a:endParaRPr>
          </a:p>
          <a:p>
            <a:pPr marL="0" indent="0" algn="just">
              <a:lnSpc>
                <a:spcPct val="80000"/>
              </a:lnSpc>
              <a:buNone/>
            </a:pPr>
            <a:r>
              <a:rPr lang="en-US" sz="2500" dirty="0">
                <a:solidFill>
                  <a:srgbClr val="333333"/>
                </a:solidFill>
                <a:latin typeface="Source Sans Pro" panose="020B0503030403020204" pitchFamily="34" charset="0"/>
              </a:rPr>
              <a:t>2. If the threshold is set too low, it may generate many uninteresting associations occurring at high abstraction levels</a:t>
            </a:r>
          </a:p>
          <a:p>
            <a:pPr algn="just">
              <a:lnSpc>
                <a:spcPct val="80000"/>
              </a:lnSpc>
            </a:pPr>
            <a:endParaRPr lang="en-US" sz="2500" dirty="0">
              <a:solidFill>
                <a:srgbClr val="333333"/>
              </a:solidFill>
              <a:latin typeface="Source Sans Pro" panose="020B0503030403020204" pitchFamily="34" charset="0"/>
            </a:endParaRPr>
          </a:p>
        </p:txBody>
      </p:sp>
    </p:spTree>
    <p:extLst>
      <p:ext uri="{BB962C8B-B14F-4D97-AF65-F5344CB8AC3E}">
        <p14:creationId xmlns:p14="http://schemas.microsoft.com/office/powerpoint/2010/main" val="113613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DA06A-7332-4664-9100-E83482D4884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D98E967-42AE-4A6B-895A-950B326B7B3A}"/>
              </a:ext>
            </a:extLst>
          </p:cNvPr>
          <p:cNvSpPr>
            <a:spLocks noGrp="1"/>
          </p:cNvSpPr>
          <p:nvPr>
            <p:ph idx="1"/>
          </p:nvPr>
        </p:nvSpPr>
        <p:spPr/>
        <p:txBody>
          <a:bodyPr/>
          <a:lstStyle/>
          <a:p>
            <a:r>
              <a:rPr lang="en-US" dirty="0"/>
              <a:t>Using reduced minimum support at lower levels (referred to as reduced support):</a:t>
            </a:r>
          </a:p>
          <a:p>
            <a:endParaRPr lang="en-US" dirty="0"/>
          </a:p>
          <a:p>
            <a:r>
              <a:rPr lang="en-US" dirty="0"/>
              <a:t>Each level of abstraction has its own minimum support threshold. The deeper the level of abstraction, the smaller the corresponding threshold is.</a:t>
            </a:r>
            <a:endParaRPr lang="en-IN" dirty="0"/>
          </a:p>
        </p:txBody>
      </p:sp>
    </p:spTree>
    <p:extLst>
      <p:ext uri="{BB962C8B-B14F-4D97-AF65-F5344CB8AC3E}">
        <p14:creationId xmlns:p14="http://schemas.microsoft.com/office/powerpoint/2010/main" val="2337004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185C8-C258-406D-89E5-58EED49FF286}"/>
              </a:ext>
            </a:extLst>
          </p:cNvPr>
          <p:cNvSpPr>
            <a:spLocks noGrp="1"/>
          </p:cNvSpPr>
          <p:nvPr>
            <p:ph type="title"/>
          </p:nvPr>
        </p:nvSpPr>
        <p:spPr/>
        <p:txBody>
          <a:bodyPr/>
          <a:lstStyle/>
          <a:p>
            <a:endParaRPr lang="en-IN"/>
          </a:p>
        </p:txBody>
      </p:sp>
      <p:pic>
        <p:nvPicPr>
          <p:cNvPr id="3074" name="Picture 2" descr="What do you mean by multilevel association rules ? Discuss different  variations to this approach. Answer... Data Mining question answer  solutions collection">
            <a:extLst>
              <a:ext uri="{FF2B5EF4-FFF2-40B4-BE49-F238E27FC236}">
                <a16:creationId xmlns:a16="http://schemas.microsoft.com/office/drawing/2014/main" id="{4A75886B-3C56-4C82-9836-DC866192243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85887" y="2853531"/>
            <a:ext cx="6372225" cy="2019300"/>
          </a:xfrm>
          <a:prstGeom prst="rect">
            <a:avLst/>
          </a:prstGeom>
          <a:noFill/>
          <a:extLst>
            <a:ext uri="{909E8E84-426E-40DD-AFC4-6F175D3DCCD1}">
              <a14:hiddenFill xmlns:a14="http://schemas.microsoft.com/office/drawing/2010/main">
                <a:solidFill>
                  <a:srgbClr val="FFFFFF"/>
                </a:solidFill>
              </a14:hiddenFill>
            </a:ext>
          </a:extLst>
        </p:spPr>
      </p:pic>
      <p:sp>
        <p:nvSpPr>
          <p:cNvPr id="4" name="Left Brace 3">
            <a:extLst>
              <a:ext uri="{FF2B5EF4-FFF2-40B4-BE49-F238E27FC236}">
                <a16:creationId xmlns:a16="http://schemas.microsoft.com/office/drawing/2014/main" id="{765EBD4B-7E94-43A8-BFDF-1D99C1BA6312}"/>
              </a:ext>
            </a:extLst>
          </p:cNvPr>
          <p:cNvSpPr/>
          <p:nvPr/>
        </p:nvSpPr>
        <p:spPr>
          <a:xfrm>
            <a:off x="1143000" y="2971800"/>
            <a:ext cx="242887" cy="10668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 name="TextBox 8">
            <a:extLst>
              <a:ext uri="{FF2B5EF4-FFF2-40B4-BE49-F238E27FC236}">
                <a16:creationId xmlns:a16="http://schemas.microsoft.com/office/drawing/2014/main" id="{73782A01-1473-4F4A-A5A8-58C43E637C75}"/>
              </a:ext>
            </a:extLst>
          </p:cNvPr>
          <p:cNvSpPr txBox="1"/>
          <p:nvPr/>
        </p:nvSpPr>
        <p:spPr>
          <a:xfrm>
            <a:off x="0" y="3212731"/>
            <a:ext cx="1427205" cy="646331"/>
          </a:xfrm>
          <a:prstGeom prst="rect">
            <a:avLst/>
          </a:prstGeom>
          <a:noFill/>
        </p:spPr>
        <p:txBody>
          <a:bodyPr wrap="square">
            <a:spAutoFit/>
          </a:bodyPr>
          <a:lstStyle/>
          <a:p>
            <a:r>
              <a:rPr lang="en-US" sz="1200" b="0" i="0" dirty="0">
                <a:solidFill>
                  <a:srgbClr val="C00000"/>
                </a:solidFill>
                <a:effectLst/>
                <a:latin typeface="Source Sans Pro" panose="020B0503030403020204" pitchFamily="34" charset="0"/>
              </a:rPr>
              <a:t>uniform minimum support for all levels</a:t>
            </a:r>
            <a:endParaRPr lang="en-IN" sz="1200" dirty="0"/>
          </a:p>
        </p:txBody>
      </p:sp>
      <p:sp>
        <p:nvSpPr>
          <p:cNvPr id="8" name="Right Brace 7">
            <a:extLst>
              <a:ext uri="{FF2B5EF4-FFF2-40B4-BE49-F238E27FC236}">
                <a16:creationId xmlns:a16="http://schemas.microsoft.com/office/drawing/2014/main" id="{7D40CDEA-95A5-4B84-9A5B-D4753782F9AB}"/>
              </a:ext>
            </a:extLst>
          </p:cNvPr>
          <p:cNvSpPr/>
          <p:nvPr/>
        </p:nvSpPr>
        <p:spPr>
          <a:xfrm>
            <a:off x="7758112" y="2667000"/>
            <a:ext cx="776288" cy="23622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TextBox 11">
            <a:extLst>
              <a:ext uri="{FF2B5EF4-FFF2-40B4-BE49-F238E27FC236}">
                <a16:creationId xmlns:a16="http://schemas.microsoft.com/office/drawing/2014/main" id="{C5D23F3C-9944-4B56-B45E-6CF3A5217063}"/>
              </a:ext>
            </a:extLst>
          </p:cNvPr>
          <p:cNvSpPr txBox="1"/>
          <p:nvPr/>
        </p:nvSpPr>
        <p:spPr>
          <a:xfrm>
            <a:off x="6477000" y="5191017"/>
            <a:ext cx="2362200" cy="646331"/>
          </a:xfrm>
          <a:prstGeom prst="rect">
            <a:avLst/>
          </a:prstGeom>
          <a:noFill/>
        </p:spPr>
        <p:txBody>
          <a:bodyPr wrap="square">
            <a:spAutoFit/>
          </a:bodyPr>
          <a:lstStyle/>
          <a:p>
            <a:pPr algn="ctr"/>
            <a:r>
              <a:rPr lang="en-US" sz="1200" dirty="0">
                <a:solidFill>
                  <a:srgbClr val="C00000"/>
                </a:solidFill>
                <a:latin typeface="Source Sans Pro" panose="020B0503030403020204" pitchFamily="34" charset="0"/>
              </a:rPr>
              <a:t>Using reduced minimum support at lower levels (referred to as reduced support)</a:t>
            </a:r>
            <a:endParaRPr lang="en-IN" sz="1200" dirty="0">
              <a:solidFill>
                <a:srgbClr val="C00000"/>
              </a:solidFill>
              <a:latin typeface="Source Sans Pro" panose="020B0503030403020204" pitchFamily="34" charset="0"/>
            </a:endParaRPr>
          </a:p>
        </p:txBody>
      </p:sp>
    </p:spTree>
    <p:extLst>
      <p:ext uri="{BB962C8B-B14F-4D97-AF65-F5344CB8AC3E}">
        <p14:creationId xmlns:p14="http://schemas.microsoft.com/office/powerpoint/2010/main" val="2823599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Association Mining to Correlation Analysis</a:t>
            </a:r>
          </a:p>
        </p:txBody>
      </p:sp>
      <p:sp>
        <p:nvSpPr>
          <p:cNvPr id="3" name="Content Placeholder 2"/>
          <p:cNvSpPr>
            <a:spLocks noGrp="1"/>
          </p:cNvSpPr>
          <p:nvPr>
            <p:ph idx="1"/>
          </p:nvPr>
        </p:nvSpPr>
        <p:spPr>
          <a:xfrm>
            <a:off x="457200" y="1600200"/>
            <a:ext cx="8458200" cy="4876800"/>
          </a:xfrm>
        </p:spPr>
        <p:txBody>
          <a:bodyPr>
            <a:normAutofit fontScale="85000" lnSpcReduction="20000"/>
          </a:bodyPr>
          <a:lstStyle/>
          <a:p>
            <a:pPr algn="just">
              <a:lnSpc>
                <a:spcPct val="160000"/>
              </a:lnSpc>
            </a:pPr>
            <a:r>
              <a:rPr lang="en-US" dirty="0"/>
              <a:t> A correlation measure can be used to augment the support-confidence framework for association rules. This leads to </a:t>
            </a:r>
            <a:r>
              <a:rPr lang="en-US" i="1" dirty="0"/>
              <a:t>correlation rules </a:t>
            </a:r>
            <a:r>
              <a:rPr lang="en-US" dirty="0"/>
              <a:t>of the form</a:t>
            </a:r>
          </a:p>
          <a:p>
            <a:pPr lvl="1" algn="just">
              <a:lnSpc>
                <a:spcPct val="160000"/>
              </a:lnSpc>
            </a:pPr>
            <a:r>
              <a:rPr lang="en-US" i="1" dirty="0"/>
              <a:t>A</a:t>
            </a:r>
            <a:r>
              <a:rPr lang="en-US" dirty="0"/>
              <a:t>=&gt;</a:t>
            </a:r>
            <a:r>
              <a:rPr lang="en-US" i="1" dirty="0"/>
              <a:t>B </a:t>
            </a:r>
            <a:r>
              <a:rPr lang="en-US" dirty="0"/>
              <a:t>[</a:t>
            </a:r>
            <a:r>
              <a:rPr lang="en-US" i="1" dirty="0"/>
              <a:t>support</a:t>
            </a:r>
            <a:r>
              <a:rPr lang="en-US" dirty="0"/>
              <a:t>, </a:t>
            </a:r>
            <a:r>
              <a:rPr lang="en-US" i="1" dirty="0"/>
              <a:t>confidence</a:t>
            </a:r>
            <a:r>
              <a:rPr lang="en-US" dirty="0"/>
              <a:t>, </a:t>
            </a:r>
            <a:r>
              <a:rPr lang="en-US" i="1" dirty="0"/>
              <a:t>correlation</a:t>
            </a:r>
            <a:r>
              <a:rPr lang="en-US" dirty="0"/>
              <a:t>]</a:t>
            </a:r>
          </a:p>
          <a:p>
            <a:pPr algn="just">
              <a:lnSpc>
                <a:spcPct val="160000"/>
              </a:lnSpc>
            </a:pPr>
            <a:r>
              <a:rPr lang="en-US" dirty="0"/>
              <a:t>   That is, a correlation rule is measured not only by its support and confidence but also by the correlation between </a:t>
            </a:r>
            <a:r>
              <a:rPr lang="en-US" dirty="0" err="1"/>
              <a:t>itemsets</a:t>
            </a:r>
            <a:r>
              <a:rPr lang="en-US" dirty="0"/>
              <a:t> </a:t>
            </a:r>
            <a:r>
              <a:rPr lang="en-US" i="1" dirty="0"/>
              <a:t>A </a:t>
            </a:r>
            <a:r>
              <a:rPr lang="en-US" dirty="0"/>
              <a:t>and </a:t>
            </a:r>
            <a:r>
              <a:rPr lang="en-US" i="1" dirty="0"/>
              <a:t>B</a:t>
            </a:r>
            <a:r>
              <a:rPr lang="en-US" dirty="0"/>
              <a:t>. There are many different correlation measures from which to choose.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Association Mining to Correlation Analysis</a:t>
            </a:r>
          </a:p>
        </p:txBody>
      </p:sp>
      <p:sp>
        <p:nvSpPr>
          <p:cNvPr id="3" name="Content Placeholder 2"/>
          <p:cNvSpPr>
            <a:spLocks noGrp="1"/>
          </p:cNvSpPr>
          <p:nvPr>
            <p:ph idx="1"/>
          </p:nvPr>
        </p:nvSpPr>
        <p:spPr>
          <a:xfrm>
            <a:off x="457200" y="1600200"/>
            <a:ext cx="8458200" cy="4876800"/>
          </a:xfrm>
        </p:spPr>
        <p:txBody>
          <a:bodyPr>
            <a:normAutofit/>
          </a:bodyPr>
          <a:lstStyle/>
          <a:p>
            <a:pPr algn="just">
              <a:lnSpc>
                <a:spcPct val="160000"/>
              </a:lnSpc>
            </a:pPr>
            <a:r>
              <a:rPr lang="en-US" dirty="0"/>
              <a:t>Correlation may be :</a:t>
            </a:r>
          </a:p>
          <a:p>
            <a:pPr lvl="1" algn="just">
              <a:lnSpc>
                <a:spcPct val="160000"/>
              </a:lnSpc>
            </a:pPr>
            <a:r>
              <a:rPr lang="en-US" dirty="0"/>
              <a:t>Positive</a:t>
            </a:r>
          </a:p>
          <a:p>
            <a:pPr lvl="1" algn="just">
              <a:lnSpc>
                <a:spcPct val="160000"/>
              </a:lnSpc>
            </a:pPr>
            <a:r>
              <a:rPr lang="en-US" dirty="0"/>
              <a:t>Negative</a:t>
            </a:r>
          </a:p>
          <a:p>
            <a:pPr lvl="1" algn="just">
              <a:lnSpc>
                <a:spcPct val="160000"/>
              </a:lnSpc>
            </a:pPr>
            <a:r>
              <a:rPr lang="en-US"/>
              <a:t>No Relation   </a:t>
            </a:r>
            <a:endParaRPr lang="en-US" dirty="0"/>
          </a:p>
          <a:p>
            <a:pPr lvl="1" algn="just">
              <a:lnSpc>
                <a:spcPct val="160000"/>
              </a:lnSpc>
              <a:buNone/>
            </a:pPr>
            <a:r>
              <a:rPr lang="en-US" dirty="0"/>
              <a:t>In Data mining, Association Mining to Correlation Analysis depend on lift.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Association Mining to Correlation Analysis</a:t>
            </a:r>
          </a:p>
        </p:txBody>
      </p:sp>
      <p:sp>
        <p:nvSpPr>
          <p:cNvPr id="3" name="Content Placeholder 2"/>
          <p:cNvSpPr>
            <a:spLocks noGrp="1"/>
          </p:cNvSpPr>
          <p:nvPr>
            <p:ph idx="1"/>
          </p:nvPr>
        </p:nvSpPr>
        <p:spPr>
          <a:xfrm>
            <a:off x="457200" y="1600200"/>
            <a:ext cx="8458200" cy="4876800"/>
          </a:xfrm>
        </p:spPr>
        <p:txBody>
          <a:bodyPr>
            <a:normAutofit fontScale="85000" lnSpcReduction="20000"/>
          </a:bodyPr>
          <a:lstStyle/>
          <a:p>
            <a:pPr algn="just"/>
            <a:r>
              <a:rPr lang="en-US" dirty="0"/>
              <a:t>The lift between the occurrence of </a:t>
            </a:r>
            <a:r>
              <a:rPr lang="en-US" i="1" dirty="0"/>
              <a:t>A </a:t>
            </a:r>
            <a:r>
              <a:rPr lang="en-US" dirty="0"/>
              <a:t>and </a:t>
            </a:r>
            <a:r>
              <a:rPr lang="en-US" i="1" dirty="0"/>
              <a:t>B </a:t>
            </a:r>
            <a:r>
              <a:rPr lang="en-US" dirty="0"/>
              <a:t>can be measured by computing</a:t>
            </a:r>
          </a:p>
          <a:p>
            <a:pPr algn="just">
              <a:buNone/>
            </a:pPr>
            <a:br>
              <a:rPr lang="en-US" dirty="0"/>
            </a:br>
            <a:r>
              <a:rPr lang="en-US" dirty="0"/>
              <a:t>	</a:t>
            </a:r>
          </a:p>
          <a:p>
            <a:pPr algn="just"/>
            <a:endParaRPr lang="en-US" dirty="0"/>
          </a:p>
          <a:p>
            <a:pPr algn="just"/>
            <a:endParaRPr lang="en-US" dirty="0"/>
          </a:p>
          <a:p>
            <a:pPr algn="just"/>
            <a:r>
              <a:rPr lang="en-US" dirty="0"/>
              <a:t>If the lift(A,B) is less than 1, then the occurrence of A is negatively correlated with the occurrence of B.</a:t>
            </a:r>
          </a:p>
          <a:p>
            <a:pPr algn="just"/>
            <a:r>
              <a:rPr lang="en-US" dirty="0"/>
              <a:t>If the resulting value is greater than 1, then A and B are positively correlated, meaning that the occurrence of one implies the occurrence of the other.</a:t>
            </a:r>
          </a:p>
          <a:p>
            <a:pPr algn="just"/>
            <a:r>
              <a:rPr lang="en-US" dirty="0"/>
              <a:t>If the resulting value is equal to 1, then A and B are independent and there is no correlation between them.</a:t>
            </a:r>
          </a:p>
        </p:txBody>
      </p:sp>
      <p:pic>
        <p:nvPicPr>
          <p:cNvPr id="4" name="image43.jpeg"/>
          <p:cNvPicPr/>
          <p:nvPr/>
        </p:nvPicPr>
        <p:blipFill>
          <a:blip r:embed="rId2" cstate="print"/>
          <a:stretch>
            <a:fillRect/>
          </a:stretch>
        </p:blipFill>
        <p:spPr>
          <a:xfrm>
            <a:off x="2438400" y="2514601"/>
            <a:ext cx="2805485" cy="9905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7116</TotalTime>
  <Words>1161</Words>
  <Application>Microsoft Office PowerPoint</Application>
  <PresentationFormat>On-screen Show (4:3)</PresentationFormat>
  <Paragraphs>85</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Source Sans Pro</vt:lpstr>
      <vt:lpstr>Times New Roman</vt:lpstr>
      <vt:lpstr>Office Theme</vt:lpstr>
      <vt:lpstr>Mining Multidimensional Association Rules  quantitative Rules Multi-Level Rules Constraint based Rules </vt:lpstr>
      <vt:lpstr>PowerPoint Presentation</vt:lpstr>
      <vt:lpstr>Mining Multidimensional Association Rules </vt:lpstr>
      <vt:lpstr>PowerPoint Presentation</vt:lpstr>
      <vt:lpstr>Mining Multidimensional Association Rules </vt:lpstr>
      <vt:lpstr>PowerPoint Presentation</vt:lpstr>
      <vt:lpstr>Multidimensional Association Rules</vt:lpstr>
      <vt:lpstr>PowerPoint Presentation</vt:lpstr>
      <vt:lpstr>Mining Quantitative Association Rules</vt:lpstr>
      <vt:lpstr>PowerPoint Presentation</vt:lpstr>
      <vt:lpstr>PowerPoint Presentation</vt:lpstr>
      <vt:lpstr>CONSTRAINT BASED ASSOCIATION RULES</vt:lpstr>
      <vt:lpstr>Constraints can be of the following types</vt:lpstr>
      <vt:lpstr>CONSTRAINT BASED ASSOCIATION RULES</vt:lpstr>
      <vt:lpstr>CONSTRAINT BASED ASSOCIATION RULES</vt:lpstr>
      <vt:lpstr>CONSTRAINT BASED ASSOCIATION RULES</vt:lpstr>
      <vt:lpstr>Multi level association rule</vt:lpstr>
      <vt:lpstr>PowerPoint Presentation</vt:lpstr>
      <vt:lpstr>PowerPoint Presentation</vt:lpstr>
      <vt:lpstr>PowerPoint Presentation</vt:lpstr>
      <vt:lpstr>PowerPoint Presentation</vt:lpstr>
      <vt:lpstr>PowerPoint Presentation</vt:lpstr>
      <vt:lpstr>Association Mining to Correlation Analysis</vt:lpstr>
      <vt:lpstr>Association Mining to Correlation Analysis</vt:lpstr>
      <vt:lpstr>Association Mining to Correlation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Multidimensional Association Rules</dc:title>
  <dc:creator>admin</dc:creator>
  <cp:lastModifiedBy>kriti ohri</cp:lastModifiedBy>
  <cp:revision>15</cp:revision>
  <dcterms:created xsi:type="dcterms:W3CDTF">2006-08-16T00:00:00Z</dcterms:created>
  <dcterms:modified xsi:type="dcterms:W3CDTF">2021-12-09T11:18:25Z</dcterms:modified>
</cp:coreProperties>
</file>