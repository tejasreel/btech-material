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8" r:id="rId5"/>
    <p:sldId id="259" r:id="rId6"/>
    <p:sldId id="261" r:id="rId7"/>
    <p:sldId id="263" r:id="rId8"/>
    <p:sldId id="265" r:id="rId9"/>
    <p:sldId id="266" r:id="rId10"/>
    <p:sldId id="267" r:id="rId11"/>
    <p:sldId id="269" r:id="rId12"/>
    <p:sldId id="270" r:id="rId13"/>
    <p:sldId id="268" r:id="rId14"/>
    <p:sldId id="271"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2" d="100"/>
          <a:sy n="82"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AFA4F-3099-4AE5-9A6C-83F6005705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05D2FC-FE58-4C8F-B73F-67084DDD3A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D0A58F-B4AD-4C7C-B481-675D91F4BFAA}"/>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5" name="Footer Placeholder 4">
            <a:extLst>
              <a:ext uri="{FF2B5EF4-FFF2-40B4-BE49-F238E27FC236}">
                <a16:creationId xmlns:a16="http://schemas.microsoft.com/office/drawing/2014/main" id="{3F6A9DDD-03A7-40D3-8F87-81AD77C658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CBC512-ED9F-40D6-A00E-F22499020ACB}"/>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828134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53FF-3C3A-4B16-9C96-69333E406B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1D6CDB-568B-407D-8A59-DCB3D6283B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0A0E7-5903-4AAE-BF00-8A857A71E103}"/>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5" name="Footer Placeholder 4">
            <a:extLst>
              <a:ext uri="{FF2B5EF4-FFF2-40B4-BE49-F238E27FC236}">
                <a16:creationId xmlns:a16="http://schemas.microsoft.com/office/drawing/2014/main" id="{706F6A66-1994-41D0-864E-1C10936C1D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920A6-6DF3-49A3-9400-8A1759CC4708}"/>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2509738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9B1A6-A072-450A-8FFC-8F6C5CB903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D65BA5-BDAE-42D1-BAB1-007F039BEF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249B92-9B29-42E1-AC1D-71E74D6A3648}"/>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5" name="Footer Placeholder 4">
            <a:extLst>
              <a:ext uri="{FF2B5EF4-FFF2-40B4-BE49-F238E27FC236}">
                <a16:creationId xmlns:a16="http://schemas.microsoft.com/office/drawing/2014/main" id="{C5887692-9E09-476C-8BC0-59F99518E3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F022D1-D7D4-4F79-8F7E-00C661BF4268}"/>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4163860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1BB11-6F68-43B1-9F87-5C442877AF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6398F6-5DCD-4B92-B628-7B400D8420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679733-A6DE-4A5C-BA30-84E5527681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E9E8CF1-DA00-4525-86AC-77A4B81BC3F4}"/>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6" name="Footer Placeholder 5">
            <a:extLst>
              <a:ext uri="{FF2B5EF4-FFF2-40B4-BE49-F238E27FC236}">
                <a16:creationId xmlns:a16="http://schemas.microsoft.com/office/drawing/2014/main" id="{FFF8F6D3-8D27-4E0E-B57D-0B908D4C13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7ACB7C-8B44-4D0B-882F-74DC059AB334}"/>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291779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6BA83-361B-4B8A-8F50-EC801F352E6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BA7C87-795D-4B06-8C62-B17B537E59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14854C-7F49-4A4C-AF39-01B0545115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26210F6-DD84-4897-ADB6-198B080455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1113BE-6F55-4E0C-97C4-2512A75241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029A2C-2D75-443F-B302-110EC49D598B}"/>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8" name="Footer Placeholder 7">
            <a:extLst>
              <a:ext uri="{FF2B5EF4-FFF2-40B4-BE49-F238E27FC236}">
                <a16:creationId xmlns:a16="http://schemas.microsoft.com/office/drawing/2014/main" id="{93B3A58D-C648-4D30-80D9-6B4DC99C33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5DCDD7-3F8A-47AA-9CA5-77C2B6E41465}"/>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3771806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A06BD-9D64-403B-800E-B7E3DCD74B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690C86-6385-4692-B963-96B9051BA462}"/>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4" name="Footer Placeholder 3">
            <a:extLst>
              <a:ext uri="{FF2B5EF4-FFF2-40B4-BE49-F238E27FC236}">
                <a16:creationId xmlns:a16="http://schemas.microsoft.com/office/drawing/2014/main" id="{C0277C8F-F667-414E-8501-D38DFA8D57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8AEC19F-2F71-4E47-B87B-CC2212803748}"/>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4252780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12DD83-8A31-4AAA-B5F2-A2A1B3C01177}"/>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3" name="Footer Placeholder 2">
            <a:extLst>
              <a:ext uri="{FF2B5EF4-FFF2-40B4-BE49-F238E27FC236}">
                <a16:creationId xmlns:a16="http://schemas.microsoft.com/office/drawing/2014/main" id="{B7BE3A24-4F02-4406-9EC0-7BA5103371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DF725A-5EF6-4714-A2A7-82AE4F31F75C}"/>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2274736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50A2E-9FE4-4D0A-9014-841F41081F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113F97-33B7-4A8C-9928-499852911B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DA3682-782B-4944-9D40-46FDC575E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298DB3-1692-4712-805A-6EB11A101081}"/>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6" name="Footer Placeholder 5">
            <a:extLst>
              <a:ext uri="{FF2B5EF4-FFF2-40B4-BE49-F238E27FC236}">
                <a16:creationId xmlns:a16="http://schemas.microsoft.com/office/drawing/2014/main" id="{158EAE7E-FF63-4792-9CF2-BCD6287F22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BE4FDC-6D10-48C4-AB8B-D7F4372B98F6}"/>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4032161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DD373-D520-484C-B236-CA285A0038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16EAFE-46FF-44B7-B9B1-D3011C577F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BE726A-6A07-4647-80D5-7F58BDB8C6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E1445-D719-442B-902B-CF0D66C6F90F}"/>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6" name="Footer Placeholder 5">
            <a:extLst>
              <a:ext uri="{FF2B5EF4-FFF2-40B4-BE49-F238E27FC236}">
                <a16:creationId xmlns:a16="http://schemas.microsoft.com/office/drawing/2014/main" id="{35D98C43-5999-4F31-BF51-603EE3A110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E9A3A8-3049-4AED-B222-32A43EAF04E8}"/>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556133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A9AC9-86F4-4C33-9E44-44B3AD3BEC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B85208-28A3-401F-87DC-93858ABFDB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668FBC-A2DF-4778-8B98-160604F0093C}"/>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5" name="Footer Placeholder 4">
            <a:extLst>
              <a:ext uri="{FF2B5EF4-FFF2-40B4-BE49-F238E27FC236}">
                <a16:creationId xmlns:a16="http://schemas.microsoft.com/office/drawing/2014/main" id="{6047E9C3-D841-4850-AFED-2964F99B28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4263B9-67A9-452F-91EC-FD44771A938B}"/>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349346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15B7C6-1FC0-40C2-A94A-743A522E68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192AE0-6C54-4D5B-8108-323CE3F0E7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1FDAD9-EA43-4D71-ADF0-927C45E57E25}"/>
              </a:ext>
            </a:extLst>
          </p:cNvPr>
          <p:cNvSpPr>
            <a:spLocks noGrp="1"/>
          </p:cNvSpPr>
          <p:nvPr>
            <p:ph type="dt" sz="half" idx="10"/>
          </p:nvPr>
        </p:nvSpPr>
        <p:spPr/>
        <p:txBody>
          <a:bodyPr/>
          <a:lstStyle/>
          <a:p>
            <a:fld id="{E8720460-BACE-47B4-BC0F-D9907E0FDF1C}" type="datetimeFigureOut">
              <a:rPr lang="en-IN" smtClean="0"/>
              <a:t>17-11-2024</a:t>
            </a:fld>
            <a:endParaRPr lang="en-IN"/>
          </a:p>
        </p:txBody>
      </p:sp>
      <p:sp>
        <p:nvSpPr>
          <p:cNvPr id="5" name="Footer Placeholder 4">
            <a:extLst>
              <a:ext uri="{FF2B5EF4-FFF2-40B4-BE49-F238E27FC236}">
                <a16:creationId xmlns:a16="http://schemas.microsoft.com/office/drawing/2014/main" id="{D65A875B-AF59-44E3-8F95-6583AA8846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5DBB27-6572-481E-9EFC-B187E634D4EA}"/>
              </a:ext>
            </a:extLst>
          </p:cNvPr>
          <p:cNvSpPr>
            <a:spLocks noGrp="1"/>
          </p:cNvSpPr>
          <p:nvPr>
            <p:ph type="sldNum" sz="quarter" idx="12"/>
          </p:nvPr>
        </p:nvSpPr>
        <p:spPr/>
        <p:txBody>
          <a:bodyPr/>
          <a:lstStyle/>
          <a:p>
            <a:fld id="{0E4E4DFA-9018-4EBB-A5EA-EF02E0E57CE9}" type="slidenum">
              <a:rPr lang="en-IN" smtClean="0"/>
              <a:t>‹#›</a:t>
            </a:fld>
            <a:endParaRPr lang="en-IN"/>
          </a:p>
        </p:txBody>
      </p:sp>
    </p:spTree>
    <p:extLst>
      <p:ext uri="{BB962C8B-B14F-4D97-AF65-F5344CB8AC3E}">
        <p14:creationId xmlns:p14="http://schemas.microsoft.com/office/powerpoint/2010/main" val="2570870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221760-7C60-461E-9ECA-211D72A03E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2CDB96-8848-4D20-932F-9E85EFCB98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5EDCC4-A818-4860-9632-40EDC23416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20460-BACE-47B4-BC0F-D9907E0FDF1C}" type="datetimeFigureOut">
              <a:rPr lang="en-IN" smtClean="0"/>
              <a:t>17-11-2024</a:t>
            </a:fld>
            <a:endParaRPr lang="en-IN"/>
          </a:p>
        </p:txBody>
      </p:sp>
      <p:sp>
        <p:nvSpPr>
          <p:cNvPr id="5" name="Footer Placeholder 4">
            <a:extLst>
              <a:ext uri="{FF2B5EF4-FFF2-40B4-BE49-F238E27FC236}">
                <a16:creationId xmlns:a16="http://schemas.microsoft.com/office/drawing/2014/main" id="{DC236AB0-18DD-444E-91C2-BF73F748CE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5A31C17-8F41-48D3-9E5D-0A188A2B21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E4DFA-9018-4EBB-A5EA-EF02E0E57CE9}" type="slidenum">
              <a:rPr lang="en-IN" smtClean="0"/>
              <a:t>‹#›</a:t>
            </a:fld>
            <a:endParaRPr lang="en-IN"/>
          </a:p>
        </p:txBody>
      </p:sp>
    </p:spTree>
    <p:extLst>
      <p:ext uri="{BB962C8B-B14F-4D97-AF65-F5344CB8AC3E}">
        <p14:creationId xmlns:p14="http://schemas.microsoft.com/office/powerpoint/2010/main" val="131721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086OcT-5DYI&amp;t=393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A0D3-4AE0-4403-B1E1-6D4C03301572}"/>
              </a:ext>
            </a:extLst>
          </p:cNvPr>
          <p:cNvSpPr>
            <a:spLocks noGrp="1"/>
          </p:cNvSpPr>
          <p:nvPr>
            <p:ph type="ctrTitle"/>
          </p:nvPr>
        </p:nvSpPr>
        <p:spPr/>
        <p:txBody>
          <a:bodyPr>
            <a:normAutofit fontScale="90000"/>
          </a:bodyPr>
          <a:lstStyle/>
          <a:p>
            <a:r>
              <a:rPr lang="en-US" b="1" i="0" dirty="0">
                <a:solidFill>
                  <a:srgbClr val="273239"/>
                </a:solidFill>
                <a:effectLst/>
                <a:latin typeface="sofia-pro"/>
              </a:rPr>
              <a:t>Machine Learning for Anomaly Detection</a:t>
            </a:r>
            <a:br>
              <a:rPr lang="en-US" b="1" i="0" dirty="0">
                <a:solidFill>
                  <a:srgbClr val="273239"/>
                </a:solidFill>
                <a:effectLst/>
                <a:latin typeface="sofia-pro"/>
              </a:rPr>
            </a:br>
            <a:endParaRPr lang="en-IN" dirty="0"/>
          </a:p>
        </p:txBody>
      </p:sp>
      <p:sp>
        <p:nvSpPr>
          <p:cNvPr id="3" name="Subtitle 2">
            <a:extLst>
              <a:ext uri="{FF2B5EF4-FFF2-40B4-BE49-F238E27FC236}">
                <a16:creationId xmlns:a16="http://schemas.microsoft.com/office/drawing/2014/main" id="{D839BB90-4DF7-4399-AF12-C2F2414B54DF}"/>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255359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22B5-41DA-FBCA-5706-639E4FDF7F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70E1F2-7F20-4D8B-E729-A32EFFD642E8}"/>
              </a:ext>
            </a:extLst>
          </p:cNvPr>
          <p:cNvSpPr>
            <a:spLocks noGrp="1"/>
          </p:cNvSpPr>
          <p:nvPr>
            <p:ph idx="1"/>
          </p:nvPr>
        </p:nvSpPr>
        <p:spPr/>
        <p:txBody>
          <a:bodyPr/>
          <a:lstStyle/>
          <a:p>
            <a:pPr algn="just"/>
            <a:r>
              <a:rPr lang="en-US" b="0" i="0" dirty="0">
                <a:solidFill>
                  <a:srgbClr val="222222"/>
                </a:solidFill>
                <a:effectLst/>
                <a:latin typeface="Lato" panose="020F0502020204030203" pitchFamily="34" charset="0"/>
              </a:rPr>
              <a:t>Any data point/observation that deviates significantly from the other observations is called an Anomaly/Outlier. Anomaly detection is important and finds its application in various domains like detection of </a:t>
            </a:r>
            <a:r>
              <a:rPr lang="en-US" b="0" i="0" dirty="0">
                <a:solidFill>
                  <a:srgbClr val="222222"/>
                </a:solidFill>
                <a:effectLst/>
                <a:highlight>
                  <a:srgbClr val="FFFF00"/>
                </a:highlight>
                <a:latin typeface="Lato" panose="020F0502020204030203" pitchFamily="34" charset="0"/>
              </a:rPr>
              <a:t>fraudulent bank transactions</a:t>
            </a:r>
            <a:r>
              <a:rPr lang="en-US" b="0" i="0" dirty="0">
                <a:solidFill>
                  <a:srgbClr val="222222"/>
                </a:solidFill>
                <a:effectLst/>
                <a:latin typeface="Lato" panose="020F0502020204030203" pitchFamily="34" charset="0"/>
              </a:rPr>
              <a:t>, </a:t>
            </a:r>
            <a:r>
              <a:rPr lang="en-US" b="0" i="0" dirty="0">
                <a:solidFill>
                  <a:srgbClr val="222222"/>
                </a:solidFill>
                <a:effectLst/>
                <a:highlight>
                  <a:srgbClr val="FFFF00"/>
                </a:highlight>
                <a:latin typeface="Lato" panose="020F0502020204030203" pitchFamily="34" charset="0"/>
              </a:rPr>
              <a:t>network intrusion detection</a:t>
            </a:r>
            <a:r>
              <a:rPr lang="en-US" b="0" i="0" dirty="0">
                <a:solidFill>
                  <a:srgbClr val="222222"/>
                </a:solidFill>
                <a:effectLst/>
                <a:latin typeface="Lato" panose="020F0502020204030203" pitchFamily="34" charset="0"/>
              </a:rPr>
              <a:t>, sudden </a:t>
            </a:r>
            <a:r>
              <a:rPr lang="en-US" b="0" i="0" dirty="0">
                <a:solidFill>
                  <a:srgbClr val="222222"/>
                </a:solidFill>
                <a:effectLst/>
                <a:highlight>
                  <a:srgbClr val="FFFF00"/>
                </a:highlight>
                <a:latin typeface="Lato" panose="020F0502020204030203" pitchFamily="34" charset="0"/>
              </a:rPr>
              <a:t>rise/drop in sales, change in customer behavior, etc.</a:t>
            </a:r>
          </a:p>
          <a:p>
            <a:pPr algn="just"/>
            <a:r>
              <a:rPr lang="en-US" b="0" i="0" dirty="0">
                <a:solidFill>
                  <a:srgbClr val="222222"/>
                </a:solidFill>
                <a:effectLst/>
                <a:latin typeface="Lato" panose="020F0502020204030203" pitchFamily="34" charset="0"/>
              </a:rPr>
              <a:t>Many techniques were developed to detect anomalies in the data.</a:t>
            </a:r>
            <a:endParaRPr lang="en-IN" dirty="0"/>
          </a:p>
        </p:txBody>
      </p:sp>
    </p:spTree>
    <p:extLst>
      <p:ext uri="{BB962C8B-B14F-4D97-AF65-F5344CB8AC3E}">
        <p14:creationId xmlns:p14="http://schemas.microsoft.com/office/powerpoint/2010/main" val="873567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7A13E-4E50-4849-BE23-8870703997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93B9A4-FC12-4470-859D-40F16A20EFFA}"/>
              </a:ext>
            </a:extLst>
          </p:cNvPr>
          <p:cNvSpPr>
            <a:spLocks noGrp="1"/>
          </p:cNvSpPr>
          <p:nvPr>
            <p:ph idx="1"/>
          </p:nvPr>
        </p:nvSpPr>
        <p:spPr/>
        <p:txBody>
          <a:bodyPr>
            <a:normAutofit fontScale="92500" lnSpcReduction="10000"/>
          </a:bodyPr>
          <a:lstStyle/>
          <a:p>
            <a:pPr algn="just" fontAlgn="base"/>
            <a:r>
              <a:rPr lang="en-US" b="1" i="0" dirty="0">
                <a:solidFill>
                  <a:srgbClr val="273239"/>
                </a:solidFill>
                <a:effectLst/>
                <a:latin typeface="urw-din"/>
              </a:rPr>
              <a:t>Anomaly Detection</a:t>
            </a:r>
            <a:r>
              <a:rPr lang="en-US" b="0" i="0" dirty="0">
                <a:solidFill>
                  <a:srgbClr val="273239"/>
                </a:solidFill>
                <a:effectLst/>
                <a:latin typeface="urw-din"/>
              </a:rPr>
              <a:t> is the technique of identifying rare events or observations which can raise suspicions by being statistically different from the rest of the observations. Such “anomalous” </a:t>
            </a:r>
            <a:r>
              <a:rPr lang="en-US" b="0" i="0" dirty="0" err="1">
                <a:solidFill>
                  <a:srgbClr val="273239"/>
                </a:solidFill>
                <a:effectLst/>
                <a:latin typeface="urw-din"/>
              </a:rPr>
              <a:t>behaviour</a:t>
            </a:r>
            <a:r>
              <a:rPr lang="en-US" b="0" i="0" dirty="0">
                <a:solidFill>
                  <a:srgbClr val="273239"/>
                </a:solidFill>
                <a:effectLst/>
                <a:latin typeface="urw-din"/>
              </a:rPr>
              <a:t> typically translates to some kind of a problem like a credit card fraud, failing machine in a server, a cyber attack, etc.</a:t>
            </a:r>
            <a:br>
              <a:rPr lang="en-US" b="0" i="0" dirty="0">
                <a:solidFill>
                  <a:srgbClr val="273239"/>
                </a:solidFill>
                <a:effectLst/>
                <a:latin typeface="urw-din"/>
              </a:rPr>
            </a:br>
            <a:r>
              <a:rPr lang="en-US" b="0" i="0" dirty="0">
                <a:solidFill>
                  <a:srgbClr val="273239"/>
                </a:solidFill>
                <a:effectLst/>
                <a:latin typeface="urw-din"/>
              </a:rPr>
              <a:t>An anomaly can be broadly categorized into three categories –</a:t>
            </a:r>
            <a:br>
              <a:rPr lang="en-US" b="0" i="0" dirty="0">
                <a:solidFill>
                  <a:srgbClr val="273239"/>
                </a:solidFill>
                <a:effectLst/>
                <a:latin typeface="urw-din"/>
              </a:rPr>
            </a:br>
            <a:r>
              <a:rPr lang="en-US" b="0" i="0" dirty="0">
                <a:solidFill>
                  <a:srgbClr val="273239"/>
                </a:solidFill>
                <a:effectLst/>
                <a:latin typeface="urw-din"/>
              </a:rPr>
              <a:t> </a:t>
            </a:r>
          </a:p>
          <a:p>
            <a:pPr algn="just" fontAlgn="base">
              <a:buFont typeface="+mj-lt"/>
              <a:buAutoNum type="arabicPeriod"/>
            </a:pPr>
            <a:r>
              <a:rPr lang="en-US" b="1" i="0" dirty="0">
                <a:solidFill>
                  <a:srgbClr val="273239"/>
                </a:solidFill>
                <a:effectLst/>
                <a:latin typeface="urw-din"/>
              </a:rPr>
              <a:t>Point Anomaly:</a:t>
            </a:r>
            <a:r>
              <a:rPr lang="en-US" b="0" i="0" dirty="0">
                <a:solidFill>
                  <a:srgbClr val="273239"/>
                </a:solidFill>
                <a:effectLst/>
                <a:latin typeface="urw-din"/>
              </a:rPr>
              <a:t> A tuple in a dataset is said to be a Point Anomaly if it is far off from the rest of the data.</a:t>
            </a:r>
          </a:p>
          <a:p>
            <a:pPr algn="just" fontAlgn="base">
              <a:buFont typeface="+mj-lt"/>
              <a:buAutoNum type="arabicPeriod"/>
            </a:pPr>
            <a:r>
              <a:rPr lang="en-US" b="1" i="0" dirty="0">
                <a:solidFill>
                  <a:srgbClr val="273239"/>
                </a:solidFill>
                <a:effectLst/>
                <a:latin typeface="urw-din"/>
              </a:rPr>
              <a:t>Contextual Anomaly:</a:t>
            </a:r>
            <a:r>
              <a:rPr lang="en-US" b="0" i="0" dirty="0">
                <a:solidFill>
                  <a:srgbClr val="273239"/>
                </a:solidFill>
                <a:effectLst/>
                <a:latin typeface="urw-din"/>
              </a:rPr>
              <a:t> An observation is a Contextual Anomaly if it is an anomaly because of the context of the observation.</a:t>
            </a:r>
          </a:p>
          <a:p>
            <a:pPr algn="just" fontAlgn="base">
              <a:buFont typeface="+mj-lt"/>
              <a:buAutoNum type="arabicPeriod"/>
            </a:pPr>
            <a:r>
              <a:rPr lang="en-US" b="1" i="0" dirty="0">
                <a:solidFill>
                  <a:srgbClr val="273239"/>
                </a:solidFill>
                <a:effectLst/>
                <a:latin typeface="urw-din"/>
              </a:rPr>
              <a:t>Collective Anomaly:</a:t>
            </a:r>
            <a:r>
              <a:rPr lang="en-US" b="0" i="0" dirty="0">
                <a:solidFill>
                  <a:srgbClr val="273239"/>
                </a:solidFill>
                <a:effectLst/>
                <a:latin typeface="urw-din"/>
              </a:rPr>
              <a:t> A set of data instances help in finding an anomaly.</a:t>
            </a:r>
          </a:p>
          <a:p>
            <a:endParaRPr lang="en-IN" dirty="0"/>
          </a:p>
        </p:txBody>
      </p:sp>
    </p:spTree>
    <p:extLst>
      <p:ext uri="{BB962C8B-B14F-4D97-AF65-F5344CB8AC3E}">
        <p14:creationId xmlns:p14="http://schemas.microsoft.com/office/powerpoint/2010/main" val="406605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38794-42AA-4DA5-B7B2-21B464FBD79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4BF2862-BE4D-49A5-8F68-79A373941204}"/>
              </a:ext>
            </a:extLst>
          </p:cNvPr>
          <p:cNvSpPr>
            <a:spLocks noGrp="1"/>
          </p:cNvSpPr>
          <p:nvPr>
            <p:ph idx="1"/>
          </p:nvPr>
        </p:nvSpPr>
        <p:spPr/>
        <p:txBody>
          <a:bodyPr>
            <a:normAutofit fontScale="92500" lnSpcReduction="20000"/>
          </a:bodyPr>
          <a:lstStyle/>
          <a:p>
            <a:r>
              <a:rPr lang="en-US" b="0" i="0" dirty="0">
                <a:solidFill>
                  <a:srgbClr val="273239"/>
                </a:solidFill>
                <a:effectLst/>
                <a:latin typeface="urw-din"/>
              </a:rPr>
              <a:t>Anomaly detection can be done using the concepts of </a:t>
            </a:r>
            <a:r>
              <a:rPr lang="en-US" b="1" i="0" dirty="0">
                <a:solidFill>
                  <a:srgbClr val="273239"/>
                </a:solidFill>
                <a:effectLst/>
                <a:latin typeface="urw-din"/>
              </a:rPr>
              <a:t>Machine Learning</a:t>
            </a:r>
            <a:r>
              <a:rPr lang="en-US" b="0" i="0" dirty="0">
                <a:solidFill>
                  <a:srgbClr val="273239"/>
                </a:solidFill>
                <a:effectLst/>
                <a:latin typeface="urw-din"/>
              </a:rPr>
              <a:t>. It can be done in the following ways –</a:t>
            </a:r>
          </a:p>
          <a:p>
            <a:r>
              <a:rPr lang="en-US" b="1" dirty="0"/>
              <a:t>Supervised Anomaly Detection: </a:t>
            </a:r>
            <a:r>
              <a:rPr lang="en-US" dirty="0"/>
              <a:t>This method requires a labeled dataset containing both normal and anomalous samples to construct a predictive model to classify future data points. The most commonly used algorithms for this purpose are supervised Neural Networks, Support Vector Machine learning, K-Nearest Neighbors Classifier, etc.</a:t>
            </a:r>
          </a:p>
          <a:p>
            <a:r>
              <a:rPr lang="en-US" b="1" dirty="0"/>
              <a:t>Unsupervised Anomaly Detection: </a:t>
            </a:r>
            <a:r>
              <a:rPr lang="en-US" dirty="0"/>
              <a:t>This method does require any training data and instead assumes two things about the data </a:t>
            </a:r>
            <a:r>
              <a:rPr lang="en-US" dirty="0" err="1"/>
              <a:t>ie</a:t>
            </a:r>
            <a:r>
              <a:rPr lang="en-US" dirty="0"/>
              <a:t> Only a small percentage of data is anomalous and Any anomaly is statistically different from the normal samples. Based on the above assumptions, the data is then clustered using a similarity measure and the data points which are far off from the cluster are considered to be anomalies.</a:t>
            </a:r>
            <a:endParaRPr lang="en-IN" dirty="0"/>
          </a:p>
        </p:txBody>
      </p:sp>
    </p:spTree>
    <p:extLst>
      <p:ext uri="{BB962C8B-B14F-4D97-AF65-F5344CB8AC3E}">
        <p14:creationId xmlns:p14="http://schemas.microsoft.com/office/powerpoint/2010/main" val="585194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BF2D9-F141-2AA5-B764-7350AE1A00A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674F868-0A27-0925-5A46-B1FBD1A59512}"/>
              </a:ext>
            </a:extLst>
          </p:cNvPr>
          <p:cNvPicPr>
            <a:picLocks noGrp="1" noChangeAspect="1"/>
          </p:cNvPicPr>
          <p:nvPr>
            <p:ph idx="1"/>
          </p:nvPr>
        </p:nvPicPr>
        <p:blipFill>
          <a:blip r:embed="rId2"/>
          <a:stretch>
            <a:fillRect/>
          </a:stretch>
        </p:blipFill>
        <p:spPr>
          <a:xfrm>
            <a:off x="1353670" y="1408344"/>
            <a:ext cx="9628308" cy="4992737"/>
          </a:xfrm>
        </p:spPr>
      </p:pic>
    </p:spTree>
    <p:extLst>
      <p:ext uri="{BB962C8B-B14F-4D97-AF65-F5344CB8AC3E}">
        <p14:creationId xmlns:p14="http://schemas.microsoft.com/office/powerpoint/2010/main" val="415390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03603-3032-33F2-F58B-B49B3EE47F2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293565E-478B-9429-38F2-A5A147ED83FB}"/>
              </a:ext>
            </a:extLst>
          </p:cNvPr>
          <p:cNvPicPr>
            <a:picLocks noGrp="1" noChangeAspect="1"/>
          </p:cNvPicPr>
          <p:nvPr>
            <p:ph idx="1"/>
          </p:nvPr>
        </p:nvPicPr>
        <p:blipFill>
          <a:blip r:embed="rId2"/>
          <a:stretch>
            <a:fillRect/>
          </a:stretch>
        </p:blipFill>
        <p:spPr>
          <a:xfrm>
            <a:off x="1225515" y="1690688"/>
            <a:ext cx="8961145" cy="4724681"/>
          </a:xfrm>
        </p:spPr>
      </p:pic>
    </p:spTree>
    <p:extLst>
      <p:ext uri="{BB962C8B-B14F-4D97-AF65-F5344CB8AC3E}">
        <p14:creationId xmlns:p14="http://schemas.microsoft.com/office/powerpoint/2010/main" val="1218488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3274-8C17-47D1-D161-CF6292904556}"/>
              </a:ext>
            </a:extLst>
          </p:cNvPr>
          <p:cNvSpPr>
            <a:spLocks noGrp="1"/>
          </p:cNvSpPr>
          <p:nvPr>
            <p:ph type="title"/>
          </p:nvPr>
        </p:nvSpPr>
        <p:spPr/>
        <p:txBody>
          <a:bodyPr/>
          <a:lstStyle/>
          <a:p>
            <a:r>
              <a:rPr lang="en-IN" dirty="0"/>
              <a:t>Another technique to find outlier</a:t>
            </a:r>
          </a:p>
        </p:txBody>
      </p:sp>
      <p:sp>
        <p:nvSpPr>
          <p:cNvPr id="3" name="Content Placeholder 2">
            <a:extLst>
              <a:ext uri="{FF2B5EF4-FFF2-40B4-BE49-F238E27FC236}">
                <a16:creationId xmlns:a16="http://schemas.microsoft.com/office/drawing/2014/main" id="{0E558160-E92C-1396-4437-295BE5CBBA67}"/>
              </a:ext>
            </a:extLst>
          </p:cNvPr>
          <p:cNvSpPr>
            <a:spLocks noGrp="1"/>
          </p:cNvSpPr>
          <p:nvPr>
            <p:ph idx="1"/>
          </p:nvPr>
        </p:nvSpPr>
        <p:spPr/>
        <p:txBody>
          <a:bodyPr/>
          <a:lstStyle/>
          <a:p>
            <a:pPr algn="l"/>
            <a:r>
              <a:rPr lang="en-US" b="0" i="0" dirty="0">
                <a:solidFill>
                  <a:srgbClr val="222222"/>
                </a:solidFill>
                <a:effectLst/>
                <a:latin typeface="Lato" panose="020F0502020204030203" pitchFamily="34" charset="0"/>
              </a:rPr>
              <a:t>What is Isolation Forest?</a:t>
            </a:r>
          </a:p>
          <a:p>
            <a:pPr algn="just"/>
            <a:r>
              <a:rPr lang="en-US" b="0" i="0" dirty="0">
                <a:solidFill>
                  <a:srgbClr val="222222"/>
                </a:solidFill>
                <a:effectLst/>
                <a:latin typeface="Lato" panose="020F0502020204030203" pitchFamily="34" charset="0"/>
              </a:rPr>
              <a:t>Isolation Forest is a technique for identifying outliers in data that was first introduced by Fei Tony Liu and Zhi-Hua Zhou in 2008. The approach employs binary trees to detect anomalies, resulting in a linear time complexity and low memory usage that is well-suited for processing large datasets.</a:t>
            </a:r>
          </a:p>
          <a:p>
            <a:pPr algn="just"/>
            <a:r>
              <a:rPr lang="en-US" b="0" i="0" dirty="0">
                <a:solidFill>
                  <a:srgbClr val="222222"/>
                </a:solidFill>
                <a:effectLst/>
                <a:latin typeface="Lato" panose="020F0502020204030203" pitchFamily="34" charset="0"/>
              </a:rPr>
              <a:t>Since its introduction, Isolation Forest has gained popularity as a fast and reliable algorithm for anomaly detection in various fields such as cybersecurity, finance, and medical research.</a:t>
            </a:r>
          </a:p>
          <a:p>
            <a:endParaRPr lang="en-IN" dirty="0"/>
          </a:p>
        </p:txBody>
      </p:sp>
    </p:spTree>
    <p:extLst>
      <p:ext uri="{BB962C8B-B14F-4D97-AF65-F5344CB8AC3E}">
        <p14:creationId xmlns:p14="http://schemas.microsoft.com/office/powerpoint/2010/main" val="1341991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A9DC8-6A3C-A77D-9142-C4C9E4BA4A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84121E-30E8-0601-0AB6-612E5041DCDF}"/>
              </a:ext>
            </a:extLst>
          </p:cNvPr>
          <p:cNvSpPr>
            <a:spLocks noGrp="1"/>
          </p:cNvSpPr>
          <p:nvPr>
            <p:ph idx="1"/>
          </p:nvPr>
        </p:nvSpPr>
        <p:spPr/>
        <p:txBody>
          <a:bodyPr/>
          <a:lstStyle/>
          <a:p>
            <a:r>
              <a:rPr lang="en-US" b="0" i="0" dirty="0">
                <a:solidFill>
                  <a:srgbClr val="222222"/>
                </a:solidFill>
                <a:effectLst/>
                <a:latin typeface="Lato" panose="020F0502020204030203" pitchFamily="34" charset="0"/>
              </a:rPr>
              <a:t>In an Isolation Forest, randomly sub-sampled data is processed in a tree structure based on randomly selected features. </a:t>
            </a:r>
            <a:r>
              <a:rPr lang="en-US" b="0" i="0" u="sng" dirty="0">
                <a:solidFill>
                  <a:srgbClr val="222222"/>
                </a:solidFill>
                <a:effectLst/>
                <a:latin typeface="Lato" panose="020F0502020204030203" pitchFamily="34" charset="0"/>
              </a:rPr>
              <a:t>The samples that travel deeper into the tree are less likely to be anomalies as they required more cuts to isolate them. Similarly, the samples which end up in shorter branches indicate anomalies as it was easier for the tree to separate them from other observations.</a:t>
            </a:r>
            <a:endParaRPr lang="en-IN" u="sng" dirty="0"/>
          </a:p>
        </p:txBody>
      </p:sp>
    </p:spTree>
    <p:extLst>
      <p:ext uri="{BB962C8B-B14F-4D97-AF65-F5344CB8AC3E}">
        <p14:creationId xmlns:p14="http://schemas.microsoft.com/office/powerpoint/2010/main" val="3029976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1D10F-3DF1-B92A-EA48-6E49027DED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CE15A3-DA33-B3AA-61C7-BDF7ECC584DC}"/>
              </a:ext>
            </a:extLst>
          </p:cNvPr>
          <p:cNvSpPr>
            <a:spLocks noGrp="1"/>
          </p:cNvSpPr>
          <p:nvPr>
            <p:ph idx="1"/>
          </p:nvPr>
        </p:nvSpPr>
        <p:spPr/>
        <p:txBody>
          <a:bodyPr>
            <a:normAutofit fontScale="92500" lnSpcReduction="20000"/>
          </a:bodyPr>
          <a:lstStyle/>
          <a:p>
            <a:pPr algn="just"/>
            <a:r>
              <a:rPr lang="en-US" b="0" i="0" dirty="0">
                <a:solidFill>
                  <a:srgbClr val="222222"/>
                </a:solidFill>
                <a:effectLst/>
                <a:latin typeface="Lato" panose="020F0502020204030203" pitchFamily="34" charset="0"/>
              </a:rPr>
              <a:t>Let us look at the complete algorithm step by step:</a:t>
            </a:r>
          </a:p>
          <a:p>
            <a:pPr algn="just">
              <a:buFont typeface="+mj-lt"/>
              <a:buAutoNum type="arabicPeriod"/>
            </a:pPr>
            <a:r>
              <a:rPr lang="en-US" b="0" i="0" dirty="0">
                <a:solidFill>
                  <a:srgbClr val="222222"/>
                </a:solidFill>
                <a:effectLst/>
                <a:latin typeface="Lato" panose="020F0502020204030203" pitchFamily="34" charset="0"/>
              </a:rPr>
              <a:t>When given a dataset, a random sub-sample of the data is selected and assigned to a binary tree.</a:t>
            </a:r>
          </a:p>
          <a:p>
            <a:pPr algn="just">
              <a:buFont typeface="+mj-lt"/>
              <a:buAutoNum type="arabicPeriod"/>
            </a:pPr>
            <a:r>
              <a:rPr lang="en-US" b="0" i="0" dirty="0">
                <a:solidFill>
                  <a:srgbClr val="222222"/>
                </a:solidFill>
                <a:effectLst/>
                <a:latin typeface="Lato" panose="020F0502020204030203" pitchFamily="34" charset="0"/>
              </a:rPr>
              <a:t>Branching of the tree starts by selecting a random feature (from the set of all N features) first. And then branching is done on a random threshold ( any value in the range of minimum and maximum values of the selected feature).</a:t>
            </a:r>
          </a:p>
          <a:p>
            <a:pPr algn="just">
              <a:buFont typeface="+mj-lt"/>
              <a:buAutoNum type="arabicPeriod"/>
            </a:pPr>
            <a:r>
              <a:rPr lang="en-US" b="0" i="0" dirty="0">
                <a:solidFill>
                  <a:srgbClr val="222222"/>
                </a:solidFill>
                <a:effectLst/>
                <a:latin typeface="Lato" panose="020F0502020204030203" pitchFamily="34" charset="0"/>
              </a:rPr>
              <a:t>If the value of a data point is less than the selected threshold, it goes to the left branch else to the right. And thus a node is split into left and right branches.</a:t>
            </a:r>
          </a:p>
          <a:p>
            <a:pPr algn="just">
              <a:buFont typeface="+mj-lt"/>
              <a:buAutoNum type="arabicPeriod"/>
            </a:pPr>
            <a:r>
              <a:rPr lang="en-US" b="0" i="0" dirty="0">
                <a:solidFill>
                  <a:srgbClr val="222222"/>
                </a:solidFill>
                <a:effectLst/>
                <a:latin typeface="Lato" panose="020F0502020204030203" pitchFamily="34" charset="0"/>
              </a:rPr>
              <a:t>This process from step 2 is continued recursively till each data point is completely isolated or till max depth(if defined) is reached.</a:t>
            </a:r>
          </a:p>
          <a:p>
            <a:pPr algn="just">
              <a:buFont typeface="+mj-lt"/>
              <a:buAutoNum type="arabicPeriod"/>
            </a:pPr>
            <a:r>
              <a:rPr lang="en-US" b="0" i="0" dirty="0">
                <a:solidFill>
                  <a:srgbClr val="222222"/>
                </a:solidFill>
                <a:effectLst/>
                <a:latin typeface="Lato" panose="020F0502020204030203" pitchFamily="34" charset="0"/>
              </a:rPr>
              <a:t>The above steps are repeated to construct random binary trees.</a:t>
            </a:r>
          </a:p>
          <a:p>
            <a:endParaRPr lang="en-IN" dirty="0"/>
          </a:p>
        </p:txBody>
      </p:sp>
    </p:spTree>
    <p:extLst>
      <p:ext uri="{BB962C8B-B14F-4D97-AF65-F5344CB8AC3E}">
        <p14:creationId xmlns:p14="http://schemas.microsoft.com/office/powerpoint/2010/main" val="183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7288-E648-90BD-4651-CA9BEEB391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A595D7-213F-A226-A408-F2E88AF2C685}"/>
              </a:ext>
            </a:extLst>
          </p:cNvPr>
          <p:cNvSpPr>
            <a:spLocks noGrp="1"/>
          </p:cNvSpPr>
          <p:nvPr>
            <p:ph idx="1"/>
          </p:nvPr>
        </p:nvSpPr>
        <p:spPr/>
        <p:txBody>
          <a:bodyPr/>
          <a:lstStyle/>
          <a:p>
            <a:r>
              <a:rPr lang="en-US" b="0" i="0" dirty="0">
                <a:solidFill>
                  <a:srgbClr val="222222"/>
                </a:solidFill>
                <a:effectLst/>
                <a:latin typeface="Lato" panose="020F0502020204030203" pitchFamily="34" charset="0"/>
              </a:rPr>
              <a:t>After an ensemble of </a:t>
            </a:r>
            <a:r>
              <a:rPr lang="en-US" b="0" i="0" dirty="0" err="1">
                <a:solidFill>
                  <a:srgbClr val="222222"/>
                </a:solidFill>
                <a:effectLst/>
                <a:latin typeface="Lato" panose="020F0502020204030203" pitchFamily="34" charset="0"/>
              </a:rPr>
              <a:t>iTrees</a:t>
            </a:r>
            <a:r>
              <a:rPr lang="en-US" b="0" i="0" dirty="0">
                <a:solidFill>
                  <a:srgbClr val="222222"/>
                </a:solidFill>
                <a:effectLst/>
                <a:latin typeface="Lato" panose="020F0502020204030203" pitchFamily="34" charset="0"/>
              </a:rPr>
              <a:t>(Isolation Forest) is created, model training is complete. During scoring, a data point is traversed through all the trees which were trained earlier. Now, an ‘anomaly score’ is assigned to each of the data points based on the depth of the tree required to arrive at that point. This score is an aggregation of the depth obtained from each of the </a:t>
            </a:r>
            <a:r>
              <a:rPr lang="en-US" b="0" i="0" dirty="0" err="1">
                <a:solidFill>
                  <a:srgbClr val="222222"/>
                </a:solidFill>
                <a:effectLst/>
                <a:latin typeface="Lato" panose="020F0502020204030203" pitchFamily="34" charset="0"/>
              </a:rPr>
              <a:t>iTrees</a:t>
            </a:r>
            <a:r>
              <a:rPr lang="en-US" b="0" i="0" dirty="0">
                <a:solidFill>
                  <a:srgbClr val="222222"/>
                </a:solidFill>
                <a:effectLst/>
                <a:latin typeface="Lato" panose="020F0502020204030203" pitchFamily="34" charset="0"/>
              </a:rPr>
              <a:t>. An anomaly score of -1 is assigned to anomalies and 1 to normal points based on the contamination(percentage of anomalies present in the data) parameter provided.</a:t>
            </a:r>
            <a:endParaRPr lang="en-IN" dirty="0"/>
          </a:p>
        </p:txBody>
      </p:sp>
    </p:spTree>
    <p:extLst>
      <p:ext uri="{BB962C8B-B14F-4D97-AF65-F5344CB8AC3E}">
        <p14:creationId xmlns:p14="http://schemas.microsoft.com/office/powerpoint/2010/main" val="2298450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7E74A-3964-A05F-480C-F7315567E91A}"/>
              </a:ext>
            </a:extLst>
          </p:cNvPr>
          <p:cNvSpPr>
            <a:spLocks noGrp="1"/>
          </p:cNvSpPr>
          <p:nvPr>
            <p:ph type="title"/>
          </p:nvPr>
        </p:nvSpPr>
        <p:spPr/>
        <p:txBody>
          <a:bodyPr/>
          <a:lstStyle/>
          <a:p>
            <a:endParaRPr lang="en-IN"/>
          </a:p>
        </p:txBody>
      </p:sp>
      <p:pic>
        <p:nvPicPr>
          <p:cNvPr id="1026" name="Picture 2" descr="Improved Isolation Forest Algorithm for Anomaly Test Data Detection">
            <a:extLst>
              <a:ext uri="{FF2B5EF4-FFF2-40B4-BE49-F238E27FC236}">
                <a16:creationId xmlns:a16="http://schemas.microsoft.com/office/drawing/2014/main" id="{10F8A1F5-3ADA-7845-DCB7-FC4CA07662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317" y="2432613"/>
            <a:ext cx="8549833" cy="3206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2987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BB0AE-D5A8-5D17-7CEF-70FE5517B4A4}"/>
              </a:ext>
            </a:extLst>
          </p:cNvPr>
          <p:cNvSpPr>
            <a:spLocks noGrp="1"/>
          </p:cNvSpPr>
          <p:nvPr>
            <p:ph type="title"/>
          </p:nvPr>
        </p:nvSpPr>
        <p:spPr/>
        <p:txBody>
          <a:bodyPr/>
          <a:lstStyle/>
          <a:p>
            <a:endParaRPr lang="en-IN"/>
          </a:p>
        </p:txBody>
      </p:sp>
      <p:pic>
        <p:nvPicPr>
          <p:cNvPr id="2050" name="Picture 2" descr="How to use Isolation Forests for anomaly detection | Towards Data Science">
            <a:extLst>
              <a:ext uri="{FF2B5EF4-FFF2-40B4-BE49-F238E27FC236}">
                <a16:creationId xmlns:a16="http://schemas.microsoft.com/office/drawing/2014/main" id="{6A552743-3204-0ADF-E4EE-0919330977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30287" y="1825625"/>
            <a:ext cx="973142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714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DEFD7-C573-D325-B2A1-55E0AA246D6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AC4E949-AFA7-4C83-EF5E-3ED9C2125A0C}"/>
              </a:ext>
            </a:extLst>
          </p:cNvPr>
          <p:cNvPicPr>
            <a:picLocks noGrp="1" noChangeAspect="1"/>
          </p:cNvPicPr>
          <p:nvPr>
            <p:ph idx="1"/>
          </p:nvPr>
        </p:nvPicPr>
        <p:blipFill>
          <a:blip r:embed="rId2"/>
          <a:stretch>
            <a:fillRect/>
          </a:stretch>
        </p:blipFill>
        <p:spPr>
          <a:xfrm>
            <a:off x="2361876" y="1878940"/>
            <a:ext cx="7468247" cy="4244708"/>
          </a:xfrm>
        </p:spPr>
      </p:pic>
    </p:spTree>
    <p:extLst>
      <p:ext uri="{BB962C8B-B14F-4D97-AF65-F5344CB8AC3E}">
        <p14:creationId xmlns:p14="http://schemas.microsoft.com/office/powerpoint/2010/main" val="294634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B894D-A50A-9427-4486-079FAE12FB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D2150A-35E3-097E-81B7-B36E5067FCAA}"/>
              </a:ext>
            </a:extLst>
          </p:cNvPr>
          <p:cNvSpPr>
            <a:spLocks noGrp="1"/>
          </p:cNvSpPr>
          <p:nvPr>
            <p:ph idx="1"/>
          </p:nvPr>
        </p:nvSpPr>
        <p:spPr/>
        <p:txBody>
          <a:bodyPr/>
          <a:lstStyle/>
          <a:p>
            <a:pPr marL="0" indent="0">
              <a:buNone/>
            </a:pPr>
            <a:r>
              <a:rPr lang="en-US" b="1" dirty="0"/>
              <a:t>Applications of machine learning in Anomaly detection:</a:t>
            </a:r>
          </a:p>
          <a:p>
            <a:pPr>
              <a:buFont typeface="Arial" panose="020B0604020202020204" pitchFamily="34" charset="0"/>
              <a:buChar char="•"/>
            </a:pPr>
            <a:r>
              <a:rPr lang="en-US" dirty="0"/>
              <a:t>Fraud detection (e.g., in financial transactions).</a:t>
            </a:r>
          </a:p>
          <a:p>
            <a:pPr>
              <a:buFont typeface="Arial" panose="020B0604020202020204" pitchFamily="34" charset="0"/>
              <a:buChar char="•"/>
            </a:pPr>
            <a:r>
              <a:rPr lang="en-US" dirty="0"/>
              <a:t>Network intrusion detection.</a:t>
            </a:r>
          </a:p>
          <a:p>
            <a:pPr>
              <a:buFont typeface="Arial" panose="020B0604020202020204" pitchFamily="34" charset="0"/>
              <a:buChar char="•"/>
            </a:pPr>
            <a:r>
              <a:rPr lang="en-US" dirty="0"/>
              <a:t>Fault detection in manufacturing or systems.</a:t>
            </a:r>
          </a:p>
          <a:p>
            <a:pPr>
              <a:buFont typeface="Arial" panose="020B0604020202020204" pitchFamily="34" charset="0"/>
              <a:buChar char="•"/>
            </a:pPr>
            <a:r>
              <a:rPr lang="en-US" dirty="0"/>
              <a:t>Healthcare monitoring (e.g., detecting rare diseases).</a:t>
            </a:r>
          </a:p>
          <a:p>
            <a:pPr>
              <a:buFont typeface="Arial" panose="020B0604020202020204" pitchFamily="34" charset="0"/>
              <a:buChar char="•"/>
            </a:pPr>
            <a:r>
              <a:rPr lang="en-US" dirty="0"/>
              <a:t>Sensor data analysis (e.g., in IoT systems).</a:t>
            </a:r>
          </a:p>
          <a:p>
            <a:endParaRPr lang="en-US" dirty="0"/>
          </a:p>
        </p:txBody>
      </p:sp>
    </p:spTree>
    <p:extLst>
      <p:ext uri="{BB962C8B-B14F-4D97-AF65-F5344CB8AC3E}">
        <p14:creationId xmlns:p14="http://schemas.microsoft.com/office/powerpoint/2010/main" val="3994030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AE772-C4AD-7B23-3791-60EBA397AA08}"/>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13B5C4D-0E68-BA30-7525-1FF59360EFBB}"/>
              </a:ext>
            </a:extLst>
          </p:cNvPr>
          <p:cNvSpPr>
            <a:spLocks noGrp="1"/>
          </p:cNvSpPr>
          <p:nvPr>
            <p:ph idx="1"/>
          </p:nvPr>
        </p:nvSpPr>
        <p:spPr/>
        <p:txBody>
          <a:bodyPr/>
          <a:lstStyle/>
          <a:p>
            <a:r>
              <a:rPr lang="en-US">
                <a:hlinkClick r:id="rId2"/>
              </a:rPr>
              <a:t>Lecture 15.1 — Anomaly Detection Problem | Motivation — [ Machine Learning | Andrew Ng ] - YouTube</a:t>
            </a:r>
            <a:endParaRPr lang="en-IN"/>
          </a:p>
        </p:txBody>
      </p:sp>
    </p:spTree>
    <p:extLst>
      <p:ext uri="{BB962C8B-B14F-4D97-AF65-F5344CB8AC3E}">
        <p14:creationId xmlns:p14="http://schemas.microsoft.com/office/powerpoint/2010/main" val="253346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11869</TotalTime>
  <Words>841</Words>
  <Application>Microsoft Office PowerPoint</Application>
  <PresentationFormat>Widescreen</PresentationFormat>
  <Paragraphs>30</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Lato</vt:lpstr>
      <vt:lpstr>sofia-pro</vt:lpstr>
      <vt:lpstr>urw-din</vt:lpstr>
      <vt:lpstr>Office Theme</vt:lpstr>
      <vt:lpstr>Machine Learning for Anomaly Detection </vt:lpstr>
      <vt:lpstr>PowerPoint Presentation</vt:lpstr>
      <vt:lpstr>PowerPoint Presentation</vt:lpstr>
      <vt:lpstr>PowerPoint Presentation</vt:lpstr>
      <vt:lpstr>PowerPoint Presentation</vt:lpstr>
      <vt:lpstr>PowerPoint Presentation</vt:lpstr>
      <vt:lpstr>Another technique to find outlier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for Anomaly Detection </dc:title>
  <dc:creator>kriti ohri</dc:creator>
  <cp:lastModifiedBy>Kriti Ohri</cp:lastModifiedBy>
  <cp:revision>5</cp:revision>
  <dcterms:created xsi:type="dcterms:W3CDTF">2022-01-06T10:42:56Z</dcterms:created>
  <dcterms:modified xsi:type="dcterms:W3CDTF">2024-11-17T02:57:26Z</dcterms:modified>
</cp:coreProperties>
</file>