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8" r:id="rId3"/>
    <p:sldId id="259" r:id="rId4"/>
    <p:sldId id="517" r:id="rId5"/>
    <p:sldId id="264" r:id="rId6"/>
    <p:sldId id="516" r:id="rId7"/>
    <p:sldId id="260" r:id="rId8"/>
    <p:sldId id="261" r:id="rId9"/>
    <p:sldId id="262" r:id="rId10"/>
    <p:sldId id="263" r:id="rId11"/>
    <p:sldId id="265" r:id="rId12"/>
    <p:sldId id="298" r:id="rId13"/>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87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ti ohri" userId="5f460e859343ae9f" providerId="LiveId" clId="{7B9AAD96-8F19-4265-A830-9F61820825AA}"/>
    <pc:docChg chg="custSel addSld delSld modSld">
      <pc:chgData name="kriti ohri" userId="5f460e859343ae9f" providerId="LiveId" clId="{7B9AAD96-8F19-4265-A830-9F61820825AA}" dt="2021-06-30T09:31:26.105" v="101"/>
      <pc:docMkLst>
        <pc:docMk/>
      </pc:docMkLst>
      <pc:sldChg chg="modSp mod">
        <pc:chgData name="kriti ohri" userId="5f460e859343ae9f" providerId="LiveId" clId="{7B9AAD96-8F19-4265-A830-9F61820825AA}" dt="2021-06-30T07:45:03.712" v="68" actId="20577"/>
        <pc:sldMkLst>
          <pc:docMk/>
          <pc:sldMk cId="0" sldId="256"/>
        </pc:sldMkLst>
        <pc:spChg chg="mod">
          <ac:chgData name="kriti ohri" userId="5f460e859343ae9f" providerId="LiveId" clId="{7B9AAD96-8F19-4265-A830-9F61820825AA}" dt="2021-06-30T07:45:03.712" v="68" actId="20577"/>
          <ac:spMkLst>
            <pc:docMk/>
            <pc:sldMk cId="0" sldId="256"/>
            <ac:spMk id="2" creationId="{00000000-0000-0000-0000-000000000000}"/>
          </ac:spMkLst>
        </pc:spChg>
      </pc:sldChg>
      <pc:sldChg chg="delSp modSp mod">
        <pc:chgData name="kriti ohri" userId="5f460e859343ae9f" providerId="LiveId" clId="{7B9AAD96-8F19-4265-A830-9F61820825AA}" dt="2021-06-30T07:52:28.259" v="99" actId="14100"/>
        <pc:sldMkLst>
          <pc:docMk/>
          <pc:sldMk cId="0" sldId="262"/>
        </pc:sldMkLst>
        <pc:spChg chg="mod">
          <ac:chgData name="kriti ohri" userId="5f460e859343ae9f" providerId="LiveId" clId="{7B9AAD96-8F19-4265-A830-9F61820825AA}" dt="2021-06-30T03:28:41.930" v="5" actId="6549"/>
          <ac:spMkLst>
            <pc:docMk/>
            <pc:sldMk cId="0" sldId="262"/>
            <ac:spMk id="2" creationId="{00000000-0000-0000-0000-000000000000}"/>
          </ac:spMkLst>
        </pc:spChg>
        <pc:spChg chg="mod">
          <ac:chgData name="kriti ohri" userId="5f460e859343ae9f" providerId="LiveId" clId="{7B9AAD96-8F19-4265-A830-9F61820825AA}" dt="2021-06-30T07:52:28.259" v="99" actId="14100"/>
          <ac:spMkLst>
            <pc:docMk/>
            <pc:sldMk cId="0" sldId="262"/>
            <ac:spMk id="3" creationId="{00000000-0000-0000-0000-000000000000}"/>
          </ac:spMkLst>
        </pc:spChg>
        <pc:spChg chg="del">
          <ac:chgData name="kriti ohri" userId="5f460e859343ae9f" providerId="LiveId" clId="{7B9AAD96-8F19-4265-A830-9F61820825AA}" dt="2021-06-30T03:28:38.597" v="4" actId="478"/>
          <ac:spMkLst>
            <pc:docMk/>
            <pc:sldMk cId="0" sldId="262"/>
            <ac:spMk id="4" creationId="{00000000-0000-0000-0000-000000000000}"/>
          </ac:spMkLst>
        </pc:spChg>
      </pc:sldChg>
      <pc:sldChg chg="modSp mod">
        <pc:chgData name="kriti ohri" userId="5f460e859343ae9f" providerId="LiveId" clId="{7B9AAD96-8F19-4265-A830-9F61820825AA}" dt="2021-06-30T03:28:47.667" v="6" actId="6549"/>
        <pc:sldMkLst>
          <pc:docMk/>
          <pc:sldMk cId="0" sldId="263"/>
        </pc:sldMkLst>
        <pc:spChg chg="mod">
          <ac:chgData name="kriti ohri" userId="5f460e859343ae9f" providerId="LiveId" clId="{7B9AAD96-8F19-4265-A830-9F61820825AA}" dt="2021-06-30T03:28:47.667" v="6" actId="6549"/>
          <ac:spMkLst>
            <pc:docMk/>
            <pc:sldMk cId="0" sldId="263"/>
            <ac:spMk id="2" creationId="{00000000-0000-0000-0000-000000000000}"/>
          </ac:spMkLst>
        </pc:spChg>
      </pc:sldChg>
      <pc:sldChg chg="modSp new mod">
        <pc:chgData name="kriti ohri" userId="5f460e859343ae9f" providerId="LiveId" clId="{7B9AAD96-8F19-4265-A830-9F61820825AA}" dt="2021-06-30T03:29:25.044" v="8"/>
        <pc:sldMkLst>
          <pc:docMk/>
          <pc:sldMk cId="3168749666" sldId="264"/>
        </pc:sldMkLst>
        <pc:spChg chg="mod">
          <ac:chgData name="kriti ohri" userId="5f460e859343ae9f" providerId="LiveId" clId="{7B9AAD96-8F19-4265-A830-9F61820825AA}" dt="2021-06-30T03:29:25.044" v="8"/>
          <ac:spMkLst>
            <pc:docMk/>
            <pc:sldMk cId="3168749666" sldId="264"/>
            <ac:spMk id="3" creationId="{262DCD20-E6C5-46B9-B132-6A8788A77C46}"/>
          </ac:spMkLst>
        </pc:spChg>
      </pc:sldChg>
      <pc:sldChg chg="modSp new mod">
        <pc:chgData name="kriti ohri" userId="5f460e859343ae9f" providerId="LiveId" clId="{7B9AAD96-8F19-4265-A830-9F61820825AA}" dt="2021-06-30T09:31:26.105" v="101"/>
        <pc:sldMkLst>
          <pc:docMk/>
          <pc:sldMk cId="1769390440" sldId="265"/>
        </pc:sldMkLst>
        <pc:spChg chg="mod">
          <ac:chgData name="kriti ohri" userId="5f460e859343ae9f" providerId="LiveId" clId="{7B9AAD96-8F19-4265-A830-9F61820825AA}" dt="2021-06-30T09:31:26.105" v="101"/>
          <ac:spMkLst>
            <pc:docMk/>
            <pc:sldMk cId="1769390440" sldId="265"/>
            <ac:spMk id="2" creationId="{7EAC5AC5-556D-45CA-9426-F66BEB9B787A}"/>
          </ac:spMkLst>
        </pc:spChg>
        <pc:spChg chg="mod">
          <ac:chgData name="kriti ohri" userId="5f460e859343ae9f" providerId="LiveId" clId="{7B9AAD96-8F19-4265-A830-9F61820825AA}" dt="2021-06-30T03:31:00.074" v="21" actId="14100"/>
          <ac:spMkLst>
            <pc:docMk/>
            <pc:sldMk cId="1769390440" sldId="265"/>
            <ac:spMk id="3" creationId="{B40225BE-ECB0-45A3-9D0E-DBA2DAC433AE}"/>
          </ac:spMkLst>
        </pc:spChg>
      </pc:sldChg>
      <pc:sldChg chg="modSp add mod">
        <pc:chgData name="kriti ohri" userId="5f460e859343ae9f" providerId="LiveId" clId="{7B9AAD96-8F19-4265-A830-9F61820825AA}" dt="2021-06-30T07:52:16.880" v="98" actId="14100"/>
        <pc:sldMkLst>
          <pc:docMk/>
          <pc:sldMk cId="2436384003" sldId="298"/>
        </pc:sldMkLst>
        <pc:spChg chg="mod">
          <ac:chgData name="kriti ohri" userId="5f460e859343ae9f" providerId="LiveId" clId="{7B9AAD96-8F19-4265-A830-9F61820825AA}" dt="2021-06-30T07:52:16.880" v="98" actId="14100"/>
          <ac:spMkLst>
            <pc:docMk/>
            <pc:sldMk cId="2436384003" sldId="298"/>
            <ac:spMk id="2" creationId="{0CAB52D8-2C00-4AF8-B890-3A5157622ED9}"/>
          </ac:spMkLst>
        </pc:spChg>
        <pc:spChg chg="mod">
          <ac:chgData name="kriti ohri" userId="5f460e859343ae9f" providerId="LiveId" clId="{7B9AAD96-8F19-4265-A830-9F61820825AA}" dt="2021-06-30T04:21:56.730" v="62" actId="20577"/>
          <ac:spMkLst>
            <pc:docMk/>
            <pc:sldMk cId="2436384003" sldId="298"/>
            <ac:spMk id="3" creationId="{343C2040-6C11-47E1-888F-BCC7EB262561}"/>
          </ac:spMkLst>
        </pc:spChg>
      </pc:sldChg>
      <pc:sldChg chg="new del">
        <pc:chgData name="kriti ohri" userId="5f460e859343ae9f" providerId="LiveId" clId="{7B9AAD96-8F19-4265-A830-9F61820825AA}" dt="2021-06-30T05:50:17.315" v="64" actId="47"/>
        <pc:sldMkLst>
          <pc:docMk/>
          <pc:sldMk cId="934163109" sldId="299"/>
        </pc:sldMkLst>
      </pc:sldChg>
      <pc:sldChg chg="modSp add mod">
        <pc:chgData name="kriti ohri" userId="5f460e859343ae9f" providerId="LiveId" clId="{7B9AAD96-8F19-4265-A830-9F61820825AA}" dt="2021-06-30T05:50:25.965" v="67" actId="1076"/>
        <pc:sldMkLst>
          <pc:docMk/>
          <pc:sldMk cId="0" sldId="516"/>
        </pc:sldMkLst>
        <pc:spChg chg="mod">
          <ac:chgData name="kriti ohri" userId="5f460e859343ae9f" providerId="LiveId" clId="{7B9AAD96-8F19-4265-A830-9F61820825AA}" dt="2021-06-30T05:50:25.965" v="67" actId="1076"/>
          <ac:spMkLst>
            <pc:docMk/>
            <pc:sldMk cId="0" sldId="516"/>
            <ac:spMk id="3074" creationId="{00000000-0000-0000-0000-000000000000}"/>
          </ac:spMkLst>
        </pc:spChg>
      </pc:sldChg>
      <pc:sldChg chg="addSp modSp new mod">
        <pc:chgData name="kriti ohri" userId="5f460e859343ae9f" providerId="LiveId" clId="{7B9AAD96-8F19-4265-A830-9F61820825AA}" dt="2021-06-30T07:48:41.171" v="97" actId="20577"/>
        <pc:sldMkLst>
          <pc:docMk/>
          <pc:sldMk cId="3447575236" sldId="517"/>
        </pc:sldMkLst>
        <pc:spChg chg="mod">
          <ac:chgData name="kriti ohri" userId="5f460e859343ae9f" providerId="LiveId" clId="{7B9AAD96-8F19-4265-A830-9F61820825AA}" dt="2021-06-30T07:48:41.171" v="97" actId="20577"/>
          <ac:spMkLst>
            <pc:docMk/>
            <pc:sldMk cId="3447575236" sldId="517"/>
            <ac:spMk id="2" creationId="{6AACEE07-2CF5-43C2-B433-5B81078D102F}"/>
          </ac:spMkLst>
        </pc:spChg>
        <pc:picChg chg="add mod">
          <ac:chgData name="kriti ohri" userId="5f460e859343ae9f" providerId="LiveId" clId="{7B9AAD96-8F19-4265-A830-9F61820825AA}" dt="2021-06-30T07:48:34.872" v="73" actId="14100"/>
          <ac:picMkLst>
            <pc:docMk/>
            <pc:sldMk cId="3447575236" sldId="517"/>
            <ac:picMk id="5" creationId="{DDFB8998-B79B-49D2-AA3D-B008CD1504F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C45BA753-2B2E-4DE8-B6E2-9519AA97B3DF}" type="datetimeFigureOut">
              <a:rPr lang="en-US" smtClean="0"/>
              <a:t>11/17/2024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3C140F08-9D9F-4570-8D7D-F2E491DF9845}" type="slidenum">
              <a:rPr lang="en-US" smtClean="0"/>
              <a:t>‹#›</a:t>
            </a:fld>
            <a:endParaRPr lang="en-US"/>
          </a:p>
        </p:txBody>
      </p:sp>
    </p:spTree>
    <p:extLst>
      <p:ext uri="{BB962C8B-B14F-4D97-AF65-F5344CB8AC3E}">
        <p14:creationId xmlns:p14="http://schemas.microsoft.com/office/powerpoint/2010/main" val="252432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140F08-9D9F-4570-8D7D-F2E491DF9845}" type="slidenum">
              <a:rPr lang="en-US" smtClean="0"/>
              <a:t>10</a:t>
            </a:fld>
            <a:endParaRPr lang="en-US"/>
          </a:p>
        </p:txBody>
      </p:sp>
    </p:spTree>
    <p:extLst>
      <p:ext uri="{BB962C8B-B14F-4D97-AF65-F5344CB8AC3E}">
        <p14:creationId xmlns:p14="http://schemas.microsoft.com/office/powerpoint/2010/main" val="1556949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743454" y="385953"/>
            <a:ext cx="3657091" cy="452119"/>
          </a:xfrm>
          <a:prstGeom prst="rect">
            <a:avLst/>
          </a:prstGeom>
        </p:spPr>
        <p:txBody>
          <a:bodyPr lIns="0" tIns="0" rIns="0" bIns="0"/>
          <a:lstStyle>
            <a:lvl1pPr>
              <a:defRPr sz="2800" b="1" i="0">
                <a:solidFill>
                  <a:schemeClr val="hlink"/>
                </a:solidFill>
                <a:latin typeface="Carlito"/>
                <a:cs typeface="Carlito"/>
              </a:defRPr>
            </a:lvl1pPr>
          </a:lstStyle>
          <a:p>
            <a:endParaRPr/>
          </a:p>
        </p:txBody>
      </p:sp>
      <p:sp>
        <p:nvSpPr>
          <p:cNvPr id="3" name="Holder 3"/>
          <p:cNvSpPr>
            <a:spLocks noGrp="1"/>
          </p:cNvSpPr>
          <p:nvPr>
            <p:ph type="body" idx="1"/>
          </p:nvPr>
        </p:nvSpPr>
        <p:spPr>
          <a:xfrm>
            <a:off x="472440" y="1216913"/>
            <a:ext cx="7936865" cy="2647950"/>
          </a:xfrm>
          <a:prstGeom prst="rect">
            <a:avLst/>
          </a:prstGeom>
        </p:spPr>
        <p:txBody>
          <a:bodyPr lIns="0" tIns="0" rIns="0" bIns="0"/>
          <a:lstStyle>
            <a:lvl1pPr>
              <a:defRPr sz="20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11/17/2024</a:t>
            </a:fld>
            <a:endParaRPr lang="en-US"/>
          </a:p>
        </p:txBody>
      </p:sp>
      <p:sp>
        <p:nvSpPr>
          <p:cNvPr id="6" name="Holder 6"/>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743454" y="385953"/>
            <a:ext cx="3657091" cy="452119"/>
          </a:xfrm>
          <a:prstGeom prst="rect">
            <a:avLst/>
          </a:prstGeom>
        </p:spPr>
        <p:txBody>
          <a:bodyPr lIns="0" tIns="0" rIns="0" bIns="0"/>
          <a:lstStyle>
            <a:lvl1pPr>
              <a:defRPr sz="2800" b="1" i="0">
                <a:solidFill>
                  <a:schemeClr val="hlink"/>
                </a:solidFill>
                <a:latin typeface="Carlito"/>
                <a:cs typeface="Carli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11/17/2024</a:t>
            </a:fld>
            <a:endParaRPr lang="en-US"/>
          </a:p>
        </p:txBody>
      </p:sp>
      <p:sp>
        <p:nvSpPr>
          <p:cNvPr id="7" name="Holder 7"/>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743454" y="385953"/>
            <a:ext cx="3657091" cy="452119"/>
          </a:xfrm>
          <a:prstGeom prst="rect">
            <a:avLst/>
          </a:prstGeom>
        </p:spPr>
        <p:txBody>
          <a:bodyPr lIns="0" tIns="0" rIns="0" bIns="0"/>
          <a:lstStyle>
            <a:lvl1pPr>
              <a:defRPr sz="2800" b="1" i="0">
                <a:solidFill>
                  <a:schemeClr val="hlink"/>
                </a:solidFill>
                <a:latin typeface="Carlito"/>
                <a:cs typeface="Carlito"/>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11/17/2024</a:t>
            </a:fld>
            <a:endParaRPr lang="en-US"/>
          </a:p>
        </p:txBody>
      </p:sp>
      <p:sp>
        <p:nvSpPr>
          <p:cNvPr id="5" name="Holder 5"/>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11/17/2024</a:t>
            </a:fld>
            <a:endParaRPr lang="en-US"/>
          </a:p>
        </p:txBody>
      </p:sp>
      <p:sp>
        <p:nvSpPr>
          <p:cNvPr id="4" name="Holder 4"/>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idx="4294967295"/>
          </p:nvPr>
        </p:nvSpPr>
        <p:spPr>
          <a:xfrm>
            <a:off x="1981200" y="1428750"/>
            <a:ext cx="5062474" cy="843821"/>
          </a:xfrm>
          <a:prstGeom prst="rect">
            <a:avLst/>
          </a:prstGeom>
        </p:spPr>
        <p:txBody>
          <a:bodyPr vert="horz" wrap="square" lIns="0" tIns="12700" rIns="0" bIns="0" rtlCol="0">
            <a:spAutoFit/>
          </a:bodyPr>
          <a:lstStyle/>
          <a:p>
            <a:pPr marL="12700" algn="ctr">
              <a:lnSpc>
                <a:spcPct val="100000"/>
              </a:lnSpc>
              <a:spcBef>
                <a:spcPts val="100"/>
              </a:spcBef>
            </a:pPr>
            <a:r>
              <a:rPr b="1" spc="-10" dirty="0"/>
              <a:t>Clus</a:t>
            </a:r>
            <a:r>
              <a:rPr lang="en-US" b="1" spc="-10" dirty="0"/>
              <a:t>tering</a:t>
            </a:r>
            <a:r>
              <a:rPr b="1" spc="-5" dirty="0"/>
              <a:t>: </a:t>
            </a:r>
            <a:r>
              <a:rPr b="1" spc="-10" dirty="0"/>
              <a:t>Introduction</a:t>
            </a:r>
            <a:br>
              <a:rPr lang="en-US" b="1" spc="-10" dirty="0"/>
            </a:br>
            <a:br>
              <a:rPr lang="en-US" b="1" spc="-10" dirty="0"/>
            </a:br>
            <a:r>
              <a:rPr lang="en-IN" b="1" spc="-10" dirty="0"/>
              <a:t>Unsupervised Learning</a:t>
            </a:r>
            <a:endParaRPr b="1" dirty="0"/>
          </a:p>
        </p:txBody>
      </p:sp>
      <p:sp>
        <p:nvSpPr>
          <p:cNvPr id="4" name="object 4"/>
          <p:cNvSpPr txBox="1">
            <a:spLocks noGrp="1"/>
          </p:cNvSpPr>
          <p:nvPr>
            <p:ph type="sldNum" sz="quarter" idx="4294967295"/>
          </p:nvPr>
        </p:nvSpPr>
        <p:spPr>
          <a:xfrm>
            <a:off x="8401557" y="4830038"/>
            <a:ext cx="231775" cy="178435"/>
          </a:xfrm>
          <a:prstGeom prst="rect">
            <a:avLst/>
          </a:prstGeom>
        </p:spPr>
        <p:txBody>
          <a:bodyPr vert="horz" wrap="square" lIns="0" tIns="0" rIns="0" bIns="0" rtlCol="0">
            <a:spAutoFit/>
          </a:bodyPr>
          <a:lstStyle/>
          <a:p>
            <a:pPr marL="38100">
              <a:lnSpc>
                <a:spcPts val="1240"/>
              </a:lnSpc>
            </a:pPr>
            <a:fld id="{81D60167-4931-47E6-BA6A-407CBD079E47}" type="slidenum">
              <a:rPr dirty="0"/>
              <a:t>1</a:t>
            </a:fld>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14750" y="445389"/>
            <a:ext cx="1715135" cy="345440"/>
          </a:xfrm>
          <a:prstGeom prst="rect">
            <a:avLst/>
          </a:prstGeom>
        </p:spPr>
        <p:txBody>
          <a:bodyPr vert="horz" wrap="square" lIns="0" tIns="12700" rIns="0" bIns="0" rtlCol="0">
            <a:spAutoFit/>
          </a:bodyPr>
          <a:lstStyle/>
          <a:p>
            <a:pPr marL="12700">
              <a:lnSpc>
                <a:spcPct val="100000"/>
              </a:lnSpc>
              <a:spcBef>
                <a:spcPts val="100"/>
              </a:spcBef>
            </a:pPr>
            <a:r>
              <a:rPr sz="2100" b="0" spc="-10" dirty="0">
                <a:solidFill>
                  <a:srgbClr val="000000"/>
                </a:solidFill>
                <a:latin typeface="Carlito"/>
                <a:cs typeface="Carlito"/>
              </a:rPr>
              <a:t>Cluster</a:t>
            </a:r>
            <a:r>
              <a:rPr sz="2100" b="0" spc="-30" dirty="0">
                <a:solidFill>
                  <a:srgbClr val="000000"/>
                </a:solidFill>
                <a:latin typeface="Carlito"/>
                <a:cs typeface="Carlito"/>
              </a:rPr>
              <a:t> </a:t>
            </a:r>
            <a:r>
              <a:rPr sz="2100" b="0" spc="-10" dirty="0">
                <a:solidFill>
                  <a:srgbClr val="000000"/>
                </a:solidFill>
                <a:latin typeface="Carlito"/>
                <a:cs typeface="Carlito"/>
              </a:rPr>
              <a:t>Analysis</a:t>
            </a:r>
            <a:endParaRPr sz="2100">
              <a:latin typeface="Carlito"/>
              <a:cs typeface="Carlito"/>
            </a:endParaRPr>
          </a:p>
        </p:txBody>
      </p:sp>
      <p:sp>
        <p:nvSpPr>
          <p:cNvPr id="3" name="object 3"/>
          <p:cNvSpPr txBox="1"/>
          <p:nvPr/>
        </p:nvSpPr>
        <p:spPr>
          <a:xfrm>
            <a:off x="421640" y="1062609"/>
            <a:ext cx="3545840" cy="1671955"/>
          </a:xfrm>
          <a:prstGeom prst="rect">
            <a:avLst/>
          </a:prstGeom>
        </p:spPr>
        <p:txBody>
          <a:bodyPr vert="horz" wrap="square" lIns="0" tIns="12700" rIns="0" bIns="0" rtlCol="0">
            <a:spAutoFit/>
          </a:bodyPr>
          <a:lstStyle/>
          <a:p>
            <a:pPr marL="355600" marR="486409" indent="-342900">
              <a:lnSpc>
                <a:spcPct val="100000"/>
              </a:lnSpc>
              <a:spcBef>
                <a:spcPts val="100"/>
              </a:spcBef>
              <a:buFont typeface="Arial"/>
              <a:buChar char="•"/>
              <a:tabLst>
                <a:tab pos="354965" algn="l"/>
                <a:tab pos="355600" algn="l"/>
              </a:tabLst>
            </a:pPr>
            <a:r>
              <a:rPr sz="1500" spc="-5" dirty="0">
                <a:latin typeface="Carlito"/>
                <a:cs typeface="Carlito"/>
              </a:rPr>
              <a:t>Cluster analysis </a:t>
            </a:r>
            <a:r>
              <a:rPr sz="1500" dirty="0">
                <a:latin typeface="Carlito"/>
                <a:cs typeface="Carlito"/>
              </a:rPr>
              <a:t>is the art </a:t>
            </a:r>
            <a:r>
              <a:rPr sz="1500" spc="-5" dirty="0">
                <a:latin typeface="Carlito"/>
                <a:cs typeface="Carlito"/>
              </a:rPr>
              <a:t>of</a:t>
            </a:r>
            <a:r>
              <a:rPr sz="1500" spc="-85" dirty="0">
                <a:latin typeface="Carlito"/>
                <a:cs typeface="Carlito"/>
              </a:rPr>
              <a:t> </a:t>
            </a:r>
            <a:r>
              <a:rPr sz="1500" spc="-5" dirty="0">
                <a:latin typeface="Carlito"/>
                <a:cs typeface="Carlito"/>
              </a:rPr>
              <a:t>finding  </a:t>
            </a:r>
            <a:r>
              <a:rPr sz="1500" spc="-10" dirty="0">
                <a:latin typeface="Carlito"/>
                <a:cs typeface="Carlito"/>
              </a:rPr>
              <a:t>groups </a:t>
            </a:r>
            <a:r>
              <a:rPr sz="1500" dirty="0">
                <a:latin typeface="Carlito"/>
                <a:cs typeface="Carlito"/>
              </a:rPr>
              <a:t>in</a:t>
            </a:r>
            <a:r>
              <a:rPr sz="1500" spc="-20" dirty="0">
                <a:latin typeface="Carlito"/>
                <a:cs typeface="Carlito"/>
              </a:rPr>
              <a:t> </a:t>
            </a:r>
            <a:r>
              <a:rPr sz="1500" spc="-10" dirty="0">
                <a:latin typeface="Carlito"/>
                <a:cs typeface="Carlito"/>
              </a:rPr>
              <a:t>data</a:t>
            </a:r>
            <a:endParaRPr sz="1500">
              <a:latin typeface="Carlito"/>
              <a:cs typeface="Carlito"/>
            </a:endParaRPr>
          </a:p>
          <a:p>
            <a:pPr marL="355600" marR="5080" indent="-342900">
              <a:lnSpc>
                <a:spcPct val="100000"/>
              </a:lnSpc>
              <a:spcBef>
                <a:spcPts val="359"/>
              </a:spcBef>
              <a:buFont typeface="Arial"/>
              <a:buChar char="•"/>
              <a:tabLst>
                <a:tab pos="354965" algn="l"/>
                <a:tab pos="355600" algn="l"/>
              </a:tabLst>
            </a:pPr>
            <a:r>
              <a:rPr sz="1500" dirty="0">
                <a:latin typeface="Carlito"/>
                <a:cs typeface="Carlito"/>
              </a:rPr>
              <a:t>In </a:t>
            </a:r>
            <a:r>
              <a:rPr sz="1500" spc="-5" dirty="0">
                <a:latin typeface="Carlito"/>
                <a:cs typeface="Carlito"/>
              </a:rPr>
              <a:t>cluster analysis </a:t>
            </a:r>
            <a:r>
              <a:rPr sz="1500" spc="-15" dirty="0">
                <a:latin typeface="Carlito"/>
                <a:cs typeface="Carlito"/>
              </a:rPr>
              <a:t>basically, </a:t>
            </a:r>
            <a:r>
              <a:rPr sz="1500" spc="-5" dirty="0">
                <a:latin typeface="Carlito"/>
                <a:cs typeface="Carlito"/>
              </a:rPr>
              <a:t>one </a:t>
            </a:r>
            <a:r>
              <a:rPr sz="1500" spc="-10" dirty="0">
                <a:latin typeface="Carlito"/>
                <a:cs typeface="Carlito"/>
              </a:rPr>
              <a:t>wants to  </a:t>
            </a:r>
            <a:r>
              <a:rPr sz="1500" spc="-15" dirty="0">
                <a:latin typeface="Carlito"/>
                <a:cs typeface="Carlito"/>
              </a:rPr>
              <a:t>form </a:t>
            </a:r>
            <a:r>
              <a:rPr sz="1500" spc="-10" dirty="0">
                <a:latin typeface="Carlito"/>
                <a:cs typeface="Carlito"/>
              </a:rPr>
              <a:t>groups </a:t>
            </a:r>
            <a:r>
              <a:rPr sz="1500" dirty="0">
                <a:latin typeface="Carlito"/>
                <a:cs typeface="Carlito"/>
              </a:rPr>
              <a:t>in </a:t>
            </a:r>
            <a:r>
              <a:rPr sz="1500" spc="-5" dirty="0">
                <a:latin typeface="Carlito"/>
                <a:cs typeface="Carlito"/>
              </a:rPr>
              <a:t>such </a:t>
            </a:r>
            <a:r>
              <a:rPr sz="1500" dirty="0">
                <a:latin typeface="Carlito"/>
                <a:cs typeface="Carlito"/>
              </a:rPr>
              <a:t>a </a:t>
            </a:r>
            <a:r>
              <a:rPr sz="1500" spc="-15" dirty="0">
                <a:latin typeface="Carlito"/>
                <a:cs typeface="Carlito"/>
              </a:rPr>
              <a:t>way </a:t>
            </a:r>
            <a:r>
              <a:rPr sz="1500" spc="-5" dirty="0">
                <a:latin typeface="Carlito"/>
                <a:cs typeface="Carlito"/>
              </a:rPr>
              <a:t>that objects </a:t>
            </a:r>
            <a:r>
              <a:rPr sz="1500" dirty="0">
                <a:latin typeface="Carlito"/>
                <a:cs typeface="Carlito"/>
              </a:rPr>
              <a:t>in  the </a:t>
            </a:r>
            <a:r>
              <a:rPr sz="1500" spc="-5" dirty="0">
                <a:latin typeface="Carlito"/>
                <a:cs typeface="Carlito"/>
              </a:rPr>
              <a:t>same </a:t>
            </a:r>
            <a:r>
              <a:rPr sz="1500" spc="-10" dirty="0">
                <a:latin typeface="Carlito"/>
                <a:cs typeface="Carlito"/>
              </a:rPr>
              <a:t>group are </a:t>
            </a:r>
            <a:r>
              <a:rPr sz="1500" spc="-5" dirty="0">
                <a:latin typeface="Carlito"/>
                <a:cs typeface="Carlito"/>
              </a:rPr>
              <a:t>similar </a:t>
            </a:r>
            <a:r>
              <a:rPr sz="1500" spc="-10" dirty="0">
                <a:latin typeface="Carlito"/>
                <a:cs typeface="Carlito"/>
              </a:rPr>
              <a:t>to </a:t>
            </a:r>
            <a:r>
              <a:rPr sz="1500" dirty="0">
                <a:latin typeface="Carlito"/>
                <a:cs typeface="Carlito"/>
              </a:rPr>
              <a:t>each </a:t>
            </a:r>
            <a:r>
              <a:rPr sz="1500" spc="-25" dirty="0">
                <a:latin typeface="Carlito"/>
                <a:cs typeface="Carlito"/>
              </a:rPr>
              <a:t>other,  </a:t>
            </a:r>
            <a:r>
              <a:rPr sz="1500" spc="-5" dirty="0">
                <a:latin typeface="Carlito"/>
                <a:cs typeface="Carlito"/>
              </a:rPr>
              <a:t>whereas objects </a:t>
            </a:r>
            <a:r>
              <a:rPr sz="1500" dirty="0">
                <a:latin typeface="Carlito"/>
                <a:cs typeface="Carlito"/>
              </a:rPr>
              <a:t>in </a:t>
            </a:r>
            <a:r>
              <a:rPr sz="1500" spc="-10" dirty="0">
                <a:latin typeface="Carlito"/>
                <a:cs typeface="Carlito"/>
              </a:rPr>
              <a:t>different groups are  </a:t>
            </a:r>
            <a:r>
              <a:rPr sz="1500" dirty="0">
                <a:latin typeface="Carlito"/>
                <a:cs typeface="Carlito"/>
              </a:rPr>
              <a:t>as </a:t>
            </a:r>
            <a:r>
              <a:rPr sz="1500" spc="-5" dirty="0">
                <a:latin typeface="Carlito"/>
                <a:cs typeface="Carlito"/>
              </a:rPr>
              <a:t>dissimilar </a:t>
            </a:r>
            <a:r>
              <a:rPr sz="1500" dirty="0">
                <a:latin typeface="Carlito"/>
                <a:cs typeface="Carlito"/>
              </a:rPr>
              <a:t>as</a:t>
            </a:r>
            <a:r>
              <a:rPr sz="1500" spc="-30" dirty="0">
                <a:latin typeface="Carlito"/>
                <a:cs typeface="Carlito"/>
              </a:rPr>
              <a:t> </a:t>
            </a:r>
            <a:r>
              <a:rPr sz="1500" spc="-5" dirty="0">
                <a:latin typeface="Carlito"/>
                <a:cs typeface="Carlito"/>
              </a:rPr>
              <a:t>possible</a:t>
            </a:r>
            <a:endParaRPr sz="1500">
              <a:latin typeface="Carlito"/>
              <a:cs typeface="Carlito"/>
            </a:endParaRPr>
          </a:p>
        </p:txBody>
      </p:sp>
      <p:sp>
        <p:nvSpPr>
          <p:cNvPr id="4" name="object 4"/>
          <p:cNvSpPr/>
          <p:nvPr/>
        </p:nvSpPr>
        <p:spPr>
          <a:xfrm>
            <a:off x="5228844" y="1155191"/>
            <a:ext cx="792479" cy="70256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158740" y="2276855"/>
            <a:ext cx="809243" cy="697992"/>
          </a:xfrm>
          <a:prstGeom prst="rect">
            <a:avLst/>
          </a:prstGeom>
          <a:blipFill>
            <a:blip r:embed="rId3" cstate="print"/>
            <a:stretch>
              <a:fillRect/>
            </a:stretch>
          </a:blipFill>
        </p:spPr>
        <p:txBody>
          <a:bodyPr wrap="square" lIns="0" tIns="0" rIns="0" bIns="0" rtlCol="0"/>
          <a:lstStyle/>
          <a:p>
            <a:endParaRPr/>
          </a:p>
        </p:txBody>
      </p:sp>
      <p:grpSp>
        <p:nvGrpSpPr>
          <p:cNvPr id="6" name="object 6"/>
          <p:cNvGrpSpPr/>
          <p:nvPr/>
        </p:nvGrpSpPr>
        <p:grpSpPr>
          <a:xfrm>
            <a:off x="6243828" y="1522475"/>
            <a:ext cx="2094230" cy="1793875"/>
            <a:chOff x="6243828" y="1522475"/>
            <a:chExt cx="2094230" cy="1793875"/>
          </a:xfrm>
        </p:grpSpPr>
        <p:sp>
          <p:nvSpPr>
            <p:cNvPr id="7" name="object 7"/>
            <p:cNvSpPr/>
            <p:nvPr/>
          </p:nvSpPr>
          <p:spPr>
            <a:xfrm>
              <a:off x="6243828" y="2008631"/>
              <a:ext cx="845820" cy="1307591"/>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7030212" y="1522475"/>
              <a:ext cx="1039368" cy="46786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7490460" y="2135123"/>
              <a:ext cx="847344" cy="848868"/>
            </a:xfrm>
            <a:prstGeom prst="rect">
              <a:avLst/>
            </a:prstGeom>
            <a:blipFill>
              <a:blip r:embed="rId6" cstate="print"/>
              <a:stretch>
                <a:fillRect/>
              </a:stretch>
            </a:blipFill>
          </p:spPr>
          <p:txBody>
            <a:bodyPr wrap="square" lIns="0" tIns="0" rIns="0" bIns="0" rtlCol="0"/>
            <a:lstStyle/>
            <a:p>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28465" y="445389"/>
            <a:ext cx="1688464" cy="345440"/>
          </a:xfrm>
          <a:prstGeom prst="rect">
            <a:avLst/>
          </a:prstGeom>
        </p:spPr>
        <p:txBody>
          <a:bodyPr vert="horz" wrap="square" lIns="0" tIns="12700" rIns="0" bIns="0" rtlCol="0">
            <a:spAutoFit/>
          </a:bodyPr>
          <a:lstStyle/>
          <a:p>
            <a:pPr marL="12700">
              <a:lnSpc>
                <a:spcPct val="100000"/>
              </a:lnSpc>
              <a:spcBef>
                <a:spcPts val="100"/>
              </a:spcBef>
            </a:pPr>
            <a:r>
              <a:rPr sz="2100" b="0" spc="-10" dirty="0">
                <a:solidFill>
                  <a:srgbClr val="000000"/>
                </a:solidFill>
                <a:latin typeface="Carlito"/>
                <a:cs typeface="Carlito"/>
              </a:rPr>
              <a:t>Cluster</a:t>
            </a:r>
            <a:r>
              <a:rPr sz="2100" b="0" spc="-30" dirty="0">
                <a:solidFill>
                  <a:srgbClr val="000000"/>
                </a:solidFill>
                <a:latin typeface="Carlito"/>
                <a:cs typeface="Carlito"/>
              </a:rPr>
              <a:t> </a:t>
            </a:r>
            <a:r>
              <a:rPr sz="2100" b="0" spc="-10" dirty="0">
                <a:solidFill>
                  <a:srgbClr val="000000"/>
                </a:solidFill>
                <a:latin typeface="Carlito"/>
                <a:cs typeface="Carlito"/>
              </a:rPr>
              <a:t>analysis</a:t>
            </a:r>
            <a:endParaRPr sz="2100">
              <a:latin typeface="Carlito"/>
              <a:cs typeface="Carlito"/>
            </a:endParaRPr>
          </a:p>
        </p:txBody>
      </p:sp>
      <p:sp>
        <p:nvSpPr>
          <p:cNvPr id="3" name="object 3"/>
          <p:cNvSpPr txBox="1"/>
          <p:nvPr/>
        </p:nvSpPr>
        <p:spPr>
          <a:xfrm>
            <a:off x="408228" y="1123950"/>
            <a:ext cx="3881120" cy="2632075"/>
          </a:xfrm>
          <a:prstGeom prst="rect">
            <a:avLst/>
          </a:prstGeom>
        </p:spPr>
        <p:txBody>
          <a:bodyPr vert="horz" wrap="square" lIns="0" tIns="12700" rIns="0" bIns="0" rtlCol="0">
            <a:spAutoFit/>
          </a:bodyPr>
          <a:lstStyle/>
          <a:p>
            <a:pPr marL="355600" marR="68580" indent="-342900">
              <a:lnSpc>
                <a:spcPct val="100000"/>
              </a:lnSpc>
              <a:spcBef>
                <a:spcPts val="100"/>
              </a:spcBef>
              <a:buFont typeface="Arial"/>
              <a:buChar char="•"/>
              <a:tabLst>
                <a:tab pos="354965" algn="l"/>
                <a:tab pos="355600" algn="l"/>
              </a:tabLst>
            </a:pPr>
            <a:r>
              <a:rPr sz="1500" spc="-5" dirty="0">
                <a:latin typeface="Carlito"/>
                <a:cs typeface="Carlito"/>
              </a:rPr>
              <a:t>The classification of similar objects into  </a:t>
            </a:r>
            <a:r>
              <a:rPr sz="1500" spc="-10" dirty="0">
                <a:latin typeface="Carlito"/>
                <a:cs typeface="Carlito"/>
              </a:rPr>
              <a:t>groups </a:t>
            </a:r>
            <a:r>
              <a:rPr sz="1500" dirty="0">
                <a:latin typeface="Carlito"/>
                <a:cs typeface="Carlito"/>
              </a:rPr>
              <a:t>is an </a:t>
            </a:r>
            <a:r>
              <a:rPr sz="1500" spc="-5" dirty="0">
                <a:latin typeface="Carlito"/>
                <a:cs typeface="Carlito"/>
              </a:rPr>
              <a:t>important </a:t>
            </a:r>
            <a:r>
              <a:rPr sz="1500" dirty="0">
                <a:latin typeface="Carlito"/>
                <a:cs typeface="Carlito"/>
              </a:rPr>
              <a:t>human </a:t>
            </a:r>
            <a:r>
              <a:rPr sz="1500" spc="-15" dirty="0">
                <a:latin typeface="Carlito"/>
                <a:cs typeface="Carlito"/>
              </a:rPr>
              <a:t>activity, </a:t>
            </a:r>
            <a:r>
              <a:rPr sz="1500" dirty="0">
                <a:latin typeface="Carlito"/>
                <a:cs typeface="Carlito"/>
              </a:rPr>
              <a:t>this</a:t>
            </a:r>
            <a:r>
              <a:rPr sz="1500" spc="-120" dirty="0">
                <a:latin typeface="Carlito"/>
                <a:cs typeface="Carlito"/>
              </a:rPr>
              <a:t> </a:t>
            </a:r>
            <a:r>
              <a:rPr sz="1500" dirty="0">
                <a:latin typeface="Carlito"/>
                <a:cs typeface="Carlito"/>
              </a:rPr>
              <a:t>is  part </a:t>
            </a:r>
            <a:r>
              <a:rPr sz="1500" spc="-5" dirty="0">
                <a:latin typeface="Carlito"/>
                <a:cs typeface="Carlito"/>
              </a:rPr>
              <a:t>of </a:t>
            </a:r>
            <a:r>
              <a:rPr sz="1500" dirty="0">
                <a:latin typeface="Carlito"/>
                <a:cs typeface="Carlito"/>
              </a:rPr>
              <a:t>the learning</a:t>
            </a:r>
            <a:r>
              <a:rPr sz="1500" spc="-50" dirty="0">
                <a:latin typeface="Carlito"/>
                <a:cs typeface="Carlito"/>
              </a:rPr>
              <a:t> </a:t>
            </a:r>
            <a:r>
              <a:rPr sz="1500" spc="-10" dirty="0">
                <a:latin typeface="Carlito"/>
                <a:cs typeface="Carlito"/>
              </a:rPr>
              <a:t>process</a:t>
            </a:r>
            <a:endParaRPr sz="1500">
              <a:latin typeface="Carlito"/>
              <a:cs typeface="Carlito"/>
            </a:endParaRPr>
          </a:p>
          <a:p>
            <a:pPr marL="355600" marR="46990" indent="-342900">
              <a:lnSpc>
                <a:spcPct val="100000"/>
              </a:lnSpc>
              <a:spcBef>
                <a:spcPts val="360"/>
              </a:spcBef>
              <a:buFont typeface="Arial"/>
              <a:buChar char="•"/>
              <a:tabLst>
                <a:tab pos="354965" algn="l"/>
                <a:tab pos="355600" algn="l"/>
              </a:tabLst>
            </a:pPr>
            <a:r>
              <a:rPr sz="1500" dirty="0">
                <a:latin typeface="Carlito"/>
                <a:cs typeface="Carlito"/>
              </a:rPr>
              <a:t>i.e. A child learns </a:t>
            </a:r>
            <a:r>
              <a:rPr sz="1500" spc="-10" dirty="0">
                <a:latin typeface="Carlito"/>
                <a:cs typeface="Carlito"/>
              </a:rPr>
              <a:t>to </a:t>
            </a:r>
            <a:r>
              <a:rPr sz="1500" spc="-5" dirty="0">
                <a:latin typeface="Carlito"/>
                <a:cs typeface="Carlito"/>
              </a:rPr>
              <a:t>distinguish </a:t>
            </a:r>
            <a:r>
              <a:rPr sz="1500" spc="-10" dirty="0">
                <a:latin typeface="Carlito"/>
                <a:cs typeface="Carlito"/>
              </a:rPr>
              <a:t>between cats  </a:t>
            </a:r>
            <a:r>
              <a:rPr sz="1500" dirty="0">
                <a:latin typeface="Carlito"/>
                <a:cs typeface="Carlito"/>
              </a:rPr>
              <a:t>and </a:t>
            </a:r>
            <a:r>
              <a:rPr sz="1500" spc="-5" dirty="0">
                <a:latin typeface="Carlito"/>
                <a:cs typeface="Carlito"/>
              </a:rPr>
              <a:t>dogs, </a:t>
            </a:r>
            <a:r>
              <a:rPr sz="1500" spc="-10" dirty="0">
                <a:latin typeface="Carlito"/>
                <a:cs typeface="Carlito"/>
              </a:rPr>
              <a:t>between </a:t>
            </a:r>
            <a:r>
              <a:rPr sz="1500" spc="-5" dirty="0">
                <a:latin typeface="Carlito"/>
                <a:cs typeface="Carlito"/>
              </a:rPr>
              <a:t>tables </a:t>
            </a:r>
            <a:r>
              <a:rPr sz="1500" dirty="0">
                <a:latin typeface="Carlito"/>
                <a:cs typeface="Carlito"/>
              </a:rPr>
              <a:t>and </a:t>
            </a:r>
            <a:r>
              <a:rPr sz="1500" spc="-5" dirty="0">
                <a:latin typeface="Carlito"/>
                <a:cs typeface="Carlito"/>
              </a:rPr>
              <a:t>chairs,  </a:t>
            </a:r>
            <a:r>
              <a:rPr sz="1500" spc="-10" dirty="0">
                <a:latin typeface="Carlito"/>
                <a:cs typeface="Carlito"/>
              </a:rPr>
              <a:t>between </a:t>
            </a:r>
            <a:r>
              <a:rPr sz="1500" dirty="0">
                <a:latin typeface="Carlito"/>
                <a:cs typeface="Carlito"/>
              </a:rPr>
              <a:t>men and </a:t>
            </a:r>
            <a:r>
              <a:rPr sz="1500" spc="-10" dirty="0">
                <a:latin typeface="Carlito"/>
                <a:cs typeface="Carlito"/>
              </a:rPr>
              <a:t>women, </a:t>
            </a:r>
            <a:r>
              <a:rPr sz="1500" spc="-5" dirty="0">
                <a:latin typeface="Carlito"/>
                <a:cs typeface="Carlito"/>
              </a:rPr>
              <a:t>by </a:t>
            </a:r>
            <a:r>
              <a:rPr sz="1500" dirty="0">
                <a:latin typeface="Carlito"/>
                <a:cs typeface="Carlito"/>
              </a:rPr>
              <a:t>means </a:t>
            </a:r>
            <a:r>
              <a:rPr sz="1500" spc="-5" dirty="0">
                <a:latin typeface="Carlito"/>
                <a:cs typeface="Carlito"/>
              </a:rPr>
              <a:t>of  continuously improving subconscious  classification</a:t>
            </a:r>
            <a:r>
              <a:rPr sz="1500" spc="-15" dirty="0">
                <a:latin typeface="Carlito"/>
                <a:cs typeface="Carlito"/>
              </a:rPr>
              <a:t> </a:t>
            </a:r>
            <a:r>
              <a:rPr sz="1500" spc="-5" dirty="0">
                <a:latin typeface="Carlito"/>
                <a:cs typeface="Carlito"/>
              </a:rPr>
              <a:t>schemes</a:t>
            </a:r>
            <a:endParaRPr sz="1500">
              <a:latin typeface="Carlito"/>
              <a:cs typeface="Carlito"/>
            </a:endParaRPr>
          </a:p>
          <a:p>
            <a:pPr marL="355600" marR="5080" indent="-342900">
              <a:lnSpc>
                <a:spcPct val="100000"/>
              </a:lnSpc>
              <a:spcBef>
                <a:spcPts val="365"/>
              </a:spcBef>
              <a:buFont typeface="Arial"/>
              <a:buChar char="•"/>
              <a:tabLst>
                <a:tab pos="354965" algn="l"/>
                <a:tab pos="355600" algn="l"/>
              </a:tabLst>
            </a:pPr>
            <a:r>
              <a:rPr sz="1500" spc="-5" dirty="0">
                <a:latin typeface="Carlito"/>
                <a:cs typeface="Carlito"/>
              </a:rPr>
              <a:t>This explains </a:t>
            </a:r>
            <a:r>
              <a:rPr sz="1500" spc="-15" dirty="0">
                <a:latin typeface="Carlito"/>
                <a:cs typeface="Carlito"/>
              </a:rPr>
              <a:t>why </a:t>
            </a:r>
            <a:r>
              <a:rPr sz="1500" spc="-5" dirty="0">
                <a:latin typeface="Carlito"/>
                <a:cs typeface="Carlito"/>
              </a:rPr>
              <a:t>cluster analysis </a:t>
            </a:r>
            <a:r>
              <a:rPr sz="1500" dirty="0">
                <a:latin typeface="Carlito"/>
                <a:cs typeface="Carlito"/>
              </a:rPr>
              <a:t>is </a:t>
            </a:r>
            <a:r>
              <a:rPr sz="1500" spc="-5" dirty="0">
                <a:latin typeface="Carlito"/>
                <a:cs typeface="Carlito"/>
              </a:rPr>
              <a:t>often  considered </a:t>
            </a:r>
            <a:r>
              <a:rPr sz="1500" dirty="0">
                <a:latin typeface="Carlito"/>
                <a:cs typeface="Carlito"/>
              </a:rPr>
              <a:t>as a </a:t>
            </a:r>
            <a:r>
              <a:rPr sz="1500" spc="-10" dirty="0">
                <a:latin typeface="Carlito"/>
                <a:cs typeface="Carlito"/>
              </a:rPr>
              <a:t>branch </a:t>
            </a:r>
            <a:r>
              <a:rPr sz="1500" spc="-5" dirty="0">
                <a:latin typeface="Carlito"/>
                <a:cs typeface="Carlito"/>
              </a:rPr>
              <a:t>of </a:t>
            </a:r>
            <a:r>
              <a:rPr sz="1500" spc="-10" dirty="0">
                <a:latin typeface="Carlito"/>
                <a:cs typeface="Carlito"/>
              </a:rPr>
              <a:t>pattern </a:t>
            </a:r>
            <a:r>
              <a:rPr sz="1500" spc="-5" dirty="0">
                <a:latin typeface="Carlito"/>
                <a:cs typeface="Carlito"/>
              </a:rPr>
              <a:t>recognition  </a:t>
            </a:r>
            <a:r>
              <a:rPr sz="1500" dirty="0">
                <a:latin typeface="Carlito"/>
                <a:cs typeface="Carlito"/>
              </a:rPr>
              <a:t>and </a:t>
            </a:r>
            <a:r>
              <a:rPr sz="1500" spc="-5" dirty="0">
                <a:latin typeface="Carlito"/>
                <a:cs typeface="Carlito"/>
              </a:rPr>
              <a:t>artificial</a:t>
            </a:r>
            <a:r>
              <a:rPr sz="1500" spc="-35" dirty="0">
                <a:latin typeface="Carlito"/>
                <a:cs typeface="Carlito"/>
              </a:rPr>
              <a:t> </a:t>
            </a:r>
            <a:r>
              <a:rPr sz="1500" spc="-5" dirty="0">
                <a:latin typeface="Carlito"/>
                <a:cs typeface="Carlito"/>
              </a:rPr>
              <a:t>intelligence</a:t>
            </a:r>
            <a:endParaRPr sz="1500">
              <a:latin typeface="Carlito"/>
              <a:cs typeface="Carlito"/>
            </a:endParaRPr>
          </a:p>
        </p:txBody>
      </p:sp>
      <p:sp>
        <p:nvSpPr>
          <p:cNvPr id="4" name="object 4"/>
          <p:cNvSpPr/>
          <p:nvPr/>
        </p:nvSpPr>
        <p:spPr>
          <a:xfrm>
            <a:off x="5228844" y="1155191"/>
            <a:ext cx="792479" cy="70256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158740" y="2276855"/>
            <a:ext cx="809243" cy="697992"/>
          </a:xfrm>
          <a:prstGeom prst="rect">
            <a:avLst/>
          </a:prstGeom>
          <a:blipFill>
            <a:blip r:embed="rId3" cstate="print"/>
            <a:stretch>
              <a:fillRect/>
            </a:stretch>
          </a:blipFill>
        </p:spPr>
        <p:txBody>
          <a:bodyPr wrap="square" lIns="0" tIns="0" rIns="0" bIns="0" rtlCol="0"/>
          <a:lstStyle/>
          <a:p>
            <a:endParaRPr/>
          </a:p>
        </p:txBody>
      </p:sp>
      <p:grpSp>
        <p:nvGrpSpPr>
          <p:cNvPr id="6" name="object 6"/>
          <p:cNvGrpSpPr/>
          <p:nvPr/>
        </p:nvGrpSpPr>
        <p:grpSpPr>
          <a:xfrm>
            <a:off x="6243828" y="1522475"/>
            <a:ext cx="2094230" cy="1793875"/>
            <a:chOff x="6243828" y="1522475"/>
            <a:chExt cx="2094230" cy="1793875"/>
          </a:xfrm>
        </p:grpSpPr>
        <p:sp>
          <p:nvSpPr>
            <p:cNvPr id="7" name="object 7"/>
            <p:cNvSpPr/>
            <p:nvPr/>
          </p:nvSpPr>
          <p:spPr>
            <a:xfrm>
              <a:off x="6243828" y="2008631"/>
              <a:ext cx="845820" cy="1307591"/>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7030212" y="1522475"/>
              <a:ext cx="1039368" cy="46786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7490460" y="2135123"/>
              <a:ext cx="847344" cy="848868"/>
            </a:xfrm>
            <a:prstGeom prst="rect">
              <a:avLst/>
            </a:prstGeom>
            <a:blipFill>
              <a:blip r:embed="rId6" cstate="print"/>
              <a:stretch>
                <a:fillRect/>
              </a:stretch>
            </a:blipFill>
          </p:spPr>
          <p:txBody>
            <a:bodyPr wrap="square" lIns="0" tIns="0" rIns="0" bIns="0" rtlCol="0"/>
            <a:lstStyle/>
            <a:p>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a:t>
            </a:fld>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CEE07-2CF5-43C2-B433-5B81078D102F}"/>
              </a:ext>
            </a:extLst>
          </p:cNvPr>
          <p:cNvSpPr>
            <a:spLocks noGrp="1"/>
          </p:cNvSpPr>
          <p:nvPr>
            <p:ph type="title"/>
          </p:nvPr>
        </p:nvSpPr>
        <p:spPr/>
        <p:txBody>
          <a:bodyPr/>
          <a:lstStyle/>
          <a:p>
            <a:r>
              <a:rPr lang="en-US" dirty="0"/>
              <a:t>Dataset without labels</a:t>
            </a:r>
            <a:endParaRPr lang="en-IN" dirty="0"/>
          </a:p>
        </p:txBody>
      </p:sp>
      <p:sp>
        <p:nvSpPr>
          <p:cNvPr id="3" name="Text Placeholder 2">
            <a:extLst>
              <a:ext uri="{FF2B5EF4-FFF2-40B4-BE49-F238E27FC236}">
                <a16:creationId xmlns:a16="http://schemas.microsoft.com/office/drawing/2014/main" id="{FB27DA91-C7AF-42B9-A79F-90A1DBB6C24C}"/>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DDFB8998-B79B-49D2-AA3D-B008CD1504FE}"/>
              </a:ext>
            </a:extLst>
          </p:cNvPr>
          <p:cNvPicPr>
            <a:picLocks noChangeAspect="1"/>
          </p:cNvPicPr>
          <p:nvPr/>
        </p:nvPicPr>
        <p:blipFill>
          <a:blip r:embed="rId2"/>
          <a:stretch>
            <a:fillRect/>
          </a:stretch>
        </p:blipFill>
        <p:spPr>
          <a:xfrm>
            <a:off x="2895600" y="1422181"/>
            <a:ext cx="3810000" cy="3167865"/>
          </a:xfrm>
          <a:prstGeom prst="rect">
            <a:avLst/>
          </a:prstGeom>
        </p:spPr>
      </p:pic>
    </p:spTree>
    <p:extLst>
      <p:ext uri="{BB962C8B-B14F-4D97-AF65-F5344CB8AC3E}">
        <p14:creationId xmlns:p14="http://schemas.microsoft.com/office/powerpoint/2010/main" val="3447575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C1142-4CDC-4F67-A24E-26BADE85AD1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62DCD20-E6C5-46B9-B132-6A8788A77C46}"/>
              </a:ext>
            </a:extLst>
          </p:cNvPr>
          <p:cNvSpPr>
            <a:spLocks noGrp="1"/>
          </p:cNvSpPr>
          <p:nvPr>
            <p:ph type="body" idx="1"/>
          </p:nvPr>
        </p:nvSpPr>
        <p:spPr/>
        <p:txBody>
          <a:bodyPr/>
          <a:lstStyle/>
          <a:p>
            <a:pPr algn="l"/>
            <a:r>
              <a:rPr lang="en-US" b="1" i="0" dirty="0">
                <a:solidFill>
                  <a:srgbClr val="4A4A4A"/>
                </a:solidFill>
                <a:effectLst/>
                <a:latin typeface="Open Sans" panose="020B0606030504020204" pitchFamily="34" charset="0"/>
              </a:rPr>
              <a:t>What is Clustering?</a:t>
            </a:r>
            <a:endParaRPr lang="en-US" b="0" i="0" dirty="0">
              <a:solidFill>
                <a:srgbClr val="4A4A4A"/>
              </a:solidFill>
              <a:effectLst/>
              <a:latin typeface="Open Sans" panose="020B0606030504020204" pitchFamily="34" charset="0"/>
            </a:endParaRPr>
          </a:p>
          <a:p>
            <a:pPr algn="l"/>
            <a:r>
              <a:rPr lang="en-US" b="0" i="0" dirty="0">
                <a:solidFill>
                  <a:srgbClr val="4A4A4A"/>
                </a:solidFill>
                <a:effectLst/>
                <a:latin typeface="Open Sans" panose="020B0606030504020204" pitchFamily="34" charset="0"/>
              </a:rPr>
              <a:t>Clustering is dividing data points into homogeneous classes or clusters:</a:t>
            </a:r>
          </a:p>
          <a:p>
            <a:pPr algn="l">
              <a:buFont typeface="Arial" panose="020B0604020202020204" pitchFamily="34" charset="0"/>
              <a:buChar char="•"/>
            </a:pPr>
            <a:r>
              <a:rPr lang="en-US" b="0" i="0" dirty="0">
                <a:solidFill>
                  <a:srgbClr val="4A4A4A"/>
                </a:solidFill>
                <a:effectLst/>
                <a:latin typeface="Open Sans" panose="020B0606030504020204" pitchFamily="34" charset="0"/>
              </a:rPr>
              <a:t>Points in the same group are as similar as possible</a:t>
            </a:r>
          </a:p>
          <a:p>
            <a:pPr algn="l">
              <a:buFont typeface="Arial" panose="020B0604020202020204" pitchFamily="34" charset="0"/>
              <a:buChar char="•"/>
            </a:pPr>
            <a:r>
              <a:rPr lang="en-US" b="0" i="0" dirty="0">
                <a:solidFill>
                  <a:srgbClr val="4A4A4A"/>
                </a:solidFill>
                <a:effectLst/>
                <a:latin typeface="Open Sans" panose="020B0606030504020204" pitchFamily="34" charset="0"/>
              </a:rPr>
              <a:t>Points in different group are as dissimilar as possible</a:t>
            </a:r>
          </a:p>
          <a:p>
            <a:endParaRPr lang="en-IN" dirty="0"/>
          </a:p>
        </p:txBody>
      </p:sp>
    </p:spTree>
    <p:extLst>
      <p:ext uri="{BB962C8B-B14F-4D97-AF65-F5344CB8AC3E}">
        <p14:creationId xmlns:p14="http://schemas.microsoft.com/office/powerpoint/2010/main" val="3168749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a:xfrm>
            <a:off x="2486151" y="329923"/>
            <a:ext cx="5086097" cy="452119"/>
          </a:xfrm>
        </p:spPr>
        <p:txBody>
          <a:bodyPr/>
          <a:lstStyle/>
          <a:p>
            <a:r>
              <a:rPr lang="en-US" altLang="en-US" dirty="0"/>
              <a:t>What is Cluster Analysis?</a:t>
            </a:r>
          </a:p>
        </p:txBody>
      </p:sp>
      <p:sp>
        <p:nvSpPr>
          <p:cNvPr id="3075" name="Rectangle 5"/>
          <p:cNvSpPr>
            <a:spLocks noGrp="1" noChangeArrowheads="1"/>
          </p:cNvSpPr>
          <p:nvPr>
            <p:ph type="body" idx="1"/>
          </p:nvPr>
        </p:nvSpPr>
        <p:spPr>
          <a:xfrm>
            <a:off x="1279923" y="863600"/>
            <a:ext cx="6549628" cy="965200"/>
          </a:xfrm>
        </p:spPr>
        <p:txBody>
          <a:bodyPr/>
          <a:lstStyle/>
          <a:p>
            <a:r>
              <a:rPr lang="en-US" altLang="en-US" sz="1800" dirty="0"/>
              <a:t>Given a set of objects, place them in groups such that the objects in a group are similar (or related) to one another and different from (or unrelated to) the objects in other groups</a:t>
            </a:r>
          </a:p>
        </p:txBody>
      </p:sp>
      <p:grpSp>
        <p:nvGrpSpPr>
          <p:cNvPr id="3076" name="Group 6"/>
          <p:cNvGrpSpPr>
            <a:grpSpLocks/>
          </p:cNvGrpSpPr>
          <p:nvPr/>
        </p:nvGrpSpPr>
        <p:grpSpPr bwMode="auto">
          <a:xfrm>
            <a:off x="3600450" y="2677716"/>
            <a:ext cx="2286000" cy="2008584"/>
            <a:chOff x="2160" y="2544"/>
            <a:chExt cx="1920" cy="1687"/>
          </a:xfrm>
        </p:grpSpPr>
        <p:sp>
          <p:nvSpPr>
            <p:cNvPr id="3087" name="Line 7"/>
            <p:cNvSpPr>
              <a:spLocks noChangeShapeType="1"/>
            </p:cNvSpPr>
            <p:nvPr/>
          </p:nvSpPr>
          <p:spPr bwMode="auto">
            <a:xfrm>
              <a:off x="2736" y="2544"/>
              <a:ext cx="0"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88" name="Line 8"/>
            <p:cNvSpPr>
              <a:spLocks noChangeShapeType="1"/>
            </p:cNvSpPr>
            <p:nvPr/>
          </p:nvSpPr>
          <p:spPr bwMode="auto">
            <a:xfrm>
              <a:off x="2736" y="3696"/>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89" name="Freeform 9"/>
            <p:cNvSpPr>
              <a:spLocks/>
            </p:cNvSpPr>
            <p:nvPr/>
          </p:nvSpPr>
          <p:spPr bwMode="auto">
            <a:xfrm>
              <a:off x="2226" y="3696"/>
              <a:ext cx="510" cy="535"/>
            </a:xfrm>
            <a:custGeom>
              <a:avLst/>
              <a:gdLst>
                <a:gd name="T0" fmla="*/ 510 w 510"/>
                <a:gd name="T1" fmla="*/ 0 h 535"/>
                <a:gd name="T2" fmla="*/ 0 w 510"/>
                <a:gd name="T3" fmla="*/ 535 h 535"/>
                <a:gd name="T4" fmla="*/ 0 60000 65536"/>
                <a:gd name="T5" fmla="*/ 0 60000 65536"/>
                <a:gd name="T6" fmla="*/ 0 w 510"/>
                <a:gd name="T7" fmla="*/ 0 h 535"/>
                <a:gd name="T8" fmla="*/ 510 w 510"/>
                <a:gd name="T9" fmla="*/ 535 h 535"/>
              </a:gdLst>
              <a:ahLst/>
              <a:cxnLst>
                <a:cxn ang="T4">
                  <a:pos x="T0" y="T1"/>
                </a:cxn>
                <a:cxn ang="T5">
                  <a:pos x="T2" y="T3"/>
                </a:cxn>
              </a:cxnLst>
              <a:rect l="T6" t="T7" r="T8" b="T9"/>
              <a:pathLst>
                <a:path w="510" h="535">
                  <a:moveTo>
                    <a:pt x="510" y="0"/>
                  </a:moveTo>
                  <a:lnTo>
                    <a:pt x="0" y="535"/>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350"/>
            </a:p>
          </p:txBody>
        </p:sp>
        <p:sp>
          <p:nvSpPr>
            <p:cNvPr id="3090" name="AutoShape 10"/>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1" name="AutoShape 11"/>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2" name="AutoShape 12"/>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3" name="AutoShape 13"/>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4" name="AutoShape 14"/>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5" name="AutoShape 15"/>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6" name="AutoShape 16"/>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7" name="AutoShape 17"/>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8" name="AutoShape 18"/>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99" name="AutoShape 19"/>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0" name="AutoShape 20"/>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1" name="AutoShape 21"/>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2" name="AutoShape 22"/>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3" name="AutoShape 23"/>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4" name="AutoShape 24"/>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5" name="AutoShape 25"/>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6" name="AutoShape 26"/>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7" name="AutoShape 27"/>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8" name="AutoShape 28"/>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09" name="AutoShape 29"/>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10" name="AutoShape 30"/>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11" name="AutoShape 31"/>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112" name="AutoShape 32"/>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grpSp>
      <p:grpSp>
        <p:nvGrpSpPr>
          <p:cNvPr id="3" name="Group 33"/>
          <p:cNvGrpSpPr>
            <a:grpSpLocks/>
          </p:cNvGrpSpPr>
          <p:nvPr/>
        </p:nvGrpSpPr>
        <p:grpSpPr bwMode="auto">
          <a:xfrm>
            <a:off x="5086350" y="2000250"/>
            <a:ext cx="2286000" cy="1885950"/>
            <a:chOff x="3312" y="1584"/>
            <a:chExt cx="1920" cy="1584"/>
          </a:xfrm>
        </p:grpSpPr>
        <p:sp>
          <p:nvSpPr>
            <p:cNvPr id="3085" name="Line 34"/>
            <p:cNvSpPr>
              <a:spLocks noChangeShapeType="1"/>
            </p:cNvSpPr>
            <p:nvPr/>
          </p:nvSpPr>
          <p:spPr bwMode="auto">
            <a:xfrm flipH="1" flipV="1">
              <a:off x="3312" y="2736"/>
              <a:ext cx="144" cy="432"/>
            </a:xfrm>
            <a:prstGeom prst="line">
              <a:avLst/>
            </a:prstGeom>
            <a:noFill/>
            <a:ln w="25400">
              <a:solidFill>
                <a:srgbClr val="CC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86" name="AutoShape 35"/>
            <p:cNvSpPr>
              <a:spLocks noChangeArrowheads="1"/>
            </p:cNvSpPr>
            <p:nvPr/>
          </p:nvSpPr>
          <p:spPr bwMode="auto">
            <a:xfrm>
              <a:off x="3984" y="1584"/>
              <a:ext cx="1248" cy="672"/>
            </a:xfrm>
            <a:prstGeom prst="wedgeRectCallout">
              <a:avLst>
                <a:gd name="adj1" fmla="val -93509"/>
                <a:gd name="adj2" fmla="val 150894"/>
              </a:avLst>
            </a:prstGeom>
            <a:solidFill>
              <a:srgbClr val="00FFFF"/>
            </a:solidFill>
            <a:ln w="25400">
              <a:solidFill>
                <a:schemeClr val="tx1"/>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50000"/>
                </a:spcBef>
              </a:pPr>
              <a:r>
                <a:rPr lang="en-US" altLang="en-US" sz="1500" b="0">
                  <a:latin typeface="Tahoma" pitchFamily="34" charset="0"/>
                </a:rPr>
                <a:t>Inter-cluster distances are maximized</a:t>
              </a:r>
            </a:p>
          </p:txBody>
        </p:sp>
      </p:grpSp>
      <p:grpSp>
        <p:nvGrpSpPr>
          <p:cNvPr id="4" name="Group 36"/>
          <p:cNvGrpSpPr>
            <a:grpSpLocks/>
          </p:cNvGrpSpPr>
          <p:nvPr/>
        </p:nvGrpSpPr>
        <p:grpSpPr bwMode="auto">
          <a:xfrm>
            <a:off x="3314700" y="2743200"/>
            <a:ext cx="2457450" cy="1714500"/>
            <a:chOff x="1824" y="2208"/>
            <a:chExt cx="2064" cy="1440"/>
          </a:xfrm>
        </p:grpSpPr>
        <p:sp>
          <p:nvSpPr>
            <p:cNvPr id="3082" name="Oval 37"/>
            <p:cNvSpPr>
              <a:spLocks noChangeArrowheads="1"/>
            </p:cNvSpPr>
            <p:nvPr/>
          </p:nvSpPr>
          <p:spPr bwMode="auto">
            <a:xfrm>
              <a:off x="1824" y="2592"/>
              <a:ext cx="816" cy="720"/>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83" name="Oval 38"/>
            <p:cNvSpPr>
              <a:spLocks noChangeArrowheads="1"/>
            </p:cNvSpPr>
            <p:nvPr/>
          </p:nvSpPr>
          <p:spPr bwMode="auto">
            <a:xfrm>
              <a:off x="2928" y="2208"/>
              <a:ext cx="720" cy="624"/>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sp>
          <p:nvSpPr>
            <p:cNvPr id="3084" name="Oval 39"/>
            <p:cNvSpPr>
              <a:spLocks noChangeArrowheads="1"/>
            </p:cNvSpPr>
            <p:nvPr/>
          </p:nvSpPr>
          <p:spPr bwMode="auto">
            <a:xfrm>
              <a:off x="3216" y="3024"/>
              <a:ext cx="672" cy="624"/>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sz="1050"/>
            </a:p>
          </p:txBody>
        </p:sp>
      </p:grpSp>
      <p:grpSp>
        <p:nvGrpSpPr>
          <p:cNvPr id="5" name="Group 40"/>
          <p:cNvGrpSpPr>
            <a:grpSpLocks/>
          </p:cNvGrpSpPr>
          <p:nvPr/>
        </p:nvGrpSpPr>
        <p:grpSpPr bwMode="auto">
          <a:xfrm>
            <a:off x="2114550" y="2228850"/>
            <a:ext cx="1714500" cy="1257300"/>
            <a:chOff x="816" y="1776"/>
            <a:chExt cx="1440" cy="1056"/>
          </a:xfrm>
        </p:grpSpPr>
        <p:sp>
          <p:nvSpPr>
            <p:cNvPr id="3080" name="Line 41"/>
            <p:cNvSpPr>
              <a:spLocks noChangeShapeType="1"/>
            </p:cNvSpPr>
            <p:nvPr/>
          </p:nvSpPr>
          <p:spPr bwMode="auto">
            <a:xfrm flipV="1">
              <a:off x="2064" y="2736"/>
              <a:ext cx="192" cy="96"/>
            </a:xfrm>
            <a:prstGeom prst="line">
              <a:avLst/>
            </a:prstGeom>
            <a:noFill/>
            <a:ln w="25400">
              <a:solidFill>
                <a:srgbClr val="CC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81" name="AutoShape 42"/>
            <p:cNvSpPr>
              <a:spLocks noChangeArrowheads="1"/>
            </p:cNvSpPr>
            <p:nvPr/>
          </p:nvSpPr>
          <p:spPr bwMode="auto">
            <a:xfrm>
              <a:off x="816" y="1776"/>
              <a:ext cx="1248" cy="672"/>
            </a:xfrm>
            <a:prstGeom prst="wedgeRectCallout">
              <a:avLst>
                <a:gd name="adj1" fmla="val 56250"/>
                <a:gd name="adj2" fmla="val 92856"/>
              </a:avLst>
            </a:prstGeom>
            <a:solidFill>
              <a:srgbClr val="00FFFF"/>
            </a:solidFill>
            <a:ln w="25400">
              <a:solidFill>
                <a:schemeClr val="tx1"/>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50000"/>
                </a:spcBef>
              </a:pPr>
              <a:r>
                <a:rPr lang="en-US" altLang="en-US" sz="1500" b="0">
                  <a:latin typeface="Tahoma" pitchFamily="34" charset="0"/>
                </a:rPr>
                <a:t>Intra-cluster distances are minimized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4205" y="385953"/>
            <a:ext cx="1277620" cy="452120"/>
          </a:xfrm>
          <a:prstGeom prst="rect">
            <a:avLst/>
          </a:prstGeom>
        </p:spPr>
        <p:txBody>
          <a:bodyPr vert="horz" wrap="square" lIns="0" tIns="12065" rIns="0" bIns="0" rtlCol="0">
            <a:spAutoFit/>
          </a:bodyPr>
          <a:lstStyle/>
          <a:p>
            <a:pPr marL="12700">
              <a:lnSpc>
                <a:spcPct val="100000"/>
              </a:lnSpc>
              <a:spcBef>
                <a:spcPts val="95"/>
              </a:spcBef>
            </a:pPr>
            <a:r>
              <a:rPr spc="-5" dirty="0"/>
              <a:t>E</a:t>
            </a:r>
            <a:r>
              <a:rPr spc="-50" dirty="0"/>
              <a:t>x</a:t>
            </a:r>
            <a:r>
              <a:rPr spc="-5" dirty="0"/>
              <a:t>ample</a:t>
            </a:r>
          </a:p>
        </p:txBody>
      </p:sp>
      <p:sp>
        <p:nvSpPr>
          <p:cNvPr id="3" name="object 3"/>
          <p:cNvSpPr txBox="1"/>
          <p:nvPr/>
        </p:nvSpPr>
        <p:spPr>
          <a:xfrm>
            <a:off x="535940" y="1156563"/>
            <a:ext cx="7816215" cy="136715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Lets </a:t>
            </a:r>
            <a:r>
              <a:rPr sz="2000" spc="-15" dirty="0">
                <a:latin typeface="Carlito"/>
                <a:cs typeface="Carlito"/>
              </a:rPr>
              <a:t>illustrate </a:t>
            </a:r>
            <a:r>
              <a:rPr sz="2000" spc="-5" dirty="0">
                <a:latin typeface="Carlito"/>
                <a:cs typeface="Carlito"/>
              </a:rPr>
              <a:t>with </a:t>
            </a:r>
            <a:r>
              <a:rPr sz="2000" dirty="0">
                <a:latin typeface="Carlito"/>
                <a:cs typeface="Carlito"/>
              </a:rPr>
              <a:t>the help </a:t>
            </a:r>
            <a:r>
              <a:rPr sz="2000" spc="-5" dirty="0">
                <a:latin typeface="Carlito"/>
                <a:cs typeface="Carlito"/>
              </a:rPr>
              <a:t>of </a:t>
            </a:r>
            <a:r>
              <a:rPr sz="2000" dirty="0">
                <a:latin typeface="Carlito"/>
                <a:cs typeface="Carlito"/>
              </a:rPr>
              <a:t>an</a:t>
            </a:r>
            <a:r>
              <a:rPr sz="2000" spc="50" dirty="0">
                <a:latin typeface="Carlito"/>
                <a:cs typeface="Carlito"/>
              </a:rPr>
              <a:t> </a:t>
            </a:r>
            <a:r>
              <a:rPr sz="2000" spc="-10" dirty="0">
                <a:latin typeface="Carlito"/>
                <a:cs typeface="Carlito"/>
              </a:rPr>
              <a:t>example:</a:t>
            </a:r>
            <a:endParaRPr sz="2000">
              <a:latin typeface="Carlito"/>
              <a:cs typeface="Carlito"/>
            </a:endParaRPr>
          </a:p>
          <a:p>
            <a:pPr marL="355600" marR="5080" indent="-342900">
              <a:lnSpc>
                <a:spcPct val="100000"/>
              </a:lnSpc>
              <a:spcBef>
                <a:spcPts val="480"/>
              </a:spcBef>
              <a:buFont typeface="Arial"/>
              <a:buChar char="•"/>
              <a:tabLst>
                <a:tab pos="354965" algn="l"/>
                <a:tab pos="355600" algn="l"/>
              </a:tabLst>
            </a:pPr>
            <a:r>
              <a:rPr sz="2000" dirty="0">
                <a:latin typeface="Carlito"/>
                <a:cs typeface="Carlito"/>
              </a:rPr>
              <a:t>It is a plot </a:t>
            </a:r>
            <a:r>
              <a:rPr sz="2000" spc="-5" dirty="0">
                <a:latin typeface="Carlito"/>
                <a:cs typeface="Carlito"/>
              </a:rPr>
              <a:t>of </a:t>
            </a:r>
            <a:r>
              <a:rPr sz="2000" spc="-10" dirty="0">
                <a:latin typeface="Carlito"/>
                <a:cs typeface="Carlito"/>
              </a:rPr>
              <a:t>twelve </a:t>
            </a:r>
            <a:r>
              <a:rPr sz="2000" spc="-5" dirty="0">
                <a:latin typeface="Carlito"/>
                <a:cs typeface="Carlito"/>
              </a:rPr>
              <a:t>objects, on </a:t>
            </a:r>
            <a:r>
              <a:rPr sz="2000" dirty="0">
                <a:latin typeface="Carlito"/>
                <a:cs typeface="Carlito"/>
              </a:rPr>
              <a:t>which </a:t>
            </a:r>
            <a:r>
              <a:rPr sz="2000" spc="-10" dirty="0">
                <a:latin typeface="Carlito"/>
                <a:cs typeface="Carlito"/>
              </a:rPr>
              <a:t>two </a:t>
            </a:r>
            <a:r>
              <a:rPr sz="2000" spc="-5" dirty="0">
                <a:latin typeface="Carlito"/>
                <a:cs typeface="Carlito"/>
              </a:rPr>
              <a:t>variables </a:t>
            </a:r>
            <a:r>
              <a:rPr sz="2000" spc="-15" dirty="0">
                <a:latin typeface="Carlito"/>
                <a:cs typeface="Carlito"/>
              </a:rPr>
              <a:t>were </a:t>
            </a:r>
            <a:r>
              <a:rPr sz="2000" spc="-5" dirty="0">
                <a:latin typeface="Carlito"/>
                <a:cs typeface="Carlito"/>
              </a:rPr>
              <a:t>measured. </a:t>
            </a:r>
            <a:r>
              <a:rPr sz="2000" spc="-10" dirty="0">
                <a:latin typeface="Carlito"/>
                <a:cs typeface="Carlito"/>
              </a:rPr>
              <a:t>For  </a:t>
            </a:r>
            <a:r>
              <a:rPr sz="2000" spc="-5" dirty="0">
                <a:latin typeface="Carlito"/>
                <a:cs typeface="Carlito"/>
              </a:rPr>
              <a:t>instance, </a:t>
            </a:r>
            <a:r>
              <a:rPr sz="2000" dirty="0">
                <a:latin typeface="Carlito"/>
                <a:cs typeface="Carlito"/>
              </a:rPr>
              <a:t>the </a:t>
            </a:r>
            <a:r>
              <a:rPr sz="2000" spc="-5" dirty="0">
                <a:latin typeface="Carlito"/>
                <a:cs typeface="Carlito"/>
              </a:rPr>
              <a:t>weight of </a:t>
            </a:r>
            <a:r>
              <a:rPr sz="2000" dirty="0">
                <a:latin typeface="Carlito"/>
                <a:cs typeface="Carlito"/>
              </a:rPr>
              <a:t>an </a:t>
            </a:r>
            <a:r>
              <a:rPr sz="2000" spc="-5" dirty="0">
                <a:latin typeface="Carlito"/>
                <a:cs typeface="Carlito"/>
              </a:rPr>
              <a:t>object might </a:t>
            </a:r>
            <a:r>
              <a:rPr sz="2000" dirty="0">
                <a:latin typeface="Carlito"/>
                <a:cs typeface="Carlito"/>
              </a:rPr>
              <a:t>be </a:t>
            </a:r>
            <a:r>
              <a:rPr sz="2000" spc="-10" dirty="0">
                <a:latin typeface="Carlito"/>
                <a:cs typeface="Carlito"/>
              </a:rPr>
              <a:t>displayed </a:t>
            </a:r>
            <a:r>
              <a:rPr sz="2000" spc="-5" dirty="0">
                <a:latin typeface="Carlito"/>
                <a:cs typeface="Carlito"/>
              </a:rPr>
              <a:t>on </a:t>
            </a:r>
            <a:r>
              <a:rPr sz="2000" dirty="0">
                <a:latin typeface="Carlito"/>
                <a:cs typeface="Carlito"/>
              </a:rPr>
              <a:t>the </a:t>
            </a:r>
            <a:r>
              <a:rPr sz="2000" spc="-5" dirty="0">
                <a:latin typeface="Carlito"/>
                <a:cs typeface="Carlito"/>
              </a:rPr>
              <a:t>vertical </a:t>
            </a:r>
            <a:r>
              <a:rPr sz="2000" spc="-10" dirty="0">
                <a:latin typeface="Carlito"/>
                <a:cs typeface="Carlito"/>
              </a:rPr>
              <a:t>axis  </a:t>
            </a:r>
            <a:r>
              <a:rPr sz="2000" dirty="0">
                <a:latin typeface="Carlito"/>
                <a:cs typeface="Carlito"/>
              </a:rPr>
              <a:t>and its </a:t>
            </a:r>
            <a:r>
              <a:rPr sz="2000" spc="-5" dirty="0">
                <a:latin typeface="Carlito"/>
                <a:cs typeface="Carlito"/>
              </a:rPr>
              <a:t>height on </a:t>
            </a:r>
            <a:r>
              <a:rPr sz="2000" dirty="0">
                <a:latin typeface="Carlito"/>
                <a:cs typeface="Carlito"/>
              </a:rPr>
              <a:t>the</a:t>
            </a:r>
            <a:r>
              <a:rPr sz="2000" spc="-30" dirty="0">
                <a:latin typeface="Carlito"/>
                <a:cs typeface="Carlito"/>
              </a:rPr>
              <a:t> </a:t>
            </a:r>
            <a:r>
              <a:rPr sz="2000" dirty="0">
                <a:latin typeface="Carlito"/>
                <a:cs typeface="Carlito"/>
              </a:rPr>
              <a:t>h</a:t>
            </a:r>
            <a:endParaRPr sz="2000">
              <a:latin typeface="Carlito"/>
              <a:cs typeface="Carlito"/>
            </a:endParaRPr>
          </a:p>
        </p:txBody>
      </p:sp>
      <p:sp>
        <p:nvSpPr>
          <p:cNvPr id="4" name="object 4"/>
          <p:cNvSpPr txBox="1"/>
          <p:nvPr/>
        </p:nvSpPr>
        <p:spPr>
          <a:xfrm>
            <a:off x="3212686" y="2268854"/>
            <a:ext cx="1354455" cy="254635"/>
          </a:xfrm>
          <a:prstGeom prst="rect">
            <a:avLst/>
          </a:prstGeom>
        </p:spPr>
        <p:txBody>
          <a:bodyPr vert="horz" wrap="square" lIns="0" tIns="0" rIns="0" bIns="0" rtlCol="0">
            <a:spAutoFit/>
          </a:bodyPr>
          <a:lstStyle/>
          <a:p>
            <a:pPr>
              <a:lnSpc>
                <a:spcPts val="1905"/>
              </a:lnSpc>
            </a:pPr>
            <a:r>
              <a:rPr sz="2000" spc="-15" dirty="0">
                <a:latin typeface="Carlito"/>
                <a:cs typeface="Carlito"/>
              </a:rPr>
              <a:t>orizontal</a:t>
            </a:r>
            <a:r>
              <a:rPr sz="2000" spc="-65" dirty="0">
                <a:latin typeface="Carlito"/>
                <a:cs typeface="Carlito"/>
              </a:rPr>
              <a:t> </a:t>
            </a:r>
            <a:r>
              <a:rPr sz="2000" spc="-5" dirty="0">
                <a:latin typeface="Carlito"/>
                <a:cs typeface="Carlito"/>
              </a:rPr>
              <a:t>one</a:t>
            </a:r>
            <a:endParaRPr sz="2000">
              <a:latin typeface="Carlito"/>
              <a:cs typeface="Carlito"/>
            </a:endParaRPr>
          </a:p>
        </p:txBody>
      </p:sp>
      <p:grpSp>
        <p:nvGrpSpPr>
          <p:cNvPr id="5" name="object 5"/>
          <p:cNvGrpSpPr/>
          <p:nvPr/>
        </p:nvGrpSpPr>
        <p:grpSpPr>
          <a:xfrm>
            <a:off x="3208020" y="2162555"/>
            <a:ext cx="3217545" cy="2230120"/>
            <a:chOff x="3208020" y="2162555"/>
            <a:chExt cx="3217545" cy="2230120"/>
          </a:xfrm>
        </p:grpSpPr>
        <p:sp>
          <p:nvSpPr>
            <p:cNvPr id="6" name="object 6"/>
            <p:cNvSpPr/>
            <p:nvPr/>
          </p:nvSpPr>
          <p:spPr>
            <a:xfrm>
              <a:off x="3208020" y="2162555"/>
              <a:ext cx="3217163" cy="222961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850386" y="2341625"/>
              <a:ext cx="422275" cy="612775"/>
            </a:xfrm>
            <a:custGeom>
              <a:avLst/>
              <a:gdLst/>
              <a:ahLst/>
              <a:cxnLst/>
              <a:rect l="l" t="t" r="r" b="b"/>
              <a:pathLst>
                <a:path w="422275" h="612775">
                  <a:moveTo>
                    <a:pt x="0" y="612648"/>
                  </a:moveTo>
                  <a:lnTo>
                    <a:pt x="422148" y="612648"/>
                  </a:lnTo>
                  <a:lnTo>
                    <a:pt x="422148" y="0"/>
                  </a:lnTo>
                  <a:lnTo>
                    <a:pt x="0" y="0"/>
                  </a:lnTo>
                  <a:lnTo>
                    <a:pt x="0" y="612648"/>
                  </a:lnTo>
                  <a:close/>
                </a:path>
              </a:pathLst>
            </a:custGeom>
            <a:ln w="25908">
              <a:solidFill>
                <a:srgbClr val="B66C30"/>
              </a:solidFill>
            </a:ln>
          </p:spPr>
          <p:txBody>
            <a:bodyPr wrap="square" lIns="0" tIns="0" rIns="0" bIns="0" rtlCol="0"/>
            <a:lstStyle/>
            <a:p>
              <a:endParaRPr/>
            </a:p>
          </p:txBody>
        </p:sp>
        <p:sp>
          <p:nvSpPr>
            <p:cNvPr id="8" name="object 8"/>
            <p:cNvSpPr/>
            <p:nvPr/>
          </p:nvSpPr>
          <p:spPr>
            <a:xfrm>
              <a:off x="3633978" y="3073145"/>
              <a:ext cx="228600" cy="463550"/>
            </a:xfrm>
            <a:custGeom>
              <a:avLst/>
              <a:gdLst/>
              <a:ahLst/>
              <a:cxnLst/>
              <a:rect l="l" t="t" r="r" b="b"/>
              <a:pathLst>
                <a:path w="228600" h="463550">
                  <a:moveTo>
                    <a:pt x="0" y="463296"/>
                  </a:moveTo>
                  <a:lnTo>
                    <a:pt x="228600" y="463296"/>
                  </a:lnTo>
                  <a:lnTo>
                    <a:pt x="228600" y="0"/>
                  </a:lnTo>
                  <a:lnTo>
                    <a:pt x="0" y="0"/>
                  </a:lnTo>
                  <a:lnTo>
                    <a:pt x="0" y="463296"/>
                  </a:lnTo>
                  <a:close/>
                </a:path>
              </a:pathLst>
            </a:custGeom>
            <a:ln w="25908">
              <a:solidFill>
                <a:srgbClr val="70883E"/>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4205" y="385953"/>
            <a:ext cx="1277620" cy="452120"/>
          </a:xfrm>
          <a:prstGeom prst="rect">
            <a:avLst/>
          </a:prstGeom>
        </p:spPr>
        <p:txBody>
          <a:bodyPr vert="horz" wrap="square" lIns="0" tIns="12065" rIns="0" bIns="0" rtlCol="0">
            <a:spAutoFit/>
          </a:bodyPr>
          <a:lstStyle/>
          <a:p>
            <a:pPr marL="12700">
              <a:lnSpc>
                <a:spcPct val="100000"/>
              </a:lnSpc>
              <a:spcBef>
                <a:spcPts val="95"/>
              </a:spcBef>
            </a:pPr>
            <a:r>
              <a:rPr spc="-5" dirty="0"/>
              <a:t>E</a:t>
            </a:r>
            <a:r>
              <a:rPr spc="-50" dirty="0"/>
              <a:t>x</a:t>
            </a:r>
            <a:r>
              <a:rPr spc="-5" dirty="0"/>
              <a:t>ample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
        <p:nvSpPr>
          <p:cNvPr id="3" name="object 3"/>
          <p:cNvSpPr txBox="1"/>
          <p:nvPr/>
        </p:nvSpPr>
        <p:spPr>
          <a:xfrm>
            <a:off x="535940" y="1483613"/>
            <a:ext cx="8035290" cy="2151380"/>
          </a:xfrm>
          <a:prstGeom prst="rect">
            <a:avLst/>
          </a:prstGeom>
        </p:spPr>
        <p:txBody>
          <a:bodyPr vert="horz" wrap="square" lIns="0" tIns="13335" rIns="0" bIns="0" rtlCol="0">
            <a:spAutoFit/>
          </a:bodyPr>
          <a:lstStyle/>
          <a:p>
            <a:pPr marL="227329" indent="-215265">
              <a:lnSpc>
                <a:spcPct val="100000"/>
              </a:lnSpc>
              <a:spcBef>
                <a:spcPts val="105"/>
              </a:spcBef>
              <a:buFont typeface="Arial"/>
              <a:buChar char="•"/>
              <a:tabLst>
                <a:tab pos="227329" algn="l"/>
                <a:tab pos="227965" algn="l"/>
              </a:tabLst>
            </a:pPr>
            <a:r>
              <a:rPr sz="1700" spc="-5" dirty="0">
                <a:latin typeface="Carlito"/>
                <a:cs typeface="Carlito"/>
              </a:rPr>
              <a:t>Because </a:t>
            </a:r>
            <a:r>
              <a:rPr sz="1700" dirty="0">
                <a:latin typeface="Carlito"/>
                <a:cs typeface="Carlito"/>
              </a:rPr>
              <a:t>this </a:t>
            </a:r>
            <a:r>
              <a:rPr sz="1700" spc="-10" dirty="0">
                <a:latin typeface="Carlito"/>
                <a:cs typeface="Carlito"/>
              </a:rPr>
              <a:t>example </a:t>
            </a:r>
            <a:r>
              <a:rPr sz="1700" spc="-5" dirty="0">
                <a:latin typeface="Carlito"/>
                <a:cs typeface="Carlito"/>
              </a:rPr>
              <a:t>contains only two variables, we can </a:t>
            </a:r>
            <a:r>
              <a:rPr sz="1700" spc="-15" dirty="0">
                <a:latin typeface="Carlito"/>
                <a:cs typeface="Carlito"/>
              </a:rPr>
              <a:t>investigate </a:t>
            </a:r>
            <a:r>
              <a:rPr sz="1700" dirty="0">
                <a:latin typeface="Carlito"/>
                <a:cs typeface="Carlito"/>
              </a:rPr>
              <a:t>it </a:t>
            </a:r>
            <a:r>
              <a:rPr sz="1700" spc="-5" dirty="0">
                <a:latin typeface="Carlito"/>
                <a:cs typeface="Carlito"/>
              </a:rPr>
              <a:t>by merely</a:t>
            </a:r>
            <a:r>
              <a:rPr sz="1700" spc="-20" dirty="0">
                <a:latin typeface="Carlito"/>
                <a:cs typeface="Carlito"/>
              </a:rPr>
              <a:t> </a:t>
            </a:r>
            <a:r>
              <a:rPr sz="1700" dirty="0">
                <a:latin typeface="Carlito"/>
                <a:cs typeface="Carlito"/>
              </a:rPr>
              <a:t>looking</a:t>
            </a:r>
            <a:endParaRPr sz="1700">
              <a:latin typeface="Carlito"/>
              <a:cs typeface="Carlito"/>
            </a:endParaRPr>
          </a:p>
          <a:p>
            <a:pPr>
              <a:lnSpc>
                <a:spcPct val="100000"/>
              </a:lnSpc>
              <a:spcBef>
                <a:spcPts val="45"/>
              </a:spcBef>
              <a:buFont typeface="Arial"/>
              <a:buChar char="•"/>
            </a:pPr>
            <a:endParaRPr sz="2300">
              <a:latin typeface="Carlito"/>
              <a:cs typeface="Carlito"/>
            </a:endParaRPr>
          </a:p>
          <a:p>
            <a:pPr marL="227329">
              <a:lnSpc>
                <a:spcPct val="100000"/>
              </a:lnSpc>
              <a:spcBef>
                <a:spcPts val="5"/>
              </a:spcBef>
            </a:pPr>
            <a:r>
              <a:rPr sz="1700" spc="-10" dirty="0">
                <a:latin typeface="Carlito"/>
                <a:cs typeface="Carlito"/>
              </a:rPr>
              <a:t>at </a:t>
            </a:r>
            <a:r>
              <a:rPr sz="1700" dirty="0">
                <a:latin typeface="Carlito"/>
                <a:cs typeface="Carlito"/>
              </a:rPr>
              <a:t>the</a:t>
            </a:r>
            <a:r>
              <a:rPr sz="1700" spc="-5" dirty="0">
                <a:latin typeface="Carlito"/>
                <a:cs typeface="Carlito"/>
              </a:rPr>
              <a:t> </a:t>
            </a:r>
            <a:r>
              <a:rPr sz="1700" dirty="0">
                <a:latin typeface="Carlito"/>
                <a:cs typeface="Carlito"/>
              </a:rPr>
              <a:t>plot</a:t>
            </a:r>
            <a:endParaRPr sz="1700">
              <a:latin typeface="Carlito"/>
              <a:cs typeface="Carlito"/>
            </a:endParaRPr>
          </a:p>
          <a:p>
            <a:pPr>
              <a:lnSpc>
                <a:spcPct val="100000"/>
              </a:lnSpc>
              <a:spcBef>
                <a:spcPts val="45"/>
              </a:spcBef>
            </a:pPr>
            <a:endParaRPr sz="2300">
              <a:latin typeface="Carlito"/>
              <a:cs typeface="Carlito"/>
            </a:endParaRPr>
          </a:p>
          <a:p>
            <a:pPr marL="227329" indent="-215265">
              <a:lnSpc>
                <a:spcPct val="100000"/>
              </a:lnSpc>
              <a:buFont typeface="Arial"/>
              <a:buChar char="•"/>
              <a:tabLst>
                <a:tab pos="227329" algn="l"/>
                <a:tab pos="227965" algn="l"/>
              </a:tabLst>
            </a:pPr>
            <a:r>
              <a:rPr sz="1700" dirty="0">
                <a:latin typeface="Carlito"/>
                <a:cs typeface="Carlito"/>
              </a:rPr>
              <a:t>In this small </a:t>
            </a:r>
            <a:r>
              <a:rPr sz="1700" spc="-10" dirty="0">
                <a:latin typeface="Carlito"/>
                <a:cs typeface="Carlito"/>
              </a:rPr>
              <a:t>data </a:t>
            </a:r>
            <a:r>
              <a:rPr sz="1700" spc="-5" dirty="0">
                <a:latin typeface="Carlito"/>
                <a:cs typeface="Carlito"/>
              </a:rPr>
              <a:t>set there are </a:t>
            </a:r>
            <a:r>
              <a:rPr sz="1700" dirty="0">
                <a:latin typeface="Carlito"/>
                <a:cs typeface="Carlito"/>
              </a:rPr>
              <a:t>clearly </a:t>
            </a:r>
            <a:r>
              <a:rPr sz="1700" spc="-5" dirty="0">
                <a:latin typeface="Carlito"/>
                <a:cs typeface="Carlito"/>
              </a:rPr>
              <a:t>two distinct groups of</a:t>
            </a:r>
            <a:r>
              <a:rPr sz="1700" spc="-160" dirty="0">
                <a:latin typeface="Carlito"/>
                <a:cs typeface="Carlito"/>
              </a:rPr>
              <a:t> </a:t>
            </a:r>
            <a:r>
              <a:rPr sz="1700" spc="-5" dirty="0">
                <a:latin typeface="Carlito"/>
                <a:cs typeface="Carlito"/>
              </a:rPr>
              <a:t>objects</a:t>
            </a:r>
            <a:endParaRPr sz="1700">
              <a:latin typeface="Carlito"/>
              <a:cs typeface="Carlito"/>
            </a:endParaRPr>
          </a:p>
          <a:p>
            <a:pPr>
              <a:lnSpc>
                <a:spcPct val="100000"/>
              </a:lnSpc>
              <a:spcBef>
                <a:spcPts val="50"/>
              </a:spcBef>
              <a:buFont typeface="Arial"/>
              <a:buChar char="•"/>
            </a:pPr>
            <a:endParaRPr sz="2300">
              <a:latin typeface="Carlito"/>
              <a:cs typeface="Carlito"/>
            </a:endParaRPr>
          </a:p>
          <a:p>
            <a:pPr marL="227329" indent="-215265">
              <a:lnSpc>
                <a:spcPct val="100000"/>
              </a:lnSpc>
              <a:buFont typeface="Arial"/>
              <a:buChar char="•"/>
              <a:tabLst>
                <a:tab pos="227329" algn="l"/>
                <a:tab pos="227965" algn="l"/>
              </a:tabLst>
            </a:pPr>
            <a:r>
              <a:rPr sz="1700" spc="-5" dirty="0">
                <a:latin typeface="Carlito"/>
                <a:cs typeface="Carlito"/>
              </a:rPr>
              <a:t>Such groups are called </a:t>
            </a:r>
            <a:r>
              <a:rPr sz="1700" spc="-10" dirty="0">
                <a:latin typeface="Carlito"/>
                <a:cs typeface="Carlito"/>
              </a:rPr>
              <a:t>clusters, </a:t>
            </a:r>
            <a:r>
              <a:rPr sz="1700" dirty="0">
                <a:latin typeface="Carlito"/>
                <a:cs typeface="Carlito"/>
              </a:rPr>
              <a:t>and </a:t>
            </a:r>
            <a:r>
              <a:rPr sz="1700" spc="-5" dirty="0">
                <a:latin typeface="Carlito"/>
                <a:cs typeface="Carlito"/>
              </a:rPr>
              <a:t>to discover </a:t>
            </a:r>
            <a:r>
              <a:rPr sz="1700" dirty="0">
                <a:latin typeface="Carlito"/>
                <a:cs typeface="Carlito"/>
              </a:rPr>
              <a:t>them is the aim </a:t>
            </a:r>
            <a:r>
              <a:rPr sz="1700" spc="-5" dirty="0">
                <a:latin typeface="Carlito"/>
                <a:cs typeface="Carlito"/>
              </a:rPr>
              <a:t>of cluster</a:t>
            </a:r>
            <a:r>
              <a:rPr sz="1700" spc="-165" dirty="0">
                <a:latin typeface="Carlito"/>
                <a:cs typeface="Carlito"/>
              </a:rPr>
              <a:t> </a:t>
            </a:r>
            <a:r>
              <a:rPr sz="1700" spc="-5" dirty="0">
                <a:latin typeface="Carlito"/>
                <a:cs typeface="Carlito"/>
              </a:rPr>
              <a:t>analysis</a:t>
            </a:r>
            <a:endParaRPr sz="170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4254" y="445389"/>
            <a:ext cx="3557270" cy="345440"/>
          </a:xfrm>
          <a:prstGeom prst="rect">
            <a:avLst/>
          </a:prstGeom>
        </p:spPr>
        <p:txBody>
          <a:bodyPr vert="horz" wrap="square" lIns="0" tIns="12700" rIns="0" bIns="0" rtlCol="0">
            <a:spAutoFit/>
          </a:bodyPr>
          <a:lstStyle/>
          <a:p>
            <a:pPr marL="12700">
              <a:lnSpc>
                <a:spcPct val="100000"/>
              </a:lnSpc>
              <a:spcBef>
                <a:spcPts val="100"/>
              </a:spcBef>
            </a:pPr>
            <a:r>
              <a:rPr sz="2100" b="0" spc="-10" dirty="0">
                <a:solidFill>
                  <a:srgbClr val="000000"/>
                </a:solidFill>
                <a:latin typeface="Carlito"/>
                <a:cs typeface="Carlito"/>
              </a:rPr>
              <a:t>Cluster analysis</a:t>
            </a:r>
            <a:endParaRPr sz="2100" dirty="0">
              <a:latin typeface="Carlito"/>
              <a:cs typeface="Carlito"/>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9</a:t>
            </a:fld>
            <a:endParaRPr dirty="0"/>
          </a:p>
        </p:txBody>
      </p:sp>
      <p:sp>
        <p:nvSpPr>
          <p:cNvPr id="3" name="object 3"/>
          <p:cNvSpPr txBox="1"/>
          <p:nvPr/>
        </p:nvSpPr>
        <p:spPr>
          <a:xfrm>
            <a:off x="623416" y="1438402"/>
            <a:ext cx="6920383" cy="1222898"/>
          </a:xfrm>
          <a:prstGeom prst="rect">
            <a:avLst/>
          </a:prstGeom>
        </p:spPr>
        <p:txBody>
          <a:bodyPr vert="horz" wrap="square" lIns="0" tIns="58419" rIns="0" bIns="0" rtlCol="0">
            <a:spAutoFit/>
          </a:bodyPr>
          <a:lstStyle/>
          <a:p>
            <a:pPr marL="354965" marR="5080" indent="-342900" algn="just">
              <a:lnSpc>
                <a:spcPct val="80000"/>
              </a:lnSpc>
              <a:spcBef>
                <a:spcPts val="459"/>
              </a:spcBef>
              <a:buFont typeface="Arial"/>
              <a:buChar char="•"/>
              <a:tabLst>
                <a:tab pos="354965" algn="l"/>
                <a:tab pos="355600" algn="l"/>
              </a:tabLst>
            </a:pPr>
            <a:r>
              <a:rPr sz="1500" spc="-5" dirty="0">
                <a:latin typeface="Carlito"/>
                <a:cs typeface="Carlito"/>
              </a:rPr>
              <a:t>Cluster Analysis </a:t>
            </a:r>
            <a:r>
              <a:rPr sz="1500" dirty="0">
                <a:latin typeface="Carlito"/>
                <a:cs typeface="Carlito"/>
              </a:rPr>
              <a:t>is an </a:t>
            </a:r>
            <a:r>
              <a:rPr sz="1500" spc="-5" dirty="0">
                <a:latin typeface="Carlito"/>
                <a:cs typeface="Carlito"/>
              </a:rPr>
              <a:t>unsupervised  classification technique </a:t>
            </a:r>
            <a:r>
              <a:rPr sz="1500" dirty="0">
                <a:latin typeface="Carlito"/>
                <a:cs typeface="Carlito"/>
              </a:rPr>
              <a:t>in the </a:t>
            </a:r>
            <a:r>
              <a:rPr sz="1500" spc="-5" dirty="0">
                <a:latin typeface="Carlito"/>
                <a:cs typeface="Carlito"/>
              </a:rPr>
              <a:t>sense that </a:t>
            </a:r>
            <a:r>
              <a:rPr sz="1500" dirty="0">
                <a:latin typeface="Carlito"/>
                <a:cs typeface="Carlito"/>
              </a:rPr>
              <a:t>it is  applied </a:t>
            </a:r>
            <a:r>
              <a:rPr sz="1500" spc="-10" dirty="0">
                <a:latin typeface="Carlito"/>
                <a:cs typeface="Carlito"/>
              </a:rPr>
              <a:t>to </a:t>
            </a:r>
            <a:r>
              <a:rPr sz="1500" dirty="0">
                <a:latin typeface="Carlito"/>
                <a:cs typeface="Carlito"/>
              </a:rPr>
              <a:t>a </a:t>
            </a:r>
            <a:r>
              <a:rPr sz="1500" spc="-10" dirty="0">
                <a:latin typeface="Carlito"/>
                <a:cs typeface="Carlito"/>
              </a:rPr>
              <a:t>dataset where patterns want to  </a:t>
            </a:r>
            <a:r>
              <a:rPr sz="1500" dirty="0">
                <a:latin typeface="Carlito"/>
                <a:cs typeface="Carlito"/>
              </a:rPr>
              <a:t>be </a:t>
            </a:r>
            <a:r>
              <a:rPr sz="1500" spc="-10" dirty="0">
                <a:latin typeface="Carlito"/>
                <a:cs typeface="Carlito"/>
              </a:rPr>
              <a:t>discovered </a:t>
            </a:r>
            <a:r>
              <a:rPr sz="1500" spc="-5" dirty="0">
                <a:latin typeface="Carlito"/>
                <a:cs typeface="Carlito"/>
              </a:rPr>
              <a:t>(i.e. </a:t>
            </a:r>
            <a:r>
              <a:rPr sz="1500" spc="-10" dirty="0">
                <a:latin typeface="Carlito"/>
                <a:cs typeface="Carlito"/>
              </a:rPr>
              <a:t>groups </a:t>
            </a:r>
            <a:r>
              <a:rPr sz="1500" spc="-5" dirty="0">
                <a:latin typeface="Carlito"/>
                <a:cs typeface="Carlito"/>
              </a:rPr>
              <a:t>of </a:t>
            </a:r>
            <a:r>
              <a:rPr sz="1500" dirty="0">
                <a:latin typeface="Carlito"/>
                <a:cs typeface="Carlito"/>
              </a:rPr>
              <a:t>individuals </a:t>
            </a:r>
            <a:r>
              <a:rPr sz="1500" spc="-5" dirty="0">
                <a:latin typeface="Carlito"/>
                <a:cs typeface="Carlito"/>
              </a:rPr>
              <a:t>or  variables </a:t>
            </a:r>
            <a:r>
              <a:rPr sz="1500" spc="-10" dirty="0">
                <a:latin typeface="Carlito"/>
                <a:cs typeface="Carlito"/>
              </a:rPr>
              <a:t>want to </a:t>
            </a:r>
            <a:r>
              <a:rPr sz="1500" dirty="0">
                <a:latin typeface="Carlito"/>
                <a:cs typeface="Carlito"/>
              </a:rPr>
              <a:t>be</a:t>
            </a:r>
            <a:r>
              <a:rPr sz="1500" spc="-20" dirty="0">
                <a:latin typeface="Carlito"/>
                <a:cs typeface="Carlito"/>
              </a:rPr>
              <a:t> </a:t>
            </a:r>
            <a:r>
              <a:rPr sz="1500" spc="-10" dirty="0">
                <a:latin typeface="Carlito"/>
                <a:cs typeface="Carlito"/>
              </a:rPr>
              <a:t>found)</a:t>
            </a:r>
            <a:endParaRPr sz="1500" dirty="0">
              <a:latin typeface="Carlito"/>
              <a:cs typeface="Carlito"/>
            </a:endParaRPr>
          </a:p>
          <a:p>
            <a:pPr marL="354965" marR="50165" indent="-342900" algn="just">
              <a:lnSpc>
                <a:spcPct val="80000"/>
              </a:lnSpc>
              <a:spcBef>
                <a:spcPts val="360"/>
              </a:spcBef>
              <a:buFont typeface="Arial"/>
              <a:buChar char="•"/>
              <a:tabLst>
                <a:tab pos="354965" algn="l"/>
                <a:tab pos="355600" algn="l"/>
              </a:tabLst>
            </a:pPr>
            <a:r>
              <a:rPr sz="1500" dirty="0">
                <a:latin typeface="Carlito"/>
                <a:cs typeface="Carlito"/>
              </a:rPr>
              <a:t>No prior </a:t>
            </a:r>
            <a:r>
              <a:rPr sz="1500" spc="-5" dirty="0">
                <a:latin typeface="Carlito"/>
                <a:cs typeface="Carlito"/>
              </a:rPr>
              <a:t>knowledge </a:t>
            </a:r>
            <a:r>
              <a:rPr sz="1500" dirty="0">
                <a:latin typeface="Carlito"/>
                <a:cs typeface="Carlito"/>
              </a:rPr>
              <a:t>is </a:t>
            </a:r>
            <a:r>
              <a:rPr sz="1500" spc="-5" dirty="0">
                <a:latin typeface="Carlito"/>
                <a:cs typeface="Carlito"/>
              </a:rPr>
              <a:t>needed </a:t>
            </a:r>
            <a:r>
              <a:rPr sz="1500" spc="-15" dirty="0">
                <a:latin typeface="Carlito"/>
                <a:cs typeface="Carlito"/>
              </a:rPr>
              <a:t>for </a:t>
            </a:r>
            <a:r>
              <a:rPr sz="1500" dirty="0">
                <a:latin typeface="Carlito"/>
                <a:cs typeface="Carlito"/>
              </a:rPr>
              <a:t>this  </a:t>
            </a:r>
            <a:r>
              <a:rPr sz="1500" spc="-5" dirty="0">
                <a:latin typeface="Carlito"/>
                <a:cs typeface="Carlito"/>
              </a:rPr>
              <a:t>grouping, </a:t>
            </a:r>
            <a:r>
              <a:rPr sz="1500" dirty="0">
                <a:latin typeface="Carlito"/>
                <a:cs typeface="Carlito"/>
              </a:rPr>
              <a:t>and it is </a:t>
            </a:r>
            <a:r>
              <a:rPr sz="1500" spc="-5" dirty="0">
                <a:latin typeface="Carlito"/>
                <a:cs typeface="Carlito"/>
              </a:rPr>
              <a:t>sensitive </a:t>
            </a:r>
            <a:r>
              <a:rPr sz="1500" spc="-10" dirty="0">
                <a:latin typeface="Carlito"/>
                <a:cs typeface="Carlito"/>
              </a:rPr>
              <a:t>to </a:t>
            </a:r>
            <a:r>
              <a:rPr sz="1500" spc="-15" dirty="0">
                <a:latin typeface="Carlito"/>
                <a:cs typeface="Carlito"/>
              </a:rPr>
              <a:t>several  </a:t>
            </a:r>
            <a:r>
              <a:rPr sz="1500" dirty="0">
                <a:latin typeface="Carlito"/>
                <a:cs typeface="Carlito"/>
              </a:rPr>
              <a:t>decisions </a:t>
            </a:r>
            <a:r>
              <a:rPr sz="1500" spc="-5" dirty="0">
                <a:latin typeface="Carlito"/>
                <a:cs typeface="Carlito"/>
              </a:rPr>
              <a:t>that </a:t>
            </a:r>
            <a:r>
              <a:rPr sz="1500" spc="-15" dirty="0">
                <a:latin typeface="Carlito"/>
                <a:cs typeface="Carlito"/>
              </a:rPr>
              <a:t>have </a:t>
            </a:r>
            <a:r>
              <a:rPr sz="1500" spc="-10" dirty="0">
                <a:latin typeface="Carlito"/>
                <a:cs typeface="Carlito"/>
              </a:rPr>
              <a:t>to </a:t>
            </a:r>
            <a:r>
              <a:rPr sz="1500" dirty="0">
                <a:latin typeface="Carlito"/>
                <a:cs typeface="Carlito"/>
              </a:rPr>
              <a:t>be </a:t>
            </a:r>
            <a:r>
              <a:rPr sz="1500" spc="-15" dirty="0">
                <a:latin typeface="Carlito"/>
                <a:cs typeface="Carlito"/>
              </a:rPr>
              <a:t>taken  </a:t>
            </a:r>
            <a:r>
              <a:rPr sz="1500" spc="-5" dirty="0">
                <a:latin typeface="Carlito"/>
                <a:cs typeface="Carlito"/>
              </a:rPr>
              <a:t>(similarity/dissimilarity measures, clustering  method,...)</a:t>
            </a:r>
            <a:endParaRPr sz="1500" dirty="0">
              <a:latin typeface="Carlito"/>
              <a:cs typeface="Carl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105" y="385953"/>
            <a:ext cx="5939790" cy="452120"/>
          </a:xfrm>
          <a:prstGeom prst="rect">
            <a:avLst/>
          </a:prstGeom>
        </p:spPr>
        <p:txBody>
          <a:bodyPr vert="horz" wrap="square" lIns="0" tIns="12065" rIns="0" bIns="0" rtlCol="0">
            <a:spAutoFit/>
          </a:bodyPr>
          <a:lstStyle/>
          <a:p>
            <a:pPr marL="12700">
              <a:lnSpc>
                <a:spcPct val="100000"/>
              </a:lnSpc>
              <a:spcBef>
                <a:spcPts val="95"/>
              </a:spcBef>
            </a:pPr>
            <a:r>
              <a:rPr b="0" spc="-20" dirty="0">
                <a:latin typeface="Carlito"/>
                <a:cs typeface="Carlito"/>
              </a:rPr>
              <a:t>Cluster </a:t>
            </a:r>
            <a:r>
              <a:rPr b="0" spc="-10" dirty="0">
                <a:latin typeface="Carlito"/>
                <a:cs typeface="Carlito"/>
              </a:rPr>
              <a:t>analysis</a:t>
            </a:r>
          </a:p>
        </p:txBody>
      </p:sp>
      <p:sp>
        <p:nvSpPr>
          <p:cNvPr id="3" name="object 3"/>
          <p:cNvSpPr txBox="1"/>
          <p:nvPr/>
        </p:nvSpPr>
        <p:spPr>
          <a:xfrm>
            <a:off x="535940" y="1216913"/>
            <a:ext cx="7871459" cy="1245870"/>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sz="2000" spc="-10" dirty="0">
                <a:latin typeface="Carlito"/>
                <a:cs typeface="Carlito"/>
              </a:rPr>
              <a:t>Cluster </a:t>
            </a:r>
            <a:r>
              <a:rPr sz="2000" spc="-5" dirty="0">
                <a:latin typeface="Carlito"/>
                <a:cs typeface="Carlito"/>
              </a:rPr>
              <a:t>analysis can </a:t>
            </a:r>
            <a:r>
              <a:rPr sz="2000" dirty="0">
                <a:latin typeface="Carlito"/>
                <a:cs typeface="Carlito"/>
              </a:rPr>
              <a:t>be </a:t>
            </a:r>
            <a:r>
              <a:rPr sz="2000" spc="-5" dirty="0">
                <a:latin typeface="Carlito"/>
                <a:cs typeface="Carlito"/>
              </a:rPr>
              <a:t>used </a:t>
            </a:r>
            <a:r>
              <a:rPr sz="2000" dirty="0">
                <a:latin typeface="Carlito"/>
                <a:cs typeface="Carlito"/>
              </a:rPr>
              <a:t>not only </a:t>
            </a:r>
            <a:r>
              <a:rPr sz="2000" spc="-15" dirty="0">
                <a:latin typeface="Carlito"/>
                <a:cs typeface="Carlito"/>
              </a:rPr>
              <a:t>to </a:t>
            </a:r>
            <a:r>
              <a:rPr sz="2000" dirty="0">
                <a:latin typeface="Carlito"/>
                <a:cs typeface="Carlito"/>
              </a:rPr>
              <a:t>identify a </a:t>
            </a:r>
            <a:r>
              <a:rPr sz="2000" spc="-5" dirty="0">
                <a:latin typeface="Carlito"/>
                <a:cs typeface="Carlito"/>
              </a:rPr>
              <a:t>structure already  </a:t>
            </a:r>
            <a:r>
              <a:rPr sz="2000" spc="-10" dirty="0">
                <a:latin typeface="Carlito"/>
                <a:cs typeface="Carlito"/>
              </a:rPr>
              <a:t>present </a:t>
            </a:r>
            <a:r>
              <a:rPr sz="2000" dirty="0">
                <a:latin typeface="Carlito"/>
                <a:cs typeface="Carlito"/>
              </a:rPr>
              <a:t>in the </a:t>
            </a:r>
            <a:r>
              <a:rPr sz="2000" spc="-10" dirty="0">
                <a:latin typeface="Carlito"/>
                <a:cs typeface="Carlito"/>
              </a:rPr>
              <a:t>data, </a:t>
            </a:r>
            <a:r>
              <a:rPr sz="2000" dirty="0">
                <a:latin typeface="Carlito"/>
                <a:cs typeface="Carlito"/>
              </a:rPr>
              <a:t>but </a:t>
            </a:r>
            <a:r>
              <a:rPr sz="2000" spc="-5" dirty="0">
                <a:latin typeface="Carlito"/>
                <a:cs typeface="Carlito"/>
              </a:rPr>
              <a:t>also </a:t>
            </a:r>
            <a:r>
              <a:rPr sz="2000" spc="-15" dirty="0">
                <a:latin typeface="Carlito"/>
                <a:cs typeface="Carlito"/>
              </a:rPr>
              <a:t>to </a:t>
            </a:r>
            <a:r>
              <a:rPr sz="2000" spc="-5" dirty="0">
                <a:latin typeface="Carlito"/>
                <a:cs typeface="Carlito"/>
              </a:rPr>
              <a:t>impose </a:t>
            </a:r>
            <a:r>
              <a:rPr sz="2000" dirty="0">
                <a:latin typeface="Carlito"/>
                <a:cs typeface="Carlito"/>
              </a:rPr>
              <a:t>a </a:t>
            </a:r>
            <a:r>
              <a:rPr sz="2000" spc="-5" dirty="0">
                <a:latin typeface="Carlito"/>
                <a:cs typeface="Carlito"/>
              </a:rPr>
              <a:t>structure on </a:t>
            </a:r>
            <a:r>
              <a:rPr sz="2000" dirty="0">
                <a:latin typeface="Carlito"/>
                <a:cs typeface="Carlito"/>
              </a:rPr>
              <a:t>a </a:t>
            </a:r>
            <a:r>
              <a:rPr sz="2000" spc="-5" dirty="0">
                <a:latin typeface="Carlito"/>
                <a:cs typeface="Carlito"/>
              </a:rPr>
              <a:t>more or less  </a:t>
            </a:r>
            <a:r>
              <a:rPr sz="2000" spc="-50" dirty="0">
                <a:latin typeface="Trebuchet MS"/>
                <a:cs typeface="Trebuchet MS"/>
              </a:rPr>
              <a:t>homogeneous</a:t>
            </a:r>
            <a:r>
              <a:rPr sz="2000" spc="-190" dirty="0">
                <a:latin typeface="Trebuchet MS"/>
                <a:cs typeface="Trebuchet MS"/>
              </a:rPr>
              <a:t> </a:t>
            </a:r>
            <a:r>
              <a:rPr sz="2000" spc="-105" dirty="0">
                <a:latin typeface="Trebuchet MS"/>
                <a:cs typeface="Trebuchet MS"/>
              </a:rPr>
              <a:t>data</a:t>
            </a:r>
            <a:r>
              <a:rPr sz="2000" spc="-150" dirty="0">
                <a:latin typeface="Trebuchet MS"/>
                <a:cs typeface="Trebuchet MS"/>
              </a:rPr>
              <a:t> </a:t>
            </a:r>
            <a:r>
              <a:rPr sz="2000" spc="-90" dirty="0">
                <a:latin typeface="Trebuchet MS"/>
                <a:cs typeface="Trebuchet MS"/>
              </a:rPr>
              <a:t>set</a:t>
            </a:r>
            <a:r>
              <a:rPr sz="2000" spc="-135" dirty="0">
                <a:latin typeface="Trebuchet MS"/>
                <a:cs typeface="Trebuchet MS"/>
              </a:rPr>
              <a:t> </a:t>
            </a:r>
            <a:r>
              <a:rPr sz="2000" spc="-100" dirty="0">
                <a:latin typeface="Trebuchet MS"/>
                <a:cs typeface="Trebuchet MS"/>
              </a:rPr>
              <a:t>that</a:t>
            </a:r>
            <a:r>
              <a:rPr sz="2000" spc="-150" dirty="0">
                <a:latin typeface="Trebuchet MS"/>
                <a:cs typeface="Trebuchet MS"/>
              </a:rPr>
              <a:t> </a:t>
            </a:r>
            <a:r>
              <a:rPr sz="2000" spc="-50" dirty="0">
                <a:latin typeface="Trebuchet MS"/>
                <a:cs typeface="Trebuchet MS"/>
              </a:rPr>
              <a:t>has</a:t>
            </a:r>
            <a:r>
              <a:rPr sz="2000" spc="-145" dirty="0">
                <a:latin typeface="Trebuchet MS"/>
                <a:cs typeface="Trebuchet MS"/>
              </a:rPr>
              <a:t> </a:t>
            </a:r>
            <a:r>
              <a:rPr sz="2000" spc="-85" dirty="0">
                <a:latin typeface="Trebuchet MS"/>
                <a:cs typeface="Trebuchet MS"/>
              </a:rPr>
              <a:t>to</a:t>
            </a:r>
            <a:r>
              <a:rPr sz="2000" spc="-160" dirty="0">
                <a:latin typeface="Trebuchet MS"/>
                <a:cs typeface="Trebuchet MS"/>
              </a:rPr>
              <a:t> </a:t>
            </a:r>
            <a:r>
              <a:rPr sz="2000" spc="-80" dirty="0">
                <a:latin typeface="Trebuchet MS"/>
                <a:cs typeface="Trebuchet MS"/>
              </a:rPr>
              <a:t>be</a:t>
            </a:r>
            <a:r>
              <a:rPr sz="2000" spc="-150" dirty="0">
                <a:latin typeface="Trebuchet MS"/>
                <a:cs typeface="Trebuchet MS"/>
              </a:rPr>
              <a:t> </a:t>
            </a:r>
            <a:r>
              <a:rPr sz="2000" spc="-95" dirty="0">
                <a:latin typeface="Trebuchet MS"/>
                <a:cs typeface="Trebuchet MS"/>
              </a:rPr>
              <a:t>split</a:t>
            </a:r>
            <a:r>
              <a:rPr sz="2000" spc="-135" dirty="0">
                <a:latin typeface="Trebuchet MS"/>
                <a:cs typeface="Trebuchet MS"/>
              </a:rPr>
              <a:t> </a:t>
            </a:r>
            <a:r>
              <a:rPr sz="2000" spc="-55" dirty="0">
                <a:latin typeface="Trebuchet MS"/>
                <a:cs typeface="Trebuchet MS"/>
              </a:rPr>
              <a:t>up</a:t>
            </a:r>
            <a:r>
              <a:rPr sz="2000" spc="-165" dirty="0">
                <a:latin typeface="Trebuchet MS"/>
                <a:cs typeface="Trebuchet MS"/>
              </a:rPr>
              <a:t> </a:t>
            </a:r>
            <a:r>
              <a:rPr sz="2000" spc="-75" dirty="0">
                <a:latin typeface="Trebuchet MS"/>
                <a:cs typeface="Trebuchet MS"/>
              </a:rPr>
              <a:t>in</a:t>
            </a:r>
            <a:r>
              <a:rPr sz="2000" spc="-145" dirty="0">
                <a:latin typeface="Trebuchet MS"/>
                <a:cs typeface="Trebuchet MS"/>
              </a:rPr>
              <a:t> </a:t>
            </a:r>
            <a:r>
              <a:rPr sz="2000" spc="-90" dirty="0">
                <a:latin typeface="Trebuchet MS"/>
                <a:cs typeface="Trebuchet MS"/>
              </a:rPr>
              <a:t>a</a:t>
            </a:r>
            <a:r>
              <a:rPr sz="2000" spc="-160" dirty="0">
                <a:latin typeface="Trebuchet MS"/>
                <a:cs typeface="Trebuchet MS"/>
              </a:rPr>
              <a:t> </a:t>
            </a:r>
            <a:r>
              <a:rPr sz="2000" spc="-135" dirty="0">
                <a:latin typeface="Trebuchet MS"/>
                <a:cs typeface="Trebuchet MS"/>
              </a:rPr>
              <a:t>“fair”</a:t>
            </a:r>
            <a:r>
              <a:rPr sz="2000" spc="-140" dirty="0">
                <a:latin typeface="Trebuchet MS"/>
                <a:cs typeface="Trebuchet MS"/>
              </a:rPr>
              <a:t> </a:t>
            </a:r>
            <a:r>
              <a:rPr sz="2000" spc="-170" dirty="0">
                <a:latin typeface="Trebuchet MS"/>
                <a:cs typeface="Trebuchet MS"/>
              </a:rPr>
              <a:t>way,</a:t>
            </a:r>
            <a:r>
              <a:rPr sz="2000" spc="-165" dirty="0">
                <a:latin typeface="Trebuchet MS"/>
                <a:cs typeface="Trebuchet MS"/>
              </a:rPr>
              <a:t> </a:t>
            </a:r>
            <a:r>
              <a:rPr sz="2000" spc="-90" dirty="0">
                <a:latin typeface="Trebuchet MS"/>
                <a:cs typeface="Trebuchet MS"/>
              </a:rPr>
              <a:t>for</a:t>
            </a:r>
            <a:r>
              <a:rPr sz="2000" spc="-165" dirty="0">
                <a:latin typeface="Trebuchet MS"/>
                <a:cs typeface="Trebuchet MS"/>
              </a:rPr>
              <a:t> </a:t>
            </a:r>
            <a:r>
              <a:rPr sz="2000" spc="-90" dirty="0">
                <a:latin typeface="Trebuchet MS"/>
                <a:cs typeface="Trebuchet MS"/>
              </a:rPr>
              <a:t>instance  </a:t>
            </a:r>
            <a:r>
              <a:rPr sz="2000" dirty="0">
                <a:latin typeface="Carlito"/>
                <a:cs typeface="Carlito"/>
              </a:rPr>
              <a:t>when dividing a country </a:t>
            </a:r>
            <a:r>
              <a:rPr sz="2000" spc="-15" dirty="0">
                <a:latin typeface="Carlito"/>
                <a:cs typeface="Carlito"/>
              </a:rPr>
              <a:t>into </a:t>
            </a:r>
            <a:r>
              <a:rPr sz="2000" spc="-5" dirty="0">
                <a:latin typeface="Carlito"/>
                <a:cs typeface="Carlito"/>
              </a:rPr>
              <a:t>telephone</a:t>
            </a:r>
            <a:r>
              <a:rPr sz="2000" spc="-30" dirty="0">
                <a:latin typeface="Carlito"/>
                <a:cs typeface="Carlito"/>
              </a:rPr>
              <a:t> </a:t>
            </a:r>
            <a:r>
              <a:rPr sz="2000" spc="-5" dirty="0">
                <a:latin typeface="Carlito"/>
                <a:cs typeface="Carlito"/>
              </a:rPr>
              <a:t>areas</a:t>
            </a:r>
            <a:endParaRPr sz="2000" dirty="0">
              <a:latin typeface="Carlito"/>
              <a:cs typeface="Carlito"/>
            </a:endParaRPr>
          </a:p>
        </p:txBody>
      </p:sp>
      <p:sp>
        <p:nvSpPr>
          <p:cNvPr id="4" name="object 4"/>
          <p:cNvSpPr txBox="1"/>
          <p:nvPr/>
        </p:nvSpPr>
        <p:spPr>
          <a:xfrm>
            <a:off x="4287027" y="2497327"/>
            <a:ext cx="3775075" cy="636270"/>
          </a:xfrm>
          <a:prstGeom prst="rect">
            <a:avLst/>
          </a:prstGeom>
        </p:spPr>
        <p:txBody>
          <a:bodyPr vert="horz" wrap="square" lIns="0" tIns="12700" rIns="0" bIns="0" rtlCol="0">
            <a:spAutoFit/>
          </a:bodyPr>
          <a:lstStyle/>
          <a:p>
            <a:pPr marL="12700">
              <a:lnSpc>
                <a:spcPct val="100000"/>
              </a:lnSpc>
              <a:spcBef>
                <a:spcPts val="100"/>
              </a:spcBef>
            </a:pPr>
            <a:r>
              <a:rPr sz="2000" spc="-15" dirty="0">
                <a:latin typeface="Carlito"/>
                <a:cs typeface="Carlito"/>
              </a:rPr>
              <a:t>from </a:t>
            </a:r>
            <a:r>
              <a:rPr sz="2000" spc="-5" dirty="0">
                <a:latin typeface="Carlito"/>
                <a:cs typeface="Carlito"/>
              </a:rPr>
              <a:t>discriminant analysis </a:t>
            </a:r>
            <a:r>
              <a:rPr sz="2000" dirty="0">
                <a:latin typeface="Carlito"/>
                <a:cs typeface="Carlito"/>
              </a:rPr>
              <a:t>in </a:t>
            </a:r>
            <a:r>
              <a:rPr sz="2000" spc="-5" dirty="0">
                <a:latin typeface="Carlito"/>
                <a:cs typeface="Carlito"/>
              </a:rPr>
              <a:t>that</a:t>
            </a:r>
            <a:r>
              <a:rPr sz="2000" spc="35" dirty="0">
                <a:latin typeface="Carlito"/>
                <a:cs typeface="Carlito"/>
              </a:rPr>
              <a:t> </a:t>
            </a:r>
            <a:r>
              <a:rPr sz="2000" dirty="0">
                <a:latin typeface="Carlito"/>
                <a:cs typeface="Carlito"/>
              </a:rPr>
              <a:t>it</a:t>
            </a:r>
            <a:endParaRPr sz="2000">
              <a:latin typeface="Carlito"/>
              <a:cs typeface="Carlito"/>
            </a:endParaRPr>
          </a:p>
          <a:p>
            <a:pPr marL="72390">
              <a:lnSpc>
                <a:spcPct val="100000"/>
              </a:lnSpc>
            </a:pPr>
            <a:r>
              <a:rPr sz="2000" spc="-5" dirty="0">
                <a:latin typeface="Carlito"/>
                <a:cs typeface="Carlito"/>
              </a:rPr>
              <a:t>hereas discriminant analysis</a:t>
            </a:r>
            <a:r>
              <a:rPr sz="2000" spc="20" dirty="0">
                <a:latin typeface="Carlito"/>
                <a:cs typeface="Carlito"/>
              </a:rPr>
              <a:t> </a:t>
            </a:r>
            <a:r>
              <a:rPr sz="2000" dirty="0">
                <a:latin typeface="Carlito"/>
                <a:cs typeface="Carlito"/>
              </a:rPr>
              <a:t>assigns</a:t>
            </a:r>
            <a:endParaRPr sz="2000">
              <a:latin typeface="Carlito"/>
              <a:cs typeface="Carlito"/>
            </a:endParaRPr>
          </a:p>
        </p:txBody>
      </p:sp>
      <p:sp>
        <p:nvSpPr>
          <p:cNvPr id="5" name="object 5"/>
          <p:cNvSpPr txBox="1"/>
          <p:nvPr/>
        </p:nvSpPr>
        <p:spPr>
          <a:xfrm>
            <a:off x="535940" y="2497327"/>
            <a:ext cx="1271270" cy="941069"/>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4965" algn="l"/>
                <a:tab pos="355600" algn="l"/>
              </a:tabLst>
            </a:pPr>
            <a:r>
              <a:rPr sz="2000" spc="-10" dirty="0">
                <a:latin typeface="Carlito"/>
                <a:cs typeface="Carlito"/>
              </a:rPr>
              <a:t>Cluster</a:t>
            </a:r>
            <a:r>
              <a:rPr sz="2000" spc="-70" dirty="0">
                <a:latin typeface="Carlito"/>
                <a:cs typeface="Carlito"/>
              </a:rPr>
              <a:t> </a:t>
            </a:r>
            <a:r>
              <a:rPr sz="2000" dirty="0">
                <a:latin typeface="Carlito"/>
                <a:cs typeface="Carlito"/>
              </a:rPr>
              <a:t>a  actually  </a:t>
            </a:r>
            <a:r>
              <a:rPr sz="2000" spc="-5" dirty="0">
                <a:latin typeface="Carlito"/>
                <a:cs typeface="Carlito"/>
              </a:rPr>
              <a:t>objects</a:t>
            </a:r>
            <a:endParaRPr sz="2000" dirty="0">
              <a:latin typeface="Carlito"/>
              <a:cs typeface="Carlito"/>
            </a:endParaRPr>
          </a:p>
        </p:txBody>
      </p:sp>
      <p:sp>
        <p:nvSpPr>
          <p:cNvPr id="6" name="object 6"/>
          <p:cNvSpPr txBox="1"/>
          <p:nvPr/>
        </p:nvSpPr>
        <p:spPr>
          <a:xfrm>
            <a:off x="1696174" y="2573654"/>
            <a:ext cx="2663825" cy="864869"/>
          </a:xfrm>
          <a:prstGeom prst="rect">
            <a:avLst/>
          </a:prstGeom>
        </p:spPr>
        <p:txBody>
          <a:bodyPr vert="horz" wrap="square" lIns="0" tIns="0" rIns="0" bIns="0" rtlCol="0">
            <a:spAutoFit/>
          </a:bodyPr>
          <a:lstStyle/>
          <a:p>
            <a:pPr marL="97790">
              <a:lnSpc>
                <a:spcPts val="1905"/>
              </a:lnSpc>
            </a:pPr>
            <a:r>
              <a:rPr sz="2000" spc="-5" dirty="0">
                <a:latin typeface="Carlito"/>
                <a:cs typeface="Carlito"/>
              </a:rPr>
              <a:t>nalysis </a:t>
            </a:r>
            <a:r>
              <a:rPr sz="2000" dirty="0">
                <a:latin typeface="Carlito"/>
                <a:cs typeface="Carlito"/>
              </a:rPr>
              <a:t>is </a:t>
            </a:r>
            <a:r>
              <a:rPr sz="2000" spc="-5" dirty="0">
                <a:latin typeface="Carlito"/>
                <a:cs typeface="Carlito"/>
              </a:rPr>
              <a:t>quite</a:t>
            </a:r>
            <a:r>
              <a:rPr sz="2000" spc="-20" dirty="0">
                <a:latin typeface="Carlito"/>
                <a:cs typeface="Carlito"/>
              </a:rPr>
              <a:t> </a:t>
            </a:r>
            <a:r>
              <a:rPr sz="2000" spc="-15" dirty="0">
                <a:latin typeface="Carlito"/>
                <a:cs typeface="Carlito"/>
              </a:rPr>
              <a:t>different</a:t>
            </a:r>
            <a:endParaRPr sz="2000" dirty="0">
              <a:latin typeface="Carlito"/>
              <a:cs typeface="Carlito"/>
            </a:endParaRPr>
          </a:p>
          <a:p>
            <a:pPr marL="56515">
              <a:lnSpc>
                <a:spcPct val="100000"/>
              </a:lnSpc>
            </a:pPr>
            <a:r>
              <a:rPr sz="2000" spc="-5" dirty="0">
                <a:latin typeface="Carlito"/>
                <a:cs typeface="Carlito"/>
              </a:rPr>
              <a:t>establishes </a:t>
            </a:r>
            <a:r>
              <a:rPr sz="2000" dirty="0">
                <a:latin typeface="Carlito"/>
                <a:cs typeface="Carlito"/>
              </a:rPr>
              <a:t>the </a:t>
            </a:r>
            <a:r>
              <a:rPr sz="2000" spc="-10" dirty="0">
                <a:latin typeface="Carlito"/>
                <a:cs typeface="Carlito"/>
              </a:rPr>
              <a:t>groups,</a:t>
            </a:r>
            <a:r>
              <a:rPr sz="2000" spc="-50" dirty="0">
                <a:latin typeface="Carlito"/>
                <a:cs typeface="Carlito"/>
              </a:rPr>
              <a:t> </a:t>
            </a:r>
            <a:r>
              <a:rPr sz="2000" dirty="0">
                <a:latin typeface="Carlito"/>
                <a:cs typeface="Carlito"/>
              </a:rPr>
              <a:t>w</a:t>
            </a:r>
          </a:p>
          <a:p>
            <a:pPr>
              <a:lnSpc>
                <a:spcPct val="100000"/>
              </a:lnSpc>
            </a:pPr>
            <a:r>
              <a:rPr sz="2000" spc="-15" dirty="0">
                <a:latin typeface="Carlito"/>
                <a:cs typeface="Carlito"/>
              </a:rPr>
              <a:t>to </a:t>
            </a:r>
            <a:r>
              <a:rPr sz="2000" spc="-5" dirty="0">
                <a:latin typeface="Carlito"/>
                <a:cs typeface="Carlito"/>
              </a:rPr>
              <a:t>groups that </a:t>
            </a:r>
            <a:r>
              <a:rPr sz="2000" spc="-10" dirty="0">
                <a:latin typeface="Carlito"/>
                <a:cs typeface="Carlito"/>
              </a:rPr>
              <a:t>were</a:t>
            </a:r>
            <a:r>
              <a:rPr sz="2000" spc="-65" dirty="0">
                <a:latin typeface="Carlito"/>
                <a:cs typeface="Carlito"/>
              </a:rPr>
              <a:t> </a:t>
            </a:r>
            <a:r>
              <a:rPr sz="2000" spc="-5" dirty="0">
                <a:latin typeface="Carlito"/>
                <a:cs typeface="Carlito"/>
              </a:rPr>
              <a:t>defi</a:t>
            </a:r>
            <a:endParaRPr sz="2000" dirty="0">
              <a:latin typeface="Carlito"/>
              <a:cs typeface="Carlito"/>
            </a:endParaRPr>
          </a:p>
        </p:txBody>
      </p:sp>
      <p:sp>
        <p:nvSpPr>
          <p:cNvPr id="7" name="object 7"/>
          <p:cNvSpPr txBox="1"/>
          <p:nvPr/>
        </p:nvSpPr>
        <p:spPr>
          <a:xfrm>
            <a:off x="4171221" y="3107182"/>
            <a:ext cx="1583690"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rlito"/>
                <a:cs typeface="Carlito"/>
              </a:rPr>
              <a:t>ned </a:t>
            </a:r>
            <a:r>
              <a:rPr sz="2000" dirty="0">
                <a:latin typeface="Carlito"/>
                <a:cs typeface="Carlito"/>
              </a:rPr>
              <a:t>in</a:t>
            </a:r>
            <a:r>
              <a:rPr sz="2000" spc="-70" dirty="0">
                <a:latin typeface="Carlito"/>
                <a:cs typeface="Carlito"/>
              </a:rPr>
              <a:t> </a:t>
            </a:r>
            <a:r>
              <a:rPr sz="2000" spc="-5" dirty="0">
                <a:latin typeface="Carlito"/>
                <a:cs typeface="Carlito"/>
              </a:rPr>
              <a:t>advance</a:t>
            </a:r>
            <a:endParaRPr sz="2000">
              <a:latin typeface="Carlito"/>
              <a:cs typeface="Carlito"/>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C5AC5-556D-45CA-9426-F66BEB9B787A}"/>
              </a:ext>
            </a:extLst>
          </p:cNvPr>
          <p:cNvSpPr>
            <a:spLocks noGrp="1"/>
          </p:cNvSpPr>
          <p:nvPr>
            <p:ph type="title"/>
          </p:nvPr>
        </p:nvSpPr>
        <p:spPr>
          <a:xfrm>
            <a:off x="2743454" y="385953"/>
            <a:ext cx="4952746" cy="452119"/>
          </a:xfrm>
        </p:spPr>
        <p:txBody>
          <a:bodyPr/>
          <a:lstStyle/>
          <a:p>
            <a:r>
              <a:rPr lang="en-US" dirty="0"/>
              <a:t>Applications of clustering</a:t>
            </a:r>
            <a:endParaRPr lang="en-IN" dirty="0"/>
          </a:p>
        </p:txBody>
      </p:sp>
      <p:sp>
        <p:nvSpPr>
          <p:cNvPr id="3" name="Text Placeholder 2">
            <a:extLst>
              <a:ext uri="{FF2B5EF4-FFF2-40B4-BE49-F238E27FC236}">
                <a16:creationId xmlns:a16="http://schemas.microsoft.com/office/drawing/2014/main" id="{B40225BE-ECB0-45A3-9D0E-DBA2DAC433AE}"/>
              </a:ext>
            </a:extLst>
          </p:cNvPr>
          <p:cNvSpPr>
            <a:spLocks noGrp="1"/>
          </p:cNvSpPr>
          <p:nvPr>
            <p:ph type="body" idx="1"/>
          </p:nvPr>
        </p:nvSpPr>
        <p:spPr>
          <a:xfrm>
            <a:off x="472440" y="1216912"/>
            <a:ext cx="7936865" cy="3412237"/>
          </a:xfrm>
        </p:spPr>
        <p:txBody>
          <a:bodyPr/>
          <a:lstStyle/>
          <a:p>
            <a:pPr algn="just"/>
            <a:endParaRPr lang="en-US" sz="1600" b="0" i="0" dirty="0">
              <a:solidFill>
                <a:srgbClr val="4A4A4A"/>
              </a:solidFill>
              <a:effectLst/>
              <a:latin typeface="Open Sans" panose="020B0606030504020204" pitchFamily="34" charset="0"/>
            </a:endParaRPr>
          </a:p>
          <a:p>
            <a:pPr algn="just">
              <a:buFont typeface="Arial" panose="020B0604020202020204" pitchFamily="34" charset="0"/>
              <a:buChar char="•"/>
            </a:pPr>
            <a:r>
              <a:rPr lang="en-US" sz="1600" b="0" i="0" dirty="0">
                <a:solidFill>
                  <a:srgbClr val="4A4A4A"/>
                </a:solidFill>
                <a:effectLst/>
                <a:latin typeface="Open Sans" panose="020B0606030504020204" pitchFamily="34" charset="0"/>
              </a:rPr>
              <a:t>Clustering helps marketers improve their customer base and work on the target areas. It helps group people (according to different criteria’s such as willingness, purchasing power etc.) based on their similarity in many ways related to the product under consideration.</a:t>
            </a:r>
          </a:p>
          <a:p>
            <a:pPr algn="just">
              <a:buFont typeface="Arial" panose="020B0604020202020204" pitchFamily="34" charset="0"/>
              <a:buChar char="•"/>
            </a:pPr>
            <a:endParaRPr lang="en-US" sz="1600" b="0" i="0" dirty="0">
              <a:solidFill>
                <a:srgbClr val="4A4A4A"/>
              </a:solidFill>
              <a:effectLst/>
              <a:latin typeface="Open Sans" panose="020B0606030504020204" pitchFamily="34" charset="0"/>
            </a:endParaRPr>
          </a:p>
          <a:p>
            <a:pPr algn="just">
              <a:buFont typeface="Arial" panose="020B0604020202020204" pitchFamily="34" charset="0"/>
              <a:buChar char="•"/>
            </a:pPr>
            <a:r>
              <a:rPr lang="en-US" sz="1600" b="0" i="0" dirty="0">
                <a:solidFill>
                  <a:srgbClr val="4A4A4A"/>
                </a:solidFill>
                <a:effectLst/>
                <a:latin typeface="Open Sans" panose="020B0606030504020204" pitchFamily="34" charset="0"/>
              </a:rPr>
              <a:t>Clustering helps in identification of groups of houses on the basis of their value, type and geographical locations.</a:t>
            </a:r>
          </a:p>
          <a:p>
            <a:pPr algn="just">
              <a:buFont typeface="Arial" panose="020B0604020202020204" pitchFamily="34" charset="0"/>
              <a:buChar char="•"/>
            </a:pPr>
            <a:endParaRPr lang="en-US" sz="1600" b="0" i="0" dirty="0">
              <a:solidFill>
                <a:srgbClr val="4A4A4A"/>
              </a:solidFill>
              <a:effectLst/>
              <a:latin typeface="Open Sans" panose="020B0606030504020204" pitchFamily="34" charset="0"/>
            </a:endParaRPr>
          </a:p>
          <a:p>
            <a:pPr algn="just">
              <a:buFont typeface="Arial" panose="020B0604020202020204" pitchFamily="34" charset="0"/>
              <a:buChar char="•"/>
            </a:pPr>
            <a:r>
              <a:rPr lang="en-US" sz="1600" b="0" i="0" dirty="0">
                <a:solidFill>
                  <a:srgbClr val="4A4A4A"/>
                </a:solidFill>
                <a:effectLst/>
                <a:latin typeface="Open Sans" panose="020B0606030504020204" pitchFamily="34" charset="0"/>
              </a:rPr>
              <a:t>Clustering is used to study earth-quake. Based on the areas hit by an earthquake in a region, clustering can help </a:t>
            </a:r>
            <a:r>
              <a:rPr lang="en-US" sz="1600" b="0" i="0" dirty="0" err="1">
                <a:solidFill>
                  <a:srgbClr val="4A4A4A"/>
                </a:solidFill>
                <a:effectLst/>
                <a:latin typeface="Open Sans" panose="020B0606030504020204" pitchFamily="34" charset="0"/>
              </a:rPr>
              <a:t>analyse</a:t>
            </a:r>
            <a:r>
              <a:rPr lang="en-US" sz="1600" b="0" i="0" dirty="0">
                <a:solidFill>
                  <a:srgbClr val="4A4A4A"/>
                </a:solidFill>
                <a:effectLst/>
                <a:latin typeface="Open Sans" panose="020B0606030504020204" pitchFamily="34" charset="0"/>
              </a:rPr>
              <a:t> the next probable location where earthquake can occur.</a:t>
            </a:r>
          </a:p>
          <a:p>
            <a:endParaRPr lang="en-IN" dirty="0"/>
          </a:p>
        </p:txBody>
      </p:sp>
    </p:spTree>
    <p:extLst>
      <p:ext uri="{BB962C8B-B14F-4D97-AF65-F5344CB8AC3E}">
        <p14:creationId xmlns:p14="http://schemas.microsoft.com/office/powerpoint/2010/main" val="1769390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B52D8-2C00-4AF8-B890-3A5157622ED9}"/>
              </a:ext>
            </a:extLst>
          </p:cNvPr>
          <p:cNvSpPr>
            <a:spLocks noGrp="1"/>
          </p:cNvSpPr>
          <p:nvPr>
            <p:ph type="title"/>
          </p:nvPr>
        </p:nvSpPr>
        <p:spPr>
          <a:xfrm>
            <a:off x="2743454" y="385953"/>
            <a:ext cx="4952746" cy="452119"/>
          </a:xfrm>
        </p:spPr>
        <p:txBody>
          <a:bodyPr/>
          <a:lstStyle/>
          <a:p>
            <a:r>
              <a:rPr lang="en-US" dirty="0"/>
              <a:t>Applications of clustering</a:t>
            </a:r>
            <a:endParaRPr lang="en-IN" dirty="0"/>
          </a:p>
        </p:txBody>
      </p:sp>
      <p:sp>
        <p:nvSpPr>
          <p:cNvPr id="3" name="Text Placeholder 2">
            <a:extLst>
              <a:ext uri="{FF2B5EF4-FFF2-40B4-BE49-F238E27FC236}">
                <a16:creationId xmlns:a16="http://schemas.microsoft.com/office/drawing/2014/main" id="{343C2040-6C11-47E1-888F-BCC7EB262561}"/>
              </a:ext>
            </a:extLst>
          </p:cNvPr>
          <p:cNvSpPr>
            <a:spLocks noGrp="1"/>
          </p:cNvSpPr>
          <p:nvPr>
            <p:ph type="body" idx="1"/>
          </p:nvPr>
        </p:nvSpPr>
        <p:spPr>
          <a:xfrm>
            <a:off x="1066800" y="1428750"/>
            <a:ext cx="7467600" cy="1384300"/>
          </a:xfrm>
        </p:spPr>
        <p:txBody>
          <a:bodyPr/>
          <a:lstStyle/>
          <a:p>
            <a:pPr algn="just"/>
            <a:r>
              <a:rPr lang="en-US" sz="1200" b="1" i="0" dirty="0">
                <a:solidFill>
                  <a:srgbClr val="000000"/>
                </a:solidFill>
                <a:effectLst/>
                <a:latin typeface="Roboto" panose="02000000000000000000" pitchFamily="2" charset="0"/>
              </a:rPr>
              <a:t>1. Identifying Fake News</a:t>
            </a:r>
            <a:endParaRPr lang="en-US" sz="1200" b="0" i="0" dirty="0">
              <a:solidFill>
                <a:srgbClr val="000000"/>
              </a:solidFill>
              <a:effectLst/>
              <a:latin typeface="Roboto" panose="02000000000000000000" pitchFamily="2" charset="0"/>
            </a:endParaRPr>
          </a:p>
          <a:p>
            <a:pPr algn="just"/>
            <a:r>
              <a:rPr lang="en-US" sz="1200" b="0" dirty="0">
                <a:solidFill>
                  <a:srgbClr val="444444"/>
                </a:solidFill>
                <a:effectLst/>
                <a:latin typeface="Roboto" panose="02000000000000000000" pitchFamily="2" charset="0"/>
              </a:rPr>
              <a:t>Fake news is not a new phenomenon, but it is one that is becoming prolific.</a:t>
            </a:r>
          </a:p>
          <a:p>
            <a:pPr algn="just"/>
            <a:r>
              <a:rPr lang="en-US" sz="1200" b="0" dirty="0">
                <a:solidFill>
                  <a:srgbClr val="444444"/>
                </a:solidFill>
                <a:effectLst/>
                <a:latin typeface="Roboto" panose="02000000000000000000" pitchFamily="2" charset="0"/>
              </a:rPr>
              <a:t>What the problem is: Fake news is being created and spread at a rapid rate due to technology innovations such as social media. The issue gained attention recently during the 2016 US presidential campaign. During this campaign, the term Fake News was referenced an unprecedented number of times.</a:t>
            </a:r>
          </a:p>
          <a:p>
            <a:pPr algn="just"/>
            <a:br>
              <a:rPr lang="en-US" sz="1200" b="0" dirty="0">
                <a:solidFill>
                  <a:srgbClr val="444444"/>
                </a:solidFill>
                <a:effectLst/>
                <a:latin typeface="Roboto" panose="02000000000000000000" pitchFamily="2" charset="0"/>
              </a:rPr>
            </a:br>
            <a:r>
              <a:rPr lang="en-US" sz="1200" b="0" dirty="0">
                <a:solidFill>
                  <a:srgbClr val="444444"/>
                </a:solidFill>
                <a:effectLst/>
                <a:latin typeface="Roboto" panose="02000000000000000000" pitchFamily="2" charset="0"/>
              </a:rPr>
              <a:t>The way that the algorithm works is by taking in the content of the fake news article, the corpus, examining the words used and then clustering them. These clusters are what helps the algorithm determine which pieces are genuine and which are fake news. Certain words are found more commonly in sensationalized, click-bait articles. When you see a high percentage of specific terms in an article, it gives a higher probability of the material being fake news. </a:t>
            </a:r>
          </a:p>
          <a:p>
            <a:endParaRPr lang="en-IN" sz="1200" dirty="0"/>
          </a:p>
        </p:txBody>
      </p:sp>
    </p:spTree>
    <p:extLst>
      <p:ext uri="{BB962C8B-B14F-4D97-AF65-F5344CB8AC3E}">
        <p14:creationId xmlns:p14="http://schemas.microsoft.com/office/powerpoint/2010/main" val="2436384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380</TotalTime>
  <Words>740</Words>
  <Application>Microsoft Office PowerPoint</Application>
  <PresentationFormat>On-screen Show (16:9)</PresentationFormat>
  <Paragraphs>61</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Carlito</vt:lpstr>
      <vt:lpstr>Open Sans</vt:lpstr>
      <vt:lpstr>Roboto</vt:lpstr>
      <vt:lpstr>Tahoma</vt:lpstr>
      <vt:lpstr>Trebuchet MS</vt:lpstr>
      <vt:lpstr>Office Theme</vt:lpstr>
      <vt:lpstr>Clustering: Introduction  Unsupervised Learning</vt:lpstr>
      <vt:lpstr>Cluster Analysis</vt:lpstr>
      <vt:lpstr>Cluster analysis</vt:lpstr>
      <vt:lpstr>Dataset without labels</vt:lpstr>
      <vt:lpstr>PowerPoint Presentation</vt:lpstr>
      <vt:lpstr>What is Cluster Analysis?</vt:lpstr>
      <vt:lpstr>Example</vt:lpstr>
      <vt:lpstr>Example</vt:lpstr>
      <vt:lpstr>Cluster analysis</vt:lpstr>
      <vt:lpstr>Cluster analysis</vt:lpstr>
      <vt:lpstr>Applications of clustering</vt:lpstr>
      <vt:lpstr>Applications of clustering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IITR</dc:creator>
  <cp:lastModifiedBy>Kriti Ohri</cp:lastModifiedBy>
  <cp:revision>8</cp:revision>
  <dcterms:created xsi:type="dcterms:W3CDTF">2021-06-27T07:29:21Z</dcterms:created>
  <dcterms:modified xsi:type="dcterms:W3CDTF">2024-11-17T02:40:16Z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2020-01-03T00:00:00Z</vt:filetime>
  </property>
  <property fmtid="{D5CDD505-2E9C-101B-9397-08002B2CF9AE}" pid="3" name="Creator">
    <vt:lpwstr>Microsoft® PowerPoint® 2016</vt:lpwstr>
  </property>
  <property fmtid="{D5CDD505-2E9C-101B-9397-08002B2CF9AE}" pid="4" name="LastSaved">
    <vt:filetime>2021-06-27T00:00:00Z</vt:filetime>
  </property>
</Properties>
</file>