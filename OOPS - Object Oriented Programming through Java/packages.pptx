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5" r:id="rId4"/>
    <p:sldId id="276" r:id="rId5"/>
    <p:sldId id="259" r:id="rId6"/>
    <p:sldId id="258" r:id="rId7"/>
    <p:sldId id="261" r:id="rId8"/>
    <p:sldId id="262" r:id="rId9"/>
    <p:sldId id="263" r:id="rId10"/>
    <p:sldId id="264" r:id="rId11"/>
    <p:sldId id="265" r:id="rId12"/>
    <p:sldId id="270" r:id="rId13"/>
    <p:sldId id="271" r:id="rId14"/>
    <p:sldId id="272"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29" autoAdjust="0"/>
    <p:restoredTop sz="94586" autoAdjust="0"/>
  </p:normalViewPr>
  <p:slideViewPr>
    <p:cSldViewPr snapToGrid="0">
      <p:cViewPr varScale="1">
        <p:scale>
          <a:sx n="87" d="100"/>
          <a:sy n="87" d="100"/>
        </p:scale>
        <p:origin x="-60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8496DC-7799-9EC4-E330-DBC65F199E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155DA1F0-0A0B-0C5D-D697-D72C7EFDF5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0331728-43CC-8417-2157-9330AC4E7A33}"/>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5" name="Footer Placeholder 4">
            <a:extLst>
              <a:ext uri="{FF2B5EF4-FFF2-40B4-BE49-F238E27FC236}">
                <a16:creationId xmlns:a16="http://schemas.microsoft.com/office/drawing/2014/main" xmlns="" id="{FC02CED5-3662-80D4-E446-047C1DD974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2370F04-F30E-AA47-D7A0-9C2B1DC7F707}"/>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1098028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E3BD54-5F20-7F45-4AF1-A7B7A9FF6E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27935760-AE23-2B9F-21B5-A621B8DD7F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385596C-0874-86F0-36A9-CEF988E65878}"/>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5" name="Footer Placeholder 4">
            <a:extLst>
              <a:ext uri="{FF2B5EF4-FFF2-40B4-BE49-F238E27FC236}">
                <a16:creationId xmlns:a16="http://schemas.microsoft.com/office/drawing/2014/main" xmlns="" id="{D587C156-F67D-64BE-1821-A067217E47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E157244-1EB7-CAD4-EE38-4527ACD18DD5}"/>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3587869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620B51-E349-798D-58C4-CEF32319DD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92CED22-4F5C-0499-1A04-277AE65C14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5CBF481-1C00-B677-CF3E-A54D7F570446}"/>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5" name="Footer Placeholder 4">
            <a:extLst>
              <a:ext uri="{FF2B5EF4-FFF2-40B4-BE49-F238E27FC236}">
                <a16:creationId xmlns:a16="http://schemas.microsoft.com/office/drawing/2014/main" xmlns="" id="{8979BE16-0367-A301-20C4-403E3CB7FC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6AC082B-CD0F-D541-0060-C8118FDCCCFB}"/>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2931531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C78A6B-9462-508C-B7AD-7FF3ECC7DD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1CD5EB6-D5EA-8FAA-9E0E-5296FA3230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BA07E715-36AC-575A-F69F-89866DED34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3C6F3015-E62C-F3A6-F1F2-C9F41CA15821}"/>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6" name="Footer Placeholder 5">
            <a:extLst>
              <a:ext uri="{FF2B5EF4-FFF2-40B4-BE49-F238E27FC236}">
                <a16:creationId xmlns:a16="http://schemas.microsoft.com/office/drawing/2014/main" xmlns="" id="{BBE1674C-9A3E-0111-2DBD-E79B7A64EC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6B77E62-9C4E-5BD5-CBAE-D71CD2BC00F3}"/>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1824206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E25256-4807-0902-9608-851B0BFE72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2ACCA37-01B0-93F1-8C38-F0FC05B30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47E0099-6E92-AD11-3419-118A0EDBA6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7598A2B2-4C7C-0016-FF09-83E1C407DF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C783A185-596B-10BC-1C73-10AF641D7B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1C59A15-BB29-2ED2-18BD-7F35F05CA5CA}"/>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8" name="Footer Placeholder 7">
            <a:extLst>
              <a:ext uri="{FF2B5EF4-FFF2-40B4-BE49-F238E27FC236}">
                <a16:creationId xmlns:a16="http://schemas.microsoft.com/office/drawing/2014/main" xmlns="" id="{58479E3C-8EE3-1324-B5E3-3CA6F1FF91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D487B507-4CC4-9B39-9D35-E7ACB7AEC472}"/>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2234443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7611F9-53F9-0360-5C4B-CBF8BE10DB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AF9927FB-FC2D-CED7-0015-A89C3DE7EB76}"/>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4" name="Footer Placeholder 3">
            <a:extLst>
              <a:ext uri="{FF2B5EF4-FFF2-40B4-BE49-F238E27FC236}">
                <a16:creationId xmlns:a16="http://schemas.microsoft.com/office/drawing/2014/main" xmlns="" id="{6137F7B8-6614-307D-E229-23CEE4B4EB9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123EDD6C-B4EA-BD80-E1B7-66F7001524E4}"/>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3942703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CB28265-BD51-08FD-ADF6-F8888505208F}"/>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3" name="Footer Placeholder 2">
            <a:extLst>
              <a:ext uri="{FF2B5EF4-FFF2-40B4-BE49-F238E27FC236}">
                <a16:creationId xmlns:a16="http://schemas.microsoft.com/office/drawing/2014/main" xmlns="" id="{E65BF40B-CC1C-1970-0D0B-59615BE3EE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86741B74-6059-A130-B923-8B49CA26D62E}"/>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8931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676D30-1EEF-A859-3565-DEF224785C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2B07994-C151-13CA-7548-1F0C5C0FC7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0FFD7C89-07DD-26FD-0A91-6C1A6AD480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027AD68-88E3-9F24-95AC-5E56D8F01C5A}"/>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6" name="Footer Placeholder 5">
            <a:extLst>
              <a:ext uri="{FF2B5EF4-FFF2-40B4-BE49-F238E27FC236}">
                <a16:creationId xmlns:a16="http://schemas.microsoft.com/office/drawing/2014/main" xmlns="" id="{AA6E508C-BA45-5BF4-8E3B-BF37F3B9A1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7843DB1-F1C1-5065-9F54-363FE9070040}"/>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175160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389F6B-D3FF-FFE0-B0D2-2D2F7111F6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5E5627E-7BAE-3F0C-974B-E901FF5F4A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190C7508-F3D8-BC5E-B5C0-AF84E03C17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9CBB062-AB9E-F753-598B-2D1B127F0AB5}"/>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6" name="Footer Placeholder 5">
            <a:extLst>
              <a:ext uri="{FF2B5EF4-FFF2-40B4-BE49-F238E27FC236}">
                <a16:creationId xmlns:a16="http://schemas.microsoft.com/office/drawing/2014/main" xmlns="" id="{37A643C5-105E-7BA6-0F01-D13BABA30B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493AE708-B106-EA54-4DBF-EDE261D5D65B}"/>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1492531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95B259-83C3-E7BA-5F97-63FF2BB66BC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DF9B9A5D-4CBE-7E7C-2FF9-18D411D292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412AEEEE-E303-D773-5129-B61D1D388110}"/>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5" name="Footer Placeholder 4">
            <a:extLst>
              <a:ext uri="{FF2B5EF4-FFF2-40B4-BE49-F238E27FC236}">
                <a16:creationId xmlns:a16="http://schemas.microsoft.com/office/drawing/2014/main" xmlns="" id="{E05CB1A1-C110-2123-F3B9-283E850196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2597BEE-9022-ECB1-ABEC-C7686B8A045E}"/>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4027978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13ACA342-7020-9CD1-96E7-362E8C1DAF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1D8A634-024A-D009-C0D6-B1E926A602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737A521-9F4F-F88F-E1E6-0BE53F27BF0D}"/>
              </a:ext>
            </a:extLst>
          </p:cNvPr>
          <p:cNvSpPr>
            <a:spLocks noGrp="1"/>
          </p:cNvSpPr>
          <p:nvPr>
            <p:ph type="dt" sz="half" idx="10"/>
          </p:nvPr>
        </p:nvSpPr>
        <p:spPr/>
        <p:txBody>
          <a:bodyPr/>
          <a:lstStyle/>
          <a:p>
            <a:fld id="{CAA0D388-195C-4227-9E97-58EF22D9696B}" type="datetimeFigureOut">
              <a:rPr lang="en-IN" smtClean="0"/>
              <a:t>10-10-2023</a:t>
            </a:fld>
            <a:endParaRPr lang="en-IN"/>
          </a:p>
        </p:txBody>
      </p:sp>
      <p:sp>
        <p:nvSpPr>
          <p:cNvPr id="5" name="Footer Placeholder 4">
            <a:extLst>
              <a:ext uri="{FF2B5EF4-FFF2-40B4-BE49-F238E27FC236}">
                <a16:creationId xmlns:a16="http://schemas.microsoft.com/office/drawing/2014/main" xmlns="" id="{8F19D37B-3802-C427-823A-BE5FE2AC5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75722EAA-265C-0DC3-5DA5-D8723CFB9AD8}"/>
              </a:ext>
            </a:extLst>
          </p:cNvPr>
          <p:cNvSpPr>
            <a:spLocks noGrp="1"/>
          </p:cNvSpPr>
          <p:nvPr>
            <p:ph type="sldNum" sz="quarter" idx="12"/>
          </p:nvPr>
        </p:nvSpPr>
        <p:spPr/>
        <p:txBody>
          <a:bodyPr/>
          <a:lstStyle/>
          <a:p>
            <a:fld id="{159915DE-3DE8-459F-81CC-854EF00B99C2}" type="slidenum">
              <a:rPr lang="en-IN" smtClean="0"/>
              <a:t>‹#›</a:t>
            </a:fld>
            <a:endParaRPr lang="en-IN"/>
          </a:p>
        </p:txBody>
      </p:sp>
    </p:spTree>
    <p:extLst>
      <p:ext uri="{BB962C8B-B14F-4D97-AF65-F5344CB8AC3E}">
        <p14:creationId xmlns:p14="http://schemas.microsoft.com/office/powerpoint/2010/main" val="2292046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523DF2E-9C0B-19F2-C1E8-8741868261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9EDB962-D4FE-22E8-05DA-95B0C6627F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5C7FFA2-AC0E-E622-09C8-DF4AC53F1B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A0D388-195C-4227-9E97-58EF22D9696B}" type="datetimeFigureOut">
              <a:rPr lang="en-IN" smtClean="0"/>
              <a:t>10-10-2023</a:t>
            </a:fld>
            <a:endParaRPr lang="en-IN"/>
          </a:p>
        </p:txBody>
      </p:sp>
      <p:sp>
        <p:nvSpPr>
          <p:cNvPr id="5" name="Footer Placeholder 4">
            <a:extLst>
              <a:ext uri="{FF2B5EF4-FFF2-40B4-BE49-F238E27FC236}">
                <a16:creationId xmlns:a16="http://schemas.microsoft.com/office/drawing/2014/main" xmlns="" id="{B1F9294D-2497-6782-B05E-19C49712DE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7CFC8B07-40C1-E70B-6921-D4C3B7E82A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9915DE-3DE8-459F-81CC-854EF00B99C2}" type="slidenum">
              <a:rPr lang="en-IN" smtClean="0"/>
              <a:t>‹#›</a:t>
            </a:fld>
            <a:endParaRPr lang="en-IN"/>
          </a:p>
        </p:txBody>
      </p:sp>
    </p:spTree>
    <p:extLst>
      <p:ext uri="{BB962C8B-B14F-4D97-AF65-F5344CB8AC3E}">
        <p14:creationId xmlns:p14="http://schemas.microsoft.com/office/powerpoint/2010/main" val="31032953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1F11DB-B547-62C5-BD32-CCFD5D1684A2}"/>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xmlns="" id="{B2D03AC3-7512-2BAB-33CB-72A73E2B5D4E}"/>
              </a:ext>
            </a:extLst>
          </p:cNvPr>
          <p:cNvSpPr>
            <a:spLocks noGrp="1"/>
          </p:cNvSpPr>
          <p:nvPr>
            <p:ph type="subTitle" idx="1"/>
          </p:nvPr>
        </p:nvSpPr>
        <p:spPr/>
        <p:txBody>
          <a:bodyPr/>
          <a:lstStyle/>
          <a:p>
            <a:endParaRPr lang="en-IN"/>
          </a:p>
        </p:txBody>
      </p:sp>
      <p:pic>
        <p:nvPicPr>
          <p:cNvPr id="4" name="Picture 3">
            <a:extLst>
              <a:ext uri="{FF2B5EF4-FFF2-40B4-BE49-F238E27FC236}">
                <a16:creationId xmlns:a16="http://schemas.microsoft.com/office/drawing/2014/main" xmlns="" id="{9844C216-BCEB-7D20-7787-09A5A0C59DCC}"/>
              </a:ext>
            </a:extLst>
          </p:cNvPr>
          <p:cNvPicPr>
            <a:picLocks noChangeAspect="1"/>
          </p:cNvPicPr>
          <p:nvPr/>
        </p:nvPicPr>
        <p:blipFill>
          <a:blip r:embed="rId2"/>
          <a:stretch>
            <a:fillRect/>
          </a:stretch>
        </p:blipFill>
        <p:spPr>
          <a:xfrm>
            <a:off x="1211580" y="480060"/>
            <a:ext cx="10218420" cy="5955029"/>
          </a:xfrm>
          <a:prstGeom prst="rect">
            <a:avLst/>
          </a:prstGeom>
        </p:spPr>
      </p:pic>
    </p:spTree>
    <p:extLst>
      <p:ext uri="{BB962C8B-B14F-4D97-AF65-F5344CB8AC3E}">
        <p14:creationId xmlns:p14="http://schemas.microsoft.com/office/powerpoint/2010/main" val="3444487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AAF818A-4C50-4D92-8826-DA7C1C666D5A}"/>
              </a:ext>
            </a:extLst>
          </p:cNvPr>
          <p:cNvSpPr txBox="1"/>
          <p:nvPr/>
        </p:nvSpPr>
        <p:spPr>
          <a:xfrm>
            <a:off x="1024128" y="434340"/>
            <a:ext cx="10451592" cy="286232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Defining Packages in java</a:t>
            </a:r>
          </a:p>
          <a:p>
            <a:endParaRPr lang="en-IN" sz="2000" dirty="0">
              <a:latin typeface="Times New Roman" panose="02020603050405020304" pitchFamily="18" charset="0"/>
              <a:cs typeface="Times New Roman" panose="02020603050405020304" pitchFamily="18" charset="0"/>
            </a:endParaRPr>
          </a:p>
          <a:p>
            <a:pPr algn="just"/>
            <a:r>
              <a:rPr lang="en-US" sz="2000" b="0" i="0" dirty="0">
                <a:effectLst/>
                <a:latin typeface="Times New Roman" panose="02020603050405020304" pitchFamily="18" charset="0"/>
                <a:cs typeface="Times New Roman" panose="02020603050405020304" pitchFamily="18" charset="0"/>
              </a:rPr>
              <a:t>In java, a package is a container of </a:t>
            </a:r>
            <a:r>
              <a:rPr lang="en-US" sz="2000" b="1" i="0" dirty="0">
                <a:effectLst/>
                <a:latin typeface="Times New Roman" panose="02020603050405020304" pitchFamily="18" charset="0"/>
                <a:cs typeface="Times New Roman" panose="02020603050405020304" pitchFamily="18" charset="0"/>
              </a:rPr>
              <a:t>classes, interfaces, and sub-packages</a:t>
            </a:r>
            <a:r>
              <a:rPr lang="en-US" sz="2000" b="0" i="0" dirty="0">
                <a:effectLst/>
                <a:latin typeface="Times New Roman" panose="02020603050405020304" pitchFamily="18" charset="0"/>
                <a:cs typeface="Times New Roman" panose="02020603050405020304" pitchFamily="18" charset="0"/>
              </a:rPr>
              <a:t>. We may think of it as a folder in a file directory.</a:t>
            </a:r>
          </a:p>
          <a:p>
            <a:pPr algn="just"/>
            <a:r>
              <a:rPr lang="en-US" sz="2000" b="0" i="0" dirty="0">
                <a:effectLst/>
                <a:latin typeface="Times New Roman" panose="02020603050405020304" pitchFamily="18" charset="0"/>
                <a:cs typeface="Times New Roman" panose="02020603050405020304" pitchFamily="18" charset="0"/>
              </a:rPr>
              <a:t>We use the packages to avoid naming conflicts and to organize project-related classes, interfaces, and sub-packages into a bundle.</a:t>
            </a:r>
          </a:p>
          <a:p>
            <a:pPr algn="just"/>
            <a:r>
              <a:rPr lang="en-US" sz="2000" b="0" i="0" dirty="0">
                <a:effectLst/>
                <a:latin typeface="Times New Roman" panose="02020603050405020304" pitchFamily="18" charset="0"/>
                <a:cs typeface="Times New Roman" panose="02020603050405020304" pitchFamily="18" charset="0"/>
              </a:rPr>
              <a:t>In java, the packages have divided into two types.</a:t>
            </a:r>
          </a:p>
          <a:p>
            <a:pPr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           Built-in Packages</a:t>
            </a:r>
          </a:p>
          <a:p>
            <a:pPr algn="jus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           User-defined Packages</a:t>
            </a:r>
          </a:p>
        </p:txBody>
      </p:sp>
      <p:sp>
        <p:nvSpPr>
          <p:cNvPr id="5" name="TextBox 4">
            <a:extLst>
              <a:ext uri="{FF2B5EF4-FFF2-40B4-BE49-F238E27FC236}">
                <a16:creationId xmlns:a16="http://schemas.microsoft.com/office/drawing/2014/main" xmlns="" id="{BD80572F-12D7-DABF-064E-9BAC821A45A3}"/>
              </a:ext>
            </a:extLst>
          </p:cNvPr>
          <p:cNvSpPr txBox="1"/>
          <p:nvPr/>
        </p:nvSpPr>
        <p:spPr>
          <a:xfrm>
            <a:off x="1210056" y="3704356"/>
            <a:ext cx="9957816" cy="224676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Built-in Packages</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built-in packages are the packages from java API. The Java API is a library of pre-defined classes, interfaces, and sub-packages. The built-in packages were included in the JDK.</a:t>
            </a:r>
          </a:p>
          <a:p>
            <a:pPr marL="342900" indent="-3429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There are many built-in packages in java, few of them are as java, lang, io, util, </a:t>
            </a:r>
            <a:r>
              <a:rPr lang="en-US" sz="2000" dirty="0" err="1">
                <a:latin typeface="Times New Roman" panose="02020603050405020304" pitchFamily="18" charset="0"/>
                <a:cs typeface="Times New Roman" panose="02020603050405020304" pitchFamily="18" charset="0"/>
              </a:rPr>
              <a:t>awt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javax</a:t>
            </a:r>
            <a:r>
              <a:rPr lang="en-US" sz="2000" dirty="0">
                <a:latin typeface="Times New Roman" panose="02020603050405020304" pitchFamily="18" charset="0"/>
                <a:cs typeface="Times New Roman" panose="02020603050405020304" pitchFamily="18" charset="0"/>
              </a:rPr>
              <a:t>, swing, net, </a:t>
            </a:r>
            <a:r>
              <a:rPr lang="en-US" sz="2000" dirty="0" err="1">
                <a:latin typeface="Times New Roman" panose="02020603050405020304" pitchFamily="18" charset="0"/>
                <a:cs typeface="Times New Roman" panose="02020603050405020304" pitchFamily="18" charset="0"/>
              </a:rPr>
              <a:t>sql</a:t>
            </a:r>
            <a:r>
              <a:rPr lang="en-US" sz="2000" dirty="0">
                <a:latin typeface="Times New Roman" panose="02020603050405020304" pitchFamily="18" charset="0"/>
                <a:cs typeface="Times New Roman" panose="02020603050405020304" pitchFamily="18" charset="0"/>
              </a:rPr>
              <a:t>, etc.</a:t>
            </a:r>
          </a:p>
        </p:txBody>
      </p:sp>
    </p:spTree>
    <p:extLst>
      <p:ext uri="{BB962C8B-B14F-4D97-AF65-F5344CB8AC3E}">
        <p14:creationId xmlns:p14="http://schemas.microsoft.com/office/powerpoint/2010/main" val="1959060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3AF55F18-04AE-E52D-BA33-E29D9388B074}"/>
              </a:ext>
            </a:extLst>
          </p:cNvPr>
          <p:cNvSpPr txBox="1"/>
          <p:nvPr/>
        </p:nvSpPr>
        <p:spPr>
          <a:xfrm>
            <a:off x="569976" y="1053453"/>
            <a:ext cx="9339072" cy="578619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We need to import the built-in packages to use them in our program. To import a package, we use the import statement.</a:t>
            </a:r>
          </a:p>
          <a:p>
            <a:endParaRPr lang="en-IN" dirty="0" smtClean="0"/>
          </a:p>
          <a:p>
            <a:r>
              <a:rPr lang="en-IN" dirty="0">
                <a:latin typeface="Times New Roman" panose="02020603050405020304" pitchFamily="18" charset="0"/>
                <a:cs typeface="Times New Roman" panose="02020603050405020304" pitchFamily="18" charset="0"/>
              </a:rPr>
              <a:t>There </a:t>
            </a:r>
            <a:r>
              <a:rPr lang="en-IN" dirty="0">
                <a:latin typeface="Times New Roman" panose="02020603050405020304" pitchFamily="18" charset="0"/>
                <a:cs typeface="Times New Roman" panose="02020603050405020304" pitchFamily="18" charset="0"/>
              </a:rPr>
              <a:t>are  six built-in packages :</a:t>
            </a:r>
          </a:p>
          <a:p>
            <a:endParaRPr lang="en-IN" dirty="0"/>
          </a:p>
          <a:p>
            <a:r>
              <a:rPr lang="en-IN" sz="2000" b="1" dirty="0" err="1">
                <a:latin typeface="Times New Roman" panose="02020603050405020304" pitchFamily="18" charset="0"/>
                <a:cs typeface="Times New Roman" panose="02020603050405020304" pitchFamily="18" charset="0"/>
              </a:rPr>
              <a:t>java.lang</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Contains classes for Strings, Math functions, Threads, and Exception</a:t>
            </a:r>
          </a:p>
          <a:p>
            <a:r>
              <a:rPr lang="en-IN" sz="2000" b="1" dirty="0" err="1">
                <a:latin typeface="Times New Roman" panose="02020603050405020304" pitchFamily="18" charset="0"/>
                <a:cs typeface="Times New Roman" panose="02020603050405020304" pitchFamily="18" charset="0"/>
              </a:rPr>
              <a:t>java.util</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Contains classes such as Scanner, </a:t>
            </a:r>
            <a:r>
              <a:rPr lang="en-IN" sz="2000" dirty="0" err="1">
                <a:latin typeface="Times New Roman" panose="02020603050405020304" pitchFamily="18" charset="0"/>
                <a:cs typeface="Times New Roman" panose="02020603050405020304" pitchFamily="18" charset="0"/>
              </a:rPr>
              <a:t>Vector,date</a:t>
            </a:r>
            <a:r>
              <a:rPr lang="en-IN" sz="2000" dirty="0">
                <a:latin typeface="Times New Roman" panose="02020603050405020304" pitchFamily="18" charset="0"/>
                <a:cs typeface="Times New Roman" panose="02020603050405020304" pitchFamily="18" charset="0"/>
              </a:rPr>
              <a:t>, Calendar etc.</a:t>
            </a:r>
          </a:p>
          <a:p>
            <a:r>
              <a:rPr lang="en-IN" sz="2000" b="1" dirty="0">
                <a:latin typeface="Times New Roman" panose="02020603050405020304" pitchFamily="18" charset="0"/>
                <a:cs typeface="Times New Roman" panose="02020603050405020304" pitchFamily="18" charset="0"/>
              </a:rPr>
              <a:t>java.io</a:t>
            </a:r>
          </a:p>
          <a:p>
            <a:r>
              <a:rPr lang="en-IN" sz="2000" dirty="0">
                <a:latin typeface="Times New Roman" panose="02020603050405020304" pitchFamily="18" charset="0"/>
                <a:cs typeface="Times New Roman" panose="02020603050405020304" pitchFamily="18" charset="0"/>
              </a:rPr>
              <a:t>Stream classes for I/O</a:t>
            </a:r>
          </a:p>
          <a:p>
            <a:r>
              <a:rPr lang="en-IN" sz="2000" b="1" dirty="0" err="1">
                <a:latin typeface="Times New Roman" panose="02020603050405020304" pitchFamily="18" charset="0"/>
                <a:cs typeface="Times New Roman" panose="02020603050405020304" pitchFamily="18" charset="0"/>
              </a:rPr>
              <a:t>java.awt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Classes for implementing GUI – Windows, Buttons, Menus etc.</a:t>
            </a:r>
          </a:p>
          <a:p>
            <a:r>
              <a:rPr lang="en-IN" sz="2000" b="1" dirty="0">
                <a:latin typeface="Times New Roman" panose="02020603050405020304" pitchFamily="18" charset="0"/>
                <a:cs typeface="Times New Roman" panose="02020603050405020304" pitchFamily="18" charset="0"/>
              </a:rPr>
              <a:t>java.net</a:t>
            </a:r>
          </a:p>
          <a:p>
            <a:r>
              <a:rPr lang="en-IN" sz="2000" dirty="0">
                <a:latin typeface="Times New Roman" panose="02020603050405020304" pitchFamily="18" charset="0"/>
                <a:cs typeface="Times New Roman" panose="02020603050405020304" pitchFamily="18" charset="0"/>
              </a:rPr>
              <a:t>Classes for Network programming</a:t>
            </a:r>
          </a:p>
          <a:p>
            <a:r>
              <a:rPr lang="en-IN" sz="2000" b="1" dirty="0" err="1">
                <a:latin typeface="Times New Roman" panose="02020603050405020304" pitchFamily="18" charset="0"/>
                <a:cs typeface="Times New Roman" panose="02020603050405020304" pitchFamily="18" charset="0"/>
              </a:rPr>
              <a:t>Java.sql</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Classes for Database accessing.</a:t>
            </a:r>
          </a:p>
          <a:p>
            <a:r>
              <a:rPr lang="en-IN" sz="2000" b="1" dirty="0" err="1">
                <a:latin typeface="Times New Roman" panose="02020603050405020304" pitchFamily="18" charset="0"/>
                <a:cs typeface="Times New Roman" panose="02020603050405020304" pitchFamily="18" charset="0"/>
              </a:rPr>
              <a:t>java.applet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Classes for creating and implementing applets</a:t>
            </a:r>
          </a:p>
        </p:txBody>
      </p:sp>
      <p:sp>
        <p:nvSpPr>
          <p:cNvPr id="3" name="TextBox 2">
            <a:extLst>
              <a:ext uri="{FF2B5EF4-FFF2-40B4-BE49-F238E27FC236}">
                <a16:creationId xmlns:a16="http://schemas.microsoft.com/office/drawing/2014/main" xmlns="" id="{B7DFB6DA-7FB9-9D05-44EA-F0A72AC5A630}"/>
              </a:ext>
            </a:extLst>
          </p:cNvPr>
          <p:cNvSpPr txBox="1"/>
          <p:nvPr/>
        </p:nvSpPr>
        <p:spPr>
          <a:xfrm>
            <a:off x="2279904" y="383176"/>
            <a:ext cx="691286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Java Built-In  Packages</a:t>
            </a:r>
          </a:p>
        </p:txBody>
      </p:sp>
    </p:spTree>
    <p:extLst>
      <p:ext uri="{BB962C8B-B14F-4D97-AF65-F5344CB8AC3E}">
        <p14:creationId xmlns:p14="http://schemas.microsoft.com/office/powerpoint/2010/main" val="3420982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5274B43E-8049-679D-3119-E295FBCC74B3}"/>
              </a:ext>
            </a:extLst>
          </p:cNvPr>
          <p:cNvPicPr>
            <a:picLocks noChangeAspect="1"/>
          </p:cNvPicPr>
          <p:nvPr/>
        </p:nvPicPr>
        <p:blipFill>
          <a:blip r:embed="rId2"/>
          <a:stretch>
            <a:fillRect/>
          </a:stretch>
        </p:blipFill>
        <p:spPr>
          <a:xfrm>
            <a:off x="639127" y="1253779"/>
            <a:ext cx="8882825" cy="4143375"/>
          </a:xfrm>
          <a:prstGeom prst="rect">
            <a:avLst/>
          </a:prstGeom>
        </p:spPr>
      </p:pic>
      <p:sp>
        <p:nvSpPr>
          <p:cNvPr id="3" name="TextBox 2"/>
          <p:cNvSpPr txBox="1"/>
          <p:nvPr/>
        </p:nvSpPr>
        <p:spPr>
          <a:xfrm>
            <a:off x="555171" y="359229"/>
            <a:ext cx="6357258" cy="369332"/>
          </a:xfrm>
          <a:prstGeom prst="rect">
            <a:avLst/>
          </a:prstGeom>
          <a:noFill/>
        </p:spPr>
        <p:txBody>
          <a:bodyPr wrap="square" rtlCol="0">
            <a:spAutoFit/>
          </a:bodyPr>
          <a:lstStyle/>
          <a:p>
            <a:r>
              <a:rPr lang="en-US" b="1" dirty="0" smtClean="0"/>
              <a:t>Java package hierarchy</a:t>
            </a:r>
            <a:endParaRPr lang="en-IN" b="1" dirty="0"/>
          </a:p>
        </p:txBody>
      </p:sp>
    </p:spTree>
    <p:extLst>
      <p:ext uri="{BB962C8B-B14F-4D97-AF65-F5344CB8AC3E}">
        <p14:creationId xmlns:p14="http://schemas.microsoft.com/office/powerpoint/2010/main" val="648604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AACA94C9-13D0-9498-D9A4-F0AAD4954145}"/>
              </a:ext>
            </a:extLst>
          </p:cNvPr>
          <p:cNvSpPr txBox="1"/>
          <p:nvPr/>
        </p:nvSpPr>
        <p:spPr>
          <a:xfrm>
            <a:off x="1165860" y="697230"/>
            <a:ext cx="9281160" cy="1015663"/>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User-defined </a:t>
            </a:r>
            <a:r>
              <a:rPr lang="en-US" sz="2000" b="1" dirty="0">
                <a:latin typeface="Times New Roman" panose="02020603050405020304" pitchFamily="18" charset="0"/>
                <a:cs typeface="Times New Roman" panose="02020603050405020304" pitchFamily="18" charset="0"/>
              </a:rPr>
              <a:t>Packages</a:t>
            </a:r>
          </a:p>
          <a:p>
            <a:r>
              <a:rPr lang="en-US" sz="2000" dirty="0">
                <a:latin typeface="Times New Roman" panose="02020603050405020304" pitchFamily="18" charset="0"/>
                <a:cs typeface="Times New Roman" panose="02020603050405020304" pitchFamily="18" charset="0"/>
              </a:rPr>
              <a:t>The user-defined packages are the packages created by the user. User is free to create their own packages.</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9F5A6A64-5472-1ABC-A218-1EE6B085691B}"/>
              </a:ext>
            </a:extLst>
          </p:cNvPr>
          <p:cNvSpPr txBox="1"/>
          <p:nvPr/>
        </p:nvSpPr>
        <p:spPr>
          <a:xfrm>
            <a:off x="1249680" y="2142278"/>
            <a:ext cx="9966960" cy="3477875"/>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Defining a Package in java</a:t>
            </a:r>
          </a:p>
          <a:p>
            <a:r>
              <a:rPr lang="en-US" sz="2000" dirty="0">
                <a:latin typeface="Times New Roman" panose="02020603050405020304" pitchFamily="18" charset="0"/>
                <a:cs typeface="Times New Roman" panose="02020603050405020304" pitchFamily="18" charset="0"/>
              </a:rPr>
              <a:t>We use the </a:t>
            </a:r>
            <a:r>
              <a:rPr lang="en-US" sz="2000" b="1" dirty="0">
                <a:latin typeface="Times New Roman" panose="02020603050405020304" pitchFamily="18" charset="0"/>
                <a:cs typeface="Times New Roman" panose="02020603050405020304" pitchFamily="18" charset="0"/>
              </a:rPr>
              <a:t>package</a:t>
            </a:r>
            <a:r>
              <a:rPr lang="en-US" sz="2000" dirty="0">
                <a:latin typeface="Times New Roman" panose="02020603050405020304" pitchFamily="18" charset="0"/>
                <a:cs typeface="Times New Roman" panose="02020603050405020304" pitchFamily="18" charset="0"/>
              </a:rPr>
              <a:t> keyword to create or define a package in java programming language.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Syntax</a:t>
            </a:r>
          </a:p>
          <a:p>
            <a:r>
              <a:rPr lang="en-US" sz="2000" b="1" dirty="0">
                <a:latin typeface="Times New Roman" panose="02020603050405020304" pitchFamily="18" charset="0"/>
                <a:cs typeface="Times New Roman" panose="02020603050405020304" pitchFamily="18" charset="0"/>
              </a:rPr>
              <a:t>package </a:t>
            </a:r>
            <a:r>
              <a:rPr lang="en-US" sz="2000" b="1" dirty="0" err="1">
                <a:latin typeface="Times New Roman" panose="02020603050405020304" pitchFamily="18" charset="0"/>
                <a:cs typeface="Times New Roman" panose="02020603050405020304" pitchFamily="18" charset="0"/>
              </a:rPr>
              <a:t>packageName</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The package statement must be the first statement in the program.</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The package name must be a single word.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The package name must use Camel case notation.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2882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0974D17-E7D3-17D2-ECA7-168BF7037FC0}"/>
              </a:ext>
            </a:extLst>
          </p:cNvPr>
          <p:cNvSpPr txBox="1"/>
          <p:nvPr/>
        </p:nvSpPr>
        <p:spPr>
          <a:xfrm>
            <a:off x="1120139" y="765810"/>
            <a:ext cx="10432733" cy="1600438"/>
          </a:xfrm>
          <a:prstGeom prst="rect">
            <a:avLst/>
          </a:prstGeom>
          <a:noFill/>
        </p:spPr>
        <p:txBody>
          <a:bodyPr wrap="square" rtlCol="0">
            <a:spAutoFit/>
          </a:bodyPr>
          <a:lstStyle/>
          <a:p>
            <a:pPr algn="just"/>
            <a:r>
              <a:rPr lang="en-US" sz="2000" b="1" i="0" dirty="0">
                <a:effectLst/>
                <a:latin typeface="Times New Roman" panose="02020603050405020304" pitchFamily="18" charset="0"/>
                <a:cs typeface="Times New Roman" panose="02020603050405020304" pitchFamily="18" charset="0"/>
              </a:rPr>
              <a:t>Advantage of Java Package</a:t>
            </a:r>
          </a:p>
          <a:p>
            <a:pPr algn="just"/>
            <a:r>
              <a:rPr lang="en-US" sz="2000" b="0" i="0" dirty="0">
                <a:effectLst/>
                <a:latin typeface="Times New Roman" panose="02020603050405020304" pitchFamily="18" charset="0"/>
                <a:cs typeface="Times New Roman" panose="02020603050405020304" pitchFamily="18" charset="0"/>
              </a:rPr>
              <a:t>1) Java package is used to categorize the classes and interfaces so that they can be easily maintained.</a:t>
            </a:r>
          </a:p>
          <a:p>
            <a:pPr algn="just"/>
            <a:r>
              <a:rPr lang="en-US" sz="2000" b="0" i="0" dirty="0">
                <a:effectLst/>
                <a:latin typeface="Times New Roman" panose="02020603050405020304" pitchFamily="18" charset="0"/>
                <a:cs typeface="Times New Roman" panose="02020603050405020304" pitchFamily="18" charset="0"/>
              </a:rPr>
              <a:t>2) Java package provides access protection.</a:t>
            </a:r>
          </a:p>
          <a:p>
            <a:pPr algn="just"/>
            <a:r>
              <a:rPr lang="en-US" sz="2000" b="0" i="0" dirty="0">
                <a:effectLst/>
                <a:latin typeface="Times New Roman" panose="02020603050405020304" pitchFamily="18" charset="0"/>
                <a:cs typeface="Times New Roman" panose="02020603050405020304" pitchFamily="18" charset="0"/>
              </a:rPr>
              <a:t>3) Java package removes naming collision.</a:t>
            </a:r>
          </a:p>
          <a:p>
            <a:endParaRPr lang="en-IN" dirty="0"/>
          </a:p>
        </p:txBody>
      </p:sp>
      <p:sp>
        <p:nvSpPr>
          <p:cNvPr id="4" name="TextBox 3">
            <a:extLst>
              <a:ext uri="{FF2B5EF4-FFF2-40B4-BE49-F238E27FC236}">
                <a16:creationId xmlns:a16="http://schemas.microsoft.com/office/drawing/2014/main" xmlns="" id="{FC09B2DD-B259-8ADD-8B85-CDDCD4322F96}"/>
              </a:ext>
            </a:extLst>
          </p:cNvPr>
          <p:cNvSpPr txBox="1"/>
          <p:nvPr/>
        </p:nvSpPr>
        <p:spPr>
          <a:xfrm>
            <a:off x="634637" y="2366248"/>
            <a:ext cx="9364980" cy="369332"/>
          </a:xfrm>
          <a:prstGeom prst="rect">
            <a:avLst/>
          </a:prstGeom>
          <a:noFill/>
        </p:spPr>
        <p:txBody>
          <a:bodyPr wrap="square" rtlCol="0">
            <a:spAutoFit/>
          </a:bodyPr>
          <a:lstStyle/>
          <a:p>
            <a:r>
              <a:rPr lang="en-US" dirty="0"/>
              <a:t>Let's consider the following code to create a user-defined package myPackage.</a:t>
            </a:r>
            <a:endParaRPr lang="en-IN" dirty="0"/>
          </a:p>
        </p:txBody>
      </p:sp>
      <p:sp>
        <p:nvSpPr>
          <p:cNvPr id="5" name="TextBox 4">
            <a:extLst>
              <a:ext uri="{FF2B5EF4-FFF2-40B4-BE49-F238E27FC236}">
                <a16:creationId xmlns:a16="http://schemas.microsoft.com/office/drawing/2014/main" xmlns="" id="{54629D66-6C92-4961-7059-DC415AC7EE1B}"/>
              </a:ext>
            </a:extLst>
          </p:cNvPr>
          <p:cNvSpPr txBox="1"/>
          <p:nvPr/>
        </p:nvSpPr>
        <p:spPr>
          <a:xfrm>
            <a:off x="598170" y="2835226"/>
            <a:ext cx="8705850" cy="3477875"/>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package </a:t>
            </a:r>
            <a:r>
              <a:rPr lang="en-IN" sz="2000" dirty="0" err="1">
                <a:latin typeface="Times New Roman" panose="02020603050405020304" pitchFamily="18" charset="0"/>
                <a:cs typeface="Times New Roman" panose="02020603050405020304" pitchFamily="18" charset="0"/>
              </a:rPr>
              <a:t>myPackage</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public class </a:t>
            </a:r>
            <a:r>
              <a:rPr lang="en-IN" sz="2000" dirty="0" err="1">
                <a:latin typeface="Times New Roman" panose="02020603050405020304" pitchFamily="18" charset="0"/>
                <a:cs typeface="Times New Roman" panose="02020603050405020304" pitchFamily="18" charset="0"/>
              </a:rPr>
              <a:t>DefiningPackage</a:t>
            </a:r>
            <a:r>
              <a:rPr lang="en-IN" sz="20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public static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System.out.println</a:t>
            </a:r>
            <a:r>
              <a:rPr lang="en-IN" sz="2000" dirty="0">
                <a:latin typeface="Times New Roman" panose="02020603050405020304" pitchFamily="18" charset="0"/>
                <a:cs typeface="Times New Roman" panose="02020603050405020304" pitchFamily="18" charset="0"/>
              </a:rPr>
              <a:t>("This class belongs to </a:t>
            </a:r>
            <a:r>
              <a:rPr lang="en-IN" sz="2000" dirty="0" err="1">
                <a:latin typeface="Times New Roman" panose="02020603050405020304" pitchFamily="18" charset="0"/>
                <a:cs typeface="Times New Roman" panose="02020603050405020304" pitchFamily="18" charset="0"/>
              </a:rPr>
              <a:t>myPackage</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14529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A6FD2266-8448-6531-1A95-4E111C9014BD}"/>
              </a:ext>
            </a:extLst>
          </p:cNvPr>
          <p:cNvSpPr txBox="1"/>
          <p:nvPr/>
        </p:nvSpPr>
        <p:spPr>
          <a:xfrm>
            <a:off x="1051560" y="491490"/>
            <a:ext cx="8433816" cy="3447098"/>
          </a:xfrm>
          <a:prstGeom prst="rect">
            <a:avLst/>
          </a:prstGeom>
          <a:noFill/>
        </p:spPr>
        <p:txBody>
          <a:bodyPr wrap="square" rtlCol="0">
            <a:spAutoFit/>
          </a:bodyPr>
          <a:lstStyle/>
          <a:p>
            <a:pPr algn="just"/>
            <a:r>
              <a:rPr lang="en-US" sz="2000" b="1" i="0" dirty="0">
                <a:effectLst/>
                <a:latin typeface="Times New Roman" panose="02020603050405020304" pitchFamily="18" charset="0"/>
                <a:cs typeface="Times New Roman" panose="02020603050405020304" pitchFamily="18" charset="0"/>
              </a:rPr>
              <a:t>How to access package from another package?</a:t>
            </a:r>
          </a:p>
          <a:p>
            <a:pPr algn="just"/>
            <a:endParaRPr lang="en-US" sz="2000" b="1" i="0" dirty="0">
              <a:effectLst/>
              <a:latin typeface="Times New Roman" panose="02020603050405020304" pitchFamily="18" charset="0"/>
              <a:cs typeface="Times New Roman" panose="02020603050405020304" pitchFamily="18" charset="0"/>
            </a:endParaRPr>
          </a:p>
          <a:p>
            <a:pPr algn="just"/>
            <a:r>
              <a:rPr lang="en-US" sz="2000" b="0" i="0" dirty="0">
                <a:effectLst/>
                <a:latin typeface="Times New Roman" panose="02020603050405020304" pitchFamily="18" charset="0"/>
                <a:cs typeface="Times New Roman" panose="02020603050405020304" pitchFamily="18" charset="0"/>
              </a:rPr>
              <a:t>There are three ways to access the package from outside the package</a:t>
            </a:r>
            <a:r>
              <a:rPr lang="en-US" sz="2000" b="0" i="0" dirty="0" smtClean="0">
                <a:effectLst/>
                <a:latin typeface="Times New Roman" panose="02020603050405020304" pitchFamily="18" charset="0"/>
                <a:cs typeface="Times New Roman" panose="02020603050405020304" pitchFamily="18" charset="0"/>
              </a:rPr>
              <a:t>.</a:t>
            </a:r>
          </a:p>
          <a:p>
            <a:pPr algn="just"/>
            <a:endParaRPr lang="en-US" sz="2000" b="0" i="0" dirty="0">
              <a:effectLst/>
              <a:latin typeface="Times New Roman" panose="02020603050405020304" pitchFamily="18" charset="0"/>
              <a:cs typeface="Times New Roman" panose="02020603050405020304" pitchFamily="18" charset="0"/>
            </a:endParaRPr>
          </a:p>
          <a:p>
            <a:pPr algn="just">
              <a:lnSpc>
                <a:spcPct val="200000"/>
              </a:lnSpc>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import package.*;</a:t>
            </a:r>
          </a:p>
          <a:p>
            <a:pPr algn="just">
              <a:lnSpc>
                <a:spcPct val="200000"/>
              </a:lnSpc>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import </a:t>
            </a:r>
            <a:r>
              <a:rPr lang="en-US" sz="2000" b="0" i="0" dirty="0" err="1">
                <a:solidFill>
                  <a:srgbClr val="000000"/>
                </a:solidFill>
                <a:effectLst/>
                <a:latin typeface="Times New Roman" panose="02020603050405020304" pitchFamily="18" charset="0"/>
                <a:cs typeface="Times New Roman" panose="02020603050405020304" pitchFamily="18" charset="0"/>
              </a:rPr>
              <a:t>package.classname</a:t>
            </a:r>
            <a:r>
              <a:rPr lang="en-US" sz="2000" b="0" i="0" dirty="0">
                <a:solidFill>
                  <a:srgbClr val="000000"/>
                </a:solidFill>
                <a:effectLst/>
                <a:latin typeface="Times New Roman" panose="02020603050405020304" pitchFamily="18" charset="0"/>
                <a:cs typeface="Times New Roman" panose="02020603050405020304" pitchFamily="18" charset="0"/>
              </a:rPr>
              <a:t>;</a:t>
            </a:r>
          </a:p>
          <a:p>
            <a:pPr algn="just">
              <a:lnSpc>
                <a:spcPct val="200000"/>
              </a:lnSpc>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fully qualified name.</a:t>
            </a:r>
          </a:p>
          <a:p>
            <a:endParaRPr lang="en-IN" dirty="0"/>
          </a:p>
        </p:txBody>
      </p:sp>
    </p:spTree>
    <p:extLst>
      <p:ext uri="{BB962C8B-B14F-4D97-AF65-F5344CB8AC3E}">
        <p14:creationId xmlns:p14="http://schemas.microsoft.com/office/powerpoint/2010/main" val="2536946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C0A78728-95AD-55BC-6D74-8E9EFCEAEEFF}"/>
              </a:ext>
            </a:extLst>
          </p:cNvPr>
          <p:cNvSpPr txBox="1"/>
          <p:nvPr/>
        </p:nvSpPr>
        <p:spPr>
          <a:xfrm>
            <a:off x="685800" y="601951"/>
            <a:ext cx="10774680" cy="2000548"/>
          </a:xfrm>
          <a:prstGeom prst="rect">
            <a:avLst/>
          </a:prstGeom>
          <a:noFill/>
        </p:spPr>
        <p:txBody>
          <a:bodyPr wrap="square" rtlCol="0">
            <a:spAutoFit/>
          </a:bodyPr>
          <a:lstStyle/>
          <a:p>
            <a:r>
              <a:rPr lang="en-US" sz="2400" b="1" dirty="0"/>
              <a:t>1) Using packagename.*</a:t>
            </a: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If you use package.* then all the classes and interfaces of this package will be accessible but not </a:t>
            </a:r>
            <a:r>
              <a:rPr lang="en-US" sz="2000" dirty="0" err="1">
                <a:latin typeface="Times New Roman" panose="02020603050405020304" pitchFamily="18" charset="0"/>
                <a:cs typeface="Times New Roman" panose="02020603050405020304" pitchFamily="18" charset="0"/>
              </a:rPr>
              <a:t>subpackages</a:t>
            </a:r>
            <a:r>
              <a:rPr lang="en-US" sz="20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import keyword is used to make the classes and interface of another package accessible to the current package.</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0E9BA913-DCCE-5876-ACD1-B858BC30A47E}"/>
              </a:ext>
            </a:extLst>
          </p:cNvPr>
          <p:cNvSpPr txBox="1"/>
          <p:nvPr/>
        </p:nvSpPr>
        <p:spPr>
          <a:xfrm>
            <a:off x="1097280" y="2514600"/>
            <a:ext cx="7738110" cy="369332"/>
          </a:xfrm>
          <a:prstGeom prst="rect">
            <a:avLst/>
          </a:prstGeom>
          <a:noFill/>
        </p:spPr>
        <p:txBody>
          <a:bodyPr wrap="square" rtlCol="0">
            <a:spAutoFit/>
          </a:bodyPr>
          <a:lstStyle/>
          <a:p>
            <a:r>
              <a:rPr lang="en-US"/>
              <a:t>Example of package that import the packagename.*</a:t>
            </a:r>
            <a:endParaRPr lang="en-IN" dirty="0"/>
          </a:p>
        </p:txBody>
      </p:sp>
      <p:sp>
        <p:nvSpPr>
          <p:cNvPr id="4" name="TextBox 3">
            <a:extLst>
              <a:ext uri="{FF2B5EF4-FFF2-40B4-BE49-F238E27FC236}">
                <a16:creationId xmlns:a16="http://schemas.microsoft.com/office/drawing/2014/main" xmlns="" id="{AF254E11-8712-129F-F6E4-60C12C7B2823}"/>
              </a:ext>
            </a:extLst>
          </p:cNvPr>
          <p:cNvSpPr txBox="1"/>
          <p:nvPr/>
        </p:nvSpPr>
        <p:spPr>
          <a:xfrm>
            <a:off x="685800" y="3143250"/>
            <a:ext cx="5410200" cy="3139321"/>
          </a:xfrm>
          <a:prstGeom prst="rect">
            <a:avLst/>
          </a:prstGeom>
          <a:noFill/>
        </p:spPr>
        <p:txBody>
          <a:bodyPr wrap="square" rtlCol="0">
            <a:spAutoFit/>
          </a:bodyPr>
          <a:lstStyle/>
          <a:p>
            <a:pPr algn="just"/>
            <a:r>
              <a:rPr lang="en-IN" sz="2000" b="0" i="0" dirty="0">
                <a:effectLst/>
                <a:latin typeface="inter-regular"/>
              </a:rPr>
              <a:t>//save by A.java  </a:t>
            </a:r>
          </a:p>
          <a:p>
            <a:pPr algn="just"/>
            <a:r>
              <a:rPr lang="en-IN" sz="2000" b="1" i="0" dirty="0">
                <a:effectLst/>
                <a:latin typeface="inter-regular"/>
              </a:rPr>
              <a:t>package</a:t>
            </a:r>
            <a:r>
              <a:rPr lang="en-IN" sz="2000" b="0" i="0" dirty="0">
                <a:effectLst/>
                <a:latin typeface="inter-regular"/>
              </a:rPr>
              <a:t> pack;  </a:t>
            </a:r>
          </a:p>
          <a:p>
            <a:pPr algn="just"/>
            <a:r>
              <a:rPr lang="en-IN" sz="2000" b="1" i="0" dirty="0">
                <a:effectLst/>
                <a:latin typeface="inter-regular"/>
              </a:rPr>
              <a:t>public</a:t>
            </a:r>
            <a:r>
              <a:rPr lang="en-IN" sz="2000" b="0" i="0" dirty="0">
                <a:effectLst/>
                <a:latin typeface="inter-regular"/>
              </a:rPr>
              <a:t> </a:t>
            </a:r>
            <a:r>
              <a:rPr lang="en-IN" sz="2000" b="1" i="0" dirty="0">
                <a:effectLst/>
                <a:latin typeface="inter-regular"/>
              </a:rPr>
              <a:t>class</a:t>
            </a:r>
            <a:r>
              <a:rPr lang="en-IN" sz="2000" b="0" i="0" dirty="0">
                <a:effectLst/>
                <a:latin typeface="inter-regular"/>
              </a:rPr>
              <a:t> A{  </a:t>
            </a:r>
          </a:p>
          <a:p>
            <a:pPr algn="just"/>
            <a:r>
              <a:rPr lang="en-IN" sz="2000" b="0" i="0" dirty="0">
                <a:effectLst/>
                <a:latin typeface="inter-regular"/>
              </a:rPr>
              <a:t>  </a:t>
            </a:r>
            <a:r>
              <a:rPr lang="en-IN" sz="2000" b="1" i="0" dirty="0">
                <a:effectLst/>
                <a:latin typeface="inter-regular"/>
              </a:rPr>
              <a:t>public</a:t>
            </a:r>
            <a:r>
              <a:rPr lang="en-IN" sz="2000" b="0" i="0" dirty="0">
                <a:effectLst/>
                <a:latin typeface="inter-regular"/>
              </a:rPr>
              <a:t> </a:t>
            </a:r>
            <a:r>
              <a:rPr lang="en-IN" sz="2000" b="1" i="0" dirty="0">
                <a:effectLst/>
                <a:latin typeface="inter-regular"/>
              </a:rPr>
              <a:t>void</a:t>
            </a:r>
            <a:r>
              <a:rPr lang="en-IN" sz="2000" b="0" i="0" dirty="0">
                <a:effectLst/>
                <a:latin typeface="inter-regular"/>
              </a:rPr>
              <a:t> </a:t>
            </a:r>
            <a:r>
              <a:rPr lang="en-IN" sz="2000" b="0" i="0" dirty="0" err="1">
                <a:effectLst/>
                <a:latin typeface="inter-regular"/>
              </a:rPr>
              <a:t>msg</a:t>
            </a:r>
            <a:r>
              <a:rPr lang="en-IN" sz="2000" b="0" i="0" dirty="0">
                <a:effectLst/>
                <a:latin typeface="inter-regular"/>
              </a:rPr>
              <a:t>()</a:t>
            </a:r>
          </a:p>
          <a:p>
            <a:pPr algn="just"/>
            <a:r>
              <a:rPr lang="en-IN" sz="2000" b="0" i="0" dirty="0">
                <a:effectLst/>
                <a:latin typeface="inter-regular"/>
              </a:rPr>
              <a:t>{</a:t>
            </a:r>
          </a:p>
          <a:p>
            <a:pPr algn="just"/>
            <a:r>
              <a:rPr lang="en-IN" sz="2000" b="0" i="0" dirty="0" err="1">
                <a:effectLst/>
                <a:latin typeface="inter-regular"/>
              </a:rPr>
              <a:t>System.out.println</a:t>
            </a:r>
            <a:r>
              <a:rPr lang="en-IN" sz="2000" b="0" i="0" dirty="0">
                <a:effectLst/>
                <a:latin typeface="inter-regular"/>
              </a:rPr>
              <a:t>("Hello");</a:t>
            </a:r>
          </a:p>
          <a:p>
            <a:pPr algn="just"/>
            <a:r>
              <a:rPr lang="en-IN" sz="2000" b="0" i="0" dirty="0">
                <a:effectLst/>
                <a:latin typeface="inter-regular"/>
              </a:rPr>
              <a:t>}  </a:t>
            </a:r>
          </a:p>
          <a:p>
            <a:pPr algn="just"/>
            <a:r>
              <a:rPr lang="en-IN" sz="2000" b="0" i="0" dirty="0">
                <a:effectLst/>
                <a:latin typeface="inter-regular"/>
              </a:rPr>
              <a:t>}  </a:t>
            </a:r>
          </a:p>
          <a:p>
            <a:pPr algn="just"/>
            <a:r>
              <a:rPr lang="en-IN" sz="2000" b="0" i="0" dirty="0">
                <a:effectLst/>
                <a:latin typeface="inter-regular"/>
              </a:rPr>
              <a:t> </a:t>
            </a:r>
          </a:p>
          <a:p>
            <a:endParaRPr lang="en-IN" dirty="0"/>
          </a:p>
        </p:txBody>
      </p:sp>
      <p:sp>
        <p:nvSpPr>
          <p:cNvPr id="5" name="TextBox 4">
            <a:extLst>
              <a:ext uri="{FF2B5EF4-FFF2-40B4-BE49-F238E27FC236}">
                <a16:creationId xmlns:a16="http://schemas.microsoft.com/office/drawing/2014/main" xmlns="" id="{CB075970-6BE6-A68A-9DA6-A29BEF5325C0}"/>
              </a:ext>
            </a:extLst>
          </p:cNvPr>
          <p:cNvSpPr txBox="1"/>
          <p:nvPr/>
        </p:nvSpPr>
        <p:spPr>
          <a:xfrm>
            <a:off x="6526530" y="3028950"/>
            <a:ext cx="4480560" cy="3477875"/>
          </a:xfrm>
          <a:prstGeom prst="rect">
            <a:avLst/>
          </a:prstGeom>
          <a:noFill/>
        </p:spPr>
        <p:txBody>
          <a:bodyPr wrap="square" rtlCol="0">
            <a:spAutoFit/>
          </a:bodyPr>
          <a:lstStyle/>
          <a:p>
            <a:r>
              <a:rPr lang="en-IN" sz="2000" b="1" dirty="0"/>
              <a:t>//save by B.java  </a:t>
            </a:r>
          </a:p>
          <a:p>
            <a:r>
              <a:rPr lang="en-IN" sz="2000" b="1" dirty="0"/>
              <a:t>package </a:t>
            </a:r>
            <a:r>
              <a:rPr lang="en-IN" sz="2000" b="1" dirty="0" err="1"/>
              <a:t>mypack</a:t>
            </a:r>
            <a:r>
              <a:rPr lang="en-IN" sz="2000" b="1" dirty="0"/>
              <a:t>;  </a:t>
            </a:r>
          </a:p>
          <a:p>
            <a:r>
              <a:rPr lang="en-IN" sz="2000" b="1" dirty="0"/>
              <a:t>import pack.*;  </a:t>
            </a:r>
          </a:p>
          <a:p>
            <a:r>
              <a:rPr lang="en-IN" sz="2000" b="1" dirty="0"/>
              <a:t>  </a:t>
            </a:r>
          </a:p>
          <a:p>
            <a:r>
              <a:rPr lang="en-IN" sz="2000" b="1" dirty="0"/>
              <a:t>class B{  </a:t>
            </a:r>
          </a:p>
          <a:p>
            <a:r>
              <a:rPr lang="en-IN" sz="2000" b="1" dirty="0"/>
              <a:t>  public static void main(String </a:t>
            </a:r>
            <a:r>
              <a:rPr lang="en-IN" sz="2000" b="1" dirty="0" err="1"/>
              <a:t>args</a:t>
            </a:r>
            <a:r>
              <a:rPr lang="en-IN" sz="2000" b="1" dirty="0"/>
              <a:t>[]){  </a:t>
            </a:r>
          </a:p>
          <a:p>
            <a:r>
              <a:rPr lang="en-IN" sz="2000" b="1" dirty="0"/>
              <a:t>   A </a:t>
            </a:r>
            <a:r>
              <a:rPr lang="en-IN" sz="2000" b="1" dirty="0" err="1"/>
              <a:t>obj</a:t>
            </a:r>
            <a:r>
              <a:rPr lang="en-IN" sz="2000" b="1" dirty="0"/>
              <a:t> = new A();  </a:t>
            </a:r>
          </a:p>
          <a:p>
            <a:r>
              <a:rPr lang="en-IN" sz="2000" b="1" dirty="0"/>
              <a:t>   obj.msg();  </a:t>
            </a:r>
          </a:p>
          <a:p>
            <a:r>
              <a:rPr lang="en-IN" sz="2000" b="1" dirty="0"/>
              <a:t>  }  </a:t>
            </a:r>
          </a:p>
          <a:p>
            <a:r>
              <a:rPr lang="en-IN" sz="2000" b="1" dirty="0"/>
              <a:t>}  </a:t>
            </a:r>
          </a:p>
          <a:p>
            <a:r>
              <a:rPr lang="en-IN" sz="2000" b="1" dirty="0" err="1"/>
              <a:t>Output:Hello</a:t>
            </a:r>
            <a:endParaRPr lang="en-IN" sz="2000" b="1" dirty="0"/>
          </a:p>
        </p:txBody>
      </p:sp>
    </p:spTree>
    <p:extLst>
      <p:ext uri="{BB962C8B-B14F-4D97-AF65-F5344CB8AC3E}">
        <p14:creationId xmlns:p14="http://schemas.microsoft.com/office/powerpoint/2010/main" val="2280250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EF7B2CD-24D9-8AE3-12DB-A8F949536D85}"/>
              </a:ext>
            </a:extLst>
          </p:cNvPr>
          <p:cNvSpPr txBox="1"/>
          <p:nvPr/>
        </p:nvSpPr>
        <p:spPr>
          <a:xfrm>
            <a:off x="994410" y="422910"/>
            <a:ext cx="9086850" cy="1231106"/>
          </a:xfrm>
          <a:prstGeom prst="rect">
            <a:avLst/>
          </a:prstGeom>
          <a:noFill/>
        </p:spPr>
        <p:txBody>
          <a:bodyPr wrap="square" rtlCol="0">
            <a:spAutoFit/>
          </a:bodyPr>
          <a:lstStyle/>
          <a:p>
            <a:r>
              <a:rPr lang="en-US" sz="2000" b="1" dirty="0"/>
              <a:t>2) Using </a:t>
            </a:r>
            <a:r>
              <a:rPr lang="en-US" sz="2000" b="1" dirty="0" err="1"/>
              <a:t>packagename.classname</a:t>
            </a:r>
            <a:endParaRPr lang="en-US" sz="2000" b="1" dirty="0"/>
          </a:p>
          <a:p>
            <a:pPr marL="285750" indent="-285750">
              <a:buFont typeface="Wingdings" panose="05000000000000000000" pitchFamily="2" charset="2"/>
              <a:buChar char="Ø"/>
            </a:pPr>
            <a:r>
              <a:rPr lang="en-US" dirty="0"/>
              <a:t>If you import </a:t>
            </a:r>
            <a:r>
              <a:rPr lang="en-US" dirty="0" err="1"/>
              <a:t>package.classname</a:t>
            </a:r>
            <a:r>
              <a:rPr lang="en-US" dirty="0"/>
              <a:t> then only declared class of this package will be accessible.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Example of package by import </a:t>
            </a:r>
            <a:r>
              <a:rPr lang="en-US" dirty="0" err="1"/>
              <a:t>package.classname</a:t>
            </a:r>
            <a:endParaRPr lang="en-IN" dirty="0"/>
          </a:p>
        </p:txBody>
      </p:sp>
      <p:sp>
        <p:nvSpPr>
          <p:cNvPr id="3" name="TextBox 2">
            <a:extLst>
              <a:ext uri="{FF2B5EF4-FFF2-40B4-BE49-F238E27FC236}">
                <a16:creationId xmlns:a16="http://schemas.microsoft.com/office/drawing/2014/main" xmlns="" id="{20BDD3C7-84DA-0D0F-C775-E52B033AC30A}"/>
              </a:ext>
            </a:extLst>
          </p:cNvPr>
          <p:cNvSpPr txBox="1"/>
          <p:nvPr/>
        </p:nvSpPr>
        <p:spPr>
          <a:xfrm>
            <a:off x="707136" y="1931670"/>
            <a:ext cx="4790694" cy="2554545"/>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//save by A.java  </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package pack;  </a:t>
            </a:r>
          </a:p>
          <a:p>
            <a:r>
              <a:rPr lang="en-IN" sz="2000" dirty="0">
                <a:latin typeface="Times New Roman" panose="02020603050405020304" pitchFamily="18" charset="0"/>
                <a:cs typeface="Times New Roman" panose="02020603050405020304" pitchFamily="18" charset="0"/>
              </a:rPr>
              <a:t>public class A{  </a:t>
            </a:r>
          </a:p>
          <a:p>
            <a:r>
              <a:rPr lang="en-IN" sz="2000" dirty="0">
                <a:latin typeface="Times New Roman" panose="02020603050405020304" pitchFamily="18" charset="0"/>
                <a:cs typeface="Times New Roman" panose="02020603050405020304" pitchFamily="18" charset="0"/>
              </a:rPr>
              <a:t>  public void </a:t>
            </a:r>
            <a:r>
              <a:rPr lang="en-IN" sz="2000" dirty="0" err="1">
                <a:latin typeface="Times New Roman" panose="02020603050405020304" pitchFamily="18" charset="0"/>
                <a:cs typeface="Times New Roman" panose="02020603050405020304" pitchFamily="18" charset="0"/>
              </a:rPr>
              <a:t>msg</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a:t>
            </a:r>
          </a:p>
          <a:p>
            <a:r>
              <a:rPr lang="en-IN" sz="2000" dirty="0" err="1">
                <a:latin typeface="Times New Roman" panose="02020603050405020304" pitchFamily="18" charset="0"/>
                <a:cs typeface="Times New Roman" panose="02020603050405020304" pitchFamily="18" charset="0"/>
              </a:rPr>
              <a:t>System.out.println</a:t>
            </a:r>
            <a:r>
              <a:rPr lang="en-IN" sz="2000" dirty="0">
                <a:latin typeface="Times New Roman" panose="02020603050405020304" pitchFamily="18" charset="0"/>
                <a:cs typeface="Times New Roman" panose="02020603050405020304" pitchFamily="18" charset="0"/>
              </a:rPr>
              <a:t>("Hello");}  </a:t>
            </a:r>
          </a:p>
          <a:p>
            <a:r>
              <a:rPr lang="en-IN" sz="2000"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xmlns="" id="{51695E37-8D7E-9893-6B6C-7F9EE10194F4}"/>
              </a:ext>
            </a:extLst>
          </p:cNvPr>
          <p:cNvSpPr txBox="1"/>
          <p:nvPr/>
        </p:nvSpPr>
        <p:spPr>
          <a:xfrm>
            <a:off x="6303264" y="1851660"/>
            <a:ext cx="4898136" cy="3785652"/>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//save by B.java  </a:t>
            </a:r>
          </a:p>
          <a:p>
            <a:r>
              <a:rPr lang="en-IN" sz="2000" dirty="0">
                <a:latin typeface="Times New Roman" panose="02020603050405020304" pitchFamily="18" charset="0"/>
                <a:cs typeface="Times New Roman" panose="02020603050405020304" pitchFamily="18" charset="0"/>
              </a:rPr>
              <a:t>package </a:t>
            </a:r>
            <a:r>
              <a:rPr lang="en-IN" sz="2000" dirty="0" err="1">
                <a:latin typeface="Times New Roman" panose="02020603050405020304" pitchFamily="18" charset="0"/>
                <a:cs typeface="Times New Roman" panose="02020603050405020304" pitchFamily="18" charset="0"/>
              </a:rPr>
              <a:t>mypack</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import </a:t>
            </a:r>
            <a:r>
              <a:rPr lang="en-IN" sz="2000" dirty="0" err="1">
                <a:latin typeface="Times New Roman" panose="02020603050405020304" pitchFamily="18" charset="0"/>
                <a:cs typeface="Times New Roman" panose="02020603050405020304" pitchFamily="18" charset="0"/>
              </a:rPr>
              <a:t>pack.A</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class B{  </a:t>
            </a:r>
          </a:p>
          <a:p>
            <a:r>
              <a:rPr lang="en-IN" sz="2000" dirty="0">
                <a:latin typeface="Times New Roman" panose="02020603050405020304" pitchFamily="18" charset="0"/>
                <a:cs typeface="Times New Roman" panose="02020603050405020304" pitchFamily="18" charset="0"/>
              </a:rPr>
              <a:t>  public static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A </a:t>
            </a:r>
            <a:r>
              <a:rPr lang="en-IN" sz="2000" dirty="0" err="1">
                <a:latin typeface="Times New Roman" panose="02020603050405020304" pitchFamily="18" charset="0"/>
                <a:cs typeface="Times New Roman" panose="02020603050405020304" pitchFamily="18" charset="0"/>
              </a:rPr>
              <a:t>obj</a:t>
            </a:r>
            <a:r>
              <a:rPr lang="en-IN" sz="2000" dirty="0">
                <a:latin typeface="Times New Roman" panose="02020603050405020304" pitchFamily="18" charset="0"/>
                <a:cs typeface="Times New Roman" panose="02020603050405020304" pitchFamily="18" charset="0"/>
              </a:rPr>
              <a:t> = new A();  </a:t>
            </a:r>
          </a:p>
          <a:p>
            <a:r>
              <a:rPr lang="en-IN" sz="2000" dirty="0">
                <a:latin typeface="Times New Roman" panose="02020603050405020304" pitchFamily="18" charset="0"/>
                <a:cs typeface="Times New Roman" panose="02020603050405020304" pitchFamily="18" charset="0"/>
              </a:rPr>
              <a:t>   obj.msg();  </a:t>
            </a:r>
          </a:p>
          <a:p>
            <a:r>
              <a:rPr lang="en-IN" sz="2000" dirty="0">
                <a:latin typeface="Times New Roman" panose="02020603050405020304" pitchFamily="18" charset="0"/>
                <a:cs typeface="Times New Roman" panose="02020603050405020304" pitchFamily="18" charset="0"/>
              </a:rPr>
              <a:t>  }  </a:t>
            </a:r>
          </a:p>
          <a:p>
            <a:r>
              <a:rPr lang="en-IN" sz="2000" dirty="0">
                <a:latin typeface="Times New Roman" panose="02020603050405020304" pitchFamily="18" charset="0"/>
                <a:cs typeface="Times New Roman" panose="02020603050405020304" pitchFamily="18" charset="0"/>
              </a:rPr>
              <a:t>}  </a:t>
            </a:r>
          </a:p>
          <a:p>
            <a:r>
              <a:rPr lang="en-IN" sz="2000" dirty="0" err="1">
                <a:latin typeface="Times New Roman" panose="02020603050405020304" pitchFamily="18" charset="0"/>
                <a:cs typeface="Times New Roman" panose="02020603050405020304" pitchFamily="18" charset="0"/>
              </a:rPr>
              <a:t>Output:Hello</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8175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1E35C37-7BDE-F1C7-CCF8-5E094AEB20F6}"/>
              </a:ext>
            </a:extLst>
          </p:cNvPr>
          <p:cNvSpPr txBox="1"/>
          <p:nvPr/>
        </p:nvSpPr>
        <p:spPr>
          <a:xfrm>
            <a:off x="1131570" y="285750"/>
            <a:ext cx="10682478" cy="1938992"/>
          </a:xfrm>
          <a:prstGeom prst="rect">
            <a:avLst/>
          </a:prstGeom>
          <a:noFill/>
        </p:spPr>
        <p:txBody>
          <a:bodyPr wrap="square" rtlCol="0">
            <a:spAutoFit/>
          </a:bodyPr>
          <a:lstStyle/>
          <a:p>
            <a:r>
              <a:rPr lang="en-US" sz="2400" b="1" dirty="0">
                <a:solidFill>
                  <a:srgbClr val="610B38"/>
                </a:solidFill>
                <a:effectLst/>
                <a:latin typeface="Times New Roman" panose="02020603050405020304" pitchFamily="18" charset="0"/>
                <a:cs typeface="Times New Roman" panose="02020603050405020304" pitchFamily="18" charset="0"/>
              </a:rPr>
              <a:t>3) Using fully qualified name</a:t>
            </a:r>
          </a:p>
          <a:p>
            <a:r>
              <a:rPr lang="en-US" sz="2000" b="0" i="0" dirty="0">
                <a:solidFill>
                  <a:srgbClr val="333333"/>
                </a:solidFill>
                <a:effectLst/>
                <a:latin typeface="Times New Roman" panose="02020603050405020304" pitchFamily="18" charset="0"/>
                <a:cs typeface="Times New Roman" panose="02020603050405020304" pitchFamily="18" charset="0"/>
              </a:rPr>
              <a:t>If you use fully qualified name then only declared class of this package will be accessible. Now there is no need to import. But you need to use fully qualified name every time when you are accessing the class or interface</a:t>
            </a:r>
            <a:r>
              <a:rPr lang="en-US" b="0" i="0" dirty="0">
                <a:solidFill>
                  <a:srgbClr val="333333"/>
                </a:solidFill>
                <a:effectLst/>
                <a:latin typeface="inter-regular"/>
              </a:rPr>
              <a:t>.</a:t>
            </a:r>
            <a:endParaRPr lang="en-US" dirty="0"/>
          </a:p>
          <a:p>
            <a:r>
              <a:rPr lang="en-US" b="0" i="0" dirty="0">
                <a:solidFill>
                  <a:srgbClr val="333333"/>
                </a:solidFill>
                <a:effectLst/>
                <a:latin typeface="inter-regular"/>
              </a:rPr>
              <a:t/>
            </a:r>
            <a:br>
              <a:rPr lang="en-US" b="0" i="0" dirty="0">
                <a:solidFill>
                  <a:srgbClr val="333333"/>
                </a:solidFill>
                <a:effectLst/>
                <a:latin typeface="inter-regular"/>
              </a:rPr>
            </a:br>
            <a:endParaRPr lang="en-IN" dirty="0"/>
          </a:p>
        </p:txBody>
      </p:sp>
      <p:sp>
        <p:nvSpPr>
          <p:cNvPr id="4" name="TextBox 3">
            <a:extLst>
              <a:ext uri="{FF2B5EF4-FFF2-40B4-BE49-F238E27FC236}">
                <a16:creationId xmlns:a16="http://schemas.microsoft.com/office/drawing/2014/main" xmlns="" id="{99591BB4-6C87-56F3-EB5F-D48E6BEB8DC1}"/>
              </a:ext>
            </a:extLst>
          </p:cNvPr>
          <p:cNvSpPr txBox="1"/>
          <p:nvPr/>
        </p:nvSpPr>
        <p:spPr>
          <a:xfrm>
            <a:off x="476250" y="2211348"/>
            <a:ext cx="8001000" cy="1938992"/>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Example of package by import fully qualified name</a:t>
            </a:r>
          </a:p>
          <a:p>
            <a:r>
              <a:rPr lang="en-IN" sz="2000" dirty="0">
                <a:latin typeface="Times New Roman" panose="02020603050405020304" pitchFamily="18" charset="0"/>
                <a:cs typeface="Times New Roman" panose="02020603050405020304" pitchFamily="18" charset="0"/>
              </a:rPr>
              <a:t>//save by A.java  </a:t>
            </a:r>
          </a:p>
          <a:p>
            <a:r>
              <a:rPr lang="en-IN" sz="2000" dirty="0">
                <a:latin typeface="Times New Roman" panose="02020603050405020304" pitchFamily="18" charset="0"/>
                <a:cs typeface="Times New Roman" panose="02020603050405020304" pitchFamily="18" charset="0"/>
              </a:rPr>
              <a:t>package pack;  </a:t>
            </a:r>
          </a:p>
          <a:p>
            <a:r>
              <a:rPr lang="en-IN" sz="2000" dirty="0">
                <a:latin typeface="Times New Roman" panose="02020603050405020304" pitchFamily="18" charset="0"/>
                <a:cs typeface="Times New Roman" panose="02020603050405020304" pitchFamily="18" charset="0"/>
              </a:rPr>
              <a:t>public class A{  </a:t>
            </a:r>
          </a:p>
          <a:p>
            <a:r>
              <a:rPr lang="en-IN" sz="2000" dirty="0">
                <a:latin typeface="Times New Roman" panose="02020603050405020304" pitchFamily="18" charset="0"/>
                <a:cs typeface="Times New Roman" panose="02020603050405020304" pitchFamily="18" charset="0"/>
              </a:rPr>
              <a:t>  public void </a:t>
            </a:r>
            <a:r>
              <a:rPr lang="en-IN" sz="2000" dirty="0" err="1">
                <a:latin typeface="Times New Roman" panose="02020603050405020304" pitchFamily="18" charset="0"/>
                <a:cs typeface="Times New Roman" panose="02020603050405020304" pitchFamily="18" charset="0"/>
              </a:rPr>
              <a:t>msg</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System.out.println</a:t>
            </a:r>
            <a:r>
              <a:rPr lang="en-IN" sz="2000" dirty="0">
                <a:latin typeface="Times New Roman" panose="02020603050405020304" pitchFamily="18" charset="0"/>
                <a:cs typeface="Times New Roman" panose="02020603050405020304" pitchFamily="18" charset="0"/>
              </a:rPr>
              <a:t>("Hello");}  </a:t>
            </a:r>
          </a:p>
          <a:p>
            <a:r>
              <a:rPr lang="en-IN" sz="2000"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xmlns="" id="{05F3EA00-8AD6-A7B7-2FF1-DF25B74E7C88}"/>
              </a:ext>
            </a:extLst>
          </p:cNvPr>
          <p:cNvSpPr txBox="1"/>
          <p:nvPr/>
        </p:nvSpPr>
        <p:spPr>
          <a:xfrm>
            <a:off x="6663690" y="1657350"/>
            <a:ext cx="5369814" cy="3170099"/>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//save by B.java  </a:t>
            </a:r>
          </a:p>
          <a:p>
            <a:r>
              <a:rPr lang="en-IN" sz="2000" dirty="0">
                <a:latin typeface="Times New Roman" panose="02020603050405020304" pitchFamily="18" charset="0"/>
                <a:cs typeface="Times New Roman" panose="02020603050405020304" pitchFamily="18" charset="0"/>
              </a:rPr>
              <a:t>package </a:t>
            </a:r>
            <a:r>
              <a:rPr lang="en-IN" sz="2000" dirty="0" err="1">
                <a:latin typeface="Times New Roman" panose="02020603050405020304" pitchFamily="18" charset="0"/>
                <a:cs typeface="Times New Roman" panose="02020603050405020304" pitchFamily="18" charset="0"/>
              </a:rPr>
              <a:t>mypack</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class B{  </a:t>
            </a:r>
          </a:p>
          <a:p>
            <a:r>
              <a:rPr lang="en-IN" sz="2000" dirty="0">
                <a:latin typeface="Times New Roman" panose="02020603050405020304" pitchFamily="18" charset="0"/>
                <a:cs typeface="Times New Roman" panose="02020603050405020304" pitchFamily="18" charset="0"/>
              </a:rPr>
              <a:t>  public static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pack.A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obj</a:t>
            </a:r>
            <a:r>
              <a:rPr lang="en-IN" sz="2000" dirty="0">
                <a:latin typeface="Times New Roman" panose="02020603050405020304" pitchFamily="18" charset="0"/>
                <a:cs typeface="Times New Roman" panose="02020603050405020304" pitchFamily="18" charset="0"/>
              </a:rPr>
              <a:t> = new </a:t>
            </a:r>
            <a:r>
              <a:rPr lang="en-IN" sz="2000" dirty="0" err="1">
                <a:latin typeface="Times New Roman" panose="02020603050405020304" pitchFamily="18" charset="0"/>
                <a:cs typeface="Times New Roman" panose="02020603050405020304" pitchFamily="18" charset="0"/>
              </a:rPr>
              <a:t>pack.A</a:t>
            </a:r>
            <a:r>
              <a:rPr lang="en-IN" sz="2000" dirty="0">
                <a:latin typeface="Times New Roman" panose="02020603050405020304" pitchFamily="18" charset="0"/>
                <a:cs typeface="Times New Roman" panose="02020603050405020304" pitchFamily="18" charset="0"/>
              </a:rPr>
              <a:t>();//using fully qualified name  </a:t>
            </a:r>
          </a:p>
          <a:p>
            <a:r>
              <a:rPr lang="en-IN" sz="2000" dirty="0">
                <a:latin typeface="Times New Roman" panose="02020603050405020304" pitchFamily="18" charset="0"/>
                <a:cs typeface="Times New Roman" panose="02020603050405020304" pitchFamily="18" charset="0"/>
              </a:rPr>
              <a:t>   obj.msg();  </a:t>
            </a:r>
          </a:p>
          <a:p>
            <a:r>
              <a:rPr lang="en-IN" sz="2000" dirty="0">
                <a:latin typeface="Times New Roman" panose="02020603050405020304" pitchFamily="18" charset="0"/>
                <a:cs typeface="Times New Roman" panose="02020603050405020304" pitchFamily="18" charset="0"/>
              </a:rPr>
              <a:t>  }  </a:t>
            </a:r>
          </a:p>
          <a:p>
            <a:r>
              <a:rPr lang="en-IN" sz="2000" dirty="0">
                <a:latin typeface="Times New Roman" panose="02020603050405020304" pitchFamily="18" charset="0"/>
                <a:cs typeface="Times New Roman" panose="02020603050405020304" pitchFamily="18" charset="0"/>
              </a:rPr>
              <a:t>}  </a:t>
            </a:r>
          </a:p>
          <a:p>
            <a:r>
              <a:rPr lang="en-IN" sz="2000" dirty="0" err="1">
                <a:latin typeface="Times New Roman" panose="02020603050405020304" pitchFamily="18" charset="0"/>
                <a:cs typeface="Times New Roman" panose="02020603050405020304" pitchFamily="18" charset="0"/>
              </a:rPr>
              <a:t>Output:Hello</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0700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29420843-4338-B7B5-936B-8A3740D4ECFB}"/>
              </a:ext>
            </a:extLst>
          </p:cNvPr>
          <p:cNvPicPr>
            <a:picLocks noChangeAspect="1"/>
          </p:cNvPicPr>
          <p:nvPr/>
        </p:nvPicPr>
        <p:blipFill>
          <a:blip r:embed="rId2"/>
          <a:stretch>
            <a:fillRect/>
          </a:stretch>
        </p:blipFill>
        <p:spPr>
          <a:xfrm>
            <a:off x="1882140" y="1626870"/>
            <a:ext cx="4930140" cy="3093720"/>
          </a:xfrm>
          <a:prstGeom prst="rect">
            <a:avLst/>
          </a:prstGeom>
        </p:spPr>
      </p:pic>
      <p:sp>
        <p:nvSpPr>
          <p:cNvPr id="3" name="TextBox 2">
            <a:extLst>
              <a:ext uri="{FF2B5EF4-FFF2-40B4-BE49-F238E27FC236}">
                <a16:creationId xmlns:a16="http://schemas.microsoft.com/office/drawing/2014/main" xmlns="" id="{DBF0DFC3-0CC0-5F49-7EFD-67A349C65B8F}"/>
              </a:ext>
            </a:extLst>
          </p:cNvPr>
          <p:cNvSpPr txBox="1"/>
          <p:nvPr/>
        </p:nvSpPr>
        <p:spPr>
          <a:xfrm>
            <a:off x="1051560" y="365760"/>
            <a:ext cx="835533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Sequence of the program must be package then import then class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6774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75E6AD85-8E00-7E19-7D0B-67549E411CEE}"/>
              </a:ext>
            </a:extLst>
          </p:cNvPr>
          <p:cNvSpPr txBox="1"/>
          <p:nvPr/>
        </p:nvSpPr>
        <p:spPr>
          <a:xfrm>
            <a:off x="423300" y="613020"/>
            <a:ext cx="3368115" cy="2246769"/>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 File name : Animal.java */</a:t>
            </a:r>
          </a:p>
          <a:p>
            <a:r>
              <a:rPr lang="en-IN" sz="2000" dirty="0">
                <a:latin typeface="Times New Roman" panose="02020603050405020304" pitchFamily="18" charset="0"/>
                <a:cs typeface="Times New Roman" panose="02020603050405020304" pitchFamily="18" charset="0"/>
              </a:rPr>
              <a:t>package animals;</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interface Animal {</a:t>
            </a:r>
          </a:p>
          <a:p>
            <a:r>
              <a:rPr lang="en-IN" sz="2000" dirty="0">
                <a:latin typeface="Times New Roman" panose="02020603050405020304" pitchFamily="18" charset="0"/>
                <a:cs typeface="Times New Roman" panose="02020603050405020304" pitchFamily="18" charset="0"/>
              </a:rPr>
              <a:t>   public void eat();</a:t>
            </a:r>
          </a:p>
          <a:p>
            <a:r>
              <a:rPr lang="en-IN" sz="2000" dirty="0">
                <a:latin typeface="Times New Roman" panose="02020603050405020304" pitchFamily="18" charset="0"/>
                <a:cs typeface="Times New Roman" panose="02020603050405020304" pitchFamily="18" charset="0"/>
              </a:rPr>
              <a:t>   public void travel();</a:t>
            </a:r>
          </a:p>
          <a:p>
            <a:r>
              <a:rPr lang="en-IN" sz="20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xmlns="" id="{0D169A18-4941-A6F9-BC77-D11B297B951B}"/>
              </a:ext>
            </a:extLst>
          </p:cNvPr>
          <p:cNvSpPr txBox="1"/>
          <p:nvPr/>
        </p:nvSpPr>
        <p:spPr>
          <a:xfrm>
            <a:off x="3736253" y="497758"/>
            <a:ext cx="4498848" cy="5940088"/>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package animals;</a:t>
            </a:r>
          </a:p>
          <a:p>
            <a:r>
              <a:rPr lang="en-IN" sz="2000" dirty="0">
                <a:latin typeface="Times New Roman" panose="02020603050405020304" pitchFamily="18" charset="0"/>
                <a:cs typeface="Times New Roman" panose="02020603050405020304" pitchFamily="18" charset="0"/>
              </a:rPr>
              <a:t>/* File name : MammalInt.java */</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public class </a:t>
            </a:r>
            <a:r>
              <a:rPr lang="en-IN" sz="2000" dirty="0" err="1">
                <a:latin typeface="Times New Roman" panose="02020603050405020304" pitchFamily="18" charset="0"/>
                <a:cs typeface="Times New Roman" panose="02020603050405020304" pitchFamily="18" charset="0"/>
              </a:rPr>
              <a:t>MammalInt</a:t>
            </a:r>
            <a:r>
              <a:rPr lang="en-IN" sz="2000" dirty="0">
                <a:latin typeface="Times New Roman" panose="02020603050405020304" pitchFamily="18" charset="0"/>
                <a:cs typeface="Times New Roman" panose="02020603050405020304" pitchFamily="18" charset="0"/>
              </a:rPr>
              <a:t> implements Animal {</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public void eat() {</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System.out.println</a:t>
            </a:r>
            <a:r>
              <a:rPr lang="en-IN" sz="2000" dirty="0">
                <a:latin typeface="Times New Roman" panose="02020603050405020304" pitchFamily="18" charset="0"/>
                <a:cs typeface="Times New Roman" panose="02020603050405020304" pitchFamily="18" charset="0"/>
              </a:rPr>
              <a:t>("Mammal eats");</a:t>
            </a:r>
          </a:p>
          <a:p>
            <a:r>
              <a:rPr lang="en-IN" sz="20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public void travel() {</a:t>
            </a:r>
          </a:p>
          <a:p>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System.out.println</a:t>
            </a:r>
            <a:r>
              <a:rPr lang="en-IN" sz="2000" dirty="0">
                <a:latin typeface="Times New Roman" panose="02020603050405020304" pitchFamily="18" charset="0"/>
                <a:cs typeface="Times New Roman" panose="02020603050405020304" pitchFamily="18" charset="0"/>
              </a:rPr>
              <a:t>("Mammal travels");</a:t>
            </a:r>
          </a:p>
          <a:p>
            <a:r>
              <a:rPr lang="en-IN" sz="2000" dirty="0">
                <a:latin typeface="Times New Roman" panose="02020603050405020304" pitchFamily="18" charset="0"/>
                <a:cs typeface="Times New Roman" panose="02020603050405020304" pitchFamily="18" charset="0"/>
              </a:rPr>
              <a:t>   } </a:t>
            </a:r>
          </a:p>
          <a:p>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public int </a:t>
            </a:r>
            <a:r>
              <a:rPr lang="en-IN" sz="2000" dirty="0" err="1">
                <a:latin typeface="Times New Roman" panose="02020603050405020304" pitchFamily="18" charset="0"/>
                <a:cs typeface="Times New Roman" panose="02020603050405020304" pitchFamily="18" charset="0"/>
              </a:rPr>
              <a:t>noOfLegs</a:t>
            </a:r>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return 0;</a:t>
            </a:r>
          </a:p>
          <a:p>
            <a:r>
              <a:rPr lang="en-IN" sz="2000" dirty="0">
                <a:latin typeface="Times New Roman" panose="02020603050405020304" pitchFamily="18" charset="0"/>
                <a:cs typeface="Times New Roman" panose="02020603050405020304" pitchFamily="18" charset="0"/>
              </a:rPr>
              <a:t>   }</a:t>
            </a:r>
          </a:p>
          <a:p>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xmlns="" id="{718672F4-7E24-BF01-AC18-1B522E74C3C2}"/>
              </a:ext>
            </a:extLst>
          </p:cNvPr>
          <p:cNvSpPr txBox="1"/>
          <p:nvPr/>
        </p:nvSpPr>
        <p:spPr>
          <a:xfrm>
            <a:off x="7918916" y="613020"/>
            <a:ext cx="4001738" cy="2031325"/>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public static void main(String </a:t>
            </a:r>
            <a:r>
              <a:rPr lang="en-IN" sz="1800" dirty="0" err="1">
                <a:latin typeface="Times New Roman" panose="02020603050405020304" pitchFamily="18" charset="0"/>
                <a:cs typeface="Times New Roman" panose="02020603050405020304" pitchFamily="18" charset="0"/>
              </a:rPr>
              <a:t>args</a:t>
            </a:r>
            <a:r>
              <a:rPr lang="en-IN" sz="1800" dirty="0">
                <a:latin typeface="Times New Roman" panose="02020603050405020304" pitchFamily="18" charset="0"/>
                <a:cs typeface="Times New Roman" panose="02020603050405020304" pitchFamily="18" charset="0"/>
              </a:rPr>
              <a:t>[]) </a:t>
            </a:r>
            <a:endParaRPr lang="en-IN" sz="1800" dirty="0" smtClean="0">
              <a:latin typeface="Times New Roman" panose="02020603050405020304" pitchFamily="18" charset="0"/>
              <a:cs typeface="Times New Roman" panose="02020603050405020304" pitchFamily="18" charset="0"/>
            </a:endParaRPr>
          </a:p>
          <a:p>
            <a:r>
              <a:rPr lang="en-IN"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MammalInt</a:t>
            </a:r>
            <a:r>
              <a:rPr lang="en-IN" sz="1800" dirty="0">
                <a:latin typeface="Times New Roman" panose="02020603050405020304" pitchFamily="18" charset="0"/>
                <a:cs typeface="Times New Roman" panose="02020603050405020304" pitchFamily="18" charset="0"/>
              </a:rPr>
              <a:t> m = new </a:t>
            </a:r>
            <a:r>
              <a:rPr lang="en-IN" sz="1800" dirty="0" err="1">
                <a:latin typeface="Times New Roman" panose="02020603050405020304" pitchFamily="18" charset="0"/>
                <a:cs typeface="Times New Roman" panose="02020603050405020304" pitchFamily="18" charset="0"/>
              </a:rPr>
              <a:t>MammalInt</a:t>
            </a:r>
            <a:r>
              <a:rPr lang="en-IN" sz="1800" dirty="0">
                <a:latin typeface="Times New Roman" panose="02020603050405020304" pitchFamily="18" charset="0"/>
                <a:cs typeface="Times New Roman" panose="02020603050405020304" pitchFamily="18" charset="0"/>
              </a:rPr>
              <a:t>();</a:t>
            </a:r>
          </a:p>
          <a:p>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m.eat</a:t>
            </a:r>
            <a:r>
              <a:rPr lang="en-IN" sz="1800" dirty="0">
                <a:latin typeface="Times New Roman" panose="02020603050405020304" pitchFamily="18" charset="0"/>
                <a:cs typeface="Times New Roman" panose="02020603050405020304" pitchFamily="18" charset="0"/>
              </a:rPr>
              <a:t>();</a:t>
            </a:r>
          </a:p>
          <a:p>
            <a:r>
              <a:rPr lang="en-IN" sz="1800" dirty="0">
                <a:latin typeface="Times New Roman" panose="02020603050405020304" pitchFamily="18" charset="0"/>
                <a:cs typeface="Times New Roman" panose="02020603050405020304" pitchFamily="18" charset="0"/>
              </a:rPr>
              <a:t>      m.travel();</a:t>
            </a:r>
          </a:p>
          <a:p>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a:t>
            </a:r>
            <a:endParaRPr lang="en-IN" dirty="0"/>
          </a:p>
        </p:txBody>
      </p:sp>
      <p:sp>
        <p:nvSpPr>
          <p:cNvPr id="8" name="TextBox 7">
            <a:extLst>
              <a:ext uri="{FF2B5EF4-FFF2-40B4-BE49-F238E27FC236}">
                <a16:creationId xmlns:a16="http://schemas.microsoft.com/office/drawing/2014/main" xmlns="" id="{81E8CA64-332E-55C0-CEB1-E298FE5DCA36}"/>
              </a:ext>
            </a:extLst>
          </p:cNvPr>
          <p:cNvSpPr txBox="1"/>
          <p:nvPr/>
        </p:nvSpPr>
        <p:spPr>
          <a:xfrm>
            <a:off x="8674608" y="3703766"/>
            <a:ext cx="3114620" cy="1200329"/>
          </a:xfrm>
          <a:prstGeom prst="rect">
            <a:avLst/>
          </a:prstGeom>
          <a:noFill/>
        </p:spPr>
        <p:txBody>
          <a:bodyPr wrap="square" rtlCol="0">
            <a:spAutoFit/>
          </a:bodyPr>
          <a:lstStyle/>
          <a:p>
            <a:r>
              <a:rPr lang="sv-SE" b="1" dirty="0">
                <a:solidFill>
                  <a:srgbClr val="FF0000"/>
                </a:solidFill>
              </a:rPr>
              <a:t>Output:</a:t>
            </a:r>
          </a:p>
          <a:p>
            <a:endParaRPr lang="sv-SE" dirty="0">
              <a:solidFill>
                <a:srgbClr val="FF0000"/>
              </a:solidFill>
            </a:endParaRPr>
          </a:p>
          <a:p>
            <a:r>
              <a:rPr lang="sv-SE" dirty="0">
                <a:solidFill>
                  <a:srgbClr val="FF0000"/>
                </a:solidFill>
              </a:rPr>
              <a:t>Mammal eats</a:t>
            </a:r>
          </a:p>
          <a:p>
            <a:r>
              <a:rPr lang="sv-SE" dirty="0">
                <a:solidFill>
                  <a:srgbClr val="FF0000"/>
                </a:solidFill>
              </a:rPr>
              <a:t>Mammal travels</a:t>
            </a:r>
          </a:p>
        </p:txBody>
      </p:sp>
    </p:spTree>
    <p:extLst>
      <p:ext uri="{BB962C8B-B14F-4D97-AF65-F5344CB8AC3E}">
        <p14:creationId xmlns:p14="http://schemas.microsoft.com/office/powerpoint/2010/main" val="2640655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68B11D2-0606-0B4E-BDC1-EBF265C07898}"/>
              </a:ext>
            </a:extLst>
          </p:cNvPr>
          <p:cNvSpPr txBox="1"/>
          <p:nvPr/>
        </p:nvSpPr>
        <p:spPr>
          <a:xfrm>
            <a:off x="1121664" y="621792"/>
            <a:ext cx="5974080" cy="738664"/>
          </a:xfrm>
          <a:prstGeom prst="rect">
            <a:avLst/>
          </a:prstGeom>
          <a:noFill/>
        </p:spPr>
        <p:txBody>
          <a:bodyPr wrap="square" rtlCol="0">
            <a:spAutoFit/>
          </a:bodyPr>
          <a:lstStyle/>
          <a:p>
            <a:r>
              <a:rPr lang="en-IN" sz="2400" b="1" i="0" dirty="0">
                <a:solidFill>
                  <a:srgbClr val="212529"/>
                </a:solidFill>
                <a:effectLst/>
                <a:latin typeface="Poppins" panose="00000500000000000000" pitchFamily="2" charset="0"/>
              </a:rPr>
              <a:t>Sub Package in Java</a:t>
            </a:r>
          </a:p>
          <a:p>
            <a:endParaRPr lang="en-IN" dirty="0"/>
          </a:p>
        </p:txBody>
      </p:sp>
      <p:sp>
        <p:nvSpPr>
          <p:cNvPr id="3" name="TextBox 2">
            <a:extLst>
              <a:ext uri="{FF2B5EF4-FFF2-40B4-BE49-F238E27FC236}">
                <a16:creationId xmlns:a16="http://schemas.microsoft.com/office/drawing/2014/main" xmlns="" id="{C0BB3F93-7082-795D-78D7-CA9155E29D63}"/>
              </a:ext>
            </a:extLst>
          </p:cNvPr>
          <p:cNvSpPr txBox="1"/>
          <p:nvPr/>
        </p:nvSpPr>
        <p:spPr>
          <a:xfrm>
            <a:off x="701040" y="1923508"/>
            <a:ext cx="10789920" cy="1323439"/>
          </a:xfrm>
          <a:prstGeom prst="rect">
            <a:avLst/>
          </a:prstGeom>
          <a:noFill/>
        </p:spPr>
        <p:txBody>
          <a:bodyPr wrap="square" rtlCol="0">
            <a:spAutoFit/>
          </a:bodyPr>
          <a:lstStyle/>
          <a:p>
            <a:pPr marL="342900" indent="-342900">
              <a:buFont typeface="Wingdings" panose="05000000000000000000" pitchFamily="2" charset="2"/>
              <a:buChar char="Ø"/>
            </a:pPr>
            <a:r>
              <a:rPr lang="en-US" sz="2000" b="0" i="0" dirty="0">
                <a:effectLst/>
                <a:latin typeface="Times New Roman" panose="02020603050405020304" pitchFamily="18" charset="0"/>
                <a:cs typeface="Times New Roman" panose="02020603050405020304" pitchFamily="18" charset="0"/>
              </a:rPr>
              <a:t>Package inside the package is known as </a:t>
            </a:r>
            <a:r>
              <a:rPr lang="en-US" sz="2000" b="0" i="0" dirty="0" err="1">
                <a:effectLst/>
                <a:latin typeface="Times New Roman" panose="02020603050405020304" pitchFamily="18" charset="0"/>
                <a:cs typeface="Times New Roman" panose="02020603050405020304" pitchFamily="18" charset="0"/>
              </a:rPr>
              <a:t>subpackage</a:t>
            </a:r>
            <a:r>
              <a:rPr lang="en-US" sz="2000" b="0" i="0" dirty="0">
                <a:effectLst/>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Ø"/>
            </a:pPr>
            <a:r>
              <a:rPr lang="en-US" sz="2000" b="0" i="0" dirty="0">
                <a:effectLst/>
                <a:latin typeface="Times New Roman" panose="02020603050405020304" pitchFamily="18" charset="0"/>
                <a:cs typeface="Times New Roman" panose="02020603050405020304" pitchFamily="18" charset="0"/>
              </a:rPr>
              <a:t>The packages that come lower in the naming hierarchy are called "</a:t>
            </a:r>
            <a:r>
              <a:rPr lang="en-US" sz="2000" b="1" i="0" dirty="0">
                <a:effectLst/>
                <a:latin typeface="Times New Roman" panose="02020603050405020304" pitchFamily="18" charset="0"/>
                <a:cs typeface="Times New Roman" panose="02020603050405020304" pitchFamily="18" charset="0"/>
              </a:rPr>
              <a:t>sub package</a:t>
            </a:r>
            <a:r>
              <a:rPr lang="en-US" sz="2000" b="0" i="0" dirty="0">
                <a:effectLst/>
                <a:latin typeface="Times New Roman" panose="02020603050405020304" pitchFamily="18" charset="0"/>
                <a:cs typeface="Times New Roman" panose="02020603050405020304" pitchFamily="18" charset="0"/>
              </a:rPr>
              <a:t>" of the corresponding package higher in the hierarchy i.e. the package that we are putting into another package is called "</a:t>
            </a:r>
            <a:r>
              <a:rPr lang="en-US" sz="2000" b="1" i="0" dirty="0">
                <a:effectLst/>
                <a:latin typeface="Times New Roman" panose="02020603050405020304" pitchFamily="18" charset="0"/>
                <a:cs typeface="Times New Roman" panose="02020603050405020304" pitchFamily="18" charset="0"/>
              </a:rPr>
              <a:t>sub package". </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EEF7B529-A080-51A5-9AF4-364A6679B93E}"/>
              </a:ext>
            </a:extLst>
          </p:cNvPr>
          <p:cNvSpPr txBox="1"/>
          <p:nvPr/>
        </p:nvSpPr>
        <p:spPr>
          <a:xfrm>
            <a:off x="957072" y="3809999"/>
            <a:ext cx="10533888" cy="2215991"/>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naming convention defines how to create a unique package name so that packages that are widely used with unique namespaces.</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allows packages to be easily managed. Suppose we have a file called "HelloWorld.java". and want to store it in a sub package "</a:t>
            </a:r>
            <a:r>
              <a:rPr lang="en-US" sz="2000" dirty="0" err="1">
                <a:latin typeface="Times New Roman" panose="02020603050405020304" pitchFamily="18" charset="0"/>
                <a:cs typeface="Times New Roman" panose="02020603050405020304" pitchFamily="18" charset="0"/>
              </a:rPr>
              <a:t>subpackage</a:t>
            </a:r>
            <a:r>
              <a:rPr lang="en-US" sz="2000" dirty="0">
                <a:latin typeface="Times New Roman" panose="02020603050405020304" pitchFamily="18" charset="0"/>
                <a:cs typeface="Times New Roman" panose="02020603050405020304" pitchFamily="18" charset="0"/>
              </a:rPr>
              <a:t>", which stays inside package "package1". </a:t>
            </a: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"HelloWorld" class should look something like this:</a:t>
            </a:r>
          </a:p>
          <a:p>
            <a:pPr marL="285750" indent="-28575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r>
              <a:rPr lang="en-US" dirty="0"/>
              <a:t> </a:t>
            </a:r>
            <a:endParaRPr lang="en-IN" dirty="0"/>
          </a:p>
        </p:txBody>
      </p:sp>
    </p:spTree>
    <p:extLst>
      <p:ext uri="{BB962C8B-B14F-4D97-AF65-F5344CB8AC3E}">
        <p14:creationId xmlns:p14="http://schemas.microsoft.com/office/powerpoint/2010/main" val="2805123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394B3D54-1585-42E6-BED6-1EAE4CEFCFE6}"/>
              </a:ext>
            </a:extLst>
          </p:cNvPr>
          <p:cNvSpPr txBox="1"/>
          <p:nvPr/>
        </p:nvSpPr>
        <p:spPr>
          <a:xfrm>
            <a:off x="1304544" y="670560"/>
            <a:ext cx="8522208" cy="286232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package package1.subpackage;</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public class HelloWorld {</a:t>
            </a:r>
          </a:p>
          <a:p>
            <a:r>
              <a:rPr lang="en-US" sz="2000" dirty="0">
                <a:latin typeface="Times New Roman" panose="02020603050405020304" pitchFamily="18" charset="0"/>
                <a:cs typeface="Times New Roman" panose="02020603050405020304" pitchFamily="18" charset="0"/>
              </a:rPr>
              <a:t>  public void show(){</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System.out.println</a:t>
            </a:r>
            <a:r>
              <a:rPr lang="en-US" sz="2000" dirty="0">
                <a:latin typeface="Times New Roman" panose="02020603050405020304" pitchFamily="18" charset="0"/>
                <a:cs typeface="Times New Roman" panose="02020603050405020304" pitchFamily="18" charset="0"/>
              </a:rPr>
              <a:t>("This is the function of the class HelloWorld!!");</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DF5EC173-7402-6D1D-6CB6-F62DCE3EA382}"/>
              </a:ext>
            </a:extLst>
          </p:cNvPr>
          <p:cNvSpPr txBox="1"/>
          <p:nvPr/>
        </p:nvSpPr>
        <p:spPr>
          <a:xfrm>
            <a:off x="1182624" y="2966847"/>
            <a:ext cx="8827008"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Now import the package "</a:t>
            </a:r>
            <a:r>
              <a:rPr lang="en-US" sz="2000" dirty="0" err="1">
                <a:latin typeface="Times New Roman" panose="02020603050405020304" pitchFamily="18" charset="0"/>
                <a:cs typeface="Times New Roman" panose="02020603050405020304" pitchFamily="18" charset="0"/>
              </a:rPr>
              <a:t>subpackage</a:t>
            </a:r>
            <a:r>
              <a:rPr lang="en-US" sz="2000" dirty="0">
                <a:latin typeface="Times New Roman" panose="02020603050405020304" pitchFamily="18" charset="0"/>
                <a:cs typeface="Times New Roman" panose="02020603050405020304" pitchFamily="18" charset="0"/>
              </a:rPr>
              <a:t>" in the class file "</a:t>
            </a:r>
            <a:r>
              <a:rPr lang="en-US" sz="2000" dirty="0" err="1">
                <a:latin typeface="Times New Roman" panose="02020603050405020304" pitchFamily="18" charset="0"/>
                <a:cs typeface="Times New Roman" panose="02020603050405020304" pitchFamily="18" charset="0"/>
              </a:rPr>
              <a:t>CallPackage</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5244BC0F-C7E7-CD06-072D-7848EDE0AB5E}"/>
              </a:ext>
            </a:extLst>
          </p:cNvPr>
          <p:cNvSpPr txBox="1"/>
          <p:nvPr/>
        </p:nvSpPr>
        <p:spPr>
          <a:xfrm>
            <a:off x="1304544" y="4156115"/>
            <a:ext cx="8168640" cy="2246769"/>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import package1.subpackage.*;</a:t>
            </a:r>
          </a:p>
          <a:p>
            <a:r>
              <a:rPr lang="en-IN" sz="2000" dirty="0">
                <a:latin typeface="Times New Roman" panose="02020603050405020304" pitchFamily="18" charset="0"/>
                <a:cs typeface="Times New Roman" panose="02020603050405020304" pitchFamily="18" charset="0"/>
              </a:rPr>
              <a:t>class </a:t>
            </a:r>
            <a:r>
              <a:rPr lang="en-IN" sz="2000" dirty="0" err="1">
                <a:latin typeface="Times New Roman" panose="02020603050405020304" pitchFamily="18" charset="0"/>
                <a:cs typeface="Times New Roman" panose="02020603050405020304" pitchFamily="18" charset="0"/>
              </a:rPr>
              <a:t>CallPackage</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public static void main(String[] </a:t>
            </a:r>
            <a:r>
              <a:rPr lang="en-IN" sz="2000" dirty="0" err="1">
                <a:latin typeface="Times New Roman" panose="02020603050405020304" pitchFamily="18" charset="0"/>
                <a:cs typeface="Times New Roman" panose="02020603050405020304" pitchFamily="18" charset="0"/>
              </a:rPr>
              <a:t>args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  HelloWorld h2=new HelloWorld();</a:t>
            </a:r>
          </a:p>
          <a:p>
            <a:r>
              <a:rPr lang="en-IN" sz="2000" dirty="0">
                <a:latin typeface="Times New Roman" panose="02020603050405020304" pitchFamily="18" charset="0"/>
                <a:cs typeface="Times New Roman" panose="02020603050405020304" pitchFamily="18" charset="0"/>
              </a:rPr>
              <a:t>  h2.show();</a:t>
            </a:r>
          </a:p>
          <a:p>
            <a:r>
              <a:rPr lang="en-IN" sz="2000"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41854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78EA8F2A-8964-FDF4-ED73-DC63FF80CFAF}"/>
              </a:ext>
            </a:extLst>
          </p:cNvPr>
          <p:cNvSpPr txBox="1"/>
          <p:nvPr/>
        </p:nvSpPr>
        <p:spPr>
          <a:xfrm>
            <a:off x="1121664" y="633984"/>
            <a:ext cx="8534400" cy="2862322"/>
          </a:xfrm>
          <a:prstGeom prst="rect">
            <a:avLst/>
          </a:prstGeom>
          <a:noFill/>
        </p:spPr>
        <p:txBody>
          <a:bodyPr wrap="square" rtlCol="0">
            <a:spAutoFit/>
          </a:bodyPr>
          <a:lstStyle/>
          <a:p>
            <a:r>
              <a:rPr lang="en-IN" dirty="0"/>
              <a:t>C:\atnyla\package1\subpackage\HelloWorld.java</a:t>
            </a:r>
          </a:p>
          <a:p>
            <a:endParaRPr lang="en-IN" dirty="0"/>
          </a:p>
          <a:p>
            <a:r>
              <a:rPr lang="en-IN" dirty="0"/>
              <a:t>C:\atnyla\package1\subpackage&gt;cd..</a:t>
            </a:r>
          </a:p>
          <a:p>
            <a:endParaRPr lang="en-IN" dirty="0"/>
          </a:p>
          <a:p>
            <a:r>
              <a:rPr lang="en-IN" dirty="0"/>
              <a:t>C:\atnyla\package1&gt;cd..</a:t>
            </a:r>
          </a:p>
          <a:p>
            <a:endParaRPr lang="en-IN" dirty="0"/>
          </a:p>
          <a:p>
            <a:r>
              <a:rPr lang="en-IN" dirty="0"/>
              <a:t>C:\atnyla&gt;javac CallPackage.java</a:t>
            </a:r>
          </a:p>
          <a:p>
            <a:endParaRPr lang="en-IN" dirty="0"/>
          </a:p>
          <a:p>
            <a:r>
              <a:rPr lang="en-IN" dirty="0"/>
              <a:t>C:\nisha&gt;java </a:t>
            </a:r>
            <a:r>
              <a:rPr lang="en-IN" dirty="0" err="1"/>
              <a:t>CallPackage</a:t>
            </a:r>
            <a:endParaRPr lang="en-IN" dirty="0"/>
          </a:p>
          <a:p>
            <a:r>
              <a:rPr lang="en-IN" dirty="0"/>
              <a:t>This is the function of the class HelloWorld!!</a:t>
            </a:r>
          </a:p>
        </p:txBody>
      </p:sp>
    </p:spTree>
    <p:extLst>
      <p:ext uri="{BB962C8B-B14F-4D97-AF65-F5344CB8AC3E}">
        <p14:creationId xmlns:p14="http://schemas.microsoft.com/office/powerpoint/2010/main" val="7336518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762</TotalTime>
  <Words>1033</Words>
  <Application>Microsoft Office PowerPoint</Application>
  <PresentationFormat>Custom</PresentationFormat>
  <Paragraphs>202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Swathi M</dc:creator>
  <cp:lastModifiedBy>hp</cp:lastModifiedBy>
  <cp:revision>13</cp:revision>
  <dcterms:created xsi:type="dcterms:W3CDTF">2022-10-02T12:03:59Z</dcterms:created>
  <dcterms:modified xsi:type="dcterms:W3CDTF">2023-10-10T04:14:22Z</dcterms:modified>
</cp:coreProperties>
</file>