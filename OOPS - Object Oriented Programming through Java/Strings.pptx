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8" r:id="rId23"/>
    <p:sldId id="289" r:id="rId24"/>
    <p:sldId id="282" r:id="rId25"/>
    <p:sldId id="290" r:id="rId26"/>
    <p:sldId id="291" r:id="rId27"/>
    <p:sldId id="283" r:id="rId28"/>
    <p:sldId id="284" r:id="rId29"/>
    <p:sldId id="285" r:id="rId30"/>
    <p:sldId id="286" r:id="rId31"/>
    <p:sldId id="292" r:id="rId32"/>
    <p:sldId id="293" r:id="rId33"/>
    <p:sldId id="294" r:id="rId34"/>
    <p:sldId id="295" r:id="rId35"/>
    <p:sldId id="296" r:id="rId36"/>
    <p:sldId id="297" r:id="rId37"/>
    <p:sldId id="29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ubstring" TargetMode="External"/><Relationship Id="rId3" Type="http://schemas.openxmlformats.org/officeDocument/2006/relationships/hyperlink" Target="https://www.programiz.com/java-programming/library/string/compareto" TargetMode="External"/><Relationship Id="rId7" Type="http://schemas.openxmlformats.org/officeDocument/2006/relationships/hyperlink" Target="https://www.programiz.com/java-programming/library/string/replaceall" TargetMode="External"/><Relationship Id="rId2" Type="http://schemas.openxmlformats.org/officeDocument/2006/relationships/hyperlink" Target="https://www.programiz.com/java-programming/library/string/spl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java-programming/library/string/replace" TargetMode="External"/><Relationship Id="rId5" Type="http://schemas.openxmlformats.org/officeDocument/2006/relationships/hyperlink" Target="https://www.programiz.com/java-programming/library/string/length" TargetMode="External"/><Relationship Id="rId4" Type="http://schemas.openxmlformats.org/officeDocument/2006/relationships/hyperlink" Target="https://www.programiz.com/java-programming/library/string/comparetoignorecase" TargetMode="External"/><Relationship Id="rId9" Type="http://schemas.openxmlformats.org/officeDocument/2006/relationships/hyperlink" Target="https://www.programiz.com/java-programming/library/string/equals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tartswith" TargetMode="External"/><Relationship Id="rId3" Type="http://schemas.openxmlformats.org/officeDocument/2006/relationships/hyperlink" Target="https://www.programiz.com/java-programming/library/string/charat" TargetMode="External"/><Relationship Id="rId7" Type="http://schemas.openxmlformats.org/officeDocument/2006/relationships/hyperlink" Target="https://www.programiz.com/java-programming/library/string/matches" TargetMode="External"/><Relationship Id="rId2" Type="http://schemas.openxmlformats.org/officeDocument/2006/relationships/hyperlink" Target="https://www.programiz.com/java-programming/library/string/tri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java-programming/library/string/valueof" TargetMode="External"/><Relationship Id="rId5" Type="http://schemas.openxmlformats.org/officeDocument/2006/relationships/hyperlink" Target="https://www.programiz.com/java-programming/library/string/concat" TargetMode="External"/><Relationship Id="rId4" Type="http://schemas.openxmlformats.org/officeDocument/2006/relationships/hyperlink" Target="https://www.programiz.com/java-programming/library/string/tolowercase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isempty" TargetMode="External"/><Relationship Id="rId3" Type="http://schemas.openxmlformats.org/officeDocument/2006/relationships/hyperlink" Target="https://www.programiz.com/java-programming/library/string/startswith" TargetMode="External"/><Relationship Id="rId7" Type="http://schemas.openxmlformats.org/officeDocument/2006/relationships/hyperlink" Target="https://www.programiz.com/java-programming/library/string/endswith" TargetMode="External"/><Relationship Id="rId2" Type="http://schemas.openxmlformats.org/officeDocument/2006/relationships/hyperlink" Target="https://www.programiz.com/java-programming/library/string/match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java-programming/library/string/indexof" TargetMode="External"/><Relationship Id="rId5" Type="http://schemas.openxmlformats.org/officeDocument/2006/relationships/hyperlink" Target="https://www.programiz.com/java-programming/library/string/contains" TargetMode="External"/><Relationship Id="rId4" Type="http://schemas.openxmlformats.org/officeDocument/2006/relationships/hyperlink" Target="https://www.programiz.com/java-programming/library/string/equalsignorecas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ubsequence" TargetMode="External"/><Relationship Id="rId3" Type="http://schemas.openxmlformats.org/officeDocument/2006/relationships/hyperlink" Target="https://www.programiz.com/java-programming/library/string/getbytes" TargetMode="External"/><Relationship Id="rId7" Type="http://schemas.openxmlformats.org/officeDocument/2006/relationships/hyperlink" Target="https://www.programiz.com/java-programming/library/string/replacefirst" TargetMode="External"/><Relationship Id="rId2" Type="http://schemas.openxmlformats.org/officeDocument/2006/relationships/hyperlink" Target="https://www.programiz.com/java-programming/library/string/inter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rogramiz.com/java-programming/library/string/join" TargetMode="External"/><Relationship Id="rId5" Type="http://schemas.openxmlformats.org/officeDocument/2006/relationships/hyperlink" Target="https://www.programiz.com/java-programming/library/string/hashcode" TargetMode="External"/><Relationship Id="rId10" Type="http://schemas.openxmlformats.org/officeDocument/2006/relationships/hyperlink" Target="https://www.programiz.com/java-programming/library/string/format" TargetMode="External"/><Relationship Id="rId4" Type="http://schemas.openxmlformats.org/officeDocument/2006/relationships/hyperlink" Target="https://www.programiz.com/java-programming/library/string/contentequals" TargetMode="External"/><Relationship Id="rId9" Type="http://schemas.openxmlformats.org/officeDocument/2006/relationships/hyperlink" Target="https://www.programiz.com/java-programming/library/string/tochararray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183896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Java</a:t>
            </a:r>
            <a:r>
              <a:rPr sz="2850" b="0" spc="-7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1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93368"/>
            <a:ext cx="7693660" cy="44723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Generally,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sequence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characters.</a:t>
            </a:r>
            <a:endParaRPr sz="2400" dirty="0">
              <a:latin typeface="Arial MT"/>
              <a:cs typeface="Arial MT"/>
            </a:endParaRPr>
          </a:p>
          <a:p>
            <a:pPr marL="269875" marR="480695" indent="-25781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Java,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represents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sequence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characters.</a:t>
            </a:r>
            <a:endParaRPr sz="2400" dirty="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java.lang.String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5" dirty="0">
                <a:latin typeface="Arial MT"/>
                <a:cs typeface="Arial MT"/>
              </a:rPr>
              <a:t> create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are two </a:t>
            </a:r>
            <a:r>
              <a:rPr sz="2400" spc="-5" dirty="0">
                <a:latin typeface="Arial MT"/>
                <a:cs typeface="Arial MT"/>
              </a:rPr>
              <a:t>ways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 smtClean="0">
                <a:latin typeface="Arial MT"/>
                <a:cs typeface="Arial MT"/>
              </a:rPr>
              <a:t>object</a:t>
            </a:r>
            <a:endParaRPr lang="en-US" sz="2400" spc="-5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endParaRPr lang="en-US" sz="24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endParaRPr lang="en-US" sz="2400" spc="-5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endParaRPr lang="en-US" sz="24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99915"/>
            <a:ext cx="1733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5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55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4" y="4220083"/>
            <a:ext cx="529526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keyword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without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keyword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(String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Literal)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838827"/>
            <a:ext cx="1733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5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55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86133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String class constructors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7454265" cy="895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Create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variable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of 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type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assign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it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 </a:t>
            </a:r>
            <a:r>
              <a:rPr sz="2850" b="0" spc="-77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value: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3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0200"/>
            <a:ext cx="7877175" cy="44850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IN" sz="2250" b="1" dirty="0">
                <a:latin typeface="Arial"/>
                <a:cs typeface="Arial"/>
              </a:rPr>
              <a:t>public</a:t>
            </a:r>
            <a:r>
              <a:rPr lang="en-IN" sz="2250" b="1" spc="-35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class</a:t>
            </a:r>
            <a:r>
              <a:rPr lang="en-IN" sz="2250" b="1" spc="-40" dirty="0">
                <a:latin typeface="Arial"/>
                <a:cs typeface="Arial"/>
              </a:rPr>
              <a:t> </a:t>
            </a:r>
            <a:r>
              <a:rPr lang="en-IN" sz="2250" dirty="0" err="1">
                <a:latin typeface="Arial MT"/>
                <a:cs typeface="Arial MT"/>
              </a:rPr>
              <a:t>StringExample</a:t>
            </a:r>
            <a:r>
              <a:rPr lang="en-IN" sz="2250" dirty="0">
                <a:latin typeface="Arial MT"/>
                <a:cs typeface="Arial MT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lang="en-IN" sz="2250" b="1" dirty="0">
                <a:latin typeface="Arial"/>
                <a:cs typeface="Arial"/>
              </a:rPr>
              <a:t>public</a:t>
            </a:r>
            <a:r>
              <a:rPr lang="en-IN" sz="2250" b="1" spc="-20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static</a:t>
            </a:r>
            <a:r>
              <a:rPr lang="en-IN" sz="2250" b="1" spc="-35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void</a:t>
            </a:r>
            <a:r>
              <a:rPr lang="en-IN" sz="2250" b="1" spc="-20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main(String</a:t>
            </a:r>
            <a:r>
              <a:rPr lang="en-IN" sz="2250" spc="-35" dirty="0">
                <a:latin typeface="Arial MT"/>
                <a:cs typeface="Arial MT"/>
              </a:rPr>
              <a:t> </a:t>
            </a:r>
            <a:r>
              <a:rPr lang="en-IN" sz="2250" dirty="0" err="1">
                <a:latin typeface="Arial MT"/>
                <a:cs typeface="Arial MT"/>
              </a:rPr>
              <a:t>args</a:t>
            </a:r>
            <a:r>
              <a:rPr lang="en-IN" sz="2250" dirty="0">
                <a:latin typeface="Arial MT"/>
                <a:cs typeface="Arial MT"/>
              </a:rPr>
              <a:t>[]){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755900" algn="l"/>
              </a:tabLst>
            </a:pPr>
            <a:r>
              <a:rPr lang="en-IN" sz="2250" dirty="0">
                <a:latin typeface="Arial MT"/>
                <a:cs typeface="Arial MT"/>
              </a:rPr>
              <a:t>String s1="java";	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//creating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Java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literal</a:t>
            </a:r>
            <a:endParaRPr lang="en-IN"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en-IN" sz="2250" b="1" dirty="0">
                <a:latin typeface="Arial"/>
                <a:cs typeface="Arial"/>
              </a:rPr>
              <a:t>char</a:t>
            </a:r>
            <a:r>
              <a:rPr lang="en-IN" sz="2250" b="1" spc="-15" dirty="0">
                <a:latin typeface="Arial"/>
                <a:cs typeface="Arial"/>
              </a:rPr>
              <a:t> </a:t>
            </a:r>
            <a:r>
              <a:rPr lang="en-IN" sz="2250" spc="-5" dirty="0" err="1">
                <a:latin typeface="Arial MT"/>
                <a:cs typeface="Arial MT"/>
              </a:rPr>
              <a:t>ch</a:t>
            </a:r>
            <a:r>
              <a:rPr lang="en-IN" sz="2250" spc="-5" dirty="0">
                <a:latin typeface="Arial MT"/>
                <a:cs typeface="Arial MT"/>
              </a:rPr>
              <a:t>[]={'s','t','r','</a:t>
            </a:r>
            <a:r>
              <a:rPr lang="en-IN" sz="2250" spc="-5" dirty="0" err="1">
                <a:latin typeface="Arial MT"/>
                <a:cs typeface="Arial MT"/>
              </a:rPr>
              <a:t>i</a:t>
            </a:r>
            <a:r>
              <a:rPr lang="en-IN" sz="2250" spc="-5" dirty="0">
                <a:latin typeface="Arial MT"/>
                <a:cs typeface="Arial MT"/>
              </a:rPr>
              <a:t>','</a:t>
            </a:r>
            <a:r>
              <a:rPr lang="en-IN" sz="2250" spc="-5" dirty="0" err="1">
                <a:latin typeface="Arial MT"/>
                <a:cs typeface="Arial MT"/>
              </a:rPr>
              <a:t>n','g','s</a:t>
            </a:r>
            <a:r>
              <a:rPr lang="en-IN" sz="2250" spc="-5" dirty="0">
                <a:latin typeface="Arial MT"/>
                <a:cs typeface="Arial MT"/>
              </a:rPr>
              <a:t>'};</a:t>
            </a:r>
            <a:endParaRPr lang="en-IN"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670300" algn="l"/>
              </a:tabLst>
            </a:pPr>
            <a:r>
              <a:rPr lang="en-IN" sz="2250" dirty="0">
                <a:latin typeface="Arial MT"/>
                <a:cs typeface="Arial MT"/>
              </a:rPr>
              <a:t>String</a:t>
            </a:r>
            <a:r>
              <a:rPr lang="en-IN" sz="2250" spc="-5" dirty="0">
                <a:latin typeface="Arial MT"/>
                <a:cs typeface="Arial MT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s2=</a:t>
            </a:r>
            <a:r>
              <a:rPr lang="en-IN" sz="2250" b="1" dirty="0">
                <a:latin typeface="Arial"/>
                <a:cs typeface="Arial"/>
              </a:rPr>
              <a:t>new</a:t>
            </a:r>
            <a:r>
              <a:rPr lang="en-IN" sz="2250" b="1" spc="-10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String(</a:t>
            </a:r>
            <a:r>
              <a:rPr lang="en-IN" sz="2250" dirty="0" err="1">
                <a:latin typeface="Arial MT"/>
                <a:cs typeface="Arial MT"/>
              </a:rPr>
              <a:t>ch</a:t>
            </a:r>
            <a:r>
              <a:rPr lang="en-IN" sz="2250" dirty="0">
                <a:latin typeface="Arial MT"/>
                <a:cs typeface="Arial MT"/>
              </a:rPr>
              <a:t>);	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//converting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char</a:t>
            </a:r>
            <a:r>
              <a:rPr lang="en-IN" sz="22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array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endParaRPr lang="en-IN" sz="22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lang="en-IN" sz="2250" dirty="0">
                <a:latin typeface="Arial MT"/>
                <a:cs typeface="Arial MT"/>
              </a:rPr>
              <a:t>String</a:t>
            </a:r>
            <a:r>
              <a:rPr lang="en-IN" sz="2250" spc="-20" dirty="0">
                <a:latin typeface="Arial MT"/>
                <a:cs typeface="Arial MT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s3=</a:t>
            </a:r>
            <a:r>
              <a:rPr lang="en-IN" sz="2250" b="1" dirty="0">
                <a:latin typeface="Arial"/>
                <a:cs typeface="Arial"/>
              </a:rPr>
              <a:t>new</a:t>
            </a:r>
            <a:r>
              <a:rPr lang="en-IN" sz="2250" b="1" spc="-25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String("example");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//creating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Java</a:t>
            </a:r>
            <a:r>
              <a:rPr lang="en-IN"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lang="en-IN" sz="22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new </a:t>
            </a:r>
            <a:r>
              <a:rPr lang="en-IN" sz="2250" spc="-6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keyword</a:t>
            </a:r>
            <a:endParaRPr lang="en-IN" sz="2250" dirty="0">
              <a:latin typeface="Arial MT"/>
              <a:cs typeface="Arial MT"/>
            </a:endParaRPr>
          </a:p>
          <a:p>
            <a:pPr marL="12700" marR="4993640">
              <a:lnSpc>
                <a:spcPct val="120000"/>
              </a:lnSpc>
            </a:pPr>
            <a:r>
              <a:rPr lang="en-IN" sz="2250" dirty="0" err="1">
                <a:latin typeface="Arial MT"/>
                <a:cs typeface="Arial MT"/>
              </a:rPr>
              <a:t>Sys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e</a:t>
            </a:r>
            <a:r>
              <a:rPr lang="en-IN" sz="2250" spc="5" dirty="0" err="1">
                <a:latin typeface="Arial MT"/>
                <a:cs typeface="Arial MT"/>
              </a:rPr>
              <a:t>m</a:t>
            </a:r>
            <a:r>
              <a:rPr lang="en-IN" sz="2250" dirty="0" err="1">
                <a:latin typeface="Arial MT"/>
                <a:cs typeface="Arial MT"/>
              </a:rPr>
              <a:t>.ou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.pri</a:t>
            </a:r>
            <a:r>
              <a:rPr lang="en-IN" sz="2250" spc="-10" dirty="0" err="1">
                <a:latin typeface="Arial MT"/>
                <a:cs typeface="Arial MT"/>
              </a:rPr>
              <a:t>n</a:t>
            </a:r>
            <a:r>
              <a:rPr lang="en-IN" sz="2250" dirty="0" err="1">
                <a:latin typeface="Arial MT"/>
                <a:cs typeface="Arial MT"/>
              </a:rPr>
              <a:t>tl</a:t>
            </a:r>
            <a:r>
              <a:rPr lang="en-IN" sz="2250" spc="-5" dirty="0" err="1">
                <a:latin typeface="Arial MT"/>
                <a:cs typeface="Arial MT"/>
              </a:rPr>
              <a:t>n</a:t>
            </a:r>
            <a:r>
              <a:rPr lang="en-IN" sz="2250" dirty="0">
                <a:latin typeface="Arial MT"/>
                <a:cs typeface="Arial MT"/>
              </a:rPr>
              <a:t>(</a:t>
            </a:r>
            <a:r>
              <a:rPr lang="en-IN" sz="2250" spc="-10" dirty="0">
                <a:latin typeface="Arial MT"/>
                <a:cs typeface="Arial MT"/>
              </a:rPr>
              <a:t>s</a:t>
            </a:r>
            <a:r>
              <a:rPr lang="en-IN" sz="2250" dirty="0">
                <a:latin typeface="Arial MT"/>
                <a:cs typeface="Arial MT"/>
              </a:rPr>
              <a:t>1);  </a:t>
            </a:r>
            <a:r>
              <a:rPr lang="en-IN" sz="2250" dirty="0" err="1">
                <a:latin typeface="Arial MT"/>
                <a:cs typeface="Arial MT"/>
              </a:rPr>
              <a:t>Sys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e</a:t>
            </a:r>
            <a:r>
              <a:rPr lang="en-IN" sz="2250" spc="5" dirty="0" err="1">
                <a:latin typeface="Arial MT"/>
                <a:cs typeface="Arial MT"/>
              </a:rPr>
              <a:t>m</a:t>
            </a:r>
            <a:r>
              <a:rPr lang="en-IN" sz="2250" dirty="0" err="1">
                <a:latin typeface="Arial MT"/>
                <a:cs typeface="Arial MT"/>
              </a:rPr>
              <a:t>.ou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.pri</a:t>
            </a:r>
            <a:r>
              <a:rPr lang="en-IN" sz="2250" spc="-10" dirty="0" err="1">
                <a:latin typeface="Arial MT"/>
                <a:cs typeface="Arial MT"/>
              </a:rPr>
              <a:t>n</a:t>
            </a:r>
            <a:r>
              <a:rPr lang="en-IN" sz="2250" dirty="0" err="1">
                <a:latin typeface="Arial MT"/>
                <a:cs typeface="Arial MT"/>
              </a:rPr>
              <a:t>tl</a:t>
            </a:r>
            <a:r>
              <a:rPr lang="en-IN" sz="2250" spc="-5" dirty="0" err="1">
                <a:latin typeface="Arial MT"/>
                <a:cs typeface="Arial MT"/>
              </a:rPr>
              <a:t>n</a:t>
            </a:r>
            <a:r>
              <a:rPr lang="en-IN" sz="2250" dirty="0">
                <a:latin typeface="Arial MT"/>
                <a:cs typeface="Arial MT"/>
              </a:rPr>
              <a:t>(</a:t>
            </a:r>
            <a:r>
              <a:rPr lang="en-IN" sz="2250" spc="-10" dirty="0">
                <a:latin typeface="Arial MT"/>
                <a:cs typeface="Arial MT"/>
              </a:rPr>
              <a:t>s</a:t>
            </a:r>
            <a:r>
              <a:rPr lang="en-IN" sz="2250" dirty="0">
                <a:latin typeface="Arial MT"/>
                <a:cs typeface="Arial MT"/>
              </a:rPr>
              <a:t>2);</a:t>
            </a: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lang="en-IN" sz="2250" dirty="0" err="1">
                <a:latin typeface="Arial MT"/>
                <a:cs typeface="Arial MT"/>
              </a:rPr>
              <a:t>System.out.println</a:t>
            </a:r>
            <a:r>
              <a:rPr lang="en-IN" sz="2250" dirty="0">
                <a:latin typeface="Arial MT"/>
                <a:cs typeface="Arial MT"/>
              </a:rPr>
              <a:t>(s3);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en-IN" sz="2250" dirty="0">
                <a:latin typeface="Arial MT"/>
                <a:cs typeface="Arial MT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85960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06502"/>
            <a:ext cx="6932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Literal</a:t>
            </a:r>
            <a:r>
              <a:rPr sz="3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</a:t>
            </a:r>
            <a:r>
              <a:rPr sz="3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“Hello”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1651507"/>
            <a:ext cx="43980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5177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1" y="1718666"/>
                </a:lnTo>
                <a:lnTo>
                  <a:pt x="9740" y="1669940"/>
                </a:lnTo>
                <a:lnTo>
                  <a:pt x="15155" y="1621584"/>
                </a:lnTo>
                <a:lnTo>
                  <a:pt x="21732" y="1573612"/>
                </a:lnTo>
                <a:lnTo>
                  <a:pt x="29455" y="1526043"/>
                </a:lnTo>
                <a:lnTo>
                  <a:pt x="38308" y="1478891"/>
                </a:lnTo>
                <a:lnTo>
                  <a:pt x="48278" y="1432173"/>
                </a:lnTo>
                <a:lnTo>
                  <a:pt x="59347" y="1385905"/>
                </a:lnTo>
                <a:lnTo>
                  <a:pt x="71502" y="1340103"/>
                </a:lnTo>
                <a:lnTo>
                  <a:pt x="84726" y="1294784"/>
                </a:lnTo>
                <a:lnTo>
                  <a:pt x="99005" y="1249962"/>
                </a:lnTo>
                <a:lnTo>
                  <a:pt x="114322" y="1205656"/>
                </a:lnTo>
                <a:lnTo>
                  <a:pt x="130664" y="1161880"/>
                </a:lnTo>
                <a:lnTo>
                  <a:pt x="148013" y="1118650"/>
                </a:lnTo>
                <a:lnTo>
                  <a:pt x="166356" y="1075984"/>
                </a:lnTo>
                <a:lnTo>
                  <a:pt x="185677" y="1033896"/>
                </a:lnTo>
                <a:lnTo>
                  <a:pt x="205961" y="992404"/>
                </a:lnTo>
                <a:lnTo>
                  <a:pt x="227191" y="951523"/>
                </a:lnTo>
                <a:lnTo>
                  <a:pt x="249354" y="911269"/>
                </a:lnTo>
                <a:lnTo>
                  <a:pt x="272433" y="871658"/>
                </a:lnTo>
                <a:lnTo>
                  <a:pt x="296414" y="832708"/>
                </a:lnTo>
                <a:lnTo>
                  <a:pt x="321281" y="794433"/>
                </a:lnTo>
                <a:lnTo>
                  <a:pt x="347019" y="756849"/>
                </a:lnTo>
                <a:lnTo>
                  <a:pt x="373612" y="719974"/>
                </a:lnTo>
                <a:lnTo>
                  <a:pt x="401045" y="683823"/>
                </a:lnTo>
                <a:lnTo>
                  <a:pt x="429303" y="648412"/>
                </a:lnTo>
                <a:lnTo>
                  <a:pt x="458371" y="613758"/>
                </a:lnTo>
                <a:lnTo>
                  <a:pt x="488233" y="579876"/>
                </a:lnTo>
                <a:lnTo>
                  <a:pt x="518874" y="546782"/>
                </a:lnTo>
                <a:lnTo>
                  <a:pt x="550279" y="514493"/>
                </a:lnTo>
                <a:lnTo>
                  <a:pt x="582432" y="483025"/>
                </a:lnTo>
                <a:lnTo>
                  <a:pt x="615318" y="452395"/>
                </a:lnTo>
                <a:lnTo>
                  <a:pt x="648922" y="422617"/>
                </a:lnTo>
                <a:lnTo>
                  <a:pt x="683228" y="393708"/>
                </a:lnTo>
                <a:lnTo>
                  <a:pt x="718222" y="365685"/>
                </a:lnTo>
                <a:lnTo>
                  <a:pt x="753887" y="338563"/>
                </a:lnTo>
                <a:lnTo>
                  <a:pt x="790209" y="312359"/>
                </a:lnTo>
                <a:lnTo>
                  <a:pt x="827173" y="287088"/>
                </a:lnTo>
                <a:lnTo>
                  <a:pt x="864762" y="262767"/>
                </a:lnTo>
                <a:lnTo>
                  <a:pt x="902962" y="239413"/>
                </a:lnTo>
                <a:lnTo>
                  <a:pt x="941758" y="217040"/>
                </a:lnTo>
                <a:lnTo>
                  <a:pt x="981133" y="195666"/>
                </a:lnTo>
                <a:lnTo>
                  <a:pt x="1021074" y="175305"/>
                </a:lnTo>
                <a:lnTo>
                  <a:pt x="1061564" y="155976"/>
                </a:lnTo>
                <a:lnTo>
                  <a:pt x="1102588" y="137693"/>
                </a:lnTo>
                <a:lnTo>
                  <a:pt x="1144131" y="120472"/>
                </a:lnTo>
                <a:lnTo>
                  <a:pt x="1186177" y="104331"/>
                </a:lnTo>
                <a:lnTo>
                  <a:pt x="1228712" y="89284"/>
                </a:lnTo>
                <a:lnTo>
                  <a:pt x="1271720" y="75348"/>
                </a:lnTo>
                <a:lnTo>
                  <a:pt x="1315186" y="62540"/>
                </a:lnTo>
                <a:lnTo>
                  <a:pt x="1359094" y="50875"/>
                </a:lnTo>
                <a:lnTo>
                  <a:pt x="1403429" y="40369"/>
                </a:lnTo>
                <a:lnTo>
                  <a:pt x="1448176" y="31039"/>
                </a:lnTo>
                <a:lnTo>
                  <a:pt x="1493319" y="22901"/>
                </a:lnTo>
                <a:lnTo>
                  <a:pt x="1538844" y="15971"/>
                </a:lnTo>
                <a:lnTo>
                  <a:pt x="1584734" y="10264"/>
                </a:lnTo>
                <a:lnTo>
                  <a:pt x="1630975" y="5797"/>
                </a:lnTo>
                <a:lnTo>
                  <a:pt x="1677552" y="2587"/>
                </a:lnTo>
                <a:lnTo>
                  <a:pt x="1724448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48" y="3733137"/>
                </a:lnTo>
                <a:lnTo>
                  <a:pt x="1677552" y="3731199"/>
                </a:lnTo>
                <a:lnTo>
                  <a:pt x="1630975" y="3727989"/>
                </a:lnTo>
                <a:lnTo>
                  <a:pt x="1584734" y="3723522"/>
                </a:lnTo>
                <a:lnTo>
                  <a:pt x="1538844" y="3717816"/>
                </a:lnTo>
                <a:lnTo>
                  <a:pt x="1493319" y="3710886"/>
                </a:lnTo>
                <a:lnTo>
                  <a:pt x="1448176" y="3702747"/>
                </a:lnTo>
                <a:lnTo>
                  <a:pt x="1403429" y="3693417"/>
                </a:lnTo>
                <a:lnTo>
                  <a:pt x="1359094" y="3682912"/>
                </a:lnTo>
                <a:lnTo>
                  <a:pt x="1315186" y="3671247"/>
                </a:lnTo>
                <a:lnTo>
                  <a:pt x="1271720" y="3658439"/>
                </a:lnTo>
                <a:lnTo>
                  <a:pt x="1228712" y="3644504"/>
                </a:lnTo>
                <a:lnTo>
                  <a:pt x="1186177" y="3629457"/>
                </a:lnTo>
                <a:lnTo>
                  <a:pt x="1144131" y="3613316"/>
                </a:lnTo>
                <a:lnTo>
                  <a:pt x="1102588" y="3596096"/>
                </a:lnTo>
                <a:lnTo>
                  <a:pt x="1061564" y="3577813"/>
                </a:lnTo>
                <a:lnTo>
                  <a:pt x="1021074" y="3558483"/>
                </a:lnTo>
                <a:lnTo>
                  <a:pt x="981133" y="3538123"/>
                </a:lnTo>
                <a:lnTo>
                  <a:pt x="941758" y="3516749"/>
                </a:lnTo>
                <a:lnTo>
                  <a:pt x="902962" y="3494377"/>
                </a:lnTo>
                <a:lnTo>
                  <a:pt x="864762" y="3471022"/>
                </a:lnTo>
                <a:lnTo>
                  <a:pt x="827173" y="3446702"/>
                </a:lnTo>
                <a:lnTo>
                  <a:pt x="790209" y="3421432"/>
                </a:lnTo>
                <a:lnTo>
                  <a:pt x="753887" y="3395228"/>
                </a:lnTo>
                <a:lnTo>
                  <a:pt x="718222" y="3368106"/>
                </a:lnTo>
                <a:lnTo>
                  <a:pt x="683228" y="3340083"/>
                </a:lnTo>
                <a:lnTo>
                  <a:pt x="648922" y="3311175"/>
                </a:lnTo>
                <a:lnTo>
                  <a:pt x="615318" y="3281397"/>
                </a:lnTo>
                <a:lnTo>
                  <a:pt x="582432" y="3250767"/>
                </a:lnTo>
                <a:lnTo>
                  <a:pt x="550279" y="3219299"/>
                </a:lnTo>
                <a:lnTo>
                  <a:pt x="518874" y="3187011"/>
                </a:lnTo>
                <a:lnTo>
                  <a:pt x="488233" y="3153917"/>
                </a:lnTo>
                <a:lnTo>
                  <a:pt x="458371" y="3120036"/>
                </a:lnTo>
                <a:lnTo>
                  <a:pt x="429303" y="3085381"/>
                </a:lnTo>
                <a:lnTo>
                  <a:pt x="401045" y="3049971"/>
                </a:lnTo>
                <a:lnTo>
                  <a:pt x="373612" y="3013820"/>
                </a:lnTo>
                <a:lnTo>
                  <a:pt x="347019" y="2976945"/>
                </a:lnTo>
                <a:lnTo>
                  <a:pt x="321281" y="2939362"/>
                </a:lnTo>
                <a:lnTo>
                  <a:pt x="296414" y="2901087"/>
                </a:lnTo>
                <a:lnTo>
                  <a:pt x="272433" y="2862137"/>
                </a:lnTo>
                <a:lnTo>
                  <a:pt x="249354" y="2822527"/>
                </a:lnTo>
                <a:lnTo>
                  <a:pt x="227191" y="2782273"/>
                </a:lnTo>
                <a:lnTo>
                  <a:pt x="205961" y="2741392"/>
                </a:lnTo>
                <a:lnTo>
                  <a:pt x="185677" y="2699900"/>
                </a:lnTo>
                <a:lnTo>
                  <a:pt x="166356" y="2657813"/>
                </a:lnTo>
                <a:lnTo>
                  <a:pt x="148013" y="2615147"/>
                </a:lnTo>
                <a:lnTo>
                  <a:pt x="130664" y="2571918"/>
                </a:lnTo>
                <a:lnTo>
                  <a:pt x="114322" y="2528142"/>
                </a:lnTo>
                <a:lnTo>
                  <a:pt x="99005" y="2483835"/>
                </a:lnTo>
                <a:lnTo>
                  <a:pt x="84726" y="2439014"/>
                </a:lnTo>
                <a:lnTo>
                  <a:pt x="71502" y="2393695"/>
                </a:lnTo>
                <a:lnTo>
                  <a:pt x="59347" y="2347893"/>
                </a:lnTo>
                <a:lnTo>
                  <a:pt x="48278" y="2301625"/>
                </a:lnTo>
                <a:lnTo>
                  <a:pt x="38308" y="2254907"/>
                </a:lnTo>
                <a:lnTo>
                  <a:pt x="29455" y="2207756"/>
                </a:lnTo>
                <a:lnTo>
                  <a:pt x="21732" y="2160186"/>
                </a:lnTo>
                <a:lnTo>
                  <a:pt x="15155" y="2112215"/>
                </a:lnTo>
                <a:lnTo>
                  <a:pt x="9740" y="2063859"/>
                </a:lnTo>
                <a:lnTo>
                  <a:pt x="5501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56990" y="2907804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69761" y="2887979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8867" y="3012948"/>
            <a:ext cx="1441703" cy="23926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702175" y="3075432"/>
            <a:ext cx="1278890" cy="76200"/>
          </a:xfrm>
          <a:custGeom>
            <a:avLst/>
            <a:gdLst/>
            <a:ahLst/>
            <a:cxnLst/>
            <a:rect l="l" t="t" r="r" b="b"/>
            <a:pathLst>
              <a:path w="1278889" h="76200">
                <a:moveTo>
                  <a:pt x="1260204" y="28447"/>
                </a:moveTo>
                <a:lnTo>
                  <a:pt x="1215009" y="28447"/>
                </a:lnTo>
                <a:lnTo>
                  <a:pt x="1215136" y="47497"/>
                </a:lnTo>
                <a:lnTo>
                  <a:pt x="1202451" y="47609"/>
                </a:lnTo>
                <a:lnTo>
                  <a:pt x="1202689" y="76200"/>
                </a:lnTo>
                <a:lnTo>
                  <a:pt x="1278636" y="37464"/>
                </a:lnTo>
                <a:lnTo>
                  <a:pt x="1260204" y="28447"/>
                </a:lnTo>
                <a:close/>
              </a:path>
              <a:path w="1278889" h="76200">
                <a:moveTo>
                  <a:pt x="1202292" y="28559"/>
                </a:moveTo>
                <a:lnTo>
                  <a:pt x="0" y="39115"/>
                </a:lnTo>
                <a:lnTo>
                  <a:pt x="126" y="58165"/>
                </a:lnTo>
                <a:lnTo>
                  <a:pt x="1202451" y="47609"/>
                </a:lnTo>
                <a:lnTo>
                  <a:pt x="1202292" y="28559"/>
                </a:lnTo>
                <a:close/>
              </a:path>
              <a:path w="1278889" h="76200">
                <a:moveTo>
                  <a:pt x="1215009" y="28447"/>
                </a:moveTo>
                <a:lnTo>
                  <a:pt x="1202292" y="28559"/>
                </a:lnTo>
                <a:lnTo>
                  <a:pt x="1202451" y="47609"/>
                </a:lnTo>
                <a:lnTo>
                  <a:pt x="1215136" y="47497"/>
                </a:lnTo>
                <a:lnTo>
                  <a:pt x="1215009" y="28447"/>
                </a:lnTo>
                <a:close/>
              </a:path>
              <a:path w="1278889" h="76200">
                <a:moveTo>
                  <a:pt x="1202054" y="0"/>
                </a:moveTo>
                <a:lnTo>
                  <a:pt x="1202292" y="28559"/>
                </a:lnTo>
                <a:lnTo>
                  <a:pt x="1260204" y="28447"/>
                </a:lnTo>
                <a:lnTo>
                  <a:pt x="1202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7378" y="3594608"/>
            <a:ext cx="7431405" cy="276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3022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String </a:t>
            </a:r>
            <a:r>
              <a:rPr sz="2800" spc="-5" dirty="0">
                <a:latin typeface="Times New Roman"/>
                <a:cs typeface="Times New Roman"/>
              </a:rPr>
              <a:t>objects are </a:t>
            </a:r>
            <a:r>
              <a:rPr sz="2800" dirty="0">
                <a:latin typeface="Times New Roman"/>
                <a:cs typeface="Times New Roman"/>
              </a:rPr>
              <a:t>stored </a:t>
            </a:r>
            <a:r>
              <a:rPr sz="2800" spc="-5" dirty="0">
                <a:latin typeface="Times New Roman"/>
                <a:cs typeface="Times New Roman"/>
              </a:rPr>
              <a:t>in a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memory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 known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"string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pool".</a:t>
            </a:r>
            <a:endParaRPr sz="2800">
              <a:latin typeface="Times New Roman"/>
              <a:cs typeface="Times New Roman"/>
            </a:endParaRPr>
          </a:p>
          <a:p>
            <a:pPr marL="5910580">
              <a:lnSpc>
                <a:spcPct val="100000"/>
              </a:lnSpc>
              <a:spcBef>
                <a:spcPts val="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R="506730" algn="r">
              <a:lnSpc>
                <a:spcPct val="100000"/>
              </a:lnSpc>
              <a:spcBef>
                <a:spcPts val="2400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354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97282"/>
            <a:ext cx="69316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Literal</a:t>
            </a:r>
            <a:r>
              <a:rPr sz="3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3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“Hello”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859281"/>
            <a:ext cx="44018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5" dirty="0">
                <a:latin typeface="Times New Roman"/>
                <a:cs typeface="Times New Roman"/>
              </a:rPr>
              <a:t>backend?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str1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“Hello”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7148" y="2060829"/>
            <a:ext cx="3507104" cy="3734435"/>
          </a:xfrm>
          <a:custGeom>
            <a:avLst/>
            <a:gdLst/>
            <a:ahLst/>
            <a:cxnLst/>
            <a:rect l="l" t="t" r="r" b="b"/>
            <a:pathLst>
              <a:path w="3507104" h="3734435">
                <a:moveTo>
                  <a:pt x="0" y="1866900"/>
                </a:moveTo>
                <a:lnTo>
                  <a:pt x="616" y="1817168"/>
                </a:lnTo>
                <a:lnTo>
                  <a:pt x="2455" y="1767757"/>
                </a:lnTo>
                <a:lnTo>
                  <a:pt x="5502" y="1718683"/>
                </a:lnTo>
                <a:lnTo>
                  <a:pt x="9741" y="1669962"/>
                </a:lnTo>
                <a:lnTo>
                  <a:pt x="15157" y="1621610"/>
                </a:lnTo>
                <a:lnTo>
                  <a:pt x="21735" y="1573642"/>
                </a:lnTo>
                <a:lnTo>
                  <a:pt x="29459" y="1526077"/>
                </a:lnTo>
                <a:lnTo>
                  <a:pt x="38314" y="1478928"/>
                </a:lnTo>
                <a:lnTo>
                  <a:pt x="48285" y="1432213"/>
                </a:lnTo>
                <a:lnTo>
                  <a:pt x="59356" y="1385948"/>
                </a:lnTo>
                <a:lnTo>
                  <a:pt x="71512" y="1340149"/>
                </a:lnTo>
                <a:lnTo>
                  <a:pt x="84738" y="1294832"/>
                </a:lnTo>
                <a:lnTo>
                  <a:pt x="99018" y="1250012"/>
                </a:lnTo>
                <a:lnTo>
                  <a:pt x="114337" y="1205707"/>
                </a:lnTo>
                <a:lnTo>
                  <a:pt x="130680" y="1161933"/>
                </a:lnTo>
                <a:lnTo>
                  <a:pt x="148032" y="1118704"/>
                </a:lnTo>
                <a:lnTo>
                  <a:pt x="166377" y="1076039"/>
                </a:lnTo>
                <a:lnTo>
                  <a:pt x="185700" y="1033952"/>
                </a:lnTo>
                <a:lnTo>
                  <a:pt x="205986" y="992460"/>
                </a:lnTo>
                <a:lnTo>
                  <a:pt x="227218" y="951579"/>
                </a:lnTo>
                <a:lnTo>
                  <a:pt x="249383" y="911325"/>
                </a:lnTo>
                <a:lnTo>
                  <a:pt x="272464" y="871715"/>
                </a:lnTo>
                <a:lnTo>
                  <a:pt x="296447" y="832764"/>
                </a:lnTo>
                <a:lnTo>
                  <a:pt x="321316" y="794488"/>
                </a:lnTo>
                <a:lnTo>
                  <a:pt x="347056" y="756904"/>
                </a:lnTo>
                <a:lnTo>
                  <a:pt x="373651" y="720028"/>
                </a:lnTo>
                <a:lnTo>
                  <a:pt x="401086" y="683876"/>
                </a:lnTo>
                <a:lnTo>
                  <a:pt x="429346" y="648464"/>
                </a:lnTo>
                <a:lnTo>
                  <a:pt x="458415" y="613808"/>
                </a:lnTo>
                <a:lnTo>
                  <a:pt x="488279" y="579925"/>
                </a:lnTo>
                <a:lnTo>
                  <a:pt x="518921" y="546830"/>
                </a:lnTo>
                <a:lnTo>
                  <a:pt x="550328" y="514539"/>
                </a:lnTo>
                <a:lnTo>
                  <a:pt x="582482" y="483070"/>
                </a:lnTo>
                <a:lnTo>
                  <a:pt x="615370" y="452437"/>
                </a:lnTo>
                <a:lnTo>
                  <a:pt x="648975" y="422657"/>
                </a:lnTo>
                <a:lnTo>
                  <a:pt x="683282" y="393747"/>
                </a:lnTo>
                <a:lnTo>
                  <a:pt x="718276" y="365722"/>
                </a:lnTo>
                <a:lnTo>
                  <a:pt x="753943" y="338598"/>
                </a:lnTo>
                <a:lnTo>
                  <a:pt x="790265" y="312392"/>
                </a:lnTo>
                <a:lnTo>
                  <a:pt x="827229" y="287119"/>
                </a:lnTo>
                <a:lnTo>
                  <a:pt x="864819" y="262796"/>
                </a:lnTo>
                <a:lnTo>
                  <a:pt x="903019" y="239440"/>
                </a:lnTo>
                <a:lnTo>
                  <a:pt x="941814" y="217065"/>
                </a:lnTo>
                <a:lnTo>
                  <a:pt x="981189" y="195688"/>
                </a:lnTo>
                <a:lnTo>
                  <a:pt x="1021129" y="175326"/>
                </a:lnTo>
                <a:lnTo>
                  <a:pt x="1061618" y="155995"/>
                </a:lnTo>
                <a:lnTo>
                  <a:pt x="1102641" y="137710"/>
                </a:lnTo>
                <a:lnTo>
                  <a:pt x="1144182" y="120487"/>
                </a:lnTo>
                <a:lnTo>
                  <a:pt x="1186227" y="104344"/>
                </a:lnTo>
                <a:lnTo>
                  <a:pt x="1228760" y="89296"/>
                </a:lnTo>
                <a:lnTo>
                  <a:pt x="1271766" y="75358"/>
                </a:lnTo>
                <a:lnTo>
                  <a:pt x="1315229" y="62548"/>
                </a:lnTo>
                <a:lnTo>
                  <a:pt x="1359134" y="50882"/>
                </a:lnTo>
                <a:lnTo>
                  <a:pt x="1403466" y="40375"/>
                </a:lnTo>
                <a:lnTo>
                  <a:pt x="1448209" y="31044"/>
                </a:lnTo>
                <a:lnTo>
                  <a:pt x="1493349" y="22904"/>
                </a:lnTo>
                <a:lnTo>
                  <a:pt x="1538870" y="15973"/>
                </a:lnTo>
                <a:lnTo>
                  <a:pt x="1584756" y="10265"/>
                </a:lnTo>
                <a:lnTo>
                  <a:pt x="1630992" y="5798"/>
                </a:lnTo>
                <a:lnTo>
                  <a:pt x="1677563" y="2588"/>
                </a:lnTo>
                <a:lnTo>
                  <a:pt x="1724454" y="649"/>
                </a:lnTo>
                <a:lnTo>
                  <a:pt x="1771650" y="0"/>
                </a:lnTo>
                <a:lnTo>
                  <a:pt x="1818851" y="649"/>
                </a:lnTo>
                <a:lnTo>
                  <a:pt x="1865747" y="2588"/>
                </a:lnTo>
                <a:lnTo>
                  <a:pt x="1912324" y="5798"/>
                </a:lnTo>
                <a:lnTo>
                  <a:pt x="1958565" y="10265"/>
                </a:lnTo>
                <a:lnTo>
                  <a:pt x="2004455" y="15973"/>
                </a:lnTo>
                <a:lnTo>
                  <a:pt x="2049980" y="22904"/>
                </a:lnTo>
                <a:lnTo>
                  <a:pt x="2095123" y="31044"/>
                </a:lnTo>
                <a:lnTo>
                  <a:pt x="2139870" y="40375"/>
                </a:lnTo>
                <a:lnTo>
                  <a:pt x="2184205" y="50882"/>
                </a:lnTo>
                <a:lnTo>
                  <a:pt x="2228113" y="62548"/>
                </a:lnTo>
                <a:lnTo>
                  <a:pt x="2271579" y="75358"/>
                </a:lnTo>
                <a:lnTo>
                  <a:pt x="2314587" y="89296"/>
                </a:lnTo>
                <a:lnTo>
                  <a:pt x="2357122" y="104344"/>
                </a:lnTo>
                <a:lnTo>
                  <a:pt x="2399168" y="120487"/>
                </a:lnTo>
                <a:lnTo>
                  <a:pt x="2440711" y="137710"/>
                </a:lnTo>
                <a:lnTo>
                  <a:pt x="2481735" y="155995"/>
                </a:lnTo>
                <a:lnTo>
                  <a:pt x="2522225" y="175326"/>
                </a:lnTo>
                <a:lnTo>
                  <a:pt x="2562166" y="195688"/>
                </a:lnTo>
                <a:lnTo>
                  <a:pt x="2601541" y="217065"/>
                </a:lnTo>
                <a:lnTo>
                  <a:pt x="2640337" y="239440"/>
                </a:lnTo>
                <a:lnTo>
                  <a:pt x="2678537" y="262796"/>
                </a:lnTo>
                <a:lnTo>
                  <a:pt x="2716126" y="287119"/>
                </a:lnTo>
                <a:lnTo>
                  <a:pt x="2753090" y="312392"/>
                </a:lnTo>
                <a:lnTo>
                  <a:pt x="2789412" y="338598"/>
                </a:lnTo>
                <a:lnTo>
                  <a:pt x="2825077" y="365722"/>
                </a:lnTo>
                <a:lnTo>
                  <a:pt x="2860071" y="393747"/>
                </a:lnTo>
                <a:lnTo>
                  <a:pt x="2894377" y="422657"/>
                </a:lnTo>
                <a:lnTo>
                  <a:pt x="2927981" y="452437"/>
                </a:lnTo>
                <a:lnTo>
                  <a:pt x="2960867" y="483070"/>
                </a:lnTo>
                <a:lnTo>
                  <a:pt x="2993020" y="514539"/>
                </a:lnTo>
                <a:lnTo>
                  <a:pt x="3024425" y="546830"/>
                </a:lnTo>
                <a:lnTo>
                  <a:pt x="3055066" y="579925"/>
                </a:lnTo>
                <a:lnTo>
                  <a:pt x="3084928" y="613808"/>
                </a:lnTo>
                <a:lnTo>
                  <a:pt x="3113996" y="648464"/>
                </a:lnTo>
                <a:lnTo>
                  <a:pt x="3142254" y="683876"/>
                </a:lnTo>
                <a:lnTo>
                  <a:pt x="3169687" y="720028"/>
                </a:lnTo>
                <a:lnTo>
                  <a:pt x="3196280" y="756904"/>
                </a:lnTo>
                <a:lnTo>
                  <a:pt x="3222018" y="794488"/>
                </a:lnTo>
                <a:lnTo>
                  <a:pt x="3246885" y="832764"/>
                </a:lnTo>
                <a:lnTo>
                  <a:pt x="3270866" y="871715"/>
                </a:lnTo>
                <a:lnTo>
                  <a:pt x="3293945" y="911325"/>
                </a:lnTo>
                <a:lnTo>
                  <a:pt x="3316108" y="951579"/>
                </a:lnTo>
                <a:lnTo>
                  <a:pt x="3337338" y="992460"/>
                </a:lnTo>
                <a:lnTo>
                  <a:pt x="3357622" y="1033952"/>
                </a:lnTo>
                <a:lnTo>
                  <a:pt x="3376943" y="1076039"/>
                </a:lnTo>
                <a:lnTo>
                  <a:pt x="3395286" y="1118704"/>
                </a:lnTo>
                <a:lnTo>
                  <a:pt x="3412635" y="1161933"/>
                </a:lnTo>
                <a:lnTo>
                  <a:pt x="3428977" y="1205707"/>
                </a:lnTo>
                <a:lnTo>
                  <a:pt x="3444294" y="1250012"/>
                </a:lnTo>
                <a:lnTo>
                  <a:pt x="3458573" y="1294832"/>
                </a:lnTo>
                <a:lnTo>
                  <a:pt x="3471797" y="1340149"/>
                </a:lnTo>
                <a:lnTo>
                  <a:pt x="3483952" y="1385948"/>
                </a:lnTo>
                <a:lnTo>
                  <a:pt x="3495021" y="1432213"/>
                </a:lnTo>
                <a:lnTo>
                  <a:pt x="3504991" y="1478928"/>
                </a:lnTo>
                <a:lnTo>
                  <a:pt x="3506851" y="1488833"/>
                </a:lnTo>
              </a:path>
              <a:path w="3507104" h="3734435">
                <a:moveTo>
                  <a:pt x="3506851" y="2245003"/>
                </a:moveTo>
                <a:lnTo>
                  <a:pt x="3495021" y="2301627"/>
                </a:lnTo>
                <a:lnTo>
                  <a:pt x="3483952" y="2347895"/>
                </a:lnTo>
                <a:lnTo>
                  <a:pt x="3471797" y="2393697"/>
                </a:lnTo>
                <a:lnTo>
                  <a:pt x="3458573" y="2439017"/>
                </a:lnTo>
                <a:lnTo>
                  <a:pt x="3444294" y="2483838"/>
                </a:lnTo>
                <a:lnTo>
                  <a:pt x="3428977" y="2528145"/>
                </a:lnTo>
                <a:lnTo>
                  <a:pt x="3412635" y="2571921"/>
                </a:lnTo>
                <a:lnTo>
                  <a:pt x="3395286" y="2615151"/>
                </a:lnTo>
                <a:lnTo>
                  <a:pt x="3376943" y="2657818"/>
                </a:lnTo>
                <a:lnTo>
                  <a:pt x="3357622" y="2699905"/>
                </a:lnTo>
                <a:lnTo>
                  <a:pt x="3337338" y="2741398"/>
                </a:lnTo>
                <a:lnTo>
                  <a:pt x="3316108" y="2782280"/>
                </a:lnTo>
                <a:lnTo>
                  <a:pt x="3293945" y="2822534"/>
                </a:lnTo>
                <a:lnTo>
                  <a:pt x="3270866" y="2862144"/>
                </a:lnTo>
                <a:lnTo>
                  <a:pt x="3246885" y="2901095"/>
                </a:lnTo>
                <a:lnTo>
                  <a:pt x="3222018" y="2939371"/>
                </a:lnTo>
                <a:lnTo>
                  <a:pt x="3196280" y="2976954"/>
                </a:lnTo>
                <a:lnTo>
                  <a:pt x="3169687" y="3013830"/>
                </a:lnTo>
                <a:lnTo>
                  <a:pt x="3142254" y="3049981"/>
                </a:lnTo>
                <a:lnTo>
                  <a:pt x="3113996" y="3085392"/>
                </a:lnTo>
                <a:lnTo>
                  <a:pt x="3084928" y="3120047"/>
                </a:lnTo>
                <a:lnTo>
                  <a:pt x="3055066" y="3153929"/>
                </a:lnTo>
                <a:lnTo>
                  <a:pt x="3024425" y="3187023"/>
                </a:lnTo>
                <a:lnTo>
                  <a:pt x="2993020" y="3219312"/>
                </a:lnTo>
                <a:lnTo>
                  <a:pt x="2960867" y="3250780"/>
                </a:lnTo>
                <a:lnTo>
                  <a:pt x="2927981" y="3281412"/>
                </a:lnTo>
                <a:lnTo>
                  <a:pt x="2894377" y="3311190"/>
                </a:lnTo>
                <a:lnTo>
                  <a:pt x="2860071" y="3340099"/>
                </a:lnTo>
                <a:lnTo>
                  <a:pt x="2825077" y="3368122"/>
                </a:lnTo>
                <a:lnTo>
                  <a:pt x="2789412" y="3395245"/>
                </a:lnTo>
                <a:lnTo>
                  <a:pt x="2753090" y="3421449"/>
                </a:lnTo>
                <a:lnTo>
                  <a:pt x="2716126" y="3446720"/>
                </a:lnTo>
                <a:lnTo>
                  <a:pt x="2678537" y="3471041"/>
                </a:lnTo>
                <a:lnTo>
                  <a:pt x="2640337" y="3494396"/>
                </a:lnTo>
                <a:lnTo>
                  <a:pt x="2601541" y="3516769"/>
                </a:lnTo>
                <a:lnTo>
                  <a:pt x="2562166" y="3538144"/>
                </a:lnTo>
                <a:lnTo>
                  <a:pt x="2522225" y="3558504"/>
                </a:lnTo>
                <a:lnTo>
                  <a:pt x="2481735" y="3577834"/>
                </a:lnTo>
                <a:lnTo>
                  <a:pt x="2440711" y="3596117"/>
                </a:lnTo>
                <a:lnTo>
                  <a:pt x="2399168" y="3613338"/>
                </a:lnTo>
                <a:lnTo>
                  <a:pt x="2357122" y="3629480"/>
                </a:lnTo>
                <a:lnTo>
                  <a:pt x="2314587" y="3644526"/>
                </a:lnTo>
                <a:lnTo>
                  <a:pt x="2271579" y="3658462"/>
                </a:lnTo>
                <a:lnTo>
                  <a:pt x="2228113" y="3671271"/>
                </a:lnTo>
                <a:lnTo>
                  <a:pt x="2184205" y="3682936"/>
                </a:lnTo>
                <a:lnTo>
                  <a:pt x="2139870" y="3693442"/>
                </a:lnTo>
                <a:lnTo>
                  <a:pt x="2095123" y="3702772"/>
                </a:lnTo>
                <a:lnTo>
                  <a:pt x="2049980" y="3710910"/>
                </a:lnTo>
                <a:lnTo>
                  <a:pt x="2004455" y="3717841"/>
                </a:lnTo>
                <a:lnTo>
                  <a:pt x="1958565" y="3723548"/>
                </a:lnTo>
                <a:lnTo>
                  <a:pt x="1912324" y="3728014"/>
                </a:lnTo>
                <a:lnTo>
                  <a:pt x="1865747" y="3731225"/>
                </a:lnTo>
                <a:lnTo>
                  <a:pt x="1818851" y="3733163"/>
                </a:lnTo>
                <a:lnTo>
                  <a:pt x="1771650" y="3733812"/>
                </a:lnTo>
                <a:lnTo>
                  <a:pt x="1724454" y="3733163"/>
                </a:lnTo>
                <a:lnTo>
                  <a:pt x="1677563" y="3731225"/>
                </a:lnTo>
                <a:lnTo>
                  <a:pt x="1630992" y="3728014"/>
                </a:lnTo>
                <a:lnTo>
                  <a:pt x="1584756" y="3723548"/>
                </a:lnTo>
                <a:lnTo>
                  <a:pt x="1538870" y="3717841"/>
                </a:lnTo>
                <a:lnTo>
                  <a:pt x="1493349" y="3710910"/>
                </a:lnTo>
                <a:lnTo>
                  <a:pt x="1448209" y="3702772"/>
                </a:lnTo>
                <a:lnTo>
                  <a:pt x="1403466" y="3693442"/>
                </a:lnTo>
                <a:lnTo>
                  <a:pt x="1359134" y="3682936"/>
                </a:lnTo>
                <a:lnTo>
                  <a:pt x="1315229" y="3671271"/>
                </a:lnTo>
                <a:lnTo>
                  <a:pt x="1271766" y="3658462"/>
                </a:lnTo>
                <a:lnTo>
                  <a:pt x="1228760" y="3644526"/>
                </a:lnTo>
                <a:lnTo>
                  <a:pt x="1186227" y="3629480"/>
                </a:lnTo>
                <a:lnTo>
                  <a:pt x="1144182" y="3613338"/>
                </a:lnTo>
                <a:lnTo>
                  <a:pt x="1102641" y="3596117"/>
                </a:lnTo>
                <a:lnTo>
                  <a:pt x="1061618" y="3577834"/>
                </a:lnTo>
                <a:lnTo>
                  <a:pt x="1021129" y="3558504"/>
                </a:lnTo>
                <a:lnTo>
                  <a:pt x="981189" y="3538144"/>
                </a:lnTo>
                <a:lnTo>
                  <a:pt x="941814" y="3516769"/>
                </a:lnTo>
                <a:lnTo>
                  <a:pt x="903019" y="3494396"/>
                </a:lnTo>
                <a:lnTo>
                  <a:pt x="864819" y="3471041"/>
                </a:lnTo>
                <a:lnTo>
                  <a:pt x="827229" y="3446720"/>
                </a:lnTo>
                <a:lnTo>
                  <a:pt x="790265" y="3421449"/>
                </a:lnTo>
                <a:lnTo>
                  <a:pt x="753943" y="3395245"/>
                </a:lnTo>
                <a:lnTo>
                  <a:pt x="718276" y="3368122"/>
                </a:lnTo>
                <a:lnTo>
                  <a:pt x="683282" y="3340099"/>
                </a:lnTo>
                <a:lnTo>
                  <a:pt x="648975" y="3311190"/>
                </a:lnTo>
                <a:lnTo>
                  <a:pt x="615370" y="3281412"/>
                </a:lnTo>
                <a:lnTo>
                  <a:pt x="582482" y="3250780"/>
                </a:lnTo>
                <a:lnTo>
                  <a:pt x="550328" y="3219312"/>
                </a:lnTo>
                <a:lnTo>
                  <a:pt x="518922" y="3187023"/>
                </a:lnTo>
                <a:lnTo>
                  <a:pt x="488279" y="3153929"/>
                </a:lnTo>
                <a:lnTo>
                  <a:pt x="458415" y="3120047"/>
                </a:lnTo>
                <a:lnTo>
                  <a:pt x="429346" y="3085392"/>
                </a:lnTo>
                <a:lnTo>
                  <a:pt x="401086" y="3049981"/>
                </a:lnTo>
                <a:lnTo>
                  <a:pt x="373651" y="3013830"/>
                </a:lnTo>
                <a:lnTo>
                  <a:pt x="347056" y="2976954"/>
                </a:lnTo>
                <a:lnTo>
                  <a:pt x="321316" y="2939371"/>
                </a:lnTo>
                <a:lnTo>
                  <a:pt x="296447" y="2901095"/>
                </a:lnTo>
                <a:lnTo>
                  <a:pt x="272464" y="2862144"/>
                </a:lnTo>
                <a:lnTo>
                  <a:pt x="249383" y="2822534"/>
                </a:lnTo>
                <a:lnTo>
                  <a:pt x="227218" y="2782280"/>
                </a:lnTo>
                <a:lnTo>
                  <a:pt x="205986" y="2741398"/>
                </a:lnTo>
                <a:lnTo>
                  <a:pt x="185700" y="2699905"/>
                </a:lnTo>
                <a:lnTo>
                  <a:pt x="166377" y="2657818"/>
                </a:lnTo>
                <a:lnTo>
                  <a:pt x="148032" y="2615151"/>
                </a:lnTo>
                <a:lnTo>
                  <a:pt x="130680" y="2571921"/>
                </a:lnTo>
                <a:lnTo>
                  <a:pt x="114337" y="2528145"/>
                </a:lnTo>
                <a:lnTo>
                  <a:pt x="99018" y="2483838"/>
                </a:lnTo>
                <a:lnTo>
                  <a:pt x="84738" y="2439017"/>
                </a:lnTo>
                <a:lnTo>
                  <a:pt x="71512" y="2393697"/>
                </a:lnTo>
                <a:lnTo>
                  <a:pt x="59356" y="2347895"/>
                </a:lnTo>
                <a:lnTo>
                  <a:pt x="48285" y="2301627"/>
                </a:lnTo>
                <a:lnTo>
                  <a:pt x="38314" y="2254909"/>
                </a:lnTo>
                <a:lnTo>
                  <a:pt x="29459" y="2207757"/>
                </a:lnTo>
                <a:lnTo>
                  <a:pt x="21735" y="2160187"/>
                </a:lnTo>
                <a:lnTo>
                  <a:pt x="15157" y="2112216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31557" y="5801664"/>
            <a:ext cx="7480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8093" y="4721733"/>
            <a:ext cx="15328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9089" y="2753880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61860" y="2734055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1347" y="2859023"/>
            <a:ext cx="1440179" cy="23926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494273" y="2921635"/>
            <a:ext cx="1278890" cy="76200"/>
          </a:xfrm>
          <a:custGeom>
            <a:avLst/>
            <a:gdLst/>
            <a:ahLst/>
            <a:cxnLst/>
            <a:rect l="l" t="t" r="r" b="b"/>
            <a:pathLst>
              <a:path w="1278890" h="76200">
                <a:moveTo>
                  <a:pt x="1260305" y="28448"/>
                </a:moveTo>
                <a:lnTo>
                  <a:pt x="1215008" y="28448"/>
                </a:lnTo>
                <a:lnTo>
                  <a:pt x="1215135" y="47498"/>
                </a:lnTo>
                <a:lnTo>
                  <a:pt x="1202452" y="47608"/>
                </a:lnTo>
                <a:lnTo>
                  <a:pt x="1202690" y="76073"/>
                </a:lnTo>
                <a:lnTo>
                  <a:pt x="1278508" y="37337"/>
                </a:lnTo>
                <a:lnTo>
                  <a:pt x="1260305" y="28448"/>
                </a:lnTo>
                <a:close/>
              </a:path>
              <a:path w="1278890" h="76200">
                <a:moveTo>
                  <a:pt x="1202293" y="28558"/>
                </a:moveTo>
                <a:lnTo>
                  <a:pt x="0" y="38988"/>
                </a:lnTo>
                <a:lnTo>
                  <a:pt x="126" y="58038"/>
                </a:lnTo>
                <a:lnTo>
                  <a:pt x="1202452" y="47608"/>
                </a:lnTo>
                <a:lnTo>
                  <a:pt x="1202293" y="28558"/>
                </a:lnTo>
                <a:close/>
              </a:path>
              <a:path w="1278890" h="76200">
                <a:moveTo>
                  <a:pt x="1215008" y="28448"/>
                </a:moveTo>
                <a:lnTo>
                  <a:pt x="1202293" y="28558"/>
                </a:lnTo>
                <a:lnTo>
                  <a:pt x="1202452" y="47608"/>
                </a:lnTo>
                <a:lnTo>
                  <a:pt x="1215135" y="47498"/>
                </a:lnTo>
                <a:lnTo>
                  <a:pt x="1215008" y="28448"/>
                </a:lnTo>
                <a:close/>
              </a:path>
              <a:path w="1278890" h="76200">
                <a:moveTo>
                  <a:pt x="1202054" y="0"/>
                </a:moveTo>
                <a:lnTo>
                  <a:pt x="1202293" y="28558"/>
                </a:lnTo>
                <a:lnTo>
                  <a:pt x="1260305" y="28448"/>
                </a:lnTo>
                <a:lnTo>
                  <a:pt x="1202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48072" y="3515626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6776" y="2979420"/>
            <a:ext cx="1440179" cy="82295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488940" y="3078226"/>
            <a:ext cx="1279525" cy="662305"/>
          </a:xfrm>
          <a:custGeom>
            <a:avLst/>
            <a:gdLst/>
            <a:ahLst/>
            <a:cxnLst/>
            <a:rect l="l" t="t" r="r" b="b"/>
            <a:pathLst>
              <a:path w="1279525" h="662304">
                <a:moveTo>
                  <a:pt x="1207191" y="26338"/>
                </a:moveTo>
                <a:lnTo>
                  <a:pt x="0" y="645160"/>
                </a:lnTo>
                <a:lnTo>
                  <a:pt x="8762" y="662178"/>
                </a:lnTo>
                <a:lnTo>
                  <a:pt x="1215854" y="43282"/>
                </a:lnTo>
                <a:lnTo>
                  <a:pt x="1207191" y="26338"/>
                </a:lnTo>
                <a:close/>
              </a:path>
              <a:path w="1279525" h="662304">
                <a:moveTo>
                  <a:pt x="1264173" y="20574"/>
                </a:moveTo>
                <a:lnTo>
                  <a:pt x="1218438" y="20574"/>
                </a:lnTo>
                <a:lnTo>
                  <a:pt x="1227201" y="37464"/>
                </a:lnTo>
                <a:lnTo>
                  <a:pt x="1215854" y="43282"/>
                </a:lnTo>
                <a:lnTo>
                  <a:pt x="1228852" y="68707"/>
                </a:lnTo>
                <a:lnTo>
                  <a:pt x="1264173" y="20574"/>
                </a:lnTo>
                <a:close/>
              </a:path>
              <a:path w="1279525" h="662304">
                <a:moveTo>
                  <a:pt x="1218438" y="20574"/>
                </a:moveTo>
                <a:lnTo>
                  <a:pt x="1207191" y="26338"/>
                </a:lnTo>
                <a:lnTo>
                  <a:pt x="1215854" y="43282"/>
                </a:lnTo>
                <a:lnTo>
                  <a:pt x="1227201" y="37464"/>
                </a:lnTo>
                <a:lnTo>
                  <a:pt x="1218438" y="20574"/>
                </a:lnTo>
                <a:close/>
              </a:path>
              <a:path w="1279525" h="662304">
                <a:moveTo>
                  <a:pt x="1279270" y="0"/>
                </a:moveTo>
                <a:lnTo>
                  <a:pt x="1194181" y="888"/>
                </a:lnTo>
                <a:lnTo>
                  <a:pt x="1207191" y="26338"/>
                </a:lnTo>
                <a:lnTo>
                  <a:pt x="1218438" y="20574"/>
                </a:lnTo>
                <a:lnTo>
                  <a:pt x="1264173" y="20574"/>
                </a:lnTo>
                <a:lnTo>
                  <a:pt x="12792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2910" y="1942591"/>
            <a:ext cx="41459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If </a:t>
            </a:r>
            <a:r>
              <a:rPr sz="1800" spc="-10" dirty="0">
                <a:latin typeface="Times New Roman"/>
                <a:cs typeface="Times New Roman"/>
              </a:rPr>
              <a:t>we </a:t>
            </a:r>
            <a:r>
              <a:rPr sz="1800" dirty="0">
                <a:latin typeface="Times New Roman"/>
                <a:cs typeface="Times New Roman"/>
              </a:rPr>
              <a:t>create an object using String literal. It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pool,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already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exists.</a:t>
            </a:r>
            <a:endParaRPr sz="1800">
              <a:latin typeface="Times New Roman"/>
              <a:cs typeface="Times New Roman"/>
            </a:endParaRPr>
          </a:p>
          <a:p>
            <a:pPr marL="12700" marR="10033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Otherwise,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will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5" dirty="0">
                <a:latin typeface="Times New Roman"/>
                <a:cs typeface="Times New Roman"/>
              </a:rPr>
              <a:t> 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new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object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put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 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pool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 future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re-use.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910" y="3588766"/>
            <a:ext cx="4255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 reference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be assigned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1800" spc="-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str1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2910" y="4412107"/>
            <a:ext cx="4374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Why Java uses the </a:t>
            </a:r>
            <a:r>
              <a:rPr sz="1800" b="1" dirty="0">
                <a:latin typeface="Times New Roman"/>
                <a:cs typeface="Times New Roman"/>
              </a:rPr>
              <a:t>concept of </a:t>
            </a:r>
            <a:r>
              <a:rPr sz="1800" b="1" spc="-5" dirty="0">
                <a:latin typeface="Times New Roman"/>
                <a:cs typeface="Times New Roman"/>
              </a:rPr>
              <a:t>String </a:t>
            </a:r>
            <a:r>
              <a:rPr sz="1800" b="1" dirty="0">
                <a:latin typeface="Times New Roman"/>
                <a:cs typeface="Times New Roman"/>
              </a:rPr>
              <a:t>literal?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make </a:t>
            </a:r>
            <a:r>
              <a:rPr sz="1800" dirty="0">
                <a:latin typeface="Times New Roman"/>
                <a:cs typeface="Times New Roman"/>
              </a:rPr>
              <a:t>Java </a:t>
            </a:r>
            <a:r>
              <a:rPr sz="1800" spc="-5" dirty="0">
                <a:latin typeface="Times New Roman"/>
                <a:cs typeface="Times New Roman"/>
              </a:rPr>
              <a:t>more memory efficient </a:t>
            </a:r>
            <a:r>
              <a:rPr sz="1800" dirty="0">
                <a:latin typeface="Times New Roman"/>
                <a:cs typeface="Times New Roman"/>
              </a:rPr>
              <a:t>(because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new</a:t>
            </a:r>
            <a:r>
              <a:rPr sz="1800" dirty="0">
                <a:latin typeface="Times New Roman"/>
                <a:cs typeface="Times New Roman"/>
              </a:rPr>
              <a:t> objects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already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constant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pool).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576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134492"/>
            <a:ext cx="71158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new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 new</a:t>
            </a:r>
            <a:r>
              <a:rPr sz="3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String(“Hello”)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634489"/>
            <a:ext cx="4401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2" y="1718666"/>
                </a:lnTo>
                <a:lnTo>
                  <a:pt x="9741" y="1669940"/>
                </a:lnTo>
                <a:lnTo>
                  <a:pt x="15157" y="1621584"/>
                </a:lnTo>
                <a:lnTo>
                  <a:pt x="21735" y="1573612"/>
                </a:lnTo>
                <a:lnTo>
                  <a:pt x="29459" y="1526043"/>
                </a:lnTo>
                <a:lnTo>
                  <a:pt x="38314" y="1478891"/>
                </a:lnTo>
                <a:lnTo>
                  <a:pt x="48285" y="1432173"/>
                </a:lnTo>
                <a:lnTo>
                  <a:pt x="59356" y="1385905"/>
                </a:lnTo>
                <a:lnTo>
                  <a:pt x="71512" y="1340103"/>
                </a:lnTo>
                <a:lnTo>
                  <a:pt x="84738" y="1294784"/>
                </a:lnTo>
                <a:lnTo>
                  <a:pt x="99018" y="1249962"/>
                </a:lnTo>
                <a:lnTo>
                  <a:pt x="114337" y="1205656"/>
                </a:lnTo>
                <a:lnTo>
                  <a:pt x="130680" y="1161880"/>
                </a:lnTo>
                <a:lnTo>
                  <a:pt x="148032" y="1118650"/>
                </a:lnTo>
                <a:lnTo>
                  <a:pt x="166377" y="1075984"/>
                </a:lnTo>
                <a:lnTo>
                  <a:pt x="185700" y="1033896"/>
                </a:lnTo>
                <a:lnTo>
                  <a:pt x="205986" y="992404"/>
                </a:lnTo>
                <a:lnTo>
                  <a:pt x="227218" y="951523"/>
                </a:lnTo>
                <a:lnTo>
                  <a:pt x="249383" y="911269"/>
                </a:lnTo>
                <a:lnTo>
                  <a:pt x="272464" y="871658"/>
                </a:lnTo>
                <a:lnTo>
                  <a:pt x="296447" y="832708"/>
                </a:lnTo>
                <a:lnTo>
                  <a:pt x="321316" y="794433"/>
                </a:lnTo>
                <a:lnTo>
                  <a:pt x="347056" y="756849"/>
                </a:lnTo>
                <a:lnTo>
                  <a:pt x="373651" y="719974"/>
                </a:lnTo>
                <a:lnTo>
                  <a:pt x="401086" y="683823"/>
                </a:lnTo>
                <a:lnTo>
                  <a:pt x="429346" y="648412"/>
                </a:lnTo>
                <a:lnTo>
                  <a:pt x="458415" y="613758"/>
                </a:lnTo>
                <a:lnTo>
                  <a:pt x="488279" y="579876"/>
                </a:lnTo>
                <a:lnTo>
                  <a:pt x="518921" y="546782"/>
                </a:lnTo>
                <a:lnTo>
                  <a:pt x="550328" y="514493"/>
                </a:lnTo>
                <a:lnTo>
                  <a:pt x="582482" y="483025"/>
                </a:lnTo>
                <a:lnTo>
                  <a:pt x="615370" y="452395"/>
                </a:lnTo>
                <a:lnTo>
                  <a:pt x="648975" y="422617"/>
                </a:lnTo>
                <a:lnTo>
                  <a:pt x="683282" y="393708"/>
                </a:lnTo>
                <a:lnTo>
                  <a:pt x="718276" y="365685"/>
                </a:lnTo>
                <a:lnTo>
                  <a:pt x="753943" y="338563"/>
                </a:lnTo>
                <a:lnTo>
                  <a:pt x="790265" y="312359"/>
                </a:lnTo>
                <a:lnTo>
                  <a:pt x="827229" y="287088"/>
                </a:lnTo>
                <a:lnTo>
                  <a:pt x="864819" y="262767"/>
                </a:lnTo>
                <a:lnTo>
                  <a:pt x="903019" y="239413"/>
                </a:lnTo>
                <a:lnTo>
                  <a:pt x="941814" y="217040"/>
                </a:lnTo>
                <a:lnTo>
                  <a:pt x="981189" y="195666"/>
                </a:lnTo>
                <a:lnTo>
                  <a:pt x="1021129" y="175305"/>
                </a:lnTo>
                <a:lnTo>
                  <a:pt x="1061618" y="155976"/>
                </a:lnTo>
                <a:lnTo>
                  <a:pt x="1102641" y="137693"/>
                </a:lnTo>
                <a:lnTo>
                  <a:pt x="1144182" y="120472"/>
                </a:lnTo>
                <a:lnTo>
                  <a:pt x="1186227" y="104331"/>
                </a:lnTo>
                <a:lnTo>
                  <a:pt x="1228760" y="89284"/>
                </a:lnTo>
                <a:lnTo>
                  <a:pt x="1271766" y="75348"/>
                </a:lnTo>
                <a:lnTo>
                  <a:pt x="1315229" y="62540"/>
                </a:lnTo>
                <a:lnTo>
                  <a:pt x="1359134" y="50875"/>
                </a:lnTo>
                <a:lnTo>
                  <a:pt x="1403466" y="40369"/>
                </a:lnTo>
                <a:lnTo>
                  <a:pt x="1448209" y="31039"/>
                </a:lnTo>
                <a:lnTo>
                  <a:pt x="1493349" y="22901"/>
                </a:lnTo>
                <a:lnTo>
                  <a:pt x="1538870" y="15971"/>
                </a:lnTo>
                <a:lnTo>
                  <a:pt x="1584756" y="10264"/>
                </a:lnTo>
                <a:lnTo>
                  <a:pt x="1630992" y="5797"/>
                </a:lnTo>
                <a:lnTo>
                  <a:pt x="1677563" y="2587"/>
                </a:lnTo>
                <a:lnTo>
                  <a:pt x="1724454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54" y="3733137"/>
                </a:lnTo>
                <a:lnTo>
                  <a:pt x="1677563" y="3731199"/>
                </a:lnTo>
                <a:lnTo>
                  <a:pt x="1630992" y="3727989"/>
                </a:lnTo>
                <a:lnTo>
                  <a:pt x="1584756" y="3723522"/>
                </a:lnTo>
                <a:lnTo>
                  <a:pt x="1538870" y="3717816"/>
                </a:lnTo>
                <a:lnTo>
                  <a:pt x="1493349" y="3710886"/>
                </a:lnTo>
                <a:lnTo>
                  <a:pt x="1448209" y="3702747"/>
                </a:lnTo>
                <a:lnTo>
                  <a:pt x="1403466" y="3693417"/>
                </a:lnTo>
                <a:lnTo>
                  <a:pt x="1359134" y="3682912"/>
                </a:lnTo>
                <a:lnTo>
                  <a:pt x="1315229" y="3671247"/>
                </a:lnTo>
                <a:lnTo>
                  <a:pt x="1271766" y="3658439"/>
                </a:lnTo>
                <a:lnTo>
                  <a:pt x="1228760" y="3644504"/>
                </a:lnTo>
                <a:lnTo>
                  <a:pt x="1186227" y="3629457"/>
                </a:lnTo>
                <a:lnTo>
                  <a:pt x="1144182" y="3613316"/>
                </a:lnTo>
                <a:lnTo>
                  <a:pt x="1102641" y="3596096"/>
                </a:lnTo>
                <a:lnTo>
                  <a:pt x="1061618" y="3577813"/>
                </a:lnTo>
                <a:lnTo>
                  <a:pt x="1021129" y="3558483"/>
                </a:lnTo>
                <a:lnTo>
                  <a:pt x="981189" y="3538123"/>
                </a:lnTo>
                <a:lnTo>
                  <a:pt x="941814" y="3516749"/>
                </a:lnTo>
                <a:lnTo>
                  <a:pt x="903019" y="3494377"/>
                </a:lnTo>
                <a:lnTo>
                  <a:pt x="864819" y="3471022"/>
                </a:lnTo>
                <a:lnTo>
                  <a:pt x="827229" y="3446702"/>
                </a:lnTo>
                <a:lnTo>
                  <a:pt x="790265" y="3421432"/>
                </a:lnTo>
                <a:lnTo>
                  <a:pt x="753943" y="3395228"/>
                </a:lnTo>
                <a:lnTo>
                  <a:pt x="718276" y="3368106"/>
                </a:lnTo>
                <a:lnTo>
                  <a:pt x="683282" y="3340083"/>
                </a:lnTo>
                <a:lnTo>
                  <a:pt x="648975" y="3311175"/>
                </a:lnTo>
                <a:lnTo>
                  <a:pt x="615370" y="3281397"/>
                </a:lnTo>
                <a:lnTo>
                  <a:pt x="582482" y="3250767"/>
                </a:lnTo>
                <a:lnTo>
                  <a:pt x="550328" y="3219299"/>
                </a:lnTo>
                <a:lnTo>
                  <a:pt x="518922" y="3187011"/>
                </a:lnTo>
                <a:lnTo>
                  <a:pt x="488279" y="3153917"/>
                </a:lnTo>
                <a:lnTo>
                  <a:pt x="458415" y="3120036"/>
                </a:lnTo>
                <a:lnTo>
                  <a:pt x="429346" y="3085381"/>
                </a:lnTo>
                <a:lnTo>
                  <a:pt x="401086" y="3049971"/>
                </a:lnTo>
                <a:lnTo>
                  <a:pt x="373651" y="3013820"/>
                </a:lnTo>
                <a:lnTo>
                  <a:pt x="347056" y="2976945"/>
                </a:lnTo>
                <a:lnTo>
                  <a:pt x="321316" y="2939362"/>
                </a:lnTo>
                <a:lnTo>
                  <a:pt x="296447" y="2901087"/>
                </a:lnTo>
                <a:lnTo>
                  <a:pt x="272464" y="2862137"/>
                </a:lnTo>
                <a:lnTo>
                  <a:pt x="249383" y="2822527"/>
                </a:lnTo>
                <a:lnTo>
                  <a:pt x="227218" y="2782273"/>
                </a:lnTo>
                <a:lnTo>
                  <a:pt x="205986" y="2741392"/>
                </a:lnTo>
                <a:lnTo>
                  <a:pt x="185700" y="2699900"/>
                </a:lnTo>
                <a:lnTo>
                  <a:pt x="166377" y="2657813"/>
                </a:lnTo>
                <a:lnTo>
                  <a:pt x="148032" y="2615147"/>
                </a:lnTo>
                <a:lnTo>
                  <a:pt x="130680" y="2571918"/>
                </a:lnTo>
                <a:lnTo>
                  <a:pt x="114337" y="2528142"/>
                </a:lnTo>
                <a:lnTo>
                  <a:pt x="99018" y="2483835"/>
                </a:lnTo>
                <a:lnTo>
                  <a:pt x="84738" y="2439014"/>
                </a:lnTo>
                <a:lnTo>
                  <a:pt x="71512" y="2393695"/>
                </a:lnTo>
                <a:lnTo>
                  <a:pt x="59356" y="2347893"/>
                </a:lnTo>
                <a:lnTo>
                  <a:pt x="48285" y="2301625"/>
                </a:lnTo>
                <a:lnTo>
                  <a:pt x="38314" y="2254907"/>
                </a:lnTo>
                <a:lnTo>
                  <a:pt x="29459" y="2207756"/>
                </a:lnTo>
                <a:lnTo>
                  <a:pt x="21735" y="2160186"/>
                </a:lnTo>
                <a:lnTo>
                  <a:pt x="15157" y="2112215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39436" y="4875657"/>
            <a:ext cx="1532890" cy="148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  <a:spcBef>
                <a:spcPts val="2400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0813" y="2819412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53711" y="2887979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30272" y="2987167"/>
            <a:ext cx="2134870" cy="1016635"/>
            <a:chOff x="2430272" y="2987167"/>
            <a:chExt cx="2134870" cy="1016635"/>
          </a:xfrm>
        </p:grpSpPr>
        <p:sp>
          <p:nvSpPr>
            <p:cNvPr id="9" name="object 9"/>
            <p:cNvSpPr/>
            <p:nvPr/>
          </p:nvSpPr>
          <p:spPr>
            <a:xfrm>
              <a:off x="3285997" y="2987167"/>
              <a:ext cx="1278890" cy="76200"/>
            </a:xfrm>
            <a:custGeom>
              <a:avLst/>
              <a:gdLst/>
              <a:ahLst/>
              <a:cxnLst/>
              <a:rect l="l" t="t" r="r" b="b"/>
              <a:pathLst>
                <a:path w="1278889" h="76200">
                  <a:moveTo>
                    <a:pt x="1260402" y="28448"/>
                  </a:moveTo>
                  <a:lnTo>
                    <a:pt x="1215009" y="28448"/>
                  </a:lnTo>
                  <a:lnTo>
                    <a:pt x="1215263" y="47498"/>
                  </a:lnTo>
                  <a:lnTo>
                    <a:pt x="1202531" y="47608"/>
                  </a:lnTo>
                  <a:lnTo>
                    <a:pt x="1202816" y="76200"/>
                  </a:lnTo>
                  <a:lnTo>
                    <a:pt x="1278636" y="37337"/>
                  </a:lnTo>
                  <a:lnTo>
                    <a:pt x="1260402" y="28448"/>
                  </a:lnTo>
                  <a:close/>
                </a:path>
                <a:path w="1278889" h="76200">
                  <a:moveTo>
                    <a:pt x="1202340" y="28557"/>
                  </a:moveTo>
                  <a:lnTo>
                    <a:pt x="0" y="38988"/>
                  </a:lnTo>
                  <a:lnTo>
                    <a:pt x="253" y="58038"/>
                  </a:lnTo>
                  <a:lnTo>
                    <a:pt x="1202531" y="47608"/>
                  </a:lnTo>
                  <a:lnTo>
                    <a:pt x="1202340" y="28557"/>
                  </a:lnTo>
                  <a:close/>
                </a:path>
                <a:path w="1278889" h="76200">
                  <a:moveTo>
                    <a:pt x="1215009" y="28448"/>
                  </a:moveTo>
                  <a:lnTo>
                    <a:pt x="1202340" y="28557"/>
                  </a:lnTo>
                  <a:lnTo>
                    <a:pt x="1202531" y="47608"/>
                  </a:lnTo>
                  <a:lnTo>
                    <a:pt x="1215263" y="47498"/>
                  </a:lnTo>
                  <a:lnTo>
                    <a:pt x="1215009" y="28448"/>
                  </a:lnTo>
                  <a:close/>
                </a:path>
                <a:path w="1278889" h="76200">
                  <a:moveTo>
                    <a:pt x="1202054" y="0"/>
                  </a:moveTo>
                  <a:lnTo>
                    <a:pt x="1202340" y="28557"/>
                  </a:lnTo>
                  <a:lnTo>
                    <a:pt x="1260402" y="28448"/>
                  </a:lnTo>
                  <a:lnTo>
                    <a:pt x="1202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9797" y="3561600"/>
              <a:ext cx="845819" cy="433070"/>
            </a:xfrm>
            <a:custGeom>
              <a:avLst/>
              <a:gdLst/>
              <a:ahLst/>
              <a:cxnLst/>
              <a:rect l="l" t="t" r="r" b="b"/>
              <a:pathLst>
                <a:path w="845820" h="433070">
                  <a:moveTo>
                    <a:pt x="0" y="432549"/>
                  </a:moveTo>
                  <a:lnTo>
                    <a:pt x="845299" y="432549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3254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238500" y="2924555"/>
            <a:ext cx="1445260" cy="925194"/>
            <a:chOff x="3238500" y="2924555"/>
            <a:chExt cx="1445260" cy="92519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3072" y="2924555"/>
              <a:ext cx="1440179" cy="2392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0" y="3025139"/>
              <a:ext cx="1440179" cy="82448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11882" y="3564763"/>
            <a:ext cx="5010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80790" y="3124200"/>
            <a:ext cx="1279525" cy="662305"/>
          </a:xfrm>
          <a:custGeom>
            <a:avLst/>
            <a:gdLst/>
            <a:ahLst/>
            <a:cxnLst/>
            <a:rect l="l" t="t" r="r" b="b"/>
            <a:pathLst>
              <a:path w="1279525" h="662304">
                <a:moveTo>
                  <a:pt x="1207077" y="26271"/>
                </a:moveTo>
                <a:lnTo>
                  <a:pt x="0" y="645160"/>
                </a:lnTo>
                <a:lnTo>
                  <a:pt x="8636" y="662051"/>
                </a:lnTo>
                <a:lnTo>
                  <a:pt x="1215789" y="43249"/>
                </a:lnTo>
                <a:lnTo>
                  <a:pt x="1207077" y="26271"/>
                </a:lnTo>
                <a:close/>
              </a:path>
              <a:path w="1279525" h="662304">
                <a:moveTo>
                  <a:pt x="1264266" y="20447"/>
                </a:moveTo>
                <a:lnTo>
                  <a:pt x="1218438" y="20447"/>
                </a:lnTo>
                <a:lnTo>
                  <a:pt x="1227074" y="37464"/>
                </a:lnTo>
                <a:lnTo>
                  <a:pt x="1215789" y="43249"/>
                </a:lnTo>
                <a:lnTo>
                  <a:pt x="1228852" y="68707"/>
                </a:lnTo>
                <a:lnTo>
                  <a:pt x="1264266" y="20447"/>
                </a:lnTo>
                <a:close/>
              </a:path>
              <a:path w="1279525" h="662304">
                <a:moveTo>
                  <a:pt x="1218438" y="20447"/>
                </a:moveTo>
                <a:lnTo>
                  <a:pt x="1207077" y="26271"/>
                </a:lnTo>
                <a:lnTo>
                  <a:pt x="1215789" y="43249"/>
                </a:lnTo>
                <a:lnTo>
                  <a:pt x="1227074" y="37464"/>
                </a:lnTo>
                <a:lnTo>
                  <a:pt x="1218438" y="20447"/>
                </a:lnTo>
                <a:close/>
              </a:path>
              <a:path w="1279525" h="662304">
                <a:moveTo>
                  <a:pt x="1279271" y="0"/>
                </a:moveTo>
                <a:lnTo>
                  <a:pt x="1194054" y="888"/>
                </a:lnTo>
                <a:lnTo>
                  <a:pt x="1207077" y="26271"/>
                </a:lnTo>
                <a:lnTo>
                  <a:pt x="1218438" y="20447"/>
                </a:lnTo>
                <a:lnTo>
                  <a:pt x="1264266" y="20447"/>
                </a:lnTo>
                <a:lnTo>
                  <a:pt x="1279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39797" y="4311535"/>
            <a:ext cx="845819" cy="413384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sz="2500" spc="-5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3260" y="3076955"/>
            <a:ext cx="1455419" cy="158800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266059" y="3176270"/>
            <a:ext cx="1294130" cy="1426210"/>
            <a:chOff x="3266059" y="3176270"/>
            <a:chExt cx="1294130" cy="1426210"/>
          </a:xfrm>
        </p:grpSpPr>
        <p:sp>
          <p:nvSpPr>
            <p:cNvPr id="19" name="object 19"/>
            <p:cNvSpPr/>
            <p:nvPr/>
          </p:nvSpPr>
          <p:spPr>
            <a:xfrm>
              <a:off x="3266059" y="3176270"/>
              <a:ext cx="1294130" cy="1426210"/>
            </a:xfrm>
            <a:custGeom>
              <a:avLst/>
              <a:gdLst/>
              <a:ahLst/>
              <a:cxnLst/>
              <a:rect l="l" t="t" r="r" b="b"/>
              <a:pathLst>
                <a:path w="1294129" h="1426210">
                  <a:moveTo>
                    <a:pt x="1235724" y="50009"/>
                  </a:moveTo>
                  <a:lnTo>
                    <a:pt x="0" y="1413002"/>
                  </a:lnTo>
                  <a:lnTo>
                    <a:pt x="14224" y="1425828"/>
                  </a:lnTo>
                  <a:lnTo>
                    <a:pt x="1249844" y="62825"/>
                  </a:lnTo>
                  <a:lnTo>
                    <a:pt x="1235724" y="50009"/>
                  </a:lnTo>
                  <a:close/>
                </a:path>
                <a:path w="1294129" h="1426210">
                  <a:moveTo>
                    <a:pt x="1282616" y="40639"/>
                  </a:moveTo>
                  <a:lnTo>
                    <a:pt x="1244218" y="40639"/>
                  </a:lnTo>
                  <a:lnTo>
                    <a:pt x="1258442" y="53339"/>
                  </a:lnTo>
                  <a:lnTo>
                    <a:pt x="1249844" y="62825"/>
                  </a:lnTo>
                  <a:lnTo>
                    <a:pt x="1271015" y="82041"/>
                  </a:lnTo>
                  <a:lnTo>
                    <a:pt x="1282616" y="40639"/>
                  </a:lnTo>
                  <a:close/>
                </a:path>
                <a:path w="1294129" h="1426210">
                  <a:moveTo>
                    <a:pt x="1244218" y="40639"/>
                  </a:moveTo>
                  <a:lnTo>
                    <a:pt x="1235724" y="50009"/>
                  </a:lnTo>
                  <a:lnTo>
                    <a:pt x="1249844" y="62825"/>
                  </a:lnTo>
                  <a:lnTo>
                    <a:pt x="1258442" y="53339"/>
                  </a:lnTo>
                  <a:lnTo>
                    <a:pt x="1244218" y="40639"/>
                  </a:lnTo>
                  <a:close/>
                </a:path>
                <a:path w="1294129" h="1426210">
                  <a:moveTo>
                    <a:pt x="1294002" y="0"/>
                  </a:moveTo>
                  <a:lnTo>
                    <a:pt x="1214627" y="30860"/>
                  </a:lnTo>
                  <a:lnTo>
                    <a:pt x="1235724" y="50009"/>
                  </a:lnTo>
                  <a:lnTo>
                    <a:pt x="1244218" y="40639"/>
                  </a:lnTo>
                  <a:lnTo>
                    <a:pt x="1282616" y="40639"/>
                  </a:lnTo>
                  <a:lnTo>
                    <a:pt x="1294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96081" y="3813429"/>
              <a:ext cx="94615" cy="600075"/>
            </a:xfrm>
            <a:custGeom>
              <a:avLst/>
              <a:gdLst/>
              <a:ahLst/>
              <a:cxnLst/>
              <a:rect l="l" t="t" r="r" b="b"/>
              <a:pathLst>
                <a:path w="94614" h="600075">
                  <a:moveTo>
                    <a:pt x="0" y="0"/>
                  </a:moveTo>
                  <a:lnTo>
                    <a:pt x="94488" y="60007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2241" y="4026789"/>
              <a:ext cx="582295" cy="173355"/>
            </a:xfrm>
            <a:custGeom>
              <a:avLst/>
              <a:gdLst/>
              <a:ahLst/>
              <a:cxnLst/>
              <a:rect l="l" t="t" r="r" b="b"/>
              <a:pathLst>
                <a:path w="582295" h="173354">
                  <a:moveTo>
                    <a:pt x="0" y="173355"/>
                  </a:moveTo>
                  <a:lnTo>
                    <a:pt x="58216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0188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97282"/>
            <a:ext cx="71158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new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String</a:t>
            </a:r>
            <a:r>
              <a:rPr sz="3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3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new</a:t>
            </a:r>
            <a:r>
              <a:rPr sz="3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String(“Hello”)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958342"/>
            <a:ext cx="4401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600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2" y="1718666"/>
                </a:lnTo>
                <a:lnTo>
                  <a:pt x="9741" y="1669940"/>
                </a:lnTo>
                <a:lnTo>
                  <a:pt x="15157" y="1621584"/>
                </a:lnTo>
                <a:lnTo>
                  <a:pt x="21735" y="1573612"/>
                </a:lnTo>
                <a:lnTo>
                  <a:pt x="29459" y="1526043"/>
                </a:lnTo>
                <a:lnTo>
                  <a:pt x="38314" y="1478891"/>
                </a:lnTo>
                <a:lnTo>
                  <a:pt x="48285" y="1432173"/>
                </a:lnTo>
                <a:lnTo>
                  <a:pt x="59356" y="1385905"/>
                </a:lnTo>
                <a:lnTo>
                  <a:pt x="71512" y="1340103"/>
                </a:lnTo>
                <a:lnTo>
                  <a:pt x="84738" y="1294784"/>
                </a:lnTo>
                <a:lnTo>
                  <a:pt x="99018" y="1249962"/>
                </a:lnTo>
                <a:lnTo>
                  <a:pt x="114337" y="1205656"/>
                </a:lnTo>
                <a:lnTo>
                  <a:pt x="130680" y="1161880"/>
                </a:lnTo>
                <a:lnTo>
                  <a:pt x="148032" y="1118650"/>
                </a:lnTo>
                <a:lnTo>
                  <a:pt x="166377" y="1075984"/>
                </a:lnTo>
                <a:lnTo>
                  <a:pt x="185700" y="1033896"/>
                </a:lnTo>
                <a:lnTo>
                  <a:pt x="205986" y="992404"/>
                </a:lnTo>
                <a:lnTo>
                  <a:pt x="227218" y="951523"/>
                </a:lnTo>
                <a:lnTo>
                  <a:pt x="249383" y="911269"/>
                </a:lnTo>
                <a:lnTo>
                  <a:pt x="272464" y="871658"/>
                </a:lnTo>
                <a:lnTo>
                  <a:pt x="296447" y="832708"/>
                </a:lnTo>
                <a:lnTo>
                  <a:pt x="321316" y="794433"/>
                </a:lnTo>
                <a:lnTo>
                  <a:pt x="347056" y="756849"/>
                </a:lnTo>
                <a:lnTo>
                  <a:pt x="373651" y="719974"/>
                </a:lnTo>
                <a:lnTo>
                  <a:pt x="401086" y="683823"/>
                </a:lnTo>
                <a:lnTo>
                  <a:pt x="429346" y="648412"/>
                </a:lnTo>
                <a:lnTo>
                  <a:pt x="458415" y="613758"/>
                </a:lnTo>
                <a:lnTo>
                  <a:pt x="488279" y="579876"/>
                </a:lnTo>
                <a:lnTo>
                  <a:pt x="518922" y="546782"/>
                </a:lnTo>
                <a:lnTo>
                  <a:pt x="550328" y="514493"/>
                </a:lnTo>
                <a:lnTo>
                  <a:pt x="582482" y="483025"/>
                </a:lnTo>
                <a:lnTo>
                  <a:pt x="615370" y="452395"/>
                </a:lnTo>
                <a:lnTo>
                  <a:pt x="648975" y="422617"/>
                </a:lnTo>
                <a:lnTo>
                  <a:pt x="683282" y="393708"/>
                </a:lnTo>
                <a:lnTo>
                  <a:pt x="718276" y="365685"/>
                </a:lnTo>
                <a:lnTo>
                  <a:pt x="753943" y="338563"/>
                </a:lnTo>
                <a:lnTo>
                  <a:pt x="790265" y="312359"/>
                </a:lnTo>
                <a:lnTo>
                  <a:pt x="827229" y="287088"/>
                </a:lnTo>
                <a:lnTo>
                  <a:pt x="864819" y="262767"/>
                </a:lnTo>
                <a:lnTo>
                  <a:pt x="903019" y="239413"/>
                </a:lnTo>
                <a:lnTo>
                  <a:pt x="941814" y="217040"/>
                </a:lnTo>
                <a:lnTo>
                  <a:pt x="981189" y="195666"/>
                </a:lnTo>
                <a:lnTo>
                  <a:pt x="1021129" y="175305"/>
                </a:lnTo>
                <a:lnTo>
                  <a:pt x="1061618" y="155976"/>
                </a:lnTo>
                <a:lnTo>
                  <a:pt x="1102641" y="137693"/>
                </a:lnTo>
                <a:lnTo>
                  <a:pt x="1144182" y="120472"/>
                </a:lnTo>
                <a:lnTo>
                  <a:pt x="1186227" y="104331"/>
                </a:lnTo>
                <a:lnTo>
                  <a:pt x="1228760" y="89284"/>
                </a:lnTo>
                <a:lnTo>
                  <a:pt x="1271766" y="75348"/>
                </a:lnTo>
                <a:lnTo>
                  <a:pt x="1315229" y="62540"/>
                </a:lnTo>
                <a:lnTo>
                  <a:pt x="1359134" y="50875"/>
                </a:lnTo>
                <a:lnTo>
                  <a:pt x="1403466" y="40369"/>
                </a:lnTo>
                <a:lnTo>
                  <a:pt x="1448209" y="31039"/>
                </a:lnTo>
                <a:lnTo>
                  <a:pt x="1493349" y="22901"/>
                </a:lnTo>
                <a:lnTo>
                  <a:pt x="1538870" y="15971"/>
                </a:lnTo>
                <a:lnTo>
                  <a:pt x="1584756" y="10264"/>
                </a:lnTo>
                <a:lnTo>
                  <a:pt x="1630992" y="5797"/>
                </a:lnTo>
                <a:lnTo>
                  <a:pt x="1677563" y="2587"/>
                </a:lnTo>
                <a:lnTo>
                  <a:pt x="1724454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54" y="3733137"/>
                </a:lnTo>
                <a:lnTo>
                  <a:pt x="1677563" y="3731199"/>
                </a:lnTo>
                <a:lnTo>
                  <a:pt x="1630992" y="3727989"/>
                </a:lnTo>
                <a:lnTo>
                  <a:pt x="1584756" y="3723522"/>
                </a:lnTo>
                <a:lnTo>
                  <a:pt x="1538870" y="3717816"/>
                </a:lnTo>
                <a:lnTo>
                  <a:pt x="1493349" y="3710886"/>
                </a:lnTo>
                <a:lnTo>
                  <a:pt x="1448209" y="3702747"/>
                </a:lnTo>
                <a:lnTo>
                  <a:pt x="1403466" y="3693417"/>
                </a:lnTo>
                <a:lnTo>
                  <a:pt x="1359134" y="3682912"/>
                </a:lnTo>
                <a:lnTo>
                  <a:pt x="1315229" y="3671247"/>
                </a:lnTo>
                <a:lnTo>
                  <a:pt x="1271766" y="3658439"/>
                </a:lnTo>
                <a:lnTo>
                  <a:pt x="1228760" y="3644504"/>
                </a:lnTo>
                <a:lnTo>
                  <a:pt x="1186227" y="3629457"/>
                </a:lnTo>
                <a:lnTo>
                  <a:pt x="1144182" y="3613316"/>
                </a:lnTo>
                <a:lnTo>
                  <a:pt x="1102641" y="3596096"/>
                </a:lnTo>
                <a:lnTo>
                  <a:pt x="1061618" y="3577813"/>
                </a:lnTo>
                <a:lnTo>
                  <a:pt x="1021129" y="3558483"/>
                </a:lnTo>
                <a:lnTo>
                  <a:pt x="981189" y="3538123"/>
                </a:lnTo>
                <a:lnTo>
                  <a:pt x="941814" y="3516749"/>
                </a:lnTo>
                <a:lnTo>
                  <a:pt x="903019" y="3494377"/>
                </a:lnTo>
                <a:lnTo>
                  <a:pt x="864819" y="3471022"/>
                </a:lnTo>
                <a:lnTo>
                  <a:pt x="827229" y="3446702"/>
                </a:lnTo>
                <a:lnTo>
                  <a:pt x="790265" y="3421432"/>
                </a:lnTo>
                <a:lnTo>
                  <a:pt x="753943" y="3395228"/>
                </a:lnTo>
                <a:lnTo>
                  <a:pt x="718276" y="3368106"/>
                </a:lnTo>
                <a:lnTo>
                  <a:pt x="683282" y="3340083"/>
                </a:lnTo>
                <a:lnTo>
                  <a:pt x="648975" y="3311175"/>
                </a:lnTo>
                <a:lnTo>
                  <a:pt x="615370" y="3281397"/>
                </a:lnTo>
                <a:lnTo>
                  <a:pt x="582482" y="3250767"/>
                </a:lnTo>
                <a:lnTo>
                  <a:pt x="550328" y="3219299"/>
                </a:lnTo>
                <a:lnTo>
                  <a:pt x="518922" y="3187011"/>
                </a:lnTo>
                <a:lnTo>
                  <a:pt x="488279" y="3153917"/>
                </a:lnTo>
                <a:lnTo>
                  <a:pt x="458415" y="3120036"/>
                </a:lnTo>
                <a:lnTo>
                  <a:pt x="429346" y="3085381"/>
                </a:lnTo>
                <a:lnTo>
                  <a:pt x="401086" y="3049971"/>
                </a:lnTo>
                <a:lnTo>
                  <a:pt x="373651" y="3013820"/>
                </a:lnTo>
                <a:lnTo>
                  <a:pt x="347056" y="2976945"/>
                </a:lnTo>
                <a:lnTo>
                  <a:pt x="321316" y="2939362"/>
                </a:lnTo>
                <a:lnTo>
                  <a:pt x="296447" y="2901087"/>
                </a:lnTo>
                <a:lnTo>
                  <a:pt x="272464" y="2862137"/>
                </a:lnTo>
                <a:lnTo>
                  <a:pt x="249383" y="2822527"/>
                </a:lnTo>
                <a:lnTo>
                  <a:pt x="227218" y="2782273"/>
                </a:lnTo>
                <a:lnTo>
                  <a:pt x="205986" y="2741392"/>
                </a:lnTo>
                <a:lnTo>
                  <a:pt x="185700" y="2699900"/>
                </a:lnTo>
                <a:lnTo>
                  <a:pt x="166377" y="2657813"/>
                </a:lnTo>
                <a:lnTo>
                  <a:pt x="148032" y="2615147"/>
                </a:lnTo>
                <a:lnTo>
                  <a:pt x="130680" y="2571918"/>
                </a:lnTo>
                <a:lnTo>
                  <a:pt x="114337" y="2528142"/>
                </a:lnTo>
                <a:lnTo>
                  <a:pt x="99018" y="2483835"/>
                </a:lnTo>
                <a:lnTo>
                  <a:pt x="84738" y="2439014"/>
                </a:lnTo>
                <a:lnTo>
                  <a:pt x="71512" y="2393695"/>
                </a:lnTo>
                <a:lnTo>
                  <a:pt x="59356" y="2347893"/>
                </a:lnTo>
                <a:lnTo>
                  <a:pt x="48285" y="2301625"/>
                </a:lnTo>
                <a:lnTo>
                  <a:pt x="38314" y="2254907"/>
                </a:lnTo>
                <a:lnTo>
                  <a:pt x="29459" y="2207756"/>
                </a:lnTo>
                <a:lnTo>
                  <a:pt x="21735" y="2160186"/>
                </a:lnTo>
                <a:lnTo>
                  <a:pt x="15157" y="2112215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41209" y="5783681"/>
            <a:ext cx="7480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25311" y="2887979"/>
            <a:ext cx="1294130" cy="1993900"/>
          </a:xfrm>
          <a:custGeom>
            <a:avLst/>
            <a:gdLst/>
            <a:ahLst/>
            <a:cxnLst/>
            <a:rect l="l" t="t" r="r" b="b"/>
            <a:pathLst>
              <a:path w="1294129" h="1993900">
                <a:moveTo>
                  <a:pt x="0" y="402590"/>
                </a:moveTo>
                <a:lnTo>
                  <a:pt x="1293876" y="402590"/>
                </a:lnTo>
              </a:path>
              <a:path w="1294129" h="1993900">
                <a:moveTo>
                  <a:pt x="0" y="798830"/>
                </a:moveTo>
                <a:lnTo>
                  <a:pt x="1293876" y="798830"/>
                </a:lnTo>
              </a:path>
              <a:path w="1294129" h="1993900">
                <a:moveTo>
                  <a:pt x="0" y="1195070"/>
                </a:moveTo>
                <a:lnTo>
                  <a:pt x="1293876" y="1195070"/>
                </a:lnTo>
              </a:path>
              <a:path w="1294129" h="1993900">
                <a:moveTo>
                  <a:pt x="0" y="1591310"/>
                </a:moveTo>
                <a:lnTo>
                  <a:pt x="1293876" y="1591310"/>
                </a:lnTo>
              </a:path>
              <a:path w="1294129" h="1993900">
                <a:moveTo>
                  <a:pt x="6350" y="0"/>
                </a:moveTo>
                <a:lnTo>
                  <a:pt x="6350" y="1993900"/>
                </a:lnTo>
              </a:path>
              <a:path w="1294129" h="1993900">
                <a:moveTo>
                  <a:pt x="1287526" y="0"/>
                </a:moveTo>
                <a:lnTo>
                  <a:pt x="1287526" y="1993900"/>
                </a:lnTo>
              </a:path>
              <a:path w="1294129" h="1993900">
                <a:moveTo>
                  <a:pt x="0" y="6350"/>
                </a:moveTo>
                <a:lnTo>
                  <a:pt x="1293876" y="6350"/>
                </a:lnTo>
              </a:path>
              <a:path w="1294129" h="1993900">
                <a:moveTo>
                  <a:pt x="0" y="1987550"/>
                </a:moveTo>
                <a:lnTo>
                  <a:pt x="1293876" y="19875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11417" y="4875657"/>
            <a:ext cx="15328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2413" y="2819412"/>
            <a:ext cx="845819" cy="433070"/>
          </a:xfrm>
          <a:custGeom>
            <a:avLst/>
            <a:gdLst/>
            <a:ahLst/>
            <a:cxnLst/>
            <a:rect l="l" t="t" r="r" b="b"/>
            <a:pathLst>
              <a:path w="845820" h="433070">
                <a:moveTo>
                  <a:pt x="0" y="432549"/>
                </a:moveTo>
                <a:lnTo>
                  <a:pt x="845299" y="432549"/>
                </a:lnTo>
                <a:lnTo>
                  <a:pt x="845299" y="0"/>
                </a:lnTo>
                <a:lnTo>
                  <a:pt x="0" y="0"/>
                </a:lnTo>
                <a:lnTo>
                  <a:pt x="0" y="4325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4000" y="2822270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1661" y="2894329"/>
            <a:ext cx="1281430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Hello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01871" y="2924555"/>
            <a:ext cx="2252980" cy="1079500"/>
            <a:chOff x="3801871" y="2924555"/>
            <a:chExt cx="2252980" cy="10795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4671" y="2924555"/>
              <a:ext cx="1440179" cy="2392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57597" y="2987166"/>
              <a:ext cx="1278890" cy="76200"/>
            </a:xfrm>
            <a:custGeom>
              <a:avLst/>
              <a:gdLst/>
              <a:ahLst/>
              <a:cxnLst/>
              <a:rect l="l" t="t" r="r" b="b"/>
              <a:pathLst>
                <a:path w="1278889" h="76200">
                  <a:moveTo>
                    <a:pt x="1260402" y="28448"/>
                  </a:moveTo>
                  <a:lnTo>
                    <a:pt x="1215009" y="28448"/>
                  </a:lnTo>
                  <a:lnTo>
                    <a:pt x="1215263" y="47498"/>
                  </a:lnTo>
                  <a:lnTo>
                    <a:pt x="1202531" y="47608"/>
                  </a:lnTo>
                  <a:lnTo>
                    <a:pt x="1202816" y="76200"/>
                  </a:lnTo>
                  <a:lnTo>
                    <a:pt x="1278636" y="37337"/>
                  </a:lnTo>
                  <a:lnTo>
                    <a:pt x="1260402" y="28448"/>
                  </a:lnTo>
                  <a:close/>
                </a:path>
                <a:path w="1278889" h="76200">
                  <a:moveTo>
                    <a:pt x="1202340" y="28557"/>
                  </a:moveTo>
                  <a:lnTo>
                    <a:pt x="0" y="38988"/>
                  </a:lnTo>
                  <a:lnTo>
                    <a:pt x="253" y="58038"/>
                  </a:lnTo>
                  <a:lnTo>
                    <a:pt x="1202531" y="47608"/>
                  </a:lnTo>
                  <a:lnTo>
                    <a:pt x="1202340" y="28557"/>
                  </a:lnTo>
                  <a:close/>
                </a:path>
                <a:path w="1278889" h="76200">
                  <a:moveTo>
                    <a:pt x="1215009" y="28448"/>
                  </a:moveTo>
                  <a:lnTo>
                    <a:pt x="1202340" y="28557"/>
                  </a:lnTo>
                  <a:lnTo>
                    <a:pt x="1202531" y="47608"/>
                  </a:lnTo>
                  <a:lnTo>
                    <a:pt x="1215263" y="47498"/>
                  </a:lnTo>
                  <a:lnTo>
                    <a:pt x="1215009" y="28448"/>
                  </a:lnTo>
                  <a:close/>
                </a:path>
                <a:path w="1278889" h="76200">
                  <a:moveTo>
                    <a:pt x="1202054" y="0"/>
                  </a:moveTo>
                  <a:lnTo>
                    <a:pt x="1202340" y="28557"/>
                  </a:lnTo>
                  <a:lnTo>
                    <a:pt x="1260402" y="28448"/>
                  </a:lnTo>
                  <a:lnTo>
                    <a:pt x="1202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1396" y="3561600"/>
              <a:ext cx="845819" cy="433070"/>
            </a:xfrm>
            <a:custGeom>
              <a:avLst/>
              <a:gdLst/>
              <a:ahLst/>
              <a:cxnLst/>
              <a:rect l="l" t="t" r="r" b="b"/>
              <a:pathLst>
                <a:path w="845820" h="433070">
                  <a:moveTo>
                    <a:pt x="0" y="432549"/>
                  </a:moveTo>
                  <a:lnTo>
                    <a:pt x="845299" y="432549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3254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3863" y="3564763"/>
            <a:ext cx="5010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1871" y="3025139"/>
            <a:ext cx="2248535" cy="1709420"/>
            <a:chOff x="3801871" y="3025139"/>
            <a:chExt cx="2248535" cy="17094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0099" y="3025139"/>
              <a:ext cx="1440179" cy="8244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52390" y="3124199"/>
              <a:ext cx="1279525" cy="662305"/>
            </a:xfrm>
            <a:custGeom>
              <a:avLst/>
              <a:gdLst/>
              <a:ahLst/>
              <a:cxnLst/>
              <a:rect l="l" t="t" r="r" b="b"/>
              <a:pathLst>
                <a:path w="1279525" h="662304">
                  <a:moveTo>
                    <a:pt x="1207077" y="26271"/>
                  </a:moveTo>
                  <a:lnTo>
                    <a:pt x="0" y="645160"/>
                  </a:lnTo>
                  <a:lnTo>
                    <a:pt x="8636" y="662051"/>
                  </a:lnTo>
                  <a:lnTo>
                    <a:pt x="1215789" y="43249"/>
                  </a:lnTo>
                  <a:lnTo>
                    <a:pt x="1207077" y="26271"/>
                  </a:lnTo>
                  <a:close/>
                </a:path>
                <a:path w="1279525" h="662304">
                  <a:moveTo>
                    <a:pt x="1264266" y="20447"/>
                  </a:moveTo>
                  <a:lnTo>
                    <a:pt x="1218438" y="20447"/>
                  </a:lnTo>
                  <a:lnTo>
                    <a:pt x="1227074" y="37464"/>
                  </a:lnTo>
                  <a:lnTo>
                    <a:pt x="1215789" y="43249"/>
                  </a:lnTo>
                  <a:lnTo>
                    <a:pt x="1228852" y="68707"/>
                  </a:lnTo>
                  <a:lnTo>
                    <a:pt x="1264266" y="20447"/>
                  </a:lnTo>
                  <a:close/>
                </a:path>
                <a:path w="1279525" h="662304">
                  <a:moveTo>
                    <a:pt x="1218438" y="20447"/>
                  </a:moveTo>
                  <a:lnTo>
                    <a:pt x="1207077" y="26271"/>
                  </a:lnTo>
                  <a:lnTo>
                    <a:pt x="1215789" y="43249"/>
                  </a:lnTo>
                  <a:lnTo>
                    <a:pt x="1227074" y="37464"/>
                  </a:lnTo>
                  <a:lnTo>
                    <a:pt x="1218438" y="20447"/>
                  </a:lnTo>
                  <a:close/>
                </a:path>
                <a:path w="1279525" h="662304">
                  <a:moveTo>
                    <a:pt x="1279271" y="0"/>
                  </a:moveTo>
                  <a:lnTo>
                    <a:pt x="1194054" y="888"/>
                  </a:lnTo>
                  <a:lnTo>
                    <a:pt x="1207077" y="26271"/>
                  </a:lnTo>
                  <a:lnTo>
                    <a:pt x="1218438" y="20447"/>
                  </a:lnTo>
                  <a:lnTo>
                    <a:pt x="1264266" y="20447"/>
                  </a:lnTo>
                  <a:lnTo>
                    <a:pt x="1279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1396" y="4311535"/>
              <a:ext cx="845819" cy="413384"/>
            </a:xfrm>
            <a:custGeom>
              <a:avLst/>
              <a:gdLst/>
              <a:ahLst/>
              <a:cxnLst/>
              <a:rect l="l" t="t" r="r" b="b"/>
              <a:pathLst>
                <a:path w="845820" h="413385">
                  <a:moveTo>
                    <a:pt x="0" y="413118"/>
                  </a:moveTo>
                  <a:lnTo>
                    <a:pt x="845299" y="413118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1311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60646" y="4305046"/>
            <a:ext cx="1492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13147" y="4368317"/>
            <a:ext cx="1331595" cy="450850"/>
            <a:chOff x="4613147" y="4368317"/>
            <a:chExt cx="1331595" cy="45085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3147" y="4494276"/>
              <a:ext cx="579120" cy="2392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56581" y="4555998"/>
              <a:ext cx="416559" cy="76200"/>
            </a:xfrm>
            <a:custGeom>
              <a:avLst/>
              <a:gdLst/>
              <a:ahLst/>
              <a:cxnLst/>
              <a:rect l="l" t="t" r="r" b="b"/>
              <a:pathLst>
                <a:path w="416560" h="76200">
                  <a:moveTo>
                    <a:pt x="397898" y="28575"/>
                  </a:moveTo>
                  <a:lnTo>
                    <a:pt x="352805" y="28575"/>
                  </a:lnTo>
                  <a:lnTo>
                    <a:pt x="352932" y="47625"/>
                  </a:lnTo>
                  <a:lnTo>
                    <a:pt x="340217" y="47684"/>
                  </a:lnTo>
                  <a:lnTo>
                    <a:pt x="340359" y="76200"/>
                  </a:lnTo>
                  <a:lnTo>
                    <a:pt x="416432" y="37718"/>
                  </a:lnTo>
                  <a:lnTo>
                    <a:pt x="397898" y="28575"/>
                  </a:lnTo>
                  <a:close/>
                </a:path>
                <a:path w="416560" h="76200">
                  <a:moveTo>
                    <a:pt x="340122" y="28634"/>
                  </a:moveTo>
                  <a:lnTo>
                    <a:pt x="0" y="30225"/>
                  </a:lnTo>
                  <a:lnTo>
                    <a:pt x="126" y="49275"/>
                  </a:lnTo>
                  <a:lnTo>
                    <a:pt x="340217" y="47684"/>
                  </a:lnTo>
                  <a:lnTo>
                    <a:pt x="340122" y="28634"/>
                  </a:lnTo>
                  <a:close/>
                </a:path>
                <a:path w="416560" h="76200">
                  <a:moveTo>
                    <a:pt x="352805" y="28575"/>
                  </a:moveTo>
                  <a:lnTo>
                    <a:pt x="340122" y="28634"/>
                  </a:lnTo>
                  <a:lnTo>
                    <a:pt x="340217" y="47684"/>
                  </a:lnTo>
                  <a:lnTo>
                    <a:pt x="352932" y="47625"/>
                  </a:lnTo>
                  <a:lnTo>
                    <a:pt x="352805" y="28575"/>
                  </a:lnTo>
                  <a:close/>
                </a:path>
                <a:path w="416560" h="76200">
                  <a:moveTo>
                    <a:pt x="339978" y="0"/>
                  </a:moveTo>
                  <a:lnTo>
                    <a:pt x="340122" y="28634"/>
                  </a:lnTo>
                  <a:lnTo>
                    <a:pt x="397898" y="28575"/>
                  </a:lnTo>
                  <a:lnTo>
                    <a:pt x="3399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73014" y="4381017"/>
              <a:ext cx="859155" cy="425450"/>
            </a:xfrm>
            <a:custGeom>
              <a:avLst/>
              <a:gdLst/>
              <a:ahLst/>
              <a:cxnLst/>
              <a:rect l="l" t="t" r="r" b="b"/>
              <a:pathLst>
                <a:path w="859154" h="425450">
                  <a:moveTo>
                    <a:pt x="858685" y="0"/>
                  </a:moveTo>
                  <a:lnTo>
                    <a:pt x="0" y="0"/>
                  </a:lnTo>
                  <a:lnTo>
                    <a:pt x="0" y="425424"/>
                  </a:lnTo>
                  <a:lnTo>
                    <a:pt x="858685" y="425424"/>
                  </a:lnTo>
                  <a:lnTo>
                    <a:pt x="8586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73014" y="4381017"/>
              <a:ext cx="859155" cy="425450"/>
            </a:xfrm>
            <a:custGeom>
              <a:avLst/>
              <a:gdLst/>
              <a:ahLst/>
              <a:cxnLst/>
              <a:rect l="l" t="t" r="r" b="b"/>
              <a:pathLst>
                <a:path w="859154" h="425450">
                  <a:moveTo>
                    <a:pt x="0" y="425424"/>
                  </a:moveTo>
                  <a:lnTo>
                    <a:pt x="858685" y="425424"/>
                  </a:lnTo>
                  <a:lnTo>
                    <a:pt x="858685" y="0"/>
                  </a:lnTo>
                  <a:lnTo>
                    <a:pt x="0" y="0"/>
                  </a:lnTo>
                  <a:lnTo>
                    <a:pt x="0" y="425424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73015" y="4381017"/>
            <a:ext cx="85915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Hello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775" y="1594865"/>
            <a:ext cx="3187700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such </a:t>
            </a:r>
            <a:r>
              <a:rPr sz="1800" dirty="0">
                <a:latin typeface="Times New Roman"/>
                <a:cs typeface="Times New Roman"/>
              </a:rPr>
              <a:t>case,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JVM will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create a 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object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heap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sz="1800" spc="-15" dirty="0">
                <a:latin typeface="Times New Roman"/>
                <a:cs typeface="Times New Roman"/>
              </a:rPr>
              <a:t>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the literal </a:t>
            </a:r>
            <a:r>
              <a:rPr sz="1800" spc="-5" dirty="0">
                <a:latin typeface="Times New Roman"/>
                <a:cs typeface="Times New Roman"/>
              </a:rPr>
              <a:t>“Hello" will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placed in the string constant pool.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variable </a:t>
            </a:r>
            <a:r>
              <a:rPr sz="1800" spc="-5" dirty="0">
                <a:latin typeface="Times New Roman"/>
                <a:cs typeface="Times New Roman"/>
              </a:rPr>
              <a:t>“s” will </a:t>
            </a:r>
            <a:r>
              <a:rPr sz="1800" dirty="0">
                <a:latin typeface="Times New Roman"/>
                <a:cs typeface="Times New Roman"/>
              </a:rPr>
              <a:t>refer to 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heap.</a:t>
            </a:r>
            <a:endParaRPr sz="1800">
              <a:latin typeface="Times New Roman"/>
              <a:cs typeface="Times New Roman"/>
            </a:endParaRPr>
          </a:p>
          <a:p>
            <a:pPr marL="12700" marR="1123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Therefore, if </a:t>
            </a:r>
            <a:r>
              <a:rPr sz="1800" spc="-5" dirty="0">
                <a:latin typeface="Times New Roman"/>
                <a:cs typeface="Times New Roman"/>
              </a:rPr>
              <a:t>we </a:t>
            </a:r>
            <a:r>
              <a:rPr sz="1800" dirty="0">
                <a:latin typeface="Times New Roman"/>
                <a:cs typeface="Times New Roman"/>
              </a:rPr>
              <a:t>compare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performance </a:t>
            </a:r>
            <a:r>
              <a:rPr sz="1800" dirty="0">
                <a:latin typeface="Times New Roman"/>
                <a:cs typeface="Times New Roman"/>
              </a:rPr>
              <a:t>of string literal and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object, string object </a:t>
            </a:r>
            <a:r>
              <a:rPr sz="1800" spc="-5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 always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 string literal because it will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construct a new </a:t>
            </a:r>
            <a:r>
              <a:rPr sz="1800" spc="-5" dirty="0">
                <a:latin typeface="Times New Roman"/>
                <a:cs typeface="Times New Roman"/>
              </a:rPr>
              <a:t>string </a:t>
            </a:r>
            <a:r>
              <a:rPr sz="1800" dirty="0">
                <a:latin typeface="Times New Roman"/>
                <a:cs typeface="Times New Roman"/>
              </a:rPr>
              <a:t>every </a:t>
            </a:r>
            <a:r>
              <a:rPr sz="1800" spc="-5" dirty="0">
                <a:latin typeface="Times New Roman"/>
                <a:cs typeface="Times New Roman"/>
              </a:rPr>
              <a:t>time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executed.</a:t>
            </a:r>
            <a:endParaRPr sz="1800">
              <a:latin typeface="Times New Roman"/>
              <a:cs typeface="Times New Roman"/>
            </a:endParaRPr>
          </a:p>
          <a:p>
            <a:pPr marL="12700" marR="1066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Note: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 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compiler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dependent.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595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77112"/>
            <a:ext cx="5673090" cy="53759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250" dirty="0">
                <a:latin typeface="Arial MT"/>
                <a:cs typeface="Arial MT"/>
              </a:rPr>
              <a:t>class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StringStorage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public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static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void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main(String </a:t>
            </a:r>
            <a:r>
              <a:rPr sz="2250" spc="-5" dirty="0">
                <a:latin typeface="Arial MT"/>
                <a:cs typeface="Arial MT"/>
              </a:rPr>
              <a:t>args[])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5"/>
              </a:spcBef>
            </a:pP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1841500" marR="154686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s1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"TAT";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s2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"TAT";</a:t>
            </a:r>
            <a:endParaRPr sz="225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s3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new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String("TAT");</a:t>
            </a:r>
            <a:endParaRPr sz="2250">
              <a:latin typeface="Arial MT"/>
              <a:cs typeface="Arial MT"/>
            </a:endParaRPr>
          </a:p>
          <a:p>
            <a:pPr marL="1841500" marR="508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s4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new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String("TAT");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System.out.println(s1);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System.out.println(s2);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System.out.println(s3);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System.out.println(s4);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890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4" y="276313"/>
            <a:ext cx="7560818" cy="5744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19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282955"/>
            <a:ext cx="433070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 split()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Splits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specified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(regex)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compareTo()</a:t>
            </a:r>
            <a:endParaRPr sz="1800">
              <a:latin typeface="Arial MT"/>
              <a:cs typeface="Arial MT"/>
            </a:endParaRPr>
          </a:p>
          <a:p>
            <a:pPr marL="12700" marR="44005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Compares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dictionary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</a:t>
            </a:r>
            <a:endParaRPr sz="1800">
              <a:latin typeface="Arial MT"/>
              <a:cs typeface="Arial MT"/>
            </a:endParaRPr>
          </a:p>
          <a:p>
            <a:pPr marL="12700" marR="642620" algn="just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 String 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compareToIgnoreCase() </a:t>
            </a:r>
            <a:r>
              <a:rPr sz="1800" spc="-49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Compares </a:t>
            </a:r>
            <a:r>
              <a:rPr sz="1800" spc="-15" dirty="0">
                <a:latin typeface="Arial MT"/>
                <a:cs typeface="Arial MT"/>
              </a:rPr>
              <a:t>two </a:t>
            </a:r>
            <a:r>
              <a:rPr sz="1800" spc="-5" dirty="0">
                <a:latin typeface="Arial MT"/>
                <a:cs typeface="Arial MT"/>
              </a:rPr>
              <a:t>strings ignoring case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differences</a:t>
            </a:r>
            <a:endParaRPr sz="18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 length()</a:t>
            </a:r>
            <a:endParaRPr sz="1800">
              <a:latin typeface="Arial MT"/>
              <a:cs typeface="Arial MT"/>
            </a:endParaRPr>
          </a:p>
          <a:p>
            <a:pPr marL="12700" marR="118681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the length </a:t>
            </a:r>
            <a:r>
              <a:rPr sz="1800" dirty="0">
                <a:latin typeface="Arial MT"/>
                <a:cs typeface="Arial MT"/>
              </a:rPr>
              <a:t>of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replace()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characters/text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replaceAll()</a:t>
            </a:r>
            <a:endParaRPr sz="1800">
              <a:latin typeface="Arial MT"/>
              <a:cs typeface="Arial MT"/>
            </a:endParaRPr>
          </a:p>
          <a:p>
            <a:pPr marL="12700" marR="6985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 substrings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pattern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substring()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r>
              <a:rPr sz="1800" dirty="0">
                <a:latin typeface="Arial MT"/>
                <a:cs typeface="Arial MT"/>
              </a:rPr>
              <a:t> from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equals()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Compares</a:t>
            </a:r>
            <a:r>
              <a:rPr sz="1800" spc="-15" dirty="0">
                <a:latin typeface="Arial MT"/>
                <a:cs typeface="Arial MT"/>
              </a:rPr>
              <a:t> 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794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477139"/>
            <a:ext cx="440690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3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trim()</a:t>
            </a:r>
            <a:endParaRPr sz="1800">
              <a:latin typeface="Arial MT"/>
              <a:cs typeface="Arial MT"/>
            </a:endParaRPr>
          </a:p>
          <a:p>
            <a:pPr marL="12700" marR="101028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Removes any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leading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 trailing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whitespace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charAt()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toLowerCase()</a:t>
            </a:r>
            <a:endParaRPr sz="1800">
              <a:latin typeface="Arial MT"/>
              <a:cs typeface="Arial MT"/>
            </a:endParaRPr>
          </a:p>
          <a:p>
            <a:pPr marL="12700" marR="23876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Converts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lower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concat()</a:t>
            </a:r>
            <a:endParaRPr sz="1800">
              <a:latin typeface="Arial MT"/>
              <a:cs typeface="Arial MT"/>
            </a:endParaRPr>
          </a:p>
          <a:p>
            <a:pPr marL="12700" marR="4235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Concatenates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 and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returns </a:t>
            </a:r>
            <a:r>
              <a:rPr sz="1800" dirty="0">
                <a:latin typeface="Arial MT"/>
                <a:cs typeface="Arial MT"/>
              </a:rPr>
              <a:t>it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valueOf()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matches()</a:t>
            </a:r>
            <a:endParaRPr sz="1800">
              <a:latin typeface="Arial MT"/>
              <a:cs typeface="Arial MT"/>
            </a:endParaRPr>
          </a:p>
          <a:p>
            <a:pPr marL="12700" marR="486409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matches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3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startsWith()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begins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valueOf()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9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438150"/>
            <a:ext cx="416306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matches()</a:t>
            </a:r>
            <a:endParaRPr sz="1800">
              <a:latin typeface="Arial MT"/>
              <a:cs typeface="Arial MT"/>
            </a:endParaRPr>
          </a:p>
          <a:p>
            <a:pPr marL="12700" marR="243204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matches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startsWith()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begins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 marR="509905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equalsIgnoreCase() </a:t>
            </a:r>
            <a:r>
              <a:rPr sz="180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Compares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ignoring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differences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contains()</a:t>
            </a:r>
            <a:endParaRPr sz="1800">
              <a:latin typeface="Arial MT"/>
              <a:cs typeface="Arial MT"/>
            </a:endParaRPr>
          </a:p>
          <a:p>
            <a:pPr marL="12700" marR="3956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contains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endParaRPr sz="1800">
              <a:latin typeface="Arial MT"/>
              <a:cs typeface="Arial MT"/>
            </a:endParaRPr>
          </a:p>
          <a:p>
            <a:pPr marL="12700" marR="1717039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 String indexOf() </a:t>
            </a:r>
            <a:r>
              <a:rPr sz="180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Returns 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index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character/substring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endsWith()</a:t>
            </a:r>
            <a:endParaRPr sz="1800">
              <a:latin typeface="Arial MT"/>
              <a:cs typeface="Arial MT"/>
            </a:endParaRPr>
          </a:p>
          <a:p>
            <a:pPr marL="12700" marR="18097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dirty="0">
                <a:latin typeface="Arial MT"/>
                <a:cs typeface="Arial MT"/>
              </a:rPr>
              <a:t> 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ends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 isEmpty()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empty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40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266191"/>
            <a:ext cx="420306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 intern()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canonical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 getBytes()</a:t>
            </a:r>
            <a:endParaRPr sz="1800">
              <a:latin typeface="Arial MT"/>
              <a:cs typeface="Arial MT"/>
            </a:endParaRPr>
          </a:p>
          <a:p>
            <a:pPr marL="12700" marR="2457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Encodes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into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sequences</a:t>
            </a:r>
            <a:r>
              <a:rPr sz="1800" dirty="0">
                <a:latin typeface="Arial MT"/>
                <a:cs typeface="Arial MT"/>
              </a:rPr>
              <a:t> of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bytes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contentEquals()</a:t>
            </a:r>
            <a:endParaRPr sz="1800">
              <a:latin typeface="Arial MT"/>
              <a:cs typeface="Arial MT"/>
            </a:endParaRPr>
          </a:p>
          <a:p>
            <a:pPr marL="12700" marR="4368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is equal</a:t>
            </a:r>
            <a:r>
              <a:rPr sz="1800" dirty="0">
                <a:latin typeface="Arial MT"/>
                <a:cs typeface="Arial MT"/>
              </a:rPr>
              <a:t> 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charSequence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hashCode()</a:t>
            </a:r>
            <a:endParaRPr sz="1800">
              <a:latin typeface="Arial MT"/>
              <a:cs typeface="Arial MT"/>
            </a:endParaRPr>
          </a:p>
          <a:p>
            <a:pPr marL="12700" marR="7410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a hash code </a:t>
            </a:r>
            <a:r>
              <a:rPr sz="1800" dirty="0">
                <a:latin typeface="Arial MT"/>
                <a:cs typeface="Arial MT"/>
              </a:rPr>
              <a:t>for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join()</a:t>
            </a:r>
            <a:endParaRPr sz="1800">
              <a:latin typeface="Arial MT"/>
              <a:cs typeface="Arial MT"/>
            </a:endParaRPr>
          </a:p>
          <a:p>
            <a:pPr marL="12700" marR="635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Joins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 using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delimiter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replaceFirst()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subSequence()</a:t>
            </a:r>
            <a:endParaRPr sz="1800">
              <a:latin typeface="Arial MT"/>
              <a:cs typeface="Arial MT"/>
            </a:endParaRPr>
          </a:p>
          <a:p>
            <a:pPr marL="12700" marR="2457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a subsequence </a:t>
            </a:r>
            <a:r>
              <a:rPr sz="1800" dirty="0">
                <a:latin typeface="Arial MT"/>
                <a:cs typeface="Arial MT"/>
              </a:rPr>
              <a:t>from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toCharArray()</a:t>
            </a:r>
            <a:endParaRPr sz="1800">
              <a:latin typeface="Arial MT"/>
              <a:cs typeface="Arial MT"/>
            </a:endParaRPr>
          </a:p>
          <a:p>
            <a:pPr marL="12700" marR="7283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Converts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to</a:t>
            </a:r>
            <a:r>
              <a:rPr sz="1800" spc="-5" dirty="0">
                <a:latin typeface="Arial MT"/>
                <a:cs typeface="Arial MT"/>
              </a:rPr>
              <a:t> 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 array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format()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formatted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656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7307"/>
            <a:ext cx="37064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charAt()</a:t>
            </a:r>
            <a:r>
              <a:rPr sz="3200" spc="-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method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7380"/>
            <a:ext cx="8067675" cy="229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604520" indent="-257810">
              <a:lnSpc>
                <a:spcPct val="150100"/>
              </a:lnSpc>
              <a:spcBef>
                <a:spcPts val="9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charAt()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  <a:p>
            <a:pPr marL="269875" marR="5080" indent="-257810">
              <a:lnSpc>
                <a:spcPct val="150000"/>
              </a:lnSpc>
              <a:spcBef>
                <a:spcPts val="5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 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(n-1),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length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156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7403"/>
            <a:ext cx="5968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// Predict the</a:t>
            </a:r>
            <a:r>
              <a:rPr sz="2000" b="1" dirty="0">
                <a:solidFill>
                  <a:srgbClr val="EF5136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output of the below</a:t>
            </a:r>
            <a:r>
              <a:rPr sz="2000" b="1" dirty="0">
                <a:solidFill>
                  <a:srgbClr val="EF5136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code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66953"/>
            <a:ext cx="657987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31900" marR="5080" indent="-609600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</a:t>
            </a:r>
            <a:r>
              <a:rPr sz="2000" b="1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spc="-118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"Java"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 dirty="0">
              <a:latin typeface="Courier New"/>
              <a:cs typeface="Courier New"/>
            </a:endParaRPr>
          </a:p>
          <a:p>
            <a:pPr marL="1231900" marR="5080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char </a:t>
            </a:r>
            <a:r>
              <a:rPr sz="2000" b="1" spc="-5" dirty="0">
                <a:latin typeface="Courier New"/>
                <a:cs typeface="Courier New"/>
              </a:rPr>
              <a:t>ch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ch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3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(-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5005197"/>
            <a:ext cx="78740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Error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47821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346075"/>
            <a:ext cx="669353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9970" algn="l"/>
              </a:tabLst>
            </a:pP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The toU</a:t>
            </a:r>
            <a:r>
              <a:rPr sz="4500" spc="5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perCas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()	m</a:t>
            </a:r>
            <a:r>
              <a:rPr sz="4500" spc="-25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th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8019415" cy="402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28065">
              <a:lnSpc>
                <a:spcPct val="1501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java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toUpperCase()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converts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will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alter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already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existing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>
              <a:latin typeface="Times New Roman"/>
              <a:cs typeface="Times New Roman"/>
            </a:endParaRPr>
          </a:p>
          <a:p>
            <a:pPr marL="12700" marR="2483485">
              <a:lnSpc>
                <a:spcPct val="150000"/>
              </a:lnSpc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r>
              <a:rPr sz="2500" b="1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System.out.print(“You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track”.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pper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ase</a:t>
            </a:r>
            <a:r>
              <a:rPr sz="2500" spc="-5" dirty="0">
                <a:latin typeface="Times New Roman"/>
                <a:cs typeface="Times New Roman"/>
              </a:rPr>
              <a:t>());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YOU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 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1381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73761"/>
            <a:ext cx="67265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5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toLowerCase()</a:t>
            </a:r>
            <a:r>
              <a:rPr sz="45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method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8020050" cy="4027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3140">
              <a:lnSpc>
                <a:spcPct val="1501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java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toLowerCase()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converts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will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alter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already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existing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>
              <a:latin typeface="Times New Roman"/>
              <a:cs typeface="Times New Roman"/>
            </a:endParaRPr>
          </a:p>
          <a:p>
            <a:pPr marL="12700" marR="1353820">
              <a:lnSpc>
                <a:spcPct val="150000"/>
              </a:lnSpc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System.out.print(“YOU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TRACK”.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ower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ase</a:t>
            </a:r>
            <a:r>
              <a:rPr sz="2500" spc="-5" dirty="0">
                <a:latin typeface="Times New Roman"/>
                <a:cs typeface="Times New Roman"/>
              </a:rPr>
              <a:t>());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you are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739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73761"/>
            <a:ext cx="507428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5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concat()</a:t>
            </a:r>
            <a:r>
              <a:rPr sz="45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method</a:t>
            </a:r>
            <a:endParaRPr sz="4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903122"/>
            <a:ext cx="8054340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500" spc="-5" dirty="0">
                <a:latin typeface="Times New Roman"/>
                <a:cs typeface="Times New Roman"/>
              </a:rPr>
              <a:t>The Java string concat() </a:t>
            </a:r>
            <a:r>
              <a:rPr sz="2500" spc="-10" dirty="0">
                <a:latin typeface="Times New Roman"/>
                <a:cs typeface="Times New Roman"/>
              </a:rPr>
              <a:t>method </a:t>
            </a:r>
            <a:r>
              <a:rPr sz="2500" spc="-5" dirty="0">
                <a:latin typeface="Times New Roman"/>
                <a:cs typeface="Times New Roman"/>
              </a:rPr>
              <a:t>allows you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5" dirty="0">
                <a:latin typeface="Times New Roman"/>
                <a:cs typeface="Times New Roman"/>
              </a:rPr>
              <a:t>join two strings.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This </a:t>
            </a:r>
            <a:r>
              <a:rPr sz="2500" spc="-10" dirty="0">
                <a:latin typeface="Times New Roman"/>
                <a:cs typeface="Times New Roman"/>
              </a:rPr>
              <a:t>method </a:t>
            </a:r>
            <a:r>
              <a:rPr sz="2500" spc="-5" dirty="0">
                <a:latin typeface="Times New Roman"/>
                <a:cs typeface="Times New Roman"/>
              </a:rPr>
              <a:t>returns a string with the value of the string passed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 appended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end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endParaRPr sz="2500" dirty="0">
              <a:latin typeface="Times New Roman"/>
              <a:cs typeface="Times New Roman"/>
            </a:endParaRPr>
          </a:p>
          <a:p>
            <a:pPr marL="12700" marR="5527675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String s1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 "Nice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";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s2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 "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Day";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dirty="0">
                <a:latin typeface="Times New Roman"/>
                <a:cs typeface="Times New Roman"/>
              </a:rPr>
              <a:t>System.out.println(s1.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concat</a:t>
            </a:r>
            <a:r>
              <a:rPr sz="2500" dirty="0">
                <a:latin typeface="Times New Roman"/>
                <a:cs typeface="Times New Roman"/>
              </a:rPr>
              <a:t>(s2));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 </a:t>
            </a:r>
            <a:r>
              <a:rPr sz="2500" spc="-5" dirty="0">
                <a:latin typeface="Times New Roman"/>
                <a:cs typeface="Times New Roman"/>
              </a:rPr>
              <a:t>Nice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Day</a:t>
            </a:r>
            <a:endParaRPr sz="2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768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782573"/>
            <a:ext cx="26206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sz="45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operator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6773545" cy="288353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500" b="1" spc="-5" dirty="0">
                <a:latin typeface="Times New Roman"/>
                <a:cs typeface="Times New Roman"/>
              </a:rPr>
              <a:t>+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operator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also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concatenate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spc="-15" dirty="0">
                <a:latin typeface="Times New Roman"/>
                <a:cs typeface="Times New Roman"/>
              </a:rPr>
              <a:t>System.out.println("You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"are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 +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"best");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spc="-90" dirty="0">
                <a:latin typeface="Times New Roman"/>
                <a:cs typeface="Times New Roman"/>
              </a:rPr>
              <a:t>You</a:t>
            </a:r>
            <a:r>
              <a:rPr sz="2500" spc="-5" dirty="0">
                <a:latin typeface="Times New Roman"/>
                <a:cs typeface="Times New Roman"/>
              </a:rPr>
              <a:t> are the best</a:t>
            </a:r>
            <a:endParaRPr sz="25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8182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4779" y="666953"/>
            <a:ext cx="7494905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31900" marR="5080" indent="-6102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{ </a:t>
            </a:r>
            <a:r>
              <a:rPr sz="2000" b="1" spc="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 </a:t>
            </a:r>
            <a:r>
              <a:rPr sz="2000" b="1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"Are"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 </a:t>
            </a:r>
            <a:r>
              <a:rPr sz="2000" b="1" dirty="0">
                <a:latin typeface="Courier New"/>
                <a:cs typeface="Courier New"/>
              </a:rPr>
              <a:t>t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"you"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 </a:t>
            </a:r>
            <a:r>
              <a:rPr sz="2000" b="1" dirty="0">
                <a:latin typeface="Courier New"/>
                <a:cs typeface="Courier New"/>
              </a:rPr>
              <a:t>u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"ready"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spc="-119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dirty="0">
                <a:latin typeface="Courier New"/>
                <a:cs typeface="Courier New"/>
              </a:rPr>
              <a:t>t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latin typeface="Courier New"/>
                <a:cs typeface="Courier New"/>
              </a:rPr>
              <a:t>u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5913784"/>
            <a:ext cx="178435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045" y="3384550"/>
            <a:ext cx="13163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Output: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o</a:t>
            </a:r>
            <a:r>
              <a:rPr sz="1800" spc="-15" dirty="0">
                <a:latin typeface="Arial MT"/>
                <a:cs typeface="Arial MT"/>
              </a:rPr>
              <a:t>u</a:t>
            </a:r>
            <a:r>
              <a:rPr sz="1800" spc="-5" dirty="0">
                <a:latin typeface="Arial MT"/>
                <a:cs typeface="Arial MT"/>
              </a:rPr>
              <a:t>re</a:t>
            </a:r>
            <a:r>
              <a:rPr sz="1800" spc="-1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dy  </a:t>
            </a:r>
            <a:r>
              <a:rPr sz="1800" spc="-10" dirty="0">
                <a:latin typeface="Arial MT"/>
                <a:cs typeface="Arial MT"/>
              </a:rPr>
              <a:t>Areyou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045" y="4482210"/>
            <a:ext cx="702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Number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arguments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concat()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method 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takes: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045" y="5030851"/>
            <a:ext cx="77660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36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concat()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method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takes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only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argument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concatenate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with </a:t>
            </a:r>
            <a:r>
              <a:rPr sz="1800" spc="-48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other string.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5" dirty="0">
                <a:latin typeface="Arial"/>
                <a:cs typeface="Arial"/>
              </a:rPr>
              <a:t> operator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takes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arguments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concatenates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5" dirty="0">
                <a:latin typeface="Arial MT"/>
                <a:cs typeface="Arial MT"/>
              </a:rPr>
              <a:t> strings.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8688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4779" y="666953"/>
            <a:ext cx="7189470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 dirty="0">
              <a:latin typeface="Courier New"/>
              <a:cs typeface="Courier New"/>
            </a:endParaRPr>
          </a:p>
          <a:p>
            <a:pPr marL="1231900" marR="5080" indent="-6102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 </a:t>
            </a:r>
            <a:r>
              <a:rPr sz="2000" b="1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"error"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spc="-119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5913784"/>
            <a:ext cx="178435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708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when you create a String object, you are creating a string that cannot be changed. </a:t>
            </a:r>
            <a:endParaRPr lang="en-US" sz="2400" dirty="0" smtClean="0"/>
          </a:p>
          <a:p>
            <a:r>
              <a:rPr lang="en-US" sz="2400" dirty="0" smtClean="0"/>
              <a:t>That </a:t>
            </a:r>
            <a:r>
              <a:rPr lang="en-US" sz="2400" dirty="0"/>
              <a:t>is, once a String object has been created, you cannot change the characters that comprise that string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To create modifiable </a:t>
            </a:r>
            <a:r>
              <a:rPr lang="en-US" sz="2400" dirty="0"/>
              <a:t>string </a:t>
            </a:r>
            <a:r>
              <a:rPr lang="en-US" sz="2400" dirty="0" smtClean="0"/>
              <a:t>Java </a:t>
            </a:r>
            <a:r>
              <a:rPr lang="en-US" sz="2400" dirty="0"/>
              <a:t>provides two options: </a:t>
            </a:r>
            <a:endParaRPr lang="en-US" sz="2400" dirty="0" smtClean="0"/>
          </a:p>
          <a:p>
            <a:pPr lvl="2"/>
            <a:r>
              <a:rPr lang="en-US" sz="2000" b="1" dirty="0" err="1" smtClean="0"/>
              <a:t>StringBuffer</a:t>
            </a:r>
            <a:r>
              <a:rPr lang="en-US" sz="2000" b="1" dirty="0" smtClean="0"/>
              <a:t> </a:t>
            </a:r>
          </a:p>
          <a:p>
            <a:pPr lvl="2"/>
            <a:r>
              <a:rPr lang="en-US" sz="2000" b="1" dirty="0" err="1" smtClean="0"/>
              <a:t>StringBuilder</a:t>
            </a:r>
            <a:endParaRPr lang="en-IN" sz="2000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The String, </a:t>
            </a:r>
            <a:r>
              <a:rPr lang="en-US" sz="2400" dirty="0" err="1"/>
              <a:t>StringBuffer</a:t>
            </a:r>
            <a:r>
              <a:rPr lang="en-US" sz="2400" dirty="0"/>
              <a:t>, and </a:t>
            </a:r>
            <a:r>
              <a:rPr lang="en-US" sz="2400" dirty="0" err="1"/>
              <a:t>StringBuilder</a:t>
            </a:r>
            <a:r>
              <a:rPr lang="en-US" sz="2400" dirty="0"/>
              <a:t> classes are defined in </a:t>
            </a:r>
            <a:r>
              <a:rPr lang="en-US" sz="2400" b="1" dirty="0" err="1"/>
              <a:t>java.lang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Thus</a:t>
            </a:r>
            <a:r>
              <a:rPr lang="en-US" sz="2400" dirty="0"/>
              <a:t>, they are available to all programs automatically. </a:t>
            </a:r>
            <a:endParaRPr lang="en-US" sz="24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All </a:t>
            </a:r>
            <a:r>
              <a:rPr lang="en-US" sz="2400" dirty="0"/>
              <a:t>are declared </a:t>
            </a:r>
            <a:r>
              <a:rPr lang="en-US" sz="2400" b="1" dirty="0"/>
              <a:t>final</a:t>
            </a:r>
            <a:r>
              <a:rPr lang="en-US" sz="2400" dirty="0"/>
              <a:t>, which means that none of these classes may be </a:t>
            </a:r>
            <a:r>
              <a:rPr lang="en-US" sz="2400" dirty="0" err="1"/>
              <a:t>subclassed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936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StringBuffer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/>
              <a:t>StringBuffer</a:t>
            </a:r>
            <a:r>
              <a:rPr lang="en-US" sz="2800" dirty="0"/>
              <a:t> represents </a:t>
            </a:r>
            <a:r>
              <a:rPr lang="en-US" sz="2800" dirty="0" err="1"/>
              <a:t>growable</a:t>
            </a:r>
            <a:r>
              <a:rPr lang="en-US" sz="2800" dirty="0"/>
              <a:t> and writeable character sequences. </a:t>
            </a:r>
            <a:endParaRPr lang="en-US" sz="2800" dirty="0" smtClean="0"/>
          </a:p>
          <a:p>
            <a:pPr algn="just"/>
            <a:r>
              <a:rPr lang="en-US" sz="2800" dirty="0" err="1" smtClean="0"/>
              <a:t>StringBuffer</a:t>
            </a:r>
            <a:r>
              <a:rPr lang="en-US" sz="2800" dirty="0" smtClean="0"/>
              <a:t> </a:t>
            </a:r>
            <a:r>
              <a:rPr lang="en-US" sz="2800" dirty="0"/>
              <a:t>may have characters and substrings inserted in the middle or appended to the end. </a:t>
            </a:r>
            <a:endParaRPr lang="en-US" sz="2800" dirty="0" smtClean="0"/>
          </a:p>
          <a:p>
            <a:pPr algn="just"/>
            <a:r>
              <a:rPr lang="en-US" sz="2800" dirty="0" err="1" smtClean="0"/>
              <a:t>StringBuffer</a:t>
            </a:r>
            <a:r>
              <a:rPr lang="en-US" sz="2800" dirty="0" smtClean="0"/>
              <a:t> </a:t>
            </a:r>
            <a:r>
              <a:rPr lang="en-US" sz="2800" dirty="0"/>
              <a:t>will automatically grow to make room for such additions and often has more characters </a:t>
            </a:r>
            <a:r>
              <a:rPr lang="en-US" sz="2800" dirty="0" err="1"/>
              <a:t>preallocated</a:t>
            </a:r>
            <a:r>
              <a:rPr lang="en-US" sz="2800" dirty="0"/>
              <a:t> than are actually needed, to allow room for growth. </a:t>
            </a:r>
            <a:endParaRPr lang="en-US" sz="2800" dirty="0" smtClean="0"/>
          </a:p>
          <a:p>
            <a:pPr algn="just"/>
            <a:r>
              <a:rPr lang="en-US" sz="2800" dirty="0" smtClean="0"/>
              <a:t>Java </a:t>
            </a:r>
            <a:r>
              <a:rPr lang="en-US" sz="2800" dirty="0"/>
              <a:t>uses both classes heavily, but many programmers deal only with String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8349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286385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StringBuffer</a:t>
            </a:r>
            <a:r>
              <a:rPr sz="2850" b="0" spc="-8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class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24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7901940" cy="1056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4444"/>
              <a:buFont typeface="Wingdings"/>
              <a:buChar char=""/>
              <a:tabLst>
                <a:tab pos="270510" algn="l"/>
              </a:tabLst>
            </a:pPr>
            <a:r>
              <a:rPr sz="2250" b="1" dirty="0">
                <a:latin typeface="Arial"/>
                <a:cs typeface="Arial"/>
              </a:rPr>
              <a:t>Mutable</a:t>
            </a:r>
            <a:r>
              <a:rPr sz="2250" b="1" spc="-5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String: </a:t>
            </a:r>
            <a:r>
              <a:rPr sz="2250" dirty="0">
                <a:latin typeface="Arial MT"/>
                <a:cs typeface="Arial MT"/>
              </a:rPr>
              <a:t>A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that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can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be modified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or changed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known as mutable </a:t>
            </a:r>
            <a:r>
              <a:rPr sz="2250" spc="-5" dirty="0">
                <a:latin typeface="Arial MT"/>
                <a:cs typeface="Arial MT"/>
              </a:rPr>
              <a:t>String. </a:t>
            </a:r>
            <a:r>
              <a:rPr sz="2250" dirty="0">
                <a:latin typeface="Arial MT"/>
                <a:cs typeface="Arial MT"/>
              </a:rPr>
              <a:t>StringBuffer </a:t>
            </a:r>
            <a:r>
              <a:rPr sz="2250" spc="5" dirty="0">
                <a:latin typeface="Arial MT"/>
                <a:cs typeface="Arial MT"/>
              </a:rPr>
              <a:t>and </a:t>
            </a:r>
            <a:r>
              <a:rPr sz="2250" dirty="0">
                <a:latin typeface="Arial MT"/>
                <a:cs typeface="Arial MT"/>
              </a:rPr>
              <a:t>StringBuilder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classes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are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used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for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creating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mutable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strings.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38284"/>
              </p:ext>
            </p:extLst>
          </p:nvPr>
        </p:nvGraphicFramePr>
        <p:xfrm>
          <a:off x="609599" y="2743200"/>
          <a:ext cx="8023606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18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118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0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Constructor</a:t>
                      </a:r>
                    </a:p>
                  </a:txBody>
                  <a:tcPr marL="0" marR="0" marT="59055" marB="0">
                    <a:lnL w="6350">
                      <a:solidFill>
                        <a:srgbClr val="2FA95F"/>
                      </a:solidFill>
                      <a:prstDash val="solid"/>
                    </a:lnL>
                    <a:lnR w="6350">
                      <a:solidFill>
                        <a:srgbClr val="2FA95F"/>
                      </a:solidFill>
                      <a:prstDash val="solid"/>
                    </a:lnR>
                    <a:lnT w="6350">
                      <a:solidFill>
                        <a:srgbClr val="2FA95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2FA95F"/>
                      </a:solidFill>
                      <a:prstDash val="solid"/>
                    </a:lnL>
                    <a:lnR w="6350">
                      <a:solidFill>
                        <a:srgbClr val="2FA95F"/>
                      </a:solidFill>
                      <a:prstDash val="solid"/>
                    </a:lnR>
                    <a:lnT w="6350">
                      <a:solidFill>
                        <a:srgbClr val="2FA95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92753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StringBuffer()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12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2000" spc="1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2000" spc="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empty</a:t>
                      </a:r>
                      <a:r>
                        <a:rPr sz="2000" spc="1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00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initial</a:t>
                      </a:r>
                      <a:r>
                        <a:rPr sz="2000" spc="-2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2000" spc="-3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16.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1191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StringBuffer(String</a:t>
                      </a:r>
                      <a:r>
                        <a:rPr sz="2000" spc="-4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2000" spc="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200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00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200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2000" spc="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200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6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specified </a:t>
                      </a:r>
                      <a:r>
                        <a:rPr sz="200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string..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636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StringBuffer(int</a:t>
                      </a:r>
                      <a:r>
                        <a:rPr sz="2000" spc="-3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12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2000" spc="1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2000" spc="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empty</a:t>
                      </a:r>
                      <a:r>
                        <a:rPr sz="2000" spc="1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200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200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2000" spc="-4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2000" spc="-3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200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length.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22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464099"/>
              </p:ext>
            </p:extLst>
          </p:nvPr>
        </p:nvGraphicFramePr>
        <p:xfrm>
          <a:off x="228600" y="1295400"/>
          <a:ext cx="8610600" cy="5105400"/>
        </p:xfrm>
        <a:graphic>
          <a:graphicData uri="http://schemas.openxmlformats.org/drawingml/2006/table">
            <a:tbl>
              <a:tblPr/>
              <a:tblGrid>
                <a:gridCol w="2057401"/>
                <a:gridCol w="2667000"/>
                <a:gridCol w="3886199"/>
              </a:tblGrid>
              <a:tr h="1224796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synchronized </a:t>
                      </a:r>
                      <a:r>
                        <a:rPr lang="en-I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StringBuffer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append(String s)</a:t>
                      </a:r>
                    </a:p>
                    <a:p>
                      <a:pPr algn="just" fontAlgn="t"/>
                      <a:endParaRPr lang="en-US" sz="1800" dirty="0">
                        <a:solidFill>
                          <a:srgbClr val="333333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append the specified string with this string. </a:t>
                      </a:r>
                      <a:endParaRPr lang="en-IN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9517" marR="29517" marT="14759" marB="14759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320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synchronized StringBuffer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insert(int offset, String s)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insert the specified string with this string at the specified position. 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1003396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synchronized StringBuffer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replace(int startIndex, int endIndex, String str)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replace the string from specified startIndex and endIndex.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synchronized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StringBuffer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delete(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startIndex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endIndex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delete the string from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startIndex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endIndex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synchronized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StringBuffer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reverse()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used to reverse the string.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04800"/>
            <a:ext cx="556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String Buffer Class methods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712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35638"/>
              </p:ext>
            </p:extLst>
          </p:nvPr>
        </p:nvGraphicFramePr>
        <p:xfrm>
          <a:off x="152400" y="533400"/>
          <a:ext cx="8610600" cy="5562600"/>
        </p:xfrm>
        <a:graphic>
          <a:graphicData uri="http://schemas.openxmlformats.org/drawingml/2006/table">
            <a:tbl>
              <a:tblPr/>
              <a:tblGrid>
                <a:gridCol w="1752600"/>
                <a:gridCol w="2667000"/>
                <a:gridCol w="4191000"/>
              </a:tblGrid>
              <a:tr h="7620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capacity()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return the current capacity.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void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ensureCapacity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minimumCapacity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ensure the capacity at least equal to the given minimum.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char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charAt(int index)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return the character at the specified position.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int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length()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return the length of the string i.e. total number of characters.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String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substring(int beginIndex)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return the substring from the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beginIndex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public String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substring(int beginIndex, int endIndex)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It is used to return the substring from the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beginIndex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endIndex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</a:p>
                  </a:txBody>
                  <a:tcPr marL="24598" marR="24598" marT="24598" marB="24598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37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6709" y="232541"/>
            <a:ext cx="8005826" cy="642675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latin typeface="Arial"/>
                <a:cs typeface="Arial"/>
              </a:rPr>
              <a:t>StringBufferExample.java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 err="1" smtClean="0">
                <a:latin typeface="Arial MT"/>
                <a:cs typeface="Arial MT"/>
              </a:rPr>
              <a:t>StringBufferExample</a:t>
            </a:r>
            <a:endParaRPr lang="en-US" sz="20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000" dirty="0" smtClean="0">
                <a:latin typeface="Arial MT"/>
                <a:cs typeface="Arial MT"/>
              </a:rPr>
              <a:t>{</a:t>
            </a:r>
            <a:endParaRPr sz="2000" dirty="0">
              <a:latin typeface="Arial MT"/>
              <a:cs typeface="Arial MT"/>
            </a:endParaRPr>
          </a:p>
          <a:p>
            <a:pPr marL="12700" marR="968375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public static void main(String </a:t>
            </a:r>
            <a:r>
              <a:rPr sz="2000" dirty="0" err="1">
                <a:latin typeface="Arial MT"/>
                <a:cs typeface="Arial MT"/>
              </a:rPr>
              <a:t>args</a:t>
            </a:r>
            <a:r>
              <a:rPr sz="2000" dirty="0" smtClean="0">
                <a:latin typeface="Arial MT"/>
                <a:cs typeface="Arial MT"/>
              </a:rPr>
              <a:t>[])</a:t>
            </a:r>
            <a:endParaRPr lang="en-US" sz="2000" dirty="0" smtClean="0">
              <a:latin typeface="Arial MT"/>
              <a:cs typeface="Arial MT"/>
            </a:endParaRPr>
          </a:p>
          <a:p>
            <a:pPr marL="12700" marR="968375">
              <a:lnSpc>
                <a:spcPct val="120000"/>
              </a:lnSpc>
              <a:spcBef>
                <a:spcPts val="5"/>
              </a:spcBef>
            </a:pPr>
            <a:r>
              <a:rPr sz="2000" dirty="0" smtClean="0">
                <a:latin typeface="Arial MT"/>
                <a:cs typeface="Arial MT"/>
              </a:rPr>
              <a:t>{ </a:t>
            </a:r>
            <a:r>
              <a:rPr sz="2000" spc="5" dirty="0" smtClean="0">
                <a:latin typeface="Arial MT"/>
                <a:cs typeface="Arial MT"/>
              </a:rPr>
              <a:t> </a:t>
            </a:r>
            <a:endParaRPr lang="en-US" sz="2000" spc="5" dirty="0" smtClean="0">
              <a:latin typeface="Arial MT"/>
              <a:cs typeface="Arial MT"/>
            </a:endParaRPr>
          </a:p>
          <a:p>
            <a:pPr marL="469900" marR="968375" lvl="1">
              <a:lnSpc>
                <a:spcPct val="120000"/>
              </a:lnSpc>
              <a:spcBef>
                <a:spcPts val="5"/>
              </a:spcBef>
            </a:pPr>
            <a:r>
              <a:rPr sz="2000" dirty="0" err="1" smtClean="0">
                <a:latin typeface="Arial MT"/>
                <a:cs typeface="Arial MT"/>
              </a:rPr>
              <a:t>StringBuffer</a:t>
            </a:r>
            <a:r>
              <a:rPr sz="2000" spc="-45" dirty="0" smtClean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sb=new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StringBuffer("Hello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");</a:t>
            </a:r>
          </a:p>
          <a:p>
            <a:pPr marL="469900" marR="5080" lvl="1">
              <a:lnSpc>
                <a:spcPct val="120000"/>
              </a:lnSpc>
            </a:pPr>
            <a:r>
              <a:rPr sz="2000" dirty="0">
                <a:latin typeface="Arial MT"/>
                <a:cs typeface="Arial MT"/>
              </a:rPr>
              <a:t>sb.append("Java");//now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original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changed </a:t>
            </a:r>
            <a:r>
              <a:rPr sz="2000" spc="-6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System.out.println(sb);//prints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Hello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 smtClean="0">
                <a:latin typeface="Arial MT"/>
                <a:cs typeface="Arial MT"/>
              </a:rPr>
              <a:t>Java</a:t>
            </a:r>
            <a:endParaRPr lang="en-US" sz="2000" dirty="0" smtClean="0">
              <a:latin typeface="Arial MT"/>
              <a:cs typeface="Arial MT"/>
            </a:endParaRPr>
          </a:p>
          <a:p>
            <a:pPr marL="469900" marR="5080" lvl="1">
              <a:lnSpc>
                <a:spcPct val="120000"/>
              </a:lnSpc>
            </a:pPr>
            <a:endParaRPr lang="en-US" sz="2000" dirty="0">
              <a:latin typeface="Arial MT"/>
              <a:cs typeface="Arial MT"/>
            </a:endParaRPr>
          </a:p>
          <a:p>
            <a:pPr lvl="1"/>
            <a:r>
              <a:rPr lang="en-IN" sz="2000" dirty="0" err="1">
                <a:latin typeface="Arial MT"/>
                <a:cs typeface="Arial MT"/>
              </a:rPr>
              <a:t>StringBuffer</a:t>
            </a:r>
            <a:r>
              <a:rPr lang="en-IN" sz="2000" dirty="0">
                <a:latin typeface="Arial MT"/>
                <a:cs typeface="Arial MT"/>
              </a:rPr>
              <a:t> sb1=new </a:t>
            </a:r>
            <a:r>
              <a:rPr lang="en-IN" sz="2000" dirty="0" err="1">
                <a:latin typeface="Arial MT"/>
                <a:cs typeface="Arial MT"/>
              </a:rPr>
              <a:t>StringBuffer</a:t>
            </a:r>
            <a:r>
              <a:rPr lang="en-IN" sz="2000" dirty="0">
                <a:latin typeface="Arial MT"/>
                <a:cs typeface="Arial MT"/>
              </a:rPr>
              <a:t>("Hello");  </a:t>
            </a:r>
          </a:p>
          <a:p>
            <a:pPr lvl="1"/>
            <a:r>
              <a:rPr lang="en-IN" sz="2000" dirty="0">
                <a:latin typeface="Arial MT"/>
                <a:cs typeface="Arial MT"/>
              </a:rPr>
              <a:t>sb1.delete(1,3);  </a:t>
            </a:r>
          </a:p>
          <a:p>
            <a:pPr lvl="1"/>
            <a:r>
              <a:rPr lang="en-IN" sz="2000" dirty="0" err="1">
                <a:latin typeface="Arial MT"/>
                <a:cs typeface="Arial MT"/>
              </a:rPr>
              <a:t>System.out.println</a:t>
            </a:r>
            <a:r>
              <a:rPr lang="en-IN" sz="2000" dirty="0">
                <a:latin typeface="Arial MT"/>
                <a:cs typeface="Arial MT"/>
              </a:rPr>
              <a:t>(sb1);//prints </a:t>
            </a:r>
            <a:r>
              <a:rPr lang="en-IN" sz="2000" dirty="0" err="1">
                <a:latin typeface="Arial MT"/>
                <a:cs typeface="Arial MT"/>
              </a:rPr>
              <a:t>Hlo</a:t>
            </a:r>
            <a:r>
              <a:rPr lang="en-IN" sz="2000" dirty="0">
                <a:latin typeface="Arial MT"/>
                <a:cs typeface="Arial MT"/>
              </a:rPr>
              <a:t>  </a:t>
            </a:r>
          </a:p>
          <a:p>
            <a:pPr lvl="1"/>
            <a:endParaRPr lang="en-US" sz="2000" dirty="0">
              <a:latin typeface="Arial MT"/>
              <a:cs typeface="Arial MT"/>
            </a:endParaRPr>
          </a:p>
          <a:p>
            <a:pPr lvl="1"/>
            <a:r>
              <a:rPr lang="en-IN" sz="2000" dirty="0" err="1">
                <a:latin typeface="Arial MT"/>
                <a:cs typeface="Arial MT"/>
              </a:rPr>
              <a:t>StringBuffer</a:t>
            </a:r>
            <a:r>
              <a:rPr lang="en-IN" sz="2000" dirty="0">
                <a:latin typeface="Arial MT"/>
                <a:cs typeface="Arial MT"/>
              </a:rPr>
              <a:t> sb2=new </a:t>
            </a:r>
            <a:r>
              <a:rPr lang="en-IN" sz="2000" dirty="0" err="1">
                <a:latin typeface="Arial MT"/>
                <a:cs typeface="Arial MT"/>
              </a:rPr>
              <a:t>StringBuffer</a:t>
            </a:r>
            <a:r>
              <a:rPr lang="en-IN" sz="2000" dirty="0">
                <a:latin typeface="Arial MT"/>
                <a:cs typeface="Arial MT"/>
              </a:rPr>
              <a:t>("Hello");  </a:t>
            </a:r>
          </a:p>
          <a:p>
            <a:pPr lvl="1"/>
            <a:r>
              <a:rPr lang="en-IN" sz="2000" dirty="0">
                <a:latin typeface="Arial MT"/>
                <a:cs typeface="Arial MT"/>
              </a:rPr>
              <a:t>sb2.reverse();  </a:t>
            </a:r>
          </a:p>
          <a:p>
            <a:pPr lvl="1"/>
            <a:r>
              <a:rPr lang="en-IN" sz="2000" dirty="0" err="1">
                <a:latin typeface="Arial MT"/>
                <a:cs typeface="Arial MT"/>
              </a:rPr>
              <a:t>System.out.println</a:t>
            </a:r>
            <a:r>
              <a:rPr lang="en-IN" sz="2000" dirty="0">
                <a:latin typeface="Arial MT"/>
                <a:cs typeface="Arial MT"/>
              </a:rPr>
              <a:t>(sb2);//prints </a:t>
            </a:r>
            <a:r>
              <a:rPr lang="en-IN" sz="2000" dirty="0" err="1">
                <a:latin typeface="Arial MT"/>
                <a:cs typeface="Arial MT"/>
              </a:rPr>
              <a:t>olleH</a:t>
            </a:r>
            <a:r>
              <a:rPr lang="en-IN" sz="2000" dirty="0">
                <a:latin typeface="Arial MT"/>
                <a:cs typeface="Arial MT"/>
              </a:rPr>
              <a:t> </a:t>
            </a:r>
          </a:p>
          <a:p>
            <a:endParaRPr lang="en-US" sz="2000" dirty="0" smtClean="0"/>
          </a:p>
          <a:p>
            <a:r>
              <a:rPr lang="en-IN" sz="2000" dirty="0" smtClean="0"/>
              <a:t>}</a:t>
            </a:r>
            <a:r>
              <a:rPr lang="en-IN" sz="2000" dirty="0"/>
              <a:t>  </a:t>
            </a:r>
          </a:p>
          <a:p>
            <a:r>
              <a:rPr lang="en-IN" sz="2000" dirty="0"/>
              <a:t>}  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27</a:t>
            </a:fld>
            <a:endParaRPr sz="900">
              <a:latin typeface="PMingLiU-ExtB"/>
              <a:cs typeface="PMingLiU-ExtB"/>
            </a:endParaRPr>
          </a:p>
        </p:txBody>
      </p:sp>
    </p:spTree>
    <p:extLst>
      <p:ext uri="{BB962C8B-B14F-4D97-AF65-F5344CB8AC3E}">
        <p14:creationId xmlns:p14="http://schemas.microsoft.com/office/powerpoint/2010/main" val="258326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70864"/>
            <a:ext cx="8227060" cy="4882747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fontAlgn="base"/>
            <a:r>
              <a:rPr lang="en-IN" sz="2400" dirty="0"/>
              <a:t>class A </a:t>
            </a:r>
            <a:endParaRPr lang="en-IN" sz="2400" dirty="0" smtClean="0"/>
          </a:p>
          <a:p>
            <a:pPr fontAlgn="base"/>
            <a:r>
              <a:rPr lang="en-IN" sz="2400" dirty="0" smtClean="0"/>
              <a:t>{</a:t>
            </a:r>
            <a:endParaRPr lang="en-IN" sz="2400" dirty="0"/>
          </a:p>
          <a:p>
            <a:pPr fontAlgn="base"/>
            <a:r>
              <a:rPr lang="en-IN" sz="2400" dirty="0"/>
              <a:t>    public static void main(String </a:t>
            </a:r>
            <a:r>
              <a:rPr lang="en-IN" sz="2400" dirty="0" err="1"/>
              <a:t>args</a:t>
            </a:r>
            <a:r>
              <a:rPr lang="en-IN" sz="2400" dirty="0"/>
              <a:t>[])</a:t>
            </a:r>
          </a:p>
          <a:p>
            <a:pPr fontAlgn="base"/>
            <a:r>
              <a:rPr lang="en-IN" sz="2400" dirty="0"/>
              <a:t>    {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StringBuffer</a:t>
            </a:r>
            <a:r>
              <a:rPr lang="en-IN" sz="2400" dirty="0"/>
              <a:t> </a:t>
            </a:r>
            <a:r>
              <a:rPr lang="en-IN" sz="2400" dirty="0" err="1"/>
              <a:t>sb</a:t>
            </a:r>
            <a:r>
              <a:rPr lang="en-IN" sz="2400" dirty="0"/>
              <a:t> = new </a:t>
            </a:r>
            <a:r>
              <a:rPr lang="en-IN" sz="2400" dirty="0" err="1"/>
              <a:t>StringBuffer</a:t>
            </a:r>
            <a:r>
              <a:rPr lang="en-IN" sz="2400" dirty="0"/>
              <a:t>();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System.out.println</a:t>
            </a:r>
            <a:r>
              <a:rPr lang="en-IN" sz="2400" dirty="0"/>
              <a:t>(</a:t>
            </a:r>
            <a:r>
              <a:rPr lang="en-IN" sz="2400" dirty="0" err="1"/>
              <a:t>sb.capacity</a:t>
            </a:r>
            <a:r>
              <a:rPr lang="en-IN" sz="2400" dirty="0"/>
              <a:t>()); // default 16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sb.append</a:t>
            </a:r>
            <a:r>
              <a:rPr lang="en-IN" sz="2400" dirty="0"/>
              <a:t>("Hello");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System.out.println</a:t>
            </a:r>
            <a:r>
              <a:rPr lang="en-IN" sz="2400" dirty="0"/>
              <a:t>(</a:t>
            </a:r>
            <a:r>
              <a:rPr lang="en-IN" sz="2400" dirty="0" err="1"/>
              <a:t>sb.capacity</a:t>
            </a:r>
            <a:r>
              <a:rPr lang="en-IN" sz="2400" dirty="0"/>
              <a:t>()); // now 16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sb.append</a:t>
            </a:r>
            <a:r>
              <a:rPr lang="en-IN" sz="2400" dirty="0"/>
              <a:t>("java is my favourite language");</a:t>
            </a:r>
          </a:p>
          <a:p>
            <a:pPr fontAlgn="base"/>
            <a:r>
              <a:rPr lang="en-IN" sz="2400" dirty="0"/>
              <a:t>        </a:t>
            </a:r>
            <a:r>
              <a:rPr lang="en-IN" sz="2400" dirty="0" err="1"/>
              <a:t>System.out.println</a:t>
            </a:r>
            <a:r>
              <a:rPr lang="en-IN" sz="2400" dirty="0"/>
              <a:t>(</a:t>
            </a:r>
            <a:r>
              <a:rPr lang="en-IN" sz="2400" dirty="0" err="1"/>
              <a:t>sb.capacity</a:t>
            </a:r>
            <a:r>
              <a:rPr lang="en-IN" sz="2400" dirty="0" smtClean="0"/>
              <a:t>());  // now 34</a:t>
            </a:r>
            <a:endParaRPr lang="en-IN" sz="2400" dirty="0"/>
          </a:p>
          <a:p>
            <a:pPr fontAlgn="base"/>
            <a:r>
              <a:rPr lang="en-IN" sz="2400" dirty="0"/>
              <a:t>        // Now (16*2)+2=34     </a:t>
            </a:r>
            <a:r>
              <a:rPr lang="en-IN" sz="2400" dirty="0" err="1"/>
              <a:t>i.e</a:t>
            </a:r>
            <a:r>
              <a:rPr lang="en-IN" sz="2400" dirty="0"/>
              <a:t> (</a:t>
            </a:r>
            <a:r>
              <a:rPr lang="en-IN" sz="2400" dirty="0" err="1"/>
              <a:t>oldcapacity</a:t>
            </a:r>
            <a:r>
              <a:rPr lang="en-IN" sz="2400" dirty="0"/>
              <a:t>*2)+2</a:t>
            </a:r>
          </a:p>
          <a:p>
            <a:pPr fontAlgn="base"/>
            <a:r>
              <a:rPr lang="en-IN" sz="2400" dirty="0"/>
              <a:t>    }</a:t>
            </a:r>
          </a:p>
          <a:p>
            <a:pPr fontAlgn="base"/>
            <a:r>
              <a:rPr lang="en-IN" sz="2400" dirty="0"/>
              <a:t>}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28</a:t>
            </a:fld>
            <a:endParaRPr sz="900">
              <a:latin typeface="PMingLiU-ExtB"/>
              <a:cs typeface="PMingLiU-ExtB"/>
            </a:endParaRPr>
          </a:p>
        </p:txBody>
      </p:sp>
    </p:spTree>
    <p:extLst>
      <p:ext uri="{BB962C8B-B14F-4D97-AF65-F5344CB8AC3E}">
        <p14:creationId xmlns:p14="http://schemas.microsoft.com/office/powerpoint/2010/main" val="192850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5" y="635609"/>
            <a:ext cx="7560818" cy="53328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29</a:t>
            </a:fld>
            <a:endParaRPr sz="900">
              <a:latin typeface="PMingLiU-ExtB"/>
              <a:cs typeface="PMingLiU-ExtB"/>
            </a:endParaRPr>
          </a:p>
        </p:txBody>
      </p:sp>
    </p:spTree>
    <p:extLst>
      <p:ext uri="{BB962C8B-B14F-4D97-AF65-F5344CB8AC3E}">
        <p14:creationId xmlns:p14="http://schemas.microsoft.com/office/powerpoint/2010/main" val="150646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30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990600"/>
            <a:ext cx="853440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err="1"/>
              <a:t>StringTokenizer</a:t>
            </a:r>
            <a:r>
              <a:rPr lang="en-US" b="1" dirty="0"/>
              <a:t> class</a:t>
            </a:r>
            <a:r>
              <a:rPr lang="en-US" dirty="0"/>
              <a:t> in Java is used to break a string into tokens. 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/>
              <a:t>The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smtClean="0"/>
              <a:t>is available in </a:t>
            </a:r>
            <a:r>
              <a:rPr lang="en-IN" dirty="0"/>
              <a:t> </a:t>
            </a:r>
            <a:r>
              <a:rPr lang="en-IN" b="1" dirty="0" err="1" smtClean="0"/>
              <a:t>java.util</a:t>
            </a:r>
            <a:r>
              <a:rPr lang="en-IN" b="1" dirty="0"/>
              <a:t> </a:t>
            </a:r>
            <a:r>
              <a:rPr lang="en-IN" b="1" dirty="0" smtClean="0"/>
              <a:t>package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To use String </a:t>
            </a:r>
            <a:r>
              <a:rPr lang="en-US" dirty="0" err="1"/>
              <a:t>Tokenizer</a:t>
            </a:r>
            <a:r>
              <a:rPr lang="en-US" dirty="0"/>
              <a:t> class we have to specify an input string and a string that contains delimiters.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Delimiters </a:t>
            </a:r>
            <a:r>
              <a:rPr lang="en-US" dirty="0"/>
              <a:t>are the characters that separate tokens.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character in the delimiter string is considered a valid delimiter.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Default </a:t>
            </a:r>
            <a:r>
              <a:rPr lang="en-US" dirty="0"/>
              <a:t>delimiters are whitespaces, new line, space, and tab. 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04800" y="304800"/>
            <a:ext cx="2811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StringTokenizer</a:t>
            </a:r>
            <a:r>
              <a:rPr lang="en-US" sz="2400" b="1" dirty="0"/>
              <a:t> class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4951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ingTokenizer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4" y="609600"/>
            <a:ext cx="5711825" cy="528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96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1557"/>
              </p:ext>
            </p:extLst>
          </p:nvPr>
        </p:nvGraphicFramePr>
        <p:xfrm>
          <a:off x="457200" y="1219201"/>
          <a:ext cx="8229600" cy="4487706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0562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Constructor</a:t>
                      </a:r>
                    </a:p>
                  </a:txBody>
                  <a:tcPr marL="111655" marR="111655" marT="111655" marB="111655">
                    <a:lnL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111655" marR="111655" marT="111655" marB="111655">
                    <a:lnL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9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84888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StringTokenizer(String str)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StringTokenizer with specified string.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88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StringTokenizer(String str, String delim)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StringTokenizer with specified string and delimiter.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218430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StringTokenizer(String str, String delim, boolean returnValue)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StringTokenizer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with specified string, delimiter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returnValue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 If return value is true, delimiter characters are considered to be tokens. If it is false, delimiter characters serve to separate tokens.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381000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Constructors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7371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6670"/>
              </p:ext>
            </p:extLst>
          </p:nvPr>
        </p:nvGraphicFramePr>
        <p:xfrm>
          <a:off x="457200" y="380999"/>
          <a:ext cx="8229600" cy="5686379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4189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Methods</a:t>
                      </a:r>
                    </a:p>
                  </a:txBody>
                  <a:tcPr marL="111655" marR="111655" marT="111655" marB="111655">
                    <a:lnL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111655" marR="111655" marT="111655" marB="111655">
                    <a:lnL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97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89972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 hasMoreTokens()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checks if there is more tokens available.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972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 nextToken()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next token from the StringTokenizer object.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9972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 nextToken(String delim)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next token based on the delimiter.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972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 hasMoreElements()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same as hasMoreTokens() method.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899722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Object nextElement()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same as nextToken() but its return type is Object.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877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 countTokens()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total number of tokens.</a:t>
                      </a:r>
                    </a:p>
                  </a:txBody>
                  <a:tcPr marL="74437" marR="74437" marT="74437" marB="7443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45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884" y="152400"/>
            <a:ext cx="8066315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import</a:t>
            </a:r>
            <a:r>
              <a:rPr lang="en-IN" sz="2000" dirty="0"/>
              <a:t> </a:t>
            </a:r>
            <a:r>
              <a:rPr lang="en-IN" sz="2000" dirty="0" err="1"/>
              <a:t>java.util.StringTokenizer</a:t>
            </a:r>
            <a:r>
              <a:rPr lang="en-IN" sz="2000" dirty="0"/>
              <a:t>;  </a:t>
            </a:r>
          </a:p>
          <a:p>
            <a:r>
              <a:rPr lang="en-IN" sz="2000" b="1" dirty="0"/>
              <a:t>public</a:t>
            </a:r>
            <a:r>
              <a:rPr lang="en-IN" sz="2000" dirty="0"/>
              <a:t> </a:t>
            </a:r>
            <a:r>
              <a:rPr lang="en-IN" sz="2000" b="1" dirty="0"/>
              <a:t>class</a:t>
            </a:r>
            <a:r>
              <a:rPr lang="en-IN" sz="2000" dirty="0"/>
              <a:t> </a:t>
            </a:r>
            <a:r>
              <a:rPr lang="en-IN" sz="2000" dirty="0" smtClean="0"/>
              <a:t>Simple</a:t>
            </a:r>
          </a:p>
          <a:p>
            <a:r>
              <a:rPr lang="en-IN" sz="2000" dirty="0" smtClean="0"/>
              <a:t>{</a:t>
            </a:r>
            <a:r>
              <a:rPr lang="en-IN" sz="2000" dirty="0"/>
              <a:t>  </a:t>
            </a:r>
          </a:p>
          <a:p>
            <a:r>
              <a:rPr lang="en-IN" sz="2000" dirty="0"/>
              <a:t> </a:t>
            </a:r>
            <a:r>
              <a:rPr lang="en-IN" sz="2000" b="1" dirty="0"/>
              <a:t>public</a:t>
            </a:r>
            <a:r>
              <a:rPr lang="en-IN" sz="2000" dirty="0"/>
              <a:t> </a:t>
            </a:r>
            <a:r>
              <a:rPr lang="en-IN" sz="2000" b="1" dirty="0"/>
              <a:t>static</a:t>
            </a:r>
            <a:r>
              <a:rPr lang="en-IN" sz="2000" dirty="0"/>
              <a:t> </a:t>
            </a:r>
            <a:r>
              <a:rPr lang="en-IN" sz="2000" b="1" dirty="0"/>
              <a:t>void</a:t>
            </a:r>
            <a:r>
              <a:rPr lang="en-IN" sz="2000" dirty="0"/>
              <a:t> main(String </a:t>
            </a:r>
            <a:r>
              <a:rPr lang="en-IN" sz="2000" dirty="0" err="1"/>
              <a:t>args</a:t>
            </a:r>
            <a:r>
              <a:rPr lang="en-IN" sz="2000" dirty="0" smtClean="0"/>
              <a:t>[])</a:t>
            </a:r>
          </a:p>
          <a:p>
            <a:r>
              <a:rPr lang="en-IN" sz="2000" dirty="0" smtClean="0"/>
              <a:t>{</a:t>
            </a:r>
            <a:r>
              <a:rPr lang="en-IN" sz="2000" dirty="0"/>
              <a:t>  </a:t>
            </a:r>
          </a:p>
          <a:p>
            <a:r>
              <a:rPr lang="en-IN" sz="2000" dirty="0"/>
              <a:t>   </a:t>
            </a:r>
            <a:r>
              <a:rPr lang="en-IN" sz="2000" dirty="0" err="1"/>
              <a:t>StringTokenizer</a:t>
            </a:r>
            <a:r>
              <a:rPr lang="en-IN" sz="2000" dirty="0"/>
              <a:t> </a:t>
            </a:r>
            <a:r>
              <a:rPr lang="en-IN" sz="2000" dirty="0" err="1"/>
              <a:t>st</a:t>
            </a:r>
            <a:r>
              <a:rPr lang="en-IN" sz="2000" dirty="0"/>
              <a:t> = </a:t>
            </a:r>
            <a:r>
              <a:rPr lang="en-IN" sz="2000" b="1" dirty="0"/>
              <a:t>new</a:t>
            </a:r>
            <a:r>
              <a:rPr lang="en-IN" sz="2000" dirty="0"/>
              <a:t> </a:t>
            </a:r>
            <a:r>
              <a:rPr lang="en-IN" sz="2000" dirty="0" err="1"/>
              <a:t>StringTokenizer</a:t>
            </a:r>
            <a:r>
              <a:rPr lang="en-IN" sz="2000" dirty="0" smtClean="0"/>
              <a:t>(“welcome to second </a:t>
            </a:r>
            <a:r>
              <a:rPr lang="en-IN" sz="2000" dirty="0" err="1" smtClean="0"/>
              <a:t>csbs</a:t>
            </a:r>
            <a:r>
              <a:rPr lang="en-IN" sz="2000" dirty="0" smtClean="0"/>
              <a:t>","</a:t>
            </a:r>
            <a:r>
              <a:rPr lang="en-IN" sz="2000" dirty="0"/>
              <a:t> "); </a:t>
            </a:r>
            <a:endParaRPr lang="en-IN" sz="2000" dirty="0" smtClean="0"/>
          </a:p>
          <a:p>
            <a:pPr fontAlgn="base"/>
            <a:r>
              <a:rPr lang="en-US" sz="2000" dirty="0" err="1"/>
              <a:t>System.out.println</a:t>
            </a:r>
            <a:r>
              <a:rPr lang="en-US" sz="2000" dirty="0"/>
              <a:t>("Total number of Tokens: </a:t>
            </a:r>
            <a:r>
              <a:rPr lang="en-US" sz="2000" dirty="0" smtClean="0"/>
              <a:t>"+ </a:t>
            </a:r>
            <a:r>
              <a:rPr lang="en-US" sz="2000" dirty="0" err="1" smtClean="0"/>
              <a:t>st.countTokens</a:t>
            </a:r>
            <a:r>
              <a:rPr lang="en-US" sz="2000" dirty="0" smtClean="0"/>
              <a:t>());</a:t>
            </a:r>
            <a:endParaRPr lang="en-US" sz="2000" dirty="0"/>
          </a:p>
          <a:p>
            <a:r>
              <a:rPr lang="en-IN" sz="2000" dirty="0"/>
              <a:t>     </a:t>
            </a:r>
            <a:r>
              <a:rPr lang="en-IN" sz="2000" b="1" dirty="0"/>
              <a:t>while</a:t>
            </a:r>
            <a:r>
              <a:rPr lang="en-IN" sz="2000" dirty="0"/>
              <a:t> (</a:t>
            </a:r>
            <a:r>
              <a:rPr lang="en-IN" sz="2000" dirty="0" err="1"/>
              <a:t>st.hasMoreTokens</a:t>
            </a:r>
            <a:r>
              <a:rPr lang="en-IN" sz="2000" dirty="0"/>
              <a:t>()) </a:t>
            </a:r>
            <a:endParaRPr lang="en-IN" sz="2000" dirty="0" smtClean="0"/>
          </a:p>
          <a:p>
            <a:r>
              <a:rPr lang="en-IN" sz="2000" dirty="0" smtClean="0"/>
              <a:t>      {</a:t>
            </a:r>
            <a:r>
              <a:rPr lang="en-IN" sz="2000" dirty="0"/>
              <a:t>  </a:t>
            </a:r>
          </a:p>
          <a:p>
            <a:r>
              <a:rPr lang="en-IN" sz="2000" dirty="0"/>
              <a:t>         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st.nextToken</a:t>
            </a:r>
            <a:r>
              <a:rPr lang="en-IN" sz="2000" dirty="0"/>
              <a:t>());  </a:t>
            </a:r>
          </a:p>
          <a:p>
            <a:r>
              <a:rPr lang="en-IN" sz="2000" dirty="0"/>
              <a:t>     }  </a:t>
            </a:r>
          </a:p>
          <a:p>
            <a:r>
              <a:rPr lang="en-IN" sz="2000" dirty="0"/>
              <a:t>   }  </a:t>
            </a:r>
          </a:p>
          <a:p>
            <a:r>
              <a:rPr lang="en-IN" sz="2000" dirty="0"/>
              <a:t>}  </a:t>
            </a:r>
            <a:endParaRPr lang="en-IN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Output</a:t>
            </a:r>
          </a:p>
          <a:p>
            <a:r>
              <a:rPr lang="en-US" sz="2000" dirty="0"/>
              <a:t>Total number of Tokens</a:t>
            </a:r>
            <a:r>
              <a:rPr lang="en-US" sz="2000" dirty="0" smtClean="0"/>
              <a:t>: 4</a:t>
            </a:r>
            <a:endParaRPr lang="en-US" sz="2000" b="1" dirty="0" smtClean="0"/>
          </a:p>
          <a:p>
            <a:r>
              <a:rPr lang="en-IN" sz="2000" dirty="0" smtClean="0"/>
              <a:t>Welcome</a:t>
            </a:r>
          </a:p>
          <a:p>
            <a:r>
              <a:rPr lang="en-IN" sz="2000" dirty="0" smtClean="0"/>
              <a:t>To</a:t>
            </a:r>
          </a:p>
          <a:p>
            <a:r>
              <a:rPr lang="en-IN" sz="2000" dirty="0" smtClean="0"/>
              <a:t>Second</a:t>
            </a:r>
          </a:p>
          <a:p>
            <a:r>
              <a:rPr lang="en-IN" sz="2000" dirty="0" err="1" smtClean="0"/>
              <a:t>csbs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2312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Introduction </a:t>
            </a:r>
            <a:r>
              <a:rPr lang="en-US" sz="2400" b="1" dirty="0"/>
              <a:t>and working with lambda variables in java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80010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In Java, a lambda expression is </a:t>
            </a:r>
            <a:r>
              <a:rPr lang="en-US" sz="2000" b="1" dirty="0"/>
              <a:t>a block of code that accepts arguments and returns a value. </a:t>
            </a:r>
            <a:endParaRPr lang="en-US" sz="2000" b="1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lambda expression was originally introduced in </a:t>
            </a:r>
            <a:r>
              <a:rPr lang="en-US" sz="2000" b="1" dirty="0" smtClean="0"/>
              <a:t>Java 8(JDK8)</a:t>
            </a:r>
            <a:r>
              <a:rPr lang="en-US" sz="2000" dirty="0" smtClean="0"/>
              <a:t>, </a:t>
            </a:r>
            <a:r>
              <a:rPr lang="en-US" sz="2000" dirty="0"/>
              <a:t>and it improves Java’s expressive capabilities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Lambda expressions are similar to </a:t>
            </a:r>
            <a:r>
              <a:rPr lang="en-US" sz="2000" b="1" dirty="0"/>
              <a:t>methods</a:t>
            </a:r>
            <a:r>
              <a:rPr lang="en-US" sz="2000" dirty="0"/>
              <a:t>, but they </a:t>
            </a:r>
            <a:r>
              <a:rPr lang="en-US" sz="2000" dirty="0">
                <a:solidFill>
                  <a:srgbClr val="FF0000"/>
                </a:solidFill>
              </a:rPr>
              <a:t>do not need a </a:t>
            </a:r>
            <a:r>
              <a:rPr lang="en-US" sz="2000" b="1" dirty="0">
                <a:solidFill>
                  <a:srgbClr val="FF0000"/>
                </a:solidFill>
              </a:rPr>
              <a:t>name</a:t>
            </a:r>
            <a:r>
              <a:rPr lang="en-US" sz="2000" dirty="0">
                <a:solidFill>
                  <a:srgbClr val="FF0000"/>
                </a:solidFill>
              </a:rPr>
              <a:t> and they can be implemented right in the body of a method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The Lambda expression is used to provide the implementation </a:t>
            </a:r>
            <a:r>
              <a:rPr lang="en-US" sz="2000" dirty="0" smtClean="0"/>
              <a:t>of a </a:t>
            </a:r>
            <a:r>
              <a:rPr lang="en-US" sz="2000" dirty="0" smtClean="0">
                <a:solidFill>
                  <a:srgbClr val="FF0000"/>
                </a:solidFill>
              </a:rPr>
              <a:t>functional </a:t>
            </a:r>
            <a:r>
              <a:rPr lang="en-US" sz="2000" dirty="0">
                <a:solidFill>
                  <a:srgbClr val="FF0000"/>
                </a:solidFill>
              </a:rPr>
              <a:t>interface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</a:rPr>
              <a:t>An interface which has only one abstract method is called functional interface</a:t>
            </a:r>
            <a:r>
              <a:rPr lang="en-US" sz="2000" b="1" dirty="0" smtClean="0">
                <a:solidFill>
                  <a:srgbClr val="00B050"/>
                </a:solidFill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000" b="1" dirty="0">
              <a:solidFill>
                <a:srgbClr val="00B050"/>
              </a:solidFill>
            </a:endParaRPr>
          </a:p>
          <a:p>
            <a:r>
              <a:rPr lang="en-US" sz="2000" dirty="0"/>
              <a:t>Why use Lambda Expression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To provide the implementation of Functional interface.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Less coding.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IN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25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52400"/>
            <a:ext cx="8610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Syntax</a:t>
            </a:r>
          </a:p>
          <a:p>
            <a:endParaRPr lang="en-US" sz="2000" b="1" dirty="0" smtClean="0"/>
          </a:p>
          <a:p>
            <a:endParaRPr lang="en-US" sz="2000" b="1" dirty="0"/>
          </a:p>
          <a:p>
            <a:endParaRPr lang="en-US" sz="2000" b="1" dirty="0" smtClean="0"/>
          </a:p>
          <a:p>
            <a:r>
              <a:rPr lang="en-US" sz="2000" dirty="0" smtClean="0"/>
              <a:t>1. The </a:t>
            </a:r>
            <a:r>
              <a:rPr lang="en-US" sz="2000" dirty="0"/>
              <a:t>simplest lambda expression contains a single parameter and an expression:</a:t>
            </a:r>
          </a:p>
          <a:p>
            <a:r>
              <a:rPr lang="en-US" sz="2000" dirty="0" smtClean="0"/>
              <a:t>	</a:t>
            </a:r>
            <a:r>
              <a:rPr lang="en-US" sz="2000" b="1" dirty="0" smtClean="0"/>
              <a:t>parameter </a:t>
            </a:r>
            <a:r>
              <a:rPr lang="en-US" sz="2000" b="1" dirty="0"/>
              <a:t>-&gt; expression</a:t>
            </a:r>
          </a:p>
          <a:p>
            <a:r>
              <a:rPr lang="en-US" sz="2000" dirty="0" smtClean="0"/>
              <a:t>2. To </a:t>
            </a:r>
            <a:r>
              <a:rPr lang="en-US" sz="2000" dirty="0"/>
              <a:t>use more than one parameter, wrap them in parentheses:</a:t>
            </a:r>
          </a:p>
          <a:p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000" b="1" dirty="0" smtClean="0"/>
              <a:t>(</a:t>
            </a:r>
            <a:r>
              <a:rPr lang="en-US" sz="2000" b="1" dirty="0"/>
              <a:t>parameter1, parameter2) -&gt; </a:t>
            </a:r>
            <a:r>
              <a:rPr lang="en-US" sz="2000" b="1" dirty="0" smtClean="0"/>
              <a:t>expression</a:t>
            </a:r>
          </a:p>
          <a:p>
            <a:r>
              <a:rPr lang="en-US" sz="2000" b="1" dirty="0" smtClean="0"/>
              <a:t>Note:</a:t>
            </a:r>
            <a:endParaRPr lang="en-US" sz="2000" b="1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</a:rPr>
              <a:t>Expressions are limited. 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</a:rPr>
              <a:t>They </a:t>
            </a:r>
            <a:r>
              <a:rPr lang="en-US" sz="2000" dirty="0">
                <a:solidFill>
                  <a:srgbClr val="FF0000"/>
                </a:solidFill>
              </a:rPr>
              <a:t>have to immediately return a value, and they cannot contain variables, assignments or statements such as if or for. 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</a:rPr>
              <a:t>In </a:t>
            </a:r>
            <a:r>
              <a:rPr lang="en-US" sz="2000" dirty="0">
                <a:solidFill>
                  <a:srgbClr val="FF0000"/>
                </a:solidFill>
              </a:rPr>
              <a:t>order to do more complex operations, a code block can be used with curly braces. 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</a:rPr>
              <a:t>If </a:t>
            </a:r>
            <a:r>
              <a:rPr lang="en-US" sz="2000" dirty="0">
                <a:solidFill>
                  <a:srgbClr val="FF0000"/>
                </a:solidFill>
              </a:rPr>
              <a:t>the lambda expression needs to return a value, then the code block should have a return statement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Ex:</a:t>
            </a:r>
            <a:endParaRPr lang="en-US" sz="2000" dirty="0"/>
          </a:p>
          <a:p>
            <a:r>
              <a:rPr lang="en-US" sz="2000" dirty="0" smtClean="0"/>
              <a:t>	(</a:t>
            </a:r>
            <a:r>
              <a:rPr lang="en-US" sz="2000" dirty="0"/>
              <a:t>parameter1, parameter2) -&gt; { code block }</a:t>
            </a:r>
            <a:endParaRPr lang="en-IN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457" y="160565"/>
            <a:ext cx="7130143" cy="128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694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152400"/>
            <a:ext cx="8077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/>
              <a:t>// A sample functional interface </a:t>
            </a:r>
            <a:endParaRPr lang="en-IN" dirty="0" smtClean="0"/>
          </a:p>
          <a:p>
            <a:pPr fontAlgn="base"/>
            <a:endParaRPr lang="en-IN"/>
          </a:p>
          <a:p>
            <a:pPr fontAlgn="base"/>
            <a:r>
              <a:rPr lang="en-IN" smtClean="0"/>
              <a:t>interface </a:t>
            </a:r>
            <a:r>
              <a:rPr lang="en-IN" dirty="0" err="1"/>
              <a:t>FuncInterface</a:t>
            </a:r>
            <a:endParaRPr lang="en-IN" dirty="0"/>
          </a:p>
          <a:p>
            <a:pPr fontAlgn="base"/>
            <a:r>
              <a:rPr lang="en-IN" dirty="0"/>
              <a:t>{</a:t>
            </a:r>
          </a:p>
          <a:p>
            <a:pPr fontAlgn="base"/>
            <a:r>
              <a:rPr lang="en-IN" dirty="0"/>
              <a:t>        </a:t>
            </a:r>
            <a:r>
              <a:rPr lang="en-IN" b="1" dirty="0"/>
              <a:t>void </a:t>
            </a:r>
            <a:r>
              <a:rPr lang="en-IN" b="1" dirty="0" err="1"/>
              <a:t>abstractFun</a:t>
            </a:r>
            <a:r>
              <a:rPr lang="en-IN" b="1" dirty="0"/>
              <a:t>(</a:t>
            </a:r>
            <a:r>
              <a:rPr lang="en-IN" b="1" dirty="0" err="1"/>
              <a:t>int</a:t>
            </a:r>
            <a:r>
              <a:rPr lang="en-IN" b="1" dirty="0"/>
              <a:t> x</a:t>
            </a:r>
            <a:r>
              <a:rPr lang="en-IN" b="1" dirty="0" smtClean="0"/>
              <a:t>); </a:t>
            </a:r>
            <a:r>
              <a:rPr lang="en-IN" dirty="0"/>
              <a:t>// An abstract function</a:t>
            </a:r>
          </a:p>
          <a:p>
            <a:pPr fontAlgn="base"/>
            <a:r>
              <a:rPr lang="en-IN" dirty="0" smtClean="0"/>
              <a:t>   </a:t>
            </a:r>
          </a:p>
          <a:p>
            <a:pPr fontAlgn="base"/>
            <a:r>
              <a:rPr lang="en-IN" dirty="0" smtClean="0"/>
              <a:t>      default void </a:t>
            </a:r>
            <a:r>
              <a:rPr lang="en-IN" dirty="0" err="1" smtClean="0"/>
              <a:t>normalFun</a:t>
            </a:r>
            <a:r>
              <a:rPr lang="en-IN" dirty="0" smtClean="0"/>
              <a:t>()   </a:t>
            </a:r>
            <a:r>
              <a:rPr lang="en-IN" dirty="0"/>
              <a:t> // A non-abstract (or default) function</a:t>
            </a:r>
          </a:p>
          <a:p>
            <a:pPr lvl="1" fontAlgn="base"/>
            <a:r>
              <a:rPr lang="en-IN" dirty="0"/>
              <a:t>    {</a:t>
            </a:r>
          </a:p>
          <a:p>
            <a:pPr lvl="1" fontAlgn="base"/>
            <a:r>
              <a:rPr lang="en-IN" dirty="0"/>
              <a:t>       </a:t>
            </a:r>
            <a:r>
              <a:rPr lang="en-IN" dirty="0" err="1"/>
              <a:t>System.out.println</a:t>
            </a:r>
            <a:r>
              <a:rPr lang="en-IN" dirty="0"/>
              <a:t>("Hello");</a:t>
            </a:r>
          </a:p>
          <a:p>
            <a:pPr lvl="1" fontAlgn="base"/>
            <a:r>
              <a:rPr lang="en-IN" dirty="0"/>
              <a:t>    }</a:t>
            </a:r>
          </a:p>
          <a:p>
            <a:pPr fontAlgn="base"/>
            <a:r>
              <a:rPr lang="en-IN" dirty="0"/>
              <a:t>}</a:t>
            </a:r>
          </a:p>
          <a:p>
            <a:pPr fontAlgn="base"/>
            <a:r>
              <a:rPr lang="en-IN" dirty="0"/>
              <a:t> class Test</a:t>
            </a:r>
          </a:p>
          <a:p>
            <a:pPr fontAlgn="base"/>
            <a:r>
              <a:rPr lang="en-IN" dirty="0"/>
              <a:t>{</a:t>
            </a:r>
          </a:p>
          <a:p>
            <a:pPr fontAlgn="base"/>
            <a:r>
              <a:rPr lang="en-IN" dirty="0"/>
              <a:t>    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pPr fontAlgn="base"/>
            <a:r>
              <a:rPr lang="en-IN" dirty="0"/>
              <a:t>    {</a:t>
            </a:r>
          </a:p>
          <a:p>
            <a:pPr fontAlgn="base"/>
            <a:r>
              <a:rPr lang="en-IN" dirty="0"/>
              <a:t>        </a:t>
            </a:r>
            <a:r>
              <a:rPr lang="en-IN" dirty="0" smtClean="0"/>
              <a:t>/* </a:t>
            </a:r>
            <a:r>
              <a:rPr lang="en-IN" dirty="0"/>
              <a:t>lambda expression to implement </a:t>
            </a:r>
            <a:r>
              <a:rPr lang="en-IN" dirty="0" smtClean="0"/>
              <a:t>above functional </a:t>
            </a:r>
            <a:r>
              <a:rPr lang="en-IN" dirty="0"/>
              <a:t>interface. This interface</a:t>
            </a:r>
          </a:p>
          <a:p>
            <a:pPr fontAlgn="base"/>
            <a:r>
              <a:rPr lang="en-IN" dirty="0"/>
              <a:t>        </a:t>
            </a:r>
            <a:r>
              <a:rPr lang="en-IN" dirty="0" smtClean="0"/>
              <a:t> </a:t>
            </a:r>
            <a:r>
              <a:rPr lang="en-IN" dirty="0"/>
              <a:t>by default implements </a:t>
            </a:r>
            <a:r>
              <a:rPr lang="en-IN" dirty="0" err="1"/>
              <a:t>abstractFun</a:t>
            </a:r>
            <a:r>
              <a:rPr lang="en-IN" dirty="0" smtClean="0"/>
              <a:t>() */</a:t>
            </a:r>
            <a:endParaRPr lang="en-IN" dirty="0"/>
          </a:p>
          <a:p>
            <a:pPr fontAlgn="base"/>
            <a:endParaRPr lang="en-IN" dirty="0" smtClean="0"/>
          </a:p>
          <a:p>
            <a:pPr fontAlgn="base"/>
            <a:r>
              <a:rPr lang="en-IN" dirty="0" smtClean="0"/>
              <a:t>          </a:t>
            </a:r>
            <a:r>
              <a:rPr lang="en-IN" b="1" dirty="0" err="1" smtClean="0"/>
              <a:t>FuncInterface</a:t>
            </a:r>
            <a:r>
              <a:rPr lang="en-IN" b="1" dirty="0" smtClean="0"/>
              <a:t> </a:t>
            </a:r>
            <a:r>
              <a:rPr lang="en-IN" b="1" dirty="0" err="1"/>
              <a:t>fobj</a:t>
            </a:r>
            <a:r>
              <a:rPr lang="en-IN" b="1" dirty="0"/>
              <a:t> = (</a:t>
            </a:r>
            <a:r>
              <a:rPr lang="en-IN" b="1" dirty="0" err="1"/>
              <a:t>int</a:t>
            </a:r>
            <a:r>
              <a:rPr lang="en-IN" b="1" dirty="0"/>
              <a:t> x</a:t>
            </a:r>
            <a:r>
              <a:rPr lang="en-IN" b="1" dirty="0" smtClean="0"/>
              <a:t>)  -&gt; </a:t>
            </a:r>
            <a:r>
              <a:rPr lang="en-IN" b="1" dirty="0" err="1" smtClean="0"/>
              <a:t>System.out.println</a:t>
            </a:r>
            <a:r>
              <a:rPr lang="en-IN" b="1" dirty="0" smtClean="0"/>
              <a:t>(2*x</a:t>
            </a:r>
            <a:r>
              <a:rPr lang="en-IN" b="1" dirty="0"/>
              <a:t>);</a:t>
            </a:r>
          </a:p>
          <a:p>
            <a:pPr fontAlgn="base"/>
            <a:r>
              <a:rPr lang="en-IN" dirty="0"/>
              <a:t> </a:t>
            </a:r>
          </a:p>
          <a:p>
            <a:pPr fontAlgn="base"/>
            <a:r>
              <a:rPr lang="en-IN" dirty="0"/>
              <a:t>        // This calls above lambda expression and prints 10.</a:t>
            </a:r>
          </a:p>
          <a:p>
            <a:pPr fontAlgn="base"/>
            <a:r>
              <a:rPr lang="en-IN" dirty="0"/>
              <a:t>        </a:t>
            </a:r>
            <a:r>
              <a:rPr lang="en-IN" dirty="0" err="1"/>
              <a:t>fobj.abstractFun</a:t>
            </a:r>
            <a:r>
              <a:rPr lang="en-IN" dirty="0"/>
              <a:t>(5);</a:t>
            </a:r>
          </a:p>
          <a:p>
            <a:pPr fontAlgn="base"/>
            <a:r>
              <a:rPr lang="en-IN" dirty="0"/>
              <a:t>    </a:t>
            </a:r>
            <a:r>
              <a:rPr lang="en-IN" dirty="0" smtClean="0"/>
              <a:t>}						output</a:t>
            </a:r>
            <a:endParaRPr lang="en-IN" dirty="0"/>
          </a:p>
          <a:p>
            <a:pPr fontAlgn="base"/>
            <a:r>
              <a:rPr lang="en-IN" dirty="0" smtClean="0"/>
              <a:t>}						    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02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2034</Words>
  <Application>Microsoft Office PowerPoint</Application>
  <PresentationFormat>On-screen Show (4:3)</PresentationFormat>
  <Paragraphs>443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Java String</vt:lpstr>
      <vt:lpstr>String class constructors</vt:lpstr>
      <vt:lpstr>Create a variable of type String and assign it a  value:</vt:lpstr>
      <vt:lpstr>String Literal - String str = “Hello”</vt:lpstr>
      <vt:lpstr>String Literal - String str = “Hello”</vt:lpstr>
      <vt:lpstr>new - String s = new String(“Hello”)</vt:lpstr>
      <vt:lpstr>new - String s = new String(“Hello”)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charAt() method</vt:lpstr>
      <vt:lpstr>PowerPoint Presentation</vt:lpstr>
      <vt:lpstr>The toUpperCase() method</vt:lpstr>
      <vt:lpstr>The toLowerCase() method</vt:lpstr>
      <vt:lpstr>The concat() method</vt:lpstr>
      <vt:lpstr>+ operator</vt:lpstr>
      <vt:lpstr>PowerPoint Presentation</vt:lpstr>
      <vt:lpstr>PowerPoint Presentation</vt:lpstr>
      <vt:lpstr>Strings</vt:lpstr>
      <vt:lpstr>StringBuffer</vt:lpstr>
      <vt:lpstr>StringBuffer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String</dc:title>
  <dc:creator>hp</dc:creator>
  <cp:lastModifiedBy>hp</cp:lastModifiedBy>
  <cp:revision>52</cp:revision>
  <dcterms:created xsi:type="dcterms:W3CDTF">2006-08-16T00:00:00Z</dcterms:created>
  <dcterms:modified xsi:type="dcterms:W3CDTF">2023-10-27T10:12:05Z</dcterms:modified>
</cp:coreProperties>
</file>