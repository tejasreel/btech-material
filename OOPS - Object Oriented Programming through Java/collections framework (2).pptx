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4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44.xml"/>
  <Override ContentType="application/vnd.openxmlformats-officedocument.presentationml.slide+xml" PartName="/ppt/slides/slide2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y="73152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304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04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72459"/>
            <a:ext cx="7772400" cy="15680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45280"/>
            <a:ext cx="640080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700697"/>
            <a:ext cx="7772400" cy="145288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100500"/>
            <a:ext cx="7772400" cy="160019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06880"/>
            <a:ext cx="4038600" cy="48276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6880"/>
            <a:ext cx="4038600" cy="48276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37458"/>
            <a:ext cx="4040188" cy="6824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19871"/>
            <a:ext cx="4040188" cy="421470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637458"/>
            <a:ext cx="4041775" cy="6824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2319871"/>
            <a:ext cx="4041775" cy="421470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1" y="291253"/>
            <a:ext cx="3008313" cy="123952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91259"/>
            <a:ext cx="5111750" cy="624332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1" y="1530779"/>
            <a:ext cx="3008313" cy="500380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120644"/>
            <a:ext cx="5486400" cy="60452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53627"/>
            <a:ext cx="5486400" cy="43891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25165"/>
            <a:ext cx="5486400" cy="8585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953"/>
            <a:ext cx="2057400" cy="624162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953"/>
            <a:ext cx="6019800" cy="62416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92947"/>
            <a:ext cx="82296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06880"/>
            <a:ext cx="8229600" cy="4827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780112"/>
            <a:ext cx="21336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F71A0-1841-4093-9D9C-0E9FADF37817}" type="datetimeFigureOut">
              <a:rPr lang="en-US" smtClean="0"/>
              <a:pPr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780112"/>
            <a:ext cx="28956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780112"/>
            <a:ext cx="21336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6AB74-CAD6-4A80-BB19-543F112B1AE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java-date-before-method" TargetMode="External"/><Relationship Id="rId7" Type="http://schemas.openxmlformats.org/officeDocument/2006/relationships/hyperlink" Target="https://www.javatpoint.com/java-date-settime-method" TargetMode="External"/><Relationship Id="rId2" Type="http://schemas.openxmlformats.org/officeDocument/2006/relationships/hyperlink" Target="https://www.javatpoint.com/java-date-after-method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javatpoint.com/java-date-gettime-method" TargetMode="External"/><Relationship Id="rId5" Type="http://schemas.openxmlformats.org/officeDocument/2006/relationships/hyperlink" Target="https://www.javatpoint.com/java-date-compareto-method" TargetMode="External"/><Relationship Id="rId4" Type="http://schemas.openxmlformats.org/officeDocument/2006/relationships/hyperlink" Target="https://www.javatpoint.com/java-date-clone-method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post/java-calendar-getweekyear-method" TargetMode="External"/><Relationship Id="rId7" Type="http://schemas.openxmlformats.org/officeDocument/2006/relationships/hyperlink" Target="https://www.javatpoint.com/post/java-calendar-getcalendartype-method" TargetMode="External"/><Relationship Id="rId2" Type="http://schemas.openxmlformats.org/officeDocument/2006/relationships/hyperlink" Target="https://www.javatpoint.com/post/java-calendar-add-method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javatpoint.com/java-date-gettime-method" TargetMode="External"/><Relationship Id="rId5" Type="http://schemas.openxmlformats.org/officeDocument/2006/relationships/hyperlink" Target="https://www.javatpoint.com/post/java-calendar-get-method" TargetMode="External"/><Relationship Id="rId4" Type="http://schemas.openxmlformats.org/officeDocument/2006/relationships/hyperlink" Target="https://www.javatpoint.com/post/java-calendar-getinstance-method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post/java-random-setseed-method" TargetMode="External"/><Relationship Id="rId3" Type="http://schemas.openxmlformats.org/officeDocument/2006/relationships/hyperlink" Target="https://www.javatpoint.com/post/java-random-nextbytes-method" TargetMode="External"/><Relationship Id="rId7" Type="http://schemas.openxmlformats.org/officeDocument/2006/relationships/hyperlink" Target="https://www.javatpoint.com/post/java-random-nextlong-method" TargetMode="External"/><Relationship Id="rId2" Type="http://schemas.openxmlformats.org/officeDocument/2006/relationships/hyperlink" Target="https://www.javatpoint.com/post/java-random-next-method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javatpoint.com/post/java-random-nextint-method" TargetMode="External"/><Relationship Id="rId5" Type="http://schemas.openxmlformats.org/officeDocument/2006/relationships/hyperlink" Target="https://www.javatpoint.com/post/java-random-nextfloat-method" TargetMode="External"/><Relationship Id="rId4" Type="http://schemas.openxmlformats.org/officeDocument/2006/relationships/hyperlink" Target="https://www.javatpoint.com/post/java-random-nextdouble-method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java/util/formatter_flush.htm" TargetMode="External"/><Relationship Id="rId2" Type="http://schemas.openxmlformats.org/officeDocument/2006/relationships/hyperlink" Target="https://www.tutorialspoint.com/java/util/formatter_close.ht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utorialspoint.com/java/util/formatter_tostring.htm" TargetMode="External"/><Relationship Id="rId5" Type="http://schemas.openxmlformats.org/officeDocument/2006/relationships/hyperlink" Target="https://www.tutorialspoint.com/java/util/formatter_out.htm" TargetMode="External"/><Relationship Id="rId4" Type="http://schemas.openxmlformats.org/officeDocument/2006/relationships/hyperlink" Target="https://www.tutorialspoint.com/java/util/formatter_format.htm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post/java-scanner-hasnext-method" TargetMode="External"/><Relationship Id="rId7" Type="http://schemas.openxmlformats.org/officeDocument/2006/relationships/hyperlink" Target="https://www.tutorialspoint.com/java/util/formatter_tostring.htm" TargetMode="External"/><Relationship Id="rId2" Type="http://schemas.openxmlformats.org/officeDocument/2006/relationships/hyperlink" Target="https://www.tutorialspoint.com/java/util/formatter_close.ht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javatpoint.com/post/java-scanner-nextline-method" TargetMode="External"/><Relationship Id="rId5" Type="http://schemas.openxmlformats.org/officeDocument/2006/relationships/hyperlink" Target="https://www.tutorialspoint.com/java/util/formatter_format.htm" TargetMode="External"/><Relationship Id="rId4" Type="http://schemas.openxmlformats.org/officeDocument/2006/relationships/hyperlink" Target="https://www.javatpoint.com/post/java-scanner-nextint-method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mtClean="0"/>
              <a:t>JAVA'S COLLECTION FRAMEWORK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sz="2800" b="1" smtClean="0">
                <a:latin typeface="Arial Black" pitchFamily="34" charset="0"/>
              </a:rPr>
              <a:t>JAVA'S COLLECTION FRAMEWORK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219200"/>
            <a:ext cx="8839200" cy="60960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5900" b="1" dirty="0">
                <a:solidFill>
                  <a:schemeClr val="tx1"/>
                </a:solidFill>
              </a:rPr>
              <a:t>What is Collection in </a:t>
            </a:r>
            <a:r>
              <a:rPr lang="en-US" sz="5900" b="1" dirty="0" smtClean="0">
                <a:solidFill>
                  <a:schemeClr val="tx1"/>
                </a:solidFill>
              </a:rPr>
              <a:t>Java</a:t>
            </a:r>
          </a:p>
          <a:p>
            <a:pPr algn="l"/>
            <a:endParaRPr lang="en-US" sz="3600" b="1" dirty="0">
              <a:solidFill>
                <a:schemeClr val="tx1"/>
              </a:solidFill>
            </a:endParaRPr>
          </a:p>
          <a:p>
            <a:pPr algn="l"/>
            <a:r>
              <a:rPr lang="en-US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Collection represents a single unit of objects, i.e., a group</a:t>
            </a:r>
            <a:r>
              <a:rPr lang="en-US" sz="4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sz="5900" b="1" dirty="0">
                <a:solidFill>
                  <a:schemeClr val="tx1"/>
                </a:solidFill>
              </a:rPr>
              <a:t>What is a framework in </a:t>
            </a:r>
            <a:r>
              <a:rPr lang="en-US" sz="5900" b="1" dirty="0" smtClean="0">
                <a:solidFill>
                  <a:schemeClr val="tx1"/>
                </a:solidFill>
              </a:rPr>
              <a:t>Java</a:t>
            </a:r>
          </a:p>
          <a:p>
            <a:pPr algn="l"/>
            <a:endParaRPr lang="en-US" sz="4000" b="1" dirty="0">
              <a:solidFill>
                <a:schemeClr val="tx1"/>
              </a:solidFill>
            </a:endParaRPr>
          </a:p>
          <a:p>
            <a:pPr algn="l"/>
            <a:r>
              <a:rPr lang="en-US" sz="4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framework </a:t>
            </a:r>
            <a:r>
              <a:rPr lang="en-US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provides readymade </a:t>
            </a:r>
            <a:r>
              <a:rPr lang="en-US" sz="4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architecture and </a:t>
            </a:r>
            <a:r>
              <a:rPr lang="en-US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represents a set of classes and interfaces.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sz="5900" b="1" dirty="0">
                <a:solidFill>
                  <a:schemeClr val="tx1"/>
                </a:solidFill>
              </a:rPr>
              <a:t>What is Collection </a:t>
            </a:r>
            <a:r>
              <a:rPr lang="en-US" sz="5900" b="1" dirty="0" smtClean="0">
                <a:solidFill>
                  <a:schemeClr val="tx1"/>
                </a:solidFill>
              </a:rPr>
              <a:t>framework</a:t>
            </a:r>
          </a:p>
          <a:p>
            <a:pPr algn="l"/>
            <a:endParaRPr lang="en-US" sz="4000" b="1" dirty="0">
              <a:solidFill>
                <a:schemeClr val="tx1"/>
              </a:solidFill>
            </a:endParaRPr>
          </a:p>
          <a:p>
            <a:pPr algn="l"/>
            <a:r>
              <a:rPr lang="en-US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Collection framework represents a unified architecture for storing and manipulating a group of objects. It has:</a:t>
            </a:r>
          </a:p>
          <a:p>
            <a:pPr algn="l">
              <a:buFont typeface="Arial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Interfaces and its implementations, i.e., classes</a:t>
            </a:r>
          </a:p>
          <a:p>
            <a:pPr algn="l">
              <a:buFont typeface="Arial" pitchFamily="34" charset="0"/>
              <a:buChar char="•"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Algorithm</a:t>
            </a:r>
          </a:p>
          <a:p>
            <a:pPr algn="l"/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sz="2800" b="1" smtClean="0">
                <a:latin typeface="Arial Black" pitchFamily="34" charset="0"/>
              </a:rPr>
              <a:t>JAVA'S COLLECTION</a:t>
            </a:r>
            <a:r>
              <a:rPr lang="en-US" sz="2800" b="1" dirty="0" smtClean="0">
                <a:latin typeface="Arial Black" pitchFamily="34" charset="0"/>
              </a:rPr>
              <a:t>‘S HIERARCHY</a:t>
            </a:r>
            <a:endParaRPr lang="en-US" sz="2800" b="1" dirty="0">
              <a:latin typeface="Arial Black" pitchFamily="34" charset="0"/>
            </a:endParaRPr>
          </a:p>
        </p:txBody>
      </p:sp>
      <p:pic>
        <p:nvPicPr>
          <p:cNvPr id="1026" name="Picture 2" descr="Hierarchy of Java Collection framewor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1" y="1013916"/>
            <a:ext cx="7467599" cy="625165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sz="2800" b="1" smtClean="0">
                <a:latin typeface="Arial Black" pitchFamily="34" charset="0"/>
              </a:rPr>
              <a:t>COLLECTION </a:t>
            </a:r>
            <a:r>
              <a:rPr lang="en-US" sz="2800" b="1" dirty="0" smtClean="0">
                <a:latin typeface="Arial Black" pitchFamily="34" charset="0"/>
              </a:rPr>
              <a:t>INTERFACE METHODS</a:t>
            </a:r>
            <a:endParaRPr lang="en-US" sz="2800" b="1" dirty="0">
              <a:latin typeface="Arial Black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" y="1066802"/>
          <a:ext cx="8945115" cy="6211147"/>
        </p:xfrm>
        <a:graphic>
          <a:graphicData uri="http://schemas.openxmlformats.org/drawingml/2006/table">
            <a:tbl>
              <a:tblPr/>
              <a:tblGrid>
                <a:gridCol w="386704"/>
                <a:gridCol w="3812086"/>
                <a:gridCol w="4746325"/>
              </a:tblGrid>
              <a:tr h="35461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No.</a:t>
                      </a:r>
                    </a:p>
                  </a:txBody>
                  <a:tcPr marL="40158" marR="40158" marT="40158" marB="40158">
                    <a:lnL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40158" marR="40158" marT="40158" marB="40158">
                    <a:lnL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40158" marR="40158" marT="40158" marB="40158">
                    <a:lnL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61292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1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public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 add(E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e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It is used to insert an element in this collection.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755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solidFill>
                            <a:srgbClr val="000000"/>
                          </a:solidFill>
                          <a:latin typeface="verdana"/>
                        </a:rPr>
                        <a:t>2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public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addAll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(Collection&lt;? extends E&gt; c)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It is used to insert the specified collection elements in the invoking collection.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61292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solidFill>
                            <a:srgbClr val="000000"/>
                          </a:solidFill>
                          <a:latin typeface="verdana"/>
                        </a:rPr>
                        <a:t>3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solidFill>
                            <a:srgbClr val="000000"/>
                          </a:solidFill>
                          <a:latin typeface="verdana"/>
                        </a:rPr>
                        <a:t>public boolean remove(Object element)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It is used to delete an element from the collection.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769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solidFill>
                            <a:srgbClr val="000000"/>
                          </a:solidFill>
                          <a:latin typeface="verdana"/>
                        </a:rPr>
                        <a:t>4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public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removeAll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(Collection&lt;?&gt; c)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It is used to delete all the elements of the specified collection from the invoking collection.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95769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5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solidFill>
                            <a:srgbClr val="000000"/>
                          </a:solidFill>
                          <a:latin typeface="verdana"/>
                        </a:rPr>
                        <a:t>public boolean retainAll(Collection&lt;?&gt; c)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It is used to delete all the elements of invoking collection except the specified collection.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61292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6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solidFill>
                            <a:srgbClr val="000000"/>
                          </a:solidFill>
                          <a:latin typeface="verdana"/>
                        </a:rPr>
                        <a:t>public int size()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It returns the total number of elements in the collection.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92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7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solidFill>
                            <a:srgbClr val="000000"/>
                          </a:solidFill>
                          <a:latin typeface="verdana"/>
                        </a:rPr>
                        <a:t>public void clear()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It removes the total number of elements from the collection.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61292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8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solidFill>
                            <a:srgbClr val="000000"/>
                          </a:solidFill>
                          <a:latin typeface="verdana"/>
                        </a:rPr>
                        <a:t>public boolean contains(Object element)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verdana"/>
                        </a:rPr>
                        <a:t>It is used to search an element.</a:t>
                      </a:r>
                    </a:p>
                  </a:txBody>
                  <a:tcPr marL="26772" marR="26772" marT="26772" marB="267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sz="2800" b="1" smtClean="0">
                <a:latin typeface="Arial Black" pitchFamily="34" charset="0"/>
              </a:rPr>
              <a:t>COLLECTION </a:t>
            </a:r>
            <a:r>
              <a:rPr lang="en-US" sz="2800" b="1" dirty="0" smtClean="0">
                <a:latin typeface="Arial Black" pitchFamily="34" charset="0"/>
              </a:rPr>
              <a:t>INTERFACE METHODS</a:t>
            </a:r>
            <a:endParaRPr lang="en-US" sz="2800" b="1" dirty="0">
              <a:latin typeface="Arial Black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" y="990600"/>
          <a:ext cx="8945115" cy="4345509"/>
        </p:xfrm>
        <a:graphic>
          <a:graphicData uri="http://schemas.openxmlformats.org/drawingml/2006/table">
            <a:tbl>
              <a:tblPr/>
              <a:tblGrid>
                <a:gridCol w="533400"/>
                <a:gridCol w="3665390"/>
                <a:gridCol w="4746325"/>
              </a:tblGrid>
              <a:tr h="27000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No.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40158" marR="40158" marT="40158" marB="40158">
                    <a:lnL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smtClean="0">
                          <a:solidFill>
                            <a:srgbClr val="000000"/>
                          </a:solidFill>
                          <a:latin typeface="times new roman"/>
                        </a:rPr>
                        <a:t>Method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40158" marR="40158" marT="40158" marB="40158">
                    <a:lnL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smtClean="0">
                          <a:solidFill>
                            <a:srgbClr val="000000"/>
                          </a:solidFill>
                          <a:latin typeface="times new roman"/>
                        </a:rPr>
                        <a:t>Description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40158" marR="40158" marT="40158" marB="40158">
                    <a:lnL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466691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9</a:t>
                      </a:r>
                      <a:endParaRPr lang="en-US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public Iterator iterator()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It returns an iterator.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91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10</a:t>
                      </a:r>
                      <a:endParaRPr lang="en-US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public Object[] toArray()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It converts collection into array.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9832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11</a:t>
                      </a:r>
                      <a:endParaRPr lang="en-US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b="1">
                          <a:solidFill>
                            <a:srgbClr val="000000"/>
                          </a:solidFill>
                          <a:latin typeface="verdana"/>
                        </a:rPr>
                        <a:t>public &lt;T&gt; T[] toArray(T[] a)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It converts collection into array. Here, the runtime type of the returned array is that of the specified array.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466691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12</a:t>
                      </a:r>
                      <a:endParaRPr lang="en-US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public 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isEmpty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It checks if collection is empty.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54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13</a:t>
                      </a:r>
                      <a:endParaRPr lang="en-US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public boolean equals(Object element)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It matches two collections.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59454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14</a:t>
                      </a:r>
                      <a:endParaRPr lang="en-US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public 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hashCode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It returns the hash code number of the collection.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5638800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The Collection </a:t>
            </a:r>
            <a:r>
              <a:rPr lang="en-US" sz="2400" dirty="0" smtClean="0"/>
              <a:t>interface </a:t>
            </a:r>
            <a:r>
              <a:rPr lang="en-US" sz="2400" dirty="0"/>
              <a:t>is implemented by all the classes in the collection </a:t>
            </a:r>
            <a:r>
              <a:rPr lang="en-US" sz="2400" dirty="0" smtClean="0"/>
              <a:t>framework.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Collection interface builds the foundation </a:t>
            </a:r>
            <a:r>
              <a:rPr lang="en-US" sz="2400" dirty="0" smtClean="0"/>
              <a:t>for </a:t>
            </a:r>
            <a:r>
              <a:rPr lang="en-US" sz="2400" dirty="0"/>
              <a:t>the collection framework 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ITERATOR</a:t>
            </a:r>
            <a:r>
              <a:rPr sz="2800" b="1" smtClean="0">
                <a:latin typeface="Arial Black" pitchFamily="34" charset="0"/>
              </a:rPr>
              <a:t> </a:t>
            </a:r>
            <a:r>
              <a:rPr lang="en-US" sz="2800" b="1" dirty="0" smtClean="0">
                <a:latin typeface="Arial Black" pitchFamily="34" charset="0"/>
              </a:rPr>
              <a:t>INTERFACCE METHODS</a:t>
            </a:r>
            <a:endParaRPr lang="en-US" sz="2800" b="1" dirty="0">
              <a:latin typeface="Arial Black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" y="990600"/>
          <a:ext cx="8945115" cy="3417208"/>
        </p:xfrm>
        <a:graphic>
          <a:graphicData uri="http://schemas.openxmlformats.org/drawingml/2006/table">
            <a:tbl>
              <a:tblPr/>
              <a:tblGrid>
                <a:gridCol w="533400"/>
                <a:gridCol w="3665390"/>
                <a:gridCol w="4746325"/>
              </a:tblGrid>
              <a:tr h="39101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No.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40158" marR="40158" marT="40158" marB="40158">
                    <a:lnL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smtClean="0">
                          <a:solidFill>
                            <a:srgbClr val="000000"/>
                          </a:solidFill>
                          <a:latin typeface="times new roman"/>
                        </a:rPr>
                        <a:t>Method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40158" marR="40158" marT="40158" marB="40158">
                    <a:lnL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Description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40158" marR="40158" marT="40158" marB="40158">
                    <a:lnL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4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675839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public boolean hasNext()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It returns true if the iterator has more elements otherwise it returns false.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5839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public Object next()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It returns the element and moves the cursor pointer to the next element.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474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rgbClr val="000000"/>
                          </a:solidFill>
                          <a:latin typeface="verdana"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public void remove()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It removes the last elements returned by the 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  <a:latin typeface="verdana"/>
                        </a:rPr>
                        <a:t>iterator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latin typeface="verdana"/>
                        </a:rPr>
                        <a:t>. It is less used.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</a:tbl>
          </a:graphicData>
        </a:graphic>
      </p:graphicFrame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4583668"/>
            <a:ext cx="807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Arial Black" pitchFamily="34" charset="0"/>
              </a:rPr>
              <a:t>ITERABLE INTERFACE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5562600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Verdana" pitchFamily="34" charset="0"/>
                <a:ea typeface="Verdana" pitchFamily="34" charset="0"/>
              </a:rPr>
              <a:t> It is the root class of all collection classes. It contains only one method </a:t>
            </a:r>
          </a:p>
          <a:p>
            <a:endParaRPr lang="en-US" sz="2000" dirty="0">
              <a:latin typeface="Verdana" pitchFamily="34" charset="0"/>
              <a:ea typeface="Verdana" pitchFamily="34" charset="0"/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Verdana" pitchFamily="34" charset="0"/>
                <a:ea typeface="Verdana" pitchFamily="34" charset="0"/>
                <a:sym typeface="Wingdings" pitchFamily="2" charset="2"/>
              </a:rPr>
              <a:t>    </a:t>
            </a:r>
            <a:r>
              <a:rPr lang="en-US" sz="2000" dirty="0" err="1" smtClean="0">
                <a:latin typeface="Verdana" pitchFamily="34" charset="0"/>
                <a:ea typeface="Verdana" pitchFamily="34" charset="0"/>
              </a:rPr>
              <a:t>Iterator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&lt;T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&gt; </a:t>
            </a:r>
            <a:r>
              <a:rPr lang="en-US" sz="2000" dirty="0" err="1">
                <a:latin typeface="Verdana" pitchFamily="34" charset="0"/>
                <a:ea typeface="Verdana" pitchFamily="34" charset="0"/>
              </a:rPr>
              <a:t>iterator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LIST</a:t>
            </a:r>
            <a:r>
              <a:rPr sz="2800" b="1" smtClean="0">
                <a:latin typeface="Arial Black" pitchFamily="34" charset="0"/>
              </a:rPr>
              <a:t> </a:t>
            </a:r>
            <a:r>
              <a:rPr lang="en-US" sz="2800" b="1" dirty="0" smtClean="0">
                <a:latin typeface="Arial Black" pitchFamily="34" charset="0"/>
              </a:rPr>
              <a:t>INTERFACE 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1217474"/>
            <a:ext cx="85344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List interface is the child interface of Collection interface. </a:t>
            </a:r>
            <a:endParaRPr lang="en-US" sz="2800" dirty="0" smtClean="0"/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It represents a </a:t>
            </a:r>
            <a:r>
              <a:rPr lang="en-US" sz="2800" dirty="0"/>
              <a:t>list type data structure in which we can store the </a:t>
            </a:r>
            <a:r>
              <a:rPr lang="en-US" sz="2800" b="1" dirty="0"/>
              <a:t>ordered collection </a:t>
            </a:r>
            <a:r>
              <a:rPr lang="en-US" sz="2800" dirty="0"/>
              <a:t>of objects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</a:t>
            </a:r>
            <a:r>
              <a:rPr lang="en-US" sz="2800" dirty="0"/>
              <a:t>It can have </a:t>
            </a:r>
            <a:r>
              <a:rPr lang="en-US" sz="2800" b="1" dirty="0"/>
              <a:t>duplicate</a:t>
            </a:r>
            <a:r>
              <a:rPr lang="en-US" sz="2800" dirty="0"/>
              <a:t> values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List interface is implemented by the classes </a:t>
            </a:r>
            <a:r>
              <a:rPr lang="en-US" sz="2800" dirty="0" err="1"/>
              <a:t>ArrayList</a:t>
            </a:r>
            <a:r>
              <a:rPr lang="en-US" sz="2800" dirty="0"/>
              <a:t>, </a:t>
            </a:r>
            <a:r>
              <a:rPr lang="en-US" sz="2800" dirty="0" err="1"/>
              <a:t>LinkedList</a:t>
            </a:r>
            <a:r>
              <a:rPr lang="en-US" sz="2800" dirty="0"/>
              <a:t>, Vector, and Stack.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0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LIST</a:t>
            </a:r>
            <a:r>
              <a:rPr sz="2800" b="1" smtClean="0">
                <a:latin typeface="Arial Black" pitchFamily="34" charset="0"/>
              </a:rPr>
              <a:t> </a:t>
            </a:r>
            <a:r>
              <a:rPr lang="en-US" sz="2800" b="1" dirty="0" smtClean="0">
                <a:latin typeface="Arial Black" pitchFamily="34" charset="0"/>
              </a:rPr>
              <a:t>INTERFACE METHODS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" y="1066801"/>
          <a:ext cx="8991600" cy="6095999"/>
        </p:xfrm>
        <a:graphic>
          <a:graphicData uri="http://schemas.openxmlformats.org/drawingml/2006/table">
            <a:tbl>
              <a:tblPr/>
              <a:tblGrid>
                <a:gridCol w="3521711"/>
                <a:gridCol w="5469889"/>
              </a:tblGrid>
              <a:tr h="31080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44496" marR="44496" marT="44496" marB="44496">
                    <a:lnL w="9525" cap="flat" cmpd="sng" algn="ctr">
                      <a:solidFill>
                        <a:srgbClr val="102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2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2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44496" marR="44496" marT="44496" marB="44496">
                    <a:lnL w="9525" cap="flat" cmpd="sng" algn="ctr">
                      <a:solidFill>
                        <a:srgbClr val="102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2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2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56229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void add(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index, E element)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</a:rPr>
                        <a:t>It is used to insert the specified element at the specified position in a list.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29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add(E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</a:rPr>
                        <a:t>It is used to append the specified element at the end of a list.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56229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addAll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(Collection&lt;? extends E&gt; c)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</a:rPr>
                        <a:t>It is used to append all of the elements in the specified collection to the end of a list.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95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addAll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index, Collection&lt;? extends E&gt; c)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</a:rPr>
                        <a:t>It is used to append all the elements in the specified collection, starting at the specified position of the list.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56229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void clear()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</a:rPr>
                        <a:t>It is used to remove all of the elements from this list.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29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equals(Object o)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It is used to compare the specified object with the elements of a list.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75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hashcode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()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</a:rPr>
                        <a:t>It is used to return the hash code value for a list.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56229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E get(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index)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</a:rPr>
                        <a:t>It is used to fetch the element from the particular position of the list.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75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isEmpty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()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</a:rPr>
                        <a:t>It returns true if the list is empty, otherwise false.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81295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</a:rPr>
                        <a:t>lastIndexOf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(Object o)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</a:rPr>
                        <a:t>It is used to return the index in this list of the last occurrence of the specified element, or -1 if the list does not contain this element.</a:t>
                      </a:r>
                    </a:p>
                  </a:txBody>
                  <a:tcPr marL="29664" marR="29664" marT="29664" marB="29664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57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SET</a:t>
            </a:r>
            <a:r>
              <a:rPr sz="2800" b="1" smtClean="0">
                <a:latin typeface="Arial Black" pitchFamily="34" charset="0"/>
              </a:rPr>
              <a:t> </a:t>
            </a:r>
            <a:r>
              <a:rPr lang="en-US" sz="2800" b="1" dirty="0" smtClean="0">
                <a:latin typeface="Arial Black" pitchFamily="34" charset="0"/>
              </a:rPr>
              <a:t>INTERFACE 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1217474"/>
            <a:ext cx="85344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A Set is a Collection that cannot contain duplicate elements. It models the mathematical set abstraction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The Set interface contains only methods inherited from Collection and adds the restriction that duplicate elements are prohibited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Set also adds a stronger contract on the behavior of the equals and </a:t>
            </a:r>
            <a:r>
              <a:rPr lang="en-US" sz="2400" dirty="0" err="1"/>
              <a:t>hashCode</a:t>
            </a:r>
            <a:r>
              <a:rPr lang="en-US" sz="2400" dirty="0"/>
              <a:t> operations, allowing Set instances to be compared meaningfully even if their implementation types differ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2947"/>
            <a:ext cx="8229600" cy="6214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The Queue Interface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486400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The </a:t>
            </a:r>
            <a:r>
              <a:rPr lang="en-IN" dirty="0"/>
              <a:t>Queue interface extends Collection and declares the </a:t>
            </a:r>
            <a:r>
              <a:rPr lang="en-IN" b="1" dirty="0" err="1"/>
              <a:t>behavior</a:t>
            </a:r>
            <a:r>
              <a:rPr lang="en-IN" b="1" dirty="0"/>
              <a:t> of a queue</a:t>
            </a:r>
            <a:r>
              <a:rPr lang="en-IN" dirty="0"/>
              <a:t>, which is often a first-in, first-out list. </a:t>
            </a:r>
            <a:endParaRPr lang="en-IN" dirty="0" smtClean="0"/>
          </a:p>
          <a:p>
            <a:r>
              <a:rPr lang="en-IN" dirty="0" smtClean="0"/>
              <a:t>However</a:t>
            </a:r>
            <a:r>
              <a:rPr lang="en-IN" dirty="0"/>
              <a:t>, there are types of queues in which the ordering is based upon other criteria. </a:t>
            </a:r>
          </a:p>
          <a:p>
            <a:r>
              <a:rPr lang="en-IN" dirty="0"/>
              <a:t>Queue is a generic interface that has this declaration: </a:t>
            </a:r>
            <a:r>
              <a:rPr lang="en-IN" b="1" dirty="0"/>
              <a:t>interface Queue&lt;E</a:t>
            </a:r>
            <a:r>
              <a:rPr lang="en-IN" b="1" dirty="0" smtClean="0"/>
              <a:t>&gt;</a:t>
            </a:r>
          </a:p>
          <a:p>
            <a:pPr marL="0" indent="0">
              <a:buNone/>
            </a:pPr>
            <a:r>
              <a:rPr lang="en-IN" b="1" dirty="0"/>
              <a:t>The </a:t>
            </a:r>
            <a:r>
              <a:rPr lang="en-IN" b="1" dirty="0" err="1"/>
              <a:t>Deque</a:t>
            </a:r>
            <a:r>
              <a:rPr lang="en-IN" b="1" dirty="0"/>
              <a:t> Interface</a:t>
            </a:r>
            <a:r>
              <a:rPr lang="en-IN" dirty="0"/>
              <a:t> </a:t>
            </a:r>
          </a:p>
          <a:p>
            <a:r>
              <a:rPr lang="en-IN" dirty="0"/>
              <a:t>The </a:t>
            </a:r>
            <a:r>
              <a:rPr lang="en-IN" dirty="0" err="1"/>
              <a:t>Deque</a:t>
            </a:r>
            <a:r>
              <a:rPr lang="en-IN" dirty="0"/>
              <a:t> interface was added by Java SE 6. It extends </a:t>
            </a:r>
            <a:r>
              <a:rPr lang="en-IN" b="1" dirty="0"/>
              <a:t>Queue and declares the </a:t>
            </a:r>
            <a:r>
              <a:rPr lang="en-IN" b="1" dirty="0" err="1"/>
              <a:t>behavior</a:t>
            </a:r>
            <a:r>
              <a:rPr lang="en-IN" b="1" dirty="0"/>
              <a:t> of a double-ended queue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17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ARRAYLIST CLASS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1143000"/>
            <a:ext cx="85344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The </a:t>
            </a:r>
            <a:r>
              <a:rPr lang="en-US" sz="2400" dirty="0" err="1"/>
              <a:t>ArrayList</a:t>
            </a:r>
            <a:r>
              <a:rPr lang="en-US" sz="2400" dirty="0"/>
              <a:t> class implements the List interface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It uses a dynamic array to store the duplicate element of different data types. </a:t>
            </a: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 err="1"/>
              <a:t>ArrayList</a:t>
            </a:r>
            <a:r>
              <a:rPr lang="en-US" sz="2400" dirty="0"/>
              <a:t> class maintains the insertion order and is non-synchronized. </a:t>
            </a: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elements stored in the </a:t>
            </a:r>
            <a:r>
              <a:rPr lang="en-US" sz="2400" dirty="0" err="1"/>
              <a:t>ArrayList</a:t>
            </a:r>
            <a:r>
              <a:rPr lang="en-US" sz="2400" dirty="0"/>
              <a:t> class can be randomly accessed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smtClean="0"/>
              <a:t>  It is a generic class with the below declaration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</a:t>
            </a:r>
            <a:r>
              <a:rPr lang="en-US" sz="2400" b="1" dirty="0" smtClean="0"/>
              <a:t> class </a:t>
            </a:r>
            <a:r>
              <a:rPr lang="en-US" sz="2400" b="1" dirty="0" err="1" smtClean="0"/>
              <a:t>ArrayList</a:t>
            </a:r>
            <a:r>
              <a:rPr lang="en-US" sz="2400" b="1" dirty="0" smtClean="0"/>
              <a:t> &lt;E&gt;</a:t>
            </a:r>
            <a:endParaRPr lang="en-US" sz="2400" b="1" dirty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0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ARRAYLIST EXAMPLE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57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914400"/>
            <a:ext cx="838511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import</a:t>
            </a:r>
            <a:r>
              <a:rPr lang="en-US" sz="2400" dirty="0"/>
              <a:t> </a:t>
            </a:r>
            <a:r>
              <a:rPr lang="en-US" sz="2400" dirty="0" err="1"/>
              <a:t>java.util</a:t>
            </a:r>
            <a:r>
              <a:rPr lang="en-US" sz="2400" dirty="0"/>
              <a:t>.*;  </a:t>
            </a:r>
          </a:p>
          <a:p>
            <a:r>
              <a:rPr lang="en-US" sz="2400" b="1" dirty="0"/>
              <a:t>class</a:t>
            </a:r>
            <a:r>
              <a:rPr lang="en-US" sz="2400" dirty="0"/>
              <a:t> TestJavaCollection1{  </a:t>
            </a:r>
          </a:p>
          <a:p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/>
              <a:t>static</a:t>
            </a:r>
            <a:r>
              <a:rPr lang="en-US" sz="2400" dirty="0"/>
              <a:t> </a:t>
            </a:r>
            <a:r>
              <a:rPr lang="en-US" sz="2400" b="1" dirty="0"/>
              <a:t>void</a:t>
            </a:r>
            <a:r>
              <a:rPr lang="en-US" sz="2400" dirty="0"/>
              <a:t> main(String </a:t>
            </a:r>
            <a:r>
              <a:rPr lang="en-US" sz="2400" dirty="0" err="1"/>
              <a:t>args</a:t>
            </a:r>
            <a:r>
              <a:rPr lang="en-US" sz="2400" dirty="0"/>
              <a:t>[]){  </a:t>
            </a:r>
          </a:p>
          <a:p>
            <a:r>
              <a:rPr lang="en-US" sz="2400" dirty="0" err="1"/>
              <a:t>ArrayList</a:t>
            </a:r>
            <a:r>
              <a:rPr lang="en-US" sz="2400" dirty="0"/>
              <a:t>&lt;String&gt; list=</a:t>
            </a:r>
            <a:r>
              <a:rPr lang="en-US" sz="2400" b="1" dirty="0"/>
              <a:t>new</a:t>
            </a:r>
            <a:r>
              <a:rPr lang="en-US" sz="2400" dirty="0"/>
              <a:t> </a:t>
            </a:r>
            <a:r>
              <a:rPr lang="en-US" sz="2400" dirty="0" err="1"/>
              <a:t>ArrayList</a:t>
            </a:r>
            <a:r>
              <a:rPr lang="en-US" sz="2400" dirty="0"/>
              <a:t>&lt;String&gt;();//Creating </a:t>
            </a:r>
            <a:r>
              <a:rPr lang="en-US" sz="2400" dirty="0" err="1" smtClean="0"/>
              <a:t>arraylist</a:t>
            </a:r>
            <a:r>
              <a:rPr lang="en-US" sz="2400" dirty="0"/>
              <a:t>  </a:t>
            </a:r>
          </a:p>
          <a:p>
            <a:r>
              <a:rPr lang="en-US" sz="2400" dirty="0" err="1"/>
              <a:t>list.add</a:t>
            </a:r>
            <a:r>
              <a:rPr lang="en-US" sz="2400" dirty="0"/>
              <a:t>("Ravi");//Adding object in </a:t>
            </a:r>
            <a:r>
              <a:rPr lang="en-US" sz="2400" dirty="0" err="1"/>
              <a:t>arraylist</a:t>
            </a:r>
            <a:r>
              <a:rPr lang="en-US" sz="2400" dirty="0"/>
              <a:t>  </a:t>
            </a:r>
          </a:p>
          <a:p>
            <a:r>
              <a:rPr lang="en-US" sz="2400" dirty="0" err="1"/>
              <a:t>list.add</a:t>
            </a:r>
            <a:r>
              <a:rPr lang="en-US" sz="2400" dirty="0"/>
              <a:t>("Vijay");  </a:t>
            </a:r>
          </a:p>
          <a:p>
            <a:r>
              <a:rPr lang="en-US" sz="2400" dirty="0" err="1"/>
              <a:t>list.add</a:t>
            </a:r>
            <a:r>
              <a:rPr lang="en-US" sz="2400" dirty="0"/>
              <a:t>("Ravi");  </a:t>
            </a:r>
          </a:p>
          <a:p>
            <a:r>
              <a:rPr lang="en-US" sz="2400" dirty="0" err="1"/>
              <a:t>list.add</a:t>
            </a:r>
            <a:r>
              <a:rPr lang="en-US" sz="2400" dirty="0"/>
              <a:t>("Ajay");  </a:t>
            </a:r>
          </a:p>
          <a:p>
            <a:r>
              <a:rPr lang="en-US" sz="2400" dirty="0"/>
              <a:t>//Traversing list through </a:t>
            </a:r>
            <a:r>
              <a:rPr lang="en-US" sz="2400" dirty="0" err="1"/>
              <a:t>Iterator</a:t>
            </a:r>
            <a:r>
              <a:rPr lang="en-US" sz="2400" dirty="0"/>
              <a:t>  </a:t>
            </a:r>
          </a:p>
          <a:p>
            <a:r>
              <a:rPr lang="en-US" sz="2400" dirty="0" err="1"/>
              <a:t>Iterator</a:t>
            </a:r>
            <a:r>
              <a:rPr lang="en-US" sz="2400" dirty="0"/>
              <a:t> </a:t>
            </a:r>
            <a:r>
              <a:rPr lang="en-US" sz="2400" dirty="0" err="1"/>
              <a:t>itr</a:t>
            </a:r>
            <a:r>
              <a:rPr lang="en-US" sz="2400" dirty="0"/>
              <a:t>=</a:t>
            </a:r>
            <a:r>
              <a:rPr lang="en-US" sz="2400" dirty="0" err="1"/>
              <a:t>list.iterator</a:t>
            </a:r>
            <a:r>
              <a:rPr lang="en-US" sz="2400" dirty="0"/>
              <a:t>();  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(</a:t>
            </a:r>
            <a:r>
              <a:rPr lang="en-US" sz="2400" dirty="0" err="1"/>
              <a:t>itr.hasNext</a:t>
            </a:r>
            <a:r>
              <a:rPr lang="en-US" sz="2400" dirty="0"/>
              <a:t>()){  </a:t>
            </a:r>
          </a:p>
          <a:p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itr.next</a:t>
            </a:r>
            <a:r>
              <a:rPr lang="en-US" sz="2400" dirty="0"/>
              <a:t>());  </a:t>
            </a:r>
          </a:p>
          <a:p>
            <a:r>
              <a:rPr lang="en-US" sz="2400" dirty="0"/>
              <a:t>}  </a:t>
            </a:r>
          </a:p>
          <a:p>
            <a:r>
              <a:rPr lang="en-US" sz="2400" dirty="0"/>
              <a:t>}  </a:t>
            </a:r>
          </a:p>
          <a:p>
            <a:r>
              <a:rPr lang="en-US" sz="2400" dirty="0"/>
              <a:t>}  </a:t>
            </a:r>
          </a:p>
          <a:p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5486400" y="5334000"/>
            <a:ext cx="18288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Ravi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Vijay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Ravi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Ajay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19800" y="52578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Output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1000"/>
            <a:ext cx="7467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import </a:t>
            </a:r>
            <a:r>
              <a:rPr lang="en-IN" sz="2000" dirty="0" err="1"/>
              <a:t>java.util</a:t>
            </a:r>
            <a:r>
              <a:rPr lang="en-IN" sz="2000" dirty="0"/>
              <a:t>.*;</a:t>
            </a:r>
          </a:p>
          <a:p>
            <a:r>
              <a:rPr lang="en-IN" sz="2000" dirty="0"/>
              <a:t>class </a:t>
            </a:r>
            <a:r>
              <a:rPr lang="en-IN" sz="2000" dirty="0" err="1"/>
              <a:t>ArrayListToArray</a:t>
            </a:r>
            <a:r>
              <a:rPr lang="en-IN" sz="2000" dirty="0"/>
              <a:t> {</a:t>
            </a:r>
          </a:p>
          <a:p>
            <a:r>
              <a:rPr lang="en-IN" sz="2000" dirty="0"/>
              <a:t>public static void main(String </a:t>
            </a:r>
            <a:r>
              <a:rPr lang="en-IN" sz="2000" dirty="0" err="1"/>
              <a:t>args</a:t>
            </a:r>
            <a:r>
              <a:rPr lang="en-IN" sz="2000" dirty="0"/>
              <a:t>[]) {</a:t>
            </a:r>
          </a:p>
          <a:p>
            <a:pPr lvl="1"/>
            <a:r>
              <a:rPr lang="en-IN" sz="2000" dirty="0" err="1" smtClean="0"/>
              <a:t>ArrayList</a:t>
            </a:r>
            <a:r>
              <a:rPr lang="en-IN" sz="2000" dirty="0" smtClean="0"/>
              <a:t>&lt;Integer</a:t>
            </a:r>
            <a:r>
              <a:rPr lang="en-IN" sz="2000" dirty="0"/>
              <a:t>&gt; al = new </a:t>
            </a:r>
            <a:r>
              <a:rPr lang="en-IN" sz="2000" dirty="0" err="1"/>
              <a:t>ArrayList</a:t>
            </a:r>
            <a:r>
              <a:rPr lang="en-IN" sz="2000" dirty="0"/>
              <a:t>&lt;Integer&gt;();</a:t>
            </a:r>
          </a:p>
          <a:p>
            <a:pPr lvl="1"/>
            <a:r>
              <a:rPr lang="en-IN" sz="2000" dirty="0" err="1" smtClean="0"/>
              <a:t>al.add</a:t>
            </a:r>
            <a:r>
              <a:rPr lang="en-IN" sz="2000" dirty="0" smtClean="0"/>
              <a:t>(1</a:t>
            </a:r>
            <a:r>
              <a:rPr lang="en-IN" sz="2000" dirty="0"/>
              <a:t>);</a:t>
            </a:r>
          </a:p>
          <a:p>
            <a:pPr lvl="1"/>
            <a:r>
              <a:rPr lang="en-IN" sz="2000" dirty="0" err="1"/>
              <a:t>al.add</a:t>
            </a:r>
            <a:r>
              <a:rPr lang="en-IN" sz="2000" dirty="0"/>
              <a:t>(2);</a:t>
            </a:r>
          </a:p>
          <a:p>
            <a:pPr lvl="1"/>
            <a:r>
              <a:rPr lang="en-IN" sz="2000" dirty="0" err="1"/>
              <a:t>al.add</a:t>
            </a:r>
            <a:r>
              <a:rPr lang="en-IN" sz="2000" dirty="0"/>
              <a:t>(3);</a:t>
            </a:r>
          </a:p>
          <a:p>
            <a:pPr lvl="1"/>
            <a:r>
              <a:rPr lang="en-IN" sz="2000" dirty="0" err="1"/>
              <a:t>al.add</a:t>
            </a:r>
            <a:r>
              <a:rPr lang="en-IN" sz="2000" dirty="0"/>
              <a:t>(4);</a:t>
            </a:r>
          </a:p>
          <a:p>
            <a:pPr lvl="1"/>
            <a:r>
              <a:rPr lang="en-IN" sz="2000" dirty="0" err="1"/>
              <a:t>System.out.println</a:t>
            </a:r>
            <a:r>
              <a:rPr lang="en-IN" sz="2000" dirty="0"/>
              <a:t>("Contents of al: " + al);</a:t>
            </a:r>
          </a:p>
          <a:p>
            <a:pPr lvl="1"/>
            <a:r>
              <a:rPr lang="en-IN" sz="2000" dirty="0"/>
              <a:t>// Get the array.</a:t>
            </a:r>
          </a:p>
          <a:p>
            <a:pPr lvl="1"/>
            <a:r>
              <a:rPr lang="en-IN" sz="2000" dirty="0"/>
              <a:t>Integer </a:t>
            </a:r>
            <a:r>
              <a:rPr lang="en-IN" sz="2000" dirty="0" err="1"/>
              <a:t>ia</a:t>
            </a:r>
            <a:r>
              <a:rPr lang="en-IN" sz="2000" dirty="0"/>
              <a:t>[] = new Integer[</a:t>
            </a:r>
            <a:r>
              <a:rPr lang="en-IN" sz="2000" dirty="0" err="1"/>
              <a:t>al.size</a:t>
            </a:r>
            <a:r>
              <a:rPr lang="en-IN" sz="2000" dirty="0"/>
              <a:t>()];</a:t>
            </a:r>
          </a:p>
          <a:p>
            <a:pPr lvl="1"/>
            <a:r>
              <a:rPr lang="en-IN" sz="2000" dirty="0" err="1"/>
              <a:t>ia</a:t>
            </a:r>
            <a:r>
              <a:rPr lang="en-IN" sz="2000" dirty="0"/>
              <a:t> = </a:t>
            </a:r>
            <a:r>
              <a:rPr lang="en-IN" sz="2000" dirty="0" err="1"/>
              <a:t>al.toArray</a:t>
            </a:r>
            <a:r>
              <a:rPr lang="en-IN" sz="2000" dirty="0"/>
              <a:t>(</a:t>
            </a:r>
            <a:r>
              <a:rPr lang="en-IN" sz="2000" dirty="0" err="1"/>
              <a:t>ia</a:t>
            </a:r>
            <a:r>
              <a:rPr lang="en-IN" sz="2000" dirty="0"/>
              <a:t>);</a:t>
            </a:r>
          </a:p>
          <a:p>
            <a:pPr lvl="1"/>
            <a:r>
              <a:rPr lang="en-IN" sz="2000" dirty="0" err="1"/>
              <a:t>int</a:t>
            </a:r>
            <a:r>
              <a:rPr lang="en-IN" sz="2000" dirty="0"/>
              <a:t> sum = 0;</a:t>
            </a:r>
          </a:p>
          <a:p>
            <a:pPr lvl="1"/>
            <a:endParaRPr lang="en-IN" sz="2000" dirty="0" smtClean="0"/>
          </a:p>
          <a:p>
            <a:pPr lvl="1"/>
            <a:r>
              <a:rPr lang="en-IN" sz="2000" dirty="0" smtClean="0"/>
              <a:t>for(</a:t>
            </a:r>
            <a:r>
              <a:rPr lang="en-IN" sz="2000" dirty="0" err="1" smtClean="0"/>
              <a:t>int</a:t>
            </a:r>
            <a:r>
              <a:rPr lang="en-IN" sz="2000" dirty="0" smtClean="0"/>
              <a:t> </a:t>
            </a:r>
            <a:r>
              <a:rPr lang="en-IN" sz="2000" dirty="0"/>
              <a:t>i : </a:t>
            </a:r>
            <a:r>
              <a:rPr lang="en-IN" sz="2000" dirty="0" err="1"/>
              <a:t>ia</a:t>
            </a:r>
            <a:r>
              <a:rPr lang="en-IN" sz="2000" dirty="0"/>
              <a:t>) sum += i;</a:t>
            </a:r>
          </a:p>
          <a:p>
            <a:pPr lvl="1"/>
            <a:r>
              <a:rPr lang="en-IN" sz="2000" dirty="0" err="1"/>
              <a:t>System.out.println</a:t>
            </a:r>
            <a:r>
              <a:rPr lang="en-IN" sz="2000" dirty="0"/>
              <a:t>("Sum is: " + sum);</a:t>
            </a:r>
          </a:p>
          <a:p>
            <a:pPr lvl="1"/>
            <a:r>
              <a:rPr lang="en-IN" sz="2000" dirty="0"/>
              <a:t>}</a:t>
            </a:r>
          </a:p>
          <a:p>
            <a:r>
              <a:rPr lang="en-IN" sz="2000" dirty="0"/>
              <a:t>}</a:t>
            </a:r>
          </a:p>
          <a:p>
            <a:r>
              <a:rPr lang="en-IN" sz="2000" dirty="0"/>
              <a:t>The output from the program is shown here:</a:t>
            </a:r>
          </a:p>
          <a:p>
            <a:pPr lvl="2"/>
            <a:r>
              <a:rPr lang="en-IN" sz="2000" b="1" dirty="0"/>
              <a:t>Contents of al: [1, 2, 3, 4]</a:t>
            </a:r>
          </a:p>
          <a:p>
            <a:pPr lvl="2"/>
            <a:r>
              <a:rPr lang="en-IN" sz="2000" b="1" dirty="0"/>
              <a:t>Sum is: 10</a:t>
            </a:r>
          </a:p>
        </p:txBody>
      </p:sp>
    </p:spTree>
    <p:extLst>
      <p:ext uri="{BB962C8B-B14F-4D97-AF65-F5344CB8AC3E}">
        <p14:creationId xmlns:p14="http://schemas.microsoft.com/office/powerpoint/2010/main" val="356555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LINKEDLIST CLASS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914400"/>
            <a:ext cx="8534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/>
              <a:t>LinkedList</a:t>
            </a:r>
            <a:r>
              <a:rPr lang="en-US" sz="2400" dirty="0"/>
              <a:t> implements the </a:t>
            </a:r>
            <a:r>
              <a:rPr lang="en-US" sz="2400" b="1" dirty="0" smtClean="0"/>
              <a:t>List, </a:t>
            </a:r>
            <a:r>
              <a:rPr lang="en-US" sz="2400" b="1" dirty="0" err="1" smtClean="0"/>
              <a:t>Deque</a:t>
            </a:r>
            <a:r>
              <a:rPr lang="en-US" sz="2400" b="1" dirty="0" smtClean="0"/>
              <a:t> and Queue </a:t>
            </a:r>
            <a:r>
              <a:rPr lang="en-US" sz="2400" dirty="0" smtClean="0"/>
              <a:t>interfaces.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It uses a doubly linked list internally to store the elements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It can store the duplicate elements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It maintains the insertion order and is not synchronized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In </a:t>
            </a:r>
            <a:r>
              <a:rPr lang="en-US" sz="2400" dirty="0" err="1"/>
              <a:t>LinkedList</a:t>
            </a:r>
            <a:r>
              <a:rPr lang="en-US" sz="2400" dirty="0"/>
              <a:t>, the manipulation is fast because no shifting is required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It provides two constructors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 err="1" smtClean="0"/>
              <a:t>LinkedList</a:t>
            </a:r>
            <a:r>
              <a:rPr lang="en-IN" sz="2400" dirty="0"/>
              <a:t>( ) </a:t>
            </a:r>
            <a:endParaRPr lang="en-IN" sz="2400" dirty="0" smtClean="0"/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 err="1" smtClean="0"/>
              <a:t>LinkedList</a:t>
            </a:r>
            <a:r>
              <a:rPr lang="en-IN" sz="2400" dirty="0" smtClean="0"/>
              <a:t>(Collection  c</a:t>
            </a:r>
            <a:r>
              <a:rPr lang="en-IN" sz="2400" dirty="0"/>
              <a:t>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0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LINKEDLIST EXAMPLE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57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914400"/>
            <a:ext cx="90678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import</a:t>
            </a:r>
            <a:r>
              <a:rPr lang="en-US" sz="2400" dirty="0" smtClean="0"/>
              <a:t> </a:t>
            </a:r>
            <a:r>
              <a:rPr lang="en-US" sz="2400" dirty="0" err="1" smtClean="0"/>
              <a:t>java.util</a:t>
            </a:r>
            <a:r>
              <a:rPr lang="en-US" sz="2400" dirty="0" smtClean="0"/>
              <a:t>.*;  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 </a:t>
            </a:r>
            <a:r>
              <a:rPr lang="en-US" sz="2400" b="1" dirty="0" smtClean="0"/>
              <a:t>class</a:t>
            </a:r>
            <a:r>
              <a:rPr lang="en-US" sz="2400" dirty="0" smtClean="0"/>
              <a:t> TestJavaCollection2{  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 </a:t>
            </a:r>
            <a:r>
              <a:rPr lang="en-US" sz="2400" b="1" dirty="0" smtClean="0"/>
              <a:t>static</a:t>
            </a:r>
            <a:r>
              <a:rPr lang="en-US" sz="2400" dirty="0" smtClean="0"/>
              <a:t> </a:t>
            </a:r>
            <a:r>
              <a:rPr lang="en-US" sz="2400" b="1" dirty="0" smtClean="0"/>
              <a:t>void</a:t>
            </a:r>
            <a:r>
              <a:rPr lang="en-US" sz="2400" dirty="0" smtClean="0"/>
              <a:t> main(String </a:t>
            </a:r>
            <a:r>
              <a:rPr lang="en-US" sz="2400" dirty="0" err="1" smtClean="0"/>
              <a:t>args</a:t>
            </a:r>
            <a:r>
              <a:rPr lang="en-US" sz="2400" dirty="0" smtClean="0"/>
              <a:t>[]){  </a:t>
            </a:r>
          </a:p>
          <a:p>
            <a:r>
              <a:rPr lang="en-US" sz="2400" dirty="0" err="1" smtClean="0"/>
              <a:t>LinkedList</a:t>
            </a:r>
            <a:r>
              <a:rPr lang="en-US" sz="2400" dirty="0" smtClean="0"/>
              <a:t>&lt;String&gt; al=</a:t>
            </a:r>
            <a:r>
              <a:rPr lang="en-US" sz="2400" b="1" dirty="0" smtClean="0"/>
              <a:t>new</a:t>
            </a:r>
            <a:r>
              <a:rPr lang="en-US" sz="2400" dirty="0" smtClean="0"/>
              <a:t> </a:t>
            </a:r>
            <a:r>
              <a:rPr lang="en-US" sz="2400" dirty="0" err="1" smtClean="0"/>
              <a:t>LinkedList</a:t>
            </a:r>
            <a:r>
              <a:rPr lang="en-US" sz="2400" dirty="0" smtClean="0"/>
              <a:t>&lt;String&gt;(); //Creating </a:t>
            </a:r>
            <a:r>
              <a:rPr lang="en-US" sz="2400" dirty="0" err="1" smtClean="0"/>
              <a:t>LinkedList</a:t>
            </a:r>
            <a:r>
              <a:rPr lang="en-US" sz="2400" dirty="0" smtClean="0"/>
              <a:t> </a:t>
            </a:r>
          </a:p>
          <a:p>
            <a:r>
              <a:rPr lang="en-US" sz="2400" dirty="0" err="1" smtClean="0"/>
              <a:t>al.add</a:t>
            </a:r>
            <a:r>
              <a:rPr lang="en-US" sz="2400" dirty="0" smtClean="0"/>
              <a:t>("Ravi");  //adding elements to the List</a:t>
            </a:r>
          </a:p>
          <a:p>
            <a:r>
              <a:rPr lang="en-US" sz="2400" dirty="0" err="1" smtClean="0"/>
              <a:t>al.add</a:t>
            </a:r>
            <a:r>
              <a:rPr lang="en-US" sz="2400" dirty="0" smtClean="0"/>
              <a:t>("Vijay");  </a:t>
            </a:r>
          </a:p>
          <a:p>
            <a:r>
              <a:rPr lang="en-US" sz="2400" dirty="0" err="1" smtClean="0"/>
              <a:t>al.add</a:t>
            </a:r>
            <a:r>
              <a:rPr lang="en-US" sz="2400" dirty="0" smtClean="0"/>
              <a:t>("Ravi");  </a:t>
            </a:r>
          </a:p>
          <a:p>
            <a:r>
              <a:rPr lang="en-US" sz="2400" dirty="0" err="1" smtClean="0"/>
              <a:t>al.add</a:t>
            </a:r>
            <a:r>
              <a:rPr lang="en-US" sz="2400" dirty="0" smtClean="0"/>
              <a:t>("Ajay");  </a:t>
            </a:r>
          </a:p>
          <a:p>
            <a:r>
              <a:rPr lang="en-US" sz="2400" dirty="0" err="1" smtClean="0"/>
              <a:t>Iterator</a:t>
            </a:r>
            <a:r>
              <a:rPr lang="en-US" sz="2400" dirty="0" smtClean="0"/>
              <a:t>&lt;String&gt; </a:t>
            </a:r>
            <a:r>
              <a:rPr lang="en-US" sz="2400" dirty="0" err="1" smtClean="0"/>
              <a:t>itr</a:t>
            </a:r>
            <a:r>
              <a:rPr lang="en-US" sz="2400" dirty="0" smtClean="0"/>
              <a:t>=</a:t>
            </a:r>
            <a:r>
              <a:rPr lang="en-US" sz="2400" dirty="0" err="1" smtClean="0"/>
              <a:t>al.iterator</a:t>
            </a:r>
            <a:r>
              <a:rPr lang="en-US" sz="2400" dirty="0" smtClean="0"/>
              <a:t>();  </a:t>
            </a:r>
          </a:p>
          <a:p>
            <a:r>
              <a:rPr lang="en-US" sz="2400" b="1" dirty="0" smtClean="0"/>
              <a:t>while</a:t>
            </a:r>
            <a:r>
              <a:rPr lang="en-US" sz="2400" dirty="0" smtClean="0"/>
              <a:t>(</a:t>
            </a:r>
            <a:r>
              <a:rPr lang="en-US" sz="2400" dirty="0" err="1" smtClean="0"/>
              <a:t>itr.hasNext</a:t>
            </a:r>
            <a:r>
              <a:rPr lang="en-US" sz="2400" dirty="0" smtClean="0"/>
              <a:t>()){  </a:t>
            </a:r>
          </a:p>
          <a:p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itr.next</a:t>
            </a:r>
            <a:r>
              <a:rPr lang="en-US" sz="2400" dirty="0" smtClean="0"/>
              <a:t>());  </a:t>
            </a:r>
          </a:p>
          <a:p>
            <a:r>
              <a:rPr lang="en-US" sz="2400" dirty="0" smtClean="0"/>
              <a:t>}  </a:t>
            </a:r>
          </a:p>
          <a:p>
            <a:r>
              <a:rPr lang="en-US" sz="2400" dirty="0" err="1" smtClean="0"/>
              <a:t>al.remove</a:t>
            </a:r>
            <a:r>
              <a:rPr lang="en-US" sz="2400" dirty="0" smtClean="0"/>
              <a:t>(2);</a:t>
            </a:r>
          </a:p>
          <a:p>
            <a:r>
              <a:rPr lang="en-US" sz="2400" dirty="0" err="1"/>
              <a:t>System.out.println</a:t>
            </a:r>
            <a:r>
              <a:rPr lang="en-US" sz="2400" dirty="0" smtClean="0"/>
              <a:t>(“list:”+ al);</a:t>
            </a:r>
          </a:p>
          <a:p>
            <a:r>
              <a:rPr lang="en-US" sz="2400" dirty="0" smtClean="0"/>
              <a:t>}  </a:t>
            </a:r>
          </a:p>
          <a:p>
            <a:r>
              <a:rPr lang="en-US" sz="2400" dirty="0" smtClean="0"/>
              <a:t>}  </a:t>
            </a:r>
          </a:p>
          <a:p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5486400" y="4572000"/>
            <a:ext cx="3124200" cy="259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Ravi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Vijay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Ravi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Ajay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List: [Ravi, Vijay, Ajay]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54075" y="44958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Output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HASHSET CLASS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762000"/>
            <a:ext cx="8534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err="1"/>
              <a:t>HashSet</a:t>
            </a:r>
            <a:r>
              <a:rPr lang="en-US" sz="2400" dirty="0"/>
              <a:t> </a:t>
            </a:r>
            <a:r>
              <a:rPr lang="en-US" sz="2400" dirty="0" smtClean="0"/>
              <a:t>class extends </a:t>
            </a:r>
            <a:r>
              <a:rPr lang="en-US" sz="2400" b="1" dirty="0" err="1" smtClean="0"/>
              <a:t>AbstractSet</a:t>
            </a:r>
            <a:r>
              <a:rPr lang="en-US" sz="2400" dirty="0" smtClean="0"/>
              <a:t> class and  </a:t>
            </a:r>
            <a:r>
              <a:rPr lang="en-US" sz="2400" dirty="0"/>
              <a:t>implements </a:t>
            </a:r>
            <a:r>
              <a:rPr lang="en-US" sz="2400" b="1" dirty="0"/>
              <a:t>Set</a:t>
            </a:r>
            <a:r>
              <a:rPr lang="en-US" sz="2400" dirty="0"/>
              <a:t> Interface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It represents the collection that uses a hash table for storage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Hashing is used to store the elements in the </a:t>
            </a:r>
            <a:r>
              <a:rPr lang="en-US" sz="2400" dirty="0" err="1"/>
              <a:t>HashSet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In hashing, the informational content of a key is used to determine a unique value, called its </a:t>
            </a:r>
            <a:r>
              <a:rPr lang="en-US" sz="2400" b="1" dirty="0"/>
              <a:t>hash code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It </a:t>
            </a:r>
            <a:r>
              <a:rPr lang="en-US" sz="2400" dirty="0"/>
              <a:t>contains unique items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Constructors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400" dirty="0" err="1"/>
              <a:t>HashSet</a:t>
            </a:r>
            <a:r>
              <a:rPr lang="en-US" sz="2400" dirty="0"/>
              <a:t>( ) </a:t>
            </a:r>
            <a:r>
              <a:rPr lang="en-US" sz="2400" dirty="0" smtClean="0"/>
              <a:t>           // </a:t>
            </a:r>
            <a:r>
              <a:rPr lang="en-US" sz="2400" dirty="0"/>
              <a:t>capacity 16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400" dirty="0" err="1" smtClean="0"/>
              <a:t>HashSet</a:t>
            </a:r>
            <a:r>
              <a:rPr lang="en-US" sz="2400" dirty="0" smtClean="0"/>
              <a:t>(Collection </a:t>
            </a:r>
            <a:r>
              <a:rPr lang="en-US" sz="2400" dirty="0"/>
              <a:t>c</a:t>
            </a:r>
            <a:r>
              <a:rPr lang="en-US" sz="2400" dirty="0" smtClean="0"/>
              <a:t>)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err="1"/>
              <a:t>HashSet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capacity) </a:t>
            </a:r>
            <a:endParaRPr lang="en-US" sz="2400" dirty="0" smtClean="0"/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400" dirty="0" err="1" smtClean="0"/>
              <a:t>HashSet</a:t>
            </a:r>
            <a:r>
              <a:rPr lang="en-US" sz="2400" dirty="0" smtClean="0"/>
              <a:t>(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/>
              <a:t>capacity, float </a:t>
            </a:r>
            <a:r>
              <a:rPr lang="en-US" sz="2400" dirty="0" err="1"/>
              <a:t>fillRatio</a:t>
            </a:r>
            <a:r>
              <a:rPr lang="en-US" sz="24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0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HASHSET EXAMPLE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57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914400"/>
            <a:ext cx="90678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import</a:t>
            </a:r>
            <a:r>
              <a:rPr lang="en-US" sz="2400" dirty="0"/>
              <a:t> </a:t>
            </a:r>
            <a:r>
              <a:rPr lang="en-US" sz="2400" dirty="0" err="1"/>
              <a:t>java.util</a:t>
            </a:r>
            <a:r>
              <a:rPr lang="en-US" sz="2400" dirty="0"/>
              <a:t>.*;  </a:t>
            </a:r>
          </a:p>
          <a:p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/>
              <a:t>class</a:t>
            </a:r>
            <a:r>
              <a:rPr lang="en-US" sz="2400" dirty="0"/>
              <a:t> </a:t>
            </a:r>
            <a:r>
              <a:rPr lang="en-US" sz="2400" dirty="0" err="1" smtClean="0"/>
              <a:t>TestJavaCollection</a:t>
            </a:r>
            <a:r>
              <a:rPr lang="en-US" sz="2400" dirty="0" smtClean="0"/>
              <a:t>{</a:t>
            </a:r>
            <a:r>
              <a:rPr lang="en-US" sz="2400" dirty="0"/>
              <a:t>  </a:t>
            </a:r>
          </a:p>
          <a:p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/>
              <a:t>static</a:t>
            </a:r>
            <a:r>
              <a:rPr lang="en-US" sz="2400" dirty="0"/>
              <a:t> </a:t>
            </a:r>
            <a:r>
              <a:rPr lang="en-US" sz="2400" b="1" dirty="0"/>
              <a:t>void</a:t>
            </a:r>
            <a:r>
              <a:rPr lang="en-US" sz="2400" dirty="0"/>
              <a:t> main(String </a:t>
            </a:r>
            <a:r>
              <a:rPr lang="en-US" sz="2400" dirty="0" err="1"/>
              <a:t>args</a:t>
            </a:r>
            <a:r>
              <a:rPr lang="en-US" sz="2400" dirty="0"/>
              <a:t>[]){  </a:t>
            </a:r>
          </a:p>
          <a:p>
            <a:r>
              <a:rPr lang="en-US" sz="2400" dirty="0"/>
              <a:t>//Creating </a:t>
            </a:r>
            <a:r>
              <a:rPr lang="en-US" sz="2400" dirty="0" err="1"/>
              <a:t>HashSet</a:t>
            </a:r>
            <a:r>
              <a:rPr lang="en-US" sz="2400" dirty="0"/>
              <a:t> and adding elements  </a:t>
            </a:r>
          </a:p>
          <a:p>
            <a:r>
              <a:rPr lang="en-US" sz="2400" dirty="0" err="1"/>
              <a:t>HashSet</a:t>
            </a:r>
            <a:r>
              <a:rPr lang="en-US" sz="2400" dirty="0"/>
              <a:t>&lt;String&gt; set=</a:t>
            </a:r>
            <a:r>
              <a:rPr lang="en-US" sz="2400" b="1" dirty="0"/>
              <a:t>new</a:t>
            </a:r>
            <a:r>
              <a:rPr lang="en-US" sz="2400" dirty="0"/>
              <a:t> </a:t>
            </a:r>
            <a:r>
              <a:rPr lang="en-US" sz="2400" dirty="0" err="1"/>
              <a:t>HashSet</a:t>
            </a:r>
            <a:r>
              <a:rPr lang="en-US" sz="2400" dirty="0"/>
              <a:t>&lt;String&gt;();  </a:t>
            </a:r>
          </a:p>
          <a:p>
            <a:r>
              <a:rPr lang="en-US" sz="2400" dirty="0" err="1" smtClean="0"/>
              <a:t>set.add</a:t>
            </a:r>
            <a:r>
              <a:rPr lang="en-US" sz="2400" dirty="0"/>
              <a:t>("Vijay");  </a:t>
            </a:r>
          </a:p>
          <a:p>
            <a:r>
              <a:rPr lang="en-US" sz="2400" dirty="0" err="1"/>
              <a:t>set.add</a:t>
            </a:r>
            <a:r>
              <a:rPr lang="en-US" sz="2400" dirty="0"/>
              <a:t>("Ravi");  </a:t>
            </a:r>
          </a:p>
          <a:p>
            <a:r>
              <a:rPr lang="en-US" sz="2400" dirty="0" err="1"/>
              <a:t>set.add</a:t>
            </a:r>
            <a:r>
              <a:rPr lang="en-US" sz="2400" dirty="0"/>
              <a:t>("Ajay");  </a:t>
            </a:r>
            <a:endParaRPr lang="en-US" sz="2400" dirty="0" smtClean="0"/>
          </a:p>
          <a:p>
            <a:r>
              <a:rPr lang="en-US" sz="2400" dirty="0" err="1"/>
              <a:t>set.add</a:t>
            </a:r>
            <a:r>
              <a:rPr lang="en-US" sz="2400" dirty="0"/>
              <a:t>("Ravi"); </a:t>
            </a:r>
          </a:p>
          <a:p>
            <a:r>
              <a:rPr lang="en-US" sz="2400" dirty="0"/>
              <a:t>//Traversing elements  </a:t>
            </a:r>
          </a:p>
          <a:p>
            <a:r>
              <a:rPr lang="en-US" sz="2400" dirty="0" err="1"/>
              <a:t>Iterator</a:t>
            </a:r>
            <a:r>
              <a:rPr lang="en-US" sz="2400" dirty="0"/>
              <a:t>&lt;String&gt; </a:t>
            </a:r>
            <a:r>
              <a:rPr lang="en-US" sz="2400" dirty="0" err="1"/>
              <a:t>itr</a:t>
            </a:r>
            <a:r>
              <a:rPr lang="en-US" sz="2400" dirty="0"/>
              <a:t>=</a:t>
            </a:r>
            <a:r>
              <a:rPr lang="en-US" sz="2400" dirty="0" err="1"/>
              <a:t>set.iterator</a:t>
            </a:r>
            <a:r>
              <a:rPr lang="en-US" sz="2400" dirty="0"/>
              <a:t>();  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(</a:t>
            </a:r>
            <a:r>
              <a:rPr lang="en-US" sz="2400" dirty="0" err="1"/>
              <a:t>itr.hasNext</a:t>
            </a:r>
            <a:r>
              <a:rPr lang="en-US" sz="2400" dirty="0"/>
              <a:t>()){  </a:t>
            </a:r>
          </a:p>
          <a:p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itr.next</a:t>
            </a:r>
            <a:r>
              <a:rPr lang="en-US" sz="2400" dirty="0"/>
              <a:t>());  </a:t>
            </a:r>
          </a:p>
          <a:p>
            <a:r>
              <a:rPr lang="en-US" sz="2400" dirty="0"/>
              <a:t>}  </a:t>
            </a:r>
            <a:endParaRPr lang="en-US" sz="2400" dirty="0" smtClean="0"/>
          </a:p>
          <a:p>
            <a:r>
              <a:rPr lang="en-US" sz="2400" dirty="0" err="1" smtClean="0"/>
              <a:t>System.out.println</a:t>
            </a:r>
            <a:r>
              <a:rPr lang="en-US" sz="2400" dirty="0" smtClean="0"/>
              <a:t>(set);</a:t>
            </a:r>
            <a:endParaRPr lang="en-US" sz="2400" dirty="0"/>
          </a:p>
          <a:p>
            <a:r>
              <a:rPr lang="en-US" sz="2400" dirty="0"/>
              <a:t>}  </a:t>
            </a:r>
          </a:p>
          <a:p>
            <a:r>
              <a:rPr lang="en-US" sz="2400" dirty="0"/>
              <a:t>}  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5486400" y="4572000"/>
            <a:ext cx="2286000" cy="220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 smtClean="0">
              <a:solidFill>
                <a:schemeClr val="tx1"/>
              </a:solidFill>
            </a:endParaRP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Vijay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Ravi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Ajay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[Vijay, Ravi, Ajay]</a:t>
            </a:r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54075" y="4495800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TREESET CLASS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1143000"/>
            <a:ext cx="8534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err="1"/>
              <a:t>TreeSet</a:t>
            </a:r>
            <a:r>
              <a:rPr lang="en-US" sz="2400" dirty="0"/>
              <a:t> extends </a:t>
            </a:r>
            <a:r>
              <a:rPr lang="en-US" sz="2400" b="1" dirty="0" err="1"/>
              <a:t>AbstractSet</a:t>
            </a:r>
            <a:r>
              <a:rPr lang="en-US" sz="2400" dirty="0"/>
              <a:t> and implements the </a:t>
            </a:r>
            <a:r>
              <a:rPr lang="en-US" sz="2400" b="1" dirty="0" err="1"/>
              <a:t>NavigableSet</a:t>
            </a:r>
            <a:r>
              <a:rPr lang="en-US" sz="2400" dirty="0"/>
              <a:t> interface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Java </a:t>
            </a:r>
            <a:r>
              <a:rPr lang="en-US" sz="2400" dirty="0" err="1"/>
              <a:t>TreeSet</a:t>
            </a:r>
            <a:r>
              <a:rPr lang="en-US" sz="2400" dirty="0"/>
              <a:t> class implements the Set interface that uses a tree for storage. 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Like </a:t>
            </a:r>
            <a:r>
              <a:rPr lang="en-US" sz="2400" dirty="0" err="1"/>
              <a:t>HashSet</a:t>
            </a:r>
            <a:r>
              <a:rPr lang="en-US" sz="2400" dirty="0"/>
              <a:t>, </a:t>
            </a:r>
            <a:r>
              <a:rPr lang="en-US" sz="2400" dirty="0" err="1"/>
              <a:t>TreeSet</a:t>
            </a:r>
            <a:r>
              <a:rPr lang="en-US" sz="2400" dirty="0"/>
              <a:t> also contains unique elements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access and retrieval time of </a:t>
            </a:r>
            <a:r>
              <a:rPr lang="en-US" sz="2400" dirty="0" err="1"/>
              <a:t>TreeSet</a:t>
            </a:r>
            <a:r>
              <a:rPr lang="en-US" sz="2400" dirty="0"/>
              <a:t> is quite fast. 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elements in </a:t>
            </a:r>
            <a:r>
              <a:rPr lang="en-US" sz="2400" dirty="0" err="1"/>
              <a:t>TreeSet</a:t>
            </a:r>
            <a:r>
              <a:rPr lang="en-US" sz="2400" dirty="0"/>
              <a:t> stored in ascending order.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0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TREESET EXAMPLE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57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914400"/>
            <a:ext cx="9067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import </a:t>
            </a:r>
            <a:r>
              <a:rPr lang="en-US" sz="2400" b="1" dirty="0" err="1"/>
              <a:t>java.util</a:t>
            </a:r>
            <a:r>
              <a:rPr lang="en-US" sz="2400" b="1" dirty="0"/>
              <a:t>.*;</a:t>
            </a:r>
          </a:p>
          <a:p>
            <a:r>
              <a:rPr lang="en-US" sz="2400" b="1" dirty="0"/>
              <a:t>class </a:t>
            </a:r>
            <a:r>
              <a:rPr lang="en-US" sz="2400" b="1" dirty="0" err="1"/>
              <a:t>TreeSetDemo</a:t>
            </a:r>
            <a:r>
              <a:rPr lang="en-US" sz="2400" b="1" dirty="0"/>
              <a:t> {</a:t>
            </a:r>
          </a:p>
          <a:p>
            <a:r>
              <a:rPr lang="en-US" sz="2400" b="1" dirty="0"/>
              <a:t>public static void main(String </a:t>
            </a:r>
            <a:r>
              <a:rPr lang="en-US" sz="2400" b="1" dirty="0" err="1"/>
              <a:t>args</a:t>
            </a:r>
            <a:r>
              <a:rPr lang="en-US" sz="2400" b="1" dirty="0"/>
              <a:t>[]) {</a:t>
            </a:r>
          </a:p>
          <a:p>
            <a:r>
              <a:rPr lang="en-US" sz="2400" b="1" dirty="0"/>
              <a:t>// Create a tree set.</a:t>
            </a:r>
          </a:p>
          <a:p>
            <a:r>
              <a:rPr lang="en-US" sz="2400" b="1" dirty="0" err="1"/>
              <a:t>TreeSet</a:t>
            </a:r>
            <a:r>
              <a:rPr lang="en-US" sz="2400" b="1" dirty="0"/>
              <a:t>&lt;String&gt; </a:t>
            </a:r>
            <a:r>
              <a:rPr lang="en-US" sz="2400" b="1" dirty="0" err="1"/>
              <a:t>ts</a:t>
            </a:r>
            <a:r>
              <a:rPr lang="en-US" sz="2400" b="1" dirty="0"/>
              <a:t> = new </a:t>
            </a:r>
            <a:r>
              <a:rPr lang="en-US" sz="2400" b="1" dirty="0" err="1"/>
              <a:t>TreeSet</a:t>
            </a:r>
            <a:r>
              <a:rPr lang="en-US" sz="2400" b="1" dirty="0"/>
              <a:t>&lt;String&gt;();</a:t>
            </a:r>
          </a:p>
          <a:p>
            <a:r>
              <a:rPr lang="en-US" sz="2400" b="1" dirty="0"/>
              <a:t>// Add elements to the tree set.</a:t>
            </a:r>
          </a:p>
          <a:p>
            <a:r>
              <a:rPr lang="en-US" sz="2400" b="1" dirty="0" err="1"/>
              <a:t>ts.add</a:t>
            </a:r>
            <a:r>
              <a:rPr lang="en-US" sz="2400" b="1" dirty="0"/>
              <a:t>("C");</a:t>
            </a:r>
          </a:p>
          <a:p>
            <a:r>
              <a:rPr lang="en-US" sz="2400" b="1" dirty="0" err="1"/>
              <a:t>ts.add</a:t>
            </a:r>
            <a:r>
              <a:rPr lang="en-US" sz="2400" b="1" dirty="0"/>
              <a:t>("A");</a:t>
            </a:r>
          </a:p>
          <a:p>
            <a:r>
              <a:rPr lang="en-US" sz="2400" b="1" dirty="0" err="1"/>
              <a:t>ts.add</a:t>
            </a:r>
            <a:r>
              <a:rPr lang="en-US" sz="2400" b="1" dirty="0"/>
              <a:t>("B");</a:t>
            </a:r>
          </a:p>
          <a:p>
            <a:r>
              <a:rPr lang="en-US" sz="2400" b="1" dirty="0" err="1"/>
              <a:t>ts.add</a:t>
            </a:r>
            <a:r>
              <a:rPr lang="en-US" sz="2400" b="1" dirty="0"/>
              <a:t>("E");</a:t>
            </a:r>
          </a:p>
          <a:p>
            <a:r>
              <a:rPr lang="en-US" sz="2400" b="1" dirty="0" err="1"/>
              <a:t>ts.add</a:t>
            </a:r>
            <a:r>
              <a:rPr lang="en-US" sz="2400" b="1" dirty="0"/>
              <a:t>("F");</a:t>
            </a:r>
          </a:p>
          <a:p>
            <a:r>
              <a:rPr lang="en-US" sz="2400" b="1" dirty="0" err="1"/>
              <a:t>ts.add</a:t>
            </a:r>
            <a:r>
              <a:rPr lang="en-US" sz="2400" b="1" dirty="0"/>
              <a:t>("D");</a:t>
            </a:r>
          </a:p>
          <a:p>
            <a:r>
              <a:rPr lang="en-US" sz="2400" b="1" dirty="0" err="1"/>
              <a:t>System.out.println</a:t>
            </a:r>
            <a:r>
              <a:rPr lang="en-US" sz="2400" b="1" dirty="0"/>
              <a:t>(</a:t>
            </a:r>
            <a:r>
              <a:rPr lang="en-US" sz="2400" b="1" dirty="0" err="1"/>
              <a:t>ts</a:t>
            </a:r>
            <a:r>
              <a:rPr lang="en-US" sz="2400" b="1" dirty="0"/>
              <a:t>);</a:t>
            </a:r>
          </a:p>
          <a:p>
            <a:r>
              <a:rPr lang="en-US" sz="2400" b="1" dirty="0"/>
              <a:t>}</a:t>
            </a:r>
          </a:p>
          <a:p>
            <a:r>
              <a:rPr lang="en-US" sz="2400" b="1" dirty="0"/>
              <a:t>}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154074" y="4495800"/>
            <a:ext cx="230412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</a:t>
            </a:r>
          </a:p>
          <a:p>
            <a:r>
              <a:rPr lang="pt-BR" dirty="0"/>
              <a:t>[A, B, C, D, E, F]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1"/>
            <a:ext cx="7772400" cy="6045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PRIORITY QUEUE CLASS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914400"/>
            <a:ext cx="8534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The </a:t>
            </a:r>
            <a:r>
              <a:rPr lang="en-US" sz="2400" dirty="0" err="1"/>
              <a:t>PriorityQueue</a:t>
            </a:r>
            <a:r>
              <a:rPr lang="en-US" sz="2400" dirty="0"/>
              <a:t> class provides the facility of using queue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It </a:t>
            </a:r>
            <a:r>
              <a:rPr lang="en-US" sz="2400" dirty="0"/>
              <a:t>inherits </a:t>
            </a:r>
            <a:r>
              <a:rPr lang="en-US" sz="2400" b="1" dirty="0" err="1"/>
              <a:t>AbstractQueue</a:t>
            </a:r>
            <a:r>
              <a:rPr lang="en-US" sz="2400" dirty="0"/>
              <a:t> class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By default the values are stored in ascending order.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elements of the priority queue are ordered according to the natural ordering, or by a Comparator provided at queue construction </a:t>
            </a:r>
            <a:r>
              <a:rPr lang="en-US" sz="2400" dirty="0" smtClean="0"/>
              <a:t>time</a:t>
            </a:r>
          </a:p>
          <a:p>
            <a:pPr lvl="2">
              <a:buFont typeface="Wingdings" pitchFamily="2" charset="2"/>
              <a:buChar char="Ø"/>
            </a:pPr>
            <a:r>
              <a:rPr lang="en-US" sz="2400" dirty="0" err="1"/>
              <a:t>PriorityQueue</a:t>
            </a:r>
            <a:r>
              <a:rPr lang="en-US" sz="2400" dirty="0"/>
              <a:t>( </a:t>
            </a:r>
            <a:r>
              <a:rPr lang="en-US" sz="2400" dirty="0" smtClean="0"/>
              <a:t>) 		</a:t>
            </a:r>
            <a:r>
              <a:rPr lang="en-US" sz="2400" dirty="0" smtClean="0">
                <a:solidFill>
                  <a:srgbClr val="FF0000"/>
                </a:solidFill>
              </a:rPr>
              <a:t>//capacity 11</a:t>
            </a:r>
            <a:endParaRPr lang="en-US" sz="2400" dirty="0">
              <a:solidFill>
                <a:srgbClr val="FF0000"/>
              </a:solidFill>
            </a:endParaRPr>
          </a:p>
          <a:p>
            <a:pPr lvl="2">
              <a:buFont typeface="Wingdings" pitchFamily="2" charset="2"/>
              <a:buChar char="Ø"/>
            </a:pPr>
            <a:r>
              <a:rPr lang="en-US" sz="2400" dirty="0" err="1"/>
              <a:t>PriorityQueue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capacity)</a:t>
            </a:r>
          </a:p>
          <a:p>
            <a:pPr lvl="2">
              <a:buFont typeface="Wingdings" pitchFamily="2" charset="2"/>
              <a:buChar char="Ø"/>
            </a:pPr>
            <a:r>
              <a:rPr lang="en-US" sz="2400" dirty="0" err="1"/>
              <a:t>PriorityQueue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capacity, </a:t>
            </a:r>
            <a:r>
              <a:rPr lang="en-US" sz="2400" dirty="0" smtClean="0"/>
              <a:t>Comparator  </a:t>
            </a:r>
            <a:r>
              <a:rPr lang="en-US" sz="2400" dirty="0"/>
              <a:t>comp)</a:t>
            </a:r>
          </a:p>
          <a:p>
            <a:pPr lvl="2">
              <a:buFont typeface="Wingdings" pitchFamily="2" charset="2"/>
              <a:buChar char="Ø"/>
            </a:pPr>
            <a:r>
              <a:rPr lang="en-US" sz="2400" dirty="0" err="1" smtClean="0"/>
              <a:t>PriorityQueue</a:t>
            </a:r>
            <a:r>
              <a:rPr lang="en-US" sz="2400" dirty="0" smtClean="0"/>
              <a:t>(Collection c</a:t>
            </a:r>
            <a:r>
              <a:rPr lang="en-US" sz="2400" dirty="0"/>
              <a:t>)</a:t>
            </a:r>
          </a:p>
          <a:p>
            <a:pPr lvl="2">
              <a:buFont typeface="Wingdings" pitchFamily="2" charset="2"/>
              <a:buChar char="Ø"/>
            </a:pPr>
            <a:r>
              <a:rPr lang="en-US" sz="2400" dirty="0" err="1" smtClean="0"/>
              <a:t>PriorityQueue</a:t>
            </a:r>
            <a:r>
              <a:rPr lang="en-US" sz="2400" dirty="0" smtClean="0"/>
              <a:t>(</a:t>
            </a:r>
            <a:r>
              <a:rPr lang="en-US" sz="2400" dirty="0" err="1" smtClean="0"/>
              <a:t>PriorityQueue</a:t>
            </a:r>
            <a:r>
              <a:rPr lang="en-US" sz="2400" dirty="0" smtClean="0"/>
              <a:t>  c</a:t>
            </a:r>
            <a:r>
              <a:rPr lang="en-US" sz="2400" dirty="0"/>
              <a:t>)</a:t>
            </a:r>
          </a:p>
          <a:p>
            <a:pPr lvl="2">
              <a:buFont typeface="Wingdings" pitchFamily="2" charset="2"/>
              <a:buChar char="Ø"/>
            </a:pPr>
            <a:r>
              <a:rPr lang="en-US" sz="2400" dirty="0" err="1" smtClean="0"/>
              <a:t>PriorityQueue</a:t>
            </a:r>
            <a:r>
              <a:rPr lang="en-US" sz="2400" dirty="0" smtClean="0"/>
              <a:t>(</a:t>
            </a:r>
            <a:r>
              <a:rPr lang="en-US" sz="2400" dirty="0" err="1" smtClean="0"/>
              <a:t>SortedSet</a:t>
            </a:r>
            <a:r>
              <a:rPr lang="en-US" sz="2400" dirty="0" smtClean="0"/>
              <a:t>  c</a:t>
            </a:r>
            <a:r>
              <a:rPr lang="en-US" sz="24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152400"/>
            <a:ext cx="75438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import </a:t>
            </a:r>
            <a:r>
              <a:rPr lang="en-US" sz="2000" dirty="0" err="1"/>
              <a:t>java.util.PriorityQueue</a:t>
            </a:r>
            <a:r>
              <a:rPr lang="en-US" sz="2000" dirty="0"/>
              <a:t>;</a:t>
            </a:r>
          </a:p>
          <a:p>
            <a:endParaRPr lang="en-US" sz="2000" dirty="0"/>
          </a:p>
          <a:p>
            <a:r>
              <a:rPr lang="en-US" sz="2000" dirty="0"/>
              <a:t>class Main {</a:t>
            </a:r>
          </a:p>
          <a:p>
            <a:r>
              <a:rPr lang="en-US" sz="2000" dirty="0"/>
              <a:t>  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</a:p>
          <a:p>
            <a:endParaRPr lang="en-US" sz="2000" dirty="0"/>
          </a:p>
          <a:p>
            <a:r>
              <a:rPr lang="en-US" sz="2000" dirty="0"/>
              <a:t>        // Creating a priority queue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PriorityQueue</a:t>
            </a:r>
            <a:r>
              <a:rPr lang="en-US" sz="2000" dirty="0"/>
              <a:t>&lt;Integer&gt; numbers = new </a:t>
            </a:r>
            <a:r>
              <a:rPr lang="en-US" sz="2000" dirty="0" err="1"/>
              <a:t>PriorityQueue</a:t>
            </a:r>
            <a:r>
              <a:rPr lang="en-US" sz="2000" dirty="0"/>
              <a:t>&lt;&gt;();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numbers.add</a:t>
            </a:r>
            <a:r>
              <a:rPr lang="en-US" sz="2000" dirty="0"/>
              <a:t>(4);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numbers.add</a:t>
            </a:r>
            <a:r>
              <a:rPr lang="en-US" sz="2000" dirty="0"/>
              <a:t>(2);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numbers.add</a:t>
            </a:r>
            <a:r>
              <a:rPr lang="en-US" sz="2000" dirty="0"/>
              <a:t>(1);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</a:t>
            </a:r>
            <a:r>
              <a:rPr lang="en-US" sz="2000" dirty="0" err="1"/>
              <a:t>PriorityQueue</a:t>
            </a:r>
            <a:r>
              <a:rPr lang="en-US" sz="2000" dirty="0"/>
              <a:t>: " + numbers);</a:t>
            </a:r>
          </a:p>
          <a:p>
            <a:endParaRPr lang="en-US" sz="2000" dirty="0"/>
          </a:p>
          <a:p>
            <a:r>
              <a:rPr lang="en-US" sz="2000" dirty="0"/>
              <a:t>        // Using the peek() method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int</a:t>
            </a:r>
            <a:r>
              <a:rPr lang="en-US" sz="2000" dirty="0"/>
              <a:t> number = </a:t>
            </a:r>
            <a:r>
              <a:rPr lang="en-US" sz="2000" dirty="0" err="1"/>
              <a:t>numbers.peek</a:t>
            </a:r>
            <a:r>
              <a:rPr lang="en-US" sz="2000" dirty="0"/>
              <a:t>();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("Accessed Element: " + number);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 smtClean="0"/>
              <a:t>}</a:t>
            </a:r>
          </a:p>
          <a:p>
            <a:r>
              <a:rPr lang="en-US" sz="2000" b="1" dirty="0" smtClean="0"/>
              <a:t>output</a:t>
            </a:r>
            <a:endParaRPr lang="en-US" sz="2000" b="1" dirty="0"/>
          </a:p>
          <a:p>
            <a:r>
              <a:rPr lang="en-IN" sz="2000" dirty="0" err="1"/>
              <a:t>PriorityQueue</a:t>
            </a:r>
            <a:r>
              <a:rPr lang="en-IN" sz="2000" dirty="0"/>
              <a:t>: [1, 4, 2] </a:t>
            </a:r>
            <a:endParaRPr lang="en-IN" sz="2000" dirty="0" smtClean="0"/>
          </a:p>
          <a:p>
            <a:r>
              <a:rPr lang="en-IN" sz="2000" dirty="0" smtClean="0"/>
              <a:t>Accessed </a:t>
            </a:r>
            <a:r>
              <a:rPr lang="en-IN" sz="2000" dirty="0"/>
              <a:t>Element: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15904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375920"/>
          </a:xfrm>
        </p:spPr>
        <p:txBody>
          <a:bodyPr>
            <a:noAutofit/>
          </a:bodyPr>
          <a:lstStyle/>
          <a:p>
            <a:r>
              <a:rPr lang="en-US" sz="3600" b="1" dirty="0" err="1">
                <a:latin typeface="Arial Black" pitchFamily="34" charset="0"/>
              </a:rPr>
              <a:t>ArrayDeque</a:t>
            </a:r>
            <a:r>
              <a:rPr lang="en-US" sz="3600" b="1" dirty="0" smtClean="0">
                <a:latin typeface="Arial Black" pitchFamily="34" charset="0"/>
              </a:rPr>
              <a:t>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914400"/>
            <a:ext cx="8763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err="1">
                <a:latin typeface="Arial" pitchFamily="34" charset="0"/>
                <a:cs typeface="Arial" pitchFamily="34" charset="0"/>
              </a:rPr>
              <a:t>ArrayDeque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class implements the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Deque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interface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It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facilitates us to use the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Deque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 Unlike queue, we can add or delete the elements from both the ends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err="1">
                <a:latin typeface="Arial" pitchFamily="34" charset="0"/>
                <a:cs typeface="Arial" pitchFamily="34" charset="0"/>
              </a:rPr>
              <a:t>ArrayDeque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creates a dynamic array and has no capacity restrictions.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err="1">
                <a:latin typeface="Arial" pitchFamily="34" charset="0"/>
                <a:cs typeface="Arial" pitchFamily="34" charset="0"/>
              </a:rPr>
              <a:t>ArrayDeque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is faster than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ArrayList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and Stack and has no capacity restrictions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400" dirty="0" err="1"/>
              <a:t>ArrayDeque</a:t>
            </a:r>
            <a:r>
              <a:rPr lang="en-US" sz="2400" dirty="0"/>
              <a:t>( </a:t>
            </a:r>
            <a:r>
              <a:rPr lang="en-US" sz="2400" dirty="0" smtClean="0"/>
              <a:t>)		</a:t>
            </a:r>
            <a:r>
              <a:rPr lang="en-US" sz="2400" dirty="0" smtClean="0">
                <a:solidFill>
                  <a:srgbClr val="FF0000"/>
                </a:solidFill>
              </a:rPr>
              <a:t>// capacity 16</a:t>
            </a:r>
            <a:endParaRPr lang="en-US" sz="2400" dirty="0">
              <a:solidFill>
                <a:srgbClr val="FF0000"/>
              </a:solidFill>
            </a:endParaRP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400" dirty="0" err="1"/>
              <a:t>ArrayDeque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size)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400" dirty="0" err="1"/>
              <a:t>ArrayDeque</a:t>
            </a:r>
            <a:r>
              <a:rPr lang="en-US" sz="2400" dirty="0"/>
              <a:t>(Collection&lt;? extends E&gt; 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5859" y="37109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err="1">
                <a:latin typeface="Arial Black" pitchFamily="34" charset="0"/>
              </a:rPr>
              <a:t>ArrayDeque</a:t>
            </a:r>
            <a:r>
              <a:rPr lang="en-US" sz="3600" b="1" dirty="0" smtClean="0">
                <a:latin typeface="Arial Black" pitchFamily="34" charset="0"/>
              </a:rPr>
              <a:t>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-89941" y="-1499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3742" y="1051811"/>
            <a:ext cx="915774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</a:t>
            </a:r>
            <a:r>
              <a:rPr lang="en-US" sz="2800" dirty="0"/>
              <a:t> </a:t>
            </a:r>
            <a:r>
              <a:rPr lang="en-US" sz="2800" dirty="0" err="1"/>
              <a:t>java.util</a:t>
            </a:r>
            <a:r>
              <a:rPr lang="en-US" sz="2800" dirty="0"/>
              <a:t>.*;  </a:t>
            </a:r>
          </a:p>
          <a:p>
            <a:r>
              <a:rPr lang="en-US" sz="2800" b="1" dirty="0"/>
              <a:t>public</a:t>
            </a:r>
            <a:r>
              <a:rPr lang="en-US" sz="2800" dirty="0"/>
              <a:t> </a:t>
            </a:r>
            <a:r>
              <a:rPr lang="en-US" sz="2800" b="1" dirty="0"/>
              <a:t>class</a:t>
            </a:r>
            <a:r>
              <a:rPr lang="en-US" sz="2800" dirty="0"/>
              <a:t> </a:t>
            </a:r>
            <a:r>
              <a:rPr lang="en-US" sz="2800" dirty="0" err="1" smtClean="0"/>
              <a:t>TestJavaCollection</a:t>
            </a:r>
            <a:r>
              <a:rPr lang="en-US" sz="2800" dirty="0" smtClean="0"/>
              <a:t>{</a:t>
            </a:r>
            <a:r>
              <a:rPr lang="en-US" sz="2800" dirty="0"/>
              <a:t>  </a:t>
            </a:r>
          </a:p>
          <a:p>
            <a:r>
              <a:rPr lang="en-US" sz="2800" b="1" dirty="0"/>
              <a:t>public</a:t>
            </a:r>
            <a:r>
              <a:rPr lang="en-US" sz="2800" dirty="0"/>
              <a:t> </a:t>
            </a:r>
            <a:r>
              <a:rPr lang="en-US" sz="2800" b="1" dirty="0"/>
              <a:t>static</a:t>
            </a:r>
            <a:r>
              <a:rPr lang="en-US" sz="2800" dirty="0"/>
              <a:t> </a:t>
            </a:r>
            <a:r>
              <a:rPr lang="en-US" sz="2800" b="1" dirty="0"/>
              <a:t>void</a:t>
            </a:r>
            <a:r>
              <a:rPr lang="en-US" sz="2800" dirty="0"/>
              <a:t> main(String[] </a:t>
            </a:r>
            <a:r>
              <a:rPr lang="en-US" sz="2800" dirty="0" err="1"/>
              <a:t>args</a:t>
            </a:r>
            <a:r>
              <a:rPr lang="en-US" sz="2800" dirty="0"/>
              <a:t>) {  </a:t>
            </a:r>
          </a:p>
          <a:p>
            <a:r>
              <a:rPr lang="en-US" sz="2800" dirty="0"/>
              <a:t>//Creating </a:t>
            </a:r>
            <a:r>
              <a:rPr lang="en-US" sz="2800" dirty="0" err="1"/>
              <a:t>Deque</a:t>
            </a:r>
            <a:r>
              <a:rPr lang="en-US" sz="2800" dirty="0"/>
              <a:t> and adding elements  </a:t>
            </a:r>
          </a:p>
          <a:p>
            <a:r>
              <a:rPr lang="en-US" sz="2800" dirty="0" err="1"/>
              <a:t>Deque</a:t>
            </a:r>
            <a:r>
              <a:rPr lang="en-US" sz="2800" dirty="0"/>
              <a:t>&lt;String&gt; </a:t>
            </a:r>
            <a:r>
              <a:rPr lang="en-US" sz="2800" dirty="0" err="1"/>
              <a:t>deque</a:t>
            </a:r>
            <a:r>
              <a:rPr lang="en-US" sz="2800" dirty="0"/>
              <a:t> = </a:t>
            </a:r>
            <a:r>
              <a:rPr lang="en-US" sz="2800" b="1" dirty="0"/>
              <a:t>new</a:t>
            </a:r>
            <a:r>
              <a:rPr lang="en-US" sz="2800" dirty="0"/>
              <a:t> </a:t>
            </a:r>
            <a:r>
              <a:rPr lang="en-US" sz="2800" dirty="0" err="1"/>
              <a:t>ArrayDeque</a:t>
            </a:r>
            <a:r>
              <a:rPr lang="en-US" sz="2800" dirty="0"/>
              <a:t>&lt;String&gt;();  </a:t>
            </a:r>
          </a:p>
          <a:p>
            <a:r>
              <a:rPr lang="en-US" sz="2800" dirty="0" err="1"/>
              <a:t>deque.add</a:t>
            </a:r>
            <a:r>
              <a:rPr lang="en-US" sz="2800" dirty="0"/>
              <a:t>("</a:t>
            </a:r>
            <a:r>
              <a:rPr lang="en-US" sz="2800" dirty="0" err="1"/>
              <a:t>Gautam</a:t>
            </a:r>
            <a:r>
              <a:rPr lang="en-US" sz="2800" dirty="0"/>
              <a:t>");  </a:t>
            </a:r>
          </a:p>
          <a:p>
            <a:r>
              <a:rPr lang="en-US" sz="2800" dirty="0" err="1"/>
              <a:t>deque.add</a:t>
            </a:r>
            <a:r>
              <a:rPr lang="en-US" sz="2800" dirty="0"/>
              <a:t>("Karan");  </a:t>
            </a:r>
          </a:p>
          <a:p>
            <a:r>
              <a:rPr lang="en-US" sz="2800" dirty="0" err="1"/>
              <a:t>deque.add</a:t>
            </a:r>
            <a:r>
              <a:rPr lang="en-US" sz="2800" dirty="0"/>
              <a:t>("Ajay");  </a:t>
            </a:r>
          </a:p>
          <a:p>
            <a:r>
              <a:rPr lang="en-US" sz="2800" dirty="0"/>
              <a:t>//Traversing elements  </a:t>
            </a:r>
          </a:p>
          <a:p>
            <a:r>
              <a:rPr lang="en-US" sz="2800" b="1" dirty="0"/>
              <a:t>for</a:t>
            </a:r>
            <a:r>
              <a:rPr lang="en-US" sz="2800" dirty="0"/>
              <a:t> (String </a:t>
            </a:r>
            <a:r>
              <a:rPr lang="en-US" sz="2800" dirty="0" err="1"/>
              <a:t>str</a:t>
            </a:r>
            <a:r>
              <a:rPr lang="en-US" sz="2800" dirty="0"/>
              <a:t> : </a:t>
            </a:r>
            <a:r>
              <a:rPr lang="en-US" sz="2800" dirty="0" err="1"/>
              <a:t>deque</a:t>
            </a:r>
            <a:r>
              <a:rPr lang="en-US" sz="2800" dirty="0"/>
              <a:t>) {  </a:t>
            </a:r>
          </a:p>
          <a:p>
            <a:r>
              <a:rPr lang="en-US" sz="2800" dirty="0" err="1"/>
              <a:t>System.out.println</a:t>
            </a:r>
            <a:r>
              <a:rPr lang="en-US" sz="2800" dirty="0"/>
              <a:t>(</a:t>
            </a:r>
            <a:r>
              <a:rPr lang="en-US" sz="2800" dirty="0" err="1"/>
              <a:t>str</a:t>
            </a:r>
            <a:r>
              <a:rPr lang="en-US" sz="2800" dirty="0"/>
              <a:t>);  </a:t>
            </a:r>
          </a:p>
          <a:p>
            <a:r>
              <a:rPr lang="en-US" sz="2800" dirty="0"/>
              <a:t>}  </a:t>
            </a:r>
          </a:p>
          <a:p>
            <a:r>
              <a:rPr lang="en-US" sz="2800" dirty="0"/>
              <a:t>}  </a:t>
            </a:r>
          </a:p>
          <a:p>
            <a:r>
              <a:rPr lang="en-US" sz="2800" dirty="0"/>
              <a:t>}  </a:t>
            </a:r>
          </a:p>
          <a:p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4939259" y="4557010"/>
            <a:ext cx="27432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0049" name="Rectangle 1"/>
          <p:cNvSpPr>
            <a:spLocks noChangeArrowheads="1"/>
          </p:cNvSpPr>
          <p:nvPr/>
        </p:nvSpPr>
        <p:spPr bwMode="auto">
          <a:xfrm>
            <a:off x="5078572" y="5014210"/>
            <a:ext cx="185562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Gautam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Karan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Ajay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62600" y="4419600"/>
            <a:ext cx="1382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Output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HASHTABLE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12954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Java </a:t>
            </a:r>
            <a:r>
              <a:rPr lang="en-US" sz="2800" dirty="0" err="1"/>
              <a:t>Hashtable</a:t>
            </a:r>
            <a:r>
              <a:rPr lang="en-US" sz="2800" dirty="0"/>
              <a:t> class implements a </a:t>
            </a:r>
            <a:r>
              <a:rPr lang="en-US" sz="2800" dirty="0" err="1"/>
              <a:t>hashtable</a:t>
            </a:r>
            <a:r>
              <a:rPr lang="en-US" sz="2800" dirty="0"/>
              <a:t>, which maps keys to values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</a:t>
            </a:r>
            <a:r>
              <a:rPr lang="en-US" sz="2800" dirty="0"/>
              <a:t>It inherits Dictionary class and implements the Map interface</a:t>
            </a:r>
            <a:r>
              <a:rPr lang="en-US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r>
              <a:rPr lang="en-US" sz="2800" b="1" dirty="0" err="1"/>
              <a:t>Hashtable</a:t>
            </a:r>
            <a:r>
              <a:rPr lang="en-US" sz="2800" b="1" dirty="0"/>
              <a:t>( )</a:t>
            </a:r>
          </a:p>
          <a:p>
            <a:r>
              <a:rPr lang="en-US" sz="2800" b="1" dirty="0" err="1"/>
              <a:t>Hashtable</a:t>
            </a:r>
            <a:r>
              <a:rPr lang="en-US" sz="2800" b="1" dirty="0"/>
              <a:t>(</a:t>
            </a:r>
            <a:r>
              <a:rPr lang="en-US" sz="2800" b="1" dirty="0" err="1"/>
              <a:t>int</a:t>
            </a:r>
            <a:r>
              <a:rPr lang="en-US" sz="2800" b="1" dirty="0"/>
              <a:t> size)</a:t>
            </a:r>
          </a:p>
          <a:p>
            <a:r>
              <a:rPr lang="en-US" sz="2800" b="1" dirty="0" err="1"/>
              <a:t>Hashtable</a:t>
            </a:r>
            <a:r>
              <a:rPr lang="en-US" sz="2800" b="1" dirty="0"/>
              <a:t>(</a:t>
            </a:r>
            <a:r>
              <a:rPr lang="en-US" sz="2800" b="1" dirty="0" err="1"/>
              <a:t>int</a:t>
            </a:r>
            <a:r>
              <a:rPr lang="en-US" sz="2800" b="1" dirty="0"/>
              <a:t> size, float </a:t>
            </a:r>
            <a:r>
              <a:rPr lang="en-US" sz="2800" b="1" dirty="0" err="1"/>
              <a:t>fillRatio</a:t>
            </a:r>
            <a:r>
              <a:rPr lang="en-US" sz="2800" b="1" dirty="0"/>
              <a:t>)</a:t>
            </a:r>
          </a:p>
          <a:p>
            <a:r>
              <a:rPr lang="en-US" sz="2800" b="1" dirty="0" err="1" smtClean="0"/>
              <a:t>Hashtable</a:t>
            </a:r>
            <a:r>
              <a:rPr lang="en-US" sz="2800" b="1" dirty="0" smtClean="0"/>
              <a:t>(Map m)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HASHTABLE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1447800"/>
            <a:ext cx="8763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/>
              <a:t>A </a:t>
            </a:r>
            <a:r>
              <a:rPr lang="en-US" sz="2800" dirty="0" err="1"/>
              <a:t>Hashtable</a:t>
            </a:r>
            <a:r>
              <a:rPr lang="en-US" sz="2800" dirty="0"/>
              <a:t> contains values based on the key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Java </a:t>
            </a:r>
            <a:r>
              <a:rPr lang="en-US" sz="2800" dirty="0" err="1" smtClean="0"/>
              <a:t>Hashtable</a:t>
            </a:r>
            <a:r>
              <a:rPr lang="en-US" sz="2800" dirty="0" smtClean="0"/>
              <a:t> class contains unique elements.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Java </a:t>
            </a:r>
            <a:r>
              <a:rPr lang="en-US" sz="2800" dirty="0" err="1" smtClean="0"/>
              <a:t>Hashtable</a:t>
            </a:r>
            <a:r>
              <a:rPr lang="en-US" sz="2800" dirty="0" smtClean="0"/>
              <a:t> class doesn't allow null key or value.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Java </a:t>
            </a:r>
            <a:r>
              <a:rPr lang="en-US" sz="2800" dirty="0" err="1" smtClean="0"/>
              <a:t>Hashtable</a:t>
            </a:r>
            <a:r>
              <a:rPr lang="en-US" sz="2800" dirty="0" smtClean="0"/>
              <a:t> class is synchronized.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The initial default capacity of </a:t>
            </a:r>
            <a:r>
              <a:rPr lang="en-US" sz="2800" dirty="0" err="1" smtClean="0"/>
              <a:t>Hashtable</a:t>
            </a:r>
            <a:r>
              <a:rPr lang="en-US" sz="2800" dirty="0" smtClean="0"/>
              <a:t> class is 11 whereas </a:t>
            </a:r>
            <a:r>
              <a:rPr lang="en-US" sz="2800" dirty="0" err="1" smtClean="0"/>
              <a:t>loadFactor</a:t>
            </a:r>
            <a:r>
              <a:rPr lang="en-US" sz="2800" dirty="0" smtClean="0"/>
              <a:t> is 0.75.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HASHTABLE EXAMPLE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914400"/>
            <a:ext cx="8763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import</a:t>
            </a:r>
            <a:r>
              <a:rPr lang="en-US" sz="2400" dirty="0"/>
              <a:t> </a:t>
            </a:r>
            <a:r>
              <a:rPr lang="en-US" sz="2400" dirty="0" err="1"/>
              <a:t>java.util</a:t>
            </a:r>
            <a:r>
              <a:rPr lang="en-US" sz="2400" dirty="0"/>
              <a:t>.*;  </a:t>
            </a:r>
          </a:p>
          <a:p>
            <a:r>
              <a:rPr lang="en-US" sz="2400" b="1" dirty="0"/>
              <a:t>class</a:t>
            </a:r>
            <a:r>
              <a:rPr lang="en-US" sz="2400" dirty="0"/>
              <a:t> Hashtable1{  </a:t>
            </a:r>
          </a:p>
          <a:p>
            <a:r>
              <a:rPr lang="en-US" sz="2400" dirty="0"/>
              <a:t> </a:t>
            </a:r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/>
              <a:t>static</a:t>
            </a:r>
            <a:r>
              <a:rPr lang="en-US" sz="2400" dirty="0"/>
              <a:t> </a:t>
            </a:r>
            <a:r>
              <a:rPr lang="en-US" sz="2400" b="1" dirty="0"/>
              <a:t>void</a:t>
            </a:r>
            <a:r>
              <a:rPr lang="en-US" sz="2400" dirty="0"/>
              <a:t> main(String </a:t>
            </a:r>
            <a:r>
              <a:rPr lang="en-US" sz="2400" dirty="0" err="1"/>
              <a:t>args</a:t>
            </a:r>
            <a:r>
              <a:rPr lang="en-US" sz="2400" dirty="0"/>
              <a:t>[]){  </a:t>
            </a:r>
          </a:p>
          <a:p>
            <a:r>
              <a:rPr lang="en-US" sz="2400" dirty="0"/>
              <a:t>  </a:t>
            </a:r>
            <a:r>
              <a:rPr lang="en-US" sz="2400" dirty="0" err="1"/>
              <a:t>Hashtable</a:t>
            </a:r>
            <a:r>
              <a:rPr lang="en-US" sz="2400" dirty="0"/>
              <a:t>&lt;</a:t>
            </a:r>
            <a:r>
              <a:rPr lang="en-US" sz="2400" dirty="0" err="1"/>
              <a:t>Integer,String</a:t>
            </a:r>
            <a:r>
              <a:rPr lang="en-US" sz="2400" dirty="0"/>
              <a:t>&gt; </a:t>
            </a:r>
            <a:r>
              <a:rPr lang="en-US" sz="2400" dirty="0" err="1"/>
              <a:t>hm</a:t>
            </a:r>
            <a:r>
              <a:rPr lang="en-US" sz="2400" dirty="0"/>
              <a:t>=</a:t>
            </a:r>
            <a:r>
              <a:rPr lang="en-US" sz="2400" b="1" dirty="0"/>
              <a:t>new</a:t>
            </a:r>
            <a:r>
              <a:rPr lang="en-US" sz="2400" dirty="0"/>
              <a:t> </a:t>
            </a:r>
            <a:r>
              <a:rPr lang="en-US" sz="2400" dirty="0" err="1"/>
              <a:t>Hashtable</a:t>
            </a:r>
            <a:r>
              <a:rPr lang="en-US" sz="2400" dirty="0"/>
              <a:t>&lt;</a:t>
            </a:r>
            <a:r>
              <a:rPr lang="en-US" sz="2400" dirty="0" err="1"/>
              <a:t>Integer,String</a:t>
            </a:r>
            <a:r>
              <a:rPr lang="en-US" sz="2400" dirty="0"/>
              <a:t>&gt;();    </a:t>
            </a:r>
          </a:p>
          <a:p>
            <a:r>
              <a:rPr lang="en-US" sz="2400" dirty="0"/>
              <a:t>  </a:t>
            </a:r>
            <a:endParaRPr lang="en-US" sz="2400" dirty="0" smtClean="0"/>
          </a:p>
          <a:p>
            <a:r>
              <a:rPr lang="en-US" sz="2400" dirty="0" err="1" smtClean="0"/>
              <a:t>hm.put</a:t>
            </a:r>
            <a:r>
              <a:rPr lang="en-US" sz="2400" dirty="0" smtClean="0"/>
              <a:t>(100</a:t>
            </a:r>
            <a:r>
              <a:rPr lang="en-US" sz="2400" dirty="0"/>
              <a:t>,"Amit");  </a:t>
            </a:r>
            <a:r>
              <a:rPr lang="en-US" sz="2400" dirty="0" smtClean="0"/>
              <a:t>				</a:t>
            </a:r>
          </a:p>
          <a:p>
            <a:r>
              <a:rPr lang="en-US" sz="2400" dirty="0" smtClean="0"/>
              <a:t>  </a:t>
            </a:r>
            <a:r>
              <a:rPr lang="en-US" sz="2400" dirty="0" err="1" smtClean="0"/>
              <a:t>hm.put</a:t>
            </a:r>
            <a:r>
              <a:rPr lang="en-US" sz="2400" dirty="0" smtClean="0"/>
              <a:t>(102,"Ravi");  </a:t>
            </a:r>
          </a:p>
          <a:p>
            <a:r>
              <a:rPr lang="en-US" sz="2400" dirty="0"/>
              <a:t>  </a:t>
            </a:r>
            <a:r>
              <a:rPr lang="en-US" sz="2400" dirty="0" err="1"/>
              <a:t>hm.put</a:t>
            </a:r>
            <a:r>
              <a:rPr lang="en-US" sz="2400" dirty="0"/>
              <a:t>(101,"Vijay");  </a:t>
            </a:r>
          </a:p>
          <a:p>
            <a:r>
              <a:rPr lang="en-US" sz="2400" dirty="0"/>
              <a:t>  </a:t>
            </a:r>
            <a:r>
              <a:rPr lang="en-US" sz="2400" dirty="0" err="1"/>
              <a:t>hm.put</a:t>
            </a:r>
            <a:r>
              <a:rPr lang="en-US" sz="2400" dirty="0"/>
              <a:t>(103,"Rahul");    </a:t>
            </a:r>
          </a:p>
          <a:p>
            <a:r>
              <a:rPr lang="en-US" sz="2400" dirty="0"/>
              <a:t>  </a:t>
            </a:r>
            <a:r>
              <a:rPr lang="en-US" sz="2400" dirty="0" err="1" smtClean="0"/>
              <a:t>int</a:t>
            </a:r>
            <a:r>
              <a:rPr lang="en-US" sz="2400" dirty="0" smtClean="0"/>
              <a:t> v = hm.</a:t>
            </a:r>
            <a:r>
              <a:rPr lang="en-IN" sz="2400" dirty="0" err="1" smtClean="0"/>
              <a:t>ke</a:t>
            </a:r>
            <a:r>
              <a:rPr lang="en-US" sz="2400" dirty="0" err="1" smtClean="0"/>
              <a:t>ys</a:t>
            </a:r>
            <a:r>
              <a:rPr lang="en-US" sz="2400" dirty="0" smtClean="0"/>
              <a:t>();</a:t>
            </a:r>
          </a:p>
          <a:p>
            <a:r>
              <a:rPr lang="en-US" sz="2400" dirty="0" err="1" smtClean="0"/>
              <a:t>Whle</a:t>
            </a:r>
            <a:r>
              <a:rPr lang="en-US" sz="2400" dirty="0" smtClean="0"/>
              <a:t> (</a:t>
            </a:r>
            <a:r>
              <a:rPr lang="en-US" sz="2400" dirty="0" err="1" smtClean="0"/>
              <a:t>v.hasMoreElements</a:t>
            </a:r>
            <a:r>
              <a:rPr lang="en-US" sz="2400" dirty="0" smtClean="0"/>
              <a:t>()){</a:t>
            </a:r>
          </a:p>
          <a:p>
            <a:pPr lvl="1"/>
            <a:r>
              <a:rPr lang="en-US" sz="2400" dirty="0" err="1" smtClean="0"/>
              <a:t>Strng</a:t>
            </a:r>
            <a:r>
              <a:rPr lang="en-US" sz="2400" dirty="0"/>
              <a:t> </a:t>
            </a:r>
            <a:r>
              <a:rPr lang="en-US" sz="2400" dirty="0" err="1" smtClean="0"/>
              <a:t>st</a:t>
            </a:r>
            <a:r>
              <a:rPr lang="en-US" sz="2400" dirty="0" smtClean="0"/>
              <a:t>= </a:t>
            </a:r>
            <a:r>
              <a:rPr lang="en-US" sz="2400" dirty="0" err="1" smtClean="0"/>
              <a:t>v.nextElement</a:t>
            </a:r>
            <a:r>
              <a:rPr lang="en-US" sz="2400" dirty="0"/>
              <a:t>();</a:t>
            </a:r>
          </a:p>
          <a:p>
            <a:pPr lvl="1"/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st</a:t>
            </a:r>
            <a:r>
              <a:rPr lang="en-US" sz="2400" dirty="0" smtClean="0"/>
              <a:t>  </a:t>
            </a:r>
            <a:r>
              <a:rPr lang="en-US" sz="2400" dirty="0"/>
              <a:t>+ </a:t>
            </a:r>
            <a:r>
              <a:rPr lang="en-US" sz="2400" dirty="0" smtClean="0"/>
              <a:t>“  </a:t>
            </a:r>
            <a:r>
              <a:rPr lang="en-US" sz="2400" dirty="0"/>
              <a:t>" </a:t>
            </a:r>
            <a:r>
              <a:rPr lang="en-US" sz="2400" dirty="0" smtClean="0"/>
              <a:t>+ </a:t>
            </a:r>
            <a:r>
              <a:rPr lang="en-US" sz="2400" dirty="0" err="1" smtClean="0"/>
              <a:t>hm.get</a:t>
            </a:r>
            <a:r>
              <a:rPr lang="en-US" sz="2400" dirty="0" smtClean="0"/>
              <a:t>(</a:t>
            </a:r>
            <a:r>
              <a:rPr lang="en-US" sz="2400" dirty="0" err="1" smtClean="0"/>
              <a:t>st</a:t>
            </a:r>
            <a:r>
              <a:rPr lang="en-US" sz="2400" dirty="0" smtClean="0"/>
              <a:t>));</a:t>
            </a:r>
          </a:p>
          <a:p>
            <a:r>
              <a:rPr lang="en-US" sz="2400" dirty="0"/>
              <a:t>}</a:t>
            </a:r>
            <a:endParaRPr lang="en-US" sz="2400" dirty="0" smtClean="0"/>
          </a:p>
          <a:p>
            <a:r>
              <a:rPr lang="en-US" sz="2400" dirty="0"/>
              <a:t> }  </a:t>
            </a:r>
            <a:r>
              <a:rPr lang="en-US" sz="2400" dirty="0" smtClean="0"/>
              <a:t>}</a:t>
            </a:r>
            <a:r>
              <a:rPr lang="en-US" sz="2400" dirty="0"/>
              <a:t>  </a:t>
            </a:r>
          </a:p>
          <a:p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943600" y="3934361"/>
            <a:ext cx="2209800" cy="132343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fi-FI" sz="2000" dirty="0" smtClean="0"/>
              <a:t>103 Rahul</a:t>
            </a:r>
          </a:p>
          <a:p>
            <a:r>
              <a:rPr lang="fi-FI" sz="2000" dirty="0" smtClean="0"/>
              <a:t> 102 Ravi</a:t>
            </a:r>
          </a:p>
          <a:p>
            <a:r>
              <a:rPr lang="fi-FI" sz="2000" dirty="0" smtClean="0"/>
              <a:t> 101 Vijay </a:t>
            </a:r>
          </a:p>
          <a:p>
            <a:r>
              <a:rPr lang="fi-FI" sz="2000" dirty="0" smtClean="0"/>
              <a:t>100 Amit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PROPERTIES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8686800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/>
              <a:t>The </a:t>
            </a:r>
            <a:r>
              <a:rPr lang="en-US" sz="2800" dirty="0" err="1"/>
              <a:t>java.util.Properties</a:t>
            </a:r>
            <a:r>
              <a:rPr lang="en-US" sz="2800" dirty="0"/>
              <a:t> class is the subclass of </a:t>
            </a:r>
            <a:r>
              <a:rPr lang="en-US" sz="2800" dirty="0" err="1"/>
              <a:t>Hashtable</a:t>
            </a:r>
            <a:r>
              <a:rPr lang="en-US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The </a:t>
            </a:r>
            <a:r>
              <a:rPr lang="en-US" sz="2800" b="1" dirty="0" smtClean="0"/>
              <a:t>properties</a:t>
            </a:r>
            <a:r>
              <a:rPr lang="en-US" sz="2800" dirty="0" smtClean="0"/>
              <a:t> object contains key and value pair both as a string.</a:t>
            </a:r>
          </a:p>
          <a:p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It can be used to get property value based on the property key. </a:t>
            </a:r>
            <a:endParaRPr lang="en-US" sz="2800" dirty="0" smtClean="0"/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The </a:t>
            </a:r>
            <a:r>
              <a:rPr lang="en-US" sz="2800" dirty="0"/>
              <a:t>Properties class provides methods to get data from the properties file and </a:t>
            </a:r>
            <a:r>
              <a:rPr lang="en-US" sz="2800" dirty="0" smtClean="0"/>
              <a:t> access the data .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</a:t>
            </a:r>
            <a:r>
              <a:rPr lang="en-US" sz="2800" dirty="0"/>
              <a:t>Moreover, it can be used to get the properties of a system.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86080"/>
            <a:ext cx="82296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PROPERTIES CLASS EXAMPLE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2638485"/>
            <a:ext cx="8915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/>
          </a:p>
          <a:p>
            <a:r>
              <a:rPr lang="en-US" sz="2400" b="1" dirty="0" smtClean="0"/>
              <a:t>import</a:t>
            </a:r>
            <a:r>
              <a:rPr lang="en-US" sz="2400" dirty="0" smtClean="0"/>
              <a:t> </a:t>
            </a:r>
            <a:r>
              <a:rPr lang="en-US" sz="2400" dirty="0" err="1" smtClean="0"/>
              <a:t>java.util</a:t>
            </a:r>
            <a:r>
              <a:rPr lang="en-US" sz="2400" dirty="0" smtClean="0"/>
              <a:t>.*;  </a:t>
            </a:r>
          </a:p>
          <a:p>
            <a:r>
              <a:rPr lang="en-US" sz="2400" b="1" dirty="0" smtClean="0"/>
              <a:t>import</a:t>
            </a:r>
            <a:r>
              <a:rPr lang="en-US" sz="2400" dirty="0" smtClean="0"/>
              <a:t> java.io.*;  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 </a:t>
            </a:r>
            <a:r>
              <a:rPr lang="en-US" sz="2400" b="1" dirty="0" smtClean="0"/>
              <a:t>class</a:t>
            </a:r>
            <a:r>
              <a:rPr lang="en-US" sz="2400" dirty="0" smtClean="0"/>
              <a:t> Test {  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 </a:t>
            </a:r>
            <a:r>
              <a:rPr lang="en-US" sz="2400" b="1" dirty="0" smtClean="0"/>
              <a:t>static</a:t>
            </a:r>
            <a:r>
              <a:rPr lang="en-US" sz="2400" dirty="0" smtClean="0"/>
              <a:t> </a:t>
            </a:r>
            <a:r>
              <a:rPr lang="en-US" sz="2400" b="1" dirty="0" smtClean="0"/>
              <a:t>void</a:t>
            </a:r>
            <a:r>
              <a:rPr lang="en-US" sz="2400" dirty="0" smtClean="0"/>
              <a:t> main(String[] </a:t>
            </a:r>
            <a:r>
              <a:rPr lang="en-US" sz="2400" dirty="0" err="1" smtClean="0"/>
              <a:t>args</a:t>
            </a:r>
            <a:r>
              <a:rPr lang="en-US" sz="2400" dirty="0" smtClean="0"/>
              <a:t>)</a:t>
            </a:r>
            <a:r>
              <a:rPr lang="en-US" sz="2400" b="1" dirty="0" smtClean="0"/>
              <a:t>throws</a:t>
            </a:r>
            <a:r>
              <a:rPr lang="en-US" sz="2400" dirty="0" smtClean="0"/>
              <a:t> Exception{  </a:t>
            </a:r>
          </a:p>
          <a:p>
            <a:r>
              <a:rPr lang="en-US" sz="2400" dirty="0" smtClean="0"/>
              <a:t>    </a:t>
            </a:r>
            <a:r>
              <a:rPr lang="en-US" sz="2400" dirty="0" err="1" smtClean="0"/>
              <a:t>FileReader</a:t>
            </a:r>
            <a:r>
              <a:rPr lang="en-US" sz="2400" dirty="0" smtClean="0"/>
              <a:t> reader=</a:t>
            </a:r>
            <a:r>
              <a:rPr lang="en-US" sz="2400" b="1" dirty="0" smtClean="0"/>
              <a:t>new</a:t>
            </a:r>
            <a:r>
              <a:rPr lang="en-US" sz="2400" dirty="0" smtClean="0"/>
              <a:t> </a:t>
            </a:r>
            <a:r>
              <a:rPr lang="en-US" sz="2400" dirty="0" err="1" smtClean="0"/>
              <a:t>FileReader</a:t>
            </a:r>
            <a:r>
              <a:rPr lang="en-US" sz="2400" dirty="0" smtClean="0"/>
              <a:t>("</a:t>
            </a:r>
            <a:r>
              <a:rPr lang="en-US" sz="2400" dirty="0" err="1" smtClean="0"/>
              <a:t>db.properties</a:t>
            </a:r>
            <a:r>
              <a:rPr lang="en-US" sz="2400" dirty="0" smtClean="0"/>
              <a:t>");      </a:t>
            </a:r>
          </a:p>
          <a:p>
            <a:r>
              <a:rPr lang="en-US" sz="2400" dirty="0" smtClean="0"/>
              <a:t>    Properties p=</a:t>
            </a:r>
            <a:r>
              <a:rPr lang="en-US" sz="2400" b="1" dirty="0" smtClean="0"/>
              <a:t>new</a:t>
            </a:r>
            <a:r>
              <a:rPr lang="en-US" sz="2400" dirty="0" smtClean="0"/>
              <a:t> Properties();  </a:t>
            </a:r>
          </a:p>
          <a:p>
            <a:r>
              <a:rPr lang="en-US" sz="2400" dirty="0" smtClean="0"/>
              <a:t>    </a:t>
            </a:r>
            <a:r>
              <a:rPr lang="en-US" sz="2400" dirty="0" err="1" smtClean="0"/>
              <a:t>p.load</a:t>
            </a:r>
            <a:r>
              <a:rPr lang="en-US" sz="2400" dirty="0" smtClean="0"/>
              <a:t>(reader);        </a:t>
            </a:r>
          </a:p>
          <a:p>
            <a:r>
              <a:rPr lang="en-US" sz="2400" dirty="0" smtClean="0"/>
              <a:t>    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p.getProperty</a:t>
            </a:r>
            <a:r>
              <a:rPr lang="en-US" sz="2400" dirty="0" smtClean="0"/>
              <a:t>("user"));  </a:t>
            </a:r>
          </a:p>
          <a:p>
            <a:r>
              <a:rPr lang="en-US" sz="2400" dirty="0" smtClean="0"/>
              <a:t>    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p.getProperty</a:t>
            </a:r>
            <a:r>
              <a:rPr lang="en-US" sz="2400" dirty="0" smtClean="0"/>
              <a:t>("password"));   </a:t>
            </a:r>
          </a:p>
          <a:p>
            <a:r>
              <a:rPr lang="en-US" sz="2400" dirty="0" smtClean="0"/>
              <a:t> } </a:t>
            </a:r>
          </a:p>
          <a:p>
            <a:r>
              <a:rPr lang="en-US" sz="2400" dirty="0" smtClean="0"/>
              <a:t> }  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019800" y="1066800"/>
            <a:ext cx="2133600" cy="129266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db.properties</a:t>
            </a:r>
            <a:endParaRPr lang="en-US" dirty="0" smtClean="0"/>
          </a:p>
          <a:p>
            <a:r>
              <a:rPr lang="en-US" dirty="0" smtClean="0"/>
              <a:t>user=system  </a:t>
            </a:r>
          </a:p>
          <a:p>
            <a:r>
              <a:rPr lang="en-US" dirty="0" smtClean="0"/>
              <a:t>password=oracle</a:t>
            </a:r>
          </a:p>
          <a:p>
            <a:r>
              <a:rPr lang="en-US" dirty="0" smtClean="0"/>
              <a:t>501=Ravi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2297668"/>
            <a:ext cx="8915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/>
              <a:t>Now, let's create the java class to read the data from the properties file Test.java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5400"/>
            <a:ext cx="2514600" cy="769441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Lets create  a </a:t>
            </a:r>
            <a:r>
              <a:rPr lang="en-US" sz="2400" dirty="0" smtClean="0"/>
              <a:t>properties file</a:t>
            </a:r>
            <a:endParaRPr lang="en-US" sz="2000" dirty="0"/>
          </a:p>
        </p:txBody>
      </p:sp>
      <p:sp>
        <p:nvSpPr>
          <p:cNvPr id="15" name="Right Arrow 14"/>
          <p:cNvSpPr/>
          <p:nvPr/>
        </p:nvSpPr>
        <p:spPr>
          <a:xfrm>
            <a:off x="4419600" y="1524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VECTOR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295401"/>
            <a:ext cx="8915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/>
              <a:t>Vector </a:t>
            </a:r>
            <a:r>
              <a:rPr lang="en-US" sz="2800" dirty="0"/>
              <a:t>uses a dynamic array to store the data elements. It is similar to </a:t>
            </a:r>
            <a:r>
              <a:rPr lang="en-US" sz="2800" dirty="0" err="1"/>
              <a:t>ArrayList</a:t>
            </a:r>
            <a:r>
              <a:rPr lang="en-US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</a:t>
            </a:r>
            <a:r>
              <a:rPr lang="en-US" sz="2800" dirty="0"/>
              <a:t>However, It is synchronized and contains many methods that are not the part of Collection framework</a:t>
            </a:r>
            <a:r>
              <a:rPr lang="en-US" sz="2800" dirty="0" smtClean="0"/>
              <a:t>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3200400"/>
            <a:ext cx="534899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import</a:t>
            </a:r>
            <a:r>
              <a:rPr lang="en-US" sz="2400" dirty="0"/>
              <a:t> </a:t>
            </a:r>
            <a:r>
              <a:rPr lang="en-US" sz="2400" dirty="0" err="1"/>
              <a:t>java.util</a:t>
            </a:r>
            <a:r>
              <a:rPr lang="en-US" sz="2400" dirty="0"/>
              <a:t>.*;  </a:t>
            </a:r>
          </a:p>
          <a:p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/>
              <a:t>class</a:t>
            </a:r>
            <a:r>
              <a:rPr lang="en-US" sz="2400" dirty="0"/>
              <a:t> TestJavaCollection3{  </a:t>
            </a:r>
          </a:p>
          <a:p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/>
              <a:t>static</a:t>
            </a:r>
            <a:r>
              <a:rPr lang="en-US" sz="2400" dirty="0"/>
              <a:t> </a:t>
            </a:r>
            <a:r>
              <a:rPr lang="en-US" sz="2400" b="1" dirty="0"/>
              <a:t>void</a:t>
            </a:r>
            <a:r>
              <a:rPr lang="en-US" sz="2400" dirty="0"/>
              <a:t> main(String </a:t>
            </a:r>
            <a:r>
              <a:rPr lang="en-US" sz="2400" dirty="0" err="1"/>
              <a:t>args</a:t>
            </a:r>
            <a:r>
              <a:rPr lang="en-US" sz="2400" dirty="0"/>
              <a:t>[]){  </a:t>
            </a:r>
          </a:p>
          <a:p>
            <a:r>
              <a:rPr lang="en-US" sz="2400" dirty="0"/>
              <a:t>Vector&lt;String&gt; v=</a:t>
            </a:r>
            <a:r>
              <a:rPr lang="en-US" sz="2400" b="1" dirty="0"/>
              <a:t>new</a:t>
            </a:r>
            <a:r>
              <a:rPr lang="en-US" sz="2400" dirty="0"/>
              <a:t> Vector&lt;String&gt;();  </a:t>
            </a:r>
          </a:p>
          <a:p>
            <a:r>
              <a:rPr lang="en-US" sz="2400" dirty="0" err="1"/>
              <a:t>v.add</a:t>
            </a:r>
            <a:r>
              <a:rPr lang="en-US" sz="2400" dirty="0"/>
              <a:t>("</a:t>
            </a:r>
            <a:r>
              <a:rPr lang="en-US" sz="2400" dirty="0" err="1"/>
              <a:t>Ayush</a:t>
            </a:r>
            <a:r>
              <a:rPr lang="en-US" sz="2400" dirty="0"/>
              <a:t>");  </a:t>
            </a:r>
          </a:p>
          <a:p>
            <a:r>
              <a:rPr lang="en-US" sz="2400" dirty="0" err="1" smtClean="0"/>
              <a:t>v.addElement</a:t>
            </a:r>
            <a:r>
              <a:rPr lang="en-US" sz="2400" dirty="0" smtClean="0"/>
              <a:t>("</a:t>
            </a:r>
            <a:r>
              <a:rPr lang="en-US" sz="2400" dirty="0" err="1"/>
              <a:t>Amit</a:t>
            </a:r>
            <a:r>
              <a:rPr lang="en-US" sz="2400" dirty="0"/>
              <a:t>");  </a:t>
            </a:r>
            <a:endParaRPr lang="en-US" sz="2400" dirty="0" smtClean="0"/>
          </a:p>
          <a:p>
            <a:r>
              <a:rPr lang="en-US" sz="2400" dirty="0" err="1"/>
              <a:t>v.add</a:t>
            </a:r>
            <a:r>
              <a:rPr lang="en-US" sz="2400" dirty="0"/>
              <a:t>("</a:t>
            </a:r>
            <a:r>
              <a:rPr lang="en-US" sz="2400" dirty="0" err="1"/>
              <a:t>Garima</a:t>
            </a:r>
            <a:r>
              <a:rPr lang="en-US" sz="2400" dirty="0"/>
              <a:t>");  </a:t>
            </a:r>
          </a:p>
          <a:p>
            <a:r>
              <a:rPr lang="en-US" sz="2400" dirty="0" err="1"/>
              <a:t>Iterator</a:t>
            </a:r>
            <a:r>
              <a:rPr lang="en-US" sz="2400" dirty="0"/>
              <a:t>&lt;String&gt; </a:t>
            </a:r>
            <a:r>
              <a:rPr lang="en-US" sz="2400" dirty="0" err="1"/>
              <a:t>itr</a:t>
            </a:r>
            <a:r>
              <a:rPr lang="en-US" sz="2400" dirty="0"/>
              <a:t>=</a:t>
            </a:r>
            <a:r>
              <a:rPr lang="en-US" sz="2400" dirty="0" err="1"/>
              <a:t>v.iterator</a:t>
            </a:r>
            <a:r>
              <a:rPr lang="en-US" sz="2400" dirty="0"/>
              <a:t>();  </a:t>
            </a:r>
          </a:p>
          <a:p>
            <a:r>
              <a:rPr lang="en-US" sz="2400" b="1" dirty="0"/>
              <a:t>while</a:t>
            </a:r>
            <a:r>
              <a:rPr lang="en-US" sz="2400" dirty="0"/>
              <a:t>(</a:t>
            </a:r>
            <a:r>
              <a:rPr lang="en-US" sz="2400" dirty="0" err="1"/>
              <a:t>itr.hasNext</a:t>
            </a:r>
            <a:r>
              <a:rPr lang="en-US" sz="2400" dirty="0"/>
              <a:t>()){  </a:t>
            </a:r>
          </a:p>
          <a:p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/>
              <a:t>itr.next</a:t>
            </a:r>
            <a:r>
              <a:rPr lang="en-US" sz="2400" dirty="0"/>
              <a:t>());  </a:t>
            </a:r>
            <a:r>
              <a:rPr lang="en-US" sz="2400" dirty="0" smtClean="0"/>
              <a:t>} } }</a:t>
            </a:r>
            <a:endParaRPr lang="en-US" sz="2400" dirty="0"/>
          </a:p>
        </p:txBody>
      </p:sp>
      <p:sp>
        <p:nvSpPr>
          <p:cNvPr id="134145" name="Rectangle 1"/>
          <p:cNvSpPr>
            <a:spLocks noChangeArrowheads="1"/>
          </p:cNvSpPr>
          <p:nvPr/>
        </p:nvSpPr>
        <p:spPr bwMode="auto">
          <a:xfrm>
            <a:off x="6380558" y="3960168"/>
            <a:ext cx="1239442" cy="120032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Ayush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Amit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Garima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77352" y="3505200"/>
            <a:ext cx="1242648" cy="46166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 smtClean="0"/>
              <a:t>OUTPUT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STACK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868680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The stack is the subclass of Vector. </a:t>
            </a:r>
            <a:endParaRPr lang="en-US" sz="2800" dirty="0" smtClean="0"/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It </a:t>
            </a:r>
            <a:r>
              <a:rPr lang="en-US" sz="2800" dirty="0"/>
              <a:t>implements the last-in-first-out data structure, i.e., Stack. </a:t>
            </a:r>
            <a:endParaRPr lang="en-US" sz="2800" dirty="0" smtClean="0"/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It has only default constructor.</a:t>
            </a:r>
            <a:endParaRPr lang="en-US" sz="2800" dirty="0" smtClean="0"/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The </a:t>
            </a:r>
            <a:r>
              <a:rPr lang="en-US" sz="2800" dirty="0"/>
              <a:t>stack contains all of the methods of Vector class and also provides its methods like </a:t>
            </a:r>
            <a:r>
              <a:rPr lang="en-US" sz="2800" dirty="0" err="1"/>
              <a:t>boolean</a:t>
            </a:r>
            <a:r>
              <a:rPr lang="en-US" sz="2800" dirty="0"/>
              <a:t> push(), </a:t>
            </a:r>
            <a:r>
              <a:rPr lang="en-US" sz="2800" dirty="0" err="1"/>
              <a:t>boolean</a:t>
            </a:r>
            <a:r>
              <a:rPr lang="en-US" sz="2800" dirty="0"/>
              <a:t> peek(), </a:t>
            </a:r>
            <a:r>
              <a:rPr lang="en-US" sz="2800" dirty="0" err="1"/>
              <a:t>boolean</a:t>
            </a:r>
            <a:r>
              <a:rPr lang="en-US" sz="2800" dirty="0"/>
              <a:t> push(object o), which defines its properties.</a:t>
            </a:r>
          </a:p>
          <a:p>
            <a:r>
              <a:rPr lang="en-US" sz="2800" dirty="0" smtClean="0"/>
              <a:t/>
            </a:r>
            <a:br>
              <a:rPr lang="en-US" sz="2800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STACK CLASS EXAMPLE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7467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import</a:t>
            </a:r>
            <a:r>
              <a:rPr lang="en-US" sz="2400" dirty="0"/>
              <a:t> </a:t>
            </a:r>
            <a:r>
              <a:rPr lang="en-US" sz="2400" dirty="0" err="1"/>
              <a:t>java.util</a:t>
            </a:r>
            <a:r>
              <a:rPr lang="en-US" sz="2400" dirty="0"/>
              <a:t>.*;  </a:t>
            </a:r>
          </a:p>
          <a:p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/>
              <a:t>class</a:t>
            </a:r>
            <a:r>
              <a:rPr lang="en-US" sz="2400" dirty="0"/>
              <a:t> TestJavaCollection4{  </a:t>
            </a:r>
          </a:p>
          <a:p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/>
              <a:t>static</a:t>
            </a:r>
            <a:r>
              <a:rPr lang="en-US" sz="2400" dirty="0"/>
              <a:t> </a:t>
            </a:r>
            <a:r>
              <a:rPr lang="en-US" sz="2400" b="1" dirty="0"/>
              <a:t>void</a:t>
            </a:r>
            <a:r>
              <a:rPr lang="en-US" sz="2400" dirty="0"/>
              <a:t> main(String </a:t>
            </a:r>
            <a:r>
              <a:rPr lang="en-US" sz="2400" dirty="0" err="1"/>
              <a:t>args</a:t>
            </a:r>
            <a:r>
              <a:rPr lang="en-US" sz="2400" dirty="0"/>
              <a:t>[]){  </a:t>
            </a:r>
          </a:p>
          <a:p>
            <a:r>
              <a:rPr lang="en-US" sz="2400" dirty="0"/>
              <a:t>Stack&lt;String&gt; stack = </a:t>
            </a:r>
            <a:r>
              <a:rPr lang="en-US" sz="2400" b="1" dirty="0"/>
              <a:t>new</a:t>
            </a:r>
            <a:r>
              <a:rPr lang="en-US" sz="2400" dirty="0"/>
              <a:t> Stack&lt;String&gt;();  </a:t>
            </a:r>
          </a:p>
          <a:p>
            <a:r>
              <a:rPr lang="en-US" sz="2400" dirty="0" err="1"/>
              <a:t>stack.push</a:t>
            </a:r>
            <a:r>
              <a:rPr lang="en-US" sz="2400" dirty="0"/>
              <a:t>("</a:t>
            </a:r>
            <a:r>
              <a:rPr lang="en-US" sz="2400" dirty="0" err="1"/>
              <a:t>Ayush</a:t>
            </a:r>
            <a:r>
              <a:rPr lang="en-US" sz="2400" dirty="0"/>
              <a:t>");  </a:t>
            </a:r>
          </a:p>
          <a:p>
            <a:r>
              <a:rPr lang="en-US" sz="2400" dirty="0" err="1"/>
              <a:t>stack.push</a:t>
            </a:r>
            <a:r>
              <a:rPr lang="en-US" sz="2400" dirty="0"/>
              <a:t>("</a:t>
            </a:r>
            <a:r>
              <a:rPr lang="en-US" sz="2400" dirty="0" err="1"/>
              <a:t>Garvit</a:t>
            </a:r>
            <a:r>
              <a:rPr lang="en-US" sz="2400" dirty="0"/>
              <a:t>");  </a:t>
            </a:r>
          </a:p>
          <a:p>
            <a:r>
              <a:rPr lang="en-US" sz="2400" dirty="0" err="1"/>
              <a:t>stack.push</a:t>
            </a:r>
            <a:r>
              <a:rPr lang="en-US" sz="2400" dirty="0"/>
              <a:t>("</a:t>
            </a:r>
            <a:r>
              <a:rPr lang="en-US" sz="2400" dirty="0" err="1"/>
              <a:t>Amit</a:t>
            </a:r>
            <a:r>
              <a:rPr lang="en-US" sz="2400" dirty="0"/>
              <a:t>");  </a:t>
            </a:r>
          </a:p>
          <a:p>
            <a:r>
              <a:rPr lang="en-US" sz="2400" dirty="0" err="1"/>
              <a:t>stack.push</a:t>
            </a:r>
            <a:r>
              <a:rPr lang="en-US" sz="2400" dirty="0"/>
              <a:t>("</a:t>
            </a:r>
            <a:r>
              <a:rPr lang="en-US" sz="2400" dirty="0" err="1"/>
              <a:t>Ashish</a:t>
            </a:r>
            <a:r>
              <a:rPr lang="en-US" sz="2400" dirty="0"/>
              <a:t>");  </a:t>
            </a:r>
          </a:p>
          <a:p>
            <a:r>
              <a:rPr lang="en-US" sz="2400" dirty="0" err="1"/>
              <a:t>stack.push</a:t>
            </a:r>
            <a:r>
              <a:rPr lang="en-US" sz="2400" dirty="0"/>
              <a:t>("</a:t>
            </a:r>
            <a:r>
              <a:rPr lang="en-US" sz="2400" dirty="0" err="1"/>
              <a:t>Garima</a:t>
            </a:r>
            <a:r>
              <a:rPr lang="en-US" sz="2400" dirty="0"/>
              <a:t>");  </a:t>
            </a:r>
          </a:p>
          <a:p>
            <a:r>
              <a:rPr lang="en-US" sz="2400" dirty="0"/>
              <a:t>stack.pop();  </a:t>
            </a:r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495800" y="3427274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 smtClean="0"/>
              <a:t>Iterator</a:t>
            </a:r>
            <a:r>
              <a:rPr lang="en-US" sz="2400" dirty="0" smtClean="0"/>
              <a:t>&lt;String&gt; </a:t>
            </a:r>
            <a:r>
              <a:rPr lang="en-US" sz="2400" dirty="0" err="1" smtClean="0"/>
              <a:t>itr</a:t>
            </a:r>
            <a:r>
              <a:rPr lang="en-US" sz="2400" dirty="0" smtClean="0"/>
              <a:t>=</a:t>
            </a:r>
            <a:r>
              <a:rPr lang="en-US" sz="2400" dirty="0" err="1" smtClean="0"/>
              <a:t>stack.iterator</a:t>
            </a:r>
            <a:r>
              <a:rPr lang="en-US" sz="2400" dirty="0" smtClean="0"/>
              <a:t>();  </a:t>
            </a:r>
          </a:p>
          <a:p>
            <a:r>
              <a:rPr lang="en-US" sz="2400" b="1" dirty="0" smtClean="0"/>
              <a:t>while</a:t>
            </a:r>
            <a:r>
              <a:rPr lang="en-US" sz="2400" dirty="0" smtClean="0"/>
              <a:t>(</a:t>
            </a:r>
            <a:r>
              <a:rPr lang="en-US" sz="2400" dirty="0" err="1" smtClean="0"/>
              <a:t>itr.hasNext</a:t>
            </a:r>
            <a:r>
              <a:rPr lang="en-US" sz="2400" dirty="0" smtClean="0"/>
              <a:t>()){  </a:t>
            </a:r>
          </a:p>
          <a:p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itr.next</a:t>
            </a:r>
            <a:r>
              <a:rPr lang="en-US" sz="2400" dirty="0" smtClean="0"/>
              <a:t>());  </a:t>
            </a:r>
          </a:p>
          <a:p>
            <a:r>
              <a:rPr lang="en-US" sz="2400" dirty="0" smtClean="0"/>
              <a:t>}  </a:t>
            </a:r>
          </a:p>
          <a:p>
            <a:r>
              <a:rPr lang="en-US" sz="2400" dirty="0" smtClean="0"/>
              <a:t>}  </a:t>
            </a:r>
          </a:p>
          <a:p>
            <a:r>
              <a:rPr lang="en-US" sz="2400" dirty="0" smtClean="0"/>
              <a:t>}  </a:t>
            </a:r>
            <a:endParaRPr lang="en-US" sz="2400" dirty="0"/>
          </a:p>
        </p:txBody>
      </p:sp>
      <p:sp>
        <p:nvSpPr>
          <p:cNvPr id="140289" name="Rectangle 1"/>
          <p:cNvSpPr>
            <a:spLocks noChangeArrowheads="1"/>
          </p:cNvSpPr>
          <p:nvPr/>
        </p:nvSpPr>
        <p:spPr bwMode="auto">
          <a:xfrm>
            <a:off x="5828896" y="5810071"/>
            <a:ext cx="163870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Ayush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Unicode MS" pitchFamily="34" charset="-128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Garvit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Amit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Ashish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7400" y="5498068"/>
            <a:ext cx="16002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OUTPUT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BITSET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8686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BitSet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creates a special type of array that holds bit values.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array can increase in size as needed. This makes it similar to a vector of bits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BitSet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constructors are shown here: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52437"/>
              </p:ext>
            </p:extLst>
          </p:nvPr>
        </p:nvGraphicFramePr>
        <p:xfrm>
          <a:off x="0" y="3002434"/>
          <a:ext cx="9144000" cy="1798166"/>
        </p:xfrm>
        <a:graphic>
          <a:graphicData uri="http://schemas.openxmlformats.org/drawingml/2006/table">
            <a:tbl>
              <a:tblPr/>
              <a:tblGrid>
                <a:gridCol w="1752600"/>
                <a:gridCol w="7391400"/>
              </a:tblGrid>
              <a:tr h="177816">
                <a:tc>
                  <a:txBody>
                    <a:bodyPr/>
                    <a:lstStyle/>
                    <a:p>
                      <a:pPr fontAlgn="t"/>
                      <a:r>
                        <a:rPr lang="en-US" sz="1700" dirty="0" smtClean="0"/>
                        <a:t>CONSTRUCTOR</a:t>
                      </a:r>
                      <a:endParaRPr lang="en-US" sz="1700" dirty="0"/>
                    </a:p>
                  </a:txBody>
                  <a:tcPr marL="73668" marR="73668" marT="73668" marB="736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dirty="0" smtClean="0"/>
                        <a:t> </a:t>
                      </a:r>
                      <a:r>
                        <a:rPr lang="en-US" sz="1700" dirty="0"/>
                        <a:t>Description</a:t>
                      </a:r>
                    </a:p>
                  </a:txBody>
                  <a:tcPr marL="73668" marR="73668" marT="73668" marB="736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43122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( )</a:t>
                      </a:r>
                      <a:endParaRPr lang="en-US" sz="2000" dirty="0"/>
                    </a:p>
                  </a:txBody>
                  <a:tcPr marL="73668" marR="73668" marT="73668" marB="736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 smtClean="0">
                          <a:solidFill>
                            <a:srgbClr val="000000"/>
                          </a:solidFill>
                        </a:rPr>
                        <a:t>This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constructor creates a default object.</a:t>
                      </a:r>
                    </a:p>
                  </a:txBody>
                  <a:tcPr marL="73668" marR="73668" marT="73668" marB="736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628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 size)</a:t>
                      </a:r>
                      <a:endParaRPr lang="en-US" sz="2000" dirty="0"/>
                    </a:p>
                  </a:txBody>
                  <a:tcPr marL="73668" marR="73668" marT="73668" marB="736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 smtClean="0">
                          <a:solidFill>
                            <a:srgbClr val="000000"/>
                          </a:solidFill>
                        </a:rPr>
                        <a:t>This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constructor allows you to specify its initial size, i.e., the number of bits that it can hold. All bits are initialized to zero.</a:t>
                      </a:r>
                    </a:p>
                  </a:txBody>
                  <a:tcPr marL="73668" marR="73668" marT="73668" marB="736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60452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BITSET CLASS  </a:t>
            </a:r>
            <a:r>
              <a:rPr lang="en-US" sz="2800" b="1" dirty="0" err="1" smtClean="0">
                <a:latin typeface="Arial Black" pitchFamily="34" charset="0"/>
              </a:rPr>
              <a:t>contd</a:t>
            </a:r>
            <a:r>
              <a:rPr lang="en-US" sz="2800" b="1" dirty="0" smtClean="0">
                <a:latin typeface="Arial Black" pitchFamily="34" charset="0"/>
              </a:rPr>
              <a:t>…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131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111570"/>
              </p:ext>
            </p:extLst>
          </p:nvPr>
        </p:nvGraphicFramePr>
        <p:xfrm>
          <a:off x="-2" y="914400"/>
          <a:ext cx="9144002" cy="5410200"/>
        </p:xfrm>
        <a:graphic>
          <a:graphicData uri="http://schemas.openxmlformats.org/drawingml/2006/table">
            <a:tbl>
              <a:tblPr/>
              <a:tblGrid>
                <a:gridCol w="2743203"/>
                <a:gridCol w="6400799"/>
              </a:tblGrid>
              <a:tr h="401560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smtClean="0"/>
                        <a:t>METHOD</a:t>
                      </a:r>
                      <a:endParaRPr lang="en-US" sz="1800" b="1" dirty="0"/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 smtClean="0"/>
                        <a:t> </a:t>
                      </a:r>
                      <a:r>
                        <a:rPr lang="en-US" sz="1800" b="1" dirty="0"/>
                        <a:t>Description</a:t>
                      </a: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1178271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void and(</a:t>
                      </a:r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sz="2000" dirty="0"/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 smtClean="0">
                          <a:solidFill>
                            <a:srgbClr val="000000"/>
                          </a:solidFill>
                        </a:rPr>
                        <a:t>ANDs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the contents of the invoking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 object with those specified by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. The result is placed into the invoking object.</a:t>
                      </a: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408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void </a:t>
                      </a:r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andNot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sz="2000" dirty="0"/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 smtClean="0">
                          <a:solidFill>
                            <a:srgbClr val="000000"/>
                          </a:solidFill>
                        </a:rPr>
                        <a:t>For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each 1 bit in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, the corresponding bit in the invoking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</a:rPr>
                        <a:t>BitSet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 is cleared.</a:t>
                      </a: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577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 cardinality( )</a:t>
                      </a:r>
                      <a:endParaRPr lang="en-US" sz="2000" dirty="0"/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 smtClean="0">
                          <a:solidFill>
                            <a:srgbClr val="000000"/>
                          </a:solidFill>
                        </a:rPr>
                        <a:t>Returns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the number of set bits in the invoking object.</a:t>
                      </a: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436">
                <a:tc>
                  <a:txBody>
                    <a:bodyPr/>
                    <a:lstStyle/>
                    <a:p>
                      <a:r>
                        <a:rPr lang="en-US" sz="20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void or(</a:t>
                      </a:r>
                      <a:r>
                        <a:rPr lang="en-US" sz="2000" b="1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BitSet</a:t>
                      </a:r>
                      <a:r>
                        <a:rPr lang="en-US" sz="20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bitSet</a:t>
                      </a:r>
                      <a:r>
                        <a:rPr lang="en-US" sz="20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000" b="0" i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ORs the contents of the invoking 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BitSet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object with that specified by 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bitSet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The result is placed into the invoking object.</a:t>
                      </a:r>
                      <a:endParaRPr 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546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void clear(</a:t>
                      </a:r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 index)</a:t>
                      </a:r>
                      <a:endParaRPr lang="en-US" sz="2000" dirty="0"/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 smtClean="0">
                          <a:solidFill>
                            <a:srgbClr val="000000"/>
                          </a:solidFill>
                        </a:rPr>
                        <a:t>Zeros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the bit specified by index.</a:t>
                      </a: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436">
                <a:tc>
                  <a:txBody>
                    <a:bodyPr/>
                    <a:lstStyle/>
                    <a:p>
                      <a:r>
                        <a:rPr lang="en-US" sz="20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void </a:t>
                      </a:r>
                      <a:r>
                        <a:rPr lang="en-US" sz="2000" b="1" kern="1200" dirty="0" err="1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xor</a:t>
                      </a:r>
                      <a:r>
                        <a:rPr lang="en-US" sz="2000" b="1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000" b="1" kern="1200" dirty="0" err="1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BitSet</a:t>
                      </a:r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bitSet</a:t>
                      </a:r>
                      <a:r>
                        <a:rPr lang="en-US" sz="20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000" b="0" i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XORs the contents of the invoking 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BitSet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object with that specified by 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bitSet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The result is placed into the invoking object.</a:t>
                      </a:r>
                      <a:endParaRPr 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577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void flip(</a:t>
                      </a:r>
                      <a:r>
                        <a:rPr lang="en-US" sz="2000" b="1" dirty="0" err="1" smtClean="0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</a:rPr>
                        <a:t> index)</a:t>
                      </a:r>
                      <a:endParaRPr lang="en-US" sz="2000" dirty="0"/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dirty="0" smtClean="0">
                          <a:solidFill>
                            <a:srgbClr val="000000"/>
                          </a:solidFill>
                        </a:rPr>
                        <a:t>Reverses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the bit specified by the index.</a:t>
                      </a: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389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33961" marR="33961" marT="16981" marB="16981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33961" marR="33961" marT="16981" marB="16981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" y="304800"/>
            <a:ext cx="64008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import</a:t>
            </a:r>
            <a:r>
              <a:rPr lang="en-US" sz="2400" dirty="0" smtClean="0"/>
              <a:t> </a:t>
            </a:r>
            <a:r>
              <a:rPr lang="en-US" sz="2400" dirty="0" err="1" smtClean="0"/>
              <a:t>java.util.BitSet</a:t>
            </a:r>
            <a:r>
              <a:rPr lang="en-US" sz="2400" dirty="0" smtClean="0"/>
              <a:t>; 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 </a:t>
            </a:r>
            <a:r>
              <a:rPr lang="en-US" sz="2400" b="1" dirty="0" smtClean="0"/>
              <a:t>class</a:t>
            </a:r>
            <a:r>
              <a:rPr lang="en-US" sz="2400" dirty="0" smtClean="0"/>
              <a:t> </a:t>
            </a:r>
            <a:r>
              <a:rPr lang="en-US" sz="2400" dirty="0" err="1" smtClean="0"/>
              <a:t>BitSetDemo</a:t>
            </a:r>
            <a:r>
              <a:rPr lang="en-US" sz="2400" dirty="0" smtClean="0"/>
              <a:t> {</a:t>
            </a:r>
          </a:p>
          <a:p>
            <a:r>
              <a:rPr lang="en-US" sz="2400" dirty="0" smtClean="0"/>
              <a:t> </a:t>
            </a:r>
            <a:r>
              <a:rPr lang="en-US" sz="2400" b="1" dirty="0" smtClean="0"/>
              <a:t>public</a:t>
            </a:r>
            <a:r>
              <a:rPr lang="en-US" sz="2400" dirty="0" smtClean="0"/>
              <a:t> </a:t>
            </a:r>
            <a:r>
              <a:rPr lang="en-US" sz="2400" b="1" dirty="0" smtClean="0"/>
              <a:t>static</a:t>
            </a:r>
            <a:r>
              <a:rPr lang="en-US" sz="2400" dirty="0" smtClean="0"/>
              <a:t> void main(String </a:t>
            </a:r>
            <a:r>
              <a:rPr lang="en-US" sz="2400" dirty="0" err="1" smtClean="0"/>
              <a:t>args</a:t>
            </a:r>
            <a:r>
              <a:rPr lang="en-US" sz="2400" dirty="0" smtClean="0"/>
              <a:t>[]) { </a:t>
            </a:r>
          </a:p>
          <a:p>
            <a:r>
              <a:rPr lang="en-US" sz="2400" dirty="0" smtClean="0"/>
              <a:t>     </a:t>
            </a:r>
            <a:r>
              <a:rPr lang="en-US" sz="2400" dirty="0" err="1" smtClean="0"/>
              <a:t>BitSet</a:t>
            </a:r>
            <a:r>
              <a:rPr lang="en-US" sz="2400" dirty="0" smtClean="0"/>
              <a:t> bits1 = new </a:t>
            </a:r>
            <a:r>
              <a:rPr lang="en-US" sz="2400" dirty="0" err="1" smtClean="0"/>
              <a:t>BitSet</a:t>
            </a:r>
            <a:r>
              <a:rPr lang="en-US" sz="2400" dirty="0" smtClean="0"/>
              <a:t>(16);</a:t>
            </a:r>
          </a:p>
          <a:p>
            <a:r>
              <a:rPr lang="en-US" sz="2400" dirty="0" smtClean="0"/>
              <a:t>     </a:t>
            </a:r>
            <a:r>
              <a:rPr lang="en-US" sz="2400" dirty="0" err="1" smtClean="0"/>
              <a:t>BitSet</a:t>
            </a:r>
            <a:r>
              <a:rPr lang="en-US" sz="2400" dirty="0" smtClean="0"/>
              <a:t> bits2 = new </a:t>
            </a:r>
            <a:r>
              <a:rPr lang="en-US" sz="2400" dirty="0" err="1" smtClean="0"/>
              <a:t>BitSet</a:t>
            </a:r>
            <a:r>
              <a:rPr lang="en-US" sz="2400" dirty="0" smtClean="0"/>
              <a:t>(16); </a:t>
            </a:r>
          </a:p>
          <a:p>
            <a:r>
              <a:rPr lang="en-US" sz="2400" dirty="0" smtClean="0"/>
              <a:t>     for(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= 0; </a:t>
            </a:r>
            <a:r>
              <a:rPr lang="en-US" sz="2400" dirty="0" err="1" smtClean="0"/>
              <a:t>i</a:t>
            </a:r>
            <a:r>
              <a:rPr lang="en-US" sz="2400" dirty="0" smtClean="0"/>
              <a:t> &lt; 16; </a:t>
            </a:r>
            <a:r>
              <a:rPr lang="en-US" sz="2400" dirty="0" err="1" smtClean="0"/>
              <a:t>i</a:t>
            </a:r>
            <a:r>
              <a:rPr lang="en-US" sz="2400" dirty="0" smtClean="0"/>
              <a:t>++) {</a:t>
            </a:r>
          </a:p>
          <a:p>
            <a:r>
              <a:rPr lang="en-US" sz="2400" dirty="0" smtClean="0"/>
              <a:t>        if((</a:t>
            </a:r>
            <a:r>
              <a:rPr lang="en-US" sz="2400" dirty="0" err="1" smtClean="0"/>
              <a:t>i</a:t>
            </a:r>
            <a:r>
              <a:rPr lang="en-US" sz="2400" dirty="0" smtClean="0"/>
              <a:t> % 2) == 0) bits1.set(</a:t>
            </a:r>
            <a:r>
              <a:rPr lang="en-US" sz="2400" dirty="0" err="1" smtClean="0"/>
              <a:t>i</a:t>
            </a:r>
            <a:r>
              <a:rPr lang="en-US" sz="2400" dirty="0" smtClean="0"/>
              <a:t>);</a:t>
            </a:r>
          </a:p>
          <a:p>
            <a:r>
              <a:rPr lang="en-US" sz="2400" dirty="0" smtClean="0"/>
              <a:t>        if((</a:t>
            </a:r>
            <a:r>
              <a:rPr lang="en-US" sz="2400" dirty="0" err="1" smtClean="0"/>
              <a:t>i</a:t>
            </a:r>
            <a:r>
              <a:rPr lang="en-US" sz="2400" dirty="0" smtClean="0"/>
              <a:t> % 5) != 0) bits2.set(</a:t>
            </a:r>
            <a:r>
              <a:rPr lang="en-US" sz="2400" dirty="0" err="1" smtClean="0"/>
              <a:t>i</a:t>
            </a:r>
            <a:r>
              <a:rPr lang="en-US" sz="2400" dirty="0" smtClean="0"/>
              <a:t>); }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("Initial pattern in bits1: "); 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(bits1); 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("\</a:t>
            </a:r>
            <a:r>
              <a:rPr lang="en-US" sz="2400" dirty="0" err="1" smtClean="0"/>
              <a:t>nInitial</a:t>
            </a:r>
            <a:r>
              <a:rPr lang="en-US" sz="2400" dirty="0" smtClean="0"/>
              <a:t> pattern in bits2: ");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(bits2); </a:t>
            </a:r>
          </a:p>
          <a:p>
            <a:r>
              <a:rPr lang="en-US" sz="2400" dirty="0" smtClean="0"/>
              <a:t>    bits2.and(bits1); // AND bits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("\nbits2 AND bits1: "); 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(bits2); </a:t>
            </a:r>
          </a:p>
          <a:p>
            <a:r>
              <a:rPr lang="en-US" sz="2400" dirty="0" smtClean="0"/>
              <a:t>    bits bits2.or(bits1); // OR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("\nbits2 OR bits1: ");   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(bits2); </a:t>
            </a:r>
          </a:p>
          <a:p>
            <a:r>
              <a:rPr lang="en-US" sz="2400" dirty="0" smtClean="0"/>
              <a:t>} }</a:t>
            </a:r>
            <a:endParaRPr lang="en-US" sz="2400" dirty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257800" y="571143"/>
            <a:ext cx="3200400" cy="2031325"/>
          </a:xfrm>
          <a:prstGeom prst="rect">
            <a:avLst/>
          </a:prstGeom>
          <a:solidFill>
            <a:srgbClr val="EEEEEE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Initial pattern in bits1: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{0, 2, 4, 6, 8, 10, 12, 14}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Initial pattern in bits2: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{1, 2, 3, 4, 6, 7, 8, 9, 11, 12, 13, 14}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bits2 AND bits1: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{2, 4, 6, 8, 12, 14}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bits2 OR bits1: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{0, 2, 4, 6, 8, 10, 12, 14}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DATE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86868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/>
              <a:t>The </a:t>
            </a:r>
            <a:r>
              <a:rPr lang="en-US" sz="2800" dirty="0" err="1" smtClean="0"/>
              <a:t>java.util.Date</a:t>
            </a:r>
            <a:r>
              <a:rPr lang="en-US" sz="2800" dirty="0" smtClean="0"/>
              <a:t> class represents date and time in java.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It provides constructors and methods to deal with date and time in java.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The </a:t>
            </a:r>
            <a:r>
              <a:rPr lang="en-US" sz="2800" dirty="0" err="1" smtClean="0"/>
              <a:t>java.util.Date</a:t>
            </a:r>
            <a:r>
              <a:rPr lang="en-US" sz="2800" dirty="0" smtClean="0"/>
              <a:t> class implements </a:t>
            </a:r>
            <a:r>
              <a:rPr lang="en-US" sz="2800" dirty="0" err="1" smtClean="0"/>
              <a:t>Serializable</a:t>
            </a:r>
            <a:r>
              <a:rPr lang="en-US" sz="2800" dirty="0" smtClean="0"/>
              <a:t>, </a:t>
            </a:r>
            <a:r>
              <a:rPr lang="en-US" sz="2800" dirty="0" err="1" smtClean="0"/>
              <a:t>Cloneable</a:t>
            </a:r>
            <a:r>
              <a:rPr lang="en-US" sz="2800" dirty="0" smtClean="0"/>
              <a:t> and Comparable&lt;Date&gt; interfaces.</a:t>
            </a:r>
          </a:p>
          <a:p>
            <a:r>
              <a:rPr lang="en-US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It is inherited by </a:t>
            </a:r>
            <a:r>
              <a:rPr lang="en-US" sz="2800" dirty="0" err="1" smtClean="0"/>
              <a:t>java.sql.Date</a:t>
            </a:r>
            <a:r>
              <a:rPr lang="en-US" sz="2800" dirty="0" smtClean="0"/>
              <a:t>, </a:t>
            </a:r>
            <a:r>
              <a:rPr lang="en-US" sz="2800" dirty="0" err="1" smtClean="0"/>
              <a:t>java.sql.Time</a:t>
            </a:r>
            <a:r>
              <a:rPr lang="en-US" sz="2800" dirty="0" smtClean="0"/>
              <a:t> and </a:t>
            </a:r>
            <a:r>
              <a:rPr lang="en-US" sz="2800" dirty="0" err="1" smtClean="0"/>
              <a:t>java.sql.Timestamp</a:t>
            </a:r>
            <a:r>
              <a:rPr lang="en-US" sz="2800" dirty="0" smtClean="0"/>
              <a:t> classes.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Most of the constructors and methods of </a:t>
            </a:r>
            <a:r>
              <a:rPr lang="en-US" sz="2800" dirty="0" err="1" smtClean="0"/>
              <a:t>java.util.Date</a:t>
            </a:r>
            <a:r>
              <a:rPr lang="en-US" sz="2800" dirty="0" smtClean="0"/>
              <a:t> class has been deprecated. </a:t>
            </a:r>
            <a:br>
              <a:rPr lang="en-US" sz="2800" dirty="0" smtClean="0"/>
            </a:b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60452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DATE CLASS  </a:t>
            </a:r>
            <a:r>
              <a:rPr lang="en-US" sz="2800" b="1" dirty="0" err="1" smtClean="0">
                <a:latin typeface="Arial Black" pitchFamily="34" charset="0"/>
              </a:rPr>
              <a:t>contd</a:t>
            </a:r>
            <a:r>
              <a:rPr lang="en-US" sz="2800" b="1" dirty="0" smtClean="0">
                <a:latin typeface="Arial Black" pitchFamily="34" charset="0"/>
              </a:rPr>
              <a:t>…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838200"/>
          <a:ext cx="9144000" cy="1798166"/>
        </p:xfrm>
        <a:graphic>
          <a:graphicData uri="http://schemas.openxmlformats.org/drawingml/2006/table">
            <a:tbl>
              <a:tblPr/>
              <a:tblGrid>
                <a:gridCol w="1752600"/>
                <a:gridCol w="7391400"/>
              </a:tblGrid>
              <a:tr h="360849">
                <a:tc>
                  <a:txBody>
                    <a:bodyPr/>
                    <a:lstStyle/>
                    <a:p>
                      <a:pPr fontAlgn="t"/>
                      <a:r>
                        <a:rPr lang="en-US" sz="1700" b="1" dirty="0" smtClean="0"/>
                        <a:t>CONSTRUCTOR</a:t>
                      </a:r>
                      <a:endParaRPr lang="en-US" sz="1700" b="1" dirty="0"/>
                    </a:p>
                  </a:txBody>
                  <a:tcPr marL="73668" marR="73668" marT="73668" marB="736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dirty="0" smtClean="0"/>
                        <a:t> </a:t>
                      </a:r>
                      <a:r>
                        <a:rPr lang="en-US" sz="1700" b="1" dirty="0"/>
                        <a:t>Description</a:t>
                      </a:r>
                    </a:p>
                  </a:txBody>
                  <a:tcPr marL="73668" marR="73668" marT="73668" marB="7366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43122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Date()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Creates a date object representing current date and time.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62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Date(long milliseconds)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Creates a date object for the given milliseconds since January 1, 1970, 00:00:00 GMT.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131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3077685"/>
          <a:ext cx="9067800" cy="4085115"/>
        </p:xfrm>
        <a:graphic>
          <a:graphicData uri="http://schemas.openxmlformats.org/drawingml/2006/table">
            <a:tbl>
              <a:tblPr/>
              <a:tblGrid>
                <a:gridCol w="3324860"/>
                <a:gridCol w="5742940"/>
              </a:tblGrid>
              <a:tr h="362726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smtClean="0"/>
                        <a:t>METHOD</a:t>
                      </a:r>
                      <a:endParaRPr lang="en-US" sz="1800" b="1" dirty="0"/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 smtClean="0"/>
                        <a:t> </a:t>
                      </a:r>
                      <a:r>
                        <a:rPr lang="en-US" sz="1800" b="1" dirty="0"/>
                        <a:t>Description</a:t>
                      </a: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60060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err="1" smtClean="0">
                          <a:solidFill>
                            <a:schemeClr val="tx1"/>
                          </a:solidFill>
                          <a:latin typeface="verdana"/>
                          <a:hlinkClick r:id="rId2"/>
                        </a:rPr>
                        <a:t>Boolean_after</a:t>
                      </a:r>
                      <a:r>
                        <a:rPr lang="en-US" u="none" strike="noStrike" dirty="0" smtClean="0">
                          <a:solidFill>
                            <a:schemeClr val="tx1"/>
                          </a:solidFill>
                          <a:latin typeface="verdana"/>
                          <a:hlinkClick r:id="rId2"/>
                        </a:rPr>
                        <a:t>(Date </a:t>
                      </a:r>
                      <a:r>
                        <a:rPr lang="en-US" u="none" strike="noStrike" dirty="0" err="1">
                          <a:solidFill>
                            <a:schemeClr val="tx1"/>
                          </a:solidFill>
                          <a:latin typeface="verdana"/>
                          <a:hlinkClick r:id="rId2"/>
                        </a:rPr>
                        <a:t>date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2"/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tests if current date is after the given date.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366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err="1">
                          <a:solidFill>
                            <a:schemeClr val="tx1"/>
                          </a:solidFill>
                          <a:latin typeface="verdana"/>
                          <a:hlinkClick r:id="rId3"/>
                        </a:rPr>
                        <a:t>boolean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3"/>
                        </a:rPr>
                        <a:t> before(Date </a:t>
                      </a:r>
                      <a:r>
                        <a:rPr lang="en-US" u="none" strike="noStrike" dirty="0" err="1">
                          <a:solidFill>
                            <a:schemeClr val="tx1"/>
                          </a:solidFill>
                          <a:latin typeface="verdana"/>
                          <a:hlinkClick r:id="rId3"/>
                        </a:rPr>
                        <a:t>date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3"/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tests if current date is before the given date.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7731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4"/>
                        </a:rPr>
                        <a:t>Object clone()</a:t>
                      </a:r>
                      <a:endParaRPr lang="en-US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returns the clone object of current date.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860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err="1">
                          <a:solidFill>
                            <a:schemeClr val="tx1"/>
                          </a:solidFill>
                          <a:latin typeface="verdana"/>
                          <a:hlinkClick r:id="rId5"/>
                        </a:rPr>
                        <a:t>int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5"/>
                        </a:rPr>
                        <a:t> </a:t>
                      </a:r>
                      <a:r>
                        <a:rPr lang="en-US" u="none" strike="noStrike" dirty="0" err="1">
                          <a:solidFill>
                            <a:schemeClr val="tx1"/>
                          </a:solidFill>
                          <a:latin typeface="verdana"/>
                          <a:hlinkClick r:id="rId5"/>
                        </a:rPr>
                        <a:t>compareTo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5"/>
                        </a:rPr>
                        <a:t>(Date </a:t>
                      </a:r>
                      <a:r>
                        <a:rPr lang="en-US" u="none" strike="noStrike" dirty="0" err="1">
                          <a:solidFill>
                            <a:schemeClr val="tx1"/>
                          </a:solidFill>
                          <a:latin typeface="verdana"/>
                          <a:hlinkClick r:id="rId5"/>
                        </a:rPr>
                        <a:t>date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5"/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compares current date with given date.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6"/>
                        </a:rPr>
                        <a:t>long </a:t>
                      </a:r>
                      <a:r>
                        <a:rPr lang="en-US" u="none" strike="noStrike" dirty="0" err="1">
                          <a:solidFill>
                            <a:schemeClr val="tx1"/>
                          </a:solidFill>
                          <a:latin typeface="verdana"/>
                          <a:hlinkClick r:id="rId6"/>
                        </a:rPr>
                        <a:t>getTime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6"/>
                        </a:rPr>
                        <a:t>()</a:t>
                      </a:r>
                      <a:endParaRPr lang="en-US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returns the time represented by this date object.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7"/>
                        </a:rPr>
                        <a:t>void </a:t>
                      </a:r>
                      <a:r>
                        <a:rPr lang="en-US" u="none" strike="noStrike" dirty="0" err="1">
                          <a:solidFill>
                            <a:schemeClr val="tx1"/>
                          </a:solidFill>
                          <a:latin typeface="verdana"/>
                          <a:hlinkClick r:id="rId7"/>
                        </a:rPr>
                        <a:t>setTime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7"/>
                        </a:rPr>
                        <a:t>(long time)</a:t>
                      </a:r>
                      <a:endParaRPr lang="en-US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changes the current date and time to given time.</a:t>
                      </a: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DATE CLASS EXAMPLE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9144000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Sample code 1:</a:t>
            </a:r>
          </a:p>
          <a:p>
            <a:r>
              <a:rPr lang="en-US" sz="2800" dirty="0" err="1" smtClean="0"/>
              <a:t>java.util.Date</a:t>
            </a:r>
            <a:r>
              <a:rPr lang="en-US" sz="2800" dirty="0" smtClean="0"/>
              <a:t> date=</a:t>
            </a:r>
            <a:r>
              <a:rPr lang="en-US" sz="2800" b="1" dirty="0" smtClean="0"/>
              <a:t>new</a:t>
            </a:r>
            <a:r>
              <a:rPr lang="en-US" sz="2800" dirty="0" smtClean="0"/>
              <a:t> </a:t>
            </a:r>
            <a:r>
              <a:rPr lang="en-US" sz="2800" dirty="0" err="1" smtClean="0"/>
              <a:t>java.util.Date</a:t>
            </a:r>
            <a:r>
              <a:rPr lang="en-US" sz="2800" dirty="0" smtClean="0"/>
              <a:t>();  </a:t>
            </a:r>
          </a:p>
          <a:p>
            <a:r>
              <a:rPr lang="en-US" sz="2800" dirty="0" err="1" smtClean="0"/>
              <a:t>System.out.println</a:t>
            </a:r>
            <a:r>
              <a:rPr lang="en-US" sz="2800" dirty="0" smtClean="0"/>
              <a:t>(date);  </a:t>
            </a:r>
          </a:p>
          <a:p>
            <a:r>
              <a:rPr lang="en-US" sz="2800" b="1" dirty="0" smtClean="0"/>
              <a:t>Output</a:t>
            </a:r>
            <a:r>
              <a:rPr lang="en-US" sz="2800" dirty="0" smtClean="0"/>
              <a:t>:</a:t>
            </a:r>
          </a:p>
          <a:p>
            <a:r>
              <a:rPr lang="de-DE" sz="2800" dirty="0" smtClean="0"/>
              <a:t>Wed Oct 6 08:22:02 IST 2020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b="1" dirty="0" smtClean="0"/>
              <a:t>Sample code 2:</a:t>
            </a:r>
            <a:endParaRPr lang="en-US" sz="2800" dirty="0" smtClean="0"/>
          </a:p>
          <a:p>
            <a:r>
              <a:rPr lang="en-US" sz="2800" b="1" dirty="0" smtClean="0"/>
              <a:t>long</a:t>
            </a:r>
            <a:r>
              <a:rPr lang="en-US" sz="2800" dirty="0" smtClean="0"/>
              <a:t> </a:t>
            </a:r>
            <a:r>
              <a:rPr lang="en-US" sz="2800" dirty="0" err="1" smtClean="0"/>
              <a:t>millis</a:t>
            </a:r>
            <a:r>
              <a:rPr lang="en-US" sz="2800" dirty="0" smtClean="0"/>
              <a:t>=</a:t>
            </a:r>
            <a:r>
              <a:rPr lang="en-US" sz="2800" dirty="0" err="1" smtClean="0"/>
              <a:t>System.currentTimeMillis</a:t>
            </a:r>
            <a:r>
              <a:rPr lang="en-US" sz="2800" dirty="0" smtClean="0"/>
              <a:t>();  </a:t>
            </a:r>
          </a:p>
          <a:p>
            <a:r>
              <a:rPr lang="en-US" sz="2800" dirty="0" err="1" smtClean="0"/>
              <a:t>java.util.Date</a:t>
            </a:r>
            <a:r>
              <a:rPr lang="en-US" sz="2800" dirty="0" smtClean="0"/>
              <a:t> date=</a:t>
            </a:r>
            <a:r>
              <a:rPr lang="en-US" sz="2800" b="1" dirty="0" smtClean="0"/>
              <a:t>new</a:t>
            </a:r>
            <a:r>
              <a:rPr lang="en-US" sz="2800" dirty="0" smtClean="0"/>
              <a:t> </a:t>
            </a:r>
            <a:r>
              <a:rPr lang="en-US" sz="2800" dirty="0" err="1" smtClean="0"/>
              <a:t>java.util.Date</a:t>
            </a:r>
            <a:r>
              <a:rPr lang="en-US" sz="2800" dirty="0" smtClean="0"/>
              <a:t>(</a:t>
            </a:r>
            <a:r>
              <a:rPr lang="en-US" sz="2800" dirty="0" err="1" smtClean="0"/>
              <a:t>millis</a:t>
            </a:r>
            <a:r>
              <a:rPr lang="en-US" sz="2800" dirty="0" smtClean="0"/>
              <a:t>);  </a:t>
            </a:r>
          </a:p>
          <a:p>
            <a:r>
              <a:rPr lang="en-US" sz="2800" dirty="0" err="1" smtClean="0"/>
              <a:t>System.out.println</a:t>
            </a:r>
            <a:r>
              <a:rPr lang="en-US" sz="2800" dirty="0" smtClean="0"/>
              <a:t>(date);</a:t>
            </a:r>
          </a:p>
          <a:p>
            <a:endParaRPr lang="en-US" sz="2800" dirty="0" smtClean="0"/>
          </a:p>
          <a:p>
            <a:r>
              <a:rPr lang="en-US" sz="2800" b="1" dirty="0" smtClean="0"/>
              <a:t>Output</a:t>
            </a:r>
            <a:r>
              <a:rPr lang="en-US" sz="2800" dirty="0" smtClean="0"/>
              <a:t>:</a:t>
            </a:r>
          </a:p>
          <a:p>
            <a:r>
              <a:rPr lang="de-DE" sz="2800" dirty="0" smtClean="0"/>
              <a:t>Wed Oct 6 08:22:02 IST 2020</a:t>
            </a:r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CALENDAR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762000"/>
            <a:ext cx="86868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 smtClean="0"/>
              <a:t>Java Calendar class is an </a:t>
            </a:r>
            <a:r>
              <a:rPr lang="en-US" sz="2800" b="1" dirty="0" smtClean="0"/>
              <a:t>abstract class </a:t>
            </a:r>
            <a:r>
              <a:rPr lang="en-US" sz="2800" dirty="0" smtClean="0"/>
              <a:t>that provides methods for converting date between a specific instant in time and a set of calendar fields such as MONTH, YEAR, HOUR, etc.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 smtClean="0"/>
              <a:t> It inherits Object class and implements the Comparable, </a:t>
            </a:r>
            <a:r>
              <a:rPr lang="en-US" sz="2800" dirty="0" err="1" smtClean="0"/>
              <a:t>Serializable</a:t>
            </a:r>
            <a:r>
              <a:rPr lang="en-US" sz="2800" dirty="0" smtClean="0"/>
              <a:t> and </a:t>
            </a:r>
            <a:r>
              <a:rPr lang="en-US" sz="2800" dirty="0" err="1" smtClean="0"/>
              <a:t>Cloneable</a:t>
            </a:r>
            <a:r>
              <a:rPr lang="en-US" sz="2800" dirty="0" smtClean="0"/>
              <a:t> interfaces.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 smtClean="0"/>
              <a:t>Calendar </a:t>
            </a:r>
            <a:r>
              <a:rPr lang="en-US" sz="2800" dirty="0"/>
              <a:t>class is an </a:t>
            </a:r>
            <a:r>
              <a:rPr lang="en-US" sz="2800" b="1" dirty="0"/>
              <a:t>abstract class</a:t>
            </a:r>
            <a:r>
              <a:rPr lang="en-US" sz="2800" dirty="0"/>
              <a:t>, we can not create an object using it.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 smtClean="0"/>
              <a:t>We </a:t>
            </a:r>
            <a:r>
              <a:rPr lang="en-US" sz="2800" dirty="0"/>
              <a:t>will use the static </a:t>
            </a:r>
            <a:r>
              <a:rPr lang="en-US" sz="2800" dirty="0" smtClean="0"/>
              <a:t>method</a:t>
            </a:r>
          </a:p>
          <a:p>
            <a:r>
              <a:rPr lang="en-US" sz="2800" dirty="0"/>
              <a:t> </a:t>
            </a:r>
            <a:r>
              <a:rPr lang="en-US" sz="2800" b="1" dirty="0" err="1"/>
              <a:t>Calendar.getInstance</a:t>
            </a:r>
            <a:r>
              <a:rPr lang="en-US" sz="2800" b="1" dirty="0" smtClean="0"/>
              <a:t>()</a:t>
            </a:r>
            <a:r>
              <a:rPr lang="en-US" sz="2800" dirty="0"/>
              <a:t> to instantiate and implement a sub-class.</a:t>
            </a:r>
          </a:p>
          <a:p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60452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Calendar CLASS  </a:t>
            </a:r>
            <a:r>
              <a:rPr lang="en-US" sz="2800" b="1" dirty="0" err="1" smtClean="0">
                <a:latin typeface="Arial Black" pitchFamily="34" charset="0"/>
              </a:rPr>
              <a:t>contd</a:t>
            </a:r>
            <a:r>
              <a:rPr lang="en-US" sz="2800" b="1" dirty="0" smtClean="0">
                <a:latin typeface="Arial Black" pitchFamily="34" charset="0"/>
              </a:rPr>
              <a:t>…</a:t>
            </a:r>
            <a:endParaRPr lang="en-US" sz="28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131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914400"/>
          <a:ext cx="9067800" cy="5526674"/>
        </p:xfrm>
        <a:graphic>
          <a:graphicData uri="http://schemas.openxmlformats.org/drawingml/2006/table">
            <a:tbl>
              <a:tblPr/>
              <a:tblGrid>
                <a:gridCol w="3324860"/>
                <a:gridCol w="5742940"/>
              </a:tblGrid>
              <a:tr h="362726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smtClean="0"/>
                        <a:t>METHOD</a:t>
                      </a:r>
                      <a:endParaRPr lang="en-US" sz="1800" b="1" dirty="0"/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 smtClean="0"/>
                        <a:t> </a:t>
                      </a:r>
                      <a:r>
                        <a:rPr lang="en-US" sz="1800" b="1" dirty="0"/>
                        <a:t>Description</a:t>
                      </a: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60060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2"/>
                        </a:rPr>
                        <a:t>public void add(</a:t>
                      </a:r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2"/>
                        </a:rPr>
                        <a:t>int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2"/>
                        </a:rPr>
                        <a:t> field, </a:t>
                      </a:r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2"/>
                        </a:rPr>
                        <a:t>int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2"/>
                        </a:rPr>
                        <a:t> amount)</a:t>
                      </a:r>
                      <a:endParaRPr lang="en-US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Adds the specified (signed) amount of time to the given calendar field.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366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public </a:t>
                      </a:r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int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 </a:t>
                      </a:r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getWeekYear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This method gets the week year represented by current Calendar.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7731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smtClean="0">
                          <a:solidFill>
                            <a:srgbClr val="008000"/>
                          </a:solidFill>
                          <a:latin typeface="verdana"/>
                          <a:hlinkClick r:id="rId4"/>
                        </a:rPr>
                        <a:t>Public</a:t>
                      </a:r>
                      <a:r>
                        <a:rPr lang="en-US" u="none" strike="noStrike" baseline="0" dirty="0" smtClean="0">
                          <a:solidFill>
                            <a:srgbClr val="008000"/>
                          </a:solidFill>
                          <a:latin typeface="verdana"/>
                          <a:hlinkClick r:id="rId4"/>
                        </a:rPr>
                        <a:t> static </a:t>
                      </a:r>
                      <a:r>
                        <a:rPr lang="en-US" u="none" strike="noStrike" dirty="0" smtClean="0">
                          <a:solidFill>
                            <a:srgbClr val="008000"/>
                          </a:solidFill>
                          <a:latin typeface="verdana"/>
                          <a:hlinkClick r:id="rId4"/>
                        </a:rPr>
                        <a:t>Calendar </a:t>
                      </a:r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4"/>
                        </a:rPr>
                        <a:t>getInstance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4"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This method is used with calendar object to get the instance of calendar according to current time zone set by java runtime environment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860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5"/>
                        </a:rPr>
                        <a:t>public </a:t>
                      </a:r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5"/>
                        </a:rPr>
                        <a:t>int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5"/>
                        </a:rPr>
                        <a:t> get(</a:t>
                      </a:r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5"/>
                        </a:rPr>
                        <a:t>int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5"/>
                        </a:rPr>
                        <a:t> field)</a:t>
                      </a:r>
                      <a:endParaRPr lang="en-US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In get() method fields of the calendar are passed as the parameter, and this method Returns the value of fields passed as the parameter.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6"/>
                        </a:rPr>
                        <a:t>long </a:t>
                      </a:r>
                      <a:r>
                        <a:rPr lang="en-US" u="none" strike="noStrike" dirty="0" err="1">
                          <a:solidFill>
                            <a:schemeClr val="tx1"/>
                          </a:solidFill>
                          <a:latin typeface="verdana"/>
                          <a:hlinkClick r:id="rId6"/>
                        </a:rPr>
                        <a:t>getTime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latin typeface="verdana"/>
                          <a:hlinkClick r:id="rId6"/>
                        </a:rPr>
                        <a:t>()</a:t>
                      </a:r>
                      <a:endParaRPr lang="en-US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This method gets the time value of calendar object and Returns date.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7"/>
                        </a:rPr>
                        <a:t>public String </a:t>
                      </a:r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7"/>
                        </a:rPr>
                        <a:t>getCalendarType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7"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Returns in string all available calendar type supported by Java Runtime Environment</a:t>
                      </a: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CALENDAR CLASS EXAMPLE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008757"/>
            <a:ext cx="86868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java.util.Calendar</a:t>
            </a:r>
            <a:r>
              <a:rPr lang="en-US" sz="2400" dirty="0"/>
              <a:t>;</a:t>
            </a:r>
          </a:p>
          <a:p>
            <a:r>
              <a:rPr lang="en-US" sz="2400" dirty="0"/>
              <a:t>public class </a:t>
            </a:r>
            <a:r>
              <a:rPr lang="en-US" sz="2400" dirty="0" smtClean="0"/>
              <a:t>CalendarExample1{</a:t>
            </a:r>
            <a:endParaRPr lang="en-US" sz="2400" dirty="0"/>
          </a:p>
          <a:p>
            <a:r>
              <a:rPr lang="en-US" sz="2400" dirty="0" smtClean="0"/>
              <a:t>public </a:t>
            </a:r>
            <a:r>
              <a:rPr lang="en-US" sz="2400" dirty="0"/>
              <a:t>static void main(String[] </a:t>
            </a:r>
            <a:r>
              <a:rPr lang="en-US" sz="2400" dirty="0" err="1"/>
              <a:t>args</a:t>
            </a:r>
            <a:r>
              <a:rPr lang="en-US" sz="2400" dirty="0"/>
              <a:t>){</a:t>
            </a:r>
          </a:p>
          <a:p>
            <a:r>
              <a:rPr lang="en-US" sz="2400" dirty="0"/>
              <a:t>Calendar calendar=</a:t>
            </a:r>
            <a:r>
              <a:rPr lang="en-US" sz="2400" dirty="0" err="1"/>
              <a:t>Calendar.getInstance</a:t>
            </a:r>
            <a:r>
              <a:rPr lang="en-US" sz="2400" dirty="0"/>
              <a:t>();</a:t>
            </a:r>
          </a:p>
          <a:p>
            <a:r>
              <a:rPr lang="en-US" sz="2400" dirty="0" err="1"/>
              <a:t>System.out.println</a:t>
            </a:r>
            <a:r>
              <a:rPr lang="en-US" sz="2400" dirty="0"/>
              <a:t>("The current date is : " + </a:t>
            </a:r>
            <a:r>
              <a:rPr lang="en-US" sz="2400" dirty="0" err="1"/>
              <a:t>calendar.getTime</a:t>
            </a:r>
            <a:r>
              <a:rPr lang="en-US" sz="2400" dirty="0"/>
              <a:t>());</a:t>
            </a:r>
          </a:p>
          <a:p>
            <a:r>
              <a:rPr lang="en-US" sz="2400" dirty="0" err="1"/>
              <a:t>calendar.add</a:t>
            </a:r>
            <a:r>
              <a:rPr lang="en-US" sz="2400" dirty="0"/>
              <a:t>(Calendar.DATE,-15);</a:t>
            </a:r>
          </a:p>
          <a:p>
            <a:r>
              <a:rPr lang="en-US" sz="2400" dirty="0" err="1"/>
              <a:t>System.out.println</a:t>
            </a:r>
            <a:r>
              <a:rPr lang="en-US" sz="2400" dirty="0"/>
              <a:t>("15 days ago:"+</a:t>
            </a:r>
            <a:r>
              <a:rPr lang="en-US" sz="2400" dirty="0" err="1"/>
              <a:t>calendar.getTime</a:t>
            </a:r>
            <a:r>
              <a:rPr lang="en-US" sz="2400" dirty="0"/>
              <a:t>());</a:t>
            </a:r>
          </a:p>
          <a:p>
            <a:r>
              <a:rPr lang="en-US" sz="2400" dirty="0" err="1"/>
              <a:t>calendar.add</a:t>
            </a:r>
            <a:r>
              <a:rPr lang="en-US" sz="2400" dirty="0"/>
              <a:t>(Calendar.MONTH,4);</a:t>
            </a:r>
          </a:p>
          <a:p>
            <a:r>
              <a:rPr lang="en-US" sz="2400" dirty="0" err="1"/>
              <a:t>System.out.println</a:t>
            </a:r>
            <a:r>
              <a:rPr lang="en-US" sz="2400" dirty="0"/>
              <a:t>("4 months later: "+</a:t>
            </a:r>
            <a:r>
              <a:rPr lang="en-US" sz="2400" dirty="0" err="1"/>
              <a:t>calendar.getTime</a:t>
            </a:r>
            <a:r>
              <a:rPr lang="en-US" sz="2400" dirty="0"/>
              <a:t>());</a:t>
            </a:r>
          </a:p>
          <a:p>
            <a:r>
              <a:rPr lang="en-US" sz="2400" dirty="0" err="1"/>
              <a:t>calendar.add</a:t>
            </a:r>
            <a:r>
              <a:rPr lang="en-US" sz="2400" dirty="0"/>
              <a:t>(Calendar.YEAR,2);</a:t>
            </a:r>
          </a:p>
          <a:p>
            <a:r>
              <a:rPr lang="en-US" sz="2400" dirty="0" err="1"/>
              <a:t>System.out.println</a:t>
            </a:r>
            <a:r>
              <a:rPr lang="en-US" sz="2400" dirty="0"/>
              <a:t>("2 years later: "+</a:t>
            </a:r>
            <a:r>
              <a:rPr lang="en-US" sz="2400" dirty="0" err="1"/>
              <a:t>calendar.getTime</a:t>
            </a:r>
            <a:r>
              <a:rPr lang="en-US" sz="2400" dirty="0"/>
              <a:t>()); </a:t>
            </a:r>
          </a:p>
          <a:p>
            <a:r>
              <a:rPr lang="en-US" sz="2400" dirty="0" err="1"/>
              <a:t>System.out.println</a:t>
            </a:r>
            <a:r>
              <a:rPr lang="en-US" sz="2400" dirty="0"/>
              <a:t>("At present Calendar's Year: "+</a:t>
            </a:r>
            <a:r>
              <a:rPr lang="en-US" sz="2400" dirty="0" err="1"/>
              <a:t>calendar.get</a:t>
            </a:r>
            <a:r>
              <a:rPr lang="en-US" sz="2400" dirty="0"/>
              <a:t>(</a:t>
            </a:r>
            <a:r>
              <a:rPr lang="en-US" sz="2400" dirty="0" err="1"/>
              <a:t>Calendar.YEAR</a:t>
            </a:r>
            <a:r>
              <a:rPr lang="en-US" sz="2400" dirty="0"/>
              <a:t>));</a:t>
            </a:r>
          </a:p>
          <a:p>
            <a:r>
              <a:rPr lang="en-US" sz="2400" dirty="0"/>
              <a:t>}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6081" name="Rectangle 1"/>
          <p:cNvSpPr>
            <a:spLocks noChangeArrowheads="1"/>
          </p:cNvSpPr>
          <p:nvPr/>
        </p:nvSpPr>
        <p:spPr bwMode="auto">
          <a:xfrm>
            <a:off x="2667000" y="5853286"/>
            <a:ext cx="5715000" cy="1461914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7617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itchFamily="34" charset="0"/>
                <a:cs typeface="Arial" pitchFamily="34" charset="0"/>
              </a:rPr>
              <a:t>The current date is : Fri Jan 05 08:24:04 GMT 2024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itchFamily="34" charset="0"/>
                <a:cs typeface="Arial" pitchFamily="34" charset="0"/>
              </a:rPr>
              <a:t>15 days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ago:Thu</a:t>
            </a:r>
            <a:r>
              <a:rPr lang="en-US" dirty="0">
                <a:latin typeface="Arial" pitchFamily="34" charset="0"/>
                <a:cs typeface="Arial" pitchFamily="34" charset="0"/>
              </a:rPr>
              <a:t> Dec 21 08:24:04 GMT 2023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itchFamily="34" charset="0"/>
                <a:cs typeface="Arial" pitchFamily="34" charset="0"/>
              </a:rPr>
              <a:t>4 months later: Sun Apr 21 08:24:04 GMT 2024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itchFamily="34" charset="0"/>
                <a:cs typeface="Arial" pitchFamily="34" charset="0"/>
              </a:rPr>
              <a:t>2 years later: Tue Apr 21 08:24:04 GMT 2026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itchFamily="34" charset="0"/>
                <a:cs typeface="Arial" pitchFamily="34" charset="0"/>
              </a:rPr>
              <a:t>At present Calendar's Year: 2026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RANDOM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295400"/>
            <a:ext cx="8763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An instance of this class is used to generate a stream of pseudorandom numbers.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These </a:t>
            </a:r>
            <a:r>
              <a:rPr lang="en-US" sz="2400" dirty="0"/>
              <a:t>are called pseudorandom numbers because they are simply uniformly distributed sequences. 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Random </a:t>
            </a:r>
            <a:r>
              <a:rPr lang="en-US" sz="2400" dirty="0"/>
              <a:t>defines the following constructors: </a:t>
            </a:r>
            <a:endParaRPr lang="en-US" sz="2400" dirty="0"/>
          </a:p>
          <a:p>
            <a:pPr marL="1714500" lvl="3" indent="-342900">
              <a:buFont typeface="Arial" pitchFamily="34" charset="0"/>
              <a:buChar char="•"/>
            </a:pPr>
            <a:r>
              <a:rPr lang="en-US" sz="2400" dirty="0"/>
              <a:t>	</a:t>
            </a:r>
            <a:r>
              <a:rPr lang="en-US" sz="2400" dirty="0"/>
              <a:t>Random</a:t>
            </a:r>
            <a:r>
              <a:rPr lang="en-US" sz="2400" dirty="0"/>
              <a:t>( ) </a:t>
            </a:r>
            <a:r>
              <a:rPr lang="en-US" sz="2400" dirty="0" smtClean="0"/>
              <a:t>      //current time as the seed</a:t>
            </a:r>
            <a:endParaRPr lang="en-US" sz="2400" dirty="0"/>
          </a:p>
          <a:p>
            <a:pPr marL="1714500" lvl="3" indent="-342900">
              <a:buFont typeface="Arial" pitchFamily="34" charset="0"/>
              <a:buChar char="•"/>
            </a:pPr>
            <a:r>
              <a:rPr lang="en-US" sz="2400" dirty="0"/>
              <a:t>	</a:t>
            </a:r>
            <a:r>
              <a:rPr lang="en-US" sz="2400" dirty="0"/>
              <a:t>Random(long </a:t>
            </a:r>
            <a:r>
              <a:rPr lang="en-US" sz="2400" dirty="0"/>
              <a:t>seed)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131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-213897"/>
          <a:ext cx="9067800" cy="5647887"/>
        </p:xfrm>
        <a:graphic>
          <a:graphicData uri="http://schemas.openxmlformats.org/drawingml/2006/table">
            <a:tbl>
              <a:tblPr/>
              <a:tblGrid>
                <a:gridCol w="1676400"/>
                <a:gridCol w="7391400"/>
              </a:tblGrid>
              <a:tr h="362726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 smtClean="0"/>
                        <a:t>METHOD</a:t>
                      </a:r>
                      <a:endParaRPr lang="en-US" sz="1800" b="1" dirty="0"/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 smtClean="0"/>
                        <a:t> </a:t>
                      </a:r>
                      <a:r>
                        <a:rPr lang="en-US" sz="1800" b="1" dirty="0"/>
                        <a:t>Description</a:t>
                      </a:r>
                    </a:p>
                  </a:txBody>
                  <a:tcPr marL="28301" marR="28301" marT="28301" marB="2830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67731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2"/>
                        </a:rPr>
                        <a:t>next()</a:t>
                      </a:r>
                      <a:endParaRPr lang="en-US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Generates the next pseudorandom number.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nextByte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Generates random bytes and puts them into a specified byte array.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4"/>
                        </a:rPr>
                        <a:t>nextDouble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4"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Returns the next pseudorandom Double value between 0.0 and 1.0 from the random number generator's sequence</a:t>
                      </a: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>
                          <a:solidFill>
                            <a:srgbClr val="008000"/>
                          </a:solidFill>
                          <a:latin typeface="verdana"/>
                          <a:hlinkClick r:id="rId5"/>
                        </a:rPr>
                        <a:t>nextFloat()</a:t>
                      </a:r>
                      <a:endParaRPr lang="en-US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Returns the next uniformly distributed pseudorandom Float value between 0.0 and 1.0 from this random number generator's sequence</a:t>
                      </a: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6"/>
                        </a:rPr>
                        <a:t>nextInt</a:t>
                      </a:r>
                      <a:r>
                        <a:rPr lang="en-US" u="none" strike="noStrike" dirty="0">
                          <a:solidFill>
                            <a:srgbClr val="008000"/>
                          </a:solidFill>
                          <a:latin typeface="verdana"/>
                          <a:hlinkClick r:id="rId6"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Returns a uniformly distributed pseudorandom int value generated from this random number generator's sequence</a:t>
                      </a: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>
                          <a:solidFill>
                            <a:srgbClr val="008000"/>
                          </a:solidFill>
                          <a:latin typeface="verdana"/>
                          <a:hlinkClick r:id="rId7"/>
                        </a:rPr>
                        <a:t>nextLong()</a:t>
                      </a:r>
                      <a:endParaRPr lang="en-US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latin typeface="verdana"/>
                        </a:rPr>
                        <a:t>Returns the next uniformly distributed pseudorandom long value from the random number generator's sequence.</a:t>
                      </a: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414"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>
                          <a:solidFill>
                            <a:srgbClr val="008000"/>
                          </a:solidFill>
                          <a:latin typeface="verdana"/>
                          <a:hlinkClick r:id="rId8"/>
                        </a:rPr>
                        <a:t>setSeed()</a:t>
                      </a:r>
                      <a:endParaRPr lang="en-US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latin typeface="verdana"/>
                        </a:rPr>
                        <a:t>Sets the seed of this random number generator using a single long seed</a:t>
                      </a:r>
                    </a:p>
                  </a:txBody>
                  <a:tcPr marL="76200" marR="76200" marT="76200" marB="76200"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RANDOM CLASS EXAMPLES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295400"/>
            <a:ext cx="8763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 smtClean="0"/>
              <a:t>import </a:t>
            </a:r>
            <a:r>
              <a:rPr lang="en-US" sz="2400" dirty="0" err="1" smtClean="0"/>
              <a:t>java.util.Random</a:t>
            </a:r>
            <a:r>
              <a:rPr lang="en-US" sz="2400" dirty="0" smtClean="0"/>
              <a:t>; </a:t>
            </a:r>
          </a:p>
          <a:p>
            <a:pPr fontAlgn="base"/>
            <a:r>
              <a:rPr lang="en-US" sz="2400" dirty="0" smtClean="0"/>
              <a:t>  </a:t>
            </a:r>
          </a:p>
          <a:p>
            <a:pPr fontAlgn="base"/>
            <a:r>
              <a:rPr lang="en-US" sz="2400" dirty="0" smtClean="0"/>
              <a:t>public class Test </a:t>
            </a:r>
          </a:p>
          <a:p>
            <a:pPr fontAlgn="base"/>
            <a:r>
              <a:rPr lang="en-US" sz="2400" dirty="0" smtClean="0"/>
              <a:t>{ </a:t>
            </a:r>
          </a:p>
          <a:p>
            <a:pPr fontAlgn="base"/>
            <a:r>
              <a:rPr lang="en-US" sz="2400" dirty="0" smtClean="0"/>
              <a:t>    public static void main(String[] </a:t>
            </a:r>
            <a:r>
              <a:rPr lang="en-US" sz="2400" dirty="0" err="1" smtClean="0"/>
              <a:t>args</a:t>
            </a:r>
            <a:r>
              <a:rPr lang="en-US" sz="2400" dirty="0" smtClean="0"/>
              <a:t>) </a:t>
            </a:r>
          </a:p>
          <a:p>
            <a:pPr fontAlgn="base"/>
            <a:r>
              <a:rPr lang="en-US" sz="2400" dirty="0" smtClean="0"/>
              <a:t>    { </a:t>
            </a:r>
          </a:p>
          <a:p>
            <a:pPr fontAlgn="base"/>
            <a:r>
              <a:rPr lang="en-US" sz="2400" dirty="0" smtClean="0"/>
              <a:t>        Random </a:t>
            </a:r>
            <a:r>
              <a:rPr lang="en-US" sz="2400" dirty="0" err="1" smtClean="0"/>
              <a:t>random</a:t>
            </a:r>
            <a:r>
              <a:rPr lang="en-US" sz="2400" dirty="0" smtClean="0"/>
              <a:t> = new Random(); </a:t>
            </a:r>
          </a:p>
          <a:p>
            <a:pPr fontAlgn="base"/>
            <a:r>
              <a:rPr lang="en-US" sz="2400" dirty="0" smtClean="0"/>
              <a:t>        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random.nextInt</a:t>
            </a:r>
            <a:r>
              <a:rPr lang="en-US" sz="2400" dirty="0" smtClean="0"/>
              <a:t>()); </a:t>
            </a:r>
            <a:endParaRPr lang="en-US" sz="2400" dirty="0" smtClean="0"/>
          </a:p>
          <a:p>
            <a:pPr fontAlgn="base"/>
            <a:r>
              <a:rPr lang="en-US" sz="2400" dirty="0" smtClean="0"/>
              <a:t>        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random.nextBoolean</a:t>
            </a:r>
            <a:r>
              <a:rPr lang="en-US" sz="2400" dirty="0" smtClean="0"/>
              <a:t>()); </a:t>
            </a:r>
          </a:p>
          <a:p>
            <a:pPr fontAlgn="base"/>
            <a:r>
              <a:rPr lang="en-US" sz="2400" dirty="0" smtClean="0"/>
              <a:t>        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random.nextDouble</a:t>
            </a:r>
            <a:r>
              <a:rPr lang="en-US" sz="2400" dirty="0" smtClean="0"/>
              <a:t>()); </a:t>
            </a:r>
          </a:p>
          <a:p>
            <a:r>
              <a:rPr lang="en-US" sz="2400" dirty="0" smtClean="0"/>
              <a:t>    }	</a:t>
            </a:r>
            <a:br>
              <a:rPr lang="en-US" sz="2400" dirty="0" smtClean="0"/>
            </a:br>
            <a:r>
              <a:rPr lang="en-US" sz="2400" dirty="0" smtClean="0"/>
              <a:t>  }</a:t>
            </a:r>
            <a:endParaRPr lang="en-US" sz="2400" dirty="0"/>
          </a:p>
        </p:txBody>
      </p:sp>
      <p:sp>
        <p:nvSpPr>
          <p:cNvPr id="52225" name="Rectangle 1"/>
          <p:cNvSpPr>
            <a:spLocks noChangeArrowheads="1"/>
          </p:cNvSpPr>
          <p:nvPr/>
        </p:nvSpPr>
        <p:spPr bwMode="auto">
          <a:xfrm>
            <a:off x="6019800" y="5105400"/>
            <a:ext cx="2680221" cy="132725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OUTPUT::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4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true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 0.1967493434040291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FORMATTER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295400"/>
            <a:ext cx="87630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Formatter class outputs the formatted output.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It can format numbers, strings, and time and date.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It operates in a manner similar to the C/C++ </a:t>
            </a:r>
            <a:r>
              <a:rPr lang="en-US" sz="2400" dirty="0" err="1" smtClean="0"/>
              <a:t>printf</a:t>
            </a:r>
            <a:r>
              <a:rPr lang="en-US" sz="2400" dirty="0" smtClean="0"/>
              <a:t>() function..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Formatters are not necessarily safe for multithreaded access.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Thread safety is optional and is the responsibility of users of methods in this class.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FORMATTER CLASS CONTD..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1143000"/>
          <a:ext cx="8839200" cy="5984873"/>
        </p:xfrm>
        <a:graphic>
          <a:graphicData uri="http://schemas.openxmlformats.org/drawingml/2006/table">
            <a:tbl>
              <a:tblPr/>
              <a:tblGrid>
                <a:gridCol w="627556"/>
                <a:gridCol w="8211644"/>
              </a:tblGrid>
              <a:tr h="410743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 err="1" smtClean="0"/>
                        <a:t>Sr.No</a:t>
                      </a:r>
                      <a:endParaRPr lang="en-US" sz="1800" dirty="0"/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/>
                        <a:t>Constructor &amp; Description</a:t>
                      </a: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657872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/>
                        <a:t>1</a:t>
                      </a: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Formatter()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This constructor constructs a new formatter.</a:t>
                      </a: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249">
                <a:tc>
                  <a:txBody>
                    <a:bodyPr/>
                    <a:lstStyle/>
                    <a:p>
                      <a:pPr fontAlgn="t"/>
                      <a:r>
                        <a:rPr lang="en-US" sz="1800"/>
                        <a:t>2</a:t>
                      </a: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Formatter(Appendable a)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  <a:p>
                      <a:pPr algn="just" fontAlgn="t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This constructor constructs a new formatter with the specified destination.</a:t>
                      </a: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249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Formatter(File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</a:rPr>
                        <a:t>file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This constructor constructs a new formatter with the specified file.</a:t>
                      </a: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921">
                <a:tc>
                  <a:txBody>
                    <a:bodyPr/>
                    <a:lstStyle/>
                    <a:p>
                      <a:pPr fontAlgn="t"/>
                      <a:r>
                        <a:rPr lang="en-US" dirty="0" err="1" smtClean="0"/>
                        <a:t>Sno</a:t>
                      </a:r>
                      <a:endParaRPr lang="en-US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/>
                        <a:t>Method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56151">
                <a:tc>
                  <a:txBody>
                    <a:bodyPr/>
                    <a:lstStyle/>
                    <a:p>
                      <a:pPr fontAlgn="t"/>
                      <a:r>
                        <a:rPr lang="en-US" dirty="0"/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u="none" strike="noStrike" dirty="0">
                          <a:solidFill>
                            <a:srgbClr val="313131"/>
                          </a:solidFill>
                          <a:hlinkClick r:id="rId2"/>
                        </a:rPr>
                        <a:t>void close()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This method closes this formatter.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941"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u="none" strike="noStrike" dirty="0">
                          <a:solidFill>
                            <a:srgbClr val="313131"/>
                          </a:solidFill>
                          <a:hlinkClick r:id="rId3"/>
                        </a:rPr>
                        <a:t>void flush()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This method flushes this formatter.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975">
                <a:tc>
                  <a:txBody>
                    <a:bodyPr/>
                    <a:lstStyle/>
                    <a:p>
                      <a:pPr fontAlgn="t"/>
                      <a:r>
                        <a:rPr lang="en-US" dirty="0"/>
                        <a:t>4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u="none" strike="noStrike">
                          <a:solidFill>
                            <a:srgbClr val="313131"/>
                          </a:solidFill>
                          <a:hlinkClick r:id="rId4"/>
                        </a:rPr>
                        <a:t>Formatter format(String format, Object... args)</a:t>
                      </a:r>
                      <a:r>
                        <a:rPr lang="en-US">
                          <a:solidFill>
                            <a:srgbClr val="000000"/>
                          </a:solidFill>
                        </a:rPr>
                        <a:t>This method writes a formatted string to this object's destination using the specified format string and arguments.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249">
                <a:tc>
                  <a:txBody>
                    <a:bodyPr/>
                    <a:lstStyle/>
                    <a:p>
                      <a:pPr fontAlgn="t"/>
                      <a:r>
                        <a:rPr lang="en-US" dirty="0"/>
                        <a:t>7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u="none" strike="noStrike">
                          <a:solidFill>
                            <a:srgbClr val="313131"/>
                          </a:solidFill>
                          <a:hlinkClick r:id="rId5"/>
                        </a:rPr>
                        <a:t>Appendable out()</a:t>
                      </a:r>
                      <a:r>
                        <a:rPr lang="en-US">
                          <a:solidFill>
                            <a:srgbClr val="000000"/>
                          </a:solidFill>
                        </a:rPr>
                        <a:t>This method returns the destination for the output.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249"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8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u="none" strike="noStrike" dirty="0">
                          <a:solidFill>
                            <a:srgbClr val="313131"/>
                          </a:solidFill>
                          <a:hlinkClick r:id="rId6"/>
                        </a:rPr>
                        <a:t>String </a:t>
                      </a:r>
                      <a:r>
                        <a:rPr lang="en-US" b="0" u="none" strike="noStrike" dirty="0" err="1">
                          <a:solidFill>
                            <a:srgbClr val="313131"/>
                          </a:solidFill>
                          <a:hlinkClick r:id="rId6"/>
                        </a:rPr>
                        <a:t>toString</a:t>
                      </a:r>
                      <a:r>
                        <a:rPr lang="en-US" b="0" u="none" strike="noStrike" dirty="0">
                          <a:solidFill>
                            <a:srgbClr val="313131"/>
                          </a:solidFill>
                          <a:hlinkClick r:id="rId6"/>
                        </a:rPr>
                        <a:t>()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This method returns the result of invoking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toString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() on the destination for the output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52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FORMATTER CLASS EXAMPLE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295400"/>
            <a:ext cx="8763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import</a:t>
            </a:r>
            <a:r>
              <a:rPr lang="en-US" sz="2400" dirty="0" smtClean="0"/>
              <a:t> </a:t>
            </a:r>
            <a:r>
              <a:rPr lang="en-US" sz="2400" dirty="0" err="1" smtClean="0"/>
              <a:t>java.util.Formatter</a:t>
            </a:r>
            <a:r>
              <a:rPr lang="en-US" sz="2400" dirty="0" smtClean="0"/>
              <a:t>;</a:t>
            </a:r>
          </a:p>
          <a:p>
            <a:r>
              <a:rPr lang="en-US" sz="2400" dirty="0" smtClean="0"/>
              <a:t> </a:t>
            </a:r>
            <a:r>
              <a:rPr lang="en-US" sz="2400" b="1" dirty="0" smtClean="0"/>
              <a:t>public</a:t>
            </a:r>
            <a:r>
              <a:rPr lang="en-US" sz="2400" dirty="0" smtClean="0"/>
              <a:t> </a:t>
            </a:r>
            <a:r>
              <a:rPr lang="en-US" sz="2400" b="1" dirty="0" smtClean="0"/>
              <a:t>class</a:t>
            </a:r>
            <a:r>
              <a:rPr lang="en-US" sz="2400" dirty="0" smtClean="0"/>
              <a:t> Main {</a:t>
            </a:r>
          </a:p>
          <a:p>
            <a:r>
              <a:rPr lang="en-US" sz="2400" dirty="0" smtClean="0"/>
              <a:t> </a:t>
            </a:r>
            <a:r>
              <a:rPr lang="en-US" sz="2400" b="1" dirty="0" smtClean="0"/>
              <a:t>public</a:t>
            </a:r>
            <a:r>
              <a:rPr lang="en-US" sz="2400" dirty="0" smtClean="0"/>
              <a:t> </a:t>
            </a:r>
            <a:r>
              <a:rPr lang="en-US" sz="2400" b="1" dirty="0" smtClean="0"/>
              <a:t>static</a:t>
            </a:r>
            <a:r>
              <a:rPr lang="en-US" sz="2400" dirty="0" smtClean="0"/>
              <a:t> </a:t>
            </a:r>
            <a:r>
              <a:rPr lang="en-US" sz="2400" b="1" dirty="0" smtClean="0"/>
              <a:t>void</a:t>
            </a:r>
            <a:r>
              <a:rPr lang="en-US" sz="2400" dirty="0" smtClean="0"/>
              <a:t> main(String </a:t>
            </a:r>
            <a:r>
              <a:rPr lang="en-US" sz="2400" dirty="0" err="1" smtClean="0"/>
              <a:t>args</a:t>
            </a:r>
            <a:r>
              <a:rPr lang="en-US" sz="2400" dirty="0" smtClean="0"/>
              <a:t>[]) { </a:t>
            </a:r>
          </a:p>
          <a:p>
            <a:r>
              <a:rPr lang="en-US" sz="2400" dirty="0" smtClean="0"/>
              <a:t>Formatter </a:t>
            </a:r>
            <a:r>
              <a:rPr lang="en-US" sz="2400" dirty="0" err="1" smtClean="0"/>
              <a:t>fmt</a:t>
            </a:r>
            <a:r>
              <a:rPr lang="en-US" sz="2400" dirty="0" smtClean="0"/>
              <a:t> = </a:t>
            </a:r>
            <a:r>
              <a:rPr lang="en-US" sz="2400" b="1" dirty="0" smtClean="0"/>
              <a:t>new</a:t>
            </a:r>
            <a:r>
              <a:rPr lang="en-US" sz="2400" dirty="0" smtClean="0"/>
              <a:t> Formatter();</a:t>
            </a:r>
          </a:p>
          <a:p>
            <a:r>
              <a:rPr lang="en-US" sz="2400" dirty="0" smtClean="0"/>
              <a:t> </a:t>
            </a:r>
            <a:r>
              <a:rPr lang="en-US" sz="2400" dirty="0" err="1" smtClean="0"/>
              <a:t>fmt.format</a:t>
            </a:r>
            <a:r>
              <a:rPr lang="en-US" sz="2400" dirty="0" smtClean="0"/>
              <a:t>(</a:t>
            </a:r>
            <a:r>
              <a:rPr lang="en-US" sz="2400" b="1" dirty="0" smtClean="0"/>
              <a:t>"%s Science marks are %d and percentage  is  %f"</a:t>
            </a:r>
            <a:r>
              <a:rPr lang="en-US" sz="2400" dirty="0" smtClean="0"/>
              <a:t>, </a:t>
            </a:r>
            <a:r>
              <a:rPr lang="en-US" sz="2400" b="1" dirty="0" smtClean="0"/>
              <a:t>“Ravi"</a:t>
            </a:r>
            <a:r>
              <a:rPr lang="en-US" sz="2400" dirty="0" smtClean="0"/>
              <a:t>, 70, 62.3); </a:t>
            </a:r>
          </a:p>
          <a:p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fmt.out</a:t>
            </a:r>
            <a:r>
              <a:rPr lang="en-US" sz="2400" dirty="0" smtClean="0"/>
              <a:t>()); </a:t>
            </a:r>
          </a:p>
          <a:p>
            <a:r>
              <a:rPr lang="en-US" sz="2400" dirty="0" smtClean="0"/>
              <a:t>   }</a:t>
            </a:r>
          </a:p>
          <a:p>
            <a:r>
              <a:rPr lang="en-US" sz="2400" dirty="0" smtClean="0"/>
              <a:t>}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295400" y="5105400"/>
            <a:ext cx="7483652" cy="9541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OUTPUT::</a:t>
            </a:r>
          </a:p>
          <a:p>
            <a:r>
              <a:rPr lang="en-US" sz="2800" dirty="0" smtClean="0"/>
              <a:t>Ravi Science marks are 70 and </a:t>
            </a:r>
            <a:r>
              <a:rPr lang="en-US" sz="2800" dirty="0" smtClean="0"/>
              <a:t>percentage </a:t>
            </a:r>
            <a:r>
              <a:rPr lang="en-US" sz="2800" dirty="0" smtClean="0"/>
              <a:t>is 62.3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SCANNER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295400"/>
            <a:ext cx="8763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Scanner class in Java is found in the </a:t>
            </a:r>
            <a:r>
              <a:rPr lang="en-US" sz="2400" dirty="0" err="1" smtClean="0"/>
              <a:t>java.util</a:t>
            </a:r>
            <a:r>
              <a:rPr lang="en-US" sz="2400" dirty="0" smtClean="0"/>
              <a:t> package. 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The Java Scanner class is widely used to parse text for strings and primitive types using a regular expression.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It is the simplest way to get input in Java. 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Scanner can also get input from the user in primitive types such as </a:t>
            </a:r>
            <a:r>
              <a:rPr lang="en-US" sz="2400" dirty="0" err="1" smtClean="0"/>
              <a:t>int</a:t>
            </a:r>
            <a:r>
              <a:rPr lang="en-US" sz="2400" dirty="0" smtClean="0"/>
              <a:t>, long, double, byte, float, short, etc.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The Java Scanner class provides </a:t>
            </a:r>
            <a:r>
              <a:rPr lang="en-US" sz="2400" dirty="0" err="1" smtClean="0"/>
              <a:t>nextXXX</a:t>
            </a:r>
            <a:r>
              <a:rPr lang="en-US" sz="2400" dirty="0" smtClean="0"/>
              <a:t>() methods to return the type of value such as </a:t>
            </a:r>
            <a:r>
              <a:rPr lang="en-US" sz="2400" dirty="0" err="1" smtClean="0"/>
              <a:t>nextInt</a:t>
            </a:r>
            <a:r>
              <a:rPr lang="en-US" sz="2400" dirty="0" smtClean="0"/>
              <a:t>() where XXX represents a </a:t>
            </a:r>
            <a:r>
              <a:rPr lang="en-US" sz="2400" dirty="0" err="1" smtClean="0"/>
              <a:t>datatype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The Java Scanner class extends Object class and implements </a:t>
            </a:r>
            <a:r>
              <a:rPr lang="en-US" sz="2400" dirty="0" err="1" smtClean="0"/>
              <a:t>Iterator</a:t>
            </a:r>
            <a:r>
              <a:rPr lang="en-US" sz="2400" dirty="0" smtClean="0"/>
              <a:t> and Closeable interfaces.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SCANNER CLASS CONTD..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1143000"/>
          <a:ext cx="8839200" cy="5736449"/>
        </p:xfrm>
        <a:graphic>
          <a:graphicData uri="http://schemas.openxmlformats.org/drawingml/2006/table">
            <a:tbl>
              <a:tblPr/>
              <a:tblGrid>
                <a:gridCol w="627556"/>
                <a:gridCol w="8211644"/>
              </a:tblGrid>
              <a:tr h="410743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 err="1" smtClean="0"/>
                        <a:t>Sr.No</a:t>
                      </a:r>
                      <a:endParaRPr lang="en-US" sz="1800" dirty="0"/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/>
                        <a:t>Constructor &amp; Description</a:t>
                      </a: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657872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/>
                        <a:t>1</a:t>
                      </a: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Scanner(File source)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  <a:p>
                      <a:pPr algn="just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constructs a new Scanner that produces values scanned from the specified file</a:t>
                      </a:r>
                      <a:r>
                        <a:rPr lang="en-US" sz="1800" dirty="0" smtClean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249">
                <a:tc>
                  <a:txBody>
                    <a:bodyPr/>
                    <a:lstStyle/>
                    <a:p>
                      <a:pPr fontAlgn="t"/>
                      <a:r>
                        <a:rPr lang="en-US" sz="1800"/>
                        <a:t>2</a:t>
                      </a:r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Scanner(</a:t>
                      </a:r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InputStream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/>
                        </a:rPr>
                        <a:t>source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)</a:t>
                      </a: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constructs a new Scanner that produces values scanned from the specified input stream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249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62331" marR="62331" marT="62331" marB="6233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Scanner(String 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/>
                        </a:rPr>
                        <a:t>source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verdana"/>
                        </a:rPr>
                        <a:t>)</a:t>
                      </a:r>
                    </a:p>
                    <a:p>
                      <a:pPr algn="l" fontAlgn="t"/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constructs a new Scanner that produces values scanned from the specified string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921">
                <a:tc>
                  <a:txBody>
                    <a:bodyPr/>
                    <a:lstStyle/>
                    <a:p>
                      <a:pPr fontAlgn="t"/>
                      <a:r>
                        <a:rPr lang="en-US" dirty="0" err="1" smtClean="0"/>
                        <a:t>Sno</a:t>
                      </a:r>
                      <a:endParaRPr lang="en-US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/>
                        <a:t>Method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56151">
                <a:tc>
                  <a:txBody>
                    <a:bodyPr/>
                    <a:lstStyle/>
                    <a:p>
                      <a:pPr fontAlgn="t"/>
                      <a:r>
                        <a:rPr lang="en-US" dirty="0"/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u="none" strike="noStrike" dirty="0">
                          <a:solidFill>
                            <a:srgbClr val="313131"/>
                          </a:solidFill>
                          <a:hlinkClick r:id="rId2"/>
                        </a:rPr>
                        <a:t>void close()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This method closes this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Scanner.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941"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 smtClean="0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void </a:t>
                      </a:r>
                      <a:r>
                        <a:rPr lang="en-US" sz="1400" u="none" strike="noStrike" dirty="0" err="1" smtClean="0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hasNext</a:t>
                      </a:r>
                      <a:r>
                        <a:rPr lang="en-US" sz="1400" u="none" strike="noStrike" dirty="0" smtClean="0">
                          <a:solidFill>
                            <a:srgbClr val="008000"/>
                          </a:solidFill>
                          <a:latin typeface="verdana"/>
                          <a:hlinkClick r:id="rId3"/>
                        </a:rPr>
                        <a:t>()</a:t>
                      </a:r>
                      <a:r>
                        <a:rPr lang="en-US" sz="1400" u="none" strike="noStrike" dirty="0" smtClean="0">
                          <a:solidFill>
                            <a:srgbClr val="008000"/>
                          </a:solidFill>
                          <a:latin typeface="verdana"/>
                        </a:rPr>
                        <a:t>:</a:t>
                      </a:r>
                      <a:r>
                        <a:rPr lang="en-US" sz="1400" u="none" strike="noStrike" baseline="0" dirty="0" smtClean="0">
                          <a:solidFill>
                            <a:srgbClr val="008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returns true if this scanner has another token in its input</a:t>
                      </a:r>
                      <a:endParaRPr lang="en-US" sz="140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514">
                <a:tc>
                  <a:txBody>
                    <a:bodyPr/>
                    <a:lstStyle/>
                    <a:p>
                      <a:pPr fontAlgn="t"/>
                      <a:r>
                        <a:rPr lang="en-US" dirty="0"/>
                        <a:t>4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int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 </a:t>
                      </a:r>
                      <a:r>
                        <a:rPr lang="en-US" sz="1800" b="0" i="0" u="none" strike="noStrike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/>
                        </a:rPr>
                        <a:t>nextInt</a:t>
                      </a:r>
                      <a:r>
                        <a:rPr lang="en-US" b="0" u="none" strike="noStrike" dirty="0" smtClean="0">
                          <a:solidFill>
                            <a:srgbClr val="313131"/>
                          </a:solidFill>
                          <a:hlinkClick r:id="rId5"/>
                        </a:rPr>
                        <a:t>()</a:t>
                      </a:r>
                      <a:r>
                        <a:rPr lang="en-US" b="0" u="none" strike="noStrike" dirty="0" smtClean="0">
                          <a:solidFill>
                            <a:srgbClr val="313131"/>
                          </a:solidFill>
                        </a:rPr>
                        <a:t>: It scans the next token as an integer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 err="1">
                          <a:solidFill>
                            <a:srgbClr val="008000"/>
                          </a:solidFill>
                          <a:latin typeface="verdana"/>
                          <a:hlinkClick r:id="rId6"/>
                        </a:rPr>
                        <a:t>nextLine</a:t>
                      </a:r>
                      <a:r>
                        <a:rPr lang="en-US" sz="1400" u="none" strike="noStrike" dirty="0" smtClean="0">
                          <a:solidFill>
                            <a:srgbClr val="008000"/>
                          </a:solidFill>
                          <a:latin typeface="verdana"/>
                          <a:hlinkClick r:id="rId6"/>
                        </a:rPr>
                        <a:t>()</a:t>
                      </a:r>
                      <a:r>
                        <a:rPr lang="en-US" sz="1400" u="none" strike="noStrike" dirty="0" smtClean="0">
                          <a:solidFill>
                            <a:srgbClr val="008000"/>
                          </a:solidFill>
                          <a:latin typeface="verdana"/>
                        </a:rPr>
                        <a:t> : 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is used to get the complete Line of input string </a:t>
                      </a:r>
                      <a:endParaRPr lang="en-US" sz="140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249"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b="0" u="none" strike="noStrike" dirty="0">
                          <a:solidFill>
                            <a:srgbClr val="313131"/>
                          </a:solidFill>
                          <a:hlinkClick r:id="rId7"/>
                        </a:rPr>
                        <a:t>String </a:t>
                      </a:r>
                      <a:r>
                        <a:rPr lang="en-US" b="0" u="none" strike="noStrike" dirty="0" err="1">
                          <a:solidFill>
                            <a:srgbClr val="313131"/>
                          </a:solidFill>
                          <a:hlinkClick r:id="rId7"/>
                        </a:rPr>
                        <a:t>toString</a:t>
                      </a:r>
                      <a:r>
                        <a:rPr lang="en-US" b="0" u="none" strike="noStrike" dirty="0">
                          <a:solidFill>
                            <a:srgbClr val="313131"/>
                          </a:solidFill>
                          <a:hlinkClick r:id="rId7"/>
                        </a:rPr>
                        <a:t>()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This method returns the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string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representation of scanner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52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SCANNER CLASS EXAMPLE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295400"/>
            <a:ext cx="8763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import</a:t>
            </a:r>
            <a:r>
              <a:rPr lang="en-US" sz="2400" dirty="0" smtClean="0"/>
              <a:t> </a:t>
            </a:r>
            <a:r>
              <a:rPr lang="en-US" sz="2400" dirty="0" err="1" smtClean="0"/>
              <a:t>java.util</a:t>
            </a:r>
            <a:r>
              <a:rPr lang="en-US" sz="2400" dirty="0" smtClean="0"/>
              <a:t>.*;  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 </a:t>
            </a:r>
            <a:r>
              <a:rPr lang="en-US" sz="2400" b="1" dirty="0" smtClean="0"/>
              <a:t>class</a:t>
            </a:r>
            <a:r>
              <a:rPr lang="en-US" sz="2400" dirty="0" smtClean="0"/>
              <a:t> </a:t>
            </a:r>
            <a:r>
              <a:rPr lang="en-US" sz="2400" dirty="0" err="1" smtClean="0"/>
              <a:t>ScannerExample</a:t>
            </a:r>
            <a:r>
              <a:rPr lang="en-US" sz="2400" dirty="0" smtClean="0"/>
              <a:t> {  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 </a:t>
            </a:r>
            <a:r>
              <a:rPr lang="en-US" sz="2400" b="1" dirty="0" smtClean="0"/>
              <a:t>static</a:t>
            </a:r>
            <a:r>
              <a:rPr lang="en-US" sz="2400" dirty="0" smtClean="0"/>
              <a:t> </a:t>
            </a:r>
            <a:r>
              <a:rPr lang="en-US" sz="2400" b="1" dirty="0" smtClean="0"/>
              <a:t>void</a:t>
            </a:r>
            <a:r>
              <a:rPr lang="en-US" sz="2400" dirty="0" smtClean="0"/>
              <a:t> main(String </a:t>
            </a:r>
            <a:r>
              <a:rPr lang="en-US" sz="2400" dirty="0" err="1" smtClean="0"/>
              <a:t>args</a:t>
            </a:r>
            <a:r>
              <a:rPr lang="en-US" sz="2400" dirty="0" smtClean="0"/>
              <a:t>[]){  </a:t>
            </a:r>
          </a:p>
          <a:p>
            <a:r>
              <a:rPr lang="en-US" sz="2400" dirty="0" smtClean="0"/>
              <a:t>          Scanner in = </a:t>
            </a:r>
            <a:r>
              <a:rPr lang="en-US" sz="2400" b="1" dirty="0" smtClean="0"/>
              <a:t>new</a:t>
            </a:r>
            <a:r>
              <a:rPr lang="en-US" sz="2400" dirty="0" smtClean="0"/>
              <a:t> Scanner(</a:t>
            </a:r>
            <a:r>
              <a:rPr lang="en-US" sz="2400" dirty="0" err="1" smtClean="0"/>
              <a:t>System.in</a:t>
            </a:r>
            <a:r>
              <a:rPr lang="en-US" sz="2400" dirty="0" smtClean="0"/>
              <a:t>);  </a:t>
            </a:r>
          </a:p>
          <a:p>
            <a:r>
              <a:rPr lang="en-US" sz="2400" dirty="0" smtClean="0"/>
              <a:t>          </a:t>
            </a:r>
            <a:r>
              <a:rPr lang="en-US" sz="2400" dirty="0" err="1" smtClean="0"/>
              <a:t>System.out.print</a:t>
            </a:r>
            <a:r>
              <a:rPr lang="en-US" sz="2400" dirty="0" smtClean="0"/>
              <a:t>("Enter your name: ");  </a:t>
            </a:r>
          </a:p>
          <a:p>
            <a:r>
              <a:rPr lang="en-US" sz="2400" dirty="0" smtClean="0"/>
              <a:t>          String name = </a:t>
            </a:r>
            <a:r>
              <a:rPr lang="en-US" sz="2400" dirty="0" err="1" smtClean="0"/>
              <a:t>in.nextLine</a:t>
            </a:r>
            <a:r>
              <a:rPr lang="en-US" sz="2400" dirty="0" smtClean="0"/>
              <a:t>();  //</a:t>
            </a:r>
            <a:r>
              <a:rPr lang="en-US" sz="2400" dirty="0" err="1" smtClean="0"/>
              <a:t>Srujan</a:t>
            </a:r>
            <a:endParaRPr lang="en-US" sz="2400" dirty="0" smtClean="0"/>
          </a:p>
          <a:p>
            <a:r>
              <a:rPr lang="en-US" sz="2400" dirty="0" smtClean="0"/>
              <a:t>          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("Name is: " + name);             </a:t>
            </a:r>
          </a:p>
          <a:p>
            <a:r>
              <a:rPr lang="en-US" sz="2400" dirty="0" smtClean="0"/>
              <a:t>          </a:t>
            </a:r>
            <a:r>
              <a:rPr lang="en-US" sz="2400" dirty="0" err="1" smtClean="0"/>
              <a:t>in.close</a:t>
            </a:r>
            <a:r>
              <a:rPr lang="en-US" sz="2400" dirty="0" smtClean="0"/>
              <a:t>();             </a:t>
            </a:r>
          </a:p>
          <a:p>
            <a:r>
              <a:rPr lang="en-US" sz="2400" dirty="0" smtClean="0"/>
              <a:t>          }  </a:t>
            </a:r>
          </a:p>
          <a:p>
            <a:r>
              <a:rPr lang="en-US" sz="2400" dirty="0" smtClean="0"/>
              <a:t>}  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295400" y="5105400"/>
            <a:ext cx="2366353" cy="9541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OUTPUT::</a:t>
            </a:r>
          </a:p>
          <a:p>
            <a:r>
              <a:rPr lang="en-US" sz="2800" dirty="0" smtClean="0"/>
              <a:t>Name is </a:t>
            </a:r>
            <a:r>
              <a:rPr lang="en-US" sz="2800" dirty="0" err="1" smtClean="0"/>
              <a:t>Srujan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6080"/>
            <a:ext cx="7772400" cy="60452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Arial Black" pitchFamily="34" charset="0"/>
              </a:rPr>
              <a:t>STRINGTOKENIZER CLASS</a:t>
            </a:r>
            <a:endParaRPr lang="en-US" sz="3600" b="1" dirty="0">
              <a:latin typeface="Arial Black" pitchFamily="34" charset="0"/>
            </a:endParaRP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295400"/>
            <a:ext cx="8763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The </a:t>
            </a:r>
            <a:r>
              <a:rPr lang="en-US" sz="2400" b="1" dirty="0" err="1" smtClean="0"/>
              <a:t>java.util.StringTokenizer</a:t>
            </a:r>
            <a:r>
              <a:rPr lang="en-US" sz="2400" dirty="0" smtClean="0"/>
              <a:t> class allows you to break a string into tokens. It is simple way to break string.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It doesn't provide the facility to differentiate numbers, quoted strings, identifiers etc. All tokens are treated as strings</a:t>
            </a:r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703319"/>
          <a:ext cx="8610600" cy="3288687"/>
        </p:xfrm>
        <a:graphic>
          <a:graphicData uri="http://schemas.openxmlformats.org/drawingml/2006/table">
            <a:tbl>
              <a:tblPr/>
              <a:tblGrid>
                <a:gridCol w="2895600"/>
                <a:gridCol w="5715000"/>
              </a:tblGrid>
              <a:tr h="36996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</a:rPr>
                        <a:t>Constructor</a:t>
                      </a:r>
                    </a:p>
                  </a:txBody>
                  <a:tcPr marL="84083" marR="84083" marT="84083" marB="84083">
                    <a:lnL w="9525" cap="flat" cmpd="sng" algn="ctr">
                      <a:solidFill>
                        <a:srgbClr val="B05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5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5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84083" marR="84083" marT="84083" marB="84083">
                    <a:lnL w="9525" cap="flat" cmpd="sng" algn="ctr">
                      <a:solidFill>
                        <a:srgbClr val="B05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5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5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51570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0000"/>
                          </a:solidFill>
                          <a:latin typeface="verdana"/>
                        </a:rPr>
                        <a:t>StringTokenizer(String str)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0000"/>
                          </a:solidFill>
                          <a:latin typeface="verdana"/>
                        </a:rPr>
                        <a:t>creates StringTokenizer with specified string.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70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0000"/>
                          </a:solidFill>
                          <a:latin typeface="verdana"/>
                        </a:rPr>
                        <a:t>StringTokenizer(String str, String delim)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0000"/>
                          </a:solidFill>
                          <a:latin typeface="verdana"/>
                        </a:rPr>
                        <a:t>creates StringTokenizer with specified string and delimeter.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152470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000000"/>
                          </a:solidFill>
                          <a:latin typeface="verdana"/>
                        </a:rPr>
                        <a:t>StringTokenizer(String str, String delim, boolean returnValue)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creates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verdana"/>
                        </a:rPr>
                        <a:t>StringTokenizer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 with specified string,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verdana"/>
                        </a:rPr>
                        <a:t>delimeter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 and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verdana"/>
                        </a:rPr>
                        <a:t>returnValue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verdana"/>
                        </a:rPr>
                        <a:t>. If return value is true, delimiter characters are considered to be tokens. If it is false, delimiter characters serve to separate tokens.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52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85800" y="0"/>
            <a:ext cx="7772400" cy="604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STRINGTOKENIZER CLASS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1000" y="990601"/>
          <a:ext cx="8229600" cy="5638799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02201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Public method</a:t>
                      </a:r>
                    </a:p>
                  </a:txBody>
                  <a:tcPr marL="84083" marR="84083" marT="84083" marB="84083">
                    <a:lnL w="9525" cap="flat" cmpd="sng" algn="ctr">
                      <a:solidFill>
                        <a:srgbClr val="708D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8D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8D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84083" marR="84083" marT="84083" marB="84083">
                    <a:lnL w="9525" cap="flat" cmpd="sng" algn="ctr">
                      <a:solidFill>
                        <a:srgbClr val="708D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8D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8D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83943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verdana"/>
                        </a:rPr>
                        <a:t>boolean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verdana"/>
                        </a:rPr>
                        <a:t>hasMoreTokens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verdana"/>
                        </a:rPr>
                        <a:t>()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solidFill>
                            <a:srgbClr val="000000"/>
                          </a:solidFill>
                          <a:latin typeface="verdana"/>
                        </a:rPr>
                        <a:t>checks if there is more tokens available.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943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rgbClr val="000000"/>
                          </a:solidFill>
                          <a:latin typeface="verdana"/>
                        </a:rPr>
                        <a:t>String nextToken()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rgbClr val="000000"/>
                          </a:solidFill>
                          <a:latin typeface="verdana"/>
                        </a:rPr>
                        <a:t>returns the next token from the StringTokenizer object.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83943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rgbClr val="000000"/>
                          </a:solidFill>
                          <a:latin typeface="verdana"/>
                        </a:rPr>
                        <a:t>String nextToken(String delim)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rgbClr val="000000"/>
                          </a:solidFill>
                          <a:latin typeface="verdana"/>
                        </a:rPr>
                        <a:t>returns the next token based on the delimeter.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943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rgbClr val="000000"/>
                          </a:solidFill>
                          <a:latin typeface="verdana"/>
                        </a:rPr>
                        <a:t>boolean hasMoreElements()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rgbClr val="000000"/>
                          </a:solidFill>
                          <a:latin typeface="verdana"/>
                        </a:rPr>
                        <a:t>same as hasMoreTokens() method.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83943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rgbClr val="000000"/>
                          </a:solidFill>
                          <a:latin typeface="verdana"/>
                        </a:rPr>
                        <a:t>Object nextElement()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rgbClr val="000000"/>
                          </a:solidFill>
                          <a:latin typeface="verdana"/>
                        </a:rPr>
                        <a:t>same as nextToken() but its return type is Object.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943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solidFill>
                            <a:srgbClr val="000000"/>
                          </a:solidFill>
                          <a:latin typeface="verdana"/>
                        </a:rPr>
                        <a:t>int countTokens()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solidFill>
                            <a:srgbClr val="000000"/>
                          </a:solidFill>
                          <a:latin typeface="verdana"/>
                        </a:rPr>
                        <a:t>returns the total number of tokens</a:t>
                      </a:r>
                    </a:p>
                  </a:txBody>
                  <a:tcPr marL="56055" marR="56055" marT="56055" marB="5605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295400"/>
            <a:ext cx="8763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import</a:t>
            </a:r>
            <a:r>
              <a:rPr lang="en-US" sz="2400" dirty="0" smtClean="0"/>
              <a:t> </a:t>
            </a:r>
            <a:r>
              <a:rPr lang="en-US" sz="2400" dirty="0" err="1" smtClean="0"/>
              <a:t>java.util</a:t>
            </a:r>
            <a:r>
              <a:rPr lang="en-US" sz="2400" dirty="0" smtClean="0"/>
              <a:t>.*;  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 </a:t>
            </a:r>
            <a:r>
              <a:rPr lang="en-US" sz="2400" b="1" dirty="0" smtClean="0"/>
              <a:t>class</a:t>
            </a:r>
            <a:r>
              <a:rPr lang="en-US" sz="2400" dirty="0" smtClean="0"/>
              <a:t> </a:t>
            </a:r>
            <a:r>
              <a:rPr lang="en-US" sz="2400" dirty="0" err="1" smtClean="0"/>
              <a:t>ScannerExample</a:t>
            </a:r>
            <a:r>
              <a:rPr lang="en-US" sz="2400" dirty="0" smtClean="0"/>
              <a:t> {  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 </a:t>
            </a:r>
            <a:r>
              <a:rPr lang="en-US" sz="2400" b="1" dirty="0" smtClean="0"/>
              <a:t>static</a:t>
            </a:r>
            <a:r>
              <a:rPr lang="en-US" sz="2400" dirty="0" smtClean="0"/>
              <a:t> </a:t>
            </a:r>
            <a:r>
              <a:rPr lang="en-US" sz="2400" b="1" dirty="0" smtClean="0"/>
              <a:t>void</a:t>
            </a:r>
            <a:r>
              <a:rPr lang="en-US" sz="2400" dirty="0" smtClean="0"/>
              <a:t> main(String </a:t>
            </a:r>
            <a:r>
              <a:rPr lang="en-US" sz="2400" dirty="0" err="1" smtClean="0"/>
              <a:t>args</a:t>
            </a:r>
            <a:r>
              <a:rPr lang="en-US" sz="2400" dirty="0" smtClean="0"/>
              <a:t>[]){  </a:t>
            </a:r>
          </a:p>
          <a:p>
            <a:r>
              <a:rPr lang="en-US" sz="2400" dirty="0" smtClean="0"/>
              <a:t>          </a:t>
            </a:r>
            <a:r>
              <a:rPr lang="en-US" sz="2400" dirty="0" err="1" smtClean="0"/>
              <a:t>StringTokenizer</a:t>
            </a:r>
            <a:r>
              <a:rPr lang="en-US" sz="2400" dirty="0" smtClean="0"/>
              <a:t> </a:t>
            </a:r>
            <a:r>
              <a:rPr lang="en-US" sz="2400" dirty="0" err="1" smtClean="0"/>
              <a:t>st</a:t>
            </a:r>
            <a:r>
              <a:rPr lang="en-US" sz="2400" dirty="0" smtClean="0"/>
              <a:t> = </a:t>
            </a:r>
            <a:r>
              <a:rPr lang="en-US" sz="2400" b="1" dirty="0" smtClean="0"/>
              <a:t>new</a:t>
            </a:r>
            <a:r>
              <a:rPr lang="en-US" sz="2400" dirty="0" smtClean="0"/>
              <a:t> </a:t>
            </a:r>
            <a:r>
              <a:rPr lang="en-US" sz="2400" dirty="0" err="1" smtClean="0"/>
              <a:t>StringTokenizer</a:t>
            </a:r>
            <a:r>
              <a:rPr lang="en-US" sz="2400" dirty="0" smtClean="0"/>
              <a:t>(“I belong to II CSE”);  </a:t>
            </a:r>
          </a:p>
          <a:p>
            <a:r>
              <a:rPr lang="en-US" sz="2400" dirty="0" smtClean="0"/>
              <a:t>          while(</a:t>
            </a:r>
            <a:r>
              <a:rPr lang="en-US" sz="2400" dirty="0" err="1" smtClean="0"/>
              <a:t>st.hasMoreTokens</a:t>
            </a:r>
            <a:r>
              <a:rPr lang="en-US" sz="2400" dirty="0" smtClean="0"/>
              <a:t>())          </a:t>
            </a:r>
          </a:p>
          <a:p>
            <a:r>
              <a:rPr lang="en-US" sz="2400" dirty="0" smtClean="0"/>
              <a:t>          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st.nextToken</a:t>
            </a:r>
            <a:r>
              <a:rPr lang="en-US" sz="2400" dirty="0" smtClean="0"/>
              <a:t>());             </a:t>
            </a:r>
          </a:p>
          <a:p>
            <a:r>
              <a:rPr lang="en-US" sz="2400" dirty="0" smtClean="0"/>
              <a:t>          </a:t>
            </a:r>
            <a:r>
              <a:rPr lang="en-US" sz="2400" dirty="0" err="1" smtClean="0"/>
              <a:t>in.close</a:t>
            </a:r>
            <a:r>
              <a:rPr lang="en-US" sz="2400" dirty="0" smtClean="0"/>
              <a:t>();             </a:t>
            </a:r>
          </a:p>
          <a:p>
            <a:r>
              <a:rPr lang="en-US" sz="2400" dirty="0" smtClean="0"/>
              <a:t>          }  </a:t>
            </a:r>
          </a:p>
          <a:p>
            <a:r>
              <a:rPr lang="en-US" sz="2400" dirty="0" smtClean="0"/>
              <a:t>}  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413129" y="3505200"/>
            <a:ext cx="1587871" cy="267765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OUTPUT::</a:t>
            </a:r>
          </a:p>
          <a:p>
            <a:r>
              <a:rPr lang="en-US" sz="2800" dirty="0" smtClean="0"/>
              <a:t>I</a:t>
            </a:r>
          </a:p>
          <a:p>
            <a:r>
              <a:rPr lang="en-US" sz="2800" dirty="0" smtClean="0"/>
              <a:t>belong</a:t>
            </a:r>
          </a:p>
          <a:p>
            <a:r>
              <a:rPr lang="en-US" sz="2800" dirty="0" smtClean="0"/>
              <a:t>to</a:t>
            </a:r>
          </a:p>
          <a:p>
            <a:r>
              <a:rPr lang="en-US" sz="2800" dirty="0" smtClean="0"/>
              <a:t>II</a:t>
            </a:r>
          </a:p>
          <a:p>
            <a:r>
              <a:rPr lang="en-US" sz="2800" dirty="0" smtClean="0"/>
              <a:t>CSE</a:t>
            </a:r>
            <a:endParaRPr lang="en-US" sz="28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09600" y="157480"/>
            <a:ext cx="7772400" cy="604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STRINGTOKENIZER CLASS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