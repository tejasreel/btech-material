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2" r:id="rId4"/>
    <p:sldId id="260" r:id="rId5"/>
    <p:sldId id="261"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92" d="100"/>
          <a:sy n="92" d="100"/>
        </p:scale>
        <p:origin x="-45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684733-C614-BF26-CDF5-F1B7581475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4334D154-E551-769B-EFBE-74CF6D0854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F511C1A-40AC-75D3-5294-74CF545B0950}"/>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5" name="Footer Placeholder 4">
            <a:extLst>
              <a:ext uri="{FF2B5EF4-FFF2-40B4-BE49-F238E27FC236}">
                <a16:creationId xmlns:a16="http://schemas.microsoft.com/office/drawing/2014/main" xmlns="" id="{5AE63585-13C5-C6DA-0719-B6C3C5487A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BB49E17-5F6F-5276-74D7-7D5C53068038}"/>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2658717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2319D0-CBBC-3294-56DC-40408FEA5E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65FFCC3-7FF4-3EBB-0769-57028F8F4E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801DE3C-EC81-B5CF-979C-F92495EF266F}"/>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5" name="Footer Placeholder 4">
            <a:extLst>
              <a:ext uri="{FF2B5EF4-FFF2-40B4-BE49-F238E27FC236}">
                <a16:creationId xmlns:a16="http://schemas.microsoft.com/office/drawing/2014/main" xmlns="" id="{C2FE41F1-4076-6979-8E57-C554DBB118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46711FF-EEDE-0C45-3C04-8C5B1F93891C}"/>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2952636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D0D333-7E00-37AF-AAB6-C5508D7915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08F9293-9679-C288-3C45-197A5C156C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95323F5-EC8F-2A84-F85B-154E237421D5}"/>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5" name="Footer Placeholder 4">
            <a:extLst>
              <a:ext uri="{FF2B5EF4-FFF2-40B4-BE49-F238E27FC236}">
                <a16:creationId xmlns:a16="http://schemas.microsoft.com/office/drawing/2014/main" xmlns="" id="{CC7A4FB6-21EB-4508-9F89-B2B8C2FE85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BF9A2BA-8F5C-1B16-5F5C-E52E714F55D7}"/>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3366938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6E2F57-E594-A8E8-7682-4AC3F8CF99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D13D5C0-347C-6807-FD2D-C58FC7D6BC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D10BBF32-3AA9-48EE-3FBC-F747D0F47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CF2A6B28-B3A9-FA91-CBED-B648A6776DEF}"/>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6" name="Footer Placeholder 5">
            <a:extLst>
              <a:ext uri="{FF2B5EF4-FFF2-40B4-BE49-F238E27FC236}">
                <a16:creationId xmlns:a16="http://schemas.microsoft.com/office/drawing/2014/main" xmlns="" id="{C66278E2-0A0D-F25D-8226-05AA56A454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6E0B0F7-5D40-E0D4-8F29-16E658F644A5}"/>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3824249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C8C1CF-8864-E139-7C4A-8494A3BFC5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8A4EBDA-C41E-51E0-F491-F9BAB6C19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AA05E47-73C8-7A6D-DF7E-F9D8CE5D26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3B02879F-F8E6-D2B6-96D2-421612D74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9D3BC5F-13A0-D530-13B7-00406730E0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597C0670-0832-13A7-54B5-C731D914E46D}"/>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8" name="Footer Placeholder 7">
            <a:extLst>
              <a:ext uri="{FF2B5EF4-FFF2-40B4-BE49-F238E27FC236}">
                <a16:creationId xmlns:a16="http://schemas.microsoft.com/office/drawing/2014/main" xmlns="" id="{30F15D1B-6D75-5665-8867-B71410E08E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B21EBDD0-3C0E-61F8-8314-8FE85BB97BB0}"/>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1341150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7EBCC5-599C-81A8-4977-ED75480B39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A598BDB-84A5-2277-C26C-6A156E9B9432}"/>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4" name="Footer Placeholder 3">
            <a:extLst>
              <a:ext uri="{FF2B5EF4-FFF2-40B4-BE49-F238E27FC236}">
                <a16:creationId xmlns:a16="http://schemas.microsoft.com/office/drawing/2014/main" xmlns="" id="{290A2A36-E1CD-CEBF-811B-2CCE59BA42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2F3B00BE-1E02-2ED8-836C-76CDE1AB4746}"/>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1359608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1450D97-CFE7-8F10-F418-E14BFB25B34F}"/>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3" name="Footer Placeholder 2">
            <a:extLst>
              <a:ext uri="{FF2B5EF4-FFF2-40B4-BE49-F238E27FC236}">
                <a16:creationId xmlns:a16="http://schemas.microsoft.com/office/drawing/2014/main" xmlns="" id="{399A3445-33EA-B1D7-C653-9095D8C1C70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504F3F92-C13A-AAAA-35A4-CB83D88F7342}"/>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4063272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0D3767-2583-6F35-8529-95C94878A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42A97DD-BDBC-0E95-9359-B239F904F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C0BD6A4D-9DD9-36FA-6F2E-2FB21A960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65C516F-21DA-A88A-2381-D655E576E241}"/>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6" name="Footer Placeholder 5">
            <a:extLst>
              <a:ext uri="{FF2B5EF4-FFF2-40B4-BE49-F238E27FC236}">
                <a16:creationId xmlns:a16="http://schemas.microsoft.com/office/drawing/2014/main" xmlns="" id="{71F45496-21A0-B907-FE6B-8D67E9CEE6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0F6890F-7136-A4CD-954F-B6047C0DC22C}"/>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1344391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26DABC-D116-6327-0ACC-3B904D7438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34D1D625-B734-D4E1-325A-3807E98DC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0140CA13-CF1C-EF55-527A-4278FC1BA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674E3A5-F9AD-115C-D30E-0E7363ED1742}"/>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6" name="Footer Placeholder 5">
            <a:extLst>
              <a:ext uri="{FF2B5EF4-FFF2-40B4-BE49-F238E27FC236}">
                <a16:creationId xmlns:a16="http://schemas.microsoft.com/office/drawing/2014/main" xmlns="" id="{77ACF6D7-D499-9642-2677-4DFEAD896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6C67E18-1DBF-6EB9-98FF-F4172917512D}"/>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1113896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8A1B80-3F6E-4715-AB5E-0CC83DE470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77CA4E9-27F3-AE68-FEE2-5869512999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B4A1927-877E-586C-3F30-6B85FC5F9851}"/>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5" name="Footer Placeholder 4">
            <a:extLst>
              <a:ext uri="{FF2B5EF4-FFF2-40B4-BE49-F238E27FC236}">
                <a16:creationId xmlns:a16="http://schemas.microsoft.com/office/drawing/2014/main" xmlns="" id="{8FFDBFD2-F5F0-403E-B6A7-4091DDC06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80441BF-765E-D409-4000-FA3C7A1FC2C3}"/>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443740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62B0323-0E38-8F9C-56DB-67F5095802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2066E80-367D-2DE1-987D-5C11A9CBA5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4DB55DA-C9A1-F970-1EB4-0A37EC713973}"/>
              </a:ext>
            </a:extLst>
          </p:cNvPr>
          <p:cNvSpPr>
            <a:spLocks noGrp="1"/>
          </p:cNvSpPr>
          <p:nvPr>
            <p:ph type="dt" sz="half" idx="10"/>
          </p:nvPr>
        </p:nvSpPr>
        <p:spPr/>
        <p:txBody>
          <a:bodyPr/>
          <a:lstStyle/>
          <a:p>
            <a:fld id="{5B3FEE00-A459-4362-A307-B626622323EE}" type="datetimeFigureOut">
              <a:rPr lang="en-IN" smtClean="0"/>
              <a:t>06-10-2023</a:t>
            </a:fld>
            <a:endParaRPr lang="en-IN"/>
          </a:p>
        </p:txBody>
      </p:sp>
      <p:sp>
        <p:nvSpPr>
          <p:cNvPr id="5" name="Footer Placeholder 4">
            <a:extLst>
              <a:ext uri="{FF2B5EF4-FFF2-40B4-BE49-F238E27FC236}">
                <a16:creationId xmlns:a16="http://schemas.microsoft.com/office/drawing/2014/main" xmlns="" id="{B65C7187-DA4F-0B2F-B9E0-3A6125002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24CA594-5D88-ABD5-24BB-EA1372B0C5BE}"/>
              </a:ext>
            </a:extLst>
          </p:cNvPr>
          <p:cNvSpPr>
            <a:spLocks noGrp="1"/>
          </p:cNvSpPr>
          <p:nvPr>
            <p:ph type="sldNum" sz="quarter" idx="12"/>
          </p:nvPr>
        </p:nvSpPr>
        <p:spPr/>
        <p:txBody>
          <a:bodyPr/>
          <a:lstStyle/>
          <a:p>
            <a:fld id="{4381314A-F664-44CF-9F29-3A4FF0B91E2D}" type="slidenum">
              <a:rPr lang="en-IN" smtClean="0"/>
              <a:t>‹#›</a:t>
            </a:fld>
            <a:endParaRPr lang="en-IN"/>
          </a:p>
        </p:txBody>
      </p:sp>
    </p:spTree>
    <p:extLst>
      <p:ext uri="{BB962C8B-B14F-4D97-AF65-F5344CB8AC3E}">
        <p14:creationId xmlns:p14="http://schemas.microsoft.com/office/powerpoint/2010/main" val="2914225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A871435-F2C8-1488-52D9-595B15BA2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E41592E-ABD7-DE01-0794-924CF84CF9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A14EECD-0A38-0C45-C8D2-79218DBC4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3FEE00-A459-4362-A307-B626622323EE}" type="datetimeFigureOut">
              <a:rPr lang="en-IN" smtClean="0"/>
              <a:t>06-10-2023</a:t>
            </a:fld>
            <a:endParaRPr lang="en-IN"/>
          </a:p>
        </p:txBody>
      </p:sp>
      <p:sp>
        <p:nvSpPr>
          <p:cNvPr id="5" name="Footer Placeholder 4">
            <a:extLst>
              <a:ext uri="{FF2B5EF4-FFF2-40B4-BE49-F238E27FC236}">
                <a16:creationId xmlns:a16="http://schemas.microsoft.com/office/drawing/2014/main" xmlns="" id="{BB60E83F-5BD9-140E-202F-71403C3D8C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4C8CD5BD-0C6B-F068-C793-B87EE2D8EF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81314A-F664-44CF-9F29-3A4FF0B91E2D}" type="slidenum">
              <a:rPr lang="en-IN" smtClean="0"/>
              <a:t>‹#›</a:t>
            </a:fld>
            <a:endParaRPr lang="en-IN"/>
          </a:p>
        </p:txBody>
      </p:sp>
    </p:spTree>
    <p:extLst>
      <p:ext uri="{BB962C8B-B14F-4D97-AF65-F5344CB8AC3E}">
        <p14:creationId xmlns:p14="http://schemas.microsoft.com/office/powerpoint/2010/main" val="345702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7D353B2-5DA0-9985-1C91-B7BBA70D3539}"/>
              </a:ext>
            </a:extLst>
          </p:cNvPr>
          <p:cNvPicPr>
            <a:picLocks noChangeAspect="1"/>
          </p:cNvPicPr>
          <p:nvPr/>
        </p:nvPicPr>
        <p:blipFill>
          <a:blip r:embed="rId2"/>
          <a:stretch>
            <a:fillRect/>
          </a:stretch>
        </p:blipFill>
        <p:spPr>
          <a:xfrm>
            <a:off x="3429000" y="1928812"/>
            <a:ext cx="5334000" cy="3000375"/>
          </a:xfrm>
          <a:prstGeom prst="rect">
            <a:avLst/>
          </a:prstGeom>
        </p:spPr>
      </p:pic>
    </p:spTree>
    <p:extLst>
      <p:ext uri="{BB962C8B-B14F-4D97-AF65-F5344CB8AC3E}">
        <p14:creationId xmlns:p14="http://schemas.microsoft.com/office/powerpoint/2010/main" val="2806178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51074BB-7E92-FE15-C6F5-5A1030C43BDF}"/>
              </a:ext>
            </a:extLst>
          </p:cNvPr>
          <p:cNvSpPr txBox="1"/>
          <p:nvPr/>
        </p:nvSpPr>
        <p:spPr>
          <a:xfrm>
            <a:off x="1223010" y="560070"/>
            <a:ext cx="9955530"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Polymorphism is derived from 2 Greek words: poly and morphs.</a:t>
            </a:r>
          </a:p>
          <a:p>
            <a:pPr marL="342900" indent="-3429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The word “poly” means many and “morphs” means forms.</a:t>
            </a:r>
          </a:p>
          <a:p>
            <a:pPr marL="342900" indent="-3429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So Polymorphism means the ability to take many forms. is a concept by which we can perform a single task in different ways. </a:t>
            </a:r>
          </a:p>
          <a:p>
            <a:pPr marL="342900" indent="-3429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is one of the most striking features of Object Oriented Programming in Java.</a:t>
            </a:r>
          </a:p>
          <a:p>
            <a:endParaRPr lang="en-IN" sz="2400" dirty="0"/>
          </a:p>
        </p:txBody>
      </p:sp>
    </p:spTree>
    <p:extLst>
      <p:ext uri="{BB962C8B-B14F-4D97-AF65-F5344CB8AC3E}">
        <p14:creationId xmlns:p14="http://schemas.microsoft.com/office/powerpoint/2010/main" val="3001265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891A6F8F-1A1B-A098-A328-1D4A144BF8AD}"/>
              </a:ext>
            </a:extLst>
          </p:cNvPr>
          <p:cNvPicPr>
            <a:picLocks noChangeAspect="1"/>
          </p:cNvPicPr>
          <p:nvPr/>
        </p:nvPicPr>
        <p:blipFill>
          <a:blip r:embed="rId2"/>
          <a:stretch>
            <a:fillRect/>
          </a:stretch>
        </p:blipFill>
        <p:spPr>
          <a:xfrm>
            <a:off x="1619249" y="881062"/>
            <a:ext cx="6922077" cy="2342198"/>
          </a:xfrm>
          <a:prstGeom prst="rect">
            <a:avLst/>
          </a:prstGeom>
        </p:spPr>
      </p:pic>
      <p:sp>
        <p:nvSpPr>
          <p:cNvPr id="3" name="TextBox 2">
            <a:extLst>
              <a:ext uri="{FF2B5EF4-FFF2-40B4-BE49-F238E27FC236}">
                <a16:creationId xmlns:a16="http://schemas.microsoft.com/office/drawing/2014/main" xmlns="" id="{A2C62273-F81C-0031-6E50-DE1FE0EAE923}"/>
              </a:ext>
            </a:extLst>
          </p:cNvPr>
          <p:cNvSpPr txBox="1"/>
          <p:nvPr/>
        </p:nvSpPr>
        <p:spPr>
          <a:xfrm>
            <a:off x="1428750" y="3691890"/>
            <a:ext cx="9281160" cy="212365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There are two types of polymorphism in Java:</a:t>
            </a:r>
          </a:p>
          <a:p>
            <a:endParaRPr lang="en-US" dirty="0"/>
          </a:p>
          <a:p>
            <a:r>
              <a:rPr lang="en-US" dirty="0"/>
              <a:t>1) Compile-time polymorphism (static binding)</a:t>
            </a:r>
          </a:p>
          <a:p>
            <a:r>
              <a:rPr lang="en-US" dirty="0"/>
              <a:t>2) Runtime polymorphism (dynamic binding)</a:t>
            </a:r>
          </a:p>
          <a:p>
            <a:endParaRPr lang="en-US" dirty="0"/>
          </a:p>
          <a:p>
            <a:r>
              <a:rPr lang="en-US" dirty="0"/>
              <a:t>Method overloading is an example of compile time polymorphism, while method overriding is an example of runtime polymorphism.</a:t>
            </a:r>
            <a:endParaRPr lang="en-IN" dirty="0"/>
          </a:p>
        </p:txBody>
      </p:sp>
    </p:spTree>
    <p:extLst>
      <p:ext uri="{BB962C8B-B14F-4D97-AF65-F5344CB8AC3E}">
        <p14:creationId xmlns:p14="http://schemas.microsoft.com/office/powerpoint/2010/main" val="2027364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7B4E548-1B79-C814-A16B-24AE97054CC3}"/>
              </a:ext>
            </a:extLst>
          </p:cNvPr>
          <p:cNvPicPr>
            <a:picLocks noChangeAspect="1"/>
          </p:cNvPicPr>
          <p:nvPr/>
        </p:nvPicPr>
        <p:blipFill>
          <a:blip r:embed="rId2"/>
          <a:stretch>
            <a:fillRect/>
          </a:stretch>
        </p:blipFill>
        <p:spPr>
          <a:xfrm>
            <a:off x="1828800" y="560070"/>
            <a:ext cx="7292340" cy="4059555"/>
          </a:xfrm>
          <a:prstGeom prst="rect">
            <a:avLst/>
          </a:prstGeom>
        </p:spPr>
      </p:pic>
    </p:spTree>
    <p:extLst>
      <p:ext uri="{BB962C8B-B14F-4D97-AF65-F5344CB8AC3E}">
        <p14:creationId xmlns:p14="http://schemas.microsoft.com/office/powerpoint/2010/main" val="1349293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BBBC7DD-EF44-E985-68C2-9658DF71328C}"/>
              </a:ext>
            </a:extLst>
          </p:cNvPr>
          <p:cNvSpPr txBox="1"/>
          <p:nvPr/>
        </p:nvSpPr>
        <p:spPr>
          <a:xfrm>
            <a:off x="1817370" y="731520"/>
            <a:ext cx="9704070" cy="48936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Method Overloading:</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a class has multiple methods having same name but different in parameters, it is known as Method Overloading.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Method overloading is performed within class.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we must perform only one operation, having same name of the methods increases the readability of the program.</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There are three ways to overload the method in java</a:t>
            </a:r>
          </a:p>
          <a:p>
            <a:r>
              <a:rPr lang="en-US" sz="2400" dirty="0">
                <a:latin typeface="Times New Roman" panose="02020603050405020304" pitchFamily="18" charset="0"/>
                <a:cs typeface="Times New Roman" panose="02020603050405020304" pitchFamily="18" charset="0"/>
              </a:rPr>
              <a:t>• By changing number of arguments</a:t>
            </a:r>
          </a:p>
          <a:p>
            <a:r>
              <a:rPr lang="en-US" sz="2400" dirty="0">
                <a:latin typeface="Times New Roman" panose="02020603050405020304" pitchFamily="18" charset="0"/>
                <a:cs typeface="Times New Roman" panose="02020603050405020304" pitchFamily="18" charset="0"/>
              </a:rPr>
              <a:t>• By changing the data type</a:t>
            </a:r>
          </a:p>
          <a:p>
            <a:r>
              <a:rPr lang="en-US" sz="2400" dirty="0">
                <a:latin typeface="Times New Roman" panose="02020603050405020304" pitchFamily="18" charset="0"/>
                <a:cs typeface="Times New Roman" panose="02020603050405020304" pitchFamily="18" charset="0"/>
              </a:rPr>
              <a:t>• By changing both number of arguments and data type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9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FF32744-B8AD-0367-16EC-870152EB370C}"/>
              </a:ext>
            </a:extLst>
          </p:cNvPr>
          <p:cNvSpPr txBox="1"/>
          <p:nvPr/>
        </p:nvSpPr>
        <p:spPr>
          <a:xfrm>
            <a:off x="1097280" y="274320"/>
            <a:ext cx="6423660" cy="369332"/>
          </a:xfrm>
          <a:prstGeom prst="rect">
            <a:avLst/>
          </a:prstGeom>
          <a:noFill/>
        </p:spPr>
        <p:txBody>
          <a:bodyPr wrap="square" rtlCol="0">
            <a:spAutoFit/>
          </a:bodyPr>
          <a:lstStyle/>
          <a:p>
            <a:r>
              <a:rPr lang="en-US" dirty="0"/>
              <a:t>a</a:t>
            </a:r>
            <a:r>
              <a:rPr lang="en-US" b="1" dirty="0">
                <a:latin typeface="Times New Roman" panose="02020603050405020304" pitchFamily="18" charset="0"/>
                <a:cs typeface="Times New Roman" panose="02020603050405020304" pitchFamily="18" charset="0"/>
              </a:rPr>
              <a:t>. Method overloading by changing number of argument:</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1803EF38-0081-39AF-701B-3D8122CD163E}"/>
              </a:ext>
            </a:extLst>
          </p:cNvPr>
          <p:cNvSpPr txBox="1"/>
          <p:nvPr/>
        </p:nvSpPr>
        <p:spPr>
          <a:xfrm>
            <a:off x="1337310" y="1245870"/>
            <a:ext cx="7406640" cy="3646170"/>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xmlns="" id="{B80A6B51-D872-0900-6CBA-B37573562A6F}"/>
              </a:ext>
            </a:extLst>
          </p:cNvPr>
          <p:cNvSpPr txBox="1"/>
          <p:nvPr/>
        </p:nvSpPr>
        <p:spPr>
          <a:xfrm>
            <a:off x="1234440" y="800100"/>
            <a:ext cx="8869680" cy="6186309"/>
          </a:xfrm>
          <a:prstGeom prst="rect">
            <a:avLst/>
          </a:prstGeom>
          <a:noFill/>
        </p:spPr>
        <p:txBody>
          <a:bodyPr wrap="square" rtlCol="0">
            <a:spAutoFit/>
          </a:bodyPr>
          <a:lstStyle/>
          <a:p>
            <a:r>
              <a:rPr lang="en-IN" dirty="0"/>
              <a:t>class Addition</a:t>
            </a:r>
          </a:p>
          <a:p>
            <a:r>
              <a:rPr lang="en-IN" dirty="0"/>
              <a:t>{</a:t>
            </a:r>
          </a:p>
          <a:p>
            <a:r>
              <a:rPr lang="en-IN" dirty="0"/>
              <a:t>static int add1 (int </a:t>
            </a:r>
            <a:r>
              <a:rPr lang="en-IN" dirty="0" err="1"/>
              <a:t>a,int</a:t>
            </a:r>
            <a:r>
              <a:rPr lang="en-IN" dirty="0"/>
              <a:t> b)</a:t>
            </a:r>
          </a:p>
          <a:p>
            <a:r>
              <a:rPr lang="en-IN" dirty="0"/>
              <a:t>{</a:t>
            </a:r>
          </a:p>
          <a:p>
            <a:r>
              <a:rPr lang="en-IN" dirty="0"/>
              <a:t>return </a:t>
            </a:r>
            <a:r>
              <a:rPr lang="en-IN" dirty="0" err="1"/>
              <a:t>a+b</a:t>
            </a:r>
            <a:r>
              <a:rPr lang="en-IN" dirty="0"/>
              <a:t>;</a:t>
            </a:r>
          </a:p>
          <a:p>
            <a:r>
              <a:rPr lang="en-IN" dirty="0"/>
              <a:t>}</a:t>
            </a:r>
          </a:p>
          <a:p>
            <a:r>
              <a:rPr lang="en-IN" dirty="0"/>
              <a:t>static int add1(int </a:t>
            </a:r>
            <a:r>
              <a:rPr lang="en-IN" dirty="0" err="1"/>
              <a:t>a,int</a:t>
            </a:r>
            <a:r>
              <a:rPr lang="en-IN" dirty="0"/>
              <a:t> </a:t>
            </a:r>
            <a:r>
              <a:rPr lang="en-IN" dirty="0" err="1"/>
              <a:t>b,int</a:t>
            </a:r>
            <a:r>
              <a:rPr lang="en-IN" dirty="0"/>
              <a:t> c)</a:t>
            </a:r>
          </a:p>
          <a:p>
            <a:r>
              <a:rPr lang="en-IN" dirty="0"/>
              <a:t>{</a:t>
            </a:r>
          </a:p>
          <a:p>
            <a:r>
              <a:rPr lang="en-IN" dirty="0"/>
              <a:t>return </a:t>
            </a:r>
            <a:r>
              <a:rPr lang="en-IN" dirty="0" err="1"/>
              <a:t>a+b+c</a:t>
            </a:r>
            <a:r>
              <a:rPr lang="en-IN" dirty="0"/>
              <a:t>;</a:t>
            </a:r>
          </a:p>
          <a:p>
            <a:r>
              <a:rPr lang="en-IN" dirty="0"/>
              <a:t>}</a:t>
            </a:r>
          </a:p>
          <a:p>
            <a:r>
              <a:rPr lang="en-IN" dirty="0"/>
              <a:t>}</a:t>
            </a:r>
          </a:p>
          <a:p>
            <a:r>
              <a:rPr lang="en-IN" dirty="0"/>
              <a:t>class </a:t>
            </a:r>
            <a:r>
              <a:rPr lang="en-IN" dirty="0" err="1"/>
              <a:t>xyz</a:t>
            </a:r>
            <a:endParaRPr lang="en-IN" dirty="0"/>
          </a:p>
          <a:p>
            <a:r>
              <a:rPr lang="en-IN" dirty="0"/>
              <a:t>{</a:t>
            </a:r>
          </a:p>
          <a:p>
            <a:r>
              <a:rPr lang="en-IN" dirty="0"/>
              <a:t>public static void main(String[] </a:t>
            </a:r>
            <a:r>
              <a:rPr lang="en-IN" dirty="0" err="1"/>
              <a:t>args</a:t>
            </a:r>
            <a:r>
              <a:rPr lang="en-IN" dirty="0"/>
              <a:t>)</a:t>
            </a:r>
          </a:p>
          <a:p>
            <a:r>
              <a:rPr lang="en-IN" dirty="0"/>
              <a:t>{</a:t>
            </a:r>
          </a:p>
          <a:p>
            <a:r>
              <a:rPr lang="en-IN" dirty="0" err="1"/>
              <a:t>System.out.println</a:t>
            </a:r>
            <a:r>
              <a:rPr lang="en-IN" dirty="0"/>
              <a:t>(Addition.add1(13,13));</a:t>
            </a:r>
          </a:p>
          <a:p>
            <a:r>
              <a:rPr lang="en-IN" dirty="0" err="1"/>
              <a:t>System.out.println</a:t>
            </a:r>
            <a:r>
              <a:rPr lang="en-IN" dirty="0"/>
              <a:t>(Addition.add1(9,9,9));</a:t>
            </a:r>
          </a:p>
          <a:p>
            <a:r>
              <a:rPr lang="en-IN" dirty="0"/>
              <a:t>}</a:t>
            </a:r>
          </a:p>
          <a:p>
            <a:r>
              <a:rPr lang="en-IN" dirty="0"/>
              <a:t>}</a:t>
            </a:r>
          </a:p>
          <a:p>
            <a:r>
              <a:rPr lang="en-IN" dirty="0"/>
              <a:t>Output:</a:t>
            </a:r>
          </a:p>
          <a:p>
            <a:r>
              <a:rPr lang="en-IN" dirty="0"/>
              <a:t>26</a:t>
            </a:r>
          </a:p>
          <a:p>
            <a:r>
              <a:rPr lang="en-IN" dirty="0"/>
              <a:t>27</a:t>
            </a:r>
          </a:p>
        </p:txBody>
      </p:sp>
    </p:spTree>
    <p:extLst>
      <p:ext uri="{BB962C8B-B14F-4D97-AF65-F5344CB8AC3E}">
        <p14:creationId xmlns:p14="http://schemas.microsoft.com/office/powerpoint/2010/main" val="1203180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8BA8432-6103-DC5D-1AB2-994D0F3F7DF3}"/>
              </a:ext>
            </a:extLst>
          </p:cNvPr>
          <p:cNvSpPr txBox="1"/>
          <p:nvPr/>
        </p:nvSpPr>
        <p:spPr>
          <a:xfrm>
            <a:off x="834390" y="377190"/>
            <a:ext cx="5737860" cy="6186309"/>
          </a:xfrm>
          <a:prstGeom prst="rect">
            <a:avLst/>
          </a:prstGeom>
          <a:noFill/>
        </p:spPr>
        <p:txBody>
          <a:bodyPr wrap="square" rtlCol="0">
            <a:spAutoFit/>
          </a:bodyPr>
          <a:lstStyle/>
          <a:p>
            <a:r>
              <a:rPr lang="en-US" b="1" dirty="0"/>
              <a:t>b. Method Overloading by changing the data type:</a:t>
            </a:r>
          </a:p>
          <a:p>
            <a:r>
              <a:rPr lang="en-IN" dirty="0"/>
              <a:t>class Addition</a:t>
            </a:r>
          </a:p>
          <a:p>
            <a:r>
              <a:rPr lang="en-IN" dirty="0"/>
              <a:t>{</a:t>
            </a:r>
          </a:p>
          <a:p>
            <a:r>
              <a:rPr lang="en-IN" dirty="0"/>
              <a:t>static int add1 (int </a:t>
            </a:r>
            <a:r>
              <a:rPr lang="en-IN" dirty="0" err="1"/>
              <a:t>a,int</a:t>
            </a:r>
            <a:r>
              <a:rPr lang="en-IN" dirty="0"/>
              <a:t> b)</a:t>
            </a:r>
          </a:p>
          <a:p>
            <a:r>
              <a:rPr lang="en-IN" dirty="0"/>
              <a:t>{</a:t>
            </a:r>
          </a:p>
          <a:p>
            <a:r>
              <a:rPr lang="en-IN" dirty="0"/>
              <a:t>return </a:t>
            </a:r>
            <a:r>
              <a:rPr lang="en-IN" dirty="0" err="1"/>
              <a:t>a+b</a:t>
            </a:r>
            <a:r>
              <a:rPr lang="en-IN" dirty="0"/>
              <a:t>;</a:t>
            </a:r>
          </a:p>
          <a:p>
            <a:r>
              <a:rPr lang="en-IN" dirty="0"/>
              <a:t>}</a:t>
            </a:r>
          </a:p>
          <a:p>
            <a:r>
              <a:rPr lang="en-IN" dirty="0"/>
              <a:t>static double add1(double </a:t>
            </a:r>
            <a:r>
              <a:rPr lang="en-IN" dirty="0" err="1"/>
              <a:t>a,double</a:t>
            </a:r>
            <a:r>
              <a:rPr lang="en-IN" dirty="0"/>
              <a:t> b)</a:t>
            </a:r>
          </a:p>
          <a:p>
            <a:r>
              <a:rPr lang="en-IN" dirty="0"/>
              <a:t>{</a:t>
            </a:r>
          </a:p>
          <a:p>
            <a:r>
              <a:rPr lang="en-IN" dirty="0"/>
              <a:t>return </a:t>
            </a:r>
            <a:r>
              <a:rPr lang="en-IN" dirty="0" err="1"/>
              <a:t>a+b</a:t>
            </a:r>
            <a:r>
              <a:rPr lang="en-IN" dirty="0"/>
              <a:t>;</a:t>
            </a:r>
          </a:p>
          <a:p>
            <a:r>
              <a:rPr lang="en-IN" dirty="0"/>
              <a:t>}</a:t>
            </a:r>
          </a:p>
          <a:p>
            <a:r>
              <a:rPr lang="en-IN" dirty="0"/>
              <a:t>}</a:t>
            </a:r>
          </a:p>
          <a:p>
            <a:r>
              <a:rPr lang="en-IN" dirty="0"/>
              <a:t>class xyz1</a:t>
            </a:r>
          </a:p>
          <a:p>
            <a:r>
              <a:rPr lang="en-IN" dirty="0"/>
              <a:t>{</a:t>
            </a:r>
          </a:p>
          <a:p>
            <a:r>
              <a:rPr lang="en-IN" dirty="0"/>
              <a:t>public static void main(String[] </a:t>
            </a:r>
            <a:r>
              <a:rPr lang="en-IN" dirty="0" err="1"/>
              <a:t>args</a:t>
            </a:r>
            <a:r>
              <a:rPr lang="en-IN" dirty="0"/>
              <a:t>)</a:t>
            </a:r>
          </a:p>
          <a:p>
            <a:r>
              <a:rPr lang="en-IN" dirty="0"/>
              <a:t>{</a:t>
            </a:r>
          </a:p>
          <a:p>
            <a:r>
              <a:rPr lang="en-IN" dirty="0" err="1"/>
              <a:t>System.out.println</a:t>
            </a:r>
            <a:r>
              <a:rPr lang="en-IN" dirty="0"/>
              <a:t>(Addition.add1(13,13));</a:t>
            </a:r>
          </a:p>
          <a:p>
            <a:r>
              <a:rPr lang="en-IN" dirty="0" err="1"/>
              <a:t>System.out.println</a:t>
            </a:r>
            <a:r>
              <a:rPr lang="en-IN" dirty="0"/>
              <a:t>(Addition.add1(9.5,9.5));</a:t>
            </a:r>
          </a:p>
          <a:p>
            <a:r>
              <a:rPr lang="en-IN" dirty="0"/>
              <a:t>}</a:t>
            </a:r>
          </a:p>
          <a:p>
            <a:r>
              <a:rPr lang="en-IN" dirty="0"/>
              <a:t>}</a:t>
            </a:r>
            <a:r>
              <a:rPr lang="en-IN" b="1" dirty="0"/>
              <a:t>Output:</a:t>
            </a:r>
          </a:p>
          <a:p>
            <a:r>
              <a:rPr lang="en-IN" dirty="0"/>
              <a:t>26</a:t>
            </a:r>
          </a:p>
          <a:p>
            <a:r>
              <a:rPr lang="en-IN" dirty="0"/>
              <a:t>19</a:t>
            </a:r>
          </a:p>
        </p:txBody>
      </p:sp>
    </p:spTree>
    <p:extLst>
      <p:ext uri="{BB962C8B-B14F-4D97-AF65-F5344CB8AC3E}">
        <p14:creationId xmlns:p14="http://schemas.microsoft.com/office/powerpoint/2010/main" val="2445365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958B55A-2FD8-54B0-C455-09E6A52AAA7D}"/>
              </a:ext>
            </a:extLst>
          </p:cNvPr>
          <p:cNvSpPr txBox="1"/>
          <p:nvPr/>
        </p:nvSpPr>
        <p:spPr>
          <a:xfrm>
            <a:off x="731520" y="613202"/>
            <a:ext cx="9669780" cy="4801314"/>
          </a:xfrm>
          <a:prstGeom prst="rect">
            <a:avLst/>
          </a:prstGeom>
          <a:noFill/>
        </p:spPr>
        <p:txBody>
          <a:bodyPr wrap="square" rtlCol="0">
            <a:spAutoFit/>
          </a:bodyPr>
          <a:lstStyle/>
          <a:p>
            <a:r>
              <a:rPr lang="en-US" b="1" dirty="0"/>
              <a:t>c. Method Overloading by changing both number of argument and data type:</a:t>
            </a:r>
          </a:p>
          <a:p>
            <a:r>
              <a:rPr lang="en-IN" b="1" dirty="0"/>
              <a:t>class Overload1</a:t>
            </a:r>
          </a:p>
          <a:p>
            <a:r>
              <a:rPr lang="en-IN" dirty="0"/>
              <a:t>{</a:t>
            </a:r>
          </a:p>
          <a:p>
            <a:r>
              <a:rPr lang="en-IN" dirty="0"/>
              <a:t>void do (int a)</a:t>
            </a:r>
          </a:p>
          <a:p>
            <a:r>
              <a:rPr lang="en-IN" dirty="0"/>
              <a:t>{</a:t>
            </a:r>
          </a:p>
          <a:p>
            <a:r>
              <a:rPr lang="en-IN" dirty="0" err="1"/>
              <a:t>System.out.println</a:t>
            </a:r>
            <a:r>
              <a:rPr lang="en-IN" dirty="0"/>
              <a:t> (“a: ” + a);</a:t>
            </a:r>
          </a:p>
          <a:p>
            <a:r>
              <a:rPr lang="en-IN" dirty="0"/>
              <a:t>}</a:t>
            </a:r>
          </a:p>
          <a:p>
            <a:r>
              <a:rPr lang="en-IN" dirty="0"/>
              <a:t>void do (int a, int b)</a:t>
            </a:r>
          </a:p>
          <a:p>
            <a:r>
              <a:rPr lang="en-IN" dirty="0"/>
              <a:t>{</a:t>
            </a:r>
          </a:p>
          <a:p>
            <a:r>
              <a:rPr lang="en-IN" dirty="0" err="1"/>
              <a:t>System.out.println</a:t>
            </a:r>
            <a:r>
              <a:rPr lang="en-IN" dirty="0"/>
              <a:t> (“a and b: ” + a + “,” + b);</a:t>
            </a:r>
          </a:p>
          <a:p>
            <a:r>
              <a:rPr lang="en-IN" dirty="0"/>
              <a:t>}</a:t>
            </a:r>
          </a:p>
          <a:p>
            <a:r>
              <a:rPr lang="en-IN" dirty="0"/>
              <a:t>double do(double a)</a:t>
            </a:r>
          </a:p>
          <a:p>
            <a:r>
              <a:rPr lang="en-IN" dirty="0"/>
              <a:t>{</a:t>
            </a:r>
          </a:p>
          <a:p>
            <a:r>
              <a:rPr lang="en-IN" dirty="0" err="1"/>
              <a:t>System.out.println</a:t>
            </a:r>
            <a:r>
              <a:rPr lang="en-IN" dirty="0"/>
              <a:t>(“double a: ” + a);</a:t>
            </a:r>
          </a:p>
          <a:p>
            <a:r>
              <a:rPr lang="en-IN" dirty="0"/>
              <a:t>return a*a;</a:t>
            </a:r>
          </a:p>
          <a:p>
            <a:r>
              <a:rPr lang="en-IN" dirty="0"/>
              <a:t>}</a:t>
            </a:r>
          </a:p>
          <a:p>
            <a:r>
              <a:rPr lang="en-IN" dirty="0"/>
              <a:t>}</a:t>
            </a:r>
          </a:p>
        </p:txBody>
      </p:sp>
      <p:sp>
        <p:nvSpPr>
          <p:cNvPr id="3" name="TextBox 2">
            <a:extLst>
              <a:ext uri="{FF2B5EF4-FFF2-40B4-BE49-F238E27FC236}">
                <a16:creationId xmlns:a16="http://schemas.microsoft.com/office/drawing/2014/main" xmlns="" id="{A54A0612-5767-6DB9-28D3-2B3F87A80E91}"/>
              </a:ext>
            </a:extLst>
          </p:cNvPr>
          <p:cNvSpPr txBox="1"/>
          <p:nvPr/>
        </p:nvSpPr>
        <p:spPr>
          <a:xfrm>
            <a:off x="5566410" y="1165860"/>
            <a:ext cx="4149090" cy="3970318"/>
          </a:xfrm>
          <a:prstGeom prst="rect">
            <a:avLst/>
          </a:prstGeom>
          <a:noFill/>
        </p:spPr>
        <p:txBody>
          <a:bodyPr wrap="square" rtlCol="0">
            <a:spAutoFit/>
          </a:bodyPr>
          <a:lstStyle/>
          <a:p>
            <a:r>
              <a:rPr lang="en-IN"/>
              <a:t>class Overload2{</a:t>
            </a:r>
          </a:p>
          <a:p>
            <a:r>
              <a:rPr lang="en-IN"/>
              <a:t>public static void main (String args [])</a:t>
            </a:r>
          </a:p>
          <a:p>
            <a:r>
              <a:rPr lang="en-IN"/>
              <a:t>{</a:t>
            </a:r>
          </a:p>
          <a:p>
            <a:r>
              <a:rPr lang="en-IN"/>
              <a:t>Overload1 Obj = new Overload1();</a:t>
            </a:r>
          </a:p>
          <a:p>
            <a:r>
              <a:rPr lang="en-IN"/>
              <a:t>double result;</a:t>
            </a:r>
          </a:p>
          <a:p>
            <a:r>
              <a:rPr lang="en-IN"/>
              <a:t>Obj.do(20);</a:t>
            </a:r>
          </a:p>
          <a:p>
            <a:r>
              <a:rPr lang="en-IN"/>
              <a:t>Obj.do(20, 30);</a:t>
            </a:r>
          </a:p>
          <a:p>
            <a:r>
              <a:rPr lang="en-IN"/>
              <a:t>result = Obj.do(4.5);</a:t>
            </a:r>
          </a:p>
          <a:p>
            <a:r>
              <a:rPr lang="en-IN"/>
              <a:t>System.out.println(“Output is: ” + result);</a:t>
            </a:r>
          </a:p>
          <a:p>
            <a:r>
              <a:rPr lang="en-IN"/>
              <a:t>}</a:t>
            </a:r>
          </a:p>
          <a:p>
            <a:r>
              <a:rPr lang="en-IN"/>
              <a:t>}a: 20</a:t>
            </a:r>
          </a:p>
          <a:p>
            <a:r>
              <a:rPr lang="en-IN"/>
              <a:t>a and b: 20,30</a:t>
            </a:r>
          </a:p>
          <a:p>
            <a:r>
              <a:rPr lang="en-IN"/>
              <a:t>double a: 4.5</a:t>
            </a:r>
          </a:p>
          <a:p>
            <a:r>
              <a:rPr lang="en-IN"/>
              <a:t>Output is: 20.25</a:t>
            </a:r>
            <a:endParaRPr lang="en-IN" dirty="0"/>
          </a:p>
        </p:txBody>
      </p:sp>
      <p:cxnSp>
        <p:nvCxnSpPr>
          <p:cNvPr id="7" name="Straight Connector 6">
            <a:extLst>
              <a:ext uri="{FF2B5EF4-FFF2-40B4-BE49-F238E27FC236}">
                <a16:creationId xmlns:a16="http://schemas.microsoft.com/office/drawing/2014/main" xmlns="" id="{C55C6019-FB7A-1219-ABB6-2BB1DD89F9A0}"/>
              </a:ext>
            </a:extLst>
          </p:cNvPr>
          <p:cNvCxnSpPr/>
          <p:nvPr/>
        </p:nvCxnSpPr>
        <p:spPr>
          <a:xfrm>
            <a:off x="5417820" y="891540"/>
            <a:ext cx="0" cy="424463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9017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EC9B72D-075D-4C3B-C2D7-C75859A47D90}"/>
              </a:ext>
            </a:extLst>
          </p:cNvPr>
          <p:cNvSpPr txBox="1"/>
          <p:nvPr/>
        </p:nvSpPr>
        <p:spPr>
          <a:xfrm>
            <a:off x="571500" y="434340"/>
            <a:ext cx="10001250" cy="590931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 Run-time Polymorphism :</a:t>
            </a:r>
          </a:p>
          <a:p>
            <a:endParaRPr lang="en-US" dirty="0"/>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type of polymorphism which is implemented dynamically when a program being executed is called as run-time polymorphism.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run-time polymorphism is also called dynamic polymorphism or late binding.</a:t>
            </a:r>
          </a:p>
          <a:p>
            <a:r>
              <a:rPr lang="en-US" sz="2400" b="1" dirty="0">
                <a:latin typeface="Times New Roman" panose="02020603050405020304" pitchFamily="18" charset="0"/>
                <a:cs typeface="Times New Roman" panose="02020603050405020304" pitchFamily="18" charset="0"/>
              </a:rPr>
              <a:t>Method Overriding in Java</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Method overriding is used to achieve the runtime polymorphism or dynamic binding.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 method overriding the method must have the same name as in the parent class and it must have the same parameter as in the parent class.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subclass (child class) has the same method as declared in the parent class, it is known as method overriding in Java.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Method overriding occurs in two classes that have IS-A (inheritance) relationship.</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115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DBE2BE8-96A1-42EA-C50D-9D7DDDB52433}"/>
              </a:ext>
            </a:extLst>
          </p:cNvPr>
          <p:cNvSpPr txBox="1"/>
          <p:nvPr/>
        </p:nvSpPr>
        <p:spPr>
          <a:xfrm>
            <a:off x="834390" y="422910"/>
            <a:ext cx="7246620" cy="7294305"/>
          </a:xfrm>
          <a:prstGeom prst="rect">
            <a:avLst/>
          </a:prstGeom>
          <a:noFill/>
        </p:spPr>
        <p:txBody>
          <a:bodyPr wrap="square" rtlCol="0">
            <a:spAutoFit/>
          </a:bodyPr>
          <a:lstStyle/>
          <a:p>
            <a:r>
              <a:rPr lang="en-IN" dirty="0"/>
              <a:t>//parent class</a:t>
            </a:r>
          </a:p>
          <a:p>
            <a:r>
              <a:rPr lang="en-IN" dirty="0"/>
              <a:t>class Animal</a:t>
            </a:r>
          </a:p>
          <a:p>
            <a:r>
              <a:rPr lang="en-IN" dirty="0"/>
              <a:t>{</a:t>
            </a:r>
          </a:p>
          <a:p>
            <a:r>
              <a:rPr lang="en-IN" dirty="0"/>
              <a:t>//define method</a:t>
            </a:r>
          </a:p>
          <a:p>
            <a:r>
              <a:rPr lang="en-IN" dirty="0"/>
              <a:t>void do()</a:t>
            </a:r>
          </a:p>
          <a:p>
            <a:r>
              <a:rPr lang="en-IN" dirty="0"/>
              <a:t>{</a:t>
            </a:r>
          </a:p>
          <a:p>
            <a:r>
              <a:rPr lang="en-IN" dirty="0" err="1"/>
              <a:t>System.out.println</a:t>
            </a:r>
            <a:r>
              <a:rPr lang="en-IN" dirty="0"/>
              <a:t>(“Animal is eating food”);</a:t>
            </a:r>
          </a:p>
          <a:p>
            <a:r>
              <a:rPr lang="en-IN" dirty="0"/>
              <a:t>}</a:t>
            </a:r>
          </a:p>
          <a:p>
            <a:r>
              <a:rPr lang="en-IN" dirty="0"/>
              <a:t>}</a:t>
            </a:r>
          </a:p>
          <a:p>
            <a:r>
              <a:rPr lang="en-IN" dirty="0"/>
              <a:t>//Create child class</a:t>
            </a:r>
          </a:p>
          <a:p>
            <a:r>
              <a:rPr lang="en-IN" dirty="0"/>
              <a:t>class dog extends Animal</a:t>
            </a:r>
          </a:p>
          <a:p>
            <a:r>
              <a:rPr lang="en-IN" dirty="0"/>
              <a:t>{</a:t>
            </a:r>
          </a:p>
          <a:p>
            <a:r>
              <a:rPr lang="en-IN" dirty="0"/>
              <a:t>//define the same method as in the parent class</a:t>
            </a:r>
          </a:p>
          <a:p>
            <a:r>
              <a:rPr lang="en-IN" dirty="0"/>
              <a:t>void do()</a:t>
            </a:r>
          </a:p>
          <a:p>
            <a:r>
              <a:rPr lang="en-IN" dirty="0"/>
              <a:t>{</a:t>
            </a:r>
          </a:p>
          <a:p>
            <a:r>
              <a:rPr lang="en-IN" dirty="0" err="1"/>
              <a:t>System.out.println</a:t>
            </a:r>
            <a:r>
              <a:rPr lang="en-IN" dirty="0"/>
              <a:t>(“Dog is eating food “);</a:t>
            </a:r>
          </a:p>
          <a:p>
            <a:r>
              <a:rPr lang="en-IN" dirty="0"/>
              <a:t>}</a:t>
            </a:r>
          </a:p>
          <a:p>
            <a:r>
              <a:rPr lang="en-IN" dirty="0"/>
              <a:t>Class Poly</a:t>
            </a:r>
          </a:p>
          <a:p>
            <a:r>
              <a:rPr lang="en-IN" dirty="0"/>
              <a:t>{</a:t>
            </a:r>
          </a:p>
          <a:p>
            <a:r>
              <a:rPr lang="en-IN" dirty="0"/>
              <a:t>public static void main(String </a:t>
            </a:r>
            <a:r>
              <a:rPr lang="en-IN" dirty="0" err="1"/>
              <a:t>args</a:t>
            </a:r>
            <a:r>
              <a:rPr lang="en-IN" dirty="0"/>
              <a:t>[])</a:t>
            </a:r>
          </a:p>
          <a:p>
            <a:r>
              <a:rPr lang="en-IN" dirty="0"/>
              <a:t>{</a:t>
            </a:r>
          </a:p>
          <a:p>
            <a:r>
              <a:rPr lang="en-IN" dirty="0"/>
              <a:t>dog </a:t>
            </a:r>
            <a:r>
              <a:rPr lang="en-IN" dirty="0" err="1"/>
              <a:t>obj</a:t>
            </a:r>
            <a:r>
              <a:rPr lang="en-IN" dirty="0"/>
              <a:t> = new dog();//creating object</a:t>
            </a:r>
          </a:p>
          <a:p>
            <a:r>
              <a:rPr lang="en-IN" dirty="0"/>
              <a:t>obj.do();//calling method</a:t>
            </a:r>
          </a:p>
          <a:p>
            <a:r>
              <a:rPr lang="en-IN" dirty="0"/>
              <a:t>}</a:t>
            </a:r>
          </a:p>
          <a:p>
            <a:r>
              <a:rPr lang="en-IN" dirty="0"/>
              <a:t>}</a:t>
            </a:r>
            <a:r>
              <a:rPr lang="en-IN" b="1" dirty="0"/>
              <a:t>Output:</a:t>
            </a:r>
          </a:p>
          <a:p>
            <a:r>
              <a:rPr lang="en-IN" dirty="0"/>
              <a:t>Dog is eating food</a:t>
            </a:r>
          </a:p>
        </p:txBody>
      </p:sp>
    </p:spTree>
    <p:extLst>
      <p:ext uri="{BB962C8B-B14F-4D97-AF65-F5344CB8AC3E}">
        <p14:creationId xmlns:p14="http://schemas.microsoft.com/office/powerpoint/2010/main" val="1528323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2A16687A-0C0E-E5DE-A6DC-ABE56606E164}"/>
              </a:ext>
            </a:extLst>
          </p:cNvPr>
          <p:cNvSpPr txBox="1"/>
          <p:nvPr/>
        </p:nvSpPr>
        <p:spPr>
          <a:xfrm>
            <a:off x="960120" y="217170"/>
            <a:ext cx="9852660" cy="375487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Advantage of polymorphism:</a:t>
            </a:r>
          </a:p>
          <a:p>
            <a:endParaRPr lang="en-US" sz="2000" b="1" dirty="0">
              <a:latin typeface="Times New Roman" panose="02020603050405020304" pitchFamily="18" charset="0"/>
              <a:cs typeface="Times New Roman" panose="02020603050405020304" pitchFamily="18" charset="0"/>
            </a:endParaRPr>
          </a:p>
          <a:p>
            <a:r>
              <a:rPr lang="en-US" dirty="0"/>
              <a:t>• It helps programmers to reuse the code, classes, methods written once, tested and       implemented. They may be reused in many ways.</a:t>
            </a:r>
          </a:p>
          <a:p>
            <a:endParaRPr lang="en-US" dirty="0"/>
          </a:p>
          <a:p>
            <a:endParaRPr lang="en-US" dirty="0"/>
          </a:p>
          <a:p>
            <a:r>
              <a:rPr lang="en-US" dirty="0"/>
              <a:t>• Polymorphism helps in reducing the coupling between different functionalities.</a:t>
            </a:r>
          </a:p>
          <a:p>
            <a:endParaRPr lang="en-US" dirty="0"/>
          </a:p>
          <a:p>
            <a:r>
              <a:rPr lang="en-US" dirty="0"/>
              <a:t>• Method overloading can be implemented on constructors allowing different ways to initialize objects of a class. This enables you to define multiple constructors for handling different types of initializations.</a:t>
            </a:r>
          </a:p>
          <a:p>
            <a:endParaRPr lang="en-US" dirty="0"/>
          </a:p>
          <a:p>
            <a:r>
              <a:rPr lang="en-US" dirty="0"/>
              <a:t>• Method overriding works together with inheritance to enable code reuse of existing classes without the need for re-compilation.</a:t>
            </a:r>
            <a:endParaRPr lang="en-IN" dirty="0"/>
          </a:p>
        </p:txBody>
      </p:sp>
    </p:spTree>
    <p:extLst>
      <p:ext uri="{BB962C8B-B14F-4D97-AF65-F5344CB8AC3E}">
        <p14:creationId xmlns:p14="http://schemas.microsoft.com/office/powerpoint/2010/main" val="2274331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60594A9-DBEF-4006-D1E1-E5DC820F505D}"/>
              </a:ext>
            </a:extLst>
          </p:cNvPr>
          <p:cNvSpPr txBox="1"/>
          <p:nvPr/>
        </p:nvSpPr>
        <p:spPr>
          <a:xfrm>
            <a:off x="742950" y="537210"/>
            <a:ext cx="9361170" cy="433965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Disadvantage of polymorphism:</a:t>
            </a:r>
          </a:p>
          <a:p>
            <a:endParaRPr lang="en-US" dirty="0"/>
          </a:p>
          <a:p>
            <a:pPr algn="just"/>
            <a:r>
              <a:rPr lang="en-US" dirty="0"/>
              <a:t>• </a:t>
            </a:r>
            <a:r>
              <a:rPr lang="en-US" sz="2400" dirty="0">
                <a:latin typeface="Times New Roman" panose="02020603050405020304" pitchFamily="18" charset="0"/>
                <a:cs typeface="Times New Roman" panose="02020603050405020304" pitchFamily="18" charset="0"/>
              </a:rPr>
              <a:t>One of the main disadvantages of polymorphism is that developers find it difficult to implement polymorphism in codes.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Run time polymorphism can lead to the performance issue where machine needs to decide which method or variable to invoke so it basically degrades the performances as decisions are taken at run time.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Polymorphism reduces the readability of the program. One needs to identify the runtime behavior of the program to identify actual execution time.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562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TotalTime>
  <Words>834</Words>
  <Application>Microsoft Office PowerPoint</Application>
  <PresentationFormat>Custom</PresentationFormat>
  <Paragraphs>150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Swathi M</dc:creator>
  <cp:lastModifiedBy>hp</cp:lastModifiedBy>
  <cp:revision>7</cp:revision>
  <dcterms:created xsi:type="dcterms:W3CDTF">2022-09-11T14:50:07Z</dcterms:created>
  <dcterms:modified xsi:type="dcterms:W3CDTF">2023-10-06T06:45:36Z</dcterms:modified>
</cp:coreProperties>
</file>