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8" r:id="rId4"/>
    <p:sldId id="259" r:id="rId5"/>
    <p:sldId id="260" r:id="rId6"/>
    <p:sldId id="264" r:id="rId7"/>
    <p:sldId id="265" r:id="rId8"/>
    <p:sldId id="267" r:id="rId9"/>
    <p:sldId id="273" r:id="rId10"/>
    <p:sldId id="274" r:id="rId11"/>
    <p:sldId id="275" r:id="rId12"/>
    <p:sldId id="277" r:id="rId13"/>
    <p:sldId id="276" r:id="rId14"/>
    <p:sldId id="278" r:id="rId15"/>
    <p:sldId id="279" r:id="rId16"/>
    <p:sldId id="280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92" d="100"/>
          <a:sy n="92" d="100"/>
        </p:scale>
        <p:origin x="-45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B3FDE1-CCF1-2445-FB56-814285D5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60C1979-D36F-ED5E-D031-9594F6087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9EC45DC-0772-DDD1-BB53-922B217F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9C6B68F-D4B5-8B0D-12D0-6EE46FF9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F5B71EE-5E30-36B7-0476-E99B64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39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FF7CAF-BE55-0809-D0DB-83F5A8CD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8AF498-94D4-D1E1-F0AE-A598E9284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9F3FFEE-6FC7-0C03-664A-0E31F0CB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407457D-ACCE-D35F-8096-A6705A1C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653C7AF-F568-1530-9FB9-4919D1B2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1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34DA83F-ECB0-B5C3-6A95-AD9839937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998191F-17D3-CAC1-7495-913AA64CA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342B837-4E1A-9E03-F160-2064A71D7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66E0AF-627A-6AC7-9303-20AA39BA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DD0C15-D42B-5AC9-8F9B-0475EE31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27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A00E20-BF5F-F056-86C4-0AD0D5DE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498B93-E5E1-E753-D8CC-CCB87FA60C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BA61A55-4BD2-D42E-69FD-EFED1C443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072C9CA-4B72-1613-20FF-895D7BA7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611EA96-CC93-9AD4-4486-BA6D16069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E4DB701-D36B-CE32-126C-172CD7FC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390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959D2F-6AB7-DF75-8D80-04B750B4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8C45B8E-67C1-5B61-8449-9697DBA34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2609E24-939F-49D6-E88E-A919C1C5A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50C2BE4C-E091-5E66-DD6D-CCFBE171D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6401609-35C2-B642-4BA7-5EE891C5E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2734C7D2-EEDA-A8B0-2959-33EF2E6A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2D7429E-FB3E-1EA2-91AA-FE92436E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1C6E43B-449E-54C2-DBC8-E2A17970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53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D4FF5A-B066-716F-9C58-6BF23652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21BC89A-6F8F-6EE0-8818-5EFDE2F76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30DD1A0-5664-5460-1826-74D9536B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0E42B90-2F7D-71CB-FC0B-7C9EDD19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375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825F40F-B504-F515-A98B-D55C8FD9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B5DE769-0E21-A0DD-401A-AAD6C651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FDCC640-0464-2A72-8531-FC12DDEA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34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9A4FB4-4801-907E-CD0E-F538E0B6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62FCC8-FE1C-F965-0A58-F2DB84B71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41B6D20-95B0-9569-E37E-091B0820D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66A9D84-3662-8B41-1034-700D6F17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9AF1C7A-FD38-D64A-5BF7-232B3613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C6E9EB7-3B3B-5ECD-8528-21419BE7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937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44B2BE-4CFF-D45F-AE9E-1D758820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4E10D28-FC15-A7C4-8034-B6C2AA585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7280465-BE8D-ADD1-9355-3501C7680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356508A-9D92-3821-9092-7C6095E1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38EFB3C-1B6F-6EB1-B7E1-1430026B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CC4D7D0-819F-1713-7532-5F9928AE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40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70370A-1160-E084-5FEB-4DFC2300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8F80FA9-4AAE-2D51-B3D7-54EBB8278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A922643-4742-3B83-BBA9-0A34C5DB1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BE9665-0674-8C36-3120-6E3B0C731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DAD3D5F-6B7C-FE3D-4215-8EBEBCA8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45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E637644-41B4-E8AE-80C9-C134BE0D5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C586BCC-3F6E-C34B-6F41-07EC076EC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423F881-DDE4-4588-06ED-E162F177A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8931550-757B-C22F-E68A-1D0A762A2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CE12566-5629-2E3B-4E99-F7D09EFE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635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FB1302B-A600-4EF9-67C7-6C8D250D2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37C67EB-8279-8520-D4D3-3A8EA7EC7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396BE4E-BAE7-6F50-48BF-A682527D7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FF936-6476-4AC2-887F-E144BCB6B2D5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F695882-EA04-1A9B-6F3A-79C9C64BB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7F1DED4-3DDF-2318-1A95-93B7144C2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0D2B2-F365-43F0-9392-5D68399D9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45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inheritance-in-java" TargetMode="External"/><Relationship Id="rId2" Type="http://schemas.openxmlformats.org/officeDocument/2006/relationships/hyperlink" Target="https://www.javatpoint.com/abstract-class-in-java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10298B9-9F58-C642-F14B-B18196793179}"/>
              </a:ext>
            </a:extLst>
          </p:cNvPr>
          <p:cNvSpPr txBox="1"/>
          <p:nvPr/>
        </p:nvSpPr>
        <p:spPr>
          <a:xfrm>
            <a:off x="1280160" y="662940"/>
            <a:ext cx="7269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Interface is look like a class but it is not a class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F7FC33D-0F0D-7167-6991-8F132C280795}"/>
              </a:ext>
            </a:extLst>
          </p:cNvPr>
          <p:cNvSpPr txBox="1"/>
          <p:nvPr/>
        </p:nvSpPr>
        <p:spPr>
          <a:xfrm>
            <a:off x="1280160" y="1397675"/>
            <a:ext cx="99212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An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interface in Java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 is a blueprint of a class.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It has static constants and abstract methods.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The interface in Java is </a:t>
            </a:r>
            <a:r>
              <a:rPr lang="en-US" sz="2400" b="0" i="1" dirty="0">
                <a:solidFill>
                  <a:srgbClr val="333333"/>
                </a:solidFill>
                <a:effectLst/>
                <a:latin typeface="inter-regular"/>
              </a:rPr>
              <a:t>a mechanism to achieve </a:t>
            </a:r>
            <a:r>
              <a:rPr lang="en-US" sz="2400" b="1" i="1" strike="noStrike" dirty="0">
                <a:solidFill>
                  <a:srgbClr val="008000"/>
                </a:solidFill>
                <a:latin typeface="inter-regular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abstraction</a:t>
            </a:r>
            <a:r>
              <a:rPr lang="en-US" sz="2400" b="1" i="0" dirty="0">
                <a:solidFill>
                  <a:srgbClr val="333333"/>
                </a:solidFill>
                <a:latin typeface="inter-regular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There can be only abstract methods in the Java interface, not method body.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 It is used to achieve abstraction and multiple </a:t>
            </a:r>
            <a:r>
              <a:rPr lang="en-US" sz="2400" b="0" i="0" u="none" strike="noStrike" dirty="0">
                <a:solidFill>
                  <a:srgbClr val="008000"/>
                </a:solidFill>
                <a:effectLst/>
                <a:latin typeface="inter-regular"/>
                <a:hlinkClick r:id="rId3"/>
              </a:rPr>
              <a:t>inheritance in Java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In other words, you can say that interfaces can have abstract methods and variables. It cannot have a method body.</a:t>
            </a:r>
          </a:p>
        </p:txBody>
      </p:sp>
    </p:spTree>
    <p:extLst>
      <p:ext uri="{BB962C8B-B14F-4D97-AF65-F5344CB8AC3E}">
        <p14:creationId xmlns:p14="http://schemas.microsoft.com/office/powerpoint/2010/main" val="268876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2E05925-910B-C870-9F84-54CA1D0D7DAD}"/>
              </a:ext>
            </a:extLst>
          </p:cNvPr>
          <p:cNvSpPr txBox="1"/>
          <p:nvPr/>
        </p:nvSpPr>
        <p:spPr>
          <a:xfrm>
            <a:off x="845820" y="354330"/>
            <a:ext cx="5486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0" dirty="0">
                <a:solidFill>
                  <a:srgbClr val="610B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use Java interface?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C22D0A3-B27A-A56A-8E71-8DF4616EA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527" y="1807323"/>
            <a:ext cx="5364945" cy="32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0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6FCE65-1897-8527-E7B4-792CA045EF4D}"/>
              </a:ext>
            </a:extLst>
          </p:cNvPr>
          <p:cNvSpPr txBox="1"/>
          <p:nvPr/>
        </p:nvSpPr>
        <p:spPr>
          <a:xfrm>
            <a:off x="948690" y="845820"/>
            <a:ext cx="95440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to declare an interface?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An interface is declared by using the interface keyword. It provides total abstraction;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It means all the methods in an interface are declared with the empty body, and all the fields are public, static and final by default.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 class that implements an interface must implement all the methods declared in the interface.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9E5221-1D05-5116-4334-4F9793C845A3}"/>
              </a:ext>
            </a:extLst>
          </p:cNvPr>
          <p:cNvSpPr txBox="1"/>
          <p:nvPr/>
        </p:nvSpPr>
        <p:spPr>
          <a:xfrm>
            <a:off x="1108710" y="3992285"/>
            <a:ext cx="70408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Syntax:</a:t>
            </a:r>
          </a:p>
          <a:p>
            <a:r>
              <a:rPr lang="en-US" sz="2400" dirty="0"/>
              <a:t>interface &lt;</a:t>
            </a:r>
            <a:r>
              <a:rPr lang="en-US" sz="2400" dirty="0" err="1"/>
              <a:t>interface_name</a:t>
            </a:r>
            <a:r>
              <a:rPr lang="en-US" sz="2400" dirty="0"/>
              <a:t>&gt;</a:t>
            </a:r>
          </a:p>
          <a:p>
            <a:r>
              <a:rPr lang="en-US" sz="2400" dirty="0"/>
              <a:t>{    </a:t>
            </a:r>
          </a:p>
          <a:p>
            <a:r>
              <a:rPr lang="en-US" sz="2400" dirty="0"/>
              <a:t>    // declare constant fields  </a:t>
            </a:r>
          </a:p>
          <a:p>
            <a:r>
              <a:rPr lang="en-US" sz="2400" dirty="0"/>
              <a:t>    // declare methods that abstract   </a:t>
            </a:r>
          </a:p>
          <a:p>
            <a:r>
              <a:rPr lang="en-US" sz="2400" dirty="0"/>
              <a:t>    // by default.  </a:t>
            </a:r>
          </a:p>
          <a:p>
            <a:r>
              <a:rPr lang="en-US" sz="2400" dirty="0"/>
              <a:t>}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07233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29F1D17-7E3B-446C-DDE9-6BD121DF5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10" y="785697"/>
            <a:ext cx="10790214" cy="505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2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5A43E15-3BA3-A57D-70A9-51412B7D3CF5}"/>
              </a:ext>
            </a:extLst>
          </p:cNvPr>
          <p:cNvSpPr txBox="1"/>
          <p:nvPr/>
        </p:nvSpPr>
        <p:spPr>
          <a:xfrm>
            <a:off x="1120140" y="662940"/>
            <a:ext cx="8069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relationship between classes and interfaces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0201F29-BD53-EA8F-0E31-9835EFA13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1902787"/>
            <a:ext cx="7784869" cy="369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8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FAFD142-85B6-C30C-0163-452ED52377D9}"/>
              </a:ext>
            </a:extLst>
          </p:cNvPr>
          <p:cNvSpPr txBox="1"/>
          <p:nvPr/>
        </p:nvSpPr>
        <p:spPr>
          <a:xfrm>
            <a:off x="1017270" y="617220"/>
            <a:ext cx="868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Multiple inheritance in Java by interface</a:t>
            </a:r>
          </a:p>
          <a:p>
            <a:r>
              <a:rPr lang="en-US" dirty="0"/>
              <a:t>If a class implements multiple interfaces, or an interface extends multiple interfaces, it is known as multiple inheritance.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284587E-131E-892F-0818-501B10791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70" y="2128656"/>
            <a:ext cx="7941472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8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FC8C07F-0129-B219-074A-F75295958CF0}"/>
              </a:ext>
            </a:extLst>
          </p:cNvPr>
          <p:cNvSpPr txBox="1"/>
          <p:nvPr/>
        </p:nvSpPr>
        <p:spPr>
          <a:xfrm>
            <a:off x="514350" y="581886"/>
            <a:ext cx="528377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Printable{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print();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Showable{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show();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A7 implements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Printable,Showable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print()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System.out.println("Hello");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show(){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System.out.println("Welcome");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F70AE64-826B-74A7-AF0C-0259818AE826}"/>
              </a:ext>
            </a:extLst>
          </p:cNvPr>
          <p:cNvSpPr txBox="1"/>
          <p:nvPr/>
        </p:nvSpPr>
        <p:spPr>
          <a:xfrm>
            <a:off x="6938010" y="845820"/>
            <a:ext cx="46177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public static void main(String </a:t>
            </a:r>
            <a:r>
              <a:rPr lang="en-IN" sz="2400" dirty="0" err="1"/>
              <a:t>args</a:t>
            </a:r>
            <a:r>
              <a:rPr lang="en-IN" sz="2400" dirty="0"/>
              <a:t>[])</a:t>
            </a:r>
          </a:p>
          <a:p>
            <a:r>
              <a:rPr lang="en-IN" sz="2400" dirty="0"/>
              <a:t>{  </a:t>
            </a:r>
          </a:p>
          <a:p>
            <a:r>
              <a:rPr lang="en-IN" sz="2400" dirty="0"/>
              <a:t>A7 </a:t>
            </a:r>
            <a:r>
              <a:rPr lang="en-IN" sz="2400" dirty="0" err="1"/>
              <a:t>obj</a:t>
            </a:r>
            <a:r>
              <a:rPr lang="en-IN" sz="2400" dirty="0"/>
              <a:t> = new A7();  </a:t>
            </a:r>
          </a:p>
          <a:p>
            <a:r>
              <a:rPr lang="en-IN" sz="2400" dirty="0" err="1"/>
              <a:t>obj.print</a:t>
            </a:r>
            <a:r>
              <a:rPr lang="en-IN" sz="2400" dirty="0"/>
              <a:t>();  </a:t>
            </a:r>
          </a:p>
          <a:p>
            <a:r>
              <a:rPr lang="en-IN" sz="2400" dirty="0" err="1"/>
              <a:t>obj.show</a:t>
            </a:r>
            <a:r>
              <a:rPr lang="en-IN" sz="2400" dirty="0"/>
              <a:t>();  </a:t>
            </a:r>
          </a:p>
          <a:p>
            <a:r>
              <a:rPr lang="en-IN" sz="2400" dirty="0"/>
              <a:t> }  </a:t>
            </a:r>
          </a:p>
          <a:p>
            <a:r>
              <a:rPr lang="en-IN" sz="2400" dirty="0"/>
              <a:t>}  </a:t>
            </a:r>
          </a:p>
          <a:p>
            <a:endParaRPr lang="en-IN" sz="2400" b="1" dirty="0" smtClean="0"/>
          </a:p>
          <a:p>
            <a:endParaRPr lang="en-IN" sz="2400" b="1" dirty="0"/>
          </a:p>
          <a:p>
            <a:endParaRPr lang="en-IN" sz="2400" b="1" dirty="0" smtClean="0"/>
          </a:p>
          <a:p>
            <a:endParaRPr lang="en-IN" sz="2400" b="1" dirty="0"/>
          </a:p>
          <a:p>
            <a:r>
              <a:rPr lang="en-IN" sz="2400" b="1" dirty="0" smtClean="0"/>
              <a:t>Output</a:t>
            </a:r>
            <a:r>
              <a:rPr lang="en-IN" sz="2400" dirty="0"/>
              <a:t>: Hello</a:t>
            </a:r>
          </a:p>
          <a:p>
            <a:r>
              <a:rPr lang="en-IN" sz="2400" dirty="0"/>
              <a:t>       Welcome</a:t>
            </a:r>
          </a:p>
        </p:txBody>
      </p:sp>
    </p:spTree>
    <p:extLst>
      <p:ext uri="{BB962C8B-B14F-4D97-AF65-F5344CB8AC3E}">
        <p14:creationId xmlns:p14="http://schemas.microsoft.com/office/powerpoint/2010/main" val="1554819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422411F-342B-3F97-4970-1B44CCBA03E1}"/>
              </a:ext>
            </a:extLst>
          </p:cNvPr>
          <p:cNvSpPr txBox="1"/>
          <p:nvPr/>
        </p:nvSpPr>
        <p:spPr>
          <a:xfrm>
            <a:off x="571499" y="297180"/>
            <a:ext cx="909204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Interface inheritance</a:t>
            </a:r>
          </a:p>
          <a:p>
            <a:r>
              <a:rPr lang="en-IN" sz="2000" dirty="0"/>
              <a:t>A class implements an interface, but one interface extends another interface.</a:t>
            </a:r>
          </a:p>
          <a:p>
            <a:r>
              <a:rPr lang="en-IN" sz="2000" b="1" dirty="0"/>
              <a:t>EXAMPLE</a:t>
            </a:r>
          </a:p>
          <a:p>
            <a:r>
              <a:rPr lang="en-IN" sz="2000" dirty="0"/>
              <a:t>interface Printable</a:t>
            </a:r>
          </a:p>
          <a:p>
            <a:r>
              <a:rPr lang="en-IN" sz="2000" dirty="0"/>
              <a:t>{  </a:t>
            </a:r>
          </a:p>
          <a:p>
            <a:r>
              <a:rPr lang="en-IN" sz="2000" dirty="0"/>
              <a:t>void print();  </a:t>
            </a:r>
          </a:p>
          <a:p>
            <a:r>
              <a:rPr lang="en-IN" sz="2000" dirty="0"/>
              <a:t>}  </a:t>
            </a:r>
          </a:p>
          <a:p>
            <a:r>
              <a:rPr lang="en-IN" sz="2000" dirty="0"/>
              <a:t>interface Showable extends </a:t>
            </a:r>
            <a:r>
              <a:rPr lang="en-IN" sz="2000" dirty="0" smtClean="0"/>
              <a:t>Printable</a:t>
            </a:r>
          </a:p>
          <a:p>
            <a:r>
              <a:rPr lang="en-IN" sz="2000" dirty="0" smtClean="0"/>
              <a:t>{  </a:t>
            </a:r>
            <a:endParaRPr lang="en-IN" sz="2000" dirty="0"/>
          </a:p>
          <a:p>
            <a:r>
              <a:rPr lang="en-IN" sz="2000" dirty="0"/>
              <a:t>void show();  </a:t>
            </a:r>
          </a:p>
          <a:p>
            <a:r>
              <a:rPr lang="en-IN" sz="2000" dirty="0"/>
              <a:t>}  </a:t>
            </a:r>
          </a:p>
          <a:p>
            <a:r>
              <a:rPr lang="en-IN" sz="2000" dirty="0"/>
              <a:t>class TestInterface4 implements </a:t>
            </a:r>
            <a:r>
              <a:rPr lang="en-IN" sz="2000" dirty="0" smtClean="0"/>
              <a:t>Showable</a:t>
            </a:r>
          </a:p>
          <a:p>
            <a:r>
              <a:rPr lang="en-IN" sz="2000" dirty="0" smtClean="0"/>
              <a:t>{  </a:t>
            </a:r>
            <a:endParaRPr lang="en-IN" sz="2000" dirty="0"/>
          </a:p>
          <a:p>
            <a:r>
              <a:rPr lang="en-IN" sz="2000" dirty="0"/>
              <a:t>public void print()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System.out.println("Hello");</a:t>
            </a:r>
          </a:p>
          <a:p>
            <a:r>
              <a:rPr lang="en-IN" sz="2000" dirty="0"/>
              <a:t>}  </a:t>
            </a:r>
          </a:p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E65714-E517-3D33-91E7-2AEB1B4DA47D}"/>
              </a:ext>
            </a:extLst>
          </p:cNvPr>
          <p:cNvSpPr txBox="1"/>
          <p:nvPr/>
        </p:nvSpPr>
        <p:spPr>
          <a:xfrm>
            <a:off x="6403917" y="1516032"/>
            <a:ext cx="385191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public void show()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System.out.println("Welcome");</a:t>
            </a:r>
          </a:p>
          <a:p>
            <a:r>
              <a:rPr lang="en-IN" sz="2000" dirty="0"/>
              <a:t>}    </a:t>
            </a:r>
          </a:p>
          <a:p>
            <a:r>
              <a:rPr lang="en-IN" sz="2000" dirty="0"/>
              <a:t>public static void main(String </a:t>
            </a:r>
            <a:r>
              <a:rPr lang="en-IN" sz="2000" dirty="0" err="1"/>
              <a:t>args</a:t>
            </a:r>
            <a:r>
              <a:rPr lang="en-IN" sz="2000" dirty="0"/>
              <a:t>[])</a:t>
            </a:r>
          </a:p>
          <a:p>
            <a:r>
              <a:rPr lang="en-IN" sz="2000" dirty="0"/>
              <a:t>{  </a:t>
            </a:r>
          </a:p>
          <a:p>
            <a:r>
              <a:rPr lang="en-IN" sz="2000" dirty="0"/>
              <a:t>TestInterface4 </a:t>
            </a:r>
            <a:r>
              <a:rPr lang="en-IN" sz="2000" dirty="0" smtClean="0"/>
              <a:t> </a:t>
            </a:r>
            <a:r>
              <a:rPr lang="en-IN" sz="2000" dirty="0" err="1" smtClean="0"/>
              <a:t>obj</a:t>
            </a:r>
            <a:r>
              <a:rPr lang="en-IN" sz="2000" dirty="0" smtClean="0"/>
              <a:t> </a:t>
            </a:r>
            <a:r>
              <a:rPr lang="en-IN" sz="2000" dirty="0"/>
              <a:t>= new TestInterface4();  </a:t>
            </a:r>
          </a:p>
          <a:p>
            <a:r>
              <a:rPr lang="en-IN" sz="2000" dirty="0" err="1"/>
              <a:t>obj.print</a:t>
            </a:r>
            <a:r>
              <a:rPr lang="en-IN" sz="2000" dirty="0"/>
              <a:t>();  </a:t>
            </a:r>
          </a:p>
          <a:p>
            <a:r>
              <a:rPr lang="en-IN" sz="2000" dirty="0" err="1"/>
              <a:t>obj.show</a:t>
            </a:r>
            <a:r>
              <a:rPr lang="en-IN" sz="2000" dirty="0"/>
              <a:t>();  </a:t>
            </a:r>
          </a:p>
          <a:p>
            <a:r>
              <a:rPr lang="en-IN" sz="2000" dirty="0"/>
              <a:t> }  </a:t>
            </a:r>
          </a:p>
          <a:p>
            <a:r>
              <a:rPr lang="en-IN" sz="2000" dirty="0"/>
              <a:t>}  </a:t>
            </a:r>
          </a:p>
          <a:p>
            <a:r>
              <a:rPr lang="en-IN" sz="2000" dirty="0"/>
              <a:t>Output:</a:t>
            </a:r>
          </a:p>
          <a:p>
            <a:endParaRPr lang="en-IN" sz="2000" dirty="0"/>
          </a:p>
          <a:p>
            <a:r>
              <a:rPr lang="en-IN" sz="2000" dirty="0"/>
              <a:t>Hello</a:t>
            </a:r>
          </a:p>
          <a:p>
            <a:r>
              <a:rPr lang="en-IN" sz="2000" dirty="0"/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1968789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4009" y="405245"/>
            <a:ext cx="852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New Features Added </a:t>
            </a:r>
            <a:r>
              <a:rPr lang="en-US" sz="2400" b="1" dirty="0" smtClean="0"/>
              <a:t>to</a:t>
            </a:r>
            <a:r>
              <a:rPr lang="en-US" sz="2400" b="1" dirty="0" smtClean="0"/>
              <a:t> </a:t>
            </a:r>
            <a:r>
              <a:rPr lang="en-US" sz="2400" b="1" dirty="0"/>
              <a:t>Interfaces in JDK 8</a:t>
            </a:r>
          </a:p>
          <a:p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04009" y="1361209"/>
            <a:ext cx="85205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There are certain features added to Interfaces in JDK 8 update mentioned below</a:t>
            </a:r>
            <a:r>
              <a:rPr lang="en-US" sz="2000" dirty="0" smtClean="0"/>
              <a:t>:</a:t>
            </a:r>
          </a:p>
          <a:p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Default interface methods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Static </a:t>
            </a:r>
            <a:r>
              <a:rPr lang="en-US" sz="2000" dirty="0" smtClean="0"/>
              <a:t>methods in an interface</a:t>
            </a:r>
            <a:endParaRPr lang="en-US" sz="2000" dirty="0" smtClean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58604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682" y="457200"/>
            <a:ext cx="5320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Default interface methods</a:t>
            </a:r>
          </a:p>
          <a:p>
            <a:endParaRPr lang="en-IN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77982" y="1194955"/>
            <a:ext cx="1080654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the release of Java 8, we can now add methods with implementation inside an interface. These methods are called </a:t>
            </a:r>
            <a:r>
              <a:rPr lang="en-US" b="1" dirty="0"/>
              <a:t>default methods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declare default methods inside interfaces, we use the </a:t>
            </a:r>
            <a:r>
              <a:rPr lang="en-US" b="1" dirty="0"/>
              <a:t>default</a:t>
            </a:r>
            <a:r>
              <a:rPr lang="en-US" dirty="0"/>
              <a:t> keyword.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Default methods are also known as </a:t>
            </a:r>
            <a:r>
              <a:rPr lang="en-US" b="1" dirty="0"/>
              <a:t>defender methods </a:t>
            </a:r>
            <a:r>
              <a:rPr lang="en-US" dirty="0"/>
              <a:t>or </a:t>
            </a:r>
            <a:r>
              <a:rPr lang="en-US" b="1" dirty="0"/>
              <a:t>virtual extension methods</a:t>
            </a:r>
            <a:r>
              <a:rPr lang="en-US" dirty="0"/>
              <a:t>.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For </a:t>
            </a:r>
            <a:r>
              <a:rPr lang="en-US" dirty="0"/>
              <a:t>example,</a:t>
            </a:r>
          </a:p>
          <a:p>
            <a:endParaRPr lang="en-US" dirty="0" smtClean="0"/>
          </a:p>
          <a:p>
            <a:r>
              <a:rPr lang="en-US" dirty="0" smtClean="0"/>
              <a:t>public </a:t>
            </a:r>
            <a:r>
              <a:rPr lang="en-US" dirty="0"/>
              <a:t>default void </a:t>
            </a:r>
            <a:r>
              <a:rPr lang="en-US" dirty="0" err="1"/>
              <a:t>getSides</a:t>
            </a:r>
            <a:r>
              <a:rPr lang="en-US" dirty="0"/>
              <a:t>() </a:t>
            </a:r>
            <a:endParaRPr lang="en-US" dirty="0" smtClean="0"/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	// </a:t>
            </a:r>
            <a:r>
              <a:rPr lang="en-US" dirty="0"/>
              <a:t>body of </a:t>
            </a:r>
            <a:r>
              <a:rPr lang="en-US" dirty="0" err="1"/>
              <a:t>getSides</a:t>
            </a:r>
            <a:r>
              <a:rPr lang="en-US" dirty="0"/>
              <a:t>() </a:t>
            </a:r>
            <a:endParaRPr lang="en-US" dirty="0" smtClean="0"/>
          </a:p>
          <a:p>
            <a:r>
              <a:rPr lang="en-US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272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036" y="270164"/>
            <a:ext cx="593320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Polygon {</a:t>
            </a:r>
          </a:p>
          <a:p>
            <a:r>
              <a:rPr lang="en-IN" dirty="0"/>
              <a:t>  void </a:t>
            </a:r>
            <a:r>
              <a:rPr lang="en-IN" dirty="0" err="1"/>
              <a:t>getArea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// default method </a:t>
            </a:r>
          </a:p>
          <a:p>
            <a:r>
              <a:rPr lang="en-IN" dirty="0"/>
              <a:t>  default void </a:t>
            </a:r>
            <a:r>
              <a:rPr lang="en-IN" dirty="0" err="1"/>
              <a:t>getSides</a:t>
            </a:r>
            <a:r>
              <a:rPr lang="en-IN" dirty="0"/>
              <a:t>() {</a:t>
            </a:r>
          </a:p>
          <a:p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("I can get sides of a polygon.");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implements the interface</a:t>
            </a:r>
          </a:p>
          <a:p>
            <a:r>
              <a:rPr lang="en-IN" dirty="0"/>
              <a:t>class Rectangle implements Polygon {</a:t>
            </a:r>
          </a:p>
          <a:p>
            <a:r>
              <a:rPr lang="en-IN" dirty="0"/>
              <a:t>  public void </a:t>
            </a:r>
            <a:r>
              <a:rPr lang="en-IN" dirty="0" err="1"/>
              <a:t>getArea</a:t>
            </a:r>
            <a:r>
              <a:rPr lang="en-IN" dirty="0"/>
              <a:t>() 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length = 6;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breadth = 5;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area = length * breadth;</a:t>
            </a:r>
          </a:p>
          <a:p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("The area of the rectangle is " + area);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// overrides the </a:t>
            </a:r>
            <a:r>
              <a:rPr lang="en-IN" dirty="0" err="1"/>
              <a:t>getSides</a:t>
            </a:r>
            <a:r>
              <a:rPr lang="en-IN" dirty="0"/>
              <a:t>()</a:t>
            </a:r>
          </a:p>
          <a:p>
            <a:r>
              <a:rPr lang="en-IN" dirty="0"/>
              <a:t>  public void </a:t>
            </a:r>
            <a:r>
              <a:rPr lang="en-IN" dirty="0" err="1"/>
              <a:t>getSides</a:t>
            </a:r>
            <a:r>
              <a:rPr lang="en-IN" dirty="0"/>
              <a:t>() {</a:t>
            </a:r>
          </a:p>
          <a:p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("I have 4 sides.");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380018" y="270164"/>
            <a:ext cx="559030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// implements the interface</a:t>
            </a:r>
          </a:p>
          <a:p>
            <a:r>
              <a:rPr lang="en-IN" dirty="0"/>
              <a:t>class Square implements Polygon {</a:t>
            </a:r>
          </a:p>
          <a:p>
            <a:r>
              <a:rPr lang="en-IN" dirty="0"/>
              <a:t>  public void </a:t>
            </a:r>
            <a:r>
              <a:rPr lang="en-IN" dirty="0" err="1"/>
              <a:t>getArea</a:t>
            </a:r>
            <a:r>
              <a:rPr lang="en-IN" dirty="0"/>
              <a:t>() 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length = 5;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area = length * length;</a:t>
            </a:r>
          </a:p>
          <a:p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("The area of the square is " + area);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Main {</a:t>
            </a:r>
          </a:p>
          <a:p>
            <a:r>
              <a:rPr lang="en-IN" dirty="0"/>
              <a:t>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// create an object of Rectangle</a:t>
            </a:r>
          </a:p>
          <a:p>
            <a:r>
              <a:rPr lang="en-IN" dirty="0"/>
              <a:t>    Rectangle r1 = new Rectangle();</a:t>
            </a:r>
          </a:p>
          <a:p>
            <a:r>
              <a:rPr lang="en-IN" dirty="0"/>
              <a:t>    r1.getArea();</a:t>
            </a:r>
          </a:p>
          <a:p>
            <a:r>
              <a:rPr lang="en-IN" dirty="0"/>
              <a:t>    r1.getSides();</a:t>
            </a:r>
          </a:p>
          <a:p>
            <a:endParaRPr lang="en-IN" dirty="0"/>
          </a:p>
          <a:p>
            <a:r>
              <a:rPr lang="en-IN" dirty="0"/>
              <a:t>    // create an object of Square</a:t>
            </a:r>
          </a:p>
          <a:p>
            <a:r>
              <a:rPr lang="en-IN" dirty="0"/>
              <a:t>    Square s1 = new Square();</a:t>
            </a:r>
          </a:p>
          <a:p>
            <a:r>
              <a:rPr lang="en-IN" dirty="0"/>
              <a:t>    s1.getArea();</a:t>
            </a:r>
          </a:p>
          <a:p>
            <a:r>
              <a:rPr lang="en-IN" dirty="0"/>
              <a:t>    s1.getSides();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804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536" y="1145096"/>
            <a:ext cx="1030778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/>
              <a:t>The Java 8 also added another feature to include static methods inside an interface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/>
              <a:t>Similar to a class, we can access static methods of an interface using its references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static methods in interfaces are similar to default methods but the only difference is that you can’t override them. </a:t>
            </a:r>
            <a:endParaRPr lang="en-US" sz="24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/>
              <a:t>Now</a:t>
            </a:r>
            <a:r>
              <a:rPr lang="en-US" sz="2400" dirty="0"/>
              <a:t>, why do we need static methods in interfaces if we already have default methods?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/>
              <a:t>Suppose </a:t>
            </a:r>
            <a:r>
              <a:rPr lang="en-US" sz="2400" dirty="0"/>
              <a:t>you want to provide some implementation in your interface and you don’t want this implementation to be overridden in the implementing class, then you can declare the method as static</a:t>
            </a:r>
            <a:r>
              <a:rPr lang="en-US" sz="2400" dirty="0" smtClean="0"/>
              <a:t>.</a:t>
            </a:r>
            <a:endParaRPr lang="en-IN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073" y="374073"/>
            <a:ext cx="5205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static Methods in Interface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732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073" y="374073"/>
            <a:ext cx="5205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static Methods in Interface</a:t>
            </a:r>
          </a:p>
          <a:p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74073" y="1122209"/>
            <a:ext cx="56526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// A simple Java program to </a:t>
            </a:r>
            <a:r>
              <a:rPr lang="en-IN" sz="2000" dirty="0" err="1"/>
              <a:t>TestClassnstrate</a:t>
            </a:r>
            <a:r>
              <a:rPr lang="en-IN" sz="2000" dirty="0"/>
              <a:t> static </a:t>
            </a:r>
          </a:p>
          <a:p>
            <a:r>
              <a:rPr lang="en-IN" sz="2000" dirty="0"/>
              <a:t>// methods in java </a:t>
            </a:r>
          </a:p>
          <a:p>
            <a:r>
              <a:rPr lang="en-IN" sz="2000" dirty="0"/>
              <a:t>interface </a:t>
            </a:r>
            <a:r>
              <a:rPr lang="en-IN" sz="2000" dirty="0" err="1"/>
              <a:t>TestInterface</a:t>
            </a:r>
            <a:r>
              <a:rPr lang="en-IN" sz="2000" dirty="0"/>
              <a:t> </a:t>
            </a:r>
          </a:p>
          <a:p>
            <a:r>
              <a:rPr lang="en-IN" sz="2000" dirty="0"/>
              <a:t>{ </a:t>
            </a:r>
          </a:p>
          <a:p>
            <a:r>
              <a:rPr lang="en-IN" sz="2000" dirty="0"/>
              <a:t>	// abstract method </a:t>
            </a:r>
          </a:p>
          <a:p>
            <a:r>
              <a:rPr lang="en-IN" sz="2000" dirty="0"/>
              <a:t>	public void square (</a:t>
            </a:r>
            <a:r>
              <a:rPr lang="en-IN" sz="2000" dirty="0" err="1"/>
              <a:t>int</a:t>
            </a:r>
            <a:r>
              <a:rPr lang="en-IN" sz="2000" dirty="0"/>
              <a:t> a); </a:t>
            </a:r>
          </a:p>
          <a:p>
            <a:endParaRPr lang="en-IN" sz="2000" dirty="0"/>
          </a:p>
          <a:p>
            <a:r>
              <a:rPr lang="en-IN" sz="2000" dirty="0"/>
              <a:t>	// static method </a:t>
            </a:r>
          </a:p>
          <a:p>
            <a:r>
              <a:rPr lang="en-IN" sz="2000" dirty="0"/>
              <a:t>	static void show() </a:t>
            </a:r>
          </a:p>
          <a:p>
            <a:r>
              <a:rPr lang="en-IN" sz="2000" dirty="0"/>
              <a:t>	</a:t>
            </a:r>
            <a:r>
              <a:rPr lang="en-IN" sz="2000" dirty="0" smtClean="0"/>
              <a:t>{</a:t>
            </a:r>
          </a:p>
          <a:p>
            <a:r>
              <a:rPr lang="en-IN" sz="2000" dirty="0" err="1" smtClean="0"/>
              <a:t>System.out.println</a:t>
            </a:r>
            <a:r>
              <a:rPr lang="en-IN" sz="2000" dirty="0"/>
              <a:t>("Static Method Executed"); </a:t>
            </a:r>
          </a:p>
          <a:p>
            <a:r>
              <a:rPr lang="en-IN" sz="2000" dirty="0"/>
              <a:t>	} </a:t>
            </a:r>
          </a:p>
          <a:p>
            <a:r>
              <a:rPr lang="en-IN" sz="2000" dirty="0"/>
              <a:t>} </a:t>
            </a:r>
          </a:p>
          <a:p>
            <a:endParaRPr lang="en-IN" sz="2000" dirty="0"/>
          </a:p>
          <a:p>
            <a:endParaRPr lang="en-I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234546" y="977526"/>
            <a:ext cx="55487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class </a:t>
            </a:r>
            <a:r>
              <a:rPr lang="en-IN" sz="2000" dirty="0" err="1"/>
              <a:t>TestClass</a:t>
            </a:r>
            <a:r>
              <a:rPr lang="en-IN" sz="2000" dirty="0"/>
              <a:t> implements </a:t>
            </a:r>
            <a:r>
              <a:rPr lang="en-IN" sz="2000" dirty="0" err="1"/>
              <a:t>TestInterface</a:t>
            </a:r>
            <a:r>
              <a:rPr lang="en-IN" sz="2000" dirty="0"/>
              <a:t> </a:t>
            </a:r>
          </a:p>
          <a:p>
            <a:r>
              <a:rPr lang="en-IN" sz="2000" dirty="0"/>
              <a:t>{ </a:t>
            </a:r>
          </a:p>
          <a:p>
            <a:r>
              <a:rPr lang="en-IN" sz="2000" dirty="0"/>
              <a:t>	// Implementation of square abstract method </a:t>
            </a:r>
          </a:p>
          <a:p>
            <a:r>
              <a:rPr lang="en-IN" sz="2000" dirty="0"/>
              <a:t>	public void square (</a:t>
            </a:r>
            <a:r>
              <a:rPr lang="en-IN" sz="2000" dirty="0" err="1"/>
              <a:t>int</a:t>
            </a:r>
            <a:r>
              <a:rPr lang="en-IN" sz="2000" dirty="0"/>
              <a:t> a) </a:t>
            </a:r>
          </a:p>
          <a:p>
            <a:r>
              <a:rPr lang="en-IN" sz="2000" dirty="0"/>
              <a:t>	{ </a:t>
            </a:r>
          </a:p>
          <a:p>
            <a:r>
              <a:rPr lang="en-IN" sz="2000" dirty="0"/>
              <a:t>		</a:t>
            </a:r>
            <a:r>
              <a:rPr lang="en-IN" sz="2000" dirty="0" err="1"/>
              <a:t>System.out.println</a:t>
            </a:r>
            <a:r>
              <a:rPr lang="en-IN" sz="2000" dirty="0"/>
              <a:t>(a*a); </a:t>
            </a:r>
          </a:p>
          <a:p>
            <a:r>
              <a:rPr lang="en-IN" sz="2000" dirty="0"/>
              <a:t>	} </a:t>
            </a:r>
          </a:p>
          <a:p>
            <a:endParaRPr lang="en-IN" sz="2000" dirty="0"/>
          </a:p>
          <a:p>
            <a:r>
              <a:rPr lang="en-IN" sz="2000" dirty="0"/>
              <a:t>	public static void main(String </a:t>
            </a:r>
            <a:r>
              <a:rPr lang="en-IN" sz="2000" dirty="0" err="1"/>
              <a:t>args</a:t>
            </a:r>
            <a:r>
              <a:rPr lang="en-IN" sz="2000" dirty="0"/>
              <a:t>[]) </a:t>
            </a:r>
          </a:p>
          <a:p>
            <a:r>
              <a:rPr lang="en-IN" sz="2000" dirty="0"/>
              <a:t>	{ </a:t>
            </a:r>
          </a:p>
          <a:p>
            <a:r>
              <a:rPr lang="en-IN" sz="2000" dirty="0"/>
              <a:t>		</a:t>
            </a:r>
            <a:r>
              <a:rPr lang="en-IN" sz="2000" dirty="0" err="1"/>
              <a:t>TestClass</a:t>
            </a:r>
            <a:r>
              <a:rPr lang="en-IN" sz="2000" dirty="0"/>
              <a:t> d = new </a:t>
            </a:r>
            <a:r>
              <a:rPr lang="en-IN" sz="2000" dirty="0" err="1"/>
              <a:t>TestClass</a:t>
            </a:r>
            <a:r>
              <a:rPr lang="en-IN" sz="2000" dirty="0"/>
              <a:t>(); </a:t>
            </a:r>
          </a:p>
          <a:p>
            <a:r>
              <a:rPr lang="en-IN" sz="2000" dirty="0"/>
              <a:t>		</a:t>
            </a:r>
            <a:r>
              <a:rPr lang="en-IN" sz="2000" dirty="0" err="1"/>
              <a:t>d.square</a:t>
            </a:r>
            <a:r>
              <a:rPr lang="en-IN" sz="2000" dirty="0"/>
              <a:t>(4); </a:t>
            </a:r>
          </a:p>
          <a:p>
            <a:endParaRPr lang="en-IN" sz="2000" dirty="0"/>
          </a:p>
          <a:p>
            <a:r>
              <a:rPr lang="en-IN" sz="2000" dirty="0"/>
              <a:t>		// Static method executed </a:t>
            </a:r>
          </a:p>
          <a:p>
            <a:r>
              <a:rPr lang="en-IN" sz="2000" dirty="0"/>
              <a:t>		</a:t>
            </a:r>
            <a:r>
              <a:rPr lang="en-IN" sz="2000" dirty="0" err="1"/>
              <a:t>TestInterface.show</a:t>
            </a:r>
            <a:r>
              <a:rPr lang="en-IN" sz="2000" dirty="0"/>
              <a:t>(); </a:t>
            </a:r>
          </a:p>
          <a:p>
            <a:r>
              <a:rPr lang="en-IN" sz="2000" dirty="0"/>
              <a:t>	} </a:t>
            </a:r>
          </a:p>
          <a:p>
            <a:r>
              <a:rPr lang="en-IN" sz="2000" dirty="0"/>
              <a:t>}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37887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806" y="384031"/>
            <a:ext cx="8229167" cy="6093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4769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264" y="79663"/>
            <a:ext cx="8260772" cy="6364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3986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195" y="379268"/>
            <a:ext cx="8146905" cy="6073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1955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250" y="0"/>
            <a:ext cx="8274731" cy="6696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1481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81" y="96982"/>
            <a:ext cx="8832273" cy="6660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1018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688</Words>
  <Application>Microsoft Office PowerPoint</Application>
  <PresentationFormat>Custom</PresentationFormat>
  <Paragraphs>189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Swathi M</dc:creator>
  <cp:lastModifiedBy>hp</cp:lastModifiedBy>
  <cp:revision>45</cp:revision>
  <dcterms:created xsi:type="dcterms:W3CDTF">2022-09-28T07:48:55Z</dcterms:created>
  <dcterms:modified xsi:type="dcterms:W3CDTF">2023-10-17T04:26:12Z</dcterms:modified>
</cp:coreProperties>
</file>