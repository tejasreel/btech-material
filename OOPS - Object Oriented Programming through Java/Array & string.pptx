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308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9" r:id="rId53"/>
    <p:sldId id="310" r:id="rId54"/>
    <p:sldId id="311" r:id="rId55"/>
    <p:sldId id="315" r:id="rId56"/>
    <p:sldId id="316" r:id="rId57"/>
    <p:sldId id="317" r:id="rId58"/>
    <p:sldId id="318" r:id="rId59"/>
    <p:sldId id="319" r:id="rId60"/>
    <p:sldId id="320" r:id="rId61"/>
    <p:sldId id="322" r:id="rId62"/>
    <p:sldId id="323" r:id="rId63"/>
    <p:sldId id="312" r:id="rId64"/>
    <p:sldId id="313" r:id="rId65"/>
    <p:sldId id="314" r:id="rId6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9588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EF5136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9588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EF5136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9588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EF5136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9588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9588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228600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600" y="0"/>
                </a:lnTo>
              </a:path>
            </a:pathLst>
          </a:custGeom>
          <a:ln w="19050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" y="61722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050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84835"/>
            <a:ext cx="3691890" cy="629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EF5136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0457" y="3209798"/>
            <a:ext cx="6706870" cy="2740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41181" y="6513317"/>
            <a:ext cx="192404" cy="154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9588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java-programming/library/string/substring" TargetMode="External"/><Relationship Id="rId3" Type="http://schemas.openxmlformats.org/officeDocument/2006/relationships/hyperlink" Target="https://www.programiz.com/java-programming/library/string/compareto" TargetMode="External"/><Relationship Id="rId7" Type="http://schemas.openxmlformats.org/officeDocument/2006/relationships/hyperlink" Target="https://www.programiz.com/java-programming/library/string/replaceall" TargetMode="External"/><Relationship Id="rId2" Type="http://schemas.openxmlformats.org/officeDocument/2006/relationships/hyperlink" Target="https://www.programiz.com/java-programming/library/string/split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programiz.com/java-programming/library/string/replace" TargetMode="External"/><Relationship Id="rId5" Type="http://schemas.openxmlformats.org/officeDocument/2006/relationships/hyperlink" Target="https://www.programiz.com/java-programming/library/string/length" TargetMode="External"/><Relationship Id="rId4" Type="http://schemas.openxmlformats.org/officeDocument/2006/relationships/hyperlink" Target="https://www.programiz.com/java-programming/library/string/comparetoignorecase" TargetMode="External"/><Relationship Id="rId9" Type="http://schemas.openxmlformats.org/officeDocument/2006/relationships/hyperlink" Target="https://www.programiz.com/java-programming/library/string/equals" TargetMode="Externa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java-programming/library/string/startswith" TargetMode="External"/><Relationship Id="rId3" Type="http://schemas.openxmlformats.org/officeDocument/2006/relationships/hyperlink" Target="https://www.programiz.com/java-programming/library/string/charat" TargetMode="External"/><Relationship Id="rId7" Type="http://schemas.openxmlformats.org/officeDocument/2006/relationships/hyperlink" Target="https://www.programiz.com/java-programming/library/string/matches" TargetMode="External"/><Relationship Id="rId2" Type="http://schemas.openxmlformats.org/officeDocument/2006/relationships/hyperlink" Target="https://www.programiz.com/java-programming/library/string/trim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programiz.com/java-programming/library/string/valueof" TargetMode="External"/><Relationship Id="rId5" Type="http://schemas.openxmlformats.org/officeDocument/2006/relationships/hyperlink" Target="https://www.programiz.com/java-programming/library/string/concat" TargetMode="External"/><Relationship Id="rId4" Type="http://schemas.openxmlformats.org/officeDocument/2006/relationships/hyperlink" Target="https://www.programiz.com/java-programming/library/string/tolowercase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java-programming/library/string/isempty" TargetMode="External"/><Relationship Id="rId3" Type="http://schemas.openxmlformats.org/officeDocument/2006/relationships/hyperlink" Target="https://www.programiz.com/java-programming/library/string/startswith" TargetMode="External"/><Relationship Id="rId7" Type="http://schemas.openxmlformats.org/officeDocument/2006/relationships/hyperlink" Target="https://www.programiz.com/java-programming/library/string/endswith" TargetMode="External"/><Relationship Id="rId2" Type="http://schemas.openxmlformats.org/officeDocument/2006/relationships/hyperlink" Target="https://www.programiz.com/java-programming/library/string/matches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programiz.com/java-programming/library/string/indexof" TargetMode="External"/><Relationship Id="rId5" Type="http://schemas.openxmlformats.org/officeDocument/2006/relationships/hyperlink" Target="https://www.programiz.com/java-programming/library/string/contains" TargetMode="External"/><Relationship Id="rId4" Type="http://schemas.openxmlformats.org/officeDocument/2006/relationships/hyperlink" Target="https://www.programiz.com/java-programming/library/string/equalsignorecase" TargetMode="Externa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java-programming/library/string/subsequence" TargetMode="External"/><Relationship Id="rId3" Type="http://schemas.openxmlformats.org/officeDocument/2006/relationships/hyperlink" Target="https://www.programiz.com/java-programming/library/string/getbytes" TargetMode="External"/><Relationship Id="rId7" Type="http://schemas.openxmlformats.org/officeDocument/2006/relationships/hyperlink" Target="https://www.programiz.com/java-programming/library/string/replacefirst" TargetMode="External"/><Relationship Id="rId2" Type="http://schemas.openxmlformats.org/officeDocument/2006/relationships/hyperlink" Target="https://www.programiz.com/java-programming/library/string/intern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programiz.com/java-programming/library/string/join" TargetMode="External"/><Relationship Id="rId5" Type="http://schemas.openxmlformats.org/officeDocument/2006/relationships/hyperlink" Target="https://www.programiz.com/java-programming/library/string/hashcode" TargetMode="External"/><Relationship Id="rId10" Type="http://schemas.openxmlformats.org/officeDocument/2006/relationships/hyperlink" Target="https://www.programiz.com/java-programming/library/string/format" TargetMode="External"/><Relationship Id="rId4" Type="http://schemas.openxmlformats.org/officeDocument/2006/relationships/hyperlink" Target="https://www.programiz.com/java-programming/library/string/contentequals" TargetMode="External"/><Relationship Id="rId9" Type="http://schemas.openxmlformats.org/officeDocument/2006/relationships/hyperlink" Target="https://www.programiz.com/java-programming/library/string/tochararray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97307"/>
            <a:ext cx="10890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Ar</a:t>
            </a:r>
            <a:r>
              <a:rPr sz="3200" spc="5" dirty="0">
                <a:solidFill>
                  <a:srgbClr val="3333CC"/>
                </a:solidFill>
                <a:latin typeface="Times New Roman"/>
                <a:cs typeface="Times New Roman"/>
              </a:rPr>
              <a:t>r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ay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865992"/>
            <a:ext cx="7925434" cy="3464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50100"/>
              </a:lnSpc>
              <a:spcBef>
                <a:spcPts val="95"/>
              </a:spcBef>
              <a:buClr>
                <a:srgbClr val="3333CC"/>
              </a:buClr>
              <a:buSzPct val="64583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b="1" dirty="0">
                <a:latin typeface="Times New Roman"/>
                <a:cs typeface="Times New Roman"/>
              </a:rPr>
              <a:t>Java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array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an </a:t>
            </a:r>
            <a:r>
              <a:rPr sz="2400" b="1" dirty="0">
                <a:latin typeface="Times New Roman"/>
                <a:cs typeface="Times New Roman"/>
              </a:rPr>
              <a:t>object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fixed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elements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similar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 type.</a:t>
            </a:r>
            <a:endParaRPr sz="2400">
              <a:latin typeface="Times New Roman"/>
              <a:cs typeface="Times New Roman"/>
            </a:endParaRPr>
          </a:p>
          <a:p>
            <a:pPr marL="469900" marR="49530" indent="-457200">
              <a:lnSpc>
                <a:spcPct val="150000"/>
              </a:lnSpc>
              <a:spcBef>
                <a:spcPts val="575"/>
              </a:spcBef>
              <a:buClr>
                <a:srgbClr val="3333CC"/>
              </a:buClr>
              <a:buSzPct val="64583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Times New Roman"/>
                <a:cs typeface="Times New Roman"/>
              </a:rPr>
              <a:t>Array</a:t>
            </a:r>
            <a:r>
              <a:rPr sz="2400" dirty="0">
                <a:latin typeface="Times New Roman"/>
                <a:cs typeface="Times New Roman"/>
              </a:rPr>
              <a:t> contains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primitives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types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objects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definition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array.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2020"/>
              </a:spcBef>
              <a:buClr>
                <a:srgbClr val="3333CC"/>
              </a:buClr>
              <a:buSzPct val="64583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Index-based,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first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element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stored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0th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imes New Roman"/>
                <a:cs typeface="Times New Roman"/>
              </a:rPr>
              <a:t>index,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2nd </a:t>
            </a:r>
            <a:r>
              <a:rPr sz="2400" spc="-5" dirty="0">
                <a:latin typeface="Times New Roman"/>
                <a:cs typeface="Times New Roman"/>
              </a:rPr>
              <a:t>element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stored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" dirty="0">
                <a:latin typeface="Times New Roman"/>
                <a:cs typeface="Times New Roman"/>
              </a:rPr>
              <a:t>1st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so</a:t>
            </a:r>
            <a:r>
              <a:rPr sz="2400" dirty="0">
                <a:latin typeface="Times New Roman"/>
                <a:cs typeface="Times New Roman"/>
              </a:rPr>
              <a:t> on.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97307"/>
            <a:ext cx="10655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Types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740153"/>
            <a:ext cx="3425825" cy="101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4583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Times New Roman"/>
                <a:cs typeface="Times New Roman"/>
              </a:rPr>
              <a:t>One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dimensional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array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2020"/>
              </a:spcBef>
              <a:buClr>
                <a:srgbClr val="3333CC"/>
              </a:buClr>
              <a:buSzPct val="64583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Multi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dimensional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98831"/>
            <a:ext cx="37287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3333CC"/>
                </a:solidFill>
                <a:latin typeface="Times New Roman"/>
                <a:cs typeface="Times New Roman"/>
              </a:rPr>
              <a:t>One</a:t>
            </a:r>
            <a:r>
              <a:rPr sz="3200" b="0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3333CC"/>
                </a:solidFill>
                <a:latin typeface="Times New Roman"/>
                <a:cs typeface="Times New Roman"/>
              </a:rPr>
              <a:t>dimensional</a:t>
            </a:r>
            <a:r>
              <a:rPr sz="3200" b="0" spc="-7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3333CC"/>
                </a:solidFill>
                <a:latin typeface="Times New Roman"/>
                <a:cs typeface="Times New Roman"/>
              </a:rPr>
              <a:t>array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4329"/>
            <a:ext cx="7871459" cy="3937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marR="728345" indent="-25781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64444"/>
              <a:buFont typeface="Wingdings"/>
              <a:buChar char=""/>
              <a:tabLst>
                <a:tab pos="270510" algn="l"/>
              </a:tabLst>
            </a:pPr>
            <a:r>
              <a:rPr sz="2250" dirty="0">
                <a:latin typeface="Arial MT"/>
                <a:cs typeface="Arial MT"/>
              </a:rPr>
              <a:t>one-dimensional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array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is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particularly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a</a:t>
            </a:r>
            <a:r>
              <a:rPr sz="2250" spc="-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list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22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0000"/>
                </a:solidFill>
                <a:latin typeface="Arial MT"/>
                <a:cs typeface="Arial MT"/>
              </a:rPr>
              <a:t>like-typed </a:t>
            </a:r>
            <a:r>
              <a:rPr sz="2250" spc="-6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0000"/>
                </a:solidFill>
                <a:latin typeface="Arial MT"/>
                <a:cs typeface="Arial MT"/>
              </a:rPr>
              <a:t>variables</a:t>
            </a:r>
            <a:r>
              <a:rPr sz="2250" dirty="0">
                <a:latin typeface="Arial MT"/>
                <a:cs typeface="Arial MT"/>
              </a:rPr>
              <a:t>.</a:t>
            </a:r>
            <a:endParaRPr sz="225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545"/>
              </a:spcBef>
              <a:buClr>
                <a:srgbClr val="3333CC"/>
              </a:buClr>
              <a:buSzPct val="64444"/>
              <a:buFont typeface="Wingdings"/>
              <a:buChar char=""/>
              <a:tabLst>
                <a:tab pos="270510" algn="l"/>
              </a:tabLst>
            </a:pPr>
            <a:r>
              <a:rPr sz="2250" dirty="0">
                <a:latin typeface="Arial MT"/>
                <a:cs typeface="Arial MT"/>
              </a:rPr>
              <a:t>To</a:t>
            </a:r>
            <a:r>
              <a:rPr sz="2250" spc="-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create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an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array,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you</a:t>
            </a:r>
            <a:r>
              <a:rPr sz="2250" spc="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first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must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0000"/>
                </a:solidFill>
                <a:latin typeface="Arial MT"/>
                <a:cs typeface="Arial MT"/>
              </a:rPr>
              <a:t>create</a:t>
            </a:r>
            <a:r>
              <a:rPr sz="225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0000"/>
                </a:solidFill>
                <a:latin typeface="Arial MT"/>
                <a:cs typeface="Arial MT"/>
              </a:rPr>
              <a:t>an</a:t>
            </a:r>
            <a:r>
              <a:rPr sz="22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0000"/>
                </a:solidFill>
                <a:latin typeface="Arial MT"/>
                <a:cs typeface="Arial MT"/>
              </a:rPr>
              <a:t>array</a:t>
            </a:r>
            <a:r>
              <a:rPr sz="225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0000"/>
                </a:solidFill>
                <a:latin typeface="Arial MT"/>
                <a:cs typeface="Arial MT"/>
              </a:rPr>
              <a:t>variable</a:t>
            </a:r>
            <a:r>
              <a:rPr sz="225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0000"/>
                </a:solidFill>
                <a:latin typeface="Arial MT"/>
                <a:cs typeface="Arial MT"/>
              </a:rPr>
              <a:t>of </a:t>
            </a:r>
            <a:r>
              <a:rPr sz="2250" spc="-6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25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0000"/>
                </a:solidFill>
                <a:latin typeface="Arial MT"/>
                <a:cs typeface="Arial MT"/>
              </a:rPr>
              <a:t>desired</a:t>
            </a:r>
            <a:r>
              <a:rPr sz="225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50" spc="5" dirty="0">
                <a:solidFill>
                  <a:srgbClr val="FF0000"/>
                </a:solidFill>
                <a:latin typeface="Arial MT"/>
                <a:cs typeface="Arial MT"/>
              </a:rPr>
              <a:t>type</a:t>
            </a:r>
            <a:r>
              <a:rPr sz="2250" spc="5" dirty="0">
                <a:latin typeface="Arial MT"/>
                <a:cs typeface="Arial MT"/>
              </a:rPr>
              <a:t>.</a:t>
            </a:r>
            <a:endParaRPr sz="2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3333CC"/>
              </a:buClr>
              <a:buFont typeface="Wingdings"/>
              <a:buChar char=""/>
            </a:pPr>
            <a:endParaRPr sz="3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50" dirty="0">
                <a:latin typeface="Arial MT"/>
                <a:cs typeface="Arial MT"/>
              </a:rPr>
              <a:t>The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general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form</a:t>
            </a:r>
            <a:r>
              <a:rPr sz="2250" spc="-2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of a one-dimensional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array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declaration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is</a:t>
            </a:r>
            <a:endParaRPr sz="2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5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</a:pPr>
            <a:r>
              <a:rPr sz="2250" i="1" dirty="0">
                <a:latin typeface="Arial"/>
                <a:cs typeface="Arial"/>
              </a:rPr>
              <a:t>type</a:t>
            </a:r>
            <a:r>
              <a:rPr sz="2250" i="1" spc="-40" dirty="0">
                <a:latin typeface="Arial"/>
                <a:cs typeface="Arial"/>
              </a:rPr>
              <a:t> </a:t>
            </a:r>
            <a:r>
              <a:rPr sz="2250" i="1" spc="-5" dirty="0">
                <a:latin typeface="Arial"/>
                <a:cs typeface="Arial"/>
              </a:rPr>
              <a:t>var-name</a:t>
            </a:r>
            <a:r>
              <a:rPr sz="2250" spc="-5" dirty="0">
                <a:latin typeface="Arial MT"/>
                <a:cs typeface="Arial MT"/>
              </a:rPr>
              <a:t>[</a:t>
            </a:r>
            <a:r>
              <a:rPr sz="2250" spc="-20" dirty="0">
                <a:latin typeface="Arial MT"/>
                <a:cs typeface="Arial MT"/>
              </a:rPr>
              <a:t> </a:t>
            </a:r>
            <a:r>
              <a:rPr sz="2250" spc="-5" dirty="0">
                <a:latin typeface="Arial MT"/>
                <a:cs typeface="Arial MT"/>
              </a:rPr>
              <a:t>];</a:t>
            </a:r>
            <a:endParaRPr sz="2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50">
              <a:latin typeface="Arial MT"/>
              <a:cs typeface="Arial MT"/>
            </a:endParaRPr>
          </a:p>
          <a:p>
            <a:pPr marL="269875" indent="-257810">
              <a:lnSpc>
                <a:spcPct val="100000"/>
              </a:lnSpc>
              <a:buClr>
                <a:srgbClr val="3333CC"/>
              </a:buClr>
              <a:buSzPct val="64444"/>
              <a:buFont typeface="Wingdings"/>
              <a:buChar char=""/>
              <a:tabLst>
                <a:tab pos="270510" algn="l"/>
                <a:tab pos="1618615" algn="l"/>
              </a:tabLst>
            </a:pPr>
            <a:r>
              <a:rPr sz="2250" dirty="0">
                <a:latin typeface="Arial MT"/>
                <a:cs typeface="Arial MT"/>
              </a:rPr>
              <a:t>Example:	int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month_days[</a:t>
            </a:r>
            <a:r>
              <a:rPr sz="2250" spc="-65" dirty="0">
                <a:latin typeface="Arial MT"/>
                <a:cs typeface="Arial MT"/>
              </a:rPr>
              <a:t> </a:t>
            </a:r>
            <a:r>
              <a:rPr sz="2250" spc="-5" dirty="0">
                <a:latin typeface="Arial MT"/>
                <a:cs typeface="Arial MT"/>
              </a:rPr>
              <a:t>];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50290"/>
            <a:ext cx="8041640" cy="5215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875" indent="-25781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4583"/>
              <a:buFont typeface="Wingdings"/>
              <a:buChar char=""/>
              <a:tabLst>
                <a:tab pos="270510" algn="l"/>
                <a:tab pos="1301750" algn="l"/>
              </a:tabLst>
            </a:pPr>
            <a:r>
              <a:rPr sz="2400" dirty="0">
                <a:latin typeface="Arial MT"/>
                <a:cs typeface="Arial MT"/>
              </a:rPr>
              <a:t>//array	</a:t>
            </a:r>
            <a:r>
              <a:rPr sz="2400" spc="-5" dirty="0">
                <a:latin typeface="Arial MT"/>
                <a:cs typeface="Arial MT"/>
              </a:rPr>
              <a:t>variable declaration</a:t>
            </a:r>
            <a:endParaRPr sz="2400">
              <a:latin typeface="Arial MT"/>
              <a:cs typeface="Arial MT"/>
            </a:endParaRPr>
          </a:p>
          <a:p>
            <a:pPr marL="927100" marR="4772660">
              <a:lnSpc>
                <a:spcPct val="170200"/>
              </a:lnSpc>
              <a:spcBef>
                <a:spcPts val="30"/>
              </a:spcBef>
            </a:pPr>
            <a:r>
              <a:rPr sz="2250" i="1" dirty="0">
                <a:latin typeface="Arial"/>
                <a:cs typeface="Arial"/>
              </a:rPr>
              <a:t>type </a:t>
            </a:r>
            <a:r>
              <a:rPr sz="2250" i="1" spc="-5" dirty="0">
                <a:latin typeface="Arial"/>
                <a:cs typeface="Arial"/>
              </a:rPr>
              <a:t>var-name</a:t>
            </a:r>
            <a:r>
              <a:rPr sz="2250" spc="-5" dirty="0">
                <a:latin typeface="Arial MT"/>
                <a:cs typeface="Arial MT"/>
              </a:rPr>
              <a:t>[ ]; </a:t>
            </a:r>
            <a:r>
              <a:rPr sz="2250" dirty="0"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0000"/>
                </a:solidFill>
                <a:latin typeface="Arial MT"/>
                <a:cs typeface="Arial MT"/>
              </a:rPr>
              <a:t>int</a:t>
            </a:r>
            <a:r>
              <a:rPr sz="225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0000"/>
                </a:solidFill>
                <a:latin typeface="Arial MT"/>
                <a:cs typeface="Arial MT"/>
              </a:rPr>
              <a:t>month_days</a:t>
            </a:r>
            <a:r>
              <a:rPr sz="225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0000"/>
                </a:solidFill>
                <a:latin typeface="Arial MT"/>
                <a:cs typeface="Arial MT"/>
              </a:rPr>
              <a:t>[</a:t>
            </a:r>
            <a:r>
              <a:rPr sz="225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50" spc="-5" dirty="0">
                <a:solidFill>
                  <a:srgbClr val="FF0000"/>
                </a:solidFill>
                <a:latin typeface="Arial MT"/>
                <a:cs typeface="Arial MT"/>
              </a:rPr>
              <a:t>];</a:t>
            </a:r>
            <a:endParaRPr sz="2250">
              <a:latin typeface="Arial MT"/>
              <a:cs typeface="Arial MT"/>
            </a:endParaRPr>
          </a:p>
          <a:p>
            <a:pPr marL="270510" marR="3474720" indent="-270510">
              <a:lnSpc>
                <a:spcPts val="4900"/>
              </a:lnSpc>
              <a:spcBef>
                <a:spcPts val="455"/>
              </a:spcBef>
              <a:buClr>
                <a:srgbClr val="3333CC"/>
              </a:buClr>
              <a:buSzPct val="64583"/>
              <a:buFont typeface="Wingdings"/>
              <a:buChar char=""/>
              <a:tabLst>
                <a:tab pos="270510" algn="l"/>
              </a:tabLst>
            </a:pPr>
            <a:r>
              <a:rPr sz="2400" spc="-5" dirty="0">
                <a:latin typeface="Arial MT"/>
                <a:cs typeface="Arial MT"/>
              </a:rPr>
              <a:t>//instantiation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allocation</a:t>
            </a:r>
            <a:r>
              <a:rPr sz="24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24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array </a:t>
            </a:r>
            <a:r>
              <a:rPr sz="2400" spc="-6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"/>
                <a:cs typeface="Arial"/>
              </a:rPr>
              <a:t>new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datatype[size];</a:t>
            </a:r>
            <a:endParaRPr sz="24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1515"/>
              </a:spcBef>
            </a:pPr>
            <a:r>
              <a:rPr sz="2400" spc="-5" dirty="0">
                <a:latin typeface="Arial MT"/>
                <a:cs typeface="Arial MT"/>
              </a:rPr>
              <a:t>month_days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new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int[12];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501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Combine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Array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Declaration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allocation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" dirty="0">
                <a:latin typeface="Arial MT"/>
                <a:cs typeface="Arial MT"/>
              </a:rPr>
              <a:t> Array,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shown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here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sz="2400" spc="-5" dirty="0">
                <a:latin typeface="Arial MT"/>
                <a:cs typeface="Arial MT"/>
              </a:rPr>
              <a:t>int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month_days[]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new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int[12];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98831"/>
            <a:ext cx="29603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Java</a:t>
            </a:r>
            <a:r>
              <a:rPr sz="3200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array</a:t>
            </a:r>
            <a:r>
              <a:rPr sz="3200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Times New Roman"/>
                <a:cs typeface="Times New Roman"/>
              </a:rPr>
              <a:t>index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6303" y="1219327"/>
            <a:ext cx="3083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875" indent="-25781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4583"/>
              <a:buFont typeface="Wingdings"/>
              <a:buChar char=""/>
              <a:tabLst>
                <a:tab pos="27051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int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data[]=new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int[5];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125" y="2703488"/>
            <a:ext cx="8372866" cy="181407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0354"/>
            <a:ext cx="530098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Initializing</a:t>
            </a:r>
            <a:r>
              <a:rPr sz="2850" b="0" spc="-2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Array</a:t>
            </a:r>
            <a:r>
              <a:rPr sz="2850" b="0" spc="-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Values</a:t>
            </a:r>
            <a:r>
              <a:rPr sz="2850" b="0" spc="-2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–</a:t>
            </a:r>
            <a:r>
              <a:rPr sz="2850" b="0" spc="-1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Type</a:t>
            </a:r>
            <a:r>
              <a:rPr sz="2850" b="0" spc="-1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1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09827"/>
            <a:ext cx="3932554" cy="412305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dirty="0">
                <a:latin typeface="Arial MT"/>
                <a:cs typeface="Arial MT"/>
              </a:rPr>
              <a:t>class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Array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{</a:t>
            </a:r>
            <a:endParaRPr sz="14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Arial MT"/>
                <a:cs typeface="Arial MT"/>
              </a:rPr>
              <a:t>public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static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void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main(String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args[])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{</a:t>
            </a:r>
            <a:endParaRPr sz="1400">
              <a:latin typeface="Arial MT"/>
              <a:cs typeface="Arial MT"/>
            </a:endParaRPr>
          </a:p>
          <a:p>
            <a:pPr marL="1841500" marR="5080">
              <a:lnSpc>
                <a:spcPct val="120000"/>
              </a:lnSpc>
            </a:pPr>
            <a:r>
              <a:rPr sz="1400" dirty="0">
                <a:latin typeface="Arial MT"/>
                <a:cs typeface="Arial MT"/>
              </a:rPr>
              <a:t>int </a:t>
            </a:r>
            <a:r>
              <a:rPr sz="1400" spc="-5" dirty="0">
                <a:latin typeface="Arial MT"/>
                <a:cs typeface="Arial MT"/>
              </a:rPr>
              <a:t>month_days[];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month_days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new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int[12];</a:t>
            </a:r>
            <a:endParaRPr sz="14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340"/>
              </a:spcBef>
            </a:pPr>
            <a:r>
              <a:rPr sz="1400" spc="-5" dirty="0">
                <a:latin typeface="Arial MT"/>
                <a:cs typeface="Arial MT"/>
              </a:rPr>
              <a:t>month_days[0]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31;</a:t>
            </a:r>
            <a:endParaRPr sz="14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Arial MT"/>
                <a:cs typeface="Arial MT"/>
              </a:rPr>
              <a:t>month_days[1]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28;</a:t>
            </a:r>
            <a:endParaRPr sz="14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Arial MT"/>
                <a:cs typeface="Arial MT"/>
              </a:rPr>
              <a:t>month_days[2]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31;</a:t>
            </a:r>
            <a:endParaRPr sz="14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Arial MT"/>
                <a:cs typeface="Arial MT"/>
              </a:rPr>
              <a:t>month_days[3]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30;</a:t>
            </a:r>
            <a:endParaRPr sz="14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340"/>
              </a:spcBef>
            </a:pPr>
            <a:r>
              <a:rPr sz="1400" spc="-5" dirty="0">
                <a:latin typeface="Arial MT"/>
                <a:cs typeface="Arial MT"/>
              </a:rPr>
              <a:t>month_days[4]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31;</a:t>
            </a:r>
            <a:endParaRPr sz="14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Arial MT"/>
                <a:cs typeface="Arial MT"/>
              </a:rPr>
              <a:t>month_days[5]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30;</a:t>
            </a:r>
            <a:endParaRPr sz="14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Arial MT"/>
                <a:cs typeface="Arial MT"/>
              </a:rPr>
              <a:t>month_days[6]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31;</a:t>
            </a:r>
            <a:endParaRPr sz="14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340"/>
              </a:spcBef>
            </a:pPr>
            <a:r>
              <a:rPr sz="1400" spc="-5" dirty="0">
                <a:latin typeface="Arial MT"/>
                <a:cs typeface="Arial MT"/>
              </a:rPr>
              <a:t>month_days[7]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31;</a:t>
            </a:r>
            <a:endParaRPr sz="14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Arial MT"/>
                <a:cs typeface="Arial MT"/>
              </a:rPr>
              <a:t>month_days[8]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30;</a:t>
            </a:r>
            <a:endParaRPr sz="14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Arial MT"/>
                <a:cs typeface="Arial MT"/>
              </a:rPr>
              <a:t>month_days[9]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31;</a:t>
            </a:r>
            <a:endParaRPr sz="14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Arial MT"/>
                <a:cs typeface="Arial MT"/>
              </a:rPr>
              <a:t>month_days[10]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30;</a:t>
            </a:r>
            <a:endParaRPr sz="14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Arial MT"/>
                <a:cs typeface="Arial MT"/>
              </a:rPr>
              <a:t>month_days[11]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31;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304" y="5207090"/>
            <a:ext cx="6231255" cy="7937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595755">
              <a:lnSpc>
                <a:spcPct val="100000"/>
              </a:lnSpc>
              <a:spcBef>
                <a:spcPts val="434"/>
              </a:spcBef>
            </a:pPr>
            <a:r>
              <a:rPr sz="1400" spc="-5" dirty="0">
                <a:latin typeface="Arial MT"/>
                <a:cs typeface="Arial MT"/>
              </a:rPr>
              <a:t>System.out.println("April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"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+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month_days[3]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+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"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days.");</a:t>
            </a:r>
            <a:endParaRPr sz="1400">
              <a:latin typeface="Arial MT"/>
              <a:cs typeface="Arial MT"/>
            </a:endParaRPr>
          </a:p>
          <a:p>
            <a:pPr marL="681355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Arial MT"/>
                <a:cs typeface="Arial MT"/>
              </a:rPr>
              <a:t>}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Arial MT"/>
                <a:cs typeface="Arial MT"/>
              </a:rPr>
              <a:t>}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59628" y="1727961"/>
            <a:ext cx="720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S</a:t>
            </a:r>
            <a:r>
              <a:rPr sz="1800" spc="-30" dirty="0">
                <a:latin typeface="Arial MT"/>
                <a:cs typeface="Arial MT"/>
              </a:rPr>
              <a:t>y</a:t>
            </a:r>
            <a:r>
              <a:rPr sz="1800" spc="-5" dirty="0">
                <a:latin typeface="Arial MT"/>
                <a:cs typeface="Arial MT"/>
              </a:rPr>
              <a:t>nt</a:t>
            </a:r>
            <a:r>
              <a:rPr sz="1800" spc="-1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59628" y="2276983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Var_name[index]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value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0354"/>
            <a:ext cx="5300345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Initializing</a:t>
            </a:r>
            <a:r>
              <a:rPr sz="2850" b="0" spc="-2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Array</a:t>
            </a:r>
            <a:r>
              <a:rPr sz="2850" b="0" spc="-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Values</a:t>
            </a:r>
            <a:r>
              <a:rPr sz="2850" b="0" spc="-2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–</a:t>
            </a:r>
            <a:r>
              <a:rPr sz="2850" b="0" spc="-1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Type</a:t>
            </a:r>
            <a:r>
              <a:rPr sz="2850" b="0" spc="-2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2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6283"/>
            <a:ext cx="7468870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27480">
              <a:lnSpc>
                <a:spcPct val="120100"/>
              </a:lnSpc>
              <a:spcBef>
                <a:spcPts val="100"/>
              </a:spcBef>
            </a:pPr>
            <a:r>
              <a:rPr sz="2250" dirty="0">
                <a:latin typeface="Arial MT"/>
                <a:cs typeface="Arial MT"/>
              </a:rPr>
              <a:t>//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An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improved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version</a:t>
            </a:r>
            <a:r>
              <a:rPr sz="2250" spc="-2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of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the</a:t>
            </a:r>
            <a:r>
              <a:rPr sz="2250" spc="-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previous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program. </a:t>
            </a:r>
            <a:r>
              <a:rPr sz="2250" spc="-6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class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AutoArray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{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public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static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void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main(String</a:t>
            </a:r>
            <a:r>
              <a:rPr sz="2250" spc="-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args[])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{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int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month_days[]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=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{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31,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28,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31,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30,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31,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30,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31,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31,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30,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31,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30,</a:t>
            </a:r>
            <a:r>
              <a:rPr sz="2250" spc="-5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31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};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System.out.println("April</a:t>
            </a:r>
            <a:r>
              <a:rPr sz="2250" spc="-5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has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" +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month_days[3]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+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" days.");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}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}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4681855"/>
          </a:xfrm>
          <a:custGeom>
            <a:avLst/>
            <a:gdLst/>
            <a:ahLst/>
            <a:cxnLst/>
            <a:rect l="l" t="t" r="r" b="b"/>
            <a:pathLst>
              <a:path w="9144000" h="4681855">
                <a:moveTo>
                  <a:pt x="0" y="4681728"/>
                </a:moveTo>
                <a:lnTo>
                  <a:pt x="9144000" y="4681728"/>
                </a:lnTo>
                <a:lnTo>
                  <a:pt x="9144000" y="0"/>
                </a:lnTo>
                <a:lnTo>
                  <a:pt x="0" y="0"/>
                </a:lnTo>
                <a:lnTo>
                  <a:pt x="0" y="46817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57403"/>
            <a:ext cx="6884670" cy="216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class</a:t>
            </a:r>
            <a:r>
              <a:rPr sz="2000" b="1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Testarray1{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public static</a:t>
            </a: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void main(String args[]){</a:t>
            </a:r>
            <a:endParaRPr sz="20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int</a:t>
            </a:r>
            <a:r>
              <a:rPr sz="2000" b="1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a[]={33,3,4,5};</a:t>
            </a:r>
            <a:endParaRPr sz="2000">
              <a:latin typeface="Courier New"/>
              <a:cs typeface="Courier New"/>
            </a:endParaRPr>
          </a:p>
          <a:p>
            <a:pPr marL="2756535" marR="309880" indent="-915035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for(int i=0;i&lt;a.length;i++) </a:t>
            </a: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System.out.println(a[i]);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00050" cy="4681855"/>
          </a:xfrm>
          <a:custGeom>
            <a:avLst/>
            <a:gdLst/>
            <a:ahLst/>
            <a:cxnLst/>
            <a:rect l="l" t="t" r="r" b="b"/>
            <a:pathLst>
              <a:path w="400050" h="4681855">
                <a:moveTo>
                  <a:pt x="400050" y="0"/>
                </a:moveTo>
                <a:lnTo>
                  <a:pt x="0" y="0"/>
                </a:lnTo>
                <a:lnTo>
                  <a:pt x="0" y="76200"/>
                </a:lnTo>
                <a:lnTo>
                  <a:pt x="0" y="4681728"/>
                </a:lnTo>
                <a:lnTo>
                  <a:pt x="400050" y="4681728"/>
                </a:lnTo>
                <a:lnTo>
                  <a:pt x="400050" y="76200"/>
                </a:lnTo>
                <a:lnTo>
                  <a:pt x="400050" y="0"/>
                </a:lnTo>
                <a:close/>
              </a:path>
            </a:pathLst>
          </a:custGeom>
          <a:solidFill>
            <a:srgbClr val="000000">
              <a:alpha val="6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78739"/>
            <a:ext cx="178435" cy="4599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6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7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8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9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39" y="4706954"/>
            <a:ext cx="153035" cy="28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39" y="5011754"/>
            <a:ext cx="153035" cy="150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4992623"/>
            <a:ext cx="9144000" cy="1865630"/>
          </a:xfrm>
          <a:custGeom>
            <a:avLst/>
            <a:gdLst/>
            <a:ahLst/>
            <a:cxnLst/>
            <a:rect l="l" t="t" r="r" b="b"/>
            <a:pathLst>
              <a:path w="9144000" h="1865629">
                <a:moveTo>
                  <a:pt x="0" y="1865373"/>
                </a:moveTo>
                <a:lnTo>
                  <a:pt x="9144000" y="1865373"/>
                </a:lnTo>
                <a:lnTo>
                  <a:pt x="9144000" y="0"/>
                </a:lnTo>
                <a:lnTo>
                  <a:pt x="0" y="0"/>
                </a:lnTo>
                <a:lnTo>
                  <a:pt x="0" y="18653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5940" y="5005197"/>
            <a:ext cx="33020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Courier New"/>
                <a:cs typeface="Courier New"/>
              </a:rPr>
              <a:t>33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4681728"/>
            <a:ext cx="9144000" cy="311150"/>
          </a:xfrm>
          <a:custGeom>
            <a:avLst/>
            <a:gdLst/>
            <a:ahLst/>
            <a:cxnLst/>
            <a:rect l="l" t="t" r="r" b="b"/>
            <a:pathLst>
              <a:path w="9144000" h="311150">
                <a:moveTo>
                  <a:pt x="9144000" y="0"/>
                </a:moveTo>
                <a:lnTo>
                  <a:pt x="0" y="0"/>
                </a:lnTo>
                <a:lnTo>
                  <a:pt x="0" y="310896"/>
                </a:lnTo>
                <a:lnTo>
                  <a:pt x="9144000" y="310896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42969" y="4575428"/>
            <a:ext cx="11684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solidFill>
                  <a:srgbClr val="FFFFFF"/>
                </a:solidFill>
                <a:latin typeface="Courier New"/>
                <a:cs typeface="Courier New"/>
              </a:rPr>
              <a:t>Output</a:t>
            </a:r>
            <a:endParaRPr sz="2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4681855"/>
          </a:xfrm>
          <a:custGeom>
            <a:avLst/>
            <a:gdLst/>
            <a:ahLst/>
            <a:cxnLst/>
            <a:rect l="l" t="t" r="r" b="b"/>
            <a:pathLst>
              <a:path w="9144000" h="4681855">
                <a:moveTo>
                  <a:pt x="0" y="4681728"/>
                </a:moveTo>
                <a:lnTo>
                  <a:pt x="9144000" y="4681728"/>
                </a:lnTo>
                <a:lnTo>
                  <a:pt x="9144000" y="0"/>
                </a:lnTo>
                <a:lnTo>
                  <a:pt x="0" y="0"/>
                </a:lnTo>
                <a:lnTo>
                  <a:pt x="0" y="46817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57403"/>
            <a:ext cx="6884670" cy="216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class</a:t>
            </a:r>
            <a:r>
              <a:rPr sz="2000" b="1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Testarray2{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public static</a:t>
            </a: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void main(String args[]){</a:t>
            </a:r>
            <a:endParaRPr sz="20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int</a:t>
            </a:r>
            <a:r>
              <a:rPr sz="2000" b="1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arr[]={33,3,4,5};</a:t>
            </a:r>
            <a:endParaRPr sz="20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for(int</a:t>
            </a:r>
            <a:r>
              <a:rPr sz="2000" b="1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i:arr)</a:t>
            </a:r>
            <a:endParaRPr sz="2000">
              <a:latin typeface="Courier New"/>
              <a:cs typeface="Courier New"/>
            </a:endParaRPr>
          </a:p>
          <a:p>
            <a:pPr marL="2756535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System.out.println(i);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00050" cy="4681855"/>
          </a:xfrm>
          <a:custGeom>
            <a:avLst/>
            <a:gdLst/>
            <a:ahLst/>
            <a:cxnLst/>
            <a:rect l="l" t="t" r="r" b="b"/>
            <a:pathLst>
              <a:path w="400050" h="4681855">
                <a:moveTo>
                  <a:pt x="400050" y="0"/>
                </a:moveTo>
                <a:lnTo>
                  <a:pt x="0" y="0"/>
                </a:lnTo>
                <a:lnTo>
                  <a:pt x="0" y="76200"/>
                </a:lnTo>
                <a:lnTo>
                  <a:pt x="0" y="4681728"/>
                </a:lnTo>
                <a:lnTo>
                  <a:pt x="400050" y="4681728"/>
                </a:lnTo>
                <a:lnTo>
                  <a:pt x="400050" y="76200"/>
                </a:lnTo>
                <a:lnTo>
                  <a:pt x="400050" y="0"/>
                </a:lnTo>
                <a:close/>
              </a:path>
            </a:pathLst>
          </a:custGeom>
          <a:solidFill>
            <a:srgbClr val="000000">
              <a:alpha val="6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78739"/>
            <a:ext cx="178435" cy="4599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6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7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8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9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39" y="4706954"/>
            <a:ext cx="153035" cy="28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39" y="5011754"/>
            <a:ext cx="153035" cy="150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4992623"/>
            <a:ext cx="9144000" cy="1865630"/>
          </a:xfrm>
          <a:custGeom>
            <a:avLst/>
            <a:gdLst/>
            <a:ahLst/>
            <a:cxnLst/>
            <a:rect l="l" t="t" r="r" b="b"/>
            <a:pathLst>
              <a:path w="9144000" h="1865629">
                <a:moveTo>
                  <a:pt x="0" y="1865373"/>
                </a:moveTo>
                <a:lnTo>
                  <a:pt x="9144000" y="1865373"/>
                </a:lnTo>
                <a:lnTo>
                  <a:pt x="9144000" y="0"/>
                </a:lnTo>
                <a:lnTo>
                  <a:pt x="0" y="0"/>
                </a:lnTo>
                <a:lnTo>
                  <a:pt x="0" y="18653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5940" y="5005197"/>
            <a:ext cx="33020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Courier New"/>
                <a:cs typeface="Courier New"/>
              </a:rPr>
              <a:t>33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4681728"/>
            <a:ext cx="9144000" cy="311150"/>
          </a:xfrm>
          <a:custGeom>
            <a:avLst/>
            <a:gdLst/>
            <a:ahLst/>
            <a:cxnLst/>
            <a:rect l="l" t="t" r="r" b="b"/>
            <a:pathLst>
              <a:path w="9144000" h="311150">
                <a:moveTo>
                  <a:pt x="9144000" y="0"/>
                </a:moveTo>
                <a:lnTo>
                  <a:pt x="0" y="0"/>
                </a:lnTo>
                <a:lnTo>
                  <a:pt x="0" y="310896"/>
                </a:lnTo>
                <a:lnTo>
                  <a:pt x="9144000" y="310896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42969" y="4575428"/>
            <a:ext cx="11684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solidFill>
                  <a:srgbClr val="FFFFFF"/>
                </a:solidFill>
                <a:latin typeface="Courier New"/>
                <a:cs typeface="Courier New"/>
              </a:rPr>
              <a:t>Output</a:t>
            </a:r>
            <a:endParaRPr sz="2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C6DA008-A2BA-03C3-6778-E2DAC88B11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39" y="84835"/>
            <a:ext cx="3691890" cy="307777"/>
          </a:xfrm>
        </p:spPr>
        <p:txBody>
          <a:bodyPr/>
          <a:lstStyle/>
          <a:p>
            <a:r>
              <a:rPr lang="en-US" altLang="en-US"/>
              <a:t>Syntax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820E5D6-7897-AA23-6721-55FEDB32BD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1700" y="2171700"/>
            <a:ext cx="5829300" cy="274921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Forms</a:t>
            </a:r>
            <a:br>
              <a:rPr lang="en-US" altLang="en-US"/>
            </a:br>
            <a:r>
              <a:rPr lang="en-US" altLang="en-US" b="1">
                <a:solidFill>
                  <a:srgbClr val="CC3399"/>
                </a:solidFill>
                <a:latin typeface="Courier New" panose="02070309020205020404" pitchFamily="49" charset="0"/>
              </a:rPr>
              <a:t>ElementType [] arrayName;</a:t>
            </a:r>
            <a:br>
              <a:rPr lang="en-US" altLang="en-US" b="1">
                <a:solidFill>
                  <a:srgbClr val="CC3399"/>
                </a:solidFill>
                <a:latin typeface="Courier New" panose="02070309020205020404" pitchFamily="49" charset="0"/>
              </a:rPr>
            </a:br>
            <a:r>
              <a:rPr lang="en-US" altLang="en-US" b="1">
                <a:solidFill>
                  <a:srgbClr val="CC3399"/>
                </a:solidFill>
                <a:latin typeface="Courier New" panose="02070309020205020404" pitchFamily="49" charset="0"/>
              </a:rPr>
              <a:t>ElementType [] arrayName =</a:t>
            </a:r>
            <a:br>
              <a:rPr lang="en-US" altLang="en-US" b="1">
                <a:solidFill>
                  <a:srgbClr val="CC3399"/>
                </a:solidFill>
                <a:latin typeface="Courier New" panose="02070309020205020404" pitchFamily="49" charset="0"/>
              </a:rPr>
            </a:br>
            <a:r>
              <a:rPr lang="en-US" altLang="en-US" b="1">
                <a:solidFill>
                  <a:srgbClr val="CC3399"/>
                </a:solidFill>
                <a:latin typeface="Courier New" panose="02070309020205020404" pitchFamily="49" charset="0"/>
              </a:rPr>
              <a:t>   new ElementType [size];</a:t>
            </a:r>
            <a:br>
              <a:rPr lang="en-US" altLang="en-US" b="1">
                <a:solidFill>
                  <a:srgbClr val="CC3399"/>
                </a:solidFill>
                <a:latin typeface="Courier New" panose="02070309020205020404" pitchFamily="49" charset="0"/>
              </a:rPr>
            </a:br>
            <a:r>
              <a:rPr lang="en-US" altLang="en-US" b="1">
                <a:solidFill>
                  <a:srgbClr val="CC3399"/>
                </a:solidFill>
                <a:latin typeface="Courier New" panose="02070309020205020404" pitchFamily="49" charset="0"/>
              </a:rPr>
              <a:t>ElementType [] arrayName =</a:t>
            </a:r>
            <a:br>
              <a:rPr lang="en-US" altLang="en-US" b="1">
                <a:solidFill>
                  <a:srgbClr val="CC3399"/>
                </a:solidFill>
                <a:latin typeface="Courier New" panose="02070309020205020404" pitchFamily="49" charset="0"/>
              </a:rPr>
            </a:br>
            <a:r>
              <a:rPr lang="en-US" altLang="en-US" b="1">
                <a:solidFill>
                  <a:srgbClr val="CC3399"/>
                </a:solidFill>
                <a:latin typeface="Courier New" panose="02070309020205020404" pitchFamily="49" charset="0"/>
              </a:rPr>
              <a:t>   array-literal;</a:t>
            </a:r>
          </a:p>
          <a:p>
            <a:pPr>
              <a:lnSpc>
                <a:spcPct val="90000"/>
              </a:lnSpc>
            </a:pPr>
            <a:r>
              <a:rPr lang="en-US" altLang="en-US"/>
              <a:t>Where: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CC3399"/>
                </a:solidFill>
                <a:latin typeface="Courier New" panose="02070309020205020404" pitchFamily="49" charset="0"/>
              </a:rPr>
              <a:t>ElementType</a:t>
            </a:r>
            <a:r>
              <a:rPr lang="en-US" altLang="en-US"/>
              <a:t> is any type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CC3399"/>
                </a:solidFill>
                <a:latin typeface="Courier New" panose="02070309020205020404" pitchFamily="49" charset="0"/>
              </a:rPr>
              <a:t>arrayName</a:t>
            </a:r>
            <a:r>
              <a:rPr lang="en-US" altLang="en-US"/>
              <a:t> is the handle for the array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solidFill>
                  <a:srgbClr val="CC3399"/>
                </a:solidFill>
                <a:latin typeface="Courier New" panose="02070309020205020404" pitchFamily="49" charset="0"/>
              </a:rPr>
              <a:t>array-literal</a:t>
            </a:r>
            <a:r>
              <a:rPr lang="en-US" altLang="en-US"/>
              <a:t> is a list of literals enclosed in curly braces </a:t>
            </a:r>
            <a:r>
              <a:rPr lang="en-US" altLang="en-US" b="1">
                <a:solidFill>
                  <a:srgbClr val="CC3399"/>
                </a:solidFill>
                <a:latin typeface="Courier New" panose="02070309020205020404" pitchFamily="49" charset="0"/>
              </a:rPr>
              <a:t>{ 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0354"/>
            <a:ext cx="209804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Array</a:t>
            </a:r>
            <a:r>
              <a:rPr sz="2850" b="0" spc="-9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Length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055"/>
              </a:lnSpc>
            </a:pPr>
            <a:fld id="{81D60167-4931-47E6-BA6A-407CBD079E47}" type="slidenum">
              <a:rPr spc="-5" dirty="0">
                <a:latin typeface="PMingLiU-ExtB"/>
                <a:cs typeface="PMingLiU-ExtB"/>
              </a:rPr>
              <a:t>11</a:t>
            </a:fld>
            <a:endParaRPr spc="-5" dirty="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76959"/>
            <a:ext cx="5215255" cy="4485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latin typeface="Arial MT"/>
                <a:cs typeface="Arial MT"/>
              </a:rPr>
              <a:t>Refer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to array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length</a:t>
            </a:r>
            <a:r>
              <a:rPr sz="2250" spc="-5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using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i="1" dirty="0">
                <a:latin typeface="Arial"/>
                <a:cs typeface="Arial"/>
              </a:rPr>
              <a:t>length</a:t>
            </a:r>
            <a:endParaRPr sz="2250">
              <a:latin typeface="Arial"/>
              <a:cs typeface="Arial"/>
            </a:endParaRPr>
          </a:p>
          <a:p>
            <a:pPr marL="927100" marR="734695" indent="-915035">
              <a:lnSpc>
                <a:spcPts val="6480"/>
              </a:lnSpc>
              <a:spcBef>
                <a:spcPts val="844"/>
              </a:spcBef>
            </a:pPr>
            <a:r>
              <a:rPr sz="2250" dirty="0">
                <a:latin typeface="Arial MT"/>
                <a:cs typeface="Arial MT"/>
              </a:rPr>
              <a:t>A data </a:t>
            </a:r>
            <a:r>
              <a:rPr sz="2250" spc="5" dirty="0">
                <a:latin typeface="Arial MT"/>
                <a:cs typeface="Arial MT"/>
              </a:rPr>
              <a:t>member </a:t>
            </a:r>
            <a:r>
              <a:rPr sz="2250" dirty="0">
                <a:latin typeface="Arial MT"/>
                <a:cs typeface="Arial MT"/>
              </a:rPr>
              <a:t>of array object 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spc="-5" dirty="0">
                <a:solidFill>
                  <a:srgbClr val="FF0000"/>
                </a:solidFill>
                <a:latin typeface="Arial MT"/>
                <a:cs typeface="Arial MT"/>
              </a:rPr>
              <a:t>array_variable_name.length</a:t>
            </a:r>
            <a:endParaRPr sz="2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50" dirty="0">
                <a:latin typeface="Arial MT"/>
                <a:cs typeface="Arial MT"/>
              </a:rPr>
              <a:t>Sample</a:t>
            </a:r>
            <a:r>
              <a:rPr sz="2250" spc="-75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Code:</a:t>
            </a:r>
            <a:endParaRPr sz="2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>
              <a:latin typeface="Arial MT"/>
              <a:cs typeface="Arial MT"/>
            </a:endParaRPr>
          </a:p>
          <a:p>
            <a:pPr marL="927100" marR="5080">
              <a:lnSpc>
                <a:spcPct val="120000"/>
              </a:lnSpc>
              <a:spcBef>
                <a:spcPts val="5"/>
              </a:spcBef>
            </a:pPr>
            <a:r>
              <a:rPr sz="2250" dirty="0">
                <a:latin typeface="Arial MT"/>
                <a:cs typeface="Arial MT"/>
              </a:rPr>
              <a:t>long[] primes = </a:t>
            </a:r>
            <a:r>
              <a:rPr sz="2250" spc="5" dirty="0">
                <a:latin typeface="Arial MT"/>
                <a:cs typeface="Arial MT"/>
              </a:rPr>
              <a:t>new </a:t>
            </a:r>
            <a:r>
              <a:rPr sz="2250" dirty="0">
                <a:latin typeface="Arial MT"/>
                <a:cs typeface="Arial MT"/>
              </a:rPr>
              <a:t>long[20]; 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spc="-5" dirty="0">
                <a:latin typeface="Arial MT"/>
                <a:cs typeface="Arial MT"/>
              </a:rPr>
              <a:t>System.out.println(</a:t>
            </a:r>
            <a:r>
              <a:rPr sz="2250" spc="-5" dirty="0">
                <a:solidFill>
                  <a:srgbClr val="FF0000"/>
                </a:solidFill>
                <a:latin typeface="Arial MT"/>
                <a:cs typeface="Arial MT"/>
              </a:rPr>
              <a:t>primes.length</a:t>
            </a:r>
            <a:r>
              <a:rPr sz="2250" spc="-5" dirty="0">
                <a:latin typeface="Arial MT"/>
                <a:cs typeface="Arial MT"/>
              </a:rPr>
              <a:t>); </a:t>
            </a:r>
            <a:r>
              <a:rPr sz="2250" spc="-6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Output: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20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97307"/>
            <a:ext cx="42722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Multi</a:t>
            </a:r>
            <a:r>
              <a:rPr sz="3200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Times New Roman"/>
                <a:cs typeface="Times New Roman"/>
              </a:rPr>
              <a:t>dimensional</a:t>
            </a:r>
            <a:r>
              <a:rPr sz="3200" spc="-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array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2805"/>
            <a:ext cx="75361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875" marR="5080" indent="-257810" algn="just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4583"/>
              <a:buFont typeface="Wingdings"/>
              <a:buChar char=""/>
              <a:tabLst>
                <a:tab pos="270510" algn="l"/>
              </a:tabLst>
            </a:pPr>
            <a:r>
              <a:rPr sz="2400" spc="-5" dirty="0">
                <a:latin typeface="Times New Roman"/>
                <a:cs typeface="Times New Roman"/>
              </a:rPr>
              <a:t>Elements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two-dimensional </a:t>
            </a:r>
            <a:r>
              <a:rPr sz="2400" dirty="0">
                <a:latin typeface="Times New Roman"/>
                <a:cs typeface="Times New Roman"/>
              </a:rPr>
              <a:t>arrays are </a:t>
            </a:r>
            <a:r>
              <a:rPr sz="2400" spc="-5" dirty="0">
                <a:latin typeface="Times New Roman"/>
                <a:cs typeface="Times New Roman"/>
              </a:rPr>
              <a:t>commonly </a:t>
            </a:r>
            <a:r>
              <a:rPr sz="2400" dirty="0">
                <a:latin typeface="Times New Roman"/>
                <a:cs typeface="Times New Roman"/>
              </a:rPr>
              <a:t>referred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by </a:t>
            </a:r>
            <a:r>
              <a:rPr sz="2400" b="1" dirty="0">
                <a:latin typeface="Times New Roman"/>
                <a:cs typeface="Times New Roman"/>
              </a:rPr>
              <a:t>x[i][j] </a:t>
            </a:r>
            <a:r>
              <a:rPr sz="2400" spc="-5" dirty="0">
                <a:latin typeface="Times New Roman"/>
                <a:cs typeface="Times New Roman"/>
              </a:rPr>
              <a:t>where ‘i’ </a:t>
            </a:r>
            <a:r>
              <a:rPr sz="2400" dirty="0">
                <a:latin typeface="Times New Roman"/>
                <a:cs typeface="Times New Roman"/>
              </a:rPr>
              <a:t>is the row </a:t>
            </a:r>
            <a:r>
              <a:rPr sz="2400" spc="-5" dirty="0">
                <a:latin typeface="Times New Roman"/>
                <a:cs typeface="Times New Roman"/>
              </a:rPr>
              <a:t>number </a:t>
            </a:r>
            <a:r>
              <a:rPr sz="2400" dirty="0">
                <a:latin typeface="Times New Roman"/>
                <a:cs typeface="Times New Roman"/>
              </a:rPr>
              <a:t>and ‘j’ is the </a:t>
            </a:r>
            <a:r>
              <a:rPr sz="2400" spc="-5" dirty="0">
                <a:latin typeface="Times New Roman"/>
                <a:cs typeface="Times New Roman"/>
              </a:rPr>
              <a:t>column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6242" y="3342132"/>
            <a:ext cx="5229225" cy="20574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055"/>
              </a:lnSpc>
            </a:pPr>
            <a:fld id="{81D60167-4931-47E6-BA6A-407CBD079E47}" type="slidenum">
              <a:rPr spc="-5" dirty="0">
                <a:latin typeface="PMingLiU-ExtB"/>
                <a:cs typeface="PMingLiU-ExtB"/>
              </a:rPr>
              <a:t>12</a:t>
            </a:fld>
            <a:endParaRPr spc="-5" dirty="0">
              <a:latin typeface="PMingLiU-ExtB"/>
              <a:cs typeface="PMingLiU-ExtB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98830"/>
            <a:ext cx="37369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Multi</a:t>
            </a:r>
            <a:r>
              <a:rPr sz="2800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dimensional</a:t>
            </a:r>
            <a:r>
              <a:rPr sz="2800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array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055"/>
              </a:lnSpc>
            </a:pPr>
            <a:fld id="{81D60167-4931-47E6-BA6A-407CBD079E47}" type="slidenum">
              <a:rPr spc="-5" dirty="0">
                <a:latin typeface="PMingLiU-ExtB"/>
                <a:cs typeface="PMingLiU-ExtB"/>
              </a:rPr>
              <a:t>13</a:t>
            </a:fld>
            <a:endParaRPr spc="-5" dirty="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07532"/>
            <a:ext cx="6958965" cy="464439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250" dirty="0">
                <a:latin typeface="Times New Roman"/>
                <a:cs typeface="Times New Roman"/>
              </a:rPr>
              <a:t>//Variable</a:t>
            </a:r>
            <a:r>
              <a:rPr sz="2250" spc="-25" dirty="0">
                <a:latin typeface="Times New Roman"/>
                <a:cs typeface="Times New Roman"/>
              </a:rPr>
              <a:t> </a:t>
            </a:r>
            <a:r>
              <a:rPr sz="2250" spc="-5" dirty="0">
                <a:latin typeface="Times New Roman"/>
                <a:cs typeface="Times New Roman"/>
              </a:rPr>
              <a:t>declaration</a:t>
            </a:r>
            <a:endParaRPr sz="225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Times New Roman"/>
                <a:cs typeface="Times New Roman"/>
              </a:rPr>
              <a:t>datatype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var[][];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int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twoD[][];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//instantiation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allocation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array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var =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new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datatype[rowsize][columnsize];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45"/>
              </a:spcBef>
            </a:pPr>
            <a:r>
              <a:rPr sz="2250" dirty="0">
                <a:latin typeface="Times New Roman"/>
                <a:cs typeface="Times New Roman"/>
              </a:rPr>
              <a:t>twoD=</a:t>
            </a:r>
            <a:r>
              <a:rPr sz="2250" spc="-2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new</a:t>
            </a:r>
            <a:r>
              <a:rPr sz="2250" spc="-30" dirty="0">
                <a:latin typeface="Times New Roman"/>
                <a:cs typeface="Times New Roman"/>
              </a:rPr>
              <a:t> </a:t>
            </a:r>
            <a:r>
              <a:rPr sz="2250" spc="-5" dirty="0">
                <a:latin typeface="Times New Roman"/>
                <a:cs typeface="Times New Roman"/>
              </a:rPr>
              <a:t>int[4][5]</a:t>
            </a:r>
            <a:endParaRPr sz="2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Combination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Array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Declaration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Allocation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Array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5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250" dirty="0">
                <a:latin typeface="Times New Roman"/>
                <a:cs typeface="Times New Roman"/>
              </a:rPr>
              <a:t>int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spc="-5" dirty="0">
                <a:latin typeface="Times New Roman"/>
                <a:cs typeface="Times New Roman"/>
              </a:rPr>
              <a:t>twoD[][]</a:t>
            </a:r>
            <a:r>
              <a:rPr sz="2250" spc="-1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=</a:t>
            </a:r>
            <a:r>
              <a:rPr sz="2250" spc="-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Times New Roman"/>
                <a:cs typeface="Times New Roman"/>
              </a:rPr>
              <a:t>new</a:t>
            </a:r>
            <a:r>
              <a:rPr sz="2250" spc="-5" dirty="0">
                <a:latin typeface="Times New Roman"/>
                <a:cs typeface="Times New Roman"/>
              </a:rPr>
              <a:t> int[4][5];</a:t>
            </a:r>
            <a:endParaRPr sz="2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564" y="1266913"/>
            <a:ext cx="7488808" cy="50029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300354"/>
            <a:ext cx="352552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dirty="0">
                <a:solidFill>
                  <a:srgbClr val="3333CC"/>
                </a:solidFill>
                <a:latin typeface="Arial"/>
                <a:cs typeface="Arial"/>
              </a:rPr>
              <a:t>2d</a:t>
            </a:r>
            <a:r>
              <a:rPr sz="2850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3333CC"/>
                </a:solidFill>
                <a:latin typeface="Arial"/>
                <a:cs typeface="Arial"/>
              </a:rPr>
              <a:t>array</a:t>
            </a:r>
            <a:r>
              <a:rPr sz="2850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3333CC"/>
                </a:solidFill>
                <a:latin typeface="Arial"/>
                <a:cs typeface="Arial"/>
              </a:rPr>
              <a:t>Using</a:t>
            </a:r>
            <a:r>
              <a:rPr sz="2850" spc="-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srgbClr val="3333CC"/>
                </a:solidFill>
                <a:latin typeface="Arial"/>
                <a:cs typeface="Arial"/>
              </a:rPr>
              <a:t>Loop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055"/>
              </a:lnSpc>
            </a:pPr>
            <a:fld id="{81D60167-4931-47E6-BA6A-407CBD079E47}" type="slidenum">
              <a:rPr spc="-5" dirty="0">
                <a:latin typeface="PMingLiU-ExtB"/>
                <a:cs typeface="PMingLiU-ExtB"/>
              </a:rPr>
              <a:t>14</a:t>
            </a:fld>
            <a:endParaRPr spc="-5" dirty="0">
              <a:latin typeface="PMingLiU-ExtB"/>
              <a:cs typeface="PMingLiU-ExtB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97916"/>
            <a:ext cx="6353175" cy="624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30705">
              <a:lnSpc>
                <a:spcPct val="12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//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Demonstrate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two-dimensional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array.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TwoDArray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{</a:t>
            </a:r>
            <a:endParaRPr sz="2000">
              <a:latin typeface="Arial MT"/>
              <a:cs typeface="Arial MT"/>
            </a:endParaRPr>
          </a:p>
          <a:p>
            <a:pPr marL="1841500" marR="1242695" indent="-914400">
              <a:lnSpc>
                <a:spcPts val="2880"/>
              </a:lnSpc>
              <a:spcBef>
                <a:spcPts val="175"/>
              </a:spcBef>
            </a:pPr>
            <a:r>
              <a:rPr sz="2000" dirty="0">
                <a:latin typeface="Arial MT"/>
                <a:cs typeface="Arial MT"/>
              </a:rPr>
              <a:t>public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static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void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main(String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args[])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{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twoD[][]=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new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int[4][5];</a:t>
            </a:r>
            <a:endParaRPr sz="2000">
              <a:latin typeface="Arial MT"/>
              <a:cs typeface="Arial MT"/>
            </a:endParaRPr>
          </a:p>
          <a:p>
            <a:pPr marL="1841500" marR="2712085">
              <a:lnSpc>
                <a:spcPts val="2880"/>
              </a:lnSpc>
            </a:pPr>
            <a:r>
              <a:rPr sz="2000" dirty="0">
                <a:latin typeface="Arial MT"/>
                <a:cs typeface="Arial MT"/>
              </a:rPr>
              <a:t>int </a:t>
            </a:r>
            <a:r>
              <a:rPr sz="2000" spc="-5" dirty="0">
                <a:latin typeface="Arial MT"/>
                <a:cs typeface="Arial MT"/>
              </a:rPr>
              <a:t>i, </a:t>
            </a:r>
            <a:r>
              <a:rPr sz="2000" dirty="0">
                <a:latin typeface="Arial MT"/>
                <a:cs typeface="Arial MT"/>
              </a:rPr>
              <a:t>j, k = 0;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for(i=0;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i&lt;4;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i++)</a:t>
            </a:r>
            <a:endParaRPr sz="2000">
              <a:latin typeface="Arial MT"/>
              <a:cs typeface="Arial MT"/>
            </a:endParaRPr>
          </a:p>
          <a:p>
            <a:pPr marL="2756535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latin typeface="Arial MT"/>
                <a:cs typeface="Arial MT"/>
              </a:rPr>
              <a:t>for(j=0;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j&lt;5;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j++)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{</a:t>
            </a:r>
            <a:endParaRPr sz="2000">
              <a:latin typeface="Arial MT"/>
              <a:cs typeface="Arial MT"/>
            </a:endParaRPr>
          </a:p>
          <a:p>
            <a:pPr marL="3670935" marR="1215390">
              <a:lnSpc>
                <a:spcPts val="2880"/>
              </a:lnSpc>
              <a:spcBef>
                <a:spcPts val="175"/>
              </a:spcBef>
            </a:pPr>
            <a:r>
              <a:rPr sz="2000" spc="-5" dirty="0">
                <a:latin typeface="Arial MT"/>
                <a:cs typeface="Arial MT"/>
              </a:rPr>
              <a:t>twoD[i][j]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k;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k++;</a:t>
            </a:r>
            <a:endParaRPr sz="2000">
              <a:latin typeface="Arial MT"/>
              <a:cs typeface="Arial MT"/>
            </a:endParaRPr>
          </a:p>
          <a:p>
            <a:pPr marR="2588895" algn="r">
              <a:lnSpc>
                <a:spcPct val="100000"/>
              </a:lnSpc>
              <a:spcBef>
                <a:spcPts val="309"/>
              </a:spcBef>
            </a:pPr>
            <a:r>
              <a:rPr sz="2000" dirty="0">
                <a:latin typeface="Arial MT"/>
                <a:cs typeface="Arial MT"/>
              </a:rPr>
              <a:t>}</a:t>
            </a:r>
            <a:endParaRPr sz="2000">
              <a:latin typeface="Arial MT"/>
              <a:cs typeface="Arial MT"/>
            </a:endParaRPr>
          </a:p>
          <a:p>
            <a:pPr marR="2559685" algn="r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for(i=0;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i&lt;4;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i++)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{</a:t>
            </a:r>
            <a:endParaRPr sz="2000">
              <a:latin typeface="Arial MT"/>
              <a:cs typeface="Arial MT"/>
            </a:endParaRPr>
          </a:p>
          <a:p>
            <a:pPr marL="2756535" marR="5080">
              <a:lnSpc>
                <a:spcPct val="120000"/>
              </a:lnSpc>
            </a:pPr>
            <a:r>
              <a:rPr sz="2000" dirty="0">
                <a:latin typeface="Arial MT"/>
                <a:cs typeface="Arial MT"/>
              </a:rPr>
              <a:t>for(j=0; j&lt;5; j++)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System.out.print(twoD[i][j]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");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System.out.println();</a:t>
            </a:r>
            <a:endParaRPr sz="2000">
              <a:latin typeface="Arial MT"/>
              <a:cs typeface="Arial MT"/>
            </a:endParaRPr>
          </a:p>
          <a:p>
            <a:pPr marL="275653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}</a:t>
            </a:r>
            <a:endParaRPr sz="200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}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}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055"/>
              </a:lnSpc>
            </a:pPr>
            <a:fld id="{81D60167-4931-47E6-BA6A-407CBD079E47}" type="slidenum">
              <a:rPr spc="-5" dirty="0">
                <a:latin typeface="PMingLiU-ExtB"/>
                <a:cs typeface="PMingLiU-ExtB"/>
              </a:rPr>
              <a:t>15</a:t>
            </a:fld>
            <a:endParaRPr spc="-5" dirty="0">
              <a:latin typeface="PMingLiU-ExtB"/>
              <a:cs typeface="PMingLiU-ExtB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69798"/>
            <a:ext cx="6398895" cy="587946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MultidimensionalArray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{</a:t>
            </a:r>
            <a:endParaRPr sz="2000">
              <a:latin typeface="Arial MT"/>
              <a:cs typeface="Arial MT"/>
            </a:endParaRPr>
          </a:p>
          <a:p>
            <a:pPr marL="29146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public </a:t>
            </a:r>
            <a:r>
              <a:rPr sz="2000" spc="-5" dirty="0">
                <a:latin typeface="Arial MT"/>
                <a:cs typeface="Arial MT"/>
              </a:rPr>
              <a:t>static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void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main(String[]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args)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{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 MT"/>
              <a:cs typeface="Arial MT"/>
            </a:endParaRPr>
          </a:p>
          <a:p>
            <a:pPr marL="572135" marR="3690620">
              <a:lnSpc>
                <a:spcPct val="120000"/>
              </a:lnSpc>
            </a:pPr>
            <a:r>
              <a:rPr sz="2000" dirty="0">
                <a:latin typeface="Arial MT"/>
                <a:cs typeface="Arial MT"/>
              </a:rPr>
              <a:t>//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array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int[][]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{</a:t>
            </a:r>
            <a:endParaRPr sz="2000">
              <a:latin typeface="Arial MT"/>
              <a:cs typeface="Arial MT"/>
            </a:endParaRPr>
          </a:p>
          <a:p>
            <a:pPr marL="8509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{1,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3},</a:t>
            </a:r>
            <a:endParaRPr sz="2000">
              <a:latin typeface="Arial MT"/>
              <a:cs typeface="Arial MT"/>
            </a:endParaRPr>
          </a:p>
          <a:p>
            <a:pPr marL="8509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Arial MT"/>
                <a:cs typeface="Arial MT"/>
              </a:rPr>
              <a:t>{4,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5,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6,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9},</a:t>
            </a:r>
            <a:endParaRPr sz="2000">
              <a:latin typeface="Arial MT"/>
              <a:cs typeface="Arial MT"/>
            </a:endParaRPr>
          </a:p>
          <a:p>
            <a:pPr marL="8509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{7},</a:t>
            </a:r>
            <a:endParaRPr sz="2000">
              <a:latin typeface="Arial MT"/>
              <a:cs typeface="Arial MT"/>
            </a:endParaRPr>
          </a:p>
          <a:p>
            <a:pPr marL="57213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};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00">
              <a:latin typeface="Arial MT"/>
              <a:cs typeface="Arial MT"/>
            </a:endParaRPr>
          </a:p>
          <a:p>
            <a:pPr marL="572135" marR="5080">
              <a:lnSpc>
                <a:spcPct val="12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// calculate the length of each row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System.out.println("Length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row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a[0].length);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System.out.println("Length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row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a[1].length);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System.out.println("Length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row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a[2].length);</a:t>
            </a:r>
            <a:endParaRPr sz="2000">
              <a:latin typeface="Arial MT"/>
              <a:cs typeface="Arial MT"/>
            </a:endParaRPr>
          </a:p>
          <a:p>
            <a:pPr marL="29146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}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}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055"/>
              </a:lnSpc>
            </a:pPr>
            <a:fld id="{81D60167-4931-47E6-BA6A-407CBD079E47}" type="slidenum">
              <a:rPr spc="-5" dirty="0">
                <a:latin typeface="PMingLiU-ExtB"/>
                <a:cs typeface="PMingLiU-ExtB"/>
              </a:rPr>
              <a:t>16</a:t>
            </a:fld>
            <a:endParaRPr spc="-5" dirty="0">
              <a:latin typeface="PMingLiU-ExtB"/>
              <a:cs typeface="PMingLiU-ExtB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4681855"/>
          </a:xfrm>
          <a:custGeom>
            <a:avLst/>
            <a:gdLst/>
            <a:ahLst/>
            <a:cxnLst/>
            <a:rect l="l" t="t" r="r" b="b"/>
            <a:pathLst>
              <a:path w="9144000" h="4681855">
                <a:moveTo>
                  <a:pt x="0" y="4681728"/>
                </a:moveTo>
                <a:lnTo>
                  <a:pt x="9144000" y="4681728"/>
                </a:lnTo>
                <a:lnTo>
                  <a:pt x="9144000" y="0"/>
                </a:lnTo>
                <a:lnTo>
                  <a:pt x="0" y="0"/>
                </a:lnTo>
                <a:lnTo>
                  <a:pt x="0" y="46817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57403"/>
            <a:ext cx="7646034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class</a:t>
            </a:r>
            <a:r>
              <a:rPr sz="2000" b="1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Testarray3{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public static</a:t>
            </a: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void main(String args[]){</a:t>
            </a:r>
            <a:endParaRPr sz="20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int</a:t>
            </a:r>
            <a:r>
              <a:rPr sz="2000" b="1" spc="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arr[][]={{1,2,3},{2,4,5},{4,4,5}};</a:t>
            </a:r>
            <a:endParaRPr sz="2000">
              <a:latin typeface="Courier New"/>
              <a:cs typeface="Courier New"/>
            </a:endParaRPr>
          </a:p>
          <a:p>
            <a:pPr marL="2756535" marR="1681480" indent="-915035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for(int i=0;i&lt;3;i++){ </a:t>
            </a: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for(int</a:t>
            </a:r>
            <a:r>
              <a:rPr sz="2000" b="1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j=0;j&lt;3;j++){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594" y="1886457"/>
            <a:ext cx="505523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System.out.print(arr[i][j]+"</a:t>
            </a:r>
            <a:r>
              <a:rPr sz="2000" b="1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");</a:t>
            </a:r>
            <a:endParaRPr sz="20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System.out.println();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410839"/>
            <a:ext cx="1784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400050" cy="4681855"/>
          </a:xfrm>
          <a:custGeom>
            <a:avLst/>
            <a:gdLst/>
            <a:ahLst/>
            <a:cxnLst/>
            <a:rect l="l" t="t" r="r" b="b"/>
            <a:pathLst>
              <a:path w="400050" h="4681855">
                <a:moveTo>
                  <a:pt x="400050" y="0"/>
                </a:moveTo>
                <a:lnTo>
                  <a:pt x="0" y="0"/>
                </a:lnTo>
                <a:lnTo>
                  <a:pt x="0" y="76200"/>
                </a:lnTo>
                <a:lnTo>
                  <a:pt x="0" y="4681728"/>
                </a:lnTo>
                <a:lnTo>
                  <a:pt x="400050" y="4681728"/>
                </a:lnTo>
                <a:lnTo>
                  <a:pt x="400050" y="76200"/>
                </a:lnTo>
                <a:lnTo>
                  <a:pt x="400050" y="0"/>
                </a:lnTo>
                <a:close/>
              </a:path>
            </a:pathLst>
          </a:custGeom>
          <a:solidFill>
            <a:srgbClr val="000000">
              <a:alpha val="6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739" y="78739"/>
            <a:ext cx="178435" cy="4599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6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7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8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9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39" y="4706954"/>
            <a:ext cx="153035" cy="28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39" y="5011754"/>
            <a:ext cx="153035" cy="150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4992623"/>
            <a:ext cx="9144000" cy="1865630"/>
          </a:xfrm>
          <a:custGeom>
            <a:avLst/>
            <a:gdLst/>
            <a:ahLst/>
            <a:cxnLst/>
            <a:rect l="l" t="t" r="r" b="b"/>
            <a:pathLst>
              <a:path w="9144000" h="1865629">
                <a:moveTo>
                  <a:pt x="0" y="1865373"/>
                </a:moveTo>
                <a:lnTo>
                  <a:pt x="9144000" y="1865373"/>
                </a:lnTo>
                <a:lnTo>
                  <a:pt x="9144000" y="0"/>
                </a:lnTo>
                <a:lnTo>
                  <a:pt x="0" y="0"/>
                </a:lnTo>
                <a:lnTo>
                  <a:pt x="0" y="18653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5940" y="5005197"/>
            <a:ext cx="78803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1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2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2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4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4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4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4681728"/>
            <a:ext cx="9144000" cy="311150"/>
          </a:xfrm>
          <a:custGeom>
            <a:avLst/>
            <a:gdLst/>
            <a:ahLst/>
            <a:cxnLst/>
            <a:rect l="l" t="t" r="r" b="b"/>
            <a:pathLst>
              <a:path w="9144000" h="311150">
                <a:moveTo>
                  <a:pt x="9144000" y="0"/>
                </a:moveTo>
                <a:lnTo>
                  <a:pt x="0" y="0"/>
                </a:lnTo>
                <a:lnTo>
                  <a:pt x="0" y="310896"/>
                </a:lnTo>
                <a:lnTo>
                  <a:pt x="9144000" y="310896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942969" y="4575428"/>
            <a:ext cx="11684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solidFill>
                  <a:srgbClr val="FFFFFF"/>
                </a:solidFill>
                <a:latin typeface="Courier New"/>
                <a:cs typeface="Courier New"/>
              </a:rPr>
              <a:t>Output</a:t>
            </a:r>
            <a:endParaRPr sz="2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4681855"/>
          </a:xfrm>
          <a:custGeom>
            <a:avLst/>
            <a:gdLst/>
            <a:ahLst/>
            <a:cxnLst/>
            <a:rect l="l" t="t" r="r" b="b"/>
            <a:pathLst>
              <a:path w="9144000" h="4681855">
                <a:moveTo>
                  <a:pt x="0" y="4681728"/>
                </a:moveTo>
                <a:lnTo>
                  <a:pt x="9144000" y="4681728"/>
                </a:lnTo>
                <a:lnTo>
                  <a:pt x="9144000" y="0"/>
                </a:lnTo>
                <a:lnTo>
                  <a:pt x="0" y="0"/>
                </a:lnTo>
                <a:lnTo>
                  <a:pt x="0" y="46817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57403"/>
            <a:ext cx="7646034" cy="3989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7100" algn="l"/>
              </a:tabLst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class	Testarray4{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public static void main(String</a:t>
            </a:r>
            <a:r>
              <a:rPr sz="2000" b="1" spc="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args[]){</a:t>
            </a:r>
            <a:endParaRPr sz="20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int</a:t>
            </a:r>
            <a:r>
              <a:rPr sz="2000" b="1" spc="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arr[][]={{1,2,3},{4,5,6},{4,4,5}};</a:t>
            </a:r>
            <a:endParaRPr sz="20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for(int</a:t>
            </a:r>
            <a:r>
              <a:rPr sz="2000" b="1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x[]:arr)</a:t>
            </a:r>
            <a:endParaRPr sz="20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2756535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for(int</a:t>
            </a:r>
            <a:r>
              <a:rPr sz="2000" b="1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y:x)</a:t>
            </a:r>
            <a:endParaRPr sz="2000">
              <a:latin typeface="Courier New"/>
              <a:cs typeface="Courier New"/>
            </a:endParaRPr>
          </a:p>
          <a:p>
            <a:pPr marL="275653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670935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System.out.print(y+"</a:t>
            </a:r>
            <a:r>
              <a:rPr sz="2000" b="1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");</a:t>
            </a:r>
            <a:endParaRPr sz="2000">
              <a:latin typeface="Courier New"/>
              <a:cs typeface="Courier New"/>
            </a:endParaRPr>
          </a:p>
          <a:p>
            <a:pPr marL="275653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2756535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System.out.println();</a:t>
            </a:r>
            <a:endParaRPr sz="20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00050" cy="4681855"/>
          </a:xfrm>
          <a:custGeom>
            <a:avLst/>
            <a:gdLst/>
            <a:ahLst/>
            <a:cxnLst/>
            <a:rect l="l" t="t" r="r" b="b"/>
            <a:pathLst>
              <a:path w="400050" h="4681855">
                <a:moveTo>
                  <a:pt x="400050" y="0"/>
                </a:moveTo>
                <a:lnTo>
                  <a:pt x="0" y="0"/>
                </a:lnTo>
                <a:lnTo>
                  <a:pt x="0" y="76200"/>
                </a:lnTo>
                <a:lnTo>
                  <a:pt x="0" y="4681728"/>
                </a:lnTo>
                <a:lnTo>
                  <a:pt x="400050" y="4681728"/>
                </a:lnTo>
                <a:lnTo>
                  <a:pt x="400050" y="76200"/>
                </a:lnTo>
                <a:lnTo>
                  <a:pt x="400050" y="0"/>
                </a:lnTo>
                <a:close/>
              </a:path>
            </a:pathLst>
          </a:custGeom>
          <a:solidFill>
            <a:srgbClr val="000000">
              <a:alpha val="6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78739"/>
            <a:ext cx="178435" cy="4599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6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7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8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9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39" y="4706954"/>
            <a:ext cx="153035" cy="28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39" y="5011754"/>
            <a:ext cx="153035" cy="150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b="1" dirty="0">
                <a:solidFill>
                  <a:srgbClr val="FFFF00"/>
                </a:solidFill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4992623"/>
            <a:ext cx="9144000" cy="1865630"/>
          </a:xfrm>
          <a:custGeom>
            <a:avLst/>
            <a:gdLst/>
            <a:ahLst/>
            <a:cxnLst/>
            <a:rect l="l" t="t" r="r" b="b"/>
            <a:pathLst>
              <a:path w="9144000" h="1865629">
                <a:moveTo>
                  <a:pt x="0" y="1865373"/>
                </a:moveTo>
                <a:lnTo>
                  <a:pt x="9144000" y="1865373"/>
                </a:lnTo>
                <a:lnTo>
                  <a:pt x="9144000" y="0"/>
                </a:lnTo>
                <a:lnTo>
                  <a:pt x="0" y="0"/>
                </a:lnTo>
                <a:lnTo>
                  <a:pt x="0" y="18653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5940" y="5005197"/>
            <a:ext cx="78803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1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2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2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4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4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4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4681728"/>
            <a:ext cx="9144000" cy="311150"/>
          </a:xfrm>
          <a:custGeom>
            <a:avLst/>
            <a:gdLst/>
            <a:ahLst/>
            <a:cxnLst/>
            <a:rect l="l" t="t" r="r" b="b"/>
            <a:pathLst>
              <a:path w="9144000" h="311150">
                <a:moveTo>
                  <a:pt x="9144000" y="0"/>
                </a:moveTo>
                <a:lnTo>
                  <a:pt x="0" y="0"/>
                </a:lnTo>
                <a:lnTo>
                  <a:pt x="0" y="310896"/>
                </a:lnTo>
                <a:lnTo>
                  <a:pt x="9144000" y="310896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42969" y="4575428"/>
            <a:ext cx="11684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solidFill>
                  <a:srgbClr val="FFFFFF"/>
                </a:solidFill>
                <a:latin typeface="Courier New"/>
                <a:cs typeface="Courier New"/>
              </a:rPr>
              <a:t>Output</a:t>
            </a:r>
            <a:endParaRPr sz="2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532" y="808062"/>
            <a:ext cx="7560818" cy="531507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300354"/>
            <a:ext cx="4032885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Three</a:t>
            </a:r>
            <a:r>
              <a:rPr sz="2850" b="0" spc="-4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Dimensional</a:t>
            </a:r>
            <a:r>
              <a:rPr sz="2850" b="0" spc="-2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Array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19</a:t>
            </a:fld>
            <a:endParaRPr sz="900">
              <a:latin typeface="PMingLiU-ExtB"/>
              <a:cs typeface="PMingLiU-ExtB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0354"/>
            <a:ext cx="1113155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Out</a:t>
            </a:r>
            <a:r>
              <a:rPr sz="2850" b="0" spc="-15" dirty="0">
                <a:solidFill>
                  <a:srgbClr val="3333CC"/>
                </a:solidFill>
                <a:latin typeface="Arial MT"/>
                <a:cs typeface="Arial MT"/>
              </a:rPr>
              <a:t>p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ut</a:t>
            </a:r>
            <a:endParaRPr sz="28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1523" y="836675"/>
            <a:ext cx="6600825" cy="5013960"/>
            <a:chOff x="251523" y="836675"/>
            <a:chExt cx="6600825" cy="50139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523" y="836675"/>
              <a:ext cx="6600825" cy="20097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541" y="2564879"/>
              <a:ext cx="5549392" cy="328561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20</a:t>
            </a:fld>
            <a:endParaRPr sz="900">
              <a:latin typeface="PMingLiU-ExtB"/>
              <a:cs typeface="PMingLiU-ExtB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0354"/>
            <a:ext cx="183896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Java</a:t>
            </a:r>
            <a:r>
              <a:rPr sz="2850" b="0" spc="-7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String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21</a:t>
            </a:fld>
            <a:endParaRPr sz="9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293368"/>
            <a:ext cx="7179309" cy="29527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69875" indent="-257810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64583"/>
              <a:buFont typeface="Wingdings"/>
              <a:buChar char=""/>
              <a:tabLst>
                <a:tab pos="270510" algn="l"/>
              </a:tabLst>
            </a:pPr>
            <a:r>
              <a:rPr sz="2400" spc="-5" dirty="0">
                <a:latin typeface="Arial MT"/>
                <a:cs typeface="Arial MT"/>
              </a:rPr>
              <a:t>Generally,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sequence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characters.</a:t>
            </a:r>
            <a:endParaRPr sz="2400">
              <a:latin typeface="Arial MT"/>
              <a:cs typeface="Arial MT"/>
            </a:endParaRPr>
          </a:p>
          <a:p>
            <a:pPr marL="269875" marR="480695" indent="-25781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4583"/>
              <a:buFont typeface="Wingdings"/>
              <a:buChar char=""/>
              <a:tabLst>
                <a:tab pos="270510" algn="l"/>
              </a:tabLst>
            </a:pPr>
            <a:r>
              <a:rPr sz="2400" spc="-5" dirty="0">
                <a:latin typeface="Arial MT"/>
                <a:cs typeface="Arial MT"/>
              </a:rPr>
              <a:t>But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Java,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object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represents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sequence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 </a:t>
            </a:r>
            <a:r>
              <a:rPr sz="2400" spc="-5" dirty="0">
                <a:latin typeface="Arial MT"/>
                <a:cs typeface="Arial MT"/>
              </a:rPr>
              <a:t>characters.</a:t>
            </a:r>
            <a:endParaRPr sz="24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4583"/>
              <a:buFont typeface="Wingdings"/>
              <a:buChar char=""/>
              <a:tabLst>
                <a:tab pos="270510" algn="l"/>
              </a:tabLst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java.lang.String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class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dirty="0">
                <a:latin typeface="Arial MT"/>
                <a:cs typeface="Arial MT"/>
              </a:rPr>
              <a:t> to</a:t>
            </a:r>
            <a:r>
              <a:rPr sz="2400" spc="-5" dirty="0">
                <a:latin typeface="Arial MT"/>
                <a:cs typeface="Arial MT"/>
              </a:rPr>
              <a:t> create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object.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There</a:t>
            </a:r>
            <a:r>
              <a:rPr sz="2400" dirty="0">
                <a:latin typeface="Arial MT"/>
                <a:cs typeface="Arial MT"/>
              </a:rPr>
              <a:t> are two </a:t>
            </a:r>
            <a:r>
              <a:rPr sz="2400" spc="-5" dirty="0">
                <a:latin typeface="Arial MT"/>
                <a:cs typeface="Arial MT"/>
              </a:rPr>
              <a:t>ways</a:t>
            </a:r>
            <a:r>
              <a:rPr sz="2400" dirty="0">
                <a:latin typeface="Arial MT"/>
                <a:cs typeface="Arial MT"/>
              </a:rPr>
              <a:t> 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object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399915"/>
            <a:ext cx="17335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5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55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594" y="4220083"/>
            <a:ext cx="5295265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new</a:t>
            </a: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keyword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By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without</a:t>
            </a:r>
            <a:r>
              <a:rPr sz="24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new</a:t>
            </a:r>
            <a:r>
              <a:rPr sz="24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keyword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(String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Literal)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838827"/>
            <a:ext cx="17335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5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55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0354"/>
            <a:ext cx="7454265" cy="895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Create</a:t>
            </a:r>
            <a:r>
              <a:rPr sz="2850" b="0" spc="-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a</a:t>
            </a:r>
            <a:r>
              <a:rPr sz="2850" b="0" spc="-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variable</a:t>
            </a:r>
            <a:r>
              <a:rPr sz="2850" b="0" spc="-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of </a:t>
            </a:r>
            <a:r>
              <a:rPr sz="2850" b="0" spc="-5" dirty="0">
                <a:solidFill>
                  <a:srgbClr val="3333CC"/>
                </a:solidFill>
                <a:latin typeface="Arial MT"/>
                <a:cs typeface="Arial MT"/>
              </a:rPr>
              <a:t>type</a:t>
            </a:r>
            <a:r>
              <a:rPr sz="2850" b="0" spc="-1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String</a:t>
            </a:r>
            <a:r>
              <a:rPr sz="2850" b="0" spc="-1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850" b="0" spc="-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assign</a:t>
            </a:r>
            <a:r>
              <a:rPr sz="2850" b="0" spc="-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it</a:t>
            </a:r>
            <a:r>
              <a:rPr sz="2850" b="0" spc="-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a </a:t>
            </a:r>
            <a:r>
              <a:rPr sz="2850" b="0" spc="-77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value: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22</a:t>
            </a:fld>
            <a:endParaRPr sz="9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00200"/>
            <a:ext cx="7877175" cy="448500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IN" sz="2250" b="1" dirty="0">
                <a:latin typeface="Arial"/>
                <a:cs typeface="Arial"/>
              </a:rPr>
              <a:t>public</a:t>
            </a:r>
            <a:r>
              <a:rPr lang="en-IN" sz="2250" b="1" spc="-35" dirty="0">
                <a:latin typeface="Arial"/>
                <a:cs typeface="Arial"/>
              </a:rPr>
              <a:t> </a:t>
            </a:r>
            <a:r>
              <a:rPr lang="en-IN" sz="2250" b="1" dirty="0">
                <a:latin typeface="Arial"/>
                <a:cs typeface="Arial"/>
              </a:rPr>
              <a:t>class</a:t>
            </a:r>
            <a:r>
              <a:rPr lang="en-IN" sz="2250" b="1" spc="-40" dirty="0">
                <a:latin typeface="Arial"/>
                <a:cs typeface="Arial"/>
              </a:rPr>
              <a:t> </a:t>
            </a:r>
            <a:r>
              <a:rPr lang="en-IN" sz="2250" dirty="0" err="1">
                <a:latin typeface="Arial MT"/>
                <a:cs typeface="Arial MT"/>
              </a:rPr>
              <a:t>StringExample</a:t>
            </a:r>
            <a:r>
              <a:rPr lang="en-IN" sz="2250" dirty="0">
                <a:latin typeface="Arial MT"/>
                <a:cs typeface="Arial MT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lang="en-IN" sz="2250" b="1" dirty="0">
                <a:latin typeface="Arial"/>
                <a:cs typeface="Arial"/>
              </a:rPr>
              <a:t>public</a:t>
            </a:r>
            <a:r>
              <a:rPr lang="en-IN" sz="2250" b="1" spc="-20" dirty="0">
                <a:latin typeface="Arial"/>
                <a:cs typeface="Arial"/>
              </a:rPr>
              <a:t> </a:t>
            </a:r>
            <a:r>
              <a:rPr lang="en-IN" sz="2250" b="1" dirty="0">
                <a:latin typeface="Arial"/>
                <a:cs typeface="Arial"/>
              </a:rPr>
              <a:t>static</a:t>
            </a:r>
            <a:r>
              <a:rPr lang="en-IN" sz="2250" b="1" spc="-35" dirty="0">
                <a:latin typeface="Arial"/>
                <a:cs typeface="Arial"/>
              </a:rPr>
              <a:t> </a:t>
            </a:r>
            <a:r>
              <a:rPr lang="en-IN" sz="2250" b="1" dirty="0">
                <a:latin typeface="Arial"/>
                <a:cs typeface="Arial"/>
              </a:rPr>
              <a:t>void</a:t>
            </a:r>
            <a:r>
              <a:rPr lang="en-IN" sz="2250" b="1" spc="-20" dirty="0">
                <a:latin typeface="Arial"/>
                <a:cs typeface="Arial"/>
              </a:rPr>
              <a:t> </a:t>
            </a:r>
            <a:r>
              <a:rPr lang="en-IN" sz="2250" dirty="0">
                <a:latin typeface="Arial MT"/>
                <a:cs typeface="Arial MT"/>
              </a:rPr>
              <a:t>main(String</a:t>
            </a:r>
            <a:r>
              <a:rPr lang="en-IN" sz="2250" spc="-35" dirty="0">
                <a:latin typeface="Arial MT"/>
                <a:cs typeface="Arial MT"/>
              </a:rPr>
              <a:t> </a:t>
            </a:r>
            <a:r>
              <a:rPr lang="en-IN" sz="2250" dirty="0" err="1">
                <a:latin typeface="Arial MT"/>
                <a:cs typeface="Arial MT"/>
              </a:rPr>
              <a:t>args</a:t>
            </a:r>
            <a:r>
              <a:rPr lang="en-IN" sz="2250" dirty="0">
                <a:latin typeface="Arial MT"/>
                <a:cs typeface="Arial MT"/>
              </a:rPr>
              <a:t>[]){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2755900" algn="l"/>
              </a:tabLst>
            </a:pPr>
            <a:r>
              <a:rPr lang="en-IN" sz="2250" dirty="0">
                <a:latin typeface="Arial MT"/>
                <a:cs typeface="Arial MT"/>
              </a:rPr>
              <a:t>String s1="java";	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//creating</a:t>
            </a:r>
            <a:r>
              <a:rPr lang="en-IN" sz="22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string</a:t>
            </a:r>
            <a:r>
              <a:rPr lang="en-IN" sz="225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spc="5" dirty="0">
                <a:solidFill>
                  <a:srgbClr val="FF0000"/>
                </a:solidFill>
                <a:latin typeface="Arial MT"/>
                <a:cs typeface="Arial MT"/>
              </a:rPr>
              <a:t>by</a:t>
            </a:r>
            <a:r>
              <a:rPr lang="en-IN" sz="22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Java</a:t>
            </a:r>
            <a:r>
              <a:rPr lang="en-IN" sz="22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string</a:t>
            </a:r>
            <a:r>
              <a:rPr lang="en-IN" sz="225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literal</a:t>
            </a:r>
            <a:endParaRPr lang="en-IN" sz="22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lang="en-IN" sz="2250" b="1" dirty="0">
                <a:latin typeface="Arial"/>
                <a:cs typeface="Arial"/>
              </a:rPr>
              <a:t>char</a:t>
            </a:r>
            <a:r>
              <a:rPr lang="en-IN" sz="2250" b="1" spc="-15" dirty="0">
                <a:latin typeface="Arial"/>
                <a:cs typeface="Arial"/>
              </a:rPr>
              <a:t> </a:t>
            </a:r>
            <a:r>
              <a:rPr lang="en-IN" sz="2250" spc="-5" dirty="0" err="1">
                <a:latin typeface="Arial MT"/>
                <a:cs typeface="Arial MT"/>
              </a:rPr>
              <a:t>ch</a:t>
            </a:r>
            <a:r>
              <a:rPr lang="en-IN" sz="2250" spc="-5" dirty="0">
                <a:latin typeface="Arial MT"/>
                <a:cs typeface="Arial MT"/>
              </a:rPr>
              <a:t>[]={'s','t','r','</a:t>
            </a:r>
            <a:r>
              <a:rPr lang="en-IN" sz="2250" spc="-5" dirty="0" err="1">
                <a:latin typeface="Arial MT"/>
                <a:cs typeface="Arial MT"/>
              </a:rPr>
              <a:t>i</a:t>
            </a:r>
            <a:r>
              <a:rPr lang="en-IN" sz="2250" spc="-5" dirty="0">
                <a:latin typeface="Arial MT"/>
                <a:cs typeface="Arial MT"/>
              </a:rPr>
              <a:t>','</a:t>
            </a:r>
            <a:r>
              <a:rPr lang="en-IN" sz="2250" spc="-5" dirty="0" err="1">
                <a:latin typeface="Arial MT"/>
                <a:cs typeface="Arial MT"/>
              </a:rPr>
              <a:t>n','g','s</a:t>
            </a:r>
            <a:r>
              <a:rPr lang="en-IN" sz="2250" spc="-5" dirty="0">
                <a:latin typeface="Arial MT"/>
                <a:cs typeface="Arial MT"/>
              </a:rPr>
              <a:t>'};</a:t>
            </a:r>
            <a:endParaRPr lang="en-IN" sz="22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3670300" algn="l"/>
              </a:tabLst>
            </a:pPr>
            <a:r>
              <a:rPr lang="en-IN" sz="2250" dirty="0">
                <a:latin typeface="Arial MT"/>
                <a:cs typeface="Arial MT"/>
              </a:rPr>
              <a:t>String</a:t>
            </a:r>
            <a:r>
              <a:rPr lang="en-IN" sz="2250" spc="-5" dirty="0">
                <a:latin typeface="Arial MT"/>
                <a:cs typeface="Arial MT"/>
              </a:rPr>
              <a:t> </a:t>
            </a:r>
            <a:r>
              <a:rPr lang="en-IN" sz="2250" dirty="0">
                <a:latin typeface="Arial MT"/>
                <a:cs typeface="Arial MT"/>
              </a:rPr>
              <a:t>s2=</a:t>
            </a:r>
            <a:r>
              <a:rPr lang="en-IN" sz="2250" b="1" dirty="0">
                <a:latin typeface="Arial"/>
                <a:cs typeface="Arial"/>
              </a:rPr>
              <a:t>new</a:t>
            </a:r>
            <a:r>
              <a:rPr lang="en-IN" sz="2250" b="1" spc="-10" dirty="0">
                <a:latin typeface="Arial"/>
                <a:cs typeface="Arial"/>
              </a:rPr>
              <a:t> </a:t>
            </a:r>
            <a:r>
              <a:rPr lang="en-IN" sz="2250" dirty="0">
                <a:latin typeface="Arial MT"/>
                <a:cs typeface="Arial MT"/>
              </a:rPr>
              <a:t>String(</a:t>
            </a:r>
            <a:r>
              <a:rPr lang="en-IN" sz="2250" dirty="0" err="1">
                <a:latin typeface="Arial MT"/>
                <a:cs typeface="Arial MT"/>
              </a:rPr>
              <a:t>ch</a:t>
            </a:r>
            <a:r>
              <a:rPr lang="en-IN" sz="2250" dirty="0">
                <a:latin typeface="Arial MT"/>
                <a:cs typeface="Arial MT"/>
              </a:rPr>
              <a:t>);	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//converting</a:t>
            </a:r>
            <a:r>
              <a:rPr lang="en-IN" sz="22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char</a:t>
            </a:r>
            <a:r>
              <a:rPr lang="en-IN" sz="225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spc="5" dirty="0">
                <a:solidFill>
                  <a:srgbClr val="FF0000"/>
                </a:solidFill>
                <a:latin typeface="Arial MT"/>
                <a:cs typeface="Arial MT"/>
              </a:rPr>
              <a:t>array</a:t>
            </a:r>
            <a:r>
              <a:rPr lang="en-IN" sz="22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lang="en-IN" sz="225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string</a:t>
            </a:r>
            <a:endParaRPr lang="en-IN" sz="225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40"/>
              </a:spcBef>
            </a:pPr>
            <a:r>
              <a:rPr lang="en-IN" sz="2250" dirty="0">
                <a:latin typeface="Arial MT"/>
                <a:cs typeface="Arial MT"/>
              </a:rPr>
              <a:t>String</a:t>
            </a:r>
            <a:r>
              <a:rPr lang="en-IN" sz="2250" spc="-20" dirty="0">
                <a:latin typeface="Arial MT"/>
                <a:cs typeface="Arial MT"/>
              </a:rPr>
              <a:t> </a:t>
            </a:r>
            <a:r>
              <a:rPr lang="en-IN" sz="2250" dirty="0">
                <a:latin typeface="Arial MT"/>
                <a:cs typeface="Arial MT"/>
              </a:rPr>
              <a:t>s3=</a:t>
            </a:r>
            <a:r>
              <a:rPr lang="en-IN" sz="2250" b="1" dirty="0">
                <a:latin typeface="Arial"/>
                <a:cs typeface="Arial"/>
              </a:rPr>
              <a:t>new</a:t>
            </a:r>
            <a:r>
              <a:rPr lang="en-IN" sz="2250" b="1" spc="-25" dirty="0">
                <a:latin typeface="Arial"/>
                <a:cs typeface="Arial"/>
              </a:rPr>
              <a:t> </a:t>
            </a:r>
            <a:r>
              <a:rPr lang="en-IN" sz="2250" dirty="0">
                <a:latin typeface="Arial MT"/>
                <a:cs typeface="Arial MT"/>
              </a:rPr>
              <a:t>String("example");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//creating</a:t>
            </a:r>
            <a:r>
              <a:rPr lang="en-IN" sz="22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Java</a:t>
            </a:r>
            <a:r>
              <a:rPr lang="en-IN" sz="225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string</a:t>
            </a:r>
            <a:r>
              <a:rPr lang="en-IN" sz="225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spc="5" dirty="0">
                <a:solidFill>
                  <a:srgbClr val="FF0000"/>
                </a:solidFill>
                <a:latin typeface="Arial MT"/>
                <a:cs typeface="Arial MT"/>
              </a:rPr>
              <a:t>by</a:t>
            </a:r>
            <a:r>
              <a:rPr lang="en-IN" sz="225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spc="5" dirty="0">
                <a:solidFill>
                  <a:srgbClr val="FF0000"/>
                </a:solidFill>
                <a:latin typeface="Arial MT"/>
                <a:cs typeface="Arial MT"/>
              </a:rPr>
              <a:t>new </a:t>
            </a:r>
            <a:r>
              <a:rPr lang="en-IN" sz="2250" spc="-6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IN" sz="2250" dirty="0">
                <a:solidFill>
                  <a:srgbClr val="FF0000"/>
                </a:solidFill>
                <a:latin typeface="Arial MT"/>
                <a:cs typeface="Arial MT"/>
              </a:rPr>
              <a:t>keyword</a:t>
            </a:r>
            <a:endParaRPr lang="en-IN" sz="2250" dirty="0">
              <a:latin typeface="Arial MT"/>
              <a:cs typeface="Arial MT"/>
            </a:endParaRPr>
          </a:p>
          <a:p>
            <a:pPr marL="12700" marR="4993640">
              <a:lnSpc>
                <a:spcPct val="120000"/>
              </a:lnSpc>
            </a:pPr>
            <a:r>
              <a:rPr lang="en-IN" sz="2250" dirty="0" err="1">
                <a:latin typeface="Arial MT"/>
                <a:cs typeface="Arial MT"/>
              </a:rPr>
              <a:t>Sys</a:t>
            </a:r>
            <a:r>
              <a:rPr lang="en-IN" sz="2250" spc="-10" dirty="0" err="1">
                <a:latin typeface="Arial MT"/>
                <a:cs typeface="Arial MT"/>
              </a:rPr>
              <a:t>t</a:t>
            </a:r>
            <a:r>
              <a:rPr lang="en-IN" sz="2250" dirty="0" err="1">
                <a:latin typeface="Arial MT"/>
                <a:cs typeface="Arial MT"/>
              </a:rPr>
              <a:t>e</a:t>
            </a:r>
            <a:r>
              <a:rPr lang="en-IN" sz="2250" spc="5" dirty="0" err="1">
                <a:latin typeface="Arial MT"/>
                <a:cs typeface="Arial MT"/>
              </a:rPr>
              <a:t>m</a:t>
            </a:r>
            <a:r>
              <a:rPr lang="en-IN" sz="2250" dirty="0" err="1">
                <a:latin typeface="Arial MT"/>
                <a:cs typeface="Arial MT"/>
              </a:rPr>
              <a:t>.ou</a:t>
            </a:r>
            <a:r>
              <a:rPr lang="en-IN" sz="2250" spc="-10" dirty="0" err="1">
                <a:latin typeface="Arial MT"/>
                <a:cs typeface="Arial MT"/>
              </a:rPr>
              <a:t>t</a:t>
            </a:r>
            <a:r>
              <a:rPr lang="en-IN" sz="2250" dirty="0" err="1">
                <a:latin typeface="Arial MT"/>
                <a:cs typeface="Arial MT"/>
              </a:rPr>
              <a:t>.pri</a:t>
            </a:r>
            <a:r>
              <a:rPr lang="en-IN" sz="2250" spc="-10" dirty="0" err="1">
                <a:latin typeface="Arial MT"/>
                <a:cs typeface="Arial MT"/>
              </a:rPr>
              <a:t>n</a:t>
            </a:r>
            <a:r>
              <a:rPr lang="en-IN" sz="2250" dirty="0" err="1">
                <a:latin typeface="Arial MT"/>
                <a:cs typeface="Arial MT"/>
              </a:rPr>
              <a:t>tl</a:t>
            </a:r>
            <a:r>
              <a:rPr lang="en-IN" sz="2250" spc="-5" dirty="0" err="1">
                <a:latin typeface="Arial MT"/>
                <a:cs typeface="Arial MT"/>
              </a:rPr>
              <a:t>n</a:t>
            </a:r>
            <a:r>
              <a:rPr lang="en-IN" sz="2250" dirty="0">
                <a:latin typeface="Arial MT"/>
                <a:cs typeface="Arial MT"/>
              </a:rPr>
              <a:t>(</a:t>
            </a:r>
            <a:r>
              <a:rPr lang="en-IN" sz="2250" spc="-10" dirty="0">
                <a:latin typeface="Arial MT"/>
                <a:cs typeface="Arial MT"/>
              </a:rPr>
              <a:t>s</a:t>
            </a:r>
            <a:r>
              <a:rPr lang="en-IN" sz="2250" dirty="0">
                <a:latin typeface="Arial MT"/>
                <a:cs typeface="Arial MT"/>
              </a:rPr>
              <a:t>1);  </a:t>
            </a:r>
            <a:r>
              <a:rPr lang="en-IN" sz="2250" dirty="0" err="1">
                <a:latin typeface="Arial MT"/>
                <a:cs typeface="Arial MT"/>
              </a:rPr>
              <a:t>Sys</a:t>
            </a:r>
            <a:r>
              <a:rPr lang="en-IN" sz="2250" spc="-10" dirty="0" err="1">
                <a:latin typeface="Arial MT"/>
                <a:cs typeface="Arial MT"/>
              </a:rPr>
              <a:t>t</a:t>
            </a:r>
            <a:r>
              <a:rPr lang="en-IN" sz="2250" dirty="0" err="1">
                <a:latin typeface="Arial MT"/>
                <a:cs typeface="Arial MT"/>
              </a:rPr>
              <a:t>e</a:t>
            </a:r>
            <a:r>
              <a:rPr lang="en-IN" sz="2250" spc="5" dirty="0" err="1">
                <a:latin typeface="Arial MT"/>
                <a:cs typeface="Arial MT"/>
              </a:rPr>
              <a:t>m</a:t>
            </a:r>
            <a:r>
              <a:rPr lang="en-IN" sz="2250" dirty="0" err="1">
                <a:latin typeface="Arial MT"/>
                <a:cs typeface="Arial MT"/>
              </a:rPr>
              <a:t>.ou</a:t>
            </a:r>
            <a:r>
              <a:rPr lang="en-IN" sz="2250" spc="-10" dirty="0" err="1">
                <a:latin typeface="Arial MT"/>
                <a:cs typeface="Arial MT"/>
              </a:rPr>
              <a:t>t</a:t>
            </a:r>
            <a:r>
              <a:rPr lang="en-IN" sz="2250" dirty="0" err="1">
                <a:latin typeface="Arial MT"/>
                <a:cs typeface="Arial MT"/>
              </a:rPr>
              <a:t>.pri</a:t>
            </a:r>
            <a:r>
              <a:rPr lang="en-IN" sz="2250" spc="-10" dirty="0" err="1">
                <a:latin typeface="Arial MT"/>
                <a:cs typeface="Arial MT"/>
              </a:rPr>
              <a:t>n</a:t>
            </a:r>
            <a:r>
              <a:rPr lang="en-IN" sz="2250" dirty="0" err="1">
                <a:latin typeface="Arial MT"/>
                <a:cs typeface="Arial MT"/>
              </a:rPr>
              <a:t>tl</a:t>
            </a:r>
            <a:r>
              <a:rPr lang="en-IN" sz="2250" spc="-5" dirty="0" err="1">
                <a:latin typeface="Arial MT"/>
                <a:cs typeface="Arial MT"/>
              </a:rPr>
              <a:t>n</a:t>
            </a:r>
            <a:r>
              <a:rPr lang="en-IN" sz="2250" dirty="0">
                <a:latin typeface="Arial MT"/>
                <a:cs typeface="Arial MT"/>
              </a:rPr>
              <a:t>(</a:t>
            </a:r>
            <a:r>
              <a:rPr lang="en-IN" sz="2250" spc="-10" dirty="0">
                <a:latin typeface="Arial MT"/>
                <a:cs typeface="Arial MT"/>
              </a:rPr>
              <a:t>s</a:t>
            </a:r>
            <a:r>
              <a:rPr lang="en-IN" sz="2250" dirty="0">
                <a:latin typeface="Arial MT"/>
                <a:cs typeface="Arial MT"/>
              </a:rPr>
              <a:t>2);</a:t>
            </a: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lang="en-IN" sz="2250" dirty="0" err="1">
                <a:latin typeface="Arial MT"/>
                <a:cs typeface="Arial MT"/>
              </a:rPr>
              <a:t>System.out.println</a:t>
            </a:r>
            <a:r>
              <a:rPr lang="en-IN" sz="2250" dirty="0">
                <a:latin typeface="Arial MT"/>
                <a:cs typeface="Arial MT"/>
              </a:rPr>
              <a:t>(s3);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lang="en-IN" sz="2250" dirty="0">
                <a:latin typeface="Arial MT"/>
                <a:cs typeface="Arial MT"/>
              </a:rPr>
              <a:t>}}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206502"/>
            <a:ext cx="6932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String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Literal</a:t>
            </a:r>
            <a:r>
              <a:rPr sz="36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sz="36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String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str</a:t>
            </a:r>
            <a:r>
              <a:rPr sz="36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3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“Hello”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540" y="1651507"/>
            <a:ext cx="43980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How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it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working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backend?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45177" y="2214752"/>
            <a:ext cx="3543300" cy="3733800"/>
          </a:xfrm>
          <a:custGeom>
            <a:avLst/>
            <a:gdLst/>
            <a:ahLst/>
            <a:cxnLst/>
            <a:rect l="l" t="t" r="r" b="b"/>
            <a:pathLst>
              <a:path w="3543300" h="3733800">
                <a:moveTo>
                  <a:pt x="0" y="1866900"/>
                </a:moveTo>
                <a:lnTo>
                  <a:pt x="616" y="1817162"/>
                </a:lnTo>
                <a:lnTo>
                  <a:pt x="2455" y="1767746"/>
                </a:lnTo>
                <a:lnTo>
                  <a:pt x="5501" y="1718666"/>
                </a:lnTo>
                <a:lnTo>
                  <a:pt x="9740" y="1669940"/>
                </a:lnTo>
                <a:lnTo>
                  <a:pt x="15155" y="1621584"/>
                </a:lnTo>
                <a:lnTo>
                  <a:pt x="21732" y="1573612"/>
                </a:lnTo>
                <a:lnTo>
                  <a:pt x="29455" y="1526043"/>
                </a:lnTo>
                <a:lnTo>
                  <a:pt x="38308" y="1478891"/>
                </a:lnTo>
                <a:lnTo>
                  <a:pt x="48278" y="1432173"/>
                </a:lnTo>
                <a:lnTo>
                  <a:pt x="59347" y="1385905"/>
                </a:lnTo>
                <a:lnTo>
                  <a:pt x="71502" y="1340103"/>
                </a:lnTo>
                <a:lnTo>
                  <a:pt x="84726" y="1294784"/>
                </a:lnTo>
                <a:lnTo>
                  <a:pt x="99005" y="1249962"/>
                </a:lnTo>
                <a:lnTo>
                  <a:pt x="114322" y="1205656"/>
                </a:lnTo>
                <a:lnTo>
                  <a:pt x="130664" y="1161880"/>
                </a:lnTo>
                <a:lnTo>
                  <a:pt x="148013" y="1118650"/>
                </a:lnTo>
                <a:lnTo>
                  <a:pt x="166356" y="1075984"/>
                </a:lnTo>
                <a:lnTo>
                  <a:pt x="185677" y="1033896"/>
                </a:lnTo>
                <a:lnTo>
                  <a:pt x="205961" y="992404"/>
                </a:lnTo>
                <a:lnTo>
                  <a:pt x="227191" y="951523"/>
                </a:lnTo>
                <a:lnTo>
                  <a:pt x="249354" y="911269"/>
                </a:lnTo>
                <a:lnTo>
                  <a:pt x="272433" y="871658"/>
                </a:lnTo>
                <a:lnTo>
                  <a:pt x="296414" y="832708"/>
                </a:lnTo>
                <a:lnTo>
                  <a:pt x="321281" y="794433"/>
                </a:lnTo>
                <a:lnTo>
                  <a:pt x="347019" y="756849"/>
                </a:lnTo>
                <a:lnTo>
                  <a:pt x="373612" y="719974"/>
                </a:lnTo>
                <a:lnTo>
                  <a:pt x="401045" y="683823"/>
                </a:lnTo>
                <a:lnTo>
                  <a:pt x="429303" y="648412"/>
                </a:lnTo>
                <a:lnTo>
                  <a:pt x="458371" y="613758"/>
                </a:lnTo>
                <a:lnTo>
                  <a:pt x="488233" y="579876"/>
                </a:lnTo>
                <a:lnTo>
                  <a:pt x="518874" y="546782"/>
                </a:lnTo>
                <a:lnTo>
                  <a:pt x="550279" y="514493"/>
                </a:lnTo>
                <a:lnTo>
                  <a:pt x="582432" y="483025"/>
                </a:lnTo>
                <a:lnTo>
                  <a:pt x="615318" y="452395"/>
                </a:lnTo>
                <a:lnTo>
                  <a:pt x="648922" y="422617"/>
                </a:lnTo>
                <a:lnTo>
                  <a:pt x="683228" y="393708"/>
                </a:lnTo>
                <a:lnTo>
                  <a:pt x="718222" y="365685"/>
                </a:lnTo>
                <a:lnTo>
                  <a:pt x="753887" y="338563"/>
                </a:lnTo>
                <a:lnTo>
                  <a:pt x="790209" y="312359"/>
                </a:lnTo>
                <a:lnTo>
                  <a:pt x="827173" y="287088"/>
                </a:lnTo>
                <a:lnTo>
                  <a:pt x="864762" y="262767"/>
                </a:lnTo>
                <a:lnTo>
                  <a:pt x="902962" y="239413"/>
                </a:lnTo>
                <a:lnTo>
                  <a:pt x="941758" y="217040"/>
                </a:lnTo>
                <a:lnTo>
                  <a:pt x="981133" y="195666"/>
                </a:lnTo>
                <a:lnTo>
                  <a:pt x="1021074" y="175305"/>
                </a:lnTo>
                <a:lnTo>
                  <a:pt x="1061564" y="155976"/>
                </a:lnTo>
                <a:lnTo>
                  <a:pt x="1102588" y="137693"/>
                </a:lnTo>
                <a:lnTo>
                  <a:pt x="1144131" y="120472"/>
                </a:lnTo>
                <a:lnTo>
                  <a:pt x="1186177" y="104331"/>
                </a:lnTo>
                <a:lnTo>
                  <a:pt x="1228712" y="89284"/>
                </a:lnTo>
                <a:lnTo>
                  <a:pt x="1271720" y="75348"/>
                </a:lnTo>
                <a:lnTo>
                  <a:pt x="1315186" y="62540"/>
                </a:lnTo>
                <a:lnTo>
                  <a:pt x="1359094" y="50875"/>
                </a:lnTo>
                <a:lnTo>
                  <a:pt x="1403429" y="40369"/>
                </a:lnTo>
                <a:lnTo>
                  <a:pt x="1448176" y="31039"/>
                </a:lnTo>
                <a:lnTo>
                  <a:pt x="1493319" y="22901"/>
                </a:lnTo>
                <a:lnTo>
                  <a:pt x="1538844" y="15971"/>
                </a:lnTo>
                <a:lnTo>
                  <a:pt x="1584734" y="10264"/>
                </a:lnTo>
                <a:lnTo>
                  <a:pt x="1630975" y="5797"/>
                </a:lnTo>
                <a:lnTo>
                  <a:pt x="1677552" y="2587"/>
                </a:lnTo>
                <a:lnTo>
                  <a:pt x="1724448" y="649"/>
                </a:lnTo>
                <a:lnTo>
                  <a:pt x="1771650" y="0"/>
                </a:lnTo>
                <a:lnTo>
                  <a:pt x="1818845" y="649"/>
                </a:lnTo>
                <a:lnTo>
                  <a:pt x="1865736" y="2587"/>
                </a:lnTo>
                <a:lnTo>
                  <a:pt x="1912307" y="5797"/>
                </a:lnTo>
                <a:lnTo>
                  <a:pt x="1958543" y="10264"/>
                </a:lnTo>
                <a:lnTo>
                  <a:pt x="2004429" y="15971"/>
                </a:lnTo>
                <a:lnTo>
                  <a:pt x="2049950" y="22901"/>
                </a:lnTo>
                <a:lnTo>
                  <a:pt x="2095090" y="31039"/>
                </a:lnTo>
                <a:lnTo>
                  <a:pt x="2139833" y="40369"/>
                </a:lnTo>
                <a:lnTo>
                  <a:pt x="2184165" y="50875"/>
                </a:lnTo>
                <a:lnTo>
                  <a:pt x="2228070" y="62540"/>
                </a:lnTo>
                <a:lnTo>
                  <a:pt x="2271533" y="75348"/>
                </a:lnTo>
                <a:lnTo>
                  <a:pt x="2314539" y="89284"/>
                </a:lnTo>
                <a:lnTo>
                  <a:pt x="2357072" y="104331"/>
                </a:lnTo>
                <a:lnTo>
                  <a:pt x="2399117" y="120472"/>
                </a:lnTo>
                <a:lnTo>
                  <a:pt x="2440658" y="137693"/>
                </a:lnTo>
                <a:lnTo>
                  <a:pt x="2481681" y="155976"/>
                </a:lnTo>
                <a:lnTo>
                  <a:pt x="2522170" y="175305"/>
                </a:lnTo>
                <a:lnTo>
                  <a:pt x="2562110" y="195666"/>
                </a:lnTo>
                <a:lnTo>
                  <a:pt x="2601485" y="217040"/>
                </a:lnTo>
                <a:lnTo>
                  <a:pt x="2640280" y="239413"/>
                </a:lnTo>
                <a:lnTo>
                  <a:pt x="2678480" y="262767"/>
                </a:lnTo>
                <a:lnTo>
                  <a:pt x="2716070" y="287088"/>
                </a:lnTo>
                <a:lnTo>
                  <a:pt x="2753034" y="312359"/>
                </a:lnTo>
                <a:lnTo>
                  <a:pt x="2789356" y="338563"/>
                </a:lnTo>
                <a:lnTo>
                  <a:pt x="2825023" y="365685"/>
                </a:lnTo>
                <a:lnTo>
                  <a:pt x="2860017" y="393708"/>
                </a:lnTo>
                <a:lnTo>
                  <a:pt x="2894324" y="422617"/>
                </a:lnTo>
                <a:lnTo>
                  <a:pt x="2927929" y="452395"/>
                </a:lnTo>
                <a:lnTo>
                  <a:pt x="2960817" y="483025"/>
                </a:lnTo>
                <a:lnTo>
                  <a:pt x="2992971" y="514493"/>
                </a:lnTo>
                <a:lnTo>
                  <a:pt x="3024377" y="546782"/>
                </a:lnTo>
                <a:lnTo>
                  <a:pt x="3055020" y="579876"/>
                </a:lnTo>
                <a:lnTo>
                  <a:pt x="3084884" y="613758"/>
                </a:lnTo>
                <a:lnTo>
                  <a:pt x="3113953" y="648412"/>
                </a:lnTo>
                <a:lnTo>
                  <a:pt x="3142213" y="683823"/>
                </a:lnTo>
                <a:lnTo>
                  <a:pt x="3169648" y="719974"/>
                </a:lnTo>
                <a:lnTo>
                  <a:pt x="3196243" y="756849"/>
                </a:lnTo>
                <a:lnTo>
                  <a:pt x="3221983" y="794433"/>
                </a:lnTo>
                <a:lnTo>
                  <a:pt x="3246852" y="832708"/>
                </a:lnTo>
                <a:lnTo>
                  <a:pt x="3270835" y="871658"/>
                </a:lnTo>
                <a:lnTo>
                  <a:pt x="3293916" y="911269"/>
                </a:lnTo>
                <a:lnTo>
                  <a:pt x="3316081" y="951523"/>
                </a:lnTo>
                <a:lnTo>
                  <a:pt x="3337313" y="992404"/>
                </a:lnTo>
                <a:lnTo>
                  <a:pt x="3357599" y="1033896"/>
                </a:lnTo>
                <a:lnTo>
                  <a:pt x="3376922" y="1075984"/>
                </a:lnTo>
                <a:lnTo>
                  <a:pt x="3395267" y="1118650"/>
                </a:lnTo>
                <a:lnTo>
                  <a:pt x="3412619" y="1161880"/>
                </a:lnTo>
                <a:lnTo>
                  <a:pt x="3428962" y="1205656"/>
                </a:lnTo>
                <a:lnTo>
                  <a:pt x="3444281" y="1249962"/>
                </a:lnTo>
                <a:lnTo>
                  <a:pt x="3458561" y="1294784"/>
                </a:lnTo>
                <a:lnTo>
                  <a:pt x="3471787" y="1340103"/>
                </a:lnTo>
                <a:lnTo>
                  <a:pt x="3483943" y="1385905"/>
                </a:lnTo>
                <a:lnTo>
                  <a:pt x="3495014" y="1432173"/>
                </a:lnTo>
                <a:lnTo>
                  <a:pt x="3504985" y="1478891"/>
                </a:lnTo>
                <a:lnTo>
                  <a:pt x="3513840" y="1526043"/>
                </a:lnTo>
                <a:lnTo>
                  <a:pt x="3521564" y="1573612"/>
                </a:lnTo>
                <a:lnTo>
                  <a:pt x="3528142" y="1621584"/>
                </a:lnTo>
                <a:lnTo>
                  <a:pt x="3533558" y="1669940"/>
                </a:lnTo>
                <a:lnTo>
                  <a:pt x="3537797" y="1718666"/>
                </a:lnTo>
                <a:lnTo>
                  <a:pt x="3540844" y="1767746"/>
                </a:lnTo>
                <a:lnTo>
                  <a:pt x="3542683" y="1817162"/>
                </a:lnTo>
                <a:lnTo>
                  <a:pt x="3543300" y="1866900"/>
                </a:lnTo>
                <a:lnTo>
                  <a:pt x="3542683" y="1916637"/>
                </a:lnTo>
                <a:lnTo>
                  <a:pt x="3540844" y="1966053"/>
                </a:lnTo>
                <a:lnTo>
                  <a:pt x="3537797" y="2015133"/>
                </a:lnTo>
                <a:lnTo>
                  <a:pt x="3533558" y="2063859"/>
                </a:lnTo>
                <a:lnTo>
                  <a:pt x="3528142" y="2112215"/>
                </a:lnTo>
                <a:lnTo>
                  <a:pt x="3521564" y="2160186"/>
                </a:lnTo>
                <a:lnTo>
                  <a:pt x="3513840" y="2207756"/>
                </a:lnTo>
                <a:lnTo>
                  <a:pt x="3504985" y="2254907"/>
                </a:lnTo>
                <a:lnTo>
                  <a:pt x="3495014" y="2301625"/>
                </a:lnTo>
                <a:lnTo>
                  <a:pt x="3483943" y="2347893"/>
                </a:lnTo>
                <a:lnTo>
                  <a:pt x="3471787" y="2393695"/>
                </a:lnTo>
                <a:lnTo>
                  <a:pt x="3458561" y="2439014"/>
                </a:lnTo>
                <a:lnTo>
                  <a:pt x="3444281" y="2483835"/>
                </a:lnTo>
                <a:lnTo>
                  <a:pt x="3428962" y="2528142"/>
                </a:lnTo>
                <a:lnTo>
                  <a:pt x="3412619" y="2571918"/>
                </a:lnTo>
                <a:lnTo>
                  <a:pt x="3395267" y="2615147"/>
                </a:lnTo>
                <a:lnTo>
                  <a:pt x="3376922" y="2657813"/>
                </a:lnTo>
                <a:lnTo>
                  <a:pt x="3357599" y="2699900"/>
                </a:lnTo>
                <a:lnTo>
                  <a:pt x="3337313" y="2741392"/>
                </a:lnTo>
                <a:lnTo>
                  <a:pt x="3316081" y="2782273"/>
                </a:lnTo>
                <a:lnTo>
                  <a:pt x="3293916" y="2822527"/>
                </a:lnTo>
                <a:lnTo>
                  <a:pt x="3270835" y="2862137"/>
                </a:lnTo>
                <a:lnTo>
                  <a:pt x="3246852" y="2901087"/>
                </a:lnTo>
                <a:lnTo>
                  <a:pt x="3221983" y="2939362"/>
                </a:lnTo>
                <a:lnTo>
                  <a:pt x="3196243" y="2976945"/>
                </a:lnTo>
                <a:lnTo>
                  <a:pt x="3169648" y="3013820"/>
                </a:lnTo>
                <a:lnTo>
                  <a:pt x="3142213" y="3049971"/>
                </a:lnTo>
                <a:lnTo>
                  <a:pt x="3113953" y="3085381"/>
                </a:lnTo>
                <a:lnTo>
                  <a:pt x="3084884" y="3120036"/>
                </a:lnTo>
                <a:lnTo>
                  <a:pt x="3055020" y="3153917"/>
                </a:lnTo>
                <a:lnTo>
                  <a:pt x="3024378" y="3187011"/>
                </a:lnTo>
                <a:lnTo>
                  <a:pt x="2992971" y="3219299"/>
                </a:lnTo>
                <a:lnTo>
                  <a:pt x="2960817" y="3250767"/>
                </a:lnTo>
                <a:lnTo>
                  <a:pt x="2927929" y="3281397"/>
                </a:lnTo>
                <a:lnTo>
                  <a:pt x="2894324" y="3311175"/>
                </a:lnTo>
                <a:lnTo>
                  <a:pt x="2860017" y="3340083"/>
                </a:lnTo>
                <a:lnTo>
                  <a:pt x="2825023" y="3368106"/>
                </a:lnTo>
                <a:lnTo>
                  <a:pt x="2789356" y="3395228"/>
                </a:lnTo>
                <a:lnTo>
                  <a:pt x="2753034" y="3421432"/>
                </a:lnTo>
                <a:lnTo>
                  <a:pt x="2716070" y="3446702"/>
                </a:lnTo>
                <a:lnTo>
                  <a:pt x="2678480" y="3471022"/>
                </a:lnTo>
                <a:lnTo>
                  <a:pt x="2640280" y="3494377"/>
                </a:lnTo>
                <a:lnTo>
                  <a:pt x="2601485" y="3516749"/>
                </a:lnTo>
                <a:lnTo>
                  <a:pt x="2562110" y="3538123"/>
                </a:lnTo>
                <a:lnTo>
                  <a:pt x="2522170" y="3558483"/>
                </a:lnTo>
                <a:lnTo>
                  <a:pt x="2481681" y="3577813"/>
                </a:lnTo>
                <a:lnTo>
                  <a:pt x="2440658" y="3596096"/>
                </a:lnTo>
                <a:lnTo>
                  <a:pt x="2399117" y="3613316"/>
                </a:lnTo>
                <a:lnTo>
                  <a:pt x="2357072" y="3629457"/>
                </a:lnTo>
                <a:lnTo>
                  <a:pt x="2314539" y="3644504"/>
                </a:lnTo>
                <a:lnTo>
                  <a:pt x="2271533" y="3658439"/>
                </a:lnTo>
                <a:lnTo>
                  <a:pt x="2228070" y="3671247"/>
                </a:lnTo>
                <a:lnTo>
                  <a:pt x="2184165" y="3682912"/>
                </a:lnTo>
                <a:lnTo>
                  <a:pt x="2139833" y="3693417"/>
                </a:lnTo>
                <a:lnTo>
                  <a:pt x="2095090" y="3702747"/>
                </a:lnTo>
                <a:lnTo>
                  <a:pt x="2049950" y="3710886"/>
                </a:lnTo>
                <a:lnTo>
                  <a:pt x="2004429" y="3717816"/>
                </a:lnTo>
                <a:lnTo>
                  <a:pt x="1958543" y="3723522"/>
                </a:lnTo>
                <a:lnTo>
                  <a:pt x="1912307" y="3727989"/>
                </a:lnTo>
                <a:lnTo>
                  <a:pt x="1865736" y="3731199"/>
                </a:lnTo>
                <a:lnTo>
                  <a:pt x="1818845" y="3733137"/>
                </a:lnTo>
                <a:lnTo>
                  <a:pt x="1771650" y="3733787"/>
                </a:lnTo>
                <a:lnTo>
                  <a:pt x="1724448" y="3733137"/>
                </a:lnTo>
                <a:lnTo>
                  <a:pt x="1677552" y="3731199"/>
                </a:lnTo>
                <a:lnTo>
                  <a:pt x="1630975" y="3727989"/>
                </a:lnTo>
                <a:lnTo>
                  <a:pt x="1584734" y="3723522"/>
                </a:lnTo>
                <a:lnTo>
                  <a:pt x="1538844" y="3717816"/>
                </a:lnTo>
                <a:lnTo>
                  <a:pt x="1493319" y="3710886"/>
                </a:lnTo>
                <a:lnTo>
                  <a:pt x="1448176" y="3702747"/>
                </a:lnTo>
                <a:lnTo>
                  <a:pt x="1403429" y="3693417"/>
                </a:lnTo>
                <a:lnTo>
                  <a:pt x="1359094" y="3682912"/>
                </a:lnTo>
                <a:lnTo>
                  <a:pt x="1315186" y="3671247"/>
                </a:lnTo>
                <a:lnTo>
                  <a:pt x="1271720" y="3658439"/>
                </a:lnTo>
                <a:lnTo>
                  <a:pt x="1228712" y="3644504"/>
                </a:lnTo>
                <a:lnTo>
                  <a:pt x="1186177" y="3629457"/>
                </a:lnTo>
                <a:lnTo>
                  <a:pt x="1144131" y="3613316"/>
                </a:lnTo>
                <a:lnTo>
                  <a:pt x="1102588" y="3596096"/>
                </a:lnTo>
                <a:lnTo>
                  <a:pt x="1061564" y="3577813"/>
                </a:lnTo>
                <a:lnTo>
                  <a:pt x="1021074" y="3558483"/>
                </a:lnTo>
                <a:lnTo>
                  <a:pt x="981133" y="3538123"/>
                </a:lnTo>
                <a:lnTo>
                  <a:pt x="941758" y="3516749"/>
                </a:lnTo>
                <a:lnTo>
                  <a:pt x="902962" y="3494377"/>
                </a:lnTo>
                <a:lnTo>
                  <a:pt x="864762" y="3471022"/>
                </a:lnTo>
                <a:lnTo>
                  <a:pt x="827173" y="3446702"/>
                </a:lnTo>
                <a:lnTo>
                  <a:pt x="790209" y="3421432"/>
                </a:lnTo>
                <a:lnTo>
                  <a:pt x="753887" y="3395228"/>
                </a:lnTo>
                <a:lnTo>
                  <a:pt x="718222" y="3368106"/>
                </a:lnTo>
                <a:lnTo>
                  <a:pt x="683228" y="3340083"/>
                </a:lnTo>
                <a:lnTo>
                  <a:pt x="648922" y="3311175"/>
                </a:lnTo>
                <a:lnTo>
                  <a:pt x="615318" y="3281397"/>
                </a:lnTo>
                <a:lnTo>
                  <a:pt x="582432" y="3250767"/>
                </a:lnTo>
                <a:lnTo>
                  <a:pt x="550279" y="3219299"/>
                </a:lnTo>
                <a:lnTo>
                  <a:pt x="518874" y="3187011"/>
                </a:lnTo>
                <a:lnTo>
                  <a:pt x="488233" y="3153917"/>
                </a:lnTo>
                <a:lnTo>
                  <a:pt x="458371" y="3120036"/>
                </a:lnTo>
                <a:lnTo>
                  <a:pt x="429303" y="3085381"/>
                </a:lnTo>
                <a:lnTo>
                  <a:pt x="401045" y="3049971"/>
                </a:lnTo>
                <a:lnTo>
                  <a:pt x="373612" y="3013820"/>
                </a:lnTo>
                <a:lnTo>
                  <a:pt x="347019" y="2976945"/>
                </a:lnTo>
                <a:lnTo>
                  <a:pt x="321281" y="2939362"/>
                </a:lnTo>
                <a:lnTo>
                  <a:pt x="296414" y="2901087"/>
                </a:lnTo>
                <a:lnTo>
                  <a:pt x="272433" y="2862137"/>
                </a:lnTo>
                <a:lnTo>
                  <a:pt x="249354" y="2822527"/>
                </a:lnTo>
                <a:lnTo>
                  <a:pt x="227191" y="2782273"/>
                </a:lnTo>
                <a:lnTo>
                  <a:pt x="205961" y="2741392"/>
                </a:lnTo>
                <a:lnTo>
                  <a:pt x="185677" y="2699900"/>
                </a:lnTo>
                <a:lnTo>
                  <a:pt x="166356" y="2657813"/>
                </a:lnTo>
                <a:lnTo>
                  <a:pt x="148013" y="2615147"/>
                </a:lnTo>
                <a:lnTo>
                  <a:pt x="130664" y="2571918"/>
                </a:lnTo>
                <a:lnTo>
                  <a:pt x="114322" y="2528142"/>
                </a:lnTo>
                <a:lnTo>
                  <a:pt x="99005" y="2483835"/>
                </a:lnTo>
                <a:lnTo>
                  <a:pt x="84726" y="2439014"/>
                </a:lnTo>
                <a:lnTo>
                  <a:pt x="71502" y="2393695"/>
                </a:lnTo>
                <a:lnTo>
                  <a:pt x="59347" y="2347893"/>
                </a:lnTo>
                <a:lnTo>
                  <a:pt x="48278" y="2301625"/>
                </a:lnTo>
                <a:lnTo>
                  <a:pt x="38308" y="2254907"/>
                </a:lnTo>
                <a:lnTo>
                  <a:pt x="29455" y="2207756"/>
                </a:lnTo>
                <a:lnTo>
                  <a:pt x="21732" y="2160186"/>
                </a:lnTo>
                <a:lnTo>
                  <a:pt x="15155" y="2112215"/>
                </a:lnTo>
                <a:lnTo>
                  <a:pt x="9740" y="2063859"/>
                </a:lnTo>
                <a:lnTo>
                  <a:pt x="5501" y="2015133"/>
                </a:lnTo>
                <a:lnTo>
                  <a:pt x="2455" y="1966053"/>
                </a:lnTo>
                <a:lnTo>
                  <a:pt x="616" y="1916637"/>
                </a:lnTo>
                <a:lnTo>
                  <a:pt x="0" y="1866900"/>
                </a:lnTo>
                <a:close/>
              </a:path>
            </a:pathLst>
          </a:custGeom>
          <a:ln w="25400">
            <a:solidFill>
              <a:srgbClr val="E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56990" y="2907804"/>
            <a:ext cx="845819" cy="43307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120"/>
              </a:spcBef>
            </a:pPr>
            <a:r>
              <a:rPr sz="2500" spc="-5" dirty="0">
                <a:latin typeface="Times New Roman"/>
                <a:cs typeface="Times New Roman"/>
              </a:rPr>
              <a:t>str</a:t>
            </a:r>
            <a:endParaRPr sz="25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969761" y="2887979"/>
          <a:ext cx="1281430" cy="1981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1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3759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Hello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8867" y="3012948"/>
            <a:ext cx="1441703" cy="23926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702175" y="3075432"/>
            <a:ext cx="1278890" cy="76200"/>
          </a:xfrm>
          <a:custGeom>
            <a:avLst/>
            <a:gdLst/>
            <a:ahLst/>
            <a:cxnLst/>
            <a:rect l="l" t="t" r="r" b="b"/>
            <a:pathLst>
              <a:path w="1278889" h="76200">
                <a:moveTo>
                  <a:pt x="1260204" y="28447"/>
                </a:moveTo>
                <a:lnTo>
                  <a:pt x="1215009" y="28447"/>
                </a:lnTo>
                <a:lnTo>
                  <a:pt x="1215136" y="47497"/>
                </a:lnTo>
                <a:lnTo>
                  <a:pt x="1202451" y="47609"/>
                </a:lnTo>
                <a:lnTo>
                  <a:pt x="1202689" y="76200"/>
                </a:lnTo>
                <a:lnTo>
                  <a:pt x="1278636" y="37464"/>
                </a:lnTo>
                <a:lnTo>
                  <a:pt x="1260204" y="28447"/>
                </a:lnTo>
                <a:close/>
              </a:path>
              <a:path w="1278889" h="76200">
                <a:moveTo>
                  <a:pt x="1202292" y="28559"/>
                </a:moveTo>
                <a:lnTo>
                  <a:pt x="0" y="39115"/>
                </a:lnTo>
                <a:lnTo>
                  <a:pt x="126" y="58165"/>
                </a:lnTo>
                <a:lnTo>
                  <a:pt x="1202451" y="47609"/>
                </a:lnTo>
                <a:lnTo>
                  <a:pt x="1202292" y="28559"/>
                </a:lnTo>
                <a:close/>
              </a:path>
              <a:path w="1278889" h="76200">
                <a:moveTo>
                  <a:pt x="1215009" y="28447"/>
                </a:moveTo>
                <a:lnTo>
                  <a:pt x="1202292" y="28559"/>
                </a:lnTo>
                <a:lnTo>
                  <a:pt x="1202451" y="47609"/>
                </a:lnTo>
                <a:lnTo>
                  <a:pt x="1215136" y="47497"/>
                </a:lnTo>
                <a:lnTo>
                  <a:pt x="1215009" y="28447"/>
                </a:lnTo>
                <a:close/>
              </a:path>
              <a:path w="1278889" h="76200">
                <a:moveTo>
                  <a:pt x="1202054" y="0"/>
                </a:moveTo>
                <a:lnTo>
                  <a:pt x="1202292" y="28559"/>
                </a:lnTo>
                <a:lnTo>
                  <a:pt x="1260204" y="28447"/>
                </a:lnTo>
                <a:lnTo>
                  <a:pt x="1202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7378" y="3594608"/>
            <a:ext cx="7431405" cy="276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03022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String </a:t>
            </a:r>
            <a:r>
              <a:rPr sz="2800" spc="-5" dirty="0">
                <a:latin typeface="Times New Roman"/>
                <a:cs typeface="Times New Roman"/>
              </a:rPr>
              <a:t>objects are </a:t>
            </a:r>
            <a:r>
              <a:rPr sz="2800" dirty="0">
                <a:latin typeface="Times New Roman"/>
                <a:cs typeface="Times New Roman"/>
              </a:rPr>
              <a:t>stored </a:t>
            </a:r>
            <a:r>
              <a:rPr sz="2800" spc="-5" dirty="0">
                <a:latin typeface="Times New Roman"/>
                <a:cs typeface="Times New Roman"/>
              </a:rPr>
              <a:t>in a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special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memory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area known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"string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constant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pool".</a:t>
            </a:r>
            <a:endParaRPr sz="2800">
              <a:latin typeface="Times New Roman"/>
              <a:cs typeface="Times New Roman"/>
            </a:endParaRPr>
          </a:p>
          <a:p>
            <a:pPr marL="5910580">
              <a:lnSpc>
                <a:spcPct val="100000"/>
              </a:lnSpc>
              <a:spcBef>
                <a:spcPts val="5"/>
              </a:spcBef>
            </a:pPr>
            <a:r>
              <a:rPr sz="2500" b="1" spc="-5" dirty="0">
                <a:latin typeface="Times New Roman"/>
                <a:cs typeface="Times New Roman"/>
              </a:rPr>
              <a:t>String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spc="-5" dirty="0">
                <a:latin typeface="Times New Roman"/>
                <a:cs typeface="Times New Roman"/>
              </a:rPr>
              <a:t>pool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R="506730" algn="r">
              <a:lnSpc>
                <a:spcPct val="100000"/>
              </a:lnSpc>
              <a:spcBef>
                <a:spcPts val="2400"/>
              </a:spcBef>
            </a:pPr>
            <a:r>
              <a:rPr sz="2500" b="1" spc="-5" dirty="0">
                <a:latin typeface="Times New Roman"/>
                <a:cs typeface="Times New Roman"/>
              </a:rPr>
              <a:t>Heap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97282"/>
            <a:ext cx="69316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String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Literal</a:t>
            </a:r>
            <a:r>
              <a:rPr sz="36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- 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String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str</a:t>
            </a:r>
            <a:r>
              <a:rPr sz="36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= 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“Hello”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230" y="859281"/>
            <a:ext cx="440182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How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it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working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 </a:t>
            </a:r>
            <a:r>
              <a:rPr sz="2500" spc="-5" dirty="0">
                <a:latin typeface="Times New Roman"/>
                <a:cs typeface="Times New Roman"/>
              </a:rPr>
              <a:t>backend?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str1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=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“Hello”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37148" y="2060829"/>
            <a:ext cx="3507104" cy="3734435"/>
          </a:xfrm>
          <a:custGeom>
            <a:avLst/>
            <a:gdLst/>
            <a:ahLst/>
            <a:cxnLst/>
            <a:rect l="l" t="t" r="r" b="b"/>
            <a:pathLst>
              <a:path w="3507104" h="3734435">
                <a:moveTo>
                  <a:pt x="0" y="1866900"/>
                </a:moveTo>
                <a:lnTo>
                  <a:pt x="616" y="1817168"/>
                </a:lnTo>
                <a:lnTo>
                  <a:pt x="2455" y="1767757"/>
                </a:lnTo>
                <a:lnTo>
                  <a:pt x="5502" y="1718683"/>
                </a:lnTo>
                <a:lnTo>
                  <a:pt x="9741" y="1669962"/>
                </a:lnTo>
                <a:lnTo>
                  <a:pt x="15157" y="1621610"/>
                </a:lnTo>
                <a:lnTo>
                  <a:pt x="21735" y="1573642"/>
                </a:lnTo>
                <a:lnTo>
                  <a:pt x="29459" y="1526077"/>
                </a:lnTo>
                <a:lnTo>
                  <a:pt x="38314" y="1478928"/>
                </a:lnTo>
                <a:lnTo>
                  <a:pt x="48285" y="1432213"/>
                </a:lnTo>
                <a:lnTo>
                  <a:pt x="59356" y="1385948"/>
                </a:lnTo>
                <a:lnTo>
                  <a:pt x="71512" y="1340149"/>
                </a:lnTo>
                <a:lnTo>
                  <a:pt x="84738" y="1294832"/>
                </a:lnTo>
                <a:lnTo>
                  <a:pt x="99018" y="1250012"/>
                </a:lnTo>
                <a:lnTo>
                  <a:pt x="114337" y="1205707"/>
                </a:lnTo>
                <a:lnTo>
                  <a:pt x="130680" y="1161933"/>
                </a:lnTo>
                <a:lnTo>
                  <a:pt x="148032" y="1118704"/>
                </a:lnTo>
                <a:lnTo>
                  <a:pt x="166377" y="1076039"/>
                </a:lnTo>
                <a:lnTo>
                  <a:pt x="185700" y="1033952"/>
                </a:lnTo>
                <a:lnTo>
                  <a:pt x="205986" y="992460"/>
                </a:lnTo>
                <a:lnTo>
                  <a:pt x="227218" y="951579"/>
                </a:lnTo>
                <a:lnTo>
                  <a:pt x="249383" y="911325"/>
                </a:lnTo>
                <a:lnTo>
                  <a:pt x="272464" y="871715"/>
                </a:lnTo>
                <a:lnTo>
                  <a:pt x="296447" y="832764"/>
                </a:lnTo>
                <a:lnTo>
                  <a:pt x="321316" y="794488"/>
                </a:lnTo>
                <a:lnTo>
                  <a:pt x="347056" y="756904"/>
                </a:lnTo>
                <a:lnTo>
                  <a:pt x="373651" y="720028"/>
                </a:lnTo>
                <a:lnTo>
                  <a:pt x="401086" y="683876"/>
                </a:lnTo>
                <a:lnTo>
                  <a:pt x="429346" y="648464"/>
                </a:lnTo>
                <a:lnTo>
                  <a:pt x="458415" y="613808"/>
                </a:lnTo>
                <a:lnTo>
                  <a:pt x="488279" y="579925"/>
                </a:lnTo>
                <a:lnTo>
                  <a:pt x="518921" y="546830"/>
                </a:lnTo>
                <a:lnTo>
                  <a:pt x="550328" y="514539"/>
                </a:lnTo>
                <a:lnTo>
                  <a:pt x="582482" y="483070"/>
                </a:lnTo>
                <a:lnTo>
                  <a:pt x="615370" y="452437"/>
                </a:lnTo>
                <a:lnTo>
                  <a:pt x="648975" y="422657"/>
                </a:lnTo>
                <a:lnTo>
                  <a:pt x="683282" y="393747"/>
                </a:lnTo>
                <a:lnTo>
                  <a:pt x="718276" y="365722"/>
                </a:lnTo>
                <a:lnTo>
                  <a:pt x="753943" y="338598"/>
                </a:lnTo>
                <a:lnTo>
                  <a:pt x="790265" y="312392"/>
                </a:lnTo>
                <a:lnTo>
                  <a:pt x="827229" y="287119"/>
                </a:lnTo>
                <a:lnTo>
                  <a:pt x="864819" y="262796"/>
                </a:lnTo>
                <a:lnTo>
                  <a:pt x="903019" y="239440"/>
                </a:lnTo>
                <a:lnTo>
                  <a:pt x="941814" y="217065"/>
                </a:lnTo>
                <a:lnTo>
                  <a:pt x="981189" y="195688"/>
                </a:lnTo>
                <a:lnTo>
                  <a:pt x="1021129" y="175326"/>
                </a:lnTo>
                <a:lnTo>
                  <a:pt x="1061618" y="155995"/>
                </a:lnTo>
                <a:lnTo>
                  <a:pt x="1102641" y="137710"/>
                </a:lnTo>
                <a:lnTo>
                  <a:pt x="1144182" y="120487"/>
                </a:lnTo>
                <a:lnTo>
                  <a:pt x="1186227" y="104344"/>
                </a:lnTo>
                <a:lnTo>
                  <a:pt x="1228760" y="89296"/>
                </a:lnTo>
                <a:lnTo>
                  <a:pt x="1271766" y="75358"/>
                </a:lnTo>
                <a:lnTo>
                  <a:pt x="1315229" y="62548"/>
                </a:lnTo>
                <a:lnTo>
                  <a:pt x="1359134" y="50882"/>
                </a:lnTo>
                <a:lnTo>
                  <a:pt x="1403466" y="40375"/>
                </a:lnTo>
                <a:lnTo>
                  <a:pt x="1448209" y="31044"/>
                </a:lnTo>
                <a:lnTo>
                  <a:pt x="1493349" y="22904"/>
                </a:lnTo>
                <a:lnTo>
                  <a:pt x="1538870" y="15973"/>
                </a:lnTo>
                <a:lnTo>
                  <a:pt x="1584756" y="10265"/>
                </a:lnTo>
                <a:lnTo>
                  <a:pt x="1630992" y="5798"/>
                </a:lnTo>
                <a:lnTo>
                  <a:pt x="1677563" y="2588"/>
                </a:lnTo>
                <a:lnTo>
                  <a:pt x="1724454" y="649"/>
                </a:lnTo>
                <a:lnTo>
                  <a:pt x="1771650" y="0"/>
                </a:lnTo>
                <a:lnTo>
                  <a:pt x="1818851" y="649"/>
                </a:lnTo>
                <a:lnTo>
                  <a:pt x="1865747" y="2588"/>
                </a:lnTo>
                <a:lnTo>
                  <a:pt x="1912324" y="5798"/>
                </a:lnTo>
                <a:lnTo>
                  <a:pt x="1958565" y="10265"/>
                </a:lnTo>
                <a:lnTo>
                  <a:pt x="2004455" y="15973"/>
                </a:lnTo>
                <a:lnTo>
                  <a:pt x="2049980" y="22904"/>
                </a:lnTo>
                <a:lnTo>
                  <a:pt x="2095123" y="31044"/>
                </a:lnTo>
                <a:lnTo>
                  <a:pt x="2139870" y="40375"/>
                </a:lnTo>
                <a:lnTo>
                  <a:pt x="2184205" y="50882"/>
                </a:lnTo>
                <a:lnTo>
                  <a:pt x="2228113" y="62548"/>
                </a:lnTo>
                <a:lnTo>
                  <a:pt x="2271579" y="75358"/>
                </a:lnTo>
                <a:lnTo>
                  <a:pt x="2314587" y="89296"/>
                </a:lnTo>
                <a:lnTo>
                  <a:pt x="2357122" y="104344"/>
                </a:lnTo>
                <a:lnTo>
                  <a:pt x="2399168" y="120487"/>
                </a:lnTo>
                <a:lnTo>
                  <a:pt x="2440711" y="137710"/>
                </a:lnTo>
                <a:lnTo>
                  <a:pt x="2481735" y="155995"/>
                </a:lnTo>
                <a:lnTo>
                  <a:pt x="2522225" y="175326"/>
                </a:lnTo>
                <a:lnTo>
                  <a:pt x="2562166" y="195688"/>
                </a:lnTo>
                <a:lnTo>
                  <a:pt x="2601541" y="217065"/>
                </a:lnTo>
                <a:lnTo>
                  <a:pt x="2640337" y="239440"/>
                </a:lnTo>
                <a:lnTo>
                  <a:pt x="2678537" y="262796"/>
                </a:lnTo>
                <a:lnTo>
                  <a:pt x="2716126" y="287119"/>
                </a:lnTo>
                <a:lnTo>
                  <a:pt x="2753090" y="312392"/>
                </a:lnTo>
                <a:lnTo>
                  <a:pt x="2789412" y="338598"/>
                </a:lnTo>
                <a:lnTo>
                  <a:pt x="2825077" y="365722"/>
                </a:lnTo>
                <a:lnTo>
                  <a:pt x="2860071" y="393747"/>
                </a:lnTo>
                <a:lnTo>
                  <a:pt x="2894377" y="422657"/>
                </a:lnTo>
                <a:lnTo>
                  <a:pt x="2927981" y="452437"/>
                </a:lnTo>
                <a:lnTo>
                  <a:pt x="2960867" y="483070"/>
                </a:lnTo>
                <a:lnTo>
                  <a:pt x="2993020" y="514539"/>
                </a:lnTo>
                <a:lnTo>
                  <a:pt x="3024425" y="546830"/>
                </a:lnTo>
                <a:lnTo>
                  <a:pt x="3055066" y="579925"/>
                </a:lnTo>
                <a:lnTo>
                  <a:pt x="3084928" y="613808"/>
                </a:lnTo>
                <a:lnTo>
                  <a:pt x="3113996" y="648464"/>
                </a:lnTo>
                <a:lnTo>
                  <a:pt x="3142254" y="683876"/>
                </a:lnTo>
                <a:lnTo>
                  <a:pt x="3169687" y="720028"/>
                </a:lnTo>
                <a:lnTo>
                  <a:pt x="3196280" y="756904"/>
                </a:lnTo>
                <a:lnTo>
                  <a:pt x="3222018" y="794488"/>
                </a:lnTo>
                <a:lnTo>
                  <a:pt x="3246885" y="832764"/>
                </a:lnTo>
                <a:lnTo>
                  <a:pt x="3270866" y="871715"/>
                </a:lnTo>
                <a:lnTo>
                  <a:pt x="3293945" y="911325"/>
                </a:lnTo>
                <a:lnTo>
                  <a:pt x="3316108" y="951579"/>
                </a:lnTo>
                <a:lnTo>
                  <a:pt x="3337338" y="992460"/>
                </a:lnTo>
                <a:lnTo>
                  <a:pt x="3357622" y="1033952"/>
                </a:lnTo>
                <a:lnTo>
                  <a:pt x="3376943" y="1076039"/>
                </a:lnTo>
                <a:lnTo>
                  <a:pt x="3395286" y="1118704"/>
                </a:lnTo>
                <a:lnTo>
                  <a:pt x="3412635" y="1161933"/>
                </a:lnTo>
                <a:lnTo>
                  <a:pt x="3428977" y="1205707"/>
                </a:lnTo>
                <a:lnTo>
                  <a:pt x="3444294" y="1250012"/>
                </a:lnTo>
                <a:lnTo>
                  <a:pt x="3458573" y="1294832"/>
                </a:lnTo>
                <a:lnTo>
                  <a:pt x="3471797" y="1340149"/>
                </a:lnTo>
                <a:lnTo>
                  <a:pt x="3483952" y="1385948"/>
                </a:lnTo>
                <a:lnTo>
                  <a:pt x="3495021" y="1432213"/>
                </a:lnTo>
                <a:lnTo>
                  <a:pt x="3504991" y="1478928"/>
                </a:lnTo>
                <a:lnTo>
                  <a:pt x="3506851" y="1488833"/>
                </a:lnTo>
              </a:path>
              <a:path w="3507104" h="3734435">
                <a:moveTo>
                  <a:pt x="3506851" y="2245003"/>
                </a:moveTo>
                <a:lnTo>
                  <a:pt x="3495021" y="2301627"/>
                </a:lnTo>
                <a:lnTo>
                  <a:pt x="3483952" y="2347895"/>
                </a:lnTo>
                <a:lnTo>
                  <a:pt x="3471797" y="2393697"/>
                </a:lnTo>
                <a:lnTo>
                  <a:pt x="3458573" y="2439017"/>
                </a:lnTo>
                <a:lnTo>
                  <a:pt x="3444294" y="2483838"/>
                </a:lnTo>
                <a:lnTo>
                  <a:pt x="3428977" y="2528145"/>
                </a:lnTo>
                <a:lnTo>
                  <a:pt x="3412635" y="2571921"/>
                </a:lnTo>
                <a:lnTo>
                  <a:pt x="3395286" y="2615151"/>
                </a:lnTo>
                <a:lnTo>
                  <a:pt x="3376943" y="2657818"/>
                </a:lnTo>
                <a:lnTo>
                  <a:pt x="3357622" y="2699905"/>
                </a:lnTo>
                <a:lnTo>
                  <a:pt x="3337338" y="2741398"/>
                </a:lnTo>
                <a:lnTo>
                  <a:pt x="3316108" y="2782280"/>
                </a:lnTo>
                <a:lnTo>
                  <a:pt x="3293945" y="2822534"/>
                </a:lnTo>
                <a:lnTo>
                  <a:pt x="3270866" y="2862144"/>
                </a:lnTo>
                <a:lnTo>
                  <a:pt x="3246885" y="2901095"/>
                </a:lnTo>
                <a:lnTo>
                  <a:pt x="3222018" y="2939371"/>
                </a:lnTo>
                <a:lnTo>
                  <a:pt x="3196280" y="2976954"/>
                </a:lnTo>
                <a:lnTo>
                  <a:pt x="3169687" y="3013830"/>
                </a:lnTo>
                <a:lnTo>
                  <a:pt x="3142254" y="3049981"/>
                </a:lnTo>
                <a:lnTo>
                  <a:pt x="3113996" y="3085392"/>
                </a:lnTo>
                <a:lnTo>
                  <a:pt x="3084928" y="3120047"/>
                </a:lnTo>
                <a:lnTo>
                  <a:pt x="3055066" y="3153929"/>
                </a:lnTo>
                <a:lnTo>
                  <a:pt x="3024425" y="3187023"/>
                </a:lnTo>
                <a:lnTo>
                  <a:pt x="2993020" y="3219312"/>
                </a:lnTo>
                <a:lnTo>
                  <a:pt x="2960867" y="3250780"/>
                </a:lnTo>
                <a:lnTo>
                  <a:pt x="2927981" y="3281412"/>
                </a:lnTo>
                <a:lnTo>
                  <a:pt x="2894377" y="3311190"/>
                </a:lnTo>
                <a:lnTo>
                  <a:pt x="2860071" y="3340099"/>
                </a:lnTo>
                <a:lnTo>
                  <a:pt x="2825077" y="3368122"/>
                </a:lnTo>
                <a:lnTo>
                  <a:pt x="2789412" y="3395245"/>
                </a:lnTo>
                <a:lnTo>
                  <a:pt x="2753090" y="3421449"/>
                </a:lnTo>
                <a:lnTo>
                  <a:pt x="2716126" y="3446720"/>
                </a:lnTo>
                <a:lnTo>
                  <a:pt x="2678537" y="3471041"/>
                </a:lnTo>
                <a:lnTo>
                  <a:pt x="2640337" y="3494396"/>
                </a:lnTo>
                <a:lnTo>
                  <a:pt x="2601541" y="3516769"/>
                </a:lnTo>
                <a:lnTo>
                  <a:pt x="2562166" y="3538144"/>
                </a:lnTo>
                <a:lnTo>
                  <a:pt x="2522225" y="3558504"/>
                </a:lnTo>
                <a:lnTo>
                  <a:pt x="2481735" y="3577834"/>
                </a:lnTo>
                <a:lnTo>
                  <a:pt x="2440711" y="3596117"/>
                </a:lnTo>
                <a:lnTo>
                  <a:pt x="2399168" y="3613338"/>
                </a:lnTo>
                <a:lnTo>
                  <a:pt x="2357122" y="3629480"/>
                </a:lnTo>
                <a:lnTo>
                  <a:pt x="2314587" y="3644526"/>
                </a:lnTo>
                <a:lnTo>
                  <a:pt x="2271579" y="3658462"/>
                </a:lnTo>
                <a:lnTo>
                  <a:pt x="2228113" y="3671271"/>
                </a:lnTo>
                <a:lnTo>
                  <a:pt x="2184205" y="3682936"/>
                </a:lnTo>
                <a:lnTo>
                  <a:pt x="2139870" y="3693442"/>
                </a:lnTo>
                <a:lnTo>
                  <a:pt x="2095123" y="3702772"/>
                </a:lnTo>
                <a:lnTo>
                  <a:pt x="2049980" y="3710910"/>
                </a:lnTo>
                <a:lnTo>
                  <a:pt x="2004455" y="3717841"/>
                </a:lnTo>
                <a:lnTo>
                  <a:pt x="1958565" y="3723548"/>
                </a:lnTo>
                <a:lnTo>
                  <a:pt x="1912324" y="3728014"/>
                </a:lnTo>
                <a:lnTo>
                  <a:pt x="1865747" y="3731225"/>
                </a:lnTo>
                <a:lnTo>
                  <a:pt x="1818851" y="3733163"/>
                </a:lnTo>
                <a:lnTo>
                  <a:pt x="1771650" y="3733812"/>
                </a:lnTo>
                <a:lnTo>
                  <a:pt x="1724454" y="3733163"/>
                </a:lnTo>
                <a:lnTo>
                  <a:pt x="1677563" y="3731225"/>
                </a:lnTo>
                <a:lnTo>
                  <a:pt x="1630992" y="3728014"/>
                </a:lnTo>
                <a:lnTo>
                  <a:pt x="1584756" y="3723548"/>
                </a:lnTo>
                <a:lnTo>
                  <a:pt x="1538870" y="3717841"/>
                </a:lnTo>
                <a:lnTo>
                  <a:pt x="1493349" y="3710910"/>
                </a:lnTo>
                <a:lnTo>
                  <a:pt x="1448209" y="3702772"/>
                </a:lnTo>
                <a:lnTo>
                  <a:pt x="1403466" y="3693442"/>
                </a:lnTo>
                <a:lnTo>
                  <a:pt x="1359134" y="3682936"/>
                </a:lnTo>
                <a:lnTo>
                  <a:pt x="1315229" y="3671271"/>
                </a:lnTo>
                <a:lnTo>
                  <a:pt x="1271766" y="3658462"/>
                </a:lnTo>
                <a:lnTo>
                  <a:pt x="1228760" y="3644526"/>
                </a:lnTo>
                <a:lnTo>
                  <a:pt x="1186227" y="3629480"/>
                </a:lnTo>
                <a:lnTo>
                  <a:pt x="1144182" y="3613338"/>
                </a:lnTo>
                <a:lnTo>
                  <a:pt x="1102641" y="3596117"/>
                </a:lnTo>
                <a:lnTo>
                  <a:pt x="1061618" y="3577834"/>
                </a:lnTo>
                <a:lnTo>
                  <a:pt x="1021129" y="3558504"/>
                </a:lnTo>
                <a:lnTo>
                  <a:pt x="981189" y="3538144"/>
                </a:lnTo>
                <a:lnTo>
                  <a:pt x="941814" y="3516769"/>
                </a:lnTo>
                <a:lnTo>
                  <a:pt x="903019" y="3494396"/>
                </a:lnTo>
                <a:lnTo>
                  <a:pt x="864819" y="3471041"/>
                </a:lnTo>
                <a:lnTo>
                  <a:pt x="827229" y="3446720"/>
                </a:lnTo>
                <a:lnTo>
                  <a:pt x="790265" y="3421449"/>
                </a:lnTo>
                <a:lnTo>
                  <a:pt x="753943" y="3395245"/>
                </a:lnTo>
                <a:lnTo>
                  <a:pt x="718276" y="3368122"/>
                </a:lnTo>
                <a:lnTo>
                  <a:pt x="683282" y="3340099"/>
                </a:lnTo>
                <a:lnTo>
                  <a:pt x="648975" y="3311190"/>
                </a:lnTo>
                <a:lnTo>
                  <a:pt x="615370" y="3281412"/>
                </a:lnTo>
                <a:lnTo>
                  <a:pt x="582482" y="3250780"/>
                </a:lnTo>
                <a:lnTo>
                  <a:pt x="550328" y="3219312"/>
                </a:lnTo>
                <a:lnTo>
                  <a:pt x="518922" y="3187023"/>
                </a:lnTo>
                <a:lnTo>
                  <a:pt x="488279" y="3153929"/>
                </a:lnTo>
                <a:lnTo>
                  <a:pt x="458415" y="3120047"/>
                </a:lnTo>
                <a:lnTo>
                  <a:pt x="429346" y="3085392"/>
                </a:lnTo>
                <a:lnTo>
                  <a:pt x="401086" y="3049981"/>
                </a:lnTo>
                <a:lnTo>
                  <a:pt x="373651" y="3013830"/>
                </a:lnTo>
                <a:lnTo>
                  <a:pt x="347056" y="2976954"/>
                </a:lnTo>
                <a:lnTo>
                  <a:pt x="321316" y="2939371"/>
                </a:lnTo>
                <a:lnTo>
                  <a:pt x="296447" y="2901095"/>
                </a:lnTo>
                <a:lnTo>
                  <a:pt x="272464" y="2862144"/>
                </a:lnTo>
                <a:lnTo>
                  <a:pt x="249383" y="2822534"/>
                </a:lnTo>
                <a:lnTo>
                  <a:pt x="227218" y="2782280"/>
                </a:lnTo>
                <a:lnTo>
                  <a:pt x="205986" y="2741398"/>
                </a:lnTo>
                <a:lnTo>
                  <a:pt x="185700" y="2699905"/>
                </a:lnTo>
                <a:lnTo>
                  <a:pt x="166377" y="2657818"/>
                </a:lnTo>
                <a:lnTo>
                  <a:pt x="148032" y="2615151"/>
                </a:lnTo>
                <a:lnTo>
                  <a:pt x="130680" y="2571921"/>
                </a:lnTo>
                <a:lnTo>
                  <a:pt x="114337" y="2528145"/>
                </a:lnTo>
                <a:lnTo>
                  <a:pt x="99018" y="2483838"/>
                </a:lnTo>
                <a:lnTo>
                  <a:pt x="84738" y="2439017"/>
                </a:lnTo>
                <a:lnTo>
                  <a:pt x="71512" y="2393697"/>
                </a:lnTo>
                <a:lnTo>
                  <a:pt x="59356" y="2347895"/>
                </a:lnTo>
                <a:lnTo>
                  <a:pt x="48285" y="2301627"/>
                </a:lnTo>
                <a:lnTo>
                  <a:pt x="38314" y="2254909"/>
                </a:lnTo>
                <a:lnTo>
                  <a:pt x="29459" y="2207757"/>
                </a:lnTo>
                <a:lnTo>
                  <a:pt x="21735" y="2160187"/>
                </a:lnTo>
                <a:lnTo>
                  <a:pt x="15157" y="2112216"/>
                </a:lnTo>
                <a:lnTo>
                  <a:pt x="9741" y="2063859"/>
                </a:lnTo>
                <a:lnTo>
                  <a:pt x="5502" y="2015133"/>
                </a:lnTo>
                <a:lnTo>
                  <a:pt x="2455" y="1966053"/>
                </a:lnTo>
                <a:lnTo>
                  <a:pt x="616" y="1916637"/>
                </a:lnTo>
                <a:lnTo>
                  <a:pt x="0" y="1866900"/>
                </a:lnTo>
              </a:path>
            </a:pathLst>
          </a:custGeom>
          <a:ln w="25400">
            <a:solidFill>
              <a:srgbClr val="E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31557" y="5801664"/>
            <a:ext cx="74803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Times New Roman"/>
                <a:cs typeface="Times New Roman"/>
              </a:rPr>
              <a:t>Heap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48093" y="4721733"/>
            <a:ext cx="153289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Times New Roman"/>
                <a:cs typeface="Times New Roman"/>
              </a:rPr>
              <a:t>String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spc="-5" dirty="0">
                <a:latin typeface="Times New Roman"/>
                <a:cs typeface="Times New Roman"/>
              </a:rPr>
              <a:t>pool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9089" y="2753880"/>
            <a:ext cx="845819" cy="43307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120"/>
              </a:spcBef>
            </a:pPr>
            <a:r>
              <a:rPr sz="2500" spc="-5" dirty="0">
                <a:latin typeface="Times New Roman"/>
                <a:cs typeface="Times New Roman"/>
              </a:rPr>
              <a:t>str</a:t>
            </a:r>
            <a:endParaRPr sz="25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761860" y="2734055"/>
          <a:ext cx="1281430" cy="1981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1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3759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Hello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1347" y="2859023"/>
            <a:ext cx="1440179" cy="23926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5494273" y="2921635"/>
            <a:ext cx="1278890" cy="76200"/>
          </a:xfrm>
          <a:custGeom>
            <a:avLst/>
            <a:gdLst/>
            <a:ahLst/>
            <a:cxnLst/>
            <a:rect l="l" t="t" r="r" b="b"/>
            <a:pathLst>
              <a:path w="1278890" h="76200">
                <a:moveTo>
                  <a:pt x="1260305" y="28448"/>
                </a:moveTo>
                <a:lnTo>
                  <a:pt x="1215008" y="28448"/>
                </a:lnTo>
                <a:lnTo>
                  <a:pt x="1215135" y="47498"/>
                </a:lnTo>
                <a:lnTo>
                  <a:pt x="1202452" y="47608"/>
                </a:lnTo>
                <a:lnTo>
                  <a:pt x="1202690" y="76073"/>
                </a:lnTo>
                <a:lnTo>
                  <a:pt x="1278508" y="37337"/>
                </a:lnTo>
                <a:lnTo>
                  <a:pt x="1260305" y="28448"/>
                </a:lnTo>
                <a:close/>
              </a:path>
              <a:path w="1278890" h="76200">
                <a:moveTo>
                  <a:pt x="1202293" y="28558"/>
                </a:moveTo>
                <a:lnTo>
                  <a:pt x="0" y="38988"/>
                </a:lnTo>
                <a:lnTo>
                  <a:pt x="126" y="58038"/>
                </a:lnTo>
                <a:lnTo>
                  <a:pt x="1202452" y="47608"/>
                </a:lnTo>
                <a:lnTo>
                  <a:pt x="1202293" y="28558"/>
                </a:lnTo>
                <a:close/>
              </a:path>
              <a:path w="1278890" h="76200">
                <a:moveTo>
                  <a:pt x="1215008" y="28448"/>
                </a:moveTo>
                <a:lnTo>
                  <a:pt x="1202293" y="28558"/>
                </a:lnTo>
                <a:lnTo>
                  <a:pt x="1202452" y="47608"/>
                </a:lnTo>
                <a:lnTo>
                  <a:pt x="1215135" y="47498"/>
                </a:lnTo>
                <a:lnTo>
                  <a:pt x="1215008" y="28448"/>
                </a:lnTo>
                <a:close/>
              </a:path>
              <a:path w="1278890" h="76200">
                <a:moveTo>
                  <a:pt x="1202054" y="0"/>
                </a:moveTo>
                <a:lnTo>
                  <a:pt x="1202293" y="28558"/>
                </a:lnTo>
                <a:lnTo>
                  <a:pt x="1260305" y="28448"/>
                </a:lnTo>
                <a:lnTo>
                  <a:pt x="1202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48072" y="3515626"/>
            <a:ext cx="845819" cy="43307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120"/>
              </a:spcBef>
            </a:pPr>
            <a:r>
              <a:rPr sz="2500" spc="-5" dirty="0">
                <a:latin typeface="Times New Roman"/>
                <a:cs typeface="Times New Roman"/>
              </a:rPr>
              <a:t>str1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6776" y="2979420"/>
            <a:ext cx="1440179" cy="82295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5488940" y="3078226"/>
            <a:ext cx="1279525" cy="662305"/>
          </a:xfrm>
          <a:custGeom>
            <a:avLst/>
            <a:gdLst/>
            <a:ahLst/>
            <a:cxnLst/>
            <a:rect l="l" t="t" r="r" b="b"/>
            <a:pathLst>
              <a:path w="1279525" h="662304">
                <a:moveTo>
                  <a:pt x="1207191" y="26338"/>
                </a:moveTo>
                <a:lnTo>
                  <a:pt x="0" y="645160"/>
                </a:lnTo>
                <a:lnTo>
                  <a:pt x="8762" y="662178"/>
                </a:lnTo>
                <a:lnTo>
                  <a:pt x="1215854" y="43282"/>
                </a:lnTo>
                <a:lnTo>
                  <a:pt x="1207191" y="26338"/>
                </a:lnTo>
                <a:close/>
              </a:path>
              <a:path w="1279525" h="662304">
                <a:moveTo>
                  <a:pt x="1264173" y="20574"/>
                </a:moveTo>
                <a:lnTo>
                  <a:pt x="1218438" y="20574"/>
                </a:lnTo>
                <a:lnTo>
                  <a:pt x="1227201" y="37464"/>
                </a:lnTo>
                <a:lnTo>
                  <a:pt x="1215854" y="43282"/>
                </a:lnTo>
                <a:lnTo>
                  <a:pt x="1228852" y="68707"/>
                </a:lnTo>
                <a:lnTo>
                  <a:pt x="1264173" y="20574"/>
                </a:lnTo>
                <a:close/>
              </a:path>
              <a:path w="1279525" h="662304">
                <a:moveTo>
                  <a:pt x="1218438" y="20574"/>
                </a:moveTo>
                <a:lnTo>
                  <a:pt x="1207191" y="26338"/>
                </a:lnTo>
                <a:lnTo>
                  <a:pt x="1215854" y="43282"/>
                </a:lnTo>
                <a:lnTo>
                  <a:pt x="1227201" y="37464"/>
                </a:lnTo>
                <a:lnTo>
                  <a:pt x="1218438" y="20574"/>
                </a:lnTo>
                <a:close/>
              </a:path>
              <a:path w="1279525" h="662304">
                <a:moveTo>
                  <a:pt x="1279270" y="0"/>
                </a:moveTo>
                <a:lnTo>
                  <a:pt x="1194181" y="888"/>
                </a:lnTo>
                <a:lnTo>
                  <a:pt x="1207191" y="26338"/>
                </a:lnTo>
                <a:lnTo>
                  <a:pt x="1218438" y="20574"/>
                </a:lnTo>
                <a:lnTo>
                  <a:pt x="1264173" y="20574"/>
                </a:lnTo>
                <a:lnTo>
                  <a:pt x="12792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22910" y="1942591"/>
            <a:ext cx="414591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If </a:t>
            </a:r>
            <a:r>
              <a:rPr sz="1800" spc="-10" dirty="0">
                <a:latin typeface="Times New Roman"/>
                <a:cs typeface="Times New Roman"/>
              </a:rPr>
              <a:t>we </a:t>
            </a:r>
            <a:r>
              <a:rPr sz="1800" dirty="0">
                <a:latin typeface="Times New Roman"/>
                <a:cs typeface="Times New Roman"/>
              </a:rPr>
              <a:t>create an object using String literal. It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may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return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existing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String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pool,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already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exists.</a:t>
            </a:r>
            <a:endParaRPr sz="1800">
              <a:latin typeface="Times New Roman"/>
              <a:cs typeface="Times New Roman"/>
            </a:endParaRPr>
          </a:p>
          <a:p>
            <a:pPr marL="12700" marR="100330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Otherwise,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5" dirty="0">
                <a:latin typeface="Times New Roman"/>
                <a:cs typeface="Times New Roman"/>
              </a:rPr>
              <a:t> will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create</a:t>
            </a:r>
            <a:r>
              <a:rPr sz="1800" spc="-5" dirty="0">
                <a:latin typeface="Times New Roman"/>
                <a:cs typeface="Times New Roman"/>
              </a:rPr>
              <a:t> a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new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String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object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put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 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string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pool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for future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re-use.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2910" y="3588766"/>
            <a:ext cx="4255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same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 reference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will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be assigned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8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str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sz="1800" spc="-43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str1</a:t>
            </a:r>
            <a:r>
              <a:rPr sz="1800" spc="-5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2910" y="4412107"/>
            <a:ext cx="43745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Why Java uses the </a:t>
            </a:r>
            <a:r>
              <a:rPr sz="1800" b="1" dirty="0">
                <a:latin typeface="Times New Roman"/>
                <a:cs typeface="Times New Roman"/>
              </a:rPr>
              <a:t>concept of </a:t>
            </a:r>
            <a:r>
              <a:rPr sz="1800" b="1" spc="-5" dirty="0">
                <a:latin typeface="Times New Roman"/>
                <a:cs typeface="Times New Roman"/>
              </a:rPr>
              <a:t>String </a:t>
            </a:r>
            <a:r>
              <a:rPr sz="1800" b="1" dirty="0">
                <a:latin typeface="Times New Roman"/>
                <a:cs typeface="Times New Roman"/>
              </a:rPr>
              <a:t>literal? 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To </a:t>
            </a:r>
            <a:r>
              <a:rPr sz="1800" spc="-5" dirty="0">
                <a:latin typeface="Times New Roman"/>
                <a:cs typeface="Times New Roman"/>
              </a:rPr>
              <a:t>make </a:t>
            </a:r>
            <a:r>
              <a:rPr sz="1800" dirty="0">
                <a:latin typeface="Times New Roman"/>
                <a:cs typeface="Times New Roman"/>
              </a:rPr>
              <a:t>Java </a:t>
            </a:r>
            <a:r>
              <a:rPr sz="1800" spc="-5" dirty="0">
                <a:latin typeface="Times New Roman"/>
                <a:cs typeface="Times New Roman"/>
              </a:rPr>
              <a:t>more memory efficient </a:t>
            </a:r>
            <a:r>
              <a:rPr sz="1800" dirty="0">
                <a:latin typeface="Times New Roman"/>
                <a:cs typeface="Times New Roman"/>
              </a:rPr>
              <a:t>(because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new</a:t>
            </a:r>
            <a:r>
              <a:rPr sz="1800" dirty="0">
                <a:latin typeface="Times New Roman"/>
                <a:cs typeface="Times New Roman"/>
              </a:rPr>
              <a:t> objects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exists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already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string constant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pool).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134492"/>
            <a:ext cx="71158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new 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String</a:t>
            </a:r>
            <a:r>
              <a:rPr sz="3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36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 new</a:t>
            </a:r>
            <a:r>
              <a:rPr sz="36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Times New Roman"/>
                <a:cs typeface="Times New Roman"/>
              </a:rPr>
              <a:t>String(“Hello”)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230" y="1634489"/>
            <a:ext cx="44018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How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it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working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backend?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9000" y="2214752"/>
            <a:ext cx="3543300" cy="3733800"/>
          </a:xfrm>
          <a:custGeom>
            <a:avLst/>
            <a:gdLst/>
            <a:ahLst/>
            <a:cxnLst/>
            <a:rect l="l" t="t" r="r" b="b"/>
            <a:pathLst>
              <a:path w="3543300" h="3733800">
                <a:moveTo>
                  <a:pt x="0" y="1866900"/>
                </a:moveTo>
                <a:lnTo>
                  <a:pt x="616" y="1817162"/>
                </a:lnTo>
                <a:lnTo>
                  <a:pt x="2455" y="1767746"/>
                </a:lnTo>
                <a:lnTo>
                  <a:pt x="5502" y="1718666"/>
                </a:lnTo>
                <a:lnTo>
                  <a:pt x="9741" y="1669940"/>
                </a:lnTo>
                <a:lnTo>
                  <a:pt x="15157" y="1621584"/>
                </a:lnTo>
                <a:lnTo>
                  <a:pt x="21735" y="1573612"/>
                </a:lnTo>
                <a:lnTo>
                  <a:pt x="29459" y="1526043"/>
                </a:lnTo>
                <a:lnTo>
                  <a:pt x="38314" y="1478891"/>
                </a:lnTo>
                <a:lnTo>
                  <a:pt x="48285" y="1432173"/>
                </a:lnTo>
                <a:lnTo>
                  <a:pt x="59356" y="1385905"/>
                </a:lnTo>
                <a:lnTo>
                  <a:pt x="71512" y="1340103"/>
                </a:lnTo>
                <a:lnTo>
                  <a:pt x="84738" y="1294784"/>
                </a:lnTo>
                <a:lnTo>
                  <a:pt x="99018" y="1249962"/>
                </a:lnTo>
                <a:lnTo>
                  <a:pt x="114337" y="1205656"/>
                </a:lnTo>
                <a:lnTo>
                  <a:pt x="130680" y="1161880"/>
                </a:lnTo>
                <a:lnTo>
                  <a:pt x="148032" y="1118650"/>
                </a:lnTo>
                <a:lnTo>
                  <a:pt x="166377" y="1075984"/>
                </a:lnTo>
                <a:lnTo>
                  <a:pt x="185700" y="1033896"/>
                </a:lnTo>
                <a:lnTo>
                  <a:pt x="205986" y="992404"/>
                </a:lnTo>
                <a:lnTo>
                  <a:pt x="227218" y="951523"/>
                </a:lnTo>
                <a:lnTo>
                  <a:pt x="249383" y="911269"/>
                </a:lnTo>
                <a:lnTo>
                  <a:pt x="272464" y="871658"/>
                </a:lnTo>
                <a:lnTo>
                  <a:pt x="296447" y="832708"/>
                </a:lnTo>
                <a:lnTo>
                  <a:pt x="321316" y="794433"/>
                </a:lnTo>
                <a:lnTo>
                  <a:pt x="347056" y="756849"/>
                </a:lnTo>
                <a:lnTo>
                  <a:pt x="373651" y="719974"/>
                </a:lnTo>
                <a:lnTo>
                  <a:pt x="401086" y="683823"/>
                </a:lnTo>
                <a:lnTo>
                  <a:pt x="429346" y="648412"/>
                </a:lnTo>
                <a:lnTo>
                  <a:pt x="458415" y="613758"/>
                </a:lnTo>
                <a:lnTo>
                  <a:pt x="488279" y="579876"/>
                </a:lnTo>
                <a:lnTo>
                  <a:pt x="518921" y="546782"/>
                </a:lnTo>
                <a:lnTo>
                  <a:pt x="550328" y="514493"/>
                </a:lnTo>
                <a:lnTo>
                  <a:pt x="582482" y="483025"/>
                </a:lnTo>
                <a:lnTo>
                  <a:pt x="615370" y="452395"/>
                </a:lnTo>
                <a:lnTo>
                  <a:pt x="648975" y="422617"/>
                </a:lnTo>
                <a:lnTo>
                  <a:pt x="683282" y="393708"/>
                </a:lnTo>
                <a:lnTo>
                  <a:pt x="718276" y="365685"/>
                </a:lnTo>
                <a:lnTo>
                  <a:pt x="753943" y="338563"/>
                </a:lnTo>
                <a:lnTo>
                  <a:pt x="790265" y="312359"/>
                </a:lnTo>
                <a:lnTo>
                  <a:pt x="827229" y="287088"/>
                </a:lnTo>
                <a:lnTo>
                  <a:pt x="864819" y="262767"/>
                </a:lnTo>
                <a:lnTo>
                  <a:pt x="903019" y="239413"/>
                </a:lnTo>
                <a:lnTo>
                  <a:pt x="941814" y="217040"/>
                </a:lnTo>
                <a:lnTo>
                  <a:pt x="981189" y="195666"/>
                </a:lnTo>
                <a:lnTo>
                  <a:pt x="1021129" y="175305"/>
                </a:lnTo>
                <a:lnTo>
                  <a:pt x="1061618" y="155976"/>
                </a:lnTo>
                <a:lnTo>
                  <a:pt x="1102641" y="137693"/>
                </a:lnTo>
                <a:lnTo>
                  <a:pt x="1144182" y="120472"/>
                </a:lnTo>
                <a:lnTo>
                  <a:pt x="1186227" y="104331"/>
                </a:lnTo>
                <a:lnTo>
                  <a:pt x="1228760" y="89284"/>
                </a:lnTo>
                <a:lnTo>
                  <a:pt x="1271766" y="75348"/>
                </a:lnTo>
                <a:lnTo>
                  <a:pt x="1315229" y="62540"/>
                </a:lnTo>
                <a:lnTo>
                  <a:pt x="1359134" y="50875"/>
                </a:lnTo>
                <a:lnTo>
                  <a:pt x="1403466" y="40369"/>
                </a:lnTo>
                <a:lnTo>
                  <a:pt x="1448209" y="31039"/>
                </a:lnTo>
                <a:lnTo>
                  <a:pt x="1493349" y="22901"/>
                </a:lnTo>
                <a:lnTo>
                  <a:pt x="1538870" y="15971"/>
                </a:lnTo>
                <a:lnTo>
                  <a:pt x="1584756" y="10264"/>
                </a:lnTo>
                <a:lnTo>
                  <a:pt x="1630992" y="5797"/>
                </a:lnTo>
                <a:lnTo>
                  <a:pt x="1677563" y="2587"/>
                </a:lnTo>
                <a:lnTo>
                  <a:pt x="1724454" y="649"/>
                </a:lnTo>
                <a:lnTo>
                  <a:pt x="1771650" y="0"/>
                </a:lnTo>
                <a:lnTo>
                  <a:pt x="1818845" y="649"/>
                </a:lnTo>
                <a:lnTo>
                  <a:pt x="1865736" y="2587"/>
                </a:lnTo>
                <a:lnTo>
                  <a:pt x="1912307" y="5797"/>
                </a:lnTo>
                <a:lnTo>
                  <a:pt x="1958543" y="10264"/>
                </a:lnTo>
                <a:lnTo>
                  <a:pt x="2004429" y="15971"/>
                </a:lnTo>
                <a:lnTo>
                  <a:pt x="2049950" y="22901"/>
                </a:lnTo>
                <a:lnTo>
                  <a:pt x="2095090" y="31039"/>
                </a:lnTo>
                <a:lnTo>
                  <a:pt x="2139833" y="40369"/>
                </a:lnTo>
                <a:lnTo>
                  <a:pt x="2184165" y="50875"/>
                </a:lnTo>
                <a:lnTo>
                  <a:pt x="2228070" y="62540"/>
                </a:lnTo>
                <a:lnTo>
                  <a:pt x="2271533" y="75348"/>
                </a:lnTo>
                <a:lnTo>
                  <a:pt x="2314539" y="89284"/>
                </a:lnTo>
                <a:lnTo>
                  <a:pt x="2357072" y="104331"/>
                </a:lnTo>
                <a:lnTo>
                  <a:pt x="2399117" y="120472"/>
                </a:lnTo>
                <a:lnTo>
                  <a:pt x="2440658" y="137693"/>
                </a:lnTo>
                <a:lnTo>
                  <a:pt x="2481681" y="155976"/>
                </a:lnTo>
                <a:lnTo>
                  <a:pt x="2522170" y="175305"/>
                </a:lnTo>
                <a:lnTo>
                  <a:pt x="2562110" y="195666"/>
                </a:lnTo>
                <a:lnTo>
                  <a:pt x="2601485" y="217040"/>
                </a:lnTo>
                <a:lnTo>
                  <a:pt x="2640280" y="239413"/>
                </a:lnTo>
                <a:lnTo>
                  <a:pt x="2678480" y="262767"/>
                </a:lnTo>
                <a:lnTo>
                  <a:pt x="2716070" y="287088"/>
                </a:lnTo>
                <a:lnTo>
                  <a:pt x="2753034" y="312359"/>
                </a:lnTo>
                <a:lnTo>
                  <a:pt x="2789356" y="338563"/>
                </a:lnTo>
                <a:lnTo>
                  <a:pt x="2825023" y="365685"/>
                </a:lnTo>
                <a:lnTo>
                  <a:pt x="2860017" y="393708"/>
                </a:lnTo>
                <a:lnTo>
                  <a:pt x="2894324" y="422617"/>
                </a:lnTo>
                <a:lnTo>
                  <a:pt x="2927929" y="452395"/>
                </a:lnTo>
                <a:lnTo>
                  <a:pt x="2960817" y="483025"/>
                </a:lnTo>
                <a:lnTo>
                  <a:pt x="2992971" y="514493"/>
                </a:lnTo>
                <a:lnTo>
                  <a:pt x="3024377" y="546782"/>
                </a:lnTo>
                <a:lnTo>
                  <a:pt x="3055020" y="579876"/>
                </a:lnTo>
                <a:lnTo>
                  <a:pt x="3084884" y="613758"/>
                </a:lnTo>
                <a:lnTo>
                  <a:pt x="3113953" y="648412"/>
                </a:lnTo>
                <a:lnTo>
                  <a:pt x="3142213" y="683823"/>
                </a:lnTo>
                <a:lnTo>
                  <a:pt x="3169648" y="719974"/>
                </a:lnTo>
                <a:lnTo>
                  <a:pt x="3196243" y="756849"/>
                </a:lnTo>
                <a:lnTo>
                  <a:pt x="3221983" y="794433"/>
                </a:lnTo>
                <a:lnTo>
                  <a:pt x="3246852" y="832708"/>
                </a:lnTo>
                <a:lnTo>
                  <a:pt x="3270835" y="871658"/>
                </a:lnTo>
                <a:lnTo>
                  <a:pt x="3293916" y="911269"/>
                </a:lnTo>
                <a:lnTo>
                  <a:pt x="3316081" y="951523"/>
                </a:lnTo>
                <a:lnTo>
                  <a:pt x="3337313" y="992404"/>
                </a:lnTo>
                <a:lnTo>
                  <a:pt x="3357599" y="1033896"/>
                </a:lnTo>
                <a:lnTo>
                  <a:pt x="3376922" y="1075984"/>
                </a:lnTo>
                <a:lnTo>
                  <a:pt x="3395267" y="1118650"/>
                </a:lnTo>
                <a:lnTo>
                  <a:pt x="3412619" y="1161880"/>
                </a:lnTo>
                <a:lnTo>
                  <a:pt x="3428962" y="1205656"/>
                </a:lnTo>
                <a:lnTo>
                  <a:pt x="3444281" y="1249962"/>
                </a:lnTo>
                <a:lnTo>
                  <a:pt x="3458561" y="1294784"/>
                </a:lnTo>
                <a:lnTo>
                  <a:pt x="3471787" y="1340103"/>
                </a:lnTo>
                <a:lnTo>
                  <a:pt x="3483943" y="1385905"/>
                </a:lnTo>
                <a:lnTo>
                  <a:pt x="3495014" y="1432173"/>
                </a:lnTo>
                <a:lnTo>
                  <a:pt x="3504985" y="1478891"/>
                </a:lnTo>
                <a:lnTo>
                  <a:pt x="3513840" y="1526043"/>
                </a:lnTo>
                <a:lnTo>
                  <a:pt x="3521564" y="1573612"/>
                </a:lnTo>
                <a:lnTo>
                  <a:pt x="3528142" y="1621584"/>
                </a:lnTo>
                <a:lnTo>
                  <a:pt x="3533558" y="1669940"/>
                </a:lnTo>
                <a:lnTo>
                  <a:pt x="3537797" y="1718666"/>
                </a:lnTo>
                <a:lnTo>
                  <a:pt x="3540844" y="1767746"/>
                </a:lnTo>
                <a:lnTo>
                  <a:pt x="3542683" y="1817162"/>
                </a:lnTo>
                <a:lnTo>
                  <a:pt x="3543300" y="1866900"/>
                </a:lnTo>
                <a:lnTo>
                  <a:pt x="3542683" y="1916637"/>
                </a:lnTo>
                <a:lnTo>
                  <a:pt x="3540844" y="1966053"/>
                </a:lnTo>
                <a:lnTo>
                  <a:pt x="3537797" y="2015133"/>
                </a:lnTo>
                <a:lnTo>
                  <a:pt x="3533558" y="2063859"/>
                </a:lnTo>
                <a:lnTo>
                  <a:pt x="3528142" y="2112215"/>
                </a:lnTo>
                <a:lnTo>
                  <a:pt x="3521564" y="2160186"/>
                </a:lnTo>
                <a:lnTo>
                  <a:pt x="3513840" y="2207756"/>
                </a:lnTo>
                <a:lnTo>
                  <a:pt x="3504985" y="2254907"/>
                </a:lnTo>
                <a:lnTo>
                  <a:pt x="3495014" y="2301625"/>
                </a:lnTo>
                <a:lnTo>
                  <a:pt x="3483943" y="2347893"/>
                </a:lnTo>
                <a:lnTo>
                  <a:pt x="3471787" y="2393695"/>
                </a:lnTo>
                <a:lnTo>
                  <a:pt x="3458561" y="2439014"/>
                </a:lnTo>
                <a:lnTo>
                  <a:pt x="3444281" y="2483835"/>
                </a:lnTo>
                <a:lnTo>
                  <a:pt x="3428962" y="2528142"/>
                </a:lnTo>
                <a:lnTo>
                  <a:pt x="3412619" y="2571918"/>
                </a:lnTo>
                <a:lnTo>
                  <a:pt x="3395267" y="2615147"/>
                </a:lnTo>
                <a:lnTo>
                  <a:pt x="3376922" y="2657813"/>
                </a:lnTo>
                <a:lnTo>
                  <a:pt x="3357599" y="2699900"/>
                </a:lnTo>
                <a:lnTo>
                  <a:pt x="3337313" y="2741392"/>
                </a:lnTo>
                <a:lnTo>
                  <a:pt x="3316081" y="2782273"/>
                </a:lnTo>
                <a:lnTo>
                  <a:pt x="3293916" y="2822527"/>
                </a:lnTo>
                <a:lnTo>
                  <a:pt x="3270835" y="2862137"/>
                </a:lnTo>
                <a:lnTo>
                  <a:pt x="3246852" y="2901087"/>
                </a:lnTo>
                <a:lnTo>
                  <a:pt x="3221983" y="2939362"/>
                </a:lnTo>
                <a:lnTo>
                  <a:pt x="3196243" y="2976945"/>
                </a:lnTo>
                <a:lnTo>
                  <a:pt x="3169648" y="3013820"/>
                </a:lnTo>
                <a:lnTo>
                  <a:pt x="3142213" y="3049971"/>
                </a:lnTo>
                <a:lnTo>
                  <a:pt x="3113953" y="3085381"/>
                </a:lnTo>
                <a:lnTo>
                  <a:pt x="3084884" y="3120036"/>
                </a:lnTo>
                <a:lnTo>
                  <a:pt x="3055020" y="3153917"/>
                </a:lnTo>
                <a:lnTo>
                  <a:pt x="3024378" y="3187011"/>
                </a:lnTo>
                <a:lnTo>
                  <a:pt x="2992971" y="3219299"/>
                </a:lnTo>
                <a:lnTo>
                  <a:pt x="2960817" y="3250767"/>
                </a:lnTo>
                <a:lnTo>
                  <a:pt x="2927929" y="3281397"/>
                </a:lnTo>
                <a:lnTo>
                  <a:pt x="2894324" y="3311175"/>
                </a:lnTo>
                <a:lnTo>
                  <a:pt x="2860017" y="3340083"/>
                </a:lnTo>
                <a:lnTo>
                  <a:pt x="2825023" y="3368106"/>
                </a:lnTo>
                <a:lnTo>
                  <a:pt x="2789356" y="3395228"/>
                </a:lnTo>
                <a:lnTo>
                  <a:pt x="2753034" y="3421432"/>
                </a:lnTo>
                <a:lnTo>
                  <a:pt x="2716070" y="3446702"/>
                </a:lnTo>
                <a:lnTo>
                  <a:pt x="2678480" y="3471022"/>
                </a:lnTo>
                <a:lnTo>
                  <a:pt x="2640280" y="3494377"/>
                </a:lnTo>
                <a:lnTo>
                  <a:pt x="2601485" y="3516749"/>
                </a:lnTo>
                <a:lnTo>
                  <a:pt x="2562110" y="3538123"/>
                </a:lnTo>
                <a:lnTo>
                  <a:pt x="2522170" y="3558483"/>
                </a:lnTo>
                <a:lnTo>
                  <a:pt x="2481681" y="3577813"/>
                </a:lnTo>
                <a:lnTo>
                  <a:pt x="2440658" y="3596096"/>
                </a:lnTo>
                <a:lnTo>
                  <a:pt x="2399117" y="3613316"/>
                </a:lnTo>
                <a:lnTo>
                  <a:pt x="2357072" y="3629457"/>
                </a:lnTo>
                <a:lnTo>
                  <a:pt x="2314539" y="3644504"/>
                </a:lnTo>
                <a:lnTo>
                  <a:pt x="2271533" y="3658439"/>
                </a:lnTo>
                <a:lnTo>
                  <a:pt x="2228070" y="3671247"/>
                </a:lnTo>
                <a:lnTo>
                  <a:pt x="2184165" y="3682912"/>
                </a:lnTo>
                <a:lnTo>
                  <a:pt x="2139833" y="3693417"/>
                </a:lnTo>
                <a:lnTo>
                  <a:pt x="2095090" y="3702747"/>
                </a:lnTo>
                <a:lnTo>
                  <a:pt x="2049950" y="3710886"/>
                </a:lnTo>
                <a:lnTo>
                  <a:pt x="2004429" y="3717816"/>
                </a:lnTo>
                <a:lnTo>
                  <a:pt x="1958543" y="3723522"/>
                </a:lnTo>
                <a:lnTo>
                  <a:pt x="1912307" y="3727989"/>
                </a:lnTo>
                <a:lnTo>
                  <a:pt x="1865736" y="3731199"/>
                </a:lnTo>
                <a:lnTo>
                  <a:pt x="1818845" y="3733137"/>
                </a:lnTo>
                <a:lnTo>
                  <a:pt x="1771650" y="3733787"/>
                </a:lnTo>
                <a:lnTo>
                  <a:pt x="1724454" y="3733137"/>
                </a:lnTo>
                <a:lnTo>
                  <a:pt x="1677563" y="3731199"/>
                </a:lnTo>
                <a:lnTo>
                  <a:pt x="1630992" y="3727989"/>
                </a:lnTo>
                <a:lnTo>
                  <a:pt x="1584756" y="3723522"/>
                </a:lnTo>
                <a:lnTo>
                  <a:pt x="1538870" y="3717816"/>
                </a:lnTo>
                <a:lnTo>
                  <a:pt x="1493349" y="3710886"/>
                </a:lnTo>
                <a:lnTo>
                  <a:pt x="1448209" y="3702747"/>
                </a:lnTo>
                <a:lnTo>
                  <a:pt x="1403466" y="3693417"/>
                </a:lnTo>
                <a:lnTo>
                  <a:pt x="1359134" y="3682912"/>
                </a:lnTo>
                <a:lnTo>
                  <a:pt x="1315229" y="3671247"/>
                </a:lnTo>
                <a:lnTo>
                  <a:pt x="1271766" y="3658439"/>
                </a:lnTo>
                <a:lnTo>
                  <a:pt x="1228760" y="3644504"/>
                </a:lnTo>
                <a:lnTo>
                  <a:pt x="1186227" y="3629457"/>
                </a:lnTo>
                <a:lnTo>
                  <a:pt x="1144182" y="3613316"/>
                </a:lnTo>
                <a:lnTo>
                  <a:pt x="1102641" y="3596096"/>
                </a:lnTo>
                <a:lnTo>
                  <a:pt x="1061618" y="3577813"/>
                </a:lnTo>
                <a:lnTo>
                  <a:pt x="1021129" y="3558483"/>
                </a:lnTo>
                <a:lnTo>
                  <a:pt x="981189" y="3538123"/>
                </a:lnTo>
                <a:lnTo>
                  <a:pt x="941814" y="3516749"/>
                </a:lnTo>
                <a:lnTo>
                  <a:pt x="903019" y="3494377"/>
                </a:lnTo>
                <a:lnTo>
                  <a:pt x="864819" y="3471022"/>
                </a:lnTo>
                <a:lnTo>
                  <a:pt x="827229" y="3446702"/>
                </a:lnTo>
                <a:lnTo>
                  <a:pt x="790265" y="3421432"/>
                </a:lnTo>
                <a:lnTo>
                  <a:pt x="753943" y="3395228"/>
                </a:lnTo>
                <a:lnTo>
                  <a:pt x="718276" y="3368106"/>
                </a:lnTo>
                <a:lnTo>
                  <a:pt x="683282" y="3340083"/>
                </a:lnTo>
                <a:lnTo>
                  <a:pt x="648975" y="3311175"/>
                </a:lnTo>
                <a:lnTo>
                  <a:pt x="615370" y="3281397"/>
                </a:lnTo>
                <a:lnTo>
                  <a:pt x="582482" y="3250767"/>
                </a:lnTo>
                <a:lnTo>
                  <a:pt x="550328" y="3219299"/>
                </a:lnTo>
                <a:lnTo>
                  <a:pt x="518922" y="3187011"/>
                </a:lnTo>
                <a:lnTo>
                  <a:pt x="488279" y="3153917"/>
                </a:lnTo>
                <a:lnTo>
                  <a:pt x="458415" y="3120036"/>
                </a:lnTo>
                <a:lnTo>
                  <a:pt x="429346" y="3085381"/>
                </a:lnTo>
                <a:lnTo>
                  <a:pt x="401086" y="3049971"/>
                </a:lnTo>
                <a:lnTo>
                  <a:pt x="373651" y="3013820"/>
                </a:lnTo>
                <a:lnTo>
                  <a:pt x="347056" y="2976945"/>
                </a:lnTo>
                <a:lnTo>
                  <a:pt x="321316" y="2939362"/>
                </a:lnTo>
                <a:lnTo>
                  <a:pt x="296447" y="2901087"/>
                </a:lnTo>
                <a:lnTo>
                  <a:pt x="272464" y="2862137"/>
                </a:lnTo>
                <a:lnTo>
                  <a:pt x="249383" y="2822527"/>
                </a:lnTo>
                <a:lnTo>
                  <a:pt x="227218" y="2782273"/>
                </a:lnTo>
                <a:lnTo>
                  <a:pt x="205986" y="2741392"/>
                </a:lnTo>
                <a:lnTo>
                  <a:pt x="185700" y="2699900"/>
                </a:lnTo>
                <a:lnTo>
                  <a:pt x="166377" y="2657813"/>
                </a:lnTo>
                <a:lnTo>
                  <a:pt x="148032" y="2615147"/>
                </a:lnTo>
                <a:lnTo>
                  <a:pt x="130680" y="2571918"/>
                </a:lnTo>
                <a:lnTo>
                  <a:pt x="114337" y="2528142"/>
                </a:lnTo>
                <a:lnTo>
                  <a:pt x="99018" y="2483835"/>
                </a:lnTo>
                <a:lnTo>
                  <a:pt x="84738" y="2439014"/>
                </a:lnTo>
                <a:lnTo>
                  <a:pt x="71512" y="2393695"/>
                </a:lnTo>
                <a:lnTo>
                  <a:pt x="59356" y="2347893"/>
                </a:lnTo>
                <a:lnTo>
                  <a:pt x="48285" y="2301625"/>
                </a:lnTo>
                <a:lnTo>
                  <a:pt x="38314" y="2254907"/>
                </a:lnTo>
                <a:lnTo>
                  <a:pt x="29459" y="2207756"/>
                </a:lnTo>
                <a:lnTo>
                  <a:pt x="21735" y="2160186"/>
                </a:lnTo>
                <a:lnTo>
                  <a:pt x="15157" y="2112215"/>
                </a:lnTo>
                <a:lnTo>
                  <a:pt x="9741" y="2063859"/>
                </a:lnTo>
                <a:lnTo>
                  <a:pt x="5502" y="2015133"/>
                </a:lnTo>
                <a:lnTo>
                  <a:pt x="2455" y="1966053"/>
                </a:lnTo>
                <a:lnTo>
                  <a:pt x="616" y="1916637"/>
                </a:lnTo>
                <a:lnTo>
                  <a:pt x="0" y="1866900"/>
                </a:lnTo>
                <a:close/>
              </a:path>
            </a:pathLst>
          </a:custGeom>
          <a:ln w="25400">
            <a:solidFill>
              <a:srgbClr val="E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39436" y="4875657"/>
            <a:ext cx="1532890" cy="148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Times New Roman"/>
                <a:cs typeface="Times New Roman"/>
              </a:rPr>
              <a:t>String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spc="-5" dirty="0">
                <a:latin typeface="Times New Roman"/>
                <a:cs typeface="Times New Roman"/>
              </a:rPr>
              <a:t>pool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295910">
              <a:lnSpc>
                <a:spcPct val="100000"/>
              </a:lnSpc>
              <a:spcBef>
                <a:spcPts val="2400"/>
              </a:spcBef>
            </a:pPr>
            <a:r>
              <a:rPr sz="2500" b="1" spc="-5" dirty="0">
                <a:latin typeface="Times New Roman"/>
                <a:cs typeface="Times New Roman"/>
              </a:rPr>
              <a:t>Heap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0813" y="2819412"/>
            <a:ext cx="845819" cy="43307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120"/>
              </a:spcBef>
            </a:pPr>
            <a:r>
              <a:rPr sz="2500" spc="-5" dirty="0">
                <a:latin typeface="Times New Roman"/>
                <a:cs typeface="Times New Roman"/>
              </a:rPr>
              <a:t>str</a:t>
            </a:r>
            <a:endParaRPr sz="25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553711" y="2887979"/>
          <a:ext cx="1281430" cy="1981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1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Hello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2430272" y="2987167"/>
            <a:ext cx="2134870" cy="1016635"/>
            <a:chOff x="2430272" y="2987167"/>
            <a:chExt cx="2134870" cy="1016635"/>
          </a:xfrm>
        </p:grpSpPr>
        <p:sp>
          <p:nvSpPr>
            <p:cNvPr id="9" name="object 9"/>
            <p:cNvSpPr/>
            <p:nvPr/>
          </p:nvSpPr>
          <p:spPr>
            <a:xfrm>
              <a:off x="3285997" y="2987167"/>
              <a:ext cx="1278890" cy="76200"/>
            </a:xfrm>
            <a:custGeom>
              <a:avLst/>
              <a:gdLst/>
              <a:ahLst/>
              <a:cxnLst/>
              <a:rect l="l" t="t" r="r" b="b"/>
              <a:pathLst>
                <a:path w="1278889" h="76200">
                  <a:moveTo>
                    <a:pt x="1260402" y="28448"/>
                  </a:moveTo>
                  <a:lnTo>
                    <a:pt x="1215009" y="28448"/>
                  </a:lnTo>
                  <a:lnTo>
                    <a:pt x="1215263" y="47498"/>
                  </a:lnTo>
                  <a:lnTo>
                    <a:pt x="1202531" y="47608"/>
                  </a:lnTo>
                  <a:lnTo>
                    <a:pt x="1202816" y="76200"/>
                  </a:lnTo>
                  <a:lnTo>
                    <a:pt x="1278636" y="37337"/>
                  </a:lnTo>
                  <a:lnTo>
                    <a:pt x="1260402" y="28448"/>
                  </a:lnTo>
                  <a:close/>
                </a:path>
                <a:path w="1278889" h="76200">
                  <a:moveTo>
                    <a:pt x="1202340" y="28557"/>
                  </a:moveTo>
                  <a:lnTo>
                    <a:pt x="0" y="38988"/>
                  </a:lnTo>
                  <a:lnTo>
                    <a:pt x="253" y="58038"/>
                  </a:lnTo>
                  <a:lnTo>
                    <a:pt x="1202531" y="47608"/>
                  </a:lnTo>
                  <a:lnTo>
                    <a:pt x="1202340" y="28557"/>
                  </a:lnTo>
                  <a:close/>
                </a:path>
                <a:path w="1278889" h="76200">
                  <a:moveTo>
                    <a:pt x="1215009" y="28448"/>
                  </a:moveTo>
                  <a:lnTo>
                    <a:pt x="1202340" y="28557"/>
                  </a:lnTo>
                  <a:lnTo>
                    <a:pt x="1202531" y="47608"/>
                  </a:lnTo>
                  <a:lnTo>
                    <a:pt x="1215263" y="47498"/>
                  </a:lnTo>
                  <a:lnTo>
                    <a:pt x="1215009" y="28448"/>
                  </a:lnTo>
                  <a:close/>
                </a:path>
                <a:path w="1278889" h="76200">
                  <a:moveTo>
                    <a:pt x="1202054" y="0"/>
                  </a:moveTo>
                  <a:lnTo>
                    <a:pt x="1202340" y="28557"/>
                  </a:lnTo>
                  <a:lnTo>
                    <a:pt x="1260402" y="28448"/>
                  </a:lnTo>
                  <a:lnTo>
                    <a:pt x="12020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39797" y="3561600"/>
              <a:ext cx="845819" cy="433070"/>
            </a:xfrm>
            <a:custGeom>
              <a:avLst/>
              <a:gdLst/>
              <a:ahLst/>
              <a:cxnLst/>
              <a:rect l="l" t="t" r="r" b="b"/>
              <a:pathLst>
                <a:path w="845820" h="433070">
                  <a:moveTo>
                    <a:pt x="0" y="432549"/>
                  </a:moveTo>
                  <a:lnTo>
                    <a:pt x="845299" y="432549"/>
                  </a:lnTo>
                  <a:lnTo>
                    <a:pt x="845299" y="0"/>
                  </a:lnTo>
                  <a:lnTo>
                    <a:pt x="0" y="0"/>
                  </a:lnTo>
                  <a:lnTo>
                    <a:pt x="0" y="43254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238500" y="2924555"/>
            <a:ext cx="1445260" cy="925194"/>
            <a:chOff x="3238500" y="2924555"/>
            <a:chExt cx="1445260" cy="925194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3072" y="2924555"/>
              <a:ext cx="1440179" cy="2392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500" y="3025139"/>
              <a:ext cx="1440179" cy="82448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611882" y="3564763"/>
            <a:ext cx="50101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str1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80790" y="3124200"/>
            <a:ext cx="1279525" cy="662305"/>
          </a:xfrm>
          <a:custGeom>
            <a:avLst/>
            <a:gdLst/>
            <a:ahLst/>
            <a:cxnLst/>
            <a:rect l="l" t="t" r="r" b="b"/>
            <a:pathLst>
              <a:path w="1279525" h="662304">
                <a:moveTo>
                  <a:pt x="1207077" y="26271"/>
                </a:moveTo>
                <a:lnTo>
                  <a:pt x="0" y="645160"/>
                </a:lnTo>
                <a:lnTo>
                  <a:pt x="8636" y="662051"/>
                </a:lnTo>
                <a:lnTo>
                  <a:pt x="1215789" y="43249"/>
                </a:lnTo>
                <a:lnTo>
                  <a:pt x="1207077" y="26271"/>
                </a:lnTo>
                <a:close/>
              </a:path>
              <a:path w="1279525" h="662304">
                <a:moveTo>
                  <a:pt x="1264266" y="20447"/>
                </a:moveTo>
                <a:lnTo>
                  <a:pt x="1218438" y="20447"/>
                </a:lnTo>
                <a:lnTo>
                  <a:pt x="1227074" y="37464"/>
                </a:lnTo>
                <a:lnTo>
                  <a:pt x="1215789" y="43249"/>
                </a:lnTo>
                <a:lnTo>
                  <a:pt x="1228852" y="68707"/>
                </a:lnTo>
                <a:lnTo>
                  <a:pt x="1264266" y="20447"/>
                </a:lnTo>
                <a:close/>
              </a:path>
              <a:path w="1279525" h="662304">
                <a:moveTo>
                  <a:pt x="1218438" y="20447"/>
                </a:moveTo>
                <a:lnTo>
                  <a:pt x="1207077" y="26271"/>
                </a:lnTo>
                <a:lnTo>
                  <a:pt x="1215789" y="43249"/>
                </a:lnTo>
                <a:lnTo>
                  <a:pt x="1227074" y="37464"/>
                </a:lnTo>
                <a:lnTo>
                  <a:pt x="1218438" y="20447"/>
                </a:lnTo>
                <a:close/>
              </a:path>
              <a:path w="1279525" h="662304">
                <a:moveTo>
                  <a:pt x="1279271" y="0"/>
                </a:moveTo>
                <a:lnTo>
                  <a:pt x="1194054" y="888"/>
                </a:lnTo>
                <a:lnTo>
                  <a:pt x="1207077" y="26271"/>
                </a:lnTo>
                <a:lnTo>
                  <a:pt x="1218438" y="20447"/>
                </a:lnTo>
                <a:lnTo>
                  <a:pt x="1264266" y="20447"/>
                </a:lnTo>
                <a:lnTo>
                  <a:pt x="12792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439797" y="4311535"/>
            <a:ext cx="845819" cy="413384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45"/>
              </a:spcBef>
            </a:pPr>
            <a:r>
              <a:rPr sz="2500" spc="-5" dirty="0">
                <a:latin typeface="Times New Roman"/>
                <a:cs typeface="Times New Roman"/>
              </a:rPr>
              <a:t>s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23260" y="3076955"/>
            <a:ext cx="1455419" cy="1588008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3266059" y="3176270"/>
            <a:ext cx="1294130" cy="1426210"/>
            <a:chOff x="3266059" y="3176270"/>
            <a:chExt cx="1294130" cy="1426210"/>
          </a:xfrm>
        </p:grpSpPr>
        <p:sp>
          <p:nvSpPr>
            <p:cNvPr id="19" name="object 19"/>
            <p:cNvSpPr/>
            <p:nvPr/>
          </p:nvSpPr>
          <p:spPr>
            <a:xfrm>
              <a:off x="3266059" y="3176270"/>
              <a:ext cx="1294130" cy="1426210"/>
            </a:xfrm>
            <a:custGeom>
              <a:avLst/>
              <a:gdLst/>
              <a:ahLst/>
              <a:cxnLst/>
              <a:rect l="l" t="t" r="r" b="b"/>
              <a:pathLst>
                <a:path w="1294129" h="1426210">
                  <a:moveTo>
                    <a:pt x="1235724" y="50009"/>
                  </a:moveTo>
                  <a:lnTo>
                    <a:pt x="0" y="1413002"/>
                  </a:lnTo>
                  <a:lnTo>
                    <a:pt x="14224" y="1425828"/>
                  </a:lnTo>
                  <a:lnTo>
                    <a:pt x="1249844" y="62825"/>
                  </a:lnTo>
                  <a:lnTo>
                    <a:pt x="1235724" y="50009"/>
                  </a:lnTo>
                  <a:close/>
                </a:path>
                <a:path w="1294129" h="1426210">
                  <a:moveTo>
                    <a:pt x="1282616" y="40639"/>
                  </a:moveTo>
                  <a:lnTo>
                    <a:pt x="1244218" y="40639"/>
                  </a:lnTo>
                  <a:lnTo>
                    <a:pt x="1258442" y="53339"/>
                  </a:lnTo>
                  <a:lnTo>
                    <a:pt x="1249844" y="62825"/>
                  </a:lnTo>
                  <a:lnTo>
                    <a:pt x="1271015" y="82041"/>
                  </a:lnTo>
                  <a:lnTo>
                    <a:pt x="1282616" y="40639"/>
                  </a:lnTo>
                  <a:close/>
                </a:path>
                <a:path w="1294129" h="1426210">
                  <a:moveTo>
                    <a:pt x="1244218" y="40639"/>
                  </a:moveTo>
                  <a:lnTo>
                    <a:pt x="1235724" y="50009"/>
                  </a:lnTo>
                  <a:lnTo>
                    <a:pt x="1249844" y="62825"/>
                  </a:lnTo>
                  <a:lnTo>
                    <a:pt x="1258442" y="53339"/>
                  </a:lnTo>
                  <a:lnTo>
                    <a:pt x="1244218" y="40639"/>
                  </a:lnTo>
                  <a:close/>
                </a:path>
                <a:path w="1294129" h="1426210">
                  <a:moveTo>
                    <a:pt x="1294002" y="0"/>
                  </a:moveTo>
                  <a:lnTo>
                    <a:pt x="1214627" y="30860"/>
                  </a:lnTo>
                  <a:lnTo>
                    <a:pt x="1235724" y="50009"/>
                  </a:lnTo>
                  <a:lnTo>
                    <a:pt x="1244218" y="40639"/>
                  </a:lnTo>
                  <a:lnTo>
                    <a:pt x="1282616" y="40639"/>
                  </a:lnTo>
                  <a:lnTo>
                    <a:pt x="12940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96081" y="3813429"/>
              <a:ext cx="94615" cy="600075"/>
            </a:xfrm>
            <a:custGeom>
              <a:avLst/>
              <a:gdLst/>
              <a:ahLst/>
              <a:cxnLst/>
              <a:rect l="l" t="t" r="r" b="b"/>
              <a:pathLst>
                <a:path w="94614" h="600075">
                  <a:moveTo>
                    <a:pt x="0" y="0"/>
                  </a:moveTo>
                  <a:lnTo>
                    <a:pt x="94488" y="600075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52241" y="4026789"/>
              <a:ext cx="582295" cy="173355"/>
            </a:xfrm>
            <a:custGeom>
              <a:avLst/>
              <a:gdLst/>
              <a:ahLst/>
              <a:cxnLst/>
              <a:rect l="l" t="t" r="r" b="b"/>
              <a:pathLst>
                <a:path w="582295" h="173354">
                  <a:moveTo>
                    <a:pt x="0" y="173355"/>
                  </a:moveTo>
                  <a:lnTo>
                    <a:pt x="582168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97282"/>
            <a:ext cx="71158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new 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 String</a:t>
            </a:r>
            <a:r>
              <a:rPr sz="36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36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 new</a:t>
            </a:r>
            <a:r>
              <a:rPr sz="36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String(“Hello”)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230" y="958342"/>
            <a:ext cx="44018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How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it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working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backend?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00600" y="2214752"/>
            <a:ext cx="3543300" cy="3733800"/>
          </a:xfrm>
          <a:custGeom>
            <a:avLst/>
            <a:gdLst/>
            <a:ahLst/>
            <a:cxnLst/>
            <a:rect l="l" t="t" r="r" b="b"/>
            <a:pathLst>
              <a:path w="3543300" h="3733800">
                <a:moveTo>
                  <a:pt x="0" y="1866900"/>
                </a:moveTo>
                <a:lnTo>
                  <a:pt x="616" y="1817162"/>
                </a:lnTo>
                <a:lnTo>
                  <a:pt x="2455" y="1767746"/>
                </a:lnTo>
                <a:lnTo>
                  <a:pt x="5502" y="1718666"/>
                </a:lnTo>
                <a:lnTo>
                  <a:pt x="9741" y="1669940"/>
                </a:lnTo>
                <a:lnTo>
                  <a:pt x="15157" y="1621584"/>
                </a:lnTo>
                <a:lnTo>
                  <a:pt x="21735" y="1573612"/>
                </a:lnTo>
                <a:lnTo>
                  <a:pt x="29459" y="1526043"/>
                </a:lnTo>
                <a:lnTo>
                  <a:pt x="38314" y="1478891"/>
                </a:lnTo>
                <a:lnTo>
                  <a:pt x="48285" y="1432173"/>
                </a:lnTo>
                <a:lnTo>
                  <a:pt x="59356" y="1385905"/>
                </a:lnTo>
                <a:lnTo>
                  <a:pt x="71512" y="1340103"/>
                </a:lnTo>
                <a:lnTo>
                  <a:pt x="84738" y="1294784"/>
                </a:lnTo>
                <a:lnTo>
                  <a:pt x="99018" y="1249962"/>
                </a:lnTo>
                <a:lnTo>
                  <a:pt x="114337" y="1205656"/>
                </a:lnTo>
                <a:lnTo>
                  <a:pt x="130680" y="1161880"/>
                </a:lnTo>
                <a:lnTo>
                  <a:pt x="148032" y="1118650"/>
                </a:lnTo>
                <a:lnTo>
                  <a:pt x="166377" y="1075984"/>
                </a:lnTo>
                <a:lnTo>
                  <a:pt x="185700" y="1033896"/>
                </a:lnTo>
                <a:lnTo>
                  <a:pt x="205986" y="992404"/>
                </a:lnTo>
                <a:lnTo>
                  <a:pt x="227218" y="951523"/>
                </a:lnTo>
                <a:lnTo>
                  <a:pt x="249383" y="911269"/>
                </a:lnTo>
                <a:lnTo>
                  <a:pt x="272464" y="871658"/>
                </a:lnTo>
                <a:lnTo>
                  <a:pt x="296447" y="832708"/>
                </a:lnTo>
                <a:lnTo>
                  <a:pt x="321316" y="794433"/>
                </a:lnTo>
                <a:lnTo>
                  <a:pt x="347056" y="756849"/>
                </a:lnTo>
                <a:lnTo>
                  <a:pt x="373651" y="719974"/>
                </a:lnTo>
                <a:lnTo>
                  <a:pt x="401086" y="683823"/>
                </a:lnTo>
                <a:lnTo>
                  <a:pt x="429346" y="648412"/>
                </a:lnTo>
                <a:lnTo>
                  <a:pt x="458415" y="613758"/>
                </a:lnTo>
                <a:lnTo>
                  <a:pt x="488279" y="579876"/>
                </a:lnTo>
                <a:lnTo>
                  <a:pt x="518922" y="546782"/>
                </a:lnTo>
                <a:lnTo>
                  <a:pt x="550328" y="514493"/>
                </a:lnTo>
                <a:lnTo>
                  <a:pt x="582482" y="483025"/>
                </a:lnTo>
                <a:lnTo>
                  <a:pt x="615370" y="452395"/>
                </a:lnTo>
                <a:lnTo>
                  <a:pt x="648975" y="422617"/>
                </a:lnTo>
                <a:lnTo>
                  <a:pt x="683282" y="393708"/>
                </a:lnTo>
                <a:lnTo>
                  <a:pt x="718276" y="365685"/>
                </a:lnTo>
                <a:lnTo>
                  <a:pt x="753943" y="338563"/>
                </a:lnTo>
                <a:lnTo>
                  <a:pt x="790265" y="312359"/>
                </a:lnTo>
                <a:lnTo>
                  <a:pt x="827229" y="287088"/>
                </a:lnTo>
                <a:lnTo>
                  <a:pt x="864819" y="262767"/>
                </a:lnTo>
                <a:lnTo>
                  <a:pt x="903019" y="239413"/>
                </a:lnTo>
                <a:lnTo>
                  <a:pt x="941814" y="217040"/>
                </a:lnTo>
                <a:lnTo>
                  <a:pt x="981189" y="195666"/>
                </a:lnTo>
                <a:lnTo>
                  <a:pt x="1021129" y="175305"/>
                </a:lnTo>
                <a:lnTo>
                  <a:pt x="1061618" y="155976"/>
                </a:lnTo>
                <a:lnTo>
                  <a:pt x="1102641" y="137693"/>
                </a:lnTo>
                <a:lnTo>
                  <a:pt x="1144182" y="120472"/>
                </a:lnTo>
                <a:lnTo>
                  <a:pt x="1186227" y="104331"/>
                </a:lnTo>
                <a:lnTo>
                  <a:pt x="1228760" y="89284"/>
                </a:lnTo>
                <a:lnTo>
                  <a:pt x="1271766" y="75348"/>
                </a:lnTo>
                <a:lnTo>
                  <a:pt x="1315229" y="62540"/>
                </a:lnTo>
                <a:lnTo>
                  <a:pt x="1359134" y="50875"/>
                </a:lnTo>
                <a:lnTo>
                  <a:pt x="1403466" y="40369"/>
                </a:lnTo>
                <a:lnTo>
                  <a:pt x="1448209" y="31039"/>
                </a:lnTo>
                <a:lnTo>
                  <a:pt x="1493349" y="22901"/>
                </a:lnTo>
                <a:lnTo>
                  <a:pt x="1538870" y="15971"/>
                </a:lnTo>
                <a:lnTo>
                  <a:pt x="1584756" y="10264"/>
                </a:lnTo>
                <a:lnTo>
                  <a:pt x="1630992" y="5797"/>
                </a:lnTo>
                <a:lnTo>
                  <a:pt x="1677563" y="2587"/>
                </a:lnTo>
                <a:lnTo>
                  <a:pt x="1724454" y="649"/>
                </a:lnTo>
                <a:lnTo>
                  <a:pt x="1771650" y="0"/>
                </a:lnTo>
                <a:lnTo>
                  <a:pt x="1818845" y="649"/>
                </a:lnTo>
                <a:lnTo>
                  <a:pt x="1865736" y="2587"/>
                </a:lnTo>
                <a:lnTo>
                  <a:pt x="1912307" y="5797"/>
                </a:lnTo>
                <a:lnTo>
                  <a:pt x="1958543" y="10264"/>
                </a:lnTo>
                <a:lnTo>
                  <a:pt x="2004429" y="15971"/>
                </a:lnTo>
                <a:lnTo>
                  <a:pt x="2049950" y="22901"/>
                </a:lnTo>
                <a:lnTo>
                  <a:pt x="2095090" y="31039"/>
                </a:lnTo>
                <a:lnTo>
                  <a:pt x="2139833" y="40369"/>
                </a:lnTo>
                <a:lnTo>
                  <a:pt x="2184165" y="50875"/>
                </a:lnTo>
                <a:lnTo>
                  <a:pt x="2228070" y="62540"/>
                </a:lnTo>
                <a:lnTo>
                  <a:pt x="2271533" y="75348"/>
                </a:lnTo>
                <a:lnTo>
                  <a:pt x="2314539" y="89284"/>
                </a:lnTo>
                <a:lnTo>
                  <a:pt x="2357072" y="104331"/>
                </a:lnTo>
                <a:lnTo>
                  <a:pt x="2399117" y="120472"/>
                </a:lnTo>
                <a:lnTo>
                  <a:pt x="2440658" y="137693"/>
                </a:lnTo>
                <a:lnTo>
                  <a:pt x="2481681" y="155976"/>
                </a:lnTo>
                <a:lnTo>
                  <a:pt x="2522170" y="175305"/>
                </a:lnTo>
                <a:lnTo>
                  <a:pt x="2562110" y="195666"/>
                </a:lnTo>
                <a:lnTo>
                  <a:pt x="2601485" y="217040"/>
                </a:lnTo>
                <a:lnTo>
                  <a:pt x="2640280" y="239413"/>
                </a:lnTo>
                <a:lnTo>
                  <a:pt x="2678480" y="262767"/>
                </a:lnTo>
                <a:lnTo>
                  <a:pt x="2716070" y="287088"/>
                </a:lnTo>
                <a:lnTo>
                  <a:pt x="2753034" y="312359"/>
                </a:lnTo>
                <a:lnTo>
                  <a:pt x="2789356" y="338563"/>
                </a:lnTo>
                <a:lnTo>
                  <a:pt x="2825023" y="365685"/>
                </a:lnTo>
                <a:lnTo>
                  <a:pt x="2860017" y="393708"/>
                </a:lnTo>
                <a:lnTo>
                  <a:pt x="2894324" y="422617"/>
                </a:lnTo>
                <a:lnTo>
                  <a:pt x="2927929" y="452395"/>
                </a:lnTo>
                <a:lnTo>
                  <a:pt x="2960817" y="483025"/>
                </a:lnTo>
                <a:lnTo>
                  <a:pt x="2992971" y="514493"/>
                </a:lnTo>
                <a:lnTo>
                  <a:pt x="3024377" y="546782"/>
                </a:lnTo>
                <a:lnTo>
                  <a:pt x="3055020" y="579876"/>
                </a:lnTo>
                <a:lnTo>
                  <a:pt x="3084884" y="613758"/>
                </a:lnTo>
                <a:lnTo>
                  <a:pt x="3113953" y="648412"/>
                </a:lnTo>
                <a:lnTo>
                  <a:pt x="3142213" y="683823"/>
                </a:lnTo>
                <a:lnTo>
                  <a:pt x="3169648" y="719974"/>
                </a:lnTo>
                <a:lnTo>
                  <a:pt x="3196243" y="756849"/>
                </a:lnTo>
                <a:lnTo>
                  <a:pt x="3221983" y="794433"/>
                </a:lnTo>
                <a:lnTo>
                  <a:pt x="3246852" y="832708"/>
                </a:lnTo>
                <a:lnTo>
                  <a:pt x="3270835" y="871658"/>
                </a:lnTo>
                <a:lnTo>
                  <a:pt x="3293916" y="911269"/>
                </a:lnTo>
                <a:lnTo>
                  <a:pt x="3316081" y="951523"/>
                </a:lnTo>
                <a:lnTo>
                  <a:pt x="3337313" y="992404"/>
                </a:lnTo>
                <a:lnTo>
                  <a:pt x="3357599" y="1033896"/>
                </a:lnTo>
                <a:lnTo>
                  <a:pt x="3376922" y="1075984"/>
                </a:lnTo>
                <a:lnTo>
                  <a:pt x="3395267" y="1118650"/>
                </a:lnTo>
                <a:lnTo>
                  <a:pt x="3412619" y="1161880"/>
                </a:lnTo>
                <a:lnTo>
                  <a:pt x="3428962" y="1205656"/>
                </a:lnTo>
                <a:lnTo>
                  <a:pt x="3444281" y="1249962"/>
                </a:lnTo>
                <a:lnTo>
                  <a:pt x="3458561" y="1294784"/>
                </a:lnTo>
                <a:lnTo>
                  <a:pt x="3471787" y="1340103"/>
                </a:lnTo>
                <a:lnTo>
                  <a:pt x="3483943" y="1385905"/>
                </a:lnTo>
                <a:lnTo>
                  <a:pt x="3495014" y="1432173"/>
                </a:lnTo>
                <a:lnTo>
                  <a:pt x="3504985" y="1478891"/>
                </a:lnTo>
                <a:lnTo>
                  <a:pt x="3513840" y="1526043"/>
                </a:lnTo>
                <a:lnTo>
                  <a:pt x="3521564" y="1573612"/>
                </a:lnTo>
                <a:lnTo>
                  <a:pt x="3528142" y="1621584"/>
                </a:lnTo>
                <a:lnTo>
                  <a:pt x="3533558" y="1669940"/>
                </a:lnTo>
                <a:lnTo>
                  <a:pt x="3537797" y="1718666"/>
                </a:lnTo>
                <a:lnTo>
                  <a:pt x="3540844" y="1767746"/>
                </a:lnTo>
                <a:lnTo>
                  <a:pt x="3542683" y="1817162"/>
                </a:lnTo>
                <a:lnTo>
                  <a:pt x="3543300" y="1866900"/>
                </a:lnTo>
                <a:lnTo>
                  <a:pt x="3542683" y="1916637"/>
                </a:lnTo>
                <a:lnTo>
                  <a:pt x="3540844" y="1966053"/>
                </a:lnTo>
                <a:lnTo>
                  <a:pt x="3537797" y="2015133"/>
                </a:lnTo>
                <a:lnTo>
                  <a:pt x="3533558" y="2063859"/>
                </a:lnTo>
                <a:lnTo>
                  <a:pt x="3528142" y="2112215"/>
                </a:lnTo>
                <a:lnTo>
                  <a:pt x="3521564" y="2160186"/>
                </a:lnTo>
                <a:lnTo>
                  <a:pt x="3513840" y="2207756"/>
                </a:lnTo>
                <a:lnTo>
                  <a:pt x="3504985" y="2254907"/>
                </a:lnTo>
                <a:lnTo>
                  <a:pt x="3495014" y="2301625"/>
                </a:lnTo>
                <a:lnTo>
                  <a:pt x="3483943" y="2347893"/>
                </a:lnTo>
                <a:lnTo>
                  <a:pt x="3471787" y="2393695"/>
                </a:lnTo>
                <a:lnTo>
                  <a:pt x="3458561" y="2439014"/>
                </a:lnTo>
                <a:lnTo>
                  <a:pt x="3444281" y="2483835"/>
                </a:lnTo>
                <a:lnTo>
                  <a:pt x="3428962" y="2528142"/>
                </a:lnTo>
                <a:lnTo>
                  <a:pt x="3412619" y="2571918"/>
                </a:lnTo>
                <a:lnTo>
                  <a:pt x="3395267" y="2615147"/>
                </a:lnTo>
                <a:lnTo>
                  <a:pt x="3376922" y="2657813"/>
                </a:lnTo>
                <a:lnTo>
                  <a:pt x="3357599" y="2699900"/>
                </a:lnTo>
                <a:lnTo>
                  <a:pt x="3337313" y="2741392"/>
                </a:lnTo>
                <a:lnTo>
                  <a:pt x="3316081" y="2782273"/>
                </a:lnTo>
                <a:lnTo>
                  <a:pt x="3293916" y="2822527"/>
                </a:lnTo>
                <a:lnTo>
                  <a:pt x="3270835" y="2862137"/>
                </a:lnTo>
                <a:lnTo>
                  <a:pt x="3246852" y="2901087"/>
                </a:lnTo>
                <a:lnTo>
                  <a:pt x="3221983" y="2939362"/>
                </a:lnTo>
                <a:lnTo>
                  <a:pt x="3196243" y="2976945"/>
                </a:lnTo>
                <a:lnTo>
                  <a:pt x="3169648" y="3013820"/>
                </a:lnTo>
                <a:lnTo>
                  <a:pt x="3142213" y="3049971"/>
                </a:lnTo>
                <a:lnTo>
                  <a:pt x="3113953" y="3085381"/>
                </a:lnTo>
                <a:lnTo>
                  <a:pt x="3084884" y="3120036"/>
                </a:lnTo>
                <a:lnTo>
                  <a:pt x="3055020" y="3153917"/>
                </a:lnTo>
                <a:lnTo>
                  <a:pt x="3024378" y="3187011"/>
                </a:lnTo>
                <a:lnTo>
                  <a:pt x="2992971" y="3219299"/>
                </a:lnTo>
                <a:lnTo>
                  <a:pt x="2960817" y="3250767"/>
                </a:lnTo>
                <a:lnTo>
                  <a:pt x="2927929" y="3281397"/>
                </a:lnTo>
                <a:lnTo>
                  <a:pt x="2894324" y="3311175"/>
                </a:lnTo>
                <a:lnTo>
                  <a:pt x="2860017" y="3340083"/>
                </a:lnTo>
                <a:lnTo>
                  <a:pt x="2825023" y="3368106"/>
                </a:lnTo>
                <a:lnTo>
                  <a:pt x="2789356" y="3395228"/>
                </a:lnTo>
                <a:lnTo>
                  <a:pt x="2753034" y="3421432"/>
                </a:lnTo>
                <a:lnTo>
                  <a:pt x="2716070" y="3446702"/>
                </a:lnTo>
                <a:lnTo>
                  <a:pt x="2678480" y="3471022"/>
                </a:lnTo>
                <a:lnTo>
                  <a:pt x="2640280" y="3494377"/>
                </a:lnTo>
                <a:lnTo>
                  <a:pt x="2601485" y="3516749"/>
                </a:lnTo>
                <a:lnTo>
                  <a:pt x="2562110" y="3538123"/>
                </a:lnTo>
                <a:lnTo>
                  <a:pt x="2522170" y="3558483"/>
                </a:lnTo>
                <a:lnTo>
                  <a:pt x="2481681" y="3577813"/>
                </a:lnTo>
                <a:lnTo>
                  <a:pt x="2440658" y="3596096"/>
                </a:lnTo>
                <a:lnTo>
                  <a:pt x="2399117" y="3613316"/>
                </a:lnTo>
                <a:lnTo>
                  <a:pt x="2357072" y="3629457"/>
                </a:lnTo>
                <a:lnTo>
                  <a:pt x="2314539" y="3644504"/>
                </a:lnTo>
                <a:lnTo>
                  <a:pt x="2271533" y="3658439"/>
                </a:lnTo>
                <a:lnTo>
                  <a:pt x="2228070" y="3671247"/>
                </a:lnTo>
                <a:lnTo>
                  <a:pt x="2184165" y="3682912"/>
                </a:lnTo>
                <a:lnTo>
                  <a:pt x="2139833" y="3693417"/>
                </a:lnTo>
                <a:lnTo>
                  <a:pt x="2095090" y="3702747"/>
                </a:lnTo>
                <a:lnTo>
                  <a:pt x="2049950" y="3710886"/>
                </a:lnTo>
                <a:lnTo>
                  <a:pt x="2004429" y="3717816"/>
                </a:lnTo>
                <a:lnTo>
                  <a:pt x="1958543" y="3723522"/>
                </a:lnTo>
                <a:lnTo>
                  <a:pt x="1912307" y="3727989"/>
                </a:lnTo>
                <a:lnTo>
                  <a:pt x="1865736" y="3731199"/>
                </a:lnTo>
                <a:lnTo>
                  <a:pt x="1818845" y="3733137"/>
                </a:lnTo>
                <a:lnTo>
                  <a:pt x="1771650" y="3733787"/>
                </a:lnTo>
                <a:lnTo>
                  <a:pt x="1724454" y="3733137"/>
                </a:lnTo>
                <a:lnTo>
                  <a:pt x="1677563" y="3731199"/>
                </a:lnTo>
                <a:lnTo>
                  <a:pt x="1630992" y="3727989"/>
                </a:lnTo>
                <a:lnTo>
                  <a:pt x="1584756" y="3723522"/>
                </a:lnTo>
                <a:lnTo>
                  <a:pt x="1538870" y="3717816"/>
                </a:lnTo>
                <a:lnTo>
                  <a:pt x="1493349" y="3710886"/>
                </a:lnTo>
                <a:lnTo>
                  <a:pt x="1448209" y="3702747"/>
                </a:lnTo>
                <a:lnTo>
                  <a:pt x="1403466" y="3693417"/>
                </a:lnTo>
                <a:lnTo>
                  <a:pt x="1359134" y="3682912"/>
                </a:lnTo>
                <a:lnTo>
                  <a:pt x="1315229" y="3671247"/>
                </a:lnTo>
                <a:lnTo>
                  <a:pt x="1271766" y="3658439"/>
                </a:lnTo>
                <a:lnTo>
                  <a:pt x="1228760" y="3644504"/>
                </a:lnTo>
                <a:lnTo>
                  <a:pt x="1186227" y="3629457"/>
                </a:lnTo>
                <a:lnTo>
                  <a:pt x="1144182" y="3613316"/>
                </a:lnTo>
                <a:lnTo>
                  <a:pt x="1102641" y="3596096"/>
                </a:lnTo>
                <a:lnTo>
                  <a:pt x="1061618" y="3577813"/>
                </a:lnTo>
                <a:lnTo>
                  <a:pt x="1021129" y="3558483"/>
                </a:lnTo>
                <a:lnTo>
                  <a:pt x="981189" y="3538123"/>
                </a:lnTo>
                <a:lnTo>
                  <a:pt x="941814" y="3516749"/>
                </a:lnTo>
                <a:lnTo>
                  <a:pt x="903019" y="3494377"/>
                </a:lnTo>
                <a:lnTo>
                  <a:pt x="864819" y="3471022"/>
                </a:lnTo>
                <a:lnTo>
                  <a:pt x="827229" y="3446702"/>
                </a:lnTo>
                <a:lnTo>
                  <a:pt x="790265" y="3421432"/>
                </a:lnTo>
                <a:lnTo>
                  <a:pt x="753943" y="3395228"/>
                </a:lnTo>
                <a:lnTo>
                  <a:pt x="718276" y="3368106"/>
                </a:lnTo>
                <a:lnTo>
                  <a:pt x="683282" y="3340083"/>
                </a:lnTo>
                <a:lnTo>
                  <a:pt x="648975" y="3311175"/>
                </a:lnTo>
                <a:lnTo>
                  <a:pt x="615370" y="3281397"/>
                </a:lnTo>
                <a:lnTo>
                  <a:pt x="582482" y="3250767"/>
                </a:lnTo>
                <a:lnTo>
                  <a:pt x="550328" y="3219299"/>
                </a:lnTo>
                <a:lnTo>
                  <a:pt x="518922" y="3187011"/>
                </a:lnTo>
                <a:lnTo>
                  <a:pt x="488279" y="3153917"/>
                </a:lnTo>
                <a:lnTo>
                  <a:pt x="458415" y="3120036"/>
                </a:lnTo>
                <a:lnTo>
                  <a:pt x="429346" y="3085381"/>
                </a:lnTo>
                <a:lnTo>
                  <a:pt x="401086" y="3049971"/>
                </a:lnTo>
                <a:lnTo>
                  <a:pt x="373651" y="3013820"/>
                </a:lnTo>
                <a:lnTo>
                  <a:pt x="347056" y="2976945"/>
                </a:lnTo>
                <a:lnTo>
                  <a:pt x="321316" y="2939362"/>
                </a:lnTo>
                <a:lnTo>
                  <a:pt x="296447" y="2901087"/>
                </a:lnTo>
                <a:lnTo>
                  <a:pt x="272464" y="2862137"/>
                </a:lnTo>
                <a:lnTo>
                  <a:pt x="249383" y="2822527"/>
                </a:lnTo>
                <a:lnTo>
                  <a:pt x="227218" y="2782273"/>
                </a:lnTo>
                <a:lnTo>
                  <a:pt x="205986" y="2741392"/>
                </a:lnTo>
                <a:lnTo>
                  <a:pt x="185700" y="2699900"/>
                </a:lnTo>
                <a:lnTo>
                  <a:pt x="166377" y="2657813"/>
                </a:lnTo>
                <a:lnTo>
                  <a:pt x="148032" y="2615147"/>
                </a:lnTo>
                <a:lnTo>
                  <a:pt x="130680" y="2571918"/>
                </a:lnTo>
                <a:lnTo>
                  <a:pt x="114337" y="2528142"/>
                </a:lnTo>
                <a:lnTo>
                  <a:pt x="99018" y="2483835"/>
                </a:lnTo>
                <a:lnTo>
                  <a:pt x="84738" y="2439014"/>
                </a:lnTo>
                <a:lnTo>
                  <a:pt x="71512" y="2393695"/>
                </a:lnTo>
                <a:lnTo>
                  <a:pt x="59356" y="2347893"/>
                </a:lnTo>
                <a:lnTo>
                  <a:pt x="48285" y="2301625"/>
                </a:lnTo>
                <a:lnTo>
                  <a:pt x="38314" y="2254907"/>
                </a:lnTo>
                <a:lnTo>
                  <a:pt x="29459" y="2207756"/>
                </a:lnTo>
                <a:lnTo>
                  <a:pt x="21735" y="2160186"/>
                </a:lnTo>
                <a:lnTo>
                  <a:pt x="15157" y="2112215"/>
                </a:lnTo>
                <a:lnTo>
                  <a:pt x="9741" y="2063859"/>
                </a:lnTo>
                <a:lnTo>
                  <a:pt x="5502" y="2015133"/>
                </a:lnTo>
                <a:lnTo>
                  <a:pt x="2455" y="1966053"/>
                </a:lnTo>
                <a:lnTo>
                  <a:pt x="616" y="1916637"/>
                </a:lnTo>
                <a:lnTo>
                  <a:pt x="0" y="1866900"/>
                </a:lnTo>
                <a:close/>
              </a:path>
            </a:pathLst>
          </a:custGeom>
          <a:ln w="25400">
            <a:solidFill>
              <a:srgbClr val="E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41209" y="5783681"/>
            <a:ext cx="74803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Times New Roman"/>
                <a:cs typeface="Times New Roman"/>
              </a:rPr>
              <a:t>Heap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25311" y="2887979"/>
            <a:ext cx="1294130" cy="1993900"/>
          </a:xfrm>
          <a:custGeom>
            <a:avLst/>
            <a:gdLst/>
            <a:ahLst/>
            <a:cxnLst/>
            <a:rect l="l" t="t" r="r" b="b"/>
            <a:pathLst>
              <a:path w="1294129" h="1993900">
                <a:moveTo>
                  <a:pt x="0" y="402590"/>
                </a:moveTo>
                <a:lnTo>
                  <a:pt x="1293876" y="402590"/>
                </a:lnTo>
              </a:path>
              <a:path w="1294129" h="1993900">
                <a:moveTo>
                  <a:pt x="0" y="798830"/>
                </a:moveTo>
                <a:lnTo>
                  <a:pt x="1293876" y="798830"/>
                </a:lnTo>
              </a:path>
              <a:path w="1294129" h="1993900">
                <a:moveTo>
                  <a:pt x="0" y="1195070"/>
                </a:moveTo>
                <a:lnTo>
                  <a:pt x="1293876" y="1195070"/>
                </a:lnTo>
              </a:path>
              <a:path w="1294129" h="1993900">
                <a:moveTo>
                  <a:pt x="0" y="1591310"/>
                </a:moveTo>
                <a:lnTo>
                  <a:pt x="1293876" y="1591310"/>
                </a:lnTo>
              </a:path>
              <a:path w="1294129" h="1993900">
                <a:moveTo>
                  <a:pt x="6350" y="0"/>
                </a:moveTo>
                <a:lnTo>
                  <a:pt x="6350" y="1993900"/>
                </a:lnTo>
              </a:path>
              <a:path w="1294129" h="1993900">
                <a:moveTo>
                  <a:pt x="1287526" y="0"/>
                </a:moveTo>
                <a:lnTo>
                  <a:pt x="1287526" y="1993900"/>
                </a:lnTo>
              </a:path>
              <a:path w="1294129" h="1993900">
                <a:moveTo>
                  <a:pt x="0" y="6350"/>
                </a:moveTo>
                <a:lnTo>
                  <a:pt x="1293876" y="6350"/>
                </a:lnTo>
              </a:path>
              <a:path w="1294129" h="1993900">
                <a:moveTo>
                  <a:pt x="0" y="1987550"/>
                </a:moveTo>
                <a:lnTo>
                  <a:pt x="1293876" y="198755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11417" y="4875657"/>
            <a:ext cx="153289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latin typeface="Times New Roman"/>
                <a:cs typeface="Times New Roman"/>
              </a:rPr>
              <a:t>String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spc="-5" dirty="0">
                <a:latin typeface="Times New Roman"/>
                <a:cs typeface="Times New Roman"/>
              </a:rPr>
              <a:t>pool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12413" y="2819412"/>
            <a:ext cx="845819" cy="433070"/>
          </a:xfrm>
          <a:custGeom>
            <a:avLst/>
            <a:gdLst/>
            <a:ahLst/>
            <a:cxnLst/>
            <a:rect l="l" t="t" r="r" b="b"/>
            <a:pathLst>
              <a:path w="845820" h="433070">
                <a:moveTo>
                  <a:pt x="0" y="432549"/>
                </a:moveTo>
                <a:lnTo>
                  <a:pt x="845299" y="432549"/>
                </a:lnTo>
                <a:lnTo>
                  <a:pt x="845299" y="0"/>
                </a:lnTo>
                <a:lnTo>
                  <a:pt x="0" y="0"/>
                </a:lnTo>
                <a:lnTo>
                  <a:pt x="0" y="43254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64000" y="2822270"/>
            <a:ext cx="342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str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31661" y="2894329"/>
            <a:ext cx="1281430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305"/>
              </a:spcBef>
            </a:pPr>
            <a:r>
              <a:rPr sz="1800" dirty="0">
                <a:latin typeface="Times New Roman"/>
                <a:cs typeface="Times New Roman"/>
              </a:rPr>
              <a:t>Hello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01871" y="2924555"/>
            <a:ext cx="2252980" cy="1079500"/>
            <a:chOff x="3801871" y="2924555"/>
            <a:chExt cx="2252980" cy="10795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4671" y="2924555"/>
              <a:ext cx="1440179" cy="2392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57597" y="2987166"/>
              <a:ext cx="1278890" cy="76200"/>
            </a:xfrm>
            <a:custGeom>
              <a:avLst/>
              <a:gdLst/>
              <a:ahLst/>
              <a:cxnLst/>
              <a:rect l="l" t="t" r="r" b="b"/>
              <a:pathLst>
                <a:path w="1278889" h="76200">
                  <a:moveTo>
                    <a:pt x="1260402" y="28448"/>
                  </a:moveTo>
                  <a:lnTo>
                    <a:pt x="1215009" y="28448"/>
                  </a:lnTo>
                  <a:lnTo>
                    <a:pt x="1215263" y="47498"/>
                  </a:lnTo>
                  <a:lnTo>
                    <a:pt x="1202531" y="47608"/>
                  </a:lnTo>
                  <a:lnTo>
                    <a:pt x="1202816" y="76200"/>
                  </a:lnTo>
                  <a:lnTo>
                    <a:pt x="1278636" y="37337"/>
                  </a:lnTo>
                  <a:lnTo>
                    <a:pt x="1260402" y="28448"/>
                  </a:lnTo>
                  <a:close/>
                </a:path>
                <a:path w="1278889" h="76200">
                  <a:moveTo>
                    <a:pt x="1202340" y="28557"/>
                  </a:moveTo>
                  <a:lnTo>
                    <a:pt x="0" y="38988"/>
                  </a:lnTo>
                  <a:lnTo>
                    <a:pt x="253" y="58038"/>
                  </a:lnTo>
                  <a:lnTo>
                    <a:pt x="1202531" y="47608"/>
                  </a:lnTo>
                  <a:lnTo>
                    <a:pt x="1202340" y="28557"/>
                  </a:lnTo>
                  <a:close/>
                </a:path>
                <a:path w="1278889" h="76200">
                  <a:moveTo>
                    <a:pt x="1215009" y="28448"/>
                  </a:moveTo>
                  <a:lnTo>
                    <a:pt x="1202340" y="28557"/>
                  </a:lnTo>
                  <a:lnTo>
                    <a:pt x="1202531" y="47608"/>
                  </a:lnTo>
                  <a:lnTo>
                    <a:pt x="1215263" y="47498"/>
                  </a:lnTo>
                  <a:lnTo>
                    <a:pt x="1215009" y="28448"/>
                  </a:lnTo>
                  <a:close/>
                </a:path>
                <a:path w="1278889" h="76200">
                  <a:moveTo>
                    <a:pt x="1202054" y="0"/>
                  </a:moveTo>
                  <a:lnTo>
                    <a:pt x="1202340" y="28557"/>
                  </a:lnTo>
                  <a:lnTo>
                    <a:pt x="1260402" y="28448"/>
                  </a:lnTo>
                  <a:lnTo>
                    <a:pt x="12020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1396" y="3561600"/>
              <a:ext cx="845819" cy="433070"/>
            </a:xfrm>
            <a:custGeom>
              <a:avLst/>
              <a:gdLst/>
              <a:ahLst/>
              <a:cxnLst/>
              <a:rect l="l" t="t" r="r" b="b"/>
              <a:pathLst>
                <a:path w="845820" h="433070">
                  <a:moveTo>
                    <a:pt x="0" y="432549"/>
                  </a:moveTo>
                  <a:lnTo>
                    <a:pt x="845299" y="432549"/>
                  </a:lnTo>
                  <a:lnTo>
                    <a:pt x="845299" y="0"/>
                  </a:lnTo>
                  <a:lnTo>
                    <a:pt x="0" y="0"/>
                  </a:lnTo>
                  <a:lnTo>
                    <a:pt x="0" y="43254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83863" y="3564763"/>
            <a:ext cx="50101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str1</a:t>
            </a:r>
            <a:endParaRPr sz="25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01871" y="3025139"/>
            <a:ext cx="2248535" cy="1709420"/>
            <a:chOff x="3801871" y="3025139"/>
            <a:chExt cx="2248535" cy="170942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0099" y="3025139"/>
              <a:ext cx="1440179" cy="82448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652390" y="3124199"/>
              <a:ext cx="1279525" cy="662305"/>
            </a:xfrm>
            <a:custGeom>
              <a:avLst/>
              <a:gdLst/>
              <a:ahLst/>
              <a:cxnLst/>
              <a:rect l="l" t="t" r="r" b="b"/>
              <a:pathLst>
                <a:path w="1279525" h="662304">
                  <a:moveTo>
                    <a:pt x="1207077" y="26271"/>
                  </a:moveTo>
                  <a:lnTo>
                    <a:pt x="0" y="645160"/>
                  </a:lnTo>
                  <a:lnTo>
                    <a:pt x="8636" y="662051"/>
                  </a:lnTo>
                  <a:lnTo>
                    <a:pt x="1215789" y="43249"/>
                  </a:lnTo>
                  <a:lnTo>
                    <a:pt x="1207077" y="26271"/>
                  </a:lnTo>
                  <a:close/>
                </a:path>
                <a:path w="1279525" h="662304">
                  <a:moveTo>
                    <a:pt x="1264266" y="20447"/>
                  </a:moveTo>
                  <a:lnTo>
                    <a:pt x="1218438" y="20447"/>
                  </a:lnTo>
                  <a:lnTo>
                    <a:pt x="1227074" y="37464"/>
                  </a:lnTo>
                  <a:lnTo>
                    <a:pt x="1215789" y="43249"/>
                  </a:lnTo>
                  <a:lnTo>
                    <a:pt x="1228852" y="68707"/>
                  </a:lnTo>
                  <a:lnTo>
                    <a:pt x="1264266" y="20447"/>
                  </a:lnTo>
                  <a:close/>
                </a:path>
                <a:path w="1279525" h="662304">
                  <a:moveTo>
                    <a:pt x="1218438" y="20447"/>
                  </a:moveTo>
                  <a:lnTo>
                    <a:pt x="1207077" y="26271"/>
                  </a:lnTo>
                  <a:lnTo>
                    <a:pt x="1215789" y="43249"/>
                  </a:lnTo>
                  <a:lnTo>
                    <a:pt x="1227074" y="37464"/>
                  </a:lnTo>
                  <a:lnTo>
                    <a:pt x="1218438" y="20447"/>
                  </a:lnTo>
                  <a:close/>
                </a:path>
                <a:path w="1279525" h="662304">
                  <a:moveTo>
                    <a:pt x="1279271" y="0"/>
                  </a:moveTo>
                  <a:lnTo>
                    <a:pt x="1194054" y="888"/>
                  </a:lnTo>
                  <a:lnTo>
                    <a:pt x="1207077" y="26271"/>
                  </a:lnTo>
                  <a:lnTo>
                    <a:pt x="1218438" y="20447"/>
                  </a:lnTo>
                  <a:lnTo>
                    <a:pt x="1264266" y="20447"/>
                  </a:lnTo>
                  <a:lnTo>
                    <a:pt x="12792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11396" y="4311535"/>
              <a:ext cx="845819" cy="413384"/>
            </a:xfrm>
            <a:custGeom>
              <a:avLst/>
              <a:gdLst/>
              <a:ahLst/>
              <a:cxnLst/>
              <a:rect l="l" t="t" r="r" b="b"/>
              <a:pathLst>
                <a:path w="845820" h="413385">
                  <a:moveTo>
                    <a:pt x="0" y="413118"/>
                  </a:moveTo>
                  <a:lnTo>
                    <a:pt x="845299" y="413118"/>
                  </a:lnTo>
                  <a:lnTo>
                    <a:pt x="845299" y="0"/>
                  </a:lnTo>
                  <a:lnTo>
                    <a:pt x="0" y="0"/>
                  </a:lnTo>
                  <a:lnTo>
                    <a:pt x="0" y="41311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160646" y="4305046"/>
            <a:ext cx="14922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s</a:t>
            </a:r>
            <a:endParaRPr sz="25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613147" y="4368317"/>
            <a:ext cx="1331595" cy="450850"/>
            <a:chOff x="4613147" y="4368317"/>
            <a:chExt cx="1331595" cy="45085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3147" y="4494276"/>
              <a:ext cx="579120" cy="23926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656581" y="4555998"/>
              <a:ext cx="416559" cy="76200"/>
            </a:xfrm>
            <a:custGeom>
              <a:avLst/>
              <a:gdLst/>
              <a:ahLst/>
              <a:cxnLst/>
              <a:rect l="l" t="t" r="r" b="b"/>
              <a:pathLst>
                <a:path w="416560" h="76200">
                  <a:moveTo>
                    <a:pt x="397898" y="28575"/>
                  </a:moveTo>
                  <a:lnTo>
                    <a:pt x="352805" y="28575"/>
                  </a:lnTo>
                  <a:lnTo>
                    <a:pt x="352932" y="47625"/>
                  </a:lnTo>
                  <a:lnTo>
                    <a:pt x="340217" y="47684"/>
                  </a:lnTo>
                  <a:lnTo>
                    <a:pt x="340359" y="76200"/>
                  </a:lnTo>
                  <a:lnTo>
                    <a:pt x="416432" y="37718"/>
                  </a:lnTo>
                  <a:lnTo>
                    <a:pt x="397898" y="28575"/>
                  </a:lnTo>
                  <a:close/>
                </a:path>
                <a:path w="416560" h="76200">
                  <a:moveTo>
                    <a:pt x="340122" y="28634"/>
                  </a:moveTo>
                  <a:lnTo>
                    <a:pt x="0" y="30225"/>
                  </a:lnTo>
                  <a:lnTo>
                    <a:pt x="126" y="49275"/>
                  </a:lnTo>
                  <a:lnTo>
                    <a:pt x="340217" y="47684"/>
                  </a:lnTo>
                  <a:lnTo>
                    <a:pt x="340122" y="28634"/>
                  </a:lnTo>
                  <a:close/>
                </a:path>
                <a:path w="416560" h="76200">
                  <a:moveTo>
                    <a:pt x="352805" y="28575"/>
                  </a:moveTo>
                  <a:lnTo>
                    <a:pt x="340122" y="28634"/>
                  </a:lnTo>
                  <a:lnTo>
                    <a:pt x="340217" y="47684"/>
                  </a:lnTo>
                  <a:lnTo>
                    <a:pt x="352932" y="47625"/>
                  </a:lnTo>
                  <a:lnTo>
                    <a:pt x="352805" y="28575"/>
                  </a:lnTo>
                  <a:close/>
                </a:path>
                <a:path w="416560" h="76200">
                  <a:moveTo>
                    <a:pt x="339978" y="0"/>
                  </a:moveTo>
                  <a:lnTo>
                    <a:pt x="340122" y="28634"/>
                  </a:lnTo>
                  <a:lnTo>
                    <a:pt x="397898" y="28575"/>
                  </a:lnTo>
                  <a:lnTo>
                    <a:pt x="3399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73014" y="4381017"/>
              <a:ext cx="859155" cy="425450"/>
            </a:xfrm>
            <a:custGeom>
              <a:avLst/>
              <a:gdLst/>
              <a:ahLst/>
              <a:cxnLst/>
              <a:rect l="l" t="t" r="r" b="b"/>
              <a:pathLst>
                <a:path w="859154" h="425450">
                  <a:moveTo>
                    <a:pt x="858685" y="0"/>
                  </a:moveTo>
                  <a:lnTo>
                    <a:pt x="0" y="0"/>
                  </a:lnTo>
                  <a:lnTo>
                    <a:pt x="0" y="425424"/>
                  </a:lnTo>
                  <a:lnTo>
                    <a:pt x="858685" y="425424"/>
                  </a:lnTo>
                  <a:lnTo>
                    <a:pt x="8586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73014" y="4381017"/>
              <a:ext cx="859155" cy="425450"/>
            </a:xfrm>
            <a:custGeom>
              <a:avLst/>
              <a:gdLst/>
              <a:ahLst/>
              <a:cxnLst/>
              <a:rect l="l" t="t" r="r" b="b"/>
              <a:pathLst>
                <a:path w="859154" h="425450">
                  <a:moveTo>
                    <a:pt x="0" y="425424"/>
                  </a:moveTo>
                  <a:lnTo>
                    <a:pt x="858685" y="425424"/>
                  </a:lnTo>
                  <a:lnTo>
                    <a:pt x="858685" y="0"/>
                  </a:lnTo>
                  <a:lnTo>
                    <a:pt x="0" y="0"/>
                  </a:lnTo>
                  <a:lnTo>
                    <a:pt x="0" y="425424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073015" y="4381017"/>
            <a:ext cx="859155" cy="4254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409"/>
              </a:spcBef>
            </a:pPr>
            <a:r>
              <a:rPr sz="2000" spc="-5" dirty="0">
                <a:latin typeface="Times New Roman"/>
                <a:cs typeface="Times New Roman"/>
              </a:rPr>
              <a:t>Hello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6775" y="1594865"/>
            <a:ext cx="3187700" cy="414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In </a:t>
            </a:r>
            <a:r>
              <a:rPr sz="1800" spc="-5" dirty="0">
                <a:latin typeface="Times New Roman"/>
                <a:cs typeface="Times New Roman"/>
              </a:rPr>
              <a:t>such </a:t>
            </a:r>
            <a:r>
              <a:rPr sz="1800" dirty="0">
                <a:latin typeface="Times New Roman"/>
                <a:cs typeface="Times New Roman"/>
              </a:rPr>
              <a:t>case,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JVM will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create a </a:t>
            </a:r>
            <a:r>
              <a:rPr sz="18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new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string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object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heap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memory</a:t>
            </a:r>
            <a:r>
              <a:rPr sz="1800" spc="-15" dirty="0">
                <a:latin typeface="Times New Roman"/>
                <a:cs typeface="Times New Roman"/>
              </a:rPr>
              <a:t>,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the literal </a:t>
            </a:r>
            <a:r>
              <a:rPr sz="1800" spc="-5" dirty="0">
                <a:latin typeface="Times New Roman"/>
                <a:cs typeface="Times New Roman"/>
              </a:rPr>
              <a:t>“Hello" will </a:t>
            </a:r>
            <a:r>
              <a:rPr sz="1800" dirty="0">
                <a:latin typeface="Times New Roman"/>
                <a:cs typeface="Times New Roman"/>
              </a:rPr>
              <a:t>be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placed in the string constant pool.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variable </a:t>
            </a:r>
            <a:r>
              <a:rPr sz="1800" spc="-5" dirty="0">
                <a:latin typeface="Times New Roman"/>
                <a:cs typeface="Times New Roman"/>
              </a:rPr>
              <a:t>“s” will </a:t>
            </a:r>
            <a:r>
              <a:rPr sz="1800" dirty="0">
                <a:latin typeface="Times New Roman"/>
                <a:cs typeface="Times New Roman"/>
              </a:rPr>
              <a:t>refer to the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heap.</a:t>
            </a:r>
            <a:endParaRPr sz="1800">
              <a:latin typeface="Times New Roman"/>
              <a:cs typeface="Times New Roman"/>
            </a:endParaRPr>
          </a:p>
          <a:p>
            <a:pPr marL="12700" marR="11239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Therefore, if </a:t>
            </a:r>
            <a:r>
              <a:rPr sz="1800" spc="-5" dirty="0">
                <a:latin typeface="Times New Roman"/>
                <a:cs typeface="Times New Roman"/>
              </a:rPr>
              <a:t>we </a:t>
            </a:r>
            <a:r>
              <a:rPr sz="1800" dirty="0">
                <a:latin typeface="Times New Roman"/>
                <a:cs typeface="Times New Roman"/>
              </a:rPr>
              <a:t>compare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performance </a:t>
            </a:r>
            <a:r>
              <a:rPr sz="1800" dirty="0">
                <a:latin typeface="Times New Roman"/>
                <a:cs typeface="Times New Roman"/>
              </a:rPr>
              <a:t>of string literal and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string object, string object </a:t>
            </a:r>
            <a:r>
              <a:rPr sz="1800" spc="-5" dirty="0">
                <a:latin typeface="Times New Roman"/>
                <a:cs typeface="Times New Roman"/>
              </a:rPr>
              <a:t>will </a:t>
            </a:r>
            <a:r>
              <a:rPr sz="1800" dirty="0">
                <a:latin typeface="Times New Roman"/>
                <a:cs typeface="Times New Roman"/>
              </a:rPr>
              <a:t> always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take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more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time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execute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 string literal because it will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construct a new </a:t>
            </a:r>
            <a:r>
              <a:rPr sz="1800" spc="-5" dirty="0">
                <a:latin typeface="Times New Roman"/>
                <a:cs typeface="Times New Roman"/>
              </a:rPr>
              <a:t>string </a:t>
            </a:r>
            <a:r>
              <a:rPr sz="1800" dirty="0">
                <a:latin typeface="Times New Roman"/>
                <a:cs typeface="Times New Roman"/>
              </a:rPr>
              <a:t>every </a:t>
            </a:r>
            <a:r>
              <a:rPr sz="1800" spc="-5" dirty="0">
                <a:latin typeface="Times New Roman"/>
                <a:cs typeface="Times New Roman"/>
              </a:rPr>
              <a:t>time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5" dirty="0">
                <a:latin typeface="Times New Roman"/>
                <a:cs typeface="Times New Roman"/>
              </a:rPr>
              <a:t> 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executed.</a:t>
            </a:r>
            <a:endParaRPr sz="1800">
              <a:latin typeface="Times New Roman"/>
              <a:cs typeface="Times New Roman"/>
            </a:endParaRPr>
          </a:p>
          <a:p>
            <a:pPr marL="12700" marR="10668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Times New Roman"/>
                <a:cs typeface="Times New Roman"/>
              </a:rPr>
              <a:t>Note: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Execution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time 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compiler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dependent.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77112"/>
            <a:ext cx="5673090" cy="537591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250" dirty="0">
                <a:latin typeface="Arial MT"/>
                <a:cs typeface="Arial MT"/>
              </a:rPr>
              <a:t>class</a:t>
            </a:r>
            <a:r>
              <a:rPr sz="2250" spc="-5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StringStorage</a:t>
            </a:r>
            <a:r>
              <a:rPr sz="2250" spc="-5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{</a:t>
            </a:r>
            <a:endParaRPr sz="225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public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static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void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main(String </a:t>
            </a:r>
            <a:r>
              <a:rPr sz="2250" spc="-5" dirty="0">
                <a:latin typeface="Arial MT"/>
                <a:cs typeface="Arial MT"/>
              </a:rPr>
              <a:t>args[])</a:t>
            </a:r>
            <a:endParaRPr sz="225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545"/>
              </a:spcBef>
            </a:pPr>
            <a:r>
              <a:rPr sz="2250" dirty="0">
                <a:latin typeface="Arial MT"/>
                <a:cs typeface="Arial MT"/>
              </a:rPr>
              <a:t>{</a:t>
            </a:r>
            <a:endParaRPr sz="2250">
              <a:latin typeface="Arial MT"/>
              <a:cs typeface="Arial MT"/>
            </a:endParaRPr>
          </a:p>
          <a:p>
            <a:pPr marL="1841500" marR="1546860">
              <a:lnSpc>
                <a:spcPct val="120000"/>
              </a:lnSpc>
            </a:pPr>
            <a:r>
              <a:rPr sz="2250" dirty="0">
                <a:latin typeface="Arial MT"/>
                <a:cs typeface="Arial MT"/>
              </a:rPr>
              <a:t>String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s1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=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"TAT"; </a:t>
            </a:r>
            <a:r>
              <a:rPr sz="2250" spc="-6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s2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=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"TAT";</a:t>
            </a:r>
            <a:endParaRPr sz="2250">
              <a:latin typeface="Arial MT"/>
              <a:cs typeface="Arial MT"/>
            </a:endParaRPr>
          </a:p>
          <a:p>
            <a:pPr marL="18415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String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s3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=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new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String("TAT");</a:t>
            </a:r>
            <a:endParaRPr sz="2250">
              <a:latin typeface="Arial MT"/>
              <a:cs typeface="Arial MT"/>
            </a:endParaRPr>
          </a:p>
          <a:p>
            <a:pPr marL="1841500" marR="5080">
              <a:lnSpc>
                <a:spcPct val="120000"/>
              </a:lnSpc>
            </a:pPr>
            <a:r>
              <a:rPr sz="2250" dirty="0">
                <a:latin typeface="Arial MT"/>
                <a:cs typeface="Arial MT"/>
              </a:rPr>
              <a:t>String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s4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=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new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String("TAT"); </a:t>
            </a:r>
            <a:r>
              <a:rPr sz="2250" spc="-6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System.out.println(s1); 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System.out.println(s2); 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System.out.println(s3); 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System.out.println(s4);</a:t>
            </a:r>
            <a:endParaRPr sz="225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}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}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564" y="276313"/>
            <a:ext cx="7560818" cy="57449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4994" y="282955"/>
            <a:ext cx="4330700" cy="578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String split()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Splits</a:t>
            </a:r>
            <a:r>
              <a:rPr sz="1800" dirty="0">
                <a:latin typeface="Arial MT"/>
                <a:cs typeface="Arial MT"/>
              </a:rPr>
              <a:t> 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specified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(regex)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String</a:t>
            </a:r>
            <a:r>
              <a:rPr sz="1800" u="heavy" spc="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2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compareTo()</a:t>
            </a:r>
            <a:endParaRPr sz="1800">
              <a:latin typeface="Arial MT"/>
              <a:cs typeface="Arial MT"/>
            </a:endParaRPr>
          </a:p>
          <a:p>
            <a:pPr marL="12700" marR="44005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Compares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two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dictionary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order</a:t>
            </a:r>
            <a:endParaRPr sz="1800">
              <a:latin typeface="Arial MT"/>
              <a:cs typeface="Arial MT"/>
            </a:endParaRPr>
          </a:p>
          <a:p>
            <a:pPr marL="12700" marR="642620" algn="just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Java String 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compareToIgnoreCase() </a:t>
            </a:r>
            <a:r>
              <a:rPr sz="1800" spc="-490" dirty="0">
                <a:solidFill>
                  <a:srgbClr val="9966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Compares </a:t>
            </a:r>
            <a:r>
              <a:rPr sz="1800" spc="-15" dirty="0">
                <a:latin typeface="Arial MT"/>
                <a:cs typeface="Arial MT"/>
              </a:rPr>
              <a:t>two </a:t>
            </a:r>
            <a:r>
              <a:rPr sz="1800" spc="-5" dirty="0">
                <a:latin typeface="Arial MT"/>
                <a:cs typeface="Arial MT"/>
              </a:rPr>
              <a:t>strings ignoring case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differences</a:t>
            </a:r>
            <a:endParaRPr sz="18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Java</a:t>
            </a:r>
            <a:r>
              <a:rPr sz="1800" u="heavy" spc="-2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String length()</a:t>
            </a:r>
            <a:endParaRPr sz="1800">
              <a:latin typeface="Arial MT"/>
              <a:cs typeface="Arial MT"/>
            </a:endParaRPr>
          </a:p>
          <a:p>
            <a:pPr marL="12700" marR="118681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 the length </a:t>
            </a:r>
            <a:r>
              <a:rPr sz="1800" dirty="0">
                <a:latin typeface="Arial MT"/>
                <a:cs typeface="Arial MT"/>
              </a:rPr>
              <a:t>of the </a:t>
            </a:r>
            <a:r>
              <a:rPr sz="1800" spc="-5" dirty="0">
                <a:latin typeface="Arial MT"/>
                <a:cs typeface="Arial MT"/>
              </a:rPr>
              <a:t>string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replace()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Replace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all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matching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characters/text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Java</a:t>
            </a:r>
            <a:r>
              <a:rPr sz="1800" u="heavy" spc="-2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replaceAll()</a:t>
            </a:r>
            <a:endParaRPr sz="1800">
              <a:latin typeface="Arial MT"/>
              <a:cs typeface="Arial MT"/>
            </a:endParaRPr>
          </a:p>
          <a:p>
            <a:pPr marL="12700" marR="6985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Replace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all substrings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matching</a:t>
            </a:r>
            <a:r>
              <a:rPr sz="1800" dirty="0">
                <a:latin typeface="Arial MT"/>
                <a:cs typeface="Arial MT"/>
              </a:rPr>
              <a:t> 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regex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pattern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substring()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substring</a:t>
            </a:r>
            <a:r>
              <a:rPr sz="1800" dirty="0">
                <a:latin typeface="Arial MT"/>
                <a:cs typeface="Arial MT"/>
              </a:rPr>
              <a:t> from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800" u="heavy" spc="-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equals()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Compares</a:t>
            </a:r>
            <a:r>
              <a:rPr sz="1800" spc="-15" dirty="0">
                <a:latin typeface="Arial MT"/>
                <a:cs typeface="Arial MT"/>
              </a:rPr>
              <a:t> two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4994" y="477139"/>
            <a:ext cx="4406900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Java</a:t>
            </a:r>
            <a:r>
              <a:rPr sz="1800" u="heavy" spc="-3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String</a:t>
            </a:r>
            <a:r>
              <a:rPr sz="1800" u="heavy" spc="-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trim()</a:t>
            </a:r>
            <a:endParaRPr sz="1800">
              <a:latin typeface="Arial MT"/>
              <a:cs typeface="Arial MT"/>
            </a:endParaRPr>
          </a:p>
          <a:p>
            <a:pPr marL="12700" marR="101028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Removes any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leading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 trailing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whitespace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charAt()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character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index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spc="-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toLowerCase()</a:t>
            </a:r>
            <a:endParaRPr sz="1800">
              <a:latin typeface="Arial MT"/>
              <a:cs typeface="Arial MT"/>
            </a:endParaRPr>
          </a:p>
          <a:p>
            <a:pPr marL="12700" marR="23876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Converts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characters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lower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case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concat()</a:t>
            </a:r>
            <a:endParaRPr sz="1800">
              <a:latin typeface="Arial MT"/>
              <a:cs typeface="Arial MT"/>
            </a:endParaRPr>
          </a:p>
          <a:p>
            <a:pPr marL="12700" marR="42354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Concatenates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two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strings and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returns </a:t>
            </a:r>
            <a:r>
              <a:rPr sz="1800" dirty="0">
                <a:latin typeface="Arial MT"/>
                <a:cs typeface="Arial MT"/>
              </a:rPr>
              <a:t>it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String</a:t>
            </a:r>
            <a:r>
              <a:rPr sz="1800" u="heavy" spc="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valueOf()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 MT"/>
                <a:cs typeface="Arial MT"/>
              </a:rPr>
              <a:t>Returns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representation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value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matches()</a:t>
            </a:r>
            <a:endParaRPr sz="1800">
              <a:latin typeface="Arial MT"/>
              <a:cs typeface="Arial MT"/>
            </a:endParaRPr>
          </a:p>
          <a:p>
            <a:pPr marL="12700" marR="486409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 </a:t>
            </a:r>
            <a:r>
              <a:rPr sz="1800" spc="-10" dirty="0">
                <a:latin typeface="Arial MT"/>
                <a:cs typeface="Arial MT"/>
              </a:rPr>
              <a:t>whether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matches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regex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Java</a:t>
            </a:r>
            <a:r>
              <a:rPr sz="1800" u="heavy" spc="-3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String</a:t>
            </a:r>
            <a:r>
              <a:rPr sz="1800" u="heavy" spc="-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startsWith()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begins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with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valueOf()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representation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value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4994" y="438150"/>
            <a:ext cx="4163060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matches()</a:t>
            </a:r>
            <a:endParaRPr sz="1800">
              <a:latin typeface="Arial MT"/>
              <a:cs typeface="Arial MT"/>
            </a:endParaRPr>
          </a:p>
          <a:p>
            <a:pPr marL="12700" marR="243204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 </a:t>
            </a:r>
            <a:r>
              <a:rPr sz="1800" spc="-10" dirty="0">
                <a:latin typeface="Arial MT"/>
                <a:cs typeface="Arial MT"/>
              </a:rPr>
              <a:t>whether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matches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regex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String</a:t>
            </a:r>
            <a:r>
              <a:rPr sz="1800" u="heavy" spc="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startsWith()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begins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with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  <a:p>
            <a:pPr marL="12700" marR="509905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equalsIgnoreCase() </a:t>
            </a:r>
            <a:r>
              <a:rPr sz="1800" dirty="0">
                <a:solidFill>
                  <a:srgbClr val="9966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Compares </a:t>
            </a:r>
            <a:r>
              <a:rPr sz="1800" spc="-15" dirty="0">
                <a:latin typeface="Arial MT"/>
                <a:cs typeface="Arial MT"/>
              </a:rPr>
              <a:t>two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ignoring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case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differences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Java</a:t>
            </a:r>
            <a:r>
              <a:rPr sz="1800" u="heavy" spc="-2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String</a:t>
            </a:r>
            <a:r>
              <a:rPr sz="1800" u="heavy" spc="-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contains()</a:t>
            </a:r>
            <a:endParaRPr sz="1800">
              <a:latin typeface="Arial MT"/>
              <a:cs typeface="Arial MT"/>
            </a:endParaRPr>
          </a:p>
          <a:p>
            <a:pPr marL="12700" marR="39560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 </a:t>
            </a:r>
            <a:r>
              <a:rPr sz="1800" spc="-10" dirty="0">
                <a:latin typeface="Arial MT"/>
                <a:cs typeface="Arial MT"/>
              </a:rPr>
              <a:t>whether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 contains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substring</a:t>
            </a:r>
            <a:endParaRPr sz="1800">
              <a:latin typeface="Arial MT"/>
              <a:cs typeface="Arial MT"/>
            </a:endParaRPr>
          </a:p>
          <a:p>
            <a:pPr marL="12700" marR="1717039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Java String indexOf() </a:t>
            </a:r>
            <a:r>
              <a:rPr sz="1800" dirty="0">
                <a:solidFill>
                  <a:srgbClr val="9966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Returns 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index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character/substring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endsWith()</a:t>
            </a:r>
            <a:endParaRPr sz="1800">
              <a:latin typeface="Arial MT"/>
              <a:cs typeface="Arial MT"/>
            </a:endParaRPr>
          </a:p>
          <a:p>
            <a:pPr marL="12700" marR="18097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</a:t>
            </a:r>
            <a:r>
              <a:rPr sz="1800" dirty="0">
                <a:latin typeface="Arial MT"/>
                <a:cs typeface="Arial MT"/>
              </a:rPr>
              <a:t> if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ends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with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Java</a:t>
            </a:r>
            <a:r>
              <a:rPr sz="1800" u="heavy" spc="-2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String isEmpty()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whether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 empty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not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4994" y="266191"/>
            <a:ext cx="4203065" cy="578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Java</a:t>
            </a:r>
            <a:r>
              <a:rPr sz="1800" u="heavy" spc="-2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2"/>
              </a:rPr>
              <a:t>String intern()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 canonical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representation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Java</a:t>
            </a:r>
            <a:r>
              <a:rPr sz="1800" u="heavy" spc="-2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3"/>
              </a:rPr>
              <a:t>String getBytes()</a:t>
            </a:r>
            <a:endParaRPr sz="1800">
              <a:latin typeface="Arial MT"/>
              <a:cs typeface="Arial MT"/>
            </a:endParaRPr>
          </a:p>
          <a:p>
            <a:pPr marL="12700" marR="24574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Encodes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 into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 sequences</a:t>
            </a:r>
            <a:r>
              <a:rPr sz="1800" dirty="0">
                <a:latin typeface="Arial MT"/>
                <a:cs typeface="Arial MT"/>
              </a:rPr>
              <a:t> of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bytes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4"/>
              </a:rPr>
              <a:t>contentEquals()</a:t>
            </a:r>
            <a:endParaRPr sz="1800">
              <a:latin typeface="Arial MT"/>
              <a:cs typeface="Arial MT"/>
            </a:endParaRPr>
          </a:p>
          <a:p>
            <a:pPr marL="12700" marR="43688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Checks </a:t>
            </a:r>
            <a:r>
              <a:rPr sz="1800" spc="-10" dirty="0">
                <a:latin typeface="Arial MT"/>
                <a:cs typeface="Arial MT"/>
              </a:rPr>
              <a:t>whether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 is equal</a:t>
            </a:r>
            <a:r>
              <a:rPr sz="1800" dirty="0">
                <a:latin typeface="Arial MT"/>
                <a:cs typeface="Arial MT"/>
              </a:rPr>
              <a:t> to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charSequence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Java</a:t>
            </a:r>
            <a:r>
              <a:rPr sz="1800" u="heavy" spc="-2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String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 </a:t>
            </a:r>
            <a:r>
              <a:rPr sz="1800" u="heavy" spc="-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5"/>
              </a:rPr>
              <a:t>hashCode()</a:t>
            </a:r>
            <a:endParaRPr sz="1800">
              <a:latin typeface="Arial MT"/>
              <a:cs typeface="Arial MT"/>
            </a:endParaRPr>
          </a:p>
          <a:p>
            <a:pPr marL="12700" marR="74104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 a hash code </a:t>
            </a:r>
            <a:r>
              <a:rPr sz="1800" dirty="0">
                <a:latin typeface="Arial MT"/>
                <a:cs typeface="Arial MT"/>
              </a:rPr>
              <a:t>for the </a:t>
            </a:r>
            <a:r>
              <a:rPr sz="1800" spc="-5" dirty="0">
                <a:latin typeface="Arial MT"/>
                <a:cs typeface="Arial MT"/>
              </a:rPr>
              <a:t>string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6"/>
              </a:rPr>
              <a:t>join()</a:t>
            </a:r>
            <a:endParaRPr sz="1800">
              <a:latin typeface="Arial MT"/>
              <a:cs typeface="Arial MT"/>
            </a:endParaRPr>
          </a:p>
          <a:p>
            <a:pPr marL="12700" marR="635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Joins</a:t>
            </a:r>
            <a:r>
              <a:rPr sz="1800" dirty="0">
                <a:latin typeface="Arial MT"/>
                <a:cs typeface="Arial MT"/>
              </a:rPr>
              <a:t> 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given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strings using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delimiter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String</a:t>
            </a:r>
            <a:r>
              <a:rPr sz="1800" u="heavy" spc="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7"/>
              </a:rPr>
              <a:t>replaceFirst()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Replace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first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matching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substring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 </a:t>
            </a:r>
            <a:r>
              <a:rPr sz="1800" u="heavy" spc="-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8"/>
              </a:rPr>
              <a:t>subSequence()</a:t>
            </a:r>
            <a:endParaRPr sz="1800">
              <a:latin typeface="Arial MT"/>
              <a:cs typeface="Arial MT"/>
            </a:endParaRPr>
          </a:p>
          <a:p>
            <a:pPr marL="12700" marR="24574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 a subsequence </a:t>
            </a:r>
            <a:r>
              <a:rPr sz="1800" dirty="0">
                <a:latin typeface="Arial MT"/>
                <a:cs typeface="Arial MT"/>
              </a:rPr>
              <a:t>from the </a:t>
            </a:r>
            <a:r>
              <a:rPr sz="1800" spc="-5" dirty="0">
                <a:latin typeface="Arial MT"/>
                <a:cs typeface="Arial MT"/>
              </a:rPr>
              <a:t>string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String</a:t>
            </a:r>
            <a:r>
              <a:rPr sz="1800" u="heavy" spc="10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9"/>
              </a:rPr>
              <a:t>toCharArray()</a:t>
            </a:r>
            <a:endParaRPr sz="1800">
              <a:latin typeface="Arial MT"/>
              <a:cs typeface="Arial MT"/>
            </a:endParaRPr>
          </a:p>
          <a:p>
            <a:pPr marL="12700" marR="72834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Converts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dirty="0">
                <a:latin typeface="Arial MT"/>
                <a:cs typeface="Arial MT"/>
              </a:rPr>
              <a:t> to</a:t>
            </a:r>
            <a:r>
              <a:rPr sz="1800" spc="-5" dirty="0">
                <a:latin typeface="Arial MT"/>
                <a:cs typeface="Arial MT"/>
              </a:rPr>
              <a:t> 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char array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10"/>
              </a:rPr>
              <a:t>Java</a:t>
            </a:r>
            <a:r>
              <a:rPr sz="1800" u="heavy" spc="-1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800" u="heavy" spc="-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10"/>
              </a:rPr>
              <a:t>String</a:t>
            </a:r>
            <a:r>
              <a:rPr sz="1800" u="heavy" spc="5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800" u="heavy" dirty="0">
                <a:solidFill>
                  <a:srgbClr val="996600"/>
                </a:solidFill>
                <a:uFill>
                  <a:solidFill>
                    <a:srgbClr val="996600"/>
                  </a:solidFill>
                </a:uFill>
                <a:latin typeface="Arial MT"/>
                <a:cs typeface="Arial MT"/>
                <a:hlinkClick r:id="rId10"/>
              </a:rPr>
              <a:t>format()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Returns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 formatted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97307"/>
            <a:ext cx="37064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3200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charAt()</a:t>
            </a:r>
            <a:r>
              <a:rPr sz="3200" spc="-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method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7380"/>
            <a:ext cx="8067675" cy="2293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875" marR="604520" indent="-257810">
              <a:lnSpc>
                <a:spcPct val="150100"/>
              </a:lnSpc>
              <a:spcBef>
                <a:spcPts val="95"/>
              </a:spcBef>
              <a:buClr>
                <a:srgbClr val="3333CC"/>
              </a:buClr>
              <a:buSzPct val="64583"/>
              <a:buFont typeface="Wingdings"/>
              <a:buChar char=""/>
              <a:tabLst>
                <a:tab pos="27051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charAt()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method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index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</a:t>
            </a:r>
            <a:endParaRPr sz="2400">
              <a:latin typeface="Times New Roman"/>
              <a:cs typeface="Times New Roman"/>
            </a:endParaRPr>
          </a:p>
          <a:p>
            <a:pPr marL="269875" marR="5080" indent="-257810">
              <a:lnSpc>
                <a:spcPct val="150000"/>
              </a:lnSpc>
              <a:spcBef>
                <a:spcPts val="575"/>
              </a:spcBef>
              <a:buClr>
                <a:srgbClr val="3333CC"/>
              </a:buClr>
              <a:buSzPct val="64583"/>
              <a:buFont typeface="Wingdings"/>
              <a:buChar char=""/>
              <a:tabLst>
                <a:tab pos="27051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starts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 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 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(n-1), </a:t>
            </a:r>
            <a:r>
              <a:rPr sz="2400" spc="-5" dirty="0">
                <a:latin typeface="Times New Roman"/>
                <a:cs typeface="Times New Roman"/>
              </a:rPr>
              <a:t>where 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length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7403"/>
            <a:ext cx="59683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EF5136"/>
                </a:solidFill>
                <a:latin typeface="Courier New"/>
                <a:cs typeface="Courier New"/>
              </a:rPr>
              <a:t>// Predict the</a:t>
            </a:r>
            <a:r>
              <a:rPr sz="2000" b="1" dirty="0">
                <a:solidFill>
                  <a:srgbClr val="EF5136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EF5136"/>
                </a:solidFill>
                <a:latin typeface="Courier New"/>
                <a:cs typeface="Courier New"/>
              </a:rPr>
              <a:t>output of the below</a:t>
            </a:r>
            <a:r>
              <a:rPr sz="2000" b="1" dirty="0">
                <a:solidFill>
                  <a:srgbClr val="EF5136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EF5136"/>
                </a:solidFill>
                <a:latin typeface="Courier New"/>
                <a:cs typeface="Courier New"/>
              </a:rPr>
              <a:t>code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666953"/>
            <a:ext cx="6579870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2000" b="1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31900" marR="5080" indent="-609600">
              <a:lnSpc>
                <a:spcPct val="100000"/>
              </a:lnSpc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public static</a:t>
            </a:r>
            <a:r>
              <a:rPr sz="2000" b="1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void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args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[]){ </a:t>
            </a:r>
            <a:r>
              <a:rPr sz="2000" b="1" spc="-118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20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"Java"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1231900" marR="5080">
              <a:lnSpc>
                <a:spcPct val="100000"/>
              </a:lnSpc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char </a:t>
            </a:r>
            <a:r>
              <a:rPr sz="2000" b="1" spc="-5" dirty="0">
                <a:latin typeface="Courier New"/>
                <a:cs typeface="Courier New"/>
              </a:rPr>
              <a:t>ch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 </a:t>
            </a:r>
            <a:r>
              <a:rPr sz="2000" b="1" spc="-5" dirty="0">
                <a:latin typeface="Courier New"/>
                <a:cs typeface="Courier New"/>
              </a:rPr>
              <a:t>str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charAt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2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ch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charAt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3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));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charAt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4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));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charAt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(-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));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00050" cy="4681855"/>
          </a:xfrm>
          <a:custGeom>
            <a:avLst/>
            <a:gdLst/>
            <a:ahLst/>
            <a:cxnLst/>
            <a:rect l="l" t="t" r="r" b="b"/>
            <a:pathLst>
              <a:path w="400050" h="4681855">
                <a:moveTo>
                  <a:pt x="400050" y="0"/>
                </a:moveTo>
                <a:lnTo>
                  <a:pt x="0" y="0"/>
                </a:lnTo>
                <a:lnTo>
                  <a:pt x="0" y="76200"/>
                </a:lnTo>
                <a:lnTo>
                  <a:pt x="0" y="4681728"/>
                </a:lnTo>
                <a:lnTo>
                  <a:pt x="400050" y="4681728"/>
                </a:lnTo>
                <a:lnTo>
                  <a:pt x="400050" y="76200"/>
                </a:lnTo>
                <a:lnTo>
                  <a:pt x="400050" y="0"/>
                </a:lnTo>
                <a:close/>
              </a:path>
            </a:pathLst>
          </a:custGeom>
          <a:solidFill>
            <a:srgbClr val="D9D9D9">
              <a:alpha val="6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78739"/>
            <a:ext cx="178435" cy="4599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6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7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8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9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39" y="4706954"/>
            <a:ext cx="153035" cy="288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39" y="5011754"/>
            <a:ext cx="153035" cy="150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70"/>
              </a:lnSpc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4992623"/>
            <a:ext cx="9144000" cy="1865630"/>
          </a:xfrm>
          <a:custGeom>
            <a:avLst/>
            <a:gdLst/>
            <a:ahLst/>
            <a:cxnLst/>
            <a:rect l="l" t="t" r="r" b="b"/>
            <a:pathLst>
              <a:path w="9144000" h="1865629">
                <a:moveTo>
                  <a:pt x="0" y="1865373"/>
                </a:moveTo>
                <a:lnTo>
                  <a:pt x="9144000" y="1865373"/>
                </a:lnTo>
                <a:lnTo>
                  <a:pt x="9144000" y="0"/>
                </a:lnTo>
                <a:lnTo>
                  <a:pt x="0" y="0"/>
                </a:lnTo>
                <a:lnTo>
                  <a:pt x="0" y="1865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5940" y="5005197"/>
            <a:ext cx="78740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v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Error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4681728"/>
            <a:ext cx="9144000" cy="311150"/>
          </a:xfrm>
          <a:custGeom>
            <a:avLst/>
            <a:gdLst/>
            <a:ahLst/>
            <a:cxnLst/>
            <a:rect l="l" t="t" r="r" b="b"/>
            <a:pathLst>
              <a:path w="9144000" h="311150">
                <a:moveTo>
                  <a:pt x="9144000" y="0"/>
                </a:moveTo>
                <a:lnTo>
                  <a:pt x="0" y="0"/>
                </a:lnTo>
                <a:lnTo>
                  <a:pt x="0" y="310896"/>
                </a:lnTo>
                <a:lnTo>
                  <a:pt x="9144000" y="310896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42969" y="4575428"/>
            <a:ext cx="11684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" dirty="0">
                <a:solidFill>
                  <a:srgbClr val="FFFFFF"/>
                </a:solidFill>
                <a:latin typeface="Courier New"/>
                <a:cs typeface="Courier New"/>
              </a:rPr>
              <a:t>Output</a:t>
            </a:r>
            <a:endParaRPr sz="2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346075"/>
            <a:ext cx="6693534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39970" algn="l"/>
              </a:tabLst>
            </a:pPr>
            <a:r>
              <a:rPr sz="4500" spc="-5" dirty="0">
                <a:solidFill>
                  <a:srgbClr val="000000"/>
                </a:solidFill>
                <a:latin typeface="Times New Roman"/>
                <a:cs typeface="Times New Roman"/>
              </a:rPr>
              <a:t>The toU</a:t>
            </a:r>
            <a:r>
              <a:rPr sz="4500" spc="5" dirty="0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4500" spc="-5" dirty="0">
                <a:solidFill>
                  <a:srgbClr val="000000"/>
                </a:solidFill>
                <a:latin typeface="Times New Roman"/>
                <a:cs typeface="Times New Roman"/>
              </a:rPr>
              <a:t>perCas</a:t>
            </a: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4500" spc="-5" dirty="0">
                <a:solidFill>
                  <a:srgbClr val="000000"/>
                </a:solidFill>
                <a:latin typeface="Times New Roman"/>
                <a:cs typeface="Times New Roman"/>
              </a:rPr>
              <a:t>()	m</a:t>
            </a:r>
            <a:r>
              <a:rPr sz="4500" spc="-25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4500" spc="-5" dirty="0">
                <a:solidFill>
                  <a:srgbClr val="000000"/>
                </a:solidFill>
                <a:latin typeface="Times New Roman"/>
                <a:cs typeface="Times New Roman"/>
              </a:rPr>
              <a:t>th</a:t>
            </a: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4500" spc="-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230" y="1565534"/>
            <a:ext cx="8019415" cy="402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28065">
              <a:lnSpc>
                <a:spcPct val="1501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java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toUpperCase()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method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converts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all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lowercase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characters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of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into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uppercase</a:t>
            </a: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2500" spc="-5" dirty="0">
                <a:latin typeface="Times New Roman"/>
                <a:cs typeface="Times New Roman"/>
              </a:rPr>
              <a:t>It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will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not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alter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already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existing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uppercase</a:t>
            </a:r>
            <a:r>
              <a:rPr sz="2500" spc="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characters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string.</a:t>
            </a:r>
            <a:endParaRPr sz="2500">
              <a:latin typeface="Times New Roman"/>
              <a:cs typeface="Times New Roman"/>
            </a:endParaRPr>
          </a:p>
          <a:p>
            <a:pPr marL="12700" marR="2483485">
              <a:lnSpc>
                <a:spcPct val="150000"/>
              </a:lnSpc>
            </a:pPr>
            <a:r>
              <a:rPr sz="2500" b="1" spc="-5" dirty="0">
                <a:latin typeface="Times New Roman"/>
                <a:cs typeface="Times New Roman"/>
              </a:rPr>
              <a:t>E.g:</a:t>
            </a:r>
            <a:r>
              <a:rPr sz="2500" b="1" dirty="0">
                <a:latin typeface="Times New Roman"/>
                <a:cs typeface="Times New Roman"/>
              </a:rPr>
              <a:t> </a:t>
            </a:r>
            <a:r>
              <a:rPr sz="2500" spc="-15" dirty="0">
                <a:latin typeface="Times New Roman"/>
                <a:cs typeface="Times New Roman"/>
              </a:rPr>
              <a:t>System.out.print(“You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are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on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right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track”.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5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pper</a:t>
            </a:r>
            <a:r>
              <a:rPr sz="25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ase</a:t>
            </a:r>
            <a:r>
              <a:rPr sz="2500" spc="-5" dirty="0">
                <a:latin typeface="Times New Roman"/>
                <a:cs typeface="Times New Roman"/>
              </a:rPr>
              <a:t>());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500" b="1" spc="-5" dirty="0">
                <a:latin typeface="Times New Roman"/>
                <a:cs typeface="Times New Roman"/>
              </a:rPr>
              <a:t>Output:</a:t>
            </a:r>
            <a:r>
              <a:rPr sz="2500" b="1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YOU</a:t>
            </a:r>
            <a:r>
              <a:rPr sz="2500" spc="-1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ARE ON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RIGHT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TRACK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273761"/>
            <a:ext cx="672655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45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toLowerCase()</a:t>
            </a:r>
            <a:r>
              <a:rPr sz="45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method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230" y="1565534"/>
            <a:ext cx="8020050" cy="4027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93140">
              <a:lnSpc>
                <a:spcPct val="150100"/>
              </a:lnSpc>
              <a:spcBef>
                <a:spcPts val="95"/>
              </a:spcBef>
            </a:pP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java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toLowerCase()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method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converts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all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uppercase</a:t>
            </a:r>
            <a:r>
              <a:rPr sz="2500" spc="4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characters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of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into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lowercase</a:t>
            </a: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2500" spc="-5" dirty="0">
                <a:latin typeface="Times New Roman"/>
                <a:cs typeface="Times New Roman"/>
              </a:rPr>
              <a:t>It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will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not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alter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already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existing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lowercase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characters</a:t>
            </a:r>
            <a:r>
              <a:rPr sz="2500" spc="6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string.</a:t>
            </a:r>
            <a:endParaRPr sz="2500">
              <a:latin typeface="Times New Roman"/>
              <a:cs typeface="Times New Roman"/>
            </a:endParaRPr>
          </a:p>
          <a:p>
            <a:pPr marL="12700" marR="1353820">
              <a:lnSpc>
                <a:spcPct val="150000"/>
              </a:lnSpc>
            </a:pPr>
            <a:r>
              <a:rPr sz="2500" b="1" spc="-5" dirty="0">
                <a:latin typeface="Times New Roman"/>
                <a:cs typeface="Times New Roman"/>
              </a:rPr>
              <a:t>E.g:</a:t>
            </a:r>
            <a:r>
              <a:rPr sz="2500" b="1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System.out.print(“YOU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ARE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ON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RIGHT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TRACK”.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5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ower</a:t>
            </a:r>
            <a:r>
              <a:rPr sz="25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ase</a:t>
            </a:r>
            <a:r>
              <a:rPr sz="2500" spc="-5" dirty="0">
                <a:latin typeface="Times New Roman"/>
                <a:cs typeface="Times New Roman"/>
              </a:rPr>
              <a:t>());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500" b="1" spc="-5" dirty="0">
                <a:latin typeface="Times New Roman"/>
                <a:cs typeface="Times New Roman"/>
              </a:rPr>
              <a:t>Output:</a:t>
            </a:r>
            <a:r>
              <a:rPr sz="2500" b="1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you are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on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right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track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273761"/>
            <a:ext cx="507428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45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concat()</a:t>
            </a:r>
            <a:r>
              <a:rPr sz="45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0" spc="-5" dirty="0">
                <a:solidFill>
                  <a:srgbClr val="000000"/>
                </a:solidFill>
                <a:latin typeface="Times New Roman"/>
                <a:cs typeface="Times New Roman"/>
              </a:rPr>
              <a:t>method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230" y="903122"/>
            <a:ext cx="8054340" cy="459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500" spc="-5" dirty="0">
                <a:latin typeface="Times New Roman"/>
                <a:cs typeface="Times New Roman"/>
              </a:rPr>
              <a:t>The Java string concat() </a:t>
            </a:r>
            <a:r>
              <a:rPr sz="2500" spc="-10" dirty="0">
                <a:latin typeface="Times New Roman"/>
                <a:cs typeface="Times New Roman"/>
              </a:rPr>
              <a:t>method </a:t>
            </a:r>
            <a:r>
              <a:rPr sz="2500" spc="-5" dirty="0">
                <a:latin typeface="Times New Roman"/>
                <a:cs typeface="Times New Roman"/>
              </a:rPr>
              <a:t>allows you </a:t>
            </a:r>
            <a:r>
              <a:rPr sz="2500" dirty="0">
                <a:latin typeface="Times New Roman"/>
                <a:cs typeface="Times New Roman"/>
              </a:rPr>
              <a:t>to </a:t>
            </a:r>
            <a:r>
              <a:rPr sz="2500" spc="-5" dirty="0">
                <a:latin typeface="Times New Roman"/>
                <a:cs typeface="Times New Roman"/>
              </a:rPr>
              <a:t>join two strings.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This </a:t>
            </a:r>
            <a:r>
              <a:rPr sz="2500" spc="-10" dirty="0">
                <a:latin typeface="Times New Roman"/>
                <a:cs typeface="Times New Roman"/>
              </a:rPr>
              <a:t>method </a:t>
            </a:r>
            <a:r>
              <a:rPr sz="2500" spc="-5" dirty="0">
                <a:latin typeface="Times New Roman"/>
                <a:cs typeface="Times New Roman"/>
              </a:rPr>
              <a:t>returns a string with the value of the string passed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into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method</a:t>
            </a:r>
            <a:r>
              <a:rPr sz="2500" spc="6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 appended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end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of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the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string.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500" b="1" spc="-5" dirty="0">
                <a:latin typeface="Times New Roman"/>
                <a:cs typeface="Times New Roman"/>
              </a:rPr>
              <a:t>E.g:</a:t>
            </a:r>
            <a:endParaRPr sz="2500">
              <a:latin typeface="Times New Roman"/>
              <a:cs typeface="Times New Roman"/>
            </a:endParaRPr>
          </a:p>
          <a:p>
            <a:pPr marL="12700" marR="5527675">
              <a:lnSpc>
                <a:spcPct val="150000"/>
              </a:lnSpc>
            </a:pPr>
            <a:r>
              <a:rPr sz="2500" spc="-5" dirty="0">
                <a:latin typeface="Times New Roman"/>
                <a:cs typeface="Times New Roman"/>
              </a:rPr>
              <a:t>String s1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= "Nice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";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s2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= "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Day";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500" dirty="0">
                <a:latin typeface="Times New Roman"/>
                <a:cs typeface="Times New Roman"/>
              </a:rPr>
              <a:t>System.out.println(s1.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concat</a:t>
            </a:r>
            <a:r>
              <a:rPr sz="2500" dirty="0">
                <a:latin typeface="Times New Roman"/>
                <a:cs typeface="Times New Roman"/>
              </a:rPr>
              <a:t>(s2));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500" b="1" spc="-5" dirty="0">
                <a:latin typeface="Times New Roman"/>
                <a:cs typeface="Times New Roman"/>
              </a:rPr>
              <a:t>Output: </a:t>
            </a:r>
            <a:r>
              <a:rPr sz="2500" spc="-5" dirty="0">
                <a:latin typeface="Times New Roman"/>
                <a:cs typeface="Times New Roman"/>
              </a:rPr>
              <a:t>Nice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Day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455" y="782573"/>
            <a:ext cx="26206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+</a:t>
            </a:r>
            <a:r>
              <a:rPr sz="450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500" dirty="0">
                <a:solidFill>
                  <a:srgbClr val="000000"/>
                </a:solidFill>
                <a:latin typeface="Times New Roman"/>
                <a:cs typeface="Times New Roman"/>
              </a:rPr>
              <a:t>operator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230" y="1565534"/>
            <a:ext cx="6773545" cy="2883535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2500" b="1" spc="-5" dirty="0">
                <a:latin typeface="Times New Roman"/>
                <a:cs typeface="Times New Roman"/>
              </a:rPr>
              <a:t>+</a:t>
            </a:r>
            <a:r>
              <a:rPr sz="2500" b="1" spc="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operator</a:t>
            </a:r>
            <a:r>
              <a:rPr sz="2500" spc="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is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also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used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concatenate</a:t>
            </a:r>
            <a:r>
              <a:rPr sz="2500" spc="5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strings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500" b="1" spc="-5" dirty="0">
                <a:latin typeface="Times New Roman"/>
                <a:cs typeface="Times New Roman"/>
              </a:rPr>
              <a:t>E.g: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500" spc="-15" dirty="0">
                <a:latin typeface="Times New Roman"/>
                <a:cs typeface="Times New Roman"/>
              </a:rPr>
              <a:t>System.out.println("You</a:t>
            </a:r>
            <a:r>
              <a:rPr sz="2500" spc="7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"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+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"are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"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+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"the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" +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"best");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500" b="1" spc="-5" dirty="0">
                <a:latin typeface="Times New Roman"/>
                <a:cs typeface="Times New Roman"/>
              </a:rPr>
              <a:t>Output: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500" spc="-90" dirty="0">
                <a:latin typeface="Times New Roman"/>
                <a:cs typeface="Times New Roman"/>
              </a:rPr>
              <a:t>You</a:t>
            </a:r>
            <a:r>
              <a:rPr sz="2500" spc="-5" dirty="0">
                <a:latin typeface="Times New Roman"/>
                <a:cs typeface="Times New Roman"/>
              </a:rPr>
              <a:t> are the best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779" y="57403"/>
            <a:ext cx="3225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//</a:t>
            </a:r>
            <a:r>
              <a:rPr spc="-20" dirty="0"/>
              <a:t> </a:t>
            </a:r>
            <a:r>
              <a:rPr spc="-5" dirty="0"/>
              <a:t>Predict</a:t>
            </a:r>
            <a:r>
              <a:rPr spc="-20" dirty="0"/>
              <a:t> </a:t>
            </a:r>
            <a:r>
              <a:rPr spc="-5" dirty="0"/>
              <a:t>the</a:t>
            </a:r>
            <a:r>
              <a:rPr spc="-20" dirty="0"/>
              <a:t> </a:t>
            </a:r>
            <a:r>
              <a:rPr spc="-5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779" y="666953"/>
            <a:ext cx="7494905" cy="216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2000" b="1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31900" marR="5080" indent="-610235">
              <a:lnSpc>
                <a:spcPct val="100000"/>
              </a:lnSpc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public static void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[]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args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{ </a:t>
            </a:r>
            <a:r>
              <a:rPr sz="2000" b="1" spc="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String </a:t>
            </a:r>
            <a:r>
              <a:rPr sz="2000" b="1" dirty="0">
                <a:latin typeface="Courier New"/>
                <a:cs typeface="Courier New"/>
              </a:rPr>
              <a:t>s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"Are"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, </a:t>
            </a:r>
            <a:r>
              <a:rPr sz="2000" b="1" dirty="0">
                <a:latin typeface="Courier New"/>
                <a:cs typeface="Courier New"/>
              </a:rPr>
              <a:t>t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"you"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, </a:t>
            </a:r>
            <a:r>
              <a:rPr sz="2000" b="1" dirty="0">
                <a:latin typeface="Courier New"/>
                <a:cs typeface="Courier New"/>
              </a:rPr>
              <a:t>u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"ready"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2000" b="1" spc="-119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dirty="0">
                <a:latin typeface="Courier New"/>
                <a:cs typeface="Courier New"/>
              </a:rPr>
              <a:t>t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spc="-5" dirty="0">
                <a:latin typeface="Courier New"/>
                <a:cs typeface="Courier New"/>
              </a:rPr>
              <a:t>u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concat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));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00050" cy="6858000"/>
          </a:xfrm>
          <a:custGeom>
            <a:avLst/>
            <a:gdLst/>
            <a:ahLst/>
            <a:cxnLst/>
            <a:rect l="l" t="t" r="r" b="b"/>
            <a:pathLst>
              <a:path w="400050" h="6858000">
                <a:moveTo>
                  <a:pt x="400050" y="0"/>
                </a:moveTo>
                <a:lnTo>
                  <a:pt x="0" y="0"/>
                </a:lnTo>
                <a:lnTo>
                  <a:pt x="0" y="76200"/>
                </a:lnTo>
                <a:lnTo>
                  <a:pt x="0" y="6858000"/>
                </a:lnTo>
                <a:lnTo>
                  <a:pt x="400050" y="6858000"/>
                </a:lnTo>
                <a:lnTo>
                  <a:pt x="400050" y="76200"/>
                </a:lnTo>
                <a:lnTo>
                  <a:pt x="400050" y="0"/>
                </a:lnTo>
                <a:close/>
              </a:path>
            </a:pathLst>
          </a:custGeom>
          <a:solidFill>
            <a:srgbClr val="D9D9D9">
              <a:alpha val="6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78739"/>
            <a:ext cx="178435" cy="581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6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7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8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9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5913784"/>
            <a:ext cx="178435" cy="923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7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5045" y="3384550"/>
            <a:ext cx="13163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Output: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30" dirty="0">
                <a:latin typeface="Arial MT"/>
                <a:cs typeface="Arial MT"/>
              </a:rPr>
              <a:t>y</a:t>
            </a:r>
            <a:r>
              <a:rPr sz="1800" spc="-5" dirty="0">
                <a:latin typeface="Arial MT"/>
                <a:cs typeface="Arial MT"/>
              </a:rPr>
              <a:t>o</a:t>
            </a:r>
            <a:r>
              <a:rPr sz="1800" spc="-15" dirty="0">
                <a:latin typeface="Arial MT"/>
                <a:cs typeface="Arial MT"/>
              </a:rPr>
              <a:t>u</a:t>
            </a:r>
            <a:r>
              <a:rPr sz="1800" spc="-5" dirty="0">
                <a:latin typeface="Arial MT"/>
                <a:cs typeface="Arial MT"/>
              </a:rPr>
              <a:t>re</a:t>
            </a:r>
            <a:r>
              <a:rPr sz="1800" spc="-1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dy  </a:t>
            </a:r>
            <a:r>
              <a:rPr sz="1800" spc="-10" dirty="0">
                <a:latin typeface="Arial MT"/>
                <a:cs typeface="Arial MT"/>
              </a:rPr>
              <a:t>Areyou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5045" y="4482210"/>
            <a:ext cx="7029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Number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arguments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concat()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method and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operator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takes: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5045" y="5030851"/>
            <a:ext cx="77660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367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concat()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method</a:t>
            </a:r>
            <a:r>
              <a:rPr sz="18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takes</a:t>
            </a:r>
            <a:r>
              <a:rPr sz="1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only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one</a:t>
            </a:r>
            <a:r>
              <a:rPr sz="18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argument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1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string</a:t>
            </a:r>
            <a:r>
              <a:rPr sz="1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concatenate</a:t>
            </a:r>
            <a:r>
              <a:rPr sz="18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it</a:t>
            </a:r>
            <a:r>
              <a:rPr sz="1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Arial MT"/>
                <a:cs typeface="Arial MT"/>
              </a:rPr>
              <a:t>with </a:t>
            </a:r>
            <a:r>
              <a:rPr sz="1800" spc="-48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other string.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-5" dirty="0">
                <a:latin typeface="Arial"/>
                <a:cs typeface="Arial"/>
              </a:rPr>
              <a:t> operator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 MT"/>
                <a:cs typeface="Arial MT"/>
              </a:rPr>
              <a:t>takes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any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number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of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arguments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and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concatenates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all</a:t>
            </a:r>
            <a:r>
              <a:rPr sz="1800" dirty="0">
                <a:latin typeface="Arial MT"/>
                <a:cs typeface="Arial MT"/>
              </a:rPr>
              <a:t> the</a:t>
            </a:r>
            <a:r>
              <a:rPr sz="1800" spc="-5" dirty="0">
                <a:latin typeface="Arial MT"/>
                <a:cs typeface="Arial MT"/>
              </a:rPr>
              <a:t> strings.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779" y="57403"/>
            <a:ext cx="3225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//</a:t>
            </a:r>
            <a:r>
              <a:rPr spc="-20" dirty="0"/>
              <a:t> </a:t>
            </a:r>
            <a:r>
              <a:rPr spc="-5" dirty="0"/>
              <a:t>Predict</a:t>
            </a:r>
            <a:r>
              <a:rPr spc="-20" dirty="0"/>
              <a:t> </a:t>
            </a:r>
            <a:r>
              <a:rPr spc="-5" dirty="0"/>
              <a:t>the</a:t>
            </a:r>
            <a:r>
              <a:rPr spc="-20" dirty="0"/>
              <a:t> </a:t>
            </a:r>
            <a:r>
              <a:rPr spc="-5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779" y="666953"/>
            <a:ext cx="7189470" cy="1856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2000" b="1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31900" marR="5080" indent="-610235">
              <a:lnSpc>
                <a:spcPct val="100000"/>
              </a:lnSpc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public static void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args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[]){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String </a:t>
            </a:r>
            <a:r>
              <a:rPr sz="2000" b="1" dirty="0">
                <a:latin typeface="Courier New"/>
                <a:cs typeface="Courier New"/>
              </a:rPr>
              <a:t>s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 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50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50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"error"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50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50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2000" b="1" spc="-119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00050" cy="6858000"/>
          </a:xfrm>
          <a:custGeom>
            <a:avLst/>
            <a:gdLst/>
            <a:ahLst/>
            <a:cxnLst/>
            <a:rect l="l" t="t" r="r" b="b"/>
            <a:pathLst>
              <a:path w="400050" h="6858000">
                <a:moveTo>
                  <a:pt x="400050" y="0"/>
                </a:moveTo>
                <a:lnTo>
                  <a:pt x="0" y="0"/>
                </a:lnTo>
                <a:lnTo>
                  <a:pt x="0" y="76200"/>
                </a:lnTo>
                <a:lnTo>
                  <a:pt x="0" y="6858000"/>
                </a:lnTo>
                <a:lnTo>
                  <a:pt x="400050" y="6858000"/>
                </a:lnTo>
                <a:lnTo>
                  <a:pt x="400050" y="76200"/>
                </a:lnTo>
                <a:lnTo>
                  <a:pt x="400050" y="0"/>
                </a:lnTo>
                <a:close/>
              </a:path>
            </a:pathLst>
          </a:custGeom>
          <a:solidFill>
            <a:srgbClr val="D9D9D9">
              <a:alpha val="6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78739"/>
            <a:ext cx="178435" cy="581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6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7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8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9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5913784"/>
            <a:ext cx="178435" cy="923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7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779" y="57403"/>
            <a:ext cx="3225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//</a:t>
            </a:r>
            <a:r>
              <a:rPr spc="-20" dirty="0"/>
              <a:t> </a:t>
            </a:r>
            <a:r>
              <a:rPr spc="-5" dirty="0"/>
              <a:t>Predict</a:t>
            </a:r>
            <a:r>
              <a:rPr spc="-20" dirty="0"/>
              <a:t> </a:t>
            </a:r>
            <a:r>
              <a:rPr spc="-5" dirty="0"/>
              <a:t>the</a:t>
            </a:r>
            <a:r>
              <a:rPr spc="-20" dirty="0"/>
              <a:t> </a:t>
            </a:r>
            <a:r>
              <a:rPr spc="-5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779" y="666953"/>
            <a:ext cx="7189470" cy="1856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2000" b="1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31900" marR="5080" indent="-610235">
              <a:lnSpc>
                <a:spcPct val="100000"/>
              </a:lnSpc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public static void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args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[]){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String </a:t>
            </a:r>
            <a:r>
              <a:rPr sz="2000" b="1" dirty="0">
                <a:latin typeface="Courier New"/>
                <a:cs typeface="Courier New"/>
              </a:rPr>
              <a:t>s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 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50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50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"error"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50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 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50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2000" b="1" spc="-119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00050" cy="6858000"/>
          </a:xfrm>
          <a:custGeom>
            <a:avLst/>
            <a:gdLst/>
            <a:ahLst/>
            <a:cxnLst/>
            <a:rect l="l" t="t" r="r" b="b"/>
            <a:pathLst>
              <a:path w="400050" h="6858000">
                <a:moveTo>
                  <a:pt x="400050" y="0"/>
                </a:moveTo>
                <a:lnTo>
                  <a:pt x="0" y="0"/>
                </a:lnTo>
                <a:lnTo>
                  <a:pt x="0" y="76200"/>
                </a:lnTo>
                <a:lnTo>
                  <a:pt x="0" y="6858000"/>
                </a:lnTo>
                <a:lnTo>
                  <a:pt x="400050" y="6858000"/>
                </a:lnTo>
                <a:lnTo>
                  <a:pt x="400050" y="76200"/>
                </a:lnTo>
                <a:lnTo>
                  <a:pt x="400050" y="0"/>
                </a:lnTo>
                <a:close/>
              </a:path>
            </a:pathLst>
          </a:custGeom>
          <a:solidFill>
            <a:srgbClr val="D9D9D9">
              <a:alpha val="6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78739"/>
            <a:ext cx="178435" cy="520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6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7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8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9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5303981"/>
            <a:ext cx="178435" cy="153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7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473" y="3912489"/>
            <a:ext cx="1393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Output: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r>
              <a:rPr sz="1800" spc="-15" dirty="0">
                <a:latin typeface="Arial MT"/>
                <a:cs typeface="Arial MT"/>
              </a:rPr>
              <a:t>0</a:t>
            </a:r>
            <a:r>
              <a:rPr sz="1800" spc="-5" dirty="0">
                <a:latin typeface="Arial MT"/>
                <a:cs typeface="Arial MT"/>
              </a:rPr>
              <a:t>0</a:t>
            </a:r>
            <a:r>
              <a:rPr sz="1800" spc="-15" dirty="0">
                <a:latin typeface="Arial MT"/>
                <a:cs typeface="Arial MT"/>
              </a:rPr>
              <a:t>e</a:t>
            </a:r>
            <a:r>
              <a:rPr sz="1800" spc="-5" dirty="0">
                <a:latin typeface="Arial MT"/>
                <a:cs typeface="Arial MT"/>
              </a:rPr>
              <a:t>rror</a:t>
            </a:r>
            <a:r>
              <a:rPr sz="1800" spc="-15" dirty="0">
                <a:latin typeface="Arial MT"/>
                <a:cs typeface="Arial MT"/>
              </a:rPr>
              <a:t>5</a:t>
            </a:r>
            <a:r>
              <a:rPr sz="1800" spc="-5" dirty="0">
                <a:latin typeface="Arial MT"/>
                <a:cs typeface="Arial MT"/>
              </a:rPr>
              <a:t>0</a:t>
            </a:r>
            <a:r>
              <a:rPr sz="1800" spc="-15" dirty="0">
                <a:latin typeface="Arial MT"/>
                <a:cs typeface="Arial MT"/>
              </a:rPr>
              <a:t>5</a:t>
            </a:r>
            <a:r>
              <a:rPr sz="1800" spc="-5" dirty="0"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473" y="4735829"/>
            <a:ext cx="77127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After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literal,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all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 </a:t>
            </a:r>
            <a:r>
              <a:rPr sz="1800" spc="-15" dirty="0">
                <a:latin typeface="Arial MT"/>
                <a:cs typeface="Arial MT"/>
              </a:rPr>
              <a:t>will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treated as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concatenation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operator.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8769" y="27383"/>
              <a:ext cx="9135745" cy="6830695"/>
            </a:xfrm>
            <a:custGeom>
              <a:avLst/>
              <a:gdLst/>
              <a:ahLst/>
              <a:cxnLst/>
              <a:rect l="l" t="t" r="r" b="b"/>
              <a:pathLst>
                <a:path w="9135745" h="6830695">
                  <a:moveTo>
                    <a:pt x="9135230" y="0"/>
                  </a:moveTo>
                  <a:lnTo>
                    <a:pt x="0" y="0"/>
                  </a:lnTo>
                  <a:lnTo>
                    <a:pt x="0" y="6830613"/>
                  </a:lnTo>
                  <a:lnTo>
                    <a:pt x="9135230" y="6830613"/>
                  </a:lnTo>
                  <a:lnTo>
                    <a:pt x="9135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00050" cy="6858000"/>
            </a:xfrm>
            <a:custGeom>
              <a:avLst/>
              <a:gdLst/>
              <a:ahLst/>
              <a:cxnLst/>
              <a:rect l="l" t="t" r="r" b="b"/>
              <a:pathLst>
                <a:path w="400050" h="6858000">
                  <a:moveTo>
                    <a:pt x="40005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0" y="6858000"/>
                  </a:lnTo>
                  <a:lnTo>
                    <a:pt x="400050" y="6858000"/>
                  </a:lnTo>
                  <a:lnTo>
                    <a:pt x="400050" y="7620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D9D9D9">
                <a:alpha val="6784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75"/>
              </a:lnSpc>
              <a:spcBef>
                <a:spcPts val="100"/>
              </a:spcBef>
              <a:tabLst>
                <a:tab pos="478155" algn="l"/>
              </a:tabLst>
            </a:pPr>
            <a:r>
              <a:rPr sz="3000" b="0" baseline="1388" dirty="0">
                <a:solidFill>
                  <a:srgbClr val="000000"/>
                </a:solidFill>
                <a:latin typeface="Courier New"/>
                <a:cs typeface="Courier New"/>
              </a:rPr>
              <a:t>1	</a:t>
            </a:r>
            <a:r>
              <a:rPr sz="2000" spc="-5" dirty="0"/>
              <a:t>//</a:t>
            </a:r>
            <a:r>
              <a:rPr sz="2000" spc="-20" dirty="0"/>
              <a:t> </a:t>
            </a:r>
            <a:r>
              <a:rPr sz="2000" spc="-5" dirty="0"/>
              <a:t>Predict</a:t>
            </a:r>
            <a:r>
              <a:rPr sz="2000" spc="-20" dirty="0"/>
              <a:t> </a:t>
            </a:r>
            <a:r>
              <a:rPr sz="2000" spc="-5" dirty="0"/>
              <a:t>the</a:t>
            </a:r>
            <a:r>
              <a:rPr sz="2000" spc="-20" dirty="0"/>
              <a:t> </a:t>
            </a:r>
            <a:r>
              <a:rPr sz="2000" spc="-5" dirty="0"/>
              <a:t>output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75"/>
              </a:lnSpc>
            </a:pPr>
            <a:r>
              <a:rPr b="0" dirty="0">
                <a:solidFill>
                  <a:srgbClr val="000000"/>
                </a:solidFill>
                <a:latin typeface="Courier New"/>
                <a:cs typeface="Courier New"/>
              </a:rPr>
              <a:t>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8739" y="5303981"/>
            <a:ext cx="178435" cy="153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7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694436"/>
            <a:ext cx="7045959" cy="4592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8155" indent="-46609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Courier New"/>
              <a:buAutoNum type="arabicPlain" startAt="3"/>
              <a:tabLst>
                <a:tab pos="478155" algn="l"/>
                <a:tab pos="478790" algn="l"/>
              </a:tabLst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2000" b="1" spc="-5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087755" indent="-1075690">
              <a:lnSpc>
                <a:spcPct val="100000"/>
              </a:lnSpc>
              <a:buClr>
                <a:srgbClr val="000000"/>
              </a:buClr>
              <a:buFont typeface="Courier New"/>
              <a:buAutoNum type="arabicPlain" startAt="3"/>
              <a:tabLst>
                <a:tab pos="1087755" algn="l"/>
                <a:tab pos="1088390" algn="l"/>
              </a:tabLst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public static void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args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[]){</a:t>
            </a:r>
            <a:endParaRPr sz="2000">
              <a:latin typeface="Courier New"/>
              <a:cs typeface="Courier New"/>
            </a:endParaRPr>
          </a:p>
          <a:p>
            <a:pPr marL="1697989" indent="-1685925">
              <a:lnSpc>
                <a:spcPct val="100000"/>
              </a:lnSpc>
              <a:buFont typeface="Courier New"/>
              <a:buAutoNum type="arabicPlain" startAt="3"/>
              <a:tabLst>
                <a:tab pos="1697989" algn="l"/>
                <a:tab pos="1698625" algn="l"/>
              </a:tabLst>
            </a:pP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20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"Apple"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1697989" indent="-1685925">
              <a:lnSpc>
                <a:spcPct val="100000"/>
              </a:lnSpc>
              <a:buClr>
                <a:srgbClr val="000000"/>
              </a:buClr>
              <a:buFont typeface="Courier New"/>
              <a:buAutoNum type="arabicPlain" startAt="3"/>
              <a:tabLst>
                <a:tab pos="1697989" algn="l"/>
                <a:tab pos="1698625" algn="l"/>
              </a:tabLst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2000" b="1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20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8000"/>
                </a:solidFill>
                <a:latin typeface="Courier New"/>
                <a:cs typeface="Courier New"/>
              </a:rPr>
              <a:t>10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1697989" indent="-1685925">
              <a:lnSpc>
                <a:spcPct val="100000"/>
              </a:lnSpc>
              <a:buFont typeface="Courier New"/>
              <a:buAutoNum type="arabicPlain" startAt="3"/>
              <a:tabLst>
                <a:tab pos="1697989" algn="l"/>
                <a:tab pos="1698625" algn="l"/>
              </a:tabLst>
            </a:pP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20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1697989" indent="-1685925">
              <a:lnSpc>
                <a:spcPct val="100000"/>
              </a:lnSpc>
              <a:buFont typeface="Courier New"/>
              <a:buAutoNum type="arabicPlain" startAt="3"/>
              <a:tabLst>
                <a:tab pos="1697989" algn="l"/>
                <a:tab pos="1698625" algn="l"/>
              </a:tabLst>
            </a:pP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concat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a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1087755" algn="l"/>
              </a:tabLst>
            </a:pPr>
            <a:r>
              <a:rPr sz="3000" baseline="1388" dirty="0">
                <a:latin typeface="Courier New"/>
                <a:cs typeface="Courier New"/>
              </a:rPr>
              <a:t>9	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75"/>
              </a:lnSpc>
              <a:tabLst>
                <a:tab pos="478155" algn="l"/>
              </a:tabLst>
            </a:pPr>
            <a:r>
              <a:rPr sz="3000" baseline="1388" dirty="0">
                <a:latin typeface="Courier New"/>
                <a:cs typeface="Courier New"/>
              </a:rPr>
              <a:t>1	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75"/>
              </a:lnSpc>
            </a:pPr>
            <a:r>
              <a:rPr sz="200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2375" y="4610861"/>
            <a:ext cx="5944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error: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incompatible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types: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int</a:t>
            </a:r>
            <a:r>
              <a:rPr sz="18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cannot</a:t>
            </a:r>
            <a:r>
              <a:rPr sz="1800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converted</a:t>
            </a:r>
            <a:r>
              <a:rPr sz="180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to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String </a:t>
            </a:r>
            <a:r>
              <a:rPr sz="1800" spc="-48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System.out.println(s.concat(a));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779" y="57403"/>
            <a:ext cx="3225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//</a:t>
            </a:r>
            <a:r>
              <a:rPr spc="-20" dirty="0"/>
              <a:t> </a:t>
            </a:r>
            <a:r>
              <a:rPr spc="-5" dirty="0"/>
              <a:t>Predict</a:t>
            </a:r>
            <a:r>
              <a:rPr spc="-20" dirty="0"/>
              <a:t> </a:t>
            </a:r>
            <a:r>
              <a:rPr spc="-5" dirty="0"/>
              <a:t>the</a:t>
            </a:r>
            <a:r>
              <a:rPr spc="-20" dirty="0"/>
              <a:t> </a:t>
            </a:r>
            <a:r>
              <a:rPr spc="-5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779" y="666953"/>
            <a:ext cx="6884670" cy="5513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2000" b="1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384300" marR="310515" indent="-762635">
              <a:lnSpc>
                <a:spcPct val="100000"/>
              </a:lnSpc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public static void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args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[]){ </a:t>
            </a:r>
            <a:r>
              <a:rPr sz="2000" b="1" spc="-118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spc="2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</a:t>
            </a:r>
            <a:r>
              <a:rPr sz="2000" b="1" spc="215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2000" b="1" spc="2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"Great"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,</a:t>
            </a:r>
            <a:r>
              <a:rPr sz="2000" b="1" spc="2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</a:t>
            </a:r>
            <a:r>
              <a:rPr sz="2000" b="1" spc="220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2000" b="1" spc="2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u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concat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if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u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==</a:t>
            </a:r>
            <a:r>
              <a:rPr sz="2000" b="1" spc="-3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){</a:t>
            </a:r>
            <a:endParaRPr sz="2000">
              <a:latin typeface="Courier New"/>
              <a:cs typeface="Courier New"/>
            </a:endParaRPr>
          </a:p>
          <a:p>
            <a:pPr marL="214630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"Same"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else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21463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"Not</a:t>
            </a:r>
            <a:r>
              <a:rPr sz="2000" b="1" spc="-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same"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e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20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20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if</a:t>
            </a:r>
            <a:r>
              <a:rPr sz="20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e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==</a:t>
            </a:r>
            <a:r>
              <a:rPr sz="20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){</a:t>
            </a:r>
            <a:endParaRPr sz="2000">
              <a:latin typeface="Courier New"/>
              <a:cs typeface="Courier New"/>
            </a:endParaRPr>
          </a:p>
          <a:p>
            <a:pPr marL="21463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"Same"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else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214630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"Not</a:t>
            </a:r>
            <a:r>
              <a:rPr sz="2000" b="1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same"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00050" cy="6858000"/>
          </a:xfrm>
          <a:custGeom>
            <a:avLst/>
            <a:gdLst/>
            <a:ahLst/>
            <a:cxnLst/>
            <a:rect l="l" t="t" r="r" b="b"/>
            <a:pathLst>
              <a:path w="400050" h="6858000">
                <a:moveTo>
                  <a:pt x="400050" y="0"/>
                </a:moveTo>
                <a:lnTo>
                  <a:pt x="0" y="0"/>
                </a:lnTo>
                <a:lnTo>
                  <a:pt x="0" y="76200"/>
                </a:lnTo>
                <a:lnTo>
                  <a:pt x="0" y="6858000"/>
                </a:lnTo>
                <a:lnTo>
                  <a:pt x="400050" y="6858000"/>
                </a:lnTo>
                <a:lnTo>
                  <a:pt x="400050" y="76200"/>
                </a:lnTo>
                <a:lnTo>
                  <a:pt x="400050" y="0"/>
                </a:lnTo>
                <a:close/>
              </a:path>
            </a:pathLst>
          </a:custGeom>
          <a:solidFill>
            <a:srgbClr val="D9D9D9">
              <a:alpha val="6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78739"/>
            <a:ext cx="178435" cy="6123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6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7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8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9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4779" y="6197248"/>
            <a:ext cx="178435" cy="314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7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6218584"/>
            <a:ext cx="178435" cy="619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7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5726" y="6497523"/>
            <a:ext cx="1320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PMingLiU-ExtB"/>
                <a:cs typeface="PMingLiU-ExtB"/>
              </a:rPr>
              <a:t>45</a:t>
            </a:r>
            <a:endParaRPr sz="9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0473" y="719709"/>
            <a:ext cx="10033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Output: </a:t>
            </a:r>
            <a:r>
              <a:rPr sz="1800" spc="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b="0" spc="-5" dirty="0">
                <a:solidFill>
                  <a:srgbClr val="000000"/>
                </a:solidFill>
                <a:latin typeface="Arial MT"/>
                <a:cs typeface="Arial MT"/>
              </a:rPr>
              <a:t>Same </a:t>
            </a:r>
            <a:r>
              <a:rPr sz="1800" b="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0" spc="-10" dirty="0">
                <a:solidFill>
                  <a:srgbClr val="000000"/>
                </a:solidFill>
                <a:latin typeface="Arial MT"/>
                <a:cs typeface="Arial MT"/>
              </a:rPr>
              <a:t>Not</a:t>
            </a:r>
            <a:r>
              <a:rPr sz="1800"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0" spc="-5" dirty="0">
                <a:solidFill>
                  <a:srgbClr val="000000"/>
                </a:solidFill>
                <a:latin typeface="Arial MT"/>
                <a:cs typeface="Arial MT"/>
              </a:rPr>
              <a:t>same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0473" y="1817370"/>
            <a:ext cx="721804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59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concat()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method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 MT"/>
                <a:cs typeface="Arial MT"/>
              </a:rPr>
              <a:t>takes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concatenates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two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return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new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object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only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string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length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greater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than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0,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otherwise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5" dirty="0">
                <a:latin typeface="Arial MT"/>
                <a:cs typeface="Arial MT"/>
              </a:rPr>
              <a:t> returns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same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object.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operator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 MT"/>
                <a:cs typeface="Arial MT"/>
              </a:rPr>
              <a:t>creates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new string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object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every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irrespective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of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length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" dirty="0">
                <a:latin typeface="Arial MT"/>
                <a:cs typeface="Arial MT"/>
              </a:rPr>
              <a:t> string.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779" y="57403"/>
            <a:ext cx="3225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//</a:t>
            </a:r>
            <a:r>
              <a:rPr spc="-20" dirty="0"/>
              <a:t> </a:t>
            </a:r>
            <a:r>
              <a:rPr spc="-5" dirty="0"/>
              <a:t>Predict</a:t>
            </a:r>
            <a:r>
              <a:rPr spc="-20" dirty="0"/>
              <a:t> </a:t>
            </a:r>
            <a:r>
              <a:rPr spc="-5" dirty="0"/>
              <a:t>the</a:t>
            </a:r>
            <a:r>
              <a:rPr spc="-20" dirty="0"/>
              <a:t> </a:t>
            </a:r>
            <a:r>
              <a:rPr spc="-5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779" y="666953"/>
            <a:ext cx="6884670" cy="5818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2000" b="1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384300" marR="310515" indent="-762635">
              <a:lnSpc>
                <a:spcPct val="100000"/>
              </a:lnSpc>
            </a:pPr>
            <a:r>
              <a:rPr sz="2000" b="1" spc="-5" dirty="0">
                <a:solidFill>
                  <a:srgbClr val="8000FF"/>
                </a:solidFill>
                <a:latin typeface="Courier New"/>
                <a:cs typeface="Courier New"/>
              </a:rPr>
              <a:t>public static void </a:t>
            </a:r>
            <a:r>
              <a:rPr sz="2000" b="1" spc="-5" dirty="0">
                <a:latin typeface="Courier New"/>
                <a:cs typeface="Courier New"/>
              </a:rPr>
              <a:t>main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args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[]){ </a:t>
            </a:r>
            <a:r>
              <a:rPr sz="2000" b="1" spc="-118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spc="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</a:t>
            </a:r>
            <a:r>
              <a:rPr sz="2000" b="1" spc="20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2000" b="1" spc="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"Great"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,</a:t>
            </a:r>
            <a:r>
              <a:rPr sz="2000" b="1" spc="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</a:t>
            </a:r>
            <a:r>
              <a:rPr sz="2000" b="1" spc="20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2000" b="1" spc="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"H"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u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concat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if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u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==</a:t>
            </a:r>
            <a:r>
              <a:rPr sz="2000" b="1" spc="-3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){</a:t>
            </a:r>
            <a:endParaRPr sz="2000">
              <a:latin typeface="Courier New"/>
              <a:cs typeface="Courier New"/>
            </a:endParaRPr>
          </a:p>
          <a:p>
            <a:pPr marL="214630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"Same"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else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21463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"Not</a:t>
            </a:r>
            <a:r>
              <a:rPr sz="2000" b="1" spc="-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same"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String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e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20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20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</a:t>
            </a: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if</a:t>
            </a:r>
            <a:r>
              <a:rPr sz="20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latin typeface="Courier New"/>
                <a:cs typeface="Courier New"/>
              </a:rPr>
              <a:t>e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==</a:t>
            </a:r>
            <a:r>
              <a:rPr sz="20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){</a:t>
            </a:r>
            <a:endParaRPr sz="2000">
              <a:latin typeface="Courier New"/>
              <a:cs typeface="Courier New"/>
            </a:endParaRPr>
          </a:p>
          <a:p>
            <a:pPr marL="21463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"Same"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else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214630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Courier New"/>
                <a:cs typeface="Courier New"/>
              </a:rPr>
              <a:t>System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out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2000" b="1" spc="-5" dirty="0">
                <a:latin typeface="Courier New"/>
                <a:cs typeface="Courier New"/>
              </a:rPr>
              <a:t>println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"Not</a:t>
            </a:r>
            <a:r>
              <a:rPr sz="2000" b="1" spc="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same"</a:t>
            </a:r>
            <a:r>
              <a:rPr sz="2000" b="1" spc="-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00050" cy="6858000"/>
          </a:xfrm>
          <a:custGeom>
            <a:avLst/>
            <a:gdLst/>
            <a:ahLst/>
            <a:cxnLst/>
            <a:rect l="l" t="t" r="r" b="b"/>
            <a:pathLst>
              <a:path w="400050" h="6858000">
                <a:moveTo>
                  <a:pt x="400050" y="0"/>
                </a:moveTo>
                <a:lnTo>
                  <a:pt x="0" y="0"/>
                </a:lnTo>
                <a:lnTo>
                  <a:pt x="0" y="76200"/>
                </a:lnTo>
                <a:lnTo>
                  <a:pt x="0" y="6858000"/>
                </a:lnTo>
                <a:lnTo>
                  <a:pt x="400050" y="6858000"/>
                </a:lnTo>
                <a:lnTo>
                  <a:pt x="400050" y="76200"/>
                </a:lnTo>
                <a:lnTo>
                  <a:pt x="400050" y="0"/>
                </a:lnTo>
                <a:close/>
              </a:path>
            </a:pathLst>
          </a:custGeom>
          <a:solidFill>
            <a:srgbClr val="D9D9D9">
              <a:alpha val="6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78739"/>
            <a:ext cx="178435" cy="6732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6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7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8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9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442" y="1380871"/>
            <a:ext cx="104076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Output: </a:t>
            </a:r>
            <a:r>
              <a:rPr sz="1800" spc="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b="0" spc="-5" dirty="0">
                <a:solidFill>
                  <a:srgbClr val="000000"/>
                </a:solidFill>
                <a:latin typeface="Arial MT"/>
                <a:cs typeface="Arial MT"/>
              </a:rPr>
              <a:t>Not</a:t>
            </a:r>
            <a:r>
              <a:rPr sz="1800" b="0" spc="-8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0" spc="-5" dirty="0">
                <a:solidFill>
                  <a:srgbClr val="000000"/>
                </a:solidFill>
                <a:latin typeface="Arial MT"/>
                <a:cs typeface="Arial MT"/>
              </a:rPr>
              <a:t>Same </a:t>
            </a:r>
            <a:r>
              <a:rPr sz="1800" b="0" spc="-49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0" spc="-5" dirty="0">
                <a:solidFill>
                  <a:srgbClr val="000000"/>
                </a:solidFill>
                <a:latin typeface="Arial MT"/>
                <a:cs typeface="Arial MT"/>
              </a:rPr>
              <a:t>Not</a:t>
            </a:r>
            <a:r>
              <a:rPr sz="18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00" b="0" spc="-5" dirty="0">
                <a:solidFill>
                  <a:srgbClr val="000000"/>
                </a:solidFill>
                <a:latin typeface="Arial MT"/>
                <a:cs typeface="Arial MT"/>
              </a:rPr>
              <a:t>same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46</a:t>
            </a:fld>
            <a:endParaRPr sz="900">
              <a:latin typeface="PMingLiU-ExtB"/>
              <a:cs typeface="PMingLiU-ExtB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0354"/>
            <a:ext cx="286385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StringBuffer</a:t>
            </a:r>
            <a:r>
              <a:rPr sz="2850" b="0" spc="-8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850" b="0" dirty="0">
                <a:solidFill>
                  <a:srgbClr val="3333CC"/>
                </a:solidFill>
                <a:latin typeface="Arial MT"/>
                <a:cs typeface="Arial MT"/>
              </a:rPr>
              <a:t>class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47</a:t>
            </a:fld>
            <a:endParaRPr sz="900">
              <a:latin typeface="PMingLiU-ExtB"/>
              <a:cs typeface="PMingLiU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4329"/>
            <a:ext cx="7901940" cy="1056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64444"/>
              <a:buFont typeface="Wingdings"/>
              <a:buChar char=""/>
              <a:tabLst>
                <a:tab pos="270510" algn="l"/>
              </a:tabLst>
            </a:pPr>
            <a:r>
              <a:rPr sz="2250" b="1" dirty="0">
                <a:latin typeface="Arial"/>
                <a:cs typeface="Arial"/>
              </a:rPr>
              <a:t>Mutable</a:t>
            </a:r>
            <a:r>
              <a:rPr sz="2250" b="1" spc="-50" dirty="0">
                <a:latin typeface="Arial"/>
                <a:cs typeface="Arial"/>
              </a:rPr>
              <a:t> </a:t>
            </a:r>
            <a:r>
              <a:rPr sz="2250" b="1" dirty="0">
                <a:latin typeface="Arial"/>
                <a:cs typeface="Arial"/>
              </a:rPr>
              <a:t>String: </a:t>
            </a:r>
            <a:r>
              <a:rPr sz="2250" dirty="0">
                <a:latin typeface="Arial MT"/>
                <a:cs typeface="Arial MT"/>
              </a:rPr>
              <a:t>A</a:t>
            </a:r>
            <a:r>
              <a:rPr sz="2250" spc="-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that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can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be modified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or changed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is </a:t>
            </a:r>
            <a:r>
              <a:rPr sz="2250" spc="-6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known as mutable </a:t>
            </a:r>
            <a:r>
              <a:rPr sz="2250" spc="-5" dirty="0">
                <a:latin typeface="Arial MT"/>
                <a:cs typeface="Arial MT"/>
              </a:rPr>
              <a:t>String. </a:t>
            </a:r>
            <a:r>
              <a:rPr sz="2250" dirty="0">
                <a:latin typeface="Arial MT"/>
                <a:cs typeface="Arial MT"/>
              </a:rPr>
              <a:t>StringBuffer </a:t>
            </a:r>
            <a:r>
              <a:rPr sz="2250" spc="5" dirty="0">
                <a:latin typeface="Arial MT"/>
                <a:cs typeface="Arial MT"/>
              </a:rPr>
              <a:t>and </a:t>
            </a:r>
            <a:r>
              <a:rPr sz="2250" dirty="0">
                <a:latin typeface="Arial MT"/>
                <a:cs typeface="Arial MT"/>
              </a:rPr>
              <a:t>StringBuilder 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classes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are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used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for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creating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mutable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strings.</a:t>
            </a:r>
            <a:endParaRPr sz="22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20457" y="3209798"/>
          <a:ext cx="6696708" cy="27340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48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8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22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350" dirty="0">
                          <a:latin typeface="Times New Roman"/>
                          <a:cs typeface="Times New Roman"/>
                        </a:rPr>
                        <a:t>Constructor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6350">
                      <a:solidFill>
                        <a:srgbClr val="2FA95F"/>
                      </a:solidFill>
                      <a:prstDash val="solid"/>
                    </a:lnL>
                    <a:lnR w="6350">
                      <a:solidFill>
                        <a:srgbClr val="2FA95F"/>
                      </a:solidFill>
                      <a:prstDash val="solid"/>
                    </a:lnR>
                    <a:lnT w="6350">
                      <a:solidFill>
                        <a:srgbClr val="2FA95F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35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6350">
                      <a:solidFill>
                        <a:srgbClr val="2FA95F"/>
                      </a:solidFill>
                      <a:prstDash val="solid"/>
                    </a:lnL>
                    <a:lnR w="6350">
                      <a:solidFill>
                        <a:srgbClr val="2FA95F"/>
                      </a:solidFill>
                      <a:prstDash val="solid"/>
                    </a:lnR>
                    <a:lnT w="6350">
                      <a:solidFill>
                        <a:srgbClr val="2FA95F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106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StringBuffer()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32384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marR="412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r>
                        <a:rPr sz="1350" spc="17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creates</a:t>
                      </a:r>
                      <a:r>
                        <a:rPr sz="1350" spc="2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an</a:t>
                      </a:r>
                      <a:r>
                        <a:rPr sz="135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empty</a:t>
                      </a:r>
                      <a:r>
                        <a:rPr sz="1350" spc="18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35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buffer</a:t>
                      </a:r>
                      <a:r>
                        <a:rPr sz="135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35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1350" spc="-36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initial</a:t>
                      </a:r>
                      <a:r>
                        <a:rPr sz="1350" spc="-2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capacity</a:t>
                      </a:r>
                      <a:r>
                        <a:rPr sz="1350" spc="-3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35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16.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32384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568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StringBuffer(String</a:t>
                      </a:r>
                      <a:r>
                        <a:rPr sz="1350" spc="-4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str)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419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r>
                        <a:rPr sz="1350" spc="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creates</a:t>
                      </a:r>
                      <a:r>
                        <a:rPr sz="1350" spc="7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350" spc="7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350" spc="7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buffer</a:t>
                      </a:r>
                      <a:r>
                        <a:rPr sz="1350" spc="8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350" spc="7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350" spc="6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specified </a:t>
                      </a:r>
                      <a:r>
                        <a:rPr sz="1350" spc="-36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string..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1192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StringBuffer(int</a:t>
                      </a:r>
                      <a:r>
                        <a:rPr sz="1350" spc="-3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capacity)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marR="412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r>
                        <a:rPr sz="1350" spc="17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creates</a:t>
                      </a:r>
                      <a:r>
                        <a:rPr sz="1350" spc="2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an</a:t>
                      </a:r>
                      <a:r>
                        <a:rPr sz="135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empty</a:t>
                      </a:r>
                      <a:r>
                        <a:rPr sz="1350" spc="18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String</a:t>
                      </a:r>
                      <a:r>
                        <a:rPr sz="135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buffer</a:t>
                      </a:r>
                      <a:r>
                        <a:rPr sz="135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350" spc="19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spc="-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1350" spc="-36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350" spc="-4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capacity</a:t>
                      </a:r>
                      <a:r>
                        <a:rPr sz="1350" spc="-3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as</a:t>
                      </a:r>
                      <a:r>
                        <a:rPr sz="1350" spc="-1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5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length.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77112"/>
            <a:ext cx="6361430" cy="414083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250" b="1" dirty="0">
                <a:latin typeface="Arial"/>
                <a:cs typeface="Arial"/>
              </a:rPr>
              <a:t>StringBufferExample.java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class</a:t>
            </a:r>
            <a:r>
              <a:rPr sz="2250" spc="-5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StringBufferExample{</a:t>
            </a:r>
            <a:endParaRPr sz="2250">
              <a:latin typeface="Arial MT"/>
              <a:cs typeface="Arial MT"/>
            </a:endParaRPr>
          </a:p>
          <a:p>
            <a:pPr marL="12700" marR="968375">
              <a:lnSpc>
                <a:spcPct val="120000"/>
              </a:lnSpc>
              <a:spcBef>
                <a:spcPts val="5"/>
              </a:spcBef>
            </a:pPr>
            <a:r>
              <a:rPr sz="2250" dirty="0">
                <a:latin typeface="Arial MT"/>
                <a:cs typeface="Arial MT"/>
              </a:rPr>
              <a:t>public static void main(String args[]){ 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StringBuffer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sb=new</a:t>
            </a:r>
            <a:r>
              <a:rPr sz="2250" spc="-5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StringBuffer("Hello</a:t>
            </a:r>
            <a:r>
              <a:rPr sz="2250" spc="-5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");</a:t>
            </a:r>
            <a:endParaRPr sz="2250">
              <a:latin typeface="Arial MT"/>
              <a:cs typeface="Arial MT"/>
            </a:endParaRPr>
          </a:p>
          <a:p>
            <a:pPr marL="12700" marR="5080">
              <a:lnSpc>
                <a:spcPct val="120000"/>
              </a:lnSpc>
            </a:pPr>
            <a:r>
              <a:rPr sz="2250" dirty="0">
                <a:latin typeface="Arial MT"/>
                <a:cs typeface="Arial MT"/>
              </a:rPr>
              <a:t>sb.append("Java");//now</a:t>
            </a:r>
            <a:r>
              <a:rPr sz="2250" spc="-5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original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</a:t>
            </a:r>
            <a:r>
              <a:rPr sz="2250" spc="-5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is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changed </a:t>
            </a:r>
            <a:r>
              <a:rPr sz="2250" spc="-6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System.out.println(sb);//prints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Hello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Java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}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}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b="1" dirty="0">
                <a:latin typeface="Arial"/>
                <a:cs typeface="Arial"/>
              </a:rPr>
              <a:t>Output: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Hello</a:t>
            </a:r>
            <a:r>
              <a:rPr sz="2250" spc="-6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Java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48</a:t>
            </a:fld>
            <a:endParaRPr sz="900">
              <a:latin typeface="PMingLiU-ExtB"/>
              <a:cs typeface="PMingLiU-ExtB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870864"/>
            <a:ext cx="6344920" cy="414083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250" b="1" dirty="0">
                <a:latin typeface="Arial"/>
                <a:cs typeface="Arial"/>
              </a:rPr>
              <a:t>StringBufferExample2.java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class</a:t>
            </a:r>
            <a:r>
              <a:rPr sz="2250" spc="-6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StringBufferExample2{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250" dirty="0">
                <a:latin typeface="Arial MT"/>
                <a:cs typeface="Arial MT"/>
              </a:rPr>
              <a:t>public</a:t>
            </a:r>
            <a:r>
              <a:rPr sz="2250" spc="-3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static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spc="-5" dirty="0">
                <a:latin typeface="Arial MT"/>
                <a:cs typeface="Arial MT"/>
              </a:rPr>
              <a:t>void </a:t>
            </a:r>
            <a:r>
              <a:rPr sz="2250" dirty="0">
                <a:latin typeface="Arial MT"/>
                <a:cs typeface="Arial MT"/>
              </a:rPr>
              <a:t>main(String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spc="-5" dirty="0">
                <a:latin typeface="Arial MT"/>
                <a:cs typeface="Arial MT"/>
              </a:rPr>
              <a:t>args[]){</a:t>
            </a:r>
            <a:endParaRPr sz="2250">
              <a:latin typeface="Arial MT"/>
              <a:cs typeface="Arial MT"/>
            </a:endParaRPr>
          </a:p>
          <a:p>
            <a:pPr marL="12700" marR="5080">
              <a:lnSpc>
                <a:spcPct val="120000"/>
              </a:lnSpc>
            </a:pPr>
            <a:r>
              <a:rPr sz="2250" dirty="0">
                <a:latin typeface="Arial MT"/>
                <a:cs typeface="Arial MT"/>
              </a:rPr>
              <a:t>StringBuffer sb=new StringBuffer("Hello "); </a:t>
            </a:r>
            <a:r>
              <a:rPr sz="2250" spc="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sb.insert(1,"Java");//now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original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string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is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changed </a:t>
            </a:r>
            <a:r>
              <a:rPr sz="2250" spc="-6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System.out.println(sb);//prints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HJavaello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}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}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b="1" dirty="0">
                <a:latin typeface="Arial"/>
                <a:cs typeface="Arial"/>
              </a:rPr>
              <a:t>Output: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250" dirty="0">
                <a:latin typeface="Arial MT"/>
                <a:cs typeface="Arial MT"/>
              </a:rPr>
              <a:t>HJavaello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49</a:t>
            </a:fld>
            <a:endParaRPr sz="900">
              <a:latin typeface="PMingLiU-ExtB"/>
              <a:cs typeface="PMingLiU-ExtB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555" y="635609"/>
            <a:ext cx="7560818" cy="53328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50</a:t>
            </a:fld>
            <a:endParaRPr sz="900">
              <a:latin typeface="PMingLiU-ExtB"/>
              <a:cs typeface="PMingLiU-ExtB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228600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600" y="0"/>
                </a:lnTo>
              </a:path>
            </a:pathLst>
          </a:custGeom>
          <a:ln w="19050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47675" y="470280"/>
          <a:ext cx="8363585" cy="56955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016"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Methods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600" b="1" spc="-15" dirty="0">
                          <a:latin typeface="Arial"/>
                          <a:cs typeface="Arial"/>
                        </a:rPr>
                        <a:t>Action</a:t>
                      </a:r>
                      <a:r>
                        <a:rPr sz="16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Performed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5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append()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100" spc="-5" dirty="0">
                          <a:latin typeface="Arial MT"/>
                          <a:cs typeface="Arial MT"/>
                        </a:rPr>
                        <a:t>Used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add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text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end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existing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text.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5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length()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 marR="527050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length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StringBuffer</a:t>
                      </a:r>
                      <a:r>
                        <a:rPr sz="11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found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length(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) </a:t>
                      </a:r>
                      <a:r>
                        <a:rPr sz="1100" spc="-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method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31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4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capacity()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 marR="45402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allocated</a:t>
                      </a:r>
                      <a:r>
                        <a:rPr sz="11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capacity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found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by 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capacity(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 ) </a:t>
                      </a:r>
                      <a:r>
                        <a:rPr sz="1100" spc="-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method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31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5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charAt()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4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delete()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1100" spc="-5" dirty="0">
                          <a:latin typeface="Arial MT"/>
                          <a:cs typeface="Arial MT"/>
                        </a:rPr>
                        <a:t>Deletes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sequence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characters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5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1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invoking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 object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5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deleteCharAt()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spc="-5" dirty="0">
                          <a:latin typeface="Arial MT"/>
                          <a:cs typeface="Arial MT"/>
                        </a:rPr>
                        <a:t>Deletes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character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index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by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loc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53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ensureCapacity()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Ensures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capacity is</a:t>
                      </a:r>
                      <a:r>
                        <a:rPr sz="11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least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equals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given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minimum.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58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insert()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Inserts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text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specified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index position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45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length()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Returns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length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string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45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reverse()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100" spc="-5" dirty="0">
                          <a:latin typeface="Arial MT"/>
                          <a:cs typeface="Arial MT"/>
                        </a:rPr>
                        <a:t>Reverse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 the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characters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within</a:t>
                      </a:r>
                      <a:r>
                        <a:rPr sz="11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StringBuffer</a:t>
                      </a:r>
                      <a:r>
                        <a:rPr sz="11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8813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replace()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 marR="64770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5" dirty="0">
                          <a:latin typeface="Arial MT"/>
                          <a:cs typeface="Arial MT"/>
                        </a:rPr>
                        <a:t>Replace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 one set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characters</a:t>
                      </a:r>
                      <a:r>
                        <a:rPr sz="11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with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 another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set</a:t>
                      </a:r>
                      <a:r>
                        <a:rPr sz="11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inside</a:t>
                      </a:r>
                      <a:r>
                        <a:rPr sz="11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100" spc="-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StringBuffer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object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6666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50326" y="6513317"/>
            <a:ext cx="18288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55"/>
              </a:lnSpc>
            </a:pPr>
            <a:fld id="{81D60167-4931-47E6-BA6A-407CBD079E47}" type="slidenum">
              <a:rPr sz="900" spc="-5" dirty="0">
                <a:latin typeface="PMingLiU-ExtB"/>
                <a:cs typeface="PMingLiU-ExtB"/>
              </a:rPr>
              <a:t>51</a:t>
            </a:fld>
            <a:endParaRPr sz="900">
              <a:latin typeface="PMingLiU-ExtB"/>
              <a:cs typeface="PMingLiU-ExtB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9DF2D-469A-A31C-8914-E0982D9FE70B}"/>
              </a:ext>
            </a:extLst>
          </p:cNvPr>
          <p:cNvSpPr txBox="1"/>
          <p:nvPr/>
        </p:nvSpPr>
        <p:spPr>
          <a:xfrm>
            <a:off x="1676400" y="8382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1">
                    <a:satMod val="150000"/>
                  </a:schemeClr>
                </a:solidFill>
              </a:rPr>
              <a:t>VECTORS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8D6579-A1C1-E962-96F1-5513DC78E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07532"/>
            <a:ext cx="7391400" cy="450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2471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438CEB-2A3B-1E6F-E9C3-D38C97B26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76962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77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38227C-C0CB-325C-0E25-2D5E6A0B0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7467600" cy="541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6145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4A501A-94BA-3C88-3D99-7BB2811E4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09601"/>
            <a:ext cx="7620000" cy="497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976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2C6CE3-8F5E-388A-A8F5-4C997B0A4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00"/>
            <a:ext cx="7239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811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6D5C55-3462-0136-B827-E6B875434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7162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942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697B20-0F39-6857-427B-78054DAC1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90600"/>
            <a:ext cx="7315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085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D0CE77-9E9C-D159-B9C3-81CA0C0F3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762000"/>
            <a:ext cx="7772400" cy="502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655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6976A1-8D14-5952-0685-50A673DFA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90600"/>
            <a:ext cx="6553199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2327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fference between Array list and vector in Java - TechGuy - Medium">
            <a:extLst>
              <a:ext uri="{FF2B5EF4-FFF2-40B4-BE49-F238E27FC236}">
                <a16:creationId xmlns:a16="http://schemas.microsoft.com/office/drawing/2014/main" id="{4861DDE8-ADE0-6EA2-5A1B-BDA0E1BB9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43075"/>
            <a:ext cx="8001000" cy="295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6965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CE4425-612C-094C-5C0C-A293803D9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85800"/>
            <a:ext cx="7924800" cy="502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291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B724CF-6F04-367F-6CAF-9AAFB02E5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70866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669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41AAC9-7144-2983-0CE0-E596EE2DC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1000"/>
            <a:ext cx="7696200" cy="5410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16A68B-F594-ED9F-F4F2-64D150BF2F72}"/>
              </a:ext>
            </a:extLst>
          </p:cNvPr>
          <p:cNvSpPr txBox="1"/>
          <p:nvPr/>
        </p:nvSpPr>
        <p:spPr>
          <a:xfrm>
            <a:off x="1219200" y="990600"/>
            <a:ext cx="571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Converting primitive 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6549509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EDCB74-5A43-43D2-24FA-387305444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33400"/>
            <a:ext cx="7162800" cy="464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27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966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512</TotalTime>
  <Words>3451</Words>
  <Application>Microsoft Office PowerPoint</Application>
  <PresentationFormat>On-screen Show (4:3)</PresentationFormat>
  <Paragraphs>704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3" baseType="lpstr">
      <vt:lpstr>PMingLiU-ExtB</vt:lpstr>
      <vt:lpstr>Arial</vt:lpstr>
      <vt:lpstr>Arial MT</vt:lpstr>
      <vt:lpstr>Calibri</vt:lpstr>
      <vt:lpstr>Courier New</vt:lpstr>
      <vt:lpstr>Times New Roman</vt:lpstr>
      <vt:lpstr>Wingdings</vt:lpstr>
      <vt:lpstr>Office Theme</vt:lpstr>
      <vt:lpstr>Array</vt:lpstr>
      <vt:lpstr>Types</vt:lpstr>
      <vt:lpstr>One dimensional array</vt:lpstr>
      <vt:lpstr>PowerPoint Presentation</vt:lpstr>
      <vt:lpstr>Java array index</vt:lpstr>
      <vt:lpstr>Initializing Array Values – Type 1</vt:lpstr>
      <vt:lpstr>Initializing Array Values – Type 2</vt:lpstr>
      <vt:lpstr>PowerPoint Presentation</vt:lpstr>
      <vt:lpstr>PowerPoint Presentation</vt:lpstr>
      <vt:lpstr>Syntax</vt:lpstr>
      <vt:lpstr>Array Length</vt:lpstr>
      <vt:lpstr>Multi dimensional array</vt:lpstr>
      <vt:lpstr>Multi dimensional array</vt:lpstr>
      <vt:lpstr>2d array Using Loop</vt:lpstr>
      <vt:lpstr>PowerPoint Presentation</vt:lpstr>
      <vt:lpstr>PowerPoint Presentation</vt:lpstr>
      <vt:lpstr>PowerPoint Presentation</vt:lpstr>
      <vt:lpstr>PowerPoint Presentation</vt:lpstr>
      <vt:lpstr>Three Dimensional Array</vt:lpstr>
      <vt:lpstr>Output</vt:lpstr>
      <vt:lpstr>Java String</vt:lpstr>
      <vt:lpstr>Create a variable of type String and assign it a  value:</vt:lpstr>
      <vt:lpstr>String Literal - String str = “Hello”</vt:lpstr>
      <vt:lpstr>String Literal - String str = “Hello”</vt:lpstr>
      <vt:lpstr>new - String s = new String(“Hello”)</vt:lpstr>
      <vt:lpstr>new - String s = new String(“Hello”)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charAt() method</vt:lpstr>
      <vt:lpstr>PowerPoint Presentation</vt:lpstr>
      <vt:lpstr>The toUpperCase() method</vt:lpstr>
      <vt:lpstr>The toLowerCase() method</vt:lpstr>
      <vt:lpstr>The concat() method</vt:lpstr>
      <vt:lpstr>+ operator</vt:lpstr>
      <vt:lpstr>// Predict the output</vt:lpstr>
      <vt:lpstr>// Predict the output</vt:lpstr>
      <vt:lpstr>// Predict the output</vt:lpstr>
      <vt:lpstr>1 // Predict the output 2</vt:lpstr>
      <vt:lpstr>// Predict the output</vt:lpstr>
      <vt:lpstr>Output:  Same  Not same</vt:lpstr>
      <vt:lpstr>// Predict the output</vt:lpstr>
      <vt:lpstr>Output:  Not Same  Not same</vt:lpstr>
      <vt:lpstr>StringBuffer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BCSE103E Computer Programming : Java</dc:title>
  <dc:creator>Magizh</dc:creator>
  <cp:lastModifiedBy>Swathi M</cp:lastModifiedBy>
  <cp:revision>9</cp:revision>
  <dcterms:created xsi:type="dcterms:W3CDTF">2022-08-12T01:28:55Z</dcterms:created>
  <dcterms:modified xsi:type="dcterms:W3CDTF">2022-08-22T11:24:20Z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2022-08-11T00:00:00Z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2022-08-12T00:00:00Z</vt:filetime>
  </property>
</Properties>
</file>