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sldIdLst>
    <p:sldId id="257" r:id="rId2"/>
    <p:sldId id="305" r:id="rId3"/>
    <p:sldId id="258" r:id="rId4"/>
    <p:sldId id="259" r:id="rId5"/>
    <p:sldId id="263" r:id="rId6"/>
    <p:sldId id="262" r:id="rId7"/>
    <p:sldId id="266" r:id="rId8"/>
    <p:sldId id="267" r:id="rId9"/>
    <p:sldId id="268" r:id="rId10"/>
    <p:sldId id="270" r:id="rId11"/>
    <p:sldId id="304" r:id="rId12"/>
    <p:sldId id="284" r:id="rId13"/>
    <p:sldId id="285" r:id="rId14"/>
    <p:sldId id="287" r:id="rId15"/>
    <p:sldId id="288" r:id="rId16"/>
    <p:sldId id="289" r:id="rId17"/>
    <p:sldId id="276" r:id="rId18"/>
    <p:sldId id="272" r:id="rId19"/>
    <p:sldId id="271" r:id="rId20"/>
    <p:sldId id="283" r:id="rId21"/>
    <p:sldId id="282" r:id="rId22"/>
    <p:sldId id="281" r:id="rId23"/>
    <p:sldId id="280" r:id="rId24"/>
    <p:sldId id="292" r:id="rId25"/>
    <p:sldId id="291" r:id="rId26"/>
    <p:sldId id="279" r:id="rId27"/>
    <p:sldId id="295" r:id="rId28"/>
    <p:sldId id="294" r:id="rId29"/>
    <p:sldId id="293" r:id="rId30"/>
    <p:sldId id="296" r:id="rId31"/>
    <p:sldId id="298" r:id="rId32"/>
    <p:sldId id="297" r:id="rId33"/>
    <p:sldId id="301" r:id="rId34"/>
    <p:sldId id="300" r:id="rId35"/>
    <p:sldId id="299" r:id="rId36"/>
    <p:sldId id="316" r:id="rId37"/>
    <p:sldId id="308" r:id="rId38"/>
    <p:sldId id="306" r:id="rId39"/>
    <p:sldId id="310" r:id="rId40"/>
    <p:sldId id="309" r:id="rId41"/>
    <p:sldId id="313" r:id="rId42"/>
    <p:sldId id="312" r:id="rId43"/>
    <p:sldId id="314" r:id="rId44"/>
    <p:sldId id="317" r:id="rId45"/>
    <p:sldId id="315" r:id="rId46"/>
    <p:sldId id="318" r:id="rId4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732D3BB-A09D-4DED-965C-BD62993EF11E}" type="datetimeFigureOut">
              <a:rPr lang="en-US" smtClean="0"/>
              <a:pPr/>
              <a:t>3/20/2025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00790C3-33A6-41CE-A5D8-4CE5613227A2}"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BAA290C-F13F-46C3-90D9-3DCDE60AB2A4}" type="slidenum">
              <a:rPr lang="en-US"/>
              <a:pPr/>
              <a:t>7</a:t>
            </a:fld>
            <a:endParaRPr lang="en-US"/>
          </a:p>
        </p:txBody>
      </p:sp>
      <p:sp>
        <p:nvSpPr>
          <p:cNvPr id="59394" name="Rectangle 2"/>
          <p:cNvSpPr>
            <a:spLocks noGrp="1" noRot="1" noChangeAspect="1" noChangeArrowheads="1" noTextEdit="1"/>
          </p:cNvSpPr>
          <p:nvPr>
            <p:ph type="sldImg"/>
          </p:nvPr>
        </p:nvSpPr>
        <p:spPr>
          <a:ln/>
        </p:spPr>
      </p:sp>
      <p:sp>
        <p:nvSpPr>
          <p:cNvPr id="5939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A691C34-2811-418C-891F-E3F433CE6D8F}" type="slidenum">
              <a:rPr lang="en-US"/>
              <a:pPr/>
              <a:t>8</a:t>
            </a:fld>
            <a:endParaRPr lang="en-US"/>
          </a:p>
        </p:txBody>
      </p:sp>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6846939-1375-465B-87B1-B81F6640C6E1}" type="slidenum">
              <a:rPr lang="en-US"/>
              <a:pPr/>
              <a:t>9</a:t>
            </a:fld>
            <a:endParaRPr lang="en-US"/>
          </a:p>
        </p:txBody>
      </p:sp>
      <p:sp>
        <p:nvSpPr>
          <p:cNvPr id="61442" name="Rectangle 2"/>
          <p:cNvSpPr>
            <a:spLocks noGrp="1" noRot="1" noChangeAspect="1" noChangeArrowheads="1" noTextEdit="1"/>
          </p:cNvSpPr>
          <p:nvPr>
            <p:ph type="sldImg"/>
          </p:nvPr>
        </p:nvSpPr>
        <p:spPr>
          <a:ln/>
        </p:spPr>
      </p:sp>
      <p:sp>
        <p:nvSpPr>
          <p:cNvPr id="6144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8ADF7C4-0D73-40AC-93E1-EF4CB66C478D}" type="slidenum">
              <a:rPr lang="en-US"/>
              <a:pPr/>
              <a:t>10</a:t>
            </a:fld>
            <a:endParaRPr lang="en-US"/>
          </a:p>
        </p:txBody>
      </p:sp>
      <p:sp>
        <p:nvSpPr>
          <p:cNvPr id="64514" name="Rectangle 2"/>
          <p:cNvSpPr>
            <a:spLocks noGrp="1" noRot="1" noChangeAspect="1" noChangeArrowheads="1" noTextEdit="1"/>
          </p:cNvSpPr>
          <p:nvPr>
            <p:ph type="sldImg"/>
          </p:nvPr>
        </p:nvSpPr>
        <p:spPr>
          <a:ln/>
        </p:spPr>
      </p:sp>
      <p:sp>
        <p:nvSpPr>
          <p:cNvPr id="64515"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3/20/2025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3/20/2025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3/20/2025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UNIT – III: Constraint Satisfaction problems- Backtracking search for CSP’s, Local search for CSP Game Playing: Adversarial search, Games, </a:t>
            </a:r>
            <a:r>
              <a:rPr lang="en-US" dirty="0" err="1" smtClean="0"/>
              <a:t>Minimax</a:t>
            </a:r>
            <a:r>
              <a:rPr lang="en-US" dirty="0" smtClean="0"/>
              <a:t> algorithm, optimal decisions in multiplayer games, Alpha-Beta pruning, Evaluation functions, cutting of search</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Constraint Satisfaction problems-</a:t>
            </a:r>
            <a:endParaRPr lang="en-US" dirty="0"/>
          </a:p>
        </p:txBody>
      </p:sp>
      <p:sp>
        <p:nvSpPr>
          <p:cNvPr id="3" name="Content Placeholder 2"/>
          <p:cNvSpPr>
            <a:spLocks noGrp="1"/>
          </p:cNvSpPr>
          <p:nvPr>
            <p:ph idx="1"/>
          </p:nvPr>
        </p:nvSpPr>
        <p:spPr>
          <a:xfrm>
            <a:off x="457200" y="1219200"/>
            <a:ext cx="8229600" cy="5410200"/>
          </a:xfrm>
        </p:spPr>
        <p:txBody>
          <a:bodyPr>
            <a:normAutofit fontScale="85000" lnSpcReduction="10000"/>
          </a:bodyPr>
          <a:lstStyle/>
          <a:p>
            <a:r>
              <a:rPr lang="en-US" dirty="0" smtClean="0"/>
              <a:t>Constraint Satisfaction Problems (CSPs) are a class of computational problems where the goal is to find a solution that satisfies a set of constraints.</a:t>
            </a:r>
          </a:p>
          <a:p>
            <a:r>
              <a:rPr lang="en-US" i="1" dirty="0" smtClean="0">
                <a:solidFill>
                  <a:srgbClr val="FF0000"/>
                </a:solidFill>
              </a:rPr>
              <a:t>solving a problem under certain constraints or rules.</a:t>
            </a:r>
          </a:p>
          <a:p>
            <a:r>
              <a:rPr lang="en-US" dirty="0" smtClean="0"/>
              <a:t>They model a wide range of real-world problems where decision-making is subject to certain conditions and limitations.</a:t>
            </a:r>
          </a:p>
          <a:p>
            <a:r>
              <a:rPr lang="en-US" dirty="0" smtClean="0"/>
              <a:t>CSPs offer a structured and general framework for representing and solving problems, making them versatile in problem-solving applications.</a:t>
            </a:r>
          </a:p>
          <a:p>
            <a:r>
              <a:rPr lang="en-US" dirty="0" smtClean="0"/>
              <a:t>Many AI applications, such as scheduling, planning, and configuration, can be mapped to CSPs, allowing AI systems to find optimal solutions efficiently.</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smtClean="0"/>
              <a:t>Constraint Satisfaction problems-</a:t>
            </a:r>
            <a:endParaRPr lang="en-US" dirty="0"/>
          </a:p>
        </p:txBody>
      </p:sp>
      <p:sp>
        <p:nvSpPr>
          <p:cNvPr id="3" name="Content Placeholder 2"/>
          <p:cNvSpPr>
            <a:spLocks noGrp="1"/>
          </p:cNvSpPr>
          <p:nvPr>
            <p:ph idx="1"/>
          </p:nvPr>
        </p:nvSpPr>
        <p:spPr>
          <a:xfrm>
            <a:off x="457200" y="1066800"/>
            <a:ext cx="8229600" cy="5791200"/>
          </a:xfrm>
        </p:spPr>
        <p:txBody>
          <a:bodyPr>
            <a:normAutofit/>
          </a:bodyPr>
          <a:lstStyle/>
          <a:p>
            <a:pPr fontAlgn="base"/>
            <a:r>
              <a:rPr lang="en-US" dirty="0" smtClean="0"/>
              <a:t>Constraint satisfaction depends on three components, namely:</a:t>
            </a:r>
          </a:p>
          <a:p>
            <a:r>
              <a:rPr lang="en-US" b="1" dirty="0" smtClean="0"/>
              <a:t>X:</a:t>
            </a:r>
            <a:r>
              <a:rPr lang="en-US" dirty="0" smtClean="0"/>
              <a:t> It is a set of variables.</a:t>
            </a:r>
          </a:p>
          <a:p>
            <a:r>
              <a:rPr lang="en-US" b="1" dirty="0" smtClean="0"/>
              <a:t>D:</a:t>
            </a:r>
            <a:r>
              <a:rPr lang="en-US" dirty="0" smtClean="0"/>
              <a:t> It is a set of domains where the variables reside. There is a specific domain for each variable.</a:t>
            </a:r>
          </a:p>
          <a:p>
            <a:r>
              <a:rPr lang="en-US" b="1" dirty="0" smtClean="0"/>
              <a:t>C:</a:t>
            </a:r>
            <a:r>
              <a:rPr lang="en-US" dirty="0" smtClean="0"/>
              <a:t> It is a set of constraints which are followed by the set of variables.</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Constraint Satisfaction problems-</a:t>
            </a:r>
            <a:endParaRPr lang="en-US" dirty="0"/>
          </a:p>
        </p:txBody>
      </p:sp>
      <p:sp>
        <p:nvSpPr>
          <p:cNvPr id="3" name="Content Placeholder 2"/>
          <p:cNvSpPr>
            <a:spLocks noGrp="1"/>
          </p:cNvSpPr>
          <p:nvPr>
            <p:ph idx="1"/>
          </p:nvPr>
        </p:nvSpPr>
        <p:spPr>
          <a:xfrm>
            <a:off x="457200" y="1295400"/>
            <a:ext cx="8229600" cy="5105400"/>
          </a:xfrm>
        </p:spPr>
        <p:txBody>
          <a:bodyPr>
            <a:normAutofit fontScale="92500" lnSpcReduction="10000"/>
          </a:bodyPr>
          <a:lstStyle/>
          <a:p>
            <a:pPr fontAlgn="base"/>
            <a:r>
              <a:rPr lang="en-US" b="1" dirty="0" smtClean="0"/>
              <a:t>Constraint Types in CSP</a:t>
            </a:r>
            <a:endParaRPr lang="en-US" dirty="0" smtClean="0"/>
          </a:p>
          <a:p>
            <a:pPr fontAlgn="base"/>
            <a:r>
              <a:rPr lang="en-US" dirty="0" smtClean="0"/>
              <a:t>With respect to the variables, basically there are following types of constraints:</a:t>
            </a:r>
          </a:p>
          <a:p>
            <a:r>
              <a:rPr lang="en-US" b="1" dirty="0" smtClean="0"/>
              <a:t>Unary Constraints:</a:t>
            </a:r>
            <a:r>
              <a:rPr lang="en-US" dirty="0" smtClean="0"/>
              <a:t> It is the simplest type of constraints that restricts the value of a single variable.</a:t>
            </a:r>
          </a:p>
          <a:p>
            <a:r>
              <a:rPr lang="en-US" b="1" dirty="0" smtClean="0"/>
              <a:t>Binary Constraints:</a:t>
            </a:r>
            <a:r>
              <a:rPr lang="en-US" dirty="0" smtClean="0"/>
              <a:t> It is the constraint type which relates two variables. A value </a:t>
            </a:r>
            <a:r>
              <a:rPr lang="en-US" b="1" dirty="0" smtClean="0"/>
              <a:t>x</a:t>
            </a:r>
            <a:r>
              <a:rPr lang="en-US" b="1" baseline="-25000" dirty="0" smtClean="0"/>
              <a:t>2</a:t>
            </a:r>
            <a:r>
              <a:rPr lang="en-US" dirty="0" smtClean="0"/>
              <a:t> will contain a value which lies between </a:t>
            </a:r>
            <a:r>
              <a:rPr lang="en-US" b="1" dirty="0" smtClean="0"/>
              <a:t>x1</a:t>
            </a:r>
            <a:r>
              <a:rPr lang="en-US" dirty="0" smtClean="0"/>
              <a:t> and </a:t>
            </a:r>
            <a:r>
              <a:rPr lang="en-US" b="1" dirty="0" smtClean="0"/>
              <a:t>x3</a:t>
            </a:r>
            <a:r>
              <a:rPr lang="en-US" dirty="0" smtClean="0"/>
              <a:t>.</a:t>
            </a:r>
          </a:p>
          <a:p>
            <a:r>
              <a:rPr lang="en-US" b="1" dirty="0" smtClean="0"/>
              <a:t>Global Constraints:</a:t>
            </a:r>
            <a:r>
              <a:rPr lang="en-US" dirty="0" smtClean="0"/>
              <a:t> It is the constraint type which involves an arbitrary number of variables.</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smtClean="0"/>
              <a:t>Constraint Satisfaction problems-</a:t>
            </a:r>
            <a:endParaRPr lang="en-US" dirty="0"/>
          </a:p>
        </p:txBody>
      </p:sp>
      <p:sp>
        <p:nvSpPr>
          <p:cNvPr id="3" name="Content Placeholder 2"/>
          <p:cNvSpPr>
            <a:spLocks noGrp="1"/>
          </p:cNvSpPr>
          <p:nvPr>
            <p:ph idx="1"/>
          </p:nvPr>
        </p:nvSpPr>
        <p:spPr>
          <a:xfrm>
            <a:off x="457200" y="990600"/>
            <a:ext cx="8229600" cy="5135563"/>
          </a:xfrm>
        </p:spPr>
        <p:txBody>
          <a:bodyPr/>
          <a:lstStyle/>
          <a:p>
            <a:r>
              <a:rPr lang="en-US" b="1" dirty="0" smtClean="0"/>
              <a:t>Graph Coloring:</a:t>
            </a:r>
            <a:r>
              <a:rPr lang="en-US" dirty="0" smtClean="0"/>
              <a:t> The problem where the constraint is that no adjacent sides can have the same color.</a:t>
            </a:r>
          </a:p>
          <a:p>
            <a:r>
              <a:rPr lang="en-US" b="1" dirty="0" smtClean="0"/>
              <a:t>Sudoku Playing:</a:t>
            </a:r>
            <a:r>
              <a:rPr lang="en-US" dirty="0" smtClean="0"/>
              <a:t> The game play where the constraint is that number from 0-9 can not be repeated in the same row or column.</a:t>
            </a:r>
          </a:p>
          <a:p>
            <a:endParaRPr lang="en-US" dirty="0" smtClean="0"/>
          </a:p>
          <a:p>
            <a:endParaRPr lang="en-US" dirty="0"/>
          </a:p>
        </p:txBody>
      </p:sp>
      <p:pic>
        <p:nvPicPr>
          <p:cNvPr id="1026" name="Picture 2"/>
          <p:cNvPicPr>
            <a:picLocks noChangeAspect="1" noChangeArrowheads="1"/>
          </p:cNvPicPr>
          <p:nvPr/>
        </p:nvPicPr>
        <p:blipFill>
          <a:blip r:embed="rId2"/>
          <a:srcRect/>
          <a:stretch>
            <a:fillRect/>
          </a:stretch>
        </p:blipFill>
        <p:spPr bwMode="auto">
          <a:xfrm>
            <a:off x="457201" y="4495800"/>
            <a:ext cx="3276600" cy="1828800"/>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3886200" y="4191000"/>
            <a:ext cx="4953000" cy="2362200"/>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Constraint Satisfaction problems-</a:t>
            </a:r>
            <a:endParaRPr lang="en-US" dirty="0"/>
          </a:p>
        </p:txBody>
      </p:sp>
      <p:sp>
        <p:nvSpPr>
          <p:cNvPr id="3" name="Content Placeholder 2"/>
          <p:cNvSpPr>
            <a:spLocks noGrp="1"/>
          </p:cNvSpPr>
          <p:nvPr>
            <p:ph idx="1"/>
          </p:nvPr>
        </p:nvSpPr>
        <p:spPr>
          <a:xfrm>
            <a:off x="457200" y="1143000"/>
            <a:ext cx="8229600" cy="4983163"/>
          </a:xfrm>
        </p:spPr>
        <p:txBody>
          <a:bodyPr>
            <a:normAutofit fontScale="85000" lnSpcReduction="20000"/>
          </a:bodyPr>
          <a:lstStyle/>
          <a:p>
            <a:r>
              <a:rPr lang="en-US" b="1" dirty="0" smtClean="0"/>
              <a:t>n-queen problem:</a:t>
            </a:r>
            <a:r>
              <a:rPr lang="en-US" dirty="0" smtClean="0"/>
              <a:t> In n-queen problem, the constraint is that no queen should be placed either diagonally, in the same row or column.</a:t>
            </a:r>
          </a:p>
          <a:p>
            <a:r>
              <a:rPr lang="en-US" b="1" dirty="0" smtClean="0"/>
              <a:t>Crossword:</a:t>
            </a:r>
            <a:r>
              <a:rPr lang="en-US" dirty="0" smtClean="0"/>
              <a:t> In crossword problem, the constraint is that there should be the correct formation of the words, and it should be meaningful.</a:t>
            </a:r>
          </a:p>
          <a:p>
            <a:r>
              <a:rPr lang="en-US" b="1" dirty="0" smtClean="0"/>
              <a:t>Latin square Problem:</a:t>
            </a:r>
            <a:r>
              <a:rPr lang="en-US" dirty="0" smtClean="0"/>
              <a:t> In this game, the task is to search the pattern which is occurring several times in the game. They may be shuffled but will contain the same digits.</a:t>
            </a:r>
          </a:p>
          <a:p>
            <a:r>
              <a:rPr lang="en-US" b="1" dirty="0" err="1" smtClean="0"/>
              <a:t>Cryptarithmetic</a:t>
            </a:r>
            <a:r>
              <a:rPr lang="en-US" b="1" dirty="0" smtClean="0"/>
              <a:t> Problem: </a:t>
            </a:r>
            <a:r>
              <a:rPr lang="en-US" dirty="0" smtClean="0"/>
              <a:t>This problem has one most important constraint that is, we cannot assign a different digit to the same character. All digits should contain a unique alphabet.</a:t>
            </a:r>
          </a:p>
          <a:p>
            <a:endParaRPr lang="en-US" dirty="0" smtClean="0"/>
          </a:p>
          <a:p>
            <a:endParaRPr lang="en-US" dirty="0" smtClean="0"/>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4AED1891-00CA-400F-B475-BE6847423BDB}" type="slidenum">
              <a:rPr lang="en-US"/>
              <a:pPr/>
              <a:t>7</a:t>
            </a:fld>
            <a:endParaRPr lang="en-US"/>
          </a:p>
        </p:txBody>
      </p:sp>
      <p:sp>
        <p:nvSpPr>
          <p:cNvPr id="6146" name="Rectangle 2"/>
          <p:cNvSpPr>
            <a:spLocks noGrp="1" noChangeArrowheads="1"/>
          </p:cNvSpPr>
          <p:nvPr>
            <p:ph type="title"/>
          </p:nvPr>
        </p:nvSpPr>
        <p:spPr/>
        <p:txBody>
          <a:bodyPr/>
          <a:lstStyle/>
          <a:p>
            <a:r>
              <a:rPr lang="en-US"/>
              <a:t>Example: Map-Coloring</a:t>
            </a:r>
          </a:p>
        </p:txBody>
      </p:sp>
      <p:pic>
        <p:nvPicPr>
          <p:cNvPr id="6149" name="Picture 5" descr="australia"/>
          <p:cNvPicPr>
            <a:picLocks noChangeAspect="1" noChangeArrowheads="1"/>
          </p:cNvPicPr>
          <p:nvPr/>
        </p:nvPicPr>
        <p:blipFill>
          <a:blip r:embed="rId3"/>
          <a:srcRect/>
          <a:stretch>
            <a:fillRect/>
          </a:stretch>
        </p:blipFill>
        <p:spPr bwMode="auto">
          <a:xfrm>
            <a:off x="2667000" y="1295400"/>
            <a:ext cx="3781425" cy="3124200"/>
          </a:xfrm>
          <a:prstGeom prst="rect">
            <a:avLst/>
          </a:prstGeom>
          <a:noFill/>
        </p:spPr>
      </p:pic>
      <p:sp>
        <p:nvSpPr>
          <p:cNvPr id="6147" name="Rectangle 3"/>
          <p:cNvSpPr>
            <a:spLocks noGrp="1" noChangeArrowheads="1"/>
          </p:cNvSpPr>
          <p:nvPr>
            <p:ph type="body" idx="1"/>
          </p:nvPr>
        </p:nvSpPr>
        <p:spPr>
          <a:xfrm>
            <a:off x="304800" y="4495800"/>
            <a:ext cx="8650288" cy="1600200"/>
          </a:xfrm>
        </p:spPr>
        <p:txBody>
          <a:bodyPr>
            <a:noAutofit/>
          </a:bodyPr>
          <a:lstStyle/>
          <a:p>
            <a:pPr>
              <a:lnSpc>
                <a:spcPct val="80000"/>
              </a:lnSpc>
            </a:pPr>
            <a:r>
              <a:rPr lang="en-US" sz="2400" dirty="0">
                <a:solidFill>
                  <a:schemeClr val="accent2"/>
                </a:solidFill>
                <a:latin typeface="Times New Roman" pitchFamily="18" charset="0"/>
                <a:cs typeface="Times New Roman" pitchFamily="18" charset="0"/>
              </a:rPr>
              <a:t>Variables</a:t>
            </a:r>
            <a:r>
              <a:rPr lang="en-US" sz="2400" dirty="0">
                <a:latin typeface="Times New Roman" pitchFamily="18" charset="0"/>
                <a:cs typeface="Times New Roman" pitchFamily="18" charset="0"/>
              </a:rPr>
              <a:t> </a:t>
            </a:r>
            <a:r>
              <a:rPr lang="en-US" sz="2400" i="1" dirty="0">
                <a:latin typeface="Times New Roman" pitchFamily="18" charset="0"/>
                <a:cs typeface="Times New Roman" pitchFamily="18" charset="0"/>
              </a:rPr>
              <a:t>WA, NT, Q, NSW, V, SA, T</a:t>
            </a:r>
            <a:r>
              <a:rPr lang="en-US" sz="2400" dirty="0">
                <a:latin typeface="Times New Roman" pitchFamily="18" charset="0"/>
                <a:cs typeface="Times New Roman" pitchFamily="18" charset="0"/>
              </a:rPr>
              <a:t> </a:t>
            </a:r>
          </a:p>
          <a:p>
            <a:pPr>
              <a:lnSpc>
                <a:spcPct val="80000"/>
              </a:lnSpc>
            </a:pPr>
            <a:endParaRPr lang="en-US" sz="2400" dirty="0">
              <a:latin typeface="Times New Roman" pitchFamily="18" charset="0"/>
              <a:cs typeface="Times New Roman" pitchFamily="18" charset="0"/>
            </a:endParaRPr>
          </a:p>
          <a:p>
            <a:pPr>
              <a:lnSpc>
                <a:spcPct val="80000"/>
              </a:lnSpc>
            </a:pPr>
            <a:r>
              <a:rPr lang="en-US" sz="2400" dirty="0">
                <a:solidFill>
                  <a:schemeClr val="accent2"/>
                </a:solidFill>
                <a:latin typeface="Times New Roman" pitchFamily="18" charset="0"/>
                <a:cs typeface="Times New Roman" pitchFamily="18" charset="0"/>
              </a:rPr>
              <a:t>Domains</a:t>
            </a:r>
            <a:r>
              <a:rPr lang="en-US" sz="2400" dirty="0">
                <a:latin typeface="Times New Roman" pitchFamily="18" charset="0"/>
                <a:cs typeface="Times New Roman" pitchFamily="18" charset="0"/>
              </a:rPr>
              <a:t> </a:t>
            </a:r>
            <a:r>
              <a:rPr lang="en-US" sz="2400" i="1" dirty="0">
                <a:latin typeface="Times New Roman" pitchFamily="18" charset="0"/>
                <a:cs typeface="Times New Roman" pitchFamily="18" charset="0"/>
              </a:rPr>
              <a:t>D</a:t>
            </a:r>
            <a:r>
              <a:rPr lang="en-US" sz="2400" i="1" baseline="-25000" dirty="0">
                <a:latin typeface="Times New Roman" pitchFamily="18" charset="0"/>
                <a:cs typeface="Times New Roman" pitchFamily="18" charset="0"/>
              </a:rPr>
              <a:t>i</a:t>
            </a:r>
            <a:r>
              <a:rPr lang="en-US" sz="2400" dirty="0">
                <a:latin typeface="Times New Roman" pitchFamily="18" charset="0"/>
                <a:cs typeface="Times New Roman" pitchFamily="18" charset="0"/>
              </a:rPr>
              <a:t> = {</a:t>
            </a:r>
            <a:r>
              <a:rPr lang="en-US" sz="2400" dirty="0" err="1">
                <a:latin typeface="Times New Roman" pitchFamily="18" charset="0"/>
                <a:cs typeface="Times New Roman" pitchFamily="18" charset="0"/>
              </a:rPr>
              <a:t>red,green,blue</a:t>
            </a:r>
            <a:r>
              <a:rPr lang="en-US" sz="2400" dirty="0">
                <a:latin typeface="Times New Roman" pitchFamily="18" charset="0"/>
                <a:cs typeface="Times New Roman" pitchFamily="18" charset="0"/>
              </a:rPr>
              <a:t>}</a:t>
            </a:r>
          </a:p>
          <a:p>
            <a:pPr>
              <a:lnSpc>
                <a:spcPct val="80000"/>
              </a:lnSpc>
            </a:pPr>
            <a:endParaRPr lang="en-US" sz="2400" dirty="0">
              <a:latin typeface="Times New Roman" pitchFamily="18" charset="0"/>
              <a:cs typeface="Times New Roman" pitchFamily="18" charset="0"/>
            </a:endParaRPr>
          </a:p>
          <a:p>
            <a:pPr>
              <a:lnSpc>
                <a:spcPct val="80000"/>
              </a:lnSpc>
            </a:pPr>
            <a:r>
              <a:rPr lang="en-US" sz="2400" dirty="0">
                <a:solidFill>
                  <a:schemeClr val="accent2"/>
                </a:solidFill>
                <a:latin typeface="Times New Roman" pitchFamily="18" charset="0"/>
                <a:cs typeface="Times New Roman" pitchFamily="18" charset="0"/>
              </a:rPr>
              <a:t>Constraints</a:t>
            </a:r>
            <a:r>
              <a:rPr lang="en-US" sz="2400" dirty="0">
                <a:latin typeface="Times New Roman" pitchFamily="18" charset="0"/>
                <a:cs typeface="Times New Roman" pitchFamily="18" charset="0"/>
              </a:rPr>
              <a:t>: adjacent regions must have different colors</a:t>
            </a:r>
          </a:p>
          <a:p>
            <a:pPr>
              <a:lnSpc>
                <a:spcPct val="80000"/>
              </a:lnSpc>
            </a:pPr>
            <a:r>
              <a:rPr lang="en-US" sz="2400" dirty="0">
                <a:latin typeface="Times New Roman" pitchFamily="18" charset="0"/>
                <a:cs typeface="Times New Roman" pitchFamily="18" charset="0"/>
              </a:rPr>
              <a:t>e.g., WA ≠ NT</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FB598776-3D45-4F20-8FD3-83EA7F0EA1B0}" type="slidenum">
              <a:rPr lang="en-US"/>
              <a:pPr/>
              <a:t>8</a:t>
            </a:fld>
            <a:endParaRPr lang="en-US"/>
          </a:p>
        </p:txBody>
      </p:sp>
      <p:pic>
        <p:nvPicPr>
          <p:cNvPr id="7172" name="Picture 4" descr="australia-solution"/>
          <p:cNvPicPr>
            <a:picLocks noChangeAspect="1" noChangeArrowheads="1"/>
          </p:cNvPicPr>
          <p:nvPr/>
        </p:nvPicPr>
        <p:blipFill>
          <a:blip r:embed="rId3"/>
          <a:srcRect/>
          <a:stretch>
            <a:fillRect/>
          </a:stretch>
        </p:blipFill>
        <p:spPr bwMode="auto">
          <a:xfrm>
            <a:off x="2667000" y="1295400"/>
            <a:ext cx="3781425" cy="3124200"/>
          </a:xfrm>
          <a:prstGeom prst="rect">
            <a:avLst/>
          </a:prstGeom>
          <a:noFill/>
        </p:spPr>
      </p:pic>
      <p:sp>
        <p:nvSpPr>
          <p:cNvPr id="7170" name="Rectangle 2"/>
          <p:cNvSpPr>
            <a:spLocks noGrp="1" noChangeArrowheads="1"/>
          </p:cNvSpPr>
          <p:nvPr>
            <p:ph type="title"/>
          </p:nvPr>
        </p:nvSpPr>
        <p:spPr/>
        <p:txBody>
          <a:bodyPr/>
          <a:lstStyle/>
          <a:p>
            <a:r>
              <a:rPr lang="en-US"/>
              <a:t>Example: Map-Coloring</a:t>
            </a:r>
          </a:p>
        </p:txBody>
      </p:sp>
      <p:sp>
        <p:nvSpPr>
          <p:cNvPr id="7171" name="Rectangle 3"/>
          <p:cNvSpPr>
            <a:spLocks noGrp="1" noChangeArrowheads="1"/>
          </p:cNvSpPr>
          <p:nvPr>
            <p:ph type="body" idx="1"/>
          </p:nvPr>
        </p:nvSpPr>
        <p:spPr>
          <a:xfrm>
            <a:off x="304800" y="4549775"/>
            <a:ext cx="8650288" cy="1582738"/>
          </a:xfrm>
        </p:spPr>
        <p:txBody>
          <a:bodyPr/>
          <a:lstStyle/>
          <a:p>
            <a:r>
              <a:rPr lang="en-US" sz="2800">
                <a:solidFill>
                  <a:schemeClr val="accent2"/>
                </a:solidFill>
              </a:rPr>
              <a:t>Solutions</a:t>
            </a:r>
            <a:r>
              <a:rPr lang="en-US" sz="2800"/>
              <a:t> are </a:t>
            </a:r>
            <a:r>
              <a:rPr lang="en-US" sz="2800">
                <a:solidFill>
                  <a:srgbClr val="FF0000"/>
                </a:solidFill>
              </a:rPr>
              <a:t>complete</a:t>
            </a:r>
            <a:r>
              <a:rPr lang="en-US" sz="2800"/>
              <a:t> and </a:t>
            </a:r>
            <a:r>
              <a:rPr lang="en-US" sz="2800">
                <a:solidFill>
                  <a:srgbClr val="FF0000"/>
                </a:solidFill>
              </a:rPr>
              <a:t>consistent</a:t>
            </a:r>
            <a:r>
              <a:rPr lang="en-US" sz="2800"/>
              <a:t> assignments, e.g., WA = red, NT = green,Q = red,NSW = green,V = red,SA = blue,T = green</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93978F85-E411-4529-B8D6-2362AC7F9A37}" type="slidenum">
              <a:rPr lang="en-US"/>
              <a:pPr/>
              <a:t>9</a:t>
            </a:fld>
            <a:endParaRPr lang="en-US"/>
          </a:p>
        </p:txBody>
      </p:sp>
      <p:sp>
        <p:nvSpPr>
          <p:cNvPr id="8194" name="Rectangle 2"/>
          <p:cNvSpPr>
            <a:spLocks noGrp="1" noChangeArrowheads="1"/>
          </p:cNvSpPr>
          <p:nvPr>
            <p:ph type="title"/>
          </p:nvPr>
        </p:nvSpPr>
        <p:spPr/>
        <p:txBody>
          <a:bodyPr/>
          <a:lstStyle/>
          <a:p>
            <a:r>
              <a:rPr lang="en-US"/>
              <a:t>Constraint graph</a:t>
            </a:r>
          </a:p>
        </p:txBody>
      </p:sp>
      <p:sp>
        <p:nvSpPr>
          <p:cNvPr id="8195" name="Rectangle 3"/>
          <p:cNvSpPr>
            <a:spLocks noGrp="1" noChangeArrowheads="1"/>
          </p:cNvSpPr>
          <p:nvPr>
            <p:ph type="body" idx="1"/>
          </p:nvPr>
        </p:nvSpPr>
        <p:spPr/>
        <p:txBody>
          <a:bodyPr/>
          <a:lstStyle/>
          <a:p>
            <a:r>
              <a:rPr lang="en-US" sz="2400">
                <a:solidFill>
                  <a:srgbClr val="FF0000"/>
                </a:solidFill>
              </a:rPr>
              <a:t>Binary CSP:</a:t>
            </a:r>
            <a:r>
              <a:rPr lang="en-US" sz="2400"/>
              <a:t> each constraint relates two variables</a:t>
            </a:r>
          </a:p>
          <a:p>
            <a:r>
              <a:rPr lang="en-US" sz="2400">
                <a:solidFill>
                  <a:srgbClr val="FF0000"/>
                </a:solidFill>
              </a:rPr>
              <a:t>Constraint graph:</a:t>
            </a:r>
            <a:r>
              <a:rPr lang="en-US" sz="2400"/>
              <a:t> nodes are variables, arcs are constraints</a:t>
            </a:r>
          </a:p>
        </p:txBody>
      </p:sp>
      <p:pic>
        <p:nvPicPr>
          <p:cNvPr id="8196" name="Picture 4" descr="australia-csp"/>
          <p:cNvPicPr>
            <a:picLocks noChangeAspect="1" noChangeArrowheads="1"/>
          </p:cNvPicPr>
          <p:nvPr/>
        </p:nvPicPr>
        <p:blipFill>
          <a:blip r:embed="rId3"/>
          <a:srcRect/>
          <a:stretch>
            <a:fillRect/>
          </a:stretch>
        </p:blipFill>
        <p:spPr bwMode="auto">
          <a:xfrm>
            <a:off x="4724400" y="2743200"/>
            <a:ext cx="3676650" cy="3152775"/>
          </a:xfrm>
          <a:prstGeom prst="rect">
            <a:avLst/>
          </a:prstGeom>
          <a:noFill/>
        </p:spPr>
      </p:pic>
      <p:pic>
        <p:nvPicPr>
          <p:cNvPr id="8197" name="Picture 5" descr="australia"/>
          <p:cNvPicPr>
            <a:picLocks noChangeAspect="1" noChangeArrowheads="1"/>
          </p:cNvPicPr>
          <p:nvPr/>
        </p:nvPicPr>
        <p:blipFill>
          <a:blip r:embed="rId4"/>
          <a:srcRect/>
          <a:stretch>
            <a:fillRect/>
          </a:stretch>
        </p:blipFill>
        <p:spPr bwMode="auto">
          <a:xfrm>
            <a:off x="533400" y="2819400"/>
            <a:ext cx="3781425" cy="3124200"/>
          </a:xfrm>
          <a:prstGeom prst="rect">
            <a:avLst/>
          </a:prstGeom>
          <a:noFill/>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C340E14B-1D52-47A8-8A01-94FD6FCEEB80}" type="slidenum">
              <a:rPr lang="en-US"/>
              <a:pPr/>
              <a:t>10</a:t>
            </a:fld>
            <a:endParaRPr lang="en-US"/>
          </a:p>
        </p:txBody>
      </p:sp>
      <p:sp>
        <p:nvSpPr>
          <p:cNvPr id="11266" name="Rectangle 2"/>
          <p:cNvSpPr>
            <a:spLocks noGrp="1" noChangeArrowheads="1"/>
          </p:cNvSpPr>
          <p:nvPr>
            <p:ph type="title"/>
          </p:nvPr>
        </p:nvSpPr>
        <p:spPr/>
        <p:txBody>
          <a:bodyPr/>
          <a:lstStyle/>
          <a:p>
            <a:r>
              <a:rPr lang="en-US"/>
              <a:t>Example: Cryptarithmetic</a:t>
            </a:r>
          </a:p>
        </p:txBody>
      </p:sp>
      <p:pic>
        <p:nvPicPr>
          <p:cNvPr id="11269" name="Picture 5" descr="cryptarithmetic"/>
          <p:cNvPicPr>
            <a:picLocks noChangeAspect="1" noChangeArrowheads="1"/>
          </p:cNvPicPr>
          <p:nvPr/>
        </p:nvPicPr>
        <p:blipFill>
          <a:blip r:embed="rId3"/>
          <a:srcRect/>
          <a:stretch>
            <a:fillRect/>
          </a:stretch>
        </p:blipFill>
        <p:spPr bwMode="auto">
          <a:xfrm>
            <a:off x="1447800" y="1371600"/>
            <a:ext cx="6096000" cy="2214563"/>
          </a:xfrm>
          <a:prstGeom prst="rect">
            <a:avLst/>
          </a:prstGeom>
          <a:noFill/>
        </p:spPr>
      </p:pic>
      <p:sp>
        <p:nvSpPr>
          <p:cNvPr id="11267" name="Rectangle 3"/>
          <p:cNvSpPr>
            <a:spLocks noGrp="1" noChangeArrowheads="1"/>
          </p:cNvSpPr>
          <p:nvPr>
            <p:ph type="body" idx="1"/>
          </p:nvPr>
        </p:nvSpPr>
        <p:spPr>
          <a:xfrm>
            <a:off x="304800" y="3802063"/>
            <a:ext cx="8570913" cy="3055937"/>
          </a:xfrm>
        </p:spPr>
        <p:txBody>
          <a:bodyPr/>
          <a:lstStyle/>
          <a:p>
            <a:pPr>
              <a:lnSpc>
                <a:spcPct val="90000"/>
              </a:lnSpc>
            </a:pPr>
            <a:r>
              <a:rPr lang="en-US" sz="2400">
                <a:solidFill>
                  <a:schemeClr val="accent2"/>
                </a:solidFill>
              </a:rPr>
              <a:t>Variables</a:t>
            </a:r>
            <a:r>
              <a:rPr lang="en-US" sz="2400"/>
              <a:t>:</a:t>
            </a:r>
            <a:r>
              <a:rPr lang="en-US" sz="2400" i="1"/>
              <a:t> F T U W R O                      X</a:t>
            </a:r>
            <a:r>
              <a:rPr lang="en-US" sz="2400" i="1" baseline="-25000"/>
              <a:t>1</a:t>
            </a:r>
            <a:r>
              <a:rPr lang="en-US" sz="2400" i="1"/>
              <a:t> X</a:t>
            </a:r>
            <a:r>
              <a:rPr lang="en-US" sz="2400" i="1" baseline="-25000"/>
              <a:t>2 </a:t>
            </a:r>
            <a:r>
              <a:rPr lang="en-US" sz="2400" i="1"/>
              <a:t>X</a:t>
            </a:r>
            <a:r>
              <a:rPr lang="en-US" sz="2400" i="1" baseline="-25000"/>
              <a:t>3</a:t>
            </a:r>
            <a:endParaRPr lang="en-US" sz="2400" i="1"/>
          </a:p>
          <a:p>
            <a:pPr>
              <a:lnSpc>
                <a:spcPct val="90000"/>
              </a:lnSpc>
            </a:pPr>
            <a:r>
              <a:rPr lang="en-US" sz="2400">
                <a:solidFill>
                  <a:schemeClr val="accent2"/>
                </a:solidFill>
              </a:rPr>
              <a:t>Domains</a:t>
            </a:r>
            <a:r>
              <a:rPr lang="en-US" sz="2400"/>
              <a:t>: {</a:t>
            </a:r>
            <a:r>
              <a:rPr lang="en-US" sz="2400" i="1"/>
              <a:t>0,1,2,3,4,5,6,7,8,9</a:t>
            </a:r>
            <a:r>
              <a:rPr lang="en-US" sz="2400"/>
              <a:t>}            {0,1}</a:t>
            </a:r>
          </a:p>
          <a:p>
            <a:pPr>
              <a:lnSpc>
                <a:spcPct val="90000"/>
              </a:lnSpc>
            </a:pPr>
            <a:r>
              <a:rPr lang="en-US" sz="2400">
                <a:solidFill>
                  <a:schemeClr val="accent2"/>
                </a:solidFill>
              </a:rPr>
              <a:t>Constraints</a:t>
            </a:r>
            <a:r>
              <a:rPr lang="en-US" sz="2400"/>
              <a:t>: </a:t>
            </a:r>
            <a:r>
              <a:rPr lang="en-US" sz="2400" i="1"/>
              <a:t>Alldiff (F,T,U,W,R,O)</a:t>
            </a:r>
            <a:endParaRPr lang="en-US" sz="2400"/>
          </a:p>
          <a:p>
            <a:pPr lvl="1">
              <a:lnSpc>
                <a:spcPct val="90000"/>
              </a:lnSpc>
            </a:pPr>
            <a:r>
              <a:rPr lang="en-US" sz="2000" i="1"/>
              <a:t>O + O = R + 10 </a:t>
            </a:r>
            <a:r>
              <a:rPr lang="en-US" sz="2000" i="1">
                <a:latin typeface="Arial"/>
                <a:cs typeface="Arial" charset="0"/>
              </a:rPr>
              <a:t>·</a:t>
            </a:r>
            <a:r>
              <a:rPr lang="en-US" sz="2000" i="1">
                <a:cs typeface="Arial" charset="0"/>
              </a:rPr>
              <a:t> </a:t>
            </a:r>
            <a:r>
              <a:rPr lang="en-US" sz="2000" i="1"/>
              <a:t>X</a:t>
            </a:r>
            <a:r>
              <a:rPr lang="en-US" sz="2000" i="1" baseline="-25000"/>
              <a:t>1</a:t>
            </a:r>
            <a:endParaRPr lang="en-US" sz="2000" i="1"/>
          </a:p>
          <a:p>
            <a:pPr lvl="1">
              <a:lnSpc>
                <a:spcPct val="90000"/>
              </a:lnSpc>
            </a:pPr>
            <a:r>
              <a:rPr lang="en-US" sz="2000" i="1"/>
              <a:t>X</a:t>
            </a:r>
            <a:r>
              <a:rPr lang="en-US" sz="2000" i="1" baseline="-25000"/>
              <a:t>1</a:t>
            </a:r>
            <a:r>
              <a:rPr lang="en-US" sz="2000" i="1"/>
              <a:t> + W + W = U + 10 </a:t>
            </a:r>
            <a:r>
              <a:rPr lang="en-US" sz="2000" i="1">
                <a:latin typeface="Arial"/>
                <a:cs typeface="Arial" charset="0"/>
              </a:rPr>
              <a:t>·</a:t>
            </a:r>
            <a:r>
              <a:rPr lang="en-US" sz="2000" i="1"/>
              <a:t> X</a:t>
            </a:r>
            <a:r>
              <a:rPr lang="en-US" sz="2000" i="1" baseline="-25000"/>
              <a:t>2</a:t>
            </a:r>
            <a:endParaRPr lang="en-US" sz="2000" i="1"/>
          </a:p>
          <a:p>
            <a:pPr lvl="1">
              <a:lnSpc>
                <a:spcPct val="90000"/>
              </a:lnSpc>
            </a:pPr>
            <a:r>
              <a:rPr lang="en-US" sz="2000" i="1"/>
              <a:t>X</a:t>
            </a:r>
            <a:r>
              <a:rPr lang="en-US" sz="2000" i="1" baseline="-25000"/>
              <a:t>2</a:t>
            </a:r>
            <a:r>
              <a:rPr lang="en-US" sz="2000" i="1"/>
              <a:t> + T + T </a:t>
            </a:r>
            <a:r>
              <a:rPr lang="en-US" sz="2000"/>
              <a:t>= </a:t>
            </a:r>
            <a:r>
              <a:rPr lang="en-US" sz="2000" i="1"/>
              <a:t>O + 10 </a:t>
            </a:r>
            <a:r>
              <a:rPr lang="en-US" sz="2000" i="1">
                <a:latin typeface="Arial"/>
                <a:cs typeface="Arial" charset="0"/>
              </a:rPr>
              <a:t>·</a:t>
            </a:r>
            <a:r>
              <a:rPr lang="en-US" sz="2000" i="1"/>
              <a:t> X</a:t>
            </a:r>
            <a:r>
              <a:rPr lang="en-US" sz="2000" i="1" baseline="-25000"/>
              <a:t>3</a:t>
            </a:r>
          </a:p>
          <a:p>
            <a:pPr lvl="1">
              <a:lnSpc>
                <a:spcPct val="90000"/>
              </a:lnSpc>
            </a:pPr>
            <a:r>
              <a:rPr lang="en-US" sz="2000" i="1"/>
              <a:t>X</a:t>
            </a:r>
            <a:r>
              <a:rPr lang="en-US" sz="2000" i="1" baseline="-25000"/>
              <a:t>3</a:t>
            </a:r>
            <a:r>
              <a:rPr lang="en-US" sz="2000"/>
              <a:t> = </a:t>
            </a:r>
            <a:r>
              <a:rPr lang="en-US" sz="2000" i="1"/>
              <a:t>F</a:t>
            </a:r>
            <a:r>
              <a:rPr lang="en-US" sz="2000"/>
              <a:t>, </a:t>
            </a:r>
            <a:r>
              <a:rPr lang="en-US" sz="2000" i="1"/>
              <a:t>T </a:t>
            </a:r>
            <a:r>
              <a:rPr lang="en-US" sz="2000">
                <a:cs typeface="Arial" charset="0"/>
              </a:rPr>
              <a:t>≠</a:t>
            </a:r>
            <a:r>
              <a:rPr lang="en-US" sz="2000"/>
              <a:t> 0, </a:t>
            </a:r>
            <a:r>
              <a:rPr lang="en-US" sz="2000" i="1"/>
              <a:t>F</a:t>
            </a:r>
            <a:r>
              <a:rPr lang="en-US" sz="2000"/>
              <a:t> </a:t>
            </a:r>
            <a:r>
              <a:rPr lang="en-US" sz="2000">
                <a:cs typeface="Arial" charset="0"/>
              </a:rPr>
              <a:t>≠</a:t>
            </a:r>
            <a:r>
              <a:rPr lang="en-US" sz="2000"/>
              <a:t> 0</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smtClean="0"/>
              <a:t>Sudoku puzzle</a:t>
            </a:r>
            <a:endParaRPr lang="en-US" dirty="0"/>
          </a:p>
        </p:txBody>
      </p:sp>
      <p:sp>
        <p:nvSpPr>
          <p:cNvPr id="3" name="Content Placeholder 2"/>
          <p:cNvSpPr>
            <a:spLocks noGrp="1"/>
          </p:cNvSpPr>
          <p:nvPr>
            <p:ph idx="1"/>
          </p:nvPr>
        </p:nvSpPr>
        <p:spPr>
          <a:xfrm>
            <a:off x="304800" y="838200"/>
            <a:ext cx="8839200" cy="6019800"/>
          </a:xfrm>
        </p:spPr>
        <p:txBody>
          <a:bodyPr>
            <a:normAutofit fontScale="85000" lnSpcReduction="20000"/>
          </a:bodyPr>
          <a:lstStyle/>
          <a:p>
            <a:r>
              <a:rPr lang="en-US" sz="3100" dirty="0" smtClean="0">
                <a:latin typeface="Times New Roman" pitchFamily="18" charset="0"/>
                <a:cs typeface="Times New Roman" pitchFamily="18" charset="0"/>
              </a:rPr>
              <a:t>Variables: 9x9 grid cells</a:t>
            </a:r>
          </a:p>
          <a:p>
            <a:r>
              <a:rPr lang="en-US" sz="3100" dirty="0" smtClean="0">
                <a:latin typeface="Times New Roman" pitchFamily="18" charset="0"/>
                <a:cs typeface="Times New Roman" pitchFamily="18" charset="0"/>
              </a:rPr>
              <a:t>Domains: Numbers from 1 to 9</a:t>
            </a:r>
          </a:p>
          <a:p>
            <a:r>
              <a:rPr lang="en-US" sz="3100" dirty="0" smtClean="0">
                <a:latin typeface="Times New Roman" pitchFamily="18" charset="0"/>
                <a:cs typeface="Times New Roman" pitchFamily="18" charset="0"/>
              </a:rPr>
              <a:t>Constraints: No number can repeat in the same row, column, or 3x3 </a:t>
            </a:r>
            <a:r>
              <a:rPr lang="en-US" sz="3100" dirty="0" err="1" smtClean="0">
                <a:latin typeface="Times New Roman" pitchFamily="18" charset="0"/>
                <a:cs typeface="Times New Roman" pitchFamily="18" charset="0"/>
              </a:rPr>
              <a:t>subgrid</a:t>
            </a:r>
            <a:r>
              <a:rPr lang="en-US" sz="3100" dirty="0" smtClean="0">
                <a:latin typeface="Times New Roman" pitchFamily="18" charset="0"/>
                <a:cs typeface="Times New Roman" pitchFamily="18" charset="0"/>
              </a:rPr>
              <a:t>.</a:t>
            </a:r>
          </a:p>
          <a:p>
            <a:pPr>
              <a:buNone/>
            </a:pPr>
            <a:r>
              <a:rPr lang="en-US" sz="3100" b="1" dirty="0" smtClean="0">
                <a:latin typeface="Times New Roman" pitchFamily="18" charset="0"/>
                <a:cs typeface="Times New Roman" pitchFamily="18" charset="0"/>
              </a:rPr>
              <a:t>Step 1:</a:t>
            </a:r>
            <a:r>
              <a:rPr lang="en-US" sz="3100" dirty="0" smtClean="0">
                <a:latin typeface="Times New Roman" pitchFamily="18" charset="0"/>
                <a:cs typeface="Times New Roman" pitchFamily="18" charset="0"/>
              </a:rPr>
              <a:t> Start with an empty Sudoku grid.</a:t>
            </a:r>
          </a:p>
          <a:p>
            <a:pPr>
              <a:buNone/>
            </a:pPr>
            <a:r>
              <a:rPr lang="en-US" sz="3100" b="1" dirty="0" smtClean="0">
                <a:latin typeface="Times New Roman" pitchFamily="18" charset="0"/>
                <a:cs typeface="Times New Roman" pitchFamily="18" charset="0"/>
              </a:rPr>
              <a:t>Step 2:</a:t>
            </a:r>
            <a:r>
              <a:rPr lang="en-US" sz="3100" dirty="0" smtClean="0">
                <a:latin typeface="Times New Roman" pitchFamily="18" charset="0"/>
                <a:cs typeface="Times New Roman" pitchFamily="18" charset="0"/>
              </a:rPr>
              <a:t> Apply the initial constraints for the given numbers, reducing the domains of variables based on the puzzle's clues.</a:t>
            </a:r>
          </a:p>
          <a:p>
            <a:pPr>
              <a:buNone/>
            </a:pPr>
            <a:r>
              <a:rPr lang="en-US" sz="3100" b="1" dirty="0" smtClean="0">
                <a:latin typeface="Times New Roman" pitchFamily="18" charset="0"/>
                <a:cs typeface="Times New Roman" pitchFamily="18" charset="0"/>
              </a:rPr>
              <a:t>Step 3:</a:t>
            </a:r>
            <a:r>
              <a:rPr lang="en-US" sz="3100" dirty="0" smtClean="0">
                <a:latin typeface="Times New Roman" pitchFamily="18" charset="0"/>
                <a:cs typeface="Times New Roman" pitchFamily="18" charset="0"/>
              </a:rPr>
              <a:t> Use constraint propagation to narrow down the domains further. For example, if a row has two cells with domains {2, 5}, and the constraint specifies that these two cells cannot have the same number, we can eliminate the possibility of 5 for one of them.</a:t>
            </a:r>
          </a:p>
          <a:p>
            <a:pPr>
              <a:buNone/>
            </a:pPr>
            <a:r>
              <a:rPr lang="en-US" sz="3100" b="1" dirty="0" smtClean="0">
                <a:latin typeface="Times New Roman" pitchFamily="18" charset="0"/>
                <a:cs typeface="Times New Roman" pitchFamily="18" charset="0"/>
              </a:rPr>
              <a:t>Step 4:</a:t>
            </a:r>
            <a:r>
              <a:rPr lang="en-US" sz="3100" dirty="0" smtClean="0">
                <a:latin typeface="Times New Roman" pitchFamily="18" charset="0"/>
                <a:cs typeface="Times New Roman" pitchFamily="18" charset="0"/>
              </a:rPr>
              <a:t> Continue applying constraints and propagating until the domains of variables are either empty or filled with single values. If they are all filled, you have a valid solution. If any variable's domain is empty, you backtrack to the previous step and try an alternative assignment.</a:t>
            </a:r>
          </a:p>
          <a:p>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Adversarial Search</a:t>
            </a:r>
            <a:br>
              <a:rPr lang="en-US" dirty="0" smtClean="0"/>
            </a:br>
            <a:endParaRPr lang="en-US" dirty="0"/>
          </a:p>
        </p:txBody>
      </p:sp>
      <p:sp>
        <p:nvSpPr>
          <p:cNvPr id="3" name="Content Placeholder 2"/>
          <p:cNvSpPr>
            <a:spLocks noGrp="1"/>
          </p:cNvSpPr>
          <p:nvPr>
            <p:ph idx="1"/>
          </p:nvPr>
        </p:nvSpPr>
        <p:spPr>
          <a:xfrm>
            <a:off x="457200" y="914400"/>
            <a:ext cx="8229600" cy="5791200"/>
          </a:xfrm>
        </p:spPr>
        <p:txBody>
          <a:bodyPr>
            <a:normAutofit fontScale="92500" lnSpcReduction="20000"/>
          </a:bodyPr>
          <a:lstStyle/>
          <a:p>
            <a:pPr lvl="0"/>
            <a:r>
              <a:rPr lang="en-US" b="1" dirty="0" smtClean="0"/>
              <a:t>Search in which two or more players with conflicting goals are trying to explore the same search space for the solution, are called adversarial search, often known as Games</a:t>
            </a:r>
            <a:r>
              <a:rPr lang="en-US" dirty="0" smtClean="0"/>
              <a:t>.</a:t>
            </a:r>
          </a:p>
          <a:p>
            <a:r>
              <a:rPr lang="en-US" dirty="0" smtClean="0"/>
              <a:t>Adversarial search is basically a kind of search in which one can trace the movement of an enemy or opponent.</a:t>
            </a:r>
          </a:p>
          <a:p>
            <a:pPr lvl="0"/>
            <a:r>
              <a:rPr lang="en-US" dirty="0" smtClean="0"/>
              <a:t>The environment with more than one agent is termed as </a:t>
            </a:r>
            <a:r>
              <a:rPr lang="en-US" b="1" dirty="0" smtClean="0"/>
              <a:t>multi-agent environment</a:t>
            </a:r>
            <a:r>
              <a:rPr lang="en-US" dirty="0" smtClean="0"/>
              <a:t>, in which each agent is an opponent of other agent and playing against each other.</a:t>
            </a:r>
          </a:p>
          <a:p>
            <a:r>
              <a:rPr lang="en-US" dirty="0" smtClean="0"/>
              <a:t>Each agent needs to consider the action of other agent and effect of that action on their performance.</a:t>
            </a:r>
          </a:p>
          <a:p>
            <a:pPr lvl="0"/>
            <a:endParaRPr lang="en-US" dirty="0" smtClean="0"/>
          </a:p>
          <a:p>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smtClean="0"/>
              <a:t>Game Playing: Adversarial search</a:t>
            </a:r>
            <a:endParaRPr lang="en-US" dirty="0"/>
          </a:p>
        </p:txBody>
      </p:sp>
      <p:sp>
        <p:nvSpPr>
          <p:cNvPr id="3" name="Content Placeholder 2"/>
          <p:cNvSpPr>
            <a:spLocks noGrp="1"/>
          </p:cNvSpPr>
          <p:nvPr>
            <p:ph idx="1"/>
          </p:nvPr>
        </p:nvSpPr>
        <p:spPr>
          <a:xfrm>
            <a:off x="457200" y="1143000"/>
            <a:ext cx="8458200" cy="5486400"/>
          </a:xfrm>
        </p:spPr>
        <p:txBody>
          <a:bodyPr>
            <a:normAutofit/>
          </a:bodyPr>
          <a:lstStyle/>
          <a:p>
            <a:pPr lvl="0"/>
            <a:r>
              <a:rPr lang="en-US" dirty="0" smtClean="0"/>
              <a:t>Ex. game playing.</a:t>
            </a:r>
          </a:p>
          <a:p>
            <a:r>
              <a:rPr lang="en-US" dirty="0" smtClean="0"/>
              <a:t>chess, business strategy tools, trading kind of websites, and war-based games .</a:t>
            </a:r>
          </a:p>
          <a:p>
            <a:r>
              <a:rPr lang="en-US" dirty="0" smtClean="0"/>
              <a:t> In an adversarial search, the user can change the current state but has no control over the next state. </a:t>
            </a:r>
          </a:p>
          <a:p>
            <a:r>
              <a:rPr lang="en-US" dirty="0" smtClean="0"/>
              <a:t>The next state control is in the hands of the opponent and is unpredictable.</a:t>
            </a:r>
          </a:p>
          <a:p>
            <a:r>
              <a:rPr lang="en-US" dirty="0" smtClean="0">
                <a:solidFill>
                  <a:srgbClr val="FF0000"/>
                </a:solidFill>
              </a:rPr>
              <a:t>adversarial search</a:t>
            </a:r>
            <a:r>
              <a:rPr lang="en-US" dirty="0" smtClean="0"/>
              <a:t> – these problems are called as </a:t>
            </a:r>
            <a:r>
              <a:rPr lang="en-US" dirty="0" smtClean="0">
                <a:solidFill>
                  <a:srgbClr val="FF0000"/>
                </a:solidFill>
              </a:rPr>
              <a:t>games</a:t>
            </a:r>
            <a:endParaRPr lang="en-US" dirty="0" smtClean="0"/>
          </a:p>
          <a:p>
            <a:pPr>
              <a:buNone/>
            </a:pPr>
            <a:endParaRPr lang="en-US" dirty="0" smtClean="0"/>
          </a:p>
          <a:p>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dirty="0"/>
              <a:t>Type of Games</a:t>
            </a:r>
          </a:p>
        </p:txBody>
      </p:sp>
      <p:pic>
        <p:nvPicPr>
          <p:cNvPr id="8196" name="Picture 4"/>
          <p:cNvPicPr>
            <a:picLocks noChangeAspect="1" noChangeArrowheads="1"/>
          </p:cNvPicPr>
          <p:nvPr/>
        </p:nvPicPr>
        <p:blipFill>
          <a:blip r:embed="rId2"/>
          <a:srcRect/>
          <a:stretch>
            <a:fillRect/>
          </a:stretch>
        </p:blipFill>
        <p:spPr bwMode="auto">
          <a:xfrm>
            <a:off x="381000" y="1371600"/>
            <a:ext cx="8382000" cy="5105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smtClean="0"/>
              <a:t>Type of Games</a:t>
            </a:r>
            <a:endParaRPr lang="en-US" dirty="0"/>
          </a:p>
        </p:txBody>
      </p:sp>
      <p:sp>
        <p:nvSpPr>
          <p:cNvPr id="3" name="Content Placeholder 2"/>
          <p:cNvSpPr>
            <a:spLocks noGrp="1"/>
          </p:cNvSpPr>
          <p:nvPr>
            <p:ph idx="1"/>
          </p:nvPr>
        </p:nvSpPr>
        <p:spPr>
          <a:xfrm>
            <a:off x="457200" y="838200"/>
            <a:ext cx="8229600" cy="6019800"/>
          </a:xfrm>
        </p:spPr>
        <p:txBody>
          <a:bodyPr>
            <a:normAutofit fontScale="92500" lnSpcReduction="20000"/>
          </a:bodyPr>
          <a:lstStyle/>
          <a:p>
            <a:pPr lvl="0"/>
            <a:r>
              <a:rPr lang="en-US" b="1" dirty="0" smtClean="0"/>
              <a:t>Perfect information:</a:t>
            </a:r>
            <a:r>
              <a:rPr lang="en-US" dirty="0" smtClean="0"/>
              <a:t> Agents have all the information about the game, Examples are Chess, Checkers, Go, etc.</a:t>
            </a:r>
          </a:p>
          <a:p>
            <a:pPr lvl="0"/>
            <a:r>
              <a:rPr lang="en-US" b="1" dirty="0" smtClean="0"/>
              <a:t>Imperfect information:</a:t>
            </a:r>
            <a:r>
              <a:rPr lang="en-US" dirty="0" smtClean="0"/>
              <a:t> If in a game agents do not have all information about the game and not aware with what's going on, such as tic-tac-toe, Battleship, blind, Bridge, etc.</a:t>
            </a:r>
          </a:p>
          <a:p>
            <a:r>
              <a:rPr lang="en-US" b="1" dirty="0" smtClean="0"/>
              <a:t>Deterministic games:</a:t>
            </a:r>
            <a:r>
              <a:rPr lang="en-US" dirty="0" smtClean="0"/>
              <a:t> Deterministic games are those games which follow a strict pattern and set of rules for the games. Examples are chess, Checkers, Go, tic-tac-toe, etc.</a:t>
            </a:r>
          </a:p>
          <a:p>
            <a:r>
              <a:rPr lang="en-US" b="1" dirty="0" smtClean="0"/>
              <a:t>Non-deterministic games:</a:t>
            </a:r>
            <a:r>
              <a:rPr lang="en-US" dirty="0" smtClean="0"/>
              <a:t> Non-deterministic are those games which have various unpredictable events and has a factor of chance or luck. Example: Backgammon, Monopoly, Poker, etc.</a:t>
            </a: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smtClean="0"/>
              <a:t>Adversarial search</a:t>
            </a:r>
            <a:endParaRPr lang="en-US" dirty="0"/>
          </a:p>
        </p:txBody>
      </p:sp>
      <p:sp>
        <p:nvSpPr>
          <p:cNvPr id="3" name="Content Placeholder 2"/>
          <p:cNvSpPr>
            <a:spLocks noGrp="1"/>
          </p:cNvSpPr>
          <p:nvPr>
            <p:ph idx="1"/>
          </p:nvPr>
        </p:nvSpPr>
        <p:spPr>
          <a:xfrm>
            <a:off x="457200" y="914400"/>
            <a:ext cx="8229600" cy="5211763"/>
          </a:xfrm>
        </p:spPr>
        <p:txBody>
          <a:bodyPr>
            <a:normAutofit fontScale="85000" lnSpcReduction="10000"/>
          </a:bodyPr>
          <a:lstStyle/>
          <a:p>
            <a:r>
              <a:rPr lang="en-US" dirty="0" smtClean="0"/>
              <a:t>In this search we will consider deterministic games, fully observable environment, zero-sum, and where each agent acts alternatively.</a:t>
            </a:r>
          </a:p>
          <a:p>
            <a:r>
              <a:rPr lang="en-US" dirty="0" smtClean="0"/>
              <a:t>Zero-Sum Game</a:t>
            </a:r>
          </a:p>
          <a:p>
            <a:pPr lvl="0"/>
            <a:r>
              <a:rPr lang="en-US" dirty="0" smtClean="0"/>
              <a:t>In Zero-sum game each agent's gain or loss of utility is exactly balanced by the losses or gains of utility of another agent.</a:t>
            </a:r>
          </a:p>
          <a:p>
            <a:pPr lvl="0"/>
            <a:r>
              <a:rPr lang="en-US" dirty="0" smtClean="0"/>
              <a:t>One player of the game try to maximize one single value, while other player tries to minimize it.</a:t>
            </a:r>
          </a:p>
          <a:p>
            <a:pPr lvl="0"/>
            <a:r>
              <a:rPr lang="en-US" dirty="0" smtClean="0"/>
              <a:t>Each move by one player in the game is called as ply.</a:t>
            </a:r>
          </a:p>
          <a:p>
            <a:r>
              <a:rPr lang="en-US" dirty="0" smtClean="0"/>
              <a:t>Chess and tic-tac-toe are examples of a Zero-sum game.</a:t>
            </a:r>
          </a:p>
          <a:p>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smtClean="0"/>
              <a:t>Formalization of the problem:</a:t>
            </a:r>
            <a:br>
              <a:rPr lang="en-US" dirty="0" smtClean="0"/>
            </a:br>
            <a:endParaRPr lang="en-US" dirty="0"/>
          </a:p>
        </p:txBody>
      </p:sp>
      <p:sp>
        <p:nvSpPr>
          <p:cNvPr id="3" name="Content Placeholder 2"/>
          <p:cNvSpPr>
            <a:spLocks noGrp="1"/>
          </p:cNvSpPr>
          <p:nvPr>
            <p:ph idx="1"/>
          </p:nvPr>
        </p:nvSpPr>
        <p:spPr>
          <a:xfrm>
            <a:off x="228600" y="685800"/>
            <a:ext cx="8763000" cy="5943600"/>
          </a:xfrm>
        </p:spPr>
        <p:txBody>
          <a:bodyPr>
            <a:normAutofit/>
          </a:bodyPr>
          <a:lstStyle/>
          <a:p>
            <a:r>
              <a:rPr lang="en-US" sz="2400" b="1" dirty="0" smtClean="0">
                <a:latin typeface="Times New Roman" pitchFamily="18" charset="0"/>
                <a:cs typeface="Times New Roman" pitchFamily="18" charset="0"/>
              </a:rPr>
              <a:t>Initial state:</a:t>
            </a:r>
            <a:r>
              <a:rPr lang="en-US" sz="2400" dirty="0" smtClean="0">
                <a:latin typeface="Times New Roman" pitchFamily="18" charset="0"/>
                <a:cs typeface="Times New Roman" pitchFamily="18" charset="0"/>
              </a:rPr>
              <a:t> It specifies how the game is set up at the start.</a:t>
            </a:r>
          </a:p>
          <a:p>
            <a:r>
              <a:rPr lang="en-US" sz="2400" b="1" dirty="0" smtClean="0">
                <a:latin typeface="Times New Roman" pitchFamily="18" charset="0"/>
                <a:cs typeface="Times New Roman" pitchFamily="18" charset="0"/>
              </a:rPr>
              <a:t>Player(s):</a:t>
            </a:r>
            <a:r>
              <a:rPr lang="en-US" sz="2400" dirty="0" smtClean="0">
                <a:latin typeface="Times New Roman" pitchFamily="18" charset="0"/>
                <a:cs typeface="Times New Roman" pitchFamily="18" charset="0"/>
              </a:rPr>
              <a:t> It specifies which player has moved in the state space.</a:t>
            </a:r>
          </a:p>
          <a:p>
            <a:r>
              <a:rPr lang="en-US" sz="2400" b="1" dirty="0" smtClean="0">
                <a:latin typeface="Times New Roman" pitchFamily="18" charset="0"/>
                <a:cs typeface="Times New Roman" pitchFamily="18" charset="0"/>
              </a:rPr>
              <a:t>Action(s):</a:t>
            </a:r>
            <a:r>
              <a:rPr lang="en-US" sz="2400" dirty="0" smtClean="0">
                <a:latin typeface="Times New Roman" pitchFamily="18" charset="0"/>
                <a:cs typeface="Times New Roman" pitchFamily="18" charset="0"/>
              </a:rPr>
              <a:t> It returns the set of legal moves in state space.</a:t>
            </a:r>
          </a:p>
          <a:p>
            <a:r>
              <a:rPr lang="en-US" sz="2400" b="1" dirty="0" smtClean="0">
                <a:latin typeface="Times New Roman" pitchFamily="18" charset="0"/>
                <a:cs typeface="Times New Roman" pitchFamily="18" charset="0"/>
              </a:rPr>
              <a:t>Result(s, a):</a:t>
            </a:r>
            <a:r>
              <a:rPr lang="en-US" sz="2400" dirty="0" smtClean="0">
                <a:latin typeface="Times New Roman" pitchFamily="18" charset="0"/>
                <a:cs typeface="Times New Roman" pitchFamily="18" charset="0"/>
              </a:rPr>
              <a:t> It is the transition model, which specifies the result of moves in the state space.</a:t>
            </a:r>
          </a:p>
          <a:p>
            <a:r>
              <a:rPr lang="en-US" sz="2400" b="1" dirty="0" smtClean="0">
                <a:latin typeface="Times New Roman" pitchFamily="18" charset="0"/>
                <a:cs typeface="Times New Roman" pitchFamily="18" charset="0"/>
              </a:rPr>
              <a:t>Terminal-Test(s):</a:t>
            </a:r>
            <a:r>
              <a:rPr lang="en-US" sz="2400" dirty="0" smtClean="0">
                <a:latin typeface="Times New Roman" pitchFamily="18" charset="0"/>
                <a:cs typeface="Times New Roman" pitchFamily="18" charset="0"/>
              </a:rPr>
              <a:t> Terminal test is true if the game is over, else it is false at any case. The state where the game ends is called terminal states.</a:t>
            </a:r>
          </a:p>
          <a:p>
            <a:r>
              <a:rPr lang="en-US" sz="2400" b="1" dirty="0" smtClean="0">
                <a:latin typeface="Times New Roman" pitchFamily="18" charset="0"/>
                <a:cs typeface="Times New Roman" pitchFamily="18" charset="0"/>
              </a:rPr>
              <a:t>Utility(s, p):</a:t>
            </a:r>
            <a:r>
              <a:rPr lang="en-US" sz="2400" dirty="0" smtClean="0">
                <a:latin typeface="Times New Roman" pitchFamily="18" charset="0"/>
                <a:cs typeface="Times New Roman" pitchFamily="18" charset="0"/>
              </a:rPr>
              <a:t> A utility function gives the final numeric value for a game that ends in terminal states s for player p. It is also called payoff function. For Chess, the outcomes are a win, loss, or draw and its payoff values are +1, 0, ½. And for tic-tac-toe, utility values are +1, -1, and 0.</a:t>
            </a:r>
          </a:p>
          <a:p>
            <a:endParaRPr lang="en-US" sz="2400" dirty="0">
              <a:latin typeface="Times New Roman" pitchFamily="18" charset="0"/>
              <a:cs typeface="Times New Roman"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smtClean="0"/>
              <a:t>Game tree:</a:t>
            </a:r>
            <a:br>
              <a:rPr lang="en-US" dirty="0" smtClean="0"/>
            </a:br>
            <a:endParaRPr lang="en-US" dirty="0"/>
          </a:p>
        </p:txBody>
      </p:sp>
      <p:sp>
        <p:nvSpPr>
          <p:cNvPr id="3" name="Content Placeholder 2"/>
          <p:cNvSpPr>
            <a:spLocks noGrp="1"/>
          </p:cNvSpPr>
          <p:nvPr>
            <p:ph idx="1"/>
          </p:nvPr>
        </p:nvSpPr>
        <p:spPr>
          <a:xfrm>
            <a:off x="457200" y="685800"/>
            <a:ext cx="8229600" cy="5440363"/>
          </a:xfrm>
        </p:spPr>
        <p:txBody>
          <a:bodyPr>
            <a:normAutofit fontScale="85000" lnSpcReduction="10000"/>
          </a:bodyPr>
          <a:lstStyle/>
          <a:p>
            <a:r>
              <a:rPr lang="en-US" dirty="0" smtClean="0"/>
              <a:t>A game tree is a tree where nodes of the tree are the game states and Edges of the tree are the moves by players.</a:t>
            </a:r>
          </a:p>
          <a:p>
            <a:r>
              <a:rPr lang="en-US" dirty="0" smtClean="0"/>
              <a:t> Game tree involves initial state, actions function, and result Function.</a:t>
            </a:r>
          </a:p>
          <a:p>
            <a:pPr>
              <a:buNone/>
            </a:pPr>
            <a:r>
              <a:rPr lang="en-US" dirty="0" smtClean="0"/>
              <a:t/>
            </a:r>
            <a:br>
              <a:rPr lang="en-US" dirty="0" smtClean="0"/>
            </a:br>
            <a:r>
              <a:rPr lang="en-US" dirty="0" smtClean="0"/>
              <a:t>The following figure is showing part of the game-tree for tic-tac-toe game. Following are some key points of the game:</a:t>
            </a:r>
          </a:p>
          <a:p>
            <a:r>
              <a:rPr lang="en-US" dirty="0" smtClean="0"/>
              <a:t>There are two players MAX and MIN.</a:t>
            </a:r>
          </a:p>
          <a:p>
            <a:r>
              <a:rPr lang="en-US" dirty="0" smtClean="0"/>
              <a:t>Players have an alternate turn and start with MAX.</a:t>
            </a:r>
          </a:p>
          <a:p>
            <a:r>
              <a:rPr lang="en-US" dirty="0" smtClean="0"/>
              <a:t>MAX maximizes the result of the game tree</a:t>
            </a:r>
          </a:p>
          <a:p>
            <a:r>
              <a:rPr lang="en-US" dirty="0" smtClean="0"/>
              <a:t>MIN minimizes the result.</a:t>
            </a: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098" name="Picture 2"/>
          <p:cNvPicPr>
            <a:picLocks noChangeAspect="1" noChangeArrowheads="1"/>
          </p:cNvPicPr>
          <p:nvPr/>
        </p:nvPicPr>
        <p:blipFill>
          <a:blip r:embed="rId2"/>
          <a:srcRect/>
          <a:stretch>
            <a:fillRect/>
          </a:stretch>
        </p:blipFill>
        <p:spPr bwMode="auto">
          <a:xfrm>
            <a:off x="0" y="0"/>
            <a:ext cx="9144000" cy="6857999"/>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400800"/>
          </a:xfrm>
        </p:spPr>
        <p:txBody>
          <a:bodyPr>
            <a:normAutofit fontScale="92500"/>
          </a:bodyPr>
          <a:lstStyle/>
          <a:p>
            <a:pPr lvl="0"/>
            <a:r>
              <a:rPr lang="en-US" dirty="0" smtClean="0"/>
              <a:t>From the initial state, MAX has 9 possible moves as he starts first. MAX place x and MIN place o, and both player plays alternatively until we reach a leaf node where one player has three in a row or all squares are filled.</a:t>
            </a:r>
          </a:p>
          <a:p>
            <a:pPr lvl="0"/>
            <a:r>
              <a:rPr lang="en-US" dirty="0" smtClean="0"/>
              <a:t>Both players will compute each node, </a:t>
            </a:r>
            <a:r>
              <a:rPr lang="en-US" dirty="0" err="1" smtClean="0"/>
              <a:t>minimax</a:t>
            </a:r>
            <a:r>
              <a:rPr lang="en-US" dirty="0" smtClean="0"/>
              <a:t>, the </a:t>
            </a:r>
            <a:r>
              <a:rPr lang="en-US" dirty="0" err="1" smtClean="0"/>
              <a:t>minimax</a:t>
            </a:r>
            <a:r>
              <a:rPr lang="en-US" dirty="0" smtClean="0"/>
              <a:t> value which is the best achievable utility against an optimal adversary.</a:t>
            </a:r>
          </a:p>
          <a:p>
            <a:pPr lvl="0"/>
            <a:r>
              <a:rPr lang="en-US" dirty="0" smtClean="0"/>
              <a:t>Suppose both the players are well aware of the tic-tac-toe and playing the best play.</a:t>
            </a:r>
          </a:p>
          <a:p>
            <a:pPr lvl="0"/>
            <a:r>
              <a:rPr lang="en-US" dirty="0" smtClean="0"/>
              <a:t> Each player is doing his best to prevent another one from winning. MIN is acting against Max in the game.</a:t>
            </a:r>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a:bodyPr>
          <a:lstStyle/>
          <a:p>
            <a:pPr lvl="0"/>
            <a:r>
              <a:rPr lang="en-US" dirty="0" smtClean="0"/>
              <a:t>So in the game tree, we have a layer of Max, a layer of MIN, and each layer is called as </a:t>
            </a:r>
            <a:r>
              <a:rPr lang="en-US" b="1" dirty="0" smtClean="0"/>
              <a:t>Ply</a:t>
            </a:r>
            <a:r>
              <a:rPr lang="en-US" dirty="0" smtClean="0"/>
              <a:t>. Max place x, then MIN puts o to prevent Max from winning, and this game continues until the terminal node.</a:t>
            </a:r>
          </a:p>
          <a:p>
            <a:pPr lvl="0"/>
            <a:r>
              <a:rPr lang="en-US" dirty="0" smtClean="0"/>
              <a:t>In this either MIN wins, MAX wins, or it's a draw.</a:t>
            </a:r>
          </a:p>
          <a:p>
            <a:pPr lvl="0"/>
            <a:r>
              <a:rPr lang="en-US" dirty="0" smtClean="0"/>
              <a:t> This game-tree is the whole search space of possibilities that MIN and MAX are playing tic-tac-toe and taking turns alternately.</a:t>
            </a:r>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lstStyle/>
          <a:p>
            <a:pPr>
              <a:buNone/>
            </a:pPr>
            <a:r>
              <a:rPr lang="en-US" dirty="0" smtClean="0"/>
              <a:t>Adversarial Search for the </a:t>
            </a:r>
            <a:r>
              <a:rPr lang="en-US" dirty="0" err="1" smtClean="0"/>
              <a:t>minimax</a:t>
            </a:r>
            <a:r>
              <a:rPr lang="en-US" dirty="0" smtClean="0"/>
              <a:t> procedure works as follows:</a:t>
            </a:r>
          </a:p>
          <a:p>
            <a:pPr lvl="0"/>
            <a:r>
              <a:rPr lang="en-US" dirty="0" smtClean="0"/>
              <a:t>It aims to find the optimal strategy for MAX to win the game.</a:t>
            </a:r>
          </a:p>
          <a:p>
            <a:pPr lvl="0"/>
            <a:r>
              <a:rPr lang="en-US" dirty="0" smtClean="0"/>
              <a:t>It follows the approach of Depth-first search.</a:t>
            </a:r>
          </a:p>
          <a:p>
            <a:pPr lvl="0"/>
            <a:r>
              <a:rPr lang="en-US" dirty="0" smtClean="0"/>
              <a:t>In the game tree, optimal leaf node could appear at any depth of the tree.</a:t>
            </a:r>
          </a:p>
          <a:p>
            <a:pPr lvl="0"/>
            <a:r>
              <a:rPr lang="en-US" dirty="0" smtClean="0"/>
              <a:t>Propagate the </a:t>
            </a:r>
            <a:r>
              <a:rPr lang="en-US" dirty="0" err="1" smtClean="0"/>
              <a:t>minimax</a:t>
            </a:r>
            <a:r>
              <a:rPr lang="en-US" dirty="0" smtClean="0"/>
              <a:t> values up to the tree until the terminal node discovered.</a:t>
            </a:r>
          </a:p>
          <a:p>
            <a:pPr>
              <a:buNone/>
            </a:pPr>
            <a:endParaRPr lang="en-US" dirty="0" smtClean="0"/>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lstStyle/>
          <a:p>
            <a:r>
              <a:rPr lang="en-US" dirty="0" smtClean="0"/>
              <a:t>In a given game tree, the optimal strategy can be determined from the </a:t>
            </a:r>
            <a:r>
              <a:rPr lang="en-US" dirty="0" err="1" smtClean="0"/>
              <a:t>minimax</a:t>
            </a:r>
            <a:r>
              <a:rPr lang="en-US" dirty="0" smtClean="0"/>
              <a:t> value of each node, which can be written as MINIMAX(n). MAX prefer to move to a state of maximum value and MIN prefer to move to a state of minimum value then:</a:t>
            </a:r>
          </a:p>
          <a:p>
            <a:endParaRPr lang="en-US" dirty="0"/>
          </a:p>
        </p:txBody>
      </p:sp>
      <p:pic>
        <p:nvPicPr>
          <p:cNvPr id="4" name="Picture 3" descr="Adversarial Search"/>
          <p:cNvPicPr/>
          <p:nvPr/>
        </p:nvPicPr>
        <p:blipFill>
          <a:blip r:embed="rId2">
            <a:extLst>
              <a:ext uri="{28A0092B-C50C-407E-A947-70E740481C1C}">
                <a14:useLocalDpi xmlns:ve="http://schemas.openxmlformats.org/markup-compatibility/2006" xmlns:m="http://schemas.openxmlformats.org/officeDocument/2006/math" xmlns:wp="http://schemas.openxmlformats.org/drawingml/2006/wordprocessingDrawing" xmlns:wne="http://schemas.microsoft.com/office/word/2006/wordml" xmlns:a14="http://schemas.microsoft.com/office/drawing/2010/main" xmlns:wps="http://schemas.microsoft.com/office/word/2010/wordprocessingShape" xmlns:wpi="http://schemas.microsoft.com/office/word/2010/wordprocessingInk" xmlns:wpg="http://schemas.microsoft.com/office/word/2010/wordprocessingGroup" xmlns:w14="http://schemas.microsoft.com/office/word/2010/wordml" xmlns:w="http://schemas.openxmlformats.org/wordprocessingml/2006/main" xmlns:w10="urn:schemas-microsoft-com:office:word" xmlns:wp14="http://schemas.microsoft.com/office/word/2010/wordprocessingDrawing" xmlns:v="urn:schemas-microsoft-com:vml" xmlns:o="urn:schemas-microsoft-com:office:office" xmlns:mc="http://schemas.openxmlformats.org/markup-compatibility/2006" xmlns:wpc="http://schemas.microsoft.com/office/word/2010/wordprocessingCanvas" xmlns="" xmlns:pic="http://schemas.openxmlformats.org/drawingml/2006/picture" xmlns:lc="http://schemas.openxmlformats.org/drawingml/2006/lockedCanvas" val="0"/>
              </a:ext>
            </a:extLst>
          </a:blip>
          <a:srcRect/>
          <a:stretch>
            <a:fillRect/>
          </a:stretch>
        </p:blipFill>
        <p:spPr bwMode="auto">
          <a:xfrm>
            <a:off x="381000" y="3810000"/>
            <a:ext cx="7772400" cy="18288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smtClean="0"/>
              <a:t>Min-Max Algorithm </a:t>
            </a:r>
            <a:endParaRPr lang="en-US" dirty="0"/>
          </a:p>
        </p:txBody>
      </p:sp>
      <p:sp>
        <p:nvSpPr>
          <p:cNvPr id="3" name="Content Placeholder 2"/>
          <p:cNvSpPr>
            <a:spLocks noGrp="1"/>
          </p:cNvSpPr>
          <p:nvPr>
            <p:ph idx="1"/>
          </p:nvPr>
        </p:nvSpPr>
        <p:spPr>
          <a:xfrm>
            <a:off x="457200" y="914400"/>
            <a:ext cx="8229600" cy="5715000"/>
          </a:xfrm>
        </p:spPr>
        <p:txBody>
          <a:bodyPr>
            <a:normAutofit fontScale="70000" lnSpcReduction="20000"/>
          </a:bodyPr>
          <a:lstStyle/>
          <a:p>
            <a:r>
              <a:rPr lang="en-US" sz="3600" dirty="0" smtClean="0">
                <a:latin typeface="Times New Roman" pitchFamily="18" charset="0"/>
                <a:cs typeface="Times New Roman" pitchFamily="18" charset="0"/>
              </a:rPr>
              <a:t>Min-max algorithm is a recursive or backtracking algorithm which is used in decision-making and game theory. </a:t>
            </a:r>
          </a:p>
          <a:p>
            <a:pPr lvl="0"/>
            <a:r>
              <a:rPr lang="en-US" sz="3600" dirty="0" smtClean="0">
                <a:latin typeface="Times New Roman" pitchFamily="18" charset="0"/>
                <a:cs typeface="Times New Roman" pitchFamily="18" charset="0"/>
              </a:rPr>
              <a:t>Min-Max algorithm uses recursion to search through the game-tree.</a:t>
            </a:r>
          </a:p>
          <a:p>
            <a:pPr lvl="0"/>
            <a:r>
              <a:rPr lang="en-US" sz="3600" dirty="0" smtClean="0">
                <a:latin typeface="Times New Roman" pitchFamily="18" charset="0"/>
                <a:cs typeface="Times New Roman" pitchFamily="18" charset="0"/>
              </a:rPr>
              <a:t>In this algorithm two players play the game, one is called MAX and other is called MIN.</a:t>
            </a:r>
          </a:p>
          <a:p>
            <a:pPr lvl="0"/>
            <a:r>
              <a:rPr lang="en-US" sz="3600" dirty="0" smtClean="0">
                <a:latin typeface="Times New Roman" pitchFamily="18" charset="0"/>
                <a:cs typeface="Times New Roman" pitchFamily="18" charset="0"/>
              </a:rPr>
              <a:t>Both Players of the game are opponent of each other, where MAX will select the maximized value and MIN will select the minimized value.</a:t>
            </a:r>
          </a:p>
          <a:p>
            <a:pPr lvl="0"/>
            <a:r>
              <a:rPr lang="en-US" sz="3600" dirty="0" smtClean="0">
                <a:latin typeface="Times New Roman" pitchFamily="18" charset="0"/>
                <a:cs typeface="Times New Roman" pitchFamily="18" charset="0"/>
              </a:rPr>
              <a:t>The </a:t>
            </a:r>
            <a:r>
              <a:rPr lang="en-US" sz="3600" dirty="0" err="1" smtClean="0">
                <a:latin typeface="Times New Roman" pitchFamily="18" charset="0"/>
                <a:cs typeface="Times New Roman" pitchFamily="18" charset="0"/>
              </a:rPr>
              <a:t>minimax</a:t>
            </a:r>
            <a:r>
              <a:rPr lang="en-US" sz="3600" dirty="0" smtClean="0">
                <a:latin typeface="Times New Roman" pitchFamily="18" charset="0"/>
                <a:cs typeface="Times New Roman" pitchFamily="18" charset="0"/>
              </a:rPr>
              <a:t> algorithm performs a depth-first search algorithm for the exploration of the complete game tree.</a:t>
            </a:r>
          </a:p>
          <a:p>
            <a:pPr lvl="0"/>
            <a:r>
              <a:rPr lang="en-US" sz="3600" dirty="0" smtClean="0">
                <a:latin typeface="Times New Roman" pitchFamily="18" charset="0"/>
                <a:cs typeface="Times New Roman" pitchFamily="18" charset="0"/>
              </a:rPr>
              <a:t>The </a:t>
            </a:r>
            <a:r>
              <a:rPr lang="en-US" sz="3600" dirty="0" err="1" smtClean="0">
                <a:latin typeface="Times New Roman" pitchFamily="18" charset="0"/>
                <a:cs typeface="Times New Roman" pitchFamily="18" charset="0"/>
              </a:rPr>
              <a:t>minimax</a:t>
            </a:r>
            <a:r>
              <a:rPr lang="en-US" sz="3600" dirty="0" smtClean="0">
                <a:latin typeface="Times New Roman" pitchFamily="18" charset="0"/>
                <a:cs typeface="Times New Roman" pitchFamily="18" charset="0"/>
              </a:rPr>
              <a:t> algorithm proceeds all the way down to the terminal node of the tree, then backtrack the tree as the recursion.</a:t>
            </a:r>
          </a:p>
          <a:p>
            <a:pPr lvl="0"/>
            <a:endParaRPr lang="en-US" sz="3600" dirty="0" smtClean="0">
              <a:latin typeface="Times New Roman" pitchFamily="18" charset="0"/>
              <a:cs typeface="Times New Roman" pitchFamily="18" charset="0"/>
            </a:endParaRPr>
          </a:p>
          <a:p>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Pseudo-code for </a:t>
            </a:r>
            <a:r>
              <a:rPr lang="en-US" dirty="0" err="1" smtClean="0"/>
              <a:t>MinMax</a:t>
            </a:r>
            <a:r>
              <a:rPr lang="en-US" dirty="0" smtClean="0"/>
              <a:t> Algorithm:</a:t>
            </a:r>
            <a:br>
              <a:rPr lang="en-US" dirty="0" smtClean="0"/>
            </a:br>
            <a:endParaRPr lang="en-US" dirty="0"/>
          </a:p>
        </p:txBody>
      </p:sp>
      <p:sp>
        <p:nvSpPr>
          <p:cNvPr id="3" name="Content Placeholder 2"/>
          <p:cNvSpPr>
            <a:spLocks noGrp="1"/>
          </p:cNvSpPr>
          <p:nvPr>
            <p:ph idx="1"/>
          </p:nvPr>
        </p:nvSpPr>
        <p:spPr>
          <a:xfrm>
            <a:off x="228600" y="838200"/>
            <a:ext cx="8686800" cy="5287963"/>
          </a:xfrm>
        </p:spPr>
        <p:txBody>
          <a:bodyPr>
            <a:normAutofit fontScale="62500" lnSpcReduction="20000"/>
          </a:bodyPr>
          <a:lstStyle/>
          <a:p>
            <a:pPr lvl="0">
              <a:buNone/>
            </a:pPr>
            <a:r>
              <a:rPr lang="en-US" dirty="0" smtClean="0"/>
              <a:t>function </a:t>
            </a:r>
            <a:r>
              <a:rPr lang="en-US" dirty="0" err="1" smtClean="0"/>
              <a:t>minimax</a:t>
            </a:r>
            <a:r>
              <a:rPr lang="en-US" dirty="0" smtClean="0"/>
              <a:t>(node, depth, </a:t>
            </a:r>
            <a:r>
              <a:rPr lang="en-US" dirty="0" err="1" smtClean="0"/>
              <a:t>maximizingPlayer</a:t>
            </a:r>
            <a:r>
              <a:rPr lang="en-US" dirty="0" smtClean="0"/>
              <a:t>) is  </a:t>
            </a:r>
          </a:p>
          <a:p>
            <a:pPr lvl="0">
              <a:buNone/>
            </a:pPr>
            <a:r>
              <a:rPr lang="en-US" b="1" dirty="0" smtClean="0"/>
              <a:t>if</a:t>
            </a:r>
            <a:r>
              <a:rPr lang="en-US" dirty="0" smtClean="0"/>
              <a:t> depth ==0 or node is a terminal node then  </a:t>
            </a:r>
          </a:p>
          <a:p>
            <a:pPr lvl="0">
              <a:buNone/>
            </a:pPr>
            <a:r>
              <a:rPr lang="en-US" b="1" dirty="0" smtClean="0"/>
              <a:t>return</a:t>
            </a:r>
            <a:r>
              <a:rPr lang="en-US" dirty="0" smtClean="0"/>
              <a:t> </a:t>
            </a:r>
            <a:r>
              <a:rPr lang="en-US" b="1" dirty="0" smtClean="0"/>
              <a:t>static</a:t>
            </a:r>
            <a:r>
              <a:rPr lang="en-US" dirty="0" smtClean="0"/>
              <a:t> evaluation of node  </a:t>
            </a:r>
          </a:p>
          <a:p>
            <a:pPr lvl="0">
              <a:buNone/>
            </a:pPr>
            <a:r>
              <a:rPr lang="en-US" dirty="0" smtClean="0"/>
              <a:t>  </a:t>
            </a:r>
          </a:p>
          <a:p>
            <a:pPr lvl="0">
              <a:buNone/>
            </a:pPr>
            <a:r>
              <a:rPr lang="en-US" b="1" dirty="0" smtClean="0"/>
              <a:t>if</a:t>
            </a:r>
            <a:r>
              <a:rPr lang="en-US" dirty="0" smtClean="0"/>
              <a:t> </a:t>
            </a:r>
            <a:r>
              <a:rPr lang="en-US" dirty="0" err="1" smtClean="0"/>
              <a:t>MaximizingPlayer</a:t>
            </a:r>
            <a:r>
              <a:rPr lang="en-US" dirty="0" smtClean="0"/>
              <a:t> then      // for </a:t>
            </a:r>
            <a:r>
              <a:rPr lang="en-US" dirty="0" err="1" smtClean="0"/>
              <a:t>Maximizer</a:t>
            </a:r>
            <a:r>
              <a:rPr lang="en-US" dirty="0" smtClean="0"/>
              <a:t> Player  </a:t>
            </a:r>
          </a:p>
          <a:p>
            <a:pPr lvl="0">
              <a:buNone/>
            </a:pPr>
            <a:r>
              <a:rPr lang="en-US" dirty="0" err="1" smtClean="0"/>
              <a:t>maxEva</a:t>
            </a:r>
            <a:r>
              <a:rPr lang="en-US" dirty="0" smtClean="0"/>
              <a:t>= -infinity            </a:t>
            </a:r>
          </a:p>
          <a:p>
            <a:pPr lvl="0">
              <a:buNone/>
            </a:pPr>
            <a:r>
              <a:rPr lang="en-US" dirty="0" smtClean="0"/>
              <a:t> </a:t>
            </a:r>
            <a:r>
              <a:rPr lang="en-US" b="1" dirty="0" smtClean="0"/>
              <a:t>for</a:t>
            </a:r>
            <a:r>
              <a:rPr lang="en-US" dirty="0" smtClean="0"/>
              <a:t> each child of node </a:t>
            </a:r>
            <a:r>
              <a:rPr lang="en-US" b="1" dirty="0" smtClean="0"/>
              <a:t>do</a:t>
            </a:r>
            <a:r>
              <a:rPr lang="en-US" dirty="0" smtClean="0"/>
              <a:t>  </a:t>
            </a:r>
          </a:p>
          <a:p>
            <a:pPr lvl="0">
              <a:buNone/>
            </a:pPr>
            <a:r>
              <a:rPr lang="en-US" dirty="0" smtClean="0"/>
              <a:t> </a:t>
            </a:r>
            <a:r>
              <a:rPr lang="en-US" dirty="0" err="1" smtClean="0"/>
              <a:t>eva</a:t>
            </a:r>
            <a:r>
              <a:rPr lang="en-US" dirty="0" smtClean="0"/>
              <a:t>= </a:t>
            </a:r>
            <a:r>
              <a:rPr lang="en-US" dirty="0" err="1" smtClean="0"/>
              <a:t>minimax</a:t>
            </a:r>
            <a:r>
              <a:rPr lang="en-US" dirty="0" smtClean="0"/>
              <a:t>(child, depth-1, </a:t>
            </a:r>
            <a:r>
              <a:rPr lang="en-US" b="1" dirty="0" smtClean="0"/>
              <a:t>false</a:t>
            </a:r>
            <a:r>
              <a:rPr lang="en-US" dirty="0" smtClean="0"/>
              <a:t>)  </a:t>
            </a:r>
          </a:p>
          <a:p>
            <a:pPr lvl="0">
              <a:buNone/>
            </a:pPr>
            <a:r>
              <a:rPr lang="en-US" dirty="0" err="1" smtClean="0"/>
              <a:t>maxEva</a:t>
            </a:r>
            <a:r>
              <a:rPr lang="en-US" dirty="0" smtClean="0"/>
              <a:t>= max(</a:t>
            </a:r>
            <a:r>
              <a:rPr lang="en-US" dirty="0" err="1" smtClean="0"/>
              <a:t>maxEva,eva</a:t>
            </a:r>
            <a:r>
              <a:rPr lang="en-US" dirty="0" smtClean="0"/>
              <a:t>)        //gives Maximum of the values  </a:t>
            </a:r>
          </a:p>
          <a:p>
            <a:pPr lvl="0">
              <a:buNone/>
            </a:pPr>
            <a:r>
              <a:rPr lang="en-US" b="1" dirty="0" smtClean="0"/>
              <a:t>return</a:t>
            </a:r>
            <a:r>
              <a:rPr lang="en-US" dirty="0" smtClean="0"/>
              <a:t> </a:t>
            </a:r>
            <a:r>
              <a:rPr lang="en-US" dirty="0" err="1" smtClean="0"/>
              <a:t>maxEva</a:t>
            </a:r>
            <a:r>
              <a:rPr lang="en-US" dirty="0" smtClean="0"/>
              <a:t>  </a:t>
            </a:r>
          </a:p>
          <a:p>
            <a:pPr lvl="0">
              <a:buNone/>
            </a:pPr>
            <a:r>
              <a:rPr lang="en-US" dirty="0" smtClean="0"/>
              <a:t>  </a:t>
            </a:r>
          </a:p>
          <a:p>
            <a:pPr lvl="0">
              <a:buNone/>
            </a:pPr>
            <a:r>
              <a:rPr lang="en-US" b="1" dirty="0" smtClean="0"/>
              <a:t>else</a:t>
            </a:r>
            <a:r>
              <a:rPr lang="en-US" dirty="0" smtClean="0"/>
              <a:t>                         // for </a:t>
            </a:r>
            <a:r>
              <a:rPr lang="en-US" dirty="0" err="1" smtClean="0"/>
              <a:t>Minimizer</a:t>
            </a:r>
            <a:r>
              <a:rPr lang="en-US" dirty="0" smtClean="0"/>
              <a:t> player  </a:t>
            </a:r>
          </a:p>
          <a:p>
            <a:pPr lvl="0">
              <a:buNone/>
            </a:pPr>
            <a:r>
              <a:rPr lang="en-US" dirty="0" smtClean="0"/>
              <a:t> </a:t>
            </a:r>
            <a:r>
              <a:rPr lang="en-US" dirty="0" err="1" smtClean="0"/>
              <a:t>minEva</a:t>
            </a:r>
            <a:r>
              <a:rPr lang="en-US" dirty="0" smtClean="0"/>
              <a:t>= +infinity   </a:t>
            </a:r>
          </a:p>
          <a:p>
            <a:pPr lvl="0">
              <a:buNone/>
            </a:pPr>
            <a:r>
              <a:rPr lang="en-US" dirty="0" smtClean="0"/>
              <a:t> </a:t>
            </a:r>
            <a:r>
              <a:rPr lang="en-US" b="1" dirty="0" smtClean="0"/>
              <a:t>for</a:t>
            </a:r>
            <a:r>
              <a:rPr lang="en-US" dirty="0" smtClean="0"/>
              <a:t> each child of node </a:t>
            </a:r>
            <a:r>
              <a:rPr lang="en-US" b="1" dirty="0" smtClean="0"/>
              <a:t>do</a:t>
            </a:r>
            <a:r>
              <a:rPr lang="en-US" dirty="0" smtClean="0"/>
              <a:t>  </a:t>
            </a:r>
          </a:p>
          <a:p>
            <a:pPr lvl="0">
              <a:buNone/>
            </a:pPr>
            <a:r>
              <a:rPr lang="en-US" dirty="0" smtClean="0"/>
              <a:t> </a:t>
            </a:r>
            <a:r>
              <a:rPr lang="en-US" dirty="0" err="1" smtClean="0"/>
              <a:t>eva</a:t>
            </a:r>
            <a:r>
              <a:rPr lang="en-US" dirty="0" smtClean="0"/>
              <a:t>= </a:t>
            </a:r>
            <a:r>
              <a:rPr lang="en-US" dirty="0" err="1" smtClean="0"/>
              <a:t>minimax</a:t>
            </a:r>
            <a:r>
              <a:rPr lang="en-US" dirty="0" smtClean="0"/>
              <a:t>(child, depth-1, </a:t>
            </a:r>
            <a:r>
              <a:rPr lang="en-US" b="1" dirty="0" smtClean="0"/>
              <a:t>true</a:t>
            </a:r>
            <a:r>
              <a:rPr lang="en-US" dirty="0" smtClean="0"/>
              <a:t>)  </a:t>
            </a:r>
          </a:p>
          <a:p>
            <a:pPr lvl="0">
              <a:buNone/>
            </a:pPr>
            <a:r>
              <a:rPr lang="en-US" dirty="0" smtClean="0"/>
              <a:t> </a:t>
            </a:r>
            <a:r>
              <a:rPr lang="en-US" dirty="0" err="1" smtClean="0"/>
              <a:t>minEva</a:t>
            </a:r>
            <a:r>
              <a:rPr lang="en-US" dirty="0" smtClean="0"/>
              <a:t>= min(</a:t>
            </a:r>
            <a:r>
              <a:rPr lang="en-US" dirty="0" err="1" smtClean="0"/>
              <a:t>minEva</a:t>
            </a:r>
            <a:r>
              <a:rPr lang="en-US" dirty="0" smtClean="0"/>
              <a:t>, </a:t>
            </a:r>
            <a:r>
              <a:rPr lang="en-US" dirty="0" err="1" smtClean="0"/>
              <a:t>eva</a:t>
            </a:r>
            <a:r>
              <a:rPr lang="en-US" dirty="0" smtClean="0"/>
              <a:t>)         //gives minimum of the values  </a:t>
            </a:r>
          </a:p>
          <a:p>
            <a:pPr lvl="0">
              <a:buNone/>
            </a:pPr>
            <a:r>
              <a:rPr lang="en-US" dirty="0" smtClean="0"/>
              <a:t> </a:t>
            </a:r>
            <a:r>
              <a:rPr lang="en-US" b="1" dirty="0" smtClean="0"/>
              <a:t>return</a:t>
            </a:r>
            <a:r>
              <a:rPr lang="en-US" dirty="0" smtClean="0"/>
              <a:t> </a:t>
            </a:r>
            <a:r>
              <a:rPr lang="en-US" dirty="0" err="1" smtClean="0"/>
              <a:t>minEva</a:t>
            </a:r>
            <a:r>
              <a:rPr lang="en-US" dirty="0" smtClean="0"/>
              <a:t>  </a:t>
            </a:r>
          </a:p>
          <a:p>
            <a:pPr>
              <a:buNone/>
            </a:pP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smtClean="0"/>
              <a:t>Properties of Mini-Max algorithm:</a:t>
            </a:r>
            <a:br>
              <a:rPr lang="en-US" dirty="0" smtClean="0"/>
            </a:br>
            <a:endParaRPr lang="en-US" dirty="0"/>
          </a:p>
        </p:txBody>
      </p:sp>
      <p:sp>
        <p:nvSpPr>
          <p:cNvPr id="3" name="Content Placeholder 2"/>
          <p:cNvSpPr>
            <a:spLocks noGrp="1"/>
          </p:cNvSpPr>
          <p:nvPr>
            <p:ph idx="1"/>
          </p:nvPr>
        </p:nvSpPr>
        <p:spPr>
          <a:xfrm>
            <a:off x="457200" y="990600"/>
            <a:ext cx="8229600" cy="5135563"/>
          </a:xfrm>
        </p:spPr>
        <p:txBody>
          <a:bodyPr>
            <a:normAutofit fontScale="92500" lnSpcReduction="20000"/>
          </a:bodyPr>
          <a:lstStyle/>
          <a:p>
            <a:pPr lvl="0"/>
            <a:r>
              <a:rPr lang="en-US" b="1" dirty="0" smtClean="0"/>
              <a:t>Complete-</a:t>
            </a:r>
            <a:r>
              <a:rPr lang="en-US" dirty="0" smtClean="0"/>
              <a:t> Min-Max algorithm is Complete. It will definitely find a solution (if exist), in the finite search tree.</a:t>
            </a:r>
          </a:p>
          <a:p>
            <a:pPr lvl="0"/>
            <a:r>
              <a:rPr lang="en-US" b="1" dirty="0" smtClean="0"/>
              <a:t>Optimal-</a:t>
            </a:r>
            <a:r>
              <a:rPr lang="en-US" dirty="0" smtClean="0"/>
              <a:t> Min-Max algorithm is optimal if both opponents are playing optimally.</a:t>
            </a:r>
          </a:p>
          <a:p>
            <a:pPr lvl="0"/>
            <a:r>
              <a:rPr lang="en-US" b="1" dirty="0" smtClean="0"/>
              <a:t>Time complexity-</a:t>
            </a:r>
            <a:r>
              <a:rPr lang="en-US" dirty="0" smtClean="0"/>
              <a:t> As it performs DFS for the game-tree, so the time complexity of Min-Max algorithm is </a:t>
            </a:r>
            <a:r>
              <a:rPr lang="en-US" b="1" dirty="0" smtClean="0"/>
              <a:t>O(</a:t>
            </a:r>
            <a:r>
              <a:rPr lang="en-US" b="1" dirty="0" err="1" smtClean="0"/>
              <a:t>b</a:t>
            </a:r>
            <a:r>
              <a:rPr lang="en-US" b="1" baseline="30000" dirty="0" err="1" smtClean="0"/>
              <a:t>m</a:t>
            </a:r>
            <a:r>
              <a:rPr lang="en-US" b="1" dirty="0" smtClean="0"/>
              <a:t>)</a:t>
            </a:r>
            <a:r>
              <a:rPr lang="en-US" dirty="0" smtClean="0"/>
              <a:t>, where b is branching factor of the game-tree, and m is the maximum depth of the tree.</a:t>
            </a:r>
          </a:p>
          <a:p>
            <a:pPr lvl="0"/>
            <a:r>
              <a:rPr lang="en-US" b="1" dirty="0" smtClean="0"/>
              <a:t>Space Complexity-</a:t>
            </a:r>
            <a:r>
              <a:rPr lang="en-US" dirty="0" smtClean="0"/>
              <a:t> Space complexity of Mini-max algorithm is also similar to DFS which is </a:t>
            </a:r>
            <a:r>
              <a:rPr lang="en-US" b="1" dirty="0" smtClean="0"/>
              <a:t>O(</a:t>
            </a:r>
            <a:r>
              <a:rPr lang="en-US" b="1" dirty="0" err="1" smtClean="0"/>
              <a:t>bm</a:t>
            </a:r>
            <a:r>
              <a:rPr lang="en-US" b="1" dirty="0" smtClean="0"/>
              <a:t>)</a:t>
            </a:r>
            <a:r>
              <a:rPr lang="en-US" dirty="0" smtClean="0"/>
              <a:t>.</a:t>
            </a:r>
          </a:p>
          <a:p>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pic>
        <p:nvPicPr>
          <p:cNvPr id="4" name="Content Placeholder 3" descr="Mini-Max Algorithm in AI"/>
          <p:cNvPicPr>
            <a:picLocks noGrp="1"/>
          </p:cNvPicPr>
          <p:nvPr>
            <p:ph idx="1"/>
          </p:nvPr>
        </p:nvPicPr>
        <p:blipFill>
          <a:blip r:embed="rId2">
            <a:extLst>
              <a:ext uri="{28A0092B-C50C-407E-A947-70E740481C1C}">
                <a14:useLocalDpi xmlns:ve="http://schemas.openxmlformats.org/markup-compatibility/2006" xmlns:m="http://schemas.openxmlformats.org/officeDocument/2006/math" xmlns:wp="http://schemas.openxmlformats.org/drawingml/2006/wordprocessingDrawing" xmlns:wne="http://schemas.microsoft.com/office/word/2006/wordml" xmlns:a14="http://schemas.microsoft.com/office/drawing/2010/main" xmlns:wps="http://schemas.microsoft.com/office/word/2010/wordprocessingShape" xmlns:wpi="http://schemas.microsoft.com/office/word/2010/wordprocessingInk" xmlns:wpg="http://schemas.microsoft.com/office/word/2010/wordprocessingGroup" xmlns:w14="http://schemas.microsoft.com/office/word/2010/wordml" xmlns:w="http://schemas.openxmlformats.org/wordprocessingml/2006/main" xmlns:w10="urn:schemas-microsoft-com:office:word" xmlns:wp14="http://schemas.microsoft.com/office/word/2010/wordprocessingDrawing" xmlns:v="urn:schemas-microsoft-com:vml" xmlns:o="urn:schemas-microsoft-com:office:office" xmlns:mc="http://schemas.openxmlformats.org/markup-compatibility/2006" xmlns:wpc="http://schemas.microsoft.com/office/word/2010/wordprocessingCanvas" xmlns="" xmlns:pic="http://schemas.openxmlformats.org/drawingml/2006/picture" xmlns:lc="http://schemas.openxmlformats.org/drawingml/2006/lockedCanvas" val="0"/>
              </a:ext>
            </a:extLst>
          </a:blip>
          <a:srcRect/>
          <a:stretch>
            <a:fillRect/>
          </a:stretch>
        </p:blipFill>
        <p:spPr bwMode="auto">
          <a:xfrm>
            <a:off x="0" y="1143000"/>
            <a:ext cx="4038600" cy="3581400"/>
          </a:xfrm>
          <a:prstGeom prst="rect">
            <a:avLst/>
          </a:prstGeom>
          <a:noFill/>
          <a:ln>
            <a:noFill/>
          </a:ln>
        </p:spPr>
      </p:pic>
      <p:pic>
        <p:nvPicPr>
          <p:cNvPr id="5" name="Picture 4" descr="Mini-Max Algorithm in AI"/>
          <p:cNvPicPr/>
          <p:nvPr/>
        </p:nvPicPr>
        <p:blipFill>
          <a:blip r:embed="rId3">
            <a:extLst>
              <a:ext uri="{28A0092B-C50C-407E-A947-70E740481C1C}">
                <a14:useLocalDpi xmlns:ve="http://schemas.openxmlformats.org/markup-compatibility/2006" xmlns:m="http://schemas.openxmlformats.org/officeDocument/2006/math" xmlns:wp="http://schemas.openxmlformats.org/drawingml/2006/wordprocessingDrawing" xmlns:wne="http://schemas.microsoft.com/office/word/2006/wordml" xmlns:a14="http://schemas.microsoft.com/office/drawing/2010/main" xmlns:wps="http://schemas.microsoft.com/office/word/2010/wordprocessingShape" xmlns:wpi="http://schemas.microsoft.com/office/word/2010/wordprocessingInk" xmlns:wpg="http://schemas.microsoft.com/office/word/2010/wordprocessingGroup" xmlns:w14="http://schemas.microsoft.com/office/word/2010/wordml" xmlns:w="http://schemas.openxmlformats.org/wordprocessingml/2006/main" xmlns:w10="urn:schemas-microsoft-com:office:word" xmlns:wp14="http://schemas.microsoft.com/office/word/2010/wordprocessingDrawing" xmlns:v="urn:schemas-microsoft-com:vml" xmlns:o="urn:schemas-microsoft-com:office:office" xmlns:mc="http://schemas.openxmlformats.org/markup-compatibility/2006" xmlns:wpc="http://schemas.microsoft.com/office/word/2010/wordprocessingCanvas" xmlns="" xmlns:pic="http://schemas.openxmlformats.org/drawingml/2006/picture" xmlns:lc="http://schemas.openxmlformats.org/drawingml/2006/lockedCanvas" val="0"/>
              </a:ext>
            </a:extLst>
          </a:blip>
          <a:srcRect/>
          <a:stretch>
            <a:fillRect/>
          </a:stretch>
        </p:blipFill>
        <p:spPr bwMode="auto">
          <a:xfrm>
            <a:off x="4191000" y="990600"/>
            <a:ext cx="4762500" cy="4257675"/>
          </a:xfrm>
          <a:prstGeom prst="rect">
            <a:avLst/>
          </a:prstGeom>
          <a:noFill/>
          <a:ln>
            <a:noFill/>
          </a:ln>
        </p:spPr>
      </p:pic>
      <p:sp>
        <p:nvSpPr>
          <p:cNvPr id="6" name="TextBox 5"/>
          <p:cNvSpPr txBox="1"/>
          <p:nvPr/>
        </p:nvSpPr>
        <p:spPr>
          <a:xfrm>
            <a:off x="0" y="4419600"/>
            <a:ext cx="7162800" cy="2031325"/>
          </a:xfrm>
          <a:prstGeom prst="rect">
            <a:avLst/>
          </a:prstGeom>
          <a:noFill/>
        </p:spPr>
        <p:txBody>
          <a:bodyPr wrap="square" rtlCol="0">
            <a:spAutoFit/>
          </a:bodyPr>
          <a:lstStyle/>
          <a:p>
            <a:r>
              <a:rPr lang="en-US" dirty="0" smtClean="0"/>
              <a:t>initial value is -∞, </a:t>
            </a:r>
          </a:p>
          <a:p>
            <a:r>
              <a:rPr lang="en-US" dirty="0" smtClean="0"/>
              <a:t>It will find the maximum among the all.</a:t>
            </a:r>
          </a:p>
          <a:p>
            <a:pPr lvl="0"/>
            <a:r>
              <a:rPr lang="en-US" dirty="0" smtClean="0"/>
              <a:t>For node D         max(-1,- -∞) =&gt; max(-1,4)= 4</a:t>
            </a:r>
          </a:p>
          <a:p>
            <a:pPr lvl="0"/>
            <a:r>
              <a:rPr lang="en-US" dirty="0" smtClean="0"/>
              <a:t>For Node E         max(2, -∞) =&gt; max(2, 6)= 6</a:t>
            </a:r>
          </a:p>
          <a:p>
            <a:pPr lvl="0"/>
            <a:r>
              <a:rPr lang="en-US" dirty="0" smtClean="0"/>
              <a:t>For Node F         max(-3, -∞) =&gt; max(-3,-5) = -3</a:t>
            </a:r>
          </a:p>
          <a:p>
            <a:pPr lvl="0"/>
            <a:r>
              <a:rPr lang="en-US" dirty="0" smtClean="0"/>
              <a:t>For node G         max(0, -∞) = max(0, 7) = 7</a:t>
            </a:r>
          </a:p>
          <a:p>
            <a:endParaRPr 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Mini-Max Algorithm in AI"/>
          <p:cNvPicPr>
            <a:picLocks noGrp="1"/>
          </p:cNvPicPr>
          <p:nvPr>
            <p:ph idx="1"/>
          </p:nvPr>
        </p:nvPicPr>
        <p:blipFill>
          <a:blip r:embed="rId2">
            <a:extLst>
              <a:ext uri="{28A0092B-C50C-407E-A947-70E740481C1C}">
                <a14:useLocalDpi xmlns:ve="http://schemas.openxmlformats.org/markup-compatibility/2006" xmlns:m="http://schemas.openxmlformats.org/officeDocument/2006/math" xmlns:wp="http://schemas.openxmlformats.org/drawingml/2006/wordprocessingDrawing" xmlns:wne="http://schemas.microsoft.com/office/word/2006/wordml" xmlns:a14="http://schemas.microsoft.com/office/drawing/2010/main" xmlns:wps="http://schemas.microsoft.com/office/word/2010/wordprocessingShape" xmlns:wpi="http://schemas.microsoft.com/office/word/2010/wordprocessingInk" xmlns:wpg="http://schemas.microsoft.com/office/word/2010/wordprocessingGroup" xmlns:w14="http://schemas.microsoft.com/office/word/2010/wordml" xmlns:w="http://schemas.openxmlformats.org/wordprocessingml/2006/main" xmlns:w10="urn:schemas-microsoft-com:office:word" xmlns:wp14="http://schemas.microsoft.com/office/word/2010/wordprocessingDrawing" xmlns:v="urn:schemas-microsoft-com:vml" xmlns:o="urn:schemas-microsoft-com:office:office" xmlns:mc="http://schemas.openxmlformats.org/markup-compatibility/2006" xmlns:wpc="http://schemas.microsoft.com/office/word/2010/wordprocessingCanvas" xmlns="" xmlns:pic="http://schemas.openxmlformats.org/drawingml/2006/picture" xmlns:lc="http://schemas.openxmlformats.org/drawingml/2006/lockedCanvas" val="0"/>
              </a:ext>
            </a:extLst>
          </a:blip>
          <a:srcRect/>
          <a:stretch>
            <a:fillRect/>
          </a:stretch>
        </p:blipFill>
        <p:spPr bwMode="auto">
          <a:xfrm>
            <a:off x="0" y="228600"/>
            <a:ext cx="4763165" cy="4258270"/>
          </a:xfrm>
          <a:prstGeom prst="rect">
            <a:avLst/>
          </a:prstGeom>
          <a:noFill/>
          <a:ln>
            <a:noFill/>
          </a:ln>
        </p:spPr>
      </p:pic>
      <p:sp>
        <p:nvSpPr>
          <p:cNvPr id="5" name="TextBox 4"/>
          <p:cNvSpPr txBox="1"/>
          <p:nvPr/>
        </p:nvSpPr>
        <p:spPr>
          <a:xfrm>
            <a:off x="228600" y="4572000"/>
            <a:ext cx="8534400" cy="1477328"/>
          </a:xfrm>
          <a:prstGeom prst="rect">
            <a:avLst/>
          </a:prstGeom>
          <a:noFill/>
        </p:spPr>
        <p:txBody>
          <a:bodyPr wrap="square" rtlCol="0">
            <a:spAutoFit/>
          </a:bodyPr>
          <a:lstStyle/>
          <a:p>
            <a:r>
              <a:rPr lang="en-US" b="1" dirty="0" smtClean="0"/>
              <a:t>Step 3:</a:t>
            </a:r>
            <a:r>
              <a:rPr lang="en-US" dirty="0" smtClean="0"/>
              <a:t> In the next step, it's a turn for </a:t>
            </a:r>
            <a:r>
              <a:rPr lang="en-US" dirty="0" err="1" smtClean="0"/>
              <a:t>minimizer</a:t>
            </a:r>
            <a:r>
              <a:rPr lang="en-US" dirty="0" smtClean="0"/>
              <a:t>, so it will compare all nodes value with +∞, and will find the 3</a:t>
            </a:r>
            <a:r>
              <a:rPr lang="en-US" baseline="30000" dirty="0" smtClean="0"/>
              <a:t>rd</a:t>
            </a:r>
            <a:r>
              <a:rPr lang="en-US" dirty="0" smtClean="0"/>
              <a:t> layer node values.</a:t>
            </a:r>
          </a:p>
          <a:p>
            <a:pPr lvl="0"/>
            <a:r>
              <a:rPr lang="en-US" dirty="0" smtClean="0"/>
              <a:t>For node B= min(4,6) = 4</a:t>
            </a:r>
          </a:p>
          <a:p>
            <a:pPr lvl="0"/>
            <a:r>
              <a:rPr lang="en-US" dirty="0" smtClean="0"/>
              <a:t>For node C= min (-3, 7) = -3</a:t>
            </a:r>
          </a:p>
          <a:p>
            <a:endParaRPr 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Mini-Max Algorithm in AI"/>
          <p:cNvPicPr>
            <a:picLocks noGrp="1"/>
          </p:cNvPicPr>
          <p:nvPr>
            <p:ph idx="1"/>
          </p:nvPr>
        </p:nvPicPr>
        <p:blipFill>
          <a:blip r:embed="rId2">
            <a:extLst>
              <a:ext uri="{28A0092B-C50C-407E-A947-70E740481C1C}">
                <a14:useLocalDpi xmlns:ve="http://schemas.openxmlformats.org/markup-compatibility/2006" xmlns:m="http://schemas.openxmlformats.org/officeDocument/2006/math" xmlns:wp="http://schemas.openxmlformats.org/drawingml/2006/wordprocessingDrawing" xmlns:wne="http://schemas.microsoft.com/office/word/2006/wordml" xmlns:a14="http://schemas.microsoft.com/office/drawing/2010/main" xmlns:wps="http://schemas.microsoft.com/office/word/2010/wordprocessingShape" xmlns:wpi="http://schemas.microsoft.com/office/word/2010/wordprocessingInk" xmlns:wpg="http://schemas.microsoft.com/office/word/2010/wordprocessingGroup" xmlns:w14="http://schemas.microsoft.com/office/word/2010/wordml" xmlns:w="http://schemas.openxmlformats.org/wordprocessingml/2006/main" xmlns:w10="urn:schemas-microsoft-com:office:word" xmlns:wp14="http://schemas.microsoft.com/office/word/2010/wordprocessingDrawing" xmlns:v="urn:schemas-microsoft-com:vml" xmlns:o="urn:schemas-microsoft-com:office:office" xmlns:mc="http://schemas.openxmlformats.org/markup-compatibility/2006" xmlns:wpc="http://schemas.microsoft.com/office/word/2010/wordprocessingCanvas" xmlns="" xmlns:pic="http://schemas.openxmlformats.org/drawingml/2006/picture" xmlns:lc="http://schemas.openxmlformats.org/drawingml/2006/lockedCanvas" val="0"/>
              </a:ext>
            </a:extLst>
          </a:blip>
          <a:srcRect/>
          <a:stretch>
            <a:fillRect/>
          </a:stretch>
        </p:blipFill>
        <p:spPr bwMode="auto">
          <a:xfrm>
            <a:off x="381000" y="228600"/>
            <a:ext cx="4763165" cy="4258270"/>
          </a:xfrm>
          <a:prstGeom prst="rect">
            <a:avLst/>
          </a:prstGeom>
          <a:noFill/>
          <a:ln>
            <a:noFill/>
          </a:ln>
        </p:spPr>
      </p:pic>
      <p:sp>
        <p:nvSpPr>
          <p:cNvPr id="5" name="TextBox 4"/>
          <p:cNvSpPr txBox="1"/>
          <p:nvPr/>
        </p:nvSpPr>
        <p:spPr>
          <a:xfrm>
            <a:off x="533400" y="4419600"/>
            <a:ext cx="8153400" cy="1200329"/>
          </a:xfrm>
          <a:prstGeom prst="rect">
            <a:avLst/>
          </a:prstGeom>
          <a:noFill/>
        </p:spPr>
        <p:txBody>
          <a:bodyPr wrap="square" rtlCol="0">
            <a:spAutoFit/>
          </a:bodyPr>
          <a:lstStyle/>
          <a:p>
            <a:r>
              <a:rPr lang="en-US" b="1" dirty="0" smtClean="0"/>
              <a:t>Step 4:</a:t>
            </a:r>
            <a:r>
              <a:rPr lang="en-US" dirty="0" smtClean="0"/>
              <a:t> Now it's a turn for </a:t>
            </a:r>
            <a:r>
              <a:rPr lang="en-US" dirty="0" err="1" smtClean="0"/>
              <a:t>Maximizer</a:t>
            </a:r>
            <a:r>
              <a:rPr lang="en-US" dirty="0" smtClean="0"/>
              <a:t>, and it will again choose the maximum of all nodes value and find the maximum value for the root node.</a:t>
            </a:r>
          </a:p>
          <a:p>
            <a:pPr lvl="0"/>
            <a:r>
              <a:rPr lang="en-US" dirty="0" smtClean="0"/>
              <a:t>For node A max(4, -3)= 4</a:t>
            </a:r>
          </a:p>
          <a:p>
            <a:endParaRPr lang="en-U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fontScale="90000"/>
          </a:bodyPr>
          <a:lstStyle/>
          <a:p>
            <a:r>
              <a:rPr lang="en-US" dirty="0" smtClean="0"/>
              <a:t>Limitation of the </a:t>
            </a:r>
            <a:r>
              <a:rPr lang="en-US" dirty="0" err="1" smtClean="0"/>
              <a:t>minimax</a:t>
            </a:r>
            <a:r>
              <a:rPr lang="en-US" dirty="0" smtClean="0"/>
              <a:t> Algorithm:</a:t>
            </a:r>
            <a:br>
              <a:rPr lang="en-US" dirty="0" smtClean="0"/>
            </a:br>
            <a:endParaRPr lang="en-US" dirty="0"/>
          </a:p>
        </p:txBody>
      </p:sp>
      <p:sp>
        <p:nvSpPr>
          <p:cNvPr id="3" name="Content Placeholder 2"/>
          <p:cNvSpPr>
            <a:spLocks noGrp="1"/>
          </p:cNvSpPr>
          <p:nvPr>
            <p:ph idx="1"/>
          </p:nvPr>
        </p:nvSpPr>
        <p:spPr>
          <a:xfrm>
            <a:off x="457200" y="1143000"/>
            <a:ext cx="8229600" cy="4983163"/>
          </a:xfrm>
        </p:spPr>
        <p:txBody>
          <a:bodyPr>
            <a:normAutofit/>
          </a:bodyPr>
          <a:lstStyle/>
          <a:p>
            <a:r>
              <a:rPr lang="en-US" dirty="0" smtClean="0"/>
              <a:t>The main drawback of the </a:t>
            </a:r>
            <a:r>
              <a:rPr lang="en-US" dirty="0" err="1" smtClean="0"/>
              <a:t>minimax</a:t>
            </a:r>
            <a:r>
              <a:rPr lang="en-US" dirty="0" smtClean="0"/>
              <a:t> algorithm is that it gets really slow for complex games such as Chess, go, etc. </a:t>
            </a:r>
          </a:p>
          <a:p>
            <a:r>
              <a:rPr lang="en-US" dirty="0" smtClean="0"/>
              <a:t>This type of games has a huge branching factor, and the player has lots of choices to decide. </a:t>
            </a:r>
          </a:p>
          <a:p>
            <a:r>
              <a:rPr lang="en-US" dirty="0" smtClean="0"/>
              <a:t>This limitation of the </a:t>
            </a:r>
            <a:r>
              <a:rPr lang="en-US" dirty="0" err="1" smtClean="0"/>
              <a:t>minimax</a:t>
            </a:r>
            <a:r>
              <a:rPr lang="en-US" dirty="0" smtClean="0"/>
              <a:t> algorithm can be improved from </a:t>
            </a:r>
            <a:r>
              <a:rPr lang="en-US" b="1" dirty="0" smtClean="0"/>
              <a:t>alpha-beta pruning</a:t>
            </a:r>
            <a:r>
              <a:rPr lang="en-US" dirty="0" smtClean="0"/>
              <a:t> .</a:t>
            </a:r>
          </a:p>
          <a:p>
            <a:endParaRPr 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Alpha-Beta Pruning</a:t>
            </a:r>
            <a:br>
              <a:rPr lang="en-US" dirty="0" smtClean="0"/>
            </a:br>
            <a:endParaRPr lang="en-US" dirty="0"/>
          </a:p>
        </p:txBody>
      </p:sp>
      <p:sp>
        <p:nvSpPr>
          <p:cNvPr id="3" name="Content Placeholder 2"/>
          <p:cNvSpPr>
            <a:spLocks noGrp="1"/>
          </p:cNvSpPr>
          <p:nvPr>
            <p:ph idx="1"/>
          </p:nvPr>
        </p:nvSpPr>
        <p:spPr>
          <a:xfrm>
            <a:off x="457200" y="1066800"/>
            <a:ext cx="8229600" cy="5410200"/>
          </a:xfrm>
        </p:spPr>
        <p:txBody>
          <a:bodyPr>
            <a:normAutofit fontScale="85000" lnSpcReduction="10000"/>
          </a:bodyPr>
          <a:lstStyle/>
          <a:p>
            <a:pPr lvl="0"/>
            <a:r>
              <a:rPr lang="en-US" dirty="0" smtClean="0"/>
              <a:t>Alpha-beta pruning is a modified version of the </a:t>
            </a:r>
            <a:r>
              <a:rPr lang="en-US" dirty="0" err="1" smtClean="0"/>
              <a:t>minimax</a:t>
            </a:r>
            <a:r>
              <a:rPr lang="en-US" dirty="0" smtClean="0"/>
              <a:t> algorithm. It is an optimization technique for the </a:t>
            </a:r>
            <a:r>
              <a:rPr lang="en-US" dirty="0" err="1" smtClean="0"/>
              <a:t>minimax</a:t>
            </a:r>
            <a:r>
              <a:rPr lang="en-US" dirty="0" smtClean="0"/>
              <a:t> algorithm.</a:t>
            </a:r>
          </a:p>
          <a:p>
            <a:pPr lvl="0"/>
            <a:r>
              <a:rPr lang="en-US" dirty="0" smtClean="0"/>
              <a:t>In </a:t>
            </a:r>
            <a:r>
              <a:rPr lang="en-US" dirty="0" err="1" smtClean="0"/>
              <a:t>minimax</a:t>
            </a:r>
            <a:r>
              <a:rPr lang="en-US" dirty="0" smtClean="0"/>
              <a:t> search algorithm that the number of game states it has to examine are exponential in depth of the tree. </a:t>
            </a:r>
          </a:p>
          <a:p>
            <a:pPr lvl="0"/>
            <a:r>
              <a:rPr lang="en-US" dirty="0" smtClean="0"/>
              <a:t>we can cut it to half using </a:t>
            </a:r>
            <a:r>
              <a:rPr lang="en-US" b="1" dirty="0" smtClean="0"/>
              <a:t>alpha-beta pruning</a:t>
            </a:r>
            <a:r>
              <a:rPr lang="en-US" dirty="0" smtClean="0"/>
              <a:t>. </a:t>
            </a:r>
          </a:p>
          <a:p>
            <a:pPr lvl="0"/>
            <a:r>
              <a:rPr lang="en-US" dirty="0" smtClean="0"/>
              <a:t>without checking each node of the game tree we can compute the correct </a:t>
            </a:r>
            <a:r>
              <a:rPr lang="en-US" dirty="0" err="1" smtClean="0"/>
              <a:t>minimax</a:t>
            </a:r>
            <a:r>
              <a:rPr lang="en-US" dirty="0" smtClean="0"/>
              <a:t> decision by the technique </a:t>
            </a:r>
            <a:r>
              <a:rPr lang="en-US" b="1" dirty="0" smtClean="0"/>
              <a:t>pruning</a:t>
            </a:r>
            <a:r>
              <a:rPr lang="en-US" dirty="0" smtClean="0"/>
              <a:t>. </a:t>
            </a:r>
          </a:p>
          <a:p>
            <a:pPr lvl="0"/>
            <a:r>
              <a:rPr lang="en-US" dirty="0" smtClean="0"/>
              <a:t>This involves two threshold parameter Alpha and beta for future expansion, so it is called </a:t>
            </a:r>
            <a:r>
              <a:rPr lang="en-US" b="1" dirty="0" smtClean="0"/>
              <a:t>alpha-beta pruning</a:t>
            </a:r>
            <a:r>
              <a:rPr lang="en-US" dirty="0" smtClean="0"/>
              <a:t>.</a:t>
            </a:r>
          </a:p>
          <a:p>
            <a:pPr lvl="0"/>
            <a:r>
              <a:rPr lang="en-US" dirty="0" smtClean="0"/>
              <a:t> It is also called as </a:t>
            </a:r>
            <a:r>
              <a:rPr lang="en-US" b="1" dirty="0" smtClean="0"/>
              <a:t>Alpha-Beta Algorithm</a:t>
            </a:r>
            <a:r>
              <a:rPr lang="en-US" dirty="0" smtClean="0"/>
              <a:t>.</a:t>
            </a:r>
          </a:p>
          <a:p>
            <a:endParaRPr 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smtClean="0"/>
              <a:t>Alpha-Beta Pruning</a:t>
            </a:r>
            <a:br>
              <a:rPr lang="en-US" dirty="0" smtClean="0"/>
            </a:br>
            <a:endParaRPr lang="en-US" dirty="0"/>
          </a:p>
        </p:txBody>
      </p:sp>
      <p:sp>
        <p:nvSpPr>
          <p:cNvPr id="3" name="Content Placeholder 2"/>
          <p:cNvSpPr>
            <a:spLocks noGrp="1"/>
          </p:cNvSpPr>
          <p:nvPr>
            <p:ph idx="1"/>
          </p:nvPr>
        </p:nvSpPr>
        <p:spPr>
          <a:xfrm>
            <a:off x="457200" y="838200"/>
            <a:ext cx="8229600" cy="5287963"/>
          </a:xfrm>
        </p:spPr>
        <p:txBody>
          <a:bodyPr/>
          <a:lstStyle/>
          <a:p>
            <a:pPr lvl="0"/>
            <a:r>
              <a:rPr lang="en-US" dirty="0" smtClean="0"/>
              <a:t>Alpha-beta pruning can be applied at any depth of a tree, and sometimes it not only prune the tree leaves but also entire sub-tree.</a:t>
            </a:r>
          </a:p>
          <a:p>
            <a:pPr lvl="0"/>
            <a:r>
              <a:rPr lang="en-US" dirty="0" smtClean="0"/>
              <a:t>The two-parameter can be defined as:</a:t>
            </a:r>
            <a:endParaRPr lang="en-US" sz="2800" dirty="0" smtClean="0"/>
          </a:p>
          <a:p>
            <a:pPr lvl="1"/>
            <a:r>
              <a:rPr lang="en-US" b="1" dirty="0" smtClean="0"/>
              <a:t>Alpha:</a:t>
            </a:r>
            <a:r>
              <a:rPr lang="en-US" dirty="0" smtClean="0"/>
              <a:t> The best (highest-value) choice we have found so far at any point along the path of </a:t>
            </a:r>
            <a:r>
              <a:rPr lang="en-US" dirty="0" err="1" smtClean="0"/>
              <a:t>Maximizer</a:t>
            </a:r>
            <a:r>
              <a:rPr lang="en-US" dirty="0" smtClean="0"/>
              <a:t>. The initial value of alpha is </a:t>
            </a:r>
            <a:r>
              <a:rPr lang="en-US" b="1" dirty="0" smtClean="0"/>
              <a:t>-∞</a:t>
            </a:r>
            <a:r>
              <a:rPr lang="en-US" dirty="0" smtClean="0"/>
              <a:t>.</a:t>
            </a:r>
            <a:endParaRPr lang="en-US" sz="2400" dirty="0" smtClean="0"/>
          </a:p>
          <a:p>
            <a:pPr lvl="1"/>
            <a:r>
              <a:rPr lang="en-US" b="1" dirty="0" smtClean="0"/>
              <a:t>Beta:</a:t>
            </a:r>
            <a:r>
              <a:rPr lang="en-US" dirty="0" smtClean="0"/>
              <a:t> The best (lowest-value) choice we have found so far at any point along the path of </a:t>
            </a:r>
            <a:r>
              <a:rPr lang="en-US" dirty="0" err="1" smtClean="0"/>
              <a:t>Minimizer</a:t>
            </a:r>
            <a:r>
              <a:rPr lang="en-US" dirty="0" smtClean="0"/>
              <a:t>. The initial value of beta is </a:t>
            </a:r>
            <a:r>
              <a:rPr lang="en-US" b="1" dirty="0" smtClean="0"/>
              <a:t>+∞</a:t>
            </a:r>
            <a:r>
              <a:rPr lang="en-US" dirty="0" smtClean="0"/>
              <a:t>.</a:t>
            </a:r>
            <a:endParaRPr lang="en-US" sz="2400" dirty="0" smtClean="0"/>
          </a:p>
          <a:p>
            <a:pPr lvl="0"/>
            <a:endParaRPr 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Alpha-Beta Pruning</a:t>
            </a:r>
            <a:endParaRPr lang="en-US" dirty="0"/>
          </a:p>
        </p:txBody>
      </p:sp>
      <p:sp>
        <p:nvSpPr>
          <p:cNvPr id="3" name="Content Placeholder 2"/>
          <p:cNvSpPr>
            <a:spLocks noGrp="1"/>
          </p:cNvSpPr>
          <p:nvPr>
            <p:ph idx="1"/>
          </p:nvPr>
        </p:nvSpPr>
        <p:spPr/>
        <p:txBody>
          <a:bodyPr/>
          <a:lstStyle/>
          <a:p>
            <a:pPr lvl="0"/>
            <a:r>
              <a:rPr lang="en-US" dirty="0" smtClean="0"/>
              <a:t>The Alpha-beta pruning to a standard </a:t>
            </a:r>
            <a:r>
              <a:rPr lang="en-US" dirty="0" err="1" smtClean="0"/>
              <a:t>minimax</a:t>
            </a:r>
            <a:r>
              <a:rPr lang="en-US" dirty="0" smtClean="0"/>
              <a:t> algorithm returns the same move as the standard algorithm does, but it removes all the nodes which are not really affecting the final decision but making algorithm slow. Hence by pruning these nodes, it makes the algorithm fast.</a:t>
            </a:r>
          </a:p>
          <a:p>
            <a:endParaRPr 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fontScale="92500"/>
          </a:bodyPr>
          <a:lstStyle/>
          <a:p>
            <a:pPr lvl="0">
              <a:buNone/>
            </a:pPr>
            <a:r>
              <a:rPr lang="en-US" dirty="0" smtClean="0">
                <a:solidFill>
                  <a:schemeClr val="accent1">
                    <a:lumMod val="75000"/>
                  </a:schemeClr>
                </a:solidFill>
              </a:rPr>
              <a:t>Condition for Alpha-beta pruning:</a:t>
            </a:r>
          </a:p>
          <a:p>
            <a:pPr lvl="0"/>
            <a:r>
              <a:rPr lang="en-US" dirty="0" smtClean="0"/>
              <a:t>α&gt;=β  </a:t>
            </a:r>
          </a:p>
          <a:p>
            <a:pPr>
              <a:buNone/>
            </a:pPr>
            <a:r>
              <a:rPr lang="en-US" dirty="0" smtClean="0">
                <a:solidFill>
                  <a:schemeClr val="accent1">
                    <a:lumMod val="75000"/>
                  </a:schemeClr>
                </a:solidFill>
              </a:rPr>
              <a:t>Key points about alpha-beta pruning:</a:t>
            </a:r>
          </a:p>
          <a:p>
            <a:pPr lvl="0"/>
            <a:r>
              <a:rPr lang="en-US" dirty="0" smtClean="0"/>
              <a:t>The Max player will only update the value of alpha.</a:t>
            </a:r>
          </a:p>
          <a:p>
            <a:pPr lvl="0"/>
            <a:r>
              <a:rPr lang="en-US" dirty="0" smtClean="0"/>
              <a:t>The Min player will only update the value of beta.</a:t>
            </a:r>
          </a:p>
          <a:p>
            <a:pPr lvl="0"/>
            <a:r>
              <a:rPr lang="en-US" dirty="0" smtClean="0"/>
              <a:t>While backtracking the tree, the node values will be passed to upper nodes instead of values of alpha and beta.</a:t>
            </a:r>
          </a:p>
          <a:p>
            <a:pPr lvl="0"/>
            <a:r>
              <a:rPr lang="en-US" dirty="0" smtClean="0"/>
              <a:t>We can only pass the alpha, beta values to the child nodes.</a:t>
            </a:r>
          </a:p>
          <a:p>
            <a:endParaRPr lang="en-US"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smtClean="0"/>
              <a:t>Pseudo-code for Alpha-beta Pruning:</a:t>
            </a:r>
            <a:br>
              <a:rPr lang="en-US" dirty="0" smtClean="0"/>
            </a:br>
            <a:endParaRPr lang="en-US" dirty="0"/>
          </a:p>
        </p:txBody>
      </p:sp>
      <p:sp>
        <p:nvSpPr>
          <p:cNvPr id="3" name="Content Placeholder 2"/>
          <p:cNvSpPr>
            <a:spLocks noGrp="1"/>
          </p:cNvSpPr>
          <p:nvPr>
            <p:ph idx="1"/>
          </p:nvPr>
        </p:nvSpPr>
        <p:spPr>
          <a:xfrm>
            <a:off x="381000" y="609600"/>
            <a:ext cx="8305800" cy="6248400"/>
          </a:xfrm>
        </p:spPr>
        <p:txBody>
          <a:bodyPr>
            <a:normAutofit fontScale="47500" lnSpcReduction="20000"/>
          </a:bodyPr>
          <a:lstStyle/>
          <a:p>
            <a:pPr lvl="0">
              <a:buNone/>
            </a:pPr>
            <a:r>
              <a:rPr lang="en-US" dirty="0" smtClean="0"/>
              <a:t>function </a:t>
            </a:r>
            <a:r>
              <a:rPr lang="en-US" dirty="0" err="1" smtClean="0"/>
              <a:t>minimax</a:t>
            </a:r>
            <a:r>
              <a:rPr lang="en-US" dirty="0" smtClean="0"/>
              <a:t>(node, depth, alpha, beta, </a:t>
            </a:r>
            <a:r>
              <a:rPr lang="en-US" dirty="0" err="1" smtClean="0"/>
              <a:t>maximizingPlayer</a:t>
            </a:r>
            <a:r>
              <a:rPr lang="en-US" dirty="0" smtClean="0"/>
              <a:t>) </a:t>
            </a:r>
          </a:p>
          <a:p>
            <a:pPr lvl="0">
              <a:buNone/>
            </a:pPr>
            <a:r>
              <a:rPr lang="en-US" b="1" dirty="0" smtClean="0"/>
              <a:t>if</a:t>
            </a:r>
            <a:r>
              <a:rPr lang="en-US" dirty="0" smtClean="0"/>
              <a:t> depth ==0 or node is a terminal node then  </a:t>
            </a:r>
          </a:p>
          <a:p>
            <a:pPr lvl="0">
              <a:buNone/>
            </a:pPr>
            <a:r>
              <a:rPr lang="en-US" b="1" dirty="0" smtClean="0"/>
              <a:t>return</a:t>
            </a:r>
            <a:r>
              <a:rPr lang="en-US" dirty="0" smtClean="0"/>
              <a:t> </a:t>
            </a:r>
            <a:r>
              <a:rPr lang="en-US" b="1" dirty="0" smtClean="0"/>
              <a:t>static</a:t>
            </a:r>
            <a:r>
              <a:rPr lang="en-US" dirty="0" smtClean="0"/>
              <a:t> evaluation of node  </a:t>
            </a:r>
          </a:p>
          <a:p>
            <a:pPr lvl="0">
              <a:buNone/>
            </a:pPr>
            <a:r>
              <a:rPr lang="en-US" dirty="0" smtClean="0"/>
              <a:t>  </a:t>
            </a:r>
          </a:p>
          <a:p>
            <a:pPr lvl="0">
              <a:buNone/>
            </a:pPr>
            <a:r>
              <a:rPr lang="en-US" b="1" dirty="0" smtClean="0"/>
              <a:t>if</a:t>
            </a:r>
            <a:r>
              <a:rPr lang="en-US" dirty="0" smtClean="0"/>
              <a:t> </a:t>
            </a:r>
            <a:r>
              <a:rPr lang="en-US" dirty="0" err="1" smtClean="0"/>
              <a:t>MaximizingPlayer</a:t>
            </a:r>
            <a:r>
              <a:rPr lang="en-US" dirty="0" smtClean="0"/>
              <a:t> then      // for </a:t>
            </a:r>
            <a:r>
              <a:rPr lang="en-US" dirty="0" err="1" smtClean="0"/>
              <a:t>Maximizer</a:t>
            </a:r>
            <a:r>
              <a:rPr lang="en-US" dirty="0" smtClean="0"/>
              <a:t> Player  </a:t>
            </a:r>
          </a:p>
          <a:p>
            <a:pPr lvl="0">
              <a:buNone/>
            </a:pPr>
            <a:r>
              <a:rPr lang="en-US" dirty="0" smtClean="0"/>
              <a:t>   </a:t>
            </a:r>
            <a:r>
              <a:rPr lang="en-US" dirty="0" err="1" smtClean="0"/>
              <a:t>maxEva</a:t>
            </a:r>
            <a:r>
              <a:rPr lang="en-US" dirty="0" smtClean="0"/>
              <a:t>= -infinity            </a:t>
            </a:r>
          </a:p>
          <a:p>
            <a:pPr lvl="0">
              <a:buNone/>
            </a:pPr>
            <a:r>
              <a:rPr lang="en-US" dirty="0" smtClean="0"/>
              <a:t>   </a:t>
            </a:r>
            <a:r>
              <a:rPr lang="en-US" b="1" dirty="0" smtClean="0"/>
              <a:t>for</a:t>
            </a:r>
            <a:r>
              <a:rPr lang="en-US" dirty="0" smtClean="0"/>
              <a:t> each child of node </a:t>
            </a:r>
            <a:r>
              <a:rPr lang="en-US" b="1" dirty="0" smtClean="0"/>
              <a:t>do</a:t>
            </a:r>
            <a:r>
              <a:rPr lang="en-US" dirty="0" smtClean="0"/>
              <a:t>  </a:t>
            </a:r>
          </a:p>
          <a:p>
            <a:pPr lvl="0">
              <a:buNone/>
            </a:pPr>
            <a:r>
              <a:rPr lang="en-US" dirty="0" smtClean="0"/>
              <a:t>   </a:t>
            </a:r>
            <a:r>
              <a:rPr lang="en-US" dirty="0" err="1" smtClean="0"/>
              <a:t>eva</a:t>
            </a:r>
            <a:r>
              <a:rPr lang="en-US" dirty="0" smtClean="0"/>
              <a:t>= </a:t>
            </a:r>
            <a:r>
              <a:rPr lang="en-US" dirty="0" err="1" smtClean="0"/>
              <a:t>minimax</a:t>
            </a:r>
            <a:r>
              <a:rPr lang="en-US" dirty="0" smtClean="0"/>
              <a:t>(child, depth-1, alpha, beta, False)  </a:t>
            </a:r>
          </a:p>
          <a:p>
            <a:pPr lvl="0">
              <a:buNone/>
            </a:pPr>
            <a:r>
              <a:rPr lang="en-US" dirty="0" smtClean="0"/>
              <a:t>  </a:t>
            </a:r>
            <a:r>
              <a:rPr lang="en-US" dirty="0" err="1" smtClean="0"/>
              <a:t>maxEva</a:t>
            </a:r>
            <a:r>
              <a:rPr lang="en-US" dirty="0" smtClean="0"/>
              <a:t>= max(</a:t>
            </a:r>
            <a:r>
              <a:rPr lang="en-US" dirty="0" err="1" smtClean="0"/>
              <a:t>maxEva</a:t>
            </a:r>
            <a:r>
              <a:rPr lang="en-US" dirty="0" smtClean="0"/>
              <a:t>, </a:t>
            </a:r>
            <a:r>
              <a:rPr lang="en-US" dirty="0" err="1" smtClean="0"/>
              <a:t>eva</a:t>
            </a:r>
            <a:r>
              <a:rPr lang="en-US" dirty="0" smtClean="0"/>
              <a:t>)   </a:t>
            </a:r>
          </a:p>
          <a:p>
            <a:pPr lvl="0">
              <a:buNone/>
            </a:pPr>
            <a:r>
              <a:rPr lang="en-US" dirty="0" smtClean="0"/>
              <a:t>  alpha= max(alpha, </a:t>
            </a:r>
            <a:r>
              <a:rPr lang="en-US" dirty="0" err="1" smtClean="0"/>
              <a:t>maxEva</a:t>
            </a:r>
            <a:r>
              <a:rPr lang="en-US" dirty="0" smtClean="0"/>
              <a:t>)      </a:t>
            </a:r>
          </a:p>
          <a:p>
            <a:pPr lvl="0">
              <a:buNone/>
            </a:pPr>
            <a:r>
              <a:rPr lang="en-US" dirty="0" smtClean="0"/>
              <a:t>   </a:t>
            </a:r>
            <a:r>
              <a:rPr lang="en-US" b="1" dirty="0" smtClean="0"/>
              <a:t>if</a:t>
            </a:r>
            <a:r>
              <a:rPr lang="en-US" dirty="0" smtClean="0"/>
              <a:t> beta&lt;=alpha  </a:t>
            </a:r>
          </a:p>
          <a:p>
            <a:pPr lvl="0">
              <a:buNone/>
            </a:pPr>
            <a:r>
              <a:rPr lang="en-US" dirty="0" smtClean="0"/>
              <a:t> </a:t>
            </a:r>
            <a:r>
              <a:rPr lang="en-US" b="1" dirty="0" smtClean="0"/>
              <a:t>break</a:t>
            </a:r>
            <a:r>
              <a:rPr lang="en-US" dirty="0" smtClean="0"/>
              <a:t>  </a:t>
            </a:r>
          </a:p>
          <a:p>
            <a:pPr lvl="0">
              <a:buNone/>
            </a:pPr>
            <a:r>
              <a:rPr lang="en-US" dirty="0" smtClean="0"/>
              <a:t> </a:t>
            </a:r>
            <a:r>
              <a:rPr lang="en-US" b="1" dirty="0" smtClean="0"/>
              <a:t>return</a:t>
            </a:r>
            <a:r>
              <a:rPr lang="en-US" dirty="0" smtClean="0"/>
              <a:t> </a:t>
            </a:r>
            <a:r>
              <a:rPr lang="en-US" dirty="0" err="1" smtClean="0"/>
              <a:t>maxEva</a:t>
            </a:r>
            <a:r>
              <a:rPr lang="en-US" dirty="0" smtClean="0"/>
              <a:t>  </a:t>
            </a:r>
          </a:p>
          <a:p>
            <a:pPr lvl="0">
              <a:buNone/>
            </a:pPr>
            <a:r>
              <a:rPr lang="en-US" dirty="0" smtClean="0"/>
              <a:t>    </a:t>
            </a:r>
          </a:p>
          <a:p>
            <a:pPr lvl="0">
              <a:buNone/>
            </a:pPr>
            <a:r>
              <a:rPr lang="en-US" b="1" dirty="0" smtClean="0"/>
              <a:t>else</a:t>
            </a:r>
            <a:r>
              <a:rPr lang="en-US" dirty="0" smtClean="0"/>
              <a:t>                         // for </a:t>
            </a:r>
            <a:r>
              <a:rPr lang="en-US" dirty="0" err="1" smtClean="0"/>
              <a:t>Minimizer</a:t>
            </a:r>
            <a:r>
              <a:rPr lang="en-US" dirty="0" smtClean="0"/>
              <a:t> player  </a:t>
            </a:r>
          </a:p>
          <a:p>
            <a:pPr lvl="0">
              <a:buNone/>
            </a:pPr>
            <a:r>
              <a:rPr lang="en-US" dirty="0" smtClean="0"/>
              <a:t>   </a:t>
            </a:r>
            <a:r>
              <a:rPr lang="en-US" dirty="0" err="1" smtClean="0"/>
              <a:t>minEva</a:t>
            </a:r>
            <a:r>
              <a:rPr lang="en-US" dirty="0" smtClean="0"/>
              <a:t>= +infinity   </a:t>
            </a:r>
          </a:p>
          <a:p>
            <a:pPr lvl="0">
              <a:buNone/>
            </a:pPr>
            <a:r>
              <a:rPr lang="en-US" dirty="0" smtClean="0"/>
              <a:t>   </a:t>
            </a:r>
            <a:r>
              <a:rPr lang="en-US" b="1" dirty="0" smtClean="0"/>
              <a:t>for</a:t>
            </a:r>
            <a:r>
              <a:rPr lang="en-US" dirty="0" smtClean="0"/>
              <a:t> each child of node </a:t>
            </a:r>
            <a:r>
              <a:rPr lang="en-US" b="1" dirty="0" smtClean="0"/>
              <a:t>do</a:t>
            </a:r>
            <a:r>
              <a:rPr lang="en-US" dirty="0" smtClean="0"/>
              <a:t>  </a:t>
            </a:r>
          </a:p>
          <a:p>
            <a:pPr lvl="0">
              <a:buNone/>
            </a:pPr>
            <a:r>
              <a:rPr lang="en-US" dirty="0" smtClean="0"/>
              <a:t>   </a:t>
            </a:r>
            <a:r>
              <a:rPr lang="en-US" dirty="0" err="1" smtClean="0"/>
              <a:t>eva</a:t>
            </a:r>
            <a:r>
              <a:rPr lang="en-US" dirty="0" smtClean="0"/>
              <a:t>= </a:t>
            </a:r>
            <a:r>
              <a:rPr lang="en-US" dirty="0" err="1" smtClean="0"/>
              <a:t>minimax</a:t>
            </a:r>
            <a:r>
              <a:rPr lang="en-US" dirty="0" smtClean="0"/>
              <a:t>(child, depth-1, alpha, beta, </a:t>
            </a:r>
            <a:r>
              <a:rPr lang="en-US" b="1" dirty="0" smtClean="0"/>
              <a:t>true</a:t>
            </a:r>
            <a:r>
              <a:rPr lang="en-US" dirty="0" smtClean="0"/>
              <a:t>)  </a:t>
            </a:r>
          </a:p>
          <a:p>
            <a:pPr lvl="0">
              <a:buNone/>
            </a:pPr>
            <a:r>
              <a:rPr lang="en-US" dirty="0" smtClean="0"/>
              <a:t>   </a:t>
            </a:r>
            <a:r>
              <a:rPr lang="en-US" dirty="0" err="1" smtClean="0"/>
              <a:t>minEva</a:t>
            </a:r>
            <a:r>
              <a:rPr lang="en-US" dirty="0" smtClean="0"/>
              <a:t>= min(</a:t>
            </a:r>
            <a:r>
              <a:rPr lang="en-US" dirty="0" err="1" smtClean="0"/>
              <a:t>minEva</a:t>
            </a:r>
            <a:r>
              <a:rPr lang="en-US" dirty="0" smtClean="0"/>
              <a:t>, </a:t>
            </a:r>
            <a:r>
              <a:rPr lang="en-US" dirty="0" err="1" smtClean="0"/>
              <a:t>eva</a:t>
            </a:r>
            <a:r>
              <a:rPr lang="en-US" dirty="0" smtClean="0"/>
              <a:t>)   </a:t>
            </a:r>
          </a:p>
          <a:p>
            <a:pPr lvl="0">
              <a:buNone/>
            </a:pPr>
            <a:r>
              <a:rPr lang="en-US" dirty="0" smtClean="0"/>
              <a:t>   beta= min(beta, </a:t>
            </a:r>
            <a:r>
              <a:rPr lang="en-US" dirty="0" err="1" smtClean="0"/>
              <a:t>eva</a:t>
            </a:r>
            <a:r>
              <a:rPr lang="en-US" dirty="0" smtClean="0"/>
              <a:t>)  </a:t>
            </a:r>
          </a:p>
          <a:p>
            <a:pPr lvl="0">
              <a:buNone/>
            </a:pPr>
            <a:r>
              <a:rPr lang="en-US" dirty="0" smtClean="0"/>
              <a:t>    </a:t>
            </a:r>
            <a:r>
              <a:rPr lang="en-US" b="1" dirty="0" smtClean="0"/>
              <a:t>if</a:t>
            </a:r>
            <a:r>
              <a:rPr lang="en-US" dirty="0" smtClean="0"/>
              <a:t> beta&lt;=alpha  </a:t>
            </a:r>
          </a:p>
          <a:p>
            <a:pPr lvl="0">
              <a:buNone/>
            </a:pPr>
            <a:r>
              <a:rPr lang="en-US" dirty="0" smtClean="0"/>
              <a:t>  </a:t>
            </a:r>
            <a:r>
              <a:rPr lang="en-US" b="1" dirty="0" smtClean="0"/>
              <a:t>break</a:t>
            </a:r>
            <a:r>
              <a:rPr lang="en-US" dirty="0" smtClean="0"/>
              <a:t>          </a:t>
            </a:r>
          </a:p>
          <a:p>
            <a:pPr lvl="0">
              <a:buNone/>
            </a:pPr>
            <a:r>
              <a:rPr lang="en-US" b="1" dirty="0" smtClean="0"/>
              <a:t>return</a:t>
            </a:r>
            <a:r>
              <a:rPr lang="en-US" dirty="0" smtClean="0"/>
              <a:t> </a:t>
            </a:r>
            <a:r>
              <a:rPr lang="en-US" dirty="0" err="1" smtClean="0"/>
              <a:t>minEva</a:t>
            </a:r>
            <a:r>
              <a:rPr lang="en-US" dirty="0" smtClean="0"/>
              <a:t>  </a:t>
            </a:r>
          </a:p>
          <a:p>
            <a:endParaRPr lang="en-US" dirty="0"/>
          </a:p>
        </p:txBody>
      </p:sp>
      <p:sp>
        <p:nvSpPr>
          <p:cNvPr id="11265" name="Rectangle 1"/>
          <p:cNvSpPr>
            <a:spLocks noChangeArrowheads="1"/>
          </p:cNvSpPr>
          <p:nvPr/>
        </p:nvSpPr>
        <p:spPr bwMode="auto">
          <a:xfrm>
            <a:off x="0" y="0"/>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Alpha-beta Pruning:</a:t>
            </a:r>
            <a:endParaRPr lang="en-US" dirty="0"/>
          </a:p>
        </p:txBody>
      </p:sp>
      <p:pic>
        <p:nvPicPr>
          <p:cNvPr id="4" name="Picture 3" descr="Alpha-Beta Pruning"/>
          <p:cNvPicPr/>
          <p:nvPr/>
        </p:nvPicPr>
        <p:blipFill>
          <a:blip r:embed="rId2">
            <a:extLst>
              <a:ext uri="{28A0092B-C50C-407E-A947-70E740481C1C}">
                <a14:useLocalDpi xmlns:ve="http://schemas.openxmlformats.org/markup-compatibility/2006" xmlns:m="http://schemas.openxmlformats.org/officeDocument/2006/math" xmlns:wp="http://schemas.openxmlformats.org/drawingml/2006/wordprocessingDrawing" xmlns:wne="http://schemas.microsoft.com/office/word/2006/wordml" xmlns="" xmlns:wpc="http://schemas.microsoft.com/office/word/2010/wordprocessingCanvas" xmlns:mc="http://schemas.openxmlformats.org/markup-compatibility/2006" xmlns:o="urn:schemas-microsoft-com:office:office" xmlns:v="urn:schemas-microsoft-com:vml" xmlns:wp14="http://schemas.microsoft.com/office/word/2010/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ps="http://schemas.microsoft.com/office/word/2010/wordprocessingShape" xmlns:a14="http://schemas.microsoft.com/office/drawing/2010/main" xmlns:pic="http://schemas.openxmlformats.org/drawingml/2006/picture" xmlns:lc="http://schemas.openxmlformats.org/drawingml/2006/lockedCanvas" val="0"/>
              </a:ext>
            </a:extLst>
          </a:blip>
          <a:srcRect/>
          <a:stretch>
            <a:fillRect/>
          </a:stretch>
        </p:blipFill>
        <p:spPr bwMode="auto">
          <a:xfrm>
            <a:off x="838200" y="1371600"/>
            <a:ext cx="7620000" cy="4714875"/>
          </a:xfrm>
          <a:prstGeom prst="rect">
            <a:avLst/>
          </a:prstGeom>
          <a:noFill/>
          <a:ln>
            <a:noFill/>
          </a:ln>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smtClean="0"/>
              <a:t>Alpha-beta Pruning:</a:t>
            </a:r>
            <a:br>
              <a:rPr lang="en-US" dirty="0" smtClean="0"/>
            </a:br>
            <a:endParaRPr lang="en-US" dirty="0"/>
          </a:p>
        </p:txBody>
      </p:sp>
      <p:sp>
        <p:nvSpPr>
          <p:cNvPr id="3" name="Content Placeholder 2"/>
          <p:cNvSpPr>
            <a:spLocks noGrp="1"/>
          </p:cNvSpPr>
          <p:nvPr>
            <p:ph idx="1"/>
          </p:nvPr>
        </p:nvSpPr>
        <p:spPr>
          <a:xfrm>
            <a:off x="457200" y="609600"/>
            <a:ext cx="8229600" cy="5516563"/>
          </a:xfrm>
        </p:spPr>
        <p:txBody>
          <a:bodyPr>
            <a:normAutofit fontScale="85000" lnSpcReduction="10000"/>
          </a:bodyPr>
          <a:lstStyle/>
          <a:p>
            <a:pPr>
              <a:buNone/>
            </a:pPr>
            <a:r>
              <a:rPr lang="en-US" b="1" dirty="0" smtClean="0"/>
              <a:t>Step 1:</a:t>
            </a:r>
            <a:r>
              <a:rPr lang="en-US" dirty="0" smtClean="0"/>
              <a:t> At the first step the, Max player will start first move from node A where α= -∞ and β= +∞, these value of alpha and beta passed down to node B where again α= -∞ and β= +∞, and Node B passes the same value to its child D.</a:t>
            </a:r>
          </a:p>
          <a:p>
            <a:pPr>
              <a:buNone/>
            </a:pPr>
            <a:r>
              <a:rPr lang="en-US" b="1" dirty="0" smtClean="0"/>
              <a:t>Step 2:</a:t>
            </a:r>
            <a:r>
              <a:rPr lang="en-US" dirty="0" smtClean="0"/>
              <a:t> At Node D, the value of α will be calculated as its turn for Max. The value of α is compared with firstly 2 and then 3, and the max (2, 3) = 3 will be the value of α at node D and node value will also 3.</a:t>
            </a:r>
          </a:p>
          <a:p>
            <a:pPr>
              <a:buNone/>
            </a:pPr>
            <a:r>
              <a:rPr lang="en-US" b="1" dirty="0" smtClean="0"/>
              <a:t>Step 3:</a:t>
            </a:r>
            <a:r>
              <a:rPr lang="en-US" dirty="0" smtClean="0"/>
              <a:t> Now algorithm backtrack to node B, where the value of β will change as this is a turn of Min, Now β= +∞, will compare with the available subsequent nodes value, i.e. min (∞, 3) = 3, hence at node B now α= -∞, and β= 3.</a:t>
            </a:r>
          </a:p>
          <a:p>
            <a:pPr>
              <a:buNone/>
            </a:pPr>
            <a:endParaRPr lang="en-US" dirty="0" smtClean="0"/>
          </a:p>
          <a:p>
            <a:endParaRPr lang="en-US"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Alpha-beta Pruning:</a:t>
            </a:r>
            <a:br>
              <a:rPr lang="en-US" dirty="0" smtClean="0"/>
            </a:br>
            <a:endParaRPr lang="en-US" dirty="0"/>
          </a:p>
        </p:txBody>
      </p:sp>
      <p:pic>
        <p:nvPicPr>
          <p:cNvPr id="4" name="Content Placeholder 3" descr="Alpha-Beta Pruning"/>
          <p:cNvPicPr>
            <a:picLocks noGrp="1"/>
          </p:cNvPicPr>
          <p:nvPr>
            <p:ph idx="1"/>
          </p:nvPr>
        </p:nvPicPr>
        <p:blipFill>
          <a:blip r:embed="rId2">
            <a:extLst>
              <a:ext uri="{28A0092B-C50C-407E-A947-70E740481C1C}">
                <a14:useLocalDpi xmlns:ve="http://schemas.openxmlformats.org/markup-compatibility/2006" xmlns:m="http://schemas.openxmlformats.org/officeDocument/2006/math" xmlns:wp="http://schemas.openxmlformats.org/drawingml/2006/wordprocessingDrawing" xmlns:wne="http://schemas.microsoft.com/office/word/2006/wordml" xmlns="" xmlns:wpc="http://schemas.microsoft.com/office/word/2010/wordprocessingCanvas" xmlns:mc="http://schemas.openxmlformats.org/markup-compatibility/2006" xmlns:o="urn:schemas-microsoft-com:office:office" xmlns:v="urn:schemas-microsoft-com:vml" xmlns:wp14="http://schemas.microsoft.com/office/word/2010/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ps="http://schemas.microsoft.com/office/word/2010/wordprocessingShape" xmlns:a14="http://schemas.microsoft.com/office/drawing/2010/main" xmlns:pic="http://schemas.openxmlformats.org/drawingml/2006/picture" xmlns:lc="http://schemas.openxmlformats.org/drawingml/2006/lockedCanvas" val="0"/>
              </a:ext>
            </a:extLst>
          </a:blip>
          <a:srcRect/>
          <a:stretch>
            <a:fillRect/>
          </a:stretch>
        </p:blipFill>
        <p:spPr bwMode="auto">
          <a:xfrm>
            <a:off x="609600" y="914400"/>
            <a:ext cx="7924799" cy="5791200"/>
          </a:xfrm>
          <a:prstGeom prst="rect">
            <a:avLst/>
          </a:prstGeom>
          <a:noFill/>
          <a:ln>
            <a:noFill/>
          </a:ln>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Alpha-beta Pruning:</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In the next step, algorithm traverse the next successor of Node B which is node E, and the values of α= -∞, and β= 3 will also be passed.</a:t>
            </a:r>
          </a:p>
          <a:p>
            <a:r>
              <a:rPr lang="en-US" b="1" dirty="0" smtClean="0"/>
              <a:t>Step 4:</a:t>
            </a:r>
            <a:r>
              <a:rPr lang="en-US" dirty="0" smtClean="0"/>
              <a:t> At node E, Max will take its turn, and the value of alpha will change. The current value of alpha will be compared with 5, so max (-∞, 5) = 5, hence at node E α= 5 and β= 3, where α&gt;=β, so the right successor of E will be pruned, and algorithm will not traverse it, and the value at node E will be 5.</a:t>
            </a:r>
          </a:p>
          <a:p>
            <a:endParaRPr lang="en-US"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Alpha-beta Pruning:</a:t>
            </a:r>
            <a:endParaRPr lang="en-US" dirty="0"/>
          </a:p>
        </p:txBody>
      </p:sp>
      <p:pic>
        <p:nvPicPr>
          <p:cNvPr id="4" name="Picture 3" descr="Alpha-Beta Pruning"/>
          <p:cNvPicPr/>
          <p:nvPr/>
        </p:nvPicPr>
        <p:blipFill>
          <a:blip r:embed="rId2">
            <a:extLst>
              <a:ext uri="{28A0092B-C50C-407E-A947-70E740481C1C}">
                <a14:useLocalDpi xmlns:ve="http://schemas.openxmlformats.org/markup-compatibility/2006" xmlns:m="http://schemas.openxmlformats.org/officeDocument/2006/math" xmlns:wp="http://schemas.openxmlformats.org/drawingml/2006/wordprocessingDrawing" xmlns:wne="http://schemas.microsoft.com/office/word/2006/wordml" xmlns="" xmlns:wpc="http://schemas.microsoft.com/office/word/2010/wordprocessingCanvas" xmlns:mc="http://schemas.openxmlformats.org/markup-compatibility/2006" xmlns:o="urn:schemas-microsoft-com:office:office" xmlns:v="urn:schemas-microsoft-com:vml" xmlns:wp14="http://schemas.microsoft.com/office/word/2010/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ps="http://schemas.microsoft.com/office/word/2010/wordprocessingShape" xmlns:a14="http://schemas.microsoft.com/office/drawing/2010/main" xmlns:pic="http://schemas.openxmlformats.org/drawingml/2006/picture" xmlns:lc="http://schemas.openxmlformats.org/drawingml/2006/lockedCanvas" val="0"/>
              </a:ext>
            </a:extLst>
          </a:blip>
          <a:srcRect/>
          <a:stretch>
            <a:fillRect/>
          </a:stretch>
        </p:blipFill>
        <p:spPr bwMode="auto">
          <a:xfrm>
            <a:off x="457200" y="1300162"/>
            <a:ext cx="8153400" cy="5557838"/>
          </a:xfrm>
          <a:prstGeom prst="rect">
            <a:avLst/>
          </a:prstGeom>
          <a:noFill/>
          <a:ln>
            <a:noFill/>
          </a:ln>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Alpha-beta Pruning:</a:t>
            </a:r>
            <a:endParaRPr lang="en-US" dirty="0"/>
          </a:p>
        </p:txBody>
      </p:sp>
      <p:sp>
        <p:nvSpPr>
          <p:cNvPr id="3" name="Content Placeholder 2"/>
          <p:cNvSpPr>
            <a:spLocks noGrp="1"/>
          </p:cNvSpPr>
          <p:nvPr>
            <p:ph idx="1"/>
          </p:nvPr>
        </p:nvSpPr>
        <p:spPr>
          <a:xfrm>
            <a:off x="457200" y="1143000"/>
            <a:ext cx="8229600" cy="5410200"/>
          </a:xfrm>
        </p:spPr>
        <p:txBody>
          <a:bodyPr>
            <a:normAutofit fontScale="92500" lnSpcReduction="20000"/>
          </a:bodyPr>
          <a:lstStyle/>
          <a:p>
            <a:r>
              <a:rPr lang="en-US" b="1" dirty="0" smtClean="0"/>
              <a:t>Step 5:</a:t>
            </a:r>
            <a:r>
              <a:rPr lang="en-US" dirty="0" smtClean="0"/>
              <a:t> At next step, algorithm again backtrack the tree, from node B to node A. At node A, the value of alpha will be changed the maximum available value is 3 as max (-∞, 3)= 3, and β= +∞, these two values now passes to right successor of A which is Node C.</a:t>
            </a:r>
          </a:p>
          <a:p>
            <a:pPr>
              <a:buNone/>
            </a:pPr>
            <a:r>
              <a:rPr lang="en-US" dirty="0" smtClean="0"/>
              <a:t>	At node C, α=3 and β= +∞, and the same values will be passed on to node F.</a:t>
            </a:r>
          </a:p>
          <a:p>
            <a:r>
              <a:rPr lang="en-US" b="1" dirty="0" smtClean="0"/>
              <a:t>Step 6:</a:t>
            </a:r>
            <a:r>
              <a:rPr lang="en-US" dirty="0" smtClean="0"/>
              <a:t> At node F, again the value of α will be compared with left child which is 0, and max(3,0)= 3, and then compared with right child which is 1, and max(3,1)= 3 still α remains 3, but the node value of F will become 1.</a:t>
            </a:r>
          </a:p>
          <a:p>
            <a:endParaRPr lang="en-US" dirty="0" smtClean="0"/>
          </a:p>
          <a:p>
            <a:endParaRPr lang="en-US"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Alpha-beta Pruning:</a:t>
            </a:r>
            <a:endParaRPr lang="en-US" dirty="0"/>
          </a:p>
        </p:txBody>
      </p:sp>
      <p:pic>
        <p:nvPicPr>
          <p:cNvPr id="4" name="Picture 3" descr="Alpha-Beta Pruning"/>
          <p:cNvPicPr/>
          <p:nvPr/>
        </p:nvPicPr>
        <p:blipFill>
          <a:blip r:embed="rId2">
            <a:extLst>
              <a:ext uri="{28A0092B-C50C-407E-A947-70E740481C1C}">
                <a14:useLocalDpi xmlns:ve="http://schemas.openxmlformats.org/markup-compatibility/2006" xmlns:m="http://schemas.openxmlformats.org/officeDocument/2006/math" xmlns:wp="http://schemas.openxmlformats.org/drawingml/2006/wordprocessingDrawing" xmlns:wne="http://schemas.microsoft.com/office/word/2006/wordml" xmlns="" xmlns:wpc="http://schemas.microsoft.com/office/word/2010/wordprocessingCanvas" xmlns:mc="http://schemas.openxmlformats.org/markup-compatibility/2006" xmlns:o="urn:schemas-microsoft-com:office:office" xmlns:v="urn:schemas-microsoft-com:vml" xmlns:wp14="http://schemas.microsoft.com/office/word/2010/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ps="http://schemas.microsoft.com/office/word/2010/wordprocessingShape" xmlns:a14="http://schemas.microsoft.com/office/drawing/2010/main" xmlns:pic="http://schemas.openxmlformats.org/drawingml/2006/picture" xmlns:lc="http://schemas.openxmlformats.org/drawingml/2006/lockedCanvas" val="0"/>
              </a:ext>
            </a:extLst>
          </a:blip>
          <a:srcRect/>
          <a:stretch>
            <a:fillRect/>
          </a:stretch>
        </p:blipFill>
        <p:spPr bwMode="auto">
          <a:xfrm>
            <a:off x="152400" y="1371600"/>
            <a:ext cx="8382000" cy="5334000"/>
          </a:xfrm>
          <a:prstGeom prst="rect">
            <a:avLst/>
          </a:prstGeom>
          <a:noFill/>
          <a:ln>
            <a:noFill/>
          </a:ln>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Alpha-beta Pruning:</a:t>
            </a:r>
            <a:endParaRPr lang="en-US" dirty="0"/>
          </a:p>
        </p:txBody>
      </p:sp>
      <p:pic>
        <p:nvPicPr>
          <p:cNvPr id="4" name="Picture 3" descr="Alpha-Beta Pruning"/>
          <p:cNvPicPr/>
          <p:nvPr/>
        </p:nvPicPr>
        <p:blipFill>
          <a:blip r:embed="rId2">
            <a:extLst>
              <a:ext uri="{28A0092B-C50C-407E-A947-70E740481C1C}">
                <a14:useLocalDpi xmlns:ve="http://schemas.openxmlformats.org/markup-compatibility/2006" xmlns:m="http://schemas.openxmlformats.org/officeDocument/2006/math" xmlns:wp="http://schemas.openxmlformats.org/drawingml/2006/wordprocessingDrawing" xmlns:wne="http://schemas.microsoft.com/office/word/2006/wordml" xmlns="" xmlns:wpc="http://schemas.microsoft.com/office/word/2010/wordprocessingCanvas" xmlns:mc="http://schemas.openxmlformats.org/markup-compatibility/2006" xmlns:o="urn:schemas-microsoft-com:office:office" xmlns:v="urn:schemas-microsoft-com:vml" xmlns:wp14="http://schemas.microsoft.com/office/word/2010/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ps="http://schemas.microsoft.com/office/word/2010/wordprocessingShape" xmlns:a14="http://schemas.microsoft.com/office/drawing/2010/main" xmlns:pic="http://schemas.openxmlformats.org/drawingml/2006/picture" xmlns:lc="http://schemas.openxmlformats.org/drawingml/2006/lockedCanvas" val="0"/>
              </a:ext>
            </a:extLst>
          </a:blip>
          <a:srcRect/>
          <a:stretch>
            <a:fillRect/>
          </a:stretch>
        </p:blipFill>
        <p:spPr bwMode="auto">
          <a:xfrm>
            <a:off x="609600" y="1524000"/>
            <a:ext cx="8267700" cy="5334000"/>
          </a:xfrm>
          <a:prstGeom prst="rect">
            <a:avLst/>
          </a:prstGeom>
          <a:noFill/>
          <a:ln>
            <a:noFill/>
          </a:ln>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Alpha-beta Pruning:</a:t>
            </a:r>
            <a:endParaRPr lang="en-US" dirty="0"/>
          </a:p>
        </p:txBody>
      </p:sp>
      <p:sp>
        <p:nvSpPr>
          <p:cNvPr id="3" name="Content Placeholder 2"/>
          <p:cNvSpPr>
            <a:spLocks noGrp="1"/>
          </p:cNvSpPr>
          <p:nvPr>
            <p:ph idx="1"/>
          </p:nvPr>
        </p:nvSpPr>
        <p:spPr/>
        <p:txBody>
          <a:bodyPr>
            <a:normAutofit fontScale="85000" lnSpcReduction="20000"/>
          </a:bodyPr>
          <a:lstStyle/>
          <a:p>
            <a:r>
              <a:rPr lang="en-US" b="1" dirty="0" smtClean="0"/>
              <a:t>Step 7:</a:t>
            </a:r>
            <a:r>
              <a:rPr lang="en-US" dirty="0" smtClean="0"/>
              <a:t> Node F returns the node value 1 to node C, at C α= 3 and β= +∞, here the value of beta will be changed, it will compare with 1 so min (∞, 1) = 1. Now at C, α=3 and β= 1, and again it satisfies the condition α&gt;=β, so the next child of C which is G will be pruned, and the algorithm will not compute the entire sub-tree G.</a:t>
            </a:r>
          </a:p>
          <a:p>
            <a:r>
              <a:rPr lang="en-US" b="1" dirty="0" smtClean="0"/>
              <a:t>Step 8:</a:t>
            </a:r>
            <a:r>
              <a:rPr lang="en-US" dirty="0" smtClean="0"/>
              <a:t> C now returns the value of 1 to A here the best value for A is max (3, 1) = 3. Following is the final game tree which is the showing the nodes which are computed and nodes which has never computed. Hence the optimal value for the </a:t>
            </a:r>
            <a:r>
              <a:rPr lang="en-US" dirty="0" err="1" smtClean="0"/>
              <a:t>maximizer</a:t>
            </a:r>
            <a:r>
              <a:rPr lang="en-US" dirty="0" smtClean="0"/>
              <a:t> is 3 for this example.</a:t>
            </a:r>
          </a:p>
          <a:p>
            <a:endParaRPr lang="en-US" dirty="0" smtClean="0"/>
          </a:p>
          <a:p>
            <a:endParaRPr lang="en-US"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Alpha-beta Pruning:</a:t>
            </a:r>
            <a:endParaRPr lang="en-US" dirty="0"/>
          </a:p>
        </p:txBody>
      </p:sp>
      <p:pic>
        <p:nvPicPr>
          <p:cNvPr id="4" name="Picture 3" descr="Alpha-Beta Pruning"/>
          <p:cNvPicPr/>
          <p:nvPr/>
        </p:nvPicPr>
        <p:blipFill>
          <a:blip r:embed="rId2">
            <a:extLst>
              <a:ext uri="{28A0092B-C50C-407E-A947-70E740481C1C}">
                <a14:useLocalDpi xmlns:ve="http://schemas.openxmlformats.org/markup-compatibility/2006" xmlns:m="http://schemas.openxmlformats.org/officeDocument/2006/math" xmlns:wp="http://schemas.openxmlformats.org/drawingml/2006/wordprocessingDrawing" xmlns:wne="http://schemas.microsoft.com/office/word/2006/wordml" xmlns="" xmlns:wpc="http://schemas.microsoft.com/office/word/2010/wordprocessingCanvas" xmlns:mc="http://schemas.openxmlformats.org/markup-compatibility/2006" xmlns:o="urn:schemas-microsoft-com:office:office" xmlns:v="urn:schemas-microsoft-com:vml" xmlns:wp14="http://schemas.microsoft.com/office/word/2010/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ps="http://schemas.microsoft.com/office/word/2010/wordprocessingShape" xmlns:a14="http://schemas.microsoft.com/office/drawing/2010/main" xmlns:pic="http://schemas.openxmlformats.org/drawingml/2006/picture" xmlns:lc="http://schemas.openxmlformats.org/drawingml/2006/lockedCanvas" val="0"/>
              </a:ext>
            </a:extLst>
          </a:blip>
          <a:srcRect/>
          <a:stretch>
            <a:fillRect/>
          </a:stretch>
        </p:blipFill>
        <p:spPr bwMode="auto">
          <a:xfrm>
            <a:off x="533400" y="1300162"/>
            <a:ext cx="8001000" cy="5557838"/>
          </a:xfrm>
          <a:prstGeom prst="rect">
            <a:avLst/>
          </a:prstGeom>
          <a:noFill/>
          <a:ln>
            <a:noFill/>
          </a:ln>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Alpha-beta Pruning:</a:t>
            </a:r>
            <a:endParaRPr lang="en-US" dirty="0"/>
          </a:p>
        </p:txBody>
      </p:sp>
      <p:pic>
        <p:nvPicPr>
          <p:cNvPr id="4" name="Content Placeholder 3" descr="Alpha-Beta Pruning"/>
          <p:cNvPicPr>
            <a:picLocks noGrp="1"/>
          </p:cNvPicPr>
          <p:nvPr>
            <p:ph idx="1"/>
          </p:nvPr>
        </p:nvPicPr>
        <p:blipFill>
          <a:blip r:embed="rId2">
            <a:extLst>
              <a:ext uri="{28A0092B-C50C-407E-A947-70E740481C1C}">
                <a14:useLocalDpi xmlns:ve="http://schemas.openxmlformats.org/markup-compatibility/2006" xmlns:m="http://schemas.openxmlformats.org/officeDocument/2006/math" xmlns:wp="http://schemas.openxmlformats.org/drawingml/2006/wordprocessingDrawing" xmlns:wne="http://schemas.microsoft.com/office/word/2006/wordml" xmlns="" xmlns:wpc="http://schemas.microsoft.com/office/word/2010/wordprocessingCanvas" xmlns:mc="http://schemas.openxmlformats.org/markup-compatibility/2006" xmlns:o="urn:schemas-microsoft-com:office:office" xmlns:v="urn:schemas-microsoft-com:vml" xmlns:wp14="http://schemas.microsoft.com/office/word/2010/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ps="http://schemas.microsoft.com/office/word/2010/wordprocessingShape" xmlns:a14="http://schemas.microsoft.com/office/drawing/2010/main" xmlns:pic="http://schemas.openxmlformats.org/drawingml/2006/picture" xmlns:lc="http://schemas.openxmlformats.org/drawingml/2006/lockedCanvas" val="0"/>
              </a:ext>
            </a:extLst>
          </a:blip>
          <a:srcRect/>
          <a:stretch>
            <a:fillRect/>
          </a:stretch>
        </p:blipFill>
        <p:spPr bwMode="auto">
          <a:xfrm>
            <a:off x="685800" y="1219200"/>
            <a:ext cx="8077199" cy="5410200"/>
          </a:xfrm>
          <a:prstGeom prst="rect">
            <a:avLst/>
          </a:prstGeom>
          <a:noFill/>
          <a:ln>
            <a:noFill/>
          </a:ln>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1304</TotalTime>
  <Words>1396</Words>
  <Application>Microsoft Office PowerPoint</Application>
  <PresentationFormat>On-screen Show (4:3)</PresentationFormat>
  <Paragraphs>227</Paragraphs>
  <Slides>46</Slides>
  <Notes>4</Notes>
  <HiddenSlides>0</HiddenSlides>
  <MMClips>0</MMClips>
  <ScaleCrop>false</ScaleCrop>
  <HeadingPairs>
    <vt:vector size="4" baseType="variant">
      <vt:variant>
        <vt:lpstr>Theme</vt:lpstr>
      </vt:variant>
      <vt:variant>
        <vt:i4>1</vt:i4>
      </vt:variant>
      <vt:variant>
        <vt:lpstr>Slide Titles</vt:lpstr>
      </vt:variant>
      <vt:variant>
        <vt:i4>46</vt:i4>
      </vt:variant>
    </vt:vector>
  </HeadingPairs>
  <TitlesOfParts>
    <vt:vector size="47" baseType="lpstr">
      <vt:lpstr>Office Theme</vt:lpstr>
      <vt:lpstr>Slide 1</vt:lpstr>
      <vt:lpstr>Constraint Satisfaction problems-</vt:lpstr>
      <vt:lpstr>Constraint Satisfaction problems-</vt:lpstr>
      <vt:lpstr>Constraint Satisfaction problems-</vt:lpstr>
      <vt:lpstr>Constraint Satisfaction problems-</vt:lpstr>
      <vt:lpstr>Constraint Satisfaction problems-</vt:lpstr>
      <vt:lpstr>Example: Map-Coloring</vt:lpstr>
      <vt:lpstr>Example: Map-Coloring</vt:lpstr>
      <vt:lpstr>Constraint graph</vt:lpstr>
      <vt:lpstr>Example: Cryptarithmetic</vt:lpstr>
      <vt:lpstr>Sudoku puzzle</vt:lpstr>
      <vt:lpstr>Adversarial Search </vt:lpstr>
      <vt:lpstr>Game Playing: Adversarial search</vt:lpstr>
      <vt:lpstr>Type of Games</vt:lpstr>
      <vt:lpstr>Type of Games</vt:lpstr>
      <vt:lpstr>Adversarial search</vt:lpstr>
      <vt:lpstr>Formalization of the problem: </vt:lpstr>
      <vt:lpstr>Game tree: </vt:lpstr>
      <vt:lpstr>Slide 19</vt:lpstr>
      <vt:lpstr>Slide 20</vt:lpstr>
      <vt:lpstr>Slide 21</vt:lpstr>
      <vt:lpstr>Slide 22</vt:lpstr>
      <vt:lpstr>Slide 23</vt:lpstr>
      <vt:lpstr>Min-Max Algorithm </vt:lpstr>
      <vt:lpstr>Pseudo-code for MinMax Algorithm: </vt:lpstr>
      <vt:lpstr>Properties of Mini-Max algorithm: </vt:lpstr>
      <vt:lpstr>Example</vt:lpstr>
      <vt:lpstr>Slide 28</vt:lpstr>
      <vt:lpstr>Slide 29</vt:lpstr>
      <vt:lpstr>Limitation of the minimax Algorithm: </vt:lpstr>
      <vt:lpstr>Alpha-Beta Pruning </vt:lpstr>
      <vt:lpstr>Alpha-Beta Pruning </vt:lpstr>
      <vt:lpstr>Alpha-Beta Pruning</vt:lpstr>
      <vt:lpstr>Slide 34</vt:lpstr>
      <vt:lpstr>Pseudo-code for Alpha-beta Pruning: </vt:lpstr>
      <vt:lpstr>Alpha-beta Pruning:</vt:lpstr>
      <vt:lpstr>Alpha-beta Pruning: </vt:lpstr>
      <vt:lpstr>Alpha-beta Pruning: </vt:lpstr>
      <vt:lpstr>Alpha-beta Pruning:</vt:lpstr>
      <vt:lpstr>Alpha-beta Pruning:</vt:lpstr>
      <vt:lpstr>Alpha-beta Pruning:</vt:lpstr>
      <vt:lpstr>Alpha-beta Pruning:</vt:lpstr>
      <vt:lpstr>Alpha-beta Pruning:</vt:lpstr>
      <vt:lpstr>Alpha-beta Pruning:</vt:lpstr>
      <vt:lpstr>Alpha-beta Pruning:</vt:lpstr>
      <vt:lpstr>Alpha-beta Pruning:</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Windows User</cp:lastModifiedBy>
  <cp:revision>63</cp:revision>
  <dcterms:created xsi:type="dcterms:W3CDTF">2006-08-16T00:00:00Z</dcterms:created>
  <dcterms:modified xsi:type="dcterms:W3CDTF">2025-03-20T05:38:13Z</dcterms:modified>
</cp:coreProperties>
</file>