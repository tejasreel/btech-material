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2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 u="heavy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 u="heavy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5" y="6324599"/>
            <a:ext cx="12186285" cy="533400"/>
          </a:xfrm>
          <a:custGeom>
            <a:avLst/>
            <a:gdLst/>
            <a:ahLst/>
            <a:cxnLst/>
            <a:rect l="l" t="t" r="r" b="b"/>
            <a:pathLst>
              <a:path w="12186285" h="533400">
                <a:moveTo>
                  <a:pt x="12185904" y="533399"/>
                </a:moveTo>
                <a:lnTo>
                  <a:pt x="12185904" y="0"/>
                </a:lnTo>
                <a:lnTo>
                  <a:pt x="0" y="0"/>
                </a:lnTo>
                <a:lnTo>
                  <a:pt x="0" y="533399"/>
                </a:lnTo>
                <a:lnTo>
                  <a:pt x="12185904" y="533399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52400"/>
          </a:xfrm>
          <a:custGeom>
            <a:avLst/>
            <a:gdLst/>
            <a:ahLst/>
            <a:cxnLst/>
            <a:rect l="l" t="t" r="r" b="b"/>
            <a:pathLst>
              <a:path w="12192000" h="152400">
                <a:moveTo>
                  <a:pt x="12192000" y="0"/>
                </a:moveTo>
                <a:lnTo>
                  <a:pt x="0" y="0"/>
                </a:lnTo>
                <a:lnTo>
                  <a:pt x="0" y="152400"/>
                </a:lnTo>
                <a:lnTo>
                  <a:pt x="12192000" y="1524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288" y="429768"/>
            <a:ext cx="977753" cy="7528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" y="6352032"/>
            <a:ext cx="1642872" cy="3657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 u="heavy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5" y="6324599"/>
            <a:ext cx="12186285" cy="533400"/>
          </a:xfrm>
          <a:custGeom>
            <a:avLst/>
            <a:gdLst/>
            <a:ahLst/>
            <a:cxnLst/>
            <a:rect l="l" t="t" r="r" b="b"/>
            <a:pathLst>
              <a:path w="12186285" h="533400">
                <a:moveTo>
                  <a:pt x="12185904" y="533399"/>
                </a:moveTo>
                <a:lnTo>
                  <a:pt x="12185904" y="0"/>
                </a:lnTo>
                <a:lnTo>
                  <a:pt x="0" y="0"/>
                </a:lnTo>
                <a:lnTo>
                  <a:pt x="0" y="533399"/>
                </a:lnTo>
                <a:lnTo>
                  <a:pt x="12185904" y="533399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52400"/>
          </a:xfrm>
          <a:custGeom>
            <a:avLst/>
            <a:gdLst/>
            <a:ahLst/>
            <a:cxnLst/>
            <a:rect l="l" t="t" r="r" b="b"/>
            <a:pathLst>
              <a:path w="12192000" h="152400">
                <a:moveTo>
                  <a:pt x="12192000" y="0"/>
                </a:moveTo>
                <a:lnTo>
                  <a:pt x="0" y="0"/>
                </a:lnTo>
                <a:lnTo>
                  <a:pt x="0" y="152400"/>
                </a:lnTo>
                <a:lnTo>
                  <a:pt x="12192000" y="1524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34288" y="429768"/>
            <a:ext cx="977753" cy="7528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840" y="6352032"/>
            <a:ext cx="1642872" cy="36576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524" y="1194815"/>
            <a:ext cx="12192000" cy="52069"/>
          </a:xfrm>
          <a:custGeom>
            <a:avLst/>
            <a:gdLst/>
            <a:ahLst/>
            <a:cxnLst/>
            <a:rect l="l" t="t" r="r" b="b"/>
            <a:pathLst>
              <a:path w="12192000" h="52069">
                <a:moveTo>
                  <a:pt x="12192000" y="34544"/>
                </a:moveTo>
                <a:lnTo>
                  <a:pt x="12190476" y="34544"/>
                </a:lnTo>
                <a:lnTo>
                  <a:pt x="6096" y="34544"/>
                </a:lnTo>
                <a:lnTo>
                  <a:pt x="0" y="34544"/>
                </a:lnTo>
                <a:lnTo>
                  <a:pt x="0" y="51816"/>
                </a:lnTo>
                <a:lnTo>
                  <a:pt x="6096" y="51816"/>
                </a:lnTo>
                <a:lnTo>
                  <a:pt x="12190476" y="51816"/>
                </a:lnTo>
                <a:lnTo>
                  <a:pt x="12192000" y="51816"/>
                </a:lnTo>
                <a:lnTo>
                  <a:pt x="12192000" y="34544"/>
                </a:lnTo>
                <a:close/>
              </a:path>
              <a:path w="12192000" h="52069">
                <a:moveTo>
                  <a:pt x="12192000" y="0"/>
                </a:moveTo>
                <a:lnTo>
                  <a:pt x="12190476" y="0"/>
                </a:lnTo>
                <a:lnTo>
                  <a:pt x="6096" y="0"/>
                </a:lnTo>
                <a:lnTo>
                  <a:pt x="0" y="0"/>
                </a:lnTo>
                <a:lnTo>
                  <a:pt x="0" y="17272"/>
                </a:lnTo>
                <a:lnTo>
                  <a:pt x="6096" y="17272"/>
                </a:lnTo>
                <a:lnTo>
                  <a:pt x="12190476" y="17272"/>
                </a:lnTo>
                <a:lnTo>
                  <a:pt x="12192000" y="172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9628" y="2927426"/>
            <a:ext cx="4412742" cy="878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 u="heavy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943" y="1314744"/>
            <a:ext cx="11272113" cy="449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30170" y="6466433"/>
            <a:ext cx="5702934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pert_system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508000" y="457200"/>
            <a:ext cx="10972800" cy="5181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tx1"/>
                </a:solidFill>
              </a:rPr>
              <a:t>UNIT – V: </a:t>
            </a:r>
          </a:p>
          <a:p>
            <a:pPr algn="just"/>
            <a:r>
              <a:rPr lang="en-US" sz="4000" dirty="0" smtClean="0"/>
              <a:t>Expert Systems: Representing and using domain knowledge, expert system shells, and knowledge acquisition</a:t>
            </a:r>
            <a:r>
              <a:rPr lang="en-US" sz="4000" dirty="0" smtClean="0"/>
              <a:t>.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5066" y="433527"/>
            <a:ext cx="16922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none" spc="-7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3200" b="1" u="none" spc="-5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3200" b="1" u="none" spc="-20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3200" b="1" u="none" spc="-5" dirty="0">
                <a:solidFill>
                  <a:srgbClr val="FF0000"/>
                </a:solidFill>
                <a:latin typeface="Calibri"/>
                <a:cs typeface="Calibri"/>
              </a:rPr>
              <a:t>LAB</a:t>
            </a:r>
            <a:r>
              <a:rPr sz="3200" b="1" u="none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3200" b="1" u="none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5465" y="1307399"/>
            <a:ext cx="6656070" cy="307784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208279" algn="r">
              <a:lnSpc>
                <a:spcPct val="100000"/>
              </a:lnSpc>
              <a:spcBef>
                <a:spcPts val="670"/>
              </a:spcBef>
            </a:pPr>
            <a:r>
              <a:rPr sz="28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UNIT</a:t>
            </a:r>
            <a:r>
              <a:rPr sz="2800" b="1" spc="-7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6F2F9F"/>
                </a:solidFill>
                <a:latin typeface="Times New Roman"/>
                <a:cs typeface="Times New Roman"/>
              </a:rPr>
              <a:t>–</a:t>
            </a:r>
            <a:r>
              <a:rPr sz="2800" b="1" spc="-85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800" b="1" spc="-15" smtClean="0">
                <a:solidFill>
                  <a:srgbClr val="6F2F9F"/>
                </a:solidFill>
                <a:latin typeface="Times New Roman"/>
                <a:cs typeface="Times New Roman"/>
              </a:rPr>
              <a:t>V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2800" spc="-2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296545" indent="-28448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7180" algn="l"/>
              </a:tabLst>
            </a:pPr>
            <a:r>
              <a:rPr sz="2800" spc="-10" dirty="0">
                <a:latin typeface="Calibri"/>
                <a:cs typeface="Calibri"/>
              </a:rPr>
              <a:t>Representing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" dirty="0">
                <a:latin typeface="Calibri"/>
                <a:cs typeface="Calibri"/>
              </a:rPr>
              <a:t> using</a:t>
            </a:r>
            <a:r>
              <a:rPr sz="2800" dirty="0">
                <a:latin typeface="Calibri"/>
                <a:cs typeface="Calibri"/>
              </a:rPr>
              <a:t> Domain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Knowledge,</a:t>
            </a:r>
            <a:endParaRPr sz="2800">
              <a:latin typeface="Calibri"/>
              <a:cs typeface="Calibri"/>
            </a:endParaRPr>
          </a:p>
          <a:p>
            <a:pPr marL="296545" indent="-28448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7180" algn="l"/>
              </a:tabLst>
            </a:pPr>
            <a:r>
              <a:rPr sz="2800" spc="-5" dirty="0">
                <a:latin typeface="Calibri"/>
                <a:cs typeface="Calibri"/>
              </a:rPr>
              <a:t>Reasoning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knowledge,</a:t>
            </a:r>
            <a:endParaRPr sz="2800">
              <a:latin typeface="Calibri"/>
              <a:cs typeface="Calibri"/>
            </a:endParaRPr>
          </a:p>
          <a:p>
            <a:pPr marL="296545" indent="-28448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7180" algn="l"/>
              </a:tabLst>
            </a:pPr>
            <a:r>
              <a:rPr sz="2800" spc="-5" dirty="0">
                <a:latin typeface="Calibri"/>
                <a:cs typeface="Calibri"/>
              </a:rPr>
              <a:t>Expert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System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Shells-examples,</a:t>
            </a:r>
            <a:endParaRPr sz="2800">
              <a:latin typeface="Calibri"/>
              <a:cs typeface="Calibri"/>
            </a:endParaRPr>
          </a:p>
          <a:p>
            <a:pPr marL="296545" indent="-284480">
              <a:lnSpc>
                <a:spcPct val="100000"/>
              </a:lnSpc>
              <a:spcBef>
                <a:spcPts val="700"/>
              </a:spcBef>
              <a:buSzPct val="96428"/>
              <a:buFont typeface="Wingdings"/>
              <a:buChar char=""/>
              <a:tabLst>
                <a:tab pos="297180" algn="l"/>
              </a:tabLst>
            </a:pPr>
            <a:r>
              <a:rPr sz="2800" spc="-10" dirty="0">
                <a:latin typeface="Calibri"/>
                <a:cs typeface="Calibri"/>
              </a:rPr>
              <a:t>Knowledge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acquisition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skills-examples.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410667"/>
            <a:ext cx="393382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u="none" spc="-5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2800" b="1" u="none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800" b="1" u="none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5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2800" b="1" u="none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5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2800" b="1" u="none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-20" dirty="0">
                <a:solidFill>
                  <a:srgbClr val="FF0000"/>
                </a:solidFill>
                <a:latin typeface="Calibri"/>
                <a:cs typeface="Calibri"/>
              </a:rPr>
              <a:t>System?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5465" y="1249121"/>
            <a:ext cx="11117580" cy="44627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787400">
              <a:lnSpc>
                <a:spcPct val="90000"/>
              </a:lnSpc>
              <a:spcBef>
                <a:spcPts val="459"/>
              </a:spcBef>
              <a:buSzPct val="96666"/>
              <a:buFont typeface="Wingdings"/>
              <a:buChar char=""/>
              <a:tabLst>
                <a:tab pos="187960" algn="l"/>
              </a:tabLst>
            </a:pPr>
            <a:r>
              <a:rPr sz="3000" spc="-5" dirty="0">
                <a:latin typeface="Calibri"/>
                <a:cs typeface="Calibri"/>
              </a:rPr>
              <a:t>An </a:t>
            </a:r>
            <a:r>
              <a:rPr sz="3000" spc="-15" dirty="0">
                <a:latin typeface="Calibri"/>
                <a:cs typeface="Calibri"/>
              </a:rPr>
              <a:t>expert </a:t>
            </a:r>
            <a:r>
              <a:rPr sz="3000" spc="-20" dirty="0">
                <a:latin typeface="Calibri"/>
                <a:cs typeface="Calibri"/>
              </a:rPr>
              <a:t>system </a:t>
            </a:r>
            <a:r>
              <a:rPr sz="3000" dirty="0">
                <a:latin typeface="Calibri"/>
                <a:cs typeface="Calibri"/>
              </a:rPr>
              <a:t>is a </a:t>
            </a:r>
            <a:r>
              <a:rPr sz="3000" spc="-10" dirty="0">
                <a:latin typeface="Calibri"/>
                <a:cs typeface="Calibri"/>
              </a:rPr>
              <a:t>computer </a:t>
            </a:r>
            <a:r>
              <a:rPr sz="3000" spc="-20" dirty="0">
                <a:latin typeface="Calibri"/>
                <a:cs typeface="Calibri"/>
              </a:rPr>
              <a:t>program </a:t>
            </a:r>
            <a:r>
              <a:rPr sz="3000" spc="-5" dirty="0">
                <a:latin typeface="Calibri"/>
                <a:cs typeface="Calibri"/>
              </a:rPr>
              <a:t>that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designed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solve </a:t>
            </a:r>
            <a:r>
              <a:rPr sz="3000" b="1" spc="-6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complex</a:t>
            </a:r>
            <a:r>
              <a:rPr sz="3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problems</a:t>
            </a:r>
            <a:r>
              <a:rPr sz="3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30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provide</a:t>
            </a:r>
            <a:r>
              <a:rPr sz="30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decision-making</a:t>
            </a:r>
            <a:r>
              <a:rPr sz="3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ability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like</a:t>
            </a:r>
            <a:r>
              <a:rPr sz="3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sz="3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human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expert.</a:t>
            </a:r>
            <a:endParaRPr sz="3000">
              <a:latin typeface="Calibri"/>
              <a:cs typeface="Calibri"/>
            </a:endParaRPr>
          </a:p>
          <a:p>
            <a:pPr marL="187325" indent="-175260">
              <a:lnSpc>
                <a:spcPts val="3420"/>
              </a:lnSpc>
              <a:spcBef>
                <a:spcPts val="365"/>
              </a:spcBef>
              <a:buSzPct val="96666"/>
              <a:buFont typeface="Wingdings"/>
              <a:buChar char=""/>
              <a:tabLst>
                <a:tab pos="187960" algn="l"/>
              </a:tabLst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performs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3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001F5F"/>
                </a:solidFill>
                <a:latin typeface="Calibri"/>
                <a:cs typeface="Calibri"/>
              </a:rPr>
              <a:t>extracting</a:t>
            </a:r>
            <a:r>
              <a:rPr sz="3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1F5F"/>
                </a:solidFill>
                <a:latin typeface="Calibri"/>
                <a:cs typeface="Calibri"/>
              </a:rPr>
              <a:t>knowledge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30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its </a:t>
            </a:r>
            <a:r>
              <a:rPr sz="3000" b="1" spc="-10" dirty="0">
                <a:solidFill>
                  <a:srgbClr val="001F5F"/>
                </a:solidFill>
                <a:latin typeface="Calibri"/>
                <a:cs typeface="Calibri"/>
              </a:rPr>
              <a:t>knowledge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1F5F"/>
                </a:solidFill>
                <a:latin typeface="Calibri"/>
                <a:cs typeface="Calibri"/>
              </a:rPr>
              <a:t>base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ts val="3420"/>
              </a:lnSpc>
            </a:pPr>
            <a:r>
              <a:rPr sz="3000" dirty="0">
                <a:latin typeface="Calibri"/>
                <a:cs typeface="Calibri"/>
              </a:rPr>
              <a:t>using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reasoning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inference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rules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according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user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queries.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720"/>
              </a:spcBef>
              <a:buSzPct val="96666"/>
              <a:buFont typeface="Wingdings"/>
              <a:buChar char=""/>
              <a:tabLst>
                <a:tab pos="187960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expert </a:t>
            </a:r>
            <a:r>
              <a:rPr sz="3000" spc="-20" dirty="0">
                <a:latin typeface="Calibri"/>
                <a:cs typeface="Calibri"/>
              </a:rPr>
              <a:t>system </a:t>
            </a:r>
            <a:r>
              <a:rPr sz="3000" dirty="0">
                <a:latin typeface="Calibri"/>
                <a:cs typeface="Calibri"/>
              </a:rPr>
              <a:t>is a part </a:t>
            </a:r>
            <a:r>
              <a:rPr sz="3000" spc="-5" dirty="0">
                <a:latin typeface="Calibri"/>
                <a:cs typeface="Calibri"/>
              </a:rPr>
              <a:t>of AI, </a:t>
            </a:r>
            <a:r>
              <a:rPr sz="3000" dirty="0">
                <a:latin typeface="Calibri"/>
                <a:cs typeface="Calibri"/>
              </a:rPr>
              <a:t>and the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first ES was 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developed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3000" b="1" spc="-6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year 1970, </a:t>
            </a:r>
            <a:r>
              <a:rPr sz="3000" dirty="0">
                <a:latin typeface="Calibri"/>
                <a:cs typeface="Calibri"/>
              </a:rPr>
              <a:t>which </a:t>
            </a:r>
            <a:r>
              <a:rPr sz="3000" spc="-15" dirty="0">
                <a:latin typeface="Calibri"/>
                <a:cs typeface="Calibri"/>
              </a:rPr>
              <a:t>was </a:t>
            </a:r>
            <a:r>
              <a:rPr sz="3000" spc="5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first </a:t>
            </a:r>
            <a:r>
              <a:rPr sz="3000" spc="-5" dirty="0">
                <a:latin typeface="Calibri"/>
                <a:cs typeface="Calibri"/>
              </a:rPr>
              <a:t>successful approach of </a:t>
            </a:r>
            <a:r>
              <a:rPr sz="3000" dirty="0">
                <a:latin typeface="Calibri"/>
                <a:cs typeface="Calibri"/>
              </a:rPr>
              <a:t>artificial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intelligence.</a:t>
            </a:r>
            <a:endParaRPr sz="3000">
              <a:latin typeface="Calibri"/>
              <a:cs typeface="Calibri"/>
            </a:endParaRPr>
          </a:p>
          <a:p>
            <a:pPr marL="12700" marR="1149350">
              <a:lnSpc>
                <a:spcPts val="3240"/>
              </a:lnSpc>
              <a:spcBef>
                <a:spcPts val="770"/>
              </a:spcBef>
              <a:buSzPct val="96666"/>
              <a:buFont typeface="Wingdings"/>
              <a:buChar char=""/>
              <a:tabLst>
                <a:tab pos="187960" algn="l"/>
              </a:tabLst>
            </a:pPr>
            <a:r>
              <a:rPr sz="3000" dirty="0">
                <a:latin typeface="Calibri"/>
                <a:cs typeface="Calibri"/>
              </a:rPr>
              <a:t>It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solves the most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complex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issue as an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expert </a:t>
            </a:r>
            <a:r>
              <a:rPr sz="3000" spc="-10" dirty="0">
                <a:latin typeface="Calibri"/>
                <a:cs typeface="Calibri"/>
              </a:rPr>
              <a:t>by </a:t>
            </a:r>
            <a:r>
              <a:rPr sz="3000" spc="-15" dirty="0">
                <a:latin typeface="Calibri"/>
                <a:cs typeface="Calibri"/>
              </a:rPr>
              <a:t>extracting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knowledge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stored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knowledge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base.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223898"/>
            <a:ext cx="11089640" cy="396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6545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20" dirty="0">
                <a:latin typeface="Calibri"/>
                <a:cs typeface="Calibri"/>
              </a:rPr>
              <a:t>system </a:t>
            </a:r>
            <a:r>
              <a:rPr sz="3000" spc="-5" dirty="0">
                <a:latin typeface="Calibri"/>
                <a:cs typeface="Calibri"/>
              </a:rPr>
              <a:t>helps </a:t>
            </a:r>
            <a:r>
              <a:rPr sz="3000" dirty="0">
                <a:latin typeface="Calibri"/>
                <a:cs typeface="Calibri"/>
              </a:rPr>
              <a:t>in </a:t>
            </a:r>
            <a:r>
              <a:rPr sz="3000" spc="-5" dirty="0">
                <a:latin typeface="Calibri"/>
                <a:cs typeface="Calibri"/>
              </a:rPr>
              <a:t>decision </a:t>
            </a:r>
            <a:r>
              <a:rPr sz="3000" dirty="0">
                <a:latin typeface="Calibri"/>
                <a:cs typeface="Calibri"/>
              </a:rPr>
              <a:t>making </a:t>
            </a:r>
            <a:r>
              <a:rPr sz="3000" spc="-30" dirty="0">
                <a:latin typeface="Calibri"/>
                <a:cs typeface="Calibri"/>
              </a:rPr>
              <a:t>for </a:t>
            </a:r>
            <a:r>
              <a:rPr sz="3000" spc="-15" dirty="0">
                <a:latin typeface="Calibri"/>
                <a:cs typeface="Calibri"/>
              </a:rPr>
              <a:t>complex </a:t>
            </a:r>
            <a:r>
              <a:rPr sz="3000" spc="-10" dirty="0">
                <a:latin typeface="Calibri"/>
                <a:cs typeface="Calibri"/>
              </a:rPr>
              <a:t>problems </a:t>
            </a:r>
            <a:r>
              <a:rPr sz="3000" dirty="0">
                <a:latin typeface="Calibri"/>
                <a:cs typeface="Calibri"/>
              </a:rPr>
              <a:t>using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both </a:t>
            </a:r>
            <a:r>
              <a:rPr sz="3000" b="1" spc="-6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facts</a:t>
            </a:r>
            <a:r>
              <a:rPr sz="30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heuristics</a:t>
            </a:r>
            <a:r>
              <a:rPr sz="30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C00000"/>
                </a:solidFill>
                <a:latin typeface="Calibri"/>
                <a:cs typeface="Calibri"/>
              </a:rPr>
              <a:t>like</a:t>
            </a:r>
            <a:r>
              <a:rPr sz="30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0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human </a:t>
            </a:r>
            <a:r>
              <a:rPr sz="3000" b="1" spc="-20" dirty="0">
                <a:solidFill>
                  <a:srgbClr val="C00000"/>
                </a:solidFill>
                <a:latin typeface="Calibri"/>
                <a:cs typeface="Calibri"/>
              </a:rPr>
              <a:t>expert</a:t>
            </a:r>
            <a:r>
              <a:rPr sz="3000" spc="-2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295910" marR="1089025" indent="-283845">
              <a:lnSpc>
                <a:spcPct val="100000"/>
              </a:lnSpc>
              <a:spcBef>
                <a:spcPts val="720"/>
              </a:spcBef>
              <a:buFont typeface="Wingdings"/>
              <a:buChar char=""/>
              <a:tabLst>
                <a:tab pos="296545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performance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of</a:t>
            </a:r>
            <a:r>
              <a:rPr sz="3000" b="1" spc="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expert</a:t>
            </a:r>
            <a:r>
              <a:rPr sz="3000" b="1" spc="35" dirty="0">
                <a:latin typeface="Calibri"/>
                <a:cs typeface="Calibri"/>
              </a:rPr>
              <a:t> </a:t>
            </a:r>
            <a:r>
              <a:rPr sz="3000" b="1" spc="-30" dirty="0">
                <a:latin typeface="Calibri"/>
                <a:cs typeface="Calibri"/>
              </a:rPr>
              <a:t>system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sz="3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30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expert's </a:t>
            </a:r>
            <a:r>
              <a:rPr sz="3000" b="1" spc="-6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knowledge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C00000"/>
                </a:solidFill>
                <a:latin typeface="Calibri"/>
                <a:cs typeface="Calibri"/>
              </a:rPr>
              <a:t>stored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its</a:t>
            </a:r>
            <a:r>
              <a:rPr sz="30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knowledge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 base.</a:t>
            </a:r>
            <a:endParaRPr sz="3000">
              <a:latin typeface="Calibri"/>
              <a:cs typeface="Calibri"/>
            </a:endParaRPr>
          </a:p>
          <a:p>
            <a:pPr marL="295910" marR="1353820" indent="-283845">
              <a:lnSpc>
                <a:spcPct val="100000"/>
              </a:lnSpc>
              <a:spcBef>
                <a:spcPts val="725"/>
              </a:spcBef>
              <a:buFont typeface="Wingdings"/>
              <a:buChar char=""/>
              <a:tabLst>
                <a:tab pos="296545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b="1" spc="-15" dirty="0">
                <a:latin typeface="Calibri"/>
                <a:cs typeface="Calibri"/>
              </a:rPr>
              <a:t>more </a:t>
            </a:r>
            <a:r>
              <a:rPr sz="3000" b="1" spc="-5" dirty="0">
                <a:latin typeface="Calibri"/>
                <a:cs typeface="Calibri"/>
              </a:rPr>
              <a:t>knowledge </a:t>
            </a:r>
            <a:r>
              <a:rPr sz="3000" b="1" spc="-20" dirty="0">
                <a:latin typeface="Calibri"/>
                <a:cs typeface="Calibri"/>
              </a:rPr>
              <a:t>stored </a:t>
            </a:r>
            <a:r>
              <a:rPr sz="3000" b="1" dirty="0">
                <a:latin typeface="Calibri"/>
                <a:cs typeface="Calibri"/>
              </a:rPr>
              <a:t>in </a:t>
            </a:r>
            <a:r>
              <a:rPr sz="3000" b="1" spc="-5" dirty="0">
                <a:latin typeface="Calibri"/>
                <a:cs typeface="Calibri"/>
              </a:rPr>
              <a:t>the KB</a:t>
            </a:r>
            <a:r>
              <a:rPr sz="3000" spc="-5" dirty="0">
                <a:latin typeface="Calibri"/>
                <a:cs typeface="Calibri"/>
              </a:rPr>
              <a:t>,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more </a:t>
            </a:r>
            <a:r>
              <a:rPr sz="3000" spc="-5" dirty="0">
                <a:latin typeface="Calibri"/>
                <a:cs typeface="Calibri"/>
              </a:rPr>
              <a:t>that </a:t>
            </a:r>
            <a:r>
              <a:rPr sz="3000" b="1" spc="-30" dirty="0">
                <a:solidFill>
                  <a:srgbClr val="001F5F"/>
                </a:solidFill>
                <a:latin typeface="Calibri"/>
                <a:cs typeface="Calibri"/>
              </a:rPr>
              <a:t>system </a:t>
            </a:r>
            <a:r>
              <a:rPr sz="3000" b="1" spc="-6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1F5F"/>
                </a:solidFill>
                <a:latin typeface="Calibri"/>
                <a:cs typeface="Calibri"/>
              </a:rPr>
              <a:t>improves</a:t>
            </a:r>
            <a:r>
              <a:rPr sz="30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its </a:t>
            </a:r>
            <a:r>
              <a:rPr sz="3000" b="1" spc="-10" dirty="0">
                <a:solidFill>
                  <a:srgbClr val="001F5F"/>
                </a:solidFill>
                <a:latin typeface="Calibri"/>
                <a:cs typeface="Calibri"/>
              </a:rPr>
              <a:t>performance.</a:t>
            </a:r>
            <a:endParaRPr sz="3000">
              <a:latin typeface="Calibri"/>
              <a:cs typeface="Calibri"/>
            </a:endParaRPr>
          </a:p>
          <a:p>
            <a:pPr marL="295910" marR="621030" indent="-283845">
              <a:lnSpc>
                <a:spcPct val="100800"/>
              </a:lnSpc>
              <a:spcBef>
                <a:spcPts val="695"/>
              </a:spcBef>
              <a:buFont typeface="Wingdings"/>
              <a:buChar char=""/>
              <a:tabLst>
                <a:tab pos="296545" algn="l"/>
              </a:tabLst>
            </a:pPr>
            <a:r>
              <a:rPr sz="3000" b="1" dirty="0">
                <a:latin typeface="Calibri"/>
                <a:cs typeface="Calibri"/>
              </a:rPr>
              <a:t>One of </a:t>
            </a:r>
            <a:r>
              <a:rPr sz="3000" b="1" spc="-5" dirty="0">
                <a:latin typeface="Calibri"/>
                <a:cs typeface="Calibri"/>
              </a:rPr>
              <a:t>the common </a:t>
            </a:r>
            <a:r>
              <a:rPr sz="3000" b="1" spc="-15" dirty="0">
                <a:latin typeface="Calibri"/>
                <a:cs typeface="Calibri"/>
              </a:rPr>
              <a:t>examples </a:t>
            </a:r>
            <a:r>
              <a:rPr sz="3000" b="1" dirty="0">
                <a:latin typeface="Calibri"/>
                <a:cs typeface="Calibri"/>
              </a:rPr>
              <a:t>of an </a:t>
            </a:r>
            <a:r>
              <a:rPr sz="3000" b="1" spc="-15" dirty="0">
                <a:latin typeface="Calibri"/>
                <a:cs typeface="Calibri"/>
              </a:rPr>
              <a:t>ES </a:t>
            </a:r>
            <a:r>
              <a:rPr sz="3000" dirty="0">
                <a:latin typeface="Calibri"/>
                <a:cs typeface="Calibri"/>
              </a:rPr>
              <a:t>is a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suggestion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of spelling </a:t>
            </a:r>
            <a:r>
              <a:rPr sz="3000" b="1" spc="-6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25" dirty="0">
                <a:solidFill>
                  <a:srgbClr val="C00000"/>
                </a:solidFill>
                <a:latin typeface="Calibri"/>
                <a:cs typeface="Calibri"/>
              </a:rPr>
              <a:t>errors</a:t>
            </a:r>
            <a:r>
              <a:rPr sz="300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while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 typing</a:t>
            </a:r>
            <a:r>
              <a:rPr sz="30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 the</a:t>
            </a:r>
            <a:r>
              <a:rPr sz="30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Google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search</a:t>
            </a: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25" dirty="0">
                <a:solidFill>
                  <a:srgbClr val="C00000"/>
                </a:solidFill>
                <a:latin typeface="Calibri"/>
                <a:cs typeface="Calibri"/>
              </a:rPr>
              <a:t>box.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522554"/>
            <a:ext cx="100336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none" spc="-5" dirty="0">
                <a:solidFill>
                  <a:srgbClr val="FF0000"/>
                </a:solidFill>
                <a:latin typeface="Calibri"/>
                <a:cs typeface="Calibri"/>
              </a:rPr>
              <a:t>Block </a:t>
            </a:r>
            <a:r>
              <a:rPr sz="3000" b="1" u="none" spc="-15" dirty="0">
                <a:solidFill>
                  <a:srgbClr val="FF0000"/>
                </a:solidFill>
                <a:latin typeface="Calibri"/>
                <a:cs typeface="Calibri"/>
              </a:rPr>
              <a:t>diagram</a:t>
            </a:r>
            <a:r>
              <a:rPr sz="3000" b="1" u="none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u="none" spc="-10" dirty="0">
                <a:solidFill>
                  <a:srgbClr val="FF0000"/>
                </a:solidFill>
                <a:latin typeface="Calibri"/>
                <a:cs typeface="Calibri"/>
              </a:rPr>
              <a:t>that </a:t>
            </a:r>
            <a:r>
              <a:rPr sz="3000" b="1" u="none" spc="-15" dirty="0">
                <a:solidFill>
                  <a:srgbClr val="FF0000"/>
                </a:solidFill>
                <a:latin typeface="Calibri"/>
                <a:cs typeface="Calibri"/>
              </a:rPr>
              <a:t>represents</a:t>
            </a:r>
            <a:r>
              <a:rPr sz="3000" b="1" u="none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u="none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000" b="1" u="none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u="none" spc="-10" dirty="0">
                <a:solidFill>
                  <a:srgbClr val="FF0000"/>
                </a:solidFill>
                <a:latin typeface="Calibri"/>
                <a:cs typeface="Calibri"/>
              </a:rPr>
              <a:t>working</a:t>
            </a:r>
            <a:r>
              <a:rPr sz="3000" b="1" u="none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u="none" dirty="0">
                <a:solidFill>
                  <a:srgbClr val="FF0000"/>
                </a:solidFill>
                <a:latin typeface="Calibri"/>
                <a:cs typeface="Calibri"/>
              </a:rPr>
              <a:t>of an</a:t>
            </a:r>
            <a:r>
              <a:rPr sz="3000" b="1" u="none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u="none" spc="-15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3000" b="1" u="none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u="none" spc="-25" dirty="0">
                <a:solidFill>
                  <a:srgbClr val="FF0000"/>
                </a:solidFill>
                <a:latin typeface="Calibri"/>
                <a:cs typeface="Calibri"/>
              </a:rPr>
              <a:t>system: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59976"/>
            <a:ext cx="9360408" cy="37997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6788" y="5375249"/>
            <a:ext cx="111296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Note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important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remember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replace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experts;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instead,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assist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465" y="1151966"/>
            <a:ext cx="833374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u="none" spc="5" dirty="0">
                <a:solidFill>
                  <a:srgbClr val="FF0000"/>
                </a:solidFill>
                <a:latin typeface="Calibri"/>
                <a:cs typeface="Calibri"/>
              </a:rPr>
              <a:t>Below</a:t>
            </a:r>
            <a:r>
              <a:rPr sz="2800" b="1" u="none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-5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800" b="1" u="none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5" dirty="0">
                <a:solidFill>
                  <a:srgbClr val="FF0000"/>
                </a:solidFill>
                <a:latin typeface="Calibri"/>
                <a:cs typeface="Calibri"/>
              </a:rPr>
              <a:t>some</a:t>
            </a:r>
            <a:r>
              <a:rPr sz="2800" b="1" u="none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5" dirty="0">
                <a:solidFill>
                  <a:srgbClr val="FF0000"/>
                </a:solidFill>
                <a:latin typeface="Calibri"/>
                <a:cs typeface="Calibri"/>
              </a:rPr>
              <a:t>popular</a:t>
            </a:r>
            <a:r>
              <a:rPr sz="2800" b="1" u="none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-10" dirty="0">
                <a:solidFill>
                  <a:srgbClr val="FF0000"/>
                </a:solidFill>
                <a:latin typeface="Calibri"/>
                <a:cs typeface="Calibri"/>
              </a:rPr>
              <a:t>examples</a:t>
            </a:r>
            <a:r>
              <a:rPr sz="2800" b="1" u="none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b="1" u="none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b="1" u="none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5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2800" b="1" u="none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spc="-20" dirty="0">
                <a:solidFill>
                  <a:srgbClr val="FF0000"/>
                </a:solidFill>
                <a:latin typeface="Calibri"/>
                <a:cs typeface="Calibri"/>
              </a:rPr>
              <a:t>System: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5465" y="1658492"/>
            <a:ext cx="11225530" cy="427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309245" indent="-283845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DENDRAL: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was </a:t>
            </a:r>
            <a:r>
              <a:rPr sz="2400" dirty="0">
                <a:latin typeface="Calibri"/>
                <a:cs typeface="Calibri"/>
              </a:rPr>
              <a:t>an artificial </a:t>
            </a:r>
            <a:r>
              <a:rPr sz="2400" spc="-5" dirty="0">
                <a:latin typeface="Calibri"/>
                <a:cs typeface="Calibri"/>
              </a:rPr>
              <a:t>intelligence </a:t>
            </a:r>
            <a:r>
              <a:rPr sz="2400" spc="-10" dirty="0">
                <a:latin typeface="Calibri"/>
                <a:cs typeface="Calibri"/>
              </a:rPr>
              <a:t>project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was </a:t>
            </a:r>
            <a:r>
              <a:rPr sz="2400" dirty="0">
                <a:latin typeface="Calibri"/>
                <a:cs typeface="Calibri"/>
              </a:rPr>
              <a:t>made as a </a:t>
            </a:r>
            <a:r>
              <a:rPr sz="2400" spc="-5" dirty="0">
                <a:latin typeface="Calibri"/>
                <a:cs typeface="Calibri"/>
              </a:rPr>
              <a:t>chemical analysis </a:t>
            </a:r>
            <a:r>
              <a:rPr sz="2400" spc="-5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expert </a:t>
            </a:r>
            <a:r>
              <a:rPr sz="2400" spc="-20" dirty="0">
                <a:latin typeface="Calibri"/>
                <a:cs typeface="Calibri"/>
              </a:rPr>
              <a:t>system.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was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organic </a:t>
            </a:r>
            <a:r>
              <a:rPr sz="2400" spc="-5" dirty="0">
                <a:latin typeface="Calibri"/>
                <a:cs typeface="Calibri"/>
              </a:rPr>
              <a:t>chemistry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detect unknown </a:t>
            </a:r>
            <a:r>
              <a:rPr sz="2400" spc="-10" dirty="0">
                <a:latin typeface="Calibri"/>
                <a:cs typeface="Calibri"/>
              </a:rPr>
              <a:t>organic </a:t>
            </a:r>
            <a:r>
              <a:rPr sz="2400" dirty="0">
                <a:latin typeface="Calibri"/>
                <a:cs typeface="Calibri"/>
              </a:rPr>
              <a:t>molecules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their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10" dirty="0">
                <a:latin typeface="Calibri"/>
                <a:cs typeface="Calibri"/>
              </a:rPr>
              <a:t> spectra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chemistry.</a:t>
            </a:r>
            <a:endParaRPr sz="2400" dirty="0">
              <a:latin typeface="Calibri"/>
              <a:cs typeface="Calibri"/>
            </a:endParaRPr>
          </a:p>
          <a:p>
            <a:pPr marL="295910" marR="195580" indent="-283845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6545" algn="l"/>
              </a:tabLst>
            </a:pPr>
            <a:r>
              <a:rPr sz="2400" b="1" spc="-20" dirty="0">
                <a:latin typeface="Calibri"/>
                <a:cs typeface="Calibri"/>
              </a:rPr>
              <a:t>MYCIN: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was </a:t>
            </a:r>
            <a:r>
              <a:rPr sz="2400" dirty="0">
                <a:latin typeface="Calibri"/>
                <a:cs typeface="Calibri"/>
              </a:rPr>
              <a:t>one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earliest </a:t>
            </a:r>
            <a:r>
              <a:rPr sz="2400" spc="-10" dirty="0">
                <a:latin typeface="Calibri"/>
                <a:cs typeface="Calibri"/>
              </a:rPr>
              <a:t>backward </a:t>
            </a:r>
            <a:r>
              <a:rPr sz="2400" dirty="0">
                <a:latin typeface="Calibri"/>
                <a:cs typeface="Calibri"/>
              </a:rPr>
              <a:t>chaining </a:t>
            </a:r>
            <a:r>
              <a:rPr sz="2400" spc="-10" dirty="0">
                <a:latin typeface="Calibri"/>
                <a:cs typeface="Calibri"/>
              </a:rPr>
              <a:t>expert </a:t>
            </a:r>
            <a:r>
              <a:rPr sz="2400" spc="-20" dirty="0">
                <a:latin typeface="Calibri"/>
                <a:cs typeface="Calibri"/>
              </a:rPr>
              <a:t>systems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was </a:t>
            </a:r>
            <a:r>
              <a:rPr sz="2400" dirty="0">
                <a:latin typeface="Calibri"/>
                <a:cs typeface="Calibri"/>
              </a:rPr>
              <a:t>designed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find the </a:t>
            </a:r>
            <a:r>
              <a:rPr sz="2400" spc="-5" dirty="0">
                <a:latin typeface="Calibri"/>
                <a:cs typeface="Calibri"/>
              </a:rPr>
              <a:t>bacteria </a:t>
            </a:r>
            <a:r>
              <a:rPr sz="2400" spc="-10" dirty="0">
                <a:latin typeface="Calibri"/>
                <a:cs typeface="Calibri"/>
              </a:rPr>
              <a:t>causing infections </a:t>
            </a:r>
            <a:r>
              <a:rPr sz="2400" spc="-25" dirty="0">
                <a:latin typeface="Calibri"/>
                <a:cs typeface="Calibri"/>
              </a:rPr>
              <a:t>like </a:t>
            </a:r>
            <a:r>
              <a:rPr sz="2400" spc="-5" dirty="0">
                <a:latin typeface="Calibri"/>
                <a:cs typeface="Calibri"/>
              </a:rPr>
              <a:t>bacteraemia </a:t>
            </a:r>
            <a:r>
              <a:rPr sz="2400" dirty="0">
                <a:latin typeface="Calibri"/>
                <a:cs typeface="Calibri"/>
              </a:rPr>
              <a:t>and meningitis. It </a:t>
            </a:r>
            <a:r>
              <a:rPr sz="2400" spc="-15" dirty="0">
                <a:latin typeface="Calibri"/>
                <a:cs typeface="Calibri"/>
              </a:rPr>
              <a:t>was </a:t>
            </a:r>
            <a:r>
              <a:rPr sz="2400" dirty="0">
                <a:latin typeface="Calibri"/>
                <a:cs typeface="Calibri"/>
              </a:rPr>
              <a:t>also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recommendation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antibiotics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diagnosis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blood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clotting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diseases.</a:t>
            </a:r>
          </a:p>
          <a:p>
            <a:pPr marL="295910" marR="34925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20" dirty="0">
                <a:latin typeface="Calibri"/>
                <a:cs typeface="Calibri"/>
              </a:rPr>
              <a:t>PXDES: </a:t>
            </a:r>
            <a:r>
              <a:rPr sz="2400" dirty="0">
                <a:latin typeface="Calibri"/>
                <a:cs typeface="Calibri"/>
              </a:rPr>
              <a:t>It is an </a:t>
            </a:r>
            <a:r>
              <a:rPr sz="2400" spc="-10" dirty="0">
                <a:latin typeface="Calibri"/>
                <a:cs typeface="Calibri"/>
              </a:rPr>
              <a:t>expert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determine </a:t>
            </a:r>
            <a:r>
              <a:rPr sz="2400" dirty="0">
                <a:latin typeface="Calibri"/>
                <a:cs typeface="Calibri"/>
              </a:rPr>
              <a:t>the type and </a:t>
            </a:r>
            <a:r>
              <a:rPr sz="2400" spc="-10" dirty="0">
                <a:latin typeface="Calibri"/>
                <a:cs typeface="Calibri"/>
              </a:rPr>
              <a:t>level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lung </a:t>
            </a:r>
            <a:r>
              <a:rPr sz="2400" spc="-40" dirty="0">
                <a:latin typeface="Calibri"/>
                <a:cs typeface="Calibri"/>
              </a:rPr>
              <a:t>cancer.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determine </a:t>
            </a:r>
            <a:r>
              <a:rPr sz="2400" dirty="0">
                <a:latin typeface="Calibri"/>
                <a:cs typeface="Calibri"/>
              </a:rPr>
              <a:t>the disease, it </a:t>
            </a:r>
            <a:r>
              <a:rPr sz="2400" spc="-20" dirty="0">
                <a:latin typeface="Calibri"/>
                <a:cs typeface="Calibri"/>
              </a:rPr>
              <a:t>takes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picture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upper </a:t>
            </a:r>
            <a:r>
              <a:rPr sz="2400" spc="-35" dirty="0">
                <a:latin typeface="Calibri"/>
                <a:cs typeface="Calibri"/>
              </a:rPr>
              <a:t>body, </a:t>
            </a:r>
            <a:r>
              <a:rPr sz="2400" spc="-5" dirty="0">
                <a:latin typeface="Calibri"/>
                <a:cs typeface="Calibri"/>
              </a:rPr>
              <a:t>which looks </a:t>
            </a:r>
            <a:r>
              <a:rPr sz="2400" spc="-25" dirty="0">
                <a:latin typeface="Calibri"/>
                <a:cs typeface="Calibri"/>
              </a:rPr>
              <a:t>like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shadow.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shadow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degree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harm.</a:t>
            </a:r>
          </a:p>
          <a:p>
            <a:pPr marL="295910" indent="-28384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20" dirty="0">
                <a:latin typeface="Calibri"/>
                <a:cs typeface="Calibri"/>
              </a:rPr>
              <a:t>CaDeT: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CaDet </a:t>
            </a:r>
            <a:r>
              <a:rPr sz="2400" spc="-10" dirty="0">
                <a:latin typeface="Calibri"/>
                <a:cs typeface="Calibri"/>
              </a:rPr>
              <a:t>expert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diagnostic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5" dirty="0">
                <a:latin typeface="Calibri"/>
                <a:cs typeface="Calibri"/>
              </a:rPr>
              <a:t> 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detect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cancer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stages.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0916920" cy="33185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Characteristics</a:t>
            </a:r>
            <a:r>
              <a:rPr sz="24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latin typeface="Calibri"/>
                <a:cs typeface="Calibri"/>
              </a:rPr>
              <a:t>High</a:t>
            </a:r>
            <a:r>
              <a:rPr sz="2400" b="1" spc="-10" dirty="0">
                <a:latin typeface="Calibri"/>
                <a:cs typeface="Calibri"/>
              </a:rPr>
              <a:t> Performance: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 </a:t>
            </a:r>
            <a:r>
              <a:rPr sz="2400" spc="-5" dirty="0">
                <a:latin typeface="Calibri"/>
                <a:cs typeface="Calibri"/>
              </a:rPr>
              <a:t>performance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solving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any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complex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problem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domain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5" dirty="0">
                <a:latin typeface="Calibri"/>
                <a:cs typeface="Calibri"/>
              </a:rPr>
              <a:t> efficiency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accuracy.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Understandable: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responds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way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 </a:t>
            </a:r>
            <a:r>
              <a:rPr sz="2400" spc="-5" dirty="0">
                <a:latin typeface="Calibri"/>
                <a:cs typeface="Calibri"/>
              </a:rPr>
              <a:t>understandable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user.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take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human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same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way.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Reliable: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reliable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efficient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accurate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latin typeface="Calibri"/>
                <a:cs typeface="Calibri"/>
              </a:rPr>
              <a:t>Highly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responsive: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any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complex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period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297376"/>
            <a:ext cx="8271509" cy="258635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Components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expert </a:t>
            </a:r>
            <a:r>
              <a:rPr sz="2800" spc="-15" dirty="0">
                <a:latin typeface="Calibri"/>
                <a:cs typeface="Calibri"/>
              </a:rPr>
              <a:t>system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mainly</a:t>
            </a:r>
            <a:r>
              <a:rPr sz="2800" spc="-10" dirty="0">
                <a:latin typeface="Calibri"/>
                <a:cs typeface="Calibri"/>
              </a:rPr>
              <a:t> consists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three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components:</a:t>
            </a:r>
            <a:endParaRPr sz="28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b="1" dirty="0">
                <a:latin typeface="Calibri"/>
                <a:cs typeface="Calibri"/>
              </a:rPr>
              <a:t>User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Interface</a:t>
            </a:r>
            <a:endParaRPr sz="28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b="1" spc="-10" dirty="0">
                <a:latin typeface="Calibri"/>
                <a:cs typeface="Calibri"/>
              </a:rPr>
              <a:t>Inference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Engine</a:t>
            </a:r>
            <a:endParaRPr sz="28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b="1" spc="-5" dirty="0">
                <a:latin typeface="Calibri"/>
                <a:cs typeface="Calibri"/>
              </a:rPr>
              <a:t>Knowledge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5" dirty="0">
                <a:latin typeface="Calibri"/>
                <a:cs typeface="Calibri"/>
              </a:rPr>
              <a:t>Base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40" y="2757982"/>
            <a:ext cx="7667625" cy="3098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297376"/>
            <a:ext cx="11118850" cy="284289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Interface</a:t>
            </a:r>
            <a:endParaRPr sz="28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dirty="0">
                <a:latin typeface="Calibri"/>
                <a:cs typeface="Calibri"/>
              </a:rPr>
              <a:t>With </a:t>
            </a:r>
            <a:r>
              <a:rPr sz="2800" spc="-5" dirty="0">
                <a:latin typeface="Calibri"/>
                <a:cs typeface="Calibri"/>
              </a:rPr>
              <a:t>the help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user </a:t>
            </a:r>
            <a:r>
              <a:rPr sz="2800" spc="-10" dirty="0">
                <a:latin typeface="Calibri"/>
                <a:cs typeface="Calibri"/>
              </a:rPr>
              <a:t>interface,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expert </a:t>
            </a:r>
            <a:r>
              <a:rPr sz="2800" spc="-15" dirty="0">
                <a:latin typeface="Calibri"/>
                <a:cs typeface="Calibri"/>
              </a:rPr>
              <a:t>system interacts </a:t>
            </a:r>
            <a:r>
              <a:rPr sz="2800" dirty="0">
                <a:latin typeface="Calibri"/>
                <a:cs typeface="Calibri"/>
              </a:rPr>
              <a:t>with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50" dirty="0">
                <a:latin typeface="Calibri"/>
                <a:cs typeface="Calibri"/>
              </a:rPr>
              <a:t>user,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takes </a:t>
            </a:r>
            <a:r>
              <a:rPr sz="2800" spc="-5" dirty="0">
                <a:latin typeface="Calibri"/>
                <a:cs typeface="Calibri"/>
              </a:rPr>
              <a:t>queries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spc="5" dirty="0">
                <a:latin typeface="Calibri"/>
                <a:cs typeface="Calibri"/>
              </a:rPr>
              <a:t>an </a:t>
            </a:r>
            <a:r>
              <a:rPr sz="2800" spc="-5" dirty="0">
                <a:latin typeface="Calibri"/>
                <a:cs typeface="Calibri"/>
              </a:rPr>
              <a:t>input </a:t>
            </a:r>
            <a:r>
              <a:rPr sz="2800" dirty="0">
                <a:latin typeface="Calibri"/>
                <a:cs typeface="Calibri"/>
              </a:rPr>
              <a:t>in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readable format, </a:t>
            </a:r>
            <a:r>
              <a:rPr sz="2800" dirty="0">
                <a:latin typeface="Calibri"/>
                <a:cs typeface="Calibri"/>
              </a:rPr>
              <a:t>and passes it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inference</a:t>
            </a:r>
            <a:r>
              <a:rPr sz="2800" spc="-5" dirty="0">
                <a:latin typeface="Calibri"/>
                <a:cs typeface="Calibri"/>
              </a:rPr>
              <a:t> engine.</a:t>
            </a:r>
            <a:endParaRPr sz="2800">
              <a:latin typeface="Calibri"/>
              <a:cs typeface="Calibri"/>
            </a:endParaRPr>
          </a:p>
          <a:p>
            <a:pPr marL="295910" marR="105791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-5" dirty="0">
                <a:latin typeface="Calibri"/>
                <a:cs typeface="Calibri"/>
              </a:rPr>
              <a:t>After </a:t>
            </a:r>
            <a:r>
              <a:rPr sz="2800" spc="-15" dirty="0">
                <a:latin typeface="Calibri"/>
                <a:cs typeface="Calibri"/>
              </a:rPr>
              <a:t>getting </a:t>
            </a:r>
            <a:r>
              <a:rPr sz="2800" spc="-5" dirty="0">
                <a:latin typeface="Calibri"/>
                <a:cs typeface="Calibri"/>
              </a:rPr>
              <a:t>the response </a:t>
            </a:r>
            <a:r>
              <a:rPr sz="2800" spc="-1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inference </a:t>
            </a:r>
            <a:r>
              <a:rPr sz="2800" dirty="0">
                <a:latin typeface="Calibri"/>
                <a:cs typeface="Calibri"/>
              </a:rPr>
              <a:t>engine, it </a:t>
            </a:r>
            <a:r>
              <a:rPr sz="2800" spc="-10" dirty="0">
                <a:latin typeface="Calibri"/>
                <a:cs typeface="Calibri"/>
              </a:rPr>
              <a:t>displays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output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user.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1381124"/>
            <a:ext cx="53219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u="none" spc="-5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2800" b="1" u="none" spc="-10" dirty="0">
                <a:solidFill>
                  <a:srgbClr val="FF0000"/>
                </a:solidFill>
                <a:latin typeface="Calibri"/>
                <a:cs typeface="Calibri"/>
              </a:rPr>
              <a:t> Inference</a:t>
            </a:r>
            <a:r>
              <a:rPr sz="2800" b="1" u="none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dirty="0">
                <a:solidFill>
                  <a:srgbClr val="FF0000"/>
                </a:solidFill>
                <a:latin typeface="Calibri"/>
                <a:cs typeface="Calibri"/>
              </a:rPr>
              <a:t>Engine(Rules</a:t>
            </a:r>
            <a:r>
              <a:rPr sz="2800" b="1" u="none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b="1" u="none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u="none" dirty="0">
                <a:solidFill>
                  <a:srgbClr val="FF0000"/>
                </a:solidFill>
                <a:latin typeface="Calibri"/>
                <a:cs typeface="Calibri"/>
              </a:rPr>
              <a:t>Engine)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43" y="1886788"/>
            <a:ext cx="10671175" cy="2807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help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inference</a:t>
            </a:r>
            <a:r>
              <a:rPr sz="2400" dirty="0">
                <a:latin typeface="Calibri"/>
                <a:cs typeface="Calibri"/>
              </a:rPr>
              <a:t> engine,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system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extracts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There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types of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inference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engine: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Deterministic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Inference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engine</a:t>
            </a:r>
            <a:r>
              <a:rPr sz="2400" b="1" dirty="0">
                <a:latin typeface="Calibri"/>
                <a:cs typeface="Calibri"/>
              </a:rPr>
              <a:t>: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conclusions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drawn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inference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engine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assumed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" dirty="0">
                <a:latin typeface="Calibri"/>
                <a:cs typeface="Calibri"/>
              </a:rPr>
              <a:t> 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facts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b="1" dirty="0">
                <a:latin typeface="Calibri"/>
                <a:cs typeface="Calibri"/>
              </a:rPr>
              <a:t>rules</a:t>
            </a:r>
            <a:r>
              <a:rPr sz="240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Probabilistic</a:t>
            </a:r>
            <a:r>
              <a:rPr sz="24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Inference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engine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inference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engine </a:t>
            </a:r>
            <a:r>
              <a:rPr sz="2400" spc="-10" dirty="0">
                <a:latin typeface="Calibri"/>
                <a:cs typeface="Calibri"/>
              </a:rPr>
              <a:t>contains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uncertainty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conclusions,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" dirty="0">
                <a:latin typeface="Calibri"/>
                <a:cs typeface="Calibri"/>
              </a:rPr>
              <a:t> 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probability.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1050905" cy="17081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Inference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engine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uses</a:t>
            </a:r>
            <a:r>
              <a:rPr sz="24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below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24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derive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solutions: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Forward</a:t>
            </a:r>
            <a:r>
              <a:rPr sz="24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Chaining: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" dirty="0">
                <a:latin typeface="Calibri"/>
                <a:cs typeface="Calibri"/>
              </a:rPr>
              <a:t> starts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known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rules,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applies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inference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rules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conclusion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facts.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example</a:t>
            </a:r>
            <a:r>
              <a:rPr sz="2400" spc="-20" dirty="0">
                <a:latin typeface="Calibri"/>
                <a:cs typeface="Calibri"/>
              </a:rPr>
              <a:t>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prediction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market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20" dirty="0">
                <a:latin typeface="Calibri"/>
                <a:cs typeface="Calibri"/>
              </a:rPr>
              <a:t>effect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changes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interest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rates.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4103" y="3429000"/>
            <a:ext cx="7217664" cy="2471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0528300" cy="17081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Backward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Chaining:</a:t>
            </a:r>
            <a:endParaRPr sz="24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backward </a:t>
            </a:r>
            <a:r>
              <a:rPr sz="2400" dirty="0">
                <a:latin typeface="Calibri"/>
                <a:cs typeface="Calibri"/>
              </a:rPr>
              <a:t>reasoning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method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starts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goal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works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backward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prove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facts.</a:t>
            </a:r>
            <a:endParaRPr sz="240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example,</a:t>
            </a:r>
            <a:r>
              <a:rPr sz="24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diagnosis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blood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cancer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255" y="3072383"/>
            <a:ext cx="7857744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297376"/>
            <a:ext cx="10594975" cy="241554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r>
              <a:rPr sz="2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Base</a:t>
            </a:r>
            <a:endParaRPr sz="28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-5" dirty="0">
                <a:latin typeface="Calibri"/>
                <a:cs typeface="Calibri"/>
              </a:rPr>
              <a:t>The knowledgebase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type of </a:t>
            </a:r>
            <a:r>
              <a:rPr sz="2800" spc="-15" dirty="0">
                <a:latin typeface="Calibri"/>
                <a:cs typeface="Calibri"/>
              </a:rPr>
              <a:t>storage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15" dirty="0">
                <a:latin typeface="Calibri"/>
                <a:cs typeface="Calibri"/>
              </a:rPr>
              <a:t>stores </a:t>
            </a:r>
            <a:r>
              <a:rPr sz="2800" spc="-5" dirty="0">
                <a:latin typeface="Calibri"/>
                <a:cs typeface="Calibri"/>
              </a:rPr>
              <a:t>knowledge </a:t>
            </a:r>
            <a:r>
              <a:rPr sz="2800" spc="-10" dirty="0">
                <a:latin typeface="Calibri"/>
                <a:cs typeface="Calibri"/>
              </a:rPr>
              <a:t>acquired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different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experts</a:t>
            </a:r>
            <a:r>
              <a:rPr sz="2800" dirty="0">
                <a:latin typeface="Calibri"/>
                <a:cs typeface="Calibri"/>
              </a:rPr>
              <a:t> 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particular domain.</a:t>
            </a:r>
            <a:endParaRPr sz="2800">
              <a:latin typeface="Calibri"/>
              <a:cs typeface="Calibri"/>
            </a:endParaRPr>
          </a:p>
          <a:p>
            <a:pPr marL="295910" marR="165735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77825" algn="l"/>
                <a:tab pos="378460" algn="l"/>
              </a:tabLst>
            </a:pPr>
            <a:r>
              <a:rPr dirty="0"/>
              <a:t>	</a:t>
            </a:r>
            <a:r>
              <a:rPr sz="2800" spc="-10" dirty="0">
                <a:latin typeface="Calibri"/>
                <a:cs typeface="Calibri"/>
              </a:rPr>
              <a:t>It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considered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spc="-5" dirty="0">
                <a:latin typeface="Calibri"/>
                <a:cs typeface="Calibri"/>
              </a:rPr>
              <a:t>big </a:t>
            </a:r>
            <a:r>
              <a:rPr sz="2800" spc="-15" dirty="0">
                <a:latin typeface="Calibri"/>
                <a:cs typeface="Calibri"/>
              </a:rPr>
              <a:t>storage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knowledge. The </a:t>
            </a:r>
            <a:r>
              <a:rPr sz="2800" spc="-15" dirty="0">
                <a:latin typeface="Calibri"/>
                <a:cs typeface="Calibri"/>
              </a:rPr>
              <a:t>more </a:t>
            </a:r>
            <a:r>
              <a:rPr sz="2800" spc="-5" dirty="0">
                <a:latin typeface="Calibri"/>
                <a:cs typeface="Calibri"/>
              </a:rPr>
              <a:t>the knowledge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base,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precise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Expert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System.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1116310" cy="405002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Components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r>
              <a:rPr sz="24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Base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5" dirty="0">
                <a:latin typeface="Calibri"/>
                <a:cs typeface="Calibri"/>
              </a:rPr>
              <a:t>Factual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Knowledge: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facts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accepted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engineers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comes </a:t>
            </a:r>
            <a:r>
              <a:rPr sz="2400" dirty="0">
                <a:latin typeface="Calibri"/>
                <a:cs typeface="Calibri"/>
              </a:rPr>
              <a:t>under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factual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Heuristic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Knowledge: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" dirty="0">
                <a:latin typeface="Calibri"/>
                <a:cs typeface="Calibri"/>
              </a:rPr>
              <a:t> 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practice,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guess,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evaluation,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experiences.</a:t>
            </a:r>
            <a:endParaRPr sz="2400">
              <a:latin typeface="Calibri"/>
              <a:cs typeface="Calibri"/>
            </a:endParaRPr>
          </a:p>
          <a:p>
            <a:pPr marL="295910" marR="106807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Knowledge </a:t>
            </a:r>
            <a:r>
              <a:rPr sz="2400" b="1" spc="-10" dirty="0">
                <a:latin typeface="Calibri"/>
                <a:cs typeface="Calibri"/>
              </a:rPr>
              <a:t>Representation: </a:t>
            </a:r>
            <a:r>
              <a:rPr sz="2400" dirty="0">
                <a:latin typeface="Calibri"/>
                <a:cs typeface="Calibri"/>
              </a:rPr>
              <a:t>It is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0" dirty="0">
                <a:latin typeface="Calibri"/>
                <a:cs typeface="Calibri"/>
              </a:rPr>
              <a:t>to formalize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knowledge </a:t>
            </a:r>
            <a:r>
              <a:rPr sz="2400" spc="-15" dirty="0">
                <a:latin typeface="Calibri"/>
                <a:cs typeface="Calibri"/>
              </a:rPr>
              <a:t>stored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If-else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rules.</a:t>
            </a:r>
            <a:endParaRPr sz="24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Knowledge </a:t>
            </a:r>
            <a:r>
              <a:rPr sz="2400" b="1" dirty="0">
                <a:latin typeface="Calibri"/>
                <a:cs typeface="Calibri"/>
              </a:rPr>
              <a:t>Acquisitions: </a:t>
            </a:r>
            <a:r>
              <a:rPr sz="2400" dirty="0">
                <a:latin typeface="Calibri"/>
                <a:cs typeface="Calibri"/>
              </a:rPr>
              <a:t>It is the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extracting, </a:t>
            </a:r>
            <a:r>
              <a:rPr sz="2400" spc="-5" dirty="0">
                <a:latin typeface="Calibri"/>
                <a:cs typeface="Calibri"/>
              </a:rPr>
              <a:t>organizing,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structuring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domain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specifying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acquire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various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experts,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store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knowledge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1023600" cy="405002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Participants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development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 Expert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System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-10" dirty="0">
                <a:latin typeface="Calibri"/>
                <a:cs typeface="Calibri"/>
              </a:rPr>
              <a:t> 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three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building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System:</a:t>
            </a:r>
            <a:endParaRPr sz="2400">
              <a:latin typeface="Calibri"/>
              <a:cs typeface="Calibri"/>
            </a:endParaRPr>
          </a:p>
          <a:p>
            <a:pPr marL="295910" marR="22479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latin typeface="Calibri"/>
                <a:cs typeface="Calibri"/>
              </a:rPr>
              <a:t>Expert: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success of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ES </a:t>
            </a:r>
            <a:r>
              <a:rPr sz="2400" dirty="0">
                <a:latin typeface="Calibri"/>
                <a:cs typeface="Calibri"/>
              </a:rPr>
              <a:t>much </a:t>
            </a:r>
            <a:r>
              <a:rPr sz="2400" spc="5" dirty="0">
                <a:latin typeface="Calibri"/>
                <a:cs typeface="Calibri"/>
              </a:rPr>
              <a:t>depends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knowledge provided </a:t>
            </a:r>
            <a:r>
              <a:rPr sz="2400" dirty="0">
                <a:latin typeface="Calibri"/>
                <a:cs typeface="Calibri"/>
              </a:rPr>
              <a:t>by human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experts.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persons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specialized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domain.</a:t>
            </a:r>
            <a:endParaRPr sz="2400">
              <a:latin typeface="Calibri"/>
              <a:cs typeface="Calibri"/>
            </a:endParaRPr>
          </a:p>
          <a:p>
            <a:pPr marL="295910" marR="128905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Knowledge Engineer: </a:t>
            </a:r>
            <a:r>
              <a:rPr sz="2400" spc="-10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engineer is the </a:t>
            </a:r>
            <a:r>
              <a:rPr sz="2400" spc="-10" dirty="0">
                <a:latin typeface="Calibri"/>
                <a:cs typeface="Calibri"/>
              </a:rPr>
              <a:t>person </a:t>
            </a:r>
            <a:r>
              <a:rPr sz="2400" spc="-5" dirty="0">
                <a:latin typeface="Calibri"/>
                <a:cs typeface="Calibri"/>
              </a:rPr>
              <a:t>who </a:t>
            </a:r>
            <a:r>
              <a:rPr sz="2400" spc="-15" dirty="0">
                <a:latin typeface="Calibri"/>
                <a:cs typeface="Calibri"/>
              </a:rPr>
              <a:t>gathers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domain </a:t>
            </a:r>
            <a:r>
              <a:rPr sz="2400" spc="-10" dirty="0">
                <a:latin typeface="Calibri"/>
                <a:cs typeface="Calibri"/>
              </a:rPr>
              <a:t>experts </a:t>
            </a:r>
            <a:r>
              <a:rPr sz="2400" dirty="0">
                <a:latin typeface="Calibri"/>
                <a:cs typeface="Calibri"/>
              </a:rPr>
              <a:t>and then </a:t>
            </a:r>
            <a:r>
              <a:rPr sz="2400" spc="-5" dirty="0">
                <a:latin typeface="Calibri"/>
                <a:cs typeface="Calibri"/>
              </a:rPr>
              <a:t>codifies that </a:t>
            </a:r>
            <a:r>
              <a:rPr sz="2400" spc="-10" dirty="0">
                <a:latin typeface="Calibri"/>
                <a:cs typeface="Calibri"/>
              </a:rPr>
              <a:t>knowledge 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10" dirty="0">
                <a:latin typeface="Calibri"/>
                <a:cs typeface="Calibri"/>
              </a:rPr>
              <a:t>according 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formalism.</a:t>
            </a:r>
            <a:endParaRPr sz="24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latin typeface="Calibri"/>
                <a:cs typeface="Calibri"/>
              </a:rPr>
              <a:t>End-User: </a:t>
            </a:r>
            <a:r>
              <a:rPr sz="2400" dirty="0">
                <a:latin typeface="Calibri"/>
                <a:cs typeface="Calibri"/>
              </a:rPr>
              <a:t>This is a particular </a:t>
            </a:r>
            <a:r>
              <a:rPr sz="2400" spc="-10" dirty="0">
                <a:latin typeface="Calibri"/>
                <a:cs typeface="Calibri"/>
              </a:rPr>
              <a:t>person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group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people </a:t>
            </a:r>
            <a:r>
              <a:rPr sz="2400" spc="-5" dirty="0">
                <a:latin typeface="Calibri"/>
                <a:cs typeface="Calibri"/>
              </a:rPr>
              <a:t>who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dirty="0">
                <a:latin typeface="Calibri"/>
                <a:cs typeface="Calibri"/>
              </a:rPr>
              <a:t>not be </a:t>
            </a:r>
            <a:r>
              <a:rPr sz="2400" spc="-10" dirty="0">
                <a:latin typeface="Calibri"/>
                <a:cs typeface="Calibri"/>
              </a:rPr>
              <a:t>experts,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working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expert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dirty="0">
                <a:latin typeface="Calibri"/>
                <a:cs typeface="Calibri"/>
              </a:rPr>
              <a:t>needs the solution </a:t>
            </a:r>
            <a:r>
              <a:rPr sz="2400" spc="-5" dirty="0">
                <a:latin typeface="Calibri"/>
                <a:cs typeface="Calibri"/>
              </a:rPr>
              <a:t>or advice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his queries,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complex.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0589895" cy="30257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Advantages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20" dirty="0">
                <a:latin typeface="Calibri"/>
                <a:cs typeface="Calibri"/>
              </a:rPr>
              <a:t> systems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reproducible.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libri"/>
                <a:cs typeface="Calibri"/>
              </a:rPr>
              <a:t>They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risky</a:t>
            </a:r>
            <a:r>
              <a:rPr sz="2400" dirty="0">
                <a:latin typeface="Calibri"/>
                <a:cs typeface="Calibri"/>
              </a:rPr>
              <a:t> places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where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presence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safe.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5" dirty="0">
                <a:latin typeface="Calibri"/>
                <a:cs typeface="Calibri"/>
              </a:rPr>
              <a:t>Error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possibilities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 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KB </a:t>
            </a:r>
            <a:r>
              <a:rPr sz="2400" spc="-10" dirty="0">
                <a:latin typeface="Calibri"/>
                <a:cs typeface="Calibri"/>
              </a:rPr>
              <a:t>contains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correct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performance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systems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remains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steady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affected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emotions,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tension,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fatigue.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libri"/>
                <a:cs typeface="Calibri"/>
              </a:rPr>
              <a:t>They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very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respond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30" dirty="0">
                <a:latin typeface="Calibri"/>
                <a:cs typeface="Calibri"/>
              </a:rPr>
              <a:t> query.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0833735" cy="34645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Limitations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System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response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get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wrong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wrong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25" dirty="0">
                <a:latin typeface="Calibri"/>
                <a:cs typeface="Calibri"/>
              </a:rPr>
              <a:t>Like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being,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" dirty="0">
                <a:latin typeface="Calibri"/>
                <a:cs typeface="Calibri"/>
              </a:rPr>
              <a:t> cannot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produce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creative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different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scenarios.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maintenance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development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costs</a:t>
            </a:r>
            <a:r>
              <a:rPr sz="2400" spc="-10" dirty="0">
                <a:latin typeface="Calibri"/>
                <a:cs typeface="Calibri"/>
              </a:rPr>
              <a:t> 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acquisition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difficult.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domain,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limitations.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cannot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itself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hence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updates.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28090"/>
            <a:ext cx="11069320" cy="49657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Applications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b="1" spc="-5" dirty="0">
                <a:latin typeface="Calibri"/>
                <a:cs typeface="Calibri"/>
              </a:rPr>
              <a:t>In </a:t>
            </a:r>
            <a:r>
              <a:rPr sz="2000" b="1" spc="-10" dirty="0">
                <a:latin typeface="Calibri"/>
                <a:cs typeface="Calibri"/>
              </a:rPr>
              <a:t>designing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and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manufacturing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domain</a:t>
            </a:r>
            <a:endParaRPr sz="2000">
              <a:latin typeface="Calibri"/>
              <a:cs typeface="Calibri"/>
            </a:endParaRPr>
          </a:p>
          <a:p>
            <a:pPr marL="295910" marR="60452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can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" dirty="0">
                <a:latin typeface="Calibri"/>
                <a:cs typeface="Calibri"/>
              </a:rPr>
              <a:t> broadly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designing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manufacturing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devices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such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camera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lenses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automobiles.</a:t>
            </a:r>
            <a:endParaRPr sz="20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b="1" spc="-5" dirty="0">
                <a:latin typeface="Calibri"/>
                <a:cs typeface="Calibri"/>
              </a:rPr>
              <a:t>In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knowledge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domain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These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primarily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publishing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relevant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knowledge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users.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two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popular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ES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domain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</a:t>
            </a:r>
            <a:r>
              <a:rPr sz="2000" spc="-10" dirty="0">
                <a:latin typeface="Calibri"/>
                <a:cs typeface="Calibri"/>
              </a:rPr>
              <a:t> advisor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tax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advisor.</a:t>
            </a:r>
            <a:endParaRPr sz="20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b="1" spc="-5" dirty="0">
                <a:latin typeface="Calibri"/>
                <a:cs typeface="Calibri"/>
              </a:rPr>
              <a:t>In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finance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domain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finance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industries,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detect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possible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fraud,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suspicious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activity,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advise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Calibri"/>
                <a:cs typeface="Calibri"/>
              </a:rPr>
              <a:t>bankers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should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provide</a:t>
            </a:r>
            <a:r>
              <a:rPr sz="2000" spc="-5" dirty="0">
                <a:latin typeface="Calibri"/>
                <a:cs typeface="Calibri"/>
              </a:rPr>
              <a:t> loans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business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not.</a:t>
            </a:r>
            <a:endParaRPr sz="20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b="1" spc="-5" dirty="0">
                <a:latin typeface="Calibri"/>
                <a:cs typeface="Calibri"/>
              </a:rPr>
              <a:t>In</a:t>
            </a:r>
            <a:r>
              <a:rPr sz="2000" b="1" dirty="0">
                <a:latin typeface="Calibri"/>
                <a:cs typeface="Calibri"/>
              </a:rPr>
              <a:t> the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diagnosis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and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troubleshooting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10" dirty="0">
                <a:latin typeface="Calibri"/>
                <a:cs typeface="Calibri"/>
              </a:rPr>
              <a:t> devices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spc="-15" dirty="0">
                <a:latin typeface="Calibri"/>
                <a:cs typeface="Calibri"/>
              </a:rPr>
              <a:t>medical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diagnosis,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it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was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first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area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where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these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were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used.</a:t>
            </a:r>
            <a:endParaRPr sz="20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b="1" spc="-5" dirty="0">
                <a:latin typeface="Calibri"/>
                <a:cs typeface="Calibri"/>
              </a:rPr>
              <a:t>Planning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and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Scheduling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expert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can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also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planning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scheduling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some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particular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tasks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achieving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goal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" y="1194815"/>
            <a:ext cx="12192000" cy="52069"/>
          </a:xfrm>
          <a:custGeom>
            <a:avLst/>
            <a:gdLst/>
            <a:ahLst/>
            <a:cxnLst/>
            <a:rect l="l" t="t" r="r" b="b"/>
            <a:pathLst>
              <a:path w="12192000" h="52069">
                <a:moveTo>
                  <a:pt x="12192000" y="34544"/>
                </a:moveTo>
                <a:lnTo>
                  <a:pt x="12190476" y="34544"/>
                </a:lnTo>
                <a:lnTo>
                  <a:pt x="6096" y="34544"/>
                </a:lnTo>
                <a:lnTo>
                  <a:pt x="0" y="34544"/>
                </a:lnTo>
                <a:lnTo>
                  <a:pt x="0" y="51816"/>
                </a:lnTo>
                <a:lnTo>
                  <a:pt x="6096" y="51816"/>
                </a:lnTo>
                <a:lnTo>
                  <a:pt x="12190476" y="51816"/>
                </a:lnTo>
                <a:lnTo>
                  <a:pt x="12192000" y="51816"/>
                </a:lnTo>
                <a:lnTo>
                  <a:pt x="12192000" y="34544"/>
                </a:lnTo>
                <a:close/>
              </a:path>
              <a:path w="12192000" h="52069">
                <a:moveTo>
                  <a:pt x="12192000" y="0"/>
                </a:moveTo>
                <a:lnTo>
                  <a:pt x="12190476" y="0"/>
                </a:lnTo>
                <a:lnTo>
                  <a:pt x="6096" y="0"/>
                </a:lnTo>
                <a:lnTo>
                  <a:pt x="0" y="0"/>
                </a:lnTo>
                <a:lnTo>
                  <a:pt x="0" y="17272"/>
                </a:lnTo>
                <a:lnTo>
                  <a:pt x="6096" y="17272"/>
                </a:lnTo>
                <a:lnTo>
                  <a:pt x="12190476" y="17272"/>
                </a:lnTo>
                <a:lnTo>
                  <a:pt x="12192000" y="172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788" y="284226"/>
            <a:ext cx="8269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none" spc="-10" dirty="0">
                <a:solidFill>
                  <a:srgbClr val="FF0000"/>
                </a:solidFill>
                <a:latin typeface="Calibri"/>
                <a:cs typeface="Calibri"/>
              </a:rPr>
              <a:t>Representing</a:t>
            </a:r>
            <a:r>
              <a:rPr sz="3600" b="1" u="none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u="none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3600" b="1" u="none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u="none" spc="5" dirty="0">
                <a:solidFill>
                  <a:srgbClr val="FF0000"/>
                </a:solidFill>
                <a:latin typeface="Calibri"/>
                <a:cs typeface="Calibri"/>
              </a:rPr>
              <a:t>using</a:t>
            </a:r>
            <a:r>
              <a:rPr sz="3600" b="1" u="none" dirty="0">
                <a:solidFill>
                  <a:srgbClr val="FF0000"/>
                </a:solidFill>
                <a:latin typeface="Calibri"/>
                <a:cs typeface="Calibri"/>
              </a:rPr>
              <a:t> Domain</a:t>
            </a:r>
            <a:r>
              <a:rPr sz="3600" b="1" u="none" spc="-10" dirty="0">
                <a:solidFill>
                  <a:srgbClr val="FF0000"/>
                </a:solidFill>
                <a:latin typeface="Calibri"/>
                <a:cs typeface="Calibri"/>
              </a:rPr>
              <a:t> Knowledge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2767"/>
            <a:ext cx="10936284" cy="47152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1213104"/>
            <a:ext cx="99547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86256"/>
            <a:ext cx="9454896" cy="47853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3104"/>
            <a:ext cx="10168128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86256"/>
            <a:ext cx="9454896" cy="50017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4" y="1213104"/>
            <a:ext cx="8525256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3104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504266"/>
            <a:ext cx="45770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none" spc="-15" dirty="0">
                <a:solidFill>
                  <a:srgbClr val="FF0000"/>
                </a:solidFill>
                <a:latin typeface="Calibri"/>
                <a:cs typeface="Calibri"/>
              </a:rPr>
              <a:t>Reasoning</a:t>
            </a:r>
            <a:r>
              <a:rPr sz="3200" b="1" u="none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u="none" spc="-1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3200" b="1" u="none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u="none" spc="-15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43" y="1390269"/>
            <a:ext cx="10823575" cy="130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9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95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help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machines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perform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human-level</a:t>
            </a:r>
            <a:r>
              <a:rPr sz="2000" b="1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artificial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intelligence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various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subfields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25" dirty="0">
                <a:latin typeface="Calibri"/>
                <a:cs typeface="Calibri"/>
              </a:rPr>
              <a:t>like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machine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learning,</a:t>
            </a:r>
            <a:r>
              <a:rPr sz="2000" b="1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deep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learning,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natural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language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processing,</a:t>
            </a:r>
            <a:r>
              <a:rPr sz="2000" b="1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15" dirty="0">
                <a:latin typeface="Calibri"/>
                <a:cs typeface="Calibri"/>
              </a:rPr>
              <a:t>more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rely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spc="-10" dirty="0">
                <a:latin typeface="Calibri"/>
                <a:cs typeface="Calibri"/>
              </a:rPr>
              <a:t>reasoning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knowledge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representation.</a:t>
            </a:r>
            <a:endParaRPr sz="20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b="1" spc="-10" dirty="0">
                <a:latin typeface="Calibri"/>
                <a:cs typeface="Calibri"/>
              </a:rPr>
              <a:t>Reasoning </a:t>
            </a:r>
            <a:r>
              <a:rPr sz="2000" b="1" spc="-5" dirty="0">
                <a:latin typeface="Calibri"/>
                <a:cs typeface="Calibri"/>
              </a:rPr>
              <a:t>in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artificial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intelligence</a:t>
            </a:r>
            <a:r>
              <a:rPr sz="2000" b="1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helps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machines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think</a:t>
            </a:r>
            <a:r>
              <a:rPr sz="2000" spc="-10" dirty="0">
                <a:latin typeface="Calibri"/>
                <a:cs typeface="Calibri"/>
              </a:rPr>
              <a:t> rationally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15" dirty="0">
                <a:latin typeface="Calibri"/>
                <a:cs typeface="Calibri"/>
              </a:rPr>
              <a:t>perform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like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humans.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715767"/>
            <a:ext cx="10860023" cy="36423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1062970" cy="405002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5" dirty="0">
                <a:latin typeface="Calibri"/>
                <a:cs typeface="Calibri"/>
              </a:rPr>
              <a:t>EXAMPLE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REASONING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ARTIFICIAL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INTELLIGENCE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better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works</a:t>
            </a:r>
            <a:r>
              <a:rPr sz="2400" dirty="0">
                <a:latin typeface="Calibri"/>
                <a:cs typeface="Calibri"/>
              </a:rPr>
              <a:t> in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artificial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intelligence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applications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systems,</a:t>
            </a:r>
            <a:r>
              <a:rPr sz="2400" spc="-10" dirty="0">
                <a:latin typeface="Calibri"/>
                <a:cs typeface="Calibri"/>
              </a:rPr>
              <a:t> let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consider </a:t>
            </a:r>
            <a:r>
              <a:rPr sz="2400" spc="-15" dirty="0">
                <a:latin typeface="Calibri"/>
                <a:cs typeface="Calibri"/>
              </a:rPr>
              <a:t>two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examples:</a:t>
            </a:r>
            <a:endParaRPr sz="24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latin typeface="Calibri"/>
                <a:cs typeface="Calibri"/>
              </a:rPr>
              <a:t>Siri: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cognitive </a:t>
            </a:r>
            <a:r>
              <a:rPr sz="2400" dirty="0">
                <a:latin typeface="Calibri"/>
                <a:cs typeface="Calibri"/>
              </a:rPr>
              <a:t>virtual </a:t>
            </a:r>
            <a:r>
              <a:rPr sz="2400" spc="-5" dirty="0">
                <a:latin typeface="Calibri"/>
                <a:cs typeface="Calibri"/>
              </a:rPr>
              <a:t>assistant uses </a:t>
            </a:r>
            <a:r>
              <a:rPr sz="2400" dirty="0">
                <a:latin typeface="Calibri"/>
                <a:cs typeface="Calibri"/>
              </a:rPr>
              <a:t>reasoning </a:t>
            </a:r>
            <a:r>
              <a:rPr sz="2400" spc="-5" dirty="0">
                <a:latin typeface="Calibri"/>
                <a:cs typeface="Calibri"/>
              </a:rPr>
              <a:t>to </a:t>
            </a:r>
            <a:r>
              <a:rPr sz="2400" spc="-15" dirty="0">
                <a:latin typeface="Calibri"/>
                <a:cs typeface="Calibri"/>
              </a:rPr>
              <a:t>offer </a:t>
            </a:r>
            <a:r>
              <a:rPr sz="2400" dirty="0">
                <a:latin typeface="Calibri"/>
                <a:cs typeface="Calibri"/>
              </a:rPr>
              <a:t>suggestions and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recommendations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commands.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example,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nearest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location,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tomorrow,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PM,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things.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0" dirty="0">
                <a:latin typeface="Calibri"/>
                <a:cs typeface="Calibri"/>
              </a:rPr>
              <a:t>WolframAlpha: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computational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engine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relies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perform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mathematical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computations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portions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food.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like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reasoning,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along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representation,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logic,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15" dirty="0">
                <a:latin typeface="Calibri"/>
                <a:cs typeface="Calibri"/>
              </a:rPr>
              <a:t> 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analysis,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problem-solving,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conclusions,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more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88746"/>
            <a:ext cx="11418570" cy="5695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TYPES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REASONING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ARTIFICIAL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INTELLIGENCE: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artificial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intelligence,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reasoning,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focused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inferring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are:</a:t>
            </a:r>
            <a:endParaRPr sz="2400" dirty="0">
              <a:latin typeface="Calibri"/>
              <a:cs typeface="Calibri"/>
            </a:endParaRPr>
          </a:p>
          <a:p>
            <a:pPr marL="295910" marR="70485" indent="-28384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14960" algn="l"/>
              </a:tabLst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Deductive Reasoning</a:t>
            </a:r>
            <a:r>
              <a:rPr sz="2400" b="1" spc="-5" dirty="0">
                <a:latin typeface="Calibri"/>
                <a:cs typeface="Calibri"/>
              </a:rPr>
              <a:t>: </a:t>
            </a:r>
            <a:r>
              <a:rPr sz="2400" dirty="0">
                <a:latin typeface="Calibri"/>
                <a:cs typeface="Calibri"/>
              </a:rPr>
              <a:t>A type </a:t>
            </a:r>
            <a:r>
              <a:rPr sz="2400" spc="-5" dirty="0">
                <a:latin typeface="Calibri"/>
                <a:cs typeface="Calibri"/>
              </a:rPr>
              <a:t>of propositional </a:t>
            </a:r>
            <a:r>
              <a:rPr sz="2400" dirty="0">
                <a:latin typeface="Calibri"/>
                <a:cs typeface="Calibri"/>
              </a:rPr>
              <a:t>logic in artificial </a:t>
            </a:r>
            <a:r>
              <a:rPr sz="2400" spc="-5" dirty="0">
                <a:latin typeface="Calibri"/>
                <a:cs typeface="Calibri"/>
              </a:rPr>
              <a:t>intelligence, deductive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reasoning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formal method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of top-down logic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requires various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rules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facts,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called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premises,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deduce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the conclusion</a:t>
            </a:r>
            <a:r>
              <a:rPr sz="24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right</a:t>
            </a:r>
            <a:r>
              <a:rPr sz="2400" spc="5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concept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deductive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expressed </a:t>
            </a:r>
            <a:r>
              <a:rPr sz="2400" spc="-5" dirty="0">
                <a:latin typeface="Calibri"/>
                <a:cs typeface="Calibri"/>
              </a:rPr>
              <a:t>visually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form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funnel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narrows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general </a:t>
            </a:r>
            <a:r>
              <a:rPr sz="2400" dirty="0">
                <a:latin typeface="Calibri"/>
                <a:cs typeface="Calibri"/>
              </a:rPr>
              <a:t>idea </a:t>
            </a:r>
            <a:r>
              <a:rPr sz="2400" spc="-10" dirty="0">
                <a:latin typeface="Calibri"/>
                <a:cs typeface="Calibri"/>
              </a:rPr>
              <a:t>into </a:t>
            </a:r>
            <a:r>
              <a:rPr sz="2400" dirty="0">
                <a:latin typeface="Calibri"/>
                <a:cs typeface="Calibri"/>
              </a:rPr>
              <a:t>the final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conclusion. </a:t>
            </a:r>
            <a:r>
              <a:rPr sz="2400" dirty="0">
                <a:latin typeface="Calibri"/>
                <a:cs typeface="Calibri"/>
              </a:rPr>
              <a:t>In short, </a:t>
            </a:r>
            <a:r>
              <a:rPr sz="2400" spc="-5" dirty="0">
                <a:latin typeface="Calibri"/>
                <a:cs typeface="Calibri"/>
              </a:rPr>
              <a:t>deductive reasoning uses </a:t>
            </a:r>
            <a:r>
              <a:rPr sz="2400" spc="-10" dirty="0">
                <a:latin typeface="Calibri"/>
                <a:cs typeface="Calibri"/>
              </a:rPr>
              <a:t>formal </a:t>
            </a:r>
            <a:r>
              <a:rPr sz="2400" dirty="0">
                <a:latin typeface="Calibri"/>
                <a:cs typeface="Calibri"/>
              </a:rPr>
              <a:t>logic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produce logically certain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involves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Theory</a:t>
            </a:r>
          </a:p>
          <a:p>
            <a:pPr marL="698500" lvl="1" indent="-22923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Hypothesis</a:t>
            </a:r>
          </a:p>
          <a:p>
            <a:pPr marL="698500" lvl="1" indent="-22923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Patterns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Confirmation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50645"/>
            <a:ext cx="11064875" cy="46361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5910" marR="5080" indent="-283845">
              <a:lnSpc>
                <a:spcPct val="90000"/>
              </a:lnSpc>
              <a:spcBef>
                <a:spcPts val="385"/>
              </a:spcBef>
              <a:buAutoNum type="arabicPeriod" startAt="2"/>
              <a:tabLst>
                <a:tab pos="314325" algn="l"/>
              </a:tabLst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Inductive Reasoning: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opposite of deductive </a:t>
            </a:r>
            <a:r>
              <a:rPr sz="2400" dirty="0">
                <a:latin typeface="Calibri"/>
                <a:cs typeface="Calibri"/>
              </a:rPr>
              <a:t>reasoning,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inductive reasoning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is a 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bottom-up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logic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uses specific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observations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to reach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conclusion</a:t>
            </a:r>
            <a:r>
              <a:rPr sz="2400" spc="5" dirty="0">
                <a:latin typeface="Calibri"/>
                <a:cs typeface="Calibri"/>
              </a:rPr>
              <a:t>.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cases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where </a:t>
            </a:r>
            <a:r>
              <a:rPr sz="2400" spc="-5" dirty="0">
                <a:latin typeface="Calibri"/>
                <a:cs typeface="Calibri"/>
              </a:rPr>
              <a:t>there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5" dirty="0">
                <a:latin typeface="Calibri"/>
                <a:cs typeface="Calibri"/>
              </a:rPr>
              <a:t>limited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facts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data to </a:t>
            </a:r>
            <a:r>
              <a:rPr sz="2400" spc="-5" dirty="0">
                <a:latin typeface="Calibri"/>
                <a:cs typeface="Calibri"/>
              </a:rPr>
              <a:t>arrive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conclusion, Inductive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reasoning uses </a:t>
            </a:r>
            <a:r>
              <a:rPr sz="2400" spc="-10" dirty="0">
                <a:latin typeface="Calibri"/>
                <a:cs typeface="Calibri"/>
              </a:rPr>
              <a:t>historical data to </a:t>
            </a:r>
            <a:r>
              <a:rPr sz="2400" spc="-5" dirty="0">
                <a:latin typeface="Calibri"/>
                <a:cs typeface="Calibri"/>
              </a:rPr>
              <a:t>produce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generic </a:t>
            </a:r>
            <a:r>
              <a:rPr sz="2400" dirty="0">
                <a:latin typeface="Calibri"/>
                <a:cs typeface="Calibri"/>
              </a:rPr>
              <a:t>rule </a:t>
            </a:r>
            <a:r>
              <a:rPr sz="2400" spc="-5" dirty="0">
                <a:latin typeface="Calibri"/>
                <a:cs typeface="Calibri"/>
              </a:rPr>
              <a:t>whose conclusion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supported </a:t>
            </a:r>
            <a:r>
              <a:rPr sz="2400" dirty="0">
                <a:latin typeface="Calibri"/>
                <a:cs typeface="Calibri"/>
              </a:rPr>
              <a:t> 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premises.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cause-effect </a:t>
            </a:r>
            <a:r>
              <a:rPr sz="2400" dirty="0">
                <a:latin typeface="Calibri"/>
                <a:cs typeface="Calibri"/>
              </a:rPr>
              <a:t>reasoning,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second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reasoning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exploratory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allows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uncertain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likely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C00000"/>
              </a:buClr>
              <a:buFont typeface="Calibri"/>
              <a:buAutoNum type="arabicPeriod" startAt="2"/>
            </a:pPr>
            <a:endParaRPr sz="2150" dirty="0">
              <a:latin typeface="Calibri"/>
              <a:cs typeface="Calibri"/>
            </a:endParaRPr>
          </a:p>
          <a:p>
            <a:pPr marL="295910" marR="504190">
              <a:lnSpc>
                <a:spcPts val="2590"/>
              </a:lnSpc>
            </a:pPr>
            <a:r>
              <a:rPr sz="2400" spc="-25" dirty="0">
                <a:latin typeface="Calibri"/>
                <a:cs typeface="Calibri"/>
              </a:rPr>
              <a:t>Like </a:t>
            </a:r>
            <a:r>
              <a:rPr sz="2400" spc="-5" dirty="0">
                <a:latin typeface="Calibri"/>
                <a:cs typeface="Calibri"/>
              </a:rPr>
              <a:t>Deductive </a:t>
            </a:r>
            <a:r>
              <a:rPr sz="2400" dirty="0">
                <a:latin typeface="Calibri"/>
                <a:cs typeface="Calibri"/>
              </a:rPr>
              <a:t>reasoning, </a:t>
            </a:r>
            <a:r>
              <a:rPr sz="2400" spc="-5" dirty="0">
                <a:latin typeface="Calibri"/>
                <a:cs typeface="Calibri"/>
              </a:rPr>
              <a:t>inductive reasoning </a:t>
            </a:r>
            <a:r>
              <a:rPr sz="2400" dirty="0">
                <a:latin typeface="Calibri"/>
                <a:cs typeface="Calibri"/>
              </a:rPr>
              <a:t>also </a:t>
            </a:r>
            <a:r>
              <a:rPr sz="2400" spc="-15" dirty="0">
                <a:latin typeface="Calibri"/>
                <a:cs typeface="Calibri"/>
              </a:rPr>
              <a:t>follows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steps to </a:t>
            </a:r>
            <a:r>
              <a:rPr sz="2400" spc="-5" dirty="0">
                <a:latin typeface="Calibri"/>
                <a:cs typeface="Calibri"/>
              </a:rPr>
              <a:t>perform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reasoning,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are: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Observation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Pattern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Hypothesis</a:t>
            </a:r>
          </a:p>
          <a:p>
            <a:pPr marL="698500" lvl="1" indent="-22923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Theory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87221"/>
            <a:ext cx="11071225" cy="449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marR="5080" indent="-253365">
              <a:lnSpc>
                <a:spcPct val="100000"/>
              </a:lnSpc>
              <a:spcBef>
                <a:spcPts val="100"/>
              </a:spcBef>
              <a:buSzPct val="95833"/>
              <a:buAutoNum type="arabicPeriod" startAt="3"/>
              <a:tabLst>
                <a:tab pos="253365" algn="l"/>
              </a:tabLst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Abductive Reasoning: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extension </a:t>
            </a:r>
            <a:r>
              <a:rPr sz="2400" spc="-5" dirty="0">
                <a:latin typeface="Calibri"/>
                <a:cs typeface="Calibri"/>
              </a:rPr>
              <a:t>of deductive </a:t>
            </a:r>
            <a:r>
              <a:rPr sz="2400" dirty="0">
                <a:latin typeface="Calibri"/>
                <a:cs typeface="Calibri"/>
              </a:rPr>
              <a:t>reasoning, </a:t>
            </a:r>
            <a:r>
              <a:rPr sz="2400" spc="-5" dirty="0">
                <a:latin typeface="Calibri"/>
                <a:cs typeface="Calibri"/>
              </a:rPr>
              <a:t>abductive </a:t>
            </a:r>
            <a:r>
              <a:rPr sz="2400" dirty="0">
                <a:latin typeface="Calibri"/>
                <a:cs typeface="Calibri"/>
              </a:rPr>
              <a:t>reasoning, is 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form </a:t>
            </a:r>
            <a:r>
              <a:rPr sz="2400" spc="-5" dirty="0">
                <a:latin typeface="Calibri"/>
                <a:cs typeface="Calibri"/>
              </a:rPr>
              <a:t>of logical </a:t>
            </a:r>
            <a:r>
              <a:rPr sz="2400" spc="-15" dirty="0">
                <a:latin typeface="Calibri"/>
                <a:cs typeface="Calibri"/>
              </a:rPr>
              <a:t>inference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0" dirty="0">
                <a:latin typeface="Calibri"/>
                <a:cs typeface="Calibri"/>
              </a:rPr>
              <a:t>seeks </a:t>
            </a:r>
            <a:r>
              <a:rPr sz="2400" dirty="0">
                <a:latin typeface="Calibri"/>
                <a:cs typeface="Calibri"/>
              </a:rPr>
              <a:t>theories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define </a:t>
            </a:r>
            <a:r>
              <a:rPr sz="2400" spc="-5" dirty="0">
                <a:latin typeface="Calibri"/>
                <a:cs typeface="Calibri"/>
              </a:rPr>
              <a:t>observations using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simplest </a:t>
            </a:r>
            <a:r>
              <a:rPr sz="2400" dirty="0">
                <a:latin typeface="Calibri"/>
                <a:cs typeface="Calibri"/>
              </a:rPr>
              <a:t> and </a:t>
            </a:r>
            <a:r>
              <a:rPr sz="2400" spc="-15" dirty="0">
                <a:latin typeface="Calibri"/>
                <a:cs typeface="Calibri"/>
              </a:rPr>
              <a:t>likely </a:t>
            </a:r>
            <a:r>
              <a:rPr sz="2400" spc="-5" dirty="0">
                <a:latin typeface="Calibri"/>
                <a:cs typeface="Calibri"/>
              </a:rPr>
              <a:t>explanation. Compared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inductive </a:t>
            </a:r>
            <a:r>
              <a:rPr sz="2400" dirty="0">
                <a:latin typeface="Calibri"/>
                <a:cs typeface="Calibri"/>
              </a:rPr>
              <a:t>reasoning, </a:t>
            </a:r>
            <a:r>
              <a:rPr sz="2400" spc="-5" dirty="0">
                <a:latin typeface="Calibri"/>
                <a:cs typeface="Calibri"/>
              </a:rPr>
              <a:t>abductive </a:t>
            </a:r>
            <a:r>
              <a:rPr sz="2400" dirty="0">
                <a:latin typeface="Calibri"/>
                <a:cs typeface="Calibri"/>
              </a:rPr>
              <a:t>reasoning,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abductive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inference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retroduction,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less</a:t>
            </a:r>
            <a:r>
              <a:rPr sz="24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rigorous</a:t>
            </a:r>
            <a:r>
              <a:rPr sz="24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allows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most </a:t>
            </a:r>
            <a:r>
              <a:rPr sz="2400" b="1" spc="-5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accurate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suggestions and guesses. </a:t>
            </a:r>
            <a:r>
              <a:rPr sz="2400" spc="-35" dirty="0">
                <a:latin typeface="Calibri"/>
                <a:cs typeface="Calibri"/>
              </a:rPr>
              <a:t>However, </a:t>
            </a:r>
            <a:r>
              <a:rPr sz="2400" spc="-15" dirty="0">
                <a:latin typeface="Calibri"/>
                <a:cs typeface="Calibri"/>
              </a:rPr>
              <a:t>unlike </a:t>
            </a:r>
            <a:r>
              <a:rPr sz="2400" spc="-5" dirty="0">
                <a:latin typeface="Calibri"/>
                <a:cs typeface="Calibri"/>
              </a:rPr>
              <a:t>deductive </a:t>
            </a:r>
            <a:r>
              <a:rPr sz="2400" dirty="0">
                <a:latin typeface="Calibri"/>
                <a:cs typeface="Calibri"/>
              </a:rPr>
              <a:t>reasoning, it does </a:t>
            </a:r>
            <a:r>
              <a:rPr sz="2400" spc="-5" dirty="0">
                <a:latin typeface="Calibri"/>
                <a:cs typeface="Calibri"/>
              </a:rPr>
              <a:t>not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rectify </a:t>
            </a:r>
            <a:r>
              <a:rPr sz="2400" dirty="0">
                <a:latin typeface="Calibri"/>
                <a:cs typeface="Calibri"/>
              </a:rPr>
              <a:t>the plausible </a:t>
            </a:r>
            <a:r>
              <a:rPr sz="2400" spc="-5" dirty="0">
                <a:latin typeface="Calibri"/>
                <a:cs typeface="Calibri"/>
              </a:rPr>
              <a:t>conclusion </a:t>
            </a:r>
            <a:r>
              <a:rPr sz="2400" dirty="0">
                <a:latin typeface="Calibri"/>
                <a:cs typeface="Calibri"/>
              </a:rPr>
              <a:t>and is </a:t>
            </a:r>
            <a:r>
              <a:rPr sz="2400" spc="-5" dirty="0">
                <a:latin typeface="Calibri"/>
                <a:cs typeface="Calibri"/>
              </a:rPr>
              <a:t>mostly used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certainties. </a:t>
            </a:r>
            <a:r>
              <a:rPr sz="2400" dirty="0">
                <a:latin typeface="Calibri"/>
                <a:cs typeface="Calibri"/>
              </a:rPr>
              <a:t>It is </a:t>
            </a:r>
            <a:r>
              <a:rPr sz="2400" spc="-5" dirty="0">
                <a:latin typeface="Calibri"/>
                <a:cs typeface="Calibri"/>
              </a:rPr>
              <a:t>associated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troubleshooting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making.</a:t>
            </a:r>
            <a:endParaRPr sz="2400">
              <a:latin typeface="Calibri"/>
              <a:cs typeface="Calibri"/>
            </a:endParaRPr>
          </a:p>
          <a:p>
            <a:pPr marL="295910" marR="194310" indent="-283845">
              <a:lnSpc>
                <a:spcPct val="100000"/>
              </a:lnSpc>
              <a:spcBef>
                <a:spcPts val="585"/>
              </a:spcBef>
              <a:buSzPct val="95833"/>
              <a:buAutoNum type="arabicPeriod" startAt="3"/>
              <a:tabLst>
                <a:tab pos="314325" algn="l"/>
              </a:tabLst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Commonsense</a:t>
            </a:r>
            <a:r>
              <a:rPr sz="24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Reasoning</a:t>
            </a:r>
            <a:r>
              <a:rPr sz="2400" b="1" spc="-5" dirty="0">
                <a:latin typeface="Calibri"/>
                <a:cs typeface="Calibri"/>
              </a:rPr>
              <a:t>: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type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informal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reasoning,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commonsense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reasoning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sz="2400" b="1" spc="-5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artificial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intelligence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helps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machines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simulate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human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ability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make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decisions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perceptions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about real-world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events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. </a:t>
            </a:r>
            <a:r>
              <a:rPr sz="2400" spc="-10" dirty="0">
                <a:latin typeface="Calibri"/>
                <a:cs typeface="Calibri"/>
              </a:rPr>
              <a:t>Operating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heuristic </a:t>
            </a:r>
            <a:r>
              <a:rPr sz="2400" spc="-10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and rules,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common </a:t>
            </a:r>
            <a:r>
              <a:rPr sz="2400" spc="-5" dirty="0">
                <a:latin typeface="Calibri"/>
                <a:cs typeface="Calibri"/>
              </a:rPr>
              <a:t>sense </a:t>
            </a:r>
            <a:r>
              <a:rPr sz="2400" dirty="0">
                <a:latin typeface="Calibri"/>
                <a:cs typeface="Calibri"/>
              </a:rPr>
              <a:t>in AI </a:t>
            </a:r>
            <a:r>
              <a:rPr sz="2400" spc="-5" dirty="0">
                <a:latin typeface="Calibri"/>
                <a:cs typeface="Calibri"/>
              </a:rPr>
              <a:t>relies on </a:t>
            </a:r>
            <a:r>
              <a:rPr sz="2400" spc="-15" dirty="0">
                <a:latin typeface="Calibri"/>
                <a:cs typeface="Calibri"/>
              </a:rPr>
              <a:t>accurate </a:t>
            </a:r>
            <a:r>
              <a:rPr sz="2400" spc="-5" dirty="0">
                <a:latin typeface="Calibri"/>
                <a:cs typeface="Calibri"/>
              </a:rPr>
              <a:t>judgment </a:t>
            </a:r>
            <a:r>
              <a:rPr sz="2400" spc="-10" dirty="0">
                <a:latin typeface="Calibri"/>
                <a:cs typeface="Calibri"/>
              </a:rPr>
              <a:t>rather </a:t>
            </a:r>
            <a:r>
              <a:rPr sz="2400" dirty="0">
                <a:latin typeface="Calibri"/>
                <a:cs typeface="Calibri"/>
              </a:rPr>
              <a:t>than logic and is </a:t>
            </a:r>
            <a:r>
              <a:rPr sz="2400" spc="-10" dirty="0">
                <a:latin typeface="Calibri"/>
                <a:cs typeface="Calibri"/>
              </a:rPr>
              <a:t>gained </a:t>
            </a:r>
            <a:r>
              <a:rPr sz="2400" spc="-5" dirty="0">
                <a:latin typeface="Calibri"/>
                <a:cs typeface="Calibri"/>
              </a:rPr>
              <a:t> through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experience.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computer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vision</a:t>
            </a:r>
            <a:r>
              <a:rPr sz="2400" dirty="0">
                <a:latin typeface="Calibri"/>
                <a:cs typeface="Calibri"/>
              </a:rPr>
              <a:t> 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robotic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manipulation.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452245"/>
            <a:ext cx="11041380" cy="4415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5430" marR="132080" indent="-265430">
              <a:lnSpc>
                <a:spcPct val="100000"/>
              </a:lnSpc>
              <a:spcBef>
                <a:spcPts val="90"/>
              </a:spcBef>
              <a:buAutoNum type="arabicPeriod" startAt="5"/>
              <a:tabLst>
                <a:tab pos="265430" algn="l"/>
              </a:tabLst>
            </a:pP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Monotonic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Reasoning:</a:t>
            </a:r>
            <a:r>
              <a:rPr sz="20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Another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important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reasoning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type,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monotonic</a:t>
            </a:r>
            <a:r>
              <a:rPr sz="20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reasoning</a:t>
            </a:r>
            <a:r>
              <a:rPr sz="20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uses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available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information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 and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facts</a:t>
            </a:r>
            <a:r>
              <a:rPr sz="20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reach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conclusion,</a:t>
            </a:r>
            <a:r>
              <a:rPr sz="20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remains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same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even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after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new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information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existing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knowledge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base.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Since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10" dirty="0">
                <a:latin typeface="Calibri"/>
                <a:cs typeface="Calibri"/>
              </a:rPr>
              <a:t> modify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conclusion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new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cannot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require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real-time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inputs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outputs.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Monotonic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reasoning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conventional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reasoning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logic-based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  <a:p>
            <a:pPr marL="208915" marR="22860" indent="-208915">
              <a:lnSpc>
                <a:spcPct val="100000"/>
              </a:lnSpc>
              <a:spcBef>
                <a:spcPts val="484"/>
              </a:spcBef>
              <a:buAutoNum type="arabicPeriod" startAt="5"/>
              <a:tabLst>
                <a:tab pos="208915" algn="l"/>
              </a:tabLst>
            </a:pP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Non-monotonic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Reasoning</a:t>
            </a:r>
            <a:r>
              <a:rPr sz="2000" b="1" spc="-5" dirty="0">
                <a:latin typeface="Calibri"/>
                <a:cs typeface="Calibri"/>
              </a:rPr>
              <a:t>: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Unlike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Monotonic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Reasoning,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non-monotonic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reasoning,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conclusion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is </a:t>
            </a:r>
            <a:r>
              <a:rPr sz="2000" b="1" spc="-43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termed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invalid</a:t>
            </a:r>
            <a:r>
              <a:rPr sz="2000" b="1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 new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information is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added</a:t>
            </a:r>
            <a:r>
              <a:rPr sz="20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knowledge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10" dirty="0">
                <a:solidFill>
                  <a:srgbClr val="C00000"/>
                </a:solidFill>
                <a:latin typeface="Calibri"/>
                <a:cs typeface="Calibri"/>
              </a:rPr>
              <a:t>base</a:t>
            </a:r>
            <a:r>
              <a:rPr sz="2000" spc="10" dirty="0">
                <a:latin typeface="Calibri"/>
                <a:cs typeface="Calibri"/>
              </a:rPr>
              <a:t>.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mostly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 capture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20" dirty="0">
                <a:latin typeface="Calibri"/>
                <a:cs typeface="Calibri"/>
              </a:rPr>
              <a:t>represent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defeasible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invalidated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inferences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defaults.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Moreover,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5" dirty="0">
                <a:latin typeface="Calibri"/>
                <a:cs typeface="Calibri"/>
              </a:rPr>
              <a:t> of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reasoning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deals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uncertain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incomplete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models.</a:t>
            </a:r>
            <a:endParaRPr sz="2000">
              <a:latin typeface="Calibri"/>
              <a:cs typeface="Calibri"/>
            </a:endParaRPr>
          </a:p>
          <a:p>
            <a:pPr marL="265430" marR="5080" indent="-265430">
              <a:lnSpc>
                <a:spcPct val="100000"/>
              </a:lnSpc>
              <a:spcBef>
                <a:spcPts val="484"/>
              </a:spcBef>
              <a:buAutoNum type="arabicPeriod" startAt="5"/>
              <a:tabLst>
                <a:tab pos="265430" algn="l"/>
              </a:tabLst>
            </a:pP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Forward</a:t>
            </a:r>
            <a:r>
              <a:rPr sz="20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&amp;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Backward</a:t>
            </a:r>
            <a:r>
              <a:rPr sz="20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Reasoning:</a:t>
            </a:r>
            <a:r>
              <a:rPr sz="20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Apart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these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reasoning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types,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Forward</a:t>
            </a:r>
            <a:r>
              <a:rPr sz="2000" b="1" spc="-5" dirty="0">
                <a:latin typeface="Calibri"/>
                <a:cs typeface="Calibri"/>
              </a:rPr>
              <a:t> and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Backward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Reasoning 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artificial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intelligence</a:t>
            </a:r>
            <a:r>
              <a:rPr sz="2000" b="1" spc="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-15" dirty="0">
                <a:latin typeface="Calibri"/>
                <a:cs typeface="Calibri"/>
              </a:rPr>
              <a:t> two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more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commonly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inference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reasoning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techniques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help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machines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perform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reasoning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like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humans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15" dirty="0">
                <a:latin typeface="Calibri"/>
                <a:cs typeface="Calibri"/>
              </a:rPr>
              <a:t>reach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conclusion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solutions,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with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great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accuracy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speed.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These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 mostly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expert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systems,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game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theory,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general-purpose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inference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engines,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more.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788" y="1295400"/>
            <a:ext cx="11203305" cy="488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marR="140335" indent="-28384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296545" algn="l"/>
              </a:tabLst>
            </a:pPr>
            <a:r>
              <a:rPr lang="en-US" sz="2600" dirty="0" smtClean="0">
                <a:latin typeface="Calibri"/>
                <a:cs typeface="Calibri"/>
              </a:rPr>
              <a:t>Initially Expert system was created from scratch, usually in LISP</a:t>
            </a:r>
          </a:p>
          <a:p>
            <a:pPr marL="295910" marR="140335" indent="-28384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296545" algn="l"/>
              </a:tabLst>
            </a:pPr>
            <a:r>
              <a:rPr lang="en-US" sz="2600" dirty="0" smtClean="0">
                <a:latin typeface="Calibri"/>
                <a:cs typeface="Calibri"/>
              </a:rPr>
              <a:t>The systems were constructed as set of rules combined with an interpreter for all those representations.</a:t>
            </a:r>
          </a:p>
          <a:p>
            <a:pPr marL="295910" marR="140335" indent="-28384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296545" algn="l"/>
              </a:tabLst>
            </a:pPr>
            <a:r>
              <a:rPr lang="en-US" sz="2600" dirty="0" smtClean="0">
                <a:latin typeface="Calibri"/>
                <a:cs typeface="Calibri"/>
              </a:rPr>
              <a:t>After several systems developed, It was clear these systems often had a lot in common. So it was possible to separate interpreter and domain specific knowledge.</a:t>
            </a:r>
          </a:p>
          <a:p>
            <a:pPr marL="295910" marR="140335" indent="-28384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296545" algn="l"/>
              </a:tabLst>
            </a:pPr>
            <a:r>
              <a:rPr lang="en-US" sz="2600" dirty="0" smtClean="0">
                <a:latin typeface="Calibri"/>
                <a:cs typeface="Calibri"/>
              </a:rPr>
              <a:t>The resulting interpreter is shells .we can create new expert system by adding new knowledge.</a:t>
            </a:r>
          </a:p>
          <a:p>
            <a:pPr marL="295910" marR="140335" indent="-28384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296545" algn="l"/>
              </a:tabLst>
            </a:pPr>
            <a:r>
              <a:rPr lang="en-US" sz="2600" dirty="0" smtClean="0">
                <a:latin typeface="Calibri"/>
                <a:cs typeface="Calibri"/>
              </a:rPr>
              <a:t>These shells provide flexibility in representing knowledge and in reasoning.</a:t>
            </a:r>
          </a:p>
          <a:p>
            <a:pPr marL="295910" marR="140335" indent="-28384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296545" algn="l"/>
              </a:tabLst>
            </a:pPr>
            <a:r>
              <a:rPr lang="en-US" sz="2600" dirty="0" smtClean="0">
                <a:latin typeface="Calibri"/>
                <a:cs typeface="Calibri"/>
              </a:rPr>
              <a:t>Each shell provided mechanism for knowledge representation, reasoning and explanation</a:t>
            </a:r>
          </a:p>
          <a:p>
            <a:pPr marL="295910" marR="140335" indent="-28384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296545" algn="l"/>
              </a:tabLst>
            </a:pP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1" y="247853"/>
            <a:ext cx="39154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none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3600" b="1" u="none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u="none" spc="-3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3600" b="1" u="none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u="none" dirty="0">
                <a:solidFill>
                  <a:srgbClr val="FF0000"/>
                </a:solidFill>
                <a:latin typeface="Calibri"/>
                <a:cs typeface="Calibri"/>
              </a:rPr>
              <a:t>Shells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788" y="1631061"/>
            <a:ext cx="11203305" cy="4622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marR="140335" indent="-28384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296545" algn="l"/>
              </a:tabLst>
            </a:pPr>
            <a:r>
              <a:rPr sz="2600" spc="-15" dirty="0">
                <a:latin typeface="Calibri"/>
                <a:cs typeface="Calibri"/>
              </a:rPr>
              <a:t>An</a:t>
            </a:r>
            <a:r>
              <a:rPr sz="2600" spc="80" dirty="0">
                <a:solidFill>
                  <a:srgbClr val="F49100"/>
                </a:solidFill>
                <a:latin typeface="Calibri"/>
                <a:cs typeface="Calibri"/>
              </a:rPr>
              <a:t> </a:t>
            </a:r>
            <a:r>
              <a:rPr sz="2600" u="heavy" spc="-10" dirty="0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Calibri"/>
                <a:cs typeface="Calibri"/>
                <a:hlinkClick r:id="rId2"/>
              </a:rPr>
              <a:t>expert</a:t>
            </a:r>
            <a:r>
              <a:rPr sz="2600" u="heavy" spc="50" dirty="0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00" u="heavy" spc="-30" dirty="0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Calibri"/>
                <a:cs typeface="Calibri"/>
                <a:hlinkClick r:id="rId2"/>
              </a:rPr>
              <a:t>system</a:t>
            </a:r>
            <a:r>
              <a:rPr sz="2600" spc="90" dirty="0">
                <a:solidFill>
                  <a:srgbClr val="F491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600" spc="-5" dirty="0">
                <a:latin typeface="Calibri"/>
                <a:cs typeface="Calibri"/>
              </a:rPr>
              <a:t>shell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can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considered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as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expert</a:t>
            </a:r>
            <a:r>
              <a:rPr sz="2600" spc="5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system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with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spc="-5">
                <a:latin typeface="Calibri"/>
                <a:cs typeface="Calibri"/>
              </a:rPr>
              <a:t>the </a:t>
            </a:r>
            <a:r>
              <a:rPr sz="2600">
                <a:latin typeface="Calibri"/>
                <a:cs typeface="Calibri"/>
              </a:rPr>
              <a:t> </a:t>
            </a:r>
            <a:r>
              <a:rPr lang="en-US" sz="2600" dirty="0" smtClean="0">
                <a:latin typeface="Calibri"/>
                <a:cs typeface="Calibri"/>
              </a:rPr>
              <a:t>flexibility to change the </a:t>
            </a:r>
            <a:r>
              <a:rPr sz="2600" spc="-10" smtClean="0">
                <a:latin typeface="Calibri"/>
                <a:cs typeface="Calibri"/>
              </a:rPr>
              <a:t>knowledge.</a:t>
            </a:r>
            <a:r>
              <a:rPr sz="2600" spc="-15" smtClean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Therefore,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all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user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has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</a:t>
            </a:r>
            <a:r>
              <a:rPr sz="2600" spc="-5" dirty="0">
                <a:latin typeface="Calibri"/>
                <a:cs typeface="Calibri"/>
              </a:rPr>
              <a:t> is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add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knowledge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form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rules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and </a:t>
            </a:r>
            <a:r>
              <a:rPr sz="2600" spc="-15" dirty="0">
                <a:latin typeface="Calibri"/>
                <a:cs typeface="Calibri"/>
              </a:rPr>
              <a:t>provide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relevant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data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solve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problem.</a:t>
            </a:r>
            <a:endParaRPr sz="2600">
              <a:latin typeface="Calibri"/>
              <a:cs typeface="Calibri"/>
            </a:endParaRPr>
          </a:p>
          <a:p>
            <a:pPr marL="295910" marR="337185" indent="-283845">
              <a:lnSpc>
                <a:spcPct val="100000"/>
              </a:lnSpc>
              <a:spcBef>
                <a:spcPts val="630"/>
              </a:spcBef>
              <a:buFont typeface="Wingdings"/>
              <a:buChar char=""/>
              <a:tabLst>
                <a:tab pos="370205" algn="l"/>
              </a:tabLst>
            </a:pPr>
            <a:r>
              <a:rPr sz="2600" spc="-15" dirty="0">
                <a:latin typeface="Calibri"/>
                <a:cs typeface="Calibri"/>
              </a:rPr>
              <a:t>An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Expert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system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shell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software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development </a:t>
            </a:r>
            <a:r>
              <a:rPr sz="2600" spc="-15" dirty="0">
                <a:latin typeface="Calibri"/>
                <a:cs typeface="Calibri"/>
              </a:rPr>
              <a:t>environment.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contains </a:t>
            </a: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basic </a:t>
            </a:r>
            <a:r>
              <a:rPr sz="2600" spc="-10" dirty="0">
                <a:latin typeface="Calibri"/>
                <a:cs typeface="Calibri"/>
              </a:rPr>
              <a:t>components</a:t>
            </a:r>
            <a:r>
              <a:rPr sz="2600" spc="-5" dirty="0">
                <a:latin typeface="Calibri"/>
                <a:cs typeface="Calibri"/>
              </a:rPr>
              <a:t> of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expert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systems.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shell</a:t>
            </a:r>
            <a:r>
              <a:rPr sz="2600" spc="-5" dirty="0">
                <a:latin typeface="Calibri"/>
                <a:cs typeface="Calibri"/>
              </a:rPr>
              <a:t> is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associated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with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prescribed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method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building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applications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by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configuring </a:t>
            </a:r>
            <a:r>
              <a:rPr sz="2600" spc="-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instantiating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these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components.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Shell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components</a:t>
            </a:r>
            <a:r>
              <a:rPr sz="2600" b="1" spc="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6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description</a:t>
            </a:r>
            <a:endParaRPr sz="26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600" spc="-5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generic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components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shell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: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knowledge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acquisition,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knowledge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Base,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reasoning, the </a:t>
            </a:r>
            <a:r>
              <a:rPr sz="2600" spc="-10" dirty="0">
                <a:latin typeface="Calibri"/>
                <a:cs typeface="Calibri"/>
              </a:rPr>
              <a:t>explanation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and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user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interface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are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shown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below.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knowledge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base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reasoning </a:t>
            </a:r>
            <a:r>
              <a:rPr sz="2600" spc="-5" dirty="0">
                <a:latin typeface="Calibri"/>
                <a:cs typeface="Calibri"/>
              </a:rPr>
              <a:t>engine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core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components.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1" y="247853"/>
            <a:ext cx="39154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none" dirty="0">
                <a:solidFill>
                  <a:srgbClr val="FF0000"/>
                </a:solidFill>
                <a:latin typeface="Calibri"/>
                <a:cs typeface="Calibri"/>
              </a:rPr>
              <a:t>Expert</a:t>
            </a:r>
            <a:r>
              <a:rPr sz="3600" b="1" u="none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u="none" spc="-3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3600" b="1" u="none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u="none" dirty="0">
                <a:solidFill>
                  <a:srgbClr val="FF0000"/>
                </a:solidFill>
                <a:latin typeface="Calibri"/>
                <a:cs typeface="Calibri"/>
              </a:rPr>
              <a:t>Shells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716768" cy="29291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5465" y="3097149"/>
            <a:ext cx="11632565" cy="2588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All</a:t>
            </a:r>
            <a:r>
              <a:rPr sz="2800" spc="-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these</a:t>
            </a:r>
            <a:r>
              <a:rPr sz="2800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components</a:t>
            </a:r>
            <a:r>
              <a:rPr sz="2800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are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>
                <a:solidFill>
                  <a:srgbClr val="000080"/>
                </a:solidFill>
                <a:latin typeface="Calibri"/>
                <a:cs typeface="Calibri"/>
              </a:rPr>
              <a:t>described</a:t>
            </a:r>
            <a:r>
              <a:rPr sz="280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lang="en-US" sz="2800" dirty="0" smtClean="0">
                <a:solidFill>
                  <a:srgbClr val="000080"/>
                </a:solidFill>
                <a:latin typeface="Calibri"/>
                <a:cs typeface="Calibri"/>
              </a:rPr>
              <a:t>as</a:t>
            </a:r>
            <a:r>
              <a:rPr sz="2800" spc="-5" smtClean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Knowledge</a:t>
            </a:r>
            <a:r>
              <a:rPr sz="2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Base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A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store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of factual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and heuristic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knowledge.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Expert </a:t>
            </a:r>
            <a:r>
              <a:rPr sz="2800" spc="-20" dirty="0">
                <a:solidFill>
                  <a:srgbClr val="000080"/>
                </a:solidFill>
                <a:latin typeface="Calibri"/>
                <a:cs typeface="Calibri"/>
              </a:rPr>
              <a:t>system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tool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provides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one 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or </a:t>
            </a:r>
            <a:r>
              <a:rPr sz="2800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more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knowledge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representation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schemes </a:t>
            </a:r>
            <a:r>
              <a:rPr sz="2800" spc="-20" dirty="0">
                <a:solidFill>
                  <a:srgbClr val="000080"/>
                </a:solidFill>
                <a:latin typeface="Calibri"/>
                <a:cs typeface="Calibri"/>
              </a:rPr>
              <a:t>for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expressing knowledge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about the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application domain.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Some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tools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use both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Frames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(objects)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and IF-THEN rules.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In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80"/>
                </a:solidFill>
                <a:latin typeface="Calibri"/>
                <a:cs typeface="Calibri"/>
              </a:rPr>
              <a:t>PROLOG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knowledge</a:t>
            </a:r>
            <a:r>
              <a:rPr sz="2800" spc="-5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is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represented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as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logical</a:t>
            </a:r>
            <a:r>
              <a:rPr sz="2800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statements.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81124"/>
            <a:ext cx="11126470" cy="403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Reasoning</a:t>
            </a:r>
            <a:r>
              <a:rPr sz="2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Engine</a:t>
            </a:r>
            <a:endParaRPr sz="2800" dirty="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spc="-20" dirty="0">
                <a:solidFill>
                  <a:srgbClr val="000080"/>
                </a:solidFill>
                <a:latin typeface="Calibri"/>
                <a:cs typeface="Calibri"/>
              </a:rPr>
              <a:t>Inference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mechanisms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80"/>
                </a:solidFill>
                <a:latin typeface="Calibri"/>
                <a:cs typeface="Calibri"/>
              </a:rPr>
              <a:t>for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manipulating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symbolic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information</a:t>
            </a:r>
            <a:r>
              <a:rPr sz="2800" spc="60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and 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knowledge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 in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knowledge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 base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form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a</a:t>
            </a:r>
            <a:r>
              <a:rPr sz="2800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line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of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reasoning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solving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a </a:t>
            </a:r>
            <a:r>
              <a:rPr sz="2800" spc="-6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problem.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The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inference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mechanism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can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range from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simple modus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ponens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80"/>
                </a:solidFill>
                <a:latin typeface="Calibri"/>
                <a:cs typeface="Calibri"/>
              </a:rPr>
              <a:t>backward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chaining</a:t>
            </a:r>
            <a:r>
              <a:rPr sz="2800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000080"/>
                </a:solidFill>
                <a:latin typeface="Calibri"/>
                <a:cs typeface="Calibri"/>
              </a:rPr>
              <a:t>of</a:t>
            </a:r>
            <a:r>
              <a:rPr sz="2800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IF-THEN</a:t>
            </a:r>
            <a:r>
              <a:rPr sz="2800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rules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80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80"/>
                </a:solidFill>
                <a:latin typeface="Calibri"/>
                <a:cs typeface="Calibri"/>
              </a:rPr>
              <a:t>Case-Based</a:t>
            </a:r>
            <a:r>
              <a:rPr sz="2800" spc="-5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80"/>
                </a:solidFill>
                <a:latin typeface="Calibri"/>
                <a:cs typeface="Calibri"/>
              </a:rPr>
              <a:t>reasoning.</a:t>
            </a:r>
            <a:endParaRPr sz="28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Knowledge</a:t>
            </a:r>
            <a:r>
              <a:rPr sz="2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Acquisition</a:t>
            </a:r>
            <a:r>
              <a:rPr sz="2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subsystem</a:t>
            </a:r>
            <a:endParaRPr sz="2800" dirty="0">
              <a:latin typeface="Calibri"/>
              <a:cs typeface="Calibri"/>
            </a:endParaRPr>
          </a:p>
          <a:p>
            <a:pPr marL="295910" marR="368935" indent="-283845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1F5F"/>
                </a:solidFill>
                <a:latin typeface="Calibri"/>
                <a:cs typeface="Calibri"/>
              </a:rPr>
              <a:t>subsystem</a:t>
            </a:r>
            <a:r>
              <a:rPr sz="28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8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help</a:t>
            </a:r>
            <a:r>
              <a:rPr sz="28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experts</a:t>
            </a:r>
            <a:r>
              <a:rPr sz="28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8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build</a:t>
            </a:r>
            <a:r>
              <a:rPr sz="28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knowledge</a:t>
            </a:r>
            <a:r>
              <a:rPr sz="28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bases.</a:t>
            </a:r>
            <a:r>
              <a:rPr sz="28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001F5F"/>
                </a:solidFill>
                <a:latin typeface="Calibri"/>
                <a:cs typeface="Calibri"/>
              </a:rPr>
              <a:t>However,</a:t>
            </a:r>
            <a:r>
              <a:rPr sz="28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collecting </a:t>
            </a:r>
            <a:r>
              <a:rPr sz="2800" spc="-6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knowledge, needed </a:t>
            </a:r>
            <a:r>
              <a:rPr sz="2800" spc="-1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solve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problems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and build the knowledge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base, is </a:t>
            </a:r>
            <a:r>
              <a:rPr sz="28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the biggest</a:t>
            </a:r>
            <a:r>
              <a:rPr sz="28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bottleneck</a:t>
            </a:r>
            <a:r>
              <a:rPr sz="28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8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building</a:t>
            </a:r>
            <a:r>
              <a:rPr sz="28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expert </a:t>
            </a:r>
            <a:r>
              <a:rPr sz="2800" spc="-15" dirty="0">
                <a:solidFill>
                  <a:srgbClr val="001F5F"/>
                </a:solidFill>
                <a:latin typeface="Calibri"/>
                <a:cs typeface="Calibri"/>
              </a:rPr>
              <a:t>systems.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297376"/>
            <a:ext cx="10981690" cy="42087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65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Explanation</a:t>
            </a:r>
            <a:r>
              <a:rPr sz="28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subsystem</a:t>
            </a:r>
            <a:endParaRPr sz="2800">
              <a:latin typeface="Calibri"/>
              <a:cs typeface="Calibri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subsystem </a:t>
            </a:r>
            <a:r>
              <a:rPr sz="2800" spc="-10" dirty="0">
                <a:latin typeface="Calibri"/>
                <a:cs typeface="Calibri"/>
              </a:rPr>
              <a:t>that explains the </a:t>
            </a:r>
            <a:r>
              <a:rPr sz="2800" spc="-15" dirty="0">
                <a:latin typeface="Calibri"/>
                <a:cs typeface="Calibri"/>
              </a:rPr>
              <a:t>system's </a:t>
            </a:r>
            <a:r>
              <a:rPr sz="2800" dirty="0">
                <a:latin typeface="Calibri"/>
                <a:cs typeface="Calibri"/>
              </a:rPr>
              <a:t>actions.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explanation can </a:t>
            </a:r>
            <a:r>
              <a:rPr sz="2800" spc="-15" dirty="0">
                <a:latin typeface="Calibri"/>
                <a:cs typeface="Calibri"/>
              </a:rPr>
              <a:t>range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how the </a:t>
            </a:r>
            <a:r>
              <a:rPr sz="2800" dirty="0">
                <a:latin typeface="Calibri"/>
                <a:cs typeface="Calibri"/>
              </a:rPr>
              <a:t>final or </a:t>
            </a:r>
            <a:r>
              <a:rPr sz="2800" spc="-10" dirty="0">
                <a:latin typeface="Calibri"/>
                <a:cs typeface="Calibri"/>
              </a:rPr>
              <a:t>intermediate </a:t>
            </a:r>
            <a:r>
              <a:rPr sz="2800" dirty="0">
                <a:latin typeface="Calibri"/>
                <a:cs typeface="Calibri"/>
              </a:rPr>
              <a:t>solutions </a:t>
            </a:r>
            <a:r>
              <a:rPr sz="2800" spc="-15" dirty="0">
                <a:latin typeface="Calibri"/>
                <a:cs typeface="Calibri"/>
              </a:rPr>
              <a:t>were </a:t>
            </a:r>
            <a:r>
              <a:rPr sz="2800" dirty="0">
                <a:latin typeface="Calibri"/>
                <a:cs typeface="Calibri"/>
              </a:rPr>
              <a:t>arrived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dirty="0">
                <a:latin typeface="Calibri"/>
                <a:cs typeface="Calibri"/>
              </a:rPr>
              <a:t>justifying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need </a:t>
            </a:r>
            <a:r>
              <a:rPr sz="2800" spc="-15" dirty="0">
                <a:latin typeface="Calibri"/>
                <a:cs typeface="Calibri"/>
              </a:rPr>
              <a:t>for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additional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75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User</a:t>
            </a:r>
            <a:r>
              <a:rPr sz="2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Interface</a:t>
            </a:r>
            <a:endParaRPr sz="2800">
              <a:latin typeface="Calibri"/>
              <a:cs typeface="Calibri"/>
            </a:endParaRPr>
          </a:p>
          <a:p>
            <a:pPr marL="295910" marR="29337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means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user.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interface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generally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not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part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expert </a:t>
            </a:r>
            <a:r>
              <a:rPr sz="2800" spc="-20" dirty="0">
                <a:latin typeface="Calibri"/>
                <a:cs typeface="Calibri"/>
              </a:rPr>
              <a:t>system </a:t>
            </a:r>
            <a:r>
              <a:rPr sz="2800" spc="-25" dirty="0">
                <a:latin typeface="Calibri"/>
                <a:cs typeface="Calibri"/>
              </a:rPr>
              <a:t>technology. </a:t>
            </a:r>
            <a:r>
              <a:rPr sz="2800" spc="-10" dirty="0">
                <a:latin typeface="Calibri"/>
                <a:cs typeface="Calibri"/>
              </a:rPr>
              <a:t>It </a:t>
            </a:r>
            <a:r>
              <a:rPr sz="2800" spc="-5" dirty="0">
                <a:latin typeface="Calibri"/>
                <a:cs typeface="Calibri"/>
              </a:rPr>
              <a:t>was not given </a:t>
            </a:r>
            <a:r>
              <a:rPr sz="2800" spc="-10" dirty="0">
                <a:latin typeface="Calibri"/>
                <a:cs typeface="Calibri"/>
              </a:rPr>
              <a:t>much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attention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past.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However,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interface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make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critical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difference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perceived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utility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5" dirty="0">
                <a:latin typeface="Calibri"/>
                <a:cs typeface="Calibri"/>
              </a:rPr>
              <a:t>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Expert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1572767"/>
            <a:ext cx="8955024" cy="428548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" y="1429511"/>
            <a:ext cx="8808720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81124"/>
            <a:ext cx="10713720" cy="2246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latin typeface="Calibri"/>
                <a:cs typeface="Calibri"/>
              </a:rPr>
              <a:t>Knowledge </a:t>
            </a:r>
            <a:r>
              <a:rPr sz="2800" spc="-5" dirty="0">
                <a:latin typeface="Calibri"/>
                <a:cs typeface="Calibri"/>
              </a:rPr>
              <a:t>acquisition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be defined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situation in which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28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organization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individuals obtain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required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knowledge </a:t>
            </a:r>
            <a:r>
              <a:rPr sz="2800" spc="-10" dirty="0">
                <a:latin typeface="Calibri"/>
                <a:cs typeface="Calibri"/>
              </a:rPr>
              <a:t>that helps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them </a:t>
            </a:r>
            <a:r>
              <a:rPr sz="2800" spc="-5" dirty="0">
                <a:latin typeface="Calibri"/>
                <a:cs typeface="Calibri"/>
              </a:rPr>
              <a:t>accomplish </a:t>
            </a:r>
            <a:r>
              <a:rPr sz="2800" dirty="0">
                <a:latin typeface="Calibri"/>
                <a:cs typeface="Calibri"/>
              </a:rPr>
              <a:t>their work </a:t>
            </a:r>
            <a:r>
              <a:rPr sz="2800" spc="-25" dirty="0">
                <a:latin typeface="Calibri"/>
                <a:cs typeface="Calibri"/>
              </a:rPr>
              <a:t>efficiently, </a:t>
            </a:r>
            <a:r>
              <a:rPr sz="2800" spc="-30" dirty="0">
                <a:latin typeface="Calibri"/>
                <a:cs typeface="Calibri"/>
              </a:rPr>
              <a:t>easily,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the lowest possible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cost.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Steps</a:t>
            </a:r>
            <a:r>
              <a:rPr sz="2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knowledge</a:t>
            </a:r>
            <a:r>
              <a:rPr sz="2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acquisition</a:t>
            </a:r>
            <a:r>
              <a:rPr sz="2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process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0566" y="504266"/>
            <a:ext cx="383159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none" spc="-15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r>
              <a:rPr sz="3200" b="1" u="none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u="none" spc="-5" dirty="0">
                <a:solidFill>
                  <a:srgbClr val="FF0000"/>
                </a:solidFill>
                <a:latin typeface="Calibri"/>
                <a:cs typeface="Calibri"/>
              </a:rPr>
              <a:t>acquisition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643" y="3642359"/>
            <a:ext cx="9456959" cy="25534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297376"/>
            <a:ext cx="11082020" cy="3354704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527685" algn="l"/>
              </a:tabLst>
            </a:pP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1.	Data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gathering</a:t>
            </a:r>
            <a:endParaRPr sz="28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-15" dirty="0">
                <a:latin typeface="Calibri"/>
                <a:cs typeface="Calibri"/>
              </a:rPr>
              <a:t>Data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gathering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step</a:t>
            </a:r>
            <a:r>
              <a:rPr sz="2800" dirty="0">
                <a:latin typeface="Calibri"/>
                <a:cs typeface="Calibri"/>
              </a:rPr>
              <a:t> in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acquiring.</a:t>
            </a:r>
            <a:endParaRPr sz="2800">
              <a:latin typeface="Calibri"/>
              <a:cs typeface="Calibri"/>
            </a:endParaRPr>
          </a:p>
          <a:p>
            <a:pPr marL="295910" marR="244475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-10" dirty="0">
                <a:latin typeface="Calibri"/>
                <a:cs typeface="Calibri"/>
              </a:rPr>
              <a:t>First,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you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determine</a:t>
            </a:r>
            <a:r>
              <a:rPr sz="2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will</a:t>
            </a:r>
            <a:r>
              <a:rPr sz="2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collected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how,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where</a:t>
            </a:r>
            <a:r>
              <a:rPr sz="2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this </a:t>
            </a:r>
            <a:r>
              <a:rPr sz="2800" b="1" spc="-6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located.</a:t>
            </a:r>
            <a:r>
              <a:rPr sz="2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other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words, </a:t>
            </a:r>
            <a:r>
              <a:rPr sz="2800" spc="-5" dirty="0">
                <a:latin typeface="Calibri"/>
                <a:cs typeface="Calibri"/>
              </a:rPr>
              <a:t>planning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before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anything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else.</a:t>
            </a:r>
            <a:endParaRPr sz="28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-10" dirty="0">
                <a:latin typeface="Calibri"/>
                <a:cs typeface="Calibri"/>
              </a:rPr>
              <a:t>Determining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accuracy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correctness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this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5" dirty="0">
                <a:latin typeface="Calibri"/>
                <a:cs typeface="Calibri"/>
              </a:rPr>
              <a:t>significantly </a:t>
            </a:r>
            <a:r>
              <a:rPr sz="2800" spc="-20" dirty="0">
                <a:latin typeface="Calibri"/>
                <a:cs typeface="Calibri"/>
              </a:rPr>
              <a:t>affect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quality and </a:t>
            </a:r>
            <a:r>
              <a:rPr sz="2800" spc="-10" dirty="0">
                <a:latin typeface="Calibri"/>
                <a:cs typeface="Calibri"/>
              </a:rPr>
              <a:t>accuracy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the knowledge.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Therefore,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75" dirty="0">
                <a:latin typeface="Calibri"/>
                <a:cs typeface="Calibri"/>
              </a:rPr>
              <a:t>You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should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step</a:t>
            </a:r>
            <a:r>
              <a:rPr sz="2800" spc="-5" dirty="0">
                <a:latin typeface="Calibri"/>
                <a:cs typeface="Calibri"/>
              </a:rPr>
              <a:t> well.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93190"/>
            <a:ext cx="10967720" cy="48552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2.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Organizing</a:t>
            </a:r>
            <a:endParaRPr sz="24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5" dirty="0">
                <a:latin typeface="Calibri"/>
                <a:cs typeface="Calibri"/>
              </a:rPr>
              <a:t>previous </a:t>
            </a:r>
            <a:r>
              <a:rPr sz="2400" spc="-10" dirty="0">
                <a:latin typeface="Calibri"/>
                <a:cs typeface="Calibri"/>
              </a:rPr>
              <a:t>step,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data </a:t>
            </a:r>
            <a:r>
              <a:rPr sz="2400" spc="-20" dirty="0">
                <a:latin typeface="Calibri"/>
                <a:cs typeface="Calibri"/>
              </a:rPr>
              <a:t>state </a:t>
            </a:r>
            <a:r>
              <a:rPr sz="2400" dirty="0">
                <a:latin typeface="Calibri"/>
                <a:cs typeface="Calibri"/>
              </a:rPr>
              <a:t>is often not </a:t>
            </a:r>
            <a:r>
              <a:rPr sz="2400" spc="-10" dirty="0">
                <a:latin typeface="Calibri"/>
                <a:cs typeface="Calibri"/>
              </a:rPr>
              <a:t>well organized. Therefore,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management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team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rearrange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obtain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valuable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step.</a:t>
            </a:r>
            <a:endParaRPr sz="2400">
              <a:latin typeface="Calibri"/>
              <a:cs typeface="Calibri"/>
            </a:endParaRPr>
          </a:p>
          <a:p>
            <a:pPr marL="295910" marR="17907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example</a:t>
            </a:r>
            <a:r>
              <a:rPr sz="2400" spc="-2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relationship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are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collected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 one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place,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like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collecting 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customer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data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from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 specific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geographic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area</a:t>
            </a:r>
            <a:r>
              <a:rPr sz="2400" spc="-5" dirty="0">
                <a:latin typeface="Calibri"/>
                <a:cs typeface="Calibri"/>
              </a:rPr>
              <a:t>. Collecting </a:t>
            </a:r>
            <a:r>
              <a:rPr sz="2400" spc="-10" dirty="0">
                <a:latin typeface="Calibri"/>
                <a:cs typeface="Calibri"/>
              </a:rPr>
              <a:t>data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age group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customers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together,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384175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3.	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Summarizing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step,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various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statistics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extracted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from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databases</a:t>
            </a:r>
            <a:r>
              <a:rPr sz="2400" spc="-5" dirty="0">
                <a:latin typeface="Calibri"/>
                <a:cs typeface="Calibri"/>
              </a:rPr>
              <a:t>.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statistics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presented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tables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graphs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forms.</a:t>
            </a:r>
            <a:endParaRPr sz="2400">
              <a:latin typeface="Calibri"/>
              <a:cs typeface="Calibri"/>
            </a:endParaRPr>
          </a:p>
          <a:p>
            <a:pPr marL="295910" marR="69215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here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completion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raw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converted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 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further.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416" y="1210701"/>
            <a:ext cx="11157585" cy="42951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4.</a:t>
            </a:r>
            <a:r>
              <a:rPr sz="2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Analyzing</a:t>
            </a:r>
            <a:endParaRPr sz="2800">
              <a:latin typeface="Calibri"/>
              <a:cs typeface="Calibri"/>
            </a:endParaRPr>
          </a:p>
          <a:p>
            <a:pPr marL="295910" marR="636905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information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analyzed,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looking 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recurring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patterns that can 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be </a:t>
            </a:r>
            <a:r>
              <a:rPr sz="2800" b="1" spc="-6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considered</a:t>
            </a:r>
            <a:r>
              <a:rPr sz="2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new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characteristic</a:t>
            </a:r>
            <a:r>
              <a:rPr sz="2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new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knowledge.</a:t>
            </a:r>
            <a:endParaRPr sz="2800">
              <a:latin typeface="Calibri"/>
              <a:cs typeface="Calibri"/>
            </a:endParaRPr>
          </a:p>
          <a:p>
            <a:pPr marL="295910" marR="523240" indent="-283845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Font typeface="Wingdings"/>
              <a:buChar char=""/>
              <a:tabLst>
                <a:tab pos="377825" algn="l"/>
                <a:tab pos="378460" algn="l"/>
              </a:tabLst>
            </a:pPr>
            <a:r>
              <a:rPr dirty="0"/>
              <a:t>	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example, </a:t>
            </a:r>
            <a:r>
              <a:rPr sz="2800" spc="-5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might </a:t>
            </a:r>
            <a:r>
              <a:rPr sz="2800" dirty="0">
                <a:latin typeface="Calibri"/>
                <a:cs typeface="Calibri"/>
              </a:rPr>
              <a:t>find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particular </a:t>
            </a:r>
            <a:r>
              <a:rPr sz="2800" spc="-10" dirty="0">
                <a:latin typeface="Calibri"/>
                <a:cs typeface="Calibri"/>
              </a:rPr>
              <a:t>age group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customers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interested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specific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product.</a:t>
            </a:r>
            <a:endParaRPr sz="28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b="1" spc="-5" dirty="0">
                <a:latin typeface="Calibri"/>
                <a:cs typeface="Calibri"/>
              </a:rPr>
              <a:t>For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example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you 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get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people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ages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8-28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interested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buying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video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games.</a:t>
            </a:r>
            <a:endParaRPr sz="2800">
              <a:latin typeface="Calibri"/>
              <a:cs typeface="Calibri"/>
            </a:endParaRPr>
          </a:p>
          <a:p>
            <a:pPr marL="295910" marR="616585" indent="-28384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6545" algn="l"/>
              </a:tabLst>
            </a:pPr>
            <a:r>
              <a:rPr sz="2800" dirty="0">
                <a:latin typeface="Calibri"/>
                <a:cs typeface="Calibri"/>
              </a:rPr>
              <a:t>Another </a:t>
            </a:r>
            <a:r>
              <a:rPr sz="2800" spc="-15" dirty="0">
                <a:latin typeface="Calibri"/>
                <a:cs typeface="Calibri"/>
              </a:rPr>
              <a:t>example, </a:t>
            </a:r>
            <a:r>
              <a:rPr sz="2800" spc="-5" dirty="0">
                <a:latin typeface="Calibri"/>
                <a:cs typeface="Calibri"/>
              </a:rPr>
              <a:t>you notice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5" dirty="0">
                <a:latin typeface="Calibri"/>
                <a:cs typeface="Calibri"/>
              </a:rPr>
              <a:t>in a </a:t>
            </a:r>
            <a:r>
              <a:rPr sz="2800" spc="-5" dirty="0">
                <a:latin typeface="Calibri"/>
                <a:cs typeface="Calibri"/>
              </a:rPr>
              <a:t>particular </a:t>
            </a:r>
            <a:r>
              <a:rPr sz="2800" spc="-10" dirty="0">
                <a:latin typeface="Calibri"/>
                <a:cs typeface="Calibri"/>
              </a:rPr>
              <a:t>geographic region,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majority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customers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women.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 </a:t>
            </a:r>
            <a:r>
              <a:rPr sz="2800" spc="-5" dirty="0">
                <a:latin typeface="Calibri"/>
                <a:cs typeface="Calibri"/>
              </a:rPr>
              <a:t>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0611485" cy="324548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70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5.</a:t>
            </a:r>
            <a:r>
              <a:rPr sz="24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Synthesizing</a:t>
            </a:r>
            <a:endParaRPr sz="2400">
              <a:latin typeface="Calibri"/>
              <a:cs typeface="Calibri"/>
            </a:endParaRPr>
          </a:p>
          <a:p>
            <a:pPr marL="295910" marR="74295" indent="-283845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15" dirty="0">
                <a:latin typeface="Calibri"/>
                <a:cs typeface="Calibri"/>
              </a:rPr>
              <a:t>step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depends on joining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statistics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patterns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and coming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out of them with 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fixed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concepts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be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relied 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upon</a:t>
            </a:r>
            <a:r>
              <a:rPr sz="2400" spc="10" dirty="0">
                <a:latin typeface="Calibri"/>
                <a:cs typeface="Calibri"/>
              </a:rPr>
              <a:t>.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-5" dirty="0">
                <a:latin typeface="Calibri"/>
                <a:cs typeface="Calibri"/>
              </a:rPr>
              <a:t>concepts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knowledge </a:t>
            </a:r>
            <a:r>
              <a:rPr sz="2400" spc="-15" dirty="0">
                <a:latin typeface="Calibri"/>
                <a:cs typeface="Calibri"/>
              </a:rPr>
              <a:t>you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for.</a:t>
            </a:r>
            <a:endParaRPr sz="2400">
              <a:latin typeface="Calibri"/>
              <a:cs typeface="Calibri"/>
            </a:endParaRPr>
          </a:p>
          <a:p>
            <a:pPr marL="295910" marR="276225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Knowledge </a:t>
            </a:r>
            <a:r>
              <a:rPr sz="2400" spc="-5" dirty="0">
                <a:latin typeface="Calibri"/>
                <a:cs typeface="Calibri"/>
              </a:rPr>
              <a:t>management </a:t>
            </a:r>
            <a:r>
              <a:rPr sz="2400" spc="-15" dirty="0">
                <a:latin typeface="Calibri"/>
                <a:cs typeface="Calibri"/>
              </a:rPr>
              <a:t>stores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-5" dirty="0">
                <a:latin typeface="Calibri"/>
                <a:cs typeface="Calibri"/>
              </a:rPr>
              <a:t>results </a:t>
            </a:r>
            <a:r>
              <a:rPr sz="2400" dirty="0">
                <a:latin typeface="Calibri"/>
                <a:cs typeface="Calibri"/>
              </a:rPr>
              <a:t>in rules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20" dirty="0">
                <a:latin typeface="Calibri"/>
                <a:cs typeface="Calibri"/>
              </a:rPr>
              <a:t>laws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5" dirty="0">
                <a:latin typeface="Calibri"/>
                <a:cs typeface="Calibri"/>
              </a:rPr>
              <a:t>organization’s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databases.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everyone </a:t>
            </a:r>
            <a:r>
              <a:rPr sz="2400" spc="-5" dirty="0">
                <a:latin typeface="Calibri"/>
                <a:cs typeface="Calibri"/>
              </a:rPr>
              <a:t>who</a:t>
            </a:r>
            <a:r>
              <a:rPr sz="2400" spc="-10" dirty="0">
                <a:latin typeface="Calibri"/>
                <a:cs typeface="Calibri"/>
              </a:rPr>
              <a:t> wants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reach </a:t>
            </a:r>
            <a:r>
              <a:rPr sz="2400" dirty="0">
                <a:latin typeface="Calibri"/>
                <a:cs typeface="Calibri"/>
              </a:rPr>
              <a:t>it.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stage,</a:t>
            </a:r>
            <a:r>
              <a:rPr sz="2400" spc="-5" dirty="0">
                <a:latin typeface="Calibri"/>
                <a:cs typeface="Calibri"/>
              </a:rPr>
              <a:t> 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management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completes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processes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such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storing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distributing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943" y="1314744"/>
            <a:ext cx="10967085" cy="449008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Retail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store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company</a:t>
            </a:r>
            <a:endParaRPr sz="2400">
              <a:latin typeface="Calibri"/>
              <a:cs typeface="Calibri"/>
            </a:endParaRPr>
          </a:p>
          <a:p>
            <a:pPr marL="321310" indent="-28384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21310" algn="l"/>
                <a:tab pos="3219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first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phase,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company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stores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branches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variety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geographical</a:t>
            </a:r>
            <a:endParaRPr sz="2200">
              <a:latin typeface="Calibri"/>
              <a:cs typeface="Calibri"/>
            </a:endParaRPr>
          </a:p>
          <a:p>
            <a:pPr marL="32131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libri"/>
                <a:cs typeface="Calibri"/>
              </a:rPr>
              <a:t>locations.</a:t>
            </a:r>
            <a:endParaRPr sz="2200">
              <a:latin typeface="Calibri"/>
              <a:cs typeface="Calibri"/>
            </a:endParaRPr>
          </a:p>
          <a:p>
            <a:pPr marL="321310" marR="3048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321310" algn="l"/>
                <a:tab pos="32194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daily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selling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process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generates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enormous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amount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data.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information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contains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all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customer </a:t>
            </a:r>
            <a:r>
              <a:rPr sz="2200" spc="-15" dirty="0">
                <a:latin typeface="Calibri"/>
                <a:cs typeface="Calibri"/>
              </a:rPr>
              <a:t>data </a:t>
            </a:r>
            <a:r>
              <a:rPr sz="2200" spc="-10" dirty="0">
                <a:latin typeface="Calibri"/>
                <a:cs typeface="Calibri"/>
              </a:rPr>
              <a:t>related to </a:t>
            </a:r>
            <a:r>
              <a:rPr sz="2200" dirty="0">
                <a:latin typeface="Calibri"/>
                <a:cs typeface="Calibri"/>
              </a:rPr>
              <a:t>their </a:t>
            </a:r>
            <a:r>
              <a:rPr sz="2200" spc="-5" dirty="0">
                <a:latin typeface="Calibri"/>
                <a:cs typeface="Calibri"/>
              </a:rPr>
              <a:t>purchases. This </a:t>
            </a:r>
            <a:r>
              <a:rPr sz="2200" spc="-15" dirty="0">
                <a:latin typeface="Calibri"/>
                <a:cs typeface="Calibri"/>
              </a:rPr>
              <a:t>data </a:t>
            </a:r>
            <a:r>
              <a:rPr sz="2200" dirty="0">
                <a:latin typeface="Calibri"/>
                <a:cs typeface="Calibri"/>
              </a:rPr>
              <a:t>also </a:t>
            </a:r>
            <a:r>
              <a:rPr sz="2200" spc="-5" dirty="0">
                <a:latin typeface="Calibri"/>
                <a:cs typeface="Calibri"/>
              </a:rPr>
              <a:t>includes credit </a:t>
            </a:r>
            <a:r>
              <a:rPr sz="2200" spc="-15" dirty="0">
                <a:latin typeface="Calibri"/>
                <a:cs typeface="Calibri"/>
              </a:rPr>
              <a:t>card </a:t>
            </a:r>
            <a:r>
              <a:rPr sz="2200" spc="-5" dirty="0">
                <a:latin typeface="Calibri"/>
                <a:cs typeface="Calibri"/>
              </a:rPr>
              <a:t>information. </a:t>
            </a:r>
            <a:r>
              <a:rPr sz="2200" spc="-50" dirty="0">
                <a:latin typeface="Calibri"/>
                <a:cs typeface="Calibri"/>
              </a:rPr>
              <a:t>You 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consider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stage </a:t>
            </a:r>
            <a:r>
              <a:rPr sz="2200" dirty="0">
                <a:latin typeface="Calibri"/>
                <a:cs typeface="Calibri"/>
              </a:rPr>
              <a:t>as 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stage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collection.</a:t>
            </a:r>
            <a:endParaRPr sz="2200">
              <a:latin typeface="Calibri"/>
              <a:cs typeface="Calibri"/>
            </a:endParaRPr>
          </a:p>
          <a:p>
            <a:pPr marL="321310" indent="-28384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21310" algn="l"/>
                <a:tab pos="3219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addition,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organization’s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management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team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receive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data </a:t>
            </a:r>
            <a:r>
              <a:rPr sz="2200" spc="-5" dirty="0">
                <a:latin typeface="Calibri"/>
                <a:cs typeface="Calibri"/>
              </a:rPr>
              <a:t>from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external</a:t>
            </a:r>
            <a:endParaRPr sz="2200">
              <a:latin typeface="Calibri"/>
              <a:cs typeface="Calibri"/>
            </a:endParaRPr>
          </a:p>
          <a:p>
            <a:pPr marL="32131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sources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customers,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weather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laws,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information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competitors,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  <a:p>
            <a:pPr marL="321310" marR="233679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321310" algn="l"/>
                <a:tab pos="3219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" dirty="0">
                <a:latin typeface="Calibri"/>
                <a:cs typeface="Calibri"/>
              </a:rPr>
              <a:t> second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step,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management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department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receives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arranges</a:t>
            </a:r>
            <a:r>
              <a:rPr sz="2200" dirty="0">
                <a:latin typeface="Calibri"/>
                <a:cs typeface="Calibri"/>
              </a:rPr>
              <a:t> it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databases,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coordinates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groups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facilitate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use.</a:t>
            </a:r>
            <a:endParaRPr sz="2200">
              <a:latin typeface="Calibri"/>
              <a:cs typeface="Calibri"/>
            </a:endParaRPr>
          </a:p>
          <a:p>
            <a:pPr marL="3213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321310" algn="l"/>
                <a:tab pos="32194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company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extracting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statistics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graphs</a:t>
            </a:r>
            <a:r>
              <a:rPr sz="2200" spc="-15" dirty="0">
                <a:latin typeface="Calibri"/>
                <a:cs typeface="Calibri"/>
              </a:rPr>
              <a:t> for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various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sold,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321310">
              <a:lnSpc>
                <a:spcPct val="100000"/>
              </a:lnSpc>
            </a:pPr>
            <a:r>
              <a:rPr sz="2200" spc="-80" dirty="0">
                <a:latin typeface="Calibri"/>
                <a:cs typeface="Calibri"/>
              </a:rPr>
              <a:t>n</a:t>
            </a:r>
            <a:r>
              <a:rPr sz="3300" spc="-120" baseline="-15151" dirty="0">
                <a:latin typeface="Calibri"/>
                <a:cs typeface="Calibri"/>
              </a:rPr>
              <a:t>.</a:t>
            </a:r>
            <a:r>
              <a:rPr sz="2200" spc="-80" dirty="0">
                <a:latin typeface="Calibri"/>
                <a:cs typeface="Calibri"/>
              </a:rPr>
              <a:t>umber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dairy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sales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electronic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7370" y="321691"/>
            <a:ext cx="469646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u="none" spc="-5" dirty="0">
                <a:solidFill>
                  <a:srgbClr val="C00000"/>
                </a:solidFill>
                <a:latin typeface="Calibri"/>
                <a:cs typeface="Calibri"/>
              </a:rPr>
              <a:t>Knowledge</a:t>
            </a:r>
            <a:r>
              <a:rPr sz="2800" b="1" u="none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u="none" dirty="0">
                <a:solidFill>
                  <a:srgbClr val="C00000"/>
                </a:solidFill>
                <a:latin typeface="Calibri"/>
                <a:cs typeface="Calibri"/>
              </a:rPr>
              <a:t>acquisition</a:t>
            </a:r>
            <a:r>
              <a:rPr sz="2800" b="1" u="none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u="none" spc="-10" dirty="0">
                <a:solidFill>
                  <a:srgbClr val="C00000"/>
                </a:solidFill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50645"/>
            <a:ext cx="10879455" cy="47091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5910" marR="33655" indent="-283845">
              <a:lnSpc>
                <a:spcPts val="2590"/>
              </a:lnSpc>
              <a:spcBef>
                <a:spcPts val="4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Also,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reports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classified </a:t>
            </a:r>
            <a:r>
              <a:rPr sz="2400" spc="-10" dirty="0">
                <a:latin typeface="Calibri"/>
                <a:cs typeface="Calibri"/>
              </a:rPr>
              <a:t>according to customers’ </a:t>
            </a:r>
            <a:r>
              <a:rPr sz="2400" spc="-5" dirty="0">
                <a:latin typeface="Calibri"/>
                <a:cs typeface="Calibri"/>
              </a:rPr>
              <a:t>age, </a:t>
            </a:r>
            <a:r>
              <a:rPr sz="2400" spc="-30" dirty="0">
                <a:latin typeface="Calibri"/>
                <a:cs typeface="Calibri"/>
              </a:rPr>
              <a:t>gender, </a:t>
            </a:r>
            <a:r>
              <a:rPr sz="2400" spc="-5" dirty="0">
                <a:latin typeface="Calibri"/>
                <a:cs typeface="Calibri"/>
              </a:rPr>
              <a:t>income level, </a:t>
            </a:r>
            <a:r>
              <a:rPr sz="2400" spc="-10" dirty="0">
                <a:latin typeface="Calibri"/>
                <a:cs typeface="Calibri"/>
              </a:rPr>
              <a:t>etc.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obtain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extensive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company’s </a:t>
            </a:r>
            <a:r>
              <a:rPr sz="2400" spc="-5" dirty="0">
                <a:latin typeface="Calibri"/>
                <a:cs typeface="Calibri"/>
              </a:rPr>
              <a:t>products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customers.</a:t>
            </a:r>
            <a:endParaRPr sz="2400">
              <a:latin typeface="Calibri"/>
              <a:cs typeface="Calibri"/>
            </a:endParaRPr>
          </a:p>
          <a:p>
            <a:pPr marL="295910" marR="5080" indent="-283845">
              <a:lnSpc>
                <a:spcPct val="90000"/>
              </a:lnSpc>
              <a:spcBef>
                <a:spcPts val="54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20" dirty="0">
                <a:latin typeface="Calibri"/>
                <a:cs typeface="Calibri"/>
              </a:rPr>
              <a:t>By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analyzing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compiling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reports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statistics,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company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noticed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 patterns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similarities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customers’ </a:t>
            </a:r>
            <a:r>
              <a:rPr sz="2400" spc="-30" dirty="0">
                <a:latin typeface="Calibri"/>
                <a:cs typeface="Calibri"/>
              </a:rPr>
              <a:t>behavior.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patterns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so frequent that they </a:t>
            </a:r>
            <a:r>
              <a:rPr sz="2400" spc="-15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be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taken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Examples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patterns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libri"/>
                <a:cs typeface="Calibri"/>
              </a:rPr>
              <a:t>Most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customers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nappies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buy</a:t>
            </a:r>
            <a:r>
              <a:rPr sz="2400" spc="-20" dirty="0">
                <a:latin typeface="Calibri"/>
                <a:cs typeface="Calibri"/>
              </a:rPr>
              <a:t> wet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towels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  <a:p>
            <a:pPr marL="295910" marR="544830" indent="-283845">
              <a:lnSpc>
                <a:spcPts val="2590"/>
              </a:lnSpc>
              <a:spcBef>
                <a:spcPts val="62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Dairy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products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geographical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sold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same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quantities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compared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stores</a:t>
            </a:r>
            <a:endParaRPr sz="2400">
              <a:latin typeface="Calibri"/>
              <a:cs typeface="Calibri"/>
            </a:endParaRPr>
          </a:p>
          <a:p>
            <a:pPr marL="295910" marR="643255" indent="-283845">
              <a:lnSpc>
                <a:spcPts val="2590"/>
              </a:lnSpc>
              <a:spcBef>
                <a:spcPts val="58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geographical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sells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5" dirty="0">
                <a:latin typeface="Calibri"/>
                <a:cs typeface="Calibri"/>
              </a:rPr>
              <a:t> 50%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baby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products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branches.</a:t>
            </a:r>
            <a:endParaRPr sz="2400">
              <a:latin typeface="Calibri"/>
              <a:cs typeface="Calibri"/>
            </a:endParaRPr>
          </a:p>
          <a:p>
            <a:pPr marL="295910" marR="31750" indent="-283845">
              <a:lnSpc>
                <a:spcPct val="90000"/>
              </a:lnSpc>
              <a:spcBef>
                <a:spcPts val="54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As a </a:t>
            </a:r>
            <a:r>
              <a:rPr sz="2400" spc="-5" dirty="0">
                <a:latin typeface="Calibri"/>
                <a:cs typeface="Calibri"/>
              </a:rPr>
              <a:t>result,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knowledge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company </a:t>
            </a:r>
            <a:r>
              <a:rPr sz="2400" dirty="0">
                <a:latin typeface="Calibri"/>
                <a:cs typeface="Calibri"/>
              </a:rPr>
              <a:t>has </a:t>
            </a:r>
            <a:r>
              <a:rPr sz="2400" spc="-5" dirty="0">
                <a:latin typeface="Calibri"/>
                <a:cs typeface="Calibri"/>
              </a:rPr>
              <a:t>acquired </a:t>
            </a:r>
            <a:r>
              <a:rPr sz="2400" dirty="0">
                <a:latin typeface="Calibri"/>
                <a:cs typeface="Calibri"/>
              </a:rPr>
              <a:t>using the </a:t>
            </a:r>
            <a:r>
              <a:rPr sz="2400" spc="-10" dirty="0">
                <a:latin typeface="Calibri"/>
                <a:cs typeface="Calibri"/>
              </a:rPr>
              <a:t>knowledge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acquisition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explained </a:t>
            </a:r>
            <a:r>
              <a:rPr sz="2400" spc="-30" dirty="0">
                <a:latin typeface="Calibri"/>
                <a:cs typeface="Calibri"/>
              </a:rPr>
              <a:t>earlier. </a:t>
            </a:r>
            <a:r>
              <a:rPr sz="2400" dirty="0">
                <a:latin typeface="Calibri"/>
                <a:cs typeface="Calibri"/>
              </a:rPr>
              <a:t>Now the </a:t>
            </a:r>
            <a:r>
              <a:rPr sz="2400" spc="-10" dirty="0">
                <a:latin typeface="Calibri"/>
                <a:cs typeface="Calibri"/>
              </a:rPr>
              <a:t>company </a:t>
            </a:r>
            <a:r>
              <a:rPr sz="2400" spc="-15" dirty="0">
                <a:latin typeface="Calibri"/>
                <a:cs typeface="Calibri"/>
              </a:rPr>
              <a:t>can </a:t>
            </a:r>
            <a:r>
              <a:rPr sz="2400" spc="-10" dirty="0">
                <a:latin typeface="Calibri"/>
                <a:cs typeface="Calibri"/>
              </a:rPr>
              <a:t>rely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knowledge 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make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appropriate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" y="1194815"/>
            <a:ext cx="12184380" cy="52069"/>
          </a:xfrm>
          <a:custGeom>
            <a:avLst/>
            <a:gdLst/>
            <a:ahLst/>
            <a:cxnLst/>
            <a:rect l="l" t="t" r="r" b="b"/>
            <a:pathLst>
              <a:path w="12184380" h="52069">
                <a:moveTo>
                  <a:pt x="12184380" y="34544"/>
                </a:moveTo>
                <a:lnTo>
                  <a:pt x="0" y="34544"/>
                </a:lnTo>
                <a:lnTo>
                  <a:pt x="0" y="51816"/>
                </a:lnTo>
                <a:lnTo>
                  <a:pt x="12184380" y="51816"/>
                </a:lnTo>
                <a:lnTo>
                  <a:pt x="12184380" y="34544"/>
                </a:lnTo>
                <a:close/>
              </a:path>
              <a:path w="12184380" h="52069">
                <a:moveTo>
                  <a:pt x="12184380" y="0"/>
                </a:moveTo>
                <a:lnTo>
                  <a:pt x="0" y="0"/>
                </a:lnTo>
                <a:lnTo>
                  <a:pt x="0" y="17272"/>
                </a:lnTo>
                <a:lnTo>
                  <a:pt x="12184380" y="17272"/>
                </a:lnTo>
                <a:lnTo>
                  <a:pt x="1218438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9628" y="2927426"/>
            <a:ext cx="420941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THANK</a:t>
            </a:r>
            <a:r>
              <a:rPr spc="-225" dirty="0"/>
              <a:t> </a:t>
            </a:r>
            <a:r>
              <a:rPr spc="-5" dirty="0"/>
              <a:t>YOU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3703281"/>
            <a:ext cx="4506340" cy="1629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3053</Words>
  <Application>Microsoft Office PowerPoint</Application>
  <PresentationFormat>Custom</PresentationFormat>
  <Paragraphs>202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Slide 1</vt:lpstr>
      <vt:lpstr>SYLLABUS</vt:lpstr>
      <vt:lpstr>What is an Expert System?</vt:lpstr>
      <vt:lpstr>Slide 4</vt:lpstr>
      <vt:lpstr>Block diagram that represents the working of an expert system:</vt:lpstr>
      <vt:lpstr>Below are some popular examples of the Expert System:</vt:lpstr>
      <vt:lpstr>Slide 7</vt:lpstr>
      <vt:lpstr>Slide 8</vt:lpstr>
      <vt:lpstr>Slide 9</vt:lpstr>
      <vt:lpstr>2. Inference Engine(Rules of Engine)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Representing and using Domain Knowledge</vt:lpstr>
      <vt:lpstr>Slide 20</vt:lpstr>
      <vt:lpstr>Slide 21</vt:lpstr>
      <vt:lpstr>Slide 22</vt:lpstr>
      <vt:lpstr>Slide 23</vt:lpstr>
      <vt:lpstr>Slide 24</vt:lpstr>
      <vt:lpstr>Slide 25</vt:lpstr>
      <vt:lpstr>Reasoning with Knowledge</vt:lpstr>
      <vt:lpstr>Slide 27</vt:lpstr>
      <vt:lpstr>Slide 28</vt:lpstr>
      <vt:lpstr>Slide 29</vt:lpstr>
      <vt:lpstr>Slide 30</vt:lpstr>
      <vt:lpstr>Slide 31</vt:lpstr>
      <vt:lpstr>Expert System Shells</vt:lpstr>
      <vt:lpstr>Expert System Shells</vt:lpstr>
      <vt:lpstr>Slide 34</vt:lpstr>
      <vt:lpstr>Slide 35</vt:lpstr>
      <vt:lpstr>Slide 36</vt:lpstr>
      <vt:lpstr>Slide 37</vt:lpstr>
      <vt:lpstr>Slide 38</vt:lpstr>
      <vt:lpstr>Knowledge acquisition</vt:lpstr>
      <vt:lpstr>Slide 40</vt:lpstr>
      <vt:lpstr>Slide 41</vt:lpstr>
      <vt:lpstr>Slide 42</vt:lpstr>
      <vt:lpstr>Slide 43</vt:lpstr>
      <vt:lpstr>Knowledge acquisition example</vt:lpstr>
      <vt:lpstr>Slide 45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Vallurupalli Nageswara Rao Vignana Jyothi Institute of Engineering &amp;Technology</dc:title>
  <dc:creator>VNRVJIET</dc:creator>
  <cp:lastModifiedBy>Windows User</cp:lastModifiedBy>
  <cp:revision>18</cp:revision>
  <dcterms:created xsi:type="dcterms:W3CDTF">2023-04-20T03:31:16Z</dcterms:created>
  <dcterms:modified xsi:type="dcterms:W3CDTF">2025-04-07T07:49:02Z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2023-04-20T00:00:00Z</vt:filetime>
  </property>
</Properties>
</file>