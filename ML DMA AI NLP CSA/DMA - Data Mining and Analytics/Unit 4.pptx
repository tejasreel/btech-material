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2" r:id="rId1"/>
  </p:sldMasterIdLst>
  <p:notesMasterIdLst>
    <p:notesMasterId r:id="rId62"/>
  </p:notesMasterIdLst>
  <p:sldIdLst>
    <p:sldId id="257" r:id="rId2"/>
    <p:sldId id="285" r:id="rId3"/>
    <p:sldId id="286" r:id="rId4"/>
    <p:sldId id="287" r:id="rId5"/>
    <p:sldId id="288" r:id="rId6"/>
    <p:sldId id="289" r:id="rId7"/>
    <p:sldId id="290" r:id="rId8"/>
    <p:sldId id="263" r:id="rId9"/>
    <p:sldId id="291" r:id="rId10"/>
    <p:sldId id="262" r:id="rId11"/>
    <p:sldId id="264" r:id="rId12"/>
    <p:sldId id="261" r:id="rId13"/>
    <p:sldId id="260" r:id="rId14"/>
    <p:sldId id="259" r:id="rId15"/>
    <p:sldId id="265" r:id="rId16"/>
    <p:sldId id="267" r:id="rId17"/>
    <p:sldId id="266" r:id="rId18"/>
    <p:sldId id="268" r:id="rId19"/>
    <p:sldId id="269" r:id="rId20"/>
    <p:sldId id="271" r:id="rId21"/>
    <p:sldId id="270" r:id="rId22"/>
    <p:sldId id="272" r:id="rId23"/>
    <p:sldId id="273" r:id="rId24"/>
    <p:sldId id="276" r:id="rId25"/>
    <p:sldId id="275" r:id="rId26"/>
    <p:sldId id="274" r:id="rId27"/>
    <p:sldId id="277" r:id="rId28"/>
    <p:sldId id="282" r:id="rId29"/>
    <p:sldId id="280" r:id="rId30"/>
    <p:sldId id="279" r:id="rId31"/>
    <p:sldId id="278" r:id="rId32"/>
    <p:sldId id="283" r:id="rId33"/>
    <p:sldId id="284" r:id="rId34"/>
    <p:sldId id="340" r:id="rId35"/>
    <p:sldId id="341" r:id="rId36"/>
    <p:sldId id="342" r:id="rId37"/>
    <p:sldId id="343" r:id="rId38"/>
    <p:sldId id="344" r:id="rId39"/>
    <p:sldId id="345" r:id="rId40"/>
    <p:sldId id="346" r:id="rId41"/>
    <p:sldId id="347" r:id="rId42"/>
    <p:sldId id="348" r:id="rId43"/>
    <p:sldId id="349" r:id="rId44"/>
    <p:sldId id="350" r:id="rId45"/>
    <p:sldId id="351" r:id="rId46"/>
    <p:sldId id="352" r:id="rId47"/>
    <p:sldId id="353" r:id="rId48"/>
    <p:sldId id="354" r:id="rId49"/>
    <p:sldId id="355" r:id="rId50"/>
    <p:sldId id="356" r:id="rId51"/>
    <p:sldId id="357" r:id="rId52"/>
    <p:sldId id="358" r:id="rId53"/>
    <p:sldId id="359" r:id="rId54"/>
    <p:sldId id="360" r:id="rId55"/>
    <p:sldId id="361" r:id="rId56"/>
    <p:sldId id="362" r:id="rId57"/>
    <p:sldId id="363" r:id="rId58"/>
    <p:sldId id="367" r:id="rId59"/>
    <p:sldId id="364" r:id="rId60"/>
    <p:sldId id="366" r:id="rId6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9" d="100"/>
          <a:sy n="69" d="100"/>
        </p:scale>
        <p:origin x="69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F571C8-60C9-46B3-8CFB-6F73EDD32F29}" type="datetimeFigureOut">
              <a:rPr lang="en-IN" smtClean="0"/>
              <a:t>03-12-2024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F8A99A-FD1F-4E3B-A75B-BE3387097CEF}" type="slidenum">
              <a:rPr lang="en-IN" smtClean="0"/>
              <a:t>‹#›</a:t>
            </a:fld>
            <a:endParaRPr lang="en-IN"/>
          </a:p>
        </p:txBody>
      </p:sp>
    </p:spTree>
    <p:extLst>
      <p:ext uri="{BB962C8B-B14F-4D97-AF65-F5344CB8AC3E}">
        <p14:creationId xmlns:p14="http://schemas.microsoft.com/office/powerpoint/2010/main" val="24582566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9"/>
        <p:cNvGrpSpPr/>
        <p:nvPr/>
      </p:nvGrpSpPr>
      <p:grpSpPr>
        <a:xfrm>
          <a:off x="0" y="0"/>
          <a:ext cx="0" cy="0"/>
          <a:chOff x="0" y="0"/>
          <a:chExt cx="0" cy="0"/>
        </a:xfrm>
      </p:grpSpPr>
      <p:sp>
        <p:nvSpPr>
          <p:cNvPr id="780" name="Google Shape;780;p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81" name="Google Shape;781;p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p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87" name="Google Shape;787;p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2"/>
        <p:cNvGrpSpPr/>
        <p:nvPr/>
      </p:nvGrpSpPr>
      <p:grpSpPr>
        <a:xfrm>
          <a:off x="0" y="0"/>
          <a:ext cx="0" cy="0"/>
          <a:chOff x="0" y="0"/>
          <a:chExt cx="0" cy="0"/>
        </a:xfrm>
      </p:grpSpPr>
      <p:sp>
        <p:nvSpPr>
          <p:cNvPr id="793" name="Google Shape;793;p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94" name="Google Shape;794;p8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9"/>
        <p:cNvGrpSpPr/>
        <p:nvPr/>
      </p:nvGrpSpPr>
      <p:grpSpPr>
        <a:xfrm>
          <a:off x="0" y="0"/>
          <a:ext cx="0" cy="0"/>
          <a:chOff x="0" y="0"/>
          <a:chExt cx="0" cy="0"/>
        </a:xfrm>
      </p:grpSpPr>
      <p:sp>
        <p:nvSpPr>
          <p:cNvPr id="800" name="Google Shape;800;p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01" name="Google Shape;801;p8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p:cNvGrpSpPr/>
        <p:nvPr/>
      </p:nvGrpSpPr>
      <p:grpSpPr>
        <a:xfrm>
          <a:off x="0" y="0"/>
          <a:ext cx="0" cy="0"/>
          <a:chOff x="0" y="0"/>
          <a:chExt cx="0" cy="0"/>
        </a:xfrm>
      </p:grpSpPr>
      <p:sp>
        <p:nvSpPr>
          <p:cNvPr id="806" name="Google Shape;806;p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07" name="Google Shape;807;p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1"/>
        <p:cNvGrpSpPr/>
        <p:nvPr/>
      </p:nvGrpSpPr>
      <p:grpSpPr>
        <a:xfrm>
          <a:off x="0" y="0"/>
          <a:ext cx="0" cy="0"/>
          <a:chOff x="0" y="0"/>
          <a:chExt cx="0" cy="0"/>
        </a:xfrm>
      </p:grpSpPr>
      <p:sp>
        <p:nvSpPr>
          <p:cNvPr id="812" name="Google Shape;812;p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13" name="Google Shape;813;p9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8"/>
        <p:cNvGrpSpPr/>
        <p:nvPr/>
      </p:nvGrpSpPr>
      <p:grpSpPr>
        <a:xfrm>
          <a:off x="0" y="0"/>
          <a:ext cx="0" cy="0"/>
          <a:chOff x="0" y="0"/>
          <a:chExt cx="0" cy="0"/>
        </a:xfrm>
      </p:grpSpPr>
      <p:sp>
        <p:nvSpPr>
          <p:cNvPr id="819" name="Google Shape;819;p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0" name="Google Shape;820;p9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p:cNvGrpSpPr/>
        <p:nvPr/>
      </p:nvGrpSpPr>
      <p:grpSpPr>
        <a:xfrm>
          <a:off x="0" y="0"/>
          <a:ext cx="0" cy="0"/>
          <a:chOff x="0" y="0"/>
          <a:chExt cx="0" cy="0"/>
        </a:xfrm>
      </p:grpSpPr>
      <p:sp>
        <p:nvSpPr>
          <p:cNvPr id="825" name="Google Shape;825;p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6" name="Google Shape;826;p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0"/>
        <p:cNvGrpSpPr/>
        <p:nvPr/>
      </p:nvGrpSpPr>
      <p:grpSpPr>
        <a:xfrm>
          <a:off x="0" y="0"/>
          <a:ext cx="0" cy="0"/>
          <a:chOff x="0" y="0"/>
          <a:chExt cx="0" cy="0"/>
        </a:xfrm>
      </p:grpSpPr>
      <p:sp>
        <p:nvSpPr>
          <p:cNvPr id="831" name="Google Shape;831;p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32" name="Google Shape;832;p9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6"/>
        <p:cNvGrpSpPr/>
        <p:nvPr/>
      </p:nvGrpSpPr>
      <p:grpSpPr>
        <a:xfrm>
          <a:off x="0" y="0"/>
          <a:ext cx="0" cy="0"/>
          <a:chOff x="0" y="0"/>
          <a:chExt cx="0" cy="0"/>
        </a:xfrm>
      </p:grpSpPr>
      <p:sp>
        <p:nvSpPr>
          <p:cNvPr id="837" name="Google Shape;837;p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38" name="Google Shape;838;p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3"/>
        <p:cNvGrpSpPr/>
        <p:nvPr/>
      </p:nvGrpSpPr>
      <p:grpSpPr>
        <a:xfrm>
          <a:off x="0" y="0"/>
          <a:ext cx="0" cy="0"/>
          <a:chOff x="0" y="0"/>
          <a:chExt cx="0" cy="0"/>
        </a:xfrm>
      </p:grpSpPr>
      <p:sp>
        <p:nvSpPr>
          <p:cNvPr id="844" name="Google Shape;844;p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45" name="Google Shape;845;p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p:cNvGrpSpPr/>
        <p:nvPr/>
      </p:nvGrpSpPr>
      <p:grpSpPr>
        <a:xfrm>
          <a:off x="0" y="0"/>
          <a:ext cx="0" cy="0"/>
          <a:chOff x="0" y="0"/>
          <a:chExt cx="0" cy="0"/>
        </a:xfrm>
      </p:grpSpPr>
      <p:sp>
        <p:nvSpPr>
          <p:cNvPr id="851" name="Google Shape;851;p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2" name="Google Shape;852;p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7"/>
        <p:cNvGrpSpPr/>
        <p:nvPr/>
      </p:nvGrpSpPr>
      <p:grpSpPr>
        <a:xfrm>
          <a:off x="0" y="0"/>
          <a:ext cx="0" cy="0"/>
          <a:chOff x="0" y="0"/>
          <a:chExt cx="0" cy="0"/>
        </a:xfrm>
      </p:grpSpPr>
      <p:sp>
        <p:nvSpPr>
          <p:cNvPr id="858" name="Google Shape;858;p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9" name="Google Shape;859;p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p:cNvGrpSpPr/>
        <p:nvPr/>
      </p:nvGrpSpPr>
      <p:grpSpPr>
        <a:xfrm>
          <a:off x="0" y="0"/>
          <a:ext cx="0" cy="0"/>
          <a:chOff x="0" y="0"/>
          <a:chExt cx="0" cy="0"/>
        </a:xfrm>
      </p:grpSpPr>
      <p:sp>
        <p:nvSpPr>
          <p:cNvPr id="865" name="Google Shape;865;p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6" name="Google Shape;866;p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1"/>
        <p:cNvGrpSpPr/>
        <p:nvPr/>
      </p:nvGrpSpPr>
      <p:grpSpPr>
        <a:xfrm>
          <a:off x="0" y="0"/>
          <a:ext cx="0" cy="0"/>
          <a:chOff x="0" y="0"/>
          <a:chExt cx="0" cy="0"/>
        </a:xfrm>
      </p:grpSpPr>
      <p:sp>
        <p:nvSpPr>
          <p:cNvPr id="872" name="Google Shape;872;p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73" name="Google Shape;873;p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7"/>
        <p:cNvGrpSpPr/>
        <p:nvPr/>
      </p:nvGrpSpPr>
      <p:grpSpPr>
        <a:xfrm>
          <a:off x="0" y="0"/>
          <a:ext cx="0" cy="0"/>
          <a:chOff x="0" y="0"/>
          <a:chExt cx="0" cy="0"/>
        </a:xfrm>
      </p:grpSpPr>
      <p:sp>
        <p:nvSpPr>
          <p:cNvPr id="878" name="Google Shape;878;p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79" name="Google Shape;879;p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4"/>
        <p:cNvGrpSpPr/>
        <p:nvPr/>
      </p:nvGrpSpPr>
      <p:grpSpPr>
        <a:xfrm>
          <a:off x="0" y="0"/>
          <a:ext cx="0" cy="0"/>
          <a:chOff x="0" y="0"/>
          <a:chExt cx="0" cy="0"/>
        </a:xfrm>
      </p:grpSpPr>
      <p:sp>
        <p:nvSpPr>
          <p:cNvPr id="885" name="Google Shape;885;p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6" name="Google Shape;886;p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0"/>
        <p:cNvGrpSpPr/>
        <p:nvPr/>
      </p:nvGrpSpPr>
      <p:grpSpPr>
        <a:xfrm>
          <a:off x="0" y="0"/>
          <a:ext cx="0" cy="0"/>
          <a:chOff x="0" y="0"/>
          <a:chExt cx="0" cy="0"/>
        </a:xfrm>
      </p:grpSpPr>
      <p:sp>
        <p:nvSpPr>
          <p:cNvPr id="891" name="Google Shape;891;p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2" name="Google Shape;892;p10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7"/>
        <p:cNvGrpSpPr/>
        <p:nvPr/>
      </p:nvGrpSpPr>
      <p:grpSpPr>
        <a:xfrm>
          <a:off x="0" y="0"/>
          <a:ext cx="0" cy="0"/>
          <a:chOff x="0" y="0"/>
          <a:chExt cx="0" cy="0"/>
        </a:xfrm>
      </p:grpSpPr>
      <p:sp>
        <p:nvSpPr>
          <p:cNvPr id="898" name="Google Shape;898;p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9" name="Google Shape;899;p10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4"/>
        <p:cNvGrpSpPr/>
        <p:nvPr/>
      </p:nvGrpSpPr>
      <p:grpSpPr>
        <a:xfrm>
          <a:off x="0" y="0"/>
          <a:ext cx="0" cy="0"/>
          <a:chOff x="0" y="0"/>
          <a:chExt cx="0" cy="0"/>
        </a:xfrm>
      </p:grpSpPr>
      <p:sp>
        <p:nvSpPr>
          <p:cNvPr id="905" name="Google Shape;905;p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6" name="Google Shape;906;p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1"/>
        <p:cNvGrpSpPr/>
        <p:nvPr/>
      </p:nvGrpSpPr>
      <p:grpSpPr>
        <a:xfrm>
          <a:off x="0" y="0"/>
          <a:ext cx="0" cy="0"/>
          <a:chOff x="0" y="0"/>
          <a:chExt cx="0" cy="0"/>
        </a:xfrm>
      </p:grpSpPr>
      <p:sp>
        <p:nvSpPr>
          <p:cNvPr id="912" name="Google Shape;912;p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3" name="Google Shape;913;p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7"/>
        <p:cNvGrpSpPr/>
        <p:nvPr/>
      </p:nvGrpSpPr>
      <p:grpSpPr>
        <a:xfrm>
          <a:off x="0" y="0"/>
          <a:ext cx="0" cy="0"/>
          <a:chOff x="0" y="0"/>
          <a:chExt cx="0" cy="0"/>
        </a:xfrm>
      </p:grpSpPr>
      <p:sp>
        <p:nvSpPr>
          <p:cNvPr id="918" name="Google Shape;918;p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9" name="Google Shape;919;p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4"/>
        <p:cNvGrpSpPr/>
        <p:nvPr/>
      </p:nvGrpSpPr>
      <p:grpSpPr>
        <a:xfrm>
          <a:off x="0" y="0"/>
          <a:ext cx="0" cy="0"/>
          <a:chOff x="0" y="0"/>
          <a:chExt cx="0" cy="0"/>
        </a:xfrm>
      </p:grpSpPr>
      <p:sp>
        <p:nvSpPr>
          <p:cNvPr id="925" name="Google Shape;925;p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6" name="Google Shape;926;p10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1"/>
        <p:cNvGrpSpPr/>
        <p:nvPr/>
      </p:nvGrpSpPr>
      <p:grpSpPr>
        <a:xfrm>
          <a:off x="0" y="0"/>
          <a:ext cx="0" cy="0"/>
          <a:chOff x="0" y="0"/>
          <a:chExt cx="0" cy="0"/>
        </a:xfrm>
      </p:grpSpPr>
      <p:sp>
        <p:nvSpPr>
          <p:cNvPr id="932" name="Google Shape;932;p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3" name="Google Shape;933;p10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077A89E-3535-4860-8891-31CB85EE8176}" type="datetimeFigureOut">
              <a:rPr lang="en-IN" smtClean="0"/>
              <a:t>03-12-2024</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ABC9FAE7-77C0-4C22-8DEA-6D07DA94A77B}" type="slidenum">
              <a:rPr lang="en-IN" smtClean="0"/>
              <a:t>‹#›</a:t>
            </a:fld>
            <a:endParaRPr lang="en-IN"/>
          </a:p>
        </p:txBody>
      </p:sp>
    </p:spTree>
    <p:extLst>
      <p:ext uri="{BB962C8B-B14F-4D97-AF65-F5344CB8AC3E}">
        <p14:creationId xmlns:p14="http://schemas.microsoft.com/office/powerpoint/2010/main" val="4112606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77A89E-3535-4860-8891-31CB85EE8176}" type="datetimeFigureOut">
              <a:rPr lang="en-IN" smtClean="0"/>
              <a:t>03-12-2024</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ABC9FAE7-77C0-4C22-8DEA-6D07DA94A77B}" type="slidenum">
              <a:rPr lang="en-IN" smtClean="0"/>
              <a:t>‹#›</a:t>
            </a:fld>
            <a:endParaRPr lang="en-IN"/>
          </a:p>
        </p:txBody>
      </p:sp>
    </p:spTree>
    <p:extLst>
      <p:ext uri="{BB962C8B-B14F-4D97-AF65-F5344CB8AC3E}">
        <p14:creationId xmlns:p14="http://schemas.microsoft.com/office/powerpoint/2010/main" val="42798609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077A89E-3535-4860-8891-31CB85EE8176}" type="datetimeFigureOut">
              <a:rPr lang="en-IN" smtClean="0"/>
              <a:t>03-12-2024</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ABC9FAE7-77C0-4C22-8DEA-6D07DA94A77B}" type="slidenum">
              <a:rPr lang="en-IN" smtClean="0"/>
              <a:t>‹#›</a:t>
            </a:fld>
            <a:endParaRPr lang="en-IN"/>
          </a:p>
        </p:txBody>
      </p:sp>
    </p:spTree>
    <p:extLst>
      <p:ext uri="{BB962C8B-B14F-4D97-AF65-F5344CB8AC3E}">
        <p14:creationId xmlns:p14="http://schemas.microsoft.com/office/powerpoint/2010/main" val="14426581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077A89E-3535-4860-8891-31CB85EE8176}" type="datetimeFigureOut">
              <a:rPr lang="en-IN" smtClean="0"/>
              <a:t>03-12-2024</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ABC9FAE7-77C0-4C22-8DEA-6D07DA94A77B}" type="slidenum">
              <a:rPr lang="en-IN" smtClean="0"/>
              <a:t>‹#›</a:t>
            </a:fld>
            <a:endParaRPr lang="en-IN"/>
          </a:p>
        </p:txBody>
      </p:sp>
    </p:spTree>
    <p:extLst>
      <p:ext uri="{BB962C8B-B14F-4D97-AF65-F5344CB8AC3E}">
        <p14:creationId xmlns:p14="http://schemas.microsoft.com/office/powerpoint/2010/main" val="32930523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077A89E-3535-4860-8891-31CB85EE8176}" type="datetimeFigureOut">
              <a:rPr lang="en-IN" smtClean="0"/>
              <a:t>03-12-2024</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ABC9FAE7-77C0-4C22-8DEA-6D07DA94A77B}" type="slidenum">
              <a:rPr lang="en-IN" smtClean="0"/>
              <a:t>‹#›</a:t>
            </a:fld>
            <a:endParaRPr lang="en-IN"/>
          </a:p>
        </p:txBody>
      </p:sp>
    </p:spTree>
    <p:extLst>
      <p:ext uri="{BB962C8B-B14F-4D97-AF65-F5344CB8AC3E}">
        <p14:creationId xmlns:p14="http://schemas.microsoft.com/office/powerpoint/2010/main" val="19296753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077A89E-3535-4860-8891-31CB85EE8176}" type="datetimeFigureOut">
              <a:rPr lang="en-IN" smtClean="0"/>
              <a:t>03-12-2024</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ABC9FAE7-77C0-4C22-8DEA-6D07DA94A77B}" type="slidenum">
              <a:rPr lang="en-IN" smtClean="0"/>
              <a:t>‹#›</a:t>
            </a:fld>
            <a:endParaRPr lang="en-IN"/>
          </a:p>
        </p:txBody>
      </p:sp>
    </p:spTree>
    <p:extLst>
      <p:ext uri="{BB962C8B-B14F-4D97-AF65-F5344CB8AC3E}">
        <p14:creationId xmlns:p14="http://schemas.microsoft.com/office/powerpoint/2010/main" val="22936284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077A89E-3535-4860-8891-31CB85EE8176}" type="datetimeFigureOut">
              <a:rPr lang="en-IN" smtClean="0"/>
              <a:t>03-12-2024</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ABC9FAE7-77C0-4C22-8DEA-6D07DA94A77B}" type="slidenum">
              <a:rPr lang="en-IN" smtClean="0"/>
              <a:t>‹#›</a:t>
            </a:fld>
            <a:endParaRPr lang="en-IN"/>
          </a:p>
        </p:txBody>
      </p:sp>
    </p:spTree>
    <p:extLst>
      <p:ext uri="{BB962C8B-B14F-4D97-AF65-F5344CB8AC3E}">
        <p14:creationId xmlns:p14="http://schemas.microsoft.com/office/powerpoint/2010/main" val="30932324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077A89E-3535-4860-8891-31CB85EE8176}" type="datetimeFigureOut">
              <a:rPr lang="en-IN" smtClean="0"/>
              <a:t>03-12-2024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ABC9FAE7-77C0-4C22-8DEA-6D07DA94A77B}" type="slidenum">
              <a:rPr lang="en-IN" smtClean="0"/>
              <a:t>‹#›</a:t>
            </a:fld>
            <a:endParaRPr lang="en-IN"/>
          </a:p>
        </p:txBody>
      </p:sp>
    </p:spTree>
    <p:extLst>
      <p:ext uri="{BB962C8B-B14F-4D97-AF65-F5344CB8AC3E}">
        <p14:creationId xmlns:p14="http://schemas.microsoft.com/office/powerpoint/2010/main" val="28026979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077A89E-3535-4860-8891-31CB85EE8176}" type="datetimeFigureOut">
              <a:rPr lang="en-IN" smtClean="0"/>
              <a:t>03-12-2024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BC9FAE7-77C0-4C22-8DEA-6D07DA94A77B}" type="slidenum">
              <a:rPr lang="en-IN" smtClean="0"/>
              <a:t>‹#›</a:t>
            </a:fld>
            <a:endParaRPr lang="en-IN"/>
          </a:p>
        </p:txBody>
      </p:sp>
    </p:spTree>
    <p:extLst>
      <p:ext uri="{BB962C8B-B14F-4D97-AF65-F5344CB8AC3E}">
        <p14:creationId xmlns:p14="http://schemas.microsoft.com/office/powerpoint/2010/main" val="32707328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077A89E-3535-4860-8891-31CB85EE8176}" type="datetimeFigureOut">
              <a:rPr lang="en-IN" smtClean="0"/>
              <a:t>03-12-2024</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ABC9FAE7-77C0-4C22-8DEA-6D07DA94A77B}" type="slidenum">
              <a:rPr lang="en-IN" smtClean="0"/>
              <a:t>‹#›</a:t>
            </a:fld>
            <a:endParaRPr lang="en-IN"/>
          </a:p>
        </p:txBody>
      </p:sp>
    </p:spTree>
    <p:extLst>
      <p:ext uri="{BB962C8B-B14F-4D97-AF65-F5344CB8AC3E}">
        <p14:creationId xmlns:p14="http://schemas.microsoft.com/office/powerpoint/2010/main" val="9163547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077A89E-3535-4860-8891-31CB85EE8176}" type="datetimeFigureOut">
              <a:rPr lang="en-IN" smtClean="0"/>
              <a:t>03-12-2024</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ABC9FAE7-77C0-4C22-8DEA-6D07DA94A77B}"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8659231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077A89E-3535-4860-8891-31CB85EE8176}" type="datetimeFigureOut">
              <a:rPr lang="en-IN" smtClean="0"/>
              <a:t>03-12-2024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BC9FAE7-77C0-4C22-8DEA-6D07DA94A77B}" type="slidenum">
              <a:rPr lang="en-IN" smtClean="0"/>
              <a:t>‹#›</a:t>
            </a:fld>
            <a:endParaRPr lang="en-IN"/>
          </a:p>
        </p:txBody>
      </p:sp>
    </p:spTree>
    <p:extLst>
      <p:ext uri="{BB962C8B-B14F-4D97-AF65-F5344CB8AC3E}">
        <p14:creationId xmlns:p14="http://schemas.microsoft.com/office/powerpoint/2010/main" val="31628218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077A89E-3535-4860-8891-31CB85EE8176}" type="datetimeFigureOut">
              <a:rPr lang="en-IN" smtClean="0"/>
              <a:t>03-12-2024</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BC9FAE7-77C0-4C22-8DEA-6D07DA94A77B}"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9725239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077A89E-3535-4860-8891-31CB85EE8176}" type="datetimeFigureOut">
              <a:rPr lang="en-IN" smtClean="0"/>
              <a:t>03-12-2024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BC9FAE7-77C0-4C22-8DEA-6D07DA94A77B}" type="slidenum">
              <a:rPr lang="en-IN" smtClean="0"/>
              <a:t>‹#›</a:t>
            </a:fld>
            <a:endParaRPr lang="en-IN"/>
          </a:p>
        </p:txBody>
      </p:sp>
    </p:spTree>
    <p:extLst>
      <p:ext uri="{BB962C8B-B14F-4D97-AF65-F5344CB8AC3E}">
        <p14:creationId xmlns:p14="http://schemas.microsoft.com/office/powerpoint/2010/main" val="20717625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77A89E-3535-4860-8891-31CB85EE8176}" type="datetimeFigureOut">
              <a:rPr lang="en-IN" smtClean="0"/>
              <a:t>03-12-2024</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ABC9FAE7-77C0-4C22-8DEA-6D07DA94A77B}" type="slidenum">
              <a:rPr lang="en-IN" smtClean="0"/>
              <a:t>‹#›</a:t>
            </a:fld>
            <a:endParaRPr lang="en-IN"/>
          </a:p>
        </p:txBody>
      </p:sp>
    </p:spTree>
    <p:extLst>
      <p:ext uri="{BB962C8B-B14F-4D97-AF65-F5344CB8AC3E}">
        <p14:creationId xmlns:p14="http://schemas.microsoft.com/office/powerpoint/2010/main" val="6717203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77A89E-3535-4860-8891-31CB85EE8176}" type="datetimeFigureOut">
              <a:rPr lang="en-IN" smtClean="0"/>
              <a:t>03-12-2024</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ABC9FAE7-77C0-4C22-8DEA-6D07DA94A77B}" type="slidenum">
              <a:rPr lang="en-IN" smtClean="0"/>
              <a:t>‹#›</a:t>
            </a:fld>
            <a:endParaRPr lang="en-IN"/>
          </a:p>
        </p:txBody>
      </p:sp>
    </p:spTree>
    <p:extLst>
      <p:ext uri="{BB962C8B-B14F-4D97-AF65-F5344CB8AC3E}">
        <p14:creationId xmlns:p14="http://schemas.microsoft.com/office/powerpoint/2010/main" val="1055727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8077A89E-3535-4860-8891-31CB85EE8176}" type="datetimeFigureOut">
              <a:rPr lang="en-IN" smtClean="0"/>
              <a:t>03-12-2024</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ABC9FAE7-77C0-4C22-8DEA-6D07DA94A77B}" type="slidenum">
              <a:rPr lang="en-IN" smtClean="0"/>
              <a:t>‹#›</a:t>
            </a:fld>
            <a:endParaRPr lang="en-IN"/>
          </a:p>
        </p:txBody>
      </p:sp>
    </p:spTree>
    <p:extLst>
      <p:ext uri="{BB962C8B-B14F-4D97-AF65-F5344CB8AC3E}">
        <p14:creationId xmlns:p14="http://schemas.microsoft.com/office/powerpoint/2010/main" val="2339322242"/>
      </p:ext>
    </p:extLst>
  </p:cSld>
  <p:clrMap bg1="lt1" tx1="dk1" bg2="lt2" tx2="dk2" accent1="accent1" accent2="accent2" accent3="accent3" accent4="accent4" accent5="accent5" accent6="accent6" hlink="hlink" folHlink="folHlink"/>
  <p:sldLayoutIdLst>
    <p:sldLayoutId id="2147483893" r:id="rId1"/>
    <p:sldLayoutId id="2147483894" r:id="rId2"/>
    <p:sldLayoutId id="2147483895" r:id="rId3"/>
    <p:sldLayoutId id="2147483896" r:id="rId4"/>
    <p:sldLayoutId id="2147483897" r:id="rId5"/>
    <p:sldLayoutId id="2147483898" r:id="rId6"/>
    <p:sldLayoutId id="2147483899" r:id="rId7"/>
    <p:sldLayoutId id="2147483900" r:id="rId8"/>
    <p:sldLayoutId id="2147483901" r:id="rId9"/>
    <p:sldLayoutId id="2147483902" r:id="rId10"/>
    <p:sldLayoutId id="2147483903" r:id="rId11"/>
    <p:sldLayoutId id="2147483904" r:id="rId12"/>
    <p:sldLayoutId id="2147483905" r:id="rId13"/>
    <p:sldLayoutId id="2147483906" r:id="rId14"/>
    <p:sldLayoutId id="2147483907" r:id="rId15"/>
    <p:sldLayoutId id="2147483908"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052947" y="1801091"/>
            <a:ext cx="10945090" cy="2671920"/>
          </a:xfrm>
        </p:spPr>
        <p:txBody>
          <a:bodyPr>
            <a:normAutofit/>
          </a:bodyPr>
          <a:lstStyle/>
          <a:p>
            <a:pPr algn="ctr"/>
            <a:r>
              <a:rPr lang="en-IN" sz="2800" b="1" dirty="0">
                <a:solidFill>
                  <a:schemeClr val="tx2"/>
                </a:solidFill>
                <a:latin typeface="Bookman Old Style" pitchFamily="18" charset="0"/>
              </a:rPr>
              <a:t>UNIT-IV</a:t>
            </a:r>
          </a:p>
          <a:p>
            <a:pPr algn="ctr"/>
            <a:r>
              <a:rPr lang="en-IN" sz="2800" b="1" dirty="0">
                <a:solidFill>
                  <a:schemeClr val="tx2"/>
                </a:solidFill>
                <a:latin typeface="Bookman Old Style" pitchFamily="18" charset="0"/>
              </a:rPr>
              <a:t>Generalized Linear Model:</a:t>
            </a:r>
          </a:p>
          <a:p>
            <a:pPr algn="ctr"/>
            <a:r>
              <a:rPr lang="en-IN" sz="2800" b="1" dirty="0">
                <a:solidFill>
                  <a:schemeClr val="tx2"/>
                </a:solidFill>
                <a:latin typeface="Bookman Old Style" pitchFamily="18" charset="0"/>
              </a:rPr>
              <a:t>Time Series Analysis</a:t>
            </a:r>
          </a:p>
        </p:txBody>
      </p:sp>
    </p:spTree>
    <p:extLst>
      <p:ext uri="{BB962C8B-B14F-4D97-AF65-F5344CB8AC3E}">
        <p14:creationId xmlns:p14="http://schemas.microsoft.com/office/powerpoint/2010/main" val="3236434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B4959-BD4C-4778-A003-8F58E58B1700}"/>
              </a:ext>
            </a:extLst>
          </p:cNvPr>
          <p:cNvSpPr>
            <a:spLocks noGrp="1"/>
          </p:cNvSpPr>
          <p:nvPr>
            <p:ph type="title"/>
          </p:nvPr>
        </p:nvSpPr>
        <p:spPr/>
        <p:txBody>
          <a:bodyPr/>
          <a:lstStyle/>
          <a:p>
            <a:r>
              <a:rPr lang="en-US" sz="3600" b="1" dirty="0">
                <a:latin typeface="Bookman Old Style" pitchFamily="18" charset="0"/>
              </a:rPr>
              <a:t>Contents</a:t>
            </a:r>
            <a:endParaRPr lang="en-IN" dirty="0"/>
          </a:p>
        </p:txBody>
      </p:sp>
      <p:sp>
        <p:nvSpPr>
          <p:cNvPr id="3" name="Content Placeholder 2">
            <a:extLst>
              <a:ext uri="{FF2B5EF4-FFF2-40B4-BE49-F238E27FC236}">
                <a16:creationId xmlns:a16="http://schemas.microsoft.com/office/drawing/2014/main" id="{ACC38B9D-6E6B-47FE-B486-29838C0D9738}"/>
              </a:ext>
            </a:extLst>
          </p:cNvPr>
          <p:cNvSpPr>
            <a:spLocks noGrp="1"/>
          </p:cNvSpPr>
          <p:nvPr>
            <p:ph idx="1"/>
          </p:nvPr>
        </p:nvSpPr>
        <p:spPr>
          <a:xfrm>
            <a:off x="2589212" y="1648691"/>
            <a:ext cx="8915400" cy="5209309"/>
          </a:xfrm>
        </p:spPr>
        <p:txBody>
          <a:bodyPr>
            <a:normAutofit/>
          </a:bodyPr>
          <a:lstStyle/>
          <a:p>
            <a:pPr algn="just"/>
            <a:r>
              <a:rPr lang="en-IN" dirty="0">
                <a:latin typeface="Bookman Old Style" pitchFamily="18" charset="0"/>
              </a:rPr>
              <a:t>Generalized Linear Model: link functions such as Poisson, binomial, inverse binomial, inverse Gaussian, Gamma. </a:t>
            </a:r>
          </a:p>
          <a:p>
            <a:pPr algn="just"/>
            <a:r>
              <a:rPr lang="en-IN" dirty="0">
                <a:latin typeface="Bookman Old Style" pitchFamily="18" charset="0"/>
              </a:rPr>
              <a:t>Non-Linear Regression (NLS): Linearization transforms, their uses &amp; limitations, examination of non-linearity, initial estimates, iterative procedures for NLS, grid search, Newton-Raphson, steepest descent, Marquardt’s methods.</a:t>
            </a:r>
          </a:p>
          <a:p>
            <a:pPr algn="just"/>
            <a:r>
              <a:rPr lang="en-US" sz="1800" b="1" dirty="0">
                <a:latin typeface="Bookman Old Style" pitchFamily="18" charset="0"/>
              </a:rPr>
              <a:t>Time Series Analysis</a:t>
            </a:r>
            <a:r>
              <a:rPr lang="en-US" sz="1800" dirty="0">
                <a:latin typeface="Bookman Old Style" pitchFamily="18" charset="0"/>
              </a:rPr>
              <a:t>: Auto-Covariance, Auto-correlation and their properties.</a:t>
            </a:r>
          </a:p>
          <a:p>
            <a:pPr algn="just"/>
            <a:r>
              <a:rPr lang="en-US" sz="1800" dirty="0">
                <a:latin typeface="Bookman Old Style" pitchFamily="18" charset="0"/>
              </a:rPr>
              <a:t>Exploratory time series analysis, Test for trend and seasonality, Exponential and moving average smoothing, Holt – Winter smoothing, forecasting based on smoothing.</a:t>
            </a:r>
          </a:p>
          <a:p>
            <a:pPr marL="0" indent="0" algn="just">
              <a:buNone/>
            </a:pPr>
            <a:endParaRPr lang="en-IN" dirty="0">
              <a:latin typeface="Bookman Old Style" pitchFamily="18" charset="0"/>
            </a:endParaRPr>
          </a:p>
        </p:txBody>
      </p:sp>
    </p:spTree>
    <p:extLst>
      <p:ext uri="{BB962C8B-B14F-4D97-AF65-F5344CB8AC3E}">
        <p14:creationId xmlns:p14="http://schemas.microsoft.com/office/powerpoint/2010/main" val="21425133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358F5-5D1D-4EDF-A4D5-1A45153F9671}"/>
              </a:ext>
            </a:extLst>
          </p:cNvPr>
          <p:cNvSpPr>
            <a:spLocks noGrp="1"/>
          </p:cNvSpPr>
          <p:nvPr>
            <p:ph type="title"/>
          </p:nvPr>
        </p:nvSpPr>
        <p:spPr>
          <a:xfrm>
            <a:off x="2064327" y="624109"/>
            <a:ext cx="9440285" cy="1648035"/>
          </a:xfrm>
        </p:spPr>
        <p:txBody>
          <a:bodyPr>
            <a:normAutofit/>
          </a:bodyPr>
          <a:lstStyle/>
          <a:p>
            <a:r>
              <a:rPr lang="en-IN" b="1" dirty="0">
                <a:latin typeface="Avenir Next LT Pro" panose="020B0504020202020204" pitchFamily="34" charset="0"/>
              </a:rPr>
              <a:t>Generalized Linear Model</a:t>
            </a:r>
            <a:br>
              <a:rPr lang="en-IN" b="1" dirty="0">
                <a:latin typeface="Avenir Next LT Pro" panose="020B0504020202020204" pitchFamily="34" charset="0"/>
              </a:rPr>
            </a:br>
            <a:endParaRPr lang="en-IN" b="1" dirty="0">
              <a:latin typeface="Avenir Next LT Pro" panose="020B0504020202020204" pitchFamily="34" charset="0"/>
            </a:endParaRPr>
          </a:p>
        </p:txBody>
      </p:sp>
      <p:sp>
        <p:nvSpPr>
          <p:cNvPr id="3" name="Content Placeholder 2">
            <a:extLst>
              <a:ext uri="{FF2B5EF4-FFF2-40B4-BE49-F238E27FC236}">
                <a16:creationId xmlns:a16="http://schemas.microsoft.com/office/drawing/2014/main" id="{53BFEF32-F6E0-413C-8936-B11149E4E8EA}"/>
              </a:ext>
            </a:extLst>
          </p:cNvPr>
          <p:cNvSpPr>
            <a:spLocks noGrp="1"/>
          </p:cNvSpPr>
          <p:nvPr>
            <p:ph idx="1"/>
          </p:nvPr>
        </p:nvSpPr>
        <p:spPr>
          <a:xfrm>
            <a:off x="1927656" y="1717964"/>
            <a:ext cx="9713625" cy="4253346"/>
          </a:xfrm>
        </p:spPr>
        <p:txBody>
          <a:bodyPr/>
          <a:lstStyle/>
          <a:p>
            <a:pPr algn="ctr"/>
            <a:r>
              <a:rPr lang="en-US" b="1" dirty="0">
                <a:latin typeface="Avenir Next LT Pro" panose="020B0504020202020204" pitchFamily="34" charset="0"/>
              </a:rPr>
              <a:t>Refer to class notes (PDF + Hand-Written notes ) for Normal, Poisson, and Binomial distributions (Practice Problems + Formulas+ Conditions)</a:t>
            </a:r>
          </a:p>
          <a:p>
            <a:pPr marL="0" indent="0">
              <a:buNone/>
            </a:pPr>
            <a:r>
              <a:rPr lang="en-US" b="1" dirty="0">
                <a:latin typeface="Avenir Next LT Pro" panose="020B0504020202020204" pitchFamily="34" charset="0"/>
              </a:rPr>
              <a:t>GAMMA Distribution</a:t>
            </a:r>
          </a:p>
          <a:p>
            <a:pPr algn="just" rtl="0" fontAlgn="base"/>
            <a:r>
              <a:rPr lang="en-US" b="1" i="0" dirty="0">
                <a:solidFill>
                  <a:srgbClr val="273239"/>
                </a:solidFill>
                <a:effectLst/>
                <a:latin typeface="Avenir Next LT Pro" panose="020B0504020202020204" pitchFamily="34" charset="0"/>
              </a:rPr>
              <a:t>Gamma distribution</a:t>
            </a:r>
            <a:r>
              <a:rPr lang="en-US" b="0" i="0" dirty="0">
                <a:solidFill>
                  <a:srgbClr val="273239"/>
                </a:solidFill>
                <a:effectLst/>
                <a:latin typeface="Avenir Next LT Pro" panose="020B0504020202020204" pitchFamily="34" charset="0"/>
              </a:rPr>
              <a:t> is a type of probability distribution that is defined for non-negative real numbers and is used to model the waiting time until a specific event occurs in a Poisson process or the time between events in a Poisson process.</a:t>
            </a:r>
          </a:p>
          <a:p>
            <a:pPr algn="just" rtl="0" fontAlgn="base"/>
            <a:r>
              <a:rPr lang="en-US" b="0" i="0" dirty="0">
                <a:solidFill>
                  <a:srgbClr val="273239"/>
                </a:solidFill>
                <a:effectLst/>
                <a:latin typeface="Avenir Next LT Pro" panose="020B0504020202020204" pitchFamily="34" charset="0"/>
              </a:rPr>
              <a:t>Gamma distribution can take on different forms, making it suitable for a range of applications. From engineering and finance to Bayesian statistics and queuing theory, the Gamma distribution plays a crucial role in understanding and predicting the behavior of processes governed by random events.</a:t>
            </a:r>
          </a:p>
          <a:p>
            <a:r>
              <a:rPr lang="en-US" b="0" i="0" dirty="0">
                <a:solidFill>
                  <a:srgbClr val="273239"/>
                </a:solidFill>
                <a:effectLst/>
                <a:latin typeface="Avenir Next LT Pro" panose="020B0504020202020204" pitchFamily="34" charset="0"/>
              </a:rPr>
              <a:t>The gamma function depicted by Γ(α), is an extension of the factorial function. The values of the gamma function for non-integer arguments generally cannot be expressed in simple, closed forms. The gamma distribution is written as Gamma (α,λ)</a:t>
            </a:r>
          </a:p>
          <a:p>
            <a:endParaRPr lang="en-IN" dirty="0">
              <a:latin typeface="Avenir Next LT Pro" panose="020B0504020202020204" pitchFamily="34" charset="0"/>
            </a:endParaRPr>
          </a:p>
        </p:txBody>
      </p:sp>
      <p:pic>
        <p:nvPicPr>
          <p:cNvPr id="5" name="Picture 4">
            <a:extLst>
              <a:ext uri="{FF2B5EF4-FFF2-40B4-BE49-F238E27FC236}">
                <a16:creationId xmlns:a16="http://schemas.microsoft.com/office/drawing/2014/main" id="{5A09C485-0E5F-4C40-8B7B-7407943B86B7}"/>
              </a:ext>
            </a:extLst>
          </p:cNvPr>
          <p:cNvPicPr>
            <a:picLocks noChangeAspect="1"/>
          </p:cNvPicPr>
          <p:nvPr/>
        </p:nvPicPr>
        <p:blipFill>
          <a:blip r:embed="rId2"/>
          <a:stretch>
            <a:fillRect/>
          </a:stretch>
        </p:blipFill>
        <p:spPr>
          <a:xfrm>
            <a:off x="4946073" y="5971310"/>
            <a:ext cx="3186545" cy="651162"/>
          </a:xfrm>
          <a:prstGeom prst="rect">
            <a:avLst/>
          </a:prstGeom>
        </p:spPr>
      </p:pic>
    </p:spTree>
    <p:extLst>
      <p:ext uri="{BB962C8B-B14F-4D97-AF65-F5344CB8AC3E}">
        <p14:creationId xmlns:p14="http://schemas.microsoft.com/office/powerpoint/2010/main" val="12630665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BFEF32-F6E0-413C-8936-B11149E4E8EA}"/>
              </a:ext>
            </a:extLst>
          </p:cNvPr>
          <p:cNvSpPr>
            <a:spLocks noGrp="1"/>
          </p:cNvSpPr>
          <p:nvPr>
            <p:ph idx="1"/>
          </p:nvPr>
        </p:nvSpPr>
        <p:spPr>
          <a:xfrm>
            <a:off x="2159721" y="775853"/>
            <a:ext cx="8915400" cy="5943601"/>
          </a:xfrm>
        </p:spPr>
        <p:txBody>
          <a:bodyPr/>
          <a:lstStyle/>
          <a:p>
            <a:pPr algn="just" fontAlgn="base"/>
            <a:r>
              <a:rPr lang="en-US" b="1" i="0" dirty="0">
                <a:solidFill>
                  <a:srgbClr val="273239"/>
                </a:solidFill>
                <a:effectLst/>
                <a:latin typeface="Avenir Next LT Pro" panose="020B0504020202020204" pitchFamily="34" charset="0"/>
              </a:rPr>
              <a:t>Gamma Distribution Formula - Probability Density Function (PDF)</a:t>
            </a:r>
          </a:p>
          <a:p>
            <a:pPr algn="just" rtl="0" fontAlgn="base"/>
            <a:r>
              <a:rPr lang="en-US" b="0" i="0" dirty="0">
                <a:solidFill>
                  <a:srgbClr val="273239"/>
                </a:solidFill>
                <a:effectLst/>
                <a:latin typeface="Avenir Next LT Pro" panose="020B0504020202020204" pitchFamily="34" charset="0"/>
              </a:rPr>
              <a:t>The </a:t>
            </a:r>
            <a:r>
              <a:rPr lang="en-US" b="1" i="0" dirty="0">
                <a:solidFill>
                  <a:srgbClr val="273239"/>
                </a:solidFill>
                <a:effectLst/>
                <a:latin typeface="Avenir Next LT Pro" panose="020B0504020202020204" pitchFamily="34" charset="0"/>
              </a:rPr>
              <a:t>Gamma Distribution</a:t>
            </a:r>
            <a:r>
              <a:rPr lang="en-US" b="0" i="0" dirty="0">
                <a:solidFill>
                  <a:srgbClr val="273239"/>
                </a:solidFill>
                <a:effectLst/>
                <a:latin typeface="Avenir Next LT Pro" panose="020B0504020202020204" pitchFamily="34" charset="0"/>
              </a:rPr>
              <a:t> is defined by two parameters: the shape parameter k (also denoted as </a:t>
            </a:r>
            <a:r>
              <a:rPr lang="en-US" b="0" i="1" dirty="0">
                <a:solidFill>
                  <a:srgbClr val="273239"/>
                </a:solidFill>
                <a:effectLst/>
                <a:latin typeface="Avenir Next LT Pro" panose="020B0504020202020204" pitchFamily="34" charset="0"/>
              </a:rPr>
              <a:t>α</a:t>
            </a:r>
            <a:r>
              <a:rPr lang="en-US" b="0" i="0" dirty="0">
                <a:solidFill>
                  <a:srgbClr val="273239"/>
                </a:solidFill>
                <a:effectLst/>
                <a:latin typeface="Avenir Next LT Pro" panose="020B0504020202020204" pitchFamily="34" charset="0"/>
              </a:rPr>
              <a:t> and the scale parameter θ (also denoted as β</a:t>
            </a:r>
            <a:r>
              <a:rPr lang="en-US" b="0" i="1" dirty="0">
                <a:solidFill>
                  <a:srgbClr val="273239"/>
                </a:solidFill>
                <a:effectLst/>
                <a:latin typeface="Avenir Next LT Pro" panose="020B0504020202020204" pitchFamily="34" charset="0"/>
              </a:rPr>
              <a:t>β</a:t>
            </a:r>
            <a:r>
              <a:rPr lang="en-US" b="0" i="0" dirty="0">
                <a:solidFill>
                  <a:srgbClr val="273239"/>
                </a:solidFill>
                <a:effectLst/>
                <a:latin typeface="Avenir Next LT Pro" panose="020B0504020202020204" pitchFamily="34" charset="0"/>
              </a:rPr>
              <a:t>. The probability density function (PDF) of the Gamma distribution is given by:</a:t>
            </a:r>
          </a:p>
          <a:p>
            <a:endParaRPr lang="en-IN" dirty="0"/>
          </a:p>
          <a:p>
            <a:endParaRPr lang="en-IN" dirty="0"/>
          </a:p>
          <a:p>
            <a:pPr fontAlgn="base"/>
            <a:r>
              <a:rPr lang="en-US" dirty="0">
                <a:solidFill>
                  <a:srgbClr val="273239"/>
                </a:solidFill>
                <a:latin typeface="Avenir Next LT Pro" panose="020B0504020202020204" pitchFamily="34" charset="0"/>
              </a:rPr>
              <a:t>Gamma Distribution Mean and Variance</a:t>
            </a:r>
          </a:p>
          <a:p>
            <a:pPr algn="just" fontAlgn="base"/>
            <a:r>
              <a:rPr lang="en-US" dirty="0">
                <a:solidFill>
                  <a:srgbClr val="273239"/>
                </a:solidFill>
                <a:latin typeface="Avenir Next LT Pro" panose="020B0504020202020204" pitchFamily="34" charset="0"/>
              </a:rPr>
              <a:t>The mean of a random variable is a measure of its central tendency while variance measures the spread or dispersion of a random variable. It tells us how much the values of a random variable deviate from its mean.</a:t>
            </a:r>
          </a:p>
          <a:p>
            <a:pPr fontAlgn="base"/>
            <a:r>
              <a:rPr lang="en-US" dirty="0">
                <a:solidFill>
                  <a:srgbClr val="273239"/>
                </a:solidFill>
                <a:latin typeface="Avenir Next LT Pro" panose="020B0504020202020204" pitchFamily="34" charset="0"/>
              </a:rPr>
              <a:t>1. The mean of the Gamma distribution is μ=α/λ</a:t>
            </a:r>
          </a:p>
          <a:p>
            <a:r>
              <a:rPr lang="en-US" dirty="0">
                <a:solidFill>
                  <a:srgbClr val="273239"/>
                </a:solidFill>
                <a:latin typeface="Avenir Next LT Pro" panose="020B0504020202020204" pitchFamily="34" charset="0"/>
              </a:rPr>
              <a:t>2. The variance of Gamma Distribution is σ2=α/λ2</a:t>
            </a:r>
            <a:br>
              <a:rPr lang="en-US" dirty="0">
                <a:solidFill>
                  <a:srgbClr val="273239"/>
                </a:solidFill>
                <a:latin typeface="Avenir Next LT Pro" panose="020B0504020202020204" pitchFamily="34" charset="0"/>
              </a:rPr>
            </a:br>
            <a:endParaRPr lang="en-IN" dirty="0">
              <a:solidFill>
                <a:srgbClr val="273239"/>
              </a:solidFill>
              <a:latin typeface="Avenir Next LT Pro" panose="020B0504020202020204" pitchFamily="34" charset="0"/>
            </a:endParaRPr>
          </a:p>
        </p:txBody>
      </p:sp>
      <p:pic>
        <p:nvPicPr>
          <p:cNvPr id="5" name="Picture 4">
            <a:extLst>
              <a:ext uri="{FF2B5EF4-FFF2-40B4-BE49-F238E27FC236}">
                <a16:creationId xmlns:a16="http://schemas.microsoft.com/office/drawing/2014/main" id="{9A2245A4-1167-4921-853F-235B615C6A8E}"/>
              </a:ext>
            </a:extLst>
          </p:cNvPr>
          <p:cNvPicPr>
            <a:picLocks noChangeAspect="1"/>
          </p:cNvPicPr>
          <p:nvPr/>
        </p:nvPicPr>
        <p:blipFill>
          <a:blip r:embed="rId2"/>
          <a:stretch>
            <a:fillRect/>
          </a:stretch>
        </p:blipFill>
        <p:spPr>
          <a:xfrm>
            <a:off x="4156363" y="2184688"/>
            <a:ext cx="4142509" cy="807893"/>
          </a:xfrm>
          <a:prstGeom prst="rect">
            <a:avLst/>
          </a:prstGeom>
        </p:spPr>
      </p:pic>
    </p:spTree>
    <p:extLst>
      <p:ext uri="{BB962C8B-B14F-4D97-AF65-F5344CB8AC3E}">
        <p14:creationId xmlns:p14="http://schemas.microsoft.com/office/powerpoint/2010/main" val="26971828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Content Placeholder 16">
            <a:extLst>
              <a:ext uri="{FF2B5EF4-FFF2-40B4-BE49-F238E27FC236}">
                <a16:creationId xmlns:a16="http://schemas.microsoft.com/office/drawing/2014/main" id="{ED28DEC3-7E84-4701-BD52-E5E961D3BB84}"/>
              </a:ext>
            </a:extLst>
          </p:cNvPr>
          <p:cNvPicPr>
            <a:picLocks noGrp="1" noChangeAspect="1"/>
          </p:cNvPicPr>
          <p:nvPr>
            <p:ph idx="1"/>
          </p:nvPr>
        </p:nvPicPr>
        <p:blipFill>
          <a:blip r:embed="rId2"/>
          <a:stretch>
            <a:fillRect/>
          </a:stretch>
        </p:blipFill>
        <p:spPr>
          <a:xfrm>
            <a:off x="1770743" y="707571"/>
            <a:ext cx="10174514" cy="1396999"/>
          </a:xfrm>
        </p:spPr>
      </p:pic>
      <p:sp>
        <p:nvSpPr>
          <p:cNvPr id="19" name="TextBox 18">
            <a:extLst>
              <a:ext uri="{FF2B5EF4-FFF2-40B4-BE49-F238E27FC236}">
                <a16:creationId xmlns:a16="http://schemas.microsoft.com/office/drawing/2014/main" id="{19EF8460-19CD-4CBA-ABAA-B2B3C10CF4C1}"/>
              </a:ext>
            </a:extLst>
          </p:cNvPr>
          <p:cNvSpPr txBox="1"/>
          <p:nvPr/>
        </p:nvSpPr>
        <p:spPr>
          <a:xfrm>
            <a:off x="1523999" y="2159860"/>
            <a:ext cx="10174514" cy="2287806"/>
          </a:xfrm>
          <a:prstGeom prst="rect">
            <a:avLst/>
          </a:prstGeom>
          <a:noFill/>
        </p:spPr>
        <p:txBody>
          <a:bodyPr wrap="square">
            <a:spAutoFit/>
          </a:bodyPr>
          <a:lstStyle/>
          <a:p>
            <a:pPr algn="ctr"/>
            <a:r>
              <a:rPr lang="en-US" b="1" dirty="0">
                <a:solidFill>
                  <a:srgbClr val="273239"/>
                </a:solidFill>
                <a:latin typeface="Avenir Next LT Pro" panose="020B0504020202020204" pitchFamily="34" charset="0"/>
              </a:rPr>
              <a:t>Case Study: Rainfall Analysis Using Gamma Distribution</a:t>
            </a:r>
          </a:p>
          <a:p>
            <a:pPr algn="ctr"/>
            <a:r>
              <a:rPr lang="en-US" b="1" dirty="0">
                <a:solidFill>
                  <a:srgbClr val="273239"/>
                </a:solidFill>
                <a:latin typeface="Avenir Next LT Pro" panose="020B0504020202020204" pitchFamily="34" charset="0"/>
              </a:rPr>
              <a:t>Context</a:t>
            </a:r>
          </a:p>
          <a:p>
            <a:pPr marL="342900" indent="-342900" algn="just" fontAlgn="base">
              <a:spcBef>
                <a:spcPts val="1000"/>
              </a:spcBef>
              <a:buClr>
                <a:schemeClr val="accent1"/>
              </a:buClr>
              <a:buFont typeface="Wingdings 3" charset="2"/>
              <a:buChar char=""/>
            </a:pPr>
            <a:r>
              <a:rPr lang="en-US" dirty="0">
                <a:solidFill>
                  <a:srgbClr val="273239"/>
                </a:solidFill>
                <a:latin typeface="Avenir Next LT Pro" panose="020B0504020202020204" pitchFamily="34" charset="0"/>
              </a:rPr>
              <a:t>Rainfall variability significantly impacts agriculture, water resource management, and disaster preparedness. Understanding and modeling rainfall patterns are essential for planning and mitigation strategies. This case study focuses on how the gamma distribution is applied to model monthly rainfall data for predictive purposes.</a:t>
            </a:r>
          </a:p>
          <a:p>
            <a:pPr marL="342900" indent="-342900" algn="just" fontAlgn="base">
              <a:spcBef>
                <a:spcPts val="1000"/>
              </a:spcBef>
              <a:buClr>
                <a:schemeClr val="accent1"/>
              </a:buClr>
              <a:buFont typeface="Wingdings 3" charset="2"/>
              <a:buChar char=""/>
            </a:pPr>
            <a:endParaRPr lang="en-US" dirty="0">
              <a:solidFill>
                <a:srgbClr val="273239"/>
              </a:solidFill>
              <a:latin typeface="Avenir Next LT Pro" panose="020B0504020202020204" pitchFamily="34" charset="0"/>
            </a:endParaRPr>
          </a:p>
        </p:txBody>
      </p:sp>
      <p:sp>
        <p:nvSpPr>
          <p:cNvPr id="20" name="Rectangle 13">
            <a:extLst>
              <a:ext uri="{FF2B5EF4-FFF2-40B4-BE49-F238E27FC236}">
                <a16:creationId xmlns:a16="http://schemas.microsoft.com/office/drawing/2014/main" id="{293DB5C4-1717-4578-BC03-11372A58A62E}"/>
              </a:ext>
            </a:extLst>
          </p:cNvPr>
          <p:cNvSpPr>
            <a:spLocks noChangeArrowheads="1"/>
          </p:cNvSpPr>
          <p:nvPr/>
        </p:nvSpPr>
        <p:spPr bwMode="auto">
          <a:xfrm>
            <a:off x="1914339" y="4041291"/>
            <a:ext cx="9887322"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solidFill>
                  <a:srgbClr val="273239"/>
                </a:solidFill>
                <a:latin typeface="Avenir Next LT Pro" panose="020B0504020202020204" pitchFamily="34" charset="0"/>
              </a:rPr>
              <a:t>Study Area</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solidFill>
                  <a:srgbClr val="273239"/>
                </a:solidFill>
                <a:latin typeface="Avenir Next LT Pro" panose="020B0504020202020204" pitchFamily="34" charset="0"/>
              </a:rPr>
              <a:t>The study was conducted in a semi-arid region of India prone to high rainfall variability. </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solidFill>
                  <a:srgbClr val="273239"/>
                </a:solidFill>
                <a:latin typeface="Avenir Next LT Pro" panose="020B0504020202020204" pitchFamily="34" charset="0"/>
              </a:rPr>
              <a:t>Monthly rainfall data were collected from meteorological stations over 30 years (1990–2020).</a:t>
            </a:r>
          </a:p>
        </p:txBody>
      </p:sp>
      <p:sp>
        <p:nvSpPr>
          <p:cNvPr id="21" name="Rectangle 14">
            <a:extLst>
              <a:ext uri="{FF2B5EF4-FFF2-40B4-BE49-F238E27FC236}">
                <a16:creationId xmlns:a16="http://schemas.microsoft.com/office/drawing/2014/main" id="{872458D3-C00F-4B5C-9790-08B251F9C425}"/>
              </a:ext>
            </a:extLst>
          </p:cNvPr>
          <p:cNvSpPr>
            <a:spLocks noChangeArrowheads="1"/>
          </p:cNvSpPr>
          <p:nvPr/>
        </p:nvSpPr>
        <p:spPr bwMode="auto">
          <a:xfrm>
            <a:off x="-246743" y="45720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2" name="Rectangle 15">
            <a:extLst>
              <a:ext uri="{FF2B5EF4-FFF2-40B4-BE49-F238E27FC236}">
                <a16:creationId xmlns:a16="http://schemas.microsoft.com/office/drawing/2014/main" id="{51D30BE4-A99E-425E-BDA8-5464E9E63A8C}"/>
              </a:ext>
            </a:extLst>
          </p:cNvPr>
          <p:cNvSpPr>
            <a:spLocks noChangeArrowheads="1"/>
          </p:cNvSpPr>
          <p:nvPr/>
        </p:nvSpPr>
        <p:spPr bwMode="auto">
          <a:xfrm>
            <a:off x="1914338" y="5031194"/>
            <a:ext cx="9784175" cy="13696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solidFill>
                  <a:srgbClr val="273239"/>
                </a:solidFill>
                <a:latin typeface="Avenir Next LT Pro" panose="020B0504020202020204" pitchFamily="34" charset="0"/>
              </a:rPr>
              <a:t>Objective</a:t>
            </a:r>
          </a:p>
          <a:p>
            <a:pPr marL="0" marR="0" lvl="0" indent="0" algn="just" defTabSz="914400" rtl="0" eaLnBrk="0" fontAlgn="base" latinLnBrk="0" hangingPunct="0">
              <a:lnSpc>
                <a:spcPct val="100000"/>
              </a:lnSpc>
              <a:spcBef>
                <a:spcPct val="0"/>
              </a:spcBef>
              <a:spcAft>
                <a:spcPct val="0"/>
              </a:spcAft>
              <a:buClrTx/>
              <a:buSzTx/>
              <a:buFontTx/>
              <a:buChar char="•"/>
              <a:tabLst/>
            </a:pPr>
            <a:r>
              <a:rPr lang="en-US" altLang="en-US" dirty="0">
                <a:solidFill>
                  <a:srgbClr val="273239"/>
                </a:solidFill>
                <a:latin typeface="Avenir Next LT Pro" panose="020B0504020202020204" pitchFamily="34" charset="0"/>
              </a:rPr>
              <a:t>To</a:t>
            </a:r>
            <a:r>
              <a:rPr kumimoji="0" lang="en-US" altLang="en-US" sz="1100" b="0" i="0" u="none" strike="noStrike" cap="none" normalizeH="0" baseline="0" dirty="0">
                <a:ln>
                  <a:noFill/>
                </a:ln>
                <a:solidFill>
                  <a:schemeClr val="tx1"/>
                </a:solidFill>
                <a:effectLst/>
                <a:latin typeface="Arial" panose="020B0604020202020204" pitchFamily="34" charset="0"/>
              </a:rPr>
              <a:t> </a:t>
            </a:r>
            <a:r>
              <a:rPr lang="en-US" altLang="en-US" dirty="0">
                <a:solidFill>
                  <a:srgbClr val="273239"/>
                </a:solidFill>
                <a:latin typeface="Avenir Next LT Pro" panose="020B0504020202020204" pitchFamily="34" charset="0"/>
              </a:rPr>
              <a:t>model the distribution of monthly rainfall using the gamma distribution.</a:t>
            </a:r>
          </a:p>
          <a:p>
            <a:pPr marL="0" marR="0" lvl="0" indent="0" algn="just" defTabSz="914400" rtl="0" eaLnBrk="0" fontAlgn="base" latinLnBrk="0" hangingPunct="0">
              <a:lnSpc>
                <a:spcPct val="100000"/>
              </a:lnSpc>
              <a:spcBef>
                <a:spcPct val="0"/>
              </a:spcBef>
              <a:spcAft>
                <a:spcPct val="0"/>
              </a:spcAft>
              <a:buClrTx/>
              <a:buSzTx/>
              <a:buFontTx/>
              <a:buChar char="•"/>
              <a:tabLst/>
            </a:pPr>
            <a:r>
              <a:rPr lang="en-US" altLang="en-US" dirty="0">
                <a:solidFill>
                  <a:srgbClr val="273239"/>
                </a:solidFill>
                <a:latin typeface="Avenir Next LT Pro" panose="020B0504020202020204" pitchFamily="34" charset="0"/>
              </a:rPr>
              <a:t>To predict extreme rainfall events and assess the probability of drought or floods.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623906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358F5-5D1D-4EDF-A4D5-1A45153F9671}"/>
              </a:ext>
            </a:extLst>
          </p:cNvPr>
          <p:cNvSpPr>
            <a:spLocks noGrp="1"/>
          </p:cNvSpPr>
          <p:nvPr>
            <p:ph type="title"/>
          </p:nvPr>
        </p:nvSpPr>
        <p:spPr>
          <a:xfrm>
            <a:off x="2592925" y="624110"/>
            <a:ext cx="8911687" cy="539672"/>
          </a:xfrm>
        </p:spPr>
        <p:txBody>
          <a:bodyPr>
            <a:normAutofit/>
          </a:bodyPr>
          <a:lstStyle/>
          <a:p>
            <a:r>
              <a:rPr lang="en-US" sz="2400" b="1" dirty="0">
                <a:latin typeface="Avenir Next LT Pro" panose="020B0504020202020204" pitchFamily="34" charset="0"/>
              </a:rPr>
              <a:t>Gamma distribution</a:t>
            </a:r>
            <a:endParaRPr lang="en-IN" sz="2400" b="1" dirty="0">
              <a:latin typeface="Avenir Next LT Pro" panose="020B0504020202020204" pitchFamily="34" charset="0"/>
            </a:endParaRPr>
          </a:p>
        </p:txBody>
      </p:sp>
      <p:sp>
        <p:nvSpPr>
          <p:cNvPr id="3" name="Content Placeholder 2">
            <a:extLst>
              <a:ext uri="{FF2B5EF4-FFF2-40B4-BE49-F238E27FC236}">
                <a16:creationId xmlns:a16="http://schemas.microsoft.com/office/drawing/2014/main" id="{53BFEF32-F6E0-413C-8936-B11149E4E8EA}"/>
              </a:ext>
            </a:extLst>
          </p:cNvPr>
          <p:cNvSpPr>
            <a:spLocks noGrp="1"/>
          </p:cNvSpPr>
          <p:nvPr>
            <p:ph idx="1"/>
          </p:nvPr>
        </p:nvSpPr>
        <p:spPr>
          <a:xfrm>
            <a:off x="2589212" y="1260765"/>
            <a:ext cx="8915400" cy="4973125"/>
          </a:xfrm>
        </p:spPr>
        <p:txBody>
          <a:bodyPr>
            <a:normAutofit fontScale="55000" lnSpcReduction="20000"/>
          </a:bodyPr>
          <a:lstStyle/>
          <a:p>
            <a:pPr marL="0" lvl="1" indent="0" algn="just" fontAlgn="base">
              <a:buNone/>
            </a:pPr>
            <a:r>
              <a:rPr lang="en-US" sz="2900" b="1" dirty="0">
                <a:solidFill>
                  <a:srgbClr val="273239"/>
                </a:solidFill>
                <a:latin typeface="Avenir Next LT Pro" panose="020B0504020202020204" pitchFamily="34" charset="0"/>
              </a:rPr>
              <a:t>Methodology</a:t>
            </a:r>
          </a:p>
          <a:p>
            <a:pPr marL="342900" lvl="1" indent="-342900" algn="just" fontAlgn="base"/>
            <a:r>
              <a:rPr lang="en-US" sz="2900" dirty="0">
                <a:solidFill>
                  <a:srgbClr val="273239"/>
                </a:solidFill>
                <a:latin typeface="Avenir Next LT Pro" panose="020B0504020202020204" pitchFamily="34" charset="0"/>
              </a:rPr>
              <a:t>Data Collection and Preprocessing:</a:t>
            </a:r>
          </a:p>
          <a:p>
            <a:pPr marL="342900" lvl="1" indent="-342900" algn="just" fontAlgn="base"/>
            <a:r>
              <a:rPr lang="en-US" sz="2900" dirty="0">
                <a:solidFill>
                  <a:srgbClr val="273239"/>
                </a:solidFill>
                <a:latin typeface="Avenir Next LT Pro" panose="020B0504020202020204" pitchFamily="34" charset="0"/>
              </a:rPr>
              <a:t>Monthly rainfall data were collected from meteorological records.</a:t>
            </a:r>
          </a:p>
          <a:p>
            <a:pPr marL="0" lvl="1" indent="0" algn="just" fontAlgn="base">
              <a:buNone/>
            </a:pPr>
            <a:r>
              <a:rPr lang="en-US" sz="2900" dirty="0">
                <a:solidFill>
                  <a:srgbClr val="273239"/>
                </a:solidFill>
                <a:latin typeface="Avenir Next LT Pro" panose="020B0504020202020204" pitchFamily="34" charset="0"/>
              </a:rPr>
              <a:t>        Data were cleaned to remove outliers and fill missing values using interpolation techniques.</a:t>
            </a:r>
          </a:p>
          <a:p>
            <a:pPr marL="0" lvl="1" indent="0" algn="just" fontAlgn="base">
              <a:buNone/>
            </a:pPr>
            <a:r>
              <a:rPr lang="en-US" sz="2900" b="1" dirty="0">
                <a:solidFill>
                  <a:srgbClr val="273239"/>
                </a:solidFill>
                <a:latin typeface="Avenir Next LT Pro" panose="020B0504020202020204" pitchFamily="34" charset="0"/>
              </a:rPr>
              <a:t>Fitting the Gamma Distribution:</a:t>
            </a:r>
          </a:p>
          <a:p>
            <a:pPr marL="342900" lvl="1" indent="-342900" algn="just" fontAlgn="base"/>
            <a:r>
              <a:rPr lang="en-US" sz="2900" dirty="0">
                <a:solidFill>
                  <a:srgbClr val="273239"/>
                </a:solidFill>
                <a:latin typeface="Avenir Next LT Pro" panose="020B0504020202020204" pitchFamily="34" charset="0"/>
              </a:rPr>
              <a:t>The gamma distribution was chosen due to its flexibility in modeling skewed data.</a:t>
            </a:r>
          </a:p>
          <a:p>
            <a:pPr marL="342900" lvl="1" indent="-342900" algn="just" fontAlgn="base">
              <a:buAutoNum type="arabicPeriod"/>
            </a:pPr>
            <a:r>
              <a:rPr lang="en-US" sz="2900" dirty="0">
                <a:solidFill>
                  <a:srgbClr val="273239"/>
                </a:solidFill>
                <a:latin typeface="Avenir Next LT Pro" panose="020B0504020202020204" pitchFamily="34" charset="0"/>
              </a:rPr>
              <a:t>Parameters (k, θ) were estimated using the method of moments and maximum likelihood estimation (MLE).</a:t>
            </a:r>
          </a:p>
          <a:p>
            <a:pPr marL="342900" lvl="1" indent="-342900" algn="just" fontAlgn="base">
              <a:buAutoNum type="arabicPeriod"/>
            </a:pPr>
            <a:r>
              <a:rPr lang="en-US" sz="2900" dirty="0">
                <a:solidFill>
                  <a:srgbClr val="273239"/>
                </a:solidFill>
                <a:latin typeface="Avenir Next LT Pro" panose="020B0504020202020204" pitchFamily="34" charset="0"/>
              </a:rPr>
              <a:t>Goodness-of-fit tests (e.g., Kolmogorov-Smirnov and Chi-square tests) validated the fit.</a:t>
            </a:r>
          </a:p>
          <a:p>
            <a:pPr marL="0" lvl="1" indent="0" algn="just" fontAlgn="base">
              <a:buNone/>
            </a:pPr>
            <a:r>
              <a:rPr lang="en-US" sz="2900" b="1" dirty="0">
                <a:solidFill>
                  <a:srgbClr val="273239"/>
                </a:solidFill>
                <a:latin typeface="Avenir Next LT Pro" panose="020B0504020202020204" pitchFamily="34" charset="0"/>
              </a:rPr>
              <a:t>Probability Analysis:</a:t>
            </a:r>
          </a:p>
          <a:p>
            <a:pPr marL="342900" lvl="1" indent="-342900" algn="just" fontAlgn="base"/>
            <a:r>
              <a:rPr lang="en-US" sz="2900" dirty="0">
                <a:solidFill>
                  <a:srgbClr val="273239"/>
                </a:solidFill>
                <a:latin typeface="Avenir Next LT Pro" panose="020B0504020202020204" pitchFamily="34" charset="0"/>
              </a:rPr>
              <a:t>Computed probabilities of rainfall exceeding or falling below specific thresholds.</a:t>
            </a:r>
          </a:p>
          <a:p>
            <a:pPr marL="342900" lvl="1" indent="-342900" algn="just" fontAlgn="base">
              <a:buAutoNum type="arabicPeriod"/>
            </a:pPr>
            <a:r>
              <a:rPr lang="en-US" sz="2900" dirty="0">
                <a:solidFill>
                  <a:srgbClr val="273239"/>
                </a:solidFill>
                <a:latin typeface="Avenir Next LT Pro" panose="020B0504020202020204" pitchFamily="34" charset="0"/>
              </a:rPr>
              <a:t>Assessed the likelihood of extreme rainfall events (e.g., more than 200 mm in a month).</a:t>
            </a:r>
          </a:p>
          <a:p>
            <a:endParaRPr lang="en-IN" dirty="0"/>
          </a:p>
        </p:txBody>
      </p:sp>
    </p:spTree>
    <p:extLst>
      <p:ext uri="{BB962C8B-B14F-4D97-AF65-F5344CB8AC3E}">
        <p14:creationId xmlns:p14="http://schemas.microsoft.com/office/powerpoint/2010/main" val="35354702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BFEF32-F6E0-413C-8936-B11149E4E8EA}"/>
              </a:ext>
            </a:extLst>
          </p:cNvPr>
          <p:cNvSpPr>
            <a:spLocks noGrp="1"/>
          </p:cNvSpPr>
          <p:nvPr>
            <p:ph idx="1"/>
          </p:nvPr>
        </p:nvSpPr>
        <p:spPr>
          <a:xfrm>
            <a:off x="1759527" y="845127"/>
            <a:ext cx="9947564" cy="5791200"/>
          </a:xfrm>
        </p:spPr>
        <p:txBody>
          <a:bodyPr>
            <a:normAutofit/>
          </a:bodyPr>
          <a:lstStyle/>
          <a:p>
            <a:pPr algn="just" fontAlgn="base"/>
            <a:r>
              <a:rPr lang="en-US" b="1" dirty="0">
                <a:solidFill>
                  <a:srgbClr val="273239"/>
                </a:solidFill>
                <a:latin typeface="Avenir Next LT Pro" panose="020B0504020202020204" pitchFamily="34" charset="0"/>
              </a:rPr>
              <a:t>Results</a:t>
            </a:r>
          </a:p>
          <a:p>
            <a:pPr marL="0" indent="0" algn="just" fontAlgn="base">
              <a:buNone/>
            </a:pPr>
            <a:r>
              <a:rPr lang="en-US" b="1" dirty="0">
                <a:solidFill>
                  <a:srgbClr val="273239"/>
                </a:solidFill>
                <a:latin typeface="Avenir Next LT Pro" panose="020B0504020202020204" pitchFamily="34" charset="0"/>
              </a:rPr>
              <a:t>1. Model Fit:</a:t>
            </a:r>
          </a:p>
          <a:p>
            <a:pPr marL="342900" lvl="1" indent="-342900" algn="just" fontAlgn="base"/>
            <a:r>
              <a:rPr lang="en-US" sz="1800" dirty="0">
                <a:solidFill>
                  <a:srgbClr val="273239"/>
                </a:solidFill>
                <a:latin typeface="Avenir Next LT Pro" panose="020B0504020202020204" pitchFamily="34" charset="0"/>
              </a:rPr>
              <a:t>The gamma distribution provided an excellent fit to the rainfall data, as evidenced by low AIC and BIC scores.</a:t>
            </a:r>
          </a:p>
          <a:p>
            <a:pPr marL="342900" lvl="1" indent="-342900" algn="just" fontAlgn="base"/>
            <a:r>
              <a:rPr lang="en-US" sz="1800" dirty="0">
                <a:solidFill>
                  <a:srgbClr val="273239"/>
                </a:solidFill>
                <a:latin typeface="Avenir Next LT Pro" panose="020B0504020202020204" pitchFamily="34" charset="0"/>
              </a:rPr>
              <a:t>Parameters estimated: k=2.8 ,  θ=30.5</a:t>
            </a:r>
          </a:p>
          <a:p>
            <a:pPr marL="0" lvl="1" indent="0" algn="just" fontAlgn="base">
              <a:buNone/>
            </a:pPr>
            <a:r>
              <a:rPr lang="en-US" sz="1800" b="1" dirty="0">
                <a:solidFill>
                  <a:srgbClr val="273239"/>
                </a:solidFill>
                <a:latin typeface="Avenir Next LT Pro" panose="020B0504020202020204" pitchFamily="34" charset="0"/>
              </a:rPr>
              <a:t>2. Insights from Probability Analysis:</a:t>
            </a:r>
          </a:p>
          <a:p>
            <a:pPr marL="342900" lvl="1" indent="-342900" algn="just" fontAlgn="base"/>
            <a:r>
              <a:rPr lang="en-US" sz="1800" dirty="0">
                <a:solidFill>
                  <a:srgbClr val="273239"/>
                </a:solidFill>
                <a:latin typeface="Avenir Next LT Pro" panose="020B0504020202020204" pitchFamily="34" charset="0"/>
              </a:rPr>
              <a:t>Probability of monthly rainfall exceeding 150 mm: 20%.</a:t>
            </a:r>
          </a:p>
          <a:p>
            <a:pPr marL="342900" lvl="1" indent="-342900" algn="just" fontAlgn="base"/>
            <a:r>
              <a:rPr lang="en-US" sz="1800" dirty="0">
                <a:solidFill>
                  <a:srgbClr val="273239"/>
                </a:solidFill>
                <a:latin typeface="Avenir Next LT Pro" panose="020B0504020202020204" pitchFamily="34" charset="0"/>
              </a:rPr>
              <a:t>Probability of less than 50 mm of rainfall (drought condition): 15%.</a:t>
            </a:r>
          </a:p>
          <a:p>
            <a:pPr marL="0" lvl="1" indent="0" algn="just" fontAlgn="base">
              <a:buNone/>
            </a:pPr>
            <a:r>
              <a:rPr lang="en-US" sz="1800" b="1" dirty="0">
                <a:solidFill>
                  <a:srgbClr val="273239"/>
                </a:solidFill>
                <a:latin typeface="Avenir Next LT Pro" panose="020B0504020202020204" pitchFamily="34" charset="0"/>
              </a:rPr>
              <a:t>3. Comparison:</a:t>
            </a:r>
          </a:p>
          <a:p>
            <a:pPr marL="342900" lvl="1" indent="-342900" algn="just" fontAlgn="base"/>
            <a:r>
              <a:rPr lang="en-US" sz="1800" dirty="0">
                <a:solidFill>
                  <a:srgbClr val="273239"/>
                </a:solidFill>
                <a:latin typeface="Avenir Next LT Pro" panose="020B0504020202020204" pitchFamily="34" charset="0"/>
              </a:rPr>
              <a:t>The gamma distribution outperformed exponential and log-normal models in capturing the skewness of the rainfall data.</a:t>
            </a:r>
          </a:p>
          <a:p>
            <a:pPr marL="0" indent="0" algn="just" fontAlgn="base">
              <a:buNone/>
            </a:pPr>
            <a:r>
              <a:rPr lang="en-US" b="1" dirty="0">
                <a:solidFill>
                  <a:srgbClr val="273239"/>
                </a:solidFill>
                <a:latin typeface="Avenir Next LT Pro" panose="020B0504020202020204" pitchFamily="34" charset="0"/>
              </a:rPr>
              <a:t>4. Extreme Events:</a:t>
            </a:r>
          </a:p>
          <a:p>
            <a:pPr marL="342900" lvl="1" indent="-342900" algn="just" fontAlgn="base"/>
            <a:r>
              <a:rPr lang="en-US" sz="1800" dirty="0">
                <a:solidFill>
                  <a:srgbClr val="273239"/>
                </a:solidFill>
                <a:latin typeface="Avenir Next LT Pro" panose="020B0504020202020204" pitchFamily="34" charset="0"/>
              </a:rPr>
              <a:t>Identified years with the highest and lowest rainfall probabilities.</a:t>
            </a:r>
          </a:p>
          <a:p>
            <a:pPr marL="342900" lvl="1" indent="-342900" algn="just" fontAlgn="base"/>
            <a:r>
              <a:rPr lang="en-US" sz="1800" dirty="0">
                <a:solidFill>
                  <a:srgbClr val="273239"/>
                </a:solidFill>
                <a:latin typeface="Avenir Next LT Pro" panose="020B0504020202020204" pitchFamily="34" charset="0"/>
              </a:rPr>
              <a:t>Probability of extreme rainfall events was estimated to inform flood mitigation strategies.</a:t>
            </a:r>
          </a:p>
          <a:p>
            <a:pPr marL="742950" lvl="1" indent="-285750">
              <a:buFont typeface="+mj-lt"/>
              <a:buAutoNum type="arabicPeriod"/>
            </a:pPr>
            <a:endParaRPr lang="en-US" dirty="0"/>
          </a:p>
          <a:p>
            <a:endParaRPr lang="en-IN" dirty="0"/>
          </a:p>
        </p:txBody>
      </p:sp>
    </p:spTree>
    <p:extLst>
      <p:ext uri="{BB962C8B-B14F-4D97-AF65-F5344CB8AC3E}">
        <p14:creationId xmlns:p14="http://schemas.microsoft.com/office/powerpoint/2010/main" val="29667990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sz="3200" b="1" dirty="0">
                <a:latin typeface="Avenir Next LT Pro" panose="020B0504020202020204" pitchFamily="34" charset="0"/>
              </a:rPr>
              <a:t>Time Series Analysis</a:t>
            </a:r>
          </a:p>
        </p:txBody>
      </p:sp>
      <p:sp>
        <p:nvSpPr>
          <p:cNvPr id="3" name="Content Placeholder 2"/>
          <p:cNvSpPr>
            <a:spLocks noGrp="1"/>
          </p:cNvSpPr>
          <p:nvPr>
            <p:ph idx="1"/>
          </p:nvPr>
        </p:nvSpPr>
        <p:spPr>
          <a:xfrm>
            <a:off x="2589212" y="1634835"/>
            <a:ext cx="8915400" cy="4849091"/>
          </a:xfrm>
        </p:spPr>
        <p:txBody>
          <a:bodyPr>
            <a:normAutofit/>
          </a:bodyPr>
          <a:lstStyle/>
          <a:p>
            <a:pPr algn="just"/>
            <a:r>
              <a:rPr lang="en-US" sz="1600" dirty="0">
                <a:latin typeface="Avenir Next LT Pro" panose="020B0504020202020204" pitchFamily="34" charset="0"/>
              </a:rPr>
              <a:t>Time series analysis is a field of data analysis that involves studying data points collected or recorded sequentially over time. </a:t>
            </a:r>
          </a:p>
          <a:p>
            <a:pPr algn="just"/>
            <a:r>
              <a:rPr lang="en-US" sz="1600" dirty="0">
                <a:latin typeface="Avenir Next LT Pro" panose="020B0504020202020204" pitchFamily="34" charset="0"/>
              </a:rPr>
              <a:t>Time series data is common in many fields, such as finance (stock prices), economics (GDP, inflation), meteorology (temperature, precipitation), and healthcare (patient vital signs)</a:t>
            </a:r>
          </a:p>
          <a:p>
            <a:pPr algn="just"/>
            <a:r>
              <a:rPr lang="en-IN" sz="1600" b="1" dirty="0">
                <a:latin typeface="Avenir Next LT Pro" panose="020B0504020202020204" pitchFamily="34" charset="0"/>
              </a:rPr>
              <a:t>Key Concepts:</a:t>
            </a:r>
          </a:p>
          <a:p>
            <a:pPr algn="just"/>
            <a:r>
              <a:rPr lang="en-US" sz="1600" b="1" dirty="0">
                <a:latin typeface="Avenir Next LT Pro" panose="020B0504020202020204" pitchFamily="34" charset="0"/>
              </a:rPr>
              <a:t>Trend:</a:t>
            </a:r>
            <a:r>
              <a:rPr lang="en-US" sz="1600" dirty="0">
                <a:latin typeface="Avenir Next LT Pro" panose="020B0504020202020204" pitchFamily="34" charset="0"/>
              </a:rPr>
              <a:t> The long-term direction or movement in the data, such as an upward or downward trend.</a:t>
            </a:r>
          </a:p>
          <a:p>
            <a:pPr algn="just"/>
            <a:r>
              <a:rPr lang="en-US" sz="1600" b="1" dirty="0">
                <a:latin typeface="Avenir Next LT Pro" panose="020B0504020202020204" pitchFamily="34" charset="0"/>
              </a:rPr>
              <a:t>Seasonality:</a:t>
            </a:r>
            <a:r>
              <a:rPr lang="en-US" sz="1600" dirty="0">
                <a:latin typeface="Avenir Next LT Pro" panose="020B0504020202020204" pitchFamily="34" charset="0"/>
              </a:rPr>
              <a:t> Repeating patterns or cycles in the data that occur at regular intervals, such as daily, weekly, or yearly.</a:t>
            </a:r>
          </a:p>
          <a:p>
            <a:pPr algn="just"/>
            <a:r>
              <a:rPr lang="en-US" sz="1600" b="1" dirty="0">
                <a:latin typeface="Avenir Next LT Pro" panose="020B0504020202020204" pitchFamily="34" charset="0"/>
              </a:rPr>
              <a:t>Cyclical Patterns: </a:t>
            </a:r>
            <a:r>
              <a:rPr lang="en-US" sz="1600" dirty="0">
                <a:latin typeface="Avenir Next LT Pro" panose="020B0504020202020204" pitchFamily="34" charset="0"/>
              </a:rPr>
              <a:t>Fluctuations in the data that occur over irregular periods, often due to economic or business cycles.</a:t>
            </a:r>
          </a:p>
          <a:p>
            <a:pPr algn="just"/>
            <a:r>
              <a:rPr lang="en-US" sz="1600" b="1" dirty="0">
                <a:latin typeface="Avenir Next LT Pro" panose="020B0504020202020204" pitchFamily="34" charset="0"/>
              </a:rPr>
              <a:t>Stationarity:</a:t>
            </a:r>
            <a:r>
              <a:rPr lang="en-US" sz="1600" dirty="0">
                <a:latin typeface="Avenir Next LT Pro" panose="020B0504020202020204" pitchFamily="34" charset="0"/>
              </a:rPr>
              <a:t> A time series is stationary if its statistical properties (mean, variance) do not change over time. Stationarity is important for certain types of analysis and modelling</a:t>
            </a:r>
            <a:r>
              <a:rPr lang="en-US" sz="1400" dirty="0">
                <a:latin typeface="Avenir Next LT Pro" panose="020B0504020202020204" pitchFamily="34" charset="0"/>
              </a:rPr>
              <a:t>.</a:t>
            </a:r>
            <a:endParaRPr lang="en-IN" sz="1400" dirty="0">
              <a:latin typeface="Avenir Next LT Pro" panose="020B0504020202020204" pitchFamily="34" charset="0"/>
            </a:endParaRPr>
          </a:p>
        </p:txBody>
      </p:sp>
    </p:spTree>
    <p:extLst>
      <p:ext uri="{BB962C8B-B14F-4D97-AF65-F5344CB8AC3E}">
        <p14:creationId xmlns:p14="http://schemas.microsoft.com/office/powerpoint/2010/main" val="3114456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Components of Time Series Analysis">
            <a:extLst>
              <a:ext uri="{FF2B5EF4-FFF2-40B4-BE49-F238E27FC236}">
                <a16:creationId xmlns:a16="http://schemas.microsoft.com/office/drawing/2014/main" id="{88C72CA4-303B-4617-A0E3-AB56C9DB2EB6}"/>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96291" y="221673"/>
            <a:ext cx="10418618" cy="5874327"/>
          </a:xfrm>
          <a:prstGeom prst="rect">
            <a:avLst/>
          </a:prstGeom>
          <a:noFill/>
          <a:ln>
            <a:noFill/>
          </a:ln>
        </p:spPr>
      </p:pic>
    </p:spTree>
    <p:extLst>
      <p:ext uri="{BB962C8B-B14F-4D97-AF65-F5344CB8AC3E}">
        <p14:creationId xmlns:p14="http://schemas.microsoft.com/office/powerpoint/2010/main" val="18714017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b="1" dirty="0">
                <a:latin typeface="Avenir Next LT Pro" panose="020B0504020202020204" pitchFamily="34" charset="0"/>
              </a:rPr>
              <a:t>Auto - Covariance</a:t>
            </a:r>
          </a:p>
        </p:txBody>
      </p:sp>
      <p:sp>
        <p:nvSpPr>
          <p:cNvPr id="3" name="Content Placeholder 2"/>
          <p:cNvSpPr>
            <a:spLocks noGrp="1"/>
          </p:cNvSpPr>
          <p:nvPr>
            <p:ph idx="1"/>
          </p:nvPr>
        </p:nvSpPr>
        <p:spPr>
          <a:xfrm>
            <a:off x="2209800" y="1429972"/>
            <a:ext cx="9294812" cy="3649133"/>
          </a:xfrm>
        </p:spPr>
        <p:txBody>
          <a:bodyPr>
            <a:normAutofit/>
          </a:bodyPr>
          <a:lstStyle/>
          <a:p>
            <a:pPr algn="just"/>
            <a:r>
              <a:rPr lang="en-US" dirty="0">
                <a:latin typeface="Avenir Next LT Pro" panose="020B0504020202020204" pitchFamily="34" charset="0"/>
              </a:rPr>
              <a:t>Auto-covariance is a measure of how the values of a time series are correlated with itself at different time lags.</a:t>
            </a:r>
          </a:p>
          <a:p>
            <a:pPr algn="just"/>
            <a:r>
              <a:rPr lang="en-US" dirty="0">
                <a:latin typeface="Avenir Next LT Pro" panose="020B0504020202020204" pitchFamily="34" charset="0"/>
              </a:rPr>
              <a:t> It is an important concept in time series analysis because it helps in understanding the structure and behavior of the series, especially the presence of serial correlation (dependencies between different time points).</a:t>
            </a:r>
          </a:p>
          <a:p>
            <a:pPr algn="just"/>
            <a:endParaRPr lang="en-IN" sz="1800" dirty="0">
              <a:latin typeface="Bookman Old Style"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33197" y="3353569"/>
            <a:ext cx="9031141" cy="2880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085189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1545" y="1066799"/>
            <a:ext cx="9743255" cy="5026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02386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40525" y="596400"/>
            <a:ext cx="8911687" cy="1280890"/>
          </a:xfrm>
        </p:spPr>
        <p:txBody>
          <a:bodyPr/>
          <a:lstStyle/>
          <a:p>
            <a:r>
              <a:rPr lang="en-IN" sz="3200" b="1" dirty="0">
                <a:latin typeface="Avenir Next LT Pro" panose="020B0504020202020204" pitchFamily="34" charset="0"/>
              </a:rPr>
              <a:t>Applications</a:t>
            </a:r>
          </a:p>
        </p:txBody>
      </p:sp>
      <p:sp>
        <p:nvSpPr>
          <p:cNvPr id="3" name="Content Placeholder 2"/>
          <p:cNvSpPr>
            <a:spLocks noGrp="1"/>
          </p:cNvSpPr>
          <p:nvPr>
            <p:ph idx="1"/>
          </p:nvPr>
        </p:nvSpPr>
        <p:spPr>
          <a:xfrm>
            <a:off x="1981199" y="1604433"/>
            <a:ext cx="9628909" cy="3649133"/>
          </a:xfrm>
        </p:spPr>
        <p:txBody>
          <a:bodyPr>
            <a:normAutofit/>
          </a:bodyPr>
          <a:lstStyle/>
          <a:p>
            <a:pPr algn="just"/>
            <a:r>
              <a:rPr lang="en-US" sz="1800" b="1" dirty="0">
                <a:latin typeface="Avenir Next LT Pro" panose="020B0504020202020204" pitchFamily="34" charset="0"/>
              </a:rPr>
              <a:t>Modeling Time Series: </a:t>
            </a:r>
            <a:r>
              <a:rPr lang="en-US" sz="1800" dirty="0">
                <a:latin typeface="Avenir Next LT Pro" panose="020B0504020202020204" pitchFamily="34" charset="0"/>
              </a:rPr>
              <a:t>Auto-covariance helps identify patterns of dependence in a time series, which can inform the selection of models such as autoregressive (AR) models, moving average (MA) models, or more complex models like ARMA and ARIMA.</a:t>
            </a:r>
          </a:p>
          <a:p>
            <a:pPr algn="just"/>
            <a:r>
              <a:rPr lang="en-US" sz="1800" b="1" dirty="0">
                <a:latin typeface="Avenir Next LT Pro" panose="020B0504020202020204" pitchFamily="34" charset="0"/>
              </a:rPr>
              <a:t>Predictive Analysis: </a:t>
            </a:r>
            <a:r>
              <a:rPr lang="en-US" sz="1800" dirty="0">
                <a:latin typeface="Avenir Next LT Pro" panose="020B0504020202020204" pitchFamily="34" charset="0"/>
              </a:rPr>
              <a:t>Understanding auto-covariance helps in forecasting future values of the time series.</a:t>
            </a:r>
          </a:p>
          <a:p>
            <a:pPr algn="just"/>
            <a:r>
              <a:rPr lang="en-US" sz="1800" b="1" dirty="0">
                <a:latin typeface="Avenir Next LT Pro" panose="020B0504020202020204" pitchFamily="34" charset="0"/>
              </a:rPr>
              <a:t>Testing Stationarity: </a:t>
            </a:r>
            <a:r>
              <a:rPr lang="en-US" sz="1800" dirty="0">
                <a:latin typeface="Avenir Next LT Pro" panose="020B0504020202020204" pitchFamily="34" charset="0"/>
              </a:rPr>
              <a:t>Auto-covariance functions can be used to test whether a time series is stationary or not.</a:t>
            </a:r>
            <a:endParaRPr lang="en-IN" sz="1800" dirty="0">
              <a:latin typeface="Avenir Next LT Pro" panose="020B0504020202020204" pitchFamily="34" charset="0"/>
            </a:endParaRPr>
          </a:p>
        </p:txBody>
      </p:sp>
    </p:spTree>
    <p:extLst>
      <p:ext uri="{BB962C8B-B14F-4D97-AF65-F5344CB8AC3E}">
        <p14:creationId xmlns:p14="http://schemas.microsoft.com/office/powerpoint/2010/main" val="30023001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b="1" dirty="0">
                <a:latin typeface="Avenir Next LT Pro" panose="020B0504020202020204" pitchFamily="34" charset="0"/>
              </a:rPr>
              <a:t>Auto-correlation and their properties</a:t>
            </a:r>
          </a:p>
        </p:txBody>
      </p:sp>
      <p:sp>
        <p:nvSpPr>
          <p:cNvPr id="3" name="Content Placeholder 2"/>
          <p:cNvSpPr>
            <a:spLocks noGrp="1"/>
          </p:cNvSpPr>
          <p:nvPr>
            <p:ph idx="1"/>
          </p:nvPr>
        </p:nvSpPr>
        <p:spPr>
          <a:xfrm>
            <a:off x="2592925" y="1540189"/>
            <a:ext cx="8915400" cy="3777622"/>
          </a:xfrm>
        </p:spPr>
        <p:txBody>
          <a:bodyPr>
            <a:normAutofit/>
          </a:bodyPr>
          <a:lstStyle/>
          <a:p>
            <a:pPr algn="just"/>
            <a:r>
              <a:rPr lang="en-US" sz="1800" dirty="0">
                <a:latin typeface="Avenir Next LT Pro" panose="020B0504020202020204" pitchFamily="34" charset="0"/>
              </a:rPr>
              <a:t>Autocorrelation, also known as serial correlation, is a measure of the correlation between a time series and a lagged version of itself. </a:t>
            </a:r>
          </a:p>
          <a:p>
            <a:pPr algn="just"/>
            <a:r>
              <a:rPr lang="en-US" sz="1800" dirty="0">
                <a:latin typeface="Avenir Next LT Pro" panose="020B0504020202020204" pitchFamily="34" charset="0"/>
              </a:rPr>
              <a:t>It quantifies the relationship between values at different points in time and is a key concept in time series analysis.</a:t>
            </a:r>
          </a:p>
          <a:p>
            <a:pPr algn="just"/>
            <a:r>
              <a:rPr lang="en-US" sz="1800" dirty="0">
                <a:latin typeface="Avenir Next LT Pro" panose="020B0504020202020204" pitchFamily="34" charset="0"/>
              </a:rPr>
              <a:t> Autocorrelation is closely related to auto-covariance, but while auto-covariance measures the covariance between time series values, autocorrelation standardizes the measure by dividing it by the variance of the series.</a:t>
            </a:r>
            <a:endParaRPr lang="en-IN" sz="1800" dirty="0">
              <a:latin typeface="Avenir Next LT Pro" panose="020B0504020202020204" pitchFamily="34" charset="0"/>
            </a:endParaRPr>
          </a:p>
        </p:txBody>
      </p:sp>
    </p:spTree>
    <p:extLst>
      <p:ext uri="{BB962C8B-B14F-4D97-AF65-F5344CB8AC3E}">
        <p14:creationId xmlns:p14="http://schemas.microsoft.com/office/powerpoint/2010/main" val="1471725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b="1" dirty="0">
                <a:latin typeface="Avenir Next LT Pro" panose="020B0504020202020204" pitchFamily="34" charset="0"/>
              </a:rPr>
              <a:t>Definition</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7500" y="1264554"/>
            <a:ext cx="9122536" cy="5080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843199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b="1" dirty="0">
                <a:latin typeface="Avenir Next LT Pro" panose="020B0504020202020204" pitchFamily="34" charset="0"/>
              </a:rPr>
              <a:t>Properties of Autocorrelation</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2925" y="1622523"/>
            <a:ext cx="8213620" cy="47505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565923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9535" y="1385455"/>
            <a:ext cx="9080973" cy="26739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299768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b="1" dirty="0">
                <a:latin typeface="Avenir Next LT Pro" panose="020B0504020202020204" pitchFamily="34" charset="0"/>
              </a:rPr>
              <a:t>Exploratory time series analysis</a:t>
            </a:r>
          </a:p>
        </p:txBody>
      </p:sp>
      <p:sp>
        <p:nvSpPr>
          <p:cNvPr id="3" name="Content Placeholder 2"/>
          <p:cNvSpPr>
            <a:spLocks noGrp="1"/>
          </p:cNvSpPr>
          <p:nvPr>
            <p:ph idx="1"/>
          </p:nvPr>
        </p:nvSpPr>
        <p:spPr>
          <a:xfrm>
            <a:off x="2036617" y="1636378"/>
            <a:ext cx="9670473" cy="4778277"/>
          </a:xfrm>
        </p:spPr>
        <p:txBody>
          <a:bodyPr>
            <a:normAutofit/>
          </a:bodyPr>
          <a:lstStyle/>
          <a:p>
            <a:r>
              <a:rPr lang="en-US" sz="1800" dirty="0">
                <a:latin typeface="Avenir Next LT Pro" panose="020B0504020202020204" pitchFamily="34" charset="0"/>
              </a:rPr>
              <a:t>Exploratory time series analysis (ETSA) is the initial phase of analyzing time series data to understand its structure, identify patterns, and uncover potential relationships. </a:t>
            </a:r>
          </a:p>
          <a:p>
            <a:pPr algn="just"/>
            <a:r>
              <a:rPr lang="en-US" sz="1800" dirty="0">
                <a:latin typeface="Avenir Next LT Pro" panose="020B0504020202020204" pitchFamily="34" charset="0"/>
              </a:rPr>
              <a:t>This process helps guide the selection of appropriate models and forecasting methods, as well as providing insights into the underlying processes generating the data.</a:t>
            </a:r>
          </a:p>
          <a:p>
            <a:pPr algn="just"/>
            <a:r>
              <a:rPr lang="en-US" sz="1800" b="1" dirty="0">
                <a:latin typeface="Avenir Next LT Pro" panose="020B0504020202020204" pitchFamily="34" charset="0"/>
              </a:rPr>
              <a:t>Objectives of Exploratory Time Series Analysis:</a:t>
            </a:r>
          </a:p>
          <a:p>
            <a:pPr algn="just"/>
            <a:r>
              <a:rPr lang="en-US" sz="1800" b="1" dirty="0">
                <a:latin typeface="Avenir Next LT Pro" panose="020B0504020202020204" pitchFamily="34" charset="0"/>
              </a:rPr>
              <a:t>Understand the data's behavior</a:t>
            </a:r>
            <a:r>
              <a:rPr lang="en-US" sz="1800" dirty="0">
                <a:latin typeface="Avenir Next LT Pro" panose="020B0504020202020204" pitchFamily="34" charset="0"/>
              </a:rPr>
              <a:t>: Identify trends, seasonality, and cyclical patterns.</a:t>
            </a:r>
          </a:p>
          <a:p>
            <a:pPr algn="just"/>
            <a:r>
              <a:rPr lang="en-US" sz="1800" b="1" dirty="0">
                <a:latin typeface="Avenir Next LT Pro" panose="020B0504020202020204" pitchFamily="34" charset="0"/>
              </a:rPr>
              <a:t>Assess </a:t>
            </a:r>
            <a:r>
              <a:rPr lang="en-US" sz="1800" b="1" dirty="0" err="1">
                <a:latin typeface="Avenir Next LT Pro" panose="020B0504020202020204" pitchFamily="34" charset="0"/>
              </a:rPr>
              <a:t>stationarity</a:t>
            </a:r>
            <a:r>
              <a:rPr lang="en-US" sz="1800" b="1" dirty="0">
                <a:latin typeface="Avenir Next LT Pro" panose="020B0504020202020204" pitchFamily="34" charset="0"/>
              </a:rPr>
              <a:t>: </a:t>
            </a:r>
            <a:r>
              <a:rPr lang="en-US" sz="1800" dirty="0">
                <a:latin typeface="Avenir Next LT Pro" panose="020B0504020202020204" pitchFamily="34" charset="0"/>
              </a:rPr>
              <a:t>Determine whether the data exhibits constant statistical properties over time.</a:t>
            </a:r>
          </a:p>
          <a:p>
            <a:pPr algn="just"/>
            <a:r>
              <a:rPr lang="en-US" sz="1800" b="1" dirty="0">
                <a:latin typeface="Avenir Next LT Pro" panose="020B0504020202020204" pitchFamily="34" charset="0"/>
              </a:rPr>
              <a:t>Detect potential outliers: </a:t>
            </a:r>
            <a:r>
              <a:rPr lang="en-US" sz="1800" dirty="0">
                <a:latin typeface="Avenir Next LT Pro" panose="020B0504020202020204" pitchFamily="34" charset="0"/>
              </a:rPr>
              <a:t>Identify unusual values that may impact analysis.</a:t>
            </a:r>
          </a:p>
          <a:p>
            <a:pPr algn="just"/>
            <a:r>
              <a:rPr lang="en-US" sz="1800" b="1" dirty="0">
                <a:latin typeface="Avenir Next LT Pro" panose="020B0504020202020204" pitchFamily="34" charset="0"/>
              </a:rPr>
              <a:t>Identify dependencies: </a:t>
            </a:r>
            <a:r>
              <a:rPr lang="en-US" sz="1800" dirty="0">
                <a:latin typeface="Avenir Next LT Pro" panose="020B0504020202020204" pitchFamily="34" charset="0"/>
              </a:rPr>
              <a:t>Examine autocorrelation and other relationships in the data.</a:t>
            </a:r>
          </a:p>
          <a:p>
            <a:pPr algn="just"/>
            <a:r>
              <a:rPr lang="en-US" sz="1800" b="1" dirty="0">
                <a:latin typeface="Avenir Next LT Pro" panose="020B0504020202020204" pitchFamily="34" charset="0"/>
              </a:rPr>
              <a:t>Guide model selection: </a:t>
            </a:r>
            <a:r>
              <a:rPr lang="en-US" sz="1800" dirty="0">
                <a:latin typeface="Avenir Next LT Pro" panose="020B0504020202020204" pitchFamily="34" charset="0"/>
              </a:rPr>
              <a:t>Use insights from the analysis to choose appropriate models for forecasting.</a:t>
            </a:r>
            <a:endParaRPr lang="en-IN" sz="1800" dirty="0">
              <a:latin typeface="Avenir Next LT Pro" panose="020B0504020202020204" pitchFamily="34" charset="0"/>
            </a:endParaRPr>
          </a:p>
        </p:txBody>
      </p:sp>
    </p:spTree>
    <p:extLst>
      <p:ext uri="{BB962C8B-B14F-4D97-AF65-F5344CB8AC3E}">
        <p14:creationId xmlns:p14="http://schemas.microsoft.com/office/powerpoint/2010/main" val="13982225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740449"/>
            <a:ext cx="9088582" cy="1456267"/>
          </a:xfrm>
        </p:spPr>
        <p:txBody>
          <a:bodyPr/>
          <a:lstStyle/>
          <a:p>
            <a:r>
              <a:rPr lang="en-US" sz="3200" b="1" dirty="0">
                <a:latin typeface="Avenir Next LT Pro" panose="020B0504020202020204" pitchFamily="34" charset="0"/>
              </a:rPr>
              <a:t>Steps in Exploratory Time Series Analysis</a:t>
            </a:r>
            <a:endParaRPr lang="en-IN" sz="3200" b="1" dirty="0">
              <a:latin typeface="Avenir Next LT Pro" panose="020B0504020202020204" pitchFamily="34" charset="0"/>
            </a:endParaRPr>
          </a:p>
        </p:txBody>
      </p:sp>
      <p:sp>
        <p:nvSpPr>
          <p:cNvPr id="3" name="Content Placeholder 2"/>
          <p:cNvSpPr>
            <a:spLocks noGrp="1"/>
          </p:cNvSpPr>
          <p:nvPr>
            <p:ph idx="1"/>
          </p:nvPr>
        </p:nvSpPr>
        <p:spPr>
          <a:xfrm>
            <a:off x="1981200" y="1593274"/>
            <a:ext cx="9601200" cy="4391890"/>
          </a:xfrm>
        </p:spPr>
        <p:txBody>
          <a:bodyPr>
            <a:noAutofit/>
          </a:bodyPr>
          <a:lstStyle/>
          <a:p>
            <a:r>
              <a:rPr lang="en-US" sz="2000" b="1" dirty="0">
                <a:latin typeface="Avenir Next LT Pro" panose="020B0504020202020204" pitchFamily="34" charset="0"/>
              </a:rPr>
              <a:t>1.Data Visualization:</a:t>
            </a:r>
          </a:p>
          <a:p>
            <a:r>
              <a:rPr lang="en-US" sz="1600" dirty="0">
                <a:latin typeface="Avenir Next LT Pro" panose="020B0504020202020204" pitchFamily="34" charset="0"/>
              </a:rPr>
              <a:t>Time Series Plot: Plot the raw data over time to observe trends, seasonality, and overall patterns.</a:t>
            </a:r>
          </a:p>
          <a:p>
            <a:r>
              <a:rPr lang="en-US" sz="1600" dirty="0">
                <a:latin typeface="Avenir Next LT Pro" panose="020B0504020202020204" pitchFamily="34" charset="0"/>
              </a:rPr>
              <a:t>Histogram and Density Plot: Examine the distribution of the data.</a:t>
            </a:r>
          </a:p>
          <a:p>
            <a:r>
              <a:rPr lang="en-US" sz="1600" dirty="0">
                <a:latin typeface="Avenir Next LT Pro" panose="020B0504020202020204" pitchFamily="34" charset="0"/>
              </a:rPr>
              <a:t>Box Plot: Assess data distribution across different periods (e.g., by year or month).</a:t>
            </a:r>
          </a:p>
          <a:p>
            <a:r>
              <a:rPr lang="en-US" sz="1600" b="1" dirty="0">
                <a:latin typeface="Avenir Next LT Pro" panose="020B0504020202020204" pitchFamily="34" charset="0"/>
              </a:rPr>
              <a:t>2.Descriptive Statistics:</a:t>
            </a:r>
          </a:p>
          <a:p>
            <a:r>
              <a:rPr lang="en-US" sz="1600" dirty="0">
                <a:latin typeface="Avenir Next LT Pro" panose="020B0504020202020204" pitchFamily="34" charset="0"/>
              </a:rPr>
              <a:t>Calculate summary statistics such as mean, median, variance, standard deviation, </a:t>
            </a:r>
            <a:r>
              <a:rPr lang="en-US" sz="1600" dirty="0" err="1">
                <a:latin typeface="Avenir Next LT Pro" panose="020B0504020202020204" pitchFamily="34" charset="0"/>
              </a:rPr>
              <a:t>skewness</a:t>
            </a:r>
            <a:r>
              <a:rPr lang="en-US" sz="1600" dirty="0">
                <a:latin typeface="Avenir Next LT Pro" panose="020B0504020202020204" pitchFamily="34" charset="0"/>
              </a:rPr>
              <a:t>, and kurtosis.</a:t>
            </a:r>
          </a:p>
          <a:p>
            <a:r>
              <a:rPr lang="en-US" sz="1600" dirty="0">
                <a:latin typeface="Avenir Next LT Pro" panose="020B0504020202020204" pitchFamily="34" charset="0"/>
              </a:rPr>
              <a:t>Examine changes in these statistics over time.</a:t>
            </a:r>
          </a:p>
          <a:p>
            <a:r>
              <a:rPr lang="en-US" sz="1600" b="1" dirty="0">
                <a:latin typeface="Avenir Next LT Pro" panose="020B0504020202020204" pitchFamily="34" charset="0"/>
              </a:rPr>
              <a:t>3.Trend and Seasonality Analysis:</a:t>
            </a:r>
          </a:p>
          <a:p>
            <a:r>
              <a:rPr lang="en-US" sz="1600" dirty="0">
                <a:latin typeface="Avenir Next LT Pro" panose="020B0504020202020204" pitchFamily="34" charset="0"/>
              </a:rPr>
              <a:t>Decomposition: Separate the series into trend, seasonal, and residual components using decomposition methods (e.g., additive or multiplicative).</a:t>
            </a:r>
          </a:p>
          <a:p>
            <a:r>
              <a:rPr lang="en-US" sz="1600" dirty="0">
                <a:latin typeface="Avenir Next LT Pro" panose="020B0504020202020204" pitchFamily="34" charset="0"/>
              </a:rPr>
              <a:t>Moving Averages: Apply moving averages to smooth the data and identify underlying trends.</a:t>
            </a:r>
            <a:endParaRPr lang="en-IN" sz="1600" dirty="0">
              <a:latin typeface="Avenir Next LT Pro" panose="020B0504020202020204" pitchFamily="34" charset="0"/>
            </a:endParaRPr>
          </a:p>
        </p:txBody>
      </p:sp>
    </p:spTree>
    <p:extLst>
      <p:ext uri="{BB962C8B-B14F-4D97-AF65-F5344CB8AC3E}">
        <p14:creationId xmlns:p14="http://schemas.microsoft.com/office/powerpoint/2010/main" val="34483527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1544" y="1108363"/>
            <a:ext cx="9438456" cy="55141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257517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latin typeface="Avenir Next LT Pro" panose="020B0504020202020204" pitchFamily="34" charset="0"/>
              </a:rPr>
              <a:t>Tools for Exploratory Time Series Analysis:</a:t>
            </a:r>
            <a:endParaRPr lang="en-IN" sz="3200" b="1" dirty="0">
              <a:latin typeface="Avenir Next LT Pro" panose="020B0504020202020204" pitchFamily="34" charset="0"/>
            </a:endParaRPr>
          </a:p>
        </p:txBody>
      </p:sp>
      <p:sp>
        <p:nvSpPr>
          <p:cNvPr id="3" name="Content Placeholder 2"/>
          <p:cNvSpPr>
            <a:spLocks noGrp="1"/>
          </p:cNvSpPr>
          <p:nvPr>
            <p:ph idx="1"/>
          </p:nvPr>
        </p:nvSpPr>
        <p:spPr>
          <a:xfrm>
            <a:off x="2589212" y="1905000"/>
            <a:ext cx="8915400" cy="3777622"/>
          </a:xfrm>
        </p:spPr>
        <p:txBody>
          <a:bodyPr>
            <a:normAutofit/>
          </a:bodyPr>
          <a:lstStyle/>
          <a:p>
            <a:r>
              <a:rPr lang="en-US" sz="1800" b="1" dirty="0">
                <a:latin typeface="Avenir Next LT Pro" panose="020B0504020202020204" pitchFamily="34" charset="0"/>
              </a:rPr>
              <a:t>Pandas:</a:t>
            </a:r>
            <a:r>
              <a:rPr lang="en-US" sz="1800" dirty="0">
                <a:latin typeface="Avenir Next LT Pro" panose="020B0504020202020204" pitchFamily="34" charset="0"/>
              </a:rPr>
              <a:t> Provides time series handling and visualization tools.</a:t>
            </a:r>
          </a:p>
          <a:p>
            <a:r>
              <a:rPr lang="en-US" sz="1800" b="1" dirty="0" err="1">
                <a:latin typeface="Avenir Next LT Pro" panose="020B0504020202020204" pitchFamily="34" charset="0"/>
              </a:rPr>
              <a:t>Matplotlib</a:t>
            </a:r>
            <a:r>
              <a:rPr lang="en-US" sz="1800" b="1" dirty="0">
                <a:latin typeface="Avenir Next LT Pro" panose="020B0504020202020204" pitchFamily="34" charset="0"/>
              </a:rPr>
              <a:t> and </a:t>
            </a:r>
            <a:r>
              <a:rPr lang="en-US" sz="1800" b="1" dirty="0" err="1">
                <a:latin typeface="Avenir Next LT Pro" panose="020B0504020202020204" pitchFamily="34" charset="0"/>
              </a:rPr>
              <a:t>Seaborn</a:t>
            </a:r>
            <a:r>
              <a:rPr lang="en-US" sz="1800" b="1" dirty="0">
                <a:latin typeface="Avenir Next LT Pro" panose="020B0504020202020204" pitchFamily="34" charset="0"/>
              </a:rPr>
              <a:t>: </a:t>
            </a:r>
            <a:r>
              <a:rPr lang="en-US" sz="1800" dirty="0">
                <a:latin typeface="Avenir Next LT Pro" panose="020B0504020202020204" pitchFamily="34" charset="0"/>
              </a:rPr>
              <a:t>Libraries for data visualization.</a:t>
            </a:r>
          </a:p>
          <a:p>
            <a:r>
              <a:rPr lang="en-US" sz="1800" b="1" dirty="0" err="1">
                <a:latin typeface="Avenir Next LT Pro" panose="020B0504020202020204" pitchFamily="34" charset="0"/>
              </a:rPr>
              <a:t>Statsmodels</a:t>
            </a:r>
            <a:r>
              <a:rPr lang="en-US" sz="1800" b="1" dirty="0">
                <a:latin typeface="Avenir Next LT Pro" panose="020B0504020202020204" pitchFamily="34" charset="0"/>
              </a:rPr>
              <a:t>: </a:t>
            </a:r>
            <a:r>
              <a:rPr lang="en-US" sz="1800" dirty="0">
                <a:latin typeface="Avenir Next LT Pro" panose="020B0504020202020204" pitchFamily="34" charset="0"/>
              </a:rPr>
              <a:t>Offers statistical models, including time series models, and tools for time series decomposition and analysis.</a:t>
            </a:r>
            <a:endParaRPr lang="en-IN" sz="1800" dirty="0">
              <a:latin typeface="Avenir Next LT Pro" panose="020B0504020202020204" pitchFamily="34" charset="0"/>
            </a:endParaRPr>
          </a:p>
        </p:txBody>
      </p:sp>
    </p:spTree>
    <p:extLst>
      <p:ext uri="{BB962C8B-B14F-4D97-AF65-F5344CB8AC3E}">
        <p14:creationId xmlns:p14="http://schemas.microsoft.com/office/powerpoint/2010/main" val="38799219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35351" y="666254"/>
            <a:ext cx="9462655" cy="1456267"/>
          </a:xfrm>
        </p:spPr>
        <p:txBody>
          <a:bodyPr/>
          <a:lstStyle/>
          <a:p>
            <a:r>
              <a:rPr lang="en-US" sz="3200" b="1" dirty="0">
                <a:latin typeface="Avenir Next LT Pro" panose="020B0504020202020204" pitchFamily="34" charset="0"/>
              </a:rPr>
              <a:t>Test for trend and seasonality</a:t>
            </a:r>
            <a:endParaRPr lang="en-IN" sz="3200" b="1" dirty="0">
              <a:latin typeface="Avenir Next LT Pro" panose="020B0504020202020204" pitchFamily="34" charset="0"/>
            </a:endParaRPr>
          </a:p>
        </p:txBody>
      </p:sp>
      <p:sp>
        <p:nvSpPr>
          <p:cNvPr id="3" name="Content Placeholder 2"/>
          <p:cNvSpPr>
            <a:spLocks noGrp="1"/>
          </p:cNvSpPr>
          <p:nvPr>
            <p:ph idx="1"/>
          </p:nvPr>
        </p:nvSpPr>
        <p:spPr>
          <a:xfrm>
            <a:off x="2063552" y="1394388"/>
            <a:ext cx="9186339" cy="3649133"/>
          </a:xfrm>
        </p:spPr>
        <p:txBody>
          <a:bodyPr>
            <a:normAutofit/>
          </a:bodyPr>
          <a:lstStyle/>
          <a:p>
            <a:pPr algn="just"/>
            <a:r>
              <a:rPr lang="en-US" sz="1600" dirty="0">
                <a:latin typeface="Avenir Next LT Pro" panose="020B0504020202020204" pitchFamily="34" charset="0"/>
              </a:rPr>
              <a:t>Testing for trend and seasonality is an important part of exploratory time series analysis because it helps to identify whether the data has a long-term trend (upward or downward) or repeating patterns at regular intervals (seasonality). </a:t>
            </a:r>
          </a:p>
          <a:p>
            <a:pPr algn="just"/>
            <a:r>
              <a:rPr lang="en-US" sz="1600" dirty="0">
                <a:latin typeface="Avenir Next LT Pro" panose="020B0504020202020204" pitchFamily="34" charset="0"/>
              </a:rPr>
              <a:t>Identifying trends and seasonality can guide the selection of appropriate models and forecasting methods.</a:t>
            </a:r>
          </a:p>
          <a:p>
            <a:r>
              <a:rPr lang="en-IN" sz="1800" b="1" dirty="0">
                <a:latin typeface="Bookman Old Style" pitchFamily="18" charset="0"/>
              </a:rPr>
              <a:t>Testing for Trend</a:t>
            </a:r>
          </a:p>
          <a:p>
            <a:endParaRPr lang="en-IN" sz="1800" b="1" dirty="0">
              <a:latin typeface="Bookman Old Style" pitchFamily="18" charset="0"/>
            </a:endParaRP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9104" y="3429000"/>
            <a:ext cx="8878988" cy="3117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873245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47374" y="679528"/>
            <a:ext cx="9599075" cy="1280890"/>
          </a:xfrm>
        </p:spPr>
        <p:txBody>
          <a:bodyPr/>
          <a:lstStyle/>
          <a:p>
            <a:r>
              <a:rPr lang="en-US" sz="3200" b="1" dirty="0">
                <a:latin typeface="Avenir Next LT Pro" panose="020B0504020202020204" pitchFamily="34" charset="0"/>
              </a:rPr>
              <a:t>Exponential and moving Average smoothing</a:t>
            </a:r>
            <a:endParaRPr lang="en-IN" sz="3200" b="1" dirty="0">
              <a:latin typeface="Avenir Next LT Pro" panose="020B0504020202020204" pitchFamily="34" charset="0"/>
            </a:endParaRPr>
          </a:p>
        </p:txBody>
      </p:sp>
      <p:sp>
        <p:nvSpPr>
          <p:cNvPr id="3" name="Content Placeholder 2"/>
          <p:cNvSpPr>
            <a:spLocks noGrp="1"/>
          </p:cNvSpPr>
          <p:nvPr>
            <p:ph idx="1"/>
          </p:nvPr>
        </p:nvSpPr>
        <p:spPr>
          <a:xfrm>
            <a:off x="2247373" y="1690255"/>
            <a:ext cx="9321171" cy="3777622"/>
          </a:xfrm>
        </p:spPr>
        <p:txBody>
          <a:bodyPr>
            <a:normAutofit/>
          </a:bodyPr>
          <a:lstStyle/>
          <a:p>
            <a:pPr algn="just"/>
            <a:r>
              <a:rPr lang="en-US" dirty="0">
                <a:latin typeface="Avenir Next LT Pro" panose="020B0504020202020204" pitchFamily="34" charset="0"/>
              </a:rPr>
              <a:t>Exponential smoothing and moving average smoothing are two popular techniques for analyzing time series data and forecasting future values. </a:t>
            </a:r>
          </a:p>
          <a:p>
            <a:pPr algn="just"/>
            <a:r>
              <a:rPr lang="en-US" dirty="0">
                <a:latin typeface="Avenir Next LT Pro" panose="020B0504020202020204" pitchFamily="34" charset="0"/>
              </a:rPr>
              <a:t>They are both used to smooth out fluctuations in data to identify trends and patterns.</a:t>
            </a:r>
          </a:p>
          <a:p>
            <a:pPr algn="just"/>
            <a:r>
              <a:rPr lang="en-US" b="1" dirty="0">
                <a:latin typeface="Avenir Next LT Pro" panose="020B0504020202020204" pitchFamily="34" charset="0"/>
              </a:rPr>
              <a:t>Exponential Smoothing:</a:t>
            </a:r>
          </a:p>
          <a:p>
            <a:pPr algn="just"/>
            <a:r>
              <a:rPr lang="en-US" dirty="0">
                <a:latin typeface="Avenir Next LT Pro" panose="020B0504020202020204" pitchFamily="34" charset="0"/>
              </a:rPr>
              <a:t>Exponential smoothing is a weighted average method where the weights decrease exponentially as you go back in time. </a:t>
            </a:r>
          </a:p>
          <a:p>
            <a:pPr algn="just"/>
            <a:r>
              <a:rPr lang="en-US" dirty="0">
                <a:latin typeface="Avenir Next LT Pro" panose="020B0504020202020204" pitchFamily="34" charset="0"/>
              </a:rPr>
              <a:t>It is a more sophisticated method than moving average smoothing and is widely used in time series analysis and forecasting.</a:t>
            </a:r>
          </a:p>
          <a:p>
            <a:pPr algn="just"/>
            <a:endParaRPr lang="en-IN" sz="1600" dirty="0">
              <a:latin typeface="Bookman Old Style" pitchFamily="18" charset="0"/>
            </a:endParaRPr>
          </a:p>
        </p:txBody>
      </p:sp>
    </p:spTree>
    <p:extLst>
      <p:ext uri="{BB962C8B-B14F-4D97-AF65-F5344CB8AC3E}">
        <p14:creationId xmlns:p14="http://schemas.microsoft.com/office/powerpoint/2010/main" val="7533523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0155" y="1141158"/>
            <a:ext cx="10036936" cy="40127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852143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1545" y="1052945"/>
            <a:ext cx="9286055" cy="5040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349452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7529" y="657854"/>
            <a:ext cx="8911687" cy="1280890"/>
          </a:xfrm>
        </p:spPr>
        <p:txBody>
          <a:bodyPr/>
          <a:lstStyle/>
          <a:p>
            <a:r>
              <a:rPr lang="en-IN" sz="3200" b="1" dirty="0">
                <a:latin typeface="Avenir Next LT Pro" panose="020B0504020202020204" pitchFamily="34" charset="0"/>
              </a:rPr>
              <a:t>Moving Average Smoothing</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7529" y="1627729"/>
            <a:ext cx="9657083" cy="4752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225690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10338" y="1413164"/>
            <a:ext cx="9672061" cy="3777622"/>
          </a:xfrm>
        </p:spPr>
        <p:txBody>
          <a:bodyPr/>
          <a:lstStyle/>
          <a:p>
            <a:pPr algn="just">
              <a:lnSpc>
                <a:spcPct val="150000"/>
              </a:lnSpc>
            </a:pPr>
            <a:r>
              <a:rPr lang="en-US" dirty="0">
                <a:latin typeface="Avenir Next LT Pro" panose="020B0504020202020204" pitchFamily="34" charset="0"/>
              </a:rPr>
              <a:t>Both techniques can be helpful in time series analysis depending on the specific context of the data.</a:t>
            </a:r>
          </a:p>
          <a:p>
            <a:pPr algn="just">
              <a:lnSpc>
                <a:spcPct val="150000"/>
              </a:lnSpc>
            </a:pPr>
            <a:r>
              <a:rPr lang="en-US" dirty="0">
                <a:latin typeface="Avenir Next LT Pro" panose="020B0504020202020204" pitchFamily="34" charset="0"/>
              </a:rPr>
              <a:t> Exponential smoothing is typically preferred for forecasting because it adjusts more quickly to changes in the data, whereas moving average smoothing is useful for highlighting broader trends in the data.</a:t>
            </a:r>
          </a:p>
          <a:p>
            <a:endParaRPr lang="en-US" dirty="0"/>
          </a:p>
          <a:p>
            <a:endParaRPr lang="en-US" dirty="0"/>
          </a:p>
          <a:p>
            <a:endParaRPr lang="en-US" dirty="0"/>
          </a:p>
          <a:p>
            <a:endParaRPr lang="en-US" dirty="0"/>
          </a:p>
          <a:p>
            <a:endParaRPr lang="en-US" dirty="0"/>
          </a:p>
          <a:p>
            <a:endParaRPr lang="en-US" dirty="0"/>
          </a:p>
          <a:p>
            <a:endParaRPr lang="en-IN" dirty="0"/>
          </a:p>
        </p:txBody>
      </p:sp>
    </p:spTree>
    <p:extLst>
      <p:ext uri="{BB962C8B-B14F-4D97-AF65-F5344CB8AC3E}">
        <p14:creationId xmlns:p14="http://schemas.microsoft.com/office/powerpoint/2010/main" val="34782690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b="1" dirty="0">
                <a:latin typeface="Avenir Next LT Pro" panose="020B0504020202020204" pitchFamily="34" charset="0"/>
              </a:rPr>
              <a:t>Holt – Winter smoothing</a:t>
            </a:r>
          </a:p>
        </p:txBody>
      </p:sp>
      <p:sp>
        <p:nvSpPr>
          <p:cNvPr id="3" name="Content Placeholder 2"/>
          <p:cNvSpPr>
            <a:spLocks noGrp="1"/>
          </p:cNvSpPr>
          <p:nvPr>
            <p:ph idx="1"/>
          </p:nvPr>
        </p:nvSpPr>
        <p:spPr>
          <a:xfrm>
            <a:off x="2209800" y="1417487"/>
            <a:ext cx="9469582" cy="3649133"/>
          </a:xfrm>
        </p:spPr>
        <p:txBody>
          <a:bodyPr>
            <a:normAutofit/>
          </a:bodyPr>
          <a:lstStyle/>
          <a:p>
            <a:pPr algn="just">
              <a:lnSpc>
                <a:spcPct val="150000"/>
              </a:lnSpc>
            </a:pPr>
            <a:r>
              <a:rPr lang="en-US" sz="1600" dirty="0">
                <a:latin typeface="Bookman Old Style" pitchFamily="18" charset="0"/>
              </a:rPr>
              <a:t>Holt-Winters smoothing, also known as Holt-Winters exponential smoothing, is an extension of Holt's linear trend method that includes seasonality in the model. </a:t>
            </a:r>
          </a:p>
          <a:p>
            <a:pPr algn="just">
              <a:lnSpc>
                <a:spcPct val="150000"/>
              </a:lnSpc>
            </a:pPr>
            <a:r>
              <a:rPr lang="en-US" sz="1600" dirty="0">
                <a:latin typeface="Bookman Old Style" pitchFamily="18" charset="0"/>
              </a:rPr>
              <a:t>It is particularly useful for time series data that exhibits both a trend and seasonality. </a:t>
            </a:r>
          </a:p>
          <a:p>
            <a:pPr algn="just">
              <a:lnSpc>
                <a:spcPct val="150000"/>
              </a:lnSpc>
            </a:pPr>
            <a:r>
              <a:rPr lang="en-US" sz="1600" dirty="0">
                <a:latin typeface="Bookman Old Style" pitchFamily="18" charset="0"/>
              </a:rPr>
              <a:t>Holt-Winters smoothing uses three parameters to account for the level, trend, and seasonal components in the data.</a:t>
            </a:r>
          </a:p>
          <a:p>
            <a:pPr algn="just">
              <a:lnSpc>
                <a:spcPct val="150000"/>
              </a:lnSpc>
            </a:pPr>
            <a:endParaRPr lang="en-IN" sz="1400" dirty="0">
              <a:latin typeface="Bookman Old Style" pitchFamily="18" charset="0"/>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2925" y="3557218"/>
            <a:ext cx="8310602" cy="1883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649654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2947" y="223307"/>
            <a:ext cx="9000580" cy="449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
            <a:extLst>
              <a:ext uri="{FF2B5EF4-FFF2-40B4-BE49-F238E27FC236}">
                <a16:creationId xmlns:a16="http://schemas.microsoft.com/office/drawing/2014/main" id="{F37B087E-A3F7-4E6E-89CF-A5A9B21ACB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2947" y="4762485"/>
            <a:ext cx="9000580" cy="1872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166519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b="1" dirty="0">
                <a:latin typeface="Avenir Next LT Pro" panose="020B0504020202020204" pitchFamily="34" charset="0"/>
              </a:rPr>
              <a:t>Initializing Parameters</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9536" y="1628800"/>
            <a:ext cx="9585076" cy="460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668500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b="1" dirty="0">
                <a:latin typeface="Bahnschrift" panose="020B0502040204020203" pitchFamily="34" charset="0"/>
              </a:rPr>
              <a:t>Forecasting based on smoothing</a:t>
            </a:r>
          </a:p>
        </p:txBody>
      </p:sp>
      <p:sp>
        <p:nvSpPr>
          <p:cNvPr id="3" name="Content Placeholder 2"/>
          <p:cNvSpPr>
            <a:spLocks noGrp="1"/>
          </p:cNvSpPr>
          <p:nvPr>
            <p:ph idx="1"/>
          </p:nvPr>
        </p:nvSpPr>
        <p:spPr>
          <a:xfrm>
            <a:off x="1963019" y="1604433"/>
            <a:ext cx="9647090" cy="3649133"/>
          </a:xfrm>
        </p:spPr>
        <p:txBody>
          <a:bodyPr>
            <a:normAutofit/>
          </a:bodyPr>
          <a:lstStyle/>
          <a:p>
            <a:pPr algn="just"/>
            <a:r>
              <a:rPr lang="en-US" dirty="0">
                <a:latin typeface="Avenir Next LT Pro" panose="020B0504020202020204" pitchFamily="34" charset="0"/>
              </a:rPr>
              <a:t>Forecasting based on smoothing techniques involves using the smoothed values of a time series to predict future values.</a:t>
            </a:r>
          </a:p>
          <a:p>
            <a:pPr algn="just"/>
            <a:r>
              <a:rPr lang="en-US" dirty="0">
                <a:latin typeface="Avenir Next LT Pro" panose="020B0504020202020204" pitchFamily="34" charset="0"/>
              </a:rPr>
              <a:t> There are different smoothing methods available for forecasting, such as exponential smoothing and moving average smoothing. </a:t>
            </a:r>
          </a:p>
          <a:p>
            <a:pPr algn="just"/>
            <a:r>
              <a:rPr lang="en-US" dirty="0">
                <a:latin typeface="Avenir Next LT Pro" panose="020B0504020202020204" pitchFamily="34" charset="0"/>
              </a:rPr>
              <a:t>These methods help to filter out noise and emphasize trends and patterns in the data, allowing for more accurate forecasts.</a:t>
            </a:r>
            <a:endParaRPr lang="en-IN" dirty="0">
              <a:latin typeface="Avenir Next LT Pro" panose="020B0504020202020204" pitchFamily="34" charset="0"/>
            </a:endParaRPr>
          </a:p>
        </p:txBody>
      </p:sp>
    </p:spTree>
    <p:extLst>
      <p:ext uri="{BB962C8B-B14F-4D97-AF65-F5344CB8AC3E}">
        <p14:creationId xmlns:p14="http://schemas.microsoft.com/office/powerpoint/2010/main" val="5462099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800" b="1" dirty="0">
                <a:latin typeface="Avenir Next LT Pro" panose="020B0504020202020204" pitchFamily="34" charset="0"/>
              </a:rPr>
              <a:t>Exponential Smoothing for Forecasting</a:t>
            </a:r>
          </a:p>
        </p:txBody>
      </p:sp>
      <p:sp>
        <p:nvSpPr>
          <p:cNvPr id="3" name="Content Placeholder 2"/>
          <p:cNvSpPr>
            <a:spLocks noGrp="1"/>
          </p:cNvSpPr>
          <p:nvPr>
            <p:ph idx="1"/>
          </p:nvPr>
        </p:nvSpPr>
        <p:spPr>
          <a:xfrm>
            <a:off x="2423592" y="1412776"/>
            <a:ext cx="8915400" cy="3777622"/>
          </a:xfrm>
        </p:spPr>
        <p:txBody>
          <a:bodyPr>
            <a:normAutofit/>
          </a:bodyPr>
          <a:lstStyle/>
          <a:p>
            <a:pPr>
              <a:lnSpc>
                <a:spcPct val="150000"/>
              </a:lnSpc>
            </a:pPr>
            <a:r>
              <a:rPr lang="en-US" sz="1600" dirty="0">
                <a:latin typeface="Bookman Old Style" pitchFamily="18" charset="0"/>
              </a:rPr>
              <a:t>Exponential smoothing is widely used for time series forecasting due to its ability to capture trends and seasonality in the data.</a:t>
            </a:r>
          </a:p>
          <a:p>
            <a:pPr>
              <a:lnSpc>
                <a:spcPct val="150000"/>
              </a:lnSpc>
            </a:pPr>
            <a:endParaRPr lang="en-IN" sz="1600" dirty="0">
              <a:latin typeface="Bookman Old Style" pitchFamily="18" charset="0"/>
            </a:endParaRP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8458" y="2567996"/>
            <a:ext cx="8696154" cy="3777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248950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4416" y="1177636"/>
            <a:ext cx="9889548" cy="304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355739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1" dirty="0">
                <a:latin typeface="Avenir Next LT Pro" panose="020B0504020202020204" pitchFamily="34" charset="0"/>
              </a:rPr>
              <a:t>Moving Average Smoothing for Forecasting</a:t>
            </a:r>
            <a:endParaRPr lang="en-IN" sz="2800" b="1" dirty="0">
              <a:latin typeface="Avenir Next LT Pro" panose="020B0504020202020204" pitchFamily="34" charset="0"/>
            </a:endParaRPr>
          </a:p>
        </p:txBody>
      </p:sp>
      <p:sp>
        <p:nvSpPr>
          <p:cNvPr id="3" name="Content Placeholder 2"/>
          <p:cNvSpPr>
            <a:spLocks noGrp="1"/>
          </p:cNvSpPr>
          <p:nvPr>
            <p:ph idx="1"/>
          </p:nvPr>
        </p:nvSpPr>
        <p:spPr>
          <a:xfrm>
            <a:off x="2589211" y="1264555"/>
            <a:ext cx="9020897" cy="3777622"/>
          </a:xfrm>
        </p:spPr>
        <p:txBody>
          <a:bodyPr/>
          <a:lstStyle/>
          <a:p>
            <a:pPr algn="just"/>
            <a:r>
              <a:rPr lang="en-US" dirty="0">
                <a:latin typeface="Avenir Next LT Pro" panose="020B0504020202020204" pitchFamily="34" charset="0"/>
              </a:rPr>
              <a:t>Moving average smoothing is a simpler approach that uses averages of recent data points to create forecasts.</a:t>
            </a:r>
          </a:p>
        </p:txBody>
      </p:sp>
      <p:pic>
        <p:nvPicPr>
          <p:cNvPr id="1024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9211" y="1904999"/>
            <a:ext cx="9117880" cy="4509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259061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782"/>
        <p:cNvGrpSpPr/>
        <p:nvPr/>
      </p:nvGrpSpPr>
      <p:grpSpPr>
        <a:xfrm>
          <a:off x="0" y="0"/>
          <a:ext cx="0" cy="0"/>
          <a:chOff x="0" y="0"/>
          <a:chExt cx="0" cy="0"/>
        </a:xfrm>
      </p:grpSpPr>
      <p:sp>
        <p:nvSpPr>
          <p:cNvPr id="783" name="Google Shape;783;p85"/>
          <p:cNvSpPr txBox="1">
            <a:spLocks noGrp="1"/>
          </p:cNvSpPr>
          <p:nvPr>
            <p:ph type="title"/>
          </p:nvPr>
        </p:nvSpPr>
        <p:spPr>
          <a:xfrm>
            <a:off x="2567490" y="1027664"/>
            <a:ext cx="7024744" cy="673144"/>
          </a:xfrm>
          <a:prstGeom prst="rect">
            <a:avLst/>
          </a:prstGeom>
          <a:noFill/>
          <a:ln>
            <a:noFill/>
          </a:ln>
        </p:spPr>
        <p:txBody>
          <a:bodyPr spcFirstLastPara="1" vert="horz" wrap="square" lIns="91425" tIns="45700" rIns="91425" bIns="45700" rtlCol="0" anchor="b" anchorCtr="0">
            <a:normAutofit/>
          </a:bodyPr>
          <a:lstStyle/>
          <a:p>
            <a:pPr>
              <a:spcBef>
                <a:spcPts val="0"/>
              </a:spcBef>
              <a:buClr>
                <a:schemeClr val="accent1"/>
              </a:buClr>
              <a:buSzPts val="3200"/>
            </a:pPr>
            <a:r>
              <a:rPr lang="en-US" sz="3200" b="1" dirty="0">
                <a:latin typeface="Avenir Next LT Pro" panose="020B0504020202020204" pitchFamily="34" charset="0"/>
                <a:ea typeface="Bookman Old Style"/>
                <a:cs typeface="Bookman Old Style"/>
                <a:sym typeface="Bookman Old Style"/>
              </a:rPr>
              <a:t>Iterative procedures for NLS</a:t>
            </a:r>
            <a:endParaRPr dirty="0">
              <a:latin typeface="Avenir Next LT Pro" panose="020B0504020202020204" pitchFamily="34" charset="0"/>
            </a:endParaRPr>
          </a:p>
        </p:txBody>
      </p:sp>
      <p:sp>
        <p:nvSpPr>
          <p:cNvPr id="784" name="Google Shape;784;p85"/>
          <p:cNvSpPr txBox="1">
            <a:spLocks noGrp="1"/>
          </p:cNvSpPr>
          <p:nvPr>
            <p:ph type="body" idx="1"/>
          </p:nvPr>
        </p:nvSpPr>
        <p:spPr>
          <a:xfrm>
            <a:off x="2567491" y="1844825"/>
            <a:ext cx="9084181" cy="3987805"/>
          </a:xfrm>
          <a:prstGeom prst="rect">
            <a:avLst/>
          </a:prstGeom>
          <a:noFill/>
          <a:ln>
            <a:noFill/>
          </a:ln>
        </p:spPr>
        <p:txBody>
          <a:bodyPr spcFirstLastPara="1" vert="horz" wrap="square" lIns="91425" tIns="45700" rIns="91425" bIns="45700" rtlCol="0" anchor="t" anchorCtr="0">
            <a:normAutofit/>
          </a:bodyPr>
          <a:lstStyle/>
          <a:p>
            <a:pPr indent="-274320" algn="just">
              <a:spcBef>
                <a:spcPts val="0"/>
              </a:spcBef>
              <a:buSzPts val="1368"/>
              <a:buChar char="🞇"/>
            </a:pPr>
            <a:r>
              <a:rPr lang="en-US" dirty="0">
                <a:latin typeface="Avenir Next LT Pro" panose="020B0504020202020204" pitchFamily="34" charset="0"/>
                <a:ea typeface="Bookman Old Style"/>
                <a:cs typeface="Bookman Old Style"/>
                <a:sym typeface="Bookman Old Style"/>
              </a:rPr>
              <a:t>Nonlinear least squares (NLS) is a form of regression used to fit a nonlinear model to data. The model is represented by a function with parameters that need to be estimated to minimize the sum of squared differences between the observed and predicted values.</a:t>
            </a:r>
            <a:endParaRPr dirty="0">
              <a:latin typeface="Avenir Next LT Pro" panose="020B0504020202020204" pitchFamily="34" charset="0"/>
              <a:ea typeface="Bookman Old Style"/>
              <a:cs typeface="Bookman Old Style"/>
              <a:sym typeface="Bookman Old Style"/>
            </a:endParaRPr>
          </a:p>
          <a:p>
            <a:pPr indent="-274320" algn="just">
              <a:spcBef>
                <a:spcPts val="360"/>
              </a:spcBef>
              <a:buSzPts val="1368"/>
              <a:buChar char="🞇"/>
            </a:pPr>
            <a:r>
              <a:rPr lang="en-US" dirty="0">
                <a:latin typeface="Avenir Next LT Pro" panose="020B0504020202020204" pitchFamily="34" charset="0"/>
                <a:ea typeface="Bookman Old Style"/>
                <a:cs typeface="Bookman Old Style"/>
                <a:sym typeface="Bookman Old Style"/>
              </a:rPr>
              <a:t>In many cases, solving a nonlinear least squares problem requires using iterative procedures because there may not be an analytical solution. Iterative optimization algorithms are used to find the optimal parameters that minimize the sum of squared errors.</a:t>
            </a:r>
            <a:endParaRPr dirty="0">
              <a:latin typeface="Avenir Next LT Pro" panose="020B0504020202020204" pitchFamily="34" charset="0"/>
              <a:ea typeface="Bookman Old Style"/>
              <a:cs typeface="Bookman Old Style"/>
              <a:sym typeface="Bookman Old Style"/>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788"/>
        <p:cNvGrpSpPr/>
        <p:nvPr/>
      </p:nvGrpSpPr>
      <p:grpSpPr>
        <a:xfrm>
          <a:off x="0" y="0"/>
          <a:ext cx="0" cy="0"/>
          <a:chOff x="0" y="0"/>
          <a:chExt cx="0" cy="0"/>
        </a:xfrm>
      </p:grpSpPr>
      <p:sp>
        <p:nvSpPr>
          <p:cNvPr id="789" name="Google Shape;789;p86"/>
          <p:cNvSpPr txBox="1">
            <a:spLocks noGrp="1"/>
          </p:cNvSpPr>
          <p:nvPr>
            <p:ph type="title"/>
          </p:nvPr>
        </p:nvSpPr>
        <p:spPr>
          <a:xfrm>
            <a:off x="2036619" y="652794"/>
            <a:ext cx="7611034" cy="745152"/>
          </a:xfrm>
          <a:prstGeom prst="rect">
            <a:avLst/>
          </a:prstGeom>
          <a:noFill/>
          <a:ln>
            <a:noFill/>
          </a:ln>
        </p:spPr>
        <p:txBody>
          <a:bodyPr spcFirstLastPara="1" vert="horz" wrap="square" lIns="91425" tIns="45700" rIns="91425" bIns="45700" rtlCol="0" anchor="b" anchorCtr="0">
            <a:noAutofit/>
          </a:bodyPr>
          <a:lstStyle/>
          <a:p>
            <a:pPr>
              <a:spcBef>
                <a:spcPts val="0"/>
              </a:spcBef>
              <a:buClr>
                <a:schemeClr val="accent1"/>
              </a:buClr>
              <a:buSzPts val="2400"/>
            </a:pPr>
            <a:r>
              <a:rPr lang="en-US" sz="2400" b="1" dirty="0">
                <a:latin typeface="Avenir Next LT Pro" panose="020B0504020202020204" pitchFamily="34" charset="0"/>
                <a:ea typeface="Bookman Old Style"/>
                <a:cs typeface="Bookman Old Style"/>
                <a:sym typeface="Bookman Old Style"/>
              </a:rPr>
              <a:t>Iterative Procedures for Nonlinear Least Squares:</a:t>
            </a:r>
            <a:endParaRPr sz="2400" b="1" dirty="0">
              <a:latin typeface="Avenir Next LT Pro" panose="020B0504020202020204" pitchFamily="34" charset="0"/>
              <a:ea typeface="Bookman Old Style"/>
              <a:cs typeface="Bookman Old Style"/>
              <a:sym typeface="Bookman Old Style"/>
            </a:endParaRPr>
          </a:p>
        </p:txBody>
      </p:sp>
      <p:sp>
        <p:nvSpPr>
          <p:cNvPr id="790" name="Google Shape;790;p86"/>
          <p:cNvSpPr txBox="1">
            <a:spLocks noGrp="1"/>
          </p:cNvSpPr>
          <p:nvPr>
            <p:ph type="body" idx="1"/>
          </p:nvPr>
        </p:nvSpPr>
        <p:spPr>
          <a:xfrm>
            <a:off x="2567493" y="1700809"/>
            <a:ext cx="6777317" cy="4131821"/>
          </a:xfrm>
          <a:prstGeom prst="rect">
            <a:avLst/>
          </a:prstGeom>
          <a:noFill/>
          <a:ln>
            <a:noFill/>
          </a:ln>
        </p:spPr>
        <p:txBody>
          <a:bodyPr spcFirstLastPara="1" vert="horz" wrap="square" lIns="91425" tIns="45700" rIns="91425" bIns="45700" rtlCol="0" anchor="t" anchorCtr="0">
            <a:normAutofit/>
          </a:bodyPr>
          <a:lstStyle/>
          <a:p>
            <a:pPr indent="-158496">
              <a:spcBef>
                <a:spcPts val="0"/>
              </a:spcBef>
              <a:buSzPts val="1824"/>
              <a:buNone/>
            </a:pPr>
            <a:endParaRPr/>
          </a:p>
        </p:txBody>
      </p:sp>
      <p:pic>
        <p:nvPicPr>
          <p:cNvPr id="791" name="Google Shape;791;p86"/>
          <p:cNvPicPr preferRelativeResize="0"/>
          <p:nvPr/>
        </p:nvPicPr>
        <p:blipFill rotWithShape="1">
          <a:blip r:embed="rId3">
            <a:alphaModFix/>
          </a:blip>
          <a:srcRect/>
          <a:stretch/>
        </p:blipFill>
        <p:spPr>
          <a:xfrm>
            <a:off x="2228850" y="1681164"/>
            <a:ext cx="7734300" cy="4196109"/>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95"/>
        <p:cNvGrpSpPr/>
        <p:nvPr/>
      </p:nvGrpSpPr>
      <p:grpSpPr>
        <a:xfrm>
          <a:off x="0" y="0"/>
          <a:ext cx="0" cy="0"/>
          <a:chOff x="0" y="0"/>
          <a:chExt cx="0" cy="0"/>
        </a:xfrm>
      </p:grpSpPr>
      <p:sp>
        <p:nvSpPr>
          <p:cNvPr id="796" name="Google Shape;796;p87"/>
          <p:cNvSpPr txBox="1">
            <a:spLocks noGrp="1"/>
          </p:cNvSpPr>
          <p:nvPr>
            <p:ph type="title"/>
          </p:nvPr>
        </p:nvSpPr>
        <p:spPr>
          <a:xfrm>
            <a:off x="2567490" y="1027664"/>
            <a:ext cx="7024744" cy="1143000"/>
          </a:xfrm>
          <a:prstGeom prst="rect">
            <a:avLst/>
          </a:prstGeom>
          <a:noFill/>
          <a:ln>
            <a:noFill/>
          </a:ln>
        </p:spPr>
        <p:txBody>
          <a:bodyPr spcFirstLastPara="1" vert="horz" wrap="square" lIns="91425" tIns="45700" rIns="91425" bIns="45700" rtlCol="0" anchor="b" anchorCtr="0">
            <a:normAutofit/>
          </a:bodyPr>
          <a:lstStyle/>
          <a:p>
            <a:pPr>
              <a:spcBef>
                <a:spcPts val="0"/>
              </a:spcBef>
              <a:buClr>
                <a:schemeClr val="accent1"/>
              </a:buClr>
              <a:buSzPts val="4000"/>
            </a:pPr>
            <a:endParaRPr/>
          </a:p>
        </p:txBody>
      </p:sp>
      <p:sp>
        <p:nvSpPr>
          <p:cNvPr id="797" name="Google Shape;797;p87"/>
          <p:cNvSpPr txBox="1">
            <a:spLocks noGrp="1"/>
          </p:cNvSpPr>
          <p:nvPr>
            <p:ph type="body" idx="1"/>
          </p:nvPr>
        </p:nvSpPr>
        <p:spPr>
          <a:xfrm>
            <a:off x="2567493" y="2323653"/>
            <a:ext cx="6777317" cy="3508977"/>
          </a:xfrm>
          <a:prstGeom prst="rect">
            <a:avLst/>
          </a:prstGeom>
          <a:noFill/>
          <a:ln>
            <a:noFill/>
          </a:ln>
        </p:spPr>
        <p:txBody>
          <a:bodyPr spcFirstLastPara="1" vert="horz" wrap="square" lIns="91425" tIns="45700" rIns="91425" bIns="45700" rtlCol="0" anchor="t" anchorCtr="0">
            <a:normAutofit/>
          </a:bodyPr>
          <a:lstStyle/>
          <a:p>
            <a:pPr indent="-158496">
              <a:spcBef>
                <a:spcPts val="0"/>
              </a:spcBef>
              <a:buSzPts val="1824"/>
              <a:buNone/>
            </a:pPr>
            <a:endParaRPr/>
          </a:p>
        </p:txBody>
      </p:sp>
      <p:pic>
        <p:nvPicPr>
          <p:cNvPr id="798" name="Google Shape;798;p87"/>
          <p:cNvPicPr preferRelativeResize="0"/>
          <p:nvPr/>
        </p:nvPicPr>
        <p:blipFill rotWithShape="1">
          <a:blip r:embed="rId3">
            <a:alphaModFix/>
          </a:blip>
          <a:srcRect/>
          <a:stretch/>
        </p:blipFill>
        <p:spPr>
          <a:xfrm>
            <a:off x="2286000" y="980728"/>
            <a:ext cx="7620000" cy="489654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802"/>
        <p:cNvGrpSpPr/>
        <p:nvPr/>
      </p:nvGrpSpPr>
      <p:grpSpPr>
        <a:xfrm>
          <a:off x="0" y="0"/>
          <a:ext cx="0" cy="0"/>
          <a:chOff x="0" y="0"/>
          <a:chExt cx="0" cy="0"/>
        </a:xfrm>
      </p:grpSpPr>
      <p:sp>
        <p:nvSpPr>
          <p:cNvPr id="803" name="Google Shape;803;p88"/>
          <p:cNvSpPr txBox="1">
            <a:spLocks noGrp="1"/>
          </p:cNvSpPr>
          <p:nvPr>
            <p:ph type="title"/>
          </p:nvPr>
        </p:nvSpPr>
        <p:spPr>
          <a:xfrm>
            <a:off x="2567490" y="1027664"/>
            <a:ext cx="7024744" cy="529128"/>
          </a:xfrm>
          <a:prstGeom prst="rect">
            <a:avLst/>
          </a:prstGeom>
          <a:noFill/>
          <a:ln>
            <a:noFill/>
          </a:ln>
        </p:spPr>
        <p:txBody>
          <a:bodyPr spcFirstLastPara="1" vert="horz" wrap="square" lIns="91425" tIns="45700" rIns="91425" bIns="45700" rtlCol="0" anchor="b" anchorCtr="0">
            <a:normAutofit fontScale="90000"/>
          </a:bodyPr>
          <a:lstStyle/>
          <a:p>
            <a:pPr>
              <a:spcBef>
                <a:spcPts val="0"/>
              </a:spcBef>
              <a:buClr>
                <a:schemeClr val="accent1"/>
              </a:buClr>
              <a:buSzPct val="100000"/>
            </a:pPr>
            <a:r>
              <a:rPr lang="en-US" sz="3200" b="1">
                <a:latin typeface="Bookman Old Style"/>
                <a:ea typeface="Bookman Old Style"/>
                <a:cs typeface="Bookman Old Style"/>
                <a:sym typeface="Bookman Old Style"/>
              </a:rPr>
              <a:t>Grid search</a:t>
            </a:r>
            <a:endParaRPr/>
          </a:p>
        </p:txBody>
      </p:sp>
      <p:sp>
        <p:nvSpPr>
          <p:cNvPr id="804" name="Google Shape;804;p88"/>
          <p:cNvSpPr txBox="1">
            <a:spLocks noGrp="1"/>
          </p:cNvSpPr>
          <p:nvPr>
            <p:ph type="body" idx="1"/>
          </p:nvPr>
        </p:nvSpPr>
        <p:spPr>
          <a:xfrm>
            <a:off x="2567493" y="1556793"/>
            <a:ext cx="6777317" cy="4275837"/>
          </a:xfrm>
          <a:prstGeom prst="rect">
            <a:avLst/>
          </a:prstGeom>
          <a:noFill/>
          <a:ln>
            <a:noFill/>
          </a:ln>
        </p:spPr>
        <p:txBody>
          <a:bodyPr spcFirstLastPara="1" vert="horz" wrap="square" lIns="91425" tIns="45700" rIns="91425" bIns="45700" rtlCol="0" anchor="t" anchorCtr="0">
            <a:noAutofit/>
          </a:bodyPr>
          <a:lstStyle/>
          <a:p>
            <a:pPr indent="-274320" algn="just">
              <a:spcBef>
                <a:spcPts val="0"/>
              </a:spcBef>
              <a:buSzPts val="1064"/>
              <a:buChar char="🞇"/>
            </a:pPr>
            <a:r>
              <a:rPr lang="en-US" sz="1400">
                <a:latin typeface="Bookman Old Style"/>
                <a:ea typeface="Bookman Old Style"/>
                <a:cs typeface="Bookman Old Style"/>
                <a:sym typeface="Bookman Old Style"/>
              </a:rPr>
              <a:t>In nonlinear regression, grid search is a common method for hyperparameter tuning. </a:t>
            </a:r>
            <a:endParaRPr sz="1400">
              <a:latin typeface="Bookman Old Style"/>
              <a:ea typeface="Bookman Old Style"/>
              <a:cs typeface="Bookman Old Style"/>
              <a:sym typeface="Bookman Old Style"/>
            </a:endParaRPr>
          </a:p>
          <a:p>
            <a:pPr indent="-274320" algn="just">
              <a:spcBef>
                <a:spcPts val="280"/>
              </a:spcBef>
              <a:buSzPts val="1064"/>
              <a:buChar char="🞇"/>
            </a:pPr>
            <a:r>
              <a:rPr lang="en-US" sz="1400">
                <a:latin typeface="Bookman Old Style"/>
                <a:ea typeface="Bookman Old Style"/>
                <a:cs typeface="Bookman Old Style"/>
                <a:sym typeface="Bookman Old Style"/>
              </a:rPr>
              <a:t>Nonlinear regression involves fitting a model to data where the relationship between the input features and the target variable is nonlinear. </a:t>
            </a:r>
            <a:endParaRPr sz="1400">
              <a:latin typeface="Bookman Old Style"/>
              <a:ea typeface="Bookman Old Style"/>
              <a:cs typeface="Bookman Old Style"/>
              <a:sym typeface="Bookman Old Style"/>
            </a:endParaRPr>
          </a:p>
          <a:p>
            <a:pPr indent="-274320" algn="just">
              <a:spcBef>
                <a:spcPts val="280"/>
              </a:spcBef>
              <a:buSzPts val="1064"/>
              <a:buChar char="🞇"/>
            </a:pPr>
            <a:r>
              <a:rPr lang="en-US" sz="1400">
                <a:latin typeface="Bookman Old Style"/>
                <a:ea typeface="Bookman Old Style"/>
                <a:cs typeface="Bookman Old Style"/>
                <a:sym typeface="Bookman Old Style"/>
              </a:rPr>
              <a:t>The goal of grid search is to find the best combination of hyperparameters that optimize the model's performance.</a:t>
            </a:r>
            <a:endParaRPr/>
          </a:p>
          <a:p>
            <a:pPr indent="-274320" algn="just">
              <a:spcBef>
                <a:spcPts val="280"/>
              </a:spcBef>
              <a:buSzPts val="1064"/>
              <a:buChar char="🞇"/>
            </a:pPr>
            <a:r>
              <a:rPr lang="en-US" sz="1400">
                <a:latin typeface="Bookman Old Style"/>
                <a:ea typeface="Bookman Old Style"/>
                <a:cs typeface="Bookman Old Style"/>
                <a:sym typeface="Bookman Old Style"/>
              </a:rPr>
              <a:t>// how to apply grid search in nonlinear regression://</a:t>
            </a:r>
            <a:endParaRPr/>
          </a:p>
          <a:p>
            <a:pPr indent="-274320" algn="just">
              <a:spcBef>
                <a:spcPts val="280"/>
              </a:spcBef>
              <a:buSzPts val="1064"/>
              <a:buChar char="🞇"/>
            </a:pPr>
            <a:r>
              <a:rPr lang="en-US" sz="1400">
                <a:latin typeface="Bookman Old Style"/>
                <a:ea typeface="Bookman Old Style"/>
                <a:cs typeface="Bookman Old Style"/>
                <a:sym typeface="Bookman Old Style"/>
              </a:rPr>
              <a:t>Step 1: Define the Nonlinear Regression Model</a:t>
            </a:r>
            <a:endParaRPr/>
          </a:p>
          <a:p>
            <a:pPr indent="-274320" algn="just">
              <a:spcBef>
                <a:spcPts val="280"/>
              </a:spcBef>
              <a:buSzPts val="1064"/>
              <a:buChar char="🞇"/>
            </a:pPr>
            <a:r>
              <a:rPr lang="en-US" sz="1400">
                <a:latin typeface="Bookman Old Style"/>
                <a:ea typeface="Bookman Old Style"/>
                <a:cs typeface="Bookman Old Style"/>
                <a:sym typeface="Bookman Old Style"/>
              </a:rPr>
              <a:t>First, you need to define the nonlinear regression model you want to use. For instance, this could be a polynomial regression model, a decision tree, a neural network, or other models that can handle nonlinear relationships.</a:t>
            </a:r>
            <a:endParaRPr/>
          </a:p>
          <a:p>
            <a:pPr indent="-274320" algn="just">
              <a:spcBef>
                <a:spcPts val="280"/>
              </a:spcBef>
              <a:buSzPts val="1064"/>
              <a:buChar char="🞇"/>
            </a:pPr>
            <a:r>
              <a:rPr lang="en-US" sz="1400">
                <a:latin typeface="Bookman Old Style"/>
                <a:ea typeface="Bookman Old Style"/>
                <a:cs typeface="Bookman Old Style"/>
                <a:sym typeface="Bookman Old Style"/>
              </a:rPr>
              <a:t>Step 2: Define the Hyperparameters to Tune</a:t>
            </a:r>
            <a:endParaRPr/>
          </a:p>
          <a:p>
            <a:pPr indent="-274320" algn="just">
              <a:spcBef>
                <a:spcPts val="280"/>
              </a:spcBef>
              <a:buSzPts val="1064"/>
              <a:buChar char="🞇"/>
            </a:pPr>
            <a:r>
              <a:rPr lang="en-US" sz="1400">
                <a:latin typeface="Bookman Old Style"/>
                <a:ea typeface="Bookman Old Style"/>
                <a:cs typeface="Bookman Old Style"/>
                <a:sym typeface="Bookman Old Style"/>
              </a:rPr>
              <a:t>Identify the hyperparameters of the model that you want to tune. These could include:</a:t>
            </a:r>
            <a:endParaRPr sz="1400">
              <a:latin typeface="Bookman Old Style"/>
              <a:ea typeface="Bookman Old Style"/>
              <a:cs typeface="Bookman Old Style"/>
              <a:sym typeface="Bookman Old Style"/>
            </a:endParaRPr>
          </a:p>
          <a:p>
            <a:pPr indent="-274320" algn="just">
              <a:spcBef>
                <a:spcPts val="280"/>
              </a:spcBef>
              <a:buSzPts val="1064"/>
              <a:buChar char="🞇"/>
            </a:pPr>
            <a:r>
              <a:rPr lang="en-US" sz="1400">
                <a:latin typeface="Bookman Old Style"/>
                <a:ea typeface="Bookman Old Style"/>
                <a:cs typeface="Bookman Old Style"/>
                <a:sym typeface="Bookman Old Style"/>
              </a:rPr>
              <a:t>Polynomial Regression: The degree of the polynomial.</a:t>
            </a:r>
            <a:endParaRPr/>
          </a:p>
          <a:p>
            <a:pPr indent="-274320" algn="just">
              <a:spcBef>
                <a:spcPts val="280"/>
              </a:spcBef>
              <a:buSzPts val="1064"/>
              <a:buChar char="🞇"/>
            </a:pPr>
            <a:r>
              <a:rPr lang="en-US" sz="1400">
                <a:latin typeface="Bookman Old Style"/>
                <a:ea typeface="Bookman Old Style"/>
                <a:cs typeface="Bookman Old Style"/>
                <a:sym typeface="Bookman Old Style"/>
              </a:rPr>
              <a:t>Decision Tree: The maximum depth, minimum samples split, or leaf.</a:t>
            </a:r>
            <a:endParaRPr/>
          </a:p>
          <a:p>
            <a:pPr indent="-274320" algn="just">
              <a:spcBef>
                <a:spcPts val="280"/>
              </a:spcBef>
              <a:buSzPts val="1064"/>
              <a:buChar char="🞇"/>
            </a:pPr>
            <a:r>
              <a:rPr lang="en-US" sz="1400">
                <a:latin typeface="Bookman Old Style"/>
                <a:ea typeface="Bookman Old Style"/>
                <a:cs typeface="Bookman Old Style"/>
                <a:sym typeface="Bookman Old Style"/>
              </a:rPr>
              <a:t>Neural Network: The learning rate, number of layers, or neurons per layer.</a:t>
            </a:r>
            <a:endParaRPr sz="1400">
              <a:latin typeface="Bookman Old Style"/>
              <a:ea typeface="Bookman Old Style"/>
              <a:cs typeface="Bookman Old Style"/>
              <a:sym typeface="Bookman Old Style"/>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808"/>
        <p:cNvGrpSpPr/>
        <p:nvPr/>
      </p:nvGrpSpPr>
      <p:grpSpPr>
        <a:xfrm>
          <a:off x="0" y="0"/>
          <a:ext cx="0" cy="0"/>
          <a:chOff x="0" y="0"/>
          <a:chExt cx="0" cy="0"/>
        </a:xfrm>
      </p:grpSpPr>
      <p:sp>
        <p:nvSpPr>
          <p:cNvPr id="810" name="Google Shape;810;p89"/>
          <p:cNvSpPr txBox="1">
            <a:spLocks noGrp="1"/>
          </p:cNvSpPr>
          <p:nvPr>
            <p:ph type="body" idx="1"/>
          </p:nvPr>
        </p:nvSpPr>
        <p:spPr>
          <a:xfrm>
            <a:off x="2567491" y="1772817"/>
            <a:ext cx="9153453" cy="4059813"/>
          </a:xfrm>
          <a:prstGeom prst="rect">
            <a:avLst/>
          </a:prstGeom>
          <a:noFill/>
          <a:ln>
            <a:noFill/>
          </a:ln>
        </p:spPr>
        <p:txBody>
          <a:bodyPr spcFirstLastPara="1" vert="horz" wrap="square" lIns="91425" tIns="45700" rIns="91425" bIns="45700" rtlCol="0" anchor="t" anchorCtr="0">
            <a:normAutofit/>
          </a:bodyPr>
          <a:lstStyle/>
          <a:p>
            <a:pPr indent="-274320" algn="just">
              <a:spcBef>
                <a:spcPts val="0"/>
              </a:spcBef>
              <a:buSzPts val="1368"/>
              <a:buChar char="🞇"/>
            </a:pPr>
            <a:r>
              <a:rPr lang="en-US" dirty="0">
                <a:latin typeface="Avenir Next LT Pro" panose="020B0504020202020204" pitchFamily="34" charset="0"/>
                <a:ea typeface="Bookman Old Style"/>
                <a:cs typeface="Bookman Old Style"/>
                <a:sym typeface="Bookman Old Style"/>
              </a:rPr>
              <a:t>Step 3: Create a Parameter Grid</a:t>
            </a:r>
            <a:endParaRPr dirty="0">
              <a:latin typeface="Avenir Next LT Pro" panose="020B0504020202020204" pitchFamily="34" charset="0"/>
            </a:endParaRPr>
          </a:p>
          <a:p>
            <a:pPr indent="-274320" algn="just">
              <a:spcBef>
                <a:spcPts val="360"/>
              </a:spcBef>
              <a:buSzPts val="1368"/>
              <a:buChar char="🞇"/>
            </a:pPr>
            <a:r>
              <a:rPr lang="en-US" dirty="0">
                <a:latin typeface="Avenir Next LT Pro" panose="020B0504020202020204" pitchFamily="34" charset="0"/>
                <a:ea typeface="Bookman Old Style"/>
                <a:cs typeface="Bookman Old Style"/>
                <a:sym typeface="Bookman Old Style"/>
              </a:rPr>
              <a:t>Create a dictionary containing the hyperparameters and their possible values. For each hyperparameter, provide a list of values that you want to test.</a:t>
            </a:r>
            <a:endParaRPr dirty="0">
              <a:latin typeface="Avenir Next LT Pro" panose="020B0504020202020204" pitchFamily="34" charset="0"/>
            </a:endParaRPr>
          </a:p>
          <a:p>
            <a:pPr indent="-187452" algn="just">
              <a:spcBef>
                <a:spcPts val="360"/>
              </a:spcBef>
              <a:buSzPts val="1368"/>
              <a:buNone/>
            </a:pPr>
            <a:endParaRPr dirty="0">
              <a:latin typeface="Avenir Next LT Pro" panose="020B0504020202020204" pitchFamily="34" charset="0"/>
              <a:ea typeface="Bookman Old Style"/>
              <a:cs typeface="Bookman Old Style"/>
              <a:sym typeface="Bookman Old Style"/>
            </a:endParaRPr>
          </a:p>
          <a:p>
            <a:pPr indent="-274320" algn="just">
              <a:spcBef>
                <a:spcPts val="360"/>
              </a:spcBef>
              <a:buSzPts val="1368"/>
              <a:buChar char="🞇"/>
            </a:pPr>
            <a:r>
              <a:rPr lang="en-US" dirty="0">
                <a:latin typeface="Avenir Next LT Pro" panose="020B0504020202020204" pitchFamily="34" charset="0"/>
                <a:ea typeface="Bookman Old Style"/>
                <a:cs typeface="Bookman Old Style"/>
                <a:sym typeface="Bookman Old Style"/>
              </a:rPr>
              <a:t>For example, if you are using a polynomial regression model, you might want to test different degrees:</a:t>
            </a:r>
            <a:endParaRPr dirty="0">
              <a:latin typeface="Avenir Next LT Pro" panose="020B0504020202020204" pitchFamily="34" charset="0"/>
              <a:ea typeface="Bookman Old Style"/>
              <a:cs typeface="Bookman Old Style"/>
              <a:sym typeface="Bookman Old Style"/>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814"/>
        <p:cNvGrpSpPr/>
        <p:nvPr/>
      </p:nvGrpSpPr>
      <p:grpSpPr>
        <a:xfrm>
          <a:off x="0" y="0"/>
          <a:ext cx="0" cy="0"/>
          <a:chOff x="0" y="0"/>
          <a:chExt cx="0" cy="0"/>
        </a:xfrm>
      </p:grpSpPr>
      <p:sp>
        <p:nvSpPr>
          <p:cNvPr id="815" name="Google Shape;815;p90"/>
          <p:cNvSpPr txBox="1">
            <a:spLocks noGrp="1"/>
          </p:cNvSpPr>
          <p:nvPr>
            <p:ph type="title"/>
          </p:nvPr>
        </p:nvSpPr>
        <p:spPr>
          <a:xfrm>
            <a:off x="2567490" y="1027664"/>
            <a:ext cx="7024744" cy="529128"/>
          </a:xfrm>
          <a:prstGeom prst="rect">
            <a:avLst/>
          </a:prstGeom>
          <a:noFill/>
          <a:ln>
            <a:noFill/>
          </a:ln>
        </p:spPr>
        <p:txBody>
          <a:bodyPr spcFirstLastPara="1" vert="horz" wrap="square" lIns="91425" tIns="45700" rIns="91425" bIns="45700" rtlCol="0" anchor="b" anchorCtr="0">
            <a:normAutofit fontScale="90000"/>
          </a:bodyPr>
          <a:lstStyle/>
          <a:p>
            <a:pPr>
              <a:spcBef>
                <a:spcPts val="0"/>
              </a:spcBef>
              <a:buClr>
                <a:schemeClr val="accent1"/>
              </a:buClr>
              <a:buSzPct val="100000"/>
            </a:pPr>
            <a:endParaRPr/>
          </a:p>
        </p:txBody>
      </p:sp>
      <p:sp>
        <p:nvSpPr>
          <p:cNvPr id="816" name="Google Shape;816;p90"/>
          <p:cNvSpPr txBox="1">
            <a:spLocks noGrp="1"/>
          </p:cNvSpPr>
          <p:nvPr>
            <p:ph type="body" idx="1"/>
          </p:nvPr>
        </p:nvSpPr>
        <p:spPr>
          <a:xfrm>
            <a:off x="2176464" y="1772817"/>
            <a:ext cx="7591945" cy="4059813"/>
          </a:xfrm>
          <a:prstGeom prst="rect">
            <a:avLst/>
          </a:prstGeom>
          <a:noFill/>
          <a:ln>
            <a:noFill/>
          </a:ln>
        </p:spPr>
        <p:txBody>
          <a:bodyPr spcFirstLastPara="1" vert="horz" wrap="square" lIns="91425" tIns="45700" rIns="91425" bIns="45700" rtlCol="0" anchor="t" anchorCtr="0">
            <a:normAutofit/>
          </a:bodyPr>
          <a:lstStyle/>
          <a:p>
            <a:pPr indent="-158496">
              <a:spcBef>
                <a:spcPts val="0"/>
              </a:spcBef>
              <a:buSzPts val="1824"/>
              <a:buNone/>
            </a:pPr>
            <a:endParaRPr/>
          </a:p>
        </p:txBody>
      </p:sp>
      <p:pic>
        <p:nvPicPr>
          <p:cNvPr id="817" name="Google Shape;817;p90"/>
          <p:cNvPicPr preferRelativeResize="0"/>
          <p:nvPr/>
        </p:nvPicPr>
        <p:blipFill rotWithShape="1">
          <a:blip r:embed="rId3">
            <a:alphaModFix/>
          </a:blip>
          <a:srcRect/>
          <a:stretch/>
        </p:blipFill>
        <p:spPr>
          <a:xfrm>
            <a:off x="2176464" y="980728"/>
            <a:ext cx="7839075" cy="4752528"/>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821"/>
        <p:cNvGrpSpPr/>
        <p:nvPr/>
      </p:nvGrpSpPr>
      <p:grpSpPr>
        <a:xfrm>
          <a:off x="0" y="0"/>
          <a:ext cx="0" cy="0"/>
          <a:chOff x="0" y="0"/>
          <a:chExt cx="0" cy="0"/>
        </a:xfrm>
      </p:grpSpPr>
      <p:sp>
        <p:nvSpPr>
          <p:cNvPr id="822" name="Google Shape;822;p91"/>
          <p:cNvSpPr txBox="1">
            <a:spLocks noGrp="1"/>
          </p:cNvSpPr>
          <p:nvPr>
            <p:ph type="title"/>
          </p:nvPr>
        </p:nvSpPr>
        <p:spPr>
          <a:xfrm>
            <a:off x="2567490" y="1027664"/>
            <a:ext cx="7024744" cy="1143000"/>
          </a:xfrm>
          <a:prstGeom prst="rect">
            <a:avLst/>
          </a:prstGeom>
          <a:noFill/>
          <a:ln>
            <a:noFill/>
          </a:ln>
        </p:spPr>
        <p:txBody>
          <a:bodyPr spcFirstLastPara="1" vert="horz" wrap="square" lIns="91425" tIns="45700" rIns="91425" bIns="45700" rtlCol="0" anchor="b" anchorCtr="0">
            <a:normAutofit/>
          </a:bodyPr>
          <a:lstStyle/>
          <a:p>
            <a:pPr>
              <a:spcBef>
                <a:spcPts val="0"/>
              </a:spcBef>
              <a:buClr>
                <a:schemeClr val="accent1"/>
              </a:buClr>
              <a:buSzPts val="4000"/>
            </a:pPr>
            <a:endParaRPr/>
          </a:p>
        </p:txBody>
      </p:sp>
      <p:sp>
        <p:nvSpPr>
          <p:cNvPr id="823" name="Google Shape;823;p91"/>
          <p:cNvSpPr txBox="1">
            <a:spLocks noGrp="1"/>
          </p:cNvSpPr>
          <p:nvPr>
            <p:ph type="body" idx="1"/>
          </p:nvPr>
        </p:nvSpPr>
        <p:spPr>
          <a:xfrm>
            <a:off x="2567493" y="2323653"/>
            <a:ext cx="6777317" cy="3508977"/>
          </a:xfrm>
          <a:prstGeom prst="rect">
            <a:avLst/>
          </a:prstGeom>
          <a:noFill/>
          <a:ln>
            <a:noFill/>
          </a:ln>
        </p:spPr>
        <p:txBody>
          <a:bodyPr spcFirstLastPara="1" vert="horz" wrap="square" lIns="91425" tIns="45700" rIns="91425" bIns="45700" rtlCol="0" anchor="t" anchorCtr="0">
            <a:normAutofit/>
          </a:bodyPr>
          <a:lstStyle/>
          <a:p>
            <a:pPr indent="-274320" algn="just">
              <a:lnSpc>
                <a:spcPct val="150000"/>
              </a:lnSpc>
              <a:spcBef>
                <a:spcPts val="0"/>
              </a:spcBef>
              <a:buSzPts val="1216"/>
              <a:buChar char="🞇"/>
            </a:pPr>
            <a:r>
              <a:rPr lang="en-US" sz="1600">
                <a:latin typeface="Bookman Old Style"/>
                <a:ea typeface="Bookman Old Style"/>
                <a:cs typeface="Bookman Old Style"/>
                <a:sym typeface="Bookman Old Style"/>
              </a:rPr>
              <a:t>In nonlinear regression, the choice of hyperparameters and the complexity of the model can significantly affect performance, so grid search is an important tool to optimize your model.</a:t>
            </a:r>
            <a:endParaRPr sz="1600">
              <a:latin typeface="Bookman Old Style"/>
              <a:ea typeface="Bookman Old Style"/>
              <a:cs typeface="Bookman Old Style"/>
              <a:sym typeface="Bookman Old Style"/>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27"/>
        <p:cNvGrpSpPr/>
        <p:nvPr/>
      </p:nvGrpSpPr>
      <p:grpSpPr>
        <a:xfrm>
          <a:off x="0" y="0"/>
          <a:ext cx="0" cy="0"/>
          <a:chOff x="0" y="0"/>
          <a:chExt cx="0" cy="0"/>
        </a:xfrm>
      </p:grpSpPr>
      <p:sp>
        <p:nvSpPr>
          <p:cNvPr id="828" name="Google Shape;828;p92"/>
          <p:cNvSpPr txBox="1">
            <a:spLocks noGrp="1"/>
          </p:cNvSpPr>
          <p:nvPr>
            <p:ph type="title"/>
          </p:nvPr>
        </p:nvSpPr>
        <p:spPr>
          <a:xfrm>
            <a:off x="2567490" y="1027664"/>
            <a:ext cx="7024744" cy="601136"/>
          </a:xfrm>
          <a:prstGeom prst="rect">
            <a:avLst/>
          </a:prstGeom>
          <a:noFill/>
          <a:ln>
            <a:noFill/>
          </a:ln>
        </p:spPr>
        <p:txBody>
          <a:bodyPr spcFirstLastPara="1" vert="horz" wrap="square" lIns="91425" tIns="45700" rIns="91425" bIns="45700" rtlCol="0" anchor="b" anchorCtr="0">
            <a:normAutofit/>
          </a:bodyPr>
          <a:lstStyle/>
          <a:p>
            <a:pPr>
              <a:spcBef>
                <a:spcPts val="0"/>
              </a:spcBef>
              <a:buClr>
                <a:schemeClr val="accent1"/>
              </a:buClr>
              <a:buSzPts val="2800"/>
            </a:pPr>
            <a:r>
              <a:rPr lang="en-US" sz="2800" b="1" dirty="0">
                <a:latin typeface="Avenir Next LT Pro" panose="020B0504020202020204" pitchFamily="34" charset="0"/>
                <a:ea typeface="Bookman Old Style"/>
                <a:cs typeface="Bookman Old Style"/>
                <a:sym typeface="Bookman Old Style"/>
              </a:rPr>
              <a:t>Newton Raphson Method</a:t>
            </a:r>
            <a:endParaRPr b="1" dirty="0">
              <a:latin typeface="Avenir Next LT Pro" panose="020B0504020202020204" pitchFamily="34" charset="0"/>
            </a:endParaRPr>
          </a:p>
        </p:txBody>
      </p:sp>
      <p:sp>
        <p:nvSpPr>
          <p:cNvPr id="829" name="Google Shape;829;p92"/>
          <p:cNvSpPr txBox="1">
            <a:spLocks noGrp="1"/>
          </p:cNvSpPr>
          <p:nvPr>
            <p:ph type="body" idx="1"/>
          </p:nvPr>
        </p:nvSpPr>
        <p:spPr>
          <a:xfrm>
            <a:off x="2567493" y="1916833"/>
            <a:ext cx="8391452" cy="3915797"/>
          </a:xfrm>
          <a:prstGeom prst="rect">
            <a:avLst/>
          </a:prstGeom>
          <a:noFill/>
          <a:ln>
            <a:noFill/>
          </a:ln>
        </p:spPr>
        <p:txBody>
          <a:bodyPr spcFirstLastPara="1" vert="horz" wrap="square" lIns="91425" tIns="45700" rIns="91425" bIns="45700" rtlCol="0" anchor="t" anchorCtr="0">
            <a:normAutofit/>
          </a:bodyPr>
          <a:lstStyle/>
          <a:p>
            <a:pPr indent="-274320" algn="just">
              <a:spcBef>
                <a:spcPts val="0"/>
              </a:spcBef>
              <a:buSzPts val="1216"/>
              <a:buChar char="🞇"/>
            </a:pPr>
            <a:r>
              <a:rPr lang="en-US" sz="1600" dirty="0">
                <a:latin typeface="Avenir Next LT Pro" panose="020B0504020202020204" pitchFamily="34" charset="0"/>
                <a:ea typeface="Bookman Old Style"/>
                <a:cs typeface="Bookman Old Style"/>
                <a:sym typeface="Bookman Old Style"/>
              </a:rPr>
              <a:t>The Newton-Raphson method which is also known as Newton’s method, is an iterative numerical method used to find the roots of a real-valued function.</a:t>
            </a:r>
            <a:endParaRPr dirty="0">
              <a:latin typeface="Avenir Next LT Pro" panose="020B0504020202020204" pitchFamily="34" charset="0"/>
            </a:endParaRPr>
          </a:p>
          <a:p>
            <a:pPr indent="-274320" algn="just">
              <a:spcBef>
                <a:spcPts val="320"/>
              </a:spcBef>
              <a:buSzPts val="1216"/>
              <a:buChar char="🞇"/>
            </a:pPr>
            <a:r>
              <a:rPr lang="en-US" sz="1600" dirty="0">
                <a:latin typeface="Avenir Next LT Pro" panose="020B0504020202020204" pitchFamily="34" charset="0"/>
                <a:ea typeface="Bookman Old Style"/>
                <a:cs typeface="Bookman Old Style"/>
                <a:sym typeface="Bookman Old Style"/>
              </a:rPr>
              <a:t> This formula is named after Sir Isaac Newton and Joseph Raphson, as they independently contributed to its development. </a:t>
            </a:r>
            <a:endParaRPr sz="1600" dirty="0">
              <a:latin typeface="Avenir Next LT Pro" panose="020B0504020202020204" pitchFamily="34" charset="0"/>
              <a:ea typeface="Bookman Old Style"/>
              <a:cs typeface="Bookman Old Style"/>
              <a:sym typeface="Bookman Old Style"/>
            </a:endParaRPr>
          </a:p>
          <a:p>
            <a:pPr indent="-274320" algn="just">
              <a:spcBef>
                <a:spcPts val="320"/>
              </a:spcBef>
              <a:buSzPts val="1216"/>
              <a:buChar char="🞇"/>
            </a:pPr>
            <a:r>
              <a:rPr lang="en-US" sz="1600" dirty="0">
                <a:latin typeface="Avenir Next LT Pro" panose="020B0504020202020204" pitchFamily="34" charset="0"/>
                <a:ea typeface="Bookman Old Style"/>
                <a:cs typeface="Bookman Old Style"/>
                <a:sym typeface="Bookman Old Style"/>
              </a:rPr>
              <a:t>Newton Raphson Method or Newton’s Method is an algorithm to approximate the roots of zeros of the real-valued functions, using guess for the first iteration (x0) and then approximating the next iteration(x1) which is close to roots, using the following formula.</a:t>
            </a:r>
            <a:endParaRPr dirty="0">
              <a:latin typeface="Avenir Next LT Pro" panose="020B0504020202020204" pitchFamily="34" charset="0"/>
            </a:endParaRPr>
          </a:p>
          <a:p>
            <a:pPr indent="-274320" algn="just">
              <a:spcBef>
                <a:spcPts val="320"/>
              </a:spcBef>
              <a:buSzPts val="1216"/>
              <a:buChar char="🞇"/>
            </a:pPr>
            <a:r>
              <a:rPr lang="en-US" sz="1600" dirty="0">
                <a:latin typeface="Bookman Old Style"/>
                <a:ea typeface="Bookman Old Style"/>
                <a:cs typeface="Bookman Old Style"/>
                <a:sym typeface="Bookman Old Style"/>
              </a:rPr>
              <a:t>       x1 = x0 – f(x0)/f'(x0)</a:t>
            </a:r>
            <a:endParaRPr sz="1600" dirty="0">
              <a:latin typeface="Bookman Old Style"/>
              <a:ea typeface="Bookman Old Style"/>
              <a:cs typeface="Bookman Old Style"/>
              <a:sym typeface="Bookman Old Style"/>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833"/>
        <p:cNvGrpSpPr/>
        <p:nvPr/>
      </p:nvGrpSpPr>
      <p:grpSpPr>
        <a:xfrm>
          <a:off x="0" y="0"/>
          <a:ext cx="0" cy="0"/>
          <a:chOff x="0" y="0"/>
          <a:chExt cx="0" cy="0"/>
        </a:xfrm>
      </p:grpSpPr>
      <p:sp>
        <p:nvSpPr>
          <p:cNvPr id="834" name="Google Shape;834;p93"/>
          <p:cNvSpPr txBox="1">
            <a:spLocks noGrp="1"/>
          </p:cNvSpPr>
          <p:nvPr>
            <p:ph type="title"/>
          </p:nvPr>
        </p:nvSpPr>
        <p:spPr>
          <a:xfrm>
            <a:off x="2567490" y="1027664"/>
            <a:ext cx="7024744" cy="1143000"/>
          </a:xfrm>
          <a:prstGeom prst="rect">
            <a:avLst/>
          </a:prstGeom>
          <a:noFill/>
          <a:ln>
            <a:noFill/>
          </a:ln>
        </p:spPr>
        <p:txBody>
          <a:bodyPr spcFirstLastPara="1" vert="horz" wrap="square" lIns="91425" tIns="45700" rIns="91425" bIns="45700" rtlCol="0" anchor="b" anchorCtr="0">
            <a:normAutofit/>
          </a:bodyPr>
          <a:lstStyle/>
          <a:p>
            <a:pPr>
              <a:spcBef>
                <a:spcPts val="0"/>
              </a:spcBef>
              <a:buClr>
                <a:schemeClr val="accent1"/>
              </a:buClr>
              <a:buSzPts val="4000"/>
            </a:pPr>
            <a:endParaRPr/>
          </a:p>
        </p:txBody>
      </p:sp>
      <p:sp>
        <p:nvSpPr>
          <p:cNvPr id="835" name="Google Shape;835;p93"/>
          <p:cNvSpPr txBox="1">
            <a:spLocks noGrp="1"/>
          </p:cNvSpPr>
          <p:nvPr>
            <p:ph type="body" idx="1"/>
          </p:nvPr>
        </p:nvSpPr>
        <p:spPr>
          <a:xfrm>
            <a:off x="2567493" y="2323653"/>
            <a:ext cx="6777317" cy="3508977"/>
          </a:xfrm>
          <a:prstGeom prst="rect">
            <a:avLst/>
          </a:prstGeom>
          <a:noFill/>
          <a:ln>
            <a:noFill/>
          </a:ln>
        </p:spPr>
        <p:txBody>
          <a:bodyPr spcFirstLastPara="1" vert="horz" wrap="square" lIns="91425" tIns="45700" rIns="91425" bIns="45700" rtlCol="0" anchor="t" anchorCtr="0">
            <a:normAutofit/>
          </a:bodyPr>
          <a:lstStyle/>
          <a:p>
            <a:pPr indent="-274320">
              <a:spcBef>
                <a:spcPts val="0"/>
              </a:spcBef>
              <a:buSzPts val="1368"/>
              <a:buChar char="🞇"/>
            </a:pPr>
            <a:r>
              <a:rPr lang="en-US">
                <a:latin typeface="Bookman Old Style"/>
                <a:ea typeface="Bookman Old Style"/>
                <a:cs typeface="Bookman Old Style"/>
                <a:sym typeface="Bookman Old Style"/>
              </a:rPr>
              <a:t>where,</a:t>
            </a:r>
            <a:endParaRPr>
              <a:latin typeface="Bookman Old Style"/>
              <a:ea typeface="Bookman Old Style"/>
              <a:cs typeface="Bookman Old Style"/>
              <a:sym typeface="Bookman Old Style"/>
            </a:endParaRPr>
          </a:p>
          <a:p>
            <a:pPr indent="-274320">
              <a:spcBef>
                <a:spcPts val="360"/>
              </a:spcBef>
              <a:buSzPts val="1368"/>
              <a:buChar char="🞇"/>
            </a:pPr>
            <a:r>
              <a:rPr lang="en-US">
                <a:latin typeface="Bookman Old Style"/>
                <a:ea typeface="Bookman Old Style"/>
                <a:cs typeface="Bookman Old Style"/>
                <a:sym typeface="Bookman Old Style"/>
              </a:rPr>
              <a:t>x0 is the initial value of x,</a:t>
            </a:r>
            <a:endParaRPr/>
          </a:p>
          <a:p>
            <a:pPr indent="-274320">
              <a:spcBef>
                <a:spcPts val="360"/>
              </a:spcBef>
              <a:buSzPts val="1368"/>
              <a:buChar char="🞇"/>
            </a:pPr>
            <a:r>
              <a:rPr lang="en-US">
                <a:latin typeface="Bookman Old Style"/>
                <a:ea typeface="Bookman Old Style"/>
                <a:cs typeface="Bookman Old Style"/>
                <a:sym typeface="Bookman Old Style"/>
              </a:rPr>
              <a:t>f(x0) is the value of the equation at initial value, and</a:t>
            </a:r>
            <a:endParaRPr/>
          </a:p>
          <a:p>
            <a:pPr indent="-274320">
              <a:spcBef>
                <a:spcPts val="360"/>
              </a:spcBef>
              <a:buSzPts val="1368"/>
              <a:buChar char="🞇"/>
            </a:pPr>
            <a:r>
              <a:rPr lang="en-US">
                <a:latin typeface="Bookman Old Style"/>
                <a:ea typeface="Bookman Old Style"/>
                <a:cs typeface="Bookman Old Style"/>
                <a:sym typeface="Bookman Old Style"/>
              </a:rPr>
              <a:t>f'(x0) is the value of the first order derivative of the equation or function at the initial value x0.</a:t>
            </a:r>
            <a:endParaRPr/>
          </a:p>
          <a:p>
            <a:pPr indent="-274320">
              <a:spcBef>
                <a:spcPts val="360"/>
              </a:spcBef>
              <a:buSzPts val="1368"/>
              <a:buChar char="🞇"/>
            </a:pPr>
            <a:r>
              <a:rPr lang="en-US">
                <a:latin typeface="Bookman Old Style"/>
                <a:ea typeface="Bookman Old Style"/>
                <a:cs typeface="Bookman Old Style"/>
                <a:sym typeface="Bookman Old Style"/>
              </a:rPr>
              <a:t>Note: f'(x0) should not be zero else the fraction part of the formula will change to infinity which means f(x) should not be a constant function.</a:t>
            </a:r>
            <a:endParaRPr>
              <a:latin typeface="Bookman Old Style"/>
              <a:ea typeface="Bookman Old Style"/>
              <a:cs typeface="Bookman Old Style"/>
              <a:sym typeface="Bookman Old Style"/>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839"/>
        <p:cNvGrpSpPr/>
        <p:nvPr/>
      </p:nvGrpSpPr>
      <p:grpSpPr>
        <a:xfrm>
          <a:off x="0" y="0"/>
          <a:ext cx="0" cy="0"/>
          <a:chOff x="0" y="0"/>
          <a:chExt cx="0" cy="0"/>
        </a:xfrm>
      </p:grpSpPr>
      <p:sp>
        <p:nvSpPr>
          <p:cNvPr id="840" name="Google Shape;840;p94"/>
          <p:cNvSpPr txBox="1">
            <a:spLocks noGrp="1"/>
          </p:cNvSpPr>
          <p:nvPr>
            <p:ph type="title"/>
          </p:nvPr>
        </p:nvSpPr>
        <p:spPr>
          <a:xfrm>
            <a:off x="2567490" y="1027664"/>
            <a:ext cx="7024744" cy="889168"/>
          </a:xfrm>
          <a:prstGeom prst="rect">
            <a:avLst/>
          </a:prstGeom>
          <a:noFill/>
          <a:ln>
            <a:noFill/>
          </a:ln>
        </p:spPr>
        <p:txBody>
          <a:bodyPr spcFirstLastPara="1" vert="horz" wrap="square" lIns="91425" tIns="45700" rIns="91425" bIns="45700" rtlCol="0" anchor="b" anchorCtr="0">
            <a:normAutofit/>
          </a:bodyPr>
          <a:lstStyle/>
          <a:p>
            <a:pPr>
              <a:spcBef>
                <a:spcPts val="0"/>
              </a:spcBef>
              <a:buClr>
                <a:schemeClr val="accent1"/>
              </a:buClr>
              <a:buSzPct val="100000"/>
            </a:pPr>
            <a:r>
              <a:rPr lang="en-US" sz="3200" b="1" dirty="0">
                <a:latin typeface="Avenir Next LT Pro" panose="020B0504020202020204" pitchFamily="34" charset="0"/>
                <a:ea typeface="Bookman Old Style"/>
                <a:cs typeface="Bookman Old Style"/>
                <a:sym typeface="Bookman Old Style"/>
              </a:rPr>
              <a:t>Newton Raphson Method Formula</a:t>
            </a:r>
            <a:endParaRPr dirty="0">
              <a:latin typeface="Avenir Next LT Pro" panose="020B0504020202020204" pitchFamily="34" charset="0"/>
            </a:endParaRPr>
          </a:p>
        </p:txBody>
      </p:sp>
      <p:sp>
        <p:nvSpPr>
          <p:cNvPr id="841" name="Google Shape;841;p94"/>
          <p:cNvSpPr txBox="1">
            <a:spLocks noGrp="1"/>
          </p:cNvSpPr>
          <p:nvPr>
            <p:ph type="body" idx="1"/>
          </p:nvPr>
        </p:nvSpPr>
        <p:spPr>
          <a:xfrm>
            <a:off x="2567493" y="1988841"/>
            <a:ext cx="6777317" cy="3843789"/>
          </a:xfrm>
          <a:prstGeom prst="rect">
            <a:avLst/>
          </a:prstGeom>
          <a:noFill/>
          <a:ln>
            <a:noFill/>
          </a:ln>
        </p:spPr>
        <p:txBody>
          <a:bodyPr spcFirstLastPara="1" vert="horz" wrap="square" lIns="91425" tIns="45700" rIns="91425" bIns="45700" rtlCol="0" anchor="t" anchorCtr="0">
            <a:normAutofit/>
          </a:bodyPr>
          <a:lstStyle/>
          <a:p>
            <a:pPr indent="-158496">
              <a:spcBef>
                <a:spcPts val="0"/>
              </a:spcBef>
              <a:buSzPts val="1824"/>
              <a:buNone/>
            </a:pPr>
            <a:endParaRPr/>
          </a:p>
        </p:txBody>
      </p:sp>
      <p:pic>
        <p:nvPicPr>
          <p:cNvPr id="842" name="Google Shape;842;p94"/>
          <p:cNvPicPr preferRelativeResize="0"/>
          <p:nvPr/>
        </p:nvPicPr>
        <p:blipFill rotWithShape="1">
          <a:blip r:embed="rId3">
            <a:alphaModFix/>
          </a:blip>
          <a:srcRect/>
          <a:stretch/>
        </p:blipFill>
        <p:spPr>
          <a:xfrm>
            <a:off x="2443164" y="1988840"/>
            <a:ext cx="7305675" cy="3888432"/>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846"/>
        <p:cNvGrpSpPr/>
        <p:nvPr/>
      </p:nvGrpSpPr>
      <p:grpSpPr>
        <a:xfrm>
          <a:off x="0" y="0"/>
          <a:ext cx="0" cy="0"/>
          <a:chOff x="0" y="0"/>
          <a:chExt cx="0" cy="0"/>
        </a:xfrm>
      </p:grpSpPr>
      <p:sp>
        <p:nvSpPr>
          <p:cNvPr id="847" name="Google Shape;847;p95"/>
          <p:cNvSpPr txBox="1">
            <a:spLocks noGrp="1"/>
          </p:cNvSpPr>
          <p:nvPr>
            <p:ph type="title"/>
          </p:nvPr>
        </p:nvSpPr>
        <p:spPr>
          <a:xfrm>
            <a:off x="2567493" y="572148"/>
            <a:ext cx="8779383" cy="961176"/>
          </a:xfrm>
          <a:prstGeom prst="rect">
            <a:avLst/>
          </a:prstGeom>
          <a:noFill/>
          <a:ln>
            <a:noFill/>
          </a:ln>
        </p:spPr>
        <p:txBody>
          <a:bodyPr spcFirstLastPara="1" vert="horz" wrap="square" lIns="91425" tIns="45700" rIns="91425" bIns="45700" rtlCol="0" anchor="b" anchorCtr="0">
            <a:noAutofit/>
          </a:bodyPr>
          <a:lstStyle/>
          <a:p>
            <a:pPr>
              <a:spcBef>
                <a:spcPts val="0"/>
              </a:spcBef>
              <a:buClr>
                <a:schemeClr val="accent1"/>
              </a:buClr>
              <a:buSzPts val="3200"/>
            </a:pPr>
            <a:r>
              <a:rPr lang="en-US" sz="3200" b="1" dirty="0">
                <a:latin typeface="Avenir Next LT Pro" panose="020B0504020202020204" pitchFamily="34" charset="0"/>
                <a:ea typeface="Bookman Old Style"/>
                <a:cs typeface="Bookman Old Style"/>
                <a:sym typeface="Bookman Old Style"/>
              </a:rPr>
              <a:t>Newton Raphson Method Calculation</a:t>
            </a:r>
            <a:endParaRPr dirty="0">
              <a:latin typeface="Avenir Next LT Pro" panose="020B0504020202020204" pitchFamily="34" charset="0"/>
            </a:endParaRPr>
          </a:p>
        </p:txBody>
      </p:sp>
      <p:sp>
        <p:nvSpPr>
          <p:cNvPr id="848" name="Google Shape;848;p95"/>
          <p:cNvSpPr txBox="1">
            <a:spLocks noGrp="1"/>
          </p:cNvSpPr>
          <p:nvPr>
            <p:ph type="body" idx="1"/>
          </p:nvPr>
        </p:nvSpPr>
        <p:spPr>
          <a:xfrm>
            <a:off x="2567493" y="1916833"/>
            <a:ext cx="6777317" cy="3915797"/>
          </a:xfrm>
          <a:prstGeom prst="rect">
            <a:avLst/>
          </a:prstGeom>
          <a:noFill/>
          <a:ln>
            <a:noFill/>
          </a:ln>
        </p:spPr>
        <p:txBody>
          <a:bodyPr spcFirstLastPara="1" vert="horz" wrap="square" lIns="91425" tIns="45700" rIns="91425" bIns="45700" rtlCol="0" anchor="t" anchorCtr="0">
            <a:normAutofit/>
          </a:bodyPr>
          <a:lstStyle/>
          <a:p>
            <a:pPr indent="-158496">
              <a:spcBef>
                <a:spcPts val="0"/>
              </a:spcBef>
              <a:buSzPts val="1824"/>
              <a:buNone/>
            </a:pPr>
            <a:endParaRPr/>
          </a:p>
        </p:txBody>
      </p:sp>
      <p:pic>
        <p:nvPicPr>
          <p:cNvPr id="849" name="Google Shape;849;p95"/>
          <p:cNvPicPr preferRelativeResize="0"/>
          <p:nvPr/>
        </p:nvPicPr>
        <p:blipFill rotWithShape="1">
          <a:blip r:embed="rId3">
            <a:alphaModFix/>
          </a:blip>
          <a:srcRect/>
          <a:stretch/>
        </p:blipFill>
        <p:spPr>
          <a:xfrm>
            <a:off x="2328864" y="1916832"/>
            <a:ext cx="7534275" cy="3888432"/>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53"/>
        <p:cNvGrpSpPr/>
        <p:nvPr/>
      </p:nvGrpSpPr>
      <p:grpSpPr>
        <a:xfrm>
          <a:off x="0" y="0"/>
          <a:ext cx="0" cy="0"/>
          <a:chOff x="0" y="0"/>
          <a:chExt cx="0" cy="0"/>
        </a:xfrm>
      </p:grpSpPr>
      <p:pic>
        <p:nvPicPr>
          <p:cNvPr id="856" name="Google Shape;856;p96"/>
          <p:cNvPicPr preferRelativeResize="0"/>
          <p:nvPr/>
        </p:nvPicPr>
        <p:blipFill rotWithShape="1">
          <a:blip r:embed="rId3">
            <a:alphaModFix/>
          </a:blip>
          <a:srcRect/>
          <a:stretch/>
        </p:blipFill>
        <p:spPr>
          <a:xfrm>
            <a:off x="2499807" y="664275"/>
            <a:ext cx="8459138" cy="4628161"/>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860"/>
        <p:cNvGrpSpPr/>
        <p:nvPr/>
      </p:nvGrpSpPr>
      <p:grpSpPr>
        <a:xfrm>
          <a:off x="0" y="0"/>
          <a:ext cx="0" cy="0"/>
          <a:chOff x="0" y="0"/>
          <a:chExt cx="0" cy="0"/>
        </a:xfrm>
      </p:grpSpPr>
      <p:pic>
        <p:nvPicPr>
          <p:cNvPr id="863" name="Google Shape;863;p97"/>
          <p:cNvPicPr preferRelativeResize="0"/>
          <p:nvPr/>
        </p:nvPicPr>
        <p:blipFill rotWithShape="1">
          <a:blip r:embed="rId3">
            <a:alphaModFix/>
          </a:blip>
          <a:srcRect/>
          <a:stretch/>
        </p:blipFill>
        <p:spPr>
          <a:xfrm>
            <a:off x="2252662" y="873702"/>
            <a:ext cx="8678574" cy="5069898"/>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867"/>
        <p:cNvGrpSpPr/>
        <p:nvPr/>
      </p:nvGrpSpPr>
      <p:grpSpPr>
        <a:xfrm>
          <a:off x="0" y="0"/>
          <a:ext cx="0" cy="0"/>
          <a:chOff x="0" y="0"/>
          <a:chExt cx="0" cy="0"/>
        </a:xfrm>
      </p:grpSpPr>
      <p:pic>
        <p:nvPicPr>
          <p:cNvPr id="870" name="Google Shape;870;p98"/>
          <p:cNvPicPr preferRelativeResize="0"/>
          <p:nvPr/>
        </p:nvPicPr>
        <p:blipFill rotWithShape="1">
          <a:blip r:embed="rId3">
            <a:alphaModFix/>
          </a:blip>
          <a:srcRect/>
          <a:stretch/>
        </p:blipFill>
        <p:spPr>
          <a:xfrm>
            <a:off x="2108922" y="731346"/>
            <a:ext cx="9501188" cy="4464109"/>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874"/>
        <p:cNvGrpSpPr/>
        <p:nvPr/>
      </p:nvGrpSpPr>
      <p:grpSpPr>
        <a:xfrm>
          <a:off x="0" y="0"/>
          <a:ext cx="0" cy="0"/>
          <a:chOff x="0" y="0"/>
          <a:chExt cx="0" cy="0"/>
        </a:xfrm>
      </p:grpSpPr>
      <p:sp>
        <p:nvSpPr>
          <p:cNvPr id="875" name="Google Shape;875;p99"/>
          <p:cNvSpPr txBox="1">
            <a:spLocks noGrp="1"/>
          </p:cNvSpPr>
          <p:nvPr>
            <p:ph type="title"/>
          </p:nvPr>
        </p:nvSpPr>
        <p:spPr>
          <a:xfrm>
            <a:off x="2567490" y="1027664"/>
            <a:ext cx="7024744" cy="745152"/>
          </a:xfrm>
          <a:prstGeom prst="rect">
            <a:avLst/>
          </a:prstGeom>
          <a:noFill/>
          <a:ln>
            <a:noFill/>
          </a:ln>
        </p:spPr>
        <p:txBody>
          <a:bodyPr spcFirstLastPara="1" vert="horz" wrap="square" lIns="91425" tIns="45700" rIns="91425" bIns="45700" rtlCol="0" anchor="b" anchorCtr="0">
            <a:normAutofit fontScale="90000"/>
          </a:bodyPr>
          <a:lstStyle/>
          <a:p>
            <a:pPr>
              <a:spcBef>
                <a:spcPts val="0"/>
              </a:spcBef>
              <a:buClr>
                <a:schemeClr val="accent1"/>
              </a:buClr>
              <a:buSzPct val="100000"/>
            </a:pPr>
            <a:r>
              <a:rPr lang="en-US" sz="2700" b="1" dirty="0">
                <a:latin typeface="Avenir Next LT Pro" panose="020B0504020202020204" pitchFamily="34" charset="0"/>
                <a:ea typeface="Bookman Old Style"/>
                <a:cs typeface="Bookman Old Style"/>
                <a:sym typeface="Bookman Old Style"/>
              </a:rPr>
              <a:t>Nonlinear Steepest-Descent Method</a:t>
            </a:r>
            <a:br>
              <a:rPr lang="en-US" dirty="0"/>
            </a:br>
            <a:endParaRPr dirty="0"/>
          </a:p>
        </p:txBody>
      </p:sp>
      <p:sp>
        <p:nvSpPr>
          <p:cNvPr id="876" name="Google Shape;876;p99"/>
          <p:cNvSpPr txBox="1">
            <a:spLocks noGrp="1"/>
          </p:cNvSpPr>
          <p:nvPr>
            <p:ph type="body" idx="1"/>
          </p:nvPr>
        </p:nvSpPr>
        <p:spPr>
          <a:xfrm>
            <a:off x="2567490" y="1772816"/>
            <a:ext cx="9056471" cy="4419853"/>
          </a:xfrm>
          <a:prstGeom prst="rect">
            <a:avLst/>
          </a:prstGeom>
          <a:noFill/>
          <a:ln>
            <a:noFill/>
          </a:ln>
        </p:spPr>
        <p:txBody>
          <a:bodyPr spcFirstLastPara="1" vert="horz" wrap="square" lIns="91425" tIns="45700" rIns="91425" bIns="45700" rtlCol="0" anchor="t" anchorCtr="0">
            <a:normAutofit/>
          </a:bodyPr>
          <a:lstStyle/>
          <a:p>
            <a:pPr indent="-274320">
              <a:lnSpc>
                <a:spcPct val="150000"/>
              </a:lnSpc>
              <a:spcBef>
                <a:spcPts val="0"/>
              </a:spcBef>
              <a:buSzPts val="1216"/>
              <a:buChar char="🞇"/>
            </a:pPr>
            <a:r>
              <a:rPr lang="en-US" sz="1600" dirty="0">
                <a:latin typeface="Avenir Next LT Pro" panose="020B0504020202020204" pitchFamily="34" charset="0"/>
                <a:ea typeface="Bookman Old Style"/>
                <a:cs typeface="Bookman Old Style"/>
                <a:sym typeface="Bookman Old Style"/>
              </a:rPr>
              <a:t>The nonlinear steepest-descent method is based on a direct asymptotic analysis of the relevant Riemann–Hilbert problem; it is general and algorithmic in the sense that it does not require a priori information (</a:t>
            </a:r>
            <a:r>
              <a:rPr lang="en-US" sz="1600" dirty="0" err="1">
                <a:latin typeface="Avenir Next LT Pro" panose="020B0504020202020204" pitchFamily="34" charset="0"/>
                <a:ea typeface="Bookman Old Style"/>
                <a:cs typeface="Bookman Old Style"/>
                <a:sym typeface="Bookman Old Style"/>
              </a:rPr>
              <a:t>anzatz</a:t>
            </a:r>
            <a:r>
              <a:rPr lang="en-US" sz="1600" dirty="0">
                <a:latin typeface="Avenir Next LT Pro" panose="020B0504020202020204" pitchFamily="34" charset="0"/>
                <a:ea typeface="Bookman Old Style"/>
                <a:cs typeface="Bookman Old Style"/>
                <a:sym typeface="Bookman Old Style"/>
              </a:rPr>
              <a:t>) about the form of the solution of the asymptotic problem. </a:t>
            </a:r>
            <a:endParaRPr sz="1600" dirty="0">
              <a:latin typeface="Avenir Next LT Pro" panose="020B0504020202020204" pitchFamily="34" charset="0"/>
              <a:ea typeface="Bookman Old Style"/>
              <a:cs typeface="Bookman Old Style"/>
              <a:sym typeface="Bookman Old Style"/>
            </a:endParaRPr>
          </a:p>
          <a:p>
            <a:pPr indent="-274320">
              <a:lnSpc>
                <a:spcPct val="150000"/>
              </a:lnSpc>
              <a:spcBef>
                <a:spcPts val="320"/>
              </a:spcBef>
              <a:buSzPts val="1216"/>
              <a:buChar char="🞇"/>
            </a:pPr>
            <a:r>
              <a:rPr lang="en-US" sz="1600" dirty="0">
                <a:latin typeface="Avenir Next LT Pro" panose="020B0504020202020204" pitchFamily="34" charset="0"/>
                <a:ea typeface="Bookman Old Style"/>
                <a:cs typeface="Bookman Old Style"/>
                <a:sym typeface="Bookman Old Style"/>
              </a:rPr>
              <a:t>However, the noncommutativity of the matrix setting requires developing rather sophisticated technical ideas, which, in particular, enable an explicit solution of the associated local Riemann–Hilbert problem</a:t>
            </a:r>
            <a:endParaRPr sz="1600" dirty="0">
              <a:latin typeface="Avenir Next LT Pro" panose="020B0504020202020204" pitchFamily="34" charset="0"/>
              <a:ea typeface="Bookman Old Style"/>
              <a:cs typeface="Bookman Old Style"/>
              <a:sym typeface="Bookman Old Style"/>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880"/>
        <p:cNvGrpSpPr/>
        <p:nvPr/>
      </p:nvGrpSpPr>
      <p:grpSpPr>
        <a:xfrm>
          <a:off x="0" y="0"/>
          <a:ext cx="0" cy="0"/>
          <a:chOff x="0" y="0"/>
          <a:chExt cx="0" cy="0"/>
        </a:xfrm>
      </p:grpSpPr>
      <p:sp>
        <p:nvSpPr>
          <p:cNvPr id="881" name="Google Shape;881;p100"/>
          <p:cNvSpPr txBox="1">
            <a:spLocks noGrp="1"/>
          </p:cNvSpPr>
          <p:nvPr>
            <p:ph type="title"/>
          </p:nvPr>
        </p:nvSpPr>
        <p:spPr>
          <a:xfrm>
            <a:off x="2583628" y="525283"/>
            <a:ext cx="7024744" cy="889168"/>
          </a:xfrm>
          <a:prstGeom prst="rect">
            <a:avLst/>
          </a:prstGeom>
          <a:noFill/>
          <a:ln>
            <a:noFill/>
          </a:ln>
        </p:spPr>
        <p:txBody>
          <a:bodyPr spcFirstLastPara="1" vert="horz" wrap="square" lIns="91425" tIns="45700" rIns="91425" bIns="45700" rtlCol="0" anchor="b" anchorCtr="0">
            <a:normAutofit/>
          </a:bodyPr>
          <a:lstStyle/>
          <a:p>
            <a:pPr>
              <a:spcBef>
                <a:spcPts val="0"/>
              </a:spcBef>
              <a:buClr>
                <a:schemeClr val="accent1"/>
              </a:buClr>
              <a:buSzPts val="4000"/>
            </a:pPr>
            <a:r>
              <a:rPr lang="en-US" sz="2800" b="1" dirty="0">
                <a:latin typeface="Avenir Next LT Pro" panose="020B0504020202020204" pitchFamily="34" charset="0"/>
              </a:rPr>
              <a:t>Marquardt’s methods</a:t>
            </a:r>
            <a:endParaRPr sz="2800" b="1" dirty="0">
              <a:latin typeface="Avenir Next LT Pro" panose="020B0504020202020204" pitchFamily="34" charset="0"/>
            </a:endParaRPr>
          </a:p>
        </p:txBody>
      </p:sp>
      <p:pic>
        <p:nvPicPr>
          <p:cNvPr id="883" name="Google Shape;883;p100"/>
          <p:cNvPicPr preferRelativeResize="0"/>
          <p:nvPr/>
        </p:nvPicPr>
        <p:blipFill rotWithShape="1">
          <a:blip r:embed="rId3">
            <a:alphaModFix/>
          </a:blip>
          <a:srcRect/>
          <a:stretch/>
        </p:blipFill>
        <p:spPr>
          <a:xfrm>
            <a:off x="2567492" y="1773382"/>
            <a:ext cx="8987083" cy="3670167"/>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887"/>
        <p:cNvGrpSpPr/>
        <p:nvPr/>
      </p:nvGrpSpPr>
      <p:grpSpPr>
        <a:xfrm>
          <a:off x="0" y="0"/>
          <a:ext cx="0" cy="0"/>
          <a:chOff x="0" y="0"/>
          <a:chExt cx="0" cy="0"/>
        </a:xfrm>
      </p:grpSpPr>
      <p:sp>
        <p:nvSpPr>
          <p:cNvPr id="888" name="Google Shape;888;p101"/>
          <p:cNvSpPr txBox="1">
            <a:spLocks noGrp="1"/>
          </p:cNvSpPr>
          <p:nvPr>
            <p:ph type="title"/>
          </p:nvPr>
        </p:nvSpPr>
        <p:spPr>
          <a:xfrm>
            <a:off x="2470509" y="652794"/>
            <a:ext cx="7024744" cy="745152"/>
          </a:xfrm>
          <a:prstGeom prst="rect">
            <a:avLst/>
          </a:prstGeom>
          <a:noFill/>
          <a:ln>
            <a:noFill/>
          </a:ln>
        </p:spPr>
        <p:txBody>
          <a:bodyPr spcFirstLastPara="1" vert="horz" wrap="square" lIns="91425" tIns="45700" rIns="91425" bIns="45700" rtlCol="0" anchor="b" anchorCtr="0">
            <a:normAutofit/>
          </a:bodyPr>
          <a:lstStyle/>
          <a:p>
            <a:pPr>
              <a:spcBef>
                <a:spcPts val="0"/>
              </a:spcBef>
              <a:buClr>
                <a:schemeClr val="accent1"/>
              </a:buClr>
              <a:buSzPts val="2400"/>
            </a:pPr>
            <a:r>
              <a:rPr lang="en-US" sz="2400" b="1" dirty="0">
                <a:latin typeface="Bookman Old Style"/>
                <a:ea typeface="Bookman Old Style"/>
                <a:cs typeface="Bookman Old Style"/>
                <a:sym typeface="Bookman Old Style"/>
              </a:rPr>
              <a:t>Semiparametric regression models</a:t>
            </a:r>
            <a:endParaRPr sz="2400" b="1" dirty="0">
              <a:latin typeface="Bookman Old Style"/>
              <a:ea typeface="Bookman Old Style"/>
              <a:cs typeface="Bookman Old Style"/>
              <a:sym typeface="Bookman Old Style"/>
            </a:endParaRPr>
          </a:p>
        </p:txBody>
      </p:sp>
      <p:sp>
        <p:nvSpPr>
          <p:cNvPr id="889" name="Google Shape;889;p101"/>
          <p:cNvSpPr txBox="1">
            <a:spLocks noGrp="1"/>
          </p:cNvSpPr>
          <p:nvPr>
            <p:ph type="body" idx="1"/>
          </p:nvPr>
        </p:nvSpPr>
        <p:spPr>
          <a:xfrm>
            <a:off x="2567491" y="1844825"/>
            <a:ext cx="9139599" cy="3987805"/>
          </a:xfrm>
          <a:prstGeom prst="rect">
            <a:avLst/>
          </a:prstGeom>
          <a:noFill/>
          <a:ln>
            <a:noFill/>
          </a:ln>
        </p:spPr>
        <p:txBody>
          <a:bodyPr spcFirstLastPara="1" vert="horz" wrap="square" lIns="91425" tIns="45700" rIns="91425" bIns="45700" rtlCol="0" anchor="t" anchorCtr="0">
            <a:normAutofit/>
          </a:bodyPr>
          <a:lstStyle/>
          <a:p>
            <a:pPr indent="-274320" algn="just">
              <a:spcBef>
                <a:spcPts val="0"/>
              </a:spcBef>
              <a:buSzPts val="1216"/>
              <a:buChar char="🞇"/>
            </a:pPr>
            <a:r>
              <a:rPr lang="en-US" sz="1600" dirty="0">
                <a:latin typeface="Avenir Next LT Pro" panose="020B0504020202020204" pitchFamily="34" charset="0"/>
                <a:ea typeface="Bookman Old Style"/>
                <a:cs typeface="Bookman Old Style"/>
                <a:sym typeface="Bookman Old Style"/>
              </a:rPr>
              <a:t>Semiparametric regression Deals with the introduction of some very general non-linear functional forms in regression analysis </a:t>
            </a:r>
            <a:endParaRPr sz="1600" dirty="0">
              <a:latin typeface="Avenir Next LT Pro" panose="020B0504020202020204" pitchFamily="34" charset="0"/>
              <a:ea typeface="Bookman Old Style"/>
              <a:cs typeface="Bookman Old Style"/>
              <a:sym typeface="Bookman Old Style"/>
            </a:endParaRPr>
          </a:p>
          <a:p>
            <a:pPr indent="-274320" algn="just">
              <a:spcBef>
                <a:spcPts val="320"/>
              </a:spcBef>
              <a:buSzPts val="1216"/>
              <a:buChar char="🞇"/>
            </a:pPr>
            <a:r>
              <a:rPr lang="en-US" sz="1600" dirty="0">
                <a:latin typeface="Avenir Next LT Pro" panose="020B0504020202020204" pitchFamily="34" charset="0"/>
                <a:ea typeface="Bookman Old Style"/>
                <a:cs typeface="Bookman Old Style"/>
                <a:sym typeface="Bookman Old Style"/>
              </a:rPr>
              <a:t>Generally used to fit a parametric model in which the functional form of a subset of the explanatory variables is not known and/or in which the distribution of the error term cannot be assumed to be of a specific type beforehand. </a:t>
            </a:r>
            <a:endParaRPr sz="1600" dirty="0">
              <a:latin typeface="Avenir Next LT Pro" panose="020B0504020202020204" pitchFamily="34" charset="0"/>
              <a:ea typeface="Bookman Old Style"/>
              <a:cs typeface="Bookman Old Style"/>
              <a:sym typeface="Bookman Old Style"/>
            </a:endParaRPr>
          </a:p>
          <a:p>
            <a:pPr indent="-274320" algn="just">
              <a:spcBef>
                <a:spcPts val="320"/>
              </a:spcBef>
              <a:buSzPts val="1216"/>
              <a:buChar char="🞇"/>
            </a:pPr>
            <a:r>
              <a:rPr lang="en-US" sz="1600" dirty="0">
                <a:latin typeface="Avenir Next LT Pro" panose="020B0504020202020204" pitchFamily="34" charset="0"/>
                <a:ea typeface="Bookman Old Style"/>
                <a:cs typeface="Bookman Old Style"/>
                <a:sym typeface="Bookman Old Style"/>
              </a:rPr>
              <a:t>Most popular semi parametric regression models are the partially linear models and single index models</a:t>
            </a:r>
            <a:endParaRPr sz="1600" dirty="0">
              <a:latin typeface="Avenir Next LT Pro" panose="020B0504020202020204" pitchFamily="34" charset="0"/>
              <a:ea typeface="Bookman Old Style"/>
              <a:cs typeface="Bookman Old Style"/>
              <a:sym typeface="Bookman Old Style"/>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893"/>
        <p:cNvGrpSpPr/>
        <p:nvPr/>
      </p:nvGrpSpPr>
      <p:grpSpPr>
        <a:xfrm>
          <a:off x="0" y="0"/>
          <a:ext cx="0" cy="0"/>
          <a:chOff x="0" y="0"/>
          <a:chExt cx="0" cy="0"/>
        </a:xfrm>
      </p:grpSpPr>
      <p:sp>
        <p:nvSpPr>
          <p:cNvPr id="894" name="Google Shape;894;p102"/>
          <p:cNvSpPr txBox="1">
            <a:spLocks noGrp="1"/>
          </p:cNvSpPr>
          <p:nvPr>
            <p:ph type="title"/>
          </p:nvPr>
        </p:nvSpPr>
        <p:spPr>
          <a:xfrm>
            <a:off x="2567490" y="1027664"/>
            <a:ext cx="7024744" cy="1143000"/>
          </a:xfrm>
          <a:prstGeom prst="rect">
            <a:avLst/>
          </a:prstGeom>
          <a:noFill/>
          <a:ln>
            <a:noFill/>
          </a:ln>
        </p:spPr>
        <p:txBody>
          <a:bodyPr spcFirstLastPara="1" vert="horz" wrap="square" lIns="91425" tIns="45700" rIns="91425" bIns="45700" rtlCol="0" anchor="b" anchorCtr="0">
            <a:normAutofit/>
          </a:bodyPr>
          <a:lstStyle/>
          <a:p>
            <a:pPr>
              <a:spcBef>
                <a:spcPts val="0"/>
              </a:spcBef>
              <a:buClr>
                <a:schemeClr val="accent1"/>
              </a:buClr>
              <a:buSzPts val="4000"/>
            </a:pPr>
            <a:endParaRPr/>
          </a:p>
        </p:txBody>
      </p:sp>
      <p:sp>
        <p:nvSpPr>
          <p:cNvPr id="895" name="Google Shape;895;p102"/>
          <p:cNvSpPr txBox="1">
            <a:spLocks noGrp="1"/>
          </p:cNvSpPr>
          <p:nvPr>
            <p:ph type="body" idx="1"/>
          </p:nvPr>
        </p:nvSpPr>
        <p:spPr>
          <a:xfrm>
            <a:off x="2567493" y="2323653"/>
            <a:ext cx="6777317" cy="3508977"/>
          </a:xfrm>
          <a:prstGeom prst="rect">
            <a:avLst/>
          </a:prstGeom>
          <a:noFill/>
          <a:ln>
            <a:noFill/>
          </a:ln>
        </p:spPr>
        <p:txBody>
          <a:bodyPr spcFirstLastPara="1" vert="horz" wrap="square" lIns="91425" tIns="45700" rIns="91425" bIns="45700" rtlCol="0" anchor="t" anchorCtr="0">
            <a:normAutofit/>
          </a:bodyPr>
          <a:lstStyle/>
          <a:p>
            <a:pPr indent="-158496">
              <a:spcBef>
                <a:spcPts val="0"/>
              </a:spcBef>
              <a:buSzPts val="1824"/>
              <a:buNone/>
            </a:pPr>
            <a:endParaRPr/>
          </a:p>
        </p:txBody>
      </p:sp>
      <p:pic>
        <p:nvPicPr>
          <p:cNvPr id="896" name="Google Shape;896;p102"/>
          <p:cNvPicPr preferRelativeResize="0"/>
          <p:nvPr/>
        </p:nvPicPr>
        <p:blipFill rotWithShape="1">
          <a:blip r:embed="rId3">
            <a:alphaModFix/>
          </a:blip>
          <a:srcRect/>
          <a:stretch/>
        </p:blipFill>
        <p:spPr>
          <a:xfrm>
            <a:off x="2495600" y="908721"/>
            <a:ext cx="7272808" cy="4824536"/>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900"/>
        <p:cNvGrpSpPr/>
        <p:nvPr/>
      </p:nvGrpSpPr>
      <p:grpSpPr>
        <a:xfrm>
          <a:off x="0" y="0"/>
          <a:ext cx="0" cy="0"/>
          <a:chOff x="0" y="0"/>
          <a:chExt cx="0" cy="0"/>
        </a:xfrm>
      </p:grpSpPr>
      <p:sp>
        <p:nvSpPr>
          <p:cNvPr id="901" name="Google Shape;901;p103"/>
          <p:cNvSpPr txBox="1">
            <a:spLocks noGrp="1"/>
          </p:cNvSpPr>
          <p:nvPr>
            <p:ph type="title"/>
          </p:nvPr>
        </p:nvSpPr>
        <p:spPr>
          <a:xfrm>
            <a:off x="2567490" y="1027664"/>
            <a:ext cx="7024744" cy="1143000"/>
          </a:xfrm>
          <a:prstGeom prst="rect">
            <a:avLst/>
          </a:prstGeom>
          <a:noFill/>
          <a:ln>
            <a:noFill/>
          </a:ln>
        </p:spPr>
        <p:txBody>
          <a:bodyPr spcFirstLastPara="1" vert="horz" wrap="square" lIns="91425" tIns="45700" rIns="91425" bIns="45700" rtlCol="0" anchor="b" anchorCtr="0">
            <a:normAutofit/>
          </a:bodyPr>
          <a:lstStyle/>
          <a:p>
            <a:pPr>
              <a:spcBef>
                <a:spcPts val="0"/>
              </a:spcBef>
              <a:buClr>
                <a:schemeClr val="accent1"/>
              </a:buClr>
              <a:buSzPts val="4000"/>
            </a:pPr>
            <a:endParaRPr/>
          </a:p>
        </p:txBody>
      </p:sp>
      <p:sp>
        <p:nvSpPr>
          <p:cNvPr id="902" name="Google Shape;902;p103"/>
          <p:cNvSpPr txBox="1">
            <a:spLocks noGrp="1"/>
          </p:cNvSpPr>
          <p:nvPr>
            <p:ph type="body" idx="1"/>
          </p:nvPr>
        </p:nvSpPr>
        <p:spPr>
          <a:xfrm>
            <a:off x="2567493" y="2323653"/>
            <a:ext cx="6777317" cy="3508977"/>
          </a:xfrm>
          <a:prstGeom prst="rect">
            <a:avLst/>
          </a:prstGeom>
          <a:noFill/>
          <a:ln>
            <a:noFill/>
          </a:ln>
        </p:spPr>
        <p:txBody>
          <a:bodyPr spcFirstLastPara="1" vert="horz" wrap="square" lIns="91425" tIns="45700" rIns="91425" bIns="45700" rtlCol="0" anchor="t" anchorCtr="0">
            <a:normAutofit/>
          </a:bodyPr>
          <a:lstStyle/>
          <a:p>
            <a:pPr indent="-158496">
              <a:spcBef>
                <a:spcPts val="0"/>
              </a:spcBef>
              <a:buSzPts val="1824"/>
              <a:buNone/>
            </a:pPr>
            <a:endParaRPr/>
          </a:p>
        </p:txBody>
      </p:sp>
      <p:pic>
        <p:nvPicPr>
          <p:cNvPr id="903" name="Google Shape;903;p103"/>
          <p:cNvPicPr preferRelativeResize="0"/>
          <p:nvPr/>
        </p:nvPicPr>
        <p:blipFill rotWithShape="1">
          <a:blip r:embed="rId3">
            <a:alphaModFix/>
          </a:blip>
          <a:srcRect/>
          <a:stretch/>
        </p:blipFill>
        <p:spPr>
          <a:xfrm>
            <a:off x="2138364" y="908721"/>
            <a:ext cx="7915275" cy="4896543"/>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907"/>
        <p:cNvGrpSpPr/>
        <p:nvPr/>
      </p:nvGrpSpPr>
      <p:grpSpPr>
        <a:xfrm>
          <a:off x="0" y="0"/>
          <a:ext cx="0" cy="0"/>
          <a:chOff x="0" y="0"/>
          <a:chExt cx="0" cy="0"/>
        </a:xfrm>
      </p:grpSpPr>
      <p:pic>
        <p:nvPicPr>
          <p:cNvPr id="910" name="Google Shape;910;p104"/>
          <p:cNvPicPr preferRelativeResize="0"/>
          <p:nvPr/>
        </p:nvPicPr>
        <p:blipFill rotWithShape="1">
          <a:blip r:embed="rId3">
            <a:alphaModFix/>
          </a:blip>
          <a:srcRect/>
          <a:stretch/>
        </p:blipFill>
        <p:spPr>
          <a:xfrm>
            <a:off x="2456770" y="1248901"/>
            <a:ext cx="8945519" cy="2879753"/>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914"/>
        <p:cNvGrpSpPr/>
        <p:nvPr/>
      </p:nvGrpSpPr>
      <p:grpSpPr>
        <a:xfrm>
          <a:off x="0" y="0"/>
          <a:ext cx="0" cy="0"/>
          <a:chOff x="0" y="0"/>
          <a:chExt cx="0" cy="0"/>
        </a:xfrm>
      </p:grpSpPr>
      <p:sp>
        <p:nvSpPr>
          <p:cNvPr id="915" name="Google Shape;915;p105"/>
          <p:cNvSpPr txBox="1">
            <a:spLocks noGrp="1"/>
          </p:cNvSpPr>
          <p:nvPr>
            <p:ph type="title"/>
          </p:nvPr>
        </p:nvSpPr>
        <p:spPr>
          <a:xfrm>
            <a:off x="2147455" y="418064"/>
            <a:ext cx="7389361" cy="817160"/>
          </a:xfrm>
          <a:prstGeom prst="rect">
            <a:avLst/>
          </a:prstGeom>
          <a:noFill/>
          <a:ln>
            <a:noFill/>
          </a:ln>
        </p:spPr>
        <p:txBody>
          <a:bodyPr spcFirstLastPara="1" vert="horz" wrap="square" lIns="91425" tIns="45700" rIns="91425" bIns="45700" rtlCol="0" anchor="b" anchorCtr="0">
            <a:noAutofit/>
          </a:bodyPr>
          <a:lstStyle/>
          <a:p>
            <a:pPr>
              <a:spcBef>
                <a:spcPts val="0"/>
              </a:spcBef>
              <a:buClr>
                <a:schemeClr val="accent1"/>
              </a:buClr>
              <a:buSzPts val="2400"/>
            </a:pPr>
            <a:r>
              <a:rPr lang="en-US" sz="2400" b="1" dirty="0">
                <a:latin typeface="Bookman Old Style"/>
                <a:ea typeface="Bookman Old Style"/>
                <a:cs typeface="Bookman Old Style"/>
                <a:sym typeface="Bookman Old Style"/>
              </a:rPr>
              <a:t>Common Nonparametric Regression Methods</a:t>
            </a:r>
            <a:endParaRPr sz="2400" b="1" dirty="0">
              <a:latin typeface="Bookman Old Style"/>
              <a:ea typeface="Bookman Old Style"/>
              <a:cs typeface="Bookman Old Style"/>
              <a:sym typeface="Bookman Old Style"/>
            </a:endParaRPr>
          </a:p>
        </p:txBody>
      </p:sp>
      <p:sp>
        <p:nvSpPr>
          <p:cNvPr id="916" name="Google Shape;916;p105"/>
          <p:cNvSpPr txBox="1">
            <a:spLocks noGrp="1"/>
          </p:cNvSpPr>
          <p:nvPr>
            <p:ph type="body" idx="1"/>
          </p:nvPr>
        </p:nvSpPr>
        <p:spPr>
          <a:xfrm>
            <a:off x="2567493" y="1772817"/>
            <a:ext cx="8876362" cy="4059813"/>
          </a:xfrm>
          <a:prstGeom prst="rect">
            <a:avLst/>
          </a:prstGeom>
          <a:noFill/>
          <a:ln>
            <a:noFill/>
          </a:ln>
        </p:spPr>
        <p:txBody>
          <a:bodyPr spcFirstLastPara="1" vert="horz" wrap="square" lIns="91425" tIns="45700" rIns="91425" bIns="45700" rtlCol="0" anchor="t" anchorCtr="0">
            <a:normAutofit/>
          </a:bodyPr>
          <a:lstStyle/>
          <a:p>
            <a:pPr indent="-274320" algn="just">
              <a:lnSpc>
                <a:spcPct val="150000"/>
              </a:lnSpc>
              <a:spcBef>
                <a:spcPts val="0"/>
              </a:spcBef>
              <a:buSzPts val="1064"/>
              <a:buChar char="🞇"/>
            </a:pPr>
            <a:r>
              <a:rPr lang="en-US" dirty="0">
                <a:latin typeface="Avenir Next LT Pro" panose="020B0504020202020204" pitchFamily="34" charset="0"/>
                <a:ea typeface="Bookman Old Style"/>
                <a:cs typeface="Bookman Old Style"/>
                <a:sym typeface="Bookman Old Style"/>
              </a:rPr>
              <a:t>Nonparametric regression is a set of regression techniques that do not assume a specific functional form for the relationship between the predictor variables and the target variable. </a:t>
            </a:r>
            <a:endParaRPr dirty="0">
              <a:latin typeface="Avenir Next LT Pro" panose="020B0504020202020204" pitchFamily="34" charset="0"/>
              <a:ea typeface="Bookman Old Style"/>
              <a:cs typeface="Bookman Old Style"/>
              <a:sym typeface="Bookman Old Style"/>
            </a:endParaRPr>
          </a:p>
          <a:p>
            <a:pPr indent="-274320" algn="just">
              <a:lnSpc>
                <a:spcPct val="150000"/>
              </a:lnSpc>
              <a:spcBef>
                <a:spcPts val="280"/>
              </a:spcBef>
              <a:buSzPts val="1064"/>
              <a:buChar char="🞇"/>
            </a:pPr>
            <a:r>
              <a:rPr lang="en-US" dirty="0">
                <a:latin typeface="Avenir Next LT Pro" panose="020B0504020202020204" pitchFamily="34" charset="0"/>
                <a:ea typeface="Bookman Old Style"/>
                <a:cs typeface="Bookman Old Style"/>
                <a:sym typeface="Bookman Old Style"/>
              </a:rPr>
              <a:t>Instead, these methods are flexible and allow the data to determine the form of the relationship.</a:t>
            </a:r>
            <a:endParaRPr sz="2400" dirty="0">
              <a:latin typeface="Avenir Next LT Pro" panose="020B0504020202020204" pitchFamily="34" charset="0"/>
            </a:endParaRPr>
          </a:p>
          <a:p>
            <a:pPr indent="-274320" algn="just">
              <a:lnSpc>
                <a:spcPct val="150000"/>
              </a:lnSpc>
              <a:spcBef>
                <a:spcPts val="280"/>
              </a:spcBef>
              <a:buSzPts val="1064"/>
              <a:buChar char="🞇"/>
            </a:pPr>
            <a:r>
              <a:rPr lang="en-US" dirty="0">
                <a:latin typeface="Avenir Next LT Pro" panose="020B0504020202020204" pitchFamily="34" charset="0"/>
                <a:ea typeface="Bookman Old Style"/>
                <a:cs typeface="Bookman Old Style"/>
                <a:sym typeface="Bookman Old Style"/>
              </a:rPr>
              <a:t> Nonparametric regression can capture complex, nonlinear relationships that might be difficult to model using traditional parametric methods.</a:t>
            </a:r>
            <a:endParaRPr dirty="0">
              <a:latin typeface="Avenir Next LT Pro" panose="020B0504020202020204" pitchFamily="34" charset="0"/>
              <a:ea typeface="Bookman Old Style"/>
              <a:cs typeface="Bookman Old Style"/>
              <a:sym typeface="Bookman Old Style"/>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920"/>
        <p:cNvGrpSpPr/>
        <p:nvPr/>
      </p:nvGrpSpPr>
      <p:grpSpPr>
        <a:xfrm>
          <a:off x="0" y="0"/>
          <a:ext cx="0" cy="0"/>
          <a:chOff x="0" y="0"/>
          <a:chExt cx="0" cy="0"/>
        </a:xfrm>
      </p:grpSpPr>
      <p:sp>
        <p:nvSpPr>
          <p:cNvPr id="921" name="Google Shape;921;p106"/>
          <p:cNvSpPr txBox="1">
            <a:spLocks noGrp="1"/>
          </p:cNvSpPr>
          <p:nvPr>
            <p:ph type="title"/>
          </p:nvPr>
        </p:nvSpPr>
        <p:spPr>
          <a:xfrm>
            <a:off x="2567493" y="644156"/>
            <a:ext cx="7024744" cy="817160"/>
          </a:xfrm>
          <a:prstGeom prst="rect">
            <a:avLst/>
          </a:prstGeom>
          <a:noFill/>
          <a:ln>
            <a:noFill/>
          </a:ln>
        </p:spPr>
        <p:txBody>
          <a:bodyPr spcFirstLastPara="1" vert="horz" wrap="square" lIns="91425" tIns="45700" rIns="91425" bIns="45700" rtlCol="0" anchor="b" anchorCtr="0">
            <a:normAutofit fontScale="90000"/>
          </a:bodyPr>
          <a:lstStyle/>
          <a:p>
            <a:pPr>
              <a:spcBef>
                <a:spcPts val="0"/>
              </a:spcBef>
              <a:buClr>
                <a:schemeClr val="accent1"/>
              </a:buClr>
              <a:buSzPct val="100000"/>
            </a:pPr>
            <a:r>
              <a:rPr lang="en-US" sz="2400" b="1" dirty="0">
                <a:latin typeface="Bookman Old Style"/>
                <a:ea typeface="Bookman Old Style"/>
                <a:cs typeface="Bookman Old Style"/>
                <a:sym typeface="Bookman Old Style"/>
              </a:rPr>
              <a:t>Common Nonparametric Regression Methods</a:t>
            </a:r>
            <a:endParaRPr dirty="0"/>
          </a:p>
        </p:txBody>
      </p:sp>
      <p:sp>
        <p:nvSpPr>
          <p:cNvPr id="922" name="Google Shape;922;p106"/>
          <p:cNvSpPr txBox="1">
            <a:spLocks noGrp="1"/>
          </p:cNvSpPr>
          <p:nvPr>
            <p:ph type="body" idx="1"/>
          </p:nvPr>
        </p:nvSpPr>
        <p:spPr>
          <a:xfrm>
            <a:off x="2567493" y="2323653"/>
            <a:ext cx="6777317" cy="3508977"/>
          </a:xfrm>
          <a:prstGeom prst="rect">
            <a:avLst/>
          </a:prstGeom>
          <a:noFill/>
          <a:ln>
            <a:noFill/>
          </a:ln>
        </p:spPr>
        <p:txBody>
          <a:bodyPr spcFirstLastPara="1" vert="horz" wrap="square" lIns="91425" tIns="45700" rIns="91425" bIns="45700" rtlCol="0" anchor="t" anchorCtr="0">
            <a:normAutofit/>
          </a:bodyPr>
          <a:lstStyle/>
          <a:p>
            <a:pPr indent="-158496">
              <a:spcBef>
                <a:spcPts val="0"/>
              </a:spcBef>
              <a:buSzPts val="1824"/>
              <a:buNone/>
            </a:pPr>
            <a:endParaRPr/>
          </a:p>
        </p:txBody>
      </p:sp>
      <p:pic>
        <p:nvPicPr>
          <p:cNvPr id="923" name="Google Shape;923;p106"/>
          <p:cNvPicPr preferRelativeResize="0"/>
          <p:nvPr/>
        </p:nvPicPr>
        <p:blipFill rotWithShape="1">
          <a:blip r:embed="rId3">
            <a:alphaModFix/>
          </a:blip>
          <a:srcRect/>
          <a:stretch/>
        </p:blipFill>
        <p:spPr>
          <a:xfrm>
            <a:off x="2314575" y="2204864"/>
            <a:ext cx="7562850" cy="360040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927"/>
        <p:cNvGrpSpPr/>
        <p:nvPr/>
      </p:nvGrpSpPr>
      <p:grpSpPr>
        <a:xfrm>
          <a:off x="0" y="0"/>
          <a:ext cx="0" cy="0"/>
          <a:chOff x="0" y="0"/>
          <a:chExt cx="0" cy="0"/>
        </a:xfrm>
      </p:grpSpPr>
      <p:sp>
        <p:nvSpPr>
          <p:cNvPr id="928" name="Google Shape;928;p107"/>
          <p:cNvSpPr txBox="1">
            <a:spLocks noGrp="1"/>
          </p:cNvSpPr>
          <p:nvPr>
            <p:ph type="title"/>
          </p:nvPr>
        </p:nvSpPr>
        <p:spPr>
          <a:xfrm>
            <a:off x="2567490" y="1027664"/>
            <a:ext cx="7024744" cy="1143000"/>
          </a:xfrm>
          <a:prstGeom prst="rect">
            <a:avLst/>
          </a:prstGeom>
          <a:noFill/>
          <a:ln>
            <a:noFill/>
          </a:ln>
        </p:spPr>
        <p:txBody>
          <a:bodyPr spcFirstLastPara="1" vert="horz" wrap="square" lIns="91425" tIns="45700" rIns="91425" bIns="45700" rtlCol="0" anchor="b" anchorCtr="0">
            <a:normAutofit/>
          </a:bodyPr>
          <a:lstStyle/>
          <a:p>
            <a:pPr>
              <a:spcBef>
                <a:spcPts val="0"/>
              </a:spcBef>
              <a:buClr>
                <a:schemeClr val="accent1"/>
              </a:buClr>
              <a:buSzPts val="4000"/>
            </a:pPr>
            <a:endParaRPr/>
          </a:p>
        </p:txBody>
      </p:sp>
      <p:sp>
        <p:nvSpPr>
          <p:cNvPr id="929" name="Google Shape;929;p107"/>
          <p:cNvSpPr txBox="1">
            <a:spLocks noGrp="1"/>
          </p:cNvSpPr>
          <p:nvPr>
            <p:ph type="body" idx="1"/>
          </p:nvPr>
        </p:nvSpPr>
        <p:spPr>
          <a:xfrm>
            <a:off x="2567493" y="2323653"/>
            <a:ext cx="6777317" cy="3508977"/>
          </a:xfrm>
          <a:prstGeom prst="rect">
            <a:avLst/>
          </a:prstGeom>
          <a:noFill/>
          <a:ln>
            <a:noFill/>
          </a:ln>
        </p:spPr>
        <p:txBody>
          <a:bodyPr spcFirstLastPara="1" vert="horz" wrap="square" lIns="91425" tIns="45700" rIns="91425" bIns="45700" rtlCol="0" anchor="t" anchorCtr="0">
            <a:normAutofit/>
          </a:bodyPr>
          <a:lstStyle/>
          <a:p>
            <a:pPr indent="-158496">
              <a:spcBef>
                <a:spcPts val="0"/>
              </a:spcBef>
              <a:buSzPts val="1824"/>
              <a:buNone/>
            </a:pPr>
            <a:endParaRPr/>
          </a:p>
        </p:txBody>
      </p:sp>
      <p:pic>
        <p:nvPicPr>
          <p:cNvPr id="930" name="Google Shape;930;p107"/>
          <p:cNvPicPr preferRelativeResize="0"/>
          <p:nvPr/>
        </p:nvPicPr>
        <p:blipFill rotWithShape="1">
          <a:blip r:embed="rId3">
            <a:alphaModFix/>
          </a:blip>
          <a:srcRect/>
          <a:stretch/>
        </p:blipFill>
        <p:spPr>
          <a:xfrm>
            <a:off x="2324100" y="1052736"/>
            <a:ext cx="7543800" cy="4896544"/>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934"/>
        <p:cNvGrpSpPr/>
        <p:nvPr/>
      </p:nvGrpSpPr>
      <p:grpSpPr>
        <a:xfrm>
          <a:off x="0" y="0"/>
          <a:ext cx="0" cy="0"/>
          <a:chOff x="0" y="0"/>
          <a:chExt cx="0" cy="0"/>
        </a:xfrm>
      </p:grpSpPr>
      <p:sp>
        <p:nvSpPr>
          <p:cNvPr id="935" name="Google Shape;935;p108"/>
          <p:cNvSpPr txBox="1">
            <a:spLocks noGrp="1"/>
          </p:cNvSpPr>
          <p:nvPr>
            <p:ph type="title"/>
          </p:nvPr>
        </p:nvSpPr>
        <p:spPr>
          <a:xfrm>
            <a:off x="2567490" y="1027664"/>
            <a:ext cx="7024744" cy="1143000"/>
          </a:xfrm>
          <a:prstGeom prst="rect">
            <a:avLst/>
          </a:prstGeom>
          <a:noFill/>
          <a:ln>
            <a:noFill/>
          </a:ln>
        </p:spPr>
        <p:txBody>
          <a:bodyPr spcFirstLastPara="1" vert="horz" wrap="square" lIns="91425" tIns="45700" rIns="91425" bIns="45700" rtlCol="0" anchor="b" anchorCtr="0">
            <a:normAutofit/>
          </a:bodyPr>
          <a:lstStyle/>
          <a:p>
            <a:pPr>
              <a:spcBef>
                <a:spcPts val="0"/>
              </a:spcBef>
              <a:buClr>
                <a:schemeClr val="accent1"/>
              </a:buClr>
              <a:buSzPts val="4000"/>
            </a:pPr>
            <a:endParaRPr/>
          </a:p>
        </p:txBody>
      </p:sp>
      <p:sp>
        <p:nvSpPr>
          <p:cNvPr id="936" name="Google Shape;936;p108"/>
          <p:cNvSpPr txBox="1">
            <a:spLocks noGrp="1"/>
          </p:cNvSpPr>
          <p:nvPr>
            <p:ph type="body" idx="1"/>
          </p:nvPr>
        </p:nvSpPr>
        <p:spPr>
          <a:xfrm>
            <a:off x="2567493" y="2323653"/>
            <a:ext cx="6777317" cy="3508977"/>
          </a:xfrm>
          <a:prstGeom prst="rect">
            <a:avLst/>
          </a:prstGeom>
          <a:noFill/>
          <a:ln>
            <a:noFill/>
          </a:ln>
        </p:spPr>
        <p:txBody>
          <a:bodyPr spcFirstLastPara="1" vert="horz" wrap="square" lIns="91425" tIns="45700" rIns="91425" bIns="45700" rtlCol="0" anchor="t" anchorCtr="0">
            <a:normAutofit/>
          </a:bodyPr>
          <a:lstStyle/>
          <a:p>
            <a:pPr indent="-158496">
              <a:spcBef>
                <a:spcPts val="0"/>
              </a:spcBef>
              <a:buSzPts val="1824"/>
              <a:buNone/>
            </a:pPr>
            <a:endParaRPr/>
          </a:p>
        </p:txBody>
      </p:sp>
      <p:pic>
        <p:nvPicPr>
          <p:cNvPr id="937" name="Google Shape;937;p108"/>
          <p:cNvPicPr preferRelativeResize="0"/>
          <p:nvPr/>
        </p:nvPicPr>
        <p:blipFill rotWithShape="1">
          <a:blip r:embed="rId3">
            <a:alphaModFix/>
          </a:blip>
          <a:srcRect/>
          <a:stretch/>
        </p:blipFill>
        <p:spPr>
          <a:xfrm>
            <a:off x="2114550" y="980728"/>
            <a:ext cx="7962900" cy="4896544"/>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1EDB2D9D-BF18-4D0B-BB06-7A41A875731B}"/>
              </a:ext>
            </a:extLst>
          </p:cNvPr>
          <p:cNvSpPr>
            <a:spLocks noGrp="1" noChangeArrowheads="1"/>
          </p:cNvSpPr>
          <p:nvPr>
            <p:ph idx="1"/>
          </p:nvPr>
        </p:nvSpPr>
        <p:spPr bwMode="auto">
          <a:xfrm>
            <a:off x="1560680" y="766733"/>
            <a:ext cx="10094293"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chemeClr val="tx1"/>
                </a:solidFill>
                <a:effectLst/>
                <a:latin typeface="Avenir Next LT Pro" panose="020B0504020202020204" pitchFamily="34" charset="0"/>
              </a:rPr>
              <a:t>APPLICATIONS</a:t>
            </a:r>
          </a:p>
          <a:p>
            <a:pPr marL="0" marR="0" lvl="0" indent="0" algn="ctr" defTabSz="914400" rtl="0" eaLnBrk="0" fontAlgn="base" latinLnBrk="0" hangingPunct="0">
              <a:lnSpc>
                <a:spcPct val="100000"/>
              </a:lnSpc>
              <a:spcBef>
                <a:spcPct val="0"/>
              </a:spcBef>
              <a:spcAft>
                <a:spcPct val="0"/>
              </a:spcAft>
              <a:buClrTx/>
              <a:buSzTx/>
              <a:buFontTx/>
              <a:buNone/>
              <a:tabLst/>
            </a:pPr>
            <a:endParaRPr lang="en-US" altLang="en-US" sz="3200" b="1" dirty="0">
              <a:solidFill>
                <a:schemeClr val="tx1"/>
              </a:solidFill>
              <a:latin typeface="Avenir Next LT Pro" panose="020B05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3200" b="1" i="0" u="none" strike="noStrike" cap="none" normalizeH="0" baseline="0" dirty="0">
              <a:ln>
                <a:noFill/>
              </a:ln>
              <a:solidFill>
                <a:schemeClr val="tx1"/>
              </a:solidFill>
              <a:effectLst/>
              <a:latin typeface="Avenir Next LT Pro" panose="020B05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dirty="0">
                <a:ln>
                  <a:noFill/>
                </a:ln>
                <a:solidFill>
                  <a:schemeClr val="tx1"/>
                </a:solidFill>
                <a:effectLst/>
                <a:latin typeface="Arial" panose="020B0604020202020204" pitchFamily="34" charset="0"/>
              </a:rPr>
              <a:t>1. </a:t>
            </a:r>
            <a:r>
              <a:rPr kumimoji="0" lang="en-US" altLang="en-US" sz="1600" b="1" i="0" u="none" strike="noStrike" cap="none" normalizeH="0" baseline="0" dirty="0">
                <a:ln>
                  <a:noFill/>
                </a:ln>
                <a:solidFill>
                  <a:schemeClr val="tx1"/>
                </a:solidFill>
                <a:effectLst/>
                <a:latin typeface="Avenir Next LT Pro" panose="020B0504020202020204" pitchFamily="34" charset="0"/>
              </a:rPr>
              <a:t>Newton-Raphson Method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venir Next LT Pro" panose="020B0504020202020204" pitchFamily="34" charset="0"/>
              </a:rPr>
              <a:t>This method is a root-finding algorithm and is widely used in optimization problems where the objective is to find the root of the derivative of a function (minimizing or maximizing it).</a:t>
            </a:r>
            <a:endParaRPr kumimoji="0" lang="en-US" altLang="en-US" sz="1600" b="1" i="0" u="none" strike="noStrike" cap="none" normalizeH="0" baseline="0" dirty="0">
              <a:ln>
                <a:noFill/>
              </a:ln>
              <a:solidFill>
                <a:schemeClr val="tx1"/>
              </a:solidFill>
              <a:effectLst/>
              <a:latin typeface="Avenir Next LT Pro" panose="020B05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venir Next LT Pro" panose="020B0504020202020204" pitchFamily="34" charset="0"/>
              </a:rPr>
              <a:t>Applications: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venir Next LT Pro" panose="020B0504020202020204" pitchFamily="34" charset="0"/>
              </a:rPr>
              <a:t>Regression Analysis</a:t>
            </a:r>
            <a:r>
              <a:rPr kumimoji="0" lang="en-US" altLang="en-US" sz="1600" b="0" i="0" u="none" strike="noStrike" cap="none" normalizeH="0" baseline="0" dirty="0">
                <a:ln>
                  <a:noFill/>
                </a:ln>
                <a:solidFill>
                  <a:schemeClr val="tx1"/>
                </a:solidFill>
                <a:effectLst/>
                <a:latin typeface="Avenir Next LT Pro" panose="020B05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venir Next LT Pro" panose="020B0504020202020204" pitchFamily="34" charset="0"/>
              </a:rPr>
              <a:t>Used to fit non-linear models by minimizing the residual sum of squares.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venir Next LT Pro" panose="020B0504020202020204" pitchFamily="34" charset="0"/>
              </a:rPr>
              <a:t>Machine Learning Algorithms</a:t>
            </a:r>
            <a:r>
              <a:rPr kumimoji="0" lang="en-US" altLang="en-US" sz="1600" b="0" i="0" u="none" strike="noStrike" cap="none" normalizeH="0" baseline="0" dirty="0">
                <a:ln>
                  <a:noFill/>
                </a:ln>
                <a:solidFill>
                  <a:schemeClr val="tx1"/>
                </a:solidFill>
                <a:effectLst/>
                <a:latin typeface="Avenir Next LT Pro" panose="020B05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venir Next LT Pro" panose="020B0504020202020204" pitchFamily="34" charset="0"/>
              </a:rPr>
              <a:t>Logistic regression and neural network training leverage the Newton-Raphson method for finding optimal weights.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venir Next LT Pro" panose="020B0504020202020204" pitchFamily="34" charset="0"/>
              </a:rPr>
              <a:t>Time Series Analysis</a:t>
            </a:r>
            <a:r>
              <a:rPr kumimoji="0" lang="en-US" altLang="en-US" sz="1600" b="0" i="0" u="none" strike="noStrike" cap="none" normalizeH="0" baseline="0" dirty="0">
                <a:ln>
                  <a:noFill/>
                </a:ln>
                <a:solidFill>
                  <a:schemeClr val="tx1"/>
                </a:solidFill>
                <a:effectLst/>
                <a:latin typeface="Avenir Next LT Pro" panose="020B05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venir Next LT Pro" panose="020B0504020202020204" pitchFamily="34" charset="0"/>
              </a:rPr>
              <a:t>Estimation of parameters in ARIMA and other time-series models.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venir Next LT Pro" panose="020B0504020202020204" pitchFamily="34" charset="0"/>
              </a:rPr>
              <a:t>Optimization in Data Mining</a:t>
            </a:r>
            <a:r>
              <a:rPr kumimoji="0" lang="en-US" altLang="en-US" sz="1600" b="0" i="0" u="none" strike="noStrike" cap="none" normalizeH="0" baseline="0" dirty="0">
                <a:ln>
                  <a:noFill/>
                </a:ln>
                <a:solidFill>
                  <a:schemeClr val="tx1"/>
                </a:solidFill>
                <a:effectLst/>
                <a:latin typeface="Avenir Next LT Pro" panose="020B05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venir Next LT Pro" panose="020B0504020202020204" pitchFamily="34" charset="0"/>
              </a:rPr>
              <a:t>Fine-tuning parameters of models to find the best fit.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0596984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5D58F42C-2815-4E73-A040-8BD6B39EC94E}"/>
              </a:ext>
            </a:extLst>
          </p:cNvPr>
          <p:cNvSpPr>
            <a:spLocks noChangeArrowheads="1"/>
          </p:cNvSpPr>
          <p:nvPr/>
        </p:nvSpPr>
        <p:spPr bwMode="auto">
          <a:xfrm>
            <a:off x="887753" y="1254829"/>
            <a:ext cx="10738190"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dirty="0">
                <a:ln>
                  <a:noFill/>
                </a:ln>
                <a:solidFill>
                  <a:schemeClr val="tx1"/>
                </a:solidFill>
                <a:effectLst/>
                <a:latin typeface="Arial" panose="020B0604020202020204" pitchFamily="34" charset="0"/>
              </a:rPr>
              <a:t>2. </a:t>
            </a:r>
            <a:r>
              <a:rPr kumimoji="0" lang="en-US" altLang="en-US" sz="1600" b="1" i="0" u="none" strike="noStrike" cap="none" normalizeH="0" baseline="0" dirty="0">
                <a:ln>
                  <a:noFill/>
                </a:ln>
                <a:solidFill>
                  <a:schemeClr val="tx1"/>
                </a:solidFill>
                <a:effectLst/>
                <a:latin typeface="Avenir Next LT Pro" panose="020B0504020202020204" pitchFamily="34" charset="0"/>
              </a:rPr>
              <a:t>Steepest Descent Method</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Avenir Next LT Pro" panose="020B05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venir Next LT Pro" panose="020B0504020202020204" pitchFamily="34" charset="0"/>
              </a:rPr>
              <a:t>Also called gradient descent, this iterative optimization algorithm minimizes functions by moving in the direction of the steepest decrease of the objective function.</a:t>
            </a:r>
            <a:endParaRPr kumimoji="0" lang="en-US" altLang="en-US" sz="1600" b="1" i="0" u="none" strike="noStrike" cap="none" normalizeH="0" baseline="0" dirty="0">
              <a:ln>
                <a:noFill/>
              </a:ln>
              <a:solidFill>
                <a:schemeClr val="tx1"/>
              </a:solidFill>
              <a:effectLst/>
              <a:latin typeface="Avenir Next LT Pro" panose="020B05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Avenir Next LT Pro" panose="020B05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venir Next LT Pro" panose="020B0504020202020204" pitchFamily="34" charset="0"/>
              </a:rPr>
              <a:t>Applications: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Avenir Next LT Pro" panose="020B05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venir Next LT Pro" panose="020B0504020202020204" pitchFamily="34" charset="0"/>
              </a:rPr>
              <a:t>Training Machine Learning Models</a:t>
            </a:r>
            <a:r>
              <a:rPr kumimoji="0" lang="en-US" altLang="en-US" sz="1600" b="0" i="0" u="none" strike="noStrike" cap="none" normalizeH="0" baseline="0" dirty="0">
                <a:ln>
                  <a:noFill/>
                </a:ln>
                <a:solidFill>
                  <a:schemeClr val="tx1"/>
                </a:solidFill>
                <a:effectLst/>
                <a:latin typeface="Avenir Next LT Pro" panose="020B0504020202020204" pitchFamily="34" charset="0"/>
              </a:rPr>
              <a:t>:</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venir Next LT Pro" panose="020B0504020202020204" pitchFamily="34" charset="0"/>
              </a:rPr>
              <a:t>Used extensively in linear regression, logistic regression, and deep learning to minimize the loss function.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venir Next LT Pro" panose="020B0504020202020204" pitchFamily="34" charset="0"/>
              </a:rPr>
              <a:t>Clustering Algorithms</a:t>
            </a:r>
            <a:r>
              <a:rPr kumimoji="0" lang="en-US" altLang="en-US" sz="1600" b="0" i="0" u="none" strike="noStrike" cap="none" normalizeH="0" baseline="0" dirty="0">
                <a:ln>
                  <a:noFill/>
                </a:ln>
                <a:solidFill>
                  <a:schemeClr val="tx1"/>
                </a:solidFill>
                <a:effectLst/>
                <a:latin typeface="Avenir Next LT Pro" panose="020B0504020202020204" pitchFamily="34" charset="0"/>
              </a:rPr>
              <a:t>:</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venir Next LT Pro" panose="020B0504020202020204" pitchFamily="34" charset="0"/>
              </a:rPr>
              <a:t>Applied in optimizing centroids in k-means clustering.</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venir Next LT Pro" panose="020B0504020202020204" pitchFamily="34" charset="0"/>
              </a:rPr>
              <a:t>Recommendation Systems</a:t>
            </a:r>
            <a:r>
              <a:rPr kumimoji="0" lang="en-US" altLang="en-US" sz="1600" b="0" i="0" u="none" strike="noStrike" cap="none" normalizeH="0" baseline="0" dirty="0">
                <a:ln>
                  <a:noFill/>
                </a:ln>
                <a:solidFill>
                  <a:schemeClr val="tx1"/>
                </a:solidFill>
                <a:effectLst/>
                <a:latin typeface="Avenir Next LT Pro" panose="020B0504020202020204" pitchFamily="34" charset="0"/>
              </a:rPr>
              <a:t>:</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venir Next LT Pro" panose="020B0504020202020204" pitchFamily="34" charset="0"/>
              </a:rPr>
              <a:t>Finding optimal parameters in collaborative filtering methods.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venir Next LT Pro" panose="020B0504020202020204" pitchFamily="34" charset="0"/>
              </a:rPr>
              <a:t>Natural Language Processing (NLP)</a:t>
            </a:r>
            <a:r>
              <a:rPr kumimoji="0" lang="en-US" altLang="en-US" sz="1600" b="0" i="0" u="none" strike="noStrike" cap="none" normalizeH="0" baseline="0" dirty="0">
                <a:ln>
                  <a:noFill/>
                </a:ln>
                <a:solidFill>
                  <a:schemeClr val="tx1"/>
                </a:solidFill>
                <a:effectLst/>
                <a:latin typeface="Avenir Next LT Pro" panose="020B0504020202020204" pitchFamily="34" charset="0"/>
              </a:rPr>
              <a:t>:</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venir Next LT Pro" panose="020B0504020202020204" pitchFamily="34" charset="0"/>
              </a:rPr>
              <a:t>Optimizing word embeddings and other feature representations.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1573245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6F414813-4479-4CC5-838C-C95AE9D644BE}"/>
              </a:ext>
            </a:extLst>
          </p:cNvPr>
          <p:cNvSpPr>
            <a:spLocks noGrp="1" noChangeArrowheads="1"/>
          </p:cNvSpPr>
          <p:nvPr>
            <p:ph idx="1"/>
          </p:nvPr>
        </p:nvSpPr>
        <p:spPr bwMode="auto">
          <a:xfrm>
            <a:off x="1536701" y="1084519"/>
            <a:ext cx="9944100" cy="4308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dirty="0">
                <a:ln>
                  <a:noFill/>
                </a:ln>
                <a:solidFill>
                  <a:schemeClr val="tx1"/>
                </a:solidFill>
                <a:effectLst/>
                <a:latin typeface="Arial" panose="020B0604020202020204" pitchFamily="34" charset="0"/>
              </a:rPr>
              <a:t>3. </a:t>
            </a:r>
            <a:r>
              <a:rPr kumimoji="0" lang="en-US" altLang="en-US" sz="1600" b="1" i="0" u="none" strike="noStrike" cap="none" normalizeH="0" baseline="0" dirty="0">
                <a:ln>
                  <a:noFill/>
                </a:ln>
                <a:solidFill>
                  <a:schemeClr val="tx1"/>
                </a:solidFill>
                <a:effectLst/>
                <a:latin typeface="Avenir Next LT Pro" panose="020B0504020202020204" pitchFamily="34" charset="0"/>
              </a:rPr>
              <a:t>Marquardt Method (Levenberg-Marquardt Algorithm)</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Avenir Next LT Pro" panose="020B05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venir Next LT Pro" panose="020B0504020202020204" pitchFamily="34" charset="0"/>
              </a:rPr>
              <a:t>This method is a hybrid of the Newton-Raphson and Steepest Descent, often used in non-linear least squares optimization problems.</a:t>
            </a:r>
            <a:endParaRPr kumimoji="0" lang="en-US" altLang="en-US" sz="1600" b="1" i="0" u="none" strike="noStrike" cap="none" normalizeH="0" baseline="0" dirty="0">
              <a:ln>
                <a:noFill/>
              </a:ln>
              <a:solidFill>
                <a:schemeClr val="tx1"/>
              </a:solidFill>
              <a:effectLst/>
              <a:latin typeface="Avenir Next LT Pro" panose="020B05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Avenir Next LT Pro" panose="020B05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venir Next LT Pro" panose="020B0504020202020204" pitchFamily="34" charset="0"/>
              </a:rPr>
              <a:t>Applications: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Avenir Next LT Pro" panose="020B05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venir Next LT Pro" panose="020B0504020202020204" pitchFamily="34" charset="0"/>
              </a:rPr>
              <a:t>Non-Linear Regression</a:t>
            </a:r>
            <a:r>
              <a:rPr kumimoji="0" lang="en-US" altLang="en-US" sz="1600" b="0" i="0" u="none" strike="noStrike" cap="none" normalizeH="0" baseline="0" dirty="0">
                <a:ln>
                  <a:noFill/>
                </a:ln>
                <a:solidFill>
                  <a:schemeClr val="tx1"/>
                </a:solidFill>
                <a:effectLst/>
                <a:latin typeface="Avenir Next LT Pro" panose="020B05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venir Next LT Pro" panose="020B0504020202020204" pitchFamily="34" charset="0"/>
              </a:rPr>
              <a:t>Used to fit complex models where the relationship between variables isn't linear.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venir Next LT Pro" panose="020B0504020202020204" pitchFamily="34" charset="0"/>
              </a:rPr>
              <a:t>Neural Network Training</a:t>
            </a:r>
            <a:r>
              <a:rPr kumimoji="0" lang="en-US" altLang="en-US" sz="1600" b="0" i="0" u="none" strike="noStrike" cap="none" normalizeH="0" baseline="0" dirty="0">
                <a:ln>
                  <a:noFill/>
                </a:ln>
                <a:solidFill>
                  <a:schemeClr val="tx1"/>
                </a:solidFill>
                <a:effectLst/>
                <a:latin typeface="Avenir Next LT Pro" panose="020B05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venir Next LT Pro" panose="020B0504020202020204" pitchFamily="34" charset="0"/>
              </a:rPr>
              <a:t>Specifically used for fine-tuning weights in small-scale problems where convergence speed is critical.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venir Next LT Pro" panose="020B0504020202020204" pitchFamily="34" charset="0"/>
              </a:rPr>
              <a:t>Curve Fitting in Predictive Analytics</a:t>
            </a:r>
            <a:r>
              <a:rPr kumimoji="0" lang="en-US" altLang="en-US" sz="1600" b="0" i="0" u="none" strike="noStrike" cap="none" normalizeH="0" baseline="0" dirty="0">
                <a:ln>
                  <a:noFill/>
                </a:ln>
                <a:solidFill>
                  <a:schemeClr val="tx1"/>
                </a:solidFill>
                <a:effectLst/>
                <a:latin typeface="Avenir Next LT Pro" panose="020B05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venir Next LT Pro" panose="020B0504020202020204" pitchFamily="34" charset="0"/>
              </a:rPr>
              <a:t>Fitting curves to data points in scenarios like growth trends or population modeling.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venir Next LT Pro" panose="020B0504020202020204" pitchFamily="34" charset="0"/>
              </a:rPr>
              <a:t>Optimization in Image and Signal Processing</a:t>
            </a:r>
            <a:r>
              <a:rPr kumimoji="0" lang="en-US" altLang="en-US" sz="1600" b="0" i="0" u="none" strike="noStrike" cap="none" normalizeH="0" baseline="0" dirty="0">
                <a:ln>
                  <a:noFill/>
                </a:ln>
                <a:solidFill>
                  <a:schemeClr val="tx1"/>
                </a:solidFill>
                <a:effectLst/>
                <a:latin typeface="Avenir Next LT Pro" panose="020B05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venir Next LT Pro" panose="020B0504020202020204" pitchFamily="34" charset="0"/>
              </a:rPr>
              <a:t>Used for parameter estimation in models applied to pattern recognition or feature extraction.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53055689"/>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136</TotalTime>
  <Words>2950</Words>
  <Application>Microsoft Office PowerPoint</Application>
  <PresentationFormat>Widescreen</PresentationFormat>
  <Paragraphs>220</Paragraphs>
  <Slides>60</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60</vt:i4>
      </vt:variant>
    </vt:vector>
  </HeadingPairs>
  <TitlesOfParts>
    <vt:vector size="68" baseType="lpstr">
      <vt:lpstr>Arial</vt:lpstr>
      <vt:lpstr>Avenir Next LT Pro</vt:lpstr>
      <vt:lpstr>Bahnschrift</vt:lpstr>
      <vt:lpstr>Bookman Old Style</vt:lpstr>
      <vt:lpstr>Calibri</vt:lpstr>
      <vt:lpstr>Century Gothic</vt:lpstr>
      <vt:lpstr>Wingdings 3</vt:lpstr>
      <vt:lpstr>Wisp</vt:lpstr>
      <vt:lpstr>PowerPoint Presentation</vt:lpstr>
      <vt:lpstr>Contents</vt:lpstr>
      <vt:lpstr>Generalized Linear Model </vt:lpstr>
      <vt:lpstr>PowerPoint Presentation</vt:lpstr>
      <vt:lpstr>PowerPoint Presentation</vt:lpstr>
      <vt:lpstr>Gamma distribution</vt:lpstr>
      <vt:lpstr>PowerPoint Presentation</vt:lpstr>
      <vt:lpstr>Time Series Analysis</vt:lpstr>
      <vt:lpstr>PowerPoint Presentation</vt:lpstr>
      <vt:lpstr>Auto - Covariance</vt:lpstr>
      <vt:lpstr>PowerPoint Presentation</vt:lpstr>
      <vt:lpstr>Applications</vt:lpstr>
      <vt:lpstr>Auto-correlation and their properties</vt:lpstr>
      <vt:lpstr>Definition</vt:lpstr>
      <vt:lpstr>Properties of Autocorrelation</vt:lpstr>
      <vt:lpstr>PowerPoint Presentation</vt:lpstr>
      <vt:lpstr>Exploratory time series analysis</vt:lpstr>
      <vt:lpstr>Steps in Exploratory Time Series Analysis</vt:lpstr>
      <vt:lpstr>PowerPoint Presentation</vt:lpstr>
      <vt:lpstr>Tools for Exploratory Time Series Analysis:</vt:lpstr>
      <vt:lpstr>Test for trend and seasonality</vt:lpstr>
      <vt:lpstr>Exponential and moving Average smoothing</vt:lpstr>
      <vt:lpstr>PowerPoint Presentation</vt:lpstr>
      <vt:lpstr>PowerPoint Presentation</vt:lpstr>
      <vt:lpstr>Moving Average Smoothing</vt:lpstr>
      <vt:lpstr>PowerPoint Presentation</vt:lpstr>
      <vt:lpstr>Holt – Winter smoothing</vt:lpstr>
      <vt:lpstr>PowerPoint Presentation</vt:lpstr>
      <vt:lpstr>Initializing Parameters</vt:lpstr>
      <vt:lpstr>Forecasting based on smoothing</vt:lpstr>
      <vt:lpstr>Exponential Smoothing for Forecasting</vt:lpstr>
      <vt:lpstr>PowerPoint Presentation</vt:lpstr>
      <vt:lpstr>Moving Average Smoothing for Forecasting</vt:lpstr>
      <vt:lpstr>Iterative procedures for NLS</vt:lpstr>
      <vt:lpstr>Iterative Procedures for Nonlinear Least Squares:</vt:lpstr>
      <vt:lpstr>PowerPoint Presentation</vt:lpstr>
      <vt:lpstr>Grid search</vt:lpstr>
      <vt:lpstr>PowerPoint Presentation</vt:lpstr>
      <vt:lpstr>PowerPoint Presentation</vt:lpstr>
      <vt:lpstr>PowerPoint Presentation</vt:lpstr>
      <vt:lpstr>Newton Raphson Method</vt:lpstr>
      <vt:lpstr>PowerPoint Presentation</vt:lpstr>
      <vt:lpstr>Newton Raphson Method Formula</vt:lpstr>
      <vt:lpstr>Newton Raphson Method Calculation</vt:lpstr>
      <vt:lpstr>PowerPoint Presentation</vt:lpstr>
      <vt:lpstr>PowerPoint Presentation</vt:lpstr>
      <vt:lpstr>PowerPoint Presentation</vt:lpstr>
      <vt:lpstr>Nonlinear Steepest-Descent Method </vt:lpstr>
      <vt:lpstr>Marquardt’s methods</vt:lpstr>
      <vt:lpstr>Semiparametric regression models</vt:lpstr>
      <vt:lpstr>PowerPoint Presentation</vt:lpstr>
      <vt:lpstr>PowerPoint Presentation</vt:lpstr>
      <vt:lpstr>PowerPoint Presentation</vt:lpstr>
      <vt:lpstr>Common Nonparametric Regression Methods</vt:lpstr>
      <vt:lpstr>Common Nonparametric Regression Methods</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KARNAM AKHIL 20071D5806</dc:creator>
  <cp:lastModifiedBy>KARNAM AKHIL 20071D5806</cp:lastModifiedBy>
  <cp:revision>70</cp:revision>
  <dcterms:created xsi:type="dcterms:W3CDTF">2024-12-03T15:17:53Z</dcterms:created>
  <dcterms:modified xsi:type="dcterms:W3CDTF">2024-12-03T18:04:20Z</dcterms:modified>
</cp:coreProperties>
</file>