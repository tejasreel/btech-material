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99" r:id="rId18"/>
    <p:sldId id="273" r:id="rId19"/>
    <p:sldId id="274" r:id="rId20"/>
    <p:sldId id="305" r:id="rId21"/>
    <p:sldId id="275" r:id="rId22"/>
    <p:sldId id="276" r:id="rId23"/>
    <p:sldId id="277" r:id="rId24"/>
    <p:sldId id="278" r:id="rId25"/>
    <p:sldId id="300" r:id="rId26"/>
    <p:sldId id="301" r:id="rId27"/>
    <p:sldId id="279" r:id="rId28"/>
    <p:sldId id="280" r:id="rId29"/>
    <p:sldId id="281" r:id="rId30"/>
    <p:sldId id="282" r:id="rId31"/>
    <p:sldId id="283" r:id="rId32"/>
    <p:sldId id="284" r:id="rId33"/>
    <p:sldId id="285" r:id="rId34"/>
    <p:sldId id="286" r:id="rId35"/>
    <p:sldId id="287" r:id="rId36"/>
    <p:sldId id="304" r:id="rId37"/>
    <p:sldId id="288" r:id="rId38"/>
    <p:sldId id="289" r:id="rId39"/>
    <p:sldId id="290" r:id="rId40"/>
    <p:sldId id="291" r:id="rId41"/>
    <p:sldId id="307" r:id="rId42"/>
    <p:sldId id="308" r:id="rId43"/>
    <p:sldId id="309" r:id="rId44"/>
    <p:sldId id="310" r:id="rId45"/>
    <p:sldId id="311" r:id="rId46"/>
    <p:sldId id="312" r:id="rId47"/>
    <p:sldId id="313" r:id="rId48"/>
    <p:sldId id="292" r:id="rId49"/>
    <p:sldId id="306" r:id="rId50"/>
    <p:sldId id="303" r:id="rId51"/>
    <p:sldId id="294" r:id="rId52"/>
    <p:sldId id="296" r:id="rId53"/>
    <p:sldId id="302" r:id="rId54"/>
    <p:sldId id="297" r:id="rId55"/>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p:cViewPr varScale="1">
        <p:scale>
          <a:sx n="98" d="100"/>
          <a:sy n="98" d="100"/>
        </p:scale>
        <p:origin x="104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661695" y="285368"/>
            <a:ext cx="7820609" cy="635000"/>
          </a:xfrm>
          <a:prstGeom prst="rect">
            <a:avLst/>
          </a:prstGeom>
        </p:spPr>
        <p:txBody>
          <a:bodyPr lIns="0" tIns="0" rIns="0" bIns="0"/>
          <a:lstStyle>
            <a:lvl1pPr>
              <a:defRPr sz="4000" b="0" i="0">
                <a:solidFill>
                  <a:srgbClr val="241BA4"/>
                </a:solidFill>
                <a:latin typeface="Carlito"/>
                <a:cs typeface="Carlito"/>
              </a:defRPr>
            </a:lvl1pPr>
          </a:lstStyle>
          <a:p>
            <a:endParaRPr/>
          </a:p>
        </p:txBody>
      </p:sp>
      <p:sp>
        <p:nvSpPr>
          <p:cNvPr id="3" name="Holder 3"/>
          <p:cNvSpPr>
            <a:spLocks noGrp="1"/>
          </p:cNvSpPr>
          <p:nvPr>
            <p:ph type="body" idx="1"/>
          </p:nvPr>
        </p:nvSpPr>
        <p:spPr>
          <a:xfrm>
            <a:off x="601852" y="1644472"/>
            <a:ext cx="7940294" cy="1855470"/>
          </a:xfrm>
          <a:prstGeom prst="rect">
            <a:avLst/>
          </a:prstGeom>
        </p:spPr>
        <p:txBody>
          <a:bodyPr lIns="0" tIns="0" rIns="0" bIns="0"/>
          <a:lstStyle>
            <a:lvl1pPr>
              <a:defRPr sz="2400" b="0" i="0">
                <a:solidFill>
                  <a:schemeClr val="tx1"/>
                </a:solidFill>
                <a:latin typeface="Carlito"/>
                <a:cs typeface="Carlito"/>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11/10/2024</a:t>
            </a:fld>
            <a:endParaRPr lang="en-US"/>
          </a:p>
        </p:txBody>
      </p:sp>
      <p:sp>
        <p:nvSpPr>
          <p:cNvPr id="6" name="Holder 6"/>
          <p:cNvSpPr>
            <a:spLocks noGrp="1"/>
          </p:cNvSpPr>
          <p:nvPr>
            <p:ph type="sldNum" sz="quarter" idx="7"/>
          </p:nvPr>
        </p:nvSpPr>
        <p:spPr>
          <a:xfrm>
            <a:off x="8401557" y="4830038"/>
            <a:ext cx="231775" cy="178435"/>
          </a:xfrm>
          <a:prstGeom prst="rect">
            <a:avLst/>
          </a:prstGeom>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661695" y="285368"/>
            <a:ext cx="7820609" cy="635000"/>
          </a:xfrm>
          <a:prstGeom prst="rect">
            <a:avLst/>
          </a:prstGeom>
        </p:spPr>
        <p:txBody>
          <a:bodyPr lIns="0" tIns="0" rIns="0" bIns="0"/>
          <a:lstStyle>
            <a:lvl1pPr>
              <a:defRPr sz="4000" b="0" i="0">
                <a:solidFill>
                  <a:srgbClr val="241BA4"/>
                </a:solidFill>
                <a:latin typeface="Carlito"/>
                <a:cs typeface="Carlito"/>
              </a:defRPr>
            </a:lvl1pPr>
          </a:lstStyle>
          <a:p>
            <a:endParaRPr/>
          </a:p>
        </p:txBody>
      </p:sp>
      <p:sp>
        <p:nvSpPr>
          <p:cNvPr id="3" name="Holder 3"/>
          <p:cNvSpPr>
            <a:spLocks noGrp="1"/>
          </p:cNvSpPr>
          <p:nvPr>
            <p:ph sz="half" idx="2"/>
          </p:nvPr>
        </p:nvSpPr>
        <p:spPr>
          <a:xfrm>
            <a:off x="535940" y="1074918"/>
            <a:ext cx="3870960" cy="2794635"/>
          </a:xfrm>
          <a:prstGeom prst="rect">
            <a:avLst/>
          </a:prstGeom>
        </p:spPr>
        <p:txBody>
          <a:bodyPr wrap="square" lIns="0" tIns="0" rIns="0" bIns="0">
            <a:spAutoFit/>
          </a:bodyPr>
          <a:lstStyle>
            <a:lvl1pPr>
              <a:defRPr sz="2400" b="1" i="0">
                <a:solidFill>
                  <a:schemeClr val="tx1"/>
                </a:solidFill>
                <a:latin typeface="Carlito"/>
                <a:cs typeface="Carlito"/>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11/10/2024</a:t>
            </a:fld>
            <a:endParaRPr lang="en-US"/>
          </a:p>
        </p:txBody>
      </p:sp>
      <p:sp>
        <p:nvSpPr>
          <p:cNvPr id="7" name="Holder 7"/>
          <p:cNvSpPr>
            <a:spLocks noGrp="1"/>
          </p:cNvSpPr>
          <p:nvPr>
            <p:ph type="sldNum" sz="quarter" idx="7"/>
          </p:nvPr>
        </p:nvSpPr>
        <p:spPr>
          <a:xfrm>
            <a:off x="8401557" y="4830038"/>
            <a:ext cx="231775" cy="178435"/>
          </a:xfrm>
          <a:prstGeom prst="rect">
            <a:avLst/>
          </a:prstGeom>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661695" y="285368"/>
            <a:ext cx="7820609" cy="635000"/>
          </a:xfrm>
          <a:prstGeom prst="rect">
            <a:avLst/>
          </a:prstGeom>
        </p:spPr>
        <p:txBody>
          <a:bodyPr lIns="0" tIns="0" rIns="0" bIns="0"/>
          <a:lstStyle>
            <a:lvl1pPr>
              <a:defRPr sz="4000" b="0" i="0">
                <a:solidFill>
                  <a:srgbClr val="241BA4"/>
                </a:solidFill>
                <a:latin typeface="Carlito"/>
                <a:cs typeface="Carlito"/>
              </a:defRPr>
            </a:lvl1pPr>
          </a:lstStyle>
          <a:p>
            <a:endParaRPr/>
          </a:p>
        </p:txBody>
      </p:sp>
      <p:sp>
        <p:nvSpPr>
          <p:cNvPr id="3" name="Holder 3"/>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11/10/2024</a:t>
            </a:fld>
            <a:endParaRPr lang="en-US"/>
          </a:p>
        </p:txBody>
      </p:sp>
      <p:sp>
        <p:nvSpPr>
          <p:cNvPr id="5" name="Holder 5"/>
          <p:cNvSpPr>
            <a:spLocks noGrp="1"/>
          </p:cNvSpPr>
          <p:nvPr>
            <p:ph type="sldNum" sz="quarter" idx="7"/>
          </p:nvPr>
        </p:nvSpPr>
        <p:spPr>
          <a:xfrm>
            <a:off x="8401557" y="4830038"/>
            <a:ext cx="231775" cy="178435"/>
          </a:xfrm>
          <a:prstGeom prst="rect">
            <a:avLst/>
          </a:prstGeom>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11/10/2024</a:t>
            </a:fld>
            <a:endParaRPr lang="en-US"/>
          </a:p>
        </p:txBody>
      </p:sp>
      <p:sp>
        <p:nvSpPr>
          <p:cNvPr id="4" name="Holder 4"/>
          <p:cNvSpPr>
            <a:spLocks noGrp="1"/>
          </p:cNvSpPr>
          <p:nvPr>
            <p:ph type="sldNum" sz="quarter" idx="7"/>
          </p:nvPr>
        </p:nvSpPr>
        <p:spPr>
          <a:xfrm>
            <a:off x="8401557" y="4830038"/>
            <a:ext cx="231775" cy="178435"/>
          </a:xfrm>
          <a:prstGeom prst="rect">
            <a:avLst/>
          </a:prstGeom>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hyperlink" Target="https://en.wikipedia.org/wiki/Dendrogram"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jpg"/></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stepupanalytics.com/difference-between-k-means-clustering-and-hierarchical-clustering/" TargetMode="External"/><Relationship Id="rId2" Type="http://schemas.openxmlformats.org/officeDocument/2006/relationships/image" Target="../media/image17.jp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www.stat.cmu.edu/~cshalizi/350/lectures/08/lecture-08.pdf"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39.png"/><Relationship Id="rId3" Type="http://schemas.openxmlformats.org/officeDocument/2006/relationships/image" Target="../media/image24.png"/><Relationship Id="rId21" Type="http://schemas.openxmlformats.org/officeDocument/2006/relationships/image" Target="../media/image42.png"/><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image" Target="../media/image38.png"/><Relationship Id="rId25" Type="http://schemas.openxmlformats.org/officeDocument/2006/relationships/image" Target="../media/image46.png"/><Relationship Id="rId2" Type="http://schemas.openxmlformats.org/officeDocument/2006/relationships/image" Target="../media/image23.png"/><Relationship Id="rId16" Type="http://schemas.openxmlformats.org/officeDocument/2006/relationships/image" Target="../media/image37.png"/><Relationship Id="rId20"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24" Type="http://schemas.openxmlformats.org/officeDocument/2006/relationships/image" Target="../media/image45.png"/><Relationship Id="rId5" Type="http://schemas.openxmlformats.org/officeDocument/2006/relationships/image" Target="../media/image26.png"/><Relationship Id="rId15" Type="http://schemas.openxmlformats.org/officeDocument/2006/relationships/image" Target="../media/image36.png"/><Relationship Id="rId23" Type="http://schemas.openxmlformats.org/officeDocument/2006/relationships/image" Target="../media/image44.png"/><Relationship Id="rId10" Type="http://schemas.openxmlformats.org/officeDocument/2006/relationships/image" Target="../media/image31.png"/><Relationship Id="rId19" Type="http://schemas.openxmlformats.org/officeDocument/2006/relationships/image" Target="../media/image40.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 Id="rId22" Type="http://schemas.openxmlformats.org/officeDocument/2006/relationships/image" Target="../media/image4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fastercapital.com/keyword/distance-measure.html" TargetMode="External"/><Relationship Id="rId2" Type="http://schemas.openxmlformats.org/officeDocument/2006/relationships/hyperlink" Target="https://stackabuse.com/hierarchical-clustering-with-python-and-scikit-learn" TargetMode="External"/><Relationship Id="rId1" Type="http://schemas.openxmlformats.org/officeDocument/2006/relationships/slideLayout" Target="../slideLayouts/slideLayout2.xml"/><Relationship Id="rId4" Type="http://schemas.openxmlformats.org/officeDocument/2006/relationships/hyperlink" Target="https://www.linkedin.com/pulse/hierarchical-clustering-simplest-algorithm-suravi-mahanta/"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a:t>
            </a:fld>
            <a:endParaRPr dirty="0"/>
          </a:p>
        </p:txBody>
      </p:sp>
      <p:sp>
        <p:nvSpPr>
          <p:cNvPr id="3" name="object 3"/>
          <p:cNvSpPr txBox="1"/>
          <p:nvPr/>
        </p:nvSpPr>
        <p:spPr>
          <a:xfrm>
            <a:off x="535940" y="1156563"/>
            <a:ext cx="4267200" cy="756920"/>
          </a:xfrm>
          <a:prstGeom prst="rect">
            <a:avLst/>
          </a:prstGeom>
        </p:spPr>
        <p:txBody>
          <a:bodyPr vert="horz" wrap="square" lIns="0" tIns="73660" rIns="0" bIns="0" rtlCol="0">
            <a:spAutoFit/>
          </a:bodyPr>
          <a:lstStyle/>
          <a:p>
            <a:pPr marL="355600" indent="-342900">
              <a:lnSpc>
                <a:spcPct val="100000"/>
              </a:lnSpc>
              <a:spcBef>
                <a:spcPts val="580"/>
              </a:spcBef>
              <a:buFont typeface="Arial"/>
              <a:buChar char="•"/>
              <a:tabLst>
                <a:tab pos="354965" algn="l"/>
                <a:tab pos="355600" algn="l"/>
              </a:tabLst>
            </a:pPr>
            <a:r>
              <a:rPr sz="2000" spc="-5" dirty="0">
                <a:latin typeface="Carlito"/>
                <a:cs typeface="Carlito"/>
              </a:rPr>
              <a:t>Introduction </a:t>
            </a:r>
            <a:r>
              <a:rPr sz="2000" spc="-15" dirty="0">
                <a:latin typeface="Carlito"/>
                <a:cs typeface="Carlito"/>
              </a:rPr>
              <a:t>to </a:t>
            </a:r>
            <a:r>
              <a:rPr sz="2000" spc="-10" dirty="0">
                <a:latin typeface="Carlito"/>
                <a:cs typeface="Carlito"/>
              </a:rPr>
              <a:t>Hierarchical</a:t>
            </a:r>
            <a:r>
              <a:rPr sz="2000" dirty="0">
                <a:latin typeface="Carlito"/>
                <a:cs typeface="Carlito"/>
              </a:rPr>
              <a:t> </a:t>
            </a:r>
            <a:r>
              <a:rPr sz="2000" spc="-10" dirty="0">
                <a:latin typeface="Carlito"/>
                <a:cs typeface="Carlito"/>
              </a:rPr>
              <a:t>clustering</a:t>
            </a:r>
            <a:endParaRPr sz="2000">
              <a:latin typeface="Carlito"/>
              <a:cs typeface="Carlito"/>
            </a:endParaRPr>
          </a:p>
          <a:p>
            <a:pPr marL="355600" indent="-342900">
              <a:lnSpc>
                <a:spcPct val="100000"/>
              </a:lnSpc>
              <a:spcBef>
                <a:spcPts val="480"/>
              </a:spcBef>
              <a:buFont typeface="Arial"/>
              <a:buChar char="•"/>
              <a:tabLst>
                <a:tab pos="354965" algn="l"/>
                <a:tab pos="355600" algn="l"/>
              </a:tabLst>
            </a:pPr>
            <a:r>
              <a:rPr sz="2000" spc="-5" dirty="0">
                <a:latin typeface="Carlito"/>
                <a:cs typeface="Carlito"/>
              </a:rPr>
              <a:t>Partitioning </a:t>
            </a:r>
            <a:r>
              <a:rPr sz="2000" spc="-30" dirty="0">
                <a:latin typeface="Carlito"/>
                <a:cs typeface="Carlito"/>
              </a:rPr>
              <a:t>Vs.</a:t>
            </a:r>
            <a:r>
              <a:rPr sz="2000" spc="5" dirty="0">
                <a:latin typeface="Carlito"/>
                <a:cs typeface="Carlito"/>
              </a:rPr>
              <a:t> </a:t>
            </a:r>
            <a:r>
              <a:rPr sz="2000" spc="-10" dirty="0">
                <a:latin typeface="Carlito"/>
                <a:cs typeface="Carlito"/>
              </a:rPr>
              <a:t>Hierarchical</a:t>
            </a:r>
            <a:endParaRPr sz="2000">
              <a:latin typeface="Carlito"/>
              <a:cs typeface="Carlito"/>
            </a:endParaRPr>
          </a:p>
        </p:txBody>
      </p:sp>
      <p:sp>
        <p:nvSpPr>
          <p:cNvPr id="5" name="object 3">
            <a:extLst>
              <a:ext uri="{FF2B5EF4-FFF2-40B4-BE49-F238E27FC236}">
                <a16:creationId xmlns:a16="http://schemas.microsoft.com/office/drawing/2014/main" id="{F59F06A6-3583-4A61-A810-0769BB7413F4}"/>
              </a:ext>
            </a:extLst>
          </p:cNvPr>
          <p:cNvSpPr txBox="1">
            <a:spLocks noGrp="1"/>
          </p:cNvSpPr>
          <p:nvPr>
            <p:ph type="title"/>
          </p:nvPr>
        </p:nvSpPr>
        <p:spPr>
          <a:xfrm>
            <a:off x="1676401" y="385763"/>
            <a:ext cx="6725156" cy="382156"/>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0000FF"/>
                </a:solidFill>
                <a:latin typeface="Carlito"/>
                <a:cs typeface="Carlito"/>
              </a:rPr>
              <a:t>Hierarchical </a:t>
            </a:r>
            <a:r>
              <a:rPr sz="2400" b="1" spc="-5" dirty="0">
                <a:solidFill>
                  <a:srgbClr val="0000FF"/>
                </a:solidFill>
                <a:latin typeface="Carlito"/>
                <a:cs typeface="Carlito"/>
              </a:rPr>
              <a:t>method </a:t>
            </a:r>
            <a:r>
              <a:rPr sz="2400" b="1" dirty="0">
                <a:solidFill>
                  <a:srgbClr val="0000FF"/>
                </a:solidFill>
                <a:latin typeface="Carlito"/>
                <a:cs typeface="Carlito"/>
              </a:rPr>
              <a:t>of </a:t>
            </a:r>
            <a:r>
              <a:rPr sz="2400" b="1" spc="-10" dirty="0">
                <a:solidFill>
                  <a:srgbClr val="0000FF"/>
                </a:solidFill>
                <a:latin typeface="Carlito"/>
                <a:cs typeface="Carlito"/>
              </a:rPr>
              <a:t>clustering </a:t>
            </a:r>
            <a:r>
              <a:rPr sz="2400" b="1" dirty="0">
                <a:solidFill>
                  <a:srgbClr val="0000FF"/>
                </a:solidFill>
                <a:latin typeface="Carlito"/>
                <a:cs typeface="Carlito"/>
              </a:rPr>
              <a:t>-</a:t>
            </a:r>
            <a:r>
              <a:rPr sz="2400" b="1" spc="-100" dirty="0">
                <a:solidFill>
                  <a:srgbClr val="0000FF"/>
                </a:solidFill>
                <a:latin typeface="Carlito"/>
                <a:cs typeface="Carlito"/>
              </a:rPr>
              <a:t> </a:t>
            </a:r>
            <a:r>
              <a:rPr sz="2400" b="1" dirty="0">
                <a:solidFill>
                  <a:srgbClr val="0000FF"/>
                </a:solidFill>
                <a:latin typeface="Carlito"/>
                <a:cs typeface="Carlito"/>
              </a:rPr>
              <a:t>I</a:t>
            </a:r>
            <a:endParaRPr sz="2400" dirty="0">
              <a:latin typeface="Carlito"/>
              <a:cs typeface="Carlito"/>
            </a:endParaRPr>
          </a:p>
        </p:txBody>
      </p:sp>
      <p:pic>
        <p:nvPicPr>
          <p:cNvPr id="2" name="Picture 1">
            <a:extLst>
              <a:ext uri="{FF2B5EF4-FFF2-40B4-BE49-F238E27FC236}">
                <a16:creationId xmlns:a16="http://schemas.microsoft.com/office/drawing/2014/main" id="{52D36B10-C42F-43C1-8519-530844442C14}"/>
              </a:ext>
            </a:extLst>
          </p:cNvPr>
          <p:cNvPicPr>
            <a:picLocks noChangeAspect="1"/>
          </p:cNvPicPr>
          <p:nvPr/>
        </p:nvPicPr>
        <p:blipFill>
          <a:blip r:embed="rId2"/>
          <a:stretch>
            <a:fillRect/>
          </a:stretch>
        </p:blipFill>
        <p:spPr>
          <a:xfrm>
            <a:off x="1545262" y="1845564"/>
            <a:ext cx="5562600" cy="3133598"/>
          </a:xfrm>
          <a:prstGeom prst="rect">
            <a:avLst/>
          </a:prstGeom>
        </p:spPr>
      </p:pic>
      <p:grpSp>
        <p:nvGrpSpPr>
          <p:cNvPr id="6" name="object 36">
            <a:extLst>
              <a:ext uri="{FF2B5EF4-FFF2-40B4-BE49-F238E27FC236}">
                <a16:creationId xmlns:a16="http://schemas.microsoft.com/office/drawing/2014/main" id="{C4858076-515D-40C9-9157-4BC3530E06BB}"/>
              </a:ext>
            </a:extLst>
          </p:cNvPr>
          <p:cNvGrpSpPr/>
          <p:nvPr/>
        </p:nvGrpSpPr>
        <p:grpSpPr>
          <a:xfrm>
            <a:off x="5668390" y="3710216"/>
            <a:ext cx="1113410" cy="766534"/>
            <a:chOff x="4979670" y="3257550"/>
            <a:chExt cx="1234694" cy="823468"/>
          </a:xfrm>
        </p:grpSpPr>
        <p:sp>
          <p:nvSpPr>
            <p:cNvPr id="7" name="object 37">
              <a:extLst>
                <a:ext uri="{FF2B5EF4-FFF2-40B4-BE49-F238E27FC236}">
                  <a16:creationId xmlns:a16="http://schemas.microsoft.com/office/drawing/2014/main" id="{45ECE9D3-0734-4CF1-9D72-44DE3B02F4C0}"/>
                </a:ext>
              </a:extLst>
            </p:cNvPr>
            <p:cNvSpPr/>
            <p:nvPr/>
          </p:nvSpPr>
          <p:spPr>
            <a:xfrm>
              <a:off x="4979670" y="3257550"/>
              <a:ext cx="1111250" cy="706120"/>
            </a:xfrm>
            <a:custGeom>
              <a:avLst/>
              <a:gdLst/>
              <a:ahLst/>
              <a:cxnLst/>
              <a:rect l="l" t="t" r="r" b="b"/>
              <a:pathLst>
                <a:path w="1111250" h="706120">
                  <a:moveTo>
                    <a:pt x="1040383" y="0"/>
                  </a:moveTo>
                  <a:lnTo>
                    <a:pt x="70612" y="0"/>
                  </a:lnTo>
                  <a:lnTo>
                    <a:pt x="43130" y="5550"/>
                  </a:lnTo>
                  <a:lnTo>
                    <a:pt x="20685" y="20685"/>
                  </a:lnTo>
                  <a:lnTo>
                    <a:pt x="5550" y="43130"/>
                  </a:lnTo>
                  <a:lnTo>
                    <a:pt x="0" y="70612"/>
                  </a:lnTo>
                  <a:lnTo>
                    <a:pt x="0" y="635050"/>
                  </a:lnTo>
                  <a:lnTo>
                    <a:pt x="5550" y="662513"/>
                  </a:lnTo>
                  <a:lnTo>
                    <a:pt x="20685" y="684942"/>
                  </a:lnTo>
                  <a:lnTo>
                    <a:pt x="43130" y="700066"/>
                  </a:lnTo>
                  <a:lnTo>
                    <a:pt x="70612" y="705612"/>
                  </a:lnTo>
                  <a:lnTo>
                    <a:pt x="1040383" y="705612"/>
                  </a:lnTo>
                  <a:lnTo>
                    <a:pt x="1067865" y="700066"/>
                  </a:lnTo>
                  <a:lnTo>
                    <a:pt x="1090310" y="684942"/>
                  </a:lnTo>
                  <a:lnTo>
                    <a:pt x="1105445" y="662513"/>
                  </a:lnTo>
                  <a:lnTo>
                    <a:pt x="1110995" y="635050"/>
                  </a:lnTo>
                  <a:lnTo>
                    <a:pt x="1110995" y="70612"/>
                  </a:lnTo>
                  <a:lnTo>
                    <a:pt x="1105445" y="43130"/>
                  </a:lnTo>
                  <a:lnTo>
                    <a:pt x="1090310" y="20685"/>
                  </a:lnTo>
                  <a:lnTo>
                    <a:pt x="1067865" y="5550"/>
                  </a:lnTo>
                  <a:lnTo>
                    <a:pt x="1040383" y="0"/>
                  </a:lnTo>
                  <a:close/>
                </a:path>
              </a:pathLst>
            </a:custGeom>
            <a:solidFill>
              <a:srgbClr val="4F81BC"/>
            </a:solidFill>
          </p:spPr>
          <p:txBody>
            <a:bodyPr wrap="square" lIns="0" tIns="0" rIns="0" bIns="0" rtlCol="0"/>
            <a:lstStyle/>
            <a:p>
              <a:endParaRPr/>
            </a:p>
          </p:txBody>
        </p:sp>
        <p:sp>
          <p:nvSpPr>
            <p:cNvPr id="8" name="object 38">
              <a:extLst>
                <a:ext uri="{FF2B5EF4-FFF2-40B4-BE49-F238E27FC236}">
                  <a16:creationId xmlns:a16="http://schemas.microsoft.com/office/drawing/2014/main" id="{6AB80A70-31BE-42EA-BC50-F583B496F2DE}"/>
                </a:ext>
              </a:extLst>
            </p:cNvPr>
            <p:cNvSpPr/>
            <p:nvPr/>
          </p:nvSpPr>
          <p:spPr>
            <a:xfrm>
              <a:off x="4979670" y="3257550"/>
              <a:ext cx="1111250" cy="706120"/>
            </a:xfrm>
            <a:custGeom>
              <a:avLst/>
              <a:gdLst/>
              <a:ahLst/>
              <a:cxnLst/>
              <a:rect l="l" t="t" r="r" b="b"/>
              <a:pathLst>
                <a:path w="1111250" h="706120">
                  <a:moveTo>
                    <a:pt x="0" y="70612"/>
                  </a:moveTo>
                  <a:lnTo>
                    <a:pt x="5550" y="43130"/>
                  </a:lnTo>
                  <a:lnTo>
                    <a:pt x="20685" y="20685"/>
                  </a:lnTo>
                  <a:lnTo>
                    <a:pt x="43130" y="5550"/>
                  </a:lnTo>
                  <a:lnTo>
                    <a:pt x="70612" y="0"/>
                  </a:lnTo>
                  <a:lnTo>
                    <a:pt x="1040383" y="0"/>
                  </a:lnTo>
                  <a:lnTo>
                    <a:pt x="1067865" y="5550"/>
                  </a:lnTo>
                  <a:lnTo>
                    <a:pt x="1090310" y="20685"/>
                  </a:lnTo>
                  <a:lnTo>
                    <a:pt x="1105445" y="43130"/>
                  </a:lnTo>
                  <a:lnTo>
                    <a:pt x="1110995" y="70612"/>
                  </a:lnTo>
                  <a:lnTo>
                    <a:pt x="1110995" y="635050"/>
                  </a:lnTo>
                  <a:lnTo>
                    <a:pt x="1105445" y="662513"/>
                  </a:lnTo>
                  <a:lnTo>
                    <a:pt x="1090310" y="684942"/>
                  </a:lnTo>
                  <a:lnTo>
                    <a:pt x="1067865" y="700066"/>
                  </a:lnTo>
                  <a:lnTo>
                    <a:pt x="1040383" y="705612"/>
                  </a:lnTo>
                  <a:lnTo>
                    <a:pt x="70612" y="705612"/>
                  </a:lnTo>
                  <a:lnTo>
                    <a:pt x="43130" y="700066"/>
                  </a:lnTo>
                  <a:lnTo>
                    <a:pt x="20685" y="684942"/>
                  </a:lnTo>
                  <a:lnTo>
                    <a:pt x="5550" y="662513"/>
                  </a:lnTo>
                  <a:lnTo>
                    <a:pt x="0" y="635050"/>
                  </a:lnTo>
                  <a:lnTo>
                    <a:pt x="0" y="70612"/>
                  </a:lnTo>
                  <a:close/>
                </a:path>
              </a:pathLst>
            </a:custGeom>
            <a:ln w="25908">
              <a:solidFill>
                <a:srgbClr val="FFFFFF"/>
              </a:solidFill>
            </a:ln>
          </p:spPr>
          <p:txBody>
            <a:bodyPr wrap="square" lIns="0" tIns="0" rIns="0" bIns="0" rtlCol="0"/>
            <a:lstStyle/>
            <a:p>
              <a:endParaRPr/>
            </a:p>
          </p:txBody>
        </p:sp>
        <p:sp>
          <p:nvSpPr>
            <p:cNvPr id="9" name="object 39">
              <a:extLst>
                <a:ext uri="{FF2B5EF4-FFF2-40B4-BE49-F238E27FC236}">
                  <a16:creationId xmlns:a16="http://schemas.microsoft.com/office/drawing/2014/main" id="{6BBB2AF9-CCE7-42F0-AC6A-C3B993CF8BF1}"/>
                </a:ext>
              </a:extLst>
            </p:cNvPr>
            <p:cNvSpPr/>
            <p:nvPr/>
          </p:nvSpPr>
          <p:spPr>
            <a:xfrm>
              <a:off x="5103114" y="3374898"/>
              <a:ext cx="987806" cy="588772"/>
            </a:xfrm>
            <a:custGeom>
              <a:avLst/>
              <a:gdLst/>
              <a:ahLst/>
              <a:cxnLst/>
              <a:rect l="l" t="t" r="r" b="b"/>
              <a:pathLst>
                <a:path w="1111250" h="706120">
                  <a:moveTo>
                    <a:pt x="1040384" y="0"/>
                  </a:moveTo>
                  <a:lnTo>
                    <a:pt x="70612" y="0"/>
                  </a:lnTo>
                  <a:lnTo>
                    <a:pt x="43130" y="5550"/>
                  </a:lnTo>
                  <a:lnTo>
                    <a:pt x="20685" y="20685"/>
                  </a:lnTo>
                  <a:lnTo>
                    <a:pt x="5550" y="43130"/>
                  </a:lnTo>
                  <a:lnTo>
                    <a:pt x="0" y="70612"/>
                  </a:lnTo>
                  <a:lnTo>
                    <a:pt x="0" y="635050"/>
                  </a:lnTo>
                  <a:lnTo>
                    <a:pt x="5550" y="662513"/>
                  </a:lnTo>
                  <a:lnTo>
                    <a:pt x="20685" y="684942"/>
                  </a:lnTo>
                  <a:lnTo>
                    <a:pt x="43130" y="700066"/>
                  </a:lnTo>
                  <a:lnTo>
                    <a:pt x="70612" y="705611"/>
                  </a:lnTo>
                  <a:lnTo>
                    <a:pt x="1040384" y="705611"/>
                  </a:lnTo>
                  <a:lnTo>
                    <a:pt x="1067865" y="700066"/>
                  </a:lnTo>
                  <a:lnTo>
                    <a:pt x="1090310" y="684942"/>
                  </a:lnTo>
                  <a:lnTo>
                    <a:pt x="1105445" y="662513"/>
                  </a:lnTo>
                  <a:lnTo>
                    <a:pt x="1110996" y="635050"/>
                  </a:lnTo>
                  <a:lnTo>
                    <a:pt x="1110996" y="70612"/>
                  </a:lnTo>
                  <a:lnTo>
                    <a:pt x="1105445" y="43130"/>
                  </a:lnTo>
                  <a:lnTo>
                    <a:pt x="1090310" y="20685"/>
                  </a:lnTo>
                  <a:lnTo>
                    <a:pt x="1067865" y="5550"/>
                  </a:lnTo>
                  <a:lnTo>
                    <a:pt x="1040384" y="0"/>
                  </a:lnTo>
                  <a:close/>
                </a:path>
              </a:pathLst>
            </a:custGeom>
            <a:solidFill>
              <a:srgbClr val="FFFFFF">
                <a:alpha val="90194"/>
              </a:srgbClr>
            </a:solidFill>
          </p:spPr>
          <p:txBody>
            <a:bodyPr wrap="square" lIns="0" tIns="0" rIns="0" bIns="0" rtlCol="0"/>
            <a:lstStyle/>
            <a:p>
              <a:endParaRPr lang="en-US" sz="1600" dirty="0"/>
            </a:p>
            <a:p>
              <a:r>
                <a:rPr lang="en-US" sz="1600" dirty="0"/>
                <a:t>   Divisive </a:t>
              </a:r>
              <a:endParaRPr sz="1600" dirty="0"/>
            </a:p>
          </p:txBody>
        </p:sp>
        <p:sp>
          <p:nvSpPr>
            <p:cNvPr id="10" name="object 40">
              <a:extLst>
                <a:ext uri="{FF2B5EF4-FFF2-40B4-BE49-F238E27FC236}">
                  <a16:creationId xmlns:a16="http://schemas.microsoft.com/office/drawing/2014/main" id="{7FFA2568-8312-4DCB-A085-B7AE8348BE8D}"/>
                </a:ext>
              </a:extLst>
            </p:cNvPr>
            <p:cNvSpPr/>
            <p:nvPr/>
          </p:nvSpPr>
          <p:spPr>
            <a:xfrm>
              <a:off x="5103114" y="3374898"/>
              <a:ext cx="1111250" cy="706120"/>
            </a:xfrm>
            <a:custGeom>
              <a:avLst/>
              <a:gdLst/>
              <a:ahLst/>
              <a:cxnLst/>
              <a:rect l="l" t="t" r="r" b="b"/>
              <a:pathLst>
                <a:path w="1111250" h="706120">
                  <a:moveTo>
                    <a:pt x="0" y="70612"/>
                  </a:moveTo>
                  <a:lnTo>
                    <a:pt x="5550" y="43130"/>
                  </a:lnTo>
                  <a:lnTo>
                    <a:pt x="20685" y="20685"/>
                  </a:lnTo>
                  <a:lnTo>
                    <a:pt x="43130" y="5550"/>
                  </a:lnTo>
                  <a:lnTo>
                    <a:pt x="70612" y="0"/>
                  </a:lnTo>
                  <a:lnTo>
                    <a:pt x="1040384" y="0"/>
                  </a:lnTo>
                  <a:lnTo>
                    <a:pt x="1067865" y="5550"/>
                  </a:lnTo>
                  <a:lnTo>
                    <a:pt x="1090310" y="20685"/>
                  </a:lnTo>
                  <a:lnTo>
                    <a:pt x="1105445" y="43130"/>
                  </a:lnTo>
                  <a:lnTo>
                    <a:pt x="1110996" y="70612"/>
                  </a:lnTo>
                  <a:lnTo>
                    <a:pt x="1110996" y="635050"/>
                  </a:lnTo>
                  <a:lnTo>
                    <a:pt x="1105445" y="662513"/>
                  </a:lnTo>
                  <a:lnTo>
                    <a:pt x="1090310" y="684942"/>
                  </a:lnTo>
                  <a:lnTo>
                    <a:pt x="1067865" y="700066"/>
                  </a:lnTo>
                  <a:lnTo>
                    <a:pt x="1040384" y="705611"/>
                  </a:lnTo>
                  <a:lnTo>
                    <a:pt x="70612" y="705611"/>
                  </a:lnTo>
                  <a:lnTo>
                    <a:pt x="43130" y="700066"/>
                  </a:lnTo>
                  <a:lnTo>
                    <a:pt x="20685" y="684942"/>
                  </a:lnTo>
                  <a:lnTo>
                    <a:pt x="5550" y="662513"/>
                  </a:lnTo>
                  <a:lnTo>
                    <a:pt x="0" y="635050"/>
                  </a:lnTo>
                  <a:lnTo>
                    <a:pt x="0" y="70612"/>
                  </a:lnTo>
                  <a:close/>
                </a:path>
              </a:pathLst>
            </a:custGeom>
            <a:ln w="25908">
              <a:solidFill>
                <a:srgbClr val="4F81BC"/>
              </a:solidFill>
            </a:ln>
          </p:spPr>
          <p:txBody>
            <a:bodyPr wrap="square" lIns="0" tIns="0" rIns="0" bIns="0" rtlCol="0"/>
            <a:lstStyle/>
            <a:p>
              <a:endParaRPr/>
            </a:p>
          </p:txBody>
        </p:sp>
      </p:grpSp>
      <p:cxnSp>
        <p:nvCxnSpPr>
          <p:cNvPr id="11" name="Straight Connector 10">
            <a:extLst>
              <a:ext uri="{FF2B5EF4-FFF2-40B4-BE49-F238E27FC236}">
                <a16:creationId xmlns:a16="http://schemas.microsoft.com/office/drawing/2014/main" id="{8343E2A4-3AAF-4CB4-A642-CBD0EC036E2B}"/>
              </a:ext>
            </a:extLst>
          </p:cNvPr>
          <p:cNvCxnSpPr/>
          <p:nvPr/>
        </p:nvCxnSpPr>
        <p:spPr>
          <a:xfrm>
            <a:off x="5364178" y="3491033"/>
            <a:ext cx="476250" cy="22860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62934" y="385953"/>
            <a:ext cx="1818639" cy="452120"/>
          </a:xfrm>
          <a:prstGeom prst="rect">
            <a:avLst/>
          </a:prstGeom>
        </p:spPr>
        <p:txBody>
          <a:bodyPr vert="horz" wrap="square" lIns="0" tIns="12065" rIns="0" bIns="0" rtlCol="0">
            <a:spAutoFit/>
          </a:bodyPr>
          <a:lstStyle/>
          <a:p>
            <a:pPr marL="12700">
              <a:lnSpc>
                <a:spcPct val="100000"/>
              </a:lnSpc>
              <a:spcBef>
                <a:spcPts val="95"/>
              </a:spcBef>
            </a:pPr>
            <a:r>
              <a:rPr sz="2800" spc="-15" dirty="0">
                <a:solidFill>
                  <a:srgbClr val="0000FF"/>
                </a:solidFill>
              </a:rPr>
              <a:t>Introduction</a:t>
            </a:r>
            <a:endParaRPr sz="2800"/>
          </a:p>
        </p:txBody>
      </p:sp>
      <p:sp>
        <p:nvSpPr>
          <p:cNvPr id="3" name="object 3"/>
          <p:cNvSpPr txBox="1"/>
          <p:nvPr/>
        </p:nvSpPr>
        <p:spPr>
          <a:xfrm>
            <a:off x="598042" y="1504950"/>
            <a:ext cx="7803515" cy="2647950"/>
          </a:xfrm>
          <a:prstGeom prst="rect">
            <a:avLst/>
          </a:prstGeom>
        </p:spPr>
        <p:txBody>
          <a:bodyPr vert="horz" wrap="square" lIns="0" tIns="13335" rIns="0" bIns="0" rtlCol="0">
            <a:spAutoFit/>
          </a:bodyPr>
          <a:lstStyle/>
          <a:p>
            <a:pPr marL="355600" marR="45720" indent="-342900">
              <a:lnSpc>
                <a:spcPct val="100000"/>
              </a:lnSpc>
              <a:spcBef>
                <a:spcPts val="105"/>
              </a:spcBef>
              <a:buFont typeface="Arial"/>
              <a:buChar char="•"/>
              <a:tabLst>
                <a:tab pos="354965" algn="l"/>
                <a:tab pos="355600" algn="l"/>
              </a:tabLst>
            </a:pPr>
            <a:r>
              <a:rPr sz="2000" dirty="0">
                <a:latin typeface="Carlito"/>
                <a:cs typeface="Carlito"/>
              </a:rPr>
              <a:t>A </a:t>
            </a:r>
            <a:r>
              <a:rPr sz="2000" spc="-10" dirty="0">
                <a:latin typeface="Carlito"/>
                <a:cs typeface="Carlito"/>
              </a:rPr>
              <a:t>hierarchical </a:t>
            </a:r>
            <a:r>
              <a:rPr sz="2000" spc="-5" dirty="0">
                <a:latin typeface="Carlito"/>
                <a:cs typeface="Carlito"/>
              </a:rPr>
              <a:t>method </a:t>
            </a:r>
            <a:r>
              <a:rPr sz="2000" spc="-10" dirty="0">
                <a:latin typeface="Carlito"/>
                <a:cs typeface="Carlito"/>
              </a:rPr>
              <a:t>creates </a:t>
            </a:r>
            <a:r>
              <a:rPr sz="2000" dirty="0">
                <a:latin typeface="Carlito"/>
                <a:cs typeface="Carlito"/>
              </a:rPr>
              <a:t>a </a:t>
            </a:r>
            <a:r>
              <a:rPr sz="2000" spc="-10" dirty="0">
                <a:latin typeface="Carlito"/>
                <a:cs typeface="Carlito"/>
              </a:rPr>
              <a:t>hierarchical </a:t>
            </a:r>
            <a:r>
              <a:rPr sz="2000" spc="-5" dirty="0">
                <a:latin typeface="Carlito"/>
                <a:cs typeface="Carlito"/>
              </a:rPr>
              <a:t>decomposition of </a:t>
            </a:r>
            <a:r>
              <a:rPr sz="2000" dirty="0">
                <a:latin typeface="Carlito"/>
                <a:cs typeface="Carlito"/>
              </a:rPr>
              <a:t>the </a:t>
            </a:r>
            <a:r>
              <a:rPr sz="2000" spc="-5" dirty="0">
                <a:latin typeface="Carlito"/>
                <a:cs typeface="Carlito"/>
              </a:rPr>
              <a:t>given  </a:t>
            </a:r>
            <a:r>
              <a:rPr sz="2000" spc="-10" dirty="0">
                <a:latin typeface="Carlito"/>
                <a:cs typeface="Carlito"/>
              </a:rPr>
              <a:t>set </a:t>
            </a:r>
            <a:r>
              <a:rPr sz="2000" spc="-5" dirty="0">
                <a:latin typeface="Carlito"/>
                <a:cs typeface="Carlito"/>
              </a:rPr>
              <a:t>of </a:t>
            </a:r>
            <a:r>
              <a:rPr sz="2000" spc="-15" dirty="0">
                <a:latin typeface="Carlito"/>
                <a:cs typeface="Carlito"/>
              </a:rPr>
              <a:t>data</a:t>
            </a:r>
            <a:r>
              <a:rPr sz="2000" spc="15" dirty="0">
                <a:latin typeface="Carlito"/>
                <a:cs typeface="Carlito"/>
              </a:rPr>
              <a:t> </a:t>
            </a:r>
            <a:r>
              <a:rPr sz="2000" spc="-5" dirty="0">
                <a:latin typeface="Carlito"/>
                <a:cs typeface="Carlito"/>
              </a:rPr>
              <a:t>objects</a:t>
            </a:r>
            <a:endParaRPr sz="2000" dirty="0">
              <a:latin typeface="Carlito"/>
              <a:cs typeface="Carlito"/>
            </a:endParaRPr>
          </a:p>
          <a:p>
            <a:pPr marL="355600" marR="187325" indent="-342900">
              <a:lnSpc>
                <a:spcPct val="100000"/>
              </a:lnSpc>
              <a:spcBef>
                <a:spcPts val="480"/>
              </a:spcBef>
              <a:buFont typeface="Arial"/>
              <a:buChar char="•"/>
              <a:tabLst>
                <a:tab pos="354965" algn="l"/>
                <a:tab pos="355600" algn="l"/>
              </a:tabLst>
            </a:pPr>
            <a:r>
              <a:rPr sz="2000" dirty="0">
                <a:latin typeface="Carlito"/>
                <a:cs typeface="Carlito"/>
              </a:rPr>
              <a:t>A </a:t>
            </a:r>
            <a:r>
              <a:rPr sz="2000" spc="-10" dirty="0">
                <a:latin typeface="Carlito"/>
                <a:cs typeface="Carlito"/>
              </a:rPr>
              <a:t>hierarchical </a:t>
            </a:r>
            <a:r>
              <a:rPr sz="2000" spc="-5" dirty="0">
                <a:latin typeface="Carlito"/>
                <a:cs typeface="Carlito"/>
              </a:rPr>
              <a:t>clustering method </a:t>
            </a:r>
            <a:r>
              <a:rPr sz="2000" spc="-15" dirty="0">
                <a:latin typeface="Carlito"/>
                <a:cs typeface="Carlito"/>
              </a:rPr>
              <a:t>works </a:t>
            </a:r>
            <a:r>
              <a:rPr sz="2000" spc="-5" dirty="0">
                <a:latin typeface="Carlito"/>
                <a:cs typeface="Carlito"/>
              </a:rPr>
              <a:t>by grouping </a:t>
            </a:r>
            <a:r>
              <a:rPr sz="2000" spc="-15" dirty="0">
                <a:latin typeface="Carlito"/>
                <a:cs typeface="Carlito"/>
              </a:rPr>
              <a:t>data </a:t>
            </a:r>
            <a:r>
              <a:rPr sz="2000" spc="-5" dirty="0">
                <a:latin typeface="Carlito"/>
                <a:cs typeface="Carlito"/>
              </a:rPr>
              <a:t>objects </a:t>
            </a:r>
            <a:r>
              <a:rPr sz="2000" spc="-15" dirty="0">
                <a:latin typeface="Carlito"/>
                <a:cs typeface="Carlito"/>
              </a:rPr>
              <a:t>into </a:t>
            </a:r>
            <a:r>
              <a:rPr sz="2000" dirty="0">
                <a:latin typeface="Carlito"/>
                <a:cs typeface="Carlito"/>
              </a:rPr>
              <a:t>a  </a:t>
            </a:r>
            <a:r>
              <a:rPr sz="2000" spc="-10" dirty="0">
                <a:latin typeface="Carlito"/>
                <a:cs typeface="Carlito"/>
              </a:rPr>
              <a:t>tree </a:t>
            </a:r>
            <a:r>
              <a:rPr sz="2000" spc="-5" dirty="0">
                <a:latin typeface="Carlito"/>
                <a:cs typeface="Carlito"/>
              </a:rPr>
              <a:t>of</a:t>
            </a:r>
            <a:r>
              <a:rPr sz="2000" spc="15" dirty="0">
                <a:latin typeface="Carlito"/>
                <a:cs typeface="Carlito"/>
              </a:rPr>
              <a:t> </a:t>
            </a:r>
            <a:r>
              <a:rPr sz="2000" spc="-15" dirty="0">
                <a:latin typeface="Carlito"/>
                <a:cs typeface="Carlito"/>
              </a:rPr>
              <a:t>clusters</a:t>
            </a:r>
            <a:endParaRPr sz="2000" dirty="0">
              <a:latin typeface="Carlito"/>
              <a:cs typeface="Carlito"/>
            </a:endParaRPr>
          </a:p>
          <a:p>
            <a:pPr marL="355600" indent="-342900">
              <a:lnSpc>
                <a:spcPct val="100000"/>
              </a:lnSpc>
              <a:spcBef>
                <a:spcPts val="480"/>
              </a:spcBef>
              <a:buChar char="•"/>
              <a:tabLst>
                <a:tab pos="354965" algn="l"/>
                <a:tab pos="355600" algn="l"/>
              </a:tabLst>
            </a:pPr>
            <a:r>
              <a:rPr sz="2000" spc="-175" dirty="0">
                <a:latin typeface="Arial"/>
                <a:cs typeface="Arial"/>
              </a:rPr>
              <a:t>A </a:t>
            </a:r>
            <a:r>
              <a:rPr sz="2000" spc="-70" dirty="0">
                <a:latin typeface="Arial"/>
                <a:cs typeface="Arial"/>
              </a:rPr>
              <a:t>hierarchical </a:t>
            </a:r>
            <a:r>
              <a:rPr sz="2000" spc="-45" dirty="0">
                <a:latin typeface="Arial"/>
                <a:cs typeface="Arial"/>
              </a:rPr>
              <a:t>method </a:t>
            </a:r>
            <a:r>
              <a:rPr sz="2000" spc="-125" dirty="0">
                <a:latin typeface="Arial"/>
                <a:cs typeface="Arial"/>
              </a:rPr>
              <a:t>can </a:t>
            </a:r>
            <a:r>
              <a:rPr sz="2000" spc="-90" dirty="0">
                <a:latin typeface="Arial"/>
                <a:cs typeface="Arial"/>
              </a:rPr>
              <a:t>be </a:t>
            </a:r>
            <a:r>
              <a:rPr sz="2000" spc="-95" dirty="0">
                <a:latin typeface="Arial"/>
                <a:cs typeface="Arial"/>
              </a:rPr>
              <a:t>classiﬁed </a:t>
            </a:r>
            <a:r>
              <a:rPr sz="2000" spc="-185" dirty="0">
                <a:latin typeface="Arial"/>
                <a:cs typeface="Arial"/>
              </a:rPr>
              <a:t>as </a:t>
            </a:r>
            <a:r>
              <a:rPr sz="2000" spc="-80" dirty="0">
                <a:latin typeface="Arial"/>
                <a:cs typeface="Arial"/>
              </a:rPr>
              <a:t>being </a:t>
            </a:r>
            <a:r>
              <a:rPr sz="2000" spc="-25" dirty="0">
                <a:latin typeface="Arial"/>
                <a:cs typeface="Arial"/>
              </a:rPr>
              <a:t>either </a:t>
            </a:r>
            <a:r>
              <a:rPr sz="2000" spc="-80" dirty="0">
                <a:solidFill>
                  <a:srgbClr val="C00000"/>
                </a:solidFill>
                <a:latin typeface="Arial"/>
                <a:cs typeface="Arial"/>
              </a:rPr>
              <a:t>agglomerative</a:t>
            </a:r>
            <a:r>
              <a:rPr sz="2000" spc="-75" dirty="0">
                <a:solidFill>
                  <a:srgbClr val="C00000"/>
                </a:solidFill>
                <a:latin typeface="Arial"/>
                <a:cs typeface="Arial"/>
              </a:rPr>
              <a:t> </a:t>
            </a:r>
            <a:r>
              <a:rPr sz="2000" spc="-20" dirty="0">
                <a:solidFill>
                  <a:srgbClr val="C00000"/>
                </a:solidFill>
                <a:latin typeface="Arial"/>
                <a:cs typeface="Arial"/>
              </a:rPr>
              <a:t>or</a:t>
            </a:r>
            <a:endParaRPr sz="2000" dirty="0">
              <a:solidFill>
                <a:srgbClr val="C00000"/>
              </a:solidFill>
              <a:latin typeface="Arial"/>
              <a:cs typeface="Arial"/>
            </a:endParaRPr>
          </a:p>
          <a:p>
            <a:pPr marL="355600">
              <a:lnSpc>
                <a:spcPct val="100000"/>
              </a:lnSpc>
            </a:pPr>
            <a:r>
              <a:rPr sz="2000" spc="-10" dirty="0">
                <a:solidFill>
                  <a:srgbClr val="C00000"/>
                </a:solidFill>
                <a:latin typeface="Carlito"/>
                <a:cs typeface="Carlito"/>
              </a:rPr>
              <a:t>divisive</a:t>
            </a:r>
            <a:r>
              <a:rPr sz="2000" spc="-10" dirty="0">
                <a:latin typeface="Carlito"/>
                <a:cs typeface="Carlito"/>
              </a:rPr>
              <a:t>, </a:t>
            </a:r>
            <a:r>
              <a:rPr sz="2000" spc="-5" dirty="0">
                <a:latin typeface="Carlito"/>
                <a:cs typeface="Carlito"/>
              </a:rPr>
              <a:t>based </a:t>
            </a:r>
            <a:r>
              <a:rPr sz="2000" dirty="0">
                <a:latin typeface="Carlito"/>
                <a:cs typeface="Carlito"/>
              </a:rPr>
              <a:t>on how the </a:t>
            </a:r>
            <a:r>
              <a:rPr sz="2000" spc="-10" dirty="0">
                <a:latin typeface="Carlito"/>
                <a:cs typeface="Carlito"/>
              </a:rPr>
              <a:t>hierarchical </a:t>
            </a:r>
            <a:r>
              <a:rPr sz="2000" spc="-5" dirty="0">
                <a:latin typeface="Carlito"/>
                <a:cs typeface="Carlito"/>
              </a:rPr>
              <a:t>decomposition </a:t>
            </a:r>
            <a:r>
              <a:rPr sz="2000" dirty="0">
                <a:latin typeface="Carlito"/>
                <a:cs typeface="Carlito"/>
              </a:rPr>
              <a:t>is</a:t>
            </a:r>
            <a:r>
              <a:rPr sz="2000" spc="15" dirty="0">
                <a:latin typeface="Carlito"/>
                <a:cs typeface="Carlito"/>
              </a:rPr>
              <a:t> </a:t>
            </a:r>
            <a:r>
              <a:rPr sz="2000" spc="-10" dirty="0">
                <a:latin typeface="Carlito"/>
                <a:cs typeface="Carlito"/>
              </a:rPr>
              <a:t>formed</a:t>
            </a:r>
            <a:endParaRPr sz="2000" dirty="0">
              <a:latin typeface="Carlito"/>
              <a:cs typeface="Carlito"/>
            </a:endParaRPr>
          </a:p>
          <a:p>
            <a:pPr marL="355600" marR="5080" indent="-342900">
              <a:lnSpc>
                <a:spcPct val="100000"/>
              </a:lnSpc>
              <a:spcBef>
                <a:spcPts val="480"/>
              </a:spcBef>
              <a:buFont typeface="Arial"/>
              <a:buChar char="•"/>
              <a:tabLst>
                <a:tab pos="354965" algn="l"/>
                <a:tab pos="355600" algn="l"/>
              </a:tabLst>
            </a:pPr>
            <a:r>
              <a:rPr sz="2000" spc="-5" dirty="0">
                <a:latin typeface="Carlito"/>
                <a:cs typeface="Carlito"/>
              </a:rPr>
              <a:t>The agglomerative approach, also called </a:t>
            </a:r>
            <a:r>
              <a:rPr sz="2000" spc="5" dirty="0">
                <a:latin typeface="Carlito"/>
                <a:cs typeface="Carlito"/>
              </a:rPr>
              <a:t>the </a:t>
            </a:r>
            <a:r>
              <a:rPr sz="2000" spc="-10" dirty="0">
                <a:latin typeface="Carlito"/>
                <a:cs typeface="Carlito"/>
              </a:rPr>
              <a:t>bottom-up </a:t>
            </a:r>
            <a:r>
              <a:rPr sz="2000" spc="-5" dirty="0">
                <a:latin typeface="Carlito"/>
                <a:cs typeface="Carlito"/>
              </a:rPr>
              <a:t>approach, </a:t>
            </a:r>
            <a:r>
              <a:rPr sz="2000" spc="-10" dirty="0">
                <a:latin typeface="Carlito"/>
                <a:cs typeface="Carlito"/>
              </a:rPr>
              <a:t>starts  </a:t>
            </a:r>
            <a:r>
              <a:rPr sz="2000" spc="-5" dirty="0">
                <a:latin typeface="Carlito"/>
                <a:cs typeface="Carlito"/>
              </a:rPr>
              <a:t>with </a:t>
            </a:r>
            <a:r>
              <a:rPr sz="2000" dirty="0">
                <a:latin typeface="Carlito"/>
                <a:cs typeface="Carlito"/>
              </a:rPr>
              <a:t>each </a:t>
            </a:r>
            <a:r>
              <a:rPr sz="2000" spc="-5" dirty="0">
                <a:latin typeface="Carlito"/>
                <a:cs typeface="Carlito"/>
              </a:rPr>
              <a:t>object </a:t>
            </a:r>
            <a:r>
              <a:rPr sz="2000" spc="-10" dirty="0">
                <a:latin typeface="Carlito"/>
                <a:cs typeface="Carlito"/>
              </a:rPr>
              <a:t>forming </a:t>
            </a:r>
            <a:r>
              <a:rPr sz="2000" dirty="0">
                <a:latin typeface="Carlito"/>
                <a:cs typeface="Carlito"/>
              </a:rPr>
              <a:t>a </a:t>
            </a:r>
            <a:r>
              <a:rPr sz="2000" spc="-15" dirty="0">
                <a:latin typeface="Carlito"/>
                <a:cs typeface="Carlito"/>
              </a:rPr>
              <a:t>separate</a:t>
            </a:r>
            <a:r>
              <a:rPr sz="2000" spc="10" dirty="0">
                <a:latin typeface="Carlito"/>
                <a:cs typeface="Carlito"/>
              </a:rPr>
              <a:t> </a:t>
            </a:r>
            <a:r>
              <a:rPr sz="2000" spc="-10" dirty="0">
                <a:latin typeface="Carlito"/>
                <a:cs typeface="Carlito"/>
              </a:rPr>
              <a:t>group</a:t>
            </a:r>
            <a:endParaRPr sz="2000" dirty="0">
              <a:latin typeface="Carlito"/>
              <a:cs typeface="Carlito"/>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a:t>
            </a:fld>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62934" y="385953"/>
            <a:ext cx="1818639" cy="452120"/>
          </a:xfrm>
          <a:prstGeom prst="rect">
            <a:avLst/>
          </a:prstGeom>
        </p:spPr>
        <p:txBody>
          <a:bodyPr vert="horz" wrap="square" lIns="0" tIns="12065" rIns="0" bIns="0" rtlCol="0">
            <a:spAutoFit/>
          </a:bodyPr>
          <a:lstStyle/>
          <a:p>
            <a:pPr marL="12700">
              <a:lnSpc>
                <a:spcPct val="100000"/>
              </a:lnSpc>
              <a:spcBef>
                <a:spcPts val="95"/>
              </a:spcBef>
            </a:pPr>
            <a:r>
              <a:rPr sz="2800" spc="-15" dirty="0">
                <a:solidFill>
                  <a:srgbClr val="0000FF"/>
                </a:solidFill>
              </a:rPr>
              <a:t>Introduction</a:t>
            </a:r>
            <a:endParaRPr sz="2800"/>
          </a:p>
        </p:txBody>
      </p:sp>
      <p:sp>
        <p:nvSpPr>
          <p:cNvPr id="3" name="object 3"/>
          <p:cNvSpPr txBox="1"/>
          <p:nvPr/>
        </p:nvSpPr>
        <p:spPr>
          <a:xfrm>
            <a:off x="635507" y="1278255"/>
            <a:ext cx="7997825" cy="2586990"/>
          </a:xfrm>
          <a:prstGeom prst="rect">
            <a:avLst/>
          </a:prstGeom>
        </p:spPr>
        <p:txBody>
          <a:bodyPr vert="horz" wrap="square" lIns="0" tIns="13335" rIns="0" bIns="0" rtlCol="0">
            <a:spAutoFit/>
          </a:bodyPr>
          <a:lstStyle/>
          <a:p>
            <a:pPr marL="355600" marR="5080" indent="-342900">
              <a:lnSpc>
                <a:spcPct val="100000"/>
              </a:lnSpc>
              <a:spcBef>
                <a:spcPts val="105"/>
              </a:spcBef>
              <a:buFont typeface="Arial"/>
              <a:buChar char="•"/>
              <a:tabLst>
                <a:tab pos="354965" algn="l"/>
                <a:tab pos="355600" algn="l"/>
              </a:tabLst>
            </a:pPr>
            <a:r>
              <a:rPr sz="2000" dirty="0">
                <a:latin typeface="Carlito"/>
                <a:cs typeface="Carlito"/>
              </a:rPr>
              <a:t>It </a:t>
            </a:r>
            <a:r>
              <a:rPr sz="2000" spc="-5" dirty="0">
                <a:latin typeface="Carlito"/>
                <a:cs typeface="Carlito"/>
              </a:rPr>
              <a:t>successively merges </a:t>
            </a:r>
            <a:r>
              <a:rPr sz="2000" dirty="0">
                <a:latin typeface="Carlito"/>
                <a:cs typeface="Carlito"/>
              </a:rPr>
              <a:t>the </a:t>
            </a:r>
            <a:r>
              <a:rPr sz="2000" spc="-5" dirty="0">
                <a:latin typeface="Carlito"/>
                <a:cs typeface="Carlito"/>
              </a:rPr>
              <a:t>objects or </a:t>
            </a:r>
            <a:r>
              <a:rPr sz="2000" spc="-10" dirty="0">
                <a:latin typeface="Carlito"/>
                <a:cs typeface="Carlito"/>
              </a:rPr>
              <a:t>groups </a:t>
            </a:r>
            <a:r>
              <a:rPr sz="2000" spc="-5" dirty="0">
                <a:latin typeface="Carlito"/>
                <a:cs typeface="Carlito"/>
              </a:rPr>
              <a:t>that </a:t>
            </a:r>
            <a:r>
              <a:rPr sz="2000" spc="-10" dirty="0">
                <a:latin typeface="Carlito"/>
                <a:cs typeface="Carlito"/>
              </a:rPr>
              <a:t>are </a:t>
            </a:r>
            <a:r>
              <a:rPr sz="2000" dirty="0">
                <a:latin typeface="Carlito"/>
                <a:cs typeface="Carlito"/>
              </a:rPr>
              <a:t>close </a:t>
            </a:r>
            <a:r>
              <a:rPr sz="2000" spc="-10" dirty="0">
                <a:latin typeface="Carlito"/>
                <a:cs typeface="Carlito"/>
              </a:rPr>
              <a:t>to </a:t>
            </a:r>
            <a:r>
              <a:rPr sz="2000" dirty="0">
                <a:latin typeface="Carlito"/>
                <a:cs typeface="Carlito"/>
              </a:rPr>
              <a:t>one </a:t>
            </a:r>
            <a:r>
              <a:rPr sz="2000" spc="-25" dirty="0">
                <a:latin typeface="Carlito"/>
                <a:cs typeface="Carlito"/>
              </a:rPr>
              <a:t>another,  </a:t>
            </a:r>
            <a:r>
              <a:rPr sz="2000" spc="-5" dirty="0">
                <a:latin typeface="Carlito"/>
                <a:cs typeface="Carlito"/>
              </a:rPr>
              <a:t>until </a:t>
            </a:r>
            <a:r>
              <a:rPr sz="2000" dirty="0">
                <a:latin typeface="Carlito"/>
                <a:cs typeface="Carlito"/>
              </a:rPr>
              <a:t>all </a:t>
            </a:r>
            <a:r>
              <a:rPr sz="2000" spc="-5" dirty="0">
                <a:latin typeface="Carlito"/>
                <a:cs typeface="Carlito"/>
              </a:rPr>
              <a:t>of </a:t>
            </a:r>
            <a:r>
              <a:rPr sz="2000" dirty="0">
                <a:latin typeface="Carlito"/>
                <a:cs typeface="Carlito"/>
              </a:rPr>
              <a:t>the </a:t>
            </a:r>
            <a:r>
              <a:rPr sz="2000" spc="-5" dirty="0">
                <a:latin typeface="Carlito"/>
                <a:cs typeface="Carlito"/>
              </a:rPr>
              <a:t>groups </a:t>
            </a:r>
            <a:r>
              <a:rPr sz="2000" spc="-10" dirty="0">
                <a:latin typeface="Carlito"/>
                <a:cs typeface="Carlito"/>
              </a:rPr>
              <a:t>are </a:t>
            </a:r>
            <a:r>
              <a:rPr sz="2000" spc="-5" dirty="0">
                <a:latin typeface="Carlito"/>
                <a:cs typeface="Carlito"/>
              </a:rPr>
              <a:t>merged </a:t>
            </a:r>
            <a:r>
              <a:rPr sz="2000" spc="-15" dirty="0">
                <a:latin typeface="Carlito"/>
                <a:cs typeface="Carlito"/>
              </a:rPr>
              <a:t>into </a:t>
            </a:r>
            <a:r>
              <a:rPr sz="2000" dirty="0">
                <a:latin typeface="Carlito"/>
                <a:cs typeface="Carlito"/>
              </a:rPr>
              <a:t>one (the </a:t>
            </a:r>
            <a:r>
              <a:rPr sz="2000" spc="-10" dirty="0">
                <a:latin typeface="Carlito"/>
                <a:cs typeface="Carlito"/>
              </a:rPr>
              <a:t>topmost level </a:t>
            </a:r>
            <a:r>
              <a:rPr sz="2000" spc="-5" dirty="0">
                <a:latin typeface="Carlito"/>
                <a:cs typeface="Carlito"/>
              </a:rPr>
              <a:t>of </a:t>
            </a:r>
            <a:r>
              <a:rPr sz="2000" dirty="0">
                <a:latin typeface="Carlito"/>
                <a:cs typeface="Carlito"/>
              </a:rPr>
              <a:t>the  </a:t>
            </a:r>
            <a:r>
              <a:rPr sz="2000" spc="-10" dirty="0">
                <a:latin typeface="Carlito"/>
                <a:cs typeface="Carlito"/>
              </a:rPr>
              <a:t>hierarchy), </a:t>
            </a:r>
            <a:r>
              <a:rPr sz="2000" dirty="0">
                <a:latin typeface="Carlito"/>
                <a:cs typeface="Carlito"/>
              </a:rPr>
              <a:t>or </a:t>
            </a:r>
            <a:r>
              <a:rPr sz="2000" spc="-5" dirty="0">
                <a:latin typeface="Carlito"/>
                <a:cs typeface="Carlito"/>
              </a:rPr>
              <a:t>until </a:t>
            </a:r>
            <a:r>
              <a:rPr sz="2000" dirty="0">
                <a:latin typeface="Carlito"/>
                <a:cs typeface="Carlito"/>
              </a:rPr>
              <a:t>a </a:t>
            </a:r>
            <a:r>
              <a:rPr sz="2000" spc="-5" dirty="0">
                <a:latin typeface="Carlito"/>
                <a:cs typeface="Carlito"/>
              </a:rPr>
              <a:t>termination condition</a:t>
            </a:r>
            <a:r>
              <a:rPr sz="2000" spc="-35" dirty="0">
                <a:latin typeface="Carlito"/>
                <a:cs typeface="Carlito"/>
              </a:rPr>
              <a:t> </a:t>
            </a:r>
            <a:r>
              <a:rPr sz="2000" dirty="0">
                <a:latin typeface="Carlito"/>
                <a:cs typeface="Carlito"/>
              </a:rPr>
              <a:t>holds</a:t>
            </a:r>
          </a:p>
          <a:p>
            <a:pPr marL="355600" marR="199390" indent="-342900">
              <a:lnSpc>
                <a:spcPct val="100000"/>
              </a:lnSpc>
              <a:spcBef>
                <a:spcPts val="480"/>
              </a:spcBef>
              <a:buFont typeface="Arial"/>
              <a:buChar char="•"/>
              <a:tabLst>
                <a:tab pos="354965" algn="l"/>
                <a:tab pos="355600" algn="l"/>
              </a:tabLst>
            </a:pPr>
            <a:r>
              <a:rPr sz="2000" spc="-5" dirty="0">
                <a:latin typeface="Carlito"/>
                <a:cs typeface="Carlito"/>
              </a:rPr>
              <a:t>The </a:t>
            </a:r>
            <a:r>
              <a:rPr sz="2000" spc="-10" dirty="0">
                <a:latin typeface="Carlito"/>
                <a:cs typeface="Carlito"/>
              </a:rPr>
              <a:t>divisive </a:t>
            </a:r>
            <a:r>
              <a:rPr sz="2000" spc="-5" dirty="0">
                <a:latin typeface="Carlito"/>
                <a:cs typeface="Carlito"/>
              </a:rPr>
              <a:t>approach, also called </a:t>
            </a:r>
            <a:r>
              <a:rPr sz="2000" spc="5" dirty="0">
                <a:latin typeface="Carlito"/>
                <a:cs typeface="Carlito"/>
              </a:rPr>
              <a:t>the </a:t>
            </a:r>
            <a:r>
              <a:rPr sz="2000" spc="-10" dirty="0">
                <a:latin typeface="Carlito"/>
                <a:cs typeface="Carlito"/>
              </a:rPr>
              <a:t>top-down </a:t>
            </a:r>
            <a:r>
              <a:rPr sz="2000" spc="-5" dirty="0">
                <a:latin typeface="Carlito"/>
                <a:cs typeface="Carlito"/>
              </a:rPr>
              <a:t>approach, </a:t>
            </a:r>
            <a:r>
              <a:rPr sz="2000" spc="-10" dirty="0">
                <a:latin typeface="Carlito"/>
                <a:cs typeface="Carlito"/>
              </a:rPr>
              <a:t>starts </a:t>
            </a:r>
            <a:r>
              <a:rPr sz="2000" spc="-5" dirty="0">
                <a:latin typeface="Carlito"/>
                <a:cs typeface="Carlito"/>
              </a:rPr>
              <a:t>with </a:t>
            </a:r>
            <a:r>
              <a:rPr sz="2000" dirty="0">
                <a:latin typeface="Carlito"/>
                <a:cs typeface="Carlito"/>
              </a:rPr>
              <a:t>all  </a:t>
            </a:r>
            <a:r>
              <a:rPr sz="2000" spc="-5" dirty="0">
                <a:latin typeface="Carlito"/>
                <a:cs typeface="Carlito"/>
              </a:rPr>
              <a:t>of </a:t>
            </a:r>
            <a:r>
              <a:rPr sz="2000" dirty="0">
                <a:latin typeface="Carlito"/>
                <a:cs typeface="Carlito"/>
              </a:rPr>
              <a:t>the </a:t>
            </a:r>
            <a:r>
              <a:rPr sz="2000" spc="-5" dirty="0">
                <a:latin typeface="Carlito"/>
                <a:cs typeface="Carlito"/>
              </a:rPr>
              <a:t>objects </a:t>
            </a:r>
            <a:r>
              <a:rPr sz="2000" dirty="0">
                <a:latin typeface="Carlito"/>
                <a:cs typeface="Carlito"/>
              </a:rPr>
              <a:t>in the </a:t>
            </a:r>
            <a:r>
              <a:rPr sz="2000" spc="-5" dirty="0">
                <a:latin typeface="Carlito"/>
                <a:cs typeface="Carlito"/>
              </a:rPr>
              <a:t>same</a:t>
            </a:r>
            <a:r>
              <a:rPr sz="2000" spc="-15" dirty="0">
                <a:latin typeface="Carlito"/>
                <a:cs typeface="Carlito"/>
              </a:rPr>
              <a:t> </a:t>
            </a:r>
            <a:r>
              <a:rPr sz="2000" spc="-10" dirty="0">
                <a:latin typeface="Carlito"/>
                <a:cs typeface="Carlito"/>
              </a:rPr>
              <a:t>cluster</a:t>
            </a:r>
            <a:endParaRPr sz="2000" dirty="0">
              <a:latin typeface="Carlito"/>
              <a:cs typeface="Carlito"/>
            </a:endParaRPr>
          </a:p>
          <a:p>
            <a:pPr marL="355600" marR="7620" indent="-342900">
              <a:lnSpc>
                <a:spcPct val="100000"/>
              </a:lnSpc>
              <a:spcBef>
                <a:spcPts val="480"/>
              </a:spcBef>
              <a:buFont typeface="Arial"/>
              <a:buChar char="•"/>
              <a:tabLst>
                <a:tab pos="354965" algn="l"/>
                <a:tab pos="355600" algn="l"/>
              </a:tabLst>
            </a:pPr>
            <a:r>
              <a:rPr sz="2000" dirty="0">
                <a:latin typeface="Carlito"/>
                <a:cs typeface="Carlito"/>
              </a:rPr>
              <a:t>In each </a:t>
            </a:r>
            <a:r>
              <a:rPr sz="2000" spc="-5" dirty="0">
                <a:latin typeface="Carlito"/>
                <a:cs typeface="Carlito"/>
              </a:rPr>
              <a:t>successive </a:t>
            </a:r>
            <a:r>
              <a:rPr sz="2000" spc="-10" dirty="0">
                <a:latin typeface="Carlito"/>
                <a:cs typeface="Carlito"/>
              </a:rPr>
              <a:t>iteration, </a:t>
            </a:r>
            <a:r>
              <a:rPr sz="2000" dirty="0">
                <a:latin typeface="Carlito"/>
                <a:cs typeface="Carlito"/>
              </a:rPr>
              <a:t>a </a:t>
            </a:r>
            <a:r>
              <a:rPr sz="2000" spc="-10" dirty="0">
                <a:latin typeface="Carlito"/>
                <a:cs typeface="Carlito"/>
              </a:rPr>
              <a:t>cluster </a:t>
            </a:r>
            <a:r>
              <a:rPr sz="2000" dirty="0">
                <a:latin typeface="Carlito"/>
                <a:cs typeface="Carlito"/>
              </a:rPr>
              <a:t>is </a:t>
            </a:r>
            <a:r>
              <a:rPr sz="2000" spc="-5" dirty="0">
                <a:latin typeface="Carlito"/>
                <a:cs typeface="Carlito"/>
              </a:rPr>
              <a:t>split </a:t>
            </a:r>
            <a:r>
              <a:rPr sz="2000" dirty="0">
                <a:latin typeface="Carlito"/>
                <a:cs typeface="Carlito"/>
              </a:rPr>
              <a:t>up </a:t>
            </a:r>
            <a:r>
              <a:rPr sz="2000" spc="-10" dirty="0">
                <a:latin typeface="Carlito"/>
                <a:cs typeface="Carlito"/>
              </a:rPr>
              <a:t>into </a:t>
            </a:r>
            <a:r>
              <a:rPr sz="2000" spc="-5" dirty="0">
                <a:latin typeface="Carlito"/>
                <a:cs typeface="Carlito"/>
              </a:rPr>
              <a:t>smaller </a:t>
            </a:r>
            <a:r>
              <a:rPr sz="2000" spc="-10" dirty="0">
                <a:latin typeface="Carlito"/>
                <a:cs typeface="Carlito"/>
              </a:rPr>
              <a:t>clusters, </a:t>
            </a:r>
            <a:r>
              <a:rPr sz="2000" spc="-5" dirty="0">
                <a:latin typeface="Carlito"/>
                <a:cs typeface="Carlito"/>
              </a:rPr>
              <a:t>until  </a:t>
            </a:r>
            <a:r>
              <a:rPr sz="2000" spc="-10" dirty="0">
                <a:latin typeface="Carlito"/>
                <a:cs typeface="Carlito"/>
              </a:rPr>
              <a:t>eventually </a:t>
            </a:r>
            <a:r>
              <a:rPr sz="2000" dirty="0">
                <a:latin typeface="Carlito"/>
                <a:cs typeface="Carlito"/>
              </a:rPr>
              <a:t>each </a:t>
            </a:r>
            <a:r>
              <a:rPr sz="2000" spc="-5" dirty="0">
                <a:latin typeface="Carlito"/>
                <a:cs typeface="Carlito"/>
              </a:rPr>
              <a:t>object </a:t>
            </a:r>
            <a:r>
              <a:rPr sz="2000" dirty="0">
                <a:latin typeface="Carlito"/>
                <a:cs typeface="Carlito"/>
              </a:rPr>
              <a:t>is in one </a:t>
            </a:r>
            <a:r>
              <a:rPr sz="2000" spc="-30" dirty="0">
                <a:latin typeface="Carlito"/>
                <a:cs typeface="Carlito"/>
              </a:rPr>
              <a:t>cluster, </a:t>
            </a:r>
            <a:r>
              <a:rPr sz="2000" spc="-5" dirty="0">
                <a:latin typeface="Carlito"/>
                <a:cs typeface="Carlito"/>
              </a:rPr>
              <a:t>or until </a:t>
            </a:r>
            <a:r>
              <a:rPr sz="2000" dirty="0">
                <a:latin typeface="Carlito"/>
                <a:cs typeface="Carlito"/>
              </a:rPr>
              <a:t>a </a:t>
            </a:r>
            <a:r>
              <a:rPr sz="2000" spc="-5" dirty="0">
                <a:latin typeface="Carlito"/>
                <a:cs typeface="Carlito"/>
              </a:rPr>
              <a:t>termination condition  holds</a:t>
            </a:r>
            <a:endParaRPr sz="2000" dirty="0">
              <a:latin typeface="Carlito"/>
              <a:cs typeface="Carlito"/>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a:t>
            </a:fld>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62934" y="385953"/>
            <a:ext cx="1818639" cy="452120"/>
          </a:xfrm>
          <a:prstGeom prst="rect">
            <a:avLst/>
          </a:prstGeom>
        </p:spPr>
        <p:txBody>
          <a:bodyPr vert="horz" wrap="square" lIns="0" tIns="12065" rIns="0" bIns="0" rtlCol="0">
            <a:spAutoFit/>
          </a:bodyPr>
          <a:lstStyle/>
          <a:p>
            <a:pPr marL="12700">
              <a:lnSpc>
                <a:spcPct val="100000"/>
              </a:lnSpc>
              <a:spcBef>
                <a:spcPts val="95"/>
              </a:spcBef>
            </a:pPr>
            <a:r>
              <a:rPr sz="2800" spc="-15" dirty="0">
                <a:solidFill>
                  <a:srgbClr val="0000FF"/>
                </a:solidFill>
              </a:rPr>
              <a:t>Introduction</a:t>
            </a:r>
            <a:endParaRPr sz="2800"/>
          </a:p>
        </p:txBody>
      </p:sp>
      <p:sp>
        <p:nvSpPr>
          <p:cNvPr id="3" name="object 3"/>
          <p:cNvSpPr txBox="1"/>
          <p:nvPr/>
        </p:nvSpPr>
        <p:spPr>
          <a:xfrm>
            <a:off x="535940" y="1170765"/>
            <a:ext cx="7985759" cy="2433955"/>
          </a:xfrm>
          <a:prstGeom prst="rect">
            <a:avLst/>
          </a:prstGeom>
        </p:spPr>
        <p:txBody>
          <a:bodyPr vert="horz" wrap="square" lIns="0" tIns="164465" rIns="0" bIns="0" rtlCol="0">
            <a:spAutoFit/>
          </a:bodyPr>
          <a:lstStyle/>
          <a:p>
            <a:pPr marL="355600" indent="-342900">
              <a:lnSpc>
                <a:spcPct val="100000"/>
              </a:lnSpc>
              <a:spcBef>
                <a:spcPts val="1295"/>
              </a:spcBef>
              <a:buFont typeface="Arial"/>
              <a:buChar char="•"/>
              <a:tabLst>
                <a:tab pos="354965" algn="l"/>
                <a:tab pos="355600" algn="l"/>
              </a:tabLst>
            </a:pPr>
            <a:r>
              <a:rPr sz="2000" spc="-10" dirty="0">
                <a:latin typeface="Carlito"/>
                <a:cs typeface="Carlito"/>
              </a:rPr>
              <a:t>Hierarchical </a:t>
            </a:r>
            <a:r>
              <a:rPr sz="2000" spc="-5" dirty="0">
                <a:latin typeface="Carlito"/>
                <a:cs typeface="Carlito"/>
              </a:rPr>
              <a:t>methods </a:t>
            </a:r>
            <a:r>
              <a:rPr sz="2000" spc="-15" dirty="0">
                <a:latin typeface="Carlito"/>
                <a:cs typeface="Carlito"/>
              </a:rPr>
              <a:t>suffer from </a:t>
            </a:r>
            <a:r>
              <a:rPr sz="2000" dirty="0">
                <a:latin typeface="Carlito"/>
                <a:cs typeface="Carlito"/>
              </a:rPr>
              <a:t>the </a:t>
            </a:r>
            <a:r>
              <a:rPr sz="2000" spc="-10" dirty="0">
                <a:latin typeface="Carlito"/>
                <a:cs typeface="Carlito"/>
              </a:rPr>
              <a:t>fact </a:t>
            </a:r>
            <a:r>
              <a:rPr sz="2000" spc="-5" dirty="0">
                <a:latin typeface="Carlito"/>
                <a:cs typeface="Carlito"/>
              </a:rPr>
              <a:t>that </a:t>
            </a:r>
            <a:r>
              <a:rPr sz="2000" dirty="0">
                <a:latin typeface="Carlito"/>
                <a:cs typeface="Carlito"/>
              </a:rPr>
              <a:t>once a </a:t>
            </a:r>
            <a:r>
              <a:rPr sz="2000" spc="-15" dirty="0">
                <a:latin typeface="Carlito"/>
                <a:cs typeface="Carlito"/>
              </a:rPr>
              <a:t>step </a:t>
            </a:r>
            <a:r>
              <a:rPr sz="2000" spc="-5" dirty="0">
                <a:latin typeface="Carlito"/>
                <a:cs typeface="Carlito"/>
              </a:rPr>
              <a:t>(merge or</a:t>
            </a:r>
            <a:r>
              <a:rPr sz="2000" spc="150" dirty="0">
                <a:latin typeface="Carlito"/>
                <a:cs typeface="Carlito"/>
              </a:rPr>
              <a:t> </a:t>
            </a:r>
            <a:r>
              <a:rPr sz="2000" spc="-5" dirty="0">
                <a:latin typeface="Carlito"/>
                <a:cs typeface="Carlito"/>
              </a:rPr>
              <a:t>split)</a:t>
            </a:r>
            <a:endParaRPr sz="2000">
              <a:latin typeface="Carlito"/>
              <a:cs typeface="Carlito"/>
            </a:endParaRPr>
          </a:p>
          <a:p>
            <a:pPr marL="355600">
              <a:lnSpc>
                <a:spcPct val="100000"/>
              </a:lnSpc>
              <a:spcBef>
                <a:spcPts val="1200"/>
              </a:spcBef>
            </a:pPr>
            <a:r>
              <a:rPr sz="2000" dirty="0">
                <a:latin typeface="Carlito"/>
                <a:cs typeface="Carlito"/>
              </a:rPr>
              <a:t>is done, it </a:t>
            </a:r>
            <a:r>
              <a:rPr sz="2000" spc="-5" dirty="0">
                <a:latin typeface="Carlito"/>
                <a:cs typeface="Carlito"/>
              </a:rPr>
              <a:t>can </a:t>
            </a:r>
            <a:r>
              <a:rPr sz="2000" spc="-10" dirty="0">
                <a:latin typeface="Carlito"/>
                <a:cs typeface="Carlito"/>
              </a:rPr>
              <a:t>never </a:t>
            </a:r>
            <a:r>
              <a:rPr sz="2000" dirty="0">
                <a:latin typeface="Carlito"/>
                <a:cs typeface="Carlito"/>
              </a:rPr>
              <a:t>be</a:t>
            </a:r>
            <a:r>
              <a:rPr sz="2000" spc="-15" dirty="0">
                <a:latin typeface="Carlito"/>
                <a:cs typeface="Carlito"/>
              </a:rPr>
              <a:t> </a:t>
            </a:r>
            <a:r>
              <a:rPr sz="2000" dirty="0">
                <a:latin typeface="Carlito"/>
                <a:cs typeface="Carlito"/>
              </a:rPr>
              <a:t>undone</a:t>
            </a:r>
            <a:endParaRPr sz="2000">
              <a:latin typeface="Carlito"/>
              <a:cs typeface="Carlito"/>
            </a:endParaRPr>
          </a:p>
          <a:p>
            <a:pPr marL="355600" indent="-342900">
              <a:lnSpc>
                <a:spcPct val="100000"/>
              </a:lnSpc>
              <a:spcBef>
                <a:spcPts val="1680"/>
              </a:spcBef>
              <a:buFont typeface="Arial"/>
              <a:buChar char="•"/>
              <a:tabLst>
                <a:tab pos="354965" algn="l"/>
                <a:tab pos="355600" algn="l"/>
              </a:tabLst>
            </a:pPr>
            <a:r>
              <a:rPr sz="2000" spc="-5" dirty="0">
                <a:latin typeface="Carlito"/>
                <a:cs typeface="Carlito"/>
              </a:rPr>
              <a:t>This </a:t>
            </a:r>
            <a:r>
              <a:rPr sz="2000" dirty="0">
                <a:latin typeface="Carlito"/>
                <a:cs typeface="Carlito"/>
              </a:rPr>
              <a:t>rigidity is </a:t>
            </a:r>
            <a:r>
              <a:rPr sz="2000" spc="-5" dirty="0">
                <a:latin typeface="Carlito"/>
                <a:cs typeface="Carlito"/>
              </a:rPr>
              <a:t>useful in that </a:t>
            </a:r>
            <a:r>
              <a:rPr sz="2000" dirty="0">
                <a:latin typeface="Carlito"/>
                <a:cs typeface="Carlito"/>
              </a:rPr>
              <a:t>it leads </a:t>
            </a:r>
            <a:r>
              <a:rPr sz="2000" spc="-15" dirty="0">
                <a:latin typeface="Carlito"/>
                <a:cs typeface="Carlito"/>
              </a:rPr>
              <a:t>to </a:t>
            </a:r>
            <a:r>
              <a:rPr sz="2000" spc="-5" dirty="0">
                <a:latin typeface="Carlito"/>
                <a:cs typeface="Carlito"/>
              </a:rPr>
              <a:t>smaller computation </a:t>
            </a:r>
            <a:r>
              <a:rPr sz="2000" spc="-10" dirty="0">
                <a:latin typeface="Carlito"/>
                <a:cs typeface="Carlito"/>
              </a:rPr>
              <a:t>costs </a:t>
            </a:r>
            <a:r>
              <a:rPr sz="2000" spc="-5" dirty="0">
                <a:latin typeface="Carlito"/>
                <a:cs typeface="Carlito"/>
              </a:rPr>
              <a:t>by</a:t>
            </a:r>
            <a:r>
              <a:rPr sz="2000" spc="60" dirty="0">
                <a:latin typeface="Carlito"/>
                <a:cs typeface="Carlito"/>
              </a:rPr>
              <a:t> </a:t>
            </a:r>
            <a:r>
              <a:rPr sz="2000" spc="-5" dirty="0">
                <a:latin typeface="Carlito"/>
                <a:cs typeface="Carlito"/>
              </a:rPr>
              <a:t>not</a:t>
            </a:r>
            <a:endParaRPr sz="2000">
              <a:latin typeface="Carlito"/>
              <a:cs typeface="Carlito"/>
            </a:endParaRPr>
          </a:p>
          <a:p>
            <a:pPr marL="355600">
              <a:lnSpc>
                <a:spcPct val="100000"/>
              </a:lnSpc>
              <a:spcBef>
                <a:spcPts val="1200"/>
              </a:spcBef>
            </a:pPr>
            <a:r>
              <a:rPr sz="2000" spc="-10" dirty="0">
                <a:latin typeface="Carlito"/>
                <a:cs typeface="Carlito"/>
              </a:rPr>
              <a:t>having to worry </a:t>
            </a:r>
            <a:r>
              <a:rPr sz="2000" dirty="0">
                <a:latin typeface="Carlito"/>
                <a:cs typeface="Carlito"/>
              </a:rPr>
              <a:t>about a </a:t>
            </a:r>
            <a:r>
              <a:rPr sz="2000" spc="-10" dirty="0">
                <a:latin typeface="Carlito"/>
                <a:cs typeface="Carlito"/>
              </a:rPr>
              <a:t>combinatorial </a:t>
            </a:r>
            <a:r>
              <a:rPr sz="2000" dirty="0">
                <a:latin typeface="Carlito"/>
                <a:cs typeface="Carlito"/>
              </a:rPr>
              <a:t>number of </a:t>
            </a:r>
            <a:r>
              <a:rPr sz="2000" spc="-15" dirty="0">
                <a:latin typeface="Carlito"/>
                <a:cs typeface="Carlito"/>
              </a:rPr>
              <a:t>different</a:t>
            </a:r>
            <a:r>
              <a:rPr sz="2000" spc="25" dirty="0">
                <a:latin typeface="Carlito"/>
                <a:cs typeface="Carlito"/>
              </a:rPr>
              <a:t> </a:t>
            </a:r>
            <a:r>
              <a:rPr sz="2000" spc="-5" dirty="0">
                <a:latin typeface="Carlito"/>
                <a:cs typeface="Carlito"/>
              </a:rPr>
              <a:t>choices</a:t>
            </a:r>
            <a:endParaRPr sz="2000">
              <a:latin typeface="Carlito"/>
              <a:cs typeface="Carlito"/>
            </a:endParaRPr>
          </a:p>
          <a:p>
            <a:pPr marL="355600" indent="-342900">
              <a:lnSpc>
                <a:spcPct val="100000"/>
              </a:lnSpc>
              <a:spcBef>
                <a:spcPts val="1685"/>
              </a:spcBef>
              <a:buFont typeface="Arial"/>
              <a:buChar char="•"/>
              <a:tabLst>
                <a:tab pos="354965" algn="l"/>
                <a:tab pos="355600" algn="l"/>
              </a:tabLst>
            </a:pPr>
            <a:r>
              <a:rPr sz="2000" spc="-30" dirty="0">
                <a:latin typeface="Carlito"/>
                <a:cs typeface="Carlito"/>
              </a:rPr>
              <a:t>However, </a:t>
            </a:r>
            <a:r>
              <a:rPr sz="2000" dirty="0">
                <a:latin typeface="Carlito"/>
                <a:cs typeface="Carlito"/>
              </a:rPr>
              <a:t>such techniques </a:t>
            </a:r>
            <a:r>
              <a:rPr sz="2000" spc="-5" dirty="0">
                <a:latin typeface="Carlito"/>
                <a:cs typeface="Carlito"/>
              </a:rPr>
              <a:t>cannot </a:t>
            </a:r>
            <a:r>
              <a:rPr sz="2000" spc="-10" dirty="0">
                <a:latin typeface="Carlito"/>
                <a:cs typeface="Carlito"/>
              </a:rPr>
              <a:t>correct </a:t>
            </a:r>
            <a:r>
              <a:rPr sz="2000" spc="-5" dirty="0">
                <a:latin typeface="Carlito"/>
                <a:cs typeface="Carlito"/>
              </a:rPr>
              <a:t>erroneous</a:t>
            </a:r>
            <a:r>
              <a:rPr sz="2000" spc="5" dirty="0">
                <a:latin typeface="Carlito"/>
                <a:cs typeface="Carlito"/>
              </a:rPr>
              <a:t> </a:t>
            </a:r>
            <a:r>
              <a:rPr sz="2000" dirty="0">
                <a:latin typeface="Carlito"/>
                <a:cs typeface="Carlito"/>
              </a:rPr>
              <a:t>decisions</a:t>
            </a:r>
            <a:endParaRPr sz="2000">
              <a:latin typeface="Carlito"/>
              <a:cs typeface="Carlito"/>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a:t>
            </a:fld>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66038" y="385953"/>
            <a:ext cx="7409180" cy="452120"/>
          </a:xfrm>
          <a:prstGeom prst="rect">
            <a:avLst/>
          </a:prstGeom>
        </p:spPr>
        <p:txBody>
          <a:bodyPr vert="horz" wrap="square" lIns="0" tIns="12065" rIns="0" bIns="0" rtlCol="0">
            <a:spAutoFit/>
          </a:bodyPr>
          <a:lstStyle/>
          <a:p>
            <a:pPr marL="12700">
              <a:lnSpc>
                <a:spcPct val="100000"/>
              </a:lnSpc>
              <a:spcBef>
                <a:spcPts val="95"/>
              </a:spcBef>
            </a:pPr>
            <a:r>
              <a:rPr sz="2800" b="1" spc="-15" dirty="0">
                <a:solidFill>
                  <a:srgbClr val="0000FF"/>
                </a:solidFill>
                <a:latin typeface="Carlito"/>
                <a:cs typeface="Carlito"/>
              </a:rPr>
              <a:t>Agglomerative </a:t>
            </a:r>
            <a:r>
              <a:rPr sz="2800" b="1" spc="-5" dirty="0">
                <a:solidFill>
                  <a:srgbClr val="0000FF"/>
                </a:solidFill>
                <a:latin typeface="Carlito"/>
                <a:cs typeface="Carlito"/>
              </a:rPr>
              <a:t>and </a:t>
            </a:r>
            <a:r>
              <a:rPr sz="2800" b="1" spc="-15" dirty="0">
                <a:solidFill>
                  <a:srgbClr val="0000FF"/>
                </a:solidFill>
                <a:latin typeface="Carlito"/>
                <a:cs typeface="Carlito"/>
              </a:rPr>
              <a:t>Divisive Hierarchical</a:t>
            </a:r>
            <a:r>
              <a:rPr sz="2800" b="1" spc="160" dirty="0">
                <a:solidFill>
                  <a:srgbClr val="0000FF"/>
                </a:solidFill>
                <a:latin typeface="Carlito"/>
                <a:cs typeface="Carlito"/>
              </a:rPr>
              <a:t> </a:t>
            </a:r>
            <a:r>
              <a:rPr sz="2800" b="1" spc="-15" dirty="0">
                <a:solidFill>
                  <a:srgbClr val="0000FF"/>
                </a:solidFill>
                <a:latin typeface="Carlito"/>
                <a:cs typeface="Carlito"/>
              </a:rPr>
              <a:t>Clustering</a:t>
            </a:r>
            <a:endParaRPr sz="2800">
              <a:latin typeface="Carlito"/>
              <a:cs typeface="Carlito"/>
            </a:endParaRPr>
          </a:p>
        </p:txBody>
      </p:sp>
      <p:sp>
        <p:nvSpPr>
          <p:cNvPr id="3" name="object 3"/>
          <p:cNvSpPr txBox="1"/>
          <p:nvPr/>
        </p:nvSpPr>
        <p:spPr>
          <a:xfrm>
            <a:off x="535940" y="1184981"/>
            <a:ext cx="3601720" cy="3185616"/>
          </a:xfrm>
          <a:prstGeom prst="rect">
            <a:avLst/>
          </a:prstGeom>
        </p:spPr>
        <p:txBody>
          <a:bodyPr vert="horz" wrap="square" lIns="0" tIns="79375" rIns="0" bIns="0" rtlCol="0">
            <a:spAutoFit/>
          </a:bodyPr>
          <a:lstStyle/>
          <a:p>
            <a:pPr marL="367665">
              <a:lnSpc>
                <a:spcPct val="100000"/>
              </a:lnSpc>
              <a:spcBef>
                <a:spcPts val="625"/>
              </a:spcBef>
            </a:pPr>
            <a:r>
              <a:rPr sz="2000" b="1" spc="-10" dirty="0">
                <a:latin typeface="Carlito"/>
                <a:cs typeface="Carlito"/>
              </a:rPr>
              <a:t>Agglomerative</a:t>
            </a:r>
            <a:endParaRPr sz="2000" dirty="0">
              <a:latin typeface="Carlito"/>
              <a:cs typeface="Carlito"/>
            </a:endParaRPr>
          </a:p>
          <a:p>
            <a:pPr marL="355600" marR="5080" indent="-342900">
              <a:lnSpc>
                <a:spcPct val="90000"/>
              </a:lnSpc>
              <a:spcBef>
                <a:spcPts val="725"/>
              </a:spcBef>
              <a:buFont typeface="Arial"/>
              <a:buChar char="•"/>
              <a:tabLst>
                <a:tab pos="354965" algn="l"/>
                <a:tab pos="355600" algn="l"/>
              </a:tabLst>
            </a:pPr>
            <a:r>
              <a:rPr sz="1900" spc="-5" dirty="0">
                <a:latin typeface="Carlito"/>
                <a:cs typeface="Carlito"/>
              </a:rPr>
              <a:t>This </a:t>
            </a:r>
            <a:r>
              <a:rPr sz="1900" spc="-15" dirty="0">
                <a:solidFill>
                  <a:srgbClr val="FF0000"/>
                </a:solidFill>
                <a:latin typeface="Carlito"/>
                <a:cs typeface="Carlito"/>
              </a:rPr>
              <a:t>bottom-up strategy </a:t>
            </a:r>
            <a:r>
              <a:rPr sz="1900" spc="-10" dirty="0">
                <a:latin typeface="Carlito"/>
                <a:cs typeface="Carlito"/>
              </a:rPr>
              <a:t>starts by  placing </a:t>
            </a:r>
            <a:r>
              <a:rPr sz="1900" spc="-5" dirty="0">
                <a:latin typeface="Carlito"/>
                <a:cs typeface="Carlito"/>
              </a:rPr>
              <a:t>each object in its </a:t>
            </a:r>
            <a:r>
              <a:rPr sz="1900" spc="-10" dirty="0">
                <a:latin typeface="Carlito"/>
                <a:cs typeface="Carlito"/>
              </a:rPr>
              <a:t>own  cluster </a:t>
            </a:r>
            <a:r>
              <a:rPr sz="1900" spc="-5" dirty="0">
                <a:latin typeface="Carlito"/>
                <a:cs typeface="Carlito"/>
              </a:rPr>
              <a:t>and then </a:t>
            </a:r>
            <a:r>
              <a:rPr sz="1900" spc="-10" dirty="0">
                <a:latin typeface="Carlito"/>
                <a:cs typeface="Carlito"/>
              </a:rPr>
              <a:t>merges </a:t>
            </a:r>
            <a:r>
              <a:rPr sz="1900" spc="-5" dirty="0">
                <a:latin typeface="Carlito"/>
                <a:cs typeface="Carlito"/>
              </a:rPr>
              <a:t>these  </a:t>
            </a:r>
            <a:r>
              <a:rPr sz="1900" spc="-15" dirty="0">
                <a:latin typeface="Carlito"/>
                <a:cs typeface="Carlito"/>
              </a:rPr>
              <a:t>atomic clusters into </a:t>
            </a:r>
            <a:r>
              <a:rPr sz="1900" spc="-10" dirty="0">
                <a:latin typeface="Carlito"/>
                <a:cs typeface="Carlito"/>
              </a:rPr>
              <a:t>larger </a:t>
            </a:r>
            <a:r>
              <a:rPr sz="1900" spc="-5" dirty="0">
                <a:latin typeface="Carlito"/>
                <a:cs typeface="Carlito"/>
              </a:rPr>
              <a:t>and  </a:t>
            </a:r>
            <a:r>
              <a:rPr sz="1900" spc="-10" dirty="0">
                <a:latin typeface="Carlito"/>
                <a:cs typeface="Carlito"/>
              </a:rPr>
              <a:t>larger </a:t>
            </a:r>
            <a:r>
              <a:rPr sz="1900" spc="-15" dirty="0">
                <a:latin typeface="Carlito"/>
                <a:cs typeface="Carlito"/>
              </a:rPr>
              <a:t>clusters, </a:t>
            </a:r>
            <a:r>
              <a:rPr sz="1900" spc="-5" dirty="0">
                <a:latin typeface="Carlito"/>
                <a:cs typeface="Carlito"/>
              </a:rPr>
              <a:t>until </a:t>
            </a:r>
            <a:r>
              <a:rPr sz="1900" dirty="0">
                <a:latin typeface="Carlito"/>
                <a:cs typeface="Carlito"/>
              </a:rPr>
              <a:t>all </a:t>
            </a:r>
            <a:r>
              <a:rPr sz="1900" spc="-5" dirty="0">
                <a:latin typeface="Carlito"/>
                <a:cs typeface="Carlito"/>
              </a:rPr>
              <a:t>of the  objects </a:t>
            </a:r>
            <a:r>
              <a:rPr sz="1900" spc="-15" dirty="0">
                <a:latin typeface="Carlito"/>
                <a:cs typeface="Carlito"/>
              </a:rPr>
              <a:t>are </a:t>
            </a:r>
            <a:r>
              <a:rPr sz="1900" spc="-5" dirty="0">
                <a:latin typeface="Carlito"/>
                <a:cs typeface="Carlito"/>
              </a:rPr>
              <a:t>in a </a:t>
            </a:r>
            <a:r>
              <a:rPr sz="1900" spc="-10" dirty="0">
                <a:latin typeface="Carlito"/>
                <a:cs typeface="Carlito"/>
              </a:rPr>
              <a:t>single cluster or  </a:t>
            </a:r>
            <a:r>
              <a:rPr sz="1900" spc="-5" dirty="0">
                <a:latin typeface="Carlito"/>
                <a:cs typeface="Carlito"/>
              </a:rPr>
              <a:t>until </a:t>
            </a:r>
            <a:r>
              <a:rPr sz="1900" spc="-10" dirty="0">
                <a:latin typeface="Carlito"/>
                <a:cs typeface="Carlito"/>
              </a:rPr>
              <a:t>certain </a:t>
            </a:r>
            <a:r>
              <a:rPr sz="1900" spc="-5" dirty="0">
                <a:latin typeface="Carlito"/>
                <a:cs typeface="Carlito"/>
              </a:rPr>
              <a:t>termination  </a:t>
            </a:r>
            <a:r>
              <a:rPr sz="1900" spc="-60" dirty="0">
                <a:latin typeface="Arial"/>
                <a:cs typeface="Arial"/>
              </a:rPr>
              <a:t>conditions </a:t>
            </a:r>
            <a:r>
              <a:rPr sz="1900" spc="-90" dirty="0">
                <a:latin typeface="Arial"/>
                <a:cs typeface="Arial"/>
              </a:rPr>
              <a:t>are</a:t>
            </a:r>
            <a:r>
              <a:rPr sz="1900" spc="-130" dirty="0">
                <a:latin typeface="Arial"/>
                <a:cs typeface="Arial"/>
              </a:rPr>
              <a:t> </a:t>
            </a:r>
            <a:r>
              <a:rPr sz="1900" spc="-75" dirty="0">
                <a:latin typeface="Arial"/>
                <a:cs typeface="Arial"/>
              </a:rPr>
              <a:t>satisﬁed</a:t>
            </a:r>
            <a:endParaRPr sz="1900" dirty="0">
              <a:latin typeface="Arial"/>
              <a:cs typeface="Arial"/>
            </a:endParaRPr>
          </a:p>
          <a:p>
            <a:pPr marL="355600" marR="72390" indent="-342900">
              <a:lnSpc>
                <a:spcPts val="2050"/>
              </a:lnSpc>
              <a:spcBef>
                <a:spcPts val="490"/>
              </a:spcBef>
              <a:buFont typeface="Arial"/>
              <a:buChar char="•"/>
              <a:tabLst>
                <a:tab pos="354965" algn="l"/>
                <a:tab pos="355600" algn="l"/>
              </a:tabLst>
            </a:pPr>
            <a:r>
              <a:rPr sz="1900" spc="-10" dirty="0">
                <a:latin typeface="Carlito"/>
                <a:cs typeface="Carlito"/>
              </a:rPr>
              <a:t>Most hierarchical clustering  </a:t>
            </a:r>
            <a:r>
              <a:rPr sz="1900" spc="-5" dirty="0">
                <a:latin typeface="Carlito"/>
                <a:cs typeface="Carlito"/>
              </a:rPr>
              <a:t>methods belong </a:t>
            </a:r>
            <a:r>
              <a:rPr sz="1900" spc="-15" dirty="0">
                <a:latin typeface="Carlito"/>
                <a:cs typeface="Carlito"/>
              </a:rPr>
              <a:t>to </a:t>
            </a:r>
            <a:r>
              <a:rPr sz="1900" spc="-5" dirty="0">
                <a:latin typeface="Carlito"/>
                <a:cs typeface="Carlito"/>
              </a:rPr>
              <a:t>this </a:t>
            </a:r>
            <a:r>
              <a:rPr sz="1900" spc="-10" dirty="0">
                <a:latin typeface="Carlito"/>
                <a:cs typeface="Carlito"/>
              </a:rPr>
              <a:t>category</a:t>
            </a:r>
            <a:endParaRPr sz="1900" dirty="0">
              <a:latin typeface="Carlito"/>
              <a:cs typeface="Carlito"/>
            </a:endParaRPr>
          </a:p>
        </p:txBody>
      </p:sp>
      <p:sp>
        <p:nvSpPr>
          <p:cNvPr id="4" name="object 4"/>
          <p:cNvSpPr txBox="1"/>
          <p:nvPr/>
        </p:nvSpPr>
        <p:spPr>
          <a:xfrm>
            <a:off x="4350258" y="1208737"/>
            <a:ext cx="4227195" cy="3109826"/>
          </a:xfrm>
          <a:prstGeom prst="rect">
            <a:avLst/>
          </a:prstGeom>
        </p:spPr>
        <p:txBody>
          <a:bodyPr vert="horz" wrap="square" lIns="0" tIns="55880" rIns="0" bIns="0" rtlCol="0">
            <a:spAutoFit/>
          </a:bodyPr>
          <a:lstStyle/>
          <a:p>
            <a:pPr marL="386715">
              <a:lnSpc>
                <a:spcPct val="100000"/>
              </a:lnSpc>
              <a:spcBef>
                <a:spcPts val="440"/>
              </a:spcBef>
            </a:pPr>
            <a:r>
              <a:rPr sz="2000" b="1" spc="-10" dirty="0">
                <a:latin typeface="Carlito"/>
                <a:cs typeface="Carlito"/>
              </a:rPr>
              <a:t>Divisive</a:t>
            </a:r>
            <a:r>
              <a:rPr sz="2000" b="1" spc="-15" dirty="0">
                <a:latin typeface="Carlito"/>
                <a:cs typeface="Carlito"/>
              </a:rPr>
              <a:t> </a:t>
            </a:r>
            <a:r>
              <a:rPr sz="2000" b="1" spc="-10" dirty="0">
                <a:latin typeface="Carlito"/>
                <a:cs typeface="Carlito"/>
              </a:rPr>
              <a:t>Hierarchical</a:t>
            </a:r>
            <a:endParaRPr sz="2000" dirty="0">
              <a:latin typeface="Carlito"/>
              <a:cs typeface="Carlito"/>
            </a:endParaRPr>
          </a:p>
          <a:p>
            <a:pPr marL="355600" marR="50165" indent="-342900">
              <a:lnSpc>
                <a:spcPct val="80000"/>
              </a:lnSpc>
              <a:spcBef>
                <a:spcPts val="770"/>
              </a:spcBef>
              <a:buFont typeface="Arial"/>
              <a:buChar char="•"/>
              <a:tabLst>
                <a:tab pos="354965" algn="l"/>
                <a:tab pos="355600" algn="l"/>
              </a:tabLst>
            </a:pPr>
            <a:r>
              <a:rPr sz="1900" spc="-10" dirty="0">
                <a:latin typeface="Carlito"/>
                <a:cs typeface="Carlito"/>
              </a:rPr>
              <a:t>This top-down </a:t>
            </a:r>
            <a:r>
              <a:rPr sz="1900" spc="-15" dirty="0">
                <a:latin typeface="Carlito"/>
                <a:cs typeface="Carlito"/>
              </a:rPr>
              <a:t>strategy </a:t>
            </a:r>
            <a:r>
              <a:rPr sz="1900" spc="-10" dirty="0">
                <a:latin typeface="Carlito"/>
                <a:cs typeface="Carlito"/>
              </a:rPr>
              <a:t>does </a:t>
            </a:r>
            <a:r>
              <a:rPr sz="1900" spc="-5" dirty="0">
                <a:latin typeface="Carlito"/>
                <a:cs typeface="Carlito"/>
              </a:rPr>
              <a:t>the  </a:t>
            </a:r>
            <a:r>
              <a:rPr sz="1900" spc="-20" dirty="0">
                <a:latin typeface="Carlito"/>
                <a:cs typeface="Carlito"/>
              </a:rPr>
              <a:t>reverse </a:t>
            </a:r>
            <a:r>
              <a:rPr sz="1900" spc="-5" dirty="0">
                <a:latin typeface="Carlito"/>
                <a:cs typeface="Carlito"/>
              </a:rPr>
              <a:t>of </a:t>
            </a:r>
            <a:r>
              <a:rPr sz="1900" spc="-10" dirty="0">
                <a:latin typeface="Carlito"/>
                <a:cs typeface="Carlito"/>
              </a:rPr>
              <a:t>agglomerative hierarchical  clustering </a:t>
            </a:r>
            <a:r>
              <a:rPr sz="1900" spc="-10" dirty="0">
                <a:solidFill>
                  <a:srgbClr val="FF0000"/>
                </a:solidFill>
                <a:latin typeface="Carlito"/>
                <a:cs typeface="Carlito"/>
              </a:rPr>
              <a:t>by starting </a:t>
            </a:r>
            <a:r>
              <a:rPr sz="1900" spc="-5" dirty="0">
                <a:solidFill>
                  <a:srgbClr val="FF0000"/>
                </a:solidFill>
                <a:latin typeface="Carlito"/>
                <a:cs typeface="Carlito"/>
              </a:rPr>
              <a:t>with all objects </a:t>
            </a:r>
            <a:r>
              <a:rPr sz="1900" spc="-10" dirty="0">
                <a:solidFill>
                  <a:srgbClr val="FF0000"/>
                </a:solidFill>
                <a:latin typeface="Carlito"/>
                <a:cs typeface="Carlito"/>
              </a:rPr>
              <a:t>in  one cluster</a:t>
            </a:r>
            <a:endParaRPr sz="1900" dirty="0">
              <a:solidFill>
                <a:srgbClr val="FF0000"/>
              </a:solidFill>
              <a:latin typeface="Carlito"/>
              <a:cs typeface="Carlito"/>
            </a:endParaRPr>
          </a:p>
          <a:p>
            <a:pPr marL="355600" marR="5080" indent="-342900">
              <a:lnSpc>
                <a:spcPct val="80000"/>
              </a:lnSpc>
              <a:spcBef>
                <a:spcPts val="459"/>
              </a:spcBef>
              <a:buFont typeface="Arial"/>
              <a:buChar char="•"/>
              <a:tabLst>
                <a:tab pos="354965" algn="l"/>
                <a:tab pos="355600" algn="l"/>
              </a:tabLst>
            </a:pPr>
            <a:r>
              <a:rPr sz="1900" spc="-5" dirty="0">
                <a:latin typeface="Carlito"/>
                <a:cs typeface="Carlito"/>
              </a:rPr>
              <a:t>It </a:t>
            </a:r>
            <a:r>
              <a:rPr sz="1900" spc="-10" dirty="0">
                <a:latin typeface="Carlito"/>
                <a:cs typeface="Carlito"/>
              </a:rPr>
              <a:t>subdivides </a:t>
            </a:r>
            <a:r>
              <a:rPr sz="1900" spc="-5" dirty="0">
                <a:latin typeface="Carlito"/>
                <a:cs typeface="Carlito"/>
              </a:rPr>
              <a:t>the </a:t>
            </a:r>
            <a:r>
              <a:rPr sz="1900" spc="-10" dirty="0">
                <a:latin typeface="Carlito"/>
                <a:cs typeface="Carlito"/>
              </a:rPr>
              <a:t>cluster </a:t>
            </a:r>
            <a:r>
              <a:rPr sz="1900" spc="-15" dirty="0">
                <a:latin typeface="Carlito"/>
                <a:cs typeface="Carlito"/>
              </a:rPr>
              <a:t>into </a:t>
            </a:r>
            <a:r>
              <a:rPr sz="1900" spc="-10" dirty="0">
                <a:latin typeface="Carlito"/>
                <a:cs typeface="Carlito"/>
              </a:rPr>
              <a:t>smaller  </a:t>
            </a:r>
            <a:r>
              <a:rPr sz="1900" spc="-5" dirty="0">
                <a:latin typeface="Carlito"/>
                <a:cs typeface="Carlito"/>
              </a:rPr>
              <a:t>and smaller pieces, until </a:t>
            </a:r>
            <a:r>
              <a:rPr sz="1900" dirty="0">
                <a:latin typeface="Carlito"/>
                <a:cs typeface="Carlito"/>
              </a:rPr>
              <a:t>each </a:t>
            </a:r>
            <a:r>
              <a:rPr sz="1900" spc="-10" dirty="0">
                <a:latin typeface="Carlito"/>
                <a:cs typeface="Carlito"/>
              </a:rPr>
              <a:t>object  </a:t>
            </a:r>
            <a:r>
              <a:rPr sz="1900" spc="-15" dirty="0">
                <a:latin typeface="Carlito"/>
                <a:cs typeface="Carlito"/>
              </a:rPr>
              <a:t>forms </a:t>
            </a:r>
            <a:r>
              <a:rPr sz="1900" spc="-5" dirty="0">
                <a:latin typeface="Carlito"/>
                <a:cs typeface="Carlito"/>
              </a:rPr>
              <a:t>a </a:t>
            </a:r>
            <a:r>
              <a:rPr sz="1900" spc="-15" dirty="0">
                <a:latin typeface="Carlito"/>
                <a:cs typeface="Carlito"/>
              </a:rPr>
              <a:t>cluster </a:t>
            </a:r>
            <a:r>
              <a:rPr sz="1900" spc="-5" dirty="0">
                <a:latin typeface="Carlito"/>
                <a:cs typeface="Carlito"/>
              </a:rPr>
              <a:t>on its </a:t>
            </a:r>
            <a:r>
              <a:rPr sz="1900" spc="-10" dirty="0">
                <a:latin typeface="Carlito"/>
                <a:cs typeface="Carlito"/>
              </a:rPr>
              <a:t>own </a:t>
            </a:r>
            <a:r>
              <a:rPr sz="1900" spc="-5" dirty="0">
                <a:latin typeface="Carlito"/>
                <a:cs typeface="Carlito"/>
              </a:rPr>
              <a:t>or </a:t>
            </a:r>
            <a:r>
              <a:rPr sz="1900" spc="-10" dirty="0">
                <a:latin typeface="Carlito"/>
                <a:cs typeface="Carlito"/>
              </a:rPr>
              <a:t>until </a:t>
            </a:r>
            <a:r>
              <a:rPr sz="1900" spc="-5" dirty="0">
                <a:latin typeface="Carlito"/>
                <a:cs typeface="Carlito"/>
              </a:rPr>
              <a:t>it  </a:t>
            </a:r>
            <a:r>
              <a:rPr sz="1900" spc="-95" dirty="0">
                <a:latin typeface="Arial"/>
                <a:cs typeface="Arial"/>
              </a:rPr>
              <a:t>satisﬁes </a:t>
            </a:r>
            <a:r>
              <a:rPr sz="1900" spc="-50" dirty="0">
                <a:latin typeface="Arial"/>
                <a:cs typeface="Arial"/>
              </a:rPr>
              <a:t>certain </a:t>
            </a:r>
            <a:r>
              <a:rPr sz="1900" spc="-30" dirty="0">
                <a:latin typeface="Arial"/>
                <a:cs typeface="Arial"/>
              </a:rPr>
              <a:t>termination</a:t>
            </a:r>
            <a:r>
              <a:rPr sz="1900" spc="-190" dirty="0">
                <a:latin typeface="Arial"/>
                <a:cs typeface="Arial"/>
              </a:rPr>
              <a:t> </a:t>
            </a:r>
            <a:r>
              <a:rPr sz="1900" spc="-60" dirty="0">
                <a:latin typeface="Arial"/>
                <a:cs typeface="Arial"/>
              </a:rPr>
              <a:t>conditions,  </a:t>
            </a:r>
            <a:r>
              <a:rPr sz="1900" spc="-10" dirty="0">
                <a:latin typeface="Carlito"/>
                <a:cs typeface="Carlito"/>
              </a:rPr>
              <a:t>such </a:t>
            </a:r>
            <a:r>
              <a:rPr sz="1900" spc="-5" dirty="0">
                <a:latin typeface="Carlito"/>
                <a:cs typeface="Carlito"/>
              </a:rPr>
              <a:t>as a </a:t>
            </a:r>
            <a:r>
              <a:rPr sz="1900" spc="-10" dirty="0">
                <a:latin typeface="Carlito"/>
                <a:cs typeface="Carlito"/>
              </a:rPr>
              <a:t>desired number </a:t>
            </a:r>
            <a:r>
              <a:rPr sz="1900" spc="-5" dirty="0">
                <a:latin typeface="Carlito"/>
                <a:cs typeface="Carlito"/>
              </a:rPr>
              <a:t>of </a:t>
            </a:r>
            <a:r>
              <a:rPr sz="1900" spc="-15" dirty="0">
                <a:latin typeface="Carlito"/>
                <a:cs typeface="Carlito"/>
              </a:rPr>
              <a:t>clusters </a:t>
            </a:r>
            <a:r>
              <a:rPr sz="1900" spc="-5" dirty="0">
                <a:latin typeface="Carlito"/>
                <a:cs typeface="Carlito"/>
              </a:rPr>
              <a:t>is  </a:t>
            </a:r>
            <a:r>
              <a:rPr sz="1900" spc="-10" dirty="0">
                <a:latin typeface="Carlito"/>
                <a:cs typeface="Carlito"/>
              </a:rPr>
              <a:t>obtained </a:t>
            </a:r>
            <a:r>
              <a:rPr sz="1900" spc="-5" dirty="0">
                <a:latin typeface="Carlito"/>
                <a:cs typeface="Carlito"/>
              </a:rPr>
              <a:t>or the </a:t>
            </a:r>
            <a:r>
              <a:rPr sz="1900" spc="-10" dirty="0">
                <a:latin typeface="Carlito"/>
                <a:cs typeface="Carlito"/>
              </a:rPr>
              <a:t>diameter </a:t>
            </a:r>
            <a:r>
              <a:rPr sz="1900" spc="-5" dirty="0">
                <a:latin typeface="Carlito"/>
                <a:cs typeface="Carlito"/>
              </a:rPr>
              <a:t>of each  </a:t>
            </a:r>
            <a:r>
              <a:rPr sz="1900" spc="-10" dirty="0">
                <a:latin typeface="Carlito"/>
                <a:cs typeface="Carlito"/>
              </a:rPr>
              <a:t>cluster </a:t>
            </a:r>
            <a:r>
              <a:rPr sz="1900" spc="-5" dirty="0">
                <a:latin typeface="Carlito"/>
                <a:cs typeface="Carlito"/>
              </a:rPr>
              <a:t>is within a certain</a:t>
            </a:r>
            <a:r>
              <a:rPr sz="1900" spc="5" dirty="0">
                <a:latin typeface="Carlito"/>
                <a:cs typeface="Carlito"/>
              </a:rPr>
              <a:t> </a:t>
            </a:r>
            <a:r>
              <a:rPr sz="1900" spc="-5" dirty="0">
                <a:latin typeface="Carlito"/>
                <a:cs typeface="Carlito"/>
              </a:rPr>
              <a:t>threshold</a:t>
            </a:r>
            <a:endParaRPr sz="1900" dirty="0">
              <a:latin typeface="Carlito"/>
              <a:cs typeface="Carlito"/>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a:t>
            </a:fld>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7049" y="385953"/>
            <a:ext cx="7699375" cy="452120"/>
          </a:xfrm>
          <a:prstGeom prst="rect">
            <a:avLst/>
          </a:prstGeom>
        </p:spPr>
        <p:txBody>
          <a:bodyPr vert="horz" wrap="square" lIns="0" tIns="12065" rIns="0" bIns="0" rtlCol="0">
            <a:spAutoFit/>
          </a:bodyPr>
          <a:lstStyle/>
          <a:p>
            <a:pPr marL="12700">
              <a:lnSpc>
                <a:spcPct val="100000"/>
              </a:lnSpc>
              <a:spcBef>
                <a:spcPts val="95"/>
              </a:spcBef>
            </a:pPr>
            <a:r>
              <a:rPr sz="2800" b="1" spc="-15" dirty="0">
                <a:solidFill>
                  <a:srgbClr val="0000FF"/>
                </a:solidFill>
                <a:latin typeface="Carlito"/>
                <a:cs typeface="Carlito"/>
              </a:rPr>
              <a:t>Agglomerative versus </a:t>
            </a:r>
            <a:r>
              <a:rPr sz="2800" b="1" spc="-10" dirty="0">
                <a:solidFill>
                  <a:srgbClr val="0000FF"/>
                </a:solidFill>
                <a:latin typeface="Carlito"/>
                <a:cs typeface="Carlito"/>
              </a:rPr>
              <a:t>divisive hierarchical</a:t>
            </a:r>
            <a:r>
              <a:rPr sz="2800" b="1" spc="185" dirty="0">
                <a:solidFill>
                  <a:srgbClr val="0000FF"/>
                </a:solidFill>
                <a:latin typeface="Carlito"/>
                <a:cs typeface="Carlito"/>
              </a:rPr>
              <a:t> </a:t>
            </a:r>
            <a:r>
              <a:rPr sz="2800" b="1" spc="-15" dirty="0">
                <a:solidFill>
                  <a:srgbClr val="0000FF"/>
                </a:solidFill>
                <a:latin typeface="Carlito"/>
                <a:cs typeface="Carlito"/>
              </a:rPr>
              <a:t>clustering</a:t>
            </a:r>
            <a:endParaRPr sz="2800">
              <a:latin typeface="Carlito"/>
              <a:cs typeface="Carlito"/>
            </a:endParaRPr>
          </a:p>
        </p:txBody>
      </p:sp>
      <p:sp>
        <p:nvSpPr>
          <p:cNvPr id="4" name="object 4"/>
          <p:cNvSpPr/>
          <p:nvPr/>
        </p:nvSpPr>
        <p:spPr>
          <a:xfrm>
            <a:off x="1335024" y="1063752"/>
            <a:ext cx="6592824" cy="3060192"/>
          </a:xfrm>
          <a:prstGeom prst="rect">
            <a:avLst/>
          </a:prstGeom>
          <a:blipFill>
            <a:blip r:embed="rId2" cstate="print"/>
            <a:stretch>
              <a:fillRect/>
            </a:stretch>
          </a:blipFill>
        </p:spPr>
        <p:txBody>
          <a:bodyPr wrap="square" lIns="0" tIns="0" rIns="0" bIns="0" rtlCol="0"/>
          <a:lstStyle/>
          <a:p>
            <a:endParaRPr/>
          </a:p>
        </p:txBody>
      </p:sp>
      <p:sp>
        <p:nvSpPr>
          <p:cNvPr id="7" name="object 7"/>
          <p:cNvSpPr txBox="1"/>
          <p:nvPr/>
        </p:nvSpPr>
        <p:spPr>
          <a:xfrm>
            <a:off x="842568" y="4279188"/>
            <a:ext cx="7868284"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rlito"/>
                <a:cs typeface="Carlito"/>
              </a:rPr>
              <a:t>Figure: </a:t>
            </a:r>
            <a:r>
              <a:rPr sz="1800" dirty="0">
                <a:latin typeface="Carlito"/>
                <a:cs typeface="Carlito"/>
              </a:rPr>
              <a:t>1 </a:t>
            </a:r>
            <a:r>
              <a:rPr sz="1800" spc="-5" dirty="0">
                <a:latin typeface="Carlito"/>
                <a:cs typeface="Carlito"/>
              </a:rPr>
              <a:t>Agglomerative </a:t>
            </a:r>
            <a:r>
              <a:rPr sz="1800" dirty="0">
                <a:latin typeface="Carlito"/>
                <a:cs typeface="Carlito"/>
              </a:rPr>
              <a:t>and </a:t>
            </a:r>
            <a:r>
              <a:rPr sz="1800" spc="-10" dirty="0">
                <a:latin typeface="Carlito"/>
                <a:cs typeface="Carlito"/>
              </a:rPr>
              <a:t>divisive hierarchical clustering </a:t>
            </a:r>
            <a:r>
              <a:rPr sz="1800" spc="-5" dirty="0">
                <a:latin typeface="Carlito"/>
                <a:cs typeface="Carlito"/>
              </a:rPr>
              <a:t>on </a:t>
            </a:r>
            <a:r>
              <a:rPr sz="1800" spc="-15" dirty="0">
                <a:latin typeface="Carlito"/>
                <a:cs typeface="Carlito"/>
              </a:rPr>
              <a:t>data</a:t>
            </a:r>
            <a:r>
              <a:rPr sz="1800" spc="180" dirty="0">
                <a:latin typeface="Carlito"/>
                <a:cs typeface="Carlito"/>
              </a:rPr>
              <a:t> </a:t>
            </a:r>
            <a:r>
              <a:rPr sz="1800" spc="-5" dirty="0">
                <a:latin typeface="Carlito"/>
                <a:cs typeface="Carlito"/>
              </a:rPr>
              <a:t>objects{a,b,c,d,e}</a:t>
            </a:r>
            <a:endParaRPr sz="1800">
              <a:latin typeface="Carlito"/>
              <a:cs typeface="Carlito"/>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6</a:t>
            </a:fld>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21202" y="385953"/>
            <a:ext cx="2103755" cy="452120"/>
          </a:xfrm>
          <a:prstGeom prst="rect">
            <a:avLst/>
          </a:prstGeom>
        </p:spPr>
        <p:txBody>
          <a:bodyPr vert="horz" wrap="square" lIns="0" tIns="12065" rIns="0" bIns="0" rtlCol="0">
            <a:spAutoFit/>
          </a:bodyPr>
          <a:lstStyle/>
          <a:p>
            <a:pPr marL="12700">
              <a:lnSpc>
                <a:spcPct val="100000"/>
              </a:lnSpc>
              <a:spcBef>
                <a:spcPts val="95"/>
              </a:spcBef>
            </a:pPr>
            <a:r>
              <a:rPr sz="2800" b="1" spc="-20" dirty="0">
                <a:solidFill>
                  <a:srgbClr val="0000FF"/>
                </a:solidFill>
                <a:latin typeface="Carlito"/>
                <a:cs typeface="Carlito"/>
              </a:rPr>
              <a:t>Interpretation</a:t>
            </a:r>
            <a:endParaRPr sz="2800">
              <a:latin typeface="Carlito"/>
              <a:cs typeface="Carlito"/>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7</a:t>
            </a:fld>
            <a:endParaRPr dirty="0"/>
          </a:p>
        </p:txBody>
      </p:sp>
      <p:sp>
        <p:nvSpPr>
          <p:cNvPr id="3" name="object 3"/>
          <p:cNvSpPr txBox="1"/>
          <p:nvPr/>
        </p:nvSpPr>
        <p:spPr>
          <a:xfrm>
            <a:off x="497840" y="1216913"/>
            <a:ext cx="7917815" cy="2952750"/>
          </a:xfrm>
          <a:prstGeom prst="rect">
            <a:avLst/>
          </a:prstGeom>
        </p:spPr>
        <p:txBody>
          <a:bodyPr vert="horz" wrap="square" lIns="0" tIns="13335" rIns="0" bIns="0" rtlCol="0">
            <a:spAutoFit/>
          </a:bodyPr>
          <a:lstStyle/>
          <a:p>
            <a:pPr marL="393700" marR="200025" indent="-342900">
              <a:lnSpc>
                <a:spcPct val="100000"/>
              </a:lnSpc>
              <a:spcBef>
                <a:spcPts val="105"/>
              </a:spcBef>
              <a:buFont typeface="Arial"/>
              <a:buChar char="•"/>
              <a:tabLst>
                <a:tab pos="393065" algn="l"/>
                <a:tab pos="393700" algn="l"/>
              </a:tabLst>
            </a:pPr>
            <a:r>
              <a:rPr sz="2000" spc="-5" dirty="0">
                <a:latin typeface="Carlito"/>
                <a:cs typeface="Carlito"/>
              </a:rPr>
              <a:t>Figure: </a:t>
            </a:r>
            <a:r>
              <a:rPr sz="2000" dirty="0">
                <a:latin typeface="Carlito"/>
                <a:cs typeface="Carlito"/>
              </a:rPr>
              <a:t>1 </a:t>
            </a:r>
            <a:r>
              <a:rPr sz="2000" spc="-5" dirty="0">
                <a:latin typeface="Carlito"/>
                <a:cs typeface="Carlito"/>
              </a:rPr>
              <a:t>shows </a:t>
            </a:r>
            <a:r>
              <a:rPr sz="2000" dirty="0">
                <a:latin typeface="Carlito"/>
                <a:cs typeface="Carlito"/>
              </a:rPr>
              <a:t>the </a:t>
            </a:r>
            <a:r>
              <a:rPr sz="2000" spc="-5" dirty="0">
                <a:latin typeface="Carlito"/>
                <a:cs typeface="Carlito"/>
              </a:rPr>
              <a:t>application of </a:t>
            </a:r>
            <a:r>
              <a:rPr sz="2000" spc="-5" dirty="0">
                <a:solidFill>
                  <a:srgbClr val="FF0000"/>
                </a:solidFill>
                <a:latin typeface="Carlito"/>
                <a:cs typeface="Carlito"/>
              </a:rPr>
              <a:t>AGNES </a:t>
            </a:r>
            <a:r>
              <a:rPr sz="2000" spc="-10" dirty="0">
                <a:solidFill>
                  <a:srgbClr val="FF0000"/>
                </a:solidFill>
                <a:latin typeface="Carlito"/>
                <a:cs typeface="Carlito"/>
              </a:rPr>
              <a:t>(AGglomerative </a:t>
            </a:r>
            <a:r>
              <a:rPr sz="2000" spc="-5" dirty="0">
                <a:solidFill>
                  <a:srgbClr val="FF0000"/>
                </a:solidFill>
                <a:latin typeface="Carlito"/>
                <a:cs typeface="Carlito"/>
              </a:rPr>
              <a:t>NESting), </a:t>
            </a:r>
            <a:r>
              <a:rPr sz="2000" dirty="0">
                <a:latin typeface="Carlito"/>
                <a:cs typeface="Carlito"/>
              </a:rPr>
              <a:t>an  </a:t>
            </a:r>
            <a:r>
              <a:rPr sz="2000" spc="-5" dirty="0">
                <a:latin typeface="Carlito"/>
                <a:cs typeface="Carlito"/>
              </a:rPr>
              <a:t>agglomerative </a:t>
            </a:r>
            <a:r>
              <a:rPr sz="2000" spc="-10" dirty="0">
                <a:latin typeface="Carlito"/>
                <a:cs typeface="Carlito"/>
              </a:rPr>
              <a:t>hierarchical </a:t>
            </a:r>
            <a:r>
              <a:rPr sz="2000" spc="-5" dirty="0">
                <a:latin typeface="Carlito"/>
                <a:cs typeface="Carlito"/>
              </a:rPr>
              <a:t>clustering method, </a:t>
            </a:r>
            <a:r>
              <a:rPr sz="2000" dirty="0">
                <a:latin typeface="Carlito"/>
                <a:cs typeface="Carlito"/>
              </a:rPr>
              <a:t>and DIANA </a:t>
            </a:r>
            <a:r>
              <a:rPr sz="2000" spc="-10" dirty="0">
                <a:latin typeface="Carlito"/>
                <a:cs typeface="Carlito"/>
              </a:rPr>
              <a:t>(DIvisive  </a:t>
            </a:r>
            <a:r>
              <a:rPr sz="2000" spc="-15" dirty="0">
                <a:latin typeface="Carlito"/>
                <a:cs typeface="Carlito"/>
              </a:rPr>
              <a:t>ANAlysis</a:t>
            </a:r>
            <a:r>
              <a:rPr sz="2000" spc="-15" dirty="0">
                <a:latin typeface="Arial"/>
                <a:cs typeface="Arial"/>
              </a:rPr>
              <a:t>),</a:t>
            </a:r>
            <a:r>
              <a:rPr sz="2000" spc="-105" dirty="0">
                <a:latin typeface="Arial"/>
                <a:cs typeface="Arial"/>
              </a:rPr>
              <a:t> </a:t>
            </a:r>
            <a:r>
              <a:rPr sz="2000" spc="-155" dirty="0">
                <a:latin typeface="Arial"/>
                <a:cs typeface="Arial"/>
              </a:rPr>
              <a:t>a</a:t>
            </a:r>
            <a:r>
              <a:rPr sz="2000" spc="-110" dirty="0">
                <a:latin typeface="Arial"/>
                <a:cs typeface="Arial"/>
              </a:rPr>
              <a:t> </a:t>
            </a:r>
            <a:r>
              <a:rPr sz="2000" spc="-75" dirty="0">
                <a:latin typeface="Arial"/>
                <a:cs typeface="Arial"/>
              </a:rPr>
              <a:t>divisive</a:t>
            </a:r>
            <a:r>
              <a:rPr sz="2000" spc="-80" dirty="0">
                <a:latin typeface="Arial"/>
                <a:cs typeface="Arial"/>
              </a:rPr>
              <a:t> </a:t>
            </a:r>
            <a:r>
              <a:rPr sz="2000" spc="-70" dirty="0">
                <a:latin typeface="Arial"/>
                <a:cs typeface="Arial"/>
              </a:rPr>
              <a:t>hierarchical</a:t>
            </a:r>
            <a:r>
              <a:rPr sz="2000" spc="-114" dirty="0">
                <a:latin typeface="Arial"/>
                <a:cs typeface="Arial"/>
              </a:rPr>
              <a:t> </a:t>
            </a:r>
            <a:r>
              <a:rPr sz="2000" spc="-65" dirty="0">
                <a:latin typeface="Arial"/>
                <a:cs typeface="Arial"/>
              </a:rPr>
              <a:t>clustering</a:t>
            </a:r>
            <a:r>
              <a:rPr sz="2000" spc="-105" dirty="0">
                <a:latin typeface="Arial"/>
                <a:cs typeface="Arial"/>
              </a:rPr>
              <a:t> </a:t>
            </a:r>
            <a:r>
              <a:rPr sz="2000" spc="-45" dirty="0">
                <a:latin typeface="Arial"/>
                <a:cs typeface="Arial"/>
              </a:rPr>
              <a:t>method,</a:t>
            </a:r>
            <a:r>
              <a:rPr sz="2000" spc="-114" dirty="0">
                <a:latin typeface="Arial"/>
                <a:cs typeface="Arial"/>
              </a:rPr>
              <a:t> </a:t>
            </a:r>
            <a:r>
              <a:rPr sz="2000" spc="15" dirty="0">
                <a:latin typeface="Arial"/>
                <a:cs typeface="Arial"/>
              </a:rPr>
              <a:t>to</a:t>
            </a:r>
            <a:r>
              <a:rPr sz="2000" spc="-120" dirty="0">
                <a:latin typeface="Arial"/>
                <a:cs typeface="Arial"/>
              </a:rPr>
              <a:t> </a:t>
            </a:r>
            <a:r>
              <a:rPr sz="2000" spc="-155" dirty="0">
                <a:latin typeface="Arial"/>
                <a:cs typeface="Arial"/>
              </a:rPr>
              <a:t>a</a:t>
            </a:r>
            <a:r>
              <a:rPr sz="2000" spc="-105" dirty="0">
                <a:latin typeface="Arial"/>
                <a:cs typeface="Arial"/>
              </a:rPr>
              <a:t> </a:t>
            </a:r>
            <a:r>
              <a:rPr sz="2000" spc="-75" dirty="0">
                <a:latin typeface="Arial"/>
                <a:cs typeface="Arial"/>
              </a:rPr>
              <a:t>data</a:t>
            </a:r>
            <a:r>
              <a:rPr sz="2000" spc="-110" dirty="0">
                <a:latin typeface="Arial"/>
                <a:cs typeface="Arial"/>
              </a:rPr>
              <a:t> </a:t>
            </a:r>
            <a:r>
              <a:rPr sz="2000" spc="-80" dirty="0">
                <a:latin typeface="Arial"/>
                <a:cs typeface="Arial"/>
              </a:rPr>
              <a:t>set</a:t>
            </a:r>
            <a:r>
              <a:rPr sz="2000" spc="-90" dirty="0">
                <a:latin typeface="Arial"/>
                <a:cs typeface="Arial"/>
              </a:rPr>
              <a:t> </a:t>
            </a:r>
            <a:r>
              <a:rPr sz="2000" spc="-5" dirty="0">
                <a:latin typeface="Arial"/>
                <a:cs typeface="Arial"/>
              </a:rPr>
              <a:t>of</a:t>
            </a:r>
            <a:r>
              <a:rPr sz="2000" spc="-120" dirty="0">
                <a:latin typeface="Arial"/>
                <a:cs typeface="Arial"/>
              </a:rPr>
              <a:t> </a:t>
            </a:r>
            <a:r>
              <a:rPr sz="2000" spc="-65" dirty="0">
                <a:latin typeface="Arial"/>
                <a:cs typeface="Arial"/>
              </a:rPr>
              <a:t>ﬁve  </a:t>
            </a:r>
            <a:r>
              <a:rPr sz="2000" spc="-5" dirty="0">
                <a:latin typeface="Carlito"/>
                <a:cs typeface="Carlito"/>
              </a:rPr>
              <a:t>objects,</a:t>
            </a:r>
            <a:r>
              <a:rPr sz="2000" spc="-15" dirty="0">
                <a:latin typeface="Carlito"/>
                <a:cs typeface="Carlito"/>
              </a:rPr>
              <a:t> </a:t>
            </a:r>
            <a:r>
              <a:rPr sz="2000" dirty="0">
                <a:latin typeface="Carlito"/>
                <a:cs typeface="Carlito"/>
              </a:rPr>
              <a:t>{a,b,c,d,e}</a:t>
            </a:r>
          </a:p>
          <a:p>
            <a:pPr marL="393700" indent="-342900">
              <a:lnSpc>
                <a:spcPct val="100000"/>
              </a:lnSpc>
              <a:spcBef>
                <a:spcPts val="480"/>
              </a:spcBef>
              <a:buFont typeface="Arial"/>
              <a:buChar char="•"/>
              <a:tabLst>
                <a:tab pos="393065" algn="l"/>
                <a:tab pos="393700" algn="l"/>
              </a:tabLst>
            </a:pPr>
            <a:r>
              <a:rPr sz="2000" spc="-15" dirty="0">
                <a:latin typeface="Carlito"/>
                <a:cs typeface="Carlito"/>
              </a:rPr>
              <a:t>Initially, </a:t>
            </a:r>
            <a:r>
              <a:rPr sz="2000" spc="-5" dirty="0">
                <a:latin typeface="Carlito"/>
                <a:cs typeface="Carlito"/>
              </a:rPr>
              <a:t>AGNES </a:t>
            </a:r>
            <a:r>
              <a:rPr sz="2000" dirty="0">
                <a:latin typeface="Carlito"/>
                <a:cs typeface="Carlito"/>
              </a:rPr>
              <a:t>places each </a:t>
            </a:r>
            <a:r>
              <a:rPr sz="2000" spc="-5" dirty="0">
                <a:latin typeface="Carlito"/>
                <a:cs typeface="Carlito"/>
              </a:rPr>
              <a:t>object </a:t>
            </a:r>
            <a:r>
              <a:rPr sz="2000" spc="-15" dirty="0">
                <a:latin typeface="Carlito"/>
                <a:cs typeface="Carlito"/>
              </a:rPr>
              <a:t>into </a:t>
            </a:r>
            <a:r>
              <a:rPr sz="2000" dirty="0">
                <a:latin typeface="Carlito"/>
                <a:cs typeface="Carlito"/>
              </a:rPr>
              <a:t>a </a:t>
            </a:r>
            <a:r>
              <a:rPr sz="2000" spc="-10" dirty="0">
                <a:latin typeface="Carlito"/>
                <a:cs typeface="Carlito"/>
              </a:rPr>
              <a:t>cluster </a:t>
            </a:r>
            <a:r>
              <a:rPr sz="2000" spc="-5" dirty="0">
                <a:latin typeface="Carlito"/>
                <a:cs typeface="Carlito"/>
              </a:rPr>
              <a:t>of its</a:t>
            </a:r>
            <a:r>
              <a:rPr sz="2000" spc="65" dirty="0">
                <a:latin typeface="Carlito"/>
                <a:cs typeface="Carlito"/>
              </a:rPr>
              <a:t> </a:t>
            </a:r>
            <a:r>
              <a:rPr sz="2000" spc="-5" dirty="0">
                <a:latin typeface="Carlito"/>
                <a:cs typeface="Carlito"/>
              </a:rPr>
              <a:t>own</a:t>
            </a:r>
            <a:endParaRPr sz="2000" dirty="0">
              <a:latin typeface="Carlito"/>
              <a:cs typeface="Carlito"/>
            </a:endParaRPr>
          </a:p>
          <a:p>
            <a:pPr marL="393700" indent="-342900">
              <a:lnSpc>
                <a:spcPct val="100000"/>
              </a:lnSpc>
              <a:spcBef>
                <a:spcPts val="480"/>
              </a:spcBef>
              <a:buFont typeface="Arial"/>
              <a:buChar char="•"/>
              <a:tabLst>
                <a:tab pos="393065" algn="l"/>
                <a:tab pos="393700" algn="l"/>
              </a:tabLst>
            </a:pPr>
            <a:r>
              <a:rPr sz="2000" spc="-5" dirty="0">
                <a:latin typeface="Carlito"/>
                <a:cs typeface="Carlito"/>
              </a:rPr>
              <a:t>The </a:t>
            </a:r>
            <a:r>
              <a:rPr sz="2000" spc="-10" dirty="0">
                <a:latin typeface="Carlito"/>
                <a:cs typeface="Carlito"/>
              </a:rPr>
              <a:t>clusters are </a:t>
            </a:r>
            <a:r>
              <a:rPr sz="2000" dirty="0">
                <a:latin typeface="Carlito"/>
                <a:cs typeface="Carlito"/>
              </a:rPr>
              <a:t>then </a:t>
            </a:r>
            <a:r>
              <a:rPr sz="2000" spc="-5" dirty="0">
                <a:latin typeface="Carlito"/>
                <a:cs typeface="Carlito"/>
              </a:rPr>
              <a:t>merged </a:t>
            </a:r>
            <a:r>
              <a:rPr sz="2000" spc="-15" dirty="0">
                <a:latin typeface="Carlito"/>
                <a:cs typeface="Carlito"/>
              </a:rPr>
              <a:t>step-by-step </a:t>
            </a:r>
            <a:r>
              <a:rPr sz="2000" spc="-5" dirty="0">
                <a:latin typeface="Carlito"/>
                <a:cs typeface="Carlito"/>
              </a:rPr>
              <a:t>according </a:t>
            </a:r>
            <a:r>
              <a:rPr sz="2000" spc="-10" dirty="0">
                <a:latin typeface="Carlito"/>
                <a:cs typeface="Carlito"/>
              </a:rPr>
              <a:t>to </a:t>
            </a:r>
            <a:r>
              <a:rPr sz="2000" spc="-5" dirty="0">
                <a:latin typeface="Carlito"/>
                <a:cs typeface="Carlito"/>
              </a:rPr>
              <a:t>some</a:t>
            </a:r>
            <a:r>
              <a:rPr sz="2000" spc="60" dirty="0">
                <a:latin typeface="Carlito"/>
                <a:cs typeface="Carlito"/>
              </a:rPr>
              <a:t> </a:t>
            </a:r>
            <a:r>
              <a:rPr sz="2000" spc="-5" dirty="0">
                <a:latin typeface="Carlito"/>
                <a:cs typeface="Carlito"/>
              </a:rPr>
              <a:t>criterion</a:t>
            </a:r>
            <a:endParaRPr sz="2000" dirty="0">
              <a:latin typeface="Carlito"/>
              <a:cs typeface="Carlito"/>
            </a:endParaRPr>
          </a:p>
          <a:p>
            <a:pPr marL="393700" marR="55880" indent="-342900">
              <a:lnSpc>
                <a:spcPct val="100000"/>
              </a:lnSpc>
              <a:spcBef>
                <a:spcPts val="480"/>
              </a:spcBef>
              <a:buChar char="•"/>
              <a:tabLst>
                <a:tab pos="393065" algn="l"/>
                <a:tab pos="393700" algn="l"/>
              </a:tabLst>
            </a:pPr>
            <a:r>
              <a:rPr sz="2000" spc="-100" dirty="0">
                <a:latin typeface="Arial"/>
                <a:cs typeface="Arial"/>
              </a:rPr>
              <a:t>Let’s </a:t>
            </a:r>
            <a:r>
              <a:rPr sz="2000" spc="-175" dirty="0">
                <a:latin typeface="Arial"/>
                <a:cs typeface="Arial"/>
              </a:rPr>
              <a:t>say </a:t>
            </a:r>
            <a:r>
              <a:rPr sz="2000" spc="-10" dirty="0">
                <a:latin typeface="Arial"/>
                <a:cs typeface="Arial"/>
              </a:rPr>
              <a:t>for </a:t>
            </a:r>
            <a:r>
              <a:rPr sz="2000" spc="-100" dirty="0">
                <a:latin typeface="Arial"/>
                <a:cs typeface="Arial"/>
              </a:rPr>
              <a:t>example, </a:t>
            </a:r>
            <a:r>
              <a:rPr sz="2000" spc="-90" dirty="0">
                <a:latin typeface="Arial"/>
                <a:cs typeface="Arial"/>
              </a:rPr>
              <a:t>clusters </a:t>
            </a:r>
            <a:r>
              <a:rPr sz="2000" spc="-185" dirty="0">
                <a:latin typeface="Arial"/>
                <a:cs typeface="Arial"/>
              </a:rPr>
              <a:t>C</a:t>
            </a:r>
            <a:r>
              <a:rPr sz="1950" spc="-277" baseline="-21367" dirty="0">
                <a:latin typeface="Carlito"/>
                <a:cs typeface="Carlito"/>
              </a:rPr>
              <a:t>1 </a:t>
            </a:r>
            <a:r>
              <a:rPr sz="2000" dirty="0">
                <a:latin typeface="Carlito"/>
                <a:cs typeface="Carlito"/>
              </a:rPr>
              <a:t>and </a:t>
            </a:r>
            <a:r>
              <a:rPr sz="2000" spc="5" dirty="0">
                <a:latin typeface="Carlito"/>
                <a:cs typeface="Carlito"/>
              </a:rPr>
              <a:t>C</a:t>
            </a:r>
            <a:r>
              <a:rPr sz="1950" spc="7" baseline="-21367" dirty="0">
                <a:latin typeface="Carlito"/>
                <a:cs typeface="Carlito"/>
              </a:rPr>
              <a:t>2 </a:t>
            </a:r>
            <a:r>
              <a:rPr sz="2000" spc="-15" dirty="0">
                <a:latin typeface="Carlito"/>
                <a:cs typeface="Carlito"/>
              </a:rPr>
              <a:t>may </a:t>
            </a:r>
            <a:r>
              <a:rPr sz="2000" spc="-5" dirty="0">
                <a:latin typeface="Carlito"/>
                <a:cs typeface="Carlito"/>
              </a:rPr>
              <a:t>be </a:t>
            </a:r>
            <a:r>
              <a:rPr sz="2000" spc="-10" dirty="0">
                <a:latin typeface="Carlito"/>
                <a:cs typeface="Carlito"/>
              </a:rPr>
              <a:t>merged </a:t>
            </a:r>
            <a:r>
              <a:rPr sz="2000" dirty="0">
                <a:latin typeface="Carlito"/>
                <a:cs typeface="Carlito"/>
              </a:rPr>
              <a:t>if an </a:t>
            </a:r>
            <a:r>
              <a:rPr sz="2000" spc="-5" dirty="0">
                <a:latin typeface="Carlito"/>
                <a:cs typeface="Carlito"/>
              </a:rPr>
              <a:t>object </a:t>
            </a:r>
            <a:r>
              <a:rPr sz="2000" dirty="0">
                <a:latin typeface="Carlito"/>
                <a:cs typeface="Carlito"/>
              </a:rPr>
              <a:t>in </a:t>
            </a:r>
            <a:r>
              <a:rPr sz="2000" spc="5" dirty="0">
                <a:latin typeface="Carlito"/>
                <a:cs typeface="Carlito"/>
              </a:rPr>
              <a:t>C</a:t>
            </a:r>
            <a:r>
              <a:rPr sz="1950" spc="7" baseline="-21367" dirty="0">
                <a:latin typeface="Carlito"/>
                <a:cs typeface="Carlito"/>
              </a:rPr>
              <a:t>1 </a:t>
            </a:r>
            <a:r>
              <a:rPr sz="1300" spc="5" dirty="0">
                <a:latin typeface="Carlito"/>
                <a:cs typeface="Carlito"/>
              </a:rPr>
              <a:t> </a:t>
            </a:r>
            <a:r>
              <a:rPr sz="2000" dirty="0">
                <a:latin typeface="Carlito"/>
                <a:cs typeface="Carlito"/>
              </a:rPr>
              <a:t>and an </a:t>
            </a:r>
            <a:r>
              <a:rPr sz="2000" spc="-5" dirty="0">
                <a:latin typeface="Carlito"/>
                <a:cs typeface="Carlito"/>
              </a:rPr>
              <a:t>object </a:t>
            </a:r>
            <a:r>
              <a:rPr sz="2000" dirty="0">
                <a:latin typeface="Carlito"/>
                <a:cs typeface="Carlito"/>
              </a:rPr>
              <a:t>in </a:t>
            </a:r>
            <a:r>
              <a:rPr sz="2000" spc="5" dirty="0">
                <a:latin typeface="Carlito"/>
                <a:cs typeface="Carlito"/>
              </a:rPr>
              <a:t>C</a:t>
            </a:r>
            <a:r>
              <a:rPr sz="1950" spc="7" baseline="-21367" dirty="0">
                <a:latin typeface="Carlito"/>
                <a:cs typeface="Carlito"/>
              </a:rPr>
              <a:t>2 </a:t>
            </a:r>
            <a:r>
              <a:rPr sz="2000" spc="-15" dirty="0">
                <a:latin typeface="Carlito"/>
                <a:cs typeface="Carlito"/>
              </a:rPr>
              <a:t>form </a:t>
            </a:r>
            <a:r>
              <a:rPr sz="2000" dirty="0">
                <a:latin typeface="Carlito"/>
                <a:cs typeface="Carlito"/>
              </a:rPr>
              <a:t>the minimum </a:t>
            </a:r>
            <a:r>
              <a:rPr sz="2000" spc="-5" dirty="0">
                <a:latin typeface="Carlito"/>
                <a:cs typeface="Carlito"/>
              </a:rPr>
              <a:t>Euclidean </a:t>
            </a:r>
            <a:r>
              <a:rPr sz="2000" spc="-10" dirty="0">
                <a:latin typeface="Carlito"/>
                <a:cs typeface="Carlito"/>
              </a:rPr>
              <a:t>distance </a:t>
            </a:r>
            <a:r>
              <a:rPr sz="2000" spc="-5" dirty="0">
                <a:latin typeface="Carlito"/>
                <a:cs typeface="Carlito"/>
              </a:rPr>
              <a:t>between </a:t>
            </a:r>
            <a:r>
              <a:rPr sz="2000" spc="-10" dirty="0">
                <a:latin typeface="Carlito"/>
                <a:cs typeface="Carlito"/>
              </a:rPr>
              <a:t>any  two </a:t>
            </a:r>
            <a:r>
              <a:rPr sz="2000" spc="-5" dirty="0">
                <a:latin typeface="Carlito"/>
                <a:cs typeface="Carlito"/>
              </a:rPr>
              <a:t>objects </a:t>
            </a:r>
            <a:r>
              <a:rPr sz="2000" spc="-15" dirty="0">
                <a:latin typeface="Carlito"/>
                <a:cs typeface="Carlito"/>
              </a:rPr>
              <a:t>from different</a:t>
            </a:r>
            <a:r>
              <a:rPr sz="2000" spc="10" dirty="0">
                <a:latin typeface="Carlito"/>
                <a:cs typeface="Carlito"/>
              </a:rPr>
              <a:t> </a:t>
            </a:r>
            <a:r>
              <a:rPr sz="2000" spc="-10" dirty="0">
                <a:latin typeface="Carlito"/>
                <a:cs typeface="Carlito"/>
              </a:rPr>
              <a:t>clusters</a:t>
            </a:r>
            <a:endParaRPr sz="2000" dirty="0">
              <a:latin typeface="Carlito"/>
              <a:cs typeface="Carli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21202" y="385953"/>
            <a:ext cx="2103755" cy="452120"/>
          </a:xfrm>
          <a:prstGeom prst="rect">
            <a:avLst/>
          </a:prstGeom>
        </p:spPr>
        <p:txBody>
          <a:bodyPr vert="horz" wrap="square" lIns="0" tIns="12065" rIns="0" bIns="0" rtlCol="0">
            <a:spAutoFit/>
          </a:bodyPr>
          <a:lstStyle/>
          <a:p>
            <a:pPr marL="12700">
              <a:lnSpc>
                <a:spcPct val="100000"/>
              </a:lnSpc>
              <a:spcBef>
                <a:spcPts val="95"/>
              </a:spcBef>
            </a:pPr>
            <a:r>
              <a:rPr sz="2800" b="1" spc="-20" dirty="0">
                <a:solidFill>
                  <a:srgbClr val="0000FF"/>
                </a:solidFill>
                <a:latin typeface="Carlito"/>
                <a:cs typeface="Carlito"/>
              </a:rPr>
              <a:t>Interpretation</a:t>
            </a:r>
            <a:endParaRPr sz="2800">
              <a:latin typeface="Carlito"/>
              <a:cs typeface="Carlito"/>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8</a:t>
            </a:fld>
            <a:endParaRPr dirty="0"/>
          </a:p>
        </p:txBody>
      </p:sp>
      <p:sp>
        <p:nvSpPr>
          <p:cNvPr id="3" name="object 3"/>
          <p:cNvSpPr txBox="1"/>
          <p:nvPr/>
        </p:nvSpPr>
        <p:spPr>
          <a:xfrm>
            <a:off x="535940" y="1216913"/>
            <a:ext cx="7904480" cy="2193549"/>
          </a:xfrm>
          <a:prstGeom prst="rect">
            <a:avLst/>
          </a:prstGeom>
        </p:spPr>
        <p:txBody>
          <a:bodyPr vert="horz" wrap="square" lIns="0" tIns="13335" rIns="0" bIns="0" rtlCol="0">
            <a:spAutoFit/>
          </a:bodyPr>
          <a:lstStyle/>
          <a:p>
            <a:pPr marL="355600" marR="62865" indent="-342900">
              <a:lnSpc>
                <a:spcPct val="100000"/>
              </a:lnSpc>
              <a:spcBef>
                <a:spcPts val="105"/>
              </a:spcBef>
              <a:buFont typeface="Arial"/>
              <a:buChar char="•"/>
              <a:tabLst>
                <a:tab pos="354965" algn="l"/>
                <a:tab pos="355600" algn="l"/>
              </a:tabLst>
            </a:pPr>
            <a:r>
              <a:rPr sz="2000" spc="-5" dirty="0">
                <a:latin typeface="Carlito"/>
                <a:cs typeface="Carlito"/>
              </a:rPr>
              <a:t>This </a:t>
            </a:r>
            <a:r>
              <a:rPr sz="2000" dirty="0">
                <a:latin typeface="Carlito"/>
                <a:cs typeface="Carlito"/>
              </a:rPr>
              <a:t>is a </a:t>
            </a:r>
            <a:r>
              <a:rPr sz="2000" spc="-5" dirty="0">
                <a:latin typeface="Carlito"/>
                <a:cs typeface="Carlito"/>
              </a:rPr>
              <a:t>single-linkage approach </a:t>
            </a:r>
            <a:r>
              <a:rPr sz="2000" dirty="0">
                <a:latin typeface="Carlito"/>
                <a:cs typeface="Carlito"/>
              </a:rPr>
              <a:t>in </a:t>
            </a:r>
            <a:r>
              <a:rPr sz="2000" spc="-5" dirty="0">
                <a:latin typeface="Carlito"/>
                <a:cs typeface="Carlito"/>
              </a:rPr>
              <a:t>that </a:t>
            </a:r>
            <a:r>
              <a:rPr sz="2000" dirty="0">
                <a:latin typeface="Carlito"/>
                <a:cs typeface="Carlito"/>
              </a:rPr>
              <a:t>each </a:t>
            </a:r>
            <a:r>
              <a:rPr sz="2000" spc="-10" dirty="0">
                <a:latin typeface="Carlito"/>
                <a:cs typeface="Carlito"/>
              </a:rPr>
              <a:t>cluster </a:t>
            </a:r>
            <a:r>
              <a:rPr sz="2000" dirty="0">
                <a:latin typeface="Carlito"/>
                <a:cs typeface="Carlito"/>
              </a:rPr>
              <a:t>is </a:t>
            </a:r>
            <a:r>
              <a:rPr sz="2000" spc="-10" dirty="0">
                <a:latin typeface="Carlito"/>
                <a:cs typeface="Carlito"/>
              </a:rPr>
              <a:t>represented </a:t>
            </a:r>
            <a:r>
              <a:rPr sz="2000" spc="-5" dirty="0">
                <a:latin typeface="Carlito"/>
                <a:cs typeface="Carlito"/>
              </a:rPr>
              <a:t>by </a:t>
            </a:r>
            <a:r>
              <a:rPr sz="2000" dirty="0">
                <a:latin typeface="Carlito"/>
                <a:cs typeface="Carlito"/>
              </a:rPr>
              <a:t>all  </a:t>
            </a:r>
            <a:r>
              <a:rPr sz="2000" spc="-5" dirty="0">
                <a:latin typeface="Carlito"/>
                <a:cs typeface="Carlito"/>
              </a:rPr>
              <a:t>of </a:t>
            </a:r>
            <a:r>
              <a:rPr sz="2000" dirty="0">
                <a:latin typeface="Carlito"/>
                <a:cs typeface="Carlito"/>
              </a:rPr>
              <a:t>the </a:t>
            </a:r>
            <a:r>
              <a:rPr sz="2000" spc="-5" dirty="0">
                <a:latin typeface="Carlito"/>
                <a:cs typeface="Carlito"/>
              </a:rPr>
              <a:t>objects </a:t>
            </a:r>
            <a:r>
              <a:rPr sz="2000" dirty="0">
                <a:latin typeface="Carlito"/>
                <a:cs typeface="Carlito"/>
              </a:rPr>
              <a:t>in the </a:t>
            </a:r>
            <a:r>
              <a:rPr sz="2000" spc="-30" dirty="0">
                <a:latin typeface="Carlito"/>
                <a:cs typeface="Carlito"/>
              </a:rPr>
              <a:t>cluster, </a:t>
            </a:r>
            <a:r>
              <a:rPr sz="2000" dirty="0">
                <a:latin typeface="Carlito"/>
                <a:cs typeface="Carlito"/>
              </a:rPr>
              <a:t>and the </a:t>
            </a:r>
            <a:r>
              <a:rPr sz="2000" spc="-5" dirty="0">
                <a:latin typeface="Carlito"/>
                <a:cs typeface="Carlito"/>
              </a:rPr>
              <a:t>similarity between </a:t>
            </a:r>
            <a:r>
              <a:rPr sz="2000" spc="-10" dirty="0">
                <a:latin typeface="Carlito"/>
                <a:cs typeface="Carlito"/>
              </a:rPr>
              <a:t>two clusters </a:t>
            </a:r>
            <a:r>
              <a:rPr sz="2000" dirty="0">
                <a:latin typeface="Carlito"/>
                <a:cs typeface="Carlito"/>
              </a:rPr>
              <a:t>is  </a:t>
            </a:r>
            <a:r>
              <a:rPr sz="2000" spc="-5" dirty="0">
                <a:latin typeface="Carlito"/>
                <a:cs typeface="Carlito"/>
              </a:rPr>
              <a:t>measured by </a:t>
            </a:r>
            <a:r>
              <a:rPr sz="2000" dirty="0">
                <a:latin typeface="Carlito"/>
                <a:cs typeface="Carlito"/>
              </a:rPr>
              <a:t>the </a:t>
            </a:r>
            <a:r>
              <a:rPr sz="2000" spc="-5" dirty="0">
                <a:latin typeface="Carlito"/>
                <a:cs typeface="Carlito"/>
              </a:rPr>
              <a:t>similarity </a:t>
            </a:r>
            <a:r>
              <a:rPr sz="2000" dirty="0">
                <a:latin typeface="Carlito"/>
                <a:cs typeface="Carlito"/>
              </a:rPr>
              <a:t>of the </a:t>
            </a:r>
            <a:r>
              <a:rPr sz="2000" spc="-10" dirty="0">
                <a:latin typeface="Carlito"/>
                <a:cs typeface="Carlito"/>
              </a:rPr>
              <a:t>closest </a:t>
            </a:r>
            <a:r>
              <a:rPr sz="2000" spc="-5" dirty="0">
                <a:latin typeface="Carlito"/>
                <a:cs typeface="Carlito"/>
              </a:rPr>
              <a:t>pair </a:t>
            </a:r>
            <a:r>
              <a:rPr sz="2000" dirty="0">
                <a:latin typeface="Carlito"/>
                <a:cs typeface="Carlito"/>
              </a:rPr>
              <a:t>of </a:t>
            </a:r>
            <a:r>
              <a:rPr sz="2000" spc="-15" dirty="0">
                <a:latin typeface="Carlito"/>
                <a:cs typeface="Carlito"/>
              </a:rPr>
              <a:t>data </a:t>
            </a:r>
            <a:r>
              <a:rPr sz="2000" spc="-5" dirty="0">
                <a:latin typeface="Carlito"/>
                <a:cs typeface="Carlito"/>
              </a:rPr>
              <a:t>points belonging </a:t>
            </a:r>
            <a:r>
              <a:rPr sz="2000" spc="-10" dirty="0">
                <a:latin typeface="Carlito"/>
                <a:cs typeface="Carlito"/>
              </a:rPr>
              <a:t>to  </a:t>
            </a:r>
            <a:r>
              <a:rPr sz="2000" spc="-15" dirty="0">
                <a:latin typeface="Carlito"/>
                <a:cs typeface="Carlito"/>
              </a:rPr>
              <a:t>different</a:t>
            </a:r>
            <a:r>
              <a:rPr sz="2000" spc="5" dirty="0">
                <a:latin typeface="Carlito"/>
                <a:cs typeface="Carlito"/>
              </a:rPr>
              <a:t> </a:t>
            </a:r>
            <a:r>
              <a:rPr sz="2000" spc="-10" dirty="0">
                <a:latin typeface="Carlito"/>
                <a:cs typeface="Carlito"/>
              </a:rPr>
              <a:t>clusters</a:t>
            </a:r>
            <a:r>
              <a:rPr lang="en-US" sz="2000" dirty="0">
                <a:latin typeface="Carlito"/>
                <a:cs typeface="Carlito"/>
              </a:rPr>
              <a:t>. </a:t>
            </a:r>
            <a:r>
              <a:rPr sz="2000" spc="-5" dirty="0">
                <a:latin typeface="Carlito"/>
                <a:cs typeface="Carlito"/>
              </a:rPr>
              <a:t>The </a:t>
            </a:r>
            <a:r>
              <a:rPr sz="2000" spc="-10" dirty="0">
                <a:latin typeface="Carlito"/>
                <a:cs typeface="Carlito"/>
              </a:rPr>
              <a:t>cluster </a:t>
            </a:r>
            <a:r>
              <a:rPr sz="2000" spc="-5" dirty="0">
                <a:latin typeface="Carlito"/>
                <a:cs typeface="Carlito"/>
              </a:rPr>
              <a:t>merging process </a:t>
            </a:r>
            <a:r>
              <a:rPr sz="2000" spc="-10" dirty="0">
                <a:latin typeface="Carlito"/>
                <a:cs typeface="Carlito"/>
              </a:rPr>
              <a:t>repeats </a:t>
            </a:r>
            <a:r>
              <a:rPr sz="2000" spc="-5" dirty="0">
                <a:latin typeface="Carlito"/>
                <a:cs typeface="Carlito"/>
              </a:rPr>
              <a:t>until </a:t>
            </a:r>
            <a:r>
              <a:rPr sz="2000" dirty="0">
                <a:latin typeface="Carlito"/>
                <a:cs typeface="Carlito"/>
              </a:rPr>
              <a:t>all </a:t>
            </a:r>
            <a:r>
              <a:rPr sz="2000" spc="-5" dirty="0">
                <a:latin typeface="Carlito"/>
                <a:cs typeface="Carlito"/>
              </a:rPr>
              <a:t>of </a:t>
            </a:r>
            <a:r>
              <a:rPr sz="2000" dirty="0">
                <a:latin typeface="Carlito"/>
                <a:cs typeface="Carlito"/>
              </a:rPr>
              <a:t>the </a:t>
            </a:r>
            <a:r>
              <a:rPr sz="2000" spc="-5" dirty="0">
                <a:latin typeface="Carlito"/>
                <a:cs typeface="Carlito"/>
              </a:rPr>
              <a:t>objects </a:t>
            </a:r>
            <a:r>
              <a:rPr sz="2000" spc="-10" dirty="0">
                <a:latin typeface="Carlito"/>
                <a:cs typeface="Carlito"/>
              </a:rPr>
              <a:t>are</a:t>
            </a:r>
            <a:r>
              <a:rPr sz="2000" spc="130" dirty="0">
                <a:latin typeface="Carlito"/>
                <a:cs typeface="Carlito"/>
              </a:rPr>
              <a:t> </a:t>
            </a:r>
            <a:r>
              <a:rPr sz="2000" spc="-10" dirty="0">
                <a:latin typeface="Carlito"/>
                <a:cs typeface="Carlito"/>
              </a:rPr>
              <a:t>eventually</a:t>
            </a:r>
            <a:r>
              <a:rPr lang="en-US" sz="2000" dirty="0">
                <a:latin typeface="Carlito"/>
                <a:cs typeface="Carlito"/>
              </a:rPr>
              <a:t> </a:t>
            </a:r>
            <a:r>
              <a:rPr sz="2000" spc="-5" dirty="0">
                <a:latin typeface="Carlito"/>
                <a:cs typeface="Carlito"/>
              </a:rPr>
              <a:t>merged </a:t>
            </a:r>
            <a:r>
              <a:rPr sz="2000" spc="-15" dirty="0">
                <a:latin typeface="Carlito"/>
                <a:cs typeface="Carlito"/>
              </a:rPr>
              <a:t>to </a:t>
            </a:r>
            <a:r>
              <a:rPr sz="2000" spc="-10" dirty="0">
                <a:latin typeface="Carlito"/>
                <a:cs typeface="Carlito"/>
              </a:rPr>
              <a:t>form </a:t>
            </a:r>
            <a:r>
              <a:rPr sz="2000" dirty="0">
                <a:latin typeface="Carlito"/>
                <a:cs typeface="Carlito"/>
              </a:rPr>
              <a:t>one</a:t>
            </a:r>
            <a:r>
              <a:rPr sz="2000" spc="-15" dirty="0">
                <a:latin typeface="Carlito"/>
                <a:cs typeface="Carlito"/>
              </a:rPr>
              <a:t> </a:t>
            </a:r>
            <a:r>
              <a:rPr sz="2000" spc="-10" dirty="0">
                <a:latin typeface="Carlito"/>
                <a:cs typeface="Carlito"/>
              </a:rPr>
              <a:t>cluster</a:t>
            </a:r>
            <a:r>
              <a:rPr lang="en-US" sz="2000" spc="-10" dirty="0">
                <a:latin typeface="Carlito"/>
                <a:cs typeface="Carlito"/>
              </a:rPr>
              <a:t>.</a:t>
            </a:r>
          </a:p>
          <a:p>
            <a:pPr marL="355600" marR="62865" indent="-342900">
              <a:lnSpc>
                <a:spcPct val="100000"/>
              </a:lnSpc>
              <a:spcBef>
                <a:spcPts val="105"/>
              </a:spcBef>
              <a:buFont typeface="Arial"/>
              <a:buChar char="•"/>
              <a:tabLst>
                <a:tab pos="354965" algn="l"/>
                <a:tab pos="355600" algn="l"/>
              </a:tabLst>
            </a:pPr>
            <a:endParaRPr lang="en-US" sz="2000" spc="-10" dirty="0">
              <a:latin typeface="Carlito"/>
              <a:cs typeface="Carlito"/>
            </a:endParaRPr>
          </a:p>
          <a:p>
            <a:pPr marL="355600" marR="62865" indent="-342900">
              <a:lnSpc>
                <a:spcPct val="100000"/>
              </a:lnSpc>
              <a:spcBef>
                <a:spcPts val="105"/>
              </a:spcBef>
              <a:buFont typeface="Arial"/>
              <a:buChar char="•"/>
              <a:tabLst>
                <a:tab pos="354965" algn="l"/>
                <a:tab pos="355600" algn="l"/>
              </a:tabLst>
            </a:pPr>
            <a:endParaRPr sz="2000" dirty="0">
              <a:latin typeface="Carlito"/>
              <a:cs typeface="Carli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21202" y="385953"/>
            <a:ext cx="2103755" cy="452120"/>
          </a:xfrm>
          <a:prstGeom prst="rect">
            <a:avLst/>
          </a:prstGeom>
        </p:spPr>
        <p:txBody>
          <a:bodyPr vert="horz" wrap="square" lIns="0" tIns="12065" rIns="0" bIns="0" rtlCol="0">
            <a:spAutoFit/>
          </a:bodyPr>
          <a:lstStyle/>
          <a:p>
            <a:pPr marL="12700">
              <a:lnSpc>
                <a:spcPct val="100000"/>
              </a:lnSpc>
              <a:spcBef>
                <a:spcPts val="95"/>
              </a:spcBef>
            </a:pPr>
            <a:r>
              <a:rPr sz="2800" b="1" spc="-20" dirty="0">
                <a:solidFill>
                  <a:srgbClr val="0000FF"/>
                </a:solidFill>
                <a:latin typeface="Carlito"/>
                <a:cs typeface="Carlito"/>
              </a:rPr>
              <a:t>Interpretation</a:t>
            </a:r>
            <a:endParaRPr sz="2800">
              <a:latin typeface="Carlito"/>
              <a:cs typeface="Carlito"/>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9</a:t>
            </a:fld>
            <a:endParaRPr dirty="0"/>
          </a:p>
        </p:txBody>
      </p:sp>
      <p:sp>
        <p:nvSpPr>
          <p:cNvPr id="3" name="object 3"/>
          <p:cNvSpPr txBox="1"/>
          <p:nvPr/>
        </p:nvSpPr>
        <p:spPr>
          <a:xfrm>
            <a:off x="535940" y="1156563"/>
            <a:ext cx="7929245" cy="2403475"/>
          </a:xfrm>
          <a:prstGeom prst="rect">
            <a:avLst/>
          </a:prstGeom>
        </p:spPr>
        <p:txBody>
          <a:bodyPr vert="horz" wrap="square" lIns="0" tIns="73660" rIns="0" bIns="0" rtlCol="0">
            <a:spAutoFit/>
          </a:bodyPr>
          <a:lstStyle/>
          <a:p>
            <a:pPr marL="355600" indent="-342900">
              <a:lnSpc>
                <a:spcPct val="100000"/>
              </a:lnSpc>
              <a:spcBef>
                <a:spcPts val="580"/>
              </a:spcBef>
              <a:buFont typeface="Arial"/>
              <a:buChar char="•"/>
              <a:tabLst>
                <a:tab pos="354965" algn="l"/>
                <a:tab pos="355600" algn="l"/>
              </a:tabLst>
            </a:pPr>
            <a:r>
              <a:rPr sz="2000" dirty="0">
                <a:latin typeface="Carlito"/>
                <a:cs typeface="Carlito"/>
              </a:rPr>
              <a:t>In DIANA, all </a:t>
            </a:r>
            <a:r>
              <a:rPr sz="2000" spc="-5" dirty="0">
                <a:latin typeface="Carlito"/>
                <a:cs typeface="Carlito"/>
              </a:rPr>
              <a:t>of </a:t>
            </a:r>
            <a:r>
              <a:rPr sz="2000" dirty="0">
                <a:latin typeface="Carlito"/>
                <a:cs typeface="Carlito"/>
              </a:rPr>
              <a:t>the </a:t>
            </a:r>
            <a:r>
              <a:rPr sz="2000" spc="-5" dirty="0">
                <a:latin typeface="Carlito"/>
                <a:cs typeface="Carlito"/>
              </a:rPr>
              <a:t>objects </a:t>
            </a:r>
            <a:r>
              <a:rPr sz="2000" spc="-10" dirty="0">
                <a:latin typeface="Carlito"/>
                <a:cs typeface="Carlito"/>
              </a:rPr>
              <a:t>are </a:t>
            </a:r>
            <a:r>
              <a:rPr sz="2000" spc="-5" dirty="0">
                <a:latin typeface="Carlito"/>
                <a:cs typeface="Carlito"/>
              </a:rPr>
              <a:t>used </a:t>
            </a:r>
            <a:r>
              <a:rPr sz="2000" spc="-15" dirty="0">
                <a:latin typeface="Carlito"/>
                <a:cs typeface="Carlito"/>
              </a:rPr>
              <a:t>to </a:t>
            </a:r>
            <a:r>
              <a:rPr sz="2000" spc="-10" dirty="0">
                <a:latin typeface="Carlito"/>
                <a:cs typeface="Carlito"/>
              </a:rPr>
              <a:t>form </a:t>
            </a:r>
            <a:r>
              <a:rPr sz="2000" dirty="0">
                <a:latin typeface="Carlito"/>
                <a:cs typeface="Carlito"/>
              </a:rPr>
              <a:t>one </a:t>
            </a:r>
            <a:r>
              <a:rPr sz="2000" spc="-5" dirty="0">
                <a:latin typeface="Carlito"/>
                <a:cs typeface="Carlito"/>
              </a:rPr>
              <a:t>initial</a:t>
            </a:r>
            <a:r>
              <a:rPr sz="2000" spc="5" dirty="0">
                <a:latin typeface="Carlito"/>
                <a:cs typeface="Carlito"/>
              </a:rPr>
              <a:t> </a:t>
            </a:r>
            <a:r>
              <a:rPr sz="2000" spc="-10" dirty="0">
                <a:latin typeface="Carlito"/>
                <a:cs typeface="Carlito"/>
              </a:rPr>
              <a:t>cluster</a:t>
            </a:r>
            <a:endParaRPr sz="2000" dirty="0">
              <a:latin typeface="Carlito"/>
              <a:cs typeface="Carlito"/>
            </a:endParaRPr>
          </a:p>
          <a:p>
            <a:pPr marL="355600" marR="5080" indent="-342900">
              <a:lnSpc>
                <a:spcPct val="100000"/>
              </a:lnSpc>
              <a:spcBef>
                <a:spcPts val="480"/>
              </a:spcBef>
              <a:buFont typeface="Arial"/>
              <a:buChar char="•"/>
              <a:tabLst>
                <a:tab pos="354965" algn="l"/>
                <a:tab pos="355600" algn="l"/>
              </a:tabLst>
            </a:pPr>
            <a:r>
              <a:rPr sz="2000" spc="-5" dirty="0">
                <a:latin typeface="Carlito"/>
                <a:cs typeface="Carlito"/>
              </a:rPr>
              <a:t>The </a:t>
            </a:r>
            <a:r>
              <a:rPr sz="2000" spc="-10" dirty="0">
                <a:latin typeface="Carlito"/>
                <a:cs typeface="Carlito"/>
              </a:rPr>
              <a:t>cluster </a:t>
            </a:r>
            <a:r>
              <a:rPr sz="2000" dirty="0">
                <a:latin typeface="Carlito"/>
                <a:cs typeface="Carlito"/>
              </a:rPr>
              <a:t>is </a:t>
            </a:r>
            <a:r>
              <a:rPr sz="2000" spc="-5" dirty="0">
                <a:latin typeface="Carlito"/>
                <a:cs typeface="Carlito"/>
              </a:rPr>
              <a:t>split according </a:t>
            </a:r>
            <a:r>
              <a:rPr sz="2000" spc="-15" dirty="0">
                <a:latin typeface="Carlito"/>
                <a:cs typeface="Carlito"/>
              </a:rPr>
              <a:t>to </a:t>
            </a:r>
            <a:r>
              <a:rPr sz="2000" spc="-5" dirty="0">
                <a:latin typeface="Carlito"/>
                <a:cs typeface="Carlito"/>
              </a:rPr>
              <a:t>some </a:t>
            </a:r>
            <a:r>
              <a:rPr sz="2000" dirty="0">
                <a:latin typeface="Carlito"/>
                <a:cs typeface="Carlito"/>
              </a:rPr>
              <a:t>principle, </a:t>
            </a:r>
            <a:r>
              <a:rPr sz="2000" spc="-5" dirty="0">
                <a:latin typeface="Carlito"/>
                <a:cs typeface="Carlito"/>
              </a:rPr>
              <a:t>such </a:t>
            </a:r>
            <a:r>
              <a:rPr sz="2000" dirty="0">
                <a:latin typeface="Carlito"/>
                <a:cs typeface="Carlito"/>
              </a:rPr>
              <a:t>as the </a:t>
            </a:r>
            <a:r>
              <a:rPr sz="2000" spc="-5" dirty="0">
                <a:latin typeface="Carlito"/>
                <a:cs typeface="Carlito"/>
              </a:rPr>
              <a:t>maximum  </a:t>
            </a:r>
            <a:r>
              <a:rPr sz="2000" dirty="0">
                <a:latin typeface="Carlito"/>
                <a:cs typeface="Carlito"/>
              </a:rPr>
              <a:t>Euclidean </a:t>
            </a:r>
            <a:r>
              <a:rPr sz="2000" spc="-10" dirty="0">
                <a:latin typeface="Carlito"/>
                <a:cs typeface="Carlito"/>
              </a:rPr>
              <a:t>distance </a:t>
            </a:r>
            <a:r>
              <a:rPr sz="2000" spc="-5" dirty="0">
                <a:latin typeface="Carlito"/>
                <a:cs typeface="Carlito"/>
              </a:rPr>
              <a:t>between </a:t>
            </a:r>
            <a:r>
              <a:rPr sz="2000" dirty="0">
                <a:latin typeface="Carlito"/>
                <a:cs typeface="Carlito"/>
              </a:rPr>
              <a:t>the </a:t>
            </a:r>
            <a:r>
              <a:rPr sz="2000" spc="-5" dirty="0">
                <a:latin typeface="Carlito"/>
                <a:cs typeface="Carlito"/>
              </a:rPr>
              <a:t>closest neighboring objects </a:t>
            </a:r>
            <a:r>
              <a:rPr sz="2000" dirty="0">
                <a:latin typeface="Carlito"/>
                <a:cs typeface="Carlito"/>
              </a:rPr>
              <a:t>in the</a:t>
            </a:r>
            <a:r>
              <a:rPr sz="2000" spc="65" dirty="0">
                <a:latin typeface="Carlito"/>
                <a:cs typeface="Carlito"/>
              </a:rPr>
              <a:t> </a:t>
            </a:r>
            <a:r>
              <a:rPr sz="2000" spc="-10" dirty="0">
                <a:latin typeface="Carlito"/>
                <a:cs typeface="Carlito"/>
              </a:rPr>
              <a:t>cluster</a:t>
            </a:r>
            <a:endParaRPr sz="2000" dirty="0">
              <a:latin typeface="Carlito"/>
              <a:cs typeface="Carlito"/>
            </a:endParaRPr>
          </a:p>
          <a:p>
            <a:pPr marL="355600" marR="301625" indent="-342900">
              <a:lnSpc>
                <a:spcPct val="100000"/>
              </a:lnSpc>
              <a:spcBef>
                <a:spcPts val="480"/>
              </a:spcBef>
              <a:buFont typeface="Arial"/>
              <a:buChar char="•"/>
              <a:tabLst>
                <a:tab pos="354965" algn="l"/>
                <a:tab pos="355600" algn="l"/>
              </a:tabLst>
            </a:pPr>
            <a:r>
              <a:rPr sz="2000" spc="-5" dirty="0">
                <a:latin typeface="Carlito"/>
                <a:cs typeface="Carlito"/>
              </a:rPr>
              <a:t>The </a:t>
            </a:r>
            <a:r>
              <a:rPr sz="2000" spc="-10" dirty="0">
                <a:latin typeface="Carlito"/>
                <a:cs typeface="Carlito"/>
              </a:rPr>
              <a:t>cluster </a:t>
            </a:r>
            <a:r>
              <a:rPr sz="2000" spc="-5" dirty="0">
                <a:latin typeface="Carlito"/>
                <a:cs typeface="Carlito"/>
              </a:rPr>
              <a:t>splitting process </a:t>
            </a:r>
            <a:r>
              <a:rPr sz="2000" spc="-10" dirty="0">
                <a:latin typeface="Carlito"/>
                <a:cs typeface="Carlito"/>
              </a:rPr>
              <a:t>repeats </a:t>
            </a:r>
            <a:r>
              <a:rPr sz="2000" spc="-5" dirty="0">
                <a:latin typeface="Carlito"/>
                <a:cs typeface="Carlito"/>
              </a:rPr>
              <a:t>until, </a:t>
            </a:r>
            <a:r>
              <a:rPr sz="2000" spc="-20" dirty="0">
                <a:latin typeface="Carlito"/>
                <a:cs typeface="Carlito"/>
              </a:rPr>
              <a:t>eventually, </a:t>
            </a:r>
            <a:r>
              <a:rPr sz="2000" dirty="0">
                <a:latin typeface="Carlito"/>
                <a:cs typeface="Carlito"/>
              </a:rPr>
              <a:t>each </a:t>
            </a:r>
            <a:r>
              <a:rPr sz="2000" spc="-5" dirty="0">
                <a:latin typeface="Carlito"/>
                <a:cs typeface="Carlito"/>
              </a:rPr>
              <a:t>new </a:t>
            </a:r>
            <a:r>
              <a:rPr sz="2000" spc="-10" dirty="0">
                <a:latin typeface="Carlito"/>
                <a:cs typeface="Carlito"/>
              </a:rPr>
              <a:t>cluster  contains </a:t>
            </a:r>
            <a:r>
              <a:rPr sz="2000" dirty="0">
                <a:latin typeface="Carlito"/>
                <a:cs typeface="Carlito"/>
              </a:rPr>
              <a:t>only a </a:t>
            </a:r>
            <a:r>
              <a:rPr sz="2000" spc="-5" dirty="0">
                <a:latin typeface="Carlito"/>
                <a:cs typeface="Carlito"/>
              </a:rPr>
              <a:t>single</a:t>
            </a:r>
            <a:r>
              <a:rPr sz="2000" spc="-25" dirty="0">
                <a:latin typeface="Carlito"/>
                <a:cs typeface="Carlito"/>
              </a:rPr>
              <a:t> </a:t>
            </a:r>
            <a:r>
              <a:rPr sz="2000" spc="-5" dirty="0">
                <a:latin typeface="Carlito"/>
                <a:cs typeface="Carlito"/>
              </a:rPr>
              <a:t>object</a:t>
            </a:r>
            <a:endParaRPr sz="2000" dirty="0">
              <a:latin typeface="Carlito"/>
              <a:cs typeface="Carlito"/>
            </a:endParaRPr>
          </a:p>
          <a:p>
            <a:pPr marL="355600" indent="-342900">
              <a:lnSpc>
                <a:spcPct val="100000"/>
              </a:lnSpc>
              <a:spcBef>
                <a:spcPts val="480"/>
              </a:spcBef>
              <a:buFont typeface="Arial"/>
              <a:buChar char="•"/>
              <a:tabLst>
                <a:tab pos="354965" algn="l"/>
                <a:tab pos="355600" algn="l"/>
              </a:tabLst>
            </a:pPr>
            <a:r>
              <a:rPr sz="2000" dirty="0">
                <a:latin typeface="Carlito"/>
                <a:cs typeface="Carlito"/>
              </a:rPr>
              <a:t>In either </a:t>
            </a:r>
            <a:r>
              <a:rPr sz="2000" spc="-5" dirty="0">
                <a:latin typeface="Carlito"/>
                <a:cs typeface="Carlito"/>
              </a:rPr>
              <a:t>agglomerative </a:t>
            </a:r>
            <a:r>
              <a:rPr sz="2000" dirty="0">
                <a:latin typeface="Carlito"/>
                <a:cs typeface="Carlito"/>
              </a:rPr>
              <a:t>or </a:t>
            </a:r>
            <a:r>
              <a:rPr sz="2000" spc="-10" dirty="0">
                <a:latin typeface="Carlito"/>
                <a:cs typeface="Carlito"/>
              </a:rPr>
              <a:t>divisive hierarchical </a:t>
            </a:r>
            <a:r>
              <a:rPr sz="2000" spc="-5" dirty="0">
                <a:latin typeface="Carlito"/>
                <a:cs typeface="Carlito"/>
              </a:rPr>
              <a:t>clustering, </a:t>
            </a:r>
            <a:r>
              <a:rPr sz="2000" dirty="0">
                <a:latin typeface="Carlito"/>
                <a:cs typeface="Carlito"/>
              </a:rPr>
              <a:t>the user</a:t>
            </a:r>
            <a:r>
              <a:rPr sz="2000" spc="75" dirty="0">
                <a:latin typeface="Carlito"/>
                <a:cs typeface="Carlito"/>
              </a:rPr>
              <a:t> </a:t>
            </a:r>
            <a:r>
              <a:rPr sz="2000" spc="-5" dirty="0">
                <a:latin typeface="Carlito"/>
                <a:cs typeface="Carlito"/>
              </a:rPr>
              <a:t>can</a:t>
            </a:r>
            <a:endParaRPr sz="2000" dirty="0">
              <a:latin typeface="Carlito"/>
              <a:cs typeface="Carlito"/>
            </a:endParaRPr>
          </a:p>
          <a:p>
            <a:pPr marL="355600">
              <a:lnSpc>
                <a:spcPct val="100000"/>
              </a:lnSpc>
            </a:pPr>
            <a:r>
              <a:rPr sz="2000" dirty="0">
                <a:latin typeface="Carlito"/>
                <a:cs typeface="Carlito"/>
              </a:rPr>
              <a:t>specify the </a:t>
            </a:r>
            <a:r>
              <a:rPr sz="2000" spc="-5" dirty="0">
                <a:latin typeface="Carlito"/>
                <a:cs typeface="Carlito"/>
              </a:rPr>
              <a:t>desired </a:t>
            </a:r>
            <a:r>
              <a:rPr sz="2000" dirty="0">
                <a:latin typeface="Carlito"/>
                <a:cs typeface="Carlito"/>
              </a:rPr>
              <a:t>number </a:t>
            </a:r>
            <a:r>
              <a:rPr sz="2000" spc="-5" dirty="0">
                <a:latin typeface="Carlito"/>
                <a:cs typeface="Carlito"/>
              </a:rPr>
              <a:t>of </a:t>
            </a:r>
            <a:r>
              <a:rPr sz="2000" spc="-15" dirty="0">
                <a:latin typeface="Carlito"/>
                <a:cs typeface="Carlito"/>
              </a:rPr>
              <a:t>clusters </a:t>
            </a:r>
            <a:r>
              <a:rPr sz="2000" dirty="0">
                <a:latin typeface="Carlito"/>
                <a:cs typeface="Carlito"/>
              </a:rPr>
              <a:t>as a </a:t>
            </a:r>
            <a:r>
              <a:rPr sz="2000" spc="-5" dirty="0">
                <a:latin typeface="Carlito"/>
                <a:cs typeface="Carlito"/>
              </a:rPr>
              <a:t>termination</a:t>
            </a:r>
            <a:r>
              <a:rPr sz="2000" spc="75" dirty="0">
                <a:latin typeface="Carlito"/>
                <a:cs typeface="Carlito"/>
              </a:rPr>
              <a:t> </a:t>
            </a:r>
            <a:r>
              <a:rPr sz="2000" spc="-5" dirty="0">
                <a:latin typeface="Carlito"/>
                <a:cs typeface="Carlito"/>
              </a:rPr>
              <a:t>condition</a:t>
            </a:r>
            <a:endParaRPr sz="2000" dirty="0">
              <a:latin typeface="Carlito"/>
              <a:cs typeface="Carli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5502" y="385953"/>
            <a:ext cx="1871980" cy="452120"/>
          </a:xfrm>
          <a:prstGeom prst="rect">
            <a:avLst/>
          </a:prstGeom>
        </p:spPr>
        <p:txBody>
          <a:bodyPr vert="horz" wrap="square" lIns="0" tIns="12065" rIns="0" bIns="0" rtlCol="0">
            <a:spAutoFit/>
          </a:bodyPr>
          <a:lstStyle/>
          <a:p>
            <a:pPr marL="12700">
              <a:lnSpc>
                <a:spcPct val="100000"/>
              </a:lnSpc>
              <a:spcBef>
                <a:spcPts val="95"/>
              </a:spcBef>
            </a:pPr>
            <a:r>
              <a:rPr sz="2800" b="1" spc="-20" dirty="0">
                <a:solidFill>
                  <a:srgbClr val="0000FF"/>
                </a:solidFill>
                <a:latin typeface="Carlito"/>
                <a:cs typeface="Carlito"/>
              </a:rPr>
              <a:t>Dendrogram</a:t>
            </a:r>
            <a:endParaRPr sz="2800">
              <a:latin typeface="Carlito"/>
              <a:cs typeface="Carlito"/>
            </a:endParaRPr>
          </a:p>
        </p:txBody>
      </p:sp>
      <p:sp>
        <p:nvSpPr>
          <p:cNvPr id="3" name="object 3"/>
          <p:cNvSpPr/>
          <p:nvPr/>
        </p:nvSpPr>
        <p:spPr>
          <a:xfrm>
            <a:off x="1938527" y="1200911"/>
            <a:ext cx="5774435" cy="2839212"/>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229311" y="4343196"/>
            <a:ext cx="8242934"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rlito"/>
                <a:cs typeface="Carlito"/>
              </a:rPr>
              <a:t>Figure </a:t>
            </a:r>
            <a:r>
              <a:rPr sz="1800" dirty="0">
                <a:latin typeface="Carlito"/>
                <a:cs typeface="Carlito"/>
              </a:rPr>
              <a:t>2: </a:t>
            </a:r>
            <a:r>
              <a:rPr sz="1800" spc="-10" dirty="0">
                <a:latin typeface="Carlito"/>
                <a:cs typeface="Carlito"/>
              </a:rPr>
              <a:t>Dendrogram representation </a:t>
            </a:r>
            <a:r>
              <a:rPr sz="1800" spc="-15" dirty="0">
                <a:latin typeface="Carlito"/>
                <a:cs typeface="Carlito"/>
              </a:rPr>
              <a:t>for hierarchical </a:t>
            </a:r>
            <a:r>
              <a:rPr sz="1800" spc="-10" dirty="0">
                <a:latin typeface="Carlito"/>
                <a:cs typeface="Carlito"/>
              </a:rPr>
              <a:t>clustering </a:t>
            </a:r>
            <a:r>
              <a:rPr sz="1800" spc="-5" dirty="0">
                <a:latin typeface="Carlito"/>
                <a:cs typeface="Carlito"/>
              </a:rPr>
              <a:t>of </a:t>
            </a:r>
            <a:r>
              <a:rPr sz="1800" spc="-15" dirty="0">
                <a:latin typeface="Carlito"/>
                <a:cs typeface="Carlito"/>
              </a:rPr>
              <a:t>data</a:t>
            </a:r>
            <a:r>
              <a:rPr sz="1800" spc="245" dirty="0">
                <a:latin typeface="Carlito"/>
                <a:cs typeface="Carlito"/>
              </a:rPr>
              <a:t> </a:t>
            </a:r>
            <a:r>
              <a:rPr sz="1800" spc="-5" dirty="0">
                <a:latin typeface="Carlito"/>
                <a:cs typeface="Carlito"/>
              </a:rPr>
              <a:t>objects{a,b,c,d,e}</a:t>
            </a:r>
            <a:endParaRPr sz="1800">
              <a:latin typeface="Carlito"/>
              <a:cs typeface="Carlito"/>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10</a:t>
            </a:fld>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55314" y="385953"/>
            <a:ext cx="1833245" cy="452120"/>
          </a:xfrm>
          <a:prstGeom prst="rect">
            <a:avLst/>
          </a:prstGeom>
        </p:spPr>
        <p:txBody>
          <a:bodyPr vert="horz" wrap="square" lIns="0" tIns="12065" rIns="0" bIns="0" rtlCol="0">
            <a:spAutoFit/>
          </a:bodyPr>
          <a:lstStyle/>
          <a:p>
            <a:pPr marL="12700">
              <a:lnSpc>
                <a:spcPct val="100000"/>
              </a:lnSpc>
              <a:spcBef>
                <a:spcPts val="95"/>
              </a:spcBef>
            </a:pPr>
            <a:r>
              <a:rPr sz="2800" spc="-20" dirty="0">
                <a:solidFill>
                  <a:srgbClr val="0000FF"/>
                </a:solidFill>
              </a:rPr>
              <a:t>Dendrogram</a:t>
            </a:r>
            <a:endParaRPr sz="28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11</a:t>
            </a:fld>
            <a:endParaRPr dirty="0"/>
          </a:p>
        </p:txBody>
      </p:sp>
      <p:sp>
        <p:nvSpPr>
          <p:cNvPr id="3" name="object 3"/>
          <p:cNvSpPr txBox="1"/>
          <p:nvPr/>
        </p:nvSpPr>
        <p:spPr>
          <a:xfrm>
            <a:off x="535940" y="1216913"/>
            <a:ext cx="7911465" cy="2343150"/>
          </a:xfrm>
          <a:prstGeom prst="rect">
            <a:avLst/>
          </a:prstGeom>
        </p:spPr>
        <p:txBody>
          <a:bodyPr vert="horz" wrap="square" lIns="0" tIns="13335" rIns="0" bIns="0" rtlCol="0">
            <a:spAutoFit/>
          </a:bodyPr>
          <a:lstStyle/>
          <a:p>
            <a:pPr marL="355600" marR="93345" indent="-342900">
              <a:lnSpc>
                <a:spcPct val="100000"/>
              </a:lnSpc>
              <a:spcBef>
                <a:spcPts val="105"/>
              </a:spcBef>
              <a:buFont typeface="Arial"/>
              <a:buChar char="•"/>
              <a:tabLst>
                <a:tab pos="354965" algn="l"/>
                <a:tab pos="355600" algn="l"/>
              </a:tabLst>
            </a:pPr>
            <a:r>
              <a:rPr sz="2000" dirty="0">
                <a:latin typeface="Carlito"/>
                <a:cs typeface="Carlito"/>
              </a:rPr>
              <a:t>A </a:t>
            </a:r>
            <a:r>
              <a:rPr sz="2000" spc="-10" dirty="0">
                <a:latin typeface="Carlito"/>
                <a:cs typeface="Carlito"/>
              </a:rPr>
              <a:t>tree </a:t>
            </a:r>
            <a:r>
              <a:rPr sz="2000" spc="-5" dirty="0">
                <a:latin typeface="Carlito"/>
                <a:cs typeface="Carlito"/>
              </a:rPr>
              <a:t>structure called </a:t>
            </a:r>
            <a:r>
              <a:rPr sz="2000" dirty="0">
                <a:latin typeface="Carlito"/>
                <a:cs typeface="Carlito"/>
              </a:rPr>
              <a:t>a </a:t>
            </a:r>
            <a:r>
              <a:rPr sz="2000" spc="-10" dirty="0">
                <a:latin typeface="Carlito"/>
                <a:cs typeface="Carlito"/>
              </a:rPr>
              <a:t>dendrogram </a:t>
            </a:r>
            <a:r>
              <a:rPr sz="2000" dirty="0">
                <a:latin typeface="Carlito"/>
                <a:cs typeface="Carlito"/>
              </a:rPr>
              <a:t>is </a:t>
            </a:r>
            <a:r>
              <a:rPr sz="2000" spc="-5" dirty="0">
                <a:latin typeface="Carlito"/>
                <a:cs typeface="Carlito"/>
              </a:rPr>
              <a:t>commonly used </a:t>
            </a:r>
            <a:r>
              <a:rPr sz="2000" spc="-15" dirty="0">
                <a:latin typeface="Carlito"/>
                <a:cs typeface="Carlito"/>
              </a:rPr>
              <a:t>to </a:t>
            </a:r>
            <a:r>
              <a:rPr sz="2000" spc="-10" dirty="0">
                <a:latin typeface="Carlito"/>
                <a:cs typeface="Carlito"/>
              </a:rPr>
              <a:t>represent </a:t>
            </a:r>
            <a:r>
              <a:rPr sz="2000" dirty="0">
                <a:latin typeface="Carlito"/>
                <a:cs typeface="Carlito"/>
              </a:rPr>
              <a:t>the  </a:t>
            </a:r>
            <a:r>
              <a:rPr sz="2000" spc="-5" dirty="0">
                <a:solidFill>
                  <a:srgbClr val="FF0000"/>
                </a:solidFill>
                <a:latin typeface="Carlito"/>
                <a:cs typeface="Carlito"/>
              </a:rPr>
              <a:t>process of </a:t>
            </a:r>
            <a:r>
              <a:rPr sz="2000" spc="-10" dirty="0">
                <a:solidFill>
                  <a:srgbClr val="FF0000"/>
                </a:solidFill>
                <a:latin typeface="Carlito"/>
                <a:cs typeface="Carlito"/>
              </a:rPr>
              <a:t>hierarchical</a:t>
            </a:r>
            <a:r>
              <a:rPr sz="2000" spc="5" dirty="0">
                <a:solidFill>
                  <a:srgbClr val="FF0000"/>
                </a:solidFill>
                <a:latin typeface="Carlito"/>
                <a:cs typeface="Carlito"/>
              </a:rPr>
              <a:t> </a:t>
            </a:r>
            <a:r>
              <a:rPr sz="2000" spc="-5" dirty="0">
                <a:solidFill>
                  <a:srgbClr val="FF0000"/>
                </a:solidFill>
                <a:latin typeface="Carlito"/>
                <a:cs typeface="Carlito"/>
              </a:rPr>
              <a:t>clustering</a:t>
            </a:r>
            <a:endParaRPr sz="2000" dirty="0">
              <a:solidFill>
                <a:srgbClr val="FF0000"/>
              </a:solidFill>
              <a:latin typeface="Carlito"/>
              <a:cs typeface="Carlito"/>
            </a:endParaRPr>
          </a:p>
          <a:p>
            <a:pPr marL="355600" indent="-342900">
              <a:lnSpc>
                <a:spcPct val="100000"/>
              </a:lnSpc>
              <a:spcBef>
                <a:spcPts val="480"/>
              </a:spcBef>
              <a:buFont typeface="Arial"/>
              <a:buChar char="•"/>
              <a:tabLst>
                <a:tab pos="354965" algn="l"/>
                <a:tab pos="355600" algn="l"/>
              </a:tabLst>
            </a:pPr>
            <a:r>
              <a:rPr sz="2000" dirty="0">
                <a:latin typeface="Carlito"/>
                <a:cs typeface="Carlito"/>
              </a:rPr>
              <a:t>It </a:t>
            </a:r>
            <a:r>
              <a:rPr sz="2000" spc="-5" dirty="0">
                <a:latin typeface="Carlito"/>
                <a:cs typeface="Carlito"/>
              </a:rPr>
              <a:t>shows how objects </a:t>
            </a:r>
            <a:r>
              <a:rPr sz="2000" spc="-10" dirty="0">
                <a:latin typeface="Carlito"/>
                <a:cs typeface="Carlito"/>
              </a:rPr>
              <a:t>are </a:t>
            </a:r>
            <a:r>
              <a:rPr sz="2000" spc="-5" dirty="0">
                <a:latin typeface="Carlito"/>
                <a:cs typeface="Carlito"/>
              </a:rPr>
              <a:t>grouped </a:t>
            </a:r>
            <a:r>
              <a:rPr sz="2000" spc="-10" dirty="0">
                <a:latin typeface="Carlito"/>
                <a:cs typeface="Carlito"/>
              </a:rPr>
              <a:t>together </a:t>
            </a:r>
            <a:r>
              <a:rPr sz="2000" spc="-15" dirty="0">
                <a:latin typeface="Carlito"/>
                <a:cs typeface="Carlito"/>
              </a:rPr>
              <a:t>step </a:t>
            </a:r>
            <a:r>
              <a:rPr sz="2000" spc="-5" dirty="0">
                <a:latin typeface="Carlito"/>
                <a:cs typeface="Carlito"/>
              </a:rPr>
              <a:t>by</a:t>
            </a:r>
            <a:r>
              <a:rPr sz="2000" spc="-30" dirty="0">
                <a:latin typeface="Carlito"/>
                <a:cs typeface="Carlito"/>
              </a:rPr>
              <a:t> </a:t>
            </a:r>
            <a:r>
              <a:rPr sz="2000" spc="-15" dirty="0">
                <a:latin typeface="Carlito"/>
                <a:cs typeface="Carlito"/>
              </a:rPr>
              <a:t>step</a:t>
            </a:r>
            <a:endParaRPr sz="2000" dirty="0">
              <a:latin typeface="Carlito"/>
              <a:cs typeface="Carlito"/>
            </a:endParaRPr>
          </a:p>
          <a:p>
            <a:pPr marL="355600" marR="80010" indent="-342900">
              <a:lnSpc>
                <a:spcPct val="100000"/>
              </a:lnSpc>
              <a:spcBef>
                <a:spcPts val="480"/>
              </a:spcBef>
              <a:buFont typeface="Arial"/>
              <a:buChar char="•"/>
              <a:tabLst>
                <a:tab pos="354965" algn="l"/>
                <a:tab pos="355600" algn="l"/>
              </a:tabLst>
            </a:pPr>
            <a:r>
              <a:rPr sz="2000" spc="-5" dirty="0">
                <a:latin typeface="Carlito"/>
                <a:cs typeface="Carlito"/>
              </a:rPr>
              <a:t>Figure: </a:t>
            </a:r>
            <a:r>
              <a:rPr sz="2000" dirty="0">
                <a:latin typeface="Carlito"/>
                <a:cs typeface="Carlito"/>
              </a:rPr>
              <a:t>2 </a:t>
            </a:r>
            <a:r>
              <a:rPr sz="2000" spc="-5" dirty="0">
                <a:latin typeface="Carlito"/>
                <a:cs typeface="Carlito"/>
              </a:rPr>
              <a:t>shows </a:t>
            </a:r>
            <a:r>
              <a:rPr sz="2000" dirty="0">
                <a:latin typeface="Carlito"/>
                <a:cs typeface="Carlito"/>
              </a:rPr>
              <a:t>a </a:t>
            </a:r>
            <a:r>
              <a:rPr sz="2000" spc="-10" dirty="0">
                <a:latin typeface="Carlito"/>
                <a:cs typeface="Carlito"/>
              </a:rPr>
              <a:t>dendrogram </a:t>
            </a:r>
            <a:r>
              <a:rPr sz="2000" spc="-5" dirty="0">
                <a:latin typeface="Arial"/>
                <a:cs typeface="Arial"/>
              </a:rPr>
              <a:t>for </a:t>
            </a:r>
            <a:r>
              <a:rPr sz="2000" spc="-20" dirty="0">
                <a:latin typeface="Arial"/>
                <a:cs typeface="Arial"/>
              </a:rPr>
              <a:t>the </a:t>
            </a:r>
            <a:r>
              <a:rPr sz="2000" spc="-65" dirty="0">
                <a:latin typeface="Arial"/>
                <a:cs typeface="Arial"/>
              </a:rPr>
              <a:t>ﬁve </a:t>
            </a:r>
            <a:r>
              <a:rPr sz="2000" spc="-70" dirty="0">
                <a:latin typeface="Arial"/>
                <a:cs typeface="Arial"/>
              </a:rPr>
              <a:t>objects </a:t>
            </a:r>
            <a:r>
              <a:rPr sz="2000" spc="-80" dirty="0">
                <a:latin typeface="Arial"/>
                <a:cs typeface="Arial"/>
              </a:rPr>
              <a:t>presented </a:t>
            </a:r>
            <a:r>
              <a:rPr sz="2000" spc="-25" dirty="0">
                <a:latin typeface="Arial"/>
                <a:cs typeface="Arial"/>
              </a:rPr>
              <a:t>in</a:t>
            </a:r>
            <a:r>
              <a:rPr sz="2000" spc="-415" dirty="0">
                <a:latin typeface="Arial"/>
                <a:cs typeface="Arial"/>
              </a:rPr>
              <a:t> </a:t>
            </a:r>
            <a:r>
              <a:rPr sz="2000" spc="-95" dirty="0">
                <a:latin typeface="Arial"/>
                <a:cs typeface="Arial"/>
              </a:rPr>
              <a:t>Figure:1 </a:t>
            </a:r>
            <a:r>
              <a:rPr sz="2000" spc="-60" dirty="0">
                <a:latin typeface="Arial"/>
                <a:cs typeface="Arial"/>
              </a:rPr>
              <a:t>,  where </a:t>
            </a:r>
            <a:r>
              <a:rPr sz="2000" spc="15" dirty="0">
                <a:latin typeface="Arial"/>
                <a:cs typeface="Arial"/>
              </a:rPr>
              <a:t>l </a:t>
            </a:r>
            <a:r>
              <a:rPr sz="2000" spc="-140" dirty="0">
                <a:latin typeface="Arial"/>
                <a:cs typeface="Arial"/>
              </a:rPr>
              <a:t>=0 </a:t>
            </a:r>
            <a:r>
              <a:rPr sz="2000" spc="-120" dirty="0">
                <a:latin typeface="Arial"/>
                <a:cs typeface="Arial"/>
              </a:rPr>
              <a:t>shows </a:t>
            </a:r>
            <a:r>
              <a:rPr sz="2000" spc="-20" dirty="0">
                <a:latin typeface="Arial"/>
                <a:cs typeface="Arial"/>
              </a:rPr>
              <a:t>the </a:t>
            </a:r>
            <a:r>
              <a:rPr sz="2000" spc="-65" dirty="0">
                <a:latin typeface="Arial"/>
                <a:cs typeface="Arial"/>
              </a:rPr>
              <a:t>ﬁve </a:t>
            </a:r>
            <a:r>
              <a:rPr sz="2000" spc="-70" dirty="0">
                <a:latin typeface="Arial"/>
                <a:cs typeface="Arial"/>
              </a:rPr>
              <a:t>objects </a:t>
            </a:r>
            <a:r>
              <a:rPr sz="2000" spc="-185" dirty="0">
                <a:latin typeface="Arial"/>
                <a:cs typeface="Arial"/>
              </a:rPr>
              <a:t>as </a:t>
            </a:r>
            <a:r>
              <a:rPr sz="2000" spc="-70" dirty="0">
                <a:latin typeface="Arial"/>
                <a:cs typeface="Arial"/>
              </a:rPr>
              <a:t>singleton </a:t>
            </a:r>
            <a:r>
              <a:rPr sz="2000" spc="-90" dirty="0">
                <a:latin typeface="Arial"/>
                <a:cs typeface="Arial"/>
              </a:rPr>
              <a:t>clusters </a:t>
            </a:r>
            <a:r>
              <a:rPr sz="2000" spc="-35" dirty="0">
                <a:latin typeface="Arial"/>
                <a:cs typeface="Arial"/>
              </a:rPr>
              <a:t>at </a:t>
            </a:r>
            <a:r>
              <a:rPr sz="2000" spc="-70" dirty="0">
                <a:latin typeface="Arial"/>
                <a:cs typeface="Arial"/>
              </a:rPr>
              <a:t>level</a:t>
            </a:r>
            <a:r>
              <a:rPr sz="2000" spc="-365" dirty="0">
                <a:latin typeface="Arial"/>
                <a:cs typeface="Arial"/>
              </a:rPr>
              <a:t> </a:t>
            </a:r>
            <a:r>
              <a:rPr sz="2000" spc="-100" dirty="0">
                <a:latin typeface="Arial"/>
                <a:cs typeface="Arial"/>
              </a:rPr>
              <a:t>0</a:t>
            </a:r>
            <a:endParaRPr sz="2000" dirty="0">
              <a:latin typeface="Arial"/>
              <a:cs typeface="Arial"/>
            </a:endParaRPr>
          </a:p>
          <a:p>
            <a:pPr marL="355600" indent="-342900">
              <a:lnSpc>
                <a:spcPct val="100000"/>
              </a:lnSpc>
              <a:spcBef>
                <a:spcPts val="480"/>
              </a:spcBef>
              <a:buChar char="•"/>
              <a:tabLst>
                <a:tab pos="354965" algn="l"/>
                <a:tab pos="355600" algn="l"/>
              </a:tabLst>
            </a:pPr>
            <a:r>
              <a:rPr sz="2000" spc="-55" dirty="0">
                <a:latin typeface="Arial"/>
                <a:cs typeface="Arial"/>
              </a:rPr>
              <a:t>At</a:t>
            </a:r>
            <a:r>
              <a:rPr sz="2000" spc="-114" dirty="0">
                <a:latin typeface="Arial"/>
                <a:cs typeface="Arial"/>
              </a:rPr>
              <a:t> </a:t>
            </a:r>
            <a:r>
              <a:rPr sz="2000" spc="15" dirty="0">
                <a:latin typeface="Arial"/>
                <a:cs typeface="Arial"/>
              </a:rPr>
              <a:t>l</a:t>
            </a:r>
            <a:r>
              <a:rPr sz="2000" spc="-100" dirty="0">
                <a:latin typeface="Arial"/>
                <a:cs typeface="Arial"/>
              </a:rPr>
              <a:t> </a:t>
            </a:r>
            <a:r>
              <a:rPr sz="2000" spc="-110" dirty="0">
                <a:latin typeface="Arial"/>
                <a:cs typeface="Arial"/>
              </a:rPr>
              <a:t>=1,</a:t>
            </a:r>
            <a:r>
              <a:rPr sz="2000" spc="-100" dirty="0">
                <a:latin typeface="Arial"/>
                <a:cs typeface="Arial"/>
              </a:rPr>
              <a:t> </a:t>
            </a:r>
            <a:r>
              <a:rPr sz="2000" spc="-70" dirty="0">
                <a:latin typeface="Arial"/>
                <a:cs typeface="Arial"/>
              </a:rPr>
              <a:t>objects</a:t>
            </a:r>
            <a:r>
              <a:rPr sz="2000" spc="-114" dirty="0">
                <a:latin typeface="Arial"/>
                <a:cs typeface="Arial"/>
              </a:rPr>
              <a:t> </a:t>
            </a:r>
            <a:r>
              <a:rPr sz="2000" spc="-155" dirty="0">
                <a:latin typeface="Arial"/>
                <a:cs typeface="Arial"/>
              </a:rPr>
              <a:t>a</a:t>
            </a:r>
            <a:r>
              <a:rPr sz="2000" spc="-100" dirty="0">
                <a:latin typeface="Arial"/>
                <a:cs typeface="Arial"/>
              </a:rPr>
              <a:t> </a:t>
            </a:r>
            <a:r>
              <a:rPr sz="2000" spc="-90" dirty="0">
                <a:latin typeface="Arial"/>
                <a:cs typeface="Arial"/>
              </a:rPr>
              <a:t>and</a:t>
            </a:r>
            <a:r>
              <a:rPr sz="2000" spc="-100" dirty="0">
                <a:latin typeface="Arial"/>
                <a:cs typeface="Arial"/>
              </a:rPr>
              <a:t> </a:t>
            </a:r>
            <a:r>
              <a:rPr sz="2000" spc="-60" dirty="0">
                <a:latin typeface="Arial"/>
                <a:cs typeface="Arial"/>
              </a:rPr>
              <a:t>b</a:t>
            </a:r>
            <a:r>
              <a:rPr sz="2000" spc="-100" dirty="0">
                <a:latin typeface="Arial"/>
                <a:cs typeface="Arial"/>
              </a:rPr>
              <a:t> </a:t>
            </a:r>
            <a:r>
              <a:rPr sz="2000" spc="-90" dirty="0">
                <a:latin typeface="Arial"/>
                <a:cs typeface="Arial"/>
              </a:rPr>
              <a:t>are</a:t>
            </a:r>
            <a:r>
              <a:rPr sz="2000" spc="-105" dirty="0">
                <a:latin typeface="Arial"/>
                <a:cs typeface="Arial"/>
              </a:rPr>
              <a:t> </a:t>
            </a:r>
            <a:r>
              <a:rPr sz="2000" spc="-80" dirty="0">
                <a:latin typeface="Arial"/>
                <a:cs typeface="Arial"/>
              </a:rPr>
              <a:t>grouped</a:t>
            </a:r>
            <a:r>
              <a:rPr sz="2000" spc="-114" dirty="0">
                <a:latin typeface="Arial"/>
                <a:cs typeface="Arial"/>
              </a:rPr>
              <a:t> </a:t>
            </a:r>
            <a:r>
              <a:rPr sz="2000" spc="-40" dirty="0">
                <a:latin typeface="Arial"/>
                <a:cs typeface="Arial"/>
              </a:rPr>
              <a:t>together</a:t>
            </a:r>
            <a:r>
              <a:rPr sz="2000" spc="-110" dirty="0">
                <a:latin typeface="Arial"/>
                <a:cs typeface="Arial"/>
              </a:rPr>
              <a:t> </a:t>
            </a:r>
            <a:r>
              <a:rPr sz="2000" spc="15" dirty="0">
                <a:latin typeface="Arial"/>
                <a:cs typeface="Arial"/>
              </a:rPr>
              <a:t>to</a:t>
            </a:r>
            <a:r>
              <a:rPr sz="2000" spc="-105" dirty="0">
                <a:latin typeface="Arial"/>
                <a:cs typeface="Arial"/>
              </a:rPr>
              <a:t> </a:t>
            </a:r>
            <a:r>
              <a:rPr sz="2000" spc="-20" dirty="0">
                <a:latin typeface="Arial"/>
                <a:cs typeface="Arial"/>
              </a:rPr>
              <a:t>form</a:t>
            </a:r>
            <a:r>
              <a:rPr sz="2000" spc="-120" dirty="0">
                <a:latin typeface="Arial"/>
                <a:cs typeface="Arial"/>
              </a:rPr>
              <a:t> </a:t>
            </a:r>
            <a:r>
              <a:rPr sz="2000" spc="-20" dirty="0">
                <a:latin typeface="Arial"/>
                <a:cs typeface="Arial"/>
              </a:rPr>
              <a:t>the</a:t>
            </a:r>
            <a:r>
              <a:rPr sz="2000" spc="-100" dirty="0">
                <a:latin typeface="Arial"/>
                <a:cs typeface="Arial"/>
              </a:rPr>
              <a:t> </a:t>
            </a:r>
            <a:r>
              <a:rPr sz="2000" spc="-25" dirty="0">
                <a:latin typeface="Arial"/>
                <a:cs typeface="Arial"/>
              </a:rPr>
              <a:t>ﬁrst</a:t>
            </a:r>
            <a:r>
              <a:rPr sz="2000" spc="-75" dirty="0">
                <a:latin typeface="Arial"/>
                <a:cs typeface="Arial"/>
              </a:rPr>
              <a:t> </a:t>
            </a:r>
            <a:r>
              <a:rPr sz="2000" spc="-85" dirty="0">
                <a:latin typeface="Arial"/>
                <a:cs typeface="Arial"/>
              </a:rPr>
              <a:t>cluster,</a:t>
            </a:r>
            <a:r>
              <a:rPr sz="2000" spc="-105" dirty="0">
                <a:latin typeface="Arial"/>
                <a:cs typeface="Arial"/>
              </a:rPr>
              <a:t> </a:t>
            </a:r>
            <a:r>
              <a:rPr sz="2000" spc="-90" dirty="0">
                <a:latin typeface="Arial"/>
                <a:cs typeface="Arial"/>
              </a:rPr>
              <a:t>and</a:t>
            </a:r>
            <a:endParaRPr sz="2000" dirty="0">
              <a:latin typeface="Arial"/>
              <a:cs typeface="Arial"/>
            </a:endParaRPr>
          </a:p>
          <a:p>
            <a:pPr marL="355600">
              <a:lnSpc>
                <a:spcPct val="100000"/>
              </a:lnSpc>
            </a:pPr>
            <a:r>
              <a:rPr sz="2000" spc="-5" dirty="0">
                <a:latin typeface="Carlito"/>
                <a:cs typeface="Carlito"/>
              </a:rPr>
              <a:t>they </a:t>
            </a:r>
            <a:r>
              <a:rPr sz="2000" spc="-25" dirty="0">
                <a:latin typeface="Carlito"/>
                <a:cs typeface="Carlito"/>
              </a:rPr>
              <a:t>stay </a:t>
            </a:r>
            <a:r>
              <a:rPr sz="2000" spc="-10" dirty="0">
                <a:latin typeface="Carlito"/>
                <a:cs typeface="Carlito"/>
              </a:rPr>
              <a:t>together </a:t>
            </a:r>
            <a:r>
              <a:rPr sz="2000" spc="-15" dirty="0">
                <a:latin typeface="Carlito"/>
                <a:cs typeface="Carlito"/>
              </a:rPr>
              <a:t>at </a:t>
            </a:r>
            <a:r>
              <a:rPr sz="2000" dirty="0">
                <a:latin typeface="Carlito"/>
                <a:cs typeface="Carlito"/>
              </a:rPr>
              <a:t>all </a:t>
            </a:r>
            <a:r>
              <a:rPr sz="2000" spc="-5" dirty="0">
                <a:latin typeface="Carlito"/>
                <a:cs typeface="Carlito"/>
              </a:rPr>
              <a:t>subsequent</a:t>
            </a:r>
            <a:r>
              <a:rPr sz="2000" spc="45" dirty="0">
                <a:latin typeface="Carlito"/>
                <a:cs typeface="Carlito"/>
              </a:rPr>
              <a:t> </a:t>
            </a:r>
            <a:r>
              <a:rPr sz="2000" spc="-10" dirty="0">
                <a:latin typeface="Carlito"/>
                <a:cs typeface="Carlito"/>
              </a:rPr>
              <a:t>levels</a:t>
            </a:r>
            <a:endParaRPr sz="2000" dirty="0">
              <a:latin typeface="Carlito"/>
              <a:cs typeface="Carli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5502" y="385953"/>
            <a:ext cx="1871980" cy="452120"/>
          </a:xfrm>
          <a:prstGeom prst="rect">
            <a:avLst/>
          </a:prstGeom>
        </p:spPr>
        <p:txBody>
          <a:bodyPr vert="horz" wrap="square" lIns="0" tIns="12065" rIns="0" bIns="0" rtlCol="0">
            <a:spAutoFit/>
          </a:bodyPr>
          <a:lstStyle/>
          <a:p>
            <a:pPr marL="12700">
              <a:lnSpc>
                <a:spcPct val="100000"/>
              </a:lnSpc>
              <a:spcBef>
                <a:spcPts val="95"/>
              </a:spcBef>
            </a:pPr>
            <a:r>
              <a:rPr sz="2800" b="1" spc="-20" dirty="0">
                <a:solidFill>
                  <a:srgbClr val="0000FF"/>
                </a:solidFill>
                <a:latin typeface="Carlito"/>
                <a:cs typeface="Carlito"/>
              </a:rPr>
              <a:t>Dendrogram</a:t>
            </a:r>
            <a:endParaRPr sz="2800">
              <a:latin typeface="Carlito"/>
              <a:cs typeface="Carlito"/>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12</a:t>
            </a:fld>
            <a:endParaRPr dirty="0"/>
          </a:p>
        </p:txBody>
      </p:sp>
      <p:sp>
        <p:nvSpPr>
          <p:cNvPr id="3" name="object 3"/>
          <p:cNvSpPr txBox="1"/>
          <p:nvPr/>
        </p:nvSpPr>
        <p:spPr>
          <a:xfrm>
            <a:off x="535940" y="1216913"/>
            <a:ext cx="7827009" cy="1306830"/>
          </a:xfrm>
          <a:prstGeom prst="rect">
            <a:avLst/>
          </a:prstGeom>
        </p:spPr>
        <p:txBody>
          <a:bodyPr vert="horz" wrap="square" lIns="0" tIns="13335" rIns="0" bIns="0" rtlCol="0">
            <a:spAutoFit/>
          </a:bodyPr>
          <a:lstStyle/>
          <a:p>
            <a:pPr marL="355600" marR="542290" indent="-342900">
              <a:lnSpc>
                <a:spcPct val="100000"/>
              </a:lnSpc>
              <a:spcBef>
                <a:spcPts val="105"/>
              </a:spcBef>
              <a:buFont typeface="Arial"/>
              <a:buChar char="•"/>
              <a:tabLst>
                <a:tab pos="354965" algn="l"/>
                <a:tab pos="355600" algn="l"/>
              </a:tabLst>
            </a:pPr>
            <a:r>
              <a:rPr sz="2000" spc="-35" dirty="0">
                <a:latin typeface="Carlito"/>
                <a:cs typeface="Carlito"/>
              </a:rPr>
              <a:t>We </a:t>
            </a:r>
            <a:r>
              <a:rPr sz="2000" spc="-5" dirty="0">
                <a:latin typeface="Carlito"/>
                <a:cs typeface="Carlito"/>
              </a:rPr>
              <a:t>can also </a:t>
            </a:r>
            <a:r>
              <a:rPr sz="2000" dirty="0">
                <a:latin typeface="Carlito"/>
                <a:cs typeface="Carlito"/>
              </a:rPr>
              <a:t>use a </a:t>
            </a:r>
            <a:r>
              <a:rPr sz="2000" spc="-5" dirty="0">
                <a:latin typeface="Carlito"/>
                <a:cs typeface="Carlito"/>
              </a:rPr>
              <a:t>vertical </a:t>
            </a:r>
            <a:r>
              <a:rPr sz="2000" spc="-10" dirty="0">
                <a:latin typeface="Carlito"/>
                <a:cs typeface="Carlito"/>
              </a:rPr>
              <a:t>axis </a:t>
            </a:r>
            <a:r>
              <a:rPr sz="2000" spc="-15" dirty="0">
                <a:latin typeface="Carlito"/>
                <a:cs typeface="Carlito"/>
              </a:rPr>
              <a:t>to </a:t>
            </a:r>
            <a:r>
              <a:rPr sz="2000" spc="-5" dirty="0">
                <a:latin typeface="Carlito"/>
                <a:cs typeface="Carlito"/>
              </a:rPr>
              <a:t>show </a:t>
            </a:r>
            <a:r>
              <a:rPr sz="2000" dirty="0">
                <a:latin typeface="Carlito"/>
                <a:cs typeface="Carlito"/>
              </a:rPr>
              <a:t>the </a:t>
            </a:r>
            <a:r>
              <a:rPr sz="2000" spc="-5" dirty="0">
                <a:latin typeface="Carlito"/>
                <a:cs typeface="Carlito"/>
              </a:rPr>
              <a:t>similarity scale between  </a:t>
            </a:r>
            <a:r>
              <a:rPr sz="2000" spc="-10" dirty="0">
                <a:latin typeface="Carlito"/>
                <a:cs typeface="Carlito"/>
              </a:rPr>
              <a:t>clusters</a:t>
            </a:r>
            <a:endParaRPr sz="2000">
              <a:latin typeface="Carlito"/>
              <a:cs typeface="Carlito"/>
            </a:endParaRPr>
          </a:p>
          <a:p>
            <a:pPr marL="355600" indent="-342900">
              <a:lnSpc>
                <a:spcPct val="100000"/>
              </a:lnSpc>
              <a:spcBef>
                <a:spcPts val="480"/>
              </a:spcBef>
              <a:buFont typeface="Arial"/>
              <a:buChar char="•"/>
              <a:tabLst>
                <a:tab pos="354965" algn="l"/>
                <a:tab pos="355600" algn="l"/>
              </a:tabLst>
            </a:pPr>
            <a:r>
              <a:rPr sz="2000" spc="-10" dirty="0">
                <a:latin typeface="Carlito"/>
                <a:cs typeface="Carlito"/>
              </a:rPr>
              <a:t>For example, </a:t>
            </a:r>
            <a:r>
              <a:rPr sz="2000" dirty="0">
                <a:latin typeface="Carlito"/>
                <a:cs typeface="Carlito"/>
              </a:rPr>
              <a:t>when the </a:t>
            </a:r>
            <a:r>
              <a:rPr sz="2000" spc="-5" dirty="0">
                <a:latin typeface="Carlito"/>
                <a:cs typeface="Carlito"/>
              </a:rPr>
              <a:t>similarity of </a:t>
            </a:r>
            <a:r>
              <a:rPr sz="2000" spc="-10" dirty="0">
                <a:latin typeface="Carlito"/>
                <a:cs typeface="Carlito"/>
              </a:rPr>
              <a:t>two groups </a:t>
            </a:r>
            <a:r>
              <a:rPr sz="2000" spc="-5" dirty="0">
                <a:latin typeface="Carlito"/>
                <a:cs typeface="Carlito"/>
              </a:rPr>
              <a:t>of objects, </a:t>
            </a:r>
            <a:r>
              <a:rPr sz="2000" dirty="0">
                <a:latin typeface="Carlito"/>
                <a:cs typeface="Carlito"/>
              </a:rPr>
              <a:t>{a,b}</a:t>
            </a:r>
            <a:r>
              <a:rPr sz="2000" spc="15" dirty="0">
                <a:latin typeface="Carlito"/>
                <a:cs typeface="Carlito"/>
              </a:rPr>
              <a:t> </a:t>
            </a:r>
            <a:r>
              <a:rPr sz="2000" dirty="0">
                <a:latin typeface="Carlito"/>
                <a:cs typeface="Carlito"/>
              </a:rPr>
              <a:t>and</a:t>
            </a:r>
            <a:endParaRPr sz="2000">
              <a:latin typeface="Carlito"/>
              <a:cs typeface="Carlito"/>
            </a:endParaRPr>
          </a:p>
          <a:p>
            <a:pPr marL="355600">
              <a:lnSpc>
                <a:spcPct val="100000"/>
              </a:lnSpc>
            </a:pPr>
            <a:r>
              <a:rPr sz="2000" dirty="0">
                <a:latin typeface="Carlito"/>
                <a:cs typeface="Carlito"/>
              </a:rPr>
              <a:t>{c,d,e}, is </a:t>
            </a:r>
            <a:r>
              <a:rPr sz="2000" spc="-10" dirty="0">
                <a:latin typeface="Carlito"/>
                <a:cs typeface="Carlito"/>
              </a:rPr>
              <a:t>roughly </a:t>
            </a:r>
            <a:r>
              <a:rPr sz="2000" dirty="0">
                <a:latin typeface="Carlito"/>
                <a:cs typeface="Carlito"/>
              </a:rPr>
              <a:t>0.16, </a:t>
            </a:r>
            <a:r>
              <a:rPr sz="2000" spc="-5" dirty="0">
                <a:latin typeface="Carlito"/>
                <a:cs typeface="Carlito"/>
              </a:rPr>
              <a:t>they </a:t>
            </a:r>
            <a:r>
              <a:rPr sz="2000" spc="-10" dirty="0">
                <a:latin typeface="Carlito"/>
                <a:cs typeface="Carlito"/>
              </a:rPr>
              <a:t>are merged together </a:t>
            </a:r>
            <a:r>
              <a:rPr sz="2000" spc="-15" dirty="0">
                <a:latin typeface="Carlito"/>
                <a:cs typeface="Carlito"/>
              </a:rPr>
              <a:t>to </a:t>
            </a:r>
            <a:r>
              <a:rPr sz="2000" spc="-10" dirty="0">
                <a:latin typeface="Carlito"/>
                <a:cs typeface="Carlito"/>
              </a:rPr>
              <a:t>form </a:t>
            </a:r>
            <a:r>
              <a:rPr sz="2000" dirty="0">
                <a:latin typeface="Carlito"/>
                <a:cs typeface="Carlito"/>
              </a:rPr>
              <a:t>a </a:t>
            </a:r>
            <a:r>
              <a:rPr sz="2000" spc="-5" dirty="0">
                <a:latin typeface="Carlito"/>
                <a:cs typeface="Carlito"/>
              </a:rPr>
              <a:t>single</a:t>
            </a:r>
            <a:r>
              <a:rPr sz="2000" spc="15" dirty="0">
                <a:latin typeface="Carlito"/>
                <a:cs typeface="Carlito"/>
              </a:rPr>
              <a:t> </a:t>
            </a:r>
            <a:r>
              <a:rPr sz="2000" spc="-10" dirty="0">
                <a:latin typeface="Carlito"/>
                <a:cs typeface="Carlito"/>
              </a:rPr>
              <a:t>cluster</a:t>
            </a:r>
            <a:endParaRPr sz="2000">
              <a:latin typeface="Carlito"/>
              <a:cs typeface="Carli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34108" y="385953"/>
            <a:ext cx="5873115" cy="452120"/>
          </a:xfrm>
          <a:prstGeom prst="rect">
            <a:avLst/>
          </a:prstGeom>
        </p:spPr>
        <p:txBody>
          <a:bodyPr vert="horz" wrap="square" lIns="0" tIns="12065" rIns="0" bIns="0" rtlCol="0">
            <a:spAutoFit/>
          </a:bodyPr>
          <a:lstStyle/>
          <a:p>
            <a:pPr marL="12700">
              <a:lnSpc>
                <a:spcPct val="100000"/>
              </a:lnSpc>
              <a:spcBef>
                <a:spcPts val="95"/>
              </a:spcBef>
            </a:pPr>
            <a:r>
              <a:rPr sz="2800" b="1" spc="-15" dirty="0">
                <a:solidFill>
                  <a:srgbClr val="0000FF"/>
                </a:solidFill>
                <a:latin typeface="Carlito"/>
                <a:cs typeface="Carlito"/>
              </a:rPr>
              <a:t>Measures </a:t>
            </a:r>
            <a:r>
              <a:rPr sz="2800" b="1" spc="-20" dirty="0">
                <a:solidFill>
                  <a:srgbClr val="0000FF"/>
                </a:solidFill>
                <a:latin typeface="Carlito"/>
                <a:cs typeface="Carlito"/>
              </a:rPr>
              <a:t>for </a:t>
            </a:r>
            <a:r>
              <a:rPr sz="2800" b="1" spc="-15" dirty="0">
                <a:solidFill>
                  <a:srgbClr val="0000FF"/>
                </a:solidFill>
                <a:latin typeface="Carlito"/>
                <a:cs typeface="Carlito"/>
              </a:rPr>
              <a:t>distance between</a:t>
            </a:r>
            <a:r>
              <a:rPr sz="2800" b="1" spc="150" dirty="0">
                <a:solidFill>
                  <a:srgbClr val="0000FF"/>
                </a:solidFill>
                <a:latin typeface="Carlito"/>
                <a:cs typeface="Carlito"/>
              </a:rPr>
              <a:t> </a:t>
            </a:r>
            <a:r>
              <a:rPr sz="2800" b="1" spc="-20" dirty="0">
                <a:solidFill>
                  <a:srgbClr val="0000FF"/>
                </a:solidFill>
                <a:latin typeface="Carlito"/>
                <a:cs typeface="Carlito"/>
              </a:rPr>
              <a:t>clusters</a:t>
            </a:r>
            <a:endParaRPr sz="2800">
              <a:latin typeface="Carlito"/>
              <a:cs typeface="Carlito"/>
            </a:endParaRPr>
          </a:p>
        </p:txBody>
      </p:sp>
      <p:sp>
        <p:nvSpPr>
          <p:cNvPr id="3" name="object 3"/>
          <p:cNvSpPr txBox="1"/>
          <p:nvPr/>
        </p:nvSpPr>
        <p:spPr>
          <a:xfrm>
            <a:off x="497840" y="1216913"/>
            <a:ext cx="8145145" cy="2404110"/>
          </a:xfrm>
          <a:prstGeom prst="rect">
            <a:avLst/>
          </a:prstGeom>
        </p:spPr>
        <p:txBody>
          <a:bodyPr vert="horz" wrap="square" lIns="0" tIns="13335" rIns="0" bIns="0" rtlCol="0">
            <a:spAutoFit/>
          </a:bodyPr>
          <a:lstStyle/>
          <a:p>
            <a:pPr marL="393700" marR="81280" indent="-342900">
              <a:lnSpc>
                <a:spcPct val="100000"/>
              </a:lnSpc>
              <a:spcBef>
                <a:spcPts val="105"/>
              </a:spcBef>
              <a:buFont typeface="Arial"/>
              <a:buChar char="•"/>
              <a:tabLst>
                <a:tab pos="393065" algn="l"/>
                <a:tab pos="393700" algn="l"/>
              </a:tabLst>
            </a:pPr>
            <a:r>
              <a:rPr sz="2000" spc="-5" dirty="0">
                <a:latin typeface="Carlito"/>
                <a:cs typeface="Carlito"/>
              </a:rPr>
              <a:t>Four </a:t>
            </a:r>
            <a:r>
              <a:rPr sz="2000" dirty="0">
                <a:latin typeface="Carlito"/>
                <a:cs typeface="Carlito"/>
              </a:rPr>
              <a:t>widely </a:t>
            </a:r>
            <a:r>
              <a:rPr sz="2000" spc="-5" dirty="0">
                <a:latin typeface="Carlito"/>
                <a:cs typeface="Carlito"/>
              </a:rPr>
              <a:t>used measures </a:t>
            </a:r>
            <a:r>
              <a:rPr sz="2000" spc="-15" dirty="0">
                <a:latin typeface="Carlito"/>
                <a:cs typeface="Carlito"/>
              </a:rPr>
              <a:t>for </a:t>
            </a:r>
            <a:r>
              <a:rPr sz="2000" spc="-10" dirty="0">
                <a:latin typeface="Carlito"/>
                <a:cs typeface="Carlito"/>
              </a:rPr>
              <a:t>distance </a:t>
            </a:r>
            <a:r>
              <a:rPr sz="2000" spc="-5" dirty="0">
                <a:latin typeface="Carlito"/>
                <a:cs typeface="Carlito"/>
              </a:rPr>
              <a:t>between </a:t>
            </a:r>
            <a:r>
              <a:rPr sz="2000" spc="-10" dirty="0">
                <a:latin typeface="Carlito"/>
                <a:cs typeface="Carlito"/>
              </a:rPr>
              <a:t>clusters are </a:t>
            </a:r>
            <a:r>
              <a:rPr sz="2000" dirty="0">
                <a:latin typeface="Carlito"/>
                <a:cs typeface="Carlito"/>
              </a:rPr>
              <a:t>as </a:t>
            </a:r>
            <a:r>
              <a:rPr sz="2000" spc="-15" dirty="0">
                <a:latin typeface="Carlito"/>
                <a:cs typeface="Carlito"/>
              </a:rPr>
              <a:t>follows,  </a:t>
            </a:r>
            <a:r>
              <a:rPr sz="2000" spc="20" dirty="0">
                <a:latin typeface="Arial"/>
                <a:cs typeface="Arial"/>
              </a:rPr>
              <a:t>where</a:t>
            </a:r>
            <a:r>
              <a:rPr sz="2000" spc="20" dirty="0">
                <a:solidFill>
                  <a:srgbClr val="FF0000"/>
                </a:solidFill>
                <a:latin typeface="Arial"/>
                <a:cs typeface="Arial"/>
              </a:rPr>
              <a:t>|p−p’|</a:t>
            </a:r>
            <a:r>
              <a:rPr sz="2000" spc="-100" dirty="0">
                <a:solidFill>
                  <a:srgbClr val="FF0000"/>
                </a:solidFill>
                <a:latin typeface="Arial"/>
                <a:cs typeface="Arial"/>
              </a:rPr>
              <a:t> </a:t>
            </a:r>
            <a:r>
              <a:rPr sz="2000" spc="-110" dirty="0">
                <a:latin typeface="Arial"/>
                <a:cs typeface="Arial"/>
              </a:rPr>
              <a:t>is</a:t>
            </a:r>
            <a:r>
              <a:rPr sz="2000" spc="-100" dirty="0">
                <a:latin typeface="Arial"/>
                <a:cs typeface="Arial"/>
              </a:rPr>
              <a:t> </a:t>
            </a:r>
            <a:r>
              <a:rPr sz="2000" spc="-20" dirty="0">
                <a:latin typeface="Arial"/>
                <a:cs typeface="Arial"/>
              </a:rPr>
              <a:t>the</a:t>
            </a:r>
            <a:r>
              <a:rPr sz="2000" spc="-100" dirty="0">
                <a:latin typeface="Arial"/>
                <a:cs typeface="Arial"/>
              </a:rPr>
              <a:t> </a:t>
            </a:r>
            <a:r>
              <a:rPr sz="2000" spc="-85" dirty="0">
                <a:latin typeface="Arial"/>
                <a:cs typeface="Arial"/>
              </a:rPr>
              <a:t>distance</a:t>
            </a:r>
            <a:r>
              <a:rPr sz="2000" spc="-100" dirty="0">
                <a:latin typeface="Arial"/>
                <a:cs typeface="Arial"/>
              </a:rPr>
              <a:t> </a:t>
            </a:r>
            <a:r>
              <a:rPr sz="2000" spc="-60" dirty="0">
                <a:latin typeface="Arial"/>
                <a:cs typeface="Arial"/>
              </a:rPr>
              <a:t>between</a:t>
            </a:r>
            <a:r>
              <a:rPr sz="2000" spc="-100" dirty="0">
                <a:latin typeface="Arial"/>
                <a:cs typeface="Arial"/>
              </a:rPr>
              <a:t> </a:t>
            </a:r>
            <a:r>
              <a:rPr sz="2000" spc="5" dirty="0">
                <a:latin typeface="Arial"/>
                <a:cs typeface="Arial"/>
              </a:rPr>
              <a:t>two</a:t>
            </a:r>
            <a:r>
              <a:rPr sz="2000" spc="-110" dirty="0">
                <a:latin typeface="Arial"/>
                <a:cs typeface="Arial"/>
              </a:rPr>
              <a:t> </a:t>
            </a:r>
            <a:r>
              <a:rPr sz="2000" spc="-70" dirty="0">
                <a:latin typeface="Arial"/>
                <a:cs typeface="Arial"/>
              </a:rPr>
              <a:t>objects</a:t>
            </a:r>
            <a:r>
              <a:rPr sz="2000" spc="-110" dirty="0">
                <a:latin typeface="Arial"/>
                <a:cs typeface="Arial"/>
              </a:rPr>
              <a:t> </a:t>
            </a:r>
            <a:r>
              <a:rPr sz="2000" spc="-15" dirty="0">
                <a:latin typeface="Arial"/>
                <a:cs typeface="Arial"/>
              </a:rPr>
              <a:t>or</a:t>
            </a:r>
            <a:r>
              <a:rPr sz="2000" spc="-114" dirty="0">
                <a:latin typeface="Arial"/>
                <a:cs typeface="Arial"/>
              </a:rPr>
              <a:t> </a:t>
            </a:r>
            <a:r>
              <a:rPr sz="2000" spc="-55" dirty="0">
                <a:latin typeface="Arial"/>
                <a:cs typeface="Arial"/>
              </a:rPr>
              <a:t>points,</a:t>
            </a:r>
            <a:r>
              <a:rPr sz="2000" spc="-100" dirty="0">
                <a:latin typeface="Arial"/>
                <a:cs typeface="Arial"/>
              </a:rPr>
              <a:t> </a:t>
            </a:r>
            <a:r>
              <a:rPr sz="2000" spc="-60" dirty="0">
                <a:latin typeface="Arial"/>
                <a:cs typeface="Arial"/>
              </a:rPr>
              <a:t>p</a:t>
            </a:r>
            <a:r>
              <a:rPr sz="2000" spc="-105" dirty="0">
                <a:latin typeface="Arial"/>
                <a:cs typeface="Arial"/>
              </a:rPr>
              <a:t> </a:t>
            </a:r>
            <a:r>
              <a:rPr sz="2000" spc="-95" dirty="0">
                <a:latin typeface="Arial"/>
                <a:cs typeface="Arial"/>
              </a:rPr>
              <a:t>and </a:t>
            </a:r>
            <a:r>
              <a:rPr sz="2000" spc="-5" dirty="0">
                <a:latin typeface="Arial"/>
                <a:cs typeface="Arial"/>
              </a:rPr>
              <a:t>p’</a:t>
            </a:r>
            <a:r>
              <a:rPr sz="2000" spc="-250" dirty="0">
                <a:latin typeface="Arial"/>
                <a:cs typeface="Arial"/>
              </a:rPr>
              <a:t> </a:t>
            </a:r>
            <a:r>
              <a:rPr sz="2000" dirty="0">
                <a:solidFill>
                  <a:srgbClr val="FF0000"/>
                </a:solidFill>
                <a:latin typeface="Carlito"/>
                <a:cs typeface="Carlito"/>
              </a:rPr>
              <a:t>,</a:t>
            </a:r>
            <a:r>
              <a:rPr sz="2000" spc="5" dirty="0">
                <a:solidFill>
                  <a:srgbClr val="FF0000"/>
                </a:solidFill>
                <a:latin typeface="Carlito"/>
                <a:cs typeface="Carlito"/>
              </a:rPr>
              <a:t> </a:t>
            </a:r>
            <a:r>
              <a:rPr sz="2000" spc="-5" dirty="0">
                <a:solidFill>
                  <a:srgbClr val="FF0000"/>
                </a:solidFill>
                <a:latin typeface="Carlito"/>
                <a:cs typeface="Carlito"/>
              </a:rPr>
              <a:t>m</a:t>
            </a:r>
            <a:r>
              <a:rPr sz="1950" spc="-7" baseline="-21367" dirty="0">
                <a:solidFill>
                  <a:srgbClr val="FF0000"/>
                </a:solidFill>
                <a:latin typeface="Carlito"/>
                <a:cs typeface="Carlito"/>
              </a:rPr>
              <a:t>i</a:t>
            </a:r>
            <a:r>
              <a:rPr sz="1950" spc="240" baseline="-21367" dirty="0">
                <a:solidFill>
                  <a:srgbClr val="FF0000"/>
                </a:solidFill>
                <a:latin typeface="Carlito"/>
                <a:cs typeface="Carlito"/>
              </a:rPr>
              <a:t> </a:t>
            </a:r>
            <a:r>
              <a:rPr sz="2000" dirty="0">
                <a:solidFill>
                  <a:srgbClr val="FF0000"/>
                </a:solidFill>
                <a:latin typeface="Carlito"/>
                <a:cs typeface="Carlito"/>
              </a:rPr>
              <a:t>is  the mean </a:t>
            </a:r>
            <a:r>
              <a:rPr sz="2000" spc="-15" dirty="0">
                <a:latin typeface="Carlito"/>
                <a:cs typeface="Carlito"/>
              </a:rPr>
              <a:t>for </a:t>
            </a:r>
            <a:r>
              <a:rPr sz="2000" spc="-30" dirty="0">
                <a:latin typeface="Carlito"/>
                <a:cs typeface="Carlito"/>
              </a:rPr>
              <a:t>cluster, </a:t>
            </a:r>
            <a:r>
              <a:rPr sz="2000" dirty="0">
                <a:latin typeface="Carlito"/>
                <a:cs typeface="Carlito"/>
              </a:rPr>
              <a:t>C</a:t>
            </a:r>
            <a:r>
              <a:rPr sz="1950" baseline="-21367" dirty="0">
                <a:latin typeface="Carlito"/>
                <a:cs typeface="Carlito"/>
              </a:rPr>
              <a:t>i </a:t>
            </a:r>
            <a:r>
              <a:rPr sz="2000" dirty="0">
                <a:latin typeface="Carlito"/>
                <a:cs typeface="Carlito"/>
              </a:rPr>
              <a:t>and </a:t>
            </a:r>
            <a:r>
              <a:rPr sz="2000" spc="5" dirty="0">
                <a:solidFill>
                  <a:srgbClr val="FF0000"/>
                </a:solidFill>
                <a:latin typeface="Carlito"/>
                <a:cs typeface="Carlito"/>
              </a:rPr>
              <a:t>n</a:t>
            </a:r>
            <a:r>
              <a:rPr sz="1950" spc="7" baseline="-21367" dirty="0">
                <a:solidFill>
                  <a:srgbClr val="FF0000"/>
                </a:solidFill>
                <a:latin typeface="Carlito"/>
                <a:cs typeface="Carlito"/>
              </a:rPr>
              <a:t>i </a:t>
            </a:r>
            <a:r>
              <a:rPr sz="2000" dirty="0">
                <a:solidFill>
                  <a:srgbClr val="FF0000"/>
                </a:solidFill>
                <a:latin typeface="Carlito"/>
                <a:cs typeface="Carlito"/>
              </a:rPr>
              <a:t>is the number </a:t>
            </a:r>
            <a:r>
              <a:rPr sz="2000" dirty="0">
                <a:latin typeface="Carlito"/>
                <a:cs typeface="Carlito"/>
              </a:rPr>
              <a:t>of </a:t>
            </a:r>
            <a:r>
              <a:rPr sz="2000" spc="-5" dirty="0">
                <a:latin typeface="Carlito"/>
                <a:cs typeface="Carlito"/>
              </a:rPr>
              <a:t>objects </a:t>
            </a:r>
            <a:r>
              <a:rPr sz="2000" dirty="0">
                <a:latin typeface="Carlito"/>
                <a:cs typeface="Carlito"/>
              </a:rPr>
              <a:t>in</a:t>
            </a:r>
            <a:r>
              <a:rPr sz="2000" spc="260" dirty="0">
                <a:latin typeface="Carlito"/>
                <a:cs typeface="Carlito"/>
              </a:rPr>
              <a:t> </a:t>
            </a:r>
            <a:r>
              <a:rPr sz="2000" dirty="0">
                <a:latin typeface="Carlito"/>
                <a:cs typeface="Carlito"/>
              </a:rPr>
              <a:t>C</a:t>
            </a:r>
            <a:r>
              <a:rPr sz="1950" baseline="-21367" dirty="0">
                <a:latin typeface="Carlito"/>
                <a:cs typeface="Carlito"/>
              </a:rPr>
              <a:t>i</a:t>
            </a:r>
          </a:p>
          <a:p>
            <a:pPr marL="393700" indent="-342900">
              <a:lnSpc>
                <a:spcPct val="100000"/>
              </a:lnSpc>
              <a:spcBef>
                <a:spcPts val="480"/>
              </a:spcBef>
              <a:buFont typeface="Arial"/>
              <a:buChar char="•"/>
              <a:tabLst>
                <a:tab pos="393065" algn="l"/>
                <a:tab pos="393700" algn="l"/>
              </a:tabLst>
            </a:pPr>
            <a:r>
              <a:rPr sz="2000" dirty="0">
                <a:latin typeface="Carlito"/>
                <a:cs typeface="Carlito"/>
              </a:rPr>
              <a:t>Minimum </a:t>
            </a:r>
            <a:r>
              <a:rPr sz="2000" spc="-5" dirty="0">
                <a:latin typeface="Carlito"/>
                <a:cs typeface="Carlito"/>
              </a:rPr>
              <a:t>distance: </a:t>
            </a:r>
            <a:r>
              <a:rPr sz="2000" dirty="0">
                <a:latin typeface="Carlito"/>
                <a:cs typeface="Carlito"/>
              </a:rPr>
              <a:t>d</a:t>
            </a:r>
            <a:r>
              <a:rPr sz="1950" baseline="-21367" dirty="0">
                <a:latin typeface="Carlito"/>
                <a:cs typeface="Carlito"/>
              </a:rPr>
              <a:t>min</a:t>
            </a:r>
            <a:r>
              <a:rPr sz="2000" dirty="0">
                <a:latin typeface="Carlito"/>
                <a:cs typeface="Carlito"/>
              </a:rPr>
              <a:t>(C</a:t>
            </a:r>
            <a:r>
              <a:rPr sz="1950" baseline="-21367" dirty="0">
                <a:latin typeface="Carlito"/>
                <a:cs typeface="Carlito"/>
              </a:rPr>
              <a:t>i</a:t>
            </a:r>
            <a:r>
              <a:rPr sz="2000" dirty="0">
                <a:latin typeface="Carlito"/>
                <a:cs typeface="Carlito"/>
              </a:rPr>
              <a:t>,C</a:t>
            </a:r>
            <a:r>
              <a:rPr sz="1950" baseline="-21367" dirty="0">
                <a:latin typeface="Carlito"/>
                <a:cs typeface="Carlito"/>
              </a:rPr>
              <a:t>j</a:t>
            </a:r>
            <a:r>
              <a:rPr sz="2000" dirty="0">
                <a:latin typeface="Carlito"/>
                <a:cs typeface="Carlito"/>
              </a:rPr>
              <a:t>)= </a:t>
            </a:r>
            <a:r>
              <a:rPr sz="2000" spc="-40" dirty="0">
                <a:latin typeface="Carlito"/>
                <a:cs typeface="Carlito"/>
              </a:rPr>
              <a:t>min</a:t>
            </a:r>
            <a:r>
              <a:rPr sz="1950" spc="-60" baseline="-21367" dirty="0">
                <a:latin typeface="Carlito"/>
                <a:cs typeface="Carlito"/>
              </a:rPr>
              <a:t>p</a:t>
            </a:r>
            <a:r>
              <a:rPr sz="1950" spc="-60" baseline="-21367" dirty="0">
                <a:latin typeface="DejaVu Sans"/>
                <a:cs typeface="DejaVu Sans"/>
              </a:rPr>
              <a:t>∈</a:t>
            </a:r>
            <a:r>
              <a:rPr sz="1950" spc="-60" baseline="-21367" dirty="0">
                <a:latin typeface="Carlito"/>
                <a:cs typeface="Carlito"/>
              </a:rPr>
              <a:t>Ci</a:t>
            </a:r>
            <a:r>
              <a:rPr sz="1950" spc="-60" baseline="-21367" dirty="0">
                <a:latin typeface="Arial"/>
                <a:cs typeface="Arial"/>
              </a:rPr>
              <a:t>, </a:t>
            </a:r>
            <a:r>
              <a:rPr sz="1950" spc="-82" baseline="-21367" dirty="0">
                <a:latin typeface="Arial"/>
                <a:cs typeface="Arial"/>
              </a:rPr>
              <a:t>p’</a:t>
            </a:r>
            <a:r>
              <a:rPr sz="1950" spc="-82" baseline="-21367" dirty="0">
                <a:latin typeface="DejaVu Sans"/>
                <a:cs typeface="DejaVu Sans"/>
              </a:rPr>
              <a:t>∈</a:t>
            </a:r>
            <a:r>
              <a:rPr sz="1950" spc="-82" baseline="-21367" dirty="0">
                <a:latin typeface="Carlito"/>
                <a:cs typeface="Carlito"/>
              </a:rPr>
              <a:t>Cj</a:t>
            </a:r>
            <a:r>
              <a:rPr sz="1950" spc="-15" baseline="-21367" dirty="0">
                <a:latin typeface="Carlito"/>
                <a:cs typeface="Carlito"/>
              </a:rPr>
              <a:t> </a:t>
            </a:r>
            <a:r>
              <a:rPr sz="2000" spc="90" dirty="0">
                <a:latin typeface="Arial"/>
                <a:cs typeface="Arial"/>
              </a:rPr>
              <a:t>|p−p’|</a:t>
            </a:r>
            <a:endParaRPr sz="2000" dirty="0">
              <a:latin typeface="Arial"/>
              <a:cs typeface="Arial"/>
            </a:endParaRPr>
          </a:p>
          <a:p>
            <a:pPr marL="393700" indent="-342900">
              <a:lnSpc>
                <a:spcPct val="100000"/>
              </a:lnSpc>
              <a:spcBef>
                <a:spcPts val="480"/>
              </a:spcBef>
              <a:buFont typeface="Arial"/>
              <a:buChar char="•"/>
              <a:tabLst>
                <a:tab pos="393065" algn="l"/>
                <a:tab pos="393700" algn="l"/>
              </a:tabLst>
            </a:pPr>
            <a:r>
              <a:rPr sz="2000" spc="-5" dirty="0">
                <a:latin typeface="Carlito"/>
                <a:cs typeface="Carlito"/>
              </a:rPr>
              <a:t>Maximum distance: </a:t>
            </a:r>
            <a:r>
              <a:rPr sz="2000" dirty="0">
                <a:latin typeface="Carlito"/>
                <a:cs typeface="Carlito"/>
              </a:rPr>
              <a:t>d</a:t>
            </a:r>
            <a:r>
              <a:rPr sz="1950" baseline="-21367" dirty="0">
                <a:latin typeface="Carlito"/>
                <a:cs typeface="Carlito"/>
              </a:rPr>
              <a:t>max</a:t>
            </a:r>
            <a:r>
              <a:rPr sz="2000" dirty="0">
                <a:latin typeface="Carlito"/>
                <a:cs typeface="Carlito"/>
              </a:rPr>
              <a:t>(C</a:t>
            </a:r>
            <a:r>
              <a:rPr sz="1950" baseline="-21367" dirty="0">
                <a:latin typeface="Carlito"/>
                <a:cs typeface="Carlito"/>
              </a:rPr>
              <a:t>i</a:t>
            </a:r>
            <a:r>
              <a:rPr sz="2000" dirty="0">
                <a:latin typeface="Carlito"/>
                <a:cs typeface="Carlito"/>
              </a:rPr>
              <a:t>,C</a:t>
            </a:r>
            <a:r>
              <a:rPr sz="1950" baseline="-21367" dirty="0">
                <a:latin typeface="Carlito"/>
                <a:cs typeface="Carlito"/>
              </a:rPr>
              <a:t>j</a:t>
            </a:r>
            <a:r>
              <a:rPr sz="2000" dirty="0">
                <a:latin typeface="Carlito"/>
                <a:cs typeface="Carlito"/>
              </a:rPr>
              <a:t>)= </a:t>
            </a:r>
            <a:r>
              <a:rPr sz="2000" spc="-45" dirty="0">
                <a:latin typeface="Carlito"/>
                <a:cs typeface="Carlito"/>
              </a:rPr>
              <a:t>max</a:t>
            </a:r>
            <a:r>
              <a:rPr sz="1950" spc="-67" baseline="-21367" dirty="0">
                <a:latin typeface="Carlito"/>
                <a:cs typeface="Carlito"/>
              </a:rPr>
              <a:t>p</a:t>
            </a:r>
            <a:r>
              <a:rPr sz="1950" spc="-67" baseline="-21367" dirty="0">
                <a:latin typeface="DejaVu Sans"/>
                <a:cs typeface="DejaVu Sans"/>
              </a:rPr>
              <a:t>∈</a:t>
            </a:r>
            <a:r>
              <a:rPr sz="1950" spc="-67" baseline="-21367" dirty="0">
                <a:latin typeface="Carlito"/>
                <a:cs typeface="Carlito"/>
              </a:rPr>
              <a:t>Ci</a:t>
            </a:r>
            <a:r>
              <a:rPr sz="1950" spc="-67" baseline="-21367" dirty="0">
                <a:latin typeface="Arial"/>
                <a:cs typeface="Arial"/>
              </a:rPr>
              <a:t>, </a:t>
            </a:r>
            <a:r>
              <a:rPr sz="1950" spc="-82" baseline="-21367" dirty="0">
                <a:latin typeface="Arial"/>
                <a:cs typeface="Arial"/>
              </a:rPr>
              <a:t>p’</a:t>
            </a:r>
            <a:r>
              <a:rPr sz="1950" spc="-82" baseline="-21367" dirty="0">
                <a:latin typeface="DejaVu Sans"/>
                <a:cs typeface="DejaVu Sans"/>
              </a:rPr>
              <a:t>∈</a:t>
            </a:r>
            <a:r>
              <a:rPr sz="1950" spc="-82" baseline="-21367" dirty="0">
                <a:latin typeface="Carlito"/>
                <a:cs typeface="Carlito"/>
              </a:rPr>
              <a:t>Cj</a:t>
            </a:r>
            <a:r>
              <a:rPr sz="1950" spc="22" baseline="-21367" dirty="0">
                <a:latin typeface="Carlito"/>
                <a:cs typeface="Carlito"/>
              </a:rPr>
              <a:t> </a:t>
            </a:r>
            <a:r>
              <a:rPr sz="2000" spc="90" dirty="0">
                <a:latin typeface="Arial"/>
                <a:cs typeface="Arial"/>
              </a:rPr>
              <a:t>|p−p’|</a:t>
            </a:r>
            <a:endParaRPr sz="2000" dirty="0">
              <a:latin typeface="Arial"/>
              <a:cs typeface="Arial"/>
            </a:endParaRPr>
          </a:p>
          <a:p>
            <a:pPr marL="393700" indent="-342900">
              <a:lnSpc>
                <a:spcPct val="100000"/>
              </a:lnSpc>
              <a:spcBef>
                <a:spcPts val="480"/>
              </a:spcBef>
              <a:buFont typeface="Arial"/>
              <a:buChar char="•"/>
              <a:tabLst>
                <a:tab pos="393065" algn="l"/>
                <a:tab pos="393700" algn="l"/>
                <a:tab pos="2152015" algn="l"/>
              </a:tabLst>
            </a:pPr>
            <a:r>
              <a:rPr sz="2000" dirty="0">
                <a:latin typeface="Carlito"/>
                <a:cs typeface="Carlito"/>
              </a:rPr>
              <a:t>Mean </a:t>
            </a:r>
            <a:r>
              <a:rPr sz="2000" spc="-5" dirty="0">
                <a:latin typeface="Carlito"/>
                <a:cs typeface="Carlito"/>
              </a:rPr>
              <a:t>distance:	</a:t>
            </a:r>
            <a:r>
              <a:rPr sz="2000" spc="5" dirty="0">
                <a:latin typeface="Carlito"/>
                <a:cs typeface="Carlito"/>
              </a:rPr>
              <a:t>d</a:t>
            </a:r>
            <a:r>
              <a:rPr sz="1950" spc="7" baseline="-21367" dirty="0">
                <a:latin typeface="Carlito"/>
                <a:cs typeface="Carlito"/>
              </a:rPr>
              <a:t>mean</a:t>
            </a:r>
            <a:r>
              <a:rPr sz="2000" spc="5" dirty="0">
                <a:latin typeface="Carlito"/>
                <a:cs typeface="Carlito"/>
              </a:rPr>
              <a:t>(C</a:t>
            </a:r>
            <a:r>
              <a:rPr sz="1950" spc="7" baseline="-21367" dirty="0">
                <a:latin typeface="Carlito"/>
                <a:cs typeface="Carlito"/>
              </a:rPr>
              <a:t>i</a:t>
            </a:r>
            <a:r>
              <a:rPr sz="2000" spc="5" dirty="0">
                <a:latin typeface="Carlito"/>
                <a:cs typeface="Carlito"/>
              </a:rPr>
              <a:t>,C</a:t>
            </a:r>
            <a:r>
              <a:rPr sz="1950" spc="7" baseline="-21367" dirty="0">
                <a:latin typeface="Carlito"/>
                <a:cs typeface="Carlito"/>
              </a:rPr>
              <a:t>j</a:t>
            </a:r>
            <a:r>
              <a:rPr sz="2000" spc="5" dirty="0">
                <a:latin typeface="Carlito"/>
                <a:cs typeface="Carlito"/>
              </a:rPr>
              <a:t>)=</a:t>
            </a:r>
            <a:r>
              <a:rPr sz="2000" spc="-15" dirty="0">
                <a:latin typeface="Carlito"/>
                <a:cs typeface="Carlito"/>
              </a:rPr>
              <a:t> </a:t>
            </a:r>
            <a:r>
              <a:rPr sz="2000" spc="-25" dirty="0">
                <a:latin typeface="Carlito"/>
                <a:cs typeface="Carlito"/>
              </a:rPr>
              <a:t>|m</a:t>
            </a:r>
            <a:r>
              <a:rPr sz="1950" spc="-37" baseline="-21367" dirty="0">
                <a:latin typeface="Carlito"/>
                <a:cs typeface="Carlito"/>
              </a:rPr>
              <a:t>i</a:t>
            </a:r>
            <a:r>
              <a:rPr sz="2000" spc="-25" dirty="0">
                <a:latin typeface="Arial"/>
                <a:cs typeface="Arial"/>
              </a:rPr>
              <a:t>−</a:t>
            </a:r>
            <a:r>
              <a:rPr sz="2000" spc="-25" dirty="0">
                <a:latin typeface="Carlito"/>
                <a:cs typeface="Carlito"/>
              </a:rPr>
              <a:t>m</a:t>
            </a:r>
            <a:r>
              <a:rPr sz="1950" spc="-37" baseline="-21367" dirty="0">
                <a:latin typeface="Carlito"/>
                <a:cs typeface="Carlito"/>
              </a:rPr>
              <a:t>j</a:t>
            </a:r>
            <a:r>
              <a:rPr sz="2000" spc="-25" dirty="0">
                <a:latin typeface="Carlito"/>
                <a:cs typeface="Carlito"/>
              </a:rPr>
              <a:t>|</a:t>
            </a:r>
            <a:endParaRPr sz="2000" dirty="0">
              <a:latin typeface="Carlito"/>
              <a:cs typeface="Carlito"/>
            </a:endParaRPr>
          </a:p>
          <a:p>
            <a:pPr marL="393700" indent="-342900">
              <a:lnSpc>
                <a:spcPct val="100000"/>
              </a:lnSpc>
              <a:spcBef>
                <a:spcPts val="480"/>
              </a:spcBef>
              <a:buFont typeface="Arial"/>
              <a:buChar char="•"/>
              <a:tabLst>
                <a:tab pos="393065" algn="l"/>
                <a:tab pos="393700" algn="l"/>
              </a:tabLst>
            </a:pPr>
            <a:r>
              <a:rPr sz="2000" spc="-15" dirty="0">
                <a:latin typeface="Carlito"/>
                <a:cs typeface="Carlito"/>
              </a:rPr>
              <a:t>Average </a:t>
            </a:r>
            <a:r>
              <a:rPr sz="2000" spc="-5" dirty="0">
                <a:latin typeface="Carlito"/>
                <a:cs typeface="Carlito"/>
              </a:rPr>
              <a:t>distance: </a:t>
            </a:r>
            <a:r>
              <a:rPr sz="2000" dirty="0">
                <a:latin typeface="Carlito"/>
                <a:cs typeface="Carlito"/>
              </a:rPr>
              <a:t>d</a:t>
            </a:r>
            <a:r>
              <a:rPr sz="1950" baseline="-21367" dirty="0">
                <a:latin typeface="Carlito"/>
                <a:cs typeface="Carlito"/>
              </a:rPr>
              <a:t>avg</a:t>
            </a:r>
            <a:r>
              <a:rPr sz="2000" dirty="0">
                <a:latin typeface="Carlito"/>
                <a:cs typeface="Carlito"/>
              </a:rPr>
              <a:t>(C</a:t>
            </a:r>
            <a:r>
              <a:rPr sz="1950" baseline="-21367" dirty="0">
                <a:latin typeface="Carlito"/>
                <a:cs typeface="Carlito"/>
              </a:rPr>
              <a:t>i</a:t>
            </a:r>
            <a:r>
              <a:rPr sz="2000" dirty="0">
                <a:latin typeface="Carlito"/>
                <a:cs typeface="Carlito"/>
              </a:rPr>
              <a:t>,C</a:t>
            </a:r>
            <a:r>
              <a:rPr sz="1950" baseline="-21367" dirty="0">
                <a:latin typeface="Carlito"/>
                <a:cs typeface="Carlito"/>
              </a:rPr>
              <a:t>j</a:t>
            </a:r>
            <a:r>
              <a:rPr sz="2000" dirty="0">
                <a:latin typeface="Carlito"/>
                <a:cs typeface="Carlito"/>
              </a:rPr>
              <a:t>)</a:t>
            </a:r>
            <a:r>
              <a:rPr sz="2000" spc="-5" dirty="0">
                <a:latin typeface="Carlito"/>
                <a:cs typeface="Carlito"/>
              </a:rPr>
              <a:t> </a:t>
            </a:r>
            <a:r>
              <a:rPr sz="2000" dirty="0">
                <a:latin typeface="Carlito"/>
                <a:cs typeface="Carlito"/>
              </a:rPr>
              <a:t>=</a:t>
            </a:r>
          </a:p>
        </p:txBody>
      </p:sp>
      <p:sp>
        <p:nvSpPr>
          <p:cNvPr id="4" name="object 4"/>
          <p:cNvSpPr/>
          <p:nvPr/>
        </p:nvSpPr>
        <p:spPr>
          <a:xfrm>
            <a:off x="4021835" y="3166872"/>
            <a:ext cx="1787652" cy="733043"/>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13</a:t>
            </a:fld>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34108" y="385953"/>
            <a:ext cx="5873115" cy="452120"/>
          </a:xfrm>
          <a:prstGeom prst="rect">
            <a:avLst/>
          </a:prstGeom>
        </p:spPr>
        <p:txBody>
          <a:bodyPr vert="horz" wrap="square" lIns="0" tIns="12065" rIns="0" bIns="0" rtlCol="0">
            <a:spAutoFit/>
          </a:bodyPr>
          <a:lstStyle/>
          <a:p>
            <a:pPr marL="12700">
              <a:lnSpc>
                <a:spcPct val="100000"/>
              </a:lnSpc>
              <a:spcBef>
                <a:spcPts val="95"/>
              </a:spcBef>
            </a:pPr>
            <a:r>
              <a:rPr sz="2800" b="1" spc="-15" dirty="0">
                <a:solidFill>
                  <a:srgbClr val="0000FF"/>
                </a:solidFill>
                <a:latin typeface="Carlito"/>
                <a:cs typeface="Carlito"/>
              </a:rPr>
              <a:t>Measures </a:t>
            </a:r>
            <a:r>
              <a:rPr sz="2800" b="1" spc="-20" dirty="0">
                <a:solidFill>
                  <a:srgbClr val="0000FF"/>
                </a:solidFill>
                <a:latin typeface="Carlito"/>
                <a:cs typeface="Carlito"/>
              </a:rPr>
              <a:t>for </a:t>
            </a:r>
            <a:r>
              <a:rPr sz="2800" b="1" spc="-15" dirty="0">
                <a:solidFill>
                  <a:srgbClr val="0000FF"/>
                </a:solidFill>
                <a:latin typeface="Carlito"/>
                <a:cs typeface="Carlito"/>
              </a:rPr>
              <a:t>distance between</a:t>
            </a:r>
            <a:r>
              <a:rPr sz="2800" b="1" spc="150" dirty="0">
                <a:solidFill>
                  <a:srgbClr val="0000FF"/>
                </a:solidFill>
                <a:latin typeface="Carlito"/>
                <a:cs typeface="Carlito"/>
              </a:rPr>
              <a:t> </a:t>
            </a:r>
            <a:r>
              <a:rPr sz="2800" b="1" spc="-20" dirty="0">
                <a:solidFill>
                  <a:srgbClr val="0000FF"/>
                </a:solidFill>
                <a:latin typeface="Carlito"/>
                <a:cs typeface="Carlito"/>
              </a:rPr>
              <a:t>clusters</a:t>
            </a:r>
            <a:endParaRPr sz="2800">
              <a:latin typeface="Carlito"/>
              <a:cs typeface="Carlito"/>
            </a:endParaRPr>
          </a:p>
        </p:txBody>
      </p:sp>
      <p:sp>
        <p:nvSpPr>
          <p:cNvPr id="3" name="object 3"/>
          <p:cNvSpPr txBox="1"/>
          <p:nvPr/>
        </p:nvSpPr>
        <p:spPr>
          <a:xfrm>
            <a:off x="485140" y="1216913"/>
            <a:ext cx="8147684" cy="3197225"/>
          </a:xfrm>
          <a:prstGeom prst="rect">
            <a:avLst/>
          </a:prstGeom>
        </p:spPr>
        <p:txBody>
          <a:bodyPr vert="horz" wrap="square" lIns="0" tIns="13335" rIns="0" bIns="0" rtlCol="0">
            <a:spAutoFit/>
          </a:bodyPr>
          <a:lstStyle/>
          <a:p>
            <a:pPr marL="406400" marR="68580" indent="-342900">
              <a:lnSpc>
                <a:spcPct val="100000"/>
              </a:lnSpc>
              <a:spcBef>
                <a:spcPts val="105"/>
              </a:spcBef>
              <a:buFont typeface="Arial"/>
              <a:buChar char="•"/>
              <a:tabLst>
                <a:tab pos="405765" algn="l"/>
                <a:tab pos="406400" algn="l"/>
              </a:tabLst>
            </a:pPr>
            <a:r>
              <a:rPr sz="2000" dirty="0">
                <a:latin typeface="Carlito"/>
                <a:cs typeface="Carlito"/>
              </a:rPr>
              <a:t>When an </a:t>
            </a:r>
            <a:r>
              <a:rPr sz="2000" spc="-5" dirty="0">
                <a:latin typeface="Carlito"/>
                <a:cs typeface="Carlito"/>
              </a:rPr>
              <a:t>algorithm uses </a:t>
            </a:r>
            <a:r>
              <a:rPr sz="2000" dirty="0">
                <a:latin typeface="Carlito"/>
                <a:cs typeface="Carlito"/>
              </a:rPr>
              <a:t>the minimum </a:t>
            </a:r>
            <a:r>
              <a:rPr sz="2000" spc="-5" dirty="0">
                <a:latin typeface="Carlito"/>
                <a:cs typeface="Carlito"/>
              </a:rPr>
              <a:t>distance, </a:t>
            </a:r>
            <a:r>
              <a:rPr sz="2000" dirty="0">
                <a:latin typeface="Carlito"/>
                <a:cs typeface="Carlito"/>
              </a:rPr>
              <a:t>d</a:t>
            </a:r>
            <a:r>
              <a:rPr sz="1950" baseline="-21367" dirty="0">
                <a:latin typeface="Carlito"/>
                <a:cs typeface="Carlito"/>
              </a:rPr>
              <a:t>min</a:t>
            </a:r>
            <a:r>
              <a:rPr sz="2000" dirty="0">
                <a:latin typeface="Carlito"/>
                <a:cs typeface="Carlito"/>
              </a:rPr>
              <a:t>(C</a:t>
            </a:r>
            <a:r>
              <a:rPr sz="1950" baseline="-21367" dirty="0">
                <a:latin typeface="Carlito"/>
                <a:cs typeface="Carlito"/>
              </a:rPr>
              <a:t>i</a:t>
            </a:r>
            <a:r>
              <a:rPr sz="2000" dirty="0">
                <a:latin typeface="Carlito"/>
                <a:cs typeface="Carlito"/>
              </a:rPr>
              <a:t>,C</a:t>
            </a:r>
            <a:r>
              <a:rPr sz="1950" baseline="-21367" dirty="0">
                <a:latin typeface="Carlito"/>
                <a:cs typeface="Carlito"/>
              </a:rPr>
              <a:t>j</a:t>
            </a:r>
            <a:r>
              <a:rPr sz="2000" dirty="0">
                <a:latin typeface="Carlito"/>
                <a:cs typeface="Carlito"/>
              </a:rPr>
              <a:t>), </a:t>
            </a:r>
            <a:r>
              <a:rPr sz="2000" spc="-15" dirty="0">
                <a:latin typeface="Carlito"/>
                <a:cs typeface="Carlito"/>
              </a:rPr>
              <a:t>to </a:t>
            </a:r>
            <a:r>
              <a:rPr sz="2000" spc="-5" dirty="0">
                <a:latin typeface="Carlito"/>
                <a:cs typeface="Carlito"/>
              </a:rPr>
              <a:t>measure </a:t>
            </a:r>
            <a:r>
              <a:rPr sz="2000" dirty="0">
                <a:latin typeface="Carlito"/>
                <a:cs typeface="Carlito"/>
              </a:rPr>
              <a:t>the  </a:t>
            </a:r>
            <a:r>
              <a:rPr sz="2000" spc="-10" dirty="0">
                <a:latin typeface="Carlito"/>
                <a:cs typeface="Carlito"/>
              </a:rPr>
              <a:t>distance </a:t>
            </a:r>
            <a:r>
              <a:rPr sz="2000" spc="-5" dirty="0">
                <a:latin typeface="Carlito"/>
                <a:cs typeface="Carlito"/>
              </a:rPr>
              <a:t>between </a:t>
            </a:r>
            <a:r>
              <a:rPr sz="2000" spc="-10" dirty="0">
                <a:latin typeface="Carlito"/>
                <a:cs typeface="Carlito"/>
              </a:rPr>
              <a:t>clusters, </a:t>
            </a:r>
            <a:r>
              <a:rPr sz="2000" dirty="0">
                <a:latin typeface="Carlito"/>
                <a:cs typeface="Carlito"/>
              </a:rPr>
              <a:t>it is </a:t>
            </a:r>
            <a:r>
              <a:rPr sz="2000" spc="-5" dirty="0">
                <a:latin typeface="Carlito"/>
                <a:cs typeface="Carlito"/>
              </a:rPr>
              <a:t>sometimes called </a:t>
            </a:r>
            <a:r>
              <a:rPr sz="2000" dirty="0">
                <a:latin typeface="Carlito"/>
                <a:cs typeface="Carlito"/>
              </a:rPr>
              <a:t>a </a:t>
            </a:r>
            <a:r>
              <a:rPr sz="2000" spc="-10" dirty="0">
                <a:latin typeface="Carlito"/>
                <a:cs typeface="Carlito"/>
              </a:rPr>
              <a:t>nearest-neighbor  </a:t>
            </a:r>
            <a:r>
              <a:rPr sz="2000" spc="-5" dirty="0">
                <a:latin typeface="Carlito"/>
                <a:cs typeface="Carlito"/>
              </a:rPr>
              <a:t>clustering</a:t>
            </a:r>
            <a:r>
              <a:rPr sz="2000" dirty="0">
                <a:latin typeface="Carlito"/>
                <a:cs typeface="Carlito"/>
              </a:rPr>
              <a:t> </a:t>
            </a:r>
            <a:r>
              <a:rPr sz="2000" spc="-5" dirty="0">
                <a:latin typeface="Carlito"/>
                <a:cs typeface="Carlito"/>
              </a:rPr>
              <a:t>algorithm</a:t>
            </a:r>
            <a:endParaRPr sz="2000" dirty="0">
              <a:latin typeface="Carlito"/>
              <a:cs typeface="Carlito"/>
            </a:endParaRPr>
          </a:p>
          <a:p>
            <a:pPr marL="406400" marR="614045" indent="-342900">
              <a:lnSpc>
                <a:spcPct val="100000"/>
              </a:lnSpc>
              <a:spcBef>
                <a:spcPts val="480"/>
              </a:spcBef>
              <a:buFont typeface="Arial"/>
              <a:buChar char="•"/>
              <a:tabLst>
                <a:tab pos="405765" algn="l"/>
                <a:tab pos="406400" algn="l"/>
              </a:tabLst>
            </a:pPr>
            <a:r>
              <a:rPr sz="2000" spc="-25" dirty="0">
                <a:latin typeface="Carlito"/>
                <a:cs typeface="Carlito"/>
              </a:rPr>
              <a:t>Moreover, </a:t>
            </a:r>
            <a:r>
              <a:rPr sz="2000" spc="-5" dirty="0">
                <a:latin typeface="Carlito"/>
                <a:cs typeface="Carlito"/>
              </a:rPr>
              <a:t>if </a:t>
            </a:r>
            <a:r>
              <a:rPr sz="2000" dirty="0">
                <a:latin typeface="Carlito"/>
                <a:cs typeface="Carlito"/>
              </a:rPr>
              <a:t>the </a:t>
            </a:r>
            <a:r>
              <a:rPr sz="2000" spc="-5" dirty="0">
                <a:latin typeface="Carlito"/>
                <a:cs typeface="Carlito"/>
              </a:rPr>
              <a:t>clustering process </a:t>
            </a:r>
            <a:r>
              <a:rPr sz="2000" dirty="0">
                <a:latin typeface="Carlito"/>
                <a:cs typeface="Carlito"/>
              </a:rPr>
              <a:t>is </a:t>
            </a:r>
            <a:r>
              <a:rPr sz="2000" spc="-10" dirty="0">
                <a:latin typeface="Carlito"/>
                <a:cs typeface="Carlito"/>
              </a:rPr>
              <a:t>terminated </a:t>
            </a:r>
            <a:r>
              <a:rPr sz="2000" dirty="0">
                <a:latin typeface="Carlito"/>
                <a:cs typeface="Carlito"/>
              </a:rPr>
              <a:t>when the </a:t>
            </a:r>
            <a:r>
              <a:rPr sz="2000" spc="-10" dirty="0">
                <a:latin typeface="Carlito"/>
                <a:cs typeface="Carlito"/>
              </a:rPr>
              <a:t>distance  </a:t>
            </a:r>
            <a:r>
              <a:rPr sz="2000" spc="-5" dirty="0">
                <a:latin typeface="Carlito"/>
                <a:cs typeface="Carlito"/>
              </a:rPr>
              <a:t>between </a:t>
            </a:r>
            <a:r>
              <a:rPr sz="2000" spc="-10" dirty="0">
                <a:latin typeface="Carlito"/>
                <a:cs typeface="Carlito"/>
              </a:rPr>
              <a:t>nearest clusters </a:t>
            </a:r>
            <a:r>
              <a:rPr sz="2000" spc="-15" dirty="0">
                <a:latin typeface="Carlito"/>
                <a:cs typeface="Carlito"/>
              </a:rPr>
              <a:t>exceeds </a:t>
            </a:r>
            <a:r>
              <a:rPr sz="2000" dirty="0">
                <a:latin typeface="Carlito"/>
                <a:cs typeface="Carlito"/>
              </a:rPr>
              <a:t>an </a:t>
            </a:r>
            <a:r>
              <a:rPr sz="2000" spc="-5" dirty="0">
                <a:latin typeface="Carlito"/>
                <a:cs typeface="Carlito"/>
              </a:rPr>
              <a:t>arbitrary threshold, it </a:t>
            </a:r>
            <a:r>
              <a:rPr sz="2000" dirty="0">
                <a:latin typeface="Carlito"/>
                <a:cs typeface="Carlito"/>
              </a:rPr>
              <a:t>is </a:t>
            </a:r>
            <a:r>
              <a:rPr sz="2000" spc="-5" dirty="0">
                <a:latin typeface="Carlito"/>
                <a:cs typeface="Carlito"/>
              </a:rPr>
              <a:t>called </a:t>
            </a:r>
            <a:r>
              <a:rPr sz="2000" dirty="0">
                <a:latin typeface="Carlito"/>
                <a:cs typeface="Carlito"/>
              </a:rPr>
              <a:t>a  </a:t>
            </a:r>
            <a:r>
              <a:rPr lang="en-IN" sz="2000" spc="-5" dirty="0">
                <a:latin typeface="Carlito"/>
                <a:cs typeface="Carlito"/>
              </a:rPr>
              <a:t>single</a:t>
            </a:r>
            <a:r>
              <a:rPr sz="2000" spc="-5" dirty="0">
                <a:latin typeface="Carlito"/>
                <a:cs typeface="Carlito"/>
              </a:rPr>
              <a:t>-linkage algorithm</a:t>
            </a:r>
            <a:endParaRPr sz="2000" dirty="0">
              <a:latin typeface="Carlito"/>
              <a:cs typeface="Carlito"/>
            </a:endParaRPr>
          </a:p>
          <a:p>
            <a:pPr marL="406400" marR="77470" indent="-342900">
              <a:lnSpc>
                <a:spcPct val="100000"/>
              </a:lnSpc>
              <a:spcBef>
                <a:spcPts val="480"/>
              </a:spcBef>
              <a:buFont typeface="Arial"/>
              <a:buChar char="•"/>
              <a:tabLst>
                <a:tab pos="405765" algn="l"/>
                <a:tab pos="406400" algn="l"/>
              </a:tabLst>
            </a:pPr>
            <a:r>
              <a:rPr sz="2000" dirty="0">
                <a:latin typeface="Carlito"/>
                <a:cs typeface="Carlito"/>
              </a:rPr>
              <a:t>If </a:t>
            </a:r>
            <a:r>
              <a:rPr sz="2000" spc="-10" dirty="0">
                <a:latin typeface="Carlito"/>
                <a:cs typeface="Carlito"/>
              </a:rPr>
              <a:t>we </a:t>
            </a:r>
            <a:r>
              <a:rPr sz="2000" spc="-5" dirty="0">
                <a:latin typeface="Carlito"/>
                <a:cs typeface="Carlito"/>
              </a:rPr>
              <a:t>view </a:t>
            </a:r>
            <a:r>
              <a:rPr sz="2000" dirty="0">
                <a:latin typeface="Carlito"/>
                <a:cs typeface="Carlito"/>
              </a:rPr>
              <a:t>the </a:t>
            </a:r>
            <a:r>
              <a:rPr sz="2000" spc="-15" dirty="0">
                <a:latin typeface="Carlito"/>
                <a:cs typeface="Carlito"/>
              </a:rPr>
              <a:t>data </a:t>
            </a:r>
            <a:r>
              <a:rPr sz="2000" spc="-5" dirty="0">
                <a:latin typeface="Carlito"/>
                <a:cs typeface="Carlito"/>
              </a:rPr>
              <a:t>points </a:t>
            </a:r>
            <a:r>
              <a:rPr sz="2000" dirty="0">
                <a:latin typeface="Carlito"/>
                <a:cs typeface="Carlito"/>
              </a:rPr>
              <a:t>as nodes </a:t>
            </a:r>
            <a:r>
              <a:rPr sz="2000" spc="-5" dirty="0">
                <a:latin typeface="Carlito"/>
                <a:cs typeface="Carlito"/>
              </a:rPr>
              <a:t>of </a:t>
            </a:r>
            <a:r>
              <a:rPr sz="2000" dirty="0">
                <a:latin typeface="Carlito"/>
                <a:cs typeface="Carlito"/>
              </a:rPr>
              <a:t>a </a:t>
            </a:r>
            <a:r>
              <a:rPr sz="2000" spc="-5" dirty="0">
                <a:latin typeface="Carlito"/>
                <a:cs typeface="Carlito"/>
              </a:rPr>
              <a:t>graph, with edges </a:t>
            </a:r>
            <a:r>
              <a:rPr sz="2000" spc="-10" dirty="0">
                <a:latin typeface="Carlito"/>
                <a:cs typeface="Carlito"/>
              </a:rPr>
              <a:t>forming </a:t>
            </a:r>
            <a:r>
              <a:rPr sz="2000" dirty="0">
                <a:latin typeface="Carlito"/>
                <a:cs typeface="Carlito"/>
              </a:rPr>
              <a:t>a </a:t>
            </a:r>
            <a:r>
              <a:rPr sz="2000" spc="-5" dirty="0">
                <a:latin typeface="Carlito"/>
                <a:cs typeface="Carlito"/>
              </a:rPr>
              <a:t>path  between </a:t>
            </a:r>
            <a:r>
              <a:rPr sz="2000" dirty="0">
                <a:latin typeface="Carlito"/>
                <a:cs typeface="Carlito"/>
              </a:rPr>
              <a:t>the nodes in a </a:t>
            </a:r>
            <a:r>
              <a:rPr sz="2000" spc="-30" dirty="0">
                <a:latin typeface="Carlito"/>
                <a:cs typeface="Carlito"/>
              </a:rPr>
              <a:t>cluster, </a:t>
            </a:r>
            <a:r>
              <a:rPr sz="2000" dirty="0">
                <a:latin typeface="Carlito"/>
                <a:cs typeface="Carlito"/>
              </a:rPr>
              <a:t>then the </a:t>
            </a:r>
            <a:r>
              <a:rPr sz="2000" spc="-5" dirty="0">
                <a:latin typeface="Carlito"/>
                <a:cs typeface="Carlito"/>
              </a:rPr>
              <a:t>merging of </a:t>
            </a:r>
            <a:r>
              <a:rPr sz="2000" spc="-10" dirty="0">
                <a:latin typeface="Carlito"/>
                <a:cs typeface="Carlito"/>
              </a:rPr>
              <a:t>two clusters, </a:t>
            </a:r>
            <a:r>
              <a:rPr sz="2000" dirty="0">
                <a:latin typeface="Carlito"/>
                <a:cs typeface="Carlito"/>
              </a:rPr>
              <a:t>C</a:t>
            </a:r>
            <a:r>
              <a:rPr sz="1950" baseline="-21367" dirty="0">
                <a:latin typeface="Carlito"/>
                <a:cs typeface="Carlito"/>
              </a:rPr>
              <a:t>i </a:t>
            </a:r>
            <a:r>
              <a:rPr sz="2000" dirty="0">
                <a:latin typeface="Carlito"/>
                <a:cs typeface="Carlito"/>
              </a:rPr>
              <a:t>and C</a:t>
            </a:r>
            <a:r>
              <a:rPr sz="1950" baseline="-21367" dirty="0">
                <a:latin typeface="Carlito"/>
                <a:cs typeface="Carlito"/>
              </a:rPr>
              <a:t>j</a:t>
            </a:r>
            <a:r>
              <a:rPr sz="2000" dirty="0">
                <a:latin typeface="Carlito"/>
                <a:cs typeface="Carlito"/>
              </a:rPr>
              <a:t>,  </a:t>
            </a:r>
            <a:r>
              <a:rPr sz="2000" spc="-5" dirty="0">
                <a:latin typeface="Carlito"/>
                <a:cs typeface="Carlito"/>
              </a:rPr>
              <a:t>corresponds </a:t>
            </a:r>
            <a:r>
              <a:rPr sz="2000" spc="-15" dirty="0">
                <a:latin typeface="Carlito"/>
                <a:cs typeface="Carlito"/>
              </a:rPr>
              <a:t>to </a:t>
            </a:r>
            <a:r>
              <a:rPr sz="2000" dirty="0">
                <a:latin typeface="Carlito"/>
                <a:cs typeface="Carlito"/>
              </a:rPr>
              <a:t>adding an </a:t>
            </a:r>
            <a:r>
              <a:rPr sz="2000" spc="-5" dirty="0">
                <a:latin typeface="Carlito"/>
                <a:cs typeface="Carlito"/>
              </a:rPr>
              <a:t>edge between </a:t>
            </a:r>
            <a:r>
              <a:rPr sz="2000" dirty="0">
                <a:latin typeface="Carlito"/>
                <a:cs typeface="Carlito"/>
              </a:rPr>
              <a:t>the </a:t>
            </a:r>
            <a:r>
              <a:rPr sz="2000" spc="-10" dirty="0">
                <a:latin typeface="Carlito"/>
                <a:cs typeface="Carlito"/>
              </a:rPr>
              <a:t>nearest </a:t>
            </a:r>
            <a:r>
              <a:rPr sz="2000" dirty="0">
                <a:latin typeface="Carlito"/>
                <a:cs typeface="Carlito"/>
              </a:rPr>
              <a:t>pair </a:t>
            </a:r>
            <a:r>
              <a:rPr sz="2000" spc="-5" dirty="0">
                <a:latin typeface="Carlito"/>
                <a:cs typeface="Carlito"/>
              </a:rPr>
              <a:t>of </a:t>
            </a:r>
            <a:r>
              <a:rPr sz="2000" dirty="0">
                <a:latin typeface="Carlito"/>
                <a:cs typeface="Carlito"/>
              </a:rPr>
              <a:t>nodes in C</a:t>
            </a:r>
            <a:r>
              <a:rPr sz="1950" baseline="-21367" dirty="0">
                <a:latin typeface="Carlito"/>
                <a:cs typeface="Carlito"/>
              </a:rPr>
              <a:t>i </a:t>
            </a:r>
            <a:r>
              <a:rPr sz="1300" dirty="0">
                <a:latin typeface="Carlito"/>
                <a:cs typeface="Carlito"/>
              </a:rPr>
              <a:t> </a:t>
            </a:r>
            <a:r>
              <a:rPr sz="2000" dirty="0">
                <a:latin typeface="Carlito"/>
                <a:cs typeface="Carlito"/>
              </a:rPr>
              <a:t>and</a:t>
            </a:r>
            <a:r>
              <a:rPr sz="2000" spc="-10" dirty="0">
                <a:latin typeface="Carlito"/>
                <a:cs typeface="Carlito"/>
              </a:rPr>
              <a:t> </a:t>
            </a:r>
            <a:r>
              <a:rPr sz="2000" dirty="0">
                <a:latin typeface="Carlito"/>
                <a:cs typeface="Carlito"/>
              </a:rPr>
              <a:t>C</a:t>
            </a:r>
            <a:r>
              <a:rPr sz="1950" baseline="-21367" dirty="0">
                <a:latin typeface="Carlito"/>
                <a:cs typeface="Carlito"/>
              </a:rPr>
              <a:t>j</a:t>
            </a:r>
          </a:p>
        </p:txBody>
      </p:sp>
      <p:sp>
        <p:nvSpPr>
          <p:cNvPr id="4" name="object 4"/>
          <p:cNvSpPr/>
          <p:nvPr/>
        </p:nvSpPr>
        <p:spPr>
          <a:xfrm>
            <a:off x="6091899" y="1863217"/>
            <a:ext cx="1735455" cy="76200"/>
          </a:xfrm>
          <a:custGeom>
            <a:avLst/>
            <a:gdLst/>
            <a:ahLst/>
            <a:cxnLst/>
            <a:rect l="l" t="t" r="r" b="b"/>
            <a:pathLst>
              <a:path w="1735454" h="76200">
                <a:moveTo>
                  <a:pt x="1706106" y="58294"/>
                </a:moveTo>
                <a:lnTo>
                  <a:pt x="1697772" y="65532"/>
                </a:lnTo>
                <a:lnTo>
                  <a:pt x="1695613" y="67310"/>
                </a:lnTo>
                <a:lnTo>
                  <a:pt x="1695232" y="70485"/>
                </a:lnTo>
                <a:lnTo>
                  <a:pt x="1696883" y="72771"/>
                </a:lnTo>
                <a:lnTo>
                  <a:pt x="1698407" y="75184"/>
                </a:lnTo>
                <a:lnTo>
                  <a:pt x="1701582" y="75819"/>
                </a:lnTo>
                <a:lnTo>
                  <a:pt x="1703995" y="74549"/>
                </a:lnTo>
                <a:lnTo>
                  <a:pt x="1715171" y="68326"/>
                </a:lnTo>
                <a:lnTo>
                  <a:pt x="1726220" y="61341"/>
                </a:lnTo>
                <a:lnTo>
                  <a:pt x="1726997" y="60957"/>
                </a:lnTo>
                <a:lnTo>
                  <a:pt x="1724061" y="60706"/>
                </a:lnTo>
                <a:lnTo>
                  <a:pt x="1722029" y="60579"/>
                </a:lnTo>
                <a:lnTo>
                  <a:pt x="1721394" y="60452"/>
                </a:lnTo>
                <a:lnTo>
                  <a:pt x="1719362" y="60198"/>
                </a:lnTo>
                <a:lnTo>
                  <a:pt x="1719108" y="60198"/>
                </a:lnTo>
                <a:lnTo>
                  <a:pt x="1711603" y="58928"/>
                </a:lnTo>
                <a:lnTo>
                  <a:pt x="1706106" y="58294"/>
                </a:lnTo>
                <a:close/>
              </a:path>
              <a:path w="1735454" h="76200">
                <a:moveTo>
                  <a:pt x="1726301" y="61341"/>
                </a:moveTo>
                <a:lnTo>
                  <a:pt x="1725839" y="61595"/>
                </a:lnTo>
                <a:lnTo>
                  <a:pt x="1726301" y="61341"/>
                </a:lnTo>
                <a:close/>
              </a:path>
              <a:path w="1735454" h="76200">
                <a:moveTo>
                  <a:pt x="1732679" y="57513"/>
                </a:moveTo>
                <a:lnTo>
                  <a:pt x="1729649" y="59309"/>
                </a:lnTo>
                <a:lnTo>
                  <a:pt x="1728379" y="60198"/>
                </a:lnTo>
                <a:lnTo>
                  <a:pt x="1726997" y="60957"/>
                </a:lnTo>
                <a:lnTo>
                  <a:pt x="1728506" y="61087"/>
                </a:lnTo>
                <a:lnTo>
                  <a:pt x="1732440" y="58294"/>
                </a:lnTo>
                <a:lnTo>
                  <a:pt x="1732679" y="57513"/>
                </a:lnTo>
                <a:close/>
              </a:path>
              <a:path w="1735454" h="76200">
                <a:moveTo>
                  <a:pt x="1730506" y="58801"/>
                </a:moveTo>
                <a:lnTo>
                  <a:pt x="1710853" y="58801"/>
                </a:lnTo>
                <a:lnTo>
                  <a:pt x="1719108" y="60198"/>
                </a:lnTo>
                <a:lnTo>
                  <a:pt x="1719362" y="60198"/>
                </a:lnTo>
                <a:lnTo>
                  <a:pt x="1721394" y="60452"/>
                </a:lnTo>
                <a:lnTo>
                  <a:pt x="1722029" y="60579"/>
                </a:lnTo>
                <a:lnTo>
                  <a:pt x="1724061" y="60706"/>
                </a:lnTo>
                <a:lnTo>
                  <a:pt x="1726997" y="60957"/>
                </a:lnTo>
                <a:lnTo>
                  <a:pt x="1728379" y="60198"/>
                </a:lnTo>
                <a:lnTo>
                  <a:pt x="1729649" y="59309"/>
                </a:lnTo>
                <a:lnTo>
                  <a:pt x="1730506" y="58801"/>
                </a:lnTo>
                <a:close/>
              </a:path>
              <a:path w="1735454" h="76200">
                <a:moveTo>
                  <a:pt x="1732789" y="57150"/>
                </a:moveTo>
                <a:lnTo>
                  <a:pt x="1707424" y="57150"/>
                </a:lnTo>
                <a:lnTo>
                  <a:pt x="1706789" y="57785"/>
                </a:lnTo>
                <a:lnTo>
                  <a:pt x="1706106" y="58294"/>
                </a:lnTo>
                <a:lnTo>
                  <a:pt x="1711488" y="58928"/>
                </a:lnTo>
                <a:lnTo>
                  <a:pt x="1710853" y="58801"/>
                </a:lnTo>
                <a:lnTo>
                  <a:pt x="1730506" y="58801"/>
                </a:lnTo>
                <a:lnTo>
                  <a:pt x="1732679" y="57513"/>
                </a:lnTo>
                <a:lnTo>
                  <a:pt x="1732789" y="57150"/>
                </a:lnTo>
                <a:close/>
              </a:path>
              <a:path w="1735454" h="76200">
                <a:moveTo>
                  <a:pt x="1710853" y="58801"/>
                </a:moveTo>
                <a:lnTo>
                  <a:pt x="1711488" y="58928"/>
                </a:lnTo>
                <a:lnTo>
                  <a:pt x="1710853" y="58801"/>
                </a:lnTo>
                <a:close/>
              </a:path>
              <a:path w="1735454" h="76200">
                <a:moveTo>
                  <a:pt x="1706254" y="58166"/>
                </a:moveTo>
                <a:lnTo>
                  <a:pt x="1705011" y="58166"/>
                </a:lnTo>
                <a:lnTo>
                  <a:pt x="1706108" y="58293"/>
                </a:lnTo>
                <a:lnTo>
                  <a:pt x="1706254" y="58166"/>
                </a:lnTo>
                <a:close/>
              </a:path>
              <a:path w="1735454" h="76200">
                <a:moveTo>
                  <a:pt x="572457" y="12192"/>
                </a:moveTo>
                <a:lnTo>
                  <a:pt x="65695" y="12192"/>
                </a:lnTo>
                <a:lnTo>
                  <a:pt x="75855" y="12319"/>
                </a:lnTo>
                <a:lnTo>
                  <a:pt x="99096" y="12827"/>
                </a:lnTo>
                <a:lnTo>
                  <a:pt x="140879" y="14350"/>
                </a:lnTo>
                <a:lnTo>
                  <a:pt x="230160" y="18415"/>
                </a:lnTo>
                <a:lnTo>
                  <a:pt x="270546" y="19558"/>
                </a:lnTo>
                <a:lnTo>
                  <a:pt x="430058" y="21717"/>
                </a:lnTo>
                <a:lnTo>
                  <a:pt x="683169" y="29337"/>
                </a:lnTo>
                <a:lnTo>
                  <a:pt x="949869" y="39751"/>
                </a:lnTo>
                <a:lnTo>
                  <a:pt x="1592870" y="54229"/>
                </a:lnTo>
                <a:lnTo>
                  <a:pt x="1698534" y="57912"/>
                </a:lnTo>
                <a:lnTo>
                  <a:pt x="1705646" y="58293"/>
                </a:lnTo>
                <a:lnTo>
                  <a:pt x="1705011" y="58166"/>
                </a:lnTo>
                <a:lnTo>
                  <a:pt x="1706254" y="58166"/>
                </a:lnTo>
                <a:lnTo>
                  <a:pt x="1707114" y="57418"/>
                </a:lnTo>
                <a:lnTo>
                  <a:pt x="1711643" y="52324"/>
                </a:lnTo>
                <a:lnTo>
                  <a:pt x="1714704" y="48641"/>
                </a:lnTo>
                <a:lnTo>
                  <a:pt x="1716822" y="45974"/>
                </a:lnTo>
                <a:lnTo>
                  <a:pt x="1717838" y="44831"/>
                </a:lnTo>
                <a:lnTo>
                  <a:pt x="1720886" y="41656"/>
                </a:lnTo>
                <a:lnTo>
                  <a:pt x="1721997" y="41480"/>
                </a:lnTo>
                <a:lnTo>
                  <a:pt x="1714028" y="40132"/>
                </a:lnTo>
                <a:lnTo>
                  <a:pt x="1713393" y="40005"/>
                </a:lnTo>
                <a:lnTo>
                  <a:pt x="1707043" y="39370"/>
                </a:lnTo>
                <a:lnTo>
                  <a:pt x="1706281" y="39370"/>
                </a:lnTo>
                <a:lnTo>
                  <a:pt x="1699042" y="39116"/>
                </a:lnTo>
                <a:lnTo>
                  <a:pt x="950377" y="25146"/>
                </a:lnTo>
                <a:lnTo>
                  <a:pt x="572457" y="12192"/>
                </a:lnTo>
                <a:close/>
              </a:path>
              <a:path w="1735454" h="76200">
                <a:moveTo>
                  <a:pt x="1707114" y="57418"/>
                </a:moveTo>
                <a:lnTo>
                  <a:pt x="1706693" y="57785"/>
                </a:lnTo>
                <a:lnTo>
                  <a:pt x="1707114" y="57418"/>
                </a:lnTo>
                <a:close/>
              </a:path>
              <a:path w="1735454" h="76200">
                <a:moveTo>
                  <a:pt x="1707424" y="57150"/>
                </a:moveTo>
                <a:lnTo>
                  <a:pt x="1707030" y="57513"/>
                </a:lnTo>
                <a:lnTo>
                  <a:pt x="1706789" y="57785"/>
                </a:lnTo>
                <a:lnTo>
                  <a:pt x="1707424" y="57150"/>
                </a:lnTo>
                <a:close/>
              </a:path>
              <a:path w="1735454" h="76200">
                <a:moveTo>
                  <a:pt x="1734514" y="51698"/>
                </a:moveTo>
                <a:lnTo>
                  <a:pt x="1733674" y="54229"/>
                </a:lnTo>
                <a:lnTo>
                  <a:pt x="1732679" y="57513"/>
                </a:lnTo>
                <a:lnTo>
                  <a:pt x="1733078" y="57277"/>
                </a:lnTo>
                <a:lnTo>
                  <a:pt x="1734745" y="53467"/>
                </a:lnTo>
                <a:lnTo>
                  <a:pt x="1734655" y="52324"/>
                </a:lnTo>
                <a:lnTo>
                  <a:pt x="1734514" y="51698"/>
                </a:lnTo>
                <a:close/>
              </a:path>
              <a:path w="1735454" h="76200">
                <a:moveTo>
                  <a:pt x="1734390" y="52070"/>
                </a:moveTo>
                <a:lnTo>
                  <a:pt x="1711869" y="52070"/>
                </a:lnTo>
                <a:lnTo>
                  <a:pt x="1707114" y="57418"/>
                </a:lnTo>
                <a:lnTo>
                  <a:pt x="1707424" y="57150"/>
                </a:lnTo>
                <a:lnTo>
                  <a:pt x="1732789" y="57150"/>
                </a:lnTo>
                <a:lnTo>
                  <a:pt x="1733713" y="54102"/>
                </a:lnTo>
                <a:lnTo>
                  <a:pt x="1734390" y="52070"/>
                </a:lnTo>
                <a:close/>
              </a:path>
              <a:path w="1735454" h="76200">
                <a:moveTo>
                  <a:pt x="1733766" y="48387"/>
                </a:moveTo>
                <a:lnTo>
                  <a:pt x="1714917" y="48387"/>
                </a:lnTo>
                <a:lnTo>
                  <a:pt x="1711615" y="52324"/>
                </a:lnTo>
                <a:lnTo>
                  <a:pt x="1711869" y="52070"/>
                </a:lnTo>
                <a:lnTo>
                  <a:pt x="1734390" y="52070"/>
                </a:lnTo>
                <a:lnTo>
                  <a:pt x="1734454" y="51435"/>
                </a:lnTo>
                <a:lnTo>
                  <a:pt x="1733766" y="48387"/>
                </a:lnTo>
                <a:close/>
              </a:path>
              <a:path w="1735454" h="76200">
                <a:moveTo>
                  <a:pt x="1711869" y="52070"/>
                </a:moveTo>
                <a:lnTo>
                  <a:pt x="1711615" y="52324"/>
                </a:lnTo>
                <a:lnTo>
                  <a:pt x="1711869" y="52070"/>
                </a:lnTo>
                <a:close/>
              </a:path>
              <a:path w="1735454" h="76200">
                <a:moveTo>
                  <a:pt x="1732625" y="44938"/>
                </a:moveTo>
                <a:lnTo>
                  <a:pt x="1733078" y="45339"/>
                </a:lnTo>
                <a:lnTo>
                  <a:pt x="1734514" y="51698"/>
                </a:lnTo>
                <a:lnTo>
                  <a:pt x="1735110" y="49911"/>
                </a:lnTo>
                <a:lnTo>
                  <a:pt x="1733332" y="45339"/>
                </a:lnTo>
                <a:lnTo>
                  <a:pt x="1732625" y="44938"/>
                </a:lnTo>
                <a:close/>
              </a:path>
              <a:path w="1735454" h="76200">
                <a:moveTo>
                  <a:pt x="1721997" y="41480"/>
                </a:moveTo>
                <a:lnTo>
                  <a:pt x="1720886" y="41656"/>
                </a:lnTo>
                <a:lnTo>
                  <a:pt x="1717742" y="44938"/>
                </a:lnTo>
                <a:lnTo>
                  <a:pt x="1716822" y="45974"/>
                </a:lnTo>
                <a:lnTo>
                  <a:pt x="1714663" y="48641"/>
                </a:lnTo>
                <a:lnTo>
                  <a:pt x="1714917" y="48387"/>
                </a:lnTo>
                <a:lnTo>
                  <a:pt x="1733766" y="48387"/>
                </a:lnTo>
                <a:lnTo>
                  <a:pt x="1733078" y="45339"/>
                </a:lnTo>
                <a:lnTo>
                  <a:pt x="1732625" y="44938"/>
                </a:lnTo>
                <a:lnTo>
                  <a:pt x="1729522" y="43180"/>
                </a:lnTo>
                <a:lnTo>
                  <a:pt x="1727840" y="42170"/>
                </a:lnTo>
                <a:lnTo>
                  <a:pt x="1724802" y="41783"/>
                </a:lnTo>
                <a:lnTo>
                  <a:pt x="1724061" y="41783"/>
                </a:lnTo>
                <a:lnTo>
                  <a:pt x="1722706" y="41529"/>
                </a:lnTo>
                <a:lnTo>
                  <a:pt x="1722283" y="41529"/>
                </a:lnTo>
                <a:lnTo>
                  <a:pt x="1721997" y="41480"/>
                </a:lnTo>
                <a:close/>
              </a:path>
              <a:path w="1735454" h="76200">
                <a:moveTo>
                  <a:pt x="1714917" y="48387"/>
                </a:moveTo>
                <a:lnTo>
                  <a:pt x="1714663" y="48641"/>
                </a:lnTo>
                <a:lnTo>
                  <a:pt x="1714917" y="48387"/>
                </a:lnTo>
                <a:close/>
              </a:path>
              <a:path w="1735454" h="76200">
                <a:moveTo>
                  <a:pt x="1727840" y="42170"/>
                </a:moveTo>
                <a:lnTo>
                  <a:pt x="1729522" y="43180"/>
                </a:lnTo>
                <a:lnTo>
                  <a:pt x="1732625" y="44938"/>
                </a:lnTo>
                <a:lnTo>
                  <a:pt x="1729776" y="42418"/>
                </a:lnTo>
                <a:lnTo>
                  <a:pt x="1727840" y="42170"/>
                </a:lnTo>
                <a:close/>
              </a:path>
              <a:path w="1735454" h="76200">
                <a:moveTo>
                  <a:pt x="1726982" y="41656"/>
                </a:moveTo>
                <a:lnTo>
                  <a:pt x="1723807" y="41656"/>
                </a:lnTo>
                <a:lnTo>
                  <a:pt x="1727840" y="42170"/>
                </a:lnTo>
                <a:lnTo>
                  <a:pt x="1726982" y="41656"/>
                </a:lnTo>
                <a:close/>
              </a:path>
              <a:path w="1735454" h="76200">
                <a:moveTo>
                  <a:pt x="1725712" y="40894"/>
                </a:moveTo>
                <a:lnTo>
                  <a:pt x="1722242" y="41441"/>
                </a:lnTo>
                <a:lnTo>
                  <a:pt x="1724061" y="41783"/>
                </a:lnTo>
                <a:lnTo>
                  <a:pt x="1723807" y="41656"/>
                </a:lnTo>
                <a:lnTo>
                  <a:pt x="1726982" y="41656"/>
                </a:lnTo>
                <a:lnTo>
                  <a:pt x="1725712" y="40894"/>
                </a:lnTo>
                <a:close/>
              </a:path>
              <a:path w="1735454" h="76200">
                <a:moveTo>
                  <a:pt x="1723807" y="41656"/>
                </a:moveTo>
                <a:lnTo>
                  <a:pt x="1724061" y="41783"/>
                </a:lnTo>
                <a:lnTo>
                  <a:pt x="1724802" y="41783"/>
                </a:lnTo>
                <a:lnTo>
                  <a:pt x="1723807" y="41656"/>
                </a:lnTo>
                <a:close/>
              </a:path>
              <a:path w="1735454" h="76200">
                <a:moveTo>
                  <a:pt x="1722141" y="41457"/>
                </a:moveTo>
                <a:lnTo>
                  <a:pt x="1721997" y="41480"/>
                </a:lnTo>
                <a:lnTo>
                  <a:pt x="1722283" y="41529"/>
                </a:lnTo>
                <a:lnTo>
                  <a:pt x="1722141" y="41457"/>
                </a:lnTo>
                <a:close/>
              </a:path>
              <a:path w="1735454" h="76200">
                <a:moveTo>
                  <a:pt x="1722242" y="41441"/>
                </a:moveTo>
                <a:lnTo>
                  <a:pt x="1722706" y="41529"/>
                </a:lnTo>
                <a:lnTo>
                  <a:pt x="1722242" y="41441"/>
                </a:lnTo>
                <a:close/>
              </a:path>
              <a:path w="1735454" h="76200">
                <a:moveTo>
                  <a:pt x="1722029" y="41402"/>
                </a:moveTo>
                <a:lnTo>
                  <a:pt x="1722242" y="41441"/>
                </a:lnTo>
                <a:lnTo>
                  <a:pt x="1722029" y="41402"/>
                </a:lnTo>
                <a:close/>
              </a:path>
              <a:path w="1735454" h="76200">
                <a:moveTo>
                  <a:pt x="1941" y="13462"/>
                </a:moveTo>
                <a:lnTo>
                  <a:pt x="1433" y="13462"/>
                </a:lnTo>
                <a:lnTo>
                  <a:pt x="2068" y="15621"/>
                </a:lnTo>
                <a:lnTo>
                  <a:pt x="2110" y="15875"/>
                </a:lnTo>
                <a:lnTo>
                  <a:pt x="2830" y="18034"/>
                </a:lnTo>
                <a:lnTo>
                  <a:pt x="2907" y="18415"/>
                </a:lnTo>
                <a:lnTo>
                  <a:pt x="3930" y="21717"/>
                </a:lnTo>
                <a:lnTo>
                  <a:pt x="4481" y="23368"/>
                </a:lnTo>
                <a:lnTo>
                  <a:pt x="6894" y="24765"/>
                </a:lnTo>
                <a:lnTo>
                  <a:pt x="11720" y="23749"/>
                </a:lnTo>
                <a:lnTo>
                  <a:pt x="13244" y="21462"/>
                </a:lnTo>
                <a:lnTo>
                  <a:pt x="12736" y="17018"/>
                </a:lnTo>
                <a:lnTo>
                  <a:pt x="12609" y="16256"/>
                </a:lnTo>
                <a:lnTo>
                  <a:pt x="12431" y="14478"/>
                </a:lnTo>
                <a:lnTo>
                  <a:pt x="2957" y="14478"/>
                </a:lnTo>
                <a:lnTo>
                  <a:pt x="1941" y="13462"/>
                </a:lnTo>
                <a:close/>
              </a:path>
              <a:path w="1735454" h="76200">
                <a:moveTo>
                  <a:pt x="12609" y="16002"/>
                </a:moveTo>
                <a:lnTo>
                  <a:pt x="12609" y="16256"/>
                </a:lnTo>
                <a:lnTo>
                  <a:pt x="12609" y="16002"/>
                </a:lnTo>
                <a:close/>
              </a:path>
              <a:path w="1735454" h="76200">
                <a:moveTo>
                  <a:pt x="12228" y="10668"/>
                </a:moveTo>
                <a:lnTo>
                  <a:pt x="671" y="10668"/>
                </a:lnTo>
                <a:lnTo>
                  <a:pt x="925" y="12065"/>
                </a:lnTo>
                <a:lnTo>
                  <a:pt x="1190" y="12700"/>
                </a:lnTo>
                <a:lnTo>
                  <a:pt x="2957" y="14478"/>
                </a:lnTo>
                <a:lnTo>
                  <a:pt x="6132" y="14350"/>
                </a:lnTo>
                <a:lnTo>
                  <a:pt x="7783" y="14350"/>
                </a:lnTo>
                <a:lnTo>
                  <a:pt x="12391" y="14078"/>
                </a:lnTo>
                <a:lnTo>
                  <a:pt x="12355" y="13843"/>
                </a:lnTo>
                <a:lnTo>
                  <a:pt x="12228" y="11684"/>
                </a:lnTo>
                <a:lnTo>
                  <a:pt x="12228" y="10668"/>
                </a:lnTo>
                <a:close/>
              </a:path>
              <a:path w="1735454" h="76200">
                <a:moveTo>
                  <a:pt x="12391" y="14078"/>
                </a:moveTo>
                <a:lnTo>
                  <a:pt x="7783" y="14350"/>
                </a:lnTo>
                <a:lnTo>
                  <a:pt x="6132" y="14350"/>
                </a:lnTo>
                <a:lnTo>
                  <a:pt x="2957" y="14478"/>
                </a:lnTo>
                <a:lnTo>
                  <a:pt x="12431" y="14478"/>
                </a:lnTo>
                <a:lnTo>
                  <a:pt x="12391" y="14078"/>
                </a:lnTo>
                <a:close/>
              </a:path>
              <a:path w="1735454" h="76200">
                <a:moveTo>
                  <a:pt x="15657" y="13716"/>
                </a:moveTo>
                <a:lnTo>
                  <a:pt x="12355" y="13716"/>
                </a:lnTo>
                <a:lnTo>
                  <a:pt x="12391" y="14078"/>
                </a:lnTo>
                <a:lnTo>
                  <a:pt x="15657" y="13716"/>
                </a:lnTo>
                <a:close/>
              </a:path>
              <a:path w="1735454" h="76200">
                <a:moveTo>
                  <a:pt x="149515" y="2412"/>
                </a:moveTo>
                <a:lnTo>
                  <a:pt x="9180" y="2412"/>
                </a:lnTo>
                <a:lnTo>
                  <a:pt x="11847" y="4953"/>
                </a:lnTo>
                <a:lnTo>
                  <a:pt x="12101" y="8128"/>
                </a:lnTo>
                <a:lnTo>
                  <a:pt x="12228" y="10033"/>
                </a:lnTo>
                <a:lnTo>
                  <a:pt x="12355" y="13843"/>
                </a:lnTo>
                <a:lnTo>
                  <a:pt x="15657" y="13716"/>
                </a:lnTo>
                <a:lnTo>
                  <a:pt x="20737" y="13208"/>
                </a:lnTo>
                <a:lnTo>
                  <a:pt x="26833" y="12700"/>
                </a:lnTo>
                <a:lnTo>
                  <a:pt x="26579" y="12700"/>
                </a:lnTo>
                <a:lnTo>
                  <a:pt x="32675" y="12319"/>
                </a:lnTo>
                <a:lnTo>
                  <a:pt x="39660" y="12319"/>
                </a:lnTo>
                <a:lnTo>
                  <a:pt x="47915" y="12192"/>
                </a:lnTo>
                <a:lnTo>
                  <a:pt x="572457" y="12192"/>
                </a:lnTo>
                <a:lnTo>
                  <a:pt x="405420" y="8128"/>
                </a:lnTo>
                <a:lnTo>
                  <a:pt x="270800" y="6985"/>
                </a:lnTo>
                <a:lnTo>
                  <a:pt x="230668" y="5842"/>
                </a:lnTo>
                <a:lnTo>
                  <a:pt x="192822" y="4318"/>
                </a:lnTo>
                <a:lnTo>
                  <a:pt x="149515" y="2412"/>
                </a:lnTo>
                <a:close/>
              </a:path>
              <a:path w="1735454" h="76200">
                <a:moveTo>
                  <a:pt x="1195" y="12715"/>
                </a:moveTo>
                <a:lnTo>
                  <a:pt x="1433" y="13588"/>
                </a:lnTo>
                <a:lnTo>
                  <a:pt x="1941" y="13462"/>
                </a:lnTo>
                <a:lnTo>
                  <a:pt x="1195" y="12715"/>
                </a:lnTo>
                <a:close/>
              </a:path>
              <a:path w="1735454" h="76200">
                <a:moveTo>
                  <a:pt x="195" y="9436"/>
                </a:moveTo>
                <a:lnTo>
                  <a:pt x="290" y="11811"/>
                </a:lnTo>
                <a:lnTo>
                  <a:pt x="1195" y="12715"/>
                </a:lnTo>
                <a:lnTo>
                  <a:pt x="1052" y="12192"/>
                </a:lnTo>
                <a:lnTo>
                  <a:pt x="740" y="11049"/>
                </a:lnTo>
                <a:lnTo>
                  <a:pt x="544" y="10413"/>
                </a:lnTo>
                <a:lnTo>
                  <a:pt x="195" y="9436"/>
                </a:lnTo>
                <a:close/>
              </a:path>
              <a:path w="1735454" h="76200">
                <a:moveTo>
                  <a:pt x="9180" y="2412"/>
                </a:moveTo>
                <a:lnTo>
                  <a:pt x="272" y="9652"/>
                </a:lnTo>
                <a:lnTo>
                  <a:pt x="544" y="10413"/>
                </a:lnTo>
                <a:lnTo>
                  <a:pt x="671" y="11049"/>
                </a:lnTo>
                <a:lnTo>
                  <a:pt x="671" y="10668"/>
                </a:lnTo>
                <a:lnTo>
                  <a:pt x="12228" y="10668"/>
                </a:lnTo>
                <a:lnTo>
                  <a:pt x="12101" y="8890"/>
                </a:lnTo>
                <a:lnTo>
                  <a:pt x="11999" y="6858"/>
                </a:lnTo>
                <a:lnTo>
                  <a:pt x="11847" y="4953"/>
                </a:lnTo>
                <a:lnTo>
                  <a:pt x="9180" y="2412"/>
                </a:lnTo>
                <a:close/>
              </a:path>
              <a:path w="1735454" h="76200">
                <a:moveTo>
                  <a:pt x="671" y="10668"/>
                </a:moveTo>
                <a:lnTo>
                  <a:pt x="671" y="11049"/>
                </a:lnTo>
                <a:lnTo>
                  <a:pt x="671" y="10668"/>
                </a:lnTo>
                <a:close/>
              </a:path>
              <a:path w="1735454" h="76200">
                <a:moveTo>
                  <a:pt x="163" y="6858"/>
                </a:moveTo>
                <a:lnTo>
                  <a:pt x="90" y="7366"/>
                </a:lnTo>
                <a:lnTo>
                  <a:pt x="0" y="8890"/>
                </a:lnTo>
                <a:lnTo>
                  <a:pt x="195" y="9436"/>
                </a:lnTo>
                <a:lnTo>
                  <a:pt x="163" y="6858"/>
                </a:lnTo>
                <a:close/>
              </a:path>
              <a:path w="1735454" h="76200">
                <a:moveTo>
                  <a:pt x="12101" y="8636"/>
                </a:moveTo>
                <a:lnTo>
                  <a:pt x="12101" y="8890"/>
                </a:lnTo>
                <a:lnTo>
                  <a:pt x="12101" y="8636"/>
                </a:lnTo>
                <a:close/>
              </a:path>
              <a:path w="1735454" h="76200">
                <a:moveTo>
                  <a:pt x="5312" y="2564"/>
                </a:moveTo>
                <a:lnTo>
                  <a:pt x="2703" y="2667"/>
                </a:lnTo>
                <a:lnTo>
                  <a:pt x="163" y="5334"/>
                </a:lnTo>
                <a:lnTo>
                  <a:pt x="163" y="6858"/>
                </a:lnTo>
                <a:lnTo>
                  <a:pt x="1052" y="5334"/>
                </a:lnTo>
                <a:lnTo>
                  <a:pt x="2068" y="3810"/>
                </a:lnTo>
                <a:lnTo>
                  <a:pt x="3592" y="2794"/>
                </a:lnTo>
                <a:lnTo>
                  <a:pt x="5312" y="2564"/>
                </a:lnTo>
                <a:close/>
              </a:path>
              <a:path w="1735454" h="76200">
                <a:moveTo>
                  <a:pt x="56424" y="0"/>
                </a:moveTo>
                <a:lnTo>
                  <a:pt x="47788" y="0"/>
                </a:lnTo>
                <a:lnTo>
                  <a:pt x="32294" y="254"/>
                </a:lnTo>
                <a:lnTo>
                  <a:pt x="25944" y="508"/>
                </a:lnTo>
                <a:lnTo>
                  <a:pt x="15530" y="1524"/>
                </a:lnTo>
                <a:lnTo>
                  <a:pt x="10958" y="2032"/>
                </a:lnTo>
                <a:lnTo>
                  <a:pt x="8926" y="2159"/>
                </a:lnTo>
                <a:lnTo>
                  <a:pt x="6894" y="2412"/>
                </a:lnTo>
                <a:lnTo>
                  <a:pt x="5312" y="2564"/>
                </a:lnTo>
                <a:lnTo>
                  <a:pt x="9180" y="2412"/>
                </a:lnTo>
                <a:lnTo>
                  <a:pt x="149515" y="2412"/>
                </a:lnTo>
                <a:lnTo>
                  <a:pt x="141387" y="2032"/>
                </a:lnTo>
                <a:lnTo>
                  <a:pt x="99477" y="635"/>
                </a:lnTo>
                <a:lnTo>
                  <a:pt x="75982" y="127"/>
                </a:lnTo>
                <a:lnTo>
                  <a:pt x="65822" y="127"/>
                </a:lnTo>
                <a:lnTo>
                  <a:pt x="56424" y="0"/>
                </a:lnTo>
                <a:close/>
              </a:path>
            </a:pathLst>
          </a:custGeom>
          <a:solidFill>
            <a:srgbClr val="FF0000"/>
          </a:solidFill>
        </p:spPr>
        <p:txBody>
          <a:bodyPr wrap="square" lIns="0" tIns="0" rIns="0" bIns="0" rtlCol="0"/>
          <a:lstStyle/>
          <a:p>
            <a:endParaRPr/>
          </a:p>
        </p:txBody>
      </p:sp>
      <p:sp>
        <p:nvSpPr>
          <p:cNvPr id="5" name="object 5"/>
          <p:cNvSpPr/>
          <p:nvPr/>
        </p:nvSpPr>
        <p:spPr>
          <a:xfrm>
            <a:off x="871569" y="2096261"/>
            <a:ext cx="2184634" cy="79248"/>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878382" y="3063367"/>
            <a:ext cx="2289505" cy="67437"/>
          </a:xfrm>
          <a:prstGeom prst="rect">
            <a:avLst/>
          </a:prstGeom>
          <a:blipFill>
            <a:blip r:embed="rId3" cstate="print"/>
            <a:stretch>
              <a:fillRect/>
            </a:stretch>
          </a:blipFill>
        </p:spPr>
        <p:txBody>
          <a:bodyPr wrap="square" lIns="0" tIns="0" rIns="0" bIns="0" rtlCol="0"/>
          <a:lstStyle/>
          <a:p>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14</a:t>
            </a:fld>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34108" y="385953"/>
            <a:ext cx="5873115" cy="452120"/>
          </a:xfrm>
          <a:prstGeom prst="rect">
            <a:avLst/>
          </a:prstGeom>
        </p:spPr>
        <p:txBody>
          <a:bodyPr vert="horz" wrap="square" lIns="0" tIns="12065" rIns="0" bIns="0" rtlCol="0">
            <a:spAutoFit/>
          </a:bodyPr>
          <a:lstStyle/>
          <a:p>
            <a:pPr marL="12700">
              <a:lnSpc>
                <a:spcPct val="100000"/>
              </a:lnSpc>
              <a:spcBef>
                <a:spcPts val="95"/>
              </a:spcBef>
            </a:pPr>
            <a:r>
              <a:rPr sz="2800" b="1" spc="-15" dirty="0">
                <a:solidFill>
                  <a:srgbClr val="0000FF"/>
                </a:solidFill>
                <a:latin typeface="Carlito"/>
                <a:cs typeface="Carlito"/>
              </a:rPr>
              <a:t>Measures </a:t>
            </a:r>
            <a:r>
              <a:rPr sz="2800" b="1" spc="-20" dirty="0">
                <a:solidFill>
                  <a:srgbClr val="0000FF"/>
                </a:solidFill>
                <a:latin typeface="Carlito"/>
                <a:cs typeface="Carlito"/>
              </a:rPr>
              <a:t>for </a:t>
            </a:r>
            <a:r>
              <a:rPr sz="2800" b="1" spc="-15" dirty="0">
                <a:solidFill>
                  <a:srgbClr val="0000FF"/>
                </a:solidFill>
                <a:latin typeface="Carlito"/>
                <a:cs typeface="Carlito"/>
              </a:rPr>
              <a:t>distance between</a:t>
            </a:r>
            <a:r>
              <a:rPr sz="2800" b="1" spc="150" dirty="0">
                <a:solidFill>
                  <a:srgbClr val="0000FF"/>
                </a:solidFill>
                <a:latin typeface="Carlito"/>
                <a:cs typeface="Carlito"/>
              </a:rPr>
              <a:t> </a:t>
            </a:r>
            <a:r>
              <a:rPr sz="2800" b="1" spc="-20" dirty="0">
                <a:solidFill>
                  <a:srgbClr val="0000FF"/>
                </a:solidFill>
                <a:latin typeface="Carlito"/>
                <a:cs typeface="Carlito"/>
              </a:rPr>
              <a:t>clusters</a:t>
            </a:r>
            <a:endParaRPr sz="2800">
              <a:latin typeface="Carlito"/>
              <a:cs typeface="Carlito"/>
            </a:endParaRPr>
          </a:p>
        </p:txBody>
      </p:sp>
      <p:sp>
        <p:nvSpPr>
          <p:cNvPr id="3" name="object 3"/>
          <p:cNvSpPr txBox="1"/>
          <p:nvPr/>
        </p:nvSpPr>
        <p:spPr>
          <a:xfrm>
            <a:off x="472440" y="1186433"/>
            <a:ext cx="7983855" cy="3258185"/>
          </a:xfrm>
          <a:prstGeom prst="rect">
            <a:avLst/>
          </a:prstGeom>
        </p:spPr>
        <p:txBody>
          <a:bodyPr vert="horz" wrap="square" lIns="0" tIns="47625" rIns="0" bIns="0" rtlCol="0">
            <a:spAutoFit/>
          </a:bodyPr>
          <a:lstStyle/>
          <a:p>
            <a:pPr marL="419100" marR="247650" indent="-342900">
              <a:lnSpc>
                <a:spcPts val="2160"/>
              </a:lnSpc>
              <a:spcBef>
                <a:spcPts val="375"/>
              </a:spcBef>
              <a:buFont typeface="Arial"/>
              <a:buChar char="•"/>
              <a:tabLst>
                <a:tab pos="475615" algn="l"/>
                <a:tab pos="476250" algn="l"/>
              </a:tabLst>
            </a:pPr>
            <a:r>
              <a:rPr dirty="0"/>
              <a:t>	</a:t>
            </a:r>
            <a:r>
              <a:rPr sz="2000" dirty="0">
                <a:latin typeface="Carlito"/>
                <a:cs typeface="Carlito"/>
              </a:rPr>
              <a:t>Because </a:t>
            </a:r>
            <a:r>
              <a:rPr sz="2000" spc="-5" dirty="0">
                <a:latin typeface="Carlito"/>
                <a:cs typeface="Carlito"/>
              </a:rPr>
              <a:t>edges linking </a:t>
            </a:r>
            <a:r>
              <a:rPr sz="2000" spc="-15" dirty="0">
                <a:latin typeface="Carlito"/>
                <a:cs typeface="Carlito"/>
              </a:rPr>
              <a:t>clusters always </a:t>
            </a:r>
            <a:r>
              <a:rPr sz="2000" spc="-5" dirty="0">
                <a:latin typeface="Carlito"/>
                <a:cs typeface="Carlito"/>
              </a:rPr>
              <a:t>go between distinct </a:t>
            </a:r>
            <a:r>
              <a:rPr sz="2000" spc="-10" dirty="0">
                <a:latin typeface="Carlito"/>
                <a:cs typeface="Carlito"/>
              </a:rPr>
              <a:t>clusters, </a:t>
            </a:r>
            <a:r>
              <a:rPr sz="2000" dirty="0">
                <a:latin typeface="Carlito"/>
                <a:cs typeface="Carlito"/>
              </a:rPr>
              <a:t>the  </a:t>
            </a:r>
            <a:r>
              <a:rPr sz="2000" spc="-5" dirty="0">
                <a:latin typeface="Carlito"/>
                <a:cs typeface="Carlito"/>
              </a:rPr>
              <a:t>resulting </a:t>
            </a:r>
            <a:r>
              <a:rPr sz="2000" spc="-10" dirty="0">
                <a:latin typeface="Carlito"/>
                <a:cs typeface="Carlito"/>
              </a:rPr>
              <a:t>graph </a:t>
            </a:r>
            <a:r>
              <a:rPr sz="2000" spc="-5" dirty="0">
                <a:latin typeface="Carlito"/>
                <a:cs typeface="Carlito"/>
              </a:rPr>
              <a:t>will </a:t>
            </a:r>
            <a:r>
              <a:rPr sz="2000" spc="-15" dirty="0">
                <a:latin typeface="Carlito"/>
                <a:cs typeface="Carlito"/>
              </a:rPr>
              <a:t>generate </a:t>
            </a:r>
            <a:r>
              <a:rPr sz="2000" dirty="0">
                <a:latin typeface="Carlito"/>
                <a:cs typeface="Carlito"/>
              </a:rPr>
              <a:t>a</a:t>
            </a:r>
            <a:r>
              <a:rPr sz="2000" spc="10" dirty="0">
                <a:latin typeface="Carlito"/>
                <a:cs typeface="Carlito"/>
              </a:rPr>
              <a:t> </a:t>
            </a:r>
            <a:r>
              <a:rPr sz="2000" spc="-5" dirty="0">
                <a:latin typeface="Carlito"/>
                <a:cs typeface="Carlito"/>
              </a:rPr>
              <a:t>tree</a:t>
            </a:r>
            <a:endParaRPr sz="2000">
              <a:latin typeface="Carlito"/>
              <a:cs typeface="Carlito"/>
            </a:endParaRPr>
          </a:p>
          <a:p>
            <a:pPr marL="419100" marR="377190" indent="-342900">
              <a:lnSpc>
                <a:spcPct val="90000"/>
              </a:lnSpc>
              <a:spcBef>
                <a:spcPts val="450"/>
              </a:spcBef>
              <a:buFont typeface="Arial"/>
              <a:buChar char="•"/>
              <a:tabLst>
                <a:tab pos="418465" algn="l"/>
                <a:tab pos="419100" algn="l"/>
              </a:tabLst>
            </a:pPr>
            <a:r>
              <a:rPr sz="2000" dirty="0">
                <a:latin typeface="Carlito"/>
                <a:cs typeface="Carlito"/>
              </a:rPr>
              <a:t>Thus, an </a:t>
            </a:r>
            <a:r>
              <a:rPr sz="2000" spc="-5" dirty="0">
                <a:latin typeface="Carlito"/>
                <a:cs typeface="Carlito"/>
              </a:rPr>
              <a:t>agglomerative </a:t>
            </a:r>
            <a:r>
              <a:rPr sz="2000" spc="-10" dirty="0">
                <a:latin typeface="Carlito"/>
                <a:cs typeface="Carlito"/>
              </a:rPr>
              <a:t>hierarchical </a:t>
            </a:r>
            <a:r>
              <a:rPr sz="2000" spc="-5" dirty="0">
                <a:latin typeface="Carlito"/>
                <a:cs typeface="Carlito"/>
              </a:rPr>
              <a:t>clustering algorithm that </a:t>
            </a:r>
            <a:r>
              <a:rPr sz="2000" dirty="0">
                <a:latin typeface="Carlito"/>
                <a:cs typeface="Carlito"/>
              </a:rPr>
              <a:t>uses the  </a:t>
            </a:r>
            <a:r>
              <a:rPr sz="2000" spc="-5" dirty="0">
                <a:latin typeface="Carlito"/>
                <a:cs typeface="Carlito"/>
              </a:rPr>
              <a:t>minimum </a:t>
            </a:r>
            <a:r>
              <a:rPr sz="2000" spc="-10" dirty="0">
                <a:latin typeface="Carlito"/>
                <a:cs typeface="Carlito"/>
              </a:rPr>
              <a:t>distance </a:t>
            </a:r>
            <a:r>
              <a:rPr sz="2000" spc="-5" dirty="0">
                <a:latin typeface="Carlito"/>
                <a:cs typeface="Carlito"/>
              </a:rPr>
              <a:t>measure </a:t>
            </a:r>
            <a:r>
              <a:rPr sz="2000" dirty="0">
                <a:latin typeface="Carlito"/>
                <a:cs typeface="Carlito"/>
              </a:rPr>
              <a:t>is </a:t>
            </a:r>
            <a:r>
              <a:rPr sz="2000" spc="-5" dirty="0">
                <a:latin typeface="Carlito"/>
                <a:cs typeface="Carlito"/>
              </a:rPr>
              <a:t>also called </a:t>
            </a:r>
            <a:r>
              <a:rPr sz="2000" dirty="0">
                <a:latin typeface="Carlito"/>
                <a:cs typeface="Carlito"/>
              </a:rPr>
              <a:t>a </a:t>
            </a:r>
            <a:r>
              <a:rPr sz="2000" spc="-5" dirty="0">
                <a:latin typeface="Carlito"/>
                <a:cs typeface="Carlito"/>
              </a:rPr>
              <a:t>minimal </a:t>
            </a:r>
            <a:r>
              <a:rPr sz="2000" dirty="0">
                <a:latin typeface="Carlito"/>
                <a:cs typeface="Carlito"/>
              </a:rPr>
              <a:t>spanning </a:t>
            </a:r>
            <a:r>
              <a:rPr sz="2000" spc="-10" dirty="0">
                <a:latin typeface="Carlito"/>
                <a:cs typeface="Carlito"/>
              </a:rPr>
              <a:t>tree  </a:t>
            </a:r>
            <a:r>
              <a:rPr sz="2000" spc="-5" dirty="0">
                <a:latin typeface="Carlito"/>
                <a:cs typeface="Carlito"/>
              </a:rPr>
              <a:t>algorithm</a:t>
            </a:r>
            <a:endParaRPr sz="2000">
              <a:latin typeface="Carlito"/>
              <a:cs typeface="Carlito"/>
            </a:endParaRPr>
          </a:p>
          <a:p>
            <a:pPr marL="419100" marR="81280" indent="-342900">
              <a:lnSpc>
                <a:spcPts val="2160"/>
              </a:lnSpc>
              <a:spcBef>
                <a:spcPts val="509"/>
              </a:spcBef>
              <a:buFont typeface="Arial"/>
              <a:buChar char="•"/>
              <a:tabLst>
                <a:tab pos="418465" algn="l"/>
                <a:tab pos="419100" algn="l"/>
              </a:tabLst>
            </a:pPr>
            <a:r>
              <a:rPr sz="2000" dirty="0">
                <a:latin typeface="Carlito"/>
                <a:cs typeface="Carlito"/>
              </a:rPr>
              <a:t>When an </a:t>
            </a:r>
            <a:r>
              <a:rPr sz="2000" spc="-5" dirty="0">
                <a:latin typeface="Carlito"/>
                <a:cs typeface="Carlito"/>
              </a:rPr>
              <a:t>algorithm uses </a:t>
            </a:r>
            <a:r>
              <a:rPr sz="2000" dirty="0">
                <a:latin typeface="Carlito"/>
                <a:cs typeface="Carlito"/>
              </a:rPr>
              <a:t>the </a:t>
            </a:r>
            <a:r>
              <a:rPr sz="2000" spc="-5" dirty="0">
                <a:latin typeface="Carlito"/>
                <a:cs typeface="Carlito"/>
              </a:rPr>
              <a:t>maximum distance, </a:t>
            </a:r>
            <a:r>
              <a:rPr sz="2000" dirty="0">
                <a:latin typeface="Carlito"/>
                <a:cs typeface="Carlito"/>
              </a:rPr>
              <a:t>d</a:t>
            </a:r>
            <a:r>
              <a:rPr sz="1950" baseline="-21367" dirty="0">
                <a:latin typeface="Carlito"/>
                <a:cs typeface="Carlito"/>
              </a:rPr>
              <a:t>max</a:t>
            </a:r>
            <a:r>
              <a:rPr sz="2000" dirty="0">
                <a:latin typeface="Carlito"/>
                <a:cs typeface="Carlito"/>
              </a:rPr>
              <a:t>(C</a:t>
            </a:r>
            <a:r>
              <a:rPr sz="1950" baseline="-21367" dirty="0">
                <a:latin typeface="Carlito"/>
                <a:cs typeface="Carlito"/>
              </a:rPr>
              <a:t>i</a:t>
            </a:r>
            <a:r>
              <a:rPr sz="2000" dirty="0">
                <a:latin typeface="Carlito"/>
                <a:cs typeface="Carlito"/>
              </a:rPr>
              <a:t>,C</a:t>
            </a:r>
            <a:r>
              <a:rPr sz="1950" baseline="-21367" dirty="0">
                <a:latin typeface="Carlito"/>
                <a:cs typeface="Carlito"/>
              </a:rPr>
              <a:t>j</a:t>
            </a:r>
            <a:r>
              <a:rPr sz="2000" dirty="0">
                <a:latin typeface="Carlito"/>
                <a:cs typeface="Carlito"/>
              </a:rPr>
              <a:t>), </a:t>
            </a:r>
            <a:r>
              <a:rPr sz="2000" spc="-15" dirty="0">
                <a:latin typeface="Carlito"/>
                <a:cs typeface="Carlito"/>
              </a:rPr>
              <a:t>to </a:t>
            </a:r>
            <a:r>
              <a:rPr sz="2000" spc="-5" dirty="0">
                <a:latin typeface="Carlito"/>
                <a:cs typeface="Carlito"/>
              </a:rPr>
              <a:t>measure  </a:t>
            </a:r>
            <a:r>
              <a:rPr sz="2000" dirty="0">
                <a:latin typeface="Carlito"/>
                <a:cs typeface="Carlito"/>
              </a:rPr>
              <a:t>the </a:t>
            </a:r>
            <a:r>
              <a:rPr sz="2000" spc="-10" dirty="0">
                <a:latin typeface="Carlito"/>
                <a:cs typeface="Carlito"/>
              </a:rPr>
              <a:t>distance </a:t>
            </a:r>
            <a:r>
              <a:rPr sz="2000" spc="-5" dirty="0">
                <a:latin typeface="Carlito"/>
                <a:cs typeface="Carlito"/>
              </a:rPr>
              <a:t>between </a:t>
            </a:r>
            <a:r>
              <a:rPr sz="2000" spc="-10" dirty="0">
                <a:latin typeface="Carlito"/>
                <a:cs typeface="Carlito"/>
              </a:rPr>
              <a:t>clusters, </a:t>
            </a:r>
            <a:r>
              <a:rPr sz="2000" dirty="0">
                <a:latin typeface="Carlito"/>
                <a:cs typeface="Carlito"/>
              </a:rPr>
              <a:t>it </a:t>
            </a:r>
            <a:r>
              <a:rPr sz="2000" spc="-5" dirty="0">
                <a:latin typeface="Carlito"/>
                <a:cs typeface="Carlito"/>
              </a:rPr>
              <a:t>is sometimes called </a:t>
            </a:r>
            <a:r>
              <a:rPr sz="2000" dirty="0">
                <a:latin typeface="Carlito"/>
                <a:cs typeface="Carlito"/>
              </a:rPr>
              <a:t>a </a:t>
            </a:r>
            <a:r>
              <a:rPr sz="2000" spc="-10" dirty="0">
                <a:latin typeface="Carlito"/>
                <a:cs typeface="Carlito"/>
              </a:rPr>
              <a:t>farthest-neighbor  </a:t>
            </a:r>
            <a:r>
              <a:rPr sz="2000" spc="-5" dirty="0">
                <a:latin typeface="Carlito"/>
                <a:cs typeface="Carlito"/>
              </a:rPr>
              <a:t>clustering</a:t>
            </a:r>
            <a:r>
              <a:rPr sz="2000" dirty="0">
                <a:latin typeface="Carlito"/>
                <a:cs typeface="Carlito"/>
              </a:rPr>
              <a:t> </a:t>
            </a:r>
            <a:r>
              <a:rPr sz="2000" spc="-5" dirty="0">
                <a:latin typeface="Carlito"/>
                <a:cs typeface="Carlito"/>
              </a:rPr>
              <a:t>algorithm</a:t>
            </a:r>
            <a:endParaRPr sz="2000">
              <a:latin typeface="Carlito"/>
              <a:cs typeface="Carlito"/>
            </a:endParaRPr>
          </a:p>
          <a:p>
            <a:pPr marL="419100" marR="434975" indent="-342900">
              <a:lnSpc>
                <a:spcPts val="2160"/>
              </a:lnSpc>
              <a:spcBef>
                <a:spcPts val="480"/>
              </a:spcBef>
              <a:buFont typeface="Arial"/>
              <a:buChar char="•"/>
              <a:tabLst>
                <a:tab pos="418465" algn="l"/>
                <a:tab pos="419100" algn="l"/>
              </a:tabLst>
            </a:pPr>
            <a:r>
              <a:rPr sz="2000" dirty="0">
                <a:latin typeface="Carlito"/>
                <a:cs typeface="Carlito"/>
              </a:rPr>
              <a:t>If the </a:t>
            </a:r>
            <a:r>
              <a:rPr sz="2000" spc="-5" dirty="0">
                <a:latin typeface="Carlito"/>
                <a:cs typeface="Carlito"/>
              </a:rPr>
              <a:t>clustering process </a:t>
            </a:r>
            <a:r>
              <a:rPr sz="2000" dirty="0">
                <a:latin typeface="Carlito"/>
                <a:cs typeface="Carlito"/>
              </a:rPr>
              <a:t>is </a:t>
            </a:r>
            <a:r>
              <a:rPr sz="2000" spc="-10" dirty="0">
                <a:latin typeface="Carlito"/>
                <a:cs typeface="Carlito"/>
              </a:rPr>
              <a:t>terminated </a:t>
            </a:r>
            <a:r>
              <a:rPr sz="2000" dirty="0">
                <a:latin typeface="Carlito"/>
                <a:cs typeface="Carlito"/>
              </a:rPr>
              <a:t>when the </a:t>
            </a:r>
            <a:r>
              <a:rPr sz="2000" spc="-5" dirty="0">
                <a:latin typeface="Carlito"/>
                <a:cs typeface="Carlito"/>
              </a:rPr>
              <a:t>maximum </a:t>
            </a:r>
            <a:r>
              <a:rPr sz="2000" spc="-10" dirty="0">
                <a:latin typeface="Carlito"/>
                <a:cs typeface="Carlito"/>
              </a:rPr>
              <a:t>distance  </a:t>
            </a:r>
            <a:r>
              <a:rPr sz="2000" spc="-5" dirty="0">
                <a:latin typeface="Carlito"/>
                <a:cs typeface="Carlito"/>
              </a:rPr>
              <a:t>between </a:t>
            </a:r>
            <a:r>
              <a:rPr sz="2000" spc="-10" dirty="0">
                <a:latin typeface="Carlito"/>
                <a:cs typeface="Carlito"/>
              </a:rPr>
              <a:t>nearest clusters </a:t>
            </a:r>
            <a:r>
              <a:rPr sz="2000" spc="-15" dirty="0">
                <a:latin typeface="Carlito"/>
                <a:cs typeface="Carlito"/>
              </a:rPr>
              <a:t>exceeds </a:t>
            </a:r>
            <a:r>
              <a:rPr sz="2000" dirty="0">
                <a:latin typeface="Carlito"/>
                <a:cs typeface="Carlito"/>
              </a:rPr>
              <a:t>an </a:t>
            </a:r>
            <a:r>
              <a:rPr sz="2000" spc="-5" dirty="0">
                <a:latin typeface="Carlito"/>
                <a:cs typeface="Carlito"/>
              </a:rPr>
              <a:t>arbitrary </a:t>
            </a:r>
            <a:r>
              <a:rPr sz="2000" dirty="0">
                <a:latin typeface="Carlito"/>
                <a:cs typeface="Carlito"/>
              </a:rPr>
              <a:t>threshold, it </a:t>
            </a:r>
            <a:r>
              <a:rPr sz="2000" spc="-5" dirty="0">
                <a:latin typeface="Carlito"/>
                <a:cs typeface="Carlito"/>
              </a:rPr>
              <a:t>is called </a:t>
            </a:r>
            <a:r>
              <a:rPr sz="2000" dirty="0">
                <a:latin typeface="Carlito"/>
                <a:cs typeface="Carlito"/>
              </a:rPr>
              <a:t>a  </a:t>
            </a:r>
            <a:r>
              <a:rPr sz="2000" spc="-10" dirty="0">
                <a:latin typeface="Carlito"/>
                <a:cs typeface="Carlito"/>
              </a:rPr>
              <a:t>complete-linkage</a:t>
            </a:r>
            <a:r>
              <a:rPr sz="2000" spc="-5" dirty="0">
                <a:latin typeface="Carlito"/>
                <a:cs typeface="Carlito"/>
              </a:rPr>
              <a:t> algorithm</a:t>
            </a:r>
            <a:endParaRPr sz="2000">
              <a:latin typeface="Carlito"/>
              <a:cs typeface="Carlito"/>
            </a:endParaRPr>
          </a:p>
        </p:txBody>
      </p:sp>
      <p:sp>
        <p:nvSpPr>
          <p:cNvPr id="4" name="object 4"/>
          <p:cNvSpPr/>
          <p:nvPr/>
        </p:nvSpPr>
        <p:spPr>
          <a:xfrm>
            <a:off x="5268685" y="2388361"/>
            <a:ext cx="2372995" cy="114300"/>
          </a:xfrm>
          <a:custGeom>
            <a:avLst/>
            <a:gdLst/>
            <a:ahLst/>
            <a:cxnLst/>
            <a:rect l="l" t="t" r="r" b="b"/>
            <a:pathLst>
              <a:path w="2372995" h="114300">
                <a:moveTo>
                  <a:pt x="2325367" y="101313"/>
                </a:moveTo>
                <a:lnTo>
                  <a:pt x="2305213" y="105537"/>
                </a:lnTo>
                <a:lnTo>
                  <a:pt x="2302927" y="105791"/>
                </a:lnTo>
                <a:lnTo>
                  <a:pt x="2301403" y="107823"/>
                </a:lnTo>
                <a:lnTo>
                  <a:pt x="2301911" y="112395"/>
                </a:lnTo>
                <a:lnTo>
                  <a:pt x="2303816" y="114173"/>
                </a:lnTo>
                <a:lnTo>
                  <a:pt x="2327692" y="114173"/>
                </a:lnTo>
                <a:lnTo>
                  <a:pt x="2330105" y="113665"/>
                </a:lnTo>
                <a:lnTo>
                  <a:pt x="2347123" y="106934"/>
                </a:lnTo>
                <a:lnTo>
                  <a:pt x="2348393" y="106299"/>
                </a:lnTo>
                <a:lnTo>
                  <a:pt x="2355499" y="101981"/>
                </a:lnTo>
                <a:lnTo>
                  <a:pt x="2324263" y="101981"/>
                </a:lnTo>
                <a:lnTo>
                  <a:pt x="2325367" y="101313"/>
                </a:lnTo>
                <a:close/>
              </a:path>
              <a:path w="2372995" h="114300">
                <a:moveTo>
                  <a:pt x="2326422" y="101092"/>
                </a:moveTo>
                <a:lnTo>
                  <a:pt x="2325367" y="101313"/>
                </a:lnTo>
                <a:lnTo>
                  <a:pt x="2324263" y="101981"/>
                </a:lnTo>
                <a:lnTo>
                  <a:pt x="2326422" y="101092"/>
                </a:lnTo>
                <a:close/>
              </a:path>
              <a:path w="2372995" h="114300">
                <a:moveTo>
                  <a:pt x="2356962" y="101092"/>
                </a:moveTo>
                <a:lnTo>
                  <a:pt x="2326422" y="101092"/>
                </a:lnTo>
                <a:lnTo>
                  <a:pt x="2324263" y="101981"/>
                </a:lnTo>
                <a:lnTo>
                  <a:pt x="2355499" y="101981"/>
                </a:lnTo>
                <a:lnTo>
                  <a:pt x="2356962" y="101092"/>
                </a:lnTo>
                <a:close/>
              </a:path>
              <a:path w="2372995" h="114300">
                <a:moveTo>
                  <a:pt x="2339640" y="92680"/>
                </a:moveTo>
                <a:lnTo>
                  <a:pt x="2325367" y="101313"/>
                </a:lnTo>
                <a:lnTo>
                  <a:pt x="2326422" y="101092"/>
                </a:lnTo>
                <a:lnTo>
                  <a:pt x="2356962" y="101092"/>
                </a:lnTo>
                <a:lnTo>
                  <a:pt x="2358217" y="100330"/>
                </a:lnTo>
                <a:lnTo>
                  <a:pt x="2363174" y="97439"/>
                </a:lnTo>
                <a:lnTo>
                  <a:pt x="2352076" y="93980"/>
                </a:lnTo>
                <a:lnTo>
                  <a:pt x="2351484" y="93657"/>
                </a:lnTo>
                <a:lnTo>
                  <a:pt x="2350780" y="93472"/>
                </a:lnTo>
                <a:lnTo>
                  <a:pt x="2349205" y="93218"/>
                </a:lnTo>
                <a:lnTo>
                  <a:pt x="2338995" y="93218"/>
                </a:lnTo>
                <a:lnTo>
                  <a:pt x="2339640" y="92680"/>
                </a:lnTo>
                <a:close/>
              </a:path>
              <a:path w="2372995" h="114300">
                <a:moveTo>
                  <a:pt x="2358426" y="100203"/>
                </a:moveTo>
                <a:lnTo>
                  <a:pt x="2358172" y="100330"/>
                </a:lnTo>
                <a:lnTo>
                  <a:pt x="2358426" y="100203"/>
                </a:lnTo>
                <a:close/>
              </a:path>
              <a:path w="2372995" h="114300">
                <a:moveTo>
                  <a:pt x="2369169" y="94697"/>
                </a:moveTo>
                <a:lnTo>
                  <a:pt x="2365919" y="96266"/>
                </a:lnTo>
                <a:lnTo>
                  <a:pt x="2363174" y="97439"/>
                </a:lnTo>
                <a:lnTo>
                  <a:pt x="2364649" y="97662"/>
                </a:lnTo>
                <a:lnTo>
                  <a:pt x="2368840" y="95377"/>
                </a:lnTo>
                <a:lnTo>
                  <a:pt x="2369169" y="94697"/>
                </a:lnTo>
                <a:close/>
              </a:path>
              <a:path w="2372995" h="114300">
                <a:moveTo>
                  <a:pt x="2351730" y="93722"/>
                </a:moveTo>
                <a:lnTo>
                  <a:pt x="2351949" y="93853"/>
                </a:lnTo>
                <a:lnTo>
                  <a:pt x="2352203" y="94106"/>
                </a:lnTo>
                <a:lnTo>
                  <a:pt x="2352838" y="94487"/>
                </a:lnTo>
                <a:lnTo>
                  <a:pt x="2363174" y="97439"/>
                </a:lnTo>
                <a:lnTo>
                  <a:pt x="2363887" y="97028"/>
                </a:lnTo>
                <a:lnTo>
                  <a:pt x="2364141" y="97028"/>
                </a:lnTo>
                <a:lnTo>
                  <a:pt x="2365919" y="96266"/>
                </a:lnTo>
                <a:lnTo>
                  <a:pt x="2369169" y="94697"/>
                </a:lnTo>
                <a:lnTo>
                  <a:pt x="2369516" y="93980"/>
                </a:lnTo>
                <a:lnTo>
                  <a:pt x="2352711" y="93980"/>
                </a:lnTo>
                <a:lnTo>
                  <a:pt x="2351730" y="93722"/>
                </a:lnTo>
                <a:close/>
              </a:path>
              <a:path w="2372995" h="114300">
                <a:moveTo>
                  <a:pt x="2364141" y="97028"/>
                </a:moveTo>
                <a:lnTo>
                  <a:pt x="2363887" y="97028"/>
                </a:lnTo>
                <a:lnTo>
                  <a:pt x="2363252" y="97409"/>
                </a:lnTo>
                <a:lnTo>
                  <a:pt x="2364141" y="97028"/>
                </a:lnTo>
                <a:close/>
              </a:path>
              <a:path w="2372995" h="114300">
                <a:moveTo>
                  <a:pt x="2371762" y="89187"/>
                </a:moveTo>
                <a:lnTo>
                  <a:pt x="2370683" y="91567"/>
                </a:lnTo>
                <a:lnTo>
                  <a:pt x="2369169" y="94697"/>
                </a:lnTo>
                <a:lnTo>
                  <a:pt x="2369602" y="94487"/>
                </a:lnTo>
                <a:lnTo>
                  <a:pt x="2371814" y="90678"/>
                </a:lnTo>
                <a:lnTo>
                  <a:pt x="2371762" y="89187"/>
                </a:lnTo>
                <a:close/>
              </a:path>
              <a:path w="2372995" h="114300">
                <a:moveTo>
                  <a:pt x="2351484" y="93657"/>
                </a:moveTo>
                <a:lnTo>
                  <a:pt x="2352076" y="93980"/>
                </a:lnTo>
                <a:lnTo>
                  <a:pt x="2351661" y="93703"/>
                </a:lnTo>
                <a:lnTo>
                  <a:pt x="2351484" y="93657"/>
                </a:lnTo>
                <a:close/>
              </a:path>
              <a:path w="2372995" h="114300">
                <a:moveTo>
                  <a:pt x="2351661" y="93703"/>
                </a:moveTo>
                <a:lnTo>
                  <a:pt x="2352076" y="93980"/>
                </a:lnTo>
                <a:lnTo>
                  <a:pt x="2351949" y="93853"/>
                </a:lnTo>
                <a:lnTo>
                  <a:pt x="2351730" y="93722"/>
                </a:lnTo>
                <a:close/>
              </a:path>
              <a:path w="2372995" h="114300">
                <a:moveTo>
                  <a:pt x="2351695" y="93599"/>
                </a:moveTo>
                <a:lnTo>
                  <a:pt x="2351525" y="93599"/>
                </a:lnTo>
                <a:lnTo>
                  <a:pt x="2351730" y="93722"/>
                </a:lnTo>
                <a:lnTo>
                  <a:pt x="2352711" y="93980"/>
                </a:lnTo>
                <a:lnTo>
                  <a:pt x="2351695" y="93599"/>
                </a:lnTo>
                <a:close/>
              </a:path>
              <a:path w="2372995" h="114300">
                <a:moveTo>
                  <a:pt x="2369884" y="93218"/>
                </a:moveTo>
                <a:lnTo>
                  <a:pt x="2350679" y="93218"/>
                </a:lnTo>
                <a:lnTo>
                  <a:pt x="2352711" y="93980"/>
                </a:lnTo>
                <a:lnTo>
                  <a:pt x="2369516" y="93980"/>
                </a:lnTo>
                <a:lnTo>
                  <a:pt x="2369884" y="93218"/>
                </a:lnTo>
                <a:close/>
              </a:path>
              <a:path w="2372995" h="114300">
                <a:moveTo>
                  <a:pt x="2351484" y="93585"/>
                </a:moveTo>
                <a:lnTo>
                  <a:pt x="2351661" y="93703"/>
                </a:lnTo>
                <a:lnTo>
                  <a:pt x="2351484" y="93585"/>
                </a:lnTo>
                <a:close/>
              </a:path>
              <a:path w="2372995" h="114300">
                <a:moveTo>
                  <a:pt x="2351297" y="93555"/>
                </a:moveTo>
                <a:lnTo>
                  <a:pt x="2351484" y="93657"/>
                </a:lnTo>
                <a:lnTo>
                  <a:pt x="2351661" y="93703"/>
                </a:lnTo>
                <a:lnTo>
                  <a:pt x="2351455" y="93580"/>
                </a:lnTo>
                <a:lnTo>
                  <a:pt x="2351297" y="93555"/>
                </a:lnTo>
                <a:close/>
              </a:path>
              <a:path w="2372995" h="114300">
                <a:moveTo>
                  <a:pt x="2350780" y="93472"/>
                </a:moveTo>
                <a:lnTo>
                  <a:pt x="2351484" y="93657"/>
                </a:lnTo>
                <a:lnTo>
                  <a:pt x="2351297" y="93555"/>
                </a:lnTo>
                <a:lnTo>
                  <a:pt x="2350780" y="93472"/>
                </a:lnTo>
                <a:close/>
              </a:path>
              <a:path w="2372995" h="114300">
                <a:moveTo>
                  <a:pt x="2351510" y="93589"/>
                </a:moveTo>
                <a:close/>
              </a:path>
              <a:path w="2372995" h="114300">
                <a:moveTo>
                  <a:pt x="2351356" y="93472"/>
                </a:moveTo>
                <a:lnTo>
                  <a:pt x="2351568" y="93599"/>
                </a:lnTo>
                <a:lnTo>
                  <a:pt x="2351356" y="93472"/>
                </a:lnTo>
                <a:close/>
              </a:path>
              <a:path w="2372995" h="114300">
                <a:moveTo>
                  <a:pt x="2350679" y="93218"/>
                </a:moveTo>
                <a:lnTo>
                  <a:pt x="2351267" y="93538"/>
                </a:lnTo>
                <a:lnTo>
                  <a:pt x="2351477" y="93580"/>
                </a:lnTo>
                <a:lnTo>
                  <a:pt x="2350679" y="93218"/>
                </a:lnTo>
                <a:close/>
              </a:path>
              <a:path w="2372995" h="114300">
                <a:moveTo>
                  <a:pt x="2350298" y="93345"/>
                </a:moveTo>
                <a:lnTo>
                  <a:pt x="2350780" y="93472"/>
                </a:lnTo>
                <a:lnTo>
                  <a:pt x="2351297" y="93555"/>
                </a:lnTo>
                <a:lnTo>
                  <a:pt x="2350298" y="93345"/>
                </a:lnTo>
                <a:close/>
              </a:path>
              <a:path w="2372995" h="114300">
                <a:moveTo>
                  <a:pt x="2350911" y="93345"/>
                </a:moveTo>
                <a:lnTo>
                  <a:pt x="2350298" y="93345"/>
                </a:lnTo>
                <a:lnTo>
                  <a:pt x="2351267" y="93538"/>
                </a:lnTo>
                <a:lnTo>
                  <a:pt x="2350911" y="93345"/>
                </a:lnTo>
                <a:close/>
              </a:path>
              <a:path w="2372995" h="114300">
                <a:moveTo>
                  <a:pt x="2360077" y="76962"/>
                </a:moveTo>
                <a:lnTo>
                  <a:pt x="2356521" y="79375"/>
                </a:lnTo>
                <a:lnTo>
                  <a:pt x="2353981" y="81025"/>
                </a:lnTo>
                <a:lnTo>
                  <a:pt x="2353473" y="81406"/>
                </a:lnTo>
                <a:lnTo>
                  <a:pt x="2348266" y="85598"/>
                </a:lnTo>
                <a:lnTo>
                  <a:pt x="2340409" y="92039"/>
                </a:lnTo>
                <a:lnTo>
                  <a:pt x="2343567" y="92456"/>
                </a:lnTo>
                <a:lnTo>
                  <a:pt x="2347631" y="92964"/>
                </a:lnTo>
                <a:lnTo>
                  <a:pt x="2350780" y="93472"/>
                </a:lnTo>
                <a:lnTo>
                  <a:pt x="2350298" y="93345"/>
                </a:lnTo>
                <a:lnTo>
                  <a:pt x="2350911" y="93345"/>
                </a:lnTo>
                <a:lnTo>
                  <a:pt x="2350679" y="93218"/>
                </a:lnTo>
                <a:lnTo>
                  <a:pt x="2369884" y="93218"/>
                </a:lnTo>
                <a:lnTo>
                  <a:pt x="2370745" y="91440"/>
                </a:lnTo>
                <a:lnTo>
                  <a:pt x="2371762" y="89187"/>
                </a:lnTo>
                <a:lnTo>
                  <a:pt x="2371167" y="82747"/>
                </a:lnTo>
                <a:lnTo>
                  <a:pt x="2366212" y="78458"/>
                </a:lnTo>
                <a:lnTo>
                  <a:pt x="2363379" y="77851"/>
                </a:lnTo>
                <a:lnTo>
                  <a:pt x="2363252" y="77851"/>
                </a:lnTo>
                <a:lnTo>
                  <a:pt x="2362109" y="77597"/>
                </a:lnTo>
                <a:lnTo>
                  <a:pt x="2362680" y="77597"/>
                </a:lnTo>
                <a:lnTo>
                  <a:pt x="2362490" y="77470"/>
                </a:lnTo>
                <a:lnTo>
                  <a:pt x="2361855" y="77216"/>
                </a:lnTo>
                <a:lnTo>
                  <a:pt x="2361597" y="77044"/>
                </a:lnTo>
                <a:lnTo>
                  <a:pt x="2360077" y="76962"/>
                </a:lnTo>
                <a:close/>
              </a:path>
              <a:path w="2372995" h="114300">
                <a:moveTo>
                  <a:pt x="2340011" y="92456"/>
                </a:moveTo>
                <a:lnTo>
                  <a:pt x="2339640" y="92680"/>
                </a:lnTo>
                <a:lnTo>
                  <a:pt x="2338995" y="93218"/>
                </a:lnTo>
                <a:lnTo>
                  <a:pt x="2340011" y="92456"/>
                </a:lnTo>
                <a:close/>
              </a:path>
              <a:path w="2372995" h="114300">
                <a:moveTo>
                  <a:pt x="2343440" y="92456"/>
                </a:moveTo>
                <a:lnTo>
                  <a:pt x="2340011" y="92456"/>
                </a:lnTo>
                <a:lnTo>
                  <a:pt x="2338995" y="93218"/>
                </a:lnTo>
                <a:lnTo>
                  <a:pt x="2349205" y="93218"/>
                </a:lnTo>
                <a:lnTo>
                  <a:pt x="2347631" y="92964"/>
                </a:lnTo>
                <a:lnTo>
                  <a:pt x="2343440" y="92456"/>
                </a:lnTo>
                <a:close/>
              </a:path>
              <a:path w="2372995" h="114300">
                <a:moveTo>
                  <a:pt x="2340409" y="92039"/>
                </a:moveTo>
                <a:lnTo>
                  <a:pt x="2339640" y="92680"/>
                </a:lnTo>
                <a:lnTo>
                  <a:pt x="2340011" y="92456"/>
                </a:lnTo>
                <a:lnTo>
                  <a:pt x="2343567" y="92456"/>
                </a:lnTo>
                <a:lnTo>
                  <a:pt x="2340409" y="92039"/>
                </a:lnTo>
                <a:close/>
              </a:path>
              <a:path w="2372995" h="114300">
                <a:moveTo>
                  <a:pt x="2357269" y="78867"/>
                </a:moveTo>
                <a:lnTo>
                  <a:pt x="2193199" y="78867"/>
                </a:lnTo>
                <a:lnTo>
                  <a:pt x="2239046" y="82168"/>
                </a:lnTo>
                <a:lnTo>
                  <a:pt x="2259493" y="83820"/>
                </a:lnTo>
                <a:lnTo>
                  <a:pt x="2293910" y="86995"/>
                </a:lnTo>
                <a:lnTo>
                  <a:pt x="2308515" y="88392"/>
                </a:lnTo>
                <a:lnTo>
                  <a:pt x="2319945" y="89662"/>
                </a:lnTo>
                <a:lnTo>
                  <a:pt x="2329470" y="90678"/>
                </a:lnTo>
                <a:lnTo>
                  <a:pt x="2336836" y="91567"/>
                </a:lnTo>
                <a:lnTo>
                  <a:pt x="2340409" y="92039"/>
                </a:lnTo>
                <a:lnTo>
                  <a:pt x="2348139" y="85598"/>
                </a:lnTo>
                <a:lnTo>
                  <a:pt x="2353473" y="81406"/>
                </a:lnTo>
                <a:lnTo>
                  <a:pt x="2353981" y="81025"/>
                </a:lnTo>
                <a:lnTo>
                  <a:pt x="2356521" y="79375"/>
                </a:lnTo>
                <a:lnTo>
                  <a:pt x="2357269" y="78867"/>
                </a:lnTo>
                <a:close/>
              </a:path>
              <a:path w="2372995" h="114300">
                <a:moveTo>
                  <a:pt x="2371167" y="82747"/>
                </a:moveTo>
                <a:lnTo>
                  <a:pt x="2371762" y="89187"/>
                </a:lnTo>
                <a:lnTo>
                  <a:pt x="2372523" y="87503"/>
                </a:lnTo>
                <a:lnTo>
                  <a:pt x="2371380" y="82931"/>
                </a:lnTo>
                <a:lnTo>
                  <a:pt x="2371167" y="82747"/>
                </a:lnTo>
                <a:close/>
              </a:path>
              <a:path w="2372995" h="114300">
                <a:moveTo>
                  <a:pt x="2366212" y="78458"/>
                </a:moveTo>
                <a:lnTo>
                  <a:pt x="2371167" y="82747"/>
                </a:lnTo>
                <a:lnTo>
                  <a:pt x="2371126" y="82296"/>
                </a:lnTo>
                <a:lnTo>
                  <a:pt x="2368078" y="78867"/>
                </a:lnTo>
                <a:lnTo>
                  <a:pt x="2366212" y="78458"/>
                </a:lnTo>
                <a:close/>
              </a:path>
              <a:path w="2372995" h="114300">
                <a:moveTo>
                  <a:pt x="176072" y="10414"/>
                </a:moveTo>
                <a:lnTo>
                  <a:pt x="31670" y="10419"/>
                </a:lnTo>
                <a:lnTo>
                  <a:pt x="37247" y="10541"/>
                </a:lnTo>
                <a:lnTo>
                  <a:pt x="36866" y="10541"/>
                </a:lnTo>
                <a:lnTo>
                  <a:pt x="42327" y="11049"/>
                </a:lnTo>
                <a:lnTo>
                  <a:pt x="49185" y="11556"/>
                </a:lnTo>
                <a:lnTo>
                  <a:pt x="56805" y="12318"/>
                </a:lnTo>
                <a:lnTo>
                  <a:pt x="84872" y="14605"/>
                </a:lnTo>
                <a:lnTo>
                  <a:pt x="95032" y="15493"/>
                </a:lnTo>
                <a:lnTo>
                  <a:pt x="129957" y="18161"/>
                </a:lnTo>
                <a:lnTo>
                  <a:pt x="143927" y="19431"/>
                </a:lnTo>
                <a:lnTo>
                  <a:pt x="158024" y="20320"/>
                </a:lnTo>
                <a:lnTo>
                  <a:pt x="173391" y="21590"/>
                </a:lnTo>
                <a:lnTo>
                  <a:pt x="313726" y="31368"/>
                </a:lnTo>
                <a:lnTo>
                  <a:pt x="395260" y="35814"/>
                </a:lnTo>
                <a:lnTo>
                  <a:pt x="487462" y="39497"/>
                </a:lnTo>
                <a:lnTo>
                  <a:pt x="609636" y="42799"/>
                </a:lnTo>
                <a:lnTo>
                  <a:pt x="1611158" y="53721"/>
                </a:lnTo>
                <a:lnTo>
                  <a:pt x="1861475" y="61595"/>
                </a:lnTo>
                <a:lnTo>
                  <a:pt x="2091853" y="73025"/>
                </a:lnTo>
                <a:lnTo>
                  <a:pt x="2091726" y="73025"/>
                </a:lnTo>
                <a:lnTo>
                  <a:pt x="2117507" y="74422"/>
                </a:lnTo>
                <a:lnTo>
                  <a:pt x="2168434" y="77343"/>
                </a:lnTo>
                <a:lnTo>
                  <a:pt x="2193326" y="78993"/>
                </a:lnTo>
                <a:lnTo>
                  <a:pt x="2357269" y="78867"/>
                </a:lnTo>
                <a:lnTo>
                  <a:pt x="2360077" y="76962"/>
                </a:lnTo>
                <a:lnTo>
                  <a:pt x="2361474" y="76962"/>
                </a:lnTo>
                <a:lnTo>
                  <a:pt x="2360839" y="76708"/>
                </a:lnTo>
                <a:lnTo>
                  <a:pt x="2360458" y="76581"/>
                </a:lnTo>
                <a:lnTo>
                  <a:pt x="2359061" y="75946"/>
                </a:lnTo>
                <a:lnTo>
                  <a:pt x="2357283" y="75311"/>
                </a:lnTo>
                <a:lnTo>
                  <a:pt x="2354743" y="74803"/>
                </a:lnTo>
                <a:lnTo>
                  <a:pt x="2353600" y="74675"/>
                </a:lnTo>
                <a:lnTo>
                  <a:pt x="2349663" y="74422"/>
                </a:lnTo>
                <a:lnTo>
                  <a:pt x="2345345" y="74041"/>
                </a:lnTo>
                <a:lnTo>
                  <a:pt x="2331248" y="72898"/>
                </a:lnTo>
                <a:lnTo>
                  <a:pt x="2295434" y="69723"/>
                </a:lnTo>
                <a:lnTo>
                  <a:pt x="2194342" y="62356"/>
                </a:lnTo>
                <a:lnTo>
                  <a:pt x="1891955" y="46990"/>
                </a:lnTo>
                <a:lnTo>
                  <a:pt x="1673515" y="39497"/>
                </a:lnTo>
                <a:lnTo>
                  <a:pt x="1264829" y="33655"/>
                </a:lnTo>
                <a:lnTo>
                  <a:pt x="1049564" y="32893"/>
                </a:lnTo>
                <a:lnTo>
                  <a:pt x="689011" y="30225"/>
                </a:lnTo>
                <a:lnTo>
                  <a:pt x="584744" y="28956"/>
                </a:lnTo>
                <a:lnTo>
                  <a:pt x="487843" y="26670"/>
                </a:lnTo>
                <a:lnTo>
                  <a:pt x="464475" y="26162"/>
                </a:lnTo>
                <a:lnTo>
                  <a:pt x="395768" y="23241"/>
                </a:lnTo>
                <a:lnTo>
                  <a:pt x="295311" y="18034"/>
                </a:lnTo>
                <a:lnTo>
                  <a:pt x="176072" y="10414"/>
                </a:lnTo>
                <a:close/>
              </a:path>
              <a:path w="2372995" h="114300">
                <a:moveTo>
                  <a:pt x="2361597" y="77044"/>
                </a:moveTo>
                <a:lnTo>
                  <a:pt x="2361855" y="77216"/>
                </a:lnTo>
                <a:lnTo>
                  <a:pt x="2362490" y="77470"/>
                </a:lnTo>
                <a:lnTo>
                  <a:pt x="2362807" y="77660"/>
                </a:lnTo>
                <a:lnTo>
                  <a:pt x="2363379" y="77851"/>
                </a:lnTo>
                <a:lnTo>
                  <a:pt x="2366212" y="78458"/>
                </a:lnTo>
                <a:lnTo>
                  <a:pt x="2364776" y="77216"/>
                </a:lnTo>
                <a:lnTo>
                  <a:pt x="2361597" y="77044"/>
                </a:lnTo>
                <a:close/>
              </a:path>
              <a:path w="2372995" h="114300">
                <a:moveTo>
                  <a:pt x="2363125" y="77800"/>
                </a:moveTo>
                <a:lnTo>
                  <a:pt x="2363379" y="77851"/>
                </a:lnTo>
                <a:lnTo>
                  <a:pt x="2363125" y="77800"/>
                </a:lnTo>
                <a:close/>
              </a:path>
              <a:path w="2372995" h="114300">
                <a:moveTo>
                  <a:pt x="2362744" y="77639"/>
                </a:moveTo>
                <a:lnTo>
                  <a:pt x="2363125" y="77800"/>
                </a:lnTo>
                <a:lnTo>
                  <a:pt x="2363379" y="77851"/>
                </a:lnTo>
                <a:lnTo>
                  <a:pt x="2362744" y="77639"/>
                </a:lnTo>
                <a:close/>
              </a:path>
              <a:path w="2372995" h="114300">
                <a:moveTo>
                  <a:pt x="2362934" y="77724"/>
                </a:moveTo>
                <a:lnTo>
                  <a:pt x="2362744" y="77724"/>
                </a:lnTo>
                <a:lnTo>
                  <a:pt x="2363125" y="77800"/>
                </a:lnTo>
                <a:lnTo>
                  <a:pt x="2362934" y="77724"/>
                </a:lnTo>
                <a:close/>
              </a:path>
              <a:path w="2372995" h="114300">
                <a:moveTo>
                  <a:pt x="2362617" y="77597"/>
                </a:moveTo>
                <a:lnTo>
                  <a:pt x="2362109" y="77597"/>
                </a:lnTo>
                <a:lnTo>
                  <a:pt x="2362744" y="77724"/>
                </a:lnTo>
                <a:close/>
              </a:path>
              <a:path w="2372995" h="114300">
                <a:moveTo>
                  <a:pt x="2362775" y="77660"/>
                </a:moveTo>
                <a:lnTo>
                  <a:pt x="2362934" y="77724"/>
                </a:lnTo>
                <a:lnTo>
                  <a:pt x="2362775" y="77660"/>
                </a:lnTo>
                <a:close/>
              </a:path>
              <a:path w="2372995" h="114300">
                <a:moveTo>
                  <a:pt x="2362680" y="77597"/>
                </a:moveTo>
                <a:close/>
              </a:path>
              <a:path w="2372995" h="114300">
                <a:moveTo>
                  <a:pt x="2361474" y="76962"/>
                </a:moveTo>
                <a:lnTo>
                  <a:pt x="2360077" y="76962"/>
                </a:lnTo>
                <a:lnTo>
                  <a:pt x="2361597" y="77044"/>
                </a:lnTo>
                <a:close/>
              </a:path>
              <a:path w="2372995" h="114300">
                <a:moveTo>
                  <a:pt x="1016" y="11087"/>
                </a:moveTo>
                <a:lnTo>
                  <a:pt x="1306" y="11811"/>
                </a:lnTo>
                <a:lnTo>
                  <a:pt x="2872" y="16764"/>
                </a:lnTo>
                <a:lnTo>
                  <a:pt x="2957" y="17399"/>
                </a:lnTo>
                <a:lnTo>
                  <a:pt x="3465" y="18542"/>
                </a:lnTo>
                <a:lnTo>
                  <a:pt x="5086" y="23241"/>
                </a:lnTo>
                <a:lnTo>
                  <a:pt x="5624" y="24637"/>
                </a:lnTo>
                <a:lnTo>
                  <a:pt x="7402" y="25781"/>
                </a:lnTo>
                <a:lnTo>
                  <a:pt x="9180" y="25146"/>
                </a:lnTo>
                <a:lnTo>
                  <a:pt x="10831" y="24637"/>
                </a:lnTo>
                <a:lnTo>
                  <a:pt x="11847" y="22733"/>
                </a:lnTo>
                <a:lnTo>
                  <a:pt x="10831" y="18542"/>
                </a:lnTo>
                <a:lnTo>
                  <a:pt x="10450" y="15748"/>
                </a:lnTo>
                <a:lnTo>
                  <a:pt x="10323" y="14097"/>
                </a:lnTo>
                <a:lnTo>
                  <a:pt x="10173" y="12573"/>
                </a:lnTo>
                <a:lnTo>
                  <a:pt x="7275" y="12573"/>
                </a:lnTo>
                <a:lnTo>
                  <a:pt x="6005" y="12446"/>
                </a:lnTo>
                <a:lnTo>
                  <a:pt x="5497" y="12446"/>
                </a:lnTo>
                <a:lnTo>
                  <a:pt x="4354" y="12318"/>
                </a:lnTo>
                <a:lnTo>
                  <a:pt x="1814" y="11937"/>
                </a:lnTo>
                <a:lnTo>
                  <a:pt x="1016" y="11087"/>
                </a:lnTo>
                <a:close/>
              </a:path>
              <a:path w="2372995" h="114300">
                <a:moveTo>
                  <a:pt x="10704" y="18034"/>
                </a:moveTo>
                <a:lnTo>
                  <a:pt x="10704" y="18415"/>
                </a:lnTo>
                <a:lnTo>
                  <a:pt x="10704" y="18034"/>
                </a:lnTo>
                <a:close/>
              </a:path>
              <a:path w="2372995" h="114300">
                <a:moveTo>
                  <a:pt x="10577" y="16764"/>
                </a:moveTo>
                <a:lnTo>
                  <a:pt x="10577" y="17018"/>
                </a:lnTo>
                <a:lnTo>
                  <a:pt x="10577" y="16764"/>
                </a:lnTo>
                <a:close/>
              </a:path>
              <a:path w="2372995" h="114300">
                <a:moveTo>
                  <a:pt x="31659" y="0"/>
                </a:moveTo>
                <a:lnTo>
                  <a:pt x="31278" y="0"/>
                </a:lnTo>
                <a:lnTo>
                  <a:pt x="26071" y="381"/>
                </a:lnTo>
                <a:lnTo>
                  <a:pt x="21880" y="762"/>
                </a:lnTo>
                <a:lnTo>
                  <a:pt x="14641" y="1650"/>
                </a:lnTo>
                <a:lnTo>
                  <a:pt x="11974" y="1905"/>
                </a:lnTo>
                <a:lnTo>
                  <a:pt x="9942" y="2159"/>
                </a:lnTo>
                <a:lnTo>
                  <a:pt x="8418" y="2286"/>
                </a:lnTo>
                <a:lnTo>
                  <a:pt x="7021" y="2286"/>
                </a:lnTo>
                <a:lnTo>
                  <a:pt x="5624" y="2412"/>
                </a:lnTo>
                <a:lnTo>
                  <a:pt x="5370" y="2540"/>
                </a:lnTo>
                <a:lnTo>
                  <a:pt x="4227" y="2667"/>
                </a:lnTo>
                <a:lnTo>
                  <a:pt x="0" y="7996"/>
                </a:lnTo>
                <a:lnTo>
                  <a:pt x="417" y="9143"/>
                </a:lnTo>
                <a:lnTo>
                  <a:pt x="848" y="10668"/>
                </a:lnTo>
                <a:lnTo>
                  <a:pt x="1016" y="11087"/>
                </a:lnTo>
                <a:lnTo>
                  <a:pt x="1814" y="11937"/>
                </a:lnTo>
                <a:lnTo>
                  <a:pt x="4354" y="12318"/>
                </a:lnTo>
                <a:lnTo>
                  <a:pt x="5497" y="12446"/>
                </a:lnTo>
                <a:lnTo>
                  <a:pt x="6005" y="12446"/>
                </a:lnTo>
                <a:lnTo>
                  <a:pt x="7275" y="12573"/>
                </a:lnTo>
                <a:lnTo>
                  <a:pt x="7656" y="12573"/>
                </a:lnTo>
                <a:lnTo>
                  <a:pt x="10154" y="12367"/>
                </a:lnTo>
                <a:lnTo>
                  <a:pt x="10058" y="9906"/>
                </a:lnTo>
                <a:lnTo>
                  <a:pt x="9561" y="4572"/>
                </a:lnTo>
                <a:lnTo>
                  <a:pt x="7402" y="2540"/>
                </a:lnTo>
                <a:lnTo>
                  <a:pt x="70317" y="2540"/>
                </a:lnTo>
                <a:lnTo>
                  <a:pt x="66711" y="2286"/>
                </a:lnTo>
                <a:lnTo>
                  <a:pt x="57567" y="1524"/>
                </a:lnTo>
                <a:lnTo>
                  <a:pt x="37755" y="127"/>
                </a:lnTo>
                <a:lnTo>
                  <a:pt x="31659" y="0"/>
                </a:lnTo>
                <a:close/>
              </a:path>
              <a:path w="2372995" h="114300">
                <a:moveTo>
                  <a:pt x="10154" y="12367"/>
                </a:moveTo>
                <a:lnTo>
                  <a:pt x="7656" y="12573"/>
                </a:lnTo>
                <a:lnTo>
                  <a:pt x="10173" y="12573"/>
                </a:lnTo>
                <a:lnTo>
                  <a:pt x="10154" y="12367"/>
                </a:lnTo>
                <a:close/>
              </a:path>
              <a:path w="2372995" h="114300">
                <a:moveTo>
                  <a:pt x="70317" y="2540"/>
                </a:moveTo>
                <a:lnTo>
                  <a:pt x="7402" y="2540"/>
                </a:lnTo>
                <a:lnTo>
                  <a:pt x="9561" y="4572"/>
                </a:lnTo>
                <a:lnTo>
                  <a:pt x="10058" y="9906"/>
                </a:lnTo>
                <a:lnTo>
                  <a:pt x="10154" y="12367"/>
                </a:lnTo>
                <a:lnTo>
                  <a:pt x="10831" y="12318"/>
                </a:lnTo>
                <a:lnTo>
                  <a:pt x="10958" y="12318"/>
                </a:lnTo>
                <a:lnTo>
                  <a:pt x="12990" y="12065"/>
                </a:lnTo>
                <a:lnTo>
                  <a:pt x="15911" y="11811"/>
                </a:lnTo>
                <a:lnTo>
                  <a:pt x="23023" y="10922"/>
                </a:lnTo>
                <a:lnTo>
                  <a:pt x="26960" y="10541"/>
                </a:lnTo>
                <a:lnTo>
                  <a:pt x="29246" y="10541"/>
                </a:lnTo>
                <a:lnTo>
                  <a:pt x="31670" y="10419"/>
                </a:lnTo>
                <a:lnTo>
                  <a:pt x="31405" y="10414"/>
                </a:lnTo>
                <a:lnTo>
                  <a:pt x="176072" y="10414"/>
                </a:lnTo>
                <a:lnTo>
                  <a:pt x="70317" y="2540"/>
                </a:lnTo>
                <a:close/>
              </a:path>
              <a:path w="2372995" h="114300">
                <a:moveTo>
                  <a:pt x="0" y="7996"/>
                </a:moveTo>
                <a:lnTo>
                  <a:pt x="28" y="10033"/>
                </a:lnTo>
                <a:lnTo>
                  <a:pt x="1016" y="11087"/>
                </a:lnTo>
                <a:lnTo>
                  <a:pt x="848" y="10668"/>
                </a:lnTo>
                <a:lnTo>
                  <a:pt x="417" y="9143"/>
                </a:lnTo>
                <a:lnTo>
                  <a:pt x="0" y="7996"/>
                </a:lnTo>
                <a:close/>
              </a:path>
              <a:path w="2372995" h="114300">
                <a:moveTo>
                  <a:pt x="29246" y="10541"/>
                </a:moveTo>
                <a:lnTo>
                  <a:pt x="26960" y="10541"/>
                </a:lnTo>
                <a:lnTo>
                  <a:pt x="26706" y="10668"/>
                </a:lnTo>
                <a:lnTo>
                  <a:pt x="29246" y="10541"/>
                </a:lnTo>
                <a:close/>
              </a:path>
              <a:path w="2372995" h="114300">
                <a:moveTo>
                  <a:pt x="158" y="6019"/>
                </a:moveTo>
                <a:lnTo>
                  <a:pt x="36" y="6223"/>
                </a:lnTo>
                <a:lnTo>
                  <a:pt x="0" y="7996"/>
                </a:lnTo>
                <a:lnTo>
                  <a:pt x="48" y="7112"/>
                </a:lnTo>
                <a:lnTo>
                  <a:pt x="158" y="6019"/>
                </a:lnTo>
                <a:close/>
              </a:path>
              <a:path w="2372995" h="114300">
                <a:moveTo>
                  <a:pt x="5370" y="2540"/>
                </a:moveTo>
                <a:lnTo>
                  <a:pt x="4862" y="2540"/>
                </a:lnTo>
                <a:lnTo>
                  <a:pt x="2322" y="2667"/>
                </a:lnTo>
                <a:lnTo>
                  <a:pt x="290" y="4699"/>
                </a:lnTo>
                <a:lnTo>
                  <a:pt x="158" y="6019"/>
                </a:lnTo>
                <a:lnTo>
                  <a:pt x="1560" y="3683"/>
                </a:lnTo>
                <a:lnTo>
                  <a:pt x="2830" y="2921"/>
                </a:lnTo>
                <a:lnTo>
                  <a:pt x="4227" y="2667"/>
                </a:lnTo>
                <a:lnTo>
                  <a:pt x="5370" y="2540"/>
                </a:lnTo>
                <a:close/>
              </a:path>
            </a:pathLst>
          </a:custGeom>
          <a:solidFill>
            <a:srgbClr val="FF0000"/>
          </a:solidFill>
        </p:spPr>
        <p:txBody>
          <a:bodyPr wrap="square" lIns="0" tIns="0" rIns="0" bIns="0" rtlCol="0"/>
          <a:lstStyle/>
          <a:p>
            <a:endParaRPr/>
          </a:p>
        </p:txBody>
      </p:sp>
      <p:sp>
        <p:nvSpPr>
          <p:cNvPr id="5" name="object 5"/>
          <p:cNvSpPr/>
          <p:nvPr/>
        </p:nvSpPr>
        <p:spPr>
          <a:xfrm>
            <a:off x="856517" y="2657855"/>
            <a:ext cx="1018540" cy="43180"/>
          </a:xfrm>
          <a:custGeom>
            <a:avLst/>
            <a:gdLst/>
            <a:ahLst/>
            <a:cxnLst/>
            <a:rect l="l" t="t" r="r" b="b"/>
            <a:pathLst>
              <a:path w="1018539" h="43180">
                <a:moveTo>
                  <a:pt x="517894" y="12826"/>
                </a:moveTo>
                <a:lnTo>
                  <a:pt x="258643" y="12826"/>
                </a:lnTo>
                <a:lnTo>
                  <a:pt x="273375" y="12954"/>
                </a:lnTo>
                <a:lnTo>
                  <a:pt x="288057" y="13207"/>
                </a:lnTo>
                <a:lnTo>
                  <a:pt x="303106" y="13588"/>
                </a:lnTo>
                <a:lnTo>
                  <a:pt x="317800" y="14096"/>
                </a:lnTo>
                <a:lnTo>
                  <a:pt x="332545" y="14731"/>
                </a:lnTo>
                <a:lnTo>
                  <a:pt x="348382" y="15493"/>
                </a:lnTo>
                <a:lnTo>
                  <a:pt x="364942" y="16256"/>
                </a:lnTo>
                <a:lnTo>
                  <a:pt x="381186" y="17144"/>
                </a:lnTo>
                <a:lnTo>
                  <a:pt x="452090" y="20955"/>
                </a:lnTo>
                <a:lnTo>
                  <a:pt x="469489" y="21717"/>
                </a:lnTo>
                <a:lnTo>
                  <a:pt x="682849" y="33274"/>
                </a:lnTo>
                <a:lnTo>
                  <a:pt x="775432" y="40005"/>
                </a:lnTo>
                <a:lnTo>
                  <a:pt x="794736" y="41275"/>
                </a:lnTo>
                <a:lnTo>
                  <a:pt x="813913" y="42163"/>
                </a:lnTo>
                <a:lnTo>
                  <a:pt x="834741" y="42671"/>
                </a:lnTo>
                <a:lnTo>
                  <a:pt x="854553" y="42671"/>
                </a:lnTo>
                <a:lnTo>
                  <a:pt x="873603" y="42163"/>
                </a:lnTo>
                <a:lnTo>
                  <a:pt x="873857" y="42163"/>
                </a:lnTo>
                <a:lnTo>
                  <a:pt x="892145" y="41020"/>
                </a:lnTo>
                <a:lnTo>
                  <a:pt x="892399" y="41020"/>
                </a:lnTo>
                <a:lnTo>
                  <a:pt x="910433" y="39243"/>
                </a:lnTo>
                <a:lnTo>
                  <a:pt x="910687" y="39243"/>
                </a:lnTo>
                <a:lnTo>
                  <a:pt x="927832" y="36956"/>
                </a:lnTo>
                <a:lnTo>
                  <a:pt x="928086" y="36830"/>
                </a:lnTo>
                <a:lnTo>
                  <a:pt x="943199" y="34162"/>
                </a:lnTo>
                <a:lnTo>
                  <a:pt x="944088" y="34036"/>
                </a:lnTo>
                <a:lnTo>
                  <a:pt x="953867" y="30861"/>
                </a:lnTo>
                <a:lnTo>
                  <a:pt x="956295" y="29971"/>
                </a:lnTo>
                <a:lnTo>
                  <a:pt x="834995" y="29971"/>
                </a:lnTo>
                <a:lnTo>
                  <a:pt x="814421" y="29463"/>
                </a:lnTo>
                <a:lnTo>
                  <a:pt x="814548" y="29463"/>
                </a:lnTo>
                <a:lnTo>
                  <a:pt x="795371" y="28701"/>
                </a:lnTo>
                <a:lnTo>
                  <a:pt x="776321" y="27686"/>
                </a:lnTo>
                <a:lnTo>
                  <a:pt x="624175" y="18033"/>
                </a:lnTo>
                <a:lnTo>
                  <a:pt x="583481" y="15999"/>
                </a:lnTo>
                <a:lnTo>
                  <a:pt x="517894" y="12826"/>
                </a:lnTo>
                <a:close/>
              </a:path>
              <a:path w="1018539" h="43180">
                <a:moveTo>
                  <a:pt x="27122" y="30480"/>
                </a:moveTo>
                <a:lnTo>
                  <a:pt x="20061" y="31495"/>
                </a:lnTo>
                <a:lnTo>
                  <a:pt x="13724" y="32385"/>
                </a:lnTo>
                <a:lnTo>
                  <a:pt x="8034" y="32893"/>
                </a:lnTo>
                <a:lnTo>
                  <a:pt x="2611" y="33274"/>
                </a:lnTo>
                <a:lnTo>
                  <a:pt x="1087" y="33400"/>
                </a:lnTo>
                <a:lnTo>
                  <a:pt x="59" y="34543"/>
                </a:lnTo>
                <a:lnTo>
                  <a:pt x="0" y="35687"/>
                </a:lnTo>
                <a:lnTo>
                  <a:pt x="110" y="37718"/>
                </a:lnTo>
                <a:lnTo>
                  <a:pt x="1405" y="38862"/>
                </a:lnTo>
                <a:lnTo>
                  <a:pt x="2929" y="38862"/>
                </a:lnTo>
                <a:lnTo>
                  <a:pt x="14245" y="38354"/>
                </a:lnTo>
                <a:lnTo>
                  <a:pt x="20696" y="37973"/>
                </a:lnTo>
                <a:lnTo>
                  <a:pt x="27884" y="37464"/>
                </a:lnTo>
                <a:lnTo>
                  <a:pt x="42705" y="35687"/>
                </a:lnTo>
                <a:lnTo>
                  <a:pt x="51037" y="34289"/>
                </a:lnTo>
                <a:lnTo>
                  <a:pt x="60574" y="32638"/>
                </a:lnTo>
                <a:lnTo>
                  <a:pt x="70010" y="30606"/>
                </a:lnTo>
                <a:lnTo>
                  <a:pt x="27072" y="30606"/>
                </a:lnTo>
                <a:close/>
              </a:path>
              <a:path w="1018539" h="43180">
                <a:moveTo>
                  <a:pt x="41537" y="28067"/>
                </a:moveTo>
                <a:lnTo>
                  <a:pt x="34387" y="29337"/>
                </a:lnTo>
                <a:lnTo>
                  <a:pt x="27072" y="30606"/>
                </a:lnTo>
                <a:lnTo>
                  <a:pt x="70010" y="30606"/>
                </a:lnTo>
                <a:lnTo>
                  <a:pt x="80818" y="28320"/>
                </a:lnTo>
                <a:lnTo>
                  <a:pt x="81416" y="28193"/>
                </a:lnTo>
                <a:lnTo>
                  <a:pt x="41473" y="28193"/>
                </a:lnTo>
                <a:close/>
              </a:path>
              <a:path w="1018539" h="43180">
                <a:moveTo>
                  <a:pt x="940270" y="20776"/>
                </a:moveTo>
                <a:lnTo>
                  <a:pt x="925673" y="23621"/>
                </a:lnTo>
                <a:lnTo>
                  <a:pt x="925927" y="23621"/>
                </a:lnTo>
                <a:lnTo>
                  <a:pt x="908782" y="26162"/>
                </a:lnTo>
                <a:lnTo>
                  <a:pt x="909036" y="26162"/>
                </a:lnTo>
                <a:lnTo>
                  <a:pt x="891129" y="28067"/>
                </a:lnTo>
                <a:lnTo>
                  <a:pt x="891383" y="28067"/>
                </a:lnTo>
                <a:lnTo>
                  <a:pt x="873095" y="29337"/>
                </a:lnTo>
                <a:lnTo>
                  <a:pt x="854172" y="29971"/>
                </a:lnTo>
                <a:lnTo>
                  <a:pt x="956295" y="29971"/>
                </a:lnTo>
                <a:lnTo>
                  <a:pt x="968091" y="25654"/>
                </a:lnTo>
                <a:lnTo>
                  <a:pt x="968450" y="25654"/>
                </a:lnTo>
                <a:lnTo>
                  <a:pt x="981724" y="20955"/>
                </a:lnTo>
                <a:lnTo>
                  <a:pt x="939770" y="20955"/>
                </a:lnTo>
                <a:lnTo>
                  <a:pt x="940270" y="20776"/>
                </a:lnTo>
                <a:close/>
              </a:path>
              <a:path w="1018539" h="43180">
                <a:moveTo>
                  <a:pt x="1001306" y="16225"/>
                </a:moveTo>
                <a:lnTo>
                  <a:pt x="997809" y="16637"/>
                </a:lnTo>
                <a:lnTo>
                  <a:pt x="995289" y="20700"/>
                </a:lnTo>
                <a:lnTo>
                  <a:pt x="995218" y="21589"/>
                </a:lnTo>
                <a:lnTo>
                  <a:pt x="995523" y="24130"/>
                </a:lnTo>
                <a:lnTo>
                  <a:pt x="999714" y="28067"/>
                </a:lnTo>
                <a:lnTo>
                  <a:pt x="1003016" y="28320"/>
                </a:lnTo>
                <a:lnTo>
                  <a:pt x="1005302" y="26669"/>
                </a:lnTo>
                <a:lnTo>
                  <a:pt x="1010399" y="23113"/>
                </a:lnTo>
                <a:lnTo>
                  <a:pt x="1014192" y="20700"/>
                </a:lnTo>
                <a:lnTo>
                  <a:pt x="1016732" y="19176"/>
                </a:lnTo>
                <a:lnTo>
                  <a:pt x="1017244" y="17780"/>
                </a:lnTo>
                <a:lnTo>
                  <a:pt x="1003143" y="17780"/>
                </a:lnTo>
                <a:lnTo>
                  <a:pt x="1002242" y="17018"/>
                </a:lnTo>
                <a:lnTo>
                  <a:pt x="1001619" y="17018"/>
                </a:lnTo>
                <a:lnTo>
                  <a:pt x="1001306" y="16225"/>
                </a:lnTo>
                <a:close/>
              </a:path>
              <a:path w="1018539" h="43180">
                <a:moveTo>
                  <a:pt x="215476" y="13462"/>
                </a:moveTo>
                <a:lnTo>
                  <a:pt x="110968" y="13462"/>
                </a:lnTo>
                <a:lnTo>
                  <a:pt x="100173" y="15367"/>
                </a:lnTo>
                <a:lnTo>
                  <a:pt x="88959" y="17652"/>
                </a:lnTo>
                <a:lnTo>
                  <a:pt x="78989" y="19812"/>
                </a:lnTo>
                <a:lnTo>
                  <a:pt x="58885" y="24511"/>
                </a:lnTo>
                <a:lnTo>
                  <a:pt x="49589" y="26543"/>
                </a:lnTo>
                <a:lnTo>
                  <a:pt x="41473" y="28193"/>
                </a:lnTo>
                <a:lnTo>
                  <a:pt x="81416" y="28193"/>
                </a:lnTo>
                <a:lnTo>
                  <a:pt x="90673" y="26416"/>
                </a:lnTo>
                <a:lnTo>
                  <a:pt x="101786" y="24383"/>
                </a:lnTo>
                <a:lnTo>
                  <a:pt x="112543" y="22606"/>
                </a:lnTo>
                <a:lnTo>
                  <a:pt x="123668" y="20955"/>
                </a:lnTo>
                <a:lnTo>
                  <a:pt x="135136" y="19431"/>
                </a:lnTo>
                <a:lnTo>
                  <a:pt x="146896" y="18161"/>
                </a:lnTo>
                <a:lnTo>
                  <a:pt x="159761" y="16891"/>
                </a:lnTo>
                <a:lnTo>
                  <a:pt x="172995" y="15748"/>
                </a:lnTo>
                <a:lnTo>
                  <a:pt x="187257" y="14731"/>
                </a:lnTo>
                <a:lnTo>
                  <a:pt x="201163" y="13969"/>
                </a:lnTo>
                <a:lnTo>
                  <a:pt x="215476" y="13462"/>
                </a:lnTo>
                <a:close/>
              </a:path>
              <a:path w="1018539" h="43180">
                <a:moveTo>
                  <a:pt x="968450" y="25654"/>
                </a:moveTo>
                <a:lnTo>
                  <a:pt x="968091" y="25654"/>
                </a:lnTo>
                <a:lnTo>
                  <a:pt x="968450" y="25654"/>
                </a:lnTo>
                <a:close/>
              </a:path>
              <a:path w="1018539" h="43180">
                <a:moveTo>
                  <a:pt x="940659" y="20700"/>
                </a:moveTo>
                <a:lnTo>
                  <a:pt x="940270" y="20776"/>
                </a:lnTo>
                <a:lnTo>
                  <a:pt x="939770" y="20955"/>
                </a:lnTo>
                <a:lnTo>
                  <a:pt x="940659" y="20700"/>
                </a:lnTo>
                <a:close/>
              </a:path>
              <a:path w="1018539" h="43180">
                <a:moveTo>
                  <a:pt x="982442" y="20700"/>
                </a:moveTo>
                <a:lnTo>
                  <a:pt x="940659" y="20700"/>
                </a:lnTo>
                <a:lnTo>
                  <a:pt x="939770" y="20955"/>
                </a:lnTo>
                <a:lnTo>
                  <a:pt x="981724" y="20955"/>
                </a:lnTo>
                <a:lnTo>
                  <a:pt x="982442" y="20700"/>
                </a:lnTo>
                <a:close/>
              </a:path>
              <a:path w="1018539" h="43180">
                <a:moveTo>
                  <a:pt x="982621" y="20700"/>
                </a:moveTo>
                <a:lnTo>
                  <a:pt x="982442" y="20700"/>
                </a:lnTo>
                <a:lnTo>
                  <a:pt x="982188" y="20827"/>
                </a:lnTo>
                <a:lnTo>
                  <a:pt x="982621" y="20700"/>
                </a:lnTo>
                <a:close/>
              </a:path>
              <a:path w="1018539" h="43180">
                <a:moveTo>
                  <a:pt x="1003778" y="0"/>
                </a:moveTo>
                <a:lnTo>
                  <a:pt x="1001365" y="0"/>
                </a:lnTo>
                <a:lnTo>
                  <a:pt x="999968" y="126"/>
                </a:lnTo>
                <a:lnTo>
                  <a:pt x="995650" y="888"/>
                </a:lnTo>
                <a:lnTo>
                  <a:pt x="994888" y="1143"/>
                </a:lnTo>
                <a:lnTo>
                  <a:pt x="987014" y="3301"/>
                </a:lnTo>
                <a:lnTo>
                  <a:pt x="977616" y="6604"/>
                </a:lnTo>
                <a:lnTo>
                  <a:pt x="977362" y="6604"/>
                </a:lnTo>
                <a:lnTo>
                  <a:pt x="963138" y="12064"/>
                </a:lnTo>
                <a:lnTo>
                  <a:pt x="948787" y="17652"/>
                </a:lnTo>
                <a:lnTo>
                  <a:pt x="949041" y="17652"/>
                </a:lnTo>
                <a:lnTo>
                  <a:pt x="940270" y="20776"/>
                </a:lnTo>
                <a:lnTo>
                  <a:pt x="940659" y="20700"/>
                </a:lnTo>
                <a:lnTo>
                  <a:pt x="982621" y="20700"/>
                </a:lnTo>
                <a:lnTo>
                  <a:pt x="991280" y="18161"/>
                </a:lnTo>
                <a:lnTo>
                  <a:pt x="997627" y="16637"/>
                </a:lnTo>
                <a:lnTo>
                  <a:pt x="999968" y="12826"/>
                </a:lnTo>
                <a:lnTo>
                  <a:pt x="1000813" y="11683"/>
                </a:lnTo>
                <a:lnTo>
                  <a:pt x="1003016" y="9017"/>
                </a:lnTo>
                <a:lnTo>
                  <a:pt x="1016224" y="9017"/>
                </a:lnTo>
                <a:lnTo>
                  <a:pt x="1013557" y="5080"/>
                </a:lnTo>
                <a:lnTo>
                  <a:pt x="1010255" y="2286"/>
                </a:lnTo>
                <a:lnTo>
                  <a:pt x="1007588" y="888"/>
                </a:lnTo>
                <a:lnTo>
                  <a:pt x="1006318" y="507"/>
                </a:lnTo>
                <a:lnTo>
                  <a:pt x="1003778" y="0"/>
                </a:lnTo>
                <a:close/>
              </a:path>
              <a:path w="1018539" h="43180">
                <a:moveTo>
                  <a:pt x="991598" y="18067"/>
                </a:moveTo>
                <a:lnTo>
                  <a:pt x="991205" y="18161"/>
                </a:lnTo>
                <a:lnTo>
                  <a:pt x="991598" y="18067"/>
                </a:lnTo>
                <a:close/>
              </a:path>
              <a:path w="1018539" h="43180">
                <a:moveTo>
                  <a:pt x="1001753" y="16250"/>
                </a:moveTo>
                <a:lnTo>
                  <a:pt x="1001792" y="16637"/>
                </a:lnTo>
                <a:lnTo>
                  <a:pt x="1003143" y="17780"/>
                </a:lnTo>
                <a:lnTo>
                  <a:pt x="1002031" y="16279"/>
                </a:lnTo>
                <a:lnTo>
                  <a:pt x="1001753" y="16250"/>
                </a:lnTo>
                <a:close/>
              </a:path>
              <a:path w="1018539" h="43180">
                <a:moveTo>
                  <a:pt x="1017849" y="16129"/>
                </a:moveTo>
                <a:lnTo>
                  <a:pt x="1002127" y="16129"/>
                </a:lnTo>
                <a:lnTo>
                  <a:pt x="1003016" y="16382"/>
                </a:lnTo>
                <a:lnTo>
                  <a:pt x="1002108" y="16382"/>
                </a:lnTo>
                <a:lnTo>
                  <a:pt x="1003143" y="17780"/>
                </a:lnTo>
                <a:lnTo>
                  <a:pt x="1017244" y="17780"/>
                </a:lnTo>
                <a:lnTo>
                  <a:pt x="1017756" y="16382"/>
                </a:lnTo>
                <a:lnTo>
                  <a:pt x="1003016" y="16382"/>
                </a:lnTo>
                <a:lnTo>
                  <a:pt x="1002031" y="16279"/>
                </a:lnTo>
                <a:lnTo>
                  <a:pt x="1017794" y="16279"/>
                </a:lnTo>
                <a:lnTo>
                  <a:pt x="1017849" y="16129"/>
                </a:lnTo>
                <a:close/>
              </a:path>
              <a:path w="1018539" h="43180">
                <a:moveTo>
                  <a:pt x="1001322" y="16239"/>
                </a:moveTo>
                <a:lnTo>
                  <a:pt x="1001619" y="17018"/>
                </a:lnTo>
                <a:lnTo>
                  <a:pt x="1001699" y="16558"/>
                </a:lnTo>
                <a:lnTo>
                  <a:pt x="1001322" y="16239"/>
                </a:lnTo>
                <a:close/>
              </a:path>
              <a:path w="1018539" h="43180">
                <a:moveTo>
                  <a:pt x="1001699" y="16558"/>
                </a:moveTo>
                <a:lnTo>
                  <a:pt x="1001619" y="17018"/>
                </a:lnTo>
                <a:lnTo>
                  <a:pt x="1002242" y="17018"/>
                </a:lnTo>
                <a:lnTo>
                  <a:pt x="1001699" y="16558"/>
                </a:lnTo>
                <a:close/>
              </a:path>
              <a:path w="1018539" h="43180">
                <a:moveTo>
                  <a:pt x="998698" y="16382"/>
                </a:moveTo>
                <a:lnTo>
                  <a:pt x="997682" y="16637"/>
                </a:lnTo>
                <a:lnTo>
                  <a:pt x="997862" y="16621"/>
                </a:lnTo>
                <a:lnTo>
                  <a:pt x="998698" y="16382"/>
                </a:lnTo>
                <a:close/>
              </a:path>
              <a:path w="1018539" h="43180">
                <a:moveTo>
                  <a:pt x="999968" y="16382"/>
                </a:moveTo>
                <a:lnTo>
                  <a:pt x="998698" y="16382"/>
                </a:lnTo>
                <a:lnTo>
                  <a:pt x="997809" y="16637"/>
                </a:lnTo>
                <a:lnTo>
                  <a:pt x="999968" y="16382"/>
                </a:lnTo>
                <a:close/>
              </a:path>
              <a:path w="1018539" h="43180">
                <a:moveTo>
                  <a:pt x="1003016" y="9017"/>
                </a:moveTo>
                <a:lnTo>
                  <a:pt x="1000512" y="12064"/>
                </a:lnTo>
                <a:lnTo>
                  <a:pt x="999739" y="13207"/>
                </a:lnTo>
                <a:lnTo>
                  <a:pt x="997691" y="16621"/>
                </a:lnTo>
                <a:lnTo>
                  <a:pt x="998698" y="16382"/>
                </a:lnTo>
                <a:lnTo>
                  <a:pt x="999968" y="16382"/>
                </a:lnTo>
                <a:lnTo>
                  <a:pt x="1001187" y="16239"/>
                </a:lnTo>
                <a:lnTo>
                  <a:pt x="1000603" y="16129"/>
                </a:lnTo>
                <a:lnTo>
                  <a:pt x="1001192" y="16129"/>
                </a:lnTo>
                <a:lnTo>
                  <a:pt x="1000866" y="15853"/>
                </a:lnTo>
                <a:lnTo>
                  <a:pt x="1000603" y="15748"/>
                </a:lnTo>
                <a:lnTo>
                  <a:pt x="1000741" y="15748"/>
                </a:lnTo>
                <a:lnTo>
                  <a:pt x="999841" y="14986"/>
                </a:lnTo>
                <a:lnTo>
                  <a:pt x="1000845" y="14986"/>
                </a:lnTo>
                <a:lnTo>
                  <a:pt x="1000603" y="14350"/>
                </a:lnTo>
                <a:lnTo>
                  <a:pt x="1002085" y="14350"/>
                </a:lnTo>
                <a:lnTo>
                  <a:pt x="1003016" y="9017"/>
                </a:lnTo>
                <a:close/>
              </a:path>
              <a:path w="1018539" h="43180">
                <a:moveTo>
                  <a:pt x="1001407" y="16213"/>
                </a:moveTo>
                <a:lnTo>
                  <a:pt x="1001699" y="16558"/>
                </a:lnTo>
                <a:lnTo>
                  <a:pt x="1001653" y="16239"/>
                </a:lnTo>
                <a:lnTo>
                  <a:pt x="1001407" y="16213"/>
                </a:lnTo>
                <a:close/>
              </a:path>
              <a:path w="1018539" h="43180">
                <a:moveTo>
                  <a:pt x="1002074" y="16135"/>
                </a:moveTo>
                <a:lnTo>
                  <a:pt x="1002031" y="16279"/>
                </a:lnTo>
                <a:lnTo>
                  <a:pt x="1003016" y="16382"/>
                </a:lnTo>
                <a:lnTo>
                  <a:pt x="1002074" y="16135"/>
                </a:lnTo>
                <a:close/>
              </a:path>
              <a:path w="1018539" h="43180">
                <a:moveTo>
                  <a:pt x="1001936" y="16151"/>
                </a:moveTo>
                <a:lnTo>
                  <a:pt x="1001809" y="16256"/>
                </a:lnTo>
                <a:lnTo>
                  <a:pt x="1002031" y="16279"/>
                </a:lnTo>
                <a:lnTo>
                  <a:pt x="1001936" y="16151"/>
                </a:lnTo>
                <a:close/>
              </a:path>
              <a:path w="1018539" h="43180">
                <a:moveTo>
                  <a:pt x="1001760" y="16210"/>
                </a:moveTo>
                <a:close/>
              </a:path>
              <a:path w="1018539" h="43180">
                <a:moveTo>
                  <a:pt x="1001685" y="16180"/>
                </a:moveTo>
                <a:lnTo>
                  <a:pt x="1001520" y="16225"/>
                </a:lnTo>
                <a:lnTo>
                  <a:pt x="1001753" y="16250"/>
                </a:lnTo>
                <a:close/>
              </a:path>
              <a:path w="1018539" h="43180">
                <a:moveTo>
                  <a:pt x="1001231" y="15999"/>
                </a:moveTo>
                <a:lnTo>
                  <a:pt x="1001283" y="16135"/>
                </a:lnTo>
                <a:lnTo>
                  <a:pt x="1001627" y="16187"/>
                </a:lnTo>
                <a:lnTo>
                  <a:pt x="1001231" y="15999"/>
                </a:lnTo>
                <a:close/>
              </a:path>
              <a:path w="1018539" h="43180">
                <a:moveTo>
                  <a:pt x="1000866" y="15853"/>
                </a:moveTo>
                <a:lnTo>
                  <a:pt x="1001192" y="16129"/>
                </a:lnTo>
                <a:lnTo>
                  <a:pt x="1001231" y="15999"/>
                </a:lnTo>
                <a:lnTo>
                  <a:pt x="1000866" y="15853"/>
                </a:lnTo>
                <a:close/>
              </a:path>
              <a:path w="1018539" h="43180">
                <a:moveTo>
                  <a:pt x="1001192" y="16129"/>
                </a:moveTo>
                <a:lnTo>
                  <a:pt x="1000603" y="16129"/>
                </a:lnTo>
                <a:lnTo>
                  <a:pt x="1001275" y="16199"/>
                </a:lnTo>
                <a:close/>
              </a:path>
              <a:path w="1018539" h="43180">
                <a:moveTo>
                  <a:pt x="1001194" y="15903"/>
                </a:moveTo>
                <a:lnTo>
                  <a:pt x="1001685" y="16180"/>
                </a:lnTo>
                <a:lnTo>
                  <a:pt x="1001393" y="15955"/>
                </a:lnTo>
                <a:lnTo>
                  <a:pt x="1001194" y="15903"/>
                </a:lnTo>
                <a:close/>
              </a:path>
              <a:path w="1018539" h="43180">
                <a:moveTo>
                  <a:pt x="1001393" y="15955"/>
                </a:moveTo>
                <a:lnTo>
                  <a:pt x="1001742" y="16174"/>
                </a:lnTo>
                <a:lnTo>
                  <a:pt x="1001393" y="15955"/>
                </a:lnTo>
                <a:close/>
              </a:path>
              <a:path w="1018539" h="43180">
                <a:moveTo>
                  <a:pt x="1001786" y="16059"/>
                </a:moveTo>
                <a:lnTo>
                  <a:pt x="1001936" y="16151"/>
                </a:lnTo>
                <a:lnTo>
                  <a:pt x="1001786" y="16059"/>
                </a:lnTo>
                <a:close/>
              </a:path>
              <a:path w="1018539" h="43180">
                <a:moveTo>
                  <a:pt x="1001888" y="16086"/>
                </a:moveTo>
                <a:lnTo>
                  <a:pt x="1002051" y="16129"/>
                </a:lnTo>
                <a:lnTo>
                  <a:pt x="1001888" y="16086"/>
                </a:lnTo>
                <a:close/>
              </a:path>
              <a:path w="1018539" h="43180">
                <a:moveTo>
                  <a:pt x="1016224" y="9017"/>
                </a:moveTo>
                <a:lnTo>
                  <a:pt x="1003016" y="9017"/>
                </a:lnTo>
                <a:lnTo>
                  <a:pt x="1001974" y="14986"/>
                </a:lnTo>
                <a:lnTo>
                  <a:pt x="1001888" y="16086"/>
                </a:lnTo>
                <a:lnTo>
                  <a:pt x="1002074" y="16135"/>
                </a:lnTo>
                <a:lnTo>
                  <a:pt x="1017849" y="16129"/>
                </a:lnTo>
                <a:lnTo>
                  <a:pt x="1018082" y="15493"/>
                </a:lnTo>
                <a:lnTo>
                  <a:pt x="1018020" y="14986"/>
                </a:lnTo>
                <a:lnTo>
                  <a:pt x="1017072" y="11683"/>
                </a:lnTo>
                <a:lnTo>
                  <a:pt x="1016224" y="9017"/>
                </a:lnTo>
                <a:close/>
              </a:path>
              <a:path w="1018539" h="43180">
                <a:moveTo>
                  <a:pt x="1000603" y="14350"/>
                </a:moveTo>
                <a:lnTo>
                  <a:pt x="1001135" y="15748"/>
                </a:lnTo>
                <a:lnTo>
                  <a:pt x="1001393" y="15955"/>
                </a:lnTo>
                <a:lnTo>
                  <a:pt x="1001786" y="16059"/>
                </a:lnTo>
                <a:lnTo>
                  <a:pt x="1001638" y="15748"/>
                </a:lnTo>
                <a:lnTo>
                  <a:pt x="1000603" y="14350"/>
                </a:lnTo>
                <a:close/>
              </a:path>
              <a:path w="1018539" h="43180">
                <a:moveTo>
                  <a:pt x="1000804" y="15800"/>
                </a:moveTo>
                <a:lnTo>
                  <a:pt x="1001231" y="15999"/>
                </a:lnTo>
                <a:lnTo>
                  <a:pt x="1000804" y="15800"/>
                </a:lnTo>
                <a:close/>
              </a:path>
              <a:path w="1018539" h="43180">
                <a:moveTo>
                  <a:pt x="1002085" y="14350"/>
                </a:moveTo>
                <a:lnTo>
                  <a:pt x="1000603" y="14350"/>
                </a:lnTo>
                <a:lnTo>
                  <a:pt x="1001802" y="15969"/>
                </a:lnTo>
                <a:lnTo>
                  <a:pt x="1002085" y="14350"/>
                </a:lnTo>
                <a:close/>
              </a:path>
              <a:path w="1018539" h="43180">
                <a:moveTo>
                  <a:pt x="1001158" y="15809"/>
                </a:moveTo>
                <a:lnTo>
                  <a:pt x="1001393" y="15955"/>
                </a:lnTo>
                <a:lnTo>
                  <a:pt x="1001158" y="15809"/>
                </a:lnTo>
                <a:close/>
              </a:path>
              <a:path w="1018539" h="43180">
                <a:moveTo>
                  <a:pt x="999841" y="14986"/>
                </a:moveTo>
                <a:lnTo>
                  <a:pt x="1000741" y="15748"/>
                </a:lnTo>
                <a:lnTo>
                  <a:pt x="1001194" y="15903"/>
                </a:lnTo>
                <a:lnTo>
                  <a:pt x="999841" y="14986"/>
                </a:lnTo>
                <a:close/>
              </a:path>
              <a:path w="1018539" h="43180">
                <a:moveTo>
                  <a:pt x="1000603" y="15748"/>
                </a:moveTo>
                <a:lnTo>
                  <a:pt x="1000866" y="15853"/>
                </a:lnTo>
                <a:lnTo>
                  <a:pt x="1000603" y="15748"/>
                </a:lnTo>
                <a:close/>
              </a:path>
              <a:path w="1018539" h="43180">
                <a:moveTo>
                  <a:pt x="1000845" y="14986"/>
                </a:moveTo>
                <a:lnTo>
                  <a:pt x="999841" y="14986"/>
                </a:lnTo>
                <a:lnTo>
                  <a:pt x="1001158" y="15809"/>
                </a:lnTo>
                <a:lnTo>
                  <a:pt x="1000845" y="14986"/>
                </a:lnTo>
                <a:close/>
              </a:path>
              <a:path w="1018539" h="43180">
                <a:moveTo>
                  <a:pt x="1000741" y="15748"/>
                </a:moveTo>
                <a:lnTo>
                  <a:pt x="1000603" y="15748"/>
                </a:lnTo>
                <a:lnTo>
                  <a:pt x="1000804" y="15800"/>
                </a:lnTo>
                <a:close/>
              </a:path>
              <a:path w="1018539" h="43180">
                <a:moveTo>
                  <a:pt x="258707" y="2031"/>
                </a:moveTo>
                <a:lnTo>
                  <a:pt x="200655" y="3556"/>
                </a:lnTo>
                <a:lnTo>
                  <a:pt x="158796" y="6857"/>
                </a:lnTo>
                <a:lnTo>
                  <a:pt x="158707" y="6985"/>
                </a:lnTo>
                <a:lnTo>
                  <a:pt x="145779" y="8381"/>
                </a:lnTo>
                <a:lnTo>
                  <a:pt x="133891" y="9906"/>
                </a:lnTo>
                <a:lnTo>
                  <a:pt x="111044" y="13462"/>
                </a:lnTo>
                <a:lnTo>
                  <a:pt x="215400" y="13462"/>
                </a:lnTo>
                <a:lnTo>
                  <a:pt x="230107" y="13081"/>
                </a:lnTo>
                <a:lnTo>
                  <a:pt x="244394" y="12826"/>
                </a:lnTo>
                <a:lnTo>
                  <a:pt x="517894" y="12826"/>
                </a:lnTo>
                <a:lnTo>
                  <a:pt x="348902" y="4318"/>
                </a:lnTo>
                <a:lnTo>
                  <a:pt x="318194" y="3048"/>
                </a:lnTo>
                <a:lnTo>
                  <a:pt x="288273" y="2286"/>
                </a:lnTo>
                <a:lnTo>
                  <a:pt x="258707" y="2031"/>
                </a:lnTo>
                <a:close/>
              </a:path>
            </a:pathLst>
          </a:custGeom>
          <a:solidFill>
            <a:srgbClr val="FF0000"/>
          </a:solidFill>
        </p:spPr>
        <p:txBody>
          <a:bodyPr wrap="square" lIns="0" tIns="0" rIns="0" bIns="0" rtlCol="0"/>
          <a:lstStyle/>
          <a:p>
            <a:endParaRPr/>
          </a:p>
        </p:txBody>
      </p:sp>
      <p:sp>
        <p:nvSpPr>
          <p:cNvPr id="6" name="object 6"/>
          <p:cNvSpPr/>
          <p:nvPr/>
        </p:nvSpPr>
        <p:spPr>
          <a:xfrm>
            <a:off x="6418326" y="3283965"/>
            <a:ext cx="1698625" cy="83820"/>
          </a:xfrm>
          <a:custGeom>
            <a:avLst/>
            <a:gdLst/>
            <a:ahLst/>
            <a:cxnLst/>
            <a:rect l="l" t="t" r="r" b="b"/>
            <a:pathLst>
              <a:path w="1698625" h="83820">
                <a:moveTo>
                  <a:pt x="1662206" y="61353"/>
                </a:moveTo>
                <a:lnTo>
                  <a:pt x="1650110" y="66801"/>
                </a:lnTo>
                <a:lnTo>
                  <a:pt x="1650365" y="66801"/>
                </a:lnTo>
                <a:lnTo>
                  <a:pt x="1631950" y="74421"/>
                </a:lnTo>
                <a:lnTo>
                  <a:pt x="1630679" y="77215"/>
                </a:lnTo>
                <a:lnTo>
                  <a:pt x="1631442" y="79628"/>
                </a:lnTo>
                <a:lnTo>
                  <a:pt x="1632330" y="82168"/>
                </a:lnTo>
                <a:lnTo>
                  <a:pt x="1634871" y="83692"/>
                </a:lnTo>
                <a:lnTo>
                  <a:pt x="1654302" y="78993"/>
                </a:lnTo>
                <a:lnTo>
                  <a:pt x="1654682" y="78993"/>
                </a:lnTo>
                <a:lnTo>
                  <a:pt x="1669415" y="74802"/>
                </a:lnTo>
                <a:lnTo>
                  <a:pt x="1669669" y="74675"/>
                </a:lnTo>
                <a:lnTo>
                  <a:pt x="1680845" y="71119"/>
                </a:lnTo>
                <a:lnTo>
                  <a:pt x="1687956" y="68706"/>
                </a:lnTo>
                <a:lnTo>
                  <a:pt x="1691894" y="67309"/>
                </a:lnTo>
                <a:lnTo>
                  <a:pt x="1695450" y="66166"/>
                </a:lnTo>
                <a:lnTo>
                  <a:pt x="1696656" y="64515"/>
                </a:lnTo>
                <a:lnTo>
                  <a:pt x="1686941" y="64515"/>
                </a:lnTo>
                <a:lnTo>
                  <a:pt x="1685035" y="64134"/>
                </a:lnTo>
                <a:lnTo>
                  <a:pt x="1685163" y="64134"/>
                </a:lnTo>
                <a:lnTo>
                  <a:pt x="1683639" y="63880"/>
                </a:lnTo>
                <a:lnTo>
                  <a:pt x="1680972" y="63372"/>
                </a:lnTo>
                <a:lnTo>
                  <a:pt x="1681352" y="63372"/>
                </a:lnTo>
                <a:lnTo>
                  <a:pt x="1675638" y="62610"/>
                </a:lnTo>
                <a:lnTo>
                  <a:pt x="1676019" y="62610"/>
                </a:lnTo>
                <a:lnTo>
                  <a:pt x="1670727" y="61975"/>
                </a:lnTo>
                <a:lnTo>
                  <a:pt x="1669923" y="61975"/>
                </a:lnTo>
                <a:lnTo>
                  <a:pt x="1662206" y="61353"/>
                </a:lnTo>
                <a:close/>
              </a:path>
              <a:path w="1698625" h="83820">
                <a:moveTo>
                  <a:pt x="1684762" y="61848"/>
                </a:moveTo>
                <a:lnTo>
                  <a:pt x="1669669" y="61848"/>
                </a:lnTo>
                <a:lnTo>
                  <a:pt x="1676019" y="62610"/>
                </a:lnTo>
                <a:lnTo>
                  <a:pt x="1675638" y="62610"/>
                </a:lnTo>
                <a:lnTo>
                  <a:pt x="1681352" y="63372"/>
                </a:lnTo>
                <a:lnTo>
                  <a:pt x="1680972" y="63372"/>
                </a:lnTo>
                <a:lnTo>
                  <a:pt x="1683766" y="63880"/>
                </a:lnTo>
                <a:lnTo>
                  <a:pt x="1685163" y="64134"/>
                </a:lnTo>
                <a:lnTo>
                  <a:pt x="1685035" y="64134"/>
                </a:lnTo>
                <a:lnTo>
                  <a:pt x="1686941" y="64515"/>
                </a:lnTo>
                <a:lnTo>
                  <a:pt x="1684762" y="61848"/>
                </a:lnTo>
                <a:close/>
              </a:path>
              <a:path w="1698625" h="83820">
                <a:moveTo>
                  <a:pt x="1697609" y="50418"/>
                </a:moveTo>
                <a:lnTo>
                  <a:pt x="1684781" y="50418"/>
                </a:lnTo>
                <a:lnTo>
                  <a:pt x="1680864" y="57078"/>
                </a:lnTo>
                <a:lnTo>
                  <a:pt x="1686941" y="64515"/>
                </a:lnTo>
                <a:lnTo>
                  <a:pt x="1696656" y="64515"/>
                </a:lnTo>
                <a:lnTo>
                  <a:pt x="1697863" y="62864"/>
                </a:lnTo>
                <a:lnTo>
                  <a:pt x="1697990" y="59054"/>
                </a:lnTo>
                <a:lnTo>
                  <a:pt x="1698117" y="51053"/>
                </a:lnTo>
                <a:lnTo>
                  <a:pt x="1697609" y="50418"/>
                </a:lnTo>
                <a:close/>
              </a:path>
              <a:path w="1698625" h="83820">
                <a:moveTo>
                  <a:pt x="1662249" y="61334"/>
                </a:moveTo>
                <a:lnTo>
                  <a:pt x="1669923" y="61975"/>
                </a:lnTo>
                <a:lnTo>
                  <a:pt x="1669669" y="61848"/>
                </a:lnTo>
                <a:lnTo>
                  <a:pt x="1684762" y="61848"/>
                </a:lnTo>
                <a:lnTo>
                  <a:pt x="1684347" y="61340"/>
                </a:lnTo>
                <a:lnTo>
                  <a:pt x="1662249" y="61334"/>
                </a:lnTo>
                <a:close/>
              </a:path>
              <a:path w="1698625" h="83820">
                <a:moveTo>
                  <a:pt x="1669669" y="61848"/>
                </a:moveTo>
                <a:lnTo>
                  <a:pt x="1669923" y="61975"/>
                </a:lnTo>
                <a:lnTo>
                  <a:pt x="1670727" y="61975"/>
                </a:lnTo>
                <a:lnTo>
                  <a:pt x="1669669" y="61848"/>
                </a:lnTo>
                <a:close/>
              </a:path>
              <a:path w="1698625" h="83820">
                <a:moveTo>
                  <a:pt x="1679575" y="55498"/>
                </a:moveTo>
                <a:lnTo>
                  <a:pt x="1674622" y="55498"/>
                </a:lnTo>
                <a:lnTo>
                  <a:pt x="1664080" y="60451"/>
                </a:lnTo>
                <a:lnTo>
                  <a:pt x="1662249" y="61334"/>
                </a:lnTo>
                <a:lnTo>
                  <a:pt x="1662429" y="61340"/>
                </a:lnTo>
                <a:lnTo>
                  <a:pt x="1684347" y="61340"/>
                </a:lnTo>
                <a:lnTo>
                  <a:pt x="1682479" y="59054"/>
                </a:lnTo>
                <a:lnTo>
                  <a:pt x="1679702" y="59054"/>
                </a:lnTo>
                <a:lnTo>
                  <a:pt x="1679575" y="55498"/>
                </a:lnTo>
                <a:close/>
              </a:path>
              <a:path w="1698625" h="83820">
                <a:moveTo>
                  <a:pt x="1329145" y="24383"/>
                </a:moveTo>
                <a:lnTo>
                  <a:pt x="1133855" y="24383"/>
                </a:lnTo>
                <a:lnTo>
                  <a:pt x="1425321" y="48640"/>
                </a:lnTo>
                <a:lnTo>
                  <a:pt x="1507998" y="54609"/>
                </a:lnTo>
                <a:lnTo>
                  <a:pt x="1593469" y="59562"/>
                </a:lnTo>
                <a:lnTo>
                  <a:pt x="1640967" y="60832"/>
                </a:lnTo>
                <a:lnTo>
                  <a:pt x="1652524" y="60959"/>
                </a:lnTo>
                <a:lnTo>
                  <a:pt x="1652270" y="60959"/>
                </a:lnTo>
                <a:lnTo>
                  <a:pt x="1662249" y="61334"/>
                </a:lnTo>
                <a:lnTo>
                  <a:pt x="1664207" y="60451"/>
                </a:lnTo>
                <a:lnTo>
                  <a:pt x="1674622" y="55498"/>
                </a:lnTo>
                <a:lnTo>
                  <a:pt x="1684781" y="50418"/>
                </a:lnTo>
                <a:lnTo>
                  <a:pt x="1697609" y="50418"/>
                </a:lnTo>
                <a:lnTo>
                  <a:pt x="1695069" y="47243"/>
                </a:lnTo>
                <a:lnTo>
                  <a:pt x="1690751" y="46354"/>
                </a:lnTo>
                <a:lnTo>
                  <a:pt x="1688719" y="45973"/>
                </a:lnTo>
                <a:lnTo>
                  <a:pt x="1687195" y="45719"/>
                </a:lnTo>
                <a:lnTo>
                  <a:pt x="1687068" y="45592"/>
                </a:lnTo>
                <a:lnTo>
                  <a:pt x="1684274" y="45084"/>
                </a:lnTo>
                <a:lnTo>
                  <a:pt x="1684020" y="45084"/>
                </a:lnTo>
                <a:lnTo>
                  <a:pt x="1678304" y="44322"/>
                </a:lnTo>
                <a:lnTo>
                  <a:pt x="1677924" y="44195"/>
                </a:lnTo>
                <a:lnTo>
                  <a:pt x="1671574" y="43560"/>
                </a:lnTo>
                <a:lnTo>
                  <a:pt x="1671193" y="43560"/>
                </a:lnTo>
                <a:lnTo>
                  <a:pt x="1663319" y="43052"/>
                </a:lnTo>
                <a:lnTo>
                  <a:pt x="1652904" y="42798"/>
                </a:lnTo>
                <a:lnTo>
                  <a:pt x="1626743" y="42798"/>
                </a:lnTo>
                <a:lnTo>
                  <a:pt x="1618869" y="42671"/>
                </a:lnTo>
                <a:lnTo>
                  <a:pt x="1611122" y="42671"/>
                </a:lnTo>
                <a:lnTo>
                  <a:pt x="1575943" y="41274"/>
                </a:lnTo>
                <a:lnTo>
                  <a:pt x="1555750" y="40258"/>
                </a:lnTo>
                <a:lnTo>
                  <a:pt x="1533525" y="39115"/>
                </a:lnTo>
                <a:lnTo>
                  <a:pt x="1485450" y="36067"/>
                </a:lnTo>
                <a:lnTo>
                  <a:pt x="1483487" y="36067"/>
                </a:lnTo>
                <a:lnTo>
                  <a:pt x="1329145" y="24383"/>
                </a:lnTo>
                <a:close/>
              </a:path>
              <a:path w="1698625" h="83820">
                <a:moveTo>
                  <a:pt x="1679575" y="55498"/>
                </a:moveTo>
                <a:lnTo>
                  <a:pt x="1679702" y="59054"/>
                </a:lnTo>
                <a:lnTo>
                  <a:pt x="1680864" y="57078"/>
                </a:lnTo>
                <a:lnTo>
                  <a:pt x="1679575" y="55498"/>
                </a:lnTo>
                <a:close/>
              </a:path>
              <a:path w="1698625" h="83820">
                <a:moveTo>
                  <a:pt x="1680864" y="57078"/>
                </a:moveTo>
                <a:lnTo>
                  <a:pt x="1679702" y="59054"/>
                </a:lnTo>
                <a:lnTo>
                  <a:pt x="1682479" y="59054"/>
                </a:lnTo>
                <a:lnTo>
                  <a:pt x="1680864" y="57078"/>
                </a:lnTo>
                <a:close/>
              </a:path>
              <a:path w="1698625" h="83820">
                <a:moveTo>
                  <a:pt x="1684781" y="50418"/>
                </a:moveTo>
                <a:lnTo>
                  <a:pt x="1674495" y="55498"/>
                </a:lnTo>
                <a:lnTo>
                  <a:pt x="1679575" y="55498"/>
                </a:lnTo>
                <a:lnTo>
                  <a:pt x="1680864" y="57078"/>
                </a:lnTo>
                <a:lnTo>
                  <a:pt x="1684781" y="50418"/>
                </a:lnTo>
                <a:close/>
              </a:path>
              <a:path w="1698625" h="83820">
                <a:moveTo>
                  <a:pt x="1626824" y="42798"/>
                </a:moveTo>
                <a:close/>
              </a:path>
              <a:path w="1698625" h="83820">
                <a:moveTo>
                  <a:pt x="1652651" y="42671"/>
                </a:moveTo>
                <a:lnTo>
                  <a:pt x="1640967" y="42671"/>
                </a:lnTo>
                <a:lnTo>
                  <a:pt x="1626824" y="42798"/>
                </a:lnTo>
                <a:lnTo>
                  <a:pt x="1652904" y="42798"/>
                </a:lnTo>
                <a:lnTo>
                  <a:pt x="1652651" y="42671"/>
                </a:lnTo>
                <a:close/>
              </a:path>
              <a:path w="1698625" h="83820">
                <a:moveTo>
                  <a:pt x="1610868" y="42544"/>
                </a:moveTo>
                <a:lnTo>
                  <a:pt x="1611122" y="42671"/>
                </a:lnTo>
                <a:lnTo>
                  <a:pt x="1618869" y="42671"/>
                </a:lnTo>
                <a:lnTo>
                  <a:pt x="1610868" y="42544"/>
                </a:lnTo>
                <a:close/>
              </a:path>
              <a:path w="1698625" h="83820">
                <a:moveTo>
                  <a:pt x="1483487" y="35940"/>
                </a:moveTo>
                <a:lnTo>
                  <a:pt x="1485450" y="36067"/>
                </a:lnTo>
                <a:lnTo>
                  <a:pt x="1483487" y="35940"/>
                </a:lnTo>
                <a:close/>
              </a:path>
              <a:path w="1698625" h="83820">
                <a:moveTo>
                  <a:pt x="1209239" y="14477"/>
                </a:moveTo>
                <a:lnTo>
                  <a:pt x="514857" y="14477"/>
                </a:lnTo>
                <a:lnTo>
                  <a:pt x="537972" y="14604"/>
                </a:lnTo>
                <a:lnTo>
                  <a:pt x="630427" y="14985"/>
                </a:lnTo>
                <a:lnTo>
                  <a:pt x="850392" y="15112"/>
                </a:lnTo>
                <a:lnTo>
                  <a:pt x="901953" y="15239"/>
                </a:lnTo>
                <a:lnTo>
                  <a:pt x="927480" y="15620"/>
                </a:lnTo>
                <a:lnTo>
                  <a:pt x="982726" y="16763"/>
                </a:lnTo>
                <a:lnTo>
                  <a:pt x="1011047" y="17779"/>
                </a:lnTo>
                <a:lnTo>
                  <a:pt x="1041526" y="18922"/>
                </a:lnTo>
                <a:lnTo>
                  <a:pt x="1071752" y="20446"/>
                </a:lnTo>
                <a:lnTo>
                  <a:pt x="1102995" y="22351"/>
                </a:lnTo>
                <a:lnTo>
                  <a:pt x="1133982" y="24510"/>
                </a:lnTo>
                <a:lnTo>
                  <a:pt x="1329145" y="24383"/>
                </a:lnTo>
                <a:lnTo>
                  <a:pt x="1209239" y="14477"/>
                </a:lnTo>
                <a:close/>
              </a:path>
              <a:path w="1698625" h="83820">
                <a:moveTo>
                  <a:pt x="180848" y="14731"/>
                </a:moveTo>
                <a:lnTo>
                  <a:pt x="145160" y="14731"/>
                </a:lnTo>
                <a:lnTo>
                  <a:pt x="162432" y="14858"/>
                </a:lnTo>
                <a:lnTo>
                  <a:pt x="180848" y="14731"/>
                </a:lnTo>
                <a:close/>
              </a:path>
              <a:path w="1698625" h="83820">
                <a:moveTo>
                  <a:pt x="9651" y="1777"/>
                </a:moveTo>
                <a:lnTo>
                  <a:pt x="5587" y="1777"/>
                </a:lnTo>
                <a:lnTo>
                  <a:pt x="5098" y="1893"/>
                </a:lnTo>
                <a:lnTo>
                  <a:pt x="6603" y="2158"/>
                </a:lnTo>
                <a:lnTo>
                  <a:pt x="7874" y="3682"/>
                </a:lnTo>
                <a:lnTo>
                  <a:pt x="8254" y="4063"/>
                </a:lnTo>
                <a:lnTo>
                  <a:pt x="8957" y="7340"/>
                </a:lnTo>
                <a:lnTo>
                  <a:pt x="8982" y="8000"/>
                </a:lnTo>
                <a:lnTo>
                  <a:pt x="8636" y="9270"/>
                </a:lnTo>
                <a:lnTo>
                  <a:pt x="7620" y="10286"/>
                </a:lnTo>
                <a:lnTo>
                  <a:pt x="6488" y="10595"/>
                </a:lnTo>
                <a:lnTo>
                  <a:pt x="9016" y="10921"/>
                </a:lnTo>
                <a:lnTo>
                  <a:pt x="70612" y="13842"/>
                </a:lnTo>
                <a:lnTo>
                  <a:pt x="112775" y="14604"/>
                </a:lnTo>
                <a:lnTo>
                  <a:pt x="128904" y="14731"/>
                </a:lnTo>
                <a:lnTo>
                  <a:pt x="239522" y="14731"/>
                </a:lnTo>
                <a:lnTo>
                  <a:pt x="373760" y="14604"/>
                </a:lnTo>
                <a:lnTo>
                  <a:pt x="1209239" y="14477"/>
                </a:lnTo>
                <a:lnTo>
                  <a:pt x="1156514" y="10316"/>
                </a:lnTo>
                <a:lnTo>
                  <a:pt x="1104010" y="6476"/>
                </a:lnTo>
                <a:lnTo>
                  <a:pt x="1047326" y="3428"/>
                </a:lnTo>
                <a:lnTo>
                  <a:pt x="98805" y="3428"/>
                </a:lnTo>
                <a:lnTo>
                  <a:pt x="59309" y="3047"/>
                </a:lnTo>
                <a:lnTo>
                  <a:pt x="9651" y="1777"/>
                </a:lnTo>
                <a:close/>
              </a:path>
              <a:path w="1698625" h="83820">
                <a:moveTo>
                  <a:pt x="4133" y="10670"/>
                </a:moveTo>
                <a:lnTo>
                  <a:pt x="3905" y="10699"/>
                </a:lnTo>
                <a:lnTo>
                  <a:pt x="4952" y="11048"/>
                </a:lnTo>
                <a:lnTo>
                  <a:pt x="5228" y="10921"/>
                </a:lnTo>
                <a:lnTo>
                  <a:pt x="4825" y="10921"/>
                </a:lnTo>
                <a:lnTo>
                  <a:pt x="4133" y="10670"/>
                </a:lnTo>
                <a:close/>
              </a:path>
              <a:path w="1698625" h="83820">
                <a:moveTo>
                  <a:pt x="4830" y="10579"/>
                </a:moveTo>
                <a:lnTo>
                  <a:pt x="4148" y="10667"/>
                </a:lnTo>
                <a:lnTo>
                  <a:pt x="4825" y="10921"/>
                </a:lnTo>
                <a:lnTo>
                  <a:pt x="5503" y="10794"/>
                </a:lnTo>
                <a:lnTo>
                  <a:pt x="5778" y="10667"/>
                </a:lnTo>
                <a:lnTo>
                  <a:pt x="5334" y="10667"/>
                </a:lnTo>
                <a:lnTo>
                  <a:pt x="4830" y="10579"/>
                </a:lnTo>
                <a:close/>
              </a:path>
              <a:path w="1698625" h="83820">
                <a:moveTo>
                  <a:pt x="5489" y="10801"/>
                </a:moveTo>
                <a:lnTo>
                  <a:pt x="4825" y="10921"/>
                </a:lnTo>
                <a:lnTo>
                  <a:pt x="5228" y="10921"/>
                </a:lnTo>
                <a:lnTo>
                  <a:pt x="5489" y="10801"/>
                </a:lnTo>
                <a:close/>
              </a:path>
              <a:path w="1698625" h="83820">
                <a:moveTo>
                  <a:pt x="6055" y="10539"/>
                </a:moveTo>
                <a:lnTo>
                  <a:pt x="5489" y="10801"/>
                </a:lnTo>
                <a:lnTo>
                  <a:pt x="6223" y="10667"/>
                </a:lnTo>
                <a:lnTo>
                  <a:pt x="6488" y="10595"/>
                </a:lnTo>
                <a:lnTo>
                  <a:pt x="6055" y="10539"/>
                </a:lnTo>
                <a:close/>
              </a:path>
              <a:path w="1698625" h="83820">
                <a:moveTo>
                  <a:pt x="1052" y="8998"/>
                </a:moveTo>
                <a:lnTo>
                  <a:pt x="1270" y="9651"/>
                </a:lnTo>
                <a:lnTo>
                  <a:pt x="3175" y="10794"/>
                </a:lnTo>
                <a:lnTo>
                  <a:pt x="3905" y="10699"/>
                </a:lnTo>
                <a:lnTo>
                  <a:pt x="3057" y="10417"/>
                </a:lnTo>
                <a:lnTo>
                  <a:pt x="2960" y="10263"/>
                </a:lnTo>
                <a:lnTo>
                  <a:pt x="2286" y="10159"/>
                </a:lnTo>
                <a:lnTo>
                  <a:pt x="1828" y="9651"/>
                </a:lnTo>
                <a:lnTo>
                  <a:pt x="1270" y="9397"/>
                </a:lnTo>
                <a:lnTo>
                  <a:pt x="1052" y="8998"/>
                </a:lnTo>
                <a:close/>
              </a:path>
              <a:path w="1698625" h="83820">
                <a:moveTo>
                  <a:pt x="2960" y="10263"/>
                </a:moveTo>
                <a:lnTo>
                  <a:pt x="3057" y="10417"/>
                </a:lnTo>
                <a:lnTo>
                  <a:pt x="3905" y="10699"/>
                </a:lnTo>
                <a:lnTo>
                  <a:pt x="4133" y="10670"/>
                </a:lnTo>
                <a:lnTo>
                  <a:pt x="3437" y="10417"/>
                </a:lnTo>
                <a:lnTo>
                  <a:pt x="2960" y="10263"/>
                </a:lnTo>
                <a:close/>
              </a:path>
              <a:path w="1698625" h="83820">
                <a:moveTo>
                  <a:pt x="3349" y="10323"/>
                </a:moveTo>
                <a:lnTo>
                  <a:pt x="4148" y="10667"/>
                </a:lnTo>
                <a:lnTo>
                  <a:pt x="4830" y="10579"/>
                </a:lnTo>
                <a:lnTo>
                  <a:pt x="3349" y="10323"/>
                </a:lnTo>
                <a:close/>
              </a:path>
              <a:path w="1698625" h="83820">
                <a:moveTo>
                  <a:pt x="5298" y="10517"/>
                </a:moveTo>
                <a:lnTo>
                  <a:pt x="4830" y="10579"/>
                </a:lnTo>
                <a:lnTo>
                  <a:pt x="5334" y="10667"/>
                </a:lnTo>
                <a:lnTo>
                  <a:pt x="5587" y="10667"/>
                </a:lnTo>
                <a:lnTo>
                  <a:pt x="5298" y="10517"/>
                </a:lnTo>
                <a:close/>
              </a:path>
              <a:path w="1698625" h="83820">
                <a:moveTo>
                  <a:pt x="5590" y="10479"/>
                </a:moveTo>
                <a:lnTo>
                  <a:pt x="5298" y="10517"/>
                </a:lnTo>
                <a:lnTo>
                  <a:pt x="5587" y="10667"/>
                </a:lnTo>
                <a:lnTo>
                  <a:pt x="5778" y="10667"/>
                </a:lnTo>
                <a:lnTo>
                  <a:pt x="5935" y="10595"/>
                </a:lnTo>
                <a:lnTo>
                  <a:pt x="5590" y="10479"/>
                </a:lnTo>
                <a:close/>
              </a:path>
              <a:path w="1698625" h="83820">
                <a:moveTo>
                  <a:pt x="9016" y="7746"/>
                </a:moveTo>
                <a:lnTo>
                  <a:pt x="8254" y="9524"/>
                </a:lnTo>
                <a:lnTo>
                  <a:pt x="6064" y="10540"/>
                </a:lnTo>
                <a:lnTo>
                  <a:pt x="6488" y="10595"/>
                </a:lnTo>
                <a:lnTo>
                  <a:pt x="7620" y="10286"/>
                </a:lnTo>
                <a:lnTo>
                  <a:pt x="8636" y="9270"/>
                </a:lnTo>
                <a:lnTo>
                  <a:pt x="8982" y="8000"/>
                </a:lnTo>
                <a:lnTo>
                  <a:pt x="9016" y="7746"/>
                </a:lnTo>
                <a:close/>
              </a:path>
              <a:path w="1698625" h="83820">
                <a:moveTo>
                  <a:pt x="3138" y="9397"/>
                </a:moveTo>
                <a:lnTo>
                  <a:pt x="2539" y="9397"/>
                </a:lnTo>
                <a:lnTo>
                  <a:pt x="4531" y="10517"/>
                </a:lnTo>
                <a:lnTo>
                  <a:pt x="4830" y="10579"/>
                </a:lnTo>
                <a:lnTo>
                  <a:pt x="5205" y="10530"/>
                </a:lnTo>
                <a:lnTo>
                  <a:pt x="3138" y="9397"/>
                </a:lnTo>
                <a:close/>
              </a:path>
              <a:path w="1698625" h="83820">
                <a:moveTo>
                  <a:pt x="4552" y="10530"/>
                </a:moveTo>
                <a:close/>
              </a:path>
              <a:path w="1698625" h="83820">
                <a:moveTo>
                  <a:pt x="6328" y="10413"/>
                </a:moveTo>
                <a:lnTo>
                  <a:pt x="6072" y="10417"/>
                </a:lnTo>
                <a:lnTo>
                  <a:pt x="5590" y="10479"/>
                </a:lnTo>
                <a:lnTo>
                  <a:pt x="6055" y="10539"/>
                </a:lnTo>
                <a:lnTo>
                  <a:pt x="6328" y="10413"/>
                </a:lnTo>
                <a:close/>
              </a:path>
              <a:path w="1698625" h="83820">
                <a:moveTo>
                  <a:pt x="2539" y="9397"/>
                </a:moveTo>
                <a:lnTo>
                  <a:pt x="3297" y="10263"/>
                </a:lnTo>
                <a:lnTo>
                  <a:pt x="4552" y="10530"/>
                </a:lnTo>
                <a:lnTo>
                  <a:pt x="2539" y="9397"/>
                </a:lnTo>
                <a:close/>
              </a:path>
              <a:path w="1698625" h="83820">
                <a:moveTo>
                  <a:pt x="5104" y="10417"/>
                </a:moveTo>
                <a:lnTo>
                  <a:pt x="5298" y="10517"/>
                </a:lnTo>
                <a:lnTo>
                  <a:pt x="5590" y="10479"/>
                </a:lnTo>
                <a:lnTo>
                  <a:pt x="5104" y="10417"/>
                </a:lnTo>
                <a:close/>
              </a:path>
              <a:path w="1698625" h="83820">
                <a:moveTo>
                  <a:pt x="8527" y="8889"/>
                </a:moveTo>
                <a:lnTo>
                  <a:pt x="2159" y="8889"/>
                </a:lnTo>
                <a:lnTo>
                  <a:pt x="5104" y="10417"/>
                </a:lnTo>
                <a:lnTo>
                  <a:pt x="5609" y="10477"/>
                </a:lnTo>
                <a:lnTo>
                  <a:pt x="6096" y="10413"/>
                </a:lnTo>
                <a:lnTo>
                  <a:pt x="6328" y="10413"/>
                </a:lnTo>
                <a:lnTo>
                  <a:pt x="8254" y="9524"/>
                </a:lnTo>
                <a:lnTo>
                  <a:pt x="8527" y="8889"/>
                </a:lnTo>
                <a:close/>
              </a:path>
              <a:path w="1698625" h="83820">
                <a:moveTo>
                  <a:pt x="5098" y="10413"/>
                </a:moveTo>
                <a:close/>
              </a:path>
              <a:path w="1698625" h="83820">
                <a:moveTo>
                  <a:pt x="2891" y="10145"/>
                </a:moveTo>
                <a:lnTo>
                  <a:pt x="3349" y="10323"/>
                </a:lnTo>
                <a:lnTo>
                  <a:pt x="3128" y="10263"/>
                </a:lnTo>
                <a:lnTo>
                  <a:pt x="2891" y="10145"/>
                </a:lnTo>
                <a:close/>
              </a:path>
              <a:path w="1698625" h="83820">
                <a:moveTo>
                  <a:pt x="2159" y="8889"/>
                </a:moveTo>
                <a:lnTo>
                  <a:pt x="2825" y="10032"/>
                </a:lnTo>
                <a:lnTo>
                  <a:pt x="3175" y="10286"/>
                </a:lnTo>
                <a:lnTo>
                  <a:pt x="3343" y="10316"/>
                </a:lnTo>
                <a:lnTo>
                  <a:pt x="2539" y="9397"/>
                </a:lnTo>
                <a:lnTo>
                  <a:pt x="3138" y="9397"/>
                </a:lnTo>
                <a:lnTo>
                  <a:pt x="2159" y="8889"/>
                </a:lnTo>
                <a:close/>
              </a:path>
              <a:path w="1698625" h="83820">
                <a:moveTo>
                  <a:pt x="1828" y="9651"/>
                </a:moveTo>
                <a:lnTo>
                  <a:pt x="2286" y="10159"/>
                </a:lnTo>
                <a:lnTo>
                  <a:pt x="2960" y="10263"/>
                </a:lnTo>
                <a:lnTo>
                  <a:pt x="1828" y="9651"/>
                </a:lnTo>
                <a:close/>
              </a:path>
              <a:path w="1698625" h="83820">
                <a:moveTo>
                  <a:pt x="6223" y="3428"/>
                </a:moveTo>
                <a:lnTo>
                  <a:pt x="4445" y="3809"/>
                </a:lnTo>
                <a:lnTo>
                  <a:pt x="3683" y="3936"/>
                </a:lnTo>
                <a:lnTo>
                  <a:pt x="2159" y="4317"/>
                </a:lnTo>
                <a:lnTo>
                  <a:pt x="1143" y="5714"/>
                </a:lnTo>
                <a:lnTo>
                  <a:pt x="1240" y="8998"/>
                </a:lnTo>
                <a:lnTo>
                  <a:pt x="1828" y="9651"/>
                </a:lnTo>
                <a:lnTo>
                  <a:pt x="2891" y="10145"/>
                </a:lnTo>
                <a:lnTo>
                  <a:pt x="2159" y="8889"/>
                </a:lnTo>
                <a:lnTo>
                  <a:pt x="8527" y="8889"/>
                </a:lnTo>
                <a:lnTo>
                  <a:pt x="8908" y="8000"/>
                </a:lnTo>
                <a:lnTo>
                  <a:pt x="8891" y="7340"/>
                </a:lnTo>
                <a:lnTo>
                  <a:pt x="8509" y="6095"/>
                </a:lnTo>
                <a:lnTo>
                  <a:pt x="7874" y="4444"/>
                </a:lnTo>
                <a:lnTo>
                  <a:pt x="6223" y="3428"/>
                </a:lnTo>
                <a:close/>
              </a:path>
              <a:path w="1698625" h="83820">
                <a:moveTo>
                  <a:pt x="5098" y="1893"/>
                </a:moveTo>
                <a:lnTo>
                  <a:pt x="595" y="7619"/>
                </a:lnTo>
                <a:lnTo>
                  <a:pt x="1052" y="8998"/>
                </a:lnTo>
                <a:lnTo>
                  <a:pt x="1270" y="9397"/>
                </a:lnTo>
                <a:lnTo>
                  <a:pt x="1828" y="9651"/>
                </a:lnTo>
                <a:lnTo>
                  <a:pt x="1240" y="8998"/>
                </a:lnTo>
                <a:lnTo>
                  <a:pt x="1143" y="5714"/>
                </a:lnTo>
                <a:lnTo>
                  <a:pt x="2159" y="4317"/>
                </a:lnTo>
                <a:lnTo>
                  <a:pt x="3683" y="3936"/>
                </a:lnTo>
                <a:lnTo>
                  <a:pt x="4445" y="3809"/>
                </a:lnTo>
                <a:lnTo>
                  <a:pt x="6223" y="3428"/>
                </a:lnTo>
                <a:lnTo>
                  <a:pt x="7662" y="3428"/>
                </a:lnTo>
                <a:lnTo>
                  <a:pt x="6603" y="2158"/>
                </a:lnTo>
                <a:lnTo>
                  <a:pt x="5098" y="1893"/>
                </a:lnTo>
                <a:close/>
              </a:path>
              <a:path w="1698625" h="83820">
                <a:moveTo>
                  <a:pt x="508" y="7340"/>
                </a:moveTo>
                <a:lnTo>
                  <a:pt x="508" y="8000"/>
                </a:lnTo>
                <a:lnTo>
                  <a:pt x="1052" y="8998"/>
                </a:lnTo>
                <a:lnTo>
                  <a:pt x="508" y="7340"/>
                </a:lnTo>
                <a:close/>
              </a:path>
              <a:path w="1698625" h="83820">
                <a:moveTo>
                  <a:pt x="7662" y="3428"/>
                </a:moveTo>
                <a:lnTo>
                  <a:pt x="6223" y="3428"/>
                </a:lnTo>
                <a:lnTo>
                  <a:pt x="7874" y="4444"/>
                </a:lnTo>
                <a:lnTo>
                  <a:pt x="8509" y="6095"/>
                </a:lnTo>
                <a:lnTo>
                  <a:pt x="9016" y="7746"/>
                </a:lnTo>
                <a:lnTo>
                  <a:pt x="8957" y="7340"/>
                </a:lnTo>
                <a:lnTo>
                  <a:pt x="8254" y="4063"/>
                </a:lnTo>
                <a:lnTo>
                  <a:pt x="7874" y="3682"/>
                </a:lnTo>
                <a:lnTo>
                  <a:pt x="7662" y="3428"/>
                </a:lnTo>
                <a:close/>
              </a:path>
              <a:path w="1698625" h="83820">
                <a:moveTo>
                  <a:pt x="1241" y="3481"/>
                </a:moveTo>
                <a:lnTo>
                  <a:pt x="888" y="3682"/>
                </a:lnTo>
                <a:lnTo>
                  <a:pt x="0" y="5714"/>
                </a:lnTo>
                <a:lnTo>
                  <a:pt x="508" y="7340"/>
                </a:lnTo>
                <a:lnTo>
                  <a:pt x="577" y="4698"/>
                </a:lnTo>
                <a:lnTo>
                  <a:pt x="1241" y="3481"/>
                </a:lnTo>
                <a:close/>
              </a:path>
              <a:path w="1698625" h="83820">
                <a:moveTo>
                  <a:pt x="2666" y="2666"/>
                </a:moveTo>
                <a:lnTo>
                  <a:pt x="1270" y="3428"/>
                </a:lnTo>
                <a:lnTo>
                  <a:pt x="2666" y="2666"/>
                </a:lnTo>
                <a:close/>
              </a:path>
              <a:path w="1698625" h="83820">
                <a:moveTo>
                  <a:pt x="902080" y="0"/>
                </a:moveTo>
                <a:lnTo>
                  <a:pt x="875665" y="0"/>
                </a:lnTo>
                <a:lnTo>
                  <a:pt x="850392" y="126"/>
                </a:lnTo>
                <a:lnTo>
                  <a:pt x="752855" y="253"/>
                </a:lnTo>
                <a:lnTo>
                  <a:pt x="445389" y="1650"/>
                </a:lnTo>
                <a:lnTo>
                  <a:pt x="373760" y="1904"/>
                </a:lnTo>
                <a:lnTo>
                  <a:pt x="260350" y="2412"/>
                </a:lnTo>
                <a:lnTo>
                  <a:pt x="145033" y="3174"/>
                </a:lnTo>
                <a:lnTo>
                  <a:pt x="112775" y="3428"/>
                </a:lnTo>
                <a:lnTo>
                  <a:pt x="1047326" y="3428"/>
                </a:lnTo>
                <a:lnTo>
                  <a:pt x="1042289" y="3174"/>
                </a:lnTo>
                <a:lnTo>
                  <a:pt x="983106" y="1142"/>
                </a:lnTo>
                <a:lnTo>
                  <a:pt x="927607" y="126"/>
                </a:lnTo>
                <a:lnTo>
                  <a:pt x="902080" y="0"/>
                </a:lnTo>
                <a:close/>
              </a:path>
              <a:path w="1698625" h="83820">
                <a:moveTo>
                  <a:pt x="4445" y="1777"/>
                </a:moveTo>
                <a:lnTo>
                  <a:pt x="3429" y="2285"/>
                </a:lnTo>
                <a:lnTo>
                  <a:pt x="5098" y="1893"/>
                </a:lnTo>
                <a:lnTo>
                  <a:pt x="4445" y="1777"/>
                </a:lnTo>
                <a:close/>
              </a:path>
            </a:pathLst>
          </a:custGeom>
          <a:solidFill>
            <a:srgbClr val="FF0000"/>
          </a:solidFill>
        </p:spPr>
        <p:txBody>
          <a:bodyPr wrap="square" lIns="0" tIns="0" rIns="0" bIns="0" rtlCol="0"/>
          <a:lstStyle/>
          <a:p>
            <a:endParaRPr/>
          </a:p>
        </p:txBody>
      </p:sp>
      <p:sp>
        <p:nvSpPr>
          <p:cNvPr id="7" name="object 7"/>
          <p:cNvSpPr/>
          <p:nvPr/>
        </p:nvSpPr>
        <p:spPr>
          <a:xfrm>
            <a:off x="871884" y="3500628"/>
            <a:ext cx="1861120" cy="84836"/>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832281" y="4378985"/>
            <a:ext cx="2832735" cy="97155"/>
          </a:xfrm>
          <a:custGeom>
            <a:avLst/>
            <a:gdLst/>
            <a:ahLst/>
            <a:cxnLst/>
            <a:rect l="l" t="t" r="r" b="b"/>
            <a:pathLst>
              <a:path w="2832735" h="97154">
                <a:moveTo>
                  <a:pt x="9232" y="55879"/>
                </a:moveTo>
                <a:lnTo>
                  <a:pt x="58673" y="66928"/>
                </a:lnTo>
                <a:lnTo>
                  <a:pt x="97015" y="73659"/>
                </a:lnTo>
                <a:lnTo>
                  <a:pt x="148526" y="81152"/>
                </a:lnTo>
                <a:lnTo>
                  <a:pt x="225183" y="89280"/>
                </a:lnTo>
                <a:lnTo>
                  <a:pt x="289686" y="93725"/>
                </a:lnTo>
                <a:lnTo>
                  <a:pt x="359791" y="96392"/>
                </a:lnTo>
                <a:lnTo>
                  <a:pt x="378320" y="96646"/>
                </a:lnTo>
                <a:lnTo>
                  <a:pt x="417410" y="96646"/>
                </a:lnTo>
                <a:lnTo>
                  <a:pt x="479374" y="95122"/>
                </a:lnTo>
                <a:lnTo>
                  <a:pt x="543636" y="91820"/>
                </a:lnTo>
                <a:lnTo>
                  <a:pt x="587451" y="88518"/>
                </a:lnTo>
                <a:lnTo>
                  <a:pt x="632790" y="84454"/>
                </a:lnTo>
                <a:lnTo>
                  <a:pt x="656539" y="82041"/>
                </a:lnTo>
                <a:lnTo>
                  <a:pt x="672481" y="80390"/>
                </a:lnTo>
                <a:lnTo>
                  <a:pt x="378536" y="80390"/>
                </a:lnTo>
                <a:lnTo>
                  <a:pt x="360083" y="80136"/>
                </a:lnTo>
                <a:lnTo>
                  <a:pt x="342023" y="79882"/>
                </a:lnTo>
                <a:lnTo>
                  <a:pt x="323913" y="79374"/>
                </a:lnTo>
                <a:lnTo>
                  <a:pt x="306857" y="78612"/>
                </a:lnTo>
                <a:lnTo>
                  <a:pt x="290436" y="77977"/>
                </a:lnTo>
                <a:lnTo>
                  <a:pt x="274294" y="77088"/>
                </a:lnTo>
                <a:lnTo>
                  <a:pt x="258127" y="76199"/>
                </a:lnTo>
                <a:lnTo>
                  <a:pt x="241934" y="75056"/>
                </a:lnTo>
                <a:lnTo>
                  <a:pt x="226364" y="73913"/>
                </a:lnTo>
                <a:lnTo>
                  <a:pt x="210489" y="72643"/>
                </a:lnTo>
                <a:lnTo>
                  <a:pt x="194919" y="71246"/>
                </a:lnTo>
                <a:lnTo>
                  <a:pt x="179082" y="69722"/>
                </a:lnTo>
                <a:lnTo>
                  <a:pt x="163969" y="68071"/>
                </a:lnTo>
                <a:lnTo>
                  <a:pt x="150317" y="66547"/>
                </a:lnTo>
                <a:lnTo>
                  <a:pt x="136702" y="64896"/>
                </a:lnTo>
                <a:lnTo>
                  <a:pt x="123456" y="63118"/>
                </a:lnTo>
                <a:lnTo>
                  <a:pt x="110959" y="61467"/>
                </a:lnTo>
                <a:lnTo>
                  <a:pt x="99186" y="59689"/>
                </a:lnTo>
                <a:lnTo>
                  <a:pt x="88798" y="58165"/>
                </a:lnTo>
                <a:lnTo>
                  <a:pt x="78143" y="56514"/>
                </a:lnTo>
                <a:lnTo>
                  <a:pt x="75353" y="56006"/>
                </a:lnTo>
                <a:lnTo>
                  <a:pt x="9080" y="56006"/>
                </a:lnTo>
                <a:lnTo>
                  <a:pt x="9232" y="55879"/>
                </a:lnTo>
                <a:close/>
              </a:path>
              <a:path w="2832735" h="97154">
                <a:moveTo>
                  <a:pt x="2580168" y="74294"/>
                </a:moveTo>
                <a:lnTo>
                  <a:pt x="1998675" y="74294"/>
                </a:lnTo>
                <a:lnTo>
                  <a:pt x="2026488" y="74421"/>
                </a:lnTo>
                <a:lnTo>
                  <a:pt x="2082114" y="75183"/>
                </a:lnTo>
                <a:lnTo>
                  <a:pt x="2334844" y="81152"/>
                </a:lnTo>
                <a:lnTo>
                  <a:pt x="2389073" y="81533"/>
                </a:lnTo>
                <a:lnTo>
                  <a:pt x="2443175" y="81025"/>
                </a:lnTo>
                <a:lnTo>
                  <a:pt x="2497277" y="79501"/>
                </a:lnTo>
                <a:lnTo>
                  <a:pt x="2551125" y="76580"/>
                </a:lnTo>
                <a:lnTo>
                  <a:pt x="2577414" y="74548"/>
                </a:lnTo>
                <a:lnTo>
                  <a:pt x="2580168" y="74294"/>
                </a:lnTo>
                <a:close/>
              </a:path>
              <a:path w="2832735" h="97154">
                <a:moveTo>
                  <a:pt x="1114882" y="30987"/>
                </a:moveTo>
                <a:lnTo>
                  <a:pt x="1068908" y="31368"/>
                </a:lnTo>
                <a:lnTo>
                  <a:pt x="1021029" y="32511"/>
                </a:lnTo>
                <a:lnTo>
                  <a:pt x="972007" y="34543"/>
                </a:lnTo>
                <a:lnTo>
                  <a:pt x="922604" y="37464"/>
                </a:lnTo>
                <a:lnTo>
                  <a:pt x="848182" y="43560"/>
                </a:lnTo>
                <a:lnTo>
                  <a:pt x="806922" y="47752"/>
                </a:lnTo>
                <a:lnTo>
                  <a:pt x="743343" y="55244"/>
                </a:lnTo>
                <a:lnTo>
                  <a:pt x="725627" y="57530"/>
                </a:lnTo>
                <a:lnTo>
                  <a:pt x="702132" y="60324"/>
                </a:lnTo>
                <a:lnTo>
                  <a:pt x="631139" y="67944"/>
                </a:lnTo>
                <a:lnTo>
                  <a:pt x="585927" y="72008"/>
                </a:lnTo>
                <a:lnTo>
                  <a:pt x="586054" y="72008"/>
                </a:lnTo>
                <a:lnTo>
                  <a:pt x="563829" y="73659"/>
                </a:lnTo>
                <a:lnTo>
                  <a:pt x="520776" y="76580"/>
                </a:lnTo>
                <a:lnTo>
                  <a:pt x="499694" y="77723"/>
                </a:lnTo>
                <a:lnTo>
                  <a:pt x="499821" y="77723"/>
                </a:lnTo>
                <a:lnTo>
                  <a:pt x="458292" y="79374"/>
                </a:lnTo>
                <a:lnTo>
                  <a:pt x="437260" y="79882"/>
                </a:lnTo>
                <a:lnTo>
                  <a:pt x="417233" y="80263"/>
                </a:lnTo>
                <a:lnTo>
                  <a:pt x="397865" y="80390"/>
                </a:lnTo>
                <a:lnTo>
                  <a:pt x="672481" y="80390"/>
                </a:lnTo>
                <a:lnTo>
                  <a:pt x="679780" y="79628"/>
                </a:lnTo>
                <a:lnTo>
                  <a:pt x="800430" y="65277"/>
                </a:lnTo>
                <a:lnTo>
                  <a:pt x="824306" y="62610"/>
                </a:lnTo>
                <a:lnTo>
                  <a:pt x="825455" y="62610"/>
                </a:lnTo>
                <a:lnTo>
                  <a:pt x="849706" y="60197"/>
                </a:lnTo>
                <a:lnTo>
                  <a:pt x="899490" y="55879"/>
                </a:lnTo>
                <a:lnTo>
                  <a:pt x="899363" y="55879"/>
                </a:lnTo>
                <a:lnTo>
                  <a:pt x="948766" y="52577"/>
                </a:lnTo>
                <a:lnTo>
                  <a:pt x="948639" y="52577"/>
                </a:lnTo>
                <a:lnTo>
                  <a:pt x="972896" y="51307"/>
                </a:lnTo>
                <a:lnTo>
                  <a:pt x="997661" y="50164"/>
                </a:lnTo>
                <a:lnTo>
                  <a:pt x="1021664" y="49275"/>
                </a:lnTo>
                <a:lnTo>
                  <a:pt x="1044524" y="48640"/>
                </a:lnTo>
                <a:lnTo>
                  <a:pt x="1069162" y="48132"/>
                </a:lnTo>
                <a:lnTo>
                  <a:pt x="1114820" y="47752"/>
                </a:lnTo>
                <a:lnTo>
                  <a:pt x="1458763" y="47751"/>
                </a:lnTo>
                <a:lnTo>
                  <a:pt x="1399997" y="44068"/>
                </a:lnTo>
                <a:lnTo>
                  <a:pt x="1327480" y="38480"/>
                </a:lnTo>
                <a:lnTo>
                  <a:pt x="1279474" y="35559"/>
                </a:lnTo>
                <a:lnTo>
                  <a:pt x="1230198" y="33273"/>
                </a:lnTo>
                <a:lnTo>
                  <a:pt x="1161364" y="31368"/>
                </a:lnTo>
                <a:lnTo>
                  <a:pt x="1114882" y="30987"/>
                </a:lnTo>
                <a:close/>
              </a:path>
              <a:path w="2832735" h="97154">
                <a:moveTo>
                  <a:pt x="1458763" y="47751"/>
                </a:moveTo>
                <a:lnTo>
                  <a:pt x="1114820" y="47752"/>
                </a:lnTo>
                <a:lnTo>
                  <a:pt x="1161110" y="48132"/>
                </a:lnTo>
                <a:lnTo>
                  <a:pt x="1160983" y="48132"/>
                </a:lnTo>
                <a:lnTo>
                  <a:pt x="1183462" y="48640"/>
                </a:lnTo>
                <a:lnTo>
                  <a:pt x="1229563" y="50037"/>
                </a:lnTo>
                <a:lnTo>
                  <a:pt x="1254074" y="51053"/>
                </a:lnTo>
                <a:lnTo>
                  <a:pt x="1326337" y="55244"/>
                </a:lnTo>
                <a:lnTo>
                  <a:pt x="1351356" y="57022"/>
                </a:lnTo>
                <a:lnTo>
                  <a:pt x="1398854" y="60832"/>
                </a:lnTo>
                <a:lnTo>
                  <a:pt x="1495628" y="67055"/>
                </a:lnTo>
                <a:lnTo>
                  <a:pt x="1544396" y="69341"/>
                </a:lnTo>
                <a:lnTo>
                  <a:pt x="1598117" y="71246"/>
                </a:lnTo>
                <a:lnTo>
                  <a:pt x="1681556" y="73151"/>
                </a:lnTo>
                <a:lnTo>
                  <a:pt x="1857451" y="74421"/>
                </a:lnTo>
                <a:lnTo>
                  <a:pt x="2580168" y="74294"/>
                </a:lnTo>
                <a:lnTo>
                  <a:pt x="2629103" y="69468"/>
                </a:lnTo>
                <a:lnTo>
                  <a:pt x="2678506" y="62864"/>
                </a:lnTo>
                <a:lnTo>
                  <a:pt x="2680180" y="62483"/>
                </a:lnTo>
                <a:lnTo>
                  <a:pt x="2362276" y="62483"/>
                </a:lnTo>
                <a:lnTo>
                  <a:pt x="2280742" y="61721"/>
                </a:lnTo>
                <a:lnTo>
                  <a:pt x="2252040" y="61086"/>
                </a:lnTo>
                <a:lnTo>
                  <a:pt x="2082368" y="57022"/>
                </a:lnTo>
                <a:lnTo>
                  <a:pt x="2054047" y="56641"/>
                </a:lnTo>
                <a:lnTo>
                  <a:pt x="1857451" y="56641"/>
                </a:lnTo>
                <a:lnTo>
                  <a:pt x="1798904" y="56514"/>
                </a:lnTo>
                <a:lnTo>
                  <a:pt x="1769694" y="56387"/>
                </a:lnTo>
                <a:lnTo>
                  <a:pt x="1598625" y="53593"/>
                </a:lnTo>
                <a:lnTo>
                  <a:pt x="1570558" y="52704"/>
                </a:lnTo>
                <a:lnTo>
                  <a:pt x="1570685" y="52704"/>
                </a:lnTo>
                <a:lnTo>
                  <a:pt x="1496517" y="49783"/>
                </a:lnTo>
                <a:lnTo>
                  <a:pt x="1458763" y="47751"/>
                </a:lnTo>
                <a:close/>
              </a:path>
              <a:path w="2832735" h="97154">
                <a:moveTo>
                  <a:pt x="825455" y="62610"/>
                </a:moveTo>
                <a:lnTo>
                  <a:pt x="824306" y="62610"/>
                </a:lnTo>
                <a:lnTo>
                  <a:pt x="825455" y="62610"/>
                </a:lnTo>
                <a:close/>
              </a:path>
              <a:path w="2832735" h="97154">
                <a:moveTo>
                  <a:pt x="2651836" y="46481"/>
                </a:moveTo>
                <a:lnTo>
                  <a:pt x="2626563" y="49783"/>
                </a:lnTo>
                <a:lnTo>
                  <a:pt x="2626817" y="49783"/>
                </a:lnTo>
                <a:lnTo>
                  <a:pt x="2601544" y="52450"/>
                </a:lnTo>
                <a:lnTo>
                  <a:pt x="2575636" y="54863"/>
                </a:lnTo>
                <a:lnTo>
                  <a:pt x="2575763" y="54863"/>
                </a:lnTo>
                <a:lnTo>
                  <a:pt x="2549601" y="56895"/>
                </a:lnTo>
                <a:lnTo>
                  <a:pt x="2522804" y="58673"/>
                </a:lnTo>
                <a:lnTo>
                  <a:pt x="2496388" y="59943"/>
                </a:lnTo>
                <a:lnTo>
                  <a:pt x="2469083" y="60959"/>
                </a:lnTo>
                <a:lnTo>
                  <a:pt x="2442794" y="61721"/>
                </a:lnTo>
                <a:lnTo>
                  <a:pt x="2416124" y="62229"/>
                </a:lnTo>
                <a:lnTo>
                  <a:pt x="2389073" y="62483"/>
                </a:lnTo>
                <a:lnTo>
                  <a:pt x="2680180" y="62483"/>
                </a:lnTo>
                <a:lnTo>
                  <a:pt x="2699715" y="58038"/>
                </a:lnTo>
                <a:lnTo>
                  <a:pt x="2700604" y="57784"/>
                </a:lnTo>
                <a:lnTo>
                  <a:pt x="2722321" y="50799"/>
                </a:lnTo>
                <a:lnTo>
                  <a:pt x="2733706" y="46608"/>
                </a:lnTo>
                <a:lnTo>
                  <a:pt x="2651709" y="46608"/>
                </a:lnTo>
                <a:lnTo>
                  <a:pt x="2651836" y="46481"/>
                </a:lnTo>
                <a:close/>
              </a:path>
              <a:path w="2832735" h="97154">
                <a:moveTo>
                  <a:pt x="1998802" y="56260"/>
                </a:moveTo>
                <a:lnTo>
                  <a:pt x="1857451" y="56641"/>
                </a:lnTo>
                <a:lnTo>
                  <a:pt x="2054047" y="56641"/>
                </a:lnTo>
                <a:lnTo>
                  <a:pt x="1998802" y="56260"/>
                </a:lnTo>
                <a:close/>
              </a:path>
              <a:path w="2832735" h="97154">
                <a:moveTo>
                  <a:pt x="2995" y="55241"/>
                </a:moveTo>
                <a:lnTo>
                  <a:pt x="5562" y="56387"/>
                </a:lnTo>
                <a:lnTo>
                  <a:pt x="6695" y="56231"/>
                </a:lnTo>
                <a:lnTo>
                  <a:pt x="2995" y="55241"/>
                </a:lnTo>
                <a:close/>
              </a:path>
              <a:path w="2832735" h="97154">
                <a:moveTo>
                  <a:pt x="5516" y="42532"/>
                </a:moveTo>
                <a:lnTo>
                  <a:pt x="3162" y="43560"/>
                </a:lnTo>
                <a:lnTo>
                  <a:pt x="992" y="46862"/>
                </a:lnTo>
                <a:lnTo>
                  <a:pt x="292" y="50164"/>
                </a:lnTo>
                <a:lnTo>
                  <a:pt x="190" y="50799"/>
                </a:lnTo>
                <a:lnTo>
                  <a:pt x="3007" y="55244"/>
                </a:lnTo>
                <a:lnTo>
                  <a:pt x="6695" y="56231"/>
                </a:lnTo>
                <a:lnTo>
                  <a:pt x="9232" y="55879"/>
                </a:lnTo>
                <a:lnTo>
                  <a:pt x="9791" y="55879"/>
                </a:lnTo>
                <a:lnTo>
                  <a:pt x="10502" y="55752"/>
                </a:lnTo>
                <a:lnTo>
                  <a:pt x="11436" y="55752"/>
                </a:lnTo>
                <a:lnTo>
                  <a:pt x="14960" y="55371"/>
                </a:lnTo>
                <a:lnTo>
                  <a:pt x="14744" y="55371"/>
                </a:lnTo>
                <a:lnTo>
                  <a:pt x="18338" y="55244"/>
                </a:lnTo>
                <a:lnTo>
                  <a:pt x="18199" y="55244"/>
                </a:lnTo>
                <a:lnTo>
                  <a:pt x="24523" y="55117"/>
                </a:lnTo>
                <a:lnTo>
                  <a:pt x="26852" y="52704"/>
                </a:lnTo>
                <a:lnTo>
                  <a:pt x="26974" y="46913"/>
                </a:lnTo>
                <a:lnTo>
                  <a:pt x="20916" y="45592"/>
                </a:lnTo>
                <a:lnTo>
                  <a:pt x="17086" y="44703"/>
                </a:lnTo>
                <a:lnTo>
                  <a:pt x="16548" y="44703"/>
                </a:lnTo>
                <a:lnTo>
                  <a:pt x="12585" y="43814"/>
                </a:lnTo>
                <a:lnTo>
                  <a:pt x="9608" y="43100"/>
                </a:lnTo>
                <a:lnTo>
                  <a:pt x="9080" y="43052"/>
                </a:lnTo>
                <a:lnTo>
                  <a:pt x="9232" y="43052"/>
                </a:lnTo>
                <a:lnTo>
                  <a:pt x="5516" y="42532"/>
                </a:lnTo>
                <a:close/>
              </a:path>
              <a:path w="2832735" h="97154">
                <a:moveTo>
                  <a:pt x="9791" y="55879"/>
                </a:moveTo>
                <a:lnTo>
                  <a:pt x="9232" y="55879"/>
                </a:lnTo>
                <a:lnTo>
                  <a:pt x="9080" y="56006"/>
                </a:lnTo>
                <a:lnTo>
                  <a:pt x="9791" y="55879"/>
                </a:lnTo>
                <a:close/>
              </a:path>
              <a:path w="2832735" h="97154">
                <a:moveTo>
                  <a:pt x="10502" y="55752"/>
                </a:moveTo>
                <a:lnTo>
                  <a:pt x="9080" y="56006"/>
                </a:lnTo>
                <a:lnTo>
                  <a:pt x="75353" y="56006"/>
                </a:lnTo>
                <a:lnTo>
                  <a:pt x="74640" y="55879"/>
                </a:lnTo>
                <a:lnTo>
                  <a:pt x="10261" y="55879"/>
                </a:lnTo>
                <a:lnTo>
                  <a:pt x="10502" y="55752"/>
                </a:lnTo>
                <a:close/>
              </a:path>
              <a:path w="2832735" h="97154">
                <a:moveTo>
                  <a:pt x="11436" y="55752"/>
                </a:moveTo>
                <a:lnTo>
                  <a:pt x="10502" y="55752"/>
                </a:lnTo>
                <a:lnTo>
                  <a:pt x="10261" y="55879"/>
                </a:lnTo>
                <a:lnTo>
                  <a:pt x="11436" y="55752"/>
                </a:lnTo>
                <a:close/>
              </a:path>
              <a:path w="2832735" h="97154">
                <a:moveTo>
                  <a:pt x="26974" y="46913"/>
                </a:moveTo>
                <a:lnTo>
                  <a:pt x="26852" y="52704"/>
                </a:lnTo>
                <a:lnTo>
                  <a:pt x="24523" y="55117"/>
                </a:lnTo>
                <a:lnTo>
                  <a:pt x="18199" y="55244"/>
                </a:lnTo>
                <a:lnTo>
                  <a:pt x="18338" y="55244"/>
                </a:lnTo>
                <a:lnTo>
                  <a:pt x="14744" y="55371"/>
                </a:lnTo>
                <a:lnTo>
                  <a:pt x="14960" y="55371"/>
                </a:lnTo>
                <a:lnTo>
                  <a:pt x="10261" y="55879"/>
                </a:lnTo>
                <a:lnTo>
                  <a:pt x="74640" y="55879"/>
                </a:lnTo>
                <a:lnTo>
                  <a:pt x="69648" y="54990"/>
                </a:lnTo>
                <a:lnTo>
                  <a:pt x="68986" y="54990"/>
                </a:lnTo>
                <a:lnTo>
                  <a:pt x="61086" y="53593"/>
                </a:lnTo>
                <a:lnTo>
                  <a:pt x="53301" y="52069"/>
                </a:lnTo>
                <a:lnTo>
                  <a:pt x="46747" y="50799"/>
                </a:lnTo>
                <a:lnTo>
                  <a:pt x="46126" y="50799"/>
                </a:lnTo>
                <a:lnTo>
                  <a:pt x="39572" y="49402"/>
                </a:lnTo>
                <a:lnTo>
                  <a:pt x="39001" y="49402"/>
                </a:lnTo>
                <a:lnTo>
                  <a:pt x="32791" y="48132"/>
                </a:lnTo>
                <a:lnTo>
                  <a:pt x="26974" y="46913"/>
                </a:lnTo>
                <a:close/>
              </a:path>
              <a:path w="2832735" h="97154">
                <a:moveTo>
                  <a:pt x="193" y="50637"/>
                </a:moveTo>
                <a:lnTo>
                  <a:pt x="0" y="51561"/>
                </a:lnTo>
                <a:lnTo>
                  <a:pt x="2057" y="54990"/>
                </a:lnTo>
                <a:lnTo>
                  <a:pt x="2995" y="55241"/>
                </a:lnTo>
                <a:lnTo>
                  <a:pt x="190" y="50799"/>
                </a:lnTo>
                <a:lnTo>
                  <a:pt x="193" y="50637"/>
                </a:lnTo>
                <a:close/>
              </a:path>
              <a:path w="2832735" h="97154">
                <a:moveTo>
                  <a:pt x="68935" y="54863"/>
                </a:moveTo>
                <a:lnTo>
                  <a:pt x="69648" y="54990"/>
                </a:lnTo>
                <a:lnTo>
                  <a:pt x="68935" y="54863"/>
                </a:lnTo>
                <a:close/>
              </a:path>
              <a:path w="2832735" h="97154">
                <a:moveTo>
                  <a:pt x="46088" y="50672"/>
                </a:moveTo>
                <a:lnTo>
                  <a:pt x="46747" y="50799"/>
                </a:lnTo>
                <a:lnTo>
                  <a:pt x="46088" y="50672"/>
                </a:lnTo>
                <a:close/>
              </a:path>
              <a:path w="2832735" h="97154">
                <a:moveTo>
                  <a:pt x="979" y="46883"/>
                </a:moveTo>
                <a:lnTo>
                  <a:pt x="241" y="48005"/>
                </a:lnTo>
                <a:lnTo>
                  <a:pt x="193" y="50637"/>
                </a:lnTo>
                <a:lnTo>
                  <a:pt x="979" y="46883"/>
                </a:lnTo>
                <a:close/>
              </a:path>
              <a:path w="2832735" h="97154">
                <a:moveTo>
                  <a:pt x="38976" y="49275"/>
                </a:moveTo>
                <a:lnTo>
                  <a:pt x="39572" y="49402"/>
                </a:lnTo>
                <a:lnTo>
                  <a:pt x="38976" y="49275"/>
                </a:lnTo>
                <a:close/>
              </a:path>
              <a:path w="2832735" h="97154">
                <a:moveTo>
                  <a:pt x="25168" y="44576"/>
                </a:moveTo>
                <a:lnTo>
                  <a:pt x="16535" y="44576"/>
                </a:lnTo>
                <a:lnTo>
                  <a:pt x="20942" y="45592"/>
                </a:lnTo>
                <a:lnTo>
                  <a:pt x="26974" y="46913"/>
                </a:lnTo>
                <a:lnTo>
                  <a:pt x="26974" y="46354"/>
                </a:lnTo>
                <a:lnTo>
                  <a:pt x="25168" y="44576"/>
                </a:lnTo>
                <a:close/>
              </a:path>
              <a:path w="2832735" h="97154">
                <a:moveTo>
                  <a:pt x="4698" y="42417"/>
                </a:moveTo>
                <a:lnTo>
                  <a:pt x="1435" y="44703"/>
                </a:lnTo>
                <a:lnTo>
                  <a:pt x="979" y="46883"/>
                </a:lnTo>
                <a:lnTo>
                  <a:pt x="3162" y="43560"/>
                </a:lnTo>
                <a:lnTo>
                  <a:pt x="5516" y="42532"/>
                </a:lnTo>
                <a:lnTo>
                  <a:pt x="4698" y="42417"/>
                </a:lnTo>
                <a:close/>
              </a:path>
              <a:path w="2832735" h="97154">
                <a:moveTo>
                  <a:pt x="2743022" y="43179"/>
                </a:moveTo>
                <a:lnTo>
                  <a:pt x="2674823" y="43179"/>
                </a:lnTo>
                <a:lnTo>
                  <a:pt x="2651709" y="46608"/>
                </a:lnTo>
                <a:lnTo>
                  <a:pt x="2733706" y="46608"/>
                </a:lnTo>
                <a:lnTo>
                  <a:pt x="2743022" y="43179"/>
                </a:lnTo>
                <a:close/>
              </a:path>
              <a:path w="2832735" h="97154">
                <a:moveTo>
                  <a:pt x="9608" y="43100"/>
                </a:moveTo>
                <a:lnTo>
                  <a:pt x="12611" y="43814"/>
                </a:lnTo>
                <a:lnTo>
                  <a:pt x="16548" y="44703"/>
                </a:lnTo>
                <a:lnTo>
                  <a:pt x="16535" y="44576"/>
                </a:lnTo>
                <a:lnTo>
                  <a:pt x="25168" y="44576"/>
                </a:lnTo>
                <a:lnTo>
                  <a:pt x="24523" y="43941"/>
                </a:lnTo>
                <a:lnTo>
                  <a:pt x="18199" y="43687"/>
                </a:lnTo>
                <a:lnTo>
                  <a:pt x="18338" y="43687"/>
                </a:lnTo>
                <a:lnTo>
                  <a:pt x="14744" y="43560"/>
                </a:lnTo>
                <a:lnTo>
                  <a:pt x="14960" y="43560"/>
                </a:lnTo>
                <a:lnTo>
                  <a:pt x="12458" y="43306"/>
                </a:lnTo>
                <a:lnTo>
                  <a:pt x="10261" y="43179"/>
                </a:lnTo>
                <a:lnTo>
                  <a:pt x="10502" y="43179"/>
                </a:lnTo>
                <a:lnTo>
                  <a:pt x="9608" y="43100"/>
                </a:lnTo>
                <a:close/>
              </a:path>
              <a:path w="2832735" h="97154">
                <a:moveTo>
                  <a:pt x="16535" y="44576"/>
                </a:moveTo>
                <a:lnTo>
                  <a:pt x="16548" y="44703"/>
                </a:lnTo>
                <a:lnTo>
                  <a:pt x="17086" y="44703"/>
                </a:lnTo>
                <a:lnTo>
                  <a:pt x="16535" y="44576"/>
                </a:lnTo>
                <a:close/>
              </a:path>
              <a:path w="2832735" h="97154">
                <a:moveTo>
                  <a:pt x="2694682" y="38337"/>
                </a:moveTo>
                <a:lnTo>
                  <a:pt x="2673934" y="43306"/>
                </a:lnTo>
                <a:lnTo>
                  <a:pt x="2674823" y="43179"/>
                </a:lnTo>
                <a:lnTo>
                  <a:pt x="2743022" y="43179"/>
                </a:lnTo>
                <a:lnTo>
                  <a:pt x="2756034" y="38480"/>
                </a:lnTo>
                <a:lnTo>
                  <a:pt x="2694254" y="38480"/>
                </a:lnTo>
                <a:lnTo>
                  <a:pt x="2694682" y="38337"/>
                </a:lnTo>
                <a:close/>
              </a:path>
              <a:path w="2832735" h="97154">
                <a:moveTo>
                  <a:pt x="5778" y="42417"/>
                </a:moveTo>
                <a:lnTo>
                  <a:pt x="5516" y="42532"/>
                </a:lnTo>
                <a:lnTo>
                  <a:pt x="9232" y="43052"/>
                </a:lnTo>
                <a:lnTo>
                  <a:pt x="9080" y="43052"/>
                </a:lnTo>
                <a:lnTo>
                  <a:pt x="9608" y="43100"/>
                </a:lnTo>
                <a:lnTo>
                  <a:pt x="5778" y="42417"/>
                </a:lnTo>
                <a:close/>
              </a:path>
              <a:path w="2832735" h="97154">
                <a:moveTo>
                  <a:pt x="2695143" y="38226"/>
                </a:moveTo>
                <a:lnTo>
                  <a:pt x="2694682" y="38337"/>
                </a:lnTo>
                <a:lnTo>
                  <a:pt x="2694254" y="38480"/>
                </a:lnTo>
                <a:lnTo>
                  <a:pt x="2695143" y="38226"/>
                </a:lnTo>
                <a:close/>
              </a:path>
              <a:path w="2832735" h="97154">
                <a:moveTo>
                  <a:pt x="2756738" y="38226"/>
                </a:moveTo>
                <a:lnTo>
                  <a:pt x="2695143" y="38226"/>
                </a:lnTo>
                <a:lnTo>
                  <a:pt x="2694254" y="38480"/>
                </a:lnTo>
                <a:lnTo>
                  <a:pt x="2756034" y="38480"/>
                </a:lnTo>
                <a:lnTo>
                  <a:pt x="2756738" y="38226"/>
                </a:lnTo>
                <a:close/>
              </a:path>
              <a:path w="2832735" h="97154">
                <a:moveTo>
                  <a:pt x="2818460" y="0"/>
                </a:moveTo>
                <a:lnTo>
                  <a:pt x="2817063" y="0"/>
                </a:lnTo>
                <a:lnTo>
                  <a:pt x="2814142" y="253"/>
                </a:lnTo>
                <a:lnTo>
                  <a:pt x="2770454" y="10794"/>
                </a:lnTo>
                <a:lnTo>
                  <a:pt x="2753944" y="16763"/>
                </a:lnTo>
                <a:lnTo>
                  <a:pt x="2735656" y="23621"/>
                </a:lnTo>
                <a:lnTo>
                  <a:pt x="2715082" y="31368"/>
                </a:lnTo>
                <a:lnTo>
                  <a:pt x="2715463" y="31368"/>
                </a:lnTo>
                <a:lnTo>
                  <a:pt x="2694682" y="38337"/>
                </a:lnTo>
                <a:lnTo>
                  <a:pt x="2695143" y="38226"/>
                </a:lnTo>
                <a:lnTo>
                  <a:pt x="2756738" y="38226"/>
                </a:lnTo>
                <a:lnTo>
                  <a:pt x="2761310" y="36575"/>
                </a:lnTo>
                <a:lnTo>
                  <a:pt x="2777566" y="30987"/>
                </a:lnTo>
                <a:lnTo>
                  <a:pt x="2777913" y="30987"/>
                </a:lnTo>
                <a:lnTo>
                  <a:pt x="2789457" y="27558"/>
                </a:lnTo>
                <a:lnTo>
                  <a:pt x="2789250" y="27558"/>
                </a:lnTo>
                <a:lnTo>
                  <a:pt x="2796694" y="25807"/>
                </a:lnTo>
                <a:lnTo>
                  <a:pt x="2796489" y="25145"/>
                </a:lnTo>
                <a:lnTo>
                  <a:pt x="2798140" y="21081"/>
                </a:lnTo>
                <a:lnTo>
                  <a:pt x="2801696" y="19430"/>
                </a:lnTo>
                <a:lnTo>
                  <a:pt x="2807488" y="16535"/>
                </a:lnTo>
                <a:lnTo>
                  <a:pt x="2807665" y="14350"/>
                </a:lnTo>
                <a:lnTo>
                  <a:pt x="2809189" y="9143"/>
                </a:lnTo>
                <a:lnTo>
                  <a:pt x="2831830" y="9143"/>
                </a:lnTo>
                <a:lnTo>
                  <a:pt x="2830906" y="7365"/>
                </a:lnTo>
                <a:lnTo>
                  <a:pt x="2830652" y="6730"/>
                </a:lnTo>
                <a:lnTo>
                  <a:pt x="2829001" y="3428"/>
                </a:lnTo>
                <a:lnTo>
                  <a:pt x="2825953" y="1015"/>
                </a:lnTo>
                <a:lnTo>
                  <a:pt x="2822397" y="380"/>
                </a:lnTo>
                <a:lnTo>
                  <a:pt x="2821508" y="126"/>
                </a:lnTo>
                <a:lnTo>
                  <a:pt x="2818460" y="0"/>
                </a:lnTo>
                <a:close/>
              </a:path>
              <a:path w="2832735" h="97154">
                <a:moveTo>
                  <a:pt x="2832458" y="13588"/>
                </a:moveTo>
                <a:lnTo>
                  <a:pt x="2813380" y="13588"/>
                </a:lnTo>
                <a:lnTo>
                  <a:pt x="2811041" y="17994"/>
                </a:lnTo>
                <a:lnTo>
                  <a:pt x="2811411" y="19762"/>
                </a:lnTo>
                <a:lnTo>
                  <a:pt x="2816534" y="23063"/>
                </a:lnTo>
                <a:lnTo>
                  <a:pt x="2818460" y="23367"/>
                </a:lnTo>
                <a:lnTo>
                  <a:pt x="2812237" y="23367"/>
                </a:lnTo>
                <a:lnTo>
                  <a:pt x="2807988" y="23745"/>
                </a:lnTo>
                <a:lnTo>
                  <a:pt x="2807919" y="23875"/>
                </a:lnTo>
                <a:lnTo>
                  <a:pt x="2807284" y="23875"/>
                </a:lnTo>
                <a:lnTo>
                  <a:pt x="2799966" y="25037"/>
                </a:lnTo>
                <a:lnTo>
                  <a:pt x="2796694" y="25807"/>
                </a:lnTo>
                <a:lnTo>
                  <a:pt x="2798775" y="32511"/>
                </a:lnTo>
                <a:lnTo>
                  <a:pt x="2802458" y="34797"/>
                </a:lnTo>
                <a:lnTo>
                  <a:pt x="2822778" y="31749"/>
                </a:lnTo>
                <a:lnTo>
                  <a:pt x="2825699" y="29463"/>
                </a:lnTo>
                <a:lnTo>
                  <a:pt x="2828747" y="21589"/>
                </a:lnTo>
                <a:lnTo>
                  <a:pt x="2830779" y="17652"/>
                </a:lnTo>
                <a:lnTo>
                  <a:pt x="2832430" y="14477"/>
                </a:lnTo>
                <a:lnTo>
                  <a:pt x="2832458" y="13588"/>
                </a:lnTo>
                <a:close/>
              </a:path>
              <a:path w="2832735" h="97154">
                <a:moveTo>
                  <a:pt x="2777913" y="30987"/>
                </a:moveTo>
                <a:lnTo>
                  <a:pt x="2777566" y="30987"/>
                </a:lnTo>
                <a:lnTo>
                  <a:pt x="2777058" y="31241"/>
                </a:lnTo>
                <a:lnTo>
                  <a:pt x="2777913" y="30987"/>
                </a:lnTo>
                <a:close/>
              </a:path>
              <a:path w="2832735" h="97154">
                <a:moveTo>
                  <a:pt x="2789885" y="27431"/>
                </a:moveTo>
                <a:lnTo>
                  <a:pt x="2789250" y="27558"/>
                </a:lnTo>
                <a:lnTo>
                  <a:pt x="2789457" y="27558"/>
                </a:lnTo>
                <a:lnTo>
                  <a:pt x="2789885" y="27431"/>
                </a:lnTo>
                <a:close/>
              </a:path>
              <a:path w="2832735" h="97154">
                <a:moveTo>
                  <a:pt x="2807488" y="16535"/>
                </a:moveTo>
                <a:lnTo>
                  <a:pt x="2801696" y="19430"/>
                </a:lnTo>
                <a:lnTo>
                  <a:pt x="2798140" y="21081"/>
                </a:lnTo>
                <a:lnTo>
                  <a:pt x="2796489" y="25145"/>
                </a:lnTo>
                <a:lnTo>
                  <a:pt x="2796694" y="25807"/>
                </a:lnTo>
                <a:lnTo>
                  <a:pt x="2799505" y="25145"/>
                </a:lnTo>
                <a:lnTo>
                  <a:pt x="2799283" y="25145"/>
                </a:lnTo>
                <a:lnTo>
                  <a:pt x="2807284" y="23875"/>
                </a:lnTo>
                <a:lnTo>
                  <a:pt x="2806522" y="23875"/>
                </a:lnTo>
                <a:lnTo>
                  <a:pt x="2807903" y="23753"/>
                </a:lnTo>
                <a:lnTo>
                  <a:pt x="2807334" y="19430"/>
                </a:lnTo>
                <a:lnTo>
                  <a:pt x="2807397" y="17652"/>
                </a:lnTo>
                <a:lnTo>
                  <a:pt x="2807488" y="16535"/>
                </a:lnTo>
                <a:close/>
              </a:path>
              <a:path w="2832735" h="97154">
                <a:moveTo>
                  <a:pt x="2799966" y="25037"/>
                </a:moveTo>
                <a:lnTo>
                  <a:pt x="2799283" y="25145"/>
                </a:lnTo>
                <a:lnTo>
                  <a:pt x="2799505" y="25145"/>
                </a:lnTo>
                <a:lnTo>
                  <a:pt x="2799966" y="25037"/>
                </a:lnTo>
                <a:close/>
              </a:path>
              <a:path w="2832735" h="97154">
                <a:moveTo>
                  <a:pt x="2807903" y="23753"/>
                </a:moveTo>
                <a:lnTo>
                  <a:pt x="2806522" y="23875"/>
                </a:lnTo>
                <a:lnTo>
                  <a:pt x="2807919" y="23875"/>
                </a:lnTo>
                <a:close/>
              </a:path>
              <a:path w="2832735" h="97154">
                <a:moveTo>
                  <a:pt x="2810428" y="15064"/>
                </a:moveTo>
                <a:lnTo>
                  <a:pt x="2807488" y="16535"/>
                </a:lnTo>
                <a:lnTo>
                  <a:pt x="2807397" y="17652"/>
                </a:lnTo>
                <a:lnTo>
                  <a:pt x="2807334" y="19430"/>
                </a:lnTo>
                <a:lnTo>
                  <a:pt x="2807903" y="23753"/>
                </a:lnTo>
                <a:lnTo>
                  <a:pt x="2811041" y="17994"/>
                </a:lnTo>
                <a:lnTo>
                  <a:pt x="2810428" y="15064"/>
                </a:lnTo>
                <a:close/>
              </a:path>
              <a:path w="2832735" h="97154">
                <a:moveTo>
                  <a:pt x="2811041" y="17994"/>
                </a:moveTo>
                <a:lnTo>
                  <a:pt x="2807988" y="23745"/>
                </a:lnTo>
                <a:lnTo>
                  <a:pt x="2812237" y="23367"/>
                </a:lnTo>
                <a:lnTo>
                  <a:pt x="2811602" y="23367"/>
                </a:lnTo>
                <a:lnTo>
                  <a:pt x="2815397" y="23252"/>
                </a:lnTo>
                <a:lnTo>
                  <a:pt x="2815158" y="23240"/>
                </a:lnTo>
                <a:lnTo>
                  <a:pt x="2816809" y="23240"/>
                </a:lnTo>
                <a:lnTo>
                  <a:pt x="2816047" y="22986"/>
                </a:lnTo>
                <a:lnTo>
                  <a:pt x="2816415" y="22986"/>
                </a:lnTo>
                <a:lnTo>
                  <a:pt x="2811882" y="20065"/>
                </a:lnTo>
                <a:lnTo>
                  <a:pt x="2811475" y="20065"/>
                </a:lnTo>
                <a:lnTo>
                  <a:pt x="2811094" y="19557"/>
                </a:lnTo>
                <a:lnTo>
                  <a:pt x="2811368" y="19557"/>
                </a:lnTo>
                <a:lnTo>
                  <a:pt x="2811041" y="17994"/>
                </a:lnTo>
                <a:close/>
              </a:path>
              <a:path w="2832735" h="97154">
                <a:moveTo>
                  <a:pt x="2815397" y="23252"/>
                </a:moveTo>
                <a:lnTo>
                  <a:pt x="2811602" y="23367"/>
                </a:lnTo>
                <a:lnTo>
                  <a:pt x="2817698" y="23367"/>
                </a:lnTo>
                <a:lnTo>
                  <a:pt x="2815397" y="23252"/>
                </a:lnTo>
                <a:close/>
              </a:path>
              <a:path w="2832735" h="97154">
                <a:moveTo>
                  <a:pt x="2816534" y="23063"/>
                </a:moveTo>
                <a:lnTo>
                  <a:pt x="2816809" y="23240"/>
                </a:lnTo>
                <a:lnTo>
                  <a:pt x="2815397" y="23252"/>
                </a:lnTo>
                <a:lnTo>
                  <a:pt x="2817698" y="23367"/>
                </a:lnTo>
                <a:lnTo>
                  <a:pt x="2818460" y="23367"/>
                </a:lnTo>
                <a:lnTo>
                  <a:pt x="2816534" y="23063"/>
                </a:lnTo>
                <a:close/>
              </a:path>
              <a:path w="2832735" h="97154">
                <a:moveTo>
                  <a:pt x="2816047" y="22986"/>
                </a:moveTo>
                <a:lnTo>
                  <a:pt x="2816809" y="23240"/>
                </a:lnTo>
                <a:lnTo>
                  <a:pt x="2816534" y="23063"/>
                </a:lnTo>
                <a:lnTo>
                  <a:pt x="2816047" y="22986"/>
                </a:lnTo>
                <a:close/>
              </a:path>
              <a:path w="2832735" h="97154">
                <a:moveTo>
                  <a:pt x="2816415" y="22986"/>
                </a:moveTo>
                <a:lnTo>
                  <a:pt x="2816047" y="22986"/>
                </a:lnTo>
                <a:lnTo>
                  <a:pt x="2816534" y="23063"/>
                </a:lnTo>
                <a:close/>
              </a:path>
              <a:path w="2832735" h="97154">
                <a:moveTo>
                  <a:pt x="2828861" y="21589"/>
                </a:moveTo>
                <a:lnTo>
                  <a:pt x="2828366" y="22605"/>
                </a:lnTo>
                <a:lnTo>
                  <a:pt x="2828861" y="21589"/>
                </a:lnTo>
                <a:close/>
              </a:path>
              <a:path w="2832735" h="97154">
                <a:moveTo>
                  <a:pt x="2811094" y="19557"/>
                </a:moveTo>
                <a:lnTo>
                  <a:pt x="2811475" y="20065"/>
                </a:lnTo>
                <a:lnTo>
                  <a:pt x="2811411" y="19762"/>
                </a:lnTo>
                <a:lnTo>
                  <a:pt x="2811094" y="19557"/>
                </a:lnTo>
                <a:close/>
              </a:path>
              <a:path w="2832735" h="97154">
                <a:moveTo>
                  <a:pt x="2811411" y="19762"/>
                </a:moveTo>
                <a:lnTo>
                  <a:pt x="2811475" y="20065"/>
                </a:lnTo>
                <a:lnTo>
                  <a:pt x="2811882" y="20065"/>
                </a:lnTo>
                <a:lnTo>
                  <a:pt x="2811411" y="19762"/>
                </a:lnTo>
                <a:close/>
              </a:path>
              <a:path w="2832735" h="97154">
                <a:moveTo>
                  <a:pt x="2811368" y="19557"/>
                </a:moveTo>
                <a:lnTo>
                  <a:pt x="2811094" y="19557"/>
                </a:lnTo>
                <a:lnTo>
                  <a:pt x="2811411" y="19762"/>
                </a:lnTo>
                <a:lnTo>
                  <a:pt x="2811368" y="19557"/>
                </a:lnTo>
                <a:close/>
              </a:path>
              <a:path w="2832735" h="97154">
                <a:moveTo>
                  <a:pt x="2813380" y="13588"/>
                </a:moveTo>
                <a:lnTo>
                  <a:pt x="2810428" y="15064"/>
                </a:lnTo>
                <a:lnTo>
                  <a:pt x="2811041" y="17994"/>
                </a:lnTo>
                <a:lnTo>
                  <a:pt x="2813380" y="13588"/>
                </a:lnTo>
                <a:close/>
              </a:path>
              <a:path w="2832735" h="97154">
                <a:moveTo>
                  <a:pt x="2809189" y="9143"/>
                </a:moveTo>
                <a:lnTo>
                  <a:pt x="2807665" y="14350"/>
                </a:lnTo>
                <a:lnTo>
                  <a:pt x="2807488" y="16535"/>
                </a:lnTo>
                <a:lnTo>
                  <a:pt x="2810428" y="15064"/>
                </a:lnTo>
                <a:lnTo>
                  <a:pt x="2809189" y="9143"/>
                </a:lnTo>
                <a:close/>
              </a:path>
              <a:path w="2832735" h="97154">
                <a:moveTo>
                  <a:pt x="2831830" y="9143"/>
                </a:moveTo>
                <a:lnTo>
                  <a:pt x="2809189" y="9143"/>
                </a:lnTo>
                <a:lnTo>
                  <a:pt x="2810428" y="15064"/>
                </a:lnTo>
                <a:lnTo>
                  <a:pt x="2813380" y="13588"/>
                </a:lnTo>
                <a:lnTo>
                  <a:pt x="2832458" y="13588"/>
                </a:lnTo>
                <a:lnTo>
                  <a:pt x="2832557" y="10540"/>
                </a:lnTo>
                <a:lnTo>
                  <a:pt x="2831830" y="9143"/>
                </a:lnTo>
                <a:close/>
              </a:path>
            </a:pathLst>
          </a:custGeom>
          <a:solidFill>
            <a:srgbClr val="FF0000"/>
          </a:solidFill>
        </p:spPr>
        <p:txBody>
          <a:bodyPr wrap="square" lIns="0" tIns="0" rIns="0" bIns="0" rtlCol="0"/>
          <a:lstStyle/>
          <a:p>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15</a:t>
            </a:fld>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34108" y="385953"/>
            <a:ext cx="5873115" cy="452120"/>
          </a:xfrm>
          <a:prstGeom prst="rect">
            <a:avLst/>
          </a:prstGeom>
        </p:spPr>
        <p:txBody>
          <a:bodyPr vert="horz" wrap="square" lIns="0" tIns="12065" rIns="0" bIns="0" rtlCol="0">
            <a:spAutoFit/>
          </a:bodyPr>
          <a:lstStyle/>
          <a:p>
            <a:pPr marL="12700">
              <a:lnSpc>
                <a:spcPct val="100000"/>
              </a:lnSpc>
              <a:spcBef>
                <a:spcPts val="95"/>
              </a:spcBef>
            </a:pPr>
            <a:r>
              <a:rPr sz="2800" b="1" spc="-15" dirty="0">
                <a:solidFill>
                  <a:srgbClr val="0000FF"/>
                </a:solidFill>
                <a:latin typeface="Carlito"/>
                <a:cs typeface="Carlito"/>
              </a:rPr>
              <a:t>Measures </a:t>
            </a:r>
            <a:r>
              <a:rPr sz="2800" b="1" spc="-20" dirty="0">
                <a:solidFill>
                  <a:srgbClr val="0000FF"/>
                </a:solidFill>
                <a:latin typeface="Carlito"/>
                <a:cs typeface="Carlito"/>
              </a:rPr>
              <a:t>for </a:t>
            </a:r>
            <a:r>
              <a:rPr sz="2800" b="1" spc="-15" dirty="0">
                <a:solidFill>
                  <a:srgbClr val="0000FF"/>
                </a:solidFill>
                <a:latin typeface="Carlito"/>
                <a:cs typeface="Carlito"/>
              </a:rPr>
              <a:t>distance between</a:t>
            </a:r>
            <a:r>
              <a:rPr sz="2800" b="1" spc="150" dirty="0">
                <a:solidFill>
                  <a:srgbClr val="0000FF"/>
                </a:solidFill>
                <a:latin typeface="Carlito"/>
                <a:cs typeface="Carlito"/>
              </a:rPr>
              <a:t> </a:t>
            </a:r>
            <a:r>
              <a:rPr sz="2800" b="1" spc="-20" dirty="0">
                <a:solidFill>
                  <a:srgbClr val="0000FF"/>
                </a:solidFill>
                <a:latin typeface="Carlito"/>
                <a:cs typeface="Carlito"/>
              </a:rPr>
              <a:t>clusters</a:t>
            </a:r>
            <a:endParaRPr sz="2800">
              <a:latin typeface="Carlito"/>
              <a:cs typeface="Carlito"/>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16</a:t>
            </a:fld>
            <a:endParaRPr dirty="0"/>
          </a:p>
        </p:txBody>
      </p:sp>
      <p:sp>
        <p:nvSpPr>
          <p:cNvPr id="3" name="object 3"/>
          <p:cNvSpPr txBox="1"/>
          <p:nvPr/>
        </p:nvSpPr>
        <p:spPr>
          <a:xfrm>
            <a:off x="535940" y="1216913"/>
            <a:ext cx="8060690" cy="3319145"/>
          </a:xfrm>
          <a:prstGeom prst="rect">
            <a:avLst/>
          </a:prstGeom>
        </p:spPr>
        <p:txBody>
          <a:bodyPr vert="horz" wrap="square" lIns="0" tIns="13335" rIns="0" bIns="0" rtlCol="0">
            <a:spAutoFit/>
          </a:bodyPr>
          <a:lstStyle/>
          <a:p>
            <a:pPr marL="355600" marR="183515" indent="-342900">
              <a:lnSpc>
                <a:spcPct val="100000"/>
              </a:lnSpc>
              <a:spcBef>
                <a:spcPts val="105"/>
              </a:spcBef>
              <a:buFont typeface="Arial"/>
              <a:buChar char="•"/>
              <a:tabLst>
                <a:tab pos="412115" algn="l"/>
                <a:tab pos="412750" algn="l"/>
              </a:tabLst>
            </a:pPr>
            <a:r>
              <a:rPr dirty="0"/>
              <a:t>	</a:t>
            </a:r>
            <a:r>
              <a:rPr sz="2000" spc="-15" dirty="0">
                <a:latin typeface="Carlito"/>
                <a:cs typeface="Carlito"/>
              </a:rPr>
              <a:t>By </a:t>
            </a:r>
            <a:r>
              <a:rPr sz="2000" spc="-5" dirty="0">
                <a:latin typeface="Carlito"/>
                <a:cs typeface="Carlito"/>
              </a:rPr>
              <a:t>viewing </a:t>
            </a:r>
            <a:r>
              <a:rPr sz="2000" spc="-15" dirty="0">
                <a:latin typeface="Carlito"/>
                <a:cs typeface="Carlito"/>
              </a:rPr>
              <a:t>data </a:t>
            </a:r>
            <a:r>
              <a:rPr sz="2000" spc="-5" dirty="0">
                <a:latin typeface="Carlito"/>
                <a:cs typeface="Carlito"/>
              </a:rPr>
              <a:t>points </a:t>
            </a:r>
            <a:r>
              <a:rPr sz="2000" dirty="0">
                <a:latin typeface="Carlito"/>
                <a:cs typeface="Carlito"/>
              </a:rPr>
              <a:t>as nodes </a:t>
            </a:r>
            <a:r>
              <a:rPr sz="2000" spc="-5" dirty="0">
                <a:latin typeface="Carlito"/>
                <a:cs typeface="Carlito"/>
              </a:rPr>
              <a:t>of </a:t>
            </a:r>
            <a:r>
              <a:rPr sz="2000" dirty="0">
                <a:latin typeface="Carlito"/>
                <a:cs typeface="Carlito"/>
              </a:rPr>
              <a:t>a </a:t>
            </a:r>
            <a:r>
              <a:rPr sz="2000" spc="-5" dirty="0">
                <a:latin typeface="Carlito"/>
                <a:cs typeface="Carlito"/>
              </a:rPr>
              <a:t>graph, with edges linking nodes, </a:t>
            </a:r>
            <a:r>
              <a:rPr sz="2000" spc="-10" dirty="0">
                <a:latin typeface="Carlito"/>
                <a:cs typeface="Carlito"/>
              </a:rPr>
              <a:t>we  </a:t>
            </a:r>
            <a:r>
              <a:rPr sz="2000" spc="-5" dirty="0">
                <a:latin typeface="Carlito"/>
                <a:cs typeface="Carlito"/>
              </a:rPr>
              <a:t>can </a:t>
            </a:r>
            <a:r>
              <a:rPr sz="2000" dirty="0">
                <a:latin typeface="Carlito"/>
                <a:cs typeface="Carlito"/>
              </a:rPr>
              <a:t>think </a:t>
            </a:r>
            <a:r>
              <a:rPr sz="2000" spc="-5" dirty="0">
                <a:latin typeface="Carlito"/>
                <a:cs typeface="Carlito"/>
              </a:rPr>
              <a:t>of </a:t>
            </a:r>
            <a:r>
              <a:rPr sz="2000" dirty="0">
                <a:latin typeface="Carlito"/>
                <a:cs typeface="Carlito"/>
              </a:rPr>
              <a:t>each </a:t>
            </a:r>
            <a:r>
              <a:rPr sz="2000" spc="-10" dirty="0">
                <a:latin typeface="Carlito"/>
                <a:cs typeface="Carlito"/>
              </a:rPr>
              <a:t>cluster </a:t>
            </a:r>
            <a:r>
              <a:rPr sz="2000" dirty="0">
                <a:latin typeface="Carlito"/>
                <a:cs typeface="Carlito"/>
              </a:rPr>
              <a:t>as a </a:t>
            </a:r>
            <a:r>
              <a:rPr sz="2000" spc="-5" dirty="0">
                <a:latin typeface="Carlito"/>
                <a:cs typeface="Carlito"/>
              </a:rPr>
              <a:t>complete </a:t>
            </a:r>
            <a:r>
              <a:rPr sz="2000" dirty="0">
                <a:latin typeface="Carlito"/>
                <a:cs typeface="Carlito"/>
              </a:rPr>
              <a:t>sub </a:t>
            </a:r>
            <a:r>
              <a:rPr sz="2000" spc="-5" dirty="0">
                <a:latin typeface="Carlito"/>
                <a:cs typeface="Carlito"/>
              </a:rPr>
              <a:t>graph, that is, with edges  </a:t>
            </a:r>
            <a:r>
              <a:rPr sz="2000" dirty="0">
                <a:latin typeface="Carlito"/>
                <a:cs typeface="Carlito"/>
              </a:rPr>
              <a:t>connecting </a:t>
            </a:r>
            <a:r>
              <a:rPr sz="2000" spc="-5" dirty="0">
                <a:latin typeface="Carlito"/>
                <a:cs typeface="Carlito"/>
              </a:rPr>
              <a:t>all </a:t>
            </a:r>
            <a:r>
              <a:rPr sz="2000" dirty="0">
                <a:latin typeface="Carlito"/>
                <a:cs typeface="Carlito"/>
              </a:rPr>
              <a:t>of the </a:t>
            </a:r>
            <a:r>
              <a:rPr sz="2000" spc="-5" dirty="0">
                <a:latin typeface="Carlito"/>
                <a:cs typeface="Carlito"/>
              </a:rPr>
              <a:t>nodes </a:t>
            </a:r>
            <a:r>
              <a:rPr sz="2000" dirty="0">
                <a:latin typeface="Carlito"/>
                <a:cs typeface="Carlito"/>
              </a:rPr>
              <a:t>in the</a:t>
            </a:r>
            <a:r>
              <a:rPr sz="2000" spc="-35" dirty="0">
                <a:latin typeface="Carlito"/>
                <a:cs typeface="Carlito"/>
              </a:rPr>
              <a:t> </a:t>
            </a:r>
            <a:r>
              <a:rPr sz="2000" spc="-10" dirty="0">
                <a:latin typeface="Carlito"/>
                <a:cs typeface="Carlito"/>
              </a:rPr>
              <a:t>clusters</a:t>
            </a:r>
            <a:endParaRPr sz="2000">
              <a:latin typeface="Carlito"/>
              <a:cs typeface="Carlito"/>
            </a:endParaRPr>
          </a:p>
          <a:p>
            <a:pPr marL="355600" marR="579120" indent="-342900">
              <a:lnSpc>
                <a:spcPct val="100000"/>
              </a:lnSpc>
              <a:spcBef>
                <a:spcPts val="480"/>
              </a:spcBef>
              <a:buFont typeface="Arial"/>
              <a:buChar char="•"/>
              <a:tabLst>
                <a:tab pos="354965" algn="l"/>
                <a:tab pos="355600" algn="l"/>
              </a:tabLst>
            </a:pPr>
            <a:r>
              <a:rPr sz="2000" spc="-5" dirty="0">
                <a:latin typeface="Carlito"/>
                <a:cs typeface="Carlito"/>
              </a:rPr>
              <a:t>The </a:t>
            </a:r>
            <a:r>
              <a:rPr sz="2000" spc="-10" dirty="0">
                <a:latin typeface="Carlito"/>
                <a:cs typeface="Carlito"/>
              </a:rPr>
              <a:t>distance </a:t>
            </a:r>
            <a:r>
              <a:rPr sz="2000" spc="-5" dirty="0">
                <a:latin typeface="Carlito"/>
                <a:cs typeface="Carlito"/>
              </a:rPr>
              <a:t>between </a:t>
            </a:r>
            <a:r>
              <a:rPr sz="2000" spc="-10" dirty="0">
                <a:latin typeface="Carlito"/>
                <a:cs typeface="Carlito"/>
              </a:rPr>
              <a:t>two clusters </a:t>
            </a:r>
            <a:r>
              <a:rPr sz="2000" dirty="0">
                <a:latin typeface="Carlito"/>
                <a:cs typeface="Carlito"/>
              </a:rPr>
              <a:t>is </a:t>
            </a:r>
            <a:r>
              <a:rPr sz="2000" spc="-5" dirty="0">
                <a:latin typeface="Carlito"/>
                <a:cs typeface="Carlito"/>
              </a:rPr>
              <a:t>determined by </a:t>
            </a:r>
            <a:r>
              <a:rPr sz="2000" dirty="0">
                <a:latin typeface="Carlito"/>
                <a:cs typeface="Carlito"/>
              </a:rPr>
              <a:t>the </a:t>
            </a:r>
            <a:r>
              <a:rPr sz="2000" spc="-5" dirty="0">
                <a:latin typeface="Carlito"/>
                <a:cs typeface="Carlito"/>
              </a:rPr>
              <a:t>most </a:t>
            </a:r>
            <a:r>
              <a:rPr sz="2000" spc="-10" dirty="0">
                <a:latin typeface="Carlito"/>
                <a:cs typeface="Carlito"/>
              </a:rPr>
              <a:t>distant  </a:t>
            </a:r>
            <a:r>
              <a:rPr sz="2000" dirty="0">
                <a:latin typeface="Carlito"/>
                <a:cs typeface="Carlito"/>
              </a:rPr>
              <a:t>nodes in the </a:t>
            </a:r>
            <a:r>
              <a:rPr sz="2000" spc="-10" dirty="0">
                <a:latin typeface="Carlito"/>
                <a:cs typeface="Carlito"/>
              </a:rPr>
              <a:t>two</a:t>
            </a:r>
            <a:r>
              <a:rPr sz="2000" spc="-30" dirty="0">
                <a:latin typeface="Carlito"/>
                <a:cs typeface="Carlito"/>
              </a:rPr>
              <a:t> </a:t>
            </a:r>
            <a:r>
              <a:rPr sz="2000" spc="-10" dirty="0">
                <a:latin typeface="Carlito"/>
                <a:cs typeface="Carlito"/>
              </a:rPr>
              <a:t>clusters</a:t>
            </a:r>
            <a:endParaRPr sz="2000">
              <a:latin typeface="Carlito"/>
              <a:cs typeface="Carlito"/>
            </a:endParaRPr>
          </a:p>
          <a:p>
            <a:pPr marL="355600" indent="-342900">
              <a:lnSpc>
                <a:spcPct val="100000"/>
              </a:lnSpc>
              <a:spcBef>
                <a:spcPts val="480"/>
              </a:spcBef>
              <a:buFont typeface="Arial"/>
              <a:buChar char="•"/>
              <a:tabLst>
                <a:tab pos="354965" algn="l"/>
                <a:tab pos="355600" algn="l"/>
              </a:tabLst>
            </a:pPr>
            <a:r>
              <a:rPr sz="2000" spc="-5" dirty="0">
                <a:latin typeface="Carlito"/>
                <a:cs typeface="Carlito"/>
              </a:rPr>
              <a:t>Farthest-neighbor algorithms tend </a:t>
            </a:r>
            <a:r>
              <a:rPr sz="2000" spc="-10" dirty="0">
                <a:latin typeface="Carlito"/>
                <a:cs typeface="Carlito"/>
              </a:rPr>
              <a:t>to minimize </a:t>
            </a:r>
            <a:r>
              <a:rPr sz="2000" dirty="0">
                <a:latin typeface="Carlito"/>
                <a:cs typeface="Carlito"/>
              </a:rPr>
              <a:t>the </a:t>
            </a:r>
            <a:r>
              <a:rPr sz="2000" spc="-5" dirty="0">
                <a:latin typeface="Carlito"/>
                <a:cs typeface="Carlito"/>
              </a:rPr>
              <a:t>increase </a:t>
            </a:r>
            <a:r>
              <a:rPr sz="2000" dirty="0">
                <a:latin typeface="Carlito"/>
                <a:cs typeface="Carlito"/>
              </a:rPr>
              <a:t>in </a:t>
            </a:r>
            <a:r>
              <a:rPr sz="2000" spc="-5" dirty="0">
                <a:latin typeface="Carlito"/>
                <a:cs typeface="Carlito"/>
              </a:rPr>
              <a:t>diameter</a:t>
            </a:r>
            <a:r>
              <a:rPr sz="2000" spc="100" dirty="0">
                <a:latin typeface="Carlito"/>
                <a:cs typeface="Carlito"/>
              </a:rPr>
              <a:t> </a:t>
            </a:r>
            <a:r>
              <a:rPr sz="2000" spc="-5" dirty="0">
                <a:latin typeface="Carlito"/>
                <a:cs typeface="Carlito"/>
              </a:rPr>
              <a:t>of</a:t>
            </a:r>
            <a:endParaRPr sz="2000">
              <a:latin typeface="Carlito"/>
              <a:cs typeface="Carlito"/>
            </a:endParaRPr>
          </a:p>
          <a:p>
            <a:pPr marL="355600">
              <a:lnSpc>
                <a:spcPct val="100000"/>
              </a:lnSpc>
            </a:pPr>
            <a:r>
              <a:rPr sz="2000" dirty="0">
                <a:latin typeface="Carlito"/>
                <a:cs typeface="Carlito"/>
              </a:rPr>
              <a:t>the </a:t>
            </a:r>
            <a:r>
              <a:rPr sz="2000" spc="-10" dirty="0">
                <a:latin typeface="Carlito"/>
                <a:cs typeface="Carlito"/>
              </a:rPr>
              <a:t>clusters </a:t>
            </a:r>
            <a:r>
              <a:rPr sz="2000" spc="-15" dirty="0">
                <a:latin typeface="Carlito"/>
                <a:cs typeface="Carlito"/>
              </a:rPr>
              <a:t>at </a:t>
            </a:r>
            <a:r>
              <a:rPr sz="2000" dirty="0">
                <a:latin typeface="Carlito"/>
                <a:cs typeface="Carlito"/>
              </a:rPr>
              <a:t>each </a:t>
            </a:r>
            <a:r>
              <a:rPr sz="2000" spc="-10" dirty="0">
                <a:latin typeface="Carlito"/>
                <a:cs typeface="Carlito"/>
              </a:rPr>
              <a:t>iteration </a:t>
            </a:r>
            <a:r>
              <a:rPr sz="2000" dirty="0">
                <a:latin typeface="Carlito"/>
                <a:cs typeface="Carlito"/>
              </a:rPr>
              <a:t>as </a:t>
            </a:r>
            <a:r>
              <a:rPr sz="2000" spc="-5" dirty="0">
                <a:latin typeface="Carlito"/>
                <a:cs typeface="Carlito"/>
              </a:rPr>
              <a:t>little </a:t>
            </a:r>
            <a:r>
              <a:rPr sz="2000" dirty="0">
                <a:latin typeface="Carlito"/>
                <a:cs typeface="Carlito"/>
              </a:rPr>
              <a:t>as</a:t>
            </a:r>
            <a:r>
              <a:rPr sz="2000" spc="100" dirty="0">
                <a:latin typeface="Carlito"/>
                <a:cs typeface="Carlito"/>
              </a:rPr>
              <a:t> </a:t>
            </a:r>
            <a:r>
              <a:rPr sz="2000" spc="-5" dirty="0">
                <a:latin typeface="Carlito"/>
                <a:cs typeface="Carlito"/>
              </a:rPr>
              <a:t>possible</a:t>
            </a:r>
            <a:endParaRPr sz="2000">
              <a:latin typeface="Carlito"/>
              <a:cs typeface="Carlito"/>
            </a:endParaRPr>
          </a:p>
          <a:p>
            <a:pPr marL="355600" indent="-342900">
              <a:lnSpc>
                <a:spcPct val="100000"/>
              </a:lnSpc>
              <a:spcBef>
                <a:spcPts val="480"/>
              </a:spcBef>
              <a:buFont typeface="Arial"/>
              <a:buChar char="•"/>
              <a:tabLst>
                <a:tab pos="354965" algn="l"/>
                <a:tab pos="355600" algn="l"/>
              </a:tabLst>
            </a:pPr>
            <a:r>
              <a:rPr sz="2000" dirty="0">
                <a:latin typeface="Carlito"/>
                <a:cs typeface="Carlito"/>
              </a:rPr>
              <a:t>If the true </a:t>
            </a:r>
            <a:r>
              <a:rPr sz="2000" spc="-10" dirty="0">
                <a:latin typeface="Carlito"/>
                <a:cs typeface="Carlito"/>
              </a:rPr>
              <a:t>clusters are rather </a:t>
            </a:r>
            <a:r>
              <a:rPr sz="2000" spc="-5" dirty="0">
                <a:latin typeface="Carlito"/>
                <a:cs typeface="Carlito"/>
              </a:rPr>
              <a:t>compact </a:t>
            </a:r>
            <a:r>
              <a:rPr sz="2000" dirty="0">
                <a:latin typeface="Carlito"/>
                <a:cs typeface="Carlito"/>
              </a:rPr>
              <a:t>and </a:t>
            </a:r>
            <a:r>
              <a:rPr sz="2000" spc="-10" dirty="0">
                <a:latin typeface="Carlito"/>
                <a:cs typeface="Carlito"/>
              </a:rPr>
              <a:t>approximately </a:t>
            </a:r>
            <a:r>
              <a:rPr sz="2000" dirty="0">
                <a:latin typeface="Carlito"/>
                <a:cs typeface="Carlito"/>
              </a:rPr>
              <a:t>equal </a:t>
            </a:r>
            <a:r>
              <a:rPr sz="2000" spc="-5" dirty="0">
                <a:latin typeface="Carlito"/>
                <a:cs typeface="Carlito"/>
              </a:rPr>
              <a:t>in </a:t>
            </a:r>
            <a:r>
              <a:rPr sz="2000" spc="-15" dirty="0">
                <a:latin typeface="Carlito"/>
                <a:cs typeface="Carlito"/>
              </a:rPr>
              <a:t>size,</a:t>
            </a:r>
            <a:r>
              <a:rPr sz="2000" spc="70" dirty="0">
                <a:latin typeface="Carlito"/>
                <a:cs typeface="Carlito"/>
              </a:rPr>
              <a:t> </a:t>
            </a:r>
            <a:r>
              <a:rPr sz="2000" dirty="0">
                <a:latin typeface="Carlito"/>
                <a:cs typeface="Carlito"/>
              </a:rPr>
              <a:t>the</a:t>
            </a:r>
            <a:endParaRPr sz="2000">
              <a:latin typeface="Carlito"/>
              <a:cs typeface="Carlito"/>
            </a:endParaRPr>
          </a:p>
          <a:p>
            <a:pPr marL="355600">
              <a:lnSpc>
                <a:spcPct val="100000"/>
              </a:lnSpc>
            </a:pPr>
            <a:r>
              <a:rPr sz="2000" dirty="0">
                <a:latin typeface="Carlito"/>
                <a:cs typeface="Carlito"/>
              </a:rPr>
              <a:t>method </a:t>
            </a:r>
            <a:r>
              <a:rPr sz="2000" spc="-5" dirty="0">
                <a:latin typeface="Carlito"/>
                <a:cs typeface="Carlito"/>
              </a:rPr>
              <a:t>will produce high-quality</a:t>
            </a:r>
            <a:r>
              <a:rPr sz="2000" spc="-40" dirty="0">
                <a:latin typeface="Carlito"/>
                <a:cs typeface="Carlito"/>
              </a:rPr>
              <a:t> </a:t>
            </a:r>
            <a:r>
              <a:rPr sz="2000" spc="-10" dirty="0">
                <a:latin typeface="Carlito"/>
                <a:cs typeface="Carlito"/>
              </a:rPr>
              <a:t>clusters</a:t>
            </a:r>
            <a:endParaRPr sz="2000">
              <a:latin typeface="Carlito"/>
              <a:cs typeface="Carlito"/>
            </a:endParaRPr>
          </a:p>
          <a:p>
            <a:pPr marL="355600" indent="-342900">
              <a:lnSpc>
                <a:spcPct val="100000"/>
              </a:lnSpc>
              <a:spcBef>
                <a:spcPts val="484"/>
              </a:spcBef>
              <a:buFont typeface="Arial"/>
              <a:buChar char="•"/>
              <a:tabLst>
                <a:tab pos="354965" algn="l"/>
                <a:tab pos="355600" algn="l"/>
              </a:tabLst>
            </a:pPr>
            <a:r>
              <a:rPr sz="2000" dirty="0">
                <a:latin typeface="Carlito"/>
                <a:cs typeface="Carlito"/>
              </a:rPr>
              <a:t>Otherwise, the </a:t>
            </a:r>
            <a:r>
              <a:rPr sz="2000" spc="-10" dirty="0">
                <a:latin typeface="Carlito"/>
                <a:cs typeface="Carlito"/>
              </a:rPr>
              <a:t>clusters </a:t>
            </a:r>
            <a:r>
              <a:rPr sz="2000" spc="-5" dirty="0">
                <a:latin typeface="Carlito"/>
                <a:cs typeface="Carlito"/>
              </a:rPr>
              <a:t>produced can </a:t>
            </a:r>
            <a:r>
              <a:rPr sz="2000" dirty="0">
                <a:latin typeface="Carlito"/>
                <a:cs typeface="Carlito"/>
              </a:rPr>
              <a:t>be meaningless</a:t>
            </a:r>
            <a:endParaRPr sz="2000">
              <a:latin typeface="Carlito"/>
              <a:cs typeface="Carli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7E892-5942-4B4B-A88B-8E28A71AC7EE}"/>
              </a:ext>
            </a:extLst>
          </p:cNvPr>
          <p:cNvSpPr>
            <a:spLocks noGrp="1"/>
          </p:cNvSpPr>
          <p:nvPr>
            <p:ph type="title"/>
          </p:nvPr>
        </p:nvSpPr>
        <p:spPr/>
        <p:txBody>
          <a:bodyPr/>
          <a:lstStyle/>
          <a:p>
            <a:endParaRPr lang="en-IN"/>
          </a:p>
        </p:txBody>
      </p:sp>
      <p:pic>
        <p:nvPicPr>
          <p:cNvPr id="2050" name="Picture 2" descr="Hierarchical Clustering">
            <a:extLst>
              <a:ext uri="{FF2B5EF4-FFF2-40B4-BE49-F238E27FC236}">
                <a16:creationId xmlns:a16="http://schemas.microsoft.com/office/drawing/2014/main" id="{10082401-7AE2-4721-B08A-825A3216F1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1780" y="927277"/>
            <a:ext cx="4894220" cy="367066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8E11DB1-BF49-47B7-A092-241FA31FC37E}"/>
              </a:ext>
            </a:extLst>
          </p:cNvPr>
          <p:cNvSpPr txBox="1"/>
          <p:nvPr/>
        </p:nvSpPr>
        <p:spPr>
          <a:xfrm>
            <a:off x="6248400" y="1733550"/>
            <a:ext cx="2743200" cy="2190343"/>
          </a:xfrm>
          <a:prstGeom prst="rect">
            <a:avLst/>
          </a:prstGeom>
          <a:noFill/>
        </p:spPr>
        <p:txBody>
          <a:bodyPr wrap="square" rtlCol="0">
            <a:spAutoFit/>
          </a:bodyPr>
          <a:lstStyle/>
          <a:p>
            <a:pPr marL="355600" marR="5080" indent="-342900">
              <a:lnSpc>
                <a:spcPct val="100000"/>
              </a:lnSpc>
              <a:spcBef>
                <a:spcPts val="105"/>
              </a:spcBef>
              <a:buFont typeface="Arial"/>
              <a:buChar char="•"/>
              <a:tabLst>
                <a:tab pos="354965" algn="l"/>
                <a:tab pos="355600" algn="l"/>
              </a:tabLst>
            </a:pPr>
            <a:r>
              <a:rPr lang="en-US" sz="1100" spc="-5" dirty="0">
                <a:latin typeface="Carlito"/>
                <a:cs typeface="Carlito"/>
              </a:rPr>
              <a:t>The minimum </a:t>
            </a:r>
            <a:r>
              <a:rPr lang="en-US" sz="1100" dirty="0">
                <a:latin typeface="Carlito"/>
                <a:cs typeface="Carlito"/>
              </a:rPr>
              <a:t>and </a:t>
            </a:r>
            <a:r>
              <a:rPr lang="en-US" sz="1100" spc="-5" dirty="0">
                <a:latin typeface="Carlito"/>
                <a:cs typeface="Carlito"/>
              </a:rPr>
              <a:t>maximum measures </a:t>
            </a:r>
            <a:r>
              <a:rPr lang="en-US" sz="1100" spc="-10" dirty="0">
                <a:latin typeface="Carlito"/>
                <a:cs typeface="Carlito"/>
              </a:rPr>
              <a:t>represent two extremes </a:t>
            </a:r>
            <a:r>
              <a:rPr lang="en-US" sz="1100" dirty="0">
                <a:latin typeface="Carlito"/>
                <a:cs typeface="Carlito"/>
              </a:rPr>
              <a:t>in  measuring the </a:t>
            </a:r>
            <a:r>
              <a:rPr lang="en-US" sz="1100" spc="-10" dirty="0">
                <a:latin typeface="Carlito"/>
                <a:cs typeface="Carlito"/>
              </a:rPr>
              <a:t>distance </a:t>
            </a:r>
            <a:r>
              <a:rPr lang="en-US" sz="1100" spc="-5" dirty="0">
                <a:latin typeface="Carlito"/>
                <a:cs typeface="Carlito"/>
              </a:rPr>
              <a:t>between</a:t>
            </a:r>
            <a:r>
              <a:rPr lang="en-US" sz="1100" spc="10" dirty="0">
                <a:latin typeface="Carlito"/>
                <a:cs typeface="Carlito"/>
              </a:rPr>
              <a:t> </a:t>
            </a:r>
            <a:r>
              <a:rPr lang="en-US" sz="1100" spc="-10" dirty="0">
                <a:latin typeface="Carlito"/>
                <a:cs typeface="Carlito"/>
              </a:rPr>
              <a:t>clusters</a:t>
            </a:r>
            <a:endParaRPr lang="en-US" sz="1100" dirty="0">
              <a:latin typeface="Carlito"/>
              <a:cs typeface="Carlito"/>
            </a:endParaRPr>
          </a:p>
          <a:p>
            <a:pPr marL="355600" indent="-342900">
              <a:lnSpc>
                <a:spcPct val="100000"/>
              </a:lnSpc>
              <a:spcBef>
                <a:spcPts val="480"/>
              </a:spcBef>
              <a:buFont typeface="Arial"/>
              <a:buChar char="•"/>
              <a:tabLst>
                <a:tab pos="354965" algn="l"/>
                <a:tab pos="355600" algn="l"/>
              </a:tabLst>
            </a:pPr>
            <a:r>
              <a:rPr lang="en-US" sz="1100" spc="-5" dirty="0">
                <a:latin typeface="Carlito"/>
                <a:cs typeface="Carlito"/>
              </a:rPr>
              <a:t>They </a:t>
            </a:r>
            <a:r>
              <a:rPr lang="en-US" sz="1100" spc="-10" dirty="0">
                <a:latin typeface="Carlito"/>
                <a:cs typeface="Carlito"/>
              </a:rPr>
              <a:t>tend </a:t>
            </a:r>
            <a:r>
              <a:rPr lang="en-US" sz="1100" spc="-15" dirty="0">
                <a:latin typeface="Carlito"/>
                <a:cs typeface="Carlito"/>
              </a:rPr>
              <a:t>to </a:t>
            </a:r>
            <a:r>
              <a:rPr lang="en-US" sz="1100" dirty="0">
                <a:latin typeface="Carlito"/>
                <a:cs typeface="Carlito"/>
              </a:rPr>
              <a:t>be </a:t>
            </a:r>
            <a:r>
              <a:rPr lang="en-US" sz="1100" spc="-10" dirty="0">
                <a:latin typeface="Carlito"/>
                <a:cs typeface="Carlito"/>
              </a:rPr>
              <a:t>overly sensitive </a:t>
            </a:r>
            <a:r>
              <a:rPr lang="en-US" sz="1100" spc="-15" dirty="0">
                <a:latin typeface="Carlito"/>
                <a:cs typeface="Carlito"/>
              </a:rPr>
              <a:t>to </a:t>
            </a:r>
            <a:r>
              <a:rPr lang="en-US" sz="1100" spc="-5" dirty="0">
                <a:latin typeface="Carlito"/>
                <a:cs typeface="Carlito"/>
              </a:rPr>
              <a:t>outliers or </a:t>
            </a:r>
            <a:r>
              <a:rPr lang="en-US" sz="1100" spc="-10" dirty="0">
                <a:latin typeface="Carlito"/>
                <a:cs typeface="Carlito"/>
              </a:rPr>
              <a:t>noisy</a:t>
            </a:r>
            <a:r>
              <a:rPr lang="en-US" sz="1100" spc="80" dirty="0">
                <a:latin typeface="Carlito"/>
                <a:cs typeface="Carlito"/>
              </a:rPr>
              <a:t> </a:t>
            </a:r>
            <a:r>
              <a:rPr lang="en-US" sz="1100" spc="-15" dirty="0">
                <a:latin typeface="Carlito"/>
                <a:cs typeface="Carlito"/>
              </a:rPr>
              <a:t>data</a:t>
            </a:r>
            <a:endParaRPr lang="en-US" sz="1100" dirty="0">
              <a:latin typeface="Carlito"/>
              <a:cs typeface="Carlito"/>
            </a:endParaRPr>
          </a:p>
          <a:p>
            <a:pPr marL="355600" marR="86995" indent="-342900">
              <a:lnSpc>
                <a:spcPct val="100000"/>
              </a:lnSpc>
              <a:spcBef>
                <a:spcPts val="480"/>
              </a:spcBef>
              <a:buFont typeface="Arial"/>
              <a:buChar char="•"/>
              <a:tabLst>
                <a:tab pos="354965" algn="l"/>
                <a:tab pos="355600" algn="l"/>
              </a:tabLst>
            </a:pPr>
            <a:r>
              <a:rPr lang="en-US" sz="1100" spc="-5" dirty="0">
                <a:latin typeface="Carlito"/>
                <a:cs typeface="Carlito"/>
              </a:rPr>
              <a:t>The </a:t>
            </a:r>
            <a:r>
              <a:rPr lang="en-US" sz="1100" dirty="0">
                <a:latin typeface="Carlito"/>
                <a:cs typeface="Carlito"/>
              </a:rPr>
              <a:t>use </a:t>
            </a:r>
            <a:r>
              <a:rPr lang="en-US" sz="1100" spc="-5" dirty="0">
                <a:latin typeface="Carlito"/>
                <a:cs typeface="Carlito"/>
              </a:rPr>
              <a:t>of mean or </a:t>
            </a:r>
            <a:r>
              <a:rPr lang="en-US" sz="1100" spc="-15" dirty="0">
                <a:latin typeface="Carlito"/>
                <a:cs typeface="Carlito"/>
              </a:rPr>
              <a:t>average </a:t>
            </a:r>
            <a:r>
              <a:rPr lang="en-US" sz="1100" spc="-10" dirty="0">
                <a:latin typeface="Carlito"/>
                <a:cs typeface="Carlito"/>
              </a:rPr>
              <a:t>distance </a:t>
            </a:r>
            <a:r>
              <a:rPr lang="en-US" sz="1100" dirty="0">
                <a:latin typeface="Carlito"/>
                <a:cs typeface="Carlito"/>
              </a:rPr>
              <a:t>is a </a:t>
            </a:r>
            <a:r>
              <a:rPr lang="en-US" sz="1100" spc="-10" dirty="0">
                <a:latin typeface="Carlito"/>
                <a:cs typeface="Carlito"/>
              </a:rPr>
              <a:t>compromise </a:t>
            </a:r>
            <a:r>
              <a:rPr lang="en-US" sz="1100" spc="-5" dirty="0">
                <a:latin typeface="Carlito"/>
                <a:cs typeface="Carlito"/>
              </a:rPr>
              <a:t>between </a:t>
            </a:r>
            <a:r>
              <a:rPr lang="en-US" sz="1100" dirty="0">
                <a:latin typeface="Carlito"/>
                <a:cs typeface="Carlito"/>
              </a:rPr>
              <a:t>the  </a:t>
            </a:r>
            <a:r>
              <a:rPr lang="en-US" sz="1100" spc="-5" dirty="0">
                <a:latin typeface="Carlito"/>
                <a:cs typeface="Carlito"/>
              </a:rPr>
              <a:t>minimum </a:t>
            </a:r>
            <a:r>
              <a:rPr lang="en-US" sz="1100" dirty="0">
                <a:latin typeface="Carlito"/>
                <a:cs typeface="Carlito"/>
              </a:rPr>
              <a:t>and </a:t>
            </a:r>
            <a:r>
              <a:rPr lang="en-US" sz="1100" spc="-5" dirty="0">
                <a:latin typeface="Carlito"/>
                <a:cs typeface="Carlito"/>
              </a:rPr>
              <a:t>maximum distances </a:t>
            </a:r>
            <a:r>
              <a:rPr lang="en-US" sz="1100" dirty="0">
                <a:latin typeface="Carlito"/>
                <a:cs typeface="Carlito"/>
              </a:rPr>
              <a:t>and </a:t>
            </a:r>
            <a:r>
              <a:rPr lang="en-US" sz="1100" spc="-10" dirty="0">
                <a:latin typeface="Carlito"/>
                <a:cs typeface="Carlito"/>
              </a:rPr>
              <a:t>overcomes </a:t>
            </a:r>
            <a:r>
              <a:rPr lang="en-US" sz="1100" dirty="0">
                <a:latin typeface="Carlito"/>
                <a:cs typeface="Carlito"/>
              </a:rPr>
              <a:t>the outlier </a:t>
            </a:r>
            <a:r>
              <a:rPr lang="en-US" sz="1100" spc="-5" dirty="0">
                <a:latin typeface="Carlito"/>
                <a:cs typeface="Carlito"/>
              </a:rPr>
              <a:t>sensitivity  problem</a:t>
            </a:r>
            <a:endParaRPr lang="en-US" sz="1100" dirty="0">
              <a:latin typeface="Carlito"/>
              <a:cs typeface="Carlito"/>
            </a:endParaRPr>
          </a:p>
          <a:p>
            <a:endParaRPr lang="en-IN" dirty="0"/>
          </a:p>
        </p:txBody>
      </p:sp>
    </p:spTree>
    <p:extLst>
      <p:ext uri="{BB962C8B-B14F-4D97-AF65-F5344CB8AC3E}">
        <p14:creationId xmlns:p14="http://schemas.microsoft.com/office/powerpoint/2010/main" val="694576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6445" y="385953"/>
            <a:ext cx="3529965" cy="452120"/>
          </a:xfrm>
          <a:prstGeom prst="rect">
            <a:avLst/>
          </a:prstGeom>
        </p:spPr>
        <p:txBody>
          <a:bodyPr vert="horz" wrap="square" lIns="0" tIns="12065" rIns="0" bIns="0" rtlCol="0">
            <a:spAutoFit/>
          </a:bodyPr>
          <a:lstStyle/>
          <a:p>
            <a:pPr marL="12700">
              <a:lnSpc>
                <a:spcPct val="100000"/>
              </a:lnSpc>
              <a:spcBef>
                <a:spcPts val="95"/>
              </a:spcBef>
            </a:pPr>
            <a:r>
              <a:rPr sz="2800" b="1" spc="-10" dirty="0">
                <a:solidFill>
                  <a:srgbClr val="0000FF"/>
                </a:solidFill>
                <a:latin typeface="Carlito"/>
                <a:cs typeface="Carlito"/>
              </a:rPr>
              <a:t>Choice </a:t>
            </a:r>
            <a:r>
              <a:rPr sz="2800" b="1" spc="-5" dirty="0">
                <a:solidFill>
                  <a:srgbClr val="0000FF"/>
                </a:solidFill>
                <a:latin typeface="Carlito"/>
                <a:cs typeface="Carlito"/>
              </a:rPr>
              <a:t>of</a:t>
            </a:r>
            <a:r>
              <a:rPr sz="2800" b="1" spc="15" dirty="0">
                <a:solidFill>
                  <a:srgbClr val="0000FF"/>
                </a:solidFill>
                <a:latin typeface="Carlito"/>
                <a:cs typeface="Carlito"/>
              </a:rPr>
              <a:t> </a:t>
            </a:r>
            <a:r>
              <a:rPr sz="2800" b="1" spc="-15" dirty="0">
                <a:solidFill>
                  <a:srgbClr val="0000FF"/>
                </a:solidFill>
                <a:latin typeface="Carlito"/>
                <a:cs typeface="Carlito"/>
              </a:rPr>
              <a:t>measurement</a:t>
            </a:r>
            <a:endParaRPr sz="2800">
              <a:latin typeface="Carlito"/>
              <a:cs typeface="Carlito"/>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18</a:t>
            </a:fld>
            <a:endParaRPr dirty="0"/>
          </a:p>
        </p:txBody>
      </p:sp>
      <p:sp>
        <p:nvSpPr>
          <p:cNvPr id="3" name="object 3"/>
          <p:cNvSpPr txBox="1"/>
          <p:nvPr/>
        </p:nvSpPr>
        <p:spPr>
          <a:xfrm>
            <a:off x="535940" y="1216913"/>
            <a:ext cx="7867650" cy="2952750"/>
          </a:xfrm>
          <a:prstGeom prst="rect">
            <a:avLst/>
          </a:prstGeom>
        </p:spPr>
        <p:txBody>
          <a:bodyPr vert="horz" wrap="square" lIns="0" tIns="13335" rIns="0" bIns="0" rtlCol="0">
            <a:spAutoFit/>
          </a:bodyPr>
          <a:lstStyle/>
          <a:p>
            <a:pPr marL="355600" marR="5080" indent="-342900" algn="just">
              <a:lnSpc>
                <a:spcPct val="100000"/>
              </a:lnSpc>
              <a:spcBef>
                <a:spcPts val="105"/>
              </a:spcBef>
              <a:buFont typeface="Arial"/>
              <a:buChar char="•"/>
              <a:tabLst>
                <a:tab pos="354965" algn="l"/>
                <a:tab pos="355600" algn="l"/>
              </a:tabLst>
            </a:pPr>
            <a:r>
              <a:rPr sz="2000" spc="-5" dirty="0">
                <a:latin typeface="Carlito"/>
                <a:cs typeface="Carlito"/>
              </a:rPr>
              <a:t>The </a:t>
            </a:r>
            <a:r>
              <a:rPr sz="2000" spc="-10" dirty="0">
                <a:latin typeface="Carlito"/>
                <a:cs typeface="Carlito"/>
              </a:rPr>
              <a:t>above </a:t>
            </a:r>
            <a:r>
              <a:rPr sz="2000" spc="-5" dirty="0">
                <a:latin typeface="Carlito"/>
                <a:cs typeface="Carlito"/>
              </a:rPr>
              <a:t>minimum </a:t>
            </a:r>
            <a:r>
              <a:rPr sz="2000" dirty="0">
                <a:latin typeface="Carlito"/>
                <a:cs typeface="Carlito"/>
              </a:rPr>
              <a:t>and </a:t>
            </a:r>
            <a:r>
              <a:rPr sz="2000" spc="-5" dirty="0">
                <a:latin typeface="Carlito"/>
                <a:cs typeface="Carlito"/>
              </a:rPr>
              <a:t>maximum measures </a:t>
            </a:r>
            <a:r>
              <a:rPr sz="2000" spc="-10" dirty="0">
                <a:latin typeface="Carlito"/>
                <a:cs typeface="Carlito"/>
              </a:rPr>
              <a:t>represent two extremes </a:t>
            </a:r>
            <a:r>
              <a:rPr sz="2000" dirty="0">
                <a:latin typeface="Carlito"/>
                <a:cs typeface="Carlito"/>
              </a:rPr>
              <a:t>in  measuring the </a:t>
            </a:r>
            <a:r>
              <a:rPr sz="2000" spc="-10" dirty="0">
                <a:latin typeface="Carlito"/>
                <a:cs typeface="Carlito"/>
              </a:rPr>
              <a:t>distance </a:t>
            </a:r>
            <a:r>
              <a:rPr sz="2000" spc="-5" dirty="0">
                <a:latin typeface="Carlito"/>
                <a:cs typeface="Carlito"/>
              </a:rPr>
              <a:t>between</a:t>
            </a:r>
            <a:r>
              <a:rPr sz="2000" spc="10" dirty="0">
                <a:latin typeface="Carlito"/>
                <a:cs typeface="Carlito"/>
              </a:rPr>
              <a:t> </a:t>
            </a:r>
            <a:r>
              <a:rPr sz="2000" spc="-10" dirty="0">
                <a:latin typeface="Carlito"/>
                <a:cs typeface="Carlito"/>
              </a:rPr>
              <a:t>clusters</a:t>
            </a:r>
            <a:endParaRPr sz="2000" dirty="0">
              <a:latin typeface="Carlito"/>
              <a:cs typeface="Carlito"/>
            </a:endParaRPr>
          </a:p>
          <a:p>
            <a:pPr marL="355600" indent="-342900" algn="just">
              <a:lnSpc>
                <a:spcPct val="100000"/>
              </a:lnSpc>
              <a:spcBef>
                <a:spcPts val="480"/>
              </a:spcBef>
              <a:buFont typeface="Arial"/>
              <a:buChar char="•"/>
              <a:tabLst>
                <a:tab pos="354965" algn="l"/>
                <a:tab pos="355600" algn="l"/>
              </a:tabLst>
            </a:pPr>
            <a:r>
              <a:rPr sz="2000" spc="-5" dirty="0">
                <a:latin typeface="Carlito"/>
                <a:cs typeface="Carlito"/>
              </a:rPr>
              <a:t>They </a:t>
            </a:r>
            <a:r>
              <a:rPr sz="2000" spc="-10" dirty="0">
                <a:latin typeface="Carlito"/>
                <a:cs typeface="Carlito"/>
              </a:rPr>
              <a:t>tend </a:t>
            </a:r>
            <a:r>
              <a:rPr sz="2000" spc="-15" dirty="0">
                <a:latin typeface="Carlito"/>
                <a:cs typeface="Carlito"/>
              </a:rPr>
              <a:t>to </a:t>
            </a:r>
            <a:r>
              <a:rPr sz="2000" dirty="0">
                <a:latin typeface="Carlito"/>
                <a:cs typeface="Carlito"/>
              </a:rPr>
              <a:t>be </a:t>
            </a:r>
            <a:r>
              <a:rPr sz="2000" spc="-10" dirty="0">
                <a:latin typeface="Carlito"/>
                <a:cs typeface="Carlito"/>
              </a:rPr>
              <a:t>overly sensitive </a:t>
            </a:r>
            <a:r>
              <a:rPr sz="2000" spc="-15" dirty="0">
                <a:latin typeface="Carlito"/>
                <a:cs typeface="Carlito"/>
              </a:rPr>
              <a:t>to </a:t>
            </a:r>
            <a:r>
              <a:rPr sz="2000" spc="-5" dirty="0">
                <a:latin typeface="Carlito"/>
                <a:cs typeface="Carlito"/>
              </a:rPr>
              <a:t>outliers or </a:t>
            </a:r>
            <a:r>
              <a:rPr sz="2000" spc="-10" dirty="0">
                <a:latin typeface="Carlito"/>
                <a:cs typeface="Carlito"/>
              </a:rPr>
              <a:t>noisy</a:t>
            </a:r>
            <a:r>
              <a:rPr sz="2000" spc="80" dirty="0">
                <a:latin typeface="Carlito"/>
                <a:cs typeface="Carlito"/>
              </a:rPr>
              <a:t> </a:t>
            </a:r>
            <a:r>
              <a:rPr sz="2000" spc="-15" dirty="0">
                <a:latin typeface="Carlito"/>
                <a:cs typeface="Carlito"/>
              </a:rPr>
              <a:t>data</a:t>
            </a:r>
            <a:endParaRPr sz="2000" dirty="0">
              <a:latin typeface="Carlito"/>
              <a:cs typeface="Carlito"/>
            </a:endParaRPr>
          </a:p>
          <a:p>
            <a:pPr marL="355600" marR="86995" indent="-342900" algn="just">
              <a:lnSpc>
                <a:spcPct val="100000"/>
              </a:lnSpc>
              <a:spcBef>
                <a:spcPts val="480"/>
              </a:spcBef>
              <a:buFont typeface="Arial"/>
              <a:buChar char="•"/>
              <a:tabLst>
                <a:tab pos="354965" algn="l"/>
                <a:tab pos="355600" algn="l"/>
              </a:tabLst>
            </a:pPr>
            <a:r>
              <a:rPr sz="2000" spc="-5" dirty="0">
                <a:latin typeface="Carlito"/>
                <a:cs typeface="Carlito"/>
              </a:rPr>
              <a:t>The </a:t>
            </a:r>
            <a:r>
              <a:rPr sz="2000" dirty="0">
                <a:latin typeface="Carlito"/>
                <a:cs typeface="Carlito"/>
              </a:rPr>
              <a:t>use </a:t>
            </a:r>
            <a:r>
              <a:rPr sz="2000" spc="-5" dirty="0">
                <a:latin typeface="Carlito"/>
                <a:cs typeface="Carlito"/>
              </a:rPr>
              <a:t>of mean or </a:t>
            </a:r>
            <a:r>
              <a:rPr sz="2000" spc="-15" dirty="0">
                <a:latin typeface="Carlito"/>
                <a:cs typeface="Carlito"/>
              </a:rPr>
              <a:t>average </a:t>
            </a:r>
            <a:r>
              <a:rPr sz="2000" spc="-10" dirty="0">
                <a:latin typeface="Carlito"/>
                <a:cs typeface="Carlito"/>
              </a:rPr>
              <a:t>distance </a:t>
            </a:r>
            <a:r>
              <a:rPr sz="2000" dirty="0">
                <a:latin typeface="Carlito"/>
                <a:cs typeface="Carlito"/>
              </a:rPr>
              <a:t>is a </a:t>
            </a:r>
            <a:r>
              <a:rPr sz="2000" spc="-10" dirty="0">
                <a:latin typeface="Carlito"/>
                <a:cs typeface="Carlito"/>
              </a:rPr>
              <a:t>compromise </a:t>
            </a:r>
            <a:r>
              <a:rPr sz="2000" spc="-5" dirty="0">
                <a:latin typeface="Carlito"/>
                <a:cs typeface="Carlito"/>
              </a:rPr>
              <a:t>between </a:t>
            </a:r>
            <a:r>
              <a:rPr sz="2000" dirty="0">
                <a:latin typeface="Carlito"/>
                <a:cs typeface="Carlito"/>
              </a:rPr>
              <a:t>the  </a:t>
            </a:r>
            <a:r>
              <a:rPr sz="2000" spc="-5" dirty="0">
                <a:latin typeface="Carlito"/>
                <a:cs typeface="Carlito"/>
              </a:rPr>
              <a:t>minimum </a:t>
            </a:r>
            <a:r>
              <a:rPr sz="2000" dirty="0">
                <a:latin typeface="Carlito"/>
                <a:cs typeface="Carlito"/>
              </a:rPr>
              <a:t>and </a:t>
            </a:r>
            <a:r>
              <a:rPr sz="2000" spc="-5" dirty="0">
                <a:latin typeface="Carlito"/>
                <a:cs typeface="Carlito"/>
              </a:rPr>
              <a:t>maximum distances </a:t>
            </a:r>
            <a:r>
              <a:rPr sz="2000" dirty="0">
                <a:latin typeface="Carlito"/>
                <a:cs typeface="Carlito"/>
              </a:rPr>
              <a:t>and </a:t>
            </a:r>
            <a:r>
              <a:rPr sz="2000" spc="-10" dirty="0">
                <a:latin typeface="Carlito"/>
                <a:cs typeface="Carlito"/>
              </a:rPr>
              <a:t>overcomes </a:t>
            </a:r>
            <a:r>
              <a:rPr sz="2000" dirty="0">
                <a:latin typeface="Carlito"/>
                <a:cs typeface="Carlito"/>
              </a:rPr>
              <a:t>the outlier </a:t>
            </a:r>
            <a:r>
              <a:rPr sz="2000" spc="-5" dirty="0">
                <a:latin typeface="Carlito"/>
                <a:cs typeface="Carlito"/>
              </a:rPr>
              <a:t>sensitivity  problem</a:t>
            </a:r>
            <a:endParaRPr sz="2000" dirty="0">
              <a:latin typeface="Carlito"/>
              <a:cs typeface="Carlito"/>
            </a:endParaRPr>
          </a:p>
          <a:p>
            <a:pPr marL="355600" marR="490855" indent="-342900" algn="just">
              <a:lnSpc>
                <a:spcPct val="100000"/>
              </a:lnSpc>
              <a:spcBef>
                <a:spcPts val="480"/>
              </a:spcBef>
              <a:buFont typeface="Arial"/>
              <a:buChar char="•"/>
              <a:tabLst>
                <a:tab pos="354965" algn="l"/>
                <a:tab pos="355600" algn="l"/>
              </a:tabLst>
            </a:pPr>
            <a:r>
              <a:rPr sz="2000" spc="-5" dirty="0">
                <a:latin typeface="Carlito"/>
                <a:cs typeface="Carlito"/>
              </a:rPr>
              <a:t>Whereas </a:t>
            </a:r>
            <a:r>
              <a:rPr sz="2000" dirty="0">
                <a:latin typeface="Carlito"/>
                <a:cs typeface="Carlito"/>
              </a:rPr>
              <a:t>the mean </a:t>
            </a:r>
            <a:r>
              <a:rPr sz="2000" spc="-10" dirty="0">
                <a:latin typeface="Carlito"/>
                <a:cs typeface="Carlito"/>
              </a:rPr>
              <a:t>distance </a:t>
            </a:r>
            <a:r>
              <a:rPr sz="2000" dirty="0">
                <a:latin typeface="Carlito"/>
                <a:cs typeface="Carlito"/>
              </a:rPr>
              <a:t>is the </a:t>
            </a:r>
            <a:r>
              <a:rPr sz="2000" spc="-10" dirty="0">
                <a:latin typeface="Carlito"/>
                <a:cs typeface="Carlito"/>
              </a:rPr>
              <a:t>simplest </a:t>
            </a:r>
            <a:r>
              <a:rPr sz="2000" spc="-15" dirty="0">
                <a:latin typeface="Carlito"/>
                <a:cs typeface="Carlito"/>
              </a:rPr>
              <a:t>to </a:t>
            </a:r>
            <a:r>
              <a:rPr sz="2000" spc="-5" dirty="0">
                <a:latin typeface="Carlito"/>
                <a:cs typeface="Carlito"/>
              </a:rPr>
              <a:t>compute, </a:t>
            </a:r>
            <a:r>
              <a:rPr sz="2000" dirty="0">
                <a:latin typeface="Carlito"/>
                <a:cs typeface="Carlito"/>
              </a:rPr>
              <a:t>the </a:t>
            </a:r>
            <a:r>
              <a:rPr sz="2000" spc="-20" dirty="0">
                <a:latin typeface="Carlito"/>
                <a:cs typeface="Carlito"/>
              </a:rPr>
              <a:t>average  </a:t>
            </a:r>
            <a:r>
              <a:rPr sz="2000" spc="-10" dirty="0">
                <a:latin typeface="Carlito"/>
                <a:cs typeface="Carlito"/>
              </a:rPr>
              <a:t>distance </a:t>
            </a:r>
            <a:r>
              <a:rPr sz="2000" dirty="0">
                <a:latin typeface="Carlito"/>
                <a:cs typeface="Carlito"/>
              </a:rPr>
              <a:t>is </a:t>
            </a:r>
            <a:r>
              <a:rPr sz="2000" spc="-5" dirty="0">
                <a:latin typeface="Carlito"/>
                <a:cs typeface="Carlito"/>
              </a:rPr>
              <a:t>advantageous </a:t>
            </a:r>
            <a:r>
              <a:rPr sz="2000" dirty="0">
                <a:latin typeface="Carlito"/>
                <a:cs typeface="Carlito"/>
              </a:rPr>
              <a:t>in </a:t>
            </a:r>
            <a:r>
              <a:rPr sz="2000" spc="-5" dirty="0">
                <a:latin typeface="Carlito"/>
                <a:cs typeface="Carlito"/>
              </a:rPr>
              <a:t>that </a:t>
            </a:r>
            <a:r>
              <a:rPr sz="2000" dirty="0">
                <a:latin typeface="Carlito"/>
                <a:cs typeface="Carlito"/>
              </a:rPr>
              <a:t>it can handle </a:t>
            </a:r>
            <a:r>
              <a:rPr sz="2000" spc="-10" dirty="0">
                <a:latin typeface="Carlito"/>
                <a:cs typeface="Carlito"/>
              </a:rPr>
              <a:t>categorical </a:t>
            </a:r>
            <a:r>
              <a:rPr sz="2000" dirty="0">
                <a:latin typeface="Carlito"/>
                <a:cs typeface="Carlito"/>
              </a:rPr>
              <a:t>as </a:t>
            </a:r>
            <a:r>
              <a:rPr sz="2000" spc="-5" dirty="0">
                <a:latin typeface="Carlito"/>
                <a:cs typeface="Carlito"/>
              </a:rPr>
              <a:t>well </a:t>
            </a:r>
            <a:r>
              <a:rPr sz="2000" dirty="0">
                <a:latin typeface="Carlito"/>
                <a:cs typeface="Carlito"/>
              </a:rPr>
              <a:t>as  numeric</a:t>
            </a:r>
            <a:r>
              <a:rPr sz="2000" spc="-5" dirty="0">
                <a:latin typeface="Carlito"/>
                <a:cs typeface="Carlito"/>
              </a:rPr>
              <a:t> </a:t>
            </a:r>
            <a:r>
              <a:rPr sz="2000" spc="-15" dirty="0">
                <a:latin typeface="Carlito"/>
                <a:cs typeface="Carlito"/>
              </a:rPr>
              <a:t>data</a:t>
            </a:r>
            <a:endParaRPr sz="2000" dirty="0">
              <a:latin typeface="Carlito"/>
              <a:cs typeface="Carli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86378" y="385953"/>
            <a:ext cx="1572895" cy="45212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0000FF"/>
                </a:solidFill>
              </a:rPr>
              <a:t>Il</a:t>
            </a:r>
            <a:r>
              <a:rPr sz="2800" spc="-20" dirty="0">
                <a:solidFill>
                  <a:srgbClr val="0000FF"/>
                </a:solidFill>
              </a:rPr>
              <a:t>l</a:t>
            </a:r>
            <a:r>
              <a:rPr sz="2800" spc="-10" dirty="0">
                <a:solidFill>
                  <a:srgbClr val="0000FF"/>
                </a:solidFill>
              </a:rPr>
              <a:t>u</a:t>
            </a:r>
            <a:r>
              <a:rPr sz="2800" spc="-50" dirty="0">
                <a:solidFill>
                  <a:srgbClr val="0000FF"/>
                </a:solidFill>
              </a:rPr>
              <a:t>s</a:t>
            </a:r>
            <a:r>
              <a:rPr sz="2800" spc="-5" dirty="0">
                <a:solidFill>
                  <a:srgbClr val="0000FF"/>
                </a:solidFill>
              </a:rPr>
              <a:t>t</a:t>
            </a:r>
            <a:r>
              <a:rPr sz="2800" spc="-70" dirty="0">
                <a:solidFill>
                  <a:srgbClr val="0000FF"/>
                </a:solidFill>
              </a:rPr>
              <a:t>r</a:t>
            </a:r>
            <a:r>
              <a:rPr sz="2800" spc="-25" dirty="0">
                <a:solidFill>
                  <a:srgbClr val="0000FF"/>
                </a:solidFill>
              </a:rPr>
              <a:t>a</a:t>
            </a:r>
            <a:r>
              <a:rPr sz="2800" spc="-5" dirty="0">
                <a:solidFill>
                  <a:srgbClr val="0000FF"/>
                </a:solidFill>
              </a:rPr>
              <a:t>tion</a:t>
            </a:r>
            <a:endParaRPr sz="2800"/>
          </a:p>
        </p:txBody>
      </p:sp>
      <p:sp>
        <p:nvSpPr>
          <p:cNvPr id="3" name="object 3"/>
          <p:cNvSpPr txBox="1"/>
          <p:nvPr/>
        </p:nvSpPr>
        <p:spPr>
          <a:xfrm>
            <a:off x="4705350" y="1913382"/>
            <a:ext cx="4087495" cy="1123315"/>
          </a:xfrm>
          <a:prstGeom prst="rect">
            <a:avLst/>
          </a:prstGeom>
        </p:spPr>
        <p:txBody>
          <a:bodyPr vert="horz" wrap="square" lIns="0" tIns="12700" rIns="0" bIns="0" rtlCol="0">
            <a:spAutoFit/>
          </a:bodyPr>
          <a:lstStyle/>
          <a:p>
            <a:pPr marL="12700" marR="5080">
              <a:lnSpc>
                <a:spcPct val="100000"/>
              </a:lnSpc>
              <a:spcBef>
                <a:spcPts val="100"/>
              </a:spcBef>
            </a:pPr>
            <a:r>
              <a:rPr sz="1800" spc="-10" dirty="0">
                <a:latin typeface="Carlito"/>
                <a:cs typeface="Carlito"/>
              </a:rPr>
              <a:t>Representation </a:t>
            </a:r>
            <a:r>
              <a:rPr sz="1800" spc="-5" dirty="0">
                <a:latin typeface="Carlito"/>
                <a:cs typeface="Carlito"/>
              </a:rPr>
              <a:t>of some </a:t>
            </a:r>
            <a:r>
              <a:rPr sz="1800" spc="-10" dirty="0">
                <a:latin typeface="Carlito"/>
                <a:cs typeface="Carlito"/>
              </a:rPr>
              <a:t>definitions </a:t>
            </a:r>
            <a:r>
              <a:rPr sz="1800" spc="-5" dirty="0">
                <a:latin typeface="Carlito"/>
                <a:cs typeface="Carlito"/>
              </a:rPr>
              <a:t>of inter-  </a:t>
            </a:r>
            <a:r>
              <a:rPr sz="1800" spc="-10" dirty="0">
                <a:latin typeface="Carlito"/>
                <a:cs typeface="Carlito"/>
              </a:rPr>
              <a:t>cluster </a:t>
            </a:r>
            <a:r>
              <a:rPr sz="1800" spc="-5" dirty="0">
                <a:latin typeface="Carlito"/>
                <a:cs typeface="Carlito"/>
              </a:rPr>
              <a:t>dissimilarity: (a) </a:t>
            </a:r>
            <a:r>
              <a:rPr sz="1800" spc="-10" dirty="0">
                <a:latin typeface="Carlito"/>
                <a:cs typeface="Carlito"/>
              </a:rPr>
              <a:t>Group</a:t>
            </a:r>
            <a:r>
              <a:rPr sz="1800" spc="40" dirty="0">
                <a:latin typeface="Carlito"/>
                <a:cs typeface="Carlito"/>
              </a:rPr>
              <a:t> </a:t>
            </a:r>
            <a:r>
              <a:rPr sz="1800" spc="-15" dirty="0">
                <a:latin typeface="Carlito"/>
                <a:cs typeface="Carlito"/>
              </a:rPr>
              <a:t>average</a:t>
            </a:r>
            <a:endParaRPr sz="1800" dirty="0">
              <a:latin typeface="Carlito"/>
              <a:cs typeface="Carlito"/>
            </a:endParaRPr>
          </a:p>
          <a:p>
            <a:pPr marL="2153920" indent="-313055">
              <a:lnSpc>
                <a:spcPct val="100000"/>
              </a:lnSpc>
              <a:buAutoNum type="alphaLcParenBoth" startAt="2"/>
              <a:tabLst>
                <a:tab pos="2154555" algn="l"/>
              </a:tabLst>
            </a:pPr>
            <a:r>
              <a:rPr sz="1800" spc="-10" dirty="0">
                <a:latin typeface="Carlito"/>
                <a:cs typeface="Carlito"/>
              </a:rPr>
              <a:t>Nearest</a:t>
            </a:r>
            <a:r>
              <a:rPr sz="1800" spc="-15" dirty="0">
                <a:latin typeface="Carlito"/>
                <a:cs typeface="Carlito"/>
              </a:rPr>
              <a:t> </a:t>
            </a:r>
            <a:r>
              <a:rPr sz="1800" spc="-5" dirty="0">
                <a:latin typeface="Carlito"/>
                <a:cs typeface="Carlito"/>
              </a:rPr>
              <a:t>neighbor</a:t>
            </a:r>
            <a:endParaRPr sz="1800" dirty="0">
              <a:latin typeface="Carlito"/>
              <a:cs typeface="Carlito"/>
            </a:endParaRPr>
          </a:p>
          <a:p>
            <a:pPr marL="2130425" indent="-289560">
              <a:lnSpc>
                <a:spcPct val="100000"/>
              </a:lnSpc>
              <a:buAutoNum type="alphaLcParenBoth" startAt="2"/>
              <a:tabLst>
                <a:tab pos="2131060" algn="l"/>
              </a:tabLst>
            </a:pPr>
            <a:r>
              <a:rPr sz="1800" spc="-10" dirty="0">
                <a:latin typeface="Carlito"/>
                <a:cs typeface="Carlito"/>
              </a:rPr>
              <a:t>Furthest</a:t>
            </a:r>
            <a:r>
              <a:rPr sz="1800" spc="-5" dirty="0">
                <a:latin typeface="Carlito"/>
                <a:cs typeface="Carlito"/>
              </a:rPr>
              <a:t> neighbor</a:t>
            </a:r>
            <a:endParaRPr sz="1800" dirty="0">
              <a:latin typeface="Carlito"/>
              <a:cs typeface="Carlito"/>
            </a:endParaRPr>
          </a:p>
        </p:txBody>
      </p:sp>
      <p:grpSp>
        <p:nvGrpSpPr>
          <p:cNvPr id="4" name="object 4"/>
          <p:cNvGrpSpPr/>
          <p:nvPr/>
        </p:nvGrpSpPr>
        <p:grpSpPr>
          <a:xfrm>
            <a:off x="914400" y="1504950"/>
            <a:ext cx="3108960" cy="3322320"/>
            <a:chOff x="946403" y="1088136"/>
            <a:chExt cx="3108960" cy="3322320"/>
          </a:xfrm>
        </p:grpSpPr>
        <p:sp>
          <p:nvSpPr>
            <p:cNvPr id="5" name="object 5"/>
            <p:cNvSpPr/>
            <p:nvPr/>
          </p:nvSpPr>
          <p:spPr>
            <a:xfrm>
              <a:off x="946403" y="1088136"/>
              <a:ext cx="3108960" cy="3322320"/>
            </a:xfrm>
            <a:prstGeom prst="rect">
              <a:avLst/>
            </a:prstGeom>
            <a:blipFill>
              <a:blip r:embed="rId2" cstate="print"/>
              <a:stretch>
                <a:fillRect/>
              </a:stretch>
            </a:blipFill>
          </p:spPr>
          <p:txBody>
            <a:bodyPr wrap="square" lIns="0" tIns="0" rIns="0" bIns="0" rtlCol="0"/>
            <a:lstStyle/>
            <a:p>
              <a:endParaRPr dirty="0"/>
            </a:p>
          </p:txBody>
        </p:sp>
        <p:sp>
          <p:nvSpPr>
            <p:cNvPr id="6" name="object 6"/>
            <p:cNvSpPr/>
            <p:nvPr/>
          </p:nvSpPr>
          <p:spPr>
            <a:xfrm>
              <a:off x="2078100" y="2710941"/>
              <a:ext cx="840105" cy="198120"/>
            </a:xfrm>
            <a:custGeom>
              <a:avLst/>
              <a:gdLst/>
              <a:ahLst/>
              <a:cxnLst/>
              <a:rect l="l" t="t" r="r" b="b"/>
              <a:pathLst>
                <a:path w="840105" h="198119">
                  <a:moveTo>
                    <a:pt x="802752" y="193855"/>
                  </a:moveTo>
                  <a:lnTo>
                    <a:pt x="803529" y="195580"/>
                  </a:lnTo>
                  <a:lnTo>
                    <a:pt x="804799" y="198119"/>
                  </a:lnTo>
                  <a:lnTo>
                    <a:pt x="809751" y="198119"/>
                  </a:lnTo>
                  <a:lnTo>
                    <a:pt x="819657" y="194309"/>
                  </a:lnTo>
                  <a:lnTo>
                    <a:pt x="804799" y="194309"/>
                  </a:lnTo>
                  <a:lnTo>
                    <a:pt x="802752" y="193855"/>
                  </a:lnTo>
                  <a:close/>
                </a:path>
                <a:path w="840105" h="198119">
                  <a:moveTo>
                    <a:pt x="828294" y="193039"/>
                  </a:moveTo>
                  <a:lnTo>
                    <a:pt x="828548" y="194309"/>
                  </a:lnTo>
                  <a:lnTo>
                    <a:pt x="830326" y="195580"/>
                  </a:lnTo>
                  <a:lnTo>
                    <a:pt x="832993" y="196850"/>
                  </a:lnTo>
                  <a:lnTo>
                    <a:pt x="835406" y="195580"/>
                  </a:lnTo>
                  <a:lnTo>
                    <a:pt x="831850" y="195580"/>
                  </a:lnTo>
                  <a:lnTo>
                    <a:pt x="828294" y="193039"/>
                  </a:lnTo>
                  <a:close/>
                </a:path>
                <a:path w="840105" h="198119">
                  <a:moveTo>
                    <a:pt x="828756" y="188687"/>
                  </a:moveTo>
                  <a:lnTo>
                    <a:pt x="827913" y="194309"/>
                  </a:lnTo>
                  <a:lnTo>
                    <a:pt x="821055" y="194309"/>
                  </a:lnTo>
                  <a:lnTo>
                    <a:pt x="824992" y="195580"/>
                  </a:lnTo>
                  <a:lnTo>
                    <a:pt x="830326" y="195580"/>
                  </a:lnTo>
                  <a:lnTo>
                    <a:pt x="828548" y="194309"/>
                  </a:lnTo>
                  <a:lnTo>
                    <a:pt x="828294" y="193039"/>
                  </a:lnTo>
                  <a:lnTo>
                    <a:pt x="839343" y="193039"/>
                  </a:lnTo>
                  <a:lnTo>
                    <a:pt x="839724" y="190500"/>
                  </a:lnTo>
                  <a:lnTo>
                    <a:pt x="831596" y="190500"/>
                  </a:lnTo>
                  <a:lnTo>
                    <a:pt x="828756" y="188687"/>
                  </a:lnTo>
                  <a:close/>
                </a:path>
                <a:path w="840105" h="198119">
                  <a:moveTo>
                    <a:pt x="839343" y="193039"/>
                  </a:moveTo>
                  <a:lnTo>
                    <a:pt x="828294" y="193039"/>
                  </a:lnTo>
                  <a:lnTo>
                    <a:pt x="831850" y="195580"/>
                  </a:lnTo>
                  <a:lnTo>
                    <a:pt x="835406" y="195580"/>
                  </a:lnTo>
                  <a:lnTo>
                    <a:pt x="837692" y="194309"/>
                  </a:lnTo>
                  <a:lnTo>
                    <a:pt x="839343" y="193039"/>
                  </a:lnTo>
                  <a:close/>
                </a:path>
                <a:path w="840105" h="198119">
                  <a:moveTo>
                    <a:pt x="833628" y="175259"/>
                  </a:moveTo>
                  <a:lnTo>
                    <a:pt x="831088" y="176530"/>
                  </a:lnTo>
                  <a:lnTo>
                    <a:pt x="824865" y="176530"/>
                  </a:lnTo>
                  <a:lnTo>
                    <a:pt x="821182" y="177800"/>
                  </a:lnTo>
                  <a:lnTo>
                    <a:pt x="813816" y="182880"/>
                  </a:lnTo>
                  <a:lnTo>
                    <a:pt x="803148" y="190500"/>
                  </a:lnTo>
                  <a:lnTo>
                    <a:pt x="802386" y="193039"/>
                  </a:lnTo>
                  <a:lnTo>
                    <a:pt x="802752" y="193855"/>
                  </a:lnTo>
                  <a:lnTo>
                    <a:pt x="804799" y="194309"/>
                  </a:lnTo>
                  <a:lnTo>
                    <a:pt x="820293" y="194309"/>
                  </a:lnTo>
                  <a:lnTo>
                    <a:pt x="826128" y="190718"/>
                  </a:lnTo>
                  <a:lnTo>
                    <a:pt x="826007" y="190500"/>
                  </a:lnTo>
                  <a:lnTo>
                    <a:pt x="825373" y="190500"/>
                  </a:lnTo>
                  <a:lnTo>
                    <a:pt x="825995" y="190250"/>
                  </a:lnTo>
                  <a:lnTo>
                    <a:pt x="825881" y="187959"/>
                  </a:lnTo>
                  <a:lnTo>
                    <a:pt x="825500" y="186689"/>
                  </a:lnTo>
                  <a:lnTo>
                    <a:pt x="828801" y="186689"/>
                  </a:lnTo>
                  <a:lnTo>
                    <a:pt x="832612" y="185419"/>
                  </a:lnTo>
                  <a:lnTo>
                    <a:pt x="825626" y="185419"/>
                  </a:lnTo>
                  <a:lnTo>
                    <a:pt x="821690" y="184150"/>
                  </a:lnTo>
                  <a:lnTo>
                    <a:pt x="839597" y="184150"/>
                  </a:lnTo>
                  <a:lnTo>
                    <a:pt x="838454" y="180339"/>
                  </a:lnTo>
                  <a:lnTo>
                    <a:pt x="837438" y="179069"/>
                  </a:lnTo>
                  <a:lnTo>
                    <a:pt x="836041" y="176530"/>
                  </a:lnTo>
                  <a:lnTo>
                    <a:pt x="833628" y="175259"/>
                  </a:lnTo>
                  <a:close/>
                </a:path>
                <a:path w="840105" h="198119">
                  <a:moveTo>
                    <a:pt x="826128" y="190718"/>
                  </a:moveTo>
                  <a:lnTo>
                    <a:pt x="820293" y="194309"/>
                  </a:lnTo>
                  <a:lnTo>
                    <a:pt x="827913" y="194309"/>
                  </a:lnTo>
                  <a:lnTo>
                    <a:pt x="827405" y="193039"/>
                  </a:lnTo>
                  <a:lnTo>
                    <a:pt x="826128" y="190718"/>
                  </a:lnTo>
                  <a:close/>
                </a:path>
                <a:path w="840105" h="198119">
                  <a:moveTo>
                    <a:pt x="825762" y="186776"/>
                  </a:moveTo>
                  <a:lnTo>
                    <a:pt x="825796" y="187113"/>
                  </a:lnTo>
                  <a:lnTo>
                    <a:pt x="826643" y="189230"/>
                  </a:lnTo>
                  <a:lnTo>
                    <a:pt x="828548" y="189230"/>
                  </a:lnTo>
                  <a:lnTo>
                    <a:pt x="826128" y="190718"/>
                  </a:lnTo>
                  <a:lnTo>
                    <a:pt x="827405" y="193039"/>
                  </a:lnTo>
                  <a:lnTo>
                    <a:pt x="827913" y="194309"/>
                  </a:lnTo>
                  <a:lnTo>
                    <a:pt x="828756" y="188687"/>
                  </a:lnTo>
                  <a:lnTo>
                    <a:pt x="825762" y="186776"/>
                  </a:lnTo>
                  <a:close/>
                </a:path>
                <a:path w="840105" h="198119">
                  <a:moveTo>
                    <a:pt x="640588" y="177800"/>
                  </a:moveTo>
                  <a:lnTo>
                    <a:pt x="559181" y="177800"/>
                  </a:lnTo>
                  <a:lnTo>
                    <a:pt x="572388" y="180339"/>
                  </a:lnTo>
                  <a:lnTo>
                    <a:pt x="653669" y="187959"/>
                  </a:lnTo>
                  <a:lnTo>
                    <a:pt x="667385" y="187959"/>
                  </a:lnTo>
                  <a:lnTo>
                    <a:pt x="679704" y="189230"/>
                  </a:lnTo>
                  <a:lnTo>
                    <a:pt x="705104" y="190500"/>
                  </a:lnTo>
                  <a:lnTo>
                    <a:pt x="729234" y="190500"/>
                  </a:lnTo>
                  <a:lnTo>
                    <a:pt x="739648" y="191769"/>
                  </a:lnTo>
                  <a:lnTo>
                    <a:pt x="768604" y="191769"/>
                  </a:lnTo>
                  <a:lnTo>
                    <a:pt x="776859" y="193039"/>
                  </a:lnTo>
                  <a:lnTo>
                    <a:pt x="799084" y="193039"/>
                  </a:lnTo>
                  <a:lnTo>
                    <a:pt x="802752" y="193855"/>
                  </a:lnTo>
                  <a:lnTo>
                    <a:pt x="802386" y="193039"/>
                  </a:lnTo>
                  <a:lnTo>
                    <a:pt x="803148" y="190500"/>
                  </a:lnTo>
                  <a:lnTo>
                    <a:pt x="812143" y="184150"/>
                  </a:lnTo>
                  <a:lnTo>
                    <a:pt x="793369" y="184150"/>
                  </a:lnTo>
                  <a:lnTo>
                    <a:pt x="785113" y="182880"/>
                  </a:lnTo>
                  <a:lnTo>
                    <a:pt x="749935" y="182880"/>
                  </a:lnTo>
                  <a:lnTo>
                    <a:pt x="729361" y="181609"/>
                  </a:lnTo>
                  <a:lnTo>
                    <a:pt x="705357" y="181609"/>
                  </a:lnTo>
                  <a:lnTo>
                    <a:pt x="680212" y="180339"/>
                  </a:lnTo>
                  <a:lnTo>
                    <a:pt x="668019" y="179069"/>
                  </a:lnTo>
                  <a:lnTo>
                    <a:pt x="654431" y="179069"/>
                  </a:lnTo>
                  <a:lnTo>
                    <a:pt x="640588" y="177800"/>
                  </a:lnTo>
                  <a:close/>
                </a:path>
                <a:path w="840105" h="198119">
                  <a:moveTo>
                    <a:pt x="828548" y="189230"/>
                  </a:moveTo>
                  <a:lnTo>
                    <a:pt x="825995" y="190250"/>
                  </a:lnTo>
                  <a:lnTo>
                    <a:pt x="826007" y="190500"/>
                  </a:lnTo>
                  <a:lnTo>
                    <a:pt x="826128" y="190718"/>
                  </a:lnTo>
                  <a:lnTo>
                    <a:pt x="828548" y="189230"/>
                  </a:lnTo>
                  <a:close/>
                </a:path>
                <a:path w="840105" h="198119">
                  <a:moveTo>
                    <a:pt x="825995" y="190250"/>
                  </a:moveTo>
                  <a:lnTo>
                    <a:pt x="825373" y="190500"/>
                  </a:lnTo>
                  <a:lnTo>
                    <a:pt x="826007" y="190500"/>
                  </a:lnTo>
                  <a:lnTo>
                    <a:pt x="825995" y="190250"/>
                  </a:lnTo>
                  <a:close/>
                </a:path>
                <a:path w="840105" h="198119">
                  <a:moveTo>
                    <a:pt x="839597" y="184150"/>
                  </a:moveTo>
                  <a:lnTo>
                    <a:pt x="821690" y="184150"/>
                  </a:lnTo>
                  <a:lnTo>
                    <a:pt x="825626" y="185419"/>
                  </a:lnTo>
                  <a:lnTo>
                    <a:pt x="832612" y="185419"/>
                  </a:lnTo>
                  <a:lnTo>
                    <a:pt x="828801" y="186689"/>
                  </a:lnTo>
                  <a:lnTo>
                    <a:pt x="829056" y="186689"/>
                  </a:lnTo>
                  <a:lnTo>
                    <a:pt x="828756" y="188687"/>
                  </a:lnTo>
                  <a:lnTo>
                    <a:pt x="831596" y="190500"/>
                  </a:lnTo>
                  <a:lnTo>
                    <a:pt x="839597" y="190500"/>
                  </a:lnTo>
                  <a:lnTo>
                    <a:pt x="839802" y="187415"/>
                  </a:lnTo>
                  <a:lnTo>
                    <a:pt x="839851" y="185419"/>
                  </a:lnTo>
                  <a:lnTo>
                    <a:pt x="839597" y="184150"/>
                  </a:lnTo>
                  <a:close/>
                </a:path>
                <a:path w="840105" h="198119">
                  <a:moveTo>
                    <a:pt x="839647" y="189737"/>
                  </a:moveTo>
                  <a:lnTo>
                    <a:pt x="839597" y="190500"/>
                  </a:lnTo>
                  <a:lnTo>
                    <a:pt x="839647" y="189737"/>
                  </a:lnTo>
                  <a:close/>
                </a:path>
                <a:path w="840105" h="198119">
                  <a:moveTo>
                    <a:pt x="825826" y="187415"/>
                  </a:moveTo>
                  <a:lnTo>
                    <a:pt x="825881" y="187959"/>
                  </a:lnTo>
                  <a:lnTo>
                    <a:pt x="825995" y="190250"/>
                  </a:lnTo>
                  <a:lnTo>
                    <a:pt x="828548" y="189230"/>
                  </a:lnTo>
                  <a:lnTo>
                    <a:pt x="826643" y="189230"/>
                  </a:lnTo>
                  <a:lnTo>
                    <a:pt x="825826" y="187415"/>
                  </a:lnTo>
                  <a:close/>
                </a:path>
                <a:path w="840105" h="198119">
                  <a:moveTo>
                    <a:pt x="839681" y="189230"/>
                  </a:moveTo>
                  <a:lnTo>
                    <a:pt x="839647" y="189737"/>
                  </a:lnTo>
                  <a:lnTo>
                    <a:pt x="839681" y="189230"/>
                  </a:lnTo>
                  <a:close/>
                </a:path>
                <a:path w="840105" h="198119">
                  <a:moveTo>
                    <a:pt x="825796" y="187113"/>
                  </a:moveTo>
                  <a:lnTo>
                    <a:pt x="825826" y="187415"/>
                  </a:lnTo>
                  <a:lnTo>
                    <a:pt x="826643" y="189230"/>
                  </a:lnTo>
                  <a:lnTo>
                    <a:pt x="825796" y="187113"/>
                  </a:lnTo>
                  <a:close/>
                </a:path>
                <a:path w="840105" h="198119">
                  <a:moveTo>
                    <a:pt x="829056" y="186689"/>
                  </a:moveTo>
                  <a:lnTo>
                    <a:pt x="825754" y="186689"/>
                  </a:lnTo>
                  <a:lnTo>
                    <a:pt x="828756" y="188687"/>
                  </a:lnTo>
                  <a:lnTo>
                    <a:pt x="829056" y="186689"/>
                  </a:lnTo>
                  <a:close/>
                </a:path>
                <a:path w="840105" h="198119">
                  <a:moveTo>
                    <a:pt x="825500" y="186689"/>
                  </a:moveTo>
                  <a:lnTo>
                    <a:pt x="825881" y="187959"/>
                  </a:lnTo>
                  <a:lnTo>
                    <a:pt x="825826" y="187415"/>
                  </a:lnTo>
                  <a:lnTo>
                    <a:pt x="825500" y="186689"/>
                  </a:lnTo>
                  <a:close/>
                </a:path>
                <a:path w="840105" h="198119">
                  <a:moveTo>
                    <a:pt x="825626" y="186689"/>
                  </a:moveTo>
                  <a:lnTo>
                    <a:pt x="825826" y="187415"/>
                  </a:lnTo>
                  <a:lnTo>
                    <a:pt x="825796" y="187113"/>
                  </a:lnTo>
                  <a:lnTo>
                    <a:pt x="825626" y="186689"/>
                  </a:lnTo>
                  <a:close/>
                </a:path>
                <a:path w="840105" h="198119">
                  <a:moveTo>
                    <a:pt x="825626" y="186689"/>
                  </a:moveTo>
                  <a:lnTo>
                    <a:pt x="825796" y="187113"/>
                  </a:lnTo>
                  <a:lnTo>
                    <a:pt x="825762" y="186776"/>
                  </a:lnTo>
                  <a:lnTo>
                    <a:pt x="825626" y="186689"/>
                  </a:lnTo>
                  <a:close/>
                </a:path>
                <a:path w="840105" h="198119">
                  <a:moveTo>
                    <a:pt x="825754" y="186689"/>
                  </a:moveTo>
                  <a:lnTo>
                    <a:pt x="825626" y="186689"/>
                  </a:lnTo>
                  <a:lnTo>
                    <a:pt x="825762" y="186776"/>
                  </a:lnTo>
                  <a:close/>
                </a:path>
                <a:path w="840105" h="198119">
                  <a:moveTo>
                    <a:pt x="533019" y="166369"/>
                  </a:moveTo>
                  <a:lnTo>
                    <a:pt x="481075" y="166369"/>
                  </a:lnTo>
                  <a:lnTo>
                    <a:pt x="505968" y="171450"/>
                  </a:lnTo>
                  <a:lnTo>
                    <a:pt x="518922" y="172719"/>
                  </a:lnTo>
                  <a:lnTo>
                    <a:pt x="531876" y="175259"/>
                  </a:lnTo>
                  <a:lnTo>
                    <a:pt x="559054" y="177800"/>
                  </a:lnTo>
                  <a:lnTo>
                    <a:pt x="640715" y="177800"/>
                  </a:lnTo>
                  <a:lnTo>
                    <a:pt x="560069" y="170180"/>
                  </a:lnTo>
                  <a:lnTo>
                    <a:pt x="560197" y="170180"/>
                  </a:lnTo>
                  <a:lnTo>
                    <a:pt x="546226" y="167639"/>
                  </a:lnTo>
                  <a:lnTo>
                    <a:pt x="533019" y="166369"/>
                  </a:lnTo>
                  <a:close/>
                </a:path>
                <a:path w="840105" h="198119">
                  <a:moveTo>
                    <a:pt x="495173" y="160019"/>
                  </a:moveTo>
                  <a:lnTo>
                    <a:pt x="455549" y="160019"/>
                  </a:lnTo>
                  <a:lnTo>
                    <a:pt x="467994" y="163830"/>
                  </a:lnTo>
                  <a:lnTo>
                    <a:pt x="468122" y="163830"/>
                  </a:lnTo>
                  <a:lnTo>
                    <a:pt x="480949" y="166369"/>
                  </a:lnTo>
                  <a:lnTo>
                    <a:pt x="533146" y="166369"/>
                  </a:lnTo>
                  <a:lnTo>
                    <a:pt x="520192" y="165100"/>
                  </a:lnTo>
                  <a:lnTo>
                    <a:pt x="507365" y="162559"/>
                  </a:lnTo>
                  <a:lnTo>
                    <a:pt x="495173" y="160019"/>
                  </a:lnTo>
                  <a:close/>
                </a:path>
                <a:path w="840105" h="198119">
                  <a:moveTo>
                    <a:pt x="221361" y="80009"/>
                  </a:moveTo>
                  <a:lnTo>
                    <a:pt x="191643" y="80009"/>
                  </a:lnTo>
                  <a:lnTo>
                    <a:pt x="205359" y="83819"/>
                  </a:lnTo>
                  <a:lnTo>
                    <a:pt x="219329" y="87630"/>
                  </a:lnTo>
                  <a:lnTo>
                    <a:pt x="232156" y="91439"/>
                  </a:lnTo>
                  <a:lnTo>
                    <a:pt x="245363" y="93980"/>
                  </a:lnTo>
                  <a:lnTo>
                    <a:pt x="258699" y="97789"/>
                  </a:lnTo>
                  <a:lnTo>
                    <a:pt x="271525" y="100330"/>
                  </a:lnTo>
                  <a:lnTo>
                    <a:pt x="283972" y="104139"/>
                  </a:lnTo>
                  <a:lnTo>
                    <a:pt x="283844" y="104139"/>
                  </a:lnTo>
                  <a:lnTo>
                    <a:pt x="296418" y="107950"/>
                  </a:lnTo>
                  <a:lnTo>
                    <a:pt x="309244" y="111759"/>
                  </a:lnTo>
                  <a:lnTo>
                    <a:pt x="321056" y="115569"/>
                  </a:lnTo>
                  <a:lnTo>
                    <a:pt x="345440" y="123189"/>
                  </a:lnTo>
                  <a:lnTo>
                    <a:pt x="345313" y="123189"/>
                  </a:lnTo>
                  <a:lnTo>
                    <a:pt x="357378" y="128269"/>
                  </a:lnTo>
                  <a:lnTo>
                    <a:pt x="369697" y="132080"/>
                  </a:lnTo>
                  <a:lnTo>
                    <a:pt x="382143" y="137159"/>
                  </a:lnTo>
                  <a:lnTo>
                    <a:pt x="393446" y="140969"/>
                  </a:lnTo>
                  <a:lnTo>
                    <a:pt x="405638" y="146050"/>
                  </a:lnTo>
                  <a:lnTo>
                    <a:pt x="405765" y="146050"/>
                  </a:lnTo>
                  <a:lnTo>
                    <a:pt x="429894" y="153669"/>
                  </a:lnTo>
                  <a:lnTo>
                    <a:pt x="442341" y="156209"/>
                  </a:lnTo>
                  <a:lnTo>
                    <a:pt x="455422" y="160019"/>
                  </a:lnTo>
                  <a:lnTo>
                    <a:pt x="495300" y="160019"/>
                  </a:lnTo>
                  <a:lnTo>
                    <a:pt x="469900" y="154939"/>
                  </a:lnTo>
                  <a:lnTo>
                    <a:pt x="457581" y="152400"/>
                  </a:lnTo>
                  <a:lnTo>
                    <a:pt x="444626" y="148589"/>
                  </a:lnTo>
                  <a:lnTo>
                    <a:pt x="432307" y="144780"/>
                  </a:lnTo>
                  <a:lnTo>
                    <a:pt x="432435" y="144780"/>
                  </a:lnTo>
                  <a:lnTo>
                    <a:pt x="420497" y="140969"/>
                  </a:lnTo>
                  <a:lnTo>
                    <a:pt x="396240" y="133350"/>
                  </a:lnTo>
                  <a:lnTo>
                    <a:pt x="384937" y="129539"/>
                  </a:lnTo>
                  <a:lnTo>
                    <a:pt x="372618" y="124459"/>
                  </a:lnTo>
                  <a:lnTo>
                    <a:pt x="360299" y="120650"/>
                  </a:lnTo>
                  <a:lnTo>
                    <a:pt x="348234" y="115569"/>
                  </a:lnTo>
                  <a:lnTo>
                    <a:pt x="335915" y="111759"/>
                  </a:lnTo>
                  <a:lnTo>
                    <a:pt x="335788" y="111759"/>
                  </a:lnTo>
                  <a:lnTo>
                    <a:pt x="323596" y="106680"/>
                  </a:lnTo>
                  <a:lnTo>
                    <a:pt x="311785" y="102869"/>
                  </a:lnTo>
                  <a:lnTo>
                    <a:pt x="311657" y="102869"/>
                  </a:lnTo>
                  <a:lnTo>
                    <a:pt x="298704" y="99059"/>
                  </a:lnTo>
                  <a:lnTo>
                    <a:pt x="298576" y="99059"/>
                  </a:lnTo>
                  <a:lnTo>
                    <a:pt x="286004" y="96519"/>
                  </a:lnTo>
                  <a:lnTo>
                    <a:pt x="260604" y="88900"/>
                  </a:lnTo>
                  <a:lnTo>
                    <a:pt x="247396" y="86359"/>
                  </a:lnTo>
                  <a:lnTo>
                    <a:pt x="234187" y="82550"/>
                  </a:lnTo>
                  <a:lnTo>
                    <a:pt x="221361" y="80009"/>
                  </a:lnTo>
                  <a:close/>
                </a:path>
                <a:path w="840105" h="198119">
                  <a:moveTo>
                    <a:pt x="169037" y="64769"/>
                  </a:moveTo>
                  <a:lnTo>
                    <a:pt x="142367" y="64769"/>
                  </a:lnTo>
                  <a:lnTo>
                    <a:pt x="154305" y="69850"/>
                  </a:lnTo>
                  <a:lnTo>
                    <a:pt x="166624" y="73659"/>
                  </a:lnTo>
                  <a:lnTo>
                    <a:pt x="179197" y="77469"/>
                  </a:lnTo>
                  <a:lnTo>
                    <a:pt x="191516" y="80009"/>
                  </a:lnTo>
                  <a:lnTo>
                    <a:pt x="221487" y="80009"/>
                  </a:lnTo>
                  <a:lnTo>
                    <a:pt x="193801" y="72389"/>
                  </a:lnTo>
                  <a:lnTo>
                    <a:pt x="181482" y="68580"/>
                  </a:lnTo>
                  <a:lnTo>
                    <a:pt x="181610" y="68580"/>
                  </a:lnTo>
                  <a:lnTo>
                    <a:pt x="169037" y="64769"/>
                  </a:lnTo>
                  <a:close/>
                </a:path>
                <a:path w="840105" h="198119">
                  <a:moveTo>
                    <a:pt x="156844" y="60959"/>
                  </a:moveTo>
                  <a:lnTo>
                    <a:pt x="130937" y="60959"/>
                  </a:lnTo>
                  <a:lnTo>
                    <a:pt x="142240" y="64769"/>
                  </a:lnTo>
                  <a:lnTo>
                    <a:pt x="169163" y="64769"/>
                  </a:lnTo>
                  <a:lnTo>
                    <a:pt x="156844" y="60959"/>
                  </a:lnTo>
                  <a:close/>
                </a:path>
                <a:path w="840105" h="198119">
                  <a:moveTo>
                    <a:pt x="50165" y="17780"/>
                  </a:moveTo>
                  <a:lnTo>
                    <a:pt x="29082" y="17780"/>
                  </a:lnTo>
                  <a:lnTo>
                    <a:pt x="34290" y="20319"/>
                  </a:lnTo>
                  <a:lnTo>
                    <a:pt x="34162" y="20319"/>
                  </a:lnTo>
                  <a:lnTo>
                    <a:pt x="54356" y="29209"/>
                  </a:lnTo>
                  <a:lnTo>
                    <a:pt x="62230" y="33019"/>
                  </a:lnTo>
                  <a:lnTo>
                    <a:pt x="79501" y="39369"/>
                  </a:lnTo>
                  <a:lnTo>
                    <a:pt x="98932" y="48259"/>
                  </a:lnTo>
                  <a:lnTo>
                    <a:pt x="109093" y="52069"/>
                  </a:lnTo>
                  <a:lnTo>
                    <a:pt x="119506" y="57150"/>
                  </a:lnTo>
                  <a:lnTo>
                    <a:pt x="119634" y="57150"/>
                  </a:lnTo>
                  <a:lnTo>
                    <a:pt x="130810" y="60959"/>
                  </a:lnTo>
                  <a:lnTo>
                    <a:pt x="156972" y="60959"/>
                  </a:lnTo>
                  <a:lnTo>
                    <a:pt x="145034" y="57150"/>
                  </a:lnTo>
                  <a:lnTo>
                    <a:pt x="133731" y="53339"/>
                  </a:lnTo>
                  <a:lnTo>
                    <a:pt x="122681" y="49530"/>
                  </a:lnTo>
                  <a:lnTo>
                    <a:pt x="112268" y="44450"/>
                  </a:lnTo>
                  <a:lnTo>
                    <a:pt x="102362" y="40639"/>
                  </a:lnTo>
                  <a:lnTo>
                    <a:pt x="92075" y="35559"/>
                  </a:lnTo>
                  <a:lnTo>
                    <a:pt x="82804" y="31750"/>
                  </a:lnTo>
                  <a:lnTo>
                    <a:pt x="68410" y="25400"/>
                  </a:lnTo>
                  <a:lnTo>
                    <a:pt x="65659" y="25400"/>
                  </a:lnTo>
                  <a:lnTo>
                    <a:pt x="57785" y="21589"/>
                  </a:lnTo>
                  <a:lnTo>
                    <a:pt x="50165" y="17780"/>
                  </a:lnTo>
                  <a:close/>
                </a:path>
                <a:path w="840105" h="198119">
                  <a:moveTo>
                    <a:pt x="65531" y="24130"/>
                  </a:moveTo>
                  <a:lnTo>
                    <a:pt x="65659" y="25400"/>
                  </a:lnTo>
                  <a:lnTo>
                    <a:pt x="68410" y="25400"/>
                  </a:lnTo>
                  <a:lnTo>
                    <a:pt x="65531" y="24130"/>
                  </a:lnTo>
                  <a:close/>
                </a:path>
                <a:path w="840105" h="198119">
                  <a:moveTo>
                    <a:pt x="11556" y="0"/>
                  </a:moveTo>
                  <a:lnTo>
                    <a:pt x="2921" y="0"/>
                  </a:lnTo>
                  <a:lnTo>
                    <a:pt x="2412" y="1269"/>
                  </a:lnTo>
                  <a:lnTo>
                    <a:pt x="1269" y="2539"/>
                  </a:lnTo>
                  <a:lnTo>
                    <a:pt x="762" y="3809"/>
                  </a:lnTo>
                  <a:lnTo>
                    <a:pt x="126" y="5080"/>
                  </a:lnTo>
                  <a:lnTo>
                    <a:pt x="126" y="6350"/>
                  </a:lnTo>
                  <a:lnTo>
                    <a:pt x="8762" y="6350"/>
                  </a:lnTo>
                  <a:lnTo>
                    <a:pt x="8509" y="6984"/>
                  </a:lnTo>
                  <a:lnTo>
                    <a:pt x="8381" y="7619"/>
                  </a:lnTo>
                  <a:lnTo>
                    <a:pt x="8128" y="7619"/>
                  </a:lnTo>
                  <a:lnTo>
                    <a:pt x="7950" y="8508"/>
                  </a:lnTo>
                  <a:lnTo>
                    <a:pt x="8255" y="8889"/>
                  </a:lnTo>
                  <a:lnTo>
                    <a:pt x="11811" y="8889"/>
                  </a:lnTo>
                  <a:lnTo>
                    <a:pt x="16891" y="12700"/>
                  </a:lnTo>
                  <a:lnTo>
                    <a:pt x="20700" y="13969"/>
                  </a:lnTo>
                  <a:lnTo>
                    <a:pt x="20828" y="13969"/>
                  </a:lnTo>
                  <a:lnTo>
                    <a:pt x="25400" y="15239"/>
                  </a:lnTo>
                  <a:lnTo>
                    <a:pt x="29210" y="17780"/>
                  </a:lnTo>
                  <a:lnTo>
                    <a:pt x="50292" y="17780"/>
                  </a:lnTo>
                  <a:lnTo>
                    <a:pt x="43687" y="15239"/>
                  </a:lnTo>
                  <a:lnTo>
                    <a:pt x="37846" y="11430"/>
                  </a:lnTo>
                  <a:lnTo>
                    <a:pt x="32766" y="10159"/>
                  </a:lnTo>
                  <a:lnTo>
                    <a:pt x="32638" y="10159"/>
                  </a:lnTo>
                  <a:lnTo>
                    <a:pt x="28829" y="7619"/>
                  </a:lnTo>
                  <a:lnTo>
                    <a:pt x="24256" y="6350"/>
                  </a:lnTo>
                  <a:lnTo>
                    <a:pt x="20574" y="3809"/>
                  </a:lnTo>
                  <a:lnTo>
                    <a:pt x="15112" y="1269"/>
                  </a:lnTo>
                  <a:lnTo>
                    <a:pt x="13207" y="1269"/>
                  </a:lnTo>
                  <a:lnTo>
                    <a:pt x="11556" y="0"/>
                  </a:lnTo>
                  <a:close/>
                </a:path>
                <a:path w="840105" h="198119">
                  <a:moveTo>
                    <a:pt x="8000" y="8889"/>
                  </a:moveTo>
                  <a:lnTo>
                    <a:pt x="507" y="8889"/>
                  </a:lnTo>
                  <a:lnTo>
                    <a:pt x="507" y="10159"/>
                  </a:lnTo>
                  <a:lnTo>
                    <a:pt x="762" y="10159"/>
                  </a:lnTo>
                  <a:lnTo>
                    <a:pt x="1143" y="11430"/>
                  </a:lnTo>
                  <a:lnTo>
                    <a:pt x="2667" y="12700"/>
                  </a:lnTo>
                  <a:lnTo>
                    <a:pt x="5968" y="12700"/>
                  </a:lnTo>
                  <a:lnTo>
                    <a:pt x="7366" y="11430"/>
                  </a:lnTo>
                  <a:lnTo>
                    <a:pt x="7619" y="10159"/>
                  </a:lnTo>
                  <a:lnTo>
                    <a:pt x="8000" y="8889"/>
                  </a:lnTo>
                  <a:close/>
                </a:path>
                <a:path w="840105" h="198119">
                  <a:moveTo>
                    <a:pt x="11811" y="8889"/>
                  </a:moveTo>
                  <a:lnTo>
                    <a:pt x="10287" y="8889"/>
                  </a:lnTo>
                  <a:lnTo>
                    <a:pt x="11937" y="10159"/>
                  </a:lnTo>
                  <a:lnTo>
                    <a:pt x="11811" y="8889"/>
                  </a:lnTo>
                  <a:close/>
                </a:path>
                <a:path w="840105" h="198119">
                  <a:moveTo>
                    <a:pt x="7238" y="7619"/>
                  </a:moveTo>
                  <a:lnTo>
                    <a:pt x="254" y="7619"/>
                  </a:lnTo>
                  <a:lnTo>
                    <a:pt x="254" y="8889"/>
                  </a:lnTo>
                  <a:lnTo>
                    <a:pt x="7874" y="8889"/>
                  </a:lnTo>
                  <a:lnTo>
                    <a:pt x="7950" y="8508"/>
                  </a:lnTo>
                  <a:lnTo>
                    <a:pt x="7238" y="7619"/>
                  </a:lnTo>
                  <a:close/>
                </a:path>
                <a:path w="840105" h="198119">
                  <a:moveTo>
                    <a:pt x="8128" y="7619"/>
                  </a:moveTo>
                  <a:lnTo>
                    <a:pt x="7238" y="7619"/>
                  </a:lnTo>
                  <a:lnTo>
                    <a:pt x="7950" y="8508"/>
                  </a:lnTo>
                  <a:lnTo>
                    <a:pt x="8128" y="7619"/>
                  </a:lnTo>
                  <a:close/>
                </a:path>
                <a:path w="840105" h="198119">
                  <a:moveTo>
                    <a:pt x="8636" y="6350"/>
                  </a:moveTo>
                  <a:lnTo>
                    <a:pt x="0" y="6350"/>
                  </a:lnTo>
                  <a:lnTo>
                    <a:pt x="126" y="7619"/>
                  </a:lnTo>
                  <a:lnTo>
                    <a:pt x="7747" y="7619"/>
                  </a:lnTo>
                  <a:lnTo>
                    <a:pt x="8559" y="6603"/>
                  </a:lnTo>
                  <a:lnTo>
                    <a:pt x="8636" y="6350"/>
                  </a:lnTo>
                  <a:close/>
                </a:path>
                <a:path w="840105" h="198119">
                  <a:moveTo>
                    <a:pt x="8559" y="6603"/>
                  </a:moveTo>
                  <a:lnTo>
                    <a:pt x="7747" y="7619"/>
                  </a:lnTo>
                  <a:lnTo>
                    <a:pt x="8255" y="7619"/>
                  </a:lnTo>
                  <a:lnTo>
                    <a:pt x="8559" y="6603"/>
                  </a:lnTo>
                  <a:close/>
                </a:path>
                <a:path w="840105" h="198119">
                  <a:moveTo>
                    <a:pt x="8593" y="6561"/>
                  </a:moveTo>
                  <a:lnTo>
                    <a:pt x="8255" y="7619"/>
                  </a:lnTo>
                  <a:lnTo>
                    <a:pt x="8509" y="6984"/>
                  </a:lnTo>
                  <a:lnTo>
                    <a:pt x="8593" y="6561"/>
                  </a:lnTo>
                  <a:close/>
                </a:path>
                <a:path w="840105" h="198119">
                  <a:moveTo>
                    <a:pt x="8509" y="6984"/>
                  </a:moveTo>
                  <a:lnTo>
                    <a:pt x="8255" y="7619"/>
                  </a:lnTo>
                  <a:lnTo>
                    <a:pt x="8509" y="6984"/>
                  </a:lnTo>
                  <a:close/>
                </a:path>
                <a:path w="840105" h="198119">
                  <a:moveTo>
                    <a:pt x="8762" y="6350"/>
                  </a:moveTo>
                  <a:lnTo>
                    <a:pt x="8593" y="6561"/>
                  </a:lnTo>
                  <a:lnTo>
                    <a:pt x="8509" y="6984"/>
                  </a:lnTo>
                  <a:lnTo>
                    <a:pt x="8762" y="6350"/>
                  </a:lnTo>
                  <a:close/>
                </a:path>
                <a:path w="840105" h="198119">
                  <a:moveTo>
                    <a:pt x="8762" y="6350"/>
                  </a:moveTo>
                  <a:lnTo>
                    <a:pt x="8593" y="6561"/>
                  </a:lnTo>
                  <a:lnTo>
                    <a:pt x="8762" y="6350"/>
                  </a:lnTo>
                  <a:close/>
                </a:path>
              </a:pathLst>
            </a:custGeom>
            <a:solidFill>
              <a:srgbClr val="FF0000"/>
            </a:solidFill>
          </p:spPr>
          <p:txBody>
            <a:bodyPr wrap="square" lIns="0" tIns="0" rIns="0" bIns="0" rtlCol="0"/>
            <a:lstStyle/>
            <a:p>
              <a:endParaRPr/>
            </a:p>
          </p:txBody>
        </p:sp>
      </p:grpSp>
      <p:sp>
        <p:nvSpPr>
          <p:cNvPr id="7" name="object 7"/>
          <p:cNvSpPr txBox="1"/>
          <p:nvPr/>
        </p:nvSpPr>
        <p:spPr>
          <a:xfrm>
            <a:off x="412191" y="1599691"/>
            <a:ext cx="27368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rlito"/>
                <a:cs typeface="Carlito"/>
              </a:rPr>
              <a:t>(a)</a:t>
            </a:r>
            <a:endParaRPr sz="1800">
              <a:latin typeface="Carlito"/>
              <a:cs typeface="Carlito"/>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19</a:t>
            </a:fld>
            <a:endParaRPr dirty="0"/>
          </a:p>
        </p:txBody>
      </p:sp>
      <p:sp>
        <p:nvSpPr>
          <p:cNvPr id="8" name="object 8"/>
          <p:cNvSpPr txBox="1"/>
          <p:nvPr/>
        </p:nvSpPr>
        <p:spPr>
          <a:xfrm>
            <a:off x="390855" y="2615006"/>
            <a:ext cx="283845"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rlito"/>
                <a:cs typeface="Carlito"/>
              </a:rPr>
              <a:t>(</a:t>
            </a:r>
            <a:r>
              <a:rPr sz="1800" spc="-5" dirty="0">
                <a:latin typeface="Carlito"/>
                <a:cs typeface="Carlito"/>
              </a:rPr>
              <a:t>b)</a:t>
            </a:r>
            <a:endParaRPr sz="1800">
              <a:latin typeface="Carlito"/>
              <a:cs typeface="Carlito"/>
            </a:endParaRPr>
          </a:p>
        </p:txBody>
      </p:sp>
      <p:sp>
        <p:nvSpPr>
          <p:cNvPr id="9" name="object 9"/>
          <p:cNvSpPr txBox="1"/>
          <p:nvPr/>
        </p:nvSpPr>
        <p:spPr>
          <a:xfrm>
            <a:off x="412191" y="3531870"/>
            <a:ext cx="259079"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rlito"/>
                <a:cs typeface="Carlito"/>
              </a:rPr>
              <a:t>(c)</a:t>
            </a:r>
            <a:endParaRPr sz="1800">
              <a:latin typeface="Carlito"/>
              <a:cs typeface="Carli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712E1-5308-7AE8-025D-884AA769E367}"/>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81EA862-8C9D-C46A-EF6B-0EF073F60CC7}"/>
              </a:ext>
            </a:extLst>
          </p:cNvPr>
          <p:cNvSpPr>
            <a:spLocks noGrp="1"/>
          </p:cNvSpPr>
          <p:nvPr>
            <p:ph type="body" idx="1"/>
          </p:nvPr>
        </p:nvSpPr>
        <p:spPr/>
        <p:txBody>
          <a:bodyPr/>
          <a:lstStyle/>
          <a:p>
            <a:endParaRPr lang="en-US" b="1" dirty="0"/>
          </a:p>
        </p:txBody>
      </p:sp>
      <p:pic>
        <p:nvPicPr>
          <p:cNvPr id="2050" name="Picture 2" descr="Single-Link Hierarchical Clustering Clearly Explained! - Analytics ...">
            <a:extLst>
              <a:ext uri="{FF2B5EF4-FFF2-40B4-BE49-F238E27FC236}">
                <a16:creationId xmlns:a16="http://schemas.microsoft.com/office/drawing/2014/main" id="{F1424E26-861A-4B8C-D478-0EEA273447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567193"/>
            <a:ext cx="5791200"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193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86378" y="385953"/>
            <a:ext cx="1572895" cy="45212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0000FF"/>
                </a:solidFill>
              </a:rPr>
              <a:t>Il</a:t>
            </a:r>
            <a:r>
              <a:rPr sz="2800" spc="-20" dirty="0">
                <a:solidFill>
                  <a:srgbClr val="0000FF"/>
                </a:solidFill>
              </a:rPr>
              <a:t>l</a:t>
            </a:r>
            <a:r>
              <a:rPr sz="2800" spc="-10" dirty="0">
                <a:solidFill>
                  <a:srgbClr val="0000FF"/>
                </a:solidFill>
              </a:rPr>
              <a:t>u</a:t>
            </a:r>
            <a:r>
              <a:rPr sz="2800" spc="-50" dirty="0">
                <a:solidFill>
                  <a:srgbClr val="0000FF"/>
                </a:solidFill>
              </a:rPr>
              <a:t>s</a:t>
            </a:r>
            <a:r>
              <a:rPr sz="2800" spc="-5" dirty="0">
                <a:solidFill>
                  <a:srgbClr val="0000FF"/>
                </a:solidFill>
              </a:rPr>
              <a:t>t</a:t>
            </a:r>
            <a:r>
              <a:rPr sz="2800" spc="-70" dirty="0">
                <a:solidFill>
                  <a:srgbClr val="0000FF"/>
                </a:solidFill>
              </a:rPr>
              <a:t>r</a:t>
            </a:r>
            <a:r>
              <a:rPr sz="2800" spc="-25" dirty="0">
                <a:solidFill>
                  <a:srgbClr val="0000FF"/>
                </a:solidFill>
              </a:rPr>
              <a:t>a</a:t>
            </a:r>
            <a:r>
              <a:rPr sz="2800" spc="-5" dirty="0">
                <a:solidFill>
                  <a:srgbClr val="0000FF"/>
                </a:solidFill>
              </a:rPr>
              <a:t>tion</a:t>
            </a:r>
            <a:endParaRPr sz="2800"/>
          </a:p>
        </p:txBody>
      </p:sp>
      <p:sp>
        <p:nvSpPr>
          <p:cNvPr id="3" name="object 3"/>
          <p:cNvSpPr/>
          <p:nvPr/>
        </p:nvSpPr>
        <p:spPr>
          <a:xfrm>
            <a:off x="1386839" y="1200911"/>
            <a:ext cx="2755392" cy="3393948"/>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4651375" y="1798701"/>
            <a:ext cx="216535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rlito"/>
                <a:cs typeface="Carlito"/>
              </a:rPr>
              <a:t>Some </a:t>
            </a:r>
            <a:r>
              <a:rPr sz="1800" dirty="0">
                <a:latin typeface="Carlito"/>
                <a:cs typeface="Carlito"/>
              </a:rPr>
              <a:t>types </a:t>
            </a:r>
            <a:r>
              <a:rPr sz="1800" spc="-5" dirty="0">
                <a:latin typeface="Carlito"/>
                <a:cs typeface="Carlito"/>
              </a:rPr>
              <a:t>of</a:t>
            </a:r>
            <a:r>
              <a:rPr sz="1800" spc="-65" dirty="0">
                <a:latin typeface="Carlito"/>
                <a:cs typeface="Carlito"/>
              </a:rPr>
              <a:t> </a:t>
            </a:r>
            <a:r>
              <a:rPr sz="1800" spc="-15" dirty="0">
                <a:latin typeface="Carlito"/>
                <a:cs typeface="Carlito"/>
              </a:rPr>
              <a:t>clusters:</a:t>
            </a:r>
            <a:endParaRPr sz="1800">
              <a:latin typeface="Carlito"/>
              <a:cs typeface="Carlito"/>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21</a:t>
            </a:fld>
            <a:endParaRPr dirty="0"/>
          </a:p>
        </p:txBody>
      </p:sp>
      <p:sp>
        <p:nvSpPr>
          <p:cNvPr id="5" name="object 5"/>
          <p:cNvSpPr txBox="1"/>
          <p:nvPr/>
        </p:nvSpPr>
        <p:spPr>
          <a:xfrm>
            <a:off x="6794754" y="2073020"/>
            <a:ext cx="1934210" cy="1123315"/>
          </a:xfrm>
          <a:prstGeom prst="rect">
            <a:avLst/>
          </a:prstGeom>
        </p:spPr>
        <p:txBody>
          <a:bodyPr vert="horz" wrap="square" lIns="0" tIns="12700" rIns="0" bIns="0" rtlCol="0">
            <a:spAutoFit/>
          </a:bodyPr>
          <a:lstStyle/>
          <a:p>
            <a:pPr marL="313690" indent="-301625">
              <a:lnSpc>
                <a:spcPct val="100000"/>
              </a:lnSpc>
              <a:spcBef>
                <a:spcPts val="100"/>
              </a:spcBef>
              <a:buAutoNum type="alphaLcParenBoth"/>
              <a:tabLst>
                <a:tab pos="314325" algn="l"/>
              </a:tabLst>
            </a:pPr>
            <a:r>
              <a:rPr sz="1800" dirty="0">
                <a:latin typeface="Carlito"/>
                <a:cs typeface="Carlito"/>
              </a:rPr>
              <a:t>Ball-shaped</a:t>
            </a:r>
            <a:endParaRPr sz="1800">
              <a:latin typeface="Carlito"/>
              <a:cs typeface="Carlito"/>
            </a:endParaRPr>
          </a:p>
          <a:p>
            <a:pPr marL="377825" indent="-312420">
              <a:lnSpc>
                <a:spcPct val="100000"/>
              </a:lnSpc>
              <a:buAutoNum type="alphaLcParenBoth"/>
              <a:tabLst>
                <a:tab pos="378460" algn="l"/>
              </a:tabLst>
            </a:pPr>
            <a:r>
              <a:rPr sz="1800" spc="-15" dirty="0">
                <a:latin typeface="Carlito"/>
                <a:cs typeface="Carlito"/>
              </a:rPr>
              <a:t>Elongated</a:t>
            </a:r>
            <a:endParaRPr sz="1800">
              <a:latin typeface="Carlito"/>
              <a:cs typeface="Carlito"/>
            </a:endParaRPr>
          </a:p>
          <a:p>
            <a:pPr marL="353695" indent="-288290">
              <a:lnSpc>
                <a:spcPct val="100000"/>
              </a:lnSpc>
              <a:buAutoNum type="alphaLcParenBoth"/>
              <a:tabLst>
                <a:tab pos="354330" algn="l"/>
              </a:tabLst>
            </a:pPr>
            <a:r>
              <a:rPr sz="1800" spc="-5" dirty="0">
                <a:latin typeface="Carlito"/>
                <a:cs typeface="Carlito"/>
              </a:rPr>
              <a:t>Compact but</a:t>
            </a:r>
            <a:r>
              <a:rPr sz="1800" spc="-55" dirty="0">
                <a:latin typeface="Carlito"/>
                <a:cs typeface="Carlito"/>
              </a:rPr>
              <a:t> </a:t>
            </a:r>
            <a:r>
              <a:rPr sz="1800" spc="-5" dirty="0">
                <a:latin typeface="Carlito"/>
                <a:cs typeface="Carlito"/>
              </a:rPr>
              <a:t>not</a:t>
            </a:r>
            <a:endParaRPr sz="1800">
              <a:latin typeface="Carlito"/>
              <a:cs typeface="Carlito"/>
            </a:endParaRPr>
          </a:p>
          <a:p>
            <a:pPr marL="379730">
              <a:lnSpc>
                <a:spcPct val="100000"/>
              </a:lnSpc>
            </a:pPr>
            <a:r>
              <a:rPr sz="1800" spc="-5" dirty="0">
                <a:latin typeface="Carlito"/>
                <a:cs typeface="Carlito"/>
              </a:rPr>
              <a:t>well</a:t>
            </a:r>
            <a:r>
              <a:rPr sz="1800" spc="-15" dirty="0">
                <a:latin typeface="Carlito"/>
                <a:cs typeface="Carlito"/>
              </a:rPr>
              <a:t> separated</a:t>
            </a:r>
            <a:endParaRPr sz="1800">
              <a:latin typeface="Carlito"/>
              <a:cs typeface="Carlito"/>
            </a:endParaRPr>
          </a:p>
        </p:txBody>
      </p:sp>
      <p:sp>
        <p:nvSpPr>
          <p:cNvPr id="6" name="object 6"/>
          <p:cNvSpPr txBox="1"/>
          <p:nvPr/>
        </p:nvSpPr>
        <p:spPr>
          <a:xfrm>
            <a:off x="498449" y="1804161"/>
            <a:ext cx="27368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rlito"/>
                <a:cs typeface="Carlito"/>
              </a:rPr>
              <a:t>(a)</a:t>
            </a:r>
            <a:endParaRPr sz="1800">
              <a:latin typeface="Carlito"/>
              <a:cs typeface="Carlito"/>
            </a:endParaRPr>
          </a:p>
        </p:txBody>
      </p:sp>
      <p:sp>
        <p:nvSpPr>
          <p:cNvPr id="7" name="object 7"/>
          <p:cNvSpPr txBox="1"/>
          <p:nvPr/>
        </p:nvSpPr>
        <p:spPr>
          <a:xfrm>
            <a:off x="476808" y="2906014"/>
            <a:ext cx="28448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rlito"/>
                <a:cs typeface="Carlito"/>
              </a:rPr>
              <a:t>(b)</a:t>
            </a:r>
            <a:endParaRPr sz="1800">
              <a:latin typeface="Carlito"/>
              <a:cs typeface="Carlito"/>
            </a:endParaRPr>
          </a:p>
        </p:txBody>
      </p:sp>
      <p:sp>
        <p:nvSpPr>
          <p:cNvPr id="8" name="object 8"/>
          <p:cNvSpPr txBox="1"/>
          <p:nvPr/>
        </p:nvSpPr>
        <p:spPr>
          <a:xfrm>
            <a:off x="498449" y="4091432"/>
            <a:ext cx="259079"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rlito"/>
                <a:cs typeface="Carlito"/>
              </a:rPr>
              <a:t>(c)</a:t>
            </a:r>
            <a:endParaRPr sz="1800">
              <a:latin typeface="Carlito"/>
              <a:cs typeface="Carlito"/>
            </a:endParaRPr>
          </a:p>
        </p:txBody>
      </p:sp>
      <p:sp>
        <p:nvSpPr>
          <p:cNvPr id="11" name="TextBox 10">
            <a:extLst>
              <a:ext uri="{FF2B5EF4-FFF2-40B4-BE49-F238E27FC236}">
                <a16:creationId xmlns:a16="http://schemas.microsoft.com/office/drawing/2014/main" id="{EC0438BF-8919-4DCD-A32E-390E05A74091}"/>
              </a:ext>
            </a:extLst>
          </p:cNvPr>
          <p:cNvSpPr txBox="1"/>
          <p:nvPr/>
        </p:nvSpPr>
        <p:spPr>
          <a:xfrm>
            <a:off x="1981200" y="2276593"/>
            <a:ext cx="4572000" cy="369332"/>
          </a:xfrm>
          <a:prstGeom prst="rect">
            <a:avLst/>
          </a:prstGeom>
          <a:noFill/>
        </p:spPr>
        <p:txBody>
          <a:bodyPr wrap="square">
            <a:spAutoFit/>
          </a:bodyPr>
          <a:lstStyle/>
          <a:p>
            <a:r>
              <a:rPr lang="en-IN" sz="1800" spc="-10" dirty="0">
                <a:latin typeface="Carlito"/>
                <a:cs typeface="Carlito"/>
              </a:rPr>
              <a:t>Group</a:t>
            </a:r>
            <a:r>
              <a:rPr lang="en-IN" sz="1800" spc="40" dirty="0">
                <a:latin typeface="Carlito"/>
                <a:cs typeface="Carlito"/>
              </a:rPr>
              <a:t> </a:t>
            </a:r>
            <a:r>
              <a:rPr lang="en-IN" sz="1800" spc="-15" dirty="0">
                <a:latin typeface="Carlito"/>
                <a:cs typeface="Carlito"/>
              </a:rPr>
              <a:t>average</a:t>
            </a:r>
            <a:endParaRPr lang="en-IN" dirty="0"/>
          </a:p>
        </p:txBody>
      </p:sp>
      <p:sp>
        <p:nvSpPr>
          <p:cNvPr id="13" name="TextBox 12">
            <a:extLst>
              <a:ext uri="{FF2B5EF4-FFF2-40B4-BE49-F238E27FC236}">
                <a16:creationId xmlns:a16="http://schemas.microsoft.com/office/drawing/2014/main" id="{6075F1F7-800E-44BD-B6B2-5F21BAFF941A}"/>
              </a:ext>
            </a:extLst>
          </p:cNvPr>
          <p:cNvSpPr txBox="1"/>
          <p:nvPr/>
        </p:nvSpPr>
        <p:spPr>
          <a:xfrm>
            <a:off x="-152400" y="3638535"/>
            <a:ext cx="4572000" cy="369332"/>
          </a:xfrm>
          <a:prstGeom prst="rect">
            <a:avLst/>
          </a:prstGeom>
          <a:noFill/>
        </p:spPr>
        <p:txBody>
          <a:bodyPr wrap="square">
            <a:spAutoFit/>
          </a:bodyPr>
          <a:lstStyle/>
          <a:p>
            <a:pPr marL="1840865">
              <a:lnSpc>
                <a:spcPct val="100000"/>
              </a:lnSpc>
              <a:tabLst>
                <a:tab pos="2154555" algn="l"/>
              </a:tabLst>
            </a:pPr>
            <a:r>
              <a:rPr lang="en-IN" sz="1800" spc="-10" dirty="0">
                <a:latin typeface="Carlito"/>
                <a:cs typeface="Carlito"/>
              </a:rPr>
              <a:t>Nearest</a:t>
            </a:r>
            <a:r>
              <a:rPr lang="en-IN" sz="1800" spc="-15" dirty="0">
                <a:latin typeface="Carlito"/>
                <a:cs typeface="Carlito"/>
              </a:rPr>
              <a:t> </a:t>
            </a:r>
            <a:r>
              <a:rPr lang="en-IN" sz="1800" spc="-5" dirty="0" err="1">
                <a:latin typeface="Carlito"/>
                <a:cs typeface="Carlito"/>
              </a:rPr>
              <a:t>neighbor</a:t>
            </a:r>
            <a:endParaRPr lang="en-IN" sz="1800" dirty="0">
              <a:latin typeface="Carlito"/>
              <a:cs typeface="Carlito"/>
            </a:endParaRPr>
          </a:p>
        </p:txBody>
      </p:sp>
      <p:sp>
        <p:nvSpPr>
          <p:cNvPr id="15" name="TextBox 14">
            <a:extLst>
              <a:ext uri="{FF2B5EF4-FFF2-40B4-BE49-F238E27FC236}">
                <a16:creationId xmlns:a16="http://schemas.microsoft.com/office/drawing/2014/main" id="{04365BF5-4F42-4135-A4E1-797204D53830}"/>
              </a:ext>
            </a:extLst>
          </p:cNvPr>
          <p:cNvSpPr txBox="1"/>
          <p:nvPr/>
        </p:nvSpPr>
        <p:spPr>
          <a:xfrm>
            <a:off x="152400" y="4721832"/>
            <a:ext cx="4114800" cy="369332"/>
          </a:xfrm>
          <a:prstGeom prst="rect">
            <a:avLst/>
          </a:prstGeom>
          <a:noFill/>
        </p:spPr>
        <p:txBody>
          <a:bodyPr wrap="square">
            <a:spAutoFit/>
          </a:bodyPr>
          <a:lstStyle/>
          <a:p>
            <a:pPr marL="1840865">
              <a:lnSpc>
                <a:spcPct val="100000"/>
              </a:lnSpc>
              <a:tabLst>
                <a:tab pos="2131060" algn="l"/>
              </a:tabLst>
            </a:pPr>
            <a:r>
              <a:rPr lang="en-IN" sz="1800" spc="-10" dirty="0">
                <a:latin typeface="Carlito"/>
                <a:cs typeface="Carlito"/>
              </a:rPr>
              <a:t>Furthest</a:t>
            </a:r>
            <a:r>
              <a:rPr lang="en-IN" sz="1800" spc="-5" dirty="0">
                <a:latin typeface="Carlito"/>
                <a:cs typeface="Carlito"/>
              </a:rPr>
              <a:t> </a:t>
            </a:r>
            <a:r>
              <a:rPr lang="en-IN" sz="1800" spc="-5" dirty="0" err="1">
                <a:latin typeface="Carlito"/>
                <a:cs typeface="Carlito"/>
              </a:rPr>
              <a:t>neighbor</a:t>
            </a:r>
            <a:endParaRPr lang="en-IN" sz="1800" dirty="0">
              <a:latin typeface="Carlito"/>
              <a:cs typeface="Carli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42313" y="385953"/>
            <a:ext cx="5657215" cy="452120"/>
          </a:xfrm>
          <a:prstGeom prst="rect">
            <a:avLst/>
          </a:prstGeom>
        </p:spPr>
        <p:txBody>
          <a:bodyPr vert="horz" wrap="square" lIns="0" tIns="12065" rIns="0" bIns="0" rtlCol="0">
            <a:spAutoFit/>
          </a:bodyPr>
          <a:lstStyle/>
          <a:p>
            <a:pPr marL="12700">
              <a:lnSpc>
                <a:spcPct val="100000"/>
              </a:lnSpc>
              <a:spcBef>
                <a:spcPts val="95"/>
              </a:spcBef>
            </a:pPr>
            <a:r>
              <a:rPr sz="2800" b="1" spc="-5" dirty="0">
                <a:solidFill>
                  <a:srgbClr val="0000FF"/>
                </a:solidFill>
                <a:latin typeface="Carlito"/>
                <a:cs typeface="Carlito"/>
              </a:rPr>
              <a:t>Difﬁculties </a:t>
            </a:r>
            <a:r>
              <a:rPr sz="2800" b="1" spc="-10" dirty="0">
                <a:solidFill>
                  <a:srgbClr val="0000FF"/>
                </a:solidFill>
                <a:latin typeface="Carlito"/>
                <a:cs typeface="Carlito"/>
              </a:rPr>
              <a:t>with </a:t>
            </a:r>
            <a:r>
              <a:rPr sz="2800" b="1" spc="-15" dirty="0">
                <a:solidFill>
                  <a:srgbClr val="0000FF"/>
                </a:solidFill>
                <a:latin typeface="Carlito"/>
                <a:cs typeface="Carlito"/>
              </a:rPr>
              <a:t>hierarchical</a:t>
            </a:r>
            <a:r>
              <a:rPr sz="2800" b="1" spc="45" dirty="0">
                <a:solidFill>
                  <a:srgbClr val="0000FF"/>
                </a:solidFill>
                <a:latin typeface="Carlito"/>
                <a:cs typeface="Carlito"/>
              </a:rPr>
              <a:t> </a:t>
            </a:r>
            <a:r>
              <a:rPr sz="2800" b="1" spc="-15" dirty="0">
                <a:solidFill>
                  <a:srgbClr val="0000FF"/>
                </a:solidFill>
                <a:latin typeface="Carlito"/>
                <a:cs typeface="Carlito"/>
              </a:rPr>
              <a:t>clustering</a:t>
            </a:r>
            <a:endParaRPr sz="2800">
              <a:latin typeface="Carlito"/>
              <a:cs typeface="Carlito"/>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22</a:t>
            </a:fld>
            <a:endParaRPr dirty="0"/>
          </a:p>
        </p:txBody>
      </p:sp>
      <p:sp>
        <p:nvSpPr>
          <p:cNvPr id="3" name="object 3"/>
          <p:cNvSpPr txBox="1"/>
          <p:nvPr/>
        </p:nvSpPr>
        <p:spPr>
          <a:xfrm>
            <a:off x="535940" y="1216913"/>
            <a:ext cx="7637780" cy="2282190"/>
          </a:xfrm>
          <a:prstGeom prst="rect">
            <a:avLst/>
          </a:prstGeom>
        </p:spPr>
        <p:txBody>
          <a:bodyPr vert="horz" wrap="square" lIns="0" tIns="13335" rIns="0" bIns="0" rtlCol="0">
            <a:spAutoFit/>
          </a:bodyPr>
          <a:lstStyle/>
          <a:p>
            <a:pPr marL="355600" indent="-342900" algn="just">
              <a:lnSpc>
                <a:spcPct val="100000"/>
              </a:lnSpc>
              <a:spcBef>
                <a:spcPts val="105"/>
              </a:spcBef>
              <a:buFont typeface="Arial"/>
              <a:buChar char="•"/>
              <a:tabLst>
                <a:tab pos="355600" algn="l"/>
              </a:tabLst>
            </a:pPr>
            <a:r>
              <a:rPr sz="2000" spc="-5" dirty="0">
                <a:latin typeface="Carlito"/>
                <a:cs typeface="Carlito"/>
              </a:rPr>
              <a:t>The </a:t>
            </a:r>
            <a:r>
              <a:rPr sz="2000" spc="-10" dirty="0">
                <a:latin typeface="Carlito"/>
                <a:cs typeface="Carlito"/>
              </a:rPr>
              <a:t>hierarchical </a:t>
            </a:r>
            <a:r>
              <a:rPr sz="2000" spc="-5" dirty="0">
                <a:latin typeface="Carlito"/>
                <a:cs typeface="Carlito"/>
              </a:rPr>
              <a:t>clustering method, </a:t>
            </a:r>
            <a:r>
              <a:rPr sz="2000" dirty="0">
                <a:latin typeface="Carlito"/>
                <a:cs typeface="Carlito"/>
              </a:rPr>
              <a:t>though </a:t>
            </a:r>
            <a:r>
              <a:rPr sz="2000" spc="-5" dirty="0">
                <a:latin typeface="Carlito"/>
                <a:cs typeface="Carlito"/>
              </a:rPr>
              <a:t>simple, </a:t>
            </a:r>
            <a:r>
              <a:rPr sz="2000" spc="-10" dirty="0">
                <a:latin typeface="Carlito"/>
                <a:cs typeface="Carlito"/>
              </a:rPr>
              <a:t>often</a:t>
            </a:r>
            <a:r>
              <a:rPr sz="2000" spc="85" dirty="0">
                <a:latin typeface="Carlito"/>
                <a:cs typeface="Carlito"/>
              </a:rPr>
              <a:t> </a:t>
            </a:r>
            <a:r>
              <a:rPr sz="2000" spc="-10" dirty="0">
                <a:latin typeface="Carlito"/>
                <a:cs typeface="Carlito"/>
              </a:rPr>
              <a:t>encounters</a:t>
            </a:r>
            <a:endParaRPr sz="2000" dirty="0">
              <a:latin typeface="Carlito"/>
              <a:cs typeface="Carlito"/>
            </a:endParaRPr>
          </a:p>
          <a:p>
            <a:pPr marL="355600" algn="just">
              <a:lnSpc>
                <a:spcPct val="100000"/>
              </a:lnSpc>
            </a:pPr>
            <a:r>
              <a:rPr sz="2000" spc="-35" dirty="0">
                <a:latin typeface="Arial"/>
                <a:cs typeface="Arial"/>
              </a:rPr>
              <a:t>difﬁculties</a:t>
            </a:r>
            <a:r>
              <a:rPr sz="2000" spc="-80" dirty="0">
                <a:latin typeface="Arial"/>
                <a:cs typeface="Arial"/>
              </a:rPr>
              <a:t> </a:t>
            </a:r>
            <a:r>
              <a:rPr sz="2000" spc="-85" dirty="0">
                <a:solidFill>
                  <a:srgbClr val="FF0000"/>
                </a:solidFill>
                <a:latin typeface="Arial"/>
                <a:cs typeface="Arial"/>
              </a:rPr>
              <a:t>regarding</a:t>
            </a:r>
            <a:r>
              <a:rPr sz="2000" spc="-120" dirty="0">
                <a:solidFill>
                  <a:srgbClr val="FF0000"/>
                </a:solidFill>
                <a:latin typeface="Arial"/>
                <a:cs typeface="Arial"/>
              </a:rPr>
              <a:t> </a:t>
            </a:r>
            <a:r>
              <a:rPr sz="2000" spc="-20" dirty="0">
                <a:solidFill>
                  <a:srgbClr val="FF0000"/>
                </a:solidFill>
                <a:latin typeface="Arial"/>
                <a:cs typeface="Arial"/>
              </a:rPr>
              <a:t>the</a:t>
            </a:r>
            <a:r>
              <a:rPr sz="2000" spc="-105" dirty="0">
                <a:solidFill>
                  <a:srgbClr val="FF0000"/>
                </a:solidFill>
                <a:latin typeface="Arial"/>
                <a:cs typeface="Arial"/>
              </a:rPr>
              <a:t> </a:t>
            </a:r>
            <a:r>
              <a:rPr sz="2000" spc="-70" dirty="0">
                <a:solidFill>
                  <a:srgbClr val="FF0000"/>
                </a:solidFill>
                <a:latin typeface="Arial"/>
                <a:cs typeface="Arial"/>
              </a:rPr>
              <a:t>selection</a:t>
            </a:r>
            <a:r>
              <a:rPr sz="2000" spc="-90" dirty="0">
                <a:solidFill>
                  <a:srgbClr val="FF0000"/>
                </a:solidFill>
                <a:latin typeface="Arial"/>
                <a:cs typeface="Arial"/>
              </a:rPr>
              <a:t> </a:t>
            </a:r>
            <a:r>
              <a:rPr sz="2000" spc="-5" dirty="0">
                <a:solidFill>
                  <a:srgbClr val="FF0000"/>
                </a:solidFill>
                <a:latin typeface="Arial"/>
                <a:cs typeface="Arial"/>
              </a:rPr>
              <a:t>of</a:t>
            </a:r>
            <a:r>
              <a:rPr sz="2000" spc="-105" dirty="0">
                <a:solidFill>
                  <a:srgbClr val="FF0000"/>
                </a:solidFill>
                <a:latin typeface="Arial"/>
                <a:cs typeface="Arial"/>
              </a:rPr>
              <a:t> </a:t>
            </a:r>
            <a:r>
              <a:rPr sz="2000" spc="-100" dirty="0">
                <a:solidFill>
                  <a:srgbClr val="FF0000"/>
                </a:solidFill>
                <a:latin typeface="Arial"/>
                <a:cs typeface="Arial"/>
              </a:rPr>
              <a:t>merge</a:t>
            </a:r>
            <a:r>
              <a:rPr sz="2000" spc="-110" dirty="0">
                <a:solidFill>
                  <a:srgbClr val="FF0000"/>
                </a:solidFill>
                <a:latin typeface="Arial"/>
                <a:cs typeface="Arial"/>
              </a:rPr>
              <a:t> </a:t>
            </a:r>
            <a:r>
              <a:rPr sz="2000" spc="-15" dirty="0">
                <a:solidFill>
                  <a:srgbClr val="FF0000"/>
                </a:solidFill>
                <a:latin typeface="Arial"/>
                <a:cs typeface="Arial"/>
              </a:rPr>
              <a:t>or</a:t>
            </a:r>
            <a:r>
              <a:rPr sz="2000" spc="-114" dirty="0">
                <a:solidFill>
                  <a:srgbClr val="FF0000"/>
                </a:solidFill>
                <a:latin typeface="Arial"/>
                <a:cs typeface="Arial"/>
              </a:rPr>
              <a:t> </a:t>
            </a:r>
            <a:r>
              <a:rPr sz="2000" spc="-35" dirty="0">
                <a:solidFill>
                  <a:srgbClr val="FF0000"/>
                </a:solidFill>
                <a:latin typeface="Arial"/>
                <a:cs typeface="Arial"/>
              </a:rPr>
              <a:t>split</a:t>
            </a:r>
            <a:r>
              <a:rPr sz="2000" spc="-90" dirty="0">
                <a:solidFill>
                  <a:srgbClr val="FF0000"/>
                </a:solidFill>
                <a:latin typeface="Arial"/>
                <a:cs typeface="Arial"/>
              </a:rPr>
              <a:t> </a:t>
            </a:r>
            <a:r>
              <a:rPr sz="2000" spc="-50" dirty="0">
                <a:solidFill>
                  <a:srgbClr val="FF0000"/>
                </a:solidFill>
                <a:latin typeface="Arial"/>
                <a:cs typeface="Arial"/>
              </a:rPr>
              <a:t>points</a:t>
            </a:r>
            <a:endParaRPr sz="2000" dirty="0">
              <a:solidFill>
                <a:srgbClr val="FF0000"/>
              </a:solidFill>
              <a:latin typeface="Arial"/>
              <a:cs typeface="Arial"/>
            </a:endParaRPr>
          </a:p>
          <a:p>
            <a:pPr marL="355600" marR="5080" indent="-342900" algn="just">
              <a:lnSpc>
                <a:spcPct val="100000"/>
              </a:lnSpc>
              <a:spcBef>
                <a:spcPts val="480"/>
              </a:spcBef>
              <a:buFont typeface="Arial"/>
              <a:buChar char="•"/>
              <a:tabLst>
                <a:tab pos="355600" algn="l"/>
              </a:tabLst>
            </a:pPr>
            <a:r>
              <a:rPr sz="2000" dirty="0">
                <a:latin typeface="Carlito"/>
                <a:cs typeface="Carlito"/>
              </a:rPr>
              <a:t>Such a decision is </a:t>
            </a:r>
            <a:r>
              <a:rPr sz="2000" spc="-5" dirty="0">
                <a:latin typeface="Carlito"/>
                <a:cs typeface="Carlito"/>
              </a:rPr>
              <a:t>critical because </a:t>
            </a:r>
            <a:r>
              <a:rPr sz="2000" dirty="0">
                <a:latin typeface="Carlito"/>
                <a:cs typeface="Carlito"/>
              </a:rPr>
              <a:t>once a </a:t>
            </a:r>
            <a:r>
              <a:rPr sz="2000" spc="-10" dirty="0">
                <a:latin typeface="Carlito"/>
                <a:cs typeface="Carlito"/>
              </a:rPr>
              <a:t>group </a:t>
            </a:r>
            <a:r>
              <a:rPr sz="2000" spc="-5" dirty="0">
                <a:latin typeface="Carlito"/>
                <a:cs typeface="Carlito"/>
              </a:rPr>
              <a:t>of objects </a:t>
            </a:r>
            <a:r>
              <a:rPr sz="2000" dirty="0">
                <a:latin typeface="Carlito"/>
                <a:cs typeface="Carlito"/>
              </a:rPr>
              <a:t>is </a:t>
            </a:r>
            <a:r>
              <a:rPr sz="2000" spc="-5" dirty="0">
                <a:latin typeface="Carlito"/>
                <a:cs typeface="Carlito"/>
              </a:rPr>
              <a:t>merged or  split, </a:t>
            </a:r>
            <a:r>
              <a:rPr sz="2000" dirty="0">
                <a:latin typeface="Carlito"/>
                <a:cs typeface="Carlito"/>
              </a:rPr>
              <a:t>the </a:t>
            </a:r>
            <a:r>
              <a:rPr sz="2000" spc="-5" dirty="0">
                <a:latin typeface="Carlito"/>
                <a:cs typeface="Carlito"/>
              </a:rPr>
              <a:t>process </a:t>
            </a:r>
            <a:r>
              <a:rPr sz="2000" spc="-15" dirty="0">
                <a:latin typeface="Carlito"/>
                <a:cs typeface="Carlito"/>
              </a:rPr>
              <a:t>at </a:t>
            </a:r>
            <a:r>
              <a:rPr sz="2000" dirty="0">
                <a:latin typeface="Carlito"/>
                <a:cs typeface="Carlito"/>
              </a:rPr>
              <a:t>the </a:t>
            </a:r>
            <a:r>
              <a:rPr sz="2000" spc="-10" dirty="0">
                <a:latin typeface="Carlito"/>
                <a:cs typeface="Carlito"/>
              </a:rPr>
              <a:t>next </a:t>
            </a:r>
            <a:r>
              <a:rPr sz="2000" spc="-15" dirty="0">
                <a:latin typeface="Carlito"/>
                <a:cs typeface="Carlito"/>
              </a:rPr>
              <a:t>step </a:t>
            </a:r>
            <a:r>
              <a:rPr sz="2000" spc="-5" dirty="0">
                <a:latin typeface="Carlito"/>
                <a:cs typeface="Carlito"/>
              </a:rPr>
              <a:t>will </a:t>
            </a:r>
            <a:r>
              <a:rPr sz="2000" spc="-15" dirty="0">
                <a:latin typeface="Carlito"/>
                <a:cs typeface="Carlito"/>
              </a:rPr>
              <a:t>operate </a:t>
            </a:r>
            <a:r>
              <a:rPr sz="2000" spc="-5" dirty="0">
                <a:latin typeface="Carlito"/>
                <a:cs typeface="Carlito"/>
              </a:rPr>
              <a:t>on </a:t>
            </a:r>
            <a:r>
              <a:rPr sz="2000" dirty="0">
                <a:latin typeface="Carlito"/>
                <a:cs typeface="Carlito"/>
              </a:rPr>
              <a:t>the </a:t>
            </a:r>
            <a:r>
              <a:rPr sz="2000" spc="-5" dirty="0">
                <a:latin typeface="Carlito"/>
                <a:cs typeface="Carlito"/>
              </a:rPr>
              <a:t>newly </a:t>
            </a:r>
            <a:r>
              <a:rPr sz="2000" spc="-10" dirty="0">
                <a:latin typeface="Carlito"/>
                <a:cs typeface="Carlito"/>
              </a:rPr>
              <a:t>generated  clusters</a:t>
            </a:r>
            <a:endParaRPr sz="2000" dirty="0">
              <a:latin typeface="Carlito"/>
              <a:cs typeface="Carlito"/>
            </a:endParaRPr>
          </a:p>
          <a:p>
            <a:pPr marL="355600" indent="-342900" algn="just">
              <a:lnSpc>
                <a:spcPct val="100000"/>
              </a:lnSpc>
              <a:spcBef>
                <a:spcPts val="480"/>
              </a:spcBef>
              <a:buFont typeface="Arial"/>
              <a:buChar char="•"/>
              <a:tabLst>
                <a:tab pos="355600" algn="l"/>
              </a:tabLst>
            </a:pPr>
            <a:r>
              <a:rPr sz="2000" dirty="0">
                <a:latin typeface="Carlito"/>
                <a:cs typeface="Carlito"/>
              </a:rPr>
              <a:t>It </a:t>
            </a:r>
            <a:r>
              <a:rPr sz="2000" spc="-5" dirty="0">
                <a:latin typeface="Carlito"/>
                <a:cs typeface="Carlito"/>
              </a:rPr>
              <a:t>will neither </a:t>
            </a:r>
            <a:r>
              <a:rPr sz="2000" dirty="0">
                <a:latin typeface="Carlito"/>
                <a:cs typeface="Carlito"/>
              </a:rPr>
              <a:t>undo </a:t>
            </a:r>
            <a:r>
              <a:rPr sz="2000" spc="-5" dirty="0">
                <a:latin typeface="Carlito"/>
                <a:cs typeface="Carlito"/>
              </a:rPr>
              <a:t>what </a:t>
            </a:r>
            <a:r>
              <a:rPr sz="2000" spc="-10" dirty="0">
                <a:latin typeface="Carlito"/>
                <a:cs typeface="Carlito"/>
              </a:rPr>
              <a:t>was </a:t>
            </a:r>
            <a:r>
              <a:rPr sz="2000" dirty="0">
                <a:latin typeface="Carlito"/>
                <a:cs typeface="Carlito"/>
              </a:rPr>
              <a:t>done </a:t>
            </a:r>
            <a:r>
              <a:rPr sz="2000" spc="-5" dirty="0">
                <a:latin typeface="Carlito"/>
                <a:cs typeface="Carlito"/>
              </a:rPr>
              <a:t>previously </a:t>
            </a:r>
            <a:r>
              <a:rPr sz="2000" dirty="0">
                <a:latin typeface="Carlito"/>
                <a:cs typeface="Carlito"/>
              </a:rPr>
              <a:t>nor </a:t>
            </a:r>
            <a:r>
              <a:rPr sz="2000" spc="-10" dirty="0">
                <a:latin typeface="Carlito"/>
                <a:cs typeface="Carlito"/>
              </a:rPr>
              <a:t>perform</a:t>
            </a:r>
            <a:r>
              <a:rPr sz="2000" spc="-35" dirty="0">
                <a:latin typeface="Carlito"/>
                <a:cs typeface="Carlito"/>
              </a:rPr>
              <a:t> </a:t>
            </a:r>
            <a:r>
              <a:rPr sz="2000" spc="-5" dirty="0">
                <a:latin typeface="Carlito"/>
                <a:cs typeface="Carlito"/>
              </a:rPr>
              <a:t>object</a:t>
            </a:r>
            <a:endParaRPr sz="2000" dirty="0">
              <a:latin typeface="Carlito"/>
              <a:cs typeface="Carlito"/>
            </a:endParaRPr>
          </a:p>
          <a:p>
            <a:pPr marL="355600" algn="just">
              <a:lnSpc>
                <a:spcPct val="100000"/>
              </a:lnSpc>
            </a:pPr>
            <a:r>
              <a:rPr sz="2000" spc="-5" dirty="0">
                <a:latin typeface="Carlito"/>
                <a:cs typeface="Carlito"/>
              </a:rPr>
              <a:t>swapping between </a:t>
            </a:r>
            <a:r>
              <a:rPr sz="2000" spc="-10" dirty="0">
                <a:latin typeface="Carlito"/>
                <a:cs typeface="Carlito"/>
              </a:rPr>
              <a:t>clusters</a:t>
            </a:r>
            <a:endParaRPr sz="2000" dirty="0">
              <a:latin typeface="Carlito"/>
              <a:cs typeface="Carli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42313" y="385953"/>
            <a:ext cx="5657215" cy="452120"/>
          </a:xfrm>
          <a:prstGeom prst="rect">
            <a:avLst/>
          </a:prstGeom>
        </p:spPr>
        <p:txBody>
          <a:bodyPr vert="horz" wrap="square" lIns="0" tIns="12065" rIns="0" bIns="0" rtlCol="0">
            <a:spAutoFit/>
          </a:bodyPr>
          <a:lstStyle/>
          <a:p>
            <a:pPr marL="12700">
              <a:lnSpc>
                <a:spcPct val="100000"/>
              </a:lnSpc>
              <a:spcBef>
                <a:spcPts val="95"/>
              </a:spcBef>
            </a:pPr>
            <a:r>
              <a:rPr sz="2800" b="1" spc="-5" dirty="0">
                <a:solidFill>
                  <a:srgbClr val="0000FF"/>
                </a:solidFill>
                <a:latin typeface="Carlito"/>
                <a:cs typeface="Carlito"/>
              </a:rPr>
              <a:t>Difﬁculties </a:t>
            </a:r>
            <a:r>
              <a:rPr sz="2800" b="1" spc="-10" dirty="0">
                <a:solidFill>
                  <a:srgbClr val="0000FF"/>
                </a:solidFill>
                <a:latin typeface="Carlito"/>
                <a:cs typeface="Carlito"/>
              </a:rPr>
              <a:t>with </a:t>
            </a:r>
            <a:r>
              <a:rPr sz="2800" b="1" spc="-15" dirty="0">
                <a:solidFill>
                  <a:srgbClr val="0000FF"/>
                </a:solidFill>
                <a:latin typeface="Carlito"/>
                <a:cs typeface="Carlito"/>
              </a:rPr>
              <a:t>hierarchical</a:t>
            </a:r>
            <a:r>
              <a:rPr sz="2800" b="1" spc="45" dirty="0">
                <a:solidFill>
                  <a:srgbClr val="0000FF"/>
                </a:solidFill>
                <a:latin typeface="Carlito"/>
                <a:cs typeface="Carlito"/>
              </a:rPr>
              <a:t> </a:t>
            </a:r>
            <a:r>
              <a:rPr sz="2800" b="1" spc="-15" dirty="0">
                <a:solidFill>
                  <a:srgbClr val="0000FF"/>
                </a:solidFill>
                <a:latin typeface="Carlito"/>
                <a:cs typeface="Carlito"/>
              </a:rPr>
              <a:t>clustering</a:t>
            </a:r>
            <a:endParaRPr sz="2800">
              <a:latin typeface="Carlito"/>
              <a:cs typeface="Carlito"/>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23</a:t>
            </a:fld>
            <a:endParaRPr dirty="0"/>
          </a:p>
        </p:txBody>
      </p:sp>
      <p:sp>
        <p:nvSpPr>
          <p:cNvPr id="3" name="object 3"/>
          <p:cNvSpPr txBox="1"/>
          <p:nvPr/>
        </p:nvSpPr>
        <p:spPr>
          <a:xfrm>
            <a:off x="535940" y="1216913"/>
            <a:ext cx="8011795" cy="2586990"/>
          </a:xfrm>
          <a:prstGeom prst="rect">
            <a:avLst/>
          </a:prstGeom>
        </p:spPr>
        <p:txBody>
          <a:bodyPr vert="horz" wrap="square" lIns="0" tIns="13335" rIns="0" bIns="0" rtlCol="0">
            <a:spAutoFit/>
          </a:bodyPr>
          <a:lstStyle/>
          <a:p>
            <a:pPr marL="355600" marR="5080" indent="-342900">
              <a:lnSpc>
                <a:spcPct val="100000"/>
              </a:lnSpc>
              <a:spcBef>
                <a:spcPts val="105"/>
              </a:spcBef>
              <a:buFont typeface="Arial"/>
              <a:buChar char="•"/>
              <a:tabLst>
                <a:tab pos="354965" algn="l"/>
                <a:tab pos="355600" algn="l"/>
              </a:tabLst>
            </a:pPr>
            <a:r>
              <a:rPr sz="2000" dirty="0">
                <a:latin typeface="Carlito"/>
                <a:cs typeface="Carlito"/>
              </a:rPr>
              <a:t>Thus </a:t>
            </a:r>
            <a:r>
              <a:rPr sz="2000" spc="-10" dirty="0">
                <a:latin typeface="Carlito"/>
                <a:cs typeface="Carlito"/>
              </a:rPr>
              <a:t>merge </a:t>
            </a:r>
            <a:r>
              <a:rPr sz="2000" spc="-5" dirty="0">
                <a:latin typeface="Carlito"/>
                <a:cs typeface="Carlito"/>
              </a:rPr>
              <a:t>or split </a:t>
            </a:r>
            <a:r>
              <a:rPr sz="2000" dirty="0">
                <a:latin typeface="Carlito"/>
                <a:cs typeface="Carlito"/>
              </a:rPr>
              <a:t>decisions, if not </a:t>
            </a:r>
            <a:r>
              <a:rPr sz="2000" spc="-5" dirty="0">
                <a:latin typeface="Carlito"/>
                <a:cs typeface="Carlito"/>
              </a:rPr>
              <a:t>well </a:t>
            </a:r>
            <a:r>
              <a:rPr sz="2000" dirty="0">
                <a:latin typeface="Carlito"/>
                <a:cs typeface="Carlito"/>
              </a:rPr>
              <a:t>chosen </a:t>
            </a:r>
            <a:r>
              <a:rPr sz="2000" spc="-15" dirty="0">
                <a:latin typeface="Carlito"/>
                <a:cs typeface="Carlito"/>
              </a:rPr>
              <a:t>at </a:t>
            </a:r>
            <a:r>
              <a:rPr sz="2000" spc="-5" dirty="0">
                <a:latin typeface="Carlito"/>
                <a:cs typeface="Carlito"/>
              </a:rPr>
              <a:t>some </a:t>
            </a:r>
            <a:r>
              <a:rPr sz="2000" spc="-10" dirty="0">
                <a:latin typeface="Carlito"/>
                <a:cs typeface="Carlito"/>
              </a:rPr>
              <a:t>step, </a:t>
            </a:r>
            <a:r>
              <a:rPr sz="2000" spc="-15" dirty="0">
                <a:latin typeface="Carlito"/>
                <a:cs typeface="Carlito"/>
              </a:rPr>
              <a:t>may </a:t>
            </a:r>
            <a:r>
              <a:rPr sz="2000" spc="-5" dirty="0">
                <a:latin typeface="Carlito"/>
                <a:cs typeface="Carlito"/>
              </a:rPr>
              <a:t>lead </a:t>
            </a:r>
            <a:r>
              <a:rPr sz="2000" spc="-10" dirty="0">
                <a:latin typeface="Carlito"/>
                <a:cs typeface="Carlito"/>
              </a:rPr>
              <a:t>to  </a:t>
            </a:r>
            <a:r>
              <a:rPr sz="2000" spc="-5" dirty="0">
                <a:latin typeface="Carlito"/>
                <a:cs typeface="Carlito"/>
              </a:rPr>
              <a:t>low-quality </a:t>
            </a:r>
            <a:r>
              <a:rPr sz="2000" spc="-15" dirty="0">
                <a:latin typeface="Carlito"/>
                <a:cs typeface="Carlito"/>
              </a:rPr>
              <a:t>clusters</a:t>
            </a:r>
            <a:endParaRPr sz="2000" dirty="0">
              <a:latin typeface="Carlito"/>
              <a:cs typeface="Carlito"/>
            </a:endParaRPr>
          </a:p>
          <a:p>
            <a:pPr marL="355600" marR="80010" indent="-342900">
              <a:lnSpc>
                <a:spcPct val="100000"/>
              </a:lnSpc>
              <a:spcBef>
                <a:spcPts val="480"/>
              </a:spcBef>
              <a:buFont typeface="Arial"/>
              <a:buChar char="•"/>
              <a:tabLst>
                <a:tab pos="354965" algn="l"/>
                <a:tab pos="355600" algn="l"/>
              </a:tabLst>
            </a:pPr>
            <a:r>
              <a:rPr sz="2000" u="sng" spc="-25" dirty="0">
                <a:solidFill>
                  <a:srgbClr val="FF0000"/>
                </a:solidFill>
                <a:latin typeface="Carlito"/>
                <a:cs typeface="Carlito"/>
              </a:rPr>
              <a:t>Moreover, </a:t>
            </a:r>
            <a:r>
              <a:rPr sz="2000" u="sng" dirty="0">
                <a:solidFill>
                  <a:srgbClr val="FF0000"/>
                </a:solidFill>
                <a:latin typeface="Carlito"/>
                <a:cs typeface="Carlito"/>
              </a:rPr>
              <a:t>the </a:t>
            </a:r>
            <a:r>
              <a:rPr sz="2000" u="sng" spc="-5" dirty="0">
                <a:solidFill>
                  <a:srgbClr val="FF0000"/>
                </a:solidFill>
                <a:latin typeface="Carlito"/>
                <a:cs typeface="Carlito"/>
              </a:rPr>
              <a:t>method does </a:t>
            </a:r>
            <a:r>
              <a:rPr sz="2000" u="sng" dirty="0">
                <a:solidFill>
                  <a:srgbClr val="FF0000"/>
                </a:solidFill>
                <a:latin typeface="Carlito"/>
                <a:cs typeface="Carlito"/>
              </a:rPr>
              <a:t>not </a:t>
            </a:r>
            <a:r>
              <a:rPr sz="2000" u="sng" spc="-5" dirty="0">
                <a:solidFill>
                  <a:srgbClr val="FF0000"/>
                </a:solidFill>
                <a:latin typeface="Carlito"/>
                <a:cs typeface="Carlito"/>
              </a:rPr>
              <a:t>scale well</a:t>
            </a:r>
            <a:r>
              <a:rPr sz="2000" spc="-5" dirty="0">
                <a:solidFill>
                  <a:srgbClr val="FF0000"/>
                </a:solidFill>
                <a:latin typeface="Carlito"/>
                <a:cs typeface="Carlito"/>
              </a:rPr>
              <a:t>, because </a:t>
            </a:r>
            <a:r>
              <a:rPr sz="2000" dirty="0">
                <a:solidFill>
                  <a:srgbClr val="FF0000"/>
                </a:solidFill>
                <a:latin typeface="Carlito"/>
                <a:cs typeface="Carlito"/>
              </a:rPr>
              <a:t>each decision </a:t>
            </a:r>
            <a:r>
              <a:rPr sz="2000" spc="-15" dirty="0">
                <a:solidFill>
                  <a:srgbClr val="FF0000"/>
                </a:solidFill>
                <a:latin typeface="Carlito"/>
                <a:cs typeface="Carlito"/>
              </a:rPr>
              <a:t>to  </a:t>
            </a:r>
            <a:r>
              <a:rPr sz="2000" spc="-10" dirty="0">
                <a:solidFill>
                  <a:srgbClr val="FF0000"/>
                </a:solidFill>
                <a:latin typeface="Carlito"/>
                <a:cs typeface="Carlito"/>
              </a:rPr>
              <a:t>merge </a:t>
            </a:r>
            <a:r>
              <a:rPr sz="2000" spc="-5" dirty="0">
                <a:solidFill>
                  <a:srgbClr val="FF0000"/>
                </a:solidFill>
                <a:latin typeface="Carlito"/>
                <a:cs typeface="Carlito"/>
              </a:rPr>
              <a:t>or split </a:t>
            </a:r>
            <a:r>
              <a:rPr sz="2000" spc="-10" dirty="0">
                <a:solidFill>
                  <a:srgbClr val="FF0000"/>
                </a:solidFill>
                <a:latin typeface="Carlito"/>
                <a:cs typeface="Carlito"/>
              </a:rPr>
              <a:t>requires </a:t>
            </a:r>
            <a:r>
              <a:rPr sz="2000" dirty="0">
                <a:solidFill>
                  <a:srgbClr val="FF0000"/>
                </a:solidFill>
                <a:latin typeface="Carlito"/>
                <a:cs typeface="Carlito"/>
              </a:rPr>
              <a:t>the </a:t>
            </a:r>
            <a:r>
              <a:rPr sz="2000" spc="-10" dirty="0">
                <a:solidFill>
                  <a:srgbClr val="FF0000"/>
                </a:solidFill>
                <a:latin typeface="Carlito"/>
                <a:cs typeface="Carlito"/>
              </a:rPr>
              <a:t>examination </a:t>
            </a:r>
            <a:r>
              <a:rPr sz="2000" dirty="0">
                <a:solidFill>
                  <a:srgbClr val="FF0000"/>
                </a:solidFill>
                <a:latin typeface="Carlito"/>
                <a:cs typeface="Carlito"/>
              </a:rPr>
              <a:t>and </a:t>
            </a:r>
            <a:r>
              <a:rPr sz="2000" spc="-10" dirty="0">
                <a:solidFill>
                  <a:srgbClr val="FF0000"/>
                </a:solidFill>
                <a:latin typeface="Carlito"/>
                <a:cs typeface="Carlito"/>
              </a:rPr>
              <a:t>evaluation </a:t>
            </a:r>
            <a:r>
              <a:rPr sz="2000" spc="-5" dirty="0">
                <a:solidFill>
                  <a:srgbClr val="FF0000"/>
                </a:solidFill>
                <a:latin typeface="Carlito"/>
                <a:cs typeface="Carlito"/>
              </a:rPr>
              <a:t>of </a:t>
            </a:r>
            <a:r>
              <a:rPr sz="2000" dirty="0">
                <a:solidFill>
                  <a:srgbClr val="FF0000"/>
                </a:solidFill>
                <a:latin typeface="Carlito"/>
                <a:cs typeface="Carlito"/>
              </a:rPr>
              <a:t>a </a:t>
            </a:r>
            <a:r>
              <a:rPr sz="2000" spc="-5" dirty="0">
                <a:solidFill>
                  <a:srgbClr val="FF0000"/>
                </a:solidFill>
                <a:latin typeface="Carlito"/>
                <a:cs typeface="Carlito"/>
              </a:rPr>
              <a:t>good </a:t>
            </a:r>
            <a:r>
              <a:rPr sz="2000" dirty="0">
                <a:solidFill>
                  <a:srgbClr val="FF0000"/>
                </a:solidFill>
                <a:latin typeface="Carlito"/>
                <a:cs typeface="Carlito"/>
              </a:rPr>
              <a:t>number  </a:t>
            </a:r>
            <a:r>
              <a:rPr sz="2000" spc="-5" dirty="0">
                <a:solidFill>
                  <a:srgbClr val="FF0000"/>
                </a:solidFill>
                <a:latin typeface="Carlito"/>
                <a:cs typeface="Carlito"/>
              </a:rPr>
              <a:t>of objects or</a:t>
            </a:r>
            <a:r>
              <a:rPr sz="2000" spc="-30" dirty="0">
                <a:solidFill>
                  <a:srgbClr val="FF0000"/>
                </a:solidFill>
                <a:latin typeface="Carlito"/>
                <a:cs typeface="Carlito"/>
              </a:rPr>
              <a:t> </a:t>
            </a:r>
            <a:r>
              <a:rPr sz="2000" spc="-10" dirty="0">
                <a:solidFill>
                  <a:srgbClr val="FF0000"/>
                </a:solidFill>
                <a:latin typeface="Carlito"/>
                <a:cs typeface="Carlito"/>
              </a:rPr>
              <a:t>cluster</a:t>
            </a:r>
            <a:endParaRPr sz="2000" dirty="0">
              <a:solidFill>
                <a:srgbClr val="FF0000"/>
              </a:solidFill>
              <a:latin typeface="Carlito"/>
              <a:cs typeface="Carlito"/>
            </a:endParaRPr>
          </a:p>
          <a:p>
            <a:pPr marL="355600" marR="7620" indent="-342900">
              <a:lnSpc>
                <a:spcPct val="100000"/>
              </a:lnSpc>
              <a:spcBef>
                <a:spcPts val="480"/>
              </a:spcBef>
              <a:buFont typeface="Arial"/>
              <a:buChar char="•"/>
              <a:tabLst>
                <a:tab pos="354965" algn="l"/>
                <a:tab pos="355600" algn="l"/>
              </a:tabLst>
            </a:pPr>
            <a:r>
              <a:rPr sz="2000" spc="-10" dirty="0">
                <a:latin typeface="Carlito"/>
                <a:cs typeface="Carlito"/>
              </a:rPr>
              <a:t>For improving </a:t>
            </a:r>
            <a:r>
              <a:rPr sz="2000" dirty="0">
                <a:latin typeface="Carlito"/>
                <a:cs typeface="Carlito"/>
              </a:rPr>
              <a:t>the </a:t>
            </a:r>
            <a:r>
              <a:rPr sz="2000" spc="-5" dirty="0">
                <a:latin typeface="Carlito"/>
                <a:cs typeface="Carlito"/>
              </a:rPr>
              <a:t>clustering </a:t>
            </a:r>
            <a:r>
              <a:rPr sz="2000" dirty="0">
                <a:latin typeface="Carlito"/>
                <a:cs typeface="Carlito"/>
              </a:rPr>
              <a:t>quality of </a:t>
            </a:r>
            <a:r>
              <a:rPr sz="2000" spc="-10" dirty="0">
                <a:latin typeface="Carlito"/>
                <a:cs typeface="Carlito"/>
              </a:rPr>
              <a:t>hierarchical </a:t>
            </a:r>
            <a:r>
              <a:rPr sz="2000" dirty="0">
                <a:latin typeface="Carlito"/>
                <a:cs typeface="Carlito"/>
              </a:rPr>
              <a:t>methods is </a:t>
            </a:r>
            <a:r>
              <a:rPr sz="2000" spc="-10" dirty="0">
                <a:latin typeface="Carlito"/>
                <a:cs typeface="Carlito"/>
              </a:rPr>
              <a:t>to </a:t>
            </a:r>
            <a:r>
              <a:rPr sz="2000" spc="-15" dirty="0">
                <a:latin typeface="Carlito"/>
                <a:cs typeface="Carlito"/>
              </a:rPr>
              <a:t>integrate  </a:t>
            </a:r>
            <a:r>
              <a:rPr sz="2000" spc="-10" dirty="0">
                <a:latin typeface="Carlito"/>
                <a:cs typeface="Carlito"/>
              </a:rPr>
              <a:t>hierarchical </a:t>
            </a:r>
            <a:r>
              <a:rPr sz="2000" spc="-5" dirty="0">
                <a:latin typeface="Carlito"/>
                <a:cs typeface="Carlito"/>
              </a:rPr>
              <a:t>clustering with </a:t>
            </a:r>
            <a:r>
              <a:rPr sz="2000" dirty="0">
                <a:latin typeface="Carlito"/>
                <a:cs typeface="Carlito"/>
              </a:rPr>
              <a:t>other </a:t>
            </a:r>
            <a:r>
              <a:rPr sz="2000" spc="-5" dirty="0">
                <a:latin typeface="Carlito"/>
                <a:cs typeface="Carlito"/>
              </a:rPr>
              <a:t>clustering </a:t>
            </a:r>
            <a:r>
              <a:rPr sz="2000" dirty="0">
                <a:latin typeface="Carlito"/>
                <a:cs typeface="Carlito"/>
              </a:rPr>
              <a:t>techniques, </a:t>
            </a:r>
            <a:r>
              <a:rPr sz="2000" spc="-5" dirty="0">
                <a:latin typeface="Carlito"/>
                <a:cs typeface="Carlito"/>
              </a:rPr>
              <a:t>resulting </a:t>
            </a:r>
            <a:r>
              <a:rPr sz="2000" dirty="0">
                <a:latin typeface="Carlito"/>
                <a:cs typeface="Carlito"/>
              </a:rPr>
              <a:t>in  multiple-phase </a:t>
            </a:r>
            <a:r>
              <a:rPr sz="2000" spc="-10" dirty="0">
                <a:latin typeface="Carlito"/>
                <a:cs typeface="Carlito"/>
              </a:rPr>
              <a:t>clustering</a:t>
            </a:r>
            <a:endParaRPr sz="2000" dirty="0">
              <a:latin typeface="Carlito"/>
              <a:cs typeface="Carlit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78989" y="385953"/>
            <a:ext cx="3983354" cy="452120"/>
          </a:xfrm>
          <a:prstGeom prst="rect">
            <a:avLst/>
          </a:prstGeom>
        </p:spPr>
        <p:txBody>
          <a:bodyPr vert="horz" wrap="square" lIns="0" tIns="12065" rIns="0" bIns="0" rtlCol="0">
            <a:spAutoFit/>
          </a:bodyPr>
          <a:lstStyle/>
          <a:p>
            <a:pPr marL="12700">
              <a:lnSpc>
                <a:spcPct val="100000"/>
              </a:lnSpc>
              <a:spcBef>
                <a:spcPts val="95"/>
              </a:spcBef>
            </a:pPr>
            <a:r>
              <a:rPr sz="2800" spc="-15" dirty="0">
                <a:solidFill>
                  <a:srgbClr val="0000FF"/>
                </a:solidFill>
              </a:rPr>
              <a:t>Partitioning </a:t>
            </a:r>
            <a:r>
              <a:rPr sz="2800" spc="-45" dirty="0">
                <a:solidFill>
                  <a:srgbClr val="0000FF"/>
                </a:solidFill>
              </a:rPr>
              <a:t>Vs.</a:t>
            </a:r>
            <a:r>
              <a:rPr sz="2800" spc="30" dirty="0">
                <a:solidFill>
                  <a:srgbClr val="0000FF"/>
                </a:solidFill>
              </a:rPr>
              <a:t> </a:t>
            </a:r>
            <a:r>
              <a:rPr sz="2800" spc="-15" dirty="0">
                <a:solidFill>
                  <a:srgbClr val="0000FF"/>
                </a:solidFill>
              </a:rPr>
              <a:t>Hierarchical</a:t>
            </a:r>
            <a:endParaRPr sz="2800"/>
          </a:p>
        </p:txBody>
      </p:sp>
      <p:sp>
        <p:nvSpPr>
          <p:cNvPr id="3" name="object 3"/>
          <p:cNvSpPr/>
          <p:nvPr/>
        </p:nvSpPr>
        <p:spPr>
          <a:xfrm>
            <a:off x="845819" y="1292352"/>
            <a:ext cx="7577328" cy="2676144"/>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24</a:t>
            </a:fld>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510BA-1034-4915-95F6-8745D4E8BFA4}"/>
              </a:ext>
            </a:extLst>
          </p:cNvPr>
          <p:cNvSpPr>
            <a:spLocks noGrp="1"/>
          </p:cNvSpPr>
          <p:nvPr>
            <p:ph type="title"/>
          </p:nvPr>
        </p:nvSpPr>
        <p:spPr/>
        <p:txBody>
          <a:bodyPr/>
          <a:lstStyle/>
          <a:p>
            <a:r>
              <a:rPr lang="en-US" sz="2400" b="0" i="0" dirty="0">
                <a:solidFill>
                  <a:srgbClr val="555555"/>
                </a:solidFill>
                <a:effectLst/>
                <a:latin typeface="Inter"/>
              </a:rPr>
              <a:t>Following are the steps involved in agglomerative clustering </a:t>
            </a:r>
            <a:r>
              <a:rPr lang="en-US" sz="2400" b="0" i="0" dirty="0">
                <a:solidFill>
                  <a:srgbClr val="FF0000"/>
                </a:solidFill>
                <a:effectLst/>
                <a:latin typeface="Inter"/>
              </a:rPr>
              <a:t>(imp)</a:t>
            </a:r>
            <a:endParaRPr lang="en-IN" sz="2400" dirty="0">
              <a:solidFill>
                <a:srgbClr val="FF0000"/>
              </a:solidFill>
            </a:endParaRPr>
          </a:p>
        </p:txBody>
      </p:sp>
      <p:sp>
        <p:nvSpPr>
          <p:cNvPr id="3" name="Text Placeholder 2">
            <a:extLst>
              <a:ext uri="{FF2B5EF4-FFF2-40B4-BE49-F238E27FC236}">
                <a16:creationId xmlns:a16="http://schemas.microsoft.com/office/drawing/2014/main" id="{E9B74976-C5C1-4062-8A37-6822B0A214D0}"/>
              </a:ext>
            </a:extLst>
          </p:cNvPr>
          <p:cNvSpPr>
            <a:spLocks noGrp="1"/>
          </p:cNvSpPr>
          <p:nvPr>
            <p:ph type="body" idx="1"/>
          </p:nvPr>
        </p:nvSpPr>
        <p:spPr>
          <a:xfrm>
            <a:off x="601852" y="1047750"/>
            <a:ext cx="7940294" cy="3733800"/>
          </a:xfrm>
        </p:spPr>
        <p:txBody>
          <a:bodyPr/>
          <a:lstStyle/>
          <a:p>
            <a:pPr algn="l">
              <a:lnSpc>
                <a:spcPct val="150000"/>
              </a:lnSpc>
              <a:buFont typeface="+mj-lt"/>
              <a:buAutoNum type="arabicPeriod"/>
            </a:pPr>
            <a:r>
              <a:rPr lang="en-US" sz="1200" b="0" i="0" dirty="0">
                <a:solidFill>
                  <a:srgbClr val="5F5F6F"/>
                </a:solidFill>
                <a:effectLst/>
                <a:latin typeface="Inter"/>
              </a:rPr>
              <a:t>At the start, treat each data point as one cluster. Therefore, the number of clusters at the start will be K, while K is an integer representing the number of data points.</a:t>
            </a:r>
          </a:p>
          <a:p>
            <a:pPr algn="l">
              <a:lnSpc>
                <a:spcPct val="150000"/>
              </a:lnSpc>
              <a:buFont typeface="+mj-lt"/>
              <a:buAutoNum type="arabicPeriod"/>
            </a:pPr>
            <a:r>
              <a:rPr lang="en-US" sz="1200" b="0" i="0" dirty="0">
                <a:solidFill>
                  <a:srgbClr val="5F5F6F"/>
                </a:solidFill>
                <a:effectLst/>
                <a:latin typeface="Inter"/>
              </a:rPr>
              <a:t>Form a cluster by joining the two closest data points resulting in K-1 clusters.</a:t>
            </a:r>
          </a:p>
          <a:p>
            <a:pPr algn="l">
              <a:lnSpc>
                <a:spcPct val="150000"/>
              </a:lnSpc>
              <a:buFont typeface="+mj-lt"/>
              <a:buAutoNum type="arabicPeriod"/>
            </a:pPr>
            <a:r>
              <a:rPr lang="en-US" sz="1200" b="0" i="0" dirty="0">
                <a:solidFill>
                  <a:srgbClr val="5F5F6F"/>
                </a:solidFill>
                <a:effectLst/>
                <a:latin typeface="Inter"/>
              </a:rPr>
              <a:t>Form more clusters by joining the two closest clusters resulting in K-2 clusters.</a:t>
            </a:r>
          </a:p>
          <a:p>
            <a:pPr algn="l">
              <a:lnSpc>
                <a:spcPct val="150000"/>
              </a:lnSpc>
              <a:buFont typeface="+mj-lt"/>
              <a:buAutoNum type="arabicPeriod"/>
            </a:pPr>
            <a:r>
              <a:rPr lang="en-US" sz="1200" b="0" i="0" dirty="0">
                <a:solidFill>
                  <a:srgbClr val="5F5F6F"/>
                </a:solidFill>
                <a:effectLst/>
                <a:latin typeface="Inter"/>
              </a:rPr>
              <a:t>Repeat the above three steps until one big cluster is formed.</a:t>
            </a:r>
          </a:p>
          <a:p>
            <a:pPr algn="l">
              <a:lnSpc>
                <a:spcPct val="150000"/>
              </a:lnSpc>
              <a:buFont typeface="+mj-lt"/>
              <a:buAutoNum type="arabicPeriod"/>
            </a:pPr>
            <a:r>
              <a:rPr lang="en-US" sz="1200" b="0" i="0" dirty="0">
                <a:solidFill>
                  <a:srgbClr val="5F5F6F"/>
                </a:solidFill>
                <a:effectLst/>
                <a:latin typeface="Inter"/>
              </a:rPr>
              <a:t>Once single cluster is formed, </a:t>
            </a:r>
            <a:r>
              <a:rPr lang="en-US" sz="1200" b="0" i="0" u="none" strike="noStrike" dirty="0">
                <a:solidFill>
                  <a:srgbClr val="5F5F6F"/>
                </a:solidFill>
                <a:effectLst/>
                <a:latin typeface="Inter"/>
                <a:hlinkClick r:id="rId2"/>
              </a:rPr>
              <a:t>dendrograms</a:t>
            </a:r>
            <a:r>
              <a:rPr lang="en-US" sz="1200" b="0" i="0" dirty="0">
                <a:solidFill>
                  <a:srgbClr val="5F5F6F"/>
                </a:solidFill>
                <a:effectLst/>
                <a:latin typeface="Inter"/>
              </a:rPr>
              <a:t> are used to divide into multiple clusters depending upon the problem. </a:t>
            </a:r>
          </a:p>
          <a:p>
            <a:pPr algn="l">
              <a:lnSpc>
                <a:spcPct val="150000"/>
              </a:lnSpc>
            </a:pPr>
            <a:r>
              <a:rPr lang="en-US" sz="1200" b="0" i="0" dirty="0">
                <a:solidFill>
                  <a:srgbClr val="555555"/>
                </a:solidFill>
                <a:effectLst/>
                <a:latin typeface="Inter"/>
              </a:rPr>
              <a:t>There are different ways to find distance between the clusters. The distance itself can be Euclidean or Manhattan distance. </a:t>
            </a:r>
            <a:r>
              <a:rPr lang="en-US" sz="1200" b="1" i="0" dirty="0">
                <a:solidFill>
                  <a:srgbClr val="555555"/>
                </a:solidFill>
                <a:effectLst/>
                <a:latin typeface="Inter"/>
              </a:rPr>
              <a:t>Following are some of the options to measure distance between two clusters:</a:t>
            </a:r>
          </a:p>
          <a:p>
            <a:pPr algn="l">
              <a:lnSpc>
                <a:spcPct val="150000"/>
              </a:lnSpc>
              <a:buFont typeface="+mj-lt"/>
              <a:buAutoNum type="arabicPeriod"/>
            </a:pPr>
            <a:r>
              <a:rPr lang="en-US" sz="1200" b="0" i="0" dirty="0">
                <a:solidFill>
                  <a:srgbClr val="5F5F6F"/>
                </a:solidFill>
                <a:effectLst/>
                <a:latin typeface="Inter"/>
              </a:rPr>
              <a:t>Measure the distance between the closes points of two clusters.</a:t>
            </a:r>
          </a:p>
          <a:p>
            <a:pPr algn="l">
              <a:lnSpc>
                <a:spcPct val="150000"/>
              </a:lnSpc>
              <a:buFont typeface="+mj-lt"/>
              <a:buAutoNum type="arabicPeriod"/>
            </a:pPr>
            <a:r>
              <a:rPr lang="en-US" sz="1200" b="0" i="0" dirty="0">
                <a:solidFill>
                  <a:srgbClr val="5F5F6F"/>
                </a:solidFill>
                <a:effectLst/>
                <a:latin typeface="Inter"/>
              </a:rPr>
              <a:t>Measure the distance between the farthest points of two clusters.</a:t>
            </a:r>
          </a:p>
          <a:p>
            <a:pPr algn="l">
              <a:lnSpc>
                <a:spcPct val="150000"/>
              </a:lnSpc>
              <a:buFont typeface="+mj-lt"/>
              <a:buAutoNum type="arabicPeriod"/>
            </a:pPr>
            <a:r>
              <a:rPr lang="en-US" sz="1200" b="0" i="0" dirty="0">
                <a:solidFill>
                  <a:srgbClr val="5F5F6F"/>
                </a:solidFill>
                <a:effectLst/>
                <a:latin typeface="Inter"/>
              </a:rPr>
              <a:t>Measure the distance between the centroids of two clusters.</a:t>
            </a:r>
          </a:p>
          <a:p>
            <a:pPr algn="l">
              <a:lnSpc>
                <a:spcPct val="150000"/>
              </a:lnSpc>
              <a:buFont typeface="+mj-lt"/>
              <a:buAutoNum type="arabicPeriod"/>
            </a:pPr>
            <a:r>
              <a:rPr lang="en-US" sz="1200" b="0" i="0" dirty="0">
                <a:solidFill>
                  <a:srgbClr val="5F5F6F"/>
                </a:solidFill>
                <a:effectLst/>
                <a:latin typeface="Inter"/>
              </a:rPr>
              <a:t>Measure the distance between all possible combination of points between the two clusters and take the mean.</a:t>
            </a:r>
          </a:p>
          <a:p>
            <a:endParaRPr lang="en-IN" dirty="0"/>
          </a:p>
        </p:txBody>
      </p:sp>
    </p:spTree>
    <p:extLst>
      <p:ext uri="{BB962C8B-B14F-4D97-AF65-F5344CB8AC3E}">
        <p14:creationId xmlns:p14="http://schemas.microsoft.com/office/powerpoint/2010/main" val="7889151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3ADEF-E7CE-46C3-8F99-3C40FB162F0A}"/>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ADF5F311-CA4E-4A65-80F6-62E65F95C0BD}"/>
              </a:ext>
            </a:extLst>
          </p:cNvPr>
          <p:cNvSpPr>
            <a:spLocks noGrp="1"/>
          </p:cNvSpPr>
          <p:nvPr>
            <p:ph type="body" idx="1"/>
          </p:nvPr>
        </p:nvSpPr>
        <p:spPr/>
        <p:txBody>
          <a:bodyPr/>
          <a:lstStyle/>
          <a:p>
            <a:r>
              <a:rPr lang="en-US" b="0" i="0" dirty="0">
                <a:solidFill>
                  <a:srgbClr val="555555"/>
                </a:solidFill>
                <a:effectLst/>
                <a:latin typeface="Inter"/>
              </a:rPr>
              <a:t>Once one large cluster is formed by the combination of small clusters, dendrograms of the cluster are used to actually split the cluster into multiple clusters of related data points. Let's see how it's actually done.</a:t>
            </a:r>
            <a:endParaRPr lang="en-IN" dirty="0"/>
          </a:p>
        </p:txBody>
      </p:sp>
    </p:spTree>
    <p:extLst>
      <p:ext uri="{BB962C8B-B14F-4D97-AF65-F5344CB8AC3E}">
        <p14:creationId xmlns:p14="http://schemas.microsoft.com/office/powerpoint/2010/main" val="9037082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55216" y="1867281"/>
            <a:ext cx="6432550" cy="513715"/>
          </a:xfrm>
          <a:prstGeom prst="rect">
            <a:avLst/>
          </a:prstGeom>
        </p:spPr>
        <p:txBody>
          <a:bodyPr vert="horz" wrap="square" lIns="0" tIns="13335" rIns="0" bIns="0" rtlCol="0">
            <a:spAutoFit/>
          </a:bodyPr>
          <a:lstStyle/>
          <a:p>
            <a:pPr marL="12700">
              <a:lnSpc>
                <a:spcPct val="100000"/>
              </a:lnSpc>
              <a:spcBef>
                <a:spcPts val="105"/>
              </a:spcBef>
            </a:pPr>
            <a:r>
              <a:rPr sz="3200" b="1" spc="-5" dirty="0">
                <a:latin typeface="Carlito"/>
                <a:cs typeface="Carlito"/>
              </a:rPr>
              <a:t>K-means </a:t>
            </a:r>
            <a:r>
              <a:rPr sz="3200" b="1" spc="-15" dirty="0">
                <a:latin typeface="Carlito"/>
                <a:cs typeface="Carlito"/>
              </a:rPr>
              <a:t>versus hierarchical</a:t>
            </a:r>
            <a:r>
              <a:rPr sz="3200" b="1" dirty="0">
                <a:latin typeface="Carlito"/>
                <a:cs typeface="Carlito"/>
              </a:rPr>
              <a:t> </a:t>
            </a:r>
            <a:r>
              <a:rPr sz="3200" b="1" spc="-15" dirty="0">
                <a:latin typeface="Carlito"/>
                <a:cs typeface="Carlito"/>
              </a:rPr>
              <a:t>clustering</a:t>
            </a:r>
            <a:endParaRPr sz="3200">
              <a:latin typeface="Carlito"/>
              <a:cs typeface="Carlito"/>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27</a:t>
            </a:fld>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2229" y="385953"/>
            <a:ext cx="5477510" cy="452120"/>
          </a:xfrm>
          <a:prstGeom prst="rect">
            <a:avLst/>
          </a:prstGeom>
        </p:spPr>
        <p:txBody>
          <a:bodyPr vert="horz" wrap="square" lIns="0" tIns="12065" rIns="0" bIns="0" rtlCol="0">
            <a:spAutoFit/>
          </a:bodyPr>
          <a:lstStyle/>
          <a:p>
            <a:pPr marL="12700">
              <a:lnSpc>
                <a:spcPct val="100000"/>
              </a:lnSpc>
              <a:spcBef>
                <a:spcPts val="95"/>
              </a:spcBef>
            </a:pPr>
            <a:r>
              <a:rPr sz="2800" spc="-5" dirty="0"/>
              <a:t>K means </a:t>
            </a:r>
            <a:r>
              <a:rPr sz="2800" spc="-20" dirty="0"/>
              <a:t>versus </a:t>
            </a:r>
            <a:r>
              <a:rPr sz="2800" spc="-15" dirty="0"/>
              <a:t>hierarchical</a:t>
            </a:r>
            <a:r>
              <a:rPr sz="2800" spc="55" dirty="0"/>
              <a:t> </a:t>
            </a:r>
            <a:r>
              <a:rPr sz="2800" spc="-15" dirty="0"/>
              <a:t>clustering</a:t>
            </a:r>
            <a:endParaRPr sz="280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28</a:t>
            </a:fld>
            <a:endParaRPr dirty="0"/>
          </a:p>
        </p:txBody>
      </p:sp>
      <p:sp>
        <p:nvSpPr>
          <p:cNvPr id="3" name="object 3"/>
          <p:cNvSpPr txBox="1"/>
          <p:nvPr/>
        </p:nvSpPr>
        <p:spPr>
          <a:xfrm>
            <a:off x="535940" y="1617040"/>
            <a:ext cx="3877945" cy="2861945"/>
          </a:xfrm>
          <a:prstGeom prst="rect">
            <a:avLst/>
          </a:prstGeom>
        </p:spPr>
        <p:txBody>
          <a:bodyPr vert="horz" wrap="square" lIns="0" tIns="43815" rIns="0" bIns="0" rtlCol="0">
            <a:spAutoFit/>
          </a:bodyPr>
          <a:lstStyle/>
          <a:p>
            <a:pPr marL="355600" marR="5080" indent="-342900">
              <a:lnSpc>
                <a:spcPct val="90000"/>
              </a:lnSpc>
              <a:spcBef>
                <a:spcPts val="345"/>
              </a:spcBef>
              <a:buFont typeface="Arial"/>
              <a:buChar char="•"/>
              <a:tabLst>
                <a:tab pos="354965" algn="l"/>
                <a:tab pos="355600" algn="l"/>
              </a:tabLst>
            </a:pPr>
            <a:r>
              <a:rPr sz="2000" spc="-5" dirty="0">
                <a:latin typeface="Carlito"/>
                <a:cs typeface="Carlito"/>
              </a:rPr>
              <a:t>Non-hierarchical methods, such  </a:t>
            </a:r>
            <a:r>
              <a:rPr sz="2000" dirty="0">
                <a:latin typeface="Carlito"/>
                <a:cs typeface="Carlito"/>
              </a:rPr>
              <a:t>as k-means, </a:t>
            </a:r>
            <a:r>
              <a:rPr sz="2000" spc="-5" dirty="0">
                <a:solidFill>
                  <a:srgbClr val="FF0000"/>
                </a:solidFill>
                <a:latin typeface="Carlito"/>
                <a:cs typeface="Carlito"/>
              </a:rPr>
              <a:t>using </a:t>
            </a:r>
            <a:r>
              <a:rPr sz="2000" dirty="0">
                <a:solidFill>
                  <a:srgbClr val="FF0000"/>
                </a:solidFill>
                <a:latin typeface="Carlito"/>
                <a:cs typeface="Carlito"/>
              </a:rPr>
              <a:t>a </a:t>
            </a:r>
            <a:r>
              <a:rPr sz="2000" spc="-5" dirty="0">
                <a:solidFill>
                  <a:srgbClr val="FF0000"/>
                </a:solidFill>
                <a:latin typeface="Carlito"/>
                <a:cs typeface="Carlito"/>
              </a:rPr>
              <a:t>pre-specified  </a:t>
            </a:r>
            <a:r>
              <a:rPr sz="2000" dirty="0">
                <a:solidFill>
                  <a:srgbClr val="FF0000"/>
                </a:solidFill>
                <a:latin typeface="Carlito"/>
                <a:cs typeface="Carlito"/>
              </a:rPr>
              <a:t>number </a:t>
            </a:r>
            <a:r>
              <a:rPr sz="2000" spc="-5" dirty="0">
                <a:solidFill>
                  <a:srgbClr val="FF0000"/>
                </a:solidFill>
                <a:latin typeface="Carlito"/>
                <a:cs typeface="Carlito"/>
              </a:rPr>
              <a:t>of </a:t>
            </a:r>
            <a:r>
              <a:rPr sz="2000" spc="-15" dirty="0">
                <a:solidFill>
                  <a:srgbClr val="FF0000"/>
                </a:solidFill>
                <a:latin typeface="Carlito"/>
                <a:cs typeface="Carlito"/>
              </a:rPr>
              <a:t>clusters</a:t>
            </a:r>
            <a:r>
              <a:rPr sz="2000" spc="-15" dirty="0">
                <a:latin typeface="Carlito"/>
                <a:cs typeface="Carlito"/>
              </a:rPr>
              <a:t>, </a:t>
            </a:r>
            <a:r>
              <a:rPr sz="2000" dirty="0">
                <a:latin typeface="Carlito"/>
                <a:cs typeface="Carlito"/>
              </a:rPr>
              <a:t>the </a:t>
            </a:r>
            <a:r>
              <a:rPr sz="2000" spc="-5" dirty="0">
                <a:latin typeface="Carlito"/>
                <a:cs typeface="Carlito"/>
              </a:rPr>
              <a:t>method  </a:t>
            </a:r>
            <a:r>
              <a:rPr sz="2000" dirty="0">
                <a:latin typeface="Carlito"/>
                <a:cs typeface="Carlito"/>
              </a:rPr>
              <a:t>assigns </a:t>
            </a:r>
            <a:r>
              <a:rPr sz="2000" spc="-10" dirty="0">
                <a:latin typeface="Carlito"/>
                <a:cs typeface="Carlito"/>
              </a:rPr>
              <a:t>records </a:t>
            </a:r>
            <a:r>
              <a:rPr sz="2000" spc="-15" dirty="0">
                <a:latin typeface="Carlito"/>
                <a:cs typeface="Carlito"/>
              </a:rPr>
              <a:t>to </a:t>
            </a:r>
            <a:r>
              <a:rPr sz="2000" dirty="0">
                <a:latin typeface="Carlito"/>
                <a:cs typeface="Carlito"/>
              </a:rPr>
              <a:t>each </a:t>
            </a:r>
            <a:r>
              <a:rPr sz="2000" spc="-5" dirty="0">
                <a:latin typeface="Carlito"/>
                <a:cs typeface="Carlito"/>
              </a:rPr>
              <a:t>cluster </a:t>
            </a:r>
            <a:r>
              <a:rPr sz="2000" spc="-15" dirty="0">
                <a:latin typeface="Carlito"/>
                <a:cs typeface="Carlito"/>
              </a:rPr>
              <a:t>to  </a:t>
            </a:r>
            <a:r>
              <a:rPr sz="2000" spc="-5" dirty="0">
                <a:latin typeface="Carlito"/>
                <a:cs typeface="Carlito"/>
              </a:rPr>
              <a:t>find </a:t>
            </a:r>
            <a:r>
              <a:rPr sz="2000" dirty="0">
                <a:latin typeface="Carlito"/>
                <a:cs typeface="Carlito"/>
              </a:rPr>
              <a:t>the </a:t>
            </a:r>
            <a:r>
              <a:rPr sz="2000" dirty="0">
                <a:solidFill>
                  <a:srgbClr val="FF0000"/>
                </a:solidFill>
                <a:latin typeface="Carlito"/>
                <a:cs typeface="Carlito"/>
              </a:rPr>
              <a:t>mutually </a:t>
            </a:r>
            <a:r>
              <a:rPr sz="2000" spc="-15" dirty="0">
                <a:solidFill>
                  <a:srgbClr val="FF0000"/>
                </a:solidFill>
                <a:latin typeface="Carlito"/>
                <a:cs typeface="Carlito"/>
              </a:rPr>
              <a:t>exclusive </a:t>
            </a:r>
            <a:r>
              <a:rPr sz="2000" spc="-10" dirty="0">
                <a:solidFill>
                  <a:srgbClr val="FF0000"/>
                </a:solidFill>
                <a:latin typeface="Carlito"/>
                <a:cs typeface="Carlito"/>
              </a:rPr>
              <a:t>cluster  </a:t>
            </a:r>
            <a:r>
              <a:rPr sz="2000" spc="-5" dirty="0">
                <a:latin typeface="Carlito"/>
                <a:cs typeface="Carlito"/>
              </a:rPr>
              <a:t>of </a:t>
            </a:r>
            <a:r>
              <a:rPr sz="2000" spc="-5" dirty="0">
                <a:solidFill>
                  <a:srgbClr val="FF0000"/>
                </a:solidFill>
                <a:latin typeface="Carlito"/>
                <a:cs typeface="Carlito"/>
              </a:rPr>
              <a:t>spherical shape </a:t>
            </a:r>
            <a:r>
              <a:rPr sz="2000" dirty="0">
                <a:latin typeface="Carlito"/>
                <a:cs typeface="Carlito"/>
              </a:rPr>
              <a:t>based </a:t>
            </a:r>
            <a:r>
              <a:rPr sz="2000" spc="-5" dirty="0">
                <a:latin typeface="Carlito"/>
                <a:cs typeface="Carlito"/>
              </a:rPr>
              <a:t>on  </a:t>
            </a:r>
            <a:r>
              <a:rPr sz="2000" spc="-10" dirty="0">
                <a:solidFill>
                  <a:srgbClr val="FF0000"/>
                </a:solidFill>
                <a:latin typeface="Carlito"/>
                <a:cs typeface="Carlito"/>
              </a:rPr>
              <a:t>distance</a:t>
            </a:r>
            <a:endParaRPr sz="2000" dirty="0">
              <a:solidFill>
                <a:srgbClr val="FF0000"/>
              </a:solidFill>
              <a:latin typeface="Carlito"/>
              <a:cs typeface="Carlito"/>
            </a:endParaRPr>
          </a:p>
          <a:p>
            <a:pPr marL="355600" marR="93980" indent="-342900">
              <a:lnSpc>
                <a:spcPct val="90000"/>
              </a:lnSpc>
              <a:spcBef>
                <a:spcPts val="480"/>
              </a:spcBef>
              <a:buFont typeface="Arial"/>
              <a:buChar char="•"/>
              <a:tabLst>
                <a:tab pos="354965" algn="l"/>
                <a:tab pos="355600" algn="l"/>
              </a:tabLst>
            </a:pPr>
            <a:r>
              <a:rPr sz="2000" dirty="0">
                <a:latin typeface="Carlito"/>
                <a:cs typeface="Carlito"/>
              </a:rPr>
              <a:t>In this </a:t>
            </a:r>
            <a:r>
              <a:rPr sz="2000" spc="-5" dirty="0">
                <a:latin typeface="Carlito"/>
                <a:cs typeface="Carlito"/>
              </a:rPr>
              <a:t>case, </a:t>
            </a:r>
            <a:r>
              <a:rPr sz="2000" dirty="0">
                <a:latin typeface="Carlito"/>
                <a:cs typeface="Carlito"/>
              </a:rPr>
              <a:t>one </a:t>
            </a:r>
            <a:r>
              <a:rPr sz="2000" spc="-5" dirty="0">
                <a:latin typeface="Carlito"/>
                <a:cs typeface="Carlito"/>
              </a:rPr>
              <a:t>can </a:t>
            </a:r>
            <a:r>
              <a:rPr sz="2000" dirty="0">
                <a:latin typeface="Carlito"/>
                <a:cs typeface="Carlito"/>
              </a:rPr>
              <a:t>use </a:t>
            </a:r>
            <a:r>
              <a:rPr sz="2000" dirty="0">
                <a:solidFill>
                  <a:srgbClr val="FF0000"/>
                </a:solidFill>
                <a:latin typeface="Carlito"/>
                <a:cs typeface="Carlito"/>
              </a:rPr>
              <a:t>mean</a:t>
            </a:r>
            <a:r>
              <a:rPr sz="2000" spc="-55" dirty="0">
                <a:latin typeface="Carlito"/>
                <a:cs typeface="Carlito"/>
              </a:rPr>
              <a:t> </a:t>
            </a:r>
            <a:r>
              <a:rPr sz="2000" spc="-5" dirty="0">
                <a:latin typeface="Carlito"/>
                <a:cs typeface="Carlito"/>
              </a:rPr>
              <a:t>or  </a:t>
            </a:r>
            <a:r>
              <a:rPr sz="2000" dirty="0">
                <a:solidFill>
                  <a:srgbClr val="FF0000"/>
                </a:solidFill>
                <a:latin typeface="Carlito"/>
                <a:cs typeface="Carlito"/>
              </a:rPr>
              <a:t>median</a:t>
            </a:r>
            <a:r>
              <a:rPr sz="2000" dirty="0">
                <a:latin typeface="Carlito"/>
                <a:cs typeface="Carlito"/>
              </a:rPr>
              <a:t> as a </a:t>
            </a:r>
            <a:r>
              <a:rPr sz="2000" spc="-10" dirty="0">
                <a:latin typeface="Carlito"/>
                <a:cs typeface="Carlito"/>
              </a:rPr>
              <a:t>cluster centre to  represent </a:t>
            </a:r>
            <a:r>
              <a:rPr sz="2000" dirty="0">
                <a:latin typeface="Carlito"/>
                <a:cs typeface="Carlito"/>
              </a:rPr>
              <a:t>each</a:t>
            </a:r>
            <a:r>
              <a:rPr sz="2000" spc="15" dirty="0">
                <a:latin typeface="Carlito"/>
                <a:cs typeface="Carlito"/>
              </a:rPr>
              <a:t> </a:t>
            </a:r>
            <a:r>
              <a:rPr sz="2000" spc="-10" dirty="0">
                <a:latin typeface="Carlito"/>
                <a:cs typeface="Carlito"/>
              </a:rPr>
              <a:t>cluster</a:t>
            </a:r>
            <a:endParaRPr sz="2000" dirty="0">
              <a:latin typeface="Carlito"/>
              <a:cs typeface="Carlito"/>
            </a:endParaRPr>
          </a:p>
        </p:txBody>
      </p:sp>
      <p:sp>
        <p:nvSpPr>
          <p:cNvPr id="4" name="object 4"/>
          <p:cNvSpPr txBox="1"/>
          <p:nvPr/>
        </p:nvSpPr>
        <p:spPr>
          <a:xfrm>
            <a:off x="535940" y="1187577"/>
            <a:ext cx="7005320" cy="391160"/>
          </a:xfrm>
          <a:prstGeom prst="rect">
            <a:avLst/>
          </a:prstGeom>
        </p:spPr>
        <p:txBody>
          <a:bodyPr vert="horz" wrap="square" lIns="0" tIns="12700" rIns="0" bIns="0" rtlCol="0">
            <a:spAutoFit/>
          </a:bodyPr>
          <a:lstStyle/>
          <a:p>
            <a:pPr marL="12700">
              <a:lnSpc>
                <a:spcPct val="100000"/>
              </a:lnSpc>
              <a:spcBef>
                <a:spcPts val="100"/>
              </a:spcBef>
              <a:tabLst>
                <a:tab pos="4201160" algn="l"/>
              </a:tabLst>
            </a:pPr>
            <a:r>
              <a:rPr sz="2400" b="1" spc="-5" dirty="0">
                <a:latin typeface="Carlito"/>
                <a:cs typeface="Carlito"/>
              </a:rPr>
              <a:t>K-</a:t>
            </a:r>
            <a:r>
              <a:rPr sz="2400" b="1" spc="5" dirty="0">
                <a:latin typeface="Carlito"/>
                <a:cs typeface="Carlito"/>
              </a:rPr>
              <a:t> </a:t>
            </a:r>
            <a:r>
              <a:rPr sz="2400" b="1" dirty="0">
                <a:latin typeface="Carlito"/>
                <a:cs typeface="Carlito"/>
              </a:rPr>
              <a:t>means</a:t>
            </a:r>
            <a:r>
              <a:rPr sz="2400" b="1" spc="-10" dirty="0">
                <a:latin typeface="Carlito"/>
                <a:cs typeface="Carlito"/>
              </a:rPr>
              <a:t> clustering	Hierarchical</a:t>
            </a:r>
            <a:r>
              <a:rPr sz="2400" b="1" spc="-100" dirty="0">
                <a:latin typeface="Carlito"/>
                <a:cs typeface="Carlito"/>
              </a:rPr>
              <a:t> </a:t>
            </a:r>
            <a:r>
              <a:rPr sz="2400" b="1" spc="-10" dirty="0">
                <a:latin typeface="Carlito"/>
                <a:cs typeface="Carlito"/>
              </a:rPr>
              <a:t>clustering</a:t>
            </a:r>
            <a:endParaRPr sz="2400">
              <a:latin typeface="Carlito"/>
              <a:cs typeface="Carlito"/>
            </a:endParaRPr>
          </a:p>
        </p:txBody>
      </p:sp>
      <p:sp>
        <p:nvSpPr>
          <p:cNvPr id="5" name="object 5"/>
          <p:cNvSpPr txBox="1"/>
          <p:nvPr/>
        </p:nvSpPr>
        <p:spPr>
          <a:xfrm>
            <a:off x="4724527" y="1607896"/>
            <a:ext cx="3874135" cy="3527248"/>
          </a:xfrm>
          <a:prstGeom prst="rect">
            <a:avLst/>
          </a:prstGeom>
        </p:spPr>
        <p:txBody>
          <a:bodyPr vert="horz" wrap="square" lIns="0" tIns="48895" rIns="0" bIns="0" rtlCol="0">
            <a:spAutoFit/>
          </a:bodyPr>
          <a:lstStyle/>
          <a:p>
            <a:pPr marL="355600" marR="5080" indent="-342900">
              <a:lnSpc>
                <a:spcPct val="90100"/>
              </a:lnSpc>
              <a:spcBef>
                <a:spcPts val="385"/>
              </a:spcBef>
              <a:buFont typeface="Arial"/>
              <a:buChar char="•"/>
              <a:tabLst>
                <a:tab pos="354965" algn="l"/>
                <a:tab pos="355600" algn="l"/>
              </a:tabLst>
            </a:pPr>
            <a:r>
              <a:rPr sz="2400" spc="-10" dirty="0">
                <a:latin typeface="Carlito"/>
                <a:cs typeface="Carlito"/>
              </a:rPr>
              <a:t>Hierarchical </a:t>
            </a:r>
            <a:r>
              <a:rPr sz="2400" spc="-5" dirty="0">
                <a:latin typeface="Carlito"/>
                <a:cs typeface="Carlito"/>
              </a:rPr>
              <a:t>methods </a:t>
            </a:r>
            <a:r>
              <a:rPr sz="2400" spc="-10" dirty="0">
                <a:latin typeface="Carlito"/>
                <a:cs typeface="Carlito"/>
              </a:rPr>
              <a:t>can</a:t>
            </a:r>
            <a:r>
              <a:rPr sz="2400" spc="-90" dirty="0">
                <a:latin typeface="Carlito"/>
                <a:cs typeface="Carlito"/>
              </a:rPr>
              <a:t> </a:t>
            </a:r>
            <a:r>
              <a:rPr sz="2400" spc="-5" dirty="0">
                <a:latin typeface="Carlito"/>
                <a:cs typeface="Carlito"/>
              </a:rPr>
              <a:t>be  </a:t>
            </a:r>
            <a:r>
              <a:rPr sz="2400" dirty="0">
                <a:latin typeface="Carlito"/>
                <a:cs typeface="Carlito"/>
              </a:rPr>
              <a:t>either </a:t>
            </a:r>
            <a:r>
              <a:rPr sz="2400" spc="-10" dirty="0">
                <a:solidFill>
                  <a:srgbClr val="FF0000"/>
                </a:solidFill>
                <a:latin typeface="Carlito"/>
                <a:cs typeface="Carlito"/>
              </a:rPr>
              <a:t>agglomerative </a:t>
            </a:r>
            <a:r>
              <a:rPr sz="2400" spc="-5" dirty="0">
                <a:solidFill>
                  <a:srgbClr val="FF0000"/>
                </a:solidFill>
                <a:latin typeface="Carlito"/>
                <a:cs typeface="Carlito"/>
              </a:rPr>
              <a:t>or  </a:t>
            </a:r>
            <a:r>
              <a:rPr sz="2400" spc="-10" dirty="0">
                <a:solidFill>
                  <a:srgbClr val="FF0000"/>
                </a:solidFill>
                <a:latin typeface="Carlito"/>
                <a:cs typeface="Carlito"/>
              </a:rPr>
              <a:t>divisive</a:t>
            </a:r>
            <a:endParaRPr sz="2400" dirty="0">
              <a:solidFill>
                <a:srgbClr val="FF0000"/>
              </a:solidFill>
              <a:latin typeface="Carlito"/>
              <a:cs typeface="Carlito"/>
            </a:endParaRPr>
          </a:p>
          <a:p>
            <a:pPr marL="355600" marR="39370" indent="-342900">
              <a:lnSpc>
                <a:spcPct val="90000"/>
              </a:lnSpc>
              <a:spcBef>
                <a:spcPts val="575"/>
              </a:spcBef>
              <a:buFont typeface="Arial"/>
              <a:buChar char="•"/>
              <a:tabLst>
                <a:tab pos="354965" algn="l"/>
                <a:tab pos="355600" algn="l"/>
              </a:tabLst>
            </a:pPr>
            <a:r>
              <a:rPr sz="2400" spc="-10" dirty="0">
                <a:latin typeface="Carlito"/>
                <a:cs typeface="Carlito"/>
              </a:rPr>
              <a:t>Agglomerative </a:t>
            </a:r>
            <a:r>
              <a:rPr sz="2400" spc="-5" dirty="0">
                <a:latin typeface="Carlito"/>
                <a:cs typeface="Carlito"/>
              </a:rPr>
              <a:t>methods  begin </a:t>
            </a:r>
            <a:r>
              <a:rPr sz="2400" dirty="0">
                <a:latin typeface="Carlito"/>
                <a:cs typeface="Carlito"/>
              </a:rPr>
              <a:t>with </a:t>
            </a:r>
            <a:r>
              <a:rPr sz="2400" spc="15" dirty="0">
                <a:solidFill>
                  <a:srgbClr val="FF0000"/>
                </a:solidFill>
                <a:latin typeface="Arial"/>
                <a:cs typeface="Arial"/>
              </a:rPr>
              <a:t>‘n’ </a:t>
            </a:r>
            <a:r>
              <a:rPr sz="2400" spc="-10" dirty="0">
                <a:solidFill>
                  <a:srgbClr val="FF0000"/>
                </a:solidFill>
                <a:latin typeface="Carlito"/>
                <a:cs typeface="Carlito"/>
              </a:rPr>
              <a:t>clusters </a:t>
            </a:r>
            <a:r>
              <a:rPr sz="2400" dirty="0">
                <a:latin typeface="Carlito"/>
                <a:cs typeface="Carlito"/>
              </a:rPr>
              <a:t>and  </a:t>
            </a:r>
            <a:r>
              <a:rPr sz="2400" spc="-5" dirty="0">
                <a:latin typeface="Carlito"/>
                <a:cs typeface="Carlito"/>
              </a:rPr>
              <a:t>sequentially </a:t>
            </a:r>
            <a:r>
              <a:rPr sz="2400" spc="-15" dirty="0">
                <a:latin typeface="Carlito"/>
                <a:cs typeface="Carlito"/>
              </a:rPr>
              <a:t>merge </a:t>
            </a:r>
            <a:r>
              <a:rPr sz="2400" spc="-5" dirty="0">
                <a:latin typeface="Carlito"/>
                <a:cs typeface="Carlito"/>
              </a:rPr>
              <a:t>similar  </a:t>
            </a:r>
            <a:r>
              <a:rPr sz="2400" spc="-15" dirty="0">
                <a:latin typeface="Carlito"/>
                <a:cs typeface="Carlito"/>
              </a:rPr>
              <a:t>clusters </a:t>
            </a:r>
            <a:r>
              <a:rPr sz="2400" spc="-10" dirty="0">
                <a:latin typeface="Carlito"/>
                <a:cs typeface="Carlito"/>
              </a:rPr>
              <a:t>until </a:t>
            </a:r>
            <a:r>
              <a:rPr sz="2400" dirty="0">
                <a:latin typeface="Carlito"/>
                <a:cs typeface="Carlito"/>
              </a:rPr>
              <a:t>a </a:t>
            </a:r>
            <a:r>
              <a:rPr sz="2400" spc="-5" dirty="0">
                <a:latin typeface="Carlito"/>
                <a:cs typeface="Carlito"/>
              </a:rPr>
              <a:t>single </a:t>
            </a:r>
            <a:r>
              <a:rPr sz="2400" spc="-10" dirty="0">
                <a:latin typeface="Carlito"/>
                <a:cs typeface="Carlito"/>
              </a:rPr>
              <a:t>cluster  </a:t>
            </a:r>
            <a:r>
              <a:rPr sz="2400" dirty="0">
                <a:latin typeface="Carlito"/>
                <a:cs typeface="Carlito"/>
              </a:rPr>
              <a:t>is</a:t>
            </a:r>
            <a:r>
              <a:rPr sz="2400" spc="-5" dirty="0">
                <a:latin typeface="Carlito"/>
                <a:cs typeface="Carlito"/>
              </a:rPr>
              <a:t> </a:t>
            </a:r>
            <a:r>
              <a:rPr sz="2400" spc="-10" dirty="0">
                <a:latin typeface="Carlito"/>
                <a:cs typeface="Carlito"/>
              </a:rPr>
              <a:t>obtained</a:t>
            </a:r>
            <a:r>
              <a:rPr lang="en-US" sz="2400" spc="-10" dirty="0">
                <a:latin typeface="Carlito"/>
                <a:cs typeface="Carlito"/>
              </a:rPr>
              <a:t>.</a:t>
            </a:r>
          </a:p>
          <a:p>
            <a:pPr marL="355600" marR="39370" indent="-342900">
              <a:lnSpc>
                <a:spcPct val="90000"/>
              </a:lnSpc>
              <a:spcBef>
                <a:spcPts val="575"/>
              </a:spcBef>
              <a:buFont typeface="Arial"/>
              <a:buChar char="•"/>
              <a:tabLst>
                <a:tab pos="354965" algn="l"/>
                <a:tab pos="355600" algn="l"/>
              </a:tabLst>
            </a:pPr>
            <a:r>
              <a:rPr lang="en-US" sz="2400" spc="-10" dirty="0">
                <a:latin typeface="Carlito"/>
                <a:cs typeface="Carlito"/>
              </a:rPr>
              <a:t>Not required to specify number of clusters</a:t>
            </a:r>
            <a:endParaRPr sz="2400" dirty="0">
              <a:latin typeface="Carlito"/>
              <a:cs typeface="Carlit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6510">
              <a:lnSpc>
                <a:spcPct val="100000"/>
              </a:lnSpc>
              <a:spcBef>
                <a:spcPts val="95"/>
              </a:spcBef>
            </a:pPr>
            <a:r>
              <a:rPr spc="-5" dirty="0"/>
              <a:t>K means </a:t>
            </a:r>
            <a:r>
              <a:rPr spc="-25" dirty="0"/>
              <a:t>versus </a:t>
            </a:r>
            <a:r>
              <a:rPr spc="-20" dirty="0"/>
              <a:t>hierarchical</a:t>
            </a:r>
            <a:r>
              <a:rPr spc="40" dirty="0"/>
              <a:t> </a:t>
            </a:r>
            <a:r>
              <a:rPr spc="-15" dirty="0"/>
              <a:t>clustering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29</a:t>
            </a:fld>
            <a:endParaRPr dirty="0"/>
          </a:p>
        </p:txBody>
      </p:sp>
      <p:sp>
        <p:nvSpPr>
          <p:cNvPr id="3" name="object 3"/>
          <p:cNvSpPr txBox="1"/>
          <p:nvPr/>
        </p:nvSpPr>
        <p:spPr>
          <a:xfrm>
            <a:off x="535940" y="1644472"/>
            <a:ext cx="3784600" cy="1855470"/>
          </a:xfrm>
          <a:prstGeom prst="rect">
            <a:avLst/>
          </a:prstGeom>
        </p:spPr>
        <p:txBody>
          <a:bodyPr vert="horz" wrap="square" lIns="0" tIns="12700" rIns="0" bIns="0" rtlCol="0">
            <a:spAutoFit/>
          </a:bodyPr>
          <a:lstStyle/>
          <a:p>
            <a:pPr marL="355600" marR="5080" indent="-342900">
              <a:lnSpc>
                <a:spcPct val="100000"/>
              </a:lnSpc>
              <a:spcBef>
                <a:spcPts val="100"/>
              </a:spcBef>
              <a:buFont typeface="Arial"/>
              <a:buChar char="•"/>
              <a:tabLst>
                <a:tab pos="354965" algn="l"/>
                <a:tab pos="355600" algn="l"/>
              </a:tabLst>
            </a:pPr>
            <a:r>
              <a:rPr sz="2400" spc="-5" dirty="0">
                <a:latin typeface="Carlito"/>
                <a:cs typeface="Carlito"/>
              </a:rPr>
              <a:t>These </a:t>
            </a:r>
            <a:r>
              <a:rPr sz="2400" dirty="0">
                <a:latin typeface="Carlito"/>
                <a:cs typeface="Carlito"/>
              </a:rPr>
              <a:t>methods </a:t>
            </a:r>
            <a:r>
              <a:rPr sz="2400" spc="-15" dirty="0">
                <a:latin typeface="Carlito"/>
                <a:cs typeface="Carlito"/>
              </a:rPr>
              <a:t>are  </a:t>
            </a:r>
            <a:r>
              <a:rPr sz="2400" spc="-10" dirty="0">
                <a:latin typeface="Carlito"/>
                <a:cs typeface="Carlito"/>
              </a:rPr>
              <a:t>generally </a:t>
            </a:r>
            <a:r>
              <a:rPr sz="2400" spc="-5" dirty="0">
                <a:solidFill>
                  <a:srgbClr val="FF0000"/>
                </a:solidFill>
                <a:latin typeface="Carlito"/>
                <a:cs typeface="Carlito"/>
              </a:rPr>
              <a:t>less  </a:t>
            </a:r>
            <a:r>
              <a:rPr sz="2400" spc="-10" dirty="0">
                <a:solidFill>
                  <a:srgbClr val="FF0000"/>
                </a:solidFill>
                <a:latin typeface="Carlito"/>
                <a:cs typeface="Carlito"/>
              </a:rPr>
              <a:t>computationally intensive  </a:t>
            </a:r>
            <a:r>
              <a:rPr sz="2400" dirty="0">
                <a:latin typeface="Carlito"/>
                <a:cs typeface="Carlito"/>
              </a:rPr>
              <a:t>and </a:t>
            </a:r>
            <a:r>
              <a:rPr sz="2400" spc="-10" dirty="0">
                <a:latin typeface="Carlito"/>
                <a:cs typeface="Carlito"/>
              </a:rPr>
              <a:t>are </a:t>
            </a:r>
            <a:r>
              <a:rPr sz="2400" spc="-20" dirty="0">
                <a:latin typeface="Carlito"/>
                <a:cs typeface="Carlito"/>
              </a:rPr>
              <a:t>therefore preferred  </a:t>
            </a:r>
            <a:r>
              <a:rPr sz="2400" dirty="0">
                <a:latin typeface="Carlito"/>
                <a:cs typeface="Carlito"/>
              </a:rPr>
              <a:t>with </a:t>
            </a:r>
            <a:r>
              <a:rPr sz="2400" spc="-5" dirty="0">
                <a:latin typeface="Carlito"/>
                <a:cs typeface="Carlito"/>
              </a:rPr>
              <a:t>very </a:t>
            </a:r>
            <a:r>
              <a:rPr sz="2400" spc="-15" dirty="0">
                <a:latin typeface="Carlito"/>
                <a:cs typeface="Carlito"/>
              </a:rPr>
              <a:t>large</a:t>
            </a:r>
            <a:r>
              <a:rPr sz="2400" spc="-20" dirty="0">
                <a:latin typeface="Carlito"/>
                <a:cs typeface="Carlito"/>
              </a:rPr>
              <a:t> </a:t>
            </a:r>
            <a:r>
              <a:rPr sz="2400" spc="-10" dirty="0">
                <a:latin typeface="Carlito"/>
                <a:cs typeface="Carlito"/>
              </a:rPr>
              <a:t>datasets</a:t>
            </a:r>
            <a:endParaRPr sz="2400" dirty="0">
              <a:latin typeface="Carlito"/>
              <a:cs typeface="Carlito"/>
            </a:endParaRPr>
          </a:p>
        </p:txBody>
      </p:sp>
      <p:sp>
        <p:nvSpPr>
          <p:cNvPr id="4" name="object 4"/>
          <p:cNvSpPr txBox="1"/>
          <p:nvPr/>
        </p:nvSpPr>
        <p:spPr>
          <a:xfrm>
            <a:off x="535940" y="1187577"/>
            <a:ext cx="7005320" cy="391160"/>
          </a:xfrm>
          <a:prstGeom prst="rect">
            <a:avLst/>
          </a:prstGeom>
        </p:spPr>
        <p:txBody>
          <a:bodyPr vert="horz" wrap="square" lIns="0" tIns="12700" rIns="0" bIns="0" rtlCol="0">
            <a:spAutoFit/>
          </a:bodyPr>
          <a:lstStyle/>
          <a:p>
            <a:pPr marL="12700">
              <a:lnSpc>
                <a:spcPct val="100000"/>
              </a:lnSpc>
              <a:spcBef>
                <a:spcPts val="100"/>
              </a:spcBef>
              <a:tabLst>
                <a:tab pos="4201160" algn="l"/>
              </a:tabLst>
            </a:pPr>
            <a:r>
              <a:rPr sz="2400" b="1" spc="-5" dirty="0">
                <a:latin typeface="Carlito"/>
                <a:cs typeface="Carlito"/>
              </a:rPr>
              <a:t>K-</a:t>
            </a:r>
            <a:r>
              <a:rPr sz="2400" b="1" spc="5" dirty="0">
                <a:latin typeface="Carlito"/>
                <a:cs typeface="Carlito"/>
              </a:rPr>
              <a:t> </a:t>
            </a:r>
            <a:r>
              <a:rPr sz="2400" b="1" dirty="0">
                <a:latin typeface="Carlito"/>
                <a:cs typeface="Carlito"/>
              </a:rPr>
              <a:t>means</a:t>
            </a:r>
            <a:r>
              <a:rPr sz="2400" b="1" spc="-10" dirty="0">
                <a:latin typeface="Carlito"/>
                <a:cs typeface="Carlito"/>
              </a:rPr>
              <a:t> clustering	Hierarchical</a:t>
            </a:r>
            <a:r>
              <a:rPr sz="2400" b="1" spc="-100" dirty="0">
                <a:latin typeface="Carlito"/>
                <a:cs typeface="Carlito"/>
              </a:rPr>
              <a:t> </a:t>
            </a:r>
            <a:r>
              <a:rPr sz="2400" b="1" spc="-10" dirty="0">
                <a:latin typeface="Carlito"/>
                <a:cs typeface="Carlito"/>
              </a:rPr>
              <a:t>clustering</a:t>
            </a:r>
            <a:endParaRPr sz="2400">
              <a:latin typeface="Carlito"/>
              <a:cs typeface="Carlito"/>
            </a:endParaRPr>
          </a:p>
        </p:txBody>
      </p:sp>
      <p:sp>
        <p:nvSpPr>
          <p:cNvPr id="5" name="object 5"/>
          <p:cNvSpPr txBox="1"/>
          <p:nvPr/>
        </p:nvSpPr>
        <p:spPr>
          <a:xfrm>
            <a:off x="4724527" y="1647520"/>
            <a:ext cx="3717290" cy="3187411"/>
          </a:xfrm>
          <a:prstGeom prst="rect">
            <a:avLst/>
          </a:prstGeom>
        </p:spPr>
        <p:txBody>
          <a:bodyPr vert="horz" wrap="square" lIns="0" tIns="12065" rIns="0" bIns="0" rtlCol="0">
            <a:spAutoFit/>
          </a:bodyPr>
          <a:lstStyle/>
          <a:p>
            <a:pPr marL="355600" marR="5080" indent="-342900">
              <a:lnSpc>
                <a:spcPct val="100000"/>
              </a:lnSpc>
              <a:spcBef>
                <a:spcPts val="95"/>
              </a:spcBef>
              <a:buFont typeface="Arial"/>
              <a:buChar char="•"/>
              <a:tabLst>
                <a:tab pos="354965" algn="l"/>
                <a:tab pos="355600" algn="l"/>
              </a:tabLst>
            </a:pPr>
            <a:r>
              <a:rPr sz="2200" spc="-10" dirty="0">
                <a:solidFill>
                  <a:srgbClr val="FF0000"/>
                </a:solidFill>
                <a:latin typeface="Carlito"/>
                <a:cs typeface="Carlito"/>
              </a:rPr>
              <a:t>Divisive methods</a:t>
            </a:r>
            <a:r>
              <a:rPr sz="2200" spc="-10" dirty="0">
                <a:latin typeface="Carlito"/>
                <a:cs typeface="Carlito"/>
              </a:rPr>
              <a:t> work </a:t>
            </a:r>
            <a:r>
              <a:rPr sz="2200" spc="-5" dirty="0">
                <a:latin typeface="Carlito"/>
                <a:cs typeface="Carlito"/>
              </a:rPr>
              <a:t>in the  </a:t>
            </a:r>
            <a:r>
              <a:rPr sz="2200" spc="-10" dirty="0">
                <a:latin typeface="Carlito"/>
                <a:cs typeface="Carlito"/>
              </a:rPr>
              <a:t>opposite direction, starting  </a:t>
            </a:r>
            <a:r>
              <a:rPr sz="2200" spc="-5" dirty="0">
                <a:solidFill>
                  <a:srgbClr val="FF0000"/>
                </a:solidFill>
                <a:latin typeface="Carlito"/>
                <a:cs typeface="Carlito"/>
              </a:rPr>
              <a:t>with one </a:t>
            </a:r>
            <a:r>
              <a:rPr sz="2200" spc="-10" dirty="0">
                <a:solidFill>
                  <a:srgbClr val="FF0000"/>
                </a:solidFill>
                <a:latin typeface="Carlito"/>
                <a:cs typeface="Carlito"/>
              </a:rPr>
              <a:t>cluster that </a:t>
            </a:r>
            <a:r>
              <a:rPr sz="2200" spc="-5" dirty="0">
                <a:solidFill>
                  <a:srgbClr val="FF0000"/>
                </a:solidFill>
                <a:latin typeface="Carlito"/>
                <a:cs typeface="Carlito"/>
              </a:rPr>
              <a:t>includes  all</a:t>
            </a:r>
            <a:r>
              <a:rPr sz="2200" spc="-25" dirty="0">
                <a:solidFill>
                  <a:srgbClr val="FF0000"/>
                </a:solidFill>
                <a:latin typeface="Carlito"/>
                <a:cs typeface="Carlito"/>
              </a:rPr>
              <a:t> </a:t>
            </a:r>
            <a:r>
              <a:rPr sz="2200" spc="-15" dirty="0">
                <a:solidFill>
                  <a:srgbClr val="FF0000"/>
                </a:solidFill>
                <a:latin typeface="Carlito"/>
                <a:cs typeface="Carlito"/>
              </a:rPr>
              <a:t>records</a:t>
            </a:r>
            <a:endParaRPr sz="2200" dirty="0">
              <a:solidFill>
                <a:srgbClr val="FF0000"/>
              </a:solidFill>
              <a:latin typeface="Carlito"/>
              <a:cs typeface="Carlito"/>
            </a:endParaRPr>
          </a:p>
          <a:p>
            <a:pPr marL="355600" marR="36195" indent="-342900">
              <a:lnSpc>
                <a:spcPct val="100000"/>
              </a:lnSpc>
              <a:spcBef>
                <a:spcPts val="535"/>
              </a:spcBef>
              <a:buFont typeface="Arial"/>
              <a:buChar char="•"/>
              <a:tabLst>
                <a:tab pos="354965" algn="l"/>
                <a:tab pos="355600" algn="l"/>
              </a:tabLst>
            </a:pPr>
            <a:r>
              <a:rPr sz="2200" spc="-15" dirty="0">
                <a:latin typeface="Carlito"/>
                <a:cs typeface="Carlito"/>
              </a:rPr>
              <a:t>Hierarchical </a:t>
            </a:r>
            <a:r>
              <a:rPr sz="2200" spc="-5" dirty="0">
                <a:latin typeface="Carlito"/>
                <a:cs typeface="Carlito"/>
              </a:rPr>
              <a:t>methods </a:t>
            </a:r>
            <a:r>
              <a:rPr sz="2200" spc="-10" dirty="0">
                <a:latin typeface="Carlito"/>
                <a:cs typeface="Carlito"/>
              </a:rPr>
              <a:t>are  </a:t>
            </a:r>
            <a:r>
              <a:rPr sz="2200" spc="-5" dirty="0">
                <a:latin typeface="Carlito"/>
                <a:cs typeface="Carlito"/>
              </a:rPr>
              <a:t>especially </a:t>
            </a:r>
            <a:r>
              <a:rPr sz="2200" spc="-10" dirty="0">
                <a:latin typeface="Carlito"/>
                <a:cs typeface="Carlito"/>
              </a:rPr>
              <a:t>useful </a:t>
            </a:r>
            <a:r>
              <a:rPr sz="2200" spc="-5" dirty="0">
                <a:latin typeface="Carlito"/>
                <a:cs typeface="Carlito"/>
              </a:rPr>
              <a:t>when the  </a:t>
            </a:r>
            <a:r>
              <a:rPr sz="2200" spc="-5" dirty="0">
                <a:solidFill>
                  <a:srgbClr val="FF0000"/>
                </a:solidFill>
                <a:latin typeface="Carlito"/>
                <a:cs typeface="Carlito"/>
              </a:rPr>
              <a:t>goal </a:t>
            </a:r>
            <a:r>
              <a:rPr sz="2200" spc="-10" dirty="0">
                <a:solidFill>
                  <a:srgbClr val="FF0000"/>
                </a:solidFill>
                <a:latin typeface="Carlito"/>
                <a:cs typeface="Carlito"/>
              </a:rPr>
              <a:t>is </a:t>
            </a:r>
            <a:r>
              <a:rPr sz="2200" spc="-20" dirty="0">
                <a:solidFill>
                  <a:srgbClr val="FF0000"/>
                </a:solidFill>
                <a:latin typeface="Carlito"/>
                <a:cs typeface="Carlito"/>
              </a:rPr>
              <a:t>to </a:t>
            </a:r>
            <a:r>
              <a:rPr sz="2200" spc="-15" dirty="0">
                <a:solidFill>
                  <a:srgbClr val="FF0000"/>
                </a:solidFill>
                <a:latin typeface="Carlito"/>
                <a:cs typeface="Carlito"/>
              </a:rPr>
              <a:t>arrange </a:t>
            </a:r>
            <a:r>
              <a:rPr sz="2200" spc="-5" dirty="0">
                <a:solidFill>
                  <a:srgbClr val="FF0000"/>
                </a:solidFill>
                <a:latin typeface="Carlito"/>
                <a:cs typeface="Carlito"/>
              </a:rPr>
              <a:t>the </a:t>
            </a:r>
            <a:r>
              <a:rPr sz="2200" spc="-15" dirty="0">
                <a:solidFill>
                  <a:srgbClr val="FF0000"/>
                </a:solidFill>
                <a:latin typeface="Carlito"/>
                <a:cs typeface="Carlito"/>
              </a:rPr>
              <a:t>clusters  </a:t>
            </a:r>
            <a:r>
              <a:rPr sz="2200" spc="-20" dirty="0">
                <a:solidFill>
                  <a:srgbClr val="FF0000"/>
                </a:solidFill>
                <a:latin typeface="Carlito"/>
                <a:cs typeface="Carlito"/>
              </a:rPr>
              <a:t>into </a:t>
            </a:r>
            <a:r>
              <a:rPr sz="2200" spc="-5" dirty="0">
                <a:solidFill>
                  <a:srgbClr val="FF0000"/>
                </a:solidFill>
                <a:latin typeface="Carlito"/>
                <a:cs typeface="Carlito"/>
              </a:rPr>
              <a:t>a </a:t>
            </a:r>
            <a:r>
              <a:rPr sz="2200" spc="-15" dirty="0">
                <a:solidFill>
                  <a:srgbClr val="FF0000"/>
                </a:solidFill>
                <a:latin typeface="Carlito"/>
                <a:cs typeface="Carlito"/>
              </a:rPr>
              <a:t>natural</a:t>
            </a:r>
            <a:r>
              <a:rPr sz="2200" spc="5" dirty="0">
                <a:solidFill>
                  <a:srgbClr val="FF0000"/>
                </a:solidFill>
                <a:latin typeface="Carlito"/>
                <a:cs typeface="Carlito"/>
              </a:rPr>
              <a:t> </a:t>
            </a:r>
            <a:r>
              <a:rPr sz="2200" spc="-20" dirty="0">
                <a:solidFill>
                  <a:srgbClr val="FF0000"/>
                </a:solidFill>
                <a:latin typeface="Carlito"/>
                <a:cs typeface="Carlito"/>
              </a:rPr>
              <a:t>hierarchy</a:t>
            </a:r>
            <a:r>
              <a:rPr lang="en-US" sz="2200" spc="-20" dirty="0">
                <a:solidFill>
                  <a:srgbClr val="FF0000"/>
                </a:solidFill>
                <a:latin typeface="Carlito"/>
                <a:cs typeface="Carlito"/>
              </a:rPr>
              <a:t>.</a:t>
            </a:r>
          </a:p>
          <a:p>
            <a:pPr marL="355600" marR="36195" indent="-342900">
              <a:lnSpc>
                <a:spcPct val="100000"/>
              </a:lnSpc>
              <a:spcBef>
                <a:spcPts val="535"/>
              </a:spcBef>
              <a:buFont typeface="Arial"/>
              <a:buChar char="•"/>
              <a:tabLst>
                <a:tab pos="354965" algn="l"/>
                <a:tab pos="355600" algn="l"/>
              </a:tabLst>
            </a:pPr>
            <a:r>
              <a:rPr lang="en-US" sz="2200" spc="-20" dirty="0">
                <a:solidFill>
                  <a:srgbClr val="FF0000"/>
                </a:solidFill>
                <a:latin typeface="Carlito"/>
                <a:cs typeface="Carlito"/>
              </a:rPr>
              <a:t>More </a:t>
            </a:r>
            <a:r>
              <a:rPr lang="en-US" sz="2000" spc="-10" dirty="0">
                <a:solidFill>
                  <a:srgbClr val="FF0000"/>
                </a:solidFill>
                <a:latin typeface="Carlito"/>
                <a:cs typeface="Carlito"/>
              </a:rPr>
              <a:t>computationally intensive </a:t>
            </a:r>
            <a:endParaRPr sz="2200" dirty="0">
              <a:solidFill>
                <a:srgbClr val="FF0000"/>
              </a:solidFill>
              <a:latin typeface="Carlito"/>
              <a:cs typeface="Carlit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6510">
              <a:lnSpc>
                <a:spcPct val="100000"/>
              </a:lnSpc>
              <a:spcBef>
                <a:spcPts val="95"/>
              </a:spcBef>
            </a:pPr>
            <a:r>
              <a:rPr spc="-5" dirty="0"/>
              <a:t>K means </a:t>
            </a:r>
            <a:r>
              <a:rPr spc="-25" dirty="0"/>
              <a:t>versus </a:t>
            </a:r>
            <a:r>
              <a:rPr spc="-20" dirty="0"/>
              <a:t>hierarchical</a:t>
            </a:r>
            <a:r>
              <a:rPr spc="40" dirty="0"/>
              <a:t> </a:t>
            </a:r>
            <a:r>
              <a:rPr spc="-15" dirty="0"/>
              <a:t>clustering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30</a:t>
            </a:fld>
            <a:endParaRPr dirty="0"/>
          </a:p>
        </p:txBody>
      </p:sp>
      <p:sp>
        <p:nvSpPr>
          <p:cNvPr id="3" name="object 3"/>
          <p:cNvSpPr txBox="1"/>
          <p:nvPr/>
        </p:nvSpPr>
        <p:spPr>
          <a:xfrm>
            <a:off x="535940" y="1607896"/>
            <a:ext cx="3787140" cy="2696845"/>
          </a:xfrm>
          <a:prstGeom prst="rect">
            <a:avLst/>
          </a:prstGeom>
        </p:spPr>
        <p:txBody>
          <a:bodyPr vert="horz" wrap="square" lIns="0" tIns="49530" rIns="0" bIns="0" rtlCol="0">
            <a:spAutoFit/>
          </a:bodyPr>
          <a:lstStyle/>
          <a:p>
            <a:pPr marL="355600" marR="5080" indent="-342900">
              <a:lnSpc>
                <a:spcPct val="90000"/>
              </a:lnSpc>
              <a:spcBef>
                <a:spcPts val="390"/>
              </a:spcBef>
              <a:buFont typeface="Arial"/>
              <a:buChar char="•"/>
              <a:tabLst>
                <a:tab pos="354965" algn="l"/>
                <a:tab pos="355600" algn="l"/>
              </a:tabLst>
            </a:pPr>
            <a:r>
              <a:rPr sz="2400" dirty="0">
                <a:latin typeface="Carlito"/>
                <a:cs typeface="Carlito"/>
              </a:rPr>
              <a:t>A </a:t>
            </a:r>
            <a:r>
              <a:rPr sz="2400" spc="-5" dirty="0">
                <a:latin typeface="Carlito"/>
                <a:cs typeface="Carlito"/>
              </a:rPr>
              <a:t>partitioning </a:t>
            </a:r>
            <a:r>
              <a:rPr sz="2400" spc="5" dirty="0">
                <a:latin typeface="Carlito"/>
                <a:cs typeface="Carlito"/>
              </a:rPr>
              <a:t>(K- </a:t>
            </a:r>
            <a:r>
              <a:rPr sz="2400" dirty="0">
                <a:latin typeface="Carlito"/>
                <a:cs typeface="Carlito"/>
              </a:rPr>
              <a:t>means)  </a:t>
            </a:r>
            <a:r>
              <a:rPr sz="2400" spc="-5" dirty="0">
                <a:latin typeface="Carlito"/>
                <a:cs typeface="Carlito"/>
              </a:rPr>
              <a:t>clustering </a:t>
            </a:r>
            <a:r>
              <a:rPr sz="2400" dirty="0">
                <a:latin typeface="Carlito"/>
                <a:cs typeface="Carlito"/>
              </a:rPr>
              <a:t>a </a:t>
            </a:r>
            <a:r>
              <a:rPr sz="2400" spc="-5" dirty="0">
                <a:latin typeface="Carlito"/>
                <a:cs typeface="Carlito"/>
              </a:rPr>
              <a:t>simply </a:t>
            </a:r>
            <a:r>
              <a:rPr sz="2400" dirty="0">
                <a:latin typeface="Carlito"/>
                <a:cs typeface="Carlito"/>
              </a:rPr>
              <a:t>a  </a:t>
            </a:r>
            <a:r>
              <a:rPr sz="2400" spc="-5" dirty="0">
                <a:solidFill>
                  <a:srgbClr val="FF0000"/>
                </a:solidFill>
                <a:latin typeface="Carlito"/>
                <a:cs typeface="Carlito"/>
              </a:rPr>
              <a:t>division of </a:t>
            </a:r>
            <a:r>
              <a:rPr sz="2400" dirty="0">
                <a:solidFill>
                  <a:srgbClr val="FF0000"/>
                </a:solidFill>
                <a:latin typeface="Carlito"/>
                <a:cs typeface="Carlito"/>
              </a:rPr>
              <a:t>the </a:t>
            </a:r>
            <a:r>
              <a:rPr sz="2400" spc="-5" dirty="0">
                <a:solidFill>
                  <a:srgbClr val="FF0000"/>
                </a:solidFill>
                <a:latin typeface="Carlito"/>
                <a:cs typeface="Carlito"/>
              </a:rPr>
              <a:t>set of </a:t>
            </a:r>
            <a:r>
              <a:rPr sz="2400" spc="-15" dirty="0">
                <a:solidFill>
                  <a:srgbClr val="FF0000"/>
                </a:solidFill>
                <a:latin typeface="Carlito"/>
                <a:cs typeface="Carlito"/>
              </a:rPr>
              <a:t>data  </a:t>
            </a:r>
            <a:r>
              <a:rPr sz="2400" spc="-5" dirty="0">
                <a:solidFill>
                  <a:srgbClr val="FF0000"/>
                </a:solidFill>
                <a:latin typeface="Carlito"/>
                <a:cs typeface="Carlito"/>
              </a:rPr>
              <a:t>objects </a:t>
            </a:r>
            <a:r>
              <a:rPr sz="2400" spc="-15" dirty="0">
                <a:solidFill>
                  <a:srgbClr val="FF0000"/>
                </a:solidFill>
                <a:latin typeface="Carlito"/>
                <a:cs typeface="Carlito"/>
              </a:rPr>
              <a:t>into </a:t>
            </a:r>
            <a:r>
              <a:rPr sz="2400" spc="-10" dirty="0">
                <a:solidFill>
                  <a:srgbClr val="FF0000"/>
                </a:solidFill>
                <a:latin typeface="Carlito"/>
                <a:cs typeface="Carlito"/>
              </a:rPr>
              <a:t>non-  </a:t>
            </a:r>
            <a:r>
              <a:rPr sz="2400" spc="-5" dirty="0">
                <a:solidFill>
                  <a:srgbClr val="FF0000"/>
                </a:solidFill>
                <a:latin typeface="Carlito"/>
                <a:cs typeface="Carlito"/>
              </a:rPr>
              <a:t>overlapping subsets  </a:t>
            </a:r>
            <a:r>
              <a:rPr sz="2400" spc="-10" dirty="0">
                <a:latin typeface="Carlito"/>
                <a:cs typeface="Carlito"/>
              </a:rPr>
              <a:t>(clusters) </a:t>
            </a:r>
            <a:r>
              <a:rPr sz="2400" spc="-5" dirty="0">
                <a:latin typeface="Carlito"/>
                <a:cs typeface="Carlito"/>
              </a:rPr>
              <a:t>such that </a:t>
            </a:r>
            <a:r>
              <a:rPr sz="2400" dirty="0">
                <a:latin typeface="Carlito"/>
                <a:cs typeface="Carlito"/>
              </a:rPr>
              <a:t>each  </a:t>
            </a:r>
            <a:r>
              <a:rPr sz="2400" spc="-15" dirty="0">
                <a:latin typeface="Carlito"/>
                <a:cs typeface="Carlito"/>
              </a:rPr>
              <a:t>data </a:t>
            </a:r>
            <a:r>
              <a:rPr sz="2400" spc="-5" dirty="0">
                <a:latin typeface="Carlito"/>
                <a:cs typeface="Carlito"/>
              </a:rPr>
              <a:t>object </a:t>
            </a:r>
            <a:r>
              <a:rPr sz="2400" dirty="0">
                <a:latin typeface="Carlito"/>
                <a:cs typeface="Carlito"/>
              </a:rPr>
              <a:t>is in </a:t>
            </a:r>
            <a:r>
              <a:rPr sz="2400" spc="-15" dirty="0">
                <a:latin typeface="Carlito"/>
                <a:cs typeface="Carlito"/>
              </a:rPr>
              <a:t>exactly </a:t>
            </a:r>
            <a:r>
              <a:rPr sz="2400" spc="-5" dirty="0">
                <a:latin typeface="Carlito"/>
                <a:cs typeface="Carlito"/>
              </a:rPr>
              <a:t>one  </a:t>
            </a:r>
            <a:r>
              <a:rPr sz="2400" spc="-10" dirty="0">
                <a:latin typeface="Carlito"/>
                <a:cs typeface="Carlito"/>
              </a:rPr>
              <a:t>subset</a:t>
            </a:r>
            <a:r>
              <a:rPr sz="2000" spc="-10" dirty="0">
                <a:latin typeface="Carlito"/>
                <a:cs typeface="Carlito"/>
              </a:rPr>
              <a:t>)</a:t>
            </a:r>
            <a:endParaRPr sz="2000" dirty="0">
              <a:latin typeface="Carlito"/>
              <a:cs typeface="Carlito"/>
            </a:endParaRPr>
          </a:p>
        </p:txBody>
      </p:sp>
      <p:sp>
        <p:nvSpPr>
          <p:cNvPr id="4" name="object 4"/>
          <p:cNvSpPr txBox="1"/>
          <p:nvPr/>
        </p:nvSpPr>
        <p:spPr>
          <a:xfrm>
            <a:off x="535940" y="1187577"/>
            <a:ext cx="7005320" cy="391160"/>
          </a:xfrm>
          <a:prstGeom prst="rect">
            <a:avLst/>
          </a:prstGeom>
        </p:spPr>
        <p:txBody>
          <a:bodyPr vert="horz" wrap="square" lIns="0" tIns="12700" rIns="0" bIns="0" rtlCol="0">
            <a:spAutoFit/>
          </a:bodyPr>
          <a:lstStyle/>
          <a:p>
            <a:pPr marL="12700">
              <a:lnSpc>
                <a:spcPct val="100000"/>
              </a:lnSpc>
              <a:spcBef>
                <a:spcPts val="100"/>
              </a:spcBef>
              <a:tabLst>
                <a:tab pos="4201160" algn="l"/>
              </a:tabLst>
            </a:pPr>
            <a:r>
              <a:rPr sz="2400" b="1" spc="-5" dirty="0">
                <a:latin typeface="Carlito"/>
                <a:cs typeface="Carlito"/>
              </a:rPr>
              <a:t>K-</a:t>
            </a:r>
            <a:r>
              <a:rPr sz="2400" b="1" spc="5" dirty="0">
                <a:latin typeface="Carlito"/>
                <a:cs typeface="Carlito"/>
              </a:rPr>
              <a:t> </a:t>
            </a:r>
            <a:r>
              <a:rPr sz="2400" b="1" dirty="0">
                <a:latin typeface="Carlito"/>
                <a:cs typeface="Carlito"/>
              </a:rPr>
              <a:t>means</a:t>
            </a:r>
            <a:r>
              <a:rPr sz="2400" b="1" spc="-10" dirty="0">
                <a:latin typeface="Carlito"/>
                <a:cs typeface="Carlito"/>
              </a:rPr>
              <a:t> clustering	Hierarchical</a:t>
            </a:r>
            <a:r>
              <a:rPr sz="2400" b="1" spc="-100" dirty="0">
                <a:latin typeface="Carlito"/>
                <a:cs typeface="Carlito"/>
              </a:rPr>
              <a:t> </a:t>
            </a:r>
            <a:r>
              <a:rPr sz="2400" b="1" spc="-10" dirty="0">
                <a:latin typeface="Carlito"/>
                <a:cs typeface="Carlito"/>
              </a:rPr>
              <a:t>clustering</a:t>
            </a:r>
            <a:endParaRPr sz="2400">
              <a:latin typeface="Carlito"/>
              <a:cs typeface="Carlito"/>
            </a:endParaRPr>
          </a:p>
        </p:txBody>
      </p:sp>
      <p:sp>
        <p:nvSpPr>
          <p:cNvPr id="5" name="object 5"/>
          <p:cNvSpPr txBox="1"/>
          <p:nvPr/>
        </p:nvSpPr>
        <p:spPr>
          <a:xfrm>
            <a:off x="4724527" y="1644472"/>
            <a:ext cx="3788410" cy="1123950"/>
          </a:xfrm>
          <a:prstGeom prst="rect">
            <a:avLst/>
          </a:prstGeom>
        </p:spPr>
        <p:txBody>
          <a:bodyPr vert="horz" wrap="square" lIns="0" tIns="12700" rIns="0" bIns="0" rtlCol="0">
            <a:spAutoFit/>
          </a:bodyPr>
          <a:lstStyle/>
          <a:p>
            <a:pPr marL="355600" marR="5080" indent="-342900">
              <a:lnSpc>
                <a:spcPct val="100000"/>
              </a:lnSpc>
              <a:spcBef>
                <a:spcPts val="100"/>
              </a:spcBef>
              <a:buFont typeface="Arial"/>
              <a:buChar char="•"/>
              <a:tabLst>
                <a:tab pos="354965" algn="l"/>
                <a:tab pos="355600" algn="l"/>
              </a:tabLst>
            </a:pPr>
            <a:r>
              <a:rPr sz="2400" dirty="0">
                <a:latin typeface="Carlito"/>
                <a:cs typeface="Carlito"/>
              </a:rPr>
              <a:t>A </a:t>
            </a:r>
            <a:r>
              <a:rPr sz="2400" spc="-10" dirty="0">
                <a:latin typeface="Carlito"/>
                <a:cs typeface="Carlito"/>
              </a:rPr>
              <a:t>hierarchical </a:t>
            </a:r>
            <a:r>
              <a:rPr sz="2400" spc="-5" dirty="0">
                <a:latin typeface="Carlito"/>
                <a:cs typeface="Carlito"/>
              </a:rPr>
              <a:t>clustering </a:t>
            </a:r>
            <a:r>
              <a:rPr sz="2400" dirty="0">
                <a:latin typeface="Carlito"/>
                <a:cs typeface="Carlito"/>
              </a:rPr>
              <a:t>is</a:t>
            </a:r>
            <a:r>
              <a:rPr sz="2400" spc="-145" dirty="0">
                <a:latin typeface="Carlito"/>
                <a:cs typeface="Carlito"/>
              </a:rPr>
              <a:t> </a:t>
            </a:r>
            <a:r>
              <a:rPr sz="2400" dirty="0">
                <a:latin typeface="Carlito"/>
                <a:cs typeface="Carlito"/>
              </a:rPr>
              <a:t>a  </a:t>
            </a:r>
            <a:r>
              <a:rPr sz="2400" spc="-5" dirty="0">
                <a:latin typeface="Carlito"/>
                <a:cs typeface="Carlito"/>
              </a:rPr>
              <a:t>set of </a:t>
            </a:r>
            <a:r>
              <a:rPr sz="2400" spc="-10" dirty="0">
                <a:solidFill>
                  <a:srgbClr val="FF0000"/>
                </a:solidFill>
                <a:latin typeface="Carlito"/>
                <a:cs typeface="Carlito"/>
              </a:rPr>
              <a:t>nested clusters that  </a:t>
            </a:r>
            <a:r>
              <a:rPr sz="2400" spc="-15" dirty="0">
                <a:solidFill>
                  <a:srgbClr val="FF0000"/>
                </a:solidFill>
                <a:latin typeface="Carlito"/>
                <a:cs typeface="Carlito"/>
              </a:rPr>
              <a:t>are </a:t>
            </a:r>
            <a:r>
              <a:rPr sz="2400" spc="-20" dirty="0">
                <a:solidFill>
                  <a:srgbClr val="FF0000"/>
                </a:solidFill>
                <a:latin typeface="Carlito"/>
                <a:cs typeface="Carlito"/>
              </a:rPr>
              <a:t>organized </a:t>
            </a:r>
            <a:r>
              <a:rPr sz="2400" dirty="0">
                <a:solidFill>
                  <a:srgbClr val="FF0000"/>
                </a:solidFill>
                <a:latin typeface="Carlito"/>
                <a:cs typeface="Carlito"/>
              </a:rPr>
              <a:t>as a</a:t>
            </a:r>
            <a:r>
              <a:rPr sz="2400" spc="-5" dirty="0">
                <a:solidFill>
                  <a:srgbClr val="FF0000"/>
                </a:solidFill>
                <a:latin typeface="Carlito"/>
                <a:cs typeface="Carlito"/>
              </a:rPr>
              <a:t> </a:t>
            </a:r>
            <a:r>
              <a:rPr sz="2400" spc="-10" dirty="0">
                <a:solidFill>
                  <a:srgbClr val="FF0000"/>
                </a:solidFill>
                <a:latin typeface="Carlito"/>
                <a:cs typeface="Carlito"/>
              </a:rPr>
              <a:t>tree</a:t>
            </a:r>
            <a:endParaRPr sz="2400" dirty="0">
              <a:solidFill>
                <a:srgbClr val="FF0000"/>
              </a:solidFill>
              <a:latin typeface="Carlito"/>
              <a:cs typeface="Carli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3999" cy="5143498"/>
          </a:xfrm>
          <a:prstGeom prst="rect">
            <a:avLst/>
          </a:prstGeom>
          <a:blipFill>
            <a:blip r:embed="rId2" cstate="print"/>
            <a:stretch>
              <a:fillRect/>
            </a:stretch>
          </a:blipFill>
        </p:spPr>
        <p:txBody>
          <a:bodyPr wrap="square" lIns="0" tIns="0" rIns="0" bIns="0" rtlCol="0"/>
          <a:lstStyle/>
          <a:p>
            <a:endParaRPr dirty="0"/>
          </a:p>
        </p:txBody>
      </p:sp>
      <p:sp>
        <p:nvSpPr>
          <p:cNvPr id="3" name="object 3"/>
          <p:cNvSpPr txBox="1">
            <a:spLocks noGrp="1"/>
          </p:cNvSpPr>
          <p:nvPr>
            <p:ph type="ctrTitle" idx="4294967295"/>
          </p:nvPr>
        </p:nvSpPr>
        <p:spPr>
          <a:xfrm>
            <a:off x="661695" y="285368"/>
            <a:ext cx="7820609" cy="635000"/>
          </a:xfrm>
          <a:prstGeom prst="rect">
            <a:avLst/>
          </a:prstGeom>
        </p:spPr>
        <p:txBody>
          <a:bodyPr vert="horz" wrap="square" lIns="0" tIns="12065" rIns="0" bIns="0" rtlCol="0">
            <a:spAutoFit/>
          </a:bodyPr>
          <a:lstStyle/>
          <a:p>
            <a:pPr marL="16510">
              <a:lnSpc>
                <a:spcPct val="100000"/>
              </a:lnSpc>
              <a:spcBef>
                <a:spcPts val="95"/>
              </a:spcBef>
            </a:pPr>
            <a:r>
              <a:rPr spc="-5" dirty="0"/>
              <a:t>K means </a:t>
            </a:r>
            <a:r>
              <a:rPr spc="-25" dirty="0"/>
              <a:t>versus </a:t>
            </a:r>
            <a:r>
              <a:rPr spc="-20" dirty="0"/>
              <a:t>hierarchical</a:t>
            </a:r>
            <a:r>
              <a:rPr spc="40" dirty="0"/>
              <a:t> </a:t>
            </a:r>
            <a:r>
              <a:rPr spc="-15" dirty="0"/>
              <a:t>clustering</a:t>
            </a:r>
          </a:p>
        </p:txBody>
      </p:sp>
      <p:sp>
        <p:nvSpPr>
          <p:cNvPr id="4" name="object 4"/>
          <p:cNvSpPr txBox="1"/>
          <p:nvPr/>
        </p:nvSpPr>
        <p:spPr>
          <a:xfrm>
            <a:off x="535940" y="1187577"/>
            <a:ext cx="6022975" cy="391160"/>
          </a:xfrm>
          <a:prstGeom prst="rect">
            <a:avLst/>
          </a:prstGeom>
        </p:spPr>
        <p:txBody>
          <a:bodyPr vert="horz" wrap="square" lIns="0" tIns="12700" rIns="0" bIns="0" rtlCol="0">
            <a:spAutoFit/>
          </a:bodyPr>
          <a:lstStyle/>
          <a:p>
            <a:pPr marL="12700">
              <a:lnSpc>
                <a:spcPct val="100000"/>
              </a:lnSpc>
              <a:spcBef>
                <a:spcPts val="100"/>
              </a:spcBef>
              <a:tabLst>
                <a:tab pos="4201160" algn="l"/>
              </a:tabLst>
            </a:pPr>
            <a:r>
              <a:rPr sz="2400" b="1" spc="-10" dirty="0">
                <a:latin typeface="Carlito"/>
                <a:cs typeface="Carlito"/>
              </a:rPr>
              <a:t>Un-nested</a:t>
            </a:r>
            <a:r>
              <a:rPr sz="2400" b="1" spc="15" dirty="0">
                <a:latin typeface="Carlito"/>
                <a:cs typeface="Carlito"/>
              </a:rPr>
              <a:t> </a:t>
            </a:r>
            <a:r>
              <a:rPr sz="2400" b="1" spc="-15" dirty="0">
                <a:latin typeface="Carlito"/>
                <a:cs typeface="Carlito"/>
              </a:rPr>
              <a:t>cluster	</a:t>
            </a:r>
            <a:r>
              <a:rPr sz="2400" b="1" spc="-10" dirty="0">
                <a:latin typeface="Carlito"/>
                <a:cs typeface="Carlito"/>
              </a:rPr>
              <a:t>Nested</a:t>
            </a:r>
            <a:r>
              <a:rPr sz="2400" b="1" spc="-65" dirty="0">
                <a:latin typeface="Carlito"/>
                <a:cs typeface="Carlito"/>
              </a:rPr>
              <a:t> </a:t>
            </a:r>
            <a:r>
              <a:rPr sz="2400" b="1" spc="-15" dirty="0">
                <a:latin typeface="Carlito"/>
                <a:cs typeface="Carlito"/>
              </a:rPr>
              <a:t>cluster</a:t>
            </a:r>
            <a:endParaRPr sz="2400">
              <a:latin typeface="Carlito"/>
              <a:cs typeface="Carlito"/>
            </a:endParaRPr>
          </a:p>
        </p:txBody>
      </p:sp>
      <p:sp>
        <p:nvSpPr>
          <p:cNvPr id="5" name="object 5"/>
          <p:cNvSpPr/>
          <p:nvPr/>
        </p:nvSpPr>
        <p:spPr>
          <a:xfrm>
            <a:off x="595883" y="1836420"/>
            <a:ext cx="3762755" cy="2552699"/>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4645152" y="1668779"/>
            <a:ext cx="4041648" cy="2886456"/>
          </a:xfrm>
          <a:prstGeom prst="rect">
            <a:avLst/>
          </a:prstGeom>
          <a:blipFill>
            <a:blip r:embed="rId4" cstate="print"/>
            <a:stretch>
              <a:fillRect/>
            </a:stretch>
          </a:blipFill>
        </p:spPr>
        <p:txBody>
          <a:bodyPr wrap="square" lIns="0" tIns="0" rIns="0" bIns="0" rtlCol="0"/>
          <a:lstStyle/>
          <a:p>
            <a:endParaRPr/>
          </a:p>
        </p:txBody>
      </p:sp>
      <p:sp>
        <p:nvSpPr>
          <p:cNvPr id="7" name="object 7"/>
          <p:cNvSpPr txBox="1"/>
          <p:nvPr/>
        </p:nvSpPr>
        <p:spPr>
          <a:xfrm>
            <a:off x="906576" y="4470603"/>
            <a:ext cx="5839460" cy="162560"/>
          </a:xfrm>
          <a:prstGeom prst="rect">
            <a:avLst/>
          </a:prstGeom>
        </p:spPr>
        <p:txBody>
          <a:bodyPr vert="horz" wrap="square" lIns="0" tIns="12700" rIns="0" bIns="0" rtlCol="0">
            <a:spAutoFit/>
          </a:bodyPr>
          <a:lstStyle/>
          <a:p>
            <a:pPr marL="12700">
              <a:lnSpc>
                <a:spcPct val="100000"/>
              </a:lnSpc>
              <a:spcBef>
                <a:spcPts val="100"/>
              </a:spcBef>
            </a:pPr>
            <a:r>
              <a:rPr sz="900" spc="-5" dirty="0">
                <a:latin typeface="Carlito"/>
                <a:cs typeface="Carlito"/>
              </a:rPr>
              <a:t>Ashok, A.R., Prabhakar, C.R. and Dyaneshwar, P.A., Comparative Study </a:t>
            </a:r>
            <a:r>
              <a:rPr sz="900" dirty="0">
                <a:latin typeface="Carlito"/>
                <a:cs typeface="Carlito"/>
              </a:rPr>
              <a:t>on </a:t>
            </a:r>
            <a:r>
              <a:rPr sz="900" spc="-5" dirty="0">
                <a:latin typeface="Carlito"/>
                <a:cs typeface="Carlito"/>
              </a:rPr>
              <a:t>Hierarchical and Partitioning Data Mining</a:t>
            </a:r>
            <a:r>
              <a:rPr sz="900" spc="185" dirty="0">
                <a:latin typeface="Carlito"/>
                <a:cs typeface="Carlito"/>
              </a:rPr>
              <a:t> </a:t>
            </a:r>
            <a:r>
              <a:rPr sz="900" spc="-5" dirty="0">
                <a:latin typeface="Carlito"/>
                <a:cs typeface="Carlito"/>
              </a:rPr>
              <a:t>Methods.</a:t>
            </a:r>
            <a:endParaRPr sz="900">
              <a:latin typeface="Carlito"/>
              <a:cs typeface="Carlito"/>
            </a:endParaRPr>
          </a:p>
        </p:txBody>
      </p:sp>
      <p:sp>
        <p:nvSpPr>
          <p:cNvPr id="8" name="object 8"/>
          <p:cNvSpPr txBox="1">
            <a:spLocks noGrp="1"/>
          </p:cNvSpPr>
          <p:nvPr>
            <p:ph type="sldNum" sz="quarter" idx="4294967295"/>
          </p:nvPr>
        </p:nvSpPr>
        <p:spPr>
          <a:xfrm>
            <a:off x="8401557" y="4830038"/>
            <a:ext cx="231775" cy="178435"/>
          </a:xfrm>
          <a:prstGeom prst="rect">
            <a:avLst/>
          </a:prstGeom>
        </p:spPr>
        <p:txBody>
          <a:bodyPr vert="horz" wrap="square" lIns="0" tIns="0" rIns="0" bIns="0" rtlCol="0">
            <a:spAutoFit/>
          </a:bodyPr>
          <a:lstStyle/>
          <a:p>
            <a:pPr marL="38100">
              <a:lnSpc>
                <a:spcPts val="1240"/>
              </a:lnSpc>
            </a:pPr>
            <a:fld id="{81D60167-4931-47E6-BA6A-407CBD079E47}" type="slidenum">
              <a:rPr dirty="0"/>
              <a:t>31</a:t>
            </a:fld>
            <a:endParaRPr dirty="0"/>
          </a:p>
        </p:txBody>
      </p:sp>
      <p:sp>
        <p:nvSpPr>
          <p:cNvPr id="9" name="Rectangle 8">
            <a:extLst>
              <a:ext uri="{FF2B5EF4-FFF2-40B4-BE49-F238E27FC236}">
                <a16:creationId xmlns:a16="http://schemas.microsoft.com/office/drawing/2014/main" id="{F3C8E43D-4162-3E3D-97E8-644F81AFAE73}"/>
              </a:ext>
            </a:extLst>
          </p:cNvPr>
          <p:cNvSpPr/>
          <p:nvPr/>
        </p:nvSpPr>
        <p:spPr>
          <a:xfrm>
            <a:off x="0" y="4721351"/>
            <a:ext cx="9144000" cy="4221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2229" y="385953"/>
            <a:ext cx="5477510" cy="45212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0000FF"/>
                </a:solidFill>
              </a:rPr>
              <a:t>K means </a:t>
            </a:r>
            <a:r>
              <a:rPr sz="2800" spc="-20" dirty="0">
                <a:solidFill>
                  <a:srgbClr val="0000FF"/>
                </a:solidFill>
              </a:rPr>
              <a:t>versus </a:t>
            </a:r>
            <a:r>
              <a:rPr sz="2800" spc="-15" dirty="0">
                <a:solidFill>
                  <a:srgbClr val="0000FF"/>
                </a:solidFill>
              </a:rPr>
              <a:t>hierarchical</a:t>
            </a:r>
            <a:r>
              <a:rPr sz="2800" spc="55" dirty="0">
                <a:solidFill>
                  <a:srgbClr val="0000FF"/>
                </a:solidFill>
              </a:rPr>
              <a:t> </a:t>
            </a:r>
            <a:r>
              <a:rPr sz="2800" spc="-15" dirty="0">
                <a:solidFill>
                  <a:srgbClr val="0000FF"/>
                </a:solidFill>
              </a:rPr>
              <a:t>clustering</a:t>
            </a:r>
            <a:endParaRPr sz="2800"/>
          </a:p>
        </p:txBody>
      </p:sp>
      <p:sp>
        <p:nvSpPr>
          <p:cNvPr id="3" name="object 3"/>
          <p:cNvSpPr/>
          <p:nvPr/>
        </p:nvSpPr>
        <p:spPr>
          <a:xfrm>
            <a:off x="5003291" y="2828544"/>
            <a:ext cx="2304288" cy="1786127"/>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535940" y="1218438"/>
            <a:ext cx="8053705" cy="2450465"/>
          </a:xfrm>
          <a:prstGeom prst="rect">
            <a:avLst/>
          </a:prstGeom>
        </p:spPr>
        <p:txBody>
          <a:bodyPr vert="horz" wrap="square" lIns="0" tIns="13335" rIns="0" bIns="0" rtlCol="0">
            <a:spAutoFit/>
          </a:bodyPr>
          <a:lstStyle/>
          <a:p>
            <a:pPr marL="355600" marR="5080" indent="-342900">
              <a:lnSpc>
                <a:spcPct val="100000"/>
              </a:lnSpc>
              <a:spcBef>
                <a:spcPts val="105"/>
              </a:spcBef>
              <a:buFont typeface="Arial"/>
              <a:buChar char="•"/>
              <a:tabLst>
                <a:tab pos="354965" algn="l"/>
                <a:tab pos="355600" algn="l"/>
              </a:tabLst>
            </a:pPr>
            <a:r>
              <a:rPr sz="2000" spc="-5" dirty="0">
                <a:latin typeface="Carlito"/>
              </a:rPr>
              <a:t>Hierarchical clustering does not assume a particular value of ‘𝑘’, as needed  by 𝑘-means clustering</a:t>
            </a:r>
          </a:p>
          <a:p>
            <a:pPr marL="355600" indent="-342900">
              <a:lnSpc>
                <a:spcPct val="100000"/>
              </a:lnSpc>
              <a:spcBef>
                <a:spcPts val="465"/>
              </a:spcBef>
              <a:buFont typeface="Arial"/>
              <a:buChar char="•"/>
              <a:tabLst>
                <a:tab pos="354965" algn="l"/>
                <a:tab pos="355600" algn="l"/>
              </a:tabLst>
            </a:pPr>
            <a:r>
              <a:rPr sz="2000" spc="-5" dirty="0">
                <a:latin typeface="Carlito"/>
              </a:rPr>
              <a:t>The generated tree may correspond to a meaningful taxonomy</a:t>
            </a:r>
          </a:p>
          <a:p>
            <a:pPr marL="355600" indent="-342900">
              <a:lnSpc>
                <a:spcPct val="100000"/>
              </a:lnSpc>
              <a:spcBef>
                <a:spcPts val="480"/>
              </a:spcBef>
              <a:buFont typeface="Arial"/>
              <a:buChar char="•"/>
              <a:tabLst>
                <a:tab pos="354965" algn="l"/>
                <a:tab pos="355600" algn="l"/>
              </a:tabLst>
            </a:pPr>
            <a:r>
              <a:rPr sz="2000" spc="-5" dirty="0">
                <a:latin typeface="Carlito"/>
              </a:rPr>
              <a:t>Only a distance or “proximity” matrix is needed to compute the</a:t>
            </a:r>
          </a:p>
          <a:p>
            <a:pPr marL="355600">
              <a:lnSpc>
                <a:spcPct val="100000"/>
              </a:lnSpc>
            </a:pPr>
            <a:r>
              <a:rPr sz="2000" spc="-5" dirty="0">
                <a:latin typeface="Carlito"/>
              </a:rPr>
              <a:t>hierarchical clustering</a:t>
            </a:r>
          </a:p>
          <a:p>
            <a:pPr>
              <a:lnSpc>
                <a:spcPct val="100000"/>
              </a:lnSpc>
              <a:spcBef>
                <a:spcPts val="50"/>
              </a:spcBef>
            </a:pPr>
            <a:endParaRPr sz="1450" dirty="0">
              <a:latin typeface="Carlito"/>
              <a:cs typeface="Carlito"/>
            </a:endParaRPr>
          </a:p>
          <a:p>
            <a:pPr marL="7009130">
              <a:lnSpc>
                <a:spcPct val="100000"/>
              </a:lnSpc>
            </a:pPr>
            <a:r>
              <a:rPr sz="1800" spc="-15" dirty="0">
                <a:latin typeface="Carlito"/>
                <a:cs typeface="Carlito"/>
              </a:rPr>
              <a:t>Proximity</a:t>
            </a:r>
            <a:endParaRPr sz="1800" dirty="0">
              <a:latin typeface="Carlito"/>
              <a:cs typeface="Carlito"/>
            </a:endParaRPr>
          </a:p>
          <a:p>
            <a:pPr marL="7009130">
              <a:lnSpc>
                <a:spcPct val="100000"/>
              </a:lnSpc>
            </a:pPr>
            <a:r>
              <a:rPr sz="1800" spc="-5" dirty="0">
                <a:latin typeface="Carlito"/>
                <a:cs typeface="Carlito"/>
              </a:rPr>
              <a:t>matrix</a:t>
            </a:r>
            <a:endParaRPr sz="1800" dirty="0">
              <a:latin typeface="Carlito"/>
              <a:cs typeface="Carlito"/>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32</a:t>
            </a:fld>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6510">
              <a:lnSpc>
                <a:spcPct val="100000"/>
              </a:lnSpc>
              <a:spcBef>
                <a:spcPts val="95"/>
              </a:spcBef>
            </a:pPr>
            <a:r>
              <a:rPr spc="-5" dirty="0"/>
              <a:t>K means </a:t>
            </a:r>
            <a:r>
              <a:rPr spc="-25" dirty="0"/>
              <a:t>versus </a:t>
            </a:r>
            <a:r>
              <a:rPr spc="-20" dirty="0"/>
              <a:t>hierarchical</a:t>
            </a:r>
            <a:r>
              <a:rPr spc="40" dirty="0"/>
              <a:t> </a:t>
            </a:r>
            <a:r>
              <a:rPr spc="-15" dirty="0"/>
              <a:t>clustering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33</a:t>
            </a:fld>
            <a:endParaRPr dirty="0"/>
          </a:p>
        </p:txBody>
      </p:sp>
      <p:sp>
        <p:nvSpPr>
          <p:cNvPr id="3" name="object 3"/>
          <p:cNvSpPr txBox="1"/>
          <p:nvPr/>
        </p:nvSpPr>
        <p:spPr>
          <a:xfrm>
            <a:off x="535940" y="1647520"/>
            <a:ext cx="3759835" cy="2831465"/>
          </a:xfrm>
          <a:prstGeom prst="rect">
            <a:avLst/>
          </a:prstGeom>
        </p:spPr>
        <p:txBody>
          <a:bodyPr vert="horz" wrap="square" lIns="0" tIns="13335" rIns="0" bIns="0" rtlCol="0">
            <a:spAutoFit/>
          </a:bodyPr>
          <a:lstStyle/>
          <a:p>
            <a:pPr marL="355600" marR="37465" indent="-342900">
              <a:lnSpc>
                <a:spcPct val="100000"/>
              </a:lnSpc>
              <a:spcBef>
                <a:spcPts val="105"/>
              </a:spcBef>
              <a:buFont typeface="Arial"/>
              <a:buChar char="•"/>
              <a:tabLst>
                <a:tab pos="354965" algn="l"/>
                <a:tab pos="355600" algn="l"/>
              </a:tabLst>
            </a:pPr>
            <a:r>
              <a:rPr sz="2000" dirty="0">
                <a:latin typeface="Carlito"/>
                <a:cs typeface="Carlito"/>
              </a:rPr>
              <a:t>In K Means </a:t>
            </a:r>
            <a:r>
              <a:rPr sz="2000" spc="-5" dirty="0">
                <a:latin typeface="Carlito"/>
                <a:cs typeface="Carlito"/>
              </a:rPr>
              <a:t>clustering, since one  </a:t>
            </a:r>
            <a:r>
              <a:rPr sz="2000" spc="-10" dirty="0">
                <a:latin typeface="Carlito"/>
                <a:cs typeface="Carlito"/>
              </a:rPr>
              <a:t>start </a:t>
            </a:r>
            <a:r>
              <a:rPr sz="2000" spc="-5" dirty="0">
                <a:solidFill>
                  <a:srgbClr val="FF0000"/>
                </a:solidFill>
                <a:latin typeface="Carlito"/>
                <a:cs typeface="Carlito"/>
              </a:rPr>
              <a:t>with random </a:t>
            </a:r>
            <a:r>
              <a:rPr sz="2000" dirty="0">
                <a:solidFill>
                  <a:srgbClr val="FF0000"/>
                </a:solidFill>
                <a:latin typeface="Carlito"/>
                <a:cs typeface="Carlito"/>
              </a:rPr>
              <a:t>choice </a:t>
            </a:r>
            <a:r>
              <a:rPr sz="2000" spc="-5" dirty="0">
                <a:solidFill>
                  <a:srgbClr val="FF0000"/>
                </a:solidFill>
                <a:latin typeface="Carlito"/>
                <a:cs typeface="Carlito"/>
              </a:rPr>
              <a:t>of  </a:t>
            </a:r>
            <a:r>
              <a:rPr sz="2000" spc="-10" dirty="0">
                <a:solidFill>
                  <a:srgbClr val="FF0000"/>
                </a:solidFill>
                <a:latin typeface="Carlito"/>
                <a:cs typeface="Carlito"/>
              </a:rPr>
              <a:t>clusters, </a:t>
            </a:r>
            <a:r>
              <a:rPr sz="2000" dirty="0">
                <a:latin typeface="Carlito"/>
                <a:cs typeface="Carlito"/>
              </a:rPr>
              <a:t>the </a:t>
            </a:r>
            <a:r>
              <a:rPr sz="2000" spc="-5" dirty="0">
                <a:latin typeface="Carlito"/>
                <a:cs typeface="Carlito"/>
              </a:rPr>
              <a:t>results produced by  </a:t>
            </a:r>
            <a:r>
              <a:rPr sz="2000" dirty="0">
                <a:latin typeface="Carlito"/>
                <a:cs typeface="Carlito"/>
              </a:rPr>
              <a:t>running the </a:t>
            </a:r>
            <a:r>
              <a:rPr sz="2000" spc="-5" dirty="0">
                <a:latin typeface="Carlito"/>
                <a:cs typeface="Carlito"/>
              </a:rPr>
              <a:t>algorithm </a:t>
            </a:r>
            <a:r>
              <a:rPr sz="2000" dirty="0">
                <a:latin typeface="Carlito"/>
                <a:cs typeface="Carlito"/>
              </a:rPr>
              <a:t>multiple  times </a:t>
            </a:r>
            <a:r>
              <a:rPr sz="2000" spc="-5" dirty="0">
                <a:latin typeface="Carlito"/>
                <a:cs typeface="Carlito"/>
              </a:rPr>
              <a:t>might </a:t>
            </a:r>
            <a:r>
              <a:rPr sz="2000" spc="-15" dirty="0">
                <a:latin typeface="Carlito"/>
                <a:cs typeface="Carlito"/>
              </a:rPr>
              <a:t>differ</a:t>
            </a:r>
            <a:endParaRPr sz="2000" dirty="0">
              <a:latin typeface="Carlito"/>
              <a:cs typeface="Carlito"/>
            </a:endParaRPr>
          </a:p>
          <a:p>
            <a:pPr marL="355600" marR="5080" indent="-342900">
              <a:lnSpc>
                <a:spcPct val="100000"/>
              </a:lnSpc>
              <a:spcBef>
                <a:spcPts val="484"/>
              </a:spcBef>
              <a:buFont typeface="Arial"/>
              <a:buChar char="•"/>
              <a:tabLst>
                <a:tab pos="354965" algn="l"/>
                <a:tab pos="355600" algn="l"/>
              </a:tabLst>
            </a:pPr>
            <a:r>
              <a:rPr sz="2000" dirty="0">
                <a:latin typeface="Carlito"/>
                <a:cs typeface="Carlito"/>
              </a:rPr>
              <a:t>K Means is </a:t>
            </a:r>
            <a:r>
              <a:rPr sz="2000" spc="-10" dirty="0">
                <a:latin typeface="Carlito"/>
                <a:cs typeface="Carlito"/>
              </a:rPr>
              <a:t>found </a:t>
            </a:r>
            <a:r>
              <a:rPr sz="2000" spc="-15" dirty="0">
                <a:latin typeface="Carlito"/>
                <a:cs typeface="Carlito"/>
              </a:rPr>
              <a:t>to </a:t>
            </a:r>
            <a:r>
              <a:rPr sz="2000" spc="-5" dirty="0">
                <a:solidFill>
                  <a:srgbClr val="FF0000"/>
                </a:solidFill>
                <a:latin typeface="Carlito"/>
              </a:rPr>
              <a:t>work well  when the shape of the clusters is  hyper spherical (like circle in 2D,  sphere in 3D)</a:t>
            </a:r>
          </a:p>
        </p:txBody>
      </p:sp>
      <p:sp>
        <p:nvSpPr>
          <p:cNvPr id="4" name="object 4"/>
          <p:cNvSpPr txBox="1"/>
          <p:nvPr/>
        </p:nvSpPr>
        <p:spPr>
          <a:xfrm>
            <a:off x="535940" y="1187577"/>
            <a:ext cx="7005320" cy="391160"/>
          </a:xfrm>
          <a:prstGeom prst="rect">
            <a:avLst/>
          </a:prstGeom>
        </p:spPr>
        <p:txBody>
          <a:bodyPr vert="horz" wrap="square" lIns="0" tIns="12700" rIns="0" bIns="0" rtlCol="0">
            <a:spAutoFit/>
          </a:bodyPr>
          <a:lstStyle/>
          <a:p>
            <a:pPr marL="12700">
              <a:lnSpc>
                <a:spcPct val="100000"/>
              </a:lnSpc>
              <a:spcBef>
                <a:spcPts val="100"/>
              </a:spcBef>
              <a:tabLst>
                <a:tab pos="4201160" algn="l"/>
              </a:tabLst>
            </a:pPr>
            <a:r>
              <a:rPr sz="2400" b="1" dirty="0">
                <a:latin typeface="Carlito"/>
                <a:cs typeface="Carlito"/>
              </a:rPr>
              <a:t>K </a:t>
            </a:r>
            <a:r>
              <a:rPr sz="2400" b="1" spc="-5" dirty="0">
                <a:latin typeface="Carlito"/>
                <a:cs typeface="Carlito"/>
              </a:rPr>
              <a:t>Means </a:t>
            </a:r>
            <a:r>
              <a:rPr sz="2400" b="1" spc="-10" dirty="0">
                <a:latin typeface="Carlito"/>
                <a:cs typeface="Carlito"/>
              </a:rPr>
              <a:t>clustering	Hierarchical</a:t>
            </a:r>
            <a:r>
              <a:rPr sz="2400" b="1" spc="-95" dirty="0">
                <a:latin typeface="Carlito"/>
                <a:cs typeface="Carlito"/>
              </a:rPr>
              <a:t> </a:t>
            </a:r>
            <a:r>
              <a:rPr sz="2400" b="1" spc="-10" dirty="0">
                <a:latin typeface="Carlito"/>
                <a:cs typeface="Carlito"/>
              </a:rPr>
              <a:t>clustering</a:t>
            </a:r>
            <a:endParaRPr sz="2400">
              <a:latin typeface="Carlito"/>
              <a:cs typeface="Carlito"/>
            </a:endParaRPr>
          </a:p>
        </p:txBody>
      </p:sp>
      <p:sp>
        <p:nvSpPr>
          <p:cNvPr id="5" name="object 5"/>
          <p:cNvSpPr txBox="1"/>
          <p:nvPr/>
        </p:nvSpPr>
        <p:spPr>
          <a:xfrm>
            <a:off x="4724527" y="1647520"/>
            <a:ext cx="3833495" cy="1917064"/>
          </a:xfrm>
          <a:prstGeom prst="rect">
            <a:avLst/>
          </a:prstGeom>
        </p:spPr>
        <p:txBody>
          <a:bodyPr vert="horz" wrap="square" lIns="0" tIns="13335" rIns="0" bIns="0" rtlCol="0">
            <a:spAutoFit/>
          </a:bodyPr>
          <a:lstStyle/>
          <a:p>
            <a:pPr marL="355600" indent="-342900">
              <a:lnSpc>
                <a:spcPct val="100000"/>
              </a:lnSpc>
              <a:spcBef>
                <a:spcPts val="105"/>
              </a:spcBef>
              <a:buFont typeface="Arial"/>
              <a:buChar char="•"/>
              <a:tabLst>
                <a:tab pos="354965" algn="l"/>
                <a:tab pos="355600" algn="l"/>
              </a:tabLst>
            </a:pPr>
            <a:r>
              <a:rPr sz="2000" spc="-10" dirty="0">
                <a:solidFill>
                  <a:srgbClr val="FF0000"/>
                </a:solidFill>
                <a:latin typeface="Carlito"/>
                <a:cs typeface="Carlito"/>
              </a:rPr>
              <a:t>Results are </a:t>
            </a:r>
            <a:r>
              <a:rPr sz="2000" spc="-5" dirty="0">
                <a:solidFill>
                  <a:srgbClr val="FF0000"/>
                </a:solidFill>
                <a:latin typeface="Carlito"/>
                <a:cs typeface="Carlito"/>
              </a:rPr>
              <a:t>reproducible</a:t>
            </a:r>
            <a:r>
              <a:rPr sz="2000" spc="15" dirty="0">
                <a:solidFill>
                  <a:srgbClr val="FF0000"/>
                </a:solidFill>
                <a:latin typeface="Carlito"/>
                <a:cs typeface="Carlito"/>
              </a:rPr>
              <a:t> </a:t>
            </a:r>
            <a:r>
              <a:rPr sz="2000" spc="-5" dirty="0">
                <a:latin typeface="Carlito"/>
                <a:cs typeface="Carlito"/>
              </a:rPr>
              <a:t>in</a:t>
            </a:r>
            <a:endParaRPr sz="2000" dirty="0">
              <a:latin typeface="Carlito"/>
              <a:cs typeface="Carlito"/>
            </a:endParaRPr>
          </a:p>
          <a:p>
            <a:pPr marL="355600">
              <a:lnSpc>
                <a:spcPct val="100000"/>
              </a:lnSpc>
              <a:spcBef>
                <a:spcPts val="5"/>
              </a:spcBef>
            </a:pPr>
            <a:r>
              <a:rPr sz="2000" spc="-10" dirty="0">
                <a:latin typeface="Carlito"/>
                <a:cs typeface="Carlito"/>
              </a:rPr>
              <a:t>Hierarchical</a:t>
            </a:r>
            <a:r>
              <a:rPr sz="2000" dirty="0">
                <a:latin typeface="Carlito"/>
                <a:cs typeface="Carlito"/>
              </a:rPr>
              <a:t> </a:t>
            </a:r>
            <a:r>
              <a:rPr sz="2000" spc="-10" dirty="0">
                <a:latin typeface="Carlito"/>
                <a:cs typeface="Carlito"/>
              </a:rPr>
              <a:t>clustering</a:t>
            </a:r>
            <a:endParaRPr sz="2000" dirty="0">
              <a:latin typeface="Carlito"/>
              <a:cs typeface="Carlito"/>
            </a:endParaRPr>
          </a:p>
          <a:p>
            <a:pPr marL="355600" marR="5080" indent="-342900">
              <a:lnSpc>
                <a:spcPct val="100000"/>
              </a:lnSpc>
              <a:spcBef>
                <a:spcPts val="480"/>
              </a:spcBef>
              <a:buChar char="•"/>
              <a:tabLst>
                <a:tab pos="354965" algn="l"/>
                <a:tab pos="355600" algn="l"/>
              </a:tabLst>
            </a:pPr>
            <a:r>
              <a:rPr sz="2000" spc="-85" dirty="0">
                <a:latin typeface="Arial"/>
                <a:cs typeface="Arial"/>
              </a:rPr>
              <a:t>Hierarchical </a:t>
            </a:r>
            <a:r>
              <a:rPr sz="2000" spc="-70" dirty="0">
                <a:latin typeface="Arial"/>
                <a:cs typeface="Arial"/>
              </a:rPr>
              <a:t>clustering </a:t>
            </a:r>
            <a:r>
              <a:rPr sz="2000" spc="-5" dirty="0">
                <a:latin typeface="Arial"/>
                <a:cs typeface="Arial"/>
              </a:rPr>
              <a:t>don’t</a:t>
            </a:r>
            <a:r>
              <a:rPr sz="2000" spc="-150" dirty="0">
                <a:latin typeface="Arial"/>
                <a:cs typeface="Arial"/>
              </a:rPr>
              <a:t> </a:t>
            </a:r>
            <a:r>
              <a:rPr sz="2000" spc="-45" dirty="0">
                <a:latin typeface="Arial"/>
                <a:cs typeface="Arial"/>
              </a:rPr>
              <a:t>work  </a:t>
            </a:r>
            <a:r>
              <a:rPr sz="2000" dirty="0">
                <a:latin typeface="Carlito"/>
                <a:cs typeface="Carlito"/>
              </a:rPr>
              <a:t>as </a:t>
            </a:r>
            <a:r>
              <a:rPr sz="2000" spc="-10" dirty="0">
                <a:latin typeface="Carlito"/>
                <a:cs typeface="Carlito"/>
              </a:rPr>
              <a:t>well </a:t>
            </a:r>
            <a:r>
              <a:rPr sz="2000" dirty="0">
                <a:latin typeface="Carlito"/>
                <a:cs typeface="Carlito"/>
              </a:rPr>
              <a:t>as, k means when the  </a:t>
            </a:r>
            <a:r>
              <a:rPr sz="2000" spc="-5" dirty="0">
                <a:latin typeface="Carlito"/>
                <a:cs typeface="Carlito"/>
              </a:rPr>
              <a:t>shape of </a:t>
            </a:r>
            <a:r>
              <a:rPr sz="2000" dirty="0">
                <a:latin typeface="Carlito"/>
                <a:cs typeface="Carlito"/>
              </a:rPr>
              <a:t>the </a:t>
            </a:r>
            <a:r>
              <a:rPr sz="2000" spc="-15" dirty="0">
                <a:latin typeface="Carlito"/>
                <a:cs typeface="Carlito"/>
              </a:rPr>
              <a:t>clusters </a:t>
            </a:r>
            <a:r>
              <a:rPr sz="2000" dirty="0">
                <a:latin typeface="Carlito"/>
                <a:cs typeface="Carlito"/>
              </a:rPr>
              <a:t>is </a:t>
            </a:r>
            <a:r>
              <a:rPr sz="2000" spc="-5" dirty="0">
                <a:latin typeface="Carlito"/>
                <a:cs typeface="Carlito"/>
              </a:rPr>
              <a:t>hyper  spherical</a:t>
            </a:r>
            <a:endParaRPr sz="2000" dirty="0">
              <a:latin typeface="Carlito"/>
              <a:cs typeface="Carlit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6510">
              <a:lnSpc>
                <a:spcPct val="100000"/>
              </a:lnSpc>
              <a:spcBef>
                <a:spcPts val="95"/>
              </a:spcBef>
            </a:pPr>
            <a:r>
              <a:rPr spc="-5" dirty="0"/>
              <a:t>K means </a:t>
            </a:r>
            <a:r>
              <a:rPr spc="-25" dirty="0"/>
              <a:t>versus </a:t>
            </a:r>
            <a:r>
              <a:rPr spc="-20" dirty="0"/>
              <a:t>hierarchical</a:t>
            </a:r>
            <a:r>
              <a:rPr spc="40" dirty="0"/>
              <a:t> </a:t>
            </a:r>
            <a:r>
              <a:rPr spc="-15" dirty="0"/>
              <a:t>clustering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34</a:t>
            </a:fld>
            <a:endParaRPr dirty="0"/>
          </a:p>
        </p:txBody>
      </p:sp>
      <p:sp>
        <p:nvSpPr>
          <p:cNvPr id="3" name="object 3"/>
          <p:cNvSpPr txBox="1"/>
          <p:nvPr/>
        </p:nvSpPr>
        <p:spPr>
          <a:xfrm>
            <a:off x="535940" y="1644472"/>
            <a:ext cx="3852545" cy="1489710"/>
          </a:xfrm>
          <a:prstGeom prst="rect">
            <a:avLst/>
          </a:prstGeom>
        </p:spPr>
        <p:txBody>
          <a:bodyPr vert="horz" wrap="square" lIns="0" tIns="12700" rIns="0" bIns="0" rtlCol="0">
            <a:spAutoFit/>
          </a:bodyPr>
          <a:lstStyle/>
          <a:p>
            <a:pPr marL="355600" marR="5080" indent="-342900">
              <a:lnSpc>
                <a:spcPct val="100000"/>
              </a:lnSpc>
              <a:spcBef>
                <a:spcPts val="100"/>
              </a:spcBef>
              <a:buFont typeface="Arial"/>
              <a:buChar char="•"/>
              <a:tabLst>
                <a:tab pos="354965" algn="l"/>
                <a:tab pos="355600" algn="l"/>
              </a:tabLst>
            </a:pPr>
            <a:r>
              <a:rPr sz="2400" dirty="0">
                <a:latin typeface="Carlito"/>
                <a:cs typeface="Carlito"/>
              </a:rPr>
              <a:t>K Means </a:t>
            </a:r>
            <a:r>
              <a:rPr sz="2400" spc="-5" dirty="0">
                <a:latin typeface="Carlito"/>
                <a:cs typeface="Carlito"/>
              </a:rPr>
              <a:t>clustering </a:t>
            </a:r>
            <a:r>
              <a:rPr sz="2400" spc="-10" dirty="0">
                <a:latin typeface="Carlito"/>
                <a:cs typeface="Carlito"/>
              </a:rPr>
              <a:t>requires  </a:t>
            </a:r>
            <a:r>
              <a:rPr sz="2400" spc="-5" dirty="0">
                <a:latin typeface="Carlito"/>
                <a:cs typeface="Carlito"/>
              </a:rPr>
              <a:t>prior </a:t>
            </a:r>
            <a:r>
              <a:rPr sz="2400" spc="-5" dirty="0">
                <a:solidFill>
                  <a:srgbClr val="C00000"/>
                </a:solidFill>
                <a:latin typeface="Carlito"/>
                <a:cs typeface="Carlito"/>
              </a:rPr>
              <a:t>knowledge of </a:t>
            </a:r>
            <a:r>
              <a:rPr sz="2400" dirty="0">
                <a:solidFill>
                  <a:srgbClr val="C00000"/>
                </a:solidFill>
                <a:latin typeface="Carlito"/>
                <a:cs typeface="Carlito"/>
              </a:rPr>
              <a:t>K </a:t>
            </a:r>
            <a:r>
              <a:rPr sz="2400" dirty="0">
                <a:latin typeface="Carlito"/>
                <a:cs typeface="Carlito"/>
              </a:rPr>
              <a:t>i.e.</a:t>
            </a:r>
            <a:r>
              <a:rPr sz="2400" spc="-80" dirty="0">
                <a:latin typeface="Carlito"/>
                <a:cs typeface="Carlito"/>
              </a:rPr>
              <a:t> </a:t>
            </a:r>
            <a:r>
              <a:rPr sz="2400" spc="-5" dirty="0">
                <a:latin typeface="Carlito"/>
                <a:cs typeface="Carlito"/>
              </a:rPr>
              <a:t>no.  of </a:t>
            </a:r>
            <a:r>
              <a:rPr sz="2400" spc="-10" dirty="0">
                <a:latin typeface="Carlito"/>
                <a:cs typeface="Carlito"/>
              </a:rPr>
              <a:t>clusters </a:t>
            </a:r>
            <a:r>
              <a:rPr sz="2400" spc="-5" dirty="0">
                <a:latin typeface="Carlito"/>
                <a:cs typeface="Carlito"/>
              </a:rPr>
              <a:t>one </a:t>
            </a:r>
            <a:r>
              <a:rPr sz="2400" spc="-15" dirty="0">
                <a:latin typeface="Carlito"/>
                <a:cs typeface="Carlito"/>
              </a:rPr>
              <a:t>want to  </a:t>
            </a:r>
            <a:r>
              <a:rPr sz="2400" spc="-5" dirty="0">
                <a:latin typeface="Carlito"/>
                <a:cs typeface="Carlito"/>
              </a:rPr>
              <a:t>divide </a:t>
            </a:r>
            <a:r>
              <a:rPr sz="2400" spc="-10" dirty="0">
                <a:latin typeface="Carlito"/>
                <a:cs typeface="Carlito"/>
              </a:rPr>
              <a:t>your </a:t>
            </a:r>
            <a:r>
              <a:rPr sz="2400" spc="-15" dirty="0">
                <a:latin typeface="Carlito"/>
                <a:cs typeface="Carlito"/>
              </a:rPr>
              <a:t>data</a:t>
            </a:r>
            <a:r>
              <a:rPr sz="2400" spc="-25" dirty="0">
                <a:latin typeface="Carlito"/>
                <a:cs typeface="Carlito"/>
              </a:rPr>
              <a:t> </a:t>
            </a:r>
            <a:r>
              <a:rPr sz="2400" spc="-15" dirty="0">
                <a:latin typeface="Carlito"/>
                <a:cs typeface="Carlito"/>
              </a:rPr>
              <a:t>into</a:t>
            </a:r>
            <a:endParaRPr sz="2400" dirty="0">
              <a:latin typeface="Carlito"/>
              <a:cs typeface="Carlito"/>
            </a:endParaRPr>
          </a:p>
        </p:txBody>
      </p:sp>
      <p:sp>
        <p:nvSpPr>
          <p:cNvPr id="4" name="object 4"/>
          <p:cNvSpPr txBox="1"/>
          <p:nvPr/>
        </p:nvSpPr>
        <p:spPr>
          <a:xfrm>
            <a:off x="535940" y="1187577"/>
            <a:ext cx="7005320" cy="391160"/>
          </a:xfrm>
          <a:prstGeom prst="rect">
            <a:avLst/>
          </a:prstGeom>
        </p:spPr>
        <p:txBody>
          <a:bodyPr vert="horz" wrap="square" lIns="0" tIns="12700" rIns="0" bIns="0" rtlCol="0">
            <a:spAutoFit/>
          </a:bodyPr>
          <a:lstStyle/>
          <a:p>
            <a:pPr marL="12700">
              <a:lnSpc>
                <a:spcPct val="100000"/>
              </a:lnSpc>
              <a:spcBef>
                <a:spcPts val="100"/>
              </a:spcBef>
              <a:tabLst>
                <a:tab pos="4201160" algn="l"/>
              </a:tabLst>
            </a:pPr>
            <a:r>
              <a:rPr sz="2400" b="1" dirty="0">
                <a:latin typeface="Carlito"/>
                <a:cs typeface="Carlito"/>
              </a:rPr>
              <a:t>K </a:t>
            </a:r>
            <a:r>
              <a:rPr sz="2400" b="1" spc="-5" dirty="0">
                <a:latin typeface="Carlito"/>
                <a:cs typeface="Carlito"/>
              </a:rPr>
              <a:t>Means </a:t>
            </a:r>
            <a:r>
              <a:rPr sz="2400" b="1" spc="-10" dirty="0">
                <a:latin typeface="Carlito"/>
                <a:cs typeface="Carlito"/>
              </a:rPr>
              <a:t>clustering	Hierarchical</a:t>
            </a:r>
            <a:r>
              <a:rPr sz="2400" b="1" spc="-95" dirty="0">
                <a:latin typeface="Carlito"/>
                <a:cs typeface="Carlito"/>
              </a:rPr>
              <a:t> </a:t>
            </a:r>
            <a:r>
              <a:rPr sz="2400" b="1" spc="-10" dirty="0">
                <a:latin typeface="Carlito"/>
                <a:cs typeface="Carlito"/>
              </a:rPr>
              <a:t>clustering</a:t>
            </a:r>
            <a:endParaRPr sz="2400" dirty="0">
              <a:latin typeface="Carlito"/>
              <a:cs typeface="Carlito"/>
            </a:endParaRPr>
          </a:p>
        </p:txBody>
      </p:sp>
      <p:sp>
        <p:nvSpPr>
          <p:cNvPr id="5" name="object 5"/>
          <p:cNvSpPr txBox="1">
            <a:spLocks noGrp="1"/>
          </p:cNvSpPr>
          <p:nvPr>
            <p:ph type="body" idx="1"/>
          </p:nvPr>
        </p:nvSpPr>
        <p:spPr>
          <a:xfrm>
            <a:off x="381000" y="1644015"/>
            <a:ext cx="7940294" cy="1855470"/>
          </a:xfrm>
          <a:prstGeom prst="rect">
            <a:avLst/>
          </a:prstGeom>
        </p:spPr>
        <p:txBody>
          <a:bodyPr vert="horz" wrap="square" lIns="0" tIns="12700" rIns="0" bIns="0" rtlCol="0">
            <a:spAutoFit/>
          </a:bodyPr>
          <a:lstStyle/>
          <a:p>
            <a:pPr marL="4478020" marR="5080" indent="-342900">
              <a:lnSpc>
                <a:spcPct val="100000"/>
              </a:lnSpc>
              <a:spcBef>
                <a:spcPts val="100"/>
              </a:spcBef>
              <a:buFont typeface="Arial"/>
              <a:buChar char="•"/>
              <a:tabLst>
                <a:tab pos="4477385" algn="l"/>
                <a:tab pos="4478020" algn="l"/>
              </a:tabLst>
            </a:pPr>
            <a:r>
              <a:rPr dirty="0"/>
              <a:t>In </a:t>
            </a:r>
            <a:r>
              <a:rPr spc="-10" dirty="0"/>
              <a:t>hierarchical </a:t>
            </a:r>
            <a:r>
              <a:rPr spc="-5" dirty="0"/>
              <a:t>clustering  </a:t>
            </a:r>
            <a:r>
              <a:rPr spc="-5" dirty="0">
                <a:solidFill>
                  <a:srgbClr val="C00000"/>
                </a:solidFill>
              </a:rPr>
              <a:t>one </a:t>
            </a:r>
            <a:r>
              <a:rPr spc="-10" dirty="0">
                <a:solidFill>
                  <a:srgbClr val="C00000"/>
                </a:solidFill>
              </a:rPr>
              <a:t>can </a:t>
            </a:r>
            <a:r>
              <a:rPr spc="-15" dirty="0">
                <a:solidFill>
                  <a:srgbClr val="C00000"/>
                </a:solidFill>
              </a:rPr>
              <a:t>stop at </a:t>
            </a:r>
            <a:r>
              <a:rPr spc="-20" dirty="0">
                <a:solidFill>
                  <a:srgbClr val="C00000"/>
                </a:solidFill>
              </a:rPr>
              <a:t>any </a:t>
            </a:r>
            <a:r>
              <a:rPr spc="-5" dirty="0">
                <a:solidFill>
                  <a:srgbClr val="C00000"/>
                </a:solidFill>
              </a:rPr>
              <a:t>number  of </a:t>
            </a:r>
            <a:r>
              <a:rPr spc="-10" dirty="0">
                <a:solidFill>
                  <a:srgbClr val="C00000"/>
                </a:solidFill>
              </a:rPr>
              <a:t>clusters</a:t>
            </a:r>
            <a:r>
              <a:rPr spc="-10" dirty="0"/>
              <a:t>, </a:t>
            </a:r>
            <a:r>
              <a:rPr spc="-5" dirty="0"/>
              <a:t>one find  </a:t>
            </a:r>
            <a:r>
              <a:rPr spc="-10" dirty="0"/>
              <a:t>appropriate by interpreting  </a:t>
            </a:r>
            <a:r>
              <a:rPr dirty="0"/>
              <a:t>the</a:t>
            </a:r>
            <a:r>
              <a:rPr spc="-5" dirty="0"/>
              <a:t> </a:t>
            </a:r>
            <a:r>
              <a:rPr spc="-10" dirty="0"/>
              <a:t>dendrogram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42642" y="303403"/>
            <a:ext cx="5477510" cy="45212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0000FF"/>
                </a:solidFill>
              </a:rPr>
              <a:t>K means </a:t>
            </a:r>
            <a:r>
              <a:rPr sz="2800" spc="-20" dirty="0">
                <a:solidFill>
                  <a:srgbClr val="0000FF"/>
                </a:solidFill>
              </a:rPr>
              <a:t>versus </a:t>
            </a:r>
            <a:r>
              <a:rPr sz="2800" spc="-15" dirty="0">
                <a:solidFill>
                  <a:srgbClr val="0000FF"/>
                </a:solidFill>
              </a:rPr>
              <a:t>hierarchical</a:t>
            </a:r>
            <a:r>
              <a:rPr sz="2800" spc="55" dirty="0">
                <a:solidFill>
                  <a:srgbClr val="0000FF"/>
                </a:solidFill>
              </a:rPr>
              <a:t> </a:t>
            </a:r>
            <a:r>
              <a:rPr sz="2800" spc="-15" dirty="0">
                <a:solidFill>
                  <a:srgbClr val="0000FF"/>
                </a:solidFill>
              </a:rPr>
              <a:t>clustering</a:t>
            </a:r>
            <a:endParaRPr sz="2800"/>
          </a:p>
        </p:txBody>
      </p:sp>
      <p:grpSp>
        <p:nvGrpSpPr>
          <p:cNvPr id="3" name="object 3"/>
          <p:cNvGrpSpPr/>
          <p:nvPr/>
        </p:nvGrpSpPr>
        <p:grpSpPr>
          <a:xfrm>
            <a:off x="2112264" y="1120139"/>
            <a:ext cx="4836160" cy="3275329"/>
            <a:chOff x="2112264" y="1120139"/>
            <a:chExt cx="4836160" cy="3275329"/>
          </a:xfrm>
        </p:grpSpPr>
        <p:sp>
          <p:nvSpPr>
            <p:cNvPr id="4" name="object 4"/>
            <p:cNvSpPr/>
            <p:nvPr/>
          </p:nvSpPr>
          <p:spPr>
            <a:xfrm>
              <a:off x="2196084" y="1200911"/>
              <a:ext cx="4751832" cy="3194304"/>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2125218" y="1133093"/>
              <a:ext cx="1007744" cy="431800"/>
            </a:xfrm>
            <a:custGeom>
              <a:avLst/>
              <a:gdLst/>
              <a:ahLst/>
              <a:cxnLst/>
              <a:rect l="l" t="t" r="r" b="b"/>
              <a:pathLst>
                <a:path w="1007744" h="431800">
                  <a:moveTo>
                    <a:pt x="1007363" y="0"/>
                  </a:moveTo>
                  <a:lnTo>
                    <a:pt x="0" y="0"/>
                  </a:lnTo>
                  <a:lnTo>
                    <a:pt x="0" y="431291"/>
                  </a:lnTo>
                  <a:lnTo>
                    <a:pt x="1007363" y="431291"/>
                  </a:lnTo>
                  <a:lnTo>
                    <a:pt x="1007363" y="0"/>
                  </a:lnTo>
                  <a:close/>
                </a:path>
              </a:pathLst>
            </a:custGeom>
            <a:solidFill>
              <a:srgbClr val="FFFFFF"/>
            </a:solidFill>
          </p:spPr>
          <p:txBody>
            <a:bodyPr wrap="square" lIns="0" tIns="0" rIns="0" bIns="0" rtlCol="0"/>
            <a:lstStyle/>
            <a:p>
              <a:endParaRPr/>
            </a:p>
          </p:txBody>
        </p:sp>
        <p:sp>
          <p:nvSpPr>
            <p:cNvPr id="6" name="object 6"/>
            <p:cNvSpPr/>
            <p:nvPr/>
          </p:nvSpPr>
          <p:spPr>
            <a:xfrm>
              <a:off x="2125218" y="1133093"/>
              <a:ext cx="1007744" cy="431800"/>
            </a:xfrm>
            <a:custGeom>
              <a:avLst/>
              <a:gdLst/>
              <a:ahLst/>
              <a:cxnLst/>
              <a:rect l="l" t="t" r="r" b="b"/>
              <a:pathLst>
                <a:path w="1007744" h="431800">
                  <a:moveTo>
                    <a:pt x="0" y="431291"/>
                  </a:moveTo>
                  <a:lnTo>
                    <a:pt x="1007363" y="431291"/>
                  </a:lnTo>
                  <a:lnTo>
                    <a:pt x="1007363" y="0"/>
                  </a:lnTo>
                  <a:lnTo>
                    <a:pt x="0" y="0"/>
                  </a:lnTo>
                  <a:lnTo>
                    <a:pt x="0" y="431291"/>
                  </a:lnTo>
                  <a:close/>
                </a:path>
              </a:pathLst>
            </a:custGeom>
            <a:ln w="25908">
              <a:solidFill>
                <a:srgbClr val="FFFFFF"/>
              </a:solidFill>
            </a:ln>
          </p:spPr>
          <p:txBody>
            <a:bodyPr wrap="square" lIns="0" tIns="0" rIns="0" bIns="0" rtlCol="0"/>
            <a:lstStyle/>
            <a:p>
              <a:endParaRPr/>
            </a:p>
          </p:txBody>
        </p:sp>
      </p:grpSp>
      <p:sp>
        <p:nvSpPr>
          <p:cNvPr id="7" name="object 7"/>
          <p:cNvSpPr txBox="1"/>
          <p:nvPr/>
        </p:nvSpPr>
        <p:spPr>
          <a:xfrm>
            <a:off x="2779014" y="4470603"/>
            <a:ext cx="5026660" cy="177800"/>
          </a:xfrm>
          <a:prstGeom prst="rect">
            <a:avLst/>
          </a:prstGeom>
        </p:spPr>
        <p:txBody>
          <a:bodyPr vert="horz" wrap="square" lIns="0" tIns="12065" rIns="0" bIns="0" rtlCol="0">
            <a:spAutoFit/>
          </a:bodyPr>
          <a:lstStyle/>
          <a:p>
            <a:pPr marL="12700">
              <a:lnSpc>
                <a:spcPct val="100000"/>
              </a:lnSpc>
              <a:spcBef>
                <a:spcPts val="95"/>
              </a:spcBef>
            </a:pPr>
            <a:r>
              <a:rPr sz="1000" u="sng" spc="-5" dirty="0">
                <a:solidFill>
                  <a:srgbClr val="0000FF"/>
                </a:solidFill>
                <a:uFill>
                  <a:solidFill>
                    <a:srgbClr val="0000FF"/>
                  </a:solidFill>
                </a:uFill>
                <a:latin typeface="Carlito"/>
                <a:cs typeface="Carlito"/>
                <a:hlinkClick r:id="rId3"/>
              </a:rPr>
              <a:t>https://stepupanalytics.com/difference-between-k-means-clustering-and-hierarchical-clustering/</a:t>
            </a:r>
            <a:endParaRPr sz="1000">
              <a:latin typeface="Carlito"/>
              <a:cs typeface="Carlito"/>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35</a:t>
            </a:fld>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95BD9-C0E6-1475-E9FB-E4A745643AB0}"/>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3E82AB8D-118E-2F9B-0EDB-05882EABF8B2}"/>
              </a:ext>
            </a:extLst>
          </p:cNvPr>
          <p:cNvPicPr>
            <a:picLocks noChangeAspect="1"/>
          </p:cNvPicPr>
          <p:nvPr/>
        </p:nvPicPr>
        <p:blipFill>
          <a:blip r:embed="rId2"/>
          <a:stretch>
            <a:fillRect/>
          </a:stretch>
        </p:blipFill>
        <p:spPr>
          <a:xfrm>
            <a:off x="2398690" y="0"/>
            <a:ext cx="4346620" cy="5143500"/>
          </a:xfrm>
          <a:prstGeom prst="rect">
            <a:avLst/>
          </a:prstGeom>
        </p:spPr>
      </p:pic>
    </p:spTree>
    <p:extLst>
      <p:ext uri="{BB962C8B-B14F-4D97-AF65-F5344CB8AC3E}">
        <p14:creationId xmlns:p14="http://schemas.microsoft.com/office/powerpoint/2010/main" val="6620360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48636" y="250316"/>
            <a:ext cx="5045075" cy="696595"/>
          </a:xfrm>
          <a:prstGeom prst="rect">
            <a:avLst/>
          </a:prstGeom>
        </p:spPr>
        <p:txBody>
          <a:bodyPr vert="horz" wrap="square" lIns="0" tIns="13335" rIns="0" bIns="0" rtlCol="0">
            <a:spAutoFit/>
          </a:bodyPr>
          <a:lstStyle/>
          <a:p>
            <a:pPr marL="12700">
              <a:lnSpc>
                <a:spcPct val="100000"/>
              </a:lnSpc>
              <a:spcBef>
                <a:spcPts val="105"/>
              </a:spcBef>
            </a:pPr>
            <a:r>
              <a:rPr sz="4400" spc="-20" dirty="0"/>
              <a:t>Hierarchical</a:t>
            </a:r>
            <a:r>
              <a:rPr sz="4400" spc="-40" dirty="0"/>
              <a:t> </a:t>
            </a:r>
            <a:r>
              <a:rPr sz="4400" spc="-10" dirty="0"/>
              <a:t>clustering</a:t>
            </a:r>
            <a:endParaRPr sz="44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37</a:t>
            </a:fld>
            <a:endParaRPr dirty="0"/>
          </a:p>
        </p:txBody>
      </p:sp>
      <p:sp>
        <p:nvSpPr>
          <p:cNvPr id="3" name="object 3"/>
          <p:cNvSpPr txBox="1"/>
          <p:nvPr/>
        </p:nvSpPr>
        <p:spPr>
          <a:xfrm>
            <a:off x="535940" y="1096533"/>
            <a:ext cx="6958965" cy="1379220"/>
          </a:xfrm>
          <a:prstGeom prst="rect">
            <a:avLst/>
          </a:prstGeom>
        </p:spPr>
        <p:txBody>
          <a:bodyPr vert="horz" wrap="square" lIns="0" tIns="103505" rIns="0" bIns="0" rtlCol="0">
            <a:spAutoFit/>
          </a:bodyPr>
          <a:lstStyle/>
          <a:p>
            <a:pPr marL="12700">
              <a:lnSpc>
                <a:spcPct val="100000"/>
              </a:lnSpc>
              <a:spcBef>
                <a:spcPts val="815"/>
              </a:spcBef>
            </a:pPr>
            <a:r>
              <a:rPr sz="2400" b="1" spc="-15" dirty="0">
                <a:latin typeface="Carlito"/>
                <a:cs typeface="Carlito"/>
              </a:rPr>
              <a:t>Advantages</a:t>
            </a:r>
            <a:endParaRPr sz="2400">
              <a:latin typeface="Carlito"/>
              <a:cs typeface="Carlito"/>
            </a:endParaRPr>
          </a:p>
          <a:p>
            <a:pPr marL="355600" indent="-342900">
              <a:lnSpc>
                <a:spcPct val="100000"/>
              </a:lnSpc>
              <a:spcBef>
                <a:spcPts val="720"/>
              </a:spcBef>
              <a:buFont typeface="Arial"/>
              <a:buChar char="•"/>
              <a:tabLst>
                <a:tab pos="354965" algn="l"/>
                <a:tab pos="355600" algn="l"/>
              </a:tabLst>
            </a:pPr>
            <a:r>
              <a:rPr sz="2400" spc="-10" dirty="0">
                <a:latin typeface="Carlito"/>
                <a:cs typeface="Carlito"/>
              </a:rPr>
              <a:t>Ease </a:t>
            </a:r>
            <a:r>
              <a:rPr sz="2400" spc="-5" dirty="0">
                <a:latin typeface="Carlito"/>
                <a:cs typeface="Carlito"/>
              </a:rPr>
              <a:t>of handling of </a:t>
            </a:r>
            <a:r>
              <a:rPr sz="2400" spc="-20" dirty="0">
                <a:latin typeface="Carlito"/>
                <a:cs typeface="Carlito"/>
              </a:rPr>
              <a:t>any </a:t>
            </a:r>
            <a:r>
              <a:rPr sz="2400" spc="-15" dirty="0">
                <a:latin typeface="Carlito"/>
                <a:cs typeface="Carlito"/>
              </a:rPr>
              <a:t>forms </a:t>
            </a:r>
            <a:r>
              <a:rPr sz="2400" spc="-5" dirty="0">
                <a:latin typeface="Carlito"/>
                <a:cs typeface="Carlito"/>
              </a:rPr>
              <a:t>of similarity or</a:t>
            </a:r>
            <a:r>
              <a:rPr sz="2400" spc="-40" dirty="0">
                <a:latin typeface="Carlito"/>
                <a:cs typeface="Carlito"/>
              </a:rPr>
              <a:t> </a:t>
            </a:r>
            <a:r>
              <a:rPr sz="2400" spc="-10" dirty="0">
                <a:latin typeface="Carlito"/>
                <a:cs typeface="Carlito"/>
              </a:rPr>
              <a:t>distance</a:t>
            </a:r>
            <a:endParaRPr sz="2400">
              <a:latin typeface="Carlito"/>
              <a:cs typeface="Carlito"/>
            </a:endParaRPr>
          </a:p>
          <a:p>
            <a:pPr marL="355600" indent="-342900">
              <a:lnSpc>
                <a:spcPct val="100000"/>
              </a:lnSpc>
              <a:spcBef>
                <a:spcPts val="580"/>
              </a:spcBef>
              <a:buFont typeface="Arial"/>
              <a:buChar char="•"/>
              <a:tabLst>
                <a:tab pos="354965" algn="l"/>
                <a:tab pos="355600" algn="l"/>
              </a:tabLst>
            </a:pPr>
            <a:r>
              <a:rPr sz="2400" spc="-20" dirty="0">
                <a:latin typeface="Carlito"/>
                <a:cs typeface="Carlito"/>
              </a:rPr>
              <a:t>Consequently, </a:t>
            </a:r>
            <a:r>
              <a:rPr sz="2400" spc="-5" dirty="0">
                <a:latin typeface="Carlito"/>
                <a:cs typeface="Carlito"/>
              </a:rPr>
              <a:t>applicability </a:t>
            </a:r>
            <a:r>
              <a:rPr sz="2400" spc="-15" dirty="0">
                <a:latin typeface="Carlito"/>
                <a:cs typeface="Carlito"/>
              </a:rPr>
              <a:t>to </a:t>
            </a:r>
            <a:r>
              <a:rPr sz="2400" spc="-20" dirty="0">
                <a:latin typeface="Carlito"/>
                <a:cs typeface="Carlito"/>
              </a:rPr>
              <a:t>any </a:t>
            </a:r>
            <a:r>
              <a:rPr sz="2400" spc="-10" dirty="0">
                <a:latin typeface="Carlito"/>
                <a:cs typeface="Carlito"/>
              </a:rPr>
              <a:t>attributes</a:t>
            </a:r>
            <a:r>
              <a:rPr sz="2400" spc="10" dirty="0">
                <a:latin typeface="Carlito"/>
                <a:cs typeface="Carlito"/>
              </a:rPr>
              <a:t> </a:t>
            </a:r>
            <a:r>
              <a:rPr sz="2400" dirty="0">
                <a:latin typeface="Carlito"/>
                <a:cs typeface="Carlito"/>
              </a:rPr>
              <a:t>types</a:t>
            </a:r>
            <a:endParaRPr sz="2400">
              <a:latin typeface="Carlito"/>
              <a:cs typeface="Carlito"/>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56613" y="385953"/>
            <a:ext cx="5430520" cy="452120"/>
          </a:xfrm>
          <a:prstGeom prst="rect">
            <a:avLst/>
          </a:prstGeom>
        </p:spPr>
        <p:txBody>
          <a:bodyPr vert="horz" wrap="square" lIns="0" tIns="12065" rIns="0" bIns="0" rtlCol="0">
            <a:spAutoFit/>
          </a:bodyPr>
          <a:lstStyle/>
          <a:p>
            <a:pPr marL="12700">
              <a:lnSpc>
                <a:spcPct val="100000"/>
              </a:lnSpc>
              <a:spcBef>
                <a:spcPts val="95"/>
              </a:spcBef>
            </a:pPr>
            <a:r>
              <a:rPr sz="2800" b="1" spc="-10" dirty="0">
                <a:solidFill>
                  <a:srgbClr val="0000FF"/>
                </a:solidFill>
                <a:latin typeface="Carlito"/>
                <a:cs typeface="Carlito"/>
              </a:rPr>
              <a:t>Limitations </a:t>
            </a:r>
            <a:r>
              <a:rPr sz="2800" b="1" spc="-5" dirty="0">
                <a:solidFill>
                  <a:srgbClr val="0000FF"/>
                </a:solidFill>
                <a:latin typeface="Carlito"/>
                <a:cs typeface="Carlito"/>
              </a:rPr>
              <a:t>of </a:t>
            </a:r>
            <a:r>
              <a:rPr sz="2800" b="1" spc="-15" dirty="0">
                <a:solidFill>
                  <a:srgbClr val="0000FF"/>
                </a:solidFill>
                <a:latin typeface="Carlito"/>
                <a:cs typeface="Carlito"/>
              </a:rPr>
              <a:t>Hierarchical</a:t>
            </a:r>
            <a:r>
              <a:rPr sz="2800" b="1" spc="55" dirty="0">
                <a:solidFill>
                  <a:srgbClr val="0000FF"/>
                </a:solidFill>
                <a:latin typeface="Carlito"/>
                <a:cs typeface="Carlito"/>
              </a:rPr>
              <a:t> </a:t>
            </a:r>
            <a:r>
              <a:rPr sz="2800" b="1" spc="-15" dirty="0">
                <a:solidFill>
                  <a:srgbClr val="0000FF"/>
                </a:solidFill>
                <a:latin typeface="Carlito"/>
                <a:cs typeface="Carlito"/>
              </a:rPr>
              <a:t>Clustering</a:t>
            </a:r>
            <a:endParaRPr sz="2800">
              <a:latin typeface="Carlito"/>
              <a:cs typeface="Carlito"/>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38</a:t>
            </a:fld>
            <a:endParaRPr dirty="0"/>
          </a:p>
        </p:txBody>
      </p:sp>
      <p:sp>
        <p:nvSpPr>
          <p:cNvPr id="3" name="object 3"/>
          <p:cNvSpPr txBox="1"/>
          <p:nvPr/>
        </p:nvSpPr>
        <p:spPr>
          <a:xfrm>
            <a:off x="535940" y="1216913"/>
            <a:ext cx="7919720" cy="2282190"/>
          </a:xfrm>
          <a:prstGeom prst="rect">
            <a:avLst/>
          </a:prstGeom>
        </p:spPr>
        <p:txBody>
          <a:bodyPr vert="horz" wrap="square" lIns="0" tIns="13335" rIns="0" bIns="0" rtlCol="0">
            <a:spAutoFit/>
          </a:bodyPr>
          <a:lstStyle/>
          <a:p>
            <a:pPr marL="355600" marR="226695" indent="-342900">
              <a:lnSpc>
                <a:spcPct val="100000"/>
              </a:lnSpc>
              <a:spcBef>
                <a:spcPts val="105"/>
              </a:spcBef>
              <a:buFont typeface="Arial"/>
              <a:buChar char="•"/>
              <a:tabLst>
                <a:tab pos="354965" algn="l"/>
                <a:tab pos="355600" algn="l"/>
              </a:tabLst>
            </a:pPr>
            <a:r>
              <a:rPr sz="2000" spc="-10" dirty="0">
                <a:latin typeface="Carlito"/>
                <a:cs typeface="Carlito"/>
              </a:rPr>
              <a:t>Hierarchical </a:t>
            </a:r>
            <a:r>
              <a:rPr sz="2000" spc="-5" dirty="0">
                <a:latin typeface="Carlito"/>
                <a:cs typeface="Carlito"/>
              </a:rPr>
              <a:t>clustering </a:t>
            </a:r>
            <a:r>
              <a:rPr sz="2000" spc="-10" dirty="0">
                <a:latin typeface="Carlito"/>
                <a:cs typeface="Carlito"/>
              </a:rPr>
              <a:t>requires </a:t>
            </a:r>
            <a:r>
              <a:rPr sz="2000" dirty="0">
                <a:latin typeface="Carlito"/>
                <a:cs typeface="Carlito"/>
              </a:rPr>
              <a:t>the </a:t>
            </a:r>
            <a:r>
              <a:rPr sz="2000" spc="-5" dirty="0">
                <a:latin typeface="Carlito"/>
                <a:cs typeface="Carlito"/>
              </a:rPr>
              <a:t>computation </a:t>
            </a:r>
            <a:r>
              <a:rPr sz="2000" dirty="0">
                <a:latin typeface="Carlito"/>
                <a:cs typeface="Carlito"/>
              </a:rPr>
              <a:t>and </a:t>
            </a:r>
            <a:r>
              <a:rPr sz="2000" spc="-15" dirty="0">
                <a:solidFill>
                  <a:srgbClr val="FF0000"/>
                </a:solidFill>
                <a:latin typeface="Carlito"/>
                <a:cs typeface="Carlito"/>
              </a:rPr>
              <a:t>storage </a:t>
            </a:r>
            <a:r>
              <a:rPr sz="2000" spc="-5" dirty="0">
                <a:solidFill>
                  <a:srgbClr val="FF0000"/>
                </a:solidFill>
                <a:latin typeface="Carlito"/>
                <a:cs typeface="Carlito"/>
              </a:rPr>
              <a:t>of </a:t>
            </a:r>
            <a:r>
              <a:rPr sz="2000" dirty="0">
                <a:solidFill>
                  <a:srgbClr val="FF0000"/>
                </a:solidFill>
                <a:latin typeface="Carlito"/>
                <a:cs typeface="Carlito"/>
              </a:rPr>
              <a:t>an n×n  </a:t>
            </a:r>
            <a:r>
              <a:rPr sz="2000" spc="-10" dirty="0">
                <a:solidFill>
                  <a:srgbClr val="FF0000"/>
                </a:solidFill>
                <a:latin typeface="Carlito"/>
                <a:cs typeface="Carlito"/>
              </a:rPr>
              <a:t>distance </a:t>
            </a:r>
            <a:r>
              <a:rPr sz="2000" spc="-5" dirty="0">
                <a:solidFill>
                  <a:srgbClr val="FF0000"/>
                </a:solidFill>
                <a:latin typeface="Carlito"/>
                <a:cs typeface="Carlito"/>
              </a:rPr>
              <a:t>matrix. </a:t>
            </a:r>
            <a:r>
              <a:rPr sz="2000" spc="-10" dirty="0">
                <a:latin typeface="Carlito"/>
                <a:cs typeface="Carlito"/>
              </a:rPr>
              <a:t>For very large datasets, </a:t>
            </a:r>
            <a:r>
              <a:rPr sz="2000" dirty="0">
                <a:latin typeface="Carlito"/>
                <a:cs typeface="Carlito"/>
              </a:rPr>
              <a:t>this </a:t>
            </a:r>
            <a:r>
              <a:rPr sz="2000" spc="-5" dirty="0">
                <a:latin typeface="Carlito"/>
                <a:cs typeface="Carlito"/>
              </a:rPr>
              <a:t>can be </a:t>
            </a:r>
            <a:r>
              <a:rPr sz="2000" spc="-10" dirty="0">
                <a:latin typeface="Carlito"/>
                <a:cs typeface="Carlito"/>
              </a:rPr>
              <a:t>expensive </a:t>
            </a:r>
            <a:r>
              <a:rPr sz="2000" dirty="0">
                <a:latin typeface="Carlito"/>
                <a:cs typeface="Carlito"/>
              </a:rPr>
              <a:t>and</a:t>
            </a:r>
            <a:r>
              <a:rPr sz="2000" spc="160" dirty="0">
                <a:latin typeface="Carlito"/>
                <a:cs typeface="Carlito"/>
              </a:rPr>
              <a:t> </a:t>
            </a:r>
            <a:r>
              <a:rPr sz="2000" spc="-10" dirty="0">
                <a:latin typeface="Carlito"/>
                <a:cs typeface="Carlito"/>
              </a:rPr>
              <a:t>slow</a:t>
            </a:r>
            <a:endParaRPr sz="2000" dirty="0">
              <a:latin typeface="Carlito"/>
              <a:cs typeface="Carlito"/>
            </a:endParaRPr>
          </a:p>
          <a:p>
            <a:pPr marL="355600" marR="345440" indent="-342900">
              <a:lnSpc>
                <a:spcPct val="100000"/>
              </a:lnSpc>
              <a:spcBef>
                <a:spcPts val="480"/>
              </a:spcBef>
              <a:buFont typeface="Arial"/>
              <a:buChar char="•"/>
              <a:tabLst>
                <a:tab pos="354965" algn="l"/>
                <a:tab pos="355600" algn="l"/>
              </a:tabLst>
            </a:pPr>
            <a:r>
              <a:rPr sz="2000" spc="-5" dirty="0">
                <a:solidFill>
                  <a:srgbClr val="FF0000"/>
                </a:solidFill>
                <a:latin typeface="Carlito"/>
                <a:cs typeface="Carlito"/>
              </a:rPr>
              <a:t>The </a:t>
            </a:r>
            <a:r>
              <a:rPr sz="2000" spc="-10" dirty="0">
                <a:solidFill>
                  <a:srgbClr val="FF0000"/>
                </a:solidFill>
                <a:latin typeface="Carlito"/>
                <a:cs typeface="Carlito"/>
              </a:rPr>
              <a:t>hierarchical </a:t>
            </a:r>
            <a:r>
              <a:rPr sz="2000" spc="-5" dirty="0">
                <a:solidFill>
                  <a:srgbClr val="FF0000"/>
                </a:solidFill>
                <a:latin typeface="Carlito"/>
                <a:cs typeface="Carlito"/>
              </a:rPr>
              <a:t>algorithm </a:t>
            </a:r>
            <a:r>
              <a:rPr sz="2000" spc="-15" dirty="0">
                <a:solidFill>
                  <a:srgbClr val="FF0000"/>
                </a:solidFill>
                <a:latin typeface="Carlito"/>
                <a:cs typeface="Carlito"/>
              </a:rPr>
              <a:t>makes </a:t>
            </a:r>
            <a:r>
              <a:rPr sz="2000" spc="-5" dirty="0">
                <a:solidFill>
                  <a:srgbClr val="FF0000"/>
                </a:solidFill>
                <a:latin typeface="Carlito"/>
                <a:cs typeface="Carlito"/>
              </a:rPr>
              <a:t>only one pass through </a:t>
            </a:r>
            <a:r>
              <a:rPr sz="2000" dirty="0">
                <a:solidFill>
                  <a:srgbClr val="FF0000"/>
                </a:solidFill>
                <a:latin typeface="Carlito"/>
                <a:cs typeface="Carlito"/>
              </a:rPr>
              <a:t>the </a:t>
            </a:r>
            <a:r>
              <a:rPr sz="2000" spc="-10" dirty="0">
                <a:solidFill>
                  <a:srgbClr val="FF0000"/>
                </a:solidFill>
                <a:latin typeface="Carlito"/>
                <a:cs typeface="Carlito"/>
              </a:rPr>
              <a:t>data. </a:t>
            </a:r>
            <a:r>
              <a:rPr sz="2000" spc="-5" dirty="0">
                <a:latin typeface="Carlito"/>
                <a:cs typeface="Carlito"/>
              </a:rPr>
              <a:t>This  </a:t>
            </a:r>
            <a:r>
              <a:rPr sz="2000" dirty="0">
                <a:latin typeface="Carlito"/>
                <a:cs typeface="Carlito"/>
              </a:rPr>
              <a:t>means </a:t>
            </a:r>
            <a:r>
              <a:rPr sz="2000" spc="-5" dirty="0">
                <a:latin typeface="Carlito"/>
                <a:cs typeface="Carlito"/>
              </a:rPr>
              <a:t>that </a:t>
            </a:r>
            <a:r>
              <a:rPr sz="2000" spc="-10" dirty="0">
                <a:latin typeface="Carlito"/>
                <a:cs typeface="Carlito"/>
              </a:rPr>
              <a:t>records </a:t>
            </a:r>
            <a:r>
              <a:rPr sz="2000" spc="-5" dirty="0">
                <a:latin typeface="Carlito"/>
                <a:cs typeface="Carlito"/>
              </a:rPr>
              <a:t>that </a:t>
            </a:r>
            <a:r>
              <a:rPr sz="2000" spc="-10" dirty="0">
                <a:latin typeface="Carlito"/>
                <a:cs typeface="Carlito"/>
              </a:rPr>
              <a:t>are allocated </a:t>
            </a:r>
            <a:r>
              <a:rPr sz="2000" spc="-5" dirty="0">
                <a:latin typeface="Carlito"/>
                <a:cs typeface="Carlito"/>
              </a:rPr>
              <a:t>incorrectly early </a:t>
            </a:r>
            <a:r>
              <a:rPr sz="2000" dirty="0">
                <a:latin typeface="Carlito"/>
                <a:cs typeface="Carlito"/>
              </a:rPr>
              <a:t>in the </a:t>
            </a:r>
            <a:r>
              <a:rPr sz="2000" spc="-5" dirty="0">
                <a:latin typeface="Carlito"/>
                <a:cs typeface="Carlito"/>
              </a:rPr>
              <a:t>process  cannot </a:t>
            </a:r>
            <a:r>
              <a:rPr sz="2000" dirty="0">
                <a:latin typeface="Carlito"/>
                <a:cs typeface="Carlito"/>
              </a:rPr>
              <a:t>be </a:t>
            </a:r>
            <a:r>
              <a:rPr sz="2000" spc="-10" dirty="0">
                <a:latin typeface="Carlito"/>
                <a:cs typeface="Carlito"/>
              </a:rPr>
              <a:t>reallocated</a:t>
            </a:r>
            <a:r>
              <a:rPr sz="2000" spc="-15" dirty="0">
                <a:latin typeface="Carlito"/>
                <a:cs typeface="Carlito"/>
              </a:rPr>
              <a:t> </a:t>
            </a:r>
            <a:r>
              <a:rPr sz="2000" spc="-5" dirty="0">
                <a:latin typeface="Carlito"/>
                <a:cs typeface="Carlito"/>
              </a:rPr>
              <a:t>subsequently</a:t>
            </a:r>
            <a:endParaRPr sz="2000" dirty="0">
              <a:latin typeface="Carlito"/>
              <a:cs typeface="Carlito"/>
            </a:endParaRPr>
          </a:p>
          <a:p>
            <a:pPr marL="355600" indent="-342900">
              <a:lnSpc>
                <a:spcPct val="100000"/>
              </a:lnSpc>
              <a:spcBef>
                <a:spcPts val="480"/>
              </a:spcBef>
              <a:buFont typeface="Arial"/>
              <a:buChar char="•"/>
              <a:tabLst>
                <a:tab pos="354965" algn="l"/>
                <a:tab pos="355600" algn="l"/>
              </a:tabLst>
            </a:pPr>
            <a:r>
              <a:rPr sz="2000" spc="-10" dirty="0">
                <a:solidFill>
                  <a:srgbClr val="FF0000"/>
                </a:solidFill>
                <a:latin typeface="Carlito"/>
                <a:cs typeface="Carlito"/>
              </a:rPr>
              <a:t>Hierarchical </a:t>
            </a:r>
            <a:r>
              <a:rPr sz="2000" spc="-5" dirty="0">
                <a:solidFill>
                  <a:srgbClr val="FF0000"/>
                </a:solidFill>
                <a:latin typeface="Carlito"/>
                <a:cs typeface="Carlito"/>
              </a:rPr>
              <a:t>clustering </a:t>
            </a:r>
            <a:r>
              <a:rPr sz="2000" dirty="0">
                <a:solidFill>
                  <a:srgbClr val="FF0000"/>
                </a:solidFill>
                <a:latin typeface="Carlito"/>
                <a:cs typeface="Carlito"/>
              </a:rPr>
              <a:t>also </a:t>
            </a:r>
            <a:r>
              <a:rPr sz="2000" spc="-5" dirty="0">
                <a:solidFill>
                  <a:srgbClr val="FF0000"/>
                </a:solidFill>
                <a:latin typeface="Carlito"/>
                <a:cs typeface="Carlito"/>
              </a:rPr>
              <a:t>tends </a:t>
            </a:r>
            <a:r>
              <a:rPr sz="2000" spc="-10" dirty="0">
                <a:solidFill>
                  <a:srgbClr val="FF0000"/>
                </a:solidFill>
                <a:latin typeface="Carlito"/>
                <a:cs typeface="Carlito"/>
              </a:rPr>
              <a:t>to </a:t>
            </a:r>
            <a:r>
              <a:rPr sz="2000" spc="-15" dirty="0">
                <a:solidFill>
                  <a:srgbClr val="FF0000"/>
                </a:solidFill>
                <a:latin typeface="Carlito"/>
                <a:cs typeface="Carlito"/>
              </a:rPr>
              <a:t>have </a:t>
            </a:r>
            <a:r>
              <a:rPr sz="2000" spc="-5" dirty="0">
                <a:solidFill>
                  <a:srgbClr val="FF0000"/>
                </a:solidFill>
                <a:latin typeface="Carlito"/>
                <a:cs typeface="Carlito"/>
              </a:rPr>
              <a:t>low </a:t>
            </a:r>
            <a:r>
              <a:rPr sz="2000" spc="-20" dirty="0">
                <a:solidFill>
                  <a:srgbClr val="FF0000"/>
                </a:solidFill>
                <a:latin typeface="Carlito"/>
                <a:cs typeface="Carlito"/>
              </a:rPr>
              <a:t>stability. </a:t>
            </a:r>
            <a:r>
              <a:rPr sz="2000" spc="-10" dirty="0">
                <a:latin typeface="Carlito"/>
                <a:cs typeface="Carlito"/>
              </a:rPr>
              <a:t>Reordering </a:t>
            </a:r>
            <a:r>
              <a:rPr sz="2000" spc="-15" dirty="0">
                <a:latin typeface="Carlito"/>
                <a:cs typeface="Carlito"/>
              </a:rPr>
              <a:t>data</a:t>
            </a:r>
            <a:r>
              <a:rPr sz="2000" spc="100" dirty="0">
                <a:latin typeface="Carlito"/>
                <a:cs typeface="Carlito"/>
              </a:rPr>
              <a:t> </a:t>
            </a:r>
            <a:r>
              <a:rPr sz="2000" spc="-5" dirty="0">
                <a:latin typeface="Carlito"/>
                <a:cs typeface="Carlito"/>
              </a:rPr>
              <a:t>or</a:t>
            </a:r>
            <a:endParaRPr sz="2000" dirty="0">
              <a:latin typeface="Carlito"/>
              <a:cs typeface="Carlito"/>
            </a:endParaRPr>
          </a:p>
          <a:p>
            <a:pPr marL="355600">
              <a:lnSpc>
                <a:spcPct val="100000"/>
              </a:lnSpc>
            </a:pPr>
            <a:r>
              <a:rPr sz="2000" spc="-5" dirty="0">
                <a:latin typeface="Carlito"/>
                <a:cs typeface="Carlito"/>
              </a:rPr>
              <a:t>dropping </a:t>
            </a:r>
            <a:r>
              <a:rPr sz="2000" dirty="0">
                <a:latin typeface="Carlito"/>
                <a:cs typeface="Carlito"/>
              </a:rPr>
              <a:t>a </a:t>
            </a:r>
            <a:r>
              <a:rPr sz="2000" spc="-20" dirty="0">
                <a:latin typeface="Carlito"/>
                <a:cs typeface="Carlito"/>
              </a:rPr>
              <a:t>few </a:t>
            </a:r>
            <a:r>
              <a:rPr sz="2000" spc="-10" dirty="0">
                <a:latin typeface="Carlito"/>
                <a:cs typeface="Carlito"/>
              </a:rPr>
              <a:t>records </a:t>
            </a:r>
            <a:r>
              <a:rPr sz="2000" spc="-5" dirty="0">
                <a:latin typeface="Carlito"/>
                <a:cs typeface="Carlito"/>
              </a:rPr>
              <a:t>can </a:t>
            </a:r>
            <a:r>
              <a:rPr sz="2000" dirty="0">
                <a:latin typeface="Carlito"/>
                <a:cs typeface="Carlito"/>
              </a:rPr>
              <a:t>lead </a:t>
            </a:r>
            <a:r>
              <a:rPr sz="2000" spc="-15" dirty="0">
                <a:latin typeface="Carlito"/>
                <a:cs typeface="Carlito"/>
              </a:rPr>
              <a:t>to </a:t>
            </a:r>
            <a:r>
              <a:rPr sz="2000" dirty="0">
                <a:latin typeface="Carlito"/>
                <a:cs typeface="Carlito"/>
              </a:rPr>
              <a:t>a </a:t>
            </a:r>
            <a:r>
              <a:rPr sz="2000" spc="-15" dirty="0">
                <a:latin typeface="Carlito"/>
                <a:cs typeface="Carlito"/>
              </a:rPr>
              <a:t>different</a:t>
            </a:r>
            <a:r>
              <a:rPr sz="2000" spc="-30" dirty="0">
                <a:latin typeface="Carlito"/>
                <a:cs typeface="Carlito"/>
              </a:rPr>
              <a:t> </a:t>
            </a:r>
            <a:r>
              <a:rPr sz="2000" spc="-5" dirty="0">
                <a:latin typeface="Carlito"/>
                <a:cs typeface="Carlito"/>
              </a:rPr>
              <a:t>solution</a:t>
            </a:r>
            <a:endParaRPr sz="2000" dirty="0">
              <a:latin typeface="Carlito"/>
              <a:cs typeface="Carlit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56613" y="385953"/>
            <a:ext cx="5430520" cy="452120"/>
          </a:xfrm>
          <a:prstGeom prst="rect">
            <a:avLst/>
          </a:prstGeom>
        </p:spPr>
        <p:txBody>
          <a:bodyPr vert="horz" wrap="square" lIns="0" tIns="12065" rIns="0" bIns="0" rtlCol="0">
            <a:spAutoFit/>
          </a:bodyPr>
          <a:lstStyle/>
          <a:p>
            <a:pPr marL="12700">
              <a:lnSpc>
                <a:spcPct val="100000"/>
              </a:lnSpc>
              <a:spcBef>
                <a:spcPts val="95"/>
              </a:spcBef>
            </a:pPr>
            <a:r>
              <a:rPr sz="2800" b="1" spc="-10" dirty="0">
                <a:solidFill>
                  <a:srgbClr val="0000FF"/>
                </a:solidFill>
                <a:latin typeface="Carlito"/>
                <a:cs typeface="Carlito"/>
              </a:rPr>
              <a:t>Limitations </a:t>
            </a:r>
            <a:r>
              <a:rPr sz="2800" b="1" spc="-5" dirty="0">
                <a:solidFill>
                  <a:srgbClr val="0000FF"/>
                </a:solidFill>
                <a:latin typeface="Carlito"/>
                <a:cs typeface="Carlito"/>
              </a:rPr>
              <a:t>of </a:t>
            </a:r>
            <a:r>
              <a:rPr sz="2800" b="1" spc="-15" dirty="0">
                <a:solidFill>
                  <a:srgbClr val="0000FF"/>
                </a:solidFill>
                <a:latin typeface="Carlito"/>
                <a:cs typeface="Carlito"/>
              </a:rPr>
              <a:t>Hierarchical</a:t>
            </a:r>
            <a:r>
              <a:rPr sz="2800" b="1" spc="55" dirty="0">
                <a:solidFill>
                  <a:srgbClr val="0000FF"/>
                </a:solidFill>
                <a:latin typeface="Carlito"/>
                <a:cs typeface="Carlito"/>
              </a:rPr>
              <a:t> </a:t>
            </a:r>
            <a:r>
              <a:rPr sz="2800" b="1" spc="-15" dirty="0">
                <a:solidFill>
                  <a:srgbClr val="0000FF"/>
                </a:solidFill>
                <a:latin typeface="Carlito"/>
                <a:cs typeface="Carlito"/>
              </a:rPr>
              <a:t>Clustering</a:t>
            </a:r>
            <a:endParaRPr sz="2800">
              <a:latin typeface="Carlito"/>
              <a:cs typeface="Carlito"/>
            </a:endParaRPr>
          </a:p>
        </p:txBody>
      </p:sp>
      <p:sp>
        <p:nvSpPr>
          <p:cNvPr id="3" name="object 3"/>
          <p:cNvSpPr txBox="1"/>
          <p:nvPr/>
        </p:nvSpPr>
        <p:spPr>
          <a:xfrm>
            <a:off x="535940" y="1081532"/>
            <a:ext cx="4417695" cy="3153410"/>
          </a:xfrm>
          <a:prstGeom prst="rect">
            <a:avLst/>
          </a:prstGeom>
        </p:spPr>
        <p:txBody>
          <a:bodyPr vert="horz" wrap="square" lIns="0" tIns="12700" rIns="0" bIns="0" rtlCol="0">
            <a:spAutoFit/>
          </a:bodyPr>
          <a:lstStyle/>
          <a:p>
            <a:pPr marL="355600" marR="108585" indent="-342900">
              <a:lnSpc>
                <a:spcPct val="100000"/>
              </a:lnSpc>
              <a:spcBef>
                <a:spcPts val="100"/>
              </a:spcBef>
              <a:buFont typeface="Arial"/>
              <a:buChar char="•"/>
              <a:tabLst>
                <a:tab pos="354965" algn="l"/>
                <a:tab pos="355600" algn="l"/>
              </a:tabLst>
            </a:pPr>
            <a:r>
              <a:rPr sz="1800" spc="-5" dirty="0">
                <a:latin typeface="Carlito"/>
                <a:cs typeface="Carlito"/>
              </a:rPr>
              <a:t>With </a:t>
            </a:r>
            <a:r>
              <a:rPr sz="1800" spc="-10" dirty="0">
                <a:latin typeface="Carlito"/>
                <a:cs typeface="Carlito"/>
              </a:rPr>
              <a:t>respect to </a:t>
            </a:r>
            <a:r>
              <a:rPr sz="1800" dirty="0">
                <a:latin typeface="Carlito"/>
                <a:cs typeface="Carlito"/>
              </a:rPr>
              <a:t>the </a:t>
            </a:r>
            <a:r>
              <a:rPr sz="1800" spc="-5" dirty="0">
                <a:latin typeface="Carlito"/>
                <a:cs typeface="Carlito"/>
              </a:rPr>
              <a:t>choice of </a:t>
            </a:r>
            <a:r>
              <a:rPr sz="1800" spc="-10" dirty="0">
                <a:latin typeface="Carlito"/>
                <a:cs typeface="Carlito"/>
              </a:rPr>
              <a:t>distance  </a:t>
            </a:r>
            <a:r>
              <a:rPr sz="1800" spc="-5" dirty="0">
                <a:latin typeface="Carlito"/>
                <a:cs typeface="Carlito"/>
              </a:rPr>
              <a:t>between </a:t>
            </a:r>
            <a:r>
              <a:rPr sz="1800" spc="-15" dirty="0">
                <a:latin typeface="Carlito"/>
                <a:cs typeface="Carlito"/>
              </a:rPr>
              <a:t>clusters, </a:t>
            </a:r>
            <a:r>
              <a:rPr sz="1800" spc="-5" dirty="0">
                <a:solidFill>
                  <a:srgbClr val="C00000"/>
                </a:solidFill>
                <a:latin typeface="Carlito"/>
                <a:cs typeface="Carlito"/>
              </a:rPr>
              <a:t>single </a:t>
            </a:r>
            <a:r>
              <a:rPr sz="1800" dirty="0">
                <a:solidFill>
                  <a:srgbClr val="C00000"/>
                </a:solidFill>
                <a:latin typeface="Carlito"/>
                <a:cs typeface="Carlito"/>
              </a:rPr>
              <a:t>and </a:t>
            </a:r>
            <a:r>
              <a:rPr sz="1800" spc="-15" dirty="0">
                <a:solidFill>
                  <a:srgbClr val="C00000"/>
                </a:solidFill>
                <a:latin typeface="Carlito"/>
                <a:cs typeface="Carlito"/>
              </a:rPr>
              <a:t>complete  </a:t>
            </a:r>
            <a:r>
              <a:rPr sz="1800" spc="-10" dirty="0">
                <a:solidFill>
                  <a:srgbClr val="C00000"/>
                </a:solidFill>
                <a:latin typeface="Carlito"/>
                <a:cs typeface="Carlito"/>
              </a:rPr>
              <a:t>linkage are robust to </a:t>
            </a:r>
            <a:r>
              <a:rPr sz="1800" spc="-5" dirty="0">
                <a:solidFill>
                  <a:srgbClr val="C00000"/>
                </a:solidFill>
                <a:latin typeface="Carlito"/>
                <a:cs typeface="Carlito"/>
              </a:rPr>
              <a:t>changes </a:t>
            </a:r>
            <a:r>
              <a:rPr sz="1800" dirty="0">
                <a:solidFill>
                  <a:srgbClr val="C00000"/>
                </a:solidFill>
                <a:latin typeface="Carlito"/>
                <a:cs typeface="Carlito"/>
              </a:rPr>
              <a:t>in the  </a:t>
            </a:r>
            <a:r>
              <a:rPr sz="1800" spc="-10" dirty="0">
                <a:solidFill>
                  <a:srgbClr val="C00000"/>
                </a:solidFill>
                <a:latin typeface="Carlito"/>
                <a:cs typeface="Carlito"/>
              </a:rPr>
              <a:t>distance </a:t>
            </a:r>
            <a:r>
              <a:rPr sz="1800" spc="-5" dirty="0">
                <a:solidFill>
                  <a:srgbClr val="C00000"/>
                </a:solidFill>
                <a:latin typeface="Carlito"/>
                <a:cs typeface="Carlito"/>
              </a:rPr>
              <a:t>metric</a:t>
            </a:r>
            <a:r>
              <a:rPr sz="1800" spc="-5" dirty="0">
                <a:latin typeface="Carlito"/>
                <a:cs typeface="Carlito"/>
              </a:rPr>
              <a:t> </a:t>
            </a:r>
            <a:r>
              <a:rPr sz="1800" dirty="0">
                <a:latin typeface="Carlito"/>
                <a:cs typeface="Carlito"/>
              </a:rPr>
              <a:t>(e.g., </a:t>
            </a:r>
            <a:r>
              <a:rPr sz="1800" spc="-5" dirty="0">
                <a:latin typeface="Carlito"/>
                <a:cs typeface="Carlito"/>
              </a:rPr>
              <a:t>Euclidean, </a:t>
            </a:r>
            <a:r>
              <a:rPr sz="1800" spc="-15" dirty="0">
                <a:latin typeface="Carlito"/>
                <a:cs typeface="Carlito"/>
              </a:rPr>
              <a:t>statistical  </a:t>
            </a:r>
            <a:r>
              <a:rPr sz="1800" spc="-10" dirty="0">
                <a:latin typeface="Carlito"/>
                <a:cs typeface="Carlito"/>
              </a:rPr>
              <a:t>distance) </a:t>
            </a:r>
            <a:r>
              <a:rPr sz="1800" dirty="0">
                <a:latin typeface="Carlito"/>
                <a:cs typeface="Carlito"/>
              </a:rPr>
              <a:t>as </a:t>
            </a:r>
            <a:r>
              <a:rPr sz="1800" spc="-5" dirty="0">
                <a:latin typeface="Carlito"/>
                <a:cs typeface="Carlito"/>
              </a:rPr>
              <a:t>long </a:t>
            </a:r>
            <a:r>
              <a:rPr sz="1800" dirty="0">
                <a:latin typeface="Carlito"/>
                <a:cs typeface="Carlito"/>
              </a:rPr>
              <a:t>as the </a:t>
            </a:r>
            <a:r>
              <a:rPr sz="1800" spc="-10" dirty="0">
                <a:latin typeface="Carlito"/>
                <a:cs typeface="Carlito"/>
              </a:rPr>
              <a:t>relative ordering </a:t>
            </a:r>
            <a:r>
              <a:rPr sz="1800" spc="-5" dirty="0">
                <a:latin typeface="Carlito"/>
                <a:cs typeface="Carlito"/>
              </a:rPr>
              <a:t>is  </a:t>
            </a:r>
            <a:r>
              <a:rPr sz="1800" spc="-15" dirty="0">
                <a:latin typeface="Carlito"/>
                <a:cs typeface="Carlito"/>
              </a:rPr>
              <a:t>kept.</a:t>
            </a:r>
            <a:endParaRPr sz="1800" dirty="0">
              <a:latin typeface="Carlito"/>
              <a:cs typeface="Carlito"/>
            </a:endParaRPr>
          </a:p>
          <a:p>
            <a:pPr marL="355600" marR="5080" indent="-342900">
              <a:lnSpc>
                <a:spcPct val="100000"/>
              </a:lnSpc>
              <a:spcBef>
                <a:spcPts val="434"/>
              </a:spcBef>
              <a:buFont typeface="Arial"/>
              <a:buChar char="•"/>
              <a:tabLst>
                <a:tab pos="354965" algn="l"/>
                <a:tab pos="355600" algn="l"/>
              </a:tabLst>
            </a:pPr>
            <a:r>
              <a:rPr sz="1800" dirty="0">
                <a:latin typeface="Carlito"/>
                <a:cs typeface="Carlito"/>
              </a:rPr>
              <a:t>In </a:t>
            </a:r>
            <a:r>
              <a:rPr sz="1800" spc="-15" dirty="0">
                <a:latin typeface="Carlito"/>
                <a:cs typeface="Carlito"/>
              </a:rPr>
              <a:t>contrast, </a:t>
            </a:r>
            <a:r>
              <a:rPr sz="1800" spc="-15" dirty="0">
                <a:solidFill>
                  <a:srgbClr val="C00000"/>
                </a:solidFill>
                <a:latin typeface="Carlito"/>
                <a:cs typeface="Carlito"/>
              </a:rPr>
              <a:t>average </a:t>
            </a:r>
            <a:r>
              <a:rPr sz="1800" spc="-10" dirty="0">
                <a:solidFill>
                  <a:srgbClr val="C00000"/>
                </a:solidFill>
                <a:latin typeface="Carlito"/>
                <a:cs typeface="Carlito"/>
              </a:rPr>
              <a:t>linkage </a:t>
            </a:r>
            <a:r>
              <a:rPr sz="1800" spc="-5" dirty="0">
                <a:solidFill>
                  <a:srgbClr val="C00000"/>
                </a:solidFill>
                <a:latin typeface="Carlito"/>
                <a:cs typeface="Carlito"/>
              </a:rPr>
              <a:t>is </a:t>
            </a:r>
            <a:r>
              <a:rPr sz="1800" spc="-10" dirty="0">
                <a:solidFill>
                  <a:srgbClr val="C00000"/>
                </a:solidFill>
                <a:latin typeface="Carlito"/>
                <a:cs typeface="Carlito"/>
              </a:rPr>
              <a:t>more  </a:t>
            </a:r>
            <a:r>
              <a:rPr sz="1800" spc="-5" dirty="0">
                <a:solidFill>
                  <a:srgbClr val="C00000"/>
                </a:solidFill>
                <a:latin typeface="Carlito"/>
                <a:cs typeface="Carlito"/>
              </a:rPr>
              <a:t>influenced </a:t>
            </a:r>
            <a:r>
              <a:rPr sz="1800" spc="-10" dirty="0">
                <a:solidFill>
                  <a:srgbClr val="C00000"/>
                </a:solidFill>
                <a:latin typeface="Carlito"/>
                <a:cs typeface="Carlito"/>
              </a:rPr>
              <a:t>by </a:t>
            </a:r>
            <a:r>
              <a:rPr sz="1800" dirty="0">
                <a:solidFill>
                  <a:srgbClr val="C00000"/>
                </a:solidFill>
                <a:latin typeface="Carlito"/>
                <a:cs typeface="Carlito"/>
              </a:rPr>
              <a:t>the </a:t>
            </a:r>
            <a:r>
              <a:rPr sz="1800" spc="-10" dirty="0">
                <a:solidFill>
                  <a:srgbClr val="C00000"/>
                </a:solidFill>
                <a:latin typeface="Carlito"/>
                <a:cs typeface="Carlito"/>
              </a:rPr>
              <a:t>choice </a:t>
            </a:r>
            <a:r>
              <a:rPr sz="1800" spc="-5" dirty="0">
                <a:solidFill>
                  <a:srgbClr val="C00000"/>
                </a:solidFill>
                <a:latin typeface="Carlito"/>
                <a:cs typeface="Carlito"/>
              </a:rPr>
              <a:t>of </a:t>
            </a:r>
            <a:r>
              <a:rPr sz="1800" spc="-10" dirty="0">
                <a:solidFill>
                  <a:srgbClr val="C00000"/>
                </a:solidFill>
                <a:latin typeface="Carlito"/>
                <a:cs typeface="Carlito"/>
              </a:rPr>
              <a:t>distance </a:t>
            </a:r>
            <a:r>
              <a:rPr sz="1800" spc="-5" dirty="0">
                <a:solidFill>
                  <a:srgbClr val="C00000"/>
                </a:solidFill>
                <a:latin typeface="Carlito"/>
                <a:cs typeface="Carlito"/>
              </a:rPr>
              <a:t>metric</a:t>
            </a:r>
            <a:r>
              <a:rPr sz="1800" spc="-5" dirty="0">
                <a:latin typeface="Carlito"/>
                <a:cs typeface="Carlito"/>
              </a:rPr>
              <a:t>,  </a:t>
            </a:r>
            <a:r>
              <a:rPr sz="1800" dirty="0">
                <a:latin typeface="Carlito"/>
                <a:cs typeface="Carlito"/>
              </a:rPr>
              <a:t>and </a:t>
            </a:r>
            <a:r>
              <a:rPr sz="1800" spc="-5" dirty="0">
                <a:latin typeface="Carlito"/>
                <a:cs typeface="Carlito"/>
              </a:rPr>
              <a:t>might lead </a:t>
            </a:r>
            <a:r>
              <a:rPr sz="1800" spc="-10" dirty="0">
                <a:latin typeface="Carlito"/>
                <a:cs typeface="Carlito"/>
              </a:rPr>
              <a:t>to completely </a:t>
            </a:r>
            <a:r>
              <a:rPr sz="1800" spc="-15" dirty="0">
                <a:latin typeface="Carlito"/>
                <a:cs typeface="Carlito"/>
              </a:rPr>
              <a:t>different  clusters </a:t>
            </a:r>
            <a:r>
              <a:rPr sz="1800" dirty="0">
                <a:latin typeface="Carlito"/>
                <a:cs typeface="Carlito"/>
              </a:rPr>
              <a:t>when the </a:t>
            </a:r>
            <a:r>
              <a:rPr sz="1800" spc="-5" dirty="0">
                <a:latin typeface="Carlito"/>
                <a:cs typeface="Carlito"/>
              </a:rPr>
              <a:t>metric is</a:t>
            </a:r>
            <a:r>
              <a:rPr sz="1800" spc="50" dirty="0">
                <a:latin typeface="Carlito"/>
                <a:cs typeface="Carlito"/>
              </a:rPr>
              <a:t> </a:t>
            </a:r>
            <a:r>
              <a:rPr sz="1800" spc="-5" dirty="0">
                <a:latin typeface="Carlito"/>
                <a:cs typeface="Carlito"/>
              </a:rPr>
              <a:t>changed</a:t>
            </a:r>
            <a:endParaRPr sz="1800" dirty="0">
              <a:latin typeface="Carlito"/>
              <a:cs typeface="Carlito"/>
            </a:endParaRPr>
          </a:p>
          <a:p>
            <a:pPr marL="355600" indent="-342900">
              <a:lnSpc>
                <a:spcPct val="100000"/>
              </a:lnSpc>
              <a:spcBef>
                <a:spcPts val="430"/>
              </a:spcBef>
              <a:buFont typeface="Arial"/>
              <a:buChar char="•"/>
              <a:tabLst>
                <a:tab pos="354965" algn="l"/>
                <a:tab pos="355600" algn="l"/>
              </a:tabLst>
            </a:pPr>
            <a:r>
              <a:rPr sz="1800" spc="-15" dirty="0">
                <a:solidFill>
                  <a:srgbClr val="C00000"/>
                </a:solidFill>
                <a:latin typeface="Carlito"/>
                <a:cs typeface="Carlito"/>
              </a:rPr>
              <a:t>Hierarchical </a:t>
            </a:r>
            <a:r>
              <a:rPr sz="1800" spc="-10" dirty="0">
                <a:solidFill>
                  <a:srgbClr val="C00000"/>
                </a:solidFill>
                <a:latin typeface="Carlito"/>
                <a:cs typeface="Carlito"/>
              </a:rPr>
              <a:t>clustering </a:t>
            </a:r>
            <a:r>
              <a:rPr sz="1800" spc="-5" dirty="0">
                <a:solidFill>
                  <a:srgbClr val="C00000"/>
                </a:solidFill>
                <a:latin typeface="Carlito"/>
                <a:cs typeface="Carlito"/>
              </a:rPr>
              <a:t>is sensitive </a:t>
            </a:r>
            <a:r>
              <a:rPr sz="1800" spc="-10" dirty="0">
                <a:solidFill>
                  <a:srgbClr val="C00000"/>
                </a:solidFill>
                <a:latin typeface="Carlito"/>
                <a:cs typeface="Carlito"/>
              </a:rPr>
              <a:t>to</a:t>
            </a:r>
            <a:r>
              <a:rPr sz="1800" spc="75" dirty="0">
                <a:solidFill>
                  <a:srgbClr val="C00000"/>
                </a:solidFill>
                <a:latin typeface="Carlito"/>
                <a:cs typeface="Carlito"/>
              </a:rPr>
              <a:t> </a:t>
            </a:r>
            <a:r>
              <a:rPr sz="1800" spc="-5" dirty="0">
                <a:solidFill>
                  <a:srgbClr val="C00000"/>
                </a:solidFill>
                <a:latin typeface="Carlito"/>
                <a:cs typeface="Carlito"/>
              </a:rPr>
              <a:t>outlier</a:t>
            </a:r>
            <a:endParaRPr sz="1800" dirty="0">
              <a:solidFill>
                <a:srgbClr val="C00000"/>
              </a:solidFill>
              <a:latin typeface="Carlito"/>
              <a:cs typeface="Carlito"/>
            </a:endParaRPr>
          </a:p>
        </p:txBody>
      </p:sp>
      <p:sp>
        <p:nvSpPr>
          <p:cNvPr id="4" name="object 4"/>
          <p:cNvSpPr/>
          <p:nvPr/>
        </p:nvSpPr>
        <p:spPr>
          <a:xfrm>
            <a:off x="5644896" y="895350"/>
            <a:ext cx="3041904" cy="3073907"/>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39</a:t>
            </a:fld>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5382" y="385953"/>
            <a:ext cx="3792220" cy="452120"/>
          </a:xfrm>
          <a:prstGeom prst="rect">
            <a:avLst/>
          </a:prstGeom>
        </p:spPr>
        <p:txBody>
          <a:bodyPr vert="horz" wrap="square" lIns="0" tIns="12065" rIns="0" bIns="0" rtlCol="0">
            <a:spAutoFit/>
          </a:bodyPr>
          <a:lstStyle/>
          <a:p>
            <a:pPr marL="12700">
              <a:lnSpc>
                <a:spcPct val="100000"/>
              </a:lnSpc>
              <a:spcBef>
                <a:spcPts val="95"/>
              </a:spcBef>
            </a:pPr>
            <a:r>
              <a:rPr sz="2800" spc="-20" dirty="0">
                <a:solidFill>
                  <a:srgbClr val="0000FF"/>
                </a:solidFill>
              </a:rPr>
              <a:t>Average-linkage</a:t>
            </a:r>
            <a:r>
              <a:rPr sz="2800" spc="-45" dirty="0">
                <a:solidFill>
                  <a:srgbClr val="0000FF"/>
                </a:solidFill>
              </a:rPr>
              <a:t> </a:t>
            </a:r>
            <a:r>
              <a:rPr sz="2800" spc="-15" dirty="0">
                <a:solidFill>
                  <a:srgbClr val="0000FF"/>
                </a:solidFill>
              </a:rPr>
              <a:t>clustering</a:t>
            </a:r>
            <a:endParaRPr sz="28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40</a:t>
            </a:fld>
            <a:endParaRPr dirty="0"/>
          </a:p>
        </p:txBody>
      </p:sp>
      <p:sp>
        <p:nvSpPr>
          <p:cNvPr id="3" name="object 3"/>
          <p:cNvSpPr txBox="1"/>
          <p:nvPr/>
        </p:nvSpPr>
        <p:spPr>
          <a:xfrm>
            <a:off x="535940" y="1213865"/>
            <a:ext cx="6155055" cy="2825750"/>
          </a:xfrm>
          <a:prstGeom prst="rect">
            <a:avLst/>
          </a:prstGeom>
        </p:spPr>
        <p:txBody>
          <a:bodyPr vert="horz" wrap="square" lIns="0" tIns="15875" rIns="0" bIns="0" rtlCol="0">
            <a:spAutoFit/>
          </a:bodyPr>
          <a:lstStyle/>
          <a:p>
            <a:pPr marL="413384" indent="-401320">
              <a:lnSpc>
                <a:spcPct val="100000"/>
              </a:lnSpc>
              <a:spcBef>
                <a:spcPts val="125"/>
              </a:spcBef>
              <a:buFont typeface="Arial"/>
              <a:buChar char="•"/>
              <a:tabLst>
                <a:tab pos="413384" algn="l"/>
                <a:tab pos="414020" algn="l"/>
              </a:tabLst>
            </a:pPr>
            <a:r>
              <a:rPr sz="2300" spc="5" dirty="0">
                <a:latin typeface="Carlito"/>
                <a:cs typeface="Carlito"/>
              </a:rPr>
              <a:t>Compromise between Single </a:t>
            </a:r>
            <a:r>
              <a:rPr sz="2300" spc="10" dirty="0">
                <a:latin typeface="Carlito"/>
                <a:cs typeface="Carlito"/>
              </a:rPr>
              <a:t>and </a:t>
            </a:r>
            <a:r>
              <a:rPr sz="2300" spc="5" dirty="0">
                <a:latin typeface="Carlito"/>
                <a:cs typeface="Carlito"/>
              </a:rPr>
              <a:t>Complete Link</a:t>
            </a:r>
            <a:endParaRPr sz="2300" dirty="0">
              <a:latin typeface="Carlito"/>
              <a:cs typeface="Carlito"/>
            </a:endParaRPr>
          </a:p>
          <a:p>
            <a:pPr>
              <a:lnSpc>
                <a:spcPct val="100000"/>
              </a:lnSpc>
              <a:spcBef>
                <a:spcPts val="30"/>
              </a:spcBef>
              <a:buFont typeface="Arial"/>
              <a:buChar char="•"/>
            </a:pPr>
            <a:endParaRPr sz="3200" dirty="0">
              <a:latin typeface="Carlito"/>
              <a:cs typeface="Carlito"/>
            </a:endParaRPr>
          </a:p>
          <a:p>
            <a:pPr marL="413384" indent="-401320">
              <a:lnSpc>
                <a:spcPct val="100000"/>
              </a:lnSpc>
              <a:spcBef>
                <a:spcPts val="5"/>
              </a:spcBef>
              <a:buFont typeface="Arial"/>
              <a:buChar char="•"/>
              <a:tabLst>
                <a:tab pos="413384" algn="l"/>
                <a:tab pos="414020" algn="l"/>
              </a:tabLst>
            </a:pPr>
            <a:r>
              <a:rPr sz="2300" dirty="0">
                <a:latin typeface="Carlito"/>
                <a:cs typeface="Carlito"/>
              </a:rPr>
              <a:t>Strengths</a:t>
            </a:r>
          </a:p>
          <a:p>
            <a:pPr marL="698500" lvl="1" indent="-343535">
              <a:lnSpc>
                <a:spcPct val="100000"/>
              </a:lnSpc>
              <a:spcBef>
                <a:spcPts val="540"/>
              </a:spcBef>
              <a:buFont typeface="Arial"/>
              <a:buChar char="–"/>
              <a:tabLst>
                <a:tab pos="698500" algn="l"/>
                <a:tab pos="699135" algn="l"/>
              </a:tabLst>
            </a:pPr>
            <a:r>
              <a:rPr sz="2000" spc="5" dirty="0">
                <a:latin typeface="Carlito"/>
                <a:cs typeface="Carlito"/>
              </a:rPr>
              <a:t>Less susceptible </a:t>
            </a:r>
            <a:r>
              <a:rPr sz="2000" spc="-5" dirty="0">
                <a:latin typeface="Carlito"/>
                <a:cs typeface="Carlito"/>
              </a:rPr>
              <a:t>to </a:t>
            </a:r>
            <a:r>
              <a:rPr sz="2000" spc="5" dirty="0">
                <a:latin typeface="Carlito"/>
                <a:cs typeface="Carlito"/>
              </a:rPr>
              <a:t>noise </a:t>
            </a:r>
            <a:r>
              <a:rPr sz="2000" spc="10" dirty="0">
                <a:latin typeface="Carlito"/>
                <a:cs typeface="Carlito"/>
              </a:rPr>
              <a:t>and</a:t>
            </a:r>
            <a:r>
              <a:rPr sz="2000" spc="-30" dirty="0">
                <a:latin typeface="Carlito"/>
                <a:cs typeface="Carlito"/>
              </a:rPr>
              <a:t> </a:t>
            </a:r>
            <a:r>
              <a:rPr sz="2000" dirty="0">
                <a:latin typeface="Carlito"/>
                <a:cs typeface="Carlito"/>
              </a:rPr>
              <a:t>outliers</a:t>
            </a:r>
          </a:p>
          <a:p>
            <a:pPr lvl="1">
              <a:lnSpc>
                <a:spcPct val="100000"/>
              </a:lnSpc>
              <a:spcBef>
                <a:spcPts val="5"/>
              </a:spcBef>
              <a:buFont typeface="Arial"/>
              <a:buChar char="–"/>
            </a:pPr>
            <a:endParaRPr sz="3200" dirty="0">
              <a:latin typeface="Carlito"/>
              <a:cs typeface="Carlito"/>
            </a:endParaRPr>
          </a:p>
          <a:p>
            <a:pPr marL="413384" indent="-401320">
              <a:lnSpc>
                <a:spcPct val="100000"/>
              </a:lnSpc>
              <a:buFont typeface="Arial"/>
              <a:buChar char="•"/>
              <a:tabLst>
                <a:tab pos="413384" algn="l"/>
                <a:tab pos="414020" algn="l"/>
              </a:tabLst>
            </a:pPr>
            <a:r>
              <a:rPr sz="2300" spc="5" dirty="0">
                <a:latin typeface="Carlito"/>
                <a:cs typeface="Carlito"/>
              </a:rPr>
              <a:t>Limitations</a:t>
            </a:r>
            <a:endParaRPr sz="2300" dirty="0">
              <a:latin typeface="Carlito"/>
              <a:cs typeface="Carlito"/>
            </a:endParaRPr>
          </a:p>
          <a:p>
            <a:pPr marL="698500" lvl="1" indent="-343535">
              <a:lnSpc>
                <a:spcPct val="100000"/>
              </a:lnSpc>
              <a:spcBef>
                <a:spcPts val="540"/>
              </a:spcBef>
              <a:buFont typeface="Arial"/>
              <a:buChar char="–"/>
              <a:tabLst>
                <a:tab pos="698500" algn="l"/>
                <a:tab pos="699135" algn="l"/>
              </a:tabLst>
            </a:pPr>
            <a:r>
              <a:rPr sz="2000" spc="10" dirty="0">
                <a:latin typeface="Carlito"/>
                <a:cs typeface="Carlito"/>
              </a:rPr>
              <a:t>Biased </a:t>
            </a:r>
            <a:r>
              <a:rPr sz="2000" dirty="0">
                <a:latin typeface="Carlito"/>
                <a:cs typeface="Carlito"/>
              </a:rPr>
              <a:t>towards </a:t>
            </a:r>
            <a:r>
              <a:rPr sz="2000" spc="10" dirty="0">
                <a:latin typeface="Carlito"/>
                <a:cs typeface="Carlito"/>
              </a:rPr>
              <a:t>globular</a:t>
            </a:r>
            <a:r>
              <a:rPr sz="2000" spc="-40" dirty="0">
                <a:latin typeface="Carlito"/>
                <a:cs typeface="Carlito"/>
              </a:rPr>
              <a:t> </a:t>
            </a:r>
            <a:r>
              <a:rPr sz="2000" spc="-5" dirty="0">
                <a:latin typeface="Carlito"/>
                <a:cs typeface="Carlito"/>
              </a:rPr>
              <a:t>clusters</a:t>
            </a:r>
            <a:endParaRPr sz="2000" dirty="0">
              <a:latin typeface="Carlito"/>
              <a:cs typeface="Carlito"/>
            </a:endParaRPr>
          </a:p>
        </p:txBody>
      </p:sp>
    </p:spTree>
    <p:extLst>
      <p:ext uri="{BB962C8B-B14F-4D97-AF65-F5344CB8AC3E}">
        <p14:creationId xmlns:p14="http://schemas.microsoft.com/office/powerpoint/2010/main" val="41946817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0BE04-8131-418E-9B3F-0CE184AF6167}"/>
              </a:ext>
            </a:extLst>
          </p:cNvPr>
          <p:cNvSpPr>
            <a:spLocks noGrp="1"/>
          </p:cNvSpPr>
          <p:nvPr>
            <p:ph type="title"/>
          </p:nvPr>
        </p:nvSpPr>
        <p:spPr/>
        <p:txBody>
          <a:bodyPr/>
          <a:lstStyle/>
          <a:p>
            <a:r>
              <a:rPr lang="en-IN" dirty="0">
                <a:solidFill>
                  <a:srgbClr val="C00000"/>
                </a:solidFill>
              </a:rPr>
              <a:t>Ward’s distance algorithm</a:t>
            </a:r>
          </a:p>
        </p:txBody>
      </p:sp>
      <p:sp>
        <p:nvSpPr>
          <p:cNvPr id="3" name="Text Placeholder 2">
            <a:extLst>
              <a:ext uri="{FF2B5EF4-FFF2-40B4-BE49-F238E27FC236}">
                <a16:creationId xmlns:a16="http://schemas.microsoft.com/office/drawing/2014/main" id="{4ABB4A20-4BF3-4A73-BDDE-7C6A579450F9}"/>
              </a:ext>
            </a:extLst>
          </p:cNvPr>
          <p:cNvSpPr>
            <a:spLocks noGrp="1"/>
          </p:cNvSpPr>
          <p:nvPr>
            <p:ph type="body" idx="1"/>
          </p:nvPr>
        </p:nvSpPr>
        <p:spPr>
          <a:xfrm>
            <a:off x="601852" y="1581150"/>
            <a:ext cx="7940294" cy="1855470"/>
          </a:xfrm>
        </p:spPr>
        <p:txBody>
          <a:bodyPr/>
          <a:lstStyle/>
          <a:p>
            <a:pPr marL="342900" indent="-342900">
              <a:buFont typeface="+mj-lt"/>
              <a:buAutoNum type="arabicPeriod"/>
            </a:pPr>
            <a:r>
              <a:rPr lang="en-US" sz="1400" dirty="0">
                <a:latin typeface="Source Sans Pro" panose="020B0503030403020204" pitchFamily="34" charset="0"/>
              </a:rPr>
              <a:t>This is an </a:t>
            </a:r>
            <a:r>
              <a:rPr lang="en-US" sz="1400" u="sng" dirty="0">
                <a:latin typeface="Source Sans Pro" panose="020B0503030403020204" pitchFamily="34" charset="0"/>
              </a:rPr>
              <a:t>alternative approach </a:t>
            </a:r>
            <a:r>
              <a:rPr lang="en-US" sz="1400" dirty="0">
                <a:latin typeface="Source Sans Pro" panose="020B0503030403020204" pitchFamily="34" charset="0"/>
              </a:rPr>
              <a:t>for performing cluster analysis. </a:t>
            </a:r>
          </a:p>
          <a:p>
            <a:pPr marL="342900" indent="-342900">
              <a:buFont typeface="+mj-lt"/>
              <a:buAutoNum type="arabicPeriod"/>
            </a:pPr>
            <a:r>
              <a:rPr lang="en-US" sz="1400" dirty="0">
                <a:latin typeface="Source Sans Pro" panose="020B0503030403020204" pitchFamily="34" charset="0"/>
              </a:rPr>
              <a:t>It falls under hierarchical clustering  technique</a:t>
            </a:r>
          </a:p>
          <a:p>
            <a:pPr marL="342900" indent="-342900">
              <a:buFont typeface="+mj-lt"/>
              <a:buAutoNum type="arabicPeriod"/>
            </a:pPr>
            <a:r>
              <a:rPr lang="en-US" sz="1400" dirty="0">
                <a:latin typeface="Source Sans Pro" panose="020B0503030403020204" pitchFamily="34" charset="0"/>
              </a:rPr>
              <a:t>Basically, it looks at cluster analysis as an </a:t>
            </a:r>
            <a:r>
              <a:rPr lang="en-US" sz="1400" u="sng" dirty="0">
                <a:latin typeface="Source Sans Pro" panose="020B0503030403020204" pitchFamily="34" charset="0"/>
              </a:rPr>
              <a:t>analysis of variance problem</a:t>
            </a:r>
            <a:r>
              <a:rPr lang="en-US" sz="1400" dirty="0">
                <a:latin typeface="Source Sans Pro" panose="020B0503030403020204" pitchFamily="34" charset="0"/>
              </a:rPr>
              <a:t>, </a:t>
            </a:r>
            <a:r>
              <a:rPr lang="en-US" sz="1400" u="sng" dirty="0">
                <a:latin typeface="Source Sans Pro" panose="020B0503030403020204" pitchFamily="34" charset="0"/>
              </a:rPr>
              <a:t>instead of using distance metrics </a:t>
            </a:r>
            <a:r>
              <a:rPr lang="en-US" sz="1400" dirty="0">
                <a:latin typeface="Source Sans Pro" panose="020B0503030403020204" pitchFamily="34" charset="0"/>
              </a:rPr>
              <a:t>or measures of association.</a:t>
            </a:r>
          </a:p>
          <a:p>
            <a:pPr marL="342900" indent="-342900">
              <a:buFont typeface="+mj-lt"/>
              <a:buAutoNum type="arabicPeriod"/>
            </a:pPr>
            <a:r>
              <a:rPr lang="en-US" sz="1400" dirty="0">
                <a:latin typeface="Source Sans Pro" panose="020B0503030403020204" pitchFamily="34" charset="0"/>
              </a:rPr>
              <a:t>Ward’s is said to be the </a:t>
            </a:r>
            <a:r>
              <a:rPr lang="en-US" sz="1400" u="sng" dirty="0">
                <a:latin typeface="Source Sans Pro" panose="020B0503030403020204" pitchFamily="34" charset="0"/>
              </a:rPr>
              <a:t>most suitable method for quantitative variables</a:t>
            </a:r>
            <a:r>
              <a:rPr lang="en-US" sz="1400" dirty="0">
                <a:latin typeface="Source Sans Pro" panose="020B0503030403020204" pitchFamily="34" charset="0"/>
              </a:rPr>
              <a:t>.</a:t>
            </a:r>
          </a:p>
          <a:p>
            <a:pPr marL="342900" indent="-342900">
              <a:buFont typeface="+mj-lt"/>
              <a:buAutoNum type="arabicPeriod"/>
            </a:pPr>
            <a:r>
              <a:rPr lang="en-US" sz="1400" dirty="0">
                <a:latin typeface="Source Sans Pro" panose="020B0503030403020204" pitchFamily="34" charset="0"/>
              </a:rPr>
              <a:t>Ward's method starts out with n clusters of size 1 and continues until all the observations are included into one cluster.</a:t>
            </a:r>
          </a:p>
          <a:p>
            <a:pPr marL="342900" indent="-342900">
              <a:buFont typeface="+mj-lt"/>
              <a:buAutoNum type="arabicPeriod"/>
            </a:pPr>
            <a:r>
              <a:rPr lang="en-US" sz="1400" dirty="0">
                <a:latin typeface="Source Sans Pro" panose="020B0503030403020204" pitchFamily="34" charset="0"/>
              </a:rPr>
              <a:t>This method is most appropriate for quantitative variables, and not binary variables.</a:t>
            </a:r>
          </a:p>
          <a:p>
            <a:pPr marL="342900" indent="-342900">
              <a:buFont typeface="+mj-lt"/>
              <a:buAutoNum type="arabicPeriod"/>
            </a:pPr>
            <a:r>
              <a:rPr lang="en-US" sz="1400" dirty="0">
                <a:latin typeface="Source Sans Pro" panose="020B0503030403020204" pitchFamily="34" charset="0"/>
                <a:hlinkClick r:id="rId2">
                  <a:extLst>
                    <a:ext uri="{A12FA001-AC4F-418D-AE19-62706E023703}">
                      <ahyp:hlinkClr xmlns:ahyp="http://schemas.microsoft.com/office/drawing/2018/hyperlinkcolor" val="tx"/>
                    </a:ext>
                  </a:extLst>
                </a:hlinkClick>
              </a:rPr>
              <a:t>Ward’s method</a:t>
            </a:r>
            <a:r>
              <a:rPr lang="en-US" sz="1400" dirty="0">
                <a:latin typeface="Source Sans Pro" panose="020B0503030403020204" pitchFamily="34" charset="0"/>
              </a:rPr>
              <a:t> says that the distance between two clusters, A and B, is how much the sum of squares will increase when we merge them:</a:t>
            </a:r>
            <a:endParaRPr lang="en-IN" sz="1400" dirty="0">
              <a:latin typeface="Source Sans Pro" panose="020B0503030403020204" pitchFamily="34" charset="0"/>
            </a:endParaRPr>
          </a:p>
        </p:txBody>
      </p:sp>
    </p:spTree>
    <p:extLst>
      <p:ext uri="{BB962C8B-B14F-4D97-AF65-F5344CB8AC3E}">
        <p14:creationId xmlns:p14="http://schemas.microsoft.com/office/powerpoint/2010/main" val="3722192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56485" y="385953"/>
            <a:ext cx="4431030" cy="452120"/>
          </a:xfrm>
          <a:prstGeom prst="rect">
            <a:avLst/>
          </a:prstGeom>
        </p:spPr>
        <p:txBody>
          <a:bodyPr vert="horz" wrap="square" lIns="0" tIns="12065" rIns="0" bIns="0" rtlCol="0">
            <a:spAutoFit/>
          </a:bodyPr>
          <a:lstStyle/>
          <a:p>
            <a:pPr marL="12700">
              <a:lnSpc>
                <a:spcPct val="100000"/>
              </a:lnSpc>
              <a:spcBef>
                <a:spcPts val="95"/>
              </a:spcBef>
            </a:pPr>
            <a:r>
              <a:rPr sz="2800" spc="-15" dirty="0">
                <a:solidFill>
                  <a:srgbClr val="0000FF"/>
                </a:solidFill>
                <a:latin typeface="Carlito"/>
                <a:cs typeface="Carlito"/>
              </a:rPr>
              <a:t>Distance </a:t>
            </a:r>
            <a:r>
              <a:rPr sz="2800" spc="-10" dirty="0">
                <a:solidFill>
                  <a:srgbClr val="0000FF"/>
                </a:solidFill>
                <a:latin typeface="Carlito"/>
                <a:cs typeface="Carlito"/>
              </a:rPr>
              <a:t>between two</a:t>
            </a:r>
            <a:r>
              <a:rPr sz="2800" spc="-20" dirty="0">
                <a:solidFill>
                  <a:srgbClr val="0000FF"/>
                </a:solidFill>
                <a:latin typeface="Carlito"/>
                <a:cs typeface="Carlito"/>
              </a:rPr>
              <a:t> clusters</a:t>
            </a:r>
            <a:endParaRPr sz="2800">
              <a:latin typeface="Carlito"/>
              <a:cs typeface="Carlito"/>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42</a:t>
            </a:fld>
            <a:endParaRPr dirty="0"/>
          </a:p>
        </p:txBody>
      </p:sp>
      <p:sp>
        <p:nvSpPr>
          <p:cNvPr id="3" name="object 3"/>
          <p:cNvSpPr txBox="1"/>
          <p:nvPr/>
        </p:nvSpPr>
        <p:spPr>
          <a:xfrm>
            <a:off x="510540" y="1218437"/>
            <a:ext cx="8061325" cy="894080"/>
          </a:xfrm>
          <a:prstGeom prst="rect">
            <a:avLst/>
          </a:prstGeom>
        </p:spPr>
        <p:txBody>
          <a:bodyPr vert="horz" wrap="square" lIns="0" tIns="12065" rIns="0" bIns="0" rtlCol="0">
            <a:spAutoFit/>
          </a:bodyPr>
          <a:lstStyle/>
          <a:p>
            <a:pPr marL="381000" marR="43180" indent="-342900" algn="just">
              <a:lnSpc>
                <a:spcPct val="100000"/>
              </a:lnSpc>
              <a:spcBef>
                <a:spcPts val="95"/>
              </a:spcBef>
              <a:buFont typeface="Arial"/>
              <a:buChar char="•"/>
              <a:tabLst>
                <a:tab pos="381000" algn="l"/>
              </a:tabLst>
            </a:pPr>
            <a:r>
              <a:rPr sz="1900" b="1" spc="-40" dirty="0">
                <a:solidFill>
                  <a:srgbClr val="FF0000"/>
                </a:solidFill>
                <a:latin typeface="Carlito"/>
                <a:cs typeface="Carlito"/>
              </a:rPr>
              <a:t>Ward’s </a:t>
            </a:r>
            <a:r>
              <a:rPr sz="1900" b="1" spc="-10" dirty="0">
                <a:solidFill>
                  <a:srgbClr val="FF0000"/>
                </a:solidFill>
                <a:latin typeface="Carlito"/>
                <a:cs typeface="Carlito"/>
              </a:rPr>
              <a:t>distance </a:t>
            </a:r>
            <a:r>
              <a:rPr sz="1900" spc="-10" dirty="0">
                <a:latin typeface="Carlito"/>
                <a:cs typeface="Carlito"/>
              </a:rPr>
              <a:t>between </a:t>
            </a:r>
            <a:r>
              <a:rPr sz="1900" spc="-15" dirty="0">
                <a:latin typeface="Carlito"/>
                <a:cs typeface="Carlito"/>
              </a:rPr>
              <a:t>clusters </a:t>
            </a:r>
            <a:r>
              <a:rPr sz="1900" b="1" dirty="0">
                <a:solidFill>
                  <a:srgbClr val="4F81BC"/>
                </a:solidFill>
                <a:latin typeface="Carlito"/>
                <a:cs typeface="Carlito"/>
              </a:rPr>
              <a:t>C</a:t>
            </a:r>
            <a:r>
              <a:rPr sz="1875" b="1" baseline="-20000" dirty="0">
                <a:solidFill>
                  <a:srgbClr val="4F81BC"/>
                </a:solidFill>
                <a:latin typeface="Carlito"/>
                <a:cs typeface="Carlito"/>
              </a:rPr>
              <a:t>i </a:t>
            </a:r>
            <a:r>
              <a:rPr sz="1900" spc="-5" dirty="0">
                <a:latin typeface="Carlito"/>
                <a:cs typeface="Carlito"/>
              </a:rPr>
              <a:t>and </a:t>
            </a:r>
            <a:r>
              <a:rPr sz="1900" b="1" dirty="0">
                <a:solidFill>
                  <a:srgbClr val="4F81BC"/>
                </a:solidFill>
                <a:latin typeface="Carlito"/>
                <a:cs typeface="Carlito"/>
              </a:rPr>
              <a:t>C</a:t>
            </a:r>
            <a:r>
              <a:rPr sz="1875" b="1" baseline="-20000" dirty="0">
                <a:solidFill>
                  <a:srgbClr val="4F81BC"/>
                </a:solidFill>
                <a:latin typeface="Carlito"/>
                <a:cs typeface="Carlito"/>
              </a:rPr>
              <a:t>j </a:t>
            </a:r>
            <a:r>
              <a:rPr sz="1900" spc="-5" dirty="0">
                <a:latin typeface="Carlito"/>
                <a:cs typeface="Carlito"/>
              </a:rPr>
              <a:t>is the </a:t>
            </a:r>
            <a:r>
              <a:rPr sz="1900" b="1" i="1" spc="-10" dirty="0">
                <a:latin typeface="Carlito"/>
                <a:cs typeface="Carlito"/>
              </a:rPr>
              <a:t>difference </a:t>
            </a:r>
            <a:r>
              <a:rPr sz="1900" spc="-10" dirty="0">
                <a:latin typeface="Carlito"/>
                <a:cs typeface="Carlito"/>
              </a:rPr>
              <a:t>between </a:t>
            </a:r>
            <a:r>
              <a:rPr sz="1900" spc="-5" dirty="0">
                <a:latin typeface="Carlito"/>
                <a:cs typeface="Carlito"/>
              </a:rPr>
              <a:t>the </a:t>
            </a:r>
            <a:r>
              <a:rPr sz="1900" b="1" i="1" spc="-15" dirty="0">
                <a:latin typeface="Carlito"/>
                <a:cs typeface="Carlito"/>
              </a:rPr>
              <a:t>total  </a:t>
            </a:r>
            <a:r>
              <a:rPr sz="1900" b="1" i="1" spc="-5" dirty="0">
                <a:latin typeface="Carlito"/>
                <a:cs typeface="Carlito"/>
              </a:rPr>
              <a:t>within </a:t>
            </a:r>
            <a:r>
              <a:rPr sz="1900" b="1" i="1" spc="-10" dirty="0">
                <a:latin typeface="Carlito"/>
                <a:cs typeface="Carlito"/>
              </a:rPr>
              <a:t>cluster sum </a:t>
            </a:r>
            <a:r>
              <a:rPr sz="1900" b="1" i="1" spc="-5" dirty="0">
                <a:latin typeface="Carlito"/>
                <a:cs typeface="Carlito"/>
              </a:rPr>
              <a:t>of </a:t>
            </a:r>
            <a:r>
              <a:rPr sz="1900" b="1" i="1" spc="-10" dirty="0">
                <a:latin typeface="Carlito"/>
                <a:cs typeface="Carlito"/>
              </a:rPr>
              <a:t>squares for </a:t>
            </a:r>
            <a:r>
              <a:rPr sz="1900" b="1" i="1" spc="-5" dirty="0">
                <a:latin typeface="Carlito"/>
                <a:cs typeface="Carlito"/>
              </a:rPr>
              <a:t>the </a:t>
            </a:r>
            <a:r>
              <a:rPr sz="1900" b="1" i="1" dirty="0">
                <a:latin typeface="Carlito"/>
                <a:cs typeface="Carlito"/>
              </a:rPr>
              <a:t>two </a:t>
            </a:r>
            <a:r>
              <a:rPr sz="1900" b="1" i="1" spc="-10" dirty="0">
                <a:latin typeface="Carlito"/>
                <a:cs typeface="Carlito"/>
              </a:rPr>
              <a:t>clusters separately</a:t>
            </a:r>
            <a:r>
              <a:rPr sz="1900" spc="-10" dirty="0">
                <a:latin typeface="Carlito"/>
                <a:cs typeface="Carlito"/>
              </a:rPr>
              <a:t>, </a:t>
            </a:r>
            <a:r>
              <a:rPr sz="1900" spc="-5" dirty="0">
                <a:latin typeface="Carlito"/>
                <a:cs typeface="Carlito"/>
              </a:rPr>
              <a:t>and the </a:t>
            </a:r>
            <a:r>
              <a:rPr sz="1900" b="1" i="1" spc="-10" dirty="0">
                <a:latin typeface="Carlito"/>
                <a:cs typeface="Carlito"/>
              </a:rPr>
              <a:t>within  cluster sum </a:t>
            </a:r>
            <a:r>
              <a:rPr sz="1900" b="1" i="1" spc="-5" dirty="0">
                <a:latin typeface="Carlito"/>
                <a:cs typeface="Carlito"/>
              </a:rPr>
              <a:t>of squares resulting from merging the two </a:t>
            </a:r>
            <a:r>
              <a:rPr sz="1900" b="1" i="1" spc="-10" dirty="0">
                <a:latin typeface="Carlito"/>
                <a:cs typeface="Carlito"/>
              </a:rPr>
              <a:t>clusters </a:t>
            </a:r>
            <a:r>
              <a:rPr sz="1900" spc="-5" dirty="0">
                <a:latin typeface="Carlito"/>
                <a:cs typeface="Carlito"/>
              </a:rPr>
              <a:t>in </a:t>
            </a:r>
            <a:r>
              <a:rPr sz="1900" spc="-10" dirty="0">
                <a:latin typeface="Carlito"/>
                <a:cs typeface="Carlito"/>
              </a:rPr>
              <a:t>cluster</a:t>
            </a:r>
            <a:r>
              <a:rPr sz="1900" spc="110" dirty="0">
                <a:latin typeface="Carlito"/>
                <a:cs typeface="Carlito"/>
              </a:rPr>
              <a:t> </a:t>
            </a:r>
            <a:r>
              <a:rPr sz="1900" b="1" dirty="0">
                <a:solidFill>
                  <a:srgbClr val="4F81BC"/>
                </a:solidFill>
                <a:latin typeface="Carlito"/>
                <a:cs typeface="Carlito"/>
              </a:rPr>
              <a:t>C</a:t>
            </a:r>
            <a:r>
              <a:rPr sz="1875" b="1" baseline="-20000" dirty="0">
                <a:solidFill>
                  <a:srgbClr val="4F81BC"/>
                </a:solidFill>
                <a:latin typeface="Carlito"/>
                <a:cs typeface="Carlito"/>
              </a:rPr>
              <a:t>ij</a:t>
            </a:r>
            <a:endParaRPr sz="1875" baseline="-20000" dirty="0">
              <a:latin typeface="Carlito"/>
              <a:cs typeface="Carlito"/>
            </a:endParaRPr>
          </a:p>
        </p:txBody>
      </p:sp>
      <p:sp>
        <p:nvSpPr>
          <p:cNvPr id="4" name="object 4"/>
          <p:cNvSpPr txBox="1"/>
          <p:nvPr/>
        </p:nvSpPr>
        <p:spPr>
          <a:xfrm>
            <a:off x="510540" y="3477231"/>
            <a:ext cx="2052320" cy="1068070"/>
          </a:xfrm>
          <a:prstGeom prst="rect">
            <a:avLst/>
          </a:prstGeom>
        </p:spPr>
        <p:txBody>
          <a:bodyPr vert="horz" wrap="square" lIns="0" tIns="70485" rIns="0" bIns="0" rtlCol="0">
            <a:spAutoFit/>
          </a:bodyPr>
          <a:lstStyle/>
          <a:p>
            <a:pPr marL="381000" indent="-342900">
              <a:lnSpc>
                <a:spcPct val="100000"/>
              </a:lnSpc>
              <a:spcBef>
                <a:spcPts val="555"/>
              </a:spcBef>
              <a:buFont typeface="Arial"/>
              <a:buChar char="•"/>
              <a:tabLst>
                <a:tab pos="380365" algn="l"/>
                <a:tab pos="381000" algn="l"/>
              </a:tabLst>
            </a:pPr>
            <a:r>
              <a:rPr sz="1900" b="1" spc="-5" dirty="0">
                <a:solidFill>
                  <a:srgbClr val="4F81BC"/>
                </a:solidFill>
                <a:latin typeface="Carlito"/>
                <a:cs typeface="Carlito"/>
              </a:rPr>
              <a:t>r</a:t>
            </a:r>
            <a:r>
              <a:rPr sz="1875" b="1" spc="-7" baseline="-20000" dirty="0">
                <a:solidFill>
                  <a:srgbClr val="4F81BC"/>
                </a:solidFill>
                <a:latin typeface="Carlito"/>
                <a:cs typeface="Carlito"/>
              </a:rPr>
              <a:t>i</a:t>
            </a:r>
            <a:r>
              <a:rPr sz="1900" spc="-5" dirty="0">
                <a:latin typeface="Carlito"/>
                <a:cs typeface="Carlito"/>
              </a:rPr>
              <a:t>: </a:t>
            </a:r>
            <a:r>
              <a:rPr sz="1900" spc="-15" dirty="0">
                <a:latin typeface="Carlito"/>
                <a:cs typeface="Carlito"/>
              </a:rPr>
              <a:t>centroid </a:t>
            </a:r>
            <a:r>
              <a:rPr sz="1900" spc="-5" dirty="0">
                <a:latin typeface="Carlito"/>
                <a:cs typeface="Carlito"/>
              </a:rPr>
              <a:t>of</a:t>
            </a:r>
            <a:r>
              <a:rPr sz="1900" spc="-20" dirty="0">
                <a:latin typeface="Carlito"/>
                <a:cs typeface="Carlito"/>
              </a:rPr>
              <a:t> </a:t>
            </a:r>
            <a:r>
              <a:rPr sz="1900" b="1" dirty="0">
                <a:solidFill>
                  <a:srgbClr val="4F81BC"/>
                </a:solidFill>
                <a:latin typeface="Carlito"/>
                <a:cs typeface="Carlito"/>
              </a:rPr>
              <a:t>C</a:t>
            </a:r>
            <a:r>
              <a:rPr sz="1875" b="1" baseline="-20000" dirty="0">
                <a:solidFill>
                  <a:srgbClr val="4F81BC"/>
                </a:solidFill>
                <a:latin typeface="Carlito"/>
                <a:cs typeface="Carlito"/>
              </a:rPr>
              <a:t>i</a:t>
            </a:r>
            <a:endParaRPr sz="1875" baseline="-20000" dirty="0">
              <a:latin typeface="Carlito"/>
              <a:cs typeface="Carlito"/>
            </a:endParaRPr>
          </a:p>
          <a:p>
            <a:pPr marL="381000" indent="-342900">
              <a:lnSpc>
                <a:spcPct val="100000"/>
              </a:lnSpc>
              <a:spcBef>
                <a:spcPts val="455"/>
              </a:spcBef>
              <a:buFont typeface="Arial"/>
              <a:buChar char="•"/>
              <a:tabLst>
                <a:tab pos="380365" algn="l"/>
                <a:tab pos="381000" algn="l"/>
              </a:tabLst>
            </a:pPr>
            <a:r>
              <a:rPr sz="1900" b="1" spc="-5" dirty="0">
                <a:solidFill>
                  <a:srgbClr val="4F81BC"/>
                </a:solidFill>
                <a:latin typeface="Carlito"/>
                <a:cs typeface="Carlito"/>
              </a:rPr>
              <a:t>r</a:t>
            </a:r>
            <a:r>
              <a:rPr sz="1875" b="1" spc="-7" baseline="-20000" dirty="0">
                <a:solidFill>
                  <a:srgbClr val="4F81BC"/>
                </a:solidFill>
                <a:latin typeface="Carlito"/>
                <a:cs typeface="Carlito"/>
              </a:rPr>
              <a:t>j</a:t>
            </a:r>
            <a:r>
              <a:rPr sz="1900" spc="-5" dirty="0">
                <a:latin typeface="Carlito"/>
                <a:cs typeface="Carlito"/>
              </a:rPr>
              <a:t>: </a:t>
            </a:r>
            <a:r>
              <a:rPr sz="1900" spc="-10" dirty="0">
                <a:latin typeface="Carlito"/>
                <a:cs typeface="Carlito"/>
              </a:rPr>
              <a:t>centroid </a:t>
            </a:r>
            <a:r>
              <a:rPr sz="1900" spc="-5" dirty="0">
                <a:latin typeface="Carlito"/>
                <a:cs typeface="Carlito"/>
              </a:rPr>
              <a:t>of</a:t>
            </a:r>
            <a:r>
              <a:rPr sz="1900" spc="-70" dirty="0">
                <a:latin typeface="Carlito"/>
                <a:cs typeface="Carlito"/>
              </a:rPr>
              <a:t> </a:t>
            </a:r>
            <a:r>
              <a:rPr sz="1900" b="1" dirty="0">
                <a:solidFill>
                  <a:srgbClr val="4F81BC"/>
                </a:solidFill>
                <a:latin typeface="Carlito"/>
                <a:cs typeface="Carlito"/>
              </a:rPr>
              <a:t>C</a:t>
            </a:r>
            <a:r>
              <a:rPr sz="1875" b="1" baseline="-20000" dirty="0">
                <a:solidFill>
                  <a:srgbClr val="4F81BC"/>
                </a:solidFill>
                <a:latin typeface="Carlito"/>
                <a:cs typeface="Carlito"/>
              </a:rPr>
              <a:t>j</a:t>
            </a:r>
            <a:endParaRPr sz="1875" baseline="-20000" dirty="0">
              <a:latin typeface="Carlito"/>
              <a:cs typeface="Carlito"/>
            </a:endParaRPr>
          </a:p>
          <a:p>
            <a:pPr marL="381000" indent="-342900">
              <a:lnSpc>
                <a:spcPct val="100000"/>
              </a:lnSpc>
              <a:spcBef>
                <a:spcPts val="459"/>
              </a:spcBef>
              <a:buFont typeface="Arial"/>
              <a:buChar char="•"/>
              <a:tabLst>
                <a:tab pos="380365" algn="l"/>
                <a:tab pos="381000" algn="l"/>
              </a:tabLst>
            </a:pPr>
            <a:r>
              <a:rPr sz="1900" b="1" spc="-5" dirty="0">
                <a:solidFill>
                  <a:srgbClr val="4F81BC"/>
                </a:solidFill>
                <a:latin typeface="Carlito"/>
                <a:cs typeface="Carlito"/>
              </a:rPr>
              <a:t>r</a:t>
            </a:r>
            <a:r>
              <a:rPr sz="1875" b="1" spc="-7" baseline="-20000" dirty="0">
                <a:solidFill>
                  <a:srgbClr val="4F81BC"/>
                </a:solidFill>
                <a:latin typeface="Carlito"/>
                <a:cs typeface="Carlito"/>
              </a:rPr>
              <a:t>ij</a:t>
            </a:r>
            <a:r>
              <a:rPr sz="1900" spc="-5" dirty="0">
                <a:latin typeface="Carlito"/>
                <a:cs typeface="Carlito"/>
              </a:rPr>
              <a:t>: </a:t>
            </a:r>
            <a:r>
              <a:rPr sz="1900" spc="-15" dirty="0">
                <a:latin typeface="Carlito"/>
                <a:cs typeface="Carlito"/>
              </a:rPr>
              <a:t>centroid </a:t>
            </a:r>
            <a:r>
              <a:rPr sz="1900" spc="-5" dirty="0">
                <a:latin typeface="Carlito"/>
                <a:cs typeface="Carlito"/>
              </a:rPr>
              <a:t>of</a:t>
            </a:r>
            <a:r>
              <a:rPr sz="1900" spc="5" dirty="0">
                <a:latin typeface="Carlito"/>
                <a:cs typeface="Carlito"/>
              </a:rPr>
              <a:t> </a:t>
            </a:r>
            <a:r>
              <a:rPr sz="1900" b="1" spc="-5" dirty="0">
                <a:solidFill>
                  <a:srgbClr val="4F81BC"/>
                </a:solidFill>
                <a:latin typeface="Carlito"/>
                <a:cs typeface="Carlito"/>
              </a:rPr>
              <a:t>C</a:t>
            </a:r>
            <a:r>
              <a:rPr sz="1875" b="1" spc="-7" baseline="-20000" dirty="0">
                <a:solidFill>
                  <a:srgbClr val="4F81BC"/>
                </a:solidFill>
                <a:latin typeface="Carlito"/>
                <a:cs typeface="Carlito"/>
              </a:rPr>
              <a:t>ij</a:t>
            </a:r>
            <a:endParaRPr sz="1875" baseline="-20000" dirty="0">
              <a:latin typeface="Carlito"/>
              <a:cs typeface="Carlito"/>
            </a:endParaRPr>
          </a:p>
        </p:txBody>
      </p:sp>
      <p:sp>
        <p:nvSpPr>
          <p:cNvPr id="5" name="object 5"/>
          <p:cNvSpPr txBox="1"/>
          <p:nvPr/>
        </p:nvSpPr>
        <p:spPr>
          <a:xfrm>
            <a:off x="6993698" y="2913159"/>
            <a:ext cx="108585" cy="227329"/>
          </a:xfrm>
          <a:prstGeom prst="rect">
            <a:avLst/>
          </a:prstGeom>
        </p:spPr>
        <p:txBody>
          <a:bodyPr vert="horz" wrap="square" lIns="0" tIns="15240" rIns="0" bIns="0" rtlCol="0">
            <a:spAutoFit/>
          </a:bodyPr>
          <a:lstStyle/>
          <a:p>
            <a:pPr marL="12700">
              <a:lnSpc>
                <a:spcPct val="100000"/>
              </a:lnSpc>
              <a:spcBef>
                <a:spcPts val="120"/>
              </a:spcBef>
            </a:pPr>
            <a:r>
              <a:rPr sz="1300" i="1" spc="-40" dirty="0">
                <a:latin typeface="Times New Roman"/>
                <a:cs typeface="Times New Roman"/>
              </a:rPr>
              <a:t>ij</a:t>
            </a:r>
            <a:endParaRPr sz="1300">
              <a:latin typeface="Times New Roman"/>
              <a:cs typeface="Times New Roman"/>
            </a:endParaRPr>
          </a:p>
        </p:txBody>
      </p:sp>
      <p:sp>
        <p:nvSpPr>
          <p:cNvPr id="6" name="object 6"/>
          <p:cNvSpPr txBox="1"/>
          <p:nvPr/>
        </p:nvSpPr>
        <p:spPr>
          <a:xfrm>
            <a:off x="5686279" y="2913159"/>
            <a:ext cx="66675" cy="227329"/>
          </a:xfrm>
          <a:prstGeom prst="rect">
            <a:avLst/>
          </a:prstGeom>
        </p:spPr>
        <p:txBody>
          <a:bodyPr vert="horz" wrap="square" lIns="0" tIns="15240" rIns="0" bIns="0" rtlCol="0">
            <a:spAutoFit/>
          </a:bodyPr>
          <a:lstStyle/>
          <a:p>
            <a:pPr marL="12700">
              <a:lnSpc>
                <a:spcPct val="100000"/>
              </a:lnSpc>
              <a:spcBef>
                <a:spcPts val="120"/>
              </a:spcBef>
            </a:pPr>
            <a:r>
              <a:rPr sz="1300" i="1" spc="-40" dirty="0">
                <a:latin typeface="Times New Roman"/>
                <a:cs typeface="Times New Roman"/>
              </a:rPr>
              <a:t>j</a:t>
            </a:r>
            <a:endParaRPr sz="1300">
              <a:latin typeface="Times New Roman"/>
              <a:cs typeface="Times New Roman"/>
            </a:endParaRPr>
          </a:p>
        </p:txBody>
      </p:sp>
      <p:sp>
        <p:nvSpPr>
          <p:cNvPr id="7" name="object 7"/>
          <p:cNvSpPr txBox="1"/>
          <p:nvPr/>
        </p:nvSpPr>
        <p:spPr>
          <a:xfrm>
            <a:off x="4376868" y="2913159"/>
            <a:ext cx="66675" cy="227329"/>
          </a:xfrm>
          <a:prstGeom prst="rect">
            <a:avLst/>
          </a:prstGeom>
        </p:spPr>
        <p:txBody>
          <a:bodyPr vert="horz" wrap="square" lIns="0" tIns="15240" rIns="0" bIns="0" rtlCol="0">
            <a:spAutoFit/>
          </a:bodyPr>
          <a:lstStyle/>
          <a:p>
            <a:pPr marL="12700">
              <a:lnSpc>
                <a:spcPct val="100000"/>
              </a:lnSpc>
              <a:spcBef>
                <a:spcPts val="120"/>
              </a:spcBef>
            </a:pPr>
            <a:r>
              <a:rPr sz="1300" i="1" spc="-40" dirty="0">
                <a:latin typeface="Times New Roman"/>
                <a:cs typeface="Times New Roman"/>
              </a:rPr>
              <a:t>i</a:t>
            </a:r>
            <a:endParaRPr sz="1300">
              <a:latin typeface="Times New Roman"/>
              <a:cs typeface="Times New Roman"/>
            </a:endParaRPr>
          </a:p>
        </p:txBody>
      </p:sp>
      <p:sp>
        <p:nvSpPr>
          <p:cNvPr id="8" name="object 8"/>
          <p:cNvSpPr txBox="1"/>
          <p:nvPr/>
        </p:nvSpPr>
        <p:spPr>
          <a:xfrm>
            <a:off x="2417320" y="2649192"/>
            <a:ext cx="1490345" cy="694055"/>
          </a:xfrm>
          <a:prstGeom prst="rect">
            <a:avLst/>
          </a:prstGeom>
        </p:spPr>
        <p:txBody>
          <a:bodyPr vert="horz" wrap="square" lIns="0" tIns="12700" rIns="0" bIns="0" rtlCol="0">
            <a:spAutoFit/>
          </a:bodyPr>
          <a:lstStyle/>
          <a:p>
            <a:pPr marL="38100">
              <a:lnSpc>
                <a:spcPts val="3890"/>
              </a:lnSpc>
              <a:spcBef>
                <a:spcPts val="100"/>
              </a:spcBef>
              <a:tabLst>
                <a:tab pos="393065" algn="l"/>
                <a:tab pos="751205" algn="l"/>
                <a:tab pos="1167765" algn="l"/>
              </a:tabLst>
            </a:pPr>
            <a:r>
              <a:rPr sz="1300" i="1" spc="-95" dirty="0">
                <a:latin typeface="Times New Roman"/>
                <a:cs typeface="Times New Roman"/>
              </a:rPr>
              <a:t>w	</a:t>
            </a:r>
            <a:r>
              <a:rPr sz="1300" i="1" spc="-40" dirty="0">
                <a:latin typeface="Times New Roman"/>
                <a:cs typeface="Times New Roman"/>
              </a:rPr>
              <a:t>i	j	</a:t>
            </a:r>
            <a:r>
              <a:rPr sz="3400" spc="-290" dirty="0">
                <a:latin typeface="Symbol"/>
                <a:cs typeface="Symbol"/>
              </a:rPr>
              <a:t></a:t>
            </a:r>
            <a:endParaRPr sz="3400">
              <a:latin typeface="Symbol"/>
              <a:cs typeface="Symbol"/>
            </a:endParaRPr>
          </a:p>
          <a:p>
            <a:pPr marR="44450" algn="r">
              <a:lnSpc>
                <a:spcPts val="1370"/>
              </a:lnSpc>
            </a:pPr>
            <a:r>
              <a:rPr sz="1300" i="1" spc="-120" dirty="0">
                <a:latin typeface="Times New Roman"/>
                <a:cs typeface="Times New Roman"/>
              </a:rPr>
              <a:t>x</a:t>
            </a:r>
            <a:r>
              <a:rPr sz="1300" spc="-190" dirty="0">
                <a:latin typeface="Symbol"/>
                <a:cs typeface="Symbol"/>
              </a:rPr>
              <a:t></a:t>
            </a:r>
            <a:r>
              <a:rPr sz="1300" i="1" spc="-85" dirty="0">
                <a:latin typeface="Times New Roman"/>
                <a:cs typeface="Times New Roman"/>
              </a:rPr>
              <a:t>C</a:t>
            </a:r>
            <a:r>
              <a:rPr sz="1425" i="1" spc="-52" baseline="-20467" dirty="0">
                <a:latin typeface="Times New Roman"/>
                <a:cs typeface="Times New Roman"/>
              </a:rPr>
              <a:t>i</a:t>
            </a:r>
            <a:endParaRPr sz="1425" baseline="-20467">
              <a:latin typeface="Times New Roman"/>
              <a:cs typeface="Times New Roman"/>
            </a:endParaRPr>
          </a:p>
        </p:txBody>
      </p:sp>
      <p:sp>
        <p:nvSpPr>
          <p:cNvPr id="9" name="object 9"/>
          <p:cNvSpPr txBox="1"/>
          <p:nvPr/>
        </p:nvSpPr>
        <p:spPr>
          <a:xfrm>
            <a:off x="3872606" y="2629083"/>
            <a:ext cx="695325" cy="481965"/>
          </a:xfrm>
          <a:prstGeom prst="rect">
            <a:avLst/>
          </a:prstGeom>
        </p:spPr>
        <p:txBody>
          <a:bodyPr vert="horz" wrap="square" lIns="0" tIns="11430" rIns="0" bIns="0" rtlCol="0">
            <a:spAutoFit/>
          </a:bodyPr>
          <a:lstStyle/>
          <a:p>
            <a:pPr marL="12700">
              <a:lnSpc>
                <a:spcPct val="100000"/>
              </a:lnSpc>
              <a:spcBef>
                <a:spcPts val="90"/>
              </a:spcBef>
            </a:pPr>
            <a:r>
              <a:rPr sz="3000" spc="-204" dirty="0">
                <a:latin typeface="Symbol"/>
                <a:cs typeface="Symbol"/>
              </a:rPr>
              <a:t></a:t>
            </a:r>
            <a:r>
              <a:rPr sz="2250" i="1" spc="-204" dirty="0">
                <a:latin typeface="Times New Roman"/>
                <a:cs typeface="Times New Roman"/>
              </a:rPr>
              <a:t>x </a:t>
            </a:r>
            <a:r>
              <a:rPr sz="2250" spc="-140" dirty="0">
                <a:latin typeface="Symbol"/>
                <a:cs typeface="Symbol"/>
              </a:rPr>
              <a:t></a:t>
            </a:r>
            <a:r>
              <a:rPr sz="2250" spc="-140" dirty="0">
                <a:latin typeface="Times New Roman"/>
                <a:cs typeface="Times New Roman"/>
              </a:rPr>
              <a:t> </a:t>
            </a:r>
            <a:r>
              <a:rPr sz="2250" i="1" spc="-100" dirty="0">
                <a:latin typeface="Times New Roman"/>
                <a:cs typeface="Times New Roman"/>
              </a:rPr>
              <a:t>r</a:t>
            </a:r>
            <a:r>
              <a:rPr sz="2250" i="1" spc="-290" dirty="0">
                <a:latin typeface="Times New Roman"/>
                <a:cs typeface="Times New Roman"/>
              </a:rPr>
              <a:t> </a:t>
            </a:r>
            <a:r>
              <a:rPr sz="3000" spc="-345" dirty="0">
                <a:latin typeface="Symbol"/>
                <a:cs typeface="Symbol"/>
              </a:rPr>
              <a:t></a:t>
            </a:r>
            <a:endParaRPr sz="3000">
              <a:latin typeface="Symbol"/>
              <a:cs typeface="Symbol"/>
            </a:endParaRPr>
          </a:p>
        </p:txBody>
      </p:sp>
      <p:sp>
        <p:nvSpPr>
          <p:cNvPr id="10" name="object 10"/>
          <p:cNvSpPr txBox="1"/>
          <p:nvPr/>
        </p:nvSpPr>
        <p:spPr>
          <a:xfrm>
            <a:off x="7187251" y="2691693"/>
            <a:ext cx="99695" cy="227329"/>
          </a:xfrm>
          <a:prstGeom prst="rect">
            <a:avLst/>
          </a:prstGeom>
        </p:spPr>
        <p:txBody>
          <a:bodyPr vert="horz" wrap="square" lIns="0" tIns="15240" rIns="0" bIns="0" rtlCol="0">
            <a:spAutoFit/>
          </a:bodyPr>
          <a:lstStyle/>
          <a:p>
            <a:pPr marL="12700">
              <a:lnSpc>
                <a:spcPct val="100000"/>
              </a:lnSpc>
              <a:spcBef>
                <a:spcPts val="120"/>
              </a:spcBef>
            </a:pPr>
            <a:r>
              <a:rPr sz="1300" spc="-70" dirty="0">
                <a:latin typeface="Times New Roman"/>
                <a:cs typeface="Times New Roman"/>
              </a:rPr>
              <a:t>2</a:t>
            </a:r>
            <a:endParaRPr sz="1300">
              <a:latin typeface="Times New Roman"/>
              <a:cs typeface="Times New Roman"/>
            </a:endParaRPr>
          </a:p>
        </p:txBody>
      </p:sp>
      <p:sp>
        <p:nvSpPr>
          <p:cNvPr id="11" name="object 11"/>
          <p:cNvSpPr txBox="1"/>
          <p:nvPr/>
        </p:nvSpPr>
        <p:spPr>
          <a:xfrm>
            <a:off x="5838351" y="2691693"/>
            <a:ext cx="99695" cy="227329"/>
          </a:xfrm>
          <a:prstGeom prst="rect">
            <a:avLst/>
          </a:prstGeom>
        </p:spPr>
        <p:txBody>
          <a:bodyPr vert="horz" wrap="square" lIns="0" tIns="15240" rIns="0" bIns="0" rtlCol="0">
            <a:spAutoFit/>
          </a:bodyPr>
          <a:lstStyle/>
          <a:p>
            <a:pPr marL="12700">
              <a:lnSpc>
                <a:spcPct val="100000"/>
              </a:lnSpc>
              <a:spcBef>
                <a:spcPts val="120"/>
              </a:spcBef>
            </a:pPr>
            <a:r>
              <a:rPr sz="1300" spc="-70" dirty="0">
                <a:latin typeface="Times New Roman"/>
                <a:cs typeface="Times New Roman"/>
              </a:rPr>
              <a:t>2</a:t>
            </a:r>
            <a:endParaRPr sz="1300">
              <a:latin typeface="Times New Roman"/>
              <a:cs typeface="Times New Roman"/>
            </a:endParaRPr>
          </a:p>
        </p:txBody>
      </p:sp>
      <p:sp>
        <p:nvSpPr>
          <p:cNvPr id="12" name="object 12"/>
          <p:cNvSpPr txBox="1"/>
          <p:nvPr/>
        </p:nvSpPr>
        <p:spPr>
          <a:xfrm>
            <a:off x="4534864" y="2691693"/>
            <a:ext cx="99695" cy="227329"/>
          </a:xfrm>
          <a:prstGeom prst="rect">
            <a:avLst/>
          </a:prstGeom>
        </p:spPr>
        <p:txBody>
          <a:bodyPr vert="horz" wrap="square" lIns="0" tIns="15240" rIns="0" bIns="0" rtlCol="0">
            <a:spAutoFit/>
          </a:bodyPr>
          <a:lstStyle/>
          <a:p>
            <a:pPr marL="12700">
              <a:lnSpc>
                <a:spcPct val="100000"/>
              </a:lnSpc>
              <a:spcBef>
                <a:spcPts val="120"/>
              </a:spcBef>
            </a:pPr>
            <a:r>
              <a:rPr sz="1300" spc="-70" dirty="0">
                <a:latin typeface="Times New Roman"/>
                <a:cs typeface="Times New Roman"/>
              </a:rPr>
              <a:t>2</a:t>
            </a:r>
            <a:endParaRPr sz="1300">
              <a:latin typeface="Times New Roman"/>
              <a:cs typeface="Times New Roman"/>
            </a:endParaRPr>
          </a:p>
        </p:txBody>
      </p:sp>
      <p:sp>
        <p:nvSpPr>
          <p:cNvPr id="13" name="object 13"/>
          <p:cNvSpPr txBox="1"/>
          <p:nvPr/>
        </p:nvSpPr>
        <p:spPr>
          <a:xfrm>
            <a:off x="2224889" y="2513972"/>
            <a:ext cx="5029835" cy="829310"/>
          </a:xfrm>
          <a:prstGeom prst="rect">
            <a:avLst/>
          </a:prstGeom>
        </p:spPr>
        <p:txBody>
          <a:bodyPr vert="horz" wrap="square" lIns="0" tIns="57150" rIns="0" bIns="0" rtlCol="0">
            <a:spAutoFit/>
          </a:bodyPr>
          <a:lstStyle/>
          <a:p>
            <a:pPr marL="50800">
              <a:lnSpc>
                <a:spcPct val="100000"/>
              </a:lnSpc>
              <a:spcBef>
                <a:spcPts val="450"/>
              </a:spcBef>
              <a:tabLst>
                <a:tab pos="2463800" algn="l"/>
              </a:tabLst>
            </a:pPr>
            <a:r>
              <a:rPr sz="2250" i="1" spc="-185" dirty="0">
                <a:latin typeface="Times New Roman"/>
                <a:cs typeface="Times New Roman"/>
              </a:rPr>
              <a:t>D   </a:t>
            </a:r>
            <a:r>
              <a:rPr sz="3550" spc="-440" dirty="0">
                <a:latin typeface="Symbol"/>
                <a:cs typeface="Symbol"/>
              </a:rPr>
              <a:t></a:t>
            </a:r>
            <a:r>
              <a:rPr sz="2250" i="1" spc="-440" dirty="0">
                <a:latin typeface="Times New Roman"/>
                <a:cs typeface="Times New Roman"/>
              </a:rPr>
              <a:t>C  </a:t>
            </a:r>
            <a:r>
              <a:rPr sz="2250" i="1" spc="-425" dirty="0">
                <a:latin typeface="Times New Roman"/>
                <a:cs typeface="Times New Roman"/>
              </a:rPr>
              <a:t> </a:t>
            </a:r>
            <a:r>
              <a:rPr sz="2250" spc="-25" dirty="0">
                <a:latin typeface="Times New Roman"/>
                <a:cs typeface="Times New Roman"/>
              </a:rPr>
              <a:t>,</a:t>
            </a:r>
            <a:r>
              <a:rPr sz="2250" i="1" spc="-25" dirty="0">
                <a:latin typeface="Times New Roman"/>
                <a:cs typeface="Times New Roman"/>
              </a:rPr>
              <a:t>C</a:t>
            </a:r>
            <a:r>
              <a:rPr sz="2250" i="1" spc="355" dirty="0">
                <a:latin typeface="Times New Roman"/>
                <a:cs typeface="Times New Roman"/>
              </a:rPr>
              <a:t> </a:t>
            </a:r>
            <a:r>
              <a:rPr sz="3550" spc="-220" dirty="0">
                <a:latin typeface="Symbol"/>
                <a:cs typeface="Symbol"/>
              </a:rPr>
              <a:t></a:t>
            </a:r>
            <a:r>
              <a:rPr sz="2250" spc="-220" dirty="0">
                <a:latin typeface="Symbol"/>
                <a:cs typeface="Symbol"/>
              </a:rPr>
              <a:t></a:t>
            </a:r>
            <a:r>
              <a:rPr sz="2250" spc="-220" dirty="0">
                <a:latin typeface="Times New Roman"/>
                <a:cs typeface="Times New Roman"/>
              </a:rPr>
              <a:t>	</a:t>
            </a:r>
            <a:r>
              <a:rPr sz="2250" spc="-140" dirty="0">
                <a:latin typeface="Symbol"/>
                <a:cs typeface="Symbol"/>
              </a:rPr>
              <a:t></a:t>
            </a:r>
            <a:r>
              <a:rPr sz="2250" spc="-140" dirty="0">
                <a:latin typeface="Times New Roman"/>
                <a:cs typeface="Times New Roman"/>
              </a:rPr>
              <a:t> </a:t>
            </a:r>
            <a:r>
              <a:rPr sz="5100" spc="-367" baseline="-8169" dirty="0">
                <a:latin typeface="Symbol"/>
                <a:cs typeface="Symbol"/>
              </a:rPr>
              <a:t></a:t>
            </a:r>
            <a:r>
              <a:rPr sz="3550" spc="-245" dirty="0">
                <a:latin typeface="Symbol"/>
                <a:cs typeface="Symbol"/>
              </a:rPr>
              <a:t></a:t>
            </a:r>
            <a:r>
              <a:rPr sz="2250" i="1" spc="-245" dirty="0">
                <a:latin typeface="Times New Roman"/>
                <a:cs typeface="Times New Roman"/>
              </a:rPr>
              <a:t>x </a:t>
            </a:r>
            <a:r>
              <a:rPr sz="2250" spc="-140" dirty="0">
                <a:latin typeface="Symbol"/>
                <a:cs typeface="Symbol"/>
              </a:rPr>
              <a:t></a:t>
            </a:r>
            <a:r>
              <a:rPr sz="2250" spc="-140" dirty="0">
                <a:latin typeface="Times New Roman"/>
                <a:cs typeface="Times New Roman"/>
              </a:rPr>
              <a:t> </a:t>
            </a:r>
            <a:r>
              <a:rPr sz="2250" i="1" spc="-100" dirty="0">
                <a:latin typeface="Times New Roman"/>
                <a:cs typeface="Times New Roman"/>
              </a:rPr>
              <a:t>r </a:t>
            </a:r>
            <a:r>
              <a:rPr sz="3550" spc="-530" dirty="0">
                <a:latin typeface="Symbol"/>
                <a:cs typeface="Symbol"/>
              </a:rPr>
              <a:t></a:t>
            </a:r>
            <a:r>
              <a:rPr sz="3550" spc="-530" dirty="0">
                <a:latin typeface="Times New Roman"/>
                <a:cs typeface="Times New Roman"/>
              </a:rPr>
              <a:t> </a:t>
            </a:r>
            <a:r>
              <a:rPr sz="2250" spc="-140" dirty="0">
                <a:latin typeface="Symbol"/>
                <a:cs typeface="Symbol"/>
              </a:rPr>
              <a:t></a:t>
            </a:r>
            <a:r>
              <a:rPr sz="2250" spc="-140" dirty="0">
                <a:latin typeface="Times New Roman"/>
                <a:cs typeface="Times New Roman"/>
              </a:rPr>
              <a:t> </a:t>
            </a:r>
            <a:r>
              <a:rPr sz="5100" spc="-367" baseline="-8169" dirty="0">
                <a:latin typeface="Symbol"/>
                <a:cs typeface="Symbol"/>
              </a:rPr>
              <a:t></a:t>
            </a:r>
            <a:r>
              <a:rPr sz="3550" spc="-245" dirty="0">
                <a:latin typeface="Symbol"/>
                <a:cs typeface="Symbol"/>
              </a:rPr>
              <a:t></a:t>
            </a:r>
            <a:r>
              <a:rPr sz="2250" i="1" spc="-245" dirty="0">
                <a:latin typeface="Times New Roman"/>
                <a:cs typeface="Times New Roman"/>
              </a:rPr>
              <a:t>x </a:t>
            </a:r>
            <a:r>
              <a:rPr sz="2250" spc="-140" dirty="0">
                <a:latin typeface="Symbol"/>
                <a:cs typeface="Symbol"/>
              </a:rPr>
              <a:t></a:t>
            </a:r>
            <a:r>
              <a:rPr sz="2250" spc="-140" dirty="0">
                <a:latin typeface="Times New Roman"/>
                <a:cs typeface="Times New Roman"/>
              </a:rPr>
              <a:t> </a:t>
            </a:r>
            <a:r>
              <a:rPr sz="2250" i="1" spc="-100" dirty="0">
                <a:latin typeface="Times New Roman"/>
                <a:cs typeface="Times New Roman"/>
              </a:rPr>
              <a:t>r</a:t>
            </a:r>
            <a:r>
              <a:rPr sz="2250" i="1" spc="-90" dirty="0">
                <a:latin typeface="Times New Roman"/>
                <a:cs typeface="Times New Roman"/>
              </a:rPr>
              <a:t> </a:t>
            </a:r>
            <a:r>
              <a:rPr sz="3550" spc="-660" dirty="0">
                <a:latin typeface="Symbol"/>
                <a:cs typeface="Symbol"/>
              </a:rPr>
              <a:t></a:t>
            </a:r>
            <a:endParaRPr sz="3550" dirty="0">
              <a:latin typeface="Symbol"/>
              <a:cs typeface="Symbol"/>
            </a:endParaRPr>
          </a:p>
          <a:p>
            <a:pPr marL="2622550">
              <a:lnSpc>
                <a:spcPct val="100000"/>
              </a:lnSpc>
              <a:spcBef>
                <a:spcPts val="150"/>
              </a:spcBef>
              <a:tabLst>
                <a:tab pos="3957320" algn="l"/>
              </a:tabLst>
            </a:pPr>
            <a:r>
              <a:rPr sz="1300" i="1" spc="-135" dirty="0">
                <a:latin typeface="Times New Roman"/>
                <a:cs typeface="Times New Roman"/>
              </a:rPr>
              <a:t>x</a:t>
            </a:r>
            <a:r>
              <a:rPr sz="1300" spc="-135" dirty="0">
                <a:latin typeface="Symbol"/>
                <a:cs typeface="Symbol"/>
              </a:rPr>
              <a:t></a:t>
            </a:r>
            <a:r>
              <a:rPr sz="1300" i="1" spc="-135" dirty="0">
                <a:latin typeface="Times New Roman"/>
                <a:cs typeface="Times New Roman"/>
              </a:rPr>
              <a:t>C</a:t>
            </a:r>
            <a:r>
              <a:rPr sz="1300" i="1" spc="-140" dirty="0">
                <a:latin typeface="Times New Roman"/>
                <a:cs typeface="Times New Roman"/>
              </a:rPr>
              <a:t> </a:t>
            </a:r>
            <a:r>
              <a:rPr sz="1425" i="1" spc="-52" baseline="-20467" dirty="0">
                <a:latin typeface="Times New Roman"/>
                <a:cs typeface="Times New Roman"/>
              </a:rPr>
              <a:t>j	</a:t>
            </a:r>
            <a:r>
              <a:rPr sz="1300" i="1" spc="-90" dirty="0">
                <a:latin typeface="Times New Roman"/>
                <a:cs typeface="Times New Roman"/>
              </a:rPr>
              <a:t>x</a:t>
            </a:r>
            <a:r>
              <a:rPr sz="1300" spc="-90" dirty="0">
                <a:latin typeface="Symbol"/>
                <a:cs typeface="Symbol"/>
              </a:rPr>
              <a:t></a:t>
            </a:r>
            <a:r>
              <a:rPr sz="1300" i="1" spc="-90" dirty="0">
                <a:latin typeface="Times New Roman"/>
                <a:cs typeface="Times New Roman"/>
              </a:rPr>
              <a:t>C</a:t>
            </a:r>
            <a:r>
              <a:rPr sz="1425" i="1" spc="-135" baseline="-20467" dirty="0">
                <a:latin typeface="Times New Roman"/>
                <a:cs typeface="Times New Roman"/>
              </a:rPr>
              <a:t>ij</a:t>
            </a:r>
            <a:endParaRPr sz="1425" baseline="-20467" dirty="0">
              <a:latin typeface="Times New Roman"/>
              <a:cs typeface="Times New Roman"/>
            </a:endParaRPr>
          </a:p>
        </p:txBody>
      </p:sp>
      <p:sp>
        <p:nvSpPr>
          <p:cNvPr id="16" name="TextBox 15">
            <a:extLst>
              <a:ext uri="{FF2B5EF4-FFF2-40B4-BE49-F238E27FC236}">
                <a16:creationId xmlns:a16="http://schemas.microsoft.com/office/drawing/2014/main" id="{C6AF529D-8E29-D45E-1DFD-99BF915AFF49}"/>
              </a:ext>
            </a:extLst>
          </p:cNvPr>
          <p:cNvSpPr txBox="1"/>
          <p:nvPr/>
        </p:nvSpPr>
        <p:spPr>
          <a:xfrm>
            <a:off x="3276600" y="3643442"/>
            <a:ext cx="4572000" cy="1200329"/>
          </a:xfrm>
          <a:prstGeom prst="rect">
            <a:avLst/>
          </a:prstGeom>
          <a:noFill/>
        </p:spPr>
        <p:txBody>
          <a:bodyPr wrap="square">
            <a:spAutoFit/>
          </a:bodyPr>
          <a:lstStyle/>
          <a:p>
            <a:r>
              <a:rPr lang="en-US" b="0" i="0" dirty="0">
                <a:solidFill>
                  <a:srgbClr val="555555"/>
                </a:solidFill>
                <a:effectLst/>
                <a:highlight>
                  <a:srgbClr val="FFFFFF"/>
                </a:highlight>
                <a:latin typeface="Source Sans Pro" panose="020B0503030403020204" pitchFamily="34" charset="0"/>
              </a:rPr>
              <a:t>Unlike the others. Instead of measuring the distance directly, it analyzes the variance of clusters. Ward’s is said to be the most suitable method for quantitative variables.</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AEBEC-EE7B-43CC-96AF-A506A18BC2E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E35910BC-7654-4FFE-BE00-0ED76E6DCB7C}"/>
              </a:ext>
            </a:extLst>
          </p:cNvPr>
          <p:cNvSpPr>
            <a:spLocks noGrp="1"/>
          </p:cNvSpPr>
          <p:nvPr>
            <p:ph type="body" idx="1"/>
          </p:nvPr>
        </p:nvSpPr>
        <p:spPr>
          <a:xfrm>
            <a:off x="506880" y="1123950"/>
            <a:ext cx="7975423" cy="3657600"/>
          </a:xfrm>
        </p:spPr>
        <p:txBody>
          <a:bodyPr/>
          <a:lstStyle/>
          <a:p>
            <a:r>
              <a:rPr lang="en-US" sz="1600" dirty="0"/>
              <a:t>There are four methods for combining clusters in agglomerative approach. The one we choose to use is called Ward’s Method. Unlike the others. Instead of measuring the distance directly, it analyzes the variance of clusters. Ward’s is said to be the most suitable method for quantitative variables. Ward’s method says that the distance between two clusters, A and B, is how much the sum of squares will increase when we merge them:</a:t>
            </a:r>
          </a:p>
          <a:p>
            <a:endParaRPr lang="en-US" sz="1600" dirty="0"/>
          </a:p>
          <a:p>
            <a:endParaRPr lang="en-US" sz="1600" dirty="0"/>
          </a:p>
          <a:p>
            <a:endParaRPr lang="en-US" sz="1600" dirty="0"/>
          </a:p>
          <a:p>
            <a:endParaRPr lang="en-US" sz="1600" dirty="0"/>
          </a:p>
          <a:p>
            <a:endParaRPr lang="en-US" sz="1600" dirty="0"/>
          </a:p>
          <a:p>
            <a:endParaRPr lang="en-US" sz="1600" dirty="0"/>
          </a:p>
          <a:p>
            <a:r>
              <a:rPr lang="en-US" sz="1600" dirty="0"/>
              <a:t>where </a:t>
            </a:r>
            <a:r>
              <a:rPr lang="en-US" sz="1600" dirty="0" err="1"/>
              <a:t>m→jis</a:t>
            </a:r>
            <a:r>
              <a:rPr lang="en-US" sz="1600" dirty="0"/>
              <a:t> the center of cluster j, and </a:t>
            </a:r>
            <a:r>
              <a:rPr lang="en-US" sz="1600" dirty="0" err="1"/>
              <a:t>nj</a:t>
            </a:r>
            <a:r>
              <a:rPr lang="en-US" sz="1600" dirty="0"/>
              <a:t> is the number of points in it. Δ is called the merging cost of combining the clusters A and B. With hierarchical clustering, the sum of squares starts out at zero (because every point is in its own cluster) and then grows as we merge clusters. Ward’s method keeps this growth as small as possible.</a:t>
            </a:r>
            <a:endParaRPr lang="en-IN" sz="1600" dirty="0"/>
          </a:p>
        </p:txBody>
      </p:sp>
      <p:pic>
        <p:nvPicPr>
          <p:cNvPr id="6" name="Picture 5">
            <a:extLst>
              <a:ext uri="{FF2B5EF4-FFF2-40B4-BE49-F238E27FC236}">
                <a16:creationId xmlns:a16="http://schemas.microsoft.com/office/drawing/2014/main" id="{D1E220BA-72B7-4F47-80AB-EF7B775621E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45000"/>
                    </a14:imgEffect>
                  </a14:imgLayer>
                </a14:imgProps>
              </a:ext>
            </a:extLst>
          </a:blip>
          <a:stretch>
            <a:fillRect/>
          </a:stretch>
        </p:blipFill>
        <p:spPr>
          <a:xfrm>
            <a:off x="786330" y="2495550"/>
            <a:ext cx="7670573" cy="1219200"/>
          </a:xfrm>
          <a:prstGeom prst="rect">
            <a:avLst/>
          </a:prstGeom>
        </p:spPr>
      </p:pic>
    </p:spTree>
    <p:extLst>
      <p:ext uri="{BB962C8B-B14F-4D97-AF65-F5344CB8AC3E}">
        <p14:creationId xmlns:p14="http://schemas.microsoft.com/office/powerpoint/2010/main" val="36335601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7F4DA-7CEF-4832-99EB-099319AE6C7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6145CBF3-F281-49AD-BBDC-835C2C71B799}"/>
              </a:ext>
            </a:extLst>
          </p:cNvPr>
          <p:cNvSpPr>
            <a:spLocks noGrp="1"/>
          </p:cNvSpPr>
          <p:nvPr>
            <p:ph type="body" idx="1"/>
          </p:nvPr>
        </p:nvSpPr>
        <p:spPr/>
        <p:txBody>
          <a:bodyPr/>
          <a:lstStyle/>
          <a:p>
            <a:r>
              <a:rPr lang="en-US" dirty="0"/>
              <a:t>With hierarchical clustering, the sum of squares starts out at zero (because every point is in its own cluster) and then grows as we merge clusters. Ward’s method keeps this growth as small as possible. This is nice if you believe that the sum of squares should be small. Notice that the number of points shows up in ∆, as well as their geometric separation. Given two pairs of clusters whose centers are equally far apart, Ward’s method will prefer to merge the smaller ones.</a:t>
            </a:r>
            <a:endParaRPr lang="en-IN" dirty="0"/>
          </a:p>
        </p:txBody>
      </p:sp>
    </p:spTree>
    <p:extLst>
      <p:ext uri="{BB962C8B-B14F-4D97-AF65-F5344CB8AC3E}">
        <p14:creationId xmlns:p14="http://schemas.microsoft.com/office/powerpoint/2010/main" val="32253907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09D17-40C9-4309-A741-6B61D22C88A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2D1D73C2-FBCF-4CDC-9980-0C735D1EB3AD}"/>
              </a:ext>
            </a:extLst>
          </p:cNvPr>
          <p:cNvSpPr>
            <a:spLocks noGrp="1"/>
          </p:cNvSpPr>
          <p:nvPr>
            <p:ph type="body" idx="1"/>
          </p:nvPr>
        </p:nvSpPr>
        <p:spPr/>
        <p:txBody>
          <a:bodyPr/>
          <a:lstStyle/>
          <a:p>
            <a:pPr algn="l"/>
            <a:r>
              <a:rPr lang="en-US" b="1" i="0" dirty="0">
                <a:solidFill>
                  <a:srgbClr val="3B444F"/>
                </a:solidFill>
                <a:effectLst/>
                <a:latin typeface="-apple-system"/>
              </a:rPr>
              <a:t>Ward’s Method</a:t>
            </a:r>
            <a:r>
              <a:rPr lang="en-US" b="0" i="0" dirty="0">
                <a:solidFill>
                  <a:srgbClr val="3B444F"/>
                </a:solidFill>
                <a:effectLst/>
                <a:latin typeface="-apple-system"/>
              </a:rPr>
              <a:t>: This method does not directly define a measure of distance between two points or clusters. It is an ANOVA based approach. One-way univariate ANOVAs are done for each variable with groups defined by the clusters at that stage of the process. At each stage, two clusters merge that provide the smallest increase in the combined error sum of squares.</a:t>
            </a:r>
          </a:p>
          <a:p>
            <a:endParaRPr lang="en-IN" dirty="0"/>
          </a:p>
        </p:txBody>
      </p:sp>
    </p:spTree>
    <p:extLst>
      <p:ext uri="{BB962C8B-B14F-4D97-AF65-F5344CB8AC3E}">
        <p14:creationId xmlns:p14="http://schemas.microsoft.com/office/powerpoint/2010/main" val="32811494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2302E-36E6-4F99-90EE-B188F194E00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4A814DE1-CCB8-4F88-B29D-D301C4DB6146}"/>
              </a:ext>
            </a:extLst>
          </p:cNvPr>
          <p:cNvSpPr>
            <a:spLocks noGrp="1"/>
          </p:cNvSpPr>
          <p:nvPr>
            <p:ph type="body" idx="1"/>
          </p:nvPr>
        </p:nvSpPr>
        <p:spPr/>
        <p:txBody>
          <a:bodyPr/>
          <a:lstStyle/>
          <a:p>
            <a:endParaRPr lang="en-IN" dirty="0"/>
          </a:p>
        </p:txBody>
      </p:sp>
      <p:pic>
        <p:nvPicPr>
          <p:cNvPr id="2050" name="Picture 2">
            <a:extLst>
              <a:ext uri="{FF2B5EF4-FFF2-40B4-BE49-F238E27FC236}">
                <a16:creationId xmlns:a16="http://schemas.microsoft.com/office/drawing/2014/main" id="{D26310EA-29BC-45A5-AFED-4EAB6212A7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350" y="766763"/>
            <a:ext cx="8115300" cy="3609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96646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86989" y="385953"/>
            <a:ext cx="3967479" cy="452120"/>
          </a:xfrm>
          <a:prstGeom prst="rect">
            <a:avLst/>
          </a:prstGeom>
        </p:spPr>
        <p:txBody>
          <a:bodyPr vert="horz" wrap="square" lIns="0" tIns="12065" rIns="0" bIns="0" rtlCol="0">
            <a:spAutoFit/>
          </a:bodyPr>
          <a:lstStyle/>
          <a:p>
            <a:pPr marL="12700">
              <a:lnSpc>
                <a:spcPct val="100000"/>
              </a:lnSpc>
              <a:spcBef>
                <a:spcPts val="95"/>
              </a:spcBef>
            </a:pPr>
            <a:r>
              <a:rPr lang="en-IN" sz="2800" spc="-165" dirty="0">
                <a:solidFill>
                  <a:srgbClr val="0000FF"/>
                </a:solidFill>
                <a:latin typeface="Arial"/>
                <a:cs typeface="Arial"/>
              </a:rPr>
              <a:t>Ward’s </a:t>
            </a:r>
            <a:r>
              <a:rPr lang="en-IN" sz="2800" spc="-130" dirty="0">
                <a:solidFill>
                  <a:srgbClr val="0000FF"/>
                </a:solidFill>
                <a:latin typeface="Arial"/>
                <a:cs typeface="Arial"/>
              </a:rPr>
              <a:t>distance </a:t>
            </a:r>
            <a:r>
              <a:rPr lang="en-IN" sz="2800" spc="-15" dirty="0">
                <a:solidFill>
                  <a:srgbClr val="0000FF"/>
                </a:solidFill>
                <a:latin typeface="Arial"/>
                <a:cs typeface="Arial"/>
              </a:rPr>
              <a:t>for</a:t>
            </a:r>
            <a:r>
              <a:rPr lang="en-IN" sz="2800" spc="-130" dirty="0">
                <a:solidFill>
                  <a:srgbClr val="0000FF"/>
                </a:solidFill>
                <a:latin typeface="Arial"/>
                <a:cs typeface="Arial"/>
              </a:rPr>
              <a:t> </a:t>
            </a:r>
            <a:r>
              <a:rPr lang="en-IN" sz="2800" spc="-125" dirty="0">
                <a:solidFill>
                  <a:srgbClr val="0000FF"/>
                </a:solidFill>
                <a:latin typeface="Arial"/>
                <a:cs typeface="Arial"/>
              </a:rPr>
              <a:t>clusters</a:t>
            </a:r>
            <a:endParaRPr lang="en-IN" sz="2800" dirty="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47</a:t>
            </a:fld>
            <a:endParaRPr dirty="0"/>
          </a:p>
        </p:txBody>
      </p:sp>
      <p:sp>
        <p:nvSpPr>
          <p:cNvPr id="3" name="object 3"/>
          <p:cNvSpPr txBox="1"/>
          <p:nvPr/>
        </p:nvSpPr>
        <p:spPr>
          <a:xfrm>
            <a:off x="535940" y="1216913"/>
            <a:ext cx="5033645" cy="2891790"/>
          </a:xfrm>
          <a:prstGeom prst="rect">
            <a:avLst/>
          </a:prstGeom>
        </p:spPr>
        <p:txBody>
          <a:bodyPr vert="horz" wrap="square" lIns="0" tIns="13335" rIns="0" bIns="0" rtlCol="0">
            <a:spAutoFit/>
          </a:bodyPr>
          <a:lstStyle/>
          <a:p>
            <a:pPr marL="231775" indent="-219710">
              <a:lnSpc>
                <a:spcPct val="100000"/>
              </a:lnSpc>
              <a:spcBef>
                <a:spcPts val="105"/>
              </a:spcBef>
              <a:buFont typeface="Arial"/>
              <a:buChar char="•"/>
              <a:tabLst>
                <a:tab pos="231775" algn="l"/>
                <a:tab pos="232410" algn="l"/>
              </a:tabLst>
            </a:pPr>
            <a:r>
              <a:rPr sz="2000" spc="-5" dirty="0">
                <a:latin typeface="Carlito"/>
                <a:cs typeface="Carlito"/>
              </a:rPr>
              <a:t>Similar </a:t>
            </a:r>
            <a:r>
              <a:rPr sz="2000" spc="-15" dirty="0">
                <a:latin typeface="Carlito"/>
                <a:cs typeface="Carlito"/>
              </a:rPr>
              <a:t>to </a:t>
            </a:r>
            <a:r>
              <a:rPr sz="2000" spc="-10" dirty="0">
                <a:latin typeface="Carlito"/>
                <a:cs typeface="Carlito"/>
              </a:rPr>
              <a:t>group </a:t>
            </a:r>
            <a:r>
              <a:rPr sz="2000" spc="-20" dirty="0">
                <a:latin typeface="Carlito"/>
                <a:cs typeface="Carlito"/>
              </a:rPr>
              <a:t>average </a:t>
            </a:r>
            <a:r>
              <a:rPr sz="2000" dirty="0">
                <a:latin typeface="Carlito"/>
                <a:cs typeface="Carlito"/>
              </a:rPr>
              <a:t>and </a:t>
            </a:r>
            <a:r>
              <a:rPr sz="2000" spc="-10" dirty="0">
                <a:latin typeface="Carlito"/>
                <a:cs typeface="Carlito"/>
              </a:rPr>
              <a:t>centroid</a:t>
            </a:r>
            <a:r>
              <a:rPr sz="2000" spc="50" dirty="0">
                <a:latin typeface="Carlito"/>
                <a:cs typeface="Carlito"/>
              </a:rPr>
              <a:t> </a:t>
            </a:r>
            <a:r>
              <a:rPr sz="2000" spc="-10" dirty="0">
                <a:latin typeface="Carlito"/>
                <a:cs typeface="Carlito"/>
              </a:rPr>
              <a:t>distance</a:t>
            </a:r>
            <a:endParaRPr sz="2000" dirty="0">
              <a:latin typeface="Carlito"/>
              <a:cs typeface="Carlito"/>
            </a:endParaRPr>
          </a:p>
          <a:p>
            <a:pPr>
              <a:lnSpc>
                <a:spcPct val="100000"/>
              </a:lnSpc>
              <a:buFont typeface="Arial"/>
              <a:buChar char="•"/>
            </a:pPr>
            <a:endParaRPr sz="2750" dirty="0">
              <a:latin typeface="Carlito"/>
              <a:cs typeface="Carlito"/>
            </a:endParaRPr>
          </a:p>
          <a:p>
            <a:pPr marL="231775" indent="-219710">
              <a:lnSpc>
                <a:spcPct val="100000"/>
              </a:lnSpc>
              <a:spcBef>
                <a:spcPts val="5"/>
              </a:spcBef>
              <a:buFont typeface="Arial"/>
              <a:buChar char="•"/>
              <a:tabLst>
                <a:tab pos="231775" algn="l"/>
                <a:tab pos="232410" algn="l"/>
              </a:tabLst>
            </a:pPr>
            <a:r>
              <a:rPr sz="2000" spc="-5" dirty="0">
                <a:latin typeface="Carlito"/>
                <a:cs typeface="Carlito"/>
              </a:rPr>
              <a:t>Less susceptible </a:t>
            </a:r>
            <a:r>
              <a:rPr sz="2000" spc="-15" dirty="0">
                <a:latin typeface="Carlito"/>
                <a:cs typeface="Carlito"/>
              </a:rPr>
              <a:t>to </a:t>
            </a:r>
            <a:r>
              <a:rPr sz="2000" spc="-5" dirty="0">
                <a:latin typeface="Carlito"/>
                <a:cs typeface="Carlito"/>
              </a:rPr>
              <a:t>noise </a:t>
            </a:r>
            <a:r>
              <a:rPr sz="2000" dirty="0">
                <a:latin typeface="Carlito"/>
                <a:cs typeface="Carlito"/>
              </a:rPr>
              <a:t>and</a:t>
            </a:r>
            <a:r>
              <a:rPr sz="2000" spc="30" dirty="0">
                <a:latin typeface="Carlito"/>
                <a:cs typeface="Carlito"/>
              </a:rPr>
              <a:t> </a:t>
            </a:r>
            <a:r>
              <a:rPr sz="2000" spc="-10" dirty="0">
                <a:latin typeface="Carlito"/>
                <a:cs typeface="Carlito"/>
              </a:rPr>
              <a:t>outliers</a:t>
            </a:r>
            <a:endParaRPr sz="2000" dirty="0">
              <a:latin typeface="Carlito"/>
              <a:cs typeface="Carlito"/>
            </a:endParaRPr>
          </a:p>
          <a:p>
            <a:pPr>
              <a:lnSpc>
                <a:spcPct val="100000"/>
              </a:lnSpc>
              <a:buFont typeface="Arial"/>
              <a:buChar char="•"/>
            </a:pPr>
            <a:endParaRPr sz="2750" dirty="0">
              <a:latin typeface="Carlito"/>
              <a:cs typeface="Carlito"/>
            </a:endParaRPr>
          </a:p>
          <a:p>
            <a:pPr marL="231775" indent="-219710">
              <a:lnSpc>
                <a:spcPct val="100000"/>
              </a:lnSpc>
              <a:buFont typeface="Arial"/>
              <a:buChar char="•"/>
              <a:tabLst>
                <a:tab pos="231775" algn="l"/>
                <a:tab pos="232410" algn="l"/>
              </a:tabLst>
            </a:pPr>
            <a:r>
              <a:rPr sz="2000" dirty="0">
                <a:latin typeface="Carlito"/>
                <a:cs typeface="Carlito"/>
              </a:rPr>
              <a:t>Biased </a:t>
            </a:r>
            <a:r>
              <a:rPr sz="2000" spc="-15" dirty="0">
                <a:latin typeface="Carlito"/>
                <a:cs typeface="Carlito"/>
              </a:rPr>
              <a:t>towards </a:t>
            </a:r>
            <a:r>
              <a:rPr sz="2000" dirty="0">
                <a:latin typeface="Carlito"/>
                <a:cs typeface="Carlito"/>
              </a:rPr>
              <a:t>globular</a:t>
            </a:r>
            <a:r>
              <a:rPr sz="2000" spc="-10" dirty="0">
                <a:latin typeface="Carlito"/>
                <a:cs typeface="Carlito"/>
              </a:rPr>
              <a:t> </a:t>
            </a:r>
            <a:r>
              <a:rPr sz="2000" spc="-15" dirty="0">
                <a:latin typeface="Carlito"/>
                <a:cs typeface="Carlito"/>
              </a:rPr>
              <a:t>clusters</a:t>
            </a:r>
            <a:endParaRPr sz="2000" dirty="0">
              <a:latin typeface="Carlito"/>
              <a:cs typeface="Carlito"/>
            </a:endParaRPr>
          </a:p>
          <a:p>
            <a:pPr>
              <a:lnSpc>
                <a:spcPct val="100000"/>
              </a:lnSpc>
              <a:spcBef>
                <a:spcPts val="5"/>
              </a:spcBef>
              <a:buFont typeface="Arial"/>
              <a:buChar char="•"/>
            </a:pPr>
            <a:endParaRPr sz="2750" dirty="0">
              <a:latin typeface="Carlito"/>
              <a:cs typeface="Carlito"/>
            </a:endParaRPr>
          </a:p>
          <a:p>
            <a:pPr marL="231775" indent="-219710">
              <a:lnSpc>
                <a:spcPct val="100000"/>
              </a:lnSpc>
              <a:buFont typeface="Arial"/>
              <a:buChar char="•"/>
              <a:tabLst>
                <a:tab pos="231775" algn="l"/>
                <a:tab pos="232410" algn="l"/>
              </a:tabLst>
            </a:pPr>
            <a:r>
              <a:rPr sz="2000" spc="-10" dirty="0">
                <a:latin typeface="Carlito"/>
                <a:cs typeface="Carlito"/>
              </a:rPr>
              <a:t>Hierarchical </a:t>
            </a:r>
            <a:r>
              <a:rPr sz="2000" dirty="0">
                <a:latin typeface="Carlito"/>
                <a:cs typeface="Carlito"/>
              </a:rPr>
              <a:t>analogue </a:t>
            </a:r>
            <a:r>
              <a:rPr sz="2000" spc="-5" dirty="0">
                <a:latin typeface="Carlito"/>
                <a:cs typeface="Carlito"/>
              </a:rPr>
              <a:t>of</a:t>
            </a:r>
            <a:r>
              <a:rPr sz="2000" spc="-20" dirty="0">
                <a:latin typeface="Carlito"/>
                <a:cs typeface="Carlito"/>
              </a:rPr>
              <a:t> </a:t>
            </a:r>
            <a:r>
              <a:rPr sz="2000" dirty="0">
                <a:latin typeface="Carlito"/>
                <a:cs typeface="Carlito"/>
              </a:rPr>
              <a:t>k-means</a:t>
            </a:r>
          </a:p>
          <a:p>
            <a:pPr marL="355600">
              <a:lnSpc>
                <a:spcPct val="100000"/>
              </a:lnSpc>
              <a:spcBef>
                <a:spcPts val="480"/>
              </a:spcBef>
            </a:pPr>
            <a:r>
              <a:rPr sz="2000" dirty="0">
                <a:latin typeface="Arial"/>
                <a:cs typeface="Arial"/>
              </a:rPr>
              <a:t>– </a:t>
            </a:r>
            <a:r>
              <a:rPr sz="2000" spc="-5" dirty="0">
                <a:latin typeface="Carlito"/>
                <a:cs typeface="Carlito"/>
              </a:rPr>
              <a:t>Can be used </a:t>
            </a:r>
            <a:r>
              <a:rPr sz="2000" spc="-10" dirty="0">
                <a:latin typeface="Carlito"/>
                <a:cs typeface="Carlito"/>
              </a:rPr>
              <a:t>to initialize</a:t>
            </a:r>
            <a:r>
              <a:rPr sz="2000" spc="-180" dirty="0">
                <a:latin typeface="Carlito"/>
                <a:cs typeface="Carlito"/>
              </a:rPr>
              <a:t> </a:t>
            </a:r>
            <a:r>
              <a:rPr sz="2000" dirty="0">
                <a:latin typeface="Carlito"/>
                <a:cs typeface="Carlito"/>
              </a:rPr>
              <a:t>k-means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56485" y="385953"/>
            <a:ext cx="4431030" cy="452120"/>
          </a:xfrm>
          <a:prstGeom prst="rect">
            <a:avLst/>
          </a:prstGeom>
        </p:spPr>
        <p:txBody>
          <a:bodyPr vert="horz" wrap="square" lIns="0" tIns="12065" rIns="0" bIns="0" rtlCol="0">
            <a:spAutoFit/>
          </a:bodyPr>
          <a:lstStyle/>
          <a:p>
            <a:pPr marL="12700">
              <a:lnSpc>
                <a:spcPct val="100000"/>
              </a:lnSpc>
              <a:spcBef>
                <a:spcPts val="95"/>
              </a:spcBef>
            </a:pPr>
            <a:r>
              <a:rPr sz="2800" spc="-15" dirty="0">
                <a:solidFill>
                  <a:srgbClr val="0000FF"/>
                </a:solidFill>
                <a:latin typeface="Carlito"/>
                <a:cs typeface="Carlito"/>
              </a:rPr>
              <a:t>Distance </a:t>
            </a:r>
            <a:r>
              <a:rPr sz="2800" spc="-10" dirty="0">
                <a:solidFill>
                  <a:srgbClr val="0000FF"/>
                </a:solidFill>
                <a:latin typeface="Carlito"/>
                <a:cs typeface="Carlito"/>
              </a:rPr>
              <a:t>between two</a:t>
            </a:r>
            <a:r>
              <a:rPr sz="2800" spc="-20" dirty="0">
                <a:solidFill>
                  <a:srgbClr val="0000FF"/>
                </a:solidFill>
                <a:latin typeface="Carlito"/>
                <a:cs typeface="Carlito"/>
              </a:rPr>
              <a:t> clusters</a:t>
            </a:r>
            <a:endParaRPr sz="2800">
              <a:latin typeface="Carlito"/>
              <a:cs typeface="Carlito"/>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48</a:t>
            </a:fld>
            <a:endParaRPr dirty="0"/>
          </a:p>
        </p:txBody>
      </p:sp>
      <p:sp>
        <p:nvSpPr>
          <p:cNvPr id="3" name="object 3"/>
          <p:cNvSpPr txBox="1"/>
          <p:nvPr/>
        </p:nvSpPr>
        <p:spPr>
          <a:xfrm>
            <a:off x="510540" y="1218437"/>
            <a:ext cx="8061325" cy="894080"/>
          </a:xfrm>
          <a:prstGeom prst="rect">
            <a:avLst/>
          </a:prstGeom>
        </p:spPr>
        <p:txBody>
          <a:bodyPr vert="horz" wrap="square" lIns="0" tIns="12065" rIns="0" bIns="0" rtlCol="0">
            <a:spAutoFit/>
          </a:bodyPr>
          <a:lstStyle/>
          <a:p>
            <a:pPr marL="381000" marR="43180" indent="-342900" algn="just">
              <a:lnSpc>
                <a:spcPct val="100000"/>
              </a:lnSpc>
              <a:spcBef>
                <a:spcPts val="95"/>
              </a:spcBef>
              <a:buFont typeface="Arial"/>
              <a:buChar char="•"/>
              <a:tabLst>
                <a:tab pos="381000" algn="l"/>
              </a:tabLst>
            </a:pPr>
            <a:r>
              <a:rPr sz="1900" b="1" spc="-40" dirty="0">
                <a:solidFill>
                  <a:srgbClr val="FF0000"/>
                </a:solidFill>
                <a:latin typeface="Carlito"/>
                <a:cs typeface="Carlito"/>
              </a:rPr>
              <a:t>Ward’s </a:t>
            </a:r>
            <a:r>
              <a:rPr sz="1900" b="1" spc="-10" dirty="0">
                <a:solidFill>
                  <a:srgbClr val="FF0000"/>
                </a:solidFill>
                <a:latin typeface="Carlito"/>
                <a:cs typeface="Carlito"/>
              </a:rPr>
              <a:t>distance </a:t>
            </a:r>
            <a:r>
              <a:rPr sz="1900" spc="-10" dirty="0">
                <a:latin typeface="Carlito"/>
                <a:cs typeface="Carlito"/>
              </a:rPr>
              <a:t>between </a:t>
            </a:r>
            <a:r>
              <a:rPr sz="1900" spc="-15" dirty="0">
                <a:latin typeface="Carlito"/>
                <a:cs typeface="Carlito"/>
              </a:rPr>
              <a:t>clusters </a:t>
            </a:r>
            <a:r>
              <a:rPr sz="1900" b="1" dirty="0">
                <a:solidFill>
                  <a:srgbClr val="4F81BC"/>
                </a:solidFill>
                <a:latin typeface="Carlito"/>
                <a:cs typeface="Carlito"/>
              </a:rPr>
              <a:t>C</a:t>
            </a:r>
            <a:r>
              <a:rPr sz="1875" b="1" baseline="-20000" dirty="0">
                <a:solidFill>
                  <a:srgbClr val="4F81BC"/>
                </a:solidFill>
                <a:latin typeface="Carlito"/>
                <a:cs typeface="Carlito"/>
              </a:rPr>
              <a:t>i </a:t>
            </a:r>
            <a:r>
              <a:rPr sz="1900" spc="-5" dirty="0">
                <a:latin typeface="Carlito"/>
                <a:cs typeface="Carlito"/>
              </a:rPr>
              <a:t>and </a:t>
            </a:r>
            <a:r>
              <a:rPr sz="1900" b="1" dirty="0">
                <a:solidFill>
                  <a:srgbClr val="4F81BC"/>
                </a:solidFill>
                <a:latin typeface="Carlito"/>
                <a:cs typeface="Carlito"/>
              </a:rPr>
              <a:t>C</a:t>
            </a:r>
            <a:r>
              <a:rPr sz="1875" b="1" baseline="-20000" dirty="0">
                <a:solidFill>
                  <a:srgbClr val="4F81BC"/>
                </a:solidFill>
                <a:latin typeface="Carlito"/>
                <a:cs typeface="Carlito"/>
              </a:rPr>
              <a:t>j </a:t>
            </a:r>
            <a:r>
              <a:rPr sz="1900" spc="-5" dirty="0">
                <a:latin typeface="Carlito"/>
                <a:cs typeface="Carlito"/>
              </a:rPr>
              <a:t>is the </a:t>
            </a:r>
            <a:r>
              <a:rPr sz="1900" b="1" i="1" spc="-10" dirty="0">
                <a:latin typeface="Carlito"/>
                <a:cs typeface="Carlito"/>
              </a:rPr>
              <a:t>difference </a:t>
            </a:r>
            <a:r>
              <a:rPr sz="1900" spc="-10" dirty="0">
                <a:latin typeface="Carlito"/>
                <a:cs typeface="Carlito"/>
              </a:rPr>
              <a:t>between </a:t>
            </a:r>
            <a:r>
              <a:rPr sz="1900" spc="-5" dirty="0">
                <a:latin typeface="Carlito"/>
                <a:cs typeface="Carlito"/>
              </a:rPr>
              <a:t>the </a:t>
            </a:r>
            <a:r>
              <a:rPr sz="1900" b="1" i="1" spc="-15" dirty="0">
                <a:latin typeface="Carlito"/>
                <a:cs typeface="Carlito"/>
              </a:rPr>
              <a:t>total  </a:t>
            </a:r>
            <a:r>
              <a:rPr sz="1900" b="1" i="1" spc="-5" dirty="0">
                <a:latin typeface="Carlito"/>
                <a:cs typeface="Carlito"/>
              </a:rPr>
              <a:t>within </a:t>
            </a:r>
            <a:r>
              <a:rPr sz="1900" b="1" i="1" spc="-10" dirty="0">
                <a:latin typeface="Carlito"/>
                <a:cs typeface="Carlito"/>
              </a:rPr>
              <a:t>cluster sum </a:t>
            </a:r>
            <a:r>
              <a:rPr sz="1900" b="1" i="1" spc="-5" dirty="0">
                <a:latin typeface="Carlito"/>
                <a:cs typeface="Carlito"/>
              </a:rPr>
              <a:t>of </a:t>
            </a:r>
            <a:r>
              <a:rPr sz="1900" b="1" i="1" spc="-10" dirty="0">
                <a:latin typeface="Carlito"/>
                <a:cs typeface="Carlito"/>
              </a:rPr>
              <a:t>squares for </a:t>
            </a:r>
            <a:r>
              <a:rPr sz="1900" b="1" i="1" spc="-5" dirty="0">
                <a:latin typeface="Carlito"/>
                <a:cs typeface="Carlito"/>
              </a:rPr>
              <a:t>the </a:t>
            </a:r>
            <a:r>
              <a:rPr sz="1900" b="1" i="1" dirty="0">
                <a:latin typeface="Carlito"/>
                <a:cs typeface="Carlito"/>
              </a:rPr>
              <a:t>two </a:t>
            </a:r>
            <a:r>
              <a:rPr sz="1900" b="1" i="1" spc="-10" dirty="0">
                <a:latin typeface="Carlito"/>
                <a:cs typeface="Carlito"/>
              </a:rPr>
              <a:t>clusters separately</a:t>
            </a:r>
            <a:r>
              <a:rPr sz="1900" spc="-10" dirty="0">
                <a:latin typeface="Carlito"/>
                <a:cs typeface="Carlito"/>
              </a:rPr>
              <a:t>, </a:t>
            </a:r>
            <a:r>
              <a:rPr sz="1900" spc="-5" dirty="0">
                <a:latin typeface="Carlito"/>
                <a:cs typeface="Carlito"/>
              </a:rPr>
              <a:t>and the </a:t>
            </a:r>
            <a:r>
              <a:rPr sz="1900" b="1" i="1" spc="-10" dirty="0">
                <a:latin typeface="Carlito"/>
                <a:cs typeface="Carlito"/>
              </a:rPr>
              <a:t>within  cluster sum </a:t>
            </a:r>
            <a:r>
              <a:rPr sz="1900" b="1" i="1" spc="-5" dirty="0">
                <a:latin typeface="Carlito"/>
                <a:cs typeface="Carlito"/>
              </a:rPr>
              <a:t>of squares resulting from merging the two </a:t>
            </a:r>
            <a:r>
              <a:rPr sz="1900" b="1" i="1" spc="-10" dirty="0">
                <a:latin typeface="Carlito"/>
                <a:cs typeface="Carlito"/>
              </a:rPr>
              <a:t>clusters </a:t>
            </a:r>
            <a:r>
              <a:rPr sz="1900" spc="-5" dirty="0">
                <a:latin typeface="Carlito"/>
                <a:cs typeface="Carlito"/>
              </a:rPr>
              <a:t>in </a:t>
            </a:r>
            <a:r>
              <a:rPr sz="1900" spc="-10" dirty="0">
                <a:latin typeface="Carlito"/>
                <a:cs typeface="Carlito"/>
              </a:rPr>
              <a:t>cluster</a:t>
            </a:r>
            <a:r>
              <a:rPr sz="1900" spc="110" dirty="0">
                <a:latin typeface="Carlito"/>
                <a:cs typeface="Carlito"/>
              </a:rPr>
              <a:t> </a:t>
            </a:r>
            <a:r>
              <a:rPr sz="1900" b="1" dirty="0">
                <a:solidFill>
                  <a:srgbClr val="4F81BC"/>
                </a:solidFill>
                <a:latin typeface="Carlito"/>
                <a:cs typeface="Carlito"/>
              </a:rPr>
              <a:t>C</a:t>
            </a:r>
            <a:r>
              <a:rPr sz="1875" b="1" baseline="-20000" dirty="0">
                <a:solidFill>
                  <a:srgbClr val="4F81BC"/>
                </a:solidFill>
                <a:latin typeface="Carlito"/>
                <a:cs typeface="Carlito"/>
              </a:rPr>
              <a:t>ij</a:t>
            </a:r>
            <a:endParaRPr sz="1875" baseline="-20000" dirty="0">
              <a:latin typeface="Carlito"/>
              <a:cs typeface="Carlito"/>
            </a:endParaRPr>
          </a:p>
        </p:txBody>
      </p:sp>
      <p:sp>
        <p:nvSpPr>
          <p:cNvPr id="4" name="object 4"/>
          <p:cNvSpPr txBox="1"/>
          <p:nvPr/>
        </p:nvSpPr>
        <p:spPr>
          <a:xfrm>
            <a:off x="510540" y="3477231"/>
            <a:ext cx="2052320" cy="1068070"/>
          </a:xfrm>
          <a:prstGeom prst="rect">
            <a:avLst/>
          </a:prstGeom>
        </p:spPr>
        <p:txBody>
          <a:bodyPr vert="horz" wrap="square" lIns="0" tIns="70485" rIns="0" bIns="0" rtlCol="0">
            <a:spAutoFit/>
          </a:bodyPr>
          <a:lstStyle/>
          <a:p>
            <a:pPr marL="381000" indent="-342900">
              <a:lnSpc>
                <a:spcPct val="100000"/>
              </a:lnSpc>
              <a:spcBef>
                <a:spcPts val="555"/>
              </a:spcBef>
              <a:buFont typeface="Arial"/>
              <a:buChar char="•"/>
              <a:tabLst>
                <a:tab pos="380365" algn="l"/>
                <a:tab pos="381000" algn="l"/>
              </a:tabLst>
            </a:pPr>
            <a:r>
              <a:rPr sz="1900" b="1" spc="-5" dirty="0">
                <a:solidFill>
                  <a:srgbClr val="4F81BC"/>
                </a:solidFill>
                <a:latin typeface="Carlito"/>
                <a:cs typeface="Carlito"/>
              </a:rPr>
              <a:t>r</a:t>
            </a:r>
            <a:r>
              <a:rPr sz="1875" b="1" spc="-7" baseline="-20000" dirty="0">
                <a:solidFill>
                  <a:srgbClr val="4F81BC"/>
                </a:solidFill>
                <a:latin typeface="Carlito"/>
                <a:cs typeface="Carlito"/>
              </a:rPr>
              <a:t>i</a:t>
            </a:r>
            <a:r>
              <a:rPr sz="1900" spc="-5" dirty="0">
                <a:latin typeface="Carlito"/>
                <a:cs typeface="Carlito"/>
              </a:rPr>
              <a:t>: </a:t>
            </a:r>
            <a:r>
              <a:rPr sz="1900" spc="-15" dirty="0">
                <a:latin typeface="Carlito"/>
                <a:cs typeface="Carlito"/>
              </a:rPr>
              <a:t>centroid </a:t>
            </a:r>
            <a:r>
              <a:rPr sz="1900" spc="-5" dirty="0">
                <a:latin typeface="Carlito"/>
                <a:cs typeface="Carlito"/>
              </a:rPr>
              <a:t>of</a:t>
            </a:r>
            <a:r>
              <a:rPr sz="1900" spc="-20" dirty="0">
                <a:latin typeface="Carlito"/>
                <a:cs typeface="Carlito"/>
              </a:rPr>
              <a:t> </a:t>
            </a:r>
            <a:r>
              <a:rPr sz="1900" b="1" dirty="0">
                <a:solidFill>
                  <a:srgbClr val="4F81BC"/>
                </a:solidFill>
                <a:latin typeface="Carlito"/>
                <a:cs typeface="Carlito"/>
              </a:rPr>
              <a:t>C</a:t>
            </a:r>
            <a:r>
              <a:rPr sz="1875" b="1" baseline="-20000" dirty="0">
                <a:solidFill>
                  <a:srgbClr val="4F81BC"/>
                </a:solidFill>
                <a:latin typeface="Carlito"/>
                <a:cs typeface="Carlito"/>
              </a:rPr>
              <a:t>i</a:t>
            </a:r>
            <a:endParaRPr sz="1875" baseline="-20000" dirty="0">
              <a:latin typeface="Carlito"/>
              <a:cs typeface="Carlito"/>
            </a:endParaRPr>
          </a:p>
          <a:p>
            <a:pPr marL="381000" indent="-342900">
              <a:lnSpc>
                <a:spcPct val="100000"/>
              </a:lnSpc>
              <a:spcBef>
                <a:spcPts val="455"/>
              </a:spcBef>
              <a:buFont typeface="Arial"/>
              <a:buChar char="•"/>
              <a:tabLst>
                <a:tab pos="380365" algn="l"/>
                <a:tab pos="381000" algn="l"/>
              </a:tabLst>
            </a:pPr>
            <a:r>
              <a:rPr sz="1900" b="1" spc="-5" dirty="0">
                <a:solidFill>
                  <a:srgbClr val="4F81BC"/>
                </a:solidFill>
                <a:latin typeface="Carlito"/>
                <a:cs typeface="Carlito"/>
              </a:rPr>
              <a:t>r</a:t>
            </a:r>
            <a:r>
              <a:rPr sz="1875" b="1" spc="-7" baseline="-20000" dirty="0">
                <a:solidFill>
                  <a:srgbClr val="4F81BC"/>
                </a:solidFill>
                <a:latin typeface="Carlito"/>
                <a:cs typeface="Carlito"/>
              </a:rPr>
              <a:t>j</a:t>
            </a:r>
            <a:r>
              <a:rPr sz="1900" spc="-5" dirty="0">
                <a:latin typeface="Carlito"/>
                <a:cs typeface="Carlito"/>
              </a:rPr>
              <a:t>: </a:t>
            </a:r>
            <a:r>
              <a:rPr sz="1900" spc="-10" dirty="0">
                <a:latin typeface="Carlito"/>
                <a:cs typeface="Carlito"/>
              </a:rPr>
              <a:t>centroid </a:t>
            </a:r>
            <a:r>
              <a:rPr sz="1900" spc="-5" dirty="0">
                <a:latin typeface="Carlito"/>
                <a:cs typeface="Carlito"/>
              </a:rPr>
              <a:t>of</a:t>
            </a:r>
            <a:r>
              <a:rPr sz="1900" spc="-70" dirty="0">
                <a:latin typeface="Carlito"/>
                <a:cs typeface="Carlito"/>
              </a:rPr>
              <a:t> </a:t>
            </a:r>
            <a:r>
              <a:rPr sz="1900" b="1" dirty="0">
                <a:solidFill>
                  <a:srgbClr val="4F81BC"/>
                </a:solidFill>
                <a:latin typeface="Carlito"/>
                <a:cs typeface="Carlito"/>
              </a:rPr>
              <a:t>C</a:t>
            </a:r>
            <a:r>
              <a:rPr sz="1875" b="1" baseline="-20000" dirty="0">
                <a:solidFill>
                  <a:srgbClr val="4F81BC"/>
                </a:solidFill>
                <a:latin typeface="Carlito"/>
                <a:cs typeface="Carlito"/>
              </a:rPr>
              <a:t>j</a:t>
            </a:r>
            <a:endParaRPr sz="1875" baseline="-20000" dirty="0">
              <a:latin typeface="Carlito"/>
              <a:cs typeface="Carlito"/>
            </a:endParaRPr>
          </a:p>
          <a:p>
            <a:pPr marL="381000" indent="-342900">
              <a:lnSpc>
                <a:spcPct val="100000"/>
              </a:lnSpc>
              <a:spcBef>
                <a:spcPts val="459"/>
              </a:spcBef>
              <a:buFont typeface="Arial"/>
              <a:buChar char="•"/>
              <a:tabLst>
                <a:tab pos="380365" algn="l"/>
                <a:tab pos="381000" algn="l"/>
              </a:tabLst>
            </a:pPr>
            <a:r>
              <a:rPr sz="1900" b="1" spc="-5" dirty="0">
                <a:solidFill>
                  <a:srgbClr val="4F81BC"/>
                </a:solidFill>
                <a:latin typeface="Carlito"/>
                <a:cs typeface="Carlito"/>
              </a:rPr>
              <a:t>r</a:t>
            </a:r>
            <a:r>
              <a:rPr sz="1875" b="1" spc="-7" baseline="-20000" dirty="0">
                <a:solidFill>
                  <a:srgbClr val="4F81BC"/>
                </a:solidFill>
                <a:latin typeface="Carlito"/>
                <a:cs typeface="Carlito"/>
              </a:rPr>
              <a:t>ij</a:t>
            </a:r>
            <a:r>
              <a:rPr sz="1900" spc="-5" dirty="0">
                <a:latin typeface="Carlito"/>
                <a:cs typeface="Carlito"/>
              </a:rPr>
              <a:t>: </a:t>
            </a:r>
            <a:r>
              <a:rPr sz="1900" spc="-15" dirty="0">
                <a:latin typeface="Carlito"/>
                <a:cs typeface="Carlito"/>
              </a:rPr>
              <a:t>centroid </a:t>
            </a:r>
            <a:r>
              <a:rPr sz="1900" spc="-5" dirty="0">
                <a:latin typeface="Carlito"/>
                <a:cs typeface="Carlito"/>
              </a:rPr>
              <a:t>of</a:t>
            </a:r>
            <a:r>
              <a:rPr sz="1900" spc="5" dirty="0">
                <a:latin typeface="Carlito"/>
                <a:cs typeface="Carlito"/>
              </a:rPr>
              <a:t> </a:t>
            </a:r>
            <a:r>
              <a:rPr sz="1900" b="1" spc="-5" dirty="0">
                <a:solidFill>
                  <a:srgbClr val="4F81BC"/>
                </a:solidFill>
                <a:latin typeface="Carlito"/>
                <a:cs typeface="Carlito"/>
              </a:rPr>
              <a:t>C</a:t>
            </a:r>
            <a:r>
              <a:rPr sz="1875" b="1" spc="-7" baseline="-20000" dirty="0">
                <a:solidFill>
                  <a:srgbClr val="4F81BC"/>
                </a:solidFill>
                <a:latin typeface="Carlito"/>
                <a:cs typeface="Carlito"/>
              </a:rPr>
              <a:t>ij</a:t>
            </a:r>
            <a:endParaRPr sz="1875" baseline="-20000" dirty="0">
              <a:latin typeface="Carlito"/>
              <a:cs typeface="Carlito"/>
            </a:endParaRPr>
          </a:p>
        </p:txBody>
      </p:sp>
      <p:sp>
        <p:nvSpPr>
          <p:cNvPr id="5" name="object 5"/>
          <p:cNvSpPr txBox="1"/>
          <p:nvPr/>
        </p:nvSpPr>
        <p:spPr>
          <a:xfrm>
            <a:off x="6993698" y="2913159"/>
            <a:ext cx="108585" cy="227329"/>
          </a:xfrm>
          <a:prstGeom prst="rect">
            <a:avLst/>
          </a:prstGeom>
        </p:spPr>
        <p:txBody>
          <a:bodyPr vert="horz" wrap="square" lIns="0" tIns="15240" rIns="0" bIns="0" rtlCol="0">
            <a:spAutoFit/>
          </a:bodyPr>
          <a:lstStyle/>
          <a:p>
            <a:pPr marL="12700">
              <a:lnSpc>
                <a:spcPct val="100000"/>
              </a:lnSpc>
              <a:spcBef>
                <a:spcPts val="120"/>
              </a:spcBef>
            </a:pPr>
            <a:r>
              <a:rPr sz="1300" i="1" spc="-40" dirty="0">
                <a:latin typeface="Times New Roman"/>
                <a:cs typeface="Times New Roman"/>
              </a:rPr>
              <a:t>ij</a:t>
            </a:r>
            <a:endParaRPr sz="1300">
              <a:latin typeface="Times New Roman"/>
              <a:cs typeface="Times New Roman"/>
            </a:endParaRPr>
          </a:p>
        </p:txBody>
      </p:sp>
      <p:sp>
        <p:nvSpPr>
          <p:cNvPr id="6" name="object 6"/>
          <p:cNvSpPr txBox="1"/>
          <p:nvPr/>
        </p:nvSpPr>
        <p:spPr>
          <a:xfrm>
            <a:off x="5686279" y="2913159"/>
            <a:ext cx="66675" cy="227329"/>
          </a:xfrm>
          <a:prstGeom prst="rect">
            <a:avLst/>
          </a:prstGeom>
        </p:spPr>
        <p:txBody>
          <a:bodyPr vert="horz" wrap="square" lIns="0" tIns="15240" rIns="0" bIns="0" rtlCol="0">
            <a:spAutoFit/>
          </a:bodyPr>
          <a:lstStyle/>
          <a:p>
            <a:pPr marL="12700">
              <a:lnSpc>
                <a:spcPct val="100000"/>
              </a:lnSpc>
              <a:spcBef>
                <a:spcPts val="120"/>
              </a:spcBef>
            </a:pPr>
            <a:r>
              <a:rPr sz="1300" i="1" spc="-40" dirty="0">
                <a:latin typeface="Times New Roman"/>
                <a:cs typeface="Times New Roman"/>
              </a:rPr>
              <a:t>j</a:t>
            </a:r>
            <a:endParaRPr sz="1300">
              <a:latin typeface="Times New Roman"/>
              <a:cs typeface="Times New Roman"/>
            </a:endParaRPr>
          </a:p>
        </p:txBody>
      </p:sp>
      <p:sp>
        <p:nvSpPr>
          <p:cNvPr id="7" name="object 7"/>
          <p:cNvSpPr txBox="1"/>
          <p:nvPr/>
        </p:nvSpPr>
        <p:spPr>
          <a:xfrm>
            <a:off x="4376868" y="2913159"/>
            <a:ext cx="66675" cy="227329"/>
          </a:xfrm>
          <a:prstGeom prst="rect">
            <a:avLst/>
          </a:prstGeom>
        </p:spPr>
        <p:txBody>
          <a:bodyPr vert="horz" wrap="square" lIns="0" tIns="15240" rIns="0" bIns="0" rtlCol="0">
            <a:spAutoFit/>
          </a:bodyPr>
          <a:lstStyle/>
          <a:p>
            <a:pPr marL="12700">
              <a:lnSpc>
                <a:spcPct val="100000"/>
              </a:lnSpc>
              <a:spcBef>
                <a:spcPts val="120"/>
              </a:spcBef>
            </a:pPr>
            <a:r>
              <a:rPr sz="1300" i="1" spc="-40" dirty="0">
                <a:latin typeface="Times New Roman"/>
                <a:cs typeface="Times New Roman"/>
              </a:rPr>
              <a:t>i</a:t>
            </a:r>
            <a:endParaRPr sz="1300">
              <a:latin typeface="Times New Roman"/>
              <a:cs typeface="Times New Roman"/>
            </a:endParaRPr>
          </a:p>
        </p:txBody>
      </p:sp>
      <p:sp>
        <p:nvSpPr>
          <p:cNvPr id="8" name="object 8"/>
          <p:cNvSpPr txBox="1"/>
          <p:nvPr/>
        </p:nvSpPr>
        <p:spPr>
          <a:xfrm>
            <a:off x="2417320" y="2649192"/>
            <a:ext cx="1490345" cy="694055"/>
          </a:xfrm>
          <a:prstGeom prst="rect">
            <a:avLst/>
          </a:prstGeom>
        </p:spPr>
        <p:txBody>
          <a:bodyPr vert="horz" wrap="square" lIns="0" tIns="12700" rIns="0" bIns="0" rtlCol="0">
            <a:spAutoFit/>
          </a:bodyPr>
          <a:lstStyle/>
          <a:p>
            <a:pPr marL="38100">
              <a:lnSpc>
                <a:spcPts val="3890"/>
              </a:lnSpc>
              <a:spcBef>
                <a:spcPts val="100"/>
              </a:spcBef>
              <a:tabLst>
                <a:tab pos="393065" algn="l"/>
                <a:tab pos="751205" algn="l"/>
                <a:tab pos="1167765" algn="l"/>
              </a:tabLst>
            </a:pPr>
            <a:r>
              <a:rPr sz="1300" i="1" spc="-95" dirty="0">
                <a:latin typeface="Times New Roman"/>
                <a:cs typeface="Times New Roman"/>
              </a:rPr>
              <a:t>w	</a:t>
            </a:r>
            <a:r>
              <a:rPr sz="1300" i="1" spc="-40" dirty="0">
                <a:latin typeface="Times New Roman"/>
                <a:cs typeface="Times New Roman"/>
              </a:rPr>
              <a:t>i	j	</a:t>
            </a:r>
            <a:r>
              <a:rPr sz="3400" spc="-290" dirty="0">
                <a:latin typeface="Symbol"/>
                <a:cs typeface="Symbol"/>
              </a:rPr>
              <a:t></a:t>
            </a:r>
            <a:endParaRPr sz="3400">
              <a:latin typeface="Symbol"/>
              <a:cs typeface="Symbol"/>
            </a:endParaRPr>
          </a:p>
          <a:p>
            <a:pPr marR="44450" algn="r">
              <a:lnSpc>
                <a:spcPts val="1370"/>
              </a:lnSpc>
            </a:pPr>
            <a:r>
              <a:rPr sz="1300" i="1" spc="-120" dirty="0">
                <a:latin typeface="Times New Roman"/>
                <a:cs typeface="Times New Roman"/>
              </a:rPr>
              <a:t>x</a:t>
            </a:r>
            <a:r>
              <a:rPr sz="1300" spc="-190" dirty="0">
                <a:latin typeface="Symbol"/>
                <a:cs typeface="Symbol"/>
              </a:rPr>
              <a:t></a:t>
            </a:r>
            <a:r>
              <a:rPr sz="1300" i="1" spc="-85" dirty="0">
                <a:latin typeface="Times New Roman"/>
                <a:cs typeface="Times New Roman"/>
              </a:rPr>
              <a:t>C</a:t>
            </a:r>
            <a:r>
              <a:rPr sz="1425" i="1" spc="-52" baseline="-20467" dirty="0">
                <a:latin typeface="Times New Roman"/>
                <a:cs typeface="Times New Roman"/>
              </a:rPr>
              <a:t>i</a:t>
            </a:r>
            <a:endParaRPr sz="1425" baseline="-20467">
              <a:latin typeface="Times New Roman"/>
              <a:cs typeface="Times New Roman"/>
            </a:endParaRPr>
          </a:p>
        </p:txBody>
      </p:sp>
      <p:sp>
        <p:nvSpPr>
          <p:cNvPr id="9" name="object 9"/>
          <p:cNvSpPr txBox="1"/>
          <p:nvPr/>
        </p:nvSpPr>
        <p:spPr>
          <a:xfrm>
            <a:off x="3872606" y="2629083"/>
            <a:ext cx="695325" cy="481965"/>
          </a:xfrm>
          <a:prstGeom prst="rect">
            <a:avLst/>
          </a:prstGeom>
        </p:spPr>
        <p:txBody>
          <a:bodyPr vert="horz" wrap="square" lIns="0" tIns="11430" rIns="0" bIns="0" rtlCol="0">
            <a:spAutoFit/>
          </a:bodyPr>
          <a:lstStyle/>
          <a:p>
            <a:pPr marL="12700">
              <a:lnSpc>
                <a:spcPct val="100000"/>
              </a:lnSpc>
              <a:spcBef>
                <a:spcPts val="90"/>
              </a:spcBef>
            </a:pPr>
            <a:r>
              <a:rPr sz="3000" spc="-204" dirty="0">
                <a:latin typeface="Symbol"/>
                <a:cs typeface="Symbol"/>
              </a:rPr>
              <a:t></a:t>
            </a:r>
            <a:r>
              <a:rPr sz="2250" i="1" spc="-204" dirty="0">
                <a:latin typeface="Times New Roman"/>
                <a:cs typeface="Times New Roman"/>
              </a:rPr>
              <a:t>x </a:t>
            </a:r>
            <a:r>
              <a:rPr sz="2250" spc="-140" dirty="0">
                <a:latin typeface="Symbol"/>
                <a:cs typeface="Symbol"/>
              </a:rPr>
              <a:t></a:t>
            </a:r>
            <a:r>
              <a:rPr sz="2250" spc="-140" dirty="0">
                <a:latin typeface="Times New Roman"/>
                <a:cs typeface="Times New Roman"/>
              </a:rPr>
              <a:t> </a:t>
            </a:r>
            <a:r>
              <a:rPr sz="2250" i="1" spc="-100" dirty="0">
                <a:latin typeface="Times New Roman"/>
                <a:cs typeface="Times New Roman"/>
              </a:rPr>
              <a:t>r</a:t>
            </a:r>
            <a:r>
              <a:rPr sz="2250" i="1" spc="-290" dirty="0">
                <a:latin typeface="Times New Roman"/>
                <a:cs typeface="Times New Roman"/>
              </a:rPr>
              <a:t> </a:t>
            </a:r>
            <a:r>
              <a:rPr sz="3000" spc="-345" dirty="0">
                <a:latin typeface="Symbol"/>
                <a:cs typeface="Symbol"/>
              </a:rPr>
              <a:t></a:t>
            </a:r>
            <a:endParaRPr sz="3000">
              <a:latin typeface="Symbol"/>
              <a:cs typeface="Symbol"/>
            </a:endParaRPr>
          </a:p>
        </p:txBody>
      </p:sp>
      <p:sp>
        <p:nvSpPr>
          <p:cNvPr id="10" name="object 10"/>
          <p:cNvSpPr txBox="1"/>
          <p:nvPr/>
        </p:nvSpPr>
        <p:spPr>
          <a:xfrm>
            <a:off x="7187251" y="2691693"/>
            <a:ext cx="99695" cy="227329"/>
          </a:xfrm>
          <a:prstGeom prst="rect">
            <a:avLst/>
          </a:prstGeom>
        </p:spPr>
        <p:txBody>
          <a:bodyPr vert="horz" wrap="square" lIns="0" tIns="15240" rIns="0" bIns="0" rtlCol="0">
            <a:spAutoFit/>
          </a:bodyPr>
          <a:lstStyle/>
          <a:p>
            <a:pPr marL="12700">
              <a:lnSpc>
                <a:spcPct val="100000"/>
              </a:lnSpc>
              <a:spcBef>
                <a:spcPts val="120"/>
              </a:spcBef>
            </a:pPr>
            <a:r>
              <a:rPr sz="1300" spc="-70" dirty="0">
                <a:latin typeface="Times New Roman"/>
                <a:cs typeface="Times New Roman"/>
              </a:rPr>
              <a:t>2</a:t>
            </a:r>
            <a:endParaRPr sz="1300">
              <a:latin typeface="Times New Roman"/>
              <a:cs typeface="Times New Roman"/>
            </a:endParaRPr>
          </a:p>
        </p:txBody>
      </p:sp>
      <p:sp>
        <p:nvSpPr>
          <p:cNvPr id="11" name="object 11"/>
          <p:cNvSpPr txBox="1"/>
          <p:nvPr/>
        </p:nvSpPr>
        <p:spPr>
          <a:xfrm>
            <a:off x="5838351" y="2691693"/>
            <a:ext cx="99695" cy="227329"/>
          </a:xfrm>
          <a:prstGeom prst="rect">
            <a:avLst/>
          </a:prstGeom>
        </p:spPr>
        <p:txBody>
          <a:bodyPr vert="horz" wrap="square" lIns="0" tIns="15240" rIns="0" bIns="0" rtlCol="0">
            <a:spAutoFit/>
          </a:bodyPr>
          <a:lstStyle/>
          <a:p>
            <a:pPr marL="12700">
              <a:lnSpc>
                <a:spcPct val="100000"/>
              </a:lnSpc>
              <a:spcBef>
                <a:spcPts val="120"/>
              </a:spcBef>
            </a:pPr>
            <a:r>
              <a:rPr sz="1300" spc="-70" dirty="0">
                <a:latin typeface="Times New Roman"/>
                <a:cs typeface="Times New Roman"/>
              </a:rPr>
              <a:t>2</a:t>
            </a:r>
            <a:endParaRPr sz="1300">
              <a:latin typeface="Times New Roman"/>
              <a:cs typeface="Times New Roman"/>
            </a:endParaRPr>
          </a:p>
        </p:txBody>
      </p:sp>
      <p:sp>
        <p:nvSpPr>
          <p:cNvPr id="12" name="object 12"/>
          <p:cNvSpPr txBox="1"/>
          <p:nvPr/>
        </p:nvSpPr>
        <p:spPr>
          <a:xfrm>
            <a:off x="4534864" y="2691693"/>
            <a:ext cx="99695" cy="227329"/>
          </a:xfrm>
          <a:prstGeom prst="rect">
            <a:avLst/>
          </a:prstGeom>
        </p:spPr>
        <p:txBody>
          <a:bodyPr vert="horz" wrap="square" lIns="0" tIns="15240" rIns="0" bIns="0" rtlCol="0">
            <a:spAutoFit/>
          </a:bodyPr>
          <a:lstStyle/>
          <a:p>
            <a:pPr marL="12700">
              <a:lnSpc>
                <a:spcPct val="100000"/>
              </a:lnSpc>
              <a:spcBef>
                <a:spcPts val="120"/>
              </a:spcBef>
            </a:pPr>
            <a:r>
              <a:rPr sz="1300" spc="-70" dirty="0">
                <a:latin typeface="Times New Roman"/>
                <a:cs typeface="Times New Roman"/>
              </a:rPr>
              <a:t>2</a:t>
            </a:r>
            <a:endParaRPr sz="1300">
              <a:latin typeface="Times New Roman"/>
              <a:cs typeface="Times New Roman"/>
            </a:endParaRPr>
          </a:p>
        </p:txBody>
      </p:sp>
      <p:sp>
        <p:nvSpPr>
          <p:cNvPr id="13" name="object 13"/>
          <p:cNvSpPr txBox="1"/>
          <p:nvPr/>
        </p:nvSpPr>
        <p:spPr>
          <a:xfrm>
            <a:off x="2224889" y="2513972"/>
            <a:ext cx="5029835" cy="829310"/>
          </a:xfrm>
          <a:prstGeom prst="rect">
            <a:avLst/>
          </a:prstGeom>
        </p:spPr>
        <p:txBody>
          <a:bodyPr vert="horz" wrap="square" lIns="0" tIns="57150" rIns="0" bIns="0" rtlCol="0">
            <a:spAutoFit/>
          </a:bodyPr>
          <a:lstStyle/>
          <a:p>
            <a:pPr marL="50800">
              <a:lnSpc>
                <a:spcPct val="100000"/>
              </a:lnSpc>
              <a:spcBef>
                <a:spcPts val="450"/>
              </a:spcBef>
              <a:tabLst>
                <a:tab pos="2463800" algn="l"/>
              </a:tabLst>
            </a:pPr>
            <a:r>
              <a:rPr sz="2250" i="1" spc="-185" dirty="0">
                <a:latin typeface="Times New Roman"/>
                <a:cs typeface="Times New Roman"/>
              </a:rPr>
              <a:t>D   </a:t>
            </a:r>
            <a:r>
              <a:rPr sz="3550" spc="-440" dirty="0">
                <a:latin typeface="Symbol"/>
                <a:cs typeface="Symbol"/>
              </a:rPr>
              <a:t></a:t>
            </a:r>
            <a:r>
              <a:rPr sz="2250" i="1" spc="-440" dirty="0">
                <a:latin typeface="Times New Roman"/>
                <a:cs typeface="Times New Roman"/>
              </a:rPr>
              <a:t>C  </a:t>
            </a:r>
            <a:r>
              <a:rPr sz="2250" i="1" spc="-425" dirty="0">
                <a:latin typeface="Times New Roman"/>
                <a:cs typeface="Times New Roman"/>
              </a:rPr>
              <a:t> </a:t>
            </a:r>
            <a:r>
              <a:rPr sz="2250" spc="-25" dirty="0">
                <a:latin typeface="Times New Roman"/>
                <a:cs typeface="Times New Roman"/>
              </a:rPr>
              <a:t>,</a:t>
            </a:r>
            <a:r>
              <a:rPr sz="2250" i="1" spc="-25" dirty="0">
                <a:latin typeface="Times New Roman"/>
                <a:cs typeface="Times New Roman"/>
              </a:rPr>
              <a:t>C</a:t>
            </a:r>
            <a:r>
              <a:rPr sz="2250" i="1" spc="355" dirty="0">
                <a:latin typeface="Times New Roman"/>
                <a:cs typeface="Times New Roman"/>
              </a:rPr>
              <a:t> </a:t>
            </a:r>
            <a:r>
              <a:rPr sz="3550" spc="-220" dirty="0">
                <a:latin typeface="Symbol"/>
                <a:cs typeface="Symbol"/>
              </a:rPr>
              <a:t></a:t>
            </a:r>
            <a:r>
              <a:rPr sz="2250" spc="-220" dirty="0">
                <a:latin typeface="Symbol"/>
                <a:cs typeface="Symbol"/>
              </a:rPr>
              <a:t></a:t>
            </a:r>
            <a:r>
              <a:rPr sz="2250" spc="-220" dirty="0">
                <a:latin typeface="Times New Roman"/>
                <a:cs typeface="Times New Roman"/>
              </a:rPr>
              <a:t>	</a:t>
            </a:r>
            <a:r>
              <a:rPr sz="2250" spc="-140" dirty="0">
                <a:latin typeface="Symbol"/>
                <a:cs typeface="Symbol"/>
              </a:rPr>
              <a:t></a:t>
            </a:r>
            <a:r>
              <a:rPr sz="2250" spc="-140" dirty="0">
                <a:latin typeface="Times New Roman"/>
                <a:cs typeface="Times New Roman"/>
              </a:rPr>
              <a:t> </a:t>
            </a:r>
            <a:r>
              <a:rPr sz="5100" spc="-367" baseline="-8169" dirty="0">
                <a:latin typeface="Symbol"/>
                <a:cs typeface="Symbol"/>
              </a:rPr>
              <a:t></a:t>
            </a:r>
            <a:r>
              <a:rPr sz="3550" spc="-245" dirty="0">
                <a:latin typeface="Symbol"/>
                <a:cs typeface="Symbol"/>
              </a:rPr>
              <a:t></a:t>
            </a:r>
            <a:r>
              <a:rPr sz="2250" i="1" spc="-245" dirty="0">
                <a:latin typeface="Times New Roman"/>
                <a:cs typeface="Times New Roman"/>
              </a:rPr>
              <a:t>x </a:t>
            </a:r>
            <a:r>
              <a:rPr sz="2250" spc="-140" dirty="0">
                <a:latin typeface="Symbol"/>
                <a:cs typeface="Symbol"/>
              </a:rPr>
              <a:t></a:t>
            </a:r>
            <a:r>
              <a:rPr sz="2250" spc="-140" dirty="0">
                <a:latin typeface="Times New Roman"/>
                <a:cs typeface="Times New Roman"/>
              </a:rPr>
              <a:t> </a:t>
            </a:r>
            <a:r>
              <a:rPr sz="2250" i="1" spc="-100" dirty="0">
                <a:latin typeface="Times New Roman"/>
                <a:cs typeface="Times New Roman"/>
              </a:rPr>
              <a:t>r </a:t>
            </a:r>
            <a:r>
              <a:rPr sz="3550" spc="-530" dirty="0">
                <a:latin typeface="Symbol"/>
                <a:cs typeface="Symbol"/>
              </a:rPr>
              <a:t></a:t>
            </a:r>
            <a:r>
              <a:rPr sz="3550" spc="-530" dirty="0">
                <a:latin typeface="Times New Roman"/>
                <a:cs typeface="Times New Roman"/>
              </a:rPr>
              <a:t> </a:t>
            </a:r>
            <a:r>
              <a:rPr sz="2250" spc="-140" dirty="0">
                <a:latin typeface="Symbol"/>
                <a:cs typeface="Symbol"/>
              </a:rPr>
              <a:t></a:t>
            </a:r>
            <a:r>
              <a:rPr sz="2250" spc="-140" dirty="0">
                <a:latin typeface="Times New Roman"/>
                <a:cs typeface="Times New Roman"/>
              </a:rPr>
              <a:t> </a:t>
            </a:r>
            <a:r>
              <a:rPr sz="5100" spc="-367" baseline="-8169" dirty="0">
                <a:latin typeface="Symbol"/>
                <a:cs typeface="Symbol"/>
              </a:rPr>
              <a:t></a:t>
            </a:r>
            <a:r>
              <a:rPr sz="3550" spc="-245" dirty="0">
                <a:latin typeface="Symbol"/>
                <a:cs typeface="Symbol"/>
              </a:rPr>
              <a:t></a:t>
            </a:r>
            <a:r>
              <a:rPr sz="2250" i="1" spc="-245" dirty="0">
                <a:latin typeface="Times New Roman"/>
                <a:cs typeface="Times New Roman"/>
              </a:rPr>
              <a:t>x </a:t>
            </a:r>
            <a:r>
              <a:rPr sz="2250" spc="-140" dirty="0">
                <a:latin typeface="Symbol"/>
                <a:cs typeface="Symbol"/>
              </a:rPr>
              <a:t></a:t>
            </a:r>
            <a:r>
              <a:rPr sz="2250" spc="-140" dirty="0">
                <a:latin typeface="Times New Roman"/>
                <a:cs typeface="Times New Roman"/>
              </a:rPr>
              <a:t> </a:t>
            </a:r>
            <a:r>
              <a:rPr sz="2250" i="1" spc="-100" dirty="0">
                <a:latin typeface="Times New Roman"/>
                <a:cs typeface="Times New Roman"/>
              </a:rPr>
              <a:t>r</a:t>
            </a:r>
            <a:r>
              <a:rPr sz="2250" i="1" spc="-90" dirty="0">
                <a:latin typeface="Times New Roman"/>
                <a:cs typeface="Times New Roman"/>
              </a:rPr>
              <a:t> </a:t>
            </a:r>
            <a:r>
              <a:rPr sz="3550" spc="-660" dirty="0">
                <a:latin typeface="Symbol"/>
                <a:cs typeface="Symbol"/>
              </a:rPr>
              <a:t></a:t>
            </a:r>
            <a:endParaRPr sz="3550" dirty="0">
              <a:latin typeface="Symbol"/>
              <a:cs typeface="Symbol"/>
            </a:endParaRPr>
          </a:p>
          <a:p>
            <a:pPr marL="2622550">
              <a:lnSpc>
                <a:spcPct val="100000"/>
              </a:lnSpc>
              <a:spcBef>
                <a:spcPts val="150"/>
              </a:spcBef>
              <a:tabLst>
                <a:tab pos="3957320" algn="l"/>
              </a:tabLst>
            </a:pPr>
            <a:r>
              <a:rPr sz="1300" i="1" spc="-135" dirty="0">
                <a:latin typeface="Times New Roman"/>
                <a:cs typeface="Times New Roman"/>
              </a:rPr>
              <a:t>x</a:t>
            </a:r>
            <a:r>
              <a:rPr sz="1300" spc="-135" dirty="0">
                <a:latin typeface="Symbol"/>
                <a:cs typeface="Symbol"/>
              </a:rPr>
              <a:t></a:t>
            </a:r>
            <a:r>
              <a:rPr sz="1300" i="1" spc="-135" dirty="0">
                <a:latin typeface="Times New Roman"/>
                <a:cs typeface="Times New Roman"/>
              </a:rPr>
              <a:t>C</a:t>
            </a:r>
            <a:r>
              <a:rPr sz="1300" i="1" spc="-140" dirty="0">
                <a:latin typeface="Times New Roman"/>
                <a:cs typeface="Times New Roman"/>
              </a:rPr>
              <a:t> </a:t>
            </a:r>
            <a:r>
              <a:rPr sz="1425" i="1" spc="-52" baseline="-20467" dirty="0">
                <a:latin typeface="Times New Roman"/>
                <a:cs typeface="Times New Roman"/>
              </a:rPr>
              <a:t>j	</a:t>
            </a:r>
            <a:r>
              <a:rPr sz="1300" i="1" spc="-90" dirty="0">
                <a:latin typeface="Times New Roman"/>
                <a:cs typeface="Times New Roman"/>
              </a:rPr>
              <a:t>x</a:t>
            </a:r>
            <a:r>
              <a:rPr sz="1300" spc="-90" dirty="0">
                <a:latin typeface="Symbol"/>
                <a:cs typeface="Symbol"/>
              </a:rPr>
              <a:t></a:t>
            </a:r>
            <a:r>
              <a:rPr sz="1300" i="1" spc="-90" dirty="0">
                <a:latin typeface="Times New Roman"/>
                <a:cs typeface="Times New Roman"/>
              </a:rPr>
              <a:t>C</a:t>
            </a:r>
            <a:r>
              <a:rPr sz="1425" i="1" spc="-135" baseline="-20467" dirty="0">
                <a:latin typeface="Times New Roman"/>
                <a:cs typeface="Times New Roman"/>
              </a:rPr>
              <a:t>ij</a:t>
            </a:r>
            <a:endParaRPr sz="1425" baseline="-20467" dirty="0">
              <a:latin typeface="Times New Roman"/>
              <a:cs typeface="Times New Roman"/>
            </a:endParaRPr>
          </a:p>
        </p:txBody>
      </p:sp>
      <p:sp>
        <p:nvSpPr>
          <p:cNvPr id="16" name="TextBox 15">
            <a:extLst>
              <a:ext uri="{FF2B5EF4-FFF2-40B4-BE49-F238E27FC236}">
                <a16:creationId xmlns:a16="http://schemas.microsoft.com/office/drawing/2014/main" id="{C6AF529D-8E29-D45E-1DFD-99BF915AFF49}"/>
              </a:ext>
            </a:extLst>
          </p:cNvPr>
          <p:cNvSpPr txBox="1"/>
          <p:nvPr/>
        </p:nvSpPr>
        <p:spPr>
          <a:xfrm>
            <a:off x="3276600" y="3643442"/>
            <a:ext cx="4572000" cy="1200329"/>
          </a:xfrm>
          <a:prstGeom prst="rect">
            <a:avLst/>
          </a:prstGeom>
          <a:noFill/>
        </p:spPr>
        <p:txBody>
          <a:bodyPr wrap="square">
            <a:spAutoFit/>
          </a:bodyPr>
          <a:lstStyle/>
          <a:p>
            <a:r>
              <a:rPr lang="en-US" b="0" i="0" dirty="0">
                <a:solidFill>
                  <a:srgbClr val="555555"/>
                </a:solidFill>
                <a:effectLst/>
                <a:highlight>
                  <a:srgbClr val="FFFFFF"/>
                </a:highlight>
                <a:latin typeface="Source Sans Pro" panose="020B0503030403020204" pitchFamily="34" charset="0"/>
              </a:rPr>
              <a:t>Unlike the others. Instead of measuring the distance directly, it analyzes the variance of clusters. Ward’s is said to be the most suitable method for quantitative variables.</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3431E-AA2B-2081-DBE6-C302843C4A97}"/>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141E3D4-6407-9AE9-3F61-5DADFCD93D67}"/>
              </a:ext>
            </a:extLst>
          </p:cNvPr>
          <p:cNvSpPr>
            <a:spLocks noGrp="1"/>
          </p:cNvSpPr>
          <p:nvPr>
            <p:ph type="body" idx="1"/>
          </p:nvPr>
        </p:nvSpPr>
        <p:spPr/>
        <p:txBody>
          <a:bodyPr/>
          <a:lstStyle/>
          <a:p>
            <a:r>
              <a:rPr lang="en-US" sz="1800" b="1" dirty="0"/>
              <a:t>Advantages of Ward's Method:</a:t>
            </a:r>
          </a:p>
          <a:p>
            <a:r>
              <a:rPr lang="en-US" sz="1800" b="1" dirty="0"/>
              <a:t>Compact Clusters: </a:t>
            </a:r>
            <a:r>
              <a:rPr lang="en-US" sz="1800" dirty="0"/>
              <a:t>It creates clusters that are more compact and similar in size.</a:t>
            </a:r>
          </a:p>
          <a:p>
            <a:r>
              <a:rPr lang="en-US" sz="1800" dirty="0"/>
              <a:t>Good for Euclidean Spaces: It works well with Euclidean distance metrics, making it ideal for continuous data.</a:t>
            </a:r>
          </a:p>
          <a:p>
            <a:r>
              <a:rPr lang="en-US" sz="1800" b="1" dirty="0"/>
              <a:t>Less Sensitive to Outliers: </a:t>
            </a:r>
            <a:r>
              <a:rPr lang="en-US" sz="1800" dirty="0"/>
              <a:t>Because it minimizes variance rather than absolute distance, it tends to be less influenced by outliers than some other methods.</a:t>
            </a:r>
          </a:p>
          <a:p>
            <a:r>
              <a:rPr lang="en-US" sz="1800" dirty="0"/>
              <a:t>Disadvantages of Ward's Method:</a:t>
            </a:r>
          </a:p>
          <a:p>
            <a:r>
              <a:rPr lang="en-US" sz="1800" b="1" dirty="0"/>
              <a:t>Computational Complexity: </a:t>
            </a:r>
            <a:r>
              <a:rPr lang="en-US" sz="1800" dirty="0"/>
              <a:t>Calculating the increase in variance can be computationally intensive for very large datasets.</a:t>
            </a:r>
          </a:p>
          <a:p>
            <a:r>
              <a:rPr lang="en-US" sz="1800" b="1" dirty="0"/>
              <a:t>Sensitive to Initial Data Structure: </a:t>
            </a:r>
            <a:r>
              <a:rPr lang="en-US" sz="1800" dirty="0"/>
              <a:t>If the data doesn’t naturally form spherical clusters, Ward’s method may not perform as well as other linkage methods.</a:t>
            </a:r>
          </a:p>
        </p:txBody>
      </p:sp>
    </p:spTree>
    <p:extLst>
      <p:ext uri="{BB962C8B-B14F-4D97-AF65-F5344CB8AC3E}">
        <p14:creationId xmlns:p14="http://schemas.microsoft.com/office/powerpoint/2010/main" val="14853446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63AB0-D557-1CFA-F1E7-6B9D4352E21D}"/>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D176CFF6-CED2-8F9A-3F49-F10BE4A41E2B}"/>
              </a:ext>
            </a:extLst>
          </p:cNvPr>
          <p:cNvPicPr>
            <a:picLocks noChangeAspect="1"/>
          </p:cNvPicPr>
          <p:nvPr/>
        </p:nvPicPr>
        <p:blipFill>
          <a:blip r:embed="rId2"/>
          <a:stretch>
            <a:fillRect/>
          </a:stretch>
        </p:blipFill>
        <p:spPr>
          <a:xfrm>
            <a:off x="2195375" y="0"/>
            <a:ext cx="4753250" cy="5143500"/>
          </a:xfrm>
          <a:prstGeom prst="rect">
            <a:avLst/>
          </a:prstGeom>
        </p:spPr>
      </p:pic>
      <p:sp>
        <p:nvSpPr>
          <p:cNvPr id="3" name="Text Placeholder 2">
            <a:extLst>
              <a:ext uri="{FF2B5EF4-FFF2-40B4-BE49-F238E27FC236}">
                <a16:creationId xmlns:a16="http://schemas.microsoft.com/office/drawing/2014/main" id="{62AF8E8E-E838-C38B-3605-DA7398112A0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394512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90725" y="196672"/>
            <a:ext cx="5160645" cy="452120"/>
          </a:xfrm>
          <a:prstGeom prst="rect">
            <a:avLst/>
          </a:prstGeom>
        </p:spPr>
        <p:txBody>
          <a:bodyPr vert="horz" wrap="square" lIns="0" tIns="12065" rIns="0" bIns="0" rtlCol="0">
            <a:spAutoFit/>
          </a:bodyPr>
          <a:lstStyle/>
          <a:p>
            <a:pPr marL="12700">
              <a:lnSpc>
                <a:spcPct val="100000"/>
              </a:lnSpc>
              <a:spcBef>
                <a:spcPts val="95"/>
              </a:spcBef>
            </a:pPr>
            <a:r>
              <a:rPr sz="2800" spc="-15" dirty="0">
                <a:solidFill>
                  <a:srgbClr val="0000FF"/>
                </a:solidFill>
              </a:rPr>
              <a:t>Hierarchical Clustering:</a:t>
            </a:r>
            <a:r>
              <a:rPr sz="2800" spc="25" dirty="0">
                <a:solidFill>
                  <a:srgbClr val="0000FF"/>
                </a:solidFill>
              </a:rPr>
              <a:t> </a:t>
            </a:r>
            <a:r>
              <a:rPr sz="2800" spc="-10" dirty="0">
                <a:solidFill>
                  <a:srgbClr val="0000FF"/>
                </a:solidFill>
              </a:rPr>
              <a:t>Comparison</a:t>
            </a:r>
            <a:endParaRPr sz="2800"/>
          </a:p>
        </p:txBody>
      </p:sp>
      <p:sp>
        <p:nvSpPr>
          <p:cNvPr id="3" name="object 3"/>
          <p:cNvSpPr txBox="1"/>
          <p:nvPr/>
        </p:nvSpPr>
        <p:spPr>
          <a:xfrm>
            <a:off x="3648836" y="3744264"/>
            <a:ext cx="614680" cy="391160"/>
          </a:xfrm>
          <a:prstGeom prst="rect">
            <a:avLst/>
          </a:prstGeom>
        </p:spPr>
        <p:txBody>
          <a:bodyPr vert="horz" wrap="square" lIns="0" tIns="12700" rIns="0" bIns="0" rtlCol="0">
            <a:spAutoFit/>
          </a:bodyPr>
          <a:lstStyle/>
          <a:p>
            <a:pPr marL="12700" marR="5080">
              <a:lnSpc>
                <a:spcPct val="100000"/>
              </a:lnSpc>
              <a:spcBef>
                <a:spcPts val="100"/>
              </a:spcBef>
            </a:pPr>
            <a:r>
              <a:rPr sz="1200" b="1" dirty="0">
                <a:latin typeface="Arial"/>
                <a:cs typeface="Arial"/>
              </a:rPr>
              <a:t>Group  </a:t>
            </a:r>
            <a:r>
              <a:rPr sz="1200" b="1" spc="-95" dirty="0">
                <a:latin typeface="Arial"/>
                <a:cs typeface="Arial"/>
              </a:rPr>
              <a:t>A</a:t>
            </a:r>
            <a:r>
              <a:rPr sz="1200" b="1" spc="-25" dirty="0">
                <a:latin typeface="Arial"/>
                <a:cs typeface="Arial"/>
              </a:rPr>
              <a:t>v</a:t>
            </a:r>
            <a:r>
              <a:rPr sz="1200" b="1" spc="-5" dirty="0">
                <a:latin typeface="Arial"/>
                <a:cs typeface="Arial"/>
              </a:rPr>
              <a:t>era</a:t>
            </a:r>
            <a:r>
              <a:rPr sz="1200" b="1" dirty="0">
                <a:latin typeface="Arial"/>
                <a:cs typeface="Arial"/>
              </a:rPr>
              <a:t>ge</a:t>
            </a:r>
            <a:endParaRPr sz="1200">
              <a:latin typeface="Arial"/>
              <a:cs typeface="Arial"/>
            </a:endParaRPr>
          </a:p>
        </p:txBody>
      </p:sp>
      <p:sp>
        <p:nvSpPr>
          <p:cNvPr id="4" name="object 4"/>
          <p:cNvSpPr txBox="1"/>
          <p:nvPr/>
        </p:nvSpPr>
        <p:spPr>
          <a:xfrm>
            <a:off x="4620514" y="3458032"/>
            <a:ext cx="1106170" cy="208915"/>
          </a:xfrm>
          <a:prstGeom prst="rect">
            <a:avLst/>
          </a:prstGeom>
        </p:spPr>
        <p:txBody>
          <a:bodyPr vert="horz" wrap="square" lIns="0" tIns="12700" rIns="0" bIns="0" rtlCol="0">
            <a:spAutoFit/>
          </a:bodyPr>
          <a:lstStyle/>
          <a:p>
            <a:pPr marL="12700">
              <a:lnSpc>
                <a:spcPct val="100000"/>
              </a:lnSpc>
              <a:spcBef>
                <a:spcPts val="100"/>
              </a:spcBef>
            </a:pPr>
            <a:r>
              <a:rPr sz="1200" b="1" spc="-20" dirty="0">
                <a:latin typeface="Arial"/>
                <a:cs typeface="Arial"/>
              </a:rPr>
              <a:t>Ward’s</a:t>
            </a:r>
            <a:r>
              <a:rPr sz="1200" b="1" spc="-60" dirty="0">
                <a:latin typeface="Arial"/>
                <a:cs typeface="Arial"/>
              </a:rPr>
              <a:t> </a:t>
            </a:r>
            <a:r>
              <a:rPr sz="1200" b="1" spc="-5" dirty="0">
                <a:latin typeface="Arial"/>
                <a:cs typeface="Arial"/>
              </a:rPr>
              <a:t>Method</a:t>
            </a:r>
            <a:endParaRPr sz="1200">
              <a:latin typeface="Arial"/>
              <a:cs typeface="Arial"/>
            </a:endParaRPr>
          </a:p>
        </p:txBody>
      </p:sp>
      <p:grpSp>
        <p:nvGrpSpPr>
          <p:cNvPr id="5" name="object 5"/>
          <p:cNvGrpSpPr/>
          <p:nvPr/>
        </p:nvGrpSpPr>
        <p:grpSpPr>
          <a:xfrm>
            <a:off x="5844540" y="3134867"/>
            <a:ext cx="1260475" cy="1152525"/>
            <a:chOff x="5844540" y="3134867"/>
            <a:chExt cx="1260475" cy="1152525"/>
          </a:xfrm>
        </p:grpSpPr>
        <p:sp>
          <p:nvSpPr>
            <p:cNvPr id="6" name="object 6"/>
            <p:cNvSpPr/>
            <p:nvPr/>
          </p:nvSpPr>
          <p:spPr>
            <a:xfrm>
              <a:off x="6275832" y="3593591"/>
              <a:ext cx="64008" cy="67056"/>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5844540" y="3502151"/>
              <a:ext cx="67056" cy="67056"/>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6865620" y="3134867"/>
              <a:ext cx="67055" cy="67056"/>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6435852" y="4219955"/>
              <a:ext cx="67055" cy="67056"/>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6690360" y="3814571"/>
              <a:ext cx="65532" cy="65532"/>
            </a:xfrm>
            <a:prstGeom prst="rect">
              <a:avLst/>
            </a:prstGeom>
            <a:blipFill>
              <a:blip r:embed="rId6" cstate="print"/>
              <a:stretch>
                <a:fillRect/>
              </a:stretch>
            </a:blipFill>
          </p:spPr>
          <p:txBody>
            <a:bodyPr wrap="square" lIns="0" tIns="0" rIns="0" bIns="0" rtlCol="0"/>
            <a:lstStyle/>
            <a:p>
              <a:endParaRPr/>
            </a:p>
          </p:txBody>
        </p:sp>
        <p:sp>
          <p:nvSpPr>
            <p:cNvPr id="11" name="object 11"/>
            <p:cNvSpPr/>
            <p:nvPr/>
          </p:nvSpPr>
          <p:spPr>
            <a:xfrm>
              <a:off x="7037832" y="3857243"/>
              <a:ext cx="67056" cy="67056"/>
            </a:xfrm>
            <a:prstGeom prst="rect">
              <a:avLst/>
            </a:prstGeom>
            <a:blipFill>
              <a:blip r:embed="rId7" cstate="print"/>
              <a:stretch>
                <a:fillRect/>
              </a:stretch>
            </a:blipFill>
          </p:spPr>
          <p:txBody>
            <a:bodyPr wrap="square" lIns="0" tIns="0" rIns="0" bIns="0" rtlCol="0"/>
            <a:lstStyle/>
            <a:p>
              <a:endParaRPr/>
            </a:p>
          </p:txBody>
        </p:sp>
      </p:grpSp>
      <p:sp>
        <p:nvSpPr>
          <p:cNvPr id="12" name="object 12"/>
          <p:cNvSpPr txBox="1"/>
          <p:nvPr/>
        </p:nvSpPr>
        <p:spPr>
          <a:xfrm>
            <a:off x="6933438" y="3078226"/>
            <a:ext cx="10287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1</a:t>
            </a:r>
            <a:endParaRPr sz="1200">
              <a:latin typeface="Carlito"/>
              <a:cs typeface="Carlito"/>
            </a:endParaRPr>
          </a:p>
        </p:txBody>
      </p:sp>
      <p:sp>
        <p:nvSpPr>
          <p:cNvPr id="13" name="object 13"/>
          <p:cNvSpPr txBox="1"/>
          <p:nvPr/>
        </p:nvSpPr>
        <p:spPr>
          <a:xfrm>
            <a:off x="6347586" y="3533013"/>
            <a:ext cx="10287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2</a:t>
            </a:r>
            <a:endParaRPr sz="1200">
              <a:latin typeface="Carlito"/>
              <a:cs typeface="Carlito"/>
            </a:endParaRPr>
          </a:p>
        </p:txBody>
      </p:sp>
      <p:sp>
        <p:nvSpPr>
          <p:cNvPr id="14" name="object 14"/>
          <p:cNvSpPr txBox="1"/>
          <p:nvPr/>
        </p:nvSpPr>
        <p:spPr>
          <a:xfrm>
            <a:off x="6795261" y="3760723"/>
            <a:ext cx="10287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3</a:t>
            </a:r>
            <a:endParaRPr sz="1200">
              <a:latin typeface="Carlito"/>
              <a:cs typeface="Carlito"/>
            </a:endParaRPr>
          </a:p>
        </p:txBody>
      </p:sp>
      <p:sp>
        <p:nvSpPr>
          <p:cNvPr id="15" name="object 15"/>
          <p:cNvSpPr txBox="1"/>
          <p:nvPr/>
        </p:nvSpPr>
        <p:spPr>
          <a:xfrm>
            <a:off x="6517385" y="4166108"/>
            <a:ext cx="10287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4</a:t>
            </a:r>
            <a:endParaRPr sz="1200">
              <a:latin typeface="Carlito"/>
              <a:cs typeface="Carlito"/>
            </a:endParaRPr>
          </a:p>
        </p:txBody>
      </p:sp>
      <p:sp>
        <p:nvSpPr>
          <p:cNvPr id="16" name="object 16"/>
          <p:cNvSpPr txBox="1"/>
          <p:nvPr/>
        </p:nvSpPr>
        <p:spPr>
          <a:xfrm>
            <a:off x="5929121" y="3445002"/>
            <a:ext cx="10287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5</a:t>
            </a:r>
            <a:endParaRPr sz="1200">
              <a:latin typeface="Carlito"/>
              <a:cs typeface="Carlito"/>
            </a:endParaRPr>
          </a:p>
        </p:txBody>
      </p:sp>
      <p:sp>
        <p:nvSpPr>
          <p:cNvPr id="17" name="object 17"/>
          <p:cNvSpPr txBox="1"/>
          <p:nvPr/>
        </p:nvSpPr>
        <p:spPr>
          <a:xfrm>
            <a:off x="7152513" y="3800957"/>
            <a:ext cx="10287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6</a:t>
            </a:r>
            <a:endParaRPr sz="1200">
              <a:latin typeface="Carlito"/>
              <a:cs typeface="Carlito"/>
            </a:endParaRPr>
          </a:p>
        </p:txBody>
      </p:sp>
      <p:sp>
        <p:nvSpPr>
          <p:cNvPr id="18" name="object 18"/>
          <p:cNvSpPr/>
          <p:nvPr/>
        </p:nvSpPr>
        <p:spPr>
          <a:xfrm>
            <a:off x="6637019" y="3735323"/>
            <a:ext cx="643255" cy="268605"/>
          </a:xfrm>
          <a:custGeom>
            <a:avLst/>
            <a:gdLst/>
            <a:ahLst/>
            <a:cxnLst/>
            <a:rect l="l" t="t" r="r" b="b"/>
            <a:pathLst>
              <a:path w="643254" h="268604">
                <a:moveTo>
                  <a:pt x="320801" y="0"/>
                </a:moveTo>
                <a:lnTo>
                  <a:pt x="366268" y="1523"/>
                </a:lnTo>
                <a:lnTo>
                  <a:pt x="407797" y="6222"/>
                </a:lnTo>
                <a:lnTo>
                  <a:pt x="449452" y="12572"/>
                </a:lnTo>
                <a:lnTo>
                  <a:pt x="488569" y="20319"/>
                </a:lnTo>
                <a:lnTo>
                  <a:pt x="525526" y="31241"/>
                </a:lnTo>
                <a:lnTo>
                  <a:pt x="584326" y="57022"/>
                </a:lnTo>
                <a:lnTo>
                  <a:pt x="625094" y="89915"/>
                </a:lnTo>
                <a:lnTo>
                  <a:pt x="643127" y="125094"/>
                </a:lnTo>
                <a:lnTo>
                  <a:pt x="643127" y="143890"/>
                </a:lnTo>
                <a:lnTo>
                  <a:pt x="625094" y="179069"/>
                </a:lnTo>
                <a:lnTo>
                  <a:pt x="584326" y="211924"/>
                </a:lnTo>
                <a:lnTo>
                  <a:pt x="525526" y="239293"/>
                </a:lnTo>
                <a:lnTo>
                  <a:pt x="488569" y="248678"/>
                </a:lnTo>
                <a:lnTo>
                  <a:pt x="449452" y="258051"/>
                </a:lnTo>
                <a:lnTo>
                  <a:pt x="407797" y="264312"/>
                </a:lnTo>
                <a:lnTo>
                  <a:pt x="366268" y="266661"/>
                </a:lnTo>
                <a:lnTo>
                  <a:pt x="320801" y="268223"/>
                </a:lnTo>
                <a:lnTo>
                  <a:pt x="277622" y="266661"/>
                </a:lnTo>
                <a:lnTo>
                  <a:pt x="234569" y="264312"/>
                </a:lnTo>
                <a:lnTo>
                  <a:pt x="192150" y="258051"/>
                </a:lnTo>
                <a:lnTo>
                  <a:pt x="153670" y="248678"/>
                </a:lnTo>
                <a:lnTo>
                  <a:pt x="85471" y="226783"/>
                </a:lnTo>
                <a:lnTo>
                  <a:pt x="34544" y="196278"/>
                </a:lnTo>
                <a:lnTo>
                  <a:pt x="4699" y="161874"/>
                </a:lnTo>
                <a:lnTo>
                  <a:pt x="0" y="143890"/>
                </a:lnTo>
                <a:lnTo>
                  <a:pt x="0" y="125094"/>
                </a:lnTo>
                <a:lnTo>
                  <a:pt x="17272" y="89915"/>
                </a:lnTo>
                <a:lnTo>
                  <a:pt x="57276" y="57022"/>
                </a:lnTo>
                <a:lnTo>
                  <a:pt x="117601" y="31241"/>
                </a:lnTo>
                <a:lnTo>
                  <a:pt x="192150" y="12572"/>
                </a:lnTo>
                <a:lnTo>
                  <a:pt x="234569" y="6222"/>
                </a:lnTo>
                <a:lnTo>
                  <a:pt x="277622" y="1523"/>
                </a:lnTo>
                <a:lnTo>
                  <a:pt x="320801" y="0"/>
                </a:lnTo>
              </a:path>
            </a:pathLst>
          </a:custGeom>
          <a:ln w="3175">
            <a:solidFill>
              <a:srgbClr val="000000"/>
            </a:solidFill>
          </a:ln>
        </p:spPr>
        <p:txBody>
          <a:bodyPr wrap="square" lIns="0" tIns="0" rIns="0" bIns="0" rtlCol="0"/>
          <a:lstStyle/>
          <a:p>
            <a:endParaRPr/>
          </a:p>
        </p:txBody>
      </p:sp>
      <p:sp>
        <p:nvSpPr>
          <p:cNvPr id="19" name="object 19"/>
          <p:cNvSpPr txBox="1"/>
          <p:nvPr/>
        </p:nvSpPr>
        <p:spPr>
          <a:xfrm>
            <a:off x="6891655" y="3978961"/>
            <a:ext cx="110489" cy="208915"/>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0000"/>
                </a:solidFill>
                <a:latin typeface="Arial"/>
                <a:cs typeface="Arial"/>
              </a:rPr>
              <a:t>1</a:t>
            </a:r>
            <a:endParaRPr sz="1200">
              <a:latin typeface="Arial"/>
              <a:cs typeface="Arial"/>
            </a:endParaRPr>
          </a:p>
        </p:txBody>
      </p:sp>
      <p:sp>
        <p:nvSpPr>
          <p:cNvPr id="20" name="object 20"/>
          <p:cNvSpPr/>
          <p:nvPr/>
        </p:nvSpPr>
        <p:spPr>
          <a:xfrm>
            <a:off x="5801867" y="3421379"/>
            <a:ext cx="655320" cy="360045"/>
          </a:xfrm>
          <a:custGeom>
            <a:avLst/>
            <a:gdLst/>
            <a:ahLst/>
            <a:cxnLst/>
            <a:rect l="l" t="t" r="r" b="b"/>
            <a:pathLst>
              <a:path w="655320" h="360045">
                <a:moveTo>
                  <a:pt x="342646" y="1524"/>
                </a:moveTo>
                <a:lnTo>
                  <a:pt x="388112" y="7874"/>
                </a:lnTo>
                <a:lnTo>
                  <a:pt x="429768" y="15621"/>
                </a:lnTo>
                <a:lnTo>
                  <a:pt x="471424" y="28194"/>
                </a:lnTo>
                <a:lnTo>
                  <a:pt x="510794" y="42164"/>
                </a:lnTo>
                <a:lnTo>
                  <a:pt x="546100" y="60198"/>
                </a:lnTo>
                <a:lnTo>
                  <a:pt x="603504" y="100076"/>
                </a:lnTo>
                <a:lnTo>
                  <a:pt x="641223" y="146939"/>
                </a:lnTo>
                <a:lnTo>
                  <a:pt x="655320" y="196215"/>
                </a:lnTo>
                <a:lnTo>
                  <a:pt x="653796" y="220472"/>
                </a:lnTo>
                <a:lnTo>
                  <a:pt x="630174" y="265049"/>
                </a:lnTo>
                <a:lnTo>
                  <a:pt x="585343" y="305689"/>
                </a:lnTo>
                <a:lnTo>
                  <a:pt x="521716" y="336169"/>
                </a:lnTo>
                <a:lnTo>
                  <a:pt x="483997" y="347091"/>
                </a:lnTo>
                <a:lnTo>
                  <a:pt x="443992" y="354965"/>
                </a:lnTo>
                <a:lnTo>
                  <a:pt x="400685" y="359664"/>
                </a:lnTo>
                <a:lnTo>
                  <a:pt x="356743" y="359664"/>
                </a:lnTo>
                <a:lnTo>
                  <a:pt x="311912" y="358140"/>
                </a:lnTo>
                <a:lnTo>
                  <a:pt x="267208" y="351790"/>
                </a:lnTo>
                <a:lnTo>
                  <a:pt x="223139" y="344043"/>
                </a:lnTo>
                <a:lnTo>
                  <a:pt x="181483" y="331470"/>
                </a:lnTo>
                <a:lnTo>
                  <a:pt x="143764" y="315849"/>
                </a:lnTo>
                <a:lnTo>
                  <a:pt x="108458" y="299466"/>
                </a:lnTo>
                <a:lnTo>
                  <a:pt x="51054" y="258826"/>
                </a:lnTo>
                <a:lnTo>
                  <a:pt x="13335" y="212725"/>
                </a:lnTo>
                <a:lnTo>
                  <a:pt x="0" y="163449"/>
                </a:lnTo>
                <a:lnTo>
                  <a:pt x="762" y="139192"/>
                </a:lnTo>
                <a:lnTo>
                  <a:pt x="22733" y="93091"/>
                </a:lnTo>
                <a:lnTo>
                  <a:pt x="67564" y="53975"/>
                </a:lnTo>
                <a:lnTo>
                  <a:pt x="131953" y="23495"/>
                </a:lnTo>
                <a:lnTo>
                  <a:pt x="170561" y="12573"/>
                </a:lnTo>
                <a:lnTo>
                  <a:pt x="210566" y="4699"/>
                </a:lnTo>
                <a:lnTo>
                  <a:pt x="254635" y="0"/>
                </a:lnTo>
                <a:lnTo>
                  <a:pt x="297815" y="0"/>
                </a:lnTo>
                <a:lnTo>
                  <a:pt x="342646" y="1524"/>
                </a:lnTo>
              </a:path>
            </a:pathLst>
          </a:custGeom>
          <a:ln w="3175">
            <a:solidFill>
              <a:srgbClr val="000000"/>
            </a:solidFill>
          </a:ln>
        </p:spPr>
        <p:txBody>
          <a:bodyPr wrap="square" lIns="0" tIns="0" rIns="0" bIns="0" rtlCol="0"/>
          <a:lstStyle/>
          <a:p>
            <a:endParaRPr/>
          </a:p>
        </p:txBody>
      </p:sp>
      <p:sp>
        <p:nvSpPr>
          <p:cNvPr id="21" name="object 21"/>
          <p:cNvSpPr txBox="1"/>
          <p:nvPr/>
        </p:nvSpPr>
        <p:spPr>
          <a:xfrm>
            <a:off x="6175628" y="3278251"/>
            <a:ext cx="110489"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0000"/>
                </a:solidFill>
                <a:latin typeface="Arial"/>
                <a:cs typeface="Arial"/>
              </a:rPr>
              <a:t>2</a:t>
            </a:r>
            <a:endParaRPr sz="1200">
              <a:latin typeface="Arial"/>
              <a:cs typeface="Arial"/>
            </a:endParaRPr>
          </a:p>
        </p:txBody>
      </p:sp>
      <p:sp>
        <p:nvSpPr>
          <p:cNvPr id="22" name="object 22"/>
          <p:cNvSpPr txBox="1"/>
          <p:nvPr/>
        </p:nvSpPr>
        <p:spPr>
          <a:xfrm>
            <a:off x="5876671" y="3000882"/>
            <a:ext cx="110489"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0000"/>
                </a:solidFill>
                <a:latin typeface="Arial"/>
                <a:cs typeface="Arial"/>
              </a:rPr>
              <a:t>5</a:t>
            </a:r>
            <a:endParaRPr sz="1200">
              <a:latin typeface="Arial"/>
              <a:cs typeface="Arial"/>
            </a:endParaRPr>
          </a:p>
        </p:txBody>
      </p:sp>
      <p:sp>
        <p:nvSpPr>
          <p:cNvPr id="23" name="object 23"/>
          <p:cNvSpPr/>
          <p:nvPr/>
        </p:nvSpPr>
        <p:spPr>
          <a:xfrm>
            <a:off x="5646420" y="2918460"/>
            <a:ext cx="1809114" cy="1711960"/>
          </a:xfrm>
          <a:custGeom>
            <a:avLst/>
            <a:gdLst/>
            <a:ahLst/>
            <a:cxnLst/>
            <a:rect l="l" t="t" r="r" b="b"/>
            <a:pathLst>
              <a:path w="1809115" h="1711960">
                <a:moveTo>
                  <a:pt x="902588" y="0"/>
                </a:moveTo>
                <a:lnTo>
                  <a:pt x="977137" y="3175"/>
                </a:lnTo>
                <a:lnTo>
                  <a:pt x="1051686" y="11048"/>
                </a:lnTo>
                <a:lnTo>
                  <a:pt x="1124584" y="25907"/>
                </a:lnTo>
                <a:lnTo>
                  <a:pt x="1197609" y="46354"/>
                </a:lnTo>
                <a:lnTo>
                  <a:pt x="1267459" y="70612"/>
                </a:lnTo>
                <a:lnTo>
                  <a:pt x="1334134" y="102107"/>
                </a:lnTo>
                <a:lnTo>
                  <a:pt x="1397761" y="137413"/>
                </a:lnTo>
                <a:lnTo>
                  <a:pt x="1459737" y="178942"/>
                </a:lnTo>
                <a:lnTo>
                  <a:pt x="1515490" y="224535"/>
                </a:lnTo>
                <a:lnTo>
                  <a:pt x="1569593" y="275589"/>
                </a:lnTo>
                <a:lnTo>
                  <a:pt x="1618233" y="329691"/>
                </a:lnTo>
                <a:lnTo>
                  <a:pt x="1661413" y="387095"/>
                </a:lnTo>
                <a:lnTo>
                  <a:pt x="1699895" y="446658"/>
                </a:lnTo>
                <a:lnTo>
                  <a:pt x="1732914" y="510285"/>
                </a:lnTo>
                <a:lnTo>
                  <a:pt x="1759584" y="577088"/>
                </a:lnTo>
                <a:lnTo>
                  <a:pt x="1780794" y="643762"/>
                </a:lnTo>
                <a:lnTo>
                  <a:pt x="1796414" y="712851"/>
                </a:lnTo>
                <a:lnTo>
                  <a:pt x="1805812" y="782701"/>
                </a:lnTo>
                <a:lnTo>
                  <a:pt x="1808987" y="854201"/>
                </a:lnTo>
                <a:lnTo>
                  <a:pt x="1805812" y="924813"/>
                </a:lnTo>
                <a:lnTo>
                  <a:pt x="1796414" y="994676"/>
                </a:lnTo>
                <a:lnTo>
                  <a:pt x="1782318" y="1064552"/>
                </a:lnTo>
                <a:lnTo>
                  <a:pt x="1760347" y="1132852"/>
                </a:lnTo>
                <a:lnTo>
                  <a:pt x="1734438" y="1197228"/>
                </a:lnTo>
                <a:lnTo>
                  <a:pt x="1699895" y="1260817"/>
                </a:lnTo>
                <a:lnTo>
                  <a:pt x="1663064" y="1322844"/>
                </a:lnTo>
                <a:lnTo>
                  <a:pt x="1619884" y="1380147"/>
                </a:lnTo>
                <a:lnTo>
                  <a:pt x="1571244" y="1434325"/>
                </a:lnTo>
                <a:lnTo>
                  <a:pt x="1518665" y="1483779"/>
                </a:lnTo>
                <a:lnTo>
                  <a:pt x="1461261" y="1530095"/>
                </a:lnTo>
                <a:lnTo>
                  <a:pt x="1400936" y="1571713"/>
                </a:lnTo>
                <a:lnTo>
                  <a:pt x="1337309" y="1607820"/>
                </a:lnTo>
                <a:lnTo>
                  <a:pt x="1268983" y="1638439"/>
                </a:lnTo>
                <a:lnTo>
                  <a:pt x="1199133" y="1665135"/>
                </a:lnTo>
                <a:lnTo>
                  <a:pt x="1127759" y="1684756"/>
                </a:lnTo>
                <a:lnTo>
                  <a:pt x="1054734" y="1698891"/>
                </a:lnTo>
                <a:lnTo>
                  <a:pt x="980185" y="1708315"/>
                </a:lnTo>
                <a:lnTo>
                  <a:pt x="905636" y="1711452"/>
                </a:lnTo>
                <a:lnTo>
                  <a:pt x="831088" y="1708315"/>
                </a:lnTo>
                <a:lnTo>
                  <a:pt x="757301" y="1700466"/>
                </a:lnTo>
                <a:lnTo>
                  <a:pt x="684402" y="1686331"/>
                </a:lnTo>
                <a:lnTo>
                  <a:pt x="612901" y="1666697"/>
                </a:lnTo>
                <a:lnTo>
                  <a:pt x="543051" y="1640014"/>
                </a:lnTo>
                <a:lnTo>
                  <a:pt x="476376" y="1609394"/>
                </a:lnTo>
                <a:lnTo>
                  <a:pt x="411225" y="1573276"/>
                </a:lnTo>
                <a:lnTo>
                  <a:pt x="350774" y="1531670"/>
                </a:lnTo>
                <a:lnTo>
                  <a:pt x="292734" y="1486915"/>
                </a:lnTo>
                <a:lnTo>
                  <a:pt x="240156" y="1435887"/>
                </a:lnTo>
                <a:lnTo>
                  <a:pt x="192277" y="1383296"/>
                </a:lnTo>
                <a:lnTo>
                  <a:pt x="149097" y="1324406"/>
                </a:lnTo>
                <a:lnTo>
                  <a:pt x="109854" y="1263967"/>
                </a:lnTo>
                <a:lnTo>
                  <a:pt x="77724" y="1200365"/>
                </a:lnTo>
                <a:lnTo>
                  <a:pt x="49402" y="1135989"/>
                </a:lnTo>
                <a:lnTo>
                  <a:pt x="27431" y="1067689"/>
                </a:lnTo>
                <a:lnTo>
                  <a:pt x="12572" y="997826"/>
                </a:lnTo>
                <a:lnTo>
                  <a:pt x="3175" y="927988"/>
                </a:lnTo>
                <a:lnTo>
                  <a:pt x="0" y="857249"/>
                </a:lnTo>
                <a:lnTo>
                  <a:pt x="3175" y="785876"/>
                </a:lnTo>
                <a:lnTo>
                  <a:pt x="12572" y="716026"/>
                </a:lnTo>
                <a:lnTo>
                  <a:pt x="27431" y="646937"/>
                </a:lnTo>
                <a:lnTo>
                  <a:pt x="49402" y="578612"/>
                </a:lnTo>
                <a:lnTo>
                  <a:pt x="76072" y="513460"/>
                </a:lnTo>
                <a:lnTo>
                  <a:pt x="108330" y="449833"/>
                </a:lnTo>
                <a:lnTo>
                  <a:pt x="147574" y="388619"/>
                </a:lnTo>
                <a:lnTo>
                  <a:pt x="190753" y="331342"/>
                </a:lnTo>
                <a:lnTo>
                  <a:pt x="238632" y="277113"/>
                </a:lnTo>
                <a:lnTo>
                  <a:pt x="291210" y="227710"/>
                </a:lnTo>
                <a:lnTo>
                  <a:pt x="347725" y="180594"/>
                </a:lnTo>
                <a:lnTo>
                  <a:pt x="409701" y="140588"/>
                </a:lnTo>
                <a:lnTo>
                  <a:pt x="473201" y="103631"/>
                </a:lnTo>
                <a:lnTo>
                  <a:pt x="540003" y="72262"/>
                </a:lnTo>
                <a:lnTo>
                  <a:pt x="609853" y="46354"/>
                </a:lnTo>
                <a:lnTo>
                  <a:pt x="681227" y="25907"/>
                </a:lnTo>
                <a:lnTo>
                  <a:pt x="754252" y="12572"/>
                </a:lnTo>
                <a:lnTo>
                  <a:pt x="827913" y="3175"/>
                </a:lnTo>
                <a:lnTo>
                  <a:pt x="902588" y="0"/>
                </a:lnTo>
              </a:path>
            </a:pathLst>
          </a:custGeom>
          <a:ln w="3175">
            <a:solidFill>
              <a:srgbClr val="000000"/>
            </a:solidFill>
          </a:ln>
        </p:spPr>
        <p:txBody>
          <a:bodyPr wrap="square" lIns="0" tIns="0" rIns="0" bIns="0" rtlCol="0"/>
          <a:lstStyle/>
          <a:p>
            <a:endParaRPr/>
          </a:p>
        </p:txBody>
      </p:sp>
      <p:sp>
        <p:nvSpPr>
          <p:cNvPr id="24" name="object 24"/>
          <p:cNvSpPr txBox="1"/>
          <p:nvPr/>
        </p:nvSpPr>
        <p:spPr>
          <a:xfrm>
            <a:off x="6742938" y="4306316"/>
            <a:ext cx="110489"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0000"/>
                </a:solidFill>
                <a:latin typeface="Arial"/>
                <a:cs typeface="Arial"/>
              </a:rPr>
              <a:t>3</a:t>
            </a:r>
            <a:endParaRPr sz="1200">
              <a:latin typeface="Arial"/>
              <a:cs typeface="Arial"/>
            </a:endParaRPr>
          </a:p>
        </p:txBody>
      </p:sp>
      <p:sp>
        <p:nvSpPr>
          <p:cNvPr id="25" name="object 25"/>
          <p:cNvSpPr/>
          <p:nvPr/>
        </p:nvSpPr>
        <p:spPr>
          <a:xfrm>
            <a:off x="6402323" y="3649979"/>
            <a:ext cx="890269" cy="713740"/>
          </a:xfrm>
          <a:custGeom>
            <a:avLst/>
            <a:gdLst/>
            <a:ahLst/>
            <a:cxnLst/>
            <a:rect l="l" t="t" r="r" b="b"/>
            <a:pathLst>
              <a:path w="890270" h="713739">
                <a:moveTo>
                  <a:pt x="291210" y="111379"/>
                </a:moveTo>
                <a:lnTo>
                  <a:pt x="337439" y="84709"/>
                </a:lnTo>
                <a:lnTo>
                  <a:pt x="386206" y="61976"/>
                </a:lnTo>
                <a:lnTo>
                  <a:pt x="432434" y="41529"/>
                </a:lnTo>
                <a:lnTo>
                  <a:pt x="481837" y="25146"/>
                </a:lnTo>
                <a:lnTo>
                  <a:pt x="528954" y="12573"/>
                </a:lnTo>
                <a:lnTo>
                  <a:pt x="576833" y="4699"/>
                </a:lnTo>
                <a:lnTo>
                  <a:pt x="621537" y="0"/>
                </a:lnTo>
                <a:lnTo>
                  <a:pt x="665606" y="0"/>
                </a:lnTo>
                <a:lnTo>
                  <a:pt x="705611" y="3175"/>
                </a:lnTo>
                <a:lnTo>
                  <a:pt x="776985" y="23495"/>
                </a:lnTo>
                <a:lnTo>
                  <a:pt x="832739" y="60452"/>
                </a:lnTo>
                <a:lnTo>
                  <a:pt x="871220" y="109855"/>
                </a:lnTo>
                <a:lnTo>
                  <a:pt x="888492" y="170307"/>
                </a:lnTo>
                <a:lnTo>
                  <a:pt x="890016" y="203962"/>
                </a:lnTo>
                <a:lnTo>
                  <a:pt x="885317" y="241668"/>
                </a:lnTo>
                <a:lnTo>
                  <a:pt x="862583" y="315417"/>
                </a:lnTo>
                <a:lnTo>
                  <a:pt x="843660" y="353872"/>
                </a:lnTo>
                <a:lnTo>
                  <a:pt x="820166" y="393103"/>
                </a:lnTo>
                <a:lnTo>
                  <a:pt x="792733" y="431546"/>
                </a:lnTo>
                <a:lnTo>
                  <a:pt x="759714" y="468426"/>
                </a:lnTo>
                <a:lnTo>
                  <a:pt x="724407" y="504520"/>
                </a:lnTo>
                <a:lnTo>
                  <a:pt x="683641" y="539826"/>
                </a:lnTo>
                <a:lnTo>
                  <a:pt x="641984" y="570433"/>
                </a:lnTo>
                <a:lnTo>
                  <a:pt x="598804" y="600240"/>
                </a:lnTo>
                <a:lnTo>
                  <a:pt x="551687" y="627710"/>
                </a:lnTo>
                <a:lnTo>
                  <a:pt x="505459" y="651243"/>
                </a:lnTo>
                <a:lnTo>
                  <a:pt x="457580" y="670864"/>
                </a:lnTo>
                <a:lnTo>
                  <a:pt x="407289" y="688124"/>
                </a:lnTo>
                <a:lnTo>
                  <a:pt x="361060" y="700671"/>
                </a:lnTo>
                <a:lnTo>
                  <a:pt x="314705" y="708520"/>
                </a:lnTo>
                <a:lnTo>
                  <a:pt x="268477" y="713232"/>
                </a:lnTo>
                <a:lnTo>
                  <a:pt x="224408" y="713232"/>
                </a:lnTo>
                <a:lnTo>
                  <a:pt x="184403" y="710095"/>
                </a:lnTo>
                <a:lnTo>
                  <a:pt x="146811" y="700671"/>
                </a:lnTo>
                <a:lnTo>
                  <a:pt x="83185" y="672426"/>
                </a:lnTo>
                <a:lnTo>
                  <a:pt x="35305" y="629272"/>
                </a:lnTo>
                <a:lnTo>
                  <a:pt x="7112" y="573570"/>
                </a:lnTo>
                <a:lnTo>
                  <a:pt x="0" y="507657"/>
                </a:lnTo>
                <a:lnTo>
                  <a:pt x="3937" y="471563"/>
                </a:lnTo>
                <a:lnTo>
                  <a:pt x="27431" y="396240"/>
                </a:lnTo>
                <a:lnTo>
                  <a:pt x="46354" y="357009"/>
                </a:lnTo>
                <a:lnTo>
                  <a:pt x="69087" y="318566"/>
                </a:lnTo>
                <a:lnTo>
                  <a:pt x="97281" y="281686"/>
                </a:lnTo>
                <a:lnTo>
                  <a:pt x="130301" y="244017"/>
                </a:lnTo>
                <a:lnTo>
                  <a:pt x="165607" y="207137"/>
                </a:lnTo>
                <a:lnTo>
                  <a:pt x="205612" y="173355"/>
                </a:lnTo>
                <a:lnTo>
                  <a:pt x="248030" y="140462"/>
                </a:lnTo>
                <a:lnTo>
                  <a:pt x="291210" y="111379"/>
                </a:lnTo>
              </a:path>
            </a:pathLst>
          </a:custGeom>
          <a:ln w="3175">
            <a:solidFill>
              <a:srgbClr val="000000"/>
            </a:solidFill>
          </a:ln>
        </p:spPr>
        <p:txBody>
          <a:bodyPr wrap="square" lIns="0" tIns="0" rIns="0" bIns="0" rtlCol="0"/>
          <a:lstStyle/>
          <a:p>
            <a:endParaRPr/>
          </a:p>
        </p:txBody>
      </p:sp>
      <p:sp>
        <p:nvSpPr>
          <p:cNvPr id="26" name="object 26"/>
          <p:cNvSpPr txBox="1"/>
          <p:nvPr/>
        </p:nvSpPr>
        <p:spPr>
          <a:xfrm>
            <a:off x="6693154" y="3050235"/>
            <a:ext cx="110489" cy="208915"/>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0000"/>
                </a:solidFill>
                <a:latin typeface="Arial"/>
                <a:cs typeface="Arial"/>
              </a:rPr>
              <a:t>4</a:t>
            </a:r>
            <a:endParaRPr sz="1200">
              <a:latin typeface="Arial"/>
              <a:cs typeface="Arial"/>
            </a:endParaRPr>
          </a:p>
        </p:txBody>
      </p:sp>
      <p:sp>
        <p:nvSpPr>
          <p:cNvPr id="27" name="object 27"/>
          <p:cNvSpPr/>
          <p:nvPr/>
        </p:nvSpPr>
        <p:spPr>
          <a:xfrm>
            <a:off x="6382511" y="3093720"/>
            <a:ext cx="957580" cy="1504315"/>
          </a:xfrm>
          <a:custGeom>
            <a:avLst/>
            <a:gdLst/>
            <a:ahLst/>
            <a:cxnLst/>
            <a:rect l="l" t="t" r="r" b="b"/>
            <a:pathLst>
              <a:path w="957579" h="1504314">
                <a:moveTo>
                  <a:pt x="47878" y="631952"/>
                </a:moveTo>
                <a:lnTo>
                  <a:pt x="68325" y="568325"/>
                </a:lnTo>
                <a:lnTo>
                  <a:pt x="91186" y="504825"/>
                </a:lnTo>
                <a:lnTo>
                  <a:pt x="116332" y="444373"/>
                </a:lnTo>
                <a:lnTo>
                  <a:pt x="146177" y="385444"/>
                </a:lnTo>
                <a:lnTo>
                  <a:pt x="176784" y="329692"/>
                </a:lnTo>
                <a:lnTo>
                  <a:pt x="209804" y="277113"/>
                </a:lnTo>
                <a:lnTo>
                  <a:pt x="245110" y="227711"/>
                </a:lnTo>
                <a:lnTo>
                  <a:pt x="282829" y="182880"/>
                </a:lnTo>
                <a:lnTo>
                  <a:pt x="321437" y="142875"/>
                </a:lnTo>
                <a:lnTo>
                  <a:pt x="361441" y="106806"/>
                </a:lnTo>
                <a:lnTo>
                  <a:pt x="403860" y="76200"/>
                </a:lnTo>
                <a:lnTo>
                  <a:pt x="443991" y="50292"/>
                </a:lnTo>
                <a:lnTo>
                  <a:pt x="486410" y="29844"/>
                </a:lnTo>
                <a:lnTo>
                  <a:pt x="528065" y="14097"/>
                </a:lnTo>
                <a:lnTo>
                  <a:pt x="569721" y="4699"/>
                </a:lnTo>
                <a:lnTo>
                  <a:pt x="610488" y="0"/>
                </a:lnTo>
                <a:lnTo>
                  <a:pt x="649096" y="3175"/>
                </a:lnTo>
                <a:lnTo>
                  <a:pt x="688339" y="11049"/>
                </a:lnTo>
                <a:lnTo>
                  <a:pt x="725296" y="23494"/>
                </a:lnTo>
                <a:lnTo>
                  <a:pt x="759079" y="42418"/>
                </a:lnTo>
                <a:lnTo>
                  <a:pt x="792098" y="66675"/>
                </a:lnTo>
                <a:lnTo>
                  <a:pt x="823467" y="96519"/>
                </a:lnTo>
                <a:lnTo>
                  <a:pt x="849376" y="131953"/>
                </a:lnTo>
                <a:lnTo>
                  <a:pt x="874521" y="170306"/>
                </a:lnTo>
                <a:lnTo>
                  <a:pt x="897382" y="213487"/>
                </a:lnTo>
                <a:lnTo>
                  <a:pt x="916178" y="262255"/>
                </a:lnTo>
                <a:lnTo>
                  <a:pt x="930402" y="313181"/>
                </a:lnTo>
                <a:lnTo>
                  <a:pt x="942974" y="368935"/>
                </a:lnTo>
                <a:lnTo>
                  <a:pt x="952372" y="426339"/>
                </a:lnTo>
                <a:lnTo>
                  <a:pt x="957071" y="485902"/>
                </a:lnTo>
                <a:lnTo>
                  <a:pt x="957071" y="548005"/>
                </a:lnTo>
                <a:lnTo>
                  <a:pt x="955547" y="611505"/>
                </a:lnTo>
                <a:lnTo>
                  <a:pt x="949197" y="676783"/>
                </a:lnTo>
                <a:lnTo>
                  <a:pt x="939799" y="743458"/>
                </a:lnTo>
                <a:lnTo>
                  <a:pt x="925703" y="807834"/>
                </a:lnTo>
                <a:lnTo>
                  <a:pt x="908304" y="872998"/>
                </a:lnTo>
                <a:lnTo>
                  <a:pt x="890269" y="936586"/>
                </a:lnTo>
                <a:lnTo>
                  <a:pt x="866647" y="1000175"/>
                </a:lnTo>
                <a:lnTo>
                  <a:pt x="839978" y="1060627"/>
                </a:lnTo>
                <a:lnTo>
                  <a:pt x="812545" y="1119505"/>
                </a:lnTo>
                <a:lnTo>
                  <a:pt x="779526" y="1174457"/>
                </a:lnTo>
                <a:lnTo>
                  <a:pt x="747267" y="1227061"/>
                </a:lnTo>
                <a:lnTo>
                  <a:pt x="711072" y="1277302"/>
                </a:lnTo>
                <a:lnTo>
                  <a:pt x="674242" y="1322057"/>
                </a:lnTo>
                <a:lnTo>
                  <a:pt x="634872" y="1362087"/>
                </a:lnTo>
                <a:lnTo>
                  <a:pt x="594867" y="1397419"/>
                </a:lnTo>
                <a:lnTo>
                  <a:pt x="554736" y="1428826"/>
                </a:lnTo>
                <a:lnTo>
                  <a:pt x="512317" y="1454734"/>
                </a:lnTo>
                <a:lnTo>
                  <a:pt x="470662" y="1475143"/>
                </a:lnTo>
                <a:lnTo>
                  <a:pt x="428243" y="1490840"/>
                </a:lnTo>
                <a:lnTo>
                  <a:pt x="388112" y="1499476"/>
                </a:lnTo>
                <a:lnTo>
                  <a:pt x="348107" y="1504188"/>
                </a:lnTo>
                <a:lnTo>
                  <a:pt x="307213" y="1501051"/>
                </a:lnTo>
                <a:lnTo>
                  <a:pt x="268732" y="1493202"/>
                </a:lnTo>
                <a:lnTo>
                  <a:pt x="197231" y="1462582"/>
                </a:lnTo>
                <a:lnTo>
                  <a:pt x="164211" y="1438236"/>
                </a:lnTo>
                <a:lnTo>
                  <a:pt x="135128" y="1408404"/>
                </a:lnTo>
                <a:lnTo>
                  <a:pt x="106807" y="1374648"/>
                </a:lnTo>
                <a:lnTo>
                  <a:pt x="82550" y="1333830"/>
                </a:lnTo>
                <a:lnTo>
                  <a:pt x="60451" y="1290650"/>
                </a:lnTo>
                <a:lnTo>
                  <a:pt x="41655" y="1242758"/>
                </a:lnTo>
                <a:lnTo>
                  <a:pt x="25908" y="1191729"/>
                </a:lnTo>
                <a:lnTo>
                  <a:pt x="14097" y="1137564"/>
                </a:lnTo>
                <a:lnTo>
                  <a:pt x="6223" y="1078687"/>
                </a:lnTo>
                <a:lnTo>
                  <a:pt x="1524" y="1018235"/>
                </a:lnTo>
                <a:lnTo>
                  <a:pt x="0" y="956995"/>
                </a:lnTo>
                <a:lnTo>
                  <a:pt x="3175" y="893406"/>
                </a:lnTo>
                <a:lnTo>
                  <a:pt x="9398" y="828243"/>
                </a:lnTo>
                <a:lnTo>
                  <a:pt x="18796" y="763143"/>
                </a:lnTo>
                <a:lnTo>
                  <a:pt x="30607" y="696341"/>
                </a:lnTo>
                <a:lnTo>
                  <a:pt x="47878" y="631952"/>
                </a:lnTo>
              </a:path>
            </a:pathLst>
          </a:custGeom>
          <a:ln w="3175">
            <a:solidFill>
              <a:srgbClr val="000000"/>
            </a:solidFill>
          </a:ln>
        </p:spPr>
        <p:txBody>
          <a:bodyPr wrap="square" lIns="0" tIns="0" rIns="0" bIns="0" rtlCol="0"/>
          <a:lstStyle/>
          <a:p>
            <a:endParaRPr/>
          </a:p>
        </p:txBody>
      </p:sp>
      <p:sp>
        <p:nvSpPr>
          <p:cNvPr id="28" name="object 28"/>
          <p:cNvSpPr txBox="1"/>
          <p:nvPr/>
        </p:nvSpPr>
        <p:spPr>
          <a:xfrm>
            <a:off x="3763136" y="1629283"/>
            <a:ext cx="1094105"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Arial"/>
                <a:cs typeface="Arial"/>
              </a:rPr>
              <a:t>Simple</a:t>
            </a:r>
            <a:r>
              <a:rPr sz="1200" b="1" spc="-85" dirty="0">
                <a:latin typeface="Arial"/>
                <a:cs typeface="Arial"/>
              </a:rPr>
              <a:t> </a:t>
            </a:r>
            <a:r>
              <a:rPr sz="1200" b="1" dirty="0">
                <a:latin typeface="Arial"/>
                <a:cs typeface="Arial"/>
              </a:rPr>
              <a:t>linkage</a:t>
            </a:r>
            <a:endParaRPr sz="1200">
              <a:latin typeface="Arial"/>
              <a:cs typeface="Arial"/>
            </a:endParaRPr>
          </a:p>
        </p:txBody>
      </p:sp>
      <p:sp>
        <p:nvSpPr>
          <p:cNvPr id="29" name="object 29"/>
          <p:cNvSpPr txBox="1"/>
          <p:nvPr/>
        </p:nvSpPr>
        <p:spPr>
          <a:xfrm>
            <a:off x="4880228" y="2219960"/>
            <a:ext cx="720090" cy="391160"/>
          </a:xfrm>
          <a:prstGeom prst="rect">
            <a:avLst/>
          </a:prstGeom>
        </p:spPr>
        <p:txBody>
          <a:bodyPr vert="horz" wrap="square" lIns="0" tIns="12700" rIns="0" bIns="0" rtlCol="0">
            <a:spAutoFit/>
          </a:bodyPr>
          <a:lstStyle/>
          <a:p>
            <a:pPr marL="12700" marR="5080">
              <a:lnSpc>
                <a:spcPct val="100000"/>
              </a:lnSpc>
              <a:spcBef>
                <a:spcPts val="100"/>
              </a:spcBef>
            </a:pPr>
            <a:r>
              <a:rPr sz="1200" b="1" dirty="0">
                <a:latin typeface="Arial"/>
                <a:cs typeface="Arial"/>
              </a:rPr>
              <a:t>C</a:t>
            </a:r>
            <a:r>
              <a:rPr sz="1200" b="1" spc="-5" dirty="0">
                <a:latin typeface="Arial"/>
                <a:cs typeface="Arial"/>
              </a:rPr>
              <a:t>o</a:t>
            </a:r>
            <a:r>
              <a:rPr sz="1200" b="1" dirty="0">
                <a:latin typeface="Arial"/>
                <a:cs typeface="Arial"/>
              </a:rPr>
              <a:t>mpl</a:t>
            </a:r>
            <a:r>
              <a:rPr sz="1200" b="1" spc="5" dirty="0">
                <a:latin typeface="Arial"/>
                <a:cs typeface="Arial"/>
              </a:rPr>
              <a:t>e</a:t>
            </a:r>
            <a:r>
              <a:rPr sz="1200" b="1" spc="-5" dirty="0">
                <a:latin typeface="Arial"/>
                <a:cs typeface="Arial"/>
              </a:rPr>
              <a:t>te  </a:t>
            </a:r>
            <a:r>
              <a:rPr sz="1200" b="1" dirty="0">
                <a:latin typeface="Arial"/>
                <a:cs typeface="Arial"/>
              </a:rPr>
              <a:t>linkage</a:t>
            </a:r>
            <a:endParaRPr sz="1200">
              <a:latin typeface="Arial"/>
              <a:cs typeface="Arial"/>
            </a:endParaRPr>
          </a:p>
        </p:txBody>
      </p:sp>
      <p:grpSp>
        <p:nvGrpSpPr>
          <p:cNvPr id="30" name="object 30"/>
          <p:cNvGrpSpPr/>
          <p:nvPr/>
        </p:nvGrpSpPr>
        <p:grpSpPr>
          <a:xfrm>
            <a:off x="1857755" y="3072383"/>
            <a:ext cx="1343025" cy="1229995"/>
            <a:chOff x="1857755" y="3072383"/>
            <a:chExt cx="1343025" cy="1229995"/>
          </a:xfrm>
        </p:grpSpPr>
        <p:sp>
          <p:nvSpPr>
            <p:cNvPr id="31" name="object 31"/>
            <p:cNvSpPr/>
            <p:nvPr/>
          </p:nvSpPr>
          <p:spPr>
            <a:xfrm>
              <a:off x="2316479" y="3563111"/>
              <a:ext cx="70104" cy="70103"/>
            </a:xfrm>
            <a:prstGeom prst="rect">
              <a:avLst/>
            </a:prstGeom>
            <a:blipFill>
              <a:blip r:embed="rId8" cstate="print"/>
              <a:stretch>
                <a:fillRect/>
              </a:stretch>
            </a:blipFill>
          </p:spPr>
          <p:txBody>
            <a:bodyPr wrap="square" lIns="0" tIns="0" rIns="0" bIns="0" rtlCol="0"/>
            <a:lstStyle/>
            <a:p>
              <a:endParaRPr/>
            </a:p>
          </p:txBody>
        </p:sp>
        <p:sp>
          <p:nvSpPr>
            <p:cNvPr id="32" name="object 32"/>
            <p:cNvSpPr/>
            <p:nvPr/>
          </p:nvSpPr>
          <p:spPr>
            <a:xfrm>
              <a:off x="1857755" y="3465575"/>
              <a:ext cx="68580" cy="71628"/>
            </a:xfrm>
            <a:prstGeom prst="rect">
              <a:avLst/>
            </a:prstGeom>
            <a:blipFill>
              <a:blip r:embed="rId9" cstate="print"/>
              <a:stretch>
                <a:fillRect/>
              </a:stretch>
            </a:blipFill>
          </p:spPr>
          <p:txBody>
            <a:bodyPr wrap="square" lIns="0" tIns="0" rIns="0" bIns="0" rtlCol="0"/>
            <a:lstStyle/>
            <a:p>
              <a:endParaRPr/>
            </a:p>
          </p:txBody>
        </p:sp>
        <p:sp>
          <p:nvSpPr>
            <p:cNvPr id="33" name="object 33"/>
            <p:cNvSpPr/>
            <p:nvPr/>
          </p:nvSpPr>
          <p:spPr>
            <a:xfrm>
              <a:off x="2945891" y="3072383"/>
              <a:ext cx="71627" cy="70104"/>
            </a:xfrm>
            <a:prstGeom prst="rect">
              <a:avLst/>
            </a:prstGeom>
            <a:blipFill>
              <a:blip r:embed="rId10" cstate="print"/>
              <a:stretch>
                <a:fillRect/>
              </a:stretch>
            </a:blipFill>
          </p:spPr>
          <p:txBody>
            <a:bodyPr wrap="square" lIns="0" tIns="0" rIns="0" bIns="0" rtlCol="0"/>
            <a:lstStyle/>
            <a:p>
              <a:endParaRPr/>
            </a:p>
          </p:txBody>
        </p:sp>
        <p:sp>
          <p:nvSpPr>
            <p:cNvPr id="34" name="object 34"/>
            <p:cNvSpPr/>
            <p:nvPr/>
          </p:nvSpPr>
          <p:spPr>
            <a:xfrm>
              <a:off x="2487168" y="4232147"/>
              <a:ext cx="70104" cy="70104"/>
            </a:xfrm>
            <a:prstGeom prst="rect">
              <a:avLst/>
            </a:prstGeom>
            <a:blipFill>
              <a:blip r:embed="rId11" cstate="print"/>
              <a:stretch>
                <a:fillRect/>
              </a:stretch>
            </a:blipFill>
          </p:spPr>
          <p:txBody>
            <a:bodyPr wrap="square" lIns="0" tIns="0" rIns="0" bIns="0" rtlCol="0"/>
            <a:lstStyle/>
            <a:p>
              <a:endParaRPr/>
            </a:p>
          </p:txBody>
        </p:sp>
        <p:sp>
          <p:nvSpPr>
            <p:cNvPr id="35" name="object 35"/>
            <p:cNvSpPr/>
            <p:nvPr/>
          </p:nvSpPr>
          <p:spPr>
            <a:xfrm>
              <a:off x="2759963" y="3799331"/>
              <a:ext cx="71628" cy="70104"/>
            </a:xfrm>
            <a:prstGeom prst="rect">
              <a:avLst/>
            </a:prstGeom>
            <a:blipFill>
              <a:blip r:embed="rId12" cstate="print"/>
              <a:stretch>
                <a:fillRect/>
              </a:stretch>
            </a:blipFill>
          </p:spPr>
          <p:txBody>
            <a:bodyPr wrap="square" lIns="0" tIns="0" rIns="0" bIns="0" rtlCol="0"/>
            <a:lstStyle/>
            <a:p>
              <a:endParaRPr/>
            </a:p>
          </p:txBody>
        </p:sp>
        <p:sp>
          <p:nvSpPr>
            <p:cNvPr id="36" name="object 36"/>
            <p:cNvSpPr/>
            <p:nvPr/>
          </p:nvSpPr>
          <p:spPr>
            <a:xfrm>
              <a:off x="3130295" y="3845051"/>
              <a:ext cx="70104" cy="70104"/>
            </a:xfrm>
            <a:prstGeom prst="rect">
              <a:avLst/>
            </a:prstGeom>
            <a:blipFill>
              <a:blip r:embed="rId13" cstate="print"/>
              <a:stretch>
                <a:fillRect/>
              </a:stretch>
            </a:blipFill>
          </p:spPr>
          <p:txBody>
            <a:bodyPr wrap="square" lIns="0" tIns="0" rIns="0" bIns="0" rtlCol="0"/>
            <a:lstStyle/>
            <a:p>
              <a:endParaRPr/>
            </a:p>
          </p:txBody>
        </p:sp>
      </p:grpSp>
      <p:sp>
        <p:nvSpPr>
          <p:cNvPr id="37" name="object 37"/>
          <p:cNvSpPr txBox="1"/>
          <p:nvPr/>
        </p:nvSpPr>
        <p:spPr>
          <a:xfrm>
            <a:off x="2395473" y="3500373"/>
            <a:ext cx="10287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2</a:t>
            </a:r>
            <a:endParaRPr sz="1200">
              <a:latin typeface="Carlito"/>
              <a:cs typeface="Carlito"/>
            </a:endParaRPr>
          </a:p>
        </p:txBody>
      </p:sp>
      <p:sp>
        <p:nvSpPr>
          <p:cNvPr id="38" name="object 38"/>
          <p:cNvSpPr txBox="1"/>
          <p:nvPr/>
        </p:nvSpPr>
        <p:spPr>
          <a:xfrm>
            <a:off x="2870454" y="3743350"/>
            <a:ext cx="10287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3</a:t>
            </a:r>
            <a:endParaRPr sz="1200">
              <a:latin typeface="Carlito"/>
              <a:cs typeface="Carlito"/>
            </a:endParaRPr>
          </a:p>
        </p:txBody>
      </p:sp>
      <p:sp>
        <p:nvSpPr>
          <p:cNvPr id="39" name="object 39"/>
          <p:cNvSpPr txBox="1"/>
          <p:nvPr/>
        </p:nvSpPr>
        <p:spPr>
          <a:xfrm>
            <a:off x="2573782" y="4176471"/>
            <a:ext cx="10287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4</a:t>
            </a:r>
            <a:endParaRPr sz="1200">
              <a:latin typeface="Carlito"/>
              <a:cs typeface="Carlito"/>
            </a:endParaRPr>
          </a:p>
        </p:txBody>
      </p:sp>
      <p:sp>
        <p:nvSpPr>
          <p:cNvPr id="40" name="object 40"/>
          <p:cNvSpPr txBox="1"/>
          <p:nvPr/>
        </p:nvSpPr>
        <p:spPr>
          <a:xfrm>
            <a:off x="1948688" y="3402329"/>
            <a:ext cx="10287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5</a:t>
            </a:r>
            <a:endParaRPr sz="1200">
              <a:latin typeface="Carlito"/>
              <a:cs typeface="Carlito"/>
            </a:endParaRPr>
          </a:p>
        </p:txBody>
      </p:sp>
      <p:sp>
        <p:nvSpPr>
          <p:cNvPr id="41" name="object 41"/>
          <p:cNvSpPr txBox="1"/>
          <p:nvPr/>
        </p:nvSpPr>
        <p:spPr>
          <a:xfrm>
            <a:off x="3253232" y="3784803"/>
            <a:ext cx="10287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6</a:t>
            </a:r>
            <a:endParaRPr sz="1200">
              <a:latin typeface="Carlito"/>
              <a:cs typeface="Carlito"/>
            </a:endParaRPr>
          </a:p>
        </p:txBody>
      </p:sp>
      <p:sp>
        <p:nvSpPr>
          <p:cNvPr id="42" name="object 42"/>
          <p:cNvSpPr/>
          <p:nvPr/>
        </p:nvSpPr>
        <p:spPr>
          <a:xfrm>
            <a:off x="2700527" y="3713988"/>
            <a:ext cx="687705" cy="287020"/>
          </a:xfrm>
          <a:custGeom>
            <a:avLst/>
            <a:gdLst/>
            <a:ahLst/>
            <a:cxnLst/>
            <a:rect l="l" t="t" r="r" b="b"/>
            <a:pathLst>
              <a:path w="687704" h="287020">
                <a:moveTo>
                  <a:pt x="344424" y="0"/>
                </a:moveTo>
                <a:lnTo>
                  <a:pt x="391160" y="1524"/>
                </a:lnTo>
                <a:lnTo>
                  <a:pt x="437769" y="4571"/>
                </a:lnTo>
                <a:lnTo>
                  <a:pt x="482219" y="11430"/>
                </a:lnTo>
                <a:lnTo>
                  <a:pt x="523494" y="21336"/>
                </a:lnTo>
                <a:lnTo>
                  <a:pt x="561848" y="32893"/>
                </a:lnTo>
                <a:lnTo>
                  <a:pt x="626110" y="60325"/>
                </a:lnTo>
                <a:lnTo>
                  <a:pt x="669671" y="95503"/>
                </a:lnTo>
                <a:lnTo>
                  <a:pt x="687324" y="132969"/>
                </a:lnTo>
                <a:lnTo>
                  <a:pt x="687324" y="152781"/>
                </a:lnTo>
                <a:lnTo>
                  <a:pt x="669671" y="191008"/>
                </a:lnTo>
                <a:lnTo>
                  <a:pt x="626110" y="225386"/>
                </a:lnTo>
                <a:lnTo>
                  <a:pt x="561848" y="253657"/>
                </a:lnTo>
                <a:lnTo>
                  <a:pt x="523494" y="265112"/>
                </a:lnTo>
                <a:lnTo>
                  <a:pt x="482219" y="275056"/>
                </a:lnTo>
                <a:lnTo>
                  <a:pt x="437769" y="281927"/>
                </a:lnTo>
                <a:lnTo>
                  <a:pt x="391160" y="284988"/>
                </a:lnTo>
                <a:lnTo>
                  <a:pt x="344424" y="286512"/>
                </a:lnTo>
                <a:lnTo>
                  <a:pt x="298450" y="284988"/>
                </a:lnTo>
                <a:lnTo>
                  <a:pt x="251841" y="281927"/>
                </a:lnTo>
                <a:lnTo>
                  <a:pt x="207391" y="275056"/>
                </a:lnTo>
                <a:lnTo>
                  <a:pt x="166116" y="265112"/>
                </a:lnTo>
                <a:lnTo>
                  <a:pt x="127762" y="253657"/>
                </a:lnTo>
                <a:lnTo>
                  <a:pt x="63500" y="225386"/>
                </a:lnTo>
                <a:lnTo>
                  <a:pt x="19939" y="191008"/>
                </a:lnTo>
                <a:lnTo>
                  <a:pt x="0" y="152781"/>
                </a:lnTo>
                <a:lnTo>
                  <a:pt x="0" y="132969"/>
                </a:lnTo>
                <a:lnTo>
                  <a:pt x="19939" y="95503"/>
                </a:lnTo>
                <a:lnTo>
                  <a:pt x="63500" y="60325"/>
                </a:lnTo>
                <a:lnTo>
                  <a:pt x="127762" y="32893"/>
                </a:lnTo>
                <a:lnTo>
                  <a:pt x="166116" y="21336"/>
                </a:lnTo>
                <a:lnTo>
                  <a:pt x="207391" y="11430"/>
                </a:lnTo>
                <a:lnTo>
                  <a:pt x="251841" y="4571"/>
                </a:lnTo>
                <a:lnTo>
                  <a:pt x="298450" y="1524"/>
                </a:lnTo>
                <a:lnTo>
                  <a:pt x="344424" y="0"/>
                </a:lnTo>
              </a:path>
            </a:pathLst>
          </a:custGeom>
          <a:ln w="3175">
            <a:solidFill>
              <a:srgbClr val="000000"/>
            </a:solidFill>
          </a:ln>
        </p:spPr>
        <p:txBody>
          <a:bodyPr wrap="square" lIns="0" tIns="0" rIns="0" bIns="0" rtlCol="0"/>
          <a:lstStyle/>
          <a:p>
            <a:endParaRPr/>
          </a:p>
        </p:txBody>
      </p:sp>
      <p:sp>
        <p:nvSpPr>
          <p:cNvPr id="43" name="object 43"/>
          <p:cNvSpPr txBox="1"/>
          <p:nvPr/>
        </p:nvSpPr>
        <p:spPr>
          <a:xfrm>
            <a:off x="2974085" y="3977436"/>
            <a:ext cx="110489"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0000"/>
                </a:solidFill>
                <a:latin typeface="Arial"/>
                <a:cs typeface="Arial"/>
              </a:rPr>
              <a:t>1</a:t>
            </a:r>
            <a:endParaRPr sz="1200">
              <a:latin typeface="Arial"/>
              <a:cs typeface="Arial"/>
            </a:endParaRPr>
          </a:p>
        </p:txBody>
      </p:sp>
      <p:sp>
        <p:nvSpPr>
          <p:cNvPr id="44" name="object 44"/>
          <p:cNvSpPr/>
          <p:nvPr/>
        </p:nvSpPr>
        <p:spPr>
          <a:xfrm>
            <a:off x="1813560" y="3378708"/>
            <a:ext cx="775970" cy="300355"/>
          </a:xfrm>
          <a:custGeom>
            <a:avLst/>
            <a:gdLst/>
            <a:ahLst/>
            <a:cxnLst/>
            <a:rect l="l" t="t" r="r" b="b"/>
            <a:pathLst>
              <a:path w="775969" h="300354">
                <a:moveTo>
                  <a:pt x="400938" y="3810"/>
                </a:moveTo>
                <a:lnTo>
                  <a:pt x="449198" y="8509"/>
                </a:lnTo>
                <a:lnTo>
                  <a:pt x="497458" y="16891"/>
                </a:lnTo>
                <a:lnTo>
                  <a:pt x="541908" y="26924"/>
                </a:lnTo>
                <a:lnTo>
                  <a:pt x="587120" y="38354"/>
                </a:lnTo>
                <a:lnTo>
                  <a:pt x="626998" y="51435"/>
                </a:lnTo>
                <a:lnTo>
                  <a:pt x="663066" y="66802"/>
                </a:lnTo>
                <a:lnTo>
                  <a:pt x="722883" y="99822"/>
                </a:lnTo>
                <a:lnTo>
                  <a:pt x="761110" y="138176"/>
                </a:lnTo>
                <a:lnTo>
                  <a:pt x="775715" y="174244"/>
                </a:lnTo>
                <a:lnTo>
                  <a:pt x="774191" y="192786"/>
                </a:lnTo>
                <a:lnTo>
                  <a:pt x="752728" y="227330"/>
                </a:lnTo>
                <a:lnTo>
                  <a:pt x="708278" y="257175"/>
                </a:lnTo>
                <a:lnTo>
                  <a:pt x="645413" y="280289"/>
                </a:lnTo>
                <a:lnTo>
                  <a:pt x="605535" y="288671"/>
                </a:lnTo>
                <a:lnTo>
                  <a:pt x="564133" y="295656"/>
                </a:lnTo>
                <a:lnTo>
                  <a:pt x="518921" y="298704"/>
                </a:lnTo>
                <a:lnTo>
                  <a:pt x="472185" y="300228"/>
                </a:lnTo>
                <a:lnTo>
                  <a:pt x="424688" y="300228"/>
                </a:lnTo>
                <a:lnTo>
                  <a:pt x="374776" y="297180"/>
                </a:lnTo>
                <a:lnTo>
                  <a:pt x="326516" y="291719"/>
                </a:lnTo>
                <a:lnTo>
                  <a:pt x="278256" y="284099"/>
                </a:lnTo>
                <a:lnTo>
                  <a:pt x="233806" y="274066"/>
                </a:lnTo>
                <a:lnTo>
                  <a:pt x="190881" y="262636"/>
                </a:lnTo>
                <a:lnTo>
                  <a:pt x="149478" y="248793"/>
                </a:lnTo>
                <a:lnTo>
                  <a:pt x="112648" y="234188"/>
                </a:lnTo>
                <a:lnTo>
                  <a:pt x="52831" y="201168"/>
                </a:lnTo>
                <a:lnTo>
                  <a:pt x="14604" y="162814"/>
                </a:lnTo>
                <a:lnTo>
                  <a:pt x="0" y="125984"/>
                </a:lnTo>
                <a:lnTo>
                  <a:pt x="1523" y="106680"/>
                </a:lnTo>
                <a:lnTo>
                  <a:pt x="22987" y="72898"/>
                </a:lnTo>
                <a:lnTo>
                  <a:pt x="68198" y="43815"/>
                </a:lnTo>
                <a:lnTo>
                  <a:pt x="131063" y="19939"/>
                </a:lnTo>
                <a:lnTo>
                  <a:pt x="170941" y="12319"/>
                </a:lnTo>
                <a:lnTo>
                  <a:pt x="212344" y="5334"/>
                </a:lnTo>
                <a:lnTo>
                  <a:pt x="256794" y="2286"/>
                </a:lnTo>
                <a:lnTo>
                  <a:pt x="303529" y="0"/>
                </a:lnTo>
                <a:lnTo>
                  <a:pt x="351789" y="0"/>
                </a:lnTo>
                <a:lnTo>
                  <a:pt x="400938" y="3810"/>
                </a:lnTo>
              </a:path>
            </a:pathLst>
          </a:custGeom>
          <a:ln w="3175">
            <a:solidFill>
              <a:srgbClr val="000000"/>
            </a:solidFill>
          </a:ln>
        </p:spPr>
        <p:txBody>
          <a:bodyPr wrap="square" lIns="0" tIns="0" rIns="0" bIns="0" rtlCol="0"/>
          <a:lstStyle/>
          <a:p>
            <a:endParaRPr/>
          </a:p>
        </p:txBody>
      </p:sp>
      <p:sp>
        <p:nvSpPr>
          <p:cNvPr id="45" name="object 45"/>
          <p:cNvSpPr txBox="1"/>
          <p:nvPr/>
        </p:nvSpPr>
        <p:spPr>
          <a:xfrm>
            <a:off x="2210561" y="3225800"/>
            <a:ext cx="110489"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0000"/>
                </a:solidFill>
                <a:latin typeface="Arial"/>
                <a:cs typeface="Arial"/>
              </a:rPr>
              <a:t>2</a:t>
            </a:r>
            <a:endParaRPr sz="1200">
              <a:latin typeface="Arial"/>
              <a:cs typeface="Arial"/>
            </a:endParaRPr>
          </a:p>
        </p:txBody>
      </p:sp>
      <p:sp>
        <p:nvSpPr>
          <p:cNvPr id="46" name="object 46"/>
          <p:cNvSpPr txBox="1"/>
          <p:nvPr/>
        </p:nvSpPr>
        <p:spPr>
          <a:xfrm>
            <a:off x="3020314" y="2907538"/>
            <a:ext cx="275590" cy="313690"/>
          </a:xfrm>
          <a:prstGeom prst="rect">
            <a:avLst/>
          </a:prstGeom>
        </p:spPr>
        <p:txBody>
          <a:bodyPr vert="horz" wrap="square" lIns="0" tIns="12700" rIns="0" bIns="0" rtlCol="0">
            <a:spAutoFit/>
          </a:bodyPr>
          <a:lstStyle/>
          <a:p>
            <a:pPr marL="177800">
              <a:lnSpc>
                <a:spcPts val="1135"/>
              </a:lnSpc>
              <a:spcBef>
                <a:spcPts val="100"/>
              </a:spcBef>
            </a:pPr>
            <a:r>
              <a:rPr sz="1200" b="1" spc="-5" dirty="0">
                <a:solidFill>
                  <a:srgbClr val="FF0000"/>
                </a:solidFill>
                <a:latin typeface="Arial"/>
                <a:cs typeface="Arial"/>
              </a:rPr>
              <a:t>5</a:t>
            </a:r>
            <a:endParaRPr sz="1200">
              <a:latin typeface="Arial"/>
              <a:cs typeface="Arial"/>
            </a:endParaRPr>
          </a:p>
          <a:p>
            <a:pPr marL="12700">
              <a:lnSpc>
                <a:spcPts val="1135"/>
              </a:lnSpc>
            </a:pPr>
            <a:r>
              <a:rPr sz="1200" b="1" dirty="0">
                <a:latin typeface="Carlito"/>
                <a:cs typeface="Carlito"/>
              </a:rPr>
              <a:t>1</a:t>
            </a:r>
            <a:endParaRPr sz="1200">
              <a:latin typeface="Carlito"/>
              <a:cs typeface="Carlito"/>
            </a:endParaRPr>
          </a:p>
        </p:txBody>
      </p:sp>
      <p:sp>
        <p:nvSpPr>
          <p:cNvPr id="47" name="object 47"/>
          <p:cNvSpPr/>
          <p:nvPr/>
        </p:nvSpPr>
        <p:spPr>
          <a:xfrm>
            <a:off x="1644395" y="2915411"/>
            <a:ext cx="1934210" cy="1714500"/>
          </a:xfrm>
          <a:custGeom>
            <a:avLst/>
            <a:gdLst/>
            <a:ahLst/>
            <a:cxnLst/>
            <a:rect l="l" t="t" r="r" b="b"/>
            <a:pathLst>
              <a:path w="1934210" h="1714500">
                <a:moveTo>
                  <a:pt x="965073" y="0"/>
                </a:moveTo>
                <a:lnTo>
                  <a:pt x="1044829" y="1524"/>
                </a:lnTo>
                <a:lnTo>
                  <a:pt x="1124458" y="11556"/>
                </a:lnTo>
                <a:lnTo>
                  <a:pt x="1202690" y="24511"/>
                </a:lnTo>
                <a:lnTo>
                  <a:pt x="1278636" y="44450"/>
                </a:lnTo>
                <a:lnTo>
                  <a:pt x="1353693" y="71246"/>
                </a:lnTo>
                <a:lnTo>
                  <a:pt x="1426464" y="102743"/>
                </a:lnTo>
                <a:lnTo>
                  <a:pt x="1494790" y="137160"/>
                </a:lnTo>
                <a:lnTo>
                  <a:pt x="1559179" y="178562"/>
                </a:lnTo>
                <a:lnTo>
                  <a:pt x="1620393" y="224536"/>
                </a:lnTo>
                <a:lnTo>
                  <a:pt x="1677162" y="274319"/>
                </a:lnTo>
                <a:lnTo>
                  <a:pt x="1728470" y="328802"/>
                </a:lnTo>
                <a:lnTo>
                  <a:pt x="1774570" y="387095"/>
                </a:lnTo>
                <a:lnTo>
                  <a:pt x="1815973" y="446786"/>
                </a:lnTo>
                <a:lnTo>
                  <a:pt x="1851152" y="511175"/>
                </a:lnTo>
                <a:lnTo>
                  <a:pt x="1881124" y="577088"/>
                </a:lnTo>
                <a:lnTo>
                  <a:pt x="1904111" y="645287"/>
                </a:lnTo>
                <a:lnTo>
                  <a:pt x="1920875" y="712724"/>
                </a:lnTo>
                <a:lnTo>
                  <a:pt x="1930908" y="784097"/>
                </a:lnTo>
                <a:lnTo>
                  <a:pt x="1933956" y="855344"/>
                </a:lnTo>
                <a:lnTo>
                  <a:pt x="1930908" y="926591"/>
                </a:lnTo>
                <a:lnTo>
                  <a:pt x="1920875" y="995591"/>
                </a:lnTo>
                <a:lnTo>
                  <a:pt x="1904111" y="1065339"/>
                </a:lnTo>
                <a:lnTo>
                  <a:pt x="1881124" y="1133551"/>
                </a:lnTo>
                <a:lnTo>
                  <a:pt x="1852676" y="1199464"/>
                </a:lnTo>
                <a:lnTo>
                  <a:pt x="1818258" y="1262303"/>
                </a:lnTo>
                <a:lnTo>
                  <a:pt x="1776095" y="1323619"/>
                </a:lnTo>
                <a:lnTo>
                  <a:pt x="1730120" y="1381874"/>
                </a:lnTo>
                <a:lnTo>
                  <a:pt x="1678686" y="1436281"/>
                </a:lnTo>
                <a:lnTo>
                  <a:pt x="1621917" y="1486103"/>
                </a:lnTo>
                <a:lnTo>
                  <a:pt x="1562227" y="1532089"/>
                </a:lnTo>
                <a:lnTo>
                  <a:pt x="1496314" y="1573479"/>
                </a:lnTo>
                <a:lnTo>
                  <a:pt x="1427988" y="1610271"/>
                </a:lnTo>
                <a:lnTo>
                  <a:pt x="1356741" y="1641690"/>
                </a:lnTo>
                <a:lnTo>
                  <a:pt x="1282446" y="1666214"/>
                </a:lnTo>
                <a:lnTo>
                  <a:pt x="1205738" y="1687677"/>
                </a:lnTo>
                <a:lnTo>
                  <a:pt x="1127506" y="1702231"/>
                </a:lnTo>
                <a:lnTo>
                  <a:pt x="1048639" y="1710664"/>
                </a:lnTo>
                <a:lnTo>
                  <a:pt x="968883" y="1714500"/>
                </a:lnTo>
                <a:lnTo>
                  <a:pt x="889127" y="1710664"/>
                </a:lnTo>
                <a:lnTo>
                  <a:pt x="809498" y="1702231"/>
                </a:lnTo>
                <a:lnTo>
                  <a:pt x="731266" y="1687677"/>
                </a:lnTo>
                <a:lnTo>
                  <a:pt x="655320" y="1667751"/>
                </a:lnTo>
                <a:lnTo>
                  <a:pt x="580263" y="1643227"/>
                </a:lnTo>
                <a:lnTo>
                  <a:pt x="507492" y="1611795"/>
                </a:lnTo>
                <a:lnTo>
                  <a:pt x="439928" y="1575015"/>
                </a:lnTo>
                <a:lnTo>
                  <a:pt x="374777" y="1533626"/>
                </a:lnTo>
                <a:lnTo>
                  <a:pt x="313563" y="1489163"/>
                </a:lnTo>
                <a:lnTo>
                  <a:pt x="257556" y="1437817"/>
                </a:lnTo>
                <a:lnTo>
                  <a:pt x="205486" y="1384935"/>
                </a:lnTo>
                <a:lnTo>
                  <a:pt x="159385" y="1326692"/>
                </a:lnTo>
                <a:lnTo>
                  <a:pt x="117983" y="1265377"/>
                </a:lnTo>
                <a:lnTo>
                  <a:pt x="82804" y="1202524"/>
                </a:lnTo>
                <a:lnTo>
                  <a:pt x="52831" y="1136611"/>
                </a:lnTo>
                <a:lnTo>
                  <a:pt x="29845" y="1068400"/>
                </a:lnTo>
                <a:lnTo>
                  <a:pt x="13081" y="999426"/>
                </a:lnTo>
                <a:lnTo>
                  <a:pt x="3048" y="929640"/>
                </a:lnTo>
                <a:lnTo>
                  <a:pt x="0" y="858393"/>
                </a:lnTo>
                <a:lnTo>
                  <a:pt x="3048" y="787146"/>
                </a:lnTo>
                <a:lnTo>
                  <a:pt x="13081" y="716660"/>
                </a:lnTo>
                <a:lnTo>
                  <a:pt x="29845" y="648335"/>
                </a:lnTo>
                <a:lnTo>
                  <a:pt x="52831" y="578612"/>
                </a:lnTo>
                <a:lnTo>
                  <a:pt x="81280" y="514223"/>
                </a:lnTo>
                <a:lnTo>
                  <a:pt x="116459" y="449833"/>
                </a:lnTo>
                <a:lnTo>
                  <a:pt x="157861" y="388619"/>
                </a:lnTo>
                <a:lnTo>
                  <a:pt x="203835" y="330326"/>
                </a:lnTo>
                <a:lnTo>
                  <a:pt x="255270" y="277494"/>
                </a:lnTo>
                <a:lnTo>
                  <a:pt x="312039" y="226060"/>
                </a:lnTo>
                <a:lnTo>
                  <a:pt x="371729" y="181610"/>
                </a:lnTo>
                <a:lnTo>
                  <a:pt x="437642" y="140207"/>
                </a:lnTo>
                <a:lnTo>
                  <a:pt x="505968" y="104267"/>
                </a:lnTo>
                <a:lnTo>
                  <a:pt x="577215" y="72770"/>
                </a:lnTo>
                <a:lnTo>
                  <a:pt x="651510" y="45974"/>
                </a:lnTo>
                <a:lnTo>
                  <a:pt x="728218" y="26035"/>
                </a:lnTo>
                <a:lnTo>
                  <a:pt x="806450" y="11556"/>
                </a:lnTo>
                <a:lnTo>
                  <a:pt x="886079" y="3048"/>
                </a:lnTo>
                <a:lnTo>
                  <a:pt x="965073" y="0"/>
                </a:lnTo>
              </a:path>
            </a:pathLst>
          </a:custGeom>
          <a:ln w="3175">
            <a:solidFill>
              <a:srgbClr val="000000"/>
            </a:solidFill>
          </a:ln>
        </p:spPr>
        <p:txBody>
          <a:bodyPr wrap="square" lIns="0" tIns="0" rIns="0" bIns="0" rtlCol="0"/>
          <a:lstStyle/>
          <a:p>
            <a:endParaRPr/>
          </a:p>
        </p:txBody>
      </p:sp>
      <p:sp>
        <p:nvSpPr>
          <p:cNvPr id="48" name="object 48"/>
          <p:cNvSpPr txBox="1"/>
          <p:nvPr/>
        </p:nvSpPr>
        <p:spPr>
          <a:xfrm>
            <a:off x="2379726" y="3893007"/>
            <a:ext cx="110489"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0000"/>
                </a:solidFill>
                <a:latin typeface="Arial"/>
                <a:cs typeface="Arial"/>
              </a:rPr>
              <a:t>3</a:t>
            </a:r>
            <a:endParaRPr sz="1200">
              <a:latin typeface="Arial"/>
              <a:cs typeface="Arial"/>
            </a:endParaRPr>
          </a:p>
        </p:txBody>
      </p:sp>
      <p:sp>
        <p:nvSpPr>
          <p:cNvPr id="49" name="object 49"/>
          <p:cNvSpPr/>
          <p:nvPr/>
        </p:nvSpPr>
        <p:spPr>
          <a:xfrm>
            <a:off x="2424683" y="3627120"/>
            <a:ext cx="986155" cy="789940"/>
          </a:xfrm>
          <a:custGeom>
            <a:avLst/>
            <a:gdLst/>
            <a:ahLst/>
            <a:cxnLst/>
            <a:rect l="l" t="t" r="r" b="b"/>
            <a:pathLst>
              <a:path w="986154" h="789939">
                <a:moveTo>
                  <a:pt x="323850" y="124205"/>
                </a:moveTo>
                <a:lnTo>
                  <a:pt x="373634" y="94233"/>
                </a:lnTo>
                <a:lnTo>
                  <a:pt x="426593" y="68198"/>
                </a:lnTo>
                <a:lnTo>
                  <a:pt x="480314" y="46735"/>
                </a:lnTo>
                <a:lnTo>
                  <a:pt x="533273" y="28320"/>
                </a:lnTo>
                <a:lnTo>
                  <a:pt x="586232" y="13842"/>
                </a:lnTo>
                <a:lnTo>
                  <a:pt x="637667" y="5333"/>
                </a:lnTo>
                <a:lnTo>
                  <a:pt x="687578" y="0"/>
                </a:lnTo>
                <a:lnTo>
                  <a:pt x="735838" y="0"/>
                </a:lnTo>
                <a:lnTo>
                  <a:pt x="780415" y="5333"/>
                </a:lnTo>
                <a:lnTo>
                  <a:pt x="821817" y="13842"/>
                </a:lnTo>
                <a:lnTo>
                  <a:pt x="860170" y="26796"/>
                </a:lnTo>
                <a:lnTo>
                  <a:pt x="923163" y="66674"/>
                </a:lnTo>
                <a:lnTo>
                  <a:pt x="964565" y="122681"/>
                </a:lnTo>
                <a:lnTo>
                  <a:pt x="984504" y="190880"/>
                </a:lnTo>
                <a:lnTo>
                  <a:pt x="986028" y="228345"/>
                </a:lnTo>
                <a:lnTo>
                  <a:pt x="981456" y="268249"/>
                </a:lnTo>
                <a:lnTo>
                  <a:pt x="971423" y="309638"/>
                </a:lnTo>
                <a:lnTo>
                  <a:pt x="956818" y="351027"/>
                </a:lnTo>
                <a:lnTo>
                  <a:pt x="934593" y="393953"/>
                </a:lnTo>
                <a:lnTo>
                  <a:pt x="908557" y="436867"/>
                </a:lnTo>
                <a:lnTo>
                  <a:pt x="878586" y="478256"/>
                </a:lnTo>
                <a:lnTo>
                  <a:pt x="841756" y="519645"/>
                </a:lnTo>
                <a:lnTo>
                  <a:pt x="801878" y="559498"/>
                </a:lnTo>
                <a:lnTo>
                  <a:pt x="758952" y="597827"/>
                </a:lnTo>
                <a:lnTo>
                  <a:pt x="712089" y="633844"/>
                </a:lnTo>
                <a:lnTo>
                  <a:pt x="664464" y="666800"/>
                </a:lnTo>
                <a:lnTo>
                  <a:pt x="613156" y="695159"/>
                </a:lnTo>
                <a:lnTo>
                  <a:pt x="559435" y="721982"/>
                </a:lnTo>
                <a:lnTo>
                  <a:pt x="506476" y="744981"/>
                </a:lnTo>
                <a:lnTo>
                  <a:pt x="453517" y="763371"/>
                </a:lnTo>
                <a:lnTo>
                  <a:pt x="400558" y="776401"/>
                </a:lnTo>
                <a:lnTo>
                  <a:pt x="349123" y="786371"/>
                </a:lnTo>
                <a:lnTo>
                  <a:pt x="299212" y="789431"/>
                </a:lnTo>
                <a:lnTo>
                  <a:pt x="250952" y="789431"/>
                </a:lnTo>
                <a:lnTo>
                  <a:pt x="206375" y="786371"/>
                </a:lnTo>
                <a:lnTo>
                  <a:pt x="164211" y="776401"/>
                </a:lnTo>
                <a:lnTo>
                  <a:pt x="126618" y="763371"/>
                </a:lnTo>
                <a:lnTo>
                  <a:pt x="92837" y="744981"/>
                </a:lnTo>
                <a:lnTo>
                  <a:pt x="39878" y="696696"/>
                </a:lnTo>
                <a:lnTo>
                  <a:pt x="10033" y="635380"/>
                </a:lnTo>
                <a:lnTo>
                  <a:pt x="0" y="562571"/>
                </a:lnTo>
                <a:lnTo>
                  <a:pt x="5334" y="523481"/>
                </a:lnTo>
                <a:lnTo>
                  <a:pt x="15367" y="482091"/>
                </a:lnTo>
                <a:lnTo>
                  <a:pt x="29972" y="438403"/>
                </a:lnTo>
                <a:lnTo>
                  <a:pt x="51435" y="395477"/>
                </a:lnTo>
                <a:lnTo>
                  <a:pt x="78232" y="354088"/>
                </a:lnTo>
                <a:lnTo>
                  <a:pt x="109728" y="311175"/>
                </a:lnTo>
                <a:lnTo>
                  <a:pt x="144272" y="269786"/>
                </a:lnTo>
                <a:lnTo>
                  <a:pt x="184150" y="229869"/>
                </a:lnTo>
                <a:lnTo>
                  <a:pt x="227838" y="192404"/>
                </a:lnTo>
                <a:lnTo>
                  <a:pt x="273939" y="157098"/>
                </a:lnTo>
                <a:lnTo>
                  <a:pt x="323850" y="124205"/>
                </a:lnTo>
              </a:path>
            </a:pathLst>
          </a:custGeom>
          <a:ln w="3175">
            <a:solidFill>
              <a:srgbClr val="000000"/>
            </a:solidFill>
          </a:ln>
        </p:spPr>
        <p:txBody>
          <a:bodyPr wrap="square" lIns="0" tIns="0" rIns="0" bIns="0" rtlCol="0"/>
          <a:lstStyle/>
          <a:p>
            <a:endParaRPr/>
          </a:p>
        </p:txBody>
      </p:sp>
      <p:sp>
        <p:nvSpPr>
          <p:cNvPr id="50" name="object 50"/>
          <p:cNvSpPr txBox="1"/>
          <p:nvPr/>
        </p:nvSpPr>
        <p:spPr>
          <a:xfrm>
            <a:off x="1829561" y="4039615"/>
            <a:ext cx="110489" cy="208915"/>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0000"/>
                </a:solidFill>
                <a:latin typeface="Arial"/>
                <a:cs typeface="Arial"/>
              </a:rPr>
              <a:t>4</a:t>
            </a:r>
            <a:endParaRPr sz="1200">
              <a:latin typeface="Arial"/>
              <a:cs typeface="Arial"/>
            </a:endParaRPr>
          </a:p>
        </p:txBody>
      </p:sp>
      <p:sp>
        <p:nvSpPr>
          <p:cNvPr id="51" name="object 51"/>
          <p:cNvSpPr/>
          <p:nvPr/>
        </p:nvSpPr>
        <p:spPr>
          <a:xfrm>
            <a:off x="1665732" y="3127248"/>
            <a:ext cx="1824355" cy="1341120"/>
          </a:xfrm>
          <a:custGeom>
            <a:avLst/>
            <a:gdLst/>
            <a:ahLst/>
            <a:cxnLst/>
            <a:rect l="l" t="t" r="r" b="b"/>
            <a:pathLst>
              <a:path w="1824354" h="1341120">
                <a:moveTo>
                  <a:pt x="899032" y="0"/>
                </a:moveTo>
                <a:lnTo>
                  <a:pt x="977265" y="0"/>
                </a:lnTo>
                <a:lnTo>
                  <a:pt x="1053084" y="6857"/>
                </a:lnTo>
                <a:lnTo>
                  <a:pt x="1129792" y="16890"/>
                </a:lnTo>
                <a:lnTo>
                  <a:pt x="1204087" y="31368"/>
                </a:lnTo>
                <a:lnTo>
                  <a:pt x="1275461" y="51307"/>
                </a:lnTo>
                <a:lnTo>
                  <a:pt x="1345184" y="75818"/>
                </a:lnTo>
                <a:lnTo>
                  <a:pt x="1411859" y="104139"/>
                </a:lnTo>
                <a:lnTo>
                  <a:pt x="1474724" y="137159"/>
                </a:lnTo>
                <a:lnTo>
                  <a:pt x="1534541" y="173862"/>
                </a:lnTo>
                <a:lnTo>
                  <a:pt x="1588896" y="213740"/>
                </a:lnTo>
                <a:lnTo>
                  <a:pt x="1638681" y="256539"/>
                </a:lnTo>
                <a:lnTo>
                  <a:pt x="1681607" y="302513"/>
                </a:lnTo>
                <a:lnTo>
                  <a:pt x="1721484" y="352297"/>
                </a:lnTo>
                <a:lnTo>
                  <a:pt x="1754505" y="403605"/>
                </a:lnTo>
                <a:lnTo>
                  <a:pt x="1781302" y="456438"/>
                </a:lnTo>
                <a:lnTo>
                  <a:pt x="1801241" y="510920"/>
                </a:lnTo>
                <a:lnTo>
                  <a:pt x="1816608" y="567563"/>
                </a:lnTo>
                <a:lnTo>
                  <a:pt x="1824228" y="623442"/>
                </a:lnTo>
                <a:lnTo>
                  <a:pt x="1824228" y="679322"/>
                </a:lnTo>
                <a:lnTo>
                  <a:pt x="1819656" y="737615"/>
                </a:lnTo>
                <a:lnTo>
                  <a:pt x="1808098" y="793483"/>
                </a:lnTo>
                <a:lnTo>
                  <a:pt x="1789683" y="848639"/>
                </a:lnTo>
                <a:lnTo>
                  <a:pt x="1764410" y="903020"/>
                </a:lnTo>
                <a:lnTo>
                  <a:pt x="1733042" y="955865"/>
                </a:lnTo>
                <a:lnTo>
                  <a:pt x="1696973" y="1005649"/>
                </a:lnTo>
                <a:lnTo>
                  <a:pt x="1655571" y="1055433"/>
                </a:lnTo>
                <a:lnTo>
                  <a:pt x="1607312" y="1099858"/>
                </a:lnTo>
                <a:lnTo>
                  <a:pt x="1554480" y="1142745"/>
                </a:lnTo>
                <a:lnTo>
                  <a:pt x="1497711" y="1181049"/>
                </a:lnTo>
                <a:lnTo>
                  <a:pt x="1434845" y="1215504"/>
                </a:lnTo>
                <a:lnTo>
                  <a:pt x="1369695" y="1246911"/>
                </a:lnTo>
                <a:lnTo>
                  <a:pt x="1302258" y="1275245"/>
                </a:lnTo>
                <a:lnTo>
                  <a:pt x="1231011" y="1296695"/>
                </a:lnTo>
                <a:lnTo>
                  <a:pt x="1155827" y="1315072"/>
                </a:lnTo>
                <a:lnTo>
                  <a:pt x="1081532" y="1329626"/>
                </a:lnTo>
                <a:lnTo>
                  <a:pt x="1003300" y="1338059"/>
                </a:lnTo>
                <a:lnTo>
                  <a:pt x="927481" y="1341120"/>
                </a:lnTo>
                <a:lnTo>
                  <a:pt x="849249" y="1341120"/>
                </a:lnTo>
                <a:lnTo>
                  <a:pt x="773430" y="1334223"/>
                </a:lnTo>
                <a:lnTo>
                  <a:pt x="696722" y="1325041"/>
                </a:lnTo>
                <a:lnTo>
                  <a:pt x="622426" y="1309712"/>
                </a:lnTo>
                <a:lnTo>
                  <a:pt x="551053" y="1289799"/>
                </a:lnTo>
                <a:lnTo>
                  <a:pt x="479806" y="1265288"/>
                </a:lnTo>
                <a:lnTo>
                  <a:pt x="413131" y="1236954"/>
                </a:lnTo>
                <a:lnTo>
                  <a:pt x="350266" y="1204023"/>
                </a:lnTo>
                <a:lnTo>
                  <a:pt x="291973" y="1167257"/>
                </a:lnTo>
                <a:lnTo>
                  <a:pt x="237617" y="1128191"/>
                </a:lnTo>
                <a:lnTo>
                  <a:pt x="187832" y="1084541"/>
                </a:lnTo>
                <a:lnTo>
                  <a:pt x="142620" y="1038580"/>
                </a:lnTo>
                <a:lnTo>
                  <a:pt x="105029" y="988796"/>
                </a:lnTo>
                <a:lnTo>
                  <a:pt x="71247" y="939012"/>
                </a:lnTo>
                <a:lnTo>
                  <a:pt x="45212" y="884631"/>
                </a:lnTo>
                <a:lnTo>
                  <a:pt x="23749" y="830249"/>
                </a:lnTo>
                <a:lnTo>
                  <a:pt x="9906" y="774344"/>
                </a:lnTo>
                <a:lnTo>
                  <a:pt x="1524" y="717676"/>
                </a:lnTo>
                <a:lnTo>
                  <a:pt x="0" y="661796"/>
                </a:lnTo>
                <a:lnTo>
                  <a:pt x="6857" y="603504"/>
                </a:lnTo>
                <a:lnTo>
                  <a:pt x="18415" y="547623"/>
                </a:lnTo>
                <a:lnTo>
                  <a:pt x="36830" y="492505"/>
                </a:lnTo>
                <a:lnTo>
                  <a:pt x="61341" y="438149"/>
                </a:lnTo>
                <a:lnTo>
                  <a:pt x="91186" y="385318"/>
                </a:lnTo>
                <a:lnTo>
                  <a:pt x="128016" y="335533"/>
                </a:lnTo>
                <a:lnTo>
                  <a:pt x="170942" y="286512"/>
                </a:lnTo>
                <a:lnTo>
                  <a:pt x="219201" y="241300"/>
                </a:lnTo>
                <a:lnTo>
                  <a:pt x="272161" y="198374"/>
                </a:lnTo>
                <a:lnTo>
                  <a:pt x="328803" y="160019"/>
                </a:lnTo>
                <a:lnTo>
                  <a:pt x="390144" y="125602"/>
                </a:lnTo>
                <a:lnTo>
                  <a:pt x="456056" y="94233"/>
                </a:lnTo>
                <a:lnTo>
                  <a:pt x="524256" y="65912"/>
                </a:lnTo>
                <a:lnTo>
                  <a:pt x="595503" y="44450"/>
                </a:lnTo>
                <a:lnTo>
                  <a:pt x="669925" y="26796"/>
                </a:lnTo>
                <a:lnTo>
                  <a:pt x="744982" y="11429"/>
                </a:lnTo>
                <a:lnTo>
                  <a:pt x="820928" y="3047"/>
                </a:lnTo>
                <a:lnTo>
                  <a:pt x="899032" y="0"/>
                </a:lnTo>
              </a:path>
            </a:pathLst>
          </a:custGeom>
          <a:ln w="3175">
            <a:solidFill>
              <a:srgbClr val="000000"/>
            </a:solidFill>
          </a:ln>
        </p:spPr>
        <p:txBody>
          <a:bodyPr wrap="square" lIns="0" tIns="0" rIns="0" bIns="0" rtlCol="0"/>
          <a:lstStyle/>
          <a:p>
            <a:endParaRPr/>
          </a:p>
        </p:txBody>
      </p:sp>
      <p:grpSp>
        <p:nvGrpSpPr>
          <p:cNvPr id="52" name="object 52"/>
          <p:cNvGrpSpPr/>
          <p:nvPr/>
        </p:nvGrpSpPr>
        <p:grpSpPr>
          <a:xfrm>
            <a:off x="5759196" y="1127760"/>
            <a:ext cx="1347470" cy="1231900"/>
            <a:chOff x="5759196" y="1127760"/>
            <a:chExt cx="1347470" cy="1231900"/>
          </a:xfrm>
        </p:grpSpPr>
        <p:sp>
          <p:nvSpPr>
            <p:cNvPr id="53" name="object 53"/>
            <p:cNvSpPr/>
            <p:nvPr/>
          </p:nvSpPr>
          <p:spPr>
            <a:xfrm>
              <a:off x="6220968" y="1620012"/>
              <a:ext cx="71628" cy="70103"/>
            </a:xfrm>
            <a:prstGeom prst="rect">
              <a:avLst/>
            </a:prstGeom>
            <a:blipFill>
              <a:blip r:embed="rId14" cstate="print"/>
              <a:stretch>
                <a:fillRect/>
              </a:stretch>
            </a:blipFill>
          </p:spPr>
          <p:txBody>
            <a:bodyPr wrap="square" lIns="0" tIns="0" rIns="0" bIns="0" rtlCol="0"/>
            <a:lstStyle/>
            <a:p>
              <a:endParaRPr/>
            </a:p>
          </p:txBody>
        </p:sp>
        <p:sp>
          <p:nvSpPr>
            <p:cNvPr id="54" name="object 54"/>
            <p:cNvSpPr/>
            <p:nvPr/>
          </p:nvSpPr>
          <p:spPr>
            <a:xfrm>
              <a:off x="5759196" y="1522476"/>
              <a:ext cx="71627" cy="70103"/>
            </a:xfrm>
            <a:prstGeom prst="rect">
              <a:avLst/>
            </a:prstGeom>
            <a:blipFill>
              <a:blip r:embed="rId15" cstate="print"/>
              <a:stretch>
                <a:fillRect/>
              </a:stretch>
            </a:blipFill>
          </p:spPr>
          <p:txBody>
            <a:bodyPr wrap="square" lIns="0" tIns="0" rIns="0" bIns="0" rtlCol="0"/>
            <a:lstStyle/>
            <a:p>
              <a:endParaRPr/>
            </a:p>
          </p:txBody>
        </p:sp>
        <p:sp>
          <p:nvSpPr>
            <p:cNvPr id="55" name="object 55"/>
            <p:cNvSpPr/>
            <p:nvPr/>
          </p:nvSpPr>
          <p:spPr>
            <a:xfrm>
              <a:off x="6851904" y="1127760"/>
              <a:ext cx="71627" cy="71627"/>
            </a:xfrm>
            <a:prstGeom prst="rect">
              <a:avLst/>
            </a:prstGeom>
            <a:blipFill>
              <a:blip r:embed="rId16" cstate="print"/>
              <a:stretch>
                <a:fillRect/>
              </a:stretch>
            </a:blipFill>
          </p:spPr>
          <p:txBody>
            <a:bodyPr wrap="square" lIns="0" tIns="0" rIns="0" bIns="0" rtlCol="0"/>
            <a:lstStyle/>
            <a:p>
              <a:endParaRPr/>
            </a:p>
          </p:txBody>
        </p:sp>
        <p:sp>
          <p:nvSpPr>
            <p:cNvPr id="56" name="object 56"/>
            <p:cNvSpPr/>
            <p:nvPr/>
          </p:nvSpPr>
          <p:spPr>
            <a:xfrm>
              <a:off x="6391656" y="2287524"/>
              <a:ext cx="71628" cy="71627"/>
            </a:xfrm>
            <a:prstGeom prst="rect">
              <a:avLst/>
            </a:prstGeom>
            <a:blipFill>
              <a:blip r:embed="rId17" cstate="print"/>
              <a:stretch>
                <a:fillRect/>
              </a:stretch>
            </a:blipFill>
          </p:spPr>
          <p:txBody>
            <a:bodyPr wrap="square" lIns="0" tIns="0" rIns="0" bIns="0" rtlCol="0"/>
            <a:lstStyle/>
            <a:p>
              <a:endParaRPr/>
            </a:p>
          </p:txBody>
        </p:sp>
        <p:sp>
          <p:nvSpPr>
            <p:cNvPr id="57" name="object 57"/>
            <p:cNvSpPr/>
            <p:nvPr/>
          </p:nvSpPr>
          <p:spPr>
            <a:xfrm>
              <a:off x="6665976" y="1854708"/>
              <a:ext cx="71627" cy="70103"/>
            </a:xfrm>
            <a:prstGeom prst="rect">
              <a:avLst/>
            </a:prstGeom>
            <a:blipFill>
              <a:blip r:embed="rId18" cstate="print"/>
              <a:stretch>
                <a:fillRect/>
              </a:stretch>
            </a:blipFill>
          </p:spPr>
          <p:txBody>
            <a:bodyPr wrap="square" lIns="0" tIns="0" rIns="0" bIns="0" rtlCol="0"/>
            <a:lstStyle/>
            <a:p>
              <a:endParaRPr/>
            </a:p>
          </p:txBody>
        </p:sp>
        <p:sp>
          <p:nvSpPr>
            <p:cNvPr id="58" name="object 58"/>
            <p:cNvSpPr/>
            <p:nvPr/>
          </p:nvSpPr>
          <p:spPr>
            <a:xfrm>
              <a:off x="7036308" y="1900428"/>
              <a:ext cx="70104" cy="71628"/>
            </a:xfrm>
            <a:prstGeom prst="rect">
              <a:avLst/>
            </a:prstGeom>
            <a:blipFill>
              <a:blip r:embed="rId19" cstate="print"/>
              <a:stretch>
                <a:fillRect/>
              </a:stretch>
            </a:blipFill>
          </p:spPr>
          <p:txBody>
            <a:bodyPr wrap="square" lIns="0" tIns="0" rIns="0" bIns="0" rtlCol="0"/>
            <a:lstStyle/>
            <a:p>
              <a:endParaRPr/>
            </a:p>
          </p:txBody>
        </p:sp>
      </p:grpSp>
      <p:sp>
        <p:nvSpPr>
          <p:cNvPr id="59" name="object 59"/>
          <p:cNvSpPr txBox="1"/>
          <p:nvPr/>
        </p:nvSpPr>
        <p:spPr>
          <a:xfrm>
            <a:off x="6926071" y="1067511"/>
            <a:ext cx="102870" cy="208915"/>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1</a:t>
            </a:r>
            <a:endParaRPr sz="1200">
              <a:latin typeface="Carlito"/>
              <a:cs typeface="Carlito"/>
            </a:endParaRPr>
          </a:p>
        </p:txBody>
      </p:sp>
      <p:sp>
        <p:nvSpPr>
          <p:cNvPr id="60" name="object 60"/>
          <p:cNvSpPr txBox="1"/>
          <p:nvPr/>
        </p:nvSpPr>
        <p:spPr>
          <a:xfrm>
            <a:off x="6300978" y="1555241"/>
            <a:ext cx="10287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2</a:t>
            </a:r>
            <a:endParaRPr sz="1200">
              <a:latin typeface="Carlito"/>
              <a:cs typeface="Carlito"/>
            </a:endParaRPr>
          </a:p>
        </p:txBody>
      </p:sp>
      <p:sp>
        <p:nvSpPr>
          <p:cNvPr id="61" name="object 61"/>
          <p:cNvSpPr txBox="1"/>
          <p:nvPr/>
        </p:nvSpPr>
        <p:spPr>
          <a:xfrm>
            <a:off x="6776973" y="1799335"/>
            <a:ext cx="10287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3</a:t>
            </a:r>
            <a:endParaRPr sz="1200">
              <a:latin typeface="Carlito"/>
              <a:cs typeface="Carlito"/>
            </a:endParaRPr>
          </a:p>
        </p:txBody>
      </p:sp>
      <p:sp>
        <p:nvSpPr>
          <p:cNvPr id="62" name="object 62"/>
          <p:cNvSpPr txBox="1"/>
          <p:nvPr/>
        </p:nvSpPr>
        <p:spPr>
          <a:xfrm>
            <a:off x="6480428" y="2232786"/>
            <a:ext cx="10287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4</a:t>
            </a:r>
            <a:endParaRPr sz="1200">
              <a:latin typeface="Carlito"/>
              <a:cs typeface="Carlito"/>
            </a:endParaRPr>
          </a:p>
        </p:txBody>
      </p:sp>
      <p:sp>
        <p:nvSpPr>
          <p:cNvPr id="63" name="object 63"/>
          <p:cNvSpPr txBox="1"/>
          <p:nvPr/>
        </p:nvSpPr>
        <p:spPr>
          <a:xfrm>
            <a:off x="5854446" y="1460753"/>
            <a:ext cx="10287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5</a:t>
            </a:r>
            <a:endParaRPr sz="1200">
              <a:latin typeface="Carlito"/>
              <a:cs typeface="Carlito"/>
            </a:endParaRPr>
          </a:p>
        </p:txBody>
      </p:sp>
      <p:sp>
        <p:nvSpPr>
          <p:cNvPr id="64" name="object 64"/>
          <p:cNvSpPr txBox="1"/>
          <p:nvPr/>
        </p:nvSpPr>
        <p:spPr>
          <a:xfrm>
            <a:off x="7157973" y="1842261"/>
            <a:ext cx="10287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6</a:t>
            </a:r>
            <a:endParaRPr sz="1200">
              <a:latin typeface="Carlito"/>
              <a:cs typeface="Carlito"/>
            </a:endParaRPr>
          </a:p>
        </p:txBody>
      </p:sp>
      <p:sp>
        <p:nvSpPr>
          <p:cNvPr id="65" name="object 65"/>
          <p:cNvSpPr/>
          <p:nvPr/>
        </p:nvSpPr>
        <p:spPr>
          <a:xfrm>
            <a:off x="6606540" y="1770888"/>
            <a:ext cx="690880" cy="288290"/>
          </a:xfrm>
          <a:custGeom>
            <a:avLst/>
            <a:gdLst/>
            <a:ahLst/>
            <a:cxnLst/>
            <a:rect l="l" t="t" r="r" b="b"/>
            <a:pathLst>
              <a:path w="690879" h="288289">
                <a:moveTo>
                  <a:pt x="345566" y="0"/>
                </a:moveTo>
                <a:lnTo>
                  <a:pt x="392429" y="1524"/>
                </a:lnTo>
                <a:lnTo>
                  <a:pt x="439419" y="5461"/>
                </a:lnTo>
                <a:lnTo>
                  <a:pt x="483996" y="11684"/>
                </a:lnTo>
                <a:lnTo>
                  <a:pt x="525399" y="21844"/>
                </a:lnTo>
                <a:lnTo>
                  <a:pt x="563752" y="33527"/>
                </a:lnTo>
                <a:lnTo>
                  <a:pt x="628650" y="61722"/>
                </a:lnTo>
                <a:lnTo>
                  <a:pt x="671576" y="96012"/>
                </a:lnTo>
                <a:lnTo>
                  <a:pt x="690371" y="134238"/>
                </a:lnTo>
                <a:lnTo>
                  <a:pt x="690371" y="153797"/>
                </a:lnTo>
                <a:lnTo>
                  <a:pt x="671576" y="192024"/>
                </a:lnTo>
                <a:lnTo>
                  <a:pt x="628650" y="227203"/>
                </a:lnTo>
                <a:lnTo>
                  <a:pt x="563752" y="255269"/>
                </a:lnTo>
                <a:lnTo>
                  <a:pt x="525399" y="266954"/>
                </a:lnTo>
                <a:lnTo>
                  <a:pt x="483996" y="276351"/>
                </a:lnTo>
                <a:lnTo>
                  <a:pt x="439419" y="283337"/>
                </a:lnTo>
                <a:lnTo>
                  <a:pt x="392429" y="286512"/>
                </a:lnTo>
                <a:lnTo>
                  <a:pt x="345566" y="288036"/>
                </a:lnTo>
                <a:lnTo>
                  <a:pt x="297941" y="286512"/>
                </a:lnTo>
                <a:lnTo>
                  <a:pt x="252475" y="283337"/>
                </a:lnTo>
                <a:lnTo>
                  <a:pt x="208025" y="276351"/>
                </a:lnTo>
                <a:lnTo>
                  <a:pt x="166496" y="266954"/>
                </a:lnTo>
                <a:lnTo>
                  <a:pt x="126618" y="255269"/>
                </a:lnTo>
                <a:lnTo>
                  <a:pt x="63373" y="227203"/>
                </a:lnTo>
                <a:lnTo>
                  <a:pt x="20319" y="192024"/>
                </a:lnTo>
                <a:lnTo>
                  <a:pt x="0" y="153797"/>
                </a:lnTo>
                <a:lnTo>
                  <a:pt x="0" y="134238"/>
                </a:lnTo>
                <a:lnTo>
                  <a:pt x="20319" y="96012"/>
                </a:lnTo>
                <a:lnTo>
                  <a:pt x="63373" y="61722"/>
                </a:lnTo>
                <a:lnTo>
                  <a:pt x="126618" y="33527"/>
                </a:lnTo>
                <a:lnTo>
                  <a:pt x="166496" y="21844"/>
                </a:lnTo>
                <a:lnTo>
                  <a:pt x="208025" y="11684"/>
                </a:lnTo>
                <a:lnTo>
                  <a:pt x="252475" y="5461"/>
                </a:lnTo>
                <a:lnTo>
                  <a:pt x="297941" y="1524"/>
                </a:lnTo>
                <a:lnTo>
                  <a:pt x="345566" y="0"/>
                </a:lnTo>
              </a:path>
            </a:pathLst>
          </a:custGeom>
          <a:ln w="3175">
            <a:solidFill>
              <a:srgbClr val="000000"/>
            </a:solidFill>
          </a:ln>
        </p:spPr>
        <p:txBody>
          <a:bodyPr wrap="square" lIns="0" tIns="0" rIns="0" bIns="0" rtlCol="0"/>
          <a:lstStyle/>
          <a:p>
            <a:endParaRPr/>
          </a:p>
        </p:txBody>
      </p:sp>
      <p:sp>
        <p:nvSpPr>
          <p:cNvPr id="66" name="object 66"/>
          <p:cNvSpPr txBox="1"/>
          <p:nvPr/>
        </p:nvSpPr>
        <p:spPr>
          <a:xfrm>
            <a:off x="6880986" y="2033777"/>
            <a:ext cx="110489"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0000"/>
                </a:solidFill>
                <a:latin typeface="Arial"/>
                <a:cs typeface="Arial"/>
              </a:rPr>
              <a:t>1</a:t>
            </a:r>
            <a:endParaRPr sz="1200">
              <a:latin typeface="Arial"/>
              <a:cs typeface="Arial"/>
            </a:endParaRPr>
          </a:p>
        </p:txBody>
      </p:sp>
      <p:sp>
        <p:nvSpPr>
          <p:cNvPr id="67" name="object 67"/>
          <p:cNvSpPr/>
          <p:nvPr/>
        </p:nvSpPr>
        <p:spPr>
          <a:xfrm>
            <a:off x="5718047" y="1435608"/>
            <a:ext cx="779145" cy="300355"/>
          </a:xfrm>
          <a:custGeom>
            <a:avLst/>
            <a:gdLst/>
            <a:ahLst/>
            <a:cxnLst/>
            <a:rect l="l" t="t" r="r" b="b"/>
            <a:pathLst>
              <a:path w="779145" h="300355">
                <a:moveTo>
                  <a:pt x="402336" y="3175"/>
                </a:moveTo>
                <a:lnTo>
                  <a:pt x="450850" y="7874"/>
                </a:lnTo>
                <a:lnTo>
                  <a:pt x="499363" y="16382"/>
                </a:lnTo>
                <a:lnTo>
                  <a:pt x="543940" y="26542"/>
                </a:lnTo>
                <a:lnTo>
                  <a:pt x="588517" y="38353"/>
                </a:lnTo>
                <a:lnTo>
                  <a:pt x="628523" y="51562"/>
                </a:lnTo>
                <a:lnTo>
                  <a:pt x="665226" y="66420"/>
                </a:lnTo>
                <a:lnTo>
                  <a:pt x="725551" y="99313"/>
                </a:lnTo>
                <a:lnTo>
                  <a:pt x="763904" y="137540"/>
                </a:lnTo>
                <a:lnTo>
                  <a:pt x="778763" y="173608"/>
                </a:lnTo>
                <a:lnTo>
                  <a:pt x="777239" y="193928"/>
                </a:lnTo>
                <a:lnTo>
                  <a:pt x="755268" y="226694"/>
                </a:lnTo>
                <a:lnTo>
                  <a:pt x="710691" y="257175"/>
                </a:lnTo>
                <a:lnTo>
                  <a:pt x="647318" y="279907"/>
                </a:lnTo>
                <a:lnTo>
                  <a:pt x="607313" y="288543"/>
                </a:lnTo>
                <a:lnTo>
                  <a:pt x="565912" y="294766"/>
                </a:lnTo>
                <a:lnTo>
                  <a:pt x="520446" y="298703"/>
                </a:lnTo>
                <a:lnTo>
                  <a:pt x="474344" y="300227"/>
                </a:lnTo>
                <a:lnTo>
                  <a:pt x="425830" y="300227"/>
                </a:lnTo>
                <a:lnTo>
                  <a:pt x="375665" y="296290"/>
                </a:lnTo>
                <a:lnTo>
                  <a:pt x="327913" y="291591"/>
                </a:lnTo>
                <a:lnTo>
                  <a:pt x="279400" y="283082"/>
                </a:lnTo>
                <a:lnTo>
                  <a:pt x="234823" y="273684"/>
                </a:lnTo>
                <a:lnTo>
                  <a:pt x="189356" y="261874"/>
                </a:lnTo>
                <a:lnTo>
                  <a:pt x="149478" y="248665"/>
                </a:lnTo>
                <a:lnTo>
                  <a:pt x="112649" y="233806"/>
                </a:lnTo>
                <a:lnTo>
                  <a:pt x="53212" y="200151"/>
                </a:lnTo>
                <a:lnTo>
                  <a:pt x="14859" y="162559"/>
                </a:lnTo>
                <a:lnTo>
                  <a:pt x="0" y="125856"/>
                </a:lnTo>
                <a:lnTo>
                  <a:pt x="1524" y="107950"/>
                </a:lnTo>
                <a:lnTo>
                  <a:pt x="23494" y="72770"/>
                </a:lnTo>
                <a:lnTo>
                  <a:pt x="68072" y="43052"/>
                </a:lnTo>
                <a:lnTo>
                  <a:pt x="131444" y="19557"/>
                </a:lnTo>
                <a:lnTo>
                  <a:pt x="171450" y="11683"/>
                </a:lnTo>
                <a:lnTo>
                  <a:pt x="212851" y="4699"/>
                </a:lnTo>
                <a:lnTo>
                  <a:pt x="257555" y="1524"/>
                </a:lnTo>
                <a:lnTo>
                  <a:pt x="304418" y="0"/>
                </a:lnTo>
                <a:lnTo>
                  <a:pt x="352171" y="0"/>
                </a:lnTo>
                <a:lnTo>
                  <a:pt x="402336" y="3175"/>
                </a:lnTo>
              </a:path>
            </a:pathLst>
          </a:custGeom>
          <a:ln w="3175">
            <a:solidFill>
              <a:srgbClr val="000000"/>
            </a:solidFill>
          </a:ln>
        </p:spPr>
        <p:txBody>
          <a:bodyPr wrap="square" lIns="0" tIns="0" rIns="0" bIns="0" rtlCol="0"/>
          <a:lstStyle/>
          <a:p>
            <a:endParaRPr/>
          </a:p>
        </p:txBody>
      </p:sp>
      <p:sp>
        <p:nvSpPr>
          <p:cNvPr id="68" name="object 68"/>
          <p:cNvSpPr txBox="1"/>
          <p:nvPr/>
        </p:nvSpPr>
        <p:spPr>
          <a:xfrm>
            <a:off x="6117716" y="1280921"/>
            <a:ext cx="110489"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0000"/>
                </a:solidFill>
                <a:latin typeface="Arial"/>
                <a:cs typeface="Arial"/>
              </a:rPr>
              <a:t>2</a:t>
            </a:r>
            <a:endParaRPr sz="1200">
              <a:latin typeface="Arial"/>
              <a:cs typeface="Arial"/>
            </a:endParaRPr>
          </a:p>
        </p:txBody>
      </p:sp>
      <p:sp>
        <p:nvSpPr>
          <p:cNvPr id="69" name="object 69"/>
          <p:cNvSpPr txBox="1"/>
          <p:nvPr/>
        </p:nvSpPr>
        <p:spPr>
          <a:xfrm>
            <a:off x="7390892" y="1280236"/>
            <a:ext cx="110489" cy="208915"/>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0000"/>
                </a:solidFill>
                <a:latin typeface="Arial"/>
                <a:cs typeface="Arial"/>
              </a:rPr>
              <a:t>5</a:t>
            </a:r>
            <a:endParaRPr sz="1200">
              <a:latin typeface="Arial"/>
              <a:cs typeface="Arial"/>
            </a:endParaRPr>
          </a:p>
        </p:txBody>
      </p:sp>
      <p:sp>
        <p:nvSpPr>
          <p:cNvPr id="70" name="object 70"/>
          <p:cNvSpPr/>
          <p:nvPr/>
        </p:nvSpPr>
        <p:spPr>
          <a:xfrm>
            <a:off x="5548884" y="970788"/>
            <a:ext cx="1935480" cy="1716405"/>
          </a:xfrm>
          <a:custGeom>
            <a:avLst/>
            <a:gdLst/>
            <a:ahLst/>
            <a:cxnLst/>
            <a:rect l="l" t="t" r="r" b="b"/>
            <a:pathLst>
              <a:path w="1935479" h="1716405">
                <a:moveTo>
                  <a:pt x="965835" y="0"/>
                </a:moveTo>
                <a:lnTo>
                  <a:pt x="1045463" y="1524"/>
                </a:lnTo>
                <a:lnTo>
                  <a:pt x="1125092" y="11684"/>
                </a:lnTo>
                <a:lnTo>
                  <a:pt x="1203197" y="25019"/>
                </a:lnTo>
                <a:lnTo>
                  <a:pt x="1279651" y="46100"/>
                </a:lnTo>
                <a:lnTo>
                  <a:pt x="1354582" y="71120"/>
                </a:lnTo>
                <a:lnTo>
                  <a:pt x="1425701" y="102362"/>
                </a:lnTo>
                <a:lnTo>
                  <a:pt x="1495933" y="139064"/>
                </a:lnTo>
                <a:lnTo>
                  <a:pt x="1559940" y="178815"/>
                </a:lnTo>
                <a:lnTo>
                  <a:pt x="1621663" y="224916"/>
                </a:lnTo>
                <a:lnTo>
                  <a:pt x="1677796" y="274954"/>
                </a:lnTo>
                <a:lnTo>
                  <a:pt x="1729359" y="329564"/>
                </a:lnTo>
                <a:lnTo>
                  <a:pt x="1776221" y="387476"/>
                </a:lnTo>
                <a:lnTo>
                  <a:pt x="1817623" y="446786"/>
                </a:lnTo>
                <a:lnTo>
                  <a:pt x="1852675" y="511556"/>
                </a:lnTo>
                <a:lnTo>
                  <a:pt x="1882393" y="577976"/>
                </a:lnTo>
                <a:lnTo>
                  <a:pt x="1905762" y="645922"/>
                </a:lnTo>
                <a:lnTo>
                  <a:pt x="1922144" y="715517"/>
                </a:lnTo>
                <a:lnTo>
                  <a:pt x="1932305" y="784987"/>
                </a:lnTo>
                <a:lnTo>
                  <a:pt x="1935480" y="856107"/>
                </a:lnTo>
                <a:lnTo>
                  <a:pt x="1932305" y="927862"/>
                </a:lnTo>
                <a:lnTo>
                  <a:pt x="1922144" y="997457"/>
                </a:lnTo>
                <a:lnTo>
                  <a:pt x="1905762" y="1066927"/>
                </a:lnTo>
                <a:lnTo>
                  <a:pt x="1882393" y="1134872"/>
                </a:lnTo>
                <a:lnTo>
                  <a:pt x="1854326" y="1200531"/>
                </a:lnTo>
                <a:lnTo>
                  <a:pt x="1819147" y="1265301"/>
                </a:lnTo>
                <a:lnTo>
                  <a:pt x="1777745" y="1325499"/>
                </a:lnTo>
                <a:lnTo>
                  <a:pt x="1730883" y="1383284"/>
                </a:lnTo>
                <a:lnTo>
                  <a:pt x="1680210" y="1438020"/>
                </a:lnTo>
                <a:lnTo>
                  <a:pt x="1623187" y="1487170"/>
                </a:lnTo>
                <a:lnTo>
                  <a:pt x="1563877" y="1534033"/>
                </a:lnTo>
                <a:lnTo>
                  <a:pt x="1497457" y="1575435"/>
                </a:lnTo>
                <a:lnTo>
                  <a:pt x="1428749" y="1611376"/>
                </a:lnTo>
                <a:lnTo>
                  <a:pt x="1357757" y="1643380"/>
                </a:lnTo>
                <a:lnTo>
                  <a:pt x="1282826" y="1668399"/>
                </a:lnTo>
                <a:lnTo>
                  <a:pt x="1207008" y="1689481"/>
                </a:lnTo>
                <a:lnTo>
                  <a:pt x="1128902" y="1704339"/>
                </a:lnTo>
                <a:lnTo>
                  <a:pt x="1049273" y="1712849"/>
                </a:lnTo>
                <a:lnTo>
                  <a:pt x="969644" y="1716024"/>
                </a:lnTo>
                <a:lnTo>
                  <a:pt x="889253" y="1712849"/>
                </a:lnTo>
                <a:lnTo>
                  <a:pt x="809625" y="1704339"/>
                </a:lnTo>
                <a:lnTo>
                  <a:pt x="732281" y="1689481"/>
                </a:lnTo>
                <a:lnTo>
                  <a:pt x="655827" y="1669923"/>
                </a:lnTo>
                <a:lnTo>
                  <a:pt x="580898" y="1644904"/>
                </a:lnTo>
                <a:lnTo>
                  <a:pt x="507491" y="1613662"/>
                </a:lnTo>
                <a:lnTo>
                  <a:pt x="439546" y="1576959"/>
                </a:lnTo>
                <a:lnTo>
                  <a:pt x="374776" y="1535557"/>
                </a:lnTo>
                <a:lnTo>
                  <a:pt x="313816" y="1491107"/>
                </a:lnTo>
                <a:lnTo>
                  <a:pt x="256920" y="1439545"/>
                </a:lnTo>
                <a:lnTo>
                  <a:pt x="206120" y="1386459"/>
                </a:lnTo>
                <a:lnTo>
                  <a:pt x="159257" y="1328547"/>
                </a:lnTo>
                <a:lnTo>
                  <a:pt x="117855" y="1266952"/>
                </a:lnTo>
                <a:lnTo>
                  <a:pt x="82803" y="1204468"/>
                </a:lnTo>
                <a:lnTo>
                  <a:pt x="53086" y="1138047"/>
                </a:lnTo>
                <a:lnTo>
                  <a:pt x="29717" y="1070102"/>
                </a:lnTo>
                <a:lnTo>
                  <a:pt x="13335" y="1000506"/>
                </a:lnTo>
                <a:lnTo>
                  <a:pt x="3175" y="931037"/>
                </a:lnTo>
                <a:lnTo>
                  <a:pt x="0" y="859916"/>
                </a:lnTo>
                <a:lnTo>
                  <a:pt x="3175" y="788162"/>
                </a:lnTo>
                <a:lnTo>
                  <a:pt x="13335" y="718565"/>
                </a:lnTo>
                <a:lnTo>
                  <a:pt x="29717" y="649097"/>
                </a:lnTo>
                <a:lnTo>
                  <a:pt x="53086" y="581151"/>
                </a:lnTo>
                <a:lnTo>
                  <a:pt x="81152" y="514731"/>
                </a:lnTo>
                <a:lnTo>
                  <a:pt x="116331" y="450723"/>
                </a:lnTo>
                <a:lnTo>
                  <a:pt x="157733" y="389000"/>
                </a:lnTo>
                <a:lnTo>
                  <a:pt x="203835" y="331215"/>
                </a:lnTo>
                <a:lnTo>
                  <a:pt x="255269" y="278002"/>
                </a:lnTo>
                <a:lnTo>
                  <a:pt x="312292" y="226567"/>
                </a:lnTo>
                <a:lnTo>
                  <a:pt x="371601" y="181990"/>
                </a:lnTo>
                <a:lnTo>
                  <a:pt x="436499" y="140588"/>
                </a:lnTo>
                <a:lnTo>
                  <a:pt x="505967" y="103886"/>
                </a:lnTo>
                <a:lnTo>
                  <a:pt x="577723" y="72644"/>
                </a:lnTo>
                <a:lnTo>
                  <a:pt x="651890" y="46100"/>
                </a:lnTo>
                <a:lnTo>
                  <a:pt x="728471" y="26542"/>
                </a:lnTo>
                <a:lnTo>
                  <a:pt x="806576" y="11684"/>
                </a:lnTo>
                <a:lnTo>
                  <a:pt x="886205" y="3175"/>
                </a:lnTo>
                <a:lnTo>
                  <a:pt x="965835" y="0"/>
                </a:lnTo>
              </a:path>
            </a:pathLst>
          </a:custGeom>
          <a:ln w="3175">
            <a:solidFill>
              <a:srgbClr val="000000"/>
            </a:solidFill>
          </a:ln>
        </p:spPr>
        <p:txBody>
          <a:bodyPr wrap="square" lIns="0" tIns="0" rIns="0" bIns="0" rtlCol="0"/>
          <a:lstStyle/>
          <a:p>
            <a:endParaRPr/>
          </a:p>
        </p:txBody>
      </p:sp>
      <p:sp>
        <p:nvSpPr>
          <p:cNvPr id="71" name="object 71"/>
          <p:cNvSpPr txBox="1"/>
          <p:nvPr/>
        </p:nvSpPr>
        <p:spPr>
          <a:xfrm>
            <a:off x="6286627" y="1948942"/>
            <a:ext cx="110489"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0000"/>
                </a:solidFill>
                <a:latin typeface="Arial"/>
                <a:cs typeface="Arial"/>
              </a:rPr>
              <a:t>3</a:t>
            </a:r>
            <a:endParaRPr sz="1200">
              <a:latin typeface="Arial"/>
              <a:cs typeface="Arial"/>
            </a:endParaRPr>
          </a:p>
        </p:txBody>
      </p:sp>
      <p:sp>
        <p:nvSpPr>
          <p:cNvPr id="72" name="object 72"/>
          <p:cNvSpPr/>
          <p:nvPr/>
        </p:nvSpPr>
        <p:spPr>
          <a:xfrm>
            <a:off x="6332220" y="1658111"/>
            <a:ext cx="1028700" cy="814069"/>
          </a:xfrm>
          <a:custGeom>
            <a:avLst/>
            <a:gdLst/>
            <a:ahLst/>
            <a:cxnLst/>
            <a:rect l="l" t="t" r="r" b="b"/>
            <a:pathLst>
              <a:path w="1028700" h="814069">
                <a:moveTo>
                  <a:pt x="344424" y="136016"/>
                </a:moveTo>
                <a:lnTo>
                  <a:pt x="395224" y="104775"/>
                </a:lnTo>
                <a:lnTo>
                  <a:pt x="448309" y="78232"/>
                </a:lnTo>
                <a:lnTo>
                  <a:pt x="502284" y="54737"/>
                </a:lnTo>
                <a:lnTo>
                  <a:pt x="555371" y="36702"/>
                </a:lnTo>
                <a:lnTo>
                  <a:pt x="609980" y="20320"/>
                </a:lnTo>
                <a:lnTo>
                  <a:pt x="661543" y="10160"/>
                </a:lnTo>
                <a:lnTo>
                  <a:pt x="710819" y="3175"/>
                </a:lnTo>
                <a:lnTo>
                  <a:pt x="760729" y="0"/>
                </a:lnTo>
                <a:lnTo>
                  <a:pt x="806069" y="3175"/>
                </a:lnTo>
                <a:lnTo>
                  <a:pt x="848995" y="10160"/>
                </a:lnTo>
                <a:lnTo>
                  <a:pt x="887349" y="20320"/>
                </a:lnTo>
                <a:lnTo>
                  <a:pt x="952119" y="54737"/>
                </a:lnTo>
                <a:lnTo>
                  <a:pt x="998220" y="104775"/>
                </a:lnTo>
                <a:lnTo>
                  <a:pt x="1023238" y="167259"/>
                </a:lnTo>
                <a:lnTo>
                  <a:pt x="1028700" y="204088"/>
                </a:lnTo>
                <a:lnTo>
                  <a:pt x="1026413" y="242315"/>
                </a:lnTo>
                <a:lnTo>
                  <a:pt x="1018539" y="280669"/>
                </a:lnTo>
                <a:lnTo>
                  <a:pt x="1006855" y="322071"/>
                </a:lnTo>
                <a:lnTo>
                  <a:pt x="988059" y="365125"/>
                </a:lnTo>
                <a:lnTo>
                  <a:pt x="965453" y="406526"/>
                </a:lnTo>
                <a:lnTo>
                  <a:pt x="937259" y="449452"/>
                </a:lnTo>
                <a:lnTo>
                  <a:pt x="903731" y="490981"/>
                </a:lnTo>
                <a:lnTo>
                  <a:pt x="867028" y="532383"/>
                </a:lnTo>
                <a:lnTo>
                  <a:pt x="825626" y="572262"/>
                </a:lnTo>
                <a:lnTo>
                  <a:pt x="781050" y="610615"/>
                </a:lnTo>
                <a:lnTo>
                  <a:pt x="734186" y="644906"/>
                </a:lnTo>
                <a:lnTo>
                  <a:pt x="684276" y="678561"/>
                </a:lnTo>
                <a:lnTo>
                  <a:pt x="632713" y="709802"/>
                </a:lnTo>
                <a:lnTo>
                  <a:pt x="579627" y="736473"/>
                </a:lnTo>
                <a:lnTo>
                  <a:pt x="526414" y="759079"/>
                </a:lnTo>
                <a:lnTo>
                  <a:pt x="471804" y="777875"/>
                </a:lnTo>
                <a:lnTo>
                  <a:pt x="418719" y="794257"/>
                </a:lnTo>
                <a:lnTo>
                  <a:pt x="367156" y="804418"/>
                </a:lnTo>
                <a:lnTo>
                  <a:pt x="315595" y="810640"/>
                </a:lnTo>
                <a:lnTo>
                  <a:pt x="267970" y="813815"/>
                </a:lnTo>
                <a:lnTo>
                  <a:pt x="221106" y="810640"/>
                </a:lnTo>
                <a:lnTo>
                  <a:pt x="179704" y="804418"/>
                </a:lnTo>
                <a:lnTo>
                  <a:pt x="139826" y="794257"/>
                </a:lnTo>
                <a:lnTo>
                  <a:pt x="104647" y="779399"/>
                </a:lnTo>
                <a:lnTo>
                  <a:pt x="50037" y="736473"/>
                </a:lnTo>
                <a:lnTo>
                  <a:pt x="13334" y="680085"/>
                </a:lnTo>
                <a:lnTo>
                  <a:pt x="0" y="610615"/>
                </a:lnTo>
                <a:lnTo>
                  <a:pt x="2285" y="572262"/>
                </a:lnTo>
                <a:lnTo>
                  <a:pt x="8635" y="532383"/>
                </a:lnTo>
                <a:lnTo>
                  <a:pt x="21843" y="492506"/>
                </a:lnTo>
                <a:lnTo>
                  <a:pt x="39877" y="449452"/>
                </a:lnTo>
                <a:lnTo>
                  <a:pt x="63245" y="408050"/>
                </a:lnTo>
                <a:lnTo>
                  <a:pt x="91439" y="365125"/>
                </a:lnTo>
                <a:lnTo>
                  <a:pt x="124967" y="323595"/>
                </a:lnTo>
                <a:lnTo>
                  <a:pt x="161670" y="282194"/>
                </a:lnTo>
                <a:lnTo>
                  <a:pt x="203073" y="242315"/>
                </a:lnTo>
                <a:lnTo>
                  <a:pt x="245999" y="204088"/>
                </a:lnTo>
                <a:lnTo>
                  <a:pt x="294512" y="168910"/>
                </a:lnTo>
                <a:lnTo>
                  <a:pt x="344424" y="136016"/>
                </a:lnTo>
              </a:path>
            </a:pathLst>
          </a:custGeom>
          <a:ln w="3175">
            <a:solidFill>
              <a:srgbClr val="000000"/>
            </a:solidFill>
          </a:ln>
        </p:spPr>
        <p:txBody>
          <a:bodyPr wrap="square" lIns="0" tIns="0" rIns="0" bIns="0" rtlCol="0"/>
          <a:lstStyle/>
          <a:p>
            <a:endParaRPr/>
          </a:p>
        </p:txBody>
      </p:sp>
      <p:sp>
        <p:nvSpPr>
          <p:cNvPr id="73" name="object 73"/>
          <p:cNvSpPr txBox="1"/>
          <p:nvPr/>
        </p:nvSpPr>
        <p:spPr>
          <a:xfrm>
            <a:off x="6360921" y="1027557"/>
            <a:ext cx="110489"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0000"/>
                </a:solidFill>
                <a:latin typeface="Arial"/>
                <a:cs typeface="Arial"/>
              </a:rPr>
              <a:t>4</a:t>
            </a:r>
            <a:endParaRPr sz="1200">
              <a:latin typeface="Arial"/>
              <a:cs typeface="Arial"/>
            </a:endParaRPr>
          </a:p>
        </p:txBody>
      </p:sp>
      <p:sp>
        <p:nvSpPr>
          <p:cNvPr id="74" name="object 74"/>
          <p:cNvSpPr/>
          <p:nvPr/>
        </p:nvSpPr>
        <p:spPr>
          <a:xfrm>
            <a:off x="5675376" y="1037844"/>
            <a:ext cx="1430020" cy="748665"/>
          </a:xfrm>
          <a:custGeom>
            <a:avLst/>
            <a:gdLst/>
            <a:ahLst/>
            <a:cxnLst/>
            <a:rect l="l" t="t" r="r" b="b"/>
            <a:pathLst>
              <a:path w="1430020" h="748664">
                <a:moveTo>
                  <a:pt x="639445" y="32765"/>
                </a:moveTo>
                <a:lnTo>
                  <a:pt x="707389" y="19557"/>
                </a:lnTo>
                <a:lnTo>
                  <a:pt x="775208" y="10159"/>
                </a:lnTo>
                <a:lnTo>
                  <a:pt x="843915" y="3175"/>
                </a:lnTo>
                <a:lnTo>
                  <a:pt x="910335" y="0"/>
                </a:lnTo>
                <a:lnTo>
                  <a:pt x="972820" y="0"/>
                </a:lnTo>
                <a:lnTo>
                  <a:pt x="1036066" y="3175"/>
                </a:lnTo>
                <a:lnTo>
                  <a:pt x="1096137" y="10159"/>
                </a:lnTo>
                <a:lnTo>
                  <a:pt x="1150747" y="19557"/>
                </a:lnTo>
                <a:lnTo>
                  <a:pt x="1203832" y="32765"/>
                </a:lnTo>
                <a:lnTo>
                  <a:pt x="1249933" y="49148"/>
                </a:lnTo>
                <a:lnTo>
                  <a:pt x="1293622" y="67944"/>
                </a:lnTo>
                <a:lnTo>
                  <a:pt x="1330325" y="90550"/>
                </a:lnTo>
                <a:lnTo>
                  <a:pt x="1361567" y="114045"/>
                </a:lnTo>
                <a:lnTo>
                  <a:pt x="1388109" y="142112"/>
                </a:lnTo>
                <a:lnTo>
                  <a:pt x="1420876" y="202310"/>
                </a:lnTo>
                <a:lnTo>
                  <a:pt x="1429512" y="267969"/>
                </a:lnTo>
                <a:lnTo>
                  <a:pt x="1423289" y="303021"/>
                </a:lnTo>
                <a:lnTo>
                  <a:pt x="1392808" y="372617"/>
                </a:lnTo>
                <a:lnTo>
                  <a:pt x="1367790" y="409320"/>
                </a:lnTo>
                <a:lnTo>
                  <a:pt x="1338199" y="443610"/>
                </a:lnTo>
                <a:lnTo>
                  <a:pt x="1301496" y="478789"/>
                </a:lnTo>
                <a:lnTo>
                  <a:pt x="1260094" y="513206"/>
                </a:lnTo>
                <a:lnTo>
                  <a:pt x="1213993" y="545210"/>
                </a:lnTo>
                <a:lnTo>
                  <a:pt x="1162557" y="576452"/>
                </a:lnTo>
                <a:lnTo>
                  <a:pt x="1107821" y="604519"/>
                </a:lnTo>
                <a:lnTo>
                  <a:pt x="1049274" y="632713"/>
                </a:lnTo>
                <a:lnTo>
                  <a:pt x="986027" y="657732"/>
                </a:lnTo>
                <a:lnTo>
                  <a:pt x="923544" y="678814"/>
                </a:lnTo>
                <a:lnTo>
                  <a:pt x="857250" y="699134"/>
                </a:lnTo>
                <a:lnTo>
                  <a:pt x="788543" y="713866"/>
                </a:lnTo>
                <a:lnTo>
                  <a:pt x="722122" y="727201"/>
                </a:lnTo>
                <a:lnTo>
                  <a:pt x="654303" y="738885"/>
                </a:lnTo>
                <a:lnTo>
                  <a:pt x="586359" y="745108"/>
                </a:lnTo>
                <a:lnTo>
                  <a:pt x="519938" y="748283"/>
                </a:lnTo>
                <a:lnTo>
                  <a:pt x="455168" y="748283"/>
                </a:lnTo>
                <a:lnTo>
                  <a:pt x="393446" y="745108"/>
                </a:lnTo>
                <a:lnTo>
                  <a:pt x="334137" y="738885"/>
                </a:lnTo>
                <a:lnTo>
                  <a:pt x="277875" y="728726"/>
                </a:lnTo>
                <a:lnTo>
                  <a:pt x="226440" y="715517"/>
                </a:lnTo>
                <a:lnTo>
                  <a:pt x="178053" y="699134"/>
                </a:lnTo>
                <a:lnTo>
                  <a:pt x="136651" y="678814"/>
                </a:lnTo>
                <a:lnTo>
                  <a:pt x="98425" y="657732"/>
                </a:lnTo>
                <a:lnTo>
                  <a:pt x="67183" y="632713"/>
                </a:lnTo>
                <a:lnTo>
                  <a:pt x="20320" y="576452"/>
                </a:lnTo>
                <a:lnTo>
                  <a:pt x="0" y="513206"/>
                </a:lnTo>
                <a:lnTo>
                  <a:pt x="0" y="480313"/>
                </a:lnTo>
                <a:lnTo>
                  <a:pt x="17145" y="409320"/>
                </a:lnTo>
                <a:lnTo>
                  <a:pt x="36702" y="374141"/>
                </a:lnTo>
                <a:lnTo>
                  <a:pt x="60071" y="337438"/>
                </a:lnTo>
                <a:lnTo>
                  <a:pt x="91312" y="303021"/>
                </a:lnTo>
                <a:lnTo>
                  <a:pt x="128015" y="267969"/>
                </a:lnTo>
                <a:lnTo>
                  <a:pt x="169418" y="235076"/>
                </a:lnTo>
                <a:lnTo>
                  <a:pt x="216281" y="202310"/>
                </a:lnTo>
                <a:lnTo>
                  <a:pt x="266191" y="171830"/>
                </a:lnTo>
                <a:lnTo>
                  <a:pt x="322452" y="142112"/>
                </a:lnTo>
                <a:lnTo>
                  <a:pt x="380238" y="115569"/>
                </a:lnTo>
                <a:lnTo>
                  <a:pt x="441833" y="90550"/>
                </a:lnTo>
                <a:lnTo>
                  <a:pt x="506729" y="69468"/>
                </a:lnTo>
                <a:lnTo>
                  <a:pt x="571500" y="49148"/>
                </a:lnTo>
                <a:lnTo>
                  <a:pt x="639445" y="32765"/>
                </a:lnTo>
              </a:path>
            </a:pathLst>
          </a:custGeom>
          <a:ln w="3175">
            <a:solidFill>
              <a:srgbClr val="000000"/>
            </a:solidFill>
          </a:ln>
        </p:spPr>
        <p:txBody>
          <a:bodyPr wrap="square" lIns="0" tIns="0" rIns="0" bIns="0" rtlCol="0"/>
          <a:lstStyle/>
          <a:p>
            <a:endParaRPr/>
          </a:p>
        </p:txBody>
      </p:sp>
      <p:grpSp>
        <p:nvGrpSpPr>
          <p:cNvPr id="75" name="object 75"/>
          <p:cNvGrpSpPr/>
          <p:nvPr/>
        </p:nvGrpSpPr>
        <p:grpSpPr>
          <a:xfrm>
            <a:off x="1898904" y="1060703"/>
            <a:ext cx="1355090" cy="1239520"/>
            <a:chOff x="1898904" y="1060703"/>
            <a:chExt cx="1355090" cy="1239520"/>
          </a:xfrm>
        </p:grpSpPr>
        <p:sp>
          <p:nvSpPr>
            <p:cNvPr id="76" name="object 76"/>
            <p:cNvSpPr/>
            <p:nvPr/>
          </p:nvSpPr>
          <p:spPr>
            <a:xfrm>
              <a:off x="2362200" y="1554479"/>
              <a:ext cx="71628" cy="70104"/>
            </a:xfrm>
            <a:prstGeom prst="rect">
              <a:avLst/>
            </a:prstGeom>
            <a:blipFill>
              <a:blip r:embed="rId20" cstate="print"/>
              <a:stretch>
                <a:fillRect/>
              </a:stretch>
            </a:blipFill>
          </p:spPr>
          <p:txBody>
            <a:bodyPr wrap="square" lIns="0" tIns="0" rIns="0" bIns="0" rtlCol="0"/>
            <a:lstStyle/>
            <a:p>
              <a:endParaRPr/>
            </a:p>
          </p:txBody>
        </p:sp>
        <p:sp>
          <p:nvSpPr>
            <p:cNvPr id="77" name="object 77"/>
            <p:cNvSpPr/>
            <p:nvPr/>
          </p:nvSpPr>
          <p:spPr>
            <a:xfrm>
              <a:off x="1898904" y="1456943"/>
              <a:ext cx="70104" cy="71628"/>
            </a:xfrm>
            <a:prstGeom prst="rect">
              <a:avLst/>
            </a:prstGeom>
            <a:blipFill>
              <a:blip r:embed="rId21" cstate="print"/>
              <a:stretch>
                <a:fillRect/>
              </a:stretch>
            </a:blipFill>
          </p:spPr>
          <p:txBody>
            <a:bodyPr wrap="square" lIns="0" tIns="0" rIns="0" bIns="0" rtlCol="0"/>
            <a:lstStyle/>
            <a:p>
              <a:endParaRPr/>
            </a:p>
          </p:txBody>
        </p:sp>
        <p:sp>
          <p:nvSpPr>
            <p:cNvPr id="78" name="object 78"/>
            <p:cNvSpPr/>
            <p:nvPr/>
          </p:nvSpPr>
          <p:spPr>
            <a:xfrm>
              <a:off x="2996184" y="1060703"/>
              <a:ext cx="71628" cy="68580"/>
            </a:xfrm>
            <a:prstGeom prst="rect">
              <a:avLst/>
            </a:prstGeom>
            <a:blipFill>
              <a:blip r:embed="rId22" cstate="print"/>
              <a:stretch>
                <a:fillRect/>
              </a:stretch>
            </a:blipFill>
          </p:spPr>
          <p:txBody>
            <a:bodyPr wrap="square" lIns="0" tIns="0" rIns="0" bIns="0" rtlCol="0"/>
            <a:lstStyle/>
            <a:p>
              <a:endParaRPr/>
            </a:p>
          </p:txBody>
        </p:sp>
        <p:sp>
          <p:nvSpPr>
            <p:cNvPr id="79" name="object 79"/>
            <p:cNvSpPr/>
            <p:nvPr/>
          </p:nvSpPr>
          <p:spPr>
            <a:xfrm>
              <a:off x="2534412" y="2229611"/>
              <a:ext cx="71628" cy="70104"/>
            </a:xfrm>
            <a:prstGeom prst="rect">
              <a:avLst/>
            </a:prstGeom>
            <a:blipFill>
              <a:blip r:embed="rId23" cstate="print"/>
              <a:stretch>
                <a:fillRect/>
              </a:stretch>
            </a:blipFill>
          </p:spPr>
          <p:txBody>
            <a:bodyPr wrap="square" lIns="0" tIns="0" rIns="0" bIns="0" rtlCol="0"/>
            <a:lstStyle/>
            <a:p>
              <a:endParaRPr/>
            </a:p>
          </p:txBody>
        </p:sp>
        <p:sp>
          <p:nvSpPr>
            <p:cNvPr id="80" name="object 80"/>
            <p:cNvSpPr/>
            <p:nvPr/>
          </p:nvSpPr>
          <p:spPr>
            <a:xfrm>
              <a:off x="2810256" y="1792223"/>
              <a:ext cx="70104" cy="70103"/>
            </a:xfrm>
            <a:prstGeom prst="rect">
              <a:avLst/>
            </a:prstGeom>
            <a:blipFill>
              <a:blip r:embed="rId24" cstate="print"/>
              <a:stretch>
                <a:fillRect/>
              </a:stretch>
            </a:blipFill>
          </p:spPr>
          <p:txBody>
            <a:bodyPr wrap="square" lIns="0" tIns="0" rIns="0" bIns="0" rtlCol="0"/>
            <a:lstStyle/>
            <a:p>
              <a:endParaRPr/>
            </a:p>
          </p:txBody>
        </p:sp>
        <p:sp>
          <p:nvSpPr>
            <p:cNvPr id="81" name="object 81"/>
            <p:cNvSpPr/>
            <p:nvPr/>
          </p:nvSpPr>
          <p:spPr>
            <a:xfrm>
              <a:off x="3182112" y="1837943"/>
              <a:ext cx="71627" cy="71628"/>
            </a:xfrm>
            <a:prstGeom prst="rect">
              <a:avLst/>
            </a:prstGeom>
            <a:blipFill>
              <a:blip r:embed="rId25" cstate="print"/>
              <a:stretch>
                <a:fillRect/>
              </a:stretch>
            </a:blipFill>
          </p:spPr>
          <p:txBody>
            <a:bodyPr wrap="square" lIns="0" tIns="0" rIns="0" bIns="0" rtlCol="0"/>
            <a:lstStyle/>
            <a:p>
              <a:endParaRPr/>
            </a:p>
          </p:txBody>
        </p:sp>
      </p:grpSp>
      <p:sp>
        <p:nvSpPr>
          <p:cNvPr id="82" name="object 82"/>
          <p:cNvSpPr txBox="1"/>
          <p:nvPr/>
        </p:nvSpPr>
        <p:spPr>
          <a:xfrm>
            <a:off x="3093211" y="1000125"/>
            <a:ext cx="10287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1</a:t>
            </a:r>
            <a:endParaRPr sz="1200">
              <a:latin typeface="Carlito"/>
              <a:cs typeface="Carlito"/>
            </a:endParaRPr>
          </a:p>
        </p:txBody>
      </p:sp>
      <p:sp>
        <p:nvSpPr>
          <p:cNvPr id="83" name="object 83"/>
          <p:cNvSpPr txBox="1"/>
          <p:nvPr/>
        </p:nvSpPr>
        <p:spPr>
          <a:xfrm>
            <a:off x="2493645" y="1500073"/>
            <a:ext cx="102870" cy="208915"/>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2</a:t>
            </a:r>
            <a:endParaRPr sz="1200">
              <a:latin typeface="Carlito"/>
              <a:cs typeface="Carlito"/>
            </a:endParaRPr>
          </a:p>
        </p:txBody>
      </p:sp>
      <p:sp>
        <p:nvSpPr>
          <p:cNvPr id="84" name="object 84"/>
          <p:cNvSpPr txBox="1"/>
          <p:nvPr/>
        </p:nvSpPr>
        <p:spPr>
          <a:xfrm>
            <a:off x="2921254" y="1735327"/>
            <a:ext cx="10287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3</a:t>
            </a:r>
            <a:endParaRPr sz="1200">
              <a:latin typeface="Carlito"/>
              <a:cs typeface="Carlito"/>
            </a:endParaRPr>
          </a:p>
        </p:txBody>
      </p:sp>
      <p:sp>
        <p:nvSpPr>
          <p:cNvPr id="85" name="object 85"/>
          <p:cNvSpPr txBox="1"/>
          <p:nvPr/>
        </p:nvSpPr>
        <p:spPr>
          <a:xfrm>
            <a:off x="2024633" y="1393063"/>
            <a:ext cx="10287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5</a:t>
            </a:r>
            <a:endParaRPr sz="1200">
              <a:latin typeface="Carlito"/>
              <a:cs typeface="Carlito"/>
            </a:endParaRPr>
          </a:p>
        </p:txBody>
      </p:sp>
      <p:sp>
        <p:nvSpPr>
          <p:cNvPr id="86" name="object 86"/>
          <p:cNvSpPr txBox="1"/>
          <p:nvPr/>
        </p:nvSpPr>
        <p:spPr>
          <a:xfrm>
            <a:off x="3304794" y="1779270"/>
            <a:ext cx="10287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rlito"/>
                <a:cs typeface="Carlito"/>
              </a:rPr>
              <a:t>6</a:t>
            </a:r>
            <a:endParaRPr sz="1200">
              <a:latin typeface="Carlito"/>
              <a:cs typeface="Carlito"/>
            </a:endParaRPr>
          </a:p>
        </p:txBody>
      </p:sp>
      <p:sp>
        <p:nvSpPr>
          <p:cNvPr id="87" name="object 87"/>
          <p:cNvSpPr/>
          <p:nvPr/>
        </p:nvSpPr>
        <p:spPr>
          <a:xfrm>
            <a:off x="2749295" y="1706879"/>
            <a:ext cx="693420" cy="289560"/>
          </a:xfrm>
          <a:custGeom>
            <a:avLst/>
            <a:gdLst/>
            <a:ahLst/>
            <a:cxnLst/>
            <a:rect l="l" t="t" r="r" b="b"/>
            <a:pathLst>
              <a:path w="693420" h="289560">
                <a:moveTo>
                  <a:pt x="347853" y="0"/>
                </a:moveTo>
                <a:lnTo>
                  <a:pt x="394208" y="1524"/>
                </a:lnTo>
                <a:lnTo>
                  <a:pt x="441452" y="4572"/>
                </a:lnTo>
                <a:lnTo>
                  <a:pt x="486283" y="11557"/>
                </a:lnTo>
                <a:lnTo>
                  <a:pt x="527939" y="21590"/>
                </a:lnTo>
                <a:lnTo>
                  <a:pt x="566674" y="33147"/>
                </a:lnTo>
                <a:lnTo>
                  <a:pt x="631570" y="60960"/>
                </a:lnTo>
                <a:lnTo>
                  <a:pt x="675640" y="96520"/>
                </a:lnTo>
                <a:lnTo>
                  <a:pt x="693419" y="134366"/>
                </a:lnTo>
                <a:lnTo>
                  <a:pt x="693419" y="154432"/>
                </a:lnTo>
                <a:lnTo>
                  <a:pt x="675640" y="193040"/>
                </a:lnTo>
                <a:lnTo>
                  <a:pt x="631570" y="227838"/>
                </a:lnTo>
                <a:lnTo>
                  <a:pt x="566674" y="256413"/>
                </a:lnTo>
                <a:lnTo>
                  <a:pt x="527939" y="267970"/>
                </a:lnTo>
                <a:lnTo>
                  <a:pt x="486283" y="278003"/>
                </a:lnTo>
                <a:lnTo>
                  <a:pt x="441452" y="284988"/>
                </a:lnTo>
                <a:lnTo>
                  <a:pt x="394208" y="288036"/>
                </a:lnTo>
                <a:lnTo>
                  <a:pt x="347853" y="289560"/>
                </a:lnTo>
                <a:lnTo>
                  <a:pt x="299212" y="288036"/>
                </a:lnTo>
                <a:lnTo>
                  <a:pt x="254381" y="284988"/>
                </a:lnTo>
                <a:lnTo>
                  <a:pt x="208661" y="278003"/>
                </a:lnTo>
                <a:lnTo>
                  <a:pt x="167005" y="267970"/>
                </a:lnTo>
                <a:lnTo>
                  <a:pt x="126746" y="256413"/>
                </a:lnTo>
                <a:lnTo>
                  <a:pt x="63373" y="227838"/>
                </a:lnTo>
                <a:lnTo>
                  <a:pt x="20066" y="193040"/>
                </a:lnTo>
                <a:lnTo>
                  <a:pt x="0" y="154432"/>
                </a:lnTo>
                <a:lnTo>
                  <a:pt x="0" y="134366"/>
                </a:lnTo>
                <a:lnTo>
                  <a:pt x="20066" y="96520"/>
                </a:lnTo>
                <a:lnTo>
                  <a:pt x="63373" y="60960"/>
                </a:lnTo>
                <a:lnTo>
                  <a:pt x="126746" y="33147"/>
                </a:lnTo>
                <a:lnTo>
                  <a:pt x="167005" y="21590"/>
                </a:lnTo>
                <a:lnTo>
                  <a:pt x="208661" y="11557"/>
                </a:lnTo>
                <a:lnTo>
                  <a:pt x="254381" y="4572"/>
                </a:lnTo>
                <a:lnTo>
                  <a:pt x="299212" y="1524"/>
                </a:lnTo>
                <a:lnTo>
                  <a:pt x="347853" y="0"/>
                </a:lnTo>
              </a:path>
            </a:pathLst>
          </a:custGeom>
          <a:ln w="3175">
            <a:solidFill>
              <a:srgbClr val="000000"/>
            </a:solidFill>
          </a:ln>
        </p:spPr>
        <p:txBody>
          <a:bodyPr wrap="square" lIns="0" tIns="0" rIns="0" bIns="0" rtlCol="0"/>
          <a:lstStyle/>
          <a:p>
            <a:endParaRPr/>
          </a:p>
        </p:txBody>
      </p:sp>
      <p:sp>
        <p:nvSpPr>
          <p:cNvPr id="88" name="object 88"/>
          <p:cNvSpPr txBox="1"/>
          <p:nvPr/>
        </p:nvSpPr>
        <p:spPr>
          <a:xfrm>
            <a:off x="3023361" y="1535684"/>
            <a:ext cx="110489"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0000"/>
                </a:solidFill>
                <a:latin typeface="Arial"/>
                <a:cs typeface="Arial"/>
              </a:rPr>
              <a:t>1</a:t>
            </a:r>
            <a:endParaRPr sz="1200">
              <a:latin typeface="Arial"/>
              <a:cs typeface="Arial"/>
            </a:endParaRPr>
          </a:p>
        </p:txBody>
      </p:sp>
      <p:sp>
        <p:nvSpPr>
          <p:cNvPr id="89" name="object 89"/>
          <p:cNvSpPr/>
          <p:nvPr/>
        </p:nvSpPr>
        <p:spPr>
          <a:xfrm>
            <a:off x="1792223" y="1368552"/>
            <a:ext cx="844550" cy="384175"/>
          </a:xfrm>
          <a:custGeom>
            <a:avLst/>
            <a:gdLst/>
            <a:ahLst/>
            <a:cxnLst/>
            <a:rect l="l" t="t" r="r" b="b"/>
            <a:pathLst>
              <a:path w="844550" h="384175">
                <a:moveTo>
                  <a:pt x="422528" y="0"/>
                </a:moveTo>
                <a:lnTo>
                  <a:pt x="475106" y="2286"/>
                </a:lnTo>
                <a:lnTo>
                  <a:pt x="528319" y="5461"/>
                </a:lnTo>
                <a:lnTo>
                  <a:pt x="578612" y="13970"/>
                </a:lnTo>
                <a:lnTo>
                  <a:pt x="626490" y="24002"/>
                </a:lnTo>
                <a:lnTo>
                  <a:pt x="670432" y="37084"/>
                </a:lnTo>
                <a:lnTo>
                  <a:pt x="712215" y="51815"/>
                </a:lnTo>
                <a:lnTo>
                  <a:pt x="748538" y="70358"/>
                </a:lnTo>
                <a:lnTo>
                  <a:pt x="805688" y="110489"/>
                </a:lnTo>
                <a:lnTo>
                  <a:pt x="837311" y="155321"/>
                </a:lnTo>
                <a:lnTo>
                  <a:pt x="844295" y="180848"/>
                </a:lnTo>
                <a:lnTo>
                  <a:pt x="844295" y="203962"/>
                </a:lnTo>
                <a:lnTo>
                  <a:pt x="824230" y="250317"/>
                </a:lnTo>
                <a:lnTo>
                  <a:pt x="778637" y="295910"/>
                </a:lnTo>
                <a:lnTo>
                  <a:pt x="712215" y="332232"/>
                </a:lnTo>
                <a:lnTo>
                  <a:pt x="670432" y="346963"/>
                </a:lnTo>
                <a:lnTo>
                  <a:pt x="626490" y="360807"/>
                </a:lnTo>
                <a:lnTo>
                  <a:pt x="578612" y="370967"/>
                </a:lnTo>
                <a:lnTo>
                  <a:pt x="528319" y="377063"/>
                </a:lnTo>
                <a:lnTo>
                  <a:pt x="475106" y="382524"/>
                </a:lnTo>
                <a:lnTo>
                  <a:pt x="422528" y="384048"/>
                </a:lnTo>
                <a:lnTo>
                  <a:pt x="369188" y="382524"/>
                </a:lnTo>
                <a:lnTo>
                  <a:pt x="317500" y="377063"/>
                </a:lnTo>
                <a:lnTo>
                  <a:pt x="267207" y="370967"/>
                </a:lnTo>
                <a:lnTo>
                  <a:pt x="219328" y="360807"/>
                </a:lnTo>
                <a:lnTo>
                  <a:pt x="173862" y="346963"/>
                </a:lnTo>
                <a:lnTo>
                  <a:pt x="133603" y="332232"/>
                </a:lnTo>
                <a:lnTo>
                  <a:pt x="97281" y="313689"/>
                </a:lnTo>
                <a:lnTo>
                  <a:pt x="40131" y="273558"/>
                </a:lnTo>
                <a:lnTo>
                  <a:pt x="6984" y="227202"/>
                </a:lnTo>
                <a:lnTo>
                  <a:pt x="0" y="203962"/>
                </a:lnTo>
                <a:lnTo>
                  <a:pt x="0" y="180848"/>
                </a:lnTo>
                <a:lnTo>
                  <a:pt x="20065" y="132080"/>
                </a:lnTo>
                <a:lnTo>
                  <a:pt x="65658" y="88900"/>
                </a:lnTo>
                <a:lnTo>
                  <a:pt x="133603" y="51815"/>
                </a:lnTo>
                <a:lnTo>
                  <a:pt x="173862" y="37084"/>
                </a:lnTo>
                <a:lnTo>
                  <a:pt x="219328" y="24002"/>
                </a:lnTo>
                <a:lnTo>
                  <a:pt x="267207" y="13970"/>
                </a:lnTo>
                <a:lnTo>
                  <a:pt x="317500" y="5461"/>
                </a:lnTo>
                <a:lnTo>
                  <a:pt x="369188" y="2286"/>
                </a:lnTo>
                <a:lnTo>
                  <a:pt x="422528" y="0"/>
                </a:lnTo>
              </a:path>
            </a:pathLst>
          </a:custGeom>
          <a:ln w="3175">
            <a:solidFill>
              <a:srgbClr val="000000"/>
            </a:solidFill>
          </a:ln>
        </p:spPr>
        <p:txBody>
          <a:bodyPr wrap="square" lIns="0" tIns="0" rIns="0" bIns="0" rtlCol="0"/>
          <a:lstStyle/>
          <a:p>
            <a:endParaRPr/>
          </a:p>
        </p:txBody>
      </p:sp>
      <p:sp>
        <p:nvSpPr>
          <p:cNvPr id="90" name="object 90"/>
          <p:cNvSpPr txBox="1"/>
          <p:nvPr/>
        </p:nvSpPr>
        <p:spPr>
          <a:xfrm>
            <a:off x="2256282" y="1726438"/>
            <a:ext cx="110489"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0000"/>
                </a:solidFill>
                <a:latin typeface="Arial"/>
                <a:cs typeface="Arial"/>
              </a:rPr>
              <a:t>2</a:t>
            </a:r>
            <a:endParaRPr sz="1200">
              <a:latin typeface="Arial"/>
              <a:cs typeface="Arial"/>
            </a:endParaRPr>
          </a:p>
        </p:txBody>
      </p:sp>
      <p:sp>
        <p:nvSpPr>
          <p:cNvPr id="91" name="object 91"/>
          <p:cNvSpPr/>
          <p:nvPr/>
        </p:nvSpPr>
        <p:spPr>
          <a:xfrm>
            <a:off x="1752600" y="1173480"/>
            <a:ext cx="1788160" cy="1012190"/>
          </a:xfrm>
          <a:custGeom>
            <a:avLst/>
            <a:gdLst/>
            <a:ahLst/>
            <a:cxnLst/>
            <a:rect l="l" t="t" r="r" b="b"/>
            <a:pathLst>
              <a:path w="1788160" h="1012189">
                <a:moveTo>
                  <a:pt x="949070" y="7747"/>
                </a:moveTo>
                <a:lnTo>
                  <a:pt x="1024001" y="17780"/>
                </a:lnTo>
                <a:lnTo>
                  <a:pt x="1099566" y="33147"/>
                </a:lnTo>
                <a:lnTo>
                  <a:pt x="1172972" y="49403"/>
                </a:lnTo>
                <a:lnTo>
                  <a:pt x="1243202" y="69469"/>
                </a:lnTo>
                <a:lnTo>
                  <a:pt x="1311148" y="93345"/>
                </a:lnTo>
                <a:lnTo>
                  <a:pt x="1376807" y="119507"/>
                </a:lnTo>
                <a:lnTo>
                  <a:pt x="1440180" y="149606"/>
                </a:lnTo>
                <a:lnTo>
                  <a:pt x="1496568" y="181229"/>
                </a:lnTo>
                <a:lnTo>
                  <a:pt x="1550542" y="214375"/>
                </a:lnTo>
                <a:lnTo>
                  <a:pt x="1600835" y="251460"/>
                </a:lnTo>
                <a:lnTo>
                  <a:pt x="1644014" y="289179"/>
                </a:lnTo>
                <a:lnTo>
                  <a:pt x="1682623" y="327787"/>
                </a:lnTo>
                <a:lnTo>
                  <a:pt x="1715897" y="369443"/>
                </a:lnTo>
                <a:lnTo>
                  <a:pt x="1742059" y="411099"/>
                </a:lnTo>
                <a:lnTo>
                  <a:pt x="1762125" y="454279"/>
                </a:lnTo>
                <a:lnTo>
                  <a:pt x="1777619" y="495935"/>
                </a:lnTo>
                <a:lnTo>
                  <a:pt x="1786127" y="539115"/>
                </a:lnTo>
                <a:lnTo>
                  <a:pt x="1787652" y="582295"/>
                </a:lnTo>
                <a:lnTo>
                  <a:pt x="1782190" y="623951"/>
                </a:lnTo>
                <a:lnTo>
                  <a:pt x="1772158" y="665607"/>
                </a:lnTo>
                <a:lnTo>
                  <a:pt x="1754504" y="705739"/>
                </a:lnTo>
                <a:lnTo>
                  <a:pt x="1730502" y="744347"/>
                </a:lnTo>
                <a:lnTo>
                  <a:pt x="1700402" y="782066"/>
                </a:lnTo>
                <a:lnTo>
                  <a:pt x="1665604" y="817626"/>
                </a:lnTo>
                <a:lnTo>
                  <a:pt x="1625473" y="849249"/>
                </a:lnTo>
                <a:lnTo>
                  <a:pt x="1578355" y="879221"/>
                </a:lnTo>
                <a:lnTo>
                  <a:pt x="1526666" y="907034"/>
                </a:lnTo>
                <a:lnTo>
                  <a:pt x="1471802" y="932434"/>
                </a:lnTo>
                <a:lnTo>
                  <a:pt x="1411605" y="954151"/>
                </a:lnTo>
                <a:lnTo>
                  <a:pt x="1348232" y="972566"/>
                </a:lnTo>
                <a:lnTo>
                  <a:pt x="1281049" y="987298"/>
                </a:lnTo>
                <a:lnTo>
                  <a:pt x="1211580" y="998855"/>
                </a:lnTo>
                <a:lnTo>
                  <a:pt x="1139825" y="1007364"/>
                </a:lnTo>
                <a:lnTo>
                  <a:pt x="1065657" y="1010412"/>
                </a:lnTo>
                <a:lnTo>
                  <a:pt x="990726" y="1011936"/>
                </a:lnTo>
                <a:lnTo>
                  <a:pt x="915797" y="1008888"/>
                </a:lnTo>
                <a:lnTo>
                  <a:pt x="838581" y="1001903"/>
                </a:lnTo>
                <a:lnTo>
                  <a:pt x="763651" y="991870"/>
                </a:lnTo>
                <a:lnTo>
                  <a:pt x="690372" y="978789"/>
                </a:lnTo>
                <a:lnTo>
                  <a:pt x="616204" y="960247"/>
                </a:lnTo>
                <a:lnTo>
                  <a:pt x="544449" y="940943"/>
                </a:lnTo>
                <a:lnTo>
                  <a:pt x="476504" y="917067"/>
                </a:lnTo>
                <a:lnTo>
                  <a:pt x="410844" y="890905"/>
                </a:lnTo>
                <a:lnTo>
                  <a:pt x="348995" y="862330"/>
                </a:lnTo>
                <a:lnTo>
                  <a:pt x="291083" y="830707"/>
                </a:lnTo>
                <a:lnTo>
                  <a:pt x="237108" y="796036"/>
                </a:lnTo>
                <a:lnTo>
                  <a:pt x="189230" y="758952"/>
                </a:lnTo>
                <a:lnTo>
                  <a:pt x="143637" y="722757"/>
                </a:lnTo>
                <a:lnTo>
                  <a:pt x="105791" y="682625"/>
                </a:lnTo>
                <a:lnTo>
                  <a:pt x="73406" y="640969"/>
                </a:lnTo>
                <a:lnTo>
                  <a:pt x="47117" y="599313"/>
                </a:lnTo>
                <a:lnTo>
                  <a:pt x="25526" y="557657"/>
                </a:lnTo>
                <a:lnTo>
                  <a:pt x="10032" y="514477"/>
                </a:lnTo>
                <a:lnTo>
                  <a:pt x="3810" y="471297"/>
                </a:lnTo>
                <a:lnTo>
                  <a:pt x="0" y="428117"/>
                </a:lnTo>
                <a:lnTo>
                  <a:pt x="5461" y="386461"/>
                </a:lnTo>
                <a:lnTo>
                  <a:pt x="17018" y="344805"/>
                </a:lnTo>
                <a:lnTo>
                  <a:pt x="34036" y="304673"/>
                </a:lnTo>
                <a:lnTo>
                  <a:pt x="57150" y="266065"/>
                </a:lnTo>
                <a:lnTo>
                  <a:pt x="87249" y="229870"/>
                </a:lnTo>
                <a:lnTo>
                  <a:pt x="122047" y="194310"/>
                </a:lnTo>
                <a:lnTo>
                  <a:pt x="163702" y="161162"/>
                </a:lnTo>
                <a:lnTo>
                  <a:pt x="210819" y="131064"/>
                </a:lnTo>
                <a:lnTo>
                  <a:pt x="260985" y="102616"/>
                </a:lnTo>
                <a:lnTo>
                  <a:pt x="317373" y="79502"/>
                </a:lnTo>
                <a:lnTo>
                  <a:pt x="377570" y="57785"/>
                </a:lnTo>
                <a:lnTo>
                  <a:pt x="440944" y="37846"/>
                </a:lnTo>
                <a:lnTo>
                  <a:pt x="508126" y="23114"/>
                </a:lnTo>
                <a:lnTo>
                  <a:pt x="576833" y="13081"/>
                </a:lnTo>
                <a:lnTo>
                  <a:pt x="648588" y="4572"/>
                </a:lnTo>
                <a:lnTo>
                  <a:pt x="723519" y="0"/>
                </a:lnTo>
                <a:lnTo>
                  <a:pt x="798449" y="0"/>
                </a:lnTo>
                <a:lnTo>
                  <a:pt x="874141" y="1524"/>
                </a:lnTo>
                <a:lnTo>
                  <a:pt x="949070" y="7747"/>
                </a:lnTo>
              </a:path>
            </a:pathLst>
          </a:custGeom>
          <a:ln w="3175">
            <a:solidFill>
              <a:srgbClr val="000000"/>
            </a:solidFill>
          </a:ln>
        </p:spPr>
        <p:txBody>
          <a:bodyPr wrap="square" lIns="0" tIns="0" rIns="0" bIns="0" rtlCol="0"/>
          <a:lstStyle/>
          <a:p>
            <a:endParaRPr/>
          </a:p>
        </p:txBody>
      </p:sp>
      <p:sp>
        <p:nvSpPr>
          <p:cNvPr id="92" name="object 92"/>
          <p:cNvSpPr txBox="1"/>
          <p:nvPr/>
        </p:nvSpPr>
        <p:spPr>
          <a:xfrm>
            <a:off x="2597276" y="1149858"/>
            <a:ext cx="110489"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0000"/>
                </a:solidFill>
                <a:latin typeface="Arial"/>
                <a:cs typeface="Arial"/>
              </a:rPr>
              <a:t>3</a:t>
            </a:r>
            <a:endParaRPr sz="1200">
              <a:latin typeface="Arial"/>
              <a:cs typeface="Arial"/>
            </a:endParaRPr>
          </a:p>
        </p:txBody>
      </p:sp>
      <p:sp>
        <p:nvSpPr>
          <p:cNvPr id="93" name="object 93"/>
          <p:cNvSpPr/>
          <p:nvPr/>
        </p:nvSpPr>
        <p:spPr>
          <a:xfrm>
            <a:off x="1722120" y="1107947"/>
            <a:ext cx="1845945" cy="1243965"/>
          </a:xfrm>
          <a:custGeom>
            <a:avLst/>
            <a:gdLst/>
            <a:ahLst/>
            <a:cxnLst/>
            <a:rect l="l" t="t" r="r" b="b"/>
            <a:pathLst>
              <a:path w="1845945" h="1243964">
                <a:moveTo>
                  <a:pt x="990346" y="8509"/>
                </a:moveTo>
                <a:lnTo>
                  <a:pt x="1069086" y="18541"/>
                </a:lnTo>
                <a:lnTo>
                  <a:pt x="1145413" y="35560"/>
                </a:lnTo>
                <a:lnTo>
                  <a:pt x="1221105" y="53212"/>
                </a:lnTo>
                <a:lnTo>
                  <a:pt x="1292860" y="77215"/>
                </a:lnTo>
                <a:lnTo>
                  <a:pt x="1364742" y="105028"/>
                </a:lnTo>
                <a:lnTo>
                  <a:pt x="1431036" y="135127"/>
                </a:lnTo>
                <a:lnTo>
                  <a:pt x="1494409" y="170561"/>
                </a:lnTo>
                <a:lnTo>
                  <a:pt x="1553083" y="208406"/>
                </a:lnTo>
                <a:lnTo>
                  <a:pt x="1607820" y="248538"/>
                </a:lnTo>
                <a:lnTo>
                  <a:pt x="1657984" y="293369"/>
                </a:lnTo>
                <a:lnTo>
                  <a:pt x="1703578" y="338836"/>
                </a:lnTo>
                <a:lnTo>
                  <a:pt x="1742185" y="386714"/>
                </a:lnTo>
                <a:lnTo>
                  <a:pt x="1775333" y="436879"/>
                </a:lnTo>
                <a:lnTo>
                  <a:pt x="1801621" y="487044"/>
                </a:lnTo>
                <a:lnTo>
                  <a:pt x="1821688" y="538861"/>
                </a:lnTo>
                <a:lnTo>
                  <a:pt x="1837055" y="592074"/>
                </a:lnTo>
                <a:lnTo>
                  <a:pt x="1843278" y="645287"/>
                </a:lnTo>
                <a:lnTo>
                  <a:pt x="1845564" y="697102"/>
                </a:lnTo>
                <a:lnTo>
                  <a:pt x="1838579" y="748791"/>
                </a:lnTo>
                <a:lnTo>
                  <a:pt x="1827021" y="800481"/>
                </a:lnTo>
                <a:lnTo>
                  <a:pt x="1808480" y="850645"/>
                </a:lnTo>
                <a:lnTo>
                  <a:pt x="1783842" y="898525"/>
                </a:lnTo>
                <a:lnTo>
                  <a:pt x="1752219" y="945641"/>
                </a:lnTo>
                <a:lnTo>
                  <a:pt x="1713610" y="988821"/>
                </a:lnTo>
                <a:lnTo>
                  <a:pt x="1671828" y="1030477"/>
                </a:lnTo>
                <a:lnTo>
                  <a:pt x="1621663" y="1068324"/>
                </a:lnTo>
                <a:lnTo>
                  <a:pt x="1568450" y="1103883"/>
                </a:lnTo>
                <a:lnTo>
                  <a:pt x="1511300" y="1135507"/>
                </a:lnTo>
                <a:lnTo>
                  <a:pt x="1448054" y="1164082"/>
                </a:lnTo>
                <a:lnTo>
                  <a:pt x="1380871" y="1187195"/>
                </a:lnTo>
                <a:lnTo>
                  <a:pt x="1312926" y="1207262"/>
                </a:lnTo>
                <a:lnTo>
                  <a:pt x="1241171" y="1223518"/>
                </a:lnTo>
                <a:lnTo>
                  <a:pt x="1165479" y="1233551"/>
                </a:lnTo>
                <a:lnTo>
                  <a:pt x="1089152" y="1242059"/>
                </a:lnTo>
                <a:lnTo>
                  <a:pt x="1011936" y="1243583"/>
                </a:lnTo>
                <a:lnTo>
                  <a:pt x="933957" y="1242059"/>
                </a:lnTo>
                <a:lnTo>
                  <a:pt x="855218" y="1235075"/>
                </a:lnTo>
                <a:lnTo>
                  <a:pt x="776478" y="1225041"/>
                </a:lnTo>
                <a:lnTo>
                  <a:pt x="700151" y="1210437"/>
                </a:lnTo>
                <a:lnTo>
                  <a:pt x="624459" y="1190370"/>
                </a:lnTo>
                <a:lnTo>
                  <a:pt x="552704" y="1167129"/>
                </a:lnTo>
                <a:lnTo>
                  <a:pt x="483235" y="1138554"/>
                </a:lnTo>
                <a:lnTo>
                  <a:pt x="414528" y="1108456"/>
                </a:lnTo>
                <a:lnTo>
                  <a:pt x="351155" y="1073784"/>
                </a:lnTo>
                <a:lnTo>
                  <a:pt x="292481" y="1035176"/>
                </a:lnTo>
                <a:lnTo>
                  <a:pt x="237744" y="995044"/>
                </a:lnTo>
                <a:lnTo>
                  <a:pt x="187579" y="951738"/>
                </a:lnTo>
                <a:lnTo>
                  <a:pt x="141986" y="905509"/>
                </a:lnTo>
                <a:lnTo>
                  <a:pt x="103378" y="856869"/>
                </a:lnTo>
                <a:lnTo>
                  <a:pt x="70231" y="806703"/>
                </a:lnTo>
                <a:lnTo>
                  <a:pt x="43942" y="757301"/>
                </a:lnTo>
                <a:lnTo>
                  <a:pt x="23875" y="705485"/>
                </a:lnTo>
                <a:lnTo>
                  <a:pt x="8509" y="652272"/>
                </a:lnTo>
                <a:lnTo>
                  <a:pt x="2286" y="599059"/>
                </a:lnTo>
                <a:lnTo>
                  <a:pt x="0" y="547242"/>
                </a:lnTo>
                <a:lnTo>
                  <a:pt x="6985" y="495553"/>
                </a:lnTo>
                <a:lnTo>
                  <a:pt x="18542" y="443864"/>
                </a:lnTo>
                <a:lnTo>
                  <a:pt x="37084" y="393700"/>
                </a:lnTo>
                <a:lnTo>
                  <a:pt x="64007" y="345059"/>
                </a:lnTo>
                <a:lnTo>
                  <a:pt x="93344" y="298703"/>
                </a:lnTo>
                <a:lnTo>
                  <a:pt x="131953" y="255524"/>
                </a:lnTo>
                <a:lnTo>
                  <a:pt x="175260" y="213867"/>
                </a:lnTo>
                <a:lnTo>
                  <a:pt x="223900" y="175260"/>
                </a:lnTo>
                <a:lnTo>
                  <a:pt x="277113" y="140462"/>
                </a:lnTo>
                <a:lnTo>
                  <a:pt x="335788" y="108838"/>
                </a:lnTo>
                <a:lnTo>
                  <a:pt x="397510" y="80263"/>
                </a:lnTo>
                <a:lnTo>
                  <a:pt x="464693" y="57150"/>
                </a:lnTo>
                <a:lnTo>
                  <a:pt x="532638" y="37084"/>
                </a:lnTo>
                <a:lnTo>
                  <a:pt x="606679" y="21589"/>
                </a:lnTo>
                <a:lnTo>
                  <a:pt x="680085" y="10032"/>
                </a:lnTo>
                <a:lnTo>
                  <a:pt x="756412" y="2286"/>
                </a:lnTo>
                <a:lnTo>
                  <a:pt x="835152" y="0"/>
                </a:lnTo>
                <a:lnTo>
                  <a:pt x="911606" y="2286"/>
                </a:lnTo>
                <a:lnTo>
                  <a:pt x="990346" y="8509"/>
                </a:lnTo>
              </a:path>
            </a:pathLst>
          </a:custGeom>
          <a:ln w="3175">
            <a:solidFill>
              <a:srgbClr val="000000"/>
            </a:solidFill>
          </a:ln>
        </p:spPr>
        <p:txBody>
          <a:bodyPr wrap="square" lIns="0" tIns="0" rIns="0" bIns="0" rtlCol="0"/>
          <a:lstStyle/>
          <a:p>
            <a:endParaRPr/>
          </a:p>
        </p:txBody>
      </p:sp>
      <p:sp>
        <p:nvSpPr>
          <p:cNvPr id="94" name="object 94"/>
          <p:cNvSpPr txBox="1"/>
          <p:nvPr/>
        </p:nvSpPr>
        <p:spPr>
          <a:xfrm>
            <a:off x="2479294" y="2172461"/>
            <a:ext cx="245110" cy="360680"/>
          </a:xfrm>
          <a:prstGeom prst="rect">
            <a:avLst/>
          </a:prstGeom>
        </p:spPr>
        <p:txBody>
          <a:bodyPr vert="horz" wrap="square" lIns="0" tIns="12700" rIns="0" bIns="0" rtlCol="0">
            <a:spAutoFit/>
          </a:bodyPr>
          <a:lstStyle/>
          <a:p>
            <a:pPr marL="154940">
              <a:lnSpc>
                <a:spcPts val="1320"/>
              </a:lnSpc>
              <a:spcBef>
                <a:spcPts val="100"/>
              </a:spcBef>
            </a:pPr>
            <a:r>
              <a:rPr sz="1200" b="1" dirty="0">
                <a:latin typeface="Carlito"/>
                <a:cs typeface="Carlito"/>
              </a:rPr>
              <a:t>4</a:t>
            </a:r>
            <a:endParaRPr sz="1200">
              <a:latin typeface="Carlito"/>
              <a:cs typeface="Carlito"/>
            </a:endParaRPr>
          </a:p>
          <a:p>
            <a:pPr marL="12700">
              <a:lnSpc>
                <a:spcPts val="1320"/>
              </a:lnSpc>
            </a:pPr>
            <a:r>
              <a:rPr sz="1200" b="1" dirty="0">
                <a:solidFill>
                  <a:srgbClr val="FF0000"/>
                </a:solidFill>
                <a:latin typeface="Arial"/>
                <a:cs typeface="Arial"/>
              </a:rPr>
              <a:t>4</a:t>
            </a:r>
            <a:endParaRPr sz="1200">
              <a:latin typeface="Arial"/>
              <a:cs typeface="Arial"/>
            </a:endParaRPr>
          </a:p>
        </p:txBody>
      </p:sp>
      <p:sp>
        <p:nvSpPr>
          <p:cNvPr id="95" name="object 95"/>
          <p:cNvSpPr txBox="1"/>
          <p:nvPr/>
        </p:nvSpPr>
        <p:spPr>
          <a:xfrm>
            <a:off x="3174238" y="894969"/>
            <a:ext cx="110489"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0000"/>
                </a:solidFill>
                <a:latin typeface="Arial"/>
                <a:cs typeface="Arial"/>
              </a:rPr>
              <a:t>5</a:t>
            </a:r>
            <a:endParaRPr sz="1200">
              <a:latin typeface="Arial"/>
              <a:cs typeface="Arial"/>
            </a:endParaRPr>
          </a:p>
        </p:txBody>
      </p:sp>
      <p:sp>
        <p:nvSpPr>
          <p:cNvPr id="96" name="object 96"/>
          <p:cNvSpPr/>
          <p:nvPr/>
        </p:nvSpPr>
        <p:spPr>
          <a:xfrm>
            <a:off x="1685544" y="922019"/>
            <a:ext cx="1948180" cy="1706880"/>
          </a:xfrm>
          <a:custGeom>
            <a:avLst/>
            <a:gdLst/>
            <a:ahLst/>
            <a:cxnLst/>
            <a:rect l="l" t="t" r="r" b="b"/>
            <a:pathLst>
              <a:path w="1948179" h="1706880">
                <a:moveTo>
                  <a:pt x="972312" y="0"/>
                </a:moveTo>
                <a:lnTo>
                  <a:pt x="1052576" y="3047"/>
                </a:lnTo>
                <a:lnTo>
                  <a:pt x="1132205" y="11556"/>
                </a:lnTo>
                <a:lnTo>
                  <a:pt x="1210945" y="26288"/>
                </a:lnTo>
                <a:lnTo>
                  <a:pt x="1288161" y="46354"/>
                </a:lnTo>
                <a:lnTo>
                  <a:pt x="1363091" y="70992"/>
                </a:lnTo>
                <a:lnTo>
                  <a:pt x="1434845" y="101091"/>
                </a:lnTo>
                <a:lnTo>
                  <a:pt x="1505204" y="138175"/>
                </a:lnTo>
                <a:lnTo>
                  <a:pt x="1569973" y="179831"/>
                </a:lnTo>
                <a:lnTo>
                  <a:pt x="1631822" y="224662"/>
                </a:lnTo>
                <a:lnTo>
                  <a:pt x="1688972" y="274827"/>
                </a:lnTo>
                <a:lnTo>
                  <a:pt x="1740661" y="328040"/>
                </a:lnTo>
                <a:lnTo>
                  <a:pt x="1787017" y="384428"/>
                </a:lnTo>
                <a:lnTo>
                  <a:pt x="1828800" y="446150"/>
                </a:lnTo>
                <a:lnTo>
                  <a:pt x="1864233" y="509524"/>
                </a:lnTo>
                <a:lnTo>
                  <a:pt x="1894332" y="574420"/>
                </a:lnTo>
                <a:lnTo>
                  <a:pt x="1917572" y="641476"/>
                </a:lnTo>
                <a:lnTo>
                  <a:pt x="1934591" y="711834"/>
                </a:lnTo>
                <a:lnTo>
                  <a:pt x="1944623" y="781303"/>
                </a:lnTo>
                <a:lnTo>
                  <a:pt x="1947671" y="851534"/>
                </a:lnTo>
                <a:lnTo>
                  <a:pt x="1944623" y="921765"/>
                </a:lnTo>
                <a:lnTo>
                  <a:pt x="1934591" y="991234"/>
                </a:lnTo>
                <a:lnTo>
                  <a:pt x="1917572" y="1061465"/>
                </a:lnTo>
                <a:lnTo>
                  <a:pt x="1894332" y="1127886"/>
                </a:lnTo>
                <a:lnTo>
                  <a:pt x="1865757" y="1195069"/>
                </a:lnTo>
                <a:lnTo>
                  <a:pt x="1831085" y="1258315"/>
                </a:lnTo>
                <a:lnTo>
                  <a:pt x="1789303" y="1317752"/>
                </a:lnTo>
                <a:lnTo>
                  <a:pt x="1742185" y="1376425"/>
                </a:lnTo>
                <a:lnTo>
                  <a:pt x="1690496" y="1429765"/>
                </a:lnTo>
                <a:lnTo>
                  <a:pt x="1633346" y="1479930"/>
                </a:lnTo>
                <a:lnTo>
                  <a:pt x="1573148" y="1524634"/>
                </a:lnTo>
                <a:lnTo>
                  <a:pt x="1506728" y="1566417"/>
                </a:lnTo>
                <a:lnTo>
                  <a:pt x="1438020" y="1603374"/>
                </a:lnTo>
                <a:lnTo>
                  <a:pt x="1366139" y="1635124"/>
                </a:lnTo>
                <a:lnTo>
                  <a:pt x="1291208" y="1659762"/>
                </a:lnTo>
                <a:lnTo>
                  <a:pt x="1213993" y="1679828"/>
                </a:lnTo>
                <a:lnTo>
                  <a:pt x="1136014" y="1694560"/>
                </a:lnTo>
                <a:lnTo>
                  <a:pt x="1055751" y="1703069"/>
                </a:lnTo>
                <a:lnTo>
                  <a:pt x="975360" y="1706879"/>
                </a:lnTo>
                <a:lnTo>
                  <a:pt x="895095" y="1703069"/>
                </a:lnTo>
                <a:lnTo>
                  <a:pt x="814705" y="1694560"/>
                </a:lnTo>
                <a:lnTo>
                  <a:pt x="736726" y="1681352"/>
                </a:lnTo>
                <a:lnTo>
                  <a:pt x="657987" y="1661286"/>
                </a:lnTo>
                <a:lnTo>
                  <a:pt x="583057" y="1635124"/>
                </a:lnTo>
                <a:lnTo>
                  <a:pt x="511301" y="1605025"/>
                </a:lnTo>
                <a:lnTo>
                  <a:pt x="442468" y="1567941"/>
                </a:lnTo>
                <a:lnTo>
                  <a:pt x="375285" y="1528571"/>
                </a:lnTo>
                <a:lnTo>
                  <a:pt x="315849" y="1481454"/>
                </a:lnTo>
                <a:lnTo>
                  <a:pt x="257175" y="1432813"/>
                </a:lnTo>
                <a:lnTo>
                  <a:pt x="205486" y="1377949"/>
                </a:lnTo>
                <a:lnTo>
                  <a:pt x="158369" y="1321688"/>
                </a:lnTo>
                <a:lnTo>
                  <a:pt x="116586" y="1261490"/>
                </a:lnTo>
                <a:lnTo>
                  <a:pt x="81914" y="1198117"/>
                </a:lnTo>
                <a:lnTo>
                  <a:pt x="53339" y="1131696"/>
                </a:lnTo>
                <a:lnTo>
                  <a:pt x="30099" y="1064640"/>
                </a:lnTo>
                <a:lnTo>
                  <a:pt x="13081" y="995044"/>
                </a:lnTo>
                <a:lnTo>
                  <a:pt x="3048" y="924813"/>
                </a:lnTo>
                <a:lnTo>
                  <a:pt x="0" y="854582"/>
                </a:lnTo>
                <a:lnTo>
                  <a:pt x="3048" y="785113"/>
                </a:lnTo>
                <a:lnTo>
                  <a:pt x="13081" y="714882"/>
                </a:lnTo>
                <a:lnTo>
                  <a:pt x="28575" y="644651"/>
                </a:lnTo>
                <a:lnTo>
                  <a:pt x="51688" y="578230"/>
                </a:lnTo>
                <a:lnTo>
                  <a:pt x="81914" y="511047"/>
                </a:lnTo>
                <a:lnTo>
                  <a:pt x="116586" y="447801"/>
                </a:lnTo>
                <a:lnTo>
                  <a:pt x="156718" y="388365"/>
                </a:lnTo>
                <a:lnTo>
                  <a:pt x="203835" y="331215"/>
                </a:lnTo>
                <a:lnTo>
                  <a:pt x="255650" y="276351"/>
                </a:lnTo>
                <a:lnTo>
                  <a:pt x="312038" y="226187"/>
                </a:lnTo>
                <a:lnTo>
                  <a:pt x="373761" y="181355"/>
                </a:lnTo>
                <a:lnTo>
                  <a:pt x="439419" y="139700"/>
                </a:lnTo>
                <a:lnTo>
                  <a:pt x="509650" y="102615"/>
                </a:lnTo>
                <a:lnTo>
                  <a:pt x="581532" y="73278"/>
                </a:lnTo>
                <a:lnTo>
                  <a:pt x="656463" y="46354"/>
                </a:lnTo>
                <a:lnTo>
                  <a:pt x="732917" y="26288"/>
                </a:lnTo>
                <a:lnTo>
                  <a:pt x="811657" y="11556"/>
                </a:lnTo>
                <a:lnTo>
                  <a:pt x="891920" y="3047"/>
                </a:lnTo>
                <a:lnTo>
                  <a:pt x="972312" y="0"/>
                </a:lnTo>
              </a:path>
            </a:pathLst>
          </a:custGeom>
          <a:ln w="3175">
            <a:solidFill>
              <a:srgbClr val="000000"/>
            </a:solidFill>
          </a:ln>
        </p:spPr>
        <p:txBody>
          <a:bodyPr wrap="square" lIns="0" tIns="0" rIns="0" bIns="0" rtlCol="0"/>
          <a:lstStyle/>
          <a:p>
            <a:endParaRPr/>
          </a:p>
        </p:txBody>
      </p:sp>
      <p:sp>
        <p:nvSpPr>
          <p:cNvPr id="97" name="object 9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51</a:t>
            </a:fld>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61053" y="385953"/>
            <a:ext cx="1424305" cy="452120"/>
          </a:xfrm>
          <a:prstGeom prst="rect">
            <a:avLst/>
          </a:prstGeom>
        </p:spPr>
        <p:txBody>
          <a:bodyPr vert="horz" wrap="square" lIns="0" tIns="12065" rIns="0" bIns="0" rtlCol="0">
            <a:spAutoFit/>
          </a:bodyPr>
          <a:lstStyle/>
          <a:p>
            <a:pPr marL="12700">
              <a:lnSpc>
                <a:spcPct val="100000"/>
              </a:lnSpc>
              <a:spcBef>
                <a:spcPts val="95"/>
              </a:spcBef>
            </a:pPr>
            <a:r>
              <a:rPr sz="2800" b="1" spc="-5" dirty="0">
                <a:solidFill>
                  <a:srgbClr val="0000FF"/>
                </a:solidFill>
                <a:latin typeface="Carlito"/>
                <a:cs typeface="Carlito"/>
              </a:rPr>
              <a:t>Similarity</a:t>
            </a:r>
            <a:endParaRPr sz="2800">
              <a:latin typeface="Carlito"/>
              <a:cs typeface="Carlito"/>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52</a:t>
            </a:fld>
            <a:endParaRPr dirty="0"/>
          </a:p>
        </p:txBody>
      </p:sp>
      <p:sp>
        <p:nvSpPr>
          <p:cNvPr id="3" name="object 3"/>
          <p:cNvSpPr txBox="1"/>
          <p:nvPr/>
        </p:nvSpPr>
        <p:spPr>
          <a:xfrm>
            <a:off x="535940" y="1216913"/>
            <a:ext cx="8028940" cy="1672589"/>
          </a:xfrm>
          <a:prstGeom prst="rect">
            <a:avLst/>
          </a:prstGeom>
        </p:spPr>
        <p:txBody>
          <a:bodyPr vert="horz" wrap="square" lIns="0" tIns="13335" rIns="0" bIns="0" rtlCol="0">
            <a:spAutoFit/>
          </a:bodyPr>
          <a:lstStyle/>
          <a:p>
            <a:pPr marL="355600" marR="217170" indent="-342900">
              <a:lnSpc>
                <a:spcPct val="100000"/>
              </a:lnSpc>
              <a:spcBef>
                <a:spcPts val="105"/>
              </a:spcBef>
              <a:buFont typeface="Arial"/>
              <a:buChar char="•"/>
              <a:tabLst>
                <a:tab pos="354965" algn="l"/>
                <a:tab pos="355600" algn="l"/>
              </a:tabLst>
            </a:pPr>
            <a:r>
              <a:rPr sz="2000" spc="-40" dirty="0">
                <a:latin typeface="Carlito"/>
                <a:cs typeface="Carlito"/>
              </a:rPr>
              <a:t>Two </a:t>
            </a:r>
            <a:r>
              <a:rPr sz="2000" spc="-10" dirty="0">
                <a:latin typeface="Carlito"/>
                <a:cs typeface="Carlito"/>
              </a:rPr>
              <a:t>most </a:t>
            </a:r>
            <a:r>
              <a:rPr sz="2000" spc="-5" dirty="0">
                <a:latin typeface="Carlito"/>
                <a:cs typeface="Carlito"/>
              </a:rPr>
              <a:t>popular methods: </a:t>
            </a:r>
            <a:r>
              <a:rPr sz="2000" spc="-10" dirty="0">
                <a:latin typeface="Carlito"/>
                <a:cs typeface="Carlito"/>
              </a:rPr>
              <a:t>hierarchical agglomerative </a:t>
            </a:r>
            <a:r>
              <a:rPr sz="2000" spc="-5" dirty="0">
                <a:latin typeface="Carlito"/>
                <a:cs typeface="Carlito"/>
              </a:rPr>
              <a:t>clustering </a:t>
            </a:r>
            <a:r>
              <a:rPr sz="2000" dirty="0">
                <a:latin typeface="Carlito"/>
                <a:cs typeface="Carlito"/>
              </a:rPr>
              <a:t>and </a:t>
            </a:r>
            <a:r>
              <a:rPr sz="2000" spc="10" dirty="0">
                <a:latin typeface="Carlito"/>
                <a:cs typeface="Carlito"/>
              </a:rPr>
              <a:t>k-  </a:t>
            </a:r>
            <a:r>
              <a:rPr sz="2000" dirty="0">
                <a:latin typeface="Carlito"/>
                <a:cs typeface="Carlito"/>
              </a:rPr>
              <a:t>means</a:t>
            </a:r>
            <a:r>
              <a:rPr sz="2000" spc="-10" dirty="0">
                <a:latin typeface="Carlito"/>
                <a:cs typeface="Carlito"/>
              </a:rPr>
              <a:t> clustering</a:t>
            </a:r>
            <a:endParaRPr sz="2000">
              <a:latin typeface="Carlito"/>
              <a:cs typeface="Carlito"/>
            </a:endParaRPr>
          </a:p>
          <a:p>
            <a:pPr marL="355600" marR="5080" indent="-342900">
              <a:lnSpc>
                <a:spcPct val="100000"/>
              </a:lnSpc>
              <a:spcBef>
                <a:spcPts val="480"/>
              </a:spcBef>
              <a:buFont typeface="Arial"/>
              <a:buChar char="•"/>
              <a:tabLst>
                <a:tab pos="354965" algn="l"/>
                <a:tab pos="355600" algn="l"/>
              </a:tabLst>
            </a:pPr>
            <a:r>
              <a:rPr sz="2000" dirty="0">
                <a:latin typeface="Carlito"/>
                <a:cs typeface="Carlito"/>
              </a:rPr>
              <a:t>In </a:t>
            </a:r>
            <a:r>
              <a:rPr sz="2000" spc="-5" dirty="0">
                <a:latin typeface="Carlito"/>
                <a:cs typeface="Carlito"/>
              </a:rPr>
              <a:t>both cases, </a:t>
            </a:r>
            <a:r>
              <a:rPr sz="2000" spc="-10" dirty="0">
                <a:latin typeface="Carlito"/>
                <a:cs typeface="Carlito"/>
              </a:rPr>
              <a:t>we </a:t>
            </a:r>
            <a:r>
              <a:rPr sz="2000" spc="-5" dirty="0">
                <a:latin typeface="Carlito"/>
                <a:cs typeface="Carlito"/>
              </a:rPr>
              <a:t>need </a:t>
            </a:r>
            <a:r>
              <a:rPr sz="2000" spc="-15" dirty="0">
                <a:latin typeface="Carlito"/>
                <a:cs typeface="Carlito"/>
              </a:rPr>
              <a:t>to </a:t>
            </a:r>
            <a:r>
              <a:rPr sz="2000" spc="-5" dirty="0">
                <a:latin typeface="Carlito"/>
                <a:cs typeface="Carlito"/>
              </a:rPr>
              <a:t>define </a:t>
            </a:r>
            <a:r>
              <a:rPr sz="2000" spc="-10" dirty="0">
                <a:latin typeface="Carlito"/>
                <a:cs typeface="Carlito"/>
              </a:rPr>
              <a:t>two </a:t>
            </a:r>
            <a:r>
              <a:rPr sz="2000" dirty="0">
                <a:latin typeface="Carlito"/>
                <a:cs typeface="Carlito"/>
              </a:rPr>
              <a:t>types </a:t>
            </a:r>
            <a:r>
              <a:rPr sz="2000" spc="-5" dirty="0">
                <a:latin typeface="Carlito"/>
                <a:cs typeface="Carlito"/>
              </a:rPr>
              <a:t>of distances: </a:t>
            </a:r>
            <a:r>
              <a:rPr sz="2000" spc="-10" dirty="0">
                <a:latin typeface="Carlito"/>
                <a:cs typeface="Carlito"/>
              </a:rPr>
              <a:t>distance </a:t>
            </a:r>
            <a:r>
              <a:rPr sz="2000" spc="-5" dirty="0">
                <a:latin typeface="Carlito"/>
                <a:cs typeface="Carlito"/>
              </a:rPr>
              <a:t>between  </a:t>
            </a:r>
            <a:r>
              <a:rPr sz="2000" spc="-10" dirty="0">
                <a:latin typeface="Carlito"/>
                <a:cs typeface="Carlito"/>
              </a:rPr>
              <a:t>two records </a:t>
            </a:r>
            <a:r>
              <a:rPr sz="2000" dirty="0">
                <a:latin typeface="Carlito"/>
                <a:cs typeface="Carlito"/>
              </a:rPr>
              <a:t>and </a:t>
            </a:r>
            <a:r>
              <a:rPr sz="2000" spc="-10" dirty="0">
                <a:latin typeface="Carlito"/>
                <a:cs typeface="Carlito"/>
              </a:rPr>
              <a:t>distance </a:t>
            </a:r>
            <a:r>
              <a:rPr sz="2000" spc="-5" dirty="0">
                <a:latin typeface="Carlito"/>
                <a:cs typeface="Carlito"/>
              </a:rPr>
              <a:t>between </a:t>
            </a:r>
            <a:r>
              <a:rPr sz="2000" spc="-10" dirty="0">
                <a:latin typeface="Carlito"/>
                <a:cs typeface="Carlito"/>
              </a:rPr>
              <a:t>two</a:t>
            </a:r>
            <a:r>
              <a:rPr sz="2000" spc="-5" dirty="0">
                <a:latin typeface="Carlito"/>
                <a:cs typeface="Carlito"/>
              </a:rPr>
              <a:t> </a:t>
            </a:r>
            <a:r>
              <a:rPr sz="2000" spc="-10" dirty="0">
                <a:latin typeface="Carlito"/>
                <a:cs typeface="Carlito"/>
              </a:rPr>
              <a:t>cluster</a:t>
            </a:r>
            <a:endParaRPr sz="2000">
              <a:latin typeface="Carlito"/>
              <a:cs typeface="Carlito"/>
            </a:endParaRPr>
          </a:p>
          <a:p>
            <a:pPr marL="355600" indent="-342900">
              <a:lnSpc>
                <a:spcPct val="100000"/>
              </a:lnSpc>
              <a:spcBef>
                <a:spcPts val="480"/>
              </a:spcBef>
              <a:buFont typeface="Arial"/>
              <a:buChar char="•"/>
              <a:tabLst>
                <a:tab pos="354965" algn="l"/>
                <a:tab pos="355600" algn="l"/>
              </a:tabLst>
            </a:pPr>
            <a:r>
              <a:rPr sz="2000" dirty="0">
                <a:latin typeface="Carlito"/>
                <a:cs typeface="Carlito"/>
              </a:rPr>
              <a:t>In </a:t>
            </a:r>
            <a:r>
              <a:rPr sz="2000" spc="-5" dirty="0">
                <a:latin typeface="Carlito"/>
                <a:cs typeface="Carlito"/>
              </a:rPr>
              <a:t>both cases, there </a:t>
            </a:r>
            <a:r>
              <a:rPr sz="2000" dirty="0">
                <a:latin typeface="Carlito"/>
                <a:cs typeface="Carlito"/>
              </a:rPr>
              <a:t>is a </a:t>
            </a:r>
            <a:r>
              <a:rPr sz="2000" spc="-10" dirty="0">
                <a:latin typeface="Carlito"/>
                <a:cs typeface="Carlito"/>
              </a:rPr>
              <a:t>variety </a:t>
            </a:r>
            <a:r>
              <a:rPr sz="2000" spc="-5" dirty="0">
                <a:latin typeface="Carlito"/>
                <a:cs typeface="Carlito"/>
              </a:rPr>
              <a:t>of metrics that </a:t>
            </a:r>
            <a:r>
              <a:rPr sz="2000" dirty="0">
                <a:latin typeface="Carlito"/>
                <a:cs typeface="Carlito"/>
              </a:rPr>
              <a:t>can </a:t>
            </a:r>
            <a:r>
              <a:rPr sz="2000" spc="-5" dirty="0">
                <a:latin typeface="Carlito"/>
                <a:cs typeface="Carlito"/>
              </a:rPr>
              <a:t>be</a:t>
            </a:r>
            <a:r>
              <a:rPr sz="2000" spc="55" dirty="0">
                <a:latin typeface="Carlito"/>
                <a:cs typeface="Carlito"/>
              </a:rPr>
              <a:t> </a:t>
            </a:r>
            <a:r>
              <a:rPr sz="2000" spc="-5" dirty="0">
                <a:latin typeface="Carlito"/>
                <a:cs typeface="Carlito"/>
              </a:rPr>
              <a:t>used</a:t>
            </a:r>
            <a:endParaRPr sz="2000">
              <a:latin typeface="Carlito"/>
              <a:cs typeface="Carlito"/>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B3D82-18FF-4B6A-97DA-45B7F64CD7FF}"/>
              </a:ext>
            </a:extLst>
          </p:cNvPr>
          <p:cNvSpPr>
            <a:spLocks noGrp="1"/>
          </p:cNvSpPr>
          <p:nvPr>
            <p:ph type="title"/>
          </p:nvPr>
        </p:nvSpPr>
        <p:spPr/>
        <p:txBody>
          <a:bodyPr/>
          <a:lstStyle/>
          <a:p>
            <a:r>
              <a:rPr lang="en-US" dirty="0"/>
              <a:t>Reference</a:t>
            </a:r>
            <a:endParaRPr lang="en-IN" dirty="0"/>
          </a:p>
        </p:txBody>
      </p:sp>
      <p:sp>
        <p:nvSpPr>
          <p:cNvPr id="3" name="Text Placeholder 2">
            <a:extLst>
              <a:ext uri="{FF2B5EF4-FFF2-40B4-BE49-F238E27FC236}">
                <a16:creationId xmlns:a16="http://schemas.microsoft.com/office/drawing/2014/main" id="{2678C203-F82D-4FFB-BB3D-AF653946CAF8}"/>
              </a:ext>
            </a:extLst>
          </p:cNvPr>
          <p:cNvSpPr>
            <a:spLocks noGrp="1"/>
          </p:cNvSpPr>
          <p:nvPr>
            <p:ph type="body" idx="1"/>
          </p:nvPr>
        </p:nvSpPr>
        <p:spPr/>
        <p:txBody>
          <a:bodyPr/>
          <a:lstStyle/>
          <a:p>
            <a:r>
              <a:rPr lang="en-US" dirty="0">
                <a:hlinkClick r:id="rId2"/>
              </a:rPr>
              <a:t>Hierarchical Clustering with Python and Scikit-Learn - Stack Abuse</a:t>
            </a:r>
            <a:endParaRPr lang="en-US" dirty="0"/>
          </a:p>
          <a:p>
            <a:r>
              <a:rPr lang="en-US" dirty="0">
                <a:hlinkClick r:id="rId3"/>
              </a:rPr>
              <a:t>Distance Measure – </a:t>
            </a:r>
            <a:r>
              <a:rPr lang="en-US" dirty="0" err="1">
                <a:hlinkClick r:id="rId3"/>
              </a:rPr>
              <a:t>FasterCapital</a:t>
            </a:r>
            <a:endParaRPr lang="en-US" dirty="0"/>
          </a:p>
          <a:p>
            <a:r>
              <a:rPr lang="en-US" dirty="0">
                <a:hlinkClick r:id="rId4"/>
              </a:rPr>
              <a:t>(16) Hierarchical clustering: The simplest clustering algorithm | LinkedIn</a:t>
            </a:r>
            <a:endParaRPr lang="en-IN" dirty="0"/>
          </a:p>
        </p:txBody>
      </p:sp>
    </p:spTree>
    <p:extLst>
      <p:ext uri="{BB962C8B-B14F-4D97-AF65-F5344CB8AC3E}">
        <p14:creationId xmlns:p14="http://schemas.microsoft.com/office/powerpoint/2010/main" val="26541527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70705" y="2179065"/>
            <a:ext cx="1548130" cy="452120"/>
          </a:xfrm>
          <a:prstGeom prst="rect">
            <a:avLst/>
          </a:prstGeom>
        </p:spPr>
        <p:txBody>
          <a:bodyPr vert="horz" wrap="square" lIns="0" tIns="12065" rIns="0" bIns="0" rtlCol="0">
            <a:spAutoFit/>
          </a:bodyPr>
          <a:lstStyle/>
          <a:p>
            <a:pPr marL="12700">
              <a:lnSpc>
                <a:spcPct val="100000"/>
              </a:lnSpc>
              <a:spcBef>
                <a:spcPts val="95"/>
              </a:spcBef>
            </a:pPr>
            <a:r>
              <a:rPr sz="2800" b="1" spc="-10" dirty="0">
                <a:solidFill>
                  <a:srgbClr val="0000FF"/>
                </a:solidFill>
                <a:latin typeface="Carlito"/>
                <a:cs typeface="Carlito"/>
              </a:rPr>
              <a:t>Thank</a:t>
            </a:r>
            <a:r>
              <a:rPr sz="2800" b="1" spc="-50" dirty="0">
                <a:solidFill>
                  <a:srgbClr val="0000FF"/>
                </a:solidFill>
                <a:latin typeface="Carlito"/>
                <a:cs typeface="Carlito"/>
              </a:rPr>
              <a:t> </a:t>
            </a:r>
            <a:r>
              <a:rPr sz="2800" b="1" spc="-80" dirty="0">
                <a:solidFill>
                  <a:srgbClr val="0000FF"/>
                </a:solidFill>
                <a:latin typeface="Carlito"/>
                <a:cs typeface="Carlito"/>
              </a:rPr>
              <a:t>You</a:t>
            </a:r>
            <a:endParaRPr sz="2800">
              <a:latin typeface="Carlito"/>
              <a:cs typeface="Carlito"/>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54</a:t>
            </a:fld>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33786</TotalTime>
  <Words>3471</Words>
  <Application>Microsoft Office PowerPoint</Application>
  <PresentationFormat>On-screen Show (16:9)</PresentationFormat>
  <Paragraphs>358</Paragraphs>
  <Slides>54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54</vt:i4>
      </vt:variant>
    </vt:vector>
  </HeadingPairs>
  <TitlesOfParts>
    <vt:vector size="63" baseType="lpstr">
      <vt:lpstr>-apple-system</vt:lpstr>
      <vt:lpstr>Arial</vt:lpstr>
      <vt:lpstr>Carlito</vt:lpstr>
      <vt:lpstr>DejaVu Sans</vt:lpstr>
      <vt:lpstr>Inter</vt:lpstr>
      <vt:lpstr>Source Sans Pro</vt:lpstr>
      <vt:lpstr>Symbol</vt:lpstr>
      <vt:lpstr>Times New Roman</vt:lpstr>
      <vt:lpstr>Office Theme</vt:lpstr>
      <vt:lpstr>Hierarchical method of clustering - I</vt:lpstr>
      <vt:lpstr>Introduction</vt:lpstr>
      <vt:lpstr>Introduction</vt:lpstr>
      <vt:lpstr>Introduction</vt:lpstr>
      <vt:lpstr>Agglomerative and Divisive Hierarchical Clustering</vt:lpstr>
      <vt:lpstr>Agglomerative versus divisive hierarchical clustering</vt:lpstr>
      <vt:lpstr>Interpretation</vt:lpstr>
      <vt:lpstr>Interpretation</vt:lpstr>
      <vt:lpstr>Interpretation</vt:lpstr>
      <vt:lpstr>Dendrogram</vt:lpstr>
      <vt:lpstr>Dendrogram</vt:lpstr>
      <vt:lpstr>Dendrogram</vt:lpstr>
      <vt:lpstr>Measures for distance between clusters</vt:lpstr>
      <vt:lpstr>Measures for distance between clusters</vt:lpstr>
      <vt:lpstr>Measures for distance between clusters</vt:lpstr>
      <vt:lpstr>Measures for distance between clusters</vt:lpstr>
      <vt:lpstr>PowerPoint Presentation</vt:lpstr>
      <vt:lpstr>Choice of measurement</vt:lpstr>
      <vt:lpstr>Illustration</vt:lpstr>
      <vt:lpstr>PowerPoint Presentation</vt:lpstr>
      <vt:lpstr>Illustration</vt:lpstr>
      <vt:lpstr>Difﬁculties with hierarchical clustering</vt:lpstr>
      <vt:lpstr>Difﬁculties with hierarchical clustering</vt:lpstr>
      <vt:lpstr>Partitioning Vs. Hierarchical</vt:lpstr>
      <vt:lpstr>Following are the steps involved in agglomerative clustering (imp)</vt:lpstr>
      <vt:lpstr>PowerPoint Presentation</vt:lpstr>
      <vt:lpstr>K-means versus hierarchical clustering</vt:lpstr>
      <vt:lpstr>K means versus hierarchical clustering</vt:lpstr>
      <vt:lpstr>K means versus hierarchical clustering</vt:lpstr>
      <vt:lpstr>K means versus hierarchical clustering</vt:lpstr>
      <vt:lpstr>K means versus hierarchical clustering</vt:lpstr>
      <vt:lpstr>K means versus hierarchical clustering</vt:lpstr>
      <vt:lpstr>K means versus hierarchical clustering</vt:lpstr>
      <vt:lpstr>K means versus hierarchical clustering</vt:lpstr>
      <vt:lpstr>K means versus hierarchical clustering</vt:lpstr>
      <vt:lpstr>PowerPoint Presentation</vt:lpstr>
      <vt:lpstr>Hierarchical clustering</vt:lpstr>
      <vt:lpstr>Limitations of Hierarchical Clustering</vt:lpstr>
      <vt:lpstr>Limitations of Hierarchical Clustering</vt:lpstr>
      <vt:lpstr>Average-linkage clustering</vt:lpstr>
      <vt:lpstr>Ward’s distance algorithm</vt:lpstr>
      <vt:lpstr>PowerPoint Presentation</vt:lpstr>
      <vt:lpstr>PowerPoint Presentation</vt:lpstr>
      <vt:lpstr>PowerPoint Presentation</vt:lpstr>
      <vt:lpstr>PowerPoint Presentation</vt:lpstr>
      <vt:lpstr>PowerPoint Presentation</vt:lpstr>
      <vt:lpstr>Ward’s distance for clusters</vt:lpstr>
      <vt:lpstr>PowerPoint Presentation</vt:lpstr>
      <vt:lpstr>PowerPoint Presentation</vt:lpstr>
      <vt:lpstr>PowerPoint Presentation</vt:lpstr>
      <vt:lpstr>Hierarchical Clustering: Comparison</vt:lpstr>
      <vt:lpstr>Similarity</vt:lpstr>
      <vt:lpstr>Reference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IITR</dc:creator>
  <cp:lastModifiedBy>Kriti Ohri</cp:lastModifiedBy>
  <cp:revision>21</cp:revision>
  <dcterms:created xsi:type="dcterms:W3CDTF">2021-06-27T07:48:38Z</dcterms:created>
  <dcterms:modified xsi:type="dcterms:W3CDTF">2024-11-17T02:46:24Z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2020-01-03T00:00:00Z</vt:filetime>
  </property>
  <property fmtid="{D5CDD505-2E9C-101B-9397-08002B2CF9AE}" pid="3" name="Creator">
    <vt:lpwstr>Microsoft® PowerPoint® 2016</vt:lpwstr>
  </property>
  <property fmtid="{D5CDD505-2E9C-101B-9397-08002B2CF9AE}" pid="4" name="LastSaved">
    <vt:filetime>2021-06-27T00:00:00Z</vt:filetime>
  </property>
</Properties>
</file>