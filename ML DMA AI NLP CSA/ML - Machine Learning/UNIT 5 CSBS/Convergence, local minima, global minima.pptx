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59" r:id="rId6"/>
    <p:sldId id="261" r:id="rId7"/>
    <p:sldId id="570" r:id="rId8"/>
    <p:sldId id="571" r:id="rId9"/>
    <p:sldId id="559" r:id="rId10"/>
    <p:sldId id="560" r:id="rId11"/>
    <p:sldId id="569" r:id="rId12"/>
    <p:sldId id="561" r:id="rId13"/>
    <p:sldId id="562" r:id="rId14"/>
    <p:sldId id="563" r:id="rId15"/>
    <p:sldId id="565" r:id="rId16"/>
    <p:sldId id="574" r:id="rId17"/>
    <p:sldId id="576" r:id="rId18"/>
    <p:sldId id="577" r:id="rId19"/>
    <p:sldId id="572" r:id="rId20"/>
    <p:sldId id="573" r:id="rId21"/>
    <p:sldId id="579" r:id="rId22"/>
    <p:sldId id="57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2212" autoAdjust="0"/>
    <p:restoredTop sz="94660"/>
  </p:normalViewPr>
  <p:slideViewPr>
    <p:cSldViewPr snapToGrid="0">
      <p:cViewPr varScale="1">
        <p:scale>
          <a:sx n="74" d="100"/>
          <a:sy n="74" d="100"/>
        </p:scale>
        <p:origin x="72" y="2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48329-9A4E-49C4-8682-E20EE48CBF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DEFB2CB-D2CD-490D-BF09-33B6F4CB18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76D96C0-1FC8-4948-AE51-87A43FA7B84E}"/>
              </a:ext>
            </a:extLst>
          </p:cNvPr>
          <p:cNvSpPr>
            <a:spLocks noGrp="1"/>
          </p:cNvSpPr>
          <p:nvPr>
            <p:ph type="dt" sz="half" idx="10"/>
          </p:nvPr>
        </p:nvSpPr>
        <p:spPr/>
        <p:txBody>
          <a:bodyPr/>
          <a:lstStyle/>
          <a:p>
            <a:fld id="{DEF3B977-99DB-494D-9789-0999FCDE985F}" type="datetimeFigureOut">
              <a:rPr lang="en-IN" smtClean="0"/>
              <a:t>18-11-2024</a:t>
            </a:fld>
            <a:endParaRPr lang="en-IN"/>
          </a:p>
        </p:txBody>
      </p:sp>
      <p:sp>
        <p:nvSpPr>
          <p:cNvPr id="5" name="Footer Placeholder 4">
            <a:extLst>
              <a:ext uri="{FF2B5EF4-FFF2-40B4-BE49-F238E27FC236}">
                <a16:creationId xmlns:a16="http://schemas.microsoft.com/office/drawing/2014/main" id="{8A6FB5A6-50CE-462C-8FCF-219EA4F5B1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561E9AF-B97C-4B03-9519-737011D6E65A}"/>
              </a:ext>
            </a:extLst>
          </p:cNvPr>
          <p:cNvSpPr>
            <a:spLocks noGrp="1"/>
          </p:cNvSpPr>
          <p:nvPr>
            <p:ph type="sldNum" sz="quarter" idx="12"/>
          </p:nvPr>
        </p:nvSpPr>
        <p:spPr/>
        <p:txBody>
          <a:bodyPr/>
          <a:lstStyle/>
          <a:p>
            <a:fld id="{DB624DC5-5155-4C13-834F-47BA2DA04F20}" type="slidenum">
              <a:rPr lang="en-IN" smtClean="0"/>
              <a:t>‹#›</a:t>
            </a:fld>
            <a:endParaRPr lang="en-IN"/>
          </a:p>
        </p:txBody>
      </p:sp>
    </p:spTree>
    <p:extLst>
      <p:ext uri="{BB962C8B-B14F-4D97-AF65-F5344CB8AC3E}">
        <p14:creationId xmlns:p14="http://schemas.microsoft.com/office/powerpoint/2010/main" val="1400262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93C18-67F8-40A8-A12C-4050A576FE4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267C190-C28F-4027-AEC9-0BE123820A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89C91B-D4AF-4022-9BB1-C526555CAF7D}"/>
              </a:ext>
            </a:extLst>
          </p:cNvPr>
          <p:cNvSpPr>
            <a:spLocks noGrp="1"/>
          </p:cNvSpPr>
          <p:nvPr>
            <p:ph type="dt" sz="half" idx="10"/>
          </p:nvPr>
        </p:nvSpPr>
        <p:spPr/>
        <p:txBody>
          <a:bodyPr/>
          <a:lstStyle/>
          <a:p>
            <a:fld id="{DEF3B977-99DB-494D-9789-0999FCDE985F}" type="datetimeFigureOut">
              <a:rPr lang="en-IN" smtClean="0"/>
              <a:t>18-11-2024</a:t>
            </a:fld>
            <a:endParaRPr lang="en-IN"/>
          </a:p>
        </p:txBody>
      </p:sp>
      <p:sp>
        <p:nvSpPr>
          <p:cNvPr id="5" name="Footer Placeholder 4">
            <a:extLst>
              <a:ext uri="{FF2B5EF4-FFF2-40B4-BE49-F238E27FC236}">
                <a16:creationId xmlns:a16="http://schemas.microsoft.com/office/drawing/2014/main" id="{68F60068-3410-4CB4-8EE8-69816543CE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1DA78F-FF57-41FB-ADCA-324F54B949C6}"/>
              </a:ext>
            </a:extLst>
          </p:cNvPr>
          <p:cNvSpPr>
            <a:spLocks noGrp="1"/>
          </p:cNvSpPr>
          <p:nvPr>
            <p:ph type="sldNum" sz="quarter" idx="12"/>
          </p:nvPr>
        </p:nvSpPr>
        <p:spPr/>
        <p:txBody>
          <a:bodyPr/>
          <a:lstStyle/>
          <a:p>
            <a:fld id="{DB624DC5-5155-4C13-834F-47BA2DA04F20}" type="slidenum">
              <a:rPr lang="en-IN" smtClean="0"/>
              <a:t>‹#›</a:t>
            </a:fld>
            <a:endParaRPr lang="en-IN"/>
          </a:p>
        </p:txBody>
      </p:sp>
    </p:spTree>
    <p:extLst>
      <p:ext uri="{BB962C8B-B14F-4D97-AF65-F5344CB8AC3E}">
        <p14:creationId xmlns:p14="http://schemas.microsoft.com/office/powerpoint/2010/main" val="121512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3640B-EF7E-4571-B26A-E9301A5703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46DB831-79E8-4F89-A92C-12B5ACE954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06914E4-3B2D-467D-90D0-1F1FCF2CEF15}"/>
              </a:ext>
            </a:extLst>
          </p:cNvPr>
          <p:cNvSpPr>
            <a:spLocks noGrp="1"/>
          </p:cNvSpPr>
          <p:nvPr>
            <p:ph type="dt" sz="half" idx="10"/>
          </p:nvPr>
        </p:nvSpPr>
        <p:spPr/>
        <p:txBody>
          <a:bodyPr/>
          <a:lstStyle/>
          <a:p>
            <a:fld id="{DEF3B977-99DB-494D-9789-0999FCDE985F}" type="datetimeFigureOut">
              <a:rPr lang="en-IN" smtClean="0"/>
              <a:t>18-11-2024</a:t>
            </a:fld>
            <a:endParaRPr lang="en-IN"/>
          </a:p>
        </p:txBody>
      </p:sp>
      <p:sp>
        <p:nvSpPr>
          <p:cNvPr id="5" name="Footer Placeholder 4">
            <a:extLst>
              <a:ext uri="{FF2B5EF4-FFF2-40B4-BE49-F238E27FC236}">
                <a16:creationId xmlns:a16="http://schemas.microsoft.com/office/drawing/2014/main" id="{DBECF17C-67B1-4A06-936B-B575A77BC4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A0D42E-B052-4C0C-954E-8A19D6247B91}"/>
              </a:ext>
            </a:extLst>
          </p:cNvPr>
          <p:cNvSpPr>
            <a:spLocks noGrp="1"/>
          </p:cNvSpPr>
          <p:nvPr>
            <p:ph type="sldNum" sz="quarter" idx="12"/>
          </p:nvPr>
        </p:nvSpPr>
        <p:spPr/>
        <p:txBody>
          <a:bodyPr/>
          <a:lstStyle/>
          <a:p>
            <a:fld id="{DB624DC5-5155-4C13-834F-47BA2DA04F20}" type="slidenum">
              <a:rPr lang="en-IN" smtClean="0"/>
              <a:t>‹#›</a:t>
            </a:fld>
            <a:endParaRPr lang="en-IN"/>
          </a:p>
        </p:txBody>
      </p:sp>
    </p:spTree>
    <p:extLst>
      <p:ext uri="{BB962C8B-B14F-4D97-AF65-F5344CB8AC3E}">
        <p14:creationId xmlns:p14="http://schemas.microsoft.com/office/powerpoint/2010/main" val="41044531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C340E-7E9C-4F19-8968-595BE069BDE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3894FB4-23A6-4EFC-B652-D29449EB21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A2572D8-90D8-417C-A8D4-C3C22C8D8C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F98C97E-1FE9-40DC-BF0F-6D23C75C6661}"/>
              </a:ext>
            </a:extLst>
          </p:cNvPr>
          <p:cNvSpPr>
            <a:spLocks noGrp="1"/>
          </p:cNvSpPr>
          <p:nvPr>
            <p:ph type="dt" sz="half" idx="10"/>
          </p:nvPr>
        </p:nvSpPr>
        <p:spPr/>
        <p:txBody>
          <a:bodyPr/>
          <a:lstStyle/>
          <a:p>
            <a:fld id="{DEF3B977-99DB-494D-9789-0999FCDE985F}" type="datetimeFigureOut">
              <a:rPr lang="en-IN" smtClean="0"/>
              <a:t>18-11-2024</a:t>
            </a:fld>
            <a:endParaRPr lang="en-IN"/>
          </a:p>
        </p:txBody>
      </p:sp>
      <p:sp>
        <p:nvSpPr>
          <p:cNvPr id="6" name="Footer Placeholder 5">
            <a:extLst>
              <a:ext uri="{FF2B5EF4-FFF2-40B4-BE49-F238E27FC236}">
                <a16:creationId xmlns:a16="http://schemas.microsoft.com/office/drawing/2014/main" id="{6C2BA814-AC5B-4E7C-8C52-2D16C05404A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662191-514A-4416-8312-202892C9C7F3}"/>
              </a:ext>
            </a:extLst>
          </p:cNvPr>
          <p:cNvSpPr>
            <a:spLocks noGrp="1"/>
          </p:cNvSpPr>
          <p:nvPr>
            <p:ph type="sldNum" sz="quarter" idx="12"/>
          </p:nvPr>
        </p:nvSpPr>
        <p:spPr/>
        <p:txBody>
          <a:bodyPr/>
          <a:lstStyle/>
          <a:p>
            <a:fld id="{DB624DC5-5155-4C13-834F-47BA2DA04F20}" type="slidenum">
              <a:rPr lang="en-IN" smtClean="0"/>
              <a:t>‹#›</a:t>
            </a:fld>
            <a:endParaRPr lang="en-IN"/>
          </a:p>
        </p:txBody>
      </p:sp>
    </p:spTree>
    <p:extLst>
      <p:ext uri="{BB962C8B-B14F-4D97-AF65-F5344CB8AC3E}">
        <p14:creationId xmlns:p14="http://schemas.microsoft.com/office/powerpoint/2010/main" val="32467705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F075E-16B9-47DD-87AF-F91AD042392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5AF462E-CFA4-45F8-8C8C-A14C3FC23F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A37B133-89DA-402D-BAFB-967D195143D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99C73EB-EA66-4E10-961B-902A369B32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370951-CC03-473E-89FE-71A28557A8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A0A79D6-CD29-4F2F-A0A5-B09E14ECEB86}"/>
              </a:ext>
            </a:extLst>
          </p:cNvPr>
          <p:cNvSpPr>
            <a:spLocks noGrp="1"/>
          </p:cNvSpPr>
          <p:nvPr>
            <p:ph type="dt" sz="half" idx="10"/>
          </p:nvPr>
        </p:nvSpPr>
        <p:spPr/>
        <p:txBody>
          <a:bodyPr/>
          <a:lstStyle/>
          <a:p>
            <a:fld id="{DEF3B977-99DB-494D-9789-0999FCDE985F}" type="datetimeFigureOut">
              <a:rPr lang="en-IN" smtClean="0"/>
              <a:t>18-11-2024</a:t>
            </a:fld>
            <a:endParaRPr lang="en-IN"/>
          </a:p>
        </p:txBody>
      </p:sp>
      <p:sp>
        <p:nvSpPr>
          <p:cNvPr id="8" name="Footer Placeholder 7">
            <a:extLst>
              <a:ext uri="{FF2B5EF4-FFF2-40B4-BE49-F238E27FC236}">
                <a16:creationId xmlns:a16="http://schemas.microsoft.com/office/drawing/2014/main" id="{31000E5C-9B7F-49E9-B0CD-137F6429C1E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A88FFC3-D648-415D-A41D-667EAB2B75EF}"/>
              </a:ext>
            </a:extLst>
          </p:cNvPr>
          <p:cNvSpPr>
            <a:spLocks noGrp="1"/>
          </p:cNvSpPr>
          <p:nvPr>
            <p:ph type="sldNum" sz="quarter" idx="12"/>
          </p:nvPr>
        </p:nvSpPr>
        <p:spPr/>
        <p:txBody>
          <a:bodyPr/>
          <a:lstStyle/>
          <a:p>
            <a:fld id="{DB624DC5-5155-4C13-834F-47BA2DA04F20}" type="slidenum">
              <a:rPr lang="en-IN" smtClean="0"/>
              <a:t>‹#›</a:t>
            </a:fld>
            <a:endParaRPr lang="en-IN"/>
          </a:p>
        </p:txBody>
      </p:sp>
    </p:spTree>
    <p:extLst>
      <p:ext uri="{BB962C8B-B14F-4D97-AF65-F5344CB8AC3E}">
        <p14:creationId xmlns:p14="http://schemas.microsoft.com/office/powerpoint/2010/main" val="3177720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77639-F6F2-4C18-898C-49817873637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45CC696-A491-46E6-9268-AE6CF7B09E09}"/>
              </a:ext>
            </a:extLst>
          </p:cNvPr>
          <p:cNvSpPr>
            <a:spLocks noGrp="1"/>
          </p:cNvSpPr>
          <p:nvPr>
            <p:ph type="dt" sz="half" idx="10"/>
          </p:nvPr>
        </p:nvSpPr>
        <p:spPr/>
        <p:txBody>
          <a:bodyPr/>
          <a:lstStyle/>
          <a:p>
            <a:fld id="{DEF3B977-99DB-494D-9789-0999FCDE985F}" type="datetimeFigureOut">
              <a:rPr lang="en-IN" smtClean="0"/>
              <a:t>18-11-2024</a:t>
            </a:fld>
            <a:endParaRPr lang="en-IN"/>
          </a:p>
        </p:txBody>
      </p:sp>
      <p:sp>
        <p:nvSpPr>
          <p:cNvPr id="4" name="Footer Placeholder 3">
            <a:extLst>
              <a:ext uri="{FF2B5EF4-FFF2-40B4-BE49-F238E27FC236}">
                <a16:creationId xmlns:a16="http://schemas.microsoft.com/office/drawing/2014/main" id="{96C05F54-9A59-428A-A0E3-D707CD666C8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60F1771-5291-493A-9F34-C12FC02C4135}"/>
              </a:ext>
            </a:extLst>
          </p:cNvPr>
          <p:cNvSpPr>
            <a:spLocks noGrp="1"/>
          </p:cNvSpPr>
          <p:nvPr>
            <p:ph type="sldNum" sz="quarter" idx="12"/>
          </p:nvPr>
        </p:nvSpPr>
        <p:spPr/>
        <p:txBody>
          <a:bodyPr/>
          <a:lstStyle/>
          <a:p>
            <a:fld id="{DB624DC5-5155-4C13-834F-47BA2DA04F20}" type="slidenum">
              <a:rPr lang="en-IN" smtClean="0"/>
              <a:t>‹#›</a:t>
            </a:fld>
            <a:endParaRPr lang="en-IN"/>
          </a:p>
        </p:txBody>
      </p:sp>
    </p:spTree>
    <p:extLst>
      <p:ext uri="{BB962C8B-B14F-4D97-AF65-F5344CB8AC3E}">
        <p14:creationId xmlns:p14="http://schemas.microsoft.com/office/powerpoint/2010/main" val="1184555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1BC1F7-374E-44FD-ADCC-9FA36266C953}"/>
              </a:ext>
            </a:extLst>
          </p:cNvPr>
          <p:cNvSpPr>
            <a:spLocks noGrp="1"/>
          </p:cNvSpPr>
          <p:nvPr>
            <p:ph type="dt" sz="half" idx="10"/>
          </p:nvPr>
        </p:nvSpPr>
        <p:spPr/>
        <p:txBody>
          <a:bodyPr/>
          <a:lstStyle/>
          <a:p>
            <a:fld id="{DEF3B977-99DB-494D-9789-0999FCDE985F}" type="datetimeFigureOut">
              <a:rPr lang="en-IN" smtClean="0"/>
              <a:t>18-11-2024</a:t>
            </a:fld>
            <a:endParaRPr lang="en-IN"/>
          </a:p>
        </p:txBody>
      </p:sp>
      <p:sp>
        <p:nvSpPr>
          <p:cNvPr id="3" name="Footer Placeholder 2">
            <a:extLst>
              <a:ext uri="{FF2B5EF4-FFF2-40B4-BE49-F238E27FC236}">
                <a16:creationId xmlns:a16="http://schemas.microsoft.com/office/drawing/2014/main" id="{23576F52-5A9B-4EB9-A7DA-21039A779DA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573C852-D5FB-47EF-9BFB-46435B5B6A9D}"/>
              </a:ext>
            </a:extLst>
          </p:cNvPr>
          <p:cNvSpPr>
            <a:spLocks noGrp="1"/>
          </p:cNvSpPr>
          <p:nvPr>
            <p:ph type="sldNum" sz="quarter" idx="12"/>
          </p:nvPr>
        </p:nvSpPr>
        <p:spPr/>
        <p:txBody>
          <a:bodyPr/>
          <a:lstStyle/>
          <a:p>
            <a:fld id="{DB624DC5-5155-4C13-834F-47BA2DA04F20}" type="slidenum">
              <a:rPr lang="en-IN" smtClean="0"/>
              <a:t>‹#›</a:t>
            </a:fld>
            <a:endParaRPr lang="en-IN"/>
          </a:p>
        </p:txBody>
      </p:sp>
    </p:spTree>
    <p:extLst>
      <p:ext uri="{BB962C8B-B14F-4D97-AF65-F5344CB8AC3E}">
        <p14:creationId xmlns:p14="http://schemas.microsoft.com/office/powerpoint/2010/main" val="1255581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68C3D-635E-45FA-B71C-0BBE6F9FC0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29AA76E-9386-4619-AFA8-8A17848091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BF50B7B-94F2-4347-8C57-1A449083D7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C83F30-3C0E-4740-AB0B-DFEB3072ED8F}"/>
              </a:ext>
            </a:extLst>
          </p:cNvPr>
          <p:cNvSpPr>
            <a:spLocks noGrp="1"/>
          </p:cNvSpPr>
          <p:nvPr>
            <p:ph type="dt" sz="half" idx="10"/>
          </p:nvPr>
        </p:nvSpPr>
        <p:spPr/>
        <p:txBody>
          <a:bodyPr/>
          <a:lstStyle/>
          <a:p>
            <a:fld id="{DEF3B977-99DB-494D-9789-0999FCDE985F}" type="datetimeFigureOut">
              <a:rPr lang="en-IN" smtClean="0"/>
              <a:t>18-11-2024</a:t>
            </a:fld>
            <a:endParaRPr lang="en-IN"/>
          </a:p>
        </p:txBody>
      </p:sp>
      <p:sp>
        <p:nvSpPr>
          <p:cNvPr id="6" name="Footer Placeholder 5">
            <a:extLst>
              <a:ext uri="{FF2B5EF4-FFF2-40B4-BE49-F238E27FC236}">
                <a16:creationId xmlns:a16="http://schemas.microsoft.com/office/drawing/2014/main" id="{D9C08B99-8FD2-45A4-A11D-9C2DF9EA2E4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76B8E7F-2C96-4DB5-B29F-19DEE69BF03E}"/>
              </a:ext>
            </a:extLst>
          </p:cNvPr>
          <p:cNvSpPr>
            <a:spLocks noGrp="1"/>
          </p:cNvSpPr>
          <p:nvPr>
            <p:ph type="sldNum" sz="quarter" idx="12"/>
          </p:nvPr>
        </p:nvSpPr>
        <p:spPr/>
        <p:txBody>
          <a:bodyPr/>
          <a:lstStyle/>
          <a:p>
            <a:fld id="{DB624DC5-5155-4C13-834F-47BA2DA04F20}" type="slidenum">
              <a:rPr lang="en-IN" smtClean="0"/>
              <a:t>‹#›</a:t>
            </a:fld>
            <a:endParaRPr lang="en-IN"/>
          </a:p>
        </p:txBody>
      </p:sp>
    </p:spTree>
    <p:extLst>
      <p:ext uri="{BB962C8B-B14F-4D97-AF65-F5344CB8AC3E}">
        <p14:creationId xmlns:p14="http://schemas.microsoft.com/office/powerpoint/2010/main" val="216204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5C9AB-C3BA-4DE0-BAC5-991C9E9294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12626F3-AB49-48E6-BD87-BFDB138221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B91DA27-3178-4A51-A72C-F6A2183E40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49E256-1EF2-48FA-B1D2-5E0BDB1D986D}"/>
              </a:ext>
            </a:extLst>
          </p:cNvPr>
          <p:cNvSpPr>
            <a:spLocks noGrp="1"/>
          </p:cNvSpPr>
          <p:nvPr>
            <p:ph type="dt" sz="half" idx="10"/>
          </p:nvPr>
        </p:nvSpPr>
        <p:spPr/>
        <p:txBody>
          <a:bodyPr/>
          <a:lstStyle/>
          <a:p>
            <a:fld id="{DEF3B977-99DB-494D-9789-0999FCDE985F}" type="datetimeFigureOut">
              <a:rPr lang="en-IN" smtClean="0"/>
              <a:t>18-11-2024</a:t>
            </a:fld>
            <a:endParaRPr lang="en-IN"/>
          </a:p>
        </p:txBody>
      </p:sp>
      <p:sp>
        <p:nvSpPr>
          <p:cNvPr id="6" name="Footer Placeholder 5">
            <a:extLst>
              <a:ext uri="{FF2B5EF4-FFF2-40B4-BE49-F238E27FC236}">
                <a16:creationId xmlns:a16="http://schemas.microsoft.com/office/drawing/2014/main" id="{8F3265F0-C692-4B45-AB1E-F51288A50E0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00DC5B1-4E82-4E1A-86AD-16AD58AAB57A}"/>
              </a:ext>
            </a:extLst>
          </p:cNvPr>
          <p:cNvSpPr>
            <a:spLocks noGrp="1"/>
          </p:cNvSpPr>
          <p:nvPr>
            <p:ph type="sldNum" sz="quarter" idx="12"/>
          </p:nvPr>
        </p:nvSpPr>
        <p:spPr/>
        <p:txBody>
          <a:bodyPr/>
          <a:lstStyle/>
          <a:p>
            <a:fld id="{DB624DC5-5155-4C13-834F-47BA2DA04F20}" type="slidenum">
              <a:rPr lang="en-IN" smtClean="0"/>
              <a:t>‹#›</a:t>
            </a:fld>
            <a:endParaRPr lang="en-IN"/>
          </a:p>
        </p:txBody>
      </p:sp>
    </p:spTree>
    <p:extLst>
      <p:ext uri="{BB962C8B-B14F-4D97-AF65-F5344CB8AC3E}">
        <p14:creationId xmlns:p14="http://schemas.microsoft.com/office/powerpoint/2010/main" val="3176237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3BD83-B3DC-4685-95AA-53D96D70A54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12F4CCC-DFAB-4094-84F5-0904D9FEA0E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E2911C-E621-4B5B-A636-88E7ACD159A7}"/>
              </a:ext>
            </a:extLst>
          </p:cNvPr>
          <p:cNvSpPr>
            <a:spLocks noGrp="1"/>
          </p:cNvSpPr>
          <p:nvPr>
            <p:ph type="dt" sz="half" idx="10"/>
          </p:nvPr>
        </p:nvSpPr>
        <p:spPr/>
        <p:txBody>
          <a:bodyPr/>
          <a:lstStyle/>
          <a:p>
            <a:fld id="{DEF3B977-99DB-494D-9789-0999FCDE985F}" type="datetimeFigureOut">
              <a:rPr lang="en-IN" smtClean="0"/>
              <a:t>18-11-2024</a:t>
            </a:fld>
            <a:endParaRPr lang="en-IN"/>
          </a:p>
        </p:txBody>
      </p:sp>
      <p:sp>
        <p:nvSpPr>
          <p:cNvPr id="5" name="Footer Placeholder 4">
            <a:extLst>
              <a:ext uri="{FF2B5EF4-FFF2-40B4-BE49-F238E27FC236}">
                <a16:creationId xmlns:a16="http://schemas.microsoft.com/office/drawing/2014/main" id="{D8357E8A-FA43-4207-BF12-EB394BD30C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519864-EAE2-48DE-8E17-0CDC3588E289}"/>
              </a:ext>
            </a:extLst>
          </p:cNvPr>
          <p:cNvSpPr>
            <a:spLocks noGrp="1"/>
          </p:cNvSpPr>
          <p:nvPr>
            <p:ph type="sldNum" sz="quarter" idx="12"/>
          </p:nvPr>
        </p:nvSpPr>
        <p:spPr/>
        <p:txBody>
          <a:bodyPr/>
          <a:lstStyle/>
          <a:p>
            <a:fld id="{DB624DC5-5155-4C13-834F-47BA2DA04F20}" type="slidenum">
              <a:rPr lang="en-IN" smtClean="0"/>
              <a:t>‹#›</a:t>
            </a:fld>
            <a:endParaRPr lang="en-IN"/>
          </a:p>
        </p:txBody>
      </p:sp>
    </p:spTree>
    <p:extLst>
      <p:ext uri="{BB962C8B-B14F-4D97-AF65-F5344CB8AC3E}">
        <p14:creationId xmlns:p14="http://schemas.microsoft.com/office/powerpoint/2010/main" val="3343389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71EA0C-52A5-4653-AE72-BB4905720A1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328277F-3652-4DDD-A8EC-E3F6305AFE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F580F09-67F6-475D-B58C-12B19FF99546}"/>
              </a:ext>
            </a:extLst>
          </p:cNvPr>
          <p:cNvSpPr>
            <a:spLocks noGrp="1"/>
          </p:cNvSpPr>
          <p:nvPr>
            <p:ph type="dt" sz="half" idx="10"/>
          </p:nvPr>
        </p:nvSpPr>
        <p:spPr/>
        <p:txBody>
          <a:bodyPr/>
          <a:lstStyle/>
          <a:p>
            <a:fld id="{DEF3B977-99DB-494D-9789-0999FCDE985F}" type="datetimeFigureOut">
              <a:rPr lang="en-IN" smtClean="0"/>
              <a:t>18-11-2024</a:t>
            </a:fld>
            <a:endParaRPr lang="en-IN"/>
          </a:p>
        </p:txBody>
      </p:sp>
      <p:sp>
        <p:nvSpPr>
          <p:cNvPr id="5" name="Footer Placeholder 4">
            <a:extLst>
              <a:ext uri="{FF2B5EF4-FFF2-40B4-BE49-F238E27FC236}">
                <a16:creationId xmlns:a16="http://schemas.microsoft.com/office/drawing/2014/main" id="{1CAA8B51-68D2-404A-854E-DBF0233C05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480334-D6B0-4E89-989C-1F6520E72B4D}"/>
              </a:ext>
            </a:extLst>
          </p:cNvPr>
          <p:cNvSpPr>
            <a:spLocks noGrp="1"/>
          </p:cNvSpPr>
          <p:nvPr>
            <p:ph type="sldNum" sz="quarter" idx="12"/>
          </p:nvPr>
        </p:nvSpPr>
        <p:spPr/>
        <p:txBody>
          <a:bodyPr/>
          <a:lstStyle/>
          <a:p>
            <a:fld id="{DB624DC5-5155-4C13-834F-47BA2DA04F20}" type="slidenum">
              <a:rPr lang="en-IN" smtClean="0"/>
              <a:t>‹#›</a:t>
            </a:fld>
            <a:endParaRPr lang="en-IN"/>
          </a:p>
        </p:txBody>
      </p:sp>
    </p:spTree>
    <p:extLst>
      <p:ext uri="{BB962C8B-B14F-4D97-AF65-F5344CB8AC3E}">
        <p14:creationId xmlns:p14="http://schemas.microsoft.com/office/powerpoint/2010/main" val="3544323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FE722C-7A5B-4C3B-9475-DD56096DF5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7E973BA-7CA2-467A-9C55-653D70DF63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B6C70E-20CE-40F7-8059-04C4139B83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F3B977-99DB-494D-9789-0999FCDE985F}" type="datetimeFigureOut">
              <a:rPr lang="en-IN" smtClean="0"/>
              <a:t>18-11-2024</a:t>
            </a:fld>
            <a:endParaRPr lang="en-IN"/>
          </a:p>
        </p:txBody>
      </p:sp>
      <p:sp>
        <p:nvSpPr>
          <p:cNvPr id="5" name="Footer Placeholder 4">
            <a:extLst>
              <a:ext uri="{FF2B5EF4-FFF2-40B4-BE49-F238E27FC236}">
                <a16:creationId xmlns:a16="http://schemas.microsoft.com/office/drawing/2014/main" id="{FDA7B218-B5BD-4996-8EDC-E6BFE72809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2678382-7D17-4949-856B-C5B9DF2206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624DC5-5155-4C13-834F-47BA2DA04F20}" type="slidenum">
              <a:rPr lang="en-IN" smtClean="0"/>
              <a:t>‹#›</a:t>
            </a:fld>
            <a:endParaRPr lang="en-IN"/>
          </a:p>
        </p:txBody>
      </p:sp>
    </p:spTree>
    <p:extLst>
      <p:ext uri="{BB962C8B-B14F-4D97-AF65-F5344CB8AC3E}">
        <p14:creationId xmlns:p14="http://schemas.microsoft.com/office/powerpoint/2010/main" val="15374798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05473-6C71-4827-B0B2-20CEC7E88C23}"/>
              </a:ext>
            </a:extLst>
          </p:cNvPr>
          <p:cNvSpPr>
            <a:spLocks noGrp="1"/>
          </p:cNvSpPr>
          <p:nvPr>
            <p:ph type="ctrTitle"/>
          </p:nvPr>
        </p:nvSpPr>
        <p:spPr/>
        <p:txBody>
          <a:bodyPr>
            <a:normAutofit/>
          </a:bodyPr>
          <a:lstStyle/>
          <a:p>
            <a:r>
              <a:rPr lang="en-IN" sz="4000" dirty="0">
                <a:effectLst/>
                <a:latin typeface="Times New Roman" panose="02020603050405020304" pitchFamily="18" charset="0"/>
                <a:ea typeface="Times New Roman" panose="02020603050405020304" pitchFamily="18" charset="0"/>
              </a:rPr>
              <a:t>Convergence, local minima, global minima </a:t>
            </a:r>
            <a:endParaRPr lang="en-IN" sz="11500" dirty="0"/>
          </a:p>
        </p:txBody>
      </p:sp>
      <p:sp>
        <p:nvSpPr>
          <p:cNvPr id="3" name="Subtitle 2">
            <a:extLst>
              <a:ext uri="{FF2B5EF4-FFF2-40B4-BE49-F238E27FC236}">
                <a16:creationId xmlns:a16="http://schemas.microsoft.com/office/drawing/2014/main" id="{68B66CBC-3976-4462-B8C8-205A60D796EA}"/>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4222412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9C200-4384-403C-A606-A730ED75D9B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E32159F-17C5-4ECF-B1A9-C18158EED697}"/>
              </a:ext>
            </a:extLst>
          </p:cNvPr>
          <p:cNvSpPr>
            <a:spLocks noGrp="1"/>
          </p:cNvSpPr>
          <p:nvPr>
            <p:ph idx="1"/>
          </p:nvPr>
        </p:nvSpPr>
        <p:spPr/>
        <p:txBody>
          <a:bodyPr>
            <a:normAutofit/>
          </a:bodyPr>
          <a:lstStyle/>
          <a:p>
            <a:pPr>
              <a:lnSpc>
                <a:spcPct val="150000"/>
              </a:lnSpc>
            </a:pPr>
            <a:r>
              <a:rPr lang="en-US" sz="2400" b="0" i="0" dirty="0">
                <a:solidFill>
                  <a:srgbClr val="575757"/>
                </a:solidFill>
                <a:effectLst/>
                <a:latin typeface="Times New Roman" panose="02020603050405020304" pitchFamily="18" charset="0"/>
                <a:cs typeface="Times New Roman" panose="02020603050405020304" pitchFamily="18" charset="0"/>
              </a:rPr>
              <a:t>The point at which a function takes the minimum value is called as </a:t>
            </a:r>
            <a:r>
              <a:rPr lang="en-US" sz="2400" b="1" i="0" dirty="0">
                <a:solidFill>
                  <a:srgbClr val="575757"/>
                </a:solidFill>
                <a:effectLst/>
                <a:latin typeface="Times New Roman" panose="02020603050405020304" pitchFamily="18" charset="0"/>
                <a:cs typeface="Times New Roman" panose="02020603050405020304" pitchFamily="18" charset="0"/>
              </a:rPr>
              <a:t>global minima.</a:t>
            </a:r>
            <a:r>
              <a:rPr lang="en-US" sz="2400" b="0" i="0" dirty="0">
                <a:solidFill>
                  <a:srgbClr val="575757"/>
                </a:solidFill>
                <a:effectLst/>
                <a:latin typeface="Times New Roman" panose="02020603050405020304" pitchFamily="18" charset="0"/>
                <a:cs typeface="Times New Roman" panose="02020603050405020304" pitchFamily="18" charset="0"/>
              </a:rPr>
              <a:t> However, when the goal is to minimize the function and solved using optimization algorithms such as </a:t>
            </a:r>
            <a:r>
              <a:rPr lang="en-US" sz="2400" b="1" i="0" dirty="0">
                <a:solidFill>
                  <a:srgbClr val="575757"/>
                </a:solidFill>
                <a:effectLst/>
                <a:latin typeface="Times New Roman" panose="02020603050405020304" pitchFamily="18" charset="0"/>
                <a:cs typeface="Times New Roman" panose="02020603050405020304" pitchFamily="18" charset="0"/>
              </a:rPr>
              <a:t>gradient descent</a:t>
            </a:r>
            <a:r>
              <a:rPr lang="en-US" sz="2400" b="0" i="0" dirty="0">
                <a:solidFill>
                  <a:srgbClr val="575757"/>
                </a:solidFill>
                <a:effectLst/>
                <a:latin typeface="Times New Roman" panose="02020603050405020304" pitchFamily="18" charset="0"/>
                <a:cs typeface="Times New Roman" panose="02020603050405020304" pitchFamily="18" charset="0"/>
              </a:rPr>
              <a:t>, it may so happen that function may appear to have minimum value at different points. Those several points which appear to be minima but is not the point where the function actually takes the minimum value is called as </a:t>
            </a:r>
            <a:r>
              <a:rPr lang="en-US" sz="2400" b="1" i="0" dirty="0">
                <a:solidFill>
                  <a:srgbClr val="575757"/>
                </a:solidFill>
                <a:effectLst/>
                <a:latin typeface="Times New Roman" panose="02020603050405020304" pitchFamily="18" charset="0"/>
                <a:cs typeface="Times New Roman" panose="02020603050405020304" pitchFamily="18" charset="0"/>
              </a:rPr>
              <a:t>local minima</a:t>
            </a:r>
            <a:r>
              <a:rPr lang="en-US" sz="2400" b="0" i="0" dirty="0">
                <a:solidFill>
                  <a:srgbClr val="575757"/>
                </a:solidFill>
                <a:effectLst/>
                <a:latin typeface="Times New Roman" panose="02020603050405020304" pitchFamily="18" charset="0"/>
                <a:cs typeface="Times New Roman" panose="02020603050405020304" pitchFamily="18" charset="0"/>
              </a:rPr>
              <a:t>. Take a look at the following picture to understand the concept of local minima and global minima.</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165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51277-4107-4AD1-8A9D-429EB565F5FD}"/>
              </a:ext>
            </a:extLst>
          </p:cNvPr>
          <p:cNvSpPr>
            <a:spLocks noGrp="1"/>
          </p:cNvSpPr>
          <p:nvPr>
            <p:ph type="title"/>
          </p:nvPr>
        </p:nvSpPr>
        <p:spPr/>
        <p:txBody>
          <a:bodyPr/>
          <a:lstStyle/>
          <a:p>
            <a:r>
              <a:rPr lang="en-US" dirty="0"/>
              <a:t>Global and local minima</a:t>
            </a:r>
            <a:endParaRPr lang="en-IN" dirty="0"/>
          </a:p>
        </p:txBody>
      </p:sp>
      <p:pic>
        <p:nvPicPr>
          <p:cNvPr id="1026" name="Picture 2" descr="Local Minima vs Global Minima">
            <a:extLst>
              <a:ext uri="{FF2B5EF4-FFF2-40B4-BE49-F238E27FC236}">
                <a16:creationId xmlns:a16="http://schemas.microsoft.com/office/drawing/2014/main" id="{3D1E5CF5-296A-4673-98DD-02826F471AF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11271" y="2131620"/>
            <a:ext cx="6477000" cy="4076700"/>
          </a:xfrm>
          <a:prstGeom prst="rect">
            <a:avLst/>
          </a:prstGeom>
          <a:noFill/>
          <a:extLst>
            <a:ext uri="{909E8E84-426E-40DD-AFC4-6F175D3DCCD1}">
              <a14:hiddenFill xmlns:a14="http://schemas.microsoft.com/office/drawing/2010/main">
                <a:solidFill>
                  <a:srgbClr val="FFFFFF"/>
                </a:solidFill>
              </a14:hiddenFill>
            </a:ext>
          </a:extLst>
        </p:spPr>
      </p:pic>
      <p:sp>
        <p:nvSpPr>
          <p:cNvPr id="6" name="Oval 5">
            <a:extLst>
              <a:ext uri="{FF2B5EF4-FFF2-40B4-BE49-F238E27FC236}">
                <a16:creationId xmlns:a16="http://schemas.microsoft.com/office/drawing/2014/main" id="{F29C1D36-66A5-4CD1-AF66-9FD2C1D597B3}"/>
              </a:ext>
            </a:extLst>
          </p:cNvPr>
          <p:cNvSpPr/>
          <p:nvPr/>
        </p:nvSpPr>
        <p:spPr>
          <a:xfrm>
            <a:off x="3293616" y="3586579"/>
            <a:ext cx="79899" cy="887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9B5B541F-AC28-4CE5-A079-4E7B8295C276}"/>
              </a:ext>
            </a:extLst>
          </p:cNvPr>
          <p:cNvSpPr txBox="1"/>
          <p:nvPr/>
        </p:nvSpPr>
        <p:spPr>
          <a:xfrm>
            <a:off x="1447060" y="3675356"/>
            <a:ext cx="798990" cy="369332"/>
          </a:xfrm>
          <a:prstGeom prst="rect">
            <a:avLst/>
          </a:prstGeom>
          <a:noFill/>
        </p:spPr>
        <p:txBody>
          <a:bodyPr wrap="square" rtlCol="0">
            <a:spAutoFit/>
          </a:bodyPr>
          <a:lstStyle/>
          <a:p>
            <a:r>
              <a:rPr lang="en-US" dirty="0"/>
              <a:t>loss</a:t>
            </a:r>
            <a:endParaRPr lang="en-IN" dirty="0"/>
          </a:p>
        </p:txBody>
      </p:sp>
      <p:sp>
        <p:nvSpPr>
          <p:cNvPr id="9" name="TextBox 8">
            <a:extLst>
              <a:ext uri="{FF2B5EF4-FFF2-40B4-BE49-F238E27FC236}">
                <a16:creationId xmlns:a16="http://schemas.microsoft.com/office/drawing/2014/main" id="{F464C814-6140-4604-87D1-E28ADD8735B1}"/>
              </a:ext>
            </a:extLst>
          </p:cNvPr>
          <p:cNvSpPr txBox="1"/>
          <p:nvPr/>
        </p:nvSpPr>
        <p:spPr>
          <a:xfrm>
            <a:off x="4759909" y="6023654"/>
            <a:ext cx="1676401" cy="369332"/>
          </a:xfrm>
          <a:prstGeom prst="rect">
            <a:avLst/>
          </a:prstGeom>
          <a:noFill/>
        </p:spPr>
        <p:txBody>
          <a:bodyPr wrap="square" rtlCol="0">
            <a:spAutoFit/>
          </a:bodyPr>
          <a:lstStyle/>
          <a:p>
            <a:r>
              <a:rPr lang="en-US" dirty="0"/>
              <a:t>weights</a:t>
            </a:r>
            <a:endParaRPr lang="en-IN" dirty="0"/>
          </a:p>
        </p:txBody>
      </p:sp>
      <p:sp>
        <p:nvSpPr>
          <p:cNvPr id="10" name="Oval 9">
            <a:extLst>
              <a:ext uri="{FF2B5EF4-FFF2-40B4-BE49-F238E27FC236}">
                <a16:creationId xmlns:a16="http://schemas.microsoft.com/office/drawing/2014/main" id="{C3C78155-6765-43A3-B100-889C06D9E291}"/>
              </a:ext>
            </a:extLst>
          </p:cNvPr>
          <p:cNvSpPr/>
          <p:nvPr/>
        </p:nvSpPr>
        <p:spPr>
          <a:xfrm>
            <a:off x="3446016" y="3738979"/>
            <a:ext cx="79899" cy="887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D944C6A0-F42F-4BE1-8258-BF4A41ADFFA8}"/>
              </a:ext>
            </a:extLst>
          </p:cNvPr>
          <p:cNvSpPr/>
          <p:nvPr/>
        </p:nvSpPr>
        <p:spPr>
          <a:xfrm>
            <a:off x="3525915" y="3934626"/>
            <a:ext cx="79899" cy="887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81A850FD-1950-47BE-BE76-CC25EFF6E725}"/>
              </a:ext>
            </a:extLst>
          </p:cNvPr>
          <p:cNvSpPr/>
          <p:nvPr/>
        </p:nvSpPr>
        <p:spPr>
          <a:xfrm>
            <a:off x="3687193" y="3890237"/>
            <a:ext cx="79899" cy="887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388B4582-5E2A-4830-BFC9-B542EA3AF5C6}"/>
              </a:ext>
            </a:extLst>
          </p:cNvPr>
          <p:cNvSpPr/>
          <p:nvPr/>
        </p:nvSpPr>
        <p:spPr>
          <a:xfrm>
            <a:off x="3767092" y="3694590"/>
            <a:ext cx="79899" cy="887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5771289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32517-1C3A-4A86-8C52-2F3AC01085DF}"/>
              </a:ext>
            </a:extLst>
          </p:cNvPr>
          <p:cNvSpPr>
            <a:spLocks noGrp="1"/>
          </p:cNvSpPr>
          <p:nvPr>
            <p:ph type="title"/>
          </p:nvPr>
        </p:nvSpPr>
        <p:spPr/>
        <p:txBody>
          <a:bodyPr/>
          <a:lstStyle/>
          <a:p>
            <a:r>
              <a:rPr lang="en-US" dirty="0"/>
              <a:t>This is global minima</a:t>
            </a:r>
            <a:endParaRPr lang="en-IN" dirty="0"/>
          </a:p>
        </p:txBody>
      </p:sp>
      <p:pic>
        <p:nvPicPr>
          <p:cNvPr id="4" name="Picture 2" descr="Optimizer - Backpropagation - Edureka">
            <a:extLst>
              <a:ext uri="{FF2B5EF4-FFF2-40B4-BE49-F238E27FC236}">
                <a16:creationId xmlns:a16="http://schemas.microsoft.com/office/drawing/2014/main" id="{DF3D422A-756B-4C0C-96EF-B893187380A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315197" y="1825625"/>
            <a:ext cx="5561606" cy="4351338"/>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a:extLst>
              <a:ext uri="{FF2B5EF4-FFF2-40B4-BE49-F238E27FC236}">
                <a16:creationId xmlns:a16="http://schemas.microsoft.com/office/drawing/2014/main" id="{3BF9C07C-5EB7-4EF0-8A23-BC0F9870D7B9}"/>
              </a:ext>
            </a:extLst>
          </p:cNvPr>
          <p:cNvCxnSpPr/>
          <p:nvPr/>
        </p:nvCxnSpPr>
        <p:spPr>
          <a:xfrm flipH="1">
            <a:off x="4208016" y="4882718"/>
            <a:ext cx="213951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39403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A6A69-D0D1-4964-BF4F-2FD7883A120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27EC148-8842-4E92-8949-38DB815A35F6}"/>
              </a:ext>
            </a:extLst>
          </p:cNvPr>
          <p:cNvSpPr>
            <a:spLocks noGrp="1"/>
          </p:cNvSpPr>
          <p:nvPr>
            <p:ph idx="1"/>
          </p:nvPr>
        </p:nvSpPr>
        <p:spPr/>
        <p:txBody>
          <a:bodyPr>
            <a:normAutofit/>
          </a:bodyPr>
          <a:lstStyle/>
          <a:p>
            <a:pPr algn="l" fontAlgn="base">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The gradient at different points is found out.</a:t>
            </a:r>
          </a:p>
          <a:p>
            <a:pPr algn="l" fontAlgn="base">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If the gradient value is positive at a point, it will be required to move to left or reduce the weight.</a:t>
            </a:r>
          </a:p>
          <a:p>
            <a:pPr algn="l" fontAlgn="base">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If the gradient value is negative at a point, it will be required to increment the value of weight.</a:t>
            </a:r>
          </a:p>
          <a:p>
            <a:pPr algn="l" fontAlgn="base">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The above two steps are done until the minima is reached.</a:t>
            </a:r>
          </a:p>
          <a:p>
            <a:pPr algn="l" fontAlgn="base">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The minima could either be local minima or the global minima. There are different techniques which can be used to find local vs global minima. </a:t>
            </a:r>
            <a:endParaRPr lang="en-IN" dirty="0"/>
          </a:p>
        </p:txBody>
      </p:sp>
    </p:spTree>
    <p:extLst>
      <p:ext uri="{BB962C8B-B14F-4D97-AF65-F5344CB8AC3E}">
        <p14:creationId xmlns:p14="http://schemas.microsoft.com/office/powerpoint/2010/main" val="4039912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9E167-FE0F-43A8-A3AB-6B4782FE2E7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DA4AD13A-85B5-4CEA-854C-0796CF33081E}"/>
              </a:ext>
            </a:extLst>
          </p:cNvPr>
          <p:cNvPicPr>
            <a:picLocks noGrp="1" noChangeAspect="1"/>
          </p:cNvPicPr>
          <p:nvPr>
            <p:ph idx="1"/>
          </p:nvPr>
        </p:nvPicPr>
        <p:blipFill>
          <a:blip r:embed="rId2"/>
          <a:stretch>
            <a:fillRect/>
          </a:stretch>
        </p:blipFill>
        <p:spPr>
          <a:xfrm>
            <a:off x="1131626" y="1847720"/>
            <a:ext cx="8934450" cy="3810000"/>
          </a:xfrm>
        </p:spPr>
      </p:pic>
    </p:spTree>
    <p:extLst>
      <p:ext uri="{BB962C8B-B14F-4D97-AF65-F5344CB8AC3E}">
        <p14:creationId xmlns:p14="http://schemas.microsoft.com/office/powerpoint/2010/main" val="2744636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D6E4D-DBD6-4972-9EBC-0C4A636BCF2A}"/>
              </a:ext>
            </a:extLst>
          </p:cNvPr>
          <p:cNvSpPr>
            <a:spLocks noGrp="1"/>
          </p:cNvSpPr>
          <p:nvPr>
            <p:ph type="title"/>
          </p:nvPr>
        </p:nvSpPr>
        <p:spPr/>
        <p:txBody>
          <a:bodyPr/>
          <a:lstStyle/>
          <a:p>
            <a:r>
              <a:rPr lang="en-IN" b="1" dirty="0">
                <a:solidFill>
                  <a:srgbClr val="C00000"/>
                </a:solidFill>
              </a:rPr>
              <a:t>Convergence and Local Minima</a:t>
            </a:r>
            <a:br>
              <a:rPr lang="en-IN" b="1" dirty="0">
                <a:solidFill>
                  <a:srgbClr val="C00000"/>
                </a:solidFill>
              </a:rPr>
            </a:br>
            <a:endParaRPr lang="en-IN" b="1" dirty="0">
              <a:solidFill>
                <a:srgbClr val="C00000"/>
              </a:solidFill>
            </a:endParaRPr>
          </a:p>
        </p:txBody>
      </p:sp>
      <p:sp>
        <p:nvSpPr>
          <p:cNvPr id="3" name="Content Placeholder 2">
            <a:extLst>
              <a:ext uri="{FF2B5EF4-FFF2-40B4-BE49-F238E27FC236}">
                <a16:creationId xmlns:a16="http://schemas.microsoft.com/office/drawing/2014/main" id="{2B700DB0-BCA8-450B-AB90-52CFAAE351F2}"/>
              </a:ext>
            </a:extLst>
          </p:cNvPr>
          <p:cNvSpPr>
            <a:spLocks noGrp="1"/>
          </p:cNvSpPr>
          <p:nvPr>
            <p:ph idx="1"/>
          </p:nvPr>
        </p:nvSpPr>
        <p:spPr/>
        <p:txBody>
          <a:bodyPr>
            <a:normAutofit fontScale="92500" lnSpcReduction="10000"/>
          </a:bodyPr>
          <a:lstStyle/>
          <a:p>
            <a:pPr algn="just"/>
            <a:r>
              <a:rPr lang="en-US" dirty="0"/>
              <a:t>Backpropagation is only guaranteed to converge to a local, and not a global, minima. However, since each weight in a network essentially corresponds to a different dimension in the error space, a local minimum with respect to one weight may not be a local minimum with respect to other weights. This can provide an “escape route” from becoming trapped in local minima. If the weights are initialized to values close to zero, the sigmoid threshold function is approximately linear and so they produce linear outputs. As the weights grow, though, the network is able to represent more complex functions that are not linear in nature. It is the hope that by the time the weights are able to approximate the desired function that they will be close enough to the global minimum that even becoming stuck in a local minima will be acceptable.</a:t>
            </a:r>
            <a:endParaRPr lang="en-IN" dirty="0"/>
          </a:p>
        </p:txBody>
      </p:sp>
    </p:spTree>
    <p:extLst>
      <p:ext uri="{BB962C8B-B14F-4D97-AF65-F5344CB8AC3E}">
        <p14:creationId xmlns:p14="http://schemas.microsoft.com/office/powerpoint/2010/main" val="26743341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F1D2F-1113-4084-8AEC-D013D8E324C5}"/>
              </a:ext>
            </a:extLst>
          </p:cNvPr>
          <p:cNvSpPr>
            <a:spLocks noGrp="1"/>
          </p:cNvSpPr>
          <p:nvPr>
            <p:ph type="title"/>
          </p:nvPr>
        </p:nvSpPr>
        <p:spPr/>
        <p:txBody>
          <a:bodyPr>
            <a:normAutofit/>
          </a:bodyPr>
          <a:lstStyle/>
          <a:p>
            <a:r>
              <a:rPr lang="en-US" sz="3600" dirty="0">
                <a:solidFill>
                  <a:srgbClr val="C00000"/>
                </a:solidFill>
              </a:rPr>
              <a:t>Common heuristic methods to reduce the problem of local minima are:</a:t>
            </a:r>
            <a:endParaRPr lang="en-IN" sz="3600" dirty="0">
              <a:solidFill>
                <a:srgbClr val="C00000"/>
              </a:solidFill>
            </a:endParaRPr>
          </a:p>
        </p:txBody>
      </p:sp>
      <p:sp>
        <p:nvSpPr>
          <p:cNvPr id="3" name="Content Placeholder 2">
            <a:extLst>
              <a:ext uri="{FF2B5EF4-FFF2-40B4-BE49-F238E27FC236}">
                <a16:creationId xmlns:a16="http://schemas.microsoft.com/office/drawing/2014/main" id="{798EC38F-AFE9-46C8-9259-1364B2D9352E}"/>
              </a:ext>
            </a:extLst>
          </p:cNvPr>
          <p:cNvSpPr>
            <a:spLocks noGrp="1"/>
          </p:cNvSpPr>
          <p:nvPr>
            <p:ph idx="1"/>
          </p:nvPr>
        </p:nvSpPr>
        <p:spPr/>
        <p:txBody>
          <a:bodyPr/>
          <a:lstStyle/>
          <a:p>
            <a:r>
              <a:rPr lang="en-US" dirty="0"/>
              <a:t>Add a </a:t>
            </a:r>
            <a:r>
              <a:rPr lang="en-US" dirty="0">
                <a:highlight>
                  <a:srgbClr val="FFFF00"/>
                </a:highlight>
              </a:rPr>
              <a:t>momentum term to the weight-update rule </a:t>
            </a:r>
          </a:p>
          <a:p>
            <a:r>
              <a:rPr lang="en-US" dirty="0"/>
              <a:t>Use </a:t>
            </a:r>
            <a:r>
              <a:rPr lang="en-US" dirty="0">
                <a:highlight>
                  <a:srgbClr val="FFFF00"/>
                </a:highlight>
              </a:rPr>
              <a:t>stochastic gradient descent </a:t>
            </a:r>
            <a:r>
              <a:rPr lang="en-US" dirty="0"/>
              <a:t>rather than true gradient descent </a:t>
            </a:r>
          </a:p>
          <a:p>
            <a:r>
              <a:rPr lang="en-US" dirty="0"/>
              <a:t> </a:t>
            </a:r>
            <a:r>
              <a:rPr lang="en-US" dirty="0">
                <a:highlight>
                  <a:srgbClr val="FFFF00"/>
                </a:highlight>
              </a:rPr>
              <a:t>Train multiple networks </a:t>
            </a:r>
            <a:r>
              <a:rPr lang="en-US" dirty="0"/>
              <a:t>using the same training data but initialize the networks with different random weights. </a:t>
            </a:r>
          </a:p>
          <a:p>
            <a:r>
              <a:rPr lang="en-US" dirty="0"/>
              <a:t>If the different networks lead to different local minima, choose the network that performs best on a </a:t>
            </a:r>
            <a:r>
              <a:rPr lang="en-US" dirty="0">
                <a:highlight>
                  <a:srgbClr val="FFFF00"/>
                </a:highlight>
              </a:rPr>
              <a:t>validation set of data </a:t>
            </a:r>
            <a:r>
              <a:rPr lang="en-US" dirty="0"/>
              <a:t>or all networks can be kept and treated as a committee whose output is the (possibly weighted) average of individual network outputs. </a:t>
            </a:r>
            <a:endParaRPr lang="en-IN" dirty="0"/>
          </a:p>
        </p:txBody>
      </p:sp>
    </p:spTree>
    <p:extLst>
      <p:ext uri="{BB962C8B-B14F-4D97-AF65-F5344CB8AC3E}">
        <p14:creationId xmlns:p14="http://schemas.microsoft.com/office/powerpoint/2010/main" val="1055610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26069-D433-4B68-B02F-646B30ED390A}"/>
              </a:ext>
            </a:extLst>
          </p:cNvPr>
          <p:cNvSpPr>
            <a:spLocks noGrp="1"/>
          </p:cNvSpPr>
          <p:nvPr>
            <p:ph type="title"/>
          </p:nvPr>
        </p:nvSpPr>
        <p:spPr/>
        <p:txBody>
          <a:bodyPr/>
          <a:lstStyle/>
          <a:p>
            <a:r>
              <a:rPr lang="en-US" dirty="0">
                <a:solidFill>
                  <a:srgbClr val="C00000"/>
                </a:solidFill>
              </a:rPr>
              <a:t>Variants of gradient decent or optimization techniques</a:t>
            </a:r>
            <a:endParaRPr lang="en-IN" dirty="0">
              <a:solidFill>
                <a:srgbClr val="C00000"/>
              </a:solidFill>
            </a:endParaRPr>
          </a:p>
        </p:txBody>
      </p:sp>
      <p:sp>
        <p:nvSpPr>
          <p:cNvPr id="3" name="Content Placeholder 2">
            <a:extLst>
              <a:ext uri="{FF2B5EF4-FFF2-40B4-BE49-F238E27FC236}">
                <a16:creationId xmlns:a16="http://schemas.microsoft.com/office/drawing/2014/main" id="{B9DF2CD9-3FE8-4E1D-A35E-C33091B73BF1}"/>
              </a:ext>
            </a:extLst>
          </p:cNvPr>
          <p:cNvSpPr>
            <a:spLocks noGrp="1"/>
          </p:cNvSpPr>
          <p:nvPr>
            <p:ph idx="1"/>
          </p:nvPr>
        </p:nvSpPr>
        <p:spPr/>
        <p:txBody>
          <a:bodyPr/>
          <a:lstStyle/>
          <a:p>
            <a:r>
              <a:rPr lang="en-US" dirty="0"/>
              <a:t>Batch gradient descent- normal gradient descent</a:t>
            </a:r>
          </a:p>
          <a:p>
            <a:r>
              <a:rPr lang="en-US" dirty="0"/>
              <a:t>Stochastic gradient descent</a:t>
            </a:r>
          </a:p>
          <a:p>
            <a:r>
              <a:rPr lang="en-US" dirty="0"/>
              <a:t>Mini batch gradient decent </a:t>
            </a:r>
          </a:p>
          <a:p>
            <a:r>
              <a:rPr lang="en-US" dirty="0"/>
              <a:t>Momentum based gradient descent</a:t>
            </a:r>
          </a:p>
          <a:p>
            <a:endParaRPr lang="en-US" dirty="0"/>
          </a:p>
          <a:p>
            <a:endParaRPr lang="en-IN" dirty="0"/>
          </a:p>
        </p:txBody>
      </p:sp>
    </p:spTree>
    <p:extLst>
      <p:ext uri="{BB962C8B-B14F-4D97-AF65-F5344CB8AC3E}">
        <p14:creationId xmlns:p14="http://schemas.microsoft.com/office/powerpoint/2010/main" val="42763342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0D418-7EE1-4586-A618-AFFB23740E6D}"/>
              </a:ext>
            </a:extLst>
          </p:cNvPr>
          <p:cNvSpPr>
            <a:spLocks noGrp="1"/>
          </p:cNvSpPr>
          <p:nvPr>
            <p:ph type="title"/>
          </p:nvPr>
        </p:nvSpPr>
        <p:spPr/>
        <p:txBody>
          <a:bodyPr/>
          <a:lstStyle/>
          <a:p>
            <a:r>
              <a:rPr lang="en-US" b="1" dirty="0"/>
              <a:t>Batch Gradient Descent</a:t>
            </a:r>
            <a:br>
              <a:rPr lang="en-US" b="1" dirty="0"/>
            </a:br>
            <a:endParaRPr lang="en-IN" b="1" dirty="0"/>
          </a:p>
        </p:txBody>
      </p:sp>
      <p:sp>
        <p:nvSpPr>
          <p:cNvPr id="3" name="Content Placeholder 2">
            <a:extLst>
              <a:ext uri="{FF2B5EF4-FFF2-40B4-BE49-F238E27FC236}">
                <a16:creationId xmlns:a16="http://schemas.microsoft.com/office/drawing/2014/main" id="{E9D9E61B-1640-428D-860E-4A0F05E9EEC4}"/>
              </a:ext>
            </a:extLst>
          </p:cNvPr>
          <p:cNvSpPr>
            <a:spLocks noGrp="1"/>
          </p:cNvSpPr>
          <p:nvPr>
            <p:ph idx="1"/>
          </p:nvPr>
        </p:nvSpPr>
        <p:spPr/>
        <p:txBody>
          <a:bodyPr>
            <a:normAutofit lnSpcReduction="10000"/>
          </a:bodyPr>
          <a:lstStyle/>
          <a:p>
            <a:r>
              <a:rPr lang="en-US" dirty="0"/>
              <a:t>Let’s say there are a total of ‘m’ observations in a data set and we use all these observations to calculate the cost function J or loss, then this is known as Batch Gradient Descent.</a:t>
            </a:r>
          </a:p>
          <a:p>
            <a:r>
              <a:rPr lang="en-US" dirty="0"/>
              <a:t>So we take the entire training set, perform forward propagation and calculate the cost function. And then we update the parameters using the rate of change of this cost function with respect to the parameters. An epoch is when the entire training set is passed through the model, forward propagation and backward propagation are performed and the parameters are updated. In batch Gradient Descent since we are using the entire training set, the parameters will be updated only once per epoch.</a:t>
            </a:r>
            <a:endParaRPr lang="en-IN" dirty="0"/>
          </a:p>
        </p:txBody>
      </p:sp>
    </p:spTree>
    <p:extLst>
      <p:ext uri="{BB962C8B-B14F-4D97-AF65-F5344CB8AC3E}">
        <p14:creationId xmlns:p14="http://schemas.microsoft.com/office/powerpoint/2010/main" val="7471356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599DA-E0E6-4351-A6AB-5C4FB0530AB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92FBDAD-3FD4-4378-B629-06D3F0A6C687}"/>
              </a:ext>
            </a:extLst>
          </p:cNvPr>
          <p:cNvSpPr>
            <a:spLocks noGrp="1"/>
          </p:cNvSpPr>
          <p:nvPr>
            <p:ph idx="1"/>
          </p:nvPr>
        </p:nvSpPr>
        <p:spPr/>
        <p:txBody>
          <a:bodyPr/>
          <a:lstStyle/>
          <a:p>
            <a:pPr algn="l"/>
            <a:r>
              <a:rPr lang="en-US" b="1" i="0" dirty="0">
                <a:solidFill>
                  <a:srgbClr val="202124"/>
                </a:solidFill>
                <a:effectLst/>
                <a:latin typeface="Google Sans"/>
              </a:rPr>
              <a:t>Disadvantages of Batch Gradient Descent</a:t>
            </a:r>
            <a:endParaRPr lang="en-US" b="0" i="0" dirty="0">
              <a:solidFill>
                <a:srgbClr val="202124"/>
              </a:solidFill>
              <a:effectLst/>
              <a:latin typeface="Google Sans"/>
            </a:endParaRPr>
          </a:p>
          <a:p>
            <a:pPr algn="l">
              <a:buFont typeface="Arial" panose="020B0604020202020204" pitchFamily="34" charset="0"/>
              <a:buChar char="•"/>
            </a:pPr>
            <a:r>
              <a:rPr lang="en-US" b="0" i="0" dirty="0">
                <a:solidFill>
                  <a:srgbClr val="202124"/>
                </a:solidFill>
                <a:effectLst/>
                <a:latin typeface="arial" panose="020B0604020202020204" pitchFamily="34" charset="0"/>
              </a:rPr>
              <a:t>Perform redundant computation for the same training example for large datasets.</a:t>
            </a:r>
          </a:p>
          <a:p>
            <a:pPr algn="l">
              <a:buFont typeface="Arial" panose="020B0604020202020204" pitchFamily="34" charset="0"/>
              <a:buChar char="•"/>
            </a:pPr>
            <a:r>
              <a:rPr lang="en-US" b="0" i="0" dirty="0">
                <a:solidFill>
                  <a:srgbClr val="202124"/>
                </a:solidFill>
                <a:effectLst/>
                <a:latin typeface="arial" panose="020B0604020202020204" pitchFamily="34" charset="0"/>
              </a:rPr>
              <a:t>Can be very slow and intractable as large datasets may not fit in the memory.</a:t>
            </a:r>
          </a:p>
          <a:p>
            <a:pPr algn="l">
              <a:buFont typeface="Arial" panose="020B0604020202020204" pitchFamily="34" charset="0"/>
              <a:buChar char="•"/>
            </a:pPr>
            <a:r>
              <a:rPr lang="en-US" b="0" i="0" dirty="0">
                <a:solidFill>
                  <a:srgbClr val="202124"/>
                </a:solidFill>
                <a:effectLst/>
                <a:latin typeface="arial" panose="020B0604020202020204" pitchFamily="34" charset="0"/>
              </a:rPr>
              <a:t>As we take the entire dataset for computation we can update the weights of the model for the new data.</a:t>
            </a:r>
          </a:p>
          <a:p>
            <a:endParaRPr lang="en-IN" dirty="0"/>
          </a:p>
        </p:txBody>
      </p:sp>
    </p:spTree>
    <p:extLst>
      <p:ext uri="{BB962C8B-B14F-4D97-AF65-F5344CB8AC3E}">
        <p14:creationId xmlns:p14="http://schemas.microsoft.com/office/powerpoint/2010/main" val="2487090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A62EC-B624-40AA-B75A-9B8416C7EF5D}"/>
              </a:ext>
            </a:extLst>
          </p:cNvPr>
          <p:cNvSpPr>
            <a:spLocks noGrp="1"/>
          </p:cNvSpPr>
          <p:nvPr>
            <p:ph type="title"/>
          </p:nvPr>
        </p:nvSpPr>
        <p:spPr/>
        <p:txBody>
          <a:bodyPr/>
          <a:lstStyle/>
          <a:p>
            <a:r>
              <a:rPr lang="en-IN" sz="4000" b="1" i="0" dirty="0">
                <a:solidFill>
                  <a:srgbClr val="333333"/>
                </a:solidFill>
                <a:effectLst/>
                <a:latin typeface="poppins"/>
              </a:rPr>
              <a:t>Stochastic Gradient Descent(SGD)</a:t>
            </a:r>
            <a:br>
              <a:rPr lang="en-IN" b="1" i="0" dirty="0">
                <a:solidFill>
                  <a:srgbClr val="333333"/>
                </a:solidFill>
                <a:effectLst/>
                <a:latin typeface="poppins"/>
              </a:rPr>
            </a:br>
            <a:endParaRPr lang="en-IN" dirty="0"/>
          </a:p>
        </p:txBody>
      </p:sp>
      <p:sp>
        <p:nvSpPr>
          <p:cNvPr id="3" name="Content Placeholder 2">
            <a:extLst>
              <a:ext uri="{FF2B5EF4-FFF2-40B4-BE49-F238E27FC236}">
                <a16:creationId xmlns:a16="http://schemas.microsoft.com/office/drawing/2014/main" id="{EB971111-0F56-4A6B-AB8E-0EDD4E598A59}"/>
              </a:ext>
            </a:extLst>
          </p:cNvPr>
          <p:cNvSpPr>
            <a:spLocks noGrp="1"/>
          </p:cNvSpPr>
          <p:nvPr>
            <p:ph idx="1"/>
          </p:nvPr>
        </p:nvSpPr>
        <p:spPr/>
        <p:txBody>
          <a:bodyPr/>
          <a:lstStyle/>
          <a:p>
            <a:pPr marL="0" indent="0">
              <a:buNone/>
            </a:pPr>
            <a:r>
              <a:rPr lang="en-US" dirty="0"/>
              <a:t>If you use a single observation to calculate the cost function it is known as Stochastic Gradient Descent, commonly abbreviated as SGD. We pass a single observation at a time, calculate the cost and update the parameter</a:t>
            </a:r>
          </a:p>
          <a:p>
            <a:pPr marL="0" indent="0">
              <a:buNone/>
            </a:pPr>
            <a:r>
              <a:rPr lang="en-US" dirty="0"/>
              <a:t>Let’s say we have 5 observations and each observation has three features and the values that I’ve taken are completely random. See in next slide</a:t>
            </a:r>
            <a:endParaRPr lang="en-IN" dirty="0"/>
          </a:p>
        </p:txBody>
      </p:sp>
    </p:spTree>
    <p:extLst>
      <p:ext uri="{BB962C8B-B14F-4D97-AF65-F5344CB8AC3E}">
        <p14:creationId xmlns:p14="http://schemas.microsoft.com/office/powerpoint/2010/main" val="3764316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B8D69-8812-45D2-B78C-4493E612349C}"/>
              </a:ext>
            </a:extLst>
          </p:cNvPr>
          <p:cNvSpPr>
            <a:spLocks noGrp="1"/>
          </p:cNvSpPr>
          <p:nvPr>
            <p:ph type="title"/>
          </p:nvPr>
        </p:nvSpPr>
        <p:spPr/>
        <p:txBody>
          <a:bodyPr/>
          <a:lstStyle/>
          <a:p>
            <a:endParaRPr lang="en-IN"/>
          </a:p>
        </p:txBody>
      </p:sp>
      <p:pic>
        <p:nvPicPr>
          <p:cNvPr id="3074" name="Picture 2" descr="5 observations">
            <a:extLst>
              <a:ext uri="{FF2B5EF4-FFF2-40B4-BE49-F238E27FC236}">
                <a16:creationId xmlns:a16="http://schemas.microsoft.com/office/drawing/2014/main" id="{FA3942C7-2EE3-40CC-AA74-B97F843B0BF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31770" y="104490"/>
            <a:ext cx="2857143" cy="273333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66017A8-6A08-4FD6-8D32-CF4754F21697}"/>
              </a:ext>
            </a:extLst>
          </p:cNvPr>
          <p:cNvSpPr txBox="1"/>
          <p:nvPr/>
        </p:nvSpPr>
        <p:spPr>
          <a:xfrm>
            <a:off x="912174" y="2765059"/>
            <a:ext cx="9816484" cy="646331"/>
          </a:xfrm>
          <a:prstGeom prst="rect">
            <a:avLst/>
          </a:prstGeom>
          <a:noFill/>
        </p:spPr>
        <p:txBody>
          <a:bodyPr wrap="square">
            <a:spAutoFit/>
          </a:bodyPr>
          <a:lstStyle/>
          <a:p>
            <a:r>
              <a:rPr lang="en-US" b="0" i="0" dirty="0">
                <a:solidFill>
                  <a:srgbClr val="595858"/>
                </a:solidFill>
                <a:effectLst/>
                <a:latin typeface="roboto" panose="02000000000000000000" pitchFamily="2" charset="0"/>
              </a:rPr>
              <a:t>Now if we use the SGD, will take the first observation, then pass it through the neural network, calculate the error and then update the parameters.</a:t>
            </a:r>
            <a:endParaRPr lang="en-IN" dirty="0"/>
          </a:p>
        </p:txBody>
      </p:sp>
      <p:pic>
        <p:nvPicPr>
          <p:cNvPr id="3078" name="Picture 6" descr="update the parameters">
            <a:extLst>
              <a:ext uri="{FF2B5EF4-FFF2-40B4-BE49-F238E27FC236}">
                <a16:creationId xmlns:a16="http://schemas.microsoft.com/office/drawing/2014/main" id="{39384627-CE92-486E-A13C-CF4EE1462D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356" y="3566598"/>
            <a:ext cx="6098632" cy="183832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F20FBA5B-402E-4740-B214-18BC4AA5AD8D}"/>
              </a:ext>
            </a:extLst>
          </p:cNvPr>
          <p:cNvSpPr txBox="1"/>
          <p:nvPr/>
        </p:nvSpPr>
        <p:spPr>
          <a:xfrm>
            <a:off x="286668" y="5658306"/>
            <a:ext cx="11067495" cy="646331"/>
          </a:xfrm>
          <a:prstGeom prst="rect">
            <a:avLst/>
          </a:prstGeom>
          <a:noFill/>
        </p:spPr>
        <p:txBody>
          <a:bodyPr wrap="square">
            <a:spAutoFit/>
          </a:bodyPr>
          <a:lstStyle/>
          <a:p>
            <a:r>
              <a:rPr lang="en-US" b="0" i="0" dirty="0">
                <a:solidFill>
                  <a:srgbClr val="595858"/>
                </a:solidFill>
                <a:effectLst/>
                <a:latin typeface="roboto" panose="02000000000000000000" pitchFamily="2" charset="0"/>
              </a:rPr>
              <a:t>Then will take the second observation and perform similar steps with it. This step will be repeated until all observations have been passed through the network and the parameters have been updated.</a:t>
            </a:r>
            <a:endParaRPr lang="en-IN" dirty="0"/>
          </a:p>
        </p:txBody>
      </p:sp>
    </p:spTree>
    <p:extLst>
      <p:ext uri="{BB962C8B-B14F-4D97-AF65-F5344CB8AC3E}">
        <p14:creationId xmlns:p14="http://schemas.microsoft.com/office/powerpoint/2010/main" val="28135927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CDB58-753D-46C7-B1CB-6E5E2AA5987D}"/>
              </a:ext>
            </a:extLst>
          </p:cNvPr>
          <p:cNvSpPr>
            <a:spLocks noGrp="1"/>
          </p:cNvSpPr>
          <p:nvPr>
            <p:ph type="title"/>
          </p:nvPr>
        </p:nvSpPr>
        <p:spPr/>
        <p:txBody>
          <a:bodyPr/>
          <a:lstStyle/>
          <a:p>
            <a:r>
              <a:rPr lang="en-IN" b="1" i="0" dirty="0">
                <a:solidFill>
                  <a:srgbClr val="333333"/>
                </a:solidFill>
                <a:effectLst/>
                <a:latin typeface="poppins"/>
              </a:rPr>
              <a:t>Mini-batch Gradient Descent</a:t>
            </a:r>
            <a:br>
              <a:rPr lang="en-IN" b="1" i="0" dirty="0">
                <a:solidFill>
                  <a:srgbClr val="333333"/>
                </a:solidFill>
                <a:effectLst/>
                <a:latin typeface="poppins"/>
              </a:rPr>
            </a:br>
            <a:endParaRPr lang="en-IN" dirty="0"/>
          </a:p>
        </p:txBody>
      </p:sp>
      <p:sp>
        <p:nvSpPr>
          <p:cNvPr id="3" name="Content Placeholder 2">
            <a:extLst>
              <a:ext uri="{FF2B5EF4-FFF2-40B4-BE49-F238E27FC236}">
                <a16:creationId xmlns:a16="http://schemas.microsoft.com/office/drawing/2014/main" id="{E0D47347-DECF-4F64-A604-1BEA852FA92B}"/>
              </a:ext>
            </a:extLst>
          </p:cNvPr>
          <p:cNvSpPr>
            <a:spLocks noGrp="1"/>
          </p:cNvSpPr>
          <p:nvPr>
            <p:ph idx="1"/>
          </p:nvPr>
        </p:nvSpPr>
        <p:spPr/>
        <p:txBody>
          <a:bodyPr>
            <a:normAutofit/>
          </a:bodyPr>
          <a:lstStyle/>
          <a:p>
            <a:r>
              <a:rPr lang="en-US" sz="2000" b="0" i="0" dirty="0">
                <a:solidFill>
                  <a:srgbClr val="595858"/>
                </a:solidFill>
                <a:effectLst/>
                <a:latin typeface="Times New Roman" panose="02020603050405020304" pitchFamily="18" charset="0"/>
                <a:cs typeface="Times New Roman" panose="02020603050405020304" pitchFamily="18" charset="0"/>
              </a:rPr>
              <a:t>Another type of Gradient Descent is the Mini-batch Gradient Descent. It takes a subset of the entire dataset to calculate the cost function. So if there are ‘m’ observations then the number of observations in each subset or mini-batches will be more than 1 and less than ‘m’.</a:t>
            </a:r>
          </a:p>
          <a:p>
            <a:r>
              <a:rPr lang="en-US" sz="2000" b="0" i="0" dirty="0">
                <a:solidFill>
                  <a:srgbClr val="595858"/>
                </a:solidFill>
                <a:effectLst/>
                <a:latin typeface="Times New Roman" panose="02020603050405020304" pitchFamily="18" charset="0"/>
                <a:cs typeface="Times New Roman" panose="02020603050405020304" pitchFamily="18" charset="0"/>
              </a:rPr>
              <a:t>Again let’s take the same example. Assume that the batch size is 2. So we’ll take the first two observations, pass them through the neural network, calculate the error and then update the parameters.</a:t>
            </a:r>
          </a:p>
          <a:p>
            <a:pPr marL="0" indent="0">
              <a:buNone/>
            </a:pPr>
            <a:endParaRPr lang="en-IN"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D52BAAD-215E-42BD-A629-E52102AE18F7}"/>
              </a:ext>
            </a:extLst>
          </p:cNvPr>
          <p:cNvPicPr>
            <a:picLocks noChangeAspect="1"/>
          </p:cNvPicPr>
          <p:nvPr/>
        </p:nvPicPr>
        <p:blipFill>
          <a:blip r:embed="rId2"/>
          <a:stretch>
            <a:fillRect/>
          </a:stretch>
        </p:blipFill>
        <p:spPr>
          <a:xfrm>
            <a:off x="1513358" y="3429000"/>
            <a:ext cx="7580335" cy="2300868"/>
          </a:xfrm>
          <a:prstGeom prst="rect">
            <a:avLst/>
          </a:prstGeom>
        </p:spPr>
      </p:pic>
      <p:sp>
        <p:nvSpPr>
          <p:cNvPr id="7" name="TextBox 6">
            <a:extLst>
              <a:ext uri="{FF2B5EF4-FFF2-40B4-BE49-F238E27FC236}">
                <a16:creationId xmlns:a16="http://schemas.microsoft.com/office/drawing/2014/main" id="{16E4F4CD-7D68-402D-868D-3D4DC010B30D}"/>
              </a:ext>
            </a:extLst>
          </p:cNvPr>
          <p:cNvSpPr txBox="1"/>
          <p:nvPr/>
        </p:nvSpPr>
        <p:spPr>
          <a:xfrm>
            <a:off x="588144" y="5850235"/>
            <a:ext cx="10515599" cy="646331"/>
          </a:xfrm>
          <a:prstGeom prst="rect">
            <a:avLst/>
          </a:prstGeom>
          <a:noFill/>
        </p:spPr>
        <p:txBody>
          <a:bodyPr wrap="square">
            <a:spAutoFit/>
          </a:bodyPr>
          <a:lstStyle/>
          <a:p>
            <a:r>
              <a:rPr lang="en-US" b="0" i="0" dirty="0">
                <a:solidFill>
                  <a:srgbClr val="595858"/>
                </a:solidFill>
                <a:effectLst/>
                <a:latin typeface="roboto" panose="02000000000000000000" pitchFamily="2" charset="0"/>
              </a:rPr>
              <a:t>Then we will take the next two observations and perform similar steps </a:t>
            </a:r>
            <a:r>
              <a:rPr lang="en-US" b="0" i="0" dirty="0" err="1">
                <a:solidFill>
                  <a:srgbClr val="595858"/>
                </a:solidFill>
                <a:effectLst/>
                <a:latin typeface="roboto" panose="02000000000000000000" pitchFamily="2" charset="0"/>
              </a:rPr>
              <a:t>i.e</a:t>
            </a:r>
            <a:r>
              <a:rPr lang="en-US" b="0" i="0" dirty="0">
                <a:solidFill>
                  <a:srgbClr val="595858"/>
                </a:solidFill>
                <a:effectLst/>
                <a:latin typeface="roboto" panose="02000000000000000000" pitchFamily="2" charset="0"/>
              </a:rPr>
              <a:t> will pass through the network, calculate the error and update the parameters.</a:t>
            </a:r>
            <a:endParaRPr lang="en-IN" dirty="0"/>
          </a:p>
        </p:txBody>
      </p:sp>
    </p:spTree>
    <p:extLst>
      <p:ext uri="{BB962C8B-B14F-4D97-AF65-F5344CB8AC3E}">
        <p14:creationId xmlns:p14="http://schemas.microsoft.com/office/powerpoint/2010/main" val="4877193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2E7BC-E468-4FB4-9AE4-ED78EED4C23E}"/>
              </a:ext>
            </a:extLst>
          </p:cNvPr>
          <p:cNvSpPr>
            <a:spLocks noGrp="1"/>
          </p:cNvSpPr>
          <p:nvPr>
            <p:ph type="title"/>
          </p:nvPr>
        </p:nvSpPr>
        <p:spPr/>
        <p:txBody>
          <a:bodyPr>
            <a:normAutofit fontScale="90000"/>
          </a:bodyPr>
          <a:lstStyle/>
          <a:p>
            <a:br>
              <a:rPr lang="en-US" sz="4000" b="1" dirty="0"/>
            </a:br>
            <a:r>
              <a:rPr lang="en-US" sz="4000" b="1" dirty="0"/>
              <a:t>Momentum based gradient descent</a:t>
            </a:r>
            <a:br>
              <a:rPr lang="en-US" sz="4000" b="1" dirty="0"/>
            </a:br>
            <a:endParaRPr lang="en-IN" sz="4000" b="1" dirty="0"/>
          </a:p>
        </p:txBody>
      </p:sp>
      <p:sp>
        <p:nvSpPr>
          <p:cNvPr id="3" name="Content Placeholder 2">
            <a:extLst>
              <a:ext uri="{FF2B5EF4-FFF2-40B4-BE49-F238E27FC236}">
                <a16:creationId xmlns:a16="http://schemas.microsoft.com/office/drawing/2014/main" id="{540CE5A4-4DCF-4409-B771-796E40A656D6}"/>
              </a:ext>
            </a:extLst>
          </p:cNvPr>
          <p:cNvSpPr>
            <a:spLocks noGrp="1"/>
          </p:cNvSpPr>
          <p:nvPr>
            <p:ph idx="1"/>
          </p:nvPr>
        </p:nvSpPr>
        <p:spPr>
          <a:xfrm>
            <a:off x="838200" y="1394085"/>
            <a:ext cx="10515600" cy="4782878"/>
          </a:xfrm>
        </p:spPr>
        <p:txBody>
          <a:bodyPr>
            <a:normAutofit fontScale="55000" lnSpcReduction="20000"/>
          </a:bodyPr>
          <a:lstStyle/>
          <a:p>
            <a:pPr algn="l">
              <a:lnSpc>
                <a:spcPct val="170000"/>
              </a:lnSpc>
            </a:pPr>
            <a:r>
              <a:rPr lang="en-US" sz="2900" b="0" i="0" dirty="0">
                <a:effectLst/>
                <a:latin typeface="Times New Roman" panose="02020603050405020304" pitchFamily="18" charset="0"/>
                <a:cs typeface="Times New Roman" panose="02020603050405020304" pitchFamily="18" charset="0"/>
              </a:rPr>
              <a:t>What is the problem with all the variant of gradient descent is that it takes lot of time to pass through the gentle </a:t>
            </a:r>
            <a:r>
              <a:rPr lang="en-US" sz="2900" b="0" i="0" dirty="0" err="1">
                <a:effectLst/>
                <a:latin typeface="Times New Roman" panose="02020603050405020304" pitchFamily="18" charset="0"/>
                <a:cs typeface="Times New Roman" panose="02020603050405020304" pitchFamily="18" charset="0"/>
              </a:rPr>
              <a:t>slope.This</a:t>
            </a:r>
            <a:r>
              <a:rPr lang="en-US" sz="2900" b="0" i="0" dirty="0">
                <a:effectLst/>
                <a:latin typeface="Times New Roman" panose="02020603050405020304" pitchFamily="18" charset="0"/>
                <a:cs typeface="Times New Roman" panose="02020603050405020304" pitchFamily="18" charset="0"/>
              </a:rPr>
              <a:t> is because at gentle slope gradient is very small so update becomes slow.</a:t>
            </a:r>
          </a:p>
          <a:p>
            <a:pPr algn="l">
              <a:lnSpc>
                <a:spcPct val="170000"/>
              </a:lnSpc>
            </a:pPr>
            <a:r>
              <a:rPr lang="en-US" sz="2900" b="0" i="0" dirty="0">
                <a:effectLst/>
                <a:latin typeface="Times New Roman" panose="02020603050405020304" pitchFamily="18" charset="0"/>
                <a:cs typeface="Times New Roman" panose="02020603050405020304" pitchFamily="18" charset="0"/>
              </a:rPr>
              <a:t>To solve this problem we will use the idea of momentum incorporated to gradient descent.</a:t>
            </a:r>
          </a:p>
          <a:p>
            <a:pPr algn="l">
              <a:lnSpc>
                <a:spcPct val="170000"/>
              </a:lnSpc>
            </a:pPr>
            <a:r>
              <a:rPr lang="en-US" sz="2900" b="0" i="1" dirty="0">
                <a:effectLst/>
                <a:latin typeface="Times New Roman" panose="02020603050405020304" pitchFamily="18" charset="0"/>
                <a:cs typeface="Times New Roman" panose="02020603050405020304" pitchFamily="18" charset="0"/>
              </a:rPr>
              <a:t>What is momentum?</a:t>
            </a:r>
            <a:endParaRPr lang="en-US" sz="2900" b="0" i="0" dirty="0">
              <a:effectLst/>
              <a:latin typeface="Times New Roman" panose="02020603050405020304" pitchFamily="18" charset="0"/>
              <a:cs typeface="Times New Roman" panose="02020603050405020304" pitchFamily="18" charset="0"/>
            </a:endParaRPr>
          </a:p>
          <a:p>
            <a:pPr algn="l">
              <a:lnSpc>
                <a:spcPct val="170000"/>
              </a:lnSpc>
            </a:pPr>
            <a:r>
              <a:rPr lang="en-US" sz="2900" b="0" i="1" dirty="0">
                <a:effectLst/>
                <a:latin typeface="Times New Roman" panose="02020603050405020304" pitchFamily="18" charset="0"/>
                <a:cs typeface="Times New Roman" panose="02020603050405020304" pitchFamily="18" charset="0"/>
              </a:rPr>
              <a:t>Momentum is like a ball rolling downhill.</a:t>
            </a:r>
            <a:r>
              <a:rPr lang="en-US" sz="2900" b="1" i="1" dirty="0">
                <a:effectLst/>
                <a:latin typeface="Times New Roman" panose="02020603050405020304" pitchFamily="18" charset="0"/>
                <a:cs typeface="Times New Roman" panose="02020603050405020304" pitchFamily="18" charset="0"/>
              </a:rPr>
              <a:t> </a:t>
            </a:r>
            <a:r>
              <a:rPr lang="en-US" sz="2900" b="0" i="0" dirty="0">
                <a:effectLst/>
                <a:latin typeface="Times New Roman" panose="02020603050405020304" pitchFamily="18" charset="0"/>
                <a:cs typeface="Times New Roman" panose="02020603050405020304" pitchFamily="18" charset="0"/>
              </a:rPr>
              <a:t>T</a:t>
            </a:r>
            <a:r>
              <a:rPr lang="en-US" sz="2900" b="0" i="1" dirty="0">
                <a:effectLst/>
                <a:latin typeface="Times New Roman" panose="02020603050405020304" pitchFamily="18" charset="0"/>
                <a:cs typeface="Times New Roman" panose="02020603050405020304" pitchFamily="18" charset="0"/>
              </a:rPr>
              <a:t>he ball will gain momentum as it rolls down the hill.</a:t>
            </a:r>
            <a:endParaRPr lang="en-US" sz="2900" b="0" i="0" dirty="0">
              <a:effectLst/>
              <a:latin typeface="Times New Roman" panose="02020603050405020304" pitchFamily="18" charset="0"/>
              <a:cs typeface="Times New Roman" panose="02020603050405020304" pitchFamily="18" charset="0"/>
            </a:endParaRPr>
          </a:p>
          <a:p>
            <a:pPr algn="l">
              <a:lnSpc>
                <a:spcPct val="170000"/>
              </a:lnSpc>
            </a:pPr>
            <a:r>
              <a:rPr lang="en-US" sz="2900" b="0" i="0" dirty="0">
                <a:effectLst/>
                <a:latin typeface="Times New Roman" panose="02020603050405020304" pitchFamily="18" charset="0"/>
                <a:cs typeface="Times New Roman" panose="02020603050405020304" pitchFamily="18" charset="0"/>
              </a:rPr>
              <a:t>In simple </a:t>
            </a:r>
            <a:r>
              <a:rPr lang="en-US" sz="2900" b="0" i="0" dirty="0" err="1">
                <a:effectLst/>
                <a:latin typeface="Times New Roman" panose="02020603050405020304" pitchFamily="18" charset="0"/>
                <a:cs typeface="Times New Roman" panose="02020603050405020304" pitchFamily="18" charset="0"/>
              </a:rPr>
              <a:t>term,you</a:t>
            </a:r>
            <a:r>
              <a:rPr lang="en-US" sz="2900" b="0" i="0" dirty="0">
                <a:effectLst/>
                <a:latin typeface="Times New Roman" panose="02020603050405020304" pitchFamily="18" charset="0"/>
                <a:cs typeface="Times New Roman" panose="02020603050405020304" pitchFamily="18" charset="0"/>
              </a:rPr>
              <a:t> want to reach to the destination which entirely new for </a:t>
            </a:r>
            <a:r>
              <a:rPr lang="en-US" sz="2900" b="0" i="0" dirty="0" err="1">
                <a:effectLst/>
                <a:latin typeface="Times New Roman" panose="02020603050405020304" pitchFamily="18" charset="0"/>
                <a:cs typeface="Times New Roman" panose="02020603050405020304" pitchFamily="18" charset="0"/>
              </a:rPr>
              <a:t>you.what</a:t>
            </a:r>
            <a:r>
              <a:rPr lang="en-US" sz="2900" b="0" i="0" dirty="0">
                <a:effectLst/>
                <a:latin typeface="Times New Roman" panose="02020603050405020304" pitchFamily="18" charset="0"/>
                <a:cs typeface="Times New Roman" panose="02020603050405020304" pitchFamily="18" charset="0"/>
              </a:rPr>
              <a:t> will you do. </a:t>
            </a:r>
            <a:r>
              <a:rPr lang="en-US" sz="2900" dirty="0">
                <a:latin typeface="Times New Roman" panose="02020603050405020304" pitchFamily="18" charset="0"/>
                <a:cs typeface="Times New Roman" panose="02020603050405020304" pitchFamily="18" charset="0"/>
              </a:rPr>
              <a:t>Y</a:t>
            </a:r>
            <a:r>
              <a:rPr lang="en-US" sz="2900" b="0" i="0" dirty="0">
                <a:effectLst/>
                <a:latin typeface="Times New Roman" panose="02020603050405020304" pitchFamily="18" charset="0"/>
                <a:cs typeface="Times New Roman" panose="02020603050405020304" pitchFamily="18" charset="0"/>
              </a:rPr>
              <a:t>ou will ask direction from the person nearby. That person will direct you in some direction so you move in that direction slowly. After reaching certain distance , again you ask the another person for the direction and that person also point you in the same direction, then you will move in that direction with bit more acceleration. So your acceleration will definitely increase as you gain information for the later person and earlier person are same. This phenomena is called momentum.</a:t>
            </a:r>
          </a:p>
          <a:p>
            <a:endParaRPr lang="en-IN" dirty="0"/>
          </a:p>
        </p:txBody>
      </p:sp>
    </p:spTree>
    <p:extLst>
      <p:ext uri="{BB962C8B-B14F-4D97-AF65-F5344CB8AC3E}">
        <p14:creationId xmlns:p14="http://schemas.microsoft.com/office/powerpoint/2010/main" val="18826207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3FFD0-CD41-5B9C-20BD-EC14DE3FE85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60EF446E-9796-6297-2D5D-98D686A4BF70}"/>
              </a:ext>
            </a:extLst>
          </p:cNvPr>
          <p:cNvPicPr>
            <a:picLocks noGrp="1" noChangeAspect="1"/>
          </p:cNvPicPr>
          <p:nvPr>
            <p:ph idx="1"/>
          </p:nvPr>
        </p:nvPicPr>
        <p:blipFill>
          <a:blip r:embed="rId2"/>
          <a:stretch>
            <a:fillRect/>
          </a:stretch>
        </p:blipFill>
        <p:spPr>
          <a:xfrm>
            <a:off x="2952477" y="2221870"/>
            <a:ext cx="6287045" cy="3558848"/>
          </a:xfrm>
        </p:spPr>
      </p:pic>
    </p:spTree>
    <p:extLst>
      <p:ext uri="{BB962C8B-B14F-4D97-AF65-F5344CB8AC3E}">
        <p14:creationId xmlns:p14="http://schemas.microsoft.com/office/powerpoint/2010/main" val="991729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8F028-D4C8-10E6-E2B3-0659E6AB6AD9}"/>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D7409B59-1620-590D-8CAB-09E713159414}"/>
              </a:ext>
            </a:extLst>
          </p:cNvPr>
          <p:cNvPicPr>
            <a:picLocks noGrp="1" noChangeAspect="1"/>
          </p:cNvPicPr>
          <p:nvPr>
            <p:ph idx="1"/>
          </p:nvPr>
        </p:nvPicPr>
        <p:blipFill>
          <a:blip r:embed="rId2"/>
          <a:stretch>
            <a:fillRect/>
          </a:stretch>
        </p:blipFill>
        <p:spPr>
          <a:xfrm>
            <a:off x="238594" y="1364105"/>
            <a:ext cx="10861092" cy="4850266"/>
          </a:xfrm>
        </p:spPr>
      </p:pic>
    </p:spTree>
    <p:extLst>
      <p:ext uri="{BB962C8B-B14F-4D97-AF65-F5344CB8AC3E}">
        <p14:creationId xmlns:p14="http://schemas.microsoft.com/office/powerpoint/2010/main" val="11820325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D2434-C342-040A-D69B-5387F93140CE}"/>
              </a:ext>
            </a:extLst>
          </p:cNvPr>
          <p:cNvSpPr>
            <a:spLocks noGrp="1"/>
          </p:cNvSpPr>
          <p:nvPr>
            <p:ph type="title"/>
          </p:nvPr>
        </p:nvSpPr>
        <p:spPr/>
        <p:txBody>
          <a:bodyPr/>
          <a:lstStyle/>
          <a:p>
            <a:r>
              <a:rPr lang="en-US" dirty="0"/>
              <a:t>Significance of Gradient Descent with Momentum:</a:t>
            </a:r>
          </a:p>
        </p:txBody>
      </p:sp>
      <p:sp>
        <p:nvSpPr>
          <p:cNvPr id="3" name="Content Placeholder 2">
            <a:extLst>
              <a:ext uri="{FF2B5EF4-FFF2-40B4-BE49-F238E27FC236}">
                <a16:creationId xmlns:a16="http://schemas.microsoft.com/office/drawing/2014/main" id="{7C77DCBC-02CE-B538-E502-C93F06353382}"/>
              </a:ext>
            </a:extLst>
          </p:cNvPr>
          <p:cNvSpPr>
            <a:spLocks noGrp="1"/>
          </p:cNvSpPr>
          <p:nvPr>
            <p:ph idx="1"/>
          </p:nvPr>
        </p:nvSpPr>
        <p:spPr/>
        <p:txBody>
          <a:bodyPr>
            <a:normAutofit/>
          </a:bodyPr>
          <a:lstStyle/>
          <a:p>
            <a:r>
              <a:rPr lang="en-US" dirty="0"/>
              <a:t>Accelerates Convergence</a:t>
            </a:r>
          </a:p>
          <a:p>
            <a:r>
              <a:rPr lang="en-US" dirty="0"/>
              <a:t>Reduces Oscillations</a:t>
            </a:r>
          </a:p>
          <a:p>
            <a:r>
              <a:rPr lang="en-US" dirty="0"/>
              <a:t>Escapes Saddle Points</a:t>
            </a:r>
          </a:p>
          <a:p>
            <a:r>
              <a:rPr lang="en-US" dirty="0"/>
              <a:t>Improved Stability:</a:t>
            </a:r>
          </a:p>
        </p:txBody>
      </p:sp>
    </p:spTree>
    <p:extLst>
      <p:ext uri="{BB962C8B-B14F-4D97-AF65-F5344CB8AC3E}">
        <p14:creationId xmlns:p14="http://schemas.microsoft.com/office/powerpoint/2010/main" val="35764083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B8CB3-55AB-7A8C-B313-64ACC6984C8D}"/>
              </a:ext>
            </a:extLst>
          </p:cNvPr>
          <p:cNvSpPr>
            <a:spLocks noGrp="1"/>
          </p:cNvSpPr>
          <p:nvPr>
            <p:ph type="title"/>
          </p:nvPr>
        </p:nvSpPr>
        <p:spPr/>
        <p:txBody>
          <a:bodyPr/>
          <a:lstStyle/>
          <a:p>
            <a:endParaRPr lang="en-US"/>
          </a:p>
        </p:txBody>
      </p:sp>
      <p:pic>
        <p:nvPicPr>
          <p:cNvPr id="1026" name="Picture 2">
            <a:extLst>
              <a:ext uri="{FF2B5EF4-FFF2-40B4-BE49-F238E27FC236}">
                <a16:creationId xmlns:a16="http://schemas.microsoft.com/office/drawing/2014/main" id="{A7B8DE7E-D8E8-2255-6E8A-853AA288E4E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27965" y="1825625"/>
            <a:ext cx="7336070"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36714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314AF-1FE6-C6FC-6A81-D0A36D3F7C5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30F835A-C6B1-E2DD-64DD-A815468E5CF4}"/>
              </a:ext>
            </a:extLst>
          </p:cNvPr>
          <p:cNvSpPr>
            <a:spLocks noGrp="1"/>
          </p:cNvSpPr>
          <p:nvPr>
            <p:ph idx="1"/>
          </p:nvPr>
        </p:nvSpPr>
        <p:spPr/>
        <p:txBody>
          <a:bodyPr/>
          <a:lstStyle/>
          <a:p>
            <a:r>
              <a:rPr lang="en-US" b="0" i="0" dirty="0">
                <a:solidFill>
                  <a:srgbClr val="242424"/>
                </a:solidFill>
                <a:effectLst/>
                <a:highlight>
                  <a:srgbClr val="FFFFFF"/>
                </a:highlight>
                <a:latin typeface="source-serif-pro"/>
              </a:rPr>
              <a:t>To account for the </a:t>
            </a:r>
            <a:r>
              <a:rPr lang="en-US" b="1" i="0" dirty="0">
                <a:solidFill>
                  <a:srgbClr val="242424"/>
                </a:solidFill>
                <a:effectLst/>
                <a:highlight>
                  <a:srgbClr val="FFFFFF"/>
                </a:highlight>
                <a:latin typeface="source-serif-pro"/>
              </a:rPr>
              <a:t>momentum</a:t>
            </a:r>
            <a:r>
              <a:rPr lang="en-US" b="0" i="0" dirty="0">
                <a:solidFill>
                  <a:srgbClr val="242424"/>
                </a:solidFill>
                <a:effectLst/>
                <a:highlight>
                  <a:srgbClr val="FFFFFF"/>
                </a:highlight>
                <a:latin typeface="source-serif-pro"/>
              </a:rPr>
              <a:t>, we can use a </a:t>
            </a:r>
            <a:r>
              <a:rPr lang="en-US" dirty="0"/>
              <a:t>moving average</a:t>
            </a:r>
            <a:r>
              <a:rPr lang="en-US" b="0" i="0" dirty="0">
                <a:solidFill>
                  <a:srgbClr val="242424"/>
                </a:solidFill>
                <a:effectLst/>
                <a:highlight>
                  <a:srgbClr val="FFFFFF"/>
                </a:highlight>
                <a:latin typeface="source-serif-pro"/>
              </a:rPr>
              <a:t> over the past gradients. In regions where the gradient is high like AB, weight updates will be large. Thus, in a way we are gathering </a:t>
            </a:r>
            <a:r>
              <a:rPr lang="en-US" b="1" i="0" dirty="0">
                <a:solidFill>
                  <a:srgbClr val="242424"/>
                </a:solidFill>
                <a:effectLst/>
                <a:highlight>
                  <a:srgbClr val="FFFFFF"/>
                </a:highlight>
                <a:latin typeface="source-serif-pro"/>
              </a:rPr>
              <a:t>momentum</a:t>
            </a:r>
            <a:r>
              <a:rPr lang="en-US" b="0" i="0" dirty="0">
                <a:solidFill>
                  <a:srgbClr val="242424"/>
                </a:solidFill>
                <a:effectLst/>
                <a:highlight>
                  <a:srgbClr val="FFFFFF"/>
                </a:highlight>
                <a:latin typeface="source-serif-pro"/>
              </a:rPr>
              <a:t> by taking a moving average over these gradients. But there is a problem with this method, it considers all the gradients over iterations with equal weightage. The gradient at t=0 has equal weightage as that of the gradient at current iteration t. We need to use some sort of weighted average of the past gradients such that the recent gradients are given more weightage.</a:t>
            </a:r>
            <a:endParaRPr lang="en-US" dirty="0"/>
          </a:p>
        </p:txBody>
      </p:sp>
    </p:spTree>
    <p:extLst>
      <p:ext uri="{BB962C8B-B14F-4D97-AF65-F5344CB8AC3E}">
        <p14:creationId xmlns:p14="http://schemas.microsoft.com/office/powerpoint/2010/main" val="40251338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001D4-6F49-74E5-5479-46B681695032}"/>
              </a:ext>
            </a:extLst>
          </p:cNvPr>
          <p:cNvSpPr>
            <a:spLocks noGrp="1"/>
          </p:cNvSpPr>
          <p:nvPr>
            <p:ph type="title"/>
          </p:nvPr>
        </p:nvSpPr>
        <p:spPr/>
        <p:txBody>
          <a:bodyPr/>
          <a:lstStyle/>
          <a:p>
            <a:endParaRPr lang="en-US"/>
          </a:p>
        </p:txBody>
      </p:sp>
      <p:pic>
        <p:nvPicPr>
          <p:cNvPr id="3074" name="Picture 2" descr="Mini-batch Gradient Descent Explained ...">
            <a:extLst>
              <a:ext uri="{FF2B5EF4-FFF2-40B4-BE49-F238E27FC236}">
                <a16:creationId xmlns:a16="http://schemas.microsoft.com/office/drawing/2014/main" id="{EDFCCCD0-65EF-BB16-A64B-5E7E68D53D2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11606" y="1804193"/>
            <a:ext cx="6069256" cy="40388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01542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89B83-95F9-DBD7-FFA0-94B8B0830130}"/>
              </a:ext>
            </a:extLst>
          </p:cNvPr>
          <p:cNvSpPr>
            <a:spLocks noGrp="1"/>
          </p:cNvSpPr>
          <p:nvPr>
            <p:ph type="title"/>
          </p:nvPr>
        </p:nvSpPr>
        <p:spPr/>
        <p:txBody>
          <a:bodyPr/>
          <a:lstStyle/>
          <a:p>
            <a:endParaRPr lang="en-US"/>
          </a:p>
        </p:txBody>
      </p:sp>
      <p:pic>
        <p:nvPicPr>
          <p:cNvPr id="2050" name="Picture 2" descr="Variants of Gradient Descent Algorithm | Types of Gradient Descent">
            <a:extLst>
              <a:ext uri="{FF2B5EF4-FFF2-40B4-BE49-F238E27FC236}">
                <a16:creationId xmlns:a16="http://schemas.microsoft.com/office/drawing/2014/main" id="{198807E5-2E00-EB89-FBBE-B6F44B4590F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015185"/>
            <a:ext cx="10515600" cy="39722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42753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10185</TotalTime>
  <Words>1261</Words>
  <Application>Microsoft Office PowerPoint</Application>
  <PresentationFormat>Widescreen</PresentationFormat>
  <Paragraphs>51</Paragraphs>
  <Slides>22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Arial</vt:lpstr>
      <vt:lpstr>Arial</vt:lpstr>
      <vt:lpstr>Calibri</vt:lpstr>
      <vt:lpstr>Calibri Light</vt:lpstr>
      <vt:lpstr>Google Sans</vt:lpstr>
      <vt:lpstr>poppins</vt:lpstr>
      <vt:lpstr>roboto</vt:lpstr>
      <vt:lpstr>source-serif-pro</vt:lpstr>
      <vt:lpstr>Times New Roman</vt:lpstr>
      <vt:lpstr>Office Theme</vt:lpstr>
      <vt:lpstr>Convergence, local minima, global minima </vt:lpstr>
      <vt:lpstr>PowerPoint Presentation</vt:lpstr>
      <vt:lpstr>Global and local minima</vt:lpstr>
      <vt:lpstr>This is global minima</vt:lpstr>
      <vt:lpstr>PowerPoint Presentation</vt:lpstr>
      <vt:lpstr>PowerPoint Presentation</vt:lpstr>
      <vt:lpstr>Convergence and Local Minima </vt:lpstr>
      <vt:lpstr>Common heuristic methods to reduce the problem of local minima are:</vt:lpstr>
      <vt:lpstr>Variants of gradient decent or optimization techniques</vt:lpstr>
      <vt:lpstr>Batch Gradient Descent </vt:lpstr>
      <vt:lpstr>PowerPoint Presentation</vt:lpstr>
      <vt:lpstr>Stochastic Gradient Descent(SGD) </vt:lpstr>
      <vt:lpstr>PowerPoint Presentation</vt:lpstr>
      <vt:lpstr>Mini-batch Gradient Descent </vt:lpstr>
      <vt:lpstr> Momentum based gradient descent </vt:lpstr>
      <vt:lpstr>PowerPoint Presentation</vt:lpstr>
      <vt:lpstr>PowerPoint Presentation</vt:lpstr>
      <vt:lpstr>Significance of Gradient Descent with Momentum:</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Convergence and local minima</dc:title>
  <dc:creator>kriti ohri</dc:creator>
  <cp:lastModifiedBy>Kriti Ohri</cp:lastModifiedBy>
  <cp:revision>4</cp:revision>
  <dcterms:created xsi:type="dcterms:W3CDTF">2021-07-27T05:24:16Z</dcterms:created>
  <dcterms:modified xsi:type="dcterms:W3CDTF">2024-11-21T04:55:57Z</dcterms:modified>
</cp:coreProperties>
</file>