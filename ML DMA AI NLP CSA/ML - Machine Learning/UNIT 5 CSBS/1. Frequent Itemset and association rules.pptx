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67" r:id="rId5"/>
    <p:sldId id="276" r:id="rId6"/>
    <p:sldId id="277" r:id="rId7"/>
    <p:sldId id="278" r:id="rId8"/>
    <p:sldId id="279" r:id="rId9"/>
    <p:sldId id="273" r:id="rId10"/>
    <p:sldId id="266" r:id="rId11"/>
    <p:sldId id="282" r:id="rId12"/>
    <p:sldId id="263" r:id="rId13"/>
    <p:sldId id="285" r:id="rId14"/>
    <p:sldId id="286" r:id="rId15"/>
    <p:sldId id="287" r:id="rId16"/>
    <p:sldId id="324" r:id="rId17"/>
    <p:sldId id="264" r:id="rId18"/>
    <p:sldId id="265" r:id="rId19"/>
    <p:sldId id="288" r:id="rId20"/>
    <p:sldId id="289" r:id="rId21"/>
    <p:sldId id="290" r:id="rId22"/>
    <p:sldId id="291" r:id="rId23"/>
    <p:sldId id="269" r:id="rId24"/>
    <p:sldId id="270" r:id="rId25"/>
    <p:sldId id="271" r:id="rId26"/>
    <p:sldId id="258" r:id="rId27"/>
    <p:sldId id="259" r:id="rId28"/>
    <p:sldId id="260" r:id="rId29"/>
    <p:sldId id="272" r:id="rId30"/>
    <p:sldId id="296" r:id="rId31"/>
    <p:sldId id="297" r:id="rId32"/>
    <p:sldId id="323" r:id="rId33"/>
    <p:sldId id="29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0" autoAdjust="0"/>
    <p:restoredTop sz="94660"/>
  </p:normalViewPr>
  <p:slideViewPr>
    <p:cSldViewPr>
      <p:cViewPr varScale="1">
        <p:scale>
          <a:sx n="95" d="100"/>
          <a:sy n="95" d="100"/>
        </p:scale>
        <p:origin x="88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E42C06C8-0967-45D2-9C1B-0BC87F64333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035CC9B-360E-49D1-80F7-260B0FA53AEF}">
      <dgm:prSet/>
      <dgm:spPr/>
      <dgm:t>
        <a:bodyPr/>
        <a:lstStyle/>
        <a:p>
          <a:r>
            <a:rPr lang="en-IN"/>
            <a:t>The total set of items available in set then each item can be represented by a Boolean variable, representing whether or not the item is present within a given “basket.” </a:t>
          </a:r>
          <a:endParaRPr lang="en-US"/>
        </a:p>
      </dgm:t>
    </dgm:pt>
    <dgm:pt modelId="{947A3D56-E6C8-4DC0-8145-CF5B25335988}" type="parTrans" cxnId="{9BF903AA-4F56-475E-8EBD-6255FC1861EF}">
      <dgm:prSet/>
      <dgm:spPr/>
      <dgm:t>
        <a:bodyPr/>
        <a:lstStyle/>
        <a:p>
          <a:endParaRPr lang="en-US"/>
        </a:p>
      </dgm:t>
    </dgm:pt>
    <dgm:pt modelId="{D8E04E31-E297-47B7-AE05-64EB55AE39A0}" type="sibTrans" cxnId="{9BF903AA-4F56-475E-8EBD-6255FC1861EF}">
      <dgm:prSet/>
      <dgm:spPr/>
      <dgm:t>
        <a:bodyPr/>
        <a:lstStyle/>
        <a:p>
          <a:endParaRPr lang="en-US"/>
        </a:p>
      </dgm:t>
    </dgm:pt>
    <dgm:pt modelId="{B81E726C-C464-49BE-B9BF-E8F5CCC0431C}">
      <dgm:prSet/>
      <dgm:spPr/>
      <dgm:t>
        <a:bodyPr/>
        <a:lstStyle/>
        <a:p>
          <a:r>
            <a:rPr lang="en-IN"/>
            <a:t>Each basket is then simply a Boolean vector, possibly quite lengthy dependent on the number of available items. </a:t>
          </a:r>
          <a:endParaRPr lang="en-US"/>
        </a:p>
      </dgm:t>
    </dgm:pt>
    <dgm:pt modelId="{2DD0D173-C38A-4FF1-898F-1F47436BFBCE}" type="parTrans" cxnId="{912F91B0-D264-4979-8513-CCCF70BBBD17}">
      <dgm:prSet/>
      <dgm:spPr/>
      <dgm:t>
        <a:bodyPr/>
        <a:lstStyle/>
        <a:p>
          <a:endParaRPr lang="en-US"/>
        </a:p>
      </dgm:t>
    </dgm:pt>
    <dgm:pt modelId="{8437A5EB-E917-43B6-9CCA-6EBE00BE3C90}" type="sibTrans" cxnId="{912F91B0-D264-4979-8513-CCCF70BBBD17}">
      <dgm:prSet/>
      <dgm:spPr/>
      <dgm:t>
        <a:bodyPr/>
        <a:lstStyle/>
        <a:p>
          <a:endParaRPr lang="en-US"/>
        </a:p>
      </dgm:t>
    </dgm:pt>
    <dgm:pt modelId="{1F1251CA-DCD3-4708-96FE-694D4B1D1937}">
      <dgm:prSet/>
      <dgm:spPr/>
      <dgm:t>
        <a:bodyPr/>
        <a:lstStyle/>
        <a:p>
          <a:r>
            <a:rPr lang="en-IN"/>
            <a:t>A dataset would then be the resulting matrix of all possible basket vectors.</a:t>
          </a:r>
          <a:endParaRPr lang="en-US"/>
        </a:p>
      </dgm:t>
    </dgm:pt>
    <dgm:pt modelId="{364F800E-9F20-4731-A4A1-84A3F553A146}" type="parTrans" cxnId="{B711685D-6B3A-45AA-87BE-CACEBBBDD77D}">
      <dgm:prSet/>
      <dgm:spPr/>
      <dgm:t>
        <a:bodyPr/>
        <a:lstStyle/>
        <a:p>
          <a:endParaRPr lang="en-US"/>
        </a:p>
      </dgm:t>
    </dgm:pt>
    <dgm:pt modelId="{53560934-F8A1-44F1-9218-FD3FF45AF62E}" type="sibTrans" cxnId="{B711685D-6B3A-45AA-87BE-CACEBBBDD77D}">
      <dgm:prSet/>
      <dgm:spPr/>
      <dgm:t>
        <a:bodyPr/>
        <a:lstStyle/>
        <a:p>
          <a:endParaRPr lang="en-US"/>
        </a:p>
      </dgm:t>
    </dgm:pt>
    <dgm:pt modelId="{917C31E5-9A1B-41B0-929A-F0DE9657196E}" type="pres">
      <dgm:prSet presAssocID="{E42C06C8-0967-45D2-9C1B-0BC87F643334}" presName="root" presStyleCnt="0">
        <dgm:presLayoutVars>
          <dgm:dir/>
          <dgm:resizeHandles val="exact"/>
        </dgm:presLayoutVars>
      </dgm:prSet>
      <dgm:spPr/>
    </dgm:pt>
    <dgm:pt modelId="{3E9B6D4E-10BA-44A6-BBF6-2BBD0E02078A}" type="pres">
      <dgm:prSet presAssocID="{4035CC9B-360E-49D1-80F7-260B0FA53AEF}" presName="compNode" presStyleCnt="0"/>
      <dgm:spPr/>
    </dgm:pt>
    <dgm:pt modelId="{EDBC689C-53BF-4705-9BC8-D51EA2F8A09E}" type="pres">
      <dgm:prSet presAssocID="{4035CC9B-360E-49D1-80F7-260B0FA53AEF}" presName="bgRect" presStyleLbl="bgShp" presStyleIdx="0" presStyleCnt="3"/>
      <dgm:spPr/>
    </dgm:pt>
    <dgm:pt modelId="{753AD732-7439-46DC-8BC2-132E9EE8BF5C}" type="pres">
      <dgm:prSet presAssocID="{4035CC9B-360E-49D1-80F7-260B0FA53A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1B3A10D7-40D9-4480-B81F-6D9E0CF4C864}" type="pres">
      <dgm:prSet presAssocID="{4035CC9B-360E-49D1-80F7-260B0FA53AEF}" presName="spaceRect" presStyleCnt="0"/>
      <dgm:spPr/>
    </dgm:pt>
    <dgm:pt modelId="{06C2DF5D-ACED-4672-8F95-4E58AA3C9A27}" type="pres">
      <dgm:prSet presAssocID="{4035CC9B-360E-49D1-80F7-260B0FA53AEF}" presName="parTx" presStyleLbl="revTx" presStyleIdx="0" presStyleCnt="3">
        <dgm:presLayoutVars>
          <dgm:chMax val="0"/>
          <dgm:chPref val="0"/>
        </dgm:presLayoutVars>
      </dgm:prSet>
      <dgm:spPr/>
    </dgm:pt>
    <dgm:pt modelId="{28340593-C034-4977-AAB6-F0C037C47C36}" type="pres">
      <dgm:prSet presAssocID="{D8E04E31-E297-47B7-AE05-64EB55AE39A0}" presName="sibTrans" presStyleCnt="0"/>
      <dgm:spPr/>
    </dgm:pt>
    <dgm:pt modelId="{E954BB54-6346-4368-B643-1E5C02D11DB4}" type="pres">
      <dgm:prSet presAssocID="{B81E726C-C464-49BE-B9BF-E8F5CCC0431C}" presName="compNode" presStyleCnt="0"/>
      <dgm:spPr/>
    </dgm:pt>
    <dgm:pt modelId="{46221309-846D-4573-8DA9-4CA7A84BAAF4}" type="pres">
      <dgm:prSet presAssocID="{B81E726C-C464-49BE-B9BF-E8F5CCC0431C}" presName="bgRect" presStyleLbl="bgShp" presStyleIdx="1" presStyleCnt="3"/>
      <dgm:spPr/>
    </dgm:pt>
    <dgm:pt modelId="{DFA3B554-FEAE-41D9-9D1A-E6EDD7A2B2F1}" type="pres">
      <dgm:prSet presAssocID="{B81E726C-C464-49BE-B9BF-E8F5CCC043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ze"/>
        </a:ext>
      </dgm:extLst>
    </dgm:pt>
    <dgm:pt modelId="{473EF59A-57B9-4FE5-BC9F-BAF862590E19}" type="pres">
      <dgm:prSet presAssocID="{B81E726C-C464-49BE-B9BF-E8F5CCC0431C}" presName="spaceRect" presStyleCnt="0"/>
      <dgm:spPr/>
    </dgm:pt>
    <dgm:pt modelId="{3677D4D2-52D1-40C5-ADF9-8AE3638C51AA}" type="pres">
      <dgm:prSet presAssocID="{B81E726C-C464-49BE-B9BF-E8F5CCC0431C}" presName="parTx" presStyleLbl="revTx" presStyleIdx="1" presStyleCnt="3">
        <dgm:presLayoutVars>
          <dgm:chMax val="0"/>
          <dgm:chPref val="0"/>
        </dgm:presLayoutVars>
      </dgm:prSet>
      <dgm:spPr/>
    </dgm:pt>
    <dgm:pt modelId="{A63D7963-61E4-41EE-A9B8-D4AB2DD0E1B2}" type="pres">
      <dgm:prSet presAssocID="{8437A5EB-E917-43B6-9CCA-6EBE00BE3C90}" presName="sibTrans" presStyleCnt="0"/>
      <dgm:spPr/>
    </dgm:pt>
    <dgm:pt modelId="{6711F0A7-8A24-42ED-AA85-7D78F07AC616}" type="pres">
      <dgm:prSet presAssocID="{1F1251CA-DCD3-4708-96FE-694D4B1D1937}" presName="compNode" presStyleCnt="0"/>
      <dgm:spPr/>
    </dgm:pt>
    <dgm:pt modelId="{AD2A42A8-DD97-4424-A047-AC6BDFACC131}" type="pres">
      <dgm:prSet presAssocID="{1F1251CA-DCD3-4708-96FE-694D4B1D1937}" presName="bgRect" presStyleLbl="bgShp" presStyleIdx="2" presStyleCnt="3"/>
      <dgm:spPr/>
    </dgm:pt>
    <dgm:pt modelId="{83E81B1E-CB76-4D17-8E6B-E65E9AE32A2B}" type="pres">
      <dgm:prSet presAssocID="{1F1251CA-DCD3-4708-96FE-694D4B1D193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87E905FE-4F8C-4A54-BDF5-9536BAC79655}" type="pres">
      <dgm:prSet presAssocID="{1F1251CA-DCD3-4708-96FE-694D4B1D1937}" presName="spaceRect" presStyleCnt="0"/>
      <dgm:spPr/>
    </dgm:pt>
    <dgm:pt modelId="{052459F3-1FB2-4A4A-8A28-1D80A16588BD}" type="pres">
      <dgm:prSet presAssocID="{1F1251CA-DCD3-4708-96FE-694D4B1D1937}" presName="parTx" presStyleLbl="revTx" presStyleIdx="2" presStyleCnt="3">
        <dgm:presLayoutVars>
          <dgm:chMax val="0"/>
          <dgm:chPref val="0"/>
        </dgm:presLayoutVars>
      </dgm:prSet>
      <dgm:spPr/>
    </dgm:pt>
  </dgm:ptLst>
  <dgm:cxnLst>
    <dgm:cxn modelId="{91210D01-3279-4A0F-BA56-9D5ACBCA7A27}" type="presOf" srcId="{E42C06C8-0967-45D2-9C1B-0BC87F643334}" destId="{917C31E5-9A1B-41B0-929A-F0DE9657196E}" srcOrd="0" destOrd="0" presId="urn:microsoft.com/office/officeart/2018/2/layout/IconVerticalSolidList"/>
    <dgm:cxn modelId="{17358213-7992-4183-A887-3660B2BC83F9}" type="presOf" srcId="{1F1251CA-DCD3-4708-96FE-694D4B1D1937}" destId="{052459F3-1FB2-4A4A-8A28-1D80A16588BD}" srcOrd="0" destOrd="0" presId="urn:microsoft.com/office/officeart/2018/2/layout/IconVerticalSolidList"/>
    <dgm:cxn modelId="{B711685D-6B3A-45AA-87BE-CACEBBBDD77D}" srcId="{E42C06C8-0967-45D2-9C1B-0BC87F643334}" destId="{1F1251CA-DCD3-4708-96FE-694D4B1D1937}" srcOrd="2" destOrd="0" parTransId="{364F800E-9F20-4731-A4A1-84A3F553A146}" sibTransId="{53560934-F8A1-44F1-9218-FD3FF45AF62E}"/>
    <dgm:cxn modelId="{C9EDC55A-5405-4086-9BE9-FCCDD56F5714}" type="presOf" srcId="{4035CC9B-360E-49D1-80F7-260B0FA53AEF}" destId="{06C2DF5D-ACED-4672-8F95-4E58AA3C9A27}" srcOrd="0" destOrd="0" presId="urn:microsoft.com/office/officeart/2018/2/layout/IconVerticalSolidList"/>
    <dgm:cxn modelId="{9BF903AA-4F56-475E-8EBD-6255FC1861EF}" srcId="{E42C06C8-0967-45D2-9C1B-0BC87F643334}" destId="{4035CC9B-360E-49D1-80F7-260B0FA53AEF}" srcOrd="0" destOrd="0" parTransId="{947A3D56-E6C8-4DC0-8145-CF5B25335988}" sibTransId="{D8E04E31-E297-47B7-AE05-64EB55AE39A0}"/>
    <dgm:cxn modelId="{912F91B0-D264-4979-8513-CCCF70BBBD17}" srcId="{E42C06C8-0967-45D2-9C1B-0BC87F643334}" destId="{B81E726C-C464-49BE-B9BF-E8F5CCC0431C}" srcOrd="1" destOrd="0" parTransId="{2DD0D173-C38A-4FF1-898F-1F47436BFBCE}" sibTransId="{8437A5EB-E917-43B6-9CCA-6EBE00BE3C90}"/>
    <dgm:cxn modelId="{C926FBDC-B521-4DB6-8BAC-AB759581C82A}" type="presOf" srcId="{B81E726C-C464-49BE-B9BF-E8F5CCC0431C}" destId="{3677D4D2-52D1-40C5-ADF9-8AE3638C51AA}" srcOrd="0" destOrd="0" presId="urn:microsoft.com/office/officeart/2018/2/layout/IconVerticalSolidList"/>
    <dgm:cxn modelId="{A35DDF4B-E176-4CBE-A551-402A03C0CDEF}" type="presParOf" srcId="{917C31E5-9A1B-41B0-929A-F0DE9657196E}" destId="{3E9B6D4E-10BA-44A6-BBF6-2BBD0E02078A}" srcOrd="0" destOrd="0" presId="urn:microsoft.com/office/officeart/2018/2/layout/IconVerticalSolidList"/>
    <dgm:cxn modelId="{412B71E6-843A-4025-8075-8956D7DD5780}" type="presParOf" srcId="{3E9B6D4E-10BA-44A6-BBF6-2BBD0E02078A}" destId="{EDBC689C-53BF-4705-9BC8-D51EA2F8A09E}" srcOrd="0" destOrd="0" presId="urn:microsoft.com/office/officeart/2018/2/layout/IconVerticalSolidList"/>
    <dgm:cxn modelId="{35192817-900F-4456-91BA-5201827E50A4}" type="presParOf" srcId="{3E9B6D4E-10BA-44A6-BBF6-2BBD0E02078A}" destId="{753AD732-7439-46DC-8BC2-132E9EE8BF5C}" srcOrd="1" destOrd="0" presId="urn:microsoft.com/office/officeart/2018/2/layout/IconVerticalSolidList"/>
    <dgm:cxn modelId="{A296368A-D839-4E83-A106-4B9E48DF7613}" type="presParOf" srcId="{3E9B6D4E-10BA-44A6-BBF6-2BBD0E02078A}" destId="{1B3A10D7-40D9-4480-B81F-6D9E0CF4C864}" srcOrd="2" destOrd="0" presId="urn:microsoft.com/office/officeart/2018/2/layout/IconVerticalSolidList"/>
    <dgm:cxn modelId="{12921927-98FC-416B-B417-7145EE71DB7C}" type="presParOf" srcId="{3E9B6D4E-10BA-44A6-BBF6-2BBD0E02078A}" destId="{06C2DF5D-ACED-4672-8F95-4E58AA3C9A27}" srcOrd="3" destOrd="0" presId="urn:microsoft.com/office/officeart/2018/2/layout/IconVerticalSolidList"/>
    <dgm:cxn modelId="{2EE510AC-5850-48FD-80FE-9D6E4BF7CF8F}" type="presParOf" srcId="{917C31E5-9A1B-41B0-929A-F0DE9657196E}" destId="{28340593-C034-4977-AAB6-F0C037C47C36}" srcOrd="1" destOrd="0" presId="urn:microsoft.com/office/officeart/2018/2/layout/IconVerticalSolidList"/>
    <dgm:cxn modelId="{D8F93BA3-0A9F-404D-A5F9-493E0341446A}" type="presParOf" srcId="{917C31E5-9A1B-41B0-929A-F0DE9657196E}" destId="{E954BB54-6346-4368-B643-1E5C02D11DB4}" srcOrd="2" destOrd="0" presId="urn:microsoft.com/office/officeart/2018/2/layout/IconVerticalSolidList"/>
    <dgm:cxn modelId="{BFA5D2C7-8411-4935-B045-CD95832294CE}" type="presParOf" srcId="{E954BB54-6346-4368-B643-1E5C02D11DB4}" destId="{46221309-846D-4573-8DA9-4CA7A84BAAF4}" srcOrd="0" destOrd="0" presId="urn:microsoft.com/office/officeart/2018/2/layout/IconVerticalSolidList"/>
    <dgm:cxn modelId="{E4D3E7BA-AB06-4E16-BE00-2F8558E48E1A}" type="presParOf" srcId="{E954BB54-6346-4368-B643-1E5C02D11DB4}" destId="{DFA3B554-FEAE-41D9-9D1A-E6EDD7A2B2F1}" srcOrd="1" destOrd="0" presId="urn:microsoft.com/office/officeart/2018/2/layout/IconVerticalSolidList"/>
    <dgm:cxn modelId="{35FAF69A-C72F-47BC-9B60-09CCEC418960}" type="presParOf" srcId="{E954BB54-6346-4368-B643-1E5C02D11DB4}" destId="{473EF59A-57B9-4FE5-BC9F-BAF862590E19}" srcOrd="2" destOrd="0" presId="urn:microsoft.com/office/officeart/2018/2/layout/IconVerticalSolidList"/>
    <dgm:cxn modelId="{B166FA00-EF91-4715-8B14-85A7D2BBEC15}" type="presParOf" srcId="{E954BB54-6346-4368-B643-1E5C02D11DB4}" destId="{3677D4D2-52D1-40C5-ADF9-8AE3638C51AA}" srcOrd="3" destOrd="0" presId="urn:microsoft.com/office/officeart/2018/2/layout/IconVerticalSolidList"/>
    <dgm:cxn modelId="{327838AA-BFBB-43D2-AD8F-13F6870956BE}" type="presParOf" srcId="{917C31E5-9A1B-41B0-929A-F0DE9657196E}" destId="{A63D7963-61E4-41EE-A9B8-D4AB2DD0E1B2}" srcOrd="3" destOrd="0" presId="urn:microsoft.com/office/officeart/2018/2/layout/IconVerticalSolidList"/>
    <dgm:cxn modelId="{2DD07A63-D8D1-4118-A1CB-785DEAEC8E90}" type="presParOf" srcId="{917C31E5-9A1B-41B0-929A-F0DE9657196E}" destId="{6711F0A7-8A24-42ED-AA85-7D78F07AC616}" srcOrd="4" destOrd="0" presId="urn:microsoft.com/office/officeart/2018/2/layout/IconVerticalSolidList"/>
    <dgm:cxn modelId="{959B9CA3-8992-4C1A-8631-FFD084F913D8}" type="presParOf" srcId="{6711F0A7-8A24-42ED-AA85-7D78F07AC616}" destId="{AD2A42A8-DD97-4424-A047-AC6BDFACC131}" srcOrd="0" destOrd="0" presId="urn:microsoft.com/office/officeart/2018/2/layout/IconVerticalSolidList"/>
    <dgm:cxn modelId="{B165E5E4-E2C5-40A0-BD86-8F7DF94ABD70}" type="presParOf" srcId="{6711F0A7-8A24-42ED-AA85-7D78F07AC616}" destId="{83E81B1E-CB76-4D17-8E6B-E65E9AE32A2B}" srcOrd="1" destOrd="0" presId="urn:microsoft.com/office/officeart/2018/2/layout/IconVerticalSolidList"/>
    <dgm:cxn modelId="{2C45C460-9725-4C35-8055-74C30C95C375}" type="presParOf" srcId="{6711F0A7-8A24-42ED-AA85-7D78F07AC616}" destId="{87E905FE-4F8C-4A54-BDF5-9536BAC79655}" srcOrd="2" destOrd="0" presId="urn:microsoft.com/office/officeart/2018/2/layout/IconVerticalSolidList"/>
    <dgm:cxn modelId="{469114E3-64AE-4756-A7DF-2298CDA6C135}" type="presParOf" srcId="{6711F0A7-8A24-42ED-AA85-7D78F07AC616}" destId="{052459F3-1FB2-4A4A-8A28-1D80A16588B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C689C-53BF-4705-9BC8-D51EA2F8A09E}">
      <dsp:nvSpPr>
        <dsp:cNvPr id="0" name=""/>
        <dsp:cNvSpPr/>
      </dsp:nvSpPr>
      <dsp:spPr>
        <a:xfrm>
          <a:off x="0" y="553"/>
          <a:ext cx="7879842" cy="12955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3AD732-7439-46DC-8BC2-132E9EE8BF5C}">
      <dsp:nvSpPr>
        <dsp:cNvPr id="0" name=""/>
        <dsp:cNvSpPr/>
      </dsp:nvSpPr>
      <dsp:spPr>
        <a:xfrm>
          <a:off x="391894" y="292045"/>
          <a:ext cx="712535" cy="7125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714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C2DF5D-ACED-4672-8F95-4E58AA3C9A27}">
      <dsp:nvSpPr>
        <dsp:cNvPr id="0" name=""/>
        <dsp:cNvSpPr/>
      </dsp:nvSpPr>
      <dsp:spPr>
        <a:xfrm>
          <a:off x="1496324" y="553"/>
          <a:ext cx="6383517" cy="1295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09" tIns="137109" rIns="137109" bIns="137109" numCol="1" spcCol="1270" anchor="ctr" anchorCtr="0">
          <a:noAutofit/>
        </a:bodyPr>
        <a:lstStyle/>
        <a:p>
          <a:pPr marL="0" lvl="0" indent="0" algn="l" defTabSz="844550">
            <a:lnSpc>
              <a:spcPct val="90000"/>
            </a:lnSpc>
            <a:spcBef>
              <a:spcPct val="0"/>
            </a:spcBef>
            <a:spcAft>
              <a:spcPct val="35000"/>
            </a:spcAft>
            <a:buNone/>
          </a:pPr>
          <a:r>
            <a:rPr lang="en-IN" sz="1900" kern="1200"/>
            <a:t>The total set of items available in set then each item can be represented by a Boolean variable, representing whether or not the item is present within a given “basket.” </a:t>
          </a:r>
          <a:endParaRPr lang="en-US" sz="1900" kern="1200"/>
        </a:p>
      </dsp:txBody>
      <dsp:txXfrm>
        <a:off x="1496324" y="553"/>
        <a:ext cx="6383517" cy="1295519"/>
      </dsp:txXfrm>
    </dsp:sp>
    <dsp:sp modelId="{46221309-846D-4573-8DA9-4CA7A84BAAF4}">
      <dsp:nvSpPr>
        <dsp:cNvPr id="0" name=""/>
        <dsp:cNvSpPr/>
      </dsp:nvSpPr>
      <dsp:spPr>
        <a:xfrm>
          <a:off x="0" y="1619952"/>
          <a:ext cx="7879842" cy="12955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A3B554-FEAE-41D9-9D1A-E6EDD7A2B2F1}">
      <dsp:nvSpPr>
        <dsp:cNvPr id="0" name=""/>
        <dsp:cNvSpPr/>
      </dsp:nvSpPr>
      <dsp:spPr>
        <a:xfrm>
          <a:off x="391894" y="1911444"/>
          <a:ext cx="712535" cy="7125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714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77D4D2-52D1-40C5-ADF9-8AE3638C51AA}">
      <dsp:nvSpPr>
        <dsp:cNvPr id="0" name=""/>
        <dsp:cNvSpPr/>
      </dsp:nvSpPr>
      <dsp:spPr>
        <a:xfrm>
          <a:off x="1496324" y="1619952"/>
          <a:ext cx="6383517" cy="1295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09" tIns="137109" rIns="137109" bIns="137109" numCol="1" spcCol="1270" anchor="ctr" anchorCtr="0">
          <a:noAutofit/>
        </a:bodyPr>
        <a:lstStyle/>
        <a:p>
          <a:pPr marL="0" lvl="0" indent="0" algn="l" defTabSz="844550">
            <a:lnSpc>
              <a:spcPct val="90000"/>
            </a:lnSpc>
            <a:spcBef>
              <a:spcPct val="0"/>
            </a:spcBef>
            <a:spcAft>
              <a:spcPct val="35000"/>
            </a:spcAft>
            <a:buNone/>
          </a:pPr>
          <a:r>
            <a:rPr lang="en-IN" sz="1900" kern="1200"/>
            <a:t>Each basket is then simply a Boolean vector, possibly quite lengthy dependent on the number of available items. </a:t>
          </a:r>
          <a:endParaRPr lang="en-US" sz="1900" kern="1200"/>
        </a:p>
      </dsp:txBody>
      <dsp:txXfrm>
        <a:off x="1496324" y="1619952"/>
        <a:ext cx="6383517" cy="1295519"/>
      </dsp:txXfrm>
    </dsp:sp>
    <dsp:sp modelId="{AD2A42A8-DD97-4424-A047-AC6BDFACC131}">
      <dsp:nvSpPr>
        <dsp:cNvPr id="0" name=""/>
        <dsp:cNvSpPr/>
      </dsp:nvSpPr>
      <dsp:spPr>
        <a:xfrm>
          <a:off x="0" y="3239351"/>
          <a:ext cx="7879842" cy="12955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E81B1E-CB76-4D17-8E6B-E65E9AE32A2B}">
      <dsp:nvSpPr>
        <dsp:cNvPr id="0" name=""/>
        <dsp:cNvSpPr/>
      </dsp:nvSpPr>
      <dsp:spPr>
        <a:xfrm>
          <a:off x="391894" y="3530843"/>
          <a:ext cx="712535" cy="7125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714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2459F3-1FB2-4A4A-8A28-1D80A16588BD}">
      <dsp:nvSpPr>
        <dsp:cNvPr id="0" name=""/>
        <dsp:cNvSpPr/>
      </dsp:nvSpPr>
      <dsp:spPr>
        <a:xfrm>
          <a:off x="1496324" y="3239351"/>
          <a:ext cx="6383517" cy="1295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09" tIns="137109" rIns="137109" bIns="137109" numCol="1" spcCol="1270" anchor="ctr" anchorCtr="0">
          <a:noAutofit/>
        </a:bodyPr>
        <a:lstStyle/>
        <a:p>
          <a:pPr marL="0" lvl="0" indent="0" algn="l" defTabSz="844550">
            <a:lnSpc>
              <a:spcPct val="90000"/>
            </a:lnSpc>
            <a:spcBef>
              <a:spcPct val="0"/>
            </a:spcBef>
            <a:spcAft>
              <a:spcPct val="35000"/>
            </a:spcAft>
            <a:buNone/>
          </a:pPr>
          <a:r>
            <a:rPr lang="en-IN" sz="1900" kern="1200"/>
            <a:t>A dataset would then be the resulting matrix of all possible basket vectors.</a:t>
          </a:r>
          <a:endParaRPr lang="en-US" sz="1900" kern="1200"/>
        </a:p>
      </dsp:txBody>
      <dsp:txXfrm>
        <a:off x="1496324" y="3239351"/>
        <a:ext cx="6383517" cy="129551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6613" y="1143000"/>
            <a:ext cx="4083050" cy="5181600"/>
          </a:xfrm>
        </p:spPr>
        <p:txBody>
          <a:bodyPr/>
          <a:lstStyle/>
          <a:p>
            <a:pPr lvl="0"/>
            <a:endParaRPr lang="en-US" noProof="0"/>
          </a:p>
        </p:txBody>
      </p:sp>
    </p:spTree>
    <p:extLst>
      <p:ext uri="{BB962C8B-B14F-4D97-AF65-F5344CB8AC3E}">
        <p14:creationId xmlns:p14="http://schemas.microsoft.com/office/powerpoint/2010/main" val="1143835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hatis.techtarget.com/definition/transactional-data"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searchenterpriseai.techtarget.com/definition/machine-learning-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3.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24.emf"/></Relationships>
</file>

<file path=ppt/slides/_rels/slide28.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6.wmf"/><Relationship Id="rId5" Type="http://schemas.openxmlformats.org/officeDocument/2006/relationships/oleObject" Target="../embeddings/oleObject4.bin"/><Relationship Id="rId10" Type="http://schemas.openxmlformats.org/officeDocument/2006/relationships/image" Target="../media/image28.emf"/><Relationship Id="rId4" Type="http://schemas.openxmlformats.org/officeDocument/2006/relationships/image" Target="../media/image25.wmf"/><Relationship Id="rId9"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2" Type="http://schemas.openxmlformats.org/officeDocument/2006/relationships/hyperlink" Target="https://whatis.techtarget.com/definition/algorith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32.wmf"/></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AC6C68-F125-48AD-A5B4-89AD5E797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4C0E5DA-5624-49BC-AC1E-30229AA5B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4281" y="682754"/>
            <a:ext cx="4119370" cy="5492493"/>
          </a:xfrm>
          <a:custGeom>
            <a:avLst/>
            <a:gdLst>
              <a:gd name="connsiteX0" fmla="*/ 2746247 w 5492493"/>
              <a:gd name="connsiteY0" fmla="*/ 0 h 5492493"/>
              <a:gd name="connsiteX1" fmla="*/ 5492493 w 5492493"/>
              <a:gd name="connsiteY1" fmla="*/ 2746247 h 5492493"/>
              <a:gd name="connsiteX2" fmla="*/ 2746247 w 5492493"/>
              <a:gd name="connsiteY2" fmla="*/ 5492493 h 5492493"/>
              <a:gd name="connsiteX3" fmla="*/ 0 w 5492493"/>
              <a:gd name="connsiteY3" fmla="*/ 2746247 h 5492493"/>
              <a:gd name="connsiteX4" fmla="*/ 2746247 w 5492493"/>
              <a:gd name="connsiteY4" fmla="*/ 0 h 54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2493" h="5492493">
                <a:moveTo>
                  <a:pt x="2746247" y="0"/>
                </a:moveTo>
                <a:cubicBezTo>
                  <a:pt x="4262957" y="0"/>
                  <a:pt x="5492493" y="1229536"/>
                  <a:pt x="5492493" y="2746247"/>
                </a:cubicBezTo>
                <a:cubicBezTo>
                  <a:pt x="5492493" y="4262957"/>
                  <a:pt x="4262957" y="5492493"/>
                  <a:pt x="2746247" y="5492493"/>
                </a:cubicBezTo>
                <a:cubicBezTo>
                  <a:pt x="1229536" y="5492493"/>
                  <a:pt x="0" y="4262957"/>
                  <a:pt x="0" y="2746247"/>
                </a:cubicBezTo>
                <a:cubicBezTo>
                  <a:pt x="0" y="1229536"/>
                  <a:pt x="1229536" y="0"/>
                  <a:pt x="2746247" y="0"/>
                </a:cubicBezTo>
                <a:close/>
              </a:path>
            </a:pathLst>
          </a:cu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25E157ED-E992-43F3-9A84-96C30A5C4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226156" y="3567390"/>
            <a:ext cx="1733855" cy="2303982"/>
          </a:xfrm>
          <a:custGeom>
            <a:avLst/>
            <a:gdLst>
              <a:gd name="connsiteX0" fmla="*/ 0 w 3108399"/>
              <a:gd name="connsiteY0" fmla="*/ 0 h 3097879"/>
              <a:gd name="connsiteX1" fmla="*/ 159985 w 3108399"/>
              <a:gd name="connsiteY1" fmla="*/ 4045 h 3097879"/>
              <a:gd name="connsiteX2" fmla="*/ 3092907 w 3108399"/>
              <a:gd name="connsiteY2" fmla="*/ 2791087 h 3097879"/>
              <a:gd name="connsiteX3" fmla="*/ 3108399 w 3108399"/>
              <a:gd name="connsiteY3" fmla="*/ 3097879 h 3097879"/>
              <a:gd name="connsiteX4" fmla="*/ 2470733 w 3108399"/>
              <a:gd name="connsiteY4" fmla="*/ 3097879 h 3097879"/>
              <a:gd name="connsiteX5" fmla="*/ 2458534 w 3108399"/>
              <a:gd name="connsiteY5" fmla="*/ 2856285 h 3097879"/>
              <a:gd name="connsiteX6" fmla="*/ 252674 w 3108399"/>
              <a:gd name="connsiteY6" fmla="*/ 650424 h 3097879"/>
              <a:gd name="connsiteX7" fmla="*/ 0 w 3108399"/>
              <a:gd name="connsiteY7" fmla="*/ 637665 h 309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8399" h="3097879">
                <a:moveTo>
                  <a:pt x="0" y="0"/>
                </a:moveTo>
                <a:lnTo>
                  <a:pt x="159985" y="4045"/>
                </a:lnTo>
                <a:cubicBezTo>
                  <a:pt x="1696687" y="81941"/>
                  <a:pt x="2939004" y="1275632"/>
                  <a:pt x="3092907" y="2791087"/>
                </a:cubicBezTo>
                <a:lnTo>
                  <a:pt x="3108399" y="3097879"/>
                </a:lnTo>
                <a:lnTo>
                  <a:pt x="2470733" y="3097879"/>
                </a:lnTo>
                <a:lnTo>
                  <a:pt x="2458534" y="2856285"/>
                </a:lnTo>
                <a:cubicBezTo>
                  <a:pt x="2340416" y="1693197"/>
                  <a:pt x="1415762" y="768542"/>
                  <a:pt x="252674" y="650424"/>
                </a:cubicBezTo>
                <a:lnTo>
                  <a:pt x="0" y="637665"/>
                </a:lnTo>
                <a:close/>
              </a:path>
            </a:pathLst>
          </a:cu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1545609" y="1533463"/>
            <a:ext cx="3075864" cy="3514294"/>
          </a:xfrm>
        </p:spPr>
        <p:txBody>
          <a:bodyPr anchor="ctr">
            <a:normAutofit fontScale="90000"/>
          </a:bodyPr>
          <a:lstStyle/>
          <a:p>
            <a:pPr algn="l">
              <a:lnSpc>
                <a:spcPct val="90000"/>
              </a:lnSpc>
            </a:pPr>
            <a:r>
              <a:rPr lang="en-IN" sz="6000"/>
              <a:t>Frequent Itemset mining methods</a:t>
            </a:r>
            <a:endParaRPr lang="en-US" sz="6000"/>
          </a:p>
        </p:txBody>
      </p:sp>
      <p:sp>
        <p:nvSpPr>
          <p:cNvPr id="14" name="Oval 13">
            <a:extLst>
              <a:ext uri="{FF2B5EF4-FFF2-40B4-BE49-F238E27FC236}">
                <a16:creationId xmlns:a16="http://schemas.microsoft.com/office/drawing/2014/main" id="{AEFD253A-9BCA-430B-979A-AA2F8445D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6270" y="3024171"/>
            <a:ext cx="326571" cy="435428"/>
          </a:xfrm>
          <a:prstGeom prst="ellipse">
            <a:avLst/>
          </a:prstGeom>
          <a:solidFill>
            <a:schemeClr val="tx1">
              <a:lumMod val="50000"/>
              <a:lumOff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4">
            <a:extLst>
              <a:ext uri="{FF2B5EF4-FFF2-40B4-BE49-F238E27FC236}">
                <a16:creationId xmlns:a16="http://schemas.microsoft.com/office/drawing/2014/main" id="{0A23099B-27FB-4115-B77C-922A6A6E3B6E}"/>
              </a:ext>
            </a:extLst>
          </p:cNvPr>
          <p:cNvSpPr>
            <a:spLocks noGrp="1"/>
          </p:cNvSpPr>
          <p:nvPr>
            <p:ph type="subTitle" idx="1"/>
          </p:nvPr>
        </p:nvSpPr>
        <p:spPr/>
        <p:txBody>
          <a:bodyPr/>
          <a:lstStyle/>
          <a:p>
            <a:endParaRPr lang="en-IN"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A1473A6-3F22-483E-8A30-80B9D2B1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AA1375E3-3E53-4D75-BAB7-E5929BFCB2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00762" y="563918"/>
            <a:ext cx="3089954" cy="5978614"/>
            <a:chOff x="7513372" y="803186"/>
            <a:chExt cx="4163968" cy="5978614"/>
          </a:xfrm>
        </p:grpSpPr>
        <p:sp>
          <p:nvSpPr>
            <p:cNvPr id="11" name="Freeform 6">
              <a:extLst>
                <a:ext uri="{FF2B5EF4-FFF2-40B4-BE49-F238E27FC236}">
                  <a16:creationId xmlns:a16="http://schemas.microsoft.com/office/drawing/2014/main" id="{0BBEEF67-3DDF-46CF-8CD5-EA5F0E4FB0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8FAC1C95-F817-487C-B8B2-CF141FBB1C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8">
              <a:extLst>
                <a:ext uri="{FF2B5EF4-FFF2-40B4-BE49-F238E27FC236}">
                  <a16:creationId xmlns:a16="http://schemas.microsoft.com/office/drawing/2014/main" id="{C2C5363A-D941-4AA1-8D38-D7E44A1E2E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823851" y="885651"/>
            <a:ext cx="2422352" cy="4624603"/>
          </a:xfrm>
        </p:spPr>
        <p:txBody>
          <a:bodyPr>
            <a:normAutofit/>
          </a:bodyPr>
          <a:lstStyle/>
          <a:p>
            <a:r>
              <a:rPr lang="en-IN">
                <a:solidFill>
                  <a:srgbClr val="FFFFFF"/>
                </a:solidFill>
              </a:rPr>
              <a:t>Frequent Itemset mining methods</a:t>
            </a:r>
          </a:p>
        </p:txBody>
      </p:sp>
      <p:sp>
        <p:nvSpPr>
          <p:cNvPr id="3" name="Content Placeholder 2"/>
          <p:cNvSpPr>
            <a:spLocks noGrp="1"/>
          </p:cNvSpPr>
          <p:nvPr>
            <p:ph idx="1"/>
          </p:nvPr>
        </p:nvSpPr>
        <p:spPr>
          <a:xfrm>
            <a:off x="3734031" y="381000"/>
            <a:ext cx="5181369" cy="5521414"/>
          </a:xfrm>
        </p:spPr>
        <p:txBody>
          <a:bodyPr anchor="ctr">
            <a:noAutofit/>
          </a:bodyPr>
          <a:lstStyle/>
          <a:p>
            <a:pPr algn="just">
              <a:lnSpc>
                <a:spcPct val="150000"/>
              </a:lnSpc>
            </a:pPr>
            <a:endParaRPr lang="en-IN" sz="1600" dirty="0"/>
          </a:p>
          <a:p>
            <a:pPr algn="just">
              <a:lnSpc>
                <a:spcPct val="150000"/>
              </a:lnSpc>
            </a:pPr>
            <a:endParaRPr lang="en-IN" sz="1600" dirty="0"/>
          </a:p>
          <a:p>
            <a:pPr algn="just">
              <a:lnSpc>
                <a:spcPct val="150000"/>
              </a:lnSpc>
            </a:pPr>
            <a:r>
              <a:rPr lang="en-IN" sz="1600" dirty="0"/>
              <a:t>Data Mining plays an important role in the decision-making process. Insights from such pattern analysis offer vast benefits, including increased revenue, cost cutting, and improved competitive advantage. </a:t>
            </a:r>
          </a:p>
          <a:p>
            <a:pPr algn="just">
              <a:lnSpc>
                <a:spcPct val="150000"/>
              </a:lnSpc>
            </a:pPr>
            <a:r>
              <a:rPr lang="en-IN" sz="1600" dirty="0"/>
              <a:t>To Mined hidden patterns of the frequent itemset become more time consuming , when the amount of data increases over the time.</a:t>
            </a:r>
          </a:p>
          <a:p>
            <a:pPr algn="just">
              <a:lnSpc>
                <a:spcPct val="150000"/>
              </a:lnSpc>
            </a:pPr>
            <a:r>
              <a:rPr lang="en-IN" sz="1600" dirty="0"/>
              <a:t>Due to huge amount of data, significant memory consumption is needed in mining  the hidden patterns of the frequent itemset.</a:t>
            </a:r>
          </a:p>
          <a:p>
            <a:pPr algn="just">
              <a:lnSpc>
                <a:spcPct val="150000"/>
              </a:lnSpc>
            </a:pPr>
            <a:r>
              <a:rPr lang="en-IN" sz="1600" dirty="0"/>
              <a:t>Therefore, an efficient algorithm is required to mine the hidden patterns of the frequent itemset within a shorter run time and with less memory consumption while the volume of data increases over the time period.</a:t>
            </a:r>
          </a:p>
          <a:p>
            <a:pPr algn="just">
              <a:lnSpc>
                <a:spcPct val="150000"/>
              </a:lnSpc>
            </a:pPr>
            <a:endParaRPr lang="en-IN" sz="1600" dirty="0"/>
          </a:p>
        </p:txBody>
      </p:sp>
    </p:spTree>
    <p:extLst>
      <p:ext uri="{BB962C8B-B14F-4D97-AF65-F5344CB8AC3E}">
        <p14:creationId xmlns:p14="http://schemas.microsoft.com/office/powerpoint/2010/main" val="13029460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603504" y="1243013"/>
            <a:ext cx="2891790" cy="4371974"/>
          </a:xfrm>
        </p:spPr>
        <p:txBody>
          <a:bodyPr>
            <a:normAutofit/>
          </a:bodyPr>
          <a:lstStyle/>
          <a:p>
            <a:r>
              <a:rPr lang="en-US" sz="3100" dirty="0">
                <a:solidFill>
                  <a:schemeClr val="tx2"/>
                </a:solidFill>
              </a:rPr>
              <a:t>frequent items</a:t>
            </a:r>
            <a:endParaRPr lang="en-IN" sz="3100" dirty="0">
              <a:solidFill>
                <a:schemeClr val="tx2"/>
              </a:solidFill>
            </a:endParaRP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73011" y="5285"/>
            <a:ext cx="5470989"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p:cNvSpPr>
            <a:spLocks noGrp="1"/>
          </p:cNvSpPr>
          <p:nvPr>
            <p:ph idx="1"/>
          </p:nvPr>
        </p:nvSpPr>
        <p:spPr>
          <a:xfrm>
            <a:off x="4974609" y="1032987"/>
            <a:ext cx="3689331" cy="4792027"/>
          </a:xfrm>
        </p:spPr>
        <p:txBody>
          <a:bodyPr anchor="ctr">
            <a:normAutofit lnSpcReduction="10000"/>
          </a:bodyPr>
          <a:lstStyle/>
          <a:p>
            <a:pPr algn="just">
              <a:lnSpc>
                <a:spcPct val="150000"/>
              </a:lnSpc>
            </a:pPr>
            <a:r>
              <a:rPr lang="en-IN" sz="1700" u="sng" dirty="0">
                <a:solidFill>
                  <a:schemeClr val="tx2"/>
                </a:solidFill>
              </a:rPr>
              <a:t>A </a:t>
            </a:r>
            <a:r>
              <a:rPr lang="en-IN" sz="1700" b="1" u="sng" dirty="0">
                <a:solidFill>
                  <a:schemeClr val="tx2"/>
                </a:solidFill>
              </a:rPr>
              <a:t>frequent itemset</a:t>
            </a:r>
            <a:r>
              <a:rPr lang="en-IN" sz="1700" u="sng" dirty="0">
                <a:solidFill>
                  <a:schemeClr val="tx2"/>
                </a:solidFill>
              </a:rPr>
              <a:t> is an itemset whose support is greater than some user-specified minimum support.</a:t>
            </a:r>
          </a:p>
          <a:p>
            <a:pPr algn="just">
              <a:lnSpc>
                <a:spcPct val="150000"/>
              </a:lnSpc>
            </a:pPr>
            <a:r>
              <a:rPr lang="en-IN" sz="1700" dirty="0">
                <a:solidFill>
                  <a:schemeClr val="tx2"/>
                </a:solidFill>
              </a:rPr>
              <a:t>Frequent itemset mining leads to the discovery of associations and correlations among items in large transactional or relational data sets.</a:t>
            </a:r>
          </a:p>
          <a:p>
            <a:pPr algn="just">
              <a:lnSpc>
                <a:spcPct val="150000"/>
              </a:lnSpc>
            </a:pPr>
            <a:r>
              <a:rPr lang="en-IN" sz="1700" u="sng" dirty="0">
                <a:solidFill>
                  <a:schemeClr val="tx2"/>
                </a:solidFill>
              </a:rPr>
              <a:t>A typical example of frequent itemset mining is market basket analysis.</a:t>
            </a:r>
          </a:p>
        </p:txBody>
      </p:sp>
    </p:spTree>
    <p:extLst>
      <p:ext uri="{BB962C8B-B14F-4D97-AF65-F5344CB8AC3E}">
        <p14:creationId xmlns:p14="http://schemas.microsoft.com/office/powerpoint/2010/main" val="30436619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1"/>
            <a:ext cx="8249304"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626" name="Picture 2"/>
          <p:cNvPicPr>
            <a:picLocks noChangeAspect="1" noChangeArrowheads="1"/>
          </p:cNvPicPr>
          <p:nvPr/>
        </p:nvPicPr>
        <p:blipFill rotWithShape="1">
          <a:blip r:embed="rId2"/>
          <a:srcRect t="4162" r="1" b="7620"/>
          <a:stretch/>
        </p:blipFill>
        <p:spPr bwMode="auto">
          <a:xfrm>
            <a:off x="628650" y="754148"/>
            <a:ext cx="7886700" cy="4995575"/>
          </a:xfrm>
          <a:prstGeom prst="rect">
            <a:avLst/>
          </a:prstGeom>
          <a:noFill/>
        </p:spPr>
      </p:pic>
      <p:cxnSp>
        <p:nvCxnSpPr>
          <p:cNvPr id="77" name="Straight Connector 76">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29769"/>
            <a:ext cx="825017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598" y="3433763"/>
            <a:ext cx="3606801" cy="2743200"/>
          </a:xfrm>
        </p:spPr>
        <p:txBody>
          <a:bodyPr anchor="t">
            <a:normAutofit/>
          </a:bodyPr>
          <a:lstStyle/>
          <a:p>
            <a:r>
              <a:rPr lang="en-IN" sz="4200"/>
              <a:t>Market Basket Analysis</a:t>
            </a:r>
          </a:p>
        </p:txBody>
      </p:sp>
      <p:pic>
        <p:nvPicPr>
          <p:cNvPr id="7" name="Graphic 6" descr="Call center">
            <a:extLst>
              <a:ext uri="{FF2B5EF4-FFF2-40B4-BE49-F238E27FC236}">
                <a16:creationId xmlns:a16="http://schemas.microsoft.com/office/drawing/2014/main" id="{D01FBE77-939C-46E3-929A-450748AC5B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099" y="1903288"/>
            <a:ext cx="685800" cy="685800"/>
          </a:xfrm>
          <a:prstGeom prst="rect">
            <a:avLst/>
          </a:prstGeom>
        </p:spPr>
      </p:pic>
      <p:sp>
        <p:nvSpPr>
          <p:cNvPr id="3" name="Content Placeholder 2"/>
          <p:cNvSpPr>
            <a:spLocks noGrp="1"/>
          </p:cNvSpPr>
          <p:nvPr>
            <p:ph idx="1"/>
          </p:nvPr>
        </p:nvSpPr>
        <p:spPr>
          <a:xfrm>
            <a:off x="4089400" y="643467"/>
            <a:ext cx="4749800" cy="5533496"/>
          </a:xfrm>
        </p:spPr>
        <p:txBody>
          <a:bodyPr anchor="ctr">
            <a:normAutofit fontScale="85000" lnSpcReduction="10000"/>
          </a:bodyPr>
          <a:lstStyle/>
          <a:p>
            <a:pPr algn="just">
              <a:lnSpc>
                <a:spcPts val="2900"/>
              </a:lnSpc>
            </a:pPr>
            <a:r>
              <a:rPr lang="en-IN" sz="2000" dirty="0"/>
              <a:t>Suppose, as manager of any supper market /online shopping web portal, you would like to learn more about the buying habits of your customers.</a:t>
            </a:r>
          </a:p>
          <a:p>
            <a:pPr algn="just">
              <a:lnSpc>
                <a:spcPts val="2900"/>
              </a:lnSpc>
            </a:pPr>
            <a:r>
              <a:rPr lang="en-IN" sz="2000" dirty="0"/>
              <a:t>Market basket analysis is a process that looks for relationships among entities and objects that frequently appear together, such as the collection of items in a shopper’s cart. For the purposes of customer centricity, market basket analysis examines collections of items to identify attractions or like-mindedness that are relevant within the different contexts of the customer touch points.</a:t>
            </a:r>
          </a:p>
        </p:txBody>
      </p:sp>
    </p:spTree>
    <p:extLst>
      <p:ext uri="{BB962C8B-B14F-4D97-AF65-F5344CB8AC3E}">
        <p14:creationId xmlns:p14="http://schemas.microsoft.com/office/powerpoint/2010/main" val="39886046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900814"/>
            <a:ext cx="569713"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633165"/>
            <a:ext cx="36199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965" y="636723"/>
            <a:ext cx="3000047"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701154" y="982272"/>
            <a:ext cx="2541314" cy="4560970"/>
          </a:xfrm>
        </p:spPr>
        <p:txBody>
          <a:bodyPr>
            <a:normAutofit/>
          </a:bodyPr>
          <a:lstStyle/>
          <a:p>
            <a:r>
              <a:rPr lang="en-IN" sz="3500">
                <a:solidFill>
                  <a:srgbClr val="FFFFFF"/>
                </a:solidFill>
              </a:rPr>
              <a:t>Some examples include</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76336" y="1352302"/>
            <a:ext cx="499169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Content Placeholder 2"/>
          <p:cNvSpPr>
            <a:spLocks noGrp="1"/>
          </p:cNvSpPr>
          <p:nvPr>
            <p:ph idx="1"/>
          </p:nvPr>
        </p:nvSpPr>
        <p:spPr>
          <a:xfrm>
            <a:off x="3670642" y="1524000"/>
            <a:ext cx="4772204" cy="4800600"/>
          </a:xfrm>
        </p:spPr>
        <p:txBody>
          <a:bodyPr anchor="ctr">
            <a:normAutofit/>
          </a:bodyPr>
          <a:lstStyle/>
          <a:p>
            <a:pPr algn="just">
              <a:lnSpc>
                <a:spcPct val="90000"/>
              </a:lnSpc>
            </a:pPr>
            <a:r>
              <a:rPr lang="en-IN" sz="1600" dirty="0">
                <a:solidFill>
                  <a:srgbClr val="FEFFFF"/>
                </a:solidFill>
              </a:rPr>
              <a:t>Product placement:</a:t>
            </a:r>
          </a:p>
          <a:p>
            <a:pPr lvl="1" algn="just">
              <a:lnSpc>
                <a:spcPct val="90000"/>
              </a:lnSpc>
            </a:pPr>
            <a:r>
              <a:rPr lang="en-IN" sz="1600" dirty="0">
                <a:solidFill>
                  <a:srgbClr val="FEFFFF"/>
                </a:solidFill>
              </a:rPr>
              <a:t>Identifying products that may often be purchased together and arranging the placement of those close by to encourage the purchaser to buy both items. That placement can be physical, such as in the arrangement of products on near or adjoin location, or virtual, such as in a print </a:t>
            </a:r>
            <a:r>
              <a:rPr lang="en-IN" sz="1600" dirty="0" err="1">
                <a:solidFill>
                  <a:srgbClr val="FEFFFF"/>
                </a:solidFill>
              </a:rPr>
              <a:t>catalog</a:t>
            </a:r>
            <a:r>
              <a:rPr lang="en-IN" sz="1600" dirty="0">
                <a:solidFill>
                  <a:srgbClr val="FEFFFF"/>
                </a:solidFill>
              </a:rPr>
              <a:t> or on an e-commerce site.</a:t>
            </a:r>
          </a:p>
          <a:p>
            <a:pPr algn="just">
              <a:lnSpc>
                <a:spcPct val="90000"/>
              </a:lnSpc>
            </a:pPr>
            <a:r>
              <a:rPr lang="en-IN" sz="1600" dirty="0">
                <a:solidFill>
                  <a:srgbClr val="FEFFFF"/>
                </a:solidFill>
              </a:rPr>
              <a:t>Point-of-Sale</a:t>
            </a:r>
          </a:p>
          <a:p>
            <a:pPr lvl="1" algn="just">
              <a:lnSpc>
                <a:spcPct val="90000"/>
              </a:lnSpc>
            </a:pPr>
            <a:r>
              <a:rPr lang="en-IN" sz="1600" dirty="0">
                <a:solidFill>
                  <a:srgbClr val="FEFFFF"/>
                </a:solidFill>
              </a:rPr>
              <a:t>Companies may use the like-mindedness grouping of multiple products as an indication that customers may be predisposed to buying certain sets of products at the same time. </a:t>
            </a:r>
          </a:p>
          <a:p>
            <a:pPr lvl="1" algn="just">
              <a:lnSpc>
                <a:spcPct val="90000"/>
              </a:lnSpc>
            </a:pPr>
            <a:r>
              <a:rPr lang="en-IN" sz="1600" dirty="0">
                <a:solidFill>
                  <a:srgbClr val="FEFFFF"/>
                </a:solidFill>
              </a:rPr>
              <a:t>This enables the presentation of items for cross-selling, or may suggest that customers may be willing to buy more items when certain products are bundled together. </a:t>
            </a:r>
          </a:p>
        </p:txBody>
      </p:sp>
    </p:spTree>
    <p:extLst>
      <p:ext uri="{BB962C8B-B14F-4D97-AF65-F5344CB8AC3E}">
        <p14:creationId xmlns:p14="http://schemas.microsoft.com/office/powerpoint/2010/main" val="795036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554152"/>
            <a:ext cx="4306641"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33804" y="1289765"/>
            <a:ext cx="2738325" cy="4270963"/>
          </a:xfrm>
        </p:spPr>
        <p:txBody>
          <a:bodyPr anchor="ctr">
            <a:normAutofit/>
          </a:bodyPr>
          <a:lstStyle/>
          <a:p>
            <a:r>
              <a:rPr lang="en-IN" sz="4500">
                <a:solidFill>
                  <a:srgbClr val="FFFFFF"/>
                </a:solidFill>
              </a:rPr>
              <a:t>Some examples include</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74394"/>
            <a:ext cx="128637"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1084507"/>
            <a:ext cx="118159"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p:cNvSpPr>
            <a:spLocks noGrp="1"/>
          </p:cNvSpPr>
          <p:nvPr>
            <p:ph idx="1"/>
          </p:nvPr>
        </p:nvSpPr>
        <p:spPr>
          <a:xfrm>
            <a:off x="4722924" y="518400"/>
            <a:ext cx="3578706" cy="5837949"/>
          </a:xfrm>
        </p:spPr>
        <p:txBody>
          <a:bodyPr anchor="ctr">
            <a:normAutofit/>
          </a:bodyPr>
          <a:lstStyle/>
          <a:p>
            <a:r>
              <a:rPr lang="en-IN" sz="1700" dirty="0">
                <a:solidFill>
                  <a:schemeClr val="tx1">
                    <a:alpha val="80000"/>
                  </a:schemeClr>
                </a:solidFill>
              </a:rPr>
              <a:t>Customer retention:</a:t>
            </a:r>
          </a:p>
          <a:p>
            <a:pPr lvl="1"/>
            <a:r>
              <a:rPr lang="en-IN" sz="1700">
                <a:solidFill>
                  <a:schemeClr val="tx1">
                    <a:alpha val="80000"/>
                  </a:schemeClr>
                </a:solidFill>
              </a:rPr>
              <a:t>When customers contact a business to sever a relationship, a company representative may use market basket analysis to determine the right incentives to offer in order to retain the customer’s business.</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5751820"/>
            <a:ext cx="84319"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404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IN" dirty="0"/>
              <a:t>Frequent pattern mining</a:t>
            </a:r>
          </a:p>
        </p:txBody>
      </p:sp>
      <p:sp>
        <p:nvSpPr>
          <p:cNvPr id="3" name="Content Placeholder 2"/>
          <p:cNvSpPr>
            <a:spLocks noGrp="1"/>
          </p:cNvSpPr>
          <p:nvPr>
            <p:ph idx="1"/>
          </p:nvPr>
        </p:nvSpPr>
        <p:spPr>
          <a:xfrm>
            <a:off x="152400" y="533400"/>
            <a:ext cx="8839200" cy="6324600"/>
          </a:xfrm>
        </p:spPr>
        <p:txBody>
          <a:bodyPr>
            <a:noAutofit/>
          </a:bodyPr>
          <a:lstStyle/>
          <a:p>
            <a:pPr algn="just">
              <a:lnSpc>
                <a:spcPct val="160000"/>
              </a:lnSpc>
            </a:pPr>
            <a:r>
              <a:rPr lang="en-IN" sz="1800" dirty="0"/>
              <a:t>Frequent pattern mining is most easily explained by introducing </a:t>
            </a:r>
            <a:r>
              <a:rPr lang="en-IN" sz="1800" b="1" i="1" dirty="0"/>
              <a:t>market basket analysis</a:t>
            </a:r>
            <a:r>
              <a:rPr lang="en-IN" sz="1800" dirty="0"/>
              <a:t>, a typical usage for which it is well-known. </a:t>
            </a:r>
          </a:p>
          <a:p>
            <a:pPr algn="just">
              <a:lnSpc>
                <a:spcPct val="160000"/>
              </a:lnSpc>
            </a:pPr>
            <a:r>
              <a:rPr lang="en-IN" sz="1800" dirty="0"/>
              <a:t>Market basket analysis attempts to identify </a:t>
            </a:r>
            <a:r>
              <a:rPr lang="en-IN" sz="1800" b="1" dirty="0"/>
              <a:t>associations</a:t>
            </a:r>
            <a:r>
              <a:rPr lang="en-IN" sz="1800" dirty="0"/>
              <a:t> between the various items that have been chosen by a particular shopper or customer and placed in their market basket (be it real or virtual) and assigns </a:t>
            </a:r>
            <a:r>
              <a:rPr lang="en-IN" sz="1800" b="1" dirty="0"/>
              <a:t>support</a:t>
            </a:r>
            <a:r>
              <a:rPr lang="en-IN" sz="1800" dirty="0"/>
              <a:t> and </a:t>
            </a:r>
            <a:r>
              <a:rPr lang="en-IN" sz="1800" b="1" dirty="0"/>
              <a:t>confidence</a:t>
            </a:r>
            <a:r>
              <a:rPr lang="en-IN" sz="1800" dirty="0"/>
              <a:t> measures for comparison. </a:t>
            </a:r>
          </a:p>
          <a:p>
            <a:pPr algn="just">
              <a:lnSpc>
                <a:spcPct val="160000"/>
              </a:lnSpc>
            </a:pPr>
            <a:r>
              <a:rPr lang="en-IN" sz="1800" dirty="0"/>
              <a:t>The value of this lies in cross-marketing and customer behaviour analysis.</a:t>
            </a:r>
          </a:p>
          <a:p>
            <a:pPr algn="just">
              <a:lnSpc>
                <a:spcPct val="160000"/>
              </a:lnSpc>
            </a:pPr>
            <a:r>
              <a:rPr lang="en-IN" sz="1800" dirty="0"/>
              <a:t>The generalization of market basket analysis is frequent pattern mining and is actually quite similar to classification except that any attribute, or combination of attributes (and not just the </a:t>
            </a:r>
            <a:r>
              <a:rPr lang="en-IN" sz="1800" i="1" dirty="0"/>
              <a:t>class</a:t>
            </a:r>
            <a:r>
              <a:rPr lang="en-IN" sz="1800" dirty="0"/>
              <a:t>), can be predicted in an association. As association does not require the pre-</a:t>
            </a:r>
            <a:r>
              <a:rPr lang="en-IN" sz="1800" dirty="0" err="1"/>
              <a:t>labeling</a:t>
            </a:r>
            <a:r>
              <a:rPr lang="en-IN" sz="1800" dirty="0"/>
              <a:t> of classes, it is a form of unsupervised learning.</a:t>
            </a:r>
          </a:p>
        </p:txBody>
      </p:sp>
    </p:spTree>
    <p:extLst>
      <p:ext uri="{BB962C8B-B14F-4D97-AF65-F5344CB8AC3E}">
        <p14:creationId xmlns:p14="http://schemas.microsoft.com/office/powerpoint/2010/main" val="3922507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10600" cy="762000"/>
          </a:xfrm>
        </p:spPr>
        <p:txBody>
          <a:bodyPr>
            <a:normAutofit fontScale="85000" lnSpcReduction="10000"/>
          </a:bodyPr>
          <a:lstStyle/>
          <a:p>
            <a:pPr>
              <a:buNone/>
            </a:pPr>
            <a:r>
              <a:rPr lang="en-US" dirty="0"/>
              <a:t>The data that we are going to deal with looks like this:</a:t>
            </a:r>
          </a:p>
        </p:txBody>
      </p:sp>
      <p:pic>
        <p:nvPicPr>
          <p:cNvPr id="1026" name="Picture 2" descr="https://cdn-images-1.medium.com/max/1600/1*xu3-x32Vep_NooObcL_y3g.png"/>
          <p:cNvPicPr>
            <a:picLocks noChangeAspect="1" noChangeArrowheads="1"/>
          </p:cNvPicPr>
          <p:nvPr/>
        </p:nvPicPr>
        <p:blipFill>
          <a:blip r:embed="rId2"/>
          <a:srcRect/>
          <a:stretch>
            <a:fillRect/>
          </a:stretch>
        </p:blipFill>
        <p:spPr bwMode="auto">
          <a:xfrm>
            <a:off x="695326" y="685800"/>
            <a:ext cx="7796558" cy="3047999"/>
          </a:xfrm>
          <a:prstGeom prst="rect">
            <a:avLst/>
          </a:prstGeom>
          <a:noFill/>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878" y="3733800"/>
            <a:ext cx="4829175" cy="279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diamond(in)">
                                      <p:cBhvr>
                                        <p:cTn id="7"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609600" y="1447800"/>
          <a:ext cx="3352800" cy="2600579"/>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40">
                <a:tc>
                  <a:txBody>
                    <a:bodyPr/>
                    <a:lstStyle/>
                    <a:p>
                      <a:pPr marL="0" marR="0" algn="ctr">
                        <a:lnSpc>
                          <a:spcPct val="115000"/>
                        </a:lnSpc>
                        <a:spcBef>
                          <a:spcPts val="0"/>
                        </a:spcBef>
                        <a:spcAft>
                          <a:spcPts val="0"/>
                        </a:spcAft>
                      </a:pPr>
                      <a:r>
                        <a:rPr lang="en-US" sz="2200" dirty="0"/>
                        <a:t>transaction ID</a:t>
                      </a:r>
                      <a:endParaRPr lang="en-US" sz="2200" dirty="0">
                        <a:latin typeface="Calibri"/>
                        <a:ea typeface="Calibri"/>
                        <a:cs typeface="Times New Roman"/>
                      </a:endParaRPr>
                    </a:p>
                  </a:txBody>
                  <a:tcPr marL="0" marR="0" marT="0" marB="0" anchor="ctr"/>
                </a:tc>
                <a:tc>
                  <a:txBody>
                    <a:bodyPr/>
                    <a:lstStyle/>
                    <a:p>
                      <a:pPr marL="0" marR="0" algn="ctr">
                        <a:lnSpc>
                          <a:spcPct val="115000"/>
                        </a:lnSpc>
                        <a:spcBef>
                          <a:spcPts val="0"/>
                        </a:spcBef>
                        <a:spcAft>
                          <a:spcPts val="0"/>
                        </a:spcAft>
                      </a:pPr>
                      <a:r>
                        <a:rPr lang="en-US" sz="2200" dirty="0">
                          <a:latin typeface="Calibri"/>
                          <a:ea typeface="Calibri"/>
                          <a:cs typeface="Times New Roman"/>
                        </a:rPr>
                        <a:t>items</a:t>
                      </a:r>
                    </a:p>
                  </a:txBody>
                  <a:tcPr marL="0" marR="0" marT="0" marB="0" anchor="ctr"/>
                </a:tc>
                <a:extLst>
                  <a:ext uri="{0D108BD9-81ED-4DB2-BD59-A6C34878D82A}">
                    <a16:rowId xmlns:a16="http://schemas.microsoft.com/office/drawing/2014/main" val="10000"/>
                  </a:ext>
                </a:extLst>
              </a:tr>
              <a:tr h="370840">
                <a:tc>
                  <a:txBody>
                    <a:bodyPr/>
                    <a:lstStyle/>
                    <a:p>
                      <a:pPr marL="0" marR="0" algn="ctr">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gn="ctr">
                        <a:lnSpc>
                          <a:spcPct val="115000"/>
                        </a:lnSpc>
                        <a:spcBef>
                          <a:spcPts val="0"/>
                        </a:spcBef>
                        <a:spcAft>
                          <a:spcPts val="0"/>
                        </a:spcAft>
                      </a:pPr>
                      <a:r>
                        <a:rPr lang="en-US" sz="2200" dirty="0">
                          <a:latin typeface="Calibri"/>
                          <a:cs typeface="Times New Roman"/>
                        </a:rPr>
                        <a:t>{A,C,D}</a:t>
                      </a:r>
                      <a:endParaRPr lang="en-US" sz="2200" dirty="0">
                        <a:latin typeface="Calibri"/>
                        <a:ea typeface="Calibri"/>
                        <a:cs typeface="Times New Roman"/>
                      </a:endParaRPr>
                    </a:p>
                  </a:txBody>
                  <a:tcPr marL="0" marR="0" marT="0" marB="0" anchor="ctr"/>
                </a:tc>
                <a:extLst>
                  <a:ext uri="{0D108BD9-81ED-4DB2-BD59-A6C34878D82A}">
                    <a16:rowId xmlns:a16="http://schemas.microsoft.com/office/drawing/2014/main" val="10001"/>
                  </a:ext>
                </a:extLst>
              </a:tr>
              <a:tr h="370840">
                <a:tc>
                  <a:txBody>
                    <a:bodyPr/>
                    <a:lstStyle/>
                    <a:p>
                      <a:pPr marL="0" marR="0" algn="ctr">
                        <a:lnSpc>
                          <a:spcPct val="115000"/>
                        </a:lnSpc>
                        <a:spcBef>
                          <a:spcPts val="0"/>
                        </a:spcBef>
                        <a:spcAft>
                          <a:spcPts val="0"/>
                        </a:spcAft>
                      </a:pPr>
                      <a:r>
                        <a:rPr lang="en-US" sz="2200"/>
                        <a:t>2</a:t>
                      </a:r>
                      <a:endParaRPr lang="en-US" sz="2200">
                        <a:latin typeface="Calibri"/>
                        <a:ea typeface="Calibri"/>
                        <a:cs typeface="Times New Roman"/>
                      </a:endParaRPr>
                    </a:p>
                  </a:txBody>
                  <a:tcPr marL="0" marR="0" marT="0" marB="0" anchor="ctr"/>
                </a:tc>
                <a:tc>
                  <a:txBody>
                    <a:bodyPr/>
                    <a:lstStyle/>
                    <a:p>
                      <a:pPr marL="0" marR="0" algn="ctr">
                        <a:lnSpc>
                          <a:spcPct val="115000"/>
                        </a:lnSpc>
                        <a:spcBef>
                          <a:spcPts val="0"/>
                        </a:spcBef>
                        <a:spcAft>
                          <a:spcPts val="0"/>
                        </a:spcAft>
                      </a:pPr>
                      <a:r>
                        <a:rPr lang="en-US" sz="2200" dirty="0">
                          <a:latin typeface="Calibri"/>
                          <a:ea typeface="Calibri"/>
                          <a:cs typeface="Times New Roman"/>
                        </a:rPr>
                        <a:t>{B,C,E}</a:t>
                      </a:r>
                    </a:p>
                  </a:txBody>
                  <a:tcPr marL="0" marR="0" marT="0" marB="0" anchor="ctr"/>
                </a:tc>
                <a:extLst>
                  <a:ext uri="{0D108BD9-81ED-4DB2-BD59-A6C34878D82A}">
                    <a16:rowId xmlns:a16="http://schemas.microsoft.com/office/drawing/2014/main" val="10002"/>
                  </a:ext>
                </a:extLst>
              </a:tr>
              <a:tr h="370840">
                <a:tc>
                  <a:txBody>
                    <a:bodyPr/>
                    <a:lstStyle/>
                    <a:p>
                      <a:pPr marL="0" marR="0" algn="ctr">
                        <a:lnSpc>
                          <a:spcPct val="115000"/>
                        </a:lnSpc>
                        <a:spcBef>
                          <a:spcPts val="0"/>
                        </a:spcBef>
                        <a:spcAft>
                          <a:spcPts val="0"/>
                        </a:spcAft>
                      </a:pPr>
                      <a:r>
                        <a:rPr lang="en-US" sz="2200"/>
                        <a:t>3</a:t>
                      </a:r>
                      <a:endParaRPr lang="en-US" sz="2200">
                        <a:latin typeface="Calibri"/>
                        <a:ea typeface="Calibri"/>
                        <a:cs typeface="Times New Roman"/>
                      </a:endParaRPr>
                    </a:p>
                  </a:txBody>
                  <a:tcPr marL="0" marR="0" marT="0" marB="0" anchor="ctr"/>
                </a:tc>
                <a:tc>
                  <a:txBody>
                    <a:bodyPr/>
                    <a:lstStyle/>
                    <a:p>
                      <a:pPr marL="0" marR="0" algn="ctr">
                        <a:lnSpc>
                          <a:spcPct val="115000"/>
                        </a:lnSpc>
                        <a:spcBef>
                          <a:spcPts val="0"/>
                        </a:spcBef>
                        <a:spcAft>
                          <a:spcPts val="0"/>
                        </a:spcAft>
                      </a:pPr>
                      <a:r>
                        <a:rPr lang="en-US" sz="2200" dirty="0">
                          <a:latin typeface="Calibri"/>
                          <a:ea typeface="Calibri"/>
                          <a:cs typeface="Times New Roman"/>
                        </a:rPr>
                        <a:t>{A,B,C,E}</a:t>
                      </a:r>
                    </a:p>
                  </a:txBody>
                  <a:tcPr marL="0" marR="0" marT="0" marB="0" anchor="ctr"/>
                </a:tc>
                <a:extLst>
                  <a:ext uri="{0D108BD9-81ED-4DB2-BD59-A6C34878D82A}">
                    <a16:rowId xmlns:a16="http://schemas.microsoft.com/office/drawing/2014/main" val="10003"/>
                  </a:ext>
                </a:extLst>
              </a:tr>
              <a:tr h="370840">
                <a:tc>
                  <a:txBody>
                    <a:bodyPr/>
                    <a:lstStyle/>
                    <a:p>
                      <a:pPr marL="0" marR="0" algn="ctr">
                        <a:lnSpc>
                          <a:spcPct val="115000"/>
                        </a:lnSpc>
                        <a:spcBef>
                          <a:spcPts val="0"/>
                        </a:spcBef>
                        <a:spcAft>
                          <a:spcPts val="0"/>
                        </a:spcAft>
                      </a:pPr>
                      <a:r>
                        <a:rPr lang="en-US" sz="2200"/>
                        <a:t>4</a:t>
                      </a:r>
                      <a:endParaRPr lang="en-US" sz="2200">
                        <a:latin typeface="Calibri"/>
                        <a:ea typeface="Calibri"/>
                        <a:cs typeface="Times New Roman"/>
                      </a:endParaRPr>
                    </a:p>
                  </a:txBody>
                  <a:tcPr marL="0" marR="0" marT="0" marB="0" anchor="ctr"/>
                </a:tc>
                <a:tc>
                  <a:txBody>
                    <a:bodyPr/>
                    <a:lstStyle/>
                    <a:p>
                      <a:pPr marL="0" marR="0" algn="ctr">
                        <a:lnSpc>
                          <a:spcPct val="115000"/>
                        </a:lnSpc>
                        <a:spcBef>
                          <a:spcPts val="0"/>
                        </a:spcBef>
                        <a:spcAft>
                          <a:spcPts val="0"/>
                        </a:spcAft>
                      </a:pPr>
                      <a:r>
                        <a:rPr lang="en-US" sz="2200" dirty="0">
                          <a:latin typeface="Calibri"/>
                          <a:ea typeface="Calibri"/>
                          <a:cs typeface="Times New Roman"/>
                        </a:rPr>
                        <a:t>{B,E}</a:t>
                      </a:r>
                    </a:p>
                  </a:txBody>
                  <a:tcPr marL="0" marR="0" marT="0" marB="0" anchor="ctr"/>
                </a:tc>
                <a:extLst>
                  <a:ext uri="{0D108BD9-81ED-4DB2-BD59-A6C34878D82A}">
                    <a16:rowId xmlns:a16="http://schemas.microsoft.com/office/drawing/2014/main" val="10004"/>
                  </a:ext>
                </a:extLst>
              </a:tr>
              <a:tr h="370840">
                <a:tc>
                  <a:txBody>
                    <a:bodyPr/>
                    <a:lstStyle/>
                    <a:p>
                      <a:pPr marL="0" marR="0" algn="ctr">
                        <a:lnSpc>
                          <a:spcPct val="115000"/>
                        </a:lnSpc>
                        <a:spcBef>
                          <a:spcPts val="0"/>
                        </a:spcBef>
                        <a:spcAft>
                          <a:spcPts val="0"/>
                        </a:spcAft>
                      </a:pPr>
                      <a:r>
                        <a:rPr lang="en-US" sz="2200"/>
                        <a:t>5</a:t>
                      </a:r>
                      <a:endParaRPr lang="en-US" sz="2200">
                        <a:latin typeface="Calibri"/>
                        <a:ea typeface="Calibri"/>
                        <a:cs typeface="Times New Roman"/>
                      </a:endParaRPr>
                    </a:p>
                  </a:txBody>
                  <a:tcPr marL="0" marR="0" marT="0" marB="0" anchor="ctr"/>
                </a:tc>
                <a:tc>
                  <a:txBody>
                    <a:bodyPr/>
                    <a:lstStyle/>
                    <a:p>
                      <a:pPr marL="0" marR="0" algn="ctr">
                        <a:lnSpc>
                          <a:spcPct val="115000"/>
                        </a:lnSpc>
                        <a:spcBef>
                          <a:spcPts val="0"/>
                        </a:spcBef>
                        <a:spcAft>
                          <a:spcPts val="0"/>
                        </a:spcAft>
                      </a:pPr>
                      <a:r>
                        <a:rPr lang="en-US" sz="2200">
                          <a:latin typeface="Calibri"/>
                          <a:ea typeface="Calibri"/>
                          <a:cs typeface="Times New Roman"/>
                        </a:rPr>
                        <a:t>{A,B,C,E</a:t>
                      </a:r>
                      <a:r>
                        <a:rPr lang="en-US" sz="2200" dirty="0">
                          <a:latin typeface="Calibri"/>
                          <a:ea typeface="Calibri"/>
                          <a:cs typeface="Times New Roman"/>
                        </a:rPr>
                        <a:t>}</a:t>
                      </a:r>
                    </a:p>
                  </a:txBody>
                  <a:tcPr marL="0" marR="0" marT="0" marB="0" anchor="ctr"/>
                </a:tc>
                <a:extLst>
                  <a:ext uri="{0D108BD9-81ED-4DB2-BD59-A6C34878D82A}">
                    <a16:rowId xmlns:a16="http://schemas.microsoft.com/office/drawing/2014/main" val="10005"/>
                  </a:ext>
                </a:extLst>
              </a:tr>
            </a:tbl>
          </a:graphicData>
        </a:graphic>
      </p:graphicFrame>
      <p:sp>
        <p:nvSpPr>
          <p:cNvPr id="25602" name="AutoShape 2" descr="https://cdncontribute.geeksforgeeks.org/wp-content/uploads/Capture-127.png"/>
          <p:cNvSpPr>
            <a:spLocks noGrp="1" noChangeAspect="1" noChangeArrowheads="1"/>
          </p:cNvSpPr>
          <p:nvPr>
            <p:ph type="title"/>
          </p:nvPr>
        </p:nvSpPr>
        <p:spPr bwMode="auto">
          <a:xfrm>
            <a:off x="457200" y="274638"/>
            <a:ext cx="8229600" cy="792162"/>
          </a:xfrm>
          <a:prstGeom prst="rect">
            <a:avLst/>
          </a:prstGeom>
          <a:noFill/>
        </p:spPr>
        <p:txBody>
          <a:bodyPr vert="horz" wrap="square" lIns="91440" tIns="45720" rIns="91440" bIns="45720" numCol="1" anchor="t" anchorCtr="0" compatLnSpc="1">
            <a:prstTxWarp prst="textNoShape">
              <a:avLst/>
            </a:prstTxWarp>
          </a:bodyPr>
          <a:lstStyle/>
          <a:p>
            <a:r>
              <a:rPr lang="en-US" dirty="0"/>
              <a:t>frequent items</a:t>
            </a:r>
          </a:p>
        </p:txBody>
      </p:sp>
      <p:sp>
        <p:nvSpPr>
          <p:cNvPr id="25604" name="AutoShape 4" descr="https://cdncontribute.geeksforgeeks.org/wp-content/uploads/Capture-127.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4419600" y="1524000"/>
            <a:ext cx="1600200" cy="1938992"/>
          </a:xfrm>
          <a:prstGeom prst="rect">
            <a:avLst/>
          </a:prstGeom>
        </p:spPr>
        <p:txBody>
          <a:bodyPr wrap="square">
            <a:spAutoFit/>
          </a:bodyPr>
          <a:lstStyle/>
          <a:p>
            <a:r>
              <a:rPr lang="en-US" sz="2000" b="1" i="1" dirty="0"/>
              <a:t>1-frequent:</a:t>
            </a:r>
            <a:br>
              <a:rPr lang="en-US" sz="2000" dirty="0"/>
            </a:br>
            <a:r>
              <a:rPr lang="en-US" sz="2000" i="1" dirty="0"/>
              <a:t>{A} = 3; </a:t>
            </a:r>
            <a:br>
              <a:rPr lang="en-US" sz="2000" dirty="0"/>
            </a:br>
            <a:r>
              <a:rPr lang="en-US" sz="2000" i="1" dirty="0"/>
              <a:t>{B} = 4; </a:t>
            </a:r>
            <a:br>
              <a:rPr lang="en-US" sz="2000" dirty="0"/>
            </a:br>
            <a:r>
              <a:rPr lang="en-US" sz="2000" i="1" dirty="0"/>
              <a:t>{C} = 4; </a:t>
            </a:r>
          </a:p>
          <a:p>
            <a:r>
              <a:rPr lang="en-US" sz="2000" i="1" dirty="0"/>
              <a:t>{D} = 5; </a:t>
            </a:r>
          </a:p>
          <a:p>
            <a:r>
              <a:rPr lang="en-US" sz="2000" i="1" dirty="0"/>
              <a:t>{E} = 4;</a:t>
            </a:r>
            <a:endParaRPr lang="en-US" sz="2000" dirty="0"/>
          </a:p>
        </p:txBody>
      </p:sp>
      <p:cxnSp>
        <p:nvCxnSpPr>
          <p:cNvPr id="10" name="Elbow Connector 9"/>
          <p:cNvCxnSpPr/>
          <p:nvPr/>
        </p:nvCxnSpPr>
        <p:spPr>
          <a:xfrm>
            <a:off x="5715000" y="2514600"/>
            <a:ext cx="762000" cy="32590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6629400" y="1600200"/>
            <a:ext cx="1828800" cy="3170099"/>
          </a:xfrm>
          <a:prstGeom prst="rect">
            <a:avLst/>
          </a:prstGeom>
        </p:spPr>
        <p:txBody>
          <a:bodyPr wrap="square">
            <a:spAutoFit/>
          </a:bodyPr>
          <a:lstStyle/>
          <a:p>
            <a:r>
              <a:rPr lang="en-US" b="1" i="1" dirty="0"/>
              <a:t>2-frequent :</a:t>
            </a:r>
            <a:endParaRPr lang="en-US" i="1" dirty="0"/>
          </a:p>
          <a:p>
            <a:r>
              <a:rPr lang="en-US" i="1" dirty="0"/>
              <a:t>{A, B} = 2 </a:t>
            </a:r>
            <a:br>
              <a:rPr lang="en-US" dirty="0"/>
            </a:br>
            <a:r>
              <a:rPr lang="en-US" i="1" dirty="0"/>
              <a:t>{A, C} = 3 </a:t>
            </a:r>
            <a:br>
              <a:rPr lang="en-US" dirty="0"/>
            </a:br>
            <a:r>
              <a:rPr lang="en-US" i="1" dirty="0"/>
              <a:t>{A, D} = 3</a:t>
            </a:r>
          </a:p>
          <a:p>
            <a:r>
              <a:rPr lang="en-US" i="1" dirty="0"/>
              <a:t>{A,E} =  </a:t>
            </a:r>
            <a:br>
              <a:rPr lang="en-US" dirty="0"/>
            </a:br>
            <a:r>
              <a:rPr lang="en-US" i="1" dirty="0"/>
              <a:t>{B, C} = 3 </a:t>
            </a:r>
            <a:br>
              <a:rPr lang="en-US" dirty="0"/>
            </a:br>
            <a:r>
              <a:rPr lang="en-US" i="1" dirty="0"/>
              <a:t>{B, D} = 4</a:t>
            </a:r>
          </a:p>
          <a:p>
            <a:r>
              <a:rPr lang="en-US" i="1" dirty="0"/>
              <a:t>{B,E}  = </a:t>
            </a:r>
            <a:br>
              <a:rPr lang="en-US" dirty="0"/>
            </a:br>
            <a:r>
              <a:rPr lang="en-US" i="1" dirty="0"/>
              <a:t>{C, D} = 4</a:t>
            </a:r>
          </a:p>
          <a:p>
            <a:r>
              <a:rPr lang="en-US" i="1" dirty="0"/>
              <a:t>{C,E}=</a:t>
            </a:r>
          </a:p>
          <a:p>
            <a:r>
              <a:rPr lang="en-US" i="1" dirty="0"/>
              <a:t>{D,E} = </a:t>
            </a:r>
            <a:endParaRPr lang="en-US" dirty="0"/>
          </a:p>
        </p:txBody>
      </p:sp>
      <p:sp>
        <p:nvSpPr>
          <p:cNvPr id="14" name="Rectangle 13"/>
          <p:cNvSpPr/>
          <p:nvPr/>
        </p:nvSpPr>
        <p:spPr>
          <a:xfrm>
            <a:off x="3352800" y="4564559"/>
            <a:ext cx="2286000" cy="769441"/>
          </a:xfrm>
          <a:prstGeom prst="rect">
            <a:avLst/>
          </a:prstGeom>
        </p:spPr>
        <p:txBody>
          <a:bodyPr wrap="square">
            <a:spAutoFit/>
          </a:bodyPr>
          <a:lstStyle/>
          <a:p>
            <a:r>
              <a:rPr lang="en-US" sz="2200" b="1" i="1" dirty="0"/>
              <a:t>3-frequent:</a:t>
            </a:r>
            <a:br>
              <a:rPr lang="en-US" sz="2200" dirty="0"/>
            </a:br>
            <a:endParaRPr lang="en-US" sz="2200" dirty="0"/>
          </a:p>
        </p:txBody>
      </p:sp>
      <p:cxnSp>
        <p:nvCxnSpPr>
          <p:cNvPr id="17" name="Elbow Connector 16"/>
          <p:cNvCxnSpPr/>
          <p:nvPr/>
        </p:nvCxnSpPr>
        <p:spPr>
          <a:xfrm rot="10800000" flipV="1">
            <a:off x="5638800" y="4267200"/>
            <a:ext cx="685800" cy="533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28600" y="5326559"/>
            <a:ext cx="2286000" cy="769441"/>
          </a:xfrm>
          <a:prstGeom prst="rect">
            <a:avLst/>
          </a:prstGeom>
        </p:spPr>
        <p:txBody>
          <a:bodyPr wrap="square">
            <a:spAutoFit/>
          </a:bodyPr>
          <a:lstStyle/>
          <a:p>
            <a:r>
              <a:rPr lang="en-US" sz="2200" b="1" i="1" dirty="0"/>
              <a:t>4-frequent:</a:t>
            </a:r>
            <a:br>
              <a:rPr lang="en-US" sz="2200" dirty="0"/>
            </a:br>
            <a:endParaRPr lang="en-US" sz="2200" dirty="0"/>
          </a:p>
        </p:txBody>
      </p:sp>
      <p:cxnSp>
        <p:nvCxnSpPr>
          <p:cNvPr id="19" name="Elbow Connector 18"/>
          <p:cNvCxnSpPr/>
          <p:nvPr/>
        </p:nvCxnSpPr>
        <p:spPr>
          <a:xfrm rot="10800000" flipV="1">
            <a:off x="2514600" y="5029200"/>
            <a:ext cx="685800" cy="533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strVal val="#ppt_w*0.70"/>
                                          </p:val>
                                        </p:tav>
                                        <p:tav tm="100000">
                                          <p:val>
                                            <p:strVal val="#ppt_w"/>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animEffect transition="in" filter="fade">
                                      <p:cBhvr>
                                        <p:cTn id="14" dur="1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strVal val="#ppt_w*0.70"/>
                                          </p:val>
                                        </p:tav>
                                        <p:tav tm="100000">
                                          <p:val>
                                            <p:strVal val="#ppt_w"/>
                                          </p:val>
                                        </p:tav>
                                      </p:tavLst>
                                    </p:anim>
                                    <p:anim calcmode="lin" valueType="num">
                                      <p:cBhvr>
                                        <p:cTn id="20" dur="1000" fill="hold"/>
                                        <p:tgtEl>
                                          <p:spTgt spid="10"/>
                                        </p:tgtEl>
                                        <p:attrNameLst>
                                          <p:attrName>ppt_h</p:attrName>
                                        </p:attrNameLst>
                                      </p:cBhvr>
                                      <p:tavLst>
                                        <p:tav tm="0">
                                          <p:val>
                                            <p:strVal val="#ppt_h"/>
                                          </p:val>
                                        </p:tav>
                                        <p:tav tm="100000">
                                          <p:val>
                                            <p:strVal val="#ppt_h"/>
                                          </p:val>
                                        </p:tav>
                                      </p:tavLst>
                                    </p:anim>
                                    <p:animEffect transition="in" filter="fade">
                                      <p:cBhvr>
                                        <p:cTn id="21" dur="1000"/>
                                        <p:tgtEl>
                                          <p:spTgt spid="10"/>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1000" fill="hold"/>
                                        <p:tgtEl>
                                          <p:spTgt spid="12"/>
                                        </p:tgtEl>
                                        <p:attrNameLst>
                                          <p:attrName>ppt_w</p:attrName>
                                        </p:attrNameLst>
                                      </p:cBhvr>
                                      <p:tavLst>
                                        <p:tav tm="0">
                                          <p:val>
                                            <p:strVal val="#ppt_w*0.70"/>
                                          </p:val>
                                        </p:tav>
                                        <p:tav tm="100000">
                                          <p:val>
                                            <p:strVal val="#ppt_w"/>
                                          </p:val>
                                        </p:tav>
                                      </p:tavLst>
                                    </p:anim>
                                    <p:anim calcmode="lin" valueType="num">
                                      <p:cBhvr>
                                        <p:cTn id="25" dur="1000" fill="hold"/>
                                        <p:tgtEl>
                                          <p:spTgt spid="12"/>
                                        </p:tgtEl>
                                        <p:attrNameLst>
                                          <p:attrName>ppt_h</p:attrName>
                                        </p:attrNameLst>
                                      </p:cBhvr>
                                      <p:tavLst>
                                        <p:tav tm="0">
                                          <p:val>
                                            <p:strVal val="#ppt_h"/>
                                          </p:val>
                                        </p:tav>
                                        <p:tav tm="100000">
                                          <p:val>
                                            <p:strVal val="#ppt_h"/>
                                          </p:val>
                                        </p:tav>
                                      </p:tavLst>
                                    </p:anim>
                                    <p:animEffect transition="in" filter="fade">
                                      <p:cBhvr>
                                        <p:cTn id="26" dur="10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amond(in)">
                                      <p:cBhvr>
                                        <p:cTn id="31" dur="2000"/>
                                        <p:tgtEl>
                                          <p:spTgt spid="14"/>
                                        </p:tgtEl>
                                      </p:cBhvr>
                                    </p:animEffect>
                                  </p:childTnLst>
                                </p:cTn>
                              </p:par>
                              <p:par>
                                <p:cTn id="32" presetID="8" presetClass="entr" presetSubtype="16"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amond(in)">
                                      <p:cBhvr>
                                        <p:cTn id="34" dur="20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diamond(in)">
                                      <p:cBhvr>
                                        <p:cTn id="39" dur="2000"/>
                                        <p:tgtEl>
                                          <p:spTgt spid="18"/>
                                        </p:tgtEl>
                                      </p:cBhvr>
                                    </p:animEffect>
                                  </p:childTnLst>
                                </p:cTn>
                              </p:par>
                              <p:par>
                                <p:cTn id="40" presetID="8" presetClass="entr" presetSubtype="16"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diamond(in)">
                                      <p:cBhvr>
                                        <p:cTn id="42"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4"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08239"/>
            <a:ext cx="5295900"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8600" y="3581401"/>
            <a:ext cx="8763000" cy="1891287"/>
          </a:xfrm>
          <a:prstGeom prst="rect">
            <a:avLst/>
          </a:prstGeom>
        </p:spPr>
        <p:txBody>
          <a:bodyPr wrap="square">
            <a:spAutoFit/>
          </a:bodyPr>
          <a:lstStyle/>
          <a:p>
            <a:pPr algn="just">
              <a:lnSpc>
                <a:spcPct val="150000"/>
              </a:lnSpc>
            </a:pPr>
            <a:r>
              <a:rPr lang="en-IN" sz="2000" dirty="0"/>
              <a:t>Association rules are if-then statements that help to show the probability of relationships between data items within large data sets in various types of databases. Association rule mining has a number of applications and is widely used to help discover sales correlations in </a:t>
            </a:r>
            <a:r>
              <a:rPr lang="en-IN" sz="2000" u="sng" dirty="0">
                <a:hlinkClick r:id="rId3"/>
              </a:rPr>
              <a:t>transactional data</a:t>
            </a:r>
            <a:r>
              <a:rPr lang="en-IN" sz="2000" dirty="0"/>
              <a:t> or in medical data sets.</a:t>
            </a:r>
          </a:p>
        </p:txBody>
      </p:sp>
    </p:spTree>
    <p:extLst>
      <p:ext uri="{BB962C8B-B14F-4D97-AF65-F5344CB8AC3E}">
        <p14:creationId xmlns:p14="http://schemas.microsoft.com/office/powerpoint/2010/main" val="2315604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533400" y="457202"/>
          <a:ext cx="7620000" cy="2550414"/>
        </p:xfrm>
        <a:graphic>
          <a:graphicData uri="http://schemas.openxmlformats.org/drawingml/2006/table">
            <a:tbl>
              <a:tblPr>
                <a:tableStyleId>{775DCB02-9BB8-47FD-8907-85C794F793BA}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484264">
                <a:tc>
                  <a:txBody>
                    <a:bodyPr/>
                    <a:lstStyle/>
                    <a:p>
                      <a:pPr marL="0" marR="0">
                        <a:lnSpc>
                          <a:spcPct val="115000"/>
                        </a:lnSpc>
                        <a:spcBef>
                          <a:spcPts val="0"/>
                        </a:spcBef>
                        <a:spcAft>
                          <a:spcPts val="0"/>
                        </a:spcAft>
                      </a:pPr>
                      <a:r>
                        <a:rPr lang="en-US" sz="2200" dirty="0"/>
                        <a:t>transaction ID</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milk</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bread</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butter</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Cold drink</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0"/>
                  </a:ext>
                </a:extLst>
              </a:tr>
              <a:tr h="295508">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1</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1"/>
                  </a:ext>
                </a:extLst>
              </a:tr>
              <a:tr h="314901">
                <a:tc>
                  <a:txBody>
                    <a:bodyPr/>
                    <a:lstStyle/>
                    <a:p>
                      <a:pPr marL="0" marR="0">
                        <a:lnSpc>
                          <a:spcPct val="115000"/>
                        </a:lnSpc>
                        <a:spcBef>
                          <a:spcPts val="0"/>
                        </a:spcBef>
                        <a:spcAft>
                          <a:spcPts val="0"/>
                        </a:spcAft>
                      </a:pPr>
                      <a:r>
                        <a:rPr lang="en-US" sz="2200"/>
                        <a:t>2</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2"/>
                  </a:ext>
                </a:extLst>
              </a:tr>
              <a:tr h="295508">
                <a:tc>
                  <a:txBody>
                    <a:bodyPr/>
                    <a:lstStyle/>
                    <a:p>
                      <a:pPr marL="0" marR="0">
                        <a:lnSpc>
                          <a:spcPct val="115000"/>
                        </a:lnSpc>
                        <a:spcBef>
                          <a:spcPts val="0"/>
                        </a:spcBef>
                        <a:spcAft>
                          <a:spcPts val="0"/>
                        </a:spcAft>
                      </a:pPr>
                      <a:r>
                        <a:rPr lang="en-US" sz="2200"/>
                        <a:t>3</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3"/>
                  </a:ext>
                </a:extLst>
              </a:tr>
              <a:tr h="295508">
                <a:tc>
                  <a:txBody>
                    <a:bodyPr/>
                    <a:lstStyle/>
                    <a:p>
                      <a:pPr marL="0" marR="0">
                        <a:lnSpc>
                          <a:spcPct val="115000"/>
                        </a:lnSpc>
                        <a:spcBef>
                          <a:spcPts val="0"/>
                        </a:spcBef>
                        <a:spcAft>
                          <a:spcPts val="0"/>
                        </a:spcAft>
                      </a:pPr>
                      <a:r>
                        <a:rPr lang="en-US" sz="2200"/>
                        <a:t>4</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1</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4"/>
                  </a:ext>
                </a:extLst>
              </a:tr>
              <a:tr h="295508">
                <a:tc>
                  <a:txBody>
                    <a:bodyPr/>
                    <a:lstStyle/>
                    <a:p>
                      <a:pPr marL="0" marR="0">
                        <a:lnSpc>
                          <a:spcPct val="115000"/>
                        </a:lnSpc>
                        <a:spcBef>
                          <a:spcPts val="0"/>
                        </a:spcBef>
                        <a:spcAft>
                          <a:spcPts val="0"/>
                        </a:spcAft>
                      </a:pPr>
                      <a:r>
                        <a:rPr lang="en-US" sz="2200"/>
                        <a:t>5</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extLst>
                  <a:ext uri="{0D108BD9-81ED-4DB2-BD59-A6C34878D82A}">
                    <a16:rowId xmlns:a16="http://schemas.microsoft.com/office/drawing/2014/main" val="10005"/>
                  </a:ext>
                </a:extLst>
              </a:tr>
            </a:tbl>
          </a:graphicData>
        </a:graphic>
      </p:graphicFrame>
      <p:sp>
        <p:nvSpPr>
          <p:cNvPr id="5" name="TextBox 4"/>
          <p:cNvSpPr txBox="1"/>
          <p:nvPr/>
        </p:nvSpPr>
        <p:spPr>
          <a:xfrm>
            <a:off x="76200" y="2999378"/>
            <a:ext cx="8534400" cy="1138773"/>
          </a:xfrm>
          <a:prstGeom prst="rect">
            <a:avLst/>
          </a:prstGeom>
          <a:noFill/>
        </p:spPr>
        <p:txBody>
          <a:bodyPr wrap="square" rtlCol="0">
            <a:spAutoFit/>
          </a:bodyPr>
          <a:lstStyle/>
          <a:p>
            <a:pPr algn="just"/>
            <a:r>
              <a:rPr lang="en-IN" sz="2400" b="1" i="0" dirty="0">
                <a:solidFill>
                  <a:srgbClr val="273239"/>
                </a:solidFill>
                <a:effectLst/>
                <a:latin typeface="urw-din"/>
              </a:rPr>
              <a:t>Rule Evaluation Metrics –</a:t>
            </a:r>
            <a:endParaRPr lang="en-US" sz="2200" dirty="0"/>
          </a:p>
          <a:p>
            <a:pPr algn="just"/>
            <a:r>
              <a:rPr lang="en-US" sz="2200" dirty="0"/>
              <a:t>Calculate the Support and confidence for itemset (milk, bread and butter)</a:t>
            </a:r>
          </a:p>
        </p:txBody>
      </p:sp>
      <p:pic>
        <p:nvPicPr>
          <p:cNvPr id="22532" name="Picture 4" descr="https://www.saedsayad.com/images/AR_1.png"/>
          <p:cNvPicPr>
            <a:picLocks noChangeAspect="1" noChangeArrowheads="1"/>
          </p:cNvPicPr>
          <p:nvPr/>
        </p:nvPicPr>
        <p:blipFill>
          <a:blip r:embed="rId2"/>
          <a:srcRect/>
          <a:stretch>
            <a:fillRect/>
          </a:stretch>
        </p:blipFill>
        <p:spPr bwMode="auto">
          <a:xfrm>
            <a:off x="1590675" y="3810000"/>
            <a:ext cx="4733925" cy="2857500"/>
          </a:xfrm>
          <a:prstGeom prst="rect">
            <a:avLst/>
          </a:prstGeom>
          <a:noFill/>
        </p:spPr>
      </p:pic>
      <p:sp>
        <p:nvSpPr>
          <p:cNvPr id="2" name="TextBox 1">
            <a:extLst>
              <a:ext uri="{FF2B5EF4-FFF2-40B4-BE49-F238E27FC236}">
                <a16:creationId xmlns:a16="http://schemas.microsoft.com/office/drawing/2014/main" id="{79E0AB35-12A1-4DB8-AE25-ACA930D10DC5}"/>
              </a:ext>
            </a:extLst>
          </p:cNvPr>
          <p:cNvSpPr txBox="1"/>
          <p:nvPr/>
        </p:nvSpPr>
        <p:spPr>
          <a:xfrm>
            <a:off x="6487296" y="5238750"/>
            <a:ext cx="2351903" cy="1354217"/>
          </a:xfrm>
          <a:prstGeom prst="rect">
            <a:avLst/>
          </a:prstGeom>
          <a:noFill/>
        </p:spPr>
        <p:txBody>
          <a:bodyPr wrap="square" rtlCol="0">
            <a:spAutoFit/>
          </a:bodyPr>
          <a:lstStyle/>
          <a:p>
            <a:r>
              <a:rPr lang="en-US" sz="1600" dirty="0"/>
              <a:t>Or Lift is</a:t>
            </a:r>
          </a:p>
          <a:p>
            <a:r>
              <a:rPr lang="en-US" sz="1600" dirty="0"/>
              <a:t>Support(X union Y)/ support(X)*support(Y)</a:t>
            </a:r>
          </a:p>
          <a:p>
            <a:r>
              <a:rPr lang="en-US" sz="1600" dirty="0"/>
              <a:t> </a:t>
            </a:r>
          </a:p>
          <a:p>
            <a:endParaRPr lang="en-IN"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ssociation-rule-support-t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52400"/>
            <a:ext cx="4267200" cy="378364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648200" y="381000"/>
            <a:ext cx="4114800" cy="2677656"/>
          </a:xfrm>
          <a:prstGeom prst="rect">
            <a:avLst/>
          </a:prstGeom>
        </p:spPr>
        <p:txBody>
          <a:bodyPr wrap="square">
            <a:spAutoFit/>
          </a:bodyPr>
          <a:lstStyle/>
          <a:p>
            <a:pPr algn="just"/>
            <a:r>
              <a:rPr lang="en-IN" sz="2400" b="1" dirty="0"/>
              <a:t>Support</a:t>
            </a:r>
            <a:r>
              <a:rPr lang="en-IN" sz="2400" dirty="0"/>
              <a:t>. This says how popular an itemset is, as measured by the proportion of transactions in which an itemset appears. the support of {apple} is 4 out of 8, or 50%. Itemsets can also contain multiple items</a:t>
            </a:r>
          </a:p>
        </p:txBody>
      </p:sp>
      <p:pic>
        <p:nvPicPr>
          <p:cNvPr id="1028" name="Picture 4" descr="Association Rule Support eq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072511"/>
            <a:ext cx="2362200" cy="6477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6200" y="4080808"/>
            <a:ext cx="4953000" cy="2308324"/>
          </a:xfrm>
          <a:prstGeom prst="rect">
            <a:avLst/>
          </a:prstGeom>
        </p:spPr>
        <p:txBody>
          <a:bodyPr wrap="square">
            <a:spAutoFit/>
          </a:bodyPr>
          <a:lstStyle/>
          <a:p>
            <a:pPr algn="just"/>
            <a:r>
              <a:rPr lang="en-IN" sz="2400" b="1" dirty="0"/>
              <a:t>Confidence</a:t>
            </a:r>
            <a:r>
              <a:rPr lang="en-IN" sz="2400" dirty="0"/>
              <a:t>. This says how likely item Y is purchased when item X is purchased, expressed as {X -&gt; Y}. This is measured by the proportion of transactions with item X, in which item Y also appears.</a:t>
            </a:r>
          </a:p>
        </p:txBody>
      </p:sp>
      <p:sp>
        <p:nvSpPr>
          <p:cNvPr id="6" name="Rectangle 5"/>
          <p:cNvSpPr/>
          <p:nvPr/>
        </p:nvSpPr>
        <p:spPr>
          <a:xfrm>
            <a:off x="5027141" y="5799240"/>
            <a:ext cx="3848100" cy="707886"/>
          </a:xfrm>
          <a:prstGeom prst="rect">
            <a:avLst/>
          </a:prstGeom>
        </p:spPr>
        <p:txBody>
          <a:bodyPr wrap="square">
            <a:spAutoFit/>
          </a:bodyPr>
          <a:lstStyle/>
          <a:p>
            <a:pPr algn="ctr"/>
            <a:r>
              <a:rPr lang="en-IN" sz="2000" dirty="0"/>
              <a:t>the confidence of {apple -&gt; beer} is 3 out of 4, or 75%.</a:t>
            </a:r>
          </a:p>
        </p:txBody>
      </p:sp>
      <p:pic>
        <p:nvPicPr>
          <p:cNvPr id="1030" name="Picture 6" descr="Association Rule Confidence eq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1" y="4501544"/>
            <a:ext cx="3733800" cy="1061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209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1"/>
            <a:ext cx="8534400" cy="2308324"/>
          </a:xfrm>
          <a:prstGeom prst="rect">
            <a:avLst/>
          </a:prstGeom>
        </p:spPr>
        <p:txBody>
          <a:bodyPr wrap="square">
            <a:spAutoFit/>
          </a:bodyPr>
          <a:lstStyle/>
          <a:p>
            <a:pPr algn="just"/>
            <a:r>
              <a:rPr lang="en-IN" sz="2400" b="1" dirty="0"/>
              <a:t> Lift</a:t>
            </a:r>
            <a:r>
              <a:rPr lang="en-IN" sz="2400" dirty="0"/>
              <a:t>. This says how likely item Y is purchased when item X is purchased, while controlling for how popular item Y is. the lift of {apple -&gt; beer} is 1,which implies no association between items. A lift value greater than 1 means that item Y is </a:t>
            </a:r>
            <a:r>
              <a:rPr lang="en-IN" sz="2400" i="1" dirty="0"/>
              <a:t>likely</a:t>
            </a:r>
            <a:r>
              <a:rPr lang="en-IN" sz="2400" dirty="0"/>
              <a:t> to be bought if item X is bought, while a value less than 1 means that item Y is </a:t>
            </a:r>
            <a:r>
              <a:rPr lang="en-IN" sz="2400" i="1" dirty="0"/>
              <a:t>unlikely</a:t>
            </a:r>
            <a:r>
              <a:rPr lang="en-IN" sz="2400" dirty="0"/>
              <a:t> to be bought if item X is bought.</a:t>
            </a:r>
          </a:p>
        </p:txBody>
      </p:sp>
      <p:pic>
        <p:nvPicPr>
          <p:cNvPr id="2050" name="Picture 2" descr="Association Rule Lift eq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895600"/>
            <a:ext cx="7239001"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419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1219211"/>
              </p:ext>
            </p:extLst>
          </p:nvPr>
        </p:nvGraphicFramePr>
        <p:xfrm>
          <a:off x="533400" y="577596"/>
          <a:ext cx="7620000" cy="2550414"/>
        </p:xfrm>
        <a:graphic>
          <a:graphicData uri="http://schemas.openxmlformats.org/drawingml/2006/table">
            <a:tbl>
              <a:tblPr>
                <a:tableStyleId>{775DCB02-9BB8-47FD-8907-85C794F793BA}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484264">
                <a:tc>
                  <a:txBody>
                    <a:bodyPr/>
                    <a:lstStyle/>
                    <a:p>
                      <a:pPr marL="0" marR="0">
                        <a:lnSpc>
                          <a:spcPct val="115000"/>
                        </a:lnSpc>
                        <a:spcBef>
                          <a:spcPts val="0"/>
                        </a:spcBef>
                        <a:spcAft>
                          <a:spcPts val="0"/>
                        </a:spcAft>
                      </a:pPr>
                      <a:r>
                        <a:rPr lang="en-US" sz="2200" dirty="0"/>
                        <a:t>transaction ID</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milk</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bread</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butter</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Cold drink</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0"/>
                  </a:ext>
                </a:extLst>
              </a:tr>
              <a:tr h="295508">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1</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1"/>
                  </a:ext>
                </a:extLst>
              </a:tr>
              <a:tr h="314901">
                <a:tc>
                  <a:txBody>
                    <a:bodyPr/>
                    <a:lstStyle/>
                    <a:p>
                      <a:pPr marL="0" marR="0">
                        <a:lnSpc>
                          <a:spcPct val="115000"/>
                        </a:lnSpc>
                        <a:spcBef>
                          <a:spcPts val="0"/>
                        </a:spcBef>
                        <a:spcAft>
                          <a:spcPts val="0"/>
                        </a:spcAft>
                      </a:pPr>
                      <a:r>
                        <a:rPr lang="en-US" sz="2200"/>
                        <a:t>2</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2"/>
                  </a:ext>
                </a:extLst>
              </a:tr>
              <a:tr h="295508">
                <a:tc>
                  <a:txBody>
                    <a:bodyPr/>
                    <a:lstStyle/>
                    <a:p>
                      <a:pPr marL="0" marR="0">
                        <a:lnSpc>
                          <a:spcPct val="115000"/>
                        </a:lnSpc>
                        <a:spcBef>
                          <a:spcPts val="0"/>
                        </a:spcBef>
                        <a:spcAft>
                          <a:spcPts val="0"/>
                        </a:spcAft>
                      </a:pPr>
                      <a:r>
                        <a:rPr lang="en-US" sz="2200"/>
                        <a:t>3</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3"/>
                  </a:ext>
                </a:extLst>
              </a:tr>
              <a:tr h="295508">
                <a:tc>
                  <a:txBody>
                    <a:bodyPr/>
                    <a:lstStyle/>
                    <a:p>
                      <a:pPr marL="0" marR="0">
                        <a:lnSpc>
                          <a:spcPct val="115000"/>
                        </a:lnSpc>
                        <a:spcBef>
                          <a:spcPts val="0"/>
                        </a:spcBef>
                        <a:spcAft>
                          <a:spcPts val="0"/>
                        </a:spcAft>
                      </a:pPr>
                      <a:r>
                        <a:rPr lang="en-US" sz="2200"/>
                        <a:t>4</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1</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extLst>
                  <a:ext uri="{0D108BD9-81ED-4DB2-BD59-A6C34878D82A}">
                    <a16:rowId xmlns:a16="http://schemas.microsoft.com/office/drawing/2014/main" val="10004"/>
                  </a:ext>
                </a:extLst>
              </a:tr>
              <a:tr h="295508">
                <a:tc>
                  <a:txBody>
                    <a:bodyPr/>
                    <a:lstStyle/>
                    <a:p>
                      <a:pPr marL="0" marR="0">
                        <a:lnSpc>
                          <a:spcPct val="115000"/>
                        </a:lnSpc>
                        <a:spcBef>
                          <a:spcPts val="0"/>
                        </a:spcBef>
                        <a:spcAft>
                          <a:spcPts val="0"/>
                        </a:spcAft>
                      </a:pPr>
                      <a:r>
                        <a:rPr lang="en-US" sz="2200"/>
                        <a:t>5</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1</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a:t>0</a:t>
                      </a:r>
                      <a:endParaRPr lang="en-US" sz="2200">
                        <a:latin typeface="Calibri"/>
                        <a:ea typeface="Calibri"/>
                        <a:cs typeface="Times New Roman"/>
                      </a:endParaRPr>
                    </a:p>
                  </a:txBody>
                  <a:tcPr marL="0" marR="0" marT="0" marB="0" anchor="ctr"/>
                </a:tc>
                <a:tc>
                  <a:txBody>
                    <a:bodyPr/>
                    <a:lstStyle/>
                    <a:p>
                      <a:pPr marL="0" marR="0">
                        <a:lnSpc>
                          <a:spcPct val="115000"/>
                        </a:lnSpc>
                        <a:spcBef>
                          <a:spcPts val="0"/>
                        </a:spcBef>
                        <a:spcAft>
                          <a:spcPts val="0"/>
                        </a:spcAft>
                      </a:pPr>
                      <a:r>
                        <a:rPr lang="en-US" sz="2200" dirty="0"/>
                        <a:t>0</a:t>
                      </a:r>
                      <a:endParaRPr lang="en-US" sz="2200" dirty="0">
                        <a:latin typeface="Calibri"/>
                        <a:ea typeface="Calibri"/>
                        <a:cs typeface="Times New Roman"/>
                      </a:endParaRPr>
                    </a:p>
                  </a:txBody>
                  <a:tcPr marL="0" marR="0" marT="0" marB="0" anchor="ctr"/>
                </a:tc>
                <a:extLst>
                  <a:ext uri="{0D108BD9-81ED-4DB2-BD59-A6C34878D82A}">
                    <a16:rowId xmlns:a16="http://schemas.microsoft.com/office/drawing/2014/main" val="10005"/>
                  </a:ext>
                </a:extLst>
              </a:tr>
            </a:tbl>
          </a:graphicData>
        </a:graphic>
      </p:graphicFrame>
      <p:sp>
        <p:nvSpPr>
          <p:cNvPr id="5" name="TextBox 4"/>
          <p:cNvSpPr txBox="1"/>
          <p:nvPr/>
        </p:nvSpPr>
        <p:spPr>
          <a:xfrm>
            <a:off x="685800" y="3657600"/>
            <a:ext cx="7848600" cy="2585323"/>
          </a:xfrm>
          <a:prstGeom prst="rect">
            <a:avLst/>
          </a:prstGeom>
          <a:noFill/>
        </p:spPr>
        <p:txBody>
          <a:bodyPr wrap="square" rtlCol="0">
            <a:spAutoFit/>
          </a:bodyPr>
          <a:lstStyle/>
          <a:p>
            <a:r>
              <a:rPr lang="en-IN" dirty="0"/>
              <a:t>Count</a:t>
            </a:r>
          </a:p>
          <a:p>
            <a:r>
              <a:rPr lang="en-IN" dirty="0"/>
              <a:t>Support (Milk) =	</a:t>
            </a:r>
          </a:p>
          <a:p>
            <a:r>
              <a:rPr lang="en-IN" dirty="0"/>
              <a:t>Support (bread) =</a:t>
            </a:r>
          </a:p>
          <a:p>
            <a:r>
              <a:rPr lang="en-IN" dirty="0"/>
              <a:t>Support (butter) =</a:t>
            </a:r>
          </a:p>
          <a:p>
            <a:r>
              <a:rPr lang="en-IN" dirty="0"/>
              <a:t>Support (Cold drink) =</a:t>
            </a:r>
          </a:p>
          <a:p>
            <a:r>
              <a:rPr lang="en-IN" dirty="0"/>
              <a:t>Support (Milk, Bread) =</a:t>
            </a:r>
          </a:p>
          <a:p>
            <a:r>
              <a:rPr lang="en-IN" dirty="0"/>
              <a:t>Support (Milk, butter)=</a:t>
            </a:r>
          </a:p>
          <a:p>
            <a:r>
              <a:rPr lang="en-IN" dirty="0"/>
              <a:t>Support (Milk, Cold drink) =</a:t>
            </a:r>
          </a:p>
          <a:p>
            <a:endParaRPr lang="en-IN" dirty="0"/>
          </a:p>
        </p:txBody>
      </p:sp>
    </p:spTree>
    <p:extLst>
      <p:ext uri="{BB962C8B-B14F-4D97-AF65-F5344CB8AC3E}">
        <p14:creationId xmlns:p14="http://schemas.microsoft.com/office/powerpoint/2010/main" val="131918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DF812-EDF1-4DAE-AB9B-C58386A1C5DF}"/>
              </a:ext>
            </a:extLst>
          </p:cNvPr>
          <p:cNvSpPr>
            <a:spLocks noGrp="1"/>
          </p:cNvSpPr>
          <p:nvPr>
            <p:ph type="title"/>
          </p:nvPr>
        </p:nvSpPr>
        <p:spPr/>
        <p:txBody>
          <a:bodyPr/>
          <a:lstStyle/>
          <a:p>
            <a:endParaRPr lang="en-IN"/>
          </a:p>
        </p:txBody>
      </p:sp>
      <p:pic>
        <p:nvPicPr>
          <p:cNvPr id="4" name="Picture 11">
            <a:extLst>
              <a:ext uri="{FF2B5EF4-FFF2-40B4-BE49-F238E27FC236}">
                <a16:creationId xmlns:a16="http://schemas.microsoft.com/office/drawing/2014/main" id="{0F2DED5B-45B8-49B1-9BAC-A7D6006C7289}"/>
              </a:ext>
            </a:extLst>
          </p:cNvPr>
          <p:cNvPicPr>
            <a:picLocks noGrp="1" noChangeAspect="1" noChangeArrowheads="1"/>
          </p:cNvPicPr>
          <p:nvPr>
            <p:ph idx="1"/>
          </p:nvPr>
        </p:nvPicPr>
        <p:blipFill>
          <a:blip r:embed="rId2"/>
          <a:srcRect/>
          <a:stretch>
            <a:fillRect/>
          </a:stretch>
        </p:blipFill>
        <p:spPr bwMode="auto">
          <a:xfrm>
            <a:off x="1766887" y="1877219"/>
            <a:ext cx="5610225" cy="3971925"/>
          </a:xfrm>
          <a:prstGeom prst="rect">
            <a:avLst/>
          </a:prstGeom>
          <a:noFill/>
          <a:ln w="9525">
            <a:noFill/>
            <a:miter lim="800000"/>
            <a:headEnd/>
            <a:tailEnd/>
          </a:ln>
          <a:effectLst/>
        </p:spPr>
      </p:pic>
    </p:spTree>
    <p:extLst>
      <p:ext uri="{BB962C8B-B14F-4D97-AF65-F5344CB8AC3E}">
        <p14:creationId xmlns:p14="http://schemas.microsoft.com/office/powerpoint/2010/main" val="3487134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4"/>
                                        </p:tgtEl>
                                        <p:attrNameLst>
                                          <p:attrName>ppt_x</p:attrName>
                                        </p:attrNameLst>
                                      </p:cBhvr>
                                      <p:tavLst>
                                        <p:tav tm="0">
                                          <p:val>
                                            <p:strVal val="ppt_x"/>
                                          </p:val>
                                        </p:tav>
                                        <p:tav tm="100000">
                                          <p:val>
                                            <p:strVal val="ppt_x"/>
                                          </p:val>
                                        </p:tav>
                                      </p:tavLst>
                                    </p:anim>
                                    <p:anim calcmode="lin" valueType="num">
                                      <p:cBhvr additive="base">
                                        <p:cTn id="13" dur="500"/>
                                        <p:tgtEl>
                                          <p:spTgt spid="4"/>
                                        </p:tgtEl>
                                        <p:attrNameLst>
                                          <p:attrName>ppt_y</p:attrName>
                                        </p:attrNameLst>
                                      </p:cBhvr>
                                      <p:tavLst>
                                        <p:tav tm="0">
                                          <p:val>
                                            <p:strVal val="ppt_y"/>
                                          </p:val>
                                        </p:tav>
                                        <p:tav tm="100000">
                                          <p:val>
                                            <p:strVal val="1+ppt_h/2"/>
                                          </p:val>
                                        </p:tav>
                                      </p:tavLst>
                                    </p:anim>
                                    <p:set>
                                      <p:cBhvr>
                                        <p:cTn id="1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61" name="Picture 9" descr="https://www.saedsayad.com/images/AR_2.png"/>
          <p:cNvPicPr>
            <a:picLocks noChangeAspect="1" noChangeArrowheads="1"/>
          </p:cNvPicPr>
          <p:nvPr/>
        </p:nvPicPr>
        <p:blipFill>
          <a:blip r:embed="rId2"/>
          <a:srcRect/>
          <a:stretch>
            <a:fillRect/>
          </a:stretch>
        </p:blipFill>
        <p:spPr bwMode="auto">
          <a:xfrm>
            <a:off x="1295400" y="1143000"/>
            <a:ext cx="6705600" cy="4965862"/>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61"/>
                                        </p:tgtEl>
                                        <p:attrNameLst>
                                          <p:attrName>style.visibility</p:attrName>
                                        </p:attrNameLst>
                                      </p:cBhvr>
                                      <p:to>
                                        <p:strVal val="visible"/>
                                      </p:to>
                                    </p:set>
                                    <p:anim calcmode="lin" valueType="num">
                                      <p:cBhvr additive="base">
                                        <p:cTn id="7" dur="500" fill="hold"/>
                                        <p:tgtEl>
                                          <p:spTgt spid="23561"/>
                                        </p:tgtEl>
                                        <p:attrNameLst>
                                          <p:attrName>ppt_x</p:attrName>
                                        </p:attrNameLst>
                                      </p:cBhvr>
                                      <p:tavLst>
                                        <p:tav tm="0">
                                          <p:val>
                                            <p:strVal val="#ppt_x"/>
                                          </p:val>
                                        </p:tav>
                                        <p:tav tm="100000">
                                          <p:val>
                                            <p:strVal val="#ppt_x"/>
                                          </p:val>
                                        </p:tav>
                                      </p:tavLst>
                                    </p:anim>
                                    <p:anim calcmode="lin" valueType="num">
                                      <p:cBhvr additive="base">
                                        <p:cTn id="8" dur="500" fill="hold"/>
                                        <p:tgtEl>
                                          <p:spTgt spid="235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28600" y="293370"/>
          <a:ext cx="8534400" cy="4139184"/>
        </p:xfrm>
        <a:graphic>
          <a:graphicData uri="http://schemas.openxmlformats.org/drawingml/2006/table">
            <a:tbl>
              <a:tblPr/>
              <a:tblGrid>
                <a:gridCol w="2770909">
                  <a:extLst>
                    <a:ext uri="{9D8B030D-6E8A-4147-A177-3AD203B41FA5}">
                      <a16:colId xmlns:a16="http://schemas.microsoft.com/office/drawing/2014/main" val="20000"/>
                    </a:ext>
                  </a:extLst>
                </a:gridCol>
                <a:gridCol w="1019694">
                  <a:extLst>
                    <a:ext uri="{9D8B030D-6E8A-4147-A177-3AD203B41FA5}">
                      <a16:colId xmlns:a16="http://schemas.microsoft.com/office/drawing/2014/main" val="20001"/>
                    </a:ext>
                  </a:extLst>
                </a:gridCol>
                <a:gridCol w="1086196">
                  <a:extLst>
                    <a:ext uri="{9D8B030D-6E8A-4147-A177-3AD203B41FA5}">
                      <a16:colId xmlns:a16="http://schemas.microsoft.com/office/drawing/2014/main" val="20002"/>
                    </a:ext>
                  </a:extLst>
                </a:gridCol>
                <a:gridCol w="1108365">
                  <a:extLst>
                    <a:ext uri="{9D8B030D-6E8A-4147-A177-3AD203B41FA5}">
                      <a16:colId xmlns:a16="http://schemas.microsoft.com/office/drawing/2014/main" val="20003"/>
                    </a:ext>
                  </a:extLst>
                </a:gridCol>
                <a:gridCol w="864524">
                  <a:extLst>
                    <a:ext uri="{9D8B030D-6E8A-4147-A177-3AD203B41FA5}">
                      <a16:colId xmlns:a16="http://schemas.microsoft.com/office/drawing/2014/main" val="20004"/>
                    </a:ext>
                  </a:extLst>
                </a:gridCol>
                <a:gridCol w="1684712">
                  <a:extLst>
                    <a:ext uri="{9D8B030D-6E8A-4147-A177-3AD203B41FA5}">
                      <a16:colId xmlns:a16="http://schemas.microsoft.com/office/drawing/2014/main" val="20005"/>
                    </a:ext>
                  </a:extLst>
                </a:gridCol>
              </a:tblGrid>
              <a:tr h="542325">
                <a:tc>
                  <a:txBody>
                    <a:bodyPr/>
                    <a:lstStyle/>
                    <a:p>
                      <a:pPr marL="0" marR="0" algn="ctr">
                        <a:lnSpc>
                          <a:spcPct val="115000"/>
                        </a:lnSpc>
                        <a:spcBef>
                          <a:spcPts val="0"/>
                        </a:spcBef>
                        <a:spcAft>
                          <a:spcPts val="1800"/>
                        </a:spcAft>
                      </a:pPr>
                      <a:r>
                        <a:rPr lang="en-US" sz="2200" b="1">
                          <a:latin typeface="Times New Roman"/>
                          <a:ea typeface="Times New Roman"/>
                          <a:cs typeface="Times New Roman"/>
                        </a:rPr>
                        <a:t>Transaction ID</a:t>
                      </a:r>
                      <a:endParaRPr lang="en-US" sz="2200">
                        <a:latin typeface="Calibri"/>
                        <a:ea typeface="Times New Roman"/>
                        <a:cs typeface="Times New Roman"/>
                      </a:endParaRPr>
                    </a:p>
                  </a:txBody>
                  <a:tcPr marL="114300" marR="114300" marT="114300" marB="114300" anchor="ctr">
                    <a:lnL w="12700" cap="flat" cmpd="sng" algn="ctr">
                      <a:solidFill>
                        <a:srgbClr val="CCCCCC"/>
                      </a:solidFill>
                      <a:prstDash val="solid"/>
                      <a:round/>
                      <a:headEnd type="none" w="med" len="med"/>
                      <a:tailEnd type="none" w="med" len="med"/>
                    </a:lnL>
                    <a:lnR>
                      <a:noFill/>
                    </a:lnR>
                    <a:lnT w="12700" cap="flat" cmpd="sng" algn="ctr">
                      <a:solidFill>
                        <a:srgbClr val="CCCCCC"/>
                      </a:solidFill>
                      <a:prstDash val="solid"/>
                      <a:round/>
                      <a:headEnd type="none" w="med" len="med"/>
                      <a:tailEnd type="none" w="med" len="med"/>
                    </a:lnT>
                    <a:lnB>
                      <a:noFill/>
                    </a:lnB>
                  </a:tcPr>
                </a:tc>
                <a:tc>
                  <a:txBody>
                    <a:bodyPr/>
                    <a:lstStyle/>
                    <a:p>
                      <a:pPr marL="0" marR="0" algn="ctr">
                        <a:lnSpc>
                          <a:spcPct val="115000"/>
                        </a:lnSpc>
                        <a:spcBef>
                          <a:spcPts val="0"/>
                        </a:spcBef>
                        <a:spcAft>
                          <a:spcPts val="1800"/>
                        </a:spcAft>
                      </a:pPr>
                      <a:r>
                        <a:rPr lang="en-US" sz="2200" b="1">
                          <a:latin typeface="Times New Roman"/>
                          <a:ea typeface="Times New Roman"/>
                          <a:cs typeface="Times New Roman"/>
                        </a:rPr>
                        <a:t>Onion</a:t>
                      </a:r>
                      <a:endParaRPr lang="en-US" sz="2200">
                        <a:latin typeface="Calibri"/>
                        <a:ea typeface="Times New Roman"/>
                        <a:cs typeface="Times New Roman"/>
                      </a:endParaRPr>
                    </a:p>
                  </a:txBody>
                  <a:tcPr marL="114300" marR="114300" marT="114300" marB="114300" anchor="ctr">
                    <a:lnL>
                      <a:noFill/>
                    </a:lnL>
                    <a:lnR>
                      <a:noFill/>
                    </a:lnR>
                    <a:lnT w="12700" cap="flat" cmpd="sng" algn="ctr">
                      <a:solidFill>
                        <a:srgbClr val="CCCCCC"/>
                      </a:solidFill>
                      <a:prstDash val="solid"/>
                      <a:round/>
                      <a:headEnd type="none" w="med" len="med"/>
                      <a:tailEnd type="none" w="med" len="med"/>
                    </a:lnT>
                    <a:lnB>
                      <a:noFill/>
                    </a:lnB>
                  </a:tcPr>
                </a:tc>
                <a:tc>
                  <a:txBody>
                    <a:bodyPr/>
                    <a:lstStyle/>
                    <a:p>
                      <a:pPr marL="0" marR="0" algn="ctr">
                        <a:lnSpc>
                          <a:spcPct val="115000"/>
                        </a:lnSpc>
                        <a:spcBef>
                          <a:spcPts val="0"/>
                        </a:spcBef>
                        <a:spcAft>
                          <a:spcPts val="1800"/>
                        </a:spcAft>
                      </a:pPr>
                      <a:r>
                        <a:rPr lang="en-US" sz="2200" b="1">
                          <a:latin typeface="Times New Roman"/>
                          <a:ea typeface="Times New Roman"/>
                          <a:cs typeface="Times New Roman"/>
                        </a:rPr>
                        <a:t>Potato</a:t>
                      </a:r>
                      <a:endParaRPr lang="en-US" sz="2200">
                        <a:latin typeface="Calibri"/>
                        <a:ea typeface="Times New Roman"/>
                        <a:cs typeface="Times New Roman"/>
                      </a:endParaRPr>
                    </a:p>
                  </a:txBody>
                  <a:tcPr marL="114300" marR="114300" marT="114300" marB="114300" anchor="ctr">
                    <a:lnL>
                      <a:noFill/>
                    </a:lnL>
                    <a:lnR>
                      <a:noFill/>
                    </a:lnR>
                    <a:lnT w="12700" cap="flat" cmpd="sng" algn="ctr">
                      <a:solidFill>
                        <a:srgbClr val="CCCCCC"/>
                      </a:solidFill>
                      <a:prstDash val="solid"/>
                      <a:round/>
                      <a:headEnd type="none" w="med" len="med"/>
                      <a:tailEnd type="none" w="med" len="med"/>
                    </a:lnT>
                    <a:lnB>
                      <a:noFill/>
                    </a:lnB>
                  </a:tcPr>
                </a:tc>
                <a:tc>
                  <a:txBody>
                    <a:bodyPr/>
                    <a:lstStyle/>
                    <a:p>
                      <a:pPr marL="0" marR="0" algn="ctr">
                        <a:lnSpc>
                          <a:spcPct val="115000"/>
                        </a:lnSpc>
                        <a:spcBef>
                          <a:spcPts val="0"/>
                        </a:spcBef>
                        <a:spcAft>
                          <a:spcPts val="1800"/>
                        </a:spcAft>
                      </a:pPr>
                      <a:r>
                        <a:rPr lang="en-US" sz="2200" b="1">
                          <a:latin typeface="Times New Roman"/>
                          <a:ea typeface="Times New Roman"/>
                          <a:cs typeface="Times New Roman"/>
                        </a:rPr>
                        <a:t>Burger</a:t>
                      </a:r>
                      <a:endParaRPr lang="en-US" sz="2200">
                        <a:latin typeface="Calibri"/>
                        <a:ea typeface="Times New Roman"/>
                        <a:cs typeface="Times New Roman"/>
                      </a:endParaRPr>
                    </a:p>
                  </a:txBody>
                  <a:tcPr marL="114300" marR="114300" marT="114300" marB="114300" anchor="ctr">
                    <a:lnL>
                      <a:noFill/>
                    </a:lnL>
                    <a:lnR>
                      <a:noFill/>
                    </a:lnR>
                    <a:lnT w="12700" cap="flat" cmpd="sng" algn="ctr">
                      <a:solidFill>
                        <a:srgbClr val="CCCCCC"/>
                      </a:solidFill>
                      <a:prstDash val="solid"/>
                      <a:round/>
                      <a:headEnd type="none" w="med" len="med"/>
                      <a:tailEnd type="none" w="med" len="med"/>
                    </a:lnT>
                    <a:lnB>
                      <a:noFill/>
                    </a:lnB>
                  </a:tcPr>
                </a:tc>
                <a:tc>
                  <a:txBody>
                    <a:bodyPr/>
                    <a:lstStyle/>
                    <a:p>
                      <a:pPr marL="0" marR="0" algn="ctr">
                        <a:lnSpc>
                          <a:spcPct val="115000"/>
                        </a:lnSpc>
                        <a:spcBef>
                          <a:spcPts val="0"/>
                        </a:spcBef>
                        <a:spcAft>
                          <a:spcPts val="1800"/>
                        </a:spcAft>
                      </a:pPr>
                      <a:r>
                        <a:rPr lang="en-US" sz="2200" b="1">
                          <a:latin typeface="Times New Roman"/>
                          <a:ea typeface="Times New Roman"/>
                          <a:cs typeface="Times New Roman"/>
                        </a:rPr>
                        <a:t>Milk</a:t>
                      </a:r>
                      <a:endParaRPr lang="en-US" sz="2200">
                        <a:latin typeface="Calibri"/>
                        <a:ea typeface="Times New Roman"/>
                        <a:cs typeface="Times New Roman"/>
                      </a:endParaRPr>
                    </a:p>
                  </a:txBody>
                  <a:tcPr marL="114300" marR="114300" marT="114300" marB="114300" anchor="ctr">
                    <a:lnL>
                      <a:noFill/>
                    </a:lnL>
                    <a:lnR>
                      <a:noFill/>
                    </a:lnR>
                    <a:lnT w="12700" cap="flat" cmpd="sng" algn="ctr">
                      <a:solidFill>
                        <a:srgbClr val="CCCCCC"/>
                      </a:solidFill>
                      <a:prstDash val="solid"/>
                      <a:round/>
                      <a:headEnd type="none" w="med" len="med"/>
                      <a:tailEnd type="none" w="med" len="med"/>
                    </a:lnT>
                    <a:lnB>
                      <a:noFill/>
                    </a:lnB>
                  </a:tcPr>
                </a:tc>
                <a:tc>
                  <a:txBody>
                    <a:bodyPr/>
                    <a:lstStyle/>
                    <a:p>
                      <a:pPr marL="0" marR="0" algn="ctr">
                        <a:lnSpc>
                          <a:spcPct val="115000"/>
                        </a:lnSpc>
                        <a:spcBef>
                          <a:spcPts val="0"/>
                        </a:spcBef>
                        <a:spcAft>
                          <a:spcPts val="1800"/>
                        </a:spcAft>
                      </a:pPr>
                      <a:r>
                        <a:rPr lang="en-US" sz="2200" b="1">
                          <a:latin typeface="Times New Roman"/>
                          <a:ea typeface="Times New Roman"/>
                          <a:cs typeface="Times New Roman"/>
                        </a:rPr>
                        <a:t>Beer</a:t>
                      </a:r>
                      <a:endParaRPr lang="en-US" sz="2200">
                        <a:latin typeface="Calibri"/>
                        <a:ea typeface="Times New Roman"/>
                        <a:cs typeface="Times New Roman"/>
                      </a:endParaRPr>
                    </a:p>
                  </a:txBody>
                  <a:tcPr marL="114300" marR="114300" marT="114300" marB="114300" anchor="ctr">
                    <a:lnL>
                      <a:noFill/>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10000"/>
                  </a:ext>
                </a:extLst>
              </a:tr>
              <a:tr h="493812">
                <a:tc>
                  <a:txBody>
                    <a:bodyPr/>
                    <a:lstStyle/>
                    <a:p>
                      <a:pPr marL="0" marR="0" algn="ctr">
                        <a:lnSpc>
                          <a:spcPct val="115000"/>
                        </a:lnSpc>
                        <a:spcBef>
                          <a:spcPts val="0"/>
                        </a:spcBef>
                        <a:spcAft>
                          <a:spcPts val="0"/>
                        </a:spcAft>
                      </a:pPr>
                      <a:r>
                        <a:rPr lang="en-US" sz="2200">
                          <a:latin typeface="MathJax_Math-italic"/>
                          <a:ea typeface="Times New Roman"/>
                          <a:cs typeface="Arial"/>
                        </a:rPr>
                        <a:t>t</a:t>
                      </a:r>
                      <a:r>
                        <a:rPr lang="en-US" sz="2200">
                          <a:latin typeface="MathJax_Main"/>
                          <a:ea typeface="Times New Roman"/>
                          <a:cs typeface="Arial"/>
                        </a:rPr>
                        <a:t>1</a:t>
                      </a:r>
                      <a:endParaRPr lang="en-US" sz="2200">
                        <a:latin typeface="Calibri"/>
                        <a:ea typeface="Times New Roman"/>
                        <a:cs typeface="Times New Roman"/>
                      </a:endParaRPr>
                    </a:p>
                  </a:txBody>
                  <a:tcPr marL="114300" marR="114300" marT="114300" marB="114300" anchor="ctr">
                    <a:lnL w="12700" cap="flat" cmpd="sng" algn="ctr">
                      <a:solidFill>
                        <a:srgbClr val="CCCCCC"/>
                      </a:solidFill>
                      <a:prstDash val="solid"/>
                      <a:round/>
                      <a:headEnd type="none" w="med" len="med"/>
                      <a:tailEnd type="none" w="med" len="med"/>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w="12700" cap="flat" cmpd="sng" algn="ctr">
                      <a:solidFill>
                        <a:srgbClr val="CCCCCC"/>
                      </a:solidFill>
                      <a:prstDash val="solid"/>
                      <a:round/>
                      <a:headEnd type="none" w="med" len="med"/>
                      <a:tailEnd type="none" w="med" len="med"/>
                    </a:lnR>
                    <a:lnT>
                      <a:noFill/>
                    </a:lnT>
                    <a:lnB>
                      <a:noFill/>
                    </a:lnB>
                    <a:solidFill>
                      <a:srgbClr val="F9F9F9"/>
                    </a:solidFill>
                  </a:tcPr>
                </a:tc>
                <a:extLst>
                  <a:ext uri="{0D108BD9-81ED-4DB2-BD59-A6C34878D82A}">
                    <a16:rowId xmlns:a16="http://schemas.microsoft.com/office/drawing/2014/main" val="10001"/>
                  </a:ext>
                </a:extLst>
              </a:tr>
              <a:tr h="493812">
                <a:tc>
                  <a:txBody>
                    <a:bodyPr/>
                    <a:lstStyle/>
                    <a:p>
                      <a:pPr marL="0" marR="0" algn="ctr">
                        <a:lnSpc>
                          <a:spcPct val="115000"/>
                        </a:lnSpc>
                        <a:spcBef>
                          <a:spcPts val="0"/>
                        </a:spcBef>
                        <a:spcAft>
                          <a:spcPts val="0"/>
                        </a:spcAft>
                      </a:pPr>
                      <a:r>
                        <a:rPr lang="en-US" sz="2200">
                          <a:latin typeface="MathJax_Math-italic"/>
                          <a:ea typeface="Times New Roman"/>
                          <a:cs typeface="Arial"/>
                        </a:rPr>
                        <a:t>t</a:t>
                      </a:r>
                      <a:r>
                        <a:rPr lang="en-US" sz="2200">
                          <a:latin typeface="MathJax_Main"/>
                          <a:ea typeface="Times New Roman"/>
                          <a:cs typeface="Arial"/>
                        </a:rPr>
                        <a:t>2</a:t>
                      </a:r>
                      <a:endParaRPr lang="en-US" sz="2200">
                        <a:latin typeface="Calibri"/>
                        <a:ea typeface="Times New Roman"/>
                        <a:cs typeface="Times New Roman"/>
                      </a:endParaRPr>
                    </a:p>
                  </a:txBody>
                  <a:tcPr marL="114300" marR="114300" marT="114300" marB="114300" anchor="ctr">
                    <a:lnL w="12700" cap="flat" cmpd="sng" algn="ctr">
                      <a:solidFill>
                        <a:srgbClr val="CCCCCC"/>
                      </a:solidFill>
                      <a:prstDash val="solid"/>
                      <a:round/>
                      <a:headEnd type="none" w="med" len="med"/>
                      <a:tailEnd type="none" w="med" len="med"/>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w="12700" cap="flat" cmpd="sng" algn="ctr">
                      <a:solidFill>
                        <a:srgbClr val="CCCCCC"/>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493812">
                <a:tc>
                  <a:txBody>
                    <a:bodyPr/>
                    <a:lstStyle/>
                    <a:p>
                      <a:pPr marL="0" marR="0" algn="ctr">
                        <a:lnSpc>
                          <a:spcPct val="115000"/>
                        </a:lnSpc>
                        <a:spcBef>
                          <a:spcPts val="0"/>
                        </a:spcBef>
                        <a:spcAft>
                          <a:spcPts val="0"/>
                        </a:spcAft>
                      </a:pPr>
                      <a:r>
                        <a:rPr lang="en-US" sz="2200" dirty="0">
                          <a:latin typeface="MathJax_Math-italic"/>
                          <a:ea typeface="Times New Roman"/>
                          <a:cs typeface="Arial"/>
                        </a:rPr>
                        <a:t>t</a:t>
                      </a:r>
                      <a:r>
                        <a:rPr lang="en-US" sz="2200" dirty="0">
                          <a:latin typeface="MathJax_Main"/>
                          <a:ea typeface="Times New Roman"/>
                          <a:cs typeface="Arial"/>
                        </a:rPr>
                        <a:t>3</a:t>
                      </a:r>
                      <a:endParaRPr lang="en-US" sz="2200" dirty="0">
                        <a:latin typeface="Calibri"/>
                        <a:ea typeface="Times New Roman"/>
                        <a:cs typeface="Times New Roman"/>
                      </a:endParaRPr>
                    </a:p>
                  </a:txBody>
                  <a:tcPr marL="114300" marR="114300" marT="114300" marB="114300" anchor="ctr">
                    <a:lnL w="12700" cap="flat" cmpd="sng" algn="ctr">
                      <a:solidFill>
                        <a:srgbClr val="CCCCCC"/>
                      </a:solidFill>
                      <a:prstDash val="solid"/>
                      <a:round/>
                      <a:headEnd type="none" w="med" len="med"/>
                      <a:tailEnd type="none" w="med" len="med"/>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w="12700" cap="flat" cmpd="sng" algn="ctr">
                      <a:solidFill>
                        <a:srgbClr val="CCCCCC"/>
                      </a:solidFill>
                      <a:prstDash val="solid"/>
                      <a:round/>
                      <a:headEnd type="none" w="med" len="med"/>
                      <a:tailEnd type="none" w="med" len="med"/>
                    </a:lnR>
                    <a:lnT>
                      <a:noFill/>
                    </a:lnT>
                    <a:lnB>
                      <a:noFill/>
                    </a:lnB>
                    <a:solidFill>
                      <a:srgbClr val="F9F9F9"/>
                    </a:solidFill>
                  </a:tcPr>
                </a:tc>
                <a:extLst>
                  <a:ext uri="{0D108BD9-81ED-4DB2-BD59-A6C34878D82A}">
                    <a16:rowId xmlns:a16="http://schemas.microsoft.com/office/drawing/2014/main" val="10003"/>
                  </a:ext>
                </a:extLst>
              </a:tr>
              <a:tr h="493812">
                <a:tc>
                  <a:txBody>
                    <a:bodyPr/>
                    <a:lstStyle/>
                    <a:p>
                      <a:pPr marL="0" marR="0" algn="ctr">
                        <a:lnSpc>
                          <a:spcPct val="115000"/>
                        </a:lnSpc>
                        <a:spcBef>
                          <a:spcPts val="0"/>
                        </a:spcBef>
                        <a:spcAft>
                          <a:spcPts val="0"/>
                        </a:spcAft>
                      </a:pPr>
                      <a:r>
                        <a:rPr lang="en-US" sz="2200">
                          <a:latin typeface="MathJax_Math-italic"/>
                          <a:ea typeface="Times New Roman"/>
                          <a:cs typeface="Arial"/>
                        </a:rPr>
                        <a:t>t</a:t>
                      </a:r>
                      <a:r>
                        <a:rPr lang="en-US" sz="2200">
                          <a:latin typeface="MathJax_Main"/>
                          <a:ea typeface="Times New Roman"/>
                          <a:cs typeface="Arial"/>
                        </a:rPr>
                        <a:t>4</a:t>
                      </a:r>
                      <a:endParaRPr lang="en-US" sz="2200">
                        <a:latin typeface="Calibri"/>
                        <a:ea typeface="Times New Roman"/>
                        <a:cs typeface="Times New Roman"/>
                      </a:endParaRPr>
                    </a:p>
                  </a:txBody>
                  <a:tcPr marL="114300" marR="114300" marT="114300" marB="114300" anchor="ctr">
                    <a:lnL w="12700" cap="flat" cmpd="sng" algn="ctr">
                      <a:solidFill>
                        <a:srgbClr val="CCCCCC"/>
                      </a:solidFill>
                      <a:prstDash val="solid"/>
                      <a:round/>
                      <a:headEnd type="none" w="med" len="med"/>
                      <a:tailEnd type="none" w="med" len="med"/>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w="12700" cap="flat" cmpd="sng" algn="ctr">
                      <a:solidFill>
                        <a:srgbClr val="CCCCCC"/>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493812">
                <a:tc>
                  <a:txBody>
                    <a:bodyPr/>
                    <a:lstStyle/>
                    <a:p>
                      <a:pPr marL="0" marR="0" algn="ctr">
                        <a:lnSpc>
                          <a:spcPct val="115000"/>
                        </a:lnSpc>
                        <a:spcBef>
                          <a:spcPts val="0"/>
                        </a:spcBef>
                        <a:spcAft>
                          <a:spcPts val="0"/>
                        </a:spcAft>
                      </a:pPr>
                      <a:r>
                        <a:rPr lang="en-US" sz="2200">
                          <a:latin typeface="MathJax_Math-italic"/>
                          <a:ea typeface="Times New Roman"/>
                          <a:cs typeface="Arial"/>
                        </a:rPr>
                        <a:t>t</a:t>
                      </a:r>
                      <a:r>
                        <a:rPr lang="en-US" sz="2200">
                          <a:latin typeface="MathJax_Main"/>
                          <a:ea typeface="Times New Roman"/>
                          <a:cs typeface="Arial"/>
                        </a:rPr>
                        <a:t>5</a:t>
                      </a:r>
                      <a:endParaRPr lang="en-US" sz="2200">
                        <a:latin typeface="Calibri"/>
                        <a:ea typeface="Times New Roman"/>
                        <a:cs typeface="Times New Roman"/>
                      </a:endParaRPr>
                    </a:p>
                  </a:txBody>
                  <a:tcPr marL="114300" marR="114300" marT="114300" marB="114300" anchor="ctr">
                    <a:lnL w="12700" cap="flat" cmpd="sng" algn="ctr">
                      <a:solidFill>
                        <a:srgbClr val="CCCCCC"/>
                      </a:solidFill>
                      <a:prstDash val="solid"/>
                      <a:round/>
                      <a:headEnd type="none" w="med" len="med"/>
                      <a:tailEnd type="none" w="med" len="med"/>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0</a:t>
                      </a:r>
                      <a:endParaRPr lang="en-US" sz="2200">
                        <a:latin typeface="Calibri"/>
                        <a:ea typeface="Times New Roman"/>
                        <a:cs typeface="Times New Roman"/>
                      </a:endParaRPr>
                    </a:p>
                  </a:txBody>
                  <a:tcPr marL="114300" marR="114300" marT="114300" marB="114300" anchor="ctr">
                    <a:lnL>
                      <a:noFill/>
                    </a:lnL>
                    <a:lnR>
                      <a:noFill/>
                    </a:lnR>
                    <a:lnT>
                      <a:noFill/>
                    </a:lnT>
                    <a:lnB>
                      <a:noFill/>
                    </a:lnB>
                    <a:solidFill>
                      <a:srgbClr val="F9F9F9"/>
                    </a:solidFill>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w="12700" cap="flat" cmpd="sng" algn="ctr">
                      <a:solidFill>
                        <a:srgbClr val="CCCCCC"/>
                      </a:solidFill>
                      <a:prstDash val="solid"/>
                      <a:round/>
                      <a:headEnd type="none" w="med" len="med"/>
                      <a:tailEnd type="none" w="med" len="med"/>
                    </a:lnR>
                    <a:lnT>
                      <a:noFill/>
                    </a:lnT>
                    <a:lnB>
                      <a:noFill/>
                    </a:lnB>
                    <a:solidFill>
                      <a:srgbClr val="F9F9F9"/>
                    </a:solidFill>
                  </a:tcPr>
                </a:tc>
                <a:extLst>
                  <a:ext uri="{0D108BD9-81ED-4DB2-BD59-A6C34878D82A}">
                    <a16:rowId xmlns:a16="http://schemas.microsoft.com/office/drawing/2014/main" val="10005"/>
                  </a:ext>
                </a:extLst>
              </a:tr>
              <a:tr h="493812">
                <a:tc>
                  <a:txBody>
                    <a:bodyPr/>
                    <a:lstStyle/>
                    <a:p>
                      <a:pPr marL="0" marR="0" algn="ctr">
                        <a:lnSpc>
                          <a:spcPct val="115000"/>
                        </a:lnSpc>
                        <a:spcBef>
                          <a:spcPts val="0"/>
                        </a:spcBef>
                        <a:spcAft>
                          <a:spcPts val="0"/>
                        </a:spcAft>
                      </a:pPr>
                      <a:r>
                        <a:rPr lang="en-US" sz="2200">
                          <a:latin typeface="MathJax_Math-italic"/>
                          <a:ea typeface="Times New Roman"/>
                          <a:cs typeface="Arial"/>
                        </a:rPr>
                        <a:t>t</a:t>
                      </a:r>
                      <a:r>
                        <a:rPr lang="en-US" sz="2200">
                          <a:latin typeface="MathJax_Main"/>
                          <a:ea typeface="Times New Roman"/>
                          <a:cs typeface="Arial"/>
                        </a:rPr>
                        <a:t>6</a:t>
                      </a:r>
                      <a:endParaRPr lang="en-US" sz="2200">
                        <a:latin typeface="Calibri"/>
                        <a:ea typeface="Times New Roman"/>
                        <a:cs typeface="Times New Roman"/>
                      </a:endParaRPr>
                    </a:p>
                  </a:txBody>
                  <a:tcPr marL="114300" marR="114300" marT="114300" marB="114300" anchor="ctr">
                    <a:lnL w="12700" cap="flat" cmpd="sng" algn="ctr">
                      <a:solidFill>
                        <a:srgbClr val="CCCCCC"/>
                      </a:solidFill>
                      <a:prstDash val="solid"/>
                      <a:round/>
                      <a:headEnd type="none" w="med" len="med"/>
                      <a:tailEnd type="none" w="med" len="med"/>
                    </a:lnL>
                    <a:lnR>
                      <a:noFill/>
                    </a:lnR>
                    <a:lnT>
                      <a:noFill/>
                    </a:lnT>
                    <a:lnB w="12700" cap="flat" cmpd="sng" algn="ctr">
                      <a:solidFill>
                        <a:srgbClr val="CCCCCC"/>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w="12700" cap="flat" cmpd="sng" algn="ctr">
                      <a:solidFill>
                        <a:srgbClr val="CCCCCC"/>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w="12700" cap="flat" cmpd="sng" algn="ctr">
                      <a:solidFill>
                        <a:srgbClr val="CCCCCC"/>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w="12700" cap="flat" cmpd="sng" algn="ctr">
                      <a:solidFill>
                        <a:srgbClr val="CCCCCC"/>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Arial"/>
                          <a:ea typeface="Times New Roman"/>
                          <a:cs typeface="Times New Roman"/>
                        </a:rPr>
                        <a:t>1</a:t>
                      </a:r>
                      <a:endParaRPr lang="en-US" sz="2200">
                        <a:latin typeface="Calibri"/>
                        <a:ea typeface="Times New Roman"/>
                        <a:cs typeface="Times New Roman"/>
                      </a:endParaRPr>
                    </a:p>
                  </a:txBody>
                  <a:tcPr marL="114300" marR="114300" marT="114300" marB="114300" anchor="ctr">
                    <a:lnL>
                      <a:noFill/>
                    </a:lnL>
                    <a:lnR>
                      <a:noFill/>
                    </a:lnR>
                    <a:lnT>
                      <a:noFill/>
                    </a:lnT>
                    <a:lnB w="12700" cap="flat" cmpd="sng" algn="ctr">
                      <a:solidFill>
                        <a:srgbClr val="CCCCCC"/>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Arial"/>
                          <a:ea typeface="Times New Roman"/>
                          <a:cs typeface="Times New Roman"/>
                        </a:rPr>
                        <a:t>1</a:t>
                      </a:r>
                      <a:endParaRPr lang="en-US" sz="2200" dirty="0">
                        <a:latin typeface="Calibri"/>
                        <a:ea typeface="Times New Roman"/>
                        <a:cs typeface="Times New Roman"/>
                      </a:endParaRPr>
                    </a:p>
                  </a:txBody>
                  <a:tcPr marL="114300" marR="114300" marT="114300" marB="114300" anchor="ctr">
                    <a:lnL>
                      <a:noFill/>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Rectangle 4"/>
          <p:cNvSpPr/>
          <p:nvPr/>
        </p:nvSpPr>
        <p:spPr>
          <a:xfrm>
            <a:off x="304800" y="4895671"/>
            <a:ext cx="8382000" cy="1107996"/>
          </a:xfrm>
          <a:prstGeom prst="rect">
            <a:avLst/>
          </a:prstGeom>
        </p:spPr>
        <p:txBody>
          <a:bodyPr wrap="square">
            <a:spAutoFit/>
          </a:bodyPr>
          <a:lstStyle/>
          <a:p>
            <a:pPr algn="just"/>
            <a:r>
              <a:rPr lang="en-US" sz="2200" dirty="0"/>
              <a:t>There are multiple rules possible even from a very small database, so in order to select the interesting ones, we use constraints on various measures of interest and significance.</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334644"/>
            <a:ext cx="7882128" cy="1076914"/>
          </a:xfrm>
        </p:spPr>
        <p:txBody>
          <a:bodyPr anchor="ctr">
            <a:normAutofit/>
          </a:bodyPr>
          <a:lstStyle/>
          <a:p>
            <a:r>
              <a:rPr lang="en-IN" sz="3500"/>
              <a:t>Association Rules</a:t>
            </a:r>
          </a:p>
        </p:txBody>
      </p:sp>
      <p:sp>
        <p:nvSpPr>
          <p:cNvPr id="11" name="Rectangle 1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EC0EAEBF-3CC9-412A-AB5A-50FE9DB99983}"/>
              </a:ext>
            </a:extLst>
          </p:cNvPr>
          <p:cNvGraphicFramePr>
            <a:graphicFrameLocks noGrp="1"/>
          </p:cNvGraphicFramePr>
          <p:nvPr>
            <p:ph idx="1"/>
            <p:extLst>
              <p:ext uri="{D42A27DB-BD31-4B8C-83A1-F6EECF244321}">
                <p14:modId xmlns:p14="http://schemas.microsoft.com/office/powerpoint/2010/main" val="3437253583"/>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0547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Important Definitions </a:t>
            </a:r>
            <a:endParaRPr lang="en-US" dirty="0"/>
          </a:p>
        </p:txBody>
      </p:sp>
      <p:sp>
        <p:nvSpPr>
          <p:cNvPr id="3" name="Content Placeholder 2"/>
          <p:cNvSpPr>
            <a:spLocks noGrp="1"/>
          </p:cNvSpPr>
          <p:nvPr>
            <p:ph idx="1"/>
          </p:nvPr>
        </p:nvSpPr>
        <p:spPr>
          <a:xfrm>
            <a:off x="457200" y="1600200"/>
            <a:ext cx="8382000" cy="4953000"/>
          </a:xfrm>
        </p:spPr>
        <p:txBody>
          <a:bodyPr>
            <a:normAutofit fontScale="92500" lnSpcReduction="10000"/>
          </a:bodyPr>
          <a:lstStyle/>
          <a:p>
            <a:pPr algn="just"/>
            <a:r>
              <a:rPr lang="en-US" b="1" dirty="0"/>
              <a:t>Support :</a:t>
            </a:r>
            <a:r>
              <a:rPr lang="en-US" dirty="0"/>
              <a:t> It is one of the measure of interestingness. This tells about usefulness and certainty of rules. </a:t>
            </a:r>
            <a:r>
              <a:rPr lang="en-US" b="1" dirty="0"/>
              <a:t>5% Support</a:t>
            </a:r>
            <a:r>
              <a:rPr lang="en-US" dirty="0"/>
              <a:t> means total 5% of transactions in database follow the rule.</a:t>
            </a:r>
          </a:p>
          <a:p>
            <a:pPr lvl="1" algn="just"/>
            <a:r>
              <a:rPr lang="en-US" sz="2000" dirty="0"/>
              <a:t>Support(A -&gt; B) = </a:t>
            </a:r>
            <a:r>
              <a:rPr lang="en-US" sz="2000" dirty="0" err="1"/>
              <a:t>Support_count</a:t>
            </a:r>
            <a:r>
              <a:rPr lang="en-US" sz="2000" dirty="0"/>
              <a:t>(A</a:t>
            </a:r>
            <a:r>
              <a:rPr lang="en-US" sz="2000" b="1" dirty="0"/>
              <a:t>∪</a:t>
            </a:r>
            <a:r>
              <a:rPr lang="en-US" sz="2000" dirty="0"/>
              <a:t>B)</a:t>
            </a:r>
          </a:p>
          <a:p>
            <a:pPr algn="just"/>
            <a:r>
              <a:rPr lang="en-US" b="1" dirty="0"/>
              <a:t>Confidence:</a:t>
            </a:r>
            <a:r>
              <a:rPr lang="en-US" dirty="0"/>
              <a:t> A confidence of 60% means that 60% of the customers who purchased a milk and bread also bought butter.</a:t>
            </a:r>
          </a:p>
          <a:p>
            <a:pPr lvl="1" algn="just"/>
            <a:r>
              <a:rPr lang="en-US" sz="2000" dirty="0"/>
              <a:t>Confidence(A -&gt; B) = </a:t>
            </a:r>
            <a:r>
              <a:rPr lang="en-US" sz="2000" dirty="0" err="1"/>
              <a:t>Support_count</a:t>
            </a:r>
            <a:r>
              <a:rPr lang="en-US" sz="2000" dirty="0"/>
              <a:t>(A</a:t>
            </a:r>
            <a:r>
              <a:rPr lang="en-US" sz="2000" b="1" dirty="0"/>
              <a:t>∪</a:t>
            </a:r>
            <a:r>
              <a:rPr lang="en-US" sz="2000" dirty="0"/>
              <a:t>B) / </a:t>
            </a:r>
            <a:r>
              <a:rPr lang="en-US" sz="2000" dirty="0" err="1"/>
              <a:t>Support_count</a:t>
            </a:r>
            <a:r>
              <a:rPr lang="en-US" sz="2000" dirty="0"/>
              <a:t>(A)</a:t>
            </a:r>
          </a:p>
          <a:p>
            <a:pPr algn="just"/>
            <a:r>
              <a:rPr lang="en-US" sz="2400" dirty="0"/>
              <a:t>If a rule satisfies both minimum support and minimum confidence, it is a strong rule.</a:t>
            </a:r>
          </a:p>
        </p:txBody>
      </p:sp>
    </p:spTree>
    <p:extLst>
      <p:ext uri="{BB962C8B-B14F-4D97-AF65-F5344CB8AC3E}">
        <p14:creationId xmlns:p14="http://schemas.microsoft.com/office/powerpoint/2010/main" val="127009747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457200" y="155448"/>
            <a:ext cx="8229600" cy="1252728"/>
          </a:xfrm>
        </p:spPr>
        <p:txBody>
          <a:bodyPr/>
          <a:lstStyle/>
          <a:p>
            <a:pPr eaLnBrk="1" hangingPunct="1"/>
            <a:r>
              <a:rPr lang="en-US"/>
              <a:t>Association Rule Definitions</a:t>
            </a:r>
          </a:p>
        </p:txBody>
      </p:sp>
      <p:sp>
        <p:nvSpPr>
          <p:cNvPr id="5" name="Rectangle 3"/>
          <p:cNvSpPr>
            <a:spLocks noGrp="1" noChangeArrowheads="1"/>
          </p:cNvSpPr>
          <p:nvPr>
            <p:ph idx="1"/>
          </p:nvPr>
        </p:nvSpPr>
        <p:spPr>
          <a:xfrm>
            <a:off x="457200" y="1775191"/>
            <a:ext cx="8229600" cy="4625609"/>
          </a:xfrm>
        </p:spPr>
        <p:txBody>
          <a:bodyPr/>
          <a:lstStyle/>
          <a:p>
            <a:pPr eaLnBrk="1" hangingPunct="1"/>
            <a:r>
              <a:rPr lang="en-US" b="1" i="1">
                <a:solidFill>
                  <a:schemeClr val="tx2"/>
                </a:solidFill>
              </a:rPr>
              <a:t>Set of items:</a:t>
            </a:r>
            <a:r>
              <a:rPr lang="en-US"/>
              <a:t> I={I</a:t>
            </a:r>
            <a:r>
              <a:rPr lang="en-US" baseline="-25000"/>
              <a:t>1</a:t>
            </a:r>
            <a:r>
              <a:rPr lang="en-US"/>
              <a:t>,I</a:t>
            </a:r>
            <a:r>
              <a:rPr lang="en-US" baseline="-25000"/>
              <a:t>2</a:t>
            </a:r>
            <a:r>
              <a:rPr lang="en-US"/>
              <a:t>,…,I</a:t>
            </a:r>
            <a:r>
              <a:rPr lang="en-US" baseline="-25000"/>
              <a:t>m</a:t>
            </a:r>
            <a:r>
              <a:rPr lang="en-US"/>
              <a:t>}</a:t>
            </a:r>
          </a:p>
          <a:p>
            <a:pPr eaLnBrk="1" hangingPunct="1"/>
            <a:r>
              <a:rPr lang="en-US" b="1" i="1">
                <a:solidFill>
                  <a:schemeClr val="tx2"/>
                </a:solidFill>
              </a:rPr>
              <a:t>Transactions:</a:t>
            </a:r>
            <a:r>
              <a:rPr lang="en-US"/>
              <a:t> D={t</a:t>
            </a:r>
            <a:r>
              <a:rPr lang="en-US" baseline="-25000"/>
              <a:t>1</a:t>
            </a:r>
            <a:r>
              <a:rPr lang="en-US"/>
              <a:t>,t</a:t>
            </a:r>
            <a:r>
              <a:rPr lang="en-US" baseline="-25000"/>
              <a:t>2</a:t>
            </a:r>
            <a:r>
              <a:rPr lang="en-US"/>
              <a:t>, …, t</a:t>
            </a:r>
            <a:r>
              <a:rPr lang="en-US" baseline="-25000"/>
              <a:t>n</a:t>
            </a:r>
            <a:r>
              <a:rPr lang="en-US"/>
              <a:t>}, t</a:t>
            </a:r>
            <a:r>
              <a:rPr lang="en-US" baseline="-25000"/>
              <a:t>j</a:t>
            </a:r>
            <a:r>
              <a:rPr lang="en-US">
                <a:latin typeface="cmsy10" pitchFamily="34" charset="0"/>
                <a:sym typeface="Symbol" pitchFamily="18" charset="2"/>
              </a:rPr>
              <a:t></a:t>
            </a:r>
            <a:r>
              <a:rPr lang="en-US"/>
              <a:t> I</a:t>
            </a:r>
          </a:p>
          <a:p>
            <a:pPr eaLnBrk="1" hangingPunct="1"/>
            <a:r>
              <a:rPr lang="en-US" b="1" i="1">
                <a:solidFill>
                  <a:schemeClr val="tx2"/>
                </a:solidFill>
              </a:rPr>
              <a:t>Itemset:</a:t>
            </a:r>
            <a:r>
              <a:rPr lang="en-US"/>
              <a:t> {I</a:t>
            </a:r>
            <a:r>
              <a:rPr lang="en-US" baseline="-25000"/>
              <a:t>i1</a:t>
            </a:r>
            <a:r>
              <a:rPr lang="en-US"/>
              <a:t>,I</a:t>
            </a:r>
            <a:r>
              <a:rPr lang="en-US" baseline="-25000"/>
              <a:t>i2</a:t>
            </a:r>
            <a:r>
              <a:rPr lang="en-US"/>
              <a:t>, …, I</a:t>
            </a:r>
            <a:r>
              <a:rPr lang="en-US" baseline="-25000"/>
              <a:t>ik</a:t>
            </a:r>
            <a:r>
              <a:rPr lang="en-US"/>
              <a:t>} </a:t>
            </a:r>
            <a:r>
              <a:rPr lang="en-US">
                <a:latin typeface="cmsy10" pitchFamily="34" charset="0"/>
                <a:sym typeface="Symbol" pitchFamily="18" charset="2"/>
              </a:rPr>
              <a:t></a:t>
            </a:r>
            <a:r>
              <a:rPr lang="en-US"/>
              <a:t> I</a:t>
            </a:r>
          </a:p>
          <a:p>
            <a:pPr eaLnBrk="1" hangingPunct="1"/>
            <a:r>
              <a:rPr lang="en-US" b="1" i="1">
                <a:solidFill>
                  <a:schemeClr val="tx2"/>
                </a:solidFill>
              </a:rPr>
              <a:t>Support of an itemset:</a:t>
            </a:r>
            <a:r>
              <a:rPr lang="en-US"/>
              <a:t> Percentage of transactions which contain that itemset.</a:t>
            </a:r>
          </a:p>
          <a:p>
            <a:pPr eaLnBrk="1" hangingPunct="1"/>
            <a:r>
              <a:rPr lang="en-US" b="1" i="1">
                <a:solidFill>
                  <a:schemeClr val="tx2"/>
                </a:solidFill>
              </a:rPr>
              <a:t>Large (Frequent) itemset:</a:t>
            </a:r>
            <a:r>
              <a:rPr lang="en-US"/>
              <a:t> Itemset whose number of occurrences is above a threshold.</a:t>
            </a:r>
          </a:p>
        </p:txBody>
      </p:sp>
    </p:spTree>
    <p:extLst>
      <p:ext uri="{BB962C8B-B14F-4D97-AF65-F5344CB8AC3E}">
        <p14:creationId xmlns:p14="http://schemas.microsoft.com/office/powerpoint/2010/main" val="12213207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35101" y="365125"/>
            <a:ext cx="7080249" cy="1325563"/>
          </a:xfrm>
        </p:spPr>
        <p:txBody>
          <a:bodyPr>
            <a:normAutofit/>
          </a:bodyPr>
          <a:lstStyle/>
          <a:p>
            <a:r>
              <a:rPr lang="en-US" sz="4700"/>
              <a:t>Association rule</a:t>
            </a:r>
          </a:p>
        </p:txBody>
      </p:sp>
      <p:sp>
        <p:nvSpPr>
          <p:cNvPr id="10" name="Rectangle 9">
            <a:extLst>
              <a:ext uri="{FF2B5EF4-FFF2-40B4-BE49-F238E27FC236}">
                <a16:creationId xmlns:a16="http://schemas.microsoft.com/office/drawing/2014/main" id="{FF0330B1-AAAC-427D-8A95-40380162B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4593"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Head with Gears">
            <a:extLst>
              <a:ext uri="{FF2B5EF4-FFF2-40B4-BE49-F238E27FC236}">
                <a16:creationId xmlns:a16="http://schemas.microsoft.com/office/drawing/2014/main" id="{BFBBEE78-8DB5-478C-8782-757F1881D0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8650" y="685006"/>
            <a:ext cx="685800" cy="685800"/>
          </a:xfrm>
          <a:prstGeom prst="rect">
            <a:avLst/>
          </a:prstGeom>
        </p:spPr>
      </p:pic>
      <p:sp>
        <p:nvSpPr>
          <p:cNvPr id="3" name="Content Placeholder 2"/>
          <p:cNvSpPr>
            <a:spLocks noGrp="1"/>
          </p:cNvSpPr>
          <p:nvPr>
            <p:ph idx="1"/>
          </p:nvPr>
        </p:nvSpPr>
        <p:spPr>
          <a:xfrm>
            <a:off x="628649" y="1668462"/>
            <a:ext cx="7963557" cy="5037138"/>
          </a:xfrm>
        </p:spPr>
        <p:txBody>
          <a:bodyPr>
            <a:noAutofit/>
          </a:bodyPr>
          <a:lstStyle/>
          <a:p>
            <a:pPr indent="-457200" algn="just">
              <a:lnSpc>
                <a:spcPct val="150000"/>
              </a:lnSpc>
              <a:buNone/>
            </a:pPr>
            <a:r>
              <a:rPr lang="en-US" sz="1800" b="1" dirty="0">
                <a:latin typeface="Times New Roman" pitchFamily="18" charset="0"/>
                <a:cs typeface="Times New Roman" pitchFamily="18" charset="0"/>
              </a:rPr>
              <a:t>	Association rule learning</a:t>
            </a:r>
            <a:r>
              <a:rPr lang="en-US" sz="1800" dirty="0">
                <a:latin typeface="Times New Roman" pitchFamily="18" charset="0"/>
                <a:cs typeface="Times New Roman" pitchFamily="18" charset="0"/>
              </a:rPr>
              <a:t> is a popular and well researched method for discovering interesting relations between variables in large databases. In </a:t>
            </a:r>
            <a:r>
              <a:rPr lang="en-US" sz="1800" b="1" dirty="0"/>
              <a:t>Association rule learning </a:t>
            </a:r>
            <a:r>
              <a:rPr lang="en-US" sz="1800" dirty="0">
                <a:latin typeface="Times New Roman" pitchFamily="18" charset="0"/>
                <a:cs typeface="Times New Roman" pitchFamily="18" charset="0"/>
              </a:rPr>
              <a:t>describes analyzing and presenting strong rules discovered in databases using different measures of interestingness. Based on the concept of strong rules,  introduced association rules for discovering regularities between products in large-scale transaction data recorded by point-of-sale (POS) systems in supermarkets.</a:t>
            </a:r>
          </a:p>
          <a:p>
            <a:pPr indent="-457200" algn="just">
              <a:lnSpc>
                <a:spcPct val="150000"/>
              </a:lnSpc>
              <a:buNone/>
            </a:pPr>
            <a:r>
              <a:rPr lang="en-US" sz="1800" dirty="0">
                <a:latin typeface="Times New Roman" pitchFamily="18" charset="0"/>
                <a:cs typeface="Times New Roman" pitchFamily="18" charset="0"/>
              </a:rPr>
              <a:t>	For example, the rule  found in the sales data of a supermarket would indicate that if a customer buys onions, potatoes cabbage  together, he or she is likely to also buy Pizza base. Such information can be used as the basis for decisions about marketing activities such as, e.g., promotional pricing or product placements.</a:t>
            </a:r>
            <a:endParaRPr lang="en-US" sz="1800" dirty="0"/>
          </a:p>
        </p:txBody>
      </p:sp>
    </p:spTree>
    <p:extLst>
      <p:ext uri="{BB962C8B-B14F-4D97-AF65-F5344CB8AC3E}">
        <p14:creationId xmlns:p14="http://schemas.microsoft.com/office/powerpoint/2010/main" val="25759866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40022" y="365760"/>
            <a:ext cx="7025402" cy="1188720"/>
          </a:xfrm>
        </p:spPr>
        <p:txBody>
          <a:bodyPr>
            <a:normAutofit/>
          </a:bodyPr>
          <a:lstStyle/>
          <a:p>
            <a:pPr>
              <a:lnSpc>
                <a:spcPct val="90000"/>
              </a:lnSpc>
            </a:pPr>
            <a:r>
              <a:rPr lang="en-US" sz="3700"/>
              <a:t>Applications of Association Rule Mining</a:t>
            </a:r>
          </a:p>
        </p:txBody>
      </p:sp>
      <p:sp>
        <p:nvSpPr>
          <p:cNvPr id="8" name="Freeform: Shape 7">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23075"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0"/>
            <a:ext cx="9144000"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728740"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914400" y="1828800"/>
            <a:ext cx="7696200" cy="4953000"/>
          </a:xfrm>
        </p:spPr>
        <p:txBody>
          <a:bodyPr anchor="t">
            <a:noAutofit/>
          </a:bodyPr>
          <a:lstStyle/>
          <a:p>
            <a:pPr algn="just">
              <a:lnSpc>
                <a:spcPct val="150000"/>
              </a:lnSpc>
            </a:pPr>
            <a:r>
              <a:rPr lang="en-US" sz="1700" dirty="0"/>
              <a:t>Basket data analysis - is to analyze the association of purchased items in a single basket or single purchase as per the examples given above.</a:t>
            </a:r>
          </a:p>
          <a:p>
            <a:pPr algn="just">
              <a:lnSpc>
                <a:spcPct val="150000"/>
              </a:lnSpc>
            </a:pPr>
            <a:r>
              <a:rPr lang="en-US" sz="1700" dirty="0"/>
              <a:t>Cross marketing - is to work with other businesses that complement your own, not competitors. For example, vehicle dealerships and manufacturers have cross marketing campaigns with oil and gas companies for obvious reasons.</a:t>
            </a:r>
          </a:p>
          <a:p>
            <a:pPr algn="just">
              <a:lnSpc>
                <a:spcPct val="150000"/>
              </a:lnSpc>
            </a:pPr>
            <a:r>
              <a:rPr lang="en-US" sz="1700" dirty="0"/>
              <a:t>Catalog design - the selection of items in a business’ catalog are often designed to complement each other so that buying one item will lead to buying of another. So these items are often complements or very related.</a:t>
            </a:r>
          </a:p>
          <a:p>
            <a:pPr algn="just">
              <a:lnSpc>
                <a:spcPct val="150000"/>
              </a:lnSpc>
            </a:pPr>
            <a:r>
              <a:rPr lang="en-US" sz="1700" dirty="0"/>
              <a:t>Analyzing and Predicting customer behavior</a:t>
            </a:r>
          </a:p>
          <a:p>
            <a:pPr algn="just">
              <a:lnSpc>
                <a:spcPct val="150000"/>
              </a:lnSpc>
            </a:pPr>
            <a:endParaRPr lang="en-US" sz="17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40022" y="365760"/>
            <a:ext cx="7025402" cy="1188720"/>
          </a:xfrm>
        </p:spPr>
        <p:txBody>
          <a:bodyPr>
            <a:normAutofit/>
          </a:bodyPr>
          <a:lstStyle/>
          <a:p>
            <a:pPr>
              <a:lnSpc>
                <a:spcPct val="90000"/>
              </a:lnSpc>
            </a:pPr>
            <a:r>
              <a:rPr lang="en-US" sz="3700" b="1"/>
              <a:t>How association rules work</a:t>
            </a:r>
            <a:endParaRPr lang="en-US" sz="3700"/>
          </a:p>
        </p:txBody>
      </p:sp>
      <p:sp>
        <p:nvSpPr>
          <p:cNvPr id="8" name="Freeform: Shape 7">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23075"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0"/>
            <a:ext cx="9144000"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728740"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914400" y="1905000"/>
            <a:ext cx="7543800" cy="4495800"/>
          </a:xfrm>
        </p:spPr>
        <p:txBody>
          <a:bodyPr anchor="t">
            <a:noAutofit/>
          </a:bodyPr>
          <a:lstStyle/>
          <a:p>
            <a:pPr algn="just">
              <a:lnSpc>
                <a:spcPct val="150000"/>
              </a:lnSpc>
            </a:pPr>
            <a:r>
              <a:rPr lang="en-US" sz="1800" dirty="0"/>
              <a:t>Association rule mining, at a basic level, involves the use of </a:t>
            </a:r>
            <a:r>
              <a:rPr lang="en-US" sz="1800" u="sng" dirty="0">
                <a:hlinkClick r:id="rId2"/>
              </a:rPr>
              <a:t>machine learning</a:t>
            </a:r>
            <a:r>
              <a:rPr lang="en-US" sz="1800" dirty="0"/>
              <a:t> models to analyze data for patterns, or co-occurrence, in a database. It identifies frequent if-then associations, which are called </a:t>
            </a:r>
            <a:r>
              <a:rPr lang="en-US" sz="1800" i="1" dirty="0"/>
              <a:t>association rules</a:t>
            </a:r>
            <a:r>
              <a:rPr lang="en-US" sz="1800" dirty="0"/>
              <a:t>.</a:t>
            </a:r>
          </a:p>
          <a:p>
            <a:pPr algn="just">
              <a:lnSpc>
                <a:spcPct val="150000"/>
              </a:lnSpc>
            </a:pPr>
            <a:r>
              <a:rPr lang="en-US" sz="1800" dirty="0"/>
              <a:t>An association rule has two parts: an predecessor (if) and a resultant (then). An predecessor is an item found within the data. A resultant is an item found in combination with the predecessor.</a:t>
            </a:r>
          </a:p>
          <a:p>
            <a:pPr algn="just">
              <a:lnSpc>
                <a:spcPct val="150000"/>
              </a:lnSpc>
            </a:pPr>
            <a:r>
              <a:rPr lang="en-US" sz="1800" dirty="0"/>
              <a:t>Association rules are created by searching data for frequent if-then patterns and using the criteria </a:t>
            </a:r>
            <a:r>
              <a:rPr lang="en-US" sz="1800" i="1" dirty="0"/>
              <a:t>support</a:t>
            </a:r>
            <a:r>
              <a:rPr lang="en-US" sz="1800" dirty="0"/>
              <a:t> and </a:t>
            </a:r>
            <a:r>
              <a:rPr lang="en-US" sz="1800" i="1" dirty="0"/>
              <a:t>confidence</a:t>
            </a:r>
            <a:r>
              <a:rPr lang="en-US" sz="1800" dirty="0"/>
              <a:t> to identify the most important relationships</a:t>
            </a:r>
            <a:r>
              <a:rPr lang="en-US" sz="1800" i="1" dirty="0"/>
              <a:t>.</a:t>
            </a:r>
            <a:endParaRPr lang="en-US" sz="18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7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29369" y="238539"/>
            <a:ext cx="8263890" cy="1434415"/>
          </a:xfrm>
        </p:spPr>
        <p:txBody>
          <a:bodyPr anchor="b">
            <a:normAutofit/>
          </a:bodyPr>
          <a:lstStyle/>
          <a:p>
            <a:r>
              <a:rPr lang="en-US" sz="4700" b="1"/>
              <a:t>How association rules work</a:t>
            </a:r>
            <a:endParaRPr lang="en-US" sz="4700"/>
          </a:p>
        </p:txBody>
      </p:sp>
      <p:sp>
        <p:nvSpPr>
          <p:cNvPr id="102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 name="connsiteX0" fmla="*/ 0 w 8229600"/>
              <a:gd name="connsiteY0" fmla="*/ 0 h 18288"/>
              <a:gd name="connsiteX1" fmla="*/ 521208 w 8229600"/>
              <a:gd name="connsiteY1" fmla="*/ 0 h 18288"/>
              <a:gd name="connsiteX2" fmla="*/ 960120 w 8229600"/>
              <a:gd name="connsiteY2" fmla="*/ 0 h 18288"/>
              <a:gd name="connsiteX3" fmla="*/ 1481328 w 8229600"/>
              <a:gd name="connsiteY3" fmla="*/ 0 h 18288"/>
              <a:gd name="connsiteX4" fmla="*/ 2167128 w 8229600"/>
              <a:gd name="connsiteY4" fmla="*/ 0 h 18288"/>
              <a:gd name="connsiteX5" fmla="*/ 2935224 w 8229600"/>
              <a:gd name="connsiteY5" fmla="*/ 0 h 18288"/>
              <a:gd name="connsiteX6" fmla="*/ 3785616 w 8229600"/>
              <a:gd name="connsiteY6" fmla="*/ 0 h 18288"/>
              <a:gd name="connsiteX7" fmla="*/ 4636008 w 8229600"/>
              <a:gd name="connsiteY7" fmla="*/ 0 h 18288"/>
              <a:gd name="connsiteX8" fmla="*/ 5239512 w 8229600"/>
              <a:gd name="connsiteY8" fmla="*/ 0 h 18288"/>
              <a:gd name="connsiteX9" fmla="*/ 6007608 w 8229600"/>
              <a:gd name="connsiteY9" fmla="*/ 0 h 18288"/>
              <a:gd name="connsiteX10" fmla="*/ 6693408 w 8229600"/>
              <a:gd name="connsiteY10" fmla="*/ 0 h 18288"/>
              <a:gd name="connsiteX11" fmla="*/ 7296912 w 8229600"/>
              <a:gd name="connsiteY11" fmla="*/ 0 h 18288"/>
              <a:gd name="connsiteX12" fmla="*/ 8229600 w 8229600"/>
              <a:gd name="connsiteY12" fmla="*/ 0 h 18288"/>
              <a:gd name="connsiteX13" fmla="*/ 8229600 w 8229600"/>
              <a:gd name="connsiteY13" fmla="*/ 18288 h 18288"/>
              <a:gd name="connsiteX14" fmla="*/ 7626096 w 8229600"/>
              <a:gd name="connsiteY14" fmla="*/ 18288 h 18288"/>
              <a:gd name="connsiteX15" fmla="*/ 7022592 w 8229600"/>
              <a:gd name="connsiteY15" fmla="*/ 18288 h 18288"/>
              <a:gd name="connsiteX16" fmla="*/ 6172200 w 8229600"/>
              <a:gd name="connsiteY16" fmla="*/ 18288 h 18288"/>
              <a:gd name="connsiteX17" fmla="*/ 5650992 w 8229600"/>
              <a:gd name="connsiteY17" fmla="*/ 18288 h 18288"/>
              <a:gd name="connsiteX18" fmla="*/ 4882896 w 8229600"/>
              <a:gd name="connsiteY18" fmla="*/ 18288 h 18288"/>
              <a:gd name="connsiteX19" fmla="*/ 4443984 w 8229600"/>
              <a:gd name="connsiteY19" fmla="*/ 18288 h 18288"/>
              <a:gd name="connsiteX20" fmla="*/ 3758184 w 8229600"/>
              <a:gd name="connsiteY20" fmla="*/ 18288 h 18288"/>
              <a:gd name="connsiteX21" fmla="*/ 3236976 w 8229600"/>
              <a:gd name="connsiteY21" fmla="*/ 18288 h 18288"/>
              <a:gd name="connsiteX22" fmla="*/ 2386584 w 8229600"/>
              <a:gd name="connsiteY22" fmla="*/ 18288 h 18288"/>
              <a:gd name="connsiteX23" fmla="*/ 1947672 w 8229600"/>
              <a:gd name="connsiteY23" fmla="*/ 18288 h 18288"/>
              <a:gd name="connsiteX24" fmla="*/ 1261872 w 8229600"/>
              <a:gd name="connsiteY24" fmla="*/ 18288 h 18288"/>
              <a:gd name="connsiteX25" fmla="*/ 822960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15278" y="6969"/>
                  <a:pt x="340572" y="21894"/>
                  <a:pt x="521208" y="0"/>
                </a:cubicBezTo>
                <a:cubicBezTo>
                  <a:pt x="745939" y="29643"/>
                  <a:pt x="1127486" y="-40512"/>
                  <a:pt x="1371600" y="0"/>
                </a:cubicBezTo>
                <a:cubicBezTo>
                  <a:pt x="1567490" y="28416"/>
                  <a:pt x="1945702" y="13075"/>
                  <a:pt x="2221992" y="0"/>
                </a:cubicBezTo>
                <a:cubicBezTo>
                  <a:pt x="2446218" y="-17340"/>
                  <a:pt x="2853686" y="-7924"/>
                  <a:pt x="3072384" y="0"/>
                </a:cubicBezTo>
                <a:cubicBezTo>
                  <a:pt x="3286960" y="20656"/>
                  <a:pt x="3324417" y="20174"/>
                  <a:pt x="3511296" y="0"/>
                </a:cubicBezTo>
                <a:cubicBezTo>
                  <a:pt x="3710690" y="-39182"/>
                  <a:pt x="3945457" y="-64074"/>
                  <a:pt x="4114800" y="0"/>
                </a:cubicBezTo>
                <a:cubicBezTo>
                  <a:pt x="4336079" y="28138"/>
                  <a:pt x="4420759" y="12117"/>
                  <a:pt x="4553712" y="0"/>
                </a:cubicBezTo>
                <a:cubicBezTo>
                  <a:pt x="4688252" y="-2224"/>
                  <a:pt x="5047430" y="19664"/>
                  <a:pt x="5239512" y="0"/>
                </a:cubicBezTo>
                <a:cubicBezTo>
                  <a:pt x="5424392" y="-49610"/>
                  <a:pt x="5708717" y="13540"/>
                  <a:pt x="5843016" y="0"/>
                </a:cubicBezTo>
                <a:cubicBezTo>
                  <a:pt x="6005788" y="32949"/>
                  <a:pt x="6198255" y="37080"/>
                  <a:pt x="6611112" y="0"/>
                </a:cubicBezTo>
                <a:cubicBezTo>
                  <a:pt x="6954152" y="635"/>
                  <a:pt x="7244390" y="18057"/>
                  <a:pt x="7461504" y="0"/>
                </a:cubicBezTo>
                <a:cubicBezTo>
                  <a:pt x="7693790" y="9882"/>
                  <a:pt x="7984486" y="17646"/>
                  <a:pt x="8229600" y="0"/>
                </a:cubicBezTo>
                <a:cubicBezTo>
                  <a:pt x="8228428" y="6016"/>
                  <a:pt x="8229853" y="9684"/>
                  <a:pt x="8229600" y="18288"/>
                </a:cubicBezTo>
                <a:cubicBezTo>
                  <a:pt x="7945777" y="19945"/>
                  <a:pt x="7812308" y="-8511"/>
                  <a:pt x="7461504" y="18288"/>
                </a:cubicBezTo>
                <a:cubicBezTo>
                  <a:pt x="7129391" y="53185"/>
                  <a:pt x="7087333" y="41906"/>
                  <a:pt x="6940296" y="18288"/>
                </a:cubicBezTo>
                <a:cubicBezTo>
                  <a:pt x="6810862" y="-23020"/>
                  <a:pt x="6701312" y="19361"/>
                  <a:pt x="6419088" y="18288"/>
                </a:cubicBezTo>
                <a:cubicBezTo>
                  <a:pt x="6152777" y="18855"/>
                  <a:pt x="5868611" y="48802"/>
                  <a:pt x="5650992" y="18288"/>
                </a:cubicBezTo>
                <a:cubicBezTo>
                  <a:pt x="5439747" y="15250"/>
                  <a:pt x="5334901" y="-1044"/>
                  <a:pt x="5129784" y="18288"/>
                </a:cubicBezTo>
                <a:cubicBezTo>
                  <a:pt x="4955906" y="40458"/>
                  <a:pt x="4793216" y="33888"/>
                  <a:pt x="4690872" y="18288"/>
                </a:cubicBezTo>
                <a:cubicBezTo>
                  <a:pt x="4552374" y="31087"/>
                  <a:pt x="4318742" y="6248"/>
                  <a:pt x="4087368" y="18288"/>
                </a:cubicBezTo>
                <a:cubicBezTo>
                  <a:pt x="3849418" y="32625"/>
                  <a:pt x="3751577" y="29688"/>
                  <a:pt x="3401568" y="18288"/>
                </a:cubicBezTo>
                <a:cubicBezTo>
                  <a:pt x="3067953" y="20409"/>
                  <a:pt x="3012425" y="26879"/>
                  <a:pt x="2798064" y="18288"/>
                </a:cubicBezTo>
                <a:cubicBezTo>
                  <a:pt x="2565154" y="16520"/>
                  <a:pt x="2426719" y="-31794"/>
                  <a:pt x="2276856" y="18288"/>
                </a:cubicBezTo>
                <a:cubicBezTo>
                  <a:pt x="2090980" y="4382"/>
                  <a:pt x="1702030" y="-8180"/>
                  <a:pt x="1426464" y="18288"/>
                </a:cubicBezTo>
                <a:cubicBezTo>
                  <a:pt x="1104481" y="69643"/>
                  <a:pt x="985013" y="-7690"/>
                  <a:pt x="740664" y="18288"/>
                </a:cubicBezTo>
                <a:cubicBezTo>
                  <a:pt x="507391" y="41643"/>
                  <a:pt x="191740" y="-11654"/>
                  <a:pt x="0" y="18288"/>
                </a:cubicBezTo>
                <a:cubicBezTo>
                  <a:pt x="714" y="9707"/>
                  <a:pt x="1025" y="3120"/>
                  <a:pt x="0" y="0"/>
                </a:cubicBezTo>
                <a:close/>
              </a:path>
              <a:path w="8229600" h="18288" stroke="0" extrusionOk="0">
                <a:moveTo>
                  <a:pt x="0" y="0"/>
                </a:moveTo>
                <a:cubicBezTo>
                  <a:pt x="270709" y="-27213"/>
                  <a:pt x="397128" y="23656"/>
                  <a:pt x="521208" y="0"/>
                </a:cubicBezTo>
                <a:cubicBezTo>
                  <a:pt x="631319" y="-5947"/>
                  <a:pt x="842157" y="28261"/>
                  <a:pt x="960120" y="0"/>
                </a:cubicBezTo>
                <a:cubicBezTo>
                  <a:pt x="1077930" y="6549"/>
                  <a:pt x="1318669" y="-15893"/>
                  <a:pt x="1481328" y="0"/>
                </a:cubicBezTo>
                <a:cubicBezTo>
                  <a:pt x="1659104" y="-21090"/>
                  <a:pt x="1870243" y="69945"/>
                  <a:pt x="2167128" y="0"/>
                </a:cubicBezTo>
                <a:cubicBezTo>
                  <a:pt x="2460684" y="-5519"/>
                  <a:pt x="2753885" y="-62993"/>
                  <a:pt x="2935224" y="0"/>
                </a:cubicBezTo>
                <a:cubicBezTo>
                  <a:pt x="3115119" y="56580"/>
                  <a:pt x="3535280" y="40687"/>
                  <a:pt x="3785616" y="0"/>
                </a:cubicBezTo>
                <a:cubicBezTo>
                  <a:pt x="4057881" y="25645"/>
                  <a:pt x="4308335" y="-2666"/>
                  <a:pt x="4636008" y="0"/>
                </a:cubicBezTo>
                <a:cubicBezTo>
                  <a:pt x="4987152" y="19805"/>
                  <a:pt x="5025979" y="14149"/>
                  <a:pt x="5239512" y="0"/>
                </a:cubicBezTo>
                <a:cubicBezTo>
                  <a:pt x="5437586" y="211"/>
                  <a:pt x="5752721" y="5618"/>
                  <a:pt x="6007608" y="0"/>
                </a:cubicBezTo>
                <a:cubicBezTo>
                  <a:pt x="6280137" y="-5132"/>
                  <a:pt x="6386079" y="-21510"/>
                  <a:pt x="6693408" y="0"/>
                </a:cubicBezTo>
                <a:cubicBezTo>
                  <a:pt x="6986580" y="4991"/>
                  <a:pt x="7015252" y="-18088"/>
                  <a:pt x="7296912" y="0"/>
                </a:cubicBezTo>
                <a:cubicBezTo>
                  <a:pt x="7569796" y="10390"/>
                  <a:pt x="7895472" y="71473"/>
                  <a:pt x="8229600" y="0"/>
                </a:cubicBezTo>
                <a:cubicBezTo>
                  <a:pt x="8230227" y="7450"/>
                  <a:pt x="8228885" y="11999"/>
                  <a:pt x="8229600" y="18288"/>
                </a:cubicBezTo>
                <a:cubicBezTo>
                  <a:pt x="8094333" y="-5252"/>
                  <a:pt x="7850928" y="37448"/>
                  <a:pt x="7626096" y="18288"/>
                </a:cubicBezTo>
                <a:cubicBezTo>
                  <a:pt x="7448378" y="-569"/>
                  <a:pt x="7315174" y="-1844"/>
                  <a:pt x="7022592" y="18288"/>
                </a:cubicBezTo>
                <a:cubicBezTo>
                  <a:pt x="6686163" y="50499"/>
                  <a:pt x="6352629" y="23510"/>
                  <a:pt x="6172200" y="18288"/>
                </a:cubicBezTo>
                <a:cubicBezTo>
                  <a:pt x="6015590" y="42345"/>
                  <a:pt x="5770309" y="21278"/>
                  <a:pt x="5650992" y="18288"/>
                </a:cubicBezTo>
                <a:cubicBezTo>
                  <a:pt x="5483975" y="12092"/>
                  <a:pt x="5165324" y="68948"/>
                  <a:pt x="4882896" y="18288"/>
                </a:cubicBezTo>
                <a:cubicBezTo>
                  <a:pt x="4568934" y="7053"/>
                  <a:pt x="4556334" y="27676"/>
                  <a:pt x="4443984" y="18288"/>
                </a:cubicBezTo>
                <a:cubicBezTo>
                  <a:pt x="4320775" y="10576"/>
                  <a:pt x="4034988" y="-3490"/>
                  <a:pt x="3758184" y="18288"/>
                </a:cubicBezTo>
                <a:cubicBezTo>
                  <a:pt x="3445155" y="-998"/>
                  <a:pt x="3367892" y="13824"/>
                  <a:pt x="3236976" y="18288"/>
                </a:cubicBezTo>
                <a:cubicBezTo>
                  <a:pt x="3093796" y="26408"/>
                  <a:pt x="2635824" y="24132"/>
                  <a:pt x="2386584" y="18288"/>
                </a:cubicBezTo>
                <a:cubicBezTo>
                  <a:pt x="2139815" y="-3297"/>
                  <a:pt x="2105958" y="25945"/>
                  <a:pt x="1947672" y="18288"/>
                </a:cubicBezTo>
                <a:cubicBezTo>
                  <a:pt x="1801011" y="-19911"/>
                  <a:pt x="1533636" y="14646"/>
                  <a:pt x="1261872" y="18288"/>
                </a:cubicBezTo>
                <a:cubicBezTo>
                  <a:pt x="989528" y="32227"/>
                  <a:pt x="1025848" y="14685"/>
                  <a:pt x="822960" y="18288"/>
                </a:cubicBezTo>
                <a:cubicBezTo>
                  <a:pt x="653456" y="20956"/>
                  <a:pt x="304027" y="8001"/>
                  <a:pt x="0" y="18288"/>
                </a:cubicBezTo>
                <a:cubicBezTo>
                  <a:pt x="-27" y="11611"/>
                  <a:pt x="-1713" y="5475"/>
                  <a:pt x="0" y="0"/>
                </a:cubicBezTo>
                <a:close/>
              </a:path>
              <a:path w="8229600" h="18288" fill="none" stroke="0" extrusionOk="0">
                <a:moveTo>
                  <a:pt x="0" y="0"/>
                </a:moveTo>
                <a:cubicBezTo>
                  <a:pt x="205130" y="6064"/>
                  <a:pt x="324007" y="6684"/>
                  <a:pt x="521208" y="0"/>
                </a:cubicBezTo>
                <a:cubicBezTo>
                  <a:pt x="695888" y="-14632"/>
                  <a:pt x="1101879" y="6017"/>
                  <a:pt x="1371600" y="0"/>
                </a:cubicBezTo>
                <a:cubicBezTo>
                  <a:pt x="1622968" y="4691"/>
                  <a:pt x="1936552" y="-7433"/>
                  <a:pt x="2221992" y="0"/>
                </a:cubicBezTo>
                <a:cubicBezTo>
                  <a:pt x="2498663" y="51226"/>
                  <a:pt x="2885875" y="-8757"/>
                  <a:pt x="3072384" y="0"/>
                </a:cubicBezTo>
                <a:cubicBezTo>
                  <a:pt x="3288944" y="24235"/>
                  <a:pt x="3331110" y="5443"/>
                  <a:pt x="3511296" y="0"/>
                </a:cubicBezTo>
                <a:cubicBezTo>
                  <a:pt x="3687973" y="-19690"/>
                  <a:pt x="3901025" y="-20092"/>
                  <a:pt x="4114800" y="0"/>
                </a:cubicBezTo>
                <a:cubicBezTo>
                  <a:pt x="4336102" y="32988"/>
                  <a:pt x="4416982" y="-5831"/>
                  <a:pt x="4553712" y="0"/>
                </a:cubicBezTo>
                <a:cubicBezTo>
                  <a:pt x="4674310" y="-5056"/>
                  <a:pt x="5080160" y="-12181"/>
                  <a:pt x="5239512" y="0"/>
                </a:cubicBezTo>
                <a:cubicBezTo>
                  <a:pt x="5419031" y="-38513"/>
                  <a:pt x="5691629" y="2226"/>
                  <a:pt x="5843016" y="0"/>
                </a:cubicBezTo>
                <a:cubicBezTo>
                  <a:pt x="5978317" y="-40553"/>
                  <a:pt x="6314754" y="9782"/>
                  <a:pt x="6611112" y="0"/>
                </a:cubicBezTo>
                <a:cubicBezTo>
                  <a:pt x="6973004" y="-17646"/>
                  <a:pt x="7175490" y="18489"/>
                  <a:pt x="7461504" y="0"/>
                </a:cubicBezTo>
                <a:cubicBezTo>
                  <a:pt x="7746737" y="-34159"/>
                  <a:pt x="7962178" y="39853"/>
                  <a:pt x="8229600" y="0"/>
                </a:cubicBezTo>
                <a:cubicBezTo>
                  <a:pt x="8228796" y="5852"/>
                  <a:pt x="8229698" y="10429"/>
                  <a:pt x="8229600" y="18288"/>
                </a:cubicBezTo>
                <a:cubicBezTo>
                  <a:pt x="7944174" y="-29104"/>
                  <a:pt x="7795646" y="-34405"/>
                  <a:pt x="7461504" y="18288"/>
                </a:cubicBezTo>
                <a:cubicBezTo>
                  <a:pt x="7129776" y="51087"/>
                  <a:pt x="7082769" y="31446"/>
                  <a:pt x="6940296" y="18288"/>
                </a:cubicBezTo>
                <a:cubicBezTo>
                  <a:pt x="6799665" y="-15875"/>
                  <a:pt x="6652769" y="31783"/>
                  <a:pt x="6419088" y="18288"/>
                </a:cubicBezTo>
                <a:cubicBezTo>
                  <a:pt x="6143970" y="52275"/>
                  <a:pt x="5863165" y="-16531"/>
                  <a:pt x="5650992" y="18288"/>
                </a:cubicBezTo>
                <a:cubicBezTo>
                  <a:pt x="5419172" y="40606"/>
                  <a:pt x="5309448" y="-405"/>
                  <a:pt x="5129784" y="18288"/>
                </a:cubicBezTo>
                <a:cubicBezTo>
                  <a:pt x="4947928" y="26023"/>
                  <a:pt x="4795021" y="5860"/>
                  <a:pt x="4690872" y="18288"/>
                </a:cubicBezTo>
                <a:cubicBezTo>
                  <a:pt x="4564358" y="-9579"/>
                  <a:pt x="4295485" y="-25280"/>
                  <a:pt x="4087368" y="18288"/>
                </a:cubicBezTo>
                <a:cubicBezTo>
                  <a:pt x="3871704" y="40406"/>
                  <a:pt x="3732927" y="-10898"/>
                  <a:pt x="3401568" y="18288"/>
                </a:cubicBezTo>
                <a:cubicBezTo>
                  <a:pt x="3075889" y="19660"/>
                  <a:pt x="3025898" y="44400"/>
                  <a:pt x="2798064" y="18288"/>
                </a:cubicBezTo>
                <a:cubicBezTo>
                  <a:pt x="2581856" y="-20869"/>
                  <a:pt x="2428311" y="-4900"/>
                  <a:pt x="2276856" y="18288"/>
                </a:cubicBezTo>
                <a:cubicBezTo>
                  <a:pt x="2098246" y="53283"/>
                  <a:pt x="1737531" y="55959"/>
                  <a:pt x="1426464" y="18288"/>
                </a:cubicBezTo>
                <a:cubicBezTo>
                  <a:pt x="1104708" y="26489"/>
                  <a:pt x="1006595" y="15928"/>
                  <a:pt x="740664" y="18288"/>
                </a:cubicBezTo>
                <a:cubicBezTo>
                  <a:pt x="480378" y="33084"/>
                  <a:pt x="202592" y="-12357"/>
                  <a:pt x="0" y="18288"/>
                </a:cubicBezTo>
                <a:cubicBezTo>
                  <a:pt x="888" y="9601"/>
                  <a:pt x="860" y="4150"/>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29369" y="2093976"/>
            <a:ext cx="4523631" cy="4096512"/>
          </a:xfrm>
        </p:spPr>
        <p:txBody>
          <a:bodyPr anchor="t">
            <a:normAutofit/>
          </a:bodyPr>
          <a:lstStyle/>
          <a:p>
            <a:pPr marL="0" indent="0" algn="just">
              <a:lnSpc>
                <a:spcPct val="150000"/>
              </a:lnSpc>
              <a:buNone/>
            </a:pPr>
            <a:r>
              <a:rPr lang="en-US" sz="1900" dirty="0"/>
              <a:t>Support is an indication of how frequently the items appear in the data. Confidence indicates the number of times the if-then statements are found true. A third metric, called </a:t>
            </a:r>
            <a:r>
              <a:rPr lang="en-US" sz="1900" i="1" dirty="0"/>
              <a:t>lift</a:t>
            </a:r>
            <a:r>
              <a:rPr lang="en-US" sz="1900" dirty="0"/>
              <a:t>, can be used to compare confidence with expected confidence.</a:t>
            </a:r>
          </a:p>
          <a:p>
            <a:pPr marL="0" indent="0" algn="just">
              <a:lnSpc>
                <a:spcPct val="150000"/>
              </a:lnSpc>
              <a:buNone/>
            </a:pPr>
            <a:endParaRPr lang="en-US" sz="1900" dirty="0"/>
          </a:p>
        </p:txBody>
      </p:sp>
      <p:pic>
        <p:nvPicPr>
          <p:cNvPr id="12" name="Picture 2" descr="Related image">
            <a:extLst>
              <a:ext uri="{FF2B5EF4-FFF2-40B4-BE49-F238E27FC236}">
                <a16:creationId xmlns:a16="http://schemas.microsoft.com/office/drawing/2014/main" id="{B696C595-43BE-4B0C-A54A-B2C15349D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400410"/>
            <a:ext cx="3391009" cy="36955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t>Association Rule Mining</a:t>
            </a:r>
          </a:p>
        </p:txBody>
      </p:sp>
      <p:sp>
        <p:nvSpPr>
          <p:cNvPr id="3075" name="Rectangle 3"/>
          <p:cNvSpPr>
            <a:spLocks noGrp="1" noChangeArrowheads="1"/>
          </p:cNvSpPr>
          <p:nvPr>
            <p:ph type="body" idx="1"/>
          </p:nvPr>
        </p:nvSpPr>
        <p:spPr>
          <a:xfrm>
            <a:off x="381000" y="1143000"/>
            <a:ext cx="8318500" cy="1143000"/>
          </a:xfrm>
        </p:spPr>
        <p:txBody>
          <a:bodyPr/>
          <a:lstStyle/>
          <a:p>
            <a:pPr>
              <a:lnSpc>
                <a:spcPct val="90000"/>
              </a:lnSpc>
            </a:pPr>
            <a:r>
              <a:rPr lang="en-US" sz="2400"/>
              <a:t>Given a set of transactions, find rules that will predict the occurrence of an item based on the occurrences of other items in the transaction</a:t>
            </a:r>
          </a:p>
        </p:txBody>
      </p:sp>
      <p:sp>
        <p:nvSpPr>
          <p:cNvPr id="3076" name="Text Box 4"/>
          <p:cNvSpPr txBox="1">
            <a:spLocks noChangeArrowheads="1"/>
          </p:cNvSpPr>
          <p:nvPr/>
        </p:nvSpPr>
        <p:spPr bwMode="auto">
          <a:xfrm>
            <a:off x="304800" y="2819400"/>
            <a:ext cx="419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solidFill>
                  <a:srgbClr val="0C6D9C"/>
                </a:solidFill>
              </a:rPr>
              <a:t>Market-Basket transactions</a:t>
            </a:r>
          </a:p>
        </p:txBody>
      </p:sp>
      <p:graphicFrame>
        <p:nvGraphicFramePr>
          <p:cNvPr id="3077" name="Object 5"/>
          <p:cNvGraphicFramePr>
            <a:graphicFrameLocks noChangeAspect="1"/>
          </p:cNvGraphicFramePr>
          <p:nvPr/>
        </p:nvGraphicFramePr>
        <p:xfrm>
          <a:off x="228600" y="3429000"/>
          <a:ext cx="4343400" cy="2532063"/>
        </p:xfrm>
        <a:graphic>
          <a:graphicData uri="http://schemas.openxmlformats.org/presentationml/2006/ole">
            <mc:AlternateContent xmlns:mc="http://schemas.openxmlformats.org/markup-compatibility/2006">
              <mc:Choice xmlns:v="urn:schemas-microsoft-com:vml" Requires="v">
                <p:oleObj spid="_x0000_s7170" name="Document" r:id="rId3" imgW="3433292" imgH="1998228" progId="Word.Document.8">
                  <p:embed/>
                </p:oleObj>
              </mc:Choice>
              <mc:Fallback>
                <p:oleObj name="Document" r:id="rId3" imgW="3433292" imgH="1998228" progId="Word.Document.8">
                  <p:embed/>
                  <p:pic>
                    <p:nvPicPr>
                      <p:cNvPr id="307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429000"/>
                        <a:ext cx="4343400" cy="2532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8" name="Text Box 6"/>
          <p:cNvSpPr txBox="1">
            <a:spLocks noChangeArrowheads="1"/>
          </p:cNvSpPr>
          <p:nvPr/>
        </p:nvSpPr>
        <p:spPr bwMode="auto">
          <a:xfrm>
            <a:off x="4876800" y="3048000"/>
            <a:ext cx="381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t>Example of Association Rules</a:t>
            </a:r>
          </a:p>
        </p:txBody>
      </p:sp>
      <p:sp>
        <p:nvSpPr>
          <p:cNvPr id="3079" name="Text Box 7"/>
          <p:cNvSpPr txBox="1">
            <a:spLocks noChangeArrowheads="1"/>
          </p:cNvSpPr>
          <p:nvPr/>
        </p:nvSpPr>
        <p:spPr bwMode="auto">
          <a:xfrm>
            <a:off x="5334000" y="3657600"/>
            <a:ext cx="3276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1800" b="0"/>
              <a:t>{Diaper} </a:t>
            </a:r>
            <a:r>
              <a:rPr lang="en-US" sz="1800" b="0">
                <a:sym typeface="Symbol" pitchFamily="18" charset="2"/>
              </a:rPr>
              <a:t> {Beer},</a:t>
            </a:r>
            <a:br>
              <a:rPr lang="en-US" sz="1800" b="0">
                <a:sym typeface="Symbol" pitchFamily="18" charset="2"/>
              </a:rPr>
            </a:br>
            <a:r>
              <a:rPr lang="en-US" sz="1800" b="0">
                <a:sym typeface="Symbol" pitchFamily="18" charset="2"/>
              </a:rPr>
              <a:t>{Milk, Bread}  {Eggs,Coke},</a:t>
            </a:r>
            <a:br>
              <a:rPr lang="en-US" sz="1800" b="0">
                <a:sym typeface="Symbol" pitchFamily="18" charset="2"/>
              </a:rPr>
            </a:br>
            <a:r>
              <a:rPr lang="en-US" sz="1800" b="0">
                <a:sym typeface="Symbol" pitchFamily="18" charset="2"/>
              </a:rPr>
              <a:t>{Beer, Bread}  {Milk},</a:t>
            </a:r>
          </a:p>
        </p:txBody>
      </p:sp>
      <p:sp>
        <p:nvSpPr>
          <p:cNvPr id="3080" name="Text Box 8"/>
          <p:cNvSpPr txBox="1">
            <a:spLocks noChangeArrowheads="1"/>
          </p:cNvSpPr>
          <p:nvPr/>
        </p:nvSpPr>
        <p:spPr bwMode="auto">
          <a:xfrm>
            <a:off x="4876800" y="4953000"/>
            <a:ext cx="403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b="0"/>
              <a:t>Implication means co-occurrence, not causality!</a:t>
            </a:r>
          </a:p>
        </p:txBody>
      </p:sp>
    </p:spTree>
    <p:extLst>
      <p:ext uri="{BB962C8B-B14F-4D97-AF65-F5344CB8AC3E}">
        <p14:creationId xmlns:p14="http://schemas.microsoft.com/office/powerpoint/2010/main" val="4101186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r>
              <a:rPr lang="en-US"/>
              <a:t>Definition: Frequent Itemset</a:t>
            </a:r>
          </a:p>
        </p:txBody>
      </p:sp>
      <p:sp>
        <p:nvSpPr>
          <p:cNvPr id="1231875" name="Rectangle 3"/>
          <p:cNvSpPr>
            <a:spLocks noGrp="1" noChangeArrowheads="1"/>
          </p:cNvSpPr>
          <p:nvPr>
            <p:ph type="body" sz="half" idx="1"/>
          </p:nvPr>
        </p:nvSpPr>
        <p:spPr>
          <a:xfrm>
            <a:off x="304800" y="1066800"/>
            <a:ext cx="4876800" cy="5334000"/>
          </a:xfrm>
          <a:noFill/>
        </p:spPr>
        <p:txBody>
          <a:bodyPr/>
          <a:lstStyle/>
          <a:p>
            <a:pPr marL="342900" indent="-342900"/>
            <a:r>
              <a:rPr lang="en-US" sz="2000" b="1" dirty="0"/>
              <a:t>Itemset</a:t>
            </a:r>
          </a:p>
          <a:p>
            <a:pPr marL="742950" lvl="1" indent="-285750"/>
            <a:r>
              <a:rPr lang="en-US" sz="1800" dirty="0"/>
              <a:t>A collection of one or more items</a:t>
            </a:r>
          </a:p>
          <a:p>
            <a:pPr marL="1143000" lvl="2" indent="-228600"/>
            <a:r>
              <a:rPr lang="en-US" sz="1600" dirty="0"/>
              <a:t>Example: {Milk, Bread, Diaper}</a:t>
            </a:r>
          </a:p>
          <a:p>
            <a:pPr marL="742950" lvl="1" indent="-285750"/>
            <a:r>
              <a:rPr lang="en-US" sz="1800" dirty="0"/>
              <a:t>k-itemset</a:t>
            </a:r>
          </a:p>
          <a:p>
            <a:pPr marL="1143000" lvl="2" indent="-228600"/>
            <a:r>
              <a:rPr lang="en-US" sz="1600" dirty="0"/>
              <a:t>An itemset that contains k items</a:t>
            </a:r>
            <a:endParaRPr lang="en-US" sz="1600" b="1" dirty="0"/>
          </a:p>
          <a:p>
            <a:pPr marL="342900" indent="-342900"/>
            <a:r>
              <a:rPr lang="en-US" sz="2000" b="1" dirty="0"/>
              <a:t>Support count (</a:t>
            </a:r>
            <a:r>
              <a:rPr lang="en-US" sz="2000" b="1" dirty="0">
                <a:sym typeface="Symbol" pitchFamily="18" charset="2"/>
              </a:rPr>
              <a:t>)</a:t>
            </a:r>
          </a:p>
          <a:p>
            <a:pPr marL="742950" lvl="1" indent="-285750"/>
            <a:r>
              <a:rPr lang="en-US" sz="1800" dirty="0"/>
              <a:t>Frequency of occurrence of an itemset</a:t>
            </a:r>
          </a:p>
          <a:p>
            <a:pPr marL="742950" lvl="1" indent="-285750"/>
            <a:r>
              <a:rPr lang="en-US" sz="1800" dirty="0"/>
              <a:t>E.g.   </a:t>
            </a:r>
            <a:r>
              <a:rPr lang="en-US" sz="1800" dirty="0">
                <a:sym typeface="Symbol" pitchFamily="18" charset="2"/>
              </a:rPr>
              <a:t>({Milk, </a:t>
            </a:r>
            <a:r>
              <a:rPr lang="en-US" sz="1800" dirty="0" err="1">
                <a:sym typeface="Symbol" pitchFamily="18" charset="2"/>
              </a:rPr>
              <a:t>Bread,Diaper</a:t>
            </a:r>
            <a:r>
              <a:rPr lang="en-US" sz="1800" dirty="0">
                <a:sym typeface="Symbol" pitchFamily="18" charset="2"/>
              </a:rPr>
              <a:t>}) = 2 </a:t>
            </a:r>
            <a:endParaRPr lang="en-US" sz="1800" dirty="0"/>
          </a:p>
          <a:p>
            <a:pPr marL="342900" indent="-342900"/>
            <a:r>
              <a:rPr lang="en-US" sz="2000" b="1" dirty="0"/>
              <a:t>Support</a:t>
            </a:r>
          </a:p>
          <a:p>
            <a:pPr marL="742950" lvl="1" indent="-285750"/>
            <a:r>
              <a:rPr lang="en-US" sz="1800" dirty="0"/>
              <a:t>Fraction of transactions that contain an itemset</a:t>
            </a:r>
          </a:p>
          <a:p>
            <a:pPr marL="742950" lvl="1" indent="-285750"/>
            <a:r>
              <a:rPr lang="en-US" sz="1800" dirty="0"/>
              <a:t>E.g.   s({Milk, Bread, Diaper}) = 2/5</a:t>
            </a:r>
          </a:p>
          <a:p>
            <a:pPr marL="342900" indent="-342900"/>
            <a:r>
              <a:rPr lang="en-US" sz="2000" b="1" dirty="0"/>
              <a:t>Frequent Itemset</a:t>
            </a:r>
          </a:p>
          <a:p>
            <a:pPr marL="742950" lvl="1" indent="-285750"/>
            <a:r>
              <a:rPr lang="en-US" sz="1800" dirty="0"/>
              <a:t>An itemset whose support is greater than or equal to a </a:t>
            </a:r>
            <a:r>
              <a:rPr lang="en-US" sz="1800" i="1" dirty="0" err="1"/>
              <a:t>minsup</a:t>
            </a:r>
            <a:r>
              <a:rPr lang="en-US" sz="1800" dirty="0"/>
              <a:t> threshold</a:t>
            </a:r>
          </a:p>
        </p:txBody>
      </p:sp>
      <p:graphicFrame>
        <p:nvGraphicFramePr>
          <p:cNvPr id="4100" name="Object 45"/>
          <p:cNvGraphicFramePr>
            <a:graphicFrameLocks noGrp="1" noChangeAspect="1"/>
          </p:cNvGraphicFramePr>
          <p:nvPr>
            <p:ph type="clipArt" sz="half" idx="2"/>
          </p:nvPr>
        </p:nvGraphicFramePr>
        <p:xfrm>
          <a:off x="5416550" y="2089150"/>
          <a:ext cx="3622675" cy="2173288"/>
        </p:xfrm>
        <a:graphic>
          <a:graphicData uri="http://schemas.openxmlformats.org/presentationml/2006/ole">
            <mc:AlternateContent xmlns:mc="http://schemas.openxmlformats.org/markup-compatibility/2006">
              <mc:Choice xmlns:v="urn:schemas-microsoft-com:vml" Requires="v">
                <p:oleObj spid="_x0000_s8194" name="Document" r:id="rId3" imgW="3354070" imgH="2012830" progId="Word.Document.8">
                  <p:embed/>
                </p:oleObj>
              </mc:Choice>
              <mc:Fallback>
                <p:oleObj name="Document" r:id="rId3" imgW="3354070" imgH="2012830" progId="Word.Document.8">
                  <p:embed/>
                  <p:pic>
                    <p:nvPicPr>
                      <p:cNvPr id="4100" name="Object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550" y="2089150"/>
                        <a:ext cx="3622675" cy="2173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69242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18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18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18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3187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187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18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18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31875">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3187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187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1875">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3187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3187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87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Definition: Association Rule</a:t>
            </a:r>
          </a:p>
        </p:txBody>
      </p:sp>
      <p:grpSp>
        <p:nvGrpSpPr>
          <p:cNvPr id="1210390" name="Group 22"/>
          <p:cNvGrpSpPr>
            <a:grpSpLocks/>
          </p:cNvGrpSpPr>
          <p:nvPr/>
        </p:nvGrpSpPr>
        <p:grpSpPr bwMode="auto">
          <a:xfrm>
            <a:off x="4784725" y="3657600"/>
            <a:ext cx="3978275" cy="2527300"/>
            <a:chOff x="3014" y="2304"/>
            <a:chExt cx="2506" cy="1592"/>
          </a:xfrm>
        </p:grpSpPr>
        <p:sp>
          <p:nvSpPr>
            <p:cNvPr id="5126" name="Text Box 11"/>
            <p:cNvSpPr txBox="1">
              <a:spLocks noChangeArrowheads="1"/>
            </p:cNvSpPr>
            <p:nvPr/>
          </p:nvSpPr>
          <p:spPr bwMode="auto">
            <a:xfrm>
              <a:off x="3264" y="2304"/>
              <a:ext cx="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sz="2000" b="0">
                  <a:solidFill>
                    <a:srgbClr val="FF0000"/>
                  </a:solidFill>
                  <a:latin typeface="Times New Roman" pitchFamily="18" charset="0"/>
                </a:rPr>
                <a:t>Example:</a:t>
              </a:r>
              <a:endParaRPr lang="en-US" sz="2800" b="0">
                <a:solidFill>
                  <a:srgbClr val="FF0000"/>
                </a:solidFill>
                <a:latin typeface="Times New Roman" pitchFamily="18" charset="0"/>
              </a:endParaRPr>
            </a:p>
          </p:txBody>
        </p:sp>
        <p:graphicFrame>
          <p:nvGraphicFramePr>
            <p:cNvPr id="5127" name="Object 12"/>
            <p:cNvGraphicFramePr>
              <a:graphicFrameLocks noChangeAspect="1"/>
            </p:cNvGraphicFramePr>
            <p:nvPr/>
          </p:nvGraphicFramePr>
          <p:xfrm>
            <a:off x="3779" y="2545"/>
            <a:ext cx="1741" cy="239"/>
          </p:xfrm>
          <a:graphic>
            <a:graphicData uri="http://schemas.openxmlformats.org/presentationml/2006/ole">
              <mc:AlternateContent xmlns:mc="http://schemas.openxmlformats.org/markup-compatibility/2006">
                <mc:Choice xmlns:v="urn:schemas-microsoft-com:vml" Requires="v">
                  <p:oleObj spid="_x0000_s9218" name="Equation" r:id="rId3" imgW="1459866" imgH="203112" progId="Equation.3">
                    <p:embed/>
                  </p:oleObj>
                </mc:Choice>
                <mc:Fallback>
                  <p:oleObj name="Equation" r:id="rId3" imgW="1459866" imgH="203112" progId="Equation.3">
                    <p:embed/>
                    <p:pic>
                      <p:nvPicPr>
                        <p:cNvPr id="5127"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 y="2545"/>
                          <a:ext cx="174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13"/>
            <p:cNvGraphicFramePr>
              <a:graphicFrameLocks noChangeAspect="1"/>
            </p:cNvGraphicFramePr>
            <p:nvPr/>
          </p:nvGraphicFramePr>
          <p:xfrm>
            <a:off x="3060" y="2928"/>
            <a:ext cx="2460" cy="445"/>
          </p:xfrm>
          <a:graphic>
            <a:graphicData uri="http://schemas.openxmlformats.org/presentationml/2006/ole">
              <mc:AlternateContent xmlns:mc="http://schemas.openxmlformats.org/markup-compatibility/2006">
                <mc:Choice xmlns:v="urn:schemas-microsoft-com:vml" Requires="v">
                  <p:oleObj spid="_x0000_s9219" name="Equation" r:id="rId5" imgW="4318000" imgH="787400" progId="Equation.3">
                    <p:embed/>
                  </p:oleObj>
                </mc:Choice>
                <mc:Fallback>
                  <p:oleObj name="Equation" r:id="rId5" imgW="4318000" imgH="787400" progId="Equation.3">
                    <p:embed/>
                    <p:pic>
                      <p:nvPicPr>
                        <p:cNvPr id="5128"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0" y="2928"/>
                          <a:ext cx="2460" cy="4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9" name="Object 14"/>
            <p:cNvGraphicFramePr>
              <a:graphicFrameLocks noChangeAspect="1"/>
            </p:cNvGraphicFramePr>
            <p:nvPr/>
          </p:nvGraphicFramePr>
          <p:xfrm>
            <a:off x="3014" y="3456"/>
            <a:ext cx="2475" cy="440"/>
          </p:xfrm>
          <a:graphic>
            <a:graphicData uri="http://schemas.openxmlformats.org/presentationml/2006/ole">
              <mc:AlternateContent xmlns:mc="http://schemas.openxmlformats.org/markup-compatibility/2006">
                <mc:Choice xmlns:v="urn:schemas-microsoft-com:vml" Requires="v">
                  <p:oleObj spid="_x0000_s9220" name="Equation" r:id="rId7" imgW="4470400" imgH="787400" progId="Equation.3">
                    <p:embed/>
                  </p:oleObj>
                </mc:Choice>
                <mc:Fallback>
                  <p:oleObj name="Equation" r:id="rId7" imgW="4470400" imgH="787400" progId="Equation.3">
                    <p:embed/>
                    <p:pic>
                      <p:nvPicPr>
                        <p:cNvPr id="5129"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4" y="3456"/>
                          <a:ext cx="2475" cy="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10387" name="Rectangle 19"/>
          <p:cNvSpPr>
            <a:spLocks noChangeArrowheads="1"/>
          </p:cNvSpPr>
          <p:nvPr/>
        </p:nvSpPr>
        <p:spPr bwMode="auto">
          <a:xfrm>
            <a:off x="304800" y="1066800"/>
            <a:ext cx="4876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342900" indent="-342900">
              <a:spcBef>
                <a:spcPct val="10000"/>
              </a:spcBef>
              <a:spcAft>
                <a:spcPts val="400"/>
              </a:spcAft>
              <a:buClr>
                <a:srgbClr val="0C7B9C"/>
              </a:buClr>
              <a:buSzPct val="75000"/>
              <a:buFont typeface="Monotype Sorts" pitchFamily="2" charset="2"/>
              <a:buChar char="l"/>
            </a:pPr>
            <a:r>
              <a:rPr lang="en-US" sz="2000"/>
              <a:t>Association Rule</a:t>
            </a:r>
          </a:p>
          <a:p>
            <a:pPr marL="742950" lvl="1" indent="-285750">
              <a:spcBef>
                <a:spcPct val="10000"/>
              </a:spcBef>
              <a:spcAft>
                <a:spcPts val="400"/>
              </a:spcAft>
              <a:buClr>
                <a:srgbClr val="0C7B9C"/>
              </a:buClr>
              <a:buSzPct val="100000"/>
              <a:buFont typeface="Arial" pitchFamily="34" charset="0"/>
              <a:buChar char="–"/>
            </a:pPr>
            <a:r>
              <a:rPr lang="en-US" sz="1800" b="0"/>
              <a:t>An implication expression of the form X </a:t>
            </a:r>
            <a:r>
              <a:rPr lang="en-US" sz="1800" b="0">
                <a:sym typeface="Symbol" pitchFamily="18" charset="2"/>
              </a:rPr>
              <a:t> Y, where X and Y are itemsets</a:t>
            </a:r>
          </a:p>
          <a:p>
            <a:pPr marL="742950" lvl="1" indent="-285750">
              <a:spcBef>
                <a:spcPct val="10000"/>
              </a:spcBef>
              <a:spcAft>
                <a:spcPts val="400"/>
              </a:spcAft>
              <a:buClr>
                <a:srgbClr val="0C7B9C"/>
              </a:buClr>
              <a:buSzPct val="100000"/>
              <a:buFont typeface="Arial" pitchFamily="34" charset="0"/>
              <a:buChar char="–"/>
            </a:pPr>
            <a:r>
              <a:rPr lang="en-US" sz="1800" b="0"/>
              <a:t>Example:</a:t>
            </a:r>
            <a:br>
              <a:rPr lang="en-US" sz="1800" b="0"/>
            </a:br>
            <a:r>
              <a:rPr lang="en-US" sz="1800" b="0"/>
              <a:t>   {Milk, Diaper} </a:t>
            </a:r>
            <a:r>
              <a:rPr lang="en-US" sz="1800" b="0">
                <a:sym typeface="Symbol" pitchFamily="18" charset="2"/>
              </a:rPr>
              <a:t> {Beer}</a:t>
            </a:r>
            <a:r>
              <a:rPr lang="en-US" sz="1800" b="0"/>
              <a:t> </a:t>
            </a:r>
          </a:p>
          <a:p>
            <a:pPr marL="742950" lvl="1" indent="-285750">
              <a:spcBef>
                <a:spcPct val="10000"/>
              </a:spcBef>
              <a:spcAft>
                <a:spcPts val="400"/>
              </a:spcAft>
              <a:buClr>
                <a:srgbClr val="0C7B9C"/>
              </a:buClr>
              <a:buSzPct val="100000"/>
              <a:buFont typeface="Arial" pitchFamily="34" charset="0"/>
              <a:buNone/>
            </a:pPr>
            <a:endParaRPr lang="en-US" sz="1800"/>
          </a:p>
          <a:p>
            <a:pPr marL="342900" indent="-342900">
              <a:spcBef>
                <a:spcPct val="10000"/>
              </a:spcBef>
              <a:spcAft>
                <a:spcPts val="400"/>
              </a:spcAft>
              <a:buClr>
                <a:srgbClr val="0C7B9C"/>
              </a:buClr>
              <a:buSzPct val="75000"/>
              <a:buFont typeface="Monotype Sorts" pitchFamily="2" charset="2"/>
              <a:buChar char="l"/>
            </a:pPr>
            <a:r>
              <a:rPr lang="en-US" sz="2000"/>
              <a:t>Rule Evaluation Metrics</a:t>
            </a:r>
            <a:endParaRPr lang="en-US" sz="2000">
              <a:sym typeface="Symbol" pitchFamily="18" charset="2"/>
            </a:endParaRPr>
          </a:p>
          <a:p>
            <a:pPr marL="742950" lvl="1" indent="-285750">
              <a:spcBef>
                <a:spcPct val="10000"/>
              </a:spcBef>
              <a:spcAft>
                <a:spcPts val="400"/>
              </a:spcAft>
              <a:buClr>
                <a:srgbClr val="0C7B9C"/>
              </a:buClr>
              <a:buSzPct val="100000"/>
              <a:buFont typeface="Arial" pitchFamily="34" charset="0"/>
              <a:buChar char="–"/>
            </a:pPr>
            <a:r>
              <a:rPr lang="en-US" sz="1800" b="0"/>
              <a:t>Support (s)</a:t>
            </a:r>
          </a:p>
          <a:p>
            <a:pPr marL="1143000" lvl="2" indent="-228600">
              <a:spcBef>
                <a:spcPct val="10000"/>
              </a:spcBef>
              <a:spcAft>
                <a:spcPts val="400"/>
              </a:spcAft>
              <a:buClr>
                <a:srgbClr val="0C7B9C"/>
              </a:buClr>
              <a:buSzPct val="70000"/>
              <a:buFont typeface="Wingdings" pitchFamily="2" charset="2"/>
              <a:buChar char="u"/>
            </a:pPr>
            <a:r>
              <a:rPr lang="en-US" sz="1600" b="0"/>
              <a:t>Fraction of transactions that contain both X and Y</a:t>
            </a:r>
          </a:p>
          <a:p>
            <a:pPr marL="742950" lvl="1" indent="-285750">
              <a:spcBef>
                <a:spcPct val="10000"/>
              </a:spcBef>
              <a:spcAft>
                <a:spcPts val="400"/>
              </a:spcAft>
              <a:buClr>
                <a:srgbClr val="0C7B9C"/>
              </a:buClr>
              <a:buSzPct val="100000"/>
              <a:buFont typeface="Arial" pitchFamily="34" charset="0"/>
              <a:buChar char="–"/>
            </a:pPr>
            <a:r>
              <a:rPr lang="en-US" sz="1800" b="0"/>
              <a:t>Confidence (c)</a:t>
            </a:r>
          </a:p>
          <a:p>
            <a:pPr marL="1143000" lvl="2" indent="-228600">
              <a:spcBef>
                <a:spcPct val="10000"/>
              </a:spcBef>
              <a:spcAft>
                <a:spcPts val="400"/>
              </a:spcAft>
              <a:buClr>
                <a:srgbClr val="0C7B9C"/>
              </a:buClr>
              <a:buSzPct val="70000"/>
              <a:buFont typeface="Wingdings" pitchFamily="2" charset="2"/>
              <a:buChar char="u"/>
            </a:pPr>
            <a:r>
              <a:rPr lang="en-US" sz="1600" b="0"/>
              <a:t>Measures how often items in Y </a:t>
            </a:r>
            <a:br>
              <a:rPr lang="en-US" sz="1600" b="0"/>
            </a:br>
            <a:r>
              <a:rPr lang="en-US" sz="1600" b="0"/>
              <a:t>appear in transactions that</a:t>
            </a:r>
            <a:br>
              <a:rPr lang="en-US" sz="1600" b="0"/>
            </a:br>
            <a:r>
              <a:rPr lang="en-US" sz="1600" b="0"/>
              <a:t>contain X</a:t>
            </a:r>
          </a:p>
        </p:txBody>
      </p:sp>
      <p:graphicFrame>
        <p:nvGraphicFramePr>
          <p:cNvPr id="5125" name="Object 21"/>
          <p:cNvGraphicFramePr>
            <a:graphicFrameLocks noGrp="1" noChangeAspect="1"/>
          </p:cNvGraphicFramePr>
          <p:nvPr>
            <p:ph idx="1"/>
          </p:nvPr>
        </p:nvGraphicFramePr>
        <p:xfrm>
          <a:off x="5416550" y="1303338"/>
          <a:ext cx="3586163" cy="2152650"/>
        </p:xfrm>
        <a:graphic>
          <a:graphicData uri="http://schemas.openxmlformats.org/presentationml/2006/ole">
            <mc:AlternateContent xmlns:mc="http://schemas.openxmlformats.org/markup-compatibility/2006">
              <mc:Choice xmlns:v="urn:schemas-microsoft-com:vml" Requires="v">
                <p:oleObj spid="_x0000_s9221" name="Document" r:id="rId9" imgW="3354070" imgH="2012830" progId="Word.Document.8">
                  <p:embed/>
                </p:oleObj>
              </mc:Choice>
              <mc:Fallback>
                <p:oleObj name="Document" r:id="rId9" imgW="3354070" imgH="2012830" progId="Word.Document.8">
                  <p:embed/>
                  <p:pic>
                    <p:nvPicPr>
                      <p:cNvPr id="5125" name="Object 21"/>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16550" y="1303338"/>
                        <a:ext cx="3586163"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34960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0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03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03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03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103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1038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1038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10387">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10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038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554152"/>
            <a:ext cx="4306641"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33804" y="1289765"/>
            <a:ext cx="2738325" cy="4270963"/>
          </a:xfrm>
        </p:spPr>
        <p:txBody>
          <a:bodyPr anchor="ctr">
            <a:normAutofit/>
          </a:bodyPr>
          <a:lstStyle/>
          <a:p>
            <a:r>
              <a:rPr lang="en-US" sz="3400" b="1">
                <a:solidFill>
                  <a:srgbClr val="FFFFFF"/>
                </a:solidFill>
              </a:rPr>
              <a:t>Association rule algorithms</a:t>
            </a:r>
            <a:endParaRPr lang="en-US" sz="340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74394"/>
            <a:ext cx="128637"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1084507"/>
            <a:ext cx="118159"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p:cNvSpPr>
            <a:spLocks noGrp="1"/>
          </p:cNvSpPr>
          <p:nvPr>
            <p:ph idx="1"/>
          </p:nvPr>
        </p:nvSpPr>
        <p:spPr>
          <a:xfrm>
            <a:off x="4456287" y="518400"/>
            <a:ext cx="3845343" cy="5837949"/>
          </a:xfrm>
        </p:spPr>
        <p:txBody>
          <a:bodyPr anchor="ctr">
            <a:normAutofit/>
          </a:bodyPr>
          <a:lstStyle/>
          <a:p>
            <a:pPr>
              <a:lnSpc>
                <a:spcPct val="150000"/>
              </a:lnSpc>
            </a:pPr>
            <a:r>
              <a:rPr lang="en-US" sz="1800" dirty="0">
                <a:solidFill>
                  <a:schemeClr val="tx1">
                    <a:alpha val="80000"/>
                  </a:schemeClr>
                </a:solidFill>
              </a:rPr>
              <a:t>Popular </a:t>
            </a:r>
            <a:r>
              <a:rPr lang="en-US" sz="1800" u="sng" dirty="0">
                <a:solidFill>
                  <a:schemeClr val="tx1">
                    <a:alpha val="80000"/>
                  </a:schemeClr>
                </a:solidFill>
                <a:hlinkClick r:id="rId2"/>
              </a:rPr>
              <a:t>algorithms</a:t>
            </a:r>
            <a:r>
              <a:rPr lang="en-US" sz="1800" dirty="0">
                <a:solidFill>
                  <a:schemeClr val="tx1">
                    <a:alpha val="80000"/>
                  </a:schemeClr>
                </a:solidFill>
              </a:rPr>
              <a:t> that use association rules include :</a:t>
            </a:r>
          </a:p>
          <a:p>
            <a:pPr marL="857250" lvl="1" indent="-457200">
              <a:lnSpc>
                <a:spcPct val="150000"/>
              </a:lnSpc>
            </a:pPr>
            <a:r>
              <a:rPr lang="en-IN" sz="1800" dirty="0" err="1">
                <a:solidFill>
                  <a:schemeClr val="tx1">
                    <a:alpha val="80000"/>
                  </a:schemeClr>
                </a:solidFill>
              </a:rPr>
              <a:t>Apriori</a:t>
            </a:r>
            <a:r>
              <a:rPr lang="en-IN" sz="1800" dirty="0">
                <a:solidFill>
                  <a:schemeClr val="tx1">
                    <a:alpha val="80000"/>
                  </a:schemeClr>
                </a:solidFill>
              </a:rPr>
              <a:t> algorithm </a:t>
            </a:r>
          </a:p>
          <a:p>
            <a:pPr marL="857250" lvl="1" indent="-457200">
              <a:lnSpc>
                <a:spcPct val="150000"/>
              </a:lnSpc>
            </a:pPr>
            <a:r>
              <a:rPr lang="en-IN" sz="1800" dirty="0">
                <a:solidFill>
                  <a:schemeClr val="tx1">
                    <a:alpha val="80000"/>
                  </a:schemeClr>
                </a:solidFill>
              </a:rPr>
              <a:t>FP-Growth algorithm</a:t>
            </a:r>
          </a:p>
          <a:p>
            <a:pPr marL="857250" lvl="1" indent="-457200">
              <a:lnSpc>
                <a:spcPct val="150000"/>
              </a:lnSpc>
            </a:pPr>
            <a:r>
              <a:rPr lang="en-IN" sz="1800" dirty="0" err="1">
                <a:solidFill>
                  <a:schemeClr val="tx1">
                    <a:alpha val="80000"/>
                  </a:schemeClr>
                </a:solidFill>
              </a:rPr>
              <a:t>EClaT</a:t>
            </a:r>
            <a:r>
              <a:rPr lang="en-IN" sz="1800" dirty="0">
                <a:solidFill>
                  <a:schemeClr val="tx1">
                    <a:alpha val="80000"/>
                  </a:schemeClr>
                </a:solidFill>
              </a:rPr>
              <a:t> algorithm</a:t>
            </a:r>
          </a:p>
          <a:p>
            <a:pPr marL="857250" lvl="1" indent="-457200">
              <a:lnSpc>
                <a:spcPct val="150000"/>
              </a:lnSpc>
            </a:pPr>
            <a:r>
              <a:rPr lang="en-IN" sz="1800" dirty="0">
                <a:solidFill>
                  <a:schemeClr val="tx1">
                    <a:alpha val="80000"/>
                  </a:schemeClr>
                </a:solidFill>
              </a:rPr>
              <a:t>Tree Projection algorithm</a:t>
            </a:r>
          </a:p>
          <a:p>
            <a:pPr marL="857250" lvl="1" indent="-457200">
              <a:lnSpc>
                <a:spcPct val="150000"/>
              </a:lnSpc>
            </a:pPr>
            <a:r>
              <a:rPr lang="en-IN" sz="1800" dirty="0">
                <a:solidFill>
                  <a:schemeClr val="tx1">
                    <a:alpha val="80000"/>
                  </a:schemeClr>
                </a:solidFill>
              </a:rPr>
              <a:t>COFI algorithm</a:t>
            </a:r>
          </a:p>
          <a:p>
            <a:pPr marL="857250" lvl="1" indent="-457200">
              <a:lnSpc>
                <a:spcPct val="150000"/>
              </a:lnSpc>
            </a:pPr>
            <a:r>
              <a:rPr lang="en-IN" sz="1800" dirty="0">
                <a:solidFill>
                  <a:schemeClr val="tx1">
                    <a:alpha val="80000"/>
                  </a:schemeClr>
                </a:solidFill>
              </a:rPr>
              <a:t>TM algorithm</a:t>
            </a:r>
          </a:p>
          <a:p>
            <a:pPr marL="857250" lvl="1" indent="-457200">
              <a:lnSpc>
                <a:spcPct val="150000"/>
              </a:lnSpc>
            </a:pPr>
            <a:r>
              <a:rPr lang="en-IN" sz="1800" dirty="0">
                <a:solidFill>
                  <a:schemeClr val="tx1">
                    <a:alpha val="80000"/>
                  </a:schemeClr>
                </a:solidFill>
              </a:rPr>
              <a:t>P-Mine algorithm</a:t>
            </a:r>
          </a:p>
          <a:p>
            <a:pPr marL="857250" lvl="1" indent="-457200">
              <a:lnSpc>
                <a:spcPct val="150000"/>
              </a:lnSpc>
            </a:pPr>
            <a:r>
              <a:rPr lang="en-IN" sz="1800" dirty="0">
                <a:solidFill>
                  <a:schemeClr val="tx1">
                    <a:alpha val="80000"/>
                  </a:schemeClr>
                </a:solidFill>
              </a:rPr>
              <a:t>LP-Growth algorithm</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5751820"/>
            <a:ext cx="84319"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2843" y="3726"/>
            <a:ext cx="4211157"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8194" name="Rectangle 2"/>
          <p:cNvSpPr>
            <a:spLocks noGrp="1" noChangeArrowheads="1"/>
          </p:cNvSpPr>
          <p:nvPr>
            <p:ph type="title"/>
          </p:nvPr>
        </p:nvSpPr>
        <p:spPr>
          <a:xfrm>
            <a:off x="598356" y="410716"/>
            <a:ext cx="3733482" cy="1454051"/>
          </a:xfrm>
        </p:spPr>
        <p:txBody>
          <a:bodyPr>
            <a:normAutofit/>
          </a:bodyPr>
          <a:lstStyle/>
          <a:p>
            <a:pPr>
              <a:lnSpc>
                <a:spcPct val="90000"/>
              </a:lnSpc>
            </a:pPr>
            <a:r>
              <a:rPr lang="en-US" sz="3400" dirty="0">
                <a:solidFill>
                  <a:srgbClr val="000000"/>
                </a:solidFill>
              </a:rPr>
              <a:t>Mining Association Rules</a:t>
            </a:r>
          </a:p>
        </p:txBody>
      </p:sp>
      <p:sp>
        <p:nvSpPr>
          <p:cNvPr id="8195" name="Rectangle 3"/>
          <p:cNvSpPr>
            <a:spLocks noGrp="1" noChangeArrowheads="1"/>
          </p:cNvSpPr>
          <p:nvPr>
            <p:ph type="body" idx="1"/>
          </p:nvPr>
        </p:nvSpPr>
        <p:spPr>
          <a:xfrm>
            <a:off x="322011" y="2257006"/>
            <a:ext cx="4487501" cy="3882575"/>
          </a:xfrm>
        </p:spPr>
        <p:txBody>
          <a:bodyPr anchor="ctr">
            <a:normAutofit/>
          </a:bodyPr>
          <a:lstStyle/>
          <a:p>
            <a:pPr marL="533400" indent="-533400" algn="just">
              <a:lnSpc>
                <a:spcPct val="90000"/>
              </a:lnSpc>
            </a:pPr>
            <a:r>
              <a:rPr lang="en-US" sz="1600" dirty="0">
                <a:solidFill>
                  <a:srgbClr val="000000"/>
                </a:solidFill>
              </a:rPr>
              <a:t>Two-step approach: </a:t>
            </a:r>
          </a:p>
          <a:p>
            <a:pPr marL="914400" lvl="1" indent="-457200" algn="just">
              <a:lnSpc>
                <a:spcPct val="90000"/>
              </a:lnSpc>
              <a:buFont typeface="Arial" pitchFamily="34" charset="0"/>
              <a:buAutoNum type="arabicPeriod"/>
            </a:pPr>
            <a:r>
              <a:rPr lang="en-US" sz="1600" dirty="0">
                <a:solidFill>
                  <a:srgbClr val="000000"/>
                </a:solidFill>
              </a:rPr>
              <a:t>Frequent Itemset Generation</a:t>
            </a:r>
          </a:p>
          <a:p>
            <a:pPr marL="1295400" lvl="2" indent="-381000" algn="just">
              <a:lnSpc>
                <a:spcPct val="90000"/>
              </a:lnSpc>
              <a:buFont typeface="Arial" pitchFamily="34" charset="0"/>
              <a:buChar char="–"/>
            </a:pPr>
            <a:r>
              <a:rPr lang="en-US" sz="1600" dirty="0">
                <a:solidFill>
                  <a:srgbClr val="000000"/>
                </a:solidFill>
              </a:rPr>
              <a:t>Generate all </a:t>
            </a:r>
            <a:r>
              <a:rPr lang="en-US" sz="1600" dirty="0" err="1">
                <a:solidFill>
                  <a:srgbClr val="000000"/>
                </a:solidFill>
              </a:rPr>
              <a:t>itemsets</a:t>
            </a:r>
            <a:r>
              <a:rPr lang="en-US" sz="1600" dirty="0">
                <a:solidFill>
                  <a:srgbClr val="000000"/>
                </a:solidFill>
              </a:rPr>
              <a:t> whose support </a:t>
            </a:r>
            <a:r>
              <a:rPr lang="en-US" sz="1600" dirty="0">
                <a:solidFill>
                  <a:srgbClr val="000000"/>
                </a:solidFill>
                <a:sym typeface="Symbol" pitchFamily="18" charset="2"/>
              </a:rPr>
              <a:t> </a:t>
            </a:r>
            <a:r>
              <a:rPr lang="en-US" sz="1600" dirty="0" err="1">
                <a:solidFill>
                  <a:srgbClr val="000000"/>
                </a:solidFill>
              </a:rPr>
              <a:t>minsup</a:t>
            </a:r>
            <a:endParaRPr lang="en-US" sz="1600" dirty="0">
              <a:solidFill>
                <a:srgbClr val="000000"/>
              </a:solidFill>
            </a:endParaRPr>
          </a:p>
          <a:p>
            <a:pPr marL="1295400" lvl="2" indent="-381000" algn="just">
              <a:lnSpc>
                <a:spcPct val="90000"/>
              </a:lnSpc>
              <a:buFont typeface="Arial" pitchFamily="34" charset="0"/>
              <a:buNone/>
            </a:pPr>
            <a:endParaRPr lang="en-US" sz="1600" dirty="0">
              <a:solidFill>
                <a:srgbClr val="000000"/>
              </a:solidFill>
            </a:endParaRPr>
          </a:p>
          <a:p>
            <a:pPr marL="914400" lvl="1" indent="-457200" algn="just">
              <a:lnSpc>
                <a:spcPct val="90000"/>
              </a:lnSpc>
              <a:buFont typeface="Arial" pitchFamily="34" charset="0"/>
              <a:buAutoNum type="arabicPeriod"/>
            </a:pPr>
            <a:r>
              <a:rPr lang="en-US" sz="1600" dirty="0">
                <a:solidFill>
                  <a:srgbClr val="000000"/>
                </a:solidFill>
              </a:rPr>
              <a:t>Rule Generation</a:t>
            </a:r>
          </a:p>
          <a:p>
            <a:pPr marL="1295400" lvl="2" indent="-381000" algn="just">
              <a:lnSpc>
                <a:spcPct val="90000"/>
              </a:lnSpc>
              <a:buFont typeface="Arial" pitchFamily="34" charset="0"/>
              <a:buChar char="–"/>
            </a:pPr>
            <a:r>
              <a:rPr lang="en-US" sz="1600" dirty="0">
                <a:solidFill>
                  <a:srgbClr val="000000"/>
                </a:solidFill>
              </a:rPr>
              <a:t>Generate high confidence rules from each frequent itemset, where each rule is a binary partitioning of a frequent itemset</a:t>
            </a:r>
          </a:p>
          <a:p>
            <a:pPr marL="533400" indent="-533400" algn="just">
              <a:lnSpc>
                <a:spcPct val="90000"/>
              </a:lnSpc>
            </a:pPr>
            <a:endParaRPr lang="en-US" sz="1600" dirty="0">
              <a:solidFill>
                <a:srgbClr val="000000"/>
              </a:solidFill>
            </a:endParaRPr>
          </a:p>
          <a:p>
            <a:pPr marL="533400" indent="-533400" algn="just">
              <a:lnSpc>
                <a:spcPct val="90000"/>
              </a:lnSpc>
            </a:pPr>
            <a:r>
              <a:rPr lang="en-US" sz="1600" dirty="0">
                <a:solidFill>
                  <a:srgbClr val="000000"/>
                </a:solidFill>
              </a:rPr>
              <a:t>Frequent itemset generation is still computationally expensive</a:t>
            </a:r>
          </a:p>
          <a:p>
            <a:pPr marL="533400" indent="-533400" algn="just">
              <a:lnSpc>
                <a:spcPct val="90000"/>
              </a:lnSpc>
              <a:buFont typeface="Monotype Sorts" pitchFamily="2" charset="2"/>
              <a:buNone/>
            </a:pPr>
            <a:endParaRPr lang="en-US" sz="1600" dirty="0">
              <a:solidFill>
                <a:srgbClr val="000000"/>
              </a:solidFill>
            </a:endParaRPr>
          </a:p>
        </p:txBody>
      </p:sp>
      <p:sp>
        <p:nvSpPr>
          <p:cNvPr id="78"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93671" y="738619"/>
            <a:ext cx="3750329"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1" name="Graphic 70" descr="Repeat">
            <a:extLst>
              <a:ext uri="{FF2B5EF4-FFF2-40B4-BE49-F238E27FC236}">
                <a16:creationId xmlns:a16="http://schemas.microsoft.com/office/drawing/2014/main" id="{4207D97A-8986-4B4E-A375-272B27B8E3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75615" y="2065912"/>
            <a:ext cx="2746374" cy="2746374"/>
          </a:xfrm>
          <a:prstGeom prst="rect">
            <a:avLst/>
          </a:prstGeom>
        </p:spPr>
      </p:pic>
    </p:spTree>
    <p:extLst>
      <p:ext uri="{BB962C8B-B14F-4D97-AF65-F5344CB8AC3E}">
        <p14:creationId xmlns:p14="http://schemas.microsoft.com/office/powerpoint/2010/main" val="1873515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dirty="0"/>
              <a:t>Frequent Itemset Generation</a:t>
            </a:r>
          </a:p>
        </p:txBody>
      </p:sp>
      <p:graphicFrame>
        <p:nvGraphicFramePr>
          <p:cNvPr id="9219" name="Object 3"/>
          <p:cNvGraphicFramePr>
            <a:graphicFrameLocks noChangeAspect="1"/>
          </p:cNvGraphicFramePr>
          <p:nvPr>
            <p:extLst>
              <p:ext uri="{D42A27DB-BD31-4B8C-83A1-F6EECF244321}">
                <p14:modId xmlns:p14="http://schemas.microsoft.com/office/powerpoint/2010/main" val="813042089"/>
              </p:ext>
            </p:extLst>
          </p:nvPr>
        </p:nvGraphicFramePr>
        <p:xfrm>
          <a:off x="304800" y="1316037"/>
          <a:ext cx="7034213" cy="5313363"/>
        </p:xfrm>
        <a:graphic>
          <a:graphicData uri="http://schemas.openxmlformats.org/presentationml/2006/ole">
            <mc:AlternateContent xmlns:mc="http://schemas.openxmlformats.org/markup-compatibility/2006">
              <mc:Choice xmlns:v="urn:schemas-microsoft-com:vml" Requires="v">
                <p:oleObj spid="_x0000_s10242" name="VISIO" r:id="rId3" imgW="9811512" imgH="7395972" progId="">
                  <p:embed/>
                </p:oleObj>
              </mc:Choice>
              <mc:Fallback>
                <p:oleObj name="VISIO" r:id="rId3" imgW="9811512" imgH="7395972" progId="">
                  <p:embed/>
                  <p:pic>
                    <p:nvPicPr>
                      <p:cNvPr id="92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316037"/>
                        <a:ext cx="7034213" cy="531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Text Box 4"/>
          <p:cNvSpPr txBox="1">
            <a:spLocks noChangeArrowheads="1"/>
          </p:cNvSpPr>
          <p:nvPr/>
        </p:nvSpPr>
        <p:spPr bwMode="auto">
          <a:xfrm>
            <a:off x="6248400" y="5257800"/>
            <a:ext cx="2743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t>Given d items, there are 2</a:t>
            </a:r>
            <a:r>
              <a:rPr lang="en-US" sz="2000" baseline="30000"/>
              <a:t>d</a:t>
            </a:r>
            <a:r>
              <a:rPr lang="en-US" sz="2000"/>
              <a:t> possible candidate itemsets</a:t>
            </a:r>
            <a:endParaRPr lang="en-US" sz="2000">
              <a:sym typeface="Symbol" pitchFamily="18" charset="2"/>
            </a:endParaRPr>
          </a:p>
        </p:txBody>
      </p:sp>
    </p:spTree>
    <p:extLst>
      <p:ext uri="{BB962C8B-B14F-4D97-AF65-F5344CB8AC3E}">
        <p14:creationId xmlns:p14="http://schemas.microsoft.com/office/powerpoint/2010/main" val="3983679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8" name="Rectangle 134">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6F98BC-16CF-405B-B1B9-3F095E71AA35}"/>
              </a:ext>
            </a:extLst>
          </p:cNvPr>
          <p:cNvSpPr>
            <a:spLocks noGrp="1"/>
          </p:cNvSpPr>
          <p:nvPr>
            <p:ph type="title"/>
          </p:nvPr>
        </p:nvSpPr>
        <p:spPr>
          <a:xfrm>
            <a:off x="452953" y="640081"/>
            <a:ext cx="1956491" cy="5257799"/>
          </a:xfrm>
        </p:spPr>
        <p:txBody>
          <a:bodyPr vert="horz" lIns="91440" tIns="45720" rIns="91440" bIns="45720" rtlCol="0" anchor="ctr">
            <a:normAutofit/>
          </a:bodyPr>
          <a:lstStyle/>
          <a:p>
            <a:pPr algn="l">
              <a:lnSpc>
                <a:spcPct val="90000"/>
              </a:lnSpc>
            </a:pPr>
            <a:r>
              <a:rPr lang="en-US" sz="2600">
                <a:solidFill>
                  <a:srgbClr val="2C2C2C"/>
                </a:solidFill>
              </a:rPr>
              <a:t>Frequent Itemset Generation</a:t>
            </a:r>
            <a:endParaRPr lang="en-US" sz="2600" dirty="0">
              <a:solidFill>
                <a:srgbClr val="2C2C2C"/>
              </a:solidFill>
            </a:endParaRPr>
          </a:p>
        </p:txBody>
      </p:sp>
      <p:sp>
        <p:nvSpPr>
          <p:cNvPr id="1029"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5050" y="484632"/>
            <a:ext cx="6096762"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5887FAC6-351A-4070-A48B-33EC60E114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250" r="-3" b="-3"/>
          <a:stretch/>
        </p:blipFill>
        <p:spPr bwMode="auto">
          <a:xfrm>
            <a:off x="3047223" y="942538"/>
            <a:ext cx="5372416" cy="480833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354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0" name="Rectangle 2"/>
          <p:cNvSpPr>
            <a:spLocks noGrp="1" noChangeArrowheads="1"/>
          </p:cNvSpPr>
          <p:nvPr>
            <p:ph type="title"/>
          </p:nvPr>
        </p:nvSpPr>
        <p:spPr>
          <a:xfrm>
            <a:off x="350041" y="586855"/>
            <a:ext cx="2401025" cy="3387497"/>
          </a:xfrm>
        </p:spPr>
        <p:txBody>
          <a:bodyPr anchor="b">
            <a:normAutofit/>
          </a:bodyPr>
          <a:lstStyle/>
          <a:p>
            <a:pPr algn="r"/>
            <a:r>
              <a:rPr lang="en-US" sz="3500">
                <a:solidFill>
                  <a:srgbClr val="FFFFFF"/>
                </a:solidFill>
              </a:rPr>
              <a:t>Frequent Itemset Generation Strategies</a:t>
            </a:r>
          </a:p>
        </p:txBody>
      </p:sp>
      <p:sp>
        <p:nvSpPr>
          <p:cNvPr id="12291" name="Rectangle 3"/>
          <p:cNvSpPr>
            <a:spLocks noGrp="1" noChangeArrowheads="1"/>
          </p:cNvSpPr>
          <p:nvPr>
            <p:ph type="body" idx="1"/>
          </p:nvPr>
        </p:nvSpPr>
        <p:spPr>
          <a:xfrm>
            <a:off x="3378411" y="381000"/>
            <a:ext cx="5415548" cy="6248400"/>
          </a:xfrm>
        </p:spPr>
        <p:txBody>
          <a:bodyPr anchor="ctr">
            <a:normAutofit/>
          </a:bodyPr>
          <a:lstStyle/>
          <a:p>
            <a:r>
              <a:rPr lang="en-US" sz="1700" dirty="0"/>
              <a:t>Reduce the number of candidates (M)</a:t>
            </a:r>
          </a:p>
          <a:p>
            <a:pPr lvl="1"/>
            <a:r>
              <a:rPr lang="en-US" sz="1700" dirty="0"/>
              <a:t>Complete search: M=2</a:t>
            </a:r>
            <a:r>
              <a:rPr lang="en-US" sz="1700" baseline="30000" dirty="0"/>
              <a:t>d</a:t>
            </a:r>
          </a:p>
          <a:p>
            <a:pPr lvl="1"/>
            <a:r>
              <a:rPr lang="en-US" sz="1700" dirty="0"/>
              <a:t>Use pruning techniques to reduce M</a:t>
            </a:r>
          </a:p>
          <a:p>
            <a:pPr lvl="4"/>
            <a:endParaRPr lang="en-US" sz="1700" dirty="0">
              <a:latin typeface="Times New Roman" pitchFamily="18" charset="0"/>
            </a:endParaRPr>
          </a:p>
          <a:p>
            <a:r>
              <a:rPr lang="en-US" sz="1700" dirty="0"/>
              <a:t>Reduce the number of transactions (N)</a:t>
            </a:r>
          </a:p>
          <a:p>
            <a:pPr lvl="1"/>
            <a:r>
              <a:rPr lang="en-US" sz="1700" dirty="0"/>
              <a:t>Reduce size of N as the size of itemset increases</a:t>
            </a:r>
          </a:p>
          <a:p>
            <a:pPr lvl="1"/>
            <a:r>
              <a:rPr lang="en-US" sz="1700" dirty="0"/>
              <a:t>Used by DHP and vertical-based mining algorithms</a:t>
            </a:r>
          </a:p>
          <a:p>
            <a:pPr lvl="4"/>
            <a:endParaRPr lang="en-US" sz="1700" dirty="0">
              <a:latin typeface="Times New Roman" pitchFamily="18" charset="0"/>
            </a:endParaRPr>
          </a:p>
          <a:p>
            <a:r>
              <a:rPr lang="en-US" sz="1700" dirty="0"/>
              <a:t>Reduce the number of comparisons (NM)</a:t>
            </a:r>
          </a:p>
          <a:p>
            <a:pPr lvl="1"/>
            <a:r>
              <a:rPr lang="en-US" sz="1700" dirty="0"/>
              <a:t>Use efficient data structures to store the candidates or transactions</a:t>
            </a:r>
          </a:p>
          <a:p>
            <a:pPr lvl="1"/>
            <a:r>
              <a:rPr lang="en-US" sz="1700" dirty="0"/>
              <a:t>No need to match every candidate against every transaction</a:t>
            </a:r>
          </a:p>
        </p:txBody>
      </p:sp>
    </p:spTree>
    <p:extLst>
      <p:ext uri="{BB962C8B-B14F-4D97-AF65-F5344CB8AC3E}">
        <p14:creationId xmlns:p14="http://schemas.microsoft.com/office/powerpoint/2010/main" val="1319720168"/>
      </p:ext>
    </p:extLst>
  </p:cSld>
  <p:clrMapOvr>
    <a:masterClrMapping/>
  </p:clrMapOvr>
</p:sld>
</file>

<file path=ppt/theme/theme1.xml><?xml version="1.0" encoding="utf-8"?>
<a:theme xmlns:a="http://schemas.openxmlformats.org/drawingml/2006/main" name="Office Them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iblet">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7145" cap="flat" cmpd="sng" algn="ctr">
          <a:solidFill>
            <a:schemeClr val="phClr"/>
          </a:solidFill>
          <a:prstDash val="solid"/>
        </a:ln>
        <a:ln w="58420" cap="flat" cmpd="thickThin" algn="ctr">
          <a:solidFill>
            <a:schemeClr val="phClr">
              <a:shade val="95000"/>
              <a:alpha val="50000"/>
              <a:satMod val="150000"/>
            </a:schemeClr>
          </a:solidFill>
          <a:prstDash val="solid"/>
        </a:ln>
      </a:lnStyleLst>
      <a:effectStyleLst>
        <a:effectStyle>
          <a:effectLst/>
        </a:effectStyle>
        <a:effectStyle>
          <a:effectLst>
            <a:outerShdw blurRad="50800" dist="38100" dir="2700000" rotWithShape="0">
              <a:srgbClr val="000000">
                <a:alpha val="60000"/>
              </a:srgbClr>
            </a:outerShdw>
          </a:effectLst>
          <a:scene3d>
            <a:camera prst="orthographicFront">
              <a:rot lat="0" lon="0" rev="0"/>
            </a:camera>
            <a:lightRig rig="flat" dir="tl"/>
          </a:scene3d>
          <a:sp3d prstMaterial="flat">
            <a:bevelT w="31750" h="63500" prst="riblet"/>
          </a:sp3d>
        </a:effectStyle>
        <a:effectStyle>
          <a:effectLst>
            <a:outerShdw blurRad="50800" dist="38100" dir="2700000" algn="ctr" rotWithShape="0">
              <a:srgbClr val="000000">
                <a:alpha val="60000"/>
              </a:srgbClr>
            </a:outerShdw>
          </a:effectLst>
          <a:scene3d>
            <a:camera prst="orthographicFront">
              <a:rot lat="0" lon="0" rev="0"/>
            </a:camera>
            <a:lightRig rig="flat" dir="tl"/>
          </a:scene3d>
          <a:sp3d prstMaterial="flat">
            <a:bevelT w="57150" h="114300" prst="rible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2859</TotalTime>
  <Words>2257</Words>
  <Application>Microsoft Office PowerPoint</Application>
  <PresentationFormat>On-screen Show (4:3)</PresentationFormat>
  <Paragraphs>270</Paragraphs>
  <Slides>33</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33</vt:i4>
      </vt:variant>
    </vt:vector>
  </HeadingPairs>
  <TitlesOfParts>
    <vt:vector size="46" baseType="lpstr">
      <vt:lpstr>Arial</vt:lpstr>
      <vt:lpstr>Calibri</vt:lpstr>
      <vt:lpstr>cmsy10</vt:lpstr>
      <vt:lpstr>MathJax_Main</vt:lpstr>
      <vt:lpstr>MathJax_Math-italic</vt:lpstr>
      <vt:lpstr>Monotype Sorts</vt:lpstr>
      <vt:lpstr>Times New Roman</vt:lpstr>
      <vt:lpstr>urw-din</vt:lpstr>
      <vt:lpstr>Wingdings</vt:lpstr>
      <vt:lpstr>Office Theme</vt:lpstr>
      <vt:lpstr>Document</vt:lpstr>
      <vt:lpstr>Equation</vt:lpstr>
      <vt:lpstr>VISIO</vt:lpstr>
      <vt:lpstr>Frequent Itemset mining methods</vt:lpstr>
      <vt:lpstr>Frequent Itemset mining methods</vt:lpstr>
      <vt:lpstr>frequent items</vt:lpstr>
      <vt:lpstr>PowerPoint Presentation</vt:lpstr>
      <vt:lpstr>Market Basket Analysis</vt:lpstr>
      <vt:lpstr>Some examples include</vt:lpstr>
      <vt:lpstr>Some examples include</vt:lpstr>
      <vt:lpstr>Frequent pattern mining</vt:lpstr>
      <vt:lpstr>PowerPoint Presentation</vt:lpstr>
      <vt:lpstr>frequent items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Association Rules</vt:lpstr>
      <vt:lpstr>Important Definitions </vt:lpstr>
      <vt:lpstr>Association Rule Definitions</vt:lpstr>
      <vt:lpstr>Association rule</vt:lpstr>
      <vt:lpstr>Applications of Association Rule Mining</vt:lpstr>
      <vt:lpstr>How association rules work</vt:lpstr>
      <vt:lpstr>How association rules work</vt:lpstr>
      <vt:lpstr>Association Rule Mining</vt:lpstr>
      <vt:lpstr>Definition: Frequent Itemset</vt:lpstr>
      <vt:lpstr>Definition: Association Rule</vt:lpstr>
      <vt:lpstr>Association rule algorithms</vt:lpstr>
      <vt:lpstr>Mining Association Rules</vt:lpstr>
      <vt:lpstr>Frequent Itemset Generation</vt:lpstr>
      <vt:lpstr>Frequent Itemset Generation</vt:lpstr>
      <vt:lpstr>Frequent Itemset Generation 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Frequent Itemset mining methods</dc:title>
  <dc:creator>Dr Deepak Sukheja</dc:creator>
  <cp:lastModifiedBy>kriti ohri</cp:lastModifiedBy>
  <cp:revision>5</cp:revision>
  <dcterms:created xsi:type="dcterms:W3CDTF">2020-12-17T05:04:44Z</dcterms:created>
  <dcterms:modified xsi:type="dcterms:W3CDTF">2021-12-07T09:03:32Z</dcterms:modified>
</cp:coreProperties>
</file>