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320" r:id="rId2"/>
    <p:sldId id="256" r:id="rId3"/>
    <p:sldId id="257" r:id="rId4"/>
    <p:sldId id="258" r:id="rId5"/>
    <p:sldId id="259" r:id="rId6"/>
    <p:sldId id="269" r:id="rId7"/>
    <p:sldId id="280" r:id="rId8"/>
    <p:sldId id="326" r:id="rId9"/>
    <p:sldId id="327" r:id="rId10"/>
    <p:sldId id="328" r:id="rId11"/>
    <p:sldId id="329" r:id="rId12"/>
    <p:sldId id="330" r:id="rId13"/>
    <p:sldId id="331" r:id="rId14"/>
    <p:sldId id="279" r:id="rId15"/>
    <p:sldId id="335" r:id="rId16"/>
    <p:sldId id="260" r:id="rId17"/>
    <p:sldId id="261" r:id="rId18"/>
    <p:sldId id="262" r:id="rId19"/>
    <p:sldId id="263" r:id="rId20"/>
    <p:sldId id="264" r:id="rId21"/>
    <p:sldId id="321" r:id="rId22"/>
    <p:sldId id="332" r:id="rId23"/>
    <p:sldId id="333" r:id="rId24"/>
    <p:sldId id="265" r:id="rId25"/>
    <p:sldId id="334" r:id="rId26"/>
    <p:sldId id="266" r:id="rId27"/>
    <p:sldId id="322" r:id="rId28"/>
    <p:sldId id="342" r:id="rId29"/>
    <p:sldId id="341" r:id="rId30"/>
    <p:sldId id="324" r:id="rId31"/>
    <p:sldId id="268" r:id="rId32"/>
    <p:sldId id="277" r:id="rId33"/>
    <p:sldId id="339" r:id="rId34"/>
    <p:sldId id="344" r:id="rId35"/>
    <p:sldId id="343" r:id="rId36"/>
    <p:sldId id="270" r:id="rId37"/>
    <p:sldId id="323" r:id="rId38"/>
    <p:sldId id="283" r:id="rId39"/>
    <p:sldId id="338" r:id="rId40"/>
    <p:sldId id="340" r:id="rId41"/>
    <p:sldId id="336" r:id="rId42"/>
    <p:sldId id="274" r:id="rId43"/>
    <p:sldId id="281" r:id="rId44"/>
    <p:sldId id="345" r:id="rId45"/>
    <p:sldId id="325" r:id="rId46"/>
    <p:sldId id="275" r:id="rId47"/>
    <p:sldId id="282" r:id="rId48"/>
    <p:sldId id="271" r:id="rId49"/>
    <p:sldId id="272" r:id="rId50"/>
    <p:sldId id="276" r:id="rId51"/>
    <p:sldId id="278" r:id="rId52"/>
    <p:sldId id="284"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5221" autoAdjust="0"/>
  </p:normalViewPr>
  <p:slideViewPr>
    <p:cSldViewPr snapToGrid="0">
      <p:cViewPr varScale="1">
        <p:scale>
          <a:sx n="62" d="100"/>
          <a:sy n="62" d="100"/>
        </p:scale>
        <p:origin x="1488" y="48"/>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7BF61-EAB0-4E16-B38A-A7D0A69B9BE9}" type="datetimeFigureOut">
              <a:rPr lang="en-IN" smtClean="0"/>
              <a:t>17-11-2024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3B79E7-8482-4F20-BCC0-3748D60B3FF3}" type="slidenum">
              <a:rPr lang="en-IN" smtClean="0"/>
              <a:t>‹#›</a:t>
            </a:fld>
            <a:endParaRPr lang="en-IN"/>
          </a:p>
        </p:txBody>
      </p:sp>
    </p:spTree>
    <p:extLst>
      <p:ext uri="{BB962C8B-B14F-4D97-AF65-F5344CB8AC3E}">
        <p14:creationId xmlns:p14="http://schemas.microsoft.com/office/powerpoint/2010/main" val="2746007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66485DB-6355-47A6-ABCE-F416926EEF60}" type="slidenum">
              <a:rPr lang="en-IN" smtClean="0"/>
              <a:t>1</a:t>
            </a:fld>
            <a:endParaRPr lang="en-IN" dirty="0"/>
          </a:p>
        </p:txBody>
      </p:sp>
    </p:spTree>
    <p:extLst>
      <p:ext uri="{BB962C8B-B14F-4D97-AF65-F5344CB8AC3E}">
        <p14:creationId xmlns:p14="http://schemas.microsoft.com/office/powerpoint/2010/main" val="2780510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3B79E7-8482-4F20-BCC0-3748D60B3FF3}" type="slidenum">
              <a:rPr lang="en-IN" smtClean="0"/>
              <a:t>3</a:t>
            </a:fld>
            <a:endParaRPr lang="en-IN"/>
          </a:p>
        </p:txBody>
      </p:sp>
    </p:spTree>
    <p:extLst>
      <p:ext uri="{BB962C8B-B14F-4D97-AF65-F5344CB8AC3E}">
        <p14:creationId xmlns:p14="http://schemas.microsoft.com/office/powerpoint/2010/main" val="2109937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sampling with replacement , with uniform distribution</a:t>
            </a:r>
          </a:p>
        </p:txBody>
      </p:sp>
      <p:sp>
        <p:nvSpPr>
          <p:cNvPr id="4" name="Slide Number Placeholder 3"/>
          <p:cNvSpPr>
            <a:spLocks noGrp="1"/>
          </p:cNvSpPr>
          <p:nvPr>
            <p:ph type="sldNum" sz="quarter" idx="5"/>
          </p:nvPr>
        </p:nvSpPr>
        <p:spPr/>
        <p:txBody>
          <a:bodyPr/>
          <a:lstStyle/>
          <a:p>
            <a:fld id="{B03B79E7-8482-4F20-BCC0-3748D60B3FF3}" type="slidenum">
              <a:rPr lang="en-IN" smtClean="0"/>
              <a:t>21</a:t>
            </a:fld>
            <a:endParaRPr lang="en-IN"/>
          </a:p>
        </p:txBody>
      </p:sp>
    </p:spTree>
    <p:extLst>
      <p:ext uri="{BB962C8B-B14F-4D97-AF65-F5344CB8AC3E}">
        <p14:creationId xmlns:p14="http://schemas.microsoft.com/office/powerpoint/2010/main" val="1690107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3B79E7-8482-4F20-BCC0-3748D60B3FF3}" type="slidenum">
              <a:rPr lang="en-IN" smtClean="0"/>
              <a:t>23</a:t>
            </a:fld>
            <a:endParaRPr lang="en-IN"/>
          </a:p>
        </p:txBody>
      </p:sp>
    </p:spTree>
    <p:extLst>
      <p:ext uri="{BB962C8B-B14F-4D97-AF65-F5344CB8AC3E}">
        <p14:creationId xmlns:p14="http://schemas.microsoft.com/office/powerpoint/2010/main" val="1644030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3B79E7-8482-4F20-BCC0-3748D60B3FF3}" type="slidenum">
              <a:rPr lang="en-IN" smtClean="0"/>
              <a:t>25</a:t>
            </a:fld>
            <a:endParaRPr lang="en-IN"/>
          </a:p>
        </p:txBody>
      </p:sp>
    </p:spTree>
    <p:extLst>
      <p:ext uri="{BB962C8B-B14F-4D97-AF65-F5344CB8AC3E}">
        <p14:creationId xmlns:p14="http://schemas.microsoft.com/office/powerpoint/2010/main" val="690430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Bagging rounds. Multi processing parallel</a:t>
            </a:r>
          </a:p>
        </p:txBody>
      </p:sp>
      <p:sp>
        <p:nvSpPr>
          <p:cNvPr id="4" name="Slide Number Placeholder 3"/>
          <p:cNvSpPr>
            <a:spLocks noGrp="1"/>
          </p:cNvSpPr>
          <p:nvPr>
            <p:ph type="sldNum" sz="quarter" idx="5"/>
          </p:nvPr>
        </p:nvSpPr>
        <p:spPr/>
        <p:txBody>
          <a:bodyPr/>
          <a:lstStyle/>
          <a:p>
            <a:fld id="{B03B79E7-8482-4F20-BCC0-3748D60B3FF3}" type="slidenum">
              <a:rPr lang="en-IN" smtClean="0"/>
              <a:t>26</a:t>
            </a:fld>
            <a:endParaRPr lang="en-IN"/>
          </a:p>
        </p:txBody>
      </p:sp>
    </p:spTree>
    <p:extLst>
      <p:ext uri="{BB962C8B-B14F-4D97-AF65-F5344CB8AC3E}">
        <p14:creationId xmlns:p14="http://schemas.microsoft.com/office/powerpoint/2010/main" val="1227985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3B79E7-8482-4F20-BCC0-3748D60B3FF3}" type="slidenum">
              <a:rPr lang="en-IN" smtClean="0"/>
              <a:t>35</a:t>
            </a:fld>
            <a:endParaRPr lang="en-IN"/>
          </a:p>
        </p:txBody>
      </p:sp>
    </p:spTree>
    <p:extLst>
      <p:ext uri="{BB962C8B-B14F-4D97-AF65-F5344CB8AC3E}">
        <p14:creationId xmlns:p14="http://schemas.microsoft.com/office/powerpoint/2010/main" val="441368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3B79E7-8482-4F20-BCC0-3748D60B3FF3}" type="slidenum">
              <a:rPr lang="en-IN" smtClean="0"/>
              <a:t>41</a:t>
            </a:fld>
            <a:endParaRPr lang="en-IN"/>
          </a:p>
        </p:txBody>
      </p:sp>
    </p:spTree>
    <p:extLst>
      <p:ext uri="{BB962C8B-B14F-4D97-AF65-F5344CB8AC3E}">
        <p14:creationId xmlns:p14="http://schemas.microsoft.com/office/powerpoint/2010/main" val="25028051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3B79E7-8482-4F20-BCC0-3748D60B3FF3}" type="slidenum">
              <a:rPr lang="en-IN" smtClean="0"/>
              <a:t>44</a:t>
            </a:fld>
            <a:endParaRPr lang="en-IN"/>
          </a:p>
        </p:txBody>
      </p:sp>
    </p:spTree>
    <p:extLst>
      <p:ext uri="{BB962C8B-B14F-4D97-AF65-F5344CB8AC3E}">
        <p14:creationId xmlns:p14="http://schemas.microsoft.com/office/powerpoint/2010/main" val="433521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73EC5-3DF4-4085-83A7-62EC8C4E5B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A47D035-5CD5-4E03-B972-D6AD2BE084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7606E79-90F0-4FA6-8A41-80D46A6C6785}"/>
              </a:ext>
            </a:extLst>
          </p:cNvPr>
          <p:cNvSpPr>
            <a:spLocks noGrp="1"/>
          </p:cNvSpPr>
          <p:nvPr>
            <p:ph type="dt" sz="half" idx="10"/>
          </p:nvPr>
        </p:nvSpPr>
        <p:spPr/>
        <p:txBody>
          <a:bodyPr/>
          <a:lstStyle/>
          <a:p>
            <a:fld id="{141C7711-0DC0-4C66-A7D0-530350557E10}" type="datetimeFigureOut">
              <a:rPr lang="en-IN" smtClean="0"/>
              <a:t>17-11-2024</a:t>
            </a:fld>
            <a:endParaRPr lang="en-IN"/>
          </a:p>
        </p:txBody>
      </p:sp>
      <p:sp>
        <p:nvSpPr>
          <p:cNvPr id="5" name="Footer Placeholder 4">
            <a:extLst>
              <a:ext uri="{FF2B5EF4-FFF2-40B4-BE49-F238E27FC236}">
                <a16:creationId xmlns:a16="http://schemas.microsoft.com/office/drawing/2014/main" id="{5136020A-B918-477F-AEB5-4D0B8DBC1C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66BE04-CEF5-44EA-AC71-01AC8342F00E}"/>
              </a:ext>
            </a:extLst>
          </p:cNvPr>
          <p:cNvSpPr>
            <a:spLocks noGrp="1"/>
          </p:cNvSpPr>
          <p:nvPr>
            <p:ph type="sldNum" sz="quarter" idx="12"/>
          </p:nvPr>
        </p:nvSpPr>
        <p:spPr/>
        <p:txBody>
          <a:bodyPr/>
          <a:lstStyle/>
          <a:p>
            <a:fld id="{150904AA-3DCD-48C3-AD13-4A48CC77A6EC}" type="slidenum">
              <a:rPr lang="en-IN" smtClean="0"/>
              <a:t>‹#›</a:t>
            </a:fld>
            <a:endParaRPr lang="en-IN"/>
          </a:p>
        </p:txBody>
      </p:sp>
    </p:spTree>
    <p:extLst>
      <p:ext uri="{BB962C8B-B14F-4D97-AF65-F5344CB8AC3E}">
        <p14:creationId xmlns:p14="http://schemas.microsoft.com/office/powerpoint/2010/main" val="1610009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6A217-BB22-4327-A06C-62BE185693A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59A4BBB-150C-47AB-BC45-23C148C06D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573115-3D6F-4D21-830B-332F28A9C910}"/>
              </a:ext>
            </a:extLst>
          </p:cNvPr>
          <p:cNvSpPr>
            <a:spLocks noGrp="1"/>
          </p:cNvSpPr>
          <p:nvPr>
            <p:ph type="dt" sz="half" idx="10"/>
          </p:nvPr>
        </p:nvSpPr>
        <p:spPr/>
        <p:txBody>
          <a:bodyPr/>
          <a:lstStyle/>
          <a:p>
            <a:fld id="{141C7711-0DC0-4C66-A7D0-530350557E10}" type="datetimeFigureOut">
              <a:rPr lang="en-IN" smtClean="0"/>
              <a:t>17-11-2024</a:t>
            </a:fld>
            <a:endParaRPr lang="en-IN"/>
          </a:p>
        </p:txBody>
      </p:sp>
      <p:sp>
        <p:nvSpPr>
          <p:cNvPr id="5" name="Footer Placeholder 4">
            <a:extLst>
              <a:ext uri="{FF2B5EF4-FFF2-40B4-BE49-F238E27FC236}">
                <a16:creationId xmlns:a16="http://schemas.microsoft.com/office/drawing/2014/main" id="{1D93205A-418F-45F8-8803-96961CE6AB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9D5B7D-385A-49EE-9D91-B7AEB5A3CEFE}"/>
              </a:ext>
            </a:extLst>
          </p:cNvPr>
          <p:cNvSpPr>
            <a:spLocks noGrp="1"/>
          </p:cNvSpPr>
          <p:nvPr>
            <p:ph type="sldNum" sz="quarter" idx="12"/>
          </p:nvPr>
        </p:nvSpPr>
        <p:spPr/>
        <p:txBody>
          <a:bodyPr/>
          <a:lstStyle/>
          <a:p>
            <a:fld id="{150904AA-3DCD-48C3-AD13-4A48CC77A6EC}" type="slidenum">
              <a:rPr lang="en-IN" smtClean="0"/>
              <a:t>‹#›</a:t>
            </a:fld>
            <a:endParaRPr lang="en-IN"/>
          </a:p>
        </p:txBody>
      </p:sp>
    </p:spTree>
    <p:extLst>
      <p:ext uri="{BB962C8B-B14F-4D97-AF65-F5344CB8AC3E}">
        <p14:creationId xmlns:p14="http://schemas.microsoft.com/office/powerpoint/2010/main" val="1125495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76B2E-795B-4D8B-BEAB-4E08EE2C76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EC96C47-B49A-4DFE-BFFE-34F62D3EAC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437BC2-A451-468B-B11F-7E01246E6AAF}"/>
              </a:ext>
            </a:extLst>
          </p:cNvPr>
          <p:cNvSpPr>
            <a:spLocks noGrp="1"/>
          </p:cNvSpPr>
          <p:nvPr>
            <p:ph type="dt" sz="half" idx="10"/>
          </p:nvPr>
        </p:nvSpPr>
        <p:spPr/>
        <p:txBody>
          <a:bodyPr/>
          <a:lstStyle/>
          <a:p>
            <a:fld id="{141C7711-0DC0-4C66-A7D0-530350557E10}" type="datetimeFigureOut">
              <a:rPr lang="en-IN" smtClean="0"/>
              <a:t>17-11-2024</a:t>
            </a:fld>
            <a:endParaRPr lang="en-IN"/>
          </a:p>
        </p:txBody>
      </p:sp>
      <p:sp>
        <p:nvSpPr>
          <p:cNvPr id="5" name="Footer Placeholder 4">
            <a:extLst>
              <a:ext uri="{FF2B5EF4-FFF2-40B4-BE49-F238E27FC236}">
                <a16:creationId xmlns:a16="http://schemas.microsoft.com/office/drawing/2014/main" id="{014A0B98-12DF-4FA7-9864-0F90A10FC6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B91E92-5E44-47EC-B683-034D418FFC7E}"/>
              </a:ext>
            </a:extLst>
          </p:cNvPr>
          <p:cNvSpPr>
            <a:spLocks noGrp="1"/>
          </p:cNvSpPr>
          <p:nvPr>
            <p:ph type="sldNum" sz="quarter" idx="12"/>
          </p:nvPr>
        </p:nvSpPr>
        <p:spPr/>
        <p:txBody>
          <a:bodyPr/>
          <a:lstStyle/>
          <a:p>
            <a:fld id="{150904AA-3DCD-48C3-AD13-4A48CC77A6EC}" type="slidenum">
              <a:rPr lang="en-IN" smtClean="0"/>
              <a:t>‹#›</a:t>
            </a:fld>
            <a:endParaRPr lang="en-IN"/>
          </a:p>
        </p:txBody>
      </p:sp>
    </p:spTree>
    <p:extLst>
      <p:ext uri="{BB962C8B-B14F-4D97-AF65-F5344CB8AC3E}">
        <p14:creationId xmlns:p14="http://schemas.microsoft.com/office/powerpoint/2010/main" val="590645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58A6A-34D5-43A8-8889-0A319FCBDEA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0F47E70-9CA5-4B27-A614-9834F616C0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97FB906-2684-4A18-8D65-9B8D088ECA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628A00D-165E-4692-89B3-FE59C085D249}"/>
              </a:ext>
            </a:extLst>
          </p:cNvPr>
          <p:cNvSpPr>
            <a:spLocks noGrp="1"/>
          </p:cNvSpPr>
          <p:nvPr>
            <p:ph type="dt" sz="half" idx="10"/>
          </p:nvPr>
        </p:nvSpPr>
        <p:spPr/>
        <p:txBody>
          <a:bodyPr/>
          <a:lstStyle/>
          <a:p>
            <a:fld id="{141C7711-0DC0-4C66-A7D0-530350557E10}" type="datetimeFigureOut">
              <a:rPr lang="en-IN" smtClean="0"/>
              <a:t>17-11-2024</a:t>
            </a:fld>
            <a:endParaRPr lang="en-IN"/>
          </a:p>
        </p:txBody>
      </p:sp>
      <p:sp>
        <p:nvSpPr>
          <p:cNvPr id="6" name="Footer Placeholder 5">
            <a:extLst>
              <a:ext uri="{FF2B5EF4-FFF2-40B4-BE49-F238E27FC236}">
                <a16:creationId xmlns:a16="http://schemas.microsoft.com/office/drawing/2014/main" id="{05A82E60-0E56-4B6C-88B9-B02BC5A5371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824B79-5852-4C1E-8EEB-788B1103136D}"/>
              </a:ext>
            </a:extLst>
          </p:cNvPr>
          <p:cNvSpPr>
            <a:spLocks noGrp="1"/>
          </p:cNvSpPr>
          <p:nvPr>
            <p:ph type="sldNum" sz="quarter" idx="12"/>
          </p:nvPr>
        </p:nvSpPr>
        <p:spPr/>
        <p:txBody>
          <a:bodyPr/>
          <a:lstStyle/>
          <a:p>
            <a:fld id="{150904AA-3DCD-48C3-AD13-4A48CC77A6EC}" type="slidenum">
              <a:rPr lang="en-IN" smtClean="0"/>
              <a:t>‹#›</a:t>
            </a:fld>
            <a:endParaRPr lang="en-IN"/>
          </a:p>
        </p:txBody>
      </p:sp>
    </p:spTree>
    <p:extLst>
      <p:ext uri="{BB962C8B-B14F-4D97-AF65-F5344CB8AC3E}">
        <p14:creationId xmlns:p14="http://schemas.microsoft.com/office/powerpoint/2010/main" val="4229457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23B94-4BC1-47C5-8BA7-1D3263403E5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549592-CC74-441C-BC04-D4393EAD37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874579-7DC8-4E2D-B992-8B23A88481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A33CA1D-A07B-4259-A4F9-7B3620ECA2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E02F3C-D770-47B5-8988-DF237D46B2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A386036-2B7D-4BCB-A59A-8318A407DB07}"/>
              </a:ext>
            </a:extLst>
          </p:cNvPr>
          <p:cNvSpPr>
            <a:spLocks noGrp="1"/>
          </p:cNvSpPr>
          <p:nvPr>
            <p:ph type="dt" sz="half" idx="10"/>
          </p:nvPr>
        </p:nvSpPr>
        <p:spPr/>
        <p:txBody>
          <a:bodyPr/>
          <a:lstStyle/>
          <a:p>
            <a:fld id="{141C7711-0DC0-4C66-A7D0-530350557E10}" type="datetimeFigureOut">
              <a:rPr lang="en-IN" smtClean="0"/>
              <a:t>17-11-2024</a:t>
            </a:fld>
            <a:endParaRPr lang="en-IN"/>
          </a:p>
        </p:txBody>
      </p:sp>
      <p:sp>
        <p:nvSpPr>
          <p:cNvPr id="8" name="Footer Placeholder 7">
            <a:extLst>
              <a:ext uri="{FF2B5EF4-FFF2-40B4-BE49-F238E27FC236}">
                <a16:creationId xmlns:a16="http://schemas.microsoft.com/office/drawing/2014/main" id="{52212CAD-C086-454E-888E-7ACAADE09B5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99C44BB-012D-4397-825B-FFF7098F4FD3}"/>
              </a:ext>
            </a:extLst>
          </p:cNvPr>
          <p:cNvSpPr>
            <a:spLocks noGrp="1"/>
          </p:cNvSpPr>
          <p:nvPr>
            <p:ph type="sldNum" sz="quarter" idx="12"/>
          </p:nvPr>
        </p:nvSpPr>
        <p:spPr/>
        <p:txBody>
          <a:bodyPr/>
          <a:lstStyle/>
          <a:p>
            <a:fld id="{150904AA-3DCD-48C3-AD13-4A48CC77A6EC}" type="slidenum">
              <a:rPr lang="en-IN" smtClean="0"/>
              <a:t>‹#›</a:t>
            </a:fld>
            <a:endParaRPr lang="en-IN"/>
          </a:p>
        </p:txBody>
      </p:sp>
    </p:spTree>
    <p:extLst>
      <p:ext uri="{BB962C8B-B14F-4D97-AF65-F5344CB8AC3E}">
        <p14:creationId xmlns:p14="http://schemas.microsoft.com/office/powerpoint/2010/main" val="2340202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1ECCF-39CF-4FA6-97B2-E3093E99D8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679F105-CB68-4941-B079-6D82AAA504E1}"/>
              </a:ext>
            </a:extLst>
          </p:cNvPr>
          <p:cNvSpPr>
            <a:spLocks noGrp="1"/>
          </p:cNvSpPr>
          <p:nvPr>
            <p:ph type="dt" sz="half" idx="10"/>
          </p:nvPr>
        </p:nvSpPr>
        <p:spPr/>
        <p:txBody>
          <a:bodyPr/>
          <a:lstStyle/>
          <a:p>
            <a:fld id="{141C7711-0DC0-4C66-A7D0-530350557E10}" type="datetimeFigureOut">
              <a:rPr lang="en-IN" smtClean="0"/>
              <a:t>17-11-2024</a:t>
            </a:fld>
            <a:endParaRPr lang="en-IN"/>
          </a:p>
        </p:txBody>
      </p:sp>
      <p:sp>
        <p:nvSpPr>
          <p:cNvPr id="4" name="Footer Placeholder 3">
            <a:extLst>
              <a:ext uri="{FF2B5EF4-FFF2-40B4-BE49-F238E27FC236}">
                <a16:creationId xmlns:a16="http://schemas.microsoft.com/office/drawing/2014/main" id="{671EA713-84A8-4247-A530-5C48F17A6F5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A15AE77-CDC6-4169-8CBA-C120DB21CFBB}"/>
              </a:ext>
            </a:extLst>
          </p:cNvPr>
          <p:cNvSpPr>
            <a:spLocks noGrp="1"/>
          </p:cNvSpPr>
          <p:nvPr>
            <p:ph type="sldNum" sz="quarter" idx="12"/>
          </p:nvPr>
        </p:nvSpPr>
        <p:spPr/>
        <p:txBody>
          <a:bodyPr/>
          <a:lstStyle/>
          <a:p>
            <a:fld id="{150904AA-3DCD-48C3-AD13-4A48CC77A6EC}" type="slidenum">
              <a:rPr lang="en-IN" smtClean="0"/>
              <a:t>‹#›</a:t>
            </a:fld>
            <a:endParaRPr lang="en-IN"/>
          </a:p>
        </p:txBody>
      </p:sp>
    </p:spTree>
    <p:extLst>
      <p:ext uri="{BB962C8B-B14F-4D97-AF65-F5344CB8AC3E}">
        <p14:creationId xmlns:p14="http://schemas.microsoft.com/office/powerpoint/2010/main" val="16057760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4349E0-F8CE-4138-821D-5D7485DA8165}"/>
              </a:ext>
            </a:extLst>
          </p:cNvPr>
          <p:cNvSpPr>
            <a:spLocks noGrp="1"/>
          </p:cNvSpPr>
          <p:nvPr>
            <p:ph type="dt" sz="half" idx="10"/>
          </p:nvPr>
        </p:nvSpPr>
        <p:spPr/>
        <p:txBody>
          <a:bodyPr/>
          <a:lstStyle/>
          <a:p>
            <a:fld id="{141C7711-0DC0-4C66-A7D0-530350557E10}" type="datetimeFigureOut">
              <a:rPr lang="en-IN" smtClean="0"/>
              <a:t>17-11-2024</a:t>
            </a:fld>
            <a:endParaRPr lang="en-IN"/>
          </a:p>
        </p:txBody>
      </p:sp>
      <p:sp>
        <p:nvSpPr>
          <p:cNvPr id="3" name="Footer Placeholder 2">
            <a:extLst>
              <a:ext uri="{FF2B5EF4-FFF2-40B4-BE49-F238E27FC236}">
                <a16:creationId xmlns:a16="http://schemas.microsoft.com/office/drawing/2014/main" id="{3B6F0F83-62AC-4BCA-AB87-12547CB26F6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231153C-3796-43E0-AECE-6B236451DA7F}"/>
              </a:ext>
            </a:extLst>
          </p:cNvPr>
          <p:cNvSpPr>
            <a:spLocks noGrp="1"/>
          </p:cNvSpPr>
          <p:nvPr>
            <p:ph type="sldNum" sz="quarter" idx="12"/>
          </p:nvPr>
        </p:nvSpPr>
        <p:spPr/>
        <p:txBody>
          <a:bodyPr/>
          <a:lstStyle/>
          <a:p>
            <a:fld id="{150904AA-3DCD-48C3-AD13-4A48CC77A6EC}" type="slidenum">
              <a:rPr lang="en-IN" smtClean="0"/>
              <a:t>‹#›</a:t>
            </a:fld>
            <a:endParaRPr lang="en-IN"/>
          </a:p>
        </p:txBody>
      </p:sp>
    </p:spTree>
    <p:extLst>
      <p:ext uri="{BB962C8B-B14F-4D97-AF65-F5344CB8AC3E}">
        <p14:creationId xmlns:p14="http://schemas.microsoft.com/office/powerpoint/2010/main" val="1981135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3A03A-5AB0-48C1-90C4-4C823B65E2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46A6DC1-AD1F-4C38-9C2D-19F83504820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996A6C1-7899-490F-97BE-E2C514ADDB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4BE135-52C7-4F68-8658-2502F1467CB0}"/>
              </a:ext>
            </a:extLst>
          </p:cNvPr>
          <p:cNvSpPr>
            <a:spLocks noGrp="1"/>
          </p:cNvSpPr>
          <p:nvPr>
            <p:ph type="dt" sz="half" idx="10"/>
          </p:nvPr>
        </p:nvSpPr>
        <p:spPr/>
        <p:txBody>
          <a:bodyPr/>
          <a:lstStyle/>
          <a:p>
            <a:fld id="{141C7711-0DC0-4C66-A7D0-530350557E10}" type="datetimeFigureOut">
              <a:rPr lang="en-IN" smtClean="0"/>
              <a:t>17-11-2024</a:t>
            </a:fld>
            <a:endParaRPr lang="en-IN"/>
          </a:p>
        </p:txBody>
      </p:sp>
      <p:sp>
        <p:nvSpPr>
          <p:cNvPr id="6" name="Footer Placeholder 5">
            <a:extLst>
              <a:ext uri="{FF2B5EF4-FFF2-40B4-BE49-F238E27FC236}">
                <a16:creationId xmlns:a16="http://schemas.microsoft.com/office/drawing/2014/main" id="{F7D74C4C-0DBF-4D2D-9DE9-FABBDD93C9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DECD92-64AA-47C5-8902-24A743440493}"/>
              </a:ext>
            </a:extLst>
          </p:cNvPr>
          <p:cNvSpPr>
            <a:spLocks noGrp="1"/>
          </p:cNvSpPr>
          <p:nvPr>
            <p:ph type="sldNum" sz="quarter" idx="12"/>
          </p:nvPr>
        </p:nvSpPr>
        <p:spPr/>
        <p:txBody>
          <a:bodyPr/>
          <a:lstStyle/>
          <a:p>
            <a:fld id="{150904AA-3DCD-48C3-AD13-4A48CC77A6EC}" type="slidenum">
              <a:rPr lang="en-IN" smtClean="0"/>
              <a:t>‹#›</a:t>
            </a:fld>
            <a:endParaRPr lang="en-IN"/>
          </a:p>
        </p:txBody>
      </p:sp>
    </p:spTree>
    <p:extLst>
      <p:ext uri="{BB962C8B-B14F-4D97-AF65-F5344CB8AC3E}">
        <p14:creationId xmlns:p14="http://schemas.microsoft.com/office/powerpoint/2010/main" val="473253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6BA3F-4E19-4C5F-8EE0-00A1751747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15931E-E319-42A4-BE67-7E0BFF2AAE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C1FFB12-D8B9-4E2D-BB3E-57676636DB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BC8F37-CACB-4D2D-A602-EFF807BF46A6}"/>
              </a:ext>
            </a:extLst>
          </p:cNvPr>
          <p:cNvSpPr>
            <a:spLocks noGrp="1"/>
          </p:cNvSpPr>
          <p:nvPr>
            <p:ph type="dt" sz="half" idx="10"/>
          </p:nvPr>
        </p:nvSpPr>
        <p:spPr/>
        <p:txBody>
          <a:bodyPr/>
          <a:lstStyle/>
          <a:p>
            <a:fld id="{141C7711-0DC0-4C66-A7D0-530350557E10}" type="datetimeFigureOut">
              <a:rPr lang="en-IN" smtClean="0"/>
              <a:t>17-11-2024</a:t>
            </a:fld>
            <a:endParaRPr lang="en-IN"/>
          </a:p>
        </p:txBody>
      </p:sp>
      <p:sp>
        <p:nvSpPr>
          <p:cNvPr id="6" name="Footer Placeholder 5">
            <a:extLst>
              <a:ext uri="{FF2B5EF4-FFF2-40B4-BE49-F238E27FC236}">
                <a16:creationId xmlns:a16="http://schemas.microsoft.com/office/drawing/2014/main" id="{22CD708D-CDEC-41CD-B9F4-8008C66F98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B6A9F53-194E-4375-AE7F-2CA3F5FF0161}"/>
              </a:ext>
            </a:extLst>
          </p:cNvPr>
          <p:cNvSpPr>
            <a:spLocks noGrp="1"/>
          </p:cNvSpPr>
          <p:nvPr>
            <p:ph type="sldNum" sz="quarter" idx="12"/>
          </p:nvPr>
        </p:nvSpPr>
        <p:spPr/>
        <p:txBody>
          <a:bodyPr/>
          <a:lstStyle/>
          <a:p>
            <a:fld id="{150904AA-3DCD-48C3-AD13-4A48CC77A6EC}" type="slidenum">
              <a:rPr lang="en-IN" smtClean="0"/>
              <a:t>‹#›</a:t>
            </a:fld>
            <a:endParaRPr lang="en-IN"/>
          </a:p>
        </p:txBody>
      </p:sp>
    </p:spTree>
    <p:extLst>
      <p:ext uri="{BB962C8B-B14F-4D97-AF65-F5344CB8AC3E}">
        <p14:creationId xmlns:p14="http://schemas.microsoft.com/office/powerpoint/2010/main" val="2032320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45626-6831-493E-B1D0-9A9EA19B5FB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8D3C97-ACC6-4447-9B0D-50BAE9C6131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AE696D-D4B7-483F-982C-C098527F22DA}"/>
              </a:ext>
            </a:extLst>
          </p:cNvPr>
          <p:cNvSpPr>
            <a:spLocks noGrp="1"/>
          </p:cNvSpPr>
          <p:nvPr>
            <p:ph type="dt" sz="half" idx="10"/>
          </p:nvPr>
        </p:nvSpPr>
        <p:spPr/>
        <p:txBody>
          <a:bodyPr/>
          <a:lstStyle/>
          <a:p>
            <a:fld id="{141C7711-0DC0-4C66-A7D0-530350557E10}" type="datetimeFigureOut">
              <a:rPr lang="en-IN" smtClean="0"/>
              <a:t>17-11-2024</a:t>
            </a:fld>
            <a:endParaRPr lang="en-IN"/>
          </a:p>
        </p:txBody>
      </p:sp>
      <p:sp>
        <p:nvSpPr>
          <p:cNvPr id="5" name="Footer Placeholder 4">
            <a:extLst>
              <a:ext uri="{FF2B5EF4-FFF2-40B4-BE49-F238E27FC236}">
                <a16:creationId xmlns:a16="http://schemas.microsoft.com/office/drawing/2014/main" id="{B65CB04A-0326-4AED-BBB1-2ABBAFF9CD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140A6C-A930-4125-9143-E29365E85CC1}"/>
              </a:ext>
            </a:extLst>
          </p:cNvPr>
          <p:cNvSpPr>
            <a:spLocks noGrp="1"/>
          </p:cNvSpPr>
          <p:nvPr>
            <p:ph type="sldNum" sz="quarter" idx="12"/>
          </p:nvPr>
        </p:nvSpPr>
        <p:spPr/>
        <p:txBody>
          <a:bodyPr/>
          <a:lstStyle/>
          <a:p>
            <a:fld id="{150904AA-3DCD-48C3-AD13-4A48CC77A6EC}" type="slidenum">
              <a:rPr lang="en-IN" smtClean="0"/>
              <a:t>‹#›</a:t>
            </a:fld>
            <a:endParaRPr lang="en-IN"/>
          </a:p>
        </p:txBody>
      </p:sp>
    </p:spTree>
    <p:extLst>
      <p:ext uri="{BB962C8B-B14F-4D97-AF65-F5344CB8AC3E}">
        <p14:creationId xmlns:p14="http://schemas.microsoft.com/office/powerpoint/2010/main" val="4082497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47F4B6-B262-48C4-971E-D7381D6845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814C8F-8852-4EF0-A260-983E757B81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981CBF-98E1-49F4-B6E0-9D91B9A53BF3}"/>
              </a:ext>
            </a:extLst>
          </p:cNvPr>
          <p:cNvSpPr>
            <a:spLocks noGrp="1"/>
          </p:cNvSpPr>
          <p:nvPr>
            <p:ph type="dt" sz="half" idx="10"/>
          </p:nvPr>
        </p:nvSpPr>
        <p:spPr/>
        <p:txBody>
          <a:bodyPr/>
          <a:lstStyle/>
          <a:p>
            <a:fld id="{141C7711-0DC0-4C66-A7D0-530350557E10}" type="datetimeFigureOut">
              <a:rPr lang="en-IN" smtClean="0"/>
              <a:t>17-11-2024</a:t>
            </a:fld>
            <a:endParaRPr lang="en-IN"/>
          </a:p>
        </p:txBody>
      </p:sp>
      <p:sp>
        <p:nvSpPr>
          <p:cNvPr id="5" name="Footer Placeholder 4">
            <a:extLst>
              <a:ext uri="{FF2B5EF4-FFF2-40B4-BE49-F238E27FC236}">
                <a16:creationId xmlns:a16="http://schemas.microsoft.com/office/drawing/2014/main" id="{984C0DBF-F65F-442C-9594-D72BE160DA5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EC4AF9-F8C5-4263-9AB8-8E914D8F7BC7}"/>
              </a:ext>
            </a:extLst>
          </p:cNvPr>
          <p:cNvSpPr>
            <a:spLocks noGrp="1"/>
          </p:cNvSpPr>
          <p:nvPr>
            <p:ph type="sldNum" sz="quarter" idx="12"/>
          </p:nvPr>
        </p:nvSpPr>
        <p:spPr/>
        <p:txBody>
          <a:bodyPr/>
          <a:lstStyle/>
          <a:p>
            <a:fld id="{150904AA-3DCD-48C3-AD13-4A48CC77A6EC}" type="slidenum">
              <a:rPr lang="en-IN" smtClean="0"/>
              <a:t>‹#›</a:t>
            </a:fld>
            <a:endParaRPr lang="en-IN"/>
          </a:p>
        </p:txBody>
      </p:sp>
    </p:spTree>
    <p:extLst>
      <p:ext uri="{BB962C8B-B14F-4D97-AF65-F5344CB8AC3E}">
        <p14:creationId xmlns:p14="http://schemas.microsoft.com/office/powerpoint/2010/main" val="1352734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12815F-A557-49D9-B996-E5B8628338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A541EE-C654-4B82-B909-9188637A1DC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F93473-E054-434B-9CB1-9EF8CB219C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1C7711-0DC0-4C66-A7D0-530350557E10}" type="datetimeFigureOut">
              <a:rPr lang="en-IN" smtClean="0"/>
              <a:t>17-11-2024</a:t>
            </a:fld>
            <a:endParaRPr lang="en-IN"/>
          </a:p>
        </p:txBody>
      </p:sp>
      <p:sp>
        <p:nvSpPr>
          <p:cNvPr id="5" name="Footer Placeholder 4">
            <a:extLst>
              <a:ext uri="{FF2B5EF4-FFF2-40B4-BE49-F238E27FC236}">
                <a16:creationId xmlns:a16="http://schemas.microsoft.com/office/drawing/2014/main" id="{EE5253BA-18DF-4C84-8AFB-F6F3D8BA47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44176B3-1086-4760-9B83-A971E23E1F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0904AA-3DCD-48C3-AD13-4A48CC77A6EC}" type="slidenum">
              <a:rPr lang="en-IN" smtClean="0"/>
              <a:t>‹#›</a:t>
            </a:fld>
            <a:endParaRPr lang="en-IN"/>
          </a:p>
        </p:txBody>
      </p:sp>
    </p:spTree>
    <p:extLst>
      <p:ext uri="{BB962C8B-B14F-4D97-AF65-F5344CB8AC3E}">
        <p14:creationId xmlns:p14="http://schemas.microsoft.com/office/powerpoint/2010/main" val="1186982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www.bing.com/ck/a?!&amp;&amp;p=9158114ba42c886bJmltdHM9MTY2ODU1NjgwMCZpZ3VpZD0zZWZjMWQzYy01ZDhiLTY1NzEtM2I1Yy0wYzhhNWM2MzY0ZDYmaW5zaWQ9NTIwOA&amp;ptn=3&amp;hsh=3&amp;fclid=3efc1d3c-5d8b-6571-3b5c-0c8a5c6364d6&amp;psq=deprtaement+of+computer+scoence+and+engimnerring&amp;u=a1aHR0cHM6Ly93d3cuc2N1LmVkdS9lbmdpbmVlcmluZy9hY2FkZW1pYy1wcm9ncmFtcy9kZXBhcnRtZW50LW9mLWNvbXB1dGVyLWVuZ2luZWVyaW5nLw&amp;ntb=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educba.com/decision-tree-in-machine-learnin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s://www.youtube.com/watch?v=KIOeZ5cFZ5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E14D4819-D7DD-F22A-4C68-D50A73BD631A}"/>
              </a:ext>
            </a:extLst>
          </p:cNvPr>
          <p:cNvSpPr>
            <a:spLocks noChangeArrowheads="1"/>
          </p:cNvSpPr>
          <p:nvPr/>
        </p:nvSpPr>
        <p:spPr bwMode="auto">
          <a:xfrm>
            <a:off x="258058" y="-99213"/>
            <a:ext cx="11801419"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457200" algn="ctr"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mbria" panose="02040503050406030204" pitchFamily="18" charset="0"/>
                <a:ea typeface="Calibri" panose="020F0502020204030204" pitchFamily="34" charset="0"/>
                <a:cs typeface="Times New Roman" panose="02020603050405020304" pitchFamily="18" charset="0"/>
              </a:rPr>
              <a:t>VALLURUPALLI NAGESWARA RAO VIGNANA JYOTHI </a:t>
            </a:r>
            <a:r>
              <a:rPr lang="en-US" altLang="en-US" sz="2800" dirty="0"/>
              <a:t> </a:t>
            </a:r>
            <a:r>
              <a:rPr kumimoji="0" lang="en-US" altLang="en-US" sz="2800" b="1" i="0" u="none" strike="noStrike" cap="none" normalizeH="0" baseline="0" dirty="0">
                <a:ln>
                  <a:noFill/>
                </a:ln>
                <a:solidFill>
                  <a:srgbClr val="000000"/>
                </a:solidFill>
                <a:effectLst/>
                <a:latin typeface="Cambria" panose="02040503050406030204" pitchFamily="18" charset="0"/>
                <a:ea typeface="Calibri" panose="020F0502020204030204" pitchFamily="34" charset="0"/>
                <a:cs typeface="Arial" panose="020B0604020202020204" pitchFamily="34" charset="0"/>
              </a:rPr>
              <a:t>INSTITUTE OF ENGINEERING AND TECHNOLOGY</a:t>
            </a:r>
            <a:endParaRPr kumimoji="0" lang="en-US" altLang="en-US" sz="2800" b="0" i="0" u="none" strike="noStrike" cap="none" normalizeH="0" baseline="0" dirty="0">
              <a:ln>
                <a:noFill/>
              </a:ln>
              <a:solidFill>
                <a:schemeClr val="tx1"/>
              </a:solidFill>
              <a:effectLst/>
            </a:endParaRPr>
          </a:p>
          <a:p>
            <a:pPr marL="0" marR="0" lvl="0" indent="457200" algn="ctr" defTabSz="914400" rtl="0" eaLnBrk="0" fontAlgn="base" latinLnBrk="0" hangingPunct="0">
              <a:lnSpc>
                <a:spcPct val="100000"/>
              </a:lnSpc>
              <a:spcBef>
                <a:spcPct val="0"/>
              </a:spcBef>
              <a:spcAft>
                <a:spcPct val="0"/>
              </a:spcAft>
              <a:buClrTx/>
              <a:buSzTx/>
              <a:buFontTx/>
              <a:buNone/>
              <a:tabLst/>
            </a:pPr>
            <a:endParaRPr kumimoji="0" lang="en-US" altLang="en-US" sz="40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lang="en-US" altLang="en-US" sz="22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lang="en-US" altLang="en-US" sz="220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marL="0" marR="0" lvl="0" indent="457200" algn="l"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pPr>
            <a:endParaRPr kumimoji="0" lang="en-US" altLang="en-US" sz="2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rgbClr val="0070C0"/>
                </a:solidFill>
                <a:effectLst/>
                <a:latin typeface="Calibri" panose="020F0502020204030204" pitchFamily="34" charset="0"/>
                <a:ea typeface="Calibri" panose="020F0502020204030204" pitchFamily="34" charset="0"/>
                <a:cs typeface="Times New Roman" panose="02020603050405020304" pitchFamily="18" charset="0"/>
              </a:rPr>
              <a:t>Department of Computer Science and Engineering</a:t>
            </a:r>
          </a:p>
          <a:p>
            <a:pPr marL="0" marR="0" lvl="0" indent="457200" algn="ctr" defTabSz="914400" rtl="0" eaLnBrk="0" fontAlgn="base" latinLnBrk="0" hangingPunct="0">
              <a:lnSpc>
                <a:spcPct val="100000"/>
              </a:lnSpc>
              <a:spcBef>
                <a:spcPct val="0"/>
              </a:spcBef>
              <a:spcAft>
                <a:spcPct val="0"/>
              </a:spcAft>
              <a:buClrTx/>
              <a:buSzTx/>
              <a:buFontTx/>
              <a:buNone/>
              <a:tabLst/>
            </a:pPr>
            <a:r>
              <a:rPr lang="en-IN" sz="3600" dirty="0"/>
              <a:t>Ensemble Learning </a:t>
            </a:r>
            <a:endParaRPr lang="en-US" altLang="en-US" sz="1050" b="1" dirty="0">
              <a:solidFill>
                <a:srgbClr val="0070C0"/>
              </a:solidFill>
              <a:latin typeface="Calibri" panose="020F0502020204030204" pitchFamily="34" charset="0"/>
              <a:ea typeface="Calibri" panose="020F0502020204030204" pitchFamily="34" charset="0"/>
              <a:cs typeface="Times New Roman" panose="02020603050405020304"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pPr>
            <a:endParaRPr lang="en-US" dirty="0"/>
          </a:p>
          <a:p>
            <a:pPr marL="0" marR="0" lvl="0" indent="457200" algn="ctr" defTabSz="914400" rtl="0" eaLnBrk="0" fontAlgn="base" latinLnBrk="0" hangingPunct="0">
              <a:lnSpc>
                <a:spcPct val="100000"/>
              </a:lnSpc>
              <a:spcBef>
                <a:spcPct val="0"/>
              </a:spcBef>
              <a:spcAft>
                <a:spcPct val="0"/>
              </a:spcAft>
              <a:buClrTx/>
              <a:buSzTx/>
              <a:buFontTx/>
              <a:buNone/>
              <a:tabLst/>
            </a:pPr>
            <a:r>
              <a:rPr lang="en-US" dirty="0"/>
              <a:t>Bagging &amp; Boosting</a:t>
            </a:r>
            <a:endParaRPr kumimoji="0" lang="en-US" altLang="en-US" sz="400" b="0" i="0" u="none" strike="noStrike" cap="none" normalizeH="0" baseline="0" dirty="0">
              <a:ln>
                <a:noFill/>
              </a:ln>
              <a:solidFill>
                <a:schemeClr val="tx1"/>
              </a:solidFill>
              <a:effectLst/>
              <a:latin typeface="Arial" panose="020B0604020202020204" pitchFamily="34" charset="0"/>
            </a:endParaRPr>
          </a:p>
        </p:txBody>
      </p:sp>
      <p:pic>
        <p:nvPicPr>
          <p:cNvPr id="1025" name="Picture 3">
            <a:extLst>
              <a:ext uri="{FF2B5EF4-FFF2-40B4-BE49-F238E27FC236}">
                <a16:creationId xmlns:a16="http://schemas.microsoft.com/office/drawing/2014/main" id="{1F402572-1AC1-C244-FE3C-D3880CA04C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3417" y="1335521"/>
            <a:ext cx="1790700" cy="166846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a:extLst>
              <a:ext uri="{FF2B5EF4-FFF2-40B4-BE49-F238E27FC236}">
                <a16:creationId xmlns:a16="http://schemas.microsoft.com/office/drawing/2014/main" id="{4601E913-B864-500D-8186-0A789C882082}"/>
              </a:ext>
            </a:extLst>
          </p:cNvPr>
          <p:cNvSpPr>
            <a:spLocks noChangeArrowheads="1"/>
          </p:cNvSpPr>
          <p:nvPr/>
        </p:nvSpPr>
        <p:spPr bwMode="auto">
          <a:xfrm>
            <a:off x="4057871" y="4747450"/>
            <a:ext cx="420179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dobe Caslon Pro"/>
                <a:ea typeface="Calibri" panose="020F0502020204030204" pitchFamily="34" charset="0"/>
                <a:cs typeface="Times New Roman" panose="02020603050405020304" pitchFamily="18" charset="0"/>
              </a:rPr>
              <a:t>MACHINE LEARNING</a:t>
            </a: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dobe Caslon Pro"/>
                <a:ea typeface="Calibri" panose="020F0502020204030204" pitchFamily="34" charset="0"/>
                <a:cs typeface="Times New Roman" panose="02020603050405020304" pitchFamily="18" charset="0"/>
              </a:rPr>
              <a:t>Dr. Kriti Ohri</a:t>
            </a: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dobe Caslon Pro"/>
                <a:ea typeface="Calibri" panose="020F0502020204030204" pitchFamily="34" charset="0"/>
                <a:cs typeface="Times New Roman" panose="02020603050405020304" pitchFamily="18" charset="0"/>
              </a:rPr>
              <a:t>Assistant Professor</a:t>
            </a:r>
            <a:endParaRPr kumimoji="0" lang="en-US" altLang="en-US" sz="800" b="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dobe Caslon Pro"/>
                <a:ea typeface="Calibri" panose="020F0502020204030204" pitchFamily="34" charset="0"/>
                <a:cs typeface="Times New Roman" panose="02020603050405020304" pitchFamily="18" charset="0"/>
                <a:hlinkClick r:id="rId4"/>
              </a:rPr>
              <a:t>Department of Computer Science and Engineering</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Footer Placeholder 4">
            <a:extLst>
              <a:ext uri="{FF2B5EF4-FFF2-40B4-BE49-F238E27FC236}">
                <a16:creationId xmlns:a16="http://schemas.microsoft.com/office/drawing/2014/main" id="{FF3375C2-6977-6830-5E74-51E3850230E9}"/>
              </a:ext>
            </a:extLst>
          </p:cNvPr>
          <p:cNvSpPr>
            <a:spLocks noGrp="1"/>
          </p:cNvSpPr>
          <p:nvPr>
            <p:ph type="ftr" sz="quarter" idx="11"/>
          </p:nvPr>
        </p:nvSpPr>
        <p:spPr/>
        <p:txBody>
          <a:bodyPr/>
          <a:lstStyle/>
          <a:p>
            <a:r>
              <a:rPr lang="en-IN" dirty="0"/>
              <a:t>Machine Learning</a:t>
            </a:r>
          </a:p>
        </p:txBody>
      </p:sp>
      <p:sp>
        <p:nvSpPr>
          <p:cNvPr id="7" name="Date Placeholder 6">
            <a:extLst>
              <a:ext uri="{FF2B5EF4-FFF2-40B4-BE49-F238E27FC236}">
                <a16:creationId xmlns:a16="http://schemas.microsoft.com/office/drawing/2014/main" id="{104C03E4-1F28-2FB0-9B80-AE079E772F4D}"/>
              </a:ext>
            </a:extLst>
          </p:cNvPr>
          <p:cNvSpPr>
            <a:spLocks noGrp="1"/>
          </p:cNvSpPr>
          <p:nvPr>
            <p:ph type="dt" sz="half" idx="10"/>
          </p:nvPr>
        </p:nvSpPr>
        <p:spPr/>
        <p:txBody>
          <a:bodyPr/>
          <a:lstStyle/>
          <a:p>
            <a:r>
              <a:rPr lang="en-US" dirty="0"/>
              <a:t>Kriti Ohri</a:t>
            </a:r>
            <a:endParaRPr lang="en-IN" dirty="0"/>
          </a:p>
        </p:txBody>
      </p:sp>
    </p:spTree>
    <p:extLst>
      <p:ext uri="{BB962C8B-B14F-4D97-AF65-F5344CB8AC3E}">
        <p14:creationId xmlns:p14="http://schemas.microsoft.com/office/powerpoint/2010/main" val="96633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373E8-9742-4549-9467-0A5348758726}"/>
              </a:ext>
            </a:extLst>
          </p:cNvPr>
          <p:cNvSpPr>
            <a:spLocks noGrp="1"/>
          </p:cNvSpPr>
          <p:nvPr>
            <p:ph type="ctrTitle"/>
          </p:nvPr>
        </p:nvSpPr>
        <p:spPr/>
        <p:txBody>
          <a:bodyPr/>
          <a:lstStyle/>
          <a:p>
            <a:r>
              <a:rPr lang="en-IN" dirty="0"/>
              <a:t>Ensemble of classifiers </a:t>
            </a:r>
            <a:br>
              <a:rPr lang="en-US" dirty="0"/>
            </a:br>
            <a:r>
              <a:rPr lang="en-US" dirty="0"/>
              <a:t>Bagging &amp; Boosting</a:t>
            </a:r>
            <a:endParaRPr lang="en-IN" dirty="0"/>
          </a:p>
        </p:txBody>
      </p:sp>
      <p:sp>
        <p:nvSpPr>
          <p:cNvPr id="3" name="Subtitle 2">
            <a:extLst>
              <a:ext uri="{FF2B5EF4-FFF2-40B4-BE49-F238E27FC236}">
                <a16:creationId xmlns:a16="http://schemas.microsoft.com/office/drawing/2014/main" id="{605E3245-0F88-436E-8854-E38E4895FDBE}"/>
              </a:ext>
            </a:extLst>
          </p:cNvPr>
          <p:cNvSpPr>
            <a:spLocks noGrp="1"/>
          </p:cNvSpPr>
          <p:nvPr>
            <p:ph type="subTitle" idx="1"/>
          </p:nvPr>
        </p:nvSpPr>
        <p:spPr/>
        <p:txBody>
          <a:bodyPr/>
          <a:lstStyle/>
          <a:p>
            <a:r>
              <a:rPr lang="en-US" dirty="0"/>
              <a:t>Ensemble methods</a:t>
            </a:r>
            <a:endParaRPr lang="en-IN" dirty="0"/>
          </a:p>
        </p:txBody>
      </p:sp>
    </p:spTree>
    <p:extLst>
      <p:ext uri="{BB962C8B-B14F-4D97-AF65-F5344CB8AC3E}">
        <p14:creationId xmlns:p14="http://schemas.microsoft.com/office/powerpoint/2010/main" val="3486166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E98B2-11DE-4C27-9FCE-6101687E88ED}"/>
              </a:ext>
            </a:extLst>
          </p:cNvPr>
          <p:cNvSpPr>
            <a:spLocks noGrp="1"/>
          </p:cNvSpPr>
          <p:nvPr>
            <p:ph type="title"/>
          </p:nvPr>
        </p:nvSpPr>
        <p:spPr/>
        <p:txBody>
          <a:bodyPr/>
          <a:lstStyle/>
          <a:p>
            <a:r>
              <a:rPr lang="en-IN" b="0" i="0" dirty="0">
                <a:solidFill>
                  <a:srgbClr val="292929"/>
                </a:solidFill>
                <a:effectLst/>
                <a:latin typeface="sohne"/>
              </a:rPr>
              <a:t>What are ensemble methods?</a:t>
            </a:r>
            <a:br>
              <a:rPr lang="en-IN" b="0" i="0" dirty="0">
                <a:solidFill>
                  <a:srgbClr val="292929"/>
                </a:solidFill>
                <a:effectLst/>
                <a:latin typeface="sohne"/>
              </a:rPr>
            </a:br>
            <a:endParaRPr lang="en-IN" dirty="0"/>
          </a:p>
        </p:txBody>
      </p:sp>
      <p:sp>
        <p:nvSpPr>
          <p:cNvPr id="3" name="Content Placeholder 2">
            <a:extLst>
              <a:ext uri="{FF2B5EF4-FFF2-40B4-BE49-F238E27FC236}">
                <a16:creationId xmlns:a16="http://schemas.microsoft.com/office/drawing/2014/main" id="{79447717-C1C4-4103-9657-364AF387B368}"/>
              </a:ext>
            </a:extLst>
          </p:cNvPr>
          <p:cNvSpPr>
            <a:spLocks noGrp="1"/>
          </p:cNvSpPr>
          <p:nvPr>
            <p:ph idx="1"/>
          </p:nvPr>
        </p:nvSpPr>
        <p:spPr/>
        <p:txBody>
          <a:bodyPr>
            <a:normAutofit lnSpcReduction="10000"/>
          </a:bodyPr>
          <a:lstStyle/>
          <a:p>
            <a:pPr algn="just"/>
            <a:r>
              <a:rPr lang="en-US" sz="2600" b="0" i="0" dirty="0">
                <a:solidFill>
                  <a:srgbClr val="292929"/>
                </a:solidFill>
                <a:effectLst/>
                <a:latin typeface="charter"/>
              </a:rPr>
              <a:t>Ensemble learning is a machine learning paradigm where multiple models (often called “weak learners”) are trained to solve the same problem and combined to get better results. The main hypothesis is that when weak models are correctly </a:t>
            </a:r>
            <a:r>
              <a:rPr lang="en-US" sz="2600" dirty="0">
                <a:solidFill>
                  <a:srgbClr val="292929"/>
                </a:solidFill>
                <a:latin typeface="charter"/>
              </a:rPr>
              <a:t>combined we can obtain more accurate and/or robust models.</a:t>
            </a:r>
          </a:p>
          <a:p>
            <a:pPr marL="0" indent="0" algn="just">
              <a:buNone/>
            </a:pPr>
            <a:r>
              <a:rPr lang="en-US" sz="2600" b="1" dirty="0">
                <a:solidFill>
                  <a:srgbClr val="292929"/>
                </a:solidFill>
                <a:latin typeface="charter"/>
              </a:rPr>
              <a:t>What Is Ensemble In Machine Learning?</a:t>
            </a:r>
          </a:p>
          <a:p>
            <a:pPr algn="just"/>
            <a:r>
              <a:rPr lang="en-US" sz="2600" dirty="0">
                <a:solidFill>
                  <a:srgbClr val="292929"/>
                </a:solidFill>
                <a:latin typeface="charter"/>
              </a:rPr>
              <a:t>Ensemble learning is a method that is used to enhance the performance of Machine Learning model by combining several learners. When compared to a single model, this type of learning builds models </a:t>
            </a:r>
            <a:r>
              <a:rPr lang="en-US" sz="2600" dirty="0">
                <a:solidFill>
                  <a:srgbClr val="C00000"/>
                </a:solidFill>
                <a:latin typeface="charter"/>
              </a:rPr>
              <a:t>with improved efficiency and accuracy.</a:t>
            </a:r>
            <a:r>
              <a:rPr lang="en-US" sz="2600" dirty="0">
                <a:solidFill>
                  <a:srgbClr val="292929"/>
                </a:solidFill>
                <a:latin typeface="charter"/>
              </a:rPr>
              <a:t> This is exactly why ensemble methods are used to win market leading competitions such as the Netflix recommendation competition, Kaggle competitions and so on.</a:t>
            </a:r>
          </a:p>
          <a:p>
            <a:endParaRPr lang="en-IN" dirty="0"/>
          </a:p>
        </p:txBody>
      </p:sp>
    </p:spTree>
    <p:extLst>
      <p:ext uri="{BB962C8B-B14F-4D97-AF65-F5344CB8AC3E}">
        <p14:creationId xmlns:p14="http://schemas.microsoft.com/office/powerpoint/2010/main" val="575411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9B53C-B552-417C-AEBF-E0774199AA97}"/>
              </a:ext>
            </a:extLst>
          </p:cNvPr>
          <p:cNvSpPr>
            <a:spLocks noGrp="1"/>
          </p:cNvSpPr>
          <p:nvPr>
            <p:ph type="title"/>
          </p:nvPr>
        </p:nvSpPr>
        <p:spPr/>
        <p:txBody>
          <a:bodyPr/>
          <a:lstStyle/>
          <a:p>
            <a:r>
              <a:rPr lang="en-IN" b="0" i="0" dirty="0">
                <a:solidFill>
                  <a:srgbClr val="292929"/>
                </a:solidFill>
                <a:effectLst/>
                <a:latin typeface="sohne"/>
              </a:rPr>
              <a:t>Single weak learner</a:t>
            </a:r>
            <a:br>
              <a:rPr lang="en-IN" b="0" i="0" dirty="0">
                <a:solidFill>
                  <a:srgbClr val="292929"/>
                </a:solidFill>
                <a:effectLst/>
                <a:latin typeface="sohne"/>
              </a:rPr>
            </a:br>
            <a:endParaRPr lang="en-IN" dirty="0"/>
          </a:p>
        </p:txBody>
      </p:sp>
      <p:sp>
        <p:nvSpPr>
          <p:cNvPr id="3" name="Content Placeholder 2">
            <a:extLst>
              <a:ext uri="{FF2B5EF4-FFF2-40B4-BE49-F238E27FC236}">
                <a16:creationId xmlns:a16="http://schemas.microsoft.com/office/drawing/2014/main" id="{72CD82F0-462D-46DE-A7E5-67A6EF9C831B}"/>
              </a:ext>
            </a:extLst>
          </p:cNvPr>
          <p:cNvSpPr>
            <a:spLocks noGrp="1"/>
          </p:cNvSpPr>
          <p:nvPr>
            <p:ph idx="1"/>
          </p:nvPr>
        </p:nvSpPr>
        <p:spPr/>
        <p:txBody>
          <a:bodyPr>
            <a:normAutofit lnSpcReduction="10000"/>
          </a:bodyPr>
          <a:lstStyle/>
          <a:p>
            <a:pPr algn="just"/>
            <a:r>
              <a:rPr lang="en-US" b="0" i="0" dirty="0">
                <a:solidFill>
                  <a:srgbClr val="292929"/>
                </a:solidFill>
                <a:effectLst/>
                <a:latin typeface="charter"/>
              </a:rPr>
              <a:t>In machine learning, no matter if we are facing a classification or a regression problem, the choice of the model is extremely important to have any chance to obtain good results. This choice can depend on many variables of the problem: quantity of data, dimensionality of the space, distribution hypothesis…</a:t>
            </a:r>
          </a:p>
          <a:p>
            <a:pPr algn="just"/>
            <a:r>
              <a:rPr lang="en-US" b="0" i="0" dirty="0">
                <a:solidFill>
                  <a:srgbClr val="292929"/>
                </a:solidFill>
                <a:effectLst/>
                <a:latin typeface="charter"/>
              </a:rPr>
              <a:t>A low bias and a low variance, although they most often vary in opposite directions, are the two most fundamental features expected for a model. Indeed, to be able to “solve” a problem, we want our model to have enough degrees of freedom to resolve the underlying complexity of the data we are working with, but we also want it to have not too much degrees of freedom to avoid high variance and be more robust. This is the well known </a:t>
            </a:r>
            <a:r>
              <a:rPr lang="en-US" b="1" i="0" dirty="0">
                <a:solidFill>
                  <a:srgbClr val="292929"/>
                </a:solidFill>
                <a:effectLst/>
                <a:latin typeface="charter"/>
              </a:rPr>
              <a:t>bias-variance tradeoff</a:t>
            </a:r>
            <a:r>
              <a:rPr lang="en-US" b="0" i="0" dirty="0">
                <a:solidFill>
                  <a:srgbClr val="292929"/>
                </a:solidFill>
                <a:effectLst/>
                <a:latin typeface="charter"/>
              </a:rPr>
              <a:t>.</a:t>
            </a:r>
          </a:p>
          <a:p>
            <a:endParaRPr lang="en-IN" dirty="0"/>
          </a:p>
        </p:txBody>
      </p:sp>
    </p:spTree>
    <p:extLst>
      <p:ext uri="{BB962C8B-B14F-4D97-AF65-F5344CB8AC3E}">
        <p14:creationId xmlns:p14="http://schemas.microsoft.com/office/powerpoint/2010/main" val="1614871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65C22-8C61-4B41-B867-D9A41A74B352}"/>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2EE501F6-C1E1-44F6-B378-EE263715A6A8}"/>
              </a:ext>
            </a:extLst>
          </p:cNvPr>
          <p:cNvSpPr>
            <a:spLocks noGrp="1"/>
          </p:cNvSpPr>
          <p:nvPr>
            <p:ph idx="1"/>
          </p:nvPr>
        </p:nvSpPr>
        <p:spPr/>
        <p:txBody>
          <a:bodyPr/>
          <a:lstStyle/>
          <a:p>
            <a:pPr algn="just"/>
            <a:r>
              <a:rPr lang="en-US" b="0" i="0" dirty="0">
                <a:solidFill>
                  <a:srgbClr val="292929"/>
                </a:solidFill>
                <a:effectLst/>
                <a:latin typeface="charter"/>
              </a:rPr>
              <a:t>In ensemble learning theory, we call </a:t>
            </a:r>
            <a:r>
              <a:rPr lang="en-US" b="1" i="0" dirty="0">
                <a:solidFill>
                  <a:srgbClr val="292929"/>
                </a:solidFill>
                <a:effectLst/>
                <a:latin typeface="charter"/>
              </a:rPr>
              <a:t>weak learners</a:t>
            </a:r>
            <a:r>
              <a:rPr lang="en-US" b="0" i="0" dirty="0">
                <a:solidFill>
                  <a:srgbClr val="292929"/>
                </a:solidFill>
                <a:effectLst/>
                <a:latin typeface="charter"/>
              </a:rPr>
              <a:t> (or </a:t>
            </a:r>
            <a:r>
              <a:rPr lang="en-US" b="1" i="0" dirty="0">
                <a:solidFill>
                  <a:srgbClr val="292929"/>
                </a:solidFill>
                <a:effectLst/>
                <a:latin typeface="charter"/>
              </a:rPr>
              <a:t>base models</a:t>
            </a:r>
            <a:r>
              <a:rPr lang="en-US" b="0" i="0" dirty="0">
                <a:solidFill>
                  <a:srgbClr val="292929"/>
                </a:solidFill>
                <a:effectLst/>
                <a:latin typeface="charter"/>
              </a:rPr>
              <a:t>) models that can be used as building blocks for designing more complex models by combining several of them. Most of the time, these basics models perform not so well by themselves either because they have a high bias (low degree of freedom models, for example) or because they have too much variance to be robust (high degree of freedom models, for example). Then, the idea of ensemble methods is to try reducing bias and/or variance of such weak learners by combining several of them together in order to create a </a:t>
            </a:r>
            <a:r>
              <a:rPr lang="en-US" b="1" i="0" dirty="0">
                <a:solidFill>
                  <a:srgbClr val="292929"/>
                </a:solidFill>
                <a:effectLst/>
                <a:latin typeface="charter"/>
              </a:rPr>
              <a:t>strong learner</a:t>
            </a:r>
            <a:r>
              <a:rPr lang="en-US" b="0" i="0" dirty="0">
                <a:solidFill>
                  <a:srgbClr val="292929"/>
                </a:solidFill>
                <a:effectLst/>
                <a:latin typeface="charter"/>
              </a:rPr>
              <a:t> (or </a:t>
            </a:r>
            <a:r>
              <a:rPr lang="en-US" b="1" i="0" dirty="0">
                <a:solidFill>
                  <a:srgbClr val="292929"/>
                </a:solidFill>
                <a:effectLst/>
                <a:latin typeface="charter"/>
              </a:rPr>
              <a:t>ensemble model</a:t>
            </a:r>
            <a:r>
              <a:rPr lang="en-US" b="0" i="0" dirty="0">
                <a:solidFill>
                  <a:srgbClr val="292929"/>
                </a:solidFill>
                <a:effectLst/>
                <a:latin typeface="charter"/>
              </a:rPr>
              <a:t>) that achieves better performances.</a:t>
            </a:r>
            <a:endParaRPr lang="en-IN" dirty="0"/>
          </a:p>
        </p:txBody>
      </p:sp>
    </p:spTree>
    <p:extLst>
      <p:ext uri="{BB962C8B-B14F-4D97-AF65-F5344CB8AC3E}">
        <p14:creationId xmlns:p14="http://schemas.microsoft.com/office/powerpoint/2010/main" val="1839586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978A7-0F37-4333-A74A-7419642F2639}"/>
              </a:ext>
            </a:extLst>
          </p:cNvPr>
          <p:cNvSpPr>
            <a:spLocks noGrp="1"/>
          </p:cNvSpPr>
          <p:nvPr>
            <p:ph type="title"/>
          </p:nvPr>
        </p:nvSpPr>
        <p:spPr/>
        <p:txBody>
          <a:bodyPr/>
          <a:lstStyle/>
          <a:p>
            <a:r>
              <a:rPr lang="en-US" dirty="0"/>
              <a:t>Ensemble learning</a:t>
            </a:r>
            <a:endParaRPr lang="en-IN" dirty="0"/>
          </a:p>
        </p:txBody>
      </p:sp>
      <p:pic>
        <p:nvPicPr>
          <p:cNvPr id="1026" name="Picture 2" descr="Ensemble Methods (Part 3): Meta-learning, Stacking and Mixture of Experts |  CommonLounge">
            <a:extLst>
              <a:ext uri="{FF2B5EF4-FFF2-40B4-BE49-F238E27FC236}">
                <a16:creationId xmlns:a16="http://schemas.microsoft.com/office/drawing/2014/main" id="{1A60EF4D-5DAF-4F1F-9279-80B5EA20945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48166" y="2101056"/>
            <a:ext cx="6814818" cy="4531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4755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687ED-6D87-4AAF-A0F7-11701C9BED06}"/>
              </a:ext>
            </a:extLst>
          </p:cNvPr>
          <p:cNvSpPr>
            <a:spLocks noGrp="1"/>
          </p:cNvSpPr>
          <p:nvPr>
            <p:ph type="title"/>
          </p:nvPr>
        </p:nvSpPr>
        <p:spPr/>
        <p:txBody>
          <a:bodyPr/>
          <a:lstStyle/>
          <a:p>
            <a:r>
              <a:rPr lang="en-US" dirty="0"/>
              <a:t>Advantages of ensemble learning</a:t>
            </a:r>
            <a:endParaRPr lang="en-IN" dirty="0"/>
          </a:p>
        </p:txBody>
      </p:sp>
      <p:pic>
        <p:nvPicPr>
          <p:cNvPr id="7" name="Content Placeholder 6">
            <a:extLst>
              <a:ext uri="{FF2B5EF4-FFF2-40B4-BE49-F238E27FC236}">
                <a16:creationId xmlns:a16="http://schemas.microsoft.com/office/drawing/2014/main" id="{D42874DD-8F7F-4493-BBDE-9D8542D64AF3}"/>
              </a:ext>
            </a:extLst>
          </p:cNvPr>
          <p:cNvPicPr>
            <a:picLocks noGrp="1" noChangeAspect="1"/>
          </p:cNvPicPr>
          <p:nvPr>
            <p:ph idx="1"/>
          </p:nvPr>
        </p:nvPicPr>
        <p:blipFill>
          <a:blip r:embed="rId2"/>
          <a:stretch>
            <a:fillRect/>
          </a:stretch>
        </p:blipFill>
        <p:spPr>
          <a:xfrm>
            <a:off x="1407386" y="2524863"/>
            <a:ext cx="8838412" cy="3032238"/>
          </a:xfrm>
        </p:spPr>
      </p:pic>
    </p:spTree>
    <p:extLst>
      <p:ext uri="{BB962C8B-B14F-4D97-AF65-F5344CB8AC3E}">
        <p14:creationId xmlns:p14="http://schemas.microsoft.com/office/powerpoint/2010/main" val="1879479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DC38F-041D-36C6-8882-2CD7736D0E33}"/>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3791421-0671-4E71-1008-312C17D68596}"/>
              </a:ext>
            </a:extLst>
          </p:cNvPr>
          <p:cNvPicPr>
            <a:picLocks noGrp="1" noChangeAspect="1"/>
          </p:cNvPicPr>
          <p:nvPr>
            <p:ph idx="1"/>
          </p:nvPr>
        </p:nvPicPr>
        <p:blipFill>
          <a:blip r:embed="rId2"/>
          <a:stretch>
            <a:fillRect/>
          </a:stretch>
        </p:blipFill>
        <p:spPr>
          <a:xfrm>
            <a:off x="1439091" y="1796776"/>
            <a:ext cx="9052889" cy="4417373"/>
          </a:xfrm>
        </p:spPr>
      </p:pic>
    </p:spTree>
    <p:extLst>
      <p:ext uri="{BB962C8B-B14F-4D97-AF65-F5344CB8AC3E}">
        <p14:creationId xmlns:p14="http://schemas.microsoft.com/office/powerpoint/2010/main" val="1824398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0391180" y="6657332"/>
            <a:ext cx="133052" cy="177182"/>
          </a:xfrm>
          <a:prstGeom prst="rect">
            <a:avLst/>
          </a:prstGeom>
        </p:spPr>
        <p:txBody>
          <a:bodyPr vert="horz" wrap="square" lIns="0" tIns="4018" rIns="0" bIns="0" rtlCol="0">
            <a:spAutoFit/>
          </a:bodyPr>
          <a:lstStyle/>
          <a:p>
            <a:pPr marL="26788">
              <a:spcBef>
                <a:spcPts val="32"/>
              </a:spcBef>
            </a:pPr>
            <a:fld id="{81D60167-4931-47E6-BA6A-407CBD079E47}" type="slidenum">
              <a:rPr sz="1125" spc="-4" dirty="0">
                <a:latin typeface="Arial MT"/>
                <a:cs typeface="Arial MT"/>
              </a:rPr>
              <a:pPr marL="26788">
                <a:spcBef>
                  <a:spcPts val="32"/>
                </a:spcBef>
              </a:pPr>
              <a:t>9</a:t>
            </a:fld>
            <a:endParaRPr sz="1125">
              <a:latin typeface="Arial MT"/>
              <a:cs typeface="Arial MT"/>
            </a:endParaRPr>
          </a:p>
        </p:txBody>
      </p:sp>
      <p:sp>
        <p:nvSpPr>
          <p:cNvPr id="5" name="object 5"/>
          <p:cNvSpPr txBox="1">
            <a:spLocks noGrp="1"/>
          </p:cNvSpPr>
          <p:nvPr>
            <p:ph type="dt" sz="half" idx="6"/>
          </p:nvPr>
        </p:nvSpPr>
        <p:spPr>
          <a:xfrm>
            <a:off x="5742025" y="9495434"/>
            <a:ext cx="2291715" cy="23304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rgbClr val="929292"/>
                </a:solidFill>
                <a:latin typeface="Microsoft Sans Serif"/>
                <a:ea typeface="+mn-ea"/>
                <a:cs typeface="Microsoft Sans Serif"/>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929">
              <a:spcBef>
                <a:spcPts val="21"/>
              </a:spcBef>
            </a:pPr>
            <a:r>
              <a:rPr lang="en-US" spc="-30"/>
              <a:t>S</a:t>
            </a:r>
            <a:r>
              <a:rPr lang="en-US" spc="-185"/>
              <a:t>T</a:t>
            </a:r>
            <a:r>
              <a:rPr lang="en-US" spc="-160"/>
              <a:t>A</a:t>
            </a:r>
            <a:r>
              <a:rPr lang="en-US" spc="-55"/>
              <a:t>T</a:t>
            </a:r>
            <a:r>
              <a:rPr lang="en-US" spc="15"/>
              <a:t> </a:t>
            </a:r>
            <a:r>
              <a:rPr lang="en-US" spc="-5"/>
              <a:t>479:</a:t>
            </a:r>
            <a:r>
              <a:rPr lang="en-US" spc="15"/>
              <a:t> </a:t>
            </a:r>
            <a:r>
              <a:rPr lang="en-US" spc="5"/>
              <a:t>Machine</a:t>
            </a:r>
            <a:r>
              <a:rPr lang="en-US" spc="15"/>
              <a:t> </a:t>
            </a:r>
            <a:r>
              <a:rPr lang="en-US" spc="-15"/>
              <a:t>Lea</a:t>
            </a:r>
            <a:r>
              <a:rPr lang="en-US" spc="15"/>
              <a:t>r</a:t>
            </a:r>
            <a:r>
              <a:rPr lang="en-US"/>
              <a:t>ning</a:t>
            </a:r>
            <a:endParaRPr dirty="0"/>
          </a:p>
        </p:txBody>
      </p:sp>
      <p:sp>
        <p:nvSpPr>
          <p:cNvPr id="6" name="object 6"/>
          <p:cNvSpPr txBox="1">
            <a:spLocks noGrp="1"/>
          </p:cNvSpPr>
          <p:nvPr>
            <p:ph type="ftr" sz="quarter" idx="5"/>
          </p:nvPr>
        </p:nvSpPr>
        <p:spPr>
          <a:xfrm>
            <a:off x="8650655" y="9495434"/>
            <a:ext cx="687704" cy="23304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rgbClr val="929292"/>
                </a:solidFill>
                <a:latin typeface="Microsoft Sans Serif"/>
                <a:ea typeface="+mn-ea"/>
                <a:cs typeface="Microsoft Sans Serif"/>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929">
              <a:spcBef>
                <a:spcPts val="21"/>
              </a:spcBef>
            </a:pPr>
            <a:r>
              <a:rPr lang="en-US" spc="-40"/>
              <a:t>FS</a:t>
            </a:r>
            <a:r>
              <a:rPr lang="en-US" spc="-50"/>
              <a:t> </a:t>
            </a:r>
            <a:r>
              <a:rPr lang="en-US" spc="-5"/>
              <a:t>2018</a:t>
            </a:r>
            <a:endParaRPr spc="-4" dirty="0"/>
          </a:p>
        </p:txBody>
      </p:sp>
      <p:sp>
        <p:nvSpPr>
          <p:cNvPr id="2" name="object 2"/>
          <p:cNvSpPr txBox="1">
            <a:spLocks noGrp="1"/>
          </p:cNvSpPr>
          <p:nvPr>
            <p:ph type="title"/>
          </p:nvPr>
        </p:nvSpPr>
        <p:spPr>
          <a:xfrm>
            <a:off x="3622477" y="2554126"/>
            <a:ext cx="4941689" cy="874639"/>
          </a:xfrm>
          <a:prstGeom prst="rect">
            <a:avLst/>
          </a:prstGeom>
        </p:spPr>
        <p:txBody>
          <a:bodyPr vert="horz" wrap="square" lIns="0" tIns="8930" rIns="0" bIns="0" rtlCol="0" anchor="ctr">
            <a:spAutoFit/>
          </a:bodyPr>
          <a:lstStyle/>
          <a:p>
            <a:pPr marL="8929">
              <a:lnSpc>
                <a:spcPct val="100000"/>
              </a:lnSpc>
              <a:spcBef>
                <a:spcPts val="70"/>
              </a:spcBef>
            </a:pPr>
            <a:r>
              <a:rPr sz="5625" spc="155" dirty="0">
                <a:latin typeface="Arial MT"/>
                <a:cs typeface="Arial MT"/>
              </a:rPr>
              <a:t>Majority</a:t>
            </a:r>
            <a:r>
              <a:rPr sz="5625" spc="-39" dirty="0">
                <a:latin typeface="Arial MT"/>
                <a:cs typeface="Arial MT"/>
              </a:rPr>
              <a:t> </a:t>
            </a:r>
            <a:r>
              <a:rPr sz="5625" spc="49" dirty="0">
                <a:latin typeface="Arial MT"/>
                <a:cs typeface="Arial MT"/>
              </a:rPr>
              <a:t>Voting</a:t>
            </a:r>
            <a:endParaRPr sz="5625">
              <a:latin typeface="Arial MT"/>
              <a:cs typeface="Arial M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768092" y="2494758"/>
            <a:ext cx="349151" cy="352276"/>
            <a:chOff x="1769376" y="3548100"/>
            <a:chExt cx="496570" cy="501015"/>
          </a:xfrm>
        </p:grpSpPr>
        <p:sp>
          <p:nvSpPr>
            <p:cNvPr id="3" name="object 3"/>
            <p:cNvSpPr/>
            <p:nvPr/>
          </p:nvSpPr>
          <p:spPr>
            <a:xfrm>
              <a:off x="1779114" y="3557838"/>
              <a:ext cx="476884" cy="481330"/>
            </a:xfrm>
            <a:custGeom>
              <a:avLst/>
              <a:gdLst/>
              <a:ahLst/>
              <a:cxnLst/>
              <a:rect l="l" t="t" r="r" b="b"/>
              <a:pathLst>
                <a:path w="476885" h="481329">
                  <a:moveTo>
                    <a:pt x="238408" y="0"/>
                  </a:moveTo>
                  <a:lnTo>
                    <a:pt x="190360" y="4888"/>
                  </a:lnTo>
                  <a:lnTo>
                    <a:pt x="145609" y="18907"/>
                  </a:lnTo>
                  <a:lnTo>
                    <a:pt x="105112" y="41091"/>
                  </a:lnTo>
                  <a:lnTo>
                    <a:pt x="69828" y="70471"/>
                  </a:lnTo>
                  <a:lnTo>
                    <a:pt x="40716" y="106080"/>
                  </a:lnTo>
                  <a:lnTo>
                    <a:pt x="18735" y="146951"/>
                  </a:lnTo>
                  <a:lnTo>
                    <a:pt x="4843" y="192115"/>
                  </a:lnTo>
                  <a:lnTo>
                    <a:pt x="0" y="240606"/>
                  </a:lnTo>
                  <a:lnTo>
                    <a:pt x="4843" y="289097"/>
                  </a:lnTo>
                  <a:lnTo>
                    <a:pt x="18735" y="334261"/>
                  </a:lnTo>
                  <a:lnTo>
                    <a:pt x="40716" y="375132"/>
                  </a:lnTo>
                  <a:lnTo>
                    <a:pt x="69828" y="410741"/>
                  </a:lnTo>
                  <a:lnTo>
                    <a:pt x="105112" y="440121"/>
                  </a:lnTo>
                  <a:lnTo>
                    <a:pt x="145609" y="462305"/>
                  </a:lnTo>
                  <a:lnTo>
                    <a:pt x="190360" y="476324"/>
                  </a:lnTo>
                  <a:lnTo>
                    <a:pt x="238408" y="481213"/>
                  </a:lnTo>
                  <a:lnTo>
                    <a:pt x="286455" y="476324"/>
                  </a:lnTo>
                  <a:lnTo>
                    <a:pt x="331206" y="462305"/>
                  </a:lnTo>
                  <a:lnTo>
                    <a:pt x="371703" y="440121"/>
                  </a:lnTo>
                  <a:lnTo>
                    <a:pt x="406987" y="410741"/>
                  </a:lnTo>
                  <a:lnTo>
                    <a:pt x="436098" y="375132"/>
                  </a:lnTo>
                  <a:lnTo>
                    <a:pt x="458079" y="334261"/>
                  </a:lnTo>
                  <a:lnTo>
                    <a:pt x="471971" y="289097"/>
                  </a:lnTo>
                  <a:lnTo>
                    <a:pt x="476815" y="240606"/>
                  </a:lnTo>
                  <a:lnTo>
                    <a:pt x="471971" y="192115"/>
                  </a:lnTo>
                  <a:lnTo>
                    <a:pt x="458079" y="146951"/>
                  </a:lnTo>
                  <a:lnTo>
                    <a:pt x="436098" y="106080"/>
                  </a:lnTo>
                  <a:lnTo>
                    <a:pt x="406987" y="70471"/>
                  </a:lnTo>
                  <a:lnTo>
                    <a:pt x="371703" y="41091"/>
                  </a:lnTo>
                  <a:lnTo>
                    <a:pt x="331206" y="18907"/>
                  </a:lnTo>
                  <a:lnTo>
                    <a:pt x="286455" y="4888"/>
                  </a:lnTo>
                  <a:lnTo>
                    <a:pt x="238408" y="0"/>
                  </a:lnTo>
                  <a:close/>
                </a:path>
              </a:pathLst>
            </a:custGeom>
            <a:solidFill>
              <a:srgbClr val="000000"/>
            </a:solidFill>
          </p:spPr>
          <p:txBody>
            <a:bodyPr wrap="square" lIns="0" tIns="0" rIns="0" bIns="0" rtlCol="0"/>
            <a:lstStyle/>
            <a:p>
              <a:endParaRPr sz="1266"/>
            </a:p>
          </p:txBody>
        </p:sp>
        <p:sp>
          <p:nvSpPr>
            <p:cNvPr id="4" name="object 4"/>
            <p:cNvSpPr/>
            <p:nvPr/>
          </p:nvSpPr>
          <p:spPr>
            <a:xfrm>
              <a:off x="1779114" y="3557838"/>
              <a:ext cx="476884" cy="481330"/>
            </a:xfrm>
            <a:custGeom>
              <a:avLst/>
              <a:gdLst/>
              <a:ahLst/>
              <a:cxnLst/>
              <a:rect l="l" t="t" r="r" b="b"/>
              <a:pathLst>
                <a:path w="476885"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5" name="object 5"/>
          <p:cNvGrpSpPr/>
          <p:nvPr/>
        </p:nvGrpSpPr>
        <p:grpSpPr>
          <a:xfrm>
            <a:off x="3280713" y="2494758"/>
            <a:ext cx="349151" cy="352276"/>
            <a:chOff x="2498437" y="3548100"/>
            <a:chExt cx="496570" cy="501015"/>
          </a:xfrm>
        </p:grpSpPr>
        <p:sp>
          <p:nvSpPr>
            <p:cNvPr id="6" name="object 6"/>
            <p:cNvSpPr/>
            <p:nvPr/>
          </p:nvSpPr>
          <p:spPr>
            <a:xfrm>
              <a:off x="2508176" y="3557838"/>
              <a:ext cx="476884" cy="481330"/>
            </a:xfrm>
            <a:custGeom>
              <a:avLst/>
              <a:gdLst/>
              <a:ahLst/>
              <a:cxnLst/>
              <a:rect l="l" t="t" r="r" b="b"/>
              <a:pathLst>
                <a:path w="476885" h="481329">
                  <a:moveTo>
                    <a:pt x="238408" y="0"/>
                  </a:moveTo>
                  <a:lnTo>
                    <a:pt x="190360" y="4888"/>
                  </a:lnTo>
                  <a:lnTo>
                    <a:pt x="145608" y="18907"/>
                  </a:lnTo>
                  <a:lnTo>
                    <a:pt x="105111" y="41091"/>
                  </a:lnTo>
                  <a:lnTo>
                    <a:pt x="69827" y="70471"/>
                  </a:lnTo>
                  <a:lnTo>
                    <a:pt x="40716" y="106080"/>
                  </a:lnTo>
                  <a:lnTo>
                    <a:pt x="18735" y="146951"/>
                  </a:lnTo>
                  <a:lnTo>
                    <a:pt x="4843" y="192115"/>
                  </a:lnTo>
                  <a:lnTo>
                    <a:pt x="0" y="240606"/>
                  </a:lnTo>
                  <a:lnTo>
                    <a:pt x="4843" y="289097"/>
                  </a:lnTo>
                  <a:lnTo>
                    <a:pt x="18735" y="334261"/>
                  </a:lnTo>
                  <a:lnTo>
                    <a:pt x="40716" y="375132"/>
                  </a:lnTo>
                  <a:lnTo>
                    <a:pt x="69827" y="410741"/>
                  </a:lnTo>
                  <a:lnTo>
                    <a:pt x="105111" y="440121"/>
                  </a:lnTo>
                  <a:lnTo>
                    <a:pt x="145608" y="462305"/>
                  </a:lnTo>
                  <a:lnTo>
                    <a:pt x="190360" y="476324"/>
                  </a:lnTo>
                  <a:lnTo>
                    <a:pt x="238408" y="481213"/>
                  </a:lnTo>
                  <a:lnTo>
                    <a:pt x="286455" y="476324"/>
                  </a:lnTo>
                  <a:lnTo>
                    <a:pt x="331206" y="462305"/>
                  </a:lnTo>
                  <a:lnTo>
                    <a:pt x="371703" y="440121"/>
                  </a:lnTo>
                  <a:lnTo>
                    <a:pt x="406987" y="410741"/>
                  </a:lnTo>
                  <a:lnTo>
                    <a:pt x="436098" y="375132"/>
                  </a:lnTo>
                  <a:lnTo>
                    <a:pt x="458079" y="334261"/>
                  </a:lnTo>
                  <a:lnTo>
                    <a:pt x="471971" y="289097"/>
                  </a:lnTo>
                  <a:lnTo>
                    <a:pt x="476815" y="240606"/>
                  </a:lnTo>
                  <a:lnTo>
                    <a:pt x="471971" y="192115"/>
                  </a:lnTo>
                  <a:lnTo>
                    <a:pt x="458079" y="146951"/>
                  </a:lnTo>
                  <a:lnTo>
                    <a:pt x="436098" y="106080"/>
                  </a:lnTo>
                  <a:lnTo>
                    <a:pt x="406987" y="70471"/>
                  </a:lnTo>
                  <a:lnTo>
                    <a:pt x="371703" y="41091"/>
                  </a:lnTo>
                  <a:lnTo>
                    <a:pt x="331206" y="18907"/>
                  </a:lnTo>
                  <a:lnTo>
                    <a:pt x="286455" y="4888"/>
                  </a:lnTo>
                  <a:lnTo>
                    <a:pt x="238408" y="0"/>
                  </a:lnTo>
                  <a:close/>
                </a:path>
              </a:pathLst>
            </a:custGeom>
            <a:solidFill>
              <a:srgbClr val="000000"/>
            </a:solidFill>
          </p:spPr>
          <p:txBody>
            <a:bodyPr wrap="square" lIns="0" tIns="0" rIns="0" bIns="0" rtlCol="0"/>
            <a:lstStyle/>
            <a:p>
              <a:endParaRPr sz="1266"/>
            </a:p>
          </p:txBody>
        </p:sp>
        <p:sp>
          <p:nvSpPr>
            <p:cNvPr id="7" name="object 7"/>
            <p:cNvSpPr/>
            <p:nvPr/>
          </p:nvSpPr>
          <p:spPr>
            <a:xfrm>
              <a:off x="2508176" y="3557838"/>
              <a:ext cx="476884" cy="481330"/>
            </a:xfrm>
            <a:custGeom>
              <a:avLst/>
              <a:gdLst/>
              <a:ahLst/>
              <a:cxnLst/>
              <a:rect l="l" t="t" r="r" b="b"/>
              <a:pathLst>
                <a:path w="476885"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8" name="object 8"/>
          <p:cNvGrpSpPr/>
          <p:nvPr/>
        </p:nvGrpSpPr>
        <p:grpSpPr>
          <a:xfrm>
            <a:off x="3780317" y="2494758"/>
            <a:ext cx="349151" cy="352276"/>
            <a:chOff x="3208985" y="3548100"/>
            <a:chExt cx="496570" cy="501015"/>
          </a:xfrm>
        </p:grpSpPr>
        <p:sp>
          <p:nvSpPr>
            <p:cNvPr id="9" name="object 9"/>
            <p:cNvSpPr/>
            <p:nvPr/>
          </p:nvSpPr>
          <p:spPr>
            <a:xfrm>
              <a:off x="3218724" y="3557838"/>
              <a:ext cx="476884" cy="481330"/>
            </a:xfrm>
            <a:custGeom>
              <a:avLst/>
              <a:gdLst/>
              <a:ahLst/>
              <a:cxnLst/>
              <a:rect l="l" t="t" r="r" b="b"/>
              <a:pathLst>
                <a:path w="476885" h="481329">
                  <a:moveTo>
                    <a:pt x="238408" y="0"/>
                  </a:moveTo>
                  <a:lnTo>
                    <a:pt x="190360" y="4888"/>
                  </a:lnTo>
                  <a:lnTo>
                    <a:pt x="145608" y="18907"/>
                  </a:lnTo>
                  <a:lnTo>
                    <a:pt x="105111" y="41091"/>
                  </a:lnTo>
                  <a:lnTo>
                    <a:pt x="69827" y="70471"/>
                  </a:lnTo>
                  <a:lnTo>
                    <a:pt x="40716" y="106080"/>
                  </a:lnTo>
                  <a:lnTo>
                    <a:pt x="18735" y="146951"/>
                  </a:lnTo>
                  <a:lnTo>
                    <a:pt x="4843" y="192115"/>
                  </a:lnTo>
                  <a:lnTo>
                    <a:pt x="0" y="240606"/>
                  </a:lnTo>
                  <a:lnTo>
                    <a:pt x="4843" y="289097"/>
                  </a:lnTo>
                  <a:lnTo>
                    <a:pt x="18735" y="334261"/>
                  </a:lnTo>
                  <a:lnTo>
                    <a:pt x="40716" y="375132"/>
                  </a:lnTo>
                  <a:lnTo>
                    <a:pt x="69827" y="410741"/>
                  </a:lnTo>
                  <a:lnTo>
                    <a:pt x="105111" y="440121"/>
                  </a:lnTo>
                  <a:lnTo>
                    <a:pt x="145608" y="462305"/>
                  </a:lnTo>
                  <a:lnTo>
                    <a:pt x="190360" y="476324"/>
                  </a:lnTo>
                  <a:lnTo>
                    <a:pt x="238408" y="481213"/>
                  </a:lnTo>
                  <a:lnTo>
                    <a:pt x="286455" y="476324"/>
                  </a:lnTo>
                  <a:lnTo>
                    <a:pt x="331206" y="462305"/>
                  </a:lnTo>
                  <a:lnTo>
                    <a:pt x="371703" y="440121"/>
                  </a:lnTo>
                  <a:lnTo>
                    <a:pt x="406986" y="410741"/>
                  </a:lnTo>
                  <a:lnTo>
                    <a:pt x="436098" y="375132"/>
                  </a:lnTo>
                  <a:lnTo>
                    <a:pt x="458079" y="334261"/>
                  </a:lnTo>
                  <a:lnTo>
                    <a:pt x="471971" y="289097"/>
                  </a:lnTo>
                  <a:lnTo>
                    <a:pt x="476815" y="240606"/>
                  </a:lnTo>
                  <a:lnTo>
                    <a:pt x="471971" y="192115"/>
                  </a:lnTo>
                  <a:lnTo>
                    <a:pt x="458079" y="146951"/>
                  </a:lnTo>
                  <a:lnTo>
                    <a:pt x="436098" y="106080"/>
                  </a:lnTo>
                  <a:lnTo>
                    <a:pt x="406986" y="70471"/>
                  </a:lnTo>
                  <a:lnTo>
                    <a:pt x="371703" y="41091"/>
                  </a:lnTo>
                  <a:lnTo>
                    <a:pt x="331206" y="18907"/>
                  </a:lnTo>
                  <a:lnTo>
                    <a:pt x="286455" y="4888"/>
                  </a:lnTo>
                  <a:lnTo>
                    <a:pt x="238408" y="0"/>
                  </a:lnTo>
                  <a:close/>
                </a:path>
              </a:pathLst>
            </a:custGeom>
            <a:solidFill>
              <a:srgbClr val="000000"/>
            </a:solidFill>
          </p:spPr>
          <p:txBody>
            <a:bodyPr wrap="square" lIns="0" tIns="0" rIns="0" bIns="0" rtlCol="0"/>
            <a:lstStyle/>
            <a:p>
              <a:endParaRPr sz="1266"/>
            </a:p>
          </p:txBody>
        </p:sp>
        <p:sp>
          <p:nvSpPr>
            <p:cNvPr id="10" name="object 10"/>
            <p:cNvSpPr/>
            <p:nvPr/>
          </p:nvSpPr>
          <p:spPr>
            <a:xfrm>
              <a:off x="3218724" y="3557838"/>
              <a:ext cx="476884" cy="481330"/>
            </a:xfrm>
            <a:custGeom>
              <a:avLst/>
              <a:gdLst/>
              <a:ahLst/>
              <a:cxnLst/>
              <a:rect l="l" t="t" r="r" b="b"/>
              <a:pathLst>
                <a:path w="476885"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11" name="object 11"/>
          <p:cNvGrpSpPr/>
          <p:nvPr/>
        </p:nvGrpSpPr>
        <p:grpSpPr>
          <a:xfrm>
            <a:off x="4279922" y="2494758"/>
            <a:ext cx="349151" cy="352276"/>
            <a:chOff x="3919533" y="3548100"/>
            <a:chExt cx="496570" cy="501015"/>
          </a:xfrm>
        </p:grpSpPr>
        <p:sp>
          <p:nvSpPr>
            <p:cNvPr id="12" name="object 12"/>
            <p:cNvSpPr/>
            <p:nvPr/>
          </p:nvSpPr>
          <p:spPr>
            <a:xfrm>
              <a:off x="3929272" y="3557838"/>
              <a:ext cx="476884" cy="481330"/>
            </a:xfrm>
            <a:custGeom>
              <a:avLst/>
              <a:gdLst/>
              <a:ahLst/>
              <a:cxnLst/>
              <a:rect l="l" t="t" r="r" b="b"/>
              <a:pathLst>
                <a:path w="476885" h="481329">
                  <a:moveTo>
                    <a:pt x="238406" y="0"/>
                  </a:moveTo>
                  <a:lnTo>
                    <a:pt x="190359" y="4888"/>
                  </a:lnTo>
                  <a:lnTo>
                    <a:pt x="145608" y="18907"/>
                  </a:lnTo>
                  <a:lnTo>
                    <a:pt x="105111" y="41091"/>
                  </a:lnTo>
                  <a:lnTo>
                    <a:pt x="69828" y="70471"/>
                  </a:lnTo>
                  <a:lnTo>
                    <a:pt x="40716" y="106080"/>
                  </a:lnTo>
                  <a:lnTo>
                    <a:pt x="18735" y="146951"/>
                  </a:lnTo>
                  <a:lnTo>
                    <a:pt x="4843" y="192115"/>
                  </a:lnTo>
                  <a:lnTo>
                    <a:pt x="0" y="240606"/>
                  </a:lnTo>
                  <a:lnTo>
                    <a:pt x="4843" y="289097"/>
                  </a:lnTo>
                  <a:lnTo>
                    <a:pt x="18735" y="334261"/>
                  </a:lnTo>
                  <a:lnTo>
                    <a:pt x="40716" y="375132"/>
                  </a:lnTo>
                  <a:lnTo>
                    <a:pt x="69828" y="410741"/>
                  </a:lnTo>
                  <a:lnTo>
                    <a:pt x="105111" y="440121"/>
                  </a:lnTo>
                  <a:lnTo>
                    <a:pt x="145608" y="462305"/>
                  </a:lnTo>
                  <a:lnTo>
                    <a:pt x="190359" y="476324"/>
                  </a:lnTo>
                  <a:lnTo>
                    <a:pt x="238406" y="481213"/>
                  </a:lnTo>
                  <a:lnTo>
                    <a:pt x="286454" y="476324"/>
                  </a:lnTo>
                  <a:lnTo>
                    <a:pt x="331206" y="462305"/>
                  </a:lnTo>
                  <a:lnTo>
                    <a:pt x="371703" y="440121"/>
                  </a:lnTo>
                  <a:lnTo>
                    <a:pt x="406987" y="410741"/>
                  </a:lnTo>
                  <a:lnTo>
                    <a:pt x="436098" y="375132"/>
                  </a:lnTo>
                  <a:lnTo>
                    <a:pt x="458079" y="334261"/>
                  </a:lnTo>
                  <a:lnTo>
                    <a:pt x="471971" y="289097"/>
                  </a:lnTo>
                  <a:lnTo>
                    <a:pt x="476815" y="240606"/>
                  </a:lnTo>
                  <a:lnTo>
                    <a:pt x="471971" y="192115"/>
                  </a:lnTo>
                  <a:lnTo>
                    <a:pt x="458079" y="146951"/>
                  </a:lnTo>
                  <a:lnTo>
                    <a:pt x="436098" y="106080"/>
                  </a:lnTo>
                  <a:lnTo>
                    <a:pt x="406987" y="70471"/>
                  </a:lnTo>
                  <a:lnTo>
                    <a:pt x="371703" y="41091"/>
                  </a:lnTo>
                  <a:lnTo>
                    <a:pt x="331206" y="18907"/>
                  </a:lnTo>
                  <a:lnTo>
                    <a:pt x="286454" y="4888"/>
                  </a:lnTo>
                  <a:lnTo>
                    <a:pt x="238406" y="0"/>
                  </a:lnTo>
                  <a:close/>
                </a:path>
              </a:pathLst>
            </a:custGeom>
            <a:solidFill>
              <a:srgbClr val="000000"/>
            </a:solidFill>
          </p:spPr>
          <p:txBody>
            <a:bodyPr wrap="square" lIns="0" tIns="0" rIns="0" bIns="0" rtlCol="0"/>
            <a:lstStyle/>
            <a:p>
              <a:endParaRPr sz="1266"/>
            </a:p>
          </p:txBody>
        </p:sp>
        <p:sp>
          <p:nvSpPr>
            <p:cNvPr id="13" name="object 13"/>
            <p:cNvSpPr/>
            <p:nvPr/>
          </p:nvSpPr>
          <p:spPr>
            <a:xfrm>
              <a:off x="3929272" y="3557838"/>
              <a:ext cx="476884" cy="481330"/>
            </a:xfrm>
            <a:custGeom>
              <a:avLst/>
              <a:gdLst/>
              <a:ahLst/>
              <a:cxnLst/>
              <a:rect l="l" t="t" r="r" b="b"/>
              <a:pathLst>
                <a:path w="476885"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14" name="object 14"/>
          <p:cNvGrpSpPr/>
          <p:nvPr/>
        </p:nvGrpSpPr>
        <p:grpSpPr>
          <a:xfrm>
            <a:off x="4779525" y="2489924"/>
            <a:ext cx="349151" cy="352276"/>
            <a:chOff x="4630080" y="3541225"/>
            <a:chExt cx="496570" cy="501015"/>
          </a:xfrm>
        </p:grpSpPr>
        <p:sp>
          <p:nvSpPr>
            <p:cNvPr id="15" name="object 15"/>
            <p:cNvSpPr/>
            <p:nvPr/>
          </p:nvSpPr>
          <p:spPr>
            <a:xfrm>
              <a:off x="4639819" y="3550964"/>
              <a:ext cx="476884" cy="481330"/>
            </a:xfrm>
            <a:custGeom>
              <a:avLst/>
              <a:gdLst/>
              <a:ahLst/>
              <a:cxnLst/>
              <a:rect l="l" t="t" r="r" b="b"/>
              <a:pathLst>
                <a:path w="476885" h="481329">
                  <a:moveTo>
                    <a:pt x="238408" y="0"/>
                  </a:moveTo>
                  <a:lnTo>
                    <a:pt x="190360" y="4888"/>
                  </a:lnTo>
                  <a:lnTo>
                    <a:pt x="145609" y="18908"/>
                  </a:lnTo>
                  <a:lnTo>
                    <a:pt x="105112" y="41092"/>
                  </a:lnTo>
                  <a:lnTo>
                    <a:pt x="69828" y="70472"/>
                  </a:lnTo>
                  <a:lnTo>
                    <a:pt x="40716" y="106081"/>
                  </a:lnTo>
                  <a:lnTo>
                    <a:pt x="18735" y="146951"/>
                  </a:lnTo>
                  <a:lnTo>
                    <a:pt x="4843" y="192116"/>
                  </a:lnTo>
                  <a:lnTo>
                    <a:pt x="0" y="240606"/>
                  </a:lnTo>
                  <a:lnTo>
                    <a:pt x="4843" y="289096"/>
                  </a:lnTo>
                  <a:lnTo>
                    <a:pt x="18735" y="334261"/>
                  </a:lnTo>
                  <a:lnTo>
                    <a:pt x="40716" y="375131"/>
                  </a:lnTo>
                  <a:lnTo>
                    <a:pt x="69828" y="410740"/>
                  </a:lnTo>
                  <a:lnTo>
                    <a:pt x="105112" y="440121"/>
                  </a:lnTo>
                  <a:lnTo>
                    <a:pt x="145609" y="462305"/>
                  </a:lnTo>
                  <a:lnTo>
                    <a:pt x="190360" y="476324"/>
                  </a:lnTo>
                  <a:lnTo>
                    <a:pt x="238408" y="481213"/>
                  </a:lnTo>
                  <a:lnTo>
                    <a:pt x="286455" y="476324"/>
                  </a:lnTo>
                  <a:lnTo>
                    <a:pt x="331207" y="462305"/>
                  </a:lnTo>
                  <a:lnTo>
                    <a:pt x="371704" y="440121"/>
                  </a:lnTo>
                  <a:lnTo>
                    <a:pt x="406987" y="410740"/>
                  </a:lnTo>
                  <a:lnTo>
                    <a:pt x="436099" y="375131"/>
                  </a:lnTo>
                  <a:lnTo>
                    <a:pt x="458080" y="334261"/>
                  </a:lnTo>
                  <a:lnTo>
                    <a:pt x="471971" y="289096"/>
                  </a:lnTo>
                  <a:lnTo>
                    <a:pt x="476815" y="240606"/>
                  </a:lnTo>
                  <a:lnTo>
                    <a:pt x="471971" y="192116"/>
                  </a:lnTo>
                  <a:lnTo>
                    <a:pt x="458080" y="146951"/>
                  </a:lnTo>
                  <a:lnTo>
                    <a:pt x="436099" y="106081"/>
                  </a:lnTo>
                  <a:lnTo>
                    <a:pt x="406987" y="70472"/>
                  </a:lnTo>
                  <a:lnTo>
                    <a:pt x="371704" y="41092"/>
                  </a:lnTo>
                  <a:lnTo>
                    <a:pt x="331207" y="18908"/>
                  </a:lnTo>
                  <a:lnTo>
                    <a:pt x="286455" y="4888"/>
                  </a:lnTo>
                  <a:lnTo>
                    <a:pt x="238408" y="0"/>
                  </a:lnTo>
                  <a:close/>
                </a:path>
              </a:pathLst>
            </a:custGeom>
            <a:solidFill>
              <a:srgbClr val="000000"/>
            </a:solidFill>
          </p:spPr>
          <p:txBody>
            <a:bodyPr wrap="square" lIns="0" tIns="0" rIns="0" bIns="0" rtlCol="0"/>
            <a:lstStyle/>
            <a:p>
              <a:endParaRPr sz="1266"/>
            </a:p>
          </p:txBody>
        </p:sp>
        <p:sp>
          <p:nvSpPr>
            <p:cNvPr id="16" name="object 16"/>
            <p:cNvSpPr/>
            <p:nvPr/>
          </p:nvSpPr>
          <p:spPr>
            <a:xfrm>
              <a:off x="4639819" y="3550964"/>
              <a:ext cx="476884" cy="481330"/>
            </a:xfrm>
            <a:custGeom>
              <a:avLst/>
              <a:gdLst/>
              <a:ahLst/>
              <a:cxnLst/>
              <a:rect l="l" t="t" r="r" b="b"/>
              <a:pathLst>
                <a:path w="476885"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17" name="object 17"/>
          <p:cNvGrpSpPr/>
          <p:nvPr/>
        </p:nvGrpSpPr>
        <p:grpSpPr>
          <a:xfrm>
            <a:off x="5279130" y="2485092"/>
            <a:ext cx="349151" cy="352276"/>
            <a:chOff x="5340629" y="3534352"/>
            <a:chExt cx="496570" cy="501015"/>
          </a:xfrm>
        </p:grpSpPr>
        <p:sp>
          <p:nvSpPr>
            <p:cNvPr id="18" name="object 18"/>
            <p:cNvSpPr/>
            <p:nvPr/>
          </p:nvSpPr>
          <p:spPr>
            <a:xfrm>
              <a:off x="5350367" y="3544091"/>
              <a:ext cx="476884" cy="481330"/>
            </a:xfrm>
            <a:custGeom>
              <a:avLst/>
              <a:gdLst/>
              <a:ahLst/>
              <a:cxnLst/>
              <a:rect l="l" t="t" r="r" b="b"/>
              <a:pathLst>
                <a:path w="476885" h="481329">
                  <a:moveTo>
                    <a:pt x="238406" y="0"/>
                  </a:moveTo>
                  <a:lnTo>
                    <a:pt x="190359" y="4888"/>
                  </a:lnTo>
                  <a:lnTo>
                    <a:pt x="145608" y="18908"/>
                  </a:lnTo>
                  <a:lnTo>
                    <a:pt x="105111" y="41092"/>
                  </a:lnTo>
                  <a:lnTo>
                    <a:pt x="69828" y="70472"/>
                  </a:lnTo>
                  <a:lnTo>
                    <a:pt x="40716" y="106081"/>
                  </a:lnTo>
                  <a:lnTo>
                    <a:pt x="18735" y="146951"/>
                  </a:lnTo>
                  <a:lnTo>
                    <a:pt x="4843" y="192116"/>
                  </a:lnTo>
                  <a:lnTo>
                    <a:pt x="0" y="240606"/>
                  </a:lnTo>
                  <a:lnTo>
                    <a:pt x="4843" y="289096"/>
                  </a:lnTo>
                  <a:lnTo>
                    <a:pt x="18735" y="334261"/>
                  </a:lnTo>
                  <a:lnTo>
                    <a:pt x="40716" y="375131"/>
                  </a:lnTo>
                  <a:lnTo>
                    <a:pt x="69828" y="410740"/>
                  </a:lnTo>
                  <a:lnTo>
                    <a:pt x="105111" y="440121"/>
                  </a:lnTo>
                  <a:lnTo>
                    <a:pt x="145608" y="462305"/>
                  </a:lnTo>
                  <a:lnTo>
                    <a:pt x="190359" y="476324"/>
                  </a:lnTo>
                  <a:lnTo>
                    <a:pt x="238406" y="481213"/>
                  </a:lnTo>
                  <a:lnTo>
                    <a:pt x="286454" y="476324"/>
                  </a:lnTo>
                  <a:lnTo>
                    <a:pt x="331206" y="462305"/>
                  </a:lnTo>
                  <a:lnTo>
                    <a:pt x="371703" y="440121"/>
                  </a:lnTo>
                  <a:lnTo>
                    <a:pt x="406987" y="410740"/>
                  </a:lnTo>
                  <a:lnTo>
                    <a:pt x="436098" y="375131"/>
                  </a:lnTo>
                  <a:lnTo>
                    <a:pt x="458079" y="334261"/>
                  </a:lnTo>
                  <a:lnTo>
                    <a:pt x="471971" y="289096"/>
                  </a:lnTo>
                  <a:lnTo>
                    <a:pt x="476815" y="240606"/>
                  </a:lnTo>
                  <a:lnTo>
                    <a:pt x="471971" y="192116"/>
                  </a:lnTo>
                  <a:lnTo>
                    <a:pt x="458079" y="146951"/>
                  </a:lnTo>
                  <a:lnTo>
                    <a:pt x="436098" y="106081"/>
                  </a:lnTo>
                  <a:lnTo>
                    <a:pt x="406987" y="70472"/>
                  </a:lnTo>
                  <a:lnTo>
                    <a:pt x="371703" y="41092"/>
                  </a:lnTo>
                  <a:lnTo>
                    <a:pt x="331206" y="18908"/>
                  </a:lnTo>
                  <a:lnTo>
                    <a:pt x="286454" y="4888"/>
                  </a:lnTo>
                  <a:lnTo>
                    <a:pt x="238406" y="0"/>
                  </a:lnTo>
                  <a:close/>
                </a:path>
              </a:pathLst>
            </a:custGeom>
            <a:solidFill>
              <a:srgbClr val="000000"/>
            </a:solidFill>
          </p:spPr>
          <p:txBody>
            <a:bodyPr wrap="square" lIns="0" tIns="0" rIns="0" bIns="0" rtlCol="0"/>
            <a:lstStyle/>
            <a:p>
              <a:endParaRPr sz="1266"/>
            </a:p>
          </p:txBody>
        </p:sp>
        <p:sp>
          <p:nvSpPr>
            <p:cNvPr id="19" name="object 19"/>
            <p:cNvSpPr/>
            <p:nvPr/>
          </p:nvSpPr>
          <p:spPr>
            <a:xfrm>
              <a:off x="5350367" y="3544091"/>
              <a:ext cx="476884" cy="481330"/>
            </a:xfrm>
            <a:custGeom>
              <a:avLst/>
              <a:gdLst/>
              <a:ahLst/>
              <a:cxnLst/>
              <a:rect l="l" t="t" r="r" b="b"/>
              <a:pathLst>
                <a:path w="476885"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20" name="object 20"/>
          <p:cNvGrpSpPr/>
          <p:nvPr/>
        </p:nvGrpSpPr>
        <p:grpSpPr>
          <a:xfrm>
            <a:off x="5778734" y="2485092"/>
            <a:ext cx="349151" cy="352276"/>
            <a:chOff x="6051178" y="3534352"/>
            <a:chExt cx="496570" cy="501015"/>
          </a:xfrm>
        </p:grpSpPr>
        <p:sp>
          <p:nvSpPr>
            <p:cNvPr id="21" name="object 21"/>
            <p:cNvSpPr/>
            <p:nvPr/>
          </p:nvSpPr>
          <p:spPr>
            <a:xfrm>
              <a:off x="6060917" y="3544091"/>
              <a:ext cx="476884" cy="481330"/>
            </a:xfrm>
            <a:custGeom>
              <a:avLst/>
              <a:gdLst/>
              <a:ahLst/>
              <a:cxnLst/>
              <a:rect l="l" t="t" r="r" b="b"/>
              <a:pathLst>
                <a:path w="476884" h="481329">
                  <a:moveTo>
                    <a:pt x="238408" y="0"/>
                  </a:moveTo>
                  <a:lnTo>
                    <a:pt x="190360" y="4888"/>
                  </a:lnTo>
                  <a:lnTo>
                    <a:pt x="145608" y="18908"/>
                  </a:lnTo>
                  <a:lnTo>
                    <a:pt x="105111" y="41092"/>
                  </a:lnTo>
                  <a:lnTo>
                    <a:pt x="69827" y="70472"/>
                  </a:lnTo>
                  <a:lnTo>
                    <a:pt x="40716" y="106081"/>
                  </a:lnTo>
                  <a:lnTo>
                    <a:pt x="18735" y="146951"/>
                  </a:lnTo>
                  <a:lnTo>
                    <a:pt x="4843" y="192116"/>
                  </a:lnTo>
                  <a:lnTo>
                    <a:pt x="0" y="240606"/>
                  </a:lnTo>
                  <a:lnTo>
                    <a:pt x="4843" y="289096"/>
                  </a:lnTo>
                  <a:lnTo>
                    <a:pt x="18735" y="334261"/>
                  </a:lnTo>
                  <a:lnTo>
                    <a:pt x="40716" y="375131"/>
                  </a:lnTo>
                  <a:lnTo>
                    <a:pt x="69827" y="410740"/>
                  </a:lnTo>
                  <a:lnTo>
                    <a:pt x="105111" y="440121"/>
                  </a:lnTo>
                  <a:lnTo>
                    <a:pt x="145608" y="462305"/>
                  </a:lnTo>
                  <a:lnTo>
                    <a:pt x="190360" y="476324"/>
                  </a:lnTo>
                  <a:lnTo>
                    <a:pt x="238408" y="481213"/>
                  </a:lnTo>
                  <a:lnTo>
                    <a:pt x="286455" y="476324"/>
                  </a:lnTo>
                  <a:lnTo>
                    <a:pt x="331206" y="462305"/>
                  </a:lnTo>
                  <a:lnTo>
                    <a:pt x="371703" y="440121"/>
                  </a:lnTo>
                  <a:lnTo>
                    <a:pt x="406986" y="410740"/>
                  </a:lnTo>
                  <a:lnTo>
                    <a:pt x="436098" y="375131"/>
                  </a:lnTo>
                  <a:lnTo>
                    <a:pt x="458079" y="334261"/>
                  </a:lnTo>
                  <a:lnTo>
                    <a:pt x="471971" y="289096"/>
                  </a:lnTo>
                  <a:lnTo>
                    <a:pt x="476815" y="240606"/>
                  </a:lnTo>
                  <a:lnTo>
                    <a:pt x="471971" y="192116"/>
                  </a:lnTo>
                  <a:lnTo>
                    <a:pt x="458079" y="146951"/>
                  </a:lnTo>
                  <a:lnTo>
                    <a:pt x="436098" y="106081"/>
                  </a:lnTo>
                  <a:lnTo>
                    <a:pt x="406986" y="70472"/>
                  </a:lnTo>
                  <a:lnTo>
                    <a:pt x="371703" y="41092"/>
                  </a:lnTo>
                  <a:lnTo>
                    <a:pt x="331206" y="18908"/>
                  </a:lnTo>
                  <a:lnTo>
                    <a:pt x="286455" y="4888"/>
                  </a:lnTo>
                  <a:lnTo>
                    <a:pt x="238408" y="0"/>
                  </a:lnTo>
                  <a:close/>
                </a:path>
              </a:pathLst>
            </a:custGeom>
            <a:solidFill>
              <a:srgbClr val="000000"/>
            </a:solidFill>
          </p:spPr>
          <p:txBody>
            <a:bodyPr wrap="square" lIns="0" tIns="0" rIns="0" bIns="0" rtlCol="0"/>
            <a:lstStyle/>
            <a:p>
              <a:endParaRPr sz="1266"/>
            </a:p>
          </p:txBody>
        </p:sp>
        <p:sp>
          <p:nvSpPr>
            <p:cNvPr id="22" name="object 22"/>
            <p:cNvSpPr/>
            <p:nvPr/>
          </p:nvSpPr>
          <p:spPr>
            <a:xfrm>
              <a:off x="6060917" y="3544091"/>
              <a:ext cx="476884" cy="481330"/>
            </a:xfrm>
            <a:custGeom>
              <a:avLst/>
              <a:gdLst/>
              <a:ahLst/>
              <a:cxnLst/>
              <a:rect l="l" t="t" r="r" b="b"/>
              <a:pathLst>
                <a:path w="476884"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23" name="object 23"/>
          <p:cNvGrpSpPr/>
          <p:nvPr/>
        </p:nvGrpSpPr>
        <p:grpSpPr>
          <a:xfrm>
            <a:off x="6256810" y="2485092"/>
            <a:ext cx="349151" cy="352276"/>
            <a:chOff x="6731107" y="3534352"/>
            <a:chExt cx="496570" cy="501015"/>
          </a:xfrm>
        </p:grpSpPr>
        <p:sp>
          <p:nvSpPr>
            <p:cNvPr id="24" name="object 24"/>
            <p:cNvSpPr/>
            <p:nvPr/>
          </p:nvSpPr>
          <p:spPr>
            <a:xfrm>
              <a:off x="6740846" y="3544091"/>
              <a:ext cx="476884" cy="481330"/>
            </a:xfrm>
            <a:custGeom>
              <a:avLst/>
              <a:gdLst/>
              <a:ahLst/>
              <a:cxnLst/>
              <a:rect l="l" t="t" r="r" b="b"/>
              <a:pathLst>
                <a:path w="476884" h="481329">
                  <a:moveTo>
                    <a:pt x="238408" y="0"/>
                  </a:moveTo>
                  <a:lnTo>
                    <a:pt x="190360" y="4888"/>
                  </a:lnTo>
                  <a:lnTo>
                    <a:pt x="145608" y="18908"/>
                  </a:lnTo>
                  <a:lnTo>
                    <a:pt x="105111" y="41092"/>
                  </a:lnTo>
                  <a:lnTo>
                    <a:pt x="69827" y="70472"/>
                  </a:lnTo>
                  <a:lnTo>
                    <a:pt x="40716" y="106081"/>
                  </a:lnTo>
                  <a:lnTo>
                    <a:pt x="18735" y="146951"/>
                  </a:lnTo>
                  <a:lnTo>
                    <a:pt x="4843" y="192116"/>
                  </a:lnTo>
                  <a:lnTo>
                    <a:pt x="0" y="240606"/>
                  </a:lnTo>
                  <a:lnTo>
                    <a:pt x="4843" y="289096"/>
                  </a:lnTo>
                  <a:lnTo>
                    <a:pt x="18735" y="334261"/>
                  </a:lnTo>
                  <a:lnTo>
                    <a:pt x="40716" y="375131"/>
                  </a:lnTo>
                  <a:lnTo>
                    <a:pt x="69827" y="410740"/>
                  </a:lnTo>
                  <a:lnTo>
                    <a:pt x="105111" y="440121"/>
                  </a:lnTo>
                  <a:lnTo>
                    <a:pt x="145608" y="462305"/>
                  </a:lnTo>
                  <a:lnTo>
                    <a:pt x="190360" y="476324"/>
                  </a:lnTo>
                  <a:lnTo>
                    <a:pt x="238408" y="481213"/>
                  </a:lnTo>
                  <a:lnTo>
                    <a:pt x="286455" y="476324"/>
                  </a:lnTo>
                  <a:lnTo>
                    <a:pt x="331206" y="462305"/>
                  </a:lnTo>
                  <a:lnTo>
                    <a:pt x="371703" y="440121"/>
                  </a:lnTo>
                  <a:lnTo>
                    <a:pt x="406986" y="410740"/>
                  </a:lnTo>
                  <a:lnTo>
                    <a:pt x="436098" y="375131"/>
                  </a:lnTo>
                  <a:lnTo>
                    <a:pt x="458079" y="334261"/>
                  </a:lnTo>
                  <a:lnTo>
                    <a:pt x="471971" y="289096"/>
                  </a:lnTo>
                  <a:lnTo>
                    <a:pt x="476815" y="240606"/>
                  </a:lnTo>
                  <a:lnTo>
                    <a:pt x="471971" y="192116"/>
                  </a:lnTo>
                  <a:lnTo>
                    <a:pt x="458079" y="146951"/>
                  </a:lnTo>
                  <a:lnTo>
                    <a:pt x="436098" y="106081"/>
                  </a:lnTo>
                  <a:lnTo>
                    <a:pt x="406986" y="70472"/>
                  </a:lnTo>
                  <a:lnTo>
                    <a:pt x="371703" y="41092"/>
                  </a:lnTo>
                  <a:lnTo>
                    <a:pt x="331206" y="18908"/>
                  </a:lnTo>
                  <a:lnTo>
                    <a:pt x="286455" y="4888"/>
                  </a:lnTo>
                  <a:lnTo>
                    <a:pt x="238408" y="0"/>
                  </a:lnTo>
                  <a:close/>
                </a:path>
              </a:pathLst>
            </a:custGeom>
            <a:solidFill>
              <a:srgbClr val="000000"/>
            </a:solidFill>
          </p:spPr>
          <p:txBody>
            <a:bodyPr wrap="square" lIns="0" tIns="0" rIns="0" bIns="0" rtlCol="0"/>
            <a:lstStyle/>
            <a:p>
              <a:endParaRPr sz="1266"/>
            </a:p>
          </p:txBody>
        </p:sp>
        <p:sp>
          <p:nvSpPr>
            <p:cNvPr id="25" name="object 25"/>
            <p:cNvSpPr/>
            <p:nvPr/>
          </p:nvSpPr>
          <p:spPr>
            <a:xfrm>
              <a:off x="6740846" y="3544091"/>
              <a:ext cx="476884" cy="481330"/>
            </a:xfrm>
            <a:custGeom>
              <a:avLst/>
              <a:gdLst/>
              <a:ahLst/>
              <a:cxnLst/>
              <a:rect l="l" t="t" r="r" b="b"/>
              <a:pathLst>
                <a:path w="476884"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26" name="object 26"/>
          <p:cNvGrpSpPr/>
          <p:nvPr/>
        </p:nvGrpSpPr>
        <p:grpSpPr>
          <a:xfrm>
            <a:off x="6756414" y="2480258"/>
            <a:ext cx="349151" cy="352276"/>
            <a:chOff x="7441655" y="3527477"/>
            <a:chExt cx="496570" cy="501015"/>
          </a:xfrm>
        </p:grpSpPr>
        <p:sp>
          <p:nvSpPr>
            <p:cNvPr id="27" name="object 27"/>
            <p:cNvSpPr/>
            <p:nvPr/>
          </p:nvSpPr>
          <p:spPr>
            <a:xfrm>
              <a:off x="7451394" y="3537216"/>
              <a:ext cx="476884" cy="481330"/>
            </a:xfrm>
            <a:custGeom>
              <a:avLst/>
              <a:gdLst/>
              <a:ahLst/>
              <a:cxnLst/>
              <a:rect l="l" t="t" r="r" b="b"/>
              <a:pathLst>
                <a:path w="476884" h="481329">
                  <a:moveTo>
                    <a:pt x="238406" y="0"/>
                  </a:moveTo>
                  <a:lnTo>
                    <a:pt x="190359" y="4888"/>
                  </a:lnTo>
                  <a:lnTo>
                    <a:pt x="145608" y="18908"/>
                  </a:lnTo>
                  <a:lnTo>
                    <a:pt x="105111" y="41092"/>
                  </a:lnTo>
                  <a:lnTo>
                    <a:pt x="69827" y="70472"/>
                  </a:lnTo>
                  <a:lnTo>
                    <a:pt x="40716" y="106081"/>
                  </a:lnTo>
                  <a:lnTo>
                    <a:pt x="18735" y="146951"/>
                  </a:lnTo>
                  <a:lnTo>
                    <a:pt x="4843" y="192116"/>
                  </a:lnTo>
                  <a:lnTo>
                    <a:pt x="0" y="240606"/>
                  </a:lnTo>
                  <a:lnTo>
                    <a:pt x="4843" y="289097"/>
                  </a:lnTo>
                  <a:lnTo>
                    <a:pt x="18735" y="334261"/>
                  </a:lnTo>
                  <a:lnTo>
                    <a:pt x="40716" y="375132"/>
                  </a:lnTo>
                  <a:lnTo>
                    <a:pt x="69827" y="410741"/>
                  </a:lnTo>
                  <a:lnTo>
                    <a:pt x="105111" y="440121"/>
                  </a:lnTo>
                  <a:lnTo>
                    <a:pt x="145608" y="462305"/>
                  </a:lnTo>
                  <a:lnTo>
                    <a:pt x="190359" y="476324"/>
                  </a:lnTo>
                  <a:lnTo>
                    <a:pt x="238406" y="481213"/>
                  </a:lnTo>
                  <a:lnTo>
                    <a:pt x="286454" y="476324"/>
                  </a:lnTo>
                  <a:lnTo>
                    <a:pt x="331205" y="462305"/>
                  </a:lnTo>
                  <a:lnTo>
                    <a:pt x="371702" y="440121"/>
                  </a:lnTo>
                  <a:lnTo>
                    <a:pt x="406986" y="410741"/>
                  </a:lnTo>
                  <a:lnTo>
                    <a:pt x="436098" y="375132"/>
                  </a:lnTo>
                  <a:lnTo>
                    <a:pt x="458079" y="334261"/>
                  </a:lnTo>
                  <a:lnTo>
                    <a:pt x="471971" y="289097"/>
                  </a:lnTo>
                  <a:lnTo>
                    <a:pt x="476815" y="240606"/>
                  </a:lnTo>
                  <a:lnTo>
                    <a:pt x="471971" y="192116"/>
                  </a:lnTo>
                  <a:lnTo>
                    <a:pt x="458079" y="146951"/>
                  </a:lnTo>
                  <a:lnTo>
                    <a:pt x="436098" y="106081"/>
                  </a:lnTo>
                  <a:lnTo>
                    <a:pt x="406986" y="70472"/>
                  </a:lnTo>
                  <a:lnTo>
                    <a:pt x="371702" y="41092"/>
                  </a:lnTo>
                  <a:lnTo>
                    <a:pt x="331205" y="18908"/>
                  </a:lnTo>
                  <a:lnTo>
                    <a:pt x="286454" y="4888"/>
                  </a:lnTo>
                  <a:lnTo>
                    <a:pt x="238406" y="0"/>
                  </a:lnTo>
                  <a:close/>
                </a:path>
              </a:pathLst>
            </a:custGeom>
            <a:solidFill>
              <a:srgbClr val="000000"/>
            </a:solidFill>
          </p:spPr>
          <p:txBody>
            <a:bodyPr wrap="square" lIns="0" tIns="0" rIns="0" bIns="0" rtlCol="0"/>
            <a:lstStyle/>
            <a:p>
              <a:endParaRPr sz="1266"/>
            </a:p>
          </p:txBody>
        </p:sp>
        <p:sp>
          <p:nvSpPr>
            <p:cNvPr id="28" name="object 28"/>
            <p:cNvSpPr/>
            <p:nvPr/>
          </p:nvSpPr>
          <p:spPr>
            <a:xfrm>
              <a:off x="7451394" y="3537216"/>
              <a:ext cx="476884" cy="481330"/>
            </a:xfrm>
            <a:custGeom>
              <a:avLst/>
              <a:gdLst/>
              <a:ahLst/>
              <a:cxnLst/>
              <a:rect l="l" t="t" r="r" b="b"/>
              <a:pathLst>
                <a:path w="476884"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29" name="object 29"/>
          <p:cNvGrpSpPr/>
          <p:nvPr/>
        </p:nvGrpSpPr>
        <p:grpSpPr>
          <a:xfrm>
            <a:off x="7256018" y="2480258"/>
            <a:ext cx="349151" cy="352276"/>
            <a:chOff x="8152204" y="3527477"/>
            <a:chExt cx="496570" cy="501015"/>
          </a:xfrm>
        </p:grpSpPr>
        <p:sp>
          <p:nvSpPr>
            <p:cNvPr id="30" name="object 30"/>
            <p:cNvSpPr/>
            <p:nvPr/>
          </p:nvSpPr>
          <p:spPr>
            <a:xfrm>
              <a:off x="8161943" y="3537216"/>
              <a:ext cx="476884" cy="481330"/>
            </a:xfrm>
            <a:custGeom>
              <a:avLst/>
              <a:gdLst/>
              <a:ahLst/>
              <a:cxnLst/>
              <a:rect l="l" t="t" r="r" b="b"/>
              <a:pathLst>
                <a:path w="476884" h="481329">
                  <a:moveTo>
                    <a:pt x="238406" y="0"/>
                  </a:moveTo>
                  <a:lnTo>
                    <a:pt x="190359" y="4888"/>
                  </a:lnTo>
                  <a:lnTo>
                    <a:pt x="145607" y="18908"/>
                  </a:lnTo>
                  <a:lnTo>
                    <a:pt x="105110" y="41092"/>
                  </a:lnTo>
                  <a:lnTo>
                    <a:pt x="69827" y="70472"/>
                  </a:lnTo>
                  <a:lnTo>
                    <a:pt x="40715" y="106081"/>
                  </a:lnTo>
                  <a:lnTo>
                    <a:pt x="18735" y="146951"/>
                  </a:lnTo>
                  <a:lnTo>
                    <a:pt x="4843" y="192116"/>
                  </a:lnTo>
                  <a:lnTo>
                    <a:pt x="0" y="240606"/>
                  </a:lnTo>
                  <a:lnTo>
                    <a:pt x="4843" y="289097"/>
                  </a:lnTo>
                  <a:lnTo>
                    <a:pt x="18735" y="334261"/>
                  </a:lnTo>
                  <a:lnTo>
                    <a:pt x="40715" y="375132"/>
                  </a:lnTo>
                  <a:lnTo>
                    <a:pt x="69827" y="410741"/>
                  </a:lnTo>
                  <a:lnTo>
                    <a:pt x="105110" y="440121"/>
                  </a:lnTo>
                  <a:lnTo>
                    <a:pt x="145607" y="462305"/>
                  </a:lnTo>
                  <a:lnTo>
                    <a:pt x="190359" y="476324"/>
                  </a:lnTo>
                  <a:lnTo>
                    <a:pt x="238406" y="481213"/>
                  </a:lnTo>
                  <a:lnTo>
                    <a:pt x="286453" y="476324"/>
                  </a:lnTo>
                  <a:lnTo>
                    <a:pt x="331205" y="462305"/>
                  </a:lnTo>
                  <a:lnTo>
                    <a:pt x="371702" y="440121"/>
                  </a:lnTo>
                  <a:lnTo>
                    <a:pt x="406986" y="410741"/>
                  </a:lnTo>
                  <a:lnTo>
                    <a:pt x="436098" y="375132"/>
                  </a:lnTo>
                  <a:lnTo>
                    <a:pt x="458079" y="334261"/>
                  </a:lnTo>
                  <a:lnTo>
                    <a:pt x="471971" y="289097"/>
                  </a:lnTo>
                  <a:lnTo>
                    <a:pt x="476815" y="240606"/>
                  </a:lnTo>
                  <a:lnTo>
                    <a:pt x="471971" y="192116"/>
                  </a:lnTo>
                  <a:lnTo>
                    <a:pt x="458079" y="146951"/>
                  </a:lnTo>
                  <a:lnTo>
                    <a:pt x="436098" y="106081"/>
                  </a:lnTo>
                  <a:lnTo>
                    <a:pt x="406986" y="70472"/>
                  </a:lnTo>
                  <a:lnTo>
                    <a:pt x="371702" y="41092"/>
                  </a:lnTo>
                  <a:lnTo>
                    <a:pt x="331205" y="18908"/>
                  </a:lnTo>
                  <a:lnTo>
                    <a:pt x="286453" y="4888"/>
                  </a:lnTo>
                  <a:lnTo>
                    <a:pt x="238406" y="0"/>
                  </a:lnTo>
                  <a:close/>
                </a:path>
              </a:pathLst>
            </a:custGeom>
            <a:solidFill>
              <a:srgbClr val="000000"/>
            </a:solidFill>
          </p:spPr>
          <p:txBody>
            <a:bodyPr wrap="square" lIns="0" tIns="0" rIns="0" bIns="0" rtlCol="0"/>
            <a:lstStyle/>
            <a:p>
              <a:endParaRPr sz="1266"/>
            </a:p>
          </p:txBody>
        </p:sp>
        <p:sp>
          <p:nvSpPr>
            <p:cNvPr id="31" name="object 31"/>
            <p:cNvSpPr/>
            <p:nvPr/>
          </p:nvSpPr>
          <p:spPr>
            <a:xfrm>
              <a:off x="8161943" y="3537216"/>
              <a:ext cx="476884" cy="481330"/>
            </a:xfrm>
            <a:custGeom>
              <a:avLst/>
              <a:gdLst/>
              <a:ahLst/>
              <a:cxnLst/>
              <a:rect l="l" t="t" r="r" b="b"/>
              <a:pathLst>
                <a:path w="476884"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32" name="object 32"/>
          <p:cNvGrpSpPr/>
          <p:nvPr/>
        </p:nvGrpSpPr>
        <p:grpSpPr>
          <a:xfrm>
            <a:off x="5753984" y="3235914"/>
            <a:ext cx="373707" cy="352276"/>
            <a:chOff x="6015976" y="4602188"/>
            <a:chExt cx="531495" cy="501015"/>
          </a:xfrm>
        </p:grpSpPr>
        <p:sp>
          <p:nvSpPr>
            <p:cNvPr id="33" name="object 33"/>
            <p:cNvSpPr/>
            <p:nvPr/>
          </p:nvSpPr>
          <p:spPr>
            <a:xfrm>
              <a:off x="6025715" y="4611927"/>
              <a:ext cx="512445" cy="481330"/>
            </a:xfrm>
            <a:custGeom>
              <a:avLst/>
              <a:gdLst/>
              <a:ahLst/>
              <a:cxnLst/>
              <a:rect l="l" t="t" r="r" b="b"/>
              <a:pathLst>
                <a:path w="512445" h="481329">
                  <a:moveTo>
                    <a:pt x="256007" y="0"/>
                  </a:moveTo>
                  <a:lnTo>
                    <a:pt x="0" y="481213"/>
                  </a:lnTo>
                  <a:lnTo>
                    <a:pt x="512017" y="481213"/>
                  </a:lnTo>
                  <a:lnTo>
                    <a:pt x="256007" y="0"/>
                  </a:lnTo>
                  <a:close/>
                </a:path>
              </a:pathLst>
            </a:custGeom>
            <a:solidFill>
              <a:srgbClr val="7F7F7F"/>
            </a:solidFill>
          </p:spPr>
          <p:txBody>
            <a:bodyPr wrap="square" lIns="0" tIns="0" rIns="0" bIns="0" rtlCol="0"/>
            <a:lstStyle/>
            <a:p>
              <a:endParaRPr sz="1266"/>
            </a:p>
          </p:txBody>
        </p:sp>
        <p:sp>
          <p:nvSpPr>
            <p:cNvPr id="34" name="object 34"/>
            <p:cNvSpPr/>
            <p:nvPr/>
          </p:nvSpPr>
          <p:spPr>
            <a:xfrm>
              <a:off x="6025715" y="4611927"/>
              <a:ext cx="512445" cy="481330"/>
            </a:xfrm>
            <a:custGeom>
              <a:avLst/>
              <a:gdLst/>
              <a:ahLst/>
              <a:cxnLst/>
              <a:rect l="l" t="t" r="r" b="b"/>
              <a:pathLst>
                <a:path w="512445" h="481329">
                  <a:moveTo>
                    <a:pt x="0" y="481213"/>
                  </a:moveTo>
                  <a:lnTo>
                    <a:pt x="256007" y="0"/>
                  </a:lnTo>
                  <a:lnTo>
                    <a:pt x="512015" y="481213"/>
                  </a:lnTo>
                  <a:lnTo>
                    <a:pt x="0" y="481213"/>
                  </a:lnTo>
                  <a:close/>
                </a:path>
              </a:pathLst>
            </a:custGeom>
            <a:ln w="19477">
              <a:solidFill>
                <a:srgbClr val="000000"/>
              </a:solidFill>
            </a:ln>
          </p:spPr>
          <p:txBody>
            <a:bodyPr wrap="square" lIns="0" tIns="0" rIns="0" bIns="0" rtlCol="0"/>
            <a:lstStyle/>
            <a:p>
              <a:endParaRPr sz="1266"/>
            </a:p>
          </p:txBody>
        </p:sp>
      </p:grpSp>
      <p:grpSp>
        <p:nvGrpSpPr>
          <p:cNvPr id="35" name="object 35"/>
          <p:cNvGrpSpPr/>
          <p:nvPr/>
        </p:nvGrpSpPr>
        <p:grpSpPr>
          <a:xfrm>
            <a:off x="6232059" y="3235914"/>
            <a:ext cx="373707" cy="352276"/>
            <a:chOff x="6695905" y="4602188"/>
            <a:chExt cx="531495" cy="501015"/>
          </a:xfrm>
        </p:grpSpPr>
        <p:sp>
          <p:nvSpPr>
            <p:cNvPr id="36" name="object 36"/>
            <p:cNvSpPr/>
            <p:nvPr/>
          </p:nvSpPr>
          <p:spPr>
            <a:xfrm>
              <a:off x="6705644" y="4611927"/>
              <a:ext cx="512445" cy="481330"/>
            </a:xfrm>
            <a:custGeom>
              <a:avLst/>
              <a:gdLst/>
              <a:ahLst/>
              <a:cxnLst/>
              <a:rect l="l" t="t" r="r" b="b"/>
              <a:pathLst>
                <a:path w="512445" h="481329">
                  <a:moveTo>
                    <a:pt x="256009" y="0"/>
                  </a:moveTo>
                  <a:lnTo>
                    <a:pt x="0" y="481213"/>
                  </a:lnTo>
                  <a:lnTo>
                    <a:pt x="512017" y="481213"/>
                  </a:lnTo>
                  <a:lnTo>
                    <a:pt x="256009" y="0"/>
                  </a:lnTo>
                  <a:close/>
                </a:path>
              </a:pathLst>
            </a:custGeom>
            <a:solidFill>
              <a:srgbClr val="7F7F7F"/>
            </a:solidFill>
          </p:spPr>
          <p:txBody>
            <a:bodyPr wrap="square" lIns="0" tIns="0" rIns="0" bIns="0" rtlCol="0"/>
            <a:lstStyle/>
            <a:p>
              <a:endParaRPr sz="1266"/>
            </a:p>
          </p:txBody>
        </p:sp>
        <p:sp>
          <p:nvSpPr>
            <p:cNvPr id="37" name="object 37"/>
            <p:cNvSpPr/>
            <p:nvPr/>
          </p:nvSpPr>
          <p:spPr>
            <a:xfrm>
              <a:off x="6705644" y="4611927"/>
              <a:ext cx="512445" cy="481330"/>
            </a:xfrm>
            <a:custGeom>
              <a:avLst/>
              <a:gdLst/>
              <a:ahLst/>
              <a:cxnLst/>
              <a:rect l="l" t="t" r="r" b="b"/>
              <a:pathLst>
                <a:path w="512445" h="481329">
                  <a:moveTo>
                    <a:pt x="0" y="481213"/>
                  </a:moveTo>
                  <a:lnTo>
                    <a:pt x="256007" y="0"/>
                  </a:lnTo>
                  <a:lnTo>
                    <a:pt x="512015" y="481213"/>
                  </a:lnTo>
                  <a:lnTo>
                    <a:pt x="0" y="481213"/>
                  </a:lnTo>
                  <a:close/>
                </a:path>
              </a:pathLst>
            </a:custGeom>
            <a:ln w="19477">
              <a:solidFill>
                <a:srgbClr val="000000"/>
              </a:solidFill>
            </a:ln>
          </p:spPr>
          <p:txBody>
            <a:bodyPr wrap="square" lIns="0" tIns="0" rIns="0" bIns="0" rtlCol="0"/>
            <a:lstStyle/>
            <a:p>
              <a:endParaRPr sz="1266"/>
            </a:p>
          </p:txBody>
        </p:sp>
      </p:grpSp>
      <p:grpSp>
        <p:nvGrpSpPr>
          <p:cNvPr id="38" name="object 38"/>
          <p:cNvGrpSpPr/>
          <p:nvPr/>
        </p:nvGrpSpPr>
        <p:grpSpPr>
          <a:xfrm>
            <a:off x="6731664" y="3231081"/>
            <a:ext cx="373707" cy="352276"/>
            <a:chOff x="7406454" y="4595314"/>
            <a:chExt cx="531495" cy="501015"/>
          </a:xfrm>
        </p:grpSpPr>
        <p:sp>
          <p:nvSpPr>
            <p:cNvPr id="39" name="object 39"/>
            <p:cNvSpPr/>
            <p:nvPr/>
          </p:nvSpPr>
          <p:spPr>
            <a:xfrm>
              <a:off x="7416192" y="4605052"/>
              <a:ext cx="512445" cy="481330"/>
            </a:xfrm>
            <a:custGeom>
              <a:avLst/>
              <a:gdLst/>
              <a:ahLst/>
              <a:cxnLst/>
              <a:rect l="l" t="t" r="r" b="b"/>
              <a:pathLst>
                <a:path w="512445" h="481329">
                  <a:moveTo>
                    <a:pt x="256009" y="0"/>
                  </a:moveTo>
                  <a:lnTo>
                    <a:pt x="0" y="481213"/>
                  </a:lnTo>
                  <a:lnTo>
                    <a:pt x="512017" y="481213"/>
                  </a:lnTo>
                  <a:lnTo>
                    <a:pt x="256009" y="0"/>
                  </a:lnTo>
                  <a:close/>
                </a:path>
              </a:pathLst>
            </a:custGeom>
            <a:solidFill>
              <a:srgbClr val="7F7F7F"/>
            </a:solidFill>
          </p:spPr>
          <p:txBody>
            <a:bodyPr wrap="square" lIns="0" tIns="0" rIns="0" bIns="0" rtlCol="0"/>
            <a:lstStyle/>
            <a:p>
              <a:endParaRPr sz="1266"/>
            </a:p>
          </p:txBody>
        </p:sp>
        <p:sp>
          <p:nvSpPr>
            <p:cNvPr id="40" name="object 40"/>
            <p:cNvSpPr/>
            <p:nvPr/>
          </p:nvSpPr>
          <p:spPr>
            <a:xfrm>
              <a:off x="7416192" y="4605052"/>
              <a:ext cx="512445" cy="481330"/>
            </a:xfrm>
            <a:custGeom>
              <a:avLst/>
              <a:gdLst/>
              <a:ahLst/>
              <a:cxnLst/>
              <a:rect l="l" t="t" r="r" b="b"/>
              <a:pathLst>
                <a:path w="512445" h="481329">
                  <a:moveTo>
                    <a:pt x="0" y="481213"/>
                  </a:moveTo>
                  <a:lnTo>
                    <a:pt x="256007" y="0"/>
                  </a:lnTo>
                  <a:lnTo>
                    <a:pt x="512015" y="481213"/>
                  </a:lnTo>
                  <a:lnTo>
                    <a:pt x="0" y="481213"/>
                  </a:lnTo>
                  <a:close/>
                </a:path>
              </a:pathLst>
            </a:custGeom>
            <a:ln w="19477">
              <a:solidFill>
                <a:srgbClr val="000000"/>
              </a:solidFill>
            </a:ln>
          </p:spPr>
          <p:txBody>
            <a:bodyPr wrap="square" lIns="0" tIns="0" rIns="0" bIns="0" rtlCol="0"/>
            <a:lstStyle/>
            <a:p>
              <a:endParaRPr sz="1266"/>
            </a:p>
          </p:txBody>
        </p:sp>
      </p:grpSp>
      <p:grpSp>
        <p:nvGrpSpPr>
          <p:cNvPr id="41" name="object 41"/>
          <p:cNvGrpSpPr/>
          <p:nvPr/>
        </p:nvGrpSpPr>
        <p:grpSpPr>
          <a:xfrm>
            <a:off x="7256019" y="3231081"/>
            <a:ext cx="373707" cy="352276"/>
            <a:chOff x="8152204" y="4595314"/>
            <a:chExt cx="531495" cy="501015"/>
          </a:xfrm>
        </p:grpSpPr>
        <p:sp>
          <p:nvSpPr>
            <p:cNvPr id="42" name="object 42"/>
            <p:cNvSpPr/>
            <p:nvPr/>
          </p:nvSpPr>
          <p:spPr>
            <a:xfrm>
              <a:off x="8161943" y="4605052"/>
              <a:ext cx="512445" cy="481330"/>
            </a:xfrm>
            <a:custGeom>
              <a:avLst/>
              <a:gdLst/>
              <a:ahLst/>
              <a:cxnLst/>
              <a:rect l="l" t="t" r="r" b="b"/>
              <a:pathLst>
                <a:path w="512445" h="481329">
                  <a:moveTo>
                    <a:pt x="256006" y="0"/>
                  </a:moveTo>
                  <a:lnTo>
                    <a:pt x="0" y="481213"/>
                  </a:lnTo>
                  <a:lnTo>
                    <a:pt x="512014" y="481213"/>
                  </a:lnTo>
                  <a:lnTo>
                    <a:pt x="256006" y="0"/>
                  </a:lnTo>
                  <a:close/>
                </a:path>
              </a:pathLst>
            </a:custGeom>
            <a:solidFill>
              <a:srgbClr val="7F7F7F"/>
            </a:solidFill>
          </p:spPr>
          <p:txBody>
            <a:bodyPr wrap="square" lIns="0" tIns="0" rIns="0" bIns="0" rtlCol="0"/>
            <a:lstStyle/>
            <a:p>
              <a:endParaRPr sz="1266"/>
            </a:p>
          </p:txBody>
        </p:sp>
        <p:sp>
          <p:nvSpPr>
            <p:cNvPr id="43" name="object 43"/>
            <p:cNvSpPr/>
            <p:nvPr/>
          </p:nvSpPr>
          <p:spPr>
            <a:xfrm>
              <a:off x="8161943" y="4605052"/>
              <a:ext cx="512445" cy="481330"/>
            </a:xfrm>
            <a:custGeom>
              <a:avLst/>
              <a:gdLst/>
              <a:ahLst/>
              <a:cxnLst/>
              <a:rect l="l" t="t" r="r" b="b"/>
              <a:pathLst>
                <a:path w="512445" h="481329">
                  <a:moveTo>
                    <a:pt x="0" y="481213"/>
                  </a:moveTo>
                  <a:lnTo>
                    <a:pt x="256007" y="0"/>
                  </a:lnTo>
                  <a:lnTo>
                    <a:pt x="512015" y="481213"/>
                  </a:lnTo>
                  <a:lnTo>
                    <a:pt x="0" y="481213"/>
                  </a:lnTo>
                  <a:close/>
                </a:path>
              </a:pathLst>
            </a:custGeom>
            <a:ln w="19477">
              <a:solidFill>
                <a:srgbClr val="000000"/>
              </a:solidFill>
            </a:ln>
          </p:spPr>
          <p:txBody>
            <a:bodyPr wrap="square" lIns="0" tIns="0" rIns="0" bIns="0" rtlCol="0"/>
            <a:lstStyle/>
            <a:p>
              <a:endParaRPr sz="1266"/>
            </a:p>
          </p:txBody>
        </p:sp>
      </p:grpSp>
      <p:grpSp>
        <p:nvGrpSpPr>
          <p:cNvPr id="44" name="object 44"/>
          <p:cNvGrpSpPr/>
          <p:nvPr/>
        </p:nvGrpSpPr>
        <p:grpSpPr>
          <a:xfrm>
            <a:off x="2764805" y="3245580"/>
            <a:ext cx="349151" cy="352276"/>
            <a:chOff x="1764701" y="4615935"/>
            <a:chExt cx="496570" cy="501015"/>
          </a:xfrm>
        </p:grpSpPr>
        <p:sp>
          <p:nvSpPr>
            <p:cNvPr id="45" name="object 45"/>
            <p:cNvSpPr/>
            <p:nvPr/>
          </p:nvSpPr>
          <p:spPr>
            <a:xfrm>
              <a:off x="1774440" y="4625674"/>
              <a:ext cx="476884" cy="481330"/>
            </a:xfrm>
            <a:custGeom>
              <a:avLst/>
              <a:gdLst/>
              <a:ahLst/>
              <a:cxnLst/>
              <a:rect l="l" t="t" r="r" b="b"/>
              <a:pathLst>
                <a:path w="476885" h="481329">
                  <a:moveTo>
                    <a:pt x="238408" y="0"/>
                  </a:moveTo>
                  <a:lnTo>
                    <a:pt x="190360" y="4888"/>
                  </a:lnTo>
                  <a:lnTo>
                    <a:pt x="145609" y="18908"/>
                  </a:lnTo>
                  <a:lnTo>
                    <a:pt x="105112" y="41092"/>
                  </a:lnTo>
                  <a:lnTo>
                    <a:pt x="69828" y="70472"/>
                  </a:lnTo>
                  <a:lnTo>
                    <a:pt x="40716" y="106081"/>
                  </a:lnTo>
                  <a:lnTo>
                    <a:pt x="18735" y="146951"/>
                  </a:lnTo>
                  <a:lnTo>
                    <a:pt x="4843" y="192116"/>
                  </a:lnTo>
                  <a:lnTo>
                    <a:pt x="0" y="240606"/>
                  </a:lnTo>
                  <a:lnTo>
                    <a:pt x="4843" y="289097"/>
                  </a:lnTo>
                  <a:lnTo>
                    <a:pt x="18735" y="334261"/>
                  </a:lnTo>
                  <a:lnTo>
                    <a:pt x="40716" y="375132"/>
                  </a:lnTo>
                  <a:lnTo>
                    <a:pt x="69828" y="410741"/>
                  </a:lnTo>
                  <a:lnTo>
                    <a:pt x="105112" y="440121"/>
                  </a:lnTo>
                  <a:lnTo>
                    <a:pt x="145609" y="462305"/>
                  </a:lnTo>
                  <a:lnTo>
                    <a:pt x="190360" y="476324"/>
                  </a:lnTo>
                  <a:lnTo>
                    <a:pt x="238408" y="481213"/>
                  </a:lnTo>
                  <a:lnTo>
                    <a:pt x="286455" y="476324"/>
                  </a:lnTo>
                  <a:lnTo>
                    <a:pt x="331206" y="462305"/>
                  </a:lnTo>
                  <a:lnTo>
                    <a:pt x="371703" y="440121"/>
                  </a:lnTo>
                  <a:lnTo>
                    <a:pt x="406987" y="410741"/>
                  </a:lnTo>
                  <a:lnTo>
                    <a:pt x="436098" y="375132"/>
                  </a:lnTo>
                  <a:lnTo>
                    <a:pt x="458079" y="334261"/>
                  </a:lnTo>
                  <a:lnTo>
                    <a:pt x="471971" y="289097"/>
                  </a:lnTo>
                  <a:lnTo>
                    <a:pt x="476815" y="240606"/>
                  </a:lnTo>
                  <a:lnTo>
                    <a:pt x="471971" y="192116"/>
                  </a:lnTo>
                  <a:lnTo>
                    <a:pt x="458079" y="146951"/>
                  </a:lnTo>
                  <a:lnTo>
                    <a:pt x="436098" y="106081"/>
                  </a:lnTo>
                  <a:lnTo>
                    <a:pt x="406987" y="70472"/>
                  </a:lnTo>
                  <a:lnTo>
                    <a:pt x="371703" y="41092"/>
                  </a:lnTo>
                  <a:lnTo>
                    <a:pt x="331206" y="18908"/>
                  </a:lnTo>
                  <a:lnTo>
                    <a:pt x="286455" y="4888"/>
                  </a:lnTo>
                  <a:lnTo>
                    <a:pt x="238408" y="0"/>
                  </a:lnTo>
                  <a:close/>
                </a:path>
              </a:pathLst>
            </a:custGeom>
            <a:solidFill>
              <a:srgbClr val="000000"/>
            </a:solidFill>
          </p:spPr>
          <p:txBody>
            <a:bodyPr wrap="square" lIns="0" tIns="0" rIns="0" bIns="0" rtlCol="0"/>
            <a:lstStyle/>
            <a:p>
              <a:endParaRPr sz="1266"/>
            </a:p>
          </p:txBody>
        </p:sp>
        <p:sp>
          <p:nvSpPr>
            <p:cNvPr id="46" name="object 46"/>
            <p:cNvSpPr/>
            <p:nvPr/>
          </p:nvSpPr>
          <p:spPr>
            <a:xfrm>
              <a:off x="1774440" y="4625674"/>
              <a:ext cx="476884" cy="481330"/>
            </a:xfrm>
            <a:custGeom>
              <a:avLst/>
              <a:gdLst/>
              <a:ahLst/>
              <a:cxnLst/>
              <a:rect l="l" t="t" r="r" b="b"/>
              <a:pathLst>
                <a:path w="476885"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47" name="object 47"/>
          <p:cNvGrpSpPr/>
          <p:nvPr/>
        </p:nvGrpSpPr>
        <p:grpSpPr>
          <a:xfrm>
            <a:off x="3277426" y="3245580"/>
            <a:ext cx="349151" cy="352276"/>
            <a:chOff x="2493762" y="4615935"/>
            <a:chExt cx="496570" cy="501015"/>
          </a:xfrm>
        </p:grpSpPr>
        <p:sp>
          <p:nvSpPr>
            <p:cNvPr id="48" name="object 48"/>
            <p:cNvSpPr/>
            <p:nvPr/>
          </p:nvSpPr>
          <p:spPr>
            <a:xfrm>
              <a:off x="2503501" y="4625674"/>
              <a:ext cx="476884" cy="481330"/>
            </a:xfrm>
            <a:custGeom>
              <a:avLst/>
              <a:gdLst/>
              <a:ahLst/>
              <a:cxnLst/>
              <a:rect l="l" t="t" r="r" b="b"/>
              <a:pathLst>
                <a:path w="476885" h="481329">
                  <a:moveTo>
                    <a:pt x="238408" y="0"/>
                  </a:moveTo>
                  <a:lnTo>
                    <a:pt x="190360" y="4888"/>
                  </a:lnTo>
                  <a:lnTo>
                    <a:pt x="145609" y="18908"/>
                  </a:lnTo>
                  <a:lnTo>
                    <a:pt x="105112" y="41092"/>
                  </a:lnTo>
                  <a:lnTo>
                    <a:pt x="69828" y="70472"/>
                  </a:lnTo>
                  <a:lnTo>
                    <a:pt x="40716" y="106081"/>
                  </a:lnTo>
                  <a:lnTo>
                    <a:pt x="18735" y="146951"/>
                  </a:lnTo>
                  <a:lnTo>
                    <a:pt x="4843" y="192116"/>
                  </a:lnTo>
                  <a:lnTo>
                    <a:pt x="0" y="240606"/>
                  </a:lnTo>
                  <a:lnTo>
                    <a:pt x="4843" y="289097"/>
                  </a:lnTo>
                  <a:lnTo>
                    <a:pt x="18735" y="334261"/>
                  </a:lnTo>
                  <a:lnTo>
                    <a:pt x="40716" y="375132"/>
                  </a:lnTo>
                  <a:lnTo>
                    <a:pt x="69828" y="410741"/>
                  </a:lnTo>
                  <a:lnTo>
                    <a:pt x="105112" y="440121"/>
                  </a:lnTo>
                  <a:lnTo>
                    <a:pt x="145609" y="462305"/>
                  </a:lnTo>
                  <a:lnTo>
                    <a:pt x="190360" y="476324"/>
                  </a:lnTo>
                  <a:lnTo>
                    <a:pt x="238408" y="481213"/>
                  </a:lnTo>
                  <a:lnTo>
                    <a:pt x="286455" y="476324"/>
                  </a:lnTo>
                  <a:lnTo>
                    <a:pt x="331206" y="462305"/>
                  </a:lnTo>
                  <a:lnTo>
                    <a:pt x="371703" y="440121"/>
                  </a:lnTo>
                  <a:lnTo>
                    <a:pt x="406987" y="410741"/>
                  </a:lnTo>
                  <a:lnTo>
                    <a:pt x="436098" y="375132"/>
                  </a:lnTo>
                  <a:lnTo>
                    <a:pt x="458079" y="334261"/>
                  </a:lnTo>
                  <a:lnTo>
                    <a:pt x="471971" y="289097"/>
                  </a:lnTo>
                  <a:lnTo>
                    <a:pt x="476815" y="240606"/>
                  </a:lnTo>
                  <a:lnTo>
                    <a:pt x="471971" y="192116"/>
                  </a:lnTo>
                  <a:lnTo>
                    <a:pt x="458079" y="146951"/>
                  </a:lnTo>
                  <a:lnTo>
                    <a:pt x="436098" y="106081"/>
                  </a:lnTo>
                  <a:lnTo>
                    <a:pt x="406987" y="70472"/>
                  </a:lnTo>
                  <a:lnTo>
                    <a:pt x="371703" y="41092"/>
                  </a:lnTo>
                  <a:lnTo>
                    <a:pt x="331206" y="18908"/>
                  </a:lnTo>
                  <a:lnTo>
                    <a:pt x="286455" y="4888"/>
                  </a:lnTo>
                  <a:lnTo>
                    <a:pt x="238408" y="0"/>
                  </a:lnTo>
                  <a:close/>
                </a:path>
              </a:pathLst>
            </a:custGeom>
            <a:solidFill>
              <a:srgbClr val="000000"/>
            </a:solidFill>
          </p:spPr>
          <p:txBody>
            <a:bodyPr wrap="square" lIns="0" tIns="0" rIns="0" bIns="0" rtlCol="0"/>
            <a:lstStyle/>
            <a:p>
              <a:endParaRPr sz="1266"/>
            </a:p>
          </p:txBody>
        </p:sp>
        <p:sp>
          <p:nvSpPr>
            <p:cNvPr id="49" name="object 49"/>
            <p:cNvSpPr/>
            <p:nvPr/>
          </p:nvSpPr>
          <p:spPr>
            <a:xfrm>
              <a:off x="2503501" y="4625674"/>
              <a:ext cx="476884" cy="481330"/>
            </a:xfrm>
            <a:custGeom>
              <a:avLst/>
              <a:gdLst/>
              <a:ahLst/>
              <a:cxnLst/>
              <a:rect l="l" t="t" r="r" b="b"/>
              <a:pathLst>
                <a:path w="476885"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50" name="object 50"/>
          <p:cNvGrpSpPr/>
          <p:nvPr/>
        </p:nvGrpSpPr>
        <p:grpSpPr>
          <a:xfrm>
            <a:off x="3777032" y="3245580"/>
            <a:ext cx="349151" cy="352276"/>
            <a:chOff x="3204312" y="4615935"/>
            <a:chExt cx="496570" cy="501015"/>
          </a:xfrm>
        </p:grpSpPr>
        <p:sp>
          <p:nvSpPr>
            <p:cNvPr id="51" name="object 51"/>
            <p:cNvSpPr/>
            <p:nvPr/>
          </p:nvSpPr>
          <p:spPr>
            <a:xfrm>
              <a:off x="3214051" y="4625674"/>
              <a:ext cx="476884" cy="481330"/>
            </a:xfrm>
            <a:custGeom>
              <a:avLst/>
              <a:gdLst/>
              <a:ahLst/>
              <a:cxnLst/>
              <a:rect l="l" t="t" r="r" b="b"/>
              <a:pathLst>
                <a:path w="476885" h="481329">
                  <a:moveTo>
                    <a:pt x="238406" y="0"/>
                  </a:moveTo>
                  <a:lnTo>
                    <a:pt x="190359" y="4888"/>
                  </a:lnTo>
                  <a:lnTo>
                    <a:pt x="145607" y="18908"/>
                  </a:lnTo>
                  <a:lnTo>
                    <a:pt x="105110" y="41092"/>
                  </a:lnTo>
                  <a:lnTo>
                    <a:pt x="69827" y="70472"/>
                  </a:lnTo>
                  <a:lnTo>
                    <a:pt x="40715" y="106081"/>
                  </a:lnTo>
                  <a:lnTo>
                    <a:pt x="18735" y="146951"/>
                  </a:lnTo>
                  <a:lnTo>
                    <a:pt x="4843" y="192116"/>
                  </a:lnTo>
                  <a:lnTo>
                    <a:pt x="0" y="240606"/>
                  </a:lnTo>
                  <a:lnTo>
                    <a:pt x="4843" y="289097"/>
                  </a:lnTo>
                  <a:lnTo>
                    <a:pt x="18735" y="334261"/>
                  </a:lnTo>
                  <a:lnTo>
                    <a:pt x="40715" y="375132"/>
                  </a:lnTo>
                  <a:lnTo>
                    <a:pt x="69827" y="410741"/>
                  </a:lnTo>
                  <a:lnTo>
                    <a:pt x="105110" y="440121"/>
                  </a:lnTo>
                  <a:lnTo>
                    <a:pt x="145607" y="462305"/>
                  </a:lnTo>
                  <a:lnTo>
                    <a:pt x="190359" y="476324"/>
                  </a:lnTo>
                  <a:lnTo>
                    <a:pt x="238406" y="481213"/>
                  </a:lnTo>
                  <a:lnTo>
                    <a:pt x="286453" y="476324"/>
                  </a:lnTo>
                  <a:lnTo>
                    <a:pt x="331205" y="462305"/>
                  </a:lnTo>
                  <a:lnTo>
                    <a:pt x="371702" y="440121"/>
                  </a:lnTo>
                  <a:lnTo>
                    <a:pt x="406986" y="410741"/>
                  </a:lnTo>
                  <a:lnTo>
                    <a:pt x="436098" y="375132"/>
                  </a:lnTo>
                  <a:lnTo>
                    <a:pt x="458079" y="334261"/>
                  </a:lnTo>
                  <a:lnTo>
                    <a:pt x="471971" y="289097"/>
                  </a:lnTo>
                  <a:lnTo>
                    <a:pt x="476815" y="240606"/>
                  </a:lnTo>
                  <a:lnTo>
                    <a:pt x="471971" y="192116"/>
                  </a:lnTo>
                  <a:lnTo>
                    <a:pt x="458079" y="146951"/>
                  </a:lnTo>
                  <a:lnTo>
                    <a:pt x="436098" y="106081"/>
                  </a:lnTo>
                  <a:lnTo>
                    <a:pt x="406986" y="70472"/>
                  </a:lnTo>
                  <a:lnTo>
                    <a:pt x="371702" y="41092"/>
                  </a:lnTo>
                  <a:lnTo>
                    <a:pt x="331205" y="18908"/>
                  </a:lnTo>
                  <a:lnTo>
                    <a:pt x="286453" y="4888"/>
                  </a:lnTo>
                  <a:lnTo>
                    <a:pt x="238406" y="0"/>
                  </a:lnTo>
                  <a:close/>
                </a:path>
              </a:pathLst>
            </a:custGeom>
            <a:solidFill>
              <a:srgbClr val="000000"/>
            </a:solidFill>
          </p:spPr>
          <p:txBody>
            <a:bodyPr wrap="square" lIns="0" tIns="0" rIns="0" bIns="0" rtlCol="0"/>
            <a:lstStyle/>
            <a:p>
              <a:endParaRPr sz="1266"/>
            </a:p>
          </p:txBody>
        </p:sp>
        <p:sp>
          <p:nvSpPr>
            <p:cNvPr id="52" name="object 52"/>
            <p:cNvSpPr/>
            <p:nvPr/>
          </p:nvSpPr>
          <p:spPr>
            <a:xfrm>
              <a:off x="3214051" y="4625674"/>
              <a:ext cx="476884" cy="481330"/>
            </a:xfrm>
            <a:custGeom>
              <a:avLst/>
              <a:gdLst/>
              <a:ahLst/>
              <a:cxnLst/>
              <a:rect l="l" t="t" r="r" b="b"/>
              <a:pathLst>
                <a:path w="476885"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53" name="object 53"/>
          <p:cNvGrpSpPr/>
          <p:nvPr/>
        </p:nvGrpSpPr>
        <p:grpSpPr>
          <a:xfrm>
            <a:off x="4276634" y="3245580"/>
            <a:ext cx="349151" cy="352276"/>
            <a:chOff x="3914858" y="4615935"/>
            <a:chExt cx="496570" cy="501015"/>
          </a:xfrm>
        </p:grpSpPr>
        <p:sp>
          <p:nvSpPr>
            <p:cNvPr id="54" name="object 54"/>
            <p:cNvSpPr/>
            <p:nvPr/>
          </p:nvSpPr>
          <p:spPr>
            <a:xfrm>
              <a:off x="3924597" y="4625674"/>
              <a:ext cx="476884" cy="481330"/>
            </a:xfrm>
            <a:custGeom>
              <a:avLst/>
              <a:gdLst/>
              <a:ahLst/>
              <a:cxnLst/>
              <a:rect l="l" t="t" r="r" b="b"/>
              <a:pathLst>
                <a:path w="476885" h="481329">
                  <a:moveTo>
                    <a:pt x="238406" y="0"/>
                  </a:moveTo>
                  <a:lnTo>
                    <a:pt x="190359" y="4888"/>
                  </a:lnTo>
                  <a:lnTo>
                    <a:pt x="145608" y="18908"/>
                  </a:lnTo>
                  <a:lnTo>
                    <a:pt x="105111" y="41092"/>
                  </a:lnTo>
                  <a:lnTo>
                    <a:pt x="69828" y="70472"/>
                  </a:lnTo>
                  <a:lnTo>
                    <a:pt x="40716" y="106081"/>
                  </a:lnTo>
                  <a:lnTo>
                    <a:pt x="18735" y="146951"/>
                  </a:lnTo>
                  <a:lnTo>
                    <a:pt x="4843" y="192116"/>
                  </a:lnTo>
                  <a:lnTo>
                    <a:pt x="0" y="240606"/>
                  </a:lnTo>
                  <a:lnTo>
                    <a:pt x="4843" y="289097"/>
                  </a:lnTo>
                  <a:lnTo>
                    <a:pt x="18735" y="334261"/>
                  </a:lnTo>
                  <a:lnTo>
                    <a:pt x="40716" y="375132"/>
                  </a:lnTo>
                  <a:lnTo>
                    <a:pt x="69828" y="410741"/>
                  </a:lnTo>
                  <a:lnTo>
                    <a:pt x="105111" y="440121"/>
                  </a:lnTo>
                  <a:lnTo>
                    <a:pt x="145608" y="462305"/>
                  </a:lnTo>
                  <a:lnTo>
                    <a:pt x="190359" y="476324"/>
                  </a:lnTo>
                  <a:lnTo>
                    <a:pt x="238406" y="481213"/>
                  </a:lnTo>
                  <a:lnTo>
                    <a:pt x="286454" y="476324"/>
                  </a:lnTo>
                  <a:lnTo>
                    <a:pt x="331206" y="462305"/>
                  </a:lnTo>
                  <a:lnTo>
                    <a:pt x="371703" y="440121"/>
                  </a:lnTo>
                  <a:lnTo>
                    <a:pt x="406987" y="410741"/>
                  </a:lnTo>
                  <a:lnTo>
                    <a:pt x="436098" y="375132"/>
                  </a:lnTo>
                  <a:lnTo>
                    <a:pt x="458079" y="334261"/>
                  </a:lnTo>
                  <a:lnTo>
                    <a:pt x="471971" y="289097"/>
                  </a:lnTo>
                  <a:lnTo>
                    <a:pt x="476815" y="240606"/>
                  </a:lnTo>
                  <a:lnTo>
                    <a:pt x="471971" y="192116"/>
                  </a:lnTo>
                  <a:lnTo>
                    <a:pt x="458079" y="146951"/>
                  </a:lnTo>
                  <a:lnTo>
                    <a:pt x="436098" y="106081"/>
                  </a:lnTo>
                  <a:lnTo>
                    <a:pt x="406987" y="70472"/>
                  </a:lnTo>
                  <a:lnTo>
                    <a:pt x="371703" y="41092"/>
                  </a:lnTo>
                  <a:lnTo>
                    <a:pt x="331206" y="18908"/>
                  </a:lnTo>
                  <a:lnTo>
                    <a:pt x="286454" y="4888"/>
                  </a:lnTo>
                  <a:lnTo>
                    <a:pt x="238406" y="0"/>
                  </a:lnTo>
                  <a:close/>
                </a:path>
              </a:pathLst>
            </a:custGeom>
            <a:solidFill>
              <a:srgbClr val="000000"/>
            </a:solidFill>
          </p:spPr>
          <p:txBody>
            <a:bodyPr wrap="square" lIns="0" tIns="0" rIns="0" bIns="0" rtlCol="0"/>
            <a:lstStyle/>
            <a:p>
              <a:endParaRPr sz="1266"/>
            </a:p>
          </p:txBody>
        </p:sp>
        <p:sp>
          <p:nvSpPr>
            <p:cNvPr id="55" name="object 55"/>
            <p:cNvSpPr/>
            <p:nvPr/>
          </p:nvSpPr>
          <p:spPr>
            <a:xfrm>
              <a:off x="3924597" y="4625674"/>
              <a:ext cx="476884" cy="481330"/>
            </a:xfrm>
            <a:custGeom>
              <a:avLst/>
              <a:gdLst/>
              <a:ahLst/>
              <a:cxnLst/>
              <a:rect l="l" t="t" r="r" b="b"/>
              <a:pathLst>
                <a:path w="476885"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56" name="object 56"/>
          <p:cNvGrpSpPr/>
          <p:nvPr/>
        </p:nvGrpSpPr>
        <p:grpSpPr>
          <a:xfrm>
            <a:off x="4776238" y="3240747"/>
            <a:ext cx="349151" cy="352276"/>
            <a:chOff x="4625405" y="4609062"/>
            <a:chExt cx="496570" cy="501015"/>
          </a:xfrm>
        </p:grpSpPr>
        <p:sp>
          <p:nvSpPr>
            <p:cNvPr id="57" name="object 57"/>
            <p:cNvSpPr/>
            <p:nvPr/>
          </p:nvSpPr>
          <p:spPr>
            <a:xfrm>
              <a:off x="4635144" y="4618800"/>
              <a:ext cx="476884" cy="481330"/>
            </a:xfrm>
            <a:custGeom>
              <a:avLst/>
              <a:gdLst/>
              <a:ahLst/>
              <a:cxnLst/>
              <a:rect l="l" t="t" r="r" b="b"/>
              <a:pathLst>
                <a:path w="476885" h="481329">
                  <a:moveTo>
                    <a:pt x="238408" y="0"/>
                  </a:moveTo>
                  <a:lnTo>
                    <a:pt x="190361" y="4888"/>
                  </a:lnTo>
                  <a:lnTo>
                    <a:pt x="145609" y="18908"/>
                  </a:lnTo>
                  <a:lnTo>
                    <a:pt x="105112" y="41092"/>
                  </a:lnTo>
                  <a:lnTo>
                    <a:pt x="69828" y="70472"/>
                  </a:lnTo>
                  <a:lnTo>
                    <a:pt x="40716" y="106081"/>
                  </a:lnTo>
                  <a:lnTo>
                    <a:pt x="18735" y="146951"/>
                  </a:lnTo>
                  <a:lnTo>
                    <a:pt x="4843" y="192116"/>
                  </a:lnTo>
                  <a:lnTo>
                    <a:pt x="0" y="240606"/>
                  </a:lnTo>
                  <a:lnTo>
                    <a:pt x="4843" y="289096"/>
                  </a:lnTo>
                  <a:lnTo>
                    <a:pt x="18735" y="334261"/>
                  </a:lnTo>
                  <a:lnTo>
                    <a:pt x="40716" y="375131"/>
                  </a:lnTo>
                  <a:lnTo>
                    <a:pt x="69828" y="410740"/>
                  </a:lnTo>
                  <a:lnTo>
                    <a:pt x="105112" y="440121"/>
                  </a:lnTo>
                  <a:lnTo>
                    <a:pt x="145609" y="462305"/>
                  </a:lnTo>
                  <a:lnTo>
                    <a:pt x="190361" y="476324"/>
                  </a:lnTo>
                  <a:lnTo>
                    <a:pt x="238408" y="481213"/>
                  </a:lnTo>
                  <a:lnTo>
                    <a:pt x="286455" y="476324"/>
                  </a:lnTo>
                  <a:lnTo>
                    <a:pt x="331207" y="462305"/>
                  </a:lnTo>
                  <a:lnTo>
                    <a:pt x="371704" y="440121"/>
                  </a:lnTo>
                  <a:lnTo>
                    <a:pt x="406987" y="410740"/>
                  </a:lnTo>
                  <a:lnTo>
                    <a:pt x="436099" y="375131"/>
                  </a:lnTo>
                  <a:lnTo>
                    <a:pt x="458080" y="334261"/>
                  </a:lnTo>
                  <a:lnTo>
                    <a:pt x="471971" y="289096"/>
                  </a:lnTo>
                  <a:lnTo>
                    <a:pt x="476815" y="240606"/>
                  </a:lnTo>
                  <a:lnTo>
                    <a:pt x="471971" y="192116"/>
                  </a:lnTo>
                  <a:lnTo>
                    <a:pt x="458080" y="146951"/>
                  </a:lnTo>
                  <a:lnTo>
                    <a:pt x="436099" y="106081"/>
                  </a:lnTo>
                  <a:lnTo>
                    <a:pt x="406987" y="70472"/>
                  </a:lnTo>
                  <a:lnTo>
                    <a:pt x="371704" y="41092"/>
                  </a:lnTo>
                  <a:lnTo>
                    <a:pt x="331207" y="18908"/>
                  </a:lnTo>
                  <a:lnTo>
                    <a:pt x="286455" y="4888"/>
                  </a:lnTo>
                  <a:lnTo>
                    <a:pt x="238408" y="0"/>
                  </a:lnTo>
                  <a:close/>
                </a:path>
              </a:pathLst>
            </a:custGeom>
            <a:solidFill>
              <a:srgbClr val="000000"/>
            </a:solidFill>
          </p:spPr>
          <p:txBody>
            <a:bodyPr wrap="square" lIns="0" tIns="0" rIns="0" bIns="0" rtlCol="0"/>
            <a:lstStyle/>
            <a:p>
              <a:endParaRPr sz="1266"/>
            </a:p>
          </p:txBody>
        </p:sp>
        <p:sp>
          <p:nvSpPr>
            <p:cNvPr id="58" name="object 58"/>
            <p:cNvSpPr/>
            <p:nvPr/>
          </p:nvSpPr>
          <p:spPr>
            <a:xfrm>
              <a:off x="4635144" y="4618800"/>
              <a:ext cx="476884" cy="481330"/>
            </a:xfrm>
            <a:custGeom>
              <a:avLst/>
              <a:gdLst/>
              <a:ahLst/>
              <a:cxnLst/>
              <a:rect l="l" t="t" r="r" b="b"/>
              <a:pathLst>
                <a:path w="476885"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59" name="object 59"/>
          <p:cNvGrpSpPr/>
          <p:nvPr/>
        </p:nvGrpSpPr>
        <p:grpSpPr>
          <a:xfrm>
            <a:off x="5275843" y="3235914"/>
            <a:ext cx="349151" cy="352276"/>
            <a:chOff x="5335954" y="4602188"/>
            <a:chExt cx="496570" cy="501015"/>
          </a:xfrm>
        </p:grpSpPr>
        <p:sp>
          <p:nvSpPr>
            <p:cNvPr id="60" name="object 60"/>
            <p:cNvSpPr/>
            <p:nvPr/>
          </p:nvSpPr>
          <p:spPr>
            <a:xfrm>
              <a:off x="5345693" y="4611927"/>
              <a:ext cx="476884" cy="481330"/>
            </a:xfrm>
            <a:custGeom>
              <a:avLst/>
              <a:gdLst/>
              <a:ahLst/>
              <a:cxnLst/>
              <a:rect l="l" t="t" r="r" b="b"/>
              <a:pathLst>
                <a:path w="476885" h="481329">
                  <a:moveTo>
                    <a:pt x="238408" y="0"/>
                  </a:moveTo>
                  <a:lnTo>
                    <a:pt x="190360" y="4888"/>
                  </a:lnTo>
                  <a:lnTo>
                    <a:pt x="145609" y="18907"/>
                  </a:lnTo>
                  <a:lnTo>
                    <a:pt x="105112" y="41091"/>
                  </a:lnTo>
                  <a:lnTo>
                    <a:pt x="69828" y="70471"/>
                  </a:lnTo>
                  <a:lnTo>
                    <a:pt x="40716" y="106080"/>
                  </a:lnTo>
                  <a:lnTo>
                    <a:pt x="18735" y="146951"/>
                  </a:lnTo>
                  <a:lnTo>
                    <a:pt x="4843" y="192115"/>
                  </a:lnTo>
                  <a:lnTo>
                    <a:pt x="0" y="240606"/>
                  </a:lnTo>
                  <a:lnTo>
                    <a:pt x="4843" y="289096"/>
                  </a:lnTo>
                  <a:lnTo>
                    <a:pt x="18735" y="334261"/>
                  </a:lnTo>
                  <a:lnTo>
                    <a:pt x="40716" y="375131"/>
                  </a:lnTo>
                  <a:lnTo>
                    <a:pt x="69828" y="410740"/>
                  </a:lnTo>
                  <a:lnTo>
                    <a:pt x="105112" y="440121"/>
                  </a:lnTo>
                  <a:lnTo>
                    <a:pt x="145609" y="462305"/>
                  </a:lnTo>
                  <a:lnTo>
                    <a:pt x="190360" y="476324"/>
                  </a:lnTo>
                  <a:lnTo>
                    <a:pt x="238408" y="481213"/>
                  </a:lnTo>
                  <a:lnTo>
                    <a:pt x="286455" y="476324"/>
                  </a:lnTo>
                  <a:lnTo>
                    <a:pt x="331206" y="462305"/>
                  </a:lnTo>
                  <a:lnTo>
                    <a:pt x="371703" y="440121"/>
                  </a:lnTo>
                  <a:lnTo>
                    <a:pt x="406987" y="410740"/>
                  </a:lnTo>
                  <a:lnTo>
                    <a:pt x="436098" y="375131"/>
                  </a:lnTo>
                  <a:lnTo>
                    <a:pt x="458079" y="334261"/>
                  </a:lnTo>
                  <a:lnTo>
                    <a:pt x="471971" y="289096"/>
                  </a:lnTo>
                  <a:lnTo>
                    <a:pt x="476815" y="240606"/>
                  </a:lnTo>
                  <a:lnTo>
                    <a:pt x="471971" y="192115"/>
                  </a:lnTo>
                  <a:lnTo>
                    <a:pt x="458079" y="146951"/>
                  </a:lnTo>
                  <a:lnTo>
                    <a:pt x="436098" y="106080"/>
                  </a:lnTo>
                  <a:lnTo>
                    <a:pt x="406987" y="70471"/>
                  </a:lnTo>
                  <a:lnTo>
                    <a:pt x="371703" y="41091"/>
                  </a:lnTo>
                  <a:lnTo>
                    <a:pt x="331206" y="18907"/>
                  </a:lnTo>
                  <a:lnTo>
                    <a:pt x="286455" y="4888"/>
                  </a:lnTo>
                  <a:lnTo>
                    <a:pt x="238408" y="0"/>
                  </a:lnTo>
                  <a:close/>
                </a:path>
              </a:pathLst>
            </a:custGeom>
            <a:solidFill>
              <a:srgbClr val="000000"/>
            </a:solidFill>
          </p:spPr>
          <p:txBody>
            <a:bodyPr wrap="square" lIns="0" tIns="0" rIns="0" bIns="0" rtlCol="0"/>
            <a:lstStyle/>
            <a:p>
              <a:endParaRPr sz="1266"/>
            </a:p>
          </p:txBody>
        </p:sp>
        <p:sp>
          <p:nvSpPr>
            <p:cNvPr id="61" name="object 61"/>
            <p:cNvSpPr/>
            <p:nvPr/>
          </p:nvSpPr>
          <p:spPr>
            <a:xfrm>
              <a:off x="5345693" y="4611927"/>
              <a:ext cx="476884" cy="481330"/>
            </a:xfrm>
            <a:custGeom>
              <a:avLst/>
              <a:gdLst/>
              <a:ahLst/>
              <a:cxnLst/>
              <a:rect l="l" t="t" r="r" b="b"/>
              <a:pathLst>
                <a:path w="476885"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62" name="object 62"/>
          <p:cNvGrpSpPr/>
          <p:nvPr/>
        </p:nvGrpSpPr>
        <p:grpSpPr>
          <a:xfrm>
            <a:off x="2768092" y="4070521"/>
            <a:ext cx="349151" cy="352276"/>
            <a:chOff x="1769376" y="5789185"/>
            <a:chExt cx="496570" cy="501015"/>
          </a:xfrm>
        </p:grpSpPr>
        <p:sp>
          <p:nvSpPr>
            <p:cNvPr id="63" name="object 63"/>
            <p:cNvSpPr/>
            <p:nvPr/>
          </p:nvSpPr>
          <p:spPr>
            <a:xfrm>
              <a:off x="1779114" y="5798924"/>
              <a:ext cx="476884" cy="481330"/>
            </a:xfrm>
            <a:custGeom>
              <a:avLst/>
              <a:gdLst/>
              <a:ahLst/>
              <a:cxnLst/>
              <a:rect l="l" t="t" r="r" b="b"/>
              <a:pathLst>
                <a:path w="476885" h="481329">
                  <a:moveTo>
                    <a:pt x="238408" y="0"/>
                  </a:moveTo>
                  <a:lnTo>
                    <a:pt x="190360" y="4888"/>
                  </a:lnTo>
                  <a:lnTo>
                    <a:pt x="145609" y="18908"/>
                  </a:lnTo>
                  <a:lnTo>
                    <a:pt x="105112" y="41092"/>
                  </a:lnTo>
                  <a:lnTo>
                    <a:pt x="69828" y="70472"/>
                  </a:lnTo>
                  <a:lnTo>
                    <a:pt x="40716" y="106081"/>
                  </a:lnTo>
                  <a:lnTo>
                    <a:pt x="18735" y="146951"/>
                  </a:lnTo>
                  <a:lnTo>
                    <a:pt x="4843" y="192116"/>
                  </a:lnTo>
                  <a:lnTo>
                    <a:pt x="0" y="240606"/>
                  </a:lnTo>
                  <a:lnTo>
                    <a:pt x="4843" y="289096"/>
                  </a:lnTo>
                  <a:lnTo>
                    <a:pt x="18735" y="334261"/>
                  </a:lnTo>
                  <a:lnTo>
                    <a:pt x="40716" y="375131"/>
                  </a:lnTo>
                  <a:lnTo>
                    <a:pt x="69828" y="410740"/>
                  </a:lnTo>
                  <a:lnTo>
                    <a:pt x="105112" y="440121"/>
                  </a:lnTo>
                  <a:lnTo>
                    <a:pt x="145609" y="462305"/>
                  </a:lnTo>
                  <a:lnTo>
                    <a:pt x="190360" y="476324"/>
                  </a:lnTo>
                  <a:lnTo>
                    <a:pt x="238408" y="481213"/>
                  </a:lnTo>
                  <a:lnTo>
                    <a:pt x="286455" y="476324"/>
                  </a:lnTo>
                  <a:lnTo>
                    <a:pt x="331206" y="462305"/>
                  </a:lnTo>
                  <a:lnTo>
                    <a:pt x="371703" y="440121"/>
                  </a:lnTo>
                  <a:lnTo>
                    <a:pt x="406987" y="410740"/>
                  </a:lnTo>
                  <a:lnTo>
                    <a:pt x="436098" y="375131"/>
                  </a:lnTo>
                  <a:lnTo>
                    <a:pt x="458079" y="334261"/>
                  </a:lnTo>
                  <a:lnTo>
                    <a:pt x="471971" y="289096"/>
                  </a:lnTo>
                  <a:lnTo>
                    <a:pt x="476815" y="240606"/>
                  </a:lnTo>
                  <a:lnTo>
                    <a:pt x="471971" y="192116"/>
                  </a:lnTo>
                  <a:lnTo>
                    <a:pt x="458079" y="146951"/>
                  </a:lnTo>
                  <a:lnTo>
                    <a:pt x="436098" y="106081"/>
                  </a:lnTo>
                  <a:lnTo>
                    <a:pt x="406987" y="70472"/>
                  </a:lnTo>
                  <a:lnTo>
                    <a:pt x="371703" y="41092"/>
                  </a:lnTo>
                  <a:lnTo>
                    <a:pt x="331206" y="18908"/>
                  </a:lnTo>
                  <a:lnTo>
                    <a:pt x="286455" y="4888"/>
                  </a:lnTo>
                  <a:lnTo>
                    <a:pt x="238408" y="0"/>
                  </a:lnTo>
                  <a:close/>
                </a:path>
              </a:pathLst>
            </a:custGeom>
            <a:solidFill>
              <a:srgbClr val="000000"/>
            </a:solidFill>
          </p:spPr>
          <p:txBody>
            <a:bodyPr wrap="square" lIns="0" tIns="0" rIns="0" bIns="0" rtlCol="0"/>
            <a:lstStyle/>
            <a:p>
              <a:endParaRPr sz="1266"/>
            </a:p>
          </p:txBody>
        </p:sp>
        <p:sp>
          <p:nvSpPr>
            <p:cNvPr id="64" name="object 64"/>
            <p:cNvSpPr/>
            <p:nvPr/>
          </p:nvSpPr>
          <p:spPr>
            <a:xfrm>
              <a:off x="1779114" y="5798924"/>
              <a:ext cx="476884" cy="481330"/>
            </a:xfrm>
            <a:custGeom>
              <a:avLst/>
              <a:gdLst/>
              <a:ahLst/>
              <a:cxnLst/>
              <a:rect l="l" t="t" r="r" b="b"/>
              <a:pathLst>
                <a:path w="476885"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65" name="object 65"/>
          <p:cNvGrpSpPr/>
          <p:nvPr/>
        </p:nvGrpSpPr>
        <p:grpSpPr>
          <a:xfrm>
            <a:off x="3280713" y="4070521"/>
            <a:ext cx="349151" cy="352276"/>
            <a:chOff x="2498437" y="5789185"/>
            <a:chExt cx="496570" cy="501015"/>
          </a:xfrm>
        </p:grpSpPr>
        <p:sp>
          <p:nvSpPr>
            <p:cNvPr id="66" name="object 66"/>
            <p:cNvSpPr/>
            <p:nvPr/>
          </p:nvSpPr>
          <p:spPr>
            <a:xfrm>
              <a:off x="2508176" y="5798924"/>
              <a:ext cx="476884" cy="481330"/>
            </a:xfrm>
            <a:custGeom>
              <a:avLst/>
              <a:gdLst/>
              <a:ahLst/>
              <a:cxnLst/>
              <a:rect l="l" t="t" r="r" b="b"/>
              <a:pathLst>
                <a:path w="476885" h="481329">
                  <a:moveTo>
                    <a:pt x="238408" y="0"/>
                  </a:moveTo>
                  <a:lnTo>
                    <a:pt x="190360" y="4888"/>
                  </a:lnTo>
                  <a:lnTo>
                    <a:pt x="145608" y="18908"/>
                  </a:lnTo>
                  <a:lnTo>
                    <a:pt x="105111" y="41092"/>
                  </a:lnTo>
                  <a:lnTo>
                    <a:pt x="69827" y="70472"/>
                  </a:lnTo>
                  <a:lnTo>
                    <a:pt x="40716" y="106081"/>
                  </a:lnTo>
                  <a:lnTo>
                    <a:pt x="18735" y="146951"/>
                  </a:lnTo>
                  <a:lnTo>
                    <a:pt x="4843" y="192116"/>
                  </a:lnTo>
                  <a:lnTo>
                    <a:pt x="0" y="240606"/>
                  </a:lnTo>
                  <a:lnTo>
                    <a:pt x="4843" y="289096"/>
                  </a:lnTo>
                  <a:lnTo>
                    <a:pt x="18735" y="334261"/>
                  </a:lnTo>
                  <a:lnTo>
                    <a:pt x="40716" y="375131"/>
                  </a:lnTo>
                  <a:lnTo>
                    <a:pt x="69827" y="410740"/>
                  </a:lnTo>
                  <a:lnTo>
                    <a:pt x="105111" y="440121"/>
                  </a:lnTo>
                  <a:lnTo>
                    <a:pt x="145608" y="462305"/>
                  </a:lnTo>
                  <a:lnTo>
                    <a:pt x="190360" y="476324"/>
                  </a:lnTo>
                  <a:lnTo>
                    <a:pt x="238408" y="481213"/>
                  </a:lnTo>
                  <a:lnTo>
                    <a:pt x="286455" y="476324"/>
                  </a:lnTo>
                  <a:lnTo>
                    <a:pt x="331206" y="462305"/>
                  </a:lnTo>
                  <a:lnTo>
                    <a:pt x="371703" y="440121"/>
                  </a:lnTo>
                  <a:lnTo>
                    <a:pt x="406987" y="410740"/>
                  </a:lnTo>
                  <a:lnTo>
                    <a:pt x="436098" y="375131"/>
                  </a:lnTo>
                  <a:lnTo>
                    <a:pt x="458079" y="334261"/>
                  </a:lnTo>
                  <a:lnTo>
                    <a:pt x="471971" y="289096"/>
                  </a:lnTo>
                  <a:lnTo>
                    <a:pt x="476815" y="240606"/>
                  </a:lnTo>
                  <a:lnTo>
                    <a:pt x="471971" y="192116"/>
                  </a:lnTo>
                  <a:lnTo>
                    <a:pt x="458079" y="146951"/>
                  </a:lnTo>
                  <a:lnTo>
                    <a:pt x="436098" y="106081"/>
                  </a:lnTo>
                  <a:lnTo>
                    <a:pt x="406987" y="70472"/>
                  </a:lnTo>
                  <a:lnTo>
                    <a:pt x="371703" y="41092"/>
                  </a:lnTo>
                  <a:lnTo>
                    <a:pt x="331206" y="18908"/>
                  </a:lnTo>
                  <a:lnTo>
                    <a:pt x="286455" y="4888"/>
                  </a:lnTo>
                  <a:lnTo>
                    <a:pt x="238408" y="0"/>
                  </a:lnTo>
                  <a:close/>
                </a:path>
              </a:pathLst>
            </a:custGeom>
            <a:solidFill>
              <a:srgbClr val="000000"/>
            </a:solidFill>
          </p:spPr>
          <p:txBody>
            <a:bodyPr wrap="square" lIns="0" tIns="0" rIns="0" bIns="0" rtlCol="0"/>
            <a:lstStyle/>
            <a:p>
              <a:endParaRPr sz="1266"/>
            </a:p>
          </p:txBody>
        </p:sp>
        <p:sp>
          <p:nvSpPr>
            <p:cNvPr id="67" name="object 67"/>
            <p:cNvSpPr/>
            <p:nvPr/>
          </p:nvSpPr>
          <p:spPr>
            <a:xfrm>
              <a:off x="2508176" y="5798924"/>
              <a:ext cx="476884" cy="481330"/>
            </a:xfrm>
            <a:custGeom>
              <a:avLst/>
              <a:gdLst/>
              <a:ahLst/>
              <a:cxnLst/>
              <a:rect l="l" t="t" r="r" b="b"/>
              <a:pathLst>
                <a:path w="476885"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68" name="object 68"/>
          <p:cNvGrpSpPr/>
          <p:nvPr/>
        </p:nvGrpSpPr>
        <p:grpSpPr>
          <a:xfrm>
            <a:off x="3780317" y="4070521"/>
            <a:ext cx="349151" cy="352276"/>
            <a:chOff x="3208985" y="5789185"/>
            <a:chExt cx="496570" cy="501015"/>
          </a:xfrm>
        </p:grpSpPr>
        <p:sp>
          <p:nvSpPr>
            <p:cNvPr id="69" name="object 69"/>
            <p:cNvSpPr/>
            <p:nvPr/>
          </p:nvSpPr>
          <p:spPr>
            <a:xfrm>
              <a:off x="3218724" y="5798924"/>
              <a:ext cx="476884" cy="481330"/>
            </a:xfrm>
            <a:custGeom>
              <a:avLst/>
              <a:gdLst/>
              <a:ahLst/>
              <a:cxnLst/>
              <a:rect l="l" t="t" r="r" b="b"/>
              <a:pathLst>
                <a:path w="476885" h="481329">
                  <a:moveTo>
                    <a:pt x="238408" y="0"/>
                  </a:moveTo>
                  <a:lnTo>
                    <a:pt x="190360" y="4888"/>
                  </a:lnTo>
                  <a:lnTo>
                    <a:pt x="145608" y="18908"/>
                  </a:lnTo>
                  <a:lnTo>
                    <a:pt x="105111" y="41092"/>
                  </a:lnTo>
                  <a:lnTo>
                    <a:pt x="69827" y="70472"/>
                  </a:lnTo>
                  <a:lnTo>
                    <a:pt x="40716" y="106081"/>
                  </a:lnTo>
                  <a:lnTo>
                    <a:pt x="18735" y="146951"/>
                  </a:lnTo>
                  <a:lnTo>
                    <a:pt x="4843" y="192116"/>
                  </a:lnTo>
                  <a:lnTo>
                    <a:pt x="0" y="240606"/>
                  </a:lnTo>
                  <a:lnTo>
                    <a:pt x="4843" y="289096"/>
                  </a:lnTo>
                  <a:lnTo>
                    <a:pt x="18735" y="334261"/>
                  </a:lnTo>
                  <a:lnTo>
                    <a:pt x="40716" y="375131"/>
                  </a:lnTo>
                  <a:lnTo>
                    <a:pt x="69827" y="410740"/>
                  </a:lnTo>
                  <a:lnTo>
                    <a:pt x="105111" y="440121"/>
                  </a:lnTo>
                  <a:lnTo>
                    <a:pt x="145608" y="462305"/>
                  </a:lnTo>
                  <a:lnTo>
                    <a:pt x="190360" y="476324"/>
                  </a:lnTo>
                  <a:lnTo>
                    <a:pt x="238408" y="481213"/>
                  </a:lnTo>
                  <a:lnTo>
                    <a:pt x="286455" y="476324"/>
                  </a:lnTo>
                  <a:lnTo>
                    <a:pt x="331206" y="462305"/>
                  </a:lnTo>
                  <a:lnTo>
                    <a:pt x="371703" y="440121"/>
                  </a:lnTo>
                  <a:lnTo>
                    <a:pt x="406986" y="410740"/>
                  </a:lnTo>
                  <a:lnTo>
                    <a:pt x="436098" y="375131"/>
                  </a:lnTo>
                  <a:lnTo>
                    <a:pt x="458079" y="334261"/>
                  </a:lnTo>
                  <a:lnTo>
                    <a:pt x="471971" y="289096"/>
                  </a:lnTo>
                  <a:lnTo>
                    <a:pt x="476815" y="240606"/>
                  </a:lnTo>
                  <a:lnTo>
                    <a:pt x="471971" y="192116"/>
                  </a:lnTo>
                  <a:lnTo>
                    <a:pt x="458079" y="146951"/>
                  </a:lnTo>
                  <a:lnTo>
                    <a:pt x="436098" y="106081"/>
                  </a:lnTo>
                  <a:lnTo>
                    <a:pt x="406986" y="70472"/>
                  </a:lnTo>
                  <a:lnTo>
                    <a:pt x="371703" y="41092"/>
                  </a:lnTo>
                  <a:lnTo>
                    <a:pt x="331206" y="18908"/>
                  </a:lnTo>
                  <a:lnTo>
                    <a:pt x="286455" y="4888"/>
                  </a:lnTo>
                  <a:lnTo>
                    <a:pt x="238408" y="0"/>
                  </a:lnTo>
                  <a:close/>
                </a:path>
              </a:pathLst>
            </a:custGeom>
            <a:solidFill>
              <a:srgbClr val="000000"/>
            </a:solidFill>
          </p:spPr>
          <p:txBody>
            <a:bodyPr wrap="square" lIns="0" tIns="0" rIns="0" bIns="0" rtlCol="0"/>
            <a:lstStyle/>
            <a:p>
              <a:endParaRPr sz="1266"/>
            </a:p>
          </p:txBody>
        </p:sp>
        <p:sp>
          <p:nvSpPr>
            <p:cNvPr id="70" name="object 70"/>
            <p:cNvSpPr/>
            <p:nvPr/>
          </p:nvSpPr>
          <p:spPr>
            <a:xfrm>
              <a:off x="3218724" y="5798924"/>
              <a:ext cx="476884" cy="481330"/>
            </a:xfrm>
            <a:custGeom>
              <a:avLst/>
              <a:gdLst/>
              <a:ahLst/>
              <a:cxnLst/>
              <a:rect l="l" t="t" r="r" b="b"/>
              <a:pathLst>
                <a:path w="476885"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71" name="object 71"/>
          <p:cNvGrpSpPr/>
          <p:nvPr/>
        </p:nvGrpSpPr>
        <p:grpSpPr>
          <a:xfrm>
            <a:off x="4279922" y="4070521"/>
            <a:ext cx="349151" cy="352276"/>
            <a:chOff x="3919533" y="5789185"/>
            <a:chExt cx="496570" cy="501015"/>
          </a:xfrm>
        </p:grpSpPr>
        <p:sp>
          <p:nvSpPr>
            <p:cNvPr id="72" name="object 72"/>
            <p:cNvSpPr/>
            <p:nvPr/>
          </p:nvSpPr>
          <p:spPr>
            <a:xfrm>
              <a:off x="3929272" y="5798924"/>
              <a:ext cx="476884" cy="481330"/>
            </a:xfrm>
            <a:custGeom>
              <a:avLst/>
              <a:gdLst/>
              <a:ahLst/>
              <a:cxnLst/>
              <a:rect l="l" t="t" r="r" b="b"/>
              <a:pathLst>
                <a:path w="476885" h="481329">
                  <a:moveTo>
                    <a:pt x="238406" y="0"/>
                  </a:moveTo>
                  <a:lnTo>
                    <a:pt x="190359" y="4888"/>
                  </a:lnTo>
                  <a:lnTo>
                    <a:pt x="145608" y="18908"/>
                  </a:lnTo>
                  <a:lnTo>
                    <a:pt x="105111" y="41092"/>
                  </a:lnTo>
                  <a:lnTo>
                    <a:pt x="69828" y="70472"/>
                  </a:lnTo>
                  <a:lnTo>
                    <a:pt x="40716" y="106081"/>
                  </a:lnTo>
                  <a:lnTo>
                    <a:pt x="18735" y="146951"/>
                  </a:lnTo>
                  <a:lnTo>
                    <a:pt x="4843" y="192116"/>
                  </a:lnTo>
                  <a:lnTo>
                    <a:pt x="0" y="240606"/>
                  </a:lnTo>
                  <a:lnTo>
                    <a:pt x="4843" y="289096"/>
                  </a:lnTo>
                  <a:lnTo>
                    <a:pt x="18735" y="334261"/>
                  </a:lnTo>
                  <a:lnTo>
                    <a:pt x="40716" y="375131"/>
                  </a:lnTo>
                  <a:lnTo>
                    <a:pt x="69828" y="410740"/>
                  </a:lnTo>
                  <a:lnTo>
                    <a:pt x="105111" y="440121"/>
                  </a:lnTo>
                  <a:lnTo>
                    <a:pt x="145608" y="462305"/>
                  </a:lnTo>
                  <a:lnTo>
                    <a:pt x="190359" y="476324"/>
                  </a:lnTo>
                  <a:lnTo>
                    <a:pt x="238406" y="481213"/>
                  </a:lnTo>
                  <a:lnTo>
                    <a:pt x="286454" y="476324"/>
                  </a:lnTo>
                  <a:lnTo>
                    <a:pt x="331206" y="462305"/>
                  </a:lnTo>
                  <a:lnTo>
                    <a:pt x="371703" y="440121"/>
                  </a:lnTo>
                  <a:lnTo>
                    <a:pt x="406987" y="410740"/>
                  </a:lnTo>
                  <a:lnTo>
                    <a:pt x="436098" y="375131"/>
                  </a:lnTo>
                  <a:lnTo>
                    <a:pt x="458079" y="334261"/>
                  </a:lnTo>
                  <a:lnTo>
                    <a:pt x="471971" y="289096"/>
                  </a:lnTo>
                  <a:lnTo>
                    <a:pt x="476815" y="240606"/>
                  </a:lnTo>
                  <a:lnTo>
                    <a:pt x="471971" y="192116"/>
                  </a:lnTo>
                  <a:lnTo>
                    <a:pt x="458079" y="146951"/>
                  </a:lnTo>
                  <a:lnTo>
                    <a:pt x="436098" y="106081"/>
                  </a:lnTo>
                  <a:lnTo>
                    <a:pt x="406987" y="70472"/>
                  </a:lnTo>
                  <a:lnTo>
                    <a:pt x="371703" y="41092"/>
                  </a:lnTo>
                  <a:lnTo>
                    <a:pt x="331206" y="18908"/>
                  </a:lnTo>
                  <a:lnTo>
                    <a:pt x="286454" y="4888"/>
                  </a:lnTo>
                  <a:lnTo>
                    <a:pt x="238406" y="0"/>
                  </a:lnTo>
                  <a:close/>
                </a:path>
              </a:pathLst>
            </a:custGeom>
            <a:solidFill>
              <a:srgbClr val="000000"/>
            </a:solidFill>
          </p:spPr>
          <p:txBody>
            <a:bodyPr wrap="square" lIns="0" tIns="0" rIns="0" bIns="0" rtlCol="0"/>
            <a:lstStyle/>
            <a:p>
              <a:endParaRPr sz="1266"/>
            </a:p>
          </p:txBody>
        </p:sp>
        <p:sp>
          <p:nvSpPr>
            <p:cNvPr id="73" name="object 73"/>
            <p:cNvSpPr/>
            <p:nvPr/>
          </p:nvSpPr>
          <p:spPr>
            <a:xfrm>
              <a:off x="3929272" y="5798924"/>
              <a:ext cx="476884" cy="481330"/>
            </a:xfrm>
            <a:custGeom>
              <a:avLst/>
              <a:gdLst/>
              <a:ahLst/>
              <a:cxnLst/>
              <a:rect l="l" t="t" r="r" b="b"/>
              <a:pathLst>
                <a:path w="476885" h="481329">
                  <a:moveTo>
                    <a:pt x="0" y="240606"/>
                  </a:moveTo>
                  <a:lnTo>
                    <a:pt x="4843" y="192116"/>
                  </a:lnTo>
                  <a:lnTo>
                    <a:pt x="18735" y="146951"/>
                  </a:lnTo>
                  <a:lnTo>
                    <a:pt x="40716" y="106081"/>
                  </a:lnTo>
                  <a:lnTo>
                    <a:pt x="69827" y="70472"/>
                  </a:lnTo>
                  <a:lnTo>
                    <a:pt x="105111" y="41091"/>
                  </a:lnTo>
                  <a:lnTo>
                    <a:pt x="145608" y="18908"/>
                  </a:lnTo>
                  <a:lnTo>
                    <a:pt x="190360" y="4888"/>
                  </a:lnTo>
                  <a:lnTo>
                    <a:pt x="238407" y="0"/>
                  </a:lnTo>
                  <a:lnTo>
                    <a:pt x="286454" y="4888"/>
                  </a:lnTo>
                  <a:lnTo>
                    <a:pt x="331206" y="18908"/>
                  </a:lnTo>
                  <a:lnTo>
                    <a:pt x="371703" y="41091"/>
                  </a:lnTo>
                  <a:lnTo>
                    <a:pt x="406987" y="70472"/>
                  </a:lnTo>
                  <a:lnTo>
                    <a:pt x="436098" y="106081"/>
                  </a:lnTo>
                  <a:lnTo>
                    <a:pt x="458079" y="146951"/>
                  </a:lnTo>
                  <a:lnTo>
                    <a:pt x="471971" y="192116"/>
                  </a:lnTo>
                  <a:lnTo>
                    <a:pt x="476814" y="240606"/>
                  </a:lnTo>
                  <a:lnTo>
                    <a:pt x="471971" y="289097"/>
                  </a:lnTo>
                  <a:lnTo>
                    <a:pt x="458079" y="334261"/>
                  </a:lnTo>
                  <a:lnTo>
                    <a:pt x="436098" y="375132"/>
                  </a:lnTo>
                  <a:lnTo>
                    <a:pt x="406987" y="410741"/>
                  </a:lnTo>
                  <a:lnTo>
                    <a:pt x="371703" y="440121"/>
                  </a:lnTo>
                  <a:lnTo>
                    <a:pt x="331206" y="462305"/>
                  </a:lnTo>
                  <a:lnTo>
                    <a:pt x="286454" y="476325"/>
                  </a:lnTo>
                  <a:lnTo>
                    <a:pt x="238407" y="481213"/>
                  </a:lnTo>
                  <a:lnTo>
                    <a:pt x="190360" y="476325"/>
                  </a:lnTo>
                  <a:lnTo>
                    <a:pt x="145608" y="462305"/>
                  </a:lnTo>
                  <a:lnTo>
                    <a:pt x="105111" y="440121"/>
                  </a:lnTo>
                  <a:lnTo>
                    <a:pt x="69827" y="410741"/>
                  </a:lnTo>
                  <a:lnTo>
                    <a:pt x="40716" y="375132"/>
                  </a:lnTo>
                  <a:lnTo>
                    <a:pt x="18735" y="334261"/>
                  </a:lnTo>
                  <a:lnTo>
                    <a:pt x="4843" y="289097"/>
                  </a:lnTo>
                  <a:lnTo>
                    <a:pt x="0" y="240606"/>
                  </a:lnTo>
                  <a:close/>
                </a:path>
              </a:pathLst>
            </a:custGeom>
            <a:ln w="19477">
              <a:solidFill>
                <a:srgbClr val="000000"/>
              </a:solidFill>
            </a:ln>
          </p:spPr>
          <p:txBody>
            <a:bodyPr wrap="square" lIns="0" tIns="0" rIns="0" bIns="0" rtlCol="0"/>
            <a:lstStyle/>
            <a:p>
              <a:endParaRPr sz="1266"/>
            </a:p>
          </p:txBody>
        </p:sp>
      </p:grpSp>
      <p:grpSp>
        <p:nvGrpSpPr>
          <p:cNvPr id="74" name="object 74"/>
          <p:cNvGrpSpPr/>
          <p:nvPr/>
        </p:nvGrpSpPr>
        <p:grpSpPr>
          <a:xfrm>
            <a:off x="4779526" y="4070519"/>
            <a:ext cx="373707" cy="352276"/>
            <a:chOff x="4630080" y="5789182"/>
            <a:chExt cx="531495" cy="501015"/>
          </a:xfrm>
        </p:grpSpPr>
        <p:sp>
          <p:nvSpPr>
            <p:cNvPr id="75" name="object 75"/>
            <p:cNvSpPr/>
            <p:nvPr/>
          </p:nvSpPr>
          <p:spPr>
            <a:xfrm>
              <a:off x="4639819" y="5798921"/>
              <a:ext cx="512445" cy="481330"/>
            </a:xfrm>
            <a:custGeom>
              <a:avLst/>
              <a:gdLst/>
              <a:ahLst/>
              <a:cxnLst/>
              <a:rect l="l" t="t" r="r" b="b"/>
              <a:pathLst>
                <a:path w="512445" h="481329">
                  <a:moveTo>
                    <a:pt x="256010" y="0"/>
                  </a:moveTo>
                  <a:lnTo>
                    <a:pt x="0" y="481213"/>
                  </a:lnTo>
                  <a:lnTo>
                    <a:pt x="512017" y="481213"/>
                  </a:lnTo>
                  <a:lnTo>
                    <a:pt x="256010" y="0"/>
                  </a:lnTo>
                  <a:close/>
                </a:path>
              </a:pathLst>
            </a:custGeom>
            <a:solidFill>
              <a:srgbClr val="7F7F7F"/>
            </a:solidFill>
          </p:spPr>
          <p:txBody>
            <a:bodyPr wrap="square" lIns="0" tIns="0" rIns="0" bIns="0" rtlCol="0"/>
            <a:lstStyle/>
            <a:p>
              <a:endParaRPr sz="1266"/>
            </a:p>
          </p:txBody>
        </p:sp>
        <p:sp>
          <p:nvSpPr>
            <p:cNvPr id="76" name="object 76"/>
            <p:cNvSpPr/>
            <p:nvPr/>
          </p:nvSpPr>
          <p:spPr>
            <a:xfrm>
              <a:off x="4639819" y="5798921"/>
              <a:ext cx="512445" cy="481330"/>
            </a:xfrm>
            <a:custGeom>
              <a:avLst/>
              <a:gdLst/>
              <a:ahLst/>
              <a:cxnLst/>
              <a:rect l="l" t="t" r="r" b="b"/>
              <a:pathLst>
                <a:path w="512445" h="481329">
                  <a:moveTo>
                    <a:pt x="0" y="481213"/>
                  </a:moveTo>
                  <a:lnTo>
                    <a:pt x="256007" y="0"/>
                  </a:lnTo>
                  <a:lnTo>
                    <a:pt x="512015" y="481213"/>
                  </a:lnTo>
                  <a:lnTo>
                    <a:pt x="0" y="481213"/>
                  </a:lnTo>
                  <a:close/>
                </a:path>
              </a:pathLst>
            </a:custGeom>
            <a:ln w="19477">
              <a:solidFill>
                <a:srgbClr val="000000"/>
              </a:solidFill>
            </a:ln>
          </p:spPr>
          <p:txBody>
            <a:bodyPr wrap="square" lIns="0" tIns="0" rIns="0" bIns="0" rtlCol="0"/>
            <a:lstStyle/>
            <a:p>
              <a:endParaRPr sz="1266"/>
            </a:p>
          </p:txBody>
        </p:sp>
      </p:grpSp>
      <p:grpSp>
        <p:nvGrpSpPr>
          <p:cNvPr id="77" name="object 77"/>
          <p:cNvGrpSpPr/>
          <p:nvPr/>
        </p:nvGrpSpPr>
        <p:grpSpPr>
          <a:xfrm>
            <a:off x="5257602" y="4070519"/>
            <a:ext cx="373707" cy="352276"/>
            <a:chOff x="5310011" y="5789182"/>
            <a:chExt cx="531495" cy="501015"/>
          </a:xfrm>
        </p:grpSpPr>
        <p:sp>
          <p:nvSpPr>
            <p:cNvPr id="78" name="object 78"/>
            <p:cNvSpPr/>
            <p:nvPr/>
          </p:nvSpPr>
          <p:spPr>
            <a:xfrm>
              <a:off x="5319750" y="5798921"/>
              <a:ext cx="512445" cy="481330"/>
            </a:xfrm>
            <a:custGeom>
              <a:avLst/>
              <a:gdLst/>
              <a:ahLst/>
              <a:cxnLst/>
              <a:rect l="l" t="t" r="r" b="b"/>
              <a:pathLst>
                <a:path w="512445" h="481329">
                  <a:moveTo>
                    <a:pt x="256007" y="0"/>
                  </a:moveTo>
                  <a:lnTo>
                    <a:pt x="0" y="481213"/>
                  </a:lnTo>
                  <a:lnTo>
                    <a:pt x="512015" y="481213"/>
                  </a:lnTo>
                  <a:lnTo>
                    <a:pt x="256007" y="0"/>
                  </a:lnTo>
                  <a:close/>
                </a:path>
              </a:pathLst>
            </a:custGeom>
            <a:solidFill>
              <a:srgbClr val="7F7F7F"/>
            </a:solidFill>
          </p:spPr>
          <p:txBody>
            <a:bodyPr wrap="square" lIns="0" tIns="0" rIns="0" bIns="0" rtlCol="0"/>
            <a:lstStyle/>
            <a:p>
              <a:endParaRPr sz="1266"/>
            </a:p>
          </p:txBody>
        </p:sp>
        <p:sp>
          <p:nvSpPr>
            <p:cNvPr id="79" name="object 79"/>
            <p:cNvSpPr/>
            <p:nvPr/>
          </p:nvSpPr>
          <p:spPr>
            <a:xfrm>
              <a:off x="5319750" y="5798921"/>
              <a:ext cx="512445" cy="481330"/>
            </a:xfrm>
            <a:custGeom>
              <a:avLst/>
              <a:gdLst/>
              <a:ahLst/>
              <a:cxnLst/>
              <a:rect l="l" t="t" r="r" b="b"/>
              <a:pathLst>
                <a:path w="512445" h="481329">
                  <a:moveTo>
                    <a:pt x="0" y="481213"/>
                  </a:moveTo>
                  <a:lnTo>
                    <a:pt x="256007" y="0"/>
                  </a:lnTo>
                  <a:lnTo>
                    <a:pt x="512015" y="481213"/>
                  </a:lnTo>
                  <a:lnTo>
                    <a:pt x="0" y="481213"/>
                  </a:lnTo>
                  <a:close/>
                </a:path>
              </a:pathLst>
            </a:custGeom>
            <a:ln w="19477">
              <a:solidFill>
                <a:srgbClr val="000000"/>
              </a:solidFill>
            </a:ln>
          </p:spPr>
          <p:txBody>
            <a:bodyPr wrap="square" lIns="0" tIns="0" rIns="0" bIns="0" rtlCol="0"/>
            <a:lstStyle/>
            <a:p>
              <a:endParaRPr sz="1266"/>
            </a:p>
          </p:txBody>
        </p:sp>
      </p:grpSp>
      <p:grpSp>
        <p:nvGrpSpPr>
          <p:cNvPr id="80" name="object 80"/>
          <p:cNvGrpSpPr/>
          <p:nvPr/>
        </p:nvGrpSpPr>
        <p:grpSpPr>
          <a:xfrm>
            <a:off x="5757207" y="4065686"/>
            <a:ext cx="373707" cy="352276"/>
            <a:chOff x="6020560" y="5782309"/>
            <a:chExt cx="531495" cy="501015"/>
          </a:xfrm>
        </p:grpSpPr>
        <p:sp>
          <p:nvSpPr>
            <p:cNvPr id="81" name="object 81"/>
            <p:cNvSpPr/>
            <p:nvPr/>
          </p:nvSpPr>
          <p:spPr>
            <a:xfrm>
              <a:off x="6030298" y="5792048"/>
              <a:ext cx="512445" cy="481330"/>
            </a:xfrm>
            <a:custGeom>
              <a:avLst/>
              <a:gdLst/>
              <a:ahLst/>
              <a:cxnLst/>
              <a:rect l="l" t="t" r="r" b="b"/>
              <a:pathLst>
                <a:path w="512445" h="481329">
                  <a:moveTo>
                    <a:pt x="256006" y="0"/>
                  </a:moveTo>
                  <a:lnTo>
                    <a:pt x="0" y="481213"/>
                  </a:lnTo>
                  <a:lnTo>
                    <a:pt x="512014" y="481213"/>
                  </a:lnTo>
                  <a:lnTo>
                    <a:pt x="256006" y="0"/>
                  </a:lnTo>
                  <a:close/>
                </a:path>
              </a:pathLst>
            </a:custGeom>
            <a:solidFill>
              <a:srgbClr val="7F7F7F"/>
            </a:solidFill>
          </p:spPr>
          <p:txBody>
            <a:bodyPr wrap="square" lIns="0" tIns="0" rIns="0" bIns="0" rtlCol="0"/>
            <a:lstStyle/>
            <a:p>
              <a:endParaRPr sz="1266"/>
            </a:p>
          </p:txBody>
        </p:sp>
        <p:sp>
          <p:nvSpPr>
            <p:cNvPr id="82" name="object 82"/>
            <p:cNvSpPr/>
            <p:nvPr/>
          </p:nvSpPr>
          <p:spPr>
            <a:xfrm>
              <a:off x="6030298" y="5792048"/>
              <a:ext cx="512445" cy="481330"/>
            </a:xfrm>
            <a:custGeom>
              <a:avLst/>
              <a:gdLst/>
              <a:ahLst/>
              <a:cxnLst/>
              <a:rect l="l" t="t" r="r" b="b"/>
              <a:pathLst>
                <a:path w="512445" h="481329">
                  <a:moveTo>
                    <a:pt x="0" y="481213"/>
                  </a:moveTo>
                  <a:lnTo>
                    <a:pt x="256007" y="0"/>
                  </a:lnTo>
                  <a:lnTo>
                    <a:pt x="512015" y="481213"/>
                  </a:lnTo>
                  <a:lnTo>
                    <a:pt x="0" y="481213"/>
                  </a:lnTo>
                  <a:close/>
                </a:path>
              </a:pathLst>
            </a:custGeom>
            <a:ln w="19477">
              <a:solidFill>
                <a:srgbClr val="000000"/>
              </a:solidFill>
            </a:ln>
          </p:spPr>
          <p:txBody>
            <a:bodyPr wrap="square" lIns="0" tIns="0" rIns="0" bIns="0" rtlCol="0"/>
            <a:lstStyle/>
            <a:p>
              <a:endParaRPr sz="1266"/>
            </a:p>
          </p:txBody>
        </p:sp>
      </p:grpSp>
      <p:sp>
        <p:nvSpPr>
          <p:cNvPr id="83" name="object 83"/>
          <p:cNvSpPr/>
          <p:nvPr/>
        </p:nvSpPr>
        <p:spPr>
          <a:xfrm>
            <a:off x="6273518" y="4072534"/>
            <a:ext cx="325487" cy="322362"/>
          </a:xfrm>
          <a:custGeom>
            <a:avLst/>
            <a:gdLst/>
            <a:ahLst/>
            <a:cxnLst/>
            <a:rect l="l" t="t" r="r" b="b"/>
            <a:pathLst>
              <a:path w="462915" h="458470">
                <a:moveTo>
                  <a:pt x="0" y="0"/>
                </a:moveTo>
                <a:lnTo>
                  <a:pt x="462790" y="0"/>
                </a:lnTo>
                <a:lnTo>
                  <a:pt x="462790" y="458298"/>
                </a:lnTo>
                <a:lnTo>
                  <a:pt x="0" y="458298"/>
                </a:lnTo>
                <a:lnTo>
                  <a:pt x="0" y="0"/>
                </a:lnTo>
                <a:close/>
              </a:path>
            </a:pathLst>
          </a:custGeom>
          <a:ln w="19477">
            <a:solidFill>
              <a:srgbClr val="000000"/>
            </a:solidFill>
          </a:ln>
        </p:spPr>
        <p:txBody>
          <a:bodyPr wrap="square" lIns="0" tIns="0" rIns="0" bIns="0" rtlCol="0"/>
          <a:lstStyle/>
          <a:p>
            <a:endParaRPr sz="1266"/>
          </a:p>
        </p:txBody>
      </p:sp>
      <p:sp>
        <p:nvSpPr>
          <p:cNvPr id="84" name="object 84"/>
          <p:cNvSpPr/>
          <p:nvPr/>
        </p:nvSpPr>
        <p:spPr>
          <a:xfrm>
            <a:off x="6773122" y="4072534"/>
            <a:ext cx="325487" cy="322362"/>
          </a:xfrm>
          <a:custGeom>
            <a:avLst/>
            <a:gdLst/>
            <a:ahLst/>
            <a:cxnLst/>
            <a:rect l="l" t="t" r="r" b="b"/>
            <a:pathLst>
              <a:path w="462915" h="458470">
                <a:moveTo>
                  <a:pt x="0" y="0"/>
                </a:moveTo>
                <a:lnTo>
                  <a:pt x="462790" y="0"/>
                </a:lnTo>
                <a:lnTo>
                  <a:pt x="462790" y="458298"/>
                </a:lnTo>
                <a:lnTo>
                  <a:pt x="0" y="458298"/>
                </a:lnTo>
                <a:lnTo>
                  <a:pt x="0" y="0"/>
                </a:lnTo>
                <a:close/>
              </a:path>
            </a:pathLst>
          </a:custGeom>
          <a:ln w="19477">
            <a:solidFill>
              <a:srgbClr val="000000"/>
            </a:solidFill>
          </a:ln>
        </p:spPr>
        <p:txBody>
          <a:bodyPr wrap="square" lIns="0" tIns="0" rIns="0" bIns="0" rtlCol="0"/>
          <a:lstStyle/>
          <a:p>
            <a:endParaRPr sz="1266"/>
          </a:p>
        </p:txBody>
      </p:sp>
      <p:sp>
        <p:nvSpPr>
          <p:cNvPr id="85" name="object 85"/>
          <p:cNvSpPr/>
          <p:nvPr/>
        </p:nvSpPr>
        <p:spPr>
          <a:xfrm>
            <a:off x="7272727" y="4072534"/>
            <a:ext cx="325487" cy="322362"/>
          </a:xfrm>
          <a:custGeom>
            <a:avLst/>
            <a:gdLst/>
            <a:ahLst/>
            <a:cxnLst/>
            <a:rect l="l" t="t" r="r" b="b"/>
            <a:pathLst>
              <a:path w="462915" h="458470">
                <a:moveTo>
                  <a:pt x="0" y="0"/>
                </a:moveTo>
                <a:lnTo>
                  <a:pt x="462790" y="0"/>
                </a:lnTo>
                <a:lnTo>
                  <a:pt x="462790" y="458298"/>
                </a:lnTo>
                <a:lnTo>
                  <a:pt x="0" y="458298"/>
                </a:lnTo>
                <a:lnTo>
                  <a:pt x="0" y="0"/>
                </a:lnTo>
                <a:close/>
              </a:path>
            </a:pathLst>
          </a:custGeom>
          <a:ln w="19477">
            <a:solidFill>
              <a:srgbClr val="000000"/>
            </a:solidFill>
          </a:ln>
        </p:spPr>
        <p:txBody>
          <a:bodyPr wrap="square" lIns="0" tIns="0" rIns="0" bIns="0" rtlCol="0"/>
          <a:lstStyle/>
          <a:p>
            <a:endParaRPr sz="1266"/>
          </a:p>
        </p:txBody>
      </p:sp>
      <p:sp>
        <p:nvSpPr>
          <p:cNvPr id="86" name="object 86"/>
          <p:cNvSpPr txBox="1"/>
          <p:nvPr/>
        </p:nvSpPr>
        <p:spPr>
          <a:xfrm>
            <a:off x="8094544" y="2405220"/>
            <a:ext cx="1370707" cy="1916731"/>
          </a:xfrm>
          <a:prstGeom prst="rect">
            <a:avLst/>
          </a:prstGeom>
        </p:spPr>
        <p:txBody>
          <a:bodyPr vert="horz" wrap="square" lIns="0" tIns="11609" rIns="0" bIns="0" rtlCol="0">
            <a:spAutoFit/>
          </a:bodyPr>
          <a:lstStyle/>
          <a:p>
            <a:pPr marL="8929">
              <a:spcBef>
                <a:spcPts val="91"/>
              </a:spcBef>
            </a:pPr>
            <a:r>
              <a:rPr sz="2566" spc="-88" dirty="0">
                <a:latin typeface="Arial MT"/>
                <a:cs typeface="Arial MT"/>
              </a:rPr>
              <a:t>Unanimity</a:t>
            </a:r>
            <a:endParaRPr sz="2566">
              <a:latin typeface="Arial MT"/>
              <a:cs typeface="Arial MT"/>
            </a:endParaRPr>
          </a:p>
          <a:p>
            <a:pPr marL="8929" marR="249576">
              <a:lnSpc>
                <a:spcPct val="204199"/>
              </a:lnSpc>
              <a:spcBef>
                <a:spcPts val="179"/>
              </a:spcBef>
            </a:pPr>
            <a:r>
              <a:rPr sz="2566" spc="-193" dirty="0">
                <a:latin typeface="Arial MT"/>
                <a:cs typeface="Arial MT"/>
              </a:rPr>
              <a:t>Ma</a:t>
            </a:r>
            <a:r>
              <a:rPr sz="2566" spc="-67" dirty="0">
                <a:latin typeface="Arial MT"/>
                <a:cs typeface="Arial MT"/>
              </a:rPr>
              <a:t>j</a:t>
            </a:r>
            <a:r>
              <a:rPr sz="2566" spc="105" dirty="0">
                <a:latin typeface="Arial MT"/>
                <a:cs typeface="Arial MT"/>
              </a:rPr>
              <a:t>o</a:t>
            </a:r>
            <a:r>
              <a:rPr sz="2566" spc="60" dirty="0">
                <a:latin typeface="Arial MT"/>
                <a:cs typeface="Arial MT"/>
              </a:rPr>
              <a:t>r</a:t>
            </a:r>
            <a:r>
              <a:rPr sz="2566" spc="-7" dirty="0">
                <a:latin typeface="Arial MT"/>
                <a:cs typeface="Arial MT"/>
              </a:rPr>
              <a:t>i</a:t>
            </a:r>
            <a:r>
              <a:rPr sz="2566" spc="-4" dirty="0">
                <a:latin typeface="Arial MT"/>
                <a:cs typeface="Arial MT"/>
              </a:rPr>
              <a:t>ty  </a:t>
            </a:r>
            <a:r>
              <a:rPr sz="2566" spc="-80" dirty="0">
                <a:latin typeface="Arial MT"/>
                <a:cs typeface="Arial MT"/>
              </a:rPr>
              <a:t>Plurality</a:t>
            </a:r>
            <a:endParaRPr sz="2566">
              <a:latin typeface="Arial MT"/>
              <a:cs typeface="Arial MT"/>
            </a:endParaRPr>
          </a:p>
        </p:txBody>
      </p:sp>
      <p:sp>
        <p:nvSpPr>
          <p:cNvPr id="87" name="object 87"/>
          <p:cNvSpPr txBox="1"/>
          <p:nvPr/>
        </p:nvSpPr>
        <p:spPr>
          <a:xfrm>
            <a:off x="10391180" y="6657332"/>
            <a:ext cx="133052" cy="177182"/>
          </a:xfrm>
          <a:prstGeom prst="rect">
            <a:avLst/>
          </a:prstGeom>
        </p:spPr>
        <p:txBody>
          <a:bodyPr vert="horz" wrap="square" lIns="0" tIns="4018" rIns="0" bIns="0" rtlCol="0">
            <a:spAutoFit/>
          </a:bodyPr>
          <a:lstStyle/>
          <a:p>
            <a:pPr marL="26788">
              <a:spcBef>
                <a:spcPts val="32"/>
              </a:spcBef>
            </a:pPr>
            <a:fld id="{81D60167-4931-47E6-BA6A-407CBD079E47}" type="slidenum">
              <a:rPr sz="1125" spc="-4" dirty="0">
                <a:latin typeface="Arial MT"/>
                <a:cs typeface="Arial MT"/>
              </a:rPr>
              <a:pPr marL="26788">
                <a:spcBef>
                  <a:spcPts val="32"/>
                </a:spcBef>
              </a:pPr>
              <a:t>10</a:t>
            </a:fld>
            <a:endParaRPr sz="1125">
              <a:latin typeface="Arial MT"/>
              <a:cs typeface="Arial MT"/>
            </a:endParaRPr>
          </a:p>
        </p:txBody>
      </p:sp>
      <p:sp>
        <p:nvSpPr>
          <p:cNvPr id="89" name="object 89"/>
          <p:cNvSpPr txBox="1">
            <a:spLocks noGrp="1"/>
          </p:cNvSpPr>
          <p:nvPr>
            <p:ph type="dt" sz="half" idx="6"/>
          </p:nvPr>
        </p:nvSpPr>
        <p:spPr>
          <a:xfrm>
            <a:off x="5742025" y="9495434"/>
            <a:ext cx="2291715" cy="23304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rgbClr val="929292"/>
                </a:solidFill>
                <a:latin typeface="Microsoft Sans Serif"/>
                <a:ea typeface="+mn-ea"/>
                <a:cs typeface="Microsoft Sans Serif"/>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929">
              <a:spcBef>
                <a:spcPts val="21"/>
              </a:spcBef>
            </a:pPr>
            <a:r>
              <a:rPr lang="en-US" spc="-30"/>
              <a:t>S</a:t>
            </a:r>
            <a:r>
              <a:rPr lang="en-US" spc="-185"/>
              <a:t>T</a:t>
            </a:r>
            <a:r>
              <a:rPr lang="en-US" spc="-160"/>
              <a:t>A</a:t>
            </a:r>
            <a:r>
              <a:rPr lang="en-US" spc="-55"/>
              <a:t>T</a:t>
            </a:r>
            <a:r>
              <a:rPr lang="en-US" spc="15"/>
              <a:t> </a:t>
            </a:r>
            <a:r>
              <a:rPr lang="en-US" spc="-5"/>
              <a:t>479:</a:t>
            </a:r>
            <a:r>
              <a:rPr lang="en-US" spc="15"/>
              <a:t> </a:t>
            </a:r>
            <a:r>
              <a:rPr lang="en-US" spc="5"/>
              <a:t>Machine</a:t>
            </a:r>
            <a:r>
              <a:rPr lang="en-US" spc="15"/>
              <a:t> </a:t>
            </a:r>
            <a:r>
              <a:rPr lang="en-US" spc="-15"/>
              <a:t>Lea</a:t>
            </a:r>
            <a:r>
              <a:rPr lang="en-US" spc="15"/>
              <a:t>r</a:t>
            </a:r>
            <a:r>
              <a:rPr lang="en-US"/>
              <a:t>ning</a:t>
            </a:r>
            <a:endParaRPr dirty="0"/>
          </a:p>
        </p:txBody>
      </p:sp>
      <p:sp>
        <p:nvSpPr>
          <p:cNvPr id="90" name="object 90"/>
          <p:cNvSpPr txBox="1">
            <a:spLocks noGrp="1"/>
          </p:cNvSpPr>
          <p:nvPr>
            <p:ph type="ftr" sz="quarter" idx="5"/>
          </p:nvPr>
        </p:nvSpPr>
        <p:spPr>
          <a:xfrm>
            <a:off x="8650655" y="9495434"/>
            <a:ext cx="687704" cy="23304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rgbClr val="929292"/>
                </a:solidFill>
                <a:latin typeface="Microsoft Sans Serif"/>
                <a:ea typeface="+mn-ea"/>
                <a:cs typeface="Microsoft Sans Serif"/>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929">
              <a:spcBef>
                <a:spcPts val="21"/>
              </a:spcBef>
            </a:pPr>
            <a:r>
              <a:rPr lang="en-US" spc="-40"/>
              <a:t>FS</a:t>
            </a:r>
            <a:r>
              <a:rPr lang="en-US" spc="-50"/>
              <a:t> </a:t>
            </a:r>
            <a:r>
              <a:rPr lang="en-US" spc="-5"/>
              <a:t>2018</a:t>
            </a:r>
            <a:endParaRPr spc="-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47024" y="5170288"/>
            <a:ext cx="3703588" cy="1095084"/>
          </a:xfrm>
          <a:prstGeom prst="rect">
            <a:avLst/>
          </a:prstGeom>
        </p:spPr>
        <p:txBody>
          <a:bodyPr vert="horz" wrap="square" lIns="0" tIns="8930" rIns="0" bIns="0" rtlCol="0">
            <a:spAutoFit/>
          </a:bodyPr>
          <a:lstStyle/>
          <a:p>
            <a:pPr marL="26788">
              <a:spcBef>
                <a:spcPts val="70"/>
              </a:spcBef>
              <a:tabLst>
                <a:tab pos="305384" algn="l"/>
              </a:tabLst>
            </a:pPr>
            <a:r>
              <a:rPr sz="2180" i="1" dirty="0">
                <a:latin typeface="Times New Roman"/>
                <a:cs typeface="Times New Roman"/>
              </a:rPr>
              <a:t>y</a:t>
            </a:r>
            <a:r>
              <a:rPr sz="2320" i="1" spc="-601" baseline="-20202" dirty="0">
                <a:latin typeface="Times New Roman"/>
                <a:cs typeface="Times New Roman"/>
              </a:rPr>
              <a:t>f</a:t>
            </a:r>
            <a:r>
              <a:rPr sz="2180" dirty="0">
                <a:latin typeface="Lucida Sans Unicode"/>
                <a:cs typeface="Lucida Sans Unicode"/>
              </a:rPr>
              <a:t>̂	</a:t>
            </a:r>
            <a:r>
              <a:rPr sz="2180" spc="285" dirty="0">
                <a:latin typeface="Cambria"/>
                <a:cs typeface="Cambria"/>
              </a:rPr>
              <a:t>=</a:t>
            </a:r>
            <a:r>
              <a:rPr sz="2180" spc="123" dirty="0">
                <a:latin typeface="Cambria"/>
                <a:cs typeface="Cambria"/>
              </a:rPr>
              <a:t> </a:t>
            </a:r>
            <a:r>
              <a:rPr sz="2180" i="1" spc="35" dirty="0">
                <a:latin typeface="Times New Roman"/>
                <a:cs typeface="Times New Roman"/>
              </a:rPr>
              <a:t>m</a:t>
            </a:r>
            <a:r>
              <a:rPr sz="2180" i="1" dirty="0">
                <a:latin typeface="Times New Roman"/>
                <a:cs typeface="Times New Roman"/>
              </a:rPr>
              <a:t>o</a:t>
            </a:r>
            <a:r>
              <a:rPr sz="2180" i="1" spc="7" dirty="0">
                <a:latin typeface="Times New Roman"/>
                <a:cs typeface="Times New Roman"/>
              </a:rPr>
              <a:t>d</a:t>
            </a:r>
            <a:r>
              <a:rPr sz="2180" i="1" dirty="0">
                <a:latin typeface="Times New Roman"/>
                <a:cs typeface="Times New Roman"/>
              </a:rPr>
              <a:t>e</a:t>
            </a:r>
            <a:r>
              <a:rPr sz="2180" spc="200" dirty="0">
                <a:latin typeface="Cambria"/>
                <a:cs typeface="Cambria"/>
              </a:rPr>
              <a:t>{</a:t>
            </a:r>
            <a:r>
              <a:rPr sz="2180" i="1" spc="-77" dirty="0">
                <a:latin typeface="Times New Roman"/>
                <a:cs typeface="Times New Roman"/>
              </a:rPr>
              <a:t>h</a:t>
            </a:r>
            <a:r>
              <a:rPr sz="2320" spc="-126" baseline="-20202" dirty="0">
                <a:latin typeface="Cambria"/>
                <a:cs typeface="Cambria"/>
              </a:rPr>
              <a:t>1</a:t>
            </a:r>
            <a:r>
              <a:rPr sz="2180" spc="-109" dirty="0">
                <a:latin typeface="Cambria"/>
                <a:cs typeface="Cambria"/>
              </a:rPr>
              <a:t>(</a:t>
            </a:r>
            <a:r>
              <a:rPr sz="2180" b="1" dirty="0">
                <a:latin typeface="Times New Roman"/>
                <a:cs typeface="Times New Roman"/>
              </a:rPr>
              <a:t>x</a:t>
            </a:r>
            <a:r>
              <a:rPr sz="2180" spc="-109" dirty="0">
                <a:latin typeface="Cambria"/>
                <a:cs typeface="Cambria"/>
              </a:rPr>
              <a:t>)</a:t>
            </a:r>
            <a:r>
              <a:rPr sz="2180" spc="95" dirty="0">
                <a:latin typeface="Cambria"/>
                <a:cs typeface="Cambria"/>
              </a:rPr>
              <a:t>,</a:t>
            </a:r>
            <a:r>
              <a:rPr sz="2180" spc="-120" dirty="0">
                <a:latin typeface="Cambria"/>
                <a:cs typeface="Cambria"/>
              </a:rPr>
              <a:t> </a:t>
            </a:r>
            <a:r>
              <a:rPr sz="2180" i="1" spc="-28" dirty="0">
                <a:latin typeface="Times New Roman"/>
                <a:cs typeface="Times New Roman"/>
              </a:rPr>
              <a:t>h</a:t>
            </a:r>
            <a:r>
              <a:rPr sz="2320" spc="-126" baseline="-20202" dirty="0">
                <a:latin typeface="Cambria"/>
                <a:cs typeface="Cambria"/>
              </a:rPr>
              <a:t>2</a:t>
            </a:r>
            <a:r>
              <a:rPr sz="2180" spc="-109" dirty="0">
                <a:latin typeface="Cambria"/>
                <a:cs typeface="Cambria"/>
              </a:rPr>
              <a:t>(</a:t>
            </a:r>
            <a:r>
              <a:rPr sz="2180" b="1" dirty="0">
                <a:latin typeface="Times New Roman"/>
                <a:cs typeface="Times New Roman"/>
              </a:rPr>
              <a:t>x</a:t>
            </a:r>
            <a:r>
              <a:rPr sz="2180" spc="-109" dirty="0">
                <a:latin typeface="Cambria"/>
                <a:cs typeface="Cambria"/>
              </a:rPr>
              <a:t>)</a:t>
            </a:r>
            <a:r>
              <a:rPr sz="2180" spc="95" dirty="0">
                <a:latin typeface="Cambria"/>
                <a:cs typeface="Cambria"/>
              </a:rPr>
              <a:t>,</a:t>
            </a:r>
            <a:r>
              <a:rPr sz="2180" spc="-120" dirty="0">
                <a:latin typeface="Cambria"/>
                <a:cs typeface="Cambria"/>
              </a:rPr>
              <a:t> </a:t>
            </a:r>
            <a:r>
              <a:rPr sz="2180" spc="95" dirty="0">
                <a:latin typeface="Cambria"/>
                <a:cs typeface="Cambria"/>
              </a:rPr>
              <a:t>.</a:t>
            </a:r>
            <a:r>
              <a:rPr sz="2180" spc="-120" dirty="0">
                <a:latin typeface="Cambria"/>
                <a:cs typeface="Cambria"/>
              </a:rPr>
              <a:t> </a:t>
            </a:r>
            <a:r>
              <a:rPr sz="2180" spc="95" dirty="0">
                <a:latin typeface="Cambria"/>
                <a:cs typeface="Cambria"/>
              </a:rPr>
              <a:t>.</a:t>
            </a:r>
            <a:r>
              <a:rPr sz="2180" spc="-120" dirty="0">
                <a:latin typeface="Cambria"/>
                <a:cs typeface="Cambria"/>
              </a:rPr>
              <a:t> </a:t>
            </a:r>
            <a:r>
              <a:rPr sz="2180" spc="95" dirty="0">
                <a:latin typeface="Cambria"/>
                <a:cs typeface="Cambria"/>
              </a:rPr>
              <a:t>.</a:t>
            </a:r>
            <a:r>
              <a:rPr sz="2180" spc="-120" dirty="0">
                <a:latin typeface="Cambria"/>
                <a:cs typeface="Cambria"/>
              </a:rPr>
              <a:t> </a:t>
            </a:r>
            <a:r>
              <a:rPr sz="2180" i="1" spc="-77" dirty="0">
                <a:latin typeface="Times New Roman"/>
                <a:cs typeface="Times New Roman"/>
              </a:rPr>
              <a:t>h</a:t>
            </a:r>
            <a:r>
              <a:rPr sz="2320" i="1" baseline="-20202" dirty="0">
                <a:latin typeface="Times New Roman"/>
                <a:cs typeface="Times New Roman"/>
              </a:rPr>
              <a:t>n</a:t>
            </a:r>
            <a:r>
              <a:rPr sz="2180" spc="-109" dirty="0">
                <a:latin typeface="Cambria"/>
                <a:cs typeface="Cambria"/>
              </a:rPr>
              <a:t>(</a:t>
            </a:r>
            <a:r>
              <a:rPr sz="2180" b="1" dirty="0">
                <a:latin typeface="Times New Roman"/>
                <a:cs typeface="Times New Roman"/>
              </a:rPr>
              <a:t>x</a:t>
            </a:r>
            <a:r>
              <a:rPr sz="2180" spc="-109" dirty="0">
                <a:latin typeface="Cambria"/>
                <a:cs typeface="Cambria"/>
              </a:rPr>
              <a:t>)</a:t>
            </a:r>
            <a:r>
              <a:rPr sz="2180" spc="200" dirty="0">
                <a:latin typeface="Cambria"/>
                <a:cs typeface="Cambria"/>
              </a:rPr>
              <a:t>}</a:t>
            </a:r>
            <a:endParaRPr sz="2180">
              <a:latin typeface="Cambria"/>
              <a:cs typeface="Cambria"/>
            </a:endParaRPr>
          </a:p>
          <a:p>
            <a:pPr marL="396018" algn="ctr">
              <a:spcBef>
                <a:spcPts val="2850"/>
              </a:spcBef>
              <a:tabLst>
                <a:tab pos="1105902" algn="l"/>
              </a:tabLst>
            </a:pPr>
            <a:r>
              <a:rPr sz="2531" spc="-15" baseline="-2314" dirty="0">
                <a:latin typeface="Microsoft Sans Serif"/>
                <a:cs typeface="Microsoft Sans Serif"/>
              </a:rPr>
              <a:t>where	</a:t>
            </a:r>
            <a:r>
              <a:rPr sz="2461" i="1" spc="-67" dirty="0">
                <a:latin typeface="Times New Roman"/>
                <a:cs typeface="Times New Roman"/>
              </a:rPr>
              <a:t>h</a:t>
            </a:r>
            <a:r>
              <a:rPr sz="2584" i="1" spc="-100" baseline="-20408" dirty="0">
                <a:latin typeface="Times New Roman"/>
                <a:cs typeface="Times New Roman"/>
              </a:rPr>
              <a:t>i</a:t>
            </a:r>
            <a:r>
              <a:rPr sz="2461" spc="-67" dirty="0">
                <a:latin typeface="Cambria"/>
                <a:cs typeface="Cambria"/>
              </a:rPr>
              <a:t>(</a:t>
            </a:r>
            <a:r>
              <a:rPr sz="2461" b="1" spc="-67" dirty="0">
                <a:latin typeface="Times New Roman"/>
                <a:cs typeface="Times New Roman"/>
              </a:rPr>
              <a:t>x</a:t>
            </a:r>
            <a:r>
              <a:rPr sz="2461" spc="-67" dirty="0">
                <a:latin typeface="Cambria"/>
                <a:cs typeface="Cambria"/>
              </a:rPr>
              <a:t>)</a:t>
            </a:r>
            <a:r>
              <a:rPr sz="2461" spc="120" dirty="0">
                <a:latin typeface="Cambria"/>
                <a:cs typeface="Cambria"/>
              </a:rPr>
              <a:t> </a:t>
            </a:r>
            <a:r>
              <a:rPr sz="2461" spc="320" dirty="0">
                <a:latin typeface="Cambria"/>
                <a:cs typeface="Cambria"/>
              </a:rPr>
              <a:t>=</a:t>
            </a:r>
            <a:r>
              <a:rPr sz="2461" spc="123" dirty="0">
                <a:latin typeface="Cambria"/>
                <a:cs typeface="Cambria"/>
              </a:rPr>
              <a:t> </a:t>
            </a:r>
            <a:r>
              <a:rPr sz="2461" i="1" spc="-225" dirty="0">
                <a:latin typeface="Times New Roman"/>
                <a:cs typeface="Times New Roman"/>
              </a:rPr>
              <a:t>y</a:t>
            </a:r>
            <a:r>
              <a:rPr sz="2584" i="1" spc="-337" baseline="-20408" dirty="0">
                <a:latin typeface="Times New Roman"/>
                <a:cs typeface="Times New Roman"/>
              </a:rPr>
              <a:t>i</a:t>
            </a:r>
            <a:endParaRPr sz="2584" baseline="-20408">
              <a:latin typeface="Times New Roman"/>
              <a:cs typeface="Times New Roman"/>
            </a:endParaRPr>
          </a:p>
        </p:txBody>
      </p:sp>
      <p:sp>
        <p:nvSpPr>
          <p:cNvPr id="3" name="object 3"/>
          <p:cNvSpPr txBox="1"/>
          <p:nvPr/>
        </p:nvSpPr>
        <p:spPr>
          <a:xfrm>
            <a:off x="4896020" y="1396023"/>
            <a:ext cx="2816870" cy="282129"/>
          </a:xfrm>
          <a:prstGeom prst="rect">
            <a:avLst/>
          </a:prstGeom>
          <a:solidFill>
            <a:srgbClr val="D9D9D9"/>
          </a:solidFill>
          <a:ln w="25400">
            <a:solidFill>
              <a:srgbClr val="000000"/>
            </a:solidFill>
          </a:ln>
        </p:spPr>
        <p:txBody>
          <a:bodyPr vert="horz" wrap="square" lIns="0" tIns="0" rIns="0" bIns="0" rtlCol="0">
            <a:spAutoFit/>
          </a:bodyPr>
          <a:lstStyle/>
          <a:p>
            <a:pPr marL="843825">
              <a:lnSpc>
                <a:spcPts val="2159"/>
              </a:lnSpc>
            </a:pPr>
            <a:r>
              <a:rPr sz="1969" spc="-112" dirty="0">
                <a:latin typeface="Arial MT"/>
                <a:cs typeface="Arial MT"/>
              </a:rPr>
              <a:t>Training</a:t>
            </a:r>
            <a:r>
              <a:rPr sz="1969" spc="-25" dirty="0">
                <a:latin typeface="Arial MT"/>
                <a:cs typeface="Arial MT"/>
              </a:rPr>
              <a:t> </a:t>
            </a:r>
            <a:r>
              <a:rPr sz="1969" spc="-95" dirty="0">
                <a:latin typeface="Arial MT"/>
                <a:cs typeface="Arial MT"/>
              </a:rPr>
              <a:t>set</a:t>
            </a:r>
            <a:endParaRPr sz="1969">
              <a:latin typeface="Arial MT"/>
              <a:cs typeface="Arial MT"/>
            </a:endParaRPr>
          </a:p>
        </p:txBody>
      </p:sp>
      <p:grpSp>
        <p:nvGrpSpPr>
          <p:cNvPr id="4" name="object 4"/>
          <p:cNvGrpSpPr/>
          <p:nvPr/>
        </p:nvGrpSpPr>
        <p:grpSpPr>
          <a:xfrm>
            <a:off x="4978203" y="2475598"/>
            <a:ext cx="450949" cy="469702"/>
            <a:chOff x="4912644" y="3520851"/>
            <a:chExt cx="641350" cy="668020"/>
          </a:xfrm>
        </p:grpSpPr>
        <p:sp>
          <p:nvSpPr>
            <p:cNvPr id="5" name="object 5"/>
            <p:cNvSpPr/>
            <p:nvPr/>
          </p:nvSpPr>
          <p:spPr>
            <a:xfrm>
              <a:off x="4918994" y="3527201"/>
              <a:ext cx="628650" cy="655320"/>
            </a:xfrm>
            <a:custGeom>
              <a:avLst/>
              <a:gdLst/>
              <a:ahLst/>
              <a:cxnLst/>
              <a:rect l="l" t="t" r="r" b="b"/>
              <a:pathLst>
                <a:path w="628650" h="655320">
                  <a:moveTo>
                    <a:pt x="523728" y="0"/>
                  </a:moveTo>
                  <a:lnTo>
                    <a:pt x="104748" y="0"/>
                  </a:lnTo>
                  <a:lnTo>
                    <a:pt x="63975" y="8231"/>
                  </a:lnTo>
                  <a:lnTo>
                    <a:pt x="30680" y="30679"/>
                  </a:lnTo>
                  <a:lnTo>
                    <a:pt x="8231" y="63974"/>
                  </a:lnTo>
                  <a:lnTo>
                    <a:pt x="0" y="104747"/>
                  </a:lnTo>
                  <a:lnTo>
                    <a:pt x="0" y="549953"/>
                  </a:lnTo>
                  <a:lnTo>
                    <a:pt x="8231" y="590726"/>
                  </a:lnTo>
                  <a:lnTo>
                    <a:pt x="30680" y="624021"/>
                  </a:lnTo>
                  <a:lnTo>
                    <a:pt x="63975" y="646469"/>
                  </a:lnTo>
                  <a:lnTo>
                    <a:pt x="104748" y="654701"/>
                  </a:lnTo>
                  <a:lnTo>
                    <a:pt x="523728" y="654701"/>
                  </a:lnTo>
                  <a:lnTo>
                    <a:pt x="564501" y="646469"/>
                  </a:lnTo>
                  <a:lnTo>
                    <a:pt x="597796" y="624021"/>
                  </a:lnTo>
                  <a:lnTo>
                    <a:pt x="620244" y="590726"/>
                  </a:lnTo>
                  <a:lnTo>
                    <a:pt x="628476" y="549953"/>
                  </a:lnTo>
                  <a:lnTo>
                    <a:pt x="628476" y="104747"/>
                  </a:lnTo>
                  <a:lnTo>
                    <a:pt x="620244" y="63974"/>
                  </a:lnTo>
                  <a:lnTo>
                    <a:pt x="597796" y="30679"/>
                  </a:lnTo>
                  <a:lnTo>
                    <a:pt x="564501" y="8231"/>
                  </a:lnTo>
                  <a:lnTo>
                    <a:pt x="523728" y="0"/>
                  </a:lnTo>
                  <a:close/>
                </a:path>
              </a:pathLst>
            </a:custGeom>
            <a:solidFill>
              <a:srgbClr val="000000"/>
            </a:solidFill>
          </p:spPr>
          <p:txBody>
            <a:bodyPr wrap="square" lIns="0" tIns="0" rIns="0" bIns="0" rtlCol="0"/>
            <a:lstStyle/>
            <a:p>
              <a:endParaRPr sz="1266"/>
            </a:p>
          </p:txBody>
        </p:sp>
        <p:sp>
          <p:nvSpPr>
            <p:cNvPr id="6" name="object 6"/>
            <p:cNvSpPr/>
            <p:nvPr/>
          </p:nvSpPr>
          <p:spPr>
            <a:xfrm>
              <a:off x="4918994" y="3527201"/>
              <a:ext cx="628650" cy="655320"/>
            </a:xfrm>
            <a:custGeom>
              <a:avLst/>
              <a:gdLst/>
              <a:ahLst/>
              <a:cxnLst/>
              <a:rect l="l" t="t" r="r" b="b"/>
              <a:pathLst>
                <a:path w="628650" h="655320">
                  <a:moveTo>
                    <a:pt x="0" y="104748"/>
                  </a:moveTo>
                  <a:lnTo>
                    <a:pt x="8231" y="63975"/>
                  </a:lnTo>
                  <a:lnTo>
                    <a:pt x="30679" y="30679"/>
                  </a:lnTo>
                  <a:lnTo>
                    <a:pt x="63975" y="8231"/>
                  </a:lnTo>
                  <a:lnTo>
                    <a:pt x="104748" y="0"/>
                  </a:lnTo>
                  <a:lnTo>
                    <a:pt x="523728" y="0"/>
                  </a:lnTo>
                  <a:lnTo>
                    <a:pt x="564500" y="8231"/>
                  </a:lnTo>
                  <a:lnTo>
                    <a:pt x="597796" y="30679"/>
                  </a:lnTo>
                  <a:lnTo>
                    <a:pt x="620244" y="63975"/>
                  </a:lnTo>
                  <a:lnTo>
                    <a:pt x="628476" y="104748"/>
                  </a:lnTo>
                  <a:lnTo>
                    <a:pt x="628476" y="549954"/>
                  </a:lnTo>
                  <a:lnTo>
                    <a:pt x="620244" y="590726"/>
                  </a:lnTo>
                  <a:lnTo>
                    <a:pt x="597796" y="624022"/>
                  </a:lnTo>
                  <a:lnTo>
                    <a:pt x="564500" y="646470"/>
                  </a:lnTo>
                  <a:lnTo>
                    <a:pt x="523728" y="654702"/>
                  </a:lnTo>
                  <a:lnTo>
                    <a:pt x="104748" y="654702"/>
                  </a:lnTo>
                  <a:lnTo>
                    <a:pt x="63975" y="646470"/>
                  </a:lnTo>
                  <a:lnTo>
                    <a:pt x="30679" y="624022"/>
                  </a:lnTo>
                  <a:lnTo>
                    <a:pt x="8231" y="590726"/>
                  </a:lnTo>
                  <a:lnTo>
                    <a:pt x="0" y="549954"/>
                  </a:lnTo>
                  <a:lnTo>
                    <a:pt x="0" y="104748"/>
                  </a:lnTo>
                  <a:close/>
                </a:path>
              </a:pathLst>
            </a:custGeom>
            <a:ln w="12700">
              <a:solidFill>
                <a:srgbClr val="D7E4BD"/>
              </a:solidFill>
            </a:ln>
          </p:spPr>
          <p:txBody>
            <a:bodyPr wrap="square" lIns="0" tIns="0" rIns="0" bIns="0" rtlCol="0"/>
            <a:lstStyle/>
            <a:p>
              <a:endParaRPr sz="1266"/>
            </a:p>
          </p:txBody>
        </p:sp>
      </p:grpSp>
      <p:sp>
        <p:nvSpPr>
          <p:cNvPr id="7" name="object 7"/>
          <p:cNvSpPr txBox="1"/>
          <p:nvPr/>
        </p:nvSpPr>
        <p:spPr>
          <a:xfrm>
            <a:off x="5087530" y="2562821"/>
            <a:ext cx="232172" cy="268640"/>
          </a:xfrm>
          <a:prstGeom prst="rect">
            <a:avLst/>
          </a:prstGeom>
        </p:spPr>
        <p:txBody>
          <a:bodyPr vert="horz" wrap="square" lIns="0" tIns="8930" rIns="0" bIns="0" rtlCol="0">
            <a:spAutoFit/>
          </a:bodyPr>
          <a:lstStyle/>
          <a:p>
            <a:pPr marL="26788">
              <a:spcBef>
                <a:spcPts val="70"/>
              </a:spcBef>
            </a:pPr>
            <a:r>
              <a:rPr sz="1687" spc="-80" dirty="0">
                <a:solidFill>
                  <a:srgbClr val="FFFFFF"/>
                </a:solidFill>
                <a:latin typeface="Arial MT"/>
                <a:cs typeface="Arial MT"/>
              </a:rPr>
              <a:t>h</a:t>
            </a:r>
            <a:r>
              <a:rPr sz="1687" spc="-121" baseline="-17361" dirty="0">
                <a:solidFill>
                  <a:srgbClr val="FFFFFF"/>
                </a:solidFill>
                <a:latin typeface="Arial MT"/>
                <a:cs typeface="Arial MT"/>
              </a:rPr>
              <a:t>1</a:t>
            </a:r>
            <a:endParaRPr sz="1687" baseline="-17361">
              <a:latin typeface="Arial MT"/>
              <a:cs typeface="Arial MT"/>
            </a:endParaRPr>
          </a:p>
        </p:txBody>
      </p:sp>
      <p:grpSp>
        <p:nvGrpSpPr>
          <p:cNvPr id="8" name="object 8"/>
          <p:cNvGrpSpPr/>
          <p:nvPr/>
        </p:nvGrpSpPr>
        <p:grpSpPr>
          <a:xfrm>
            <a:off x="5583099" y="2486148"/>
            <a:ext cx="450949" cy="469702"/>
            <a:chOff x="5772941" y="3535855"/>
            <a:chExt cx="641350" cy="668020"/>
          </a:xfrm>
        </p:grpSpPr>
        <p:sp>
          <p:nvSpPr>
            <p:cNvPr id="9" name="object 9"/>
            <p:cNvSpPr/>
            <p:nvPr/>
          </p:nvSpPr>
          <p:spPr>
            <a:xfrm>
              <a:off x="5779291" y="3542205"/>
              <a:ext cx="628650" cy="655320"/>
            </a:xfrm>
            <a:custGeom>
              <a:avLst/>
              <a:gdLst/>
              <a:ahLst/>
              <a:cxnLst/>
              <a:rect l="l" t="t" r="r" b="b"/>
              <a:pathLst>
                <a:path w="628650" h="655320">
                  <a:moveTo>
                    <a:pt x="523728" y="0"/>
                  </a:moveTo>
                  <a:lnTo>
                    <a:pt x="104748" y="0"/>
                  </a:lnTo>
                  <a:lnTo>
                    <a:pt x="63975" y="8231"/>
                  </a:lnTo>
                  <a:lnTo>
                    <a:pt x="30680" y="30680"/>
                  </a:lnTo>
                  <a:lnTo>
                    <a:pt x="8231" y="63975"/>
                  </a:lnTo>
                  <a:lnTo>
                    <a:pt x="0" y="104748"/>
                  </a:lnTo>
                  <a:lnTo>
                    <a:pt x="0" y="549953"/>
                  </a:lnTo>
                  <a:lnTo>
                    <a:pt x="8231" y="590726"/>
                  </a:lnTo>
                  <a:lnTo>
                    <a:pt x="30680" y="624021"/>
                  </a:lnTo>
                  <a:lnTo>
                    <a:pt x="63975" y="646469"/>
                  </a:lnTo>
                  <a:lnTo>
                    <a:pt x="104748" y="654701"/>
                  </a:lnTo>
                  <a:lnTo>
                    <a:pt x="523728" y="654701"/>
                  </a:lnTo>
                  <a:lnTo>
                    <a:pt x="564501" y="646469"/>
                  </a:lnTo>
                  <a:lnTo>
                    <a:pt x="597796" y="624021"/>
                  </a:lnTo>
                  <a:lnTo>
                    <a:pt x="620244" y="590726"/>
                  </a:lnTo>
                  <a:lnTo>
                    <a:pt x="628476" y="549953"/>
                  </a:lnTo>
                  <a:lnTo>
                    <a:pt x="628476" y="104748"/>
                  </a:lnTo>
                  <a:lnTo>
                    <a:pt x="620244" y="63975"/>
                  </a:lnTo>
                  <a:lnTo>
                    <a:pt x="597796" y="30680"/>
                  </a:lnTo>
                  <a:lnTo>
                    <a:pt x="564501" y="8231"/>
                  </a:lnTo>
                  <a:lnTo>
                    <a:pt x="523728" y="0"/>
                  </a:lnTo>
                  <a:close/>
                </a:path>
              </a:pathLst>
            </a:custGeom>
            <a:solidFill>
              <a:srgbClr val="000000"/>
            </a:solidFill>
          </p:spPr>
          <p:txBody>
            <a:bodyPr wrap="square" lIns="0" tIns="0" rIns="0" bIns="0" rtlCol="0"/>
            <a:lstStyle/>
            <a:p>
              <a:endParaRPr sz="1266"/>
            </a:p>
          </p:txBody>
        </p:sp>
        <p:sp>
          <p:nvSpPr>
            <p:cNvPr id="10" name="object 10"/>
            <p:cNvSpPr/>
            <p:nvPr/>
          </p:nvSpPr>
          <p:spPr>
            <a:xfrm>
              <a:off x="5779291" y="3542205"/>
              <a:ext cx="628650" cy="655320"/>
            </a:xfrm>
            <a:custGeom>
              <a:avLst/>
              <a:gdLst/>
              <a:ahLst/>
              <a:cxnLst/>
              <a:rect l="l" t="t" r="r" b="b"/>
              <a:pathLst>
                <a:path w="628650" h="655320">
                  <a:moveTo>
                    <a:pt x="0" y="104748"/>
                  </a:moveTo>
                  <a:lnTo>
                    <a:pt x="8231" y="63975"/>
                  </a:lnTo>
                  <a:lnTo>
                    <a:pt x="30679" y="30679"/>
                  </a:lnTo>
                  <a:lnTo>
                    <a:pt x="63975" y="8231"/>
                  </a:lnTo>
                  <a:lnTo>
                    <a:pt x="104748" y="0"/>
                  </a:lnTo>
                  <a:lnTo>
                    <a:pt x="523728" y="0"/>
                  </a:lnTo>
                  <a:lnTo>
                    <a:pt x="564500" y="8231"/>
                  </a:lnTo>
                  <a:lnTo>
                    <a:pt x="597796" y="30679"/>
                  </a:lnTo>
                  <a:lnTo>
                    <a:pt x="620244" y="63975"/>
                  </a:lnTo>
                  <a:lnTo>
                    <a:pt x="628476" y="104748"/>
                  </a:lnTo>
                  <a:lnTo>
                    <a:pt x="628476" y="549954"/>
                  </a:lnTo>
                  <a:lnTo>
                    <a:pt x="620244" y="590726"/>
                  </a:lnTo>
                  <a:lnTo>
                    <a:pt x="597796" y="624022"/>
                  </a:lnTo>
                  <a:lnTo>
                    <a:pt x="564500" y="646470"/>
                  </a:lnTo>
                  <a:lnTo>
                    <a:pt x="523728" y="654702"/>
                  </a:lnTo>
                  <a:lnTo>
                    <a:pt x="104748" y="654702"/>
                  </a:lnTo>
                  <a:lnTo>
                    <a:pt x="63975" y="646470"/>
                  </a:lnTo>
                  <a:lnTo>
                    <a:pt x="30679" y="624022"/>
                  </a:lnTo>
                  <a:lnTo>
                    <a:pt x="8231" y="590726"/>
                  </a:lnTo>
                  <a:lnTo>
                    <a:pt x="0" y="549954"/>
                  </a:lnTo>
                  <a:lnTo>
                    <a:pt x="0" y="104748"/>
                  </a:lnTo>
                  <a:close/>
                </a:path>
              </a:pathLst>
            </a:custGeom>
            <a:ln w="12700">
              <a:solidFill>
                <a:srgbClr val="D7E4BD"/>
              </a:solidFill>
            </a:ln>
          </p:spPr>
          <p:txBody>
            <a:bodyPr wrap="square" lIns="0" tIns="0" rIns="0" bIns="0" rtlCol="0"/>
            <a:lstStyle/>
            <a:p>
              <a:endParaRPr sz="1266"/>
            </a:p>
          </p:txBody>
        </p:sp>
      </p:grpSp>
      <p:sp>
        <p:nvSpPr>
          <p:cNvPr id="11" name="object 11"/>
          <p:cNvSpPr txBox="1"/>
          <p:nvPr/>
        </p:nvSpPr>
        <p:spPr>
          <a:xfrm>
            <a:off x="5692427" y="2573536"/>
            <a:ext cx="232172" cy="268640"/>
          </a:xfrm>
          <a:prstGeom prst="rect">
            <a:avLst/>
          </a:prstGeom>
        </p:spPr>
        <p:txBody>
          <a:bodyPr vert="horz" wrap="square" lIns="0" tIns="8930" rIns="0" bIns="0" rtlCol="0">
            <a:spAutoFit/>
          </a:bodyPr>
          <a:lstStyle/>
          <a:p>
            <a:pPr marL="26788">
              <a:spcBef>
                <a:spcPts val="70"/>
              </a:spcBef>
            </a:pPr>
            <a:r>
              <a:rPr sz="1687" spc="-80" dirty="0">
                <a:solidFill>
                  <a:srgbClr val="FFFFFF"/>
                </a:solidFill>
                <a:latin typeface="Arial MT"/>
                <a:cs typeface="Arial MT"/>
              </a:rPr>
              <a:t>h</a:t>
            </a:r>
            <a:r>
              <a:rPr sz="1687" spc="-121" baseline="-17361" dirty="0">
                <a:solidFill>
                  <a:srgbClr val="FFFFFF"/>
                </a:solidFill>
                <a:latin typeface="Arial MT"/>
                <a:cs typeface="Arial MT"/>
              </a:rPr>
              <a:t>2</a:t>
            </a:r>
            <a:endParaRPr sz="1687" baseline="-17361">
              <a:latin typeface="Arial MT"/>
              <a:cs typeface="Arial MT"/>
            </a:endParaRPr>
          </a:p>
        </p:txBody>
      </p:sp>
      <p:grpSp>
        <p:nvGrpSpPr>
          <p:cNvPr id="12" name="object 12"/>
          <p:cNvGrpSpPr/>
          <p:nvPr/>
        </p:nvGrpSpPr>
        <p:grpSpPr>
          <a:xfrm>
            <a:off x="7182956" y="2475598"/>
            <a:ext cx="450949" cy="469702"/>
            <a:chOff x="8048293" y="3520851"/>
            <a:chExt cx="641350" cy="668020"/>
          </a:xfrm>
        </p:grpSpPr>
        <p:sp>
          <p:nvSpPr>
            <p:cNvPr id="13" name="object 13"/>
            <p:cNvSpPr/>
            <p:nvPr/>
          </p:nvSpPr>
          <p:spPr>
            <a:xfrm>
              <a:off x="8054643" y="3527201"/>
              <a:ext cx="628650" cy="655320"/>
            </a:xfrm>
            <a:custGeom>
              <a:avLst/>
              <a:gdLst/>
              <a:ahLst/>
              <a:cxnLst/>
              <a:rect l="l" t="t" r="r" b="b"/>
              <a:pathLst>
                <a:path w="628650" h="655320">
                  <a:moveTo>
                    <a:pt x="523727" y="0"/>
                  </a:moveTo>
                  <a:lnTo>
                    <a:pt x="104748" y="0"/>
                  </a:lnTo>
                  <a:lnTo>
                    <a:pt x="63975" y="8231"/>
                  </a:lnTo>
                  <a:lnTo>
                    <a:pt x="30680" y="30679"/>
                  </a:lnTo>
                  <a:lnTo>
                    <a:pt x="8231" y="63974"/>
                  </a:lnTo>
                  <a:lnTo>
                    <a:pt x="0" y="104747"/>
                  </a:lnTo>
                  <a:lnTo>
                    <a:pt x="0" y="549953"/>
                  </a:lnTo>
                  <a:lnTo>
                    <a:pt x="8231" y="590726"/>
                  </a:lnTo>
                  <a:lnTo>
                    <a:pt x="30680" y="624021"/>
                  </a:lnTo>
                  <a:lnTo>
                    <a:pt x="63975" y="646469"/>
                  </a:lnTo>
                  <a:lnTo>
                    <a:pt x="104748" y="654701"/>
                  </a:lnTo>
                  <a:lnTo>
                    <a:pt x="523727" y="654701"/>
                  </a:lnTo>
                  <a:lnTo>
                    <a:pt x="564500" y="646469"/>
                  </a:lnTo>
                  <a:lnTo>
                    <a:pt x="597795" y="624021"/>
                  </a:lnTo>
                  <a:lnTo>
                    <a:pt x="620244" y="590726"/>
                  </a:lnTo>
                  <a:lnTo>
                    <a:pt x="628476" y="549953"/>
                  </a:lnTo>
                  <a:lnTo>
                    <a:pt x="628476" y="104747"/>
                  </a:lnTo>
                  <a:lnTo>
                    <a:pt x="620244" y="63974"/>
                  </a:lnTo>
                  <a:lnTo>
                    <a:pt x="597795" y="30679"/>
                  </a:lnTo>
                  <a:lnTo>
                    <a:pt x="564500" y="8231"/>
                  </a:lnTo>
                  <a:lnTo>
                    <a:pt x="523727" y="0"/>
                  </a:lnTo>
                  <a:close/>
                </a:path>
              </a:pathLst>
            </a:custGeom>
            <a:solidFill>
              <a:srgbClr val="000000"/>
            </a:solidFill>
          </p:spPr>
          <p:txBody>
            <a:bodyPr wrap="square" lIns="0" tIns="0" rIns="0" bIns="0" rtlCol="0"/>
            <a:lstStyle/>
            <a:p>
              <a:endParaRPr sz="1266"/>
            </a:p>
          </p:txBody>
        </p:sp>
        <p:sp>
          <p:nvSpPr>
            <p:cNvPr id="14" name="object 14"/>
            <p:cNvSpPr/>
            <p:nvPr/>
          </p:nvSpPr>
          <p:spPr>
            <a:xfrm>
              <a:off x="8054643" y="3527201"/>
              <a:ext cx="628650" cy="655320"/>
            </a:xfrm>
            <a:custGeom>
              <a:avLst/>
              <a:gdLst/>
              <a:ahLst/>
              <a:cxnLst/>
              <a:rect l="l" t="t" r="r" b="b"/>
              <a:pathLst>
                <a:path w="628650" h="655320">
                  <a:moveTo>
                    <a:pt x="0" y="104748"/>
                  </a:moveTo>
                  <a:lnTo>
                    <a:pt x="8231" y="63975"/>
                  </a:lnTo>
                  <a:lnTo>
                    <a:pt x="30679" y="30679"/>
                  </a:lnTo>
                  <a:lnTo>
                    <a:pt x="63975" y="8231"/>
                  </a:lnTo>
                  <a:lnTo>
                    <a:pt x="104748" y="0"/>
                  </a:lnTo>
                  <a:lnTo>
                    <a:pt x="523728" y="0"/>
                  </a:lnTo>
                  <a:lnTo>
                    <a:pt x="564500" y="8231"/>
                  </a:lnTo>
                  <a:lnTo>
                    <a:pt x="597796" y="30679"/>
                  </a:lnTo>
                  <a:lnTo>
                    <a:pt x="620244" y="63975"/>
                  </a:lnTo>
                  <a:lnTo>
                    <a:pt x="628476" y="104748"/>
                  </a:lnTo>
                  <a:lnTo>
                    <a:pt x="628476" y="549954"/>
                  </a:lnTo>
                  <a:lnTo>
                    <a:pt x="620244" y="590726"/>
                  </a:lnTo>
                  <a:lnTo>
                    <a:pt x="597796" y="624022"/>
                  </a:lnTo>
                  <a:lnTo>
                    <a:pt x="564500" y="646470"/>
                  </a:lnTo>
                  <a:lnTo>
                    <a:pt x="523728" y="654702"/>
                  </a:lnTo>
                  <a:lnTo>
                    <a:pt x="104748" y="654702"/>
                  </a:lnTo>
                  <a:lnTo>
                    <a:pt x="63975" y="646470"/>
                  </a:lnTo>
                  <a:lnTo>
                    <a:pt x="30679" y="624022"/>
                  </a:lnTo>
                  <a:lnTo>
                    <a:pt x="8231" y="590726"/>
                  </a:lnTo>
                  <a:lnTo>
                    <a:pt x="0" y="549954"/>
                  </a:lnTo>
                  <a:lnTo>
                    <a:pt x="0" y="104748"/>
                  </a:lnTo>
                  <a:close/>
                </a:path>
              </a:pathLst>
            </a:custGeom>
            <a:ln w="12700">
              <a:solidFill>
                <a:srgbClr val="D7E4BD"/>
              </a:solidFill>
            </a:ln>
          </p:spPr>
          <p:txBody>
            <a:bodyPr wrap="square" lIns="0" tIns="0" rIns="0" bIns="0" rtlCol="0"/>
            <a:lstStyle/>
            <a:p>
              <a:endParaRPr sz="1266"/>
            </a:p>
          </p:txBody>
        </p:sp>
      </p:grpSp>
      <p:sp>
        <p:nvSpPr>
          <p:cNvPr id="15" name="object 15"/>
          <p:cNvSpPr txBox="1"/>
          <p:nvPr/>
        </p:nvSpPr>
        <p:spPr>
          <a:xfrm>
            <a:off x="7294515" y="2562821"/>
            <a:ext cx="228154" cy="268640"/>
          </a:xfrm>
          <a:prstGeom prst="rect">
            <a:avLst/>
          </a:prstGeom>
        </p:spPr>
        <p:txBody>
          <a:bodyPr vert="horz" wrap="square" lIns="0" tIns="8930" rIns="0" bIns="0" rtlCol="0">
            <a:spAutoFit/>
          </a:bodyPr>
          <a:lstStyle/>
          <a:p>
            <a:pPr marL="26788">
              <a:spcBef>
                <a:spcPts val="70"/>
              </a:spcBef>
            </a:pPr>
            <a:r>
              <a:rPr sz="1687" spc="-98" dirty="0">
                <a:solidFill>
                  <a:srgbClr val="FFFFFF"/>
                </a:solidFill>
                <a:latin typeface="Arial MT"/>
                <a:cs typeface="Arial MT"/>
              </a:rPr>
              <a:t>h</a:t>
            </a:r>
            <a:r>
              <a:rPr sz="1687" i="1" spc="-147" baseline="-17361" dirty="0">
                <a:solidFill>
                  <a:srgbClr val="FFFFFF"/>
                </a:solidFill>
                <a:latin typeface="Arial"/>
                <a:cs typeface="Arial"/>
              </a:rPr>
              <a:t>n</a:t>
            </a:r>
            <a:endParaRPr sz="1687" baseline="-17361">
              <a:latin typeface="Arial"/>
              <a:cs typeface="Arial"/>
            </a:endParaRPr>
          </a:p>
        </p:txBody>
      </p:sp>
      <p:sp>
        <p:nvSpPr>
          <p:cNvPr id="16" name="object 16"/>
          <p:cNvSpPr txBox="1"/>
          <p:nvPr/>
        </p:nvSpPr>
        <p:spPr>
          <a:xfrm>
            <a:off x="6575407" y="2496383"/>
            <a:ext cx="343346" cy="787948"/>
          </a:xfrm>
          <a:prstGeom prst="rect">
            <a:avLst/>
          </a:prstGeom>
        </p:spPr>
        <p:txBody>
          <a:bodyPr vert="horz" wrap="square" lIns="0" tIns="8930" rIns="0" bIns="0" rtlCol="0">
            <a:spAutoFit/>
          </a:bodyPr>
          <a:lstStyle/>
          <a:p>
            <a:pPr marL="8929">
              <a:spcBef>
                <a:spcPts val="70"/>
              </a:spcBef>
            </a:pPr>
            <a:r>
              <a:rPr sz="2531" spc="-151" dirty="0">
                <a:latin typeface="Arial MT"/>
                <a:cs typeface="Arial MT"/>
              </a:rPr>
              <a:t>.</a:t>
            </a:r>
            <a:r>
              <a:rPr sz="2531" spc="-257" dirty="0">
                <a:latin typeface="Arial MT"/>
                <a:cs typeface="Arial MT"/>
              </a:rPr>
              <a:t> </a:t>
            </a:r>
            <a:r>
              <a:rPr sz="2531" spc="-151" dirty="0">
                <a:latin typeface="Arial MT"/>
                <a:cs typeface="Arial MT"/>
              </a:rPr>
              <a:t>.</a:t>
            </a:r>
            <a:r>
              <a:rPr sz="2531" spc="-257" dirty="0">
                <a:latin typeface="Arial MT"/>
                <a:cs typeface="Arial MT"/>
              </a:rPr>
              <a:t> </a:t>
            </a:r>
            <a:r>
              <a:rPr sz="2531" spc="-151" dirty="0">
                <a:latin typeface="Arial MT"/>
                <a:cs typeface="Arial MT"/>
              </a:rPr>
              <a:t>.</a:t>
            </a:r>
            <a:endParaRPr sz="2531">
              <a:latin typeface="Arial MT"/>
              <a:cs typeface="Arial MT"/>
            </a:endParaRPr>
          </a:p>
        </p:txBody>
      </p:sp>
      <p:sp>
        <p:nvSpPr>
          <p:cNvPr id="17" name="object 17"/>
          <p:cNvSpPr/>
          <p:nvPr/>
        </p:nvSpPr>
        <p:spPr>
          <a:xfrm>
            <a:off x="4982667" y="3363910"/>
            <a:ext cx="442020" cy="414338"/>
          </a:xfrm>
          <a:custGeom>
            <a:avLst/>
            <a:gdLst/>
            <a:ahLst/>
            <a:cxnLst/>
            <a:rect l="l" t="t" r="r" b="b"/>
            <a:pathLst>
              <a:path w="628650" h="589279">
                <a:moveTo>
                  <a:pt x="314238" y="0"/>
                </a:moveTo>
                <a:lnTo>
                  <a:pt x="263267" y="3856"/>
                </a:lnTo>
                <a:lnTo>
                  <a:pt x="214914" y="15019"/>
                </a:lnTo>
                <a:lnTo>
                  <a:pt x="169827" y="32884"/>
                </a:lnTo>
                <a:lnTo>
                  <a:pt x="128653" y="56843"/>
                </a:lnTo>
                <a:lnTo>
                  <a:pt x="92038" y="86290"/>
                </a:lnTo>
                <a:lnTo>
                  <a:pt x="60629" y="120619"/>
                </a:lnTo>
                <a:lnTo>
                  <a:pt x="35074" y="159222"/>
                </a:lnTo>
                <a:lnTo>
                  <a:pt x="16020" y="201493"/>
                </a:lnTo>
                <a:lnTo>
                  <a:pt x="4112" y="246826"/>
                </a:lnTo>
                <a:lnTo>
                  <a:pt x="0" y="294614"/>
                </a:lnTo>
                <a:lnTo>
                  <a:pt x="4112" y="342402"/>
                </a:lnTo>
                <a:lnTo>
                  <a:pt x="16020" y="387736"/>
                </a:lnTo>
                <a:lnTo>
                  <a:pt x="35074" y="430007"/>
                </a:lnTo>
                <a:lnTo>
                  <a:pt x="60629" y="468611"/>
                </a:lnTo>
                <a:lnTo>
                  <a:pt x="92038" y="502939"/>
                </a:lnTo>
                <a:lnTo>
                  <a:pt x="128653" y="532386"/>
                </a:lnTo>
                <a:lnTo>
                  <a:pt x="169827" y="556346"/>
                </a:lnTo>
                <a:lnTo>
                  <a:pt x="214914" y="574210"/>
                </a:lnTo>
                <a:lnTo>
                  <a:pt x="263267" y="585374"/>
                </a:lnTo>
                <a:lnTo>
                  <a:pt x="314238" y="589230"/>
                </a:lnTo>
                <a:lnTo>
                  <a:pt x="365209" y="585374"/>
                </a:lnTo>
                <a:lnTo>
                  <a:pt x="413561" y="574210"/>
                </a:lnTo>
                <a:lnTo>
                  <a:pt x="458648" y="556346"/>
                </a:lnTo>
                <a:lnTo>
                  <a:pt x="499822" y="532386"/>
                </a:lnTo>
                <a:lnTo>
                  <a:pt x="536437" y="502939"/>
                </a:lnTo>
                <a:lnTo>
                  <a:pt x="567846" y="468611"/>
                </a:lnTo>
                <a:lnTo>
                  <a:pt x="593401" y="430007"/>
                </a:lnTo>
                <a:lnTo>
                  <a:pt x="612455" y="387736"/>
                </a:lnTo>
                <a:lnTo>
                  <a:pt x="624363" y="342402"/>
                </a:lnTo>
                <a:lnTo>
                  <a:pt x="628476" y="294614"/>
                </a:lnTo>
                <a:lnTo>
                  <a:pt x="624363" y="246826"/>
                </a:lnTo>
                <a:lnTo>
                  <a:pt x="612455" y="201493"/>
                </a:lnTo>
                <a:lnTo>
                  <a:pt x="593401" y="159222"/>
                </a:lnTo>
                <a:lnTo>
                  <a:pt x="567846" y="120619"/>
                </a:lnTo>
                <a:lnTo>
                  <a:pt x="536437" y="86290"/>
                </a:lnTo>
                <a:lnTo>
                  <a:pt x="499822" y="56843"/>
                </a:lnTo>
                <a:lnTo>
                  <a:pt x="458648" y="32884"/>
                </a:lnTo>
                <a:lnTo>
                  <a:pt x="413561" y="15019"/>
                </a:lnTo>
                <a:lnTo>
                  <a:pt x="365209" y="3856"/>
                </a:lnTo>
                <a:lnTo>
                  <a:pt x="314238" y="0"/>
                </a:lnTo>
                <a:close/>
              </a:path>
            </a:pathLst>
          </a:custGeom>
          <a:solidFill>
            <a:srgbClr val="000000"/>
          </a:solidFill>
        </p:spPr>
        <p:txBody>
          <a:bodyPr wrap="square" lIns="0" tIns="0" rIns="0" bIns="0" rtlCol="0"/>
          <a:lstStyle/>
          <a:p>
            <a:endParaRPr sz="1266"/>
          </a:p>
        </p:txBody>
      </p:sp>
      <p:sp>
        <p:nvSpPr>
          <p:cNvPr id="18" name="object 18"/>
          <p:cNvSpPr txBox="1"/>
          <p:nvPr/>
        </p:nvSpPr>
        <p:spPr>
          <a:xfrm>
            <a:off x="5108180" y="3445073"/>
            <a:ext cx="189756" cy="225358"/>
          </a:xfrm>
          <a:prstGeom prst="rect">
            <a:avLst/>
          </a:prstGeom>
        </p:spPr>
        <p:txBody>
          <a:bodyPr vert="horz" wrap="square" lIns="0" tIns="8930" rIns="0" bIns="0" rtlCol="0">
            <a:spAutoFit/>
          </a:bodyPr>
          <a:lstStyle/>
          <a:p>
            <a:pPr marL="26788">
              <a:spcBef>
                <a:spcPts val="70"/>
              </a:spcBef>
            </a:pPr>
            <a:r>
              <a:rPr sz="1406" spc="-74" dirty="0">
                <a:solidFill>
                  <a:srgbClr val="FFFFFF"/>
                </a:solidFill>
                <a:latin typeface="Arial MT"/>
                <a:cs typeface="Arial MT"/>
              </a:rPr>
              <a:t>y</a:t>
            </a:r>
            <a:r>
              <a:rPr sz="1371" spc="-110" baseline="-17094" dirty="0">
                <a:solidFill>
                  <a:srgbClr val="FFFFFF"/>
                </a:solidFill>
                <a:latin typeface="Arial MT"/>
                <a:cs typeface="Arial MT"/>
              </a:rPr>
              <a:t>1</a:t>
            </a:r>
            <a:endParaRPr sz="1371" baseline="-17094">
              <a:latin typeface="Arial MT"/>
              <a:cs typeface="Arial MT"/>
            </a:endParaRPr>
          </a:p>
        </p:txBody>
      </p:sp>
      <p:sp>
        <p:nvSpPr>
          <p:cNvPr id="19" name="object 19"/>
          <p:cNvSpPr/>
          <p:nvPr/>
        </p:nvSpPr>
        <p:spPr>
          <a:xfrm>
            <a:off x="5586958" y="3378998"/>
            <a:ext cx="442020" cy="414338"/>
          </a:xfrm>
          <a:custGeom>
            <a:avLst/>
            <a:gdLst/>
            <a:ahLst/>
            <a:cxnLst/>
            <a:rect l="l" t="t" r="r" b="b"/>
            <a:pathLst>
              <a:path w="628650" h="589279">
                <a:moveTo>
                  <a:pt x="314237" y="0"/>
                </a:moveTo>
                <a:lnTo>
                  <a:pt x="263266" y="3856"/>
                </a:lnTo>
                <a:lnTo>
                  <a:pt x="214913" y="15019"/>
                </a:lnTo>
                <a:lnTo>
                  <a:pt x="169826" y="32884"/>
                </a:lnTo>
                <a:lnTo>
                  <a:pt x="128652" y="56843"/>
                </a:lnTo>
                <a:lnTo>
                  <a:pt x="92037" y="86291"/>
                </a:lnTo>
                <a:lnTo>
                  <a:pt x="60629" y="120619"/>
                </a:lnTo>
                <a:lnTo>
                  <a:pt x="35074" y="159223"/>
                </a:lnTo>
                <a:lnTo>
                  <a:pt x="16019" y="201494"/>
                </a:lnTo>
                <a:lnTo>
                  <a:pt x="4112" y="246827"/>
                </a:lnTo>
                <a:lnTo>
                  <a:pt x="0" y="294615"/>
                </a:lnTo>
                <a:lnTo>
                  <a:pt x="4112" y="342403"/>
                </a:lnTo>
                <a:lnTo>
                  <a:pt x="16019" y="387736"/>
                </a:lnTo>
                <a:lnTo>
                  <a:pt x="35074" y="430008"/>
                </a:lnTo>
                <a:lnTo>
                  <a:pt x="60629" y="468611"/>
                </a:lnTo>
                <a:lnTo>
                  <a:pt x="92037" y="502940"/>
                </a:lnTo>
                <a:lnTo>
                  <a:pt x="128652" y="532387"/>
                </a:lnTo>
                <a:lnTo>
                  <a:pt x="169826" y="556347"/>
                </a:lnTo>
                <a:lnTo>
                  <a:pt x="214913" y="574211"/>
                </a:lnTo>
                <a:lnTo>
                  <a:pt x="263266" y="585375"/>
                </a:lnTo>
                <a:lnTo>
                  <a:pt x="314237" y="589231"/>
                </a:lnTo>
                <a:lnTo>
                  <a:pt x="365208" y="585375"/>
                </a:lnTo>
                <a:lnTo>
                  <a:pt x="413561" y="574211"/>
                </a:lnTo>
                <a:lnTo>
                  <a:pt x="458648" y="556347"/>
                </a:lnTo>
                <a:lnTo>
                  <a:pt x="499822" y="532387"/>
                </a:lnTo>
                <a:lnTo>
                  <a:pt x="536437" y="502940"/>
                </a:lnTo>
                <a:lnTo>
                  <a:pt x="567846" y="468611"/>
                </a:lnTo>
                <a:lnTo>
                  <a:pt x="593401" y="430008"/>
                </a:lnTo>
                <a:lnTo>
                  <a:pt x="612455" y="387736"/>
                </a:lnTo>
                <a:lnTo>
                  <a:pt x="624363" y="342403"/>
                </a:lnTo>
                <a:lnTo>
                  <a:pt x="628476" y="294615"/>
                </a:lnTo>
                <a:lnTo>
                  <a:pt x="624363" y="246827"/>
                </a:lnTo>
                <a:lnTo>
                  <a:pt x="612455" y="201494"/>
                </a:lnTo>
                <a:lnTo>
                  <a:pt x="593401" y="159223"/>
                </a:lnTo>
                <a:lnTo>
                  <a:pt x="567846" y="120619"/>
                </a:lnTo>
                <a:lnTo>
                  <a:pt x="536437" y="86291"/>
                </a:lnTo>
                <a:lnTo>
                  <a:pt x="499822" y="56843"/>
                </a:lnTo>
                <a:lnTo>
                  <a:pt x="458648" y="32884"/>
                </a:lnTo>
                <a:lnTo>
                  <a:pt x="413561" y="15019"/>
                </a:lnTo>
                <a:lnTo>
                  <a:pt x="365208" y="3856"/>
                </a:lnTo>
                <a:lnTo>
                  <a:pt x="314237" y="0"/>
                </a:lnTo>
                <a:close/>
              </a:path>
            </a:pathLst>
          </a:custGeom>
          <a:solidFill>
            <a:srgbClr val="000000"/>
          </a:solidFill>
        </p:spPr>
        <p:txBody>
          <a:bodyPr wrap="square" lIns="0" tIns="0" rIns="0" bIns="0" rtlCol="0"/>
          <a:lstStyle/>
          <a:p>
            <a:endParaRPr sz="1266"/>
          </a:p>
        </p:txBody>
      </p:sp>
      <p:sp>
        <p:nvSpPr>
          <p:cNvPr id="20" name="object 20"/>
          <p:cNvSpPr txBox="1"/>
          <p:nvPr/>
        </p:nvSpPr>
        <p:spPr>
          <a:xfrm>
            <a:off x="5712471" y="3460075"/>
            <a:ext cx="189756" cy="225358"/>
          </a:xfrm>
          <a:prstGeom prst="rect">
            <a:avLst/>
          </a:prstGeom>
        </p:spPr>
        <p:txBody>
          <a:bodyPr vert="horz" wrap="square" lIns="0" tIns="8930" rIns="0" bIns="0" rtlCol="0">
            <a:spAutoFit/>
          </a:bodyPr>
          <a:lstStyle/>
          <a:p>
            <a:pPr marL="26788">
              <a:spcBef>
                <a:spcPts val="70"/>
              </a:spcBef>
            </a:pPr>
            <a:r>
              <a:rPr sz="1406" spc="-74" dirty="0">
                <a:solidFill>
                  <a:srgbClr val="FFFFFF"/>
                </a:solidFill>
                <a:latin typeface="Arial MT"/>
                <a:cs typeface="Arial MT"/>
              </a:rPr>
              <a:t>y</a:t>
            </a:r>
            <a:r>
              <a:rPr sz="1371" spc="-110" baseline="-17094" dirty="0">
                <a:solidFill>
                  <a:srgbClr val="FFFFFF"/>
                </a:solidFill>
                <a:latin typeface="Arial MT"/>
                <a:cs typeface="Arial MT"/>
              </a:rPr>
              <a:t>2</a:t>
            </a:r>
            <a:endParaRPr sz="1371" baseline="-17094">
              <a:latin typeface="Arial MT"/>
              <a:cs typeface="Arial MT"/>
            </a:endParaRPr>
          </a:p>
        </p:txBody>
      </p:sp>
      <p:sp>
        <p:nvSpPr>
          <p:cNvPr id="21" name="object 21"/>
          <p:cNvSpPr/>
          <p:nvPr/>
        </p:nvSpPr>
        <p:spPr>
          <a:xfrm>
            <a:off x="7186209" y="3363910"/>
            <a:ext cx="442020" cy="414338"/>
          </a:xfrm>
          <a:custGeom>
            <a:avLst/>
            <a:gdLst/>
            <a:ahLst/>
            <a:cxnLst/>
            <a:rect l="l" t="t" r="r" b="b"/>
            <a:pathLst>
              <a:path w="628650" h="589279">
                <a:moveTo>
                  <a:pt x="314238" y="0"/>
                </a:moveTo>
                <a:lnTo>
                  <a:pt x="263267" y="3856"/>
                </a:lnTo>
                <a:lnTo>
                  <a:pt x="214914" y="15019"/>
                </a:lnTo>
                <a:lnTo>
                  <a:pt x="169827" y="32884"/>
                </a:lnTo>
                <a:lnTo>
                  <a:pt x="128653" y="56843"/>
                </a:lnTo>
                <a:lnTo>
                  <a:pt x="92038" y="86290"/>
                </a:lnTo>
                <a:lnTo>
                  <a:pt x="60629" y="120619"/>
                </a:lnTo>
                <a:lnTo>
                  <a:pt x="35074" y="159222"/>
                </a:lnTo>
                <a:lnTo>
                  <a:pt x="16020" y="201493"/>
                </a:lnTo>
                <a:lnTo>
                  <a:pt x="4112" y="246826"/>
                </a:lnTo>
                <a:lnTo>
                  <a:pt x="0" y="294614"/>
                </a:lnTo>
                <a:lnTo>
                  <a:pt x="4112" y="342402"/>
                </a:lnTo>
                <a:lnTo>
                  <a:pt x="16020" y="387736"/>
                </a:lnTo>
                <a:lnTo>
                  <a:pt x="35074" y="430007"/>
                </a:lnTo>
                <a:lnTo>
                  <a:pt x="60629" y="468611"/>
                </a:lnTo>
                <a:lnTo>
                  <a:pt x="92038" y="502939"/>
                </a:lnTo>
                <a:lnTo>
                  <a:pt x="128653" y="532386"/>
                </a:lnTo>
                <a:lnTo>
                  <a:pt x="169827" y="556346"/>
                </a:lnTo>
                <a:lnTo>
                  <a:pt x="214914" y="574210"/>
                </a:lnTo>
                <a:lnTo>
                  <a:pt x="263267" y="585374"/>
                </a:lnTo>
                <a:lnTo>
                  <a:pt x="314238" y="589230"/>
                </a:lnTo>
                <a:lnTo>
                  <a:pt x="365209" y="585374"/>
                </a:lnTo>
                <a:lnTo>
                  <a:pt x="413562" y="574210"/>
                </a:lnTo>
                <a:lnTo>
                  <a:pt x="458649" y="556346"/>
                </a:lnTo>
                <a:lnTo>
                  <a:pt x="499823" y="532386"/>
                </a:lnTo>
                <a:lnTo>
                  <a:pt x="536438" y="502939"/>
                </a:lnTo>
                <a:lnTo>
                  <a:pt x="567847" y="468611"/>
                </a:lnTo>
                <a:lnTo>
                  <a:pt x="593402" y="430007"/>
                </a:lnTo>
                <a:lnTo>
                  <a:pt x="612457" y="387736"/>
                </a:lnTo>
                <a:lnTo>
                  <a:pt x="624364" y="342402"/>
                </a:lnTo>
                <a:lnTo>
                  <a:pt x="628477" y="294614"/>
                </a:lnTo>
                <a:lnTo>
                  <a:pt x="624364" y="246826"/>
                </a:lnTo>
                <a:lnTo>
                  <a:pt x="612457" y="201493"/>
                </a:lnTo>
                <a:lnTo>
                  <a:pt x="593402" y="159222"/>
                </a:lnTo>
                <a:lnTo>
                  <a:pt x="567847" y="120619"/>
                </a:lnTo>
                <a:lnTo>
                  <a:pt x="536438" y="86290"/>
                </a:lnTo>
                <a:lnTo>
                  <a:pt x="499823" y="56843"/>
                </a:lnTo>
                <a:lnTo>
                  <a:pt x="458649" y="32884"/>
                </a:lnTo>
                <a:lnTo>
                  <a:pt x="413562" y="15019"/>
                </a:lnTo>
                <a:lnTo>
                  <a:pt x="365209" y="3856"/>
                </a:lnTo>
                <a:lnTo>
                  <a:pt x="314238" y="0"/>
                </a:lnTo>
                <a:close/>
              </a:path>
            </a:pathLst>
          </a:custGeom>
          <a:solidFill>
            <a:srgbClr val="000000"/>
          </a:solidFill>
        </p:spPr>
        <p:txBody>
          <a:bodyPr wrap="square" lIns="0" tIns="0" rIns="0" bIns="0" rtlCol="0"/>
          <a:lstStyle/>
          <a:p>
            <a:endParaRPr sz="1266"/>
          </a:p>
        </p:txBody>
      </p:sp>
      <p:sp>
        <p:nvSpPr>
          <p:cNvPr id="22" name="object 22"/>
          <p:cNvSpPr txBox="1"/>
          <p:nvPr/>
        </p:nvSpPr>
        <p:spPr>
          <a:xfrm>
            <a:off x="7313396" y="3445073"/>
            <a:ext cx="186184" cy="225358"/>
          </a:xfrm>
          <a:prstGeom prst="rect">
            <a:avLst/>
          </a:prstGeom>
        </p:spPr>
        <p:txBody>
          <a:bodyPr vert="horz" wrap="square" lIns="0" tIns="8930" rIns="0" bIns="0" rtlCol="0">
            <a:spAutoFit/>
          </a:bodyPr>
          <a:lstStyle/>
          <a:p>
            <a:pPr marL="26788">
              <a:spcBef>
                <a:spcPts val="70"/>
              </a:spcBef>
            </a:pPr>
            <a:r>
              <a:rPr sz="1406" spc="-88" dirty="0">
                <a:solidFill>
                  <a:srgbClr val="FFFFFF"/>
                </a:solidFill>
                <a:latin typeface="Arial MT"/>
                <a:cs typeface="Arial MT"/>
              </a:rPr>
              <a:t>y</a:t>
            </a:r>
            <a:r>
              <a:rPr sz="1371" i="1" spc="-131" baseline="-17094" dirty="0">
                <a:solidFill>
                  <a:srgbClr val="FFFFFF"/>
                </a:solidFill>
                <a:latin typeface="Arial"/>
                <a:cs typeface="Arial"/>
              </a:rPr>
              <a:t>n</a:t>
            </a:r>
            <a:endParaRPr sz="1371" baseline="-17094">
              <a:latin typeface="Arial"/>
              <a:cs typeface="Arial"/>
            </a:endParaRPr>
          </a:p>
        </p:txBody>
      </p:sp>
      <p:sp>
        <p:nvSpPr>
          <p:cNvPr id="23" name="object 23"/>
          <p:cNvSpPr txBox="1"/>
          <p:nvPr/>
        </p:nvSpPr>
        <p:spPr>
          <a:xfrm>
            <a:off x="6575407" y="3319344"/>
            <a:ext cx="343346" cy="398483"/>
          </a:xfrm>
          <a:prstGeom prst="rect">
            <a:avLst/>
          </a:prstGeom>
        </p:spPr>
        <p:txBody>
          <a:bodyPr vert="horz" wrap="square" lIns="0" tIns="8930" rIns="0" bIns="0" rtlCol="0">
            <a:spAutoFit/>
          </a:bodyPr>
          <a:lstStyle/>
          <a:p>
            <a:pPr marL="8929">
              <a:spcBef>
                <a:spcPts val="70"/>
              </a:spcBef>
            </a:pPr>
            <a:r>
              <a:rPr sz="2531" spc="-151" dirty="0">
                <a:latin typeface="Arial MT"/>
                <a:cs typeface="Arial MT"/>
              </a:rPr>
              <a:t>.</a:t>
            </a:r>
            <a:r>
              <a:rPr sz="2531" spc="-257" dirty="0">
                <a:latin typeface="Arial MT"/>
                <a:cs typeface="Arial MT"/>
              </a:rPr>
              <a:t> </a:t>
            </a:r>
            <a:r>
              <a:rPr sz="2531" spc="-151" dirty="0">
                <a:latin typeface="Arial MT"/>
                <a:cs typeface="Arial MT"/>
              </a:rPr>
              <a:t>.</a:t>
            </a:r>
            <a:r>
              <a:rPr sz="2531" spc="-257" dirty="0">
                <a:latin typeface="Arial MT"/>
                <a:cs typeface="Arial MT"/>
              </a:rPr>
              <a:t> </a:t>
            </a:r>
            <a:r>
              <a:rPr sz="2531" spc="-151" dirty="0">
                <a:latin typeface="Arial MT"/>
                <a:cs typeface="Arial MT"/>
              </a:rPr>
              <a:t>.</a:t>
            </a:r>
            <a:endParaRPr sz="2531">
              <a:latin typeface="Arial MT"/>
              <a:cs typeface="Arial MT"/>
            </a:endParaRPr>
          </a:p>
        </p:txBody>
      </p:sp>
      <p:sp>
        <p:nvSpPr>
          <p:cNvPr id="24" name="object 24"/>
          <p:cNvSpPr/>
          <p:nvPr/>
        </p:nvSpPr>
        <p:spPr>
          <a:xfrm>
            <a:off x="4982667" y="4249122"/>
            <a:ext cx="2675780" cy="543371"/>
          </a:xfrm>
          <a:custGeom>
            <a:avLst/>
            <a:gdLst/>
            <a:ahLst/>
            <a:cxnLst/>
            <a:rect l="l" t="t" r="r" b="b"/>
            <a:pathLst>
              <a:path w="3805554" h="772795">
                <a:moveTo>
                  <a:pt x="3805417" y="0"/>
                </a:moveTo>
                <a:lnTo>
                  <a:pt x="1902717" y="772547"/>
                </a:lnTo>
                <a:lnTo>
                  <a:pt x="0" y="0"/>
                </a:lnTo>
                <a:lnTo>
                  <a:pt x="3805417" y="0"/>
                </a:lnTo>
                <a:close/>
              </a:path>
            </a:pathLst>
          </a:custGeom>
          <a:ln w="25400">
            <a:solidFill>
              <a:srgbClr val="000000"/>
            </a:solidFill>
          </a:ln>
        </p:spPr>
        <p:txBody>
          <a:bodyPr wrap="square" lIns="0" tIns="0" rIns="0" bIns="0" rtlCol="0"/>
          <a:lstStyle/>
          <a:p>
            <a:endParaRPr sz="1266"/>
          </a:p>
        </p:txBody>
      </p:sp>
      <p:sp>
        <p:nvSpPr>
          <p:cNvPr id="25" name="object 25"/>
          <p:cNvSpPr txBox="1"/>
          <p:nvPr/>
        </p:nvSpPr>
        <p:spPr>
          <a:xfrm>
            <a:off x="5988319" y="4308039"/>
            <a:ext cx="930434" cy="312049"/>
          </a:xfrm>
          <a:prstGeom prst="rect">
            <a:avLst/>
          </a:prstGeom>
        </p:spPr>
        <p:txBody>
          <a:bodyPr vert="horz" wrap="square" lIns="0" tIns="8930" rIns="0" bIns="0" rtlCol="0">
            <a:spAutoFit/>
          </a:bodyPr>
          <a:lstStyle/>
          <a:p>
            <a:pPr marL="8929">
              <a:spcBef>
                <a:spcPts val="70"/>
              </a:spcBef>
            </a:pPr>
            <a:r>
              <a:rPr sz="1969" spc="-327" dirty="0">
                <a:latin typeface="Arial MT"/>
                <a:cs typeface="Arial MT"/>
              </a:rPr>
              <a:t>V</a:t>
            </a:r>
            <a:r>
              <a:rPr sz="1969" spc="-7" dirty="0">
                <a:latin typeface="Arial MT"/>
                <a:cs typeface="Arial MT"/>
              </a:rPr>
              <a:t>o</a:t>
            </a:r>
            <a:r>
              <a:rPr sz="1969" spc="109" dirty="0">
                <a:latin typeface="Arial MT"/>
                <a:cs typeface="Arial MT"/>
              </a:rPr>
              <a:t>t</a:t>
            </a:r>
            <a:r>
              <a:rPr sz="1969" spc="-11" dirty="0">
                <a:latin typeface="Arial MT"/>
                <a:cs typeface="Arial MT"/>
              </a:rPr>
              <a:t>i</a:t>
            </a:r>
            <a:r>
              <a:rPr sz="1969" spc="-183" dirty="0">
                <a:latin typeface="Arial MT"/>
                <a:cs typeface="Arial MT"/>
              </a:rPr>
              <a:t>ng</a:t>
            </a:r>
            <a:endParaRPr sz="1969" dirty="0">
              <a:latin typeface="Arial MT"/>
              <a:cs typeface="Arial MT"/>
            </a:endParaRPr>
          </a:p>
        </p:txBody>
      </p:sp>
      <p:sp>
        <p:nvSpPr>
          <p:cNvPr id="26" name="object 26"/>
          <p:cNvSpPr/>
          <p:nvPr/>
        </p:nvSpPr>
        <p:spPr>
          <a:xfrm>
            <a:off x="6087202" y="5229309"/>
            <a:ext cx="506760" cy="414338"/>
          </a:xfrm>
          <a:custGeom>
            <a:avLst/>
            <a:gdLst/>
            <a:ahLst/>
            <a:cxnLst/>
            <a:rect l="l" t="t" r="r" b="b"/>
            <a:pathLst>
              <a:path w="720725" h="589279">
                <a:moveTo>
                  <a:pt x="572822" y="0"/>
                </a:moveTo>
                <a:lnTo>
                  <a:pt x="147307" y="0"/>
                </a:lnTo>
                <a:lnTo>
                  <a:pt x="0" y="294615"/>
                </a:lnTo>
                <a:lnTo>
                  <a:pt x="147307" y="589230"/>
                </a:lnTo>
                <a:lnTo>
                  <a:pt x="572822" y="589230"/>
                </a:lnTo>
                <a:lnTo>
                  <a:pt x="720129" y="294615"/>
                </a:lnTo>
                <a:lnTo>
                  <a:pt x="572822" y="0"/>
                </a:lnTo>
                <a:close/>
              </a:path>
            </a:pathLst>
          </a:custGeom>
          <a:solidFill>
            <a:srgbClr val="000000"/>
          </a:solidFill>
        </p:spPr>
        <p:txBody>
          <a:bodyPr wrap="square" lIns="0" tIns="0" rIns="0" bIns="0" rtlCol="0"/>
          <a:lstStyle/>
          <a:p>
            <a:endParaRPr sz="1266"/>
          </a:p>
        </p:txBody>
      </p:sp>
      <p:sp>
        <p:nvSpPr>
          <p:cNvPr id="27" name="object 27"/>
          <p:cNvSpPr txBox="1"/>
          <p:nvPr/>
        </p:nvSpPr>
        <p:spPr>
          <a:xfrm>
            <a:off x="6248842" y="5291019"/>
            <a:ext cx="183059" cy="268640"/>
          </a:xfrm>
          <a:prstGeom prst="rect">
            <a:avLst/>
          </a:prstGeom>
        </p:spPr>
        <p:txBody>
          <a:bodyPr vert="horz" wrap="square" lIns="0" tIns="8930" rIns="0" bIns="0" rtlCol="0">
            <a:spAutoFit/>
          </a:bodyPr>
          <a:lstStyle/>
          <a:p>
            <a:pPr marL="26788">
              <a:spcBef>
                <a:spcPts val="70"/>
              </a:spcBef>
            </a:pPr>
            <a:r>
              <a:rPr sz="1687" spc="-70" dirty="0">
                <a:solidFill>
                  <a:srgbClr val="FFFFFF"/>
                </a:solidFill>
                <a:latin typeface="Arial MT"/>
                <a:cs typeface="Arial MT"/>
              </a:rPr>
              <a:t>y</a:t>
            </a:r>
            <a:r>
              <a:rPr sz="1687" spc="-105" baseline="-17361" dirty="0">
                <a:solidFill>
                  <a:srgbClr val="FFFFFF"/>
                </a:solidFill>
                <a:latin typeface="Arial MT"/>
                <a:cs typeface="Arial MT"/>
              </a:rPr>
              <a:t>f</a:t>
            </a:r>
            <a:endParaRPr sz="1687" baseline="-17361">
              <a:latin typeface="Arial MT"/>
              <a:cs typeface="Arial MT"/>
            </a:endParaRPr>
          </a:p>
        </p:txBody>
      </p:sp>
      <p:sp>
        <p:nvSpPr>
          <p:cNvPr id="28" name="object 28"/>
          <p:cNvSpPr/>
          <p:nvPr/>
        </p:nvSpPr>
        <p:spPr>
          <a:xfrm>
            <a:off x="6288013" y="4851834"/>
            <a:ext cx="89297" cy="292001"/>
          </a:xfrm>
          <a:custGeom>
            <a:avLst/>
            <a:gdLst/>
            <a:ahLst/>
            <a:cxnLst/>
            <a:rect l="l" t="t" r="r" b="b"/>
            <a:pathLst>
              <a:path w="127000" h="415290">
                <a:moveTo>
                  <a:pt x="50799" y="287826"/>
                </a:moveTo>
                <a:lnTo>
                  <a:pt x="0" y="287826"/>
                </a:lnTo>
                <a:lnTo>
                  <a:pt x="63500" y="414826"/>
                </a:lnTo>
                <a:lnTo>
                  <a:pt x="120650" y="300526"/>
                </a:lnTo>
                <a:lnTo>
                  <a:pt x="50800" y="300526"/>
                </a:lnTo>
                <a:lnTo>
                  <a:pt x="50799" y="287826"/>
                </a:lnTo>
                <a:close/>
              </a:path>
              <a:path w="127000" h="415290">
                <a:moveTo>
                  <a:pt x="76198" y="0"/>
                </a:moveTo>
                <a:lnTo>
                  <a:pt x="50798" y="0"/>
                </a:lnTo>
                <a:lnTo>
                  <a:pt x="50800" y="300526"/>
                </a:lnTo>
                <a:lnTo>
                  <a:pt x="76200" y="300526"/>
                </a:lnTo>
                <a:lnTo>
                  <a:pt x="76198" y="0"/>
                </a:lnTo>
                <a:close/>
              </a:path>
              <a:path w="127000" h="415290">
                <a:moveTo>
                  <a:pt x="127000" y="287826"/>
                </a:moveTo>
                <a:lnTo>
                  <a:pt x="76199" y="287826"/>
                </a:lnTo>
                <a:lnTo>
                  <a:pt x="76200" y="300526"/>
                </a:lnTo>
                <a:lnTo>
                  <a:pt x="120650" y="300526"/>
                </a:lnTo>
                <a:lnTo>
                  <a:pt x="127000" y="287826"/>
                </a:lnTo>
                <a:close/>
              </a:path>
            </a:pathLst>
          </a:custGeom>
          <a:solidFill>
            <a:srgbClr val="000000"/>
          </a:solidFill>
        </p:spPr>
        <p:txBody>
          <a:bodyPr wrap="square" lIns="0" tIns="0" rIns="0" bIns="0" rtlCol="0"/>
          <a:lstStyle/>
          <a:p>
            <a:endParaRPr sz="1266"/>
          </a:p>
        </p:txBody>
      </p:sp>
      <p:sp>
        <p:nvSpPr>
          <p:cNvPr id="29" name="object 29"/>
          <p:cNvSpPr txBox="1"/>
          <p:nvPr/>
        </p:nvSpPr>
        <p:spPr>
          <a:xfrm>
            <a:off x="8396408" y="2166086"/>
            <a:ext cx="256480" cy="1138535"/>
          </a:xfrm>
          <a:prstGeom prst="rect">
            <a:avLst/>
          </a:prstGeom>
          <a:solidFill>
            <a:srgbClr val="D9D9D9"/>
          </a:solidFill>
          <a:ln w="25400">
            <a:solidFill>
              <a:srgbClr val="000000"/>
            </a:solidFill>
          </a:ln>
        </p:spPr>
        <p:txBody>
          <a:bodyPr vert="vert" wrap="square" lIns="0" tIns="0" rIns="0" bIns="0" rtlCol="0">
            <a:spAutoFit/>
          </a:bodyPr>
          <a:lstStyle/>
          <a:p>
            <a:pPr marL="75452">
              <a:lnSpc>
                <a:spcPts val="2032"/>
              </a:lnSpc>
            </a:pPr>
            <a:r>
              <a:rPr sz="1969" spc="-28" dirty="0">
                <a:latin typeface="Arial MT"/>
                <a:cs typeface="Arial MT"/>
              </a:rPr>
              <a:t>New</a:t>
            </a:r>
            <a:r>
              <a:rPr sz="1969" spc="-35" dirty="0">
                <a:latin typeface="Arial MT"/>
                <a:cs typeface="Arial MT"/>
              </a:rPr>
              <a:t> </a:t>
            </a:r>
            <a:r>
              <a:rPr sz="1969" spc="-123" dirty="0">
                <a:latin typeface="Arial MT"/>
                <a:cs typeface="Arial MT"/>
              </a:rPr>
              <a:t>data</a:t>
            </a:r>
            <a:endParaRPr sz="1969">
              <a:latin typeface="Arial MT"/>
              <a:cs typeface="Arial MT"/>
            </a:endParaRPr>
          </a:p>
        </p:txBody>
      </p:sp>
      <p:sp>
        <p:nvSpPr>
          <p:cNvPr id="30" name="object 30"/>
          <p:cNvSpPr/>
          <p:nvPr/>
        </p:nvSpPr>
        <p:spPr>
          <a:xfrm>
            <a:off x="7772835" y="2480064"/>
            <a:ext cx="368350" cy="404961"/>
          </a:xfrm>
          <a:custGeom>
            <a:avLst/>
            <a:gdLst/>
            <a:ahLst/>
            <a:cxnLst/>
            <a:rect l="l" t="t" r="r" b="b"/>
            <a:pathLst>
              <a:path w="523875" h="575945">
                <a:moveTo>
                  <a:pt x="0" y="287880"/>
                </a:moveTo>
                <a:lnTo>
                  <a:pt x="261865" y="0"/>
                </a:lnTo>
                <a:lnTo>
                  <a:pt x="261865" y="143940"/>
                </a:lnTo>
                <a:lnTo>
                  <a:pt x="523730" y="143940"/>
                </a:lnTo>
                <a:lnTo>
                  <a:pt x="523730" y="431820"/>
                </a:lnTo>
                <a:lnTo>
                  <a:pt x="261865" y="431820"/>
                </a:lnTo>
                <a:lnTo>
                  <a:pt x="261865" y="575760"/>
                </a:lnTo>
                <a:lnTo>
                  <a:pt x="0" y="287880"/>
                </a:lnTo>
                <a:close/>
              </a:path>
            </a:pathLst>
          </a:custGeom>
          <a:ln w="25400">
            <a:solidFill>
              <a:srgbClr val="000000"/>
            </a:solidFill>
          </a:ln>
        </p:spPr>
        <p:txBody>
          <a:bodyPr wrap="square" lIns="0" tIns="0" rIns="0" bIns="0" rtlCol="0"/>
          <a:lstStyle/>
          <a:p>
            <a:endParaRPr sz="1266"/>
          </a:p>
        </p:txBody>
      </p:sp>
      <p:grpSp>
        <p:nvGrpSpPr>
          <p:cNvPr id="31" name="object 31"/>
          <p:cNvGrpSpPr/>
          <p:nvPr/>
        </p:nvGrpSpPr>
        <p:grpSpPr>
          <a:xfrm>
            <a:off x="4757725" y="1756956"/>
            <a:ext cx="3062883" cy="2498080"/>
            <a:chOff x="4599075" y="2498781"/>
            <a:chExt cx="4356100" cy="3552825"/>
          </a:xfrm>
        </p:grpSpPr>
        <p:sp>
          <p:nvSpPr>
            <p:cNvPr id="32" name="object 32"/>
            <p:cNvSpPr/>
            <p:nvPr/>
          </p:nvSpPr>
          <p:spPr>
            <a:xfrm>
              <a:off x="5169725" y="4181868"/>
              <a:ext cx="3261360" cy="1870075"/>
            </a:xfrm>
            <a:custGeom>
              <a:avLst/>
              <a:gdLst/>
              <a:ahLst/>
              <a:cxnLst/>
              <a:rect l="l" t="t" r="r" b="b"/>
              <a:pathLst>
                <a:path w="3261359" h="1870075">
                  <a:moveTo>
                    <a:pt x="127000" y="1742706"/>
                  </a:moveTo>
                  <a:lnTo>
                    <a:pt x="76200" y="1742706"/>
                  </a:lnTo>
                  <a:lnTo>
                    <a:pt x="76200" y="1191590"/>
                  </a:lnTo>
                  <a:lnTo>
                    <a:pt x="50800" y="1191590"/>
                  </a:lnTo>
                  <a:lnTo>
                    <a:pt x="50800" y="1742706"/>
                  </a:lnTo>
                  <a:lnTo>
                    <a:pt x="0" y="1742706"/>
                  </a:lnTo>
                  <a:lnTo>
                    <a:pt x="63500" y="1869706"/>
                  </a:lnTo>
                  <a:lnTo>
                    <a:pt x="120650" y="1755406"/>
                  </a:lnTo>
                  <a:lnTo>
                    <a:pt x="127000" y="1742706"/>
                  </a:lnTo>
                  <a:close/>
                </a:path>
                <a:path w="3261359" h="1870075">
                  <a:moveTo>
                    <a:pt x="127000" y="475361"/>
                  </a:moveTo>
                  <a:lnTo>
                    <a:pt x="76200" y="475361"/>
                  </a:lnTo>
                  <a:lnTo>
                    <a:pt x="76200" y="38"/>
                  </a:lnTo>
                  <a:lnTo>
                    <a:pt x="50800" y="38"/>
                  </a:lnTo>
                  <a:lnTo>
                    <a:pt x="50800" y="475361"/>
                  </a:lnTo>
                  <a:lnTo>
                    <a:pt x="0" y="475361"/>
                  </a:lnTo>
                  <a:lnTo>
                    <a:pt x="63500" y="602361"/>
                  </a:lnTo>
                  <a:lnTo>
                    <a:pt x="120650" y="488061"/>
                  </a:lnTo>
                  <a:lnTo>
                    <a:pt x="127000" y="475361"/>
                  </a:lnTo>
                  <a:close/>
                </a:path>
                <a:path w="3261359" h="1870075">
                  <a:moveTo>
                    <a:pt x="986434" y="1734324"/>
                  </a:moveTo>
                  <a:lnTo>
                    <a:pt x="935634" y="1734337"/>
                  </a:lnTo>
                  <a:lnTo>
                    <a:pt x="935634" y="1213053"/>
                  </a:lnTo>
                  <a:lnTo>
                    <a:pt x="910234" y="1213053"/>
                  </a:lnTo>
                  <a:lnTo>
                    <a:pt x="910234" y="1734337"/>
                  </a:lnTo>
                  <a:lnTo>
                    <a:pt x="859434" y="1734337"/>
                  </a:lnTo>
                  <a:lnTo>
                    <a:pt x="922934" y="1861324"/>
                  </a:lnTo>
                  <a:lnTo>
                    <a:pt x="980084" y="1747037"/>
                  </a:lnTo>
                  <a:lnTo>
                    <a:pt x="986434" y="1734324"/>
                  </a:lnTo>
                  <a:close/>
                </a:path>
                <a:path w="3261359" h="1870075">
                  <a:moveTo>
                    <a:pt x="986612" y="496912"/>
                  </a:moveTo>
                  <a:lnTo>
                    <a:pt x="935812" y="496849"/>
                  </a:lnTo>
                  <a:lnTo>
                    <a:pt x="936498" y="15062"/>
                  </a:lnTo>
                  <a:lnTo>
                    <a:pt x="911098" y="15024"/>
                  </a:lnTo>
                  <a:lnTo>
                    <a:pt x="910412" y="496811"/>
                  </a:lnTo>
                  <a:lnTo>
                    <a:pt x="859612" y="496735"/>
                  </a:lnTo>
                  <a:lnTo>
                    <a:pt x="922934" y="623824"/>
                  </a:lnTo>
                  <a:lnTo>
                    <a:pt x="980274" y="509536"/>
                  </a:lnTo>
                  <a:lnTo>
                    <a:pt x="986612" y="496912"/>
                  </a:lnTo>
                  <a:close/>
                </a:path>
                <a:path w="3261359" h="1870075">
                  <a:moveTo>
                    <a:pt x="2323033" y="1734324"/>
                  </a:moveTo>
                  <a:lnTo>
                    <a:pt x="2272233" y="1734324"/>
                  </a:lnTo>
                  <a:lnTo>
                    <a:pt x="2272233" y="1179042"/>
                  </a:lnTo>
                  <a:lnTo>
                    <a:pt x="2246833" y="1179042"/>
                  </a:lnTo>
                  <a:lnTo>
                    <a:pt x="2246833" y="1734324"/>
                  </a:lnTo>
                  <a:lnTo>
                    <a:pt x="2196033" y="1734324"/>
                  </a:lnTo>
                  <a:lnTo>
                    <a:pt x="2259533" y="1861324"/>
                  </a:lnTo>
                  <a:lnTo>
                    <a:pt x="2316683" y="1747024"/>
                  </a:lnTo>
                  <a:lnTo>
                    <a:pt x="2323033" y="1734324"/>
                  </a:lnTo>
                  <a:close/>
                </a:path>
                <a:path w="3261359" h="1870075">
                  <a:moveTo>
                    <a:pt x="2323846" y="475361"/>
                  </a:moveTo>
                  <a:lnTo>
                    <a:pt x="2273046" y="475361"/>
                  </a:lnTo>
                  <a:lnTo>
                    <a:pt x="2273046" y="15049"/>
                  </a:lnTo>
                  <a:lnTo>
                    <a:pt x="2247646" y="15049"/>
                  </a:lnTo>
                  <a:lnTo>
                    <a:pt x="2247646" y="475361"/>
                  </a:lnTo>
                  <a:lnTo>
                    <a:pt x="2196846" y="475361"/>
                  </a:lnTo>
                  <a:lnTo>
                    <a:pt x="2260346" y="602361"/>
                  </a:lnTo>
                  <a:lnTo>
                    <a:pt x="2317496" y="488061"/>
                  </a:lnTo>
                  <a:lnTo>
                    <a:pt x="2323846" y="475361"/>
                  </a:lnTo>
                  <a:close/>
                </a:path>
                <a:path w="3261359" h="1870075">
                  <a:moveTo>
                    <a:pt x="3260928" y="1742706"/>
                  </a:moveTo>
                  <a:lnTo>
                    <a:pt x="3210128" y="1742706"/>
                  </a:lnTo>
                  <a:lnTo>
                    <a:pt x="3210128" y="1191590"/>
                  </a:lnTo>
                  <a:lnTo>
                    <a:pt x="3184728" y="1191590"/>
                  </a:lnTo>
                  <a:lnTo>
                    <a:pt x="3184728" y="1742706"/>
                  </a:lnTo>
                  <a:lnTo>
                    <a:pt x="3133928" y="1742706"/>
                  </a:lnTo>
                  <a:lnTo>
                    <a:pt x="3197428" y="1869706"/>
                  </a:lnTo>
                  <a:lnTo>
                    <a:pt x="3254578" y="1755406"/>
                  </a:lnTo>
                  <a:lnTo>
                    <a:pt x="3260928" y="1742706"/>
                  </a:lnTo>
                  <a:close/>
                </a:path>
                <a:path w="3261359" h="1870075">
                  <a:moveTo>
                    <a:pt x="3261296" y="475551"/>
                  </a:moveTo>
                  <a:lnTo>
                    <a:pt x="3210496" y="475399"/>
                  </a:lnTo>
                  <a:lnTo>
                    <a:pt x="3211855" y="76"/>
                  </a:lnTo>
                  <a:lnTo>
                    <a:pt x="3186455" y="0"/>
                  </a:lnTo>
                  <a:lnTo>
                    <a:pt x="3185096" y="475335"/>
                  </a:lnTo>
                  <a:lnTo>
                    <a:pt x="3134296" y="475183"/>
                  </a:lnTo>
                  <a:lnTo>
                    <a:pt x="3197428" y="602361"/>
                  </a:lnTo>
                  <a:lnTo>
                    <a:pt x="3254972" y="488099"/>
                  </a:lnTo>
                  <a:lnTo>
                    <a:pt x="3261296" y="475551"/>
                  </a:lnTo>
                  <a:close/>
                </a:path>
              </a:pathLst>
            </a:custGeom>
            <a:solidFill>
              <a:srgbClr val="000000"/>
            </a:solidFill>
          </p:spPr>
          <p:txBody>
            <a:bodyPr wrap="square" lIns="0" tIns="0" rIns="0" bIns="0" rtlCol="0"/>
            <a:lstStyle/>
            <a:p>
              <a:endParaRPr sz="1266"/>
            </a:p>
          </p:txBody>
        </p:sp>
        <p:sp>
          <p:nvSpPr>
            <p:cNvPr id="33" name="object 33"/>
            <p:cNvSpPr/>
            <p:nvPr/>
          </p:nvSpPr>
          <p:spPr>
            <a:xfrm>
              <a:off x="4607012" y="2506719"/>
              <a:ext cx="4340225" cy="483870"/>
            </a:xfrm>
            <a:custGeom>
              <a:avLst/>
              <a:gdLst/>
              <a:ahLst/>
              <a:cxnLst/>
              <a:rect l="l" t="t" r="r" b="b"/>
              <a:pathLst>
                <a:path w="4340225" h="483869">
                  <a:moveTo>
                    <a:pt x="4339986" y="0"/>
                  </a:moveTo>
                  <a:lnTo>
                    <a:pt x="4337930" y="76461"/>
                  </a:lnTo>
                  <a:lnTo>
                    <a:pt x="4332207" y="142868"/>
                  </a:lnTo>
                  <a:lnTo>
                    <a:pt x="4323480" y="195234"/>
                  </a:lnTo>
                  <a:lnTo>
                    <a:pt x="4299671" y="241908"/>
                  </a:lnTo>
                  <a:lnTo>
                    <a:pt x="2210308" y="241908"/>
                  </a:lnTo>
                  <a:lnTo>
                    <a:pt x="2197565" y="254241"/>
                  </a:lnTo>
                  <a:lnTo>
                    <a:pt x="2186498" y="288582"/>
                  </a:lnTo>
                  <a:lnTo>
                    <a:pt x="2177771" y="340948"/>
                  </a:lnTo>
                  <a:lnTo>
                    <a:pt x="2172048" y="407355"/>
                  </a:lnTo>
                  <a:lnTo>
                    <a:pt x="2169993" y="483817"/>
                  </a:lnTo>
                  <a:lnTo>
                    <a:pt x="2167937" y="407355"/>
                  </a:lnTo>
                  <a:lnTo>
                    <a:pt x="2162214" y="340948"/>
                  </a:lnTo>
                  <a:lnTo>
                    <a:pt x="2153487" y="288582"/>
                  </a:lnTo>
                  <a:lnTo>
                    <a:pt x="2142420" y="254241"/>
                  </a:lnTo>
                  <a:lnTo>
                    <a:pt x="2129678" y="241908"/>
                  </a:lnTo>
                  <a:lnTo>
                    <a:pt x="40314" y="241908"/>
                  </a:lnTo>
                  <a:lnTo>
                    <a:pt x="27572" y="229575"/>
                  </a:lnTo>
                  <a:lnTo>
                    <a:pt x="16505" y="195234"/>
                  </a:lnTo>
                  <a:lnTo>
                    <a:pt x="7778" y="142868"/>
                  </a:lnTo>
                  <a:lnTo>
                    <a:pt x="2055" y="76461"/>
                  </a:lnTo>
                  <a:lnTo>
                    <a:pt x="0" y="0"/>
                  </a:lnTo>
                </a:path>
              </a:pathLst>
            </a:custGeom>
            <a:ln w="15875">
              <a:solidFill>
                <a:srgbClr val="000000"/>
              </a:solidFill>
            </a:ln>
          </p:spPr>
          <p:txBody>
            <a:bodyPr wrap="square" lIns="0" tIns="0" rIns="0" bIns="0" rtlCol="0"/>
            <a:lstStyle/>
            <a:p>
              <a:endParaRPr sz="1266"/>
            </a:p>
          </p:txBody>
        </p:sp>
        <p:sp>
          <p:nvSpPr>
            <p:cNvPr id="34" name="object 34"/>
            <p:cNvSpPr/>
            <p:nvPr/>
          </p:nvSpPr>
          <p:spPr>
            <a:xfrm>
              <a:off x="5220531" y="2990537"/>
              <a:ext cx="1737360" cy="0"/>
            </a:xfrm>
            <a:custGeom>
              <a:avLst/>
              <a:gdLst/>
              <a:ahLst/>
              <a:cxnLst/>
              <a:rect l="l" t="t" r="r" b="b"/>
              <a:pathLst>
                <a:path w="1737359">
                  <a:moveTo>
                    <a:pt x="1737360" y="0"/>
                  </a:moveTo>
                  <a:lnTo>
                    <a:pt x="0" y="1"/>
                  </a:lnTo>
                </a:path>
              </a:pathLst>
            </a:custGeom>
            <a:ln w="25400">
              <a:solidFill>
                <a:srgbClr val="000000"/>
              </a:solidFill>
            </a:ln>
          </p:spPr>
          <p:txBody>
            <a:bodyPr wrap="square" lIns="0" tIns="0" rIns="0" bIns="0" rtlCol="0"/>
            <a:lstStyle/>
            <a:p>
              <a:endParaRPr sz="1266"/>
            </a:p>
          </p:txBody>
        </p:sp>
        <p:sp>
          <p:nvSpPr>
            <p:cNvPr id="35" name="object 35"/>
            <p:cNvSpPr/>
            <p:nvPr/>
          </p:nvSpPr>
          <p:spPr>
            <a:xfrm>
              <a:off x="5169725" y="2978746"/>
              <a:ext cx="2323465" cy="563880"/>
            </a:xfrm>
            <a:custGeom>
              <a:avLst/>
              <a:gdLst/>
              <a:ahLst/>
              <a:cxnLst/>
              <a:rect l="l" t="t" r="r" b="b"/>
              <a:pathLst>
                <a:path w="2323465" h="563879">
                  <a:moveTo>
                    <a:pt x="127000" y="421462"/>
                  </a:moveTo>
                  <a:lnTo>
                    <a:pt x="76200" y="421462"/>
                  </a:lnTo>
                  <a:lnTo>
                    <a:pt x="76200" y="19151"/>
                  </a:lnTo>
                  <a:lnTo>
                    <a:pt x="50800" y="19151"/>
                  </a:lnTo>
                  <a:lnTo>
                    <a:pt x="50800" y="421462"/>
                  </a:lnTo>
                  <a:lnTo>
                    <a:pt x="0" y="421462"/>
                  </a:lnTo>
                  <a:lnTo>
                    <a:pt x="63500" y="548462"/>
                  </a:lnTo>
                  <a:lnTo>
                    <a:pt x="120650" y="434162"/>
                  </a:lnTo>
                  <a:lnTo>
                    <a:pt x="127000" y="421462"/>
                  </a:lnTo>
                  <a:close/>
                </a:path>
                <a:path w="2323465" h="563879">
                  <a:moveTo>
                    <a:pt x="987094" y="436359"/>
                  </a:moveTo>
                  <a:lnTo>
                    <a:pt x="936294" y="436448"/>
                  </a:lnTo>
                  <a:lnTo>
                    <a:pt x="935634" y="19138"/>
                  </a:lnTo>
                  <a:lnTo>
                    <a:pt x="910234" y="19177"/>
                  </a:lnTo>
                  <a:lnTo>
                    <a:pt x="910894" y="436486"/>
                  </a:lnTo>
                  <a:lnTo>
                    <a:pt x="860094" y="436562"/>
                  </a:lnTo>
                  <a:lnTo>
                    <a:pt x="923798" y="563460"/>
                  </a:lnTo>
                  <a:lnTo>
                    <a:pt x="980706" y="449186"/>
                  </a:lnTo>
                  <a:lnTo>
                    <a:pt x="987094" y="436359"/>
                  </a:lnTo>
                  <a:close/>
                </a:path>
                <a:path w="2323465" h="563879">
                  <a:moveTo>
                    <a:pt x="2323033" y="436460"/>
                  </a:moveTo>
                  <a:lnTo>
                    <a:pt x="2272233" y="436460"/>
                  </a:lnTo>
                  <a:lnTo>
                    <a:pt x="2272233" y="0"/>
                  </a:lnTo>
                  <a:lnTo>
                    <a:pt x="2246833" y="0"/>
                  </a:lnTo>
                  <a:lnTo>
                    <a:pt x="2246833" y="436460"/>
                  </a:lnTo>
                  <a:lnTo>
                    <a:pt x="2196033" y="436460"/>
                  </a:lnTo>
                  <a:lnTo>
                    <a:pt x="2259533" y="563460"/>
                  </a:lnTo>
                  <a:lnTo>
                    <a:pt x="2316683" y="449160"/>
                  </a:lnTo>
                  <a:lnTo>
                    <a:pt x="2323033" y="436460"/>
                  </a:lnTo>
                  <a:close/>
                </a:path>
              </a:pathLst>
            </a:custGeom>
            <a:solidFill>
              <a:srgbClr val="000000"/>
            </a:solidFill>
          </p:spPr>
          <p:txBody>
            <a:bodyPr wrap="square" lIns="0" tIns="0" rIns="0" bIns="0" rtlCol="0"/>
            <a:lstStyle/>
            <a:p>
              <a:endParaRPr sz="1266"/>
            </a:p>
          </p:txBody>
        </p:sp>
        <p:sp>
          <p:nvSpPr>
            <p:cNvPr id="36" name="object 36"/>
            <p:cNvSpPr/>
            <p:nvPr/>
          </p:nvSpPr>
          <p:spPr>
            <a:xfrm>
              <a:off x="6788195" y="2990537"/>
              <a:ext cx="1579245" cy="0"/>
            </a:xfrm>
            <a:custGeom>
              <a:avLst/>
              <a:gdLst/>
              <a:ahLst/>
              <a:cxnLst/>
              <a:rect l="l" t="t" r="r" b="b"/>
              <a:pathLst>
                <a:path w="1579245">
                  <a:moveTo>
                    <a:pt x="1578962" y="0"/>
                  </a:moveTo>
                  <a:lnTo>
                    <a:pt x="0" y="1"/>
                  </a:lnTo>
                </a:path>
              </a:pathLst>
            </a:custGeom>
            <a:ln w="25400">
              <a:solidFill>
                <a:srgbClr val="000000"/>
              </a:solidFill>
            </a:ln>
          </p:spPr>
          <p:txBody>
            <a:bodyPr wrap="square" lIns="0" tIns="0" rIns="0" bIns="0" rtlCol="0"/>
            <a:lstStyle/>
            <a:p>
              <a:endParaRPr sz="1266"/>
            </a:p>
          </p:txBody>
        </p:sp>
        <p:sp>
          <p:nvSpPr>
            <p:cNvPr id="37" name="object 37"/>
            <p:cNvSpPr/>
            <p:nvPr/>
          </p:nvSpPr>
          <p:spPr>
            <a:xfrm>
              <a:off x="6713499" y="2870898"/>
              <a:ext cx="1718945" cy="656590"/>
            </a:xfrm>
            <a:custGeom>
              <a:avLst/>
              <a:gdLst/>
              <a:ahLst/>
              <a:cxnLst/>
              <a:rect l="l" t="t" r="r" b="b"/>
              <a:pathLst>
                <a:path w="1718945" h="656589">
                  <a:moveTo>
                    <a:pt x="127000" y="0"/>
                  </a:moveTo>
                  <a:lnTo>
                    <a:pt x="0" y="0"/>
                  </a:lnTo>
                  <a:lnTo>
                    <a:pt x="63500" y="127000"/>
                  </a:lnTo>
                  <a:lnTo>
                    <a:pt x="127000" y="0"/>
                  </a:lnTo>
                  <a:close/>
                </a:path>
                <a:path w="1718945" h="656589">
                  <a:moveTo>
                    <a:pt x="1718475" y="529107"/>
                  </a:moveTo>
                  <a:lnTo>
                    <a:pt x="1667675" y="529272"/>
                  </a:lnTo>
                  <a:lnTo>
                    <a:pt x="1666354" y="107810"/>
                  </a:lnTo>
                  <a:lnTo>
                    <a:pt x="1640954" y="107886"/>
                  </a:lnTo>
                  <a:lnTo>
                    <a:pt x="1642275" y="529348"/>
                  </a:lnTo>
                  <a:lnTo>
                    <a:pt x="1591475" y="529513"/>
                  </a:lnTo>
                  <a:lnTo>
                    <a:pt x="1655381" y="656310"/>
                  </a:lnTo>
                  <a:lnTo>
                    <a:pt x="1712061" y="542048"/>
                  </a:lnTo>
                  <a:lnTo>
                    <a:pt x="1718398" y="529272"/>
                  </a:lnTo>
                  <a:lnTo>
                    <a:pt x="1718475" y="529107"/>
                  </a:lnTo>
                  <a:close/>
                </a:path>
              </a:pathLst>
            </a:custGeom>
            <a:solidFill>
              <a:srgbClr val="000000"/>
            </a:solidFill>
          </p:spPr>
          <p:txBody>
            <a:bodyPr wrap="square" lIns="0" tIns="0" rIns="0" bIns="0" rtlCol="0"/>
            <a:lstStyle/>
            <a:p>
              <a:endParaRPr sz="1266"/>
            </a:p>
          </p:txBody>
        </p:sp>
        <p:pic>
          <p:nvPicPr>
            <p:cNvPr id="38" name="object 38"/>
            <p:cNvPicPr/>
            <p:nvPr/>
          </p:nvPicPr>
          <p:blipFill>
            <a:blip r:embed="rId2" cstate="print"/>
            <a:stretch>
              <a:fillRect/>
            </a:stretch>
          </p:blipFill>
          <p:spPr>
            <a:xfrm>
              <a:off x="5131476" y="4946904"/>
              <a:ext cx="176784" cy="164591"/>
            </a:xfrm>
            <a:prstGeom prst="rect">
              <a:avLst/>
            </a:prstGeom>
          </p:spPr>
        </p:pic>
        <p:sp>
          <p:nvSpPr>
            <p:cNvPr id="39" name="object 39"/>
            <p:cNvSpPr/>
            <p:nvPr/>
          </p:nvSpPr>
          <p:spPr>
            <a:xfrm>
              <a:off x="5180999" y="4979732"/>
              <a:ext cx="74295" cy="58419"/>
            </a:xfrm>
            <a:custGeom>
              <a:avLst/>
              <a:gdLst/>
              <a:ahLst/>
              <a:cxnLst/>
              <a:rect l="l" t="t" r="r" b="b"/>
              <a:pathLst>
                <a:path w="74295" h="58420">
                  <a:moveTo>
                    <a:pt x="0" y="0"/>
                  </a:moveTo>
                  <a:lnTo>
                    <a:pt x="73848" y="58415"/>
                  </a:lnTo>
                </a:path>
              </a:pathLst>
            </a:custGeom>
            <a:ln w="25400">
              <a:solidFill>
                <a:srgbClr val="FFFFFF"/>
              </a:solidFill>
            </a:ln>
          </p:spPr>
          <p:txBody>
            <a:bodyPr wrap="square" lIns="0" tIns="0" rIns="0" bIns="0" rtlCol="0"/>
            <a:lstStyle/>
            <a:p>
              <a:endParaRPr sz="1266"/>
            </a:p>
          </p:txBody>
        </p:sp>
        <p:pic>
          <p:nvPicPr>
            <p:cNvPr id="40" name="object 40"/>
            <p:cNvPicPr/>
            <p:nvPr/>
          </p:nvPicPr>
          <p:blipFill>
            <a:blip r:embed="rId3" cstate="print"/>
            <a:stretch>
              <a:fillRect/>
            </a:stretch>
          </p:blipFill>
          <p:spPr>
            <a:xfrm>
              <a:off x="5064420" y="4943855"/>
              <a:ext cx="179832" cy="164591"/>
            </a:xfrm>
            <a:prstGeom prst="rect">
              <a:avLst/>
            </a:prstGeom>
          </p:spPr>
        </p:pic>
        <p:sp>
          <p:nvSpPr>
            <p:cNvPr id="41" name="object 41"/>
            <p:cNvSpPr/>
            <p:nvPr/>
          </p:nvSpPr>
          <p:spPr>
            <a:xfrm>
              <a:off x="5119789" y="4974920"/>
              <a:ext cx="74295" cy="58419"/>
            </a:xfrm>
            <a:custGeom>
              <a:avLst/>
              <a:gdLst/>
              <a:ahLst/>
              <a:cxnLst/>
              <a:rect l="l" t="t" r="r" b="b"/>
              <a:pathLst>
                <a:path w="74295" h="58420">
                  <a:moveTo>
                    <a:pt x="73848" y="0"/>
                  </a:moveTo>
                  <a:lnTo>
                    <a:pt x="0" y="58415"/>
                  </a:lnTo>
                </a:path>
              </a:pathLst>
            </a:custGeom>
            <a:ln w="25400">
              <a:solidFill>
                <a:srgbClr val="FFFFFF"/>
              </a:solidFill>
            </a:ln>
          </p:spPr>
          <p:txBody>
            <a:bodyPr wrap="square" lIns="0" tIns="0" rIns="0" bIns="0" rtlCol="0"/>
            <a:lstStyle/>
            <a:p>
              <a:endParaRPr sz="1266"/>
            </a:p>
          </p:txBody>
        </p:sp>
        <p:pic>
          <p:nvPicPr>
            <p:cNvPr id="42" name="object 42"/>
            <p:cNvPicPr/>
            <p:nvPr/>
          </p:nvPicPr>
          <p:blipFill>
            <a:blip r:embed="rId4" cstate="print"/>
            <a:stretch>
              <a:fillRect/>
            </a:stretch>
          </p:blipFill>
          <p:spPr>
            <a:xfrm>
              <a:off x="5994060" y="4971288"/>
              <a:ext cx="176784" cy="164591"/>
            </a:xfrm>
            <a:prstGeom prst="rect">
              <a:avLst/>
            </a:prstGeom>
          </p:spPr>
        </p:pic>
        <p:sp>
          <p:nvSpPr>
            <p:cNvPr id="43" name="object 43"/>
            <p:cNvSpPr/>
            <p:nvPr/>
          </p:nvSpPr>
          <p:spPr>
            <a:xfrm>
              <a:off x="6042554" y="5003385"/>
              <a:ext cx="74295" cy="58419"/>
            </a:xfrm>
            <a:custGeom>
              <a:avLst/>
              <a:gdLst/>
              <a:ahLst/>
              <a:cxnLst/>
              <a:rect l="l" t="t" r="r" b="b"/>
              <a:pathLst>
                <a:path w="74295" h="58420">
                  <a:moveTo>
                    <a:pt x="0" y="0"/>
                  </a:moveTo>
                  <a:lnTo>
                    <a:pt x="73848" y="58415"/>
                  </a:lnTo>
                </a:path>
              </a:pathLst>
            </a:custGeom>
            <a:ln w="25400">
              <a:solidFill>
                <a:srgbClr val="FFFFFF"/>
              </a:solidFill>
            </a:ln>
          </p:spPr>
          <p:txBody>
            <a:bodyPr wrap="square" lIns="0" tIns="0" rIns="0" bIns="0" rtlCol="0"/>
            <a:lstStyle/>
            <a:p>
              <a:endParaRPr sz="1266"/>
            </a:p>
          </p:txBody>
        </p:sp>
        <p:pic>
          <p:nvPicPr>
            <p:cNvPr id="44" name="object 44"/>
            <p:cNvPicPr/>
            <p:nvPr/>
          </p:nvPicPr>
          <p:blipFill>
            <a:blip r:embed="rId5" cstate="print"/>
            <a:stretch>
              <a:fillRect/>
            </a:stretch>
          </p:blipFill>
          <p:spPr>
            <a:xfrm>
              <a:off x="5927004" y="4968239"/>
              <a:ext cx="176784" cy="161544"/>
            </a:xfrm>
            <a:prstGeom prst="rect">
              <a:avLst/>
            </a:prstGeom>
          </p:spPr>
        </p:pic>
        <p:sp>
          <p:nvSpPr>
            <p:cNvPr id="45" name="object 45"/>
            <p:cNvSpPr/>
            <p:nvPr/>
          </p:nvSpPr>
          <p:spPr>
            <a:xfrm>
              <a:off x="5981344" y="4998572"/>
              <a:ext cx="74295" cy="58419"/>
            </a:xfrm>
            <a:custGeom>
              <a:avLst/>
              <a:gdLst/>
              <a:ahLst/>
              <a:cxnLst/>
              <a:rect l="l" t="t" r="r" b="b"/>
              <a:pathLst>
                <a:path w="74295" h="58420">
                  <a:moveTo>
                    <a:pt x="73848" y="0"/>
                  </a:moveTo>
                  <a:lnTo>
                    <a:pt x="0" y="58415"/>
                  </a:lnTo>
                </a:path>
              </a:pathLst>
            </a:custGeom>
            <a:ln w="25400">
              <a:solidFill>
                <a:srgbClr val="FFFFFF"/>
              </a:solidFill>
            </a:ln>
          </p:spPr>
          <p:txBody>
            <a:bodyPr wrap="square" lIns="0" tIns="0" rIns="0" bIns="0" rtlCol="0"/>
            <a:lstStyle/>
            <a:p>
              <a:endParaRPr sz="1266"/>
            </a:p>
          </p:txBody>
        </p:sp>
        <p:pic>
          <p:nvPicPr>
            <p:cNvPr id="46" name="object 46"/>
            <p:cNvPicPr/>
            <p:nvPr/>
          </p:nvPicPr>
          <p:blipFill>
            <a:blip r:embed="rId6" cstate="print"/>
            <a:stretch>
              <a:fillRect/>
            </a:stretch>
          </p:blipFill>
          <p:spPr>
            <a:xfrm>
              <a:off x="8264820" y="4949951"/>
              <a:ext cx="176783" cy="164591"/>
            </a:xfrm>
            <a:prstGeom prst="rect">
              <a:avLst/>
            </a:prstGeom>
          </p:spPr>
        </p:pic>
        <p:sp>
          <p:nvSpPr>
            <p:cNvPr id="47" name="object 47"/>
            <p:cNvSpPr/>
            <p:nvPr/>
          </p:nvSpPr>
          <p:spPr>
            <a:xfrm>
              <a:off x="8313667" y="4981272"/>
              <a:ext cx="74295" cy="58419"/>
            </a:xfrm>
            <a:custGeom>
              <a:avLst/>
              <a:gdLst/>
              <a:ahLst/>
              <a:cxnLst/>
              <a:rect l="l" t="t" r="r" b="b"/>
              <a:pathLst>
                <a:path w="74295" h="58420">
                  <a:moveTo>
                    <a:pt x="0" y="0"/>
                  </a:moveTo>
                  <a:lnTo>
                    <a:pt x="73848" y="58415"/>
                  </a:lnTo>
                </a:path>
              </a:pathLst>
            </a:custGeom>
            <a:ln w="25400">
              <a:solidFill>
                <a:srgbClr val="FFFFFF"/>
              </a:solidFill>
            </a:ln>
          </p:spPr>
          <p:txBody>
            <a:bodyPr wrap="square" lIns="0" tIns="0" rIns="0" bIns="0" rtlCol="0"/>
            <a:lstStyle/>
            <a:p>
              <a:endParaRPr sz="1266"/>
            </a:p>
          </p:txBody>
        </p:sp>
        <p:pic>
          <p:nvPicPr>
            <p:cNvPr id="48" name="object 48"/>
            <p:cNvPicPr/>
            <p:nvPr/>
          </p:nvPicPr>
          <p:blipFill>
            <a:blip r:embed="rId7" cstate="print"/>
            <a:stretch>
              <a:fillRect/>
            </a:stretch>
          </p:blipFill>
          <p:spPr>
            <a:xfrm>
              <a:off x="8197764" y="4943855"/>
              <a:ext cx="176783" cy="164591"/>
            </a:xfrm>
            <a:prstGeom prst="rect">
              <a:avLst/>
            </a:prstGeom>
          </p:spPr>
        </p:pic>
        <p:sp>
          <p:nvSpPr>
            <p:cNvPr id="49" name="object 49"/>
            <p:cNvSpPr/>
            <p:nvPr/>
          </p:nvSpPr>
          <p:spPr>
            <a:xfrm>
              <a:off x="8252455" y="4976459"/>
              <a:ext cx="74295" cy="58419"/>
            </a:xfrm>
            <a:custGeom>
              <a:avLst/>
              <a:gdLst/>
              <a:ahLst/>
              <a:cxnLst/>
              <a:rect l="l" t="t" r="r" b="b"/>
              <a:pathLst>
                <a:path w="74295" h="58420">
                  <a:moveTo>
                    <a:pt x="73848" y="0"/>
                  </a:moveTo>
                  <a:lnTo>
                    <a:pt x="0" y="58415"/>
                  </a:lnTo>
                </a:path>
              </a:pathLst>
            </a:custGeom>
            <a:ln w="25400">
              <a:solidFill>
                <a:srgbClr val="FFFFFF"/>
              </a:solidFill>
            </a:ln>
          </p:spPr>
          <p:txBody>
            <a:bodyPr wrap="square" lIns="0" tIns="0" rIns="0" bIns="0" rtlCol="0"/>
            <a:lstStyle/>
            <a:p>
              <a:endParaRPr sz="1266"/>
            </a:p>
          </p:txBody>
        </p:sp>
      </p:grpSp>
      <p:sp>
        <p:nvSpPr>
          <p:cNvPr id="50" name="object 50"/>
          <p:cNvSpPr txBox="1"/>
          <p:nvPr/>
        </p:nvSpPr>
        <p:spPr>
          <a:xfrm>
            <a:off x="3636984" y="2494240"/>
            <a:ext cx="1149697" cy="514850"/>
          </a:xfrm>
          <a:prstGeom prst="rect">
            <a:avLst/>
          </a:prstGeom>
        </p:spPr>
        <p:txBody>
          <a:bodyPr vert="horz" wrap="square" lIns="0" tIns="6697" rIns="0" bIns="0" rtlCol="0">
            <a:spAutoFit/>
          </a:bodyPr>
          <a:lstStyle/>
          <a:p>
            <a:pPr marL="8929" marR="3572">
              <a:lnSpc>
                <a:spcPct val="100800"/>
              </a:lnSpc>
              <a:spcBef>
                <a:spcPts val="53"/>
              </a:spcBef>
            </a:pPr>
            <a:r>
              <a:rPr sz="1687" spc="-25" dirty="0">
                <a:latin typeface="Arial MT"/>
                <a:cs typeface="Arial MT"/>
              </a:rPr>
              <a:t>C</a:t>
            </a:r>
            <a:r>
              <a:rPr sz="1687" spc="-11" dirty="0">
                <a:latin typeface="Arial MT"/>
                <a:cs typeface="Arial MT"/>
              </a:rPr>
              <a:t>l</a:t>
            </a:r>
            <a:r>
              <a:rPr sz="1687" spc="-221" dirty="0">
                <a:latin typeface="Arial MT"/>
                <a:cs typeface="Arial MT"/>
              </a:rPr>
              <a:t>a</a:t>
            </a:r>
            <a:r>
              <a:rPr sz="1687" spc="-197" dirty="0">
                <a:latin typeface="Arial MT"/>
                <a:cs typeface="Arial MT"/>
              </a:rPr>
              <a:t>ss</a:t>
            </a:r>
            <a:r>
              <a:rPr sz="1687" spc="-11" dirty="0">
                <a:latin typeface="Arial MT"/>
                <a:cs typeface="Arial MT"/>
              </a:rPr>
              <a:t>i</a:t>
            </a:r>
            <a:r>
              <a:rPr sz="1687" spc="-32" dirty="0">
                <a:latin typeface="Arial MT"/>
                <a:cs typeface="Arial MT"/>
              </a:rPr>
              <a:t>f</a:t>
            </a:r>
            <a:r>
              <a:rPr sz="1687" spc="-28" dirty="0">
                <a:latin typeface="Arial MT"/>
                <a:cs typeface="Arial MT"/>
              </a:rPr>
              <a:t>i</a:t>
            </a:r>
            <a:r>
              <a:rPr sz="1687" spc="-109" dirty="0">
                <a:latin typeface="Arial MT"/>
                <a:cs typeface="Arial MT"/>
              </a:rPr>
              <a:t>c</a:t>
            </a:r>
            <a:r>
              <a:rPr sz="1687" spc="-221" dirty="0">
                <a:latin typeface="Arial MT"/>
                <a:cs typeface="Arial MT"/>
              </a:rPr>
              <a:t>a</a:t>
            </a:r>
            <a:r>
              <a:rPr sz="1687" spc="91" dirty="0">
                <a:latin typeface="Arial MT"/>
                <a:cs typeface="Arial MT"/>
              </a:rPr>
              <a:t>t</a:t>
            </a:r>
            <a:r>
              <a:rPr sz="1687" spc="-11" dirty="0">
                <a:latin typeface="Arial MT"/>
                <a:cs typeface="Arial MT"/>
              </a:rPr>
              <a:t>io</a:t>
            </a:r>
            <a:r>
              <a:rPr sz="1687" spc="-63" dirty="0">
                <a:latin typeface="Arial MT"/>
                <a:cs typeface="Arial MT"/>
              </a:rPr>
              <a:t>n  </a:t>
            </a:r>
            <a:r>
              <a:rPr sz="1687" spc="-91" dirty="0">
                <a:latin typeface="Arial MT"/>
                <a:cs typeface="Arial MT"/>
              </a:rPr>
              <a:t>models</a:t>
            </a:r>
            <a:endParaRPr sz="1687">
              <a:latin typeface="Arial MT"/>
              <a:cs typeface="Arial MT"/>
            </a:endParaRPr>
          </a:p>
        </p:txBody>
      </p:sp>
      <p:sp>
        <p:nvSpPr>
          <p:cNvPr id="51" name="object 51"/>
          <p:cNvSpPr txBox="1"/>
          <p:nvPr/>
        </p:nvSpPr>
        <p:spPr>
          <a:xfrm>
            <a:off x="3595905" y="3430786"/>
            <a:ext cx="987177" cy="268640"/>
          </a:xfrm>
          <a:prstGeom prst="rect">
            <a:avLst/>
          </a:prstGeom>
        </p:spPr>
        <p:txBody>
          <a:bodyPr vert="horz" wrap="square" lIns="0" tIns="8930" rIns="0" bIns="0" rtlCol="0">
            <a:spAutoFit/>
          </a:bodyPr>
          <a:lstStyle/>
          <a:p>
            <a:pPr marL="8929">
              <a:spcBef>
                <a:spcPts val="70"/>
              </a:spcBef>
            </a:pPr>
            <a:r>
              <a:rPr sz="1687" spc="-267" dirty="0">
                <a:latin typeface="Arial MT"/>
                <a:cs typeface="Arial MT"/>
              </a:rPr>
              <a:t>P</a:t>
            </a:r>
            <a:r>
              <a:rPr sz="1687" spc="70" dirty="0">
                <a:latin typeface="Arial MT"/>
                <a:cs typeface="Arial MT"/>
              </a:rPr>
              <a:t>r</a:t>
            </a:r>
            <a:r>
              <a:rPr sz="1687" spc="-134" dirty="0">
                <a:latin typeface="Arial MT"/>
                <a:cs typeface="Arial MT"/>
              </a:rPr>
              <a:t>e</a:t>
            </a:r>
            <a:r>
              <a:rPr sz="1687" spc="-80" dirty="0">
                <a:latin typeface="Arial MT"/>
                <a:cs typeface="Arial MT"/>
              </a:rPr>
              <a:t>d</a:t>
            </a:r>
            <a:r>
              <a:rPr sz="1687" spc="-11" dirty="0">
                <a:latin typeface="Arial MT"/>
                <a:cs typeface="Arial MT"/>
              </a:rPr>
              <a:t>i</a:t>
            </a:r>
            <a:r>
              <a:rPr sz="1687" spc="-109" dirty="0">
                <a:latin typeface="Arial MT"/>
                <a:cs typeface="Arial MT"/>
              </a:rPr>
              <a:t>c</a:t>
            </a:r>
            <a:r>
              <a:rPr sz="1687" spc="91" dirty="0">
                <a:latin typeface="Arial MT"/>
                <a:cs typeface="Arial MT"/>
              </a:rPr>
              <a:t>t</a:t>
            </a:r>
            <a:r>
              <a:rPr sz="1687" spc="-11" dirty="0">
                <a:latin typeface="Arial MT"/>
                <a:cs typeface="Arial MT"/>
              </a:rPr>
              <a:t>io</a:t>
            </a:r>
            <a:r>
              <a:rPr sz="1687" spc="-148" dirty="0">
                <a:latin typeface="Arial MT"/>
                <a:cs typeface="Arial MT"/>
              </a:rPr>
              <a:t>ns</a:t>
            </a:r>
            <a:endParaRPr sz="1687">
              <a:latin typeface="Arial MT"/>
              <a:cs typeface="Arial MT"/>
            </a:endParaRPr>
          </a:p>
        </p:txBody>
      </p:sp>
      <p:sp>
        <p:nvSpPr>
          <p:cNvPr id="52" name="object 52"/>
          <p:cNvSpPr txBox="1"/>
          <p:nvPr/>
        </p:nvSpPr>
        <p:spPr>
          <a:xfrm>
            <a:off x="3595905" y="5284589"/>
            <a:ext cx="1354187" cy="268640"/>
          </a:xfrm>
          <a:prstGeom prst="rect">
            <a:avLst/>
          </a:prstGeom>
        </p:spPr>
        <p:txBody>
          <a:bodyPr vert="horz" wrap="square" lIns="0" tIns="8930" rIns="0" bIns="0" rtlCol="0">
            <a:spAutoFit/>
          </a:bodyPr>
          <a:lstStyle/>
          <a:p>
            <a:pPr marL="8929">
              <a:spcBef>
                <a:spcPts val="70"/>
              </a:spcBef>
            </a:pPr>
            <a:r>
              <a:rPr sz="1687" spc="-243" dirty="0">
                <a:latin typeface="Arial MT"/>
                <a:cs typeface="Arial MT"/>
              </a:rPr>
              <a:t>F</a:t>
            </a:r>
            <a:r>
              <a:rPr sz="1687" spc="-11" dirty="0">
                <a:latin typeface="Arial MT"/>
                <a:cs typeface="Arial MT"/>
              </a:rPr>
              <a:t>i</a:t>
            </a:r>
            <a:r>
              <a:rPr sz="1687" spc="-158" dirty="0">
                <a:latin typeface="Arial MT"/>
                <a:cs typeface="Arial MT"/>
              </a:rPr>
              <a:t>na</a:t>
            </a:r>
            <a:r>
              <a:rPr sz="1687" spc="-7" dirty="0">
                <a:latin typeface="Arial MT"/>
                <a:cs typeface="Arial MT"/>
              </a:rPr>
              <a:t>l </a:t>
            </a:r>
            <a:r>
              <a:rPr sz="1687" spc="7" dirty="0">
                <a:latin typeface="Arial MT"/>
                <a:cs typeface="Arial MT"/>
              </a:rPr>
              <a:t>p</a:t>
            </a:r>
            <a:r>
              <a:rPr sz="1687" spc="-32" dirty="0">
                <a:latin typeface="Arial MT"/>
                <a:cs typeface="Arial MT"/>
              </a:rPr>
              <a:t>r</a:t>
            </a:r>
            <a:r>
              <a:rPr sz="1687" spc="-134" dirty="0">
                <a:latin typeface="Arial MT"/>
                <a:cs typeface="Arial MT"/>
              </a:rPr>
              <a:t>e</a:t>
            </a:r>
            <a:r>
              <a:rPr sz="1687" spc="-80" dirty="0">
                <a:latin typeface="Arial MT"/>
                <a:cs typeface="Arial MT"/>
              </a:rPr>
              <a:t>d</a:t>
            </a:r>
            <a:r>
              <a:rPr sz="1687" spc="-11" dirty="0">
                <a:latin typeface="Arial MT"/>
                <a:cs typeface="Arial MT"/>
              </a:rPr>
              <a:t>i</a:t>
            </a:r>
            <a:r>
              <a:rPr sz="1687" spc="-109" dirty="0">
                <a:latin typeface="Arial MT"/>
                <a:cs typeface="Arial MT"/>
              </a:rPr>
              <a:t>c</a:t>
            </a:r>
            <a:r>
              <a:rPr sz="1687" spc="91" dirty="0">
                <a:latin typeface="Arial MT"/>
                <a:cs typeface="Arial MT"/>
              </a:rPr>
              <a:t>t</a:t>
            </a:r>
            <a:r>
              <a:rPr sz="1687" spc="-11" dirty="0">
                <a:latin typeface="Arial MT"/>
                <a:cs typeface="Arial MT"/>
              </a:rPr>
              <a:t>io</a:t>
            </a:r>
            <a:r>
              <a:rPr sz="1687" spc="-95" dirty="0">
                <a:latin typeface="Arial MT"/>
                <a:cs typeface="Arial MT"/>
              </a:rPr>
              <a:t>n</a:t>
            </a:r>
            <a:endParaRPr sz="1687">
              <a:latin typeface="Arial MT"/>
              <a:cs typeface="Arial MT"/>
            </a:endParaRPr>
          </a:p>
        </p:txBody>
      </p:sp>
      <p:grpSp>
        <p:nvGrpSpPr>
          <p:cNvPr id="53" name="object 53"/>
          <p:cNvGrpSpPr/>
          <p:nvPr/>
        </p:nvGrpSpPr>
        <p:grpSpPr>
          <a:xfrm>
            <a:off x="6235779" y="5340667"/>
            <a:ext cx="169664" cy="117872"/>
            <a:chOff x="6701197" y="7595616"/>
            <a:chExt cx="241300" cy="167640"/>
          </a:xfrm>
        </p:grpSpPr>
        <p:pic>
          <p:nvPicPr>
            <p:cNvPr id="54" name="object 54"/>
            <p:cNvPicPr/>
            <p:nvPr/>
          </p:nvPicPr>
          <p:blipFill>
            <a:blip r:embed="rId8" cstate="print"/>
            <a:stretch>
              <a:fillRect/>
            </a:stretch>
          </p:blipFill>
          <p:spPr>
            <a:xfrm>
              <a:off x="6765205" y="7598664"/>
              <a:ext cx="176783" cy="164592"/>
            </a:xfrm>
            <a:prstGeom prst="rect">
              <a:avLst/>
            </a:prstGeom>
          </p:spPr>
        </p:pic>
        <p:sp>
          <p:nvSpPr>
            <p:cNvPr id="55" name="object 55"/>
            <p:cNvSpPr/>
            <p:nvPr/>
          </p:nvSpPr>
          <p:spPr>
            <a:xfrm>
              <a:off x="6815384" y="7631366"/>
              <a:ext cx="74295" cy="58419"/>
            </a:xfrm>
            <a:custGeom>
              <a:avLst/>
              <a:gdLst/>
              <a:ahLst/>
              <a:cxnLst/>
              <a:rect l="l" t="t" r="r" b="b"/>
              <a:pathLst>
                <a:path w="74295" h="58420">
                  <a:moveTo>
                    <a:pt x="0" y="0"/>
                  </a:moveTo>
                  <a:lnTo>
                    <a:pt x="73848" y="58415"/>
                  </a:lnTo>
                </a:path>
              </a:pathLst>
            </a:custGeom>
            <a:ln w="25400">
              <a:solidFill>
                <a:srgbClr val="FFFFFF"/>
              </a:solidFill>
            </a:ln>
          </p:spPr>
          <p:txBody>
            <a:bodyPr wrap="square" lIns="0" tIns="0" rIns="0" bIns="0" rtlCol="0"/>
            <a:lstStyle/>
            <a:p>
              <a:endParaRPr sz="1266"/>
            </a:p>
          </p:txBody>
        </p:sp>
        <p:pic>
          <p:nvPicPr>
            <p:cNvPr id="56" name="object 56"/>
            <p:cNvPicPr/>
            <p:nvPr/>
          </p:nvPicPr>
          <p:blipFill>
            <a:blip r:embed="rId9" cstate="print"/>
            <a:stretch>
              <a:fillRect/>
            </a:stretch>
          </p:blipFill>
          <p:spPr>
            <a:xfrm>
              <a:off x="6701197" y="7595616"/>
              <a:ext cx="176783" cy="164592"/>
            </a:xfrm>
            <a:prstGeom prst="rect">
              <a:avLst/>
            </a:prstGeom>
          </p:spPr>
        </p:pic>
        <p:sp>
          <p:nvSpPr>
            <p:cNvPr id="57" name="object 57"/>
            <p:cNvSpPr/>
            <p:nvPr/>
          </p:nvSpPr>
          <p:spPr>
            <a:xfrm>
              <a:off x="6754172" y="7626553"/>
              <a:ext cx="74295" cy="58419"/>
            </a:xfrm>
            <a:custGeom>
              <a:avLst/>
              <a:gdLst/>
              <a:ahLst/>
              <a:cxnLst/>
              <a:rect l="l" t="t" r="r" b="b"/>
              <a:pathLst>
                <a:path w="74295" h="58420">
                  <a:moveTo>
                    <a:pt x="73848" y="0"/>
                  </a:moveTo>
                  <a:lnTo>
                    <a:pt x="0" y="58415"/>
                  </a:lnTo>
                </a:path>
              </a:pathLst>
            </a:custGeom>
            <a:ln w="25400">
              <a:solidFill>
                <a:srgbClr val="FFFFFF"/>
              </a:solidFill>
            </a:ln>
          </p:spPr>
          <p:txBody>
            <a:bodyPr wrap="square" lIns="0" tIns="0" rIns="0" bIns="0" rtlCol="0"/>
            <a:lstStyle/>
            <a:p>
              <a:endParaRPr sz="1266"/>
            </a:p>
          </p:txBody>
        </p:sp>
      </p:grpSp>
      <p:sp>
        <p:nvSpPr>
          <p:cNvPr id="58" name="object 58"/>
          <p:cNvSpPr txBox="1">
            <a:spLocks noGrp="1"/>
          </p:cNvSpPr>
          <p:nvPr>
            <p:ph type="title"/>
          </p:nvPr>
        </p:nvSpPr>
        <p:spPr>
          <a:xfrm>
            <a:off x="4104678" y="371313"/>
            <a:ext cx="6959561" cy="686126"/>
          </a:xfrm>
          <a:prstGeom prst="rect">
            <a:avLst/>
          </a:prstGeom>
        </p:spPr>
        <p:txBody>
          <a:bodyPr vert="horz" wrap="square" lIns="0" tIns="8930" rIns="0" bIns="0" rtlCol="0" anchor="ctr">
            <a:spAutoFit/>
          </a:bodyPr>
          <a:lstStyle/>
          <a:p>
            <a:pPr marL="8929">
              <a:lnSpc>
                <a:spcPct val="100000"/>
              </a:lnSpc>
              <a:spcBef>
                <a:spcPts val="70"/>
              </a:spcBef>
            </a:pPr>
            <a:r>
              <a:rPr spc="88" dirty="0">
                <a:latin typeface="Arial MT"/>
                <a:cs typeface="Arial MT"/>
              </a:rPr>
              <a:t>Majority</a:t>
            </a:r>
            <a:r>
              <a:rPr spc="-21" dirty="0">
                <a:latin typeface="Arial MT"/>
                <a:cs typeface="Arial MT"/>
              </a:rPr>
              <a:t> </a:t>
            </a:r>
            <a:r>
              <a:rPr spc="-18" dirty="0">
                <a:latin typeface="Arial MT"/>
                <a:cs typeface="Arial MT"/>
              </a:rPr>
              <a:t>Vote </a:t>
            </a:r>
            <a:r>
              <a:rPr spc="46" dirty="0">
                <a:latin typeface="Arial MT"/>
                <a:cs typeface="Arial MT"/>
              </a:rPr>
              <a:t>Classifier</a:t>
            </a:r>
          </a:p>
        </p:txBody>
      </p:sp>
      <p:sp>
        <p:nvSpPr>
          <p:cNvPr id="59" name="object 59"/>
          <p:cNvSpPr txBox="1"/>
          <p:nvPr/>
        </p:nvSpPr>
        <p:spPr>
          <a:xfrm>
            <a:off x="10391180" y="6657332"/>
            <a:ext cx="133052" cy="177182"/>
          </a:xfrm>
          <a:prstGeom prst="rect">
            <a:avLst/>
          </a:prstGeom>
        </p:spPr>
        <p:txBody>
          <a:bodyPr vert="horz" wrap="square" lIns="0" tIns="4018" rIns="0" bIns="0" rtlCol="0">
            <a:spAutoFit/>
          </a:bodyPr>
          <a:lstStyle/>
          <a:p>
            <a:pPr marL="26788">
              <a:spcBef>
                <a:spcPts val="32"/>
              </a:spcBef>
            </a:pPr>
            <a:fld id="{81D60167-4931-47E6-BA6A-407CBD079E47}" type="slidenum">
              <a:rPr sz="1125" spc="-4" dirty="0">
                <a:latin typeface="Arial MT"/>
                <a:cs typeface="Arial MT"/>
              </a:rPr>
              <a:pPr marL="26788">
                <a:spcBef>
                  <a:spcPts val="32"/>
                </a:spcBef>
              </a:pPr>
              <a:t>11</a:t>
            </a:fld>
            <a:endParaRPr sz="1125">
              <a:latin typeface="Arial MT"/>
              <a:cs typeface="Arial MT"/>
            </a:endParaRPr>
          </a:p>
        </p:txBody>
      </p:sp>
      <p:sp>
        <p:nvSpPr>
          <p:cNvPr id="61" name="object 61"/>
          <p:cNvSpPr txBox="1">
            <a:spLocks noGrp="1"/>
          </p:cNvSpPr>
          <p:nvPr>
            <p:ph type="dt" sz="half" idx="6"/>
          </p:nvPr>
        </p:nvSpPr>
        <p:spPr>
          <a:xfrm>
            <a:off x="5742025" y="9495434"/>
            <a:ext cx="2291715" cy="23304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rgbClr val="929292"/>
                </a:solidFill>
                <a:latin typeface="Microsoft Sans Serif"/>
                <a:ea typeface="+mn-ea"/>
                <a:cs typeface="Microsoft Sans Serif"/>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929">
              <a:spcBef>
                <a:spcPts val="21"/>
              </a:spcBef>
            </a:pPr>
            <a:r>
              <a:rPr lang="en-US" spc="-30"/>
              <a:t>S</a:t>
            </a:r>
            <a:r>
              <a:rPr lang="en-US" spc="-185"/>
              <a:t>T</a:t>
            </a:r>
            <a:r>
              <a:rPr lang="en-US" spc="-160"/>
              <a:t>A</a:t>
            </a:r>
            <a:r>
              <a:rPr lang="en-US" spc="-55"/>
              <a:t>T</a:t>
            </a:r>
            <a:r>
              <a:rPr lang="en-US" spc="15"/>
              <a:t> </a:t>
            </a:r>
            <a:r>
              <a:rPr lang="en-US" spc="-5"/>
              <a:t>479:</a:t>
            </a:r>
            <a:r>
              <a:rPr lang="en-US" spc="15"/>
              <a:t> </a:t>
            </a:r>
            <a:r>
              <a:rPr lang="en-US" spc="5"/>
              <a:t>Machine</a:t>
            </a:r>
            <a:r>
              <a:rPr lang="en-US" spc="15"/>
              <a:t> </a:t>
            </a:r>
            <a:r>
              <a:rPr lang="en-US" spc="-15"/>
              <a:t>Lea</a:t>
            </a:r>
            <a:r>
              <a:rPr lang="en-US" spc="15"/>
              <a:t>r</a:t>
            </a:r>
            <a:r>
              <a:rPr lang="en-US"/>
              <a:t>ning</a:t>
            </a:r>
            <a:endParaRPr dirty="0"/>
          </a:p>
        </p:txBody>
      </p:sp>
      <p:sp>
        <p:nvSpPr>
          <p:cNvPr id="62" name="object 62"/>
          <p:cNvSpPr txBox="1">
            <a:spLocks noGrp="1"/>
          </p:cNvSpPr>
          <p:nvPr>
            <p:ph type="ftr" sz="quarter" idx="5"/>
          </p:nvPr>
        </p:nvSpPr>
        <p:spPr>
          <a:xfrm>
            <a:off x="8650655" y="9495434"/>
            <a:ext cx="687704" cy="23304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rgbClr val="929292"/>
                </a:solidFill>
                <a:latin typeface="Microsoft Sans Serif"/>
                <a:ea typeface="+mn-ea"/>
                <a:cs typeface="Microsoft Sans Serif"/>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929">
              <a:spcBef>
                <a:spcPts val="21"/>
              </a:spcBef>
            </a:pPr>
            <a:r>
              <a:rPr lang="en-US" spc="-40"/>
              <a:t>FS</a:t>
            </a:r>
            <a:r>
              <a:rPr lang="en-US" spc="-50"/>
              <a:t> </a:t>
            </a:r>
            <a:r>
              <a:rPr lang="en-US" spc="-5"/>
              <a:t>2018</a:t>
            </a:r>
            <a:endParaRPr spc="-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dt" sz="half" idx="6"/>
          </p:nvPr>
        </p:nvSpPr>
        <p:spPr>
          <a:xfrm>
            <a:off x="5742025" y="9495434"/>
            <a:ext cx="2291715" cy="23304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rgbClr val="929292"/>
                </a:solidFill>
                <a:latin typeface="Microsoft Sans Serif"/>
                <a:ea typeface="+mn-ea"/>
                <a:cs typeface="Microsoft Sans Serif"/>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929">
              <a:spcBef>
                <a:spcPts val="21"/>
              </a:spcBef>
            </a:pPr>
            <a:r>
              <a:rPr lang="en-US" spc="-30"/>
              <a:t>S</a:t>
            </a:r>
            <a:r>
              <a:rPr lang="en-US" spc="-185"/>
              <a:t>T</a:t>
            </a:r>
            <a:r>
              <a:rPr lang="en-US" spc="-160"/>
              <a:t>A</a:t>
            </a:r>
            <a:r>
              <a:rPr lang="en-US" spc="-55"/>
              <a:t>T</a:t>
            </a:r>
            <a:r>
              <a:rPr lang="en-US" spc="15"/>
              <a:t> </a:t>
            </a:r>
            <a:r>
              <a:rPr lang="en-US" spc="-5"/>
              <a:t>479:</a:t>
            </a:r>
            <a:r>
              <a:rPr lang="en-US" spc="15"/>
              <a:t> </a:t>
            </a:r>
            <a:r>
              <a:rPr lang="en-US" spc="5"/>
              <a:t>Machine</a:t>
            </a:r>
            <a:r>
              <a:rPr lang="en-US" spc="15"/>
              <a:t> </a:t>
            </a:r>
            <a:r>
              <a:rPr lang="en-US" spc="-15"/>
              <a:t>Lea</a:t>
            </a:r>
            <a:r>
              <a:rPr lang="en-US" spc="15"/>
              <a:t>r</a:t>
            </a:r>
            <a:r>
              <a:rPr lang="en-US"/>
              <a:t>ning</a:t>
            </a:r>
            <a:endParaRPr dirty="0"/>
          </a:p>
        </p:txBody>
      </p:sp>
      <p:sp>
        <p:nvSpPr>
          <p:cNvPr id="6" name="object 6"/>
          <p:cNvSpPr txBox="1">
            <a:spLocks noGrp="1"/>
          </p:cNvSpPr>
          <p:nvPr>
            <p:ph type="ftr" sz="quarter" idx="5"/>
          </p:nvPr>
        </p:nvSpPr>
        <p:spPr>
          <a:xfrm>
            <a:off x="8650655" y="9495434"/>
            <a:ext cx="687704" cy="23304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rgbClr val="929292"/>
                </a:solidFill>
                <a:latin typeface="Microsoft Sans Serif"/>
                <a:ea typeface="+mn-ea"/>
                <a:cs typeface="Microsoft Sans Serif"/>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929">
              <a:spcBef>
                <a:spcPts val="21"/>
              </a:spcBef>
            </a:pPr>
            <a:r>
              <a:rPr lang="en-US" spc="-40"/>
              <a:t>FS</a:t>
            </a:r>
            <a:r>
              <a:rPr lang="en-US" spc="-50"/>
              <a:t> </a:t>
            </a:r>
            <a:r>
              <a:rPr lang="en-US" spc="-5"/>
              <a:t>2018</a:t>
            </a:r>
            <a:endParaRPr spc="-4" dirty="0"/>
          </a:p>
        </p:txBody>
      </p:sp>
      <p:sp>
        <p:nvSpPr>
          <p:cNvPr id="2" name="object 2"/>
          <p:cNvSpPr txBox="1"/>
          <p:nvPr/>
        </p:nvSpPr>
        <p:spPr>
          <a:xfrm>
            <a:off x="2122288" y="1410891"/>
            <a:ext cx="9647345" cy="3271449"/>
          </a:xfrm>
          <a:prstGeom prst="rect">
            <a:avLst/>
          </a:prstGeom>
        </p:spPr>
        <p:txBody>
          <a:bodyPr vert="horz" wrap="square" lIns="0" tIns="8930" rIns="0" bIns="0" rtlCol="0">
            <a:spAutoFit/>
          </a:bodyPr>
          <a:lstStyle/>
          <a:p>
            <a:pPr marL="241093" indent="-223234">
              <a:spcBef>
                <a:spcPts val="70"/>
              </a:spcBef>
              <a:buSzPct val="143750"/>
              <a:buFont typeface="Times New Roman"/>
              <a:buChar char="•"/>
              <a:tabLst>
                <a:tab pos="241093" algn="l"/>
              </a:tabLst>
            </a:pPr>
            <a:r>
              <a:rPr sz="2800" spc="-7" dirty="0">
                <a:solidFill>
                  <a:srgbClr val="333333"/>
                </a:solidFill>
                <a:latin typeface="Microsoft Sans Serif"/>
                <a:cs typeface="Microsoft Sans Serif"/>
              </a:rPr>
              <a:t>assume</a:t>
            </a:r>
            <a:r>
              <a:rPr sz="2800" spc="21" dirty="0">
                <a:solidFill>
                  <a:srgbClr val="333333"/>
                </a:solidFill>
                <a:latin typeface="Microsoft Sans Serif"/>
                <a:cs typeface="Microsoft Sans Serif"/>
              </a:rPr>
              <a:t> </a:t>
            </a:r>
            <a:r>
              <a:rPr sz="2800" i="1" spc="-4" dirty="0">
                <a:solidFill>
                  <a:srgbClr val="333333"/>
                </a:solidFill>
                <a:latin typeface="Arial"/>
                <a:cs typeface="Arial"/>
              </a:rPr>
              <a:t>n</a:t>
            </a:r>
            <a:r>
              <a:rPr sz="2800" i="1" spc="4" dirty="0">
                <a:solidFill>
                  <a:srgbClr val="333333"/>
                </a:solidFill>
                <a:latin typeface="Arial"/>
                <a:cs typeface="Arial"/>
              </a:rPr>
              <a:t> </a:t>
            </a:r>
            <a:r>
              <a:rPr sz="2800" spc="11" dirty="0">
                <a:solidFill>
                  <a:srgbClr val="333333"/>
                </a:solidFill>
                <a:latin typeface="Microsoft Sans Serif"/>
                <a:cs typeface="Microsoft Sans Serif"/>
              </a:rPr>
              <a:t>independent</a:t>
            </a:r>
            <a:r>
              <a:rPr sz="2800" spc="21" dirty="0">
                <a:solidFill>
                  <a:srgbClr val="333333"/>
                </a:solidFill>
                <a:latin typeface="Microsoft Sans Serif"/>
                <a:cs typeface="Microsoft Sans Serif"/>
              </a:rPr>
              <a:t> </a:t>
            </a:r>
            <a:r>
              <a:rPr sz="2800" spc="-4" dirty="0">
                <a:solidFill>
                  <a:srgbClr val="333333"/>
                </a:solidFill>
                <a:latin typeface="Microsoft Sans Serif"/>
                <a:cs typeface="Microsoft Sans Serif"/>
              </a:rPr>
              <a:t>classifiers</a:t>
            </a:r>
            <a:r>
              <a:rPr sz="2800" spc="21" dirty="0">
                <a:solidFill>
                  <a:srgbClr val="333333"/>
                </a:solidFill>
                <a:latin typeface="Microsoft Sans Serif"/>
                <a:cs typeface="Microsoft Sans Serif"/>
              </a:rPr>
              <a:t> </a:t>
            </a:r>
            <a:r>
              <a:rPr sz="2800" spc="28" dirty="0">
                <a:solidFill>
                  <a:srgbClr val="333333"/>
                </a:solidFill>
                <a:latin typeface="Microsoft Sans Serif"/>
                <a:cs typeface="Microsoft Sans Serif"/>
              </a:rPr>
              <a:t>with</a:t>
            </a:r>
            <a:r>
              <a:rPr sz="2800" spc="18" dirty="0">
                <a:solidFill>
                  <a:srgbClr val="333333"/>
                </a:solidFill>
                <a:latin typeface="Microsoft Sans Serif"/>
                <a:cs typeface="Microsoft Sans Serif"/>
              </a:rPr>
              <a:t> </a:t>
            </a:r>
            <a:r>
              <a:rPr sz="2800" spc="-35" dirty="0">
                <a:solidFill>
                  <a:srgbClr val="333333"/>
                </a:solidFill>
                <a:latin typeface="Microsoft Sans Serif"/>
                <a:cs typeface="Microsoft Sans Serif"/>
              </a:rPr>
              <a:t>a</a:t>
            </a:r>
            <a:r>
              <a:rPr sz="2800" spc="21" dirty="0">
                <a:solidFill>
                  <a:srgbClr val="333333"/>
                </a:solidFill>
                <a:latin typeface="Microsoft Sans Serif"/>
                <a:cs typeface="Microsoft Sans Serif"/>
              </a:rPr>
              <a:t> </a:t>
            </a:r>
            <a:r>
              <a:rPr sz="2800" spc="-4" dirty="0">
                <a:solidFill>
                  <a:srgbClr val="333333"/>
                </a:solidFill>
                <a:latin typeface="Microsoft Sans Serif"/>
                <a:cs typeface="Microsoft Sans Serif"/>
              </a:rPr>
              <a:t>base</a:t>
            </a:r>
            <a:r>
              <a:rPr sz="2800" spc="21" dirty="0">
                <a:solidFill>
                  <a:srgbClr val="333333"/>
                </a:solidFill>
                <a:latin typeface="Microsoft Sans Serif"/>
                <a:cs typeface="Microsoft Sans Serif"/>
              </a:rPr>
              <a:t> </a:t>
            </a:r>
            <a:r>
              <a:rPr sz="2800" spc="-7" dirty="0">
                <a:solidFill>
                  <a:srgbClr val="333333"/>
                </a:solidFill>
                <a:latin typeface="Microsoft Sans Serif"/>
                <a:cs typeface="Microsoft Sans Serif"/>
              </a:rPr>
              <a:t>error</a:t>
            </a:r>
            <a:r>
              <a:rPr sz="2800" spc="21" dirty="0">
                <a:solidFill>
                  <a:srgbClr val="333333"/>
                </a:solidFill>
                <a:latin typeface="Microsoft Sans Serif"/>
                <a:cs typeface="Microsoft Sans Serif"/>
              </a:rPr>
              <a:t> </a:t>
            </a:r>
            <a:r>
              <a:rPr sz="2800" spc="-4" dirty="0">
                <a:solidFill>
                  <a:srgbClr val="333333"/>
                </a:solidFill>
                <a:latin typeface="Microsoft Sans Serif"/>
                <a:cs typeface="Microsoft Sans Serif"/>
              </a:rPr>
              <a:t>rate</a:t>
            </a:r>
            <a:r>
              <a:rPr sz="2800" spc="91" dirty="0">
                <a:solidFill>
                  <a:srgbClr val="333333"/>
                </a:solidFill>
                <a:latin typeface="Microsoft Sans Serif"/>
                <a:cs typeface="Microsoft Sans Serif"/>
              </a:rPr>
              <a:t> </a:t>
            </a:r>
            <a:r>
              <a:rPr sz="6000" i="1" spc="11" baseline="1424" dirty="0">
                <a:latin typeface="Arial"/>
                <a:cs typeface="Arial"/>
              </a:rPr>
              <a:t>ϵ</a:t>
            </a:r>
            <a:endParaRPr sz="6000" baseline="1424" dirty="0">
              <a:latin typeface="Arial"/>
              <a:cs typeface="Arial"/>
            </a:endParaRPr>
          </a:p>
          <a:p>
            <a:pPr marL="241093" indent="-223234">
              <a:buSzPct val="143750"/>
              <a:buFont typeface="Times New Roman"/>
              <a:buChar char="•"/>
              <a:tabLst>
                <a:tab pos="241093" algn="l"/>
              </a:tabLst>
            </a:pPr>
            <a:r>
              <a:rPr sz="2800" spc="-21" dirty="0">
                <a:solidFill>
                  <a:srgbClr val="333333"/>
                </a:solidFill>
                <a:latin typeface="Microsoft Sans Serif"/>
                <a:cs typeface="Microsoft Sans Serif"/>
              </a:rPr>
              <a:t>here,</a:t>
            </a:r>
            <a:r>
              <a:rPr sz="2800" spc="21" dirty="0">
                <a:solidFill>
                  <a:srgbClr val="333333"/>
                </a:solidFill>
                <a:latin typeface="Microsoft Sans Serif"/>
                <a:cs typeface="Microsoft Sans Serif"/>
              </a:rPr>
              <a:t> </a:t>
            </a:r>
            <a:r>
              <a:rPr sz="2800" spc="11" dirty="0">
                <a:solidFill>
                  <a:srgbClr val="333333"/>
                </a:solidFill>
                <a:latin typeface="Microsoft Sans Serif"/>
                <a:cs typeface="Microsoft Sans Serif"/>
              </a:rPr>
              <a:t>independent</a:t>
            </a:r>
            <a:r>
              <a:rPr sz="2800" spc="21" dirty="0">
                <a:solidFill>
                  <a:srgbClr val="333333"/>
                </a:solidFill>
                <a:latin typeface="Microsoft Sans Serif"/>
                <a:cs typeface="Microsoft Sans Serif"/>
              </a:rPr>
              <a:t> </a:t>
            </a:r>
            <a:r>
              <a:rPr sz="2800" spc="-7" dirty="0">
                <a:solidFill>
                  <a:srgbClr val="333333"/>
                </a:solidFill>
                <a:latin typeface="Microsoft Sans Serif"/>
                <a:cs typeface="Microsoft Sans Serif"/>
              </a:rPr>
              <a:t>means</a:t>
            </a:r>
            <a:r>
              <a:rPr sz="2800" spc="25" dirty="0">
                <a:solidFill>
                  <a:srgbClr val="333333"/>
                </a:solidFill>
                <a:latin typeface="Microsoft Sans Serif"/>
                <a:cs typeface="Microsoft Sans Serif"/>
              </a:rPr>
              <a:t> </a:t>
            </a:r>
            <a:r>
              <a:rPr sz="2800" spc="21" dirty="0">
                <a:solidFill>
                  <a:srgbClr val="333333"/>
                </a:solidFill>
                <a:latin typeface="Microsoft Sans Serif"/>
                <a:cs typeface="Microsoft Sans Serif"/>
              </a:rPr>
              <a:t>that </a:t>
            </a:r>
            <a:r>
              <a:rPr sz="2800" spc="7" dirty="0">
                <a:solidFill>
                  <a:srgbClr val="333333"/>
                </a:solidFill>
                <a:latin typeface="Microsoft Sans Serif"/>
                <a:cs typeface="Microsoft Sans Serif"/>
              </a:rPr>
              <a:t>the</a:t>
            </a:r>
            <a:r>
              <a:rPr sz="2800" spc="21" dirty="0">
                <a:solidFill>
                  <a:srgbClr val="333333"/>
                </a:solidFill>
                <a:latin typeface="Microsoft Sans Serif"/>
                <a:cs typeface="Microsoft Sans Serif"/>
              </a:rPr>
              <a:t> </a:t>
            </a:r>
            <a:r>
              <a:rPr sz="2800" spc="-7" dirty="0">
                <a:solidFill>
                  <a:srgbClr val="333333"/>
                </a:solidFill>
                <a:latin typeface="Microsoft Sans Serif"/>
                <a:cs typeface="Microsoft Sans Serif"/>
              </a:rPr>
              <a:t>errors</a:t>
            </a:r>
            <a:r>
              <a:rPr sz="2800" spc="25" dirty="0">
                <a:solidFill>
                  <a:srgbClr val="333333"/>
                </a:solidFill>
                <a:latin typeface="Microsoft Sans Serif"/>
                <a:cs typeface="Microsoft Sans Serif"/>
              </a:rPr>
              <a:t> </a:t>
            </a:r>
            <a:r>
              <a:rPr sz="2800" spc="-35" dirty="0">
                <a:solidFill>
                  <a:srgbClr val="333333"/>
                </a:solidFill>
                <a:latin typeface="Microsoft Sans Serif"/>
                <a:cs typeface="Microsoft Sans Serif"/>
              </a:rPr>
              <a:t>are</a:t>
            </a:r>
            <a:r>
              <a:rPr sz="2800" spc="21" dirty="0">
                <a:solidFill>
                  <a:srgbClr val="333333"/>
                </a:solidFill>
                <a:latin typeface="Microsoft Sans Serif"/>
                <a:cs typeface="Microsoft Sans Serif"/>
              </a:rPr>
              <a:t> </a:t>
            </a:r>
            <a:r>
              <a:rPr sz="2800" spc="4" dirty="0">
                <a:solidFill>
                  <a:srgbClr val="333333"/>
                </a:solidFill>
                <a:latin typeface="Microsoft Sans Serif"/>
                <a:cs typeface="Microsoft Sans Serif"/>
              </a:rPr>
              <a:t>uncorrelated</a:t>
            </a:r>
            <a:endParaRPr sz="2800" dirty="0">
              <a:latin typeface="Microsoft Sans Serif"/>
              <a:cs typeface="Microsoft Sans Serif"/>
            </a:endParaRPr>
          </a:p>
          <a:p>
            <a:pPr marL="241093" indent="-223234">
              <a:spcBef>
                <a:spcPts val="14"/>
              </a:spcBef>
              <a:buSzPct val="143750"/>
              <a:buFont typeface="Times New Roman"/>
              <a:buChar char="•"/>
              <a:tabLst>
                <a:tab pos="241093" algn="l"/>
              </a:tabLst>
            </a:pPr>
            <a:r>
              <a:rPr sz="2800" spc="-7" dirty="0">
                <a:solidFill>
                  <a:srgbClr val="333333"/>
                </a:solidFill>
                <a:latin typeface="Microsoft Sans Serif"/>
                <a:cs typeface="Microsoft Sans Serif"/>
              </a:rPr>
              <a:t>assume</a:t>
            </a:r>
            <a:r>
              <a:rPr sz="2800" spc="18" dirty="0">
                <a:solidFill>
                  <a:srgbClr val="333333"/>
                </a:solidFill>
                <a:latin typeface="Microsoft Sans Serif"/>
                <a:cs typeface="Microsoft Sans Serif"/>
              </a:rPr>
              <a:t> </a:t>
            </a:r>
            <a:r>
              <a:rPr sz="2800" spc="-35" dirty="0">
                <a:solidFill>
                  <a:srgbClr val="333333"/>
                </a:solidFill>
                <a:latin typeface="Microsoft Sans Serif"/>
                <a:cs typeface="Microsoft Sans Serif"/>
              </a:rPr>
              <a:t>a</a:t>
            </a:r>
            <a:r>
              <a:rPr sz="2800" spc="21" dirty="0">
                <a:solidFill>
                  <a:srgbClr val="333333"/>
                </a:solidFill>
                <a:latin typeface="Microsoft Sans Serif"/>
                <a:cs typeface="Microsoft Sans Serif"/>
              </a:rPr>
              <a:t> </a:t>
            </a:r>
            <a:r>
              <a:rPr sz="2800" dirty="0">
                <a:solidFill>
                  <a:srgbClr val="333333"/>
                </a:solidFill>
                <a:latin typeface="Microsoft Sans Serif"/>
                <a:cs typeface="Microsoft Sans Serif"/>
              </a:rPr>
              <a:t>binary</a:t>
            </a:r>
            <a:r>
              <a:rPr sz="2800" spc="21" dirty="0">
                <a:solidFill>
                  <a:srgbClr val="333333"/>
                </a:solidFill>
                <a:latin typeface="Microsoft Sans Serif"/>
                <a:cs typeface="Microsoft Sans Serif"/>
              </a:rPr>
              <a:t> </a:t>
            </a:r>
            <a:r>
              <a:rPr sz="2800" spc="7" dirty="0">
                <a:solidFill>
                  <a:srgbClr val="333333"/>
                </a:solidFill>
                <a:latin typeface="Microsoft Sans Serif"/>
                <a:cs typeface="Microsoft Sans Serif"/>
              </a:rPr>
              <a:t>classification</a:t>
            </a:r>
            <a:r>
              <a:rPr sz="2800" spc="18" dirty="0">
                <a:solidFill>
                  <a:srgbClr val="333333"/>
                </a:solidFill>
                <a:latin typeface="Microsoft Sans Serif"/>
                <a:cs typeface="Microsoft Sans Serif"/>
              </a:rPr>
              <a:t> </a:t>
            </a:r>
            <a:r>
              <a:rPr sz="2800" spc="14" dirty="0">
                <a:solidFill>
                  <a:srgbClr val="333333"/>
                </a:solidFill>
                <a:latin typeface="Microsoft Sans Serif"/>
                <a:cs typeface="Microsoft Sans Serif"/>
              </a:rPr>
              <a:t>task</a:t>
            </a:r>
            <a:endParaRPr sz="2800" dirty="0">
              <a:latin typeface="Microsoft Sans Serif"/>
              <a:cs typeface="Microsoft Sans Serif"/>
            </a:endParaRPr>
          </a:p>
          <a:p>
            <a:pPr marL="241093" marR="12501" indent="-223234">
              <a:buSzPct val="143750"/>
              <a:buFont typeface="Times New Roman"/>
              <a:buChar char="•"/>
              <a:tabLst>
                <a:tab pos="241093" algn="l"/>
              </a:tabLst>
            </a:pPr>
            <a:r>
              <a:rPr sz="2800" spc="-7" dirty="0">
                <a:solidFill>
                  <a:srgbClr val="333333"/>
                </a:solidFill>
                <a:latin typeface="Microsoft Sans Serif"/>
                <a:cs typeface="Microsoft Sans Serif"/>
              </a:rPr>
              <a:t>assume</a:t>
            </a:r>
            <a:r>
              <a:rPr sz="2800" spc="18" dirty="0">
                <a:solidFill>
                  <a:srgbClr val="333333"/>
                </a:solidFill>
                <a:latin typeface="Microsoft Sans Serif"/>
                <a:cs typeface="Microsoft Sans Serif"/>
              </a:rPr>
              <a:t> </a:t>
            </a:r>
            <a:r>
              <a:rPr sz="2800" spc="7" dirty="0">
                <a:solidFill>
                  <a:srgbClr val="333333"/>
                </a:solidFill>
                <a:latin typeface="Microsoft Sans Serif"/>
                <a:cs typeface="Microsoft Sans Serif"/>
              </a:rPr>
              <a:t>the</a:t>
            </a:r>
            <a:r>
              <a:rPr sz="2800" spc="18" dirty="0">
                <a:solidFill>
                  <a:srgbClr val="333333"/>
                </a:solidFill>
                <a:latin typeface="Microsoft Sans Serif"/>
                <a:cs typeface="Microsoft Sans Serif"/>
              </a:rPr>
              <a:t> </a:t>
            </a:r>
            <a:r>
              <a:rPr sz="2800" spc="-7" dirty="0">
                <a:solidFill>
                  <a:srgbClr val="333333"/>
                </a:solidFill>
                <a:latin typeface="Microsoft Sans Serif"/>
                <a:cs typeface="Microsoft Sans Serif"/>
              </a:rPr>
              <a:t>error</a:t>
            </a:r>
            <a:r>
              <a:rPr sz="2800" spc="21" dirty="0">
                <a:solidFill>
                  <a:srgbClr val="333333"/>
                </a:solidFill>
                <a:latin typeface="Microsoft Sans Serif"/>
                <a:cs typeface="Microsoft Sans Serif"/>
              </a:rPr>
              <a:t> </a:t>
            </a:r>
            <a:r>
              <a:rPr sz="2800" spc="-4" dirty="0">
                <a:solidFill>
                  <a:srgbClr val="333333"/>
                </a:solidFill>
                <a:latin typeface="Microsoft Sans Serif"/>
                <a:cs typeface="Microsoft Sans Serif"/>
              </a:rPr>
              <a:t>rate</a:t>
            </a:r>
            <a:r>
              <a:rPr sz="2800" spc="18" dirty="0">
                <a:solidFill>
                  <a:srgbClr val="333333"/>
                </a:solidFill>
                <a:latin typeface="Microsoft Sans Serif"/>
                <a:cs typeface="Microsoft Sans Serif"/>
              </a:rPr>
              <a:t> </a:t>
            </a:r>
            <a:r>
              <a:rPr sz="2800" spc="-7" dirty="0">
                <a:solidFill>
                  <a:srgbClr val="333333"/>
                </a:solidFill>
                <a:latin typeface="Microsoft Sans Serif"/>
                <a:cs typeface="Microsoft Sans Serif"/>
              </a:rPr>
              <a:t>is</a:t>
            </a:r>
            <a:r>
              <a:rPr sz="2800" spc="21" dirty="0">
                <a:solidFill>
                  <a:srgbClr val="333333"/>
                </a:solidFill>
                <a:latin typeface="Microsoft Sans Serif"/>
                <a:cs typeface="Microsoft Sans Serif"/>
              </a:rPr>
              <a:t> </a:t>
            </a:r>
            <a:r>
              <a:rPr sz="2800" spc="18" dirty="0">
                <a:solidFill>
                  <a:srgbClr val="333333"/>
                </a:solidFill>
                <a:latin typeface="Microsoft Sans Serif"/>
                <a:cs typeface="Microsoft Sans Serif"/>
              </a:rPr>
              <a:t>better </a:t>
            </a:r>
            <a:r>
              <a:rPr sz="2800" spc="7" dirty="0">
                <a:solidFill>
                  <a:srgbClr val="333333"/>
                </a:solidFill>
                <a:latin typeface="Microsoft Sans Serif"/>
                <a:cs typeface="Microsoft Sans Serif"/>
              </a:rPr>
              <a:t>than</a:t>
            </a:r>
            <a:r>
              <a:rPr sz="2800" spc="21" dirty="0">
                <a:solidFill>
                  <a:srgbClr val="333333"/>
                </a:solidFill>
                <a:latin typeface="Microsoft Sans Serif"/>
                <a:cs typeface="Microsoft Sans Serif"/>
              </a:rPr>
              <a:t> </a:t>
            </a:r>
            <a:r>
              <a:rPr sz="2800" spc="14" dirty="0">
                <a:solidFill>
                  <a:srgbClr val="333333"/>
                </a:solidFill>
                <a:latin typeface="Microsoft Sans Serif"/>
                <a:cs typeface="Microsoft Sans Serif"/>
              </a:rPr>
              <a:t>random</a:t>
            </a:r>
            <a:r>
              <a:rPr sz="2800" spc="18" dirty="0">
                <a:solidFill>
                  <a:srgbClr val="333333"/>
                </a:solidFill>
                <a:latin typeface="Microsoft Sans Serif"/>
                <a:cs typeface="Microsoft Sans Serif"/>
              </a:rPr>
              <a:t> </a:t>
            </a:r>
            <a:r>
              <a:rPr sz="2800" dirty="0">
                <a:solidFill>
                  <a:srgbClr val="333333"/>
                </a:solidFill>
                <a:latin typeface="Microsoft Sans Serif"/>
                <a:cs typeface="Microsoft Sans Serif"/>
              </a:rPr>
              <a:t>guessing</a:t>
            </a:r>
            <a:r>
              <a:rPr sz="2800" spc="21" dirty="0">
                <a:solidFill>
                  <a:srgbClr val="333333"/>
                </a:solidFill>
                <a:latin typeface="Microsoft Sans Serif"/>
                <a:cs typeface="Microsoft Sans Serif"/>
              </a:rPr>
              <a:t> </a:t>
            </a:r>
            <a:r>
              <a:rPr sz="2800" spc="-28" dirty="0">
                <a:solidFill>
                  <a:srgbClr val="333333"/>
                </a:solidFill>
                <a:latin typeface="Microsoft Sans Serif"/>
                <a:cs typeface="Microsoft Sans Serif"/>
              </a:rPr>
              <a:t>(i.e., </a:t>
            </a:r>
            <a:r>
              <a:rPr sz="2800" spc="-439" dirty="0">
                <a:solidFill>
                  <a:srgbClr val="333333"/>
                </a:solidFill>
                <a:latin typeface="Microsoft Sans Serif"/>
                <a:cs typeface="Microsoft Sans Serif"/>
              </a:rPr>
              <a:t> </a:t>
            </a:r>
            <a:r>
              <a:rPr sz="2800" spc="7" dirty="0">
                <a:solidFill>
                  <a:srgbClr val="333333"/>
                </a:solidFill>
                <a:latin typeface="Microsoft Sans Serif"/>
                <a:cs typeface="Microsoft Sans Serif"/>
              </a:rPr>
              <a:t>lower</a:t>
            </a:r>
            <a:r>
              <a:rPr sz="2800" spc="14" dirty="0">
                <a:solidFill>
                  <a:srgbClr val="333333"/>
                </a:solidFill>
                <a:latin typeface="Microsoft Sans Serif"/>
                <a:cs typeface="Microsoft Sans Serif"/>
              </a:rPr>
              <a:t> </a:t>
            </a:r>
            <a:r>
              <a:rPr sz="2800" spc="7" dirty="0">
                <a:solidFill>
                  <a:srgbClr val="333333"/>
                </a:solidFill>
                <a:latin typeface="Microsoft Sans Serif"/>
                <a:cs typeface="Microsoft Sans Serif"/>
              </a:rPr>
              <a:t>than</a:t>
            </a:r>
            <a:r>
              <a:rPr sz="2800" spc="18" dirty="0">
                <a:solidFill>
                  <a:srgbClr val="333333"/>
                </a:solidFill>
                <a:latin typeface="Microsoft Sans Serif"/>
                <a:cs typeface="Microsoft Sans Serif"/>
              </a:rPr>
              <a:t> </a:t>
            </a:r>
            <a:r>
              <a:rPr sz="2800" dirty="0">
                <a:solidFill>
                  <a:srgbClr val="333333"/>
                </a:solidFill>
                <a:latin typeface="Microsoft Sans Serif"/>
                <a:cs typeface="Microsoft Sans Serif"/>
              </a:rPr>
              <a:t>0.5</a:t>
            </a:r>
            <a:r>
              <a:rPr sz="2800" spc="18" dirty="0">
                <a:solidFill>
                  <a:srgbClr val="333333"/>
                </a:solidFill>
                <a:latin typeface="Microsoft Sans Serif"/>
                <a:cs typeface="Microsoft Sans Serif"/>
              </a:rPr>
              <a:t> for </a:t>
            </a:r>
            <a:r>
              <a:rPr sz="2800" dirty="0">
                <a:solidFill>
                  <a:srgbClr val="333333"/>
                </a:solidFill>
                <a:latin typeface="Microsoft Sans Serif"/>
                <a:cs typeface="Microsoft Sans Serif"/>
              </a:rPr>
              <a:t>binary</a:t>
            </a:r>
            <a:r>
              <a:rPr sz="2800" spc="18" dirty="0">
                <a:solidFill>
                  <a:srgbClr val="333333"/>
                </a:solidFill>
                <a:latin typeface="Microsoft Sans Serif"/>
                <a:cs typeface="Microsoft Sans Serif"/>
              </a:rPr>
              <a:t> </a:t>
            </a:r>
            <a:r>
              <a:rPr sz="2800" dirty="0">
                <a:solidFill>
                  <a:srgbClr val="333333"/>
                </a:solidFill>
                <a:latin typeface="Microsoft Sans Serif"/>
                <a:cs typeface="Microsoft Sans Serif"/>
              </a:rPr>
              <a:t>classification)</a:t>
            </a:r>
            <a:endParaRPr sz="2800" dirty="0">
              <a:latin typeface="Microsoft Sans Serif"/>
              <a:cs typeface="Microsoft Sans Serif"/>
            </a:endParaRPr>
          </a:p>
          <a:p>
            <a:pPr>
              <a:lnSpc>
                <a:spcPct val="100000"/>
              </a:lnSpc>
            </a:pPr>
            <a:endParaRPr sz="2400" dirty="0">
              <a:latin typeface="Microsoft Sans Serif"/>
              <a:cs typeface="Microsoft Sans Serif"/>
            </a:endParaRPr>
          </a:p>
          <a:p>
            <a:pPr marL="1782302"/>
            <a:r>
              <a:rPr sz="3600" spc="-593" dirty="0">
                <a:latin typeface="Lucida Sans Unicode"/>
                <a:cs typeface="Lucida Sans Unicode"/>
              </a:rPr>
              <a:t>∀</a:t>
            </a:r>
            <a:r>
              <a:rPr sz="3600" i="1" spc="-74" dirty="0">
                <a:latin typeface="Arial"/>
                <a:cs typeface="Arial"/>
              </a:rPr>
              <a:t>ϵ</a:t>
            </a:r>
            <a:r>
              <a:rPr sz="3600" i="1" baseline="-20202" dirty="0">
                <a:latin typeface="Times New Roman"/>
                <a:cs typeface="Times New Roman"/>
              </a:rPr>
              <a:t>i </a:t>
            </a:r>
            <a:r>
              <a:rPr sz="3600" i="1" spc="-252" baseline="-20202" dirty="0">
                <a:latin typeface="Times New Roman"/>
                <a:cs typeface="Times New Roman"/>
              </a:rPr>
              <a:t> </a:t>
            </a:r>
            <a:r>
              <a:rPr sz="3600" spc="-243" dirty="0">
                <a:latin typeface="Lucida Sans Unicode"/>
                <a:cs typeface="Lucida Sans Unicode"/>
              </a:rPr>
              <a:t>∈</a:t>
            </a:r>
            <a:r>
              <a:rPr sz="3600" spc="-84" dirty="0">
                <a:latin typeface="Lucida Sans Unicode"/>
                <a:cs typeface="Lucida Sans Unicode"/>
              </a:rPr>
              <a:t> </a:t>
            </a:r>
            <a:r>
              <a:rPr sz="3600" spc="200" dirty="0">
                <a:latin typeface="Cambria"/>
                <a:cs typeface="Cambria"/>
              </a:rPr>
              <a:t>{</a:t>
            </a:r>
            <a:r>
              <a:rPr sz="3600" i="1" spc="-74" dirty="0">
                <a:latin typeface="Arial"/>
                <a:cs typeface="Arial"/>
              </a:rPr>
              <a:t>ϵ</a:t>
            </a:r>
            <a:r>
              <a:rPr sz="3600" spc="-126" baseline="-20202" dirty="0">
                <a:latin typeface="Cambria"/>
                <a:cs typeface="Cambria"/>
              </a:rPr>
              <a:t>1</a:t>
            </a:r>
            <a:r>
              <a:rPr sz="3600" spc="95" dirty="0">
                <a:latin typeface="Cambria"/>
                <a:cs typeface="Cambria"/>
              </a:rPr>
              <a:t>,</a:t>
            </a:r>
            <a:r>
              <a:rPr sz="3600" spc="-120" dirty="0">
                <a:latin typeface="Cambria"/>
                <a:cs typeface="Cambria"/>
              </a:rPr>
              <a:t> </a:t>
            </a:r>
            <a:r>
              <a:rPr sz="3600" i="1" spc="-74" dirty="0">
                <a:latin typeface="Arial"/>
                <a:cs typeface="Arial"/>
              </a:rPr>
              <a:t>ϵ</a:t>
            </a:r>
            <a:r>
              <a:rPr sz="3600" spc="-126" baseline="-20202" dirty="0">
                <a:latin typeface="Cambria"/>
                <a:cs typeface="Cambria"/>
              </a:rPr>
              <a:t>2</a:t>
            </a:r>
            <a:r>
              <a:rPr sz="3600" spc="95" dirty="0">
                <a:latin typeface="Cambria"/>
                <a:cs typeface="Cambria"/>
              </a:rPr>
              <a:t>,</a:t>
            </a:r>
            <a:r>
              <a:rPr sz="3600" spc="-120" dirty="0">
                <a:latin typeface="Cambria"/>
                <a:cs typeface="Cambria"/>
              </a:rPr>
              <a:t> </a:t>
            </a:r>
            <a:r>
              <a:rPr sz="3600" spc="95" dirty="0">
                <a:latin typeface="Cambria"/>
                <a:cs typeface="Cambria"/>
              </a:rPr>
              <a:t>.</a:t>
            </a:r>
            <a:r>
              <a:rPr sz="3600" spc="-120" dirty="0">
                <a:latin typeface="Cambria"/>
                <a:cs typeface="Cambria"/>
              </a:rPr>
              <a:t> </a:t>
            </a:r>
            <a:r>
              <a:rPr sz="3600" spc="95" dirty="0">
                <a:latin typeface="Cambria"/>
                <a:cs typeface="Cambria"/>
              </a:rPr>
              <a:t>.</a:t>
            </a:r>
            <a:r>
              <a:rPr sz="3600" spc="-120" dirty="0">
                <a:latin typeface="Cambria"/>
                <a:cs typeface="Cambria"/>
              </a:rPr>
              <a:t> </a:t>
            </a:r>
            <a:r>
              <a:rPr sz="3600" spc="95" dirty="0">
                <a:latin typeface="Cambria"/>
                <a:cs typeface="Cambria"/>
              </a:rPr>
              <a:t>.</a:t>
            </a:r>
            <a:r>
              <a:rPr sz="3600" spc="-120" dirty="0">
                <a:latin typeface="Cambria"/>
                <a:cs typeface="Cambria"/>
              </a:rPr>
              <a:t> </a:t>
            </a:r>
            <a:r>
              <a:rPr sz="3600" spc="95" dirty="0">
                <a:latin typeface="Cambria"/>
                <a:cs typeface="Cambria"/>
              </a:rPr>
              <a:t>,</a:t>
            </a:r>
            <a:r>
              <a:rPr sz="3600" spc="-120" dirty="0">
                <a:latin typeface="Cambria"/>
                <a:cs typeface="Cambria"/>
              </a:rPr>
              <a:t> </a:t>
            </a:r>
            <a:r>
              <a:rPr sz="3600" i="1" spc="-74" dirty="0">
                <a:latin typeface="Arial"/>
                <a:cs typeface="Arial"/>
              </a:rPr>
              <a:t>ϵ</a:t>
            </a:r>
            <a:r>
              <a:rPr sz="3600" i="1" baseline="-20202" dirty="0">
                <a:latin typeface="Times New Roman"/>
                <a:cs typeface="Times New Roman"/>
              </a:rPr>
              <a:t>n</a:t>
            </a:r>
            <a:r>
              <a:rPr sz="3600" spc="200" dirty="0">
                <a:latin typeface="Cambria"/>
                <a:cs typeface="Cambria"/>
              </a:rPr>
              <a:t>}</a:t>
            </a:r>
            <a:r>
              <a:rPr sz="3600" spc="95" dirty="0">
                <a:latin typeface="Cambria"/>
                <a:cs typeface="Cambria"/>
              </a:rPr>
              <a:t>,</a:t>
            </a:r>
            <a:r>
              <a:rPr sz="3600" spc="-120" dirty="0">
                <a:latin typeface="Cambria"/>
                <a:cs typeface="Cambria"/>
              </a:rPr>
              <a:t> </a:t>
            </a:r>
            <a:r>
              <a:rPr sz="3600" i="1" spc="-74" dirty="0">
                <a:latin typeface="Arial"/>
                <a:cs typeface="Arial"/>
              </a:rPr>
              <a:t>ϵ</a:t>
            </a:r>
            <a:r>
              <a:rPr sz="3600" i="1" baseline="-20202" dirty="0">
                <a:latin typeface="Times New Roman"/>
                <a:cs typeface="Times New Roman"/>
              </a:rPr>
              <a:t>i </a:t>
            </a:r>
            <a:r>
              <a:rPr sz="3600" i="1" spc="-252" baseline="-20202" dirty="0">
                <a:latin typeface="Times New Roman"/>
                <a:cs typeface="Times New Roman"/>
              </a:rPr>
              <a:t> </a:t>
            </a:r>
            <a:r>
              <a:rPr sz="3600" spc="285" dirty="0">
                <a:latin typeface="Cambria"/>
                <a:cs typeface="Cambria"/>
              </a:rPr>
              <a:t>&lt;</a:t>
            </a:r>
            <a:r>
              <a:rPr sz="3600" spc="123" dirty="0">
                <a:latin typeface="Cambria"/>
                <a:cs typeface="Cambria"/>
              </a:rPr>
              <a:t> </a:t>
            </a:r>
            <a:r>
              <a:rPr sz="3600" spc="-46" dirty="0">
                <a:latin typeface="Cambria"/>
                <a:cs typeface="Cambria"/>
              </a:rPr>
              <a:t>0.5</a:t>
            </a:r>
            <a:endParaRPr sz="3600" dirty="0">
              <a:latin typeface="Cambria"/>
              <a:cs typeface="Cambria"/>
            </a:endParaRPr>
          </a:p>
        </p:txBody>
      </p:sp>
      <p:sp>
        <p:nvSpPr>
          <p:cNvPr id="3" name="object 3"/>
          <p:cNvSpPr txBox="1">
            <a:spLocks noGrp="1"/>
          </p:cNvSpPr>
          <p:nvPr>
            <p:ph type="title"/>
          </p:nvPr>
        </p:nvSpPr>
        <p:spPr>
          <a:xfrm>
            <a:off x="4444008" y="371313"/>
            <a:ext cx="6045466" cy="686126"/>
          </a:xfrm>
          <a:prstGeom prst="rect">
            <a:avLst/>
          </a:prstGeom>
        </p:spPr>
        <p:txBody>
          <a:bodyPr vert="horz" wrap="square" lIns="0" tIns="8930" rIns="0" bIns="0" rtlCol="0" anchor="ctr">
            <a:spAutoFit/>
          </a:bodyPr>
          <a:lstStyle/>
          <a:p>
            <a:pPr marL="8929">
              <a:lnSpc>
                <a:spcPct val="100000"/>
              </a:lnSpc>
              <a:spcBef>
                <a:spcPts val="70"/>
              </a:spcBef>
            </a:pPr>
            <a:r>
              <a:rPr spc="39" dirty="0">
                <a:latin typeface="Arial MT"/>
                <a:cs typeface="Arial MT"/>
              </a:rPr>
              <a:t>Why</a:t>
            </a:r>
            <a:r>
              <a:rPr spc="-28" dirty="0">
                <a:latin typeface="Arial MT"/>
                <a:cs typeface="Arial MT"/>
              </a:rPr>
              <a:t> </a:t>
            </a:r>
            <a:r>
              <a:rPr spc="88" dirty="0">
                <a:latin typeface="Arial MT"/>
                <a:cs typeface="Arial MT"/>
              </a:rPr>
              <a:t>Majority</a:t>
            </a:r>
            <a:r>
              <a:rPr spc="-28" dirty="0">
                <a:latin typeface="Arial MT"/>
                <a:cs typeface="Arial MT"/>
              </a:rPr>
              <a:t> </a:t>
            </a:r>
            <a:r>
              <a:rPr spc="-14" dirty="0">
                <a:latin typeface="Arial MT"/>
                <a:cs typeface="Arial MT"/>
              </a:rPr>
              <a:t>Vote?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dt" sz="half" idx="6"/>
          </p:nvPr>
        </p:nvSpPr>
        <p:spPr>
          <a:xfrm>
            <a:off x="5742025" y="9495434"/>
            <a:ext cx="2291715" cy="23304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rgbClr val="929292"/>
                </a:solidFill>
                <a:latin typeface="Microsoft Sans Serif"/>
                <a:ea typeface="+mn-ea"/>
                <a:cs typeface="Microsoft Sans Serif"/>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929">
              <a:spcBef>
                <a:spcPts val="21"/>
              </a:spcBef>
            </a:pPr>
            <a:r>
              <a:rPr lang="en-US" spc="-30"/>
              <a:t>S</a:t>
            </a:r>
            <a:r>
              <a:rPr lang="en-US" spc="-185"/>
              <a:t>T</a:t>
            </a:r>
            <a:r>
              <a:rPr lang="en-US" spc="-160"/>
              <a:t>A</a:t>
            </a:r>
            <a:r>
              <a:rPr lang="en-US" spc="-55"/>
              <a:t>T</a:t>
            </a:r>
            <a:r>
              <a:rPr lang="en-US" spc="15"/>
              <a:t> </a:t>
            </a:r>
            <a:r>
              <a:rPr lang="en-US" spc="-5"/>
              <a:t>479:</a:t>
            </a:r>
            <a:r>
              <a:rPr lang="en-US" spc="15"/>
              <a:t> </a:t>
            </a:r>
            <a:r>
              <a:rPr lang="en-US" spc="5"/>
              <a:t>Machine</a:t>
            </a:r>
            <a:r>
              <a:rPr lang="en-US" spc="15"/>
              <a:t> </a:t>
            </a:r>
            <a:r>
              <a:rPr lang="en-US" spc="-15"/>
              <a:t>Lea</a:t>
            </a:r>
            <a:r>
              <a:rPr lang="en-US" spc="15"/>
              <a:t>r</a:t>
            </a:r>
            <a:r>
              <a:rPr lang="en-US"/>
              <a:t>ning</a:t>
            </a:r>
            <a:endParaRPr dirty="0"/>
          </a:p>
        </p:txBody>
      </p:sp>
      <p:sp>
        <p:nvSpPr>
          <p:cNvPr id="9" name="object 9"/>
          <p:cNvSpPr txBox="1">
            <a:spLocks noGrp="1"/>
          </p:cNvSpPr>
          <p:nvPr>
            <p:ph type="ftr" sz="quarter" idx="5"/>
          </p:nvPr>
        </p:nvSpPr>
        <p:spPr>
          <a:xfrm>
            <a:off x="8650655" y="9495434"/>
            <a:ext cx="687704" cy="233045"/>
          </a:xfrm>
          <a:prstGeom prst="rect">
            <a:avLst/>
          </a:prstGeom>
        </p:spPr>
        <p:txBody>
          <a:bodyPr vert="horz" wrap="square" lIns="0" tIns="0" rIns="0" bIns="0" rtlCol="0">
            <a:spAutoFit/>
          </a:bodyPr>
          <a:lstStyle>
            <a:defPPr>
              <a:defRPr lang="en-US"/>
            </a:defPPr>
            <a:lvl1pPr marL="0" algn="l" defTabSz="914400" rtl="0" eaLnBrk="1" latinLnBrk="0" hangingPunct="1">
              <a:defRPr sz="1400" b="0" i="0" kern="1200">
                <a:solidFill>
                  <a:srgbClr val="929292"/>
                </a:solidFill>
                <a:latin typeface="Microsoft Sans Serif"/>
                <a:ea typeface="+mn-ea"/>
                <a:cs typeface="Microsoft Sans Serif"/>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929">
              <a:spcBef>
                <a:spcPts val="21"/>
              </a:spcBef>
            </a:pPr>
            <a:r>
              <a:rPr lang="en-US" spc="-40"/>
              <a:t>FS</a:t>
            </a:r>
            <a:r>
              <a:rPr lang="en-US" spc="-50"/>
              <a:t> </a:t>
            </a:r>
            <a:r>
              <a:rPr lang="en-US" spc="-5"/>
              <a:t>2018</a:t>
            </a:r>
            <a:endParaRPr spc="-4" dirty="0"/>
          </a:p>
        </p:txBody>
      </p:sp>
      <p:sp>
        <p:nvSpPr>
          <p:cNvPr id="2" name="object 2"/>
          <p:cNvSpPr txBox="1"/>
          <p:nvPr/>
        </p:nvSpPr>
        <p:spPr>
          <a:xfrm>
            <a:off x="2218727" y="1158581"/>
            <a:ext cx="8270747" cy="3579675"/>
          </a:xfrm>
          <a:prstGeom prst="rect">
            <a:avLst/>
          </a:prstGeom>
        </p:spPr>
        <p:txBody>
          <a:bodyPr vert="horz" wrap="square" lIns="0" tIns="8930" rIns="0" bIns="0" rtlCol="0">
            <a:spAutoFit/>
          </a:bodyPr>
          <a:lstStyle/>
          <a:p>
            <a:pPr marL="250022" indent="-223234">
              <a:lnSpc>
                <a:spcPts val="3192"/>
              </a:lnSpc>
              <a:spcBef>
                <a:spcPts val="70"/>
              </a:spcBef>
              <a:buSzPct val="143750"/>
              <a:buFont typeface="Times New Roman"/>
              <a:buChar char="•"/>
              <a:tabLst>
                <a:tab pos="250022" algn="l"/>
              </a:tabLst>
            </a:pPr>
            <a:r>
              <a:rPr sz="2000" spc="-7" dirty="0">
                <a:solidFill>
                  <a:srgbClr val="333333"/>
                </a:solidFill>
                <a:latin typeface="Microsoft Sans Serif"/>
                <a:cs typeface="Microsoft Sans Serif"/>
              </a:rPr>
              <a:t>assume</a:t>
            </a:r>
            <a:r>
              <a:rPr sz="2000" spc="18" dirty="0">
                <a:solidFill>
                  <a:srgbClr val="333333"/>
                </a:solidFill>
                <a:latin typeface="Microsoft Sans Serif"/>
                <a:cs typeface="Microsoft Sans Serif"/>
              </a:rPr>
              <a:t> </a:t>
            </a:r>
            <a:r>
              <a:rPr sz="2000" i="1" spc="-4" dirty="0">
                <a:solidFill>
                  <a:srgbClr val="333333"/>
                </a:solidFill>
                <a:latin typeface="Arial"/>
                <a:cs typeface="Arial"/>
              </a:rPr>
              <a:t>n</a:t>
            </a:r>
            <a:r>
              <a:rPr sz="2000" i="1" spc="4" dirty="0">
                <a:solidFill>
                  <a:srgbClr val="333333"/>
                </a:solidFill>
                <a:latin typeface="Arial"/>
                <a:cs typeface="Arial"/>
              </a:rPr>
              <a:t> </a:t>
            </a:r>
            <a:r>
              <a:rPr sz="2000" spc="11" dirty="0">
                <a:solidFill>
                  <a:srgbClr val="333333"/>
                </a:solidFill>
                <a:latin typeface="Microsoft Sans Serif"/>
                <a:cs typeface="Microsoft Sans Serif"/>
              </a:rPr>
              <a:t>independent</a:t>
            </a:r>
            <a:r>
              <a:rPr sz="2000" spc="21" dirty="0">
                <a:solidFill>
                  <a:srgbClr val="333333"/>
                </a:solidFill>
                <a:latin typeface="Microsoft Sans Serif"/>
                <a:cs typeface="Microsoft Sans Serif"/>
              </a:rPr>
              <a:t> </a:t>
            </a:r>
            <a:r>
              <a:rPr sz="2000" spc="-4" dirty="0">
                <a:solidFill>
                  <a:srgbClr val="333333"/>
                </a:solidFill>
                <a:latin typeface="Microsoft Sans Serif"/>
                <a:cs typeface="Microsoft Sans Serif"/>
              </a:rPr>
              <a:t>classifiers</a:t>
            </a:r>
            <a:r>
              <a:rPr sz="2000" spc="21" dirty="0">
                <a:solidFill>
                  <a:srgbClr val="333333"/>
                </a:solidFill>
                <a:latin typeface="Microsoft Sans Serif"/>
                <a:cs typeface="Microsoft Sans Serif"/>
              </a:rPr>
              <a:t> </a:t>
            </a:r>
            <a:r>
              <a:rPr sz="2000" spc="28" dirty="0">
                <a:solidFill>
                  <a:srgbClr val="333333"/>
                </a:solidFill>
                <a:latin typeface="Microsoft Sans Serif"/>
                <a:cs typeface="Microsoft Sans Serif"/>
              </a:rPr>
              <a:t>with</a:t>
            </a:r>
            <a:r>
              <a:rPr sz="2000" spc="21" dirty="0">
                <a:solidFill>
                  <a:srgbClr val="333333"/>
                </a:solidFill>
                <a:latin typeface="Microsoft Sans Serif"/>
                <a:cs typeface="Microsoft Sans Serif"/>
              </a:rPr>
              <a:t> </a:t>
            </a:r>
            <a:r>
              <a:rPr sz="2000" spc="-35" dirty="0">
                <a:solidFill>
                  <a:srgbClr val="333333"/>
                </a:solidFill>
                <a:latin typeface="Microsoft Sans Serif"/>
                <a:cs typeface="Microsoft Sans Serif"/>
              </a:rPr>
              <a:t>a</a:t>
            </a:r>
            <a:r>
              <a:rPr sz="2000" spc="21" dirty="0">
                <a:solidFill>
                  <a:srgbClr val="333333"/>
                </a:solidFill>
                <a:latin typeface="Microsoft Sans Serif"/>
                <a:cs typeface="Microsoft Sans Serif"/>
              </a:rPr>
              <a:t> </a:t>
            </a:r>
            <a:r>
              <a:rPr sz="2000" spc="-4" dirty="0">
                <a:solidFill>
                  <a:srgbClr val="333333"/>
                </a:solidFill>
                <a:latin typeface="Microsoft Sans Serif"/>
                <a:cs typeface="Microsoft Sans Serif"/>
              </a:rPr>
              <a:t>base</a:t>
            </a:r>
            <a:r>
              <a:rPr sz="2000" spc="21" dirty="0">
                <a:solidFill>
                  <a:srgbClr val="333333"/>
                </a:solidFill>
                <a:latin typeface="Microsoft Sans Serif"/>
                <a:cs typeface="Microsoft Sans Serif"/>
              </a:rPr>
              <a:t> </a:t>
            </a:r>
            <a:r>
              <a:rPr sz="2000" spc="-7" dirty="0">
                <a:solidFill>
                  <a:srgbClr val="333333"/>
                </a:solidFill>
                <a:latin typeface="Microsoft Sans Serif"/>
                <a:cs typeface="Microsoft Sans Serif"/>
              </a:rPr>
              <a:t>error</a:t>
            </a:r>
            <a:r>
              <a:rPr sz="2000" spc="21" dirty="0">
                <a:solidFill>
                  <a:srgbClr val="333333"/>
                </a:solidFill>
                <a:latin typeface="Microsoft Sans Serif"/>
                <a:cs typeface="Microsoft Sans Serif"/>
              </a:rPr>
              <a:t> </a:t>
            </a:r>
            <a:r>
              <a:rPr sz="2000" spc="-4" dirty="0">
                <a:solidFill>
                  <a:srgbClr val="333333"/>
                </a:solidFill>
                <a:latin typeface="Microsoft Sans Serif"/>
                <a:cs typeface="Microsoft Sans Serif"/>
              </a:rPr>
              <a:t>rate</a:t>
            </a:r>
            <a:r>
              <a:rPr sz="2000" spc="88" dirty="0">
                <a:solidFill>
                  <a:srgbClr val="333333"/>
                </a:solidFill>
                <a:latin typeface="Microsoft Sans Serif"/>
                <a:cs typeface="Microsoft Sans Serif"/>
              </a:rPr>
              <a:t> </a:t>
            </a:r>
            <a:r>
              <a:rPr sz="4800" i="1" spc="11" baseline="1424" dirty="0">
                <a:latin typeface="Arial"/>
                <a:cs typeface="Arial"/>
              </a:rPr>
              <a:t>ϵ</a:t>
            </a:r>
            <a:endParaRPr sz="4800" baseline="1424" dirty="0">
              <a:latin typeface="Arial"/>
              <a:cs typeface="Arial"/>
            </a:endParaRPr>
          </a:p>
          <a:p>
            <a:pPr marL="250022" indent="-223234">
              <a:lnSpc>
                <a:spcPts val="1926"/>
              </a:lnSpc>
              <a:buSzPct val="143750"/>
              <a:buFont typeface="Times New Roman"/>
              <a:buChar char="•"/>
              <a:tabLst>
                <a:tab pos="250022" algn="l"/>
              </a:tabLst>
            </a:pPr>
            <a:r>
              <a:rPr sz="2000" spc="-21" dirty="0">
                <a:solidFill>
                  <a:srgbClr val="333333"/>
                </a:solidFill>
                <a:latin typeface="Microsoft Sans Serif"/>
                <a:cs typeface="Microsoft Sans Serif"/>
              </a:rPr>
              <a:t>here,</a:t>
            </a:r>
            <a:r>
              <a:rPr sz="2000" spc="21" dirty="0">
                <a:solidFill>
                  <a:srgbClr val="333333"/>
                </a:solidFill>
                <a:latin typeface="Microsoft Sans Serif"/>
                <a:cs typeface="Microsoft Sans Serif"/>
              </a:rPr>
              <a:t> </a:t>
            </a:r>
            <a:r>
              <a:rPr sz="2000" spc="11" dirty="0">
                <a:solidFill>
                  <a:srgbClr val="333333"/>
                </a:solidFill>
                <a:latin typeface="Microsoft Sans Serif"/>
                <a:cs typeface="Microsoft Sans Serif"/>
              </a:rPr>
              <a:t>independent</a:t>
            </a:r>
            <a:r>
              <a:rPr sz="2000" spc="21" dirty="0">
                <a:solidFill>
                  <a:srgbClr val="333333"/>
                </a:solidFill>
                <a:latin typeface="Microsoft Sans Serif"/>
                <a:cs typeface="Microsoft Sans Serif"/>
              </a:rPr>
              <a:t> </a:t>
            </a:r>
            <a:r>
              <a:rPr sz="2000" spc="-7" dirty="0">
                <a:solidFill>
                  <a:srgbClr val="333333"/>
                </a:solidFill>
                <a:latin typeface="Microsoft Sans Serif"/>
                <a:cs typeface="Microsoft Sans Serif"/>
              </a:rPr>
              <a:t>means</a:t>
            </a:r>
            <a:r>
              <a:rPr sz="2000" spc="25" dirty="0">
                <a:solidFill>
                  <a:srgbClr val="333333"/>
                </a:solidFill>
                <a:latin typeface="Microsoft Sans Serif"/>
                <a:cs typeface="Microsoft Sans Serif"/>
              </a:rPr>
              <a:t> </a:t>
            </a:r>
            <a:r>
              <a:rPr sz="2000" spc="21" dirty="0">
                <a:solidFill>
                  <a:srgbClr val="333333"/>
                </a:solidFill>
                <a:latin typeface="Microsoft Sans Serif"/>
                <a:cs typeface="Microsoft Sans Serif"/>
              </a:rPr>
              <a:t>that </a:t>
            </a:r>
            <a:r>
              <a:rPr sz="2000" spc="7" dirty="0">
                <a:solidFill>
                  <a:srgbClr val="333333"/>
                </a:solidFill>
                <a:latin typeface="Microsoft Sans Serif"/>
                <a:cs typeface="Microsoft Sans Serif"/>
              </a:rPr>
              <a:t>the</a:t>
            </a:r>
            <a:r>
              <a:rPr sz="2000" spc="21" dirty="0">
                <a:solidFill>
                  <a:srgbClr val="333333"/>
                </a:solidFill>
                <a:latin typeface="Microsoft Sans Serif"/>
                <a:cs typeface="Microsoft Sans Serif"/>
              </a:rPr>
              <a:t> </a:t>
            </a:r>
            <a:r>
              <a:rPr sz="2000" spc="-7" dirty="0">
                <a:solidFill>
                  <a:srgbClr val="333333"/>
                </a:solidFill>
                <a:latin typeface="Microsoft Sans Serif"/>
                <a:cs typeface="Microsoft Sans Serif"/>
              </a:rPr>
              <a:t>errors</a:t>
            </a:r>
            <a:r>
              <a:rPr sz="2000" spc="25" dirty="0">
                <a:solidFill>
                  <a:srgbClr val="333333"/>
                </a:solidFill>
                <a:latin typeface="Microsoft Sans Serif"/>
                <a:cs typeface="Microsoft Sans Serif"/>
              </a:rPr>
              <a:t> </a:t>
            </a:r>
            <a:r>
              <a:rPr sz="2000" spc="-35" dirty="0">
                <a:solidFill>
                  <a:srgbClr val="333333"/>
                </a:solidFill>
                <a:latin typeface="Microsoft Sans Serif"/>
                <a:cs typeface="Microsoft Sans Serif"/>
              </a:rPr>
              <a:t>are</a:t>
            </a:r>
            <a:r>
              <a:rPr sz="2000" spc="21" dirty="0">
                <a:solidFill>
                  <a:srgbClr val="333333"/>
                </a:solidFill>
                <a:latin typeface="Microsoft Sans Serif"/>
                <a:cs typeface="Microsoft Sans Serif"/>
              </a:rPr>
              <a:t> </a:t>
            </a:r>
            <a:r>
              <a:rPr sz="2000" spc="4" dirty="0">
                <a:solidFill>
                  <a:srgbClr val="333333"/>
                </a:solidFill>
                <a:latin typeface="Microsoft Sans Serif"/>
                <a:cs typeface="Microsoft Sans Serif"/>
              </a:rPr>
              <a:t>uncorrelated</a:t>
            </a:r>
            <a:endParaRPr sz="2000" dirty="0">
              <a:latin typeface="Microsoft Sans Serif"/>
              <a:cs typeface="Microsoft Sans Serif"/>
            </a:endParaRPr>
          </a:p>
          <a:p>
            <a:pPr marL="250022" indent="-223234">
              <a:spcBef>
                <a:spcPts val="14"/>
              </a:spcBef>
              <a:buSzPct val="143750"/>
              <a:buFont typeface="Times New Roman"/>
              <a:buChar char="•"/>
              <a:tabLst>
                <a:tab pos="250022" algn="l"/>
              </a:tabLst>
            </a:pPr>
            <a:r>
              <a:rPr sz="2000" spc="-7" dirty="0">
                <a:solidFill>
                  <a:srgbClr val="333333"/>
                </a:solidFill>
                <a:latin typeface="Microsoft Sans Serif"/>
                <a:cs typeface="Microsoft Sans Serif"/>
              </a:rPr>
              <a:t>assume</a:t>
            </a:r>
            <a:r>
              <a:rPr sz="2000" spc="18" dirty="0">
                <a:solidFill>
                  <a:srgbClr val="333333"/>
                </a:solidFill>
                <a:latin typeface="Microsoft Sans Serif"/>
                <a:cs typeface="Microsoft Sans Serif"/>
              </a:rPr>
              <a:t> </a:t>
            </a:r>
            <a:r>
              <a:rPr sz="2000" spc="-35" dirty="0">
                <a:solidFill>
                  <a:srgbClr val="333333"/>
                </a:solidFill>
                <a:latin typeface="Microsoft Sans Serif"/>
                <a:cs typeface="Microsoft Sans Serif"/>
              </a:rPr>
              <a:t>a</a:t>
            </a:r>
            <a:r>
              <a:rPr sz="2000" spc="21" dirty="0">
                <a:solidFill>
                  <a:srgbClr val="333333"/>
                </a:solidFill>
                <a:latin typeface="Microsoft Sans Serif"/>
                <a:cs typeface="Microsoft Sans Serif"/>
              </a:rPr>
              <a:t> </a:t>
            </a:r>
            <a:r>
              <a:rPr sz="2000" dirty="0">
                <a:solidFill>
                  <a:srgbClr val="333333"/>
                </a:solidFill>
                <a:latin typeface="Microsoft Sans Serif"/>
                <a:cs typeface="Microsoft Sans Serif"/>
              </a:rPr>
              <a:t>binary</a:t>
            </a:r>
            <a:r>
              <a:rPr sz="2000" spc="21" dirty="0">
                <a:solidFill>
                  <a:srgbClr val="333333"/>
                </a:solidFill>
                <a:latin typeface="Microsoft Sans Serif"/>
                <a:cs typeface="Microsoft Sans Serif"/>
              </a:rPr>
              <a:t> </a:t>
            </a:r>
            <a:r>
              <a:rPr sz="2000" spc="7" dirty="0">
                <a:solidFill>
                  <a:srgbClr val="333333"/>
                </a:solidFill>
                <a:latin typeface="Microsoft Sans Serif"/>
                <a:cs typeface="Microsoft Sans Serif"/>
              </a:rPr>
              <a:t>classification</a:t>
            </a:r>
            <a:r>
              <a:rPr sz="2000" spc="18" dirty="0">
                <a:solidFill>
                  <a:srgbClr val="333333"/>
                </a:solidFill>
                <a:latin typeface="Microsoft Sans Serif"/>
                <a:cs typeface="Microsoft Sans Serif"/>
              </a:rPr>
              <a:t> </a:t>
            </a:r>
            <a:r>
              <a:rPr sz="2000" spc="14" dirty="0">
                <a:solidFill>
                  <a:srgbClr val="333333"/>
                </a:solidFill>
                <a:latin typeface="Microsoft Sans Serif"/>
                <a:cs typeface="Microsoft Sans Serif"/>
              </a:rPr>
              <a:t>task</a:t>
            </a:r>
            <a:endParaRPr sz="2000" dirty="0">
              <a:latin typeface="Microsoft Sans Serif"/>
              <a:cs typeface="Microsoft Sans Serif"/>
            </a:endParaRPr>
          </a:p>
          <a:p>
            <a:pPr marL="250022" marR="21430" indent="-223234">
              <a:lnSpc>
                <a:spcPct val="100699"/>
              </a:lnSpc>
              <a:buSzPct val="143750"/>
              <a:buFont typeface="Times New Roman"/>
              <a:buChar char="•"/>
              <a:tabLst>
                <a:tab pos="250022" algn="l"/>
              </a:tabLst>
            </a:pPr>
            <a:r>
              <a:rPr sz="2000" spc="-7" dirty="0">
                <a:solidFill>
                  <a:srgbClr val="333333"/>
                </a:solidFill>
                <a:latin typeface="Microsoft Sans Serif"/>
                <a:cs typeface="Microsoft Sans Serif"/>
              </a:rPr>
              <a:t>assume</a:t>
            </a:r>
            <a:r>
              <a:rPr sz="2000" spc="18" dirty="0">
                <a:solidFill>
                  <a:srgbClr val="333333"/>
                </a:solidFill>
                <a:latin typeface="Microsoft Sans Serif"/>
                <a:cs typeface="Microsoft Sans Serif"/>
              </a:rPr>
              <a:t> </a:t>
            </a:r>
            <a:r>
              <a:rPr sz="2000" spc="7" dirty="0">
                <a:solidFill>
                  <a:srgbClr val="333333"/>
                </a:solidFill>
                <a:latin typeface="Microsoft Sans Serif"/>
                <a:cs typeface="Microsoft Sans Serif"/>
              </a:rPr>
              <a:t>the</a:t>
            </a:r>
            <a:r>
              <a:rPr sz="2000" spc="18" dirty="0">
                <a:solidFill>
                  <a:srgbClr val="333333"/>
                </a:solidFill>
                <a:latin typeface="Microsoft Sans Serif"/>
                <a:cs typeface="Microsoft Sans Serif"/>
              </a:rPr>
              <a:t> </a:t>
            </a:r>
            <a:r>
              <a:rPr sz="2000" spc="-7" dirty="0">
                <a:solidFill>
                  <a:srgbClr val="333333"/>
                </a:solidFill>
                <a:latin typeface="Microsoft Sans Serif"/>
                <a:cs typeface="Microsoft Sans Serif"/>
              </a:rPr>
              <a:t>error</a:t>
            </a:r>
            <a:r>
              <a:rPr sz="2000" spc="21" dirty="0">
                <a:solidFill>
                  <a:srgbClr val="333333"/>
                </a:solidFill>
                <a:latin typeface="Microsoft Sans Serif"/>
                <a:cs typeface="Microsoft Sans Serif"/>
              </a:rPr>
              <a:t> </a:t>
            </a:r>
            <a:r>
              <a:rPr sz="2000" spc="-4" dirty="0">
                <a:solidFill>
                  <a:srgbClr val="333333"/>
                </a:solidFill>
                <a:latin typeface="Microsoft Sans Serif"/>
                <a:cs typeface="Microsoft Sans Serif"/>
              </a:rPr>
              <a:t>rate</a:t>
            </a:r>
            <a:r>
              <a:rPr sz="2000" spc="18" dirty="0">
                <a:solidFill>
                  <a:srgbClr val="333333"/>
                </a:solidFill>
                <a:latin typeface="Microsoft Sans Serif"/>
                <a:cs typeface="Microsoft Sans Serif"/>
              </a:rPr>
              <a:t> </a:t>
            </a:r>
            <a:r>
              <a:rPr sz="2000" spc="-7" dirty="0">
                <a:solidFill>
                  <a:srgbClr val="333333"/>
                </a:solidFill>
                <a:latin typeface="Microsoft Sans Serif"/>
                <a:cs typeface="Microsoft Sans Serif"/>
              </a:rPr>
              <a:t>is</a:t>
            </a:r>
            <a:r>
              <a:rPr sz="2000" spc="21" dirty="0">
                <a:solidFill>
                  <a:srgbClr val="333333"/>
                </a:solidFill>
                <a:latin typeface="Microsoft Sans Serif"/>
                <a:cs typeface="Microsoft Sans Serif"/>
              </a:rPr>
              <a:t> </a:t>
            </a:r>
            <a:r>
              <a:rPr sz="2000" spc="18" dirty="0">
                <a:solidFill>
                  <a:srgbClr val="333333"/>
                </a:solidFill>
                <a:latin typeface="Microsoft Sans Serif"/>
                <a:cs typeface="Microsoft Sans Serif"/>
              </a:rPr>
              <a:t>better </a:t>
            </a:r>
            <a:r>
              <a:rPr sz="2000" spc="7" dirty="0">
                <a:solidFill>
                  <a:srgbClr val="333333"/>
                </a:solidFill>
                <a:latin typeface="Microsoft Sans Serif"/>
                <a:cs typeface="Microsoft Sans Serif"/>
              </a:rPr>
              <a:t>than</a:t>
            </a:r>
            <a:r>
              <a:rPr sz="2000" spc="21" dirty="0">
                <a:solidFill>
                  <a:srgbClr val="333333"/>
                </a:solidFill>
                <a:latin typeface="Microsoft Sans Serif"/>
                <a:cs typeface="Microsoft Sans Serif"/>
              </a:rPr>
              <a:t> </a:t>
            </a:r>
            <a:r>
              <a:rPr sz="2000" spc="14" dirty="0">
                <a:solidFill>
                  <a:srgbClr val="333333"/>
                </a:solidFill>
                <a:latin typeface="Microsoft Sans Serif"/>
                <a:cs typeface="Microsoft Sans Serif"/>
              </a:rPr>
              <a:t>random</a:t>
            </a:r>
            <a:r>
              <a:rPr sz="2000" spc="18" dirty="0">
                <a:solidFill>
                  <a:srgbClr val="333333"/>
                </a:solidFill>
                <a:latin typeface="Microsoft Sans Serif"/>
                <a:cs typeface="Microsoft Sans Serif"/>
              </a:rPr>
              <a:t> </a:t>
            </a:r>
            <a:r>
              <a:rPr sz="2000" dirty="0">
                <a:solidFill>
                  <a:srgbClr val="333333"/>
                </a:solidFill>
                <a:latin typeface="Microsoft Sans Serif"/>
                <a:cs typeface="Microsoft Sans Serif"/>
              </a:rPr>
              <a:t>guessing</a:t>
            </a:r>
            <a:r>
              <a:rPr sz="2000" spc="21" dirty="0">
                <a:solidFill>
                  <a:srgbClr val="333333"/>
                </a:solidFill>
                <a:latin typeface="Microsoft Sans Serif"/>
                <a:cs typeface="Microsoft Sans Serif"/>
              </a:rPr>
              <a:t> </a:t>
            </a:r>
            <a:r>
              <a:rPr sz="2000" spc="-28" dirty="0">
                <a:solidFill>
                  <a:srgbClr val="333333"/>
                </a:solidFill>
                <a:latin typeface="Microsoft Sans Serif"/>
                <a:cs typeface="Microsoft Sans Serif"/>
              </a:rPr>
              <a:t>(i.e., </a:t>
            </a:r>
            <a:r>
              <a:rPr sz="2000" spc="-439" dirty="0">
                <a:solidFill>
                  <a:srgbClr val="333333"/>
                </a:solidFill>
                <a:latin typeface="Microsoft Sans Serif"/>
                <a:cs typeface="Microsoft Sans Serif"/>
              </a:rPr>
              <a:t> </a:t>
            </a:r>
            <a:r>
              <a:rPr sz="2000" spc="7" dirty="0">
                <a:solidFill>
                  <a:srgbClr val="333333"/>
                </a:solidFill>
                <a:latin typeface="Microsoft Sans Serif"/>
                <a:cs typeface="Microsoft Sans Serif"/>
              </a:rPr>
              <a:t>lower</a:t>
            </a:r>
            <a:r>
              <a:rPr sz="2000" spc="14" dirty="0">
                <a:solidFill>
                  <a:srgbClr val="333333"/>
                </a:solidFill>
                <a:latin typeface="Microsoft Sans Serif"/>
                <a:cs typeface="Microsoft Sans Serif"/>
              </a:rPr>
              <a:t> </a:t>
            </a:r>
            <a:r>
              <a:rPr sz="2000" spc="7" dirty="0">
                <a:solidFill>
                  <a:srgbClr val="333333"/>
                </a:solidFill>
                <a:latin typeface="Microsoft Sans Serif"/>
                <a:cs typeface="Microsoft Sans Serif"/>
              </a:rPr>
              <a:t>than</a:t>
            </a:r>
            <a:r>
              <a:rPr sz="2000" spc="18" dirty="0">
                <a:solidFill>
                  <a:srgbClr val="333333"/>
                </a:solidFill>
                <a:latin typeface="Microsoft Sans Serif"/>
                <a:cs typeface="Microsoft Sans Serif"/>
              </a:rPr>
              <a:t> </a:t>
            </a:r>
            <a:r>
              <a:rPr sz="2000" dirty="0">
                <a:solidFill>
                  <a:srgbClr val="333333"/>
                </a:solidFill>
                <a:latin typeface="Microsoft Sans Serif"/>
                <a:cs typeface="Microsoft Sans Serif"/>
              </a:rPr>
              <a:t>0.5</a:t>
            </a:r>
            <a:r>
              <a:rPr sz="2000" spc="18" dirty="0">
                <a:solidFill>
                  <a:srgbClr val="333333"/>
                </a:solidFill>
                <a:latin typeface="Microsoft Sans Serif"/>
                <a:cs typeface="Microsoft Sans Serif"/>
              </a:rPr>
              <a:t> for </a:t>
            </a:r>
            <a:r>
              <a:rPr sz="2000" dirty="0">
                <a:solidFill>
                  <a:srgbClr val="333333"/>
                </a:solidFill>
                <a:latin typeface="Microsoft Sans Serif"/>
                <a:cs typeface="Microsoft Sans Serif"/>
              </a:rPr>
              <a:t>binary</a:t>
            </a:r>
            <a:r>
              <a:rPr sz="2000" spc="18" dirty="0">
                <a:solidFill>
                  <a:srgbClr val="333333"/>
                </a:solidFill>
                <a:latin typeface="Microsoft Sans Serif"/>
                <a:cs typeface="Microsoft Sans Serif"/>
              </a:rPr>
              <a:t> </a:t>
            </a:r>
            <a:r>
              <a:rPr sz="2000" dirty="0">
                <a:solidFill>
                  <a:srgbClr val="333333"/>
                </a:solidFill>
                <a:latin typeface="Microsoft Sans Serif"/>
                <a:cs typeface="Microsoft Sans Serif"/>
              </a:rPr>
              <a:t>classification)</a:t>
            </a:r>
            <a:endParaRPr sz="2000" dirty="0">
              <a:latin typeface="Microsoft Sans Serif"/>
              <a:cs typeface="Microsoft Sans Serif"/>
            </a:endParaRPr>
          </a:p>
          <a:p>
            <a:pPr>
              <a:lnSpc>
                <a:spcPct val="100000"/>
              </a:lnSpc>
            </a:pPr>
            <a:endParaRPr dirty="0">
              <a:latin typeface="Microsoft Sans Serif"/>
              <a:cs typeface="Microsoft Sans Serif"/>
            </a:endParaRPr>
          </a:p>
          <a:p>
            <a:pPr marL="1791232"/>
            <a:r>
              <a:rPr sz="2800" spc="-593" dirty="0">
                <a:latin typeface="Lucida Sans Unicode"/>
                <a:cs typeface="Lucida Sans Unicode"/>
              </a:rPr>
              <a:t>∀</a:t>
            </a:r>
            <a:r>
              <a:rPr sz="2800" i="1" spc="-74" dirty="0">
                <a:latin typeface="Arial"/>
                <a:cs typeface="Arial"/>
              </a:rPr>
              <a:t>ϵ</a:t>
            </a:r>
            <a:r>
              <a:rPr sz="2800" i="1" baseline="-20202" dirty="0">
                <a:latin typeface="Times New Roman"/>
                <a:cs typeface="Times New Roman"/>
              </a:rPr>
              <a:t>i </a:t>
            </a:r>
            <a:r>
              <a:rPr sz="2800" i="1" spc="-252" baseline="-20202" dirty="0">
                <a:latin typeface="Times New Roman"/>
                <a:cs typeface="Times New Roman"/>
              </a:rPr>
              <a:t> </a:t>
            </a:r>
            <a:r>
              <a:rPr sz="2800" spc="-243" dirty="0">
                <a:latin typeface="Lucida Sans Unicode"/>
                <a:cs typeface="Lucida Sans Unicode"/>
              </a:rPr>
              <a:t>∈</a:t>
            </a:r>
            <a:r>
              <a:rPr sz="2800" spc="-84" dirty="0">
                <a:latin typeface="Lucida Sans Unicode"/>
                <a:cs typeface="Lucida Sans Unicode"/>
              </a:rPr>
              <a:t> </a:t>
            </a:r>
            <a:r>
              <a:rPr sz="2800" spc="200" dirty="0">
                <a:latin typeface="Cambria"/>
                <a:cs typeface="Cambria"/>
              </a:rPr>
              <a:t>{</a:t>
            </a:r>
            <a:r>
              <a:rPr sz="2800" i="1" spc="-74" dirty="0">
                <a:latin typeface="Arial"/>
                <a:cs typeface="Arial"/>
              </a:rPr>
              <a:t>ϵ</a:t>
            </a:r>
            <a:r>
              <a:rPr sz="2800" spc="-126" baseline="-20202" dirty="0">
                <a:latin typeface="Cambria"/>
                <a:cs typeface="Cambria"/>
              </a:rPr>
              <a:t>1</a:t>
            </a:r>
            <a:r>
              <a:rPr sz="2800" spc="95" dirty="0">
                <a:latin typeface="Cambria"/>
                <a:cs typeface="Cambria"/>
              </a:rPr>
              <a:t>,</a:t>
            </a:r>
            <a:r>
              <a:rPr sz="2800" spc="-120" dirty="0">
                <a:latin typeface="Cambria"/>
                <a:cs typeface="Cambria"/>
              </a:rPr>
              <a:t> </a:t>
            </a:r>
            <a:r>
              <a:rPr sz="2800" i="1" spc="-74" dirty="0">
                <a:latin typeface="Arial"/>
                <a:cs typeface="Arial"/>
              </a:rPr>
              <a:t>ϵ</a:t>
            </a:r>
            <a:r>
              <a:rPr sz="2800" spc="-126" baseline="-20202" dirty="0">
                <a:latin typeface="Cambria"/>
                <a:cs typeface="Cambria"/>
              </a:rPr>
              <a:t>2</a:t>
            </a:r>
            <a:r>
              <a:rPr sz="2800" spc="95" dirty="0">
                <a:latin typeface="Cambria"/>
                <a:cs typeface="Cambria"/>
              </a:rPr>
              <a:t>,</a:t>
            </a:r>
            <a:r>
              <a:rPr sz="2800" spc="-120" dirty="0">
                <a:latin typeface="Cambria"/>
                <a:cs typeface="Cambria"/>
              </a:rPr>
              <a:t> </a:t>
            </a:r>
            <a:r>
              <a:rPr sz="2800" spc="95" dirty="0">
                <a:latin typeface="Cambria"/>
                <a:cs typeface="Cambria"/>
              </a:rPr>
              <a:t>.</a:t>
            </a:r>
            <a:r>
              <a:rPr sz="2800" spc="-120" dirty="0">
                <a:latin typeface="Cambria"/>
                <a:cs typeface="Cambria"/>
              </a:rPr>
              <a:t> </a:t>
            </a:r>
            <a:r>
              <a:rPr sz="2800" spc="95" dirty="0">
                <a:latin typeface="Cambria"/>
                <a:cs typeface="Cambria"/>
              </a:rPr>
              <a:t>.</a:t>
            </a:r>
            <a:r>
              <a:rPr sz="2800" spc="-120" dirty="0">
                <a:latin typeface="Cambria"/>
                <a:cs typeface="Cambria"/>
              </a:rPr>
              <a:t> </a:t>
            </a:r>
            <a:r>
              <a:rPr sz="2800" spc="95" dirty="0">
                <a:latin typeface="Cambria"/>
                <a:cs typeface="Cambria"/>
              </a:rPr>
              <a:t>.</a:t>
            </a:r>
            <a:r>
              <a:rPr sz="2800" spc="-120" dirty="0">
                <a:latin typeface="Cambria"/>
                <a:cs typeface="Cambria"/>
              </a:rPr>
              <a:t> </a:t>
            </a:r>
            <a:r>
              <a:rPr sz="2800" spc="95" dirty="0">
                <a:latin typeface="Cambria"/>
                <a:cs typeface="Cambria"/>
              </a:rPr>
              <a:t>,</a:t>
            </a:r>
            <a:r>
              <a:rPr sz="2800" spc="-120" dirty="0">
                <a:latin typeface="Cambria"/>
                <a:cs typeface="Cambria"/>
              </a:rPr>
              <a:t> </a:t>
            </a:r>
            <a:r>
              <a:rPr sz="2800" i="1" spc="-74" dirty="0">
                <a:latin typeface="Arial"/>
                <a:cs typeface="Arial"/>
              </a:rPr>
              <a:t>ϵ</a:t>
            </a:r>
            <a:r>
              <a:rPr sz="2800" i="1" baseline="-20202" dirty="0">
                <a:latin typeface="Times New Roman"/>
                <a:cs typeface="Times New Roman"/>
              </a:rPr>
              <a:t>n</a:t>
            </a:r>
            <a:r>
              <a:rPr sz="2800" spc="200" dirty="0">
                <a:latin typeface="Cambria"/>
                <a:cs typeface="Cambria"/>
              </a:rPr>
              <a:t>}</a:t>
            </a:r>
            <a:r>
              <a:rPr sz="2800" spc="95" dirty="0">
                <a:latin typeface="Cambria"/>
                <a:cs typeface="Cambria"/>
              </a:rPr>
              <a:t>,</a:t>
            </a:r>
            <a:r>
              <a:rPr sz="2800" spc="-120" dirty="0">
                <a:latin typeface="Cambria"/>
                <a:cs typeface="Cambria"/>
              </a:rPr>
              <a:t> </a:t>
            </a:r>
            <a:r>
              <a:rPr sz="2800" i="1" spc="-74" dirty="0">
                <a:latin typeface="Arial"/>
                <a:cs typeface="Arial"/>
              </a:rPr>
              <a:t>ϵ</a:t>
            </a:r>
            <a:r>
              <a:rPr sz="2800" i="1" baseline="-20202" dirty="0">
                <a:latin typeface="Times New Roman"/>
                <a:cs typeface="Times New Roman"/>
              </a:rPr>
              <a:t>i </a:t>
            </a:r>
            <a:r>
              <a:rPr sz="2800" i="1" spc="-252" baseline="-20202" dirty="0">
                <a:latin typeface="Times New Roman"/>
                <a:cs typeface="Times New Roman"/>
              </a:rPr>
              <a:t> </a:t>
            </a:r>
            <a:r>
              <a:rPr sz="2800" spc="285" dirty="0">
                <a:latin typeface="Cambria"/>
                <a:cs typeface="Cambria"/>
              </a:rPr>
              <a:t>&lt;</a:t>
            </a:r>
            <a:r>
              <a:rPr sz="2800" spc="123" dirty="0">
                <a:latin typeface="Cambria"/>
                <a:cs typeface="Cambria"/>
              </a:rPr>
              <a:t> </a:t>
            </a:r>
            <a:r>
              <a:rPr sz="2800" spc="-46" dirty="0">
                <a:latin typeface="Cambria"/>
                <a:cs typeface="Cambria"/>
              </a:rPr>
              <a:t>0.5</a:t>
            </a:r>
            <a:endParaRPr sz="2800" dirty="0">
              <a:latin typeface="Cambria"/>
              <a:cs typeface="Cambria"/>
            </a:endParaRPr>
          </a:p>
          <a:p>
            <a:pPr>
              <a:spcBef>
                <a:spcPts val="11"/>
              </a:spcBef>
            </a:pPr>
            <a:endParaRPr sz="4400" dirty="0">
              <a:latin typeface="Cambria"/>
              <a:cs typeface="Cambria"/>
            </a:endParaRPr>
          </a:p>
          <a:p>
            <a:pPr marL="160729" marR="1675150">
              <a:lnSpc>
                <a:spcPct val="100699"/>
              </a:lnSpc>
              <a:spcBef>
                <a:spcPts val="4"/>
              </a:spcBef>
            </a:pPr>
            <a:r>
              <a:rPr sz="2000" spc="-32" dirty="0">
                <a:solidFill>
                  <a:srgbClr val="333333"/>
                </a:solidFill>
                <a:latin typeface="Microsoft Sans Serif"/>
                <a:cs typeface="Microsoft Sans Serif"/>
              </a:rPr>
              <a:t>The</a:t>
            </a:r>
            <a:r>
              <a:rPr sz="2000" spc="14" dirty="0">
                <a:solidFill>
                  <a:srgbClr val="333333"/>
                </a:solidFill>
                <a:latin typeface="Microsoft Sans Serif"/>
                <a:cs typeface="Microsoft Sans Serif"/>
              </a:rPr>
              <a:t> probability </a:t>
            </a:r>
            <a:r>
              <a:rPr sz="2000" spc="21" dirty="0">
                <a:solidFill>
                  <a:srgbClr val="333333"/>
                </a:solidFill>
                <a:latin typeface="Microsoft Sans Serif"/>
                <a:cs typeface="Microsoft Sans Serif"/>
              </a:rPr>
              <a:t>that</a:t>
            </a:r>
            <a:r>
              <a:rPr sz="2000" spc="18" dirty="0">
                <a:solidFill>
                  <a:srgbClr val="333333"/>
                </a:solidFill>
                <a:latin typeface="Microsoft Sans Serif"/>
                <a:cs typeface="Microsoft Sans Serif"/>
              </a:rPr>
              <a:t> </a:t>
            </a:r>
            <a:r>
              <a:rPr sz="2000" spc="14" dirty="0">
                <a:solidFill>
                  <a:srgbClr val="333333"/>
                </a:solidFill>
                <a:latin typeface="Microsoft Sans Serif"/>
                <a:cs typeface="Microsoft Sans Serif"/>
              </a:rPr>
              <a:t>we </a:t>
            </a:r>
            <a:r>
              <a:rPr sz="2000" dirty="0">
                <a:solidFill>
                  <a:srgbClr val="333333"/>
                </a:solidFill>
                <a:latin typeface="Microsoft Sans Serif"/>
                <a:cs typeface="Microsoft Sans Serif"/>
              </a:rPr>
              <a:t>make</a:t>
            </a:r>
            <a:r>
              <a:rPr sz="2000" spc="14" dirty="0">
                <a:solidFill>
                  <a:srgbClr val="333333"/>
                </a:solidFill>
                <a:latin typeface="Microsoft Sans Serif"/>
                <a:cs typeface="Microsoft Sans Serif"/>
              </a:rPr>
              <a:t> </a:t>
            </a:r>
            <a:r>
              <a:rPr sz="2000" spc="-35" dirty="0">
                <a:solidFill>
                  <a:srgbClr val="333333"/>
                </a:solidFill>
                <a:latin typeface="Microsoft Sans Serif"/>
                <a:cs typeface="Microsoft Sans Serif"/>
              </a:rPr>
              <a:t>a</a:t>
            </a:r>
            <a:r>
              <a:rPr sz="2000" spc="18" dirty="0">
                <a:solidFill>
                  <a:srgbClr val="333333"/>
                </a:solidFill>
                <a:latin typeface="Microsoft Sans Serif"/>
                <a:cs typeface="Microsoft Sans Serif"/>
              </a:rPr>
              <a:t> wrong </a:t>
            </a:r>
            <a:r>
              <a:rPr sz="2000" spc="21" dirty="0">
                <a:solidFill>
                  <a:srgbClr val="333333"/>
                </a:solidFill>
                <a:latin typeface="Microsoft Sans Serif"/>
                <a:cs typeface="Microsoft Sans Serif"/>
              </a:rPr>
              <a:t> </a:t>
            </a:r>
            <a:r>
              <a:rPr sz="2000" spc="18" dirty="0">
                <a:solidFill>
                  <a:srgbClr val="333333"/>
                </a:solidFill>
                <a:latin typeface="Microsoft Sans Serif"/>
                <a:cs typeface="Microsoft Sans Serif"/>
              </a:rPr>
              <a:t>prediction</a:t>
            </a:r>
            <a:r>
              <a:rPr sz="2000" spc="21" dirty="0">
                <a:solidFill>
                  <a:srgbClr val="333333"/>
                </a:solidFill>
                <a:latin typeface="Microsoft Sans Serif"/>
                <a:cs typeface="Microsoft Sans Serif"/>
              </a:rPr>
              <a:t> </a:t>
            </a:r>
            <a:r>
              <a:rPr sz="2000" spc="-18" dirty="0">
                <a:solidFill>
                  <a:srgbClr val="333333"/>
                </a:solidFill>
                <a:latin typeface="Microsoft Sans Serif"/>
                <a:cs typeface="Microsoft Sans Serif"/>
              </a:rPr>
              <a:t>via</a:t>
            </a:r>
            <a:r>
              <a:rPr sz="2000" spc="21" dirty="0">
                <a:solidFill>
                  <a:srgbClr val="333333"/>
                </a:solidFill>
                <a:latin typeface="Microsoft Sans Serif"/>
                <a:cs typeface="Microsoft Sans Serif"/>
              </a:rPr>
              <a:t> </a:t>
            </a:r>
            <a:r>
              <a:rPr sz="2000" spc="7" dirty="0">
                <a:solidFill>
                  <a:srgbClr val="333333"/>
                </a:solidFill>
                <a:latin typeface="Microsoft Sans Serif"/>
                <a:cs typeface="Microsoft Sans Serif"/>
              </a:rPr>
              <a:t>the</a:t>
            </a:r>
            <a:r>
              <a:rPr sz="2000" spc="25" dirty="0">
                <a:solidFill>
                  <a:srgbClr val="333333"/>
                </a:solidFill>
                <a:latin typeface="Microsoft Sans Serif"/>
                <a:cs typeface="Microsoft Sans Serif"/>
              </a:rPr>
              <a:t> </a:t>
            </a:r>
            <a:r>
              <a:rPr sz="2000" spc="-4" dirty="0">
                <a:solidFill>
                  <a:srgbClr val="333333"/>
                </a:solidFill>
                <a:latin typeface="Microsoft Sans Serif"/>
                <a:cs typeface="Microsoft Sans Serif"/>
              </a:rPr>
              <a:t>ensemble</a:t>
            </a:r>
            <a:r>
              <a:rPr sz="2000" spc="21" dirty="0">
                <a:solidFill>
                  <a:srgbClr val="333333"/>
                </a:solidFill>
                <a:latin typeface="Microsoft Sans Serif"/>
                <a:cs typeface="Microsoft Sans Serif"/>
              </a:rPr>
              <a:t> </a:t>
            </a:r>
            <a:r>
              <a:rPr sz="2000" spc="7" dirty="0">
                <a:solidFill>
                  <a:srgbClr val="333333"/>
                </a:solidFill>
                <a:latin typeface="Microsoft Sans Serif"/>
                <a:cs typeface="Microsoft Sans Serif"/>
              </a:rPr>
              <a:t>if</a:t>
            </a:r>
            <a:r>
              <a:rPr sz="2000" spc="25" dirty="0">
                <a:solidFill>
                  <a:srgbClr val="333333"/>
                </a:solidFill>
                <a:latin typeface="Microsoft Sans Serif"/>
                <a:cs typeface="Microsoft Sans Serif"/>
              </a:rPr>
              <a:t> </a:t>
            </a:r>
            <a:r>
              <a:rPr sz="2000" i="1" spc="-35" dirty="0">
                <a:solidFill>
                  <a:srgbClr val="333333"/>
                </a:solidFill>
                <a:latin typeface="Arial"/>
                <a:cs typeface="Arial"/>
              </a:rPr>
              <a:t>k</a:t>
            </a:r>
            <a:r>
              <a:rPr sz="2000" i="1" spc="4" dirty="0">
                <a:solidFill>
                  <a:srgbClr val="333333"/>
                </a:solidFill>
                <a:latin typeface="Arial"/>
                <a:cs typeface="Arial"/>
              </a:rPr>
              <a:t> </a:t>
            </a:r>
            <a:r>
              <a:rPr sz="2000" spc="-4" dirty="0">
                <a:solidFill>
                  <a:srgbClr val="333333"/>
                </a:solidFill>
                <a:latin typeface="Microsoft Sans Serif"/>
                <a:cs typeface="Microsoft Sans Serif"/>
              </a:rPr>
              <a:t>classifiers </a:t>
            </a:r>
            <a:r>
              <a:rPr sz="2000" spc="-436" dirty="0">
                <a:solidFill>
                  <a:srgbClr val="333333"/>
                </a:solidFill>
                <a:latin typeface="Microsoft Sans Serif"/>
                <a:cs typeface="Microsoft Sans Serif"/>
              </a:rPr>
              <a:t> </a:t>
            </a:r>
            <a:r>
              <a:rPr sz="2000" spc="25" dirty="0">
                <a:solidFill>
                  <a:srgbClr val="333333"/>
                </a:solidFill>
                <a:latin typeface="Microsoft Sans Serif"/>
                <a:cs typeface="Microsoft Sans Serif"/>
              </a:rPr>
              <a:t>predict</a:t>
            </a:r>
            <a:r>
              <a:rPr sz="2000" spc="14" dirty="0">
                <a:solidFill>
                  <a:srgbClr val="333333"/>
                </a:solidFill>
                <a:latin typeface="Microsoft Sans Serif"/>
                <a:cs typeface="Microsoft Sans Serif"/>
              </a:rPr>
              <a:t> </a:t>
            </a:r>
            <a:r>
              <a:rPr sz="2000" spc="7" dirty="0">
                <a:solidFill>
                  <a:srgbClr val="333333"/>
                </a:solidFill>
                <a:latin typeface="Microsoft Sans Serif"/>
                <a:cs typeface="Microsoft Sans Serif"/>
              </a:rPr>
              <a:t>the</a:t>
            </a:r>
            <a:r>
              <a:rPr sz="2000" spc="18" dirty="0">
                <a:solidFill>
                  <a:srgbClr val="333333"/>
                </a:solidFill>
                <a:latin typeface="Microsoft Sans Serif"/>
                <a:cs typeface="Microsoft Sans Serif"/>
              </a:rPr>
              <a:t> </a:t>
            </a:r>
            <a:r>
              <a:rPr sz="2000" spc="-11" dirty="0">
                <a:solidFill>
                  <a:srgbClr val="333333"/>
                </a:solidFill>
                <a:latin typeface="Microsoft Sans Serif"/>
                <a:cs typeface="Microsoft Sans Serif"/>
              </a:rPr>
              <a:t>same</a:t>
            </a:r>
            <a:r>
              <a:rPr sz="2000" spc="14" dirty="0">
                <a:solidFill>
                  <a:srgbClr val="333333"/>
                </a:solidFill>
                <a:latin typeface="Microsoft Sans Serif"/>
                <a:cs typeface="Microsoft Sans Serif"/>
              </a:rPr>
              <a:t> </a:t>
            </a:r>
            <a:r>
              <a:rPr sz="2000" spc="4" dirty="0">
                <a:solidFill>
                  <a:srgbClr val="333333"/>
                </a:solidFill>
                <a:latin typeface="Microsoft Sans Serif"/>
                <a:cs typeface="Microsoft Sans Serif"/>
              </a:rPr>
              <a:t>class</a:t>
            </a:r>
            <a:r>
              <a:rPr sz="2000" spc="18" dirty="0">
                <a:solidFill>
                  <a:srgbClr val="333333"/>
                </a:solidFill>
                <a:latin typeface="Microsoft Sans Serif"/>
                <a:cs typeface="Microsoft Sans Serif"/>
              </a:rPr>
              <a:t> </a:t>
            </a:r>
            <a:r>
              <a:rPr sz="2000" spc="-7" dirty="0">
                <a:solidFill>
                  <a:srgbClr val="333333"/>
                </a:solidFill>
                <a:latin typeface="Microsoft Sans Serif"/>
                <a:cs typeface="Microsoft Sans Serif"/>
              </a:rPr>
              <a:t>label</a:t>
            </a:r>
            <a:endParaRPr sz="2000" dirty="0">
              <a:latin typeface="Microsoft Sans Serif"/>
              <a:cs typeface="Microsoft Sans Serif"/>
            </a:endParaRPr>
          </a:p>
        </p:txBody>
      </p:sp>
      <p:sp>
        <p:nvSpPr>
          <p:cNvPr id="3" name="object 3"/>
          <p:cNvSpPr txBox="1"/>
          <p:nvPr/>
        </p:nvSpPr>
        <p:spPr>
          <a:xfrm>
            <a:off x="7172827" y="5170147"/>
            <a:ext cx="1281857" cy="387711"/>
          </a:xfrm>
          <a:prstGeom prst="rect">
            <a:avLst/>
          </a:prstGeom>
        </p:spPr>
        <p:txBody>
          <a:bodyPr vert="horz" wrap="square" lIns="0" tIns="8930" rIns="0" bIns="0" rtlCol="0">
            <a:spAutoFit/>
          </a:bodyPr>
          <a:lstStyle/>
          <a:p>
            <a:pPr marL="8929">
              <a:spcBef>
                <a:spcPts val="70"/>
              </a:spcBef>
            </a:pPr>
            <a:r>
              <a:rPr sz="2461" i="1" dirty="0">
                <a:latin typeface="Times New Roman"/>
                <a:cs typeface="Times New Roman"/>
              </a:rPr>
              <a:t>k</a:t>
            </a:r>
            <a:r>
              <a:rPr sz="2461" i="1" spc="70" dirty="0">
                <a:latin typeface="Times New Roman"/>
                <a:cs typeface="Times New Roman"/>
              </a:rPr>
              <a:t> </a:t>
            </a:r>
            <a:r>
              <a:rPr sz="2461" spc="320" dirty="0">
                <a:latin typeface="Cambria"/>
                <a:cs typeface="Cambria"/>
              </a:rPr>
              <a:t>&gt;</a:t>
            </a:r>
            <a:r>
              <a:rPr sz="2461" spc="112" dirty="0">
                <a:latin typeface="Cambria"/>
                <a:cs typeface="Cambria"/>
              </a:rPr>
              <a:t> </a:t>
            </a:r>
            <a:r>
              <a:rPr sz="2461" spc="-130" dirty="0">
                <a:latin typeface="Lucida Sans Unicode"/>
                <a:cs typeface="Lucida Sans Unicode"/>
              </a:rPr>
              <a:t>⌈</a:t>
            </a:r>
            <a:r>
              <a:rPr sz="2461" i="1" spc="-130" dirty="0">
                <a:latin typeface="Times New Roman"/>
                <a:cs typeface="Times New Roman"/>
              </a:rPr>
              <a:t>n</a:t>
            </a:r>
            <a:r>
              <a:rPr sz="2461" spc="-130" dirty="0">
                <a:latin typeface="Cambria"/>
                <a:cs typeface="Cambria"/>
              </a:rPr>
              <a:t>/2</a:t>
            </a:r>
            <a:r>
              <a:rPr sz="2461" spc="-130" dirty="0">
                <a:latin typeface="Lucida Sans Unicode"/>
                <a:cs typeface="Lucida Sans Unicode"/>
              </a:rPr>
              <a:t>⌉</a:t>
            </a:r>
            <a:endParaRPr sz="2461" dirty="0">
              <a:latin typeface="Lucida Sans Unicode"/>
              <a:cs typeface="Lucida Sans Unicode"/>
            </a:endParaRPr>
          </a:p>
        </p:txBody>
      </p:sp>
      <p:sp>
        <p:nvSpPr>
          <p:cNvPr id="4" name="object 4"/>
          <p:cNvSpPr txBox="1">
            <a:spLocks noGrp="1"/>
          </p:cNvSpPr>
          <p:nvPr>
            <p:ph type="title"/>
          </p:nvPr>
        </p:nvSpPr>
        <p:spPr>
          <a:xfrm>
            <a:off x="4444008" y="371313"/>
            <a:ext cx="5640518" cy="686126"/>
          </a:xfrm>
          <a:prstGeom prst="rect">
            <a:avLst/>
          </a:prstGeom>
        </p:spPr>
        <p:txBody>
          <a:bodyPr vert="horz" wrap="square" lIns="0" tIns="8930" rIns="0" bIns="0" rtlCol="0" anchor="ctr">
            <a:spAutoFit/>
          </a:bodyPr>
          <a:lstStyle/>
          <a:p>
            <a:pPr marL="8929">
              <a:lnSpc>
                <a:spcPct val="100000"/>
              </a:lnSpc>
              <a:spcBef>
                <a:spcPts val="70"/>
              </a:spcBef>
            </a:pPr>
            <a:r>
              <a:rPr spc="39" dirty="0">
                <a:latin typeface="Arial MT"/>
                <a:cs typeface="Arial MT"/>
              </a:rPr>
              <a:t>Why</a:t>
            </a:r>
            <a:r>
              <a:rPr spc="-28" dirty="0">
                <a:latin typeface="Arial MT"/>
                <a:cs typeface="Arial MT"/>
              </a:rPr>
              <a:t> </a:t>
            </a:r>
            <a:r>
              <a:rPr spc="88" dirty="0">
                <a:latin typeface="Arial MT"/>
                <a:cs typeface="Arial MT"/>
              </a:rPr>
              <a:t>Majority</a:t>
            </a:r>
            <a:r>
              <a:rPr spc="-28" dirty="0">
                <a:latin typeface="Arial MT"/>
                <a:cs typeface="Arial MT"/>
              </a:rPr>
              <a:t> </a:t>
            </a:r>
            <a:r>
              <a:rPr spc="-14" dirty="0">
                <a:latin typeface="Arial MT"/>
                <a:cs typeface="Arial MT"/>
              </a:rPr>
              <a:t>Vote?</a:t>
            </a:r>
          </a:p>
        </p:txBody>
      </p:sp>
      <p:sp>
        <p:nvSpPr>
          <p:cNvPr id="5" name="object 5"/>
          <p:cNvSpPr txBox="1"/>
          <p:nvPr/>
        </p:nvSpPr>
        <p:spPr>
          <a:xfrm>
            <a:off x="3802835" y="5364003"/>
            <a:ext cx="709910" cy="387711"/>
          </a:xfrm>
          <a:prstGeom prst="rect">
            <a:avLst/>
          </a:prstGeom>
        </p:spPr>
        <p:txBody>
          <a:bodyPr vert="horz" wrap="square" lIns="0" tIns="8930" rIns="0" bIns="0" rtlCol="0">
            <a:spAutoFit/>
          </a:bodyPr>
          <a:lstStyle/>
          <a:p>
            <a:pPr marL="26788">
              <a:spcBef>
                <a:spcPts val="70"/>
              </a:spcBef>
            </a:pPr>
            <a:r>
              <a:rPr sz="2461" spc="823" dirty="0">
                <a:latin typeface="Lucida Sans Unicode"/>
                <a:cs typeface="Lucida Sans Unicode"/>
              </a:rPr>
              <a:t>(</a:t>
            </a:r>
            <a:r>
              <a:rPr sz="3691" i="1" spc="1233" baseline="-9523" dirty="0">
                <a:latin typeface="Times New Roman"/>
                <a:cs typeface="Times New Roman"/>
              </a:rPr>
              <a:t>k</a:t>
            </a:r>
            <a:r>
              <a:rPr sz="2461" spc="823" dirty="0">
                <a:latin typeface="Lucida Sans Unicode"/>
                <a:cs typeface="Lucida Sans Unicode"/>
              </a:rPr>
              <a:t>)</a:t>
            </a:r>
            <a:endParaRPr sz="2461">
              <a:latin typeface="Lucida Sans Unicode"/>
              <a:cs typeface="Lucida Sans Unicode"/>
            </a:endParaRPr>
          </a:p>
        </p:txBody>
      </p:sp>
      <p:sp>
        <p:nvSpPr>
          <p:cNvPr id="6" name="object 6"/>
          <p:cNvSpPr txBox="1"/>
          <p:nvPr/>
        </p:nvSpPr>
        <p:spPr>
          <a:xfrm>
            <a:off x="2877234" y="5181793"/>
            <a:ext cx="3116014" cy="387711"/>
          </a:xfrm>
          <a:prstGeom prst="rect">
            <a:avLst/>
          </a:prstGeom>
        </p:spPr>
        <p:txBody>
          <a:bodyPr vert="horz" wrap="square" lIns="0" tIns="8930" rIns="0" bIns="0" rtlCol="0">
            <a:spAutoFit/>
          </a:bodyPr>
          <a:lstStyle/>
          <a:p>
            <a:pPr marL="26788">
              <a:spcBef>
                <a:spcPts val="70"/>
              </a:spcBef>
              <a:tabLst>
                <a:tab pos="1201893" algn="l"/>
                <a:tab pos="1608180" algn="l"/>
              </a:tabLst>
            </a:pPr>
            <a:r>
              <a:rPr sz="2461" i="1" dirty="0">
                <a:latin typeface="Times New Roman"/>
                <a:cs typeface="Times New Roman"/>
              </a:rPr>
              <a:t>P</a:t>
            </a:r>
            <a:r>
              <a:rPr sz="2461" spc="-123" dirty="0">
                <a:latin typeface="Cambria"/>
                <a:cs typeface="Cambria"/>
              </a:rPr>
              <a:t>(</a:t>
            </a:r>
            <a:r>
              <a:rPr sz="2461" i="1" dirty="0">
                <a:latin typeface="Times New Roman"/>
                <a:cs typeface="Times New Roman"/>
              </a:rPr>
              <a:t>k</a:t>
            </a:r>
            <a:r>
              <a:rPr sz="2461" spc="-123" dirty="0">
                <a:latin typeface="Cambria"/>
                <a:cs typeface="Cambria"/>
              </a:rPr>
              <a:t>)</a:t>
            </a:r>
            <a:r>
              <a:rPr sz="2461" spc="141" dirty="0">
                <a:latin typeface="Cambria"/>
                <a:cs typeface="Cambria"/>
              </a:rPr>
              <a:t> </a:t>
            </a:r>
            <a:r>
              <a:rPr sz="2461" spc="320" dirty="0">
                <a:latin typeface="Cambria"/>
                <a:cs typeface="Cambria"/>
              </a:rPr>
              <a:t>=</a:t>
            </a:r>
            <a:r>
              <a:rPr sz="2461" dirty="0">
                <a:latin typeface="Cambria"/>
                <a:cs typeface="Cambria"/>
              </a:rPr>
              <a:t>	</a:t>
            </a:r>
            <a:r>
              <a:rPr sz="3691" i="1" baseline="38888" dirty="0">
                <a:latin typeface="Times New Roman"/>
                <a:cs typeface="Times New Roman"/>
              </a:rPr>
              <a:t>n	</a:t>
            </a:r>
            <a:r>
              <a:rPr sz="2461" i="1" spc="134" dirty="0">
                <a:latin typeface="Arial"/>
                <a:cs typeface="Arial"/>
              </a:rPr>
              <a:t>ϵ</a:t>
            </a:r>
            <a:r>
              <a:rPr sz="2584" i="1" spc="15" baseline="29478" dirty="0">
                <a:latin typeface="Times New Roman"/>
                <a:cs typeface="Times New Roman"/>
              </a:rPr>
              <a:t>k</a:t>
            </a:r>
            <a:r>
              <a:rPr sz="2461" spc="-123" dirty="0">
                <a:latin typeface="Cambria"/>
                <a:cs typeface="Cambria"/>
              </a:rPr>
              <a:t>(</a:t>
            </a:r>
            <a:r>
              <a:rPr sz="2461" spc="-134" dirty="0">
                <a:latin typeface="Cambria"/>
                <a:cs typeface="Cambria"/>
              </a:rPr>
              <a:t>1</a:t>
            </a:r>
            <a:r>
              <a:rPr sz="2461" spc="4" dirty="0">
                <a:latin typeface="Cambria"/>
                <a:cs typeface="Cambria"/>
              </a:rPr>
              <a:t> </a:t>
            </a:r>
            <a:r>
              <a:rPr sz="2461" spc="-271" dirty="0">
                <a:latin typeface="Lucida Sans Unicode"/>
                <a:cs typeface="Lucida Sans Unicode"/>
              </a:rPr>
              <a:t>−</a:t>
            </a:r>
            <a:r>
              <a:rPr sz="2461" spc="-232" dirty="0">
                <a:latin typeface="Lucida Sans Unicode"/>
                <a:cs typeface="Lucida Sans Unicode"/>
              </a:rPr>
              <a:t> </a:t>
            </a:r>
            <a:r>
              <a:rPr sz="2461" i="1" spc="7" dirty="0">
                <a:latin typeface="Arial"/>
                <a:cs typeface="Arial"/>
              </a:rPr>
              <a:t>ϵ</a:t>
            </a:r>
            <a:r>
              <a:rPr sz="2461" spc="-123" dirty="0">
                <a:latin typeface="Cambria"/>
                <a:cs typeface="Cambria"/>
              </a:rPr>
              <a:t>)</a:t>
            </a:r>
            <a:r>
              <a:rPr sz="2584" i="1" spc="15" baseline="29478" dirty="0">
                <a:latin typeface="Times New Roman"/>
                <a:cs typeface="Times New Roman"/>
              </a:rPr>
              <a:t>n</a:t>
            </a:r>
            <a:r>
              <a:rPr sz="2584" spc="-264" baseline="29478" dirty="0">
                <a:latin typeface="Lucida Sans Unicode"/>
                <a:cs typeface="Lucida Sans Unicode"/>
              </a:rPr>
              <a:t>−</a:t>
            </a:r>
            <a:r>
              <a:rPr sz="2584" i="1" spc="15" baseline="29478" dirty="0">
                <a:latin typeface="Times New Roman"/>
                <a:cs typeface="Times New Roman"/>
              </a:rPr>
              <a:t>k</a:t>
            </a:r>
            <a:endParaRPr sz="2584" baseline="29478" dirty="0">
              <a:latin typeface="Times New Roman"/>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CDC11-B47C-4780-80C5-A0C1520C0513}"/>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9CEC5CE4-9F10-436F-A9FB-4E3E739C9AEE}"/>
              </a:ext>
            </a:extLst>
          </p:cNvPr>
          <p:cNvSpPr>
            <a:spLocks noGrp="1"/>
          </p:cNvSpPr>
          <p:nvPr>
            <p:ph idx="1"/>
          </p:nvPr>
        </p:nvSpPr>
        <p:spPr/>
        <p:txBody>
          <a:bodyPr/>
          <a:lstStyle/>
          <a:p>
            <a:endParaRPr lang="en-IN" dirty="0"/>
          </a:p>
        </p:txBody>
      </p:sp>
      <p:sp>
        <p:nvSpPr>
          <p:cNvPr id="4" name="Rectangle 3">
            <a:extLst>
              <a:ext uri="{FF2B5EF4-FFF2-40B4-BE49-F238E27FC236}">
                <a16:creationId xmlns:a16="http://schemas.microsoft.com/office/drawing/2014/main" id="{9E71B8E1-AADA-4CC0-8763-CD03AE9EDC3D}"/>
              </a:ext>
            </a:extLst>
          </p:cNvPr>
          <p:cNvSpPr/>
          <p:nvPr/>
        </p:nvSpPr>
        <p:spPr>
          <a:xfrm>
            <a:off x="4198776" y="2258008"/>
            <a:ext cx="3172408" cy="8864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Ensemble Learning techniques</a:t>
            </a:r>
            <a:endParaRPr lang="en-IN" dirty="0"/>
          </a:p>
        </p:txBody>
      </p:sp>
      <p:cxnSp>
        <p:nvCxnSpPr>
          <p:cNvPr id="6" name="Straight Arrow Connector 5">
            <a:extLst>
              <a:ext uri="{FF2B5EF4-FFF2-40B4-BE49-F238E27FC236}">
                <a16:creationId xmlns:a16="http://schemas.microsoft.com/office/drawing/2014/main" id="{055055D8-5F47-4B39-BCFE-8DEFBBAF7627}"/>
              </a:ext>
            </a:extLst>
          </p:cNvPr>
          <p:cNvCxnSpPr/>
          <p:nvPr/>
        </p:nvCxnSpPr>
        <p:spPr>
          <a:xfrm flipH="1">
            <a:off x="4198776" y="3151188"/>
            <a:ext cx="1380930" cy="8049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28958BB-F08D-4058-8F70-029DAA7A75B4}"/>
              </a:ext>
            </a:extLst>
          </p:cNvPr>
          <p:cNvCxnSpPr/>
          <p:nvPr/>
        </p:nvCxnSpPr>
        <p:spPr>
          <a:xfrm>
            <a:off x="5579706" y="3151188"/>
            <a:ext cx="1455576" cy="8049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821AB79C-910A-4EB3-9BB2-FBFABB3FD8B1}"/>
              </a:ext>
            </a:extLst>
          </p:cNvPr>
          <p:cNvSpPr/>
          <p:nvPr/>
        </p:nvSpPr>
        <p:spPr>
          <a:xfrm>
            <a:off x="2541037" y="4091117"/>
            <a:ext cx="3172408" cy="8864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Bagging</a:t>
            </a:r>
          </a:p>
          <a:p>
            <a:pPr algn="ctr"/>
            <a:r>
              <a:rPr lang="en-IN" dirty="0"/>
              <a:t>(Bootstrap Aggregating) </a:t>
            </a:r>
            <a:endParaRPr lang="en-US" dirty="0"/>
          </a:p>
          <a:p>
            <a:pPr algn="ctr"/>
            <a:r>
              <a:rPr lang="en-US" dirty="0" err="1"/>
              <a:t>Eg.</a:t>
            </a:r>
            <a:r>
              <a:rPr lang="en-US" dirty="0"/>
              <a:t> Random forest</a:t>
            </a:r>
            <a:endParaRPr lang="en-IN" dirty="0"/>
          </a:p>
        </p:txBody>
      </p:sp>
      <p:sp>
        <p:nvSpPr>
          <p:cNvPr id="10" name="Rectangle 9">
            <a:extLst>
              <a:ext uri="{FF2B5EF4-FFF2-40B4-BE49-F238E27FC236}">
                <a16:creationId xmlns:a16="http://schemas.microsoft.com/office/drawing/2014/main" id="{A4893590-9041-4671-9283-7E2249E315D8}"/>
              </a:ext>
            </a:extLst>
          </p:cNvPr>
          <p:cNvSpPr/>
          <p:nvPr/>
        </p:nvSpPr>
        <p:spPr>
          <a:xfrm>
            <a:off x="6192417" y="4001294"/>
            <a:ext cx="3172408" cy="8864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Boosting</a:t>
            </a:r>
          </a:p>
          <a:p>
            <a:pPr algn="ctr"/>
            <a:r>
              <a:rPr lang="en-US" dirty="0" err="1"/>
              <a:t>Eg.</a:t>
            </a:r>
            <a:r>
              <a:rPr lang="en-US" dirty="0"/>
              <a:t> </a:t>
            </a:r>
            <a:r>
              <a:rPr lang="en-US" dirty="0" err="1"/>
              <a:t>Adaboost</a:t>
            </a:r>
            <a:endParaRPr lang="en-IN" dirty="0"/>
          </a:p>
        </p:txBody>
      </p:sp>
    </p:spTree>
    <p:extLst>
      <p:ext uri="{BB962C8B-B14F-4D97-AF65-F5344CB8AC3E}">
        <p14:creationId xmlns:p14="http://schemas.microsoft.com/office/powerpoint/2010/main" val="2668816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DA105-4A39-D185-FA12-6F9DB0F17CB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60C6873-27BD-7646-BF84-8A626229E14D}"/>
              </a:ext>
            </a:extLst>
          </p:cNvPr>
          <p:cNvSpPr>
            <a:spLocks noGrp="1"/>
          </p:cNvSpPr>
          <p:nvPr>
            <p:ph idx="1"/>
          </p:nvPr>
        </p:nvSpPr>
        <p:spPr/>
        <p:txBody>
          <a:bodyPr/>
          <a:lstStyle/>
          <a:p>
            <a:r>
              <a:rPr lang="en-US" dirty="0"/>
              <a:t>Bagging relies on a concept similar to majority voting but uses the same learning algorithm (typically a decision tree algorithm) to fit models on different subsets of the training data (bootstrap samples).</a:t>
            </a:r>
          </a:p>
          <a:p>
            <a:r>
              <a:rPr lang="en-US" dirty="0"/>
              <a:t>Bagging can improve the accuracy of unstable models that tend to overfit.</a:t>
            </a:r>
          </a:p>
        </p:txBody>
      </p:sp>
    </p:spTree>
    <p:extLst>
      <p:ext uri="{BB962C8B-B14F-4D97-AF65-F5344CB8AC3E}">
        <p14:creationId xmlns:p14="http://schemas.microsoft.com/office/powerpoint/2010/main" val="927624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F83BE-A128-4C54-8161-C77D68623D19}"/>
              </a:ext>
            </a:extLst>
          </p:cNvPr>
          <p:cNvSpPr>
            <a:spLocks noGrp="1"/>
          </p:cNvSpPr>
          <p:nvPr>
            <p:ph type="title"/>
          </p:nvPr>
        </p:nvSpPr>
        <p:spPr/>
        <p:txBody>
          <a:bodyPr/>
          <a:lstStyle/>
          <a:p>
            <a:pPr algn="ctr"/>
            <a:r>
              <a:rPr lang="en-US" b="1" dirty="0"/>
              <a:t>Bagging (</a:t>
            </a:r>
            <a:r>
              <a:rPr lang="en-US" dirty="0">
                <a:solidFill>
                  <a:srgbClr val="292929"/>
                </a:solidFill>
                <a:latin typeface="charter"/>
              </a:rPr>
              <a:t>Bootstrap Aggregating)</a:t>
            </a:r>
            <a:endParaRPr lang="en-IN" b="1" dirty="0"/>
          </a:p>
        </p:txBody>
      </p:sp>
      <p:sp>
        <p:nvSpPr>
          <p:cNvPr id="3" name="Content Placeholder 2">
            <a:extLst>
              <a:ext uri="{FF2B5EF4-FFF2-40B4-BE49-F238E27FC236}">
                <a16:creationId xmlns:a16="http://schemas.microsoft.com/office/drawing/2014/main" id="{8F48AFDB-5170-4CF2-82C3-FBEE09FAFF11}"/>
              </a:ext>
            </a:extLst>
          </p:cNvPr>
          <p:cNvSpPr>
            <a:spLocks noGrp="1"/>
          </p:cNvSpPr>
          <p:nvPr>
            <p:ph idx="1"/>
          </p:nvPr>
        </p:nvSpPr>
        <p:spPr/>
        <p:txBody>
          <a:bodyPr>
            <a:normAutofit fontScale="92500" lnSpcReduction="10000"/>
          </a:bodyPr>
          <a:lstStyle/>
          <a:p>
            <a:pPr algn="just"/>
            <a:r>
              <a:rPr lang="en-US" dirty="0">
                <a:solidFill>
                  <a:srgbClr val="292929"/>
                </a:solidFill>
                <a:latin typeface="charter"/>
              </a:rPr>
              <a:t>Bagging, that often considers </a:t>
            </a:r>
            <a:r>
              <a:rPr lang="en-US" b="1" dirty="0">
                <a:solidFill>
                  <a:srgbClr val="292929"/>
                </a:solidFill>
                <a:latin typeface="charter"/>
              </a:rPr>
              <a:t>homogeneous weak learners</a:t>
            </a:r>
            <a:r>
              <a:rPr lang="en-US" dirty="0">
                <a:solidFill>
                  <a:srgbClr val="292929"/>
                </a:solidFill>
                <a:latin typeface="charter"/>
              </a:rPr>
              <a:t>, learns them </a:t>
            </a:r>
            <a:r>
              <a:rPr lang="en-US" b="1" dirty="0">
                <a:solidFill>
                  <a:srgbClr val="292929"/>
                </a:solidFill>
                <a:latin typeface="charter"/>
              </a:rPr>
              <a:t>independently</a:t>
            </a:r>
            <a:r>
              <a:rPr lang="en-US" dirty="0">
                <a:solidFill>
                  <a:srgbClr val="292929"/>
                </a:solidFill>
                <a:latin typeface="charter"/>
              </a:rPr>
              <a:t> from each other in </a:t>
            </a:r>
            <a:r>
              <a:rPr lang="en-US" b="1" dirty="0">
                <a:solidFill>
                  <a:srgbClr val="292929"/>
                </a:solidFill>
                <a:latin typeface="charter"/>
              </a:rPr>
              <a:t>parallel</a:t>
            </a:r>
            <a:r>
              <a:rPr lang="en-US" dirty="0">
                <a:solidFill>
                  <a:srgbClr val="292929"/>
                </a:solidFill>
                <a:latin typeface="charter"/>
              </a:rPr>
              <a:t> and combines them following some kind of deterministic averaging process.</a:t>
            </a:r>
          </a:p>
          <a:p>
            <a:pPr algn="just"/>
            <a:r>
              <a:rPr lang="en-US" dirty="0">
                <a:solidFill>
                  <a:srgbClr val="292929"/>
                </a:solidFill>
                <a:latin typeface="charter"/>
              </a:rPr>
              <a:t>Bagging, also known as Bootstrap Aggregating, is used to improve </a:t>
            </a:r>
            <a:r>
              <a:rPr lang="en-US" b="1" dirty="0">
                <a:solidFill>
                  <a:srgbClr val="292929"/>
                </a:solidFill>
                <a:latin typeface="charter"/>
              </a:rPr>
              <a:t>accuracy </a:t>
            </a:r>
            <a:r>
              <a:rPr lang="en-US" dirty="0">
                <a:solidFill>
                  <a:srgbClr val="292929"/>
                </a:solidFill>
                <a:latin typeface="charter"/>
              </a:rPr>
              <a:t>and make the model more generalize by </a:t>
            </a:r>
            <a:r>
              <a:rPr lang="en-US" b="1" dirty="0">
                <a:solidFill>
                  <a:srgbClr val="292929"/>
                </a:solidFill>
                <a:latin typeface="charter"/>
              </a:rPr>
              <a:t>reducing the variance</a:t>
            </a:r>
            <a:r>
              <a:rPr lang="en-US" dirty="0">
                <a:solidFill>
                  <a:srgbClr val="292929"/>
                </a:solidFill>
                <a:latin typeface="charter"/>
              </a:rPr>
              <a:t>, i.e., </a:t>
            </a:r>
            <a:r>
              <a:rPr lang="en-US" b="1" dirty="0">
                <a:solidFill>
                  <a:srgbClr val="292929"/>
                </a:solidFill>
                <a:latin typeface="charter"/>
              </a:rPr>
              <a:t>avoiding overfitting</a:t>
            </a:r>
            <a:r>
              <a:rPr lang="en-US" dirty="0">
                <a:solidFill>
                  <a:srgbClr val="292929"/>
                </a:solidFill>
                <a:latin typeface="charter"/>
              </a:rPr>
              <a:t>. In this, we take multiple subsets of the training dataset. For each subset, we take a model with the same learning algorithms </a:t>
            </a:r>
            <a:r>
              <a:rPr lang="en-US" b="1" dirty="0">
                <a:solidFill>
                  <a:srgbClr val="292929"/>
                </a:solidFill>
                <a:latin typeface="charter"/>
                <a:hlinkClick r:id="rId2">
                  <a:extLst>
                    <a:ext uri="{A12FA001-AC4F-418D-AE19-62706E023703}">
                      <ahyp:hlinkClr xmlns:ahyp="http://schemas.microsoft.com/office/drawing/2018/hyperlinkcolor" val="tx"/>
                    </a:ext>
                  </a:extLst>
                </a:hlinkClick>
              </a:rPr>
              <a:t>like Decisi</a:t>
            </a:r>
            <a:r>
              <a:rPr lang="en-US" b="1" dirty="0">
                <a:solidFill>
                  <a:srgbClr val="292929"/>
                </a:solidFill>
                <a:latin typeface="charter"/>
              </a:rPr>
              <a:t>on tree</a:t>
            </a:r>
            <a:r>
              <a:rPr lang="en-US" dirty="0">
                <a:solidFill>
                  <a:srgbClr val="292929"/>
                </a:solidFill>
                <a:latin typeface="charter"/>
              </a:rPr>
              <a:t>, Logistic regression, etc., to predict the output for the same set of test data. Once we predict each model, we use a model averaging technique to get the final prediction output. One of the famous techniques used in Bagging is </a:t>
            </a:r>
            <a:r>
              <a:rPr lang="en-US" b="1" dirty="0">
                <a:solidFill>
                  <a:srgbClr val="292929"/>
                </a:solidFill>
                <a:latin typeface="charter"/>
              </a:rPr>
              <a:t>Random Forest</a:t>
            </a:r>
            <a:r>
              <a:rPr lang="en-US" dirty="0">
                <a:solidFill>
                  <a:srgbClr val="292929"/>
                </a:solidFill>
                <a:latin typeface="charter"/>
              </a:rPr>
              <a:t>. In the Random forest, we use multiple decision trees.</a:t>
            </a:r>
          </a:p>
          <a:p>
            <a:endParaRPr lang="en-US" b="0" i="0" dirty="0">
              <a:solidFill>
                <a:srgbClr val="292929"/>
              </a:solidFill>
              <a:effectLst/>
              <a:latin typeface="charter"/>
            </a:endParaRPr>
          </a:p>
          <a:p>
            <a:endParaRPr lang="en-IN" dirty="0"/>
          </a:p>
        </p:txBody>
      </p:sp>
    </p:spTree>
    <p:extLst>
      <p:ext uri="{BB962C8B-B14F-4D97-AF65-F5344CB8AC3E}">
        <p14:creationId xmlns:p14="http://schemas.microsoft.com/office/powerpoint/2010/main" val="2785554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9CE67-BFC2-4EB7-9404-346A4C065E6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62A2EBE-1340-4965-AD9F-89B8405926B7}"/>
              </a:ext>
            </a:extLst>
          </p:cNvPr>
          <p:cNvSpPr>
            <a:spLocks noGrp="1"/>
          </p:cNvSpPr>
          <p:nvPr>
            <p:ph idx="1"/>
          </p:nvPr>
        </p:nvSpPr>
        <p:spPr/>
        <p:txBody>
          <a:bodyPr/>
          <a:lstStyle/>
          <a:p>
            <a:pPr algn="just"/>
            <a:r>
              <a:rPr lang="en-US" dirty="0">
                <a:solidFill>
                  <a:srgbClr val="273239"/>
                </a:solidFill>
                <a:latin typeface="urw-din"/>
              </a:rPr>
              <a:t>A Bagging classifier is an ensemble meta-estimator that fits base classifiers each on random subsets of the original dataset and then aggregate their individual predictions </a:t>
            </a:r>
            <a:r>
              <a:rPr lang="en-US" b="1" dirty="0">
                <a:solidFill>
                  <a:srgbClr val="273239"/>
                </a:solidFill>
                <a:latin typeface="urw-din"/>
              </a:rPr>
              <a:t>(either by voting or by averaging) </a:t>
            </a:r>
            <a:r>
              <a:rPr lang="en-US" dirty="0">
                <a:solidFill>
                  <a:srgbClr val="273239"/>
                </a:solidFill>
                <a:latin typeface="urw-din"/>
              </a:rPr>
              <a:t>to form a final prediction. Such a meta-estimator can typically be used as a way to reduce the variance of a black-box estimator (e.g., a decision tree), by introducing randomization into its construction procedure and then making an ensemble out of it.</a:t>
            </a:r>
            <a:endParaRPr lang="en-IN" dirty="0">
              <a:solidFill>
                <a:srgbClr val="273239"/>
              </a:solidFill>
              <a:latin typeface="urw-din"/>
            </a:endParaRPr>
          </a:p>
        </p:txBody>
      </p:sp>
    </p:spTree>
    <p:extLst>
      <p:ext uri="{BB962C8B-B14F-4D97-AF65-F5344CB8AC3E}">
        <p14:creationId xmlns:p14="http://schemas.microsoft.com/office/powerpoint/2010/main" val="31448983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5A0F8-8706-414D-8793-7FA85EA8DA6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104B58C-E267-4E49-8DF0-50DB02C30868}"/>
              </a:ext>
            </a:extLst>
          </p:cNvPr>
          <p:cNvSpPr>
            <a:spLocks noGrp="1"/>
          </p:cNvSpPr>
          <p:nvPr>
            <p:ph idx="1"/>
          </p:nvPr>
        </p:nvSpPr>
        <p:spPr/>
        <p:txBody>
          <a:bodyPr/>
          <a:lstStyle/>
          <a:p>
            <a:pPr algn="just"/>
            <a:r>
              <a:rPr lang="en-US" b="0" i="0" dirty="0">
                <a:solidFill>
                  <a:srgbClr val="273239"/>
                </a:solidFill>
                <a:effectLst/>
                <a:latin typeface="urw-din"/>
              </a:rPr>
              <a:t>Each base classifier is trained in parallel with a training set which is generated by randomly drawing, </a:t>
            </a:r>
            <a:r>
              <a:rPr lang="en-US" b="1" i="0" dirty="0">
                <a:solidFill>
                  <a:srgbClr val="273239"/>
                </a:solidFill>
                <a:effectLst/>
                <a:latin typeface="urw-din"/>
              </a:rPr>
              <a:t>with replacement</a:t>
            </a:r>
            <a:r>
              <a:rPr lang="en-US" b="0" i="0" dirty="0">
                <a:solidFill>
                  <a:srgbClr val="273239"/>
                </a:solidFill>
                <a:effectLst/>
                <a:latin typeface="urw-din"/>
              </a:rPr>
              <a:t>, N examples(or data) from the original training dataset – </a:t>
            </a:r>
            <a:r>
              <a:rPr lang="en-US" b="0" i="1" dirty="0">
                <a:solidFill>
                  <a:srgbClr val="273239"/>
                </a:solidFill>
                <a:effectLst/>
                <a:latin typeface="urw-din"/>
              </a:rPr>
              <a:t>where N is the size of the original training set</a:t>
            </a:r>
            <a:r>
              <a:rPr lang="en-US" b="0" i="0" dirty="0">
                <a:solidFill>
                  <a:srgbClr val="273239"/>
                </a:solidFill>
                <a:effectLst/>
                <a:latin typeface="urw-din"/>
              </a:rPr>
              <a:t>. Training set for each of the base classifiers is independent of each other. Many of the original data may be repeated in the resulting training set while others may be left out.</a:t>
            </a:r>
            <a:endParaRPr lang="en-IN" dirty="0"/>
          </a:p>
        </p:txBody>
      </p:sp>
    </p:spTree>
    <p:extLst>
      <p:ext uri="{BB962C8B-B14F-4D97-AF65-F5344CB8AC3E}">
        <p14:creationId xmlns:p14="http://schemas.microsoft.com/office/powerpoint/2010/main" val="3112234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FC007-5459-4DBC-BEA5-AF5104B9CE5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D4D8609-A66D-4CA6-A861-D3851C8372BA}"/>
              </a:ext>
            </a:extLst>
          </p:cNvPr>
          <p:cNvSpPr>
            <a:spLocks noGrp="1"/>
          </p:cNvSpPr>
          <p:nvPr>
            <p:ph idx="1"/>
          </p:nvPr>
        </p:nvSpPr>
        <p:spPr/>
        <p:txBody>
          <a:bodyPr/>
          <a:lstStyle/>
          <a:p>
            <a:pPr algn="just"/>
            <a:r>
              <a:rPr lang="en-US" b="0" i="0" dirty="0">
                <a:solidFill>
                  <a:srgbClr val="273239"/>
                </a:solidFill>
                <a:effectLst/>
                <a:latin typeface="urw-din"/>
              </a:rPr>
              <a:t>Bagging reduces overfitting (variance) by averaging or voting, however, this leads to an increase in bias, which is compensated by the reduction in variance though.</a:t>
            </a:r>
            <a:endParaRPr lang="en-IN" dirty="0"/>
          </a:p>
        </p:txBody>
      </p:sp>
    </p:spTree>
    <p:extLst>
      <p:ext uri="{BB962C8B-B14F-4D97-AF65-F5344CB8AC3E}">
        <p14:creationId xmlns:p14="http://schemas.microsoft.com/office/powerpoint/2010/main" val="3899253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F4003-81F1-4FFC-A18D-C240E319A9BC}"/>
              </a:ext>
            </a:extLst>
          </p:cNvPr>
          <p:cNvSpPr>
            <a:spLocks noGrp="1"/>
          </p:cNvSpPr>
          <p:nvPr>
            <p:ph type="title"/>
          </p:nvPr>
        </p:nvSpPr>
        <p:spPr/>
        <p:txBody>
          <a:bodyPr/>
          <a:lstStyle/>
          <a:p>
            <a:r>
              <a:rPr lang="en-US" b="1" i="0" dirty="0">
                <a:solidFill>
                  <a:srgbClr val="273239"/>
                </a:solidFill>
                <a:effectLst/>
                <a:latin typeface="urw-din"/>
              </a:rPr>
              <a:t>How Bagging works on training dataset ?</a:t>
            </a:r>
            <a:endParaRPr lang="en-IN" dirty="0"/>
          </a:p>
        </p:txBody>
      </p:sp>
      <p:sp>
        <p:nvSpPr>
          <p:cNvPr id="3" name="Content Placeholder 2">
            <a:extLst>
              <a:ext uri="{FF2B5EF4-FFF2-40B4-BE49-F238E27FC236}">
                <a16:creationId xmlns:a16="http://schemas.microsoft.com/office/drawing/2014/main" id="{CCE3A4C6-6184-4DCA-89D3-327B287DF087}"/>
              </a:ext>
            </a:extLst>
          </p:cNvPr>
          <p:cNvSpPr>
            <a:spLocks noGrp="1"/>
          </p:cNvSpPr>
          <p:nvPr>
            <p:ph idx="1"/>
          </p:nvPr>
        </p:nvSpPr>
        <p:spPr/>
        <p:txBody>
          <a:bodyPr/>
          <a:lstStyle/>
          <a:p>
            <a:r>
              <a:rPr lang="en-US" b="0" i="0" dirty="0">
                <a:solidFill>
                  <a:srgbClr val="273239"/>
                </a:solidFill>
                <a:effectLst/>
                <a:latin typeface="urw-din"/>
              </a:rPr>
              <a:t>How bagging works on an imaginary training dataset is shown below. Since Bagging resamples the original training dataset with replacement, some instance(or data) may be present multiple times while others are left out.</a:t>
            </a:r>
          </a:p>
          <a:p>
            <a:endParaRPr lang="en-US" dirty="0">
              <a:solidFill>
                <a:srgbClr val="273239"/>
              </a:solidFill>
              <a:latin typeface="urw-din"/>
            </a:endParaRPr>
          </a:p>
          <a:p>
            <a:pPr algn="l" fontAlgn="base"/>
            <a:r>
              <a:rPr lang="en-US" b="1" i="1" dirty="0">
                <a:solidFill>
                  <a:srgbClr val="273239"/>
                </a:solidFill>
                <a:effectLst/>
                <a:latin typeface="urw-din"/>
              </a:rPr>
              <a:t>Original training dataset:</a:t>
            </a:r>
            <a:r>
              <a:rPr lang="en-US" b="0" i="1" dirty="0">
                <a:solidFill>
                  <a:srgbClr val="273239"/>
                </a:solidFill>
                <a:effectLst/>
                <a:latin typeface="urw-din"/>
              </a:rPr>
              <a:t> 1, 2, 3, 4, 5, 6, 7, 8, 9, 10</a:t>
            </a:r>
          </a:p>
          <a:p>
            <a:pPr algn="l" fontAlgn="base"/>
            <a:r>
              <a:rPr lang="en-US" b="1" i="1" dirty="0">
                <a:solidFill>
                  <a:srgbClr val="273239"/>
                </a:solidFill>
                <a:effectLst/>
                <a:latin typeface="urw-din"/>
              </a:rPr>
              <a:t>Resampled training set 1:</a:t>
            </a:r>
            <a:r>
              <a:rPr lang="en-US" b="0" i="1" dirty="0">
                <a:solidFill>
                  <a:srgbClr val="273239"/>
                </a:solidFill>
                <a:effectLst/>
                <a:latin typeface="urw-din"/>
              </a:rPr>
              <a:t> 2, 3, 3, 5, 6, 1, 8, 10, 9, 1</a:t>
            </a:r>
            <a:br>
              <a:rPr lang="en-US" b="0" i="1" dirty="0">
                <a:solidFill>
                  <a:srgbClr val="273239"/>
                </a:solidFill>
                <a:effectLst/>
                <a:latin typeface="urw-din"/>
              </a:rPr>
            </a:br>
            <a:r>
              <a:rPr lang="en-US" b="1" i="1" dirty="0">
                <a:solidFill>
                  <a:srgbClr val="273239"/>
                </a:solidFill>
                <a:effectLst/>
                <a:latin typeface="urw-din"/>
              </a:rPr>
              <a:t>Resampled training set 2:</a:t>
            </a:r>
            <a:r>
              <a:rPr lang="en-US" b="0" i="1" dirty="0">
                <a:solidFill>
                  <a:srgbClr val="273239"/>
                </a:solidFill>
                <a:effectLst/>
                <a:latin typeface="urw-din"/>
              </a:rPr>
              <a:t> 1, 1, 5, 6, 3, 8, 9, 10, 2, 7</a:t>
            </a:r>
            <a:br>
              <a:rPr lang="en-US" b="0" i="1" dirty="0">
                <a:solidFill>
                  <a:srgbClr val="273239"/>
                </a:solidFill>
                <a:effectLst/>
                <a:latin typeface="urw-din"/>
              </a:rPr>
            </a:br>
            <a:r>
              <a:rPr lang="en-US" b="1" i="1" dirty="0">
                <a:solidFill>
                  <a:srgbClr val="273239"/>
                </a:solidFill>
                <a:effectLst/>
                <a:latin typeface="urw-din"/>
              </a:rPr>
              <a:t>Resampled training set 3:</a:t>
            </a:r>
            <a:r>
              <a:rPr lang="en-US" b="0" i="1" dirty="0">
                <a:solidFill>
                  <a:srgbClr val="273239"/>
                </a:solidFill>
                <a:effectLst/>
                <a:latin typeface="urw-din"/>
              </a:rPr>
              <a:t> 1, 5, 8, 9, 2, 10, 9, 7, 5, 4</a:t>
            </a:r>
          </a:p>
          <a:p>
            <a:endParaRPr lang="en-IN" dirty="0"/>
          </a:p>
        </p:txBody>
      </p:sp>
    </p:spTree>
    <p:extLst>
      <p:ext uri="{BB962C8B-B14F-4D97-AF65-F5344CB8AC3E}">
        <p14:creationId xmlns:p14="http://schemas.microsoft.com/office/powerpoint/2010/main" val="3348945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B3FEE-789F-66B4-B834-6A9816DFD3C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B3432B1-C8E5-2670-0FF7-9C11F3DEF9CA}"/>
              </a:ext>
            </a:extLst>
          </p:cNvPr>
          <p:cNvPicPr>
            <a:picLocks noGrp="1" noChangeAspect="1"/>
          </p:cNvPicPr>
          <p:nvPr>
            <p:ph idx="1"/>
          </p:nvPr>
        </p:nvPicPr>
        <p:blipFill>
          <a:blip r:embed="rId3"/>
          <a:stretch>
            <a:fillRect/>
          </a:stretch>
        </p:blipFill>
        <p:spPr>
          <a:xfrm>
            <a:off x="2751113" y="1825625"/>
            <a:ext cx="6689774" cy="4351338"/>
          </a:xfrm>
        </p:spPr>
      </p:pic>
      <p:sp>
        <p:nvSpPr>
          <p:cNvPr id="4" name="Right Brace 3">
            <a:extLst>
              <a:ext uri="{FF2B5EF4-FFF2-40B4-BE49-F238E27FC236}">
                <a16:creationId xmlns:a16="http://schemas.microsoft.com/office/drawing/2014/main" id="{8382451C-46EA-1498-2FAE-734F6D92F323}"/>
              </a:ext>
            </a:extLst>
          </p:cNvPr>
          <p:cNvSpPr/>
          <p:nvPr/>
        </p:nvSpPr>
        <p:spPr>
          <a:xfrm>
            <a:off x="9344416" y="3707704"/>
            <a:ext cx="501042" cy="206679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 name="TextBox 5">
            <a:extLst>
              <a:ext uri="{FF2B5EF4-FFF2-40B4-BE49-F238E27FC236}">
                <a16:creationId xmlns:a16="http://schemas.microsoft.com/office/drawing/2014/main" id="{DA254F01-7E96-9EDF-76E6-539E9DC18A4F}"/>
              </a:ext>
            </a:extLst>
          </p:cNvPr>
          <p:cNvSpPr txBox="1"/>
          <p:nvPr/>
        </p:nvSpPr>
        <p:spPr>
          <a:xfrm>
            <a:off x="9938359" y="4384110"/>
            <a:ext cx="1415441" cy="646331"/>
          </a:xfrm>
          <a:prstGeom prst="rect">
            <a:avLst/>
          </a:prstGeom>
          <a:noFill/>
        </p:spPr>
        <p:txBody>
          <a:bodyPr wrap="square" rtlCol="0">
            <a:spAutoFit/>
          </a:bodyPr>
          <a:lstStyle/>
          <a:p>
            <a:pPr algn="ctr"/>
            <a:r>
              <a:rPr lang="en-IN" dirty="0"/>
              <a:t>Out-of-bag samples</a:t>
            </a:r>
          </a:p>
        </p:txBody>
      </p:sp>
    </p:spTree>
    <p:extLst>
      <p:ext uri="{BB962C8B-B14F-4D97-AF65-F5344CB8AC3E}">
        <p14:creationId xmlns:p14="http://schemas.microsoft.com/office/powerpoint/2010/main" val="4068693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4BCB6-06CC-A7D2-710C-7FBD4AC2F94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CAEFE78-E36E-1E75-6FB2-D786A59C2097}"/>
              </a:ext>
            </a:extLst>
          </p:cNvPr>
          <p:cNvPicPr>
            <a:picLocks noGrp="1" noChangeAspect="1"/>
          </p:cNvPicPr>
          <p:nvPr>
            <p:ph idx="1"/>
          </p:nvPr>
        </p:nvPicPr>
        <p:blipFill>
          <a:blip r:embed="rId2"/>
          <a:stretch>
            <a:fillRect/>
          </a:stretch>
        </p:blipFill>
        <p:spPr>
          <a:xfrm>
            <a:off x="2808515" y="1825625"/>
            <a:ext cx="5844336" cy="4351338"/>
          </a:xfrm>
        </p:spPr>
      </p:pic>
    </p:spTree>
    <p:extLst>
      <p:ext uri="{BB962C8B-B14F-4D97-AF65-F5344CB8AC3E}">
        <p14:creationId xmlns:p14="http://schemas.microsoft.com/office/powerpoint/2010/main" val="9253535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4128C-26BE-C708-9091-907CF103B1C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9B505600-7FCB-F2FD-D72F-A55F746B4730}"/>
              </a:ext>
            </a:extLst>
          </p:cNvPr>
          <p:cNvPicPr>
            <a:picLocks noGrp="1" noChangeAspect="1"/>
          </p:cNvPicPr>
          <p:nvPr>
            <p:ph idx="1"/>
          </p:nvPr>
        </p:nvPicPr>
        <p:blipFill>
          <a:blip r:embed="rId3"/>
          <a:stretch>
            <a:fillRect/>
          </a:stretch>
        </p:blipFill>
        <p:spPr>
          <a:xfrm>
            <a:off x="2599509" y="898161"/>
            <a:ext cx="6325340" cy="5802649"/>
          </a:xfrm>
        </p:spPr>
      </p:pic>
      <p:sp>
        <p:nvSpPr>
          <p:cNvPr id="3" name="TextBox 2">
            <a:extLst>
              <a:ext uri="{FF2B5EF4-FFF2-40B4-BE49-F238E27FC236}">
                <a16:creationId xmlns:a16="http://schemas.microsoft.com/office/drawing/2014/main" id="{4A31555A-1646-7747-7A92-01EA558BFCCC}"/>
              </a:ext>
            </a:extLst>
          </p:cNvPr>
          <p:cNvSpPr txBox="1"/>
          <p:nvPr/>
        </p:nvSpPr>
        <p:spPr>
          <a:xfrm>
            <a:off x="2631989" y="3274541"/>
            <a:ext cx="6252519" cy="3583459"/>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3730225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2B9D9-35FD-44B4-A65D-5328E6250F03}"/>
              </a:ext>
            </a:extLst>
          </p:cNvPr>
          <p:cNvSpPr>
            <a:spLocks noGrp="1"/>
          </p:cNvSpPr>
          <p:nvPr>
            <p:ph type="title"/>
          </p:nvPr>
        </p:nvSpPr>
        <p:spPr/>
        <p:txBody>
          <a:bodyPr/>
          <a:lstStyle/>
          <a:p>
            <a:r>
              <a:rPr lang="en-US" b="0" i="0" dirty="0">
                <a:solidFill>
                  <a:srgbClr val="273239"/>
                </a:solidFill>
                <a:effectLst/>
                <a:latin typeface="urw-din"/>
              </a:rPr>
              <a:t>Algorithm for the Bagging classifier:</a:t>
            </a:r>
            <a:endParaRPr lang="en-IN" dirty="0"/>
          </a:p>
        </p:txBody>
      </p:sp>
      <p:pic>
        <p:nvPicPr>
          <p:cNvPr id="7" name="Content Placeholder 6">
            <a:extLst>
              <a:ext uri="{FF2B5EF4-FFF2-40B4-BE49-F238E27FC236}">
                <a16:creationId xmlns:a16="http://schemas.microsoft.com/office/drawing/2014/main" id="{5A383BA7-28BD-4D17-8FB8-7AC556327BC9}"/>
              </a:ext>
            </a:extLst>
          </p:cNvPr>
          <p:cNvPicPr>
            <a:picLocks noGrp="1" noChangeAspect="1"/>
          </p:cNvPicPr>
          <p:nvPr>
            <p:ph idx="1"/>
          </p:nvPr>
        </p:nvPicPr>
        <p:blipFill>
          <a:blip r:embed="rId2"/>
          <a:stretch>
            <a:fillRect/>
          </a:stretch>
        </p:blipFill>
        <p:spPr>
          <a:xfrm>
            <a:off x="928354" y="1825625"/>
            <a:ext cx="10335292" cy="4351338"/>
          </a:xfrm>
        </p:spPr>
      </p:pic>
    </p:spTree>
    <p:extLst>
      <p:ext uri="{BB962C8B-B14F-4D97-AF65-F5344CB8AC3E}">
        <p14:creationId xmlns:p14="http://schemas.microsoft.com/office/powerpoint/2010/main" val="30088360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57979-B7DF-467E-5801-B5C6DA79D1A4}"/>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CDD67E45-49D0-BF64-AD85-1E5D59031800}"/>
              </a:ext>
            </a:extLst>
          </p:cNvPr>
          <p:cNvPicPr>
            <a:picLocks noGrp="1" noChangeAspect="1"/>
          </p:cNvPicPr>
          <p:nvPr>
            <p:ph idx="1"/>
          </p:nvPr>
        </p:nvPicPr>
        <p:blipFill>
          <a:blip r:embed="rId3"/>
          <a:stretch>
            <a:fillRect/>
          </a:stretch>
        </p:blipFill>
        <p:spPr>
          <a:xfrm>
            <a:off x="3331029" y="1690688"/>
            <a:ext cx="5040567" cy="4875195"/>
          </a:xfrm>
        </p:spPr>
      </p:pic>
    </p:spTree>
    <p:extLst>
      <p:ext uri="{BB962C8B-B14F-4D97-AF65-F5344CB8AC3E}">
        <p14:creationId xmlns:p14="http://schemas.microsoft.com/office/powerpoint/2010/main" val="18282223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64DE3-F377-4E90-926F-C56CFB4AD025}"/>
              </a:ext>
            </a:extLst>
          </p:cNvPr>
          <p:cNvSpPr>
            <a:spLocks noGrp="1"/>
          </p:cNvSpPr>
          <p:nvPr>
            <p:ph type="title"/>
          </p:nvPr>
        </p:nvSpPr>
        <p:spPr/>
        <p:txBody>
          <a:bodyPr/>
          <a:lstStyle/>
          <a:p>
            <a:pPr algn="ctr"/>
            <a:r>
              <a:rPr lang="en-US" b="1" dirty="0"/>
              <a:t>Bagging</a:t>
            </a:r>
            <a:endParaRPr lang="en-IN" b="1" dirty="0"/>
          </a:p>
        </p:txBody>
      </p:sp>
      <p:pic>
        <p:nvPicPr>
          <p:cNvPr id="2050" name="Picture 2">
            <a:extLst>
              <a:ext uri="{FF2B5EF4-FFF2-40B4-BE49-F238E27FC236}">
                <a16:creationId xmlns:a16="http://schemas.microsoft.com/office/drawing/2014/main" id="{07407266-3D96-4018-A019-E7D40E4ADF7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936567" y="1368980"/>
            <a:ext cx="5975004" cy="4534110"/>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a:extLst>
              <a:ext uri="{FF2B5EF4-FFF2-40B4-BE49-F238E27FC236}">
                <a16:creationId xmlns:a16="http://schemas.microsoft.com/office/drawing/2014/main" id="{35B04E5D-04C1-4D5B-8825-04CB6D62AC4A}"/>
              </a:ext>
            </a:extLst>
          </p:cNvPr>
          <p:cNvCxnSpPr>
            <a:cxnSpLocks/>
          </p:cNvCxnSpPr>
          <p:nvPr/>
        </p:nvCxnSpPr>
        <p:spPr>
          <a:xfrm flipV="1">
            <a:off x="7369908" y="2361461"/>
            <a:ext cx="1161533" cy="2332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A079052-DEC5-4837-8CDF-2663CE840CBE}"/>
              </a:ext>
            </a:extLst>
          </p:cNvPr>
          <p:cNvSpPr txBox="1"/>
          <p:nvPr/>
        </p:nvSpPr>
        <p:spPr>
          <a:xfrm>
            <a:off x="8753383" y="2077375"/>
            <a:ext cx="1660124" cy="523220"/>
          </a:xfrm>
          <a:prstGeom prst="rect">
            <a:avLst/>
          </a:prstGeom>
          <a:noFill/>
        </p:spPr>
        <p:txBody>
          <a:bodyPr wrap="square" rtlCol="0">
            <a:spAutoFit/>
          </a:bodyPr>
          <a:lstStyle/>
          <a:p>
            <a:r>
              <a:rPr lang="en-US" sz="1400" dirty="0"/>
              <a:t>Called bootstrap samples</a:t>
            </a:r>
            <a:endParaRPr lang="en-IN" sz="1400" dirty="0"/>
          </a:p>
        </p:txBody>
      </p:sp>
      <p:sp>
        <p:nvSpPr>
          <p:cNvPr id="6" name="TextBox 5">
            <a:extLst>
              <a:ext uri="{FF2B5EF4-FFF2-40B4-BE49-F238E27FC236}">
                <a16:creationId xmlns:a16="http://schemas.microsoft.com/office/drawing/2014/main" id="{0EFD19A1-7D67-4C3F-A649-E8D316FD7BC7}"/>
              </a:ext>
            </a:extLst>
          </p:cNvPr>
          <p:cNvSpPr txBox="1"/>
          <p:nvPr/>
        </p:nvSpPr>
        <p:spPr>
          <a:xfrm>
            <a:off x="1434631" y="3059668"/>
            <a:ext cx="1997476" cy="369332"/>
          </a:xfrm>
          <a:prstGeom prst="rect">
            <a:avLst/>
          </a:prstGeom>
          <a:noFill/>
        </p:spPr>
        <p:txBody>
          <a:bodyPr wrap="square" rtlCol="0">
            <a:spAutoFit/>
          </a:bodyPr>
          <a:lstStyle/>
          <a:p>
            <a:r>
              <a:rPr lang="en-US" dirty="0"/>
              <a:t>Weak learners or</a:t>
            </a:r>
            <a:endParaRPr lang="en-IN" dirty="0"/>
          </a:p>
        </p:txBody>
      </p:sp>
      <p:sp>
        <p:nvSpPr>
          <p:cNvPr id="14" name="TextBox 13">
            <a:extLst>
              <a:ext uri="{FF2B5EF4-FFF2-40B4-BE49-F238E27FC236}">
                <a16:creationId xmlns:a16="http://schemas.microsoft.com/office/drawing/2014/main" id="{196DAE99-D233-4F7A-828A-55EB3EA8E413}"/>
              </a:ext>
            </a:extLst>
          </p:cNvPr>
          <p:cNvSpPr txBox="1"/>
          <p:nvPr/>
        </p:nvSpPr>
        <p:spPr>
          <a:xfrm>
            <a:off x="384859" y="5806576"/>
            <a:ext cx="11807141" cy="923330"/>
          </a:xfrm>
          <a:prstGeom prst="rect">
            <a:avLst/>
          </a:prstGeom>
          <a:noFill/>
        </p:spPr>
        <p:txBody>
          <a:bodyPr wrap="square">
            <a:spAutoFit/>
          </a:bodyPr>
          <a:lstStyle/>
          <a:p>
            <a:pPr algn="l">
              <a:buFont typeface="Arial" panose="020B0604020202020204" pitchFamily="34" charset="0"/>
              <a:buChar char="•"/>
            </a:pPr>
            <a:r>
              <a:rPr lang="en-US" b="1" i="0" dirty="0">
                <a:solidFill>
                  <a:srgbClr val="000000"/>
                </a:solidFill>
                <a:effectLst/>
                <a:latin typeface="Poppins"/>
              </a:rPr>
              <a:t>Parallel ensemble methods</a:t>
            </a:r>
            <a:r>
              <a:rPr lang="en-US" b="0" i="0" dirty="0">
                <a:solidFill>
                  <a:srgbClr val="000000"/>
                </a:solidFill>
                <a:effectLst/>
                <a:latin typeface="Poppins"/>
              </a:rPr>
              <a:t>: In these methods, the base learners are generated in parallel simultaneously. For example, when deciding the movie you want to watch, you may ask multiple friends for suggestions and probably watch the movie which got the highest votes.</a:t>
            </a:r>
          </a:p>
        </p:txBody>
      </p:sp>
      <p:sp>
        <p:nvSpPr>
          <p:cNvPr id="7" name="TextBox 6">
            <a:extLst>
              <a:ext uri="{FF2B5EF4-FFF2-40B4-BE49-F238E27FC236}">
                <a16:creationId xmlns:a16="http://schemas.microsoft.com/office/drawing/2014/main" id="{9DA966B0-BC05-9BFF-EDA7-893D0C993F02}"/>
              </a:ext>
            </a:extLst>
          </p:cNvPr>
          <p:cNvSpPr txBox="1"/>
          <p:nvPr/>
        </p:nvSpPr>
        <p:spPr>
          <a:xfrm>
            <a:off x="518539" y="1525928"/>
            <a:ext cx="2570101" cy="600164"/>
          </a:xfrm>
          <a:prstGeom prst="rect">
            <a:avLst/>
          </a:prstGeom>
          <a:noFill/>
        </p:spPr>
        <p:txBody>
          <a:bodyPr wrap="square">
            <a:spAutoFit/>
          </a:bodyPr>
          <a:lstStyle/>
          <a:p>
            <a:r>
              <a:rPr lang="en-US" sz="1100" b="0" i="0" dirty="0">
                <a:solidFill>
                  <a:srgbClr val="111111"/>
                </a:solidFill>
                <a:effectLst/>
                <a:latin typeface="Helvetica" panose="020B0604020202020204" pitchFamily="34" charset="0"/>
              </a:rPr>
              <a:t>Bootstrap sampling means drawing random samples from our training set with replacement</a:t>
            </a:r>
            <a:endParaRPr lang="en-IN" sz="1100" dirty="0"/>
          </a:p>
        </p:txBody>
      </p:sp>
      <p:cxnSp>
        <p:nvCxnSpPr>
          <p:cNvPr id="9" name="Straight Arrow Connector 8">
            <a:extLst>
              <a:ext uri="{FF2B5EF4-FFF2-40B4-BE49-F238E27FC236}">
                <a16:creationId xmlns:a16="http://schemas.microsoft.com/office/drawing/2014/main" id="{EDBA2CB9-4E5E-B594-4672-A0BF50AB2BDB}"/>
              </a:ext>
            </a:extLst>
          </p:cNvPr>
          <p:cNvCxnSpPr/>
          <p:nvPr/>
        </p:nvCxnSpPr>
        <p:spPr>
          <a:xfrm>
            <a:off x="2661920" y="1991360"/>
            <a:ext cx="680720" cy="3701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B9F58455-CF8C-1551-E517-88E29596894B}"/>
              </a:ext>
            </a:extLst>
          </p:cNvPr>
          <p:cNvSpPr txBox="1"/>
          <p:nvPr/>
        </p:nvSpPr>
        <p:spPr>
          <a:xfrm>
            <a:off x="7914640" y="4466079"/>
            <a:ext cx="1660124" cy="369332"/>
          </a:xfrm>
          <a:prstGeom prst="rect">
            <a:avLst/>
          </a:prstGeom>
          <a:noFill/>
        </p:spPr>
        <p:txBody>
          <a:bodyPr wrap="square" rtlCol="0">
            <a:spAutoFit/>
          </a:bodyPr>
          <a:lstStyle/>
          <a:p>
            <a:r>
              <a:rPr lang="en-IN" b="0" i="0" dirty="0">
                <a:solidFill>
                  <a:srgbClr val="111111"/>
                </a:solidFill>
                <a:effectLst/>
                <a:latin typeface="Helvetica" panose="020B0604020202020204" pitchFamily="34" charset="0"/>
              </a:rPr>
              <a:t>majority rule</a:t>
            </a:r>
            <a:endParaRPr lang="en-IN" dirty="0"/>
          </a:p>
        </p:txBody>
      </p:sp>
      <p:sp>
        <p:nvSpPr>
          <p:cNvPr id="12" name="TextBox 11">
            <a:extLst>
              <a:ext uri="{FF2B5EF4-FFF2-40B4-BE49-F238E27FC236}">
                <a16:creationId xmlns:a16="http://schemas.microsoft.com/office/drawing/2014/main" id="{6C2502F9-0A25-7849-39A8-20372B20F7C1}"/>
              </a:ext>
            </a:extLst>
          </p:cNvPr>
          <p:cNvSpPr txBox="1"/>
          <p:nvPr/>
        </p:nvSpPr>
        <p:spPr>
          <a:xfrm>
            <a:off x="6288429" y="4915023"/>
            <a:ext cx="2623142" cy="646331"/>
          </a:xfrm>
          <a:prstGeom prst="rect">
            <a:avLst/>
          </a:prstGeom>
          <a:noFill/>
        </p:spPr>
        <p:txBody>
          <a:bodyPr wrap="square">
            <a:spAutoFit/>
          </a:bodyPr>
          <a:lstStyle/>
          <a:p>
            <a:r>
              <a:rPr lang="en-US" sz="1200" b="0" i="0" dirty="0">
                <a:solidFill>
                  <a:srgbClr val="111111"/>
                </a:solidFill>
                <a:effectLst/>
                <a:highlight>
                  <a:srgbClr val="FFFF00"/>
                </a:highlight>
                <a:latin typeface="Helvetica" panose="020B0604020202020204" pitchFamily="34" charset="0"/>
              </a:rPr>
              <a:t>bagging classifier would have a lower variance (less overfitting) than an individual </a:t>
            </a:r>
            <a:r>
              <a:rPr lang="en-US" sz="1200" dirty="0">
                <a:solidFill>
                  <a:srgbClr val="111111"/>
                </a:solidFill>
                <a:highlight>
                  <a:srgbClr val="FFFF00"/>
                </a:highlight>
                <a:latin typeface="Helvetica" panose="020B0604020202020204" pitchFamily="34" charset="0"/>
              </a:rPr>
              <a:t>models</a:t>
            </a:r>
            <a:r>
              <a:rPr lang="en-US" sz="1200" b="0" i="0" dirty="0">
                <a:solidFill>
                  <a:srgbClr val="111111"/>
                </a:solidFill>
                <a:effectLst/>
                <a:highlight>
                  <a:srgbClr val="FFFF00"/>
                </a:highlight>
                <a:latin typeface="Helvetica" panose="020B0604020202020204" pitchFamily="34" charset="0"/>
              </a:rPr>
              <a:t>.</a:t>
            </a:r>
            <a:endParaRPr lang="en-IN" sz="1200" dirty="0">
              <a:highlight>
                <a:srgbClr val="FFFF00"/>
              </a:highlight>
            </a:endParaRPr>
          </a:p>
        </p:txBody>
      </p:sp>
    </p:spTree>
    <p:extLst>
      <p:ext uri="{BB962C8B-B14F-4D97-AF65-F5344CB8AC3E}">
        <p14:creationId xmlns:p14="http://schemas.microsoft.com/office/powerpoint/2010/main" val="20758627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A1BDF-FED9-0D3E-F129-A7ABBBC3C61F}"/>
              </a:ext>
            </a:extLst>
          </p:cNvPr>
          <p:cNvSpPr>
            <a:spLocks noGrp="1"/>
          </p:cNvSpPr>
          <p:nvPr>
            <p:ph type="title"/>
          </p:nvPr>
        </p:nvSpPr>
        <p:spPr/>
        <p:txBody>
          <a:bodyPr/>
          <a:lstStyle/>
          <a:p>
            <a:pPr algn="ctr"/>
            <a:r>
              <a:rPr lang="en-US" b="1" dirty="0"/>
              <a:t>Bagging</a:t>
            </a:r>
            <a:endParaRPr lang="en-IN" dirty="0"/>
          </a:p>
        </p:txBody>
      </p:sp>
      <p:pic>
        <p:nvPicPr>
          <p:cNvPr id="5" name="Content Placeholder 4">
            <a:extLst>
              <a:ext uri="{FF2B5EF4-FFF2-40B4-BE49-F238E27FC236}">
                <a16:creationId xmlns:a16="http://schemas.microsoft.com/office/drawing/2014/main" id="{1D8DF279-8D12-D492-CE14-B4EEA637170F}"/>
              </a:ext>
            </a:extLst>
          </p:cNvPr>
          <p:cNvPicPr>
            <a:picLocks noGrp="1" noChangeAspect="1"/>
          </p:cNvPicPr>
          <p:nvPr>
            <p:ph idx="1"/>
          </p:nvPr>
        </p:nvPicPr>
        <p:blipFill>
          <a:blip r:embed="rId2"/>
          <a:stretch>
            <a:fillRect/>
          </a:stretch>
        </p:blipFill>
        <p:spPr>
          <a:xfrm>
            <a:off x="2520778" y="1511901"/>
            <a:ext cx="7241083" cy="5206654"/>
          </a:xfrm>
        </p:spPr>
      </p:pic>
    </p:spTree>
    <p:extLst>
      <p:ext uri="{BB962C8B-B14F-4D97-AF65-F5344CB8AC3E}">
        <p14:creationId xmlns:p14="http://schemas.microsoft.com/office/powerpoint/2010/main" val="42786214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7E27F-5138-3CC1-EC40-1DD4E9D44563}"/>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693A3A3-7356-73BB-864C-936AE062F670}"/>
              </a:ext>
            </a:extLst>
          </p:cNvPr>
          <p:cNvPicPr>
            <a:picLocks noGrp="1" noChangeAspect="1"/>
          </p:cNvPicPr>
          <p:nvPr>
            <p:ph idx="1"/>
          </p:nvPr>
        </p:nvPicPr>
        <p:blipFill>
          <a:blip r:embed="rId2"/>
          <a:stretch>
            <a:fillRect/>
          </a:stretch>
        </p:blipFill>
        <p:spPr>
          <a:xfrm>
            <a:off x="2261287" y="795537"/>
            <a:ext cx="6672648" cy="5992756"/>
          </a:xfrm>
        </p:spPr>
      </p:pic>
    </p:spTree>
    <p:extLst>
      <p:ext uri="{BB962C8B-B14F-4D97-AF65-F5344CB8AC3E}">
        <p14:creationId xmlns:p14="http://schemas.microsoft.com/office/powerpoint/2010/main" val="3405690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6078E-F509-2CDD-4060-798DBF554E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08C030-E583-8826-1BAC-B34D65A8B0DB}"/>
              </a:ext>
            </a:extLst>
          </p:cNvPr>
          <p:cNvSpPr>
            <a:spLocks noGrp="1"/>
          </p:cNvSpPr>
          <p:nvPr>
            <p:ph idx="1"/>
          </p:nvPr>
        </p:nvSpPr>
        <p:spPr/>
        <p:txBody>
          <a:bodyPr/>
          <a:lstStyle/>
          <a:p>
            <a:r>
              <a:rPr lang="en-US" dirty="0"/>
              <a:t>One can say that individual, unpruned decision tree “have high variance” (in this context, the individual decision trees “tend to overfit”); a bagging model has a lower variance than the individual trees and is less prone to overfitting – again, bias and variance decomposition will be discussed in more detail next lecture.</a:t>
            </a:r>
          </a:p>
        </p:txBody>
      </p:sp>
    </p:spTree>
    <p:extLst>
      <p:ext uri="{BB962C8B-B14F-4D97-AF65-F5344CB8AC3E}">
        <p14:creationId xmlns:p14="http://schemas.microsoft.com/office/powerpoint/2010/main" val="30891695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698CB-8CC6-A587-AB47-798496B0EED1}"/>
              </a:ext>
            </a:extLst>
          </p:cNvPr>
          <p:cNvSpPr>
            <a:spLocks noGrp="1"/>
          </p:cNvSpPr>
          <p:nvPr>
            <p:ph type="title"/>
          </p:nvPr>
        </p:nvSpPr>
        <p:spPr/>
        <p:txBody>
          <a:bodyPr/>
          <a:lstStyle/>
          <a:p>
            <a:r>
              <a:rPr lang="en-IN" dirty="0"/>
              <a:t>Bagging</a:t>
            </a:r>
          </a:p>
        </p:txBody>
      </p:sp>
      <p:sp>
        <p:nvSpPr>
          <p:cNvPr id="3" name="Content Placeholder 2">
            <a:extLst>
              <a:ext uri="{FF2B5EF4-FFF2-40B4-BE49-F238E27FC236}">
                <a16:creationId xmlns:a16="http://schemas.microsoft.com/office/drawing/2014/main" id="{06DD0243-1917-695A-B1C1-1CCCFFCE0B4A}"/>
              </a:ext>
            </a:extLst>
          </p:cNvPr>
          <p:cNvSpPr>
            <a:spLocks noGrp="1"/>
          </p:cNvSpPr>
          <p:nvPr>
            <p:ph idx="1"/>
          </p:nvPr>
        </p:nvSpPr>
        <p:spPr/>
        <p:txBody>
          <a:bodyPr/>
          <a:lstStyle/>
          <a:p>
            <a:r>
              <a:rPr lang="en-IN" dirty="0"/>
              <a:t>Increase accuracy of models.</a:t>
            </a:r>
          </a:p>
          <a:p>
            <a:r>
              <a:rPr lang="en-IN" dirty="0"/>
              <a:t>Decrease the degree of overfitting</a:t>
            </a:r>
          </a:p>
          <a:p>
            <a:r>
              <a:rPr lang="en-IN" dirty="0"/>
              <a:t>Increase generalizability of the model</a:t>
            </a:r>
          </a:p>
          <a:p>
            <a:r>
              <a:rPr lang="en-IN" dirty="0"/>
              <a:t>Decrease the variance of the model</a:t>
            </a:r>
          </a:p>
          <a:p>
            <a:r>
              <a:rPr lang="en-IN" dirty="0"/>
              <a:t>Based on Majority vote</a:t>
            </a:r>
          </a:p>
        </p:txBody>
      </p:sp>
    </p:spTree>
    <p:extLst>
      <p:ext uri="{BB962C8B-B14F-4D97-AF65-F5344CB8AC3E}">
        <p14:creationId xmlns:p14="http://schemas.microsoft.com/office/powerpoint/2010/main" val="10248659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373E8-9742-4549-9467-0A5348758726}"/>
              </a:ext>
            </a:extLst>
          </p:cNvPr>
          <p:cNvSpPr>
            <a:spLocks noGrp="1"/>
          </p:cNvSpPr>
          <p:nvPr>
            <p:ph type="ctrTitle"/>
          </p:nvPr>
        </p:nvSpPr>
        <p:spPr/>
        <p:txBody>
          <a:bodyPr/>
          <a:lstStyle/>
          <a:p>
            <a:r>
              <a:rPr lang="en-US" dirty="0"/>
              <a:t>Boosting</a:t>
            </a:r>
            <a:br>
              <a:rPr lang="en-US" dirty="0"/>
            </a:br>
            <a:endParaRPr lang="en-IN" dirty="0"/>
          </a:p>
        </p:txBody>
      </p:sp>
      <p:sp>
        <p:nvSpPr>
          <p:cNvPr id="3" name="Subtitle 2">
            <a:extLst>
              <a:ext uri="{FF2B5EF4-FFF2-40B4-BE49-F238E27FC236}">
                <a16:creationId xmlns:a16="http://schemas.microsoft.com/office/drawing/2014/main" id="{605E3245-0F88-436E-8854-E38E4895FDBE}"/>
              </a:ext>
            </a:extLst>
          </p:cNvPr>
          <p:cNvSpPr>
            <a:spLocks noGrp="1"/>
          </p:cNvSpPr>
          <p:nvPr>
            <p:ph type="subTitle" idx="1"/>
          </p:nvPr>
        </p:nvSpPr>
        <p:spPr/>
        <p:txBody>
          <a:bodyPr/>
          <a:lstStyle/>
          <a:p>
            <a:r>
              <a:rPr lang="en-US" dirty="0"/>
              <a:t>An Ensemble method</a:t>
            </a:r>
            <a:endParaRPr lang="en-IN" dirty="0"/>
          </a:p>
        </p:txBody>
      </p:sp>
    </p:spTree>
    <p:extLst>
      <p:ext uri="{BB962C8B-B14F-4D97-AF65-F5344CB8AC3E}">
        <p14:creationId xmlns:p14="http://schemas.microsoft.com/office/powerpoint/2010/main" val="13415657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FFBB4-82A7-4D14-AB72-F695FEB59891}"/>
              </a:ext>
            </a:extLst>
          </p:cNvPr>
          <p:cNvSpPr>
            <a:spLocks noGrp="1"/>
          </p:cNvSpPr>
          <p:nvPr>
            <p:ph type="title"/>
          </p:nvPr>
        </p:nvSpPr>
        <p:spPr/>
        <p:txBody>
          <a:bodyPr/>
          <a:lstStyle/>
          <a:p>
            <a:pPr algn="ctr"/>
            <a:r>
              <a:rPr lang="en-US" b="0" i="0" dirty="0">
                <a:effectLst/>
                <a:latin typeface="Nunito Sans"/>
              </a:rPr>
              <a:t>Boosting</a:t>
            </a:r>
            <a:endParaRPr lang="en-IN" dirty="0"/>
          </a:p>
        </p:txBody>
      </p:sp>
      <p:sp>
        <p:nvSpPr>
          <p:cNvPr id="3" name="Content Placeholder 2">
            <a:extLst>
              <a:ext uri="{FF2B5EF4-FFF2-40B4-BE49-F238E27FC236}">
                <a16:creationId xmlns:a16="http://schemas.microsoft.com/office/drawing/2014/main" id="{4EF16802-4A9B-4BBE-BF67-465A6CB5F382}"/>
              </a:ext>
            </a:extLst>
          </p:cNvPr>
          <p:cNvSpPr>
            <a:spLocks noGrp="1"/>
          </p:cNvSpPr>
          <p:nvPr>
            <p:ph idx="1"/>
          </p:nvPr>
        </p:nvSpPr>
        <p:spPr/>
        <p:txBody>
          <a:bodyPr>
            <a:normAutofit/>
          </a:bodyPr>
          <a:lstStyle/>
          <a:p>
            <a:pPr algn="just"/>
            <a:r>
              <a:rPr lang="en-US" dirty="0">
                <a:solidFill>
                  <a:srgbClr val="273239"/>
                </a:solidFill>
                <a:latin typeface="urw-din"/>
              </a:rPr>
              <a:t>Boosting is primarily used to reduce the bias and variance in a supervised learning technique. It refers to the family of an algorithm that converts weak learners (base learner) to strong learners. The wea</a:t>
            </a:r>
          </a:p>
          <a:p>
            <a:pPr marL="0" indent="0" algn="just">
              <a:buNone/>
            </a:pPr>
            <a:r>
              <a:rPr lang="en-US" dirty="0">
                <a:solidFill>
                  <a:srgbClr val="273239"/>
                </a:solidFill>
                <a:latin typeface="urw-din"/>
              </a:rPr>
              <a:t>k learner is the classifiers that are correct only up to a small extent with the actual classification, while the strong learners are the classifiers that are well correlated with the actual classification. Few famous techniques of Boosting are AdaBoost, GRADIENT BOOSTING, </a:t>
            </a:r>
            <a:r>
              <a:rPr lang="en-US" dirty="0" err="1">
                <a:solidFill>
                  <a:srgbClr val="273239"/>
                </a:solidFill>
                <a:latin typeface="urw-din"/>
              </a:rPr>
              <a:t>XgBOOST</a:t>
            </a:r>
            <a:r>
              <a:rPr lang="en-US" dirty="0">
                <a:solidFill>
                  <a:srgbClr val="273239"/>
                </a:solidFill>
                <a:latin typeface="urw-din"/>
              </a:rPr>
              <a:t> (Extreme Gradient Boosting). So now we know what bagging and boosting are and what are their roles in Machine Learning.</a:t>
            </a:r>
            <a:endParaRPr lang="en-IN" dirty="0">
              <a:solidFill>
                <a:srgbClr val="273239"/>
              </a:solidFill>
              <a:latin typeface="urw-din"/>
            </a:endParaRPr>
          </a:p>
        </p:txBody>
      </p:sp>
    </p:spTree>
    <p:extLst>
      <p:ext uri="{BB962C8B-B14F-4D97-AF65-F5344CB8AC3E}">
        <p14:creationId xmlns:p14="http://schemas.microsoft.com/office/powerpoint/2010/main" val="12616007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D144C-F59A-C25C-8EE6-5CD9180FB35D}"/>
              </a:ext>
            </a:extLst>
          </p:cNvPr>
          <p:cNvSpPr>
            <a:spLocks noGrp="1"/>
          </p:cNvSpPr>
          <p:nvPr>
            <p:ph type="title"/>
          </p:nvPr>
        </p:nvSpPr>
        <p:spPr/>
        <p:txBody>
          <a:bodyPr/>
          <a:lstStyle/>
          <a:p>
            <a:r>
              <a:rPr lang="en-US" dirty="0"/>
              <a:t>Types of boosting techniques</a:t>
            </a:r>
          </a:p>
        </p:txBody>
      </p:sp>
      <p:sp>
        <p:nvSpPr>
          <p:cNvPr id="3" name="Content Placeholder 2">
            <a:extLst>
              <a:ext uri="{FF2B5EF4-FFF2-40B4-BE49-F238E27FC236}">
                <a16:creationId xmlns:a16="http://schemas.microsoft.com/office/drawing/2014/main" id="{ECCAC3AF-68ED-307C-188F-6D95E020F46C}"/>
              </a:ext>
            </a:extLst>
          </p:cNvPr>
          <p:cNvSpPr>
            <a:spLocks noGrp="1"/>
          </p:cNvSpPr>
          <p:nvPr>
            <p:ph idx="1"/>
          </p:nvPr>
        </p:nvSpPr>
        <p:spPr/>
        <p:txBody>
          <a:bodyPr/>
          <a:lstStyle/>
          <a:p>
            <a:pPr marL="514350" indent="-514350">
              <a:buAutoNum type="arabicPeriod"/>
            </a:pPr>
            <a:r>
              <a:rPr lang="en-US" dirty="0"/>
              <a:t>AdaBoost (Adaptive Boosting) </a:t>
            </a:r>
          </a:p>
          <a:p>
            <a:pPr marL="514350" indent="-514350">
              <a:buAutoNum type="arabicPeriod"/>
            </a:pPr>
            <a:r>
              <a:rPr lang="en-US" dirty="0"/>
              <a:t> Gradient Boosting</a:t>
            </a:r>
          </a:p>
          <a:p>
            <a:pPr marL="0" indent="0">
              <a:buNone/>
            </a:pPr>
            <a:r>
              <a:rPr lang="en-US" dirty="0"/>
              <a:t>3. </a:t>
            </a:r>
            <a:r>
              <a:rPr lang="en-US" dirty="0" err="1"/>
              <a:t>XGBoost</a:t>
            </a:r>
            <a:r>
              <a:rPr lang="en-US" dirty="0"/>
              <a:t>: </a:t>
            </a:r>
            <a:r>
              <a:rPr lang="en-US" b="0" i="0" dirty="0" err="1">
                <a:solidFill>
                  <a:srgbClr val="040C28"/>
                </a:solidFill>
                <a:effectLst/>
                <a:highlight>
                  <a:srgbClr val="D3E3FD"/>
                </a:highlight>
                <a:latin typeface="Google Sans"/>
              </a:rPr>
              <a:t>eXtreme</a:t>
            </a:r>
            <a:r>
              <a:rPr lang="en-US" b="0" i="0" dirty="0">
                <a:solidFill>
                  <a:srgbClr val="040C28"/>
                </a:solidFill>
                <a:effectLst/>
                <a:highlight>
                  <a:srgbClr val="D3E3FD"/>
                </a:highlight>
                <a:latin typeface="Google Sans"/>
              </a:rPr>
              <a:t> Gradient Boosting</a:t>
            </a:r>
            <a:endParaRPr lang="en-US" dirty="0"/>
          </a:p>
        </p:txBody>
      </p:sp>
    </p:spTree>
    <p:extLst>
      <p:ext uri="{BB962C8B-B14F-4D97-AF65-F5344CB8AC3E}">
        <p14:creationId xmlns:p14="http://schemas.microsoft.com/office/powerpoint/2010/main" val="15521125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D5F98-FDDB-E3D6-A159-63B1CEA9556E}"/>
              </a:ext>
            </a:extLst>
          </p:cNvPr>
          <p:cNvSpPr>
            <a:spLocks noGrp="1"/>
          </p:cNvSpPr>
          <p:nvPr>
            <p:ph type="title"/>
          </p:nvPr>
        </p:nvSpPr>
        <p:spPr/>
        <p:txBody>
          <a:bodyPr/>
          <a:lstStyle/>
          <a:p>
            <a:r>
              <a:rPr lang="en-US" dirty="0"/>
              <a:t>Boosting</a:t>
            </a:r>
          </a:p>
        </p:txBody>
      </p:sp>
      <p:pic>
        <p:nvPicPr>
          <p:cNvPr id="5" name="Content Placeholder 4">
            <a:extLst>
              <a:ext uri="{FF2B5EF4-FFF2-40B4-BE49-F238E27FC236}">
                <a16:creationId xmlns:a16="http://schemas.microsoft.com/office/drawing/2014/main" id="{16E68959-D743-91E4-C119-D0B060D9015E}"/>
              </a:ext>
            </a:extLst>
          </p:cNvPr>
          <p:cNvPicPr>
            <a:picLocks noGrp="1" noChangeAspect="1"/>
          </p:cNvPicPr>
          <p:nvPr>
            <p:ph idx="1"/>
          </p:nvPr>
        </p:nvPicPr>
        <p:blipFill>
          <a:blip r:embed="rId2"/>
          <a:stretch>
            <a:fillRect/>
          </a:stretch>
        </p:blipFill>
        <p:spPr>
          <a:xfrm>
            <a:off x="1131959" y="1791730"/>
            <a:ext cx="8304278" cy="4280922"/>
          </a:xfrm>
        </p:spPr>
      </p:pic>
    </p:spTree>
    <p:extLst>
      <p:ext uri="{BB962C8B-B14F-4D97-AF65-F5344CB8AC3E}">
        <p14:creationId xmlns:p14="http://schemas.microsoft.com/office/powerpoint/2010/main" val="27832656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CDADE-11FA-203D-1896-7AA072AD06B5}"/>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9D5AB275-AE59-0DD2-E997-51E52CBFF2E1}"/>
              </a:ext>
            </a:extLst>
          </p:cNvPr>
          <p:cNvPicPr>
            <a:picLocks noChangeAspect="1"/>
          </p:cNvPicPr>
          <p:nvPr/>
        </p:nvPicPr>
        <p:blipFill>
          <a:blip r:embed="rId3"/>
          <a:stretch>
            <a:fillRect/>
          </a:stretch>
        </p:blipFill>
        <p:spPr>
          <a:xfrm>
            <a:off x="1588379" y="1763885"/>
            <a:ext cx="9015241" cy="3330229"/>
          </a:xfrm>
          <a:prstGeom prst="rect">
            <a:avLst/>
          </a:prstGeom>
        </p:spPr>
      </p:pic>
      <p:sp>
        <p:nvSpPr>
          <p:cNvPr id="7" name="Content Placeholder 6">
            <a:extLst>
              <a:ext uri="{FF2B5EF4-FFF2-40B4-BE49-F238E27FC236}">
                <a16:creationId xmlns:a16="http://schemas.microsoft.com/office/drawing/2014/main" id="{E3AD4CCF-8D05-97D8-7CAD-3F1517F5FCE7}"/>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4583031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B5635-0263-445A-82C9-21294C0FA2D9}"/>
              </a:ext>
            </a:extLst>
          </p:cNvPr>
          <p:cNvSpPr>
            <a:spLocks noGrp="1"/>
          </p:cNvSpPr>
          <p:nvPr>
            <p:ph type="title"/>
          </p:nvPr>
        </p:nvSpPr>
        <p:spPr>
          <a:xfrm>
            <a:off x="805001" y="56097"/>
            <a:ext cx="10515600" cy="1325563"/>
          </a:xfrm>
        </p:spPr>
        <p:txBody>
          <a:bodyPr/>
          <a:lstStyle/>
          <a:p>
            <a:pPr algn="ctr"/>
            <a:r>
              <a:rPr lang="en-US" b="1" dirty="0">
                <a:ln w="22225">
                  <a:solidFill>
                    <a:schemeClr val="accent2"/>
                  </a:solidFill>
                  <a:prstDash val="solid"/>
                </a:ln>
                <a:solidFill>
                  <a:schemeClr val="accent2">
                    <a:lumMod val="40000"/>
                    <a:lumOff val="60000"/>
                  </a:schemeClr>
                </a:solidFill>
              </a:rPr>
              <a:t>Boosting</a:t>
            </a:r>
            <a:endParaRPr lang="en-IN" b="1" dirty="0">
              <a:ln w="22225">
                <a:solidFill>
                  <a:schemeClr val="accent2"/>
                </a:solidFill>
                <a:prstDash val="solid"/>
              </a:ln>
              <a:solidFill>
                <a:schemeClr val="accent2">
                  <a:lumMod val="40000"/>
                  <a:lumOff val="60000"/>
                </a:schemeClr>
              </a:solidFill>
            </a:endParaRPr>
          </a:p>
        </p:txBody>
      </p:sp>
      <p:graphicFrame>
        <p:nvGraphicFramePr>
          <p:cNvPr id="4" name="Table 4">
            <a:extLst>
              <a:ext uri="{FF2B5EF4-FFF2-40B4-BE49-F238E27FC236}">
                <a16:creationId xmlns:a16="http://schemas.microsoft.com/office/drawing/2014/main" id="{B2358324-6BF2-44AB-8605-5F953858E74F}"/>
              </a:ext>
            </a:extLst>
          </p:cNvPr>
          <p:cNvGraphicFramePr>
            <a:graphicFrameLocks noGrp="1"/>
          </p:cNvGraphicFramePr>
          <p:nvPr>
            <p:ph idx="1"/>
            <p:extLst>
              <p:ext uri="{D42A27DB-BD31-4B8C-83A1-F6EECF244321}">
                <p14:modId xmlns:p14="http://schemas.microsoft.com/office/powerpoint/2010/main" val="2304449863"/>
              </p:ext>
            </p:extLst>
          </p:nvPr>
        </p:nvGraphicFramePr>
        <p:xfrm>
          <a:off x="838200" y="1435100"/>
          <a:ext cx="706515" cy="4450080"/>
        </p:xfrm>
        <a:graphic>
          <a:graphicData uri="http://schemas.openxmlformats.org/drawingml/2006/table">
            <a:tbl>
              <a:tblPr firstRow="1" bandRow="1">
                <a:tableStyleId>{5940675A-B579-460E-94D1-54222C63F5DA}</a:tableStyleId>
              </a:tblPr>
              <a:tblGrid>
                <a:gridCol w="706515">
                  <a:extLst>
                    <a:ext uri="{9D8B030D-6E8A-4147-A177-3AD203B41FA5}">
                      <a16:colId xmlns:a16="http://schemas.microsoft.com/office/drawing/2014/main" val="2612297086"/>
                    </a:ext>
                  </a:extLst>
                </a:gridCol>
              </a:tblGrid>
              <a:tr h="370840">
                <a:tc>
                  <a:txBody>
                    <a:bodyPr/>
                    <a:lstStyle/>
                    <a:p>
                      <a:r>
                        <a:rPr lang="en-US" dirty="0"/>
                        <a:t>1</a:t>
                      </a:r>
                      <a:endParaRPr lang="en-IN" dirty="0"/>
                    </a:p>
                  </a:txBody>
                  <a:tcPr/>
                </a:tc>
                <a:extLst>
                  <a:ext uri="{0D108BD9-81ED-4DB2-BD59-A6C34878D82A}">
                    <a16:rowId xmlns:a16="http://schemas.microsoft.com/office/drawing/2014/main" val="1423492141"/>
                  </a:ext>
                </a:extLst>
              </a:tr>
              <a:tr h="370840">
                <a:tc>
                  <a:txBody>
                    <a:bodyPr/>
                    <a:lstStyle/>
                    <a:p>
                      <a:r>
                        <a:rPr lang="en-US" dirty="0"/>
                        <a:t>2</a:t>
                      </a:r>
                      <a:endParaRPr lang="en-IN" dirty="0"/>
                    </a:p>
                  </a:txBody>
                  <a:tcPr/>
                </a:tc>
                <a:extLst>
                  <a:ext uri="{0D108BD9-81ED-4DB2-BD59-A6C34878D82A}">
                    <a16:rowId xmlns:a16="http://schemas.microsoft.com/office/drawing/2014/main" val="1364772561"/>
                  </a:ext>
                </a:extLst>
              </a:tr>
              <a:tr h="370840">
                <a:tc>
                  <a:txBody>
                    <a:bodyPr/>
                    <a:lstStyle/>
                    <a:p>
                      <a:r>
                        <a:rPr lang="en-US" dirty="0"/>
                        <a:t>3</a:t>
                      </a:r>
                      <a:endParaRPr lang="en-IN" dirty="0"/>
                    </a:p>
                  </a:txBody>
                  <a:tcPr/>
                </a:tc>
                <a:extLst>
                  <a:ext uri="{0D108BD9-81ED-4DB2-BD59-A6C34878D82A}">
                    <a16:rowId xmlns:a16="http://schemas.microsoft.com/office/drawing/2014/main" val="2188469277"/>
                  </a:ext>
                </a:extLst>
              </a:tr>
              <a:tr h="370840">
                <a:tc>
                  <a:txBody>
                    <a:bodyPr/>
                    <a:lstStyle/>
                    <a:p>
                      <a:r>
                        <a:rPr lang="en-US" dirty="0"/>
                        <a:t>4</a:t>
                      </a:r>
                      <a:endParaRPr lang="en-IN" dirty="0"/>
                    </a:p>
                  </a:txBody>
                  <a:tcPr/>
                </a:tc>
                <a:extLst>
                  <a:ext uri="{0D108BD9-81ED-4DB2-BD59-A6C34878D82A}">
                    <a16:rowId xmlns:a16="http://schemas.microsoft.com/office/drawing/2014/main" val="2023062089"/>
                  </a:ext>
                </a:extLst>
              </a:tr>
              <a:tr h="370840">
                <a:tc>
                  <a:txBody>
                    <a:bodyPr/>
                    <a:lstStyle/>
                    <a:p>
                      <a:r>
                        <a:rPr lang="en-US" dirty="0"/>
                        <a:t>5</a:t>
                      </a:r>
                      <a:endParaRPr lang="en-IN" dirty="0"/>
                    </a:p>
                  </a:txBody>
                  <a:tcPr/>
                </a:tc>
                <a:extLst>
                  <a:ext uri="{0D108BD9-81ED-4DB2-BD59-A6C34878D82A}">
                    <a16:rowId xmlns:a16="http://schemas.microsoft.com/office/drawing/2014/main" val="2753174461"/>
                  </a:ext>
                </a:extLst>
              </a:tr>
              <a:tr h="370840">
                <a:tc>
                  <a:txBody>
                    <a:bodyPr/>
                    <a:lstStyle/>
                    <a:p>
                      <a:r>
                        <a:rPr lang="en-US" dirty="0"/>
                        <a:t>6</a:t>
                      </a:r>
                      <a:endParaRPr lang="en-IN" dirty="0"/>
                    </a:p>
                  </a:txBody>
                  <a:tcPr/>
                </a:tc>
                <a:extLst>
                  <a:ext uri="{0D108BD9-81ED-4DB2-BD59-A6C34878D82A}">
                    <a16:rowId xmlns:a16="http://schemas.microsoft.com/office/drawing/2014/main" val="3200607339"/>
                  </a:ext>
                </a:extLst>
              </a:tr>
              <a:tr h="370840">
                <a:tc>
                  <a:txBody>
                    <a:bodyPr/>
                    <a:lstStyle/>
                    <a:p>
                      <a:r>
                        <a:rPr lang="en-US" dirty="0"/>
                        <a:t>7</a:t>
                      </a:r>
                      <a:endParaRPr lang="en-IN" dirty="0"/>
                    </a:p>
                  </a:txBody>
                  <a:tcPr/>
                </a:tc>
                <a:extLst>
                  <a:ext uri="{0D108BD9-81ED-4DB2-BD59-A6C34878D82A}">
                    <a16:rowId xmlns:a16="http://schemas.microsoft.com/office/drawing/2014/main" val="433801940"/>
                  </a:ext>
                </a:extLst>
              </a:tr>
              <a:tr h="370840">
                <a:tc>
                  <a:txBody>
                    <a:bodyPr/>
                    <a:lstStyle/>
                    <a:p>
                      <a:r>
                        <a:rPr lang="en-US" dirty="0"/>
                        <a:t>8</a:t>
                      </a:r>
                      <a:endParaRPr lang="en-IN" dirty="0"/>
                    </a:p>
                  </a:txBody>
                  <a:tcPr/>
                </a:tc>
                <a:extLst>
                  <a:ext uri="{0D108BD9-81ED-4DB2-BD59-A6C34878D82A}">
                    <a16:rowId xmlns:a16="http://schemas.microsoft.com/office/drawing/2014/main" val="2314222695"/>
                  </a:ext>
                </a:extLst>
              </a:tr>
              <a:tr h="370840">
                <a:tc>
                  <a:txBody>
                    <a:bodyPr/>
                    <a:lstStyle/>
                    <a:p>
                      <a:r>
                        <a:rPr lang="en-US" dirty="0"/>
                        <a:t>9</a:t>
                      </a:r>
                      <a:endParaRPr lang="en-IN" dirty="0"/>
                    </a:p>
                  </a:txBody>
                  <a:tcPr/>
                </a:tc>
                <a:extLst>
                  <a:ext uri="{0D108BD9-81ED-4DB2-BD59-A6C34878D82A}">
                    <a16:rowId xmlns:a16="http://schemas.microsoft.com/office/drawing/2014/main" val="1624175668"/>
                  </a:ext>
                </a:extLst>
              </a:tr>
              <a:tr h="370840">
                <a:tc>
                  <a:txBody>
                    <a:bodyPr/>
                    <a:lstStyle/>
                    <a:p>
                      <a:r>
                        <a:rPr lang="en-US" dirty="0"/>
                        <a:t>.</a:t>
                      </a:r>
                      <a:endParaRPr lang="en-IN" dirty="0"/>
                    </a:p>
                  </a:txBody>
                  <a:tcPr/>
                </a:tc>
                <a:extLst>
                  <a:ext uri="{0D108BD9-81ED-4DB2-BD59-A6C34878D82A}">
                    <a16:rowId xmlns:a16="http://schemas.microsoft.com/office/drawing/2014/main" val="4280036389"/>
                  </a:ext>
                </a:extLst>
              </a:tr>
              <a:tr h="370840">
                <a:tc>
                  <a:txBody>
                    <a:bodyPr/>
                    <a:lstStyle/>
                    <a:p>
                      <a:r>
                        <a:rPr lang="en-US" dirty="0"/>
                        <a:t>.</a:t>
                      </a:r>
                      <a:endParaRPr lang="en-IN" dirty="0"/>
                    </a:p>
                  </a:txBody>
                  <a:tcPr/>
                </a:tc>
                <a:extLst>
                  <a:ext uri="{0D108BD9-81ED-4DB2-BD59-A6C34878D82A}">
                    <a16:rowId xmlns:a16="http://schemas.microsoft.com/office/drawing/2014/main" val="304141212"/>
                  </a:ext>
                </a:extLst>
              </a:tr>
              <a:tr h="370840">
                <a:tc>
                  <a:txBody>
                    <a:bodyPr/>
                    <a:lstStyle/>
                    <a:p>
                      <a:r>
                        <a:rPr lang="en-US" dirty="0"/>
                        <a:t>n</a:t>
                      </a:r>
                      <a:endParaRPr lang="en-IN" dirty="0"/>
                    </a:p>
                  </a:txBody>
                  <a:tcPr/>
                </a:tc>
                <a:extLst>
                  <a:ext uri="{0D108BD9-81ED-4DB2-BD59-A6C34878D82A}">
                    <a16:rowId xmlns:a16="http://schemas.microsoft.com/office/drawing/2014/main" val="3289891281"/>
                  </a:ext>
                </a:extLst>
              </a:tr>
            </a:tbl>
          </a:graphicData>
        </a:graphic>
      </p:graphicFrame>
      <p:graphicFrame>
        <p:nvGraphicFramePr>
          <p:cNvPr id="6" name="Table 6">
            <a:extLst>
              <a:ext uri="{FF2B5EF4-FFF2-40B4-BE49-F238E27FC236}">
                <a16:creationId xmlns:a16="http://schemas.microsoft.com/office/drawing/2014/main" id="{4935B067-7AFB-42CD-A95E-67D1C140AB43}"/>
              </a:ext>
            </a:extLst>
          </p:cNvPr>
          <p:cNvGraphicFramePr>
            <a:graphicFrameLocks noGrp="1"/>
          </p:cNvGraphicFramePr>
          <p:nvPr>
            <p:extLst>
              <p:ext uri="{D42A27DB-BD31-4B8C-83A1-F6EECF244321}">
                <p14:modId xmlns:p14="http://schemas.microsoft.com/office/powerpoint/2010/main" val="113482618"/>
              </p:ext>
            </p:extLst>
          </p:nvPr>
        </p:nvGraphicFramePr>
        <p:xfrm>
          <a:off x="2828401" y="1722935"/>
          <a:ext cx="706515" cy="2139832"/>
        </p:xfrm>
        <a:graphic>
          <a:graphicData uri="http://schemas.openxmlformats.org/drawingml/2006/table">
            <a:tbl>
              <a:tblPr firstRow="1" bandRow="1">
                <a:tableStyleId>{5940675A-B579-460E-94D1-54222C63F5DA}</a:tableStyleId>
              </a:tblPr>
              <a:tblGrid>
                <a:gridCol w="706515">
                  <a:extLst>
                    <a:ext uri="{9D8B030D-6E8A-4147-A177-3AD203B41FA5}">
                      <a16:colId xmlns:a16="http://schemas.microsoft.com/office/drawing/2014/main" val="1437213325"/>
                    </a:ext>
                  </a:extLst>
                </a:gridCol>
              </a:tblGrid>
              <a:tr h="370840">
                <a:tc>
                  <a:txBody>
                    <a:bodyPr/>
                    <a:lstStyle/>
                    <a:p>
                      <a:pPr algn="ctr"/>
                      <a:r>
                        <a:rPr lang="en-US" dirty="0"/>
                        <a:t>1</a:t>
                      </a:r>
                      <a:endParaRPr lang="en-IN" dirty="0"/>
                    </a:p>
                  </a:txBody>
                  <a:tcPr/>
                </a:tc>
                <a:extLst>
                  <a:ext uri="{0D108BD9-81ED-4DB2-BD59-A6C34878D82A}">
                    <a16:rowId xmlns:a16="http://schemas.microsoft.com/office/drawing/2014/main" val="3971030515"/>
                  </a:ext>
                </a:extLst>
              </a:tr>
              <a:tr h="370840">
                <a:tc>
                  <a:txBody>
                    <a:bodyPr/>
                    <a:lstStyle/>
                    <a:p>
                      <a:pPr algn="ctr"/>
                      <a:r>
                        <a:rPr lang="en-US" dirty="0"/>
                        <a:t>3</a:t>
                      </a:r>
                      <a:endParaRPr lang="en-IN" dirty="0"/>
                    </a:p>
                  </a:txBody>
                  <a:tcPr/>
                </a:tc>
                <a:extLst>
                  <a:ext uri="{0D108BD9-81ED-4DB2-BD59-A6C34878D82A}">
                    <a16:rowId xmlns:a16="http://schemas.microsoft.com/office/drawing/2014/main" val="2108603769"/>
                  </a:ext>
                </a:extLst>
              </a:tr>
              <a:tr h="370840">
                <a:tc>
                  <a:txBody>
                    <a:bodyPr/>
                    <a:lstStyle/>
                    <a:p>
                      <a:pPr algn="ctr"/>
                      <a:r>
                        <a:rPr lang="en-US" dirty="0"/>
                        <a:t>6</a:t>
                      </a:r>
                      <a:endParaRPr lang="en-IN" dirty="0"/>
                    </a:p>
                  </a:txBody>
                  <a:tcPr/>
                </a:tc>
                <a:extLst>
                  <a:ext uri="{0D108BD9-81ED-4DB2-BD59-A6C34878D82A}">
                    <a16:rowId xmlns:a16="http://schemas.microsoft.com/office/drawing/2014/main" val="2225884502"/>
                  </a:ext>
                </a:extLst>
              </a:tr>
              <a:tr h="387232">
                <a:tc>
                  <a:txBody>
                    <a:bodyPr/>
                    <a:lstStyle/>
                    <a:p>
                      <a:pPr algn="ctr"/>
                      <a:r>
                        <a:rPr lang="en-US" dirty="0"/>
                        <a:t>7</a:t>
                      </a:r>
                      <a:endParaRPr lang="en-IN" dirty="0"/>
                    </a:p>
                  </a:txBody>
                  <a:tcPr/>
                </a:tc>
                <a:extLst>
                  <a:ext uri="{0D108BD9-81ED-4DB2-BD59-A6C34878D82A}">
                    <a16:rowId xmlns:a16="http://schemas.microsoft.com/office/drawing/2014/main" val="2819341165"/>
                  </a:ext>
                </a:extLst>
              </a:tr>
              <a:tr h="370840">
                <a:tc>
                  <a:txBody>
                    <a:bodyPr/>
                    <a:lstStyle/>
                    <a:p>
                      <a:pPr algn="ctr"/>
                      <a:r>
                        <a:rPr lang="en-US" dirty="0"/>
                        <a:t>9</a:t>
                      </a:r>
                    </a:p>
                    <a:p>
                      <a:pPr algn="ctr"/>
                      <a:r>
                        <a:rPr lang="en-US" dirty="0"/>
                        <a:t> :</a:t>
                      </a:r>
                      <a:endParaRPr lang="en-IN" dirty="0"/>
                    </a:p>
                  </a:txBody>
                  <a:tcPr/>
                </a:tc>
                <a:extLst>
                  <a:ext uri="{0D108BD9-81ED-4DB2-BD59-A6C34878D82A}">
                    <a16:rowId xmlns:a16="http://schemas.microsoft.com/office/drawing/2014/main" val="3500762478"/>
                  </a:ext>
                </a:extLst>
              </a:tr>
            </a:tbl>
          </a:graphicData>
        </a:graphic>
      </p:graphicFrame>
      <p:graphicFrame>
        <p:nvGraphicFramePr>
          <p:cNvPr id="7" name="Table 6">
            <a:extLst>
              <a:ext uri="{FF2B5EF4-FFF2-40B4-BE49-F238E27FC236}">
                <a16:creationId xmlns:a16="http://schemas.microsoft.com/office/drawing/2014/main" id="{77BA2C9A-5C53-48E7-A3C5-6F84992F797F}"/>
              </a:ext>
            </a:extLst>
          </p:cNvPr>
          <p:cNvGraphicFramePr>
            <a:graphicFrameLocks noGrp="1"/>
          </p:cNvGraphicFramePr>
          <p:nvPr>
            <p:extLst>
              <p:ext uri="{D42A27DB-BD31-4B8C-83A1-F6EECF244321}">
                <p14:modId xmlns:p14="http://schemas.microsoft.com/office/powerpoint/2010/main" val="3232738463"/>
              </p:ext>
            </p:extLst>
          </p:nvPr>
        </p:nvGraphicFramePr>
        <p:xfrm>
          <a:off x="4153948" y="1748779"/>
          <a:ext cx="706515" cy="2123440"/>
        </p:xfrm>
        <a:graphic>
          <a:graphicData uri="http://schemas.openxmlformats.org/drawingml/2006/table">
            <a:tbl>
              <a:tblPr firstRow="1" bandRow="1">
                <a:tableStyleId>{5940675A-B579-460E-94D1-54222C63F5DA}</a:tableStyleId>
              </a:tblPr>
              <a:tblGrid>
                <a:gridCol w="706515">
                  <a:extLst>
                    <a:ext uri="{9D8B030D-6E8A-4147-A177-3AD203B41FA5}">
                      <a16:colId xmlns:a16="http://schemas.microsoft.com/office/drawing/2014/main" val="1437213325"/>
                    </a:ext>
                  </a:extLst>
                </a:gridCol>
              </a:tblGrid>
              <a:tr h="370840">
                <a:tc>
                  <a:txBody>
                    <a:bodyPr/>
                    <a:lstStyle/>
                    <a:p>
                      <a:pPr algn="ctr"/>
                      <a:r>
                        <a:rPr lang="en-US" dirty="0"/>
                        <a:t>4</a:t>
                      </a:r>
                      <a:endParaRPr lang="en-IN" dirty="0"/>
                    </a:p>
                  </a:txBody>
                  <a:tcPr/>
                </a:tc>
                <a:extLst>
                  <a:ext uri="{0D108BD9-81ED-4DB2-BD59-A6C34878D82A}">
                    <a16:rowId xmlns:a16="http://schemas.microsoft.com/office/drawing/2014/main" val="3971030515"/>
                  </a:ext>
                </a:extLst>
              </a:tr>
              <a:tr h="370840">
                <a:tc>
                  <a:txBody>
                    <a:bodyPr/>
                    <a:lstStyle/>
                    <a:p>
                      <a:pPr algn="ctr"/>
                      <a:r>
                        <a:rPr lang="en-US" dirty="0"/>
                        <a:t>6</a:t>
                      </a:r>
                      <a:endParaRPr lang="en-IN" dirty="0"/>
                    </a:p>
                  </a:txBody>
                  <a:tcPr/>
                </a:tc>
                <a:extLst>
                  <a:ext uri="{0D108BD9-81ED-4DB2-BD59-A6C34878D82A}">
                    <a16:rowId xmlns:a16="http://schemas.microsoft.com/office/drawing/2014/main" val="2108603769"/>
                  </a:ext>
                </a:extLst>
              </a:tr>
              <a:tr h="370840">
                <a:tc>
                  <a:txBody>
                    <a:bodyPr/>
                    <a:lstStyle/>
                    <a:p>
                      <a:pPr algn="ctr"/>
                      <a:r>
                        <a:rPr lang="en-US" dirty="0"/>
                        <a:t>7</a:t>
                      </a:r>
                      <a:endParaRPr lang="en-IN" dirty="0"/>
                    </a:p>
                  </a:txBody>
                  <a:tcPr/>
                </a:tc>
                <a:extLst>
                  <a:ext uri="{0D108BD9-81ED-4DB2-BD59-A6C34878D82A}">
                    <a16:rowId xmlns:a16="http://schemas.microsoft.com/office/drawing/2014/main" val="2225884502"/>
                  </a:ext>
                </a:extLst>
              </a:tr>
              <a:tr h="370840">
                <a:tc>
                  <a:txBody>
                    <a:bodyPr/>
                    <a:lstStyle/>
                    <a:p>
                      <a:pPr algn="ctr"/>
                      <a:r>
                        <a:rPr lang="en-US" dirty="0"/>
                        <a:t>3</a:t>
                      </a:r>
                      <a:endParaRPr lang="en-IN" dirty="0"/>
                    </a:p>
                  </a:txBody>
                  <a:tcPr/>
                </a:tc>
                <a:extLst>
                  <a:ext uri="{0D108BD9-81ED-4DB2-BD59-A6C34878D82A}">
                    <a16:rowId xmlns:a16="http://schemas.microsoft.com/office/drawing/2014/main" val="2819341165"/>
                  </a:ext>
                </a:extLst>
              </a:tr>
              <a:tr h="370840">
                <a:tc>
                  <a:txBody>
                    <a:bodyPr/>
                    <a:lstStyle/>
                    <a:p>
                      <a:pPr algn="ctr"/>
                      <a:r>
                        <a:rPr lang="en-US" dirty="0"/>
                        <a:t>7</a:t>
                      </a:r>
                    </a:p>
                    <a:p>
                      <a:pPr algn="ctr"/>
                      <a:r>
                        <a:rPr lang="en-US" dirty="0"/>
                        <a:t>:</a:t>
                      </a:r>
                      <a:endParaRPr lang="en-IN" dirty="0"/>
                    </a:p>
                  </a:txBody>
                  <a:tcPr/>
                </a:tc>
                <a:extLst>
                  <a:ext uri="{0D108BD9-81ED-4DB2-BD59-A6C34878D82A}">
                    <a16:rowId xmlns:a16="http://schemas.microsoft.com/office/drawing/2014/main" val="3500762478"/>
                  </a:ext>
                </a:extLst>
              </a:tr>
            </a:tbl>
          </a:graphicData>
        </a:graphic>
      </p:graphicFrame>
      <p:graphicFrame>
        <p:nvGraphicFramePr>
          <p:cNvPr id="8" name="Table 6">
            <a:extLst>
              <a:ext uri="{FF2B5EF4-FFF2-40B4-BE49-F238E27FC236}">
                <a16:creationId xmlns:a16="http://schemas.microsoft.com/office/drawing/2014/main" id="{967D9BE8-725D-4BBC-9C8A-3460D5053B39}"/>
              </a:ext>
            </a:extLst>
          </p:cNvPr>
          <p:cNvGraphicFramePr>
            <a:graphicFrameLocks noGrp="1"/>
          </p:cNvGraphicFramePr>
          <p:nvPr>
            <p:extLst>
              <p:ext uri="{D42A27DB-BD31-4B8C-83A1-F6EECF244321}">
                <p14:modId xmlns:p14="http://schemas.microsoft.com/office/powerpoint/2010/main" val="1375227587"/>
              </p:ext>
            </p:extLst>
          </p:nvPr>
        </p:nvGraphicFramePr>
        <p:xfrm>
          <a:off x="5517714" y="1722935"/>
          <a:ext cx="706515" cy="2225040"/>
        </p:xfrm>
        <a:graphic>
          <a:graphicData uri="http://schemas.openxmlformats.org/drawingml/2006/table">
            <a:tbl>
              <a:tblPr firstRow="1" bandRow="1">
                <a:tableStyleId>{5940675A-B579-460E-94D1-54222C63F5DA}</a:tableStyleId>
              </a:tblPr>
              <a:tblGrid>
                <a:gridCol w="706515">
                  <a:extLst>
                    <a:ext uri="{9D8B030D-6E8A-4147-A177-3AD203B41FA5}">
                      <a16:colId xmlns:a16="http://schemas.microsoft.com/office/drawing/2014/main" val="1437213325"/>
                    </a:ext>
                  </a:extLst>
                </a:gridCol>
              </a:tblGrid>
              <a:tr h="370840">
                <a:tc>
                  <a:txBody>
                    <a:bodyPr/>
                    <a:lstStyle/>
                    <a:p>
                      <a:endParaRPr lang="en-IN" dirty="0"/>
                    </a:p>
                  </a:txBody>
                  <a:tcPr/>
                </a:tc>
                <a:extLst>
                  <a:ext uri="{0D108BD9-81ED-4DB2-BD59-A6C34878D82A}">
                    <a16:rowId xmlns:a16="http://schemas.microsoft.com/office/drawing/2014/main" val="3971030515"/>
                  </a:ext>
                </a:extLst>
              </a:tr>
              <a:tr h="370840">
                <a:tc>
                  <a:txBody>
                    <a:bodyPr/>
                    <a:lstStyle/>
                    <a:p>
                      <a:endParaRPr lang="en-IN"/>
                    </a:p>
                  </a:txBody>
                  <a:tcPr/>
                </a:tc>
                <a:extLst>
                  <a:ext uri="{0D108BD9-81ED-4DB2-BD59-A6C34878D82A}">
                    <a16:rowId xmlns:a16="http://schemas.microsoft.com/office/drawing/2014/main" val="2108603769"/>
                  </a:ext>
                </a:extLst>
              </a:tr>
              <a:tr h="370840">
                <a:tc>
                  <a:txBody>
                    <a:bodyPr/>
                    <a:lstStyle/>
                    <a:p>
                      <a:endParaRPr lang="en-IN"/>
                    </a:p>
                  </a:txBody>
                  <a:tcPr/>
                </a:tc>
                <a:extLst>
                  <a:ext uri="{0D108BD9-81ED-4DB2-BD59-A6C34878D82A}">
                    <a16:rowId xmlns:a16="http://schemas.microsoft.com/office/drawing/2014/main" val="2225884502"/>
                  </a:ext>
                </a:extLst>
              </a:tr>
              <a:tr h="370840">
                <a:tc>
                  <a:txBody>
                    <a:bodyPr/>
                    <a:lstStyle/>
                    <a:p>
                      <a:endParaRPr lang="en-IN"/>
                    </a:p>
                  </a:txBody>
                  <a:tcPr/>
                </a:tc>
                <a:extLst>
                  <a:ext uri="{0D108BD9-81ED-4DB2-BD59-A6C34878D82A}">
                    <a16:rowId xmlns:a16="http://schemas.microsoft.com/office/drawing/2014/main" val="2819341165"/>
                  </a:ext>
                </a:extLst>
              </a:tr>
              <a:tr h="370840">
                <a:tc>
                  <a:txBody>
                    <a:bodyPr/>
                    <a:lstStyle/>
                    <a:p>
                      <a:endParaRPr lang="en-IN" dirty="0"/>
                    </a:p>
                  </a:txBody>
                  <a:tcPr/>
                </a:tc>
                <a:extLst>
                  <a:ext uri="{0D108BD9-81ED-4DB2-BD59-A6C34878D82A}">
                    <a16:rowId xmlns:a16="http://schemas.microsoft.com/office/drawing/2014/main" val="3500762478"/>
                  </a:ext>
                </a:extLst>
              </a:tr>
              <a:tr h="370840">
                <a:tc>
                  <a:txBody>
                    <a:bodyPr/>
                    <a:lstStyle/>
                    <a:p>
                      <a:r>
                        <a:rPr lang="en-IN" dirty="0"/>
                        <a:t>   :</a:t>
                      </a:r>
                    </a:p>
                  </a:txBody>
                  <a:tcPr/>
                </a:tc>
                <a:extLst>
                  <a:ext uri="{0D108BD9-81ED-4DB2-BD59-A6C34878D82A}">
                    <a16:rowId xmlns:a16="http://schemas.microsoft.com/office/drawing/2014/main" val="3693955992"/>
                  </a:ext>
                </a:extLst>
              </a:tr>
            </a:tbl>
          </a:graphicData>
        </a:graphic>
      </p:graphicFrame>
      <mc:AlternateContent xmlns:mc="http://schemas.openxmlformats.org/markup-compatibility/2006" xmlns:a14="http://schemas.microsoft.com/office/drawing/2010/main">
        <mc:Choice Requires="a14">
          <p:graphicFrame>
            <p:nvGraphicFramePr>
              <p:cNvPr id="9" name="Table 4">
                <a:extLst>
                  <a:ext uri="{FF2B5EF4-FFF2-40B4-BE49-F238E27FC236}">
                    <a16:creationId xmlns:a16="http://schemas.microsoft.com/office/drawing/2014/main" id="{35329B4A-8A93-4C68-B32B-AB36D74C8A86}"/>
                  </a:ext>
                </a:extLst>
              </p:cNvPr>
              <p:cNvGraphicFramePr>
                <a:graphicFrameLocks/>
              </p:cNvGraphicFramePr>
              <p:nvPr>
                <p:extLst>
                  <p:ext uri="{D42A27DB-BD31-4B8C-83A1-F6EECF244321}">
                    <p14:modId xmlns:p14="http://schemas.microsoft.com/office/powerpoint/2010/main" val="1565964226"/>
                  </p:ext>
                </p:extLst>
              </p:nvPr>
            </p:nvGraphicFramePr>
            <p:xfrm>
              <a:off x="1349037" y="1435100"/>
              <a:ext cx="706515" cy="4450080"/>
            </p:xfrm>
            <a:graphic>
              <a:graphicData uri="http://schemas.openxmlformats.org/drawingml/2006/table">
                <a:tbl>
                  <a:tblPr firstRow="1" bandRow="1">
                    <a:tableStyleId>{2D5ABB26-0587-4C30-8999-92F81FD0307C}</a:tableStyleId>
                  </a:tblPr>
                  <a:tblGrid>
                    <a:gridCol w="706515">
                      <a:extLst>
                        <a:ext uri="{9D8B030D-6E8A-4147-A177-3AD203B41FA5}">
                          <a16:colId xmlns:a16="http://schemas.microsoft.com/office/drawing/2014/main" val="2612297086"/>
                        </a:ext>
                      </a:extLst>
                    </a:gridCol>
                  </a:tblGrid>
                  <a:tr h="370840">
                    <a:tc>
                      <a:txBody>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US" b="0" smtClean="0">
                                        <a:latin typeface="Cambria Math" panose="02040503050406030204" pitchFamily="18" charset="0"/>
                                      </a:rPr>
                                      <m:t>𝑤</m:t>
                                    </m:r>
                                  </m:e>
                                  <m:sub>
                                    <m:r>
                                      <a:rPr lang="en-US" b="0" smtClean="0">
                                        <a:latin typeface="Cambria Math" panose="02040503050406030204" pitchFamily="18" charset="0"/>
                                      </a:rPr>
                                      <m:t>1</m:t>
                                    </m:r>
                                  </m:sub>
                                </m:sSub>
                              </m:oMath>
                            </m:oMathPara>
                          </a14:m>
                          <a:endParaRPr lang="en-IN" dirty="0"/>
                        </a:p>
                      </a:txBody>
                      <a:tcPr/>
                    </a:tc>
                    <a:extLst>
                      <a:ext uri="{0D108BD9-81ED-4DB2-BD59-A6C34878D82A}">
                        <a16:rowId xmlns:a16="http://schemas.microsoft.com/office/drawing/2014/main" val="142349214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US" b="0" smtClean="0">
                                        <a:latin typeface="Cambria Math" panose="02040503050406030204" pitchFamily="18" charset="0"/>
                                      </a:rPr>
                                      <m:t>𝑤</m:t>
                                    </m:r>
                                  </m:e>
                                  <m:sub>
                                    <m:r>
                                      <a:rPr lang="en-US" b="0" smtClean="0">
                                        <a:latin typeface="Cambria Math" panose="02040503050406030204" pitchFamily="18" charset="0"/>
                                      </a:rPr>
                                      <m:t>2</m:t>
                                    </m:r>
                                  </m:sub>
                                </m:sSub>
                              </m:oMath>
                            </m:oMathPara>
                          </a14:m>
                          <a:endParaRPr lang="en-IN" dirty="0"/>
                        </a:p>
                      </a:txBody>
                      <a:tcPr/>
                    </a:tc>
                    <a:extLst>
                      <a:ext uri="{0D108BD9-81ED-4DB2-BD59-A6C34878D82A}">
                        <a16:rowId xmlns:a16="http://schemas.microsoft.com/office/drawing/2014/main" val="136477256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US" b="0" smtClean="0">
                                        <a:latin typeface="Cambria Math" panose="02040503050406030204" pitchFamily="18" charset="0"/>
                                      </a:rPr>
                                      <m:t>𝑤</m:t>
                                    </m:r>
                                  </m:e>
                                  <m:sub>
                                    <m:r>
                                      <a:rPr lang="en-US" b="0" smtClean="0">
                                        <a:latin typeface="Cambria Math" panose="02040503050406030204" pitchFamily="18" charset="0"/>
                                      </a:rPr>
                                      <m:t>3</m:t>
                                    </m:r>
                                  </m:sub>
                                </m:sSub>
                              </m:oMath>
                            </m:oMathPara>
                          </a14:m>
                          <a:endParaRPr lang="en-IN" dirty="0"/>
                        </a:p>
                      </a:txBody>
                      <a:tcPr/>
                    </a:tc>
                    <a:extLst>
                      <a:ext uri="{0D108BD9-81ED-4DB2-BD59-A6C34878D82A}">
                        <a16:rowId xmlns:a16="http://schemas.microsoft.com/office/drawing/2014/main" val="2188469277"/>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US" b="0" smtClean="0">
                                        <a:latin typeface="Cambria Math" panose="02040503050406030204" pitchFamily="18" charset="0"/>
                                      </a:rPr>
                                      <m:t>𝑤</m:t>
                                    </m:r>
                                  </m:e>
                                  <m:sub>
                                    <m:r>
                                      <a:rPr lang="en-US" b="0" smtClean="0">
                                        <a:latin typeface="Cambria Math" panose="02040503050406030204" pitchFamily="18" charset="0"/>
                                      </a:rPr>
                                      <m:t>3</m:t>
                                    </m:r>
                                  </m:sub>
                                </m:sSub>
                              </m:oMath>
                            </m:oMathPara>
                          </a14:m>
                          <a:endParaRPr lang="en-IN" dirty="0"/>
                        </a:p>
                      </a:txBody>
                      <a:tcPr/>
                    </a:tc>
                    <a:extLst>
                      <a:ext uri="{0D108BD9-81ED-4DB2-BD59-A6C34878D82A}">
                        <a16:rowId xmlns:a16="http://schemas.microsoft.com/office/drawing/2014/main" val="2023062089"/>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US" b="0" smtClean="0">
                                        <a:latin typeface="Cambria Math" panose="02040503050406030204" pitchFamily="18" charset="0"/>
                                      </a:rPr>
                                      <m:t>𝑤</m:t>
                                    </m:r>
                                  </m:e>
                                  <m:sub>
                                    <m:r>
                                      <a:rPr lang="en-US" b="0" smtClean="0">
                                        <a:latin typeface="Cambria Math" panose="02040503050406030204" pitchFamily="18" charset="0"/>
                                      </a:rPr>
                                      <m:t>4</m:t>
                                    </m:r>
                                  </m:sub>
                                </m:sSub>
                              </m:oMath>
                            </m:oMathPara>
                          </a14:m>
                          <a:endParaRPr lang="en-IN" dirty="0"/>
                        </a:p>
                      </a:txBody>
                      <a:tcPr/>
                    </a:tc>
                    <a:extLst>
                      <a:ext uri="{0D108BD9-81ED-4DB2-BD59-A6C34878D82A}">
                        <a16:rowId xmlns:a16="http://schemas.microsoft.com/office/drawing/2014/main" val="2753174461"/>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US" b="0" smtClean="0">
                                        <a:latin typeface="Cambria Math" panose="02040503050406030204" pitchFamily="18" charset="0"/>
                                      </a:rPr>
                                      <m:t>𝑤</m:t>
                                    </m:r>
                                  </m:e>
                                  <m:sub>
                                    <m:r>
                                      <a:rPr lang="en-US" b="0" smtClean="0">
                                        <a:latin typeface="Cambria Math" panose="02040503050406030204" pitchFamily="18" charset="0"/>
                                      </a:rPr>
                                      <m:t>5</m:t>
                                    </m:r>
                                  </m:sub>
                                </m:sSub>
                              </m:oMath>
                            </m:oMathPara>
                          </a14:m>
                          <a:endParaRPr lang="en-IN" dirty="0"/>
                        </a:p>
                      </a:txBody>
                      <a:tcPr/>
                    </a:tc>
                    <a:extLst>
                      <a:ext uri="{0D108BD9-81ED-4DB2-BD59-A6C34878D82A}">
                        <a16:rowId xmlns:a16="http://schemas.microsoft.com/office/drawing/2014/main" val="3200607339"/>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US" b="0" smtClean="0">
                                        <a:latin typeface="Cambria Math" panose="02040503050406030204" pitchFamily="18" charset="0"/>
                                      </a:rPr>
                                      <m:t>𝑤</m:t>
                                    </m:r>
                                  </m:e>
                                  <m:sub>
                                    <m:r>
                                      <a:rPr lang="en-US" b="0" smtClean="0">
                                        <a:latin typeface="Cambria Math" panose="02040503050406030204" pitchFamily="18" charset="0"/>
                                      </a:rPr>
                                      <m:t>6</m:t>
                                    </m:r>
                                  </m:sub>
                                </m:sSub>
                              </m:oMath>
                            </m:oMathPara>
                          </a14:m>
                          <a:endParaRPr lang="en-IN" dirty="0"/>
                        </a:p>
                      </a:txBody>
                      <a:tcPr/>
                    </a:tc>
                    <a:extLst>
                      <a:ext uri="{0D108BD9-81ED-4DB2-BD59-A6C34878D82A}">
                        <a16:rowId xmlns:a16="http://schemas.microsoft.com/office/drawing/2014/main" val="433801940"/>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US" b="0" smtClean="0">
                                        <a:latin typeface="Cambria Math" panose="02040503050406030204" pitchFamily="18" charset="0"/>
                                      </a:rPr>
                                      <m:t>𝑤</m:t>
                                    </m:r>
                                  </m:e>
                                  <m:sub>
                                    <m:r>
                                      <a:rPr lang="en-US" b="0" smtClean="0">
                                        <a:latin typeface="Cambria Math" panose="02040503050406030204" pitchFamily="18" charset="0"/>
                                      </a:rPr>
                                      <m:t>7</m:t>
                                    </m:r>
                                  </m:sub>
                                </m:sSub>
                              </m:oMath>
                            </m:oMathPara>
                          </a14:m>
                          <a:endParaRPr lang="en-IN" dirty="0"/>
                        </a:p>
                      </a:txBody>
                      <a:tcPr/>
                    </a:tc>
                    <a:extLst>
                      <a:ext uri="{0D108BD9-81ED-4DB2-BD59-A6C34878D82A}">
                        <a16:rowId xmlns:a16="http://schemas.microsoft.com/office/drawing/2014/main" val="2314222695"/>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US" b="0" smtClean="0">
                                        <a:latin typeface="Cambria Math" panose="02040503050406030204" pitchFamily="18" charset="0"/>
                                      </a:rPr>
                                      <m:t>𝑤</m:t>
                                    </m:r>
                                  </m:e>
                                  <m:sub>
                                    <m:r>
                                      <a:rPr lang="en-US" b="0" smtClean="0">
                                        <a:latin typeface="Cambria Math" panose="02040503050406030204" pitchFamily="18" charset="0"/>
                                      </a:rPr>
                                      <m:t>8</m:t>
                                    </m:r>
                                  </m:sub>
                                </m:sSub>
                              </m:oMath>
                            </m:oMathPara>
                          </a14:m>
                          <a:endParaRPr lang="en-IN" dirty="0"/>
                        </a:p>
                      </a:txBody>
                      <a:tcPr/>
                    </a:tc>
                    <a:extLst>
                      <a:ext uri="{0D108BD9-81ED-4DB2-BD59-A6C34878D82A}">
                        <a16:rowId xmlns:a16="http://schemas.microsoft.com/office/drawing/2014/main" val="1624175668"/>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US" b="0" smtClean="0">
                                        <a:latin typeface="Cambria Math" panose="02040503050406030204" pitchFamily="18" charset="0"/>
                                      </a:rPr>
                                      <m:t>𝑤</m:t>
                                    </m:r>
                                  </m:e>
                                  <m:sub>
                                    <m:r>
                                      <a:rPr lang="en-US" b="0" smtClean="0">
                                        <a:latin typeface="Cambria Math" panose="02040503050406030204" pitchFamily="18" charset="0"/>
                                      </a:rPr>
                                      <m:t>8</m:t>
                                    </m:r>
                                  </m:sub>
                                </m:sSub>
                              </m:oMath>
                            </m:oMathPara>
                          </a14:m>
                          <a:endParaRPr lang="en-IN" dirty="0"/>
                        </a:p>
                      </a:txBody>
                      <a:tcPr/>
                    </a:tc>
                    <a:extLst>
                      <a:ext uri="{0D108BD9-81ED-4DB2-BD59-A6C34878D82A}">
                        <a16:rowId xmlns:a16="http://schemas.microsoft.com/office/drawing/2014/main" val="4280036389"/>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US" b="0" smtClean="0">
                                        <a:latin typeface="Cambria Math" panose="02040503050406030204" pitchFamily="18" charset="0"/>
                                      </a:rPr>
                                      <m:t>𝑤</m:t>
                                    </m:r>
                                  </m:e>
                                  <m:sub>
                                    <m:r>
                                      <a:rPr lang="en-US" b="0" smtClean="0">
                                        <a:latin typeface="Cambria Math" panose="02040503050406030204" pitchFamily="18" charset="0"/>
                                      </a:rPr>
                                      <m:t>9</m:t>
                                    </m:r>
                                  </m:sub>
                                </m:sSub>
                              </m:oMath>
                            </m:oMathPara>
                          </a14:m>
                          <a:endParaRPr lang="en-IN" dirty="0"/>
                        </a:p>
                      </a:txBody>
                      <a:tcPr/>
                    </a:tc>
                    <a:extLst>
                      <a:ext uri="{0D108BD9-81ED-4DB2-BD59-A6C34878D82A}">
                        <a16:rowId xmlns:a16="http://schemas.microsoft.com/office/drawing/2014/main" val="304141212"/>
                      </a:ext>
                    </a:extLst>
                  </a:tr>
                  <a:tr h="370840">
                    <a:tc>
                      <a:txBody>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US" b="0" smtClean="0">
                                        <a:latin typeface="Cambria Math" panose="02040503050406030204" pitchFamily="18" charset="0"/>
                                      </a:rPr>
                                      <m:t>𝑤</m:t>
                                    </m:r>
                                  </m:e>
                                  <m:sub>
                                    <m:r>
                                      <a:rPr lang="en-US" b="0" smtClean="0">
                                        <a:latin typeface="Cambria Math" panose="02040503050406030204" pitchFamily="18" charset="0"/>
                                      </a:rPr>
                                      <m:t>𝑛</m:t>
                                    </m:r>
                                  </m:sub>
                                </m:sSub>
                              </m:oMath>
                            </m:oMathPara>
                          </a14:m>
                          <a:endParaRPr lang="en-IN" dirty="0"/>
                        </a:p>
                      </a:txBody>
                      <a:tcPr/>
                    </a:tc>
                    <a:extLst>
                      <a:ext uri="{0D108BD9-81ED-4DB2-BD59-A6C34878D82A}">
                        <a16:rowId xmlns:a16="http://schemas.microsoft.com/office/drawing/2014/main" val="3289891281"/>
                      </a:ext>
                    </a:extLst>
                  </a:tr>
                </a:tbl>
              </a:graphicData>
            </a:graphic>
          </p:graphicFrame>
        </mc:Choice>
        <mc:Fallback xmlns="">
          <p:graphicFrame>
            <p:nvGraphicFramePr>
              <p:cNvPr id="9" name="Table 4">
                <a:extLst>
                  <a:ext uri="{FF2B5EF4-FFF2-40B4-BE49-F238E27FC236}">
                    <a16:creationId xmlns:a16="http://schemas.microsoft.com/office/drawing/2014/main" id="{35329B4A-8A93-4C68-B32B-AB36D74C8A86}"/>
                  </a:ext>
                </a:extLst>
              </p:cNvPr>
              <p:cNvGraphicFramePr>
                <a:graphicFrameLocks/>
              </p:cNvGraphicFramePr>
              <p:nvPr>
                <p:extLst>
                  <p:ext uri="{D42A27DB-BD31-4B8C-83A1-F6EECF244321}">
                    <p14:modId xmlns:p14="http://schemas.microsoft.com/office/powerpoint/2010/main" val="1565964226"/>
                  </p:ext>
                </p:extLst>
              </p:nvPr>
            </p:nvGraphicFramePr>
            <p:xfrm>
              <a:off x="1349037" y="1435100"/>
              <a:ext cx="706515" cy="4450080"/>
            </p:xfrm>
            <a:graphic>
              <a:graphicData uri="http://schemas.openxmlformats.org/drawingml/2006/table">
                <a:tbl>
                  <a:tblPr firstRow="1" bandRow="1">
                    <a:tableStyleId>{2D5ABB26-0587-4C30-8999-92F81FD0307C}</a:tableStyleId>
                  </a:tblPr>
                  <a:tblGrid>
                    <a:gridCol w="706515">
                      <a:extLst>
                        <a:ext uri="{9D8B030D-6E8A-4147-A177-3AD203B41FA5}">
                          <a16:colId xmlns:a16="http://schemas.microsoft.com/office/drawing/2014/main" val="2612297086"/>
                        </a:ext>
                      </a:extLst>
                    </a:gridCol>
                  </a:tblGrid>
                  <a:tr h="370840">
                    <a:tc>
                      <a:txBody>
                        <a:bodyPr/>
                        <a:lstStyle/>
                        <a:p>
                          <a:endParaRPr lang="en-US"/>
                        </a:p>
                      </a:txBody>
                      <a:tcPr>
                        <a:blipFill>
                          <a:blip r:embed="rId2"/>
                          <a:stretch>
                            <a:fillRect b="-1098361"/>
                          </a:stretch>
                        </a:blipFill>
                      </a:tcPr>
                    </a:tc>
                    <a:extLst>
                      <a:ext uri="{0D108BD9-81ED-4DB2-BD59-A6C34878D82A}">
                        <a16:rowId xmlns:a16="http://schemas.microsoft.com/office/drawing/2014/main" val="1423492141"/>
                      </a:ext>
                    </a:extLst>
                  </a:tr>
                  <a:tr h="370840">
                    <a:tc>
                      <a:txBody>
                        <a:bodyPr/>
                        <a:lstStyle/>
                        <a:p>
                          <a:endParaRPr lang="en-US"/>
                        </a:p>
                      </a:txBody>
                      <a:tcPr>
                        <a:blipFill>
                          <a:blip r:embed="rId2"/>
                          <a:stretch>
                            <a:fillRect t="-100000" b="-998361"/>
                          </a:stretch>
                        </a:blipFill>
                      </a:tcPr>
                    </a:tc>
                    <a:extLst>
                      <a:ext uri="{0D108BD9-81ED-4DB2-BD59-A6C34878D82A}">
                        <a16:rowId xmlns:a16="http://schemas.microsoft.com/office/drawing/2014/main" val="1364772561"/>
                      </a:ext>
                    </a:extLst>
                  </a:tr>
                  <a:tr h="370840">
                    <a:tc>
                      <a:txBody>
                        <a:bodyPr/>
                        <a:lstStyle/>
                        <a:p>
                          <a:endParaRPr lang="en-US"/>
                        </a:p>
                      </a:txBody>
                      <a:tcPr>
                        <a:blipFill>
                          <a:blip r:embed="rId2"/>
                          <a:stretch>
                            <a:fillRect t="-200000" b="-898361"/>
                          </a:stretch>
                        </a:blipFill>
                      </a:tcPr>
                    </a:tc>
                    <a:extLst>
                      <a:ext uri="{0D108BD9-81ED-4DB2-BD59-A6C34878D82A}">
                        <a16:rowId xmlns:a16="http://schemas.microsoft.com/office/drawing/2014/main" val="2188469277"/>
                      </a:ext>
                    </a:extLst>
                  </a:tr>
                  <a:tr h="370840">
                    <a:tc>
                      <a:txBody>
                        <a:bodyPr/>
                        <a:lstStyle/>
                        <a:p>
                          <a:endParaRPr lang="en-US"/>
                        </a:p>
                      </a:txBody>
                      <a:tcPr>
                        <a:blipFill>
                          <a:blip r:embed="rId2"/>
                          <a:stretch>
                            <a:fillRect t="-300000" b="-798361"/>
                          </a:stretch>
                        </a:blipFill>
                      </a:tcPr>
                    </a:tc>
                    <a:extLst>
                      <a:ext uri="{0D108BD9-81ED-4DB2-BD59-A6C34878D82A}">
                        <a16:rowId xmlns:a16="http://schemas.microsoft.com/office/drawing/2014/main" val="2023062089"/>
                      </a:ext>
                    </a:extLst>
                  </a:tr>
                  <a:tr h="370840">
                    <a:tc>
                      <a:txBody>
                        <a:bodyPr/>
                        <a:lstStyle/>
                        <a:p>
                          <a:endParaRPr lang="en-US"/>
                        </a:p>
                      </a:txBody>
                      <a:tcPr>
                        <a:blipFill>
                          <a:blip r:embed="rId2"/>
                          <a:stretch>
                            <a:fillRect t="-400000" b="-698361"/>
                          </a:stretch>
                        </a:blipFill>
                      </a:tcPr>
                    </a:tc>
                    <a:extLst>
                      <a:ext uri="{0D108BD9-81ED-4DB2-BD59-A6C34878D82A}">
                        <a16:rowId xmlns:a16="http://schemas.microsoft.com/office/drawing/2014/main" val="2753174461"/>
                      </a:ext>
                    </a:extLst>
                  </a:tr>
                  <a:tr h="370840">
                    <a:tc>
                      <a:txBody>
                        <a:bodyPr/>
                        <a:lstStyle/>
                        <a:p>
                          <a:endParaRPr lang="en-US"/>
                        </a:p>
                      </a:txBody>
                      <a:tcPr>
                        <a:blipFill>
                          <a:blip r:embed="rId2"/>
                          <a:stretch>
                            <a:fillRect t="-500000" b="-598361"/>
                          </a:stretch>
                        </a:blipFill>
                      </a:tcPr>
                    </a:tc>
                    <a:extLst>
                      <a:ext uri="{0D108BD9-81ED-4DB2-BD59-A6C34878D82A}">
                        <a16:rowId xmlns:a16="http://schemas.microsoft.com/office/drawing/2014/main" val="3200607339"/>
                      </a:ext>
                    </a:extLst>
                  </a:tr>
                  <a:tr h="370840">
                    <a:tc>
                      <a:txBody>
                        <a:bodyPr/>
                        <a:lstStyle/>
                        <a:p>
                          <a:endParaRPr lang="en-US"/>
                        </a:p>
                      </a:txBody>
                      <a:tcPr>
                        <a:blipFill>
                          <a:blip r:embed="rId2"/>
                          <a:stretch>
                            <a:fillRect t="-610000" b="-508333"/>
                          </a:stretch>
                        </a:blipFill>
                      </a:tcPr>
                    </a:tc>
                    <a:extLst>
                      <a:ext uri="{0D108BD9-81ED-4DB2-BD59-A6C34878D82A}">
                        <a16:rowId xmlns:a16="http://schemas.microsoft.com/office/drawing/2014/main" val="433801940"/>
                      </a:ext>
                    </a:extLst>
                  </a:tr>
                  <a:tr h="370840">
                    <a:tc>
                      <a:txBody>
                        <a:bodyPr/>
                        <a:lstStyle/>
                        <a:p>
                          <a:endParaRPr lang="en-US"/>
                        </a:p>
                      </a:txBody>
                      <a:tcPr>
                        <a:blipFill>
                          <a:blip r:embed="rId2"/>
                          <a:stretch>
                            <a:fillRect t="-698361" b="-400000"/>
                          </a:stretch>
                        </a:blipFill>
                      </a:tcPr>
                    </a:tc>
                    <a:extLst>
                      <a:ext uri="{0D108BD9-81ED-4DB2-BD59-A6C34878D82A}">
                        <a16:rowId xmlns:a16="http://schemas.microsoft.com/office/drawing/2014/main" val="2314222695"/>
                      </a:ext>
                    </a:extLst>
                  </a:tr>
                  <a:tr h="370840">
                    <a:tc>
                      <a:txBody>
                        <a:bodyPr/>
                        <a:lstStyle/>
                        <a:p>
                          <a:endParaRPr lang="en-US"/>
                        </a:p>
                      </a:txBody>
                      <a:tcPr>
                        <a:blipFill>
                          <a:blip r:embed="rId2"/>
                          <a:stretch>
                            <a:fillRect t="-798361" b="-300000"/>
                          </a:stretch>
                        </a:blipFill>
                      </a:tcPr>
                    </a:tc>
                    <a:extLst>
                      <a:ext uri="{0D108BD9-81ED-4DB2-BD59-A6C34878D82A}">
                        <a16:rowId xmlns:a16="http://schemas.microsoft.com/office/drawing/2014/main" val="1624175668"/>
                      </a:ext>
                    </a:extLst>
                  </a:tr>
                  <a:tr h="370840">
                    <a:tc>
                      <a:txBody>
                        <a:bodyPr/>
                        <a:lstStyle/>
                        <a:p>
                          <a:endParaRPr lang="en-US"/>
                        </a:p>
                      </a:txBody>
                      <a:tcPr>
                        <a:blipFill>
                          <a:blip r:embed="rId2"/>
                          <a:stretch>
                            <a:fillRect t="-898361" b="-200000"/>
                          </a:stretch>
                        </a:blipFill>
                      </a:tcPr>
                    </a:tc>
                    <a:extLst>
                      <a:ext uri="{0D108BD9-81ED-4DB2-BD59-A6C34878D82A}">
                        <a16:rowId xmlns:a16="http://schemas.microsoft.com/office/drawing/2014/main" val="4280036389"/>
                      </a:ext>
                    </a:extLst>
                  </a:tr>
                  <a:tr h="370840">
                    <a:tc>
                      <a:txBody>
                        <a:bodyPr/>
                        <a:lstStyle/>
                        <a:p>
                          <a:endParaRPr lang="en-US"/>
                        </a:p>
                      </a:txBody>
                      <a:tcPr>
                        <a:blipFill>
                          <a:blip r:embed="rId2"/>
                          <a:stretch>
                            <a:fillRect t="-998361" b="-100000"/>
                          </a:stretch>
                        </a:blipFill>
                      </a:tcPr>
                    </a:tc>
                    <a:extLst>
                      <a:ext uri="{0D108BD9-81ED-4DB2-BD59-A6C34878D82A}">
                        <a16:rowId xmlns:a16="http://schemas.microsoft.com/office/drawing/2014/main" val="304141212"/>
                      </a:ext>
                    </a:extLst>
                  </a:tr>
                  <a:tr h="370840">
                    <a:tc>
                      <a:txBody>
                        <a:bodyPr/>
                        <a:lstStyle/>
                        <a:p>
                          <a:endParaRPr lang="en-US"/>
                        </a:p>
                      </a:txBody>
                      <a:tcPr>
                        <a:blipFill>
                          <a:blip r:embed="rId2"/>
                          <a:stretch>
                            <a:fillRect t="-1098361"/>
                          </a:stretch>
                        </a:blipFill>
                      </a:tcPr>
                    </a:tc>
                    <a:extLst>
                      <a:ext uri="{0D108BD9-81ED-4DB2-BD59-A6C34878D82A}">
                        <a16:rowId xmlns:a16="http://schemas.microsoft.com/office/drawing/2014/main" val="3289891281"/>
                      </a:ext>
                    </a:extLst>
                  </a:tr>
                </a:tbl>
              </a:graphicData>
            </a:graphic>
          </p:graphicFrame>
        </mc:Fallback>
      </mc:AlternateContent>
      <p:sp>
        <p:nvSpPr>
          <p:cNvPr id="10" name="TextBox 9">
            <a:extLst>
              <a:ext uri="{FF2B5EF4-FFF2-40B4-BE49-F238E27FC236}">
                <a16:creationId xmlns:a16="http://schemas.microsoft.com/office/drawing/2014/main" id="{D0D2FD5C-1539-423F-9B8B-6939598D151B}"/>
              </a:ext>
            </a:extLst>
          </p:cNvPr>
          <p:cNvSpPr txBox="1"/>
          <p:nvPr/>
        </p:nvSpPr>
        <p:spPr>
          <a:xfrm>
            <a:off x="2674584" y="1300163"/>
            <a:ext cx="1116181" cy="369332"/>
          </a:xfrm>
          <a:prstGeom prst="rect">
            <a:avLst/>
          </a:prstGeom>
          <a:noFill/>
        </p:spPr>
        <p:txBody>
          <a:bodyPr wrap="square" rtlCol="0">
            <a:spAutoFit/>
          </a:bodyPr>
          <a:lstStyle/>
          <a:p>
            <a:r>
              <a:rPr lang="en-US" dirty="0"/>
              <a:t>Dataset 1</a:t>
            </a:r>
            <a:endParaRPr lang="en-IN" dirty="0"/>
          </a:p>
        </p:txBody>
      </p:sp>
      <p:sp>
        <p:nvSpPr>
          <p:cNvPr id="11" name="TextBox 10">
            <a:extLst>
              <a:ext uri="{FF2B5EF4-FFF2-40B4-BE49-F238E27FC236}">
                <a16:creationId xmlns:a16="http://schemas.microsoft.com/office/drawing/2014/main" id="{1E60D400-7E3D-4EDE-8A73-CA5BDEAC893A}"/>
              </a:ext>
            </a:extLst>
          </p:cNvPr>
          <p:cNvSpPr txBox="1"/>
          <p:nvPr/>
        </p:nvSpPr>
        <p:spPr>
          <a:xfrm>
            <a:off x="3943165" y="1305866"/>
            <a:ext cx="1116181" cy="369332"/>
          </a:xfrm>
          <a:prstGeom prst="rect">
            <a:avLst/>
          </a:prstGeom>
          <a:noFill/>
        </p:spPr>
        <p:txBody>
          <a:bodyPr wrap="square" rtlCol="0">
            <a:spAutoFit/>
          </a:bodyPr>
          <a:lstStyle/>
          <a:p>
            <a:r>
              <a:rPr lang="en-US" dirty="0"/>
              <a:t>Dataset 2</a:t>
            </a:r>
            <a:endParaRPr lang="en-IN" dirty="0"/>
          </a:p>
        </p:txBody>
      </p:sp>
      <p:sp>
        <p:nvSpPr>
          <p:cNvPr id="12" name="TextBox 11">
            <a:extLst>
              <a:ext uri="{FF2B5EF4-FFF2-40B4-BE49-F238E27FC236}">
                <a16:creationId xmlns:a16="http://schemas.microsoft.com/office/drawing/2014/main" id="{EBDF9BD2-31AF-427F-AF1E-D1B033BE1521}"/>
              </a:ext>
            </a:extLst>
          </p:cNvPr>
          <p:cNvSpPr txBox="1"/>
          <p:nvPr/>
        </p:nvSpPr>
        <p:spPr>
          <a:xfrm>
            <a:off x="5373950" y="1300163"/>
            <a:ext cx="1116181" cy="369332"/>
          </a:xfrm>
          <a:prstGeom prst="rect">
            <a:avLst/>
          </a:prstGeom>
          <a:noFill/>
        </p:spPr>
        <p:txBody>
          <a:bodyPr wrap="square" rtlCol="0">
            <a:spAutoFit/>
          </a:bodyPr>
          <a:lstStyle/>
          <a:p>
            <a:r>
              <a:rPr lang="en-US" dirty="0"/>
              <a:t>Dataset 3</a:t>
            </a:r>
            <a:endParaRPr lang="en-IN" dirty="0"/>
          </a:p>
        </p:txBody>
      </p:sp>
      <p:sp>
        <p:nvSpPr>
          <p:cNvPr id="13" name="Hexagon 12">
            <a:extLst>
              <a:ext uri="{FF2B5EF4-FFF2-40B4-BE49-F238E27FC236}">
                <a16:creationId xmlns:a16="http://schemas.microsoft.com/office/drawing/2014/main" id="{055DD70B-6CC5-4F56-A86E-590FDE067AB2}"/>
              </a:ext>
            </a:extLst>
          </p:cNvPr>
          <p:cNvSpPr/>
          <p:nvPr/>
        </p:nvSpPr>
        <p:spPr>
          <a:xfrm>
            <a:off x="2462015" y="3882863"/>
            <a:ext cx="1305508" cy="673039"/>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Model 1</a:t>
            </a:r>
            <a:endParaRPr lang="en-IN" dirty="0"/>
          </a:p>
        </p:txBody>
      </p:sp>
      <p:sp>
        <p:nvSpPr>
          <p:cNvPr id="14" name="Hexagon 13">
            <a:extLst>
              <a:ext uri="{FF2B5EF4-FFF2-40B4-BE49-F238E27FC236}">
                <a16:creationId xmlns:a16="http://schemas.microsoft.com/office/drawing/2014/main" id="{189F6E19-F070-4E88-B705-954FA9F512F0}"/>
              </a:ext>
            </a:extLst>
          </p:cNvPr>
          <p:cNvSpPr/>
          <p:nvPr/>
        </p:nvSpPr>
        <p:spPr>
          <a:xfrm>
            <a:off x="3846907" y="3906268"/>
            <a:ext cx="1305508" cy="673039"/>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Model 2</a:t>
            </a:r>
            <a:endParaRPr lang="en-IN" dirty="0"/>
          </a:p>
        </p:txBody>
      </p:sp>
      <p:sp>
        <p:nvSpPr>
          <p:cNvPr id="15" name="Hexagon 14">
            <a:extLst>
              <a:ext uri="{FF2B5EF4-FFF2-40B4-BE49-F238E27FC236}">
                <a16:creationId xmlns:a16="http://schemas.microsoft.com/office/drawing/2014/main" id="{E3FCAFC6-5E7A-4E4D-8D64-F7FE0F7B750F}"/>
              </a:ext>
            </a:extLst>
          </p:cNvPr>
          <p:cNvSpPr/>
          <p:nvPr/>
        </p:nvSpPr>
        <p:spPr>
          <a:xfrm>
            <a:off x="5373950" y="3906267"/>
            <a:ext cx="1305508" cy="673039"/>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Model 3</a:t>
            </a:r>
            <a:endParaRPr lang="en-IN" dirty="0"/>
          </a:p>
        </p:txBody>
      </p:sp>
      <p:cxnSp>
        <p:nvCxnSpPr>
          <p:cNvPr id="17" name="Straight Arrow Connector 16">
            <a:extLst>
              <a:ext uri="{FF2B5EF4-FFF2-40B4-BE49-F238E27FC236}">
                <a16:creationId xmlns:a16="http://schemas.microsoft.com/office/drawing/2014/main" id="{3A32A6E9-4C70-4CB3-8E5C-E764D33E4B83}"/>
              </a:ext>
            </a:extLst>
          </p:cNvPr>
          <p:cNvCxnSpPr>
            <a:cxnSpLocks/>
          </p:cNvCxnSpPr>
          <p:nvPr/>
        </p:nvCxnSpPr>
        <p:spPr>
          <a:xfrm>
            <a:off x="2004011" y="4136255"/>
            <a:ext cx="458004"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9" name="Connector: Curved 18">
            <a:extLst>
              <a:ext uri="{FF2B5EF4-FFF2-40B4-BE49-F238E27FC236}">
                <a16:creationId xmlns:a16="http://schemas.microsoft.com/office/drawing/2014/main" id="{2A1A2369-998A-45C9-A145-BC9AC6EB9076}"/>
              </a:ext>
            </a:extLst>
          </p:cNvPr>
          <p:cNvCxnSpPr>
            <a:cxnSpLocks/>
            <a:endCxn id="14" idx="2"/>
          </p:cNvCxnSpPr>
          <p:nvPr/>
        </p:nvCxnSpPr>
        <p:spPr>
          <a:xfrm flipV="1">
            <a:off x="1959294" y="4579307"/>
            <a:ext cx="2055873" cy="191777"/>
          </a:xfrm>
          <a:prstGeom prst="curved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Connector: Curved 20">
            <a:extLst>
              <a:ext uri="{FF2B5EF4-FFF2-40B4-BE49-F238E27FC236}">
                <a16:creationId xmlns:a16="http://schemas.microsoft.com/office/drawing/2014/main" id="{57863430-22D7-4026-A977-3B7B65E92901}"/>
              </a:ext>
            </a:extLst>
          </p:cNvPr>
          <p:cNvCxnSpPr>
            <a:cxnSpLocks/>
          </p:cNvCxnSpPr>
          <p:nvPr/>
        </p:nvCxnSpPr>
        <p:spPr>
          <a:xfrm flipV="1">
            <a:off x="2055552" y="4626116"/>
            <a:ext cx="4055121" cy="564928"/>
          </a:xfrm>
          <a:prstGeom prst="curvedConnector3">
            <a:avLst>
              <a:gd name="adj1" fmla="val 50000"/>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01A7DE0-AF63-4B18-821B-D5A7D3491393}"/>
              </a:ext>
            </a:extLst>
          </p:cNvPr>
          <p:cNvCxnSpPr/>
          <p:nvPr/>
        </p:nvCxnSpPr>
        <p:spPr>
          <a:xfrm>
            <a:off x="3114769" y="4472775"/>
            <a:ext cx="828396" cy="1156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01FD817-DBCB-4C1E-83EE-73627E111333}"/>
              </a:ext>
            </a:extLst>
          </p:cNvPr>
          <p:cNvCxnSpPr>
            <a:cxnSpLocks/>
          </p:cNvCxnSpPr>
          <p:nvPr/>
        </p:nvCxnSpPr>
        <p:spPr>
          <a:xfrm flipH="1">
            <a:off x="4939821" y="4415902"/>
            <a:ext cx="1137248" cy="12133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C9383A4-41FB-48A9-87D0-3D2287A72B85}"/>
              </a:ext>
            </a:extLst>
          </p:cNvPr>
          <p:cNvCxnSpPr>
            <a:cxnSpLocks/>
          </p:cNvCxnSpPr>
          <p:nvPr/>
        </p:nvCxnSpPr>
        <p:spPr>
          <a:xfrm flipH="1">
            <a:off x="4595919" y="4578962"/>
            <a:ext cx="9619" cy="10503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Hexagon 31">
                <a:extLst>
                  <a:ext uri="{FF2B5EF4-FFF2-40B4-BE49-F238E27FC236}">
                    <a16:creationId xmlns:a16="http://schemas.microsoft.com/office/drawing/2014/main" id="{2257A163-7EE5-4B45-B93B-F964EBE12442}"/>
                  </a:ext>
                </a:extLst>
              </p:cNvPr>
              <p:cNvSpPr/>
              <p:nvPr/>
            </p:nvSpPr>
            <p:spPr>
              <a:xfrm>
                <a:off x="3846907" y="5584947"/>
                <a:ext cx="1339112" cy="667567"/>
              </a:xfrm>
              <a:prstGeom prst="hex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IN" i="1" smtClean="0">
                              <a:latin typeface="Cambria Math" panose="02040503050406030204" pitchFamily="18" charset="0"/>
                            </a:rPr>
                          </m:ctrlPr>
                        </m:sSupPr>
                        <m:e>
                          <m:r>
                            <a:rPr lang="en-US" b="0" i="1" smtClean="0">
                              <a:latin typeface="Cambria Math" panose="02040503050406030204" pitchFamily="18" charset="0"/>
                            </a:rPr>
                            <m:t>𝑀</m:t>
                          </m:r>
                        </m:e>
                        <m:sup>
                          <m:r>
                            <a:rPr lang="en-US" b="0" i="1" smtClean="0">
                              <a:latin typeface="Cambria Math" panose="02040503050406030204" pitchFamily="18" charset="0"/>
                            </a:rPr>
                            <m:t>∗</m:t>
                          </m:r>
                        </m:sup>
                      </m:sSup>
                    </m:oMath>
                  </m:oMathPara>
                </a14:m>
                <a:endParaRPr lang="en-IN" dirty="0"/>
              </a:p>
            </p:txBody>
          </p:sp>
        </mc:Choice>
        <mc:Fallback xmlns="">
          <p:sp>
            <p:nvSpPr>
              <p:cNvPr id="32" name="Hexagon 31">
                <a:extLst>
                  <a:ext uri="{FF2B5EF4-FFF2-40B4-BE49-F238E27FC236}">
                    <a16:creationId xmlns:a16="http://schemas.microsoft.com/office/drawing/2014/main" id="{2257A163-7EE5-4B45-B93B-F964EBE12442}"/>
                  </a:ext>
                </a:extLst>
              </p:cNvPr>
              <p:cNvSpPr>
                <a:spLocks noRot="1" noChangeAspect="1" noMove="1" noResize="1" noEditPoints="1" noAdjustHandles="1" noChangeArrowheads="1" noChangeShapeType="1" noTextEdit="1"/>
              </p:cNvSpPr>
              <p:nvPr/>
            </p:nvSpPr>
            <p:spPr>
              <a:xfrm>
                <a:off x="3846907" y="5584947"/>
                <a:ext cx="1339112" cy="667567"/>
              </a:xfrm>
              <a:prstGeom prst="hexagon">
                <a:avLst/>
              </a:prstGeom>
              <a:blipFill>
                <a:blip r:embed="rId3"/>
                <a:stretch>
                  <a:fillRect/>
                </a:stretch>
              </a:blipFill>
            </p:spPr>
            <p:txBody>
              <a:bodyPr/>
              <a:lstStyle/>
              <a:p>
                <a:r>
                  <a:rPr lang="en-IN">
                    <a:noFill/>
                  </a:rPr>
                  <a:t> </a:t>
                </a:r>
              </a:p>
            </p:txBody>
          </p:sp>
        </mc:Fallback>
      </mc:AlternateContent>
      <p:sp>
        <p:nvSpPr>
          <p:cNvPr id="36" name="Right Brace 35">
            <a:extLst>
              <a:ext uri="{FF2B5EF4-FFF2-40B4-BE49-F238E27FC236}">
                <a16:creationId xmlns:a16="http://schemas.microsoft.com/office/drawing/2014/main" id="{AA717B94-743D-4C36-98DB-6F27C942497D}"/>
              </a:ext>
            </a:extLst>
          </p:cNvPr>
          <p:cNvSpPr/>
          <p:nvPr/>
        </p:nvSpPr>
        <p:spPr>
          <a:xfrm>
            <a:off x="1804764" y="1435100"/>
            <a:ext cx="342647" cy="445007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38" name="Straight Arrow Connector 37">
            <a:extLst>
              <a:ext uri="{FF2B5EF4-FFF2-40B4-BE49-F238E27FC236}">
                <a16:creationId xmlns:a16="http://schemas.microsoft.com/office/drawing/2014/main" id="{29938FAB-03EE-4572-892F-E23CAF71DA95}"/>
              </a:ext>
            </a:extLst>
          </p:cNvPr>
          <p:cNvCxnSpPr/>
          <p:nvPr/>
        </p:nvCxnSpPr>
        <p:spPr>
          <a:xfrm>
            <a:off x="3114769" y="3577135"/>
            <a:ext cx="0" cy="2226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FE76511-FF6B-484F-AF23-BFB2EF1B5768}"/>
              </a:ext>
            </a:extLst>
          </p:cNvPr>
          <p:cNvCxnSpPr/>
          <p:nvPr/>
        </p:nvCxnSpPr>
        <p:spPr>
          <a:xfrm>
            <a:off x="5877019" y="3618234"/>
            <a:ext cx="0" cy="2226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44F6204-8196-43C0-ADB1-03F4BFC53053}"/>
              </a:ext>
            </a:extLst>
          </p:cNvPr>
          <p:cNvCxnSpPr/>
          <p:nvPr/>
        </p:nvCxnSpPr>
        <p:spPr>
          <a:xfrm>
            <a:off x="4375839" y="3618234"/>
            <a:ext cx="0" cy="2226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4F24982D-3270-40C6-AC01-A1AC5953ABF0}"/>
              </a:ext>
            </a:extLst>
          </p:cNvPr>
          <p:cNvSpPr txBox="1"/>
          <p:nvPr/>
        </p:nvSpPr>
        <p:spPr>
          <a:xfrm>
            <a:off x="7444011" y="3979785"/>
            <a:ext cx="2943225" cy="646331"/>
          </a:xfrm>
          <a:prstGeom prst="rect">
            <a:avLst/>
          </a:prstGeom>
          <a:noFill/>
        </p:spPr>
        <p:txBody>
          <a:bodyPr wrap="square" rtlCol="0">
            <a:spAutoFit/>
          </a:bodyPr>
          <a:lstStyle/>
          <a:p>
            <a:r>
              <a:rPr lang="en-US" dirty="0"/>
              <a:t>New input instance will be given to all the models</a:t>
            </a:r>
            <a:endParaRPr lang="en-IN" dirty="0"/>
          </a:p>
        </p:txBody>
      </p:sp>
      <p:sp>
        <p:nvSpPr>
          <p:cNvPr id="42" name="Plaque 41">
            <a:extLst>
              <a:ext uri="{FF2B5EF4-FFF2-40B4-BE49-F238E27FC236}">
                <a16:creationId xmlns:a16="http://schemas.microsoft.com/office/drawing/2014/main" id="{AC124370-6082-43DA-813E-A7DC54DD98B6}"/>
              </a:ext>
            </a:extLst>
          </p:cNvPr>
          <p:cNvSpPr/>
          <p:nvPr/>
        </p:nvSpPr>
        <p:spPr>
          <a:xfrm>
            <a:off x="3391337" y="5428189"/>
            <a:ext cx="351085" cy="191777"/>
          </a:xfrm>
          <a:prstGeom prst="plaqu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43" name="Plaque 42">
            <a:extLst>
              <a:ext uri="{FF2B5EF4-FFF2-40B4-BE49-F238E27FC236}">
                <a16:creationId xmlns:a16="http://schemas.microsoft.com/office/drawing/2014/main" id="{E71521FF-1D01-43CD-97D7-2F34E8D2AFAF}"/>
              </a:ext>
            </a:extLst>
          </p:cNvPr>
          <p:cNvSpPr/>
          <p:nvPr/>
        </p:nvSpPr>
        <p:spPr>
          <a:xfrm>
            <a:off x="4653547" y="5060136"/>
            <a:ext cx="351085" cy="191777"/>
          </a:xfrm>
          <a:prstGeom prst="plaqu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a:t>
            </a:r>
            <a:endParaRPr lang="en-IN" dirty="0"/>
          </a:p>
        </p:txBody>
      </p:sp>
      <p:sp>
        <p:nvSpPr>
          <p:cNvPr id="45" name="Plaque 44">
            <a:extLst>
              <a:ext uri="{FF2B5EF4-FFF2-40B4-BE49-F238E27FC236}">
                <a16:creationId xmlns:a16="http://schemas.microsoft.com/office/drawing/2014/main" id="{887476D5-F2E0-4265-A13B-D589A7B28B13}"/>
              </a:ext>
            </a:extLst>
          </p:cNvPr>
          <p:cNvSpPr/>
          <p:nvPr/>
        </p:nvSpPr>
        <p:spPr>
          <a:xfrm>
            <a:off x="5378341" y="5295895"/>
            <a:ext cx="351085" cy="191777"/>
          </a:xfrm>
          <a:prstGeom prst="plaqu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0</a:t>
            </a:r>
            <a:endParaRPr lang="en-IN" dirty="0"/>
          </a:p>
        </p:txBody>
      </p:sp>
      <p:sp>
        <p:nvSpPr>
          <p:cNvPr id="46" name="TextBox 45">
            <a:extLst>
              <a:ext uri="{FF2B5EF4-FFF2-40B4-BE49-F238E27FC236}">
                <a16:creationId xmlns:a16="http://schemas.microsoft.com/office/drawing/2014/main" id="{523A6C7A-85DD-4472-A392-9F415E1459A0}"/>
              </a:ext>
            </a:extLst>
          </p:cNvPr>
          <p:cNvSpPr txBox="1"/>
          <p:nvPr/>
        </p:nvSpPr>
        <p:spPr>
          <a:xfrm>
            <a:off x="4375839" y="6252514"/>
            <a:ext cx="440160" cy="369332"/>
          </a:xfrm>
          <a:prstGeom prst="rect">
            <a:avLst/>
          </a:prstGeom>
          <a:noFill/>
        </p:spPr>
        <p:txBody>
          <a:bodyPr wrap="square" rtlCol="0">
            <a:spAutoFit/>
          </a:bodyPr>
          <a:lstStyle/>
          <a:p>
            <a:r>
              <a:rPr lang="en-US" dirty="0"/>
              <a:t>1</a:t>
            </a:r>
            <a:endParaRPr lang="en-IN" dirty="0"/>
          </a:p>
        </p:txBody>
      </p:sp>
      <p:cxnSp>
        <p:nvCxnSpPr>
          <p:cNvPr id="48" name="Straight Arrow Connector 47">
            <a:extLst>
              <a:ext uri="{FF2B5EF4-FFF2-40B4-BE49-F238E27FC236}">
                <a16:creationId xmlns:a16="http://schemas.microsoft.com/office/drawing/2014/main" id="{D89BCB9D-FD56-4BB9-9B21-D6E4467B56E4}"/>
              </a:ext>
            </a:extLst>
          </p:cNvPr>
          <p:cNvCxnSpPr>
            <a:cxnSpLocks/>
            <a:stCxn id="41" idx="1"/>
          </p:cNvCxnSpPr>
          <p:nvPr/>
        </p:nvCxnSpPr>
        <p:spPr>
          <a:xfrm flipH="1" flipV="1">
            <a:off x="6820255" y="4302950"/>
            <a:ext cx="62375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16AE31FD-78AE-424B-BA46-4563ECB03528}"/>
              </a:ext>
            </a:extLst>
          </p:cNvPr>
          <p:cNvCxnSpPr/>
          <p:nvPr/>
        </p:nvCxnSpPr>
        <p:spPr>
          <a:xfrm>
            <a:off x="5729426" y="5918730"/>
            <a:ext cx="179532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8818D11A-478A-45A9-9AF4-819673929517}"/>
              </a:ext>
            </a:extLst>
          </p:cNvPr>
          <p:cNvSpPr txBox="1"/>
          <p:nvPr/>
        </p:nvSpPr>
        <p:spPr>
          <a:xfrm>
            <a:off x="7600950" y="5734064"/>
            <a:ext cx="2124075" cy="369332"/>
          </a:xfrm>
          <a:prstGeom prst="rect">
            <a:avLst/>
          </a:prstGeom>
          <a:noFill/>
        </p:spPr>
        <p:txBody>
          <a:bodyPr wrap="square" rtlCol="0">
            <a:spAutoFit/>
          </a:bodyPr>
          <a:lstStyle/>
          <a:p>
            <a:r>
              <a:rPr lang="en-US" dirty="0"/>
              <a:t>Strong learner</a:t>
            </a:r>
            <a:endParaRPr lang="en-IN" dirty="0"/>
          </a:p>
        </p:txBody>
      </p:sp>
      <p:cxnSp>
        <p:nvCxnSpPr>
          <p:cNvPr id="53" name="Straight Arrow Connector 52">
            <a:extLst>
              <a:ext uri="{FF2B5EF4-FFF2-40B4-BE49-F238E27FC236}">
                <a16:creationId xmlns:a16="http://schemas.microsoft.com/office/drawing/2014/main" id="{B3E0C8F6-03C8-476D-AB21-6A2D314D235E}"/>
              </a:ext>
            </a:extLst>
          </p:cNvPr>
          <p:cNvCxnSpPr>
            <a:cxnSpLocks/>
          </p:cNvCxnSpPr>
          <p:nvPr/>
        </p:nvCxnSpPr>
        <p:spPr>
          <a:xfrm flipV="1">
            <a:off x="6690406" y="3729534"/>
            <a:ext cx="697504" cy="3185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5C525836-5460-44FA-B7F5-17BCA43A6BE6}"/>
              </a:ext>
            </a:extLst>
          </p:cNvPr>
          <p:cNvSpPr txBox="1"/>
          <p:nvPr/>
        </p:nvSpPr>
        <p:spPr>
          <a:xfrm>
            <a:off x="7524749" y="3465019"/>
            <a:ext cx="3164150" cy="369332"/>
          </a:xfrm>
          <a:prstGeom prst="rect">
            <a:avLst/>
          </a:prstGeom>
          <a:noFill/>
        </p:spPr>
        <p:txBody>
          <a:bodyPr wrap="square" rtlCol="0">
            <a:spAutoFit/>
          </a:bodyPr>
          <a:lstStyle/>
          <a:p>
            <a:r>
              <a:rPr lang="en-US" dirty="0"/>
              <a:t>Weak learners, base models</a:t>
            </a:r>
            <a:endParaRPr lang="en-IN" dirty="0"/>
          </a:p>
        </p:txBody>
      </p:sp>
      <p:sp>
        <p:nvSpPr>
          <p:cNvPr id="3" name="TextBox 2">
            <a:extLst>
              <a:ext uri="{FF2B5EF4-FFF2-40B4-BE49-F238E27FC236}">
                <a16:creationId xmlns:a16="http://schemas.microsoft.com/office/drawing/2014/main" id="{5AC3802B-CBBD-4DF6-A657-2DD89B222BCC}"/>
              </a:ext>
            </a:extLst>
          </p:cNvPr>
          <p:cNvSpPr txBox="1"/>
          <p:nvPr/>
        </p:nvSpPr>
        <p:spPr>
          <a:xfrm>
            <a:off x="8379130" y="398415"/>
            <a:ext cx="3571137" cy="3323987"/>
          </a:xfrm>
          <a:prstGeom prst="rect">
            <a:avLst/>
          </a:prstGeom>
          <a:noFill/>
        </p:spPr>
        <p:txBody>
          <a:bodyPr wrap="square" rtlCol="0">
            <a:spAutoFit/>
          </a:bodyPr>
          <a:lstStyle/>
          <a:p>
            <a:r>
              <a:rPr lang="en-US" sz="1600" b="1" i="0" dirty="0">
                <a:solidFill>
                  <a:srgbClr val="000000"/>
                </a:solidFill>
                <a:effectLst/>
                <a:latin typeface="Poppins"/>
              </a:rPr>
              <a:t>Sequential ensemble methods:</a:t>
            </a:r>
            <a:r>
              <a:rPr lang="en-US" sz="1600" b="0" i="0" dirty="0">
                <a:solidFill>
                  <a:srgbClr val="000000"/>
                </a:solidFill>
                <a:effectLst/>
                <a:latin typeface="Poppins"/>
              </a:rPr>
              <a:t> In this technique, different learners learn sequentially with early learners fitting simple models to the data. Then the data is analyzed for errors. The goal is to solve for net error from the prior model. The overall performance can be boosted by weighing previously mislabeled examples with higher weight.</a:t>
            </a:r>
          </a:p>
          <a:p>
            <a:endParaRPr lang="en-IN" dirty="0"/>
          </a:p>
        </p:txBody>
      </p:sp>
      <p:sp>
        <p:nvSpPr>
          <p:cNvPr id="5" name="TextBox 4">
            <a:extLst>
              <a:ext uri="{FF2B5EF4-FFF2-40B4-BE49-F238E27FC236}">
                <a16:creationId xmlns:a16="http://schemas.microsoft.com/office/drawing/2014/main" id="{E1972485-7932-4D5F-91BD-DEA3CC0EC63C}"/>
              </a:ext>
            </a:extLst>
          </p:cNvPr>
          <p:cNvSpPr txBox="1"/>
          <p:nvPr/>
        </p:nvSpPr>
        <p:spPr>
          <a:xfrm>
            <a:off x="593969" y="6010031"/>
            <a:ext cx="1281723" cy="646331"/>
          </a:xfrm>
          <a:prstGeom prst="rect">
            <a:avLst/>
          </a:prstGeom>
          <a:noFill/>
        </p:spPr>
        <p:txBody>
          <a:bodyPr wrap="square" rtlCol="0">
            <a:spAutoFit/>
          </a:bodyPr>
          <a:lstStyle/>
          <a:p>
            <a:r>
              <a:rPr lang="en-US" dirty="0"/>
              <a:t>Original dataset</a:t>
            </a:r>
            <a:endParaRPr lang="en-IN" dirty="0"/>
          </a:p>
        </p:txBody>
      </p:sp>
    </p:spTree>
    <p:extLst>
      <p:ext uri="{BB962C8B-B14F-4D97-AF65-F5344CB8AC3E}">
        <p14:creationId xmlns:p14="http://schemas.microsoft.com/office/powerpoint/2010/main" val="14483912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0786C-EADF-123A-9832-3C98E509A40A}"/>
              </a:ext>
            </a:extLst>
          </p:cNvPr>
          <p:cNvSpPr>
            <a:spLocks noGrp="1"/>
          </p:cNvSpPr>
          <p:nvPr>
            <p:ph type="title"/>
          </p:nvPr>
        </p:nvSpPr>
        <p:spPr/>
        <p:txBody>
          <a:bodyPr/>
          <a:lstStyle/>
          <a:p>
            <a:r>
              <a:rPr lang="en-IN" dirty="0"/>
              <a:t>Boosting</a:t>
            </a:r>
          </a:p>
        </p:txBody>
      </p:sp>
      <p:pic>
        <p:nvPicPr>
          <p:cNvPr id="5" name="Content Placeholder 4">
            <a:extLst>
              <a:ext uri="{FF2B5EF4-FFF2-40B4-BE49-F238E27FC236}">
                <a16:creationId xmlns:a16="http://schemas.microsoft.com/office/drawing/2014/main" id="{D7368657-FD7A-9927-582A-C165BAB072CE}"/>
              </a:ext>
            </a:extLst>
          </p:cNvPr>
          <p:cNvPicPr>
            <a:picLocks noGrp="1" noChangeAspect="1"/>
          </p:cNvPicPr>
          <p:nvPr>
            <p:ph idx="1"/>
          </p:nvPr>
        </p:nvPicPr>
        <p:blipFill>
          <a:blip r:embed="rId2"/>
          <a:stretch>
            <a:fillRect/>
          </a:stretch>
        </p:blipFill>
        <p:spPr>
          <a:xfrm>
            <a:off x="2777317" y="1825625"/>
            <a:ext cx="6637366" cy="4351338"/>
          </a:xfrm>
        </p:spPr>
      </p:pic>
    </p:spTree>
    <p:extLst>
      <p:ext uri="{BB962C8B-B14F-4D97-AF65-F5344CB8AC3E}">
        <p14:creationId xmlns:p14="http://schemas.microsoft.com/office/powerpoint/2010/main" val="6740330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E68CF-7222-4566-AB1B-4307B415A3F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3116F89-524B-4C80-8A2B-B879746F55FD}"/>
              </a:ext>
            </a:extLst>
          </p:cNvPr>
          <p:cNvSpPr>
            <a:spLocks noGrp="1"/>
          </p:cNvSpPr>
          <p:nvPr>
            <p:ph idx="1"/>
          </p:nvPr>
        </p:nvSpPr>
        <p:spPr/>
        <p:txBody>
          <a:bodyPr>
            <a:normAutofit fontScale="92500"/>
          </a:bodyPr>
          <a:lstStyle/>
          <a:p>
            <a:r>
              <a:rPr lang="en-US" dirty="0"/>
              <a:t>Initially all the records have equal weights in the original dataset.</a:t>
            </a:r>
          </a:p>
          <a:p>
            <a:r>
              <a:rPr lang="en-US" dirty="0"/>
              <a:t>Each record is equally probably to be selected in the  to form the dataset 1 on which the model will be trained.</a:t>
            </a:r>
          </a:p>
          <a:p>
            <a:r>
              <a:rPr lang="en-US" dirty="0"/>
              <a:t>Once model 1 is trained on subset of samples from the original dataset,  predictions are done on original dataset input features.</a:t>
            </a:r>
          </a:p>
          <a:p>
            <a:r>
              <a:rPr lang="en-US" dirty="0"/>
              <a:t>The weight of those records is increased which are not able to be classified by model 1 correctly.</a:t>
            </a:r>
          </a:p>
          <a:p>
            <a:r>
              <a:rPr lang="en-US" dirty="0"/>
              <a:t>Hence the probability of those records which are not classified correctly by model 1 have more chances to be selected in the dataset2.</a:t>
            </a:r>
          </a:p>
          <a:p>
            <a:pPr marL="0" indent="0">
              <a:buNone/>
            </a:pPr>
            <a:r>
              <a:rPr lang="en-US" dirty="0"/>
              <a:t> </a:t>
            </a:r>
            <a:endParaRPr lang="en-IN" dirty="0"/>
          </a:p>
        </p:txBody>
      </p:sp>
    </p:spTree>
    <p:extLst>
      <p:ext uri="{BB962C8B-B14F-4D97-AF65-F5344CB8AC3E}">
        <p14:creationId xmlns:p14="http://schemas.microsoft.com/office/powerpoint/2010/main" val="40296204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880A7-4F58-7C47-E314-76944B6C2D88}"/>
              </a:ext>
            </a:extLst>
          </p:cNvPr>
          <p:cNvSpPr>
            <a:spLocks noGrp="1"/>
          </p:cNvSpPr>
          <p:nvPr>
            <p:ph type="title"/>
          </p:nvPr>
        </p:nvSpPr>
        <p:spPr/>
        <p:txBody>
          <a:bodyPr/>
          <a:lstStyle/>
          <a:p>
            <a:r>
              <a:rPr lang="en-US" dirty="0" err="1">
                <a:solidFill>
                  <a:srgbClr val="111111"/>
                </a:solidFill>
                <a:highlight>
                  <a:srgbClr val="FFFFFF"/>
                </a:highlight>
                <a:latin typeface="Helvetica" panose="020B0604020202020204" pitchFamily="34" charset="0"/>
              </a:rPr>
              <a:t>Adaboost</a:t>
            </a:r>
            <a:r>
              <a:rPr lang="en-US" dirty="0">
                <a:solidFill>
                  <a:srgbClr val="111111"/>
                </a:solidFill>
                <a:highlight>
                  <a:srgbClr val="FFFFFF"/>
                </a:highlight>
                <a:latin typeface="Helvetica" panose="020B0604020202020204" pitchFamily="34" charset="0"/>
              </a:rPr>
              <a:t>: E.g. algorithm for boosting</a:t>
            </a:r>
            <a:br>
              <a:rPr lang="en-US" b="0" i="0" dirty="0">
                <a:solidFill>
                  <a:srgbClr val="111111"/>
                </a:solidFill>
                <a:effectLst/>
                <a:highlight>
                  <a:srgbClr val="FFFFFF"/>
                </a:highlight>
                <a:latin typeface="Helvetica" panose="020B0604020202020204" pitchFamily="34" charset="0"/>
              </a:rPr>
            </a:br>
            <a:endParaRPr lang="en-US" dirty="0"/>
          </a:p>
        </p:txBody>
      </p:sp>
      <p:sp>
        <p:nvSpPr>
          <p:cNvPr id="3" name="Content Placeholder 2">
            <a:extLst>
              <a:ext uri="{FF2B5EF4-FFF2-40B4-BE49-F238E27FC236}">
                <a16:creationId xmlns:a16="http://schemas.microsoft.com/office/drawing/2014/main" id="{438403D1-0DA1-60BB-6E81-E8D2EEA90C7C}"/>
              </a:ext>
            </a:extLst>
          </p:cNvPr>
          <p:cNvSpPr>
            <a:spLocks noGrp="1"/>
          </p:cNvSpPr>
          <p:nvPr>
            <p:ph idx="1"/>
          </p:nvPr>
        </p:nvSpPr>
        <p:spPr/>
        <p:txBody>
          <a:bodyPr>
            <a:normAutofit lnSpcReduction="10000"/>
          </a:bodyPr>
          <a:lstStyle/>
          <a:p>
            <a:pPr algn="just"/>
            <a:r>
              <a:rPr lang="en-US" b="0" i="0" dirty="0">
                <a:solidFill>
                  <a:srgbClr val="111111"/>
                </a:solidFill>
                <a:effectLst/>
                <a:highlight>
                  <a:srgbClr val="FFFFFF"/>
                </a:highlight>
                <a:latin typeface="Helvetica" panose="020B0604020202020204" pitchFamily="34" charset="0"/>
              </a:rPr>
              <a:t>In contrast to bagging, you use very simple classifiers as base classifiers, so-called “weak learners.” </a:t>
            </a:r>
          </a:p>
          <a:p>
            <a:pPr algn="just"/>
            <a:r>
              <a:rPr lang="en-US" b="0" i="0" dirty="0">
                <a:solidFill>
                  <a:srgbClr val="111111"/>
                </a:solidFill>
                <a:effectLst/>
                <a:highlight>
                  <a:srgbClr val="FFFFFF"/>
                </a:highlight>
                <a:latin typeface="Helvetica" panose="020B0604020202020204" pitchFamily="34" charset="0"/>
              </a:rPr>
              <a:t>Picture these weak learners as “decision </a:t>
            </a:r>
            <a:r>
              <a:rPr lang="en-US" b="0" i="1" dirty="0">
                <a:solidFill>
                  <a:srgbClr val="111111"/>
                </a:solidFill>
                <a:effectLst/>
                <a:highlight>
                  <a:srgbClr val="FFFFFF"/>
                </a:highlight>
                <a:latin typeface="Helvetica" panose="020B0604020202020204" pitchFamily="34" charset="0"/>
              </a:rPr>
              <a:t>tree stumps</a:t>
            </a:r>
            <a:r>
              <a:rPr lang="en-US" b="0" i="0" dirty="0">
                <a:solidFill>
                  <a:srgbClr val="111111"/>
                </a:solidFill>
                <a:effectLst/>
                <a:highlight>
                  <a:srgbClr val="FFFFFF"/>
                </a:highlight>
                <a:latin typeface="Helvetica" panose="020B0604020202020204" pitchFamily="34" charset="0"/>
              </a:rPr>
              <a:t>” – decision trees with only 1 splitting rule. </a:t>
            </a:r>
          </a:p>
          <a:p>
            <a:pPr algn="just"/>
            <a:r>
              <a:rPr lang="en-US" dirty="0">
                <a:solidFill>
                  <a:srgbClr val="111111"/>
                </a:solidFill>
                <a:highlight>
                  <a:srgbClr val="FFFFFF"/>
                </a:highlight>
                <a:latin typeface="Helvetica" panose="020B0604020202020204" pitchFamily="34" charset="0"/>
              </a:rPr>
              <a:t>M</a:t>
            </a:r>
            <a:r>
              <a:rPr lang="en-US" b="0" i="0" dirty="0">
                <a:solidFill>
                  <a:srgbClr val="111111"/>
                </a:solidFill>
                <a:effectLst/>
                <a:highlight>
                  <a:srgbClr val="FFFFFF"/>
                </a:highlight>
                <a:latin typeface="Helvetica" panose="020B0604020202020204" pitchFamily="34" charset="0"/>
              </a:rPr>
              <a:t>ost popular example of boosting, AdaBoost. Here, we start with one decision tree stump (1) and “focus” on the samples it got wrong. In the next round, we train another decision tree stump that attempts to get these samples right (2); we achieve this by putting a larger weight on these training samples. Again, this 2nd classifier will likely get some other samples wrong, so you’d re-adjust the weights …</a:t>
            </a:r>
          </a:p>
          <a:p>
            <a:endParaRPr lang="en-US" dirty="0"/>
          </a:p>
        </p:txBody>
      </p:sp>
    </p:spTree>
    <p:extLst>
      <p:ext uri="{BB962C8B-B14F-4D97-AF65-F5344CB8AC3E}">
        <p14:creationId xmlns:p14="http://schemas.microsoft.com/office/powerpoint/2010/main" val="17667149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EAFEB-43E1-1ADA-B678-4E4AFF6886E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C10B2D8-C27D-344C-4375-061E14970265}"/>
              </a:ext>
            </a:extLst>
          </p:cNvPr>
          <p:cNvSpPr>
            <a:spLocks noGrp="1"/>
          </p:cNvSpPr>
          <p:nvPr>
            <p:ph idx="1"/>
          </p:nvPr>
        </p:nvSpPr>
        <p:spPr/>
        <p:txBody>
          <a:bodyPr/>
          <a:lstStyle/>
          <a:p>
            <a:pPr algn="just"/>
            <a:r>
              <a:rPr lang="en-US" b="0" i="0" dirty="0">
                <a:solidFill>
                  <a:srgbClr val="111111"/>
                </a:solidFill>
                <a:effectLst/>
                <a:highlight>
                  <a:srgbClr val="FFFFFF"/>
                </a:highlight>
                <a:latin typeface="Helvetica" panose="020B0604020202020204" pitchFamily="34" charset="0"/>
              </a:rPr>
              <a:t>In a nutshell, we can summarize “</a:t>
            </a:r>
            <a:r>
              <a:rPr lang="en-US" b="0" i="0" dirty="0" err="1">
                <a:solidFill>
                  <a:srgbClr val="111111"/>
                </a:solidFill>
                <a:effectLst/>
                <a:highlight>
                  <a:srgbClr val="FFFFFF"/>
                </a:highlight>
                <a:latin typeface="Helvetica" panose="020B0604020202020204" pitchFamily="34" charset="0"/>
              </a:rPr>
              <a:t>Adaboost</a:t>
            </a:r>
            <a:r>
              <a:rPr lang="en-US" b="0" i="0" dirty="0">
                <a:solidFill>
                  <a:srgbClr val="111111"/>
                </a:solidFill>
                <a:effectLst/>
                <a:highlight>
                  <a:srgbClr val="FFFFFF"/>
                </a:highlight>
                <a:latin typeface="Helvetica" panose="020B0604020202020204" pitchFamily="34" charset="0"/>
              </a:rPr>
              <a:t>” as “adaptive” or “incremental” learning from mistakes. Eventually, we will come up with a model that has a lower bias than an individual decision tree (thus, it is less likely to underfit the training data).</a:t>
            </a:r>
            <a:endParaRPr lang="en-US" dirty="0"/>
          </a:p>
        </p:txBody>
      </p:sp>
    </p:spTree>
    <p:extLst>
      <p:ext uri="{BB962C8B-B14F-4D97-AF65-F5344CB8AC3E}">
        <p14:creationId xmlns:p14="http://schemas.microsoft.com/office/powerpoint/2010/main" val="16810434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B8EE4-59D9-D465-7C6F-3BD6CCE0A21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0892AF75-F95F-7562-4943-1A80E9B87070}"/>
              </a:ext>
            </a:extLst>
          </p:cNvPr>
          <p:cNvPicPr>
            <a:picLocks noGrp="1" noChangeAspect="1"/>
          </p:cNvPicPr>
          <p:nvPr>
            <p:ph idx="1"/>
          </p:nvPr>
        </p:nvPicPr>
        <p:blipFill>
          <a:blip r:embed="rId3"/>
          <a:stretch>
            <a:fillRect/>
          </a:stretch>
        </p:blipFill>
        <p:spPr>
          <a:xfrm>
            <a:off x="859971" y="130629"/>
            <a:ext cx="9437961" cy="6727371"/>
          </a:xfrm>
        </p:spPr>
      </p:pic>
      <p:sp>
        <p:nvSpPr>
          <p:cNvPr id="6" name="Rectangle 5">
            <a:extLst>
              <a:ext uri="{FF2B5EF4-FFF2-40B4-BE49-F238E27FC236}">
                <a16:creationId xmlns:a16="http://schemas.microsoft.com/office/drawing/2014/main" id="{CCADBD9B-9DDB-7CD0-5A8F-92E753A4878E}"/>
              </a:ext>
            </a:extLst>
          </p:cNvPr>
          <p:cNvSpPr/>
          <p:nvPr/>
        </p:nvSpPr>
        <p:spPr>
          <a:xfrm>
            <a:off x="3278778" y="5852160"/>
            <a:ext cx="3435532" cy="4572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6767577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D85F5-33AD-4CD2-938D-348BA82AAD5B}"/>
              </a:ext>
            </a:extLst>
          </p:cNvPr>
          <p:cNvSpPr>
            <a:spLocks noGrp="1"/>
          </p:cNvSpPr>
          <p:nvPr>
            <p:ph type="title"/>
          </p:nvPr>
        </p:nvSpPr>
        <p:spPr/>
        <p:txBody>
          <a:bodyPr/>
          <a:lstStyle/>
          <a:p>
            <a:r>
              <a:rPr lang="en-US" b="1" dirty="0" err="1"/>
              <a:t>Adaboost</a:t>
            </a:r>
            <a:r>
              <a:rPr lang="en-US" b="1" dirty="0"/>
              <a:t> (Adaptive Boosting) example of Boosting algorithm</a:t>
            </a:r>
            <a:endParaRPr lang="en-IN" b="1" dirty="0"/>
          </a:p>
        </p:txBody>
      </p:sp>
      <p:sp>
        <p:nvSpPr>
          <p:cNvPr id="3" name="Content Placeholder 2">
            <a:extLst>
              <a:ext uri="{FF2B5EF4-FFF2-40B4-BE49-F238E27FC236}">
                <a16:creationId xmlns:a16="http://schemas.microsoft.com/office/drawing/2014/main" id="{86E117EE-E023-4CAB-AEAE-11AD84EB978D}"/>
              </a:ext>
            </a:extLst>
          </p:cNvPr>
          <p:cNvSpPr>
            <a:spLocks noGrp="1"/>
          </p:cNvSpPr>
          <p:nvPr>
            <p:ph idx="1"/>
          </p:nvPr>
        </p:nvSpPr>
        <p:spPr/>
        <p:txBody>
          <a:bodyPr>
            <a:normAutofit/>
          </a:bodyPr>
          <a:lstStyle/>
          <a:p>
            <a:r>
              <a:rPr lang="en-US" sz="2000" b="0" i="0" dirty="0">
                <a:solidFill>
                  <a:srgbClr val="202124"/>
                </a:solidFill>
                <a:effectLst/>
                <a:latin typeface="arial" panose="020B0604020202020204" pitchFamily="34" charset="0"/>
              </a:rPr>
              <a:t>The general idea behind </a:t>
            </a:r>
            <a:r>
              <a:rPr lang="en-US" sz="2000" b="1" i="0" dirty="0">
                <a:solidFill>
                  <a:srgbClr val="202124"/>
                </a:solidFill>
                <a:effectLst/>
                <a:latin typeface="arial" panose="020B0604020202020204" pitchFamily="34" charset="0"/>
              </a:rPr>
              <a:t>boosting</a:t>
            </a:r>
            <a:r>
              <a:rPr lang="en-US" sz="2000" b="0" i="0" dirty="0">
                <a:solidFill>
                  <a:srgbClr val="202124"/>
                </a:solidFill>
                <a:effectLst/>
                <a:latin typeface="arial" panose="020B0604020202020204" pitchFamily="34" charset="0"/>
              </a:rPr>
              <a:t> methods is to train predictors sequentially, each trying to correct its predecessor. The most commonly used </a:t>
            </a:r>
            <a:r>
              <a:rPr lang="en-US" sz="2000" b="1" i="0" dirty="0">
                <a:solidFill>
                  <a:srgbClr val="202124"/>
                </a:solidFill>
                <a:effectLst/>
                <a:latin typeface="arial" panose="020B0604020202020204" pitchFamily="34" charset="0"/>
              </a:rPr>
              <a:t>boosting</a:t>
            </a:r>
            <a:r>
              <a:rPr lang="en-US" sz="2000" b="0" i="0" dirty="0">
                <a:solidFill>
                  <a:srgbClr val="202124"/>
                </a:solidFill>
                <a:effectLst/>
                <a:latin typeface="arial" panose="020B0604020202020204" pitchFamily="34" charset="0"/>
              </a:rPr>
              <a:t> algorithms </a:t>
            </a:r>
            <a:r>
              <a:rPr lang="en-US" sz="2000" dirty="0">
                <a:solidFill>
                  <a:srgbClr val="202124"/>
                </a:solidFill>
                <a:latin typeface="arial" panose="020B0604020202020204" pitchFamily="34" charset="0"/>
              </a:rPr>
              <a:t>is</a:t>
            </a:r>
            <a:r>
              <a:rPr lang="en-US" sz="2000" b="0" i="0" dirty="0">
                <a:solidFill>
                  <a:srgbClr val="202124"/>
                </a:solidFill>
                <a:effectLst/>
                <a:latin typeface="arial" panose="020B0604020202020204" pitchFamily="34" charset="0"/>
              </a:rPr>
              <a:t> </a:t>
            </a:r>
            <a:r>
              <a:rPr lang="en-US" sz="2000" b="1" i="0" dirty="0">
                <a:solidFill>
                  <a:srgbClr val="202124"/>
                </a:solidFill>
                <a:effectLst/>
                <a:latin typeface="arial" panose="020B0604020202020204" pitchFamily="34" charset="0"/>
              </a:rPr>
              <a:t>AdaBoost.</a:t>
            </a:r>
            <a:endParaRPr lang="en-IN" sz="2000" dirty="0"/>
          </a:p>
        </p:txBody>
      </p:sp>
      <p:sp>
        <p:nvSpPr>
          <p:cNvPr id="4" name="Oval 3">
            <a:extLst>
              <a:ext uri="{FF2B5EF4-FFF2-40B4-BE49-F238E27FC236}">
                <a16:creationId xmlns:a16="http://schemas.microsoft.com/office/drawing/2014/main" id="{D9F0DE06-DDB9-4125-9784-A7B854B23DDB}"/>
              </a:ext>
            </a:extLst>
          </p:cNvPr>
          <p:cNvSpPr/>
          <p:nvPr/>
        </p:nvSpPr>
        <p:spPr>
          <a:xfrm>
            <a:off x="6198956" y="3136789"/>
            <a:ext cx="459727" cy="5131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Arrow Connector 4">
            <a:extLst>
              <a:ext uri="{FF2B5EF4-FFF2-40B4-BE49-F238E27FC236}">
                <a16:creationId xmlns:a16="http://schemas.microsoft.com/office/drawing/2014/main" id="{D33EDFB3-B788-40A8-B4FB-A24926451543}"/>
              </a:ext>
            </a:extLst>
          </p:cNvPr>
          <p:cNvCxnSpPr>
            <a:stCxn id="4" idx="4"/>
          </p:cNvCxnSpPr>
          <p:nvPr/>
        </p:nvCxnSpPr>
        <p:spPr>
          <a:xfrm flipH="1">
            <a:off x="5919038" y="3649972"/>
            <a:ext cx="509782" cy="675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0A4309ED-482E-44DF-BC1E-B8FB00DD5968}"/>
              </a:ext>
            </a:extLst>
          </p:cNvPr>
          <p:cNvCxnSpPr>
            <a:stCxn id="4" idx="4"/>
          </p:cNvCxnSpPr>
          <p:nvPr/>
        </p:nvCxnSpPr>
        <p:spPr>
          <a:xfrm>
            <a:off x="6428820" y="3649972"/>
            <a:ext cx="509781" cy="7464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56F5A6B4-65AD-4387-B0B5-0E4ACC72DA6F}"/>
              </a:ext>
            </a:extLst>
          </p:cNvPr>
          <p:cNvSpPr/>
          <p:nvPr/>
        </p:nvSpPr>
        <p:spPr>
          <a:xfrm>
            <a:off x="5639120" y="4388588"/>
            <a:ext cx="658137" cy="3693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37ADD8CF-8C19-46B7-ADA8-F3B14FE6DF8B}"/>
              </a:ext>
            </a:extLst>
          </p:cNvPr>
          <p:cNvSpPr/>
          <p:nvPr/>
        </p:nvSpPr>
        <p:spPr>
          <a:xfrm>
            <a:off x="6714667" y="4424207"/>
            <a:ext cx="658137" cy="3693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29E98CE8-0532-427C-A89F-2C23E70C8458}"/>
              </a:ext>
            </a:extLst>
          </p:cNvPr>
          <p:cNvSpPr txBox="1"/>
          <p:nvPr/>
        </p:nvSpPr>
        <p:spPr>
          <a:xfrm>
            <a:off x="4948654" y="5156093"/>
            <a:ext cx="2743200" cy="369332"/>
          </a:xfrm>
          <a:prstGeom prst="rect">
            <a:avLst/>
          </a:prstGeom>
          <a:noFill/>
        </p:spPr>
        <p:txBody>
          <a:bodyPr wrap="square" rtlCol="0">
            <a:spAutoFit/>
          </a:bodyPr>
          <a:lstStyle/>
          <a:p>
            <a:r>
              <a:rPr lang="en-US" dirty="0"/>
              <a:t>Stump</a:t>
            </a:r>
            <a:endParaRPr lang="en-IN" dirty="0"/>
          </a:p>
        </p:txBody>
      </p:sp>
      <p:sp>
        <p:nvSpPr>
          <p:cNvPr id="10" name="Oval 9">
            <a:extLst>
              <a:ext uri="{FF2B5EF4-FFF2-40B4-BE49-F238E27FC236}">
                <a16:creationId xmlns:a16="http://schemas.microsoft.com/office/drawing/2014/main" id="{127845E8-AB27-4751-A7F8-0F1F7A68C2F0}"/>
              </a:ext>
            </a:extLst>
          </p:cNvPr>
          <p:cNvSpPr/>
          <p:nvPr/>
        </p:nvSpPr>
        <p:spPr>
          <a:xfrm>
            <a:off x="8807318" y="3048272"/>
            <a:ext cx="459727" cy="5131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Arrow Connector 10">
            <a:extLst>
              <a:ext uri="{FF2B5EF4-FFF2-40B4-BE49-F238E27FC236}">
                <a16:creationId xmlns:a16="http://schemas.microsoft.com/office/drawing/2014/main" id="{ABD8A7D6-1D6B-4359-9463-708F04F4B8C9}"/>
              </a:ext>
            </a:extLst>
          </p:cNvPr>
          <p:cNvCxnSpPr>
            <a:stCxn id="10" idx="4"/>
          </p:cNvCxnSpPr>
          <p:nvPr/>
        </p:nvCxnSpPr>
        <p:spPr>
          <a:xfrm flipH="1">
            <a:off x="8527400" y="3561455"/>
            <a:ext cx="509782" cy="675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C94C9D4-62AD-463D-B53A-981030B9B6B1}"/>
              </a:ext>
            </a:extLst>
          </p:cNvPr>
          <p:cNvCxnSpPr>
            <a:stCxn id="10" idx="4"/>
          </p:cNvCxnSpPr>
          <p:nvPr/>
        </p:nvCxnSpPr>
        <p:spPr>
          <a:xfrm>
            <a:off x="9037182" y="3561455"/>
            <a:ext cx="509781" cy="7464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E40620A5-5493-4A61-9AA6-A9E100EFF8A6}"/>
              </a:ext>
            </a:extLst>
          </p:cNvPr>
          <p:cNvSpPr/>
          <p:nvPr/>
        </p:nvSpPr>
        <p:spPr>
          <a:xfrm>
            <a:off x="8247482" y="4300071"/>
            <a:ext cx="658137" cy="3693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Oval 13">
            <a:extLst>
              <a:ext uri="{FF2B5EF4-FFF2-40B4-BE49-F238E27FC236}">
                <a16:creationId xmlns:a16="http://schemas.microsoft.com/office/drawing/2014/main" id="{A92B319C-97B9-4455-80B4-C64B50FAF83F}"/>
              </a:ext>
            </a:extLst>
          </p:cNvPr>
          <p:cNvSpPr/>
          <p:nvPr/>
        </p:nvSpPr>
        <p:spPr>
          <a:xfrm>
            <a:off x="9323029" y="4335690"/>
            <a:ext cx="658137" cy="3693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77A89FF7-4965-43B8-B768-019C25239460}"/>
              </a:ext>
            </a:extLst>
          </p:cNvPr>
          <p:cNvSpPr txBox="1"/>
          <p:nvPr/>
        </p:nvSpPr>
        <p:spPr>
          <a:xfrm>
            <a:off x="7557016" y="5067576"/>
            <a:ext cx="2743200" cy="369332"/>
          </a:xfrm>
          <a:prstGeom prst="rect">
            <a:avLst/>
          </a:prstGeom>
          <a:noFill/>
        </p:spPr>
        <p:txBody>
          <a:bodyPr wrap="square" rtlCol="0">
            <a:spAutoFit/>
          </a:bodyPr>
          <a:lstStyle/>
          <a:p>
            <a:r>
              <a:rPr lang="en-US" dirty="0"/>
              <a:t>Stump</a:t>
            </a:r>
            <a:endParaRPr lang="en-IN" dirty="0"/>
          </a:p>
        </p:txBody>
      </p:sp>
      <p:sp>
        <p:nvSpPr>
          <p:cNvPr id="16" name="Oval 15">
            <a:extLst>
              <a:ext uri="{FF2B5EF4-FFF2-40B4-BE49-F238E27FC236}">
                <a16:creationId xmlns:a16="http://schemas.microsoft.com/office/drawing/2014/main" id="{890D2864-B1CC-481C-9F61-15CDBE09AB7A}"/>
              </a:ext>
            </a:extLst>
          </p:cNvPr>
          <p:cNvSpPr/>
          <p:nvPr/>
        </p:nvSpPr>
        <p:spPr>
          <a:xfrm>
            <a:off x="2804471" y="3172408"/>
            <a:ext cx="459727" cy="51318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a:extLst>
              <a:ext uri="{FF2B5EF4-FFF2-40B4-BE49-F238E27FC236}">
                <a16:creationId xmlns:a16="http://schemas.microsoft.com/office/drawing/2014/main" id="{A304DAE1-D6FA-43BF-98AB-878E8E021A7D}"/>
              </a:ext>
            </a:extLst>
          </p:cNvPr>
          <p:cNvCxnSpPr>
            <a:stCxn id="16" idx="4"/>
          </p:cNvCxnSpPr>
          <p:nvPr/>
        </p:nvCxnSpPr>
        <p:spPr>
          <a:xfrm flipH="1">
            <a:off x="2524553" y="3685591"/>
            <a:ext cx="509782" cy="6757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AA8D5B4-4F23-403C-8A4B-9278D2A91DE7}"/>
              </a:ext>
            </a:extLst>
          </p:cNvPr>
          <p:cNvCxnSpPr>
            <a:stCxn id="16" idx="4"/>
          </p:cNvCxnSpPr>
          <p:nvPr/>
        </p:nvCxnSpPr>
        <p:spPr>
          <a:xfrm>
            <a:off x="3034335" y="3685591"/>
            <a:ext cx="509781" cy="7464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B09F6B54-ED82-4CC4-B733-5A4321F60CF1}"/>
              </a:ext>
            </a:extLst>
          </p:cNvPr>
          <p:cNvSpPr/>
          <p:nvPr/>
        </p:nvSpPr>
        <p:spPr>
          <a:xfrm>
            <a:off x="2244635" y="4424207"/>
            <a:ext cx="658137" cy="3693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E3541A51-66A1-4E49-9D17-A5777A90815A}"/>
              </a:ext>
            </a:extLst>
          </p:cNvPr>
          <p:cNvSpPr/>
          <p:nvPr/>
        </p:nvSpPr>
        <p:spPr>
          <a:xfrm>
            <a:off x="3320182" y="4459826"/>
            <a:ext cx="658137" cy="36933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2DA8528E-C16F-4003-B2C1-D20FC5EA0B57}"/>
              </a:ext>
            </a:extLst>
          </p:cNvPr>
          <p:cNvSpPr txBox="1"/>
          <p:nvPr/>
        </p:nvSpPr>
        <p:spPr>
          <a:xfrm>
            <a:off x="1554169" y="5191712"/>
            <a:ext cx="2743200" cy="369332"/>
          </a:xfrm>
          <a:prstGeom prst="rect">
            <a:avLst/>
          </a:prstGeom>
          <a:noFill/>
        </p:spPr>
        <p:txBody>
          <a:bodyPr wrap="square" rtlCol="0">
            <a:spAutoFit/>
          </a:bodyPr>
          <a:lstStyle/>
          <a:p>
            <a:r>
              <a:rPr lang="en-US" dirty="0"/>
              <a:t>Stump</a:t>
            </a:r>
            <a:endParaRPr lang="en-IN" dirty="0"/>
          </a:p>
        </p:txBody>
      </p:sp>
      <p:sp>
        <p:nvSpPr>
          <p:cNvPr id="22" name="TextBox 21">
            <a:extLst>
              <a:ext uri="{FF2B5EF4-FFF2-40B4-BE49-F238E27FC236}">
                <a16:creationId xmlns:a16="http://schemas.microsoft.com/office/drawing/2014/main" id="{2C007C7C-7FC3-5F2C-0B58-FD229E2B246E}"/>
              </a:ext>
            </a:extLst>
          </p:cNvPr>
          <p:cNvSpPr txBox="1"/>
          <p:nvPr/>
        </p:nvSpPr>
        <p:spPr>
          <a:xfrm>
            <a:off x="7785463" y="5656217"/>
            <a:ext cx="3161211" cy="646331"/>
          </a:xfrm>
          <a:prstGeom prst="rect">
            <a:avLst/>
          </a:prstGeom>
          <a:noFill/>
        </p:spPr>
        <p:txBody>
          <a:bodyPr wrap="square" rtlCol="0">
            <a:spAutoFit/>
          </a:bodyPr>
          <a:lstStyle/>
          <a:p>
            <a:r>
              <a:rPr lang="en-US" i="0" dirty="0">
                <a:solidFill>
                  <a:srgbClr val="111111"/>
                </a:solidFill>
                <a:effectLst/>
                <a:latin typeface="Helvetica" panose="020B0604020202020204" pitchFamily="34" charset="0"/>
              </a:rPr>
              <a:t>tree stumps” – decision trees with only 1 splitting rule.</a:t>
            </a:r>
            <a:endParaRPr lang="en-US" dirty="0"/>
          </a:p>
        </p:txBody>
      </p:sp>
    </p:spTree>
    <p:extLst>
      <p:ext uri="{BB962C8B-B14F-4D97-AF65-F5344CB8AC3E}">
        <p14:creationId xmlns:p14="http://schemas.microsoft.com/office/powerpoint/2010/main" val="14714965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FACA5-2C1B-41A3-BAE1-84C347B4612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E41BEBAE-0B3B-45A1-9F56-57EFEFE4A75D}"/>
              </a:ext>
            </a:extLst>
          </p:cNvPr>
          <p:cNvPicPr>
            <a:picLocks noGrp="1" noChangeAspect="1"/>
          </p:cNvPicPr>
          <p:nvPr>
            <p:ph idx="1"/>
          </p:nvPr>
        </p:nvPicPr>
        <p:blipFill>
          <a:blip r:embed="rId2"/>
          <a:stretch>
            <a:fillRect/>
          </a:stretch>
        </p:blipFill>
        <p:spPr>
          <a:xfrm>
            <a:off x="2638425" y="2362994"/>
            <a:ext cx="6915150" cy="3276600"/>
          </a:xfrm>
        </p:spPr>
      </p:pic>
    </p:spTree>
    <p:extLst>
      <p:ext uri="{BB962C8B-B14F-4D97-AF65-F5344CB8AC3E}">
        <p14:creationId xmlns:p14="http://schemas.microsoft.com/office/powerpoint/2010/main" val="31670268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609D1-B38D-70E2-3C4D-B43270B680A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7D58B6EE-DC66-4295-D8ED-7B409A124538}"/>
              </a:ext>
            </a:extLst>
          </p:cNvPr>
          <p:cNvPicPr>
            <a:picLocks noGrp="1" noChangeAspect="1"/>
          </p:cNvPicPr>
          <p:nvPr>
            <p:ph idx="1"/>
          </p:nvPr>
        </p:nvPicPr>
        <p:blipFill>
          <a:blip r:embed="rId3"/>
          <a:stretch>
            <a:fillRect/>
          </a:stretch>
        </p:blipFill>
        <p:spPr>
          <a:xfrm>
            <a:off x="819526" y="0"/>
            <a:ext cx="10352972" cy="6921208"/>
          </a:xfrm>
        </p:spPr>
      </p:pic>
    </p:spTree>
    <p:extLst>
      <p:ext uri="{BB962C8B-B14F-4D97-AF65-F5344CB8AC3E}">
        <p14:creationId xmlns:p14="http://schemas.microsoft.com/office/powerpoint/2010/main" val="36467351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660A-842D-6FCE-4D16-E6A59E96017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9032604-9DED-B645-09C7-7431AF7375D6}"/>
              </a:ext>
            </a:extLst>
          </p:cNvPr>
          <p:cNvSpPr>
            <a:spLocks noGrp="1"/>
          </p:cNvSpPr>
          <p:nvPr>
            <p:ph idx="1"/>
          </p:nvPr>
        </p:nvSpPr>
        <p:spPr/>
        <p:txBody>
          <a:bodyPr>
            <a:normAutofit/>
          </a:bodyPr>
          <a:lstStyle/>
          <a:p>
            <a:pPr algn="just"/>
            <a:r>
              <a:rPr lang="en-US" i="0" dirty="0">
                <a:solidFill>
                  <a:srgbClr val="111111"/>
                </a:solidFill>
                <a:effectLst/>
                <a:latin typeface="Helvetica" panose="020B0604020202020204" pitchFamily="34" charset="0"/>
              </a:rPr>
              <a:t>In contrast to bagging, you use very simple classifiers as base classifiers, so-called “weak learners.” Picture these weak learners as “decision tree stumps” – decision trees with only 1 splitting rule. Below, we will refer to the probably most popular example of boosting, AdaBoost. </a:t>
            </a:r>
            <a:r>
              <a:rPr lang="en-US" b="1" i="0" dirty="0">
                <a:solidFill>
                  <a:srgbClr val="111111"/>
                </a:solidFill>
                <a:effectLst/>
                <a:latin typeface="Helvetica" panose="020B0604020202020204" pitchFamily="34" charset="0"/>
              </a:rPr>
              <a:t>Here, we start with one decision tree stump (1) and “focus” on the samples it got wrong. In the next round, we train another decision tree stump that attempts to get these samples right (2); we achieve this by putting a larger weight on these training samples. Again, this 2nd classifier will likely get some other samples wrong, so you’d re-adjust the weights …</a:t>
            </a:r>
            <a:endParaRPr lang="en-IN" b="1" dirty="0"/>
          </a:p>
        </p:txBody>
      </p:sp>
    </p:spTree>
    <p:extLst>
      <p:ext uri="{BB962C8B-B14F-4D97-AF65-F5344CB8AC3E}">
        <p14:creationId xmlns:p14="http://schemas.microsoft.com/office/powerpoint/2010/main" val="6711498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8AAAC-D51E-4CFF-93AF-A6F3D00D1F2F}"/>
              </a:ext>
            </a:extLst>
          </p:cNvPr>
          <p:cNvSpPr>
            <a:spLocks noGrp="1"/>
          </p:cNvSpPr>
          <p:nvPr>
            <p:ph type="title"/>
          </p:nvPr>
        </p:nvSpPr>
        <p:spPr/>
        <p:txBody>
          <a:bodyPr/>
          <a:lstStyle/>
          <a:p>
            <a:endParaRPr lang="en-IN"/>
          </a:p>
        </p:txBody>
      </p:sp>
      <p:pic>
        <p:nvPicPr>
          <p:cNvPr id="1026" name="Picture 2" descr="Adaboost Classifier">
            <a:extLst>
              <a:ext uri="{FF2B5EF4-FFF2-40B4-BE49-F238E27FC236}">
                <a16:creationId xmlns:a16="http://schemas.microsoft.com/office/drawing/2014/main" id="{E6BBB86B-C6C5-47FD-984C-818E5AA76B8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35437" y="923730"/>
            <a:ext cx="8125275" cy="5419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61343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5E92B-192C-4945-9914-CF63E1E8C814}"/>
              </a:ext>
            </a:extLst>
          </p:cNvPr>
          <p:cNvSpPr>
            <a:spLocks noGrp="1"/>
          </p:cNvSpPr>
          <p:nvPr>
            <p:ph type="title"/>
          </p:nvPr>
        </p:nvSpPr>
        <p:spPr/>
        <p:txBody>
          <a:bodyPr/>
          <a:lstStyle/>
          <a:p>
            <a:r>
              <a:rPr lang="en-US" dirty="0"/>
              <a:t>Bagging and boosting </a:t>
            </a:r>
            <a:r>
              <a:rPr lang="en-US"/>
              <a:t>in steps</a:t>
            </a:r>
            <a:endParaRPr lang="en-IN"/>
          </a:p>
        </p:txBody>
      </p:sp>
      <p:pic>
        <p:nvPicPr>
          <p:cNvPr id="2050" name="Picture 2" descr="Illustrations of (A) bagging and (B) boosting ensemble algorithms.">
            <a:extLst>
              <a:ext uri="{FF2B5EF4-FFF2-40B4-BE49-F238E27FC236}">
                <a16:creationId xmlns:a16="http://schemas.microsoft.com/office/drawing/2014/main" id="{992291E7-EF15-41CC-A002-6C2D276EB0A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2099" y="1909557"/>
            <a:ext cx="11140885" cy="425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86091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2960-4EE0-47E6-86EA-8E7D6DAB35DF}"/>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721F4B76-1235-444D-A72D-436280B813D1}"/>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4000"/>
                    </a14:imgEffect>
                  </a14:imgLayer>
                </a14:imgProps>
              </a:ext>
            </a:extLst>
          </a:blip>
          <a:stretch>
            <a:fillRect/>
          </a:stretch>
        </p:blipFill>
        <p:spPr>
          <a:xfrm>
            <a:off x="3048000" y="2248694"/>
            <a:ext cx="6276975" cy="3948062"/>
          </a:xfrm>
          <a:prstGeom prst="rect">
            <a:avLst/>
          </a:prstGeom>
        </p:spPr>
      </p:pic>
    </p:spTree>
    <p:extLst>
      <p:ext uri="{BB962C8B-B14F-4D97-AF65-F5344CB8AC3E}">
        <p14:creationId xmlns:p14="http://schemas.microsoft.com/office/powerpoint/2010/main" val="3609788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8E82C-DEFC-4F1D-81EF-C82A211F55FD}"/>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970F0F98-B1AB-4D58-9C2A-D7613DF42221}"/>
              </a:ext>
            </a:extLst>
          </p:cNvPr>
          <p:cNvPicPr>
            <a:picLocks noGrp="1" noChangeAspect="1"/>
          </p:cNvPicPr>
          <p:nvPr>
            <p:ph idx="1"/>
          </p:nvPr>
        </p:nvPicPr>
        <p:blipFill>
          <a:blip r:embed="rId2"/>
          <a:stretch>
            <a:fillRect/>
          </a:stretch>
        </p:blipFill>
        <p:spPr>
          <a:xfrm>
            <a:off x="391553" y="365126"/>
            <a:ext cx="10501010" cy="6127750"/>
          </a:xfrm>
          <a:prstGeom prst="rect">
            <a:avLst/>
          </a:prstGeom>
        </p:spPr>
      </p:pic>
    </p:spTree>
    <p:extLst>
      <p:ext uri="{BB962C8B-B14F-4D97-AF65-F5344CB8AC3E}">
        <p14:creationId xmlns:p14="http://schemas.microsoft.com/office/powerpoint/2010/main" val="650182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17A42-C35F-468E-A764-2F9CF335AA38}"/>
              </a:ext>
            </a:extLst>
          </p:cNvPr>
          <p:cNvSpPr>
            <a:spLocks noGrp="1"/>
          </p:cNvSpPr>
          <p:nvPr>
            <p:ph type="title"/>
          </p:nvPr>
        </p:nvSpPr>
        <p:spPr/>
        <p:txBody>
          <a:bodyPr/>
          <a:lstStyle/>
          <a:p>
            <a:r>
              <a:rPr lang="en-US" dirty="0"/>
              <a:t>Applications of bagging and boosting</a:t>
            </a:r>
            <a:endParaRPr lang="en-IN" dirty="0"/>
          </a:p>
        </p:txBody>
      </p:sp>
      <p:sp>
        <p:nvSpPr>
          <p:cNvPr id="3" name="Content Placeholder 2">
            <a:extLst>
              <a:ext uri="{FF2B5EF4-FFF2-40B4-BE49-F238E27FC236}">
                <a16:creationId xmlns:a16="http://schemas.microsoft.com/office/drawing/2014/main" id="{78B34FF4-3EBD-4782-9B86-A0F74DEB6887}"/>
              </a:ext>
            </a:extLst>
          </p:cNvPr>
          <p:cNvSpPr>
            <a:spLocks noGrp="1"/>
          </p:cNvSpPr>
          <p:nvPr>
            <p:ph idx="1"/>
          </p:nvPr>
        </p:nvSpPr>
        <p:spPr/>
        <p:txBody>
          <a:bodyPr>
            <a:normAutofit lnSpcReduction="10000"/>
          </a:bodyPr>
          <a:lstStyle/>
          <a:p>
            <a:pPr algn="l"/>
            <a:r>
              <a:rPr lang="en-US" b="0" i="0" dirty="0">
                <a:solidFill>
                  <a:srgbClr val="292929"/>
                </a:solidFill>
                <a:effectLst/>
                <a:latin typeface="charter"/>
              </a:rPr>
              <a:t>There are multiple areas where Bagging and Boosting technique is used to boost the accuracy.</a:t>
            </a:r>
          </a:p>
          <a:p>
            <a:pPr algn="l">
              <a:buFont typeface="+mj-lt"/>
              <a:buAutoNum type="arabicPeriod"/>
            </a:pPr>
            <a:r>
              <a:rPr lang="en-US" b="0" i="0" dirty="0">
                <a:solidFill>
                  <a:srgbClr val="292929"/>
                </a:solidFill>
                <a:effectLst/>
                <a:latin typeface="charter"/>
              </a:rPr>
              <a:t>Banking: Loan defaulter prediction, fraud transaction</a:t>
            </a:r>
          </a:p>
          <a:p>
            <a:pPr algn="l">
              <a:buFont typeface="+mj-lt"/>
              <a:buAutoNum type="arabicPeriod"/>
            </a:pPr>
            <a:r>
              <a:rPr lang="en-US" b="0" i="0" dirty="0">
                <a:solidFill>
                  <a:srgbClr val="292929"/>
                </a:solidFill>
                <a:effectLst/>
                <a:latin typeface="charter"/>
              </a:rPr>
              <a:t>Credit risks</a:t>
            </a:r>
          </a:p>
          <a:p>
            <a:pPr algn="l">
              <a:buFont typeface="+mj-lt"/>
              <a:buAutoNum type="arabicPeriod"/>
            </a:pPr>
            <a:r>
              <a:rPr lang="en-US" b="0" i="0" dirty="0">
                <a:solidFill>
                  <a:srgbClr val="292929"/>
                </a:solidFill>
                <a:effectLst/>
                <a:latin typeface="charter"/>
              </a:rPr>
              <a:t>Kaggle competitions</a:t>
            </a:r>
          </a:p>
          <a:p>
            <a:pPr algn="l">
              <a:buFont typeface="+mj-lt"/>
              <a:buAutoNum type="arabicPeriod"/>
            </a:pPr>
            <a:r>
              <a:rPr lang="en-US" b="0" i="0" dirty="0">
                <a:solidFill>
                  <a:srgbClr val="292929"/>
                </a:solidFill>
                <a:effectLst/>
                <a:latin typeface="charter"/>
              </a:rPr>
              <a:t>Fraud detection</a:t>
            </a:r>
          </a:p>
          <a:p>
            <a:pPr algn="l">
              <a:buFont typeface="+mj-lt"/>
              <a:buAutoNum type="arabicPeriod"/>
            </a:pPr>
            <a:r>
              <a:rPr lang="en-US" b="0" i="0" dirty="0">
                <a:solidFill>
                  <a:srgbClr val="292929"/>
                </a:solidFill>
                <a:effectLst/>
                <a:latin typeface="charter"/>
              </a:rPr>
              <a:t>Recommender system for Netflix</a:t>
            </a:r>
          </a:p>
          <a:p>
            <a:pPr algn="l">
              <a:buFont typeface="+mj-lt"/>
              <a:buAutoNum type="arabicPeriod"/>
            </a:pPr>
            <a:r>
              <a:rPr lang="en-US" b="0" i="0" dirty="0">
                <a:solidFill>
                  <a:srgbClr val="292929"/>
                </a:solidFill>
                <a:effectLst/>
                <a:latin typeface="charter"/>
              </a:rPr>
              <a:t>Malware</a:t>
            </a:r>
          </a:p>
          <a:p>
            <a:pPr algn="l">
              <a:buFont typeface="+mj-lt"/>
              <a:buAutoNum type="arabicPeriod"/>
            </a:pPr>
            <a:r>
              <a:rPr lang="en-US" b="0" i="0" dirty="0">
                <a:solidFill>
                  <a:srgbClr val="292929"/>
                </a:solidFill>
                <a:effectLst/>
                <a:latin typeface="charter"/>
              </a:rPr>
              <a:t>Wildlife conservations and so on.</a:t>
            </a:r>
          </a:p>
          <a:p>
            <a:endParaRPr lang="en-IN" dirty="0"/>
          </a:p>
        </p:txBody>
      </p:sp>
    </p:spTree>
    <p:extLst>
      <p:ext uri="{BB962C8B-B14F-4D97-AF65-F5344CB8AC3E}">
        <p14:creationId xmlns:p14="http://schemas.microsoft.com/office/powerpoint/2010/main" val="28857373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5C160-9057-4F68-8ADC-D9EDF8FF195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B91016A-C752-4F0F-9A6C-502669DE7ECF}"/>
              </a:ext>
            </a:extLst>
          </p:cNvPr>
          <p:cNvSpPr>
            <a:spLocks noGrp="1"/>
          </p:cNvSpPr>
          <p:nvPr>
            <p:ph idx="1"/>
          </p:nvPr>
        </p:nvSpPr>
        <p:spPr/>
        <p:txBody>
          <a:bodyPr>
            <a:normAutofit lnSpcReduction="10000"/>
          </a:bodyPr>
          <a:lstStyle/>
          <a:p>
            <a:pPr algn="l"/>
            <a:r>
              <a:rPr lang="en-US" b="1" i="0" dirty="0">
                <a:solidFill>
                  <a:srgbClr val="1375B0"/>
                </a:solidFill>
                <a:effectLst/>
                <a:latin typeface="Nunito Sans"/>
              </a:rPr>
              <a:t>Advantages of Boosting</a:t>
            </a:r>
          </a:p>
          <a:p>
            <a:pPr algn="l">
              <a:buFont typeface="Arial" panose="020B0604020202020204" pitchFamily="34" charset="0"/>
              <a:buChar char="•"/>
            </a:pPr>
            <a:r>
              <a:rPr lang="en-US" b="0" i="0" dirty="0">
                <a:solidFill>
                  <a:srgbClr val="4D5968"/>
                </a:solidFill>
                <a:effectLst/>
                <a:latin typeface="Nunito Sans"/>
              </a:rPr>
              <a:t>It is one of the most successful techniques in solving the two-class classification problems.</a:t>
            </a:r>
          </a:p>
          <a:p>
            <a:pPr algn="l">
              <a:buFont typeface="Arial" panose="020B0604020202020204" pitchFamily="34" charset="0"/>
              <a:buChar char="•"/>
            </a:pPr>
            <a:r>
              <a:rPr lang="en-US" b="0" i="0" dirty="0">
                <a:solidFill>
                  <a:srgbClr val="4D5968"/>
                </a:solidFill>
                <a:effectLst/>
                <a:latin typeface="Nunito Sans"/>
              </a:rPr>
              <a:t>It is good at handling the missing data.</a:t>
            </a:r>
          </a:p>
          <a:p>
            <a:pPr algn="l"/>
            <a:r>
              <a:rPr lang="en-US" b="1" i="0" dirty="0">
                <a:solidFill>
                  <a:srgbClr val="1375B0"/>
                </a:solidFill>
                <a:effectLst/>
                <a:latin typeface="Nunito Sans"/>
              </a:rPr>
              <a:t>Disadvantages of Boosting</a:t>
            </a:r>
          </a:p>
          <a:p>
            <a:pPr algn="l">
              <a:buFont typeface="Arial" panose="020B0604020202020204" pitchFamily="34" charset="0"/>
              <a:buChar char="•"/>
            </a:pPr>
            <a:r>
              <a:rPr lang="en-US" b="0" i="0" dirty="0">
                <a:solidFill>
                  <a:srgbClr val="4D5968"/>
                </a:solidFill>
                <a:effectLst/>
                <a:latin typeface="Nunito Sans"/>
              </a:rPr>
              <a:t>Boosting is hard to implement in real-time due to the increased complexity of the algorithm.</a:t>
            </a:r>
          </a:p>
          <a:p>
            <a:pPr algn="l">
              <a:buFont typeface="Arial" panose="020B0604020202020204" pitchFamily="34" charset="0"/>
              <a:buChar char="•"/>
            </a:pPr>
            <a:r>
              <a:rPr lang="en-US" b="0" i="0" dirty="0">
                <a:solidFill>
                  <a:srgbClr val="4D5968"/>
                </a:solidFill>
                <a:effectLst/>
                <a:latin typeface="Nunito Sans"/>
              </a:rPr>
              <a:t>The high flexibility of these techniques results in multiple numbers parameters that directly affect the </a:t>
            </a:r>
            <a:r>
              <a:rPr lang="en-US" b="0" i="0" dirty="0" err="1">
                <a:solidFill>
                  <a:srgbClr val="4D5968"/>
                </a:solidFill>
                <a:effectLst/>
                <a:latin typeface="Nunito Sans"/>
              </a:rPr>
              <a:t>behaviour</a:t>
            </a:r>
            <a:r>
              <a:rPr lang="en-US" b="0" i="0" dirty="0">
                <a:solidFill>
                  <a:srgbClr val="4D5968"/>
                </a:solidFill>
                <a:effectLst/>
                <a:latin typeface="Nunito Sans"/>
              </a:rPr>
              <a:t> of the model.</a:t>
            </a:r>
          </a:p>
          <a:p>
            <a:endParaRPr lang="en-IN" dirty="0"/>
          </a:p>
        </p:txBody>
      </p:sp>
    </p:spTree>
    <p:extLst>
      <p:ext uri="{BB962C8B-B14F-4D97-AF65-F5344CB8AC3E}">
        <p14:creationId xmlns:p14="http://schemas.microsoft.com/office/powerpoint/2010/main" val="38800956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47F3E-8557-A0FF-B1B8-7011B478C914}"/>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DE6EB310-029C-8B27-4FC0-856D7B7CD311}"/>
              </a:ext>
            </a:extLst>
          </p:cNvPr>
          <p:cNvSpPr>
            <a:spLocks noGrp="1"/>
          </p:cNvSpPr>
          <p:nvPr>
            <p:ph idx="1"/>
          </p:nvPr>
        </p:nvSpPr>
        <p:spPr/>
        <p:txBody>
          <a:bodyPr/>
          <a:lstStyle/>
          <a:p>
            <a:r>
              <a:rPr lang="en-IN" dirty="0">
                <a:hlinkClick r:id="rId2"/>
              </a:rPr>
              <a:t>https://www.youtube.com/watch?v=KIOeZ5cFZ50</a:t>
            </a:r>
            <a:endParaRPr lang="en-IN" dirty="0"/>
          </a:p>
          <a:p>
            <a:r>
              <a:rPr lang="en-IN" dirty="0"/>
              <a:t>https://www.youtube.com/watch?v=NLRO1-jp5F8</a:t>
            </a:r>
          </a:p>
        </p:txBody>
      </p:sp>
    </p:spTree>
    <p:extLst>
      <p:ext uri="{BB962C8B-B14F-4D97-AF65-F5344CB8AC3E}">
        <p14:creationId xmlns:p14="http://schemas.microsoft.com/office/powerpoint/2010/main" val="2675423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54486</TotalTime>
  <Words>2380</Words>
  <Application>Microsoft Office PowerPoint</Application>
  <PresentationFormat>Widescreen</PresentationFormat>
  <Paragraphs>232</Paragraphs>
  <Slides>52</Slides>
  <Notes>9</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52</vt:i4>
      </vt:variant>
    </vt:vector>
  </HeadingPairs>
  <TitlesOfParts>
    <vt:vector size="71" baseType="lpstr">
      <vt:lpstr>Adobe Caslon Pro</vt:lpstr>
      <vt:lpstr>Arial</vt:lpstr>
      <vt:lpstr>Arial</vt:lpstr>
      <vt:lpstr>Arial MT</vt:lpstr>
      <vt:lpstr>Calibri</vt:lpstr>
      <vt:lpstr>Calibri Light</vt:lpstr>
      <vt:lpstr>Cambria</vt:lpstr>
      <vt:lpstr>Cambria Math</vt:lpstr>
      <vt:lpstr>charter</vt:lpstr>
      <vt:lpstr>Google Sans</vt:lpstr>
      <vt:lpstr>Helvetica</vt:lpstr>
      <vt:lpstr>Lucida Sans Unicode</vt:lpstr>
      <vt:lpstr>Microsoft Sans Serif</vt:lpstr>
      <vt:lpstr>Nunito Sans</vt:lpstr>
      <vt:lpstr>Poppins</vt:lpstr>
      <vt:lpstr>sohne</vt:lpstr>
      <vt:lpstr>Times New Roman</vt:lpstr>
      <vt:lpstr>urw-din</vt:lpstr>
      <vt:lpstr>Office Theme</vt:lpstr>
      <vt:lpstr>PowerPoint Presentation</vt:lpstr>
      <vt:lpstr>Ensemble of classifiers  Bagging &amp; Boosting</vt:lpstr>
      <vt:lpstr>What are ensemble methods? </vt:lpstr>
      <vt:lpstr>Single weak learner </vt:lpstr>
      <vt:lpstr>PowerPoint Presentation</vt:lpstr>
      <vt:lpstr>Ensemble learning</vt:lpstr>
      <vt:lpstr>Advantages of ensemble learning</vt:lpstr>
      <vt:lpstr>PowerPoint Presentation</vt:lpstr>
      <vt:lpstr>Majority Voting</vt:lpstr>
      <vt:lpstr>PowerPoint Presentation</vt:lpstr>
      <vt:lpstr>Majority Vote Classifier</vt:lpstr>
      <vt:lpstr>Why Majority Vote?</vt:lpstr>
      <vt:lpstr>Why Majority Vote?</vt:lpstr>
      <vt:lpstr>PowerPoint Presentation</vt:lpstr>
      <vt:lpstr>PowerPoint Presentation</vt:lpstr>
      <vt:lpstr>Bagging (Bootstrap Aggregating)</vt:lpstr>
      <vt:lpstr>PowerPoint Presentation</vt:lpstr>
      <vt:lpstr>PowerPoint Presentation</vt:lpstr>
      <vt:lpstr>PowerPoint Presentation</vt:lpstr>
      <vt:lpstr>How Bagging works on training dataset ?</vt:lpstr>
      <vt:lpstr>PowerPoint Presentation</vt:lpstr>
      <vt:lpstr>PowerPoint Presentation</vt:lpstr>
      <vt:lpstr>PowerPoint Presentation</vt:lpstr>
      <vt:lpstr>Algorithm for the Bagging classifier:</vt:lpstr>
      <vt:lpstr>PowerPoint Presentation</vt:lpstr>
      <vt:lpstr>Bagging</vt:lpstr>
      <vt:lpstr>Bagging</vt:lpstr>
      <vt:lpstr>PowerPoint Presentation</vt:lpstr>
      <vt:lpstr>PowerPoint Presentation</vt:lpstr>
      <vt:lpstr>Bagging</vt:lpstr>
      <vt:lpstr>Boosting </vt:lpstr>
      <vt:lpstr>Boosting</vt:lpstr>
      <vt:lpstr>Types of boosting techniques</vt:lpstr>
      <vt:lpstr>Boosting</vt:lpstr>
      <vt:lpstr>PowerPoint Presentation</vt:lpstr>
      <vt:lpstr>Boosting</vt:lpstr>
      <vt:lpstr>Boosting</vt:lpstr>
      <vt:lpstr>PowerPoint Presentation</vt:lpstr>
      <vt:lpstr>Adaboost: E.g. algorithm for boosting </vt:lpstr>
      <vt:lpstr>PowerPoint Presentation</vt:lpstr>
      <vt:lpstr>PowerPoint Presentation</vt:lpstr>
      <vt:lpstr>Adaboost (Adaptive Boosting) example of Boosting algorithm</vt:lpstr>
      <vt:lpstr>PowerPoint Presentation</vt:lpstr>
      <vt:lpstr>PowerPoint Presentation</vt:lpstr>
      <vt:lpstr>PowerPoint Presentation</vt:lpstr>
      <vt:lpstr>PowerPoint Presentation</vt:lpstr>
      <vt:lpstr>Bagging and boosting in steps</vt:lpstr>
      <vt:lpstr>PowerPoint Presentation</vt:lpstr>
      <vt:lpstr>PowerPoint Presentation</vt:lpstr>
      <vt:lpstr>Applications of bagging and boosting</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Bagging</dc:title>
  <dc:creator>kriti ohri</dc:creator>
  <cp:lastModifiedBy>Kriti Ohri</cp:lastModifiedBy>
  <cp:revision>32</cp:revision>
  <dcterms:created xsi:type="dcterms:W3CDTF">2021-06-28T07:09:48Z</dcterms:created>
  <dcterms:modified xsi:type="dcterms:W3CDTF">2024-11-17T03:34:34Z</dcterms:modified>
</cp:coreProperties>
</file>