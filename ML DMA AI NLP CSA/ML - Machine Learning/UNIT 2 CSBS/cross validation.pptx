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1"/>
  </p:notesMasterIdLst>
  <p:sldIdLst>
    <p:sldId id="320" r:id="rId2"/>
    <p:sldId id="267" r:id="rId3"/>
    <p:sldId id="275" r:id="rId4"/>
    <p:sldId id="301" r:id="rId5"/>
    <p:sldId id="302" r:id="rId6"/>
    <p:sldId id="324" r:id="rId7"/>
    <p:sldId id="303" r:id="rId8"/>
    <p:sldId id="325" r:id="rId9"/>
    <p:sldId id="288" r:id="rId10"/>
    <p:sldId id="289" r:id="rId11"/>
    <p:sldId id="290" r:id="rId12"/>
    <p:sldId id="268" r:id="rId13"/>
    <p:sldId id="269" r:id="rId14"/>
    <p:sldId id="292" r:id="rId15"/>
    <p:sldId id="293" r:id="rId16"/>
    <p:sldId id="291" r:id="rId17"/>
    <p:sldId id="257" r:id="rId18"/>
    <p:sldId id="258" r:id="rId19"/>
    <p:sldId id="326" r:id="rId20"/>
    <p:sldId id="259" r:id="rId21"/>
    <p:sldId id="294" r:id="rId22"/>
    <p:sldId id="276" r:id="rId23"/>
    <p:sldId id="260" r:id="rId24"/>
    <p:sldId id="322" r:id="rId25"/>
    <p:sldId id="271" r:id="rId26"/>
    <p:sldId id="321" r:id="rId27"/>
    <p:sldId id="278" r:id="rId28"/>
    <p:sldId id="329" r:id="rId29"/>
    <p:sldId id="262" r:id="rId30"/>
    <p:sldId id="323" r:id="rId31"/>
    <p:sldId id="263" r:id="rId32"/>
    <p:sldId id="299" r:id="rId33"/>
    <p:sldId id="327" r:id="rId34"/>
    <p:sldId id="300" r:id="rId35"/>
    <p:sldId id="295" r:id="rId36"/>
    <p:sldId id="296" r:id="rId37"/>
    <p:sldId id="328" r:id="rId38"/>
    <p:sldId id="297" r:id="rId39"/>
    <p:sldId id="266"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92" autoAdjust="0"/>
    <p:restoredTop sz="95256" autoAdjust="0"/>
  </p:normalViewPr>
  <p:slideViewPr>
    <p:cSldViewPr snapToGrid="0">
      <p:cViewPr varScale="1">
        <p:scale>
          <a:sx n="82" d="100"/>
          <a:sy n="82" d="100"/>
        </p:scale>
        <p:origin x="672"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8C6BD5D-3060-4A92-985D-4B9C48D5E378}" type="datetimeFigureOut">
              <a:rPr lang="en-IN" smtClean="0"/>
              <a:t>23-09-2024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19CF6ED-7164-4C65-8ED9-FBFEB43881A0}" type="slidenum">
              <a:rPr lang="en-IN" smtClean="0"/>
              <a:t>‹#›</a:t>
            </a:fld>
            <a:endParaRPr lang="en-IN"/>
          </a:p>
        </p:txBody>
      </p:sp>
    </p:spTree>
    <p:extLst>
      <p:ext uri="{BB962C8B-B14F-4D97-AF65-F5344CB8AC3E}">
        <p14:creationId xmlns:p14="http://schemas.microsoft.com/office/powerpoint/2010/main" val="39864192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66485DB-6355-47A6-ABCE-F416926EEF60}" type="slidenum">
              <a:rPr lang="en-IN" smtClean="0"/>
              <a:t>1</a:t>
            </a:fld>
            <a:endParaRPr lang="en-IN"/>
          </a:p>
        </p:txBody>
      </p:sp>
    </p:spTree>
    <p:extLst>
      <p:ext uri="{BB962C8B-B14F-4D97-AF65-F5344CB8AC3E}">
        <p14:creationId xmlns:p14="http://schemas.microsoft.com/office/powerpoint/2010/main" val="27805102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19CF6ED-7164-4C65-8ED9-FBFEB43881A0}" type="slidenum">
              <a:rPr lang="en-IN" smtClean="0"/>
              <a:t>13</a:t>
            </a:fld>
            <a:endParaRPr lang="en-IN"/>
          </a:p>
        </p:txBody>
      </p:sp>
    </p:spTree>
    <p:extLst>
      <p:ext uri="{BB962C8B-B14F-4D97-AF65-F5344CB8AC3E}">
        <p14:creationId xmlns:p14="http://schemas.microsoft.com/office/powerpoint/2010/main" val="41606700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19CF6ED-7164-4C65-8ED9-FBFEB43881A0}" type="slidenum">
              <a:rPr lang="en-IN" smtClean="0"/>
              <a:t>15</a:t>
            </a:fld>
            <a:endParaRPr lang="en-IN"/>
          </a:p>
        </p:txBody>
      </p:sp>
    </p:spTree>
    <p:extLst>
      <p:ext uri="{BB962C8B-B14F-4D97-AF65-F5344CB8AC3E}">
        <p14:creationId xmlns:p14="http://schemas.microsoft.com/office/powerpoint/2010/main" val="35759709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637C14-FE59-497C-80B9-95EBB7150A0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7EF80195-21B8-4457-BA3E-87AAE42DD8A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021FE10-1C8F-44AC-8570-EF8325E40B98}"/>
              </a:ext>
            </a:extLst>
          </p:cNvPr>
          <p:cNvSpPr>
            <a:spLocks noGrp="1"/>
          </p:cNvSpPr>
          <p:nvPr>
            <p:ph type="dt" sz="half" idx="10"/>
          </p:nvPr>
        </p:nvSpPr>
        <p:spPr/>
        <p:txBody>
          <a:bodyPr/>
          <a:lstStyle/>
          <a:p>
            <a:fld id="{B6E1F7AF-8A4F-4E16-816E-ABEC470443FB}" type="datetimeFigureOut">
              <a:rPr lang="en-IN" smtClean="0"/>
              <a:t>23-09-2024</a:t>
            </a:fld>
            <a:endParaRPr lang="en-IN"/>
          </a:p>
        </p:txBody>
      </p:sp>
      <p:sp>
        <p:nvSpPr>
          <p:cNvPr id="5" name="Footer Placeholder 4">
            <a:extLst>
              <a:ext uri="{FF2B5EF4-FFF2-40B4-BE49-F238E27FC236}">
                <a16:creationId xmlns:a16="http://schemas.microsoft.com/office/drawing/2014/main" id="{F815366C-31C1-4D0E-8177-F2D5B091AA0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AFAED38-FE1F-4A1A-981D-36A9C5E70BCD}"/>
              </a:ext>
            </a:extLst>
          </p:cNvPr>
          <p:cNvSpPr>
            <a:spLocks noGrp="1"/>
          </p:cNvSpPr>
          <p:nvPr>
            <p:ph type="sldNum" sz="quarter" idx="12"/>
          </p:nvPr>
        </p:nvSpPr>
        <p:spPr/>
        <p:txBody>
          <a:bodyPr/>
          <a:lstStyle/>
          <a:p>
            <a:fld id="{D90F9A94-967C-45F5-95C3-D05FC6D68930}" type="slidenum">
              <a:rPr lang="en-IN" smtClean="0"/>
              <a:t>‹#›</a:t>
            </a:fld>
            <a:endParaRPr lang="en-IN"/>
          </a:p>
        </p:txBody>
      </p:sp>
    </p:spTree>
    <p:extLst>
      <p:ext uri="{BB962C8B-B14F-4D97-AF65-F5344CB8AC3E}">
        <p14:creationId xmlns:p14="http://schemas.microsoft.com/office/powerpoint/2010/main" val="39848275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B00B61-9119-4033-8A30-BA52075113E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0E1E092-5F34-4A86-8BB2-1CFF0C30699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FAD8D53-543B-4500-A08B-5EEFFDEC263F}"/>
              </a:ext>
            </a:extLst>
          </p:cNvPr>
          <p:cNvSpPr>
            <a:spLocks noGrp="1"/>
          </p:cNvSpPr>
          <p:nvPr>
            <p:ph type="dt" sz="half" idx="10"/>
          </p:nvPr>
        </p:nvSpPr>
        <p:spPr/>
        <p:txBody>
          <a:bodyPr/>
          <a:lstStyle/>
          <a:p>
            <a:fld id="{B6E1F7AF-8A4F-4E16-816E-ABEC470443FB}" type="datetimeFigureOut">
              <a:rPr lang="en-IN" smtClean="0"/>
              <a:t>23-09-2024</a:t>
            </a:fld>
            <a:endParaRPr lang="en-IN"/>
          </a:p>
        </p:txBody>
      </p:sp>
      <p:sp>
        <p:nvSpPr>
          <p:cNvPr id="5" name="Footer Placeholder 4">
            <a:extLst>
              <a:ext uri="{FF2B5EF4-FFF2-40B4-BE49-F238E27FC236}">
                <a16:creationId xmlns:a16="http://schemas.microsoft.com/office/drawing/2014/main" id="{4E6A6858-6F68-4E49-9AC9-7C240373356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D5B3F66-9B9A-462E-87A8-891ACCFECAF1}"/>
              </a:ext>
            </a:extLst>
          </p:cNvPr>
          <p:cNvSpPr>
            <a:spLocks noGrp="1"/>
          </p:cNvSpPr>
          <p:nvPr>
            <p:ph type="sldNum" sz="quarter" idx="12"/>
          </p:nvPr>
        </p:nvSpPr>
        <p:spPr/>
        <p:txBody>
          <a:bodyPr/>
          <a:lstStyle/>
          <a:p>
            <a:fld id="{D90F9A94-967C-45F5-95C3-D05FC6D68930}" type="slidenum">
              <a:rPr lang="en-IN" smtClean="0"/>
              <a:t>‹#›</a:t>
            </a:fld>
            <a:endParaRPr lang="en-IN"/>
          </a:p>
        </p:txBody>
      </p:sp>
    </p:spTree>
    <p:extLst>
      <p:ext uri="{BB962C8B-B14F-4D97-AF65-F5344CB8AC3E}">
        <p14:creationId xmlns:p14="http://schemas.microsoft.com/office/powerpoint/2010/main" val="34002376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C6EADE-2759-41DF-B313-7ACF00FB2E4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996A380-AAC9-411C-92E0-5EF47ED4725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6CB2DFC-ECF6-4207-95E5-4DA3BB3F291F}"/>
              </a:ext>
            </a:extLst>
          </p:cNvPr>
          <p:cNvSpPr>
            <a:spLocks noGrp="1"/>
          </p:cNvSpPr>
          <p:nvPr>
            <p:ph type="dt" sz="half" idx="10"/>
          </p:nvPr>
        </p:nvSpPr>
        <p:spPr/>
        <p:txBody>
          <a:bodyPr/>
          <a:lstStyle/>
          <a:p>
            <a:fld id="{B6E1F7AF-8A4F-4E16-816E-ABEC470443FB}" type="datetimeFigureOut">
              <a:rPr lang="en-IN" smtClean="0"/>
              <a:t>23-09-2024</a:t>
            </a:fld>
            <a:endParaRPr lang="en-IN"/>
          </a:p>
        </p:txBody>
      </p:sp>
      <p:sp>
        <p:nvSpPr>
          <p:cNvPr id="5" name="Footer Placeholder 4">
            <a:extLst>
              <a:ext uri="{FF2B5EF4-FFF2-40B4-BE49-F238E27FC236}">
                <a16:creationId xmlns:a16="http://schemas.microsoft.com/office/drawing/2014/main" id="{C63F2922-400E-4B53-A5AE-A349FC15869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2A8B9A0-0D0F-4D22-90EF-B8AC88448D6F}"/>
              </a:ext>
            </a:extLst>
          </p:cNvPr>
          <p:cNvSpPr>
            <a:spLocks noGrp="1"/>
          </p:cNvSpPr>
          <p:nvPr>
            <p:ph type="sldNum" sz="quarter" idx="12"/>
          </p:nvPr>
        </p:nvSpPr>
        <p:spPr/>
        <p:txBody>
          <a:bodyPr/>
          <a:lstStyle/>
          <a:p>
            <a:fld id="{D90F9A94-967C-45F5-95C3-D05FC6D68930}" type="slidenum">
              <a:rPr lang="en-IN" smtClean="0"/>
              <a:t>‹#›</a:t>
            </a:fld>
            <a:endParaRPr lang="en-IN"/>
          </a:p>
        </p:txBody>
      </p:sp>
    </p:spTree>
    <p:extLst>
      <p:ext uri="{BB962C8B-B14F-4D97-AF65-F5344CB8AC3E}">
        <p14:creationId xmlns:p14="http://schemas.microsoft.com/office/powerpoint/2010/main" val="28408335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FE770E-AE6B-4FD6-AC07-7548192AFAB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390EED2-B907-437B-80AF-3966A1419AE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2D2059E-9465-4DF3-89CC-80CC03B38DF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A146F93-80B8-4413-A09E-8B65753EDCD1}"/>
              </a:ext>
            </a:extLst>
          </p:cNvPr>
          <p:cNvSpPr>
            <a:spLocks noGrp="1"/>
          </p:cNvSpPr>
          <p:nvPr>
            <p:ph type="dt" sz="half" idx="10"/>
          </p:nvPr>
        </p:nvSpPr>
        <p:spPr/>
        <p:txBody>
          <a:bodyPr/>
          <a:lstStyle/>
          <a:p>
            <a:fld id="{B6E1F7AF-8A4F-4E16-816E-ABEC470443FB}" type="datetimeFigureOut">
              <a:rPr lang="en-IN" smtClean="0"/>
              <a:t>23-09-2024</a:t>
            </a:fld>
            <a:endParaRPr lang="en-IN"/>
          </a:p>
        </p:txBody>
      </p:sp>
      <p:sp>
        <p:nvSpPr>
          <p:cNvPr id="6" name="Footer Placeholder 5">
            <a:extLst>
              <a:ext uri="{FF2B5EF4-FFF2-40B4-BE49-F238E27FC236}">
                <a16:creationId xmlns:a16="http://schemas.microsoft.com/office/drawing/2014/main" id="{066A08B0-C81E-47B7-8C97-D2D8C62CA37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61F283C-C1D1-45A9-8AB7-77AE1BD00B77}"/>
              </a:ext>
            </a:extLst>
          </p:cNvPr>
          <p:cNvSpPr>
            <a:spLocks noGrp="1"/>
          </p:cNvSpPr>
          <p:nvPr>
            <p:ph type="sldNum" sz="quarter" idx="12"/>
          </p:nvPr>
        </p:nvSpPr>
        <p:spPr/>
        <p:txBody>
          <a:bodyPr/>
          <a:lstStyle/>
          <a:p>
            <a:fld id="{D90F9A94-967C-45F5-95C3-D05FC6D68930}" type="slidenum">
              <a:rPr lang="en-IN" smtClean="0"/>
              <a:t>‹#›</a:t>
            </a:fld>
            <a:endParaRPr lang="en-IN"/>
          </a:p>
        </p:txBody>
      </p:sp>
    </p:spTree>
    <p:extLst>
      <p:ext uri="{BB962C8B-B14F-4D97-AF65-F5344CB8AC3E}">
        <p14:creationId xmlns:p14="http://schemas.microsoft.com/office/powerpoint/2010/main" val="24209276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DB46CA-0613-456C-B69D-B548EE29917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1876AC4-8F07-44C8-AF76-C45D7D15941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23EE1B1-04B9-40D6-B78E-EA8E67AB0F4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F7D7D63-28F9-42C7-89A9-3C3AE3990FE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3F7FD34-948F-40DD-A1EC-07BE60096BB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20133B4-9560-4CE0-8A2B-99629CC42002}"/>
              </a:ext>
            </a:extLst>
          </p:cNvPr>
          <p:cNvSpPr>
            <a:spLocks noGrp="1"/>
          </p:cNvSpPr>
          <p:nvPr>
            <p:ph type="dt" sz="half" idx="10"/>
          </p:nvPr>
        </p:nvSpPr>
        <p:spPr/>
        <p:txBody>
          <a:bodyPr/>
          <a:lstStyle/>
          <a:p>
            <a:fld id="{B6E1F7AF-8A4F-4E16-816E-ABEC470443FB}" type="datetimeFigureOut">
              <a:rPr lang="en-IN" smtClean="0"/>
              <a:t>23-09-2024</a:t>
            </a:fld>
            <a:endParaRPr lang="en-IN"/>
          </a:p>
        </p:txBody>
      </p:sp>
      <p:sp>
        <p:nvSpPr>
          <p:cNvPr id="8" name="Footer Placeholder 7">
            <a:extLst>
              <a:ext uri="{FF2B5EF4-FFF2-40B4-BE49-F238E27FC236}">
                <a16:creationId xmlns:a16="http://schemas.microsoft.com/office/drawing/2014/main" id="{328423C0-C87C-4232-9D1A-F25FB1666CE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2B959AC4-8C66-4610-A28F-96819DF7E5DF}"/>
              </a:ext>
            </a:extLst>
          </p:cNvPr>
          <p:cNvSpPr>
            <a:spLocks noGrp="1"/>
          </p:cNvSpPr>
          <p:nvPr>
            <p:ph type="sldNum" sz="quarter" idx="12"/>
          </p:nvPr>
        </p:nvSpPr>
        <p:spPr/>
        <p:txBody>
          <a:bodyPr/>
          <a:lstStyle/>
          <a:p>
            <a:fld id="{D90F9A94-967C-45F5-95C3-D05FC6D68930}" type="slidenum">
              <a:rPr lang="en-IN" smtClean="0"/>
              <a:t>‹#›</a:t>
            </a:fld>
            <a:endParaRPr lang="en-IN"/>
          </a:p>
        </p:txBody>
      </p:sp>
    </p:spTree>
    <p:extLst>
      <p:ext uri="{BB962C8B-B14F-4D97-AF65-F5344CB8AC3E}">
        <p14:creationId xmlns:p14="http://schemas.microsoft.com/office/powerpoint/2010/main" val="25966258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054AE6-48ED-40AF-B246-94B501414EF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A55DD46-435A-4919-83E5-D6BCB7355AB5}"/>
              </a:ext>
            </a:extLst>
          </p:cNvPr>
          <p:cNvSpPr>
            <a:spLocks noGrp="1"/>
          </p:cNvSpPr>
          <p:nvPr>
            <p:ph type="dt" sz="half" idx="10"/>
          </p:nvPr>
        </p:nvSpPr>
        <p:spPr/>
        <p:txBody>
          <a:bodyPr/>
          <a:lstStyle/>
          <a:p>
            <a:fld id="{B6E1F7AF-8A4F-4E16-816E-ABEC470443FB}" type="datetimeFigureOut">
              <a:rPr lang="en-IN" smtClean="0"/>
              <a:t>23-09-2024</a:t>
            </a:fld>
            <a:endParaRPr lang="en-IN"/>
          </a:p>
        </p:txBody>
      </p:sp>
      <p:sp>
        <p:nvSpPr>
          <p:cNvPr id="4" name="Footer Placeholder 3">
            <a:extLst>
              <a:ext uri="{FF2B5EF4-FFF2-40B4-BE49-F238E27FC236}">
                <a16:creationId xmlns:a16="http://schemas.microsoft.com/office/drawing/2014/main" id="{E70E475D-2A60-49A8-A6EB-1FCF6BFC5A9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3F31BC7-F099-4D3F-AAA2-B2EAD5A127CF}"/>
              </a:ext>
            </a:extLst>
          </p:cNvPr>
          <p:cNvSpPr>
            <a:spLocks noGrp="1"/>
          </p:cNvSpPr>
          <p:nvPr>
            <p:ph type="sldNum" sz="quarter" idx="12"/>
          </p:nvPr>
        </p:nvSpPr>
        <p:spPr/>
        <p:txBody>
          <a:bodyPr/>
          <a:lstStyle/>
          <a:p>
            <a:fld id="{D90F9A94-967C-45F5-95C3-D05FC6D68930}" type="slidenum">
              <a:rPr lang="en-IN" smtClean="0"/>
              <a:t>‹#›</a:t>
            </a:fld>
            <a:endParaRPr lang="en-IN"/>
          </a:p>
        </p:txBody>
      </p:sp>
    </p:spTree>
    <p:extLst>
      <p:ext uri="{BB962C8B-B14F-4D97-AF65-F5344CB8AC3E}">
        <p14:creationId xmlns:p14="http://schemas.microsoft.com/office/powerpoint/2010/main" val="3360142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2C02855-2AA2-484C-8C0D-26DDFE32C19F}"/>
              </a:ext>
            </a:extLst>
          </p:cNvPr>
          <p:cNvSpPr>
            <a:spLocks noGrp="1"/>
          </p:cNvSpPr>
          <p:nvPr>
            <p:ph type="dt" sz="half" idx="10"/>
          </p:nvPr>
        </p:nvSpPr>
        <p:spPr/>
        <p:txBody>
          <a:bodyPr/>
          <a:lstStyle/>
          <a:p>
            <a:fld id="{B6E1F7AF-8A4F-4E16-816E-ABEC470443FB}" type="datetimeFigureOut">
              <a:rPr lang="en-IN" smtClean="0"/>
              <a:t>23-09-2024</a:t>
            </a:fld>
            <a:endParaRPr lang="en-IN"/>
          </a:p>
        </p:txBody>
      </p:sp>
      <p:sp>
        <p:nvSpPr>
          <p:cNvPr id="3" name="Footer Placeholder 2">
            <a:extLst>
              <a:ext uri="{FF2B5EF4-FFF2-40B4-BE49-F238E27FC236}">
                <a16:creationId xmlns:a16="http://schemas.microsoft.com/office/drawing/2014/main" id="{772A95F7-2621-4374-A2F0-DF1246BC828A}"/>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F128B9B-1628-40E8-8B8D-ED0D68D14970}"/>
              </a:ext>
            </a:extLst>
          </p:cNvPr>
          <p:cNvSpPr>
            <a:spLocks noGrp="1"/>
          </p:cNvSpPr>
          <p:nvPr>
            <p:ph type="sldNum" sz="quarter" idx="12"/>
          </p:nvPr>
        </p:nvSpPr>
        <p:spPr/>
        <p:txBody>
          <a:bodyPr/>
          <a:lstStyle/>
          <a:p>
            <a:fld id="{D90F9A94-967C-45F5-95C3-D05FC6D68930}" type="slidenum">
              <a:rPr lang="en-IN" smtClean="0"/>
              <a:t>‹#›</a:t>
            </a:fld>
            <a:endParaRPr lang="en-IN"/>
          </a:p>
        </p:txBody>
      </p:sp>
    </p:spTree>
    <p:extLst>
      <p:ext uri="{BB962C8B-B14F-4D97-AF65-F5344CB8AC3E}">
        <p14:creationId xmlns:p14="http://schemas.microsoft.com/office/powerpoint/2010/main" val="7809427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FD958F-F95A-4B1F-9170-70790CB36DE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1BC9A05-3098-4CAF-9C04-DDBFFF01B73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5580111-D48C-4524-8C1A-73F60CE492C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E7364AD-41C2-4FC2-9245-6B1BAF41E572}"/>
              </a:ext>
            </a:extLst>
          </p:cNvPr>
          <p:cNvSpPr>
            <a:spLocks noGrp="1"/>
          </p:cNvSpPr>
          <p:nvPr>
            <p:ph type="dt" sz="half" idx="10"/>
          </p:nvPr>
        </p:nvSpPr>
        <p:spPr/>
        <p:txBody>
          <a:bodyPr/>
          <a:lstStyle/>
          <a:p>
            <a:fld id="{B6E1F7AF-8A4F-4E16-816E-ABEC470443FB}" type="datetimeFigureOut">
              <a:rPr lang="en-IN" smtClean="0"/>
              <a:t>23-09-2024</a:t>
            </a:fld>
            <a:endParaRPr lang="en-IN"/>
          </a:p>
        </p:txBody>
      </p:sp>
      <p:sp>
        <p:nvSpPr>
          <p:cNvPr id="6" name="Footer Placeholder 5">
            <a:extLst>
              <a:ext uri="{FF2B5EF4-FFF2-40B4-BE49-F238E27FC236}">
                <a16:creationId xmlns:a16="http://schemas.microsoft.com/office/drawing/2014/main" id="{09CBE0D5-3011-4183-9884-B9DBC3635B3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C730EAE-E356-4434-B4D8-A1E444CCB5F9}"/>
              </a:ext>
            </a:extLst>
          </p:cNvPr>
          <p:cNvSpPr>
            <a:spLocks noGrp="1"/>
          </p:cNvSpPr>
          <p:nvPr>
            <p:ph type="sldNum" sz="quarter" idx="12"/>
          </p:nvPr>
        </p:nvSpPr>
        <p:spPr/>
        <p:txBody>
          <a:bodyPr/>
          <a:lstStyle/>
          <a:p>
            <a:fld id="{D90F9A94-967C-45F5-95C3-D05FC6D68930}" type="slidenum">
              <a:rPr lang="en-IN" smtClean="0"/>
              <a:t>‹#›</a:t>
            </a:fld>
            <a:endParaRPr lang="en-IN"/>
          </a:p>
        </p:txBody>
      </p:sp>
    </p:spTree>
    <p:extLst>
      <p:ext uri="{BB962C8B-B14F-4D97-AF65-F5344CB8AC3E}">
        <p14:creationId xmlns:p14="http://schemas.microsoft.com/office/powerpoint/2010/main" val="38660820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7F020E-E72B-45D3-8474-06A59E367F9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08009D6-2EC1-40B5-ABCC-65F6D64F71F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9CAC005B-C54E-4BC6-A7A2-F695B89ED49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18B5327-6143-4D3D-9460-E20A2E831FC0}"/>
              </a:ext>
            </a:extLst>
          </p:cNvPr>
          <p:cNvSpPr>
            <a:spLocks noGrp="1"/>
          </p:cNvSpPr>
          <p:nvPr>
            <p:ph type="dt" sz="half" idx="10"/>
          </p:nvPr>
        </p:nvSpPr>
        <p:spPr/>
        <p:txBody>
          <a:bodyPr/>
          <a:lstStyle/>
          <a:p>
            <a:fld id="{B6E1F7AF-8A4F-4E16-816E-ABEC470443FB}" type="datetimeFigureOut">
              <a:rPr lang="en-IN" smtClean="0"/>
              <a:t>23-09-2024</a:t>
            </a:fld>
            <a:endParaRPr lang="en-IN"/>
          </a:p>
        </p:txBody>
      </p:sp>
      <p:sp>
        <p:nvSpPr>
          <p:cNvPr id="6" name="Footer Placeholder 5">
            <a:extLst>
              <a:ext uri="{FF2B5EF4-FFF2-40B4-BE49-F238E27FC236}">
                <a16:creationId xmlns:a16="http://schemas.microsoft.com/office/drawing/2014/main" id="{BB36841B-6EB4-4FBB-8D58-89990831F74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3E1C00F-F7E4-4887-8796-80B931F8523E}"/>
              </a:ext>
            </a:extLst>
          </p:cNvPr>
          <p:cNvSpPr>
            <a:spLocks noGrp="1"/>
          </p:cNvSpPr>
          <p:nvPr>
            <p:ph type="sldNum" sz="quarter" idx="12"/>
          </p:nvPr>
        </p:nvSpPr>
        <p:spPr/>
        <p:txBody>
          <a:bodyPr/>
          <a:lstStyle/>
          <a:p>
            <a:fld id="{D90F9A94-967C-45F5-95C3-D05FC6D68930}" type="slidenum">
              <a:rPr lang="en-IN" smtClean="0"/>
              <a:t>‹#›</a:t>
            </a:fld>
            <a:endParaRPr lang="en-IN"/>
          </a:p>
        </p:txBody>
      </p:sp>
    </p:spTree>
    <p:extLst>
      <p:ext uri="{BB962C8B-B14F-4D97-AF65-F5344CB8AC3E}">
        <p14:creationId xmlns:p14="http://schemas.microsoft.com/office/powerpoint/2010/main" val="35278359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3DBC3-A647-46F9-97B5-26CFB7E73B4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2C06E65-6084-46F0-A7DC-BE037965C3F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230B168-565F-4BE9-BACC-D301F4E4824F}"/>
              </a:ext>
            </a:extLst>
          </p:cNvPr>
          <p:cNvSpPr>
            <a:spLocks noGrp="1"/>
          </p:cNvSpPr>
          <p:nvPr>
            <p:ph type="dt" sz="half" idx="10"/>
          </p:nvPr>
        </p:nvSpPr>
        <p:spPr/>
        <p:txBody>
          <a:bodyPr/>
          <a:lstStyle/>
          <a:p>
            <a:fld id="{B6E1F7AF-8A4F-4E16-816E-ABEC470443FB}" type="datetimeFigureOut">
              <a:rPr lang="en-IN" smtClean="0"/>
              <a:t>23-09-2024</a:t>
            </a:fld>
            <a:endParaRPr lang="en-IN"/>
          </a:p>
        </p:txBody>
      </p:sp>
      <p:sp>
        <p:nvSpPr>
          <p:cNvPr id="5" name="Footer Placeholder 4">
            <a:extLst>
              <a:ext uri="{FF2B5EF4-FFF2-40B4-BE49-F238E27FC236}">
                <a16:creationId xmlns:a16="http://schemas.microsoft.com/office/drawing/2014/main" id="{91781A62-235B-44D9-B7AD-2746ACCADC7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C305339-60F8-480A-ADD8-936AFAC48FAE}"/>
              </a:ext>
            </a:extLst>
          </p:cNvPr>
          <p:cNvSpPr>
            <a:spLocks noGrp="1"/>
          </p:cNvSpPr>
          <p:nvPr>
            <p:ph type="sldNum" sz="quarter" idx="12"/>
          </p:nvPr>
        </p:nvSpPr>
        <p:spPr/>
        <p:txBody>
          <a:bodyPr/>
          <a:lstStyle/>
          <a:p>
            <a:fld id="{D90F9A94-967C-45F5-95C3-D05FC6D68930}" type="slidenum">
              <a:rPr lang="en-IN" smtClean="0"/>
              <a:t>‹#›</a:t>
            </a:fld>
            <a:endParaRPr lang="en-IN"/>
          </a:p>
        </p:txBody>
      </p:sp>
    </p:spTree>
    <p:extLst>
      <p:ext uri="{BB962C8B-B14F-4D97-AF65-F5344CB8AC3E}">
        <p14:creationId xmlns:p14="http://schemas.microsoft.com/office/powerpoint/2010/main" val="29217932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8C05EB5-DE17-4EF4-B881-1F036AD62E6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D7C3518-6D28-42F9-995B-48FA1627470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037BE73-E9AD-49C5-8CA3-9B534CFCBFF2}"/>
              </a:ext>
            </a:extLst>
          </p:cNvPr>
          <p:cNvSpPr>
            <a:spLocks noGrp="1"/>
          </p:cNvSpPr>
          <p:nvPr>
            <p:ph type="dt" sz="half" idx="10"/>
          </p:nvPr>
        </p:nvSpPr>
        <p:spPr/>
        <p:txBody>
          <a:bodyPr/>
          <a:lstStyle/>
          <a:p>
            <a:fld id="{B6E1F7AF-8A4F-4E16-816E-ABEC470443FB}" type="datetimeFigureOut">
              <a:rPr lang="en-IN" smtClean="0"/>
              <a:t>23-09-2024</a:t>
            </a:fld>
            <a:endParaRPr lang="en-IN"/>
          </a:p>
        </p:txBody>
      </p:sp>
      <p:sp>
        <p:nvSpPr>
          <p:cNvPr id="5" name="Footer Placeholder 4">
            <a:extLst>
              <a:ext uri="{FF2B5EF4-FFF2-40B4-BE49-F238E27FC236}">
                <a16:creationId xmlns:a16="http://schemas.microsoft.com/office/drawing/2014/main" id="{D38C2E06-8ADC-41E0-A0CC-E60916037DD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0A11411-369F-49A8-BD95-0701815ABBBC}"/>
              </a:ext>
            </a:extLst>
          </p:cNvPr>
          <p:cNvSpPr>
            <a:spLocks noGrp="1"/>
          </p:cNvSpPr>
          <p:nvPr>
            <p:ph type="sldNum" sz="quarter" idx="12"/>
          </p:nvPr>
        </p:nvSpPr>
        <p:spPr/>
        <p:txBody>
          <a:bodyPr/>
          <a:lstStyle/>
          <a:p>
            <a:fld id="{D90F9A94-967C-45F5-95C3-D05FC6D68930}" type="slidenum">
              <a:rPr lang="en-IN" smtClean="0"/>
              <a:t>‹#›</a:t>
            </a:fld>
            <a:endParaRPr lang="en-IN"/>
          </a:p>
        </p:txBody>
      </p:sp>
    </p:spTree>
    <p:extLst>
      <p:ext uri="{BB962C8B-B14F-4D97-AF65-F5344CB8AC3E}">
        <p14:creationId xmlns:p14="http://schemas.microsoft.com/office/powerpoint/2010/main" val="16659337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B370DC0-60D9-434E-B163-0BEF86E6FA4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A0DAF94-DFA3-4AF0-91C9-28D877E9E05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9A40C68-BAE5-42AB-99A8-306CBCB452C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6E1F7AF-8A4F-4E16-816E-ABEC470443FB}" type="datetimeFigureOut">
              <a:rPr lang="en-IN" smtClean="0"/>
              <a:t>23-09-2024</a:t>
            </a:fld>
            <a:endParaRPr lang="en-IN"/>
          </a:p>
        </p:txBody>
      </p:sp>
      <p:sp>
        <p:nvSpPr>
          <p:cNvPr id="5" name="Footer Placeholder 4">
            <a:extLst>
              <a:ext uri="{FF2B5EF4-FFF2-40B4-BE49-F238E27FC236}">
                <a16:creationId xmlns:a16="http://schemas.microsoft.com/office/drawing/2014/main" id="{234B13CD-0D9E-4DAB-AB53-79760BE0335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FF8A2739-6296-4515-817F-673D065963C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90F9A94-967C-45F5-95C3-D05FC6D68930}" type="slidenum">
              <a:rPr lang="en-IN" smtClean="0"/>
              <a:t>‹#›</a:t>
            </a:fld>
            <a:endParaRPr lang="en-IN"/>
          </a:p>
        </p:txBody>
      </p:sp>
    </p:spTree>
    <p:extLst>
      <p:ext uri="{BB962C8B-B14F-4D97-AF65-F5344CB8AC3E}">
        <p14:creationId xmlns:p14="http://schemas.microsoft.com/office/powerpoint/2010/main" val="3773054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hyperlink" Target="https://www.bing.com/ck/a?!&amp;&amp;p=9158114ba42c886bJmltdHM9MTY2ODU1NjgwMCZpZ3VpZD0zZWZjMWQzYy01ZDhiLTY1NzEtM2I1Yy0wYzhhNWM2MzY0ZDYmaW5zaWQ9NTIwOA&amp;ptn=3&amp;hsh=3&amp;fclid=3efc1d3c-5d8b-6571-3b5c-0c8a5c6364d6&amp;psq=deprtaement+of+computer+scoence+and+engimnerring&amp;u=a1aHR0cHM6Ly93d3cuc2N1LmVkdS9lbmdpbmVlcmluZy9hY2FkZW1pYy1wcm9ncmFtcy9kZXBhcnRtZW50LW9mLWNvbXB1dGVyLWVuZ2luZWVyaW5nLw&amp;ntb=1"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blog.roboflow.com/what-is-mean-average-precision-object-detection/"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microsoft.com/office/2007/relationships/hdphoto" Target="../media/hdphoto1.wdp"/></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hyperlink" Target="https://www.edureka.co/blog/machine-learning-classifier/"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hyperlink" Target="https://www.edureka.co/blog/overfitting-in-machine-learning/" TargetMode="Externa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hyperlink" Target="https://www.edureka.co/blog/overfitting-in-machine-learning/" TargetMode="Externa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E14D4819-D7DD-F22A-4C68-D50A73BD631A}"/>
              </a:ext>
            </a:extLst>
          </p:cNvPr>
          <p:cNvSpPr>
            <a:spLocks noChangeArrowheads="1"/>
          </p:cNvSpPr>
          <p:nvPr/>
        </p:nvSpPr>
        <p:spPr bwMode="auto">
          <a:xfrm>
            <a:off x="258058" y="347063"/>
            <a:ext cx="11801419" cy="38779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457200" algn="ctr"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a:ln>
                  <a:noFill/>
                </a:ln>
                <a:solidFill>
                  <a:schemeClr val="tx1"/>
                </a:solidFill>
                <a:effectLst/>
                <a:latin typeface="Cambria" panose="02040503050406030204" pitchFamily="18" charset="0"/>
                <a:ea typeface="Calibri" panose="020F0502020204030204" pitchFamily="34" charset="0"/>
                <a:cs typeface="Times New Roman" panose="02020603050405020304" pitchFamily="18" charset="0"/>
              </a:rPr>
              <a:t>VALLURUPALLI NAGESWARA RAO VIGNANA JYOTHI </a:t>
            </a:r>
            <a:r>
              <a:rPr lang="en-US" altLang="en-US" sz="2800" dirty="0"/>
              <a:t> </a:t>
            </a:r>
            <a:r>
              <a:rPr kumimoji="0" lang="en-US" altLang="en-US" sz="2800" b="1" i="0" u="none" strike="noStrike" cap="none" normalizeH="0" baseline="0" dirty="0">
                <a:ln>
                  <a:noFill/>
                </a:ln>
                <a:solidFill>
                  <a:srgbClr val="000000"/>
                </a:solidFill>
                <a:effectLst/>
                <a:latin typeface="Cambria" panose="02040503050406030204" pitchFamily="18" charset="0"/>
                <a:ea typeface="Calibri" panose="020F0502020204030204" pitchFamily="34" charset="0"/>
                <a:cs typeface="Arial" panose="020B0604020202020204" pitchFamily="34" charset="0"/>
              </a:rPr>
              <a:t>INSTITUTE OF ENGINEERING AND TECHNOLOGY</a:t>
            </a:r>
            <a:endParaRPr kumimoji="0" lang="en-US" altLang="en-US" sz="2800" b="0" i="0" u="none" strike="noStrike" cap="none" normalizeH="0" baseline="0" dirty="0">
              <a:ln>
                <a:noFill/>
              </a:ln>
              <a:solidFill>
                <a:schemeClr val="tx1"/>
              </a:solidFill>
              <a:effectLst/>
            </a:endParaRPr>
          </a:p>
          <a:p>
            <a:pPr marL="0" marR="0" lvl="0" indent="457200" algn="ctr" defTabSz="914400" rtl="0" eaLnBrk="0" fontAlgn="base" latinLnBrk="0" hangingPunct="0">
              <a:lnSpc>
                <a:spcPct val="100000"/>
              </a:lnSpc>
              <a:spcBef>
                <a:spcPct val="0"/>
              </a:spcBef>
              <a:spcAft>
                <a:spcPct val="0"/>
              </a:spcAft>
              <a:buClrTx/>
              <a:buSzTx/>
              <a:buFontTx/>
              <a:buNone/>
              <a:tabLst/>
            </a:pPr>
            <a:endParaRPr kumimoji="0" lang="en-US" altLang="en-US" sz="4000" b="1" i="0" u="none" strike="noStrike" cap="none" normalizeH="0" baseline="0" dirty="0">
              <a:ln>
                <a:noFill/>
              </a:ln>
              <a:solidFill>
                <a:srgbClr val="0070C0"/>
              </a:solidFill>
              <a:effectLst/>
              <a:latin typeface="Calibri" panose="020F0502020204030204" pitchFamily="34" charset="0"/>
              <a:ea typeface="Calibri" panose="020F0502020204030204" pitchFamily="34" charset="0"/>
              <a:cs typeface="Times New Roman" panose="02020603050405020304" pitchFamily="18" charset="0"/>
            </a:endParaRPr>
          </a:p>
          <a:p>
            <a:pPr marL="0" marR="0" lvl="0" indent="457200" algn="l" defTabSz="914400" rtl="0" eaLnBrk="0" fontAlgn="base" latinLnBrk="0" hangingPunct="0">
              <a:lnSpc>
                <a:spcPct val="100000"/>
              </a:lnSpc>
              <a:spcBef>
                <a:spcPct val="0"/>
              </a:spcBef>
              <a:spcAft>
                <a:spcPct val="0"/>
              </a:spcAft>
              <a:buClrTx/>
              <a:buSzTx/>
              <a:buFontTx/>
              <a:buNone/>
              <a:tabLst/>
            </a:pPr>
            <a:endParaRPr lang="en-US" altLang="en-US" sz="2200" b="1" dirty="0">
              <a:solidFill>
                <a:srgbClr val="0070C0"/>
              </a:solidFill>
              <a:latin typeface="Calibri" panose="020F0502020204030204" pitchFamily="34" charset="0"/>
              <a:ea typeface="Calibri" panose="020F0502020204030204" pitchFamily="34" charset="0"/>
              <a:cs typeface="Times New Roman" panose="02020603050405020304" pitchFamily="18" charset="0"/>
            </a:endParaRPr>
          </a:p>
          <a:p>
            <a:pPr marL="0" marR="0" lvl="0" indent="457200" algn="l" defTabSz="914400" rtl="0" eaLnBrk="0" fontAlgn="base" latinLnBrk="0" hangingPunct="0">
              <a:lnSpc>
                <a:spcPct val="100000"/>
              </a:lnSpc>
              <a:spcBef>
                <a:spcPct val="0"/>
              </a:spcBef>
              <a:spcAft>
                <a:spcPct val="0"/>
              </a:spcAft>
              <a:buClrTx/>
              <a:buSzTx/>
              <a:buFontTx/>
              <a:buNone/>
              <a:tabLst/>
            </a:pPr>
            <a:endParaRPr kumimoji="0" lang="en-US" altLang="en-US" sz="2200" b="1" i="0" u="none" strike="noStrike" cap="none" normalizeH="0" baseline="0" dirty="0">
              <a:ln>
                <a:noFill/>
              </a:ln>
              <a:solidFill>
                <a:srgbClr val="0070C0"/>
              </a:solidFill>
              <a:effectLst/>
              <a:latin typeface="Calibri" panose="020F0502020204030204" pitchFamily="34" charset="0"/>
              <a:ea typeface="Calibri" panose="020F0502020204030204" pitchFamily="34" charset="0"/>
              <a:cs typeface="Times New Roman" panose="02020603050405020304" pitchFamily="18" charset="0"/>
            </a:endParaRPr>
          </a:p>
          <a:p>
            <a:pPr marL="0" marR="0" lvl="0" indent="457200" algn="l" defTabSz="914400" rtl="0" eaLnBrk="0" fontAlgn="base" latinLnBrk="0" hangingPunct="0">
              <a:lnSpc>
                <a:spcPct val="100000"/>
              </a:lnSpc>
              <a:spcBef>
                <a:spcPct val="0"/>
              </a:spcBef>
              <a:spcAft>
                <a:spcPct val="0"/>
              </a:spcAft>
              <a:buClrTx/>
              <a:buSzTx/>
              <a:buFontTx/>
              <a:buNone/>
              <a:tabLst/>
            </a:pPr>
            <a:endParaRPr lang="en-US" altLang="en-US" sz="2200" b="1" dirty="0">
              <a:solidFill>
                <a:srgbClr val="0070C0"/>
              </a:solidFill>
              <a:latin typeface="Calibri" panose="020F0502020204030204" pitchFamily="34" charset="0"/>
              <a:ea typeface="Calibri" panose="020F0502020204030204" pitchFamily="34" charset="0"/>
              <a:cs typeface="Times New Roman" panose="02020603050405020304" pitchFamily="18" charset="0"/>
            </a:endParaRPr>
          </a:p>
          <a:p>
            <a:pPr marL="0" marR="0" lvl="0" indent="457200" algn="l" defTabSz="914400" rtl="0" eaLnBrk="0" fontAlgn="base" latinLnBrk="0" hangingPunct="0">
              <a:lnSpc>
                <a:spcPct val="100000"/>
              </a:lnSpc>
              <a:spcBef>
                <a:spcPct val="0"/>
              </a:spcBef>
              <a:spcAft>
                <a:spcPct val="0"/>
              </a:spcAft>
              <a:buClrTx/>
              <a:buSzTx/>
              <a:buFontTx/>
              <a:buNone/>
              <a:tabLst/>
            </a:pPr>
            <a:endParaRPr kumimoji="0" lang="en-US" altLang="en-US" sz="2200" b="1" i="0" u="none" strike="noStrike" cap="none" normalizeH="0" baseline="0" dirty="0">
              <a:ln>
                <a:noFill/>
              </a:ln>
              <a:solidFill>
                <a:srgbClr val="0070C0"/>
              </a:solidFill>
              <a:effectLst/>
              <a:latin typeface="Calibri" panose="020F0502020204030204" pitchFamily="34" charset="0"/>
              <a:ea typeface="Calibri" panose="020F0502020204030204" pitchFamily="34" charset="0"/>
              <a:cs typeface="Times New Roman" panose="02020603050405020304" pitchFamily="18" charset="0"/>
            </a:endParaRPr>
          </a:p>
          <a:p>
            <a:pPr marL="0" marR="0" lvl="0" indent="457200" algn="ctr" defTabSz="914400" rtl="0" eaLnBrk="0" fontAlgn="base" latinLnBrk="0" hangingPunct="0">
              <a:lnSpc>
                <a:spcPct val="100000"/>
              </a:lnSpc>
              <a:spcBef>
                <a:spcPct val="0"/>
              </a:spcBef>
              <a:spcAft>
                <a:spcPct val="0"/>
              </a:spcAft>
              <a:buClrTx/>
              <a:buSzTx/>
              <a:buFontTx/>
              <a:buNone/>
              <a:tabLst/>
            </a:pPr>
            <a:endParaRPr kumimoji="0" lang="en-US" altLang="en-US" sz="2200" b="1" i="0" u="none" strike="noStrike" cap="none" normalizeH="0" baseline="0" dirty="0">
              <a:ln>
                <a:noFill/>
              </a:ln>
              <a:solidFill>
                <a:srgbClr val="0070C0"/>
              </a:solidFill>
              <a:effectLst/>
              <a:latin typeface="Calibri" panose="020F0502020204030204" pitchFamily="34" charset="0"/>
              <a:ea typeface="Calibri" panose="020F0502020204030204" pitchFamily="34" charset="0"/>
              <a:cs typeface="Times New Roman" panose="02020603050405020304" pitchFamily="18" charset="0"/>
            </a:endParaRPr>
          </a:p>
          <a:p>
            <a:pPr marL="0" marR="0" lvl="0" indent="457200" algn="ctr" defTabSz="914400" rtl="0" eaLnBrk="0" fontAlgn="base" latinLnBrk="0" hangingPunct="0">
              <a:lnSpc>
                <a:spcPct val="100000"/>
              </a:lnSpc>
              <a:spcBef>
                <a:spcPct val="0"/>
              </a:spcBef>
              <a:spcAft>
                <a:spcPct val="0"/>
              </a:spcAft>
              <a:buClrTx/>
              <a:buSzTx/>
              <a:buFontTx/>
              <a:buNone/>
              <a:tabLst/>
            </a:pPr>
            <a:r>
              <a:rPr kumimoji="0" lang="en-US" altLang="en-US" sz="2200" b="1" i="0" u="none" strike="noStrike" cap="none" normalizeH="0" baseline="0" dirty="0">
                <a:ln>
                  <a:noFill/>
                </a:ln>
                <a:solidFill>
                  <a:srgbClr val="0070C0"/>
                </a:solidFill>
                <a:effectLst/>
                <a:latin typeface="Calibri" panose="020F0502020204030204" pitchFamily="34" charset="0"/>
                <a:ea typeface="Calibri" panose="020F0502020204030204" pitchFamily="34" charset="0"/>
                <a:cs typeface="Times New Roman" panose="02020603050405020304" pitchFamily="18" charset="0"/>
              </a:rPr>
              <a:t>Department of Computer Science and Engineering </a:t>
            </a:r>
            <a:endParaRPr kumimoji="0" lang="en-US" altLang="en-US" sz="800" b="0" i="0" u="none" strike="noStrike" cap="none" normalizeH="0" baseline="0" dirty="0">
              <a:ln>
                <a:noFill/>
              </a:ln>
              <a:solidFill>
                <a:schemeClr val="tx1"/>
              </a:solidFill>
              <a:effectLst/>
            </a:endParaRPr>
          </a:p>
          <a:p>
            <a:pPr marL="0" marR="0" lvl="0" indent="45720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1025" name="Picture 3">
            <a:extLst>
              <a:ext uri="{FF2B5EF4-FFF2-40B4-BE49-F238E27FC236}">
                <a16:creationId xmlns:a16="http://schemas.microsoft.com/office/drawing/2014/main" id="{1F402572-1AC1-C244-FE3C-D3880CA04C0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63417" y="1335521"/>
            <a:ext cx="1790700" cy="1668463"/>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3">
            <a:extLst>
              <a:ext uri="{FF2B5EF4-FFF2-40B4-BE49-F238E27FC236}">
                <a16:creationId xmlns:a16="http://schemas.microsoft.com/office/drawing/2014/main" id="{4601E913-B864-500D-8186-0A789C882082}"/>
              </a:ext>
            </a:extLst>
          </p:cNvPr>
          <p:cNvSpPr>
            <a:spLocks noChangeArrowheads="1"/>
          </p:cNvSpPr>
          <p:nvPr/>
        </p:nvSpPr>
        <p:spPr bwMode="auto">
          <a:xfrm>
            <a:off x="4057871" y="4747451"/>
            <a:ext cx="4201791"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800" b="0" i="0" u="none" strike="noStrike" cap="none" normalizeH="0" baseline="0" dirty="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dobe Caslon Pro"/>
                <a:ea typeface="Calibri" panose="020F0502020204030204" pitchFamily="34" charset="0"/>
                <a:cs typeface="Times New Roman" panose="02020603050405020304" pitchFamily="18" charset="0"/>
              </a:rPr>
              <a:t>MACHINE LEARNING</a:t>
            </a:r>
            <a:endParaRPr kumimoji="0" lang="en-US" altLang="en-US" sz="800" b="0" i="0" u="none" strike="noStrike" cap="none" normalizeH="0" baseline="0" dirty="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a:ln>
                  <a:noFill/>
                </a:ln>
                <a:solidFill>
                  <a:schemeClr val="tx1"/>
                </a:solidFill>
                <a:effectLst/>
                <a:latin typeface="Adobe Caslon Pro"/>
                <a:ea typeface="Calibri" panose="020F0502020204030204" pitchFamily="34" charset="0"/>
                <a:cs typeface="Times New Roman" panose="02020603050405020304" pitchFamily="18" charset="0"/>
              </a:rPr>
              <a:t>Dr. Kriti </a:t>
            </a:r>
            <a:r>
              <a:rPr kumimoji="0" lang="en-US" altLang="en-US" sz="1800" b="1" i="0" u="none" strike="noStrike" cap="none" normalizeH="0" baseline="0" dirty="0">
                <a:ln>
                  <a:noFill/>
                </a:ln>
                <a:solidFill>
                  <a:schemeClr val="tx1"/>
                </a:solidFill>
                <a:effectLst/>
                <a:latin typeface="Adobe Caslon Pro"/>
                <a:ea typeface="Calibri" panose="020F0502020204030204" pitchFamily="34" charset="0"/>
                <a:cs typeface="Times New Roman" panose="02020603050405020304" pitchFamily="18" charset="0"/>
              </a:rPr>
              <a:t>Ohri</a:t>
            </a:r>
            <a:endParaRPr kumimoji="0" lang="en-US" altLang="en-US" sz="800" b="0" i="0" u="none" strike="noStrike" cap="none" normalizeH="0" baseline="0" dirty="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Adobe Caslon Pro"/>
                <a:ea typeface="Calibri" panose="020F0502020204030204" pitchFamily="34" charset="0"/>
                <a:cs typeface="Times New Roman" panose="02020603050405020304" pitchFamily="18" charset="0"/>
              </a:rPr>
              <a:t>Assistant Professor</a:t>
            </a:r>
            <a:endParaRPr kumimoji="0" lang="en-US" altLang="en-US" sz="800" b="0" i="0" u="none" strike="noStrike" cap="none" normalizeH="0" baseline="0" dirty="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Adobe Caslon Pro"/>
                <a:ea typeface="Calibri" panose="020F0502020204030204" pitchFamily="34" charset="0"/>
                <a:cs typeface="Times New Roman" panose="02020603050405020304" pitchFamily="18" charset="0"/>
                <a:hlinkClick r:id="rId4"/>
              </a:rPr>
              <a:t>Department of Computer Science and Engineering</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Footer Placeholder 4">
            <a:extLst>
              <a:ext uri="{FF2B5EF4-FFF2-40B4-BE49-F238E27FC236}">
                <a16:creationId xmlns:a16="http://schemas.microsoft.com/office/drawing/2014/main" id="{FF3375C2-6977-6830-5E74-51E3850230E9}"/>
              </a:ext>
            </a:extLst>
          </p:cNvPr>
          <p:cNvSpPr>
            <a:spLocks noGrp="1"/>
          </p:cNvSpPr>
          <p:nvPr>
            <p:ph type="ftr" sz="quarter" idx="11"/>
          </p:nvPr>
        </p:nvSpPr>
        <p:spPr/>
        <p:txBody>
          <a:bodyPr/>
          <a:lstStyle/>
          <a:p>
            <a:r>
              <a:rPr lang="en-IN"/>
              <a:t>Machine Learning</a:t>
            </a:r>
          </a:p>
        </p:txBody>
      </p:sp>
      <p:sp>
        <p:nvSpPr>
          <p:cNvPr id="7" name="Date Placeholder 6">
            <a:extLst>
              <a:ext uri="{FF2B5EF4-FFF2-40B4-BE49-F238E27FC236}">
                <a16:creationId xmlns:a16="http://schemas.microsoft.com/office/drawing/2014/main" id="{104C03E4-1F28-2FB0-9B80-AE079E772F4D}"/>
              </a:ext>
            </a:extLst>
          </p:cNvPr>
          <p:cNvSpPr>
            <a:spLocks noGrp="1"/>
          </p:cNvSpPr>
          <p:nvPr>
            <p:ph type="dt" sz="half" idx="10"/>
          </p:nvPr>
        </p:nvSpPr>
        <p:spPr/>
        <p:txBody>
          <a:bodyPr/>
          <a:lstStyle/>
          <a:p>
            <a:r>
              <a:rPr lang="en-US"/>
              <a:t>Kriti Ohri</a:t>
            </a:r>
            <a:endParaRPr lang="en-IN"/>
          </a:p>
        </p:txBody>
      </p:sp>
    </p:spTree>
    <p:extLst>
      <p:ext uri="{BB962C8B-B14F-4D97-AF65-F5344CB8AC3E}">
        <p14:creationId xmlns:p14="http://schemas.microsoft.com/office/powerpoint/2010/main" val="966335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98D7F7-5F23-4CF2-9EAD-BFB70B28C295}"/>
              </a:ext>
            </a:extLst>
          </p:cNvPr>
          <p:cNvSpPr>
            <a:spLocks noGrp="1"/>
          </p:cNvSpPr>
          <p:nvPr>
            <p:ph type="ctrTitle"/>
          </p:nvPr>
        </p:nvSpPr>
        <p:spPr/>
        <p:txBody>
          <a:bodyPr>
            <a:normAutofit/>
          </a:bodyPr>
          <a:lstStyle/>
          <a:p>
            <a:r>
              <a:rPr lang="en-IN" b="0" i="0" dirty="0">
                <a:effectLst/>
                <a:latin typeface="Roboto"/>
              </a:rPr>
              <a:t>Cross-Validation</a:t>
            </a:r>
            <a:br>
              <a:rPr lang="en-IN" b="0" i="0" dirty="0">
                <a:effectLst/>
                <a:latin typeface="Roboto"/>
              </a:rPr>
            </a:br>
            <a:endParaRPr lang="en-IN" dirty="0"/>
          </a:p>
        </p:txBody>
      </p:sp>
      <p:sp>
        <p:nvSpPr>
          <p:cNvPr id="5" name="Subtitle 4">
            <a:extLst>
              <a:ext uri="{FF2B5EF4-FFF2-40B4-BE49-F238E27FC236}">
                <a16:creationId xmlns:a16="http://schemas.microsoft.com/office/drawing/2014/main" id="{9928D0D4-053C-577E-C1C2-90FE4AD47A79}"/>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21307885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6D3F9C-DD20-4E4A-9219-8242C5D49F14}"/>
              </a:ext>
            </a:extLst>
          </p:cNvPr>
          <p:cNvSpPr>
            <a:spLocks noGrp="1"/>
          </p:cNvSpPr>
          <p:nvPr>
            <p:ph type="title"/>
          </p:nvPr>
        </p:nvSpPr>
        <p:spPr/>
        <p:txBody>
          <a:bodyPr>
            <a:normAutofit/>
          </a:bodyPr>
          <a:lstStyle/>
          <a:p>
            <a:pPr algn="ctr"/>
            <a:r>
              <a:rPr lang="en-US" sz="3600" b="1" spc="-5" dirty="0">
                <a:solidFill>
                  <a:srgbClr val="3333FF"/>
                </a:solidFill>
                <a:latin typeface="Carlito"/>
              </a:rPr>
              <a:t>Definitions of Train, Validation, and Test Datasets</a:t>
            </a:r>
            <a:br>
              <a:rPr lang="en-US" sz="3600" b="1" spc="-5" dirty="0">
                <a:solidFill>
                  <a:srgbClr val="3333FF"/>
                </a:solidFill>
                <a:latin typeface="Carlito"/>
              </a:rPr>
            </a:br>
            <a:endParaRPr lang="en-IN" sz="3600" b="1" spc="-5" dirty="0">
              <a:solidFill>
                <a:srgbClr val="3333FF"/>
              </a:solidFill>
              <a:latin typeface="Carlito"/>
            </a:endParaRPr>
          </a:p>
        </p:txBody>
      </p:sp>
      <p:sp>
        <p:nvSpPr>
          <p:cNvPr id="3" name="Content Placeholder 2">
            <a:extLst>
              <a:ext uri="{FF2B5EF4-FFF2-40B4-BE49-F238E27FC236}">
                <a16:creationId xmlns:a16="http://schemas.microsoft.com/office/drawing/2014/main" id="{03FE2BB4-7D73-4954-90B8-CB3710998747}"/>
              </a:ext>
            </a:extLst>
          </p:cNvPr>
          <p:cNvSpPr>
            <a:spLocks noGrp="1"/>
          </p:cNvSpPr>
          <p:nvPr>
            <p:ph idx="1"/>
          </p:nvPr>
        </p:nvSpPr>
        <p:spPr/>
        <p:txBody>
          <a:bodyPr>
            <a:normAutofit/>
          </a:bodyPr>
          <a:lstStyle/>
          <a:p>
            <a:pPr algn="just" fontAlgn="base">
              <a:buFont typeface="Arial" panose="020B0604020202020204" pitchFamily="34" charset="0"/>
              <a:buChar char="•"/>
            </a:pPr>
            <a:r>
              <a:rPr lang="en-US" b="1" dirty="0">
                <a:solidFill>
                  <a:srgbClr val="383838"/>
                </a:solidFill>
                <a:latin typeface="proxima-nova"/>
              </a:rPr>
              <a:t>Training Dataset: </a:t>
            </a:r>
            <a:r>
              <a:rPr lang="en-US" dirty="0">
                <a:solidFill>
                  <a:srgbClr val="383838"/>
                </a:solidFill>
                <a:latin typeface="proxima-nova"/>
              </a:rPr>
              <a:t>The sample of data used to fit the model.</a:t>
            </a:r>
          </a:p>
          <a:p>
            <a:pPr algn="just" fontAlgn="base">
              <a:buFont typeface="Arial" panose="020B0604020202020204" pitchFamily="34" charset="0"/>
              <a:buChar char="•"/>
            </a:pPr>
            <a:r>
              <a:rPr lang="en-US" b="1" dirty="0">
                <a:solidFill>
                  <a:srgbClr val="383838"/>
                </a:solidFill>
                <a:latin typeface="proxima-nova"/>
              </a:rPr>
              <a:t>Validation Dataset: </a:t>
            </a:r>
            <a:r>
              <a:rPr lang="en-US" dirty="0">
                <a:solidFill>
                  <a:srgbClr val="383838"/>
                </a:solidFill>
                <a:latin typeface="proxima-nova"/>
              </a:rPr>
              <a:t>The sample of data used to provide an unbiased evaluation of a model fit on the training dataset while </a:t>
            </a:r>
            <a:r>
              <a:rPr lang="en-US" dirty="0">
                <a:solidFill>
                  <a:srgbClr val="FF0000"/>
                </a:solidFill>
                <a:latin typeface="proxima-nova"/>
              </a:rPr>
              <a:t>tuning model hyperparameters.</a:t>
            </a:r>
            <a:r>
              <a:rPr lang="en-US" dirty="0">
                <a:solidFill>
                  <a:srgbClr val="383838"/>
                </a:solidFill>
                <a:latin typeface="proxima-nova"/>
              </a:rPr>
              <a:t> The evaluation becomes more biased as skill on the </a:t>
            </a:r>
            <a:r>
              <a:rPr lang="en-US" b="1" dirty="0">
                <a:solidFill>
                  <a:srgbClr val="383838"/>
                </a:solidFill>
                <a:latin typeface="proxima-nova"/>
              </a:rPr>
              <a:t>validation dataset is incorporated into the model configuration.</a:t>
            </a:r>
          </a:p>
          <a:p>
            <a:pPr algn="just" fontAlgn="base">
              <a:buFont typeface="Arial" panose="020B0604020202020204" pitchFamily="34" charset="0"/>
              <a:buChar char="•"/>
            </a:pPr>
            <a:r>
              <a:rPr lang="en-US" b="1" dirty="0">
                <a:solidFill>
                  <a:srgbClr val="383838"/>
                </a:solidFill>
                <a:latin typeface="proxima-nova"/>
              </a:rPr>
              <a:t>Test Dataset: </a:t>
            </a:r>
            <a:r>
              <a:rPr lang="en-US" dirty="0">
                <a:solidFill>
                  <a:srgbClr val="383838"/>
                </a:solidFill>
                <a:latin typeface="proxima-nova"/>
              </a:rPr>
              <a:t>The sample of data used to provide an unbiased evaluation of a final model fit on the training dataset.</a:t>
            </a:r>
          </a:p>
          <a:p>
            <a:pPr marL="0" indent="0">
              <a:buNone/>
            </a:pPr>
            <a:endParaRPr lang="en-IN" dirty="0"/>
          </a:p>
        </p:txBody>
      </p:sp>
    </p:spTree>
    <p:extLst>
      <p:ext uri="{BB962C8B-B14F-4D97-AF65-F5344CB8AC3E}">
        <p14:creationId xmlns:p14="http://schemas.microsoft.com/office/powerpoint/2010/main" val="18601575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ED78BD-7C2E-4D25-BC21-FCC98A004B26}"/>
              </a:ext>
            </a:extLst>
          </p:cNvPr>
          <p:cNvSpPr>
            <a:spLocks noGrp="1"/>
          </p:cNvSpPr>
          <p:nvPr>
            <p:ph type="title"/>
          </p:nvPr>
        </p:nvSpPr>
        <p:spPr/>
        <p:txBody>
          <a:bodyPr/>
          <a:lstStyle/>
          <a:p>
            <a:r>
              <a:rPr lang="en-US" sz="3600" b="1" spc="-5" dirty="0">
                <a:solidFill>
                  <a:srgbClr val="3333FF"/>
                </a:solidFill>
                <a:latin typeface="Carlito"/>
              </a:rPr>
              <a:t>Training set</a:t>
            </a:r>
            <a:endParaRPr lang="en-IN" sz="3600" b="1" spc="-5" dirty="0">
              <a:solidFill>
                <a:srgbClr val="3333FF"/>
              </a:solidFill>
              <a:latin typeface="Carlito"/>
            </a:endParaRPr>
          </a:p>
        </p:txBody>
      </p:sp>
      <p:sp>
        <p:nvSpPr>
          <p:cNvPr id="3" name="Content Placeholder 2">
            <a:extLst>
              <a:ext uri="{FF2B5EF4-FFF2-40B4-BE49-F238E27FC236}">
                <a16:creationId xmlns:a16="http://schemas.microsoft.com/office/drawing/2014/main" id="{C9C4B607-89BB-46E7-9EF6-234496883973}"/>
              </a:ext>
            </a:extLst>
          </p:cNvPr>
          <p:cNvSpPr>
            <a:spLocks noGrp="1"/>
          </p:cNvSpPr>
          <p:nvPr>
            <p:ph idx="1"/>
          </p:nvPr>
        </p:nvSpPr>
        <p:spPr/>
        <p:txBody>
          <a:bodyPr>
            <a:normAutofit fontScale="85000" lnSpcReduction="10000"/>
          </a:bodyPr>
          <a:lstStyle/>
          <a:p>
            <a:r>
              <a:rPr lang="en-US" dirty="0"/>
              <a:t>The training set the largest corpus of your dataset that you reserve for training your model. </a:t>
            </a:r>
          </a:p>
          <a:p>
            <a:r>
              <a:rPr lang="en-US" dirty="0"/>
              <a:t>For a default, we recommend allocating 70% of your dataset to the training set.</a:t>
            </a:r>
          </a:p>
          <a:p>
            <a:pPr>
              <a:buFont typeface="Arial" panose="020B0604020202020204" pitchFamily="34" charset="0"/>
              <a:buChar char="•"/>
            </a:pPr>
            <a:r>
              <a:rPr lang="en-US" b="1" dirty="0"/>
              <a:t>Purpose</a:t>
            </a:r>
            <a:r>
              <a:rPr lang="en-US" dirty="0"/>
              <a:t>: The training dataset is used to train the machine learning model. The model learns the patterns, relationships, and parameters from this data.</a:t>
            </a:r>
          </a:p>
          <a:p>
            <a:pPr>
              <a:buFont typeface="Arial" panose="020B0604020202020204" pitchFamily="34" charset="0"/>
              <a:buChar char="•"/>
            </a:pPr>
            <a:r>
              <a:rPr lang="en-US" b="1" dirty="0"/>
              <a:t>Usage</a:t>
            </a:r>
            <a:r>
              <a:rPr lang="en-US" dirty="0"/>
              <a:t>: During training, the model adjusts its weights and biases to minimize the error between the predicted outputs and the actual outputs in this dataset.</a:t>
            </a:r>
          </a:p>
          <a:p>
            <a:pPr>
              <a:buFont typeface="Arial" panose="020B0604020202020204" pitchFamily="34" charset="0"/>
              <a:buChar char="•"/>
            </a:pPr>
            <a:r>
              <a:rPr lang="en-US" b="1" dirty="0"/>
              <a:t>Size</a:t>
            </a:r>
            <a:r>
              <a:rPr lang="en-US" dirty="0"/>
              <a:t>: Typically, the largest portion of the data is allocated to the training set (e.g., 60-80% of the total data), as the model needs sufficient data to learn effectively.</a:t>
            </a:r>
          </a:p>
          <a:p>
            <a:pPr>
              <a:buFont typeface="Arial" panose="020B0604020202020204" pitchFamily="34" charset="0"/>
              <a:buChar char="•"/>
            </a:pPr>
            <a:r>
              <a:rPr lang="en-US" b="1" dirty="0"/>
              <a:t>Overfitting Risk</a:t>
            </a:r>
            <a:r>
              <a:rPr lang="en-US" dirty="0"/>
              <a:t>: If the model fits too closely to the training data, it might overfit, meaning it performs well on the training data but poorly on unseen data.</a:t>
            </a:r>
          </a:p>
          <a:p>
            <a:endParaRPr lang="en-IN" dirty="0"/>
          </a:p>
        </p:txBody>
      </p:sp>
    </p:spTree>
    <p:extLst>
      <p:ext uri="{BB962C8B-B14F-4D97-AF65-F5344CB8AC3E}">
        <p14:creationId xmlns:p14="http://schemas.microsoft.com/office/powerpoint/2010/main" val="33686337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C34C06-2A7D-44E7-BC83-C2136EA19143}"/>
              </a:ext>
            </a:extLst>
          </p:cNvPr>
          <p:cNvSpPr>
            <a:spLocks noGrp="1"/>
          </p:cNvSpPr>
          <p:nvPr>
            <p:ph type="title"/>
          </p:nvPr>
        </p:nvSpPr>
        <p:spPr/>
        <p:txBody>
          <a:bodyPr/>
          <a:lstStyle/>
          <a:p>
            <a:r>
              <a:rPr lang="en-US" sz="3600" b="1" spc="-5" dirty="0">
                <a:solidFill>
                  <a:srgbClr val="3333FF"/>
                </a:solidFill>
                <a:latin typeface="Carlito"/>
              </a:rPr>
              <a:t>Validation set</a:t>
            </a:r>
            <a:endParaRPr lang="en-IN" sz="3600" b="1" spc="-5" dirty="0">
              <a:solidFill>
                <a:srgbClr val="3333FF"/>
              </a:solidFill>
              <a:latin typeface="Carlito"/>
            </a:endParaRPr>
          </a:p>
        </p:txBody>
      </p:sp>
      <p:sp>
        <p:nvSpPr>
          <p:cNvPr id="3" name="Content Placeholder 2">
            <a:extLst>
              <a:ext uri="{FF2B5EF4-FFF2-40B4-BE49-F238E27FC236}">
                <a16:creationId xmlns:a16="http://schemas.microsoft.com/office/drawing/2014/main" id="{FC28FF3F-D88B-43E1-96A7-10E4B45FCB87}"/>
              </a:ext>
            </a:extLst>
          </p:cNvPr>
          <p:cNvSpPr>
            <a:spLocks noGrp="1"/>
          </p:cNvSpPr>
          <p:nvPr>
            <p:ph idx="1"/>
          </p:nvPr>
        </p:nvSpPr>
        <p:spPr/>
        <p:txBody>
          <a:bodyPr/>
          <a:lstStyle/>
          <a:p>
            <a:pPr algn="l"/>
            <a:r>
              <a:rPr lang="en-US" dirty="0"/>
              <a:t>The validation set is a separate section of your dataset that you will use during training to get a sense of </a:t>
            </a:r>
            <a:r>
              <a:rPr lang="en-US" dirty="0">
                <a:solidFill>
                  <a:srgbClr val="FF0000"/>
                </a:solidFill>
              </a:rPr>
              <a:t>how well your model is doing on the data that is not being used in training.</a:t>
            </a:r>
          </a:p>
          <a:p>
            <a:pPr algn="l"/>
            <a:r>
              <a:rPr lang="en-US" dirty="0"/>
              <a:t>During training, it is common to report validation metrics continually after each training epoch such as </a:t>
            </a:r>
            <a:r>
              <a:rPr lang="en-US" dirty="0">
                <a:hlinkClick r:id="rId2">
                  <a:extLst>
                    <a:ext uri="{A12FA001-AC4F-418D-AE19-62706E023703}">
                      <ahyp:hlinkClr xmlns:ahyp="http://schemas.microsoft.com/office/drawing/2018/hyperlinkcolor" val="tx"/>
                    </a:ext>
                  </a:extLst>
                </a:hlinkClick>
              </a:rPr>
              <a:t>validation </a:t>
            </a:r>
            <a:r>
              <a:rPr lang="en-US" dirty="0" err="1">
                <a:hlinkClick r:id="rId2">
                  <a:extLst>
                    <a:ext uri="{A12FA001-AC4F-418D-AE19-62706E023703}">
                      <ahyp:hlinkClr xmlns:ahyp="http://schemas.microsoft.com/office/drawing/2018/hyperlinkcolor" val="tx"/>
                    </a:ext>
                  </a:extLst>
                </a:hlinkClick>
              </a:rPr>
              <a:t>mAP</a:t>
            </a:r>
            <a:r>
              <a:rPr lang="en-US" dirty="0"/>
              <a:t> or validation loss. You use these metrics to get a sense of when your model has hit the best performance it can reach on your validation set</a:t>
            </a:r>
          </a:p>
          <a:p>
            <a:endParaRPr lang="en-IN" dirty="0"/>
          </a:p>
        </p:txBody>
      </p:sp>
    </p:spTree>
    <p:extLst>
      <p:ext uri="{BB962C8B-B14F-4D97-AF65-F5344CB8AC3E}">
        <p14:creationId xmlns:p14="http://schemas.microsoft.com/office/powerpoint/2010/main" val="18242726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CF159A-AE8B-D09E-AC60-FBEBA3CB168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96A3C7B-B716-9475-3B78-639C35681F6C}"/>
              </a:ext>
            </a:extLst>
          </p:cNvPr>
          <p:cNvSpPr>
            <a:spLocks noGrp="1"/>
          </p:cNvSpPr>
          <p:nvPr>
            <p:ph idx="1"/>
          </p:nvPr>
        </p:nvSpPr>
        <p:spPr/>
        <p:txBody>
          <a:bodyPr>
            <a:normAutofit fontScale="92500" lnSpcReduction="10000"/>
          </a:bodyPr>
          <a:lstStyle/>
          <a:p>
            <a:pPr algn="just"/>
            <a:r>
              <a:rPr lang="en-US" b="1" dirty="0"/>
              <a:t>Purpose: </a:t>
            </a:r>
            <a:r>
              <a:rPr lang="en-US" dirty="0"/>
              <a:t>The validation dataset is used to tune the model's hyperparameters (e.g., learning rate, number of layers, regularization parameters) and to evaluate model performance during the training process.</a:t>
            </a:r>
          </a:p>
          <a:p>
            <a:pPr algn="just"/>
            <a:r>
              <a:rPr lang="en-US" b="1" dirty="0"/>
              <a:t>Usage: </a:t>
            </a:r>
            <a:r>
              <a:rPr lang="en-US" dirty="0"/>
              <a:t>After training on the training set, the model is evaluated on the validation set to see how well it generalizes to unseen data. The performance on this set guides decisions on hyperparameter adjustments and model selection.</a:t>
            </a:r>
          </a:p>
          <a:p>
            <a:pPr algn="just"/>
            <a:r>
              <a:rPr lang="en-US" b="1" dirty="0"/>
              <a:t>Overfitting Risk: </a:t>
            </a:r>
            <a:r>
              <a:rPr lang="en-US" dirty="0"/>
              <a:t>If the model or its hyperparameters are adjusted too frequently based on validation performance, the model may overfit to the validation set, leading to an overly optimistic assessment of its generalization ability.</a:t>
            </a:r>
          </a:p>
        </p:txBody>
      </p:sp>
    </p:spTree>
    <p:extLst>
      <p:ext uri="{BB962C8B-B14F-4D97-AF65-F5344CB8AC3E}">
        <p14:creationId xmlns:p14="http://schemas.microsoft.com/office/powerpoint/2010/main" val="7587347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8986F-5AA1-4F1D-B9D3-862E9A1A6895}"/>
              </a:ext>
            </a:extLst>
          </p:cNvPr>
          <p:cNvSpPr>
            <a:spLocks noGrp="1"/>
          </p:cNvSpPr>
          <p:nvPr>
            <p:ph type="title"/>
          </p:nvPr>
        </p:nvSpPr>
        <p:spPr/>
        <p:txBody>
          <a:bodyPr/>
          <a:lstStyle/>
          <a:p>
            <a:r>
              <a:rPr lang="en-US" sz="3600" b="1" spc="-5" dirty="0">
                <a:solidFill>
                  <a:srgbClr val="3333FF"/>
                </a:solidFill>
                <a:latin typeface="Carlito"/>
              </a:rPr>
              <a:t>Testing Data</a:t>
            </a:r>
            <a:endParaRPr lang="en-IN" sz="3600" b="1" spc="-5" dirty="0">
              <a:solidFill>
                <a:srgbClr val="3333FF"/>
              </a:solidFill>
              <a:latin typeface="Carlito"/>
            </a:endParaRPr>
          </a:p>
        </p:txBody>
      </p:sp>
      <p:sp>
        <p:nvSpPr>
          <p:cNvPr id="3" name="Content Placeholder 2">
            <a:extLst>
              <a:ext uri="{FF2B5EF4-FFF2-40B4-BE49-F238E27FC236}">
                <a16:creationId xmlns:a16="http://schemas.microsoft.com/office/drawing/2014/main" id="{640A67C9-E7D7-4617-8A49-F4434EE6D7E4}"/>
              </a:ext>
            </a:extLst>
          </p:cNvPr>
          <p:cNvSpPr>
            <a:spLocks noGrp="1"/>
          </p:cNvSpPr>
          <p:nvPr>
            <p:ph idx="1"/>
          </p:nvPr>
        </p:nvSpPr>
        <p:spPr/>
        <p:txBody>
          <a:bodyPr>
            <a:normAutofit fontScale="92500"/>
          </a:bodyPr>
          <a:lstStyle/>
          <a:p>
            <a:pPr algn="l"/>
            <a:r>
              <a:rPr lang="en-US" b="0" i="0" dirty="0">
                <a:solidFill>
                  <a:srgbClr val="383838"/>
                </a:solidFill>
                <a:effectLst/>
                <a:latin typeface="proxima-nova"/>
              </a:rPr>
              <a:t>After all of the training experiments have concluded, you probably have gotten a sense on how your model might do on the validation set. But it is important to remember that the validation set metrics may have influenced you during the creation of the model, and in this sense you might, as a designer, overfit the new model to the validation set.</a:t>
            </a:r>
          </a:p>
          <a:p>
            <a:pPr algn="l"/>
            <a:r>
              <a:rPr lang="en-US" b="0" i="0" dirty="0">
                <a:solidFill>
                  <a:srgbClr val="383838"/>
                </a:solidFill>
                <a:effectLst/>
                <a:latin typeface="proxima-nova"/>
              </a:rPr>
              <a:t>Because the validation set is heavily used in model creation, it is important to hold back a completely separate stronghold of data - the test set. You can run evaluation metrics on the test set at the very end of your project, to get a sense of how well your model will do in production.  </a:t>
            </a:r>
          </a:p>
          <a:p>
            <a:pPr algn="l"/>
            <a:r>
              <a:rPr lang="en-US" b="1" i="0" dirty="0">
                <a:solidFill>
                  <a:srgbClr val="383838"/>
                </a:solidFill>
                <a:effectLst/>
                <a:latin typeface="proxima-nova"/>
              </a:rPr>
              <a:t>We recommend allocating 10% of your dataset to the test set</a:t>
            </a:r>
            <a:r>
              <a:rPr lang="en-US" b="0" i="0" dirty="0">
                <a:solidFill>
                  <a:srgbClr val="383838"/>
                </a:solidFill>
                <a:effectLst/>
                <a:latin typeface="proxima-nova"/>
              </a:rPr>
              <a:t>.</a:t>
            </a:r>
          </a:p>
          <a:p>
            <a:pPr marL="0" indent="0">
              <a:buNone/>
            </a:pPr>
            <a:endParaRPr lang="en-IN" dirty="0"/>
          </a:p>
        </p:txBody>
      </p:sp>
    </p:spTree>
    <p:extLst>
      <p:ext uri="{BB962C8B-B14F-4D97-AF65-F5344CB8AC3E}">
        <p14:creationId xmlns:p14="http://schemas.microsoft.com/office/powerpoint/2010/main" val="1520741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997A69-E86D-252C-059E-317199977EC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07815EB-293D-6C04-10EA-F05DD875B450}"/>
              </a:ext>
            </a:extLst>
          </p:cNvPr>
          <p:cNvSpPr>
            <a:spLocks noGrp="1"/>
          </p:cNvSpPr>
          <p:nvPr>
            <p:ph idx="1"/>
          </p:nvPr>
        </p:nvSpPr>
        <p:spPr/>
        <p:txBody>
          <a:bodyPr>
            <a:normAutofit/>
          </a:bodyPr>
          <a:lstStyle/>
          <a:p>
            <a:r>
              <a:rPr lang="en-US" b="1" dirty="0"/>
              <a:t>Test Dataset</a:t>
            </a:r>
          </a:p>
          <a:p>
            <a:pPr>
              <a:buFont typeface="Arial" panose="020B0604020202020204" pitchFamily="34" charset="0"/>
              <a:buChar char="•"/>
            </a:pPr>
            <a:r>
              <a:rPr lang="en-US" b="1" dirty="0"/>
              <a:t>Purpose</a:t>
            </a:r>
            <a:r>
              <a:rPr lang="en-US" dirty="0"/>
              <a:t>: The test dataset is used to provide an unbiased evaluation of the final model after it has been trained and validated. It is intended to simulate how the model will perform on real-world, unseen data.</a:t>
            </a:r>
          </a:p>
          <a:p>
            <a:pPr>
              <a:buFont typeface="Arial" panose="020B0604020202020204" pitchFamily="34" charset="0"/>
              <a:buChar char="•"/>
            </a:pPr>
            <a:r>
              <a:rPr lang="en-US" b="1" dirty="0"/>
              <a:t>Usage</a:t>
            </a:r>
            <a:r>
              <a:rPr lang="en-US" dirty="0"/>
              <a:t>: The model is evaluated on the test set only once, after the final model has been chosen, to assess its true generalization performance.</a:t>
            </a:r>
          </a:p>
          <a:p>
            <a:pPr>
              <a:buFont typeface="Arial" panose="020B0604020202020204" pitchFamily="34" charset="0"/>
              <a:buChar char="•"/>
            </a:pPr>
            <a:r>
              <a:rPr lang="en-US" b="1" dirty="0"/>
              <a:t>Overfitting Risk</a:t>
            </a:r>
            <a:r>
              <a:rPr lang="en-US" dirty="0"/>
              <a:t>: There is no risk of overfitting to the test set, as it should be used only once, after all model tuning is complete.</a:t>
            </a:r>
          </a:p>
          <a:p>
            <a:endParaRPr lang="en-US" dirty="0"/>
          </a:p>
        </p:txBody>
      </p:sp>
    </p:spTree>
    <p:extLst>
      <p:ext uri="{BB962C8B-B14F-4D97-AF65-F5344CB8AC3E}">
        <p14:creationId xmlns:p14="http://schemas.microsoft.com/office/powerpoint/2010/main" val="12258062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7F74F0-B1E9-40D7-972E-C52E1544B3A5}"/>
              </a:ext>
            </a:extLst>
          </p:cNvPr>
          <p:cNvSpPr>
            <a:spLocks noGrp="1"/>
          </p:cNvSpPr>
          <p:nvPr>
            <p:ph type="title"/>
          </p:nvPr>
        </p:nvSpPr>
        <p:spPr/>
        <p:txBody>
          <a:bodyPr/>
          <a:lstStyle/>
          <a:p>
            <a:r>
              <a:rPr lang="en-US" dirty="0"/>
              <a:t>Train-Validate-Test</a:t>
            </a:r>
            <a:endParaRPr lang="en-IN" dirty="0"/>
          </a:p>
        </p:txBody>
      </p:sp>
      <p:sp>
        <p:nvSpPr>
          <p:cNvPr id="3" name="Content Placeholder 2">
            <a:extLst>
              <a:ext uri="{FF2B5EF4-FFF2-40B4-BE49-F238E27FC236}">
                <a16:creationId xmlns:a16="http://schemas.microsoft.com/office/drawing/2014/main" id="{53923230-A4D9-4889-82DD-7B5F33799E9C}"/>
              </a:ext>
            </a:extLst>
          </p:cNvPr>
          <p:cNvSpPr>
            <a:spLocks noGrp="1"/>
          </p:cNvSpPr>
          <p:nvPr>
            <p:ph idx="1"/>
          </p:nvPr>
        </p:nvSpPr>
        <p:spPr/>
        <p:txBody>
          <a:bodyPr/>
          <a:lstStyle/>
          <a:p>
            <a:endParaRPr lang="en-IN"/>
          </a:p>
        </p:txBody>
      </p:sp>
      <p:pic>
        <p:nvPicPr>
          <p:cNvPr id="4" name="Picture 3">
            <a:extLst>
              <a:ext uri="{FF2B5EF4-FFF2-40B4-BE49-F238E27FC236}">
                <a16:creationId xmlns:a16="http://schemas.microsoft.com/office/drawing/2014/main" id="{68FE94BA-C211-417B-ABB3-D16F4B4C176A}"/>
              </a:ext>
            </a:extLst>
          </p:cNvPr>
          <p:cNvPicPr>
            <a:picLocks noChangeAspect="1"/>
          </p:cNvPicPr>
          <p:nvPr/>
        </p:nvPicPr>
        <p:blipFill>
          <a:blip r:embed="rId2"/>
          <a:stretch>
            <a:fillRect/>
          </a:stretch>
        </p:blipFill>
        <p:spPr>
          <a:xfrm>
            <a:off x="2340699" y="1892300"/>
            <a:ext cx="6924675" cy="4419600"/>
          </a:xfrm>
          <a:prstGeom prst="rect">
            <a:avLst/>
          </a:prstGeom>
        </p:spPr>
      </p:pic>
    </p:spTree>
    <p:extLst>
      <p:ext uri="{BB962C8B-B14F-4D97-AF65-F5344CB8AC3E}">
        <p14:creationId xmlns:p14="http://schemas.microsoft.com/office/powerpoint/2010/main" val="1436625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8C5457-4B4F-4751-9932-4B39F03C01D6}"/>
              </a:ext>
            </a:extLst>
          </p:cNvPr>
          <p:cNvSpPr>
            <a:spLocks noGrp="1"/>
          </p:cNvSpPr>
          <p:nvPr>
            <p:ph type="title"/>
          </p:nvPr>
        </p:nvSpPr>
        <p:spPr/>
        <p:txBody>
          <a:bodyPr/>
          <a:lstStyle/>
          <a:p>
            <a:r>
              <a:rPr lang="en-US" sz="3600" b="1" spc="-5" dirty="0">
                <a:solidFill>
                  <a:srgbClr val="3333FF"/>
                </a:solidFill>
                <a:latin typeface="Carlito"/>
              </a:rPr>
              <a:t>Train Validate Test</a:t>
            </a:r>
            <a:endParaRPr lang="en-IN" sz="3600" b="1" spc="-5" dirty="0">
              <a:solidFill>
                <a:srgbClr val="3333FF"/>
              </a:solidFill>
              <a:latin typeface="Carlito"/>
            </a:endParaRPr>
          </a:p>
        </p:txBody>
      </p:sp>
      <p:pic>
        <p:nvPicPr>
          <p:cNvPr id="4" name="Content Placeholder 3">
            <a:extLst>
              <a:ext uri="{FF2B5EF4-FFF2-40B4-BE49-F238E27FC236}">
                <a16:creationId xmlns:a16="http://schemas.microsoft.com/office/drawing/2014/main" id="{FDAF4ED0-D695-4835-854B-41022846A002}"/>
              </a:ext>
            </a:extLst>
          </p:cNvPr>
          <p:cNvPicPr>
            <a:picLocks noGrp="1" noChangeAspect="1"/>
          </p:cNvPicPr>
          <p:nvPr>
            <p:ph idx="1"/>
          </p:nvPr>
        </p:nvPicPr>
        <p:blipFill>
          <a:blip r:embed="rId2"/>
          <a:stretch>
            <a:fillRect/>
          </a:stretch>
        </p:blipFill>
        <p:spPr>
          <a:xfrm>
            <a:off x="3108895" y="1332790"/>
            <a:ext cx="6151763" cy="5383167"/>
          </a:xfrm>
          <a:prstGeom prst="rect">
            <a:avLst/>
          </a:prstGeom>
        </p:spPr>
      </p:pic>
    </p:spTree>
    <p:extLst>
      <p:ext uri="{BB962C8B-B14F-4D97-AF65-F5344CB8AC3E}">
        <p14:creationId xmlns:p14="http://schemas.microsoft.com/office/powerpoint/2010/main" val="20606592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0015FC-674B-4A05-B747-0840B02DC4C5}"/>
              </a:ext>
            </a:extLst>
          </p:cNvPr>
          <p:cNvSpPr>
            <a:spLocks noGrp="1"/>
          </p:cNvSpPr>
          <p:nvPr>
            <p:ph type="title"/>
          </p:nvPr>
        </p:nvSpPr>
        <p:spPr>
          <a:xfrm>
            <a:off x="3146394" y="1890373"/>
            <a:ext cx="6192915" cy="1325563"/>
          </a:xfrm>
        </p:spPr>
        <p:txBody>
          <a:bodyPr/>
          <a:lstStyle/>
          <a:p>
            <a:pPr algn="ctr"/>
            <a:r>
              <a:rPr lang="en-US" b="1" dirty="0"/>
              <a:t>Ways of doing evaluation with  limited dataset </a:t>
            </a:r>
            <a:endParaRPr lang="en-IN" b="1" dirty="0"/>
          </a:p>
        </p:txBody>
      </p:sp>
    </p:spTree>
    <p:extLst>
      <p:ext uri="{BB962C8B-B14F-4D97-AF65-F5344CB8AC3E}">
        <p14:creationId xmlns:p14="http://schemas.microsoft.com/office/powerpoint/2010/main" val="20953429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BC2BE4-C7B9-4E66-84EE-78855D6A3195}"/>
              </a:ext>
            </a:extLst>
          </p:cNvPr>
          <p:cNvSpPr>
            <a:spLocks noGrp="1"/>
          </p:cNvSpPr>
          <p:nvPr>
            <p:ph type="title"/>
          </p:nvPr>
        </p:nvSpPr>
        <p:spPr/>
        <p:txBody>
          <a:bodyPr/>
          <a:lstStyle/>
          <a:p>
            <a:pPr algn="ctr"/>
            <a:r>
              <a:rPr lang="en-US" sz="3600" b="1" spc="-5" dirty="0">
                <a:solidFill>
                  <a:srgbClr val="3333FF"/>
                </a:solidFill>
                <a:latin typeface="Carlito"/>
              </a:rPr>
              <a:t>Not a good approach</a:t>
            </a:r>
            <a:endParaRPr lang="en-IN" sz="3600" b="1" spc="-5" dirty="0">
              <a:solidFill>
                <a:srgbClr val="3333FF"/>
              </a:solidFill>
              <a:latin typeface="Carlito"/>
            </a:endParaRPr>
          </a:p>
        </p:txBody>
      </p:sp>
      <p:pic>
        <p:nvPicPr>
          <p:cNvPr id="5" name="Content Placeholder 4">
            <a:extLst>
              <a:ext uri="{FF2B5EF4-FFF2-40B4-BE49-F238E27FC236}">
                <a16:creationId xmlns:a16="http://schemas.microsoft.com/office/drawing/2014/main" id="{4E98A70D-08A0-4845-B849-2E802A2F4B43}"/>
              </a:ext>
            </a:extLst>
          </p:cNvPr>
          <p:cNvPicPr>
            <a:picLocks noGrp="1" noChangeAspect="1"/>
          </p:cNvPicPr>
          <p:nvPr>
            <p:ph idx="1"/>
          </p:nvPr>
        </p:nvPicPr>
        <p:blipFill>
          <a:blip r:embed="rId2"/>
          <a:stretch>
            <a:fillRect/>
          </a:stretch>
        </p:blipFill>
        <p:spPr>
          <a:xfrm>
            <a:off x="1233567" y="1825625"/>
            <a:ext cx="9724865" cy="4351338"/>
          </a:xfrm>
        </p:spPr>
      </p:pic>
    </p:spTree>
    <p:extLst>
      <p:ext uri="{BB962C8B-B14F-4D97-AF65-F5344CB8AC3E}">
        <p14:creationId xmlns:p14="http://schemas.microsoft.com/office/powerpoint/2010/main" val="17408605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3E9EA2-F53B-4F27-BB07-023D0A661AC3}"/>
              </a:ext>
            </a:extLst>
          </p:cNvPr>
          <p:cNvSpPr>
            <a:spLocks noGrp="1"/>
          </p:cNvSpPr>
          <p:nvPr>
            <p:ph type="title"/>
          </p:nvPr>
        </p:nvSpPr>
        <p:spPr/>
        <p:txBody>
          <a:bodyPr/>
          <a:lstStyle/>
          <a:p>
            <a:pPr algn="ctr"/>
            <a:r>
              <a:rPr lang="en-US" sz="3600" b="1" spc="-5" dirty="0">
                <a:solidFill>
                  <a:srgbClr val="3333FF"/>
                </a:solidFill>
                <a:latin typeface="Carlito"/>
              </a:rPr>
              <a:t>Option 2 (medium approach)</a:t>
            </a:r>
            <a:endParaRPr lang="en-IN" sz="3600" b="1" spc="-5" dirty="0">
              <a:solidFill>
                <a:srgbClr val="3333FF"/>
              </a:solidFill>
              <a:latin typeface="Carlito"/>
            </a:endParaRPr>
          </a:p>
        </p:txBody>
      </p:sp>
      <p:pic>
        <p:nvPicPr>
          <p:cNvPr id="5" name="Content Placeholder 4">
            <a:extLst>
              <a:ext uri="{FF2B5EF4-FFF2-40B4-BE49-F238E27FC236}">
                <a16:creationId xmlns:a16="http://schemas.microsoft.com/office/drawing/2014/main" id="{AAA6D9EA-A392-4F80-B27C-24CA9A98725D}"/>
              </a:ext>
            </a:extLst>
          </p:cNvPr>
          <p:cNvPicPr>
            <a:picLocks noGrp="1" noChangeAspect="1"/>
          </p:cNvPicPr>
          <p:nvPr>
            <p:ph idx="1"/>
          </p:nvPr>
        </p:nvPicPr>
        <p:blipFill>
          <a:blip r:embed="rId3"/>
          <a:stretch>
            <a:fillRect/>
          </a:stretch>
        </p:blipFill>
        <p:spPr>
          <a:xfrm>
            <a:off x="1811045" y="1352455"/>
            <a:ext cx="8220844" cy="4322048"/>
          </a:xfrm>
        </p:spPr>
      </p:pic>
    </p:spTree>
    <p:extLst>
      <p:ext uri="{BB962C8B-B14F-4D97-AF65-F5344CB8AC3E}">
        <p14:creationId xmlns:p14="http://schemas.microsoft.com/office/powerpoint/2010/main" val="387130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9DF356-C93E-4EB6-A09B-58A0EECFBF46}"/>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363DD66E-7980-4ECF-B5D0-E3D5B50EBE22}"/>
              </a:ext>
            </a:extLst>
          </p:cNvPr>
          <p:cNvSpPr>
            <a:spLocks noGrp="1"/>
          </p:cNvSpPr>
          <p:nvPr>
            <p:ph idx="1"/>
          </p:nvPr>
        </p:nvSpPr>
        <p:spPr>
          <a:xfrm>
            <a:off x="740546" y="2038689"/>
            <a:ext cx="10515600" cy="4351338"/>
          </a:xfrm>
        </p:spPr>
        <p:txBody>
          <a:bodyPr/>
          <a:lstStyle/>
          <a:p>
            <a:r>
              <a:rPr lang="en-US" dirty="0"/>
              <a:t>In option 2 :  Size of </a:t>
            </a:r>
            <a:r>
              <a:rPr lang="en-US" u="sng" dirty="0"/>
              <a:t>training dataset will decrease </a:t>
            </a:r>
            <a:r>
              <a:rPr lang="en-US" dirty="0"/>
              <a:t>and it may lead to overfitting.</a:t>
            </a:r>
          </a:p>
          <a:p>
            <a:r>
              <a:rPr lang="en-US" u="sng" dirty="0"/>
              <a:t>Size of testing Data set also will get less</a:t>
            </a:r>
            <a:r>
              <a:rPr lang="en-US" dirty="0"/>
              <a:t>, as you will try to maximize training data set, and having a small testing dataset is not preferred.</a:t>
            </a:r>
          </a:p>
          <a:p>
            <a:r>
              <a:rPr lang="en-US" dirty="0"/>
              <a:t>There is </a:t>
            </a:r>
            <a:r>
              <a:rPr lang="en-US" u="sng" dirty="0"/>
              <a:t>no mechanism of fine tuning the parameters </a:t>
            </a:r>
            <a:r>
              <a:rPr lang="en-US" dirty="0"/>
              <a:t>of the model that is to say no model evaluation is being done.</a:t>
            </a:r>
          </a:p>
          <a:p>
            <a:pPr marL="0" indent="0">
              <a:buNone/>
            </a:pPr>
            <a:endParaRPr lang="en-IN" dirty="0"/>
          </a:p>
        </p:txBody>
      </p:sp>
    </p:spTree>
    <p:extLst>
      <p:ext uri="{BB962C8B-B14F-4D97-AF65-F5344CB8AC3E}">
        <p14:creationId xmlns:p14="http://schemas.microsoft.com/office/powerpoint/2010/main" val="5558968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214DEE-96FB-4813-8ACC-02ACFABE4FB2}"/>
              </a:ext>
            </a:extLst>
          </p:cNvPr>
          <p:cNvSpPr>
            <a:spLocks noGrp="1"/>
          </p:cNvSpPr>
          <p:nvPr>
            <p:ph type="title"/>
          </p:nvPr>
        </p:nvSpPr>
        <p:spPr/>
        <p:txBody>
          <a:bodyPr/>
          <a:lstStyle/>
          <a:p>
            <a:pPr algn="ctr"/>
            <a:r>
              <a:rPr lang="en-US" sz="3600" b="1" spc="-5" dirty="0">
                <a:solidFill>
                  <a:srgbClr val="3333FF"/>
                </a:solidFill>
                <a:latin typeface="Carlito"/>
              </a:rPr>
              <a:t>Option3-Validation Set</a:t>
            </a:r>
            <a:endParaRPr lang="en-IN" sz="3600" b="1" spc="-5" dirty="0">
              <a:solidFill>
                <a:srgbClr val="3333FF"/>
              </a:solidFill>
              <a:latin typeface="Carlito"/>
            </a:endParaRPr>
          </a:p>
        </p:txBody>
      </p:sp>
      <p:pic>
        <p:nvPicPr>
          <p:cNvPr id="5" name="Content Placeholder 4">
            <a:extLst>
              <a:ext uri="{FF2B5EF4-FFF2-40B4-BE49-F238E27FC236}">
                <a16:creationId xmlns:a16="http://schemas.microsoft.com/office/drawing/2014/main" id="{80B1A308-D1CC-49C4-9B69-A4D269D71740}"/>
              </a:ext>
            </a:extLst>
          </p:cNvPr>
          <p:cNvPicPr>
            <a:picLocks noGrp="1" noChangeAspect="1"/>
          </p:cNvPicPr>
          <p:nvPr>
            <p:ph idx="1"/>
          </p:nvPr>
        </p:nvPicPr>
        <p:blipFill>
          <a:blip r:embed="rId3">
            <a:extLst>
              <a:ext uri="{BEBA8EAE-BF5A-486C-A8C5-ECC9F3942E4B}">
                <a14:imgProps xmlns:a14="http://schemas.microsoft.com/office/drawing/2010/main">
                  <a14:imgLayer r:embed="rId4">
                    <a14:imgEffect>
                      <a14:brightnessContrast bright="-7000"/>
                    </a14:imgEffect>
                  </a14:imgLayer>
                </a14:imgProps>
              </a:ext>
            </a:extLst>
          </a:blip>
          <a:stretch>
            <a:fillRect/>
          </a:stretch>
        </p:blipFill>
        <p:spPr>
          <a:xfrm>
            <a:off x="1371646" y="2203889"/>
            <a:ext cx="9839325" cy="3648075"/>
          </a:xfrm>
        </p:spPr>
      </p:pic>
    </p:spTree>
    <p:extLst>
      <p:ext uri="{BB962C8B-B14F-4D97-AF65-F5344CB8AC3E}">
        <p14:creationId xmlns:p14="http://schemas.microsoft.com/office/powerpoint/2010/main" val="13740569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9DF356-C93E-4EB6-A09B-58A0EECFBF46}"/>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363DD66E-7980-4ECF-B5D0-E3D5B50EBE22}"/>
              </a:ext>
            </a:extLst>
          </p:cNvPr>
          <p:cNvSpPr>
            <a:spLocks noGrp="1"/>
          </p:cNvSpPr>
          <p:nvPr>
            <p:ph idx="1"/>
          </p:nvPr>
        </p:nvSpPr>
        <p:spPr/>
        <p:txBody>
          <a:bodyPr/>
          <a:lstStyle/>
          <a:p>
            <a:pPr marL="0" indent="0">
              <a:buNone/>
            </a:pPr>
            <a:r>
              <a:rPr lang="en-US" dirty="0"/>
              <a:t>Validation is failing to use all the examples of training data set</a:t>
            </a:r>
          </a:p>
          <a:p>
            <a:pPr marL="0" indent="0">
              <a:buNone/>
            </a:pPr>
            <a:endParaRPr lang="en-US" dirty="0"/>
          </a:p>
          <a:p>
            <a:pPr marL="0" indent="0">
              <a:buNone/>
            </a:pPr>
            <a:r>
              <a:rPr lang="en-US" dirty="0"/>
              <a:t>So, we want to use all the examples for validation and for that we have a scheme called K fold cross validation. </a:t>
            </a:r>
            <a:r>
              <a:rPr lang="en-US" sz="3600" b="1" spc="-5" dirty="0">
                <a:solidFill>
                  <a:srgbClr val="3333FF"/>
                </a:solidFill>
                <a:latin typeface="Carlito"/>
                <a:ea typeface="+mj-ea"/>
                <a:cs typeface="+mj-cs"/>
              </a:rPr>
              <a:t>(option4-good approach)</a:t>
            </a:r>
            <a:endParaRPr lang="en-IN" sz="3600" b="1" spc="-5" dirty="0">
              <a:solidFill>
                <a:srgbClr val="3333FF"/>
              </a:solidFill>
              <a:latin typeface="Carlito"/>
              <a:ea typeface="+mj-ea"/>
              <a:cs typeface="+mj-cs"/>
            </a:endParaRPr>
          </a:p>
        </p:txBody>
      </p:sp>
    </p:spTree>
    <p:extLst>
      <p:ext uri="{BB962C8B-B14F-4D97-AF65-F5344CB8AC3E}">
        <p14:creationId xmlns:p14="http://schemas.microsoft.com/office/powerpoint/2010/main" val="40104423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135F83-2614-4452-841F-EEB9E11B05E5}"/>
              </a:ext>
            </a:extLst>
          </p:cNvPr>
          <p:cNvSpPr>
            <a:spLocks noGrp="1"/>
          </p:cNvSpPr>
          <p:nvPr>
            <p:ph type="title"/>
          </p:nvPr>
        </p:nvSpPr>
        <p:spPr/>
        <p:txBody>
          <a:bodyPr/>
          <a:lstStyle/>
          <a:p>
            <a:pPr algn="ctr"/>
            <a:r>
              <a:rPr lang="en-US" sz="3600" b="1" spc="-5" dirty="0">
                <a:solidFill>
                  <a:srgbClr val="3333FF"/>
                </a:solidFill>
                <a:latin typeface="Carlito"/>
              </a:rPr>
              <a:t>Cross validation </a:t>
            </a:r>
            <a:endParaRPr lang="en-IN" sz="3600" b="1" spc="-5" dirty="0">
              <a:solidFill>
                <a:srgbClr val="3333FF"/>
              </a:solidFill>
              <a:latin typeface="Carlito"/>
            </a:endParaRPr>
          </a:p>
        </p:txBody>
      </p:sp>
      <p:sp>
        <p:nvSpPr>
          <p:cNvPr id="3" name="Content Placeholder 2">
            <a:extLst>
              <a:ext uri="{FF2B5EF4-FFF2-40B4-BE49-F238E27FC236}">
                <a16:creationId xmlns:a16="http://schemas.microsoft.com/office/drawing/2014/main" id="{1365B8C8-DEEA-45F3-9789-EB6EC1535DBD}"/>
              </a:ext>
            </a:extLst>
          </p:cNvPr>
          <p:cNvSpPr>
            <a:spLocks noGrp="1"/>
          </p:cNvSpPr>
          <p:nvPr>
            <p:ph idx="1"/>
          </p:nvPr>
        </p:nvSpPr>
        <p:spPr/>
        <p:txBody>
          <a:bodyPr>
            <a:normAutofit fontScale="77500" lnSpcReduction="20000"/>
          </a:bodyPr>
          <a:lstStyle/>
          <a:p>
            <a:pPr algn="just"/>
            <a:r>
              <a:rPr lang="en-US" sz="3300" dirty="0"/>
              <a:t>For any model in </a:t>
            </a:r>
            <a:r>
              <a:rPr lang="en-US" sz="3300" dirty="0">
                <a:hlinkClick r:id="rId2">
                  <a:extLst>
                    <a:ext uri="{A12FA001-AC4F-418D-AE19-62706E023703}">
                      <ahyp:hlinkClr xmlns:ahyp="http://schemas.microsoft.com/office/drawing/2018/hyperlinkcolor" val="tx"/>
                    </a:ext>
                  </a:extLst>
                </a:hlinkClick>
              </a:rPr>
              <a:t>Machine Learning</a:t>
            </a:r>
            <a:r>
              <a:rPr lang="en-US" sz="3300" dirty="0"/>
              <a:t>, it is considered as a best practice if the model is tested with an independent data set. Normally, any prediction model works on a known data set which is also known as the training set.</a:t>
            </a:r>
          </a:p>
          <a:p>
            <a:pPr algn="just"/>
            <a:r>
              <a:rPr lang="en-US" sz="3300" dirty="0"/>
              <a:t>But in a real-life scenario, the model will be tested for its efficiency and accuracy with an altogether different and unique data set. Under those circumstances, you’d want your model to be efficient enough or at least to be at par with the same efficiency that it shows for the training set. Basically this testing is known as cross-validation in Machine Learning so that it is fit to work with any model in the future.</a:t>
            </a:r>
          </a:p>
          <a:p>
            <a:pPr algn="just"/>
            <a:r>
              <a:rPr lang="en-US" sz="3300" dirty="0"/>
              <a:t>We can also call it a technique for asserting how the statistical model generalizes to an independent data set. Now that we know what cross-validation stands for, let us try to understand cross-validation in simple terms.</a:t>
            </a:r>
          </a:p>
          <a:p>
            <a:endParaRPr lang="en-IN" dirty="0"/>
          </a:p>
        </p:txBody>
      </p:sp>
    </p:spTree>
    <p:extLst>
      <p:ext uri="{BB962C8B-B14F-4D97-AF65-F5344CB8AC3E}">
        <p14:creationId xmlns:p14="http://schemas.microsoft.com/office/powerpoint/2010/main" val="33742747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E201ED-8276-42DF-B831-26DF46FB8575}"/>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0CE9C5C-9AFA-4AED-BD63-7AB1D5210EBD}"/>
              </a:ext>
            </a:extLst>
          </p:cNvPr>
          <p:cNvSpPr>
            <a:spLocks noGrp="1"/>
          </p:cNvSpPr>
          <p:nvPr>
            <p:ph idx="1"/>
          </p:nvPr>
        </p:nvSpPr>
        <p:spPr/>
        <p:txBody>
          <a:bodyPr/>
          <a:lstStyle/>
          <a:p>
            <a:pPr algn="just"/>
            <a:r>
              <a:rPr lang="en-US" dirty="0"/>
              <a:t>The basic purpose of cross-validation is to assess how the model will perform with an unknown data set. For instance, you are trying to score a goal in an empty goal. It looks pretty easy, and you could even score from a considerable distance too. But the real test starts when there is a goalkeeper and a bunch of defenders. That’s why you need to get trained in a real match facing all the heat and still score the goal.</a:t>
            </a:r>
          </a:p>
          <a:p>
            <a:pPr algn="just"/>
            <a:r>
              <a:rPr lang="en-US" dirty="0"/>
              <a:t>Similarly, a statistical model is trained in such a way that it excels in its efficiency with other unknown data sets using cross-validation.</a:t>
            </a:r>
          </a:p>
          <a:p>
            <a:pPr marL="0" indent="0">
              <a:buNone/>
            </a:pPr>
            <a:endParaRPr lang="en-IN" dirty="0"/>
          </a:p>
        </p:txBody>
      </p:sp>
    </p:spTree>
    <p:extLst>
      <p:ext uri="{BB962C8B-B14F-4D97-AF65-F5344CB8AC3E}">
        <p14:creationId xmlns:p14="http://schemas.microsoft.com/office/powerpoint/2010/main" val="34514187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36C64-5EFF-B5FC-D006-5F8C033BC68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AE5E1BB-AB47-BDCF-0709-20331FE2E6C9}"/>
              </a:ext>
            </a:extLst>
          </p:cNvPr>
          <p:cNvSpPr>
            <a:spLocks noGrp="1"/>
          </p:cNvSpPr>
          <p:nvPr>
            <p:ph idx="1"/>
          </p:nvPr>
        </p:nvSpPr>
        <p:spPr/>
        <p:txBody>
          <a:bodyPr/>
          <a:lstStyle/>
          <a:p>
            <a:r>
              <a:rPr lang="en-US" b="1" dirty="0"/>
              <a:t>Cross-validation</a:t>
            </a:r>
            <a:r>
              <a:rPr lang="en-US" dirty="0"/>
              <a:t> is a technique in machine learning used to assess how well a model generalizes to an independent dataset, helping to prevent overfitting and provide a more accurate estimate of a model's performance on unseen data. It is particularly useful when the available data is limited, as it allows you to maximize the use of the data for both training and validation purposes.</a:t>
            </a:r>
          </a:p>
        </p:txBody>
      </p:sp>
    </p:spTree>
    <p:extLst>
      <p:ext uri="{BB962C8B-B14F-4D97-AF65-F5344CB8AC3E}">
        <p14:creationId xmlns:p14="http://schemas.microsoft.com/office/powerpoint/2010/main" val="19088526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E15676-E01C-4D63-9EDC-66C9858C3450}"/>
              </a:ext>
            </a:extLst>
          </p:cNvPr>
          <p:cNvSpPr>
            <a:spLocks noGrp="1"/>
          </p:cNvSpPr>
          <p:nvPr>
            <p:ph type="title"/>
          </p:nvPr>
        </p:nvSpPr>
        <p:spPr/>
        <p:txBody>
          <a:bodyPr>
            <a:normAutofit fontScale="90000"/>
          </a:bodyPr>
          <a:lstStyle/>
          <a:p>
            <a:pPr algn="ctr"/>
            <a:br>
              <a:rPr lang="en-US" b="1" i="0" dirty="0">
                <a:solidFill>
                  <a:srgbClr val="4A4A4A"/>
                </a:solidFill>
                <a:effectLst/>
                <a:latin typeface="Open Sans"/>
              </a:rPr>
            </a:br>
            <a:r>
              <a:rPr lang="en-US" sz="4000" b="1" spc="-5" dirty="0">
                <a:solidFill>
                  <a:srgbClr val="3333FF"/>
                </a:solidFill>
                <a:latin typeface="Carlito"/>
              </a:rPr>
              <a:t>Types Of Cross-Validation</a:t>
            </a:r>
            <a:br>
              <a:rPr lang="en-US" sz="4000" b="1" spc="-5" dirty="0">
                <a:solidFill>
                  <a:srgbClr val="3333FF"/>
                </a:solidFill>
                <a:latin typeface="Carlito"/>
              </a:rPr>
            </a:br>
            <a:endParaRPr lang="en-IN" sz="3100" b="1" spc="-5" dirty="0">
              <a:solidFill>
                <a:srgbClr val="3333FF"/>
              </a:solidFill>
              <a:latin typeface="Carlito"/>
            </a:endParaRPr>
          </a:p>
        </p:txBody>
      </p:sp>
      <p:sp>
        <p:nvSpPr>
          <p:cNvPr id="3" name="Content Placeholder 2">
            <a:extLst>
              <a:ext uri="{FF2B5EF4-FFF2-40B4-BE49-F238E27FC236}">
                <a16:creationId xmlns:a16="http://schemas.microsoft.com/office/drawing/2014/main" id="{E135609D-8D07-4A56-B0D7-ECB63854A039}"/>
              </a:ext>
            </a:extLst>
          </p:cNvPr>
          <p:cNvSpPr>
            <a:spLocks noGrp="1"/>
          </p:cNvSpPr>
          <p:nvPr>
            <p:ph idx="1"/>
          </p:nvPr>
        </p:nvSpPr>
        <p:spPr/>
        <p:txBody>
          <a:bodyPr>
            <a:normAutofit/>
          </a:bodyPr>
          <a:lstStyle/>
          <a:p>
            <a:pPr marL="0" indent="0" algn="just">
              <a:lnSpc>
                <a:spcPct val="70000"/>
              </a:lnSpc>
              <a:buNone/>
            </a:pPr>
            <a:r>
              <a:rPr lang="en-US" sz="2600" dirty="0"/>
              <a:t>There are two types of cross-validation techniques in Machine Learning.</a:t>
            </a:r>
          </a:p>
          <a:p>
            <a:pPr algn="just">
              <a:lnSpc>
                <a:spcPct val="70000"/>
              </a:lnSpc>
            </a:pPr>
            <a:r>
              <a:rPr lang="en-US" sz="2600" dirty="0"/>
              <a:t>Non-Exhaustive Cross-Validation – In this method, the original data set is not separated into all the possible permutations and combinations. Example: K-fold Cross-Validation, Holdout Method.</a:t>
            </a:r>
          </a:p>
          <a:p>
            <a:pPr algn="just">
              <a:lnSpc>
                <a:spcPct val="70000"/>
              </a:lnSpc>
            </a:pPr>
            <a:r>
              <a:rPr lang="en-US" sz="2600" dirty="0"/>
              <a:t>Exhaustive Cross-Validation – This method basically involves testing the model in all possible ways, it is done by dividing the original data set into training and validation sets. Example: Leave-p-out Cross-Validation, Leave-one-out Cross-validation.</a:t>
            </a:r>
          </a:p>
          <a:p>
            <a:pPr algn="just">
              <a:buFont typeface="+mj-lt"/>
              <a:buAutoNum type="arabicPeriod"/>
            </a:pPr>
            <a:endParaRPr lang="en-US" sz="2400" b="0" i="0" dirty="0">
              <a:solidFill>
                <a:srgbClr val="4A4A4A"/>
              </a:solidFill>
              <a:effectLst/>
              <a:latin typeface="Open Sans"/>
            </a:endParaRPr>
          </a:p>
          <a:p>
            <a:pPr marL="0" indent="0">
              <a:buNone/>
            </a:pPr>
            <a:endParaRPr lang="en-IN" dirty="0"/>
          </a:p>
        </p:txBody>
      </p:sp>
    </p:spTree>
    <p:extLst>
      <p:ext uri="{BB962C8B-B14F-4D97-AF65-F5344CB8AC3E}">
        <p14:creationId xmlns:p14="http://schemas.microsoft.com/office/powerpoint/2010/main" val="40636611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469C8B-4FC5-4783-A95C-2D8647C31363}"/>
              </a:ext>
            </a:extLst>
          </p:cNvPr>
          <p:cNvSpPr>
            <a:spLocks noGrp="1"/>
          </p:cNvSpPr>
          <p:nvPr>
            <p:ph type="title"/>
          </p:nvPr>
        </p:nvSpPr>
        <p:spPr/>
        <p:txBody>
          <a:bodyPr>
            <a:normAutofit fontScale="90000"/>
          </a:bodyPr>
          <a:lstStyle/>
          <a:p>
            <a:pPr algn="ctr"/>
            <a:br>
              <a:rPr lang="en-US" dirty="0"/>
            </a:br>
            <a:r>
              <a:rPr lang="en-US" sz="4000" b="1" spc="-5" dirty="0">
                <a:solidFill>
                  <a:srgbClr val="3333FF"/>
                </a:solidFill>
                <a:latin typeface="Carlito"/>
              </a:rPr>
              <a:t>Types of Cross Validation</a:t>
            </a:r>
            <a:br>
              <a:rPr lang="en-IN" dirty="0"/>
            </a:br>
            <a:endParaRPr lang="en-IN" dirty="0"/>
          </a:p>
        </p:txBody>
      </p:sp>
      <p:sp>
        <p:nvSpPr>
          <p:cNvPr id="3" name="Content Placeholder 2">
            <a:extLst>
              <a:ext uri="{FF2B5EF4-FFF2-40B4-BE49-F238E27FC236}">
                <a16:creationId xmlns:a16="http://schemas.microsoft.com/office/drawing/2014/main" id="{002ACF21-7988-4769-AF0A-8A6B1DBAF1F8}"/>
              </a:ext>
            </a:extLst>
          </p:cNvPr>
          <p:cNvSpPr>
            <a:spLocks noGrp="1"/>
          </p:cNvSpPr>
          <p:nvPr>
            <p:ph idx="1"/>
          </p:nvPr>
        </p:nvSpPr>
        <p:spPr/>
        <p:txBody>
          <a:bodyPr/>
          <a:lstStyle/>
          <a:p>
            <a:endParaRPr lang="en-IN" dirty="0"/>
          </a:p>
        </p:txBody>
      </p:sp>
      <p:sp>
        <p:nvSpPr>
          <p:cNvPr id="4" name="Rectangle 3">
            <a:extLst>
              <a:ext uri="{FF2B5EF4-FFF2-40B4-BE49-F238E27FC236}">
                <a16:creationId xmlns:a16="http://schemas.microsoft.com/office/drawing/2014/main" id="{D829659A-E7E0-47C5-986D-C203193C0EE7}"/>
              </a:ext>
            </a:extLst>
          </p:cNvPr>
          <p:cNvSpPr/>
          <p:nvPr/>
        </p:nvSpPr>
        <p:spPr>
          <a:xfrm>
            <a:off x="3986074" y="2539014"/>
            <a:ext cx="2654423" cy="52378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Cross Validation</a:t>
            </a:r>
            <a:endParaRPr lang="en-IN" sz="2800" dirty="0"/>
          </a:p>
        </p:txBody>
      </p:sp>
      <p:sp>
        <p:nvSpPr>
          <p:cNvPr id="5" name="Rectangle 4">
            <a:extLst>
              <a:ext uri="{FF2B5EF4-FFF2-40B4-BE49-F238E27FC236}">
                <a16:creationId xmlns:a16="http://schemas.microsoft.com/office/drawing/2014/main" id="{A931AC9F-924C-4A34-A70D-E5A0232A8B7E}"/>
              </a:ext>
            </a:extLst>
          </p:cNvPr>
          <p:cNvSpPr/>
          <p:nvPr/>
        </p:nvSpPr>
        <p:spPr>
          <a:xfrm>
            <a:off x="1882066" y="4296792"/>
            <a:ext cx="2814221" cy="841897"/>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IN" sz="2800" dirty="0">
                <a:solidFill>
                  <a:schemeClr val="lt1"/>
                </a:solidFill>
              </a:rPr>
              <a:t>Non-exhaustive cross validation </a:t>
            </a:r>
          </a:p>
        </p:txBody>
      </p:sp>
      <p:sp>
        <p:nvSpPr>
          <p:cNvPr id="6" name="Rectangle 5">
            <a:extLst>
              <a:ext uri="{FF2B5EF4-FFF2-40B4-BE49-F238E27FC236}">
                <a16:creationId xmlns:a16="http://schemas.microsoft.com/office/drawing/2014/main" id="{BD3C55D6-F9E6-4E9D-8226-8DB722577FE7}"/>
              </a:ext>
            </a:extLst>
          </p:cNvPr>
          <p:cNvSpPr/>
          <p:nvPr/>
        </p:nvSpPr>
        <p:spPr>
          <a:xfrm>
            <a:off x="6739631" y="4369294"/>
            <a:ext cx="2981418" cy="841898"/>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IN" sz="2800" dirty="0"/>
              <a:t>Exhaustive cross validation </a:t>
            </a:r>
          </a:p>
        </p:txBody>
      </p:sp>
      <p:cxnSp>
        <p:nvCxnSpPr>
          <p:cNvPr id="8" name="Straight Arrow Connector 7">
            <a:extLst>
              <a:ext uri="{FF2B5EF4-FFF2-40B4-BE49-F238E27FC236}">
                <a16:creationId xmlns:a16="http://schemas.microsoft.com/office/drawing/2014/main" id="{5A278AD8-7EB3-40A9-9624-80656E7451CA}"/>
              </a:ext>
            </a:extLst>
          </p:cNvPr>
          <p:cNvCxnSpPr/>
          <p:nvPr/>
        </p:nvCxnSpPr>
        <p:spPr>
          <a:xfrm flipH="1">
            <a:off x="3506680" y="3194481"/>
            <a:ext cx="1411550" cy="8433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BC347D86-3221-425C-87A1-9719C5AFD1B9}"/>
              </a:ext>
            </a:extLst>
          </p:cNvPr>
          <p:cNvCxnSpPr>
            <a:cxnSpLocks/>
          </p:cNvCxnSpPr>
          <p:nvPr/>
        </p:nvCxnSpPr>
        <p:spPr>
          <a:xfrm>
            <a:off x="5899214" y="3195961"/>
            <a:ext cx="1143739" cy="84189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2209F2CC-9B73-4FB6-A09A-734114281807}"/>
              </a:ext>
            </a:extLst>
          </p:cNvPr>
          <p:cNvSpPr txBox="1"/>
          <p:nvPr/>
        </p:nvSpPr>
        <p:spPr>
          <a:xfrm>
            <a:off x="6960093" y="5331334"/>
            <a:ext cx="2760956" cy="646331"/>
          </a:xfrm>
          <a:prstGeom prst="rect">
            <a:avLst/>
          </a:prstGeom>
          <a:noFill/>
        </p:spPr>
        <p:txBody>
          <a:bodyPr wrap="square" rtlCol="0">
            <a:spAutoFit/>
          </a:bodyPr>
          <a:lstStyle/>
          <a:p>
            <a:r>
              <a:rPr lang="en-US" b="1" dirty="0"/>
              <a:t>Leave-P-Out Cross-Validation</a:t>
            </a:r>
            <a:endParaRPr lang="en-IN" dirty="0"/>
          </a:p>
        </p:txBody>
      </p:sp>
      <p:sp>
        <p:nvSpPr>
          <p:cNvPr id="12" name="TextBox 11">
            <a:extLst>
              <a:ext uri="{FF2B5EF4-FFF2-40B4-BE49-F238E27FC236}">
                <a16:creationId xmlns:a16="http://schemas.microsoft.com/office/drawing/2014/main" id="{A778248B-46CF-40E8-9D85-EC04522E7571}"/>
              </a:ext>
            </a:extLst>
          </p:cNvPr>
          <p:cNvSpPr txBox="1"/>
          <p:nvPr/>
        </p:nvSpPr>
        <p:spPr>
          <a:xfrm>
            <a:off x="2157274" y="5331334"/>
            <a:ext cx="2760956" cy="923330"/>
          </a:xfrm>
          <a:prstGeom prst="rect">
            <a:avLst/>
          </a:prstGeom>
          <a:noFill/>
        </p:spPr>
        <p:txBody>
          <a:bodyPr wrap="square" rtlCol="0">
            <a:spAutoFit/>
          </a:bodyPr>
          <a:lstStyle/>
          <a:p>
            <a:pPr marL="285750" indent="-285750">
              <a:buFont typeface="Arial" panose="020B0604020202020204" pitchFamily="34" charset="0"/>
              <a:buChar char="•"/>
            </a:pPr>
            <a:r>
              <a:rPr lang="en-US" b="1" dirty="0"/>
              <a:t>K fold Cross-Validation</a:t>
            </a:r>
          </a:p>
          <a:p>
            <a:pPr marL="285750" indent="-285750">
              <a:buFont typeface="Arial" panose="020B0604020202020204" pitchFamily="34" charset="0"/>
              <a:buChar char="•"/>
            </a:pPr>
            <a:r>
              <a:rPr lang="en-US" b="1" dirty="0"/>
              <a:t>Stratified K Fold Cross Validation</a:t>
            </a:r>
            <a:endParaRPr lang="en-IN" b="1" dirty="0"/>
          </a:p>
        </p:txBody>
      </p:sp>
    </p:spTree>
    <p:extLst>
      <p:ext uri="{BB962C8B-B14F-4D97-AF65-F5344CB8AC3E}">
        <p14:creationId xmlns:p14="http://schemas.microsoft.com/office/powerpoint/2010/main" val="4315275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C9E6FF-B567-411D-83E5-12939DB334F9}"/>
              </a:ext>
            </a:extLst>
          </p:cNvPr>
          <p:cNvSpPr>
            <a:spLocks noGrp="1"/>
          </p:cNvSpPr>
          <p:nvPr>
            <p:ph type="title"/>
          </p:nvPr>
        </p:nvSpPr>
        <p:spPr/>
        <p:txBody>
          <a:bodyPr/>
          <a:lstStyle/>
          <a:p>
            <a:pPr algn="ctr"/>
            <a:r>
              <a:rPr lang="en-IN" sz="3600" b="1" spc="-5" dirty="0">
                <a:solidFill>
                  <a:srgbClr val="3333FF"/>
                </a:solidFill>
                <a:latin typeface="Carlito"/>
              </a:rPr>
              <a:t>Non-exhaustive Methods</a:t>
            </a:r>
            <a:br>
              <a:rPr lang="en-IN" b="0" i="0" dirty="0">
                <a:solidFill>
                  <a:srgbClr val="111111"/>
                </a:solidFill>
                <a:effectLst/>
                <a:latin typeface="Lato"/>
              </a:rPr>
            </a:br>
            <a:endParaRPr lang="en-IN" dirty="0"/>
          </a:p>
        </p:txBody>
      </p:sp>
      <p:sp>
        <p:nvSpPr>
          <p:cNvPr id="3" name="Content Placeholder 2">
            <a:extLst>
              <a:ext uri="{FF2B5EF4-FFF2-40B4-BE49-F238E27FC236}">
                <a16:creationId xmlns:a16="http://schemas.microsoft.com/office/drawing/2014/main" id="{E3DF5AF4-4BF6-4B28-BCF1-372ED86CAE15}"/>
              </a:ext>
            </a:extLst>
          </p:cNvPr>
          <p:cNvSpPr>
            <a:spLocks noGrp="1"/>
          </p:cNvSpPr>
          <p:nvPr>
            <p:ph idx="1"/>
          </p:nvPr>
        </p:nvSpPr>
        <p:spPr/>
        <p:txBody>
          <a:bodyPr/>
          <a:lstStyle/>
          <a:p>
            <a:r>
              <a:rPr lang="en-US" dirty="0"/>
              <a:t>Non-exhaustive cross validation methods, as the name suggests do not compute all ways of splitting the original data. Let us go through the methods to get a clearer understanding. </a:t>
            </a:r>
            <a:r>
              <a:rPr lang="en-US" dirty="0" err="1"/>
              <a:t>Eg.</a:t>
            </a:r>
            <a:r>
              <a:rPr lang="en-US" dirty="0"/>
              <a:t> of Non exhaustive methods</a:t>
            </a:r>
          </a:p>
          <a:p>
            <a:pPr marL="514350" indent="-514350">
              <a:buFont typeface="+mj-lt"/>
              <a:buAutoNum type="arabicPeriod"/>
            </a:pPr>
            <a:r>
              <a:rPr lang="en-US" dirty="0"/>
              <a:t>K-fold Cross-Validation</a:t>
            </a:r>
          </a:p>
          <a:p>
            <a:pPr marL="514350" indent="-514350">
              <a:buFont typeface="+mj-lt"/>
              <a:buAutoNum type="arabicPeriod"/>
            </a:pPr>
            <a:r>
              <a:rPr lang="en-US" dirty="0"/>
              <a:t>Stratified K Fold Cross Validation</a:t>
            </a:r>
          </a:p>
          <a:p>
            <a:endParaRPr lang="en-IN" b="0" i="0" dirty="0">
              <a:solidFill>
                <a:srgbClr val="111111"/>
              </a:solidFill>
              <a:effectLst/>
              <a:latin typeface="Lato"/>
            </a:endParaRPr>
          </a:p>
          <a:p>
            <a:endParaRPr lang="en-IN" b="0" i="0" dirty="0">
              <a:solidFill>
                <a:srgbClr val="111111"/>
              </a:solidFill>
              <a:effectLst/>
              <a:latin typeface="Lato"/>
            </a:endParaRPr>
          </a:p>
          <a:p>
            <a:endParaRPr lang="en-IN" dirty="0"/>
          </a:p>
          <a:p>
            <a:endParaRPr lang="en-IN" dirty="0"/>
          </a:p>
        </p:txBody>
      </p:sp>
    </p:spTree>
    <p:extLst>
      <p:ext uri="{BB962C8B-B14F-4D97-AF65-F5344CB8AC3E}">
        <p14:creationId xmlns:p14="http://schemas.microsoft.com/office/powerpoint/2010/main" val="1478291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A001EA-4783-49E6-8108-69EF044D9DDA}"/>
              </a:ext>
            </a:extLst>
          </p:cNvPr>
          <p:cNvSpPr>
            <a:spLocks noGrp="1"/>
          </p:cNvSpPr>
          <p:nvPr>
            <p:ph type="title"/>
          </p:nvPr>
        </p:nvSpPr>
        <p:spPr/>
        <p:txBody>
          <a:bodyPr>
            <a:normAutofit/>
          </a:bodyPr>
          <a:lstStyle/>
          <a:p>
            <a:r>
              <a:rPr lang="en-IN" sz="3600" b="1" spc="-5" dirty="0">
                <a:solidFill>
                  <a:srgbClr val="3333FF"/>
                </a:solidFill>
                <a:latin typeface="Carlito"/>
              </a:rPr>
              <a:t>K-Fold Cross-Validation</a:t>
            </a:r>
          </a:p>
        </p:txBody>
      </p:sp>
      <p:sp>
        <p:nvSpPr>
          <p:cNvPr id="3" name="Content Placeholder 2">
            <a:extLst>
              <a:ext uri="{FF2B5EF4-FFF2-40B4-BE49-F238E27FC236}">
                <a16:creationId xmlns:a16="http://schemas.microsoft.com/office/drawing/2014/main" id="{82972C4D-4E2F-4537-9EDB-740165513C83}"/>
              </a:ext>
            </a:extLst>
          </p:cNvPr>
          <p:cNvSpPr>
            <a:spLocks noGrp="1"/>
          </p:cNvSpPr>
          <p:nvPr>
            <p:ph idx="1"/>
          </p:nvPr>
        </p:nvSpPr>
        <p:spPr/>
        <p:txBody>
          <a:bodyPr/>
          <a:lstStyle/>
          <a:p>
            <a:pPr algn="just"/>
            <a:r>
              <a:rPr lang="en-US" dirty="0"/>
              <a:t>In Machine Learning, there is never enough data to train the model. Even then, if we remove some part of the data, it poses a threat of</a:t>
            </a:r>
            <a:r>
              <a:rPr lang="en-US" dirty="0">
                <a:hlinkClick r:id="rId2">
                  <a:extLst>
                    <a:ext uri="{A12FA001-AC4F-418D-AE19-62706E023703}">
                      <ahyp:hlinkClr xmlns:ahyp="http://schemas.microsoft.com/office/drawing/2018/hyperlinkcolor" val="tx"/>
                    </a:ext>
                  </a:extLst>
                </a:hlinkClick>
              </a:rPr>
              <a:t> overfitting</a:t>
            </a:r>
            <a:r>
              <a:rPr lang="en-US" dirty="0"/>
              <a:t> the Machine Learning model. It is also possible that it may not recognize a dominant pattern if enough data is not provided for the training phase.</a:t>
            </a:r>
          </a:p>
          <a:p>
            <a:pPr algn="just"/>
            <a:r>
              <a:rPr lang="en-US" dirty="0"/>
              <a:t>By reducing the data, we also face the risk of reduced accuracy due to the error induced by bias. To overcome this problem, we need a method that would provide ample data for training and some data for testing. K-fold Cross-validation does exactly that.</a:t>
            </a:r>
          </a:p>
          <a:p>
            <a:endParaRPr lang="en-IN" dirty="0"/>
          </a:p>
        </p:txBody>
      </p:sp>
    </p:spTree>
    <p:extLst>
      <p:ext uri="{BB962C8B-B14F-4D97-AF65-F5344CB8AC3E}">
        <p14:creationId xmlns:p14="http://schemas.microsoft.com/office/powerpoint/2010/main" val="15794306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D57C07-AD9B-2D37-DAE9-8A729229F554}"/>
              </a:ext>
            </a:extLst>
          </p:cNvPr>
          <p:cNvSpPr>
            <a:spLocks noGrp="1"/>
          </p:cNvSpPr>
          <p:nvPr>
            <p:ph type="title"/>
          </p:nvPr>
        </p:nvSpPr>
        <p:spPr/>
        <p:txBody>
          <a:bodyPr/>
          <a:lstStyle/>
          <a:p>
            <a:r>
              <a:rPr lang="en-IN" sz="4400" b="1" spc="-5" dirty="0">
                <a:solidFill>
                  <a:srgbClr val="3333FF"/>
                </a:solidFill>
                <a:latin typeface="Carlito"/>
              </a:rPr>
              <a:t>K-Fold Cross-Validation</a:t>
            </a:r>
            <a:endParaRPr lang="en-US" dirty="0"/>
          </a:p>
        </p:txBody>
      </p:sp>
      <p:sp>
        <p:nvSpPr>
          <p:cNvPr id="3" name="Content Placeholder 2">
            <a:extLst>
              <a:ext uri="{FF2B5EF4-FFF2-40B4-BE49-F238E27FC236}">
                <a16:creationId xmlns:a16="http://schemas.microsoft.com/office/drawing/2014/main" id="{BFAAA6A6-F75E-AE98-21B5-EF925F7A7E23}"/>
              </a:ext>
            </a:extLst>
          </p:cNvPr>
          <p:cNvSpPr>
            <a:spLocks noGrp="1"/>
          </p:cNvSpPr>
          <p:nvPr>
            <p:ph idx="1"/>
          </p:nvPr>
        </p:nvSpPr>
        <p:spPr/>
        <p:txBody>
          <a:bodyPr/>
          <a:lstStyle/>
          <a:p>
            <a:pPr algn="just"/>
            <a:r>
              <a:rPr lang="en-US" dirty="0"/>
              <a:t>K-fold cross-validation is a popular method for assessing the performance of machine learning models. It involves splitting the data into </a:t>
            </a:r>
            <a:r>
              <a:rPr lang="en-US" dirty="0" err="1"/>
              <a:t>kkk</a:t>
            </a:r>
            <a:r>
              <a:rPr lang="en-US" dirty="0"/>
              <a:t> subsets (or "folds"), training the model on k−1k-1k−1 folds, and testing it on the remaining fold. This process is repeated </a:t>
            </a:r>
            <a:r>
              <a:rPr lang="en-US" dirty="0" err="1"/>
              <a:t>kkk</a:t>
            </a:r>
            <a:r>
              <a:rPr lang="en-US" dirty="0"/>
              <a:t> times, with each fold used once as the test set. While k-fold cross-validation has many advantages, such as reducing overfitting and providing a more robust estimate of model performance, it also has some disadvantages:</a:t>
            </a:r>
          </a:p>
        </p:txBody>
      </p:sp>
    </p:spTree>
    <p:extLst>
      <p:ext uri="{BB962C8B-B14F-4D97-AF65-F5344CB8AC3E}">
        <p14:creationId xmlns:p14="http://schemas.microsoft.com/office/powerpoint/2010/main" val="39846810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E20DE6-9F6A-48EC-BBE9-EC479CDD3881}"/>
              </a:ext>
            </a:extLst>
          </p:cNvPr>
          <p:cNvSpPr>
            <a:spLocks noGrp="1"/>
          </p:cNvSpPr>
          <p:nvPr>
            <p:ph type="title"/>
          </p:nvPr>
        </p:nvSpPr>
        <p:spPr/>
        <p:txBody>
          <a:bodyPr/>
          <a:lstStyle/>
          <a:p>
            <a:pPr algn="ctr"/>
            <a:r>
              <a:rPr lang="en-US" sz="3600" b="1" spc="-5" dirty="0">
                <a:solidFill>
                  <a:srgbClr val="3333FF"/>
                </a:solidFill>
                <a:latin typeface="Carlito"/>
              </a:rPr>
              <a:t>K Fold Cross Validation</a:t>
            </a:r>
            <a:endParaRPr lang="en-IN" sz="3600" b="1" spc="-5" dirty="0">
              <a:solidFill>
                <a:srgbClr val="3333FF"/>
              </a:solidFill>
              <a:latin typeface="Carlito"/>
            </a:endParaRPr>
          </a:p>
        </p:txBody>
      </p:sp>
      <p:pic>
        <p:nvPicPr>
          <p:cNvPr id="5" name="Content Placeholder 4">
            <a:extLst>
              <a:ext uri="{FF2B5EF4-FFF2-40B4-BE49-F238E27FC236}">
                <a16:creationId xmlns:a16="http://schemas.microsoft.com/office/drawing/2014/main" id="{6DE5E2B9-C247-4825-B442-3A30DC75ED34}"/>
              </a:ext>
            </a:extLst>
          </p:cNvPr>
          <p:cNvPicPr>
            <a:picLocks noGrp="1" noChangeAspect="1"/>
          </p:cNvPicPr>
          <p:nvPr>
            <p:ph idx="1"/>
          </p:nvPr>
        </p:nvPicPr>
        <p:blipFill>
          <a:blip r:embed="rId2">
            <a:extLst>
              <a:ext uri="{BEBA8EAE-BF5A-486C-A8C5-ECC9F3942E4B}">
                <a14:imgProps xmlns:a14="http://schemas.microsoft.com/office/drawing/2010/main">
                  <a14:imgLayer r:embed="rId3">
                    <a14:imgEffect>
                      <a14:sharpenSoften amount="87000"/>
                    </a14:imgEffect>
                  </a14:imgLayer>
                </a14:imgProps>
              </a:ext>
            </a:extLst>
          </a:blip>
          <a:stretch>
            <a:fillRect/>
          </a:stretch>
        </p:blipFill>
        <p:spPr>
          <a:xfrm>
            <a:off x="3554955" y="2178135"/>
            <a:ext cx="7905516" cy="3175100"/>
          </a:xfrm>
        </p:spPr>
      </p:pic>
      <p:sp>
        <p:nvSpPr>
          <p:cNvPr id="4" name="TextBox 3">
            <a:extLst>
              <a:ext uri="{FF2B5EF4-FFF2-40B4-BE49-F238E27FC236}">
                <a16:creationId xmlns:a16="http://schemas.microsoft.com/office/drawing/2014/main" id="{C865C17E-60A1-4AE4-90E2-4C2F160BC95D}"/>
              </a:ext>
            </a:extLst>
          </p:cNvPr>
          <p:cNvSpPr txBox="1"/>
          <p:nvPr/>
        </p:nvSpPr>
        <p:spPr>
          <a:xfrm>
            <a:off x="284085" y="5725272"/>
            <a:ext cx="1865296" cy="369332"/>
          </a:xfrm>
          <a:prstGeom prst="rect">
            <a:avLst/>
          </a:prstGeom>
          <a:noFill/>
        </p:spPr>
        <p:txBody>
          <a:bodyPr wrap="square" rtlCol="0">
            <a:spAutoFit/>
          </a:bodyPr>
          <a:lstStyle/>
          <a:p>
            <a:r>
              <a:rPr lang="en-US" dirty="0"/>
              <a:t>  Training Data Set</a:t>
            </a:r>
            <a:endParaRPr lang="en-IN" dirty="0"/>
          </a:p>
        </p:txBody>
      </p:sp>
      <p:sp>
        <p:nvSpPr>
          <p:cNvPr id="6" name="Arrow: Striped Right 5">
            <a:extLst>
              <a:ext uri="{FF2B5EF4-FFF2-40B4-BE49-F238E27FC236}">
                <a16:creationId xmlns:a16="http://schemas.microsoft.com/office/drawing/2014/main" id="{6CCA1DCE-E9D0-4F55-9139-B3376C3B3120}"/>
              </a:ext>
            </a:extLst>
          </p:cNvPr>
          <p:cNvSpPr/>
          <p:nvPr/>
        </p:nvSpPr>
        <p:spPr>
          <a:xfrm>
            <a:off x="2475917" y="3533313"/>
            <a:ext cx="967666" cy="417250"/>
          </a:xfrm>
          <a:prstGeom prst="strip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6">
            <a:extLst>
              <a:ext uri="{FF2B5EF4-FFF2-40B4-BE49-F238E27FC236}">
                <a16:creationId xmlns:a16="http://schemas.microsoft.com/office/drawing/2014/main" id="{FE710516-CBF8-4A5D-B529-681C45964294}"/>
              </a:ext>
            </a:extLst>
          </p:cNvPr>
          <p:cNvSpPr/>
          <p:nvPr/>
        </p:nvSpPr>
        <p:spPr>
          <a:xfrm>
            <a:off x="532660" y="1624614"/>
            <a:ext cx="1500326" cy="396831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AB19DF32-8850-4DDF-A491-44C088D2334F}"/>
              </a:ext>
            </a:extLst>
          </p:cNvPr>
          <p:cNvSpPr txBox="1"/>
          <p:nvPr/>
        </p:nvSpPr>
        <p:spPr>
          <a:xfrm>
            <a:off x="4196862" y="5592932"/>
            <a:ext cx="2141415" cy="646331"/>
          </a:xfrm>
          <a:prstGeom prst="rect">
            <a:avLst/>
          </a:prstGeom>
          <a:noFill/>
        </p:spPr>
        <p:txBody>
          <a:bodyPr wrap="square" rtlCol="0">
            <a:spAutoFit/>
          </a:bodyPr>
          <a:lstStyle/>
          <a:p>
            <a:r>
              <a:rPr lang="en-US" dirty="0"/>
              <a:t>K=10, k rounds of learning</a:t>
            </a:r>
            <a:endParaRPr lang="en-IN" dirty="0"/>
          </a:p>
        </p:txBody>
      </p:sp>
    </p:spTree>
    <p:extLst>
      <p:ext uri="{BB962C8B-B14F-4D97-AF65-F5344CB8AC3E}">
        <p14:creationId xmlns:p14="http://schemas.microsoft.com/office/powerpoint/2010/main" val="327359451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4FAED6-F953-A98F-BB61-F73A1A44784C}"/>
              </a:ext>
            </a:extLst>
          </p:cNvPr>
          <p:cNvSpPr>
            <a:spLocks noGrp="1"/>
          </p:cNvSpPr>
          <p:nvPr>
            <p:ph type="title"/>
          </p:nvPr>
        </p:nvSpPr>
        <p:spPr/>
        <p:txBody>
          <a:bodyPr/>
          <a:lstStyle/>
          <a:p>
            <a:endParaRPr lang="en-US"/>
          </a:p>
        </p:txBody>
      </p:sp>
      <p:pic>
        <p:nvPicPr>
          <p:cNvPr id="1026" name="Picture 2" descr="Image">
            <a:extLst>
              <a:ext uri="{FF2B5EF4-FFF2-40B4-BE49-F238E27FC236}">
                <a16:creationId xmlns:a16="http://schemas.microsoft.com/office/drawing/2014/main" id="{71201114-8F0E-CFDE-5D7E-FFCC94211594}"/>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44677" y="695166"/>
            <a:ext cx="8416029" cy="57977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8847364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CEA7BF-1E6E-48D4-BD4F-1E1982C8BB47}"/>
              </a:ext>
            </a:extLst>
          </p:cNvPr>
          <p:cNvSpPr>
            <a:spLocks noGrp="1"/>
          </p:cNvSpPr>
          <p:nvPr>
            <p:ph type="title"/>
          </p:nvPr>
        </p:nvSpPr>
        <p:spPr/>
        <p:txBody>
          <a:bodyPr/>
          <a:lstStyle/>
          <a:p>
            <a:pPr algn="ctr"/>
            <a:r>
              <a:rPr lang="en-US" sz="3600" b="1" spc="-5" dirty="0">
                <a:solidFill>
                  <a:srgbClr val="3333FF"/>
                </a:solidFill>
                <a:latin typeface="Carlito"/>
              </a:rPr>
              <a:t>Steps for K Fold Validation</a:t>
            </a:r>
            <a:endParaRPr lang="en-IN" sz="3600" b="1" spc="-5" dirty="0">
              <a:solidFill>
                <a:srgbClr val="3333FF"/>
              </a:solidFill>
              <a:latin typeface="Carlito"/>
            </a:endParaRPr>
          </a:p>
        </p:txBody>
      </p:sp>
      <p:sp>
        <p:nvSpPr>
          <p:cNvPr id="3" name="Content Placeholder 2">
            <a:extLst>
              <a:ext uri="{FF2B5EF4-FFF2-40B4-BE49-F238E27FC236}">
                <a16:creationId xmlns:a16="http://schemas.microsoft.com/office/drawing/2014/main" id="{1047E6A8-FF7F-4E01-9F9C-88D8D80B444D}"/>
              </a:ext>
            </a:extLst>
          </p:cNvPr>
          <p:cNvSpPr>
            <a:spLocks noGrp="1"/>
          </p:cNvSpPr>
          <p:nvPr>
            <p:ph idx="1"/>
          </p:nvPr>
        </p:nvSpPr>
        <p:spPr/>
        <p:txBody>
          <a:bodyPr>
            <a:normAutofit/>
          </a:bodyPr>
          <a:lstStyle/>
          <a:p>
            <a:pPr algn="just">
              <a:buFont typeface="+mj-lt"/>
              <a:buAutoNum type="arabicPeriod"/>
            </a:pPr>
            <a:r>
              <a:rPr lang="en-US" b="0" i="0" dirty="0">
                <a:solidFill>
                  <a:srgbClr val="000000"/>
                </a:solidFill>
                <a:effectLst/>
                <a:latin typeface="Lato"/>
              </a:rPr>
              <a:t>Randomly split your entire dataset into k number of folds (subsets)</a:t>
            </a:r>
          </a:p>
          <a:p>
            <a:pPr algn="just">
              <a:buFont typeface="+mj-lt"/>
              <a:buAutoNum type="arabicPeriod"/>
            </a:pPr>
            <a:r>
              <a:rPr lang="en-US" b="0" i="0" dirty="0">
                <a:solidFill>
                  <a:srgbClr val="000000"/>
                </a:solidFill>
                <a:effectLst/>
                <a:latin typeface="Lato"/>
              </a:rPr>
              <a:t>For </a:t>
            </a:r>
            <a:r>
              <a:rPr lang="en-US" dirty="0">
                <a:solidFill>
                  <a:srgbClr val="000000"/>
                </a:solidFill>
                <a:latin typeface="Lato"/>
              </a:rPr>
              <a:t>e</a:t>
            </a:r>
            <a:r>
              <a:rPr lang="en-US" b="0" i="0" dirty="0">
                <a:solidFill>
                  <a:srgbClr val="000000"/>
                </a:solidFill>
                <a:effectLst/>
                <a:latin typeface="Lato"/>
              </a:rPr>
              <a:t>ach fold in your dataset, build your model on k – 1 folds of the dataset. Then, test the model to check the effectiveness for kth fold</a:t>
            </a:r>
          </a:p>
          <a:p>
            <a:pPr algn="just">
              <a:buFont typeface="+mj-lt"/>
              <a:buAutoNum type="arabicPeriod"/>
            </a:pPr>
            <a:r>
              <a:rPr lang="en-US" b="0" i="0" dirty="0">
                <a:solidFill>
                  <a:srgbClr val="000000"/>
                </a:solidFill>
                <a:effectLst/>
                <a:latin typeface="Lato"/>
              </a:rPr>
              <a:t>Repeat this until each of the k-folds has served as the test set</a:t>
            </a:r>
          </a:p>
          <a:p>
            <a:pPr algn="just">
              <a:buFont typeface="+mj-lt"/>
              <a:buAutoNum type="arabicPeriod"/>
            </a:pPr>
            <a:r>
              <a:rPr lang="en-US" b="0" i="0" dirty="0">
                <a:solidFill>
                  <a:srgbClr val="000000"/>
                </a:solidFill>
                <a:effectLst/>
                <a:latin typeface="Lato"/>
              </a:rPr>
              <a:t>The average of your k recorded accuracy is called the cross-validation accuracy and will serve as your performance metric for the model.</a:t>
            </a:r>
          </a:p>
          <a:p>
            <a:pPr marL="0" indent="0">
              <a:buNone/>
            </a:pPr>
            <a:endParaRPr lang="en-IN" dirty="0"/>
          </a:p>
        </p:txBody>
      </p:sp>
    </p:spTree>
    <p:extLst>
      <p:ext uri="{BB962C8B-B14F-4D97-AF65-F5344CB8AC3E}">
        <p14:creationId xmlns:p14="http://schemas.microsoft.com/office/powerpoint/2010/main" val="324176641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D1616A-E577-A32E-9AA6-9A02E9E2CC1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96CDB89-3279-65B8-FD99-F894D7763449}"/>
              </a:ext>
            </a:extLst>
          </p:cNvPr>
          <p:cNvSpPr>
            <a:spLocks noGrp="1"/>
          </p:cNvSpPr>
          <p:nvPr>
            <p:ph idx="1"/>
          </p:nvPr>
        </p:nvSpPr>
        <p:spPr/>
        <p:txBody>
          <a:bodyPr/>
          <a:lstStyle/>
          <a:p>
            <a:pPr marL="0" indent="0">
              <a:buNone/>
            </a:pPr>
            <a:r>
              <a:rPr lang="en-US" b="1" dirty="0"/>
              <a:t>Advantages of K </a:t>
            </a:r>
            <a:r>
              <a:rPr lang="en-US" b="1"/>
              <a:t>fold  validation</a:t>
            </a:r>
            <a:r>
              <a:rPr lang="en-US"/>
              <a:t>:</a:t>
            </a:r>
            <a:endParaRPr lang="en-US" dirty="0"/>
          </a:p>
          <a:p>
            <a:pPr>
              <a:buFont typeface="Arial" panose="020B0604020202020204" pitchFamily="34" charset="0"/>
              <a:buChar char="•"/>
            </a:pPr>
            <a:r>
              <a:rPr lang="en-US" dirty="0"/>
              <a:t>Reduces variance in the performance metric by using multiple training/testing splits.</a:t>
            </a:r>
          </a:p>
          <a:p>
            <a:pPr>
              <a:buFont typeface="Arial" panose="020B0604020202020204" pitchFamily="34" charset="0"/>
              <a:buChar char="•"/>
            </a:pPr>
            <a:r>
              <a:rPr lang="en-US" dirty="0"/>
              <a:t>Makes efficient use of limited data.</a:t>
            </a:r>
          </a:p>
          <a:p>
            <a:endParaRPr lang="en-US" dirty="0"/>
          </a:p>
        </p:txBody>
      </p:sp>
    </p:spTree>
    <p:extLst>
      <p:ext uri="{BB962C8B-B14F-4D97-AF65-F5344CB8AC3E}">
        <p14:creationId xmlns:p14="http://schemas.microsoft.com/office/powerpoint/2010/main" val="20963856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F1D7C3-A724-45E3-8139-588F2584EEEA}"/>
              </a:ext>
            </a:extLst>
          </p:cNvPr>
          <p:cNvSpPr>
            <a:spLocks noGrp="1"/>
          </p:cNvSpPr>
          <p:nvPr>
            <p:ph type="title"/>
          </p:nvPr>
        </p:nvSpPr>
        <p:spPr/>
        <p:txBody>
          <a:bodyPr>
            <a:normAutofit/>
          </a:bodyPr>
          <a:lstStyle/>
          <a:p>
            <a:r>
              <a:rPr lang="en-IN" sz="3600" b="1" spc="-5" dirty="0">
                <a:solidFill>
                  <a:srgbClr val="3333FF"/>
                </a:solidFill>
                <a:latin typeface="Carlito"/>
              </a:rPr>
              <a:t>Limitations Of K Cross-Validation</a:t>
            </a:r>
          </a:p>
        </p:txBody>
      </p:sp>
      <p:sp>
        <p:nvSpPr>
          <p:cNvPr id="3" name="Content Placeholder 2">
            <a:extLst>
              <a:ext uri="{FF2B5EF4-FFF2-40B4-BE49-F238E27FC236}">
                <a16:creationId xmlns:a16="http://schemas.microsoft.com/office/drawing/2014/main" id="{55DCD142-E827-44CF-81E7-14DA555DDD6C}"/>
              </a:ext>
            </a:extLst>
          </p:cNvPr>
          <p:cNvSpPr>
            <a:spLocks noGrp="1"/>
          </p:cNvSpPr>
          <p:nvPr>
            <p:ph idx="1"/>
          </p:nvPr>
        </p:nvSpPr>
        <p:spPr/>
        <p:txBody>
          <a:bodyPr>
            <a:normAutofit fontScale="92500"/>
          </a:bodyPr>
          <a:lstStyle/>
          <a:p>
            <a:pPr algn="just">
              <a:buFont typeface="+mj-lt"/>
              <a:buAutoNum type="arabicPeriod"/>
            </a:pPr>
            <a:r>
              <a:rPr lang="en-US" sz="3000" dirty="0"/>
              <a:t>In an ideal situation, Cross-Validation will produce optimum results. But in case of inconsistent data, the results may vary drastically. It is quite uncertain what kind of data will be encountered by the model.</a:t>
            </a:r>
          </a:p>
          <a:p>
            <a:pPr algn="just">
              <a:buFont typeface="+mj-lt"/>
              <a:buAutoNum type="arabicPeriod"/>
            </a:pPr>
            <a:r>
              <a:rPr lang="en-US" sz="3000" dirty="0"/>
              <a:t>Predictive modeling often requires an evolution in terms of data, this can pretty much change the training and the validation sets drastically.</a:t>
            </a:r>
          </a:p>
          <a:p>
            <a:pPr algn="just">
              <a:buFont typeface="+mj-lt"/>
              <a:buAutoNum type="arabicPeriod"/>
            </a:pPr>
            <a:r>
              <a:rPr lang="en-US" sz="3000" dirty="0"/>
              <a:t>The results may vary depending upon the features of the data set. Let us say we make a predictive model to detect an ailment in a person and we train it with a specific set of population. It may vary with the general population causing inconsistency and reduced efficiency</a:t>
            </a:r>
            <a:r>
              <a:rPr lang="en-US" sz="3000" dirty="0">
                <a:solidFill>
                  <a:srgbClr val="000000"/>
                </a:solidFill>
                <a:latin typeface="Lato"/>
              </a:rPr>
              <a:t>.</a:t>
            </a:r>
          </a:p>
          <a:p>
            <a:pPr marL="0" indent="0">
              <a:buNone/>
            </a:pPr>
            <a:endParaRPr lang="en-IN" dirty="0"/>
          </a:p>
        </p:txBody>
      </p:sp>
    </p:spTree>
    <p:extLst>
      <p:ext uri="{BB962C8B-B14F-4D97-AF65-F5344CB8AC3E}">
        <p14:creationId xmlns:p14="http://schemas.microsoft.com/office/powerpoint/2010/main" val="128338973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EECB1D-4212-5AA2-D12C-1C06633D98BD}"/>
              </a:ext>
            </a:extLst>
          </p:cNvPr>
          <p:cNvSpPr>
            <a:spLocks noGrp="1"/>
          </p:cNvSpPr>
          <p:nvPr>
            <p:ph type="title"/>
          </p:nvPr>
        </p:nvSpPr>
        <p:spPr/>
        <p:txBody>
          <a:bodyPr/>
          <a:lstStyle/>
          <a:p>
            <a:r>
              <a:rPr lang="en-IN" sz="4400" b="1" spc="-5" dirty="0">
                <a:solidFill>
                  <a:srgbClr val="3333FF"/>
                </a:solidFill>
                <a:latin typeface="Carlito"/>
              </a:rPr>
              <a:t>Limitations Of K Cross-Validation</a:t>
            </a:r>
            <a:endParaRPr lang="en-US" dirty="0"/>
          </a:p>
        </p:txBody>
      </p:sp>
      <p:sp>
        <p:nvSpPr>
          <p:cNvPr id="3" name="Content Placeholder 2">
            <a:extLst>
              <a:ext uri="{FF2B5EF4-FFF2-40B4-BE49-F238E27FC236}">
                <a16:creationId xmlns:a16="http://schemas.microsoft.com/office/drawing/2014/main" id="{AA223733-D130-AF67-3935-9FD5BE5430C7}"/>
              </a:ext>
            </a:extLst>
          </p:cNvPr>
          <p:cNvSpPr>
            <a:spLocks noGrp="1"/>
          </p:cNvSpPr>
          <p:nvPr>
            <p:ph idx="1"/>
          </p:nvPr>
        </p:nvSpPr>
        <p:spPr/>
        <p:txBody>
          <a:bodyPr/>
          <a:lstStyle/>
          <a:p>
            <a:r>
              <a:rPr lang="en-US" dirty="0"/>
              <a:t>Computationally Expensive</a:t>
            </a:r>
          </a:p>
          <a:p>
            <a:r>
              <a:rPr lang="en-US" dirty="0"/>
              <a:t>Increased Variance in Model Evaluation</a:t>
            </a:r>
          </a:p>
          <a:p>
            <a:r>
              <a:rPr lang="en-US" dirty="0"/>
              <a:t>Does Not Work Well with Time-Series Data</a:t>
            </a:r>
          </a:p>
          <a:p>
            <a:r>
              <a:rPr lang="en-US" dirty="0"/>
              <a:t>Stratification Issues in Imbalanced Datasets</a:t>
            </a:r>
          </a:p>
          <a:p>
            <a:r>
              <a:rPr lang="en-US" b="1" dirty="0"/>
              <a:t>Potential Overfitting to Validation Sets</a:t>
            </a:r>
          </a:p>
          <a:p>
            <a:r>
              <a:rPr lang="en-US" dirty="0"/>
              <a:t>Choice of k</a:t>
            </a:r>
          </a:p>
        </p:txBody>
      </p:sp>
    </p:spTree>
    <p:extLst>
      <p:ext uri="{BB962C8B-B14F-4D97-AF65-F5344CB8AC3E}">
        <p14:creationId xmlns:p14="http://schemas.microsoft.com/office/powerpoint/2010/main" val="404898185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D8C545-AEA7-4CDF-AD03-14E7773AF822}"/>
              </a:ext>
            </a:extLst>
          </p:cNvPr>
          <p:cNvSpPr>
            <a:spLocks noGrp="1"/>
          </p:cNvSpPr>
          <p:nvPr>
            <p:ph type="title"/>
          </p:nvPr>
        </p:nvSpPr>
        <p:spPr/>
        <p:txBody>
          <a:bodyPr>
            <a:normAutofit/>
          </a:bodyPr>
          <a:lstStyle/>
          <a:p>
            <a:r>
              <a:rPr lang="en-IN" sz="3600" b="1" spc="-5" dirty="0">
                <a:solidFill>
                  <a:srgbClr val="3333FF"/>
                </a:solidFill>
                <a:latin typeface="Carlito"/>
              </a:rPr>
              <a:t>Cross-Validation Applications</a:t>
            </a:r>
          </a:p>
        </p:txBody>
      </p:sp>
      <p:sp>
        <p:nvSpPr>
          <p:cNvPr id="3" name="Content Placeholder 2">
            <a:extLst>
              <a:ext uri="{FF2B5EF4-FFF2-40B4-BE49-F238E27FC236}">
                <a16:creationId xmlns:a16="http://schemas.microsoft.com/office/drawing/2014/main" id="{7B3E9400-A24A-4D9A-B255-816E113CD1CC}"/>
              </a:ext>
            </a:extLst>
          </p:cNvPr>
          <p:cNvSpPr>
            <a:spLocks noGrp="1"/>
          </p:cNvSpPr>
          <p:nvPr>
            <p:ph idx="1"/>
          </p:nvPr>
        </p:nvSpPr>
        <p:spPr/>
        <p:txBody>
          <a:bodyPr/>
          <a:lstStyle/>
          <a:p>
            <a:pPr marL="0" indent="0" algn="just">
              <a:buNone/>
            </a:pPr>
            <a:r>
              <a:rPr lang="en-US" dirty="0">
                <a:solidFill>
                  <a:srgbClr val="000000"/>
                </a:solidFill>
                <a:latin typeface="Lato"/>
              </a:rPr>
              <a:t>With the overpowering applications to prevent a Machine Learning model from </a:t>
            </a:r>
            <a:r>
              <a:rPr lang="en-US" dirty="0">
                <a:solidFill>
                  <a:srgbClr val="000000"/>
                </a:solidFill>
                <a:latin typeface="Lato"/>
                <a:hlinkClick r:id="rId2">
                  <a:extLst>
                    <a:ext uri="{A12FA001-AC4F-418D-AE19-62706E023703}">
                      <ahyp:hlinkClr xmlns:ahyp="http://schemas.microsoft.com/office/drawing/2018/hyperlinkcolor" val="tx"/>
                    </a:ext>
                  </a:extLst>
                </a:hlinkClick>
              </a:rPr>
              <a:t>Overfitting and Underfitting,</a:t>
            </a:r>
            <a:r>
              <a:rPr lang="en-US" dirty="0">
                <a:solidFill>
                  <a:srgbClr val="000000"/>
                </a:solidFill>
                <a:latin typeface="Lato"/>
              </a:rPr>
              <a:t> there are several other applications of Cross-Validation listed below:</a:t>
            </a:r>
          </a:p>
          <a:p>
            <a:pPr algn="just">
              <a:buFont typeface="+mj-lt"/>
              <a:buAutoNum type="arabicPeriod"/>
            </a:pPr>
            <a:r>
              <a:rPr lang="en-US" dirty="0">
                <a:solidFill>
                  <a:srgbClr val="000000"/>
                </a:solidFill>
                <a:latin typeface="Lato"/>
              </a:rPr>
              <a:t>We can use it to compare the performances of a set of predictive modeling procedures.</a:t>
            </a:r>
          </a:p>
          <a:p>
            <a:pPr algn="just">
              <a:buFont typeface="+mj-lt"/>
              <a:buAutoNum type="arabicPeriod"/>
            </a:pPr>
            <a:r>
              <a:rPr lang="en-US" dirty="0">
                <a:solidFill>
                  <a:srgbClr val="000000"/>
                </a:solidFill>
                <a:latin typeface="Lato"/>
              </a:rPr>
              <a:t>Cross-Validation excels in the field of medical research.</a:t>
            </a:r>
          </a:p>
          <a:p>
            <a:pPr algn="just">
              <a:buFont typeface="+mj-lt"/>
              <a:buAutoNum type="arabicPeriod"/>
            </a:pPr>
            <a:r>
              <a:rPr lang="en-US" dirty="0">
                <a:solidFill>
                  <a:srgbClr val="000000"/>
                </a:solidFill>
                <a:latin typeface="Lato"/>
              </a:rPr>
              <a:t>It can be used in the meta-analysis since a lot of data analysts are already using cross-validation.</a:t>
            </a:r>
          </a:p>
          <a:p>
            <a:pPr algn="just"/>
            <a:endParaRPr lang="en-US" b="0" i="0" dirty="0">
              <a:solidFill>
                <a:srgbClr val="4A4A4A"/>
              </a:solidFill>
              <a:effectLst/>
              <a:latin typeface="Open Sans"/>
            </a:endParaRPr>
          </a:p>
          <a:p>
            <a:pPr marL="0" indent="0">
              <a:buNone/>
            </a:pPr>
            <a:endParaRPr lang="en-IN" dirty="0"/>
          </a:p>
        </p:txBody>
      </p:sp>
    </p:spTree>
    <p:extLst>
      <p:ext uri="{BB962C8B-B14F-4D97-AF65-F5344CB8AC3E}">
        <p14:creationId xmlns:p14="http://schemas.microsoft.com/office/powerpoint/2010/main" val="105558602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1D9930-79F9-4776-AF2E-74FB007AE416}"/>
              </a:ext>
            </a:extLst>
          </p:cNvPr>
          <p:cNvSpPr>
            <a:spLocks noGrp="1"/>
          </p:cNvSpPr>
          <p:nvPr>
            <p:ph type="title"/>
          </p:nvPr>
        </p:nvSpPr>
        <p:spPr/>
        <p:txBody>
          <a:bodyPr/>
          <a:lstStyle/>
          <a:p>
            <a:pPr algn="ctr"/>
            <a:r>
              <a:rPr lang="en-US" sz="3600" b="1" spc="-5" dirty="0">
                <a:solidFill>
                  <a:srgbClr val="3333FF"/>
                </a:solidFill>
                <a:latin typeface="Carlito"/>
              </a:rPr>
              <a:t>Stratified K Fold Cross Validation</a:t>
            </a:r>
            <a:br>
              <a:rPr lang="en-US" sz="3600" b="1" spc="-5" dirty="0">
                <a:solidFill>
                  <a:srgbClr val="3333FF"/>
                </a:solidFill>
                <a:latin typeface="Carlito"/>
              </a:rPr>
            </a:br>
            <a:endParaRPr lang="en-IN" sz="3600" b="1" spc="-5" dirty="0">
              <a:solidFill>
                <a:srgbClr val="3333FF"/>
              </a:solidFill>
              <a:latin typeface="Carlito"/>
            </a:endParaRPr>
          </a:p>
        </p:txBody>
      </p:sp>
      <p:sp>
        <p:nvSpPr>
          <p:cNvPr id="3" name="Content Placeholder 2">
            <a:extLst>
              <a:ext uri="{FF2B5EF4-FFF2-40B4-BE49-F238E27FC236}">
                <a16:creationId xmlns:a16="http://schemas.microsoft.com/office/drawing/2014/main" id="{2D2BEB48-7AE4-4E74-840D-D1C6F60EF39B}"/>
              </a:ext>
            </a:extLst>
          </p:cNvPr>
          <p:cNvSpPr>
            <a:spLocks noGrp="1"/>
          </p:cNvSpPr>
          <p:nvPr>
            <p:ph idx="1"/>
          </p:nvPr>
        </p:nvSpPr>
        <p:spPr/>
        <p:txBody>
          <a:bodyPr>
            <a:normAutofit lnSpcReduction="10000"/>
          </a:bodyPr>
          <a:lstStyle/>
          <a:p>
            <a:pPr algn="l"/>
            <a:r>
              <a:rPr lang="en-US" b="0" i="0" dirty="0">
                <a:solidFill>
                  <a:srgbClr val="000000"/>
                </a:solidFill>
                <a:effectLst/>
              </a:rPr>
              <a:t>Using K Fold on a classification problem can be tricky. Since we are randomly shuffling the data and then dividing it into folds, chances are we may get highly imbalanced folds which may cause our training to be biased. For example, let us somehow get a fold that has majority belonging to one class(say positive) and only a few as negative class. This will certainly ruin our training and to avoid this we make stratified folds using stratification.</a:t>
            </a:r>
          </a:p>
          <a:p>
            <a:pPr algn="l"/>
            <a:r>
              <a:rPr lang="en-US" b="0" i="0" dirty="0">
                <a:solidFill>
                  <a:srgbClr val="000000"/>
                </a:solidFill>
                <a:effectLst/>
              </a:rPr>
              <a:t>Stratification is the process of rearranging the data so as to ensure that each fold is a good representative of the whole. For example, in a binary classification problem where each class comprises of 50% of the data, it is best to arrange the data such that </a:t>
            </a:r>
            <a:r>
              <a:rPr lang="en-US" b="0" i="0" dirty="0">
                <a:solidFill>
                  <a:srgbClr val="FF0000"/>
                </a:solidFill>
                <a:effectLst/>
              </a:rPr>
              <a:t>in every fold, each class comprises of about half the instances.</a:t>
            </a:r>
          </a:p>
          <a:p>
            <a:pPr marL="0" indent="0">
              <a:buNone/>
            </a:pPr>
            <a:endParaRPr lang="en-IN" dirty="0"/>
          </a:p>
        </p:txBody>
      </p:sp>
    </p:spTree>
    <p:extLst>
      <p:ext uri="{BB962C8B-B14F-4D97-AF65-F5344CB8AC3E}">
        <p14:creationId xmlns:p14="http://schemas.microsoft.com/office/powerpoint/2010/main" val="43965290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9EC63E-B960-5B67-97F3-FA113C532396}"/>
              </a:ext>
            </a:extLst>
          </p:cNvPr>
          <p:cNvSpPr>
            <a:spLocks noGrp="1"/>
          </p:cNvSpPr>
          <p:nvPr>
            <p:ph type="title"/>
          </p:nvPr>
        </p:nvSpPr>
        <p:spPr/>
        <p:txBody>
          <a:bodyPr/>
          <a:lstStyle/>
          <a:p>
            <a:r>
              <a:rPr lang="en-US" sz="4400" b="1" spc="-5" dirty="0">
                <a:solidFill>
                  <a:srgbClr val="3333FF"/>
                </a:solidFill>
                <a:latin typeface="Carlito"/>
              </a:rPr>
              <a:t>Stratified K Fold Cross Validation</a:t>
            </a:r>
            <a:br>
              <a:rPr lang="en-US" sz="4400" b="1" spc="-5" dirty="0">
                <a:solidFill>
                  <a:srgbClr val="3333FF"/>
                </a:solidFill>
                <a:latin typeface="Carlito"/>
              </a:rPr>
            </a:br>
            <a:endParaRPr lang="en-US" dirty="0"/>
          </a:p>
        </p:txBody>
      </p:sp>
      <p:sp>
        <p:nvSpPr>
          <p:cNvPr id="3" name="Content Placeholder 2">
            <a:extLst>
              <a:ext uri="{FF2B5EF4-FFF2-40B4-BE49-F238E27FC236}">
                <a16:creationId xmlns:a16="http://schemas.microsoft.com/office/drawing/2014/main" id="{77364386-FCB9-F128-8CE7-DE077FE8B96E}"/>
              </a:ext>
            </a:extLst>
          </p:cNvPr>
          <p:cNvSpPr>
            <a:spLocks noGrp="1"/>
          </p:cNvSpPr>
          <p:nvPr>
            <p:ph idx="1"/>
          </p:nvPr>
        </p:nvSpPr>
        <p:spPr/>
        <p:txBody>
          <a:bodyPr/>
          <a:lstStyle/>
          <a:p>
            <a:r>
              <a:rPr lang="en-US" dirty="0"/>
              <a:t>Process: Similar to k-fold cross-validation, but it ensures that each fold has the same proportion of classes as the original dataset. This is especially useful when dealing with imbalanced </a:t>
            </a:r>
            <a:r>
              <a:rPr lang="en-US" dirty="0" err="1"/>
              <a:t>datasets.Example</a:t>
            </a:r>
            <a:r>
              <a:rPr lang="en-US" dirty="0"/>
              <a:t>: In a binary classification problem with 90% of one class and 10% of another, stratified k-fold will ensure that each fold has the same 90:10 class distribution.</a:t>
            </a:r>
          </a:p>
        </p:txBody>
      </p:sp>
    </p:spTree>
    <p:extLst>
      <p:ext uri="{BB962C8B-B14F-4D97-AF65-F5344CB8AC3E}">
        <p14:creationId xmlns:p14="http://schemas.microsoft.com/office/powerpoint/2010/main" val="209982665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FF88CC-EF54-4983-AEDC-83E8E8B4186F}"/>
              </a:ext>
            </a:extLst>
          </p:cNvPr>
          <p:cNvSpPr>
            <a:spLocks noGrp="1"/>
          </p:cNvSpPr>
          <p:nvPr>
            <p:ph type="title"/>
          </p:nvPr>
        </p:nvSpPr>
        <p:spPr/>
        <p:txBody>
          <a:bodyPr/>
          <a:lstStyle/>
          <a:p>
            <a:endParaRPr lang="en-IN"/>
          </a:p>
        </p:txBody>
      </p:sp>
      <p:pic>
        <p:nvPicPr>
          <p:cNvPr id="2050" name="Picture 2" descr="A Gentle Introduction to Cross Validation | Dockship.io">
            <a:extLst>
              <a:ext uri="{FF2B5EF4-FFF2-40B4-BE49-F238E27FC236}">
                <a16:creationId xmlns:a16="http://schemas.microsoft.com/office/drawing/2014/main" id="{D59D51E4-2995-424E-A1CF-FDAC7941BAEF}"/>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665961" y="419545"/>
            <a:ext cx="8480121" cy="63667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4947966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46A5DC-FE21-4937-A443-FF1608012557}"/>
              </a:ext>
            </a:extLst>
          </p:cNvPr>
          <p:cNvSpPr>
            <a:spLocks noGrp="1"/>
          </p:cNvSpPr>
          <p:nvPr>
            <p:ph type="title"/>
          </p:nvPr>
        </p:nvSpPr>
        <p:spPr/>
        <p:txBody>
          <a:bodyPr>
            <a:normAutofit fontScale="90000"/>
          </a:bodyPr>
          <a:lstStyle/>
          <a:p>
            <a:pPr algn="ctr"/>
            <a:br>
              <a:rPr lang="en-US" b="0" i="0" dirty="0">
                <a:solidFill>
                  <a:srgbClr val="111111"/>
                </a:solidFill>
                <a:effectLst/>
                <a:latin typeface="Lato"/>
              </a:rPr>
            </a:br>
            <a:r>
              <a:rPr lang="en-US" sz="4000" b="1" spc="-5" dirty="0">
                <a:solidFill>
                  <a:srgbClr val="3333FF"/>
                </a:solidFill>
                <a:latin typeface="Carlito"/>
              </a:rPr>
              <a:t>Exhaustive Methods</a:t>
            </a:r>
            <a:br>
              <a:rPr lang="en-US" b="0" i="0" dirty="0">
                <a:solidFill>
                  <a:srgbClr val="111111"/>
                </a:solidFill>
                <a:effectLst/>
                <a:latin typeface="Lato"/>
              </a:rPr>
            </a:br>
            <a:endParaRPr lang="en-IN" dirty="0"/>
          </a:p>
        </p:txBody>
      </p:sp>
      <p:sp>
        <p:nvSpPr>
          <p:cNvPr id="3" name="Content Placeholder 2">
            <a:extLst>
              <a:ext uri="{FF2B5EF4-FFF2-40B4-BE49-F238E27FC236}">
                <a16:creationId xmlns:a16="http://schemas.microsoft.com/office/drawing/2014/main" id="{79193549-8F4D-4236-B707-C0CEA12BF1F8}"/>
              </a:ext>
            </a:extLst>
          </p:cNvPr>
          <p:cNvSpPr>
            <a:spLocks noGrp="1"/>
          </p:cNvSpPr>
          <p:nvPr>
            <p:ph idx="1"/>
          </p:nvPr>
        </p:nvSpPr>
        <p:spPr/>
        <p:txBody>
          <a:bodyPr/>
          <a:lstStyle/>
          <a:p>
            <a:pPr algn="l"/>
            <a:r>
              <a:rPr lang="en-US" b="0" i="0" dirty="0">
                <a:solidFill>
                  <a:srgbClr val="000000"/>
                </a:solidFill>
                <a:effectLst/>
                <a:latin typeface="Lato"/>
              </a:rPr>
              <a:t>Exhaustive cross validation methods and test on all possible ways to divide the original sample into a training and a validation set.</a:t>
            </a:r>
          </a:p>
          <a:p>
            <a:pPr algn="l"/>
            <a:endParaRPr lang="en-US" dirty="0">
              <a:solidFill>
                <a:srgbClr val="000000"/>
              </a:solidFill>
              <a:latin typeface="Lato"/>
            </a:endParaRPr>
          </a:p>
          <a:p>
            <a:pPr algn="l"/>
            <a:r>
              <a:rPr lang="en-US" b="0" i="0" dirty="0" err="1">
                <a:solidFill>
                  <a:srgbClr val="000000"/>
                </a:solidFill>
                <a:effectLst/>
                <a:latin typeface="Lato"/>
              </a:rPr>
              <a:t>Eg</a:t>
            </a:r>
            <a:r>
              <a:rPr lang="en-US" dirty="0" err="1">
                <a:solidFill>
                  <a:srgbClr val="000000"/>
                </a:solidFill>
                <a:latin typeface="Lato"/>
              </a:rPr>
              <a:t>.</a:t>
            </a:r>
            <a:r>
              <a:rPr lang="en-US" dirty="0">
                <a:solidFill>
                  <a:srgbClr val="000000"/>
                </a:solidFill>
                <a:latin typeface="Lato"/>
              </a:rPr>
              <a:t> </a:t>
            </a:r>
            <a:r>
              <a:rPr lang="en-US" b="1" dirty="0"/>
              <a:t>Leave-P-Out Cross-Validation</a:t>
            </a:r>
            <a:endParaRPr lang="en-US" b="0" i="0" dirty="0">
              <a:solidFill>
                <a:srgbClr val="000000"/>
              </a:solidFill>
              <a:effectLst/>
              <a:latin typeface="Lato"/>
            </a:endParaRPr>
          </a:p>
          <a:p>
            <a:pPr marL="0" indent="0">
              <a:buNone/>
            </a:pPr>
            <a:endParaRPr lang="en-IN" dirty="0"/>
          </a:p>
        </p:txBody>
      </p:sp>
    </p:spTree>
    <p:extLst>
      <p:ext uri="{BB962C8B-B14F-4D97-AF65-F5344CB8AC3E}">
        <p14:creationId xmlns:p14="http://schemas.microsoft.com/office/powerpoint/2010/main" val="371485939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D94B7F-7E61-4E98-AAC5-CD078C60C691}"/>
              </a:ext>
            </a:extLst>
          </p:cNvPr>
          <p:cNvSpPr>
            <a:spLocks noGrp="1"/>
          </p:cNvSpPr>
          <p:nvPr>
            <p:ph type="title"/>
          </p:nvPr>
        </p:nvSpPr>
        <p:spPr/>
        <p:txBody>
          <a:bodyPr/>
          <a:lstStyle/>
          <a:p>
            <a:pPr algn="ctr"/>
            <a:r>
              <a:rPr lang="en-IN" sz="3600" b="1" spc="-5" dirty="0">
                <a:solidFill>
                  <a:srgbClr val="3333FF"/>
                </a:solidFill>
                <a:latin typeface="Carlito"/>
              </a:rPr>
              <a:t>Leave-P-Out Cross-Validation</a:t>
            </a:r>
          </a:p>
        </p:txBody>
      </p:sp>
      <p:sp>
        <p:nvSpPr>
          <p:cNvPr id="3" name="Content Placeholder 2">
            <a:extLst>
              <a:ext uri="{FF2B5EF4-FFF2-40B4-BE49-F238E27FC236}">
                <a16:creationId xmlns:a16="http://schemas.microsoft.com/office/drawing/2014/main" id="{A9DA59FA-9A8C-471C-935F-A4A195AB08E7}"/>
              </a:ext>
            </a:extLst>
          </p:cNvPr>
          <p:cNvSpPr>
            <a:spLocks noGrp="1"/>
          </p:cNvSpPr>
          <p:nvPr>
            <p:ph idx="1"/>
          </p:nvPr>
        </p:nvSpPr>
        <p:spPr/>
        <p:txBody>
          <a:bodyPr>
            <a:normAutofit fontScale="92500" lnSpcReduction="20000"/>
          </a:bodyPr>
          <a:lstStyle/>
          <a:p>
            <a:pPr marL="0" indent="0">
              <a:buNone/>
            </a:pPr>
            <a:r>
              <a:rPr lang="en-US" b="1" dirty="0"/>
              <a:t>Leave-P-Out Cross-Validation:</a:t>
            </a:r>
          </a:p>
          <a:p>
            <a:pPr marL="0" indent="0">
              <a:buNone/>
            </a:pPr>
            <a:r>
              <a:rPr lang="en-US" dirty="0"/>
              <a:t>In this strategy, p observations are used for validation, and the remaining is used for training.</a:t>
            </a:r>
          </a:p>
          <a:p>
            <a:pPr marL="0" indent="0">
              <a:buNone/>
            </a:pPr>
            <a:endParaRPr lang="en-US" dirty="0"/>
          </a:p>
          <a:p>
            <a:pPr marL="0" indent="0">
              <a:buNone/>
            </a:pPr>
            <a:r>
              <a:rPr lang="en-US" dirty="0"/>
              <a:t>For a data set with n observations, n-p observations will be used for training, and p will be used for validation.</a:t>
            </a:r>
          </a:p>
          <a:p>
            <a:pPr marL="0" indent="0">
              <a:buNone/>
            </a:pPr>
            <a:endParaRPr lang="en-US" dirty="0"/>
          </a:p>
          <a:p>
            <a:pPr marL="0" indent="0">
              <a:buNone/>
            </a:pPr>
            <a:r>
              <a:rPr lang="en-US" dirty="0">
                <a:solidFill>
                  <a:srgbClr val="FF0000"/>
                </a:solidFill>
              </a:rPr>
              <a:t>Since this method is exhaustive, it trains and tests on all possible combinations, and it can become computationally expensive for large values of p</a:t>
            </a:r>
            <a:r>
              <a:rPr lang="en-US" dirty="0"/>
              <a:t>.</a:t>
            </a:r>
          </a:p>
          <a:p>
            <a:pPr marL="0" indent="0">
              <a:buNone/>
            </a:pPr>
            <a:endParaRPr lang="en-US" dirty="0"/>
          </a:p>
          <a:p>
            <a:pPr marL="0" indent="0">
              <a:buNone/>
            </a:pPr>
            <a:r>
              <a:rPr lang="en-US" dirty="0"/>
              <a:t>LPO for p=3</a:t>
            </a:r>
            <a:endParaRPr lang="en-IN" dirty="0"/>
          </a:p>
        </p:txBody>
      </p:sp>
    </p:spTree>
    <p:extLst>
      <p:ext uri="{BB962C8B-B14F-4D97-AF65-F5344CB8AC3E}">
        <p14:creationId xmlns:p14="http://schemas.microsoft.com/office/powerpoint/2010/main" val="48807898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310C5A-FD27-2089-E878-59BDE2D17A5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EE67004-5DB9-D3E3-1C9A-D2E21C1F7032}"/>
              </a:ext>
            </a:extLst>
          </p:cNvPr>
          <p:cNvSpPr>
            <a:spLocks noGrp="1"/>
          </p:cNvSpPr>
          <p:nvPr>
            <p:ph idx="1"/>
          </p:nvPr>
        </p:nvSpPr>
        <p:spPr/>
        <p:txBody>
          <a:bodyPr/>
          <a:lstStyle/>
          <a:p>
            <a:r>
              <a:rPr lang="en-US" b="1" dirty="0"/>
              <a:t>Leave-One-Out Cross-Validation (LOOCV)</a:t>
            </a:r>
            <a:r>
              <a:rPr lang="en-US" dirty="0"/>
              <a:t>:</a:t>
            </a:r>
          </a:p>
          <a:p>
            <a:pPr>
              <a:buFont typeface="Arial" panose="020B0604020202020204" pitchFamily="34" charset="0"/>
              <a:buChar char="•"/>
            </a:pPr>
            <a:r>
              <a:rPr lang="en-US" b="1" dirty="0"/>
              <a:t>Process</a:t>
            </a:r>
            <a:r>
              <a:rPr lang="en-US" dirty="0"/>
              <a:t>: A special case of k-fold cross-validation where </a:t>
            </a:r>
            <a:r>
              <a:rPr lang="en-US" dirty="0" err="1"/>
              <a:t>kkk</a:t>
            </a:r>
            <a:r>
              <a:rPr lang="en-US" dirty="0"/>
              <a:t> is equal to the number of observations in the dataset. Each observation is used once as the validation data while the remaining n−1n-1n−1 observations are used for training.</a:t>
            </a:r>
          </a:p>
          <a:p>
            <a:pPr>
              <a:buFont typeface="Arial" panose="020B0604020202020204" pitchFamily="34" charset="0"/>
              <a:buChar char="•"/>
            </a:pPr>
            <a:r>
              <a:rPr lang="en-US" b="1" dirty="0"/>
              <a:t>Example</a:t>
            </a:r>
            <a:r>
              <a:rPr lang="en-US" dirty="0"/>
              <a:t>: If you have 100 data points, the model is trained 100 times, each time leaving out one data point as the test set.</a:t>
            </a:r>
          </a:p>
          <a:p>
            <a:endParaRPr lang="en-US" dirty="0"/>
          </a:p>
        </p:txBody>
      </p:sp>
    </p:spTree>
    <p:extLst>
      <p:ext uri="{BB962C8B-B14F-4D97-AF65-F5344CB8AC3E}">
        <p14:creationId xmlns:p14="http://schemas.microsoft.com/office/powerpoint/2010/main" val="42737709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651311-53EA-41B1-809E-1E791F96340A}"/>
              </a:ext>
            </a:extLst>
          </p:cNvPr>
          <p:cNvSpPr>
            <a:spLocks noGrp="1"/>
          </p:cNvSpPr>
          <p:nvPr>
            <p:ph type="title"/>
          </p:nvPr>
        </p:nvSpPr>
        <p:spPr/>
        <p:txBody>
          <a:bodyPr/>
          <a:lstStyle/>
          <a:p>
            <a:pPr algn="ctr"/>
            <a:r>
              <a:rPr lang="en-US" sz="3600" b="1" spc="-5" dirty="0">
                <a:solidFill>
                  <a:srgbClr val="3333FF"/>
                </a:solidFill>
                <a:latin typeface="Carlito"/>
              </a:rPr>
              <a:t>Leave-P-Out Cross-Validation</a:t>
            </a:r>
            <a:br>
              <a:rPr lang="en-US" sz="3600" b="1" spc="-5" dirty="0">
                <a:solidFill>
                  <a:srgbClr val="3333FF"/>
                </a:solidFill>
                <a:latin typeface="Carlito"/>
              </a:rPr>
            </a:br>
            <a:endParaRPr lang="en-IN" sz="3600" b="1" spc="-5" dirty="0">
              <a:solidFill>
                <a:srgbClr val="3333FF"/>
              </a:solidFill>
              <a:latin typeface="Carlito"/>
            </a:endParaRPr>
          </a:p>
        </p:txBody>
      </p:sp>
      <p:pic>
        <p:nvPicPr>
          <p:cNvPr id="4098" name="Picture 2" descr="lpo cross validation">
            <a:extLst>
              <a:ext uri="{FF2B5EF4-FFF2-40B4-BE49-F238E27FC236}">
                <a16:creationId xmlns:a16="http://schemas.microsoft.com/office/drawing/2014/main" id="{1EE53E09-0D3F-4E27-9F92-10BF68E57A0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893514" y="2191677"/>
            <a:ext cx="6765200" cy="4301198"/>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468C0786-E322-49CC-B8C1-D9B588789082}"/>
              </a:ext>
            </a:extLst>
          </p:cNvPr>
          <p:cNvSpPr txBox="1"/>
          <p:nvPr/>
        </p:nvSpPr>
        <p:spPr>
          <a:xfrm>
            <a:off x="1230682" y="5965613"/>
            <a:ext cx="6093912" cy="369332"/>
          </a:xfrm>
          <a:prstGeom prst="rect">
            <a:avLst/>
          </a:prstGeom>
          <a:noFill/>
        </p:spPr>
        <p:txBody>
          <a:bodyPr wrap="square">
            <a:spAutoFit/>
          </a:bodyPr>
          <a:lstStyle/>
          <a:p>
            <a:r>
              <a:rPr lang="en-IN" dirty="0"/>
              <a:t>LPO for p=3</a:t>
            </a:r>
          </a:p>
        </p:txBody>
      </p:sp>
    </p:spTree>
    <p:extLst>
      <p:ext uri="{BB962C8B-B14F-4D97-AF65-F5344CB8AC3E}">
        <p14:creationId xmlns:p14="http://schemas.microsoft.com/office/powerpoint/2010/main" val="77633484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5F941-A81B-4C56-B270-FC2AFB288D0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FB0244E-8761-47B9-ADD3-8453E1F7985B}"/>
              </a:ext>
            </a:extLst>
          </p:cNvPr>
          <p:cNvSpPr>
            <a:spLocks noGrp="1"/>
          </p:cNvSpPr>
          <p:nvPr>
            <p:ph idx="1"/>
          </p:nvPr>
        </p:nvSpPr>
        <p:spPr/>
        <p:txBody>
          <a:bodyPr>
            <a:normAutofit/>
          </a:bodyPr>
          <a:lstStyle/>
          <a:p>
            <a:pPr marL="0" indent="0" algn="ctr">
              <a:buNone/>
            </a:pPr>
            <a:endParaRPr lang="en-US" sz="5400" b="1" dirty="0"/>
          </a:p>
          <a:p>
            <a:pPr marL="0" indent="0" algn="ctr">
              <a:buNone/>
            </a:pPr>
            <a:endParaRPr lang="en-US" sz="5400" b="1" dirty="0"/>
          </a:p>
          <a:p>
            <a:pPr marL="0" indent="0" algn="ctr">
              <a:buNone/>
            </a:pPr>
            <a:r>
              <a:rPr lang="en-US" sz="4400" b="1" spc="-5" dirty="0">
                <a:solidFill>
                  <a:srgbClr val="3333FF"/>
                </a:solidFill>
                <a:latin typeface="Carlito"/>
                <a:ea typeface="+mj-ea"/>
                <a:cs typeface="+mj-cs"/>
              </a:rPr>
              <a:t>THANK YOU</a:t>
            </a:r>
            <a:endParaRPr lang="en-IN" sz="4400" b="1" spc="-5" dirty="0">
              <a:solidFill>
                <a:srgbClr val="3333FF"/>
              </a:solidFill>
              <a:latin typeface="Carlito"/>
              <a:ea typeface="+mj-ea"/>
              <a:cs typeface="+mj-cs"/>
            </a:endParaRPr>
          </a:p>
        </p:txBody>
      </p:sp>
    </p:spTree>
    <p:extLst>
      <p:ext uri="{BB962C8B-B14F-4D97-AF65-F5344CB8AC3E}">
        <p14:creationId xmlns:p14="http://schemas.microsoft.com/office/powerpoint/2010/main" val="224357269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44134</TotalTime>
  <Words>2349</Words>
  <Application>Microsoft Office PowerPoint</Application>
  <PresentationFormat>Widescreen</PresentationFormat>
  <Paragraphs>138</Paragraphs>
  <Slides>39</Slides>
  <Notes>3</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39</vt:i4>
      </vt:variant>
    </vt:vector>
  </HeadingPairs>
  <TitlesOfParts>
    <vt:vector size="50" baseType="lpstr">
      <vt:lpstr>Adobe Caslon Pro</vt:lpstr>
      <vt:lpstr>Arial</vt:lpstr>
      <vt:lpstr>Calibri</vt:lpstr>
      <vt:lpstr>Calibri Light</vt:lpstr>
      <vt:lpstr>Cambria</vt:lpstr>
      <vt:lpstr>Carlito</vt:lpstr>
      <vt:lpstr>Lato</vt:lpstr>
      <vt:lpstr>Open Sans</vt:lpstr>
      <vt:lpstr>proxima-nova</vt:lpstr>
      <vt:lpstr>Roboto</vt:lpstr>
      <vt:lpstr>Office Theme</vt:lpstr>
      <vt:lpstr>PowerPoint Presentation</vt:lpstr>
      <vt:lpstr>Cross-Validation </vt:lpstr>
      <vt:lpstr>Definitions of Train, Validation, and Test Datasets </vt:lpstr>
      <vt:lpstr>Training set</vt:lpstr>
      <vt:lpstr>Validation set</vt:lpstr>
      <vt:lpstr>PowerPoint Presentation</vt:lpstr>
      <vt:lpstr>Testing Data</vt:lpstr>
      <vt:lpstr>PowerPoint Presentation</vt:lpstr>
      <vt:lpstr>Train-Validate-Test</vt:lpstr>
      <vt:lpstr>Train Validate Test</vt:lpstr>
      <vt:lpstr>Ways of doing evaluation with  limited dataset </vt:lpstr>
      <vt:lpstr>Not a good approach</vt:lpstr>
      <vt:lpstr>Option 2 (medium approach)</vt:lpstr>
      <vt:lpstr>PowerPoint Presentation</vt:lpstr>
      <vt:lpstr>Option3-Validation Set</vt:lpstr>
      <vt:lpstr>PowerPoint Presentation</vt:lpstr>
      <vt:lpstr>Cross validation </vt:lpstr>
      <vt:lpstr>PowerPoint Presentation</vt:lpstr>
      <vt:lpstr>PowerPoint Presentation</vt:lpstr>
      <vt:lpstr> Types Of Cross-Validation </vt:lpstr>
      <vt:lpstr> Types of Cross Validation </vt:lpstr>
      <vt:lpstr>Non-exhaustive Methods </vt:lpstr>
      <vt:lpstr>K-Fold Cross-Validation</vt:lpstr>
      <vt:lpstr>K-Fold Cross-Validation</vt:lpstr>
      <vt:lpstr>K Fold Cross Validation</vt:lpstr>
      <vt:lpstr>PowerPoint Presentation</vt:lpstr>
      <vt:lpstr>Steps for K Fold Validation</vt:lpstr>
      <vt:lpstr>PowerPoint Presentation</vt:lpstr>
      <vt:lpstr>Limitations Of K Cross-Validation</vt:lpstr>
      <vt:lpstr>Limitations Of K Cross-Validation</vt:lpstr>
      <vt:lpstr>Cross-Validation Applications</vt:lpstr>
      <vt:lpstr>Stratified K Fold Cross Validation </vt:lpstr>
      <vt:lpstr>Stratified K Fold Cross Validation </vt:lpstr>
      <vt:lpstr>PowerPoint Presentation</vt:lpstr>
      <vt:lpstr> Exhaustive Methods </vt:lpstr>
      <vt:lpstr>Leave-P-Out Cross-Validation</vt:lpstr>
      <vt:lpstr>PowerPoint Presentation</vt:lpstr>
      <vt:lpstr>Leave-P-Out Cross-Validation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Cross validation</dc:title>
  <dc:creator>kriti ohri</dc:creator>
  <cp:lastModifiedBy>Kriti Ohri</cp:lastModifiedBy>
  <cp:revision>27</cp:revision>
  <dcterms:created xsi:type="dcterms:W3CDTF">2021-03-19T10:49:04Z</dcterms:created>
  <dcterms:modified xsi:type="dcterms:W3CDTF">2024-09-23T07:52:44Z</dcterms:modified>
</cp:coreProperties>
</file>