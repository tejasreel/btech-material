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heme/themeOverride1.xml" ContentType="application/vnd.openxmlformats-officedocument.themeOverr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348" r:id="rId2"/>
    <p:sldId id="256" r:id="rId3"/>
    <p:sldId id="443" r:id="rId4"/>
    <p:sldId id="408" r:id="rId5"/>
    <p:sldId id="259" r:id="rId6"/>
    <p:sldId id="456" r:id="rId7"/>
    <p:sldId id="462" r:id="rId8"/>
    <p:sldId id="278" r:id="rId9"/>
    <p:sldId id="260" r:id="rId10"/>
    <p:sldId id="261" r:id="rId11"/>
    <p:sldId id="262" r:id="rId12"/>
    <p:sldId id="457" r:id="rId13"/>
    <p:sldId id="452" r:id="rId14"/>
    <p:sldId id="454" r:id="rId15"/>
    <p:sldId id="266" r:id="rId16"/>
    <p:sldId id="289" r:id="rId17"/>
    <p:sldId id="436" r:id="rId18"/>
    <p:sldId id="435" r:id="rId19"/>
    <p:sldId id="264" r:id="rId20"/>
    <p:sldId id="437" r:id="rId21"/>
    <p:sldId id="279" r:id="rId22"/>
    <p:sldId id="281" r:id="rId23"/>
    <p:sldId id="458" r:id="rId24"/>
    <p:sldId id="280" r:id="rId25"/>
    <p:sldId id="270" r:id="rId26"/>
    <p:sldId id="271" r:id="rId27"/>
    <p:sldId id="444" r:id="rId28"/>
    <p:sldId id="441" r:id="rId29"/>
    <p:sldId id="272" r:id="rId30"/>
    <p:sldId id="447" r:id="rId31"/>
    <p:sldId id="464" r:id="rId32"/>
    <p:sldId id="465" r:id="rId33"/>
    <p:sldId id="312" r:id="rId34"/>
    <p:sldId id="313" r:id="rId35"/>
    <p:sldId id="466" r:id="rId36"/>
    <p:sldId id="455" r:id="rId37"/>
    <p:sldId id="314" r:id="rId38"/>
    <p:sldId id="460" r:id="rId39"/>
    <p:sldId id="283" r:id="rId40"/>
    <p:sldId id="450" r:id="rId41"/>
    <p:sldId id="310" r:id="rId42"/>
    <p:sldId id="461" r:id="rId43"/>
    <p:sldId id="311" r:id="rId44"/>
    <p:sldId id="309" r:id="rId45"/>
    <p:sldId id="445" r:id="rId46"/>
    <p:sldId id="446" r:id="rId47"/>
    <p:sldId id="274" r:id="rId48"/>
    <p:sldId id="439" r:id="rId49"/>
    <p:sldId id="285" r:id="rId50"/>
    <p:sldId id="449" r:id="rId51"/>
    <p:sldId id="467" r:id="rId52"/>
    <p:sldId id="292" r:id="rId53"/>
    <p:sldId id="479" r:id="rId54"/>
    <p:sldId id="471" r:id="rId55"/>
    <p:sldId id="294" r:id="rId56"/>
    <p:sldId id="295" r:id="rId57"/>
    <p:sldId id="296" r:id="rId58"/>
    <p:sldId id="478" r:id="rId59"/>
    <p:sldId id="468" r:id="rId60"/>
    <p:sldId id="297" r:id="rId61"/>
    <p:sldId id="298" r:id="rId62"/>
    <p:sldId id="477" r:id="rId63"/>
    <p:sldId id="472" r:id="rId64"/>
    <p:sldId id="299" r:id="rId65"/>
    <p:sldId id="300" r:id="rId66"/>
    <p:sldId id="301" r:id="rId67"/>
    <p:sldId id="304" r:id="rId68"/>
    <p:sldId id="302" r:id="rId69"/>
    <p:sldId id="303" r:id="rId70"/>
    <p:sldId id="448" r:id="rId71"/>
    <p:sldId id="286" r:id="rId72"/>
    <p:sldId id="476" r:id="rId73"/>
    <p:sldId id="287" r:id="rId74"/>
    <p:sldId id="475" r:id="rId75"/>
    <p:sldId id="288" r:id="rId76"/>
    <p:sldId id="473"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73908" autoAdjust="0"/>
  </p:normalViewPr>
  <p:slideViewPr>
    <p:cSldViewPr snapToGrid="0">
      <p:cViewPr varScale="1">
        <p:scale>
          <a:sx n="61" d="100"/>
          <a:sy n="61" d="100"/>
        </p:scale>
        <p:origin x="146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C4CA19-72BF-46C6-8817-F39E169A209D}" type="datetimeFigureOut">
              <a:rPr lang="en-IN" smtClean="0"/>
              <a:t>23-09-2024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CA2E83-DCC8-4EAB-B249-2856D1766D60}" type="slidenum">
              <a:rPr lang="en-IN" smtClean="0"/>
              <a:t>‹#›</a:t>
            </a:fld>
            <a:endParaRPr lang="en-IN"/>
          </a:p>
        </p:txBody>
      </p:sp>
    </p:spTree>
    <p:extLst>
      <p:ext uri="{BB962C8B-B14F-4D97-AF65-F5344CB8AC3E}">
        <p14:creationId xmlns:p14="http://schemas.microsoft.com/office/powerpoint/2010/main" val="188067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485DB-6355-47A6-ABCE-F416926EEF60}" type="slidenum">
              <a:rPr lang="en-IN" smtClean="0"/>
              <a:t>1</a:t>
            </a:fld>
            <a:endParaRPr lang="en-IN"/>
          </a:p>
        </p:txBody>
      </p:sp>
    </p:spTree>
    <p:extLst>
      <p:ext uri="{BB962C8B-B14F-4D97-AF65-F5344CB8AC3E}">
        <p14:creationId xmlns:p14="http://schemas.microsoft.com/office/powerpoint/2010/main" val="278051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506AD65-3287-4899-88F7-7385DF4F9BE9}"/>
              </a:ext>
            </a:extLst>
          </p:cNvPr>
          <p:cNvSpPr>
            <a:spLocks noGrp="1" noRot="1" noChangeAspect="1" noChangeArrowheads="1" noTextEdit="1"/>
          </p:cNvSpPr>
          <p:nvPr>
            <p:ph type="sldImg"/>
          </p:nvPr>
        </p:nvSpPr>
        <p:spPr>
          <a:ln/>
        </p:spPr>
      </p:sp>
      <p:sp>
        <p:nvSpPr>
          <p:cNvPr id="11267" name="Rectangle 3">
            <a:extLst>
              <a:ext uri="{FF2B5EF4-FFF2-40B4-BE49-F238E27FC236}">
                <a16:creationId xmlns:a16="http://schemas.microsoft.com/office/drawing/2014/main" id="{38FA1D22-9F15-48CE-A724-F2424E1C7B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894" tIns="44947" rIns="89894" bIns="44947"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CA2E83-DCC8-4EAB-B249-2856D1766D60}" type="slidenum">
              <a:rPr lang="en-IN" smtClean="0"/>
              <a:t>11</a:t>
            </a:fld>
            <a:endParaRPr lang="en-IN"/>
          </a:p>
        </p:txBody>
      </p:sp>
    </p:spTree>
    <p:extLst>
      <p:ext uri="{BB962C8B-B14F-4D97-AF65-F5344CB8AC3E}">
        <p14:creationId xmlns:p14="http://schemas.microsoft.com/office/powerpoint/2010/main" val="1159015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13</a:t>
            </a:fld>
            <a:endParaRPr lang="en-IN"/>
          </a:p>
        </p:txBody>
      </p:sp>
    </p:spTree>
    <p:extLst>
      <p:ext uri="{BB962C8B-B14F-4D97-AF65-F5344CB8AC3E}">
        <p14:creationId xmlns:p14="http://schemas.microsoft.com/office/powerpoint/2010/main" val="3860794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14</a:t>
            </a:fld>
            <a:endParaRPr lang="en-IN"/>
          </a:p>
        </p:txBody>
      </p:sp>
    </p:spTree>
    <p:extLst>
      <p:ext uri="{BB962C8B-B14F-4D97-AF65-F5344CB8AC3E}">
        <p14:creationId xmlns:p14="http://schemas.microsoft.com/office/powerpoint/2010/main" val="3040577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949C9298-6E63-4789-8E48-D4E1AD9DC2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F0BF68B-CF04-4635-A75E-93DC76771B3D}" type="slidenum">
              <a:rPr lang="en-US" altLang="en-US">
                <a:solidFill>
                  <a:srgbClr val="000000"/>
                </a:solidFill>
              </a:rPr>
              <a:pPr>
                <a:spcBef>
                  <a:spcPct val="0"/>
                </a:spcBef>
              </a:pPr>
              <a:t>18</a:t>
            </a:fld>
            <a:endParaRPr lang="en-US" altLang="en-US">
              <a:solidFill>
                <a:srgbClr val="000000"/>
              </a:solidFill>
            </a:endParaRPr>
          </a:p>
        </p:txBody>
      </p:sp>
      <p:sp>
        <p:nvSpPr>
          <p:cNvPr id="13315" name="Rectangle 2">
            <a:extLst>
              <a:ext uri="{FF2B5EF4-FFF2-40B4-BE49-F238E27FC236}">
                <a16:creationId xmlns:a16="http://schemas.microsoft.com/office/drawing/2014/main" id="{890A1B78-83A0-46DE-8173-195CE137B77D}"/>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A6295994-4CA7-41F1-85FB-605771C9ED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19</a:t>
            </a:fld>
            <a:endParaRPr lang="en-IN"/>
          </a:p>
        </p:txBody>
      </p:sp>
    </p:spTree>
    <p:extLst>
      <p:ext uri="{BB962C8B-B14F-4D97-AF65-F5344CB8AC3E}">
        <p14:creationId xmlns:p14="http://schemas.microsoft.com/office/powerpoint/2010/main" val="2841039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27</a:t>
            </a:fld>
            <a:endParaRPr lang="en-IN"/>
          </a:p>
        </p:txBody>
      </p:sp>
    </p:spTree>
    <p:extLst>
      <p:ext uri="{BB962C8B-B14F-4D97-AF65-F5344CB8AC3E}">
        <p14:creationId xmlns:p14="http://schemas.microsoft.com/office/powerpoint/2010/main" val="2888997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29</a:t>
            </a:fld>
            <a:endParaRPr lang="en-IN"/>
          </a:p>
        </p:txBody>
      </p:sp>
    </p:spTree>
    <p:extLst>
      <p:ext uri="{BB962C8B-B14F-4D97-AF65-F5344CB8AC3E}">
        <p14:creationId xmlns:p14="http://schemas.microsoft.com/office/powerpoint/2010/main" val="1906358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30</a:t>
            </a:fld>
            <a:endParaRPr lang="en-IN"/>
          </a:p>
        </p:txBody>
      </p:sp>
    </p:spTree>
    <p:extLst>
      <p:ext uri="{BB962C8B-B14F-4D97-AF65-F5344CB8AC3E}">
        <p14:creationId xmlns:p14="http://schemas.microsoft.com/office/powerpoint/2010/main" val="3700115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36</a:t>
            </a:fld>
            <a:endParaRPr lang="en-IN"/>
          </a:p>
        </p:txBody>
      </p:sp>
    </p:spTree>
    <p:extLst>
      <p:ext uri="{BB962C8B-B14F-4D97-AF65-F5344CB8AC3E}">
        <p14:creationId xmlns:p14="http://schemas.microsoft.com/office/powerpoint/2010/main" val="3828066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37</a:t>
            </a:fld>
            <a:endParaRPr lang="en-IN"/>
          </a:p>
        </p:txBody>
      </p:sp>
    </p:spTree>
    <p:extLst>
      <p:ext uri="{BB962C8B-B14F-4D97-AF65-F5344CB8AC3E}">
        <p14:creationId xmlns:p14="http://schemas.microsoft.com/office/powerpoint/2010/main" val="2914881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39</a:t>
            </a:fld>
            <a:endParaRPr lang="en-IN"/>
          </a:p>
        </p:txBody>
      </p:sp>
    </p:spTree>
    <p:extLst>
      <p:ext uri="{BB962C8B-B14F-4D97-AF65-F5344CB8AC3E}">
        <p14:creationId xmlns:p14="http://schemas.microsoft.com/office/powerpoint/2010/main" val="437003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41</a:t>
            </a:fld>
            <a:endParaRPr lang="en-IN"/>
          </a:p>
        </p:txBody>
      </p:sp>
    </p:spTree>
    <p:extLst>
      <p:ext uri="{BB962C8B-B14F-4D97-AF65-F5344CB8AC3E}">
        <p14:creationId xmlns:p14="http://schemas.microsoft.com/office/powerpoint/2010/main" val="2413994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43</a:t>
            </a:fld>
            <a:endParaRPr lang="en-IN"/>
          </a:p>
        </p:txBody>
      </p:sp>
    </p:spTree>
    <p:extLst>
      <p:ext uri="{BB962C8B-B14F-4D97-AF65-F5344CB8AC3E}">
        <p14:creationId xmlns:p14="http://schemas.microsoft.com/office/powerpoint/2010/main" val="33528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47</a:t>
            </a:fld>
            <a:endParaRPr lang="en-IN"/>
          </a:p>
        </p:txBody>
      </p:sp>
    </p:spTree>
    <p:extLst>
      <p:ext uri="{BB962C8B-B14F-4D97-AF65-F5344CB8AC3E}">
        <p14:creationId xmlns:p14="http://schemas.microsoft.com/office/powerpoint/2010/main" val="945970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48</a:t>
            </a:fld>
            <a:endParaRPr lang="en-IN"/>
          </a:p>
        </p:txBody>
      </p:sp>
    </p:spTree>
    <p:extLst>
      <p:ext uri="{BB962C8B-B14F-4D97-AF65-F5344CB8AC3E}">
        <p14:creationId xmlns:p14="http://schemas.microsoft.com/office/powerpoint/2010/main" val="179142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49</a:t>
            </a:fld>
            <a:endParaRPr lang="en-IN"/>
          </a:p>
        </p:txBody>
      </p:sp>
    </p:spTree>
    <p:extLst>
      <p:ext uri="{BB962C8B-B14F-4D97-AF65-F5344CB8AC3E}">
        <p14:creationId xmlns:p14="http://schemas.microsoft.com/office/powerpoint/2010/main" val="921326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CA2E83-DCC8-4EAB-B249-2856D1766D60}" type="slidenum">
              <a:rPr lang="en-IN" smtClean="0"/>
              <a:t>72</a:t>
            </a:fld>
            <a:endParaRPr lang="en-IN"/>
          </a:p>
        </p:txBody>
      </p:sp>
    </p:spTree>
    <p:extLst>
      <p:ext uri="{BB962C8B-B14F-4D97-AF65-F5344CB8AC3E}">
        <p14:creationId xmlns:p14="http://schemas.microsoft.com/office/powerpoint/2010/main" val="3771189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20B8B-770D-448B-A844-256C63FA89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404C13-7806-4EF6-B7AE-65739889C0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2AD7EA-F6A2-4A0E-B7E9-D22EEFA57D21}"/>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5" name="Footer Placeholder 4">
            <a:extLst>
              <a:ext uri="{FF2B5EF4-FFF2-40B4-BE49-F238E27FC236}">
                <a16:creationId xmlns:a16="http://schemas.microsoft.com/office/drawing/2014/main" id="{E7B6CE39-B905-4AC5-87C5-B63BCF7E89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9130F1-89DB-4C04-9825-4F8FF79FEE64}"/>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3925534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F4288-35F7-4B58-AB13-654BC84D82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BA8CD6-3978-4433-9CB8-7EB3036700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BA9076-9B3E-4FF8-BAF4-C7C40C488A89}"/>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5" name="Footer Placeholder 4">
            <a:extLst>
              <a:ext uri="{FF2B5EF4-FFF2-40B4-BE49-F238E27FC236}">
                <a16:creationId xmlns:a16="http://schemas.microsoft.com/office/drawing/2014/main" id="{5D324E71-FD7B-4753-99EB-DCC03C5EC2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7D4618-A0AF-4F30-A8ED-32DC0A98FE6B}"/>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4126018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597A1-481F-4AD1-AA15-FE097D95D6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615ACA-3D57-4E5A-8CA8-97F2F74D90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9F1991-D1CB-4393-BB75-09505D21C888}"/>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5" name="Footer Placeholder 4">
            <a:extLst>
              <a:ext uri="{FF2B5EF4-FFF2-40B4-BE49-F238E27FC236}">
                <a16:creationId xmlns:a16="http://schemas.microsoft.com/office/drawing/2014/main" id="{DDCC494D-88C0-469B-8735-835CD8953F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C4BD97-4885-43F0-8E59-5B8851DA03BD}"/>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2277409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849DF-29F0-48CF-94AD-3FAE097D16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73DE14-B5D6-4DCF-BC6D-6B1A17B347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4924D1-691D-4321-B8F9-CA30EBFBD6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789CA5-18B2-4315-9F92-386954C24E25}"/>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6" name="Footer Placeholder 5">
            <a:extLst>
              <a:ext uri="{FF2B5EF4-FFF2-40B4-BE49-F238E27FC236}">
                <a16:creationId xmlns:a16="http://schemas.microsoft.com/office/drawing/2014/main" id="{745EBDAE-965A-4F36-A376-C376335128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15D1DA-1AC6-4B7F-864A-69C8DFE9B06C}"/>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3957258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FD708-A54D-4D26-8551-A75A67328F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7A58F3-860C-42D6-89FC-02E241E14C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6C89A4-557E-4707-A686-8140C9943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ED6A2D-175B-42EC-B2C1-34F7EEE70A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3D08B5-9191-4B6F-AF6C-8DCD151C76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CF9F2C-C889-4263-9798-62D795A2FB10}"/>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8" name="Footer Placeholder 7">
            <a:extLst>
              <a:ext uri="{FF2B5EF4-FFF2-40B4-BE49-F238E27FC236}">
                <a16:creationId xmlns:a16="http://schemas.microsoft.com/office/drawing/2014/main" id="{089A3023-C3D2-4A9C-B9BA-1314C2E052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F519F6-FB87-4C33-9F93-1CDC03A9A89E}"/>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4021721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6D714-268F-4487-9F36-4F54A860A38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5858D7-6E10-49DC-B235-A4A2AB1834E8}"/>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4" name="Footer Placeholder 3">
            <a:extLst>
              <a:ext uri="{FF2B5EF4-FFF2-40B4-BE49-F238E27FC236}">
                <a16:creationId xmlns:a16="http://schemas.microsoft.com/office/drawing/2014/main" id="{EA32A3D2-CE71-4499-95F5-B9CF99533F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51A840-187A-4E69-A8D1-3925379D7695}"/>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2513542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D508A7-F173-4FE1-870F-F32B2DE51A59}"/>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3" name="Footer Placeholder 2">
            <a:extLst>
              <a:ext uri="{FF2B5EF4-FFF2-40B4-BE49-F238E27FC236}">
                <a16:creationId xmlns:a16="http://schemas.microsoft.com/office/drawing/2014/main" id="{C8072063-7F72-40F5-A3FC-F7716BC8D5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CFFB92-F161-4038-AC82-7D755095AF74}"/>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384086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89F86-514B-4207-9F06-1A304F964C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9ECDE7-6CFA-4AF0-8A38-1F7BE7D775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08F7BB-4AE7-4571-B80F-30515C6405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EBA2BB-3362-4370-9423-70238B49F972}"/>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6" name="Footer Placeholder 5">
            <a:extLst>
              <a:ext uri="{FF2B5EF4-FFF2-40B4-BE49-F238E27FC236}">
                <a16:creationId xmlns:a16="http://schemas.microsoft.com/office/drawing/2014/main" id="{0EBB000F-E41B-4540-8F5E-8B3CE0EE85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548C02-613C-4A62-B28D-C4E72EA2F492}"/>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3949564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E4449-C731-4B5D-B083-2D24DCCDCD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5647E7-20C5-4705-880B-E0F1C6F415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607D8B-E318-4689-BEF4-FE3C29757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BAC7DF-6224-4990-898E-F8ADBED11764}"/>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6" name="Footer Placeholder 5">
            <a:extLst>
              <a:ext uri="{FF2B5EF4-FFF2-40B4-BE49-F238E27FC236}">
                <a16:creationId xmlns:a16="http://schemas.microsoft.com/office/drawing/2014/main" id="{E76547DA-DD85-42AF-ACAD-FE4411DCD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9A692D-EA74-415D-9AC6-822DE43A3393}"/>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234295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8412-71C2-485F-91F6-E4971CE702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B7C7AE-8213-4A4A-ADE7-8FCF0B4B16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60A7C5-3D5E-4CAF-BD92-CF2E10C9940B}"/>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5" name="Footer Placeholder 4">
            <a:extLst>
              <a:ext uri="{FF2B5EF4-FFF2-40B4-BE49-F238E27FC236}">
                <a16:creationId xmlns:a16="http://schemas.microsoft.com/office/drawing/2014/main" id="{3E5EB5B5-201B-4F9E-AA0F-E6B56B82C6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672C19-F202-491C-A2BE-92F2DFE53DC6}"/>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1720829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8C258-7048-4109-B284-1EB7DFCE9E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26A9C1-BA1A-437A-AFEA-3CC8916E46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079B0B-026E-4389-BA59-F9C6D387E0FB}"/>
              </a:ext>
            </a:extLst>
          </p:cNvPr>
          <p:cNvSpPr>
            <a:spLocks noGrp="1"/>
          </p:cNvSpPr>
          <p:nvPr>
            <p:ph type="dt" sz="half" idx="10"/>
          </p:nvPr>
        </p:nvSpPr>
        <p:spPr/>
        <p:txBody>
          <a:bodyPr/>
          <a:lstStyle/>
          <a:p>
            <a:fld id="{202BA0A5-DE97-4DF8-BBD4-062D6D662043}" type="datetimeFigureOut">
              <a:rPr lang="en-IN" smtClean="0"/>
              <a:t>23-09-2024</a:t>
            </a:fld>
            <a:endParaRPr lang="en-IN"/>
          </a:p>
        </p:txBody>
      </p:sp>
      <p:sp>
        <p:nvSpPr>
          <p:cNvPr id="5" name="Footer Placeholder 4">
            <a:extLst>
              <a:ext uri="{FF2B5EF4-FFF2-40B4-BE49-F238E27FC236}">
                <a16:creationId xmlns:a16="http://schemas.microsoft.com/office/drawing/2014/main" id="{D72DC2A7-F48A-4335-A2D4-9223C1446B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C31A95-28A8-43EA-8C59-1A9CE58E0F2E}"/>
              </a:ext>
            </a:extLst>
          </p:cNvPr>
          <p:cNvSpPr>
            <a:spLocks noGrp="1"/>
          </p:cNvSpPr>
          <p:nvPr>
            <p:ph type="sldNum" sz="quarter" idx="12"/>
          </p:nvPr>
        </p:nvSpPr>
        <p:spPr/>
        <p:txBody>
          <a:bodyPr/>
          <a:lstStyle/>
          <a:p>
            <a:fld id="{1608B488-0E75-4656-B9B5-8BA1C5696901}" type="slidenum">
              <a:rPr lang="en-IN" smtClean="0"/>
              <a:t>‹#›</a:t>
            </a:fld>
            <a:endParaRPr lang="en-IN"/>
          </a:p>
        </p:txBody>
      </p:sp>
    </p:spTree>
    <p:extLst>
      <p:ext uri="{BB962C8B-B14F-4D97-AF65-F5344CB8AC3E}">
        <p14:creationId xmlns:p14="http://schemas.microsoft.com/office/powerpoint/2010/main" val="1792550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4867" y="76201"/>
            <a:ext cx="11362267" cy="701675"/>
          </a:xfrm>
        </p:spPr>
        <p:txBody>
          <a:bodyPr/>
          <a:lstStyle/>
          <a:p>
            <a:r>
              <a:rPr lang="en-US"/>
              <a:t>Click to edit Master title style</a:t>
            </a:r>
          </a:p>
        </p:txBody>
      </p:sp>
      <p:sp>
        <p:nvSpPr>
          <p:cNvPr id="3" name="Text Placeholder 2"/>
          <p:cNvSpPr>
            <a:spLocks noGrp="1"/>
          </p:cNvSpPr>
          <p:nvPr>
            <p:ph type="body" sz="half" idx="1"/>
          </p:nvPr>
        </p:nvSpPr>
        <p:spPr>
          <a:xfrm>
            <a:off x="421217" y="1066800"/>
            <a:ext cx="5571067"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485" y="1066800"/>
            <a:ext cx="557318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
            <a:extLst>
              <a:ext uri="{FF2B5EF4-FFF2-40B4-BE49-F238E27FC236}">
                <a16:creationId xmlns:a16="http://schemas.microsoft.com/office/drawing/2014/main" id="{88C4574E-775F-48F2-9533-517C97E91B3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49D7BEE3-1A9E-4B16-B59D-43A7C87878A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9">
            <a:extLst>
              <a:ext uri="{FF2B5EF4-FFF2-40B4-BE49-F238E27FC236}">
                <a16:creationId xmlns:a16="http://schemas.microsoft.com/office/drawing/2014/main" id="{57CC27AB-7581-4C74-A5E7-06DCCD79B6C8}"/>
              </a:ext>
            </a:extLst>
          </p:cNvPr>
          <p:cNvSpPr>
            <a:spLocks noGrp="1" noChangeArrowheads="1"/>
          </p:cNvSpPr>
          <p:nvPr>
            <p:ph type="sldNum" sz="quarter" idx="12"/>
          </p:nvPr>
        </p:nvSpPr>
        <p:spPr>
          <a:ln/>
        </p:spPr>
        <p:txBody>
          <a:bodyPr/>
          <a:lstStyle>
            <a:lvl1pPr>
              <a:defRPr/>
            </a:lvl1pPr>
          </a:lstStyle>
          <a:p>
            <a:fld id="{61B6F478-A7C3-406C-A072-891845EC13C0}" type="slidenum">
              <a:rPr lang="en-US" altLang="en-US"/>
              <a:pPr/>
              <a:t>‹#›</a:t>
            </a:fld>
            <a:endParaRPr lang="en-US" altLang="en-US"/>
          </a:p>
        </p:txBody>
      </p:sp>
    </p:spTree>
    <p:extLst>
      <p:ext uri="{BB962C8B-B14F-4D97-AF65-F5344CB8AC3E}">
        <p14:creationId xmlns:p14="http://schemas.microsoft.com/office/powerpoint/2010/main" val="56440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280D09-BD9E-453C-A3FC-022C272929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75EA48-C707-4BF0-AD66-3F9780AB81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690D62-4888-4EB4-A453-8B436982F7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2BA0A5-DE97-4DF8-BBD4-062D6D662043}" type="datetimeFigureOut">
              <a:rPr lang="en-IN" smtClean="0"/>
              <a:t>23-09-2024</a:t>
            </a:fld>
            <a:endParaRPr lang="en-IN"/>
          </a:p>
        </p:txBody>
      </p:sp>
      <p:sp>
        <p:nvSpPr>
          <p:cNvPr id="5" name="Footer Placeholder 4">
            <a:extLst>
              <a:ext uri="{FF2B5EF4-FFF2-40B4-BE49-F238E27FC236}">
                <a16:creationId xmlns:a16="http://schemas.microsoft.com/office/drawing/2014/main" id="{A5D1E951-2F9F-4C34-AB47-CB5C809BD1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6F6572D-9A9F-493D-9B92-56698ECE97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08B488-0E75-4656-B9B5-8BA1C5696901}" type="slidenum">
              <a:rPr lang="en-IN" smtClean="0"/>
              <a:t>‹#›</a:t>
            </a:fld>
            <a:endParaRPr lang="en-IN"/>
          </a:p>
        </p:txBody>
      </p:sp>
    </p:spTree>
    <p:extLst>
      <p:ext uri="{BB962C8B-B14F-4D97-AF65-F5344CB8AC3E}">
        <p14:creationId xmlns:p14="http://schemas.microsoft.com/office/powerpoint/2010/main" val="998332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bing.com/ck/a?!&amp;&amp;p=9158114ba42c886bJmltdHM9MTY2ODU1NjgwMCZpZ3VpZD0zZWZjMWQzYy01ZDhiLTY1NzEtM2I1Yy0wYzhhNWM2MzY0ZDYmaW5zaWQ9NTIwOA&amp;ptn=3&amp;hsh=3&amp;fclid=3efc1d3c-5d8b-6571-3b5c-0c8a5c6364d6&amp;psq=deprtaement+of+computer+scoence+and+engimnerring&amp;u=a1aHR0cHM6Ly93d3cuc2N1LmVkdS9lbmdpbmVlcmluZy9hY2FkZW1pYy1wcm9ncmFtcy9kZXBhcnRtZW50LW9mLWNvbXB1dGVyLWVuZ2luZWVyaW5nLw&amp;ntb=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ataaspirant.com/six-popular-classification-evaluation-metrics-in-machine-learning/" TargetMode="External"/><Relationship Id="rId2" Type="http://schemas.openxmlformats.org/officeDocument/2006/relationships/hyperlink" Target="https://dataaspirant.com/category/machine-learning-2/"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ataaspirant.com/how-logistic-regression-model-works/" TargetMode="External"/><Relationship Id="rId2" Type="http://schemas.openxmlformats.org/officeDocument/2006/relationships/hyperlink" Target="https://dataaspirant.com/linear-regressio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14D4819-D7DD-F22A-4C68-D50A73BD631A}"/>
              </a:ext>
            </a:extLst>
          </p:cNvPr>
          <p:cNvSpPr>
            <a:spLocks noChangeArrowheads="1"/>
          </p:cNvSpPr>
          <p:nvPr/>
        </p:nvSpPr>
        <p:spPr bwMode="auto">
          <a:xfrm>
            <a:off x="258058" y="131619"/>
            <a:ext cx="11801419"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VALLURUPALLI NAGESWARA RAO VIGNANA JYOTHI </a:t>
            </a:r>
            <a:r>
              <a:rPr lang="en-US" altLang="en-US" sz="2800" dirty="0"/>
              <a:t> </a:t>
            </a:r>
            <a:r>
              <a:rPr kumimoji="0" lang="en-US" altLang="en-US" sz="2800" b="1" i="0" u="none" strike="noStrike" cap="none" normalizeH="0" baseline="0" dirty="0">
                <a:ln>
                  <a:noFill/>
                </a:ln>
                <a:solidFill>
                  <a:srgbClr val="000000"/>
                </a:solidFill>
                <a:effectLst/>
                <a:latin typeface="Cambria" panose="02040503050406030204" pitchFamily="18" charset="0"/>
                <a:ea typeface="Calibri" panose="020F0502020204030204" pitchFamily="34" charset="0"/>
                <a:cs typeface="Arial" panose="020B0604020202020204" pitchFamily="34" charset="0"/>
              </a:rPr>
              <a:t>INSTITUTE OF ENGINEERING AND TECHNOLOGY</a:t>
            </a:r>
            <a:endParaRPr kumimoji="0" lang="en-US" altLang="en-US" sz="28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40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Department of Computer Science and Engineering</a:t>
            </a:r>
          </a:p>
          <a:p>
            <a:pPr marL="0" marR="0" lvl="0" indent="457200" algn="ctr"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lang="en-IN" sz="2000" b="1" spc="-5" dirty="0">
                <a:latin typeface="Carlito"/>
              </a:rPr>
              <a:t>Dimensionality Reduction techniques</a:t>
            </a:r>
            <a:endParaRPr kumimoji="0" lang="en-US" altLang="en-US" sz="1600" b="0" i="0" u="none" strike="noStrike" cap="none" normalizeH="0" baseline="0" dirty="0">
              <a:ln>
                <a:noFill/>
              </a:ln>
              <a:effectLst/>
              <a:latin typeface="Arial" panose="020B0604020202020204" pitchFamily="34" charset="0"/>
            </a:endParaRPr>
          </a:p>
        </p:txBody>
      </p:sp>
      <p:pic>
        <p:nvPicPr>
          <p:cNvPr id="1025" name="Picture 3">
            <a:extLst>
              <a:ext uri="{FF2B5EF4-FFF2-40B4-BE49-F238E27FC236}">
                <a16:creationId xmlns:a16="http://schemas.microsoft.com/office/drawing/2014/main" id="{1F402572-1AC1-C244-FE3C-D3880CA04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3417" y="1335521"/>
            <a:ext cx="1790700" cy="16684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601E913-B864-500D-8186-0A789C882082}"/>
              </a:ext>
            </a:extLst>
          </p:cNvPr>
          <p:cNvSpPr>
            <a:spLocks noChangeArrowheads="1"/>
          </p:cNvSpPr>
          <p:nvPr/>
        </p:nvSpPr>
        <p:spPr bwMode="auto">
          <a:xfrm>
            <a:off x="4057871" y="4747451"/>
            <a:ext cx="420179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MACHINE LEARNING</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dobe Caslon Pro"/>
                <a:ea typeface="Calibri" panose="020F0502020204030204" pitchFamily="34" charset="0"/>
                <a:cs typeface="Times New Roman" panose="02020603050405020304" pitchFamily="18" charset="0"/>
              </a:rPr>
              <a:t>Dr. Kriti </a:t>
            </a: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Ohri</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Assistant Professor</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hlinkClick r:id="rId4"/>
              </a:rPr>
              <a:t>Department of Computer Science and Engineering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Footer Placeholder 4">
            <a:extLst>
              <a:ext uri="{FF2B5EF4-FFF2-40B4-BE49-F238E27FC236}">
                <a16:creationId xmlns:a16="http://schemas.microsoft.com/office/drawing/2014/main" id="{FF3375C2-6977-6830-5E74-51E3850230E9}"/>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Machine Learning</a:t>
            </a:r>
          </a:p>
        </p:txBody>
      </p:sp>
      <p:sp>
        <p:nvSpPr>
          <p:cNvPr id="7" name="Date Placeholder 6">
            <a:extLst>
              <a:ext uri="{FF2B5EF4-FFF2-40B4-BE49-F238E27FC236}">
                <a16:creationId xmlns:a16="http://schemas.microsoft.com/office/drawing/2014/main" id="{104C03E4-1F28-2FB0-9B80-AE079E772F4D}"/>
              </a:ext>
            </a:extLst>
          </p:cNvPr>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Kriti Ohri</a:t>
            </a:r>
            <a:endParaRPr lang="en-IN"/>
          </a:p>
        </p:txBody>
      </p:sp>
    </p:spTree>
    <p:extLst>
      <p:ext uri="{BB962C8B-B14F-4D97-AF65-F5344CB8AC3E}">
        <p14:creationId xmlns:p14="http://schemas.microsoft.com/office/powerpoint/2010/main" val="9663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FBF29-3822-4F50-9CB1-01BB26EE7DEE}"/>
              </a:ext>
            </a:extLst>
          </p:cNvPr>
          <p:cNvSpPr>
            <a:spLocks noGrp="1"/>
          </p:cNvSpPr>
          <p:nvPr>
            <p:ph type="ctrTitle"/>
          </p:nvPr>
        </p:nvSpPr>
        <p:spPr/>
        <p:txBody>
          <a:bodyPr>
            <a:normAutofit/>
          </a:bodyPr>
          <a:lstStyle/>
          <a:p>
            <a:r>
              <a:rPr lang="en-IN" sz="4000" b="1" spc="-5" dirty="0">
                <a:solidFill>
                  <a:srgbClr val="3333FF"/>
                </a:solidFill>
                <a:latin typeface="Carlito"/>
              </a:rPr>
              <a:t>Curse </a:t>
            </a:r>
            <a:r>
              <a:rPr lang="en-IN" sz="3600" b="1" spc="-5" dirty="0">
                <a:solidFill>
                  <a:srgbClr val="3333FF"/>
                </a:solidFill>
                <a:latin typeface="Carlito"/>
              </a:rPr>
              <a:t>of Dimensionality</a:t>
            </a:r>
            <a:br>
              <a:rPr lang="en-IN" sz="3600" b="1" spc="-5" dirty="0">
                <a:solidFill>
                  <a:srgbClr val="3333FF"/>
                </a:solidFill>
                <a:latin typeface="Carlito"/>
              </a:rPr>
            </a:br>
            <a:r>
              <a:rPr lang="en-IN" sz="3600" b="1" spc="-5" dirty="0" err="1">
                <a:solidFill>
                  <a:srgbClr val="3333FF"/>
                </a:solidFill>
                <a:latin typeface="Carlito"/>
              </a:rPr>
              <a:t>Dimensionality</a:t>
            </a:r>
            <a:r>
              <a:rPr lang="en-IN" sz="3600" b="1" spc="-5" dirty="0">
                <a:solidFill>
                  <a:srgbClr val="3333FF"/>
                </a:solidFill>
                <a:latin typeface="Carlito"/>
              </a:rPr>
              <a:t> Reduction techniques:</a:t>
            </a:r>
            <a:endParaRPr lang="en-IN" sz="8000" dirty="0"/>
          </a:p>
        </p:txBody>
      </p:sp>
      <p:sp>
        <p:nvSpPr>
          <p:cNvPr id="3" name="Subtitle 2">
            <a:extLst>
              <a:ext uri="{FF2B5EF4-FFF2-40B4-BE49-F238E27FC236}">
                <a16:creationId xmlns:a16="http://schemas.microsoft.com/office/drawing/2014/main" id="{05B7E829-2D8B-4BEC-AFCA-8A25E67919A2}"/>
              </a:ext>
            </a:extLst>
          </p:cNvPr>
          <p:cNvSpPr>
            <a:spLocks noGrp="1"/>
          </p:cNvSpPr>
          <p:nvPr>
            <p:ph type="subTitle" idx="1"/>
          </p:nvPr>
        </p:nvSpPr>
        <p:spPr/>
        <p:txBody>
          <a:bodyPr/>
          <a:lstStyle/>
          <a:p>
            <a:r>
              <a:rPr lang="en-US" dirty="0"/>
              <a:t>1. Feature Selection</a:t>
            </a:r>
          </a:p>
          <a:p>
            <a:r>
              <a:rPr lang="en-US" dirty="0"/>
              <a:t>2. Feature Extraction</a:t>
            </a:r>
            <a:endParaRPr lang="en-IN" dirty="0"/>
          </a:p>
        </p:txBody>
      </p:sp>
    </p:spTree>
    <p:extLst>
      <p:ext uri="{BB962C8B-B14F-4D97-AF65-F5344CB8AC3E}">
        <p14:creationId xmlns:p14="http://schemas.microsoft.com/office/powerpoint/2010/main" val="2541556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734E9-A553-4FCE-A108-81270CFAC124}"/>
              </a:ext>
            </a:extLst>
          </p:cNvPr>
          <p:cNvSpPr>
            <a:spLocks noGrp="1"/>
          </p:cNvSpPr>
          <p:nvPr>
            <p:ph type="title"/>
          </p:nvPr>
        </p:nvSpPr>
        <p:spPr>
          <a:xfrm>
            <a:off x="838200" y="329030"/>
            <a:ext cx="10515600" cy="1325563"/>
          </a:xfrm>
        </p:spPr>
        <p:txBody>
          <a:bodyPr/>
          <a:lstStyle/>
          <a:p>
            <a:r>
              <a:rPr lang="en-US" sz="3600" b="1" spc="-5" dirty="0">
                <a:solidFill>
                  <a:srgbClr val="3333FF"/>
                </a:solidFill>
                <a:latin typeface="Carlito"/>
              </a:rPr>
              <a:t>What is dimensions</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C6DAE2AD-58C2-4FD7-BD7E-EB501FC16A82}"/>
              </a:ext>
            </a:extLst>
          </p:cNvPr>
          <p:cNvSpPr>
            <a:spLocks noGrp="1"/>
          </p:cNvSpPr>
          <p:nvPr>
            <p:ph idx="1"/>
          </p:nvPr>
        </p:nvSpPr>
        <p:spPr/>
        <p:txBody>
          <a:bodyPr/>
          <a:lstStyle/>
          <a:p>
            <a:pPr algn="just">
              <a:lnSpc>
                <a:spcPct val="200000"/>
              </a:lnSpc>
            </a:pPr>
            <a:r>
              <a:rPr lang="en-US" sz="2200" dirty="0">
                <a:latin typeface="Times New Roman" panose="02020603050405020304" pitchFamily="18" charset="0"/>
              </a:rPr>
              <a:t>The number of input variables or features for a dataset is referred to as its dimensionality. ... </a:t>
            </a:r>
            <a:r>
              <a:rPr lang="en-US" sz="2200" dirty="0">
                <a:solidFill>
                  <a:srgbClr val="FF0000"/>
                </a:solidFill>
                <a:latin typeface="Times New Roman" panose="02020603050405020304" pitchFamily="18" charset="0"/>
              </a:rPr>
              <a:t>Large numbers</a:t>
            </a:r>
            <a:r>
              <a:rPr lang="en-US" sz="2200" dirty="0">
                <a:latin typeface="Times New Roman" panose="02020603050405020304" pitchFamily="18" charset="0"/>
              </a:rPr>
              <a:t> of input features </a:t>
            </a:r>
            <a:r>
              <a:rPr lang="en-US" sz="2200" dirty="0">
                <a:solidFill>
                  <a:srgbClr val="FF0000"/>
                </a:solidFill>
                <a:latin typeface="Times New Roman" panose="02020603050405020304" pitchFamily="18" charset="0"/>
              </a:rPr>
              <a:t>can cause poor performance for machine </a:t>
            </a:r>
            <a:r>
              <a:rPr lang="en-US" sz="2200" dirty="0">
                <a:latin typeface="Times New Roman" panose="02020603050405020304" pitchFamily="18" charset="0"/>
              </a:rPr>
              <a:t>learning algorithms. Dimensionality reduction is a general field of study concerned with reducing the number of input features.</a:t>
            </a:r>
            <a:endParaRPr lang="en-IN" sz="2200" dirty="0">
              <a:latin typeface="Times New Roman" panose="02020603050405020304" pitchFamily="18" charset="0"/>
            </a:endParaRPr>
          </a:p>
        </p:txBody>
      </p:sp>
    </p:spTree>
    <p:extLst>
      <p:ext uri="{BB962C8B-B14F-4D97-AF65-F5344CB8AC3E}">
        <p14:creationId xmlns:p14="http://schemas.microsoft.com/office/powerpoint/2010/main" val="367165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991CB8A-C2A0-4BCB-9B59-FEE581E58C46}"/>
              </a:ext>
            </a:extLst>
          </p:cNvPr>
          <p:cNvSpPr>
            <a:spLocks noGrp="1" noChangeArrowheads="1"/>
          </p:cNvSpPr>
          <p:nvPr>
            <p:ph type="title"/>
          </p:nvPr>
        </p:nvSpPr>
        <p:spPr>
          <a:xfrm>
            <a:off x="2056218" y="320454"/>
            <a:ext cx="7772400" cy="708025"/>
          </a:xfrm>
        </p:spPr>
        <p:txBody>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ko-KR" sz="4000" b="1" spc="-5" dirty="0">
                <a:solidFill>
                  <a:srgbClr val="3333FF"/>
                </a:solidFill>
                <a:latin typeface="Carlito"/>
              </a:rPr>
              <a:t>Curse of Dimensionality</a:t>
            </a:r>
            <a:endParaRPr lang="en-GB" altLang="en-US" sz="4000" b="1" spc="-5" dirty="0">
              <a:solidFill>
                <a:srgbClr val="3333FF"/>
              </a:solidFill>
              <a:latin typeface="Carlito"/>
            </a:endParaRPr>
          </a:p>
        </p:txBody>
      </p:sp>
      <p:sp>
        <p:nvSpPr>
          <p:cNvPr id="10243" name="Rectangle 3">
            <a:extLst>
              <a:ext uri="{FF2B5EF4-FFF2-40B4-BE49-F238E27FC236}">
                <a16:creationId xmlns:a16="http://schemas.microsoft.com/office/drawing/2014/main" id="{9EEA2E29-DFF2-439F-B810-AFBB4F940AF4}"/>
              </a:ext>
            </a:extLst>
          </p:cNvPr>
          <p:cNvSpPr>
            <a:spLocks noGrp="1" noChangeArrowheads="1"/>
          </p:cNvSpPr>
          <p:nvPr>
            <p:ph type="body" sz="half" idx="1"/>
          </p:nvPr>
        </p:nvSpPr>
        <p:spPr>
          <a:xfrm>
            <a:off x="1616075" y="1503363"/>
            <a:ext cx="5257800" cy="4775200"/>
          </a:xfrm>
        </p:spPr>
        <p:txBody>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Increasing the number of features will not always improve classification accuracy.</a:t>
            </a:r>
          </a:p>
          <a:p>
            <a:pPr lvl="1">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dirty="0"/>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In practice, the inclusion of more features might actually lead to </a:t>
            </a:r>
            <a:r>
              <a:rPr lang="en-US" altLang="en-US" sz="2400" dirty="0">
                <a:solidFill>
                  <a:srgbClr val="FF0000"/>
                </a:solidFill>
              </a:rPr>
              <a:t>worse </a:t>
            </a:r>
            <a:r>
              <a:rPr lang="en-US" altLang="en-US" sz="2400" dirty="0"/>
              <a:t>performance.</a:t>
            </a:r>
          </a:p>
          <a:p>
            <a:pPr lvl="1">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dirty="0"/>
          </a:p>
        </p:txBody>
      </p:sp>
      <p:pic>
        <p:nvPicPr>
          <p:cNvPr id="10244" name="Picture 2">
            <a:extLst>
              <a:ext uri="{FF2B5EF4-FFF2-40B4-BE49-F238E27FC236}">
                <a16:creationId xmlns:a16="http://schemas.microsoft.com/office/drawing/2014/main" id="{C7947985-9F01-4949-9F0B-136E628774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83414" y="1317625"/>
            <a:ext cx="3684587"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3">
            <a:extLst>
              <a:ext uri="{FF2B5EF4-FFF2-40B4-BE49-F238E27FC236}">
                <a16:creationId xmlns:a16="http://schemas.microsoft.com/office/drawing/2014/main" id="{F5A8231C-A008-4195-936D-ECF9988A6F95}"/>
              </a:ext>
            </a:extLst>
          </p:cNvPr>
          <p:cNvPicPr>
            <a:picLocks noChangeAspect="1"/>
          </p:cNvPicPr>
          <p:nvPr/>
        </p:nvPicPr>
        <p:blipFill>
          <a:blip r:embed="rId4">
            <a:extLst>
              <a:ext uri="{28A0092B-C50C-407E-A947-70E740481C1C}">
                <a14:useLocalDpi xmlns:a14="http://schemas.microsoft.com/office/drawing/2010/main" val="0"/>
              </a:ext>
            </a:extLst>
          </a:blip>
          <a:srcRect l="7578" r="16637"/>
          <a:stretch>
            <a:fillRect/>
          </a:stretch>
        </p:blipFill>
        <p:spPr bwMode="auto">
          <a:xfrm>
            <a:off x="6805613" y="4175125"/>
            <a:ext cx="1524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4">
            <a:extLst>
              <a:ext uri="{FF2B5EF4-FFF2-40B4-BE49-F238E27FC236}">
                <a16:creationId xmlns:a16="http://schemas.microsoft.com/office/drawing/2014/main" id="{CAEFF7D1-5BF9-4461-B074-061B574545FD}"/>
              </a:ext>
            </a:extLst>
          </p:cNvPr>
          <p:cNvPicPr>
            <a:picLocks noChangeAspect="1"/>
          </p:cNvPicPr>
          <p:nvPr/>
        </p:nvPicPr>
        <p:blipFill>
          <a:blip r:embed="rId5">
            <a:extLst>
              <a:ext uri="{28A0092B-C50C-407E-A947-70E740481C1C}">
                <a14:useLocalDpi xmlns:a14="http://schemas.microsoft.com/office/drawing/2010/main" val="0"/>
              </a:ext>
            </a:extLst>
          </a:blip>
          <a:srcRect l="6250" r="7446"/>
          <a:stretch>
            <a:fillRect/>
          </a:stretch>
        </p:blipFill>
        <p:spPr bwMode="auto">
          <a:xfrm>
            <a:off x="8582025" y="4040188"/>
            <a:ext cx="1905000" cy="183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20336EA-BDE1-4070-88AC-C5DC35181424}"/>
              </a:ext>
            </a:extLst>
          </p:cNvPr>
          <p:cNvSpPr txBox="1"/>
          <p:nvPr/>
        </p:nvSpPr>
        <p:spPr>
          <a:xfrm>
            <a:off x="7245351" y="5621339"/>
            <a:ext cx="665567" cy="307777"/>
          </a:xfrm>
          <a:prstGeom prst="rect">
            <a:avLst/>
          </a:prstGeom>
          <a:noFill/>
        </p:spPr>
        <p:txBody>
          <a:bodyPr wrap="none">
            <a:spAutoFit/>
          </a:bodyPr>
          <a:lstStyle/>
          <a:p>
            <a:pPr>
              <a:defRPr/>
            </a:pPr>
            <a:r>
              <a:rPr lang="en-US" sz="1400" dirty="0">
                <a:solidFill>
                  <a:schemeClr val="bg2"/>
                </a:solidFill>
              </a:rPr>
              <a:t>3</a:t>
            </a:r>
            <a:r>
              <a:rPr lang="en-US" sz="1400" baseline="30000" dirty="0">
                <a:solidFill>
                  <a:schemeClr val="bg2"/>
                </a:solidFill>
              </a:rPr>
              <a:t>2 </a:t>
            </a:r>
            <a:r>
              <a:rPr lang="en-US" sz="1400" dirty="0">
                <a:solidFill>
                  <a:schemeClr val="bg2"/>
                </a:solidFill>
              </a:rPr>
              <a:t>bins</a:t>
            </a:r>
          </a:p>
        </p:txBody>
      </p:sp>
      <p:sp>
        <p:nvSpPr>
          <p:cNvPr id="10" name="TextBox 9">
            <a:extLst>
              <a:ext uri="{FF2B5EF4-FFF2-40B4-BE49-F238E27FC236}">
                <a16:creationId xmlns:a16="http://schemas.microsoft.com/office/drawing/2014/main" id="{36759BD2-381E-4918-9D44-B53B47E05F13}"/>
              </a:ext>
            </a:extLst>
          </p:cNvPr>
          <p:cNvSpPr txBox="1"/>
          <p:nvPr/>
        </p:nvSpPr>
        <p:spPr>
          <a:xfrm>
            <a:off x="9163051" y="6000751"/>
            <a:ext cx="665567" cy="307777"/>
          </a:xfrm>
          <a:prstGeom prst="rect">
            <a:avLst/>
          </a:prstGeom>
          <a:noFill/>
        </p:spPr>
        <p:txBody>
          <a:bodyPr wrap="none">
            <a:spAutoFit/>
          </a:bodyPr>
          <a:lstStyle/>
          <a:p>
            <a:pPr>
              <a:defRPr/>
            </a:pPr>
            <a:r>
              <a:rPr lang="en-US" sz="1400" dirty="0">
                <a:solidFill>
                  <a:schemeClr val="bg2"/>
                </a:solidFill>
              </a:rPr>
              <a:t>3</a:t>
            </a:r>
            <a:r>
              <a:rPr lang="en-US" sz="1400" baseline="30000" dirty="0">
                <a:solidFill>
                  <a:schemeClr val="bg2"/>
                </a:solidFill>
              </a:rPr>
              <a:t>3 </a:t>
            </a:r>
            <a:r>
              <a:rPr lang="en-US" sz="1400" dirty="0">
                <a:solidFill>
                  <a:schemeClr val="bg2"/>
                </a:solidFill>
              </a:rPr>
              <a:t>bins</a:t>
            </a:r>
          </a:p>
        </p:txBody>
      </p:sp>
      <p:pic>
        <p:nvPicPr>
          <p:cNvPr id="10249" name="Picture 6">
            <a:extLst>
              <a:ext uri="{FF2B5EF4-FFF2-40B4-BE49-F238E27FC236}">
                <a16:creationId xmlns:a16="http://schemas.microsoft.com/office/drawing/2014/main" id="{B1E5266E-4566-4561-BBAF-9543F9A3A48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112001" y="3255963"/>
            <a:ext cx="24161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66B64AC2-6396-4B73-86A0-0B56915FDC78}"/>
              </a:ext>
            </a:extLst>
          </p:cNvPr>
          <p:cNvSpPr txBox="1"/>
          <p:nvPr/>
        </p:nvSpPr>
        <p:spPr>
          <a:xfrm>
            <a:off x="7848601" y="3741739"/>
            <a:ext cx="665567" cy="307777"/>
          </a:xfrm>
          <a:prstGeom prst="rect">
            <a:avLst/>
          </a:prstGeom>
          <a:noFill/>
        </p:spPr>
        <p:txBody>
          <a:bodyPr wrap="none">
            <a:spAutoFit/>
          </a:bodyPr>
          <a:lstStyle/>
          <a:p>
            <a:pPr>
              <a:defRPr/>
            </a:pPr>
            <a:r>
              <a:rPr lang="en-US" sz="1400" dirty="0">
                <a:solidFill>
                  <a:schemeClr val="bg2"/>
                </a:solidFill>
              </a:rPr>
              <a:t>3</a:t>
            </a:r>
            <a:r>
              <a:rPr lang="en-US" sz="1400" baseline="30000" dirty="0">
                <a:solidFill>
                  <a:schemeClr val="bg2"/>
                </a:solidFill>
              </a:rPr>
              <a:t>1 </a:t>
            </a:r>
            <a:r>
              <a:rPr lang="en-US" sz="1400" dirty="0">
                <a:solidFill>
                  <a:schemeClr val="bg2"/>
                </a:solidFill>
              </a:rPr>
              <a:t>bins</a:t>
            </a:r>
          </a:p>
        </p:txBody>
      </p:sp>
      <p:sp>
        <p:nvSpPr>
          <p:cNvPr id="13" name="TextBox 12">
            <a:extLst>
              <a:ext uri="{FF2B5EF4-FFF2-40B4-BE49-F238E27FC236}">
                <a16:creationId xmlns:a16="http://schemas.microsoft.com/office/drawing/2014/main" id="{B4B93407-8F98-4897-9BCD-FD789434CF6E}"/>
              </a:ext>
            </a:extLst>
          </p:cNvPr>
          <p:cNvSpPr txBox="1"/>
          <p:nvPr/>
        </p:nvSpPr>
        <p:spPr>
          <a:xfrm>
            <a:off x="2819401" y="6124576"/>
            <a:ext cx="2361031" cy="307777"/>
          </a:xfrm>
          <a:prstGeom prst="rect">
            <a:avLst/>
          </a:prstGeom>
          <a:noFill/>
        </p:spPr>
        <p:txBody>
          <a:bodyPr wrap="none">
            <a:spAutoFit/>
          </a:bodyPr>
          <a:lstStyle/>
          <a:p>
            <a:pPr>
              <a:defRPr/>
            </a:pPr>
            <a:r>
              <a:rPr lang="en-US" sz="1400" dirty="0">
                <a:solidFill>
                  <a:schemeClr val="bg2"/>
                </a:solidFill>
              </a:rPr>
              <a:t>k: number of bins per feature </a:t>
            </a:r>
          </a:p>
        </p:txBody>
      </p:sp>
      <p:sp>
        <p:nvSpPr>
          <p:cNvPr id="2" name="TextBox 1">
            <a:extLst>
              <a:ext uri="{FF2B5EF4-FFF2-40B4-BE49-F238E27FC236}">
                <a16:creationId xmlns:a16="http://schemas.microsoft.com/office/drawing/2014/main" id="{6E7854D8-889D-4040-9258-BCA52C998E10}"/>
              </a:ext>
            </a:extLst>
          </p:cNvPr>
          <p:cNvSpPr txBox="1"/>
          <p:nvPr/>
        </p:nvSpPr>
        <p:spPr>
          <a:xfrm>
            <a:off x="9718675" y="3484563"/>
            <a:ext cx="484428" cy="338554"/>
          </a:xfrm>
          <a:prstGeom prst="rect">
            <a:avLst/>
          </a:prstGeom>
          <a:noFill/>
        </p:spPr>
        <p:txBody>
          <a:bodyPr wrap="none">
            <a:spAutoFit/>
          </a:bodyPr>
          <a:lstStyle/>
          <a:p>
            <a:pPr>
              <a:defRPr/>
            </a:pPr>
            <a:r>
              <a:rPr lang="en-US" sz="1600" dirty="0">
                <a:solidFill>
                  <a:schemeClr val="bg2"/>
                </a:solidFill>
              </a:rPr>
              <a:t>k=3</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02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32154-4D67-4904-AA5B-5E4253918FE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0B43524-4C79-4FC9-9613-BA5635507E74}"/>
              </a:ext>
            </a:extLst>
          </p:cNvPr>
          <p:cNvSpPr>
            <a:spLocks noGrp="1"/>
          </p:cNvSpPr>
          <p:nvPr>
            <p:ph idx="1"/>
          </p:nvPr>
        </p:nvSpPr>
        <p:spPr/>
        <p:txBody>
          <a:bodyPr/>
          <a:lstStyle/>
          <a:p>
            <a:pPr>
              <a:lnSpc>
                <a:spcPct val="150000"/>
              </a:lnSpc>
            </a:pPr>
            <a:r>
              <a:rPr lang="en-IN" sz="1800" dirty="0">
                <a:effectLst/>
                <a:latin typeface="Times New Roman" panose="02020603050405020304" pitchFamily="18" charset="0"/>
                <a:ea typeface="Times New Roman" panose="02020603050405020304" pitchFamily="18" charset="0"/>
              </a:rPr>
              <a:t> In </a:t>
            </a:r>
            <a:r>
              <a:rPr lang="en-US" sz="2100" u="sng" dirty="0">
                <a:latin typeface="Times New Roman" panose="02020603050405020304" pitchFamily="18" charset="0"/>
              </a:rPr>
              <a:t>instance based learning (KNN) </a:t>
            </a:r>
            <a:r>
              <a:rPr lang="en-US" sz="2100" dirty="0">
                <a:latin typeface="Times New Roman" panose="02020603050405020304" pitchFamily="18" charset="0"/>
              </a:rPr>
              <a:t>, we have seen that in instance based learning given the </a:t>
            </a:r>
            <a:r>
              <a:rPr lang="en-US" sz="2100" u="sng" dirty="0">
                <a:latin typeface="Times New Roman" panose="02020603050405020304" pitchFamily="18" charset="0"/>
              </a:rPr>
              <a:t>test data instance</a:t>
            </a:r>
            <a:r>
              <a:rPr lang="en-US" sz="2100" dirty="0">
                <a:latin typeface="Times New Roman" panose="02020603050405020304" pitchFamily="18" charset="0"/>
              </a:rPr>
              <a:t> we have </a:t>
            </a:r>
            <a:r>
              <a:rPr lang="en-US" sz="2100" u="sng" dirty="0">
                <a:latin typeface="Times New Roman" panose="02020603050405020304" pitchFamily="18" charset="0"/>
              </a:rPr>
              <a:t>to find out the nearby instances </a:t>
            </a:r>
            <a:r>
              <a:rPr lang="en-US" sz="2100" dirty="0">
                <a:latin typeface="Times New Roman" panose="02020603050405020304" pitchFamily="18" charset="0"/>
              </a:rPr>
              <a:t>for this we need a </a:t>
            </a:r>
            <a:r>
              <a:rPr lang="en-US" sz="2100" u="sng" dirty="0">
                <a:latin typeface="Times New Roman" panose="02020603050405020304" pitchFamily="18" charset="0"/>
              </a:rPr>
              <a:t>distance function</a:t>
            </a:r>
            <a:r>
              <a:rPr lang="en-US" sz="2100" dirty="0">
                <a:latin typeface="Times New Roman" panose="02020603050405020304" pitchFamily="18" charset="0"/>
              </a:rPr>
              <a:t>. This distance function is computed </a:t>
            </a:r>
            <a:r>
              <a:rPr lang="en-US" sz="2100" u="sng" dirty="0">
                <a:latin typeface="Times New Roman" panose="02020603050405020304" pitchFamily="18" charset="0"/>
              </a:rPr>
              <a:t>in term of the features</a:t>
            </a:r>
            <a:r>
              <a:rPr lang="en-US" sz="2100" dirty="0">
                <a:latin typeface="Times New Roman" panose="02020603050405020304" pitchFamily="18" charset="0"/>
              </a:rPr>
              <a:t>. If the </a:t>
            </a:r>
            <a:r>
              <a:rPr lang="en-US" sz="2100" u="sng" dirty="0">
                <a:latin typeface="Times New Roman" panose="02020603050405020304" pitchFamily="18" charset="0"/>
              </a:rPr>
              <a:t>number of features is large there is a problem,</a:t>
            </a:r>
            <a:r>
              <a:rPr lang="en-US" sz="2100" dirty="0">
                <a:latin typeface="Times New Roman" panose="02020603050405020304" pitchFamily="18" charset="0"/>
              </a:rPr>
              <a:t> because the </a:t>
            </a:r>
            <a:r>
              <a:rPr lang="en-US" sz="2100" u="sng" dirty="0">
                <a:latin typeface="Times New Roman" panose="02020603050405020304" pitchFamily="18" charset="0"/>
              </a:rPr>
              <a:t>distance that you get may not be representative of the actual distance</a:t>
            </a:r>
            <a:r>
              <a:rPr lang="en-US" sz="2100" dirty="0">
                <a:latin typeface="Times New Roman" panose="02020603050405020304" pitchFamily="18" charset="0"/>
              </a:rPr>
              <a:t>. So, this is a reason why feature reduction becomes important.</a:t>
            </a:r>
            <a:endParaRPr lang="en-IN" sz="2100" dirty="0">
              <a:latin typeface="Times New Roman" panose="02020603050405020304" pitchFamily="18" charset="0"/>
            </a:endParaRPr>
          </a:p>
        </p:txBody>
      </p:sp>
    </p:spTree>
    <p:extLst>
      <p:ext uri="{BB962C8B-B14F-4D97-AF65-F5344CB8AC3E}">
        <p14:creationId xmlns:p14="http://schemas.microsoft.com/office/powerpoint/2010/main" val="2101507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A197-2478-45AF-AAE0-6BA189697997}"/>
              </a:ext>
            </a:extLst>
          </p:cNvPr>
          <p:cNvSpPr>
            <a:spLocks noGrp="1"/>
          </p:cNvSpPr>
          <p:nvPr>
            <p:ph type="title"/>
          </p:nvPr>
        </p:nvSpPr>
        <p:spPr/>
        <p:txBody>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spc="-5" dirty="0">
                <a:solidFill>
                  <a:srgbClr val="3333FF"/>
                </a:solidFill>
                <a:latin typeface="Carlito"/>
              </a:rPr>
              <a:t>Dimensional Space from simple to complex</a:t>
            </a:r>
            <a:endParaRPr lang="en-IN" sz="4000" b="1" spc="-5" dirty="0">
              <a:solidFill>
                <a:srgbClr val="3333FF"/>
              </a:solidFill>
              <a:latin typeface="Carlito"/>
            </a:endParaRPr>
          </a:p>
        </p:txBody>
      </p:sp>
      <p:pic>
        <p:nvPicPr>
          <p:cNvPr id="4" name="Content Placeholder 3">
            <a:extLst>
              <a:ext uri="{FF2B5EF4-FFF2-40B4-BE49-F238E27FC236}">
                <a16:creationId xmlns:a16="http://schemas.microsoft.com/office/drawing/2014/main" id="{5BE45543-15E2-4228-86BB-31087CE12052}"/>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289000"/>
                    </a14:imgEffect>
                  </a14:imgLayer>
                </a14:imgProps>
              </a:ext>
            </a:extLst>
          </a:blip>
          <a:stretch>
            <a:fillRect/>
          </a:stretch>
        </p:blipFill>
        <p:spPr>
          <a:xfrm>
            <a:off x="838200" y="2046023"/>
            <a:ext cx="11186160" cy="4459245"/>
          </a:xfrm>
          <a:prstGeom prst="rect">
            <a:avLst/>
          </a:prstGeom>
        </p:spPr>
      </p:pic>
    </p:spTree>
    <p:extLst>
      <p:ext uri="{BB962C8B-B14F-4D97-AF65-F5344CB8AC3E}">
        <p14:creationId xmlns:p14="http://schemas.microsoft.com/office/powerpoint/2010/main" val="4054906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4BAD-4358-4BBE-8AE2-93F46375000E}"/>
              </a:ext>
            </a:extLst>
          </p:cNvPr>
          <p:cNvSpPr>
            <a:spLocks noGrp="1"/>
          </p:cNvSpPr>
          <p:nvPr>
            <p:ph type="title"/>
          </p:nvPr>
        </p:nvSpPr>
        <p:spPr/>
        <p:txBody>
          <a:bodyPr/>
          <a:lstStyle/>
          <a:p>
            <a:endParaRPr lang="en-IN"/>
          </a:p>
        </p:txBody>
      </p:sp>
      <p:pic>
        <p:nvPicPr>
          <p:cNvPr id="7170" name="Picture 2">
            <a:extLst>
              <a:ext uri="{FF2B5EF4-FFF2-40B4-BE49-F238E27FC236}">
                <a16:creationId xmlns:a16="http://schemas.microsoft.com/office/drawing/2014/main" id="{25A4DF0A-2EC3-4D95-80E0-C7BE7089E43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8031" y="84221"/>
            <a:ext cx="6689558" cy="6689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56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CDCAD-5B74-46A7-BD16-38E936950A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9CABF5-A353-4A25-825A-16E5131CFB46}"/>
              </a:ext>
            </a:extLst>
          </p:cNvPr>
          <p:cNvSpPr>
            <a:spLocks noGrp="1"/>
          </p:cNvSpPr>
          <p:nvPr>
            <p:ph idx="1"/>
          </p:nvPr>
        </p:nvSpPr>
        <p:spPr>
          <a:xfrm>
            <a:off x="600206" y="936276"/>
            <a:ext cx="10515600" cy="5921723"/>
          </a:xfrm>
        </p:spPr>
        <p:txBody>
          <a:bodyPr>
            <a:noAutofit/>
          </a:bodyPr>
          <a:lstStyle/>
          <a:p>
            <a:pPr algn="just" rtl="0">
              <a:lnSpc>
                <a:spcPct val="170000"/>
              </a:lnSpc>
            </a:pPr>
            <a:endParaRPr lang="en-US" sz="1600" dirty="0">
              <a:latin typeface="Times New Roman" panose="02020603050405020304" pitchFamily="18" charset="0"/>
            </a:endParaRPr>
          </a:p>
          <a:p>
            <a:pPr algn="just" rtl="0">
              <a:lnSpc>
                <a:spcPct val="170000"/>
              </a:lnSpc>
            </a:pPr>
            <a:r>
              <a:rPr lang="en-US" sz="1600" dirty="0">
                <a:latin typeface="Times New Roman" panose="02020603050405020304" pitchFamily="18" charset="0"/>
              </a:rPr>
              <a:t>Feature selection is the key influence factor for building accurate </a:t>
            </a:r>
            <a:r>
              <a:rPr lang="en-US" sz="1600" dirty="0">
                <a:latin typeface="Times New Roman" panose="02020603050405020304" pitchFamily="18" charset="0"/>
                <a:hlinkClick r:id="rId2">
                  <a:extLst>
                    <a:ext uri="{A12FA001-AC4F-418D-AE19-62706E023703}">
                      <ahyp:hlinkClr xmlns:ahyp="http://schemas.microsoft.com/office/drawing/2018/hyperlinkcolor" val="tx"/>
                    </a:ext>
                  </a:extLst>
                </a:hlinkClick>
              </a:rPr>
              <a:t>machine learning models</a:t>
            </a:r>
            <a:r>
              <a:rPr lang="en-US" sz="1600" dirty="0">
                <a:latin typeface="Times New Roman" panose="02020603050405020304" pitchFamily="18" charset="0"/>
              </a:rPr>
              <a:t>. Let’s say for any given dataset the machine learning model learns the mapping between the input features and the target variable. </a:t>
            </a:r>
          </a:p>
          <a:p>
            <a:pPr algn="just" rtl="0">
              <a:lnSpc>
                <a:spcPct val="170000"/>
              </a:lnSpc>
            </a:pPr>
            <a:endParaRPr lang="en-US" sz="1600" dirty="0">
              <a:latin typeface="Times New Roman" panose="02020603050405020304" pitchFamily="18" charset="0"/>
            </a:endParaRPr>
          </a:p>
          <a:p>
            <a:pPr algn="just" rtl="0">
              <a:lnSpc>
                <a:spcPct val="170000"/>
              </a:lnSpc>
            </a:pPr>
            <a:r>
              <a:rPr lang="en-US" sz="1600" dirty="0">
                <a:latin typeface="Times New Roman" panose="02020603050405020304" pitchFamily="18" charset="0"/>
              </a:rPr>
              <a:t>In machine learning, many factors affect the </a:t>
            </a:r>
            <a:r>
              <a:rPr lang="en-US" sz="1600" dirty="0">
                <a:latin typeface="Times New Roman" panose="02020603050405020304" pitchFamily="18" charset="0"/>
                <a:hlinkClick r:id="rId3">
                  <a:extLst>
                    <a:ext uri="{A12FA001-AC4F-418D-AE19-62706E023703}">
                      <ahyp:hlinkClr xmlns:ahyp="http://schemas.microsoft.com/office/drawing/2018/hyperlinkcolor" val="tx"/>
                    </a:ext>
                  </a:extLst>
                </a:hlinkClick>
              </a:rPr>
              <a:t>performance of a model</a:t>
            </a:r>
            <a:r>
              <a:rPr lang="en-US" sz="1600" dirty="0">
                <a:latin typeface="Times New Roman" panose="02020603050405020304" pitchFamily="18" charset="0"/>
              </a:rPr>
              <a:t>, and they include: </a:t>
            </a:r>
          </a:p>
          <a:p>
            <a:pPr marL="514350" indent="-514350" algn="l" rtl="0">
              <a:lnSpc>
                <a:spcPct val="170000"/>
              </a:lnSpc>
              <a:buFont typeface="+mj-lt"/>
              <a:buAutoNum type="arabicPeriod"/>
            </a:pPr>
            <a:r>
              <a:rPr lang="en-US" sz="1600" dirty="0">
                <a:latin typeface="Times New Roman" panose="02020603050405020304" pitchFamily="18" charset="0"/>
              </a:rPr>
              <a:t>Algorithm choice</a:t>
            </a:r>
          </a:p>
          <a:p>
            <a:pPr marL="514350" indent="-514350" algn="l" rtl="0">
              <a:lnSpc>
                <a:spcPct val="170000"/>
              </a:lnSpc>
              <a:buFont typeface="+mj-lt"/>
              <a:buAutoNum type="arabicPeriod"/>
            </a:pPr>
            <a:r>
              <a:rPr lang="en-US" sz="1600" dirty="0">
                <a:latin typeface="Times New Roman" panose="02020603050405020304" pitchFamily="18" charset="0"/>
              </a:rPr>
              <a:t>The features used to train the model, </a:t>
            </a:r>
          </a:p>
          <a:p>
            <a:pPr marL="514350" indent="-514350" algn="l" rtl="0">
              <a:lnSpc>
                <a:spcPct val="170000"/>
              </a:lnSpc>
              <a:buFont typeface="+mj-lt"/>
              <a:buAutoNum type="arabicPeriod"/>
            </a:pPr>
            <a:r>
              <a:rPr lang="en-US" sz="1600" dirty="0">
                <a:latin typeface="Times New Roman" panose="02020603050405020304" pitchFamily="18" charset="0"/>
              </a:rPr>
              <a:t>Parameters used in the algorithm </a:t>
            </a:r>
          </a:p>
          <a:p>
            <a:pPr marL="514350" indent="-514350" algn="l" rtl="0">
              <a:lnSpc>
                <a:spcPct val="170000"/>
              </a:lnSpc>
              <a:buFont typeface="+mj-lt"/>
              <a:buAutoNum type="arabicPeriod"/>
            </a:pPr>
            <a:r>
              <a:rPr lang="en-US" sz="1600" dirty="0">
                <a:latin typeface="Times New Roman" panose="02020603050405020304" pitchFamily="18" charset="0"/>
              </a:rPr>
              <a:t>Quality of the dataset</a:t>
            </a:r>
          </a:p>
          <a:p>
            <a:pPr marL="0" indent="0" algn="l" rtl="0">
              <a:lnSpc>
                <a:spcPct val="170000"/>
              </a:lnSpc>
              <a:buNone/>
            </a:pPr>
            <a:r>
              <a:rPr lang="en-US" sz="1600" dirty="0">
                <a:latin typeface="Times New Roman" panose="02020603050405020304" pitchFamily="18" charset="0"/>
              </a:rPr>
              <a:t>Therefore, it is beneficial to </a:t>
            </a:r>
            <a:r>
              <a:rPr lang="en-US" sz="1600" dirty="0">
                <a:solidFill>
                  <a:srgbClr val="FF0000"/>
                </a:solidFill>
                <a:latin typeface="Times New Roman" panose="02020603050405020304" pitchFamily="18" charset="0"/>
              </a:rPr>
              <a:t>discard the </a:t>
            </a:r>
            <a:r>
              <a:rPr lang="en-US" sz="1600" u="sng" dirty="0">
                <a:solidFill>
                  <a:srgbClr val="FF0000"/>
                </a:solidFill>
                <a:latin typeface="Times New Roman" panose="02020603050405020304" pitchFamily="18" charset="0"/>
              </a:rPr>
              <a:t>conflicting and unnecessary features </a:t>
            </a:r>
            <a:r>
              <a:rPr lang="en-US" sz="1600" dirty="0">
                <a:latin typeface="Times New Roman" panose="02020603050405020304" pitchFamily="18" charset="0"/>
              </a:rPr>
              <a:t>from our dataset by the process known as feature selection methods or feature selection techniques.</a:t>
            </a:r>
          </a:p>
          <a:p>
            <a:pPr marL="0" indent="0">
              <a:buNone/>
            </a:pPr>
            <a:endParaRPr lang="en-IN" sz="800" dirty="0"/>
          </a:p>
        </p:txBody>
      </p:sp>
    </p:spTree>
    <p:extLst>
      <p:ext uri="{BB962C8B-B14F-4D97-AF65-F5344CB8AC3E}">
        <p14:creationId xmlns:p14="http://schemas.microsoft.com/office/powerpoint/2010/main" val="3002410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51986-A47F-4609-AE7B-5BDD4A1507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51EC04-1837-4860-875F-1874CF0F8C90}"/>
              </a:ext>
            </a:extLst>
          </p:cNvPr>
          <p:cNvSpPr>
            <a:spLocks noGrp="1"/>
          </p:cNvSpPr>
          <p:nvPr>
            <p:ph idx="1"/>
          </p:nvPr>
        </p:nvSpPr>
        <p:spPr/>
        <p:txBody>
          <a:bodyPr>
            <a:normAutofit lnSpcReduction="10000"/>
          </a:bodyPr>
          <a:lstStyle/>
          <a:p>
            <a:pPr algn="just"/>
            <a:r>
              <a:rPr lang="en-US" sz="2400" dirty="0">
                <a:latin typeface="Times New Roman" panose="02020603050405020304" pitchFamily="18" charset="0"/>
              </a:rPr>
              <a:t>Machine Learning in general works wonders when the dataset provided for </a:t>
            </a:r>
            <a:r>
              <a:rPr lang="en-US" sz="2400" u="sng" dirty="0">
                <a:latin typeface="Times New Roman" panose="02020603050405020304" pitchFamily="18" charset="0"/>
              </a:rPr>
              <a:t>training</a:t>
            </a:r>
            <a:r>
              <a:rPr lang="en-US" sz="2400" dirty="0">
                <a:latin typeface="Times New Roman" panose="02020603050405020304" pitchFamily="18" charset="0"/>
              </a:rPr>
              <a:t> the machine is </a:t>
            </a:r>
            <a:r>
              <a:rPr lang="en-US" sz="2400" u="sng" dirty="0">
                <a:latin typeface="Times New Roman" panose="02020603050405020304" pitchFamily="18" charset="0"/>
              </a:rPr>
              <a:t>large</a:t>
            </a:r>
            <a:r>
              <a:rPr lang="en-US" sz="2400" dirty="0">
                <a:latin typeface="Times New Roman" panose="02020603050405020304" pitchFamily="18" charset="0"/>
              </a:rPr>
              <a:t> and concise. Usually having a good amount of data lets us build a better predictive model since we have more data to train the machine with. </a:t>
            </a:r>
            <a:r>
              <a:rPr lang="en-US" sz="2400" u="sng" dirty="0">
                <a:latin typeface="Times New Roman" panose="02020603050405020304" pitchFamily="18" charset="0"/>
              </a:rPr>
              <a:t>However, using a large data set has its own pitfalls. The biggest pitfall is the curse of dimensionality.</a:t>
            </a:r>
          </a:p>
          <a:p>
            <a:pPr algn="just"/>
            <a:r>
              <a:rPr lang="en-US" sz="2400" dirty="0">
                <a:latin typeface="Times New Roman" panose="02020603050405020304" pitchFamily="18" charset="0"/>
              </a:rPr>
              <a:t>It turns out that in </a:t>
            </a:r>
            <a:r>
              <a:rPr lang="en-US" sz="2400" u="sng" dirty="0">
                <a:latin typeface="Times New Roman" panose="02020603050405020304" pitchFamily="18" charset="0"/>
              </a:rPr>
              <a:t>large dimensional datasets</a:t>
            </a:r>
            <a:r>
              <a:rPr lang="en-US" sz="2400" dirty="0">
                <a:latin typeface="Times New Roman" panose="02020603050405020304" pitchFamily="18" charset="0"/>
              </a:rPr>
              <a:t>, there might be lots of </a:t>
            </a:r>
            <a:r>
              <a:rPr lang="en-US" sz="2400" u="sng" dirty="0">
                <a:latin typeface="Times New Roman" panose="02020603050405020304" pitchFamily="18" charset="0"/>
              </a:rPr>
              <a:t>inconsistencies </a:t>
            </a:r>
            <a:r>
              <a:rPr lang="en-US" sz="2400" dirty="0">
                <a:latin typeface="Times New Roman" panose="02020603050405020304" pitchFamily="18" charset="0"/>
              </a:rPr>
              <a:t>in the features or lots of </a:t>
            </a:r>
            <a:r>
              <a:rPr lang="en-US" sz="2400" u="sng" dirty="0">
                <a:latin typeface="Times New Roman" panose="02020603050405020304" pitchFamily="18" charset="0"/>
              </a:rPr>
              <a:t>redundant features </a:t>
            </a:r>
            <a:r>
              <a:rPr lang="en-US" sz="2400" dirty="0">
                <a:latin typeface="Times New Roman" panose="02020603050405020304" pitchFamily="18" charset="0"/>
              </a:rPr>
              <a:t>in the dataset, which will only increase the </a:t>
            </a:r>
            <a:r>
              <a:rPr lang="en-US" sz="2400" u="sng" dirty="0">
                <a:latin typeface="Times New Roman" panose="02020603050405020304" pitchFamily="18" charset="0"/>
              </a:rPr>
              <a:t>computation time</a:t>
            </a:r>
            <a:r>
              <a:rPr lang="en-US" sz="2400" dirty="0">
                <a:latin typeface="Times New Roman" panose="02020603050405020304" pitchFamily="18" charset="0"/>
              </a:rPr>
              <a:t> and make data processing and EDA more convoluted.</a:t>
            </a:r>
          </a:p>
          <a:p>
            <a:pPr algn="just"/>
            <a:r>
              <a:rPr lang="en-US" sz="2400" dirty="0">
                <a:latin typeface="Times New Roman" panose="02020603050405020304" pitchFamily="18" charset="0"/>
              </a:rPr>
              <a:t>To get rid of the curse of dimensionality, a process called </a:t>
            </a:r>
            <a:r>
              <a:rPr lang="en-US" sz="2400" u="sng" dirty="0">
                <a:latin typeface="Times New Roman" panose="02020603050405020304" pitchFamily="18" charset="0"/>
              </a:rPr>
              <a:t>dimensionality reduction </a:t>
            </a:r>
            <a:r>
              <a:rPr lang="en-US" sz="2400" dirty="0">
                <a:latin typeface="Times New Roman" panose="02020603050405020304" pitchFamily="18" charset="0"/>
              </a:rPr>
              <a:t>was introduced. Dimensionality reduction techniques can be used to filter only a limited number of significant features needed for training and this is where PCA comes in.</a:t>
            </a:r>
          </a:p>
          <a:p>
            <a:endParaRPr lang="en-IN" dirty="0"/>
          </a:p>
        </p:txBody>
      </p:sp>
    </p:spTree>
    <p:extLst>
      <p:ext uri="{BB962C8B-B14F-4D97-AF65-F5344CB8AC3E}">
        <p14:creationId xmlns:p14="http://schemas.microsoft.com/office/powerpoint/2010/main" val="15370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B35E-CB62-4380-A3B7-839930E4BC5E}"/>
              </a:ext>
            </a:extLst>
          </p:cNvPr>
          <p:cNvSpPr>
            <a:spLocks noGrp="1"/>
          </p:cNvSpPr>
          <p:nvPr>
            <p:ph type="title"/>
          </p:nvPr>
        </p:nvSpPr>
        <p:spPr/>
        <p:txBody>
          <a:bodyPr/>
          <a:lstStyle/>
          <a:p>
            <a:pPr marL="12700" algn="ctr">
              <a:lnSpc>
                <a:spcPct val="100000"/>
              </a:lnSpc>
              <a:spcBef>
                <a:spcPts val="105"/>
              </a:spcBef>
            </a:pPr>
            <a:r>
              <a:rPr lang="en-US" sz="2800" b="1" spc="-5" dirty="0">
                <a:solidFill>
                  <a:srgbClr val="3333FF"/>
                </a:solidFill>
                <a:latin typeface="Carlito"/>
              </a:rPr>
              <a:t>Curse of Dimensionality</a:t>
            </a:r>
            <a:endParaRPr lang="en-IN" sz="2800" b="1" spc="-5" dirty="0">
              <a:solidFill>
                <a:srgbClr val="3333FF"/>
              </a:solidFill>
              <a:latin typeface="Carlito"/>
            </a:endParaRPr>
          </a:p>
        </p:txBody>
      </p:sp>
      <p:pic>
        <p:nvPicPr>
          <p:cNvPr id="1026" name="Picture 2" descr="The Curse of Dimensionality in Classification">
            <a:extLst>
              <a:ext uri="{FF2B5EF4-FFF2-40B4-BE49-F238E27FC236}">
                <a16:creationId xmlns:a16="http://schemas.microsoft.com/office/drawing/2014/main" id="{7956AEFF-51BF-445B-9108-9DF6C5513F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2986" y="1188089"/>
            <a:ext cx="6696075" cy="42802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F761A1-0658-4AEA-B6E6-F1EF66CAD50E}"/>
              </a:ext>
            </a:extLst>
          </p:cNvPr>
          <p:cNvSpPr txBox="1"/>
          <p:nvPr/>
        </p:nvSpPr>
        <p:spPr>
          <a:xfrm>
            <a:off x="838200" y="5584054"/>
            <a:ext cx="9690717" cy="923330"/>
          </a:xfrm>
          <a:prstGeom prst="rect">
            <a:avLst/>
          </a:prstGeom>
          <a:noFill/>
        </p:spPr>
        <p:txBody>
          <a:bodyPr wrap="square" rtlCol="0">
            <a:spAutoFit/>
          </a:bodyPr>
          <a:lstStyle/>
          <a:p>
            <a:r>
              <a:rPr lang="en-US" sz="1800" spc="-20" dirty="0">
                <a:effectLst/>
                <a:latin typeface="Times New Roman" panose="02020603050405020304" pitchFamily="18" charset="0"/>
                <a:ea typeface="Times New Roman" panose="02020603050405020304" pitchFamily="18" charset="0"/>
              </a:rPr>
              <a:t>As </a:t>
            </a:r>
            <a:r>
              <a:rPr lang="en-US" sz="1800" dirty="0">
                <a:effectLst/>
                <a:latin typeface="Times New Roman" panose="02020603050405020304" pitchFamily="18" charset="0"/>
                <a:ea typeface="Times New Roman" panose="02020603050405020304" pitchFamily="18" charset="0"/>
              </a:rPr>
              <a:t>you keep the number of training examples fixed and the training set is not extremely large then typically what may happen is that, when you increase the number of features initially the classifier performance may go up and then the classifier performance may be degradation. </a:t>
            </a:r>
            <a:endParaRPr lang="en-IN" dirty="0"/>
          </a:p>
        </p:txBody>
      </p:sp>
    </p:spTree>
    <p:extLst>
      <p:ext uri="{BB962C8B-B14F-4D97-AF65-F5344CB8AC3E}">
        <p14:creationId xmlns:p14="http://schemas.microsoft.com/office/powerpoint/2010/main" val="1946722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5146-585A-4029-835D-566E33F41B61}"/>
              </a:ext>
            </a:extLst>
          </p:cNvPr>
          <p:cNvSpPr>
            <a:spLocks noGrp="1"/>
          </p:cNvSpPr>
          <p:nvPr>
            <p:ph type="title"/>
          </p:nvPr>
        </p:nvSpPr>
        <p:spPr/>
        <p:txBody>
          <a:bodyPr/>
          <a:lstStyle/>
          <a:p>
            <a:pPr marL="12700" algn="ctr">
              <a:lnSpc>
                <a:spcPct val="100000"/>
              </a:lnSpc>
              <a:spcBef>
                <a:spcPts val="105"/>
              </a:spcBef>
            </a:pPr>
            <a:r>
              <a:rPr lang="en-US" sz="2800" b="1" spc="-5" dirty="0">
                <a:solidFill>
                  <a:srgbClr val="3333FF"/>
                </a:solidFill>
                <a:latin typeface="Carlito"/>
              </a:rPr>
              <a:t>Why all features may not be important in our model</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54E4D706-D7C3-4CDA-B6D8-FE924F336633}"/>
              </a:ext>
            </a:extLst>
          </p:cNvPr>
          <p:cNvSpPr>
            <a:spLocks noGrp="1"/>
          </p:cNvSpPr>
          <p:nvPr>
            <p:ph idx="1"/>
          </p:nvPr>
        </p:nvSpPr>
        <p:spPr/>
        <p:txBody>
          <a:bodyPr/>
          <a:lstStyle/>
          <a:p>
            <a:pPr algn="just"/>
            <a:r>
              <a:rPr lang="en-US" sz="2400" dirty="0">
                <a:latin typeface="Times New Roman" panose="02020603050405020304" pitchFamily="18" charset="0"/>
              </a:rPr>
              <a:t>Features can be </a:t>
            </a:r>
            <a:r>
              <a:rPr lang="en-US" sz="2400" dirty="0">
                <a:solidFill>
                  <a:srgbClr val="C00000"/>
                </a:solidFill>
                <a:latin typeface="Times New Roman" panose="02020603050405020304" pitchFamily="18" charset="0"/>
              </a:rPr>
              <a:t>irrelevant</a:t>
            </a:r>
            <a:r>
              <a:rPr lang="en-US" sz="2400" dirty="0">
                <a:latin typeface="Times New Roman" panose="02020603050405020304" pitchFamily="18" charset="0"/>
              </a:rPr>
              <a:t> and can </a:t>
            </a:r>
            <a:r>
              <a:rPr lang="en-US" sz="2400" dirty="0">
                <a:solidFill>
                  <a:srgbClr val="C00000"/>
                </a:solidFill>
                <a:latin typeface="Times New Roman" panose="02020603050405020304" pitchFamily="18" charset="0"/>
              </a:rPr>
              <a:t>induce noise.</a:t>
            </a:r>
          </a:p>
          <a:p>
            <a:pPr algn="just"/>
            <a:r>
              <a:rPr lang="en-US" sz="2400" dirty="0">
                <a:latin typeface="Times New Roman" panose="02020603050405020304" pitchFamily="18" charset="0"/>
              </a:rPr>
              <a:t>Some features are </a:t>
            </a:r>
            <a:r>
              <a:rPr lang="en-US" sz="2400" dirty="0">
                <a:solidFill>
                  <a:srgbClr val="C00000"/>
                </a:solidFill>
                <a:latin typeface="Times New Roman" panose="02020603050405020304" pitchFamily="18" charset="0"/>
              </a:rPr>
              <a:t>redundant</a:t>
            </a:r>
            <a:r>
              <a:rPr lang="en-US" sz="2400" dirty="0">
                <a:latin typeface="Times New Roman" panose="02020603050405020304" pitchFamily="18" charset="0"/>
              </a:rPr>
              <a:t>. If you have a fixed number of training examples and redundant features which do not contribute additional information they may lead to degradation in performance of the learning algorithm. </a:t>
            </a:r>
          </a:p>
          <a:p>
            <a:pPr algn="just"/>
            <a:r>
              <a:rPr lang="en-US" sz="2400" dirty="0">
                <a:effectLst/>
                <a:latin typeface="Times New Roman" panose="02020603050405020304" pitchFamily="18" charset="0"/>
                <a:ea typeface="Times New Roman" panose="02020603050405020304" pitchFamily="18" charset="0"/>
              </a:rPr>
              <a:t>So, these things contribute to phenomena which we call the </a:t>
            </a:r>
            <a:r>
              <a:rPr lang="en-US" sz="2400" dirty="0">
                <a:solidFill>
                  <a:srgbClr val="FF0000"/>
                </a:solidFill>
                <a:effectLst/>
                <a:latin typeface="Times New Roman" panose="02020603050405020304" pitchFamily="18" charset="0"/>
                <a:ea typeface="Times New Roman" panose="02020603050405020304" pitchFamily="18" charset="0"/>
              </a:rPr>
              <a:t>curse of </a:t>
            </a:r>
            <a:r>
              <a:rPr lang="en-US" sz="2400" dirty="0">
                <a:solidFill>
                  <a:srgbClr val="C00000"/>
                </a:solidFill>
                <a:latin typeface="Times New Roman" panose="02020603050405020304" pitchFamily="18" charset="0"/>
              </a:rPr>
              <a:t>dimensionality. </a:t>
            </a:r>
            <a:r>
              <a:rPr lang="en-US" sz="2400" dirty="0">
                <a:effectLst/>
                <a:latin typeface="Times New Roman" panose="02020603050405020304" pitchFamily="18" charset="0"/>
                <a:ea typeface="Times New Roman" panose="02020603050405020304" pitchFamily="18" charset="0"/>
              </a:rPr>
              <a:t>When you have too many features, too many dimensions this will lead to the </a:t>
            </a:r>
            <a:r>
              <a:rPr lang="en-US" sz="2400" dirty="0">
                <a:solidFill>
                  <a:srgbClr val="C00000"/>
                </a:solidFill>
                <a:effectLst/>
                <a:latin typeface="Times New Roman" panose="02020603050405020304" pitchFamily="18" charset="0"/>
                <a:ea typeface="Times New Roman" panose="02020603050405020304" pitchFamily="18" charset="0"/>
              </a:rPr>
              <a:t>degradation of the learning algorithm</a:t>
            </a:r>
            <a:r>
              <a:rPr lang="en-US" sz="2400" dirty="0">
                <a:effectLst/>
                <a:latin typeface="Times New Roman" panose="02020603050405020304" pitchFamily="18" charset="0"/>
                <a:ea typeface="Times New Roman" panose="02020603050405020304" pitchFamily="18" charset="0"/>
              </a:rPr>
              <a:t>, more computational time and this phenomena is called the Curse of Dimensionality. To overcome this curse of dimensionality we </a:t>
            </a:r>
            <a:r>
              <a:rPr lang="en-US" sz="2400" dirty="0">
                <a:latin typeface="Times New Roman" panose="02020603050405020304" pitchFamily="18" charset="0"/>
                <a:ea typeface="Times New Roman" panose="02020603050405020304" pitchFamily="18" charset="0"/>
              </a:rPr>
              <a:t>should do dimensionality reduction.</a:t>
            </a:r>
            <a:endParaRPr lang="en-IN" sz="2400" dirty="0">
              <a:effectLst/>
              <a:latin typeface="Times New Roman" panose="02020603050405020304" pitchFamily="18" charset="0"/>
              <a:ea typeface="Times New Roman" panose="02020603050405020304" pitchFamily="18" charset="0"/>
            </a:endParaRPr>
          </a:p>
          <a:p>
            <a:endParaRPr lang="en-IN" sz="1800" dirty="0">
              <a:latin typeface="Times New Roman" panose="02020603050405020304" pitchFamily="18" charset="0"/>
            </a:endParaRPr>
          </a:p>
        </p:txBody>
      </p:sp>
    </p:spTree>
    <p:extLst>
      <p:ext uri="{BB962C8B-B14F-4D97-AF65-F5344CB8AC3E}">
        <p14:creationId xmlns:p14="http://schemas.microsoft.com/office/powerpoint/2010/main" val="1858635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F745C-683E-406B-B244-92AA22125E1B}"/>
              </a:ext>
            </a:extLst>
          </p:cNvPr>
          <p:cNvSpPr>
            <a:spLocks noGrp="1"/>
          </p:cNvSpPr>
          <p:nvPr>
            <p:ph type="title"/>
          </p:nvPr>
        </p:nvSpPr>
        <p:spPr/>
        <p:txBody>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spc="-5" dirty="0">
                <a:solidFill>
                  <a:srgbClr val="3333FF"/>
                </a:solidFill>
                <a:latin typeface="Carlito"/>
              </a:rPr>
              <a:t>Reducing the dimensions</a:t>
            </a:r>
            <a:endParaRPr lang="en-IN" sz="4000" b="1" spc="-5" dirty="0">
              <a:solidFill>
                <a:srgbClr val="3333FF"/>
              </a:solidFill>
              <a:latin typeface="Carlito"/>
            </a:endParaRPr>
          </a:p>
        </p:txBody>
      </p:sp>
      <p:pic>
        <p:nvPicPr>
          <p:cNvPr id="5" name="Content Placeholder 4">
            <a:extLst>
              <a:ext uri="{FF2B5EF4-FFF2-40B4-BE49-F238E27FC236}">
                <a16:creationId xmlns:a16="http://schemas.microsoft.com/office/drawing/2014/main" id="{55DCDC35-E7C5-4AEC-A6AA-41B240D30A8F}"/>
              </a:ext>
            </a:extLst>
          </p:cNvPr>
          <p:cNvPicPr>
            <a:picLocks noGrp="1" noChangeAspect="1"/>
          </p:cNvPicPr>
          <p:nvPr>
            <p:ph idx="1"/>
          </p:nvPr>
        </p:nvPicPr>
        <p:blipFill>
          <a:blip r:embed="rId2"/>
          <a:stretch>
            <a:fillRect/>
          </a:stretch>
        </p:blipFill>
        <p:spPr>
          <a:xfrm>
            <a:off x="500062" y="2029618"/>
            <a:ext cx="11686777" cy="3959702"/>
          </a:xfrm>
        </p:spPr>
      </p:pic>
    </p:spTree>
    <p:extLst>
      <p:ext uri="{BB962C8B-B14F-4D97-AF65-F5344CB8AC3E}">
        <p14:creationId xmlns:p14="http://schemas.microsoft.com/office/powerpoint/2010/main" val="2988995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D3A0B-7A30-4792-B2F5-01197B7AEC0C}"/>
              </a:ext>
            </a:extLst>
          </p:cNvPr>
          <p:cNvSpPr>
            <a:spLocks noGrp="1"/>
          </p:cNvSpPr>
          <p:nvPr>
            <p:ph type="title"/>
          </p:nvPr>
        </p:nvSpPr>
        <p:spPr/>
        <p:txBody>
          <a:bodyPr/>
          <a:lstStyle/>
          <a:p>
            <a:r>
              <a:rPr lang="en-US" sz="2800" b="1" spc="-5" dirty="0">
                <a:solidFill>
                  <a:srgbClr val="3333FF"/>
                </a:solidFill>
                <a:latin typeface="Carlito"/>
              </a:rPr>
              <a:t>Predict if a library book can be donated</a:t>
            </a:r>
            <a:endParaRPr lang="en-IN" sz="2800" b="1" spc="-5" dirty="0">
              <a:solidFill>
                <a:srgbClr val="3333FF"/>
              </a:solidFill>
              <a:latin typeface="Carlito"/>
            </a:endParaRPr>
          </a:p>
        </p:txBody>
      </p:sp>
      <p:pic>
        <p:nvPicPr>
          <p:cNvPr id="5" name="Content Placeholder 4">
            <a:extLst>
              <a:ext uri="{FF2B5EF4-FFF2-40B4-BE49-F238E27FC236}">
                <a16:creationId xmlns:a16="http://schemas.microsoft.com/office/drawing/2014/main" id="{1E3A23FD-C9C4-4726-A148-840018664AB1}"/>
              </a:ext>
            </a:extLst>
          </p:cNvPr>
          <p:cNvPicPr>
            <a:picLocks noGrp="1" noChangeAspect="1"/>
          </p:cNvPicPr>
          <p:nvPr>
            <p:ph idx="1"/>
          </p:nvPr>
        </p:nvPicPr>
        <p:blipFill>
          <a:blip r:embed="rId3"/>
          <a:stretch>
            <a:fillRect/>
          </a:stretch>
        </p:blipFill>
        <p:spPr>
          <a:xfrm>
            <a:off x="1490662" y="1843881"/>
            <a:ext cx="9210675" cy="4314825"/>
          </a:xfrm>
        </p:spPr>
      </p:pic>
    </p:spTree>
    <p:extLst>
      <p:ext uri="{BB962C8B-B14F-4D97-AF65-F5344CB8AC3E}">
        <p14:creationId xmlns:p14="http://schemas.microsoft.com/office/powerpoint/2010/main" val="645776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E0604-EE05-49A0-8667-E2090487DFD1}"/>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AE55D3F8-3F99-4E8F-90BD-543AF960C783}"/>
              </a:ext>
            </a:extLst>
          </p:cNvPr>
          <p:cNvPicPr>
            <a:picLocks noGrp="1" noChangeAspect="1"/>
          </p:cNvPicPr>
          <p:nvPr>
            <p:ph idx="1"/>
          </p:nvPr>
        </p:nvPicPr>
        <p:blipFill>
          <a:blip r:embed="rId3"/>
          <a:stretch>
            <a:fillRect/>
          </a:stretch>
        </p:blipFill>
        <p:spPr>
          <a:xfrm>
            <a:off x="1692574" y="1825625"/>
            <a:ext cx="8806851" cy="4351338"/>
          </a:xfrm>
        </p:spPr>
      </p:pic>
    </p:spTree>
    <p:extLst>
      <p:ext uri="{BB962C8B-B14F-4D97-AF65-F5344CB8AC3E}">
        <p14:creationId xmlns:p14="http://schemas.microsoft.com/office/powerpoint/2010/main" val="1202646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3EED-FA5B-414F-9C01-95098140E80A}"/>
              </a:ext>
            </a:extLst>
          </p:cNvPr>
          <p:cNvSpPr>
            <a:spLocks noGrp="1"/>
          </p:cNvSpPr>
          <p:nvPr>
            <p:ph type="title"/>
          </p:nvPr>
        </p:nvSpPr>
        <p:spPr/>
        <p:txBody>
          <a:bodyPr/>
          <a:lstStyle/>
          <a:p>
            <a:r>
              <a:rPr lang="en-US" sz="2800" b="1" spc="-5" dirty="0">
                <a:solidFill>
                  <a:srgbClr val="3333FF"/>
                </a:solidFill>
                <a:latin typeface="Carlito"/>
              </a:rPr>
              <a:t>Predicting if you will give loan to a customer or not</a:t>
            </a:r>
            <a:endParaRPr lang="en-IN" sz="2800" b="1" spc="-5" dirty="0">
              <a:solidFill>
                <a:srgbClr val="3333FF"/>
              </a:solidFill>
              <a:latin typeface="Carlito"/>
            </a:endParaRPr>
          </a:p>
        </p:txBody>
      </p:sp>
      <p:pic>
        <p:nvPicPr>
          <p:cNvPr id="5" name="Content Placeholder 4">
            <a:extLst>
              <a:ext uri="{FF2B5EF4-FFF2-40B4-BE49-F238E27FC236}">
                <a16:creationId xmlns:a16="http://schemas.microsoft.com/office/drawing/2014/main" id="{E177A454-2B40-4089-B876-D97128B2739B}"/>
              </a:ext>
            </a:extLst>
          </p:cNvPr>
          <p:cNvPicPr>
            <a:picLocks noGrp="1" noChangeAspect="1"/>
          </p:cNvPicPr>
          <p:nvPr>
            <p:ph idx="1"/>
          </p:nvPr>
        </p:nvPicPr>
        <p:blipFill>
          <a:blip r:embed="rId2"/>
          <a:stretch>
            <a:fillRect/>
          </a:stretch>
        </p:blipFill>
        <p:spPr>
          <a:xfrm>
            <a:off x="1781175" y="2182019"/>
            <a:ext cx="8629650" cy="3638550"/>
          </a:xfrm>
        </p:spPr>
      </p:pic>
      <p:sp>
        <p:nvSpPr>
          <p:cNvPr id="6" name="TextBox 5">
            <a:extLst>
              <a:ext uri="{FF2B5EF4-FFF2-40B4-BE49-F238E27FC236}">
                <a16:creationId xmlns:a16="http://schemas.microsoft.com/office/drawing/2014/main" id="{797FE1D7-0E37-4242-AD5C-06BE96419B27}"/>
              </a:ext>
            </a:extLst>
          </p:cNvPr>
          <p:cNvSpPr txBox="1"/>
          <p:nvPr/>
        </p:nvSpPr>
        <p:spPr>
          <a:xfrm>
            <a:off x="3508513" y="6172200"/>
            <a:ext cx="6202017" cy="369332"/>
          </a:xfrm>
          <a:prstGeom prst="rect">
            <a:avLst/>
          </a:prstGeom>
          <a:noFill/>
        </p:spPr>
        <p:txBody>
          <a:bodyPr wrap="square" rtlCol="0">
            <a:spAutoFit/>
          </a:bodyPr>
          <a:lstStyle/>
          <a:p>
            <a:r>
              <a:rPr lang="en-US" dirty="0"/>
              <a:t>Here favorite color is irrelevant for predicting the loan</a:t>
            </a:r>
            <a:endParaRPr lang="en-IN" dirty="0"/>
          </a:p>
        </p:txBody>
      </p:sp>
    </p:spTree>
    <p:extLst>
      <p:ext uri="{BB962C8B-B14F-4D97-AF65-F5344CB8AC3E}">
        <p14:creationId xmlns:p14="http://schemas.microsoft.com/office/powerpoint/2010/main" val="3176462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D6E0A-1B92-41E5-85B0-4EFAB4B2469D}"/>
              </a:ext>
            </a:extLst>
          </p:cNvPr>
          <p:cNvSpPr>
            <a:spLocks noGrp="1"/>
          </p:cNvSpPr>
          <p:nvPr>
            <p:ph type="title"/>
          </p:nvPr>
        </p:nvSpPr>
        <p:spPr/>
        <p:txBody>
          <a:bodyPr/>
          <a:lstStyle/>
          <a:p>
            <a:r>
              <a:rPr lang="en-IN" sz="2800" b="1" spc="-5" dirty="0">
                <a:solidFill>
                  <a:srgbClr val="3333FF"/>
                </a:solidFill>
                <a:latin typeface="Carlito"/>
              </a:rPr>
              <a:t>Dimensionality reduction </a:t>
            </a:r>
          </a:p>
        </p:txBody>
      </p:sp>
      <p:sp>
        <p:nvSpPr>
          <p:cNvPr id="3" name="Content Placeholder 2">
            <a:extLst>
              <a:ext uri="{FF2B5EF4-FFF2-40B4-BE49-F238E27FC236}">
                <a16:creationId xmlns:a16="http://schemas.microsoft.com/office/drawing/2014/main" id="{397981D3-3080-4A03-B4D5-1DFCF71852D4}"/>
              </a:ext>
            </a:extLst>
          </p:cNvPr>
          <p:cNvSpPr>
            <a:spLocks noGrp="1"/>
          </p:cNvSpPr>
          <p:nvPr>
            <p:ph idx="1"/>
          </p:nvPr>
        </p:nvSpPr>
        <p:spPr/>
        <p:txBody>
          <a:bodyPr/>
          <a:lstStyle/>
          <a:p>
            <a:pPr>
              <a:lnSpc>
                <a:spcPct val="150000"/>
              </a:lnSpc>
            </a:pPr>
            <a:r>
              <a:rPr lang="en-US" dirty="0"/>
              <a:t>Dimensionality reduction transforms the features into a lower dimension. It reduces the number of attributes by creating new combinations of attributes.</a:t>
            </a:r>
          </a:p>
          <a:p>
            <a:endParaRPr lang="en-IN" dirty="0"/>
          </a:p>
        </p:txBody>
      </p:sp>
    </p:spTree>
    <p:extLst>
      <p:ext uri="{BB962C8B-B14F-4D97-AF65-F5344CB8AC3E}">
        <p14:creationId xmlns:p14="http://schemas.microsoft.com/office/powerpoint/2010/main" val="2366470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FF5C2-9B3C-4DCA-88A7-59D30FDEB692}"/>
              </a:ext>
            </a:extLst>
          </p:cNvPr>
          <p:cNvSpPr>
            <a:spLocks noGrp="1"/>
          </p:cNvSpPr>
          <p:nvPr>
            <p:ph type="title"/>
          </p:nvPr>
        </p:nvSpPr>
        <p:spPr/>
        <p:txBody>
          <a:bodyPr/>
          <a:lstStyle/>
          <a:p>
            <a:r>
              <a:rPr lang="en-US" sz="2800" b="1" spc="-5" dirty="0">
                <a:solidFill>
                  <a:srgbClr val="3333FF"/>
                </a:solidFill>
                <a:latin typeface="Carlito"/>
              </a:rPr>
              <a:t>Advantages of reducing dimensionality</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404B4911-FB37-4DCA-BB6B-58D84651D2BD}"/>
              </a:ext>
            </a:extLst>
          </p:cNvPr>
          <p:cNvSpPr>
            <a:spLocks noGrp="1"/>
          </p:cNvSpPr>
          <p:nvPr>
            <p:ph idx="1"/>
          </p:nvPr>
        </p:nvSpPr>
        <p:spPr/>
        <p:txBody>
          <a:bodyPr/>
          <a:lstStyle/>
          <a:p>
            <a:r>
              <a:rPr lang="en-US" dirty="0"/>
              <a:t>The dataset will be less complex.</a:t>
            </a:r>
          </a:p>
          <a:p>
            <a:r>
              <a:rPr lang="en-US" dirty="0"/>
              <a:t>Requires less disk space.</a:t>
            </a:r>
          </a:p>
          <a:p>
            <a:r>
              <a:rPr lang="en-US" dirty="0"/>
              <a:t>Require less computation time</a:t>
            </a:r>
          </a:p>
          <a:p>
            <a:r>
              <a:rPr lang="en-US" dirty="0"/>
              <a:t>Have low chance of model overfitting.</a:t>
            </a:r>
            <a:endParaRPr lang="en-IN" dirty="0"/>
          </a:p>
        </p:txBody>
      </p:sp>
    </p:spTree>
    <p:extLst>
      <p:ext uri="{BB962C8B-B14F-4D97-AF65-F5344CB8AC3E}">
        <p14:creationId xmlns:p14="http://schemas.microsoft.com/office/powerpoint/2010/main" val="1201457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D852F70C-8935-4162-8EC8-7466DF4E30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00"/>
              </a:buClr>
              <a:buChar char="•"/>
              <a:defRPr sz="2800">
                <a:solidFill>
                  <a:schemeClr val="bg2"/>
                </a:solidFill>
                <a:latin typeface="Arial" panose="020B0604020202020204" pitchFamily="34" charset="0"/>
              </a:defRPr>
            </a:lvl1pPr>
            <a:lvl2pPr marL="742950" indent="-285750">
              <a:spcBef>
                <a:spcPct val="20000"/>
              </a:spcBef>
              <a:buClr>
                <a:srgbClr val="000000"/>
              </a:buClr>
              <a:buFont typeface="Arial" panose="020B0604020202020204" pitchFamily="34" charset="0"/>
              <a:buChar char="−"/>
              <a:defRPr sz="2400">
                <a:solidFill>
                  <a:schemeClr val="bg2"/>
                </a:solidFill>
                <a:latin typeface="Arial" panose="020B0604020202020204" pitchFamily="34" charset="0"/>
              </a:defRPr>
            </a:lvl2pPr>
            <a:lvl3pPr marL="1143000" indent="-228600">
              <a:spcBef>
                <a:spcPct val="20000"/>
              </a:spcBef>
              <a:buClr>
                <a:srgbClr val="000000"/>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a:solidFill>
                  <a:schemeClr val="bg2"/>
                </a:solidFill>
                <a:latin typeface="Arial" panose="020B0604020202020204" pitchFamily="34" charset="0"/>
              </a:defRPr>
            </a:lvl9pPr>
          </a:lstStyle>
          <a:p>
            <a:pPr>
              <a:spcBef>
                <a:spcPct val="0"/>
              </a:spcBef>
              <a:buClrTx/>
              <a:buFontTx/>
              <a:buNone/>
            </a:pPr>
            <a:fld id="{3C2DE2E8-37E2-409F-A982-398F8CC2823C}" type="slidenum">
              <a:rPr lang="en-US" altLang="en-US" sz="1200">
                <a:solidFill>
                  <a:srgbClr val="000000"/>
                </a:solidFill>
              </a:rPr>
              <a:pPr>
                <a:spcBef>
                  <a:spcPct val="0"/>
                </a:spcBef>
                <a:buClrTx/>
                <a:buFontTx/>
                <a:buNone/>
              </a:pPr>
              <a:t>18</a:t>
            </a:fld>
            <a:endParaRPr lang="en-US" altLang="en-US" sz="1200">
              <a:solidFill>
                <a:srgbClr val="000000"/>
              </a:solidFill>
            </a:endParaRPr>
          </a:p>
        </p:txBody>
      </p:sp>
      <p:sp>
        <p:nvSpPr>
          <p:cNvPr id="12291" name="Rectangle 2">
            <a:extLst>
              <a:ext uri="{FF2B5EF4-FFF2-40B4-BE49-F238E27FC236}">
                <a16:creationId xmlns:a16="http://schemas.microsoft.com/office/drawing/2014/main" id="{052DCA72-B2F6-4AA4-9859-5BF113DF8230}"/>
              </a:ext>
            </a:extLst>
          </p:cNvPr>
          <p:cNvSpPr>
            <a:spLocks noGrp="1" noChangeArrowheads="1"/>
          </p:cNvSpPr>
          <p:nvPr>
            <p:ph type="title"/>
          </p:nvPr>
        </p:nvSpPr>
        <p:spPr/>
        <p:txBody>
          <a:bodyPr>
            <a:normAutofit/>
          </a:bodyPr>
          <a:lstStyle/>
          <a:p>
            <a:pPr eaLnBrk="1" hangingPunct="1"/>
            <a:r>
              <a:rPr lang="en-US" altLang="en-US" sz="2800" b="1" spc="-5" dirty="0">
                <a:solidFill>
                  <a:srgbClr val="3333FF"/>
                </a:solidFill>
                <a:latin typeface="Carlito"/>
              </a:rPr>
              <a:t>Dimensionality Reduction</a:t>
            </a:r>
          </a:p>
        </p:txBody>
      </p:sp>
      <p:sp>
        <p:nvSpPr>
          <p:cNvPr id="12292" name="Content Placeholder 1">
            <a:extLst>
              <a:ext uri="{FF2B5EF4-FFF2-40B4-BE49-F238E27FC236}">
                <a16:creationId xmlns:a16="http://schemas.microsoft.com/office/drawing/2014/main" id="{4E8CFD7A-C2EF-4F5B-B470-212E70367AAD}"/>
              </a:ext>
            </a:extLst>
          </p:cNvPr>
          <p:cNvSpPr>
            <a:spLocks noGrp="1"/>
          </p:cNvSpPr>
          <p:nvPr>
            <p:ph idx="1"/>
          </p:nvPr>
        </p:nvSpPr>
        <p:spPr/>
        <p:txBody>
          <a:bodyPr>
            <a:normAutofit/>
          </a:bodyPr>
          <a:lstStyle/>
          <a:p>
            <a:pPr>
              <a:defRPr/>
            </a:pPr>
            <a:r>
              <a:rPr lang="en-US" altLang="en-US" dirty="0"/>
              <a:t>What is the objective?</a:t>
            </a:r>
          </a:p>
          <a:p>
            <a:pPr lvl="1">
              <a:defRPr/>
            </a:pPr>
            <a:r>
              <a:rPr lang="en-US" altLang="en-US" dirty="0"/>
              <a:t>Choose an optimum set of features of lower dimensionality to </a:t>
            </a:r>
            <a:r>
              <a:rPr lang="en-US" altLang="en-US" dirty="0">
                <a:solidFill>
                  <a:srgbClr val="FF0000"/>
                </a:solidFill>
              </a:rPr>
              <a:t>improve</a:t>
            </a:r>
            <a:r>
              <a:rPr lang="en-US" altLang="en-US" dirty="0"/>
              <a:t> classification accuracy.</a:t>
            </a:r>
          </a:p>
          <a:p>
            <a:pPr lvl="1">
              <a:defRPr/>
            </a:pPr>
            <a:endParaRPr lang="en-US" altLang="en-US" dirty="0"/>
          </a:p>
          <a:p>
            <a:pPr lvl="1">
              <a:defRPr/>
            </a:pPr>
            <a:endParaRPr lang="en-US" altLang="en-US" dirty="0"/>
          </a:p>
          <a:p>
            <a:pPr lvl="1">
              <a:defRPr/>
            </a:pPr>
            <a:endParaRPr lang="en-US" altLang="en-US" dirty="0"/>
          </a:p>
          <a:p>
            <a:pPr marL="457200" lvl="1" indent="0">
              <a:buNone/>
              <a:defRPr/>
            </a:pPr>
            <a:endParaRPr lang="en-US" altLang="en-US" dirty="0"/>
          </a:p>
          <a:p>
            <a:pPr marL="457200" lvl="1" indent="0">
              <a:buNone/>
              <a:defRPr/>
            </a:pPr>
            <a:r>
              <a:rPr lang="en-US" altLang="en-US" dirty="0">
                <a:solidFill>
                  <a:srgbClr val="C00000"/>
                </a:solidFill>
              </a:rPr>
              <a:t>Different methods can be used to reduce dimensionality</a:t>
            </a:r>
            <a:r>
              <a:rPr lang="en-US" altLang="en-US" dirty="0"/>
              <a:t>:</a:t>
            </a:r>
          </a:p>
          <a:p>
            <a:pPr lvl="1">
              <a:defRPr/>
            </a:pPr>
            <a:r>
              <a:rPr lang="en-US" altLang="en-US" dirty="0"/>
              <a:t>Feature selection</a:t>
            </a:r>
          </a:p>
          <a:p>
            <a:pPr lvl="1">
              <a:defRPr/>
            </a:pPr>
            <a:r>
              <a:rPr lang="en-US" altLang="en-US" dirty="0"/>
              <a:t>Feature extraction</a:t>
            </a:r>
          </a:p>
          <a:p>
            <a:pPr lvl="1">
              <a:defRPr/>
            </a:pPr>
            <a:endParaRPr lang="en-US" altLang="en-US" dirty="0"/>
          </a:p>
        </p:txBody>
      </p:sp>
      <p:pic>
        <p:nvPicPr>
          <p:cNvPr id="12293" name="Picture 2">
            <a:extLst>
              <a:ext uri="{FF2B5EF4-FFF2-40B4-BE49-F238E27FC236}">
                <a16:creationId xmlns:a16="http://schemas.microsoft.com/office/drawing/2014/main" id="{0BF32FDA-32C5-4552-96AC-6D710ADF90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2667000"/>
            <a:ext cx="3684588"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89ABE7-C896-495B-B6A6-A5BFA811B871}"/>
              </a:ext>
            </a:extLst>
          </p:cNvPr>
          <p:cNvCxnSpPr/>
          <p:nvPr/>
        </p:nvCxnSpPr>
        <p:spPr bwMode="auto">
          <a:xfrm>
            <a:off x="5098774" y="2991644"/>
            <a:ext cx="0" cy="1143000"/>
          </a:xfrm>
          <a:prstGeom prst="line">
            <a:avLst/>
          </a:prstGeom>
          <a:ln w="28575">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2292">
                                            <p:txEl>
                                              <p:pRg st="6" end="6"/>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2292">
                                            <p:txEl>
                                              <p:pRg st="7" end="7"/>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1229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4995A0-AE44-4665-950B-23C87C1C8D23}"/>
              </a:ext>
            </a:extLst>
          </p:cNvPr>
          <p:cNvSpPr txBox="1"/>
          <p:nvPr/>
        </p:nvSpPr>
        <p:spPr>
          <a:xfrm>
            <a:off x="4448748" y="396072"/>
            <a:ext cx="2361460" cy="13849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2800" dirty="0"/>
              <a:t>To overcome curse of dimensionality</a:t>
            </a:r>
            <a:endParaRPr lang="en-IN" sz="2800" dirty="0"/>
          </a:p>
        </p:txBody>
      </p:sp>
      <p:cxnSp>
        <p:nvCxnSpPr>
          <p:cNvPr id="6" name="Straight Arrow Connector 5">
            <a:extLst>
              <a:ext uri="{FF2B5EF4-FFF2-40B4-BE49-F238E27FC236}">
                <a16:creationId xmlns:a16="http://schemas.microsoft.com/office/drawing/2014/main" id="{9A522229-1CC0-4C5C-836D-56CB9D5A6F91}"/>
              </a:ext>
            </a:extLst>
          </p:cNvPr>
          <p:cNvCxnSpPr/>
          <p:nvPr/>
        </p:nvCxnSpPr>
        <p:spPr>
          <a:xfrm flipH="1">
            <a:off x="3782923" y="1743574"/>
            <a:ext cx="1669002" cy="852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B4B6B79-2F3D-4DE5-88E5-6BE964ED02AE}"/>
              </a:ext>
            </a:extLst>
          </p:cNvPr>
          <p:cNvCxnSpPr>
            <a:cxnSpLocks/>
          </p:cNvCxnSpPr>
          <p:nvPr/>
        </p:nvCxnSpPr>
        <p:spPr>
          <a:xfrm>
            <a:off x="5629478" y="1745534"/>
            <a:ext cx="1489969" cy="817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9376658-C9BA-42F8-AA76-681D1A8D5B43}"/>
              </a:ext>
            </a:extLst>
          </p:cNvPr>
          <p:cNvSpPr/>
          <p:nvPr/>
        </p:nvSpPr>
        <p:spPr>
          <a:xfrm>
            <a:off x="1925917" y="2618110"/>
            <a:ext cx="3171991" cy="852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3190" marR="77470">
              <a:lnSpc>
                <a:spcPct val="150000"/>
              </a:lnSpc>
              <a:spcBef>
                <a:spcPts val="300"/>
              </a:spcBef>
              <a:spcAft>
                <a:spcPts val="0"/>
              </a:spcAft>
            </a:pPr>
            <a:r>
              <a:rPr lang="en-US" sz="2800" dirty="0">
                <a:effectLst/>
                <a:latin typeface="Times New Roman" panose="02020603050405020304" pitchFamily="18" charset="0"/>
                <a:ea typeface="Times New Roman" panose="02020603050405020304" pitchFamily="18" charset="0"/>
              </a:rPr>
              <a:t>Feature Selection</a:t>
            </a:r>
            <a:endParaRPr lang="en-IN" sz="2800" dirty="0">
              <a:effectLst/>
              <a:latin typeface="Times New Roman" panose="02020603050405020304" pitchFamily="18" charset="0"/>
              <a:ea typeface="Times New Roman" panose="02020603050405020304" pitchFamily="18" charset="0"/>
            </a:endParaRPr>
          </a:p>
        </p:txBody>
      </p:sp>
      <p:sp>
        <p:nvSpPr>
          <p:cNvPr id="10" name="Rectangle 9">
            <a:extLst>
              <a:ext uri="{FF2B5EF4-FFF2-40B4-BE49-F238E27FC236}">
                <a16:creationId xmlns:a16="http://schemas.microsoft.com/office/drawing/2014/main" id="{847403D0-D148-4E3C-A95D-84790089D281}"/>
              </a:ext>
            </a:extLst>
          </p:cNvPr>
          <p:cNvSpPr/>
          <p:nvPr/>
        </p:nvSpPr>
        <p:spPr>
          <a:xfrm>
            <a:off x="6372908" y="2595831"/>
            <a:ext cx="3648057" cy="852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3190" marR="77470">
              <a:lnSpc>
                <a:spcPct val="150000"/>
              </a:lnSpc>
              <a:spcBef>
                <a:spcPts val="300"/>
              </a:spcBef>
            </a:pPr>
            <a:r>
              <a:rPr lang="en-US" sz="2800" dirty="0">
                <a:latin typeface="Times New Roman" panose="02020603050405020304" pitchFamily="18" charset="0"/>
              </a:rPr>
              <a:t>Feature Extraction</a:t>
            </a:r>
            <a:endParaRPr lang="en-IN" sz="2800" dirty="0">
              <a:latin typeface="Times New Roman" panose="02020603050405020304" pitchFamily="18" charset="0"/>
            </a:endParaRPr>
          </a:p>
        </p:txBody>
      </p:sp>
      <p:sp>
        <p:nvSpPr>
          <p:cNvPr id="14" name="Rectangle: Rounded Corners 13">
            <a:extLst>
              <a:ext uri="{FF2B5EF4-FFF2-40B4-BE49-F238E27FC236}">
                <a16:creationId xmlns:a16="http://schemas.microsoft.com/office/drawing/2014/main" id="{C7B433E3-0396-4C02-BB7D-2F9010EF3A73}"/>
              </a:ext>
            </a:extLst>
          </p:cNvPr>
          <p:cNvSpPr/>
          <p:nvPr/>
        </p:nvSpPr>
        <p:spPr>
          <a:xfrm>
            <a:off x="568837" y="3707117"/>
            <a:ext cx="2069237" cy="8522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Wrapper methods</a:t>
            </a:r>
          </a:p>
        </p:txBody>
      </p:sp>
      <p:sp>
        <p:nvSpPr>
          <p:cNvPr id="15" name="Rectangle: Rounded Corners 14">
            <a:extLst>
              <a:ext uri="{FF2B5EF4-FFF2-40B4-BE49-F238E27FC236}">
                <a16:creationId xmlns:a16="http://schemas.microsoft.com/office/drawing/2014/main" id="{BE8D6A11-746B-4D12-BED5-BA581C075B76}"/>
              </a:ext>
            </a:extLst>
          </p:cNvPr>
          <p:cNvSpPr/>
          <p:nvPr/>
        </p:nvSpPr>
        <p:spPr>
          <a:xfrm>
            <a:off x="2551509" y="4749392"/>
            <a:ext cx="1920806" cy="715763"/>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2. Filter methods</a:t>
            </a:r>
          </a:p>
        </p:txBody>
      </p:sp>
      <p:sp>
        <p:nvSpPr>
          <p:cNvPr id="16" name="Rectangle: Rounded Corners 15">
            <a:extLst>
              <a:ext uri="{FF2B5EF4-FFF2-40B4-BE49-F238E27FC236}">
                <a16:creationId xmlns:a16="http://schemas.microsoft.com/office/drawing/2014/main" id="{0B3F6AE4-3C4E-4655-9E7E-A316807166CD}"/>
              </a:ext>
            </a:extLst>
          </p:cNvPr>
          <p:cNvSpPr/>
          <p:nvPr/>
        </p:nvSpPr>
        <p:spPr>
          <a:xfrm>
            <a:off x="4376988" y="3881082"/>
            <a:ext cx="1779972" cy="852257"/>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3. Embedded</a:t>
            </a:r>
            <a:endParaRPr lang="en-IN" dirty="0"/>
          </a:p>
        </p:txBody>
      </p:sp>
      <p:cxnSp>
        <p:nvCxnSpPr>
          <p:cNvPr id="18" name="Straight Arrow Connector 17">
            <a:extLst>
              <a:ext uri="{FF2B5EF4-FFF2-40B4-BE49-F238E27FC236}">
                <a16:creationId xmlns:a16="http://schemas.microsoft.com/office/drawing/2014/main" id="{FCA16DD3-D458-4EE2-9929-A56925EB0D9A}"/>
              </a:ext>
            </a:extLst>
          </p:cNvPr>
          <p:cNvCxnSpPr/>
          <p:nvPr/>
        </p:nvCxnSpPr>
        <p:spPr>
          <a:xfrm flipH="1">
            <a:off x="2638074" y="3494889"/>
            <a:ext cx="333726" cy="212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F5FFD98-2CCB-4002-B7D1-867FBE9EC8CC}"/>
              </a:ext>
            </a:extLst>
          </p:cNvPr>
          <p:cNvCxnSpPr>
            <a:cxnSpLocks/>
          </p:cNvCxnSpPr>
          <p:nvPr/>
        </p:nvCxnSpPr>
        <p:spPr>
          <a:xfrm>
            <a:off x="3511913" y="3429000"/>
            <a:ext cx="0" cy="1186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F1AFDF8-E720-49EE-BC0B-F8BCAF898312}"/>
              </a:ext>
            </a:extLst>
          </p:cNvPr>
          <p:cNvCxnSpPr>
            <a:cxnSpLocks/>
          </p:cNvCxnSpPr>
          <p:nvPr/>
        </p:nvCxnSpPr>
        <p:spPr>
          <a:xfrm>
            <a:off x="4005411" y="3527010"/>
            <a:ext cx="339543" cy="158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8AD15A0-15B2-46CC-AECB-4BA7C09799D8}"/>
              </a:ext>
            </a:extLst>
          </p:cNvPr>
          <p:cNvSpPr/>
          <p:nvPr/>
        </p:nvSpPr>
        <p:spPr>
          <a:xfrm>
            <a:off x="7833360" y="3996176"/>
            <a:ext cx="2187605" cy="67829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1. PCA</a:t>
            </a:r>
            <a:endParaRPr lang="en-IN" sz="2800" dirty="0"/>
          </a:p>
        </p:txBody>
      </p:sp>
      <p:sp>
        <p:nvSpPr>
          <p:cNvPr id="24" name="Rectangle 23">
            <a:extLst>
              <a:ext uri="{FF2B5EF4-FFF2-40B4-BE49-F238E27FC236}">
                <a16:creationId xmlns:a16="http://schemas.microsoft.com/office/drawing/2014/main" id="{BE910586-9E2F-459E-B41E-4099DF25F76D}"/>
              </a:ext>
            </a:extLst>
          </p:cNvPr>
          <p:cNvSpPr/>
          <p:nvPr/>
        </p:nvSpPr>
        <p:spPr>
          <a:xfrm>
            <a:off x="7833360" y="4958021"/>
            <a:ext cx="2187605" cy="67829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2. LDA</a:t>
            </a:r>
            <a:endParaRPr lang="en-IN" sz="2800" dirty="0"/>
          </a:p>
        </p:txBody>
      </p:sp>
      <p:cxnSp>
        <p:nvCxnSpPr>
          <p:cNvPr id="26" name="Straight Arrow Connector 25">
            <a:extLst>
              <a:ext uri="{FF2B5EF4-FFF2-40B4-BE49-F238E27FC236}">
                <a16:creationId xmlns:a16="http://schemas.microsoft.com/office/drawing/2014/main" id="{AC66E0A2-2AD5-41E9-A3A8-4E50F7DBEAB1}"/>
              </a:ext>
            </a:extLst>
          </p:cNvPr>
          <p:cNvCxnSpPr/>
          <p:nvPr/>
        </p:nvCxnSpPr>
        <p:spPr>
          <a:xfrm>
            <a:off x="8503920" y="3494889"/>
            <a:ext cx="0" cy="386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E9A41F1-69FB-4D07-AD36-BF2C8F3ED223}"/>
              </a:ext>
            </a:extLst>
          </p:cNvPr>
          <p:cNvSpPr txBox="1"/>
          <p:nvPr/>
        </p:nvSpPr>
        <p:spPr>
          <a:xfrm>
            <a:off x="670560" y="4694312"/>
            <a:ext cx="2187605" cy="1200329"/>
          </a:xfrm>
          <a:prstGeom prst="rect">
            <a:avLst/>
          </a:prstGeom>
          <a:noFill/>
        </p:spPr>
        <p:txBody>
          <a:bodyPr wrap="square" rtlCol="0">
            <a:spAutoFit/>
          </a:bodyPr>
          <a:lstStyle/>
          <a:p>
            <a:pPr marL="342900" indent="-342900">
              <a:buAutoNum type="arabicPeriod"/>
            </a:pPr>
            <a:r>
              <a:rPr lang="en-US" dirty="0"/>
              <a:t>Forward Selection</a:t>
            </a:r>
          </a:p>
          <a:p>
            <a:pPr marL="342900" indent="-342900">
              <a:buAutoNum type="arabicPeriod"/>
            </a:pPr>
            <a:r>
              <a:rPr lang="en-US" dirty="0"/>
              <a:t> Backward Selection</a:t>
            </a:r>
            <a:endParaRPr lang="en-IN" dirty="0"/>
          </a:p>
        </p:txBody>
      </p:sp>
      <p:sp>
        <p:nvSpPr>
          <p:cNvPr id="5" name="TextBox 4">
            <a:extLst>
              <a:ext uri="{FF2B5EF4-FFF2-40B4-BE49-F238E27FC236}">
                <a16:creationId xmlns:a16="http://schemas.microsoft.com/office/drawing/2014/main" id="{89E9A55F-117A-40AB-BB90-5B959A6824D8}"/>
              </a:ext>
            </a:extLst>
          </p:cNvPr>
          <p:cNvSpPr txBox="1"/>
          <p:nvPr/>
        </p:nvSpPr>
        <p:spPr>
          <a:xfrm>
            <a:off x="2804937" y="5728715"/>
            <a:ext cx="3514744" cy="646331"/>
          </a:xfrm>
          <a:prstGeom prst="rect">
            <a:avLst/>
          </a:prstGeom>
          <a:noFill/>
        </p:spPr>
        <p:txBody>
          <a:bodyPr wrap="square" rtlCol="0">
            <a:spAutoFit/>
          </a:bodyPr>
          <a:lstStyle/>
          <a:p>
            <a:pPr marL="342900" indent="-342900">
              <a:buAutoNum type="arabicPeriod"/>
            </a:pPr>
            <a:r>
              <a:rPr lang="en-US" dirty="0"/>
              <a:t>Univariate feature selection</a:t>
            </a:r>
          </a:p>
          <a:p>
            <a:pPr marL="342900" indent="-342900">
              <a:buAutoNum type="arabicPeriod"/>
            </a:pPr>
            <a:r>
              <a:rPr lang="en-US" dirty="0"/>
              <a:t>Multivariate feature selection</a:t>
            </a:r>
            <a:endParaRPr lang="en-IN" dirty="0"/>
          </a:p>
        </p:txBody>
      </p:sp>
    </p:spTree>
    <p:extLst>
      <p:ext uri="{BB962C8B-B14F-4D97-AF65-F5344CB8AC3E}">
        <p14:creationId xmlns:p14="http://schemas.microsoft.com/office/powerpoint/2010/main" val="3674959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2F727-54AC-4DD2-AA88-958610309AF2}"/>
              </a:ext>
            </a:extLst>
          </p:cNvPr>
          <p:cNvSpPr>
            <a:spLocks noGrp="1"/>
          </p:cNvSpPr>
          <p:nvPr>
            <p:ph type="title"/>
          </p:nvPr>
        </p:nvSpPr>
        <p:spPr/>
        <p:txBody>
          <a:bodyPr/>
          <a:lstStyle/>
          <a:p>
            <a:r>
              <a:rPr lang="en-US" sz="2800" b="1" spc="-5" dirty="0">
                <a:solidFill>
                  <a:srgbClr val="3333FF"/>
                </a:solidFill>
                <a:latin typeface="Carlito"/>
              </a:rPr>
              <a:t>Feature Selection types</a:t>
            </a:r>
            <a:endParaRPr lang="en-IN" sz="2800" b="1" spc="-5" dirty="0">
              <a:solidFill>
                <a:srgbClr val="3333FF"/>
              </a:solidFill>
              <a:latin typeface="Carlito"/>
            </a:endParaRPr>
          </a:p>
        </p:txBody>
      </p:sp>
      <p:sp>
        <p:nvSpPr>
          <p:cNvPr id="4" name="Rectangle: Rounded Corners 3">
            <a:extLst>
              <a:ext uri="{FF2B5EF4-FFF2-40B4-BE49-F238E27FC236}">
                <a16:creationId xmlns:a16="http://schemas.microsoft.com/office/drawing/2014/main" id="{88CDBCA1-23DC-4370-BF07-2B0CC3E95B6A}"/>
              </a:ext>
            </a:extLst>
          </p:cNvPr>
          <p:cNvSpPr/>
          <p:nvPr/>
        </p:nvSpPr>
        <p:spPr>
          <a:xfrm>
            <a:off x="2121763" y="2467992"/>
            <a:ext cx="2246051" cy="11363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Wrapper methods</a:t>
            </a:r>
          </a:p>
        </p:txBody>
      </p:sp>
      <p:sp>
        <p:nvSpPr>
          <p:cNvPr id="5" name="Rectangle: Rounded Corners 4">
            <a:extLst>
              <a:ext uri="{FF2B5EF4-FFF2-40B4-BE49-F238E27FC236}">
                <a16:creationId xmlns:a16="http://schemas.microsoft.com/office/drawing/2014/main" id="{2B70B913-5F57-4ACE-B055-D9D507049E81}"/>
              </a:ext>
            </a:extLst>
          </p:cNvPr>
          <p:cNvSpPr/>
          <p:nvPr/>
        </p:nvSpPr>
        <p:spPr>
          <a:xfrm>
            <a:off x="5211514" y="3416107"/>
            <a:ext cx="2235694" cy="1170373"/>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2. Filter methods</a:t>
            </a:r>
          </a:p>
        </p:txBody>
      </p:sp>
      <p:sp>
        <p:nvSpPr>
          <p:cNvPr id="6" name="Rectangle: Rounded Corners 5">
            <a:extLst>
              <a:ext uri="{FF2B5EF4-FFF2-40B4-BE49-F238E27FC236}">
                <a16:creationId xmlns:a16="http://schemas.microsoft.com/office/drawing/2014/main" id="{88827EC0-EF63-4F0F-9938-11EE5C4500D8}"/>
              </a:ext>
            </a:extLst>
          </p:cNvPr>
          <p:cNvSpPr/>
          <p:nvPr/>
        </p:nvSpPr>
        <p:spPr>
          <a:xfrm>
            <a:off x="8126028" y="2467992"/>
            <a:ext cx="2246051" cy="113634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3. Embedded</a:t>
            </a:r>
            <a:endParaRPr lang="en-IN" dirty="0"/>
          </a:p>
        </p:txBody>
      </p:sp>
      <p:cxnSp>
        <p:nvCxnSpPr>
          <p:cNvPr id="8" name="Straight Arrow Connector 7">
            <a:extLst>
              <a:ext uri="{FF2B5EF4-FFF2-40B4-BE49-F238E27FC236}">
                <a16:creationId xmlns:a16="http://schemas.microsoft.com/office/drawing/2014/main" id="{46522290-718D-4EF3-9691-4A3400204128}"/>
              </a:ext>
            </a:extLst>
          </p:cNvPr>
          <p:cNvCxnSpPr>
            <a:cxnSpLocks/>
          </p:cNvCxnSpPr>
          <p:nvPr/>
        </p:nvCxnSpPr>
        <p:spPr>
          <a:xfrm>
            <a:off x="6733521" y="4570194"/>
            <a:ext cx="424583" cy="46259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061DB95-9C4C-4085-98D1-2ABF10E6A52A}"/>
              </a:ext>
            </a:extLst>
          </p:cNvPr>
          <p:cNvCxnSpPr>
            <a:cxnSpLocks/>
          </p:cNvCxnSpPr>
          <p:nvPr/>
        </p:nvCxnSpPr>
        <p:spPr>
          <a:xfrm flipH="1">
            <a:off x="5458480" y="4586480"/>
            <a:ext cx="428977" cy="44631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6D54F13E-CDD6-436D-8E95-7D64769FF7A9}"/>
              </a:ext>
            </a:extLst>
          </p:cNvPr>
          <p:cNvSpPr/>
          <p:nvPr/>
        </p:nvSpPr>
        <p:spPr>
          <a:xfrm>
            <a:off x="4283765" y="5198165"/>
            <a:ext cx="1812235" cy="84482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b="1" i="0" dirty="0">
                <a:solidFill>
                  <a:srgbClr val="292929"/>
                </a:solidFill>
                <a:effectLst/>
                <a:latin typeface="charter"/>
              </a:rPr>
              <a:t>Univariate filter methods</a:t>
            </a:r>
            <a:endParaRPr lang="en-IN" dirty="0"/>
          </a:p>
        </p:txBody>
      </p:sp>
      <p:sp>
        <p:nvSpPr>
          <p:cNvPr id="14" name="Rectangle: Rounded Corners 13">
            <a:extLst>
              <a:ext uri="{FF2B5EF4-FFF2-40B4-BE49-F238E27FC236}">
                <a16:creationId xmlns:a16="http://schemas.microsoft.com/office/drawing/2014/main" id="{364B40B1-A38F-4F80-AE26-B58F71A8D460}"/>
              </a:ext>
            </a:extLst>
          </p:cNvPr>
          <p:cNvSpPr/>
          <p:nvPr/>
        </p:nvSpPr>
        <p:spPr>
          <a:xfrm>
            <a:off x="6688955" y="5190607"/>
            <a:ext cx="1812235" cy="84482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b="1" i="0" dirty="0">
                <a:solidFill>
                  <a:srgbClr val="292929"/>
                </a:solidFill>
                <a:effectLst/>
                <a:latin typeface="charter"/>
              </a:rPr>
              <a:t>Multivariate filter methods.</a:t>
            </a:r>
            <a:endParaRPr lang="en-IN" dirty="0"/>
          </a:p>
        </p:txBody>
      </p:sp>
      <p:sp>
        <p:nvSpPr>
          <p:cNvPr id="17" name="TextBox 16">
            <a:extLst>
              <a:ext uri="{FF2B5EF4-FFF2-40B4-BE49-F238E27FC236}">
                <a16:creationId xmlns:a16="http://schemas.microsoft.com/office/drawing/2014/main" id="{AFBDD411-A1F2-4458-BEFD-E99C7552B2B2}"/>
              </a:ext>
            </a:extLst>
          </p:cNvPr>
          <p:cNvSpPr txBox="1"/>
          <p:nvPr/>
        </p:nvSpPr>
        <p:spPr>
          <a:xfrm>
            <a:off x="3047172" y="1486411"/>
            <a:ext cx="6097656" cy="369332"/>
          </a:xfrm>
          <a:prstGeom prst="rect">
            <a:avLst/>
          </a:prstGeom>
          <a:noFill/>
        </p:spPr>
        <p:txBody>
          <a:bodyPr wrap="square">
            <a:spAutoFit/>
          </a:bodyPr>
          <a:lstStyle/>
          <a:p>
            <a:pPr algn="ctr"/>
            <a:r>
              <a:rPr lang="en-IN" b="1" i="0" dirty="0">
                <a:solidFill>
                  <a:srgbClr val="292929"/>
                </a:solidFill>
                <a:effectLst/>
                <a:latin typeface="Open Sans" panose="020B0606030504020204" pitchFamily="34" charset="0"/>
              </a:rPr>
              <a:t>Supervised Feature Selection Methods</a:t>
            </a:r>
          </a:p>
        </p:txBody>
      </p:sp>
      <p:cxnSp>
        <p:nvCxnSpPr>
          <p:cNvPr id="7" name="Straight Arrow Connector 6">
            <a:extLst>
              <a:ext uri="{FF2B5EF4-FFF2-40B4-BE49-F238E27FC236}">
                <a16:creationId xmlns:a16="http://schemas.microsoft.com/office/drawing/2014/main" id="{045BCAE2-9B47-42F1-AEEE-755B97542E07}"/>
              </a:ext>
            </a:extLst>
          </p:cNvPr>
          <p:cNvCxnSpPr/>
          <p:nvPr/>
        </p:nvCxnSpPr>
        <p:spPr>
          <a:xfrm flipH="1">
            <a:off x="3737113" y="1977484"/>
            <a:ext cx="630701" cy="34897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C35310A-CB3B-4AB2-B339-2870913FD751}"/>
              </a:ext>
            </a:extLst>
          </p:cNvPr>
          <p:cNvCxnSpPr>
            <a:cxnSpLocks/>
          </p:cNvCxnSpPr>
          <p:nvPr/>
        </p:nvCxnSpPr>
        <p:spPr>
          <a:xfrm>
            <a:off x="6331132" y="1966745"/>
            <a:ext cx="19877" cy="137120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1AF4745-9C8A-40A8-A559-065DE0D4BFDF}"/>
              </a:ext>
            </a:extLst>
          </p:cNvPr>
          <p:cNvCxnSpPr>
            <a:cxnSpLocks/>
          </p:cNvCxnSpPr>
          <p:nvPr/>
        </p:nvCxnSpPr>
        <p:spPr>
          <a:xfrm>
            <a:off x="8047384" y="1887528"/>
            <a:ext cx="453806" cy="49893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410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0634F-E61E-4927-82FB-46944910A21B}"/>
              </a:ext>
            </a:extLst>
          </p:cNvPr>
          <p:cNvSpPr>
            <a:spLocks noGrp="1"/>
          </p:cNvSpPr>
          <p:nvPr>
            <p:ph type="title"/>
          </p:nvPr>
        </p:nvSpPr>
        <p:spPr/>
        <p:txBody>
          <a:bodyPr/>
          <a:lstStyle/>
          <a:p>
            <a:r>
              <a:rPr lang="en-US" sz="2800" b="1" spc="-5" dirty="0">
                <a:solidFill>
                  <a:srgbClr val="3333FF"/>
                </a:solidFill>
                <a:latin typeface="Carlito"/>
              </a:rPr>
              <a:t>What is feature selection</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372FE268-D21F-440B-8DF1-A4F09F0AAD91}"/>
              </a:ext>
            </a:extLst>
          </p:cNvPr>
          <p:cNvSpPr>
            <a:spLocks noGrp="1"/>
          </p:cNvSpPr>
          <p:nvPr>
            <p:ph idx="1"/>
          </p:nvPr>
        </p:nvSpPr>
        <p:spPr/>
        <p:txBody>
          <a:bodyPr>
            <a:normAutofit/>
          </a:bodyPr>
          <a:lstStyle/>
          <a:p>
            <a:pPr marL="0" indent="0" algn="just">
              <a:buNone/>
            </a:pPr>
            <a:r>
              <a:rPr lang="en-US" sz="2000" dirty="0"/>
              <a:t>The method of </a:t>
            </a:r>
            <a:r>
              <a:rPr lang="en-US" sz="2000" u="sng" dirty="0"/>
              <a:t>reducing the number of input </a:t>
            </a:r>
            <a:r>
              <a:rPr lang="en-US" sz="2000" dirty="0"/>
              <a:t>variables during the development of a predictive model.”</a:t>
            </a:r>
          </a:p>
          <a:p>
            <a:pPr marL="0" indent="0" algn="just">
              <a:buNone/>
            </a:pPr>
            <a:r>
              <a:rPr lang="en-US" sz="2000" dirty="0"/>
              <a:t>OR</a:t>
            </a:r>
          </a:p>
          <a:p>
            <a:pPr marL="0" indent="0" algn="just">
              <a:buNone/>
            </a:pPr>
            <a:r>
              <a:rPr lang="en-US" sz="2000" dirty="0"/>
              <a:t>“Feature selection is a process of </a:t>
            </a:r>
            <a:r>
              <a:rPr lang="en-US" sz="2000" u="sng" dirty="0"/>
              <a:t>selection of a subset of relevant features</a:t>
            </a:r>
            <a:r>
              <a:rPr lang="en-US" sz="2000" dirty="0"/>
              <a:t> or variables from a set of all features, used in the process of model building.”</a:t>
            </a:r>
          </a:p>
          <a:p>
            <a:pPr marL="0" indent="0" algn="just">
              <a:buNone/>
            </a:pPr>
            <a:r>
              <a:rPr lang="en-US" sz="2000" dirty="0"/>
              <a:t>Other names of feature selection are variable selection or attribute selection.</a:t>
            </a:r>
          </a:p>
          <a:p>
            <a:pPr marL="0" indent="0" algn="just">
              <a:buNone/>
            </a:pPr>
            <a:endParaRPr lang="en-US" sz="2000" dirty="0"/>
          </a:p>
          <a:p>
            <a:pPr marL="0" indent="0" algn="just">
              <a:buNone/>
            </a:pPr>
            <a:r>
              <a:rPr lang="en-US" sz="2000" dirty="0"/>
              <a:t>It is possible to select those characteristic variables or features in our data that are most useful for building accurate models.  In feature selection what we do is that, given an initial set of features we find the sub set from the set of features so that it optimizes certain criteria.</a:t>
            </a:r>
          </a:p>
          <a:p>
            <a:pPr marL="0" indent="0" algn="just">
              <a:buNone/>
            </a:pPr>
            <a:r>
              <a:rPr lang="en-US" sz="2000" dirty="0"/>
              <a:t>.</a:t>
            </a:r>
          </a:p>
          <a:p>
            <a:pPr marL="0" indent="0">
              <a:buNone/>
            </a:pPr>
            <a:endParaRPr lang="en-IN" sz="2000" dirty="0"/>
          </a:p>
        </p:txBody>
      </p:sp>
    </p:spTree>
    <p:extLst>
      <p:ext uri="{BB962C8B-B14F-4D97-AF65-F5344CB8AC3E}">
        <p14:creationId xmlns:p14="http://schemas.microsoft.com/office/powerpoint/2010/main" val="3776570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BC809-064F-4E1F-AB61-635FCD702839}"/>
              </a:ext>
            </a:extLst>
          </p:cNvPr>
          <p:cNvSpPr>
            <a:spLocks noGrp="1"/>
          </p:cNvSpPr>
          <p:nvPr>
            <p:ph type="title"/>
          </p:nvPr>
        </p:nvSpPr>
        <p:spPr/>
        <p:txBody>
          <a:bodyPr/>
          <a:lstStyle/>
          <a:p>
            <a:r>
              <a:rPr lang="en-IN" sz="2800" b="1" spc="-5" dirty="0">
                <a:solidFill>
                  <a:srgbClr val="3333FF"/>
                </a:solidFill>
                <a:latin typeface="Carlito"/>
              </a:rPr>
              <a:t>Benefits of Feature Selection</a:t>
            </a:r>
            <a:br>
              <a:rPr lang="en-IN" sz="2800" b="1" spc="-5" dirty="0">
                <a:solidFill>
                  <a:srgbClr val="3333FF"/>
                </a:solidFill>
                <a:latin typeface="Carlito"/>
              </a:rPr>
            </a:b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1AF07E5B-E808-4BA4-A987-8B0D34760C97}"/>
              </a:ext>
            </a:extLst>
          </p:cNvPr>
          <p:cNvSpPr>
            <a:spLocks noGrp="1"/>
          </p:cNvSpPr>
          <p:nvPr>
            <p:ph idx="1"/>
          </p:nvPr>
        </p:nvSpPr>
        <p:spPr/>
        <p:txBody>
          <a:bodyPr>
            <a:normAutofit/>
          </a:bodyPr>
          <a:lstStyle/>
          <a:p>
            <a:pPr algn="just" rtl="0"/>
            <a:r>
              <a:rPr lang="en-US" sz="2300" dirty="0">
                <a:latin typeface="Times New Roman" panose="02020603050405020304" pitchFamily="18" charset="0"/>
              </a:rPr>
              <a:t>Having irrelevant features in your data can decrease the accuracy of many models, especially </a:t>
            </a:r>
            <a:r>
              <a:rPr lang="en-US" sz="2300" dirty="0">
                <a:latin typeface="Times New Roman" panose="02020603050405020304" pitchFamily="18" charset="0"/>
                <a:hlinkClick r:id="rId2">
                  <a:extLst>
                    <a:ext uri="{A12FA001-AC4F-418D-AE19-62706E023703}">
                      <ahyp:hlinkClr xmlns:ahyp="http://schemas.microsoft.com/office/drawing/2018/hyperlinkcolor" val="tx"/>
                    </a:ext>
                  </a:extLst>
                </a:hlinkClick>
              </a:rPr>
              <a:t>linear algorithms</a:t>
            </a:r>
            <a:r>
              <a:rPr lang="en-US" sz="2300" dirty="0">
                <a:latin typeface="Times New Roman" panose="02020603050405020304" pitchFamily="18" charset="0"/>
              </a:rPr>
              <a:t> like linear and </a:t>
            </a:r>
            <a:r>
              <a:rPr lang="en-US" sz="2300" dirty="0">
                <a:latin typeface="Times New Roman" panose="02020603050405020304" pitchFamily="18" charset="0"/>
                <a:hlinkClick r:id="rId3">
                  <a:extLst>
                    <a:ext uri="{A12FA001-AC4F-418D-AE19-62706E023703}">
                      <ahyp:hlinkClr xmlns:ahyp="http://schemas.microsoft.com/office/drawing/2018/hyperlinkcolor" val="tx"/>
                    </a:ext>
                  </a:extLst>
                </a:hlinkClick>
              </a:rPr>
              <a:t>logistic regression</a:t>
            </a:r>
            <a:r>
              <a:rPr lang="en-US" sz="2300" dirty="0">
                <a:latin typeface="Times New Roman" panose="02020603050405020304" pitchFamily="18" charset="0"/>
              </a:rPr>
              <a:t> , KNN</a:t>
            </a:r>
          </a:p>
          <a:p>
            <a:pPr marL="0" indent="0" algn="just" rtl="0">
              <a:buNone/>
            </a:pPr>
            <a:endParaRPr lang="en-US" sz="2300" dirty="0">
              <a:latin typeface="Times New Roman" panose="02020603050405020304" pitchFamily="18" charset="0"/>
            </a:endParaRPr>
          </a:p>
          <a:p>
            <a:pPr marL="0" indent="0" algn="just" rtl="0">
              <a:buNone/>
            </a:pPr>
            <a:r>
              <a:rPr lang="en-US" sz="2300" dirty="0">
                <a:latin typeface="Times New Roman" panose="02020603050405020304" pitchFamily="18" charset="0"/>
              </a:rPr>
              <a:t>The benefits of performing feature selection before modeling the model are as under:</a:t>
            </a:r>
          </a:p>
          <a:p>
            <a:pPr algn="just" rtl="0">
              <a:buFont typeface="Arial" panose="020B0604020202020204" pitchFamily="34" charset="0"/>
              <a:buChar char="•"/>
            </a:pPr>
            <a:r>
              <a:rPr lang="en-US" sz="2300" u="sng" dirty="0">
                <a:latin typeface="Times New Roman" panose="02020603050405020304" pitchFamily="18" charset="0"/>
              </a:rPr>
              <a:t>Reduction in Model Overfitting: </a:t>
            </a:r>
            <a:r>
              <a:rPr lang="en-US" sz="2300" dirty="0">
                <a:latin typeface="Times New Roman" panose="02020603050405020304" pitchFamily="18" charset="0"/>
              </a:rPr>
              <a:t>Less redundant data implies less opportunity to make noise based decisions.</a:t>
            </a:r>
          </a:p>
          <a:p>
            <a:pPr algn="just" rtl="0">
              <a:buFont typeface="Arial" panose="020B0604020202020204" pitchFamily="34" charset="0"/>
              <a:buChar char="•"/>
            </a:pPr>
            <a:r>
              <a:rPr lang="en-US" sz="2300" u="sng" dirty="0">
                <a:latin typeface="Times New Roman" panose="02020603050405020304" pitchFamily="18" charset="0"/>
              </a:rPr>
              <a:t>Improvement in Accuracy: </a:t>
            </a:r>
            <a:r>
              <a:rPr lang="en-US" sz="2300" dirty="0">
                <a:latin typeface="Times New Roman" panose="02020603050405020304" pitchFamily="18" charset="0"/>
              </a:rPr>
              <a:t>Less misleading and misguiding data implies improvement in modeling accuracy.</a:t>
            </a:r>
          </a:p>
          <a:p>
            <a:pPr algn="just" rtl="0">
              <a:buFont typeface="Arial" panose="020B0604020202020204" pitchFamily="34" charset="0"/>
              <a:buChar char="•"/>
            </a:pPr>
            <a:r>
              <a:rPr lang="en-US" sz="2300" u="sng" dirty="0">
                <a:latin typeface="Times New Roman" panose="02020603050405020304" pitchFamily="18" charset="0"/>
              </a:rPr>
              <a:t>Reduction in Training Time: </a:t>
            </a:r>
            <a:r>
              <a:rPr lang="en-US" sz="2300" dirty="0">
                <a:latin typeface="Times New Roman" panose="02020603050405020304" pitchFamily="18" charset="0"/>
              </a:rPr>
              <a:t>Fewer data implies that algorithms train at a faster rate.</a:t>
            </a:r>
          </a:p>
          <a:p>
            <a:pPr marL="0" indent="0">
              <a:buNone/>
            </a:pPr>
            <a:endParaRPr lang="en-IN" dirty="0"/>
          </a:p>
        </p:txBody>
      </p:sp>
    </p:spTree>
    <p:extLst>
      <p:ext uri="{BB962C8B-B14F-4D97-AF65-F5344CB8AC3E}">
        <p14:creationId xmlns:p14="http://schemas.microsoft.com/office/powerpoint/2010/main" val="130021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71285-9C1E-4C57-AD01-7119A37E0E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01F633E-15BA-46D2-A0DC-C8D4EA6FF4E6}"/>
              </a:ext>
            </a:extLst>
          </p:cNvPr>
          <p:cNvSpPr>
            <a:spLocks noGrp="1"/>
          </p:cNvSpPr>
          <p:nvPr>
            <p:ph idx="1"/>
          </p:nvPr>
        </p:nvSpPr>
        <p:spPr/>
        <p:txBody>
          <a:bodyPr/>
          <a:lstStyle/>
          <a:p>
            <a:r>
              <a:rPr lang="en-US" dirty="0">
                <a:solidFill>
                  <a:srgbClr val="C00000"/>
                </a:solidFill>
              </a:rPr>
              <a:t>Feature selection- </a:t>
            </a:r>
            <a:r>
              <a:rPr lang="en-US" dirty="0"/>
              <a:t>selecting the relevant variables and leaving the rest.</a:t>
            </a:r>
          </a:p>
          <a:p>
            <a:r>
              <a:rPr lang="en-US" dirty="0"/>
              <a:t>Feature extraction- making the representation of multiple variables as one.</a:t>
            </a:r>
            <a:endParaRPr lang="en-IN" dirty="0"/>
          </a:p>
        </p:txBody>
      </p:sp>
      <p:pic>
        <p:nvPicPr>
          <p:cNvPr id="5" name="Picture 4">
            <a:extLst>
              <a:ext uri="{FF2B5EF4-FFF2-40B4-BE49-F238E27FC236}">
                <a16:creationId xmlns:a16="http://schemas.microsoft.com/office/drawing/2014/main" id="{4DD2689A-5883-490D-A371-D984A529EDC2}"/>
              </a:ext>
            </a:extLst>
          </p:cNvPr>
          <p:cNvPicPr>
            <a:picLocks noChangeAspect="1"/>
          </p:cNvPicPr>
          <p:nvPr/>
        </p:nvPicPr>
        <p:blipFill>
          <a:blip r:embed="rId2"/>
          <a:stretch>
            <a:fillRect/>
          </a:stretch>
        </p:blipFill>
        <p:spPr>
          <a:xfrm>
            <a:off x="3248168" y="3429000"/>
            <a:ext cx="5392468" cy="3022893"/>
          </a:xfrm>
          <a:prstGeom prst="rect">
            <a:avLst/>
          </a:prstGeom>
        </p:spPr>
      </p:pic>
    </p:spTree>
    <p:extLst>
      <p:ext uri="{BB962C8B-B14F-4D97-AF65-F5344CB8AC3E}">
        <p14:creationId xmlns:p14="http://schemas.microsoft.com/office/powerpoint/2010/main" val="1193961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0654-2F45-4276-A292-1994BFF7264D}"/>
              </a:ext>
            </a:extLst>
          </p:cNvPr>
          <p:cNvSpPr>
            <a:spLocks noGrp="1"/>
          </p:cNvSpPr>
          <p:nvPr>
            <p:ph type="title"/>
          </p:nvPr>
        </p:nvSpPr>
        <p:spPr/>
        <p:txBody>
          <a:bodyPr/>
          <a:lstStyle/>
          <a:p>
            <a:r>
              <a:rPr lang="en-US" sz="2800" b="1" spc="-5" dirty="0">
                <a:solidFill>
                  <a:srgbClr val="3333FF"/>
                </a:solidFill>
                <a:latin typeface="Carlito"/>
              </a:rPr>
              <a:t>Why is Feature Selection Important?</a:t>
            </a:r>
            <a:br>
              <a:rPr lang="en-US" sz="2800" b="1" spc="-5" dirty="0">
                <a:solidFill>
                  <a:srgbClr val="3333FF"/>
                </a:solidFill>
                <a:latin typeface="Carlito"/>
              </a:rPr>
            </a:b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8C8B811A-CAE0-4393-B544-85E940A76334}"/>
              </a:ext>
            </a:extLst>
          </p:cNvPr>
          <p:cNvSpPr>
            <a:spLocks noGrp="1"/>
          </p:cNvSpPr>
          <p:nvPr>
            <p:ph idx="1"/>
          </p:nvPr>
        </p:nvSpPr>
        <p:spPr>
          <a:xfrm>
            <a:off x="838199" y="1302026"/>
            <a:ext cx="10790583" cy="5377070"/>
          </a:xfrm>
        </p:spPr>
        <p:txBody>
          <a:bodyPr>
            <a:normAutofit lnSpcReduction="10000"/>
          </a:bodyPr>
          <a:lstStyle/>
          <a:p>
            <a:r>
              <a:rPr lang="en-US" sz="1600" u="sng" dirty="0"/>
              <a:t>Irrelevant and misleading data feature</a:t>
            </a:r>
            <a:r>
              <a:rPr lang="en-US" sz="1600" dirty="0"/>
              <a:t>s can negatively impact the performance of our machine learning model. That is why feature selection and data cleaning should be the first step of our model designing. </a:t>
            </a:r>
          </a:p>
          <a:p>
            <a:endParaRPr lang="en-US" sz="1600" dirty="0"/>
          </a:p>
          <a:p>
            <a:r>
              <a:rPr lang="en-US" sz="1600" dirty="0"/>
              <a:t>These feature selection methods reduce the number of input variables/features to those that are considered to be useful in the prediction of the target. </a:t>
            </a:r>
          </a:p>
          <a:p>
            <a:pPr marL="0" indent="0">
              <a:buNone/>
            </a:pPr>
            <a:endParaRPr lang="en-US" sz="1600" dirty="0"/>
          </a:p>
          <a:p>
            <a:r>
              <a:rPr lang="en-US" sz="1600" u="sng" dirty="0">
                <a:solidFill>
                  <a:srgbClr val="C00000"/>
                </a:solidFill>
              </a:rPr>
              <a:t>So, the primary focus of feature selection is to:</a:t>
            </a:r>
          </a:p>
          <a:p>
            <a:endParaRPr lang="en-US" sz="1600" dirty="0"/>
          </a:p>
          <a:p>
            <a:r>
              <a:rPr lang="en-US" sz="1600" dirty="0"/>
              <a:t>Remove </a:t>
            </a:r>
            <a:r>
              <a:rPr lang="en-US" sz="1600" u="sng" dirty="0"/>
              <a:t>non-informative or redundant predictors </a:t>
            </a:r>
            <a:r>
              <a:rPr lang="en-US" sz="1600" dirty="0"/>
              <a:t>from our machine learning model.”</a:t>
            </a:r>
          </a:p>
          <a:p>
            <a:r>
              <a:rPr lang="en-US" sz="1600" dirty="0"/>
              <a:t>Some predictive modeling problems contain a large number of variables that require a large amount of system memory, and therefore, retard the development and training of the models. </a:t>
            </a:r>
          </a:p>
          <a:p>
            <a:endParaRPr lang="en-US" sz="1600" b="1" dirty="0"/>
          </a:p>
          <a:p>
            <a:pPr marL="0" indent="0">
              <a:buNone/>
            </a:pPr>
            <a:r>
              <a:rPr lang="en-US" sz="1600" b="1" dirty="0">
                <a:solidFill>
                  <a:srgbClr val="C00000"/>
                </a:solidFill>
              </a:rPr>
              <a:t>The importance of feature selection in building a machine learning model is:</a:t>
            </a:r>
          </a:p>
          <a:p>
            <a:endParaRPr lang="en-US" sz="1600" dirty="0"/>
          </a:p>
          <a:p>
            <a:r>
              <a:rPr lang="en-US" sz="1600" dirty="0"/>
              <a:t>It improves the </a:t>
            </a:r>
            <a:r>
              <a:rPr lang="en-US" sz="1600" u="sng" dirty="0"/>
              <a:t>accuracy</a:t>
            </a:r>
            <a:r>
              <a:rPr lang="en-US" sz="1600" dirty="0"/>
              <a:t> with which the model is  accurately able to predict the target variable of the unseen dataset.</a:t>
            </a:r>
          </a:p>
          <a:p>
            <a:r>
              <a:rPr lang="en-US" sz="1600" dirty="0"/>
              <a:t>It reduces the </a:t>
            </a:r>
            <a:r>
              <a:rPr lang="en-US" sz="1600" u="sng" dirty="0"/>
              <a:t>computational cost of the model.</a:t>
            </a:r>
          </a:p>
          <a:p>
            <a:r>
              <a:rPr lang="en-US" sz="1600" dirty="0"/>
              <a:t>It improves the </a:t>
            </a:r>
            <a:r>
              <a:rPr lang="en-US" sz="1600" u="sng" dirty="0"/>
              <a:t>understandability</a:t>
            </a:r>
            <a:r>
              <a:rPr lang="en-US" sz="1600" dirty="0"/>
              <a:t> of the model by removing the unnecessary features so that it becomes more interpretable.</a:t>
            </a:r>
            <a:endParaRPr lang="en-IN" sz="1600" dirty="0"/>
          </a:p>
        </p:txBody>
      </p:sp>
    </p:spTree>
    <p:extLst>
      <p:ext uri="{BB962C8B-B14F-4D97-AF65-F5344CB8AC3E}">
        <p14:creationId xmlns:p14="http://schemas.microsoft.com/office/powerpoint/2010/main" val="4277325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2F727-54AC-4DD2-AA88-958610309AF2}"/>
              </a:ext>
            </a:extLst>
          </p:cNvPr>
          <p:cNvSpPr>
            <a:spLocks noGrp="1"/>
          </p:cNvSpPr>
          <p:nvPr>
            <p:ph type="title"/>
          </p:nvPr>
        </p:nvSpPr>
        <p:spPr/>
        <p:txBody>
          <a:bodyPr/>
          <a:lstStyle/>
          <a:p>
            <a:r>
              <a:rPr lang="en-US" sz="2800" b="1" spc="-5" dirty="0">
                <a:solidFill>
                  <a:srgbClr val="3333FF"/>
                </a:solidFill>
                <a:latin typeface="Carlito"/>
              </a:rPr>
              <a:t>Feature Selection types</a:t>
            </a:r>
            <a:endParaRPr lang="en-IN" sz="2800" b="1" spc="-5" dirty="0">
              <a:solidFill>
                <a:srgbClr val="3333FF"/>
              </a:solidFill>
              <a:latin typeface="Carlito"/>
            </a:endParaRPr>
          </a:p>
        </p:txBody>
      </p:sp>
      <p:sp>
        <p:nvSpPr>
          <p:cNvPr id="4" name="Rectangle: Rounded Corners 3">
            <a:extLst>
              <a:ext uri="{FF2B5EF4-FFF2-40B4-BE49-F238E27FC236}">
                <a16:creationId xmlns:a16="http://schemas.microsoft.com/office/drawing/2014/main" id="{88CDBCA1-23DC-4370-BF07-2B0CC3E95B6A}"/>
              </a:ext>
            </a:extLst>
          </p:cNvPr>
          <p:cNvSpPr/>
          <p:nvPr/>
        </p:nvSpPr>
        <p:spPr>
          <a:xfrm>
            <a:off x="1819921" y="2467991"/>
            <a:ext cx="2547893" cy="13255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1. Wrappers methods </a:t>
            </a:r>
          </a:p>
        </p:txBody>
      </p:sp>
      <p:sp>
        <p:nvSpPr>
          <p:cNvPr id="5" name="Rectangle: Rounded Corners 4">
            <a:extLst>
              <a:ext uri="{FF2B5EF4-FFF2-40B4-BE49-F238E27FC236}">
                <a16:creationId xmlns:a16="http://schemas.microsoft.com/office/drawing/2014/main" id="{2B70B913-5F57-4ACE-B055-D9D507049E81}"/>
              </a:ext>
            </a:extLst>
          </p:cNvPr>
          <p:cNvSpPr/>
          <p:nvPr/>
        </p:nvSpPr>
        <p:spPr>
          <a:xfrm>
            <a:off x="4899315" y="3095299"/>
            <a:ext cx="2924873" cy="1491181"/>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2. Filters</a:t>
            </a:r>
          </a:p>
          <a:p>
            <a:pPr algn="ctr"/>
            <a:endParaRPr lang="en-IN" sz="2400" dirty="0"/>
          </a:p>
        </p:txBody>
      </p:sp>
      <p:sp>
        <p:nvSpPr>
          <p:cNvPr id="6" name="Rectangle: Rounded Corners 5">
            <a:extLst>
              <a:ext uri="{FF2B5EF4-FFF2-40B4-BE49-F238E27FC236}">
                <a16:creationId xmlns:a16="http://schemas.microsoft.com/office/drawing/2014/main" id="{88827EC0-EF63-4F0F-9938-11EE5C4500D8}"/>
              </a:ext>
            </a:extLst>
          </p:cNvPr>
          <p:cNvSpPr/>
          <p:nvPr/>
        </p:nvSpPr>
        <p:spPr>
          <a:xfrm>
            <a:off x="8126028" y="2317892"/>
            <a:ext cx="2547893" cy="132556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3. Embedded methods</a:t>
            </a:r>
            <a:endParaRPr lang="en-IN" sz="2400" dirty="0"/>
          </a:p>
        </p:txBody>
      </p:sp>
      <p:cxnSp>
        <p:nvCxnSpPr>
          <p:cNvPr id="8" name="Straight Arrow Connector 7">
            <a:extLst>
              <a:ext uri="{FF2B5EF4-FFF2-40B4-BE49-F238E27FC236}">
                <a16:creationId xmlns:a16="http://schemas.microsoft.com/office/drawing/2014/main" id="{46522290-718D-4EF3-9691-4A3400204128}"/>
              </a:ext>
            </a:extLst>
          </p:cNvPr>
          <p:cNvCxnSpPr>
            <a:cxnSpLocks/>
          </p:cNvCxnSpPr>
          <p:nvPr/>
        </p:nvCxnSpPr>
        <p:spPr>
          <a:xfrm>
            <a:off x="6532808" y="4586480"/>
            <a:ext cx="424583" cy="462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061DB95-9C4C-4085-98D1-2ABF10E6A52A}"/>
              </a:ext>
            </a:extLst>
          </p:cNvPr>
          <p:cNvCxnSpPr>
            <a:cxnSpLocks/>
          </p:cNvCxnSpPr>
          <p:nvPr/>
        </p:nvCxnSpPr>
        <p:spPr>
          <a:xfrm flipH="1">
            <a:off x="5546035" y="4586480"/>
            <a:ext cx="341421" cy="462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6D54F13E-CDD6-436D-8E95-7D64769FF7A9}"/>
              </a:ext>
            </a:extLst>
          </p:cNvPr>
          <p:cNvSpPr/>
          <p:nvPr/>
        </p:nvSpPr>
        <p:spPr>
          <a:xfrm>
            <a:off x="4283765" y="5198165"/>
            <a:ext cx="1812235" cy="84482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b="1" i="0" dirty="0">
                <a:solidFill>
                  <a:srgbClr val="292929"/>
                </a:solidFill>
                <a:effectLst/>
                <a:latin typeface="charter"/>
              </a:rPr>
              <a:t>Univariate filter methods</a:t>
            </a:r>
            <a:endParaRPr lang="en-IN" dirty="0"/>
          </a:p>
        </p:txBody>
      </p:sp>
      <p:sp>
        <p:nvSpPr>
          <p:cNvPr id="14" name="Rectangle: Rounded Corners 13">
            <a:extLst>
              <a:ext uri="{FF2B5EF4-FFF2-40B4-BE49-F238E27FC236}">
                <a16:creationId xmlns:a16="http://schemas.microsoft.com/office/drawing/2014/main" id="{364B40B1-A38F-4F80-AE26-B58F71A8D460}"/>
              </a:ext>
            </a:extLst>
          </p:cNvPr>
          <p:cNvSpPr/>
          <p:nvPr/>
        </p:nvSpPr>
        <p:spPr>
          <a:xfrm>
            <a:off x="6688955" y="5190607"/>
            <a:ext cx="1812235" cy="84482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b="1" i="0" dirty="0">
                <a:solidFill>
                  <a:srgbClr val="292929"/>
                </a:solidFill>
                <a:effectLst/>
                <a:latin typeface="charter"/>
              </a:rPr>
              <a:t>Multivariate filter methods.</a:t>
            </a:r>
            <a:endParaRPr lang="en-IN" dirty="0"/>
          </a:p>
        </p:txBody>
      </p:sp>
      <p:sp>
        <p:nvSpPr>
          <p:cNvPr id="17" name="TextBox 16">
            <a:extLst>
              <a:ext uri="{FF2B5EF4-FFF2-40B4-BE49-F238E27FC236}">
                <a16:creationId xmlns:a16="http://schemas.microsoft.com/office/drawing/2014/main" id="{AFBDD411-A1F2-4458-BEFD-E99C7552B2B2}"/>
              </a:ext>
            </a:extLst>
          </p:cNvPr>
          <p:cNvSpPr txBox="1"/>
          <p:nvPr/>
        </p:nvSpPr>
        <p:spPr>
          <a:xfrm>
            <a:off x="3047172" y="1792818"/>
            <a:ext cx="6097656" cy="369332"/>
          </a:xfrm>
          <a:prstGeom prst="rect">
            <a:avLst/>
          </a:prstGeom>
          <a:noFill/>
        </p:spPr>
        <p:txBody>
          <a:bodyPr wrap="square">
            <a:spAutoFit/>
          </a:bodyPr>
          <a:lstStyle/>
          <a:p>
            <a:pPr algn="ctr"/>
            <a:r>
              <a:rPr lang="en-IN" b="1" i="0" dirty="0">
                <a:solidFill>
                  <a:srgbClr val="292929"/>
                </a:solidFill>
                <a:effectLst/>
                <a:latin typeface="Open Sans" panose="020B0606030504020204" pitchFamily="34" charset="0"/>
              </a:rPr>
              <a:t>Supervised Feature Selection Methods</a:t>
            </a:r>
          </a:p>
        </p:txBody>
      </p:sp>
    </p:spTree>
    <p:extLst>
      <p:ext uri="{BB962C8B-B14F-4D97-AF65-F5344CB8AC3E}">
        <p14:creationId xmlns:p14="http://schemas.microsoft.com/office/powerpoint/2010/main" val="2651847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63CB1-7E4F-45A9-99F0-D813CDACB724}"/>
              </a:ext>
            </a:extLst>
          </p:cNvPr>
          <p:cNvSpPr>
            <a:spLocks noGrp="1"/>
          </p:cNvSpPr>
          <p:nvPr>
            <p:ph type="title"/>
          </p:nvPr>
        </p:nvSpPr>
        <p:spPr/>
        <p:txBody>
          <a:bodyPr/>
          <a:lstStyle/>
          <a:p>
            <a:r>
              <a:rPr lang="en-IN" sz="2800" b="1" spc="-5" dirty="0">
                <a:solidFill>
                  <a:srgbClr val="3333FF"/>
                </a:solidFill>
                <a:latin typeface="Carlito"/>
              </a:rPr>
              <a:t>Filter Feature Selection Methods</a:t>
            </a:r>
            <a:br>
              <a:rPr lang="en-IN" sz="2800" b="1" spc="-5" dirty="0">
                <a:solidFill>
                  <a:srgbClr val="3333FF"/>
                </a:solidFill>
                <a:latin typeface="Carlito"/>
              </a:rPr>
            </a:b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437C8AE7-9B3C-4F56-B670-2A7704FF4840}"/>
              </a:ext>
            </a:extLst>
          </p:cNvPr>
          <p:cNvSpPr>
            <a:spLocks noGrp="1"/>
          </p:cNvSpPr>
          <p:nvPr>
            <p:ph idx="1"/>
          </p:nvPr>
        </p:nvSpPr>
        <p:spPr>
          <a:xfrm>
            <a:off x="669757" y="1428583"/>
            <a:ext cx="10515600" cy="4351338"/>
          </a:xfrm>
        </p:spPr>
        <p:txBody>
          <a:bodyPr/>
          <a:lstStyle/>
          <a:p>
            <a:r>
              <a:rPr lang="en-US" sz="1800" dirty="0">
                <a:latin typeface="Times New Roman" panose="02020603050405020304" pitchFamily="18" charset="0"/>
              </a:rPr>
              <a:t>They are </a:t>
            </a:r>
            <a:r>
              <a:rPr lang="en-US" sz="1800" dirty="0">
                <a:solidFill>
                  <a:srgbClr val="C00000"/>
                </a:solidFill>
                <a:latin typeface="Times New Roman" panose="02020603050405020304" pitchFamily="18" charset="0"/>
              </a:rPr>
              <a:t>Learner independent</a:t>
            </a:r>
          </a:p>
          <a:p>
            <a:r>
              <a:rPr lang="en-US" sz="1800" dirty="0">
                <a:latin typeface="Times New Roman" panose="02020603050405020304" pitchFamily="18" charset="0"/>
              </a:rPr>
              <a:t>In the filter method the search algorithm comes up with a feature subset that is evaluated for </a:t>
            </a:r>
            <a:r>
              <a:rPr lang="en-US" sz="1800" dirty="0">
                <a:solidFill>
                  <a:srgbClr val="C00000"/>
                </a:solidFill>
                <a:latin typeface="Times New Roman" panose="02020603050405020304" pitchFamily="18" charset="0"/>
              </a:rPr>
              <a:t>information context </a:t>
            </a:r>
            <a:r>
              <a:rPr lang="en-US" sz="1800" dirty="0">
                <a:latin typeface="Times New Roman" panose="02020603050405020304" pitchFamily="18" charset="0"/>
              </a:rPr>
              <a:t>and based on that search algorithm proceeds and finally we get final features subset. </a:t>
            </a:r>
          </a:p>
          <a:p>
            <a:r>
              <a:rPr lang="en-US" sz="1800" dirty="0">
                <a:latin typeface="Times New Roman" panose="02020603050405020304" pitchFamily="18" charset="0"/>
              </a:rPr>
              <a:t>In filter methods we look at only the input and we select the subset which has the most information.</a:t>
            </a:r>
          </a:p>
          <a:p>
            <a:r>
              <a:rPr lang="en-US" sz="1800" dirty="0">
                <a:latin typeface="Times New Roman" panose="02020603050405020304" pitchFamily="18" charset="0"/>
              </a:rPr>
              <a:t>The filter feature selection methods make use of </a:t>
            </a:r>
            <a:r>
              <a:rPr lang="en-US" sz="1800" dirty="0">
                <a:solidFill>
                  <a:srgbClr val="FF0000"/>
                </a:solidFill>
                <a:latin typeface="Times New Roman" panose="02020603050405020304" pitchFamily="18" charset="0"/>
              </a:rPr>
              <a:t>statistical techniques </a:t>
            </a:r>
            <a:r>
              <a:rPr lang="en-US" sz="1800" dirty="0">
                <a:latin typeface="Times New Roman" panose="02020603050405020304" pitchFamily="18" charset="0"/>
              </a:rPr>
              <a:t>to predict the </a:t>
            </a:r>
            <a:r>
              <a:rPr lang="en-US" sz="1800" dirty="0">
                <a:solidFill>
                  <a:srgbClr val="C00000"/>
                </a:solidFill>
                <a:latin typeface="Times New Roman" panose="02020603050405020304" pitchFamily="18" charset="0"/>
              </a:rPr>
              <a:t>relationship b</a:t>
            </a:r>
            <a:r>
              <a:rPr lang="en-US" sz="1800" dirty="0">
                <a:latin typeface="Times New Roman" panose="02020603050405020304" pitchFamily="18" charset="0"/>
              </a:rPr>
              <a:t>etween each independent input variable and the output (target) variable. Which assigns scores for each feature.</a:t>
            </a:r>
          </a:p>
          <a:p>
            <a:pPr algn="l"/>
            <a:r>
              <a:rPr lang="en-US" sz="1800" dirty="0">
                <a:latin typeface="Times New Roman" panose="02020603050405020304" pitchFamily="18" charset="0"/>
              </a:rPr>
              <a:t>Filter methods </a:t>
            </a:r>
            <a:r>
              <a:rPr lang="en-US" sz="1800" dirty="0">
                <a:solidFill>
                  <a:srgbClr val="C00000"/>
                </a:solidFill>
                <a:latin typeface="Times New Roman" panose="02020603050405020304" pitchFamily="18" charset="0"/>
              </a:rPr>
              <a:t>select features from a dataset independently for any machine learning algorithm. </a:t>
            </a:r>
            <a:r>
              <a:rPr lang="en-US" sz="1800" dirty="0">
                <a:latin typeface="Times New Roman" panose="02020603050405020304" pitchFamily="18" charset="0"/>
              </a:rPr>
              <a:t>These methods rely only on the characteristics of these variables, so features are filtered out of the data before learning begins.</a:t>
            </a:r>
          </a:p>
          <a:p>
            <a:pPr algn="l"/>
            <a:r>
              <a:rPr lang="en-US" sz="1800" dirty="0">
                <a:latin typeface="Times New Roman" panose="02020603050405020304" pitchFamily="18" charset="0"/>
              </a:rPr>
              <a:t>These methods are powerful and </a:t>
            </a:r>
            <a:r>
              <a:rPr lang="en-US" sz="1800" dirty="0">
                <a:solidFill>
                  <a:srgbClr val="FF0000"/>
                </a:solidFill>
                <a:latin typeface="Times New Roman" panose="02020603050405020304" pitchFamily="18" charset="0"/>
              </a:rPr>
              <a:t>s</a:t>
            </a:r>
            <a:r>
              <a:rPr lang="en-US" sz="1800" dirty="0">
                <a:solidFill>
                  <a:srgbClr val="C00000"/>
                </a:solidFill>
                <a:latin typeface="Times New Roman" panose="02020603050405020304" pitchFamily="18" charset="0"/>
              </a:rPr>
              <a:t>imple</a:t>
            </a:r>
            <a:r>
              <a:rPr lang="en-US" sz="1800" dirty="0">
                <a:latin typeface="Times New Roman" panose="02020603050405020304" pitchFamily="18" charset="0"/>
              </a:rPr>
              <a:t> and help to quickly remove features— and they are generally the first step in any feature selection pipeline</a:t>
            </a:r>
          </a:p>
          <a:p>
            <a:endParaRPr lang="en-IN" sz="1800" dirty="0">
              <a:latin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6CAA5E8A-5282-46DA-89E6-A61BD0F9DFFD}"/>
              </a:ext>
            </a:extLst>
          </p:cNvPr>
          <p:cNvPicPr>
            <a:picLocks noChangeAspect="1"/>
          </p:cNvPicPr>
          <p:nvPr/>
        </p:nvPicPr>
        <p:blipFill>
          <a:blip r:embed="rId2"/>
          <a:stretch>
            <a:fillRect/>
          </a:stretch>
        </p:blipFill>
        <p:spPr>
          <a:xfrm>
            <a:off x="1954880" y="4851233"/>
            <a:ext cx="8715375" cy="1857375"/>
          </a:xfrm>
          <a:prstGeom prst="rect">
            <a:avLst/>
          </a:prstGeom>
        </p:spPr>
      </p:pic>
    </p:spTree>
    <p:extLst>
      <p:ext uri="{BB962C8B-B14F-4D97-AF65-F5344CB8AC3E}">
        <p14:creationId xmlns:p14="http://schemas.microsoft.com/office/powerpoint/2010/main" val="2282214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6EBBE-DF50-4D24-921F-DDAA41A9D99A}"/>
              </a:ext>
            </a:extLst>
          </p:cNvPr>
          <p:cNvSpPr>
            <a:spLocks noGrp="1"/>
          </p:cNvSpPr>
          <p:nvPr>
            <p:ph type="title"/>
          </p:nvPr>
        </p:nvSpPr>
        <p:spPr/>
        <p:txBody>
          <a:bodyPr/>
          <a:lstStyle/>
          <a:p>
            <a:r>
              <a:rPr lang="en-IN" sz="2800" b="1" spc="-5" dirty="0">
                <a:solidFill>
                  <a:srgbClr val="3333FF"/>
                </a:solidFill>
                <a:latin typeface="Carlito"/>
              </a:rPr>
              <a:t>Filter Feature Selection Methods</a:t>
            </a:r>
          </a:p>
        </p:txBody>
      </p:sp>
      <p:sp>
        <p:nvSpPr>
          <p:cNvPr id="3" name="Content Placeholder 2">
            <a:extLst>
              <a:ext uri="{FF2B5EF4-FFF2-40B4-BE49-F238E27FC236}">
                <a16:creationId xmlns:a16="http://schemas.microsoft.com/office/drawing/2014/main" id="{ACD8326A-21D3-4C59-ADC7-37C894AEBA12}"/>
              </a:ext>
            </a:extLst>
          </p:cNvPr>
          <p:cNvSpPr>
            <a:spLocks noGrp="1"/>
          </p:cNvSpPr>
          <p:nvPr>
            <p:ph idx="1"/>
          </p:nvPr>
        </p:nvSpPr>
        <p:spPr/>
        <p:txBody>
          <a:bodyPr>
            <a:normAutofit/>
          </a:bodyPr>
          <a:lstStyle/>
          <a:p>
            <a:pPr>
              <a:lnSpc>
                <a:spcPct val="150000"/>
              </a:lnSpc>
            </a:pPr>
            <a:r>
              <a:rPr lang="en-US" sz="2000" dirty="0">
                <a:latin typeface="Times New Roman" panose="02020603050405020304" pitchFamily="18" charset="0"/>
              </a:rPr>
              <a:t>Filter techniques assess the relevance of features by looking at the </a:t>
            </a:r>
            <a:r>
              <a:rPr lang="en-US" sz="2000" dirty="0">
                <a:solidFill>
                  <a:srgbClr val="C00000"/>
                </a:solidFill>
                <a:latin typeface="Times New Roman" panose="02020603050405020304" pitchFamily="18" charset="0"/>
              </a:rPr>
              <a:t>intrinsic properties of the data. </a:t>
            </a:r>
            <a:r>
              <a:rPr lang="en-US" sz="2000" dirty="0">
                <a:latin typeface="Times New Roman" panose="02020603050405020304" pitchFamily="18" charset="0"/>
              </a:rPr>
              <a:t>In filter criteria, all the features are scored and </a:t>
            </a:r>
            <a:r>
              <a:rPr lang="en-US" sz="2000" dirty="0">
                <a:solidFill>
                  <a:srgbClr val="C00000"/>
                </a:solidFill>
                <a:latin typeface="Times New Roman" panose="02020603050405020304" pitchFamily="18" charset="0"/>
              </a:rPr>
              <a:t>ranked based on certain statistical criteria</a:t>
            </a:r>
            <a:r>
              <a:rPr lang="en-US" sz="2000" dirty="0">
                <a:latin typeface="Times New Roman" panose="02020603050405020304" pitchFamily="18" charset="0"/>
              </a:rPr>
              <a:t>. The features with the </a:t>
            </a:r>
            <a:r>
              <a:rPr lang="en-US" sz="2000" dirty="0">
                <a:solidFill>
                  <a:srgbClr val="C00000"/>
                </a:solidFill>
                <a:latin typeface="Times New Roman" panose="02020603050405020304" pitchFamily="18" charset="0"/>
              </a:rPr>
              <a:t>highest ranking values are selected and the low scoring features are removed.</a:t>
            </a:r>
          </a:p>
          <a:p>
            <a:pPr>
              <a:lnSpc>
                <a:spcPct val="150000"/>
              </a:lnSpc>
            </a:pPr>
            <a:r>
              <a:rPr lang="en-US" sz="2000" dirty="0">
                <a:latin typeface="Times New Roman" panose="02020603050405020304" pitchFamily="18" charset="0"/>
              </a:rPr>
              <a:t>Filter methods are </a:t>
            </a:r>
            <a:r>
              <a:rPr lang="en-US" sz="2000" dirty="0">
                <a:solidFill>
                  <a:srgbClr val="C00000"/>
                </a:solidFill>
                <a:latin typeface="Times New Roman" panose="02020603050405020304" pitchFamily="18" charset="0"/>
              </a:rPr>
              <a:t>fast</a:t>
            </a:r>
            <a:r>
              <a:rPr lang="en-US" sz="2000" dirty="0">
                <a:latin typeface="Times New Roman" panose="02020603050405020304" pitchFamily="18" charset="0"/>
              </a:rPr>
              <a:t> and </a:t>
            </a:r>
            <a:r>
              <a:rPr lang="en-US" sz="2000" dirty="0">
                <a:solidFill>
                  <a:srgbClr val="C00000"/>
                </a:solidFill>
                <a:latin typeface="Times New Roman" panose="02020603050405020304" pitchFamily="18" charset="0"/>
              </a:rPr>
              <a:t>independent of the classifier</a:t>
            </a:r>
            <a:r>
              <a:rPr lang="en-US" sz="2000" dirty="0">
                <a:latin typeface="Times New Roman" panose="02020603050405020304" pitchFamily="18" charset="0"/>
              </a:rPr>
              <a:t> but </a:t>
            </a:r>
            <a:r>
              <a:rPr lang="en-US" sz="2000" dirty="0">
                <a:solidFill>
                  <a:srgbClr val="C00000"/>
                </a:solidFill>
                <a:latin typeface="Times New Roman" panose="02020603050405020304" pitchFamily="18" charset="0"/>
              </a:rPr>
              <a:t>ignore the feature dependencies </a:t>
            </a:r>
            <a:r>
              <a:rPr lang="en-US" sz="2000" dirty="0">
                <a:latin typeface="Times New Roman" panose="02020603050405020304" pitchFamily="18" charset="0"/>
              </a:rPr>
              <a:t>and also ignores the interaction with the classifier. </a:t>
            </a:r>
            <a:endParaRPr lang="en-IN" sz="2000" dirty="0">
              <a:latin typeface="Times New Roman" panose="02020603050405020304" pitchFamily="18" charset="0"/>
            </a:endParaRPr>
          </a:p>
        </p:txBody>
      </p:sp>
    </p:spTree>
    <p:extLst>
      <p:ext uri="{BB962C8B-B14F-4D97-AF65-F5344CB8AC3E}">
        <p14:creationId xmlns:p14="http://schemas.microsoft.com/office/powerpoint/2010/main" val="2506164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40832-E30C-454F-8641-25E7B8721276}"/>
              </a:ext>
            </a:extLst>
          </p:cNvPr>
          <p:cNvSpPr>
            <a:spLocks noGrp="1"/>
          </p:cNvSpPr>
          <p:nvPr>
            <p:ph type="title"/>
          </p:nvPr>
        </p:nvSpPr>
        <p:spPr>
          <a:xfrm>
            <a:off x="838200" y="0"/>
            <a:ext cx="10515600" cy="1325563"/>
          </a:xfrm>
        </p:spPr>
        <p:txBody>
          <a:bodyPr/>
          <a:lstStyle/>
          <a:p>
            <a:r>
              <a:rPr lang="en-US" sz="2800" b="1" spc="-5" dirty="0">
                <a:solidFill>
                  <a:srgbClr val="3333FF"/>
                </a:solidFill>
                <a:latin typeface="Carlito"/>
              </a:rPr>
              <a:t>Working of Filter Method</a:t>
            </a:r>
            <a:endParaRPr lang="en-IN" sz="2800" b="1" spc="-5" dirty="0">
              <a:solidFill>
                <a:srgbClr val="3333FF"/>
              </a:solidFill>
              <a:latin typeface="Carlito"/>
            </a:endParaRPr>
          </a:p>
        </p:txBody>
      </p:sp>
      <p:pic>
        <p:nvPicPr>
          <p:cNvPr id="5" name="Content Placeholder 4">
            <a:extLst>
              <a:ext uri="{FF2B5EF4-FFF2-40B4-BE49-F238E27FC236}">
                <a16:creationId xmlns:a16="http://schemas.microsoft.com/office/drawing/2014/main" id="{C9056417-806F-4D0F-8664-D6F17DE5D5E0}"/>
              </a:ext>
            </a:extLst>
          </p:cNvPr>
          <p:cNvPicPr>
            <a:picLocks noGrp="1" noChangeAspect="1"/>
          </p:cNvPicPr>
          <p:nvPr>
            <p:ph idx="1"/>
          </p:nvPr>
        </p:nvPicPr>
        <p:blipFill>
          <a:blip r:embed="rId2"/>
          <a:stretch>
            <a:fillRect/>
          </a:stretch>
        </p:blipFill>
        <p:spPr>
          <a:xfrm>
            <a:off x="3307080" y="762000"/>
            <a:ext cx="5577840" cy="5876782"/>
          </a:xfrm>
        </p:spPr>
      </p:pic>
    </p:spTree>
    <p:extLst>
      <p:ext uri="{BB962C8B-B14F-4D97-AF65-F5344CB8AC3E}">
        <p14:creationId xmlns:p14="http://schemas.microsoft.com/office/powerpoint/2010/main" val="1944409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95BEA-DDED-4967-9831-B0F920C76151}"/>
              </a:ext>
            </a:extLst>
          </p:cNvPr>
          <p:cNvSpPr>
            <a:spLocks noGrp="1"/>
          </p:cNvSpPr>
          <p:nvPr>
            <p:ph type="title"/>
          </p:nvPr>
        </p:nvSpPr>
        <p:spPr>
          <a:xfrm>
            <a:off x="975360" y="349885"/>
            <a:ext cx="10515600" cy="1325563"/>
          </a:xfrm>
        </p:spPr>
        <p:txBody>
          <a:bodyPr/>
          <a:lstStyle/>
          <a:p>
            <a:r>
              <a:rPr lang="en-US" sz="2800" b="1" spc="-5" dirty="0">
                <a:solidFill>
                  <a:srgbClr val="3333FF"/>
                </a:solidFill>
                <a:latin typeface="Carlito"/>
              </a:rPr>
              <a:t>filtering criteria:</a:t>
            </a:r>
            <a:br>
              <a:rPr lang="en-US" sz="2800" b="1" spc="-5" dirty="0">
                <a:solidFill>
                  <a:srgbClr val="3333FF"/>
                </a:solidFill>
                <a:latin typeface="Carlito"/>
              </a:rPr>
            </a:b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159B7ABB-9E76-49C3-A58E-89C6928B33B9}"/>
              </a:ext>
            </a:extLst>
          </p:cNvPr>
          <p:cNvSpPr>
            <a:spLocks noGrp="1"/>
          </p:cNvSpPr>
          <p:nvPr>
            <p:ph idx="1"/>
          </p:nvPr>
        </p:nvSpPr>
        <p:spPr>
          <a:xfrm>
            <a:off x="838200" y="1825624"/>
            <a:ext cx="10515600" cy="4682491"/>
          </a:xfrm>
        </p:spPr>
        <p:txBody>
          <a:bodyPr>
            <a:normAutofit fontScale="92500" lnSpcReduction="10000"/>
          </a:bodyPr>
          <a:lstStyle/>
          <a:p>
            <a:pPr marL="0" indent="0">
              <a:lnSpc>
                <a:spcPct val="100000"/>
              </a:lnSpc>
              <a:buNone/>
            </a:pPr>
            <a:endParaRPr lang="en-US" sz="1800" dirty="0">
              <a:latin typeface="Times New Roman" panose="02020603050405020304" pitchFamily="18" charset="0"/>
            </a:endParaRPr>
          </a:p>
          <a:p>
            <a:pPr>
              <a:lnSpc>
                <a:spcPct val="100000"/>
              </a:lnSpc>
            </a:pPr>
            <a:r>
              <a:rPr lang="en-US" sz="2400" dirty="0">
                <a:solidFill>
                  <a:srgbClr val="C00000"/>
                </a:solidFill>
                <a:latin typeface="Times New Roman" panose="02020603050405020304" pitchFamily="18" charset="0"/>
              </a:rPr>
              <a:t>Information Gain </a:t>
            </a:r>
            <a:r>
              <a:rPr lang="en-US" sz="2400" dirty="0">
                <a:latin typeface="Times New Roman" panose="02020603050405020304" pitchFamily="18" charset="0"/>
              </a:rPr>
              <a:t>to find relevant features</a:t>
            </a:r>
          </a:p>
          <a:p>
            <a:pPr>
              <a:lnSpc>
                <a:spcPct val="100000"/>
              </a:lnSpc>
            </a:pPr>
            <a:r>
              <a:rPr lang="en-US" sz="2400" dirty="0">
                <a:latin typeface="Times New Roman" panose="02020603050405020304" pitchFamily="18" charset="0"/>
              </a:rPr>
              <a:t>Proxies of Information Gain</a:t>
            </a:r>
          </a:p>
          <a:p>
            <a:pPr>
              <a:lnSpc>
                <a:spcPct val="100000"/>
              </a:lnSpc>
            </a:pPr>
            <a:r>
              <a:rPr lang="en-US" sz="2400" dirty="0">
                <a:latin typeface="Times New Roman" panose="02020603050405020304" pitchFamily="18" charset="0"/>
              </a:rPr>
              <a:t>Variance</a:t>
            </a:r>
            <a:endParaRPr lang="en-US" sz="2400" dirty="0">
              <a:solidFill>
                <a:srgbClr val="C00000"/>
              </a:solidFill>
              <a:latin typeface="Times New Roman" panose="02020603050405020304" pitchFamily="18" charset="0"/>
            </a:endParaRPr>
          </a:p>
          <a:p>
            <a:pPr>
              <a:lnSpc>
                <a:spcPct val="100000"/>
              </a:lnSpc>
            </a:pPr>
            <a:r>
              <a:rPr lang="en-US" sz="2400" dirty="0">
                <a:latin typeface="Times New Roman" panose="02020603050405020304" pitchFamily="18" charset="0"/>
              </a:rPr>
              <a:t>Retain Independent/Non Redundant Features:  </a:t>
            </a:r>
            <a:r>
              <a:rPr lang="en-US" sz="2400" dirty="0">
                <a:solidFill>
                  <a:srgbClr val="C00000"/>
                </a:solidFill>
                <a:latin typeface="Times New Roman" panose="02020603050405020304" pitchFamily="18" charset="0"/>
              </a:rPr>
              <a:t>removing the redundant features</a:t>
            </a:r>
          </a:p>
          <a:p>
            <a:pPr>
              <a:lnSpc>
                <a:spcPct val="100000"/>
              </a:lnSpc>
            </a:pPr>
            <a:r>
              <a:rPr lang="en-US" sz="2400" dirty="0">
                <a:latin typeface="Times New Roman" panose="02020603050405020304" pitchFamily="18" charset="0"/>
              </a:rPr>
              <a:t>Exclude the features which has many </a:t>
            </a:r>
            <a:r>
              <a:rPr lang="en-US" sz="2400" dirty="0">
                <a:solidFill>
                  <a:srgbClr val="C00000"/>
                </a:solidFill>
                <a:latin typeface="Times New Roman" panose="02020603050405020304" pitchFamily="18" charset="0"/>
              </a:rPr>
              <a:t>missing values</a:t>
            </a:r>
          </a:p>
          <a:p>
            <a:pPr>
              <a:lnSpc>
                <a:spcPct val="100000"/>
              </a:lnSpc>
            </a:pPr>
            <a:r>
              <a:rPr lang="en-US" sz="2400" dirty="0">
                <a:latin typeface="Times New Roman" panose="02020603050405020304" pitchFamily="18" charset="0"/>
              </a:rPr>
              <a:t>We can use </a:t>
            </a:r>
            <a:r>
              <a:rPr lang="en-US" sz="2400" dirty="0">
                <a:solidFill>
                  <a:srgbClr val="C00000"/>
                </a:solidFill>
                <a:latin typeface="Times New Roman" panose="02020603050405020304" pitchFamily="18" charset="0"/>
              </a:rPr>
              <a:t>Correlation coefficient </a:t>
            </a:r>
            <a:r>
              <a:rPr lang="en-US" sz="2400" dirty="0">
                <a:latin typeface="Times New Roman" panose="02020603050405020304" pitchFamily="18" charset="0"/>
              </a:rPr>
              <a:t>to find out which features to retain, the features which have strong relationship with target variables can be retained.</a:t>
            </a:r>
          </a:p>
          <a:p>
            <a:pPr>
              <a:lnSpc>
                <a:spcPct val="100000"/>
              </a:lnSpc>
            </a:pPr>
            <a:r>
              <a:rPr lang="en-US" sz="2400" dirty="0">
                <a:latin typeface="Times New Roman" panose="02020603050405020304" pitchFamily="18" charset="0"/>
              </a:rPr>
              <a:t>Use </a:t>
            </a:r>
            <a:r>
              <a:rPr lang="en-US" sz="2400" dirty="0">
                <a:solidFill>
                  <a:srgbClr val="C00000"/>
                </a:solidFill>
                <a:latin typeface="Times New Roman" panose="02020603050405020304" pitchFamily="18" charset="0"/>
              </a:rPr>
              <a:t>Chi square test</a:t>
            </a:r>
          </a:p>
          <a:p>
            <a:pPr>
              <a:lnSpc>
                <a:spcPct val="100000"/>
              </a:lnSpc>
            </a:pPr>
            <a:r>
              <a:rPr lang="en-US" sz="2400" dirty="0">
                <a:solidFill>
                  <a:srgbClr val="C00000"/>
                </a:solidFill>
                <a:latin typeface="Times New Roman" panose="02020603050405020304" pitchFamily="18" charset="0"/>
              </a:rPr>
              <a:t>Remove Constant Features </a:t>
            </a:r>
            <a:r>
              <a:rPr lang="en-US" sz="2400" dirty="0">
                <a:latin typeface="Times New Roman" panose="02020603050405020304" pitchFamily="18" charset="0"/>
              </a:rPr>
              <a:t>that show single values in all the observations in the dataset. These features provide no information that allows ML models to predict the target</a:t>
            </a:r>
          </a:p>
          <a:p>
            <a:pPr>
              <a:lnSpc>
                <a:spcPct val="100000"/>
              </a:lnSpc>
            </a:pPr>
            <a:endParaRPr lang="en-US" sz="2400" dirty="0">
              <a:latin typeface="Times New Roman" panose="02020603050405020304" pitchFamily="18" charset="0"/>
            </a:endParaRPr>
          </a:p>
          <a:p>
            <a:pPr>
              <a:lnSpc>
                <a:spcPct val="100000"/>
              </a:lnSpc>
            </a:pPr>
            <a:endParaRPr lang="en-US" sz="2400" dirty="0">
              <a:latin typeface="Times New Roman" panose="02020603050405020304" pitchFamily="18" charset="0"/>
            </a:endParaRPr>
          </a:p>
          <a:p>
            <a:pPr>
              <a:lnSpc>
                <a:spcPct val="100000"/>
              </a:lnSpc>
            </a:pPr>
            <a:endParaRPr lang="en-IN" sz="1800" dirty="0">
              <a:latin typeface="Times New Roman" panose="02020603050405020304" pitchFamily="18" charset="0"/>
            </a:endParaRPr>
          </a:p>
        </p:txBody>
      </p:sp>
    </p:spTree>
    <p:extLst>
      <p:ext uri="{BB962C8B-B14F-4D97-AF65-F5344CB8AC3E}">
        <p14:creationId xmlns:p14="http://schemas.microsoft.com/office/powerpoint/2010/main" val="3098622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179E-1920-43E0-8B46-B7CE942E42D3}"/>
              </a:ext>
            </a:extLst>
          </p:cNvPr>
          <p:cNvSpPr>
            <a:spLocks noGrp="1"/>
          </p:cNvSpPr>
          <p:nvPr>
            <p:ph type="title"/>
          </p:nvPr>
        </p:nvSpPr>
        <p:spPr/>
        <p:txBody>
          <a:bodyPr/>
          <a:lstStyle/>
          <a:p>
            <a:r>
              <a:rPr lang="en-IN" sz="2800" b="1" spc="-5" dirty="0">
                <a:solidFill>
                  <a:srgbClr val="3333FF"/>
                </a:solidFill>
                <a:latin typeface="Carlito"/>
              </a:rPr>
              <a:t>Information Gain</a:t>
            </a:r>
          </a:p>
        </p:txBody>
      </p:sp>
      <p:sp>
        <p:nvSpPr>
          <p:cNvPr id="3" name="Content Placeholder 2">
            <a:extLst>
              <a:ext uri="{FF2B5EF4-FFF2-40B4-BE49-F238E27FC236}">
                <a16:creationId xmlns:a16="http://schemas.microsoft.com/office/drawing/2014/main" id="{EFE22AF5-BBD2-4E47-822E-B5D0CA072591}"/>
              </a:ext>
            </a:extLst>
          </p:cNvPr>
          <p:cNvSpPr>
            <a:spLocks noGrp="1"/>
          </p:cNvSpPr>
          <p:nvPr>
            <p:ph idx="1"/>
          </p:nvPr>
        </p:nvSpPr>
        <p:spPr/>
        <p:txBody>
          <a:bodyPr/>
          <a:lstStyle/>
          <a:p>
            <a:r>
              <a:rPr lang="en-US" dirty="0"/>
              <a:t>Information gain: This criterion measures the worth of a feature by measuring the information gain with respect to the class. </a:t>
            </a:r>
            <a:r>
              <a:rPr lang="en-US" sz="2800" dirty="0">
                <a:latin typeface="Times New Roman" panose="02020603050405020304" pitchFamily="18" charset="0"/>
              </a:rPr>
              <a:t>You could in fact have your search algorithm just be a decision tree, and pass the nodes used in the </a:t>
            </a:r>
            <a:r>
              <a:rPr lang="en-US" sz="2800" dirty="0" err="1">
                <a:latin typeface="Times New Roman" panose="02020603050405020304" pitchFamily="18" charset="0"/>
              </a:rPr>
              <a:t>DTree</a:t>
            </a:r>
            <a:r>
              <a:rPr lang="en-US" sz="2800" dirty="0">
                <a:latin typeface="Times New Roman" panose="02020603050405020304" pitchFamily="18" charset="0"/>
              </a:rPr>
              <a:t> to your learner as your reduced features. So that is like using the inductive bias of </a:t>
            </a:r>
            <a:r>
              <a:rPr lang="en-US" sz="2800" dirty="0" err="1">
                <a:latin typeface="Times New Roman" panose="02020603050405020304" pitchFamily="18" charset="0"/>
              </a:rPr>
              <a:t>DTrees</a:t>
            </a:r>
            <a:r>
              <a:rPr lang="en-US" sz="2800" dirty="0">
                <a:latin typeface="Times New Roman" panose="02020603050405020304" pitchFamily="18" charset="0"/>
              </a:rPr>
              <a:t> to choose features, then passing it on to your other learner (</a:t>
            </a:r>
            <a:r>
              <a:rPr lang="en-US" sz="2800" dirty="0" err="1">
                <a:latin typeface="Times New Roman" panose="02020603050405020304" pitchFamily="18" charset="0"/>
              </a:rPr>
              <a:t>kNN</a:t>
            </a:r>
            <a:r>
              <a:rPr lang="en-US" sz="2800" dirty="0">
                <a:latin typeface="Times New Roman" panose="02020603050405020304" pitchFamily="18" charset="0"/>
              </a:rPr>
              <a:t>) with some other bias. This is particularly helpful when this other learner (like NN or </a:t>
            </a:r>
            <a:r>
              <a:rPr lang="en-US" sz="2800" dirty="0" err="1">
                <a:latin typeface="Times New Roman" panose="02020603050405020304" pitchFamily="18" charset="0"/>
              </a:rPr>
              <a:t>kNN</a:t>
            </a:r>
            <a:r>
              <a:rPr lang="en-US" sz="2800" dirty="0">
                <a:latin typeface="Times New Roman" panose="02020603050405020304" pitchFamily="18" charset="0"/>
              </a:rPr>
              <a:t>) suffers from the curse of dimensionality.</a:t>
            </a:r>
            <a:endParaRPr lang="en-IN" sz="2800" dirty="0">
              <a:latin typeface="Times New Roman" panose="02020603050405020304" pitchFamily="18" charset="0"/>
            </a:endParaRPr>
          </a:p>
          <a:p>
            <a:endParaRPr lang="en-IN" dirty="0"/>
          </a:p>
        </p:txBody>
      </p:sp>
    </p:spTree>
    <p:extLst>
      <p:ext uri="{BB962C8B-B14F-4D97-AF65-F5344CB8AC3E}">
        <p14:creationId xmlns:p14="http://schemas.microsoft.com/office/powerpoint/2010/main" val="32251511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61F02-E4A4-4779-8BCF-D2D27EB045AE}"/>
              </a:ext>
            </a:extLst>
          </p:cNvPr>
          <p:cNvSpPr>
            <a:spLocks noGrp="1"/>
          </p:cNvSpPr>
          <p:nvPr>
            <p:ph type="title"/>
          </p:nvPr>
        </p:nvSpPr>
        <p:spPr/>
        <p:txBody>
          <a:bodyPr/>
          <a:lstStyle/>
          <a:p>
            <a:r>
              <a:rPr lang="en-US" sz="2800" b="1" spc="-5" dirty="0">
                <a:solidFill>
                  <a:srgbClr val="3333FF"/>
                </a:solidFill>
                <a:latin typeface="Carlito"/>
              </a:rPr>
              <a:t>Variance</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A8C4AE42-EC7D-4012-B460-720C64BA4670}"/>
              </a:ext>
            </a:extLst>
          </p:cNvPr>
          <p:cNvSpPr>
            <a:spLocks noGrp="1"/>
          </p:cNvSpPr>
          <p:nvPr>
            <p:ph idx="1"/>
          </p:nvPr>
        </p:nvSpPr>
        <p:spPr>
          <a:xfrm>
            <a:off x="838200" y="1414145"/>
            <a:ext cx="10515600" cy="4351338"/>
          </a:xfrm>
        </p:spPr>
        <p:txBody>
          <a:bodyPr/>
          <a:lstStyle/>
          <a:p>
            <a:pPr>
              <a:lnSpc>
                <a:spcPct val="150000"/>
              </a:lnSpc>
            </a:pPr>
            <a:r>
              <a:rPr lang="en-US" sz="2200" dirty="0">
                <a:latin typeface="Times New Roman" panose="02020603050405020304" pitchFamily="18" charset="0"/>
              </a:rPr>
              <a:t>Another filter method of feature reduction is variance thresholding. The variance of a feature determines how much predictive power it contains. The lower the variance is, the less information contained in the feature, and the less value it has in predicting the response variable.</a:t>
            </a:r>
          </a:p>
          <a:p>
            <a:pPr>
              <a:lnSpc>
                <a:spcPct val="150000"/>
              </a:lnSpc>
            </a:pPr>
            <a:endParaRPr lang="en-IN" sz="2200" dirty="0">
              <a:latin typeface="Times New Roman" panose="02020603050405020304" pitchFamily="18" charset="0"/>
            </a:endParaRPr>
          </a:p>
        </p:txBody>
      </p:sp>
      <p:pic>
        <p:nvPicPr>
          <p:cNvPr id="4" name="Picture 3">
            <a:extLst>
              <a:ext uri="{FF2B5EF4-FFF2-40B4-BE49-F238E27FC236}">
                <a16:creationId xmlns:a16="http://schemas.microsoft.com/office/drawing/2014/main" id="{41DFE418-E57A-4126-B165-4A5E8FEF5DCB}"/>
              </a:ext>
            </a:extLst>
          </p:cNvPr>
          <p:cNvPicPr>
            <a:picLocks noChangeAspect="1"/>
          </p:cNvPicPr>
          <p:nvPr/>
        </p:nvPicPr>
        <p:blipFill>
          <a:blip r:embed="rId2"/>
          <a:stretch>
            <a:fillRect/>
          </a:stretch>
        </p:blipFill>
        <p:spPr>
          <a:xfrm>
            <a:off x="5090160" y="2938215"/>
            <a:ext cx="5811207" cy="3876288"/>
          </a:xfrm>
          <a:prstGeom prst="rect">
            <a:avLst/>
          </a:prstGeom>
        </p:spPr>
      </p:pic>
    </p:spTree>
    <p:extLst>
      <p:ext uri="{BB962C8B-B14F-4D97-AF65-F5344CB8AC3E}">
        <p14:creationId xmlns:p14="http://schemas.microsoft.com/office/powerpoint/2010/main" val="4210883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F5DB3-B475-4784-897B-CD2BBE4CAB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8D2E65-DDB1-4186-B200-6584223C5FBF}"/>
              </a:ext>
            </a:extLst>
          </p:cNvPr>
          <p:cNvSpPr>
            <a:spLocks noGrp="1"/>
          </p:cNvSpPr>
          <p:nvPr>
            <p:ph idx="1"/>
          </p:nvPr>
        </p:nvSpPr>
        <p:spPr/>
        <p:txBody>
          <a:bodyPr/>
          <a:lstStyle/>
          <a:p>
            <a:pPr marL="0" indent="0">
              <a:buNone/>
            </a:pPr>
            <a:r>
              <a:rPr lang="en-US" dirty="0">
                <a:solidFill>
                  <a:srgbClr val="C00000"/>
                </a:solidFill>
              </a:rPr>
              <a:t>Low Variance filter</a:t>
            </a:r>
          </a:p>
          <a:p>
            <a:pPr marL="0" indent="0">
              <a:buNone/>
            </a:pPr>
            <a:r>
              <a:rPr lang="en-US" dirty="0"/>
              <a:t>The process flow of this technique is as under:</a:t>
            </a:r>
          </a:p>
          <a:p>
            <a:pPr marL="0" indent="0">
              <a:buNone/>
            </a:pPr>
            <a:endParaRPr lang="en-US" dirty="0"/>
          </a:p>
          <a:p>
            <a:pPr marL="0" indent="0">
              <a:buNone/>
            </a:pPr>
            <a:r>
              <a:rPr lang="en-US" dirty="0"/>
              <a:t>The variance of all the attributes in a dataset is compared. </a:t>
            </a:r>
          </a:p>
          <a:p>
            <a:pPr marL="0" indent="0">
              <a:buNone/>
            </a:pPr>
            <a:r>
              <a:rPr lang="en-US" dirty="0"/>
              <a:t> The attributes having sufficiently low variance are discarded.</a:t>
            </a:r>
          </a:p>
          <a:p>
            <a:pPr marL="0" indent="0">
              <a:buNone/>
            </a:pPr>
            <a:r>
              <a:rPr lang="en-US" dirty="0"/>
              <a:t>The attributes that do not possess much variance assume a constant value, thus having no contribution to the model’s predictability.</a:t>
            </a:r>
            <a:endParaRPr lang="en-IN" dirty="0"/>
          </a:p>
        </p:txBody>
      </p:sp>
    </p:spTree>
    <p:extLst>
      <p:ext uri="{BB962C8B-B14F-4D97-AF65-F5344CB8AC3E}">
        <p14:creationId xmlns:p14="http://schemas.microsoft.com/office/powerpoint/2010/main" val="3006680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C622D-AB16-40C5-9E48-390852B25F92}"/>
              </a:ext>
            </a:extLst>
          </p:cNvPr>
          <p:cNvSpPr>
            <a:spLocks noGrp="1"/>
          </p:cNvSpPr>
          <p:nvPr>
            <p:ph type="title"/>
          </p:nvPr>
        </p:nvSpPr>
        <p:spPr/>
        <p:txBody>
          <a:bodyPr/>
          <a:lstStyle/>
          <a:p>
            <a:r>
              <a:rPr lang="en-US" sz="2800" b="1" spc="-5" dirty="0">
                <a:solidFill>
                  <a:srgbClr val="3333FF"/>
                </a:solidFill>
                <a:latin typeface="Carlito"/>
              </a:rPr>
              <a:t>Correlation</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6059A7D5-7D9D-4A8B-8159-1EFC2F1A6332}"/>
              </a:ext>
            </a:extLst>
          </p:cNvPr>
          <p:cNvSpPr>
            <a:spLocks noGrp="1"/>
          </p:cNvSpPr>
          <p:nvPr>
            <p:ph idx="1"/>
          </p:nvPr>
        </p:nvSpPr>
        <p:spPr/>
        <p:txBody>
          <a:bodyPr>
            <a:normAutofit fontScale="92500" lnSpcReduction="20000"/>
          </a:bodyPr>
          <a:lstStyle/>
          <a:p>
            <a:pPr algn="just"/>
            <a:r>
              <a:rPr lang="en-US" sz="2600" dirty="0">
                <a:latin typeface="Times New Roman" panose="02020603050405020304" pitchFamily="18" charset="0"/>
              </a:rPr>
              <a:t>Correlation is defined as a measure of the linear relationship between two quantitative variables, like height and weight. You could also define correlation is a measure of how strongly one variable depends on another.</a:t>
            </a:r>
          </a:p>
          <a:p>
            <a:pPr algn="just"/>
            <a:r>
              <a:rPr lang="en-US" sz="2600" dirty="0">
                <a:latin typeface="Times New Roman" panose="02020603050405020304" pitchFamily="18" charset="0"/>
              </a:rPr>
              <a:t>A high correlation is often a useful property—if two variables are highly correlated, we can predict one from the other. Therefore, we generally look for features that are highly correlated with the target, especially for linear machine learning models.</a:t>
            </a:r>
          </a:p>
          <a:p>
            <a:pPr algn="just"/>
            <a:r>
              <a:rPr lang="en-US" sz="2600" dirty="0">
                <a:latin typeface="Times New Roman" panose="02020603050405020304" pitchFamily="18" charset="0"/>
              </a:rPr>
              <a:t>However, if two variables are highly correlated among themselves, they provide redundant information in regards to the target. Essentially, we can make an accurate prediction on the target with just one of the redundant variables.</a:t>
            </a:r>
          </a:p>
          <a:p>
            <a:pPr algn="just"/>
            <a:r>
              <a:rPr lang="en-US" sz="2600" dirty="0">
                <a:latin typeface="Times New Roman" panose="02020603050405020304" pitchFamily="18" charset="0"/>
              </a:rPr>
              <a:t>In these cases, the second variable doesn’t add additional information, so removing it can help to reduce the dimensionality and also the added noise.</a:t>
            </a:r>
          </a:p>
          <a:p>
            <a:pPr algn="just"/>
            <a:r>
              <a:rPr lang="en-US" sz="2600" dirty="0">
                <a:latin typeface="Times New Roman" panose="02020603050405020304" pitchFamily="18" charset="0"/>
              </a:rPr>
              <a:t>There are a number of methods to measure the correlation between variables—let’s explore the most widely used ones.</a:t>
            </a:r>
          </a:p>
          <a:p>
            <a:endParaRPr lang="en-IN" dirty="0"/>
          </a:p>
        </p:txBody>
      </p:sp>
    </p:spTree>
    <p:extLst>
      <p:ext uri="{BB962C8B-B14F-4D97-AF65-F5344CB8AC3E}">
        <p14:creationId xmlns:p14="http://schemas.microsoft.com/office/powerpoint/2010/main" val="3559138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77903-B082-4A91-BB89-74DDA92B37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F56C711-51C6-4178-B1E4-03BE0107CF20}"/>
              </a:ext>
            </a:extLst>
          </p:cNvPr>
          <p:cNvSpPr>
            <a:spLocks noGrp="1"/>
          </p:cNvSpPr>
          <p:nvPr>
            <p:ph idx="1"/>
          </p:nvPr>
        </p:nvSpPr>
        <p:spPr>
          <a:xfrm>
            <a:off x="838200" y="1840865"/>
            <a:ext cx="10515600" cy="4351338"/>
          </a:xfrm>
        </p:spPr>
        <p:txBody>
          <a:bodyPr>
            <a:normAutofit fontScale="92500" lnSpcReduction="10000"/>
          </a:bodyPr>
          <a:lstStyle/>
          <a:p>
            <a:pPr>
              <a:lnSpc>
                <a:spcPct val="150000"/>
              </a:lnSpc>
            </a:pPr>
            <a:r>
              <a:rPr lang="en-US" sz="2400" dirty="0">
                <a:latin typeface="Times New Roman" panose="02020603050405020304" pitchFamily="18" charset="0"/>
              </a:rPr>
              <a:t>Pearson correlation coefficient- This is a popular measure we use frequently in machine learning. It’s used to summarize the strength of the linear relationship between two data variables, which can vary between 1 and -1:</a:t>
            </a:r>
          </a:p>
          <a:p>
            <a:pPr>
              <a:lnSpc>
                <a:spcPct val="150000"/>
              </a:lnSpc>
            </a:pPr>
            <a:r>
              <a:rPr lang="en-US" sz="2400" dirty="0">
                <a:latin typeface="Times New Roman" panose="02020603050405020304" pitchFamily="18" charset="0"/>
              </a:rPr>
              <a:t>1 means a positive correlation: the values of one variable increase as the values of another increase.</a:t>
            </a:r>
          </a:p>
          <a:p>
            <a:pPr>
              <a:lnSpc>
                <a:spcPct val="150000"/>
              </a:lnSpc>
            </a:pPr>
            <a:r>
              <a:rPr lang="en-US" sz="2400" dirty="0">
                <a:latin typeface="Times New Roman" panose="02020603050405020304" pitchFamily="18" charset="0"/>
              </a:rPr>
              <a:t>-1 means a negative correlation: the values of one variable decrease as the values of another increase.</a:t>
            </a:r>
          </a:p>
          <a:p>
            <a:pPr>
              <a:lnSpc>
                <a:spcPct val="150000"/>
              </a:lnSpc>
            </a:pPr>
            <a:r>
              <a:rPr lang="en-US" sz="2400" dirty="0">
                <a:latin typeface="Times New Roman" panose="02020603050405020304" pitchFamily="18" charset="0"/>
              </a:rPr>
              <a:t>0 means no linear correlation between the two variables.</a:t>
            </a:r>
          </a:p>
          <a:p>
            <a:endParaRPr lang="en-IN" dirty="0"/>
          </a:p>
        </p:txBody>
      </p:sp>
    </p:spTree>
    <p:extLst>
      <p:ext uri="{BB962C8B-B14F-4D97-AF65-F5344CB8AC3E}">
        <p14:creationId xmlns:p14="http://schemas.microsoft.com/office/powerpoint/2010/main" val="2460899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73FB1-C830-4072-8010-E64631E8E9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D5F3BD7-FDF0-4CF1-87B6-9E347F74FD31}"/>
              </a:ext>
            </a:extLst>
          </p:cNvPr>
          <p:cNvSpPr>
            <a:spLocks noGrp="1"/>
          </p:cNvSpPr>
          <p:nvPr>
            <p:ph idx="1"/>
          </p:nvPr>
        </p:nvSpPr>
        <p:spPr/>
        <p:txBody>
          <a:bodyPr/>
          <a:lstStyle/>
          <a:p>
            <a:pPr marL="0" indent="0" algn="just">
              <a:buNone/>
            </a:pPr>
            <a:r>
              <a:rPr lang="en-US" dirty="0">
                <a:solidFill>
                  <a:srgbClr val="C00000"/>
                </a:solidFill>
              </a:rPr>
              <a:t>High Correlation filter</a:t>
            </a:r>
          </a:p>
          <a:p>
            <a:pPr marL="0" indent="0" algn="just">
              <a:buNone/>
            </a:pPr>
            <a:r>
              <a:rPr lang="en-US" dirty="0"/>
              <a:t>In this technique, the steps are as under:</a:t>
            </a:r>
          </a:p>
          <a:p>
            <a:pPr marL="0" indent="0" algn="just">
              <a:buNone/>
            </a:pPr>
            <a:endParaRPr lang="en-US" dirty="0"/>
          </a:p>
          <a:p>
            <a:pPr marL="0" indent="0" algn="just">
              <a:buNone/>
            </a:pPr>
            <a:r>
              <a:rPr lang="en-US" dirty="0"/>
              <a:t>The pairwise correlation between attributes is determined. </a:t>
            </a:r>
          </a:p>
          <a:p>
            <a:pPr marL="0" indent="0" algn="just">
              <a:buNone/>
            </a:pPr>
            <a:r>
              <a:rPr lang="en-US" dirty="0"/>
              <a:t>One of the attributes in the pair that has a significantly high correlation is eliminated and the other retained.</a:t>
            </a:r>
          </a:p>
          <a:p>
            <a:pPr marL="0" indent="0" algn="just">
              <a:buNone/>
            </a:pPr>
            <a:r>
              <a:rPr lang="en-US" dirty="0"/>
              <a:t>In the eliminated attribute, the variability is captured through the retained attribute.</a:t>
            </a:r>
            <a:endParaRPr lang="en-IN" dirty="0"/>
          </a:p>
        </p:txBody>
      </p:sp>
    </p:spTree>
    <p:extLst>
      <p:ext uri="{BB962C8B-B14F-4D97-AF65-F5344CB8AC3E}">
        <p14:creationId xmlns:p14="http://schemas.microsoft.com/office/powerpoint/2010/main" val="825820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13E3-24A6-4A93-A528-A0B46B5DB7AD}"/>
              </a:ext>
            </a:extLst>
          </p:cNvPr>
          <p:cNvSpPr>
            <a:spLocks noGrp="1"/>
          </p:cNvSpPr>
          <p:nvPr>
            <p:ph type="title"/>
          </p:nvPr>
        </p:nvSpPr>
        <p:spPr/>
        <p:txBody>
          <a:bodyPr/>
          <a:lstStyle/>
          <a:p>
            <a:r>
              <a:rPr lang="en-US" sz="2800" b="1" spc="-5" dirty="0">
                <a:solidFill>
                  <a:srgbClr val="3333FF"/>
                </a:solidFill>
                <a:latin typeface="Carlito"/>
              </a:rPr>
              <a:t>Remove the features that are highly correlated with each other</a:t>
            </a:r>
            <a:endParaRPr lang="en-IN" sz="2800" b="1" spc="-5" dirty="0">
              <a:solidFill>
                <a:srgbClr val="3333FF"/>
              </a:solidFill>
              <a:latin typeface="Carlito"/>
            </a:endParaRPr>
          </a:p>
        </p:txBody>
      </p:sp>
      <p:sp>
        <p:nvSpPr>
          <p:cNvPr id="7" name="Content Placeholder 6">
            <a:extLst>
              <a:ext uri="{FF2B5EF4-FFF2-40B4-BE49-F238E27FC236}">
                <a16:creationId xmlns:a16="http://schemas.microsoft.com/office/drawing/2014/main" id="{B4B6F693-1CB1-4650-B6DD-0F34A0A99E0C}"/>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C6D89DDB-8A16-4DA4-B367-AC756FA71C17}"/>
              </a:ext>
            </a:extLst>
          </p:cNvPr>
          <p:cNvPicPr>
            <a:picLocks noChangeAspect="1"/>
          </p:cNvPicPr>
          <p:nvPr/>
        </p:nvPicPr>
        <p:blipFill>
          <a:blip r:embed="rId3"/>
          <a:stretch>
            <a:fillRect/>
          </a:stretch>
        </p:blipFill>
        <p:spPr>
          <a:xfrm>
            <a:off x="501967" y="1960562"/>
            <a:ext cx="10639425" cy="4351338"/>
          </a:xfrm>
          <a:prstGeom prst="rect">
            <a:avLst/>
          </a:prstGeom>
        </p:spPr>
      </p:pic>
    </p:spTree>
    <p:extLst>
      <p:ext uri="{BB962C8B-B14F-4D97-AF65-F5344CB8AC3E}">
        <p14:creationId xmlns:p14="http://schemas.microsoft.com/office/powerpoint/2010/main" val="3678484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81FD5-C3C0-4EF9-8483-9A95468DA782}"/>
              </a:ext>
            </a:extLst>
          </p:cNvPr>
          <p:cNvSpPr>
            <a:spLocks noGrp="1"/>
          </p:cNvSpPr>
          <p:nvPr>
            <p:ph type="title"/>
          </p:nvPr>
        </p:nvSpPr>
        <p:spPr/>
        <p:txBody>
          <a:bodyPr/>
          <a:lstStyle/>
          <a:p>
            <a:r>
              <a:rPr lang="en-IN" sz="2800" b="1" spc="-5" dirty="0">
                <a:solidFill>
                  <a:srgbClr val="3333FF"/>
                </a:solidFill>
                <a:latin typeface="Carlito"/>
              </a:rPr>
              <a:t>Chi-squared Score</a:t>
            </a:r>
          </a:p>
        </p:txBody>
      </p:sp>
      <p:sp>
        <p:nvSpPr>
          <p:cNvPr id="3" name="Content Placeholder 2">
            <a:extLst>
              <a:ext uri="{FF2B5EF4-FFF2-40B4-BE49-F238E27FC236}">
                <a16:creationId xmlns:a16="http://schemas.microsoft.com/office/drawing/2014/main" id="{98255DB5-C0B6-49B8-878C-B8A3630E4613}"/>
              </a:ext>
            </a:extLst>
          </p:cNvPr>
          <p:cNvSpPr>
            <a:spLocks noGrp="1"/>
          </p:cNvSpPr>
          <p:nvPr>
            <p:ph idx="1"/>
          </p:nvPr>
        </p:nvSpPr>
        <p:spPr/>
        <p:txBody>
          <a:bodyPr/>
          <a:lstStyle/>
          <a:p>
            <a:pPr marL="0" indent="0" algn="l">
              <a:buNone/>
            </a:pPr>
            <a:endParaRPr lang="en-US" b="1" spc="-5" dirty="0">
              <a:solidFill>
                <a:srgbClr val="3333FF"/>
              </a:solidFill>
              <a:latin typeface="Carlito"/>
              <a:ea typeface="+mj-ea"/>
              <a:cs typeface="+mj-cs"/>
            </a:endParaRPr>
          </a:p>
          <a:p>
            <a:pPr>
              <a:lnSpc>
                <a:spcPct val="150000"/>
              </a:lnSpc>
            </a:pPr>
            <a:r>
              <a:rPr lang="en-US" sz="2400" dirty="0">
                <a:latin typeface="Times New Roman" panose="02020603050405020304" pitchFamily="18" charset="0"/>
              </a:rPr>
              <a:t>This is another statistical method that’s commonly used for testing relationships between categorical variables.</a:t>
            </a:r>
          </a:p>
          <a:p>
            <a:pPr>
              <a:lnSpc>
                <a:spcPct val="150000"/>
              </a:lnSpc>
            </a:pPr>
            <a:r>
              <a:rPr lang="en-US" sz="2400" dirty="0">
                <a:latin typeface="Times New Roman" panose="02020603050405020304" pitchFamily="18" charset="0"/>
              </a:rPr>
              <a:t>Therefore, it’s suited for categorical variables and binary targets only, and the variables should be non-negative and typically </a:t>
            </a:r>
            <a:r>
              <a:rPr lang="en-US" sz="2400" dirty="0" err="1">
                <a:latin typeface="Times New Roman" panose="02020603050405020304" pitchFamily="18" charset="0"/>
              </a:rPr>
              <a:t>boolean</a:t>
            </a:r>
            <a:r>
              <a:rPr lang="en-US" sz="2400" dirty="0">
                <a:latin typeface="Times New Roman" panose="02020603050405020304" pitchFamily="18" charset="0"/>
              </a:rPr>
              <a:t>, frequencies, or counts.</a:t>
            </a:r>
          </a:p>
          <a:p>
            <a:pPr>
              <a:lnSpc>
                <a:spcPct val="150000"/>
              </a:lnSpc>
            </a:pPr>
            <a:r>
              <a:rPr lang="en-US" sz="2400" dirty="0">
                <a:latin typeface="Times New Roman" panose="02020603050405020304" pitchFamily="18" charset="0"/>
              </a:rPr>
              <a:t>What it does is simply compare the observed distribution between various features in the dataset and the target variable.</a:t>
            </a:r>
          </a:p>
          <a:p>
            <a:endParaRPr lang="en-IN" dirty="0"/>
          </a:p>
        </p:txBody>
      </p:sp>
    </p:spTree>
    <p:extLst>
      <p:ext uri="{BB962C8B-B14F-4D97-AF65-F5344CB8AC3E}">
        <p14:creationId xmlns:p14="http://schemas.microsoft.com/office/powerpoint/2010/main" val="386367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37626-BB2E-42DF-9473-865B75AFB6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F05430-C001-4302-9799-F2345C248C80}"/>
              </a:ext>
            </a:extLst>
          </p:cNvPr>
          <p:cNvSpPr>
            <a:spLocks noGrp="1"/>
          </p:cNvSpPr>
          <p:nvPr>
            <p:ph idx="1"/>
          </p:nvPr>
        </p:nvSpPr>
        <p:spPr/>
        <p:txBody>
          <a:bodyPr/>
          <a:lstStyle/>
          <a:p>
            <a:pPr algn="l">
              <a:lnSpc>
                <a:spcPct val="150000"/>
              </a:lnSpc>
            </a:pPr>
            <a:r>
              <a:rPr lang="en-US" b="0" i="0" dirty="0">
                <a:solidFill>
                  <a:srgbClr val="292929"/>
                </a:solidFill>
                <a:effectLst/>
                <a:latin typeface="charter"/>
              </a:rPr>
              <a:t> </a:t>
            </a:r>
            <a:r>
              <a:rPr lang="en-US" sz="2200" dirty="0">
                <a:latin typeface="Times New Roman" panose="02020603050405020304" pitchFamily="18" charset="0"/>
              </a:rPr>
              <a:t>In feature selection, we aim to select the features which are highly dependent on the response.</a:t>
            </a:r>
          </a:p>
          <a:p>
            <a:pPr algn="l">
              <a:lnSpc>
                <a:spcPct val="150000"/>
              </a:lnSpc>
            </a:pPr>
            <a:r>
              <a:rPr lang="en-US" sz="2200" dirty="0">
                <a:latin typeface="Times New Roman" panose="02020603050405020304" pitchFamily="18" charset="0"/>
              </a:rPr>
              <a:t>When two features are independent, the observed count is close to the expected count, thus we will have smaller Chi-Square value. So high Chi-Square value indicates that the hypothesis of independence is incorrect. In simple words, higher the Chi-Square value the feature is more dependent on the response and it can be selected for model training.</a:t>
            </a:r>
          </a:p>
          <a:p>
            <a:endParaRPr lang="en-IN" dirty="0"/>
          </a:p>
        </p:txBody>
      </p:sp>
    </p:spTree>
    <p:extLst>
      <p:ext uri="{BB962C8B-B14F-4D97-AF65-F5344CB8AC3E}">
        <p14:creationId xmlns:p14="http://schemas.microsoft.com/office/powerpoint/2010/main" val="37121240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074EF-BB16-44F5-8095-D117E864BF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241EE01-B68D-4AF3-BC1F-C91BB70ED308}"/>
              </a:ext>
            </a:extLst>
          </p:cNvPr>
          <p:cNvSpPr>
            <a:spLocks noGrp="1"/>
          </p:cNvSpPr>
          <p:nvPr>
            <p:ph idx="1"/>
          </p:nvPr>
        </p:nvSpPr>
        <p:spPr/>
        <p:txBody>
          <a:bodyPr>
            <a:normAutofit/>
          </a:bodyPr>
          <a:lstStyle/>
          <a:p>
            <a:pPr algn="just" rtl="0">
              <a:lnSpc>
                <a:spcPct val="150000"/>
              </a:lnSpc>
            </a:pPr>
            <a:r>
              <a:rPr lang="en-US" sz="2300" dirty="0">
                <a:latin typeface="Times New Roman" panose="02020603050405020304" pitchFamily="18" charset="0"/>
              </a:rPr>
              <a:t>The filter methods evaluate the </a:t>
            </a:r>
            <a:r>
              <a:rPr lang="en-US" sz="2300" dirty="0">
                <a:solidFill>
                  <a:srgbClr val="C00000"/>
                </a:solidFill>
                <a:latin typeface="Times New Roman" panose="02020603050405020304" pitchFamily="18" charset="0"/>
              </a:rPr>
              <a:t>significance of the feature variables only based on their inherent characteristics without the incorporation of any learning algorithm. </a:t>
            </a:r>
          </a:p>
          <a:p>
            <a:pPr algn="just" rtl="0">
              <a:lnSpc>
                <a:spcPct val="150000"/>
              </a:lnSpc>
            </a:pPr>
            <a:r>
              <a:rPr lang="en-US" sz="2300" dirty="0">
                <a:latin typeface="Times New Roman" panose="02020603050405020304" pitchFamily="18" charset="0"/>
              </a:rPr>
              <a:t>These methods are </a:t>
            </a:r>
            <a:r>
              <a:rPr lang="en-US" sz="2300" dirty="0">
                <a:solidFill>
                  <a:srgbClr val="C00000"/>
                </a:solidFill>
                <a:latin typeface="Times New Roman" panose="02020603050405020304" pitchFamily="18" charset="0"/>
              </a:rPr>
              <a:t>computationally inexpensive </a:t>
            </a:r>
            <a:r>
              <a:rPr lang="en-US" sz="2300" dirty="0">
                <a:latin typeface="Times New Roman" panose="02020603050405020304" pitchFamily="18" charset="0"/>
              </a:rPr>
              <a:t>and faster than the wrapper methods.</a:t>
            </a:r>
          </a:p>
          <a:p>
            <a:pPr algn="just" rtl="0">
              <a:lnSpc>
                <a:spcPct val="150000"/>
              </a:lnSpc>
            </a:pPr>
            <a:r>
              <a:rPr lang="en-US" sz="2300" dirty="0">
                <a:latin typeface="Times New Roman" panose="02020603050405020304" pitchFamily="18" charset="0"/>
              </a:rPr>
              <a:t>The filter methods may provide </a:t>
            </a:r>
            <a:r>
              <a:rPr lang="en-US" sz="2300" dirty="0">
                <a:solidFill>
                  <a:srgbClr val="C00000"/>
                </a:solidFill>
                <a:latin typeface="Times New Roman" panose="02020603050405020304" pitchFamily="18" charset="0"/>
              </a:rPr>
              <a:t>worse results </a:t>
            </a:r>
            <a:r>
              <a:rPr lang="en-US" sz="2300" dirty="0">
                <a:latin typeface="Times New Roman" panose="02020603050405020304" pitchFamily="18" charset="0"/>
              </a:rPr>
              <a:t>than wrapper methods if the </a:t>
            </a:r>
            <a:r>
              <a:rPr lang="en-US" sz="2300" dirty="0">
                <a:solidFill>
                  <a:srgbClr val="C00000"/>
                </a:solidFill>
                <a:latin typeface="Times New Roman" panose="02020603050405020304" pitchFamily="18" charset="0"/>
              </a:rPr>
              <a:t>data is insufficient </a:t>
            </a:r>
            <a:r>
              <a:rPr lang="en-US" sz="2300" dirty="0">
                <a:latin typeface="Times New Roman" panose="02020603050405020304" pitchFamily="18" charset="0"/>
              </a:rPr>
              <a:t>to model the statistical correlation between the feature variables.</a:t>
            </a:r>
          </a:p>
          <a:p>
            <a:pPr algn="just" rtl="0">
              <a:lnSpc>
                <a:spcPct val="150000"/>
              </a:lnSpc>
            </a:pPr>
            <a:r>
              <a:rPr lang="en-US" sz="2300" dirty="0">
                <a:latin typeface="Times New Roman" panose="02020603050405020304" pitchFamily="18" charset="0"/>
              </a:rPr>
              <a:t>Unlike wrapper methods, the </a:t>
            </a:r>
            <a:r>
              <a:rPr lang="en-US" sz="2300" dirty="0">
                <a:solidFill>
                  <a:srgbClr val="C00000"/>
                </a:solidFill>
                <a:latin typeface="Times New Roman" panose="02020603050405020304" pitchFamily="18" charset="0"/>
              </a:rPr>
              <a:t>filter methods are not subjected to overfitting</a:t>
            </a:r>
            <a:r>
              <a:rPr lang="en-US" sz="2300" dirty="0">
                <a:latin typeface="Times New Roman" panose="02020603050405020304" pitchFamily="18" charset="0"/>
              </a:rPr>
              <a:t>. They are used extensively on high dimensional data. </a:t>
            </a:r>
          </a:p>
          <a:p>
            <a:endParaRPr lang="en-IN" dirty="0"/>
          </a:p>
        </p:txBody>
      </p:sp>
    </p:spTree>
    <p:extLst>
      <p:ext uri="{BB962C8B-B14F-4D97-AF65-F5344CB8AC3E}">
        <p14:creationId xmlns:p14="http://schemas.microsoft.com/office/powerpoint/2010/main" val="1378676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4A04-36D8-498D-B578-97937220A8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506BE5-DB3B-488F-A846-86CEA6E9A830}"/>
              </a:ext>
            </a:extLst>
          </p:cNvPr>
          <p:cNvSpPr>
            <a:spLocks noGrp="1"/>
          </p:cNvSpPr>
          <p:nvPr>
            <p:ph idx="1"/>
          </p:nvPr>
        </p:nvSpPr>
        <p:spPr/>
        <p:txBody>
          <a:bodyPr/>
          <a:lstStyle/>
          <a:p>
            <a:pPr marL="0" indent="0">
              <a:buNone/>
            </a:pPr>
            <a:endParaRPr lang="en-IN" dirty="0"/>
          </a:p>
        </p:txBody>
      </p:sp>
      <p:sp>
        <p:nvSpPr>
          <p:cNvPr id="4" name="Rectangle 3">
            <a:extLst>
              <a:ext uri="{FF2B5EF4-FFF2-40B4-BE49-F238E27FC236}">
                <a16:creationId xmlns:a16="http://schemas.microsoft.com/office/drawing/2014/main" id="{CA8255ED-F00D-4501-9E71-BA6118106AAF}"/>
              </a:ext>
            </a:extLst>
          </p:cNvPr>
          <p:cNvSpPr/>
          <p:nvPr/>
        </p:nvSpPr>
        <p:spPr>
          <a:xfrm>
            <a:off x="4175760" y="2087880"/>
            <a:ext cx="3413760" cy="96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Filter Methods </a:t>
            </a:r>
            <a:endParaRPr lang="en-IN" sz="3200" dirty="0"/>
          </a:p>
        </p:txBody>
      </p:sp>
      <p:sp>
        <p:nvSpPr>
          <p:cNvPr id="5" name="Rectangle 4">
            <a:extLst>
              <a:ext uri="{FF2B5EF4-FFF2-40B4-BE49-F238E27FC236}">
                <a16:creationId xmlns:a16="http://schemas.microsoft.com/office/drawing/2014/main" id="{F5B9119D-3F21-464C-B622-CADE32E3BCD7}"/>
              </a:ext>
            </a:extLst>
          </p:cNvPr>
          <p:cNvSpPr/>
          <p:nvPr/>
        </p:nvSpPr>
        <p:spPr>
          <a:xfrm>
            <a:off x="1447800" y="4267200"/>
            <a:ext cx="2910840" cy="1127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Univariate filter methods </a:t>
            </a:r>
            <a:endParaRPr lang="en-IN" sz="3200" dirty="0"/>
          </a:p>
        </p:txBody>
      </p:sp>
      <p:sp>
        <p:nvSpPr>
          <p:cNvPr id="6" name="Rectangle 5">
            <a:extLst>
              <a:ext uri="{FF2B5EF4-FFF2-40B4-BE49-F238E27FC236}">
                <a16:creationId xmlns:a16="http://schemas.microsoft.com/office/drawing/2014/main" id="{F478E3D4-A34B-4030-807A-DD0838E7FF93}"/>
              </a:ext>
            </a:extLst>
          </p:cNvPr>
          <p:cNvSpPr/>
          <p:nvPr/>
        </p:nvSpPr>
        <p:spPr>
          <a:xfrm>
            <a:off x="7680962" y="4267200"/>
            <a:ext cx="2910840" cy="1127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Multivariate filter methods</a:t>
            </a:r>
            <a:endParaRPr lang="en-IN" sz="3200" dirty="0"/>
          </a:p>
        </p:txBody>
      </p:sp>
      <p:cxnSp>
        <p:nvCxnSpPr>
          <p:cNvPr id="8" name="Straight Arrow Connector 7">
            <a:extLst>
              <a:ext uri="{FF2B5EF4-FFF2-40B4-BE49-F238E27FC236}">
                <a16:creationId xmlns:a16="http://schemas.microsoft.com/office/drawing/2014/main" id="{43BA5C03-92DF-4668-B490-762947B16F04}"/>
              </a:ext>
            </a:extLst>
          </p:cNvPr>
          <p:cNvCxnSpPr>
            <a:cxnSpLocks/>
          </p:cNvCxnSpPr>
          <p:nvPr/>
        </p:nvCxnSpPr>
        <p:spPr>
          <a:xfrm flipH="1">
            <a:off x="3581400" y="3310255"/>
            <a:ext cx="1127760" cy="6369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3C2BF4C-BFB5-40E8-BB07-F9E2C0CE62AD}"/>
              </a:ext>
            </a:extLst>
          </p:cNvPr>
          <p:cNvCxnSpPr>
            <a:cxnSpLocks/>
          </p:cNvCxnSpPr>
          <p:nvPr/>
        </p:nvCxnSpPr>
        <p:spPr>
          <a:xfrm>
            <a:off x="7170423" y="3218815"/>
            <a:ext cx="1021078" cy="772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99835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50FD-0D66-4E4B-9664-B8FFC409EBF8}"/>
              </a:ext>
            </a:extLst>
          </p:cNvPr>
          <p:cNvSpPr>
            <a:spLocks noGrp="1"/>
          </p:cNvSpPr>
          <p:nvPr>
            <p:ph type="title"/>
          </p:nvPr>
        </p:nvSpPr>
        <p:spPr/>
        <p:txBody>
          <a:bodyPr/>
          <a:lstStyle/>
          <a:p>
            <a:r>
              <a:rPr lang="en-US" sz="2800" b="1" spc="-5" dirty="0">
                <a:solidFill>
                  <a:srgbClr val="3333FF"/>
                </a:solidFill>
                <a:latin typeface="Carlito"/>
              </a:rPr>
              <a:t>Univariate filter methods </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D4D5D39F-DE84-40AB-8C30-F7A70A0096B2}"/>
              </a:ext>
            </a:extLst>
          </p:cNvPr>
          <p:cNvSpPr>
            <a:spLocks noGrp="1"/>
          </p:cNvSpPr>
          <p:nvPr>
            <p:ph idx="1"/>
          </p:nvPr>
        </p:nvSpPr>
        <p:spPr/>
        <p:txBody>
          <a:bodyPr>
            <a:normAutofit fontScale="92500" lnSpcReduction="10000"/>
          </a:bodyPr>
          <a:lstStyle/>
          <a:p>
            <a:pPr algn="l"/>
            <a:r>
              <a:rPr lang="en-US" b="1" i="0" dirty="0">
                <a:solidFill>
                  <a:srgbClr val="292929"/>
                </a:solidFill>
                <a:effectLst/>
                <a:latin typeface="charter"/>
              </a:rPr>
              <a:t>Univariate filter methods</a:t>
            </a:r>
            <a:r>
              <a:rPr lang="en-US" b="0" i="0" dirty="0">
                <a:solidFill>
                  <a:srgbClr val="292929"/>
                </a:solidFill>
                <a:effectLst/>
                <a:latin typeface="charter"/>
              </a:rPr>
              <a:t> evaluate and rank a single feature according to certain criteria.</a:t>
            </a:r>
          </a:p>
          <a:p>
            <a:pPr algn="l"/>
            <a:r>
              <a:rPr lang="en-US" b="0" i="0" dirty="0">
                <a:solidFill>
                  <a:srgbClr val="292929"/>
                </a:solidFill>
                <a:effectLst/>
                <a:latin typeface="charter"/>
              </a:rPr>
              <a:t>They treat </a:t>
            </a:r>
            <a:r>
              <a:rPr lang="en-US" b="0" i="0" dirty="0">
                <a:solidFill>
                  <a:srgbClr val="C00000"/>
                </a:solidFill>
                <a:effectLst/>
                <a:latin typeface="charter"/>
              </a:rPr>
              <a:t>each feature individually </a:t>
            </a:r>
            <a:r>
              <a:rPr lang="en-US" b="0" i="0" dirty="0">
                <a:solidFill>
                  <a:srgbClr val="292929"/>
                </a:solidFill>
                <a:effectLst/>
                <a:latin typeface="charter"/>
              </a:rPr>
              <a:t>and independently of the feature space. </a:t>
            </a:r>
          </a:p>
          <a:p>
            <a:pPr algn="l">
              <a:buFont typeface="Arial" panose="020B0604020202020204" pitchFamily="34" charset="0"/>
              <a:buChar char="•"/>
            </a:pPr>
            <a:r>
              <a:rPr lang="en-US" b="0" i="0" dirty="0">
                <a:solidFill>
                  <a:srgbClr val="292929"/>
                </a:solidFill>
                <a:effectLst/>
                <a:latin typeface="charter"/>
              </a:rPr>
              <a:t>It ranks features according to certain criteria.</a:t>
            </a:r>
          </a:p>
          <a:p>
            <a:pPr algn="l">
              <a:buFont typeface="Arial" panose="020B0604020202020204" pitchFamily="34" charset="0"/>
              <a:buChar char="•"/>
            </a:pPr>
            <a:r>
              <a:rPr lang="en-US" b="0" i="0" dirty="0">
                <a:solidFill>
                  <a:srgbClr val="292929"/>
                </a:solidFill>
                <a:effectLst/>
                <a:latin typeface="charter"/>
              </a:rPr>
              <a:t>Then select the highest ranking features according to those criteria.</a:t>
            </a:r>
          </a:p>
          <a:p>
            <a:pPr algn="l"/>
            <a:r>
              <a:rPr lang="en-US" b="0" i="0" dirty="0">
                <a:solidFill>
                  <a:srgbClr val="292929"/>
                </a:solidFill>
                <a:effectLst/>
                <a:latin typeface="charter"/>
              </a:rPr>
              <a:t>One problem that can occur with univariate methods is they</a:t>
            </a:r>
            <a:r>
              <a:rPr lang="en-US" b="0" i="0" dirty="0">
                <a:solidFill>
                  <a:srgbClr val="C00000"/>
                </a:solidFill>
                <a:effectLst/>
                <a:latin typeface="charter"/>
              </a:rPr>
              <a:t> may select a redundant variable</a:t>
            </a:r>
            <a:r>
              <a:rPr lang="en-US" b="0" i="0" dirty="0">
                <a:solidFill>
                  <a:srgbClr val="292929"/>
                </a:solidFill>
                <a:effectLst/>
                <a:latin typeface="charter"/>
              </a:rPr>
              <a:t>, as they don’t take into consideration the relationship between features.</a:t>
            </a:r>
          </a:p>
          <a:p>
            <a:pPr algn="l"/>
            <a:r>
              <a:rPr lang="en-US" dirty="0" err="1">
                <a:solidFill>
                  <a:srgbClr val="C00000"/>
                </a:solidFill>
              </a:rPr>
              <a:t>Eg.</a:t>
            </a:r>
            <a:r>
              <a:rPr lang="en-US" dirty="0">
                <a:solidFill>
                  <a:srgbClr val="C00000"/>
                </a:solidFill>
              </a:rPr>
              <a:t> Information gain, </a:t>
            </a:r>
            <a:r>
              <a:rPr lang="en-IN" dirty="0">
                <a:solidFill>
                  <a:srgbClr val="C00000"/>
                </a:solidFill>
              </a:rPr>
              <a:t>Chi-squared Score, p value, </a:t>
            </a:r>
            <a:r>
              <a:rPr lang="en-US" dirty="0">
                <a:solidFill>
                  <a:srgbClr val="C00000"/>
                </a:solidFill>
              </a:rPr>
              <a:t>fisher score, variance of the feature.</a:t>
            </a:r>
            <a:endParaRPr lang="en-US" dirty="0">
              <a:solidFill>
                <a:srgbClr val="292929"/>
              </a:solidFill>
              <a:latin typeface="charter"/>
            </a:endParaRPr>
          </a:p>
          <a:p>
            <a:endParaRPr lang="en-IN" dirty="0"/>
          </a:p>
        </p:txBody>
      </p:sp>
    </p:spTree>
    <p:extLst>
      <p:ext uri="{BB962C8B-B14F-4D97-AF65-F5344CB8AC3E}">
        <p14:creationId xmlns:p14="http://schemas.microsoft.com/office/powerpoint/2010/main" val="42271723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1AC78-7815-46BB-936C-4F9BBDF1A2B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27012E-8BD9-45C7-A8B7-603F4C7DF538}"/>
              </a:ext>
            </a:extLst>
          </p:cNvPr>
          <p:cNvSpPr>
            <a:spLocks noGrp="1"/>
          </p:cNvSpPr>
          <p:nvPr>
            <p:ph idx="1"/>
          </p:nvPr>
        </p:nvSpPr>
        <p:spPr/>
        <p:txBody>
          <a:bodyPr>
            <a:normAutofit lnSpcReduction="10000"/>
          </a:bodyPr>
          <a:lstStyle/>
          <a:p>
            <a:pPr algn="just"/>
            <a:r>
              <a:rPr lang="en-US" dirty="0"/>
              <a:t>The univariate filter methods are the type of methods where individual features are ranked according to specific criteria. The top N features are then selected. Different types of ranking criteria are used for univariate filter methods, </a:t>
            </a:r>
            <a:r>
              <a:rPr lang="en-US" dirty="0">
                <a:solidFill>
                  <a:srgbClr val="C00000"/>
                </a:solidFill>
              </a:rPr>
              <a:t>for example fisher score, mutual information, and variance of the feature.</a:t>
            </a:r>
          </a:p>
          <a:p>
            <a:pPr algn="just"/>
            <a:endParaRPr lang="en-US" dirty="0"/>
          </a:p>
          <a:p>
            <a:pPr algn="just"/>
            <a:r>
              <a:rPr lang="en-US" u="sng" dirty="0"/>
              <a:t>One of the major disadvantage of univariate filter methods is that they may select redundant features because the relationship between individual features is not taken into account while making decisions. Univariate filter methods are ideal for removing features from the data.</a:t>
            </a:r>
            <a:endParaRPr lang="en-IN" u="sng" dirty="0"/>
          </a:p>
        </p:txBody>
      </p:sp>
    </p:spTree>
    <p:extLst>
      <p:ext uri="{BB962C8B-B14F-4D97-AF65-F5344CB8AC3E}">
        <p14:creationId xmlns:p14="http://schemas.microsoft.com/office/powerpoint/2010/main" val="325834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C5430-7ADE-4262-AA6B-F1D9647BF7E2}"/>
              </a:ext>
            </a:extLst>
          </p:cNvPr>
          <p:cNvSpPr>
            <a:spLocks noGrp="1"/>
          </p:cNvSpPr>
          <p:nvPr>
            <p:ph type="title"/>
          </p:nvPr>
        </p:nvSpPr>
        <p:spPr/>
        <p:txBody>
          <a:bodyPr/>
          <a:lstStyle/>
          <a:p>
            <a:r>
              <a:rPr lang="en-IN" sz="2800" b="1" spc="-5" dirty="0">
                <a:solidFill>
                  <a:srgbClr val="3333FF"/>
                </a:solidFill>
                <a:latin typeface="Carlito"/>
              </a:rPr>
              <a:t>Multivariate filter methods</a:t>
            </a:r>
          </a:p>
        </p:txBody>
      </p:sp>
      <p:sp>
        <p:nvSpPr>
          <p:cNvPr id="3" name="Content Placeholder 2">
            <a:extLst>
              <a:ext uri="{FF2B5EF4-FFF2-40B4-BE49-F238E27FC236}">
                <a16:creationId xmlns:a16="http://schemas.microsoft.com/office/drawing/2014/main" id="{5BE19494-D5CC-4663-BF3B-8701EAF20C84}"/>
              </a:ext>
            </a:extLst>
          </p:cNvPr>
          <p:cNvSpPr>
            <a:spLocks noGrp="1"/>
          </p:cNvSpPr>
          <p:nvPr>
            <p:ph idx="1"/>
          </p:nvPr>
        </p:nvSpPr>
        <p:spPr/>
        <p:txBody>
          <a:bodyPr>
            <a:normAutofit/>
          </a:bodyPr>
          <a:lstStyle/>
          <a:p>
            <a:r>
              <a:rPr lang="en-US" dirty="0">
                <a:solidFill>
                  <a:srgbClr val="292929"/>
                </a:solidFill>
                <a:latin typeface="charter"/>
              </a:rPr>
              <a:t>Multivariate filter methods, on the other hand, evaluate the entire feature space. They take into account features in relation to other ones in the dataset.</a:t>
            </a:r>
          </a:p>
          <a:p>
            <a:r>
              <a:rPr lang="en-US" dirty="0">
                <a:solidFill>
                  <a:srgbClr val="292929"/>
                </a:solidFill>
                <a:latin typeface="charter"/>
              </a:rPr>
              <a:t>Multivariate filter methods are capable of </a:t>
            </a:r>
            <a:r>
              <a:rPr lang="en-US" u="sng" dirty="0">
                <a:solidFill>
                  <a:srgbClr val="292929"/>
                </a:solidFill>
                <a:latin typeface="charter"/>
              </a:rPr>
              <a:t>removing redundant features from the data </a:t>
            </a:r>
            <a:r>
              <a:rPr lang="en-US" dirty="0">
                <a:solidFill>
                  <a:srgbClr val="292929"/>
                </a:solidFill>
                <a:latin typeface="charter"/>
              </a:rPr>
              <a:t>since they take the mutual relationship between the features into account. Multivariate filter methods can be used to </a:t>
            </a:r>
            <a:r>
              <a:rPr lang="en-US" u="sng" dirty="0">
                <a:solidFill>
                  <a:srgbClr val="292929"/>
                </a:solidFill>
                <a:latin typeface="charter"/>
              </a:rPr>
              <a:t>remove duplicate and correlated features from the data.</a:t>
            </a:r>
          </a:p>
          <a:p>
            <a:endParaRPr lang="en-IN" dirty="0"/>
          </a:p>
        </p:txBody>
      </p:sp>
    </p:spTree>
    <p:extLst>
      <p:ext uri="{BB962C8B-B14F-4D97-AF65-F5344CB8AC3E}">
        <p14:creationId xmlns:p14="http://schemas.microsoft.com/office/powerpoint/2010/main" val="41994011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A593D-6893-4DCD-B39D-D5AC840C3AC8}"/>
              </a:ext>
            </a:extLst>
          </p:cNvPr>
          <p:cNvSpPr>
            <a:spLocks noGrp="1"/>
          </p:cNvSpPr>
          <p:nvPr>
            <p:ph type="title"/>
          </p:nvPr>
        </p:nvSpPr>
        <p:spPr/>
        <p:txBody>
          <a:bodyPr/>
          <a:lstStyle/>
          <a:p>
            <a:r>
              <a:rPr lang="en-US" sz="2800" b="1" spc="-5" dirty="0">
                <a:solidFill>
                  <a:srgbClr val="3333FF"/>
                </a:solidFill>
                <a:latin typeface="Carlito"/>
              </a:rPr>
              <a:t>Advantages of filter methods</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2440E677-81ED-4F17-BD3F-278FECB1752A}"/>
              </a:ext>
            </a:extLst>
          </p:cNvPr>
          <p:cNvSpPr>
            <a:spLocks noGrp="1"/>
          </p:cNvSpPr>
          <p:nvPr>
            <p:ph idx="1"/>
          </p:nvPr>
        </p:nvSpPr>
        <p:spPr/>
        <p:txBody>
          <a:bodyPr/>
          <a:lstStyle/>
          <a:p>
            <a:pPr algn="l">
              <a:buFont typeface="+mj-lt"/>
              <a:buAutoNum type="arabicPeriod"/>
            </a:pPr>
            <a:r>
              <a:rPr lang="en-US" dirty="0">
                <a:solidFill>
                  <a:srgbClr val="C00000"/>
                </a:solidFill>
                <a:latin typeface="charter"/>
              </a:rPr>
              <a:t>Selected features </a:t>
            </a:r>
            <a:r>
              <a:rPr lang="en-US" dirty="0">
                <a:solidFill>
                  <a:srgbClr val="292929"/>
                </a:solidFill>
                <a:latin typeface="charter"/>
              </a:rPr>
              <a:t>can be used in </a:t>
            </a:r>
            <a:r>
              <a:rPr lang="en-US" dirty="0">
                <a:solidFill>
                  <a:srgbClr val="C00000"/>
                </a:solidFill>
                <a:latin typeface="charter"/>
              </a:rPr>
              <a:t>any machine learning algorithm</a:t>
            </a:r>
          </a:p>
          <a:p>
            <a:pPr algn="l">
              <a:buFont typeface="+mj-lt"/>
              <a:buAutoNum type="arabicPeriod"/>
            </a:pPr>
            <a:r>
              <a:rPr lang="en-US" dirty="0">
                <a:solidFill>
                  <a:srgbClr val="292929"/>
                </a:solidFill>
                <a:latin typeface="charter"/>
              </a:rPr>
              <a:t>They’re </a:t>
            </a:r>
            <a:r>
              <a:rPr lang="en-US" dirty="0">
                <a:solidFill>
                  <a:srgbClr val="C00000"/>
                </a:solidFill>
                <a:latin typeface="charter"/>
              </a:rPr>
              <a:t>computationally inexpensive</a:t>
            </a:r>
            <a:r>
              <a:rPr lang="en-US" dirty="0">
                <a:solidFill>
                  <a:srgbClr val="292929"/>
                </a:solidFill>
                <a:latin typeface="charter"/>
              </a:rPr>
              <a:t>—you can process thousands of features in a matter of seconds.</a:t>
            </a:r>
          </a:p>
          <a:p>
            <a:pPr algn="l"/>
            <a:r>
              <a:rPr lang="en-US" dirty="0">
                <a:solidFill>
                  <a:srgbClr val="292929"/>
                </a:solidFill>
                <a:latin typeface="charter"/>
              </a:rPr>
              <a:t>Filter methods are very good for eliminating </a:t>
            </a:r>
            <a:r>
              <a:rPr lang="en-US" dirty="0">
                <a:solidFill>
                  <a:srgbClr val="C00000"/>
                </a:solidFill>
                <a:latin typeface="charter"/>
              </a:rPr>
              <a:t>irrelevant, redundant, constant, duplicated, and correlated </a:t>
            </a:r>
            <a:r>
              <a:rPr lang="en-US" dirty="0">
                <a:solidFill>
                  <a:srgbClr val="292929"/>
                </a:solidFill>
                <a:latin typeface="charter"/>
              </a:rPr>
              <a:t>features.</a:t>
            </a:r>
          </a:p>
          <a:p>
            <a:pPr algn="l"/>
            <a:r>
              <a:rPr lang="en-US" dirty="0">
                <a:solidFill>
                  <a:srgbClr val="292929"/>
                </a:solidFill>
                <a:latin typeface="charter"/>
              </a:rPr>
              <a:t>They are </a:t>
            </a:r>
            <a:r>
              <a:rPr lang="en-US" dirty="0">
                <a:solidFill>
                  <a:srgbClr val="C00000"/>
                </a:solidFill>
                <a:latin typeface="charter"/>
              </a:rPr>
              <a:t>not</a:t>
            </a:r>
            <a:r>
              <a:rPr lang="en-US" dirty="0">
                <a:solidFill>
                  <a:srgbClr val="292929"/>
                </a:solidFill>
                <a:latin typeface="charter"/>
              </a:rPr>
              <a:t> subjected to </a:t>
            </a:r>
            <a:r>
              <a:rPr lang="en-US" dirty="0">
                <a:solidFill>
                  <a:srgbClr val="C00000"/>
                </a:solidFill>
                <a:latin typeface="charter"/>
              </a:rPr>
              <a:t>overfitting</a:t>
            </a:r>
          </a:p>
          <a:p>
            <a:endParaRPr lang="en-IN" dirty="0"/>
          </a:p>
        </p:txBody>
      </p:sp>
    </p:spTree>
    <p:extLst>
      <p:ext uri="{BB962C8B-B14F-4D97-AF65-F5344CB8AC3E}">
        <p14:creationId xmlns:p14="http://schemas.microsoft.com/office/powerpoint/2010/main" val="1649466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A593D-6893-4DCD-B39D-D5AC840C3AC8}"/>
              </a:ext>
            </a:extLst>
          </p:cNvPr>
          <p:cNvSpPr>
            <a:spLocks noGrp="1"/>
          </p:cNvSpPr>
          <p:nvPr>
            <p:ph type="title"/>
          </p:nvPr>
        </p:nvSpPr>
        <p:spPr/>
        <p:txBody>
          <a:bodyPr/>
          <a:lstStyle/>
          <a:p>
            <a:pPr algn="ctr"/>
            <a:r>
              <a:rPr lang="en-US" sz="2800" b="1" spc="-5" dirty="0">
                <a:solidFill>
                  <a:srgbClr val="3333FF"/>
                </a:solidFill>
                <a:latin typeface="Carlito"/>
              </a:rPr>
              <a:t>Disadvantages of filter methods</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2440E677-81ED-4F17-BD3F-278FECB1752A}"/>
              </a:ext>
            </a:extLst>
          </p:cNvPr>
          <p:cNvSpPr>
            <a:spLocks noGrp="1"/>
          </p:cNvSpPr>
          <p:nvPr>
            <p:ph idx="1"/>
          </p:nvPr>
        </p:nvSpPr>
        <p:spPr/>
        <p:txBody>
          <a:bodyPr/>
          <a:lstStyle/>
          <a:p>
            <a:pPr marL="0" indent="0" algn="l">
              <a:lnSpc>
                <a:spcPct val="150000"/>
              </a:lnSpc>
              <a:buNone/>
            </a:pPr>
            <a:r>
              <a:rPr lang="en-US" dirty="0"/>
              <a:t>The common disadvantage of filter methods is that they </a:t>
            </a:r>
            <a:r>
              <a:rPr lang="en-US" u="sng" dirty="0"/>
              <a:t>ignore the interaction </a:t>
            </a:r>
            <a:r>
              <a:rPr lang="en-US" dirty="0"/>
              <a:t>with the </a:t>
            </a:r>
            <a:r>
              <a:rPr lang="en-US" u="sng" dirty="0"/>
              <a:t>classifier </a:t>
            </a:r>
            <a:r>
              <a:rPr lang="en-US" dirty="0"/>
              <a:t>and each </a:t>
            </a:r>
            <a:r>
              <a:rPr lang="en-US" u="sng" dirty="0"/>
              <a:t>feature</a:t>
            </a:r>
            <a:r>
              <a:rPr lang="en-US" dirty="0"/>
              <a:t> is considered </a:t>
            </a:r>
            <a:r>
              <a:rPr lang="en-US" u="sng" dirty="0"/>
              <a:t>independently</a:t>
            </a:r>
            <a:r>
              <a:rPr lang="en-US" dirty="0"/>
              <a:t> thus ignoring feature dependencies </a:t>
            </a:r>
          </a:p>
          <a:p>
            <a:pPr marL="0" indent="0" algn="l">
              <a:lnSpc>
                <a:spcPct val="150000"/>
              </a:lnSpc>
              <a:buNone/>
            </a:pPr>
            <a:r>
              <a:rPr lang="en-US" dirty="0"/>
              <a:t>In addition, it is not clear how to determine the </a:t>
            </a:r>
            <a:r>
              <a:rPr lang="en-US" u="sng" dirty="0"/>
              <a:t>threshold point </a:t>
            </a:r>
            <a:r>
              <a:rPr lang="en-US" dirty="0"/>
              <a:t>for rankings to select only the required features and exclude noise.</a:t>
            </a:r>
            <a:endParaRPr lang="en-IN" dirty="0"/>
          </a:p>
        </p:txBody>
      </p:sp>
    </p:spTree>
    <p:extLst>
      <p:ext uri="{BB962C8B-B14F-4D97-AF65-F5344CB8AC3E}">
        <p14:creationId xmlns:p14="http://schemas.microsoft.com/office/powerpoint/2010/main" val="3695307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ECD4-E3A6-4256-AB22-9EA4F54A6D95}"/>
              </a:ext>
            </a:extLst>
          </p:cNvPr>
          <p:cNvSpPr>
            <a:spLocks noGrp="1"/>
          </p:cNvSpPr>
          <p:nvPr>
            <p:ph type="title"/>
          </p:nvPr>
        </p:nvSpPr>
        <p:spPr/>
        <p:txBody>
          <a:bodyPr/>
          <a:lstStyle/>
          <a:p>
            <a:r>
              <a:rPr lang="en-IN" sz="4400" b="1" spc="-5" dirty="0">
                <a:solidFill>
                  <a:srgbClr val="3333FF"/>
                </a:solidFill>
                <a:latin typeface="Carlito"/>
              </a:rPr>
              <a:t>Wrapper Method</a:t>
            </a:r>
            <a:endParaRPr lang="en-IN" dirty="0"/>
          </a:p>
        </p:txBody>
      </p:sp>
      <p:sp>
        <p:nvSpPr>
          <p:cNvPr id="3" name="Content Placeholder 2">
            <a:extLst>
              <a:ext uri="{FF2B5EF4-FFF2-40B4-BE49-F238E27FC236}">
                <a16:creationId xmlns:a16="http://schemas.microsoft.com/office/drawing/2014/main" id="{13745A80-6411-484B-A8B0-6018ACD827B4}"/>
              </a:ext>
            </a:extLst>
          </p:cNvPr>
          <p:cNvSpPr>
            <a:spLocks noGrp="1"/>
          </p:cNvSpPr>
          <p:nvPr>
            <p:ph idx="1"/>
          </p:nvPr>
        </p:nvSpPr>
        <p:spPr/>
        <p:txBody>
          <a:bodyPr>
            <a:normAutofit/>
          </a:bodyPr>
          <a:lstStyle/>
          <a:p>
            <a:pPr algn="just"/>
            <a:r>
              <a:rPr lang="en-US" sz="2400" b="0" i="0" dirty="0">
                <a:effectLst/>
                <a:latin typeface="roboto" panose="02000000000000000000" pitchFamily="2" charset="0"/>
              </a:rPr>
              <a:t>In </a:t>
            </a:r>
            <a:r>
              <a:rPr lang="en-US" sz="2400" b="0" i="1" dirty="0">
                <a:effectLst/>
                <a:latin typeface="roboto" panose="02000000000000000000" pitchFamily="2" charset="0"/>
              </a:rPr>
              <a:t>wrapper methods,</a:t>
            </a:r>
            <a:r>
              <a:rPr lang="en-US" sz="2400" b="0" i="0" dirty="0">
                <a:effectLst/>
                <a:latin typeface="roboto" panose="02000000000000000000" pitchFamily="2" charset="0"/>
              </a:rPr>
              <a:t> the </a:t>
            </a:r>
            <a:r>
              <a:rPr lang="en-US" sz="2400" b="0" i="1" dirty="0">
                <a:effectLst/>
                <a:latin typeface="roboto" panose="02000000000000000000" pitchFamily="2" charset="0"/>
              </a:rPr>
              <a:t>feature selection</a:t>
            </a:r>
            <a:r>
              <a:rPr lang="en-US" sz="2400" b="0" i="0" dirty="0">
                <a:effectLst/>
                <a:latin typeface="roboto" panose="02000000000000000000" pitchFamily="2" charset="0"/>
              </a:rPr>
              <a:t> process is </a:t>
            </a:r>
            <a:r>
              <a:rPr lang="en-US" sz="2400" b="0" i="0" dirty="0">
                <a:solidFill>
                  <a:srgbClr val="FF0000"/>
                </a:solidFill>
                <a:effectLst/>
                <a:latin typeface="roboto" panose="02000000000000000000" pitchFamily="2" charset="0"/>
              </a:rPr>
              <a:t>based </a:t>
            </a:r>
            <a:r>
              <a:rPr lang="en-US" sz="2400" b="0" i="0" dirty="0">
                <a:effectLst/>
                <a:latin typeface="roboto" panose="02000000000000000000" pitchFamily="2" charset="0"/>
              </a:rPr>
              <a:t>on a </a:t>
            </a:r>
            <a:r>
              <a:rPr lang="en-US" sz="2400" b="0" i="0" dirty="0">
                <a:solidFill>
                  <a:srgbClr val="FF0000"/>
                </a:solidFill>
                <a:effectLst/>
                <a:latin typeface="roboto" panose="02000000000000000000" pitchFamily="2" charset="0"/>
              </a:rPr>
              <a:t>specific machine learning algorithm </a:t>
            </a:r>
            <a:r>
              <a:rPr lang="en-US" sz="2400" b="0" i="0" dirty="0">
                <a:effectLst/>
                <a:latin typeface="roboto" panose="02000000000000000000" pitchFamily="2" charset="0"/>
              </a:rPr>
              <a:t>that we are trying to fit on a given dataset.</a:t>
            </a:r>
          </a:p>
          <a:p>
            <a:pPr algn="just"/>
            <a:r>
              <a:rPr lang="en-US" sz="2400" b="0" i="0" dirty="0">
                <a:effectLst/>
                <a:latin typeface="roboto" panose="02000000000000000000" pitchFamily="2" charset="0"/>
              </a:rPr>
              <a:t>It follows a </a:t>
            </a:r>
            <a:r>
              <a:rPr lang="en-US" sz="2400" b="0" i="1" dirty="0">
                <a:effectLst/>
                <a:latin typeface="roboto" panose="02000000000000000000" pitchFamily="2" charset="0"/>
              </a:rPr>
              <a:t>greedy search approach</a:t>
            </a:r>
            <a:r>
              <a:rPr lang="en-US" sz="2400" b="0" i="0" dirty="0">
                <a:effectLst/>
                <a:latin typeface="roboto" panose="02000000000000000000" pitchFamily="2" charset="0"/>
              </a:rPr>
              <a:t> by evaluating all the possible </a:t>
            </a:r>
            <a:r>
              <a:rPr lang="en-US" sz="2400" b="0" i="0" dirty="0">
                <a:solidFill>
                  <a:srgbClr val="FF0000"/>
                </a:solidFill>
                <a:effectLst/>
                <a:latin typeface="roboto" panose="02000000000000000000" pitchFamily="2" charset="0"/>
              </a:rPr>
              <a:t>combinations of features </a:t>
            </a:r>
            <a:r>
              <a:rPr lang="en-US" sz="2400" b="0" i="0" dirty="0">
                <a:effectLst/>
                <a:latin typeface="roboto" panose="02000000000000000000" pitchFamily="2" charset="0"/>
              </a:rPr>
              <a:t>against the </a:t>
            </a:r>
            <a:r>
              <a:rPr lang="en-US" sz="2400" i="1" dirty="0">
                <a:solidFill>
                  <a:srgbClr val="FF0000"/>
                </a:solidFill>
                <a:latin typeface="roboto" panose="02000000000000000000" pitchFamily="2" charset="0"/>
              </a:rPr>
              <a:t>eval</a:t>
            </a:r>
            <a:r>
              <a:rPr lang="en-US" sz="2400" b="0" i="1" dirty="0">
                <a:solidFill>
                  <a:srgbClr val="FF0000"/>
                </a:solidFill>
                <a:effectLst/>
                <a:latin typeface="roboto" panose="02000000000000000000" pitchFamily="2" charset="0"/>
              </a:rPr>
              <a:t>uation </a:t>
            </a:r>
            <a:r>
              <a:rPr lang="en-US" sz="2400" b="0" i="1" dirty="0">
                <a:effectLst/>
                <a:latin typeface="roboto" panose="02000000000000000000" pitchFamily="2" charset="0"/>
              </a:rPr>
              <a:t>criterion</a:t>
            </a:r>
            <a:r>
              <a:rPr lang="en-US" sz="2400" b="0" i="0" dirty="0">
                <a:effectLst/>
                <a:latin typeface="roboto" panose="02000000000000000000" pitchFamily="2" charset="0"/>
              </a:rPr>
              <a:t>. The </a:t>
            </a:r>
            <a:r>
              <a:rPr lang="en-US" sz="2400" b="0" i="1" dirty="0">
                <a:effectLst/>
                <a:latin typeface="roboto" panose="02000000000000000000" pitchFamily="2" charset="0"/>
              </a:rPr>
              <a:t>evaluation criterion</a:t>
            </a:r>
            <a:r>
              <a:rPr lang="en-US" sz="2400" b="0" i="0" dirty="0">
                <a:effectLst/>
                <a:latin typeface="roboto" panose="02000000000000000000" pitchFamily="2" charset="0"/>
              </a:rPr>
              <a:t> is simply the performance measure which depends on the type of problem, for e.g. </a:t>
            </a:r>
            <a:r>
              <a:rPr lang="en-US" sz="2400" b="0" i="0" dirty="0">
                <a:solidFill>
                  <a:srgbClr val="FF0000"/>
                </a:solidFill>
                <a:effectLst/>
                <a:latin typeface="roboto" panose="02000000000000000000" pitchFamily="2" charset="0"/>
              </a:rPr>
              <a:t>For </a:t>
            </a:r>
            <a:r>
              <a:rPr lang="en-US" sz="2400" b="0" i="1" dirty="0">
                <a:solidFill>
                  <a:srgbClr val="FF0000"/>
                </a:solidFill>
                <a:effectLst/>
                <a:latin typeface="roboto" panose="02000000000000000000" pitchFamily="2" charset="0"/>
              </a:rPr>
              <a:t>regression</a:t>
            </a:r>
            <a:r>
              <a:rPr lang="en-US" sz="2400" b="0" i="0" dirty="0">
                <a:solidFill>
                  <a:srgbClr val="FF0000"/>
                </a:solidFill>
                <a:effectLst/>
                <a:latin typeface="roboto" panose="02000000000000000000" pitchFamily="2" charset="0"/>
              </a:rPr>
              <a:t> evaluation </a:t>
            </a:r>
            <a:r>
              <a:rPr lang="en-US" sz="2400" b="0" i="0" dirty="0">
                <a:effectLst/>
                <a:latin typeface="roboto" panose="02000000000000000000" pitchFamily="2" charset="0"/>
              </a:rPr>
              <a:t>criterion can </a:t>
            </a:r>
            <a:r>
              <a:rPr lang="en-US" sz="2400" b="0" i="0" dirty="0">
                <a:solidFill>
                  <a:srgbClr val="FF0000"/>
                </a:solidFill>
                <a:effectLst/>
                <a:latin typeface="roboto" panose="02000000000000000000" pitchFamily="2" charset="0"/>
              </a:rPr>
              <a:t>be p-values</a:t>
            </a:r>
            <a:r>
              <a:rPr lang="en-US" sz="2400" b="0" i="0" dirty="0">
                <a:effectLst/>
                <a:latin typeface="roboto" panose="02000000000000000000" pitchFamily="2" charset="0"/>
              </a:rPr>
              <a:t>, </a:t>
            </a:r>
            <a:r>
              <a:rPr lang="en-US" sz="2400" b="0" i="0" dirty="0">
                <a:solidFill>
                  <a:srgbClr val="FF0000"/>
                </a:solidFill>
                <a:effectLst/>
                <a:latin typeface="roboto" panose="02000000000000000000" pitchFamily="2" charset="0"/>
              </a:rPr>
              <a:t>R-squared,</a:t>
            </a:r>
            <a:r>
              <a:rPr lang="en-US" sz="2400" b="0" i="0" dirty="0">
                <a:effectLst/>
                <a:latin typeface="roboto" panose="02000000000000000000" pitchFamily="2" charset="0"/>
              </a:rPr>
              <a:t> Adjusted R-squared, similarly for </a:t>
            </a:r>
            <a:r>
              <a:rPr lang="en-US" sz="2400" b="0" i="1" dirty="0">
                <a:effectLst/>
                <a:latin typeface="roboto" panose="02000000000000000000" pitchFamily="2" charset="0"/>
              </a:rPr>
              <a:t>classification</a:t>
            </a:r>
            <a:r>
              <a:rPr lang="en-US" sz="2400" b="0" i="0" dirty="0">
                <a:effectLst/>
                <a:latin typeface="roboto" panose="02000000000000000000" pitchFamily="2" charset="0"/>
              </a:rPr>
              <a:t> the evaluation criterion can be </a:t>
            </a:r>
            <a:r>
              <a:rPr lang="en-US" sz="2400" b="0" i="0" dirty="0">
                <a:solidFill>
                  <a:srgbClr val="FF0000"/>
                </a:solidFill>
                <a:effectLst/>
                <a:latin typeface="roboto" panose="02000000000000000000" pitchFamily="2" charset="0"/>
              </a:rPr>
              <a:t>accuracy</a:t>
            </a:r>
            <a:r>
              <a:rPr lang="en-US" sz="2400" b="0" i="0" dirty="0">
                <a:effectLst/>
                <a:latin typeface="roboto" panose="02000000000000000000" pitchFamily="2" charset="0"/>
              </a:rPr>
              <a:t>, precision, recall, f1-score, etc. Finally, it selects the combination of features that gives the optimal results for the specified machine learning algorithm.</a:t>
            </a:r>
          </a:p>
          <a:p>
            <a:endParaRPr lang="en-IN" dirty="0"/>
          </a:p>
        </p:txBody>
      </p:sp>
    </p:spTree>
    <p:extLst>
      <p:ext uri="{BB962C8B-B14F-4D97-AF65-F5344CB8AC3E}">
        <p14:creationId xmlns:p14="http://schemas.microsoft.com/office/powerpoint/2010/main" val="5600204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8D1D-FF63-457C-9B3F-4EF73B6EC057}"/>
              </a:ext>
            </a:extLst>
          </p:cNvPr>
          <p:cNvSpPr>
            <a:spLocks noGrp="1"/>
          </p:cNvSpPr>
          <p:nvPr>
            <p:ph type="title"/>
          </p:nvPr>
        </p:nvSpPr>
        <p:spPr>
          <a:xfrm>
            <a:off x="838200" y="365125"/>
            <a:ext cx="10515600" cy="1325563"/>
          </a:xfrm>
        </p:spPr>
        <p:txBody>
          <a:bodyPr/>
          <a:lstStyle/>
          <a:p>
            <a:r>
              <a:rPr lang="en-IN" sz="2800" b="1" spc="-5" dirty="0">
                <a:solidFill>
                  <a:srgbClr val="3333FF"/>
                </a:solidFill>
                <a:latin typeface="Carlito"/>
              </a:rPr>
              <a:t>Wrapper Method</a:t>
            </a:r>
          </a:p>
        </p:txBody>
      </p:sp>
      <p:sp>
        <p:nvSpPr>
          <p:cNvPr id="3" name="Content Placeholder 2">
            <a:extLst>
              <a:ext uri="{FF2B5EF4-FFF2-40B4-BE49-F238E27FC236}">
                <a16:creationId xmlns:a16="http://schemas.microsoft.com/office/drawing/2014/main" id="{B7272CD8-C0F4-407A-86DE-1A9D4E2A6C98}"/>
              </a:ext>
            </a:extLst>
          </p:cNvPr>
          <p:cNvSpPr>
            <a:spLocks noGrp="1"/>
          </p:cNvSpPr>
          <p:nvPr>
            <p:ph idx="1"/>
          </p:nvPr>
        </p:nvSpPr>
        <p:spPr/>
        <p:txBody>
          <a:bodyPr/>
          <a:lstStyle/>
          <a:p>
            <a:r>
              <a:rPr lang="en-US" sz="2000" dirty="0">
                <a:solidFill>
                  <a:srgbClr val="FF0000"/>
                </a:solidFill>
                <a:latin typeface="Times New Roman" panose="02020603050405020304" pitchFamily="18" charset="0"/>
              </a:rPr>
              <a:t>It is leaner depended.</a:t>
            </a:r>
          </a:p>
          <a:p>
            <a:r>
              <a:rPr lang="en-US" sz="2000" dirty="0">
                <a:latin typeface="Times New Roman" panose="02020603050405020304" pitchFamily="18" charset="0"/>
              </a:rPr>
              <a:t>In </a:t>
            </a:r>
            <a:r>
              <a:rPr lang="en-US" sz="2000" dirty="0">
                <a:effectLst/>
                <a:latin typeface="Times New Roman" panose="02020603050405020304" pitchFamily="18" charset="0"/>
                <a:ea typeface="Times New Roman" panose="02020603050405020304" pitchFamily="18" charset="0"/>
              </a:rPr>
              <a:t>wrapper methods we train using the selected subset and we estimates the error on the validation set. </a:t>
            </a:r>
          </a:p>
          <a:p>
            <a:r>
              <a:rPr lang="en-US" sz="2000" dirty="0">
                <a:effectLst/>
                <a:latin typeface="Times New Roman" panose="02020603050405020304" pitchFamily="18" charset="0"/>
                <a:ea typeface="Times New Roman" panose="02020603050405020304" pitchFamily="18" charset="0"/>
              </a:rPr>
              <a:t>In the wrapper based method the search algorithm output a sub </a:t>
            </a:r>
            <a:r>
              <a:rPr lang="en-US" sz="2000" dirty="0">
                <a:solidFill>
                  <a:srgbClr val="FF0000"/>
                </a:solidFill>
                <a:effectLst/>
                <a:latin typeface="Times New Roman" panose="02020603050405020304" pitchFamily="18" charset="0"/>
                <a:ea typeface="Times New Roman" panose="02020603050405020304" pitchFamily="18" charset="0"/>
              </a:rPr>
              <a:t>features subset</a:t>
            </a:r>
            <a:r>
              <a:rPr lang="en-US" sz="2000" dirty="0">
                <a:effectLst/>
                <a:latin typeface="Times New Roman" panose="02020603050405020304" pitchFamily="18" charset="0"/>
                <a:ea typeface="Times New Roman" panose="02020603050405020304" pitchFamily="18" charset="0"/>
              </a:rPr>
              <a:t> which is again used with the machine learning algorithm and the prediction accuracy is obtained which is fed to the search algorithm. After this whole module is completed you have a feature subset which is used by your machine learning</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algorithm.</a:t>
            </a:r>
            <a:endParaRPr lang="en-US" sz="2000" dirty="0">
              <a:latin typeface="Times New Roman" panose="02020603050405020304" pitchFamily="18" charset="0"/>
              <a:ea typeface="Times New Roman" panose="02020603050405020304" pitchFamily="18" charset="0"/>
            </a:endParaRPr>
          </a:p>
          <a:p>
            <a:pPr marL="123190" marR="71755" algn="just">
              <a:lnSpc>
                <a:spcPct val="150000"/>
              </a:lnSpc>
              <a:spcBef>
                <a:spcPts val="300"/>
              </a:spcBef>
              <a:spcAft>
                <a:spcPts val="0"/>
              </a:spcAft>
            </a:pPr>
            <a:r>
              <a:rPr lang="en-US" sz="2000" dirty="0">
                <a:effectLst/>
                <a:latin typeface="Times New Roman" panose="02020603050405020304" pitchFamily="18" charset="0"/>
                <a:ea typeface="Times New Roman" panose="02020603050405020304" pitchFamily="18" charset="0"/>
              </a:rPr>
              <a:t>In supervised methods also called the </a:t>
            </a:r>
            <a:r>
              <a:rPr lang="en-US" sz="2000" spc="-15" dirty="0">
                <a:effectLst/>
                <a:latin typeface="Times New Roman" panose="02020603050405020304" pitchFamily="18" charset="0"/>
                <a:ea typeface="Times New Roman" panose="02020603050405020304" pitchFamily="18" charset="0"/>
              </a:rPr>
              <a:t>Wrapper </a:t>
            </a:r>
            <a:r>
              <a:rPr lang="en-US" sz="2000" dirty="0">
                <a:effectLst/>
                <a:latin typeface="Times New Roman" panose="02020603050405020304" pitchFamily="18" charset="0"/>
                <a:ea typeface="Times New Roman" panose="02020603050405020304" pitchFamily="18" charset="0"/>
              </a:rPr>
              <a:t>methods, we evaluate the feature subset by using it on a learning algorithm. These are called supervised methods or wrapper</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methods.</a:t>
            </a:r>
          </a:p>
          <a:p>
            <a:pPr marL="123190" marR="71755" algn="just">
              <a:lnSpc>
                <a:spcPct val="150000"/>
              </a:lnSpc>
              <a:spcBef>
                <a:spcPts val="300"/>
              </a:spcBef>
              <a:spcAft>
                <a:spcPts val="0"/>
              </a:spcAft>
            </a:pPr>
            <a:r>
              <a:rPr lang="en-US" sz="2000" dirty="0">
                <a:effectLst/>
                <a:latin typeface="Times New Roman" panose="02020603050405020304" pitchFamily="18" charset="0"/>
                <a:ea typeface="Times New Roman" panose="02020603050405020304" pitchFamily="18" charset="0"/>
              </a:rPr>
              <a:t>Now, as a features subset can be evaluated by two methods in supervise methods or wrapper methods we train using the selected subset and we estimates the error on the validation set. </a:t>
            </a:r>
            <a:endParaRPr lang="en-IN" sz="20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6581608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10145-BD9D-45CC-8E13-FACEB9F2E2F3}"/>
              </a:ext>
            </a:extLst>
          </p:cNvPr>
          <p:cNvSpPr>
            <a:spLocks noGrp="1"/>
          </p:cNvSpPr>
          <p:nvPr>
            <p:ph type="title"/>
          </p:nvPr>
        </p:nvSpPr>
        <p:spPr/>
        <p:txBody>
          <a:bodyPr/>
          <a:lstStyle/>
          <a:p>
            <a:pPr algn="ctr"/>
            <a:r>
              <a:rPr lang="en-US" sz="2800" b="1" spc="-5" dirty="0">
                <a:solidFill>
                  <a:srgbClr val="3333FF"/>
                </a:solidFill>
                <a:latin typeface="Carlito"/>
              </a:rPr>
              <a:t>Working of Wrapper method</a:t>
            </a:r>
            <a:endParaRPr lang="en-IN" sz="2800" b="1" spc="-5" dirty="0">
              <a:solidFill>
                <a:srgbClr val="3333FF"/>
              </a:solidFill>
              <a:latin typeface="Carlito"/>
            </a:endParaRPr>
          </a:p>
        </p:txBody>
      </p:sp>
      <p:pic>
        <p:nvPicPr>
          <p:cNvPr id="5" name="Content Placeholder 4">
            <a:extLst>
              <a:ext uri="{FF2B5EF4-FFF2-40B4-BE49-F238E27FC236}">
                <a16:creationId xmlns:a16="http://schemas.microsoft.com/office/drawing/2014/main" id="{DAAB5CDE-A495-438E-8E08-9B07A110BB26}"/>
              </a:ext>
            </a:extLst>
          </p:cNvPr>
          <p:cNvPicPr>
            <a:picLocks noGrp="1" noChangeAspect="1"/>
          </p:cNvPicPr>
          <p:nvPr>
            <p:ph idx="1"/>
          </p:nvPr>
        </p:nvPicPr>
        <p:blipFill>
          <a:blip r:embed="rId3"/>
          <a:stretch>
            <a:fillRect/>
          </a:stretch>
        </p:blipFill>
        <p:spPr>
          <a:xfrm>
            <a:off x="3272590" y="1825625"/>
            <a:ext cx="5192082" cy="4769024"/>
          </a:xfrm>
        </p:spPr>
      </p:pic>
    </p:spTree>
    <p:extLst>
      <p:ext uri="{BB962C8B-B14F-4D97-AF65-F5344CB8AC3E}">
        <p14:creationId xmlns:p14="http://schemas.microsoft.com/office/powerpoint/2010/main" val="35926515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9594-8223-4448-AB12-E6043ED7A6B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8DB48BBC-FFD5-44AD-BDD8-D00EE8AAEA60}"/>
              </a:ext>
            </a:extLst>
          </p:cNvPr>
          <p:cNvPicPr>
            <a:picLocks noGrp="1" noChangeAspect="1"/>
          </p:cNvPicPr>
          <p:nvPr>
            <p:ph idx="1"/>
          </p:nvPr>
        </p:nvPicPr>
        <p:blipFill>
          <a:blip r:embed="rId3"/>
          <a:stretch>
            <a:fillRect/>
          </a:stretch>
        </p:blipFill>
        <p:spPr>
          <a:xfrm>
            <a:off x="2197768" y="613611"/>
            <a:ext cx="8453172" cy="3478128"/>
          </a:xfrm>
          <a:prstGeom prst="rect">
            <a:avLst/>
          </a:prstGeom>
        </p:spPr>
      </p:pic>
      <p:sp>
        <p:nvSpPr>
          <p:cNvPr id="5" name="TextBox 4">
            <a:extLst>
              <a:ext uri="{FF2B5EF4-FFF2-40B4-BE49-F238E27FC236}">
                <a16:creationId xmlns:a16="http://schemas.microsoft.com/office/drawing/2014/main" id="{AC051FB6-917F-49BA-9F7B-0B6E2591EF10}"/>
              </a:ext>
            </a:extLst>
          </p:cNvPr>
          <p:cNvSpPr txBox="1"/>
          <p:nvPr/>
        </p:nvSpPr>
        <p:spPr>
          <a:xfrm>
            <a:off x="2197768" y="4271211"/>
            <a:ext cx="7315200" cy="2308324"/>
          </a:xfrm>
          <a:prstGeom prst="rect">
            <a:avLst/>
          </a:prstGeom>
          <a:noFill/>
        </p:spPr>
        <p:txBody>
          <a:bodyPr wrap="square" rtlCol="0">
            <a:spAutoFit/>
          </a:bodyPr>
          <a:lstStyle/>
          <a:p>
            <a:pPr marL="342900" indent="-342900">
              <a:buAutoNum type="arabicPeriod"/>
            </a:pPr>
            <a:r>
              <a:rPr lang="en-US" dirty="0"/>
              <a:t>Take the training dataset.</a:t>
            </a:r>
          </a:p>
          <a:p>
            <a:pPr marL="342900" indent="-342900">
              <a:buAutoNum type="arabicPeriod"/>
            </a:pPr>
            <a:r>
              <a:rPr lang="en-US" dirty="0"/>
              <a:t>Select the subset of features</a:t>
            </a:r>
          </a:p>
          <a:p>
            <a:pPr marL="342900" indent="-342900">
              <a:buAutoNum type="arabicPeriod"/>
            </a:pPr>
            <a:r>
              <a:rPr lang="en-US" dirty="0"/>
              <a:t>Evaluating the performance of classifier on the subset.</a:t>
            </a:r>
          </a:p>
          <a:p>
            <a:pPr marL="342900" indent="-342900">
              <a:buAutoNum type="arabicPeriod"/>
            </a:pPr>
            <a:r>
              <a:rPr lang="en-US" dirty="0"/>
              <a:t>Re-iterate</a:t>
            </a:r>
          </a:p>
          <a:p>
            <a:pPr marL="342900" indent="-342900">
              <a:buAutoNum type="arabicPeriod"/>
            </a:pPr>
            <a:r>
              <a:rPr lang="en-US" dirty="0"/>
              <a:t>Select the subset that has the highest performance on the dataset.</a:t>
            </a:r>
          </a:p>
          <a:p>
            <a:pPr marL="342900" indent="-342900">
              <a:buAutoNum type="arabicPeriod"/>
            </a:pPr>
            <a:endParaRPr lang="en-US" dirty="0"/>
          </a:p>
          <a:p>
            <a:pPr marL="342900" indent="-342900">
              <a:buAutoNum type="arabicPeriod"/>
            </a:pPr>
            <a:endParaRPr lang="en-US" dirty="0"/>
          </a:p>
          <a:p>
            <a:endParaRPr lang="en-IN" dirty="0"/>
          </a:p>
        </p:txBody>
      </p:sp>
    </p:spTree>
    <p:extLst>
      <p:ext uri="{BB962C8B-B14F-4D97-AF65-F5344CB8AC3E}">
        <p14:creationId xmlns:p14="http://schemas.microsoft.com/office/powerpoint/2010/main" val="1088327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8586-D696-4700-9287-D22DC28CC41C}"/>
              </a:ext>
            </a:extLst>
          </p:cNvPr>
          <p:cNvSpPr>
            <a:spLocks noGrp="1"/>
          </p:cNvSpPr>
          <p:nvPr>
            <p:ph type="title"/>
          </p:nvPr>
        </p:nvSpPr>
        <p:spPr/>
        <p:txBody>
          <a:bodyPr/>
          <a:lstStyle/>
          <a:p>
            <a:pPr algn="ctr"/>
            <a:r>
              <a:rPr lang="en-US" sz="2800" b="1" spc="-5" dirty="0">
                <a:solidFill>
                  <a:srgbClr val="3333FF"/>
                </a:solidFill>
                <a:latin typeface="Carlito"/>
              </a:rPr>
              <a:t>Types of Wrapper methods</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4D63F01C-86FC-493A-99F4-AFB8B07C5C4A}"/>
              </a:ext>
            </a:extLst>
          </p:cNvPr>
          <p:cNvSpPr>
            <a:spLocks noGrp="1"/>
          </p:cNvSpPr>
          <p:nvPr>
            <p:ph idx="1"/>
          </p:nvPr>
        </p:nvSpPr>
        <p:spPr/>
        <p:txBody>
          <a:bodyPr/>
          <a:lstStyle/>
          <a:p>
            <a:r>
              <a:rPr lang="en-US" dirty="0">
                <a:solidFill>
                  <a:srgbClr val="C00000"/>
                </a:solidFill>
              </a:rPr>
              <a:t>Forward selection</a:t>
            </a:r>
          </a:p>
          <a:p>
            <a:r>
              <a:rPr lang="en-US" dirty="0">
                <a:solidFill>
                  <a:srgbClr val="C00000"/>
                </a:solidFill>
              </a:rPr>
              <a:t>Backward selection</a:t>
            </a:r>
          </a:p>
        </p:txBody>
      </p:sp>
    </p:spTree>
    <p:extLst>
      <p:ext uri="{BB962C8B-B14F-4D97-AF65-F5344CB8AC3E}">
        <p14:creationId xmlns:p14="http://schemas.microsoft.com/office/powerpoint/2010/main" val="41297254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478AA-9C7D-4CDB-A711-CAB14D53D23A}"/>
              </a:ext>
            </a:extLst>
          </p:cNvPr>
          <p:cNvSpPr>
            <a:spLocks noGrp="1"/>
          </p:cNvSpPr>
          <p:nvPr>
            <p:ph type="title"/>
          </p:nvPr>
        </p:nvSpPr>
        <p:spPr/>
        <p:txBody>
          <a:bodyPr/>
          <a:lstStyle/>
          <a:p>
            <a:r>
              <a:rPr lang="en-US" sz="4400" b="1" spc="-5" dirty="0">
                <a:solidFill>
                  <a:srgbClr val="3333FF"/>
                </a:solidFill>
                <a:latin typeface="Carlito"/>
              </a:rPr>
              <a:t>Forward selection</a:t>
            </a:r>
            <a:endParaRPr lang="en-IN" dirty="0"/>
          </a:p>
        </p:txBody>
      </p:sp>
      <p:sp>
        <p:nvSpPr>
          <p:cNvPr id="3" name="Content Placeholder 2">
            <a:extLst>
              <a:ext uri="{FF2B5EF4-FFF2-40B4-BE49-F238E27FC236}">
                <a16:creationId xmlns:a16="http://schemas.microsoft.com/office/drawing/2014/main" id="{C934FD76-BF47-4CF2-A037-5083F39C0197}"/>
              </a:ext>
            </a:extLst>
          </p:cNvPr>
          <p:cNvSpPr>
            <a:spLocks noGrp="1"/>
          </p:cNvSpPr>
          <p:nvPr>
            <p:ph idx="1"/>
          </p:nvPr>
        </p:nvSpPr>
        <p:spPr/>
        <p:txBody>
          <a:bodyPr/>
          <a:lstStyle/>
          <a:p>
            <a:pPr algn="just" fontAlgn="base">
              <a:buNone/>
            </a:pPr>
            <a:r>
              <a:rPr lang="en-US" dirty="0">
                <a:latin typeface="Karla"/>
              </a:rPr>
              <a:t>  You start with empty feature set and then you add features one by one. So you try each of the remaining features, and for each of them you estimate the accuracy. You estimate the classification or regression error for adding each specific feature. And you select the feature that gives maximum improvement. To find which feature gives maximum improvement you can use the validation set and not the training set. You can stop when there is no significant improvement.</a:t>
            </a:r>
            <a:endParaRPr lang="en-IN" dirty="0">
              <a:latin typeface="Karla"/>
            </a:endParaRPr>
          </a:p>
          <a:p>
            <a:pPr marL="0" indent="0">
              <a:buNone/>
            </a:pPr>
            <a:endParaRPr lang="en-IN" dirty="0"/>
          </a:p>
        </p:txBody>
      </p:sp>
    </p:spTree>
    <p:extLst>
      <p:ext uri="{BB962C8B-B14F-4D97-AF65-F5344CB8AC3E}">
        <p14:creationId xmlns:p14="http://schemas.microsoft.com/office/powerpoint/2010/main" val="1707458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B22CC-4EBB-4108-B0AB-AA77632612FF}"/>
              </a:ext>
            </a:extLst>
          </p:cNvPr>
          <p:cNvSpPr>
            <a:spLocks noGrp="1"/>
          </p:cNvSpPr>
          <p:nvPr>
            <p:ph type="title"/>
          </p:nvPr>
        </p:nvSpPr>
        <p:spPr/>
        <p:txBody>
          <a:bodyPr/>
          <a:lstStyle/>
          <a:p>
            <a:r>
              <a:rPr lang="en-US" sz="3100" b="1" spc="-5" dirty="0">
                <a:solidFill>
                  <a:srgbClr val="3333FF"/>
                </a:solidFill>
                <a:latin typeface="Carlito"/>
              </a:rPr>
              <a:t>Forward selection</a:t>
            </a:r>
            <a:endParaRPr lang="en-IN" sz="3100" b="1" spc="-5" dirty="0">
              <a:solidFill>
                <a:srgbClr val="3333FF"/>
              </a:solidFill>
              <a:latin typeface="Carlito"/>
            </a:endParaRPr>
          </a:p>
        </p:txBody>
      </p:sp>
      <p:sp>
        <p:nvSpPr>
          <p:cNvPr id="3" name="Content Placeholder 2">
            <a:extLst>
              <a:ext uri="{FF2B5EF4-FFF2-40B4-BE49-F238E27FC236}">
                <a16:creationId xmlns:a16="http://schemas.microsoft.com/office/drawing/2014/main" id="{A17D7E2F-7928-4346-9938-9F10F4CE31CB}"/>
              </a:ext>
            </a:extLst>
          </p:cNvPr>
          <p:cNvSpPr>
            <a:spLocks noGrp="1"/>
          </p:cNvSpPr>
          <p:nvPr>
            <p:ph idx="1"/>
          </p:nvPr>
        </p:nvSpPr>
        <p:spPr/>
        <p:txBody>
          <a:bodyPr/>
          <a:lstStyle/>
          <a:p>
            <a:pPr algn="l" fontAlgn="base"/>
            <a:r>
              <a:rPr lang="en-US" b="1" i="0" dirty="0">
                <a:effectLst/>
                <a:latin typeface="Karla"/>
              </a:rPr>
              <a:t>Forward stepwise selection</a:t>
            </a:r>
            <a:r>
              <a:rPr lang="en-US" b="0" i="0" dirty="0">
                <a:effectLst/>
                <a:latin typeface="Karla"/>
              </a:rPr>
              <a:t> (or </a:t>
            </a:r>
            <a:r>
              <a:rPr lang="en-US" b="1" i="0" dirty="0">
                <a:effectLst/>
                <a:latin typeface="Karla"/>
              </a:rPr>
              <a:t>forward selection</a:t>
            </a:r>
            <a:r>
              <a:rPr lang="en-US" b="0" i="0" dirty="0">
                <a:effectLst/>
                <a:latin typeface="Karla"/>
              </a:rPr>
              <a:t>) is a variable selection method which:</a:t>
            </a:r>
          </a:p>
          <a:p>
            <a:pPr algn="l" fontAlgn="base">
              <a:buFont typeface="+mj-lt"/>
              <a:buAutoNum type="arabicPeriod"/>
            </a:pPr>
            <a:r>
              <a:rPr lang="en-US" b="1" i="0" dirty="0">
                <a:effectLst/>
                <a:latin typeface="Karla"/>
              </a:rPr>
              <a:t>Begins</a:t>
            </a:r>
            <a:r>
              <a:rPr lang="en-US" b="0" i="0" dirty="0">
                <a:effectLst/>
                <a:latin typeface="Karla"/>
              </a:rPr>
              <a:t> with a model that contains </a:t>
            </a:r>
            <a:r>
              <a:rPr lang="en-US" b="0" i="0" dirty="0">
                <a:solidFill>
                  <a:srgbClr val="C00000"/>
                </a:solidFill>
                <a:effectLst/>
                <a:latin typeface="Karla"/>
              </a:rPr>
              <a:t>no variables </a:t>
            </a:r>
            <a:r>
              <a:rPr lang="en-US" b="0" i="0" dirty="0">
                <a:effectLst/>
                <a:latin typeface="Karla"/>
              </a:rPr>
              <a:t>(called the </a:t>
            </a:r>
            <a:r>
              <a:rPr lang="en-US" b="0" i="1" dirty="0">
                <a:effectLst/>
                <a:latin typeface="Karla"/>
              </a:rPr>
              <a:t>Null Model</a:t>
            </a:r>
            <a:r>
              <a:rPr lang="en-US" b="0" i="0" dirty="0">
                <a:effectLst/>
                <a:latin typeface="Karla"/>
              </a:rPr>
              <a:t>)</a:t>
            </a:r>
          </a:p>
          <a:p>
            <a:pPr algn="l" fontAlgn="base">
              <a:buFont typeface="+mj-lt"/>
              <a:buAutoNum type="arabicPeriod"/>
            </a:pPr>
            <a:r>
              <a:rPr lang="en-US" b="1" i="0" dirty="0">
                <a:effectLst/>
                <a:latin typeface="Karla"/>
              </a:rPr>
              <a:t>Then</a:t>
            </a:r>
            <a:r>
              <a:rPr lang="en-US" b="0" i="0" dirty="0">
                <a:effectLst/>
                <a:latin typeface="Karla"/>
              </a:rPr>
              <a:t> starts adding the most significant variables one after the other</a:t>
            </a:r>
          </a:p>
          <a:p>
            <a:pPr algn="l" fontAlgn="base">
              <a:buFont typeface="+mj-lt"/>
              <a:buAutoNum type="arabicPeriod"/>
            </a:pPr>
            <a:r>
              <a:rPr lang="en-US" b="1" i="0" dirty="0">
                <a:effectLst/>
                <a:latin typeface="Karla"/>
              </a:rPr>
              <a:t>Until</a:t>
            </a:r>
            <a:r>
              <a:rPr lang="en-US" b="0" i="0" dirty="0">
                <a:effectLst/>
                <a:latin typeface="Karla"/>
              </a:rPr>
              <a:t> a pre-specified stopping rule is reached or until all the variables under consideration are included in the model or performance gains are not significant.</a:t>
            </a:r>
          </a:p>
          <a:p>
            <a:endParaRPr lang="en-IN" dirty="0"/>
          </a:p>
        </p:txBody>
      </p:sp>
    </p:spTree>
    <p:extLst>
      <p:ext uri="{BB962C8B-B14F-4D97-AF65-F5344CB8AC3E}">
        <p14:creationId xmlns:p14="http://schemas.microsoft.com/office/powerpoint/2010/main" val="30092368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CA556-E517-82B2-ED6C-CCEB92EB1B4D}"/>
              </a:ext>
            </a:extLst>
          </p:cNvPr>
          <p:cNvSpPr>
            <a:spLocks noGrp="1"/>
          </p:cNvSpPr>
          <p:nvPr>
            <p:ph type="title"/>
          </p:nvPr>
        </p:nvSpPr>
        <p:spPr/>
        <p:txBody>
          <a:bodyPr/>
          <a:lstStyle/>
          <a:p>
            <a:endParaRPr lang="en-US"/>
          </a:p>
        </p:txBody>
      </p:sp>
      <p:pic>
        <p:nvPicPr>
          <p:cNvPr id="2050" name="Picture 2" descr="Forward selection algorithm">
            <a:extLst>
              <a:ext uri="{FF2B5EF4-FFF2-40B4-BE49-F238E27FC236}">
                <a16:creationId xmlns:a16="http://schemas.microsoft.com/office/drawing/2014/main" id="{DFB0D1CF-535D-C6BF-81F3-F30E6DD7781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32755" y="466989"/>
            <a:ext cx="5974915" cy="6601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4887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4C656-A36C-422D-AD61-4358389E7D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A4DE88-F637-488A-8AF7-F3080CFD8B22}"/>
              </a:ext>
            </a:extLst>
          </p:cNvPr>
          <p:cNvSpPr>
            <a:spLocks noGrp="1"/>
          </p:cNvSpPr>
          <p:nvPr>
            <p:ph idx="1"/>
          </p:nvPr>
        </p:nvSpPr>
        <p:spPr/>
        <p:txBody>
          <a:bodyPr/>
          <a:lstStyle/>
          <a:p>
            <a:pPr algn="l"/>
            <a:r>
              <a:rPr lang="en-US" b="0" i="0" dirty="0">
                <a:solidFill>
                  <a:srgbClr val="292929"/>
                </a:solidFill>
                <a:effectLst/>
                <a:latin typeface="charter"/>
              </a:rPr>
              <a:t>Forward Stepwise selection initially starts with null </a:t>
            </a:r>
            <a:r>
              <a:rPr lang="en-US" b="0" i="0" dirty="0" err="1">
                <a:solidFill>
                  <a:srgbClr val="292929"/>
                </a:solidFill>
                <a:effectLst/>
                <a:latin typeface="charter"/>
              </a:rPr>
              <a:t>model.i.e</a:t>
            </a:r>
            <a:r>
              <a:rPr lang="en-US" b="0" i="0" dirty="0">
                <a:solidFill>
                  <a:srgbClr val="292929"/>
                </a:solidFill>
                <a:effectLst/>
                <a:latin typeface="charter"/>
              </a:rPr>
              <a:t>. starts with on variable in the model.</a:t>
            </a:r>
          </a:p>
          <a:p>
            <a:pPr algn="l"/>
            <a:r>
              <a:rPr lang="en-US" b="0" i="0" dirty="0">
                <a:solidFill>
                  <a:srgbClr val="292929"/>
                </a:solidFill>
                <a:effectLst/>
                <a:latin typeface="charter"/>
              </a:rPr>
              <a:t>Then we add predictors (Features) </a:t>
            </a:r>
            <a:r>
              <a:rPr lang="en-US" b="1" i="0" dirty="0">
                <a:solidFill>
                  <a:srgbClr val="292929"/>
                </a:solidFill>
                <a:effectLst/>
                <a:latin typeface="charter"/>
              </a:rPr>
              <a:t>one at Time </a:t>
            </a:r>
            <a:r>
              <a:rPr lang="en-US" b="0" i="0" dirty="0">
                <a:solidFill>
                  <a:srgbClr val="292929"/>
                </a:solidFill>
                <a:effectLst/>
                <a:latin typeface="charter"/>
              </a:rPr>
              <a:t>and choose the best model among the bests of each</a:t>
            </a:r>
            <a:r>
              <a:rPr lang="en-US" b="0" i="1" dirty="0">
                <a:solidFill>
                  <a:srgbClr val="292929"/>
                </a:solidFill>
                <a:effectLst/>
                <a:latin typeface="charter"/>
              </a:rPr>
              <a:t> </a:t>
            </a:r>
            <a:r>
              <a:rPr lang="en-US" b="1" i="1" dirty="0">
                <a:solidFill>
                  <a:srgbClr val="292929"/>
                </a:solidFill>
                <a:effectLst/>
                <a:latin typeface="charter"/>
              </a:rPr>
              <a:t>k</a:t>
            </a:r>
            <a:r>
              <a:rPr lang="en-US" b="0" i="0" dirty="0">
                <a:solidFill>
                  <a:srgbClr val="292929"/>
                </a:solidFill>
                <a:effectLst/>
                <a:latin typeface="charter"/>
              </a:rPr>
              <a:t> based on RSS,</a:t>
            </a:r>
            <a:r>
              <a:rPr lang="en-US" dirty="0">
                <a:solidFill>
                  <a:srgbClr val="292929"/>
                </a:solidFill>
                <a:latin typeface="charter"/>
              </a:rPr>
              <a:t> p value, </a:t>
            </a:r>
            <a:r>
              <a:rPr lang="en-US" b="0" i="0" dirty="0">
                <a:solidFill>
                  <a:srgbClr val="292929"/>
                </a:solidFill>
                <a:effectLst/>
                <a:latin typeface="charter"/>
              </a:rPr>
              <a:t> or adjusted R square.</a:t>
            </a:r>
          </a:p>
          <a:p>
            <a:pPr algn="l"/>
            <a:r>
              <a:rPr lang="en-US" b="0" i="0" dirty="0">
                <a:solidFill>
                  <a:srgbClr val="292929"/>
                </a:solidFill>
                <a:effectLst/>
                <a:latin typeface="charter"/>
              </a:rPr>
              <a:t>In this method once the predictor is selected it never drops in second step.</a:t>
            </a:r>
          </a:p>
          <a:p>
            <a:pPr marL="0" indent="0">
              <a:buNone/>
            </a:pPr>
            <a:endParaRPr lang="en-IN" dirty="0"/>
          </a:p>
        </p:txBody>
      </p:sp>
    </p:spTree>
    <p:extLst>
      <p:ext uri="{BB962C8B-B14F-4D97-AF65-F5344CB8AC3E}">
        <p14:creationId xmlns:p14="http://schemas.microsoft.com/office/powerpoint/2010/main" val="9952896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412E5-A179-42B9-965A-9DB21FE2BF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63E083-2FEA-4D50-A796-419471242E25}"/>
              </a:ext>
            </a:extLst>
          </p:cNvPr>
          <p:cNvSpPr>
            <a:spLocks noGrp="1"/>
          </p:cNvSpPr>
          <p:nvPr>
            <p:ph idx="1"/>
          </p:nvPr>
        </p:nvSpPr>
        <p:spPr/>
        <p:txBody>
          <a:bodyPr/>
          <a:lstStyle/>
          <a:p>
            <a:pPr marL="0" indent="0" algn="l" fontAlgn="base">
              <a:buNone/>
            </a:pPr>
            <a:r>
              <a:rPr lang="en-US" b="0" i="0" dirty="0">
                <a:effectLst/>
                <a:latin typeface="Karla"/>
              </a:rPr>
              <a:t>In order to fully understand how forward selection works, we need to know:</a:t>
            </a:r>
          </a:p>
          <a:p>
            <a:pPr algn="l" fontAlgn="base">
              <a:buFont typeface="+mj-lt"/>
              <a:buAutoNum type="arabicPeriod"/>
            </a:pPr>
            <a:r>
              <a:rPr lang="en-US" b="0" i="0" dirty="0">
                <a:effectLst/>
                <a:latin typeface="Karla"/>
              </a:rPr>
              <a:t>How to determine the </a:t>
            </a:r>
            <a:r>
              <a:rPr lang="en-US" b="0" i="0" dirty="0">
                <a:solidFill>
                  <a:srgbClr val="FF0000"/>
                </a:solidFill>
                <a:effectLst/>
                <a:latin typeface="Karla"/>
              </a:rPr>
              <a:t>most significant variable </a:t>
            </a:r>
            <a:r>
              <a:rPr lang="en-US" b="0" i="0" dirty="0">
                <a:effectLst/>
                <a:latin typeface="Karla"/>
              </a:rPr>
              <a:t>at each step</a:t>
            </a:r>
          </a:p>
          <a:p>
            <a:pPr algn="l" fontAlgn="base">
              <a:buFont typeface="+mj-lt"/>
              <a:buAutoNum type="arabicPeriod"/>
            </a:pPr>
            <a:r>
              <a:rPr lang="en-US" b="0" i="0" dirty="0">
                <a:effectLst/>
                <a:latin typeface="Karla"/>
              </a:rPr>
              <a:t>How to </a:t>
            </a:r>
            <a:r>
              <a:rPr lang="en-US" b="0" i="0" dirty="0">
                <a:solidFill>
                  <a:srgbClr val="FF0000"/>
                </a:solidFill>
                <a:effectLst/>
                <a:latin typeface="Karla"/>
              </a:rPr>
              <a:t>choose a stopping rule</a:t>
            </a:r>
          </a:p>
          <a:p>
            <a:endParaRPr lang="en-IN" dirty="0"/>
          </a:p>
        </p:txBody>
      </p:sp>
    </p:spTree>
    <p:extLst>
      <p:ext uri="{BB962C8B-B14F-4D97-AF65-F5344CB8AC3E}">
        <p14:creationId xmlns:p14="http://schemas.microsoft.com/office/powerpoint/2010/main" val="27290240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92A8-DD5E-4FB2-8620-B14E37B6042D}"/>
              </a:ext>
            </a:extLst>
          </p:cNvPr>
          <p:cNvSpPr>
            <a:spLocks noGrp="1"/>
          </p:cNvSpPr>
          <p:nvPr>
            <p:ph type="title"/>
          </p:nvPr>
        </p:nvSpPr>
        <p:spPr/>
        <p:txBody>
          <a:bodyPr>
            <a:normAutofit fontScale="90000"/>
          </a:bodyPr>
          <a:lstStyle/>
          <a:p>
            <a:r>
              <a:rPr lang="en-US" sz="3400" b="1" spc="-5" dirty="0">
                <a:solidFill>
                  <a:srgbClr val="3333FF"/>
                </a:solidFill>
                <a:latin typeface="Carlito"/>
              </a:rPr>
              <a:t>1. Determine the most significant variable to add at each step</a:t>
            </a:r>
            <a:br>
              <a:rPr lang="en-US" b="0" i="0" dirty="0">
                <a:effectLst/>
                <a:latin typeface="Merriweather Sans"/>
              </a:rPr>
            </a:br>
            <a:endParaRPr lang="en-IN" dirty="0"/>
          </a:p>
        </p:txBody>
      </p:sp>
      <p:sp>
        <p:nvSpPr>
          <p:cNvPr id="3" name="Content Placeholder 2">
            <a:extLst>
              <a:ext uri="{FF2B5EF4-FFF2-40B4-BE49-F238E27FC236}">
                <a16:creationId xmlns:a16="http://schemas.microsoft.com/office/drawing/2014/main" id="{F111F730-180B-41E5-AC75-2FE9962144DC}"/>
              </a:ext>
            </a:extLst>
          </p:cNvPr>
          <p:cNvSpPr>
            <a:spLocks noGrp="1"/>
          </p:cNvSpPr>
          <p:nvPr>
            <p:ph idx="1"/>
          </p:nvPr>
        </p:nvSpPr>
        <p:spPr/>
        <p:txBody>
          <a:bodyPr/>
          <a:lstStyle/>
          <a:p>
            <a:pPr algn="l" fontAlgn="base"/>
            <a:r>
              <a:rPr lang="en-US" b="0" i="0" dirty="0">
                <a:effectLst/>
                <a:latin typeface="Karla"/>
              </a:rPr>
              <a:t>The most significant variable can be chosen so that, when added to the model:</a:t>
            </a:r>
          </a:p>
          <a:p>
            <a:pPr algn="l" fontAlgn="base">
              <a:buFont typeface="Arial" panose="020B0604020202020204" pitchFamily="34" charset="0"/>
              <a:buChar char="•"/>
            </a:pPr>
            <a:r>
              <a:rPr lang="en-US" b="0" i="0" dirty="0">
                <a:effectLst/>
                <a:latin typeface="Karla"/>
              </a:rPr>
              <a:t>It has the smallest p-value, or</a:t>
            </a:r>
          </a:p>
          <a:p>
            <a:pPr algn="l" fontAlgn="base">
              <a:buFont typeface="Arial" panose="020B0604020202020204" pitchFamily="34" charset="0"/>
              <a:buChar char="•"/>
            </a:pPr>
            <a:r>
              <a:rPr lang="en-US" b="0" i="0" dirty="0">
                <a:effectLst/>
                <a:latin typeface="Karla"/>
              </a:rPr>
              <a:t>It provides the highest increase in R</a:t>
            </a:r>
            <a:r>
              <a:rPr lang="en-US" b="0" i="0" baseline="30000" dirty="0">
                <a:effectLst/>
                <a:latin typeface="Karla"/>
              </a:rPr>
              <a:t>2</a:t>
            </a:r>
            <a:r>
              <a:rPr lang="en-US" b="0" i="0" dirty="0">
                <a:effectLst/>
                <a:latin typeface="Karla"/>
              </a:rPr>
              <a:t>, or</a:t>
            </a:r>
          </a:p>
          <a:p>
            <a:pPr algn="l" fontAlgn="base">
              <a:buFont typeface="Arial" panose="020B0604020202020204" pitchFamily="34" charset="0"/>
              <a:buChar char="•"/>
            </a:pPr>
            <a:r>
              <a:rPr lang="en-US" b="0" i="0" dirty="0">
                <a:effectLst/>
                <a:latin typeface="Karla"/>
              </a:rPr>
              <a:t>It provides the highest drop in model RSS (Residuals Sum of Squares) compared to other predictors under consideration.</a:t>
            </a:r>
          </a:p>
          <a:p>
            <a:endParaRPr lang="en-IN" dirty="0"/>
          </a:p>
        </p:txBody>
      </p:sp>
    </p:spTree>
    <p:extLst>
      <p:ext uri="{BB962C8B-B14F-4D97-AF65-F5344CB8AC3E}">
        <p14:creationId xmlns:p14="http://schemas.microsoft.com/office/powerpoint/2010/main" val="24205604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77956-E555-4317-9193-A80564B18E94}"/>
              </a:ext>
            </a:extLst>
          </p:cNvPr>
          <p:cNvSpPr>
            <a:spLocks noGrp="1"/>
          </p:cNvSpPr>
          <p:nvPr>
            <p:ph type="title"/>
          </p:nvPr>
        </p:nvSpPr>
        <p:spPr/>
        <p:txBody>
          <a:bodyPr/>
          <a:lstStyle/>
          <a:p>
            <a:r>
              <a:rPr lang="en-US" sz="3100" b="1" spc="-5" dirty="0">
                <a:solidFill>
                  <a:srgbClr val="3333FF"/>
                </a:solidFill>
                <a:latin typeface="Carlito"/>
              </a:rPr>
              <a:t>2. Choose a stopping rule</a:t>
            </a:r>
            <a:br>
              <a:rPr lang="en-US" b="0" i="0" dirty="0">
                <a:effectLst/>
                <a:latin typeface="Merriweather Sans"/>
              </a:rPr>
            </a:br>
            <a:endParaRPr lang="en-IN" dirty="0"/>
          </a:p>
        </p:txBody>
      </p:sp>
      <p:sp>
        <p:nvSpPr>
          <p:cNvPr id="3" name="Content Placeholder 2">
            <a:extLst>
              <a:ext uri="{FF2B5EF4-FFF2-40B4-BE49-F238E27FC236}">
                <a16:creationId xmlns:a16="http://schemas.microsoft.com/office/drawing/2014/main" id="{74482303-0D52-46B7-B06B-438AF0BA95FD}"/>
              </a:ext>
            </a:extLst>
          </p:cNvPr>
          <p:cNvSpPr>
            <a:spLocks noGrp="1"/>
          </p:cNvSpPr>
          <p:nvPr>
            <p:ph idx="1"/>
          </p:nvPr>
        </p:nvSpPr>
        <p:spPr/>
        <p:txBody>
          <a:bodyPr/>
          <a:lstStyle/>
          <a:p>
            <a:pPr algn="l" fontAlgn="base"/>
            <a:r>
              <a:rPr lang="en-US" b="0" i="0" dirty="0">
                <a:effectLst/>
                <a:latin typeface="Karla"/>
              </a:rPr>
              <a:t>The stopping rule is satisfied when all remaining variables to </a:t>
            </a:r>
            <a:r>
              <a:rPr lang="en-US" b="0" i="0" dirty="0">
                <a:solidFill>
                  <a:srgbClr val="FF0000"/>
                </a:solidFill>
                <a:effectLst/>
                <a:latin typeface="Karla"/>
              </a:rPr>
              <a:t>consider have a p-value larger than some threshold if added to the model.</a:t>
            </a:r>
          </a:p>
          <a:p>
            <a:pPr algn="l" fontAlgn="base"/>
            <a:r>
              <a:rPr lang="en-US" b="0" i="0" dirty="0">
                <a:effectLst/>
                <a:latin typeface="Karla"/>
              </a:rPr>
              <a:t>When we reach this state, forward selection will terminate and return a model that only contains variables with p-values &lt; threshold</a:t>
            </a:r>
          </a:p>
          <a:p>
            <a:endParaRPr lang="en-IN" dirty="0"/>
          </a:p>
        </p:txBody>
      </p:sp>
    </p:spTree>
    <p:extLst>
      <p:ext uri="{BB962C8B-B14F-4D97-AF65-F5344CB8AC3E}">
        <p14:creationId xmlns:p14="http://schemas.microsoft.com/office/powerpoint/2010/main" val="21420047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38A91-B230-1B6D-5613-08FEEC91F6D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6080C7B-814B-CFE1-7647-E393A9A2D473}"/>
              </a:ext>
            </a:extLst>
          </p:cNvPr>
          <p:cNvPicPr>
            <a:picLocks noGrp="1" noChangeAspect="1"/>
          </p:cNvPicPr>
          <p:nvPr>
            <p:ph idx="1"/>
          </p:nvPr>
        </p:nvPicPr>
        <p:blipFill>
          <a:blip r:embed="rId2"/>
          <a:stretch>
            <a:fillRect/>
          </a:stretch>
        </p:blipFill>
        <p:spPr>
          <a:xfrm>
            <a:off x="1934200" y="1027906"/>
            <a:ext cx="9419600" cy="5090437"/>
          </a:xfrm>
        </p:spPr>
      </p:pic>
    </p:spTree>
    <p:extLst>
      <p:ext uri="{BB962C8B-B14F-4D97-AF65-F5344CB8AC3E}">
        <p14:creationId xmlns:p14="http://schemas.microsoft.com/office/powerpoint/2010/main" val="1689451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3974C-093F-4A43-BB86-C8E7DBBA0313}"/>
              </a:ext>
            </a:extLst>
          </p:cNvPr>
          <p:cNvSpPr>
            <a:spLocks noGrp="1"/>
          </p:cNvSpPr>
          <p:nvPr>
            <p:ph type="title"/>
          </p:nvPr>
        </p:nvSpPr>
        <p:spPr/>
        <p:txBody>
          <a:bodyPr/>
          <a:lstStyle/>
          <a:p>
            <a:r>
              <a:rPr lang="en-US" sz="4400" b="1" spc="-5" dirty="0">
                <a:solidFill>
                  <a:srgbClr val="3333FF"/>
                </a:solidFill>
                <a:latin typeface="Carlito"/>
              </a:rPr>
              <a:t>Backward  selection </a:t>
            </a:r>
            <a:endParaRPr lang="en-IN" dirty="0"/>
          </a:p>
        </p:txBody>
      </p:sp>
      <p:sp>
        <p:nvSpPr>
          <p:cNvPr id="3" name="Content Placeholder 2">
            <a:extLst>
              <a:ext uri="{FF2B5EF4-FFF2-40B4-BE49-F238E27FC236}">
                <a16:creationId xmlns:a16="http://schemas.microsoft.com/office/drawing/2014/main" id="{324CE3F5-1F61-4475-9181-B0B79F901823}"/>
              </a:ext>
            </a:extLst>
          </p:cNvPr>
          <p:cNvSpPr>
            <a:spLocks noGrp="1"/>
          </p:cNvSpPr>
          <p:nvPr>
            <p:ph idx="1"/>
          </p:nvPr>
        </p:nvSpPr>
        <p:spPr/>
        <p:txBody>
          <a:bodyPr/>
          <a:lstStyle/>
          <a:p>
            <a:pPr algn="just" fontAlgn="base"/>
            <a:r>
              <a:rPr lang="en-US" dirty="0">
                <a:latin typeface="Karla"/>
              </a:rPr>
              <a:t>In backward search what should you start with? In backward search you start with the full feature set. Then you try removing features from the features that you have. You find that feature whose removal gives rise to maximum improvement in performance. You try removing drop the feature. You drop the feature with the smallest improvement or with smallest impact on error. So, this is a similar algorithm for backward search to find a features subset.</a:t>
            </a:r>
            <a:endParaRPr lang="en-IN" dirty="0">
              <a:latin typeface="Karla"/>
            </a:endParaRPr>
          </a:p>
          <a:p>
            <a:endParaRPr lang="en-IN" dirty="0"/>
          </a:p>
        </p:txBody>
      </p:sp>
    </p:spTree>
    <p:extLst>
      <p:ext uri="{BB962C8B-B14F-4D97-AF65-F5344CB8AC3E}">
        <p14:creationId xmlns:p14="http://schemas.microsoft.com/office/powerpoint/2010/main" val="2397707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3D5E-CB6A-44F3-9026-4726A5818494}"/>
              </a:ext>
            </a:extLst>
          </p:cNvPr>
          <p:cNvSpPr>
            <a:spLocks noGrp="1"/>
          </p:cNvSpPr>
          <p:nvPr>
            <p:ph type="title"/>
          </p:nvPr>
        </p:nvSpPr>
        <p:spPr/>
        <p:txBody>
          <a:bodyPr/>
          <a:lstStyle/>
          <a:p>
            <a:r>
              <a:rPr lang="en-US" sz="3100" b="1" spc="-5" dirty="0">
                <a:solidFill>
                  <a:srgbClr val="3333FF"/>
                </a:solidFill>
                <a:latin typeface="Carlito"/>
              </a:rPr>
              <a:t>Backward  selection </a:t>
            </a:r>
            <a:endParaRPr lang="en-IN" sz="3100" b="1" spc="-5" dirty="0">
              <a:solidFill>
                <a:srgbClr val="3333FF"/>
              </a:solidFill>
              <a:latin typeface="Carlito"/>
            </a:endParaRPr>
          </a:p>
        </p:txBody>
      </p:sp>
      <p:sp>
        <p:nvSpPr>
          <p:cNvPr id="3" name="Content Placeholder 2">
            <a:extLst>
              <a:ext uri="{FF2B5EF4-FFF2-40B4-BE49-F238E27FC236}">
                <a16:creationId xmlns:a16="http://schemas.microsoft.com/office/drawing/2014/main" id="{D47DB530-47CF-4D2B-AADF-AB0EB29FA26F}"/>
              </a:ext>
            </a:extLst>
          </p:cNvPr>
          <p:cNvSpPr>
            <a:spLocks noGrp="1"/>
          </p:cNvSpPr>
          <p:nvPr>
            <p:ph idx="1"/>
          </p:nvPr>
        </p:nvSpPr>
        <p:spPr/>
        <p:txBody>
          <a:bodyPr/>
          <a:lstStyle/>
          <a:p>
            <a:pPr algn="l" fontAlgn="base"/>
            <a:r>
              <a:rPr lang="en-US" b="1" i="0" dirty="0">
                <a:effectLst/>
                <a:latin typeface="Karla"/>
              </a:rPr>
              <a:t>Backward stepwise selection</a:t>
            </a:r>
            <a:r>
              <a:rPr lang="en-US" b="0" i="0" dirty="0">
                <a:effectLst/>
                <a:latin typeface="Karla"/>
              </a:rPr>
              <a:t> (or </a:t>
            </a:r>
            <a:r>
              <a:rPr lang="en-US" b="1" i="0" dirty="0">
                <a:effectLst/>
                <a:latin typeface="Karla"/>
              </a:rPr>
              <a:t>backward elimination</a:t>
            </a:r>
            <a:r>
              <a:rPr lang="en-US" b="0" i="0" dirty="0">
                <a:effectLst/>
                <a:latin typeface="Karla"/>
              </a:rPr>
              <a:t>) is a variable selection method which:</a:t>
            </a:r>
          </a:p>
          <a:p>
            <a:pPr algn="l" fontAlgn="base">
              <a:buFont typeface="+mj-lt"/>
              <a:buAutoNum type="arabicPeriod"/>
            </a:pPr>
            <a:r>
              <a:rPr lang="en-US" b="1" i="0" dirty="0">
                <a:effectLst/>
                <a:latin typeface="Karla"/>
              </a:rPr>
              <a:t>Begins</a:t>
            </a:r>
            <a:r>
              <a:rPr lang="en-US" b="0" i="0" dirty="0">
                <a:effectLst/>
                <a:latin typeface="Karla"/>
              </a:rPr>
              <a:t> with a model that contains all variables under consideration (called the </a:t>
            </a:r>
            <a:r>
              <a:rPr lang="en-US" b="0" i="1" dirty="0">
                <a:effectLst/>
                <a:latin typeface="Karla"/>
              </a:rPr>
              <a:t>Full Model</a:t>
            </a:r>
            <a:r>
              <a:rPr lang="en-US" b="0" i="0" dirty="0">
                <a:effectLst/>
                <a:latin typeface="Karla"/>
              </a:rPr>
              <a:t>)</a:t>
            </a:r>
          </a:p>
          <a:p>
            <a:pPr algn="l" fontAlgn="base">
              <a:buFont typeface="+mj-lt"/>
              <a:buAutoNum type="arabicPeriod"/>
            </a:pPr>
            <a:r>
              <a:rPr lang="en-US" b="1" i="0" dirty="0">
                <a:effectLst/>
                <a:latin typeface="Karla"/>
              </a:rPr>
              <a:t>Then</a:t>
            </a:r>
            <a:r>
              <a:rPr lang="en-US" b="0" i="0" dirty="0">
                <a:effectLst/>
                <a:latin typeface="Karla"/>
              </a:rPr>
              <a:t> starts removing the least significant variables one after the other</a:t>
            </a:r>
          </a:p>
          <a:p>
            <a:pPr algn="l" fontAlgn="base">
              <a:buFont typeface="+mj-lt"/>
              <a:buAutoNum type="arabicPeriod"/>
            </a:pPr>
            <a:r>
              <a:rPr lang="en-US" b="1" i="0" dirty="0">
                <a:effectLst/>
                <a:latin typeface="Karla"/>
              </a:rPr>
              <a:t>Until</a:t>
            </a:r>
            <a:r>
              <a:rPr lang="en-US" b="0" i="0" dirty="0">
                <a:effectLst/>
                <a:latin typeface="Karla"/>
              </a:rPr>
              <a:t> a pre-specified stopping rule is reached</a:t>
            </a:r>
            <a:endParaRPr lang="en-IN" dirty="0"/>
          </a:p>
        </p:txBody>
      </p:sp>
    </p:spTree>
    <p:extLst>
      <p:ext uri="{BB962C8B-B14F-4D97-AF65-F5344CB8AC3E}">
        <p14:creationId xmlns:p14="http://schemas.microsoft.com/office/powerpoint/2010/main" val="27086668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A1D8C-9413-4594-B202-3F991618C4B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7C0B04F2-1488-484E-8B08-37E55E3300D4}"/>
              </a:ext>
            </a:extLst>
          </p:cNvPr>
          <p:cNvPicPr>
            <a:picLocks noGrp="1" noChangeAspect="1"/>
          </p:cNvPicPr>
          <p:nvPr>
            <p:ph idx="1"/>
          </p:nvPr>
        </p:nvPicPr>
        <p:blipFill>
          <a:blip r:embed="rId2"/>
          <a:stretch>
            <a:fillRect/>
          </a:stretch>
        </p:blipFill>
        <p:spPr>
          <a:xfrm>
            <a:off x="1203960" y="365125"/>
            <a:ext cx="8705982" cy="6492875"/>
          </a:xfrm>
          <a:prstGeom prst="rect">
            <a:avLst/>
          </a:prstGeom>
        </p:spPr>
      </p:pic>
    </p:spTree>
    <p:extLst>
      <p:ext uri="{BB962C8B-B14F-4D97-AF65-F5344CB8AC3E}">
        <p14:creationId xmlns:p14="http://schemas.microsoft.com/office/powerpoint/2010/main" val="28116016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1BC71-04CD-49C3-EB0E-8C7D1EB9B675}"/>
              </a:ext>
            </a:extLst>
          </p:cNvPr>
          <p:cNvSpPr>
            <a:spLocks noGrp="1"/>
          </p:cNvSpPr>
          <p:nvPr>
            <p:ph type="title"/>
          </p:nvPr>
        </p:nvSpPr>
        <p:spPr/>
        <p:txBody>
          <a:bodyPr/>
          <a:lstStyle/>
          <a:p>
            <a:endParaRPr lang="en-US"/>
          </a:p>
        </p:txBody>
      </p:sp>
      <p:pic>
        <p:nvPicPr>
          <p:cNvPr id="1026" name="Picture 2">
            <a:extLst>
              <a:ext uri="{FF2B5EF4-FFF2-40B4-BE49-F238E27FC236}">
                <a16:creationId xmlns:a16="http://schemas.microsoft.com/office/drawing/2014/main" id="{725B0D36-6143-5581-735F-65E4C760F0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9973" y="526093"/>
            <a:ext cx="7803715" cy="6464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7425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1290F-F38B-4325-9D88-D6D3B4E268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EF3C37-33F9-491B-B028-2ABDC4F7967F}"/>
              </a:ext>
            </a:extLst>
          </p:cNvPr>
          <p:cNvSpPr>
            <a:spLocks noGrp="1"/>
          </p:cNvSpPr>
          <p:nvPr>
            <p:ph idx="1"/>
          </p:nvPr>
        </p:nvSpPr>
        <p:spPr/>
        <p:txBody>
          <a:bodyPr/>
          <a:lstStyle/>
          <a:p>
            <a:pPr algn="l"/>
            <a:r>
              <a:rPr lang="en-US" b="0" i="0" dirty="0">
                <a:solidFill>
                  <a:srgbClr val="292929"/>
                </a:solidFill>
                <a:effectLst/>
                <a:latin typeface="charter"/>
              </a:rPr>
              <a:t>Backward selection works in the opposite direction in that it eliminates features. Because they are not run on every combination of features they are orders of magnitude less computationally intensive than straight subset selection.</a:t>
            </a:r>
          </a:p>
          <a:p>
            <a:pPr algn="l"/>
            <a:r>
              <a:rPr lang="en-US" b="0" i="0" dirty="0">
                <a:solidFill>
                  <a:srgbClr val="FF0000"/>
                </a:solidFill>
                <a:effectLst/>
                <a:latin typeface="charter"/>
              </a:rPr>
              <a:t>Basically, it is opposite of Forward Stepwise selection. it starts with all Predictors and then drop one predictor at time and then select the best model.</a:t>
            </a:r>
          </a:p>
          <a:p>
            <a:pPr algn="l"/>
            <a:r>
              <a:rPr lang="en-US" b="0" i="0" dirty="0">
                <a:solidFill>
                  <a:srgbClr val="292929"/>
                </a:solidFill>
                <a:effectLst/>
                <a:latin typeface="charter"/>
              </a:rPr>
              <a:t>Also, computational power is very similar to Forward Selection.</a:t>
            </a:r>
          </a:p>
          <a:p>
            <a:endParaRPr lang="en-IN" dirty="0"/>
          </a:p>
        </p:txBody>
      </p:sp>
    </p:spTree>
    <p:extLst>
      <p:ext uri="{BB962C8B-B14F-4D97-AF65-F5344CB8AC3E}">
        <p14:creationId xmlns:p14="http://schemas.microsoft.com/office/powerpoint/2010/main" val="264820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9EA3F-CD03-43EA-BF55-13277D5846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83809F-0F9A-413E-80F4-8ED389B44934}"/>
              </a:ext>
            </a:extLst>
          </p:cNvPr>
          <p:cNvSpPr>
            <a:spLocks noGrp="1"/>
          </p:cNvSpPr>
          <p:nvPr>
            <p:ph idx="1"/>
          </p:nvPr>
        </p:nvSpPr>
        <p:spPr/>
        <p:txBody>
          <a:bodyPr/>
          <a:lstStyle/>
          <a:p>
            <a:pPr algn="l" fontAlgn="base"/>
            <a:r>
              <a:rPr lang="en-US" b="0" i="0" dirty="0">
                <a:effectLst/>
                <a:latin typeface="Karla"/>
              </a:rPr>
              <a:t>Like we did with forward selection, in order to understand how backward elimination works, we will need discuss how to determine:</a:t>
            </a:r>
          </a:p>
          <a:p>
            <a:pPr algn="l" fontAlgn="base">
              <a:buFont typeface="+mj-lt"/>
              <a:buAutoNum type="arabicPeriod"/>
            </a:pPr>
            <a:r>
              <a:rPr lang="en-US" b="0" i="0" dirty="0">
                <a:effectLst/>
                <a:latin typeface="Karla"/>
              </a:rPr>
              <a:t>The least significant variable at each step</a:t>
            </a:r>
          </a:p>
          <a:p>
            <a:pPr algn="l" fontAlgn="base">
              <a:buFont typeface="+mj-lt"/>
              <a:buAutoNum type="arabicPeriod"/>
            </a:pPr>
            <a:r>
              <a:rPr lang="en-US" b="0" i="0" dirty="0">
                <a:effectLst/>
                <a:latin typeface="Karla"/>
              </a:rPr>
              <a:t>The stopping rule</a:t>
            </a:r>
          </a:p>
          <a:p>
            <a:endParaRPr lang="en-IN" dirty="0"/>
          </a:p>
        </p:txBody>
      </p:sp>
    </p:spTree>
    <p:extLst>
      <p:ext uri="{BB962C8B-B14F-4D97-AF65-F5344CB8AC3E}">
        <p14:creationId xmlns:p14="http://schemas.microsoft.com/office/powerpoint/2010/main" val="7889926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89D46-8926-4093-B230-F75B107E14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786692-DD97-45C5-8072-0ECAB857D5D5}"/>
              </a:ext>
            </a:extLst>
          </p:cNvPr>
          <p:cNvSpPr>
            <a:spLocks noGrp="1"/>
          </p:cNvSpPr>
          <p:nvPr>
            <p:ph idx="1"/>
          </p:nvPr>
        </p:nvSpPr>
        <p:spPr/>
        <p:txBody>
          <a:bodyPr/>
          <a:lstStyle/>
          <a:p>
            <a:pPr algn="l" fontAlgn="base"/>
            <a:r>
              <a:rPr lang="en-US" b="0" i="0" dirty="0">
                <a:effectLst/>
                <a:latin typeface="Merriweather Sans"/>
              </a:rPr>
              <a:t>Determine the least significant variable to remove at each step</a:t>
            </a:r>
          </a:p>
          <a:p>
            <a:pPr algn="l" fontAlgn="base"/>
            <a:r>
              <a:rPr lang="en-US" b="0" i="0" dirty="0">
                <a:effectLst/>
                <a:latin typeface="Karla"/>
              </a:rPr>
              <a:t>The least significant variable is a variable that:</a:t>
            </a:r>
          </a:p>
          <a:p>
            <a:pPr algn="l" fontAlgn="base">
              <a:buFont typeface="Arial" panose="020B0604020202020204" pitchFamily="34" charset="0"/>
              <a:buChar char="•"/>
            </a:pPr>
            <a:r>
              <a:rPr lang="en-US" b="0" i="0" dirty="0">
                <a:effectLst/>
                <a:latin typeface="Karla"/>
              </a:rPr>
              <a:t>Has the highest p-value in the model, or</a:t>
            </a:r>
          </a:p>
          <a:p>
            <a:pPr algn="l" fontAlgn="base">
              <a:buFont typeface="Arial" panose="020B0604020202020204" pitchFamily="34" charset="0"/>
              <a:buChar char="•"/>
            </a:pPr>
            <a:r>
              <a:rPr lang="en-US" dirty="0">
                <a:latin typeface="Karla"/>
              </a:rPr>
              <a:t>Its elimination from the model causes the lowest drop in R2 value.</a:t>
            </a:r>
            <a:endParaRPr lang="en-IN" dirty="0">
              <a:latin typeface="Karla"/>
            </a:endParaRPr>
          </a:p>
        </p:txBody>
      </p:sp>
    </p:spTree>
    <p:extLst>
      <p:ext uri="{BB962C8B-B14F-4D97-AF65-F5344CB8AC3E}">
        <p14:creationId xmlns:p14="http://schemas.microsoft.com/office/powerpoint/2010/main" val="32580448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DE4E8-5A3B-4829-BB86-D1068AD113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50B23D-EB05-48D7-86AB-24CFF35FE885}"/>
              </a:ext>
            </a:extLst>
          </p:cNvPr>
          <p:cNvSpPr>
            <a:spLocks noGrp="1"/>
          </p:cNvSpPr>
          <p:nvPr>
            <p:ph idx="1"/>
          </p:nvPr>
        </p:nvSpPr>
        <p:spPr/>
        <p:txBody>
          <a:bodyPr/>
          <a:lstStyle/>
          <a:p>
            <a:pPr marL="0" indent="0" algn="l" fontAlgn="base">
              <a:buNone/>
            </a:pPr>
            <a:r>
              <a:rPr lang="en-US" b="0" i="0" dirty="0">
                <a:effectLst/>
                <a:latin typeface="Merriweather Sans"/>
              </a:rPr>
              <a:t>2 </a:t>
            </a:r>
            <a:r>
              <a:rPr lang="en-US" sz="3100" b="1" spc="-5" dirty="0">
                <a:solidFill>
                  <a:srgbClr val="3333FF"/>
                </a:solidFill>
                <a:latin typeface="Carlito"/>
                <a:ea typeface="+mj-ea"/>
                <a:cs typeface="+mj-cs"/>
              </a:rPr>
              <a:t>Choose a stopping rule</a:t>
            </a:r>
          </a:p>
          <a:p>
            <a:pPr algn="l" fontAlgn="base"/>
            <a:r>
              <a:rPr lang="en-US" b="0" i="0" dirty="0">
                <a:effectLst/>
                <a:latin typeface="Karla"/>
              </a:rPr>
              <a:t>The stopping rule is satisfied when all remaining variables in the model have a p-value smaller than some pre-specified threshold.</a:t>
            </a:r>
          </a:p>
          <a:p>
            <a:pPr algn="l" fontAlgn="base"/>
            <a:r>
              <a:rPr lang="en-US" b="0" i="0" dirty="0">
                <a:effectLst/>
                <a:latin typeface="Karla"/>
              </a:rPr>
              <a:t>When we reach this state, backward elimination will terminate and return the current step’s model.</a:t>
            </a:r>
          </a:p>
          <a:p>
            <a:endParaRPr lang="en-IN" dirty="0"/>
          </a:p>
        </p:txBody>
      </p:sp>
    </p:spTree>
    <p:extLst>
      <p:ext uri="{BB962C8B-B14F-4D97-AF65-F5344CB8AC3E}">
        <p14:creationId xmlns:p14="http://schemas.microsoft.com/office/powerpoint/2010/main" val="22601583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9665-0604-4CD4-9342-E6EDB57C2DE1}"/>
              </a:ext>
            </a:extLst>
          </p:cNvPr>
          <p:cNvSpPr>
            <a:spLocks noGrp="1"/>
          </p:cNvSpPr>
          <p:nvPr>
            <p:ph type="title"/>
          </p:nvPr>
        </p:nvSpPr>
        <p:spPr/>
        <p:txBody>
          <a:bodyPr/>
          <a:lstStyle/>
          <a:p>
            <a:r>
              <a:rPr lang="en-US" sz="3100" b="1" spc="-5" dirty="0">
                <a:solidFill>
                  <a:srgbClr val="3333FF"/>
                </a:solidFill>
                <a:latin typeface="Carlito"/>
              </a:rPr>
              <a:t>Where forward stepwise is better</a:t>
            </a:r>
            <a:br>
              <a:rPr lang="en-US" sz="3100" b="1" spc="-5" dirty="0">
                <a:solidFill>
                  <a:srgbClr val="3333FF"/>
                </a:solidFill>
                <a:latin typeface="Carlito"/>
              </a:rPr>
            </a:br>
            <a:endParaRPr lang="en-IN" sz="3100" b="1" spc="-5" dirty="0">
              <a:solidFill>
                <a:srgbClr val="3333FF"/>
              </a:solidFill>
              <a:latin typeface="Carlito"/>
            </a:endParaRPr>
          </a:p>
        </p:txBody>
      </p:sp>
      <p:sp>
        <p:nvSpPr>
          <p:cNvPr id="3" name="Content Placeholder 2">
            <a:extLst>
              <a:ext uri="{FF2B5EF4-FFF2-40B4-BE49-F238E27FC236}">
                <a16:creationId xmlns:a16="http://schemas.microsoft.com/office/drawing/2014/main" id="{4A0AD13D-E705-4DBB-9F46-ED80B60A17D0}"/>
              </a:ext>
            </a:extLst>
          </p:cNvPr>
          <p:cNvSpPr>
            <a:spLocks noGrp="1"/>
          </p:cNvSpPr>
          <p:nvPr>
            <p:ph idx="1"/>
          </p:nvPr>
        </p:nvSpPr>
        <p:spPr/>
        <p:txBody>
          <a:bodyPr>
            <a:normAutofit/>
          </a:bodyPr>
          <a:lstStyle/>
          <a:p>
            <a:pPr algn="l" fontAlgn="base"/>
            <a:r>
              <a:rPr lang="en-US" b="0" i="0" dirty="0">
                <a:effectLst/>
                <a:latin typeface="Karla"/>
              </a:rPr>
              <a:t>Unlike backward elimination, forward stepwise selection can be applied in settings where the </a:t>
            </a:r>
            <a:r>
              <a:rPr lang="en-US" b="0" i="0" dirty="0">
                <a:solidFill>
                  <a:srgbClr val="FF0000"/>
                </a:solidFill>
                <a:effectLst/>
                <a:latin typeface="Karla"/>
              </a:rPr>
              <a:t>number of variables under consideration is larger </a:t>
            </a:r>
            <a:r>
              <a:rPr lang="en-US" b="0" i="0" dirty="0">
                <a:effectLst/>
                <a:latin typeface="Karla"/>
              </a:rPr>
              <a:t>than the sample size!</a:t>
            </a:r>
          </a:p>
          <a:p>
            <a:pPr algn="l" fontAlgn="base"/>
            <a:r>
              <a:rPr lang="en-US" b="0" i="0" dirty="0">
                <a:effectLst/>
                <a:latin typeface="Karla"/>
              </a:rPr>
              <a:t>This is because forward selection starts with a null model (with no predictors) and proceeds to add variables one at a time, and so unlike backward selection, it DOES NOT have to consider the full model (which includes all the predictors).</a:t>
            </a:r>
          </a:p>
          <a:p>
            <a:endParaRPr lang="en-IN" dirty="0"/>
          </a:p>
        </p:txBody>
      </p:sp>
    </p:spTree>
    <p:extLst>
      <p:ext uri="{BB962C8B-B14F-4D97-AF65-F5344CB8AC3E}">
        <p14:creationId xmlns:p14="http://schemas.microsoft.com/office/powerpoint/2010/main" val="3189562665"/>
      </p:ext>
    </p:extLst>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2B39A-40AC-41E5-BCE3-D369ABE65C9D}"/>
              </a:ext>
            </a:extLst>
          </p:cNvPr>
          <p:cNvSpPr>
            <a:spLocks noGrp="1"/>
          </p:cNvSpPr>
          <p:nvPr>
            <p:ph type="title"/>
          </p:nvPr>
        </p:nvSpPr>
        <p:spPr/>
        <p:txBody>
          <a:bodyPr/>
          <a:lstStyle/>
          <a:p>
            <a:r>
              <a:rPr lang="en-US" sz="3100" b="1" spc="-5" dirty="0">
                <a:solidFill>
                  <a:srgbClr val="3333FF"/>
                </a:solidFill>
                <a:latin typeface="Carlito"/>
              </a:rPr>
              <a:t>Where backward stepwise is better</a:t>
            </a:r>
            <a:br>
              <a:rPr lang="en-US" dirty="0"/>
            </a:br>
            <a:endParaRPr lang="en-IN" dirty="0"/>
          </a:p>
        </p:txBody>
      </p:sp>
      <p:sp>
        <p:nvSpPr>
          <p:cNvPr id="3" name="Content Placeholder 2">
            <a:extLst>
              <a:ext uri="{FF2B5EF4-FFF2-40B4-BE49-F238E27FC236}">
                <a16:creationId xmlns:a16="http://schemas.microsoft.com/office/drawing/2014/main" id="{B6D2616C-5A6B-420C-B9B8-651C02A6CF05}"/>
              </a:ext>
            </a:extLst>
          </p:cNvPr>
          <p:cNvSpPr>
            <a:spLocks noGrp="1"/>
          </p:cNvSpPr>
          <p:nvPr>
            <p:ph idx="1"/>
          </p:nvPr>
        </p:nvSpPr>
        <p:spPr/>
        <p:txBody>
          <a:bodyPr/>
          <a:lstStyle/>
          <a:p>
            <a:pPr algn="l" fontAlgn="base"/>
            <a:r>
              <a:rPr lang="en-US" b="0" i="0" dirty="0">
                <a:effectLst/>
                <a:latin typeface="Karla"/>
              </a:rPr>
              <a:t>Starting with the full model has the advantage of considering the effects of all variables simultaneously.</a:t>
            </a:r>
          </a:p>
          <a:p>
            <a:pPr marL="0" indent="0" algn="l" fontAlgn="base">
              <a:buNone/>
            </a:pPr>
            <a:endParaRPr lang="en-US" b="0" i="0" dirty="0">
              <a:effectLst/>
              <a:latin typeface="Karla"/>
            </a:endParaRPr>
          </a:p>
          <a:p>
            <a:pPr algn="l" fontAlgn="base"/>
            <a:r>
              <a:rPr lang="en-US" b="0" i="0" dirty="0">
                <a:effectLst/>
                <a:latin typeface="Karla"/>
              </a:rPr>
              <a:t>This is especially important in case of collinearity (when variables in a model are correlated which each other) because backward stepwise may be forced to keep them all in the model unlike forward selection where none of them might be entered </a:t>
            </a:r>
          </a:p>
          <a:p>
            <a:endParaRPr lang="en-IN" dirty="0"/>
          </a:p>
        </p:txBody>
      </p:sp>
    </p:spTree>
    <p:extLst>
      <p:ext uri="{BB962C8B-B14F-4D97-AF65-F5344CB8AC3E}">
        <p14:creationId xmlns:p14="http://schemas.microsoft.com/office/powerpoint/2010/main" val="41105329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19091-F34A-4302-A73D-8D4F10426B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4FC220-26C1-44C0-AC02-85C21AE12B10}"/>
              </a:ext>
            </a:extLst>
          </p:cNvPr>
          <p:cNvSpPr>
            <a:spLocks noGrp="1"/>
          </p:cNvSpPr>
          <p:nvPr>
            <p:ph idx="1"/>
          </p:nvPr>
        </p:nvSpPr>
        <p:spPr/>
        <p:txBody>
          <a:bodyPr/>
          <a:lstStyle/>
          <a:p>
            <a:pPr marL="0" indent="0" algn="l" fontAlgn="base">
              <a:buNone/>
            </a:pPr>
            <a:r>
              <a:rPr lang="en-US" b="0" i="0" dirty="0">
                <a:effectLst/>
                <a:latin typeface="Karla"/>
              </a:rPr>
              <a:t>BOTTOM LINE:</a:t>
            </a:r>
          </a:p>
          <a:p>
            <a:pPr algn="l" fontAlgn="base"/>
            <a:r>
              <a:rPr lang="en-US" b="1" i="0" dirty="0">
                <a:effectLst/>
                <a:latin typeface="Karla"/>
              </a:rPr>
              <a:t>Unless the number of candidate variables &gt; sample size (or number of events), use a backward stepwise approach.</a:t>
            </a:r>
            <a:endParaRPr lang="en-US" b="0" i="0" dirty="0">
              <a:effectLst/>
              <a:latin typeface="Karla"/>
            </a:endParaRPr>
          </a:p>
          <a:p>
            <a:endParaRPr lang="en-IN" dirty="0"/>
          </a:p>
        </p:txBody>
      </p:sp>
    </p:spTree>
    <p:extLst>
      <p:ext uri="{BB962C8B-B14F-4D97-AF65-F5344CB8AC3E}">
        <p14:creationId xmlns:p14="http://schemas.microsoft.com/office/powerpoint/2010/main" val="25932213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D3955-ECA4-4304-91AF-183F037872D3}"/>
              </a:ext>
            </a:extLst>
          </p:cNvPr>
          <p:cNvSpPr>
            <a:spLocks noGrp="1"/>
          </p:cNvSpPr>
          <p:nvPr>
            <p:ph type="title"/>
          </p:nvPr>
        </p:nvSpPr>
        <p:spPr/>
        <p:txBody>
          <a:bodyPr/>
          <a:lstStyle/>
          <a:p>
            <a:r>
              <a:rPr lang="en-US" sz="2800" b="1" spc="-5" dirty="0">
                <a:solidFill>
                  <a:srgbClr val="3333FF"/>
                </a:solidFill>
                <a:latin typeface="Carlito"/>
              </a:rPr>
              <a:t>Advantages of Wrapper methods</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C07F9DB8-EE35-4096-9468-DB32043A182D}"/>
              </a:ext>
            </a:extLst>
          </p:cNvPr>
          <p:cNvSpPr>
            <a:spLocks noGrp="1"/>
          </p:cNvSpPr>
          <p:nvPr>
            <p:ph idx="1"/>
          </p:nvPr>
        </p:nvSpPr>
        <p:spPr/>
        <p:txBody>
          <a:bodyPr/>
          <a:lstStyle/>
          <a:p>
            <a:r>
              <a:rPr lang="en-US" dirty="0"/>
              <a:t>Simple</a:t>
            </a:r>
          </a:p>
          <a:p>
            <a:r>
              <a:rPr lang="en-US" dirty="0"/>
              <a:t> Interacts with classifier</a:t>
            </a:r>
          </a:p>
          <a:p>
            <a:r>
              <a:rPr lang="en-US" dirty="0"/>
              <a:t> Models feature dependencies</a:t>
            </a:r>
          </a:p>
          <a:p>
            <a:r>
              <a:rPr lang="en-US" dirty="0"/>
              <a:t>Good classification accuracy</a:t>
            </a:r>
            <a:endParaRPr lang="en-IN" dirty="0"/>
          </a:p>
        </p:txBody>
      </p:sp>
    </p:spTree>
    <p:extLst>
      <p:ext uri="{BB962C8B-B14F-4D97-AF65-F5344CB8AC3E}">
        <p14:creationId xmlns:p14="http://schemas.microsoft.com/office/powerpoint/2010/main" val="38125092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90FA-4611-4ABE-998E-DCE66085C392}"/>
              </a:ext>
            </a:extLst>
          </p:cNvPr>
          <p:cNvSpPr>
            <a:spLocks noGrp="1"/>
          </p:cNvSpPr>
          <p:nvPr>
            <p:ph type="title"/>
          </p:nvPr>
        </p:nvSpPr>
        <p:spPr/>
        <p:txBody>
          <a:bodyPr/>
          <a:lstStyle/>
          <a:p>
            <a:r>
              <a:rPr lang="en-US" sz="2800" b="1" spc="-5" dirty="0">
                <a:solidFill>
                  <a:srgbClr val="3333FF"/>
                </a:solidFill>
                <a:latin typeface="Carlito"/>
              </a:rPr>
              <a:t>Drawbacks of Wrapper methods</a:t>
            </a:r>
            <a:endParaRPr lang="en-IN" sz="2800" b="1" spc="-5" dirty="0">
              <a:solidFill>
                <a:srgbClr val="3333FF"/>
              </a:solidFill>
              <a:latin typeface="Carlito"/>
            </a:endParaRPr>
          </a:p>
        </p:txBody>
      </p:sp>
      <p:sp>
        <p:nvSpPr>
          <p:cNvPr id="3" name="Content Placeholder 2">
            <a:extLst>
              <a:ext uri="{FF2B5EF4-FFF2-40B4-BE49-F238E27FC236}">
                <a16:creationId xmlns:a16="http://schemas.microsoft.com/office/drawing/2014/main" id="{88001F46-8B41-4E95-BCEF-23D8945C6955}"/>
              </a:ext>
            </a:extLst>
          </p:cNvPr>
          <p:cNvSpPr>
            <a:spLocks noGrp="1"/>
          </p:cNvSpPr>
          <p:nvPr>
            <p:ph idx="1"/>
          </p:nvPr>
        </p:nvSpPr>
        <p:spPr/>
        <p:txBody>
          <a:bodyPr/>
          <a:lstStyle/>
          <a:p>
            <a:pPr algn="just"/>
            <a:r>
              <a:rPr lang="en-US" sz="1900" dirty="0">
                <a:latin typeface="Times New Roman" panose="02020603050405020304" pitchFamily="18" charset="0"/>
              </a:rPr>
              <a:t>The wrapper methods are  computationally expensive.</a:t>
            </a:r>
          </a:p>
          <a:p>
            <a:pPr algn="just"/>
            <a:r>
              <a:rPr lang="en-US" sz="1900" dirty="0">
                <a:latin typeface="Times New Roman" panose="02020603050405020304" pitchFamily="18" charset="0"/>
              </a:rPr>
              <a:t>Classifier or model dependent selection</a:t>
            </a:r>
          </a:p>
          <a:p>
            <a:pPr algn="just"/>
            <a:r>
              <a:rPr lang="en-US" sz="1900" dirty="0">
                <a:latin typeface="Times New Roman" panose="02020603050405020304" pitchFamily="18" charset="0"/>
              </a:rPr>
              <a:t>Risk of overfitting</a:t>
            </a:r>
          </a:p>
          <a:p>
            <a:endParaRPr lang="en-IN" dirty="0"/>
          </a:p>
        </p:txBody>
      </p:sp>
    </p:spTree>
    <p:extLst>
      <p:ext uri="{BB962C8B-B14F-4D97-AF65-F5344CB8AC3E}">
        <p14:creationId xmlns:p14="http://schemas.microsoft.com/office/powerpoint/2010/main" val="8441541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eature Selection for Machine Learning in Python — Wrapper Methods | by  Jack Tan | Towards Data Science">
            <a:extLst>
              <a:ext uri="{FF2B5EF4-FFF2-40B4-BE49-F238E27FC236}">
                <a16:creationId xmlns:a16="http://schemas.microsoft.com/office/drawing/2014/main" id="{7D212479-2707-46B2-9D24-2786254DF56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91421" y="1335504"/>
            <a:ext cx="11043115" cy="5348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70817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2452A-86C1-4FD8-BC45-80865D4F74BB}"/>
              </a:ext>
            </a:extLst>
          </p:cNvPr>
          <p:cNvSpPr>
            <a:spLocks noGrp="1"/>
          </p:cNvSpPr>
          <p:nvPr>
            <p:ph type="title"/>
          </p:nvPr>
        </p:nvSpPr>
        <p:spPr/>
        <p:txBody>
          <a:bodyPr>
            <a:normAutofit/>
          </a:bodyPr>
          <a:lstStyle/>
          <a:p>
            <a:r>
              <a:rPr lang="en-US" sz="3100" b="1" spc="-5" dirty="0">
                <a:solidFill>
                  <a:srgbClr val="3333FF"/>
                </a:solidFill>
                <a:latin typeface="Carlito"/>
              </a:rPr>
              <a:t>Embedded or Intrinsic Feature Selection Methods</a:t>
            </a:r>
            <a:br>
              <a:rPr lang="en-US" b="1" i="0" dirty="0">
                <a:solidFill>
                  <a:srgbClr val="292929"/>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434CE4DF-DF10-4597-BD30-A3888056885E}"/>
              </a:ext>
            </a:extLst>
          </p:cNvPr>
          <p:cNvSpPr>
            <a:spLocks noGrp="1"/>
          </p:cNvSpPr>
          <p:nvPr>
            <p:ph idx="1"/>
          </p:nvPr>
        </p:nvSpPr>
        <p:spPr/>
        <p:txBody>
          <a:bodyPr/>
          <a:lstStyle/>
          <a:p>
            <a:r>
              <a:rPr lang="en-US" b="0" i="0" dirty="0">
                <a:solidFill>
                  <a:srgbClr val="292929"/>
                </a:solidFill>
                <a:effectLst/>
                <a:latin typeface="Open Sans" panose="020B0606030504020204" pitchFamily="34" charset="0"/>
              </a:rPr>
              <a:t>The machine learning models that have </a:t>
            </a:r>
            <a:r>
              <a:rPr lang="en-US" b="0" i="0" dirty="0">
                <a:solidFill>
                  <a:srgbClr val="FF0000"/>
                </a:solidFill>
                <a:effectLst/>
                <a:latin typeface="Open Sans" panose="020B0606030504020204" pitchFamily="34" charset="0"/>
              </a:rPr>
              <a:t>feature selection naturally incorporated as part of learning the model are </a:t>
            </a:r>
            <a:r>
              <a:rPr lang="en-US" b="0" i="0" dirty="0">
                <a:solidFill>
                  <a:srgbClr val="292929"/>
                </a:solidFill>
                <a:effectLst/>
                <a:latin typeface="Open Sans" panose="020B0606030504020204" pitchFamily="34" charset="0"/>
              </a:rPr>
              <a:t>termed as embedded or intrinsic feature selection methods.</a:t>
            </a:r>
          </a:p>
          <a:p>
            <a:pPr algn="just" rtl="0"/>
            <a:r>
              <a:rPr lang="en-US" b="0" i="0" dirty="0">
                <a:solidFill>
                  <a:srgbClr val="292929"/>
                </a:solidFill>
                <a:effectLst/>
                <a:latin typeface="Open Sans" panose="020B0606030504020204" pitchFamily="34" charset="0"/>
              </a:rPr>
              <a:t>Built-in feature selection is incorporated in some of the models, </a:t>
            </a:r>
            <a:r>
              <a:rPr lang="en-US" b="0" i="0" dirty="0">
                <a:solidFill>
                  <a:srgbClr val="FF0000"/>
                </a:solidFill>
                <a:effectLst/>
                <a:latin typeface="Open Sans" panose="020B0606030504020204" pitchFamily="34" charset="0"/>
              </a:rPr>
              <a:t>which means that the model includes the predictors that help in maximizing accuracy. </a:t>
            </a:r>
          </a:p>
          <a:p>
            <a:pPr algn="just" rtl="0"/>
            <a:r>
              <a:rPr lang="en-US" b="0" i="0" dirty="0">
                <a:solidFill>
                  <a:srgbClr val="292929"/>
                </a:solidFill>
                <a:effectLst/>
                <a:latin typeface="Open Sans" panose="020B0606030504020204" pitchFamily="34" charset="0"/>
              </a:rPr>
              <a:t>In this scenario, the machine learning model chooses the best representation of the data.</a:t>
            </a:r>
          </a:p>
          <a:p>
            <a:endParaRPr lang="en-IN" dirty="0"/>
          </a:p>
        </p:txBody>
      </p:sp>
    </p:spTree>
    <p:extLst>
      <p:ext uri="{BB962C8B-B14F-4D97-AF65-F5344CB8AC3E}">
        <p14:creationId xmlns:p14="http://schemas.microsoft.com/office/powerpoint/2010/main" val="9450764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BA22-1D12-4654-B44C-29CB248CD260}"/>
              </a:ext>
            </a:extLst>
          </p:cNvPr>
          <p:cNvSpPr>
            <a:spLocks noGrp="1"/>
          </p:cNvSpPr>
          <p:nvPr>
            <p:ph type="title"/>
          </p:nvPr>
        </p:nvSpPr>
        <p:spPr/>
        <p:txBody>
          <a:bodyPr/>
          <a:lstStyle/>
          <a:p>
            <a:r>
              <a:rPr lang="en-US" sz="4400" b="1" spc="-5" dirty="0">
                <a:solidFill>
                  <a:srgbClr val="3333FF"/>
                </a:solidFill>
                <a:latin typeface="Carlito"/>
              </a:rPr>
              <a:t>Embedded method</a:t>
            </a:r>
            <a:endParaRPr lang="en-IN" dirty="0"/>
          </a:p>
        </p:txBody>
      </p:sp>
      <p:pic>
        <p:nvPicPr>
          <p:cNvPr id="5" name="Content Placeholder 4">
            <a:extLst>
              <a:ext uri="{FF2B5EF4-FFF2-40B4-BE49-F238E27FC236}">
                <a16:creationId xmlns:a16="http://schemas.microsoft.com/office/drawing/2014/main" id="{8632056F-4D91-4125-A333-8B39D49EF67B}"/>
              </a:ext>
            </a:extLst>
          </p:cNvPr>
          <p:cNvPicPr>
            <a:picLocks noGrp="1" noChangeAspect="1"/>
          </p:cNvPicPr>
          <p:nvPr>
            <p:ph idx="1"/>
          </p:nvPr>
        </p:nvPicPr>
        <p:blipFill>
          <a:blip r:embed="rId2"/>
          <a:stretch>
            <a:fillRect/>
          </a:stretch>
        </p:blipFill>
        <p:spPr>
          <a:xfrm>
            <a:off x="1848100" y="2225634"/>
            <a:ext cx="8872037" cy="2466552"/>
          </a:xfrm>
        </p:spPr>
      </p:pic>
    </p:spTree>
    <p:extLst>
      <p:ext uri="{BB962C8B-B14F-4D97-AF65-F5344CB8AC3E}">
        <p14:creationId xmlns:p14="http://schemas.microsoft.com/office/powerpoint/2010/main" val="26049102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C763-C7BB-49FD-823F-0B4FF7DC72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30D77C-2A14-45AF-8F04-D98B0D215F15}"/>
              </a:ext>
            </a:extLst>
          </p:cNvPr>
          <p:cNvSpPr>
            <a:spLocks noGrp="1"/>
          </p:cNvSpPr>
          <p:nvPr>
            <p:ph idx="1"/>
          </p:nvPr>
        </p:nvSpPr>
        <p:spPr/>
        <p:txBody>
          <a:bodyPr/>
          <a:lstStyle/>
          <a:p>
            <a:r>
              <a:rPr lang="en-US" dirty="0"/>
              <a:t>The examples of the algorithms making use of embedded methods are penalized regression models such as</a:t>
            </a:r>
          </a:p>
          <a:p>
            <a:endParaRPr lang="en-US" dirty="0"/>
          </a:p>
          <a:p>
            <a:r>
              <a:rPr lang="en-US" dirty="0"/>
              <a:t>Lasso regression, </a:t>
            </a:r>
          </a:p>
          <a:p>
            <a:r>
              <a:rPr lang="en-US" dirty="0"/>
              <a:t>Ridge Regression,</a:t>
            </a:r>
          </a:p>
          <a:p>
            <a:r>
              <a:rPr lang="en-US" dirty="0"/>
              <a:t>Decision trees Algorithm,</a:t>
            </a:r>
          </a:p>
          <a:p>
            <a:r>
              <a:rPr lang="en-US" dirty="0"/>
              <a:t>Random Forest Algorithm</a:t>
            </a:r>
            <a:endParaRPr lang="en-IN" dirty="0"/>
          </a:p>
        </p:txBody>
      </p:sp>
    </p:spTree>
    <p:extLst>
      <p:ext uri="{BB962C8B-B14F-4D97-AF65-F5344CB8AC3E}">
        <p14:creationId xmlns:p14="http://schemas.microsoft.com/office/powerpoint/2010/main" val="39224497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39761-FFB9-4722-903B-9B0D6D62CD40}"/>
              </a:ext>
            </a:extLst>
          </p:cNvPr>
          <p:cNvSpPr>
            <a:spLocks noGrp="1"/>
          </p:cNvSpPr>
          <p:nvPr>
            <p:ph type="title"/>
          </p:nvPr>
        </p:nvSpPr>
        <p:spPr/>
        <p:txBody>
          <a:bodyPr/>
          <a:lstStyle/>
          <a:p>
            <a:r>
              <a:rPr lang="en-US" sz="3100" b="1" spc="-5" dirty="0">
                <a:solidFill>
                  <a:srgbClr val="3333FF"/>
                </a:solidFill>
                <a:latin typeface="Carlito"/>
              </a:rPr>
              <a:t>Difference between various feature selection methods</a:t>
            </a:r>
            <a:endParaRPr lang="en-IN" sz="3100" b="1" spc="-5" dirty="0">
              <a:solidFill>
                <a:srgbClr val="3333FF"/>
              </a:solidFill>
              <a:latin typeface="Carlito"/>
            </a:endParaRPr>
          </a:p>
        </p:txBody>
      </p:sp>
      <p:pic>
        <p:nvPicPr>
          <p:cNvPr id="1026" name="Picture 2" descr="Feature Selection using Wrapper Method - Python Implementation">
            <a:extLst>
              <a:ext uri="{FF2B5EF4-FFF2-40B4-BE49-F238E27FC236}">
                <a16:creationId xmlns:a16="http://schemas.microsoft.com/office/drawing/2014/main" id="{8EB18E91-E8BC-4CB0-8684-2D3CD8BB00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7084" y="2028366"/>
            <a:ext cx="8545679" cy="4342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197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80038</TotalTime>
  <Words>4111</Words>
  <Application>Microsoft Office PowerPoint</Application>
  <PresentationFormat>Widescreen</PresentationFormat>
  <Paragraphs>325</Paragraphs>
  <Slides>76</Slides>
  <Notes>19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76</vt:i4>
      </vt:variant>
    </vt:vector>
  </HeadingPairs>
  <TitlesOfParts>
    <vt:vector size="89" baseType="lpstr">
      <vt:lpstr>Adobe Caslon Pro</vt:lpstr>
      <vt:lpstr>Arial</vt:lpstr>
      <vt:lpstr>Calibri</vt:lpstr>
      <vt:lpstr>Calibri Light</vt:lpstr>
      <vt:lpstr>Cambria</vt:lpstr>
      <vt:lpstr>Carlito</vt:lpstr>
      <vt:lpstr>charter</vt:lpstr>
      <vt:lpstr>Karla</vt:lpstr>
      <vt:lpstr>Merriweather Sans</vt:lpstr>
      <vt:lpstr>Open Sans</vt:lpstr>
      <vt:lpstr>Roboto</vt:lpstr>
      <vt:lpstr>Times New Roman</vt:lpstr>
      <vt:lpstr>Office Theme</vt:lpstr>
      <vt:lpstr>PowerPoint Presentation</vt:lpstr>
      <vt:lpstr>Curse of Dimensionality Dimensionality Reduction techniques:</vt:lpstr>
      <vt:lpstr>What is dimensions</vt:lpstr>
      <vt:lpstr>Curse of Dimensionality</vt:lpstr>
      <vt:lpstr>PowerPoint Presentation</vt:lpstr>
      <vt:lpstr>Dimensional Space from simple to complex</vt:lpstr>
      <vt:lpstr>PowerPoint Presentation</vt:lpstr>
      <vt:lpstr>PowerPoint Presentation</vt:lpstr>
      <vt:lpstr>PowerPoint Presentation</vt:lpstr>
      <vt:lpstr>Curse of Dimensionality</vt:lpstr>
      <vt:lpstr>Why all features may not be important in our model</vt:lpstr>
      <vt:lpstr>Reducing the dimensions</vt:lpstr>
      <vt:lpstr>Predict if a library book can be donated</vt:lpstr>
      <vt:lpstr>PowerPoint Presentation</vt:lpstr>
      <vt:lpstr>Predicting if you will give loan to a customer or not</vt:lpstr>
      <vt:lpstr>Dimensionality reduction </vt:lpstr>
      <vt:lpstr>Advantages of reducing dimensionality</vt:lpstr>
      <vt:lpstr>Dimensionality Reduction</vt:lpstr>
      <vt:lpstr>PowerPoint Presentation</vt:lpstr>
      <vt:lpstr>Feature Selection types</vt:lpstr>
      <vt:lpstr>What is feature selection</vt:lpstr>
      <vt:lpstr>Benefits of Feature Selection </vt:lpstr>
      <vt:lpstr>PowerPoint Presentation</vt:lpstr>
      <vt:lpstr>Why is Feature Selection Important? </vt:lpstr>
      <vt:lpstr>Feature Selection types</vt:lpstr>
      <vt:lpstr>Filter Feature Selection Methods </vt:lpstr>
      <vt:lpstr>Filter Feature Selection Methods</vt:lpstr>
      <vt:lpstr>Working of Filter Method</vt:lpstr>
      <vt:lpstr>filtering criteria: </vt:lpstr>
      <vt:lpstr>Information Gain</vt:lpstr>
      <vt:lpstr>Variance</vt:lpstr>
      <vt:lpstr>PowerPoint Presentation</vt:lpstr>
      <vt:lpstr>Correlation</vt:lpstr>
      <vt:lpstr>PowerPoint Presentation</vt:lpstr>
      <vt:lpstr>PowerPoint Presentation</vt:lpstr>
      <vt:lpstr>Remove the features that are highly correlated with each other</vt:lpstr>
      <vt:lpstr>Chi-squared Score</vt:lpstr>
      <vt:lpstr>PowerPoint Presentation</vt:lpstr>
      <vt:lpstr>PowerPoint Presentation</vt:lpstr>
      <vt:lpstr>PowerPoint Presentation</vt:lpstr>
      <vt:lpstr>Univariate filter methods </vt:lpstr>
      <vt:lpstr>PowerPoint Presentation</vt:lpstr>
      <vt:lpstr>Multivariate filter methods</vt:lpstr>
      <vt:lpstr>Advantages of filter methods</vt:lpstr>
      <vt:lpstr>Disadvantages of filter methods</vt:lpstr>
      <vt:lpstr>Wrapper Method</vt:lpstr>
      <vt:lpstr>Wrapper Method</vt:lpstr>
      <vt:lpstr>Working of Wrapper method</vt:lpstr>
      <vt:lpstr>PowerPoint Presentation</vt:lpstr>
      <vt:lpstr>Types of Wrapper methods</vt:lpstr>
      <vt:lpstr>Forward selection</vt:lpstr>
      <vt:lpstr>Forward selection</vt:lpstr>
      <vt:lpstr>PowerPoint Presentation</vt:lpstr>
      <vt:lpstr>PowerPoint Presentation</vt:lpstr>
      <vt:lpstr>PowerPoint Presentation</vt:lpstr>
      <vt:lpstr>1. Determine the most significant variable to add at each step </vt:lpstr>
      <vt:lpstr>2. Choose a stopping rule </vt:lpstr>
      <vt:lpstr>PowerPoint Presentation</vt:lpstr>
      <vt:lpstr>Backward  selection </vt:lpstr>
      <vt:lpstr>Backward  selection </vt:lpstr>
      <vt:lpstr>PowerPoint Presentation</vt:lpstr>
      <vt:lpstr>PowerPoint Presentation</vt:lpstr>
      <vt:lpstr>PowerPoint Presentation</vt:lpstr>
      <vt:lpstr>PowerPoint Presentation</vt:lpstr>
      <vt:lpstr>PowerPoint Presentation</vt:lpstr>
      <vt:lpstr>PowerPoint Presentation</vt:lpstr>
      <vt:lpstr>Where forward stepwise is better </vt:lpstr>
      <vt:lpstr>Where backward stepwise is better </vt:lpstr>
      <vt:lpstr>PowerPoint Presentation</vt:lpstr>
      <vt:lpstr>Advantages of Wrapper methods</vt:lpstr>
      <vt:lpstr>Drawbacks of Wrapper methods</vt:lpstr>
      <vt:lpstr>PowerPoint Presentation</vt:lpstr>
      <vt:lpstr>Embedded or Intrinsic Feature Selection Methods </vt:lpstr>
      <vt:lpstr>Embedded method</vt:lpstr>
      <vt:lpstr>PowerPoint Presentation</vt:lpstr>
      <vt:lpstr>Difference between various feature selection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Curse of Dimensionality.</dc:title>
  <dc:creator>kriti ohri</dc:creator>
  <cp:lastModifiedBy>Kriti Ohri</cp:lastModifiedBy>
  <cp:revision>116</cp:revision>
  <dcterms:created xsi:type="dcterms:W3CDTF">2021-05-10T10:00:03Z</dcterms:created>
  <dcterms:modified xsi:type="dcterms:W3CDTF">2024-09-23T07:52:21Z</dcterms:modified>
</cp:coreProperties>
</file>