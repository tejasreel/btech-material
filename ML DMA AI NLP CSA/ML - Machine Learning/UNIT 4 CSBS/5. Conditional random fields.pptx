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74" r:id="rId4"/>
    <p:sldId id="258" r:id="rId5"/>
    <p:sldId id="259" r:id="rId6"/>
    <p:sldId id="263" r:id="rId7"/>
    <p:sldId id="265" r:id="rId8"/>
    <p:sldId id="269" r:id="rId9"/>
    <p:sldId id="266" r:id="rId10"/>
    <p:sldId id="257" r:id="rId11"/>
    <p:sldId id="260"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B7196-35E5-4CFF-A16E-AD58820041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32F826-3F12-41DF-BEDC-786751BD3F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16706D8-2E25-4778-A613-8A125FB18F9F}"/>
              </a:ext>
            </a:extLst>
          </p:cNvPr>
          <p:cNvSpPr>
            <a:spLocks noGrp="1"/>
          </p:cNvSpPr>
          <p:nvPr>
            <p:ph type="dt" sz="half" idx="10"/>
          </p:nvPr>
        </p:nvSpPr>
        <p:spPr/>
        <p:txBody>
          <a:bodyPr/>
          <a:lstStyle/>
          <a:p>
            <a:fld id="{B0DCF0FD-256A-4427-8AFD-240E346CEF79}" type="datetimeFigureOut">
              <a:rPr lang="en-IN" smtClean="0"/>
              <a:t>17-11-2024</a:t>
            </a:fld>
            <a:endParaRPr lang="en-IN"/>
          </a:p>
        </p:txBody>
      </p:sp>
      <p:sp>
        <p:nvSpPr>
          <p:cNvPr id="5" name="Footer Placeholder 4">
            <a:extLst>
              <a:ext uri="{FF2B5EF4-FFF2-40B4-BE49-F238E27FC236}">
                <a16:creationId xmlns:a16="http://schemas.microsoft.com/office/drawing/2014/main" id="{8A5C26AE-95D4-48A9-A4D5-F3FAA0E208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EDAF1D-4DFC-4DEC-A18F-4D4AF43775B8}"/>
              </a:ext>
            </a:extLst>
          </p:cNvPr>
          <p:cNvSpPr>
            <a:spLocks noGrp="1"/>
          </p:cNvSpPr>
          <p:nvPr>
            <p:ph type="sldNum" sz="quarter" idx="12"/>
          </p:nvPr>
        </p:nvSpPr>
        <p:spPr/>
        <p:txBody>
          <a:bodyPr/>
          <a:lstStyle/>
          <a:p>
            <a:fld id="{DFD6818F-AF7B-42E9-9AEE-6F940EE7F0F8}" type="slidenum">
              <a:rPr lang="en-IN" smtClean="0"/>
              <a:t>‹#›</a:t>
            </a:fld>
            <a:endParaRPr lang="en-IN"/>
          </a:p>
        </p:txBody>
      </p:sp>
    </p:spTree>
    <p:extLst>
      <p:ext uri="{BB962C8B-B14F-4D97-AF65-F5344CB8AC3E}">
        <p14:creationId xmlns:p14="http://schemas.microsoft.com/office/powerpoint/2010/main" val="1549525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402E1-C3F9-4E94-801A-FB5DFD4430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85B544-70C8-4C39-910F-CE8A22C72A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31AA41-54E4-4A72-A97A-374FCD0CEC9F}"/>
              </a:ext>
            </a:extLst>
          </p:cNvPr>
          <p:cNvSpPr>
            <a:spLocks noGrp="1"/>
          </p:cNvSpPr>
          <p:nvPr>
            <p:ph type="dt" sz="half" idx="10"/>
          </p:nvPr>
        </p:nvSpPr>
        <p:spPr/>
        <p:txBody>
          <a:bodyPr/>
          <a:lstStyle/>
          <a:p>
            <a:fld id="{B0DCF0FD-256A-4427-8AFD-240E346CEF79}" type="datetimeFigureOut">
              <a:rPr lang="en-IN" smtClean="0"/>
              <a:t>17-11-2024</a:t>
            </a:fld>
            <a:endParaRPr lang="en-IN"/>
          </a:p>
        </p:txBody>
      </p:sp>
      <p:sp>
        <p:nvSpPr>
          <p:cNvPr id="5" name="Footer Placeholder 4">
            <a:extLst>
              <a:ext uri="{FF2B5EF4-FFF2-40B4-BE49-F238E27FC236}">
                <a16:creationId xmlns:a16="http://schemas.microsoft.com/office/drawing/2014/main" id="{B22F0677-7A74-45C7-9A95-04467D22D1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7D7B10-3576-4582-82B1-68933232E6E9}"/>
              </a:ext>
            </a:extLst>
          </p:cNvPr>
          <p:cNvSpPr>
            <a:spLocks noGrp="1"/>
          </p:cNvSpPr>
          <p:nvPr>
            <p:ph type="sldNum" sz="quarter" idx="12"/>
          </p:nvPr>
        </p:nvSpPr>
        <p:spPr/>
        <p:txBody>
          <a:bodyPr/>
          <a:lstStyle/>
          <a:p>
            <a:fld id="{DFD6818F-AF7B-42E9-9AEE-6F940EE7F0F8}" type="slidenum">
              <a:rPr lang="en-IN" smtClean="0"/>
              <a:t>‹#›</a:t>
            </a:fld>
            <a:endParaRPr lang="en-IN"/>
          </a:p>
        </p:txBody>
      </p:sp>
    </p:spTree>
    <p:extLst>
      <p:ext uri="{BB962C8B-B14F-4D97-AF65-F5344CB8AC3E}">
        <p14:creationId xmlns:p14="http://schemas.microsoft.com/office/powerpoint/2010/main" val="3694186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AAE98-1651-4FFB-A0E0-6D25ADDE9B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194F865-492E-4043-A28A-F2C8554EC2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2A92A7-1F15-4A12-A81C-768867B858F9}"/>
              </a:ext>
            </a:extLst>
          </p:cNvPr>
          <p:cNvSpPr>
            <a:spLocks noGrp="1"/>
          </p:cNvSpPr>
          <p:nvPr>
            <p:ph type="dt" sz="half" idx="10"/>
          </p:nvPr>
        </p:nvSpPr>
        <p:spPr/>
        <p:txBody>
          <a:bodyPr/>
          <a:lstStyle/>
          <a:p>
            <a:fld id="{B0DCF0FD-256A-4427-8AFD-240E346CEF79}" type="datetimeFigureOut">
              <a:rPr lang="en-IN" smtClean="0"/>
              <a:t>17-11-2024</a:t>
            </a:fld>
            <a:endParaRPr lang="en-IN"/>
          </a:p>
        </p:txBody>
      </p:sp>
      <p:sp>
        <p:nvSpPr>
          <p:cNvPr id="5" name="Footer Placeholder 4">
            <a:extLst>
              <a:ext uri="{FF2B5EF4-FFF2-40B4-BE49-F238E27FC236}">
                <a16:creationId xmlns:a16="http://schemas.microsoft.com/office/drawing/2014/main" id="{3373254A-358A-461B-9B56-82370F10FA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432BD6-C5F4-4066-BD0A-F25B7BC170B1}"/>
              </a:ext>
            </a:extLst>
          </p:cNvPr>
          <p:cNvSpPr>
            <a:spLocks noGrp="1"/>
          </p:cNvSpPr>
          <p:nvPr>
            <p:ph type="sldNum" sz="quarter" idx="12"/>
          </p:nvPr>
        </p:nvSpPr>
        <p:spPr/>
        <p:txBody>
          <a:bodyPr/>
          <a:lstStyle/>
          <a:p>
            <a:fld id="{DFD6818F-AF7B-42E9-9AEE-6F940EE7F0F8}" type="slidenum">
              <a:rPr lang="en-IN" smtClean="0"/>
              <a:t>‹#›</a:t>
            </a:fld>
            <a:endParaRPr lang="en-IN"/>
          </a:p>
        </p:txBody>
      </p:sp>
    </p:spTree>
    <p:extLst>
      <p:ext uri="{BB962C8B-B14F-4D97-AF65-F5344CB8AC3E}">
        <p14:creationId xmlns:p14="http://schemas.microsoft.com/office/powerpoint/2010/main" val="3363660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5590B-72F1-4765-80C3-E96EA20406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7492E52-ACF6-458F-A508-9404BA82AD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4A415B-9E27-48EA-A8E7-7CC7F3A1C4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75FC0C-30F9-423C-B917-D22D9A33CDF1}"/>
              </a:ext>
            </a:extLst>
          </p:cNvPr>
          <p:cNvSpPr>
            <a:spLocks noGrp="1"/>
          </p:cNvSpPr>
          <p:nvPr>
            <p:ph type="dt" sz="half" idx="10"/>
          </p:nvPr>
        </p:nvSpPr>
        <p:spPr/>
        <p:txBody>
          <a:bodyPr/>
          <a:lstStyle/>
          <a:p>
            <a:fld id="{B0DCF0FD-256A-4427-8AFD-240E346CEF79}" type="datetimeFigureOut">
              <a:rPr lang="en-IN" smtClean="0"/>
              <a:t>17-11-2024</a:t>
            </a:fld>
            <a:endParaRPr lang="en-IN"/>
          </a:p>
        </p:txBody>
      </p:sp>
      <p:sp>
        <p:nvSpPr>
          <p:cNvPr id="6" name="Footer Placeholder 5">
            <a:extLst>
              <a:ext uri="{FF2B5EF4-FFF2-40B4-BE49-F238E27FC236}">
                <a16:creationId xmlns:a16="http://schemas.microsoft.com/office/drawing/2014/main" id="{255E2FB8-20A9-400B-9A51-929CF1A9EE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FAD4BA-80C2-4465-96DC-0809FDE991D8}"/>
              </a:ext>
            </a:extLst>
          </p:cNvPr>
          <p:cNvSpPr>
            <a:spLocks noGrp="1"/>
          </p:cNvSpPr>
          <p:nvPr>
            <p:ph type="sldNum" sz="quarter" idx="12"/>
          </p:nvPr>
        </p:nvSpPr>
        <p:spPr/>
        <p:txBody>
          <a:bodyPr/>
          <a:lstStyle/>
          <a:p>
            <a:fld id="{DFD6818F-AF7B-42E9-9AEE-6F940EE7F0F8}" type="slidenum">
              <a:rPr lang="en-IN" smtClean="0"/>
              <a:t>‹#›</a:t>
            </a:fld>
            <a:endParaRPr lang="en-IN"/>
          </a:p>
        </p:txBody>
      </p:sp>
    </p:spTree>
    <p:extLst>
      <p:ext uri="{BB962C8B-B14F-4D97-AF65-F5344CB8AC3E}">
        <p14:creationId xmlns:p14="http://schemas.microsoft.com/office/powerpoint/2010/main" val="3344645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F8C57-04C5-4E3F-BF78-44EA5FA115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6E92D3-C703-41C9-A67D-4DEA93D575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CF2467-5D9B-4388-8C7A-07D7CFFD73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6DB6D1-08CE-48A0-ADC6-692C430F6E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B90261-3EBB-465D-AE27-8FAFD61B14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2180C65-6807-45DE-A207-54F862E74DFF}"/>
              </a:ext>
            </a:extLst>
          </p:cNvPr>
          <p:cNvSpPr>
            <a:spLocks noGrp="1"/>
          </p:cNvSpPr>
          <p:nvPr>
            <p:ph type="dt" sz="half" idx="10"/>
          </p:nvPr>
        </p:nvSpPr>
        <p:spPr/>
        <p:txBody>
          <a:bodyPr/>
          <a:lstStyle/>
          <a:p>
            <a:fld id="{B0DCF0FD-256A-4427-8AFD-240E346CEF79}" type="datetimeFigureOut">
              <a:rPr lang="en-IN" smtClean="0"/>
              <a:t>17-11-2024</a:t>
            </a:fld>
            <a:endParaRPr lang="en-IN"/>
          </a:p>
        </p:txBody>
      </p:sp>
      <p:sp>
        <p:nvSpPr>
          <p:cNvPr id="8" name="Footer Placeholder 7">
            <a:extLst>
              <a:ext uri="{FF2B5EF4-FFF2-40B4-BE49-F238E27FC236}">
                <a16:creationId xmlns:a16="http://schemas.microsoft.com/office/drawing/2014/main" id="{C7ECD935-D8CB-4FAF-A987-1E0DF8D37C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65BB7E6-9C0B-4631-BDF2-1AC6B878DB28}"/>
              </a:ext>
            </a:extLst>
          </p:cNvPr>
          <p:cNvSpPr>
            <a:spLocks noGrp="1"/>
          </p:cNvSpPr>
          <p:nvPr>
            <p:ph type="sldNum" sz="quarter" idx="12"/>
          </p:nvPr>
        </p:nvSpPr>
        <p:spPr/>
        <p:txBody>
          <a:bodyPr/>
          <a:lstStyle/>
          <a:p>
            <a:fld id="{DFD6818F-AF7B-42E9-9AEE-6F940EE7F0F8}" type="slidenum">
              <a:rPr lang="en-IN" smtClean="0"/>
              <a:t>‹#›</a:t>
            </a:fld>
            <a:endParaRPr lang="en-IN"/>
          </a:p>
        </p:txBody>
      </p:sp>
    </p:spTree>
    <p:extLst>
      <p:ext uri="{BB962C8B-B14F-4D97-AF65-F5344CB8AC3E}">
        <p14:creationId xmlns:p14="http://schemas.microsoft.com/office/powerpoint/2010/main" val="1076136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19771-9970-43BB-A580-5D65A7EF9BB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9DA4025-2D8E-408A-81A3-2298E7AA95E6}"/>
              </a:ext>
            </a:extLst>
          </p:cNvPr>
          <p:cNvSpPr>
            <a:spLocks noGrp="1"/>
          </p:cNvSpPr>
          <p:nvPr>
            <p:ph type="dt" sz="half" idx="10"/>
          </p:nvPr>
        </p:nvSpPr>
        <p:spPr/>
        <p:txBody>
          <a:bodyPr/>
          <a:lstStyle/>
          <a:p>
            <a:fld id="{B0DCF0FD-256A-4427-8AFD-240E346CEF79}" type="datetimeFigureOut">
              <a:rPr lang="en-IN" smtClean="0"/>
              <a:t>17-11-2024</a:t>
            </a:fld>
            <a:endParaRPr lang="en-IN"/>
          </a:p>
        </p:txBody>
      </p:sp>
      <p:sp>
        <p:nvSpPr>
          <p:cNvPr id="4" name="Footer Placeholder 3">
            <a:extLst>
              <a:ext uri="{FF2B5EF4-FFF2-40B4-BE49-F238E27FC236}">
                <a16:creationId xmlns:a16="http://schemas.microsoft.com/office/drawing/2014/main" id="{CA80194F-08AA-43D0-AE2A-4DFFD7F6392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1D6D4C8-51F1-4C1E-9698-27827FDE77F7}"/>
              </a:ext>
            </a:extLst>
          </p:cNvPr>
          <p:cNvSpPr>
            <a:spLocks noGrp="1"/>
          </p:cNvSpPr>
          <p:nvPr>
            <p:ph type="sldNum" sz="quarter" idx="12"/>
          </p:nvPr>
        </p:nvSpPr>
        <p:spPr/>
        <p:txBody>
          <a:bodyPr/>
          <a:lstStyle/>
          <a:p>
            <a:fld id="{DFD6818F-AF7B-42E9-9AEE-6F940EE7F0F8}" type="slidenum">
              <a:rPr lang="en-IN" smtClean="0"/>
              <a:t>‹#›</a:t>
            </a:fld>
            <a:endParaRPr lang="en-IN"/>
          </a:p>
        </p:txBody>
      </p:sp>
    </p:spTree>
    <p:extLst>
      <p:ext uri="{BB962C8B-B14F-4D97-AF65-F5344CB8AC3E}">
        <p14:creationId xmlns:p14="http://schemas.microsoft.com/office/powerpoint/2010/main" val="2916032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D48D00-DEB8-4022-BFB4-AB06F0DD8FED}"/>
              </a:ext>
            </a:extLst>
          </p:cNvPr>
          <p:cNvSpPr>
            <a:spLocks noGrp="1"/>
          </p:cNvSpPr>
          <p:nvPr>
            <p:ph type="dt" sz="half" idx="10"/>
          </p:nvPr>
        </p:nvSpPr>
        <p:spPr/>
        <p:txBody>
          <a:bodyPr/>
          <a:lstStyle/>
          <a:p>
            <a:fld id="{B0DCF0FD-256A-4427-8AFD-240E346CEF79}" type="datetimeFigureOut">
              <a:rPr lang="en-IN" smtClean="0"/>
              <a:t>17-11-2024</a:t>
            </a:fld>
            <a:endParaRPr lang="en-IN"/>
          </a:p>
        </p:txBody>
      </p:sp>
      <p:sp>
        <p:nvSpPr>
          <p:cNvPr id="3" name="Footer Placeholder 2">
            <a:extLst>
              <a:ext uri="{FF2B5EF4-FFF2-40B4-BE49-F238E27FC236}">
                <a16:creationId xmlns:a16="http://schemas.microsoft.com/office/drawing/2014/main" id="{859528E8-A388-4F0C-A7C5-7FB4ED3161F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FF8FF3-D8EF-407E-8E57-0B2AB40FA480}"/>
              </a:ext>
            </a:extLst>
          </p:cNvPr>
          <p:cNvSpPr>
            <a:spLocks noGrp="1"/>
          </p:cNvSpPr>
          <p:nvPr>
            <p:ph type="sldNum" sz="quarter" idx="12"/>
          </p:nvPr>
        </p:nvSpPr>
        <p:spPr/>
        <p:txBody>
          <a:bodyPr/>
          <a:lstStyle/>
          <a:p>
            <a:fld id="{DFD6818F-AF7B-42E9-9AEE-6F940EE7F0F8}" type="slidenum">
              <a:rPr lang="en-IN" smtClean="0"/>
              <a:t>‹#›</a:t>
            </a:fld>
            <a:endParaRPr lang="en-IN"/>
          </a:p>
        </p:txBody>
      </p:sp>
    </p:spTree>
    <p:extLst>
      <p:ext uri="{BB962C8B-B14F-4D97-AF65-F5344CB8AC3E}">
        <p14:creationId xmlns:p14="http://schemas.microsoft.com/office/powerpoint/2010/main" val="3972586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E3087-EF6A-4912-B663-B4D248A4C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99110A5-BD76-4801-9BD4-D34B6DBCE3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3D08F21-F486-4C71-B0BC-49E9534D50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2FA3A2-4084-4D3C-BA0F-7A275741C3D1}"/>
              </a:ext>
            </a:extLst>
          </p:cNvPr>
          <p:cNvSpPr>
            <a:spLocks noGrp="1"/>
          </p:cNvSpPr>
          <p:nvPr>
            <p:ph type="dt" sz="half" idx="10"/>
          </p:nvPr>
        </p:nvSpPr>
        <p:spPr/>
        <p:txBody>
          <a:bodyPr/>
          <a:lstStyle/>
          <a:p>
            <a:fld id="{B0DCF0FD-256A-4427-8AFD-240E346CEF79}" type="datetimeFigureOut">
              <a:rPr lang="en-IN" smtClean="0"/>
              <a:t>17-11-2024</a:t>
            </a:fld>
            <a:endParaRPr lang="en-IN"/>
          </a:p>
        </p:txBody>
      </p:sp>
      <p:sp>
        <p:nvSpPr>
          <p:cNvPr id="6" name="Footer Placeholder 5">
            <a:extLst>
              <a:ext uri="{FF2B5EF4-FFF2-40B4-BE49-F238E27FC236}">
                <a16:creationId xmlns:a16="http://schemas.microsoft.com/office/drawing/2014/main" id="{64EEEB90-5404-4A4B-86A8-51FA4AF9BE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1B7B37-2D50-4757-BD2C-5B7D9B53C999}"/>
              </a:ext>
            </a:extLst>
          </p:cNvPr>
          <p:cNvSpPr>
            <a:spLocks noGrp="1"/>
          </p:cNvSpPr>
          <p:nvPr>
            <p:ph type="sldNum" sz="quarter" idx="12"/>
          </p:nvPr>
        </p:nvSpPr>
        <p:spPr/>
        <p:txBody>
          <a:bodyPr/>
          <a:lstStyle/>
          <a:p>
            <a:fld id="{DFD6818F-AF7B-42E9-9AEE-6F940EE7F0F8}" type="slidenum">
              <a:rPr lang="en-IN" smtClean="0"/>
              <a:t>‹#›</a:t>
            </a:fld>
            <a:endParaRPr lang="en-IN"/>
          </a:p>
        </p:txBody>
      </p:sp>
    </p:spTree>
    <p:extLst>
      <p:ext uri="{BB962C8B-B14F-4D97-AF65-F5344CB8AC3E}">
        <p14:creationId xmlns:p14="http://schemas.microsoft.com/office/powerpoint/2010/main" val="3241264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FA3C-849E-4B32-9696-D55FCAEDDC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399540-2D9B-49AE-8158-2FE3163F73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D1F8F85-00BB-4751-B5B4-62276A0334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7E65DF-39EA-439F-9278-11A9CFF05296}"/>
              </a:ext>
            </a:extLst>
          </p:cNvPr>
          <p:cNvSpPr>
            <a:spLocks noGrp="1"/>
          </p:cNvSpPr>
          <p:nvPr>
            <p:ph type="dt" sz="half" idx="10"/>
          </p:nvPr>
        </p:nvSpPr>
        <p:spPr/>
        <p:txBody>
          <a:bodyPr/>
          <a:lstStyle/>
          <a:p>
            <a:fld id="{B0DCF0FD-256A-4427-8AFD-240E346CEF79}" type="datetimeFigureOut">
              <a:rPr lang="en-IN" smtClean="0"/>
              <a:t>17-11-2024</a:t>
            </a:fld>
            <a:endParaRPr lang="en-IN"/>
          </a:p>
        </p:txBody>
      </p:sp>
      <p:sp>
        <p:nvSpPr>
          <p:cNvPr id="6" name="Footer Placeholder 5">
            <a:extLst>
              <a:ext uri="{FF2B5EF4-FFF2-40B4-BE49-F238E27FC236}">
                <a16:creationId xmlns:a16="http://schemas.microsoft.com/office/drawing/2014/main" id="{6BC54CA0-35C9-49E9-A5E6-FAC25F5307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0C672F-BC58-41D9-BA09-4872238A5F06}"/>
              </a:ext>
            </a:extLst>
          </p:cNvPr>
          <p:cNvSpPr>
            <a:spLocks noGrp="1"/>
          </p:cNvSpPr>
          <p:nvPr>
            <p:ph type="sldNum" sz="quarter" idx="12"/>
          </p:nvPr>
        </p:nvSpPr>
        <p:spPr/>
        <p:txBody>
          <a:bodyPr/>
          <a:lstStyle/>
          <a:p>
            <a:fld id="{DFD6818F-AF7B-42E9-9AEE-6F940EE7F0F8}" type="slidenum">
              <a:rPr lang="en-IN" smtClean="0"/>
              <a:t>‹#›</a:t>
            </a:fld>
            <a:endParaRPr lang="en-IN"/>
          </a:p>
        </p:txBody>
      </p:sp>
    </p:spTree>
    <p:extLst>
      <p:ext uri="{BB962C8B-B14F-4D97-AF65-F5344CB8AC3E}">
        <p14:creationId xmlns:p14="http://schemas.microsoft.com/office/powerpoint/2010/main" val="1321040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4CEDF-B94B-42DA-8EE0-849F985B867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676E6E-1716-48FF-A2E2-B22C9354C5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94A0AD-EEA7-4F85-9A77-976F9B4D880A}"/>
              </a:ext>
            </a:extLst>
          </p:cNvPr>
          <p:cNvSpPr>
            <a:spLocks noGrp="1"/>
          </p:cNvSpPr>
          <p:nvPr>
            <p:ph type="dt" sz="half" idx="10"/>
          </p:nvPr>
        </p:nvSpPr>
        <p:spPr/>
        <p:txBody>
          <a:bodyPr/>
          <a:lstStyle/>
          <a:p>
            <a:fld id="{B0DCF0FD-256A-4427-8AFD-240E346CEF79}" type="datetimeFigureOut">
              <a:rPr lang="en-IN" smtClean="0"/>
              <a:t>17-11-2024</a:t>
            </a:fld>
            <a:endParaRPr lang="en-IN"/>
          </a:p>
        </p:txBody>
      </p:sp>
      <p:sp>
        <p:nvSpPr>
          <p:cNvPr id="5" name="Footer Placeholder 4">
            <a:extLst>
              <a:ext uri="{FF2B5EF4-FFF2-40B4-BE49-F238E27FC236}">
                <a16:creationId xmlns:a16="http://schemas.microsoft.com/office/drawing/2014/main" id="{25665863-62BB-44F2-99FA-ED541715E4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68744E-9794-4456-8B73-2677551BA668}"/>
              </a:ext>
            </a:extLst>
          </p:cNvPr>
          <p:cNvSpPr>
            <a:spLocks noGrp="1"/>
          </p:cNvSpPr>
          <p:nvPr>
            <p:ph type="sldNum" sz="quarter" idx="12"/>
          </p:nvPr>
        </p:nvSpPr>
        <p:spPr/>
        <p:txBody>
          <a:bodyPr/>
          <a:lstStyle/>
          <a:p>
            <a:fld id="{DFD6818F-AF7B-42E9-9AEE-6F940EE7F0F8}" type="slidenum">
              <a:rPr lang="en-IN" smtClean="0"/>
              <a:t>‹#›</a:t>
            </a:fld>
            <a:endParaRPr lang="en-IN"/>
          </a:p>
        </p:txBody>
      </p:sp>
    </p:spTree>
    <p:extLst>
      <p:ext uri="{BB962C8B-B14F-4D97-AF65-F5344CB8AC3E}">
        <p14:creationId xmlns:p14="http://schemas.microsoft.com/office/powerpoint/2010/main" val="3555524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9C1F74-FDC4-4D33-9519-54B7B3F52C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18117B-1016-4FEE-841A-6E517922EE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789583-B2E9-4360-A32B-83EB3583AC6F}"/>
              </a:ext>
            </a:extLst>
          </p:cNvPr>
          <p:cNvSpPr>
            <a:spLocks noGrp="1"/>
          </p:cNvSpPr>
          <p:nvPr>
            <p:ph type="dt" sz="half" idx="10"/>
          </p:nvPr>
        </p:nvSpPr>
        <p:spPr/>
        <p:txBody>
          <a:bodyPr/>
          <a:lstStyle/>
          <a:p>
            <a:fld id="{B0DCF0FD-256A-4427-8AFD-240E346CEF79}" type="datetimeFigureOut">
              <a:rPr lang="en-IN" smtClean="0"/>
              <a:t>17-11-2024</a:t>
            </a:fld>
            <a:endParaRPr lang="en-IN"/>
          </a:p>
        </p:txBody>
      </p:sp>
      <p:sp>
        <p:nvSpPr>
          <p:cNvPr id="5" name="Footer Placeholder 4">
            <a:extLst>
              <a:ext uri="{FF2B5EF4-FFF2-40B4-BE49-F238E27FC236}">
                <a16:creationId xmlns:a16="http://schemas.microsoft.com/office/drawing/2014/main" id="{DE339FFB-46D1-483A-B00A-F14DD5D214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B62146-2709-480D-9AA9-04ABC7AEF767}"/>
              </a:ext>
            </a:extLst>
          </p:cNvPr>
          <p:cNvSpPr>
            <a:spLocks noGrp="1"/>
          </p:cNvSpPr>
          <p:nvPr>
            <p:ph type="sldNum" sz="quarter" idx="12"/>
          </p:nvPr>
        </p:nvSpPr>
        <p:spPr/>
        <p:txBody>
          <a:bodyPr/>
          <a:lstStyle/>
          <a:p>
            <a:fld id="{DFD6818F-AF7B-42E9-9AEE-6F940EE7F0F8}" type="slidenum">
              <a:rPr lang="en-IN" smtClean="0"/>
              <a:t>‹#›</a:t>
            </a:fld>
            <a:endParaRPr lang="en-IN"/>
          </a:p>
        </p:txBody>
      </p:sp>
    </p:spTree>
    <p:extLst>
      <p:ext uri="{BB962C8B-B14F-4D97-AF65-F5344CB8AC3E}">
        <p14:creationId xmlns:p14="http://schemas.microsoft.com/office/powerpoint/2010/main" val="1485025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D1A12F-80FA-4989-957F-C63830D73E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F91FAE-A4C1-4D71-B5C4-2D6D9A8776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F66C43-8920-40C9-9F9E-8A9BD7F42A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DCF0FD-256A-4427-8AFD-240E346CEF79}" type="datetimeFigureOut">
              <a:rPr lang="en-IN" smtClean="0"/>
              <a:t>17-11-2024</a:t>
            </a:fld>
            <a:endParaRPr lang="en-IN"/>
          </a:p>
        </p:txBody>
      </p:sp>
      <p:sp>
        <p:nvSpPr>
          <p:cNvPr id="5" name="Footer Placeholder 4">
            <a:extLst>
              <a:ext uri="{FF2B5EF4-FFF2-40B4-BE49-F238E27FC236}">
                <a16:creationId xmlns:a16="http://schemas.microsoft.com/office/drawing/2014/main" id="{6A62E092-F41B-4BF0-B3CA-FC357CA5DD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2F975C3-3190-4C5A-B477-145DB82385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D6818F-AF7B-42E9-9AEE-6F940EE7F0F8}" type="slidenum">
              <a:rPr lang="en-IN" smtClean="0"/>
              <a:t>‹#›</a:t>
            </a:fld>
            <a:endParaRPr lang="en-IN"/>
          </a:p>
        </p:txBody>
      </p:sp>
    </p:spTree>
    <p:extLst>
      <p:ext uri="{BB962C8B-B14F-4D97-AF65-F5344CB8AC3E}">
        <p14:creationId xmlns:p14="http://schemas.microsoft.com/office/powerpoint/2010/main" val="42604554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towardsai.net/p/machine-learning/a-tour-of-conditional-random-field-7d8476ce0201" TargetMode="External"/><Relationship Id="rId2" Type="http://schemas.openxmlformats.org/officeDocument/2006/relationships/hyperlink" Target="https://medium.com/ml2vec/overview-of-conditional-random-fields-68a2a20fa54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3B1A2-F4A4-4C11-BDF9-EFCBAC7D90B6}"/>
              </a:ext>
            </a:extLst>
          </p:cNvPr>
          <p:cNvSpPr>
            <a:spLocks noGrp="1"/>
          </p:cNvSpPr>
          <p:nvPr>
            <p:ph type="ctrTitle"/>
          </p:nvPr>
        </p:nvSpPr>
        <p:spPr/>
        <p:txBody>
          <a:bodyPr/>
          <a:lstStyle/>
          <a:p>
            <a:r>
              <a:rPr lang="en-IN" b="0" i="0" dirty="0">
                <a:solidFill>
                  <a:srgbClr val="292929"/>
                </a:solidFill>
                <a:effectLst/>
                <a:latin typeface="fell"/>
              </a:rPr>
              <a:t>Conditional Random Fields</a:t>
            </a:r>
            <a:br>
              <a:rPr lang="en-IN" b="0" i="0" dirty="0">
                <a:solidFill>
                  <a:srgbClr val="292929"/>
                </a:solidFill>
                <a:effectLst/>
                <a:latin typeface="fell"/>
              </a:rPr>
            </a:br>
            <a:endParaRPr lang="en-IN" dirty="0"/>
          </a:p>
        </p:txBody>
      </p:sp>
      <p:sp>
        <p:nvSpPr>
          <p:cNvPr id="3" name="Subtitle 2">
            <a:extLst>
              <a:ext uri="{FF2B5EF4-FFF2-40B4-BE49-F238E27FC236}">
                <a16:creationId xmlns:a16="http://schemas.microsoft.com/office/drawing/2014/main" id="{837F5E69-E1CD-4622-BBF7-D470E71963C7}"/>
              </a:ext>
            </a:extLst>
          </p:cNvPr>
          <p:cNvSpPr>
            <a:spLocks noGrp="1"/>
          </p:cNvSpPr>
          <p:nvPr>
            <p:ph type="subTitle" idx="1"/>
          </p:nvPr>
        </p:nvSpPr>
        <p:spPr/>
        <p:txBody>
          <a:bodyPr/>
          <a:lstStyle/>
          <a:p>
            <a:r>
              <a:rPr lang="en-US" dirty="0"/>
              <a:t>CRF</a:t>
            </a:r>
            <a:endParaRPr lang="en-IN" dirty="0"/>
          </a:p>
        </p:txBody>
      </p:sp>
    </p:spTree>
    <p:extLst>
      <p:ext uri="{BB962C8B-B14F-4D97-AF65-F5344CB8AC3E}">
        <p14:creationId xmlns:p14="http://schemas.microsoft.com/office/powerpoint/2010/main" val="4244340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5A470-FFBD-4A60-956B-1B585E611AF7}"/>
              </a:ext>
            </a:extLst>
          </p:cNvPr>
          <p:cNvSpPr>
            <a:spLocks noGrp="1"/>
          </p:cNvSpPr>
          <p:nvPr>
            <p:ph type="title"/>
          </p:nvPr>
        </p:nvSpPr>
        <p:spPr/>
        <p:txBody>
          <a:bodyPr/>
          <a:lstStyle/>
          <a:p>
            <a:r>
              <a:rPr lang="en-US" dirty="0"/>
              <a:t>Introduction to CRF</a:t>
            </a:r>
            <a:endParaRPr lang="en-IN" dirty="0"/>
          </a:p>
        </p:txBody>
      </p:sp>
      <p:sp>
        <p:nvSpPr>
          <p:cNvPr id="3" name="Content Placeholder 2">
            <a:extLst>
              <a:ext uri="{FF2B5EF4-FFF2-40B4-BE49-F238E27FC236}">
                <a16:creationId xmlns:a16="http://schemas.microsoft.com/office/drawing/2014/main" id="{20EED6D3-02D8-4AE7-B88F-2D2AFC184AEA}"/>
              </a:ext>
            </a:extLst>
          </p:cNvPr>
          <p:cNvSpPr>
            <a:spLocks noGrp="1"/>
          </p:cNvSpPr>
          <p:nvPr>
            <p:ph idx="1"/>
          </p:nvPr>
        </p:nvSpPr>
        <p:spPr/>
        <p:txBody>
          <a:bodyPr>
            <a:normAutofit fontScale="62500" lnSpcReduction="20000"/>
          </a:bodyPr>
          <a:lstStyle/>
          <a:p>
            <a:pPr algn="l" fontAlgn="base"/>
            <a:r>
              <a:rPr lang="en-US" sz="3600" dirty="0">
                <a:solidFill>
                  <a:srgbClr val="292929"/>
                </a:solidFill>
                <a:latin typeface="charter"/>
              </a:rPr>
              <a:t>Imagine you have a sequence of snapshots from a day in Justin Bieber’s life, and you want to label each image with the activity it represents (eating, sleeping, driving, etc.). How can you do this?</a:t>
            </a:r>
          </a:p>
          <a:p>
            <a:pPr algn="l" fontAlgn="base"/>
            <a:r>
              <a:rPr lang="en-US" sz="3600" dirty="0">
                <a:solidFill>
                  <a:srgbClr val="292929"/>
                </a:solidFill>
                <a:latin typeface="charter"/>
              </a:rPr>
              <a:t>One way is to ignore the sequential nature of the snapshots, and build a per-image classifier. For example, given a month’s worth of labeled snapshots, you might learn that dark images taken at 6am tend to be about sleeping, images with lots of bright colors tend to be about dancing, images of cars are about driving, and so on.</a:t>
            </a:r>
          </a:p>
          <a:p>
            <a:pPr algn="l" fontAlgn="base"/>
            <a:r>
              <a:rPr lang="en-US" sz="3600" dirty="0">
                <a:solidFill>
                  <a:srgbClr val="292929"/>
                </a:solidFill>
                <a:latin typeface="charter"/>
              </a:rPr>
              <a:t>By ignoring this sequential aspect, however, you lose a lot of information. For example, what happens if you see a close-up picture of a mouth – is it about singing or eating? If you know that the previous image is a picture of Justin Bieber eating or cooking, then it’s more likely this picture is about eating; if, however, the previous image contains Justin Bieber singing or dancing, then this one probably shows him singing as well.</a:t>
            </a:r>
          </a:p>
          <a:p>
            <a:pPr algn="l" fontAlgn="base"/>
            <a:r>
              <a:rPr lang="en-US" sz="3600" dirty="0">
                <a:solidFill>
                  <a:srgbClr val="292929"/>
                </a:solidFill>
                <a:latin typeface="charter"/>
              </a:rPr>
              <a:t>Thus, to increase the accuracy of our labeler, we should incorporate the labels of nearby photos, and this is precisely what a conditional random field does</a:t>
            </a:r>
          </a:p>
          <a:p>
            <a:endParaRPr lang="en-IN" dirty="0"/>
          </a:p>
        </p:txBody>
      </p:sp>
    </p:spTree>
    <p:extLst>
      <p:ext uri="{BB962C8B-B14F-4D97-AF65-F5344CB8AC3E}">
        <p14:creationId xmlns:p14="http://schemas.microsoft.com/office/powerpoint/2010/main" val="2735831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79EBF-2C22-4192-A093-AB2437B1CFF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69990F9-0E6A-4F69-ACDD-8999FA8B52B4}"/>
              </a:ext>
            </a:extLst>
          </p:cNvPr>
          <p:cNvSpPr>
            <a:spLocks noGrp="1"/>
          </p:cNvSpPr>
          <p:nvPr>
            <p:ph idx="1"/>
          </p:nvPr>
        </p:nvSpPr>
        <p:spPr/>
        <p:txBody>
          <a:bodyPr>
            <a:normAutofit lnSpcReduction="10000"/>
          </a:bodyPr>
          <a:lstStyle/>
          <a:p>
            <a:pPr algn="just"/>
            <a:r>
              <a:rPr lang="en-US" b="0" i="0" dirty="0">
                <a:solidFill>
                  <a:srgbClr val="292929"/>
                </a:solidFill>
                <a:effectLst/>
                <a:latin typeface="charter"/>
              </a:rPr>
              <a:t>Machine Learning models have two common categorizations, Generative and Discriminative. </a:t>
            </a:r>
            <a:r>
              <a:rPr lang="en-US" dirty="0"/>
              <a:t>Conditional Random Fields are a type of Discriminative classifier, and as such, they model the decision boundary between the different classes</a:t>
            </a:r>
            <a:r>
              <a:rPr lang="en-US" b="0" i="0" dirty="0">
                <a:solidFill>
                  <a:srgbClr val="292929"/>
                </a:solidFill>
                <a:effectLst/>
                <a:latin typeface="charter"/>
              </a:rPr>
              <a:t>. </a:t>
            </a:r>
          </a:p>
          <a:p>
            <a:pPr algn="just"/>
            <a:r>
              <a:rPr lang="en-US" b="0" i="0" dirty="0">
                <a:solidFill>
                  <a:srgbClr val="292929"/>
                </a:solidFill>
                <a:effectLst/>
                <a:latin typeface="charter"/>
              </a:rPr>
              <a:t>Generative models, on the other hand, model how the data was generated, which after having learnt, can be used to make classifications. </a:t>
            </a:r>
          </a:p>
          <a:p>
            <a:pPr algn="just"/>
            <a:r>
              <a:rPr lang="en-US" b="0" i="0" dirty="0">
                <a:solidFill>
                  <a:srgbClr val="292929"/>
                </a:solidFill>
                <a:effectLst/>
                <a:latin typeface="charter"/>
              </a:rPr>
              <a:t>As a simple example, Naive Bayes, a very simple and popular probabilistic classifier, is a Generative algorithm, and Logistic Regression, which is a classifier based on Maximum </a:t>
            </a:r>
            <a:r>
              <a:rPr lang="en-US" b="0" i="0" dirty="0" err="1">
                <a:solidFill>
                  <a:srgbClr val="292929"/>
                </a:solidFill>
                <a:effectLst/>
                <a:latin typeface="charter"/>
              </a:rPr>
              <a:t>Liklihood</a:t>
            </a:r>
            <a:r>
              <a:rPr lang="en-US" b="0" i="0" dirty="0">
                <a:solidFill>
                  <a:srgbClr val="292929"/>
                </a:solidFill>
                <a:effectLst/>
                <a:latin typeface="charter"/>
              </a:rPr>
              <a:t> estimation, is a discriminative model. </a:t>
            </a:r>
          </a:p>
          <a:p>
            <a:pPr algn="just"/>
            <a:endParaRPr lang="en-IN" dirty="0"/>
          </a:p>
        </p:txBody>
      </p:sp>
    </p:spTree>
    <p:extLst>
      <p:ext uri="{BB962C8B-B14F-4D97-AF65-F5344CB8AC3E}">
        <p14:creationId xmlns:p14="http://schemas.microsoft.com/office/powerpoint/2010/main" val="4027350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C04E-EE86-4613-BFD7-408ACE7160A7}"/>
              </a:ext>
            </a:extLst>
          </p:cNvPr>
          <p:cNvSpPr>
            <a:spLocks noGrp="1"/>
          </p:cNvSpPr>
          <p:nvPr>
            <p:ph type="title"/>
          </p:nvPr>
        </p:nvSpPr>
        <p:spPr/>
        <p:txBody>
          <a:bodyPr/>
          <a:lstStyle/>
          <a:p>
            <a:r>
              <a:rPr lang="en-US" b="0" i="0" dirty="0">
                <a:solidFill>
                  <a:srgbClr val="292929"/>
                </a:solidFill>
                <a:effectLst/>
                <a:latin typeface="charter"/>
              </a:rPr>
              <a:t>Conditional Random Fields</a:t>
            </a:r>
            <a:endParaRPr lang="en-IN" dirty="0"/>
          </a:p>
        </p:txBody>
      </p:sp>
      <p:sp>
        <p:nvSpPr>
          <p:cNvPr id="3" name="Content Placeholder 2">
            <a:extLst>
              <a:ext uri="{FF2B5EF4-FFF2-40B4-BE49-F238E27FC236}">
                <a16:creationId xmlns:a16="http://schemas.microsoft.com/office/drawing/2014/main" id="{7E32F591-F983-4B66-9A0A-138DB0A37CB8}"/>
              </a:ext>
            </a:extLst>
          </p:cNvPr>
          <p:cNvSpPr>
            <a:spLocks noGrp="1"/>
          </p:cNvSpPr>
          <p:nvPr>
            <p:ph idx="1"/>
          </p:nvPr>
        </p:nvSpPr>
        <p:spPr/>
        <p:txBody>
          <a:bodyPr/>
          <a:lstStyle/>
          <a:p>
            <a:r>
              <a:rPr lang="en-US" b="0" i="0" dirty="0">
                <a:solidFill>
                  <a:srgbClr val="292929"/>
                </a:solidFill>
                <a:effectLst/>
                <a:latin typeface="charter"/>
              </a:rPr>
              <a:t>Conditional Random Fields are a </a:t>
            </a:r>
            <a:r>
              <a:rPr lang="en-US" b="0" i="0" dirty="0">
                <a:solidFill>
                  <a:srgbClr val="C00000"/>
                </a:solidFill>
                <a:effectLst/>
                <a:latin typeface="charter"/>
              </a:rPr>
              <a:t>discriminative model</a:t>
            </a:r>
            <a:r>
              <a:rPr lang="en-US" b="0" i="0" dirty="0">
                <a:solidFill>
                  <a:srgbClr val="292929"/>
                </a:solidFill>
                <a:effectLst/>
                <a:latin typeface="charter"/>
              </a:rPr>
              <a:t>. </a:t>
            </a:r>
            <a:r>
              <a:rPr lang="en-US" dirty="0"/>
              <a:t>Conditional Random Fields are a type of Discriminative classifier, and as such, they model the decision boundary between the different classes</a:t>
            </a:r>
            <a:r>
              <a:rPr lang="en-US" b="0" i="0" dirty="0">
                <a:solidFill>
                  <a:srgbClr val="292929"/>
                </a:solidFill>
                <a:effectLst/>
                <a:latin typeface="charter"/>
              </a:rPr>
              <a:t>. </a:t>
            </a:r>
          </a:p>
          <a:p>
            <a:r>
              <a:rPr lang="en-US" dirty="0">
                <a:solidFill>
                  <a:srgbClr val="292929"/>
                </a:solidFill>
                <a:latin typeface="charter"/>
              </a:rPr>
              <a:t>It is </a:t>
            </a:r>
            <a:r>
              <a:rPr lang="en-US" b="0" i="0" dirty="0">
                <a:solidFill>
                  <a:srgbClr val="292929"/>
                </a:solidFill>
                <a:effectLst/>
                <a:latin typeface="charter"/>
              </a:rPr>
              <a:t>used for </a:t>
            </a:r>
            <a:r>
              <a:rPr lang="en-US" b="0" i="0" dirty="0">
                <a:solidFill>
                  <a:srgbClr val="C00000"/>
                </a:solidFill>
                <a:effectLst/>
                <a:latin typeface="charter"/>
              </a:rPr>
              <a:t>predicting sequences</a:t>
            </a:r>
            <a:r>
              <a:rPr lang="en-US" b="0" i="0" dirty="0">
                <a:solidFill>
                  <a:srgbClr val="292929"/>
                </a:solidFill>
                <a:effectLst/>
                <a:latin typeface="charter"/>
              </a:rPr>
              <a:t>.</a:t>
            </a:r>
          </a:p>
          <a:p>
            <a:r>
              <a:rPr lang="en-US" b="0" i="0" dirty="0">
                <a:solidFill>
                  <a:srgbClr val="292929"/>
                </a:solidFill>
                <a:effectLst/>
                <a:latin typeface="charter"/>
              </a:rPr>
              <a:t>They use </a:t>
            </a:r>
            <a:r>
              <a:rPr lang="en-US" b="0" i="0" dirty="0">
                <a:solidFill>
                  <a:srgbClr val="C00000"/>
                </a:solidFill>
                <a:effectLst/>
                <a:latin typeface="charter"/>
              </a:rPr>
              <a:t>contextual information from previous labels</a:t>
            </a:r>
            <a:r>
              <a:rPr lang="en-US" b="0" i="0" dirty="0">
                <a:solidFill>
                  <a:srgbClr val="292929"/>
                </a:solidFill>
                <a:effectLst/>
                <a:latin typeface="charter"/>
              </a:rPr>
              <a:t>, thus increasing the amount of information the model has to make a good prediction. </a:t>
            </a:r>
            <a:endParaRPr lang="en-IN" dirty="0"/>
          </a:p>
        </p:txBody>
      </p:sp>
    </p:spTree>
    <p:extLst>
      <p:ext uri="{BB962C8B-B14F-4D97-AF65-F5344CB8AC3E}">
        <p14:creationId xmlns:p14="http://schemas.microsoft.com/office/powerpoint/2010/main" val="2922977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62538-C2F0-4B5B-8DE4-564805847B80}"/>
              </a:ext>
            </a:extLst>
          </p:cNvPr>
          <p:cNvSpPr>
            <a:spLocks noGrp="1"/>
          </p:cNvSpPr>
          <p:nvPr>
            <p:ph type="title"/>
          </p:nvPr>
        </p:nvSpPr>
        <p:spPr/>
        <p:txBody>
          <a:bodyPr>
            <a:normAutofit fontScale="90000"/>
          </a:bodyPr>
          <a:lstStyle/>
          <a:p>
            <a:r>
              <a:rPr lang="en-US" b="1" i="0" dirty="0">
                <a:solidFill>
                  <a:srgbClr val="292929"/>
                </a:solidFill>
                <a:effectLst/>
                <a:latin typeface="sohne"/>
              </a:rPr>
              <a:t>Mathematical overview of Conditional Random Fields</a:t>
            </a:r>
            <a:br>
              <a:rPr lang="en-US" b="0" i="0" dirty="0">
                <a:solidFill>
                  <a:srgbClr val="292929"/>
                </a:solidFill>
                <a:effectLst/>
                <a:latin typeface="sohne"/>
              </a:rPr>
            </a:br>
            <a:endParaRPr lang="en-IN" dirty="0"/>
          </a:p>
        </p:txBody>
      </p:sp>
      <p:sp>
        <p:nvSpPr>
          <p:cNvPr id="3" name="Content Placeholder 2">
            <a:extLst>
              <a:ext uri="{FF2B5EF4-FFF2-40B4-BE49-F238E27FC236}">
                <a16:creationId xmlns:a16="http://schemas.microsoft.com/office/drawing/2014/main" id="{060E3158-BF99-40A1-899F-418D9CF60630}"/>
              </a:ext>
            </a:extLst>
          </p:cNvPr>
          <p:cNvSpPr>
            <a:spLocks noGrp="1"/>
          </p:cNvSpPr>
          <p:nvPr>
            <p:ph idx="1"/>
          </p:nvPr>
        </p:nvSpPr>
        <p:spPr>
          <a:xfrm>
            <a:off x="944732" y="1825625"/>
            <a:ext cx="10515600" cy="4351338"/>
          </a:xfrm>
        </p:spPr>
        <p:txBody>
          <a:bodyPr/>
          <a:lstStyle/>
          <a:p>
            <a:pPr algn="l"/>
            <a:r>
              <a:rPr lang="en-US" b="0" i="0" dirty="0">
                <a:solidFill>
                  <a:srgbClr val="292929"/>
                </a:solidFill>
                <a:effectLst/>
                <a:latin typeface="charter"/>
              </a:rPr>
              <a:t>Having discussed the above definitions, we will now go over Conditional Random Fields, and how they can be used to learn sequential data.</a:t>
            </a:r>
          </a:p>
          <a:p>
            <a:pPr algn="l"/>
            <a:r>
              <a:rPr lang="en-US" dirty="0">
                <a:solidFill>
                  <a:srgbClr val="292929"/>
                </a:solidFill>
                <a:latin typeface="charter"/>
              </a:rPr>
              <a:t>W</a:t>
            </a:r>
            <a:r>
              <a:rPr lang="en-US" b="0" i="0" dirty="0">
                <a:solidFill>
                  <a:srgbClr val="292929"/>
                </a:solidFill>
                <a:effectLst/>
                <a:latin typeface="charter"/>
              </a:rPr>
              <a:t>e model the Conditional Distribution as follows:</a:t>
            </a:r>
          </a:p>
          <a:p>
            <a:endParaRPr lang="en-IN" dirty="0"/>
          </a:p>
        </p:txBody>
      </p:sp>
      <p:pic>
        <p:nvPicPr>
          <p:cNvPr id="1026" name="Picture 2">
            <a:extLst>
              <a:ext uri="{FF2B5EF4-FFF2-40B4-BE49-F238E27FC236}">
                <a16:creationId xmlns:a16="http://schemas.microsoft.com/office/drawing/2014/main" id="{D8C9F4F5-04EC-4260-94F3-30451C8A06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4131" y="4212640"/>
            <a:ext cx="4092279" cy="528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8861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43FD3-527F-47F8-B1EB-20A0346A239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0FB8344-C06A-4D72-B9F8-13816E6633DC}"/>
              </a:ext>
            </a:extLst>
          </p:cNvPr>
          <p:cNvSpPr>
            <a:spLocks noGrp="1"/>
          </p:cNvSpPr>
          <p:nvPr>
            <p:ph idx="1"/>
          </p:nvPr>
        </p:nvSpPr>
        <p:spPr>
          <a:xfrm>
            <a:off x="838200" y="1896646"/>
            <a:ext cx="10515600" cy="4351338"/>
          </a:xfrm>
        </p:spPr>
        <p:txBody>
          <a:bodyPr>
            <a:normAutofit fontScale="92500" lnSpcReduction="10000"/>
          </a:bodyPr>
          <a:lstStyle/>
          <a:p>
            <a:r>
              <a:rPr lang="en-US" dirty="0">
                <a:solidFill>
                  <a:srgbClr val="292929"/>
                </a:solidFill>
                <a:latin typeface="charter"/>
              </a:rPr>
              <a:t>Part-of-Speech Tagging</a:t>
            </a:r>
          </a:p>
          <a:p>
            <a:endParaRPr lang="en-US" dirty="0">
              <a:solidFill>
                <a:srgbClr val="292929"/>
              </a:solidFill>
              <a:latin typeface="charter"/>
            </a:endParaRPr>
          </a:p>
          <a:p>
            <a:r>
              <a:rPr lang="en-US" dirty="0">
                <a:solidFill>
                  <a:srgbClr val="292929"/>
                </a:solidFill>
                <a:latin typeface="charter"/>
              </a:rPr>
              <a:t>In POS tagging, the goal is to label a sentence (a sequence of words or tokens) with tags like ADJECTIVE, NOUN, PREPOSITION, VERB, ADVERB, ARTICLE.</a:t>
            </a:r>
          </a:p>
          <a:p>
            <a:r>
              <a:rPr lang="en-US" dirty="0">
                <a:solidFill>
                  <a:srgbClr val="292929"/>
                </a:solidFill>
                <a:latin typeface="charter"/>
              </a:rPr>
              <a:t>For example, given the sentence “Bob drank coffee at Starbucks”, the labeling might be “Bob (NOUN) drank (VERB) coffee (NOUN) at (PREPOSITION) Starbucks (NOUN)”.</a:t>
            </a:r>
          </a:p>
          <a:p>
            <a:r>
              <a:rPr lang="en-US" dirty="0">
                <a:solidFill>
                  <a:srgbClr val="292929"/>
                </a:solidFill>
                <a:latin typeface="charter"/>
              </a:rPr>
              <a:t>So let’s build a conditional random field to label sentences with their parts of speech. Just like any classifier, we’ll first need to decide on a set of feature functions.</a:t>
            </a:r>
            <a:endParaRPr lang="en-IN" dirty="0">
              <a:solidFill>
                <a:srgbClr val="292929"/>
              </a:solidFill>
              <a:latin typeface="charter"/>
            </a:endParaRPr>
          </a:p>
        </p:txBody>
      </p:sp>
    </p:spTree>
    <p:extLst>
      <p:ext uri="{BB962C8B-B14F-4D97-AF65-F5344CB8AC3E}">
        <p14:creationId xmlns:p14="http://schemas.microsoft.com/office/powerpoint/2010/main" val="3438563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94196-41F9-4E21-803C-43C5DB175DAF}"/>
              </a:ext>
            </a:extLst>
          </p:cNvPr>
          <p:cNvSpPr>
            <a:spLocks noGrp="1"/>
          </p:cNvSpPr>
          <p:nvPr>
            <p:ph type="title"/>
          </p:nvPr>
        </p:nvSpPr>
        <p:spPr/>
        <p:txBody>
          <a:bodyPr/>
          <a:lstStyle/>
          <a:p>
            <a:r>
              <a:rPr lang="en-US" b="0" i="0" dirty="0">
                <a:solidFill>
                  <a:srgbClr val="000305"/>
                </a:solidFill>
                <a:effectLst/>
                <a:latin typeface="Helvetica Neue"/>
              </a:rPr>
              <a:t>Feature Functions in a CRF</a:t>
            </a:r>
            <a:br>
              <a:rPr lang="en-US" b="0" i="0" dirty="0">
                <a:solidFill>
                  <a:srgbClr val="000305"/>
                </a:solidFill>
                <a:effectLst/>
                <a:latin typeface="Helvetica Neue"/>
              </a:rPr>
            </a:br>
            <a:endParaRPr lang="en-IN" dirty="0"/>
          </a:p>
        </p:txBody>
      </p:sp>
      <p:sp>
        <p:nvSpPr>
          <p:cNvPr id="3" name="Content Placeholder 2">
            <a:extLst>
              <a:ext uri="{FF2B5EF4-FFF2-40B4-BE49-F238E27FC236}">
                <a16:creationId xmlns:a16="http://schemas.microsoft.com/office/drawing/2014/main" id="{8337A912-D767-496A-9B85-1E82610B3718}"/>
              </a:ext>
            </a:extLst>
          </p:cNvPr>
          <p:cNvSpPr>
            <a:spLocks noGrp="1"/>
          </p:cNvSpPr>
          <p:nvPr>
            <p:ph idx="1"/>
          </p:nvPr>
        </p:nvSpPr>
        <p:spPr/>
        <p:txBody>
          <a:bodyPr>
            <a:normAutofit fontScale="70000" lnSpcReduction="20000"/>
          </a:bodyPr>
          <a:lstStyle/>
          <a:p>
            <a:pPr marL="0" indent="0">
              <a:buNone/>
            </a:pPr>
            <a:r>
              <a:rPr lang="en-US" dirty="0"/>
              <a:t>In a CRF, each feature function is a function that takes in as input:</a:t>
            </a:r>
          </a:p>
          <a:p>
            <a:endParaRPr lang="en-US" dirty="0"/>
          </a:p>
          <a:p>
            <a:r>
              <a:rPr lang="en-US" dirty="0"/>
              <a:t>a sentence s</a:t>
            </a:r>
          </a:p>
          <a:p>
            <a:r>
              <a:rPr lang="en-US" dirty="0"/>
              <a:t>the position </a:t>
            </a:r>
            <a:r>
              <a:rPr lang="en-US" dirty="0" err="1"/>
              <a:t>i</a:t>
            </a:r>
            <a:r>
              <a:rPr lang="en-US" dirty="0"/>
              <a:t> of a word in the sentence</a:t>
            </a:r>
          </a:p>
          <a:p>
            <a:r>
              <a:rPr lang="en-US" dirty="0"/>
              <a:t>the label li of the current word</a:t>
            </a:r>
          </a:p>
          <a:p>
            <a:r>
              <a:rPr lang="en-US" dirty="0"/>
              <a:t>the label li−1 of the previous word</a:t>
            </a:r>
          </a:p>
          <a:p>
            <a:r>
              <a:rPr lang="en-US" dirty="0"/>
              <a:t>and outputs a real-valued number (though the numbers are often just either 0 or 1).</a:t>
            </a:r>
          </a:p>
          <a:p>
            <a:endParaRPr lang="en-US" dirty="0"/>
          </a:p>
          <a:p>
            <a:r>
              <a:rPr lang="en-US" dirty="0"/>
              <a:t>For example, one possible feature function could measure how much we suspect that the current word should be labeled as an adjective given that the previous word is “very”.</a:t>
            </a:r>
          </a:p>
          <a:p>
            <a:r>
              <a:rPr lang="en-US" b="0" i="0" dirty="0">
                <a:effectLst/>
                <a:latin typeface="Helvetica Neue"/>
              </a:rPr>
              <a:t>To build a conditional random field, you just define a bunch of feature functions (which can depend on the entire sentence, a current position, and nearby labels), assign them weights, and add them all together, transforming at the end to a probability if necessary.</a:t>
            </a:r>
            <a:endParaRPr lang="en-IN" dirty="0"/>
          </a:p>
          <a:p>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862E20A-AFE1-49D5-A09F-6E786DC954F9}"/>
                  </a:ext>
                </a:extLst>
              </p:cNvPr>
              <p:cNvSpPr txBox="1"/>
              <p:nvPr/>
            </p:nvSpPr>
            <p:spPr>
              <a:xfrm>
                <a:off x="6858000" y="2786185"/>
                <a:ext cx="2267544" cy="369332"/>
              </a:xfrm>
              <a:prstGeom prst="rect">
                <a:avLst/>
              </a:prstGeom>
              <a:noFill/>
            </p:spPr>
            <p:txBody>
              <a:bodyPr wrap="none" lIns="0" tIns="0" rIns="0" bIns="0" rtlCol="0">
                <a:spAutoFit/>
              </a:bodyPr>
              <a:lstStyle/>
              <a:p>
                <a14:m>
                  <m:oMath xmlns:m="http://schemas.openxmlformats.org/officeDocument/2006/math">
                    <m:sSub>
                      <m:sSubPr>
                        <m:ctrlPr>
                          <a:rPr lang="en-IN" sz="2400" b="1" i="1" smtClean="0">
                            <a:latin typeface="Cambria Math" panose="02040503050406030204" pitchFamily="18" charset="0"/>
                          </a:rPr>
                        </m:ctrlPr>
                      </m:sSubPr>
                      <m:e>
                        <m:r>
                          <a:rPr lang="en-US" sz="2400" b="1" i="1" smtClean="0">
                            <a:latin typeface="Cambria Math" panose="02040503050406030204" pitchFamily="18" charset="0"/>
                          </a:rPr>
                          <m:t>𝒇</m:t>
                        </m:r>
                        <m:r>
                          <a:rPr lang="en-US" sz="2400" b="1" i="1" smtClean="0">
                            <a:latin typeface="Cambria Math" panose="02040503050406030204" pitchFamily="18" charset="0"/>
                          </a:rPr>
                          <m:t>={</m:t>
                        </m:r>
                        <m:r>
                          <a:rPr lang="en-US" sz="2400" b="1" i="1" smtClean="0">
                            <a:latin typeface="Cambria Math" panose="02040503050406030204" pitchFamily="18" charset="0"/>
                          </a:rPr>
                          <m:t>𝑿</m:t>
                        </m:r>
                        <m:r>
                          <a:rPr lang="en-US" sz="2400" b="1" i="1" smtClean="0">
                            <a:latin typeface="Cambria Math" panose="02040503050406030204" pitchFamily="18" charset="0"/>
                          </a:rPr>
                          <m:t>, </m:t>
                        </m:r>
                        <m:r>
                          <a:rPr lang="en-US" sz="2400" b="1" i="1" smtClean="0">
                            <a:latin typeface="Cambria Math" panose="02040503050406030204" pitchFamily="18" charset="0"/>
                          </a:rPr>
                          <m:t>𝒊</m:t>
                        </m:r>
                        <m:r>
                          <a:rPr lang="en-US" sz="2400" b="1" i="1" smtClean="0">
                            <a:latin typeface="Cambria Math" panose="02040503050406030204" pitchFamily="18" charset="0"/>
                          </a:rPr>
                          <m:t>,</m:t>
                        </m:r>
                        <m:r>
                          <a:rPr lang="en-US" sz="2400" b="1" i="1" smtClean="0">
                            <a:latin typeface="Cambria Math" panose="02040503050406030204" pitchFamily="18" charset="0"/>
                          </a:rPr>
                          <m:t>𝑳</m:t>
                        </m:r>
                      </m:e>
                      <m:sub>
                        <m:r>
                          <a:rPr lang="en-US" sz="2400" b="1" i="1" smtClean="0">
                            <a:latin typeface="Cambria Math" panose="02040503050406030204" pitchFamily="18" charset="0"/>
                          </a:rPr>
                          <m:t>𝒊</m:t>
                        </m:r>
                      </m:sub>
                    </m:sSub>
                  </m:oMath>
                </a14:m>
                <a:r>
                  <a:rPr lang="en-IN" sz="2400" b="1" dirty="0"/>
                  <a:t>,</a:t>
                </a:r>
                <a14:m>
                  <m:oMath xmlns:m="http://schemas.openxmlformats.org/officeDocument/2006/math">
                    <m:sSub>
                      <m:sSubPr>
                        <m:ctrlPr>
                          <a:rPr lang="en-IN" sz="2400" b="1" i="1" dirty="0" smtClean="0">
                            <a:latin typeface="Cambria Math" panose="02040503050406030204" pitchFamily="18" charset="0"/>
                          </a:rPr>
                        </m:ctrlPr>
                      </m:sSubPr>
                      <m:e>
                        <m:r>
                          <a:rPr lang="en-US" sz="2400" b="1" i="1" dirty="0" smtClean="0">
                            <a:latin typeface="Cambria Math" panose="02040503050406030204" pitchFamily="18" charset="0"/>
                          </a:rPr>
                          <m:t>𝒍</m:t>
                        </m:r>
                      </m:e>
                      <m:sub>
                        <m:r>
                          <a:rPr lang="en-US" sz="2400" b="1" i="1" dirty="0" smtClean="0">
                            <a:latin typeface="Cambria Math" panose="02040503050406030204" pitchFamily="18" charset="0"/>
                          </a:rPr>
                          <m:t>𝑳</m:t>
                        </m:r>
                        <m:r>
                          <a:rPr lang="en-US" sz="2400" b="1" i="1" dirty="0" smtClean="0">
                            <a:latin typeface="Cambria Math" panose="02040503050406030204" pitchFamily="18" charset="0"/>
                          </a:rPr>
                          <m:t>−</m:t>
                        </m:r>
                        <m:r>
                          <a:rPr lang="en-US" sz="2400" b="1" i="1" dirty="0" smtClean="0">
                            <a:latin typeface="Cambria Math" panose="02040503050406030204" pitchFamily="18" charset="0"/>
                          </a:rPr>
                          <m:t>𝟏</m:t>
                        </m:r>
                      </m:sub>
                    </m:sSub>
                    <m:r>
                      <a:rPr lang="en-US" sz="2400" b="1" i="1" dirty="0" smtClean="0">
                        <a:latin typeface="Cambria Math" panose="02040503050406030204" pitchFamily="18" charset="0"/>
                      </a:rPr>
                      <m:t>}</m:t>
                    </m:r>
                  </m:oMath>
                </a14:m>
                <a:endParaRPr lang="en-IN" b="1" dirty="0"/>
              </a:p>
            </p:txBody>
          </p:sp>
        </mc:Choice>
        <mc:Fallback xmlns="">
          <p:sp>
            <p:nvSpPr>
              <p:cNvPr id="4" name="TextBox 3">
                <a:extLst>
                  <a:ext uri="{FF2B5EF4-FFF2-40B4-BE49-F238E27FC236}">
                    <a16:creationId xmlns:a16="http://schemas.microsoft.com/office/drawing/2014/main" id="{8862E20A-AFE1-49D5-A09F-6E786DC954F9}"/>
                  </a:ext>
                </a:extLst>
              </p:cNvPr>
              <p:cNvSpPr txBox="1">
                <a:spLocks noRot="1" noChangeAspect="1" noMove="1" noResize="1" noEditPoints="1" noAdjustHandles="1" noChangeArrowheads="1" noChangeShapeType="1" noTextEdit="1"/>
              </p:cNvSpPr>
              <p:nvPr/>
            </p:nvSpPr>
            <p:spPr>
              <a:xfrm>
                <a:off x="6858000" y="2786185"/>
                <a:ext cx="2267544" cy="369332"/>
              </a:xfrm>
              <a:prstGeom prst="rect">
                <a:avLst/>
              </a:prstGeom>
              <a:blipFill>
                <a:blip r:embed="rId2"/>
                <a:stretch>
                  <a:fillRect l="-6183" t="-24590" r="-5376" b="-49180"/>
                </a:stretch>
              </a:blipFill>
            </p:spPr>
            <p:txBody>
              <a:bodyPr/>
              <a:lstStyle/>
              <a:p>
                <a:r>
                  <a:rPr lang="en-IN">
                    <a:noFill/>
                  </a:rPr>
                  <a:t> </a:t>
                </a:r>
              </a:p>
            </p:txBody>
          </p:sp>
        </mc:Fallback>
      </mc:AlternateContent>
    </p:spTree>
    <p:extLst>
      <p:ext uri="{BB962C8B-B14F-4D97-AF65-F5344CB8AC3E}">
        <p14:creationId xmlns:p14="http://schemas.microsoft.com/office/powerpoint/2010/main" val="3122547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4937F-F732-4223-8252-1F1606168A7B}"/>
              </a:ext>
            </a:extLst>
          </p:cNvPr>
          <p:cNvSpPr>
            <a:spLocks noGrp="1"/>
          </p:cNvSpPr>
          <p:nvPr>
            <p:ph type="title"/>
          </p:nvPr>
        </p:nvSpPr>
        <p:spPr/>
        <p:txBody>
          <a:bodyPr/>
          <a:lstStyle/>
          <a:p>
            <a:r>
              <a:rPr lang="en-US" b="0" i="0" dirty="0">
                <a:solidFill>
                  <a:srgbClr val="000305"/>
                </a:solidFill>
                <a:effectLst/>
                <a:latin typeface="Helvetica Neue"/>
              </a:rPr>
              <a:t>Feature Functions</a:t>
            </a:r>
            <a:endParaRPr lang="en-IN" dirty="0"/>
          </a:p>
        </p:txBody>
      </p:sp>
      <p:pic>
        <p:nvPicPr>
          <p:cNvPr id="5" name="Content Placeholder 4">
            <a:extLst>
              <a:ext uri="{FF2B5EF4-FFF2-40B4-BE49-F238E27FC236}">
                <a16:creationId xmlns:a16="http://schemas.microsoft.com/office/drawing/2014/main" id="{F8904B9B-AE9D-4BB7-9212-3E12BF8AFF95}"/>
              </a:ext>
            </a:extLst>
          </p:cNvPr>
          <p:cNvPicPr>
            <a:picLocks noGrp="1" noChangeAspect="1"/>
          </p:cNvPicPr>
          <p:nvPr>
            <p:ph idx="1"/>
          </p:nvPr>
        </p:nvPicPr>
        <p:blipFill>
          <a:blip r:embed="rId2"/>
          <a:stretch>
            <a:fillRect/>
          </a:stretch>
        </p:blipFill>
        <p:spPr>
          <a:xfrm>
            <a:off x="1929432" y="2506662"/>
            <a:ext cx="8333135" cy="4351338"/>
          </a:xfrm>
        </p:spPr>
      </p:pic>
      <p:sp>
        <p:nvSpPr>
          <p:cNvPr id="3" name="TextBox 2">
            <a:extLst>
              <a:ext uri="{FF2B5EF4-FFF2-40B4-BE49-F238E27FC236}">
                <a16:creationId xmlns:a16="http://schemas.microsoft.com/office/drawing/2014/main" id="{B444EBA1-05BD-4BB0-8BE9-579422515460}"/>
              </a:ext>
            </a:extLst>
          </p:cNvPr>
          <p:cNvSpPr txBox="1"/>
          <p:nvPr/>
        </p:nvSpPr>
        <p:spPr>
          <a:xfrm>
            <a:off x="6019060" y="3206082"/>
            <a:ext cx="2130641" cy="369332"/>
          </a:xfrm>
          <a:prstGeom prst="rect">
            <a:avLst/>
          </a:prstGeom>
          <a:noFill/>
        </p:spPr>
        <p:txBody>
          <a:bodyPr wrap="square" rtlCol="0">
            <a:spAutoFit/>
          </a:bodyPr>
          <a:lstStyle/>
          <a:p>
            <a:r>
              <a:rPr lang="en-US" dirty="0"/>
              <a:t>The dog ate my food</a:t>
            </a:r>
            <a:endParaRPr lang="en-IN" dirty="0"/>
          </a:p>
        </p:txBody>
      </p:sp>
      <p:sp>
        <p:nvSpPr>
          <p:cNvPr id="4" name="TextBox 3">
            <a:extLst>
              <a:ext uri="{FF2B5EF4-FFF2-40B4-BE49-F238E27FC236}">
                <a16:creationId xmlns:a16="http://schemas.microsoft.com/office/drawing/2014/main" id="{E8653CD5-2DCC-456D-A447-E25A69F92D51}"/>
              </a:ext>
            </a:extLst>
          </p:cNvPr>
          <p:cNvSpPr txBox="1"/>
          <p:nvPr/>
        </p:nvSpPr>
        <p:spPr>
          <a:xfrm>
            <a:off x="6095999" y="4312999"/>
            <a:ext cx="3178205" cy="369332"/>
          </a:xfrm>
          <a:prstGeom prst="rect">
            <a:avLst/>
          </a:prstGeom>
          <a:noFill/>
        </p:spPr>
        <p:txBody>
          <a:bodyPr wrap="square" rtlCol="0">
            <a:spAutoFit/>
          </a:bodyPr>
          <a:lstStyle/>
          <a:p>
            <a:r>
              <a:rPr lang="en-US" dirty="0"/>
              <a:t>Ben worked carefully</a:t>
            </a:r>
            <a:endParaRPr lang="en-IN" dirty="0"/>
          </a:p>
        </p:txBody>
      </p:sp>
    </p:spTree>
    <p:extLst>
      <p:ext uri="{BB962C8B-B14F-4D97-AF65-F5344CB8AC3E}">
        <p14:creationId xmlns:p14="http://schemas.microsoft.com/office/powerpoint/2010/main" val="2130602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7447C-03DD-48B6-AB2D-23C69C2FB65C}"/>
              </a:ext>
            </a:extLst>
          </p:cNvPr>
          <p:cNvSpPr>
            <a:spLocks noGrp="1"/>
          </p:cNvSpPr>
          <p:nvPr>
            <p:ph type="title"/>
          </p:nvPr>
        </p:nvSpPr>
        <p:spPr/>
        <p:txBody>
          <a:bodyPr/>
          <a:lstStyle/>
          <a:p>
            <a:r>
              <a:rPr lang="en-US" dirty="0"/>
              <a:t>Steps for Conditional Random Field</a:t>
            </a:r>
            <a:endParaRPr lang="en-IN" dirty="0"/>
          </a:p>
        </p:txBody>
      </p:sp>
      <p:sp>
        <p:nvSpPr>
          <p:cNvPr id="6" name="Content Placeholder 5">
            <a:extLst>
              <a:ext uri="{FF2B5EF4-FFF2-40B4-BE49-F238E27FC236}">
                <a16:creationId xmlns:a16="http://schemas.microsoft.com/office/drawing/2014/main" id="{24566956-27F2-47FB-9013-8186E1A22452}"/>
              </a:ext>
            </a:extLst>
          </p:cNvPr>
          <p:cNvSpPr>
            <a:spLocks noGrp="1"/>
          </p:cNvSpPr>
          <p:nvPr>
            <p:ph idx="1"/>
          </p:nvPr>
        </p:nvSpPr>
        <p:spPr>
          <a:xfrm>
            <a:off x="571870" y="1690688"/>
            <a:ext cx="10515600" cy="4351338"/>
          </a:xfrm>
        </p:spPr>
        <p:txBody>
          <a:bodyPr>
            <a:normAutofit fontScale="92500" lnSpcReduction="10000"/>
          </a:bodyPr>
          <a:lstStyle/>
          <a:p>
            <a:r>
              <a:rPr lang="en-US" dirty="0"/>
              <a:t>First determine the feature functions</a:t>
            </a:r>
          </a:p>
          <a:p>
            <a:r>
              <a:rPr lang="en-US" dirty="0"/>
              <a:t>Next, assign each feature function  a weight. Given a sentence s, we can now score a labeling l of s by adding up the weighted features over all words in the sentence:</a:t>
            </a:r>
          </a:p>
          <a:p>
            <a:endParaRPr lang="en-US" dirty="0"/>
          </a:p>
          <a:p>
            <a:endParaRPr lang="en-US" dirty="0"/>
          </a:p>
          <a:p>
            <a:r>
              <a:rPr lang="en-US" dirty="0"/>
              <a:t>(The first sum runs over each feature function j, and the inner sum runs over each position </a:t>
            </a:r>
            <a:r>
              <a:rPr lang="en-US" dirty="0" err="1"/>
              <a:t>i</a:t>
            </a:r>
            <a:r>
              <a:rPr lang="en-US" dirty="0"/>
              <a:t> of the sentence.)</a:t>
            </a:r>
          </a:p>
          <a:p>
            <a:endParaRPr lang="en-US" dirty="0"/>
          </a:p>
          <a:p>
            <a:r>
              <a:rPr lang="en-US" dirty="0"/>
              <a:t>Finally, we can transform these scores into probabilities p(</a:t>
            </a:r>
            <a:r>
              <a:rPr lang="en-US" dirty="0" err="1"/>
              <a:t>l|s</a:t>
            </a:r>
            <a:r>
              <a:rPr lang="en-US" dirty="0"/>
              <a:t>) between 0 and 1 by exponentiating and normalizing</a:t>
            </a:r>
          </a:p>
          <a:p>
            <a:endParaRPr lang="en-US" dirty="0"/>
          </a:p>
        </p:txBody>
      </p:sp>
      <p:pic>
        <p:nvPicPr>
          <p:cNvPr id="9" name="Picture 8">
            <a:extLst>
              <a:ext uri="{FF2B5EF4-FFF2-40B4-BE49-F238E27FC236}">
                <a16:creationId xmlns:a16="http://schemas.microsoft.com/office/drawing/2014/main" id="{4F37BA67-4B28-48C8-A91E-408A46F5891D}"/>
              </a:ext>
            </a:extLst>
          </p:cNvPr>
          <p:cNvPicPr>
            <a:picLocks noChangeAspect="1"/>
          </p:cNvPicPr>
          <p:nvPr/>
        </p:nvPicPr>
        <p:blipFill>
          <a:blip r:embed="rId2"/>
          <a:stretch>
            <a:fillRect/>
          </a:stretch>
        </p:blipFill>
        <p:spPr>
          <a:xfrm>
            <a:off x="3151480" y="3429000"/>
            <a:ext cx="4095750" cy="552450"/>
          </a:xfrm>
          <a:prstGeom prst="rect">
            <a:avLst/>
          </a:prstGeom>
        </p:spPr>
      </p:pic>
      <p:cxnSp>
        <p:nvCxnSpPr>
          <p:cNvPr id="11" name="Straight Arrow Connector 10">
            <a:extLst>
              <a:ext uri="{FF2B5EF4-FFF2-40B4-BE49-F238E27FC236}">
                <a16:creationId xmlns:a16="http://schemas.microsoft.com/office/drawing/2014/main" id="{F2702C52-3501-42E8-ADFB-F30CFD23DDFE}"/>
              </a:ext>
            </a:extLst>
          </p:cNvPr>
          <p:cNvCxnSpPr/>
          <p:nvPr/>
        </p:nvCxnSpPr>
        <p:spPr>
          <a:xfrm flipV="1">
            <a:off x="6096000" y="3222594"/>
            <a:ext cx="393577" cy="363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CC38EB6-A56E-4598-A9CE-C1F2C561FAE9}"/>
              </a:ext>
            </a:extLst>
          </p:cNvPr>
          <p:cNvSpPr txBox="1"/>
          <p:nvPr/>
        </p:nvSpPr>
        <p:spPr>
          <a:xfrm>
            <a:off x="6292788" y="3016251"/>
            <a:ext cx="1438183" cy="369332"/>
          </a:xfrm>
          <a:prstGeom prst="rect">
            <a:avLst/>
          </a:prstGeom>
          <a:noFill/>
        </p:spPr>
        <p:txBody>
          <a:bodyPr wrap="square" rtlCol="0">
            <a:spAutoFit/>
          </a:bodyPr>
          <a:lstStyle/>
          <a:p>
            <a:r>
              <a:rPr lang="en-US" dirty="0"/>
              <a:t>sentence</a:t>
            </a:r>
            <a:endParaRPr lang="en-IN" dirty="0"/>
          </a:p>
        </p:txBody>
      </p:sp>
    </p:spTree>
    <p:extLst>
      <p:ext uri="{BB962C8B-B14F-4D97-AF65-F5344CB8AC3E}">
        <p14:creationId xmlns:p14="http://schemas.microsoft.com/office/powerpoint/2010/main" val="1911499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ADCB8-C16F-4882-B873-38BD54EBB964}"/>
              </a:ext>
            </a:extLst>
          </p:cNvPr>
          <p:cNvSpPr>
            <a:spLocks noGrp="1"/>
          </p:cNvSpPr>
          <p:nvPr>
            <p:ph type="title"/>
          </p:nvPr>
        </p:nvSpPr>
        <p:spPr/>
        <p:txBody>
          <a:bodyPr/>
          <a:lstStyle/>
          <a:p>
            <a:r>
              <a:rPr lang="en-US" b="1" i="0" dirty="0">
                <a:solidFill>
                  <a:srgbClr val="292929"/>
                </a:solidFill>
                <a:effectLst/>
                <a:latin typeface="sohne"/>
              </a:rPr>
              <a:t>Applications of CRFs</a:t>
            </a:r>
            <a:br>
              <a:rPr lang="en-US" b="0" i="0" dirty="0">
                <a:solidFill>
                  <a:srgbClr val="292929"/>
                </a:solidFill>
                <a:effectLst/>
                <a:latin typeface="sohne"/>
              </a:rPr>
            </a:br>
            <a:endParaRPr lang="en-IN" dirty="0"/>
          </a:p>
        </p:txBody>
      </p:sp>
      <p:sp>
        <p:nvSpPr>
          <p:cNvPr id="3" name="Content Placeholder 2">
            <a:extLst>
              <a:ext uri="{FF2B5EF4-FFF2-40B4-BE49-F238E27FC236}">
                <a16:creationId xmlns:a16="http://schemas.microsoft.com/office/drawing/2014/main" id="{25F781DB-A413-4CFE-94C7-C7A148220B7B}"/>
              </a:ext>
            </a:extLst>
          </p:cNvPr>
          <p:cNvSpPr>
            <a:spLocks noGrp="1"/>
          </p:cNvSpPr>
          <p:nvPr>
            <p:ph idx="1"/>
          </p:nvPr>
        </p:nvSpPr>
        <p:spPr/>
        <p:txBody>
          <a:bodyPr>
            <a:normAutofit fontScale="92500"/>
          </a:bodyPr>
          <a:lstStyle/>
          <a:p>
            <a:pPr algn="l"/>
            <a:r>
              <a:rPr lang="en-US" b="0" i="0" dirty="0">
                <a:solidFill>
                  <a:srgbClr val="292929"/>
                </a:solidFill>
                <a:effectLst/>
                <a:latin typeface="charter"/>
              </a:rPr>
              <a:t>Given their ability to model sequential data, CRFs are often used in </a:t>
            </a:r>
            <a:r>
              <a:rPr lang="en-US" b="0" i="0" dirty="0">
                <a:solidFill>
                  <a:srgbClr val="C00000"/>
                </a:solidFill>
                <a:effectLst/>
                <a:latin typeface="charter"/>
              </a:rPr>
              <a:t>Natural Language Processing</a:t>
            </a:r>
            <a:endParaRPr lang="en-US" dirty="0">
              <a:solidFill>
                <a:srgbClr val="292929"/>
              </a:solidFill>
              <a:latin typeface="charter"/>
            </a:endParaRPr>
          </a:p>
          <a:p>
            <a:pPr algn="l"/>
            <a:r>
              <a:rPr lang="en-US" b="0" i="0" dirty="0">
                <a:solidFill>
                  <a:srgbClr val="C00000"/>
                </a:solidFill>
                <a:effectLst/>
                <a:latin typeface="charter"/>
              </a:rPr>
              <a:t>Parts-of-Speech tagging</a:t>
            </a:r>
            <a:r>
              <a:rPr lang="en-US" b="0" i="0" dirty="0">
                <a:solidFill>
                  <a:srgbClr val="292929"/>
                </a:solidFill>
                <a:effectLst/>
                <a:latin typeface="charter"/>
              </a:rPr>
              <a:t>. Parts of speech of a sentence rely on previous words, and by </a:t>
            </a:r>
            <a:r>
              <a:rPr lang="en-US" dirty="0">
                <a:solidFill>
                  <a:srgbClr val="292929"/>
                </a:solidFill>
                <a:latin typeface="charter"/>
              </a:rPr>
              <a:t>using feature functions that take advantage of this, we can use CRFs to learn how to distinguish which words of a sentence correspond to which POS. </a:t>
            </a:r>
          </a:p>
          <a:p>
            <a:pPr algn="l"/>
            <a:r>
              <a:rPr lang="en-US" b="0" i="0" dirty="0">
                <a:solidFill>
                  <a:srgbClr val="292929"/>
                </a:solidFill>
                <a:effectLst/>
                <a:latin typeface="charter"/>
              </a:rPr>
              <a:t>Another similar application is </a:t>
            </a:r>
            <a:r>
              <a:rPr lang="en-US" b="0" i="0" dirty="0">
                <a:solidFill>
                  <a:srgbClr val="C00000"/>
                </a:solidFill>
                <a:effectLst/>
                <a:latin typeface="charter"/>
              </a:rPr>
              <a:t>Named Entity recognition, or extracting Proper nouns from sentences</a:t>
            </a:r>
            <a:r>
              <a:rPr lang="en-US" b="0" i="0" dirty="0">
                <a:solidFill>
                  <a:srgbClr val="292929"/>
                </a:solidFill>
                <a:effectLst/>
                <a:latin typeface="charter"/>
              </a:rPr>
              <a:t>. </a:t>
            </a:r>
          </a:p>
          <a:p>
            <a:pPr algn="l"/>
            <a:r>
              <a:rPr lang="en-US" b="0" i="0" dirty="0">
                <a:solidFill>
                  <a:srgbClr val="292929"/>
                </a:solidFill>
                <a:effectLst/>
                <a:latin typeface="charter"/>
              </a:rPr>
              <a:t>Other applications include </a:t>
            </a:r>
            <a:r>
              <a:rPr lang="en-US" b="0" i="0" dirty="0">
                <a:solidFill>
                  <a:srgbClr val="C00000"/>
                </a:solidFill>
                <a:effectLst/>
                <a:latin typeface="charter"/>
              </a:rPr>
              <a:t>parts-recognition in Images and gene prediction.</a:t>
            </a:r>
          </a:p>
          <a:p>
            <a:pPr algn="l"/>
            <a:r>
              <a:rPr lang="en-US" dirty="0">
                <a:solidFill>
                  <a:srgbClr val="C00000"/>
                </a:solidFill>
                <a:latin typeface="charter"/>
              </a:rPr>
              <a:t>Pattern </a:t>
            </a:r>
            <a:r>
              <a:rPr lang="en-US" dirty="0" err="1">
                <a:solidFill>
                  <a:srgbClr val="C00000"/>
                </a:solidFill>
                <a:latin typeface="charter"/>
              </a:rPr>
              <a:t>recognisition</a:t>
            </a:r>
            <a:endParaRPr lang="en-US" b="0" i="0" dirty="0">
              <a:solidFill>
                <a:srgbClr val="C00000"/>
              </a:solidFill>
              <a:effectLst/>
              <a:latin typeface="charter"/>
            </a:endParaRPr>
          </a:p>
          <a:p>
            <a:endParaRPr lang="en-IN" dirty="0"/>
          </a:p>
        </p:txBody>
      </p:sp>
    </p:spTree>
    <p:extLst>
      <p:ext uri="{BB962C8B-B14F-4D97-AF65-F5344CB8AC3E}">
        <p14:creationId xmlns:p14="http://schemas.microsoft.com/office/powerpoint/2010/main" val="3411978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30825-82CA-4B1D-B458-35F7A3B9F688}"/>
              </a:ext>
            </a:extLst>
          </p:cNvPr>
          <p:cNvSpPr>
            <a:spLocks noGrp="1"/>
          </p:cNvSpPr>
          <p:nvPr>
            <p:ph type="title"/>
          </p:nvPr>
        </p:nvSpPr>
        <p:spPr/>
        <p:txBody>
          <a:bodyPr>
            <a:normAutofit/>
          </a:bodyPr>
          <a:lstStyle/>
          <a:p>
            <a:r>
              <a:rPr lang="en-US" sz="3600" dirty="0"/>
              <a:t>Difference between conditional random and Hidden Markov Models </a:t>
            </a:r>
            <a:endParaRPr lang="en-IN" sz="3600" dirty="0"/>
          </a:p>
        </p:txBody>
      </p:sp>
      <p:sp>
        <p:nvSpPr>
          <p:cNvPr id="3" name="Content Placeholder 2">
            <a:extLst>
              <a:ext uri="{FF2B5EF4-FFF2-40B4-BE49-F238E27FC236}">
                <a16:creationId xmlns:a16="http://schemas.microsoft.com/office/drawing/2014/main" id="{7A7849A2-2445-4340-A750-18DCFD78383C}"/>
              </a:ext>
            </a:extLst>
          </p:cNvPr>
          <p:cNvSpPr>
            <a:spLocks noGrp="1"/>
          </p:cNvSpPr>
          <p:nvPr>
            <p:ph idx="1"/>
          </p:nvPr>
        </p:nvSpPr>
        <p:spPr/>
        <p:txBody>
          <a:bodyPr>
            <a:normAutofit lnSpcReduction="10000"/>
          </a:bodyPr>
          <a:lstStyle/>
          <a:p>
            <a:pPr algn="just"/>
            <a:r>
              <a:rPr lang="en-US" dirty="0">
                <a:solidFill>
                  <a:srgbClr val="292929"/>
                </a:solidFill>
                <a:latin typeface="charter"/>
              </a:rPr>
              <a:t>B</a:t>
            </a:r>
            <a:r>
              <a:rPr lang="en-US" b="0" i="0" dirty="0">
                <a:solidFill>
                  <a:srgbClr val="292929"/>
                </a:solidFill>
                <a:effectLst/>
                <a:latin typeface="charter"/>
              </a:rPr>
              <a:t>oth are used to model sequential data, but they are different algorithms.</a:t>
            </a:r>
          </a:p>
          <a:p>
            <a:pPr algn="just"/>
            <a:r>
              <a:rPr lang="en-US" b="0" i="0" dirty="0">
                <a:solidFill>
                  <a:srgbClr val="FF0000"/>
                </a:solidFill>
                <a:effectLst/>
                <a:latin typeface="charter"/>
              </a:rPr>
              <a:t>Hidden Markov Models </a:t>
            </a:r>
            <a:r>
              <a:rPr lang="en-US" b="0" i="0" dirty="0">
                <a:solidFill>
                  <a:srgbClr val="292929"/>
                </a:solidFill>
                <a:effectLst/>
                <a:latin typeface="charter"/>
              </a:rPr>
              <a:t>are </a:t>
            </a:r>
            <a:r>
              <a:rPr lang="en-US" b="0" i="0" dirty="0">
                <a:solidFill>
                  <a:srgbClr val="FF0000"/>
                </a:solidFill>
                <a:effectLst/>
                <a:latin typeface="charter"/>
              </a:rPr>
              <a:t>generative</a:t>
            </a:r>
            <a:r>
              <a:rPr lang="en-US" b="0" i="0" dirty="0">
                <a:solidFill>
                  <a:srgbClr val="292929"/>
                </a:solidFill>
                <a:effectLst/>
                <a:latin typeface="charter"/>
              </a:rPr>
              <a:t>, and give output by modeling the </a:t>
            </a:r>
            <a:r>
              <a:rPr lang="en-US" b="0" i="0" dirty="0">
                <a:solidFill>
                  <a:srgbClr val="FF0000"/>
                </a:solidFill>
                <a:effectLst/>
                <a:latin typeface="charter"/>
              </a:rPr>
              <a:t>joint probability distribution</a:t>
            </a:r>
            <a:r>
              <a:rPr lang="en-US" b="0" i="0" dirty="0">
                <a:solidFill>
                  <a:srgbClr val="292929"/>
                </a:solidFill>
                <a:effectLst/>
                <a:latin typeface="charter"/>
              </a:rPr>
              <a:t>. On the other hand</a:t>
            </a:r>
            <a:r>
              <a:rPr lang="en-US" b="0" i="0" dirty="0">
                <a:solidFill>
                  <a:srgbClr val="00B050"/>
                </a:solidFill>
                <a:effectLst/>
                <a:latin typeface="charter"/>
              </a:rPr>
              <a:t>, Conditional Random Fields </a:t>
            </a:r>
            <a:r>
              <a:rPr lang="en-US" b="0" i="0" dirty="0">
                <a:solidFill>
                  <a:srgbClr val="292929"/>
                </a:solidFill>
                <a:effectLst/>
                <a:latin typeface="charter"/>
              </a:rPr>
              <a:t>are </a:t>
            </a:r>
            <a:r>
              <a:rPr lang="en-US" b="0" i="0" dirty="0">
                <a:solidFill>
                  <a:srgbClr val="00B050"/>
                </a:solidFill>
                <a:effectLst/>
                <a:latin typeface="charter"/>
              </a:rPr>
              <a:t>discriminative</a:t>
            </a:r>
            <a:r>
              <a:rPr lang="en-US" b="0" i="0" dirty="0">
                <a:solidFill>
                  <a:srgbClr val="292929"/>
                </a:solidFill>
                <a:effectLst/>
                <a:latin typeface="charter"/>
              </a:rPr>
              <a:t>, and </a:t>
            </a:r>
            <a:r>
              <a:rPr lang="en-US" b="0" i="0" dirty="0">
                <a:solidFill>
                  <a:srgbClr val="00B050"/>
                </a:solidFill>
                <a:effectLst/>
                <a:latin typeface="charter"/>
              </a:rPr>
              <a:t>model the conditional probability distribution</a:t>
            </a:r>
            <a:r>
              <a:rPr lang="en-US" b="0" i="0" dirty="0">
                <a:solidFill>
                  <a:srgbClr val="292929"/>
                </a:solidFill>
                <a:effectLst/>
                <a:latin typeface="charter"/>
              </a:rPr>
              <a:t>. CRFs </a:t>
            </a:r>
            <a:r>
              <a:rPr lang="en-US" b="0" i="0" dirty="0">
                <a:solidFill>
                  <a:srgbClr val="00B050"/>
                </a:solidFill>
                <a:effectLst/>
                <a:latin typeface="charter"/>
              </a:rPr>
              <a:t>don’t rely on the independence </a:t>
            </a:r>
            <a:r>
              <a:rPr lang="en-US" b="0" i="0" dirty="0">
                <a:solidFill>
                  <a:srgbClr val="292929"/>
                </a:solidFill>
                <a:effectLst/>
                <a:latin typeface="charter"/>
              </a:rPr>
              <a:t>assumption (that the labels are independent of each other), and avoid label bias. One way to look at it is that Hidden Markov Models are a very specific case of Conditional Random Fields, with constant transition probabilities used instead. </a:t>
            </a:r>
            <a:r>
              <a:rPr lang="en-US" b="0" i="0" dirty="0">
                <a:solidFill>
                  <a:srgbClr val="00B050"/>
                </a:solidFill>
                <a:effectLst/>
                <a:latin typeface="charter"/>
              </a:rPr>
              <a:t>HMMs are based on Naive Bayes</a:t>
            </a:r>
            <a:r>
              <a:rPr lang="en-US" b="0" i="0" dirty="0">
                <a:solidFill>
                  <a:srgbClr val="292929"/>
                </a:solidFill>
                <a:effectLst/>
                <a:latin typeface="charter"/>
              </a:rPr>
              <a:t>, which we say can be derived from Logistic Regression, from which CRFs are derived.</a:t>
            </a:r>
          </a:p>
          <a:p>
            <a:endParaRPr lang="en-IN" dirty="0"/>
          </a:p>
        </p:txBody>
      </p:sp>
    </p:spTree>
    <p:extLst>
      <p:ext uri="{BB962C8B-B14F-4D97-AF65-F5344CB8AC3E}">
        <p14:creationId xmlns:p14="http://schemas.microsoft.com/office/powerpoint/2010/main" val="3623752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22C91-4291-4F38-8E16-750DC6D5895F}"/>
              </a:ext>
            </a:extLst>
          </p:cNvPr>
          <p:cNvSpPr>
            <a:spLocks noGrp="1"/>
          </p:cNvSpPr>
          <p:nvPr>
            <p:ph type="title"/>
          </p:nvPr>
        </p:nvSpPr>
        <p:spPr/>
        <p:txBody>
          <a:bodyPr/>
          <a:lstStyle/>
          <a:p>
            <a:r>
              <a:rPr lang="en-IN" b="1" dirty="0"/>
              <a:t>References</a:t>
            </a:r>
          </a:p>
        </p:txBody>
      </p:sp>
      <p:sp>
        <p:nvSpPr>
          <p:cNvPr id="3" name="Content Placeholder 2">
            <a:extLst>
              <a:ext uri="{FF2B5EF4-FFF2-40B4-BE49-F238E27FC236}">
                <a16:creationId xmlns:a16="http://schemas.microsoft.com/office/drawing/2014/main" id="{58F0F16F-B57A-4EDD-A9AD-DF3A9E66DE38}"/>
              </a:ext>
            </a:extLst>
          </p:cNvPr>
          <p:cNvSpPr>
            <a:spLocks noGrp="1"/>
          </p:cNvSpPr>
          <p:nvPr>
            <p:ph idx="1"/>
          </p:nvPr>
        </p:nvSpPr>
        <p:spPr/>
        <p:txBody>
          <a:bodyPr/>
          <a:lstStyle/>
          <a:p>
            <a:r>
              <a:rPr lang="en-US" dirty="0">
                <a:hlinkClick r:id="rId2"/>
              </a:rPr>
              <a:t>https://www.youtube.com/watch?v=rI3DQS0P2fk&amp;t=1082s</a:t>
            </a:r>
          </a:p>
          <a:p>
            <a:r>
              <a:rPr lang="en-US" dirty="0">
                <a:hlinkClick r:id="rId2"/>
              </a:rPr>
              <a:t>Overview of Conditional Random Fields | by Ravish Chawla | ML 2 </a:t>
            </a:r>
            <a:r>
              <a:rPr lang="en-US" dirty="0" err="1">
                <a:hlinkClick r:id="rId2"/>
              </a:rPr>
              <a:t>Vec</a:t>
            </a:r>
            <a:r>
              <a:rPr lang="en-US" dirty="0">
                <a:hlinkClick r:id="rId2"/>
              </a:rPr>
              <a:t> | Medium</a:t>
            </a:r>
            <a:endParaRPr lang="en-US" dirty="0"/>
          </a:p>
          <a:p>
            <a:r>
              <a:rPr lang="en-US" dirty="0">
                <a:hlinkClick r:id="rId3"/>
              </a:rPr>
              <a:t>A Tour of Conditional Random Field – Towards AI — The World’s Leading AI and Technology Publication</a:t>
            </a:r>
            <a:endParaRPr lang="en-IN" dirty="0"/>
          </a:p>
        </p:txBody>
      </p:sp>
    </p:spTree>
    <p:extLst>
      <p:ext uri="{BB962C8B-B14F-4D97-AF65-F5344CB8AC3E}">
        <p14:creationId xmlns:p14="http://schemas.microsoft.com/office/powerpoint/2010/main" val="6265372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12693</TotalTime>
  <Words>1079</Words>
  <Application>Microsoft Office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Calibri Light</vt:lpstr>
      <vt:lpstr>Cambria Math</vt:lpstr>
      <vt:lpstr>charter</vt:lpstr>
      <vt:lpstr>fell</vt:lpstr>
      <vt:lpstr>Helvetica Neue</vt:lpstr>
      <vt:lpstr>sohne</vt:lpstr>
      <vt:lpstr>Office Theme</vt:lpstr>
      <vt:lpstr>Conditional Random Fields </vt:lpstr>
      <vt:lpstr>Introduction to CRF</vt:lpstr>
      <vt:lpstr>PowerPoint Presentation</vt:lpstr>
      <vt:lpstr>Conditional Random Fields</vt:lpstr>
      <vt:lpstr>Mathematical overview of Conditional Random Fields </vt:lpstr>
      <vt:lpstr>PowerPoint Presentation</vt:lpstr>
      <vt:lpstr>Feature Functions in a CRF </vt:lpstr>
      <vt:lpstr>Feature Functions</vt:lpstr>
      <vt:lpstr>Steps for Conditional Random Field</vt:lpstr>
      <vt:lpstr>Applications of CRFs </vt:lpstr>
      <vt:lpstr>Difference between conditional random and Hidden Markov Models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Conditional Random Fields</dc:title>
  <dc:creator>kriti ohri</dc:creator>
  <cp:lastModifiedBy>Kriti Ohri</cp:lastModifiedBy>
  <cp:revision>5</cp:revision>
  <dcterms:created xsi:type="dcterms:W3CDTF">2021-12-28T07:27:56Z</dcterms:created>
  <dcterms:modified xsi:type="dcterms:W3CDTF">2024-11-17T03:24:37Z</dcterms:modified>
</cp:coreProperties>
</file>