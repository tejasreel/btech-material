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267" r:id="rId3"/>
    <p:sldId id="273" r:id="rId4"/>
    <p:sldId id="258" r:id="rId5"/>
    <p:sldId id="298" r:id="rId6"/>
    <p:sldId id="299" r:id="rId7"/>
    <p:sldId id="302" r:id="rId8"/>
    <p:sldId id="289" r:id="rId9"/>
    <p:sldId id="290" r:id="rId10"/>
    <p:sldId id="278" r:id="rId11"/>
    <p:sldId id="291" r:id="rId12"/>
    <p:sldId id="292" r:id="rId13"/>
    <p:sldId id="293" r:id="rId14"/>
    <p:sldId id="294" r:id="rId15"/>
    <p:sldId id="296" r:id="rId16"/>
    <p:sldId id="295" r:id="rId17"/>
    <p:sldId id="297" r:id="rId18"/>
    <p:sldId id="257" r:id="rId19"/>
    <p:sldId id="262" r:id="rId20"/>
    <p:sldId id="280" r:id="rId21"/>
    <p:sldId id="281" r:id="rId22"/>
    <p:sldId id="279" r:id="rId23"/>
    <p:sldId id="259" r:id="rId24"/>
    <p:sldId id="276" r:id="rId25"/>
    <p:sldId id="282" r:id="rId26"/>
    <p:sldId id="277" r:id="rId27"/>
    <p:sldId id="274" r:id="rId28"/>
    <p:sldId id="260" r:id="rId29"/>
    <p:sldId id="261" r:id="rId30"/>
    <p:sldId id="269" r:id="rId31"/>
    <p:sldId id="266" r:id="rId32"/>
    <p:sldId id="283" r:id="rId33"/>
    <p:sldId id="284" r:id="rId34"/>
    <p:sldId id="287" r:id="rId35"/>
    <p:sldId id="285" r:id="rId36"/>
    <p:sldId id="286"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C27DDC70-D1C6-4E88-84A2-15A129E8FE00}">
          <p14:sldIdLst>
            <p14:sldId id="256"/>
            <p14:sldId id="267"/>
            <p14:sldId id="273"/>
          </p14:sldIdLst>
        </p14:section>
        <p14:section name="Default Section" id="{5C6D8720-2A4A-4649-B228-799A5E64F1D2}">
          <p14:sldIdLst>
            <p14:sldId id="258"/>
            <p14:sldId id="298"/>
            <p14:sldId id="299"/>
            <p14:sldId id="302"/>
            <p14:sldId id="289"/>
            <p14:sldId id="290"/>
            <p14:sldId id="278"/>
            <p14:sldId id="291"/>
            <p14:sldId id="292"/>
            <p14:sldId id="293"/>
            <p14:sldId id="294"/>
            <p14:sldId id="296"/>
            <p14:sldId id="295"/>
            <p14:sldId id="297"/>
            <p14:sldId id="257"/>
            <p14:sldId id="262"/>
            <p14:sldId id="280"/>
            <p14:sldId id="281"/>
            <p14:sldId id="279"/>
            <p14:sldId id="259"/>
            <p14:sldId id="276"/>
            <p14:sldId id="282"/>
            <p14:sldId id="277"/>
            <p14:sldId id="274"/>
            <p14:sldId id="260"/>
            <p14:sldId id="261"/>
            <p14:sldId id="269"/>
            <p14:sldId id="266"/>
            <p14:sldId id="283"/>
            <p14:sldId id="284"/>
            <p14:sldId id="287"/>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5031" autoAdjust="0"/>
  </p:normalViewPr>
  <p:slideViewPr>
    <p:cSldViewPr snapToGrid="0">
      <p:cViewPr varScale="1">
        <p:scale>
          <a:sx n="58" d="100"/>
          <a:sy n="58" d="100"/>
        </p:scale>
        <p:origin x="164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7F7664-FCD9-4E7E-8CD4-49DF48A718BA}" type="datetimeFigureOut">
              <a:rPr lang="en-IN" smtClean="0"/>
              <a:t>10-11-2024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6BD077-8C00-475F-A2F0-CDE497701A04}" type="slidenum">
              <a:rPr lang="en-IN" smtClean="0"/>
              <a:t>‹#›</a:t>
            </a:fld>
            <a:endParaRPr lang="en-IN"/>
          </a:p>
        </p:txBody>
      </p:sp>
    </p:spTree>
    <p:extLst>
      <p:ext uri="{BB962C8B-B14F-4D97-AF65-F5344CB8AC3E}">
        <p14:creationId xmlns:p14="http://schemas.microsoft.com/office/powerpoint/2010/main" val="904012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46BD077-8C00-475F-A2F0-CDE497701A04}" type="slidenum">
              <a:rPr lang="en-IN" smtClean="0"/>
              <a:t>1</a:t>
            </a:fld>
            <a:endParaRPr lang="en-IN"/>
          </a:p>
        </p:txBody>
      </p:sp>
    </p:spTree>
    <p:extLst>
      <p:ext uri="{BB962C8B-B14F-4D97-AF65-F5344CB8AC3E}">
        <p14:creationId xmlns:p14="http://schemas.microsoft.com/office/powerpoint/2010/main" val="22826960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sequential data and temporal data: discrete time series data</a:t>
            </a:r>
          </a:p>
          <a:p>
            <a:r>
              <a:rPr lang="en-US" dirty="0"/>
              <a:t>Simple and powerful</a:t>
            </a:r>
          </a:p>
          <a:p>
            <a:r>
              <a:rPr lang="en-US" dirty="0"/>
              <a:t>Computes prob or distribution of events that is observed</a:t>
            </a:r>
          </a:p>
          <a:p>
            <a:r>
              <a:rPr lang="en-US" dirty="0"/>
              <a:t>Statistical model</a:t>
            </a:r>
          </a:p>
        </p:txBody>
      </p:sp>
      <p:sp>
        <p:nvSpPr>
          <p:cNvPr id="4" name="Slide Number Placeholder 3"/>
          <p:cNvSpPr>
            <a:spLocks noGrp="1"/>
          </p:cNvSpPr>
          <p:nvPr>
            <p:ph type="sldNum" sz="quarter" idx="5"/>
          </p:nvPr>
        </p:nvSpPr>
        <p:spPr/>
        <p:txBody>
          <a:bodyPr/>
          <a:lstStyle/>
          <a:p>
            <a:fld id="{C46BD077-8C00-475F-A2F0-CDE497701A04}" type="slidenum">
              <a:rPr lang="en-IN" smtClean="0"/>
              <a:t>2</a:t>
            </a:fld>
            <a:endParaRPr lang="en-IN"/>
          </a:p>
        </p:txBody>
      </p:sp>
    </p:spTree>
    <p:extLst>
      <p:ext uri="{BB962C8B-B14F-4D97-AF65-F5344CB8AC3E}">
        <p14:creationId xmlns:p14="http://schemas.microsoft.com/office/powerpoint/2010/main" val="31784614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46BD077-8C00-475F-A2F0-CDE497701A04}" type="slidenum">
              <a:rPr lang="en-IN" smtClean="0"/>
              <a:t>3</a:t>
            </a:fld>
            <a:endParaRPr lang="en-IN"/>
          </a:p>
        </p:txBody>
      </p:sp>
    </p:spTree>
    <p:extLst>
      <p:ext uri="{BB962C8B-B14F-4D97-AF65-F5344CB8AC3E}">
        <p14:creationId xmlns:p14="http://schemas.microsoft.com/office/powerpoint/2010/main" val="39349533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Markov process is a stochastic process in which the distribution of future event depend on the current event</a:t>
            </a:r>
          </a:p>
        </p:txBody>
      </p:sp>
      <p:sp>
        <p:nvSpPr>
          <p:cNvPr id="4" name="Slide Number Placeholder 3"/>
          <p:cNvSpPr>
            <a:spLocks noGrp="1"/>
          </p:cNvSpPr>
          <p:nvPr>
            <p:ph type="sldNum" sz="quarter" idx="5"/>
          </p:nvPr>
        </p:nvSpPr>
        <p:spPr/>
        <p:txBody>
          <a:bodyPr/>
          <a:lstStyle/>
          <a:p>
            <a:fld id="{C46BD077-8C00-475F-A2F0-CDE497701A04}" type="slidenum">
              <a:rPr lang="en-IN" smtClean="0"/>
              <a:t>8</a:t>
            </a:fld>
            <a:endParaRPr lang="en-IN"/>
          </a:p>
        </p:txBody>
      </p:sp>
    </p:spTree>
    <p:extLst>
      <p:ext uri="{BB962C8B-B14F-4D97-AF65-F5344CB8AC3E}">
        <p14:creationId xmlns:p14="http://schemas.microsoft.com/office/powerpoint/2010/main" val="39367056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46BD077-8C00-475F-A2F0-CDE497701A04}" type="slidenum">
              <a:rPr lang="en-IN" smtClean="0"/>
              <a:t>11</a:t>
            </a:fld>
            <a:endParaRPr lang="en-IN"/>
          </a:p>
        </p:txBody>
      </p:sp>
    </p:spTree>
    <p:extLst>
      <p:ext uri="{BB962C8B-B14F-4D97-AF65-F5344CB8AC3E}">
        <p14:creationId xmlns:p14="http://schemas.microsoft.com/office/powerpoint/2010/main" val="7848284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46BD077-8C00-475F-A2F0-CDE497701A04}" type="slidenum">
              <a:rPr lang="en-IN" smtClean="0"/>
              <a:t>13</a:t>
            </a:fld>
            <a:endParaRPr lang="en-IN"/>
          </a:p>
        </p:txBody>
      </p:sp>
    </p:spTree>
    <p:extLst>
      <p:ext uri="{BB962C8B-B14F-4D97-AF65-F5344CB8AC3E}">
        <p14:creationId xmlns:p14="http://schemas.microsoft.com/office/powerpoint/2010/main" val="3394718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46BD077-8C00-475F-A2F0-CDE497701A04}" type="slidenum">
              <a:rPr lang="en-IN" smtClean="0"/>
              <a:t>16</a:t>
            </a:fld>
            <a:endParaRPr lang="en-IN"/>
          </a:p>
        </p:txBody>
      </p:sp>
    </p:spTree>
    <p:extLst>
      <p:ext uri="{BB962C8B-B14F-4D97-AF65-F5344CB8AC3E}">
        <p14:creationId xmlns:p14="http://schemas.microsoft.com/office/powerpoint/2010/main" val="34254055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Statistical model, model generation based upon set of input sequence, Identifies sequences, finite state machines, finites states, machines make transitions between these states.</a:t>
            </a:r>
          </a:p>
          <a:p>
            <a:r>
              <a:rPr lang="en-US" dirty="0"/>
              <a:t>Set of output and input symbols.</a:t>
            </a:r>
          </a:p>
          <a:p>
            <a:r>
              <a:rPr lang="en-IN" dirty="0"/>
              <a:t>Markov property: memory less-consider only one state, current state depends on previous state. Future prediction based on present state. No past no future.</a:t>
            </a:r>
          </a:p>
        </p:txBody>
      </p:sp>
      <p:sp>
        <p:nvSpPr>
          <p:cNvPr id="4" name="Slide Number Placeholder 3"/>
          <p:cNvSpPr>
            <a:spLocks noGrp="1"/>
          </p:cNvSpPr>
          <p:nvPr>
            <p:ph type="sldNum" sz="quarter" idx="5"/>
          </p:nvPr>
        </p:nvSpPr>
        <p:spPr/>
        <p:txBody>
          <a:bodyPr/>
          <a:lstStyle/>
          <a:p>
            <a:fld id="{C46BD077-8C00-475F-A2F0-CDE497701A04}" type="slidenum">
              <a:rPr lang="en-IN" smtClean="0"/>
              <a:t>18</a:t>
            </a:fld>
            <a:endParaRPr lang="en-IN"/>
          </a:p>
        </p:txBody>
      </p:sp>
    </p:spTree>
    <p:extLst>
      <p:ext uri="{BB962C8B-B14F-4D97-AF65-F5344CB8AC3E}">
        <p14:creationId xmlns:p14="http://schemas.microsoft.com/office/powerpoint/2010/main" val="9674720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46BD077-8C00-475F-A2F0-CDE497701A04}" type="slidenum">
              <a:rPr lang="en-IN" smtClean="0"/>
              <a:t>24</a:t>
            </a:fld>
            <a:endParaRPr lang="en-IN"/>
          </a:p>
        </p:txBody>
      </p:sp>
    </p:spTree>
    <p:extLst>
      <p:ext uri="{BB962C8B-B14F-4D97-AF65-F5344CB8AC3E}">
        <p14:creationId xmlns:p14="http://schemas.microsoft.com/office/powerpoint/2010/main" val="20337668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46BD077-8C00-475F-A2F0-CDE497701A04}" type="slidenum">
              <a:rPr lang="en-IN" smtClean="0"/>
              <a:t>36</a:t>
            </a:fld>
            <a:endParaRPr lang="en-IN"/>
          </a:p>
        </p:txBody>
      </p:sp>
    </p:spTree>
    <p:extLst>
      <p:ext uri="{BB962C8B-B14F-4D97-AF65-F5344CB8AC3E}">
        <p14:creationId xmlns:p14="http://schemas.microsoft.com/office/powerpoint/2010/main" val="32370081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3DC5A-2762-4F23-97B6-370DECD7AD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0A3CF8D-2D65-4359-BB1D-0D6C9CBCD2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080C3FC-9EA1-430B-BAD3-2452D05C1757}"/>
              </a:ext>
            </a:extLst>
          </p:cNvPr>
          <p:cNvSpPr>
            <a:spLocks noGrp="1"/>
          </p:cNvSpPr>
          <p:nvPr>
            <p:ph type="dt" sz="half" idx="10"/>
          </p:nvPr>
        </p:nvSpPr>
        <p:spPr/>
        <p:txBody>
          <a:bodyPr/>
          <a:lstStyle/>
          <a:p>
            <a:fld id="{F162157E-4A86-48BB-AB1D-41B62FDE70AE}" type="datetimeFigureOut">
              <a:rPr lang="en-IN" smtClean="0"/>
              <a:t>10-11-2024</a:t>
            </a:fld>
            <a:endParaRPr lang="en-IN"/>
          </a:p>
        </p:txBody>
      </p:sp>
      <p:sp>
        <p:nvSpPr>
          <p:cNvPr id="5" name="Footer Placeholder 4">
            <a:extLst>
              <a:ext uri="{FF2B5EF4-FFF2-40B4-BE49-F238E27FC236}">
                <a16:creationId xmlns:a16="http://schemas.microsoft.com/office/drawing/2014/main" id="{5D78A942-8AC1-4E8F-A880-14ED35A9D3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965D98-3E02-44D7-84B8-4E888D47AA96}"/>
              </a:ext>
            </a:extLst>
          </p:cNvPr>
          <p:cNvSpPr>
            <a:spLocks noGrp="1"/>
          </p:cNvSpPr>
          <p:nvPr>
            <p:ph type="sldNum" sz="quarter" idx="12"/>
          </p:nvPr>
        </p:nvSpPr>
        <p:spPr/>
        <p:txBody>
          <a:bodyPr/>
          <a:lstStyle/>
          <a:p>
            <a:fld id="{6664A4EB-DC7D-4107-8444-19F2414CD2F3}" type="slidenum">
              <a:rPr lang="en-IN" smtClean="0"/>
              <a:t>‹#›</a:t>
            </a:fld>
            <a:endParaRPr lang="en-IN"/>
          </a:p>
        </p:txBody>
      </p:sp>
    </p:spTree>
    <p:extLst>
      <p:ext uri="{BB962C8B-B14F-4D97-AF65-F5344CB8AC3E}">
        <p14:creationId xmlns:p14="http://schemas.microsoft.com/office/powerpoint/2010/main" val="8987503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972F7-4CA3-4792-A243-7186AF46A81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875075E-7846-4417-8A89-3AA066DBA3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079B14-3413-45AC-A875-8F77AAC623EF}"/>
              </a:ext>
            </a:extLst>
          </p:cNvPr>
          <p:cNvSpPr>
            <a:spLocks noGrp="1"/>
          </p:cNvSpPr>
          <p:nvPr>
            <p:ph type="dt" sz="half" idx="10"/>
          </p:nvPr>
        </p:nvSpPr>
        <p:spPr/>
        <p:txBody>
          <a:bodyPr/>
          <a:lstStyle/>
          <a:p>
            <a:fld id="{F162157E-4A86-48BB-AB1D-41B62FDE70AE}" type="datetimeFigureOut">
              <a:rPr lang="en-IN" smtClean="0"/>
              <a:t>10-11-2024</a:t>
            </a:fld>
            <a:endParaRPr lang="en-IN"/>
          </a:p>
        </p:txBody>
      </p:sp>
      <p:sp>
        <p:nvSpPr>
          <p:cNvPr id="5" name="Footer Placeholder 4">
            <a:extLst>
              <a:ext uri="{FF2B5EF4-FFF2-40B4-BE49-F238E27FC236}">
                <a16:creationId xmlns:a16="http://schemas.microsoft.com/office/drawing/2014/main" id="{EDE0B765-52DC-439A-8477-F8826683B3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3DF6EF-D770-4123-B9EB-885415A39992}"/>
              </a:ext>
            </a:extLst>
          </p:cNvPr>
          <p:cNvSpPr>
            <a:spLocks noGrp="1"/>
          </p:cNvSpPr>
          <p:nvPr>
            <p:ph type="sldNum" sz="quarter" idx="12"/>
          </p:nvPr>
        </p:nvSpPr>
        <p:spPr/>
        <p:txBody>
          <a:bodyPr/>
          <a:lstStyle/>
          <a:p>
            <a:fld id="{6664A4EB-DC7D-4107-8444-19F2414CD2F3}" type="slidenum">
              <a:rPr lang="en-IN" smtClean="0"/>
              <a:t>‹#›</a:t>
            </a:fld>
            <a:endParaRPr lang="en-IN"/>
          </a:p>
        </p:txBody>
      </p:sp>
    </p:spTree>
    <p:extLst>
      <p:ext uri="{BB962C8B-B14F-4D97-AF65-F5344CB8AC3E}">
        <p14:creationId xmlns:p14="http://schemas.microsoft.com/office/powerpoint/2010/main" val="668193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51085-FBF1-41E8-A58D-5E7FD19165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E0DE42A-8526-46EB-8BC9-5F8E41C903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F79CFF-C241-4F17-A7C1-84790484F34C}"/>
              </a:ext>
            </a:extLst>
          </p:cNvPr>
          <p:cNvSpPr>
            <a:spLocks noGrp="1"/>
          </p:cNvSpPr>
          <p:nvPr>
            <p:ph type="dt" sz="half" idx="10"/>
          </p:nvPr>
        </p:nvSpPr>
        <p:spPr/>
        <p:txBody>
          <a:bodyPr/>
          <a:lstStyle/>
          <a:p>
            <a:fld id="{F162157E-4A86-48BB-AB1D-41B62FDE70AE}" type="datetimeFigureOut">
              <a:rPr lang="en-IN" smtClean="0"/>
              <a:t>10-11-2024</a:t>
            </a:fld>
            <a:endParaRPr lang="en-IN"/>
          </a:p>
        </p:txBody>
      </p:sp>
      <p:sp>
        <p:nvSpPr>
          <p:cNvPr id="5" name="Footer Placeholder 4">
            <a:extLst>
              <a:ext uri="{FF2B5EF4-FFF2-40B4-BE49-F238E27FC236}">
                <a16:creationId xmlns:a16="http://schemas.microsoft.com/office/drawing/2014/main" id="{601402A7-3FB4-4707-92F3-CBD1DC7793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3AAA8A-7D1A-413B-9CA0-3E34D86052FC}"/>
              </a:ext>
            </a:extLst>
          </p:cNvPr>
          <p:cNvSpPr>
            <a:spLocks noGrp="1"/>
          </p:cNvSpPr>
          <p:nvPr>
            <p:ph type="sldNum" sz="quarter" idx="12"/>
          </p:nvPr>
        </p:nvSpPr>
        <p:spPr/>
        <p:txBody>
          <a:bodyPr/>
          <a:lstStyle/>
          <a:p>
            <a:fld id="{6664A4EB-DC7D-4107-8444-19F2414CD2F3}" type="slidenum">
              <a:rPr lang="en-IN" smtClean="0"/>
              <a:t>‹#›</a:t>
            </a:fld>
            <a:endParaRPr lang="en-IN"/>
          </a:p>
        </p:txBody>
      </p:sp>
    </p:spTree>
    <p:extLst>
      <p:ext uri="{BB962C8B-B14F-4D97-AF65-F5344CB8AC3E}">
        <p14:creationId xmlns:p14="http://schemas.microsoft.com/office/powerpoint/2010/main" val="38051573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E658E-1B85-44CB-8F39-42CAC2465FE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B0EDDBE-9CE6-4057-8A3B-2CCC781CCC8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69F3C22-C17B-4F49-A4E5-0F31AA76EA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1BBBBC1-F165-4F8E-8969-150D7EA4F9C4}"/>
              </a:ext>
            </a:extLst>
          </p:cNvPr>
          <p:cNvSpPr>
            <a:spLocks noGrp="1"/>
          </p:cNvSpPr>
          <p:nvPr>
            <p:ph type="dt" sz="half" idx="10"/>
          </p:nvPr>
        </p:nvSpPr>
        <p:spPr/>
        <p:txBody>
          <a:bodyPr/>
          <a:lstStyle/>
          <a:p>
            <a:fld id="{F162157E-4A86-48BB-AB1D-41B62FDE70AE}" type="datetimeFigureOut">
              <a:rPr lang="en-IN" smtClean="0"/>
              <a:t>10-11-2024</a:t>
            </a:fld>
            <a:endParaRPr lang="en-IN"/>
          </a:p>
        </p:txBody>
      </p:sp>
      <p:sp>
        <p:nvSpPr>
          <p:cNvPr id="6" name="Footer Placeholder 5">
            <a:extLst>
              <a:ext uri="{FF2B5EF4-FFF2-40B4-BE49-F238E27FC236}">
                <a16:creationId xmlns:a16="http://schemas.microsoft.com/office/drawing/2014/main" id="{F4C39F64-53D0-422F-8BDD-5DBE1392B23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4BF028A-B527-4815-A777-C78346468DDD}"/>
              </a:ext>
            </a:extLst>
          </p:cNvPr>
          <p:cNvSpPr>
            <a:spLocks noGrp="1"/>
          </p:cNvSpPr>
          <p:nvPr>
            <p:ph type="sldNum" sz="quarter" idx="12"/>
          </p:nvPr>
        </p:nvSpPr>
        <p:spPr/>
        <p:txBody>
          <a:bodyPr/>
          <a:lstStyle/>
          <a:p>
            <a:fld id="{6664A4EB-DC7D-4107-8444-19F2414CD2F3}" type="slidenum">
              <a:rPr lang="en-IN" smtClean="0"/>
              <a:t>‹#›</a:t>
            </a:fld>
            <a:endParaRPr lang="en-IN"/>
          </a:p>
        </p:txBody>
      </p:sp>
    </p:spTree>
    <p:extLst>
      <p:ext uri="{BB962C8B-B14F-4D97-AF65-F5344CB8AC3E}">
        <p14:creationId xmlns:p14="http://schemas.microsoft.com/office/powerpoint/2010/main" val="757307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03BAB-C6B6-4AC2-B450-921FEBEB524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D850A0B-DFCA-4E1E-AEE9-7E843BC4DA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E2A48C-9824-4393-AFF8-079F4CDF49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00CC2E4-27A0-4B29-AAC0-6ADC28732C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61B95B-DAA9-4DF0-B2E9-B406E872EA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D760F5A-E6EC-4222-ADE2-0855B0D5500A}"/>
              </a:ext>
            </a:extLst>
          </p:cNvPr>
          <p:cNvSpPr>
            <a:spLocks noGrp="1"/>
          </p:cNvSpPr>
          <p:nvPr>
            <p:ph type="dt" sz="half" idx="10"/>
          </p:nvPr>
        </p:nvSpPr>
        <p:spPr/>
        <p:txBody>
          <a:bodyPr/>
          <a:lstStyle/>
          <a:p>
            <a:fld id="{F162157E-4A86-48BB-AB1D-41B62FDE70AE}" type="datetimeFigureOut">
              <a:rPr lang="en-IN" smtClean="0"/>
              <a:t>10-11-2024</a:t>
            </a:fld>
            <a:endParaRPr lang="en-IN"/>
          </a:p>
        </p:txBody>
      </p:sp>
      <p:sp>
        <p:nvSpPr>
          <p:cNvPr id="8" name="Footer Placeholder 7">
            <a:extLst>
              <a:ext uri="{FF2B5EF4-FFF2-40B4-BE49-F238E27FC236}">
                <a16:creationId xmlns:a16="http://schemas.microsoft.com/office/drawing/2014/main" id="{B99E0B40-B911-49B2-BBB6-DB8D2541A9C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E17AA90-2A45-4A10-A215-13C8DA96A973}"/>
              </a:ext>
            </a:extLst>
          </p:cNvPr>
          <p:cNvSpPr>
            <a:spLocks noGrp="1"/>
          </p:cNvSpPr>
          <p:nvPr>
            <p:ph type="sldNum" sz="quarter" idx="12"/>
          </p:nvPr>
        </p:nvSpPr>
        <p:spPr/>
        <p:txBody>
          <a:bodyPr/>
          <a:lstStyle/>
          <a:p>
            <a:fld id="{6664A4EB-DC7D-4107-8444-19F2414CD2F3}" type="slidenum">
              <a:rPr lang="en-IN" smtClean="0"/>
              <a:t>‹#›</a:t>
            </a:fld>
            <a:endParaRPr lang="en-IN"/>
          </a:p>
        </p:txBody>
      </p:sp>
    </p:spTree>
    <p:extLst>
      <p:ext uri="{BB962C8B-B14F-4D97-AF65-F5344CB8AC3E}">
        <p14:creationId xmlns:p14="http://schemas.microsoft.com/office/powerpoint/2010/main" val="16876233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BD563-A550-4A32-B168-D619789837E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4F128BF-3C11-4241-9D87-A16FDB17B85C}"/>
              </a:ext>
            </a:extLst>
          </p:cNvPr>
          <p:cNvSpPr>
            <a:spLocks noGrp="1"/>
          </p:cNvSpPr>
          <p:nvPr>
            <p:ph type="dt" sz="half" idx="10"/>
          </p:nvPr>
        </p:nvSpPr>
        <p:spPr/>
        <p:txBody>
          <a:bodyPr/>
          <a:lstStyle/>
          <a:p>
            <a:fld id="{F162157E-4A86-48BB-AB1D-41B62FDE70AE}" type="datetimeFigureOut">
              <a:rPr lang="en-IN" smtClean="0"/>
              <a:t>10-11-2024</a:t>
            </a:fld>
            <a:endParaRPr lang="en-IN"/>
          </a:p>
        </p:txBody>
      </p:sp>
      <p:sp>
        <p:nvSpPr>
          <p:cNvPr id="4" name="Footer Placeholder 3">
            <a:extLst>
              <a:ext uri="{FF2B5EF4-FFF2-40B4-BE49-F238E27FC236}">
                <a16:creationId xmlns:a16="http://schemas.microsoft.com/office/drawing/2014/main" id="{00AE2796-E3A3-4FEB-9E7D-846691CFDE4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2EDC48D-107E-459A-BDFE-375B57F513BA}"/>
              </a:ext>
            </a:extLst>
          </p:cNvPr>
          <p:cNvSpPr>
            <a:spLocks noGrp="1"/>
          </p:cNvSpPr>
          <p:nvPr>
            <p:ph type="sldNum" sz="quarter" idx="12"/>
          </p:nvPr>
        </p:nvSpPr>
        <p:spPr/>
        <p:txBody>
          <a:bodyPr/>
          <a:lstStyle/>
          <a:p>
            <a:fld id="{6664A4EB-DC7D-4107-8444-19F2414CD2F3}" type="slidenum">
              <a:rPr lang="en-IN" smtClean="0"/>
              <a:t>‹#›</a:t>
            </a:fld>
            <a:endParaRPr lang="en-IN"/>
          </a:p>
        </p:txBody>
      </p:sp>
    </p:spTree>
    <p:extLst>
      <p:ext uri="{BB962C8B-B14F-4D97-AF65-F5344CB8AC3E}">
        <p14:creationId xmlns:p14="http://schemas.microsoft.com/office/powerpoint/2010/main" val="34121581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6C1DCA-6AA4-46CF-8654-A3DD21E4B137}"/>
              </a:ext>
            </a:extLst>
          </p:cNvPr>
          <p:cNvSpPr>
            <a:spLocks noGrp="1"/>
          </p:cNvSpPr>
          <p:nvPr>
            <p:ph type="dt" sz="half" idx="10"/>
          </p:nvPr>
        </p:nvSpPr>
        <p:spPr/>
        <p:txBody>
          <a:bodyPr/>
          <a:lstStyle/>
          <a:p>
            <a:fld id="{F162157E-4A86-48BB-AB1D-41B62FDE70AE}" type="datetimeFigureOut">
              <a:rPr lang="en-IN" smtClean="0"/>
              <a:t>10-11-2024</a:t>
            </a:fld>
            <a:endParaRPr lang="en-IN"/>
          </a:p>
        </p:txBody>
      </p:sp>
      <p:sp>
        <p:nvSpPr>
          <p:cNvPr id="3" name="Footer Placeholder 2">
            <a:extLst>
              <a:ext uri="{FF2B5EF4-FFF2-40B4-BE49-F238E27FC236}">
                <a16:creationId xmlns:a16="http://schemas.microsoft.com/office/drawing/2014/main" id="{359E90E6-3E01-4ECE-914F-5BE9A3C38BD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010531D-9994-4899-854B-77341A4D3A17}"/>
              </a:ext>
            </a:extLst>
          </p:cNvPr>
          <p:cNvSpPr>
            <a:spLocks noGrp="1"/>
          </p:cNvSpPr>
          <p:nvPr>
            <p:ph type="sldNum" sz="quarter" idx="12"/>
          </p:nvPr>
        </p:nvSpPr>
        <p:spPr/>
        <p:txBody>
          <a:bodyPr/>
          <a:lstStyle/>
          <a:p>
            <a:fld id="{6664A4EB-DC7D-4107-8444-19F2414CD2F3}" type="slidenum">
              <a:rPr lang="en-IN" smtClean="0"/>
              <a:t>‹#›</a:t>
            </a:fld>
            <a:endParaRPr lang="en-IN"/>
          </a:p>
        </p:txBody>
      </p:sp>
    </p:spTree>
    <p:extLst>
      <p:ext uri="{BB962C8B-B14F-4D97-AF65-F5344CB8AC3E}">
        <p14:creationId xmlns:p14="http://schemas.microsoft.com/office/powerpoint/2010/main" val="3994384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1F223-E738-498C-811C-7F32945D5F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3DB85C9-EBC0-49D0-880E-5BB366BDBB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B8C77D2-DA5A-4CD6-B826-3412BEFB7F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51D749-8135-4FCD-85BE-6CBCBD2C0DD1}"/>
              </a:ext>
            </a:extLst>
          </p:cNvPr>
          <p:cNvSpPr>
            <a:spLocks noGrp="1"/>
          </p:cNvSpPr>
          <p:nvPr>
            <p:ph type="dt" sz="half" idx="10"/>
          </p:nvPr>
        </p:nvSpPr>
        <p:spPr/>
        <p:txBody>
          <a:bodyPr/>
          <a:lstStyle/>
          <a:p>
            <a:fld id="{F162157E-4A86-48BB-AB1D-41B62FDE70AE}" type="datetimeFigureOut">
              <a:rPr lang="en-IN" smtClean="0"/>
              <a:t>10-11-2024</a:t>
            </a:fld>
            <a:endParaRPr lang="en-IN"/>
          </a:p>
        </p:txBody>
      </p:sp>
      <p:sp>
        <p:nvSpPr>
          <p:cNvPr id="6" name="Footer Placeholder 5">
            <a:extLst>
              <a:ext uri="{FF2B5EF4-FFF2-40B4-BE49-F238E27FC236}">
                <a16:creationId xmlns:a16="http://schemas.microsoft.com/office/drawing/2014/main" id="{37C1A8AF-8174-46F7-BE00-CF6377391E0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484A80C-20CD-4E53-87D2-095091335B15}"/>
              </a:ext>
            </a:extLst>
          </p:cNvPr>
          <p:cNvSpPr>
            <a:spLocks noGrp="1"/>
          </p:cNvSpPr>
          <p:nvPr>
            <p:ph type="sldNum" sz="quarter" idx="12"/>
          </p:nvPr>
        </p:nvSpPr>
        <p:spPr/>
        <p:txBody>
          <a:bodyPr/>
          <a:lstStyle/>
          <a:p>
            <a:fld id="{6664A4EB-DC7D-4107-8444-19F2414CD2F3}" type="slidenum">
              <a:rPr lang="en-IN" smtClean="0"/>
              <a:t>‹#›</a:t>
            </a:fld>
            <a:endParaRPr lang="en-IN"/>
          </a:p>
        </p:txBody>
      </p:sp>
    </p:spTree>
    <p:extLst>
      <p:ext uri="{BB962C8B-B14F-4D97-AF65-F5344CB8AC3E}">
        <p14:creationId xmlns:p14="http://schemas.microsoft.com/office/powerpoint/2010/main" val="30130553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A3AEC-DD91-4BCC-8FFF-AB70EE5EEA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8DCE259-2EB9-4C09-BE36-93E7F5958D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B9DCC1E-FB17-4F29-B451-0A9E82779B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2392E7-C287-466F-A142-7CA3F52C5110}"/>
              </a:ext>
            </a:extLst>
          </p:cNvPr>
          <p:cNvSpPr>
            <a:spLocks noGrp="1"/>
          </p:cNvSpPr>
          <p:nvPr>
            <p:ph type="dt" sz="half" idx="10"/>
          </p:nvPr>
        </p:nvSpPr>
        <p:spPr/>
        <p:txBody>
          <a:bodyPr/>
          <a:lstStyle/>
          <a:p>
            <a:fld id="{F162157E-4A86-48BB-AB1D-41B62FDE70AE}" type="datetimeFigureOut">
              <a:rPr lang="en-IN" smtClean="0"/>
              <a:t>10-11-2024</a:t>
            </a:fld>
            <a:endParaRPr lang="en-IN"/>
          </a:p>
        </p:txBody>
      </p:sp>
      <p:sp>
        <p:nvSpPr>
          <p:cNvPr id="6" name="Footer Placeholder 5">
            <a:extLst>
              <a:ext uri="{FF2B5EF4-FFF2-40B4-BE49-F238E27FC236}">
                <a16:creationId xmlns:a16="http://schemas.microsoft.com/office/drawing/2014/main" id="{23777344-2582-41CE-9963-69AC476DEC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7970B5-6615-4E06-A9C1-A01096828C00}"/>
              </a:ext>
            </a:extLst>
          </p:cNvPr>
          <p:cNvSpPr>
            <a:spLocks noGrp="1"/>
          </p:cNvSpPr>
          <p:nvPr>
            <p:ph type="sldNum" sz="quarter" idx="12"/>
          </p:nvPr>
        </p:nvSpPr>
        <p:spPr/>
        <p:txBody>
          <a:bodyPr/>
          <a:lstStyle/>
          <a:p>
            <a:fld id="{6664A4EB-DC7D-4107-8444-19F2414CD2F3}" type="slidenum">
              <a:rPr lang="en-IN" smtClean="0"/>
              <a:t>‹#›</a:t>
            </a:fld>
            <a:endParaRPr lang="en-IN"/>
          </a:p>
        </p:txBody>
      </p:sp>
    </p:spTree>
    <p:extLst>
      <p:ext uri="{BB962C8B-B14F-4D97-AF65-F5344CB8AC3E}">
        <p14:creationId xmlns:p14="http://schemas.microsoft.com/office/powerpoint/2010/main" val="1288448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AF76A-A6D7-449B-B665-7B9C5453D37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2340D31-A07B-4BD6-A9A6-41B36FC47D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51E005-3AC4-4B65-B7B6-7CE4F43C495F}"/>
              </a:ext>
            </a:extLst>
          </p:cNvPr>
          <p:cNvSpPr>
            <a:spLocks noGrp="1"/>
          </p:cNvSpPr>
          <p:nvPr>
            <p:ph type="dt" sz="half" idx="10"/>
          </p:nvPr>
        </p:nvSpPr>
        <p:spPr/>
        <p:txBody>
          <a:bodyPr/>
          <a:lstStyle/>
          <a:p>
            <a:fld id="{F162157E-4A86-48BB-AB1D-41B62FDE70AE}" type="datetimeFigureOut">
              <a:rPr lang="en-IN" smtClean="0"/>
              <a:t>10-11-2024</a:t>
            </a:fld>
            <a:endParaRPr lang="en-IN"/>
          </a:p>
        </p:txBody>
      </p:sp>
      <p:sp>
        <p:nvSpPr>
          <p:cNvPr id="5" name="Footer Placeholder 4">
            <a:extLst>
              <a:ext uri="{FF2B5EF4-FFF2-40B4-BE49-F238E27FC236}">
                <a16:creationId xmlns:a16="http://schemas.microsoft.com/office/drawing/2014/main" id="{78962CA4-4B16-41F1-AF8C-3BACF23521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B7AC3C-FFF9-44DD-B20B-094722ADA590}"/>
              </a:ext>
            </a:extLst>
          </p:cNvPr>
          <p:cNvSpPr>
            <a:spLocks noGrp="1"/>
          </p:cNvSpPr>
          <p:nvPr>
            <p:ph type="sldNum" sz="quarter" idx="12"/>
          </p:nvPr>
        </p:nvSpPr>
        <p:spPr/>
        <p:txBody>
          <a:bodyPr/>
          <a:lstStyle/>
          <a:p>
            <a:fld id="{6664A4EB-DC7D-4107-8444-19F2414CD2F3}" type="slidenum">
              <a:rPr lang="en-IN" smtClean="0"/>
              <a:t>‹#›</a:t>
            </a:fld>
            <a:endParaRPr lang="en-IN"/>
          </a:p>
        </p:txBody>
      </p:sp>
    </p:spTree>
    <p:extLst>
      <p:ext uri="{BB962C8B-B14F-4D97-AF65-F5344CB8AC3E}">
        <p14:creationId xmlns:p14="http://schemas.microsoft.com/office/powerpoint/2010/main" val="2236687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FA6298-651D-48D5-9905-584CD97AE8A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9B54456-DC8B-45BF-BC2B-F9793F03F5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C9DD48-0C04-4DED-B96A-DF3FA449D37B}"/>
              </a:ext>
            </a:extLst>
          </p:cNvPr>
          <p:cNvSpPr>
            <a:spLocks noGrp="1"/>
          </p:cNvSpPr>
          <p:nvPr>
            <p:ph type="dt" sz="half" idx="10"/>
          </p:nvPr>
        </p:nvSpPr>
        <p:spPr/>
        <p:txBody>
          <a:bodyPr/>
          <a:lstStyle/>
          <a:p>
            <a:fld id="{F162157E-4A86-48BB-AB1D-41B62FDE70AE}" type="datetimeFigureOut">
              <a:rPr lang="en-IN" smtClean="0"/>
              <a:t>10-11-2024</a:t>
            </a:fld>
            <a:endParaRPr lang="en-IN"/>
          </a:p>
        </p:txBody>
      </p:sp>
      <p:sp>
        <p:nvSpPr>
          <p:cNvPr id="5" name="Footer Placeholder 4">
            <a:extLst>
              <a:ext uri="{FF2B5EF4-FFF2-40B4-BE49-F238E27FC236}">
                <a16:creationId xmlns:a16="http://schemas.microsoft.com/office/drawing/2014/main" id="{94ADB7EF-C0D3-45D4-86D1-945E75E930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5599DE-F4D3-4496-B94C-8145B44D9F88}"/>
              </a:ext>
            </a:extLst>
          </p:cNvPr>
          <p:cNvSpPr>
            <a:spLocks noGrp="1"/>
          </p:cNvSpPr>
          <p:nvPr>
            <p:ph type="sldNum" sz="quarter" idx="12"/>
          </p:nvPr>
        </p:nvSpPr>
        <p:spPr/>
        <p:txBody>
          <a:bodyPr/>
          <a:lstStyle/>
          <a:p>
            <a:fld id="{6664A4EB-DC7D-4107-8444-19F2414CD2F3}" type="slidenum">
              <a:rPr lang="en-IN" smtClean="0"/>
              <a:t>‹#›</a:t>
            </a:fld>
            <a:endParaRPr lang="en-IN"/>
          </a:p>
        </p:txBody>
      </p:sp>
    </p:spTree>
    <p:extLst>
      <p:ext uri="{BB962C8B-B14F-4D97-AF65-F5344CB8AC3E}">
        <p14:creationId xmlns:p14="http://schemas.microsoft.com/office/powerpoint/2010/main" val="3804039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B50F43-46A1-4AD0-BA2E-F527EC7DAE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BCDCDD8-D86A-452A-8896-2DDBE14C0B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3AAB61-FBC8-42AA-9B13-C4802C0FEF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62157E-4A86-48BB-AB1D-41B62FDE70AE}" type="datetimeFigureOut">
              <a:rPr lang="en-IN" smtClean="0"/>
              <a:t>10-11-2024</a:t>
            </a:fld>
            <a:endParaRPr lang="en-IN"/>
          </a:p>
        </p:txBody>
      </p:sp>
      <p:sp>
        <p:nvSpPr>
          <p:cNvPr id="5" name="Footer Placeholder 4">
            <a:extLst>
              <a:ext uri="{FF2B5EF4-FFF2-40B4-BE49-F238E27FC236}">
                <a16:creationId xmlns:a16="http://schemas.microsoft.com/office/drawing/2014/main" id="{70C6935A-2995-4037-9A0D-0C30657779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578BA55-CBB4-474C-B72F-5F1236EAA5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64A4EB-DC7D-4107-8444-19F2414CD2F3}" type="slidenum">
              <a:rPr lang="en-IN" smtClean="0"/>
              <a:t>‹#›</a:t>
            </a:fld>
            <a:endParaRPr lang="en-IN"/>
          </a:p>
        </p:txBody>
      </p:sp>
    </p:spTree>
    <p:extLst>
      <p:ext uri="{BB962C8B-B14F-4D97-AF65-F5344CB8AC3E}">
        <p14:creationId xmlns:p14="http://schemas.microsoft.com/office/powerpoint/2010/main" val="18736132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hyperlink" Target="https://www.youtube.com/watch?v=F5Wrn_UX4L8&amp;t=1102s"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ECA46-BB76-45C9-9170-B80CFA30537D}"/>
              </a:ext>
            </a:extLst>
          </p:cNvPr>
          <p:cNvSpPr>
            <a:spLocks noGrp="1"/>
          </p:cNvSpPr>
          <p:nvPr>
            <p:ph type="ctrTitle"/>
          </p:nvPr>
        </p:nvSpPr>
        <p:spPr/>
        <p:txBody>
          <a:bodyPr/>
          <a:lstStyle/>
          <a:p>
            <a:r>
              <a:rPr lang="en-IN" b="0" i="0" dirty="0">
                <a:effectLst/>
                <a:latin typeface="Roboto" panose="02000000000000000000" pitchFamily="2" charset="0"/>
              </a:rPr>
              <a:t>Hidden Markov Model</a:t>
            </a:r>
            <a:br>
              <a:rPr lang="en-IN" b="0" i="0" dirty="0">
                <a:effectLst/>
                <a:latin typeface="Roboto" panose="02000000000000000000" pitchFamily="2" charset="0"/>
              </a:rPr>
            </a:br>
            <a:endParaRPr lang="en-IN" dirty="0"/>
          </a:p>
        </p:txBody>
      </p:sp>
      <p:sp>
        <p:nvSpPr>
          <p:cNvPr id="3" name="Subtitle 2">
            <a:extLst>
              <a:ext uri="{FF2B5EF4-FFF2-40B4-BE49-F238E27FC236}">
                <a16:creationId xmlns:a16="http://schemas.microsoft.com/office/drawing/2014/main" id="{9DEBB761-AF3F-4C30-B498-B6D450B7F677}"/>
              </a:ext>
            </a:extLst>
          </p:cNvPr>
          <p:cNvSpPr>
            <a:spLocks noGrp="1"/>
          </p:cNvSpPr>
          <p:nvPr>
            <p:ph type="subTitle" idx="1"/>
          </p:nvPr>
        </p:nvSpPr>
        <p:spPr/>
        <p:txBody>
          <a:bodyPr>
            <a:normAutofit/>
          </a:bodyPr>
          <a:lstStyle/>
          <a:p>
            <a:r>
              <a:rPr lang="en-US" sz="3200" dirty="0"/>
              <a:t>HMM</a:t>
            </a:r>
            <a:endParaRPr lang="en-IN" sz="3200" dirty="0"/>
          </a:p>
        </p:txBody>
      </p:sp>
    </p:spTree>
    <p:extLst>
      <p:ext uri="{BB962C8B-B14F-4D97-AF65-F5344CB8AC3E}">
        <p14:creationId xmlns:p14="http://schemas.microsoft.com/office/powerpoint/2010/main" val="22658230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0DBBD-ABAC-480E-8A7D-F75485BA637F}"/>
              </a:ext>
            </a:extLst>
          </p:cNvPr>
          <p:cNvSpPr>
            <a:spLocks noGrp="1"/>
          </p:cNvSpPr>
          <p:nvPr>
            <p:ph type="title"/>
          </p:nvPr>
        </p:nvSpPr>
        <p:spPr/>
        <p:txBody>
          <a:bodyPr/>
          <a:lstStyle/>
          <a:p>
            <a:r>
              <a:rPr lang="en-IN" b="0" i="0" dirty="0">
                <a:solidFill>
                  <a:srgbClr val="292929"/>
                </a:solidFill>
                <a:effectLst/>
                <a:latin typeface="sohne"/>
              </a:rPr>
              <a:t>Intuition behind HMMs</a:t>
            </a:r>
            <a:br>
              <a:rPr lang="en-IN" b="0" i="0" dirty="0">
                <a:solidFill>
                  <a:srgbClr val="292929"/>
                </a:solidFill>
                <a:effectLst/>
                <a:latin typeface="sohne"/>
              </a:rPr>
            </a:br>
            <a:endParaRPr lang="en-IN" dirty="0"/>
          </a:p>
        </p:txBody>
      </p:sp>
      <p:sp>
        <p:nvSpPr>
          <p:cNvPr id="3" name="Content Placeholder 2">
            <a:extLst>
              <a:ext uri="{FF2B5EF4-FFF2-40B4-BE49-F238E27FC236}">
                <a16:creationId xmlns:a16="http://schemas.microsoft.com/office/drawing/2014/main" id="{2774F7C0-0958-403C-993E-0A1A9718EFFE}"/>
              </a:ext>
            </a:extLst>
          </p:cNvPr>
          <p:cNvSpPr>
            <a:spLocks noGrp="1"/>
          </p:cNvSpPr>
          <p:nvPr>
            <p:ph idx="1"/>
          </p:nvPr>
        </p:nvSpPr>
        <p:spPr/>
        <p:txBody>
          <a:bodyPr>
            <a:normAutofit fontScale="85000" lnSpcReduction="20000"/>
          </a:bodyPr>
          <a:lstStyle/>
          <a:p>
            <a:pPr algn="just"/>
            <a:r>
              <a:rPr lang="en-US" dirty="0"/>
              <a:t>HMMs are </a:t>
            </a:r>
            <a:r>
              <a:rPr lang="en-US" dirty="0">
                <a:solidFill>
                  <a:srgbClr val="C00000"/>
                </a:solidFill>
              </a:rPr>
              <a:t>probabilistic models and a graphical model</a:t>
            </a:r>
            <a:r>
              <a:rPr lang="en-US" dirty="0"/>
              <a:t>. </a:t>
            </a:r>
          </a:p>
          <a:p>
            <a:pPr algn="just"/>
            <a:r>
              <a:rPr lang="en-US" dirty="0"/>
              <a:t>It help is to predict  sequence of unknown variables from a set of observed variables</a:t>
            </a:r>
          </a:p>
          <a:p>
            <a:pPr algn="just"/>
            <a:r>
              <a:rPr lang="en-US" dirty="0"/>
              <a:t>They allow us to compute the </a:t>
            </a:r>
            <a:r>
              <a:rPr lang="en-US" dirty="0">
                <a:solidFill>
                  <a:srgbClr val="C00000"/>
                </a:solidFill>
              </a:rPr>
              <a:t>joint probability of a set of hidden states given a set of observed states.</a:t>
            </a:r>
            <a:r>
              <a:rPr lang="en-US" dirty="0"/>
              <a:t> The hidden states are also referred to as latent states. Once we know the joint probability of a sequence of hidden states, we determine the best possible sequence i.e. the sequence with the highest probability and choose that sequence as the best sequence of hidden states.</a:t>
            </a:r>
          </a:p>
          <a:p>
            <a:pPr algn="just"/>
            <a:r>
              <a:rPr lang="en-US" dirty="0"/>
              <a:t>In order to compute the joint probability of a sequence of hidden states, we need to assemble three types of information which the </a:t>
            </a:r>
            <a:r>
              <a:rPr lang="en-US" dirty="0">
                <a:solidFill>
                  <a:srgbClr val="C00000"/>
                </a:solidFill>
              </a:rPr>
              <a:t>transition data, emission data and initial probabilities.</a:t>
            </a:r>
          </a:p>
          <a:p>
            <a:pPr algn="just"/>
            <a:r>
              <a:rPr lang="en-US" dirty="0"/>
              <a:t>Generally, the term “states” are used to refer to the hidden states and “observations” are used to refer to the observed states.</a:t>
            </a:r>
            <a:endParaRPr lang="en-IN" dirty="0"/>
          </a:p>
        </p:txBody>
      </p:sp>
    </p:spTree>
    <p:extLst>
      <p:ext uri="{BB962C8B-B14F-4D97-AF65-F5344CB8AC3E}">
        <p14:creationId xmlns:p14="http://schemas.microsoft.com/office/powerpoint/2010/main" val="1388649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CEC3D-9CD2-487B-80E5-077983D1C07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E96DD74-5E25-413B-A6E3-A8F87317CE72}"/>
              </a:ext>
            </a:extLst>
          </p:cNvPr>
          <p:cNvSpPr>
            <a:spLocks noGrp="1"/>
          </p:cNvSpPr>
          <p:nvPr>
            <p:ph idx="1"/>
          </p:nvPr>
        </p:nvSpPr>
        <p:spPr/>
        <p:txBody>
          <a:bodyPr>
            <a:normAutofit fontScale="70000" lnSpcReduction="20000"/>
          </a:bodyPr>
          <a:lstStyle/>
          <a:p>
            <a:pPr marL="0" indent="0" algn="l" fontAlgn="base">
              <a:buNone/>
            </a:pPr>
            <a:r>
              <a:rPr lang="en-US" b="1" i="0" dirty="0">
                <a:solidFill>
                  <a:srgbClr val="C00000"/>
                </a:solidFill>
                <a:effectLst/>
                <a:latin typeface="inherit"/>
              </a:rPr>
              <a:t>Advantages</a:t>
            </a:r>
            <a:endParaRPr lang="en-US" b="0" i="0" dirty="0">
              <a:solidFill>
                <a:srgbClr val="C00000"/>
              </a:solidFill>
              <a:effectLst/>
              <a:latin typeface="Lato" panose="020F0502020204030203" pitchFamily="34" charset="0"/>
            </a:endParaRPr>
          </a:p>
          <a:p>
            <a:pPr algn="l" fontAlgn="base">
              <a:buFont typeface="Arial" panose="020B0604020202020204" pitchFamily="34" charset="0"/>
              <a:buChar char="•"/>
            </a:pPr>
            <a:r>
              <a:rPr lang="en-US" b="0" i="0" dirty="0">
                <a:solidFill>
                  <a:srgbClr val="323C3E"/>
                </a:solidFill>
                <a:effectLst/>
                <a:latin typeface="inherit"/>
              </a:rPr>
              <a:t>HMM is an analyzed probabilistic graphical model. The algorithms applied in this model are studied for approximate learning and conclusion.</a:t>
            </a:r>
          </a:p>
          <a:p>
            <a:pPr algn="l" fontAlgn="base">
              <a:buFont typeface="Arial" panose="020B0604020202020204" pitchFamily="34" charset="0"/>
              <a:buChar char="•"/>
            </a:pPr>
            <a:r>
              <a:rPr lang="en-US" b="0" i="0" dirty="0">
                <a:solidFill>
                  <a:srgbClr val="323C3E"/>
                </a:solidFill>
                <a:effectLst/>
                <a:latin typeface="inherit"/>
              </a:rPr>
              <a:t>Hidden Markov Models (HMM) are said to acquire the contingency between successive measurements, as defined in the switch continuity principle.</a:t>
            </a:r>
          </a:p>
          <a:p>
            <a:pPr algn="l" fontAlgn="base">
              <a:buFont typeface="Arial" panose="020B0604020202020204" pitchFamily="34" charset="0"/>
              <a:buChar char="•"/>
            </a:pPr>
            <a:r>
              <a:rPr lang="en-US" b="0" i="0" dirty="0">
                <a:solidFill>
                  <a:srgbClr val="323C3E"/>
                </a:solidFill>
                <a:effectLst/>
                <a:latin typeface="inherit"/>
              </a:rPr>
              <a:t>HMMs represent the variance of appliances’ power demands via probability distributions.</a:t>
            </a:r>
          </a:p>
          <a:p>
            <a:pPr marL="0" indent="0" algn="l" fontAlgn="base">
              <a:buNone/>
            </a:pPr>
            <a:r>
              <a:rPr lang="en-US" b="1" i="0" dirty="0">
                <a:solidFill>
                  <a:srgbClr val="C00000"/>
                </a:solidFill>
                <a:effectLst/>
                <a:latin typeface="inherit"/>
              </a:rPr>
              <a:t>Disadvantages</a:t>
            </a:r>
            <a:endParaRPr lang="en-US" b="0" i="0" dirty="0">
              <a:solidFill>
                <a:srgbClr val="C00000"/>
              </a:solidFill>
              <a:effectLst/>
              <a:latin typeface="Lato" panose="020F0502020204030203" pitchFamily="34" charset="0"/>
            </a:endParaRPr>
          </a:p>
          <a:p>
            <a:pPr algn="l" fontAlgn="base">
              <a:buFont typeface="Arial" panose="020B0604020202020204" pitchFamily="34" charset="0"/>
              <a:buChar char="•"/>
            </a:pPr>
            <a:r>
              <a:rPr lang="en-US" b="0" i="0" dirty="0">
                <a:solidFill>
                  <a:srgbClr val="323C3E"/>
                </a:solidFill>
                <a:effectLst/>
                <a:latin typeface="inherit"/>
              </a:rPr>
              <a:t>HMM cannot represent any dependency between the appliances. The conditional HMM can capture the dependencies, though.</a:t>
            </a:r>
          </a:p>
          <a:p>
            <a:pPr algn="l" fontAlgn="base">
              <a:buFont typeface="Arial" panose="020B0604020202020204" pitchFamily="34" charset="0"/>
              <a:buChar char="•"/>
            </a:pPr>
            <a:r>
              <a:rPr lang="en-US" b="0" i="0" dirty="0">
                <a:solidFill>
                  <a:srgbClr val="323C3E"/>
                </a:solidFill>
                <a:effectLst/>
                <a:latin typeface="inherit"/>
              </a:rPr>
              <a:t>HMM does not consider the state sequence dominating any given state because of its Markovian nature.</a:t>
            </a:r>
          </a:p>
          <a:p>
            <a:pPr algn="l" fontAlgn="base">
              <a:buFont typeface="Arial" panose="020B0604020202020204" pitchFamily="34" charset="0"/>
              <a:buChar char="•"/>
            </a:pPr>
            <a:r>
              <a:rPr lang="en-US" b="0" i="0" dirty="0">
                <a:solidFill>
                  <a:srgbClr val="323C3E"/>
                </a:solidFill>
                <a:effectLst/>
                <a:latin typeface="inherit"/>
              </a:rPr>
              <a:t>HMMs do not explicitly capture the time in a specified state due to their Markovian behavior. Nonetheless, the hidden semi-Markov model is responsible for capturing that kind of behavior.</a:t>
            </a:r>
          </a:p>
          <a:p>
            <a:endParaRPr lang="en-IN" dirty="0"/>
          </a:p>
        </p:txBody>
      </p:sp>
    </p:spTree>
    <p:extLst>
      <p:ext uri="{BB962C8B-B14F-4D97-AF65-F5344CB8AC3E}">
        <p14:creationId xmlns:p14="http://schemas.microsoft.com/office/powerpoint/2010/main" val="42619150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9B2C2-D902-4F92-98C1-DD6046772F6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62E516D-BBFD-4BAA-A0B8-6E147E6E2DF8}"/>
              </a:ext>
            </a:extLst>
          </p:cNvPr>
          <p:cNvSpPr>
            <a:spLocks noGrp="1"/>
          </p:cNvSpPr>
          <p:nvPr>
            <p:ph idx="1"/>
          </p:nvPr>
        </p:nvSpPr>
        <p:spPr/>
        <p:txBody>
          <a:bodyPr/>
          <a:lstStyle/>
          <a:p>
            <a:r>
              <a:rPr lang="en-US" dirty="0"/>
              <a:t>Hidden Markov Model (HMM) is a </a:t>
            </a:r>
            <a:r>
              <a:rPr lang="en-US" dirty="0">
                <a:solidFill>
                  <a:srgbClr val="C00000"/>
                </a:solidFill>
              </a:rPr>
              <a:t>statistical Markov model </a:t>
            </a:r>
            <a:r>
              <a:rPr lang="en-US" dirty="0"/>
              <a:t>in which the system being modeled is assumed to be a Markov process with </a:t>
            </a:r>
            <a:r>
              <a:rPr lang="en-US" dirty="0">
                <a:solidFill>
                  <a:srgbClr val="C00000"/>
                </a:solidFill>
              </a:rPr>
              <a:t>unobserved (i.e. hidden) states</a:t>
            </a:r>
            <a:r>
              <a:rPr lang="en-US" dirty="0"/>
              <a:t>.</a:t>
            </a:r>
          </a:p>
          <a:p>
            <a:r>
              <a:rPr lang="en-IN" dirty="0"/>
              <a:t>HMM are used for sequential data or temporal data( discrete time series data)</a:t>
            </a:r>
            <a:endParaRPr lang="en-US" dirty="0"/>
          </a:p>
          <a:p>
            <a:r>
              <a:rPr lang="en-US" dirty="0"/>
              <a:t>Hidden Markov models are especially known for their application in </a:t>
            </a:r>
            <a:r>
              <a:rPr lang="en-US" dirty="0">
                <a:solidFill>
                  <a:srgbClr val="C00000"/>
                </a:solidFill>
              </a:rPr>
              <a:t>reinforcement learning </a:t>
            </a:r>
            <a:r>
              <a:rPr lang="en-US" dirty="0"/>
              <a:t>and temporal pattern recognition such as </a:t>
            </a:r>
            <a:r>
              <a:rPr lang="en-US" dirty="0">
                <a:solidFill>
                  <a:srgbClr val="C00000"/>
                </a:solidFill>
              </a:rPr>
              <a:t>speech, handwriting, gesture recognition</a:t>
            </a:r>
            <a:r>
              <a:rPr lang="en-US" dirty="0"/>
              <a:t>, </a:t>
            </a:r>
            <a:r>
              <a:rPr lang="en-US" dirty="0">
                <a:solidFill>
                  <a:srgbClr val="C00000"/>
                </a:solidFill>
              </a:rPr>
              <a:t>part-of-speech tagging</a:t>
            </a:r>
            <a:r>
              <a:rPr lang="en-US" dirty="0"/>
              <a:t>, musical score following, partial discharges and bioinformatics.</a:t>
            </a:r>
            <a:endParaRPr lang="en-IN" dirty="0"/>
          </a:p>
        </p:txBody>
      </p:sp>
    </p:spTree>
    <p:extLst>
      <p:ext uri="{BB962C8B-B14F-4D97-AF65-F5344CB8AC3E}">
        <p14:creationId xmlns:p14="http://schemas.microsoft.com/office/powerpoint/2010/main" val="618925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9A3A5-0CC1-8245-FA03-AAA5F2C32DFA}"/>
              </a:ext>
            </a:extLst>
          </p:cNvPr>
          <p:cNvSpPr>
            <a:spLocks noGrp="1"/>
          </p:cNvSpPr>
          <p:nvPr>
            <p:ph type="title"/>
          </p:nvPr>
        </p:nvSpPr>
        <p:spPr/>
        <p:txBody>
          <a:bodyPr/>
          <a:lstStyle/>
          <a:p>
            <a:r>
              <a:rPr lang="en-US" dirty="0"/>
              <a:t>Markov Property</a:t>
            </a:r>
          </a:p>
        </p:txBody>
      </p:sp>
      <p:pic>
        <p:nvPicPr>
          <p:cNvPr id="5" name="Content Placeholder 4">
            <a:extLst>
              <a:ext uri="{FF2B5EF4-FFF2-40B4-BE49-F238E27FC236}">
                <a16:creationId xmlns:a16="http://schemas.microsoft.com/office/drawing/2014/main" id="{31A02852-1A08-55B0-F312-E862C5F1EA31}"/>
              </a:ext>
            </a:extLst>
          </p:cNvPr>
          <p:cNvPicPr>
            <a:picLocks noGrp="1" noChangeAspect="1"/>
          </p:cNvPicPr>
          <p:nvPr>
            <p:ph idx="1"/>
          </p:nvPr>
        </p:nvPicPr>
        <p:blipFill>
          <a:blip r:embed="rId2"/>
          <a:stretch>
            <a:fillRect/>
          </a:stretch>
        </p:blipFill>
        <p:spPr>
          <a:xfrm>
            <a:off x="1219200" y="2100514"/>
            <a:ext cx="10659164" cy="4154512"/>
          </a:xfrm>
        </p:spPr>
      </p:pic>
    </p:spTree>
    <p:extLst>
      <p:ext uri="{BB962C8B-B14F-4D97-AF65-F5344CB8AC3E}">
        <p14:creationId xmlns:p14="http://schemas.microsoft.com/office/powerpoint/2010/main" val="1390318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E8BDA-8D14-A6CF-AD06-CDB1150051AA}"/>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24BB9F50-141F-1634-A3C0-A01E226DB21C}"/>
              </a:ext>
            </a:extLst>
          </p:cNvPr>
          <p:cNvPicPr>
            <a:picLocks noGrp="1" noChangeAspect="1"/>
          </p:cNvPicPr>
          <p:nvPr>
            <p:ph idx="1"/>
          </p:nvPr>
        </p:nvPicPr>
        <p:blipFill>
          <a:blip r:embed="rId2"/>
          <a:stretch>
            <a:fillRect/>
          </a:stretch>
        </p:blipFill>
        <p:spPr>
          <a:xfrm>
            <a:off x="940903" y="501454"/>
            <a:ext cx="10190923" cy="6225936"/>
          </a:xfrm>
        </p:spPr>
      </p:pic>
    </p:spTree>
    <p:extLst>
      <p:ext uri="{BB962C8B-B14F-4D97-AF65-F5344CB8AC3E}">
        <p14:creationId xmlns:p14="http://schemas.microsoft.com/office/powerpoint/2010/main" val="2856926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8FF93-3BE5-0015-589C-6AEB9396DCF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BB79A63-67A4-CD3A-2604-1C4B8B2F96BB}"/>
              </a:ext>
            </a:extLst>
          </p:cNvPr>
          <p:cNvSpPr>
            <a:spLocks noGrp="1"/>
          </p:cNvSpPr>
          <p:nvPr>
            <p:ph idx="1"/>
          </p:nvPr>
        </p:nvSpPr>
        <p:spPr/>
        <p:txBody>
          <a:bodyPr>
            <a:normAutofit fontScale="92500" lnSpcReduction="20000"/>
          </a:bodyPr>
          <a:lstStyle/>
          <a:p>
            <a:r>
              <a:rPr lang="en-US" dirty="0"/>
              <a:t>A </a:t>
            </a:r>
            <a:r>
              <a:rPr lang="en-US" b="1" dirty="0"/>
              <a:t>Markov Chain</a:t>
            </a:r>
            <a:r>
              <a:rPr lang="en-US" dirty="0"/>
              <a:t> is a mathematical model that represents a sequence of possible events where the probability of each event depends only on the state of the previous event. It’s a type of </a:t>
            </a:r>
            <a:r>
              <a:rPr lang="en-US" b="1" dirty="0"/>
              <a:t>stochastic (random) process</a:t>
            </a:r>
            <a:r>
              <a:rPr lang="en-US" dirty="0"/>
              <a:t> that follows the </a:t>
            </a:r>
            <a:r>
              <a:rPr lang="en-US" b="1" dirty="0"/>
              <a:t>Markov property</a:t>
            </a:r>
            <a:r>
              <a:rPr lang="en-US" dirty="0"/>
              <a:t> — the principle that "the future state depends only on the present state and not on the sequence of events that preceded it."</a:t>
            </a:r>
          </a:p>
          <a:p>
            <a:r>
              <a:rPr lang="en-US" b="1" dirty="0"/>
              <a:t>Key Characteristics of a Markov Chain</a:t>
            </a:r>
          </a:p>
          <a:p>
            <a:pPr>
              <a:buFont typeface="+mj-lt"/>
              <a:buAutoNum type="arabicPeriod"/>
            </a:pPr>
            <a:r>
              <a:rPr lang="en-US" b="1" dirty="0"/>
              <a:t>States</a:t>
            </a:r>
            <a:r>
              <a:rPr lang="en-US" dirty="0"/>
              <a:t>: Each possible event or situation in the process is called a "state."</a:t>
            </a:r>
          </a:p>
          <a:p>
            <a:pPr>
              <a:buFont typeface="+mj-lt"/>
              <a:buAutoNum type="arabicPeriod"/>
            </a:pPr>
            <a:r>
              <a:rPr lang="en-US" b="1" dirty="0"/>
              <a:t>Transition Probability</a:t>
            </a:r>
            <a:r>
              <a:rPr lang="en-US" dirty="0"/>
              <a:t>: The probability of moving from one state to another is fixed and represented by a transition probability matrix.</a:t>
            </a:r>
          </a:p>
          <a:p>
            <a:pPr>
              <a:buFont typeface="+mj-lt"/>
              <a:buAutoNum type="arabicPeriod"/>
            </a:pPr>
            <a:r>
              <a:rPr lang="en-US" b="1" dirty="0"/>
              <a:t>Memoryless (Markov Property)</a:t>
            </a:r>
            <a:r>
              <a:rPr lang="en-US" dirty="0"/>
              <a:t>: The outcome of the next state depends only on the current state and not on the previous states before it.</a:t>
            </a:r>
          </a:p>
          <a:p>
            <a:endParaRPr lang="en-US" dirty="0"/>
          </a:p>
        </p:txBody>
      </p:sp>
    </p:spTree>
    <p:extLst>
      <p:ext uri="{BB962C8B-B14F-4D97-AF65-F5344CB8AC3E}">
        <p14:creationId xmlns:p14="http://schemas.microsoft.com/office/powerpoint/2010/main" val="1756933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AEDBE-70CC-3D5D-77DE-66D02DC2A49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45BEF34-08E7-0E01-0DE2-7D941DC9A3CC}"/>
              </a:ext>
            </a:extLst>
          </p:cNvPr>
          <p:cNvPicPr>
            <a:picLocks noGrp="1" noChangeAspect="1"/>
          </p:cNvPicPr>
          <p:nvPr>
            <p:ph idx="1"/>
          </p:nvPr>
        </p:nvPicPr>
        <p:blipFill>
          <a:blip r:embed="rId3"/>
          <a:stretch>
            <a:fillRect/>
          </a:stretch>
        </p:blipFill>
        <p:spPr>
          <a:xfrm>
            <a:off x="120316" y="2016111"/>
            <a:ext cx="11963130" cy="4476763"/>
          </a:xfrm>
        </p:spPr>
      </p:pic>
    </p:spTree>
    <p:extLst>
      <p:ext uri="{BB962C8B-B14F-4D97-AF65-F5344CB8AC3E}">
        <p14:creationId xmlns:p14="http://schemas.microsoft.com/office/powerpoint/2010/main" val="1845931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2B78B-A924-FF9F-FEE8-9051C04F4BC3}"/>
              </a:ext>
            </a:extLst>
          </p:cNvPr>
          <p:cNvSpPr>
            <a:spLocks noGrp="1"/>
          </p:cNvSpPr>
          <p:nvPr>
            <p:ph type="title"/>
          </p:nvPr>
        </p:nvSpPr>
        <p:spPr/>
        <p:txBody>
          <a:bodyPr/>
          <a:lstStyle/>
          <a:p>
            <a:r>
              <a:rPr lang="en-IN" dirty="0"/>
              <a:t>Markov model</a:t>
            </a:r>
          </a:p>
        </p:txBody>
      </p:sp>
      <p:pic>
        <p:nvPicPr>
          <p:cNvPr id="5" name="Content Placeholder 4">
            <a:extLst>
              <a:ext uri="{FF2B5EF4-FFF2-40B4-BE49-F238E27FC236}">
                <a16:creationId xmlns:a16="http://schemas.microsoft.com/office/drawing/2014/main" id="{6C3B2D6C-B67A-D175-EEBB-DA749C8EB760}"/>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aturation sat="212000"/>
                    </a14:imgEffect>
                  </a14:imgLayer>
                </a14:imgProps>
              </a:ext>
            </a:extLst>
          </a:blip>
          <a:stretch>
            <a:fillRect/>
          </a:stretch>
        </p:blipFill>
        <p:spPr>
          <a:xfrm>
            <a:off x="697832" y="2038974"/>
            <a:ext cx="10035340" cy="4246672"/>
          </a:xfrm>
        </p:spPr>
      </p:pic>
    </p:spTree>
    <p:extLst>
      <p:ext uri="{BB962C8B-B14F-4D97-AF65-F5344CB8AC3E}">
        <p14:creationId xmlns:p14="http://schemas.microsoft.com/office/powerpoint/2010/main" val="3481453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7D2E6-647D-1C49-D11D-9841520EC9A4}"/>
              </a:ext>
            </a:extLst>
          </p:cNvPr>
          <p:cNvSpPr>
            <a:spLocks noGrp="1"/>
          </p:cNvSpPr>
          <p:nvPr>
            <p:ph type="title"/>
          </p:nvPr>
        </p:nvSpPr>
        <p:spPr/>
        <p:txBody>
          <a:bodyPr/>
          <a:lstStyle/>
          <a:p>
            <a:r>
              <a:rPr lang="en-US" b="0" i="0" dirty="0">
                <a:solidFill>
                  <a:srgbClr val="040C28"/>
                </a:solidFill>
                <a:effectLst/>
                <a:latin typeface="Google Sans"/>
              </a:rPr>
              <a:t>Markov chain or Markov process</a:t>
            </a:r>
            <a:endParaRPr lang="en-IN" dirty="0"/>
          </a:p>
        </p:txBody>
      </p:sp>
      <p:sp>
        <p:nvSpPr>
          <p:cNvPr id="3" name="Content Placeholder 2">
            <a:extLst>
              <a:ext uri="{FF2B5EF4-FFF2-40B4-BE49-F238E27FC236}">
                <a16:creationId xmlns:a16="http://schemas.microsoft.com/office/drawing/2014/main" id="{348D144A-BB91-5E47-E9E9-EC30AD63CD89}"/>
              </a:ext>
            </a:extLst>
          </p:cNvPr>
          <p:cNvSpPr>
            <a:spLocks noGrp="1"/>
          </p:cNvSpPr>
          <p:nvPr>
            <p:ph idx="1"/>
          </p:nvPr>
        </p:nvSpPr>
        <p:spPr/>
        <p:txBody>
          <a:bodyPr/>
          <a:lstStyle/>
          <a:p>
            <a:pPr algn="just"/>
            <a:r>
              <a:rPr lang="en-US" b="0" i="0" dirty="0">
                <a:solidFill>
                  <a:srgbClr val="040C28"/>
                </a:solidFill>
                <a:effectLst/>
                <a:latin typeface="Google Sans"/>
              </a:rPr>
              <a:t>A Markov chain or Markov process is a stochastic model describing a sequence of possible events in which the probability of each event depends only on the state attained in the previous event.</a:t>
            </a:r>
          </a:p>
          <a:p>
            <a:pPr algn="just"/>
            <a:r>
              <a:rPr lang="en-US" dirty="0">
                <a:solidFill>
                  <a:srgbClr val="040C28"/>
                </a:solidFill>
                <a:latin typeface="Google Sans"/>
              </a:rPr>
              <a:t>Future state depends on just the current/present state</a:t>
            </a:r>
          </a:p>
          <a:p>
            <a:pPr algn="just"/>
            <a:r>
              <a:rPr lang="en-US" dirty="0">
                <a:solidFill>
                  <a:srgbClr val="040C28"/>
                </a:solidFill>
                <a:latin typeface="Google Sans"/>
              </a:rPr>
              <a:t>The chain that follows Markov property, it is called Markov chain.</a:t>
            </a:r>
            <a:endParaRPr lang="en-IN" dirty="0"/>
          </a:p>
        </p:txBody>
      </p:sp>
    </p:spTree>
    <p:extLst>
      <p:ext uri="{BB962C8B-B14F-4D97-AF65-F5344CB8AC3E}">
        <p14:creationId xmlns:p14="http://schemas.microsoft.com/office/powerpoint/2010/main" val="3706256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7B125-E55E-3C14-D4E7-D48CC4773629}"/>
              </a:ext>
            </a:extLst>
          </p:cNvPr>
          <p:cNvSpPr>
            <a:spLocks noGrp="1"/>
          </p:cNvSpPr>
          <p:nvPr>
            <p:ph type="title"/>
          </p:nvPr>
        </p:nvSpPr>
        <p:spPr/>
        <p:txBody>
          <a:bodyPr/>
          <a:lstStyle/>
          <a:p>
            <a:r>
              <a:rPr lang="en-US" b="1" i="0" dirty="0">
                <a:solidFill>
                  <a:srgbClr val="273239"/>
                </a:solidFill>
                <a:effectLst/>
                <a:latin typeface="Nunito" panose="020F0502020204030204" pitchFamily="2" charset="0"/>
              </a:rPr>
              <a:t>Hidden Markov Model</a:t>
            </a:r>
            <a:r>
              <a:rPr lang="en-US" b="0" i="0" dirty="0">
                <a:solidFill>
                  <a:srgbClr val="273239"/>
                </a:solidFill>
                <a:effectLst/>
                <a:latin typeface="Nunito" panose="020F0502020204030204" pitchFamily="2" charset="0"/>
              </a:rPr>
              <a:t> (HMM)</a:t>
            </a:r>
            <a:endParaRPr lang="en-IN" dirty="0"/>
          </a:p>
        </p:txBody>
      </p:sp>
      <p:sp>
        <p:nvSpPr>
          <p:cNvPr id="3" name="Content Placeholder 2">
            <a:extLst>
              <a:ext uri="{FF2B5EF4-FFF2-40B4-BE49-F238E27FC236}">
                <a16:creationId xmlns:a16="http://schemas.microsoft.com/office/drawing/2014/main" id="{1753CB31-F37B-4FBA-767D-4CF1562B7101}"/>
              </a:ext>
            </a:extLst>
          </p:cNvPr>
          <p:cNvSpPr>
            <a:spLocks noGrp="1"/>
          </p:cNvSpPr>
          <p:nvPr>
            <p:ph idx="1"/>
          </p:nvPr>
        </p:nvSpPr>
        <p:spPr/>
        <p:txBody>
          <a:bodyPr>
            <a:normAutofit fontScale="77500" lnSpcReduction="20000"/>
          </a:bodyPr>
          <a:lstStyle/>
          <a:p>
            <a:pPr algn="just" fontAlgn="base"/>
            <a:r>
              <a:rPr lang="en-US" b="1" i="0" dirty="0">
                <a:effectLst/>
                <a:latin typeface="+mj-lt"/>
              </a:rPr>
              <a:t>Hidden Markov Model</a:t>
            </a:r>
            <a:r>
              <a:rPr lang="en-US" b="0" i="0" dirty="0">
                <a:effectLst/>
                <a:latin typeface="+mj-lt"/>
              </a:rPr>
              <a:t> (HMM) is a statistical model that is used to describe the probabilistic relationship between a sequence of observations and a sequence of hidden states. It is often used in situations where the underlying system or process that generates the observations is unknown or hidden, hence it got the name “Hidden Markov Model.” </a:t>
            </a:r>
          </a:p>
          <a:p>
            <a:pPr algn="just" fontAlgn="base"/>
            <a:r>
              <a:rPr lang="en-US" b="0" i="0" dirty="0">
                <a:effectLst/>
                <a:latin typeface="+mj-lt"/>
              </a:rPr>
              <a:t>It is used to predict future observations or classify sequences, based on the underlying hidden process that generates the data.</a:t>
            </a:r>
          </a:p>
          <a:p>
            <a:pPr algn="just" fontAlgn="base"/>
            <a:r>
              <a:rPr lang="en-US" b="0" i="0" dirty="0">
                <a:effectLst/>
                <a:latin typeface="+mj-lt"/>
              </a:rPr>
              <a:t>An HMM consists of two types of variables: hidden states and observations.</a:t>
            </a:r>
          </a:p>
          <a:p>
            <a:pPr algn="just" fontAlgn="base">
              <a:buFont typeface="Arial" panose="020B0604020202020204" pitchFamily="34" charset="0"/>
              <a:buChar char="•"/>
            </a:pPr>
            <a:r>
              <a:rPr lang="en-US" b="0" i="0" dirty="0">
                <a:effectLst/>
                <a:latin typeface="+mj-lt"/>
              </a:rPr>
              <a:t>The </a:t>
            </a:r>
            <a:r>
              <a:rPr lang="en-US" b="1" i="0" dirty="0">
                <a:effectLst/>
                <a:latin typeface="+mj-lt"/>
              </a:rPr>
              <a:t>hidden states</a:t>
            </a:r>
            <a:r>
              <a:rPr lang="en-US" b="0" i="0" dirty="0">
                <a:effectLst/>
                <a:latin typeface="+mj-lt"/>
              </a:rPr>
              <a:t> are the underlying variables that generate the observed data, but they are not directly observable.</a:t>
            </a:r>
          </a:p>
          <a:p>
            <a:pPr algn="just" fontAlgn="base">
              <a:buFont typeface="Arial" panose="020B0604020202020204" pitchFamily="34" charset="0"/>
              <a:buChar char="•"/>
            </a:pPr>
            <a:r>
              <a:rPr lang="en-US" b="0" i="0" dirty="0">
                <a:effectLst/>
                <a:latin typeface="+mj-lt"/>
              </a:rPr>
              <a:t>The </a:t>
            </a:r>
            <a:r>
              <a:rPr lang="en-US" b="1" i="0" dirty="0">
                <a:effectLst/>
                <a:latin typeface="+mj-lt"/>
              </a:rPr>
              <a:t>observations</a:t>
            </a:r>
            <a:r>
              <a:rPr lang="en-US" b="0" i="0" dirty="0">
                <a:effectLst/>
                <a:latin typeface="+mj-lt"/>
              </a:rPr>
              <a:t> are the variables that are measured and observed. </a:t>
            </a:r>
          </a:p>
          <a:p>
            <a:pPr algn="just" fontAlgn="base"/>
            <a:r>
              <a:rPr lang="en-US" b="0" i="0" dirty="0">
                <a:effectLst/>
                <a:latin typeface="+mj-lt"/>
              </a:rPr>
              <a:t>The relationship between the hidden states and the observations is modeled using a probability distribution. The Hidden Markov Model (HMM) is the relationship between the hidden states and the observations using two sets of probabilities: the transition probabilities and the emission probabilities. </a:t>
            </a:r>
          </a:p>
          <a:p>
            <a:endParaRPr lang="en-IN" dirty="0"/>
          </a:p>
        </p:txBody>
      </p:sp>
    </p:spTree>
    <p:extLst>
      <p:ext uri="{BB962C8B-B14F-4D97-AF65-F5344CB8AC3E}">
        <p14:creationId xmlns:p14="http://schemas.microsoft.com/office/powerpoint/2010/main" val="1914020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83754-4F80-D3E9-8862-A064CC0BBC8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AD09EB6-8C72-2D1B-18F7-E37274FDA56A}"/>
              </a:ext>
            </a:extLst>
          </p:cNvPr>
          <p:cNvPicPr>
            <a:picLocks noGrp="1" noChangeAspect="1"/>
          </p:cNvPicPr>
          <p:nvPr>
            <p:ph idx="1"/>
          </p:nvPr>
        </p:nvPicPr>
        <p:blipFill>
          <a:blip r:embed="rId2"/>
          <a:stretch>
            <a:fillRect/>
          </a:stretch>
        </p:blipFill>
        <p:spPr>
          <a:xfrm>
            <a:off x="328251" y="1277123"/>
            <a:ext cx="11025549" cy="5039456"/>
          </a:xfrm>
        </p:spPr>
      </p:pic>
      <p:sp>
        <p:nvSpPr>
          <p:cNvPr id="3" name="TextBox 2">
            <a:extLst>
              <a:ext uri="{FF2B5EF4-FFF2-40B4-BE49-F238E27FC236}">
                <a16:creationId xmlns:a16="http://schemas.microsoft.com/office/drawing/2014/main" id="{C92A1FD0-8163-04F2-6880-D0C4B65E4205}"/>
              </a:ext>
            </a:extLst>
          </p:cNvPr>
          <p:cNvSpPr txBox="1"/>
          <p:nvPr/>
        </p:nvSpPr>
        <p:spPr>
          <a:xfrm>
            <a:off x="10189028" y="2596522"/>
            <a:ext cx="2329543" cy="1200329"/>
          </a:xfrm>
          <a:prstGeom prst="rect">
            <a:avLst/>
          </a:prstGeom>
          <a:noFill/>
        </p:spPr>
        <p:txBody>
          <a:bodyPr wrap="square" rtlCol="0">
            <a:spAutoFit/>
          </a:bodyPr>
          <a:lstStyle/>
          <a:p>
            <a:r>
              <a:rPr lang="en-US" dirty="0">
                <a:solidFill>
                  <a:srgbClr val="C00000"/>
                </a:solidFill>
              </a:rPr>
              <a:t>Sad and happy: observed states</a:t>
            </a:r>
          </a:p>
          <a:p>
            <a:r>
              <a:rPr lang="en-US" dirty="0">
                <a:solidFill>
                  <a:srgbClr val="C00000"/>
                </a:solidFill>
              </a:rPr>
              <a:t>Rainy, Cloudy, Sunny: hidden states</a:t>
            </a:r>
          </a:p>
        </p:txBody>
      </p:sp>
    </p:spTree>
    <p:extLst>
      <p:ext uri="{BB962C8B-B14F-4D97-AF65-F5344CB8AC3E}">
        <p14:creationId xmlns:p14="http://schemas.microsoft.com/office/powerpoint/2010/main" val="1273802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1631A-2A4E-4BA9-1238-52CBBD65959A}"/>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7D51C91-1567-7920-F8A5-BC0F0B2D080A}"/>
              </a:ext>
            </a:extLst>
          </p:cNvPr>
          <p:cNvPicPr>
            <a:picLocks noGrp="1" noChangeAspect="1"/>
          </p:cNvPicPr>
          <p:nvPr>
            <p:ph idx="1"/>
          </p:nvPr>
        </p:nvPicPr>
        <p:blipFill>
          <a:blip r:embed="rId3"/>
          <a:stretch>
            <a:fillRect/>
          </a:stretch>
        </p:blipFill>
        <p:spPr>
          <a:xfrm>
            <a:off x="1009040" y="1690688"/>
            <a:ext cx="9978681" cy="4791743"/>
          </a:xfrm>
        </p:spPr>
      </p:pic>
    </p:spTree>
    <p:extLst>
      <p:ext uri="{BB962C8B-B14F-4D97-AF65-F5344CB8AC3E}">
        <p14:creationId xmlns:p14="http://schemas.microsoft.com/office/powerpoint/2010/main" val="29805977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DE94D-7917-0FA0-3666-16DE4699B01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D8431021-E249-D6A3-48DF-3A9599B87D1E}"/>
              </a:ext>
            </a:extLst>
          </p:cNvPr>
          <p:cNvPicPr>
            <a:picLocks noGrp="1" noChangeAspect="1"/>
          </p:cNvPicPr>
          <p:nvPr>
            <p:ph idx="1"/>
          </p:nvPr>
        </p:nvPicPr>
        <p:blipFill>
          <a:blip r:embed="rId2"/>
          <a:stretch>
            <a:fillRect/>
          </a:stretch>
        </p:blipFill>
        <p:spPr>
          <a:xfrm>
            <a:off x="752415" y="2016112"/>
            <a:ext cx="10465830" cy="4476763"/>
          </a:xfrm>
        </p:spPr>
      </p:pic>
    </p:spTree>
    <p:extLst>
      <p:ext uri="{BB962C8B-B14F-4D97-AF65-F5344CB8AC3E}">
        <p14:creationId xmlns:p14="http://schemas.microsoft.com/office/powerpoint/2010/main" val="24553758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DACB2-E2B1-1BD7-3EE5-DD038197FB21}"/>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BD06E90-EAE6-46EC-8898-541832515FFE}"/>
              </a:ext>
            </a:extLst>
          </p:cNvPr>
          <p:cNvPicPr>
            <a:picLocks noGrp="1" noChangeAspect="1"/>
          </p:cNvPicPr>
          <p:nvPr>
            <p:ph idx="1"/>
          </p:nvPr>
        </p:nvPicPr>
        <p:blipFill>
          <a:blip r:embed="rId2"/>
          <a:stretch>
            <a:fillRect/>
          </a:stretch>
        </p:blipFill>
        <p:spPr>
          <a:xfrm>
            <a:off x="1359850" y="1374006"/>
            <a:ext cx="9769462" cy="5279457"/>
          </a:xfrm>
        </p:spPr>
      </p:pic>
    </p:spTree>
    <p:extLst>
      <p:ext uri="{BB962C8B-B14F-4D97-AF65-F5344CB8AC3E}">
        <p14:creationId xmlns:p14="http://schemas.microsoft.com/office/powerpoint/2010/main" val="19406210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9430B-E45D-D73F-9601-1EB08B70E67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20E361D-3D60-6DC4-2C34-D4AA8F984813}"/>
              </a:ext>
            </a:extLst>
          </p:cNvPr>
          <p:cNvPicPr>
            <a:picLocks noGrp="1" noChangeAspect="1"/>
          </p:cNvPicPr>
          <p:nvPr>
            <p:ph idx="1"/>
          </p:nvPr>
        </p:nvPicPr>
        <p:blipFill>
          <a:blip r:embed="rId3"/>
          <a:stretch>
            <a:fillRect/>
          </a:stretch>
        </p:blipFill>
        <p:spPr>
          <a:xfrm>
            <a:off x="838199" y="1325181"/>
            <a:ext cx="10269231" cy="4841701"/>
          </a:xfrm>
        </p:spPr>
      </p:pic>
      <p:sp>
        <p:nvSpPr>
          <p:cNvPr id="3" name="TextBox 2">
            <a:extLst>
              <a:ext uri="{FF2B5EF4-FFF2-40B4-BE49-F238E27FC236}">
                <a16:creationId xmlns:a16="http://schemas.microsoft.com/office/drawing/2014/main" id="{E54A3388-EEEE-8F82-F1CA-C7A33EA92FC5}"/>
              </a:ext>
            </a:extLst>
          </p:cNvPr>
          <p:cNvSpPr txBox="1"/>
          <p:nvPr/>
        </p:nvSpPr>
        <p:spPr>
          <a:xfrm>
            <a:off x="6438852" y="4436411"/>
            <a:ext cx="849085" cy="338554"/>
          </a:xfrm>
          <a:prstGeom prst="rect">
            <a:avLst/>
          </a:prstGeom>
          <a:noFill/>
        </p:spPr>
        <p:txBody>
          <a:bodyPr wrap="square" rtlCol="0">
            <a:spAutoFit/>
          </a:bodyPr>
          <a:lstStyle/>
          <a:p>
            <a:r>
              <a:rPr lang="en-US" sz="1600" dirty="0"/>
              <a:t>rainy</a:t>
            </a:r>
            <a:endParaRPr lang="en-US" dirty="0"/>
          </a:p>
        </p:txBody>
      </p:sp>
      <p:sp>
        <p:nvSpPr>
          <p:cNvPr id="4" name="TextBox 3">
            <a:extLst>
              <a:ext uri="{FF2B5EF4-FFF2-40B4-BE49-F238E27FC236}">
                <a16:creationId xmlns:a16="http://schemas.microsoft.com/office/drawing/2014/main" id="{95AA3EF5-43F9-8F6B-75AB-FCE6A990D889}"/>
              </a:ext>
            </a:extLst>
          </p:cNvPr>
          <p:cNvSpPr txBox="1"/>
          <p:nvPr/>
        </p:nvSpPr>
        <p:spPr>
          <a:xfrm>
            <a:off x="6438853" y="4782552"/>
            <a:ext cx="849085" cy="338554"/>
          </a:xfrm>
          <a:prstGeom prst="rect">
            <a:avLst/>
          </a:prstGeom>
          <a:noFill/>
        </p:spPr>
        <p:txBody>
          <a:bodyPr wrap="square" rtlCol="0">
            <a:spAutoFit/>
          </a:bodyPr>
          <a:lstStyle/>
          <a:p>
            <a:r>
              <a:rPr lang="en-US" sz="1600" dirty="0"/>
              <a:t>cloudy</a:t>
            </a:r>
          </a:p>
        </p:txBody>
      </p:sp>
      <p:sp>
        <p:nvSpPr>
          <p:cNvPr id="6" name="TextBox 5">
            <a:extLst>
              <a:ext uri="{FF2B5EF4-FFF2-40B4-BE49-F238E27FC236}">
                <a16:creationId xmlns:a16="http://schemas.microsoft.com/office/drawing/2014/main" id="{7D612CFD-F562-A912-ECF4-9045EBB6CB6C}"/>
              </a:ext>
            </a:extLst>
          </p:cNvPr>
          <p:cNvSpPr txBox="1"/>
          <p:nvPr/>
        </p:nvSpPr>
        <p:spPr>
          <a:xfrm>
            <a:off x="7141216" y="4067079"/>
            <a:ext cx="849085" cy="369332"/>
          </a:xfrm>
          <a:prstGeom prst="rect">
            <a:avLst/>
          </a:prstGeom>
          <a:noFill/>
        </p:spPr>
        <p:txBody>
          <a:bodyPr wrap="square" rtlCol="0">
            <a:spAutoFit/>
          </a:bodyPr>
          <a:lstStyle>
            <a:defPPr>
              <a:defRPr lang="en-US"/>
            </a:defPPr>
            <a:lvl1pPr>
              <a:defRPr/>
            </a:lvl1pPr>
          </a:lstStyle>
          <a:p>
            <a:r>
              <a:rPr lang="en-US" dirty="0"/>
              <a:t>rainy</a:t>
            </a:r>
          </a:p>
        </p:txBody>
      </p:sp>
      <p:sp>
        <p:nvSpPr>
          <p:cNvPr id="7" name="TextBox 6">
            <a:extLst>
              <a:ext uri="{FF2B5EF4-FFF2-40B4-BE49-F238E27FC236}">
                <a16:creationId xmlns:a16="http://schemas.microsoft.com/office/drawing/2014/main" id="{85C0D696-B9A2-C80F-74E2-34C0E6B1FB9C}"/>
              </a:ext>
            </a:extLst>
          </p:cNvPr>
          <p:cNvSpPr txBox="1"/>
          <p:nvPr/>
        </p:nvSpPr>
        <p:spPr>
          <a:xfrm>
            <a:off x="6438851" y="5194264"/>
            <a:ext cx="849085" cy="338554"/>
          </a:xfrm>
          <a:prstGeom prst="rect">
            <a:avLst/>
          </a:prstGeom>
          <a:noFill/>
        </p:spPr>
        <p:txBody>
          <a:bodyPr wrap="square" rtlCol="0">
            <a:spAutoFit/>
          </a:bodyPr>
          <a:lstStyle/>
          <a:p>
            <a:r>
              <a:rPr lang="en-US" sz="1600" dirty="0"/>
              <a:t>Sunny</a:t>
            </a:r>
          </a:p>
        </p:txBody>
      </p:sp>
      <p:sp>
        <p:nvSpPr>
          <p:cNvPr id="8" name="TextBox 7">
            <a:extLst>
              <a:ext uri="{FF2B5EF4-FFF2-40B4-BE49-F238E27FC236}">
                <a16:creationId xmlns:a16="http://schemas.microsoft.com/office/drawing/2014/main" id="{750A942D-6416-9D83-A6F9-337B1BEB213B}"/>
              </a:ext>
            </a:extLst>
          </p:cNvPr>
          <p:cNvSpPr txBox="1"/>
          <p:nvPr/>
        </p:nvSpPr>
        <p:spPr>
          <a:xfrm>
            <a:off x="8529478" y="4067079"/>
            <a:ext cx="849085" cy="338554"/>
          </a:xfrm>
          <a:prstGeom prst="rect">
            <a:avLst/>
          </a:prstGeom>
          <a:noFill/>
        </p:spPr>
        <p:txBody>
          <a:bodyPr wrap="square" rtlCol="0">
            <a:spAutoFit/>
          </a:bodyPr>
          <a:lstStyle/>
          <a:p>
            <a:r>
              <a:rPr lang="en-US" sz="1600" dirty="0"/>
              <a:t>sunny</a:t>
            </a:r>
          </a:p>
        </p:txBody>
      </p:sp>
      <p:sp>
        <p:nvSpPr>
          <p:cNvPr id="9" name="TextBox 8">
            <a:extLst>
              <a:ext uri="{FF2B5EF4-FFF2-40B4-BE49-F238E27FC236}">
                <a16:creationId xmlns:a16="http://schemas.microsoft.com/office/drawing/2014/main" id="{9293B3AB-6C2D-9FB5-9A4C-F0E8E6633F3D}"/>
              </a:ext>
            </a:extLst>
          </p:cNvPr>
          <p:cNvSpPr txBox="1"/>
          <p:nvPr/>
        </p:nvSpPr>
        <p:spPr>
          <a:xfrm>
            <a:off x="7767983" y="4067079"/>
            <a:ext cx="849085" cy="369332"/>
          </a:xfrm>
          <a:prstGeom prst="rect">
            <a:avLst/>
          </a:prstGeom>
          <a:noFill/>
        </p:spPr>
        <p:txBody>
          <a:bodyPr wrap="square" rtlCol="0">
            <a:spAutoFit/>
          </a:bodyPr>
          <a:lstStyle/>
          <a:p>
            <a:r>
              <a:rPr lang="en-US" dirty="0"/>
              <a:t>cloudy</a:t>
            </a:r>
          </a:p>
        </p:txBody>
      </p:sp>
      <p:sp>
        <p:nvSpPr>
          <p:cNvPr id="10" name="TextBox 9">
            <a:extLst>
              <a:ext uri="{FF2B5EF4-FFF2-40B4-BE49-F238E27FC236}">
                <a16:creationId xmlns:a16="http://schemas.microsoft.com/office/drawing/2014/main" id="{FD9E7E71-7AD9-F77C-8732-FE0FFAFF1C97}"/>
              </a:ext>
            </a:extLst>
          </p:cNvPr>
          <p:cNvSpPr txBox="1"/>
          <p:nvPr/>
        </p:nvSpPr>
        <p:spPr>
          <a:xfrm>
            <a:off x="8773139" y="4472236"/>
            <a:ext cx="849085" cy="338554"/>
          </a:xfrm>
          <a:prstGeom prst="rect">
            <a:avLst/>
          </a:prstGeom>
          <a:noFill/>
        </p:spPr>
        <p:txBody>
          <a:bodyPr wrap="square" rtlCol="0">
            <a:spAutoFit/>
          </a:bodyPr>
          <a:lstStyle/>
          <a:p>
            <a:r>
              <a:rPr lang="en-US" sz="1600" dirty="0"/>
              <a:t>rainy</a:t>
            </a:r>
          </a:p>
        </p:txBody>
      </p:sp>
      <p:sp>
        <p:nvSpPr>
          <p:cNvPr id="11" name="TextBox 10">
            <a:extLst>
              <a:ext uri="{FF2B5EF4-FFF2-40B4-BE49-F238E27FC236}">
                <a16:creationId xmlns:a16="http://schemas.microsoft.com/office/drawing/2014/main" id="{D9A2D514-A3AE-0C28-156C-C68EF9BEDD60}"/>
              </a:ext>
            </a:extLst>
          </p:cNvPr>
          <p:cNvSpPr txBox="1"/>
          <p:nvPr/>
        </p:nvSpPr>
        <p:spPr>
          <a:xfrm>
            <a:off x="8773140" y="4818377"/>
            <a:ext cx="849085" cy="338554"/>
          </a:xfrm>
          <a:prstGeom prst="rect">
            <a:avLst/>
          </a:prstGeom>
          <a:noFill/>
        </p:spPr>
        <p:txBody>
          <a:bodyPr wrap="square" rtlCol="0">
            <a:spAutoFit/>
          </a:bodyPr>
          <a:lstStyle/>
          <a:p>
            <a:r>
              <a:rPr lang="en-US" sz="1600" dirty="0"/>
              <a:t>cloudy</a:t>
            </a:r>
          </a:p>
        </p:txBody>
      </p:sp>
      <p:sp>
        <p:nvSpPr>
          <p:cNvPr id="12" name="TextBox 11">
            <a:extLst>
              <a:ext uri="{FF2B5EF4-FFF2-40B4-BE49-F238E27FC236}">
                <a16:creationId xmlns:a16="http://schemas.microsoft.com/office/drawing/2014/main" id="{0FA93C80-BB50-F356-C157-3AD780BB4183}"/>
              </a:ext>
            </a:extLst>
          </p:cNvPr>
          <p:cNvSpPr txBox="1"/>
          <p:nvPr/>
        </p:nvSpPr>
        <p:spPr>
          <a:xfrm>
            <a:off x="8773138" y="5230089"/>
            <a:ext cx="849085" cy="338554"/>
          </a:xfrm>
          <a:prstGeom prst="rect">
            <a:avLst/>
          </a:prstGeom>
          <a:noFill/>
        </p:spPr>
        <p:txBody>
          <a:bodyPr wrap="square" rtlCol="0">
            <a:spAutoFit/>
          </a:bodyPr>
          <a:lstStyle/>
          <a:p>
            <a:r>
              <a:rPr lang="en-US" sz="1600" dirty="0"/>
              <a:t>Sunny</a:t>
            </a:r>
          </a:p>
        </p:txBody>
      </p:sp>
      <p:sp>
        <p:nvSpPr>
          <p:cNvPr id="13" name="TextBox 12">
            <a:extLst>
              <a:ext uri="{FF2B5EF4-FFF2-40B4-BE49-F238E27FC236}">
                <a16:creationId xmlns:a16="http://schemas.microsoft.com/office/drawing/2014/main" id="{22A6CBCE-55D6-B618-20D3-809AA8536521}"/>
              </a:ext>
            </a:extLst>
          </p:cNvPr>
          <p:cNvSpPr txBox="1"/>
          <p:nvPr/>
        </p:nvSpPr>
        <p:spPr>
          <a:xfrm>
            <a:off x="9371685" y="4088269"/>
            <a:ext cx="849085" cy="369332"/>
          </a:xfrm>
          <a:prstGeom prst="rect">
            <a:avLst/>
          </a:prstGeom>
          <a:noFill/>
        </p:spPr>
        <p:txBody>
          <a:bodyPr wrap="square" rtlCol="0">
            <a:spAutoFit/>
          </a:bodyPr>
          <a:lstStyle>
            <a:defPPr>
              <a:defRPr lang="en-US"/>
            </a:defPPr>
            <a:lvl1pPr>
              <a:defRPr sz="1600"/>
            </a:lvl1pPr>
          </a:lstStyle>
          <a:p>
            <a:r>
              <a:rPr lang="en-US" dirty="0"/>
              <a:t>sad</a:t>
            </a:r>
          </a:p>
        </p:txBody>
      </p:sp>
      <p:sp>
        <p:nvSpPr>
          <p:cNvPr id="14" name="TextBox 13">
            <a:extLst>
              <a:ext uri="{FF2B5EF4-FFF2-40B4-BE49-F238E27FC236}">
                <a16:creationId xmlns:a16="http://schemas.microsoft.com/office/drawing/2014/main" id="{1DD7C85A-072D-E05B-1595-FFA2390E2DF6}"/>
              </a:ext>
            </a:extLst>
          </p:cNvPr>
          <p:cNvSpPr txBox="1"/>
          <p:nvPr/>
        </p:nvSpPr>
        <p:spPr>
          <a:xfrm>
            <a:off x="10039888" y="4109459"/>
            <a:ext cx="849085" cy="338554"/>
          </a:xfrm>
          <a:prstGeom prst="rect">
            <a:avLst/>
          </a:prstGeom>
          <a:noFill/>
        </p:spPr>
        <p:txBody>
          <a:bodyPr wrap="square" rtlCol="0">
            <a:spAutoFit/>
          </a:bodyPr>
          <a:lstStyle/>
          <a:p>
            <a:r>
              <a:rPr lang="en-US" sz="1600" dirty="0"/>
              <a:t>Happy</a:t>
            </a:r>
          </a:p>
        </p:txBody>
      </p:sp>
      <p:pic>
        <p:nvPicPr>
          <p:cNvPr id="16" name="Picture 15">
            <a:extLst>
              <a:ext uri="{FF2B5EF4-FFF2-40B4-BE49-F238E27FC236}">
                <a16:creationId xmlns:a16="http://schemas.microsoft.com/office/drawing/2014/main" id="{93831989-1E53-1E34-4D1E-B92E250DD780}"/>
              </a:ext>
            </a:extLst>
          </p:cNvPr>
          <p:cNvPicPr>
            <a:picLocks noChangeAspect="1"/>
          </p:cNvPicPr>
          <p:nvPr/>
        </p:nvPicPr>
        <p:blipFill>
          <a:blip r:embed="rId4"/>
          <a:stretch>
            <a:fillRect/>
          </a:stretch>
        </p:blipFill>
        <p:spPr>
          <a:xfrm>
            <a:off x="7990301" y="669731"/>
            <a:ext cx="2141406" cy="320068"/>
          </a:xfrm>
          <a:prstGeom prst="rect">
            <a:avLst/>
          </a:prstGeom>
        </p:spPr>
      </p:pic>
      <p:cxnSp>
        <p:nvCxnSpPr>
          <p:cNvPr id="17" name="Straight Arrow Connector 16">
            <a:extLst>
              <a:ext uri="{FF2B5EF4-FFF2-40B4-BE49-F238E27FC236}">
                <a16:creationId xmlns:a16="http://schemas.microsoft.com/office/drawing/2014/main" id="{0EFBA080-907A-3792-8CE9-3D6012D5DBFA}"/>
              </a:ext>
            </a:extLst>
          </p:cNvPr>
          <p:cNvCxnSpPr/>
          <p:nvPr/>
        </p:nvCxnSpPr>
        <p:spPr>
          <a:xfrm flipH="1">
            <a:off x="1410789" y="3429000"/>
            <a:ext cx="156754" cy="4376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8ACC067-2A08-92B7-4F86-CDD46D0F270A}"/>
              </a:ext>
            </a:extLst>
          </p:cNvPr>
          <p:cNvSpPr txBox="1"/>
          <p:nvPr/>
        </p:nvSpPr>
        <p:spPr>
          <a:xfrm>
            <a:off x="591829" y="3866606"/>
            <a:ext cx="1318087" cy="923330"/>
          </a:xfrm>
          <a:prstGeom prst="rect">
            <a:avLst/>
          </a:prstGeom>
          <a:noFill/>
        </p:spPr>
        <p:txBody>
          <a:bodyPr wrap="square" rtlCol="0">
            <a:spAutoFit/>
          </a:bodyPr>
          <a:lstStyle/>
          <a:p>
            <a:r>
              <a:rPr lang="en-US" dirty="0"/>
              <a:t>Initial prob of sunny is given</a:t>
            </a:r>
          </a:p>
        </p:txBody>
      </p:sp>
    </p:spTree>
    <p:extLst>
      <p:ext uri="{BB962C8B-B14F-4D97-AF65-F5344CB8AC3E}">
        <p14:creationId xmlns:p14="http://schemas.microsoft.com/office/powerpoint/2010/main" val="5549491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AD7FF-2D71-54DE-B99C-F52B6533943D}"/>
              </a:ext>
            </a:extLst>
          </p:cNvPr>
          <p:cNvSpPr>
            <a:spLocks noGrp="1"/>
          </p:cNvSpPr>
          <p:nvPr>
            <p:ph type="title"/>
          </p:nvPr>
        </p:nvSpPr>
        <p:spPr/>
        <p:txBody>
          <a:bodyPr/>
          <a:lstStyle/>
          <a:p>
            <a:r>
              <a:rPr lang="en-IN" dirty="0"/>
              <a:t>Reference</a:t>
            </a:r>
          </a:p>
        </p:txBody>
      </p:sp>
      <p:sp>
        <p:nvSpPr>
          <p:cNvPr id="3" name="Content Placeholder 2">
            <a:extLst>
              <a:ext uri="{FF2B5EF4-FFF2-40B4-BE49-F238E27FC236}">
                <a16:creationId xmlns:a16="http://schemas.microsoft.com/office/drawing/2014/main" id="{85E5518D-58A6-2DD6-A81E-0A94A981B16C}"/>
              </a:ext>
            </a:extLst>
          </p:cNvPr>
          <p:cNvSpPr>
            <a:spLocks noGrp="1"/>
          </p:cNvSpPr>
          <p:nvPr>
            <p:ph idx="1"/>
          </p:nvPr>
        </p:nvSpPr>
        <p:spPr/>
        <p:txBody>
          <a:bodyPr/>
          <a:lstStyle/>
          <a:p>
            <a:r>
              <a:rPr lang="en-US" dirty="0">
                <a:hlinkClick r:id="rId2"/>
              </a:rPr>
              <a:t>Three Basic Problems of Hidden Markov Model</a:t>
            </a:r>
            <a:endParaRPr lang="en-IN" dirty="0"/>
          </a:p>
        </p:txBody>
      </p:sp>
    </p:spTree>
    <p:extLst>
      <p:ext uri="{BB962C8B-B14F-4D97-AF65-F5344CB8AC3E}">
        <p14:creationId xmlns:p14="http://schemas.microsoft.com/office/powerpoint/2010/main" val="851388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3977B7F-C1ED-4887-9997-C381FECE6F0C}"/>
              </a:ext>
            </a:extLst>
          </p:cNvPr>
          <p:cNvPicPr>
            <a:picLocks noGrp="1" noChangeAspect="1"/>
          </p:cNvPicPr>
          <p:nvPr>
            <p:ph idx="1"/>
          </p:nvPr>
        </p:nvPicPr>
        <p:blipFill>
          <a:blip r:embed="rId3"/>
          <a:stretch>
            <a:fillRect/>
          </a:stretch>
        </p:blipFill>
        <p:spPr>
          <a:xfrm>
            <a:off x="2919047" y="2053705"/>
            <a:ext cx="5976964" cy="4609734"/>
          </a:xfrm>
          <a:prstGeom prst="rect">
            <a:avLst/>
          </a:prstGeom>
        </p:spPr>
      </p:pic>
      <p:cxnSp>
        <p:nvCxnSpPr>
          <p:cNvPr id="6" name="Straight Arrow Connector 5">
            <a:extLst>
              <a:ext uri="{FF2B5EF4-FFF2-40B4-BE49-F238E27FC236}">
                <a16:creationId xmlns:a16="http://schemas.microsoft.com/office/drawing/2014/main" id="{CDBC49E4-0704-45BC-9E8C-D95FCE74D43B}"/>
              </a:ext>
            </a:extLst>
          </p:cNvPr>
          <p:cNvCxnSpPr/>
          <p:nvPr/>
        </p:nvCxnSpPr>
        <p:spPr>
          <a:xfrm flipV="1">
            <a:off x="7604271" y="3043265"/>
            <a:ext cx="621323" cy="363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CCD4E40-323C-4BD4-8FE8-F995FAF8C7D1}"/>
              </a:ext>
            </a:extLst>
          </p:cNvPr>
          <p:cNvSpPr txBox="1"/>
          <p:nvPr/>
        </p:nvSpPr>
        <p:spPr>
          <a:xfrm>
            <a:off x="8170400" y="2565176"/>
            <a:ext cx="1493128" cy="584775"/>
          </a:xfrm>
          <a:prstGeom prst="rect">
            <a:avLst/>
          </a:prstGeom>
          <a:noFill/>
        </p:spPr>
        <p:txBody>
          <a:bodyPr wrap="square" rtlCol="0">
            <a:spAutoFit/>
          </a:bodyPr>
          <a:lstStyle/>
          <a:p>
            <a:r>
              <a:rPr lang="en-US" sz="1600" dirty="0"/>
              <a:t>Hidden state</a:t>
            </a:r>
          </a:p>
          <a:p>
            <a:r>
              <a:rPr lang="en-US" sz="1600" dirty="0"/>
              <a:t>or </a:t>
            </a:r>
            <a:r>
              <a:rPr lang="en-IN" sz="1600" dirty="0"/>
              <a:t>latent states.</a:t>
            </a:r>
          </a:p>
        </p:txBody>
      </p:sp>
      <p:sp>
        <p:nvSpPr>
          <p:cNvPr id="8" name="TextBox 7">
            <a:extLst>
              <a:ext uri="{FF2B5EF4-FFF2-40B4-BE49-F238E27FC236}">
                <a16:creationId xmlns:a16="http://schemas.microsoft.com/office/drawing/2014/main" id="{7FB82339-99F6-493A-A76C-E1EAEC9C0AF4}"/>
              </a:ext>
            </a:extLst>
          </p:cNvPr>
          <p:cNvSpPr txBox="1"/>
          <p:nvPr/>
        </p:nvSpPr>
        <p:spPr>
          <a:xfrm>
            <a:off x="7033846" y="6088517"/>
            <a:ext cx="2875867" cy="584775"/>
          </a:xfrm>
          <a:prstGeom prst="rect">
            <a:avLst/>
          </a:prstGeom>
          <a:noFill/>
        </p:spPr>
        <p:txBody>
          <a:bodyPr wrap="square" rtlCol="0">
            <a:spAutoFit/>
          </a:bodyPr>
          <a:lstStyle/>
          <a:p>
            <a:r>
              <a:rPr lang="en-US" sz="1600" dirty="0"/>
              <a:t>Walk, shop, clean: visible states, observable states</a:t>
            </a:r>
            <a:endParaRPr lang="en-IN" sz="1600" dirty="0"/>
          </a:p>
        </p:txBody>
      </p:sp>
      <p:sp>
        <p:nvSpPr>
          <p:cNvPr id="11" name="TextBox 10">
            <a:extLst>
              <a:ext uri="{FF2B5EF4-FFF2-40B4-BE49-F238E27FC236}">
                <a16:creationId xmlns:a16="http://schemas.microsoft.com/office/drawing/2014/main" id="{1418A595-2DBB-48F1-8383-12A0C89D8EA2}"/>
              </a:ext>
            </a:extLst>
          </p:cNvPr>
          <p:cNvSpPr txBox="1"/>
          <p:nvPr/>
        </p:nvSpPr>
        <p:spPr>
          <a:xfrm>
            <a:off x="3696960" y="2675465"/>
            <a:ext cx="1425335" cy="519205"/>
          </a:xfrm>
          <a:prstGeom prst="rect">
            <a:avLst/>
          </a:prstGeom>
          <a:noFill/>
        </p:spPr>
        <p:txBody>
          <a:bodyPr wrap="square">
            <a:spAutoFit/>
          </a:bodyPr>
          <a:lstStyle/>
          <a:p>
            <a:r>
              <a:rPr lang="en-US" sz="1400" dirty="0">
                <a:solidFill>
                  <a:srgbClr val="C00000"/>
                </a:solidFill>
              </a:rPr>
              <a:t>State transition probabilities</a:t>
            </a:r>
            <a:endParaRPr lang="en-IN" sz="1400" dirty="0">
              <a:solidFill>
                <a:srgbClr val="C00000"/>
              </a:solidFill>
            </a:endParaRPr>
          </a:p>
        </p:txBody>
      </p:sp>
      <p:sp>
        <p:nvSpPr>
          <p:cNvPr id="14" name="TextBox 13">
            <a:extLst>
              <a:ext uri="{FF2B5EF4-FFF2-40B4-BE49-F238E27FC236}">
                <a16:creationId xmlns:a16="http://schemas.microsoft.com/office/drawing/2014/main" id="{B2C614A2-B023-4797-B619-3A1003649C14}"/>
              </a:ext>
            </a:extLst>
          </p:cNvPr>
          <p:cNvSpPr txBox="1"/>
          <p:nvPr/>
        </p:nvSpPr>
        <p:spPr>
          <a:xfrm>
            <a:off x="597878" y="4067156"/>
            <a:ext cx="3493476" cy="523220"/>
          </a:xfrm>
          <a:prstGeom prst="rect">
            <a:avLst/>
          </a:prstGeom>
          <a:noFill/>
        </p:spPr>
        <p:txBody>
          <a:bodyPr wrap="square" rtlCol="0">
            <a:spAutoFit/>
          </a:bodyPr>
          <a:lstStyle/>
          <a:p>
            <a:r>
              <a:rPr lang="en-US" sz="1400" dirty="0">
                <a:solidFill>
                  <a:srgbClr val="C00000"/>
                </a:solidFill>
              </a:rPr>
              <a:t>Emission probability between hidden and visible state</a:t>
            </a:r>
            <a:endParaRPr lang="en-IN" sz="1400" dirty="0"/>
          </a:p>
        </p:txBody>
      </p:sp>
      <p:cxnSp>
        <p:nvCxnSpPr>
          <p:cNvPr id="16" name="Straight Arrow Connector 15">
            <a:extLst>
              <a:ext uri="{FF2B5EF4-FFF2-40B4-BE49-F238E27FC236}">
                <a16:creationId xmlns:a16="http://schemas.microsoft.com/office/drawing/2014/main" id="{AC61C5A0-6C1C-4C5A-9D13-73BABD68CF5A}"/>
              </a:ext>
            </a:extLst>
          </p:cNvPr>
          <p:cNvCxnSpPr>
            <a:cxnSpLocks/>
          </p:cNvCxnSpPr>
          <p:nvPr/>
        </p:nvCxnSpPr>
        <p:spPr>
          <a:xfrm>
            <a:off x="3303256" y="4606528"/>
            <a:ext cx="440596" cy="1992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C09F01A-89DF-4068-B603-FDCCCF0D0DC6}"/>
              </a:ext>
            </a:extLst>
          </p:cNvPr>
          <p:cNvCxnSpPr>
            <a:cxnSpLocks/>
          </p:cNvCxnSpPr>
          <p:nvPr/>
        </p:nvCxnSpPr>
        <p:spPr>
          <a:xfrm>
            <a:off x="4977321" y="3073008"/>
            <a:ext cx="711103" cy="5903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58D2C26-4BE3-4702-B503-794D18F1075D}"/>
              </a:ext>
            </a:extLst>
          </p:cNvPr>
          <p:cNvSpPr txBox="1"/>
          <p:nvPr/>
        </p:nvSpPr>
        <p:spPr>
          <a:xfrm>
            <a:off x="9433947" y="3329464"/>
            <a:ext cx="1821374" cy="1569660"/>
          </a:xfrm>
          <a:prstGeom prst="rect">
            <a:avLst/>
          </a:prstGeom>
          <a:noFill/>
        </p:spPr>
        <p:txBody>
          <a:bodyPr wrap="square" rtlCol="0">
            <a:spAutoFit/>
          </a:bodyPr>
          <a:lstStyle/>
          <a:p>
            <a:r>
              <a:rPr lang="en-US" sz="1600" i="1" dirty="0"/>
              <a:t>Given any state there will always be a transition to other states , including state itself</a:t>
            </a:r>
            <a:endParaRPr lang="en-IN" sz="1600" i="1" dirty="0"/>
          </a:p>
        </p:txBody>
      </p:sp>
      <p:sp>
        <p:nvSpPr>
          <p:cNvPr id="21" name="TextBox 20">
            <a:extLst>
              <a:ext uri="{FF2B5EF4-FFF2-40B4-BE49-F238E27FC236}">
                <a16:creationId xmlns:a16="http://schemas.microsoft.com/office/drawing/2014/main" id="{5A243BFF-F249-4541-85E0-FD20DC53C45B}"/>
              </a:ext>
            </a:extLst>
          </p:cNvPr>
          <p:cNvSpPr txBox="1"/>
          <p:nvPr/>
        </p:nvSpPr>
        <p:spPr>
          <a:xfrm>
            <a:off x="457200" y="2093820"/>
            <a:ext cx="2071271" cy="1200329"/>
          </a:xfrm>
          <a:prstGeom prst="rect">
            <a:avLst/>
          </a:prstGeom>
          <a:noFill/>
        </p:spPr>
        <p:txBody>
          <a:bodyPr wrap="square" rtlCol="0">
            <a:spAutoFit/>
          </a:bodyPr>
          <a:lstStyle/>
          <a:p>
            <a:r>
              <a:rPr lang="en-US" i="1" dirty="0"/>
              <a:t>When a machine is in any state, it always emits a visible state</a:t>
            </a:r>
            <a:endParaRPr lang="en-IN" i="1" dirty="0"/>
          </a:p>
        </p:txBody>
      </p:sp>
      <p:sp>
        <p:nvSpPr>
          <p:cNvPr id="22" name="TextBox 21">
            <a:extLst>
              <a:ext uri="{FF2B5EF4-FFF2-40B4-BE49-F238E27FC236}">
                <a16:creationId xmlns:a16="http://schemas.microsoft.com/office/drawing/2014/main" id="{D7C96A78-10C6-45F8-8AEB-8E29B45BB508}"/>
              </a:ext>
            </a:extLst>
          </p:cNvPr>
          <p:cNvSpPr txBox="1"/>
          <p:nvPr/>
        </p:nvSpPr>
        <p:spPr>
          <a:xfrm>
            <a:off x="9608333" y="1324708"/>
            <a:ext cx="1938898" cy="1815882"/>
          </a:xfrm>
          <a:prstGeom prst="rect">
            <a:avLst/>
          </a:prstGeom>
          <a:noFill/>
        </p:spPr>
        <p:txBody>
          <a:bodyPr wrap="square" rtlCol="0">
            <a:spAutoFit/>
          </a:bodyPr>
          <a:lstStyle/>
          <a:p>
            <a:r>
              <a:rPr lang="en-US" sz="1400" dirty="0">
                <a:solidFill>
                  <a:srgbClr val="C00000"/>
                </a:solidFill>
              </a:rPr>
              <a:t>Markov property</a:t>
            </a:r>
          </a:p>
          <a:p>
            <a:pPr marL="285750" indent="-285750">
              <a:buFont typeface="Arial" panose="020B0604020202020204" pitchFamily="34" charset="0"/>
              <a:buChar char="•"/>
            </a:pPr>
            <a:r>
              <a:rPr lang="en-US" sz="1400" i="1" dirty="0"/>
              <a:t>Memory less- At a time only one state is considered.</a:t>
            </a:r>
          </a:p>
          <a:p>
            <a:pPr marL="285750" indent="-285750">
              <a:buFont typeface="Arial" panose="020B0604020202020204" pitchFamily="34" charset="0"/>
              <a:buChar char="•"/>
            </a:pPr>
            <a:r>
              <a:rPr lang="en-US" sz="1400" i="1" dirty="0"/>
              <a:t>For prediction consider only present state.</a:t>
            </a:r>
            <a:br>
              <a:rPr lang="en-US" sz="1400" i="1" dirty="0"/>
            </a:br>
            <a:endParaRPr lang="en-IN" sz="1400" i="1" dirty="0"/>
          </a:p>
        </p:txBody>
      </p:sp>
      <p:sp>
        <p:nvSpPr>
          <p:cNvPr id="23" name="Title 1">
            <a:extLst>
              <a:ext uri="{FF2B5EF4-FFF2-40B4-BE49-F238E27FC236}">
                <a16:creationId xmlns:a16="http://schemas.microsoft.com/office/drawing/2014/main" id="{4115C37B-9901-4735-9224-76A91FA20FC2}"/>
              </a:ext>
            </a:extLst>
          </p:cNvPr>
          <p:cNvSpPr txBox="1">
            <a:spLocks/>
          </p:cNvSpPr>
          <p:nvPr/>
        </p:nvSpPr>
        <p:spPr>
          <a:xfrm>
            <a:off x="1523999" y="616068"/>
            <a:ext cx="9144000" cy="87457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800" b="1" dirty="0">
                <a:latin typeface="Roboto" panose="02000000000000000000" pitchFamily="2" charset="0"/>
              </a:rPr>
              <a:t>Hidden Markov Model</a:t>
            </a:r>
            <a:br>
              <a:rPr lang="en-IN" sz="2800" b="1" dirty="0">
                <a:latin typeface="Roboto" panose="02000000000000000000" pitchFamily="2" charset="0"/>
              </a:rPr>
            </a:br>
            <a:endParaRPr lang="en-IN" sz="2800" b="1" dirty="0"/>
          </a:p>
        </p:txBody>
      </p:sp>
      <p:cxnSp>
        <p:nvCxnSpPr>
          <p:cNvPr id="26" name="Straight Arrow Connector 25">
            <a:extLst>
              <a:ext uri="{FF2B5EF4-FFF2-40B4-BE49-F238E27FC236}">
                <a16:creationId xmlns:a16="http://schemas.microsoft.com/office/drawing/2014/main" id="{03964A05-2AE7-4C2C-9AA9-253237E44351}"/>
              </a:ext>
            </a:extLst>
          </p:cNvPr>
          <p:cNvCxnSpPr/>
          <p:nvPr/>
        </p:nvCxnSpPr>
        <p:spPr>
          <a:xfrm flipV="1">
            <a:off x="6732466" y="2565176"/>
            <a:ext cx="301380" cy="4616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843EB225-A787-4C99-8AED-D77A6E4274D7}"/>
              </a:ext>
            </a:extLst>
          </p:cNvPr>
          <p:cNvSpPr txBox="1"/>
          <p:nvPr/>
        </p:nvSpPr>
        <p:spPr>
          <a:xfrm>
            <a:off x="6800364" y="1982296"/>
            <a:ext cx="1493128" cy="584775"/>
          </a:xfrm>
          <a:prstGeom prst="rect">
            <a:avLst/>
          </a:prstGeom>
          <a:noFill/>
        </p:spPr>
        <p:txBody>
          <a:bodyPr wrap="square" rtlCol="0">
            <a:spAutoFit/>
          </a:bodyPr>
          <a:lstStyle/>
          <a:p>
            <a:r>
              <a:rPr lang="en-US" sz="1600" dirty="0"/>
              <a:t>Initial probability</a:t>
            </a:r>
            <a:endParaRPr lang="en-IN" sz="1600" dirty="0"/>
          </a:p>
        </p:txBody>
      </p:sp>
    </p:spTree>
    <p:extLst>
      <p:ext uri="{BB962C8B-B14F-4D97-AF65-F5344CB8AC3E}">
        <p14:creationId xmlns:p14="http://schemas.microsoft.com/office/powerpoint/2010/main" val="13131552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21BC1-F040-4862-9521-E9D43062B45B}"/>
              </a:ext>
            </a:extLst>
          </p:cNvPr>
          <p:cNvSpPr>
            <a:spLocks noGrp="1"/>
          </p:cNvSpPr>
          <p:nvPr>
            <p:ph type="title"/>
          </p:nvPr>
        </p:nvSpPr>
        <p:spPr/>
        <p:txBody>
          <a:bodyPr/>
          <a:lstStyle/>
          <a:p>
            <a:endParaRPr lang="en-IN"/>
          </a:p>
        </p:txBody>
      </p:sp>
      <p:pic>
        <p:nvPicPr>
          <p:cNvPr id="8" name="Content Placeholder 7">
            <a:extLst>
              <a:ext uri="{FF2B5EF4-FFF2-40B4-BE49-F238E27FC236}">
                <a16:creationId xmlns:a16="http://schemas.microsoft.com/office/drawing/2014/main" id="{623582D3-3DD2-486B-8B54-67A16A9EE6A1}"/>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1008184" y="2123910"/>
            <a:ext cx="9179536" cy="4207711"/>
          </a:xfrm>
        </p:spPr>
      </p:pic>
    </p:spTree>
    <p:extLst>
      <p:ext uri="{BB962C8B-B14F-4D97-AF65-F5344CB8AC3E}">
        <p14:creationId xmlns:p14="http://schemas.microsoft.com/office/powerpoint/2010/main" val="11499334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378B4-636B-3222-515B-344FE2E19116}"/>
              </a:ext>
            </a:extLst>
          </p:cNvPr>
          <p:cNvSpPr>
            <a:spLocks noGrp="1"/>
          </p:cNvSpPr>
          <p:nvPr>
            <p:ph type="title"/>
          </p:nvPr>
        </p:nvSpPr>
        <p:spPr/>
        <p:txBody>
          <a:bodyPr/>
          <a:lstStyle/>
          <a:p>
            <a:r>
              <a:rPr lang="en-IN" b="1" i="0" dirty="0">
                <a:effectLst/>
                <a:latin typeface="var(--font-family-heading-lesson-markdown)"/>
              </a:rPr>
              <a:t>Understanding hidden Markov models</a:t>
            </a:r>
            <a:br>
              <a:rPr lang="en-IN" b="1" i="0" dirty="0">
                <a:effectLst/>
                <a:latin typeface="var(--font-family-heading-lesson-markdown)"/>
              </a:rPr>
            </a:br>
            <a:endParaRPr lang="en-IN" dirty="0"/>
          </a:p>
        </p:txBody>
      </p:sp>
      <p:sp>
        <p:nvSpPr>
          <p:cNvPr id="3" name="Content Placeholder 2">
            <a:extLst>
              <a:ext uri="{FF2B5EF4-FFF2-40B4-BE49-F238E27FC236}">
                <a16:creationId xmlns:a16="http://schemas.microsoft.com/office/drawing/2014/main" id="{84A11352-6808-1A60-83E9-11F0665FFA3C}"/>
              </a:ext>
            </a:extLst>
          </p:cNvPr>
          <p:cNvSpPr>
            <a:spLocks noGrp="1"/>
          </p:cNvSpPr>
          <p:nvPr>
            <p:ph idx="1"/>
          </p:nvPr>
        </p:nvSpPr>
        <p:spPr/>
        <p:txBody>
          <a:bodyPr>
            <a:normAutofit fontScale="70000" lnSpcReduction="20000"/>
          </a:bodyPr>
          <a:lstStyle/>
          <a:p>
            <a:pPr algn="l"/>
            <a:r>
              <a:rPr lang="en-US" b="0" i="0" dirty="0">
                <a:solidFill>
                  <a:srgbClr val="374151"/>
                </a:solidFill>
                <a:effectLst/>
                <a:latin typeface="Droid Serif"/>
              </a:rPr>
              <a:t>A Hidden Markov Model consists of several components that capture the underlying patterns in sequential data.</a:t>
            </a:r>
          </a:p>
          <a:p>
            <a:pPr algn="l"/>
            <a:r>
              <a:rPr lang="en-US" b="1" i="0" dirty="0">
                <a:effectLst/>
                <a:latin typeface="var(--font-family-heading-lesson-markdown)"/>
              </a:rPr>
              <a:t>Start state</a:t>
            </a:r>
          </a:p>
          <a:p>
            <a:pPr algn="l"/>
            <a:r>
              <a:rPr lang="en-US" b="0" i="0" dirty="0">
                <a:solidFill>
                  <a:srgbClr val="374151"/>
                </a:solidFill>
                <a:effectLst/>
                <a:latin typeface="Droid Serif"/>
              </a:rPr>
              <a:t>The </a:t>
            </a:r>
            <a:r>
              <a:rPr lang="en-US" b="1" i="0" dirty="0">
                <a:solidFill>
                  <a:srgbClr val="374151"/>
                </a:solidFill>
                <a:effectLst/>
                <a:latin typeface="var(--font-family-body-lesson-markdown,&quot;Droid Serif&quot;)"/>
              </a:rPr>
              <a:t>start state</a:t>
            </a:r>
            <a:r>
              <a:rPr lang="en-US" b="0" i="0" dirty="0">
                <a:solidFill>
                  <a:srgbClr val="374151"/>
                </a:solidFill>
                <a:effectLst/>
                <a:latin typeface="Droid Serif"/>
              </a:rPr>
              <a:t> represents the initial state of the model. It is the starting point from which the sequence of hidden and observed states begins. The start state is associated with a start probability, which indicates the likelihood of starting the sequence from a particular hidden state.</a:t>
            </a:r>
          </a:p>
          <a:p>
            <a:pPr algn="l"/>
            <a:r>
              <a:rPr lang="en-US" b="1" i="0" dirty="0">
                <a:effectLst/>
                <a:latin typeface="var(--font-family-heading-lesson-markdown)"/>
              </a:rPr>
              <a:t>Hidden state</a:t>
            </a:r>
          </a:p>
          <a:p>
            <a:pPr algn="l"/>
            <a:r>
              <a:rPr lang="en-US" b="1" i="0" dirty="0">
                <a:solidFill>
                  <a:srgbClr val="374151"/>
                </a:solidFill>
                <a:effectLst/>
                <a:latin typeface="var(--font-family-body-lesson-markdown,&quot;Droid Serif&quot;)"/>
              </a:rPr>
              <a:t>Hidden state</a:t>
            </a:r>
            <a:r>
              <a:rPr lang="en-US" b="0" i="0" dirty="0">
                <a:solidFill>
                  <a:srgbClr val="374151"/>
                </a:solidFill>
                <a:effectLst/>
                <a:latin typeface="Droid Serif"/>
              </a:rPr>
              <a:t> represents the unobservable or latent state of a system. This characterizes the underlying dynamics or processes being modeled. Hidden states can be concepts, variables, or phenomena that are not directly accessible but influence the observed states.</a:t>
            </a:r>
          </a:p>
          <a:p>
            <a:pPr algn="l"/>
            <a:r>
              <a:rPr lang="en-US" b="1" i="0" dirty="0">
                <a:effectLst/>
                <a:latin typeface="var(--font-family-heading-lesson-markdown)"/>
              </a:rPr>
              <a:t>Observed states</a:t>
            </a:r>
          </a:p>
          <a:p>
            <a:pPr algn="l"/>
            <a:r>
              <a:rPr lang="en-US" b="1" i="0" dirty="0">
                <a:solidFill>
                  <a:srgbClr val="374151"/>
                </a:solidFill>
                <a:effectLst/>
                <a:latin typeface="var(--font-family-body-lesson-markdown,&quot;Droid Serif&quot;)"/>
              </a:rPr>
              <a:t>Observed or emitted states</a:t>
            </a:r>
            <a:r>
              <a:rPr lang="en-US" b="0" i="0" dirty="0">
                <a:solidFill>
                  <a:srgbClr val="374151"/>
                </a:solidFill>
                <a:effectLst/>
                <a:latin typeface="Droid Serif"/>
              </a:rPr>
              <a:t> are each hidden state’s measurable or observable outcomes. They represent the data or information that is available for analysis. The underlying hidden states influence the observed states and provide indirect insights into the hidden processes.</a:t>
            </a:r>
          </a:p>
          <a:p>
            <a:endParaRPr lang="en-IN" dirty="0"/>
          </a:p>
        </p:txBody>
      </p:sp>
    </p:spTree>
    <p:extLst>
      <p:ext uri="{BB962C8B-B14F-4D97-AF65-F5344CB8AC3E}">
        <p14:creationId xmlns:p14="http://schemas.microsoft.com/office/powerpoint/2010/main" val="36041480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817B9-73FF-55B5-FD80-930DAA233D1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9DAACC5-2157-A506-EC87-0B8D9070D09B}"/>
              </a:ext>
            </a:extLst>
          </p:cNvPr>
          <p:cNvSpPr>
            <a:spLocks noGrp="1"/>
          </p:cNvSpPr>
          <p:nvPr>
            <p:ph idx="1"/>
          </p:nvPr>
        </p:nvSpPr>
        <p:spPr/>
        <p:txBody>
          <a:bodyPr>
            <a:normAutofit fontScale="62500" lnSpcReduction="20000"/>
          </a:bodyPr>
          <a:lstStyle/>
          <a:p>
            <a:pPr algn="l"/>
            <a:r>
              <a:rPr lang="en-US" b="1" i="0" dirty="0">
                <a:effectLst/>
                <a:latin typeface="var(--font-family-heading-lesson-markdown)"/>
              </a:rPr>
              <a:t>Start probabilities</a:t>
            </a:r>
          </a:p>
          <a:p>
            <a:pPr algn="l"/>
            <a:r>
              <a:rPr lang="en-US" b="1" i="0" dirty="0">
                <a:solidFill>
                  <a:srgbClr val="374151"/>
                </a:solidFill>
                <a:effectLst/>
                <a:latin typeface="var(--font-family-body-lesson-markdown,&quot;Droid Serif&quot;)"/>
              </a:rPr>
              <a:t>Start probabilities</a:t>
            </a:r>
            <a:r>
              <a:rPr lang="en-US" b="0" i="0" dirty="0">
                <a:solidFill>
                  <a:srgbClr val="374151"/>
                </a:solidFill>
                <a:effectLst/>
                <a:latin typeface="Droid Serif"/>
              </a:rPr>
              <a:t> represent the initial probabilities of being in each hidden state at the start of the sequence. These probabilities reflect the likelihood of starting the sequence from a specific hidden state.</a:t>
            </a:r>
          </a:p>
          <a:p>
            <a:pPr algn="l"/>
            <a:r>
              <a:rPr lang="en-US" b="1" i="0" dirty="0">
                <a:effectLst/>
                <a:latin typeface="var(--font-family-heading-lesson-markdown)"/>
              </a:rPr>
              <a:t>Transition probabilities</a:t>
            </a:r>
          </a:p>
          <a:p>
            <a:pPr algn="l"/>
            <a:r>
              <a:rPr lang="en-US" b="1" i="0" dirty="0">
                <a:solidFill>
                  <a:srgbClr val="374151"/>
                </a:solidFill>
                <a:effectLst/>
                <a:latin typeface="var(--font-family-body-lesson-markdown,&quot;Droid Serif&quot;)"/>
              </a:rPr>
              <a:t>Transition probabilities</a:t>
            </a:r>
            <a:r>
              <a:rPr lang="en-US" b="0" i="0" dirty="0">
                <a:solidFill>
                  <a:srgbClr val="374151"/>
                </a:solidFill>
                <a:effectLst/>
                <a:latin typeface="Droid Serif"/>
              </a:rPr>
              <a:t> describe the likelihood of transitioning from one hidden state to another. They capture the system’s dynamics and represent the probabilities of moving between hidden states at each time step. Transition probabilities in an HMM are typically modeled as conditional probabilities based on the previous hidden state.</a:t>
            </a:r>
          </a:p>
          <a:p>
            <a:pPr algn="l"/>
            <a:r>
              <a:rPr lang="en-US" b="1" i="0" dirty="0">
                <a:effectLst/>
                <a:latin typeface="var(--font-family-heading-lesson-markdown)"/>
              </a:rPr>
              <a:t>Emission probabilities</a:t>
            </a:r>
          </a:p>
          <a:p>
            <a:pPr algn="l"/>
            <a:r>
              <a:rPr lang="en-US" b="1" i="0" dirty="0">
                <a:solidFill>
                  <a:srgbClr val="374151"/>
                </a:solidFill>
                <a:effectLst/>
                <a:latin typeface="var(--font-family-body-lesson-markdown,&quot;Droid Serif&quot;)"/>
              </a:rPr>
              <a:t>Emission probabilities</a:t>
            </a:r>
            <a:r>
              <a:rPr lang="en-US" b="0" i="0" dirty="0">
                <a:solidFill>
                  <a:srgbClr val="374151"/>
                </a:solidFill>
                <a:effectLst/>
                <a:latin typeface="Droid Serif"/>
              </a:rPr>
              <a:t> define the probability distribution of observing a particular state given the current hidden state. They represent the relationship between hidden states and observed states. Emission probabilities specify the likelihood of generating a specific observed state from a particular hidden state. These probabilities can be used to infer the underlying hidden states based on the observed data.</a:t>
            </a:r>
          </a:p>
          <a:p>
            <a:pPr algn="l"/>
            <a:r>
              <a:rPr lang="en-US" b="0" i="0" dirty="0">
                <a:solidFill>
                  <a:srgbClr val="374151"/>
                </a:solidFill>
                <a:effectLst/>
                <a:latin typeface="Droid Serif"/>
              </a:rPr>
              <a:t>The illustration below depicts a simple example of an HMM containing the categories mentioned above:</a:t>
            </a:r>
          </a:p>
          <a:p>
            <a:endParaRPr lang="en-IN" dirty="0"/>
          </a:p>
        </p:txBody>
      </p:sp>
    </p:spTree>
    <p:extLst>
      <p:ext uri="{BB962C8B-B14F-4D97-AF65-F5344CB8AC3E}">
        <p14:creationId xmlns:p14="http://schemas.microsoft.com/office/powerpoint/2010/main" val="4280401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D0DA2-E7C3-62D5-7840-7BE8EB2E21E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453AE72-BB26-BF63-3EBC-9B32CCE81891}"/>
              </a:ext>
            </a:extLst>
          </p:cNvPr>
          <p:cNvSpPr>
            <a:spLocks noGrp="1"/>
          </p:cNvSpPr>
          <p:nvPr>
            <p:ph idx="1"/>
          </p:nvPr>
        </p:nvSpPr>
        <p:spPr/>
        <p:txBody>
          <a:bodyPr/>
          <a:lstStyle/>
          <a:p>
            <a:pPr algn="just"/>
            <a:r>
              <a:rPr lang="en-US" b="0" i="0" dirty="0">
                <a:solidFill>
                  <a:srgbClr val="202124"/>
                </a:solidFill>
                <a:effectLst/>
                <a:latin typeface="Google Sans"/>
              </a:rPr>
              <a:t>An HMM consists of two types of variables: hidden states and observations. The hidden states are </a:t>
            </a:r>
            <a:r>
              <a:rPr lang="en-US" b="0" i="0" dirty="0">
                <a:solidFill>
                  <a:srgbClr val="040C28"/>
                </a:solidFill>
                <a:effectLst/>
                <a:latin typeface="Google Sans"/>
              </a:rPr>
              <a:t>the underlying variables that generate the observed data, but they are not directly observable</a:t>
            </a:r>
            <a:r>
              <a:rPr lang="en-US" b="0" i="0" dirty="0">
                <a:solidFill>
                  <a:srgbClr val="202124"/>
                </a:solidFill>
                <a:effectLst/>
                <a:latin typeface="Google Sans"/>
              </a:rPr>
              <a:t>. The observations are the variables that are measured and observed</a:t>
            </a:r>
            <a:endParaRPr lang="en-IN" dirty="0"/>
          </a:p>
        </p:txBody>
      </p:sp>
    </p:spTree>
    <p:extLst>
      <p:ext uri="{BB962C8B-B14F-4D97-AF65-F5344CB8AC3E}">
        <p14:creationId xmlns:p14="http://schemas.microsoft.com/office/powerpoint/2010/main" val="15141857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176C6-26F3-48AA-9963-BD5AB3E83081}"/>
              </a:ext>
            </a:extLst>
          </p:cNvPr>
          <p:cNvSpPr>
            <a:spLocks noGrp="1"/>
          </p:cNvSpPr>
          <p:nvPr>
            <p:ph type="title"/>
          </p:nvPr>
        </p:nvSpPr>
        <p:spPr/>
        <p:txBody>
          <a:bodyPr/>
          <a:lstStyle/>
          <a:p>
            <a:r>
              <a:rPr lang="en-IN" b="1" i="0" dirty="0">
                <a:solidFill>
                  <a:srgbClr val="292929"/>
                </a:solidFill>
                <a:effectLst/>
                <a:latin typeface="charter"/>
              </a:rPr>
              <a:t>Terminology in HMM</a:t>
            </a:r>
            <a:endParaRPr lang="en-IN" dirty="0"/>
          </a:p>
        </p:txBody>
      </p:sp>
      <p:sp>
        <p:nvSpPr>
          <p:cNvPr id="3" name="Content Placeholder 2">
            <a:extLst>
              <a:ext uri="{FF2B5EF4-FFF2-40B4-BE49-F238E27FC236}">
                <a16:creationId xmlns:a16="http://schemas.microsoft.com/office/drawing/2014/main" id="{5A701489-99DA-4A2A-A22D-A553291F428F}"/>
              </a:ext>
            </a:extLst>
          </p:cNvPr>
          <p:cNvSpPr>
            <a:spLocks noGrp="1"/>
          </p:cNvSpPr>
          <p:nvPr>
            <p:ph idx="1"/>
          </p:nvPr>
        </p:nvSpPr>
        <p:spPr/>
        <p:txBody>
          <a:bodyPr/>
          <a:lstStyle/>
          <a:p>
            <a:pPr algn="just"/>
            <a:r>
              <a:rPr lang="en-US" dirty="0"/>
              <a:t>The term hidden refers to the first order Markov process behind the observation. Observation refers to the data we know and can observe. Markov process is shown by the interaction between “Rainy” and “Sunny” and each of these are HIDDEN STATES.</a:t>
            </a:r>
          </a:p>
          <a:p>
            <a:pPr algn="just"/>
            <a:r>
              <a:rPr lang="en-US" b="1" i="0" dirty="0">
                <a:solidFill>
                  <a:srgbClr val="292929"/>
                </a:solidFill>
                <a:effectLst/>
                <a:latin typeface="charter"/>
              </a:rPr>
              <a:t>OBSERVATIONS</a:t>
            </a:r>
            <a:r>
              <a:rPr lang="en-US" b="0" i="0" dirty="0">
                <a:solidFill>
                  <a:srgbClr val="292929"/>
                </a:solidFill>
                <a:effectLst/>
                <a:latin typeface="charter"/>
              </a:rPr>
              <a:t> are known data and refers to “Walk”, “Shop”, and “Clean” in the above diagram. </a:t>
            </a:r>
            <a:r>
              <a:rPr lang="en-US" dirty="0"/>
              <a:t>In machine learning sense, observation is our training data, and the number of hidden states is our hyper parameter for our model.</a:t>
            </a:r>
            <a:r>
              <a:rPr lang="en-US" b="0" i="0" dirty="0">
                <a:solidFill>
                  <a:srgbClr val="292929"/>
                </a:solidFill>
                <a:effectLst/>
                <a:latin typeface="charter"/>
              </a:rPr>
              <a:t> </a:t>
            </a:r>
            <a:endParaRPr lang="en-IN" dirty="0"/>
          </a:p>
        </p:txBody>
      </p:sp>
    </p:spTree>
    <p:extLst>
      <p:ext uri="{BB962C8B-B14F-4D97-AF65-F5344CB8AC3E}">
        <p14:creationId xmlns:p14="http://schemas.microsoft.com/office/powerpoint/2010/main" val="14686866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1A765-238A-48B6-9823-0983CA72EEE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6CEEE32-C2FB-4979-8B29-E9CF556A0CF2}"/>
              </a:ext>
            </a:extLst>
          </p:cNvPr>
          <p:cNvSpPr>
            <a:spLocks noGrp="1"/>
          </p:cNvSpPr>
          <p:nvPr>
            <p:ph idx="1"/>
          </p:nvPr>
        </p:nvSpPr>
        <p:spPr/>
        <p:txBody>
          <a:bodyPr>
            <a:normAutofit lnSpcReduction="10000"/>
          </a:bodyPr>
          <a:lstStyle/>
          <a:p>
            <a:r>
              <a:rPr lang="en-US" b="1" u="sng" dirty="0"/>
              <a:t>What is hidden</a:t>
            </a:r>
          </a:p>
          <a:p>
            <a:r>
              <a:rPr lang="en-US" b="1" dirty="0"/>
              <a:t> </a:t>
            </a:r>
            <a:r>
              <a:rPr lang="en-US" dirty="0"/>
              <a:t>Refers to the state sequence through which the model passes.</a:t>
            </a:r>
          </a:p>
          <a:p>
            <a:r>
              <a:rPr lang="en-US" b="1" u="sng" dirty="0"/>
              <a:t>Property of HMM:</a:t>
            </a:r>
          </a:p>
          <a:p>
            <a:r>
              <a:rPr lang="en-US" dirty="0">
                <a:solidFill>
                  <a:srgbClr val="FF0000"/>
                </a:solidFill>
              </a:rPr>
              <a:t>Memory less- </a:t>
            </a:r>
            <a:r>
              <a:rPr lang="en-US" dirty="0"/>
              <a:t>Takes only one state which is normally the current state and the prediction can be only be based on the present state.</a:t>
            </a:r>
          </a:p>
          <a:p>
            <a:r>
              <a:rPr lang="en-US" dirty="0"/>
              <a:t>Sum of all emission probabilities is 1</a:t>
            </a:r>
          </a:p>
          <a:p>
            <a:r>
              <a:rPr lang="en-US" dirty="0"/>
              <a:t>Sum of all transition probabilities also 1</a:t>
            </a:r>
          </a:p>
          <a:p>
            <a:r>
              <a:rPr lang="en-US" dirty="0">
                <a:solidFill>
                  <a:srgbClr val="FF0000"/>
                </a:solidFill>
              </a:rPr>
              <a:t>Each next state depends upon the previous state only.</a:t>
            </a:r>
          </a:p>
          <a:p>
            <a:r>
              <a:rPr lang="en-US" dirty="0"/>
              <a:t>P(q1, q2, q3…qn)= p(q1)*p(q2|q1)* p(q3|q2)*….</a:t>
            </a:r>
          </a:p>
        </p:txBody>
      </p:sp>
    </p:spTree>
    <p:extLst>
      <p:ext uri="{BB962C8B-B14F-4D97-AF65-F5344CB8AC3E}">
        <p14:creationId xmlns:p14="http://schemas.microsoft.com/office/powerpoint/2010/main" val="12832471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E2A90-0E4B-FC0F-DD88-B15B5740E67A}"/>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B617AA1-6124-48C7-2488-1E78B49556AA}"/>
              </a:ext>
            </a:extLst>
          </p:cNvPr>
          <p:cNvPicPr>
            <a:picLocks noGrp="1" noChangeAspect="1"/>
          </p:cNvPicPr>
          <p:nvPr>
            <p:ph idx="1"/>
          </p:nvPr>
        </p:nvPicPr>
        <p:blipFill>
          <a:blip r:embed="rId2"/>
          <a:stretch>
            <a:fillRect/>
          </a:stretch>
        </p:blipFill>
        <p:spPr>
          <a:xfrm>
            <a:off x="1760202" y="1825625"/>
            <a:ext cx="8671595" cy="4351338"/>
          </a:xfrm>
        </p:spPr>
      </p:pic>
    </p:spTree>
    <p:extLst>
      <p:ext uri="{BB962C8B-B14F-4D97-AF65-F5344CB8AC3E}">
        <p14:creationId xmlns:p14="http://schemas.microsoft.com/office/powerpoint/2010/main" val="13037629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2DC18-4C46-40FB-BB20-7307A1C61F3F}"/>
              </a:ext>
            </a:extLst>
          </p:cNvPr>
          <p:cNvSpPr>
            <a:spLocks noGrp="1"/>
          </p:cNvSpPr>
          <p:nvPr>
            <p:ph type="title"/>
          </p:nvPr>
        </p:nvSpPr>
        <p:spPr/>
        <p:txBody>
          <a:bodyPr/>
          <a:lstStyle/>
          <a:p>
            <a:r>
              <a:rPr lang="en-US" dirty="0"/>
              <a:t>HMM can be used to solve these types of problems</a:t>
            </a:r>
            <a:r>
              <a:rPr lang="en-US"/>
              <a:t>(important)</a:t>
            </a:r>
            <a:endParaRPr lang="en-IN" dirty="0"/>
          </a:p>
        </p:txBody>
      </p:sp>
      <p:pic>
        <p:nvPicPr>
          <p:cNvPr id="5" name="Content Placeholder 4">
            <a:extLst>
              <a:ext uri="{FF2B5EF4-FFF2-40B4-BE49-F238E27FC236}">
                <a16:creationId xmlns:a16="http://schemas.microsoft.com/office/drawing/2014/main" id="{BD563471-58D6-4A64-A5E1-7ECBE02C569F}"/>
              </a:ext>
            </a:extLst>
          </p:cNvPr>
          <p:cNvPicPr>
            <a:picLocks noGrp="1" noChangeAspect="1"/>
          </p:cNvPicPr>
          <p:nvPr>
            <p:ph idx="1"/>
          </p:nvPr>
        </p:nvPicPr>
        <p:blipFill>
          <a:blip r:embed="rId2"/>
          <a:stretch>
            <a:fillRect/>
          </a:stretch>
        </p:blipFill>
        <p:spPr>
          <a:xfrm>
            <a:off x="2604900" y="1825625"/>
            <a:ext cx="6982200" cy="4351338"/>
          </a:xfrm>
        </p:spPr>
      </p:pic>
      <p:pic>
        <p:nvPicPr>
          <p:cNvPr id="7" name="Picture 6">
            <a:extLst>
              <a:ext uri="{FF2B5EF4-FFF2-40B4-BE49-F238E27FC236}">
                <a16:creationId xmlns:a16="http://schemas.microsoft.com/office/drawing/2014/main" id="{2767FBCC-19CE-40DB-A484-3CA35F6D64BD}"/>
              </a:ext>
            </a:extLst>
          </p:cNvPr>
          <p:cNvPicPr>
            <a:picLocks noChangeAspect="1"/>
          </p:cNvPicPr>
          <p:nvPr/>
        </p:nvPicPr>
        <p:blipFill>
          <a:blip r:embed="rId2"/>
          <a:stretch>
            <a:fillRect/>
          </a:stretch>
        </p:blipFill>
        <p:spPr>
          <a:xfrm>
            <a:off x="1785937" y="1825624"/>
            <a:ext cx="8620125" cy="5032375"/>
          </a:xfrm>
          <a:prstGeom prst="rect">
            <a:avLst/>
          </a:prstGeom>
        </p:spPr>
      </p:pic>
    </p:spTree>
    <p:extLst>
      <p:ext uri="{BB962C8B-B14F-4D97-AF65-F5344CB8AC3E}">
        <p14:creationId xmlns:p14="http://schemas.microsoft.com/office/powerpoint/2010/main" val="5877088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0326C-021D-414E-A1D8-3E3056A18BD8}"/>
              </a:ext>
            </a:extLst>
          </p:cNvPr>
          <p:cNvSpPr>
            <a:spLocks noGrp="1"/>
          </p:cNvSpPr>
          <p:nvPr>
            <p:ph type="title"/>
          </p:nvPr>
        </p:nvSpPr>
        <p:spPr/>
        <p:txBody>
          <a:bodyPr/>
          <a:lstStyle/>
          <a:p>
            <a:r>
              <a:rPr lang="en-US" dirty="0"/>
              <a:t>Transition table</a:t>
            </a:r>
            <a:endParaRPr lang="en-IN" dirty="0"/>
          </a:p>
        </p:txBody>
      </p:sp>
      <p:graphicFrame>
        <p:nvGraphicFramePr>
          <p:cNvPr id="4" name="Table 4">
            <a:extLst>
              <a:ext uri="{FF2B5EF4-FFF2-40B4-BE49-F238E27FC236}">
                <a16:creationId xmlns:a16="http://schemas.microsoft.com/office/drawing/2014/main" id="{0784F540-72C3-4E9D-94B5-7EECE89345E8}"/>
              </a:ext>
            </a:extLst>
          </p:cNvPr>
          <p:cNvGraphicFramePr>
            <a:graphicFrameLocks noGrp="1"/>
          </p:cNvGraphicFramePr>
          <p:nvPr>
            <p:ph idx="1"/>
            <p:extLst>
              <p:ext uri="{D42A27DB-BD31-4B8C-83A1-F6EECF244321}">
                <p14:modId xmlns:p14="http://schemas.microsoft.com/office/powerpoint/2010/main" val="1136036395"/>
              </p:ext>
            </p:extLst>
          </p:nvPr>
        </p:nvGraphicFramePr>
        <p:xfrm>
          <a:off x="1550377" y="1441787"/>
          <a:ext cx="6972300" cy="2289176"/>
        </p:xfrm>
        <a:graphic>
          <a:graphicData uri="http://schemas.openxmlformats.org/drawingml/2006/table">
            <a:tbl>
              <a:tblPr firstRow="1" bandRow="1">
                <a:tableStyleId>{5C22544A-7EE6-4342-B048-85BDC9FD1C3A}</a:tableStyleId>
              </a:tblPr>
              <a:tblGrid>
                <a:gridCol w="1743075">
                  <a:extLst>
                    <a:ext uri="{9D8B030D-6E8A-4147-A177-3AD203B41FA5}">
                      <a16:colId xmlns:a16="http://schemas.microsoft.com/office/drawing/2014/main" val="3358723302"/>
                    </a:ext>
                  </a:extLst>
                </a:gridCol>
                <a:gridCol w="1743075">
                  <a:extLst>
                    <a:ext uri="{9D8B030D-6E8A-4147-A177-3AD203B41FA5}">
                      <a16:colId xmlns:a16="http://schemas.microsoft.com/office/drawing/2014/main" val="2079498944"/>
                    </a:ext>
                  </a:extLst>
                </a:gridCol>
                <a:gridCol w="1743075">
                  <a:extLst>
                    <a:ext uri="{9D8B030D-6E8A-4147-A177-3AD203B41FA5}">
                      <a16:colId xmlns:a16="http://schemas.microsoft.com/office/drawing/2014/main" val="1874423176"/>
                    </a:ext>
                  </a:extLst>
                </a:gridCol>
                <a:gridCol w="1743075">
                  <a:extLst>
                    <a:ext uri="{9D8B030D-6E8A-4147-A177-3AD203B41FA5}">
                      <a16:colId xmlns:a16="http://schemas.microsoft.com/office/drawing/2014/main" val="904006411"/>
                    </a:ext>
                  </a:extLst>
                </a:gridCol>
              </a:tblGrid>
              <a:tr h="572294">
                <a:tc>
                  <a:txBody>
                    <a:bodyPr/>
                    <a:lstStyle/>
                    <a:p>
                      <a:endParaRPr lang="en-IN"/>
                    </a:p>
                  </a:txBody>
                  <a:tcPr/>
                </a:tc>
                <a:tc>
                  <a:txBody>
                    <a:bodyPr/>
                    <a:lstStyle/>
                    <a:p>
                      <a:r>
                        <a:rPr lang="en-US" dirty="0"/>
                        <a:t>Rainy (S1)</a:t>
                      </a:r>
                      <a:endParaRPr lang="en-IN" dirty="0"/>
                    </a:p>
                  </a:txBody>
                  <a:tcPr/>
                </a:tc>
                <a:tc>
                  <a:txBody>
                    <a:bodyPr/>
                    <a:lstStyle/>
                    <a:p>
                      <a:r>
                        <a:rPr lang="en-US" dirty="0"/>
                        <a:t>Cloudy  (S2)</a:t>
                      </a:r>
                      <a:endParaRPr lang="en-IN" dirty="0"/>
                    </a:p>
                  </a:txBody>
                  <a:tcPr/>
                </a:tc>
                <a:tc>
                  <a:txBody>
                    <a:bodyPr/>
                    <a:lstStyle/>
                    <a:p>
                      <a:r>
                        <a:rPr lang="en-US" dirty="0"/>
                        <a:t>Sunny (S3)</a:t>
                      </a:r>
                      <a:endParaRPr lang="en-IN" dirty="0"/>
                    </a:p>
                  </a:txBody>
                  <a:tcPr/>
                </a:tc>
                <a:extLst>
                  <a:ext uri="{0D108BD9-81ED-4DB2-BD59-A6C34878D82A}">
                    <a16:rowId xmlns:a16="http://schemas.microsoft.com/office/drawing/2014/main" val="3212391518"/>
                  </a:ext>
                </a:extLst>
              </a:tr>
              <a:tr h="572294">
                <a:tc>
                  <a:txBody>
                    <a:bodyPr/>
                    <a:lstStyle/>
                    <a:p>
                      <a:r>
                        <a:rPr lang="en-US" dirty="0"/>
                        <a:t>Rainy (S1)</a:t>
                      </a:r>
                      <a:endParaRPr lang="en-IN" dirty="0"/>
                    </a:p>
                  </a:txBody>
                  <a:tcPr/>
                </a:tc>
                <a:tc>
                  <a:txBody>
                    <a:bodyPr/>
                    <a:lstStyle/>
                    <a:p>
                      <a:r>
                        <a:rPr lang="en-US" dirty="0"/>
                        <a:t>0.4</a:t>
                      </a:r>
                      <a:endParaRPr lang="en-IN" dirty="0"/>
                    </a:p>
                  </a:txBody>
                  <a:tcPr/>
                </a:tc>
                <a:tc>
                  <a:txBody>
                    <a:bodyPr/>
                    <a:lstStyle/>
                    <a:p>
                      <a:r>
                        <a:rPr lang="en-US" dirty="0"/>
                        <a:t>0.3</a:t>
                      </a:r>
                      <a:endParaRPr lang="en-IN" dirty="0"/>
                    </a:p>
                  </a:txBody>
                  <a:tcPr/>
                </a:tc>
                <a:tc>
                  <a:txBody>
                    <a:bodyPr/>
                    <a:lstStyle/>
                    <a:p>
                      <a:r>
                        <a:rPr lang="en-US" dirty="0"/>
                        <a:t>0.3</a:t>
                      </a:r>
                      <a:endParaRPr lang="en-IN" dirty="0"/>
                    </a:p>
                  </a:txBody>
                  <a:tcPr/>
                </a:tc>
                <a:extLst>
                  <a:ext uri="{0D108BD9-81ED-4DB2-BD59-A6C34878D82A}">
                    <a16:rowId xmlns:a16="http://schemas.microsoft.com/office/drawing/2014/main" val="671080453"/>
                  </a:ext>
                </a:extLst>
              </a:tr>
              <a:tr h="572294">
                <a:tc>
                  <a:txBody>
                    <a:bodyPr/>
                    <a:lstStyle/>
                    <a:p>
                      <a:r>
                        <a:rPr lang="en-US" dirty="0"/>
                        <a:t>Cloudy (S2)</a:t>
                      </a:r>
                      <a:endParaRPr lang="en-IN" dirty="0"/>
                    </a:p>
                  </a:txBody>
                  <a:tcPr/>
                </a:tc>
                <a:tc>
                  <a:txBody>
                    <a:bodyPr/>
                    <a:lstStyle/>
                    <a:p>
                      <a:r>
                        <a:rPr lang="en-US" dirty="0"/>
                        <a:t>0.2</a:t>
                      </a:r>
                      <a:endParaRPr lang="en-IN" dirty="0"/>
                    </a:p>
                  </a:txBody>
                  <a:tcPr/>
                </a:tc>
                <a:tc>
                  <a:txBody>
                    <a:bodyPr/>
                    <a:lstStyle/>
                    <a:p>
                      <a:r>
                        <a:rPr lang="en-US" dirty="0"/>
                        <a:t>0.6</a:t>
                      </a:r>
                      <a:endParaRPr lang="en-IN" dirty="0"/>
                    </a:p>
                  </a:txBody>
                  <a:tcPr/>
                </a:tc>
                <a:tc>
                  <a:txBody>
                    <a:bodyPr/>
                    <a:lstStyle/>
                    <a:p>
                      <a:r>
                        <a:rPr lang="en-US" dirty="0"/>
                        <a:t>0.2</a:t>
                      </a:r>
                      <a:endParaRPr lang="en-IN" dirty="0"/>
                    </a:p>
                  </a:txBody>
                  <a:tcPr/>
                </a:tc>
                <a:extLst>
                  <a:ext uri="{0D108BD9-81ED-4DB2-BD59-A6C34878D82A}">
                    <a16:rowId xmlns:a16="http://schemas.microsoft.com/office/drawing/2014/main" val="2638484513"/>
                  </a:ext>
                </a:extLst>
              </a:tr>
              <a:tr h="572294">
                <a:tc>
                  <a:txBody>
                    <a:bodyPr/>
                    <a:lstStyle/>
                    <a:p>
                      <a:r>
                        <a:rPr lang="en-US" dirty="0"/>
                        <a:t>Sunny (S3)</a:t>
                      </a:r>
                      <a:endParaRPr lang="en-IN" dirty="0"/>
                    </a:p>
                  </a:txBody>
                  <a:tcPr/>
                </a:tc>
                <a:tc>
                  <a:txBody>
                    <a:bodyPr/>
                    <a:lstStyle/>
                    <a:p>
                      <a:r>
                        <a:rPr lang="en-US" dirty="0"/>
                        <a:t>0.1</a:t>
                      </a:r>
                      <a:endParaRPr lang="en-IN" dirty="0"/>
                    </a:p>
                  </a:txBody>
                  <a:tcPr/>
                </a:tc>
                <a:tc>
                  <a:txBody>
                    <a:bodyPr/>
                    <a:lstStyle/>
                    <a:p>
                      <a:r>
                        <a:rPr lang="en-US" dirty="0"/>
                        <a:t>0.1</a:t>
                      </a:r>
                      <a:endParaRPr lang="en-IN" dirty="0"/>
                    </a:p>
                  </a:txBody>
                  <a:tcPr/>
                </a:tc>
                <a:tc>
                  <a:txBody>
                    <a:bodyPr/>
                    <a:lstStyle/>
                    <a:p>
                      <a:r>
                        <a:rPr lang="en-US" dirty="0"/>
                        <a:t>0.8</a:t>
                      </a:r>
                      <a:endParaRPr lang="en-IN" dirty="0"/>
                    </a:p>
                  </a:txBody>
                  <a:tcPr/>
                </a:tc>
                <a:extLst>
                  <a:ext uri="{0D108BD9-81ED-4DB2-BD59-A6C34878D82A}">
                    <a16:rowId xmlns:a16="http://schemas.microsoft.com/office/drawing/2014/main" val="158969902"/>
                  </a:ext>
                </a:extLst>
              </a:tr>
            </a:tbl>
          </a:graphicData>
        </a:graphic>
      </p:graphicFrame>
      <p:sp>
        <p:nvSpPr>
          <p:cNvPr id="5" name="TextBox 4">
            <a:extLst>
              <a:ext uri="{FF2B5EF4-FFF2-40B4-BE49-F238E27FC236}">
                <a16:creationId xmlns:a16="http://schemas.microsoft.com/office/drawing/2014/main" id="{0DCED1B6-8FDF-464E-820E-8161E749B90F}"/>
              </a:ext>
            </a:extLst>
          </p:cNvPr>
          <p:cNvSpPr txBox="1"/>
          <p:nvPr/>
        </p:nvSpPr>
        <p:spPr>
          <a:xfrm>
            <a:off x="838200" y="3811473"/>
            <a:ext cx="8094785" cy="2862322"/>
          </a:xfrm>
          <a:prstGeom prst="rect">
            <a:avLst/>
          </a:prstGeom>
          <a:noFill/>
        </p:spPr>
        <p:txBody>
          <a:bodyPr wrap="square" rtlCol="0">
            <a:spAutoFit/>
          </a:bodyPr>
          <a:lstStyle/>
          <a:p>
            <a:r>
              <a:rPr lang="en-US" dirty="0"/>
              <a:t>Q1: Make the Hidden Markov model</a:t>
            </a:r>
          </a:p>
          <a:p>
            <a:r>
              <a:rPr lang="en-US" dirty="0"/>
              <a:t>Q2: what is the probability of having 6 days weather like :</a:t>
            </a:r>
          </a:p>
          <a:p>
            <a:endParaRPr lang="en-US" dirty="0"/>
          </a:p>
          <a:p>
            <a:r>
              <a:rPr lang="en-US" dirty="0"/>
              <a:t>Day1: cloudy</a:t>
            </a:r>
          </a:p>
          <a:p>
            <a:r>
              <a:rPr lang="en-US" dirty="0"/>
              <a:t>Dat2:  rainy</a:t>
            </a:r>
          </a:p>
          <a:p>
            <a:r>
              <a:rPr lang="en-US" dirty="0"/>
              <a:t>Day3:  rainy</a:t>
            </a:r>
          </a:p>
          <a:p>
            <a:r>
              <a:rPr lang="en-US" dirty="0"/>
              <a:t>Day4:  sunny</a:t>
            </a:r>
          </a:p>
          <a:p>
            <a:r>
              <a:rPr lang="en-US" dirty="0"/>
              <a:t>Day5:  cloudy</a:t>
            </a:r>
          </a:p>
          <a:p>
            <a:r>
              <a:rPr lang="en-US" dirty="0"/>
              <a:t>Day6:  sunny</a:t>
            </a:r>
          </a:p>
          <a:p>
            <a:r>
              <a:rPr lang="en-IN" dirty="0"/>
              <a:t>Its given that todays weather is sunny</a:t>
            </a:r>
          </a:p>
        </p:txBody>
      </p:sp>
      <p:sp>
        <p:nvSpPr>
          <p:cNvPr id="6" name="TextBox 5">
            <a:extLst>
              <a:ext uri="{FF2B5EF4-FFF2-40B4-BE49-F238E27FC236}">
                <a16:creationId xmlns:a16="http://schemas.microsoft.com/office/drawing/2014/main" id="{893F5E5C-C3B2-455E-9056-F14D24E7E02B}"/>
              </a:ext>
            </a:extLst>
          </p:cNvPr>
          <p:cNvSpPr txBox="1"/>
          <p:nvPr/>
        </p:nvSpPr>
        <p:spPr>
          <a:xfrm>
            <a:off x="7162800" y="4525108"/>
            <a:ext cx="2391508" cy="1200329"/>
          </a:xfrm>
          <a:prstGeom prst="rect">
            <a:avLst/>
          </a:prstGeom>
          <a:noFill/>
        </p:spPr>
        <p:txBody>
          <a:bodyPr wrap="square" rtlCol="0">
            <a:spAutoFit/>
          </a:bodyPr>
          <a:lstStyle/>
          <a:p>
            <a:r>
              <a:rPr lang="en-US" dirty="0">
                <a:solidFill>
                  <a:srgbClr val="FF0000"/>
                </a:solidFill>
              </a:rPr>
              <a:t>The states are:</a:t>
            </a:r>
          </a:p>
          <a:p>
            <a:r>
              <a:rPr lang="en-US" dirty="0"/>
              <a:t>S1: Rainy</a:t>
            </a:r>
          </a:p>
          <a:p>
            <a:r>
              <a:rPr lang="en-US" dirty="0"/>
              <a:t>S2: Cloudy</a:t>
            </a:r>
          </a:p>
          <a:p>
            <a:r>
              <a:rPr lang="en-US" dirty="0"/>
              <a:t>S3: Sunny</a:t>
            </a:r>
            <a:endParaRPr lang="en-IN" dirty="0"/>
          </a:p>
        </p:txBody>
      </p:sp>
      <p:sp>
        <p:nvSpPr>
          <p:cNvPr id="7" name="TextBox 6">
            <a:extLst>
              <a:ext uri="{FF2B5EF4-FFF2-40B4-BE49-F238E27FC236}">
                <a16:creationId xmlns:a16="http://schemas.microsoft.com/office/drawing/2014/main" id="{A063F331-5B5C-4F24-876C-CCA0C4E44D01}"/>
              </a:ext>
            </a:extLst>
          </p:cNvPr>
          <p:cNvSpPr txBox="1"/>
          <p:nvPr/>
        </p:nvSpPr>
        <p:spPr>
          <a:xfrm>
            <a:off x="5146431" y="1090246"/>
            <a:ext cx="1852246" cy="369332"/>
          </a:xfrm>
          <a:prstGeom prst="rect">
            <a:avLst/>
          </a:prstGeom>
          <a:noFill/>
        </p:spPr>
        <p:txBody>
          <a:bodyPr wrap="square" rtlCol="0">
            <a:spAutoFit/>
          </a:bodyPr>
          <a:lstStyle/>
          <a:p>
            <a:r>
              <a:rPr lang="en-US" dirty="0"/>
              <a:t>tomorrow</a:t>
            </a:r>
            <a:endParaRPr lang="en-IN" dirty="0"/>
          </a:p>
        </p:txBody>
      </p:sp>
      <p:sp>
        <p:nvSpPr>
          <p:cNvPr id="8" name="TextBox 7">
            <a:extLst>
              <a:ext uri="{FF2B5EF4-FFF2-40B4-BE49-F238E27FC236}">
                <a16:creationId xmlns:a16="http://schemas.microsoft.com/office/drawing/2014/main" id="{A9756605-91F0-4704-95EC-E0E701B51DAE}"/>
              </a:ext>
            </a:extLst>
          </p:cNvPr>
          <p:cNvSpPr txBox="1"/>
          <p:nvPr/>
        </p:nvSpPr>
        <p:spPr>
          <a:xfrm>
            <a:off x="624254" y="2526159"/>
            <a:ext cx="1852246" cy="369332"/>
          </a:xfrm>
          <a:prstGeom prst="rect">
            <a:avLst/>
          </a:prstGeom>
          <a:noFill/>
        </p:spPr>
        <p:txBody>
          <a:bodyPr wrap="square" rtlCol="0">
            <a:spAutoFit/>
          </a:bodyPr>
          <a:lstStyle/>
          <a:p>
            <a:r>
              <a:rPr lang="en-US" dirty="0"/>
              <a:t>Today</a:t>
            </a:r>
            <a:endParaRPr lang="en-IN" dirty="0"/>
          </a:p>
        </p:txBody>
      </p:sp>
    </p:spTree>
    <p:extLst>
      <p:ext uri="{BB962C8B-B14F-4D97-AF65-F5344CB8AC3E}">
        <p14:creationId xmlns:p14="http://schemas.microsoft.com/office/powerpoint/2010/main" val="36224676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8EA3C-9152-4A9A-B452-AE0D1CAA648F}"/>
              </a:ext>
            </a:extLst>
          </p:cNvPr>
          <p:cNvSpPr>
            <a:spLocks noGrp="1"/>
          </p:cNvSpPr>
          <p:nvPr>
            <p:ph type="title"/>
          </p:nvPr>
        </p:nvSpPr>
        <p:spPr/>
        <p:txBody>
          <a:bodyPr/>
          <a:lstStyle/>
          <a:p>
            <a:r>
              <a:rPr lang="en-IN" b="0" i="0" dirty="0">
                <a:solidFill>
                  <a:srgbClr val="292929"/>
                </a:solidFill>
                <a:effectLst/>
                <a:latin typeface="sohne"/>
              </a:rPr>
              <a:t>Why Hidden Markov Model?</a:t>
            </a:r>
            <a:br>
              <a:rPr lang="en-IN" b="0" i="0" dirty="0">
                <a:solidFill>
                  <a:srgbClr val="292929"/>
                </a:solidFill>
                <a:effectLst/>
                <a:latin typeface="sohne"/>
              </a:rPr>
            </a:br>
            <a:endParaRPr lang="en-IN" dirty="0"/>
          </a:p>
        </p:txBody>
      </p:sp>
      <p:sp>
        <p:nvSpPr>
          <p:cNvPr id="3" name="Content Placeholder 2">
            <a:extLst>
              <a:ext uri="{FF2B5EF4-FFF2-40B4-BE49-F238E27FC236}">
                <a16:creationId xmlns:a16="http://schemas.microsoft.com/office/drawing/2014/main" id="{50067F3D-297C-4879-845E-110B4EABE59F}"/>
              </a:ext>
            </a:extLst>
          </p:cNvPr>
          <p:cNvSpPr>
            <a:spLocks noGrp="1"/>
          </p:cNvSpPr>
          <p:nvPr>
            <p:ph idx="1"/>
          </p:nvPr>
        </p:nvSpPr>
        <p:spPr/>
        <p:txBody>
          <a:bodyPr>
            <a:normAutofit lnSpcReduction="10000"/>
          </a:bodyPr>
          <a:lstStyle/>
          <a:p>
            <a:pPr algn="just"/>
            <a:r>
              <a:rPr lang="en-US" b="0" i="0" dirty="0">
                <a:solidFill>
                  <a:srgbClr val="292929"/>
                </a:solidFill>
                <a:effectLst/>
                <a:latin typeface="charter"/>
              </a:rPr>
              <a:t>The reason it is called a Hidden Markov Model is because we are constructing an inference model based on the assumptions of a Markov process. </a:t>
            </a:r>
            <a:r>
              <a:rPr lang="en-US" b="0" i="0" dirty="0">
                <a:solidFill>
                  <a:srgbClr val="C00000"/>
                </a:solidFill>
                <a:effectLst/>
                <a:latin typeface="charter"/>
              </a:rPr>
              <a:t>The Markov process assumption is simply that the “future is independent of the past given the present”. In other words, assuming we know our present state, we do not need any other historical information to predict the future state.</a:t>
            </a:r>
          </a:p>
          <a:p>
            <a:pPr algn="just"/>
            <a:r>
              <a:rPr lang="en-US" b="0" i="0" dirty="0">
                <a:solidFill>
                  <a:srgbClr val="292929"/>
                </a:solidFill>
                <a:effectLst/>
                <a:latin typeface="charter"/>
              </a:rPr>
              <a:t>To make this point clear, let us consider the scenario below where the weather, the hidden variable, can be hot, mild or cold and the observed variables are the type of clothing worn. The arrows represent transitions from a hidden state to another hidden state or from a hidden state to an observed variable.</a:t>
            </a:r>
          </a:p>
          <a:p>
            <a:endParaRPr lang="en-IN" dirty="0"/>
          </a:p>
        </p:txBody>
      </p:sp>
    </p:spTree>
    <p:extLst>
      <p:ext uri="{BB962C8B-B14F-4D97-AF65-F5344CB8AC3E}">
        <p14:creationId xmlns:p14="http://schemas.microsoft.com/office/powerpoint/2010/main" val="6382955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86F58-A7AE-4352-BD1E-3C501434BF78}"/>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C2291814-BD59-4A38-A736-6E6DF5963D3B}"/>
              </a:ext>
            </a:extLst>
          </p:cNvPr>
          <p:cNvPicPr>
            <a:picLocks noGrp="1" noChangeAspect="1"/>
          </p:cNvPicPr>
          <p:nvPr>
            <p:ph idx="1"/>
          </p:nvPr>
        </p:nvPicPr>
        <p:blipFill>
          <a:blip r:embed="rId2"/>
          <a:stretch>
            <a:fillRect/>
          </a:stretch>
        </p:blipFill>
        <p:spPr>
          <a:xfrm>
            <a:off x="315057" y="1690688"/>
            <a:ext cx="6015404" cy="2972400"/>
          </a:xfrm>
          <a:prstGeom prst="rect">
            <a:avLst/>
          </a:prstGeom>
        </p:spPr>
      </p:pic>
      <p:sp>
        <p:nvSpPr>
          <p:cNvPr id="6" name="TextBox 5">
            <a:extLst>
              <a:ext uri="{FF2B5EF4-FFF2-40B4-BE49-F238E27FC236}">
                <a16:creationId xmlns:a16="http://schemas.microsoft.com/office/drawing/2014/main" id="{05BCEBBD-E3B9-4AFA-A661-183AC635558C}"/>
              </a:ext>
            </a:extLst>
          </p:cNvPr>
          <p:cNvSpPr txBox="1"/>
          <p:nvPr/>
        </p:nvSpPr>
        <p:spPr>
          <a:xfrm>
            <a:off x="2567353" y="5131992"/>
            <a:ext cx="8115300" cy="646331"/>
          </a:xfrm>
          <a:prstGeom prst="rect">
            <a:avLst/>
          </a:prstGeom>
          <a:noFill/>
        </p:spPr>
        <p:txBody>
          <a:bodyPr wrap="square">
            <a:spAutoFit/>
          </a:bodyPr>
          <a:lstStyle/>
          <a:p>
            <a:r>
              <a:rPr lang="en-US" dirty="0"/>
              <a:t>Notice that, true to the Markov assumption, each state only depends on the previous state and not on any other prior states.</a:t>
            </a:r>
          </a:p>
        </p:txBody>
      </p:sp>
      <p:pic>
        <p:nvPicPr>
          <p:cNvPr id="7" name="Picture 6">
            <a:extLst>
              <a:ext uri="{FF2B5EF4-FFF2-40B4-BE49-F238E27FC236}">
                <a16:creationId xmlns:a16="http://schemas.microsoft.com/office/drawing/2014/main" id="{49B5481C-505F-47E7-A0BC-B99588EF1163}"/>
              </a:ext>
            </a:extLst>
          </p:cNvPr>
          <p:cNvPicPr>
            <a:picLocks noChangeAspect="1"/>
          </p:cNvPicPr>
          <p:nvPr/>
        </p:nvPicPr>
        <p:blipFill>
          <a:blip r:embed="rId3"/>
          <a:stretch>
            <a:fillRect/>
          </a:stretch>
        </p:blipFill>
        <p:spPr>
          <a:xfrm>
            <a:off x="5854483" y="2448480"/>
            <a:ext cx="6026082" cy="1528545"/>
          </a:xfrm>
          <a:prstGeom prst="rect">
            <a:avLst/>
          </a:prstGeom>
        </p:spPr>
      </p:pic>
      <p:sp>
        <p:nvSpPr>
          <p:cNvPr id="8" name="TextBox 7">
            <a:extLst>
              <a:ext uri="{FF2B5EF4-FFF2-40B4-BE49-F238E27FC236}">
                <a16:creationId xmlns:a16="http://schemas.microsoft.com/office/drawing/2014/main" id="{300E63B7-30CD-48B9-A948-E004A29E7B28}"/>
              </a:ext>
            </a:extLst>
          </p:cNvPr>
          <p:cNvSpPr txBox="1"/>
          <p:nvPr/>
        </p:nvSpPr>
        <p:spPr>
          <a:xfrm>
            <a:off x="979254" y="3977026"/>
            <a:ext cx="1677866" cy="338554"/>
          </a:xfrm>
          <a:prstGeom prst="rect">
            <a:avLst/>
          </a:prstGeom>
          <a:noFill/>
        </p:spPr>
        <p:txBody>
          <a:bodyPr wrap="square" rtlCol="0">
            <a:spAutoFit/>
          </a:bodyPr>
          <a:lstStyle/>
          <a:p>
            <a:r>
              <a:rPr lang="en-US" sz="1600" dirty="0"/>
              <a:t>Casual wear</a:t>
            </a:r>
            <a:endParaRPr lang="en-IN" sz="1600" dirty="0"/>
          </a:p>
        </p:txBody>
      </p:sp>
      <p:sp>
        <p:nvSpPr>
          <p:cNvPr id="9" name="TextBox 8">
            <a:extLst>
              <a:ext uri="{FF2B5EF4-FFF2-40B4-BE49-F238E27FC236}">
                <a16:creationId xmlns:a16="http://schemas.microsoft.com/office/drawing/2014/main" id="{E3169AE6-5ECC-4102-8DFF-C19A53207069}"/>
              </a:ext>
            </a:extLst>
          </p:cNvPr>
          <p:cNvSpPr txBox="1"/>
          <p:nvPr/>
        </p:nvSpPr>
        <p:spPr>
          <a:xfrm>
            <a:off x="2815923" y="3977026"/>
            <a:ext cx="2025707" cy="338554"/>
          </a:xfrm>
          <a:prstGeom prst="rect">
            <a:avLst/>
          </a:prstGeom>
          <a:noFill/>
        </p:spPr>
        <p:txBody>
          <a:bodyPr wrap="square" rtlCol="0">
            <a:spAutoFit/>
          </a:bodyPr>
          <a:lstStyle/>
          <a:p>
            <a:r>
              <a:rPr lang="en-US" sz="1600" dirty="0"/>
              <a:t>Semi-Casual wear</a:t>
            </a:r>
            <a:endParaRPr lang="en-IN" sz="1600" dirty="0"/>
          </a:p>
        </p:txBody>
      </p:sp>
      <p:sp>
        <p:nvSpPr>
          <p:cNvPr id="10" name="TextBox 9">
            <a:extLst>
              <a:ext uri="{FF2B5EF4-FFF2-40B4-BE49-F238E27FC236}">
                <a16:creationId xmlns:a16="http://schemas.microsoft.com/office/drawing/2014/main" id="{5D9940DE-719B-4AFA-9F04-B9A46B9D1CC7}"/>
              </a:ext>
            </a:extLst>
          </p:cNvPr>
          <p:cNvSpPr txBox="1"/>
          <p:nvPr/>
        </p:nvSpPr>
        <p:spPr>
          <a:xfrm>
            <a:off x="4841630" y="3977026"/>
            <a:ext cx="2025707" cy="338554"/>
          </a:xfrm>
          <a:prstGeom prst="rect">
            <a:avLst/>
          </a:prstGeom>
          <a:noFill/>
        </p:spPr>
        <p:txBody>
          <a:bodyPr wrap="square" rtlCol="0">
            <a:spAutoFit/>
          </a:bodyPr>
          <a:lstStyle/>
          <a:p>
            <a:r>
              <a:rPr lang="en-US" sz="1600" dirty="0"/>
              <a:t>Winter wear</a:t>
            </a:r>
            <a:endParaRPr lang="en-IN" sz="1600" dirty="0"/>
          </a:p>
        </p:txBody>
      </p:sp>
    </p:spTree>
    <p:extLst>
      <p:ext uri="{BB962C8B-B14F-4D97-AF65-F5344CB8AC3E}">
        <p14:creationId xmlns:p14="http://schemas.microsoft.com/office/powerpoint/2010/main" val="39540932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AEEC9-1CA7-405D-BF3D-9FF881D6531C}"/>
              </a:ext>
            </a:extLst>
          </p:cNvPr>
          <p:cNvSpPr>
            <a:spLocks noGrp="1"/>
          </p:cNvSpPr>
          <p:nvPr>
            <p:ph type="title"/>
          </p:nvPr>
        </p:nvSpPr>
        <p:spPr/>
        <p:txBody>
          <a:bodyPr/>
          <a:lstStyle/>
          <a:p>
            <a:r>
              <a:rPr lang="en-US" dirty="0"/>
              <a:t>Prior probability, transition and emission probabilities</a:t>
            </a:r>
            <a:endParaRPr lang="en-IN" dirty="0"/>
          </a:p>
        </p:txBody>
      </p:sp>
      <p:pic>
        <p:nvPicPr>
          <p:cNvPr id="4" name="Content Placeholder 3">
            <a:extLst>
              <a:ext uri="{FF2B5EF4-FFF2-40B4-BE49-F238E27FC236}">
                <a16:creationId xmlns:a16="http://schemas.microsoft.com/office/drawing/2014/main" id="{2DC91DF7-0235-4EB1-85C4-9A2E4EA9D5FF}"/>
              </a:ext>
            </a:extLst>
          </p:cNvPr>
          <p:cNvPicPr>
            <a:picLocks noGrp="1" noChangeAspect="1"/>
          </p:cNvPicPr>
          <p:nvPr>
            <p:ph idx="1"/>
          </p:nvPr>
        </p:nvPicPr>
        <p:blipFill>
          <a:blip r:embed="rId2"/>
          <a:stretch>
            <a:fillRect/>
          </a:stretch>
        </p:blipFill>
        <p:spPr>
          <a:xfrm>
            <a:off x="1165174" y="2506632"/>
            <a:ext cx="10188626" cy="2585000"/>
          </a:xfrm>
          <a:prstGeom prst="rect">
            <a:avLst/>
          </a:prstGeom>
        </p:spPr>
      </p:pic>
    </p:spTree>
    <p:extLst>
      <p:ext uri="{BB962C8B-B14F-4D97-AF65-F5344CB8AC3E}">
        <p14:creationId xmlns:p14="http://schemas.microsoft.com/office/powerpoint/2010/main" val="27670279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68AA8-D3FC-40DC-A612-0FF74AB73E0E}"/>
              </a:ext>
            </a:extLst>
          </p:cNvPr>
          <p:cNvSpPr>
            <a:spLocks noGrp="1"/>
          </p:cNvSpPr>
          <p:nvPr>
            <p:ph type="title"/>
          </p:nvPr>
        </p:nvSpPr>
        <p:spPr/>
        <p:txBody>
          <a:bodyPr/>
          <a:lstStyle/>
          <a:p>
            <a:endParaRPr lang="en-IN" dirty="0"/>
          </a:p>
        </p:txBody>
      </p:sp>
      <p:sp>
        <p:nvSpPr>
          <p:cNvPr id="7" name="Content Placeholder 6">
            <a:extLst>
              <a:ext uri="{FF2B5EF4-FFF2-40B4-BE49-F238E27FC236}">
                <a16:creationId xmlns:a16="http://schemas.microsoft.com/office/drawing/2014/main" id="{2AD207A9-7682-4CC7-9675-E7CDA3494209}"/>
              </a:ext>
            </a:extLst>
          </p:cNvPr>
          <p:cNvSpPr>
            <a:spLocks noGrp="1"/>
          </p:cNvSpPr>
          <p:nvPr>
            <p:ph idx="1"/>
          </p:nvPr>
        </p:nvSpPr>
        <p:spPr/>
        <p:txBody>
          <a:bodyPr/>
          <a:lstStyle/>
          <a:p>
            <a:r>
              <a:rPr lang="en-US" b="1" dirty="0"/>
              <a:t>Transition data </a:t>
            </a:r>
            <a:r>
              <a:rPr lang="en-US" dirty="0"/>
              <a:t>— the probability of transitioning to a new state conditioned on a present state.</a:t>
            </a:r>
          </a:p>
          <a:p>
            <a:r>
              <a:rPr lang="en-US" b="1" dirty="0"/>
              <a:t>Emission data </a:t>
            </a:r>
            <a:r>
              <a:rPr lang="en-US" dirty="0"/>
              <a:t>— the probability of transitioning to an observed state conditioned on a hidden state.</a:t>
            </a:r>
          </a:p>
          <a:p>
            <a:r>
              <a:rPr lang="en-US" b="1" dirty="0"/>
              <a:t>Initial state information </a:t>
            </a:r>
            <a:r>
              <a:rPr lang="en-US" dirty="0"/>
              <a:t>— the initial probability of transitioning to a hidden state. This can also be looked at as the prior probability.</a:t>
            </a:r>
            <a:endParaRPr lang="en-IN" dirty="0"/>
          </a:p>
        </p:txBody>
      </p:sp>
    </p:spTree>
    <p:extLst>
      <p:ext uri="{BB962C8B-B14F-4D97-AF65-F5344CB8AC3E}">
        <p14:creationId xmlns:p14="http://schemas.microsoft.com/office/powerpoint/2010/main" val="11411593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33FD8-0B62-E151-E7CB-F8439201FF70}"/>
              </a:ext>
            </a:extLst>
          </p:cNvPr>
          <p:cNvSpPr>
            <a:spLocks noGrp="1"/>
          </p:cNvSpPr>
          <p:nvPr>
            <p:ph type="title"/>
          </p:nvPr>
        </p:nvSpPr>
        <p:spPr/>
        <p:txBody>
          <a:bodyPr/>
          <a:lstStyle/>
          <a:p>
            <a:r>
              <a:rPr lang="en-US" b="1" i="0" dirty="0">
                <a:effectLst/>
                <a:latin typeface="var(--font-family-heading-lesson-markdown)"/>
              </a:rPr>
              <a:t>Applications of hidden Markov models</a:t>
            </a:r>
            <a:br>
              <a:rPr lang="en-US" b="1" i="0" dirty="0">
                <a:effectLst/>
                <a:latin typeface="var(--font-family-heading-lesson-markdown)"/>
              </a:rPr>
            </a:br>
            <a:endParaRPr lang="en-IN" dirty="0"/>
          </a:p>
        </p:txBody>
      </p:sp>
      <p:sp>
        <p:nvSpPr>
          <p:cNvPr id="3" name="Content Placeholder 2">
            <a:extLst>
              <a:ext uri="{FF2B5EF4-FFF2-40B4-BE49-F238E27FC236}">
                <a16:creationId xmlns:a16="http://schemas.microsoft.com/office/drawing/2014/main" id="{C0925D13-1B5C-8490-1EB4-25EAB8A035F1}"/>
              </a:ext>
            </a:extLst>
          </p:cNvPr>
          <p:cNvSpPr>
            <a:spLocks noGrp="1"/>
          </p:cNvSpPr>
          <p:nvPr>
            <p:ph idx="1"/>
          </p:nvPr>
        </p:nvSpPr>
        <p:spPr/>
        <p:txBody>
          <a:bodyPr>
            <a:normAutofit fontScale="55000" lnSpcReduction="20000"/>
          </a:bodyPr>
          <a:lstStyle/>
          <a:p>
            <a:pPr algn="l"/>
            <a:r>
              <a:rPr lang="en-US" b="0" i="0" dirty="0">
                <a:solidFill>
                  <a:srgbClr val="374151"/>
                </a:solidFill>
                <a:effectLst/>
                <a:latin typeface="Droid Serif"/>
              </a:rPr>
              <a:t>HMMs have a wide range of applications across various domains. Here are four real-life applications of HMMs, along with explanations of the hidden and observed states in each case.</a:t>
            </a:r>
          </a:p>
          <a:p>
            <a:pPr algn="l"/>
            <a:r>
              <a:rPr lang="en-US" b="1" i="0" dirty="0">
                <a:effectLst/>
                <a:latin typeface="var(--font-family-heading-lesson-markdown)"/>
              </a:rPr>
              <a:t>Speech recognition</a:t>
            </a:r>
          </a:p>
          <a:p>
            <a:pPr algn="l"/>
            <a:r>
              <a:rPr lang="en-US" b="0" i="0" dirty="0">
                <a:solidFill>
                  <a:srgbClr val="374151"/>
                </a:solidFill>
                <a:effectLst/>
                <a:latin typeface="Droid Serif"/>
              </a:rPr>
              <a:t>HMMs can model the relationship between the hidden linguistic units (hidden states) and the observed acoustic features in speech recognition.</a:t>
            </a:r>
          </a:p>
          <a:p>
            <a:pPr algn="l">
              <a:buFont typeface="Arial" panose="020B0604020202020204" pitchFamily="34" charset="0"/>
              <a:buChar char="•"/>
            </a:pPr>
            <a:r>
              <a:rPr lang="en-US" b="1" i="0" dirty="0">
                <a:solidFill>
                  <a:srgbClr val="374151"/>
                </a:solidFill>
                <a:effectLst/>
                <a:latin typeface="var(--font-family-body-lesson-markdown,&quot;Droid Serif&quot;)"/>
              </a:rPr>
              <a:t>Hidden states:</a:t>
            </a:r>
            <a:r>
              <a:rPr lang="en-US" b="0" i="0" dirty="0">
                <a:solidFill>
                  <a:srgbClr val="374151"/>
                </a:solidFill>
                <a:effectLst/>
                <a:latin typeface="Droid Serif"/>
              </a:rPr>
              <a:t> Phonemes or linguistic units representing the underlying speech sounds</a:t>
            </a:r>
          </a:p>
          <a:p>
            <a:pPr algn="l">
              <a:buFont typeface="Arial" panose="020B0604020202020204" pitchFamily="34" charset="0"/>
              <a:buChar char="•"/>
            </a:pPr>
            <a:r>
              <a:rPr lang="en-US" b="1" i="0" dirty="0">
                <a:solidFill>
                  <a:srgbClr val="374151"/>
                </a:solidFill>
                <a:effectLst/>
                <a:latin typeface="var(--font-family-body-lesson-markdown,&quot;Droid Serif&quot;)"/>
              </a:rPr>
              <a:t>Observed states:</a:t>
            </a:r>
            <a:r>
              <a:rPr lang="en-US" b="0" i="0" dirty="0">
                <a:solidFill>
                  <a:srgbClr val="374151"/>
                </a:solidFill>
                <a:effectLst/>
                <a:latin typeface="Droid Serif"/>
              </a:rPr>
              <a:t> Acoustic features such as </a:t>
            </a:r>
            <a:r>
              <a:rPr lang="en-US" b="0" i="0" dirty="0" err="1">
                <a:solidFill>
                  <a:srgbClr val="374151"/>
                </a:solidFill>
                <a:effectLst/>
                <a:latin typeface="Droid Serif"/>
              </a:rPr>
              <a:t>mel</a:t>
            </a:r>
            <a:r>
              <a:rPr lang="en-US" b="0" i="0" dirty="0">
                <a:solidFill>
                  <a:srgbClr val="374151"/>
                </a:solidFill>
                <a:effectLst/>
                <a:latin typeface="Droid Serif"/>
              </a:rPr>
              <a:t>-frequency cepstral coefficients (MFCCs) or </a:t>
            </a:r>
            <a:r>
              <a:rPr lang="en-US" b="0" i="0" dirty="0" err="1">
                <a:solidFill>
                  <a:srgbClr val="374151"/>
                </a:solidFill>
                <a:effectLst/>
                <a:latin typeface="Droid Serif"/>
              </a:rPr>
              <a:t>filterbank</a:t>
            </a:r>
            <a:r>
              <a:rPr lang="en-US" b="0" i="0" dirty="0">
                <a:solidFill>
                  <a:srgbClr val="374151"/>
                </a:solidFill>
                <a:effectLst/>
                <a:latin typeface="Droid Serif"/>
              </a:rPr>
              <a:t> energies obtained from the audio signal</a:t>
            </a:r>
          </a:p>
          <a:p>
            <a:pPr algn="l"/>
            <a:r>
              <a:rPr lang="en-US" b="0" i="0" dirty="0">
                <a:solidFill>
                  <a:srgbClr val="374151"/>
                </a:solidFill>
                <a:effectLst/>
                <a:latin typeface="Droid Serif"/>
              </a:rPr>
              <a:t>The model captures the probabilistic transitions between different phonemes or linguistic units based on the observed audio signal.</a:t>
            </a:r>
          </a:p>
          <a:p>
            <a:pPr algn="l"/>
            <a:r>
              <a:rPr lang="en-US" b="1" i="0" dirty="0">
                <a:effectLst/>
                <a:latin typeface="var(--font-family-heading-lesson-markdown)"/>
              </a:rPr>
              <a:t>Parts of speech tagging</a:t>
            </a:r>
          </a:p>
          <a:p>
            <a:pPr algn="l"/>
            <a:r>
              <a:rPr lang="en-US" b="0" i="0" dirty="0">
                <a:solidFill>
                  <a:srgbClr val="374151"/>
                </a:solidFill>
                <a:effectLst/>
                <a:latin typeface="Droid Serif"/>
              </a:rPr>
              <a:t>In parts of speech tagging, HMMs can be employed to predict the grammatical category of each word in a sentence.</a:t>
            </a:r>
          </a:p>
          <a:p>
            <a:pPr algn="l">
              <a:buFont typeface="Arial" panose="020B0604020202020204" pitchFamily="34" charset="0"/>
              <a:buChar char="•"/>
            </a:pPr>
            <a:r>
              <a:rPr lang="en-US" b="1" i="0" dirty="0">
                <a:solidFill>
                  <a:srgbClr val="374151"/>
                </a:solidFill>
                <a:effectLst/>
                <a:latin typeface="var(--font-family-body-lesson-markdown,&quot;Droid Serif&quot;)"/>
              </a:rPr>
              <a:t>Hidden states:</a:t>
            </a:r>
            <a:r>
              <a:rPr lang="en-US" b="0" i="0" dirty="0">
                <a:solidFill>
                  <a:srgbClr val="374151"/>
                </a:solidFill>
                <a:effectLst/>
                <a:latin typeface="Droid Serif"/>
              </a:rPr>
              <a:t> Grammatical categories or parts of speech (e.g., noun, verb, adjective)</a:t>
            </a:r>
          </a:p>
          <a:p>
            <a:pPr algn="l">
              <a:buFont typeface="Arial" panose="020B0604020202020204" pitchFamily="34" charset="0"/>
              <a:buChar char="•"/>
            </a:pPr>
            <a:r>
              <a:rPr lang="en-US" b="1" i="0" dirty="0">
                <a:solidFill>
                  <a:srgbClr val="374151"/>
                </a:solidFill>
                <a:effectLst/>
                <a:latin typeface="var(--font-family-body-lesson-markdown,&quot;Droid Serif&quot;)"/>
              </a:rPr>
              <a:t>Observed states:</a:t>
            </a:r>
            <a:r>
              <a:rPr lang="en-US" b="0" i="0" dirty="0">
                <a:solidFill>
                  <a:srgbClr val="374151"/>
                </a:solidFill>
                <a:effectLst/>
                <a:latin typeface="Droid Serif"/>
              </a:rPr>
              <a:t> Words or tokens in a sentence</a:t>
            </a:r>
          </a:p>
          <a:p>
            <a:pPr algn="l"/>
            <a:r>
              <a:rPr lang="en-US" b="0" i="0" dirty="0">
                <a:solidFill>
                  <a:srgbClr val="374151"/>
                </a:solidFill>
                <a:effectLst/>
                <a:latin typeface="Droid Serif"/>
              </a:rPr>
              <a:t>The hidden states represent the underlying parts of speech, while the observed states are the words in the sentence. The HMM models the probabilistic transitions between different parts of speech based on observed words.</a:t>
            </a:r>
          </a:p>
          <a:p>
            <a:endParaRPr lang="en-IN" dirty="0"/>
          </a:p>
        </p:txBody>
      </p:sp>
    </p:spTree>
    <p:extLst>
      <p:ext uri="{BB962C8B-B14F-4D97-AF65-F5344CB8AC3E}">
        <p14:creationId xmlns:p14="http://schemas.microsoft.com/office/powerpoint/2010/main" val="15597358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D60F4-5ADF-A6D4-0F5B-7D907B6F2E6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2967BB5-B6C7-9ECC-5B09-49AF16EA7410}"/>
              </a:ext>
            </a:extLst>
          </p:cNvPr>
          <p:cNvSpPr>
            <a:spLocks noGrp="1"/>
          </p:cNvSpPr>
          <p:nvPr>
            <p:ph idx="1"/>
          </p:nvPr>
        </p:nvSpPr>
        <p:spPr/>
        <p:txBody>
          <a:bodyPr>
            <a:normAutofit fontScale="62500" lnSpcReduction="20000"/>
          </a:bodyPr>
          <a:lstStyle/>
          <a:p>
            <a:pPr marL="0" indent="0" algn="l">
              <a:buNone/>
            </a:pPr>
            <a:r>
              <a:rPr lang="en-US" b="1" i="0" dirty="0">
                <a:effectLst/>
                <a:latin typeface="var(--font-family-heading-lesson-markdown)"/>
              </a:rPr>
              <a:t>Gesture recognition</a:t>
            </a:r>
          </a:p>
          <a:p>
            <a:pPr algn="l"/>
            <a:r>
              <a:rPr lang="en-US" b="0" i="0" dirty="0">
                <a:solidFill>
                  <a:srgbClr val="374151"/>
                </a:solidFill>
                <a:effectLst/>
                <a:latin typeface="Droid Serif"/>
              </a:rPr>
              <a:t>HMMs can be used to recognize gestures based on observed movements.</a:t>
            </a:r>
          </a:p>
          <a:p>
            <a:pPr algn="l">
              <a:buFont typeface="Arial" panose="020B0604020202020204" pitchFamily="34" charset="0"/>
              <a:buChar char="•"/>
            </a:pPr>
            <a:r>
              <a:rPr lang="en-US" b="1" i="0" dirty="0">
                <a:solidFill>
                  <a:srgbClr val="374151"/>
                </a:solidFill>
                <a:effectLst/>
                <a:latin typeface="var(--font-family-body-lesson-markdown,&quot;Droid Serif&quot;)"/>
              </a:rPr>
              <a:t>Hidden states:</a:t>
            </a:r>
            <a:r>
              <a:rPr lang="en-US" b="0" i="0" dirty="0">
                <a:solidFill>
                  <a:srgbClr val="374151"/>
                </a:solidFill>
                <a:effectLst/>
                <a:latin typeface="Droid Serif"/>
              </a:rPr>
              <a:t> Gesture classes or types (e.g., swipe, tap, pinch)</a:t>
            </a:r>
          </a:p>
          <a:p>
            <a:pPr algn="l">
              <a:buFont typeface="Arial" panose="020B0604020202020204" pitchFamily="34" charset="0"/>
              <a:buChar char="•"/>
            </a:pPr>
            <a:r>
              <a:rPr lang="en-US" b="1" i="0" dirty="0">
                <a:solidFill>
                  <a:srgbClr val="374151"/>
                </a:solidFill>
                <a:effectLst/>
                <a:latin typeface="var(--font-family-body-lesson-markdown,&quot;Droid Serif&quot;)"/>
              </a:rPr>
              <a:t>Observed states:</a:t>
            </a:r>
            <a:r>
              <a:rPr lang="en-US" b="0" i="0" dirty="0">
                <a:solidFill>
                  <a:srgbClr val="374151"/>
                </a:solidFill>
                <a:effectLst/>
                <a:latin typeface="Droid Serif"/>
              </a:rPr>
              <a:t> Time-series data of hand or body movements captured by sensors or cameras</a:t>
            </a:r>
          </a:p>
          <a:p>
            <a:pPr algn="l"/>
            <a:r>
              <a:rPr lang="en-US" b="0" i="0" dirty="0">
                <a:solidFill>
                  <a:srgbClr val="374151"/>
                </a:solidFill>
                <a:effectLst/>
                <a:latin typeface="Droid Serif"/>
              </a:rPr>
              <a:t>The hidden states represent different gesture classes, while the observed states are the time-series data capturing the hand or body movements. The HMM model captures the probabilistic transitions between different gestures based on the observed movement patterns.</a:t>
            </a:r>
          </a:p>
          <a:p>
            <a:pPr marL="0" indent="0" algn="l">
              <a:buNone/>
            </a:pPr>
            <a:r>
              <a:rPr lang="en-US" b="1" i="0" dirty="0">
                <a:effectLst/>
                <a:latin typeface="var(--font-family-heading-lesson-markdown)"/>
              </a:rPr>
              <a:t>Stock market analysis</a:t>
            </a:r>
          </a:p>
          <a:p>
            <a:pPr algn="l"/>
            <a:r>
              <a:rPr lang="en-US" b="0" i="0" dirty="0">
                <a:solidFill>
                  <a:srgbClr val="374151"/>
                </a:solidFill>
                <a:effectLst/>
                <a:latin typeface="Droid Serif"/>
              </a:rPr>
              <a:t>HMMs can be employed in stock market analysis to model different market regimes based on observed financial indicators.</a:t>
            </a:r>
          </a:p>
          <a:p>
            <a:pPr algn="l">
              <a:buFont typeface="Arial" panose="020B0604020202020204" pitchFamily="34" charset="0"/>
              <a:buChar char="•"/>
            </a:pPr>
            <a:r>
              <a:rPr lang="en-US" b="1" i="0" dirty="0">
                <a:solidFill>
                  <a:srgbClr val="374151"/>
                </a:solidFill>
                <a:effectLst/>
                <a:latin typeface="var(--font-family-body-lesson-markdown,&quot;Droid Serif&quot;)"/>
              </a:rPr>
              <a:t>Hidden states:</a:t>
            </a:r>
            <a:r>
              <a:rPr lang="en-US" b="0" i="0" dirty="0">
                <a:solidFill>
                  <a:srgbClr val="374151"/>
                </a:solidFill>
                <a:effectLst/>
                <a:latin typeface="Droid Serif"/>
              </a:rPr>
              <a:t> Market regimes or states (e.g., bull market, bear market, volatile market)</a:t>
            </a:r>
          </a:p>
          <a:p>
            <a:pPr algn="l">
              <a:buFont typeface="Arial" panose="020B0604020202020204" pitchFamily="34" charset="0"/>
              <a:buChar char="•"/>
            </a:pPr>
            <a:r>
              <a:rPr lang="en-US" b="1" i="0" dirty="0">
                <a:solidFill>
                  <a:srgbClr val="374151"/>
                </a:solidFill>
                <a:effectLst/>
                <a:latin typeface="var(--font-family-body-lesson-markdown,&quot;Droid Serif&quot;)"/>
              </a:rPr>
              <a:t>Observed states:</a:t>
            </a:r>
            <a:r>
              <a:rPr lang="en-US" b="0" i="0" dirty="0">
                <a:solidFill>
                  <a:srgbClr val="374151"/>
                </a:solidFill>
                <a:effectLst/>
                <a:latin typeface="Droid Serif"/>
              </a:rPr>
              <a:t> For historical financial indicators such as stock prices, trading volumes, or technical indicators</a:t>
            </a:r>
          </a:p>
          <a:p>
            <a:pPr algn="l"/>
            <a:r>
              <a:rPr lang="en-US" b="0" i="0" dirty="0">
                <a:solidFill>
                  <a:srgbClr val="374151"/>
                </a:solidFill>
                <a:effectLst/>
                <a:latin typeface="Droid Serif"/>
              </a:rPr>
              <a:t>The hidden states represent the underlying market states, while the observed states are historical financial indicators. The HMM model captures the probabilistic transitions between market regimes based on observed indicators.</a:t>
            </a:r>
          </a:p>
          <a:p>
            <a:endParaRPr lang="en-IN" dirty="0"/>
          </a:p>
        </p:txBody>
      </p:sp>
    </p:spTree>
    <p:extLst>
      <p:ext uri="{BB962C8B-B14F-4D97-AF65-F5344CB8AC3E}">
        <p14:creationId xmlns:p14="http://schemas.microsoft.com/office/powerpoint/2010/main" val="13852525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BA180-573F-26CF-FD0E-A3919998EA9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1793734-FFF7-F641-7825-7142CF74240B}"/>
              </a:ext>
            </a:extLst>
          </p:cNvPr>
          <p:cNvPicPr>
            <a:picLocks noGrp="1" noChangeAspect="1"/>
          </p:cNvPicPr>
          <p:nvPr>
            <p:ph idx="1"/>
          </p:nvPr>
        </p:nvPicPr>
        <p:blipFill>
          <a:blip r:embed="rId2"/>
          <a:stretch>
            <a:fillRect/>
          </a:stretch>
        </p:blipFill>
        <p:spPr>
          <a:xfrm>
            <a:off x="1596000" y="1924664"/>
            <a:ext cx="9000000" cy="4153260"/>
          </a:xfrm>
        </p:spPr>
      </p:pic>
    </p:spTree>
    <p:extLst>
      <p:ext uri="{BB962C8B-B14F-4D97-AF65-F5344CB8AC3E}">
        <p14:creationId xmlns:p14="http://schemas.microsoft.com/office/powerpoint/2010/main" val="12973797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7FB41-3210-9A1E-57A6-4E73F6BFF84C}"/>
              </a:ext>
            </a:extLst>
          </p:cNvPr>
          <p:cNvSpPr>
            <a:spLocks noGrp="1"/>
          </p:cNvSpPr>
          <p:nvPr>
            <p:ph type="title"/>
          </p:nvPr>
        </p:nvSpPr>
        <p:spPr/>
        <p:txBody>
          <a:bodyPr/>
          <a:lstStyle/>
          <a:p>
            <a:r>
              <a:rPr lang="en-IN" b="1" dirty="0"/>
              <a:t>Disadvantage of HMM</a:t>
            </a:r>
          </a:p>
        </p:txBody>
      </p:sp>
      <p:pic>
        <p:nvPicPr>
          <p:cNvPr id="5" name="Content Placeholder 4">
            <a:extLst>
              <a:ext uri="{FF2B5EF4-FFF2-40B4-BE49-F238E27FC236}">
                <a16:creationId xmlns:a16="http://schemas.microsoft.com/office/drawing/2014/main" id="{D3254AE2-F4A8-BC58-7249-6F76D61B9D22}"/>
              </a:ext>
            </a:extLst>
          </p:cNvPr>
          <p:cNvPicPr>
            <a:picLocks noGrp="1" noChangeAspect="1"/>
          </p:cNvPicPr>
          <p:nvPr>
            <p:ph idx="1"/>
          </p:nvPr>
        </p:nvPicPr>
        <p:blipFill>
          <a:blip r:embed="rId2"/>
          <a:stretch>
            <a:fillRect/>
          </a:stretch>
        </p:blipFill>
        <p:spPr>
          <a:xfrm>
            <a:off x="2476186" y="1844647"/>
            <a:ext cx="7239627" cy="4313294"/>
          </a:xfrm>
        </p:spPr>
      </p:pic>
    </p:spTree>
    <p:extLst>
      <p:ext uri="{BB962C8B-B14F-4D97-AF65-F5344CB8AC3E}">
        <p14:creationId xmlns:p14="http://schemas.microsoft.com/office/powerpoint/2010/main" val="36784325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1B88F-CA39-3777-A9AE-FCD2F2E20FF0}"/>
              </a:ext>
            </a:extLst>
          </p:cNvPr>
          <p:cNvSpPr>
            <a:spLocks noGrp="1"/>
          </p:cNvSpPr>
          <p:nvPr>
            <p:ph type="title"/>
          </p:nvPr>
        </p:nvSpPr>
        <p:spPr/>
        <p:txBody>
          <a:bodyPr/>
          <a:lstStyle/>
          <a:p>
            <a:r>
              <a:rPr lang="en-IN" b="1" dirty="0"/>
              <a:t>Steps of HMM</a:t>
            </a:r>
          </a:p>
        </p:txBody>
      </p:sp>
      <p:pic>
        <p:nvPicPr>
          <p:cNvPr id="5" name="Content Placeholder 4">
            <a:extLst>
              <a:ext uri="{FF2B5EF4-FFF2-40B4-BE49-F238E27FC236}">
                <a16:creationId xmlns:a16="http://schemas.microsoft.com/office/drawing/2014/main" id="{14531812-6F85-A6AB-F140-4827865247FC}"/>
              </a:ext>
            </a:extLst>
          </p:cNvPr>
          <p:cNvPicPr>
            <a:picLocks noGrp="1" noChangeAspect="1"/>
          </p:cNvPicPr>
          <p:nvPr>
            <p:ph idx="1"/>
          </p:nvPr>
        </p:nvPicPr>
        <p:blipFill>
          <a:blip r:embed="rId3"/>
          <a:stretch>
            <a:fillRect/>
          </a:stretch>
        </p:blipFill>
        <p:spPr>
          <a:xfrm>
            <a:off x="3146933" y="1690688"/>
            <a:ext cx="8954154" cy="4351338"/>
          </a:xfrm>
        </p:spPr>
      </p:pic>
      <p:pic>
        <p:nvPicPr>
          <p:cNvPr id="7" name="Picture 6">
            <a:extLst>
              <a:ext uri="{FF2B5EF4-FFF2-40B4-BE49-F238E27FC236}">
                <a16:creationId xmlns:a16="http://schemas.microsoft.com/office/drawing/2014/main" id="{74852B7B-02D4-A903-B693-BD056F96B01A}"/>
              </a:ext>
            </a:extLst>
          </p:cNvPr>
          <p:cNvPicPr>
            <a:picLocks noChangeAspect="1"/>
          </p:cNvPicPr>
          <p:nvPr/>
        </p:nvPicPr>
        <p:blipFill>
          <a:blip r:embed="rId4"/>
          <a:stretch>
            <a:fillRect/>
          </a:stretch>
        </p:blipFill>
        <p:spPr>
          <a:xfrm>
            <a:off x="90912" y="1804544"/>
            <a:ext cx="4769845" cy="4237482"/>
          </a:xfrm>
          <a:prstGeom prst="rect">
            <a:avLst/>
          </a:prstGeom>
        </p:spPr>
      </p:pic>
    </p:spTree>
    <p:extLst>
      <p:ext uri="{BB962C8B-B14F-4D97-AF65-F5344CB8AC3E}">
        <p14:creationId xmlns:p14="http://schemas.microsoft.com/office/powerpoint/2010/main" val="888988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26399</TotalTime>
  <Words>2313</Words>
  <Application>Microsoft Office PowerPoint</Application>
  <PresentationFormat>Widescreen</PresentationFormat>
  <Paragraphs>178</Paragraphs>
  <Slides>36</Slides>
  <Notes>10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36</vt:i4>
      </vt:variant>
    </vt:vector>
  </HeadingPairs>
  <TitlesOfParts>
    <vt:vector size="50" baseType="lpstr">
      <vt:lpstr>Arial</vt:lpstr>
      <vt:lpstr>Calibri</vt:lpstr>
      <vt:lpstr>Calibri Light</vt:lpstr>
      <vt:lpstr>charter</vt:lpstr>
      <vt:lpstr>Droid Serif</vt:lpstr>
      <vt:lpstr>Google Sans</vt:lpstr>
      <vt:lpstr>inherit</vt:lpstr>
      <vt:lpstr>Lato</vt:lpstr>
      <vt:lpstr>Nunito</vt:lpstr>
      <vt:lpstr>Roboto</vt:lpstr>
      <vt:lpstr>sohne</vt:lpstr>
      <vt:lpstr>var(--font-family-body-lesson-markdown,"Droid Serif")</vt:lpstr>
      <vt:lpstr>var(--font-family-heading-lesson-markdown)</vt:lpstr>
      <vt:lpstr>Office Theme</vt:lpstr>
      <vt:lpstr>Hidden Markov Model </vt:lpstr>
      <vt:lpstr>Intuition behind HMMs </vt:lpstr>
      <vt:lpstr>PowerPoint Presentation</vt:lpstr>
      <vt:lpstr>PowerPoint Presentation</vt:lpstr>
      <vt:lpstr>Markov Property</vt:lpstr>
      <vt:lpstr>PowerPoint Presentation</vt:lpstr>
      <vt:lpstr>PowerPoint Presentation</vt:lpstr>
      <vt:lpstr>PowerPoint Presentation</vt:lpstr>
      <vt:lpstr>Markov model</vt:lpstr>
      <vt:lpstr>Markov chain or Markov process</vt:lpstr>
      <vt:lpstr>Hidden Markov Model (HMM)</vt:lpstr>
      <vt:lpstr>PowerPoint Presentation</vt:lpstr>
      <vt:lpstr>PowerPoint Presentation</vt:lpstr>
      <vt:lpstr>PowerPoint Presentation</vt:lpstr>
      <vt:lpstr>PowerPoint Presentation</vt:lpstr>
      <vt:lpstr>PowerPoint Presentation</vt:lpstr>
      <vt:lpstr>Reference</vt:lpstr>
      <vt:lpstr>PowerPoint Presentation</vt:lpstr>
      <vt:lpstr>PowerPoint Presentation</vt:lpstr>
      <vt:lpstr>Understanding hidden Markov models </vt:lpstr>
      <vt:lpstr>PowerPoint Presentation</vt:lpstr>
      <vt:lpstr>PowerPoint Presentation</vt:lpstr>
      <vt:lpstr>Terminology in HMM</vt:lpstr>
      <vt:lpstr>PowerPoint Presentation</vt:lpstr>
      <vt:lpstr>PowerPoint Presentation</vt:lpstr>
      <vt:lpstr>HMM can be used to solve these types of problems(important)</vt:lpstr>
      <vt:lpstr>Transition table</vt:lpstr>
      <vt:lpstr>Why Hidden Markov Model? </vt:lpstr>
      <vt:lpstr>PowerPoint Presentation</vt:lpstr>
      <vt:lpstr>Prior probability, transition and emission probabilities</vt:lpstr>
      <vt:lpstr>PowerPoint Presentation</vt:lpstr>
      <vt:lpstr>Applications of hidden Markov models </vt:lpstr>
      <vt:lpstr>PowerPoint Presentation</vt:lpstr>
      <vt:lpstr>PowerPoint Presentation</vt:lpstr>
      <vt:lpstr>Disadvantage of HMM</vt:lpstr>
      <vt:lpstr>Steps of HMM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Hidden Markov Model</dc:title>
  <dc:creator>kriti ohri</dc:creator>
  <cp:lastModifiedBy>Kriti Ohri</cp:lastModifiedBy>
  <cp:revision>12</cp:revision>
  <dcterms:created xsi:type="dcterms:W3CDTF">2021-12-26T14:50:11Z</dcterms:created>
  <dcterms:modified xsi:type="dcterms:W3CDTF">2024-11-17T03:05:45Z</dcterms:modified>
</cp:coreProperties>
</file>