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70" r:id="rId5"/>
    <p:sldId id="258" r:id="rId6"/>
    <p:sldId id="257" r:id="rId7"/>
    <p:sldId id="272" r:id="rId8"/>
    <p:sldId id="266" r:id="rId9"/>
    <p:sldId id="280" r:id="rId10"/>
    <p:sldId id="267" r:id="rId11"/>
    <p:sldId id="281" r:id="rId12"/>
    <p:sldId id="268" r:id="rId13"/>
    <p:sldId id="269" r:id="rId14"/>
    <p:sldId id="273" r:id="rId15"/>
    <p:sldId id="264" r:id="rId16"/>
    <p:sldId id="265" r:id="rId17"/>
    <p:sldId id="275" r:id="rId18"/>
    <p:sldId id="276" r:id="rId19"/>
    <p:sldId id="277" r:id="rId20"/>
    <p:sldId id="274" r:id="rId21"/>
    <p:sldId id="278"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2" d="100"/>
          <a:sy n="82"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E62EE-EB08-4C1B-B6B9-B083834771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EA7A87-20CF-4547-BD24-DBF6856C44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0E43DA4-DA8F-4F5D-AEE5-8DA94635320C}"/>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5" name="Footer Placeholder 4">
            <a:extLst>
              <a:ext uri="{FF2B5EF4-FFF2-40B4-BE49-F238E27FC236}">
                <a16:creationId xmlns:a16="http://schemas.microsoft.com/office/drawing/2014/main" id="{2B5EADC4-B86E-4979-928B-40B8503D16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D4D20D-3F44-4F34-91EF-794CB3384AB9}"/>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2456529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FF2B9-3F12-4BD6-B741-0093050041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9157AA-9571-4797-A6E6-87142B8949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82A415-9195-4247-B5D7-96B5BE08B333}"/>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5" name="Footer Placeholder 4">
            <a:extLst>
              <a:ext uri="{FF2B5EF4-FFF2-40B4-BE49-F238E27FC236}">
                <a16:creationId xmlns:a16="http://schemas.microsoft.com/office/drawing/2014/main" id="{1543E025-7E5D-4B97-B381-524E97700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61764A-2094-4EE9-87F2-3F0411C82BDB}"/>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1384751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D5C28-A3BE-4F30-A460-35955ABFBF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F46D4DC-0C44-4A65-8CEC-6A3422C2BF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474B30-D9A6-438D-BC19-EAF01F7D0C6E}"/>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5" name="Footer Placeholder 4">
            <a:extLst>
              <a:ext uri="{FF2B5EF4-FFF2-40B4-BE49-F238E27FC236}">
                <a16:creationId xmlns:a16="http://schemas.microsoft.com/office/drawing/2014/main" id="{FA7F869F-308E-4742-9179-B49A4D4EA3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C99C77-1654-4CFC-9399-6A26920EDD00}"/>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343355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66424-4C56-4722-A675-B25A104130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87ED34-3070-40F6-8D54-8983286A3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EAD0B0-A7BB-4664-BF2F-40EF74AEC6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216175-F3F2-49A0-8971-4846F99D4BFB}"/>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6" name="Footer Placeholder 5">
            <a:extLst>
              <a:ext uri="{FF2B5EF4-FFF2-40B4-BE49-F238E27FC236}">
                <a16:creationId xmlns:a16="http://schemas.microsoft.com/office/drawing/2014/main" id="{E5350E1F-D4CA-4221-B472-2AE548DC6E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DF7993-E8EA-4869-BD92-F7B64A23740A}"/>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1773687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7EBCC-D908-4048-B0AC-60015F8DE85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E74D02-76AE-476D-9247-01539B3402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EC7CAC-3673-494A-8045-BAE3334314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87AA81-FC1C-4A32-9CC4-E83FB100D5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642A88-4029-4F1A-9459-E8F8C70D9D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A0766C-6D58-466F-91B4-EBF7B37EC14C}"/>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8" name="Footer Placeholder 7">
            <a:extLst>
              <a:ext uri="{FF2B5EF4-FFF2-40B4-BE49-F238E27FC236}">
                <a16:creationId xmlns:a16="http://schemas.microsoft.com/office/drawing/2014/main" id="{0088913D-B802-4BC8-9E13-B2279230ED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20F3BE6-43D1-4D9F-BE6E-B9531331632A}"/>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1637207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60738-D607-49FB-BFA1-D86025BB6EF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B7A1D9-3F3C-4F07-8B85-CFAD9FCAA5F9}"/>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4" name="Footer Placeholder 3">
            <a:extLst>
              <a:ext uri="{FF2B5EF4-FFF2-40B4-BE49-F238E27FC236}">
                <a16:creationId xmlns:a16="http://schemas.microsoft.com/office/drawing/2014/main" id="{8B61E1B2-7FFD-4287-AF26-F80F03954A0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5AE95B-311B-4CD8-B951-DD0235E16C40}"/>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2968930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F785F-9086-4E35-BC3B-66C4C36CB200}"/>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3" name="Footer Placeholder 2">
            <a:extLst>
              <a:ext uri="{FF2B5EF4-FFF2-40B4-BE49-F238E27FC236}">
                <a16:creationId xmlns:a16="http://schemas.microsoft.com/office/drawing/2014/main" id="{C37B2FC9-9CBF-4D7C-AE44-5D42585606A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6280D7-0E6C-47CC-A9DB-40BA52FEF135}"/>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989406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94B-A81C-4ED8-9D9D-D253715106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A7E2732-A7FA-4BA8-9A22-2B02D5FC4B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445109-25FF-4277-999F-48BD8DB60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A6851-90F9-4451-B0F8-19D5FF8F93CC}"/>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6" name="Footer Placeholder 5">
            <a:extLst>
              <a:ext uri="{FF2B5EF4-FFF2-40B4-BE49-F238E27FC236}">
                <a16:creationId xmlns:a16="http://schemas.microsoft.com/office/drawing/2014/main" id="{489A610A-5254-4F06-A145-0CC8C26333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A96D59-2C12-4761-BEB0-EF747DD6A013}"/>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1614675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1DCEC-63A6-41C1-A7D9-55FE992E96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6FC4E54-5CAC-4D07-8C2B-7F4EF7F2CC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CC46A1B-8070-43BE-A033-BCBE3535C6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9416C0-C2BF-409A-A56A-3393F8EA0571}"/>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6" name="Footer Placeholder 5">
            <a:extLst>
              <a:ext uri="{FF2B5EF4-FFF2-40B4-BE49-F238E27FC236}">
                <a16:creationId xmlns:a16="http://schemas.microsoft.com/office/drawing/2014/main" id="{F6BFEA16-A4F2-44C2-B065-4ACA0F7063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0BE29-B3B8-415A-864F-5C396BA41F37}"/>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2494021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11A93-8687-4B2A-BFAB-87A5242FD6B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A3B1E3-52E7-4BA8-8BC1-4888B3A75E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03951A-7612-44D4-B0EC-370409E574A2}"/>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5" name="Footer Placeholder 4">
            <a:extLst>
              <a:ext uri="{FF2B5EF4-FFF2-40B4-BE49-F238E27FC236}">
                <a16:creationId xmlns:a16="http://schemas.microsoft.com/office/drawing/2014/main" id="{4C6AC5D0-543B-4F89-BF95-E055068001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C45CAC-0AEA-47E6-B90D-33905CD3761A}"/>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3291641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076BAC-DC2E-4F5E-AC08-54B59EB4C9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AFC8FD-A3B5-40E1-8FD3-E0C938D816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CE8442-716D-41BA-BA37-7B938E07C052}"/>
              </a:ext>
            </a:extLst>
          </p:cNvPr>
          <p:cNvSpPr>
            <a:spLocks noGrp="1"/>
          </p:cNvSpPr>
          <p:nvPr>
            <p:ph type="dt" sz="half" idx="10"/>
          </p:nvPr>
        </p:nvSpPr>
        <p:spPr/>
        <p:txBody>
          <a:bodyPr/>
          <a:lstStyle/>
          <a:p>
            <a:fld id="{AF5B4807-5BBC-4E38-A863-A222DF4A4C08}" type="datetimeFigureOut">
              <a:rPr lang="en-IN" smtClean="0"/>
              <a:t>17-11-2024</a:t>
            </a:fld>
            <a:endParaRPr lang="en-IN"/>
          </a:p>
        </p:txBody>
      </p:sp>
      <p:sp>
        <p:nvSpPr>
          <p:cNvPr id="5" name="Footer Placeholder 4">
            <a:extLst>
              <a:ext uri="{FF2B5EF4-FFF2-40B4-BE49-F238E27FC236}">
                <a16:creationId xmlns:a16="http://schemas.microsoft.com/office/drawing/2014/main" id="{DC089F3A-1EFB-43C4-B03E-1222B84189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54F65F-15E7-431C-8655-20E6884F5D9B}"/>
              </a:ext>
            </a:extLst>
          </p:cNvPr>
          <p:cNvSpPr>
            <a:spLocks noGrp="1"/>
          </p:cNvSpPr>
          <p:nvPr>
            <p:ph type="sldNum" sz="quarter" idx="12"/>
          </p:nvPr>
        </p:nvSpPr>
        <p:spPr/>
        <p:txBody>
          <a:bodyPr/>
          <a:lstStyle/>
          <a:p>
            <a:fld id="{FBADCD32-F0AF-407E-88A3-ECCA845F64E3}" type="slidenum">
              <a:rPr lang="en-IN" smtClean="0"/>
              <a:t>‹#›</a:t>
            </a:fld>
            <a:endParaRPr lang="en-IN"/>
          </a:p>
        </p:txBody>
      </p:sp>
    </p:spTree>
    <p:extLst>
      <p:ext uri="{BB962C8B-B14F-4D97-AF65-F5344CB8AC3E}">
        <p14:creationId xmlns:p14="http://schemas.microsoft.com/office/powerpoint/2010/main" val="2553018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F22FB8-5419-40AA-9F09-E1949EFD16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D737F0-FA3E-47B0-AABF-80AEC23BF8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4730C7-2559-4384-9436-646C545DC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5B4807-5BBC-4E38-A863-A222DF4A4C08}" type="datetimeFigureOut">
              <a:rPr lang="en-IN" smtClean="0"/>
              <a:t>17-11-2024</a:t>
            </a:fld>
            <a:endParaRPr lang="en-IN"/>
          </a:p>
        </p:txBody>
      </p:sp>
      <p:sp>
        <p:nvSpPr>
          <p:cNvPr id="5" name="Footer Placeholder 4">
            <a:extLst>
              <a:ext uri="{FF2B5EF4-FFF2-40B4-BE49-F238E27FC236}">
                <a16:creationId xmlns:a16="http://schemas.microsoft.com/office/drawing/2014/main" id="{4050C58D-83E3-4998-9A3A-6869CA1D4D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2CC37C0-612E-4775-9094-EEFA95399A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ADCD32-F0AF-407E-88A3-ECCA845F64E3}" type="slidenum">
              <a:rPr lang="en-IN" smtClean="0"/>
              <a:t>‹#›</a:t>
            </a:fld>
            <a:endParaRPr lang="en-IN"/>
          </a:p>
        </p:txBody>
      </p:sp>
    </p:spTree>
    <p:extLst>
      <p:ext uri="{BB962C8B-B14F-4D97-AF65-F5344CB8AC3E}">
        <p14:creationId xmlns:p14="http://schemas.microsoft.com/office/powerpoint/2010/main" val="513418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xejm-z3sbWA" TargetMode="External"/><Relationship Id="rId2" Type="http://schemas.openxmlformats.org/officeDocument/2006/relationships/hyperlink" Target="https://medium.com/@shashikadilhani97/hidden-markov-models-with-viterbi-algorithm-226fa4b5777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4B129-318D-4F31-903F-75F8EF5FA5AF}"/>
              </a:ext>
            </a:extLst>
          </p:cNvPr>
          <p:cNvSpPr>
            <a:spLocks noGrp="1"/>
          </p:cNvSpPr>
          <p:nvPr>
            <p:ph type="ctrTitle"/>
          </p:nvPr>
        </p:nvSpPr>
        <p:spPr/>
        <p:txBody>
          <a:bodyPr>
            <a:normAutofit fontScale="90000"/>
          </a:bodyPr>
          <a:lstStyle/>
          <a:p>
            <a:r>
              <a:rPr lang="en-IN" b="1" i="0" dirty="0">
                <a:solidFill>
                  <a:srgbClr val="292929"/>
                </a:solidFill>
                <a:effectLst/>
                <a:latin typeface="sohne"/>
              </a:rPr>
              <a:t>Hidden Markov Model with Viterbi Algorithm</a:t>
            </a:r>
            <a:br>
              <a:rPr lang="en-IN" b="1" i="0" dirty="0">
                <a:solidFill>
                  <a:srgbClr val="292929"/>
                </a:solidFill>
                <a:effectLst/>
                <a:latin typeface="sohne"/>
              </a:rPr>
            </a:br>
            <a:endParaRPr lang="en-IN" dirty="0"/>
          </a:p>
        </p:txBody>
      </p:sp>
      <p:sp>
        <p:nvSpPr>
          <p:cNvPr id="3" name="Subtitle 2">
            <a:extLst>
              <a:ext uri="{FF2B5EF4-FFF2-40B4-BE49-F238E27FC236}">
                <a16:creationId xmlns:a16="http://schemas.microsoft.com/office/drawing/2014/main" id="{AAB82C36-D712-4662-A335-74F4A0BFCDE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14039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6211-6EA6-4CC2-9046-4503467B551A}"/>
              </a:ext>
            </a:extLst>
          </p:cNvPr>
          <p:cNvSpPr>
            <a:spLocks noGrp="1"/>
          </p:cNvSpPr>
          <p:nvPr>
            <p:ph type="title"/>
          </p:nvPr>
        </p:nvSpPr>
        <p:spPr/>
        <p:txBody>
          <a:bodyPr/>
          <a:lstStyle/>
          <a:p>
            <a:r>
              <a:rPr lang="en-US" sz="4400" b="0" i="0" dirty="0">
                <a:solidFill>
                  <a:srgbClr val="292929"/>
                </a:solidFill>
                <a:effectLst/>
                <a:latin typeface="charter"/>
              </a:rPr>
              <a:t>Viterbi algorithm</a:t>
            </a:r>
            <a:endParaRPr lang="en-IN" dirty="0"/>
          </a:p>
        </p:txBody>
      </p:sp>
      <p:sp>
        <p:nvSpPr>
          <p:cNvPr id="3" name="Content Placeholder 2">
            <a:extLst>
              <a:ext uri="{FF2B5EF4-FFF2-40B4-BE49-F238E27FC236}">
                <a16:creationId xmlns:a16="http://schemas.microsoft.com/office/drawing/2014/main" id="{2970CA26-CF18-4D48-9428-42A6055405BE}"/>
              </a:ext>
            </a:extLst>
          </p:cNvPr>
          <p:cNvSpPr>
            <a:spLocks noGrp="1"/>
          </p:cNvSpPr>
          <p:nvPr>
            <p:ph idx="1"/>
          </p:nvPr>
        </p:nvSpPr>
        <p:spPr>
          <a:xfrm>
            <a:off x="838200" y="1881284"/>
            <a:ext cx="10515600" cy="4351338"/>
          </a:xfrm>
        </p:spPr>
        <p:txBody>
          <a:bodyPr>
            <a:normAutofit/>
          </a:bodyPr>
          <a:lstStyle/>
          <a:p>
            <a:r>
              <a:rPr lang="en-US" sz="1800" b="0" i="0" dirty="0">
                <a:solidFill>
                  <a:srgbClr val="292929"/>
                </a:solidFill>
                <a:effectLst/>
                <a:latin typeface="charter"/>
              </a:rPr>
              <a:t>The purpose of the Viterbi algorithm is to make an inference based on a trained model and some observed data. </a:t>
            </a:r>
          </a:p>
          <a:p>
            <a:r>
              <a:rPr lang="en-US" sz="1800" b="0" i="0" dirty="0">
                <a:solidFill>
                  <a:srgbClr val="292929"/>
                </a:solidFill>
                <a:effectLst/>
                <a:latin typeface="charter"/>
              </a:rPr>
              <a:t>It works by asking a question: given the trained parameter matrices (transition and emission probabilities, initial probabilities) and data, what is the choice of states such that the joint probability reaches maximum?</a:t>
            </a:r>
          </a:p>
          <a:p>
            <a:r>
              <a:rPr lang="en-US" sz="1800" b="0" i="0" dirty="0">
                <a:solidFill>
                  <a:srgbClr val="292929"/>
                </a:solidFill>
                <a:effectLst/>
                <a:latin typeface="charter"/>
              </a:rPr>
              <a:t> In other words, what is the most likely choice given the data and the trained model? </a:t>
            </a:r>
          </a:p>
          <a:p>
            <a:r>
              <a:rPr lang="en-US" sz="1800" b="0" i="0" dirty="0">
                <a:solidFill>
                  <a:srgbClr val="292929"/>
                </a:solidFill>
                <a:effectLst/>
                <a:latin typeface="charter"/>
              </a:rPr>
              <a:t>This statement can be visualized as the following formula, and obviously, the answer depends on the data!</a:t>
            </a:r>
          </a:p>
          <a:p>
            <a:pPr marL="0" indent="0">
              <a:buNone/>
            </a:pPr>
            <a:endParaRPr lang="en-US" sz="1800" dirty="0">
              <a:solidFill>
                <a:srgbClr val="292929"/>
              </a:solidFill>
              <a:latin typeface="charter"/>
            </a:endParaRPr>
          </a:p>
          <a:p>
            <a:endParaRPr lang="en-IN" sz="1800" dirty="0"/>
          </a:p>
        </p:txBody>
      </p:sp>
      <p:pic>
        <p:nvPicPr>
          <p:cNvPr id="1026" name="Picture 2">
            <a:extLst>
              <a:ext uri="{FF2B5EF4-FFF2-40B4-BE49-F238E27FC236}">
                <a16:creationId xmlns:a16="http://schemas.microsoft.com/office/drawing/2014/main" id="{68E51276-395F-4D40-A079-7B72C2C23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7714" y="4073511"/>
            <a:ext cx="2667000" cy="5238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AF9B869-414C-4FC3-B387-B6D056C0FE2D}"/>
              </a:ext>
            </a:extLst>
          </p:cNvPr>
          <p:cNvSpPr txBox="1"/>
          <p:nvPr/>
        </p:nvSpPr>
        <p:spPr>
          <a:xfrm>
            <a:off x="3832529" y="4898915"/>
            <a:ext cx="4190337" cy="923330"/>
          </a:xfrm>
          <a:prstGeom prst="rect">
            <a:avLst/>
          </a:prstGeom>
          <a:noFill/>
        </p:spPr>
        <p:txBody>
          <a:bodyPr wrap="square" rtlCol="0">
            <a:spAutoFit/>
          </a:bodyPr>
          <a:lstStyle/>
          <a:p>
            <a:r>
              <a:rPr lang="en-US" b="0" i="0" dirty="0">
                <a:solidFill>
                  <a:srgbClr val="757575"/>
                </a:solidFill>
                <a:effectLst/>
                <a:latin typeface="sohne"/>
              </a:rPr>
              <a:t>this says to find the states that maximize the conditional probability of states given data.</a:t>
            </a:r>
            <a:endParaRPr lang="en-IN" dirty="0"/>
          </a:p>
        </p:txBody>
      </p:sp>
    </p:spTree>
    <p:extLst>
      <p:ext uri="{BB962C8B-B14F-4D97-AF65-F5344CB8AC3E}">
        <p14:creationId xmlns:p14="http://schemas.microsoft.com/office/powerpoint/2010/main" val="2029811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1B22E-E164-46F9-8461-9697E9D8F8DC}"/>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7053E8-794D-4F0A-AE96-985AEDDA4EEF}"/>
                  </a:ext>
                </a:extLst>
              </p:cNvPr>
              <p:cNvSpPr>
                <a:spLocks noGrp="1"/>
              </p:cNvSpPr>
              <p:nvPr>
                <p:ph idx="1"/>
              </p:nvPr>
            </p:nvSpPr>
            <p:spPr/>
            <p:txBody>
              <a:bodyPr>
                <a:normAutofit fontScale="92500" lnSpcReduction="20000"/>
              </a:bodyPr>
              <a:lstStyle/>
              <a:p>
                <a:r>
                  <a:rPr lang="en-US" b="0" i="0" dirty="0">
                    <a:solidFill>
                      <a:srgbClr val="292929"/>
                    </a:solidFill>
                    <a:effectLst/>
                    <a:latin typeface="charter"/>
                  </a:rPr>
                  <a:t>The Viterbi algorithm is an efficient way to make an inference, or prediction, to the hidden states given the model parameters are optimized, and given the observed data. It is best visualized by a trellis to find out how the path is select from a time step to the next.</a:t>
                </a:r>
              </a:p>
              <a:p>
                <a:r>
                  <a:rPr lang="en-US" sz="2800" dirty="0"/>
                  <a:t>The Viterbi algorithm is used to compute the most probable path (as well as its probability). </a:t>
                </a:r>
              </a:p>
              <a:p>
                <a:r>
                  <a:rPr lang="en-US" sz="2800" dirty="0"/>
                  <a:t>It requires knowledge of the parameters of the HMM model (transition and emission probabilities)  and a particular output sequence and it finds the state sequence that is most likely to have generated that output sequence.</a:t>
                </a:r>
              </a:p>
              <a:p>
                <a:r>
                  <a:rPr lang="en-US" sz="2800" dirty="0"/>
                  <a:t> It works by finding a maximum over all possible state sequences. </a:t>
                </a:r>
              </a:p>
              <a:p>
                <a:r>
                  <a:rPr lang="en-US" b="0" i="0" dirty="0">
                    <a:solidFill>
                      <a:srgbClr val="FF0000"/>
                    </a:solidFill>
                    <a:effectLst/>
                    <a:latin typeface="arial" panose="020B0604020202020204" pitchFamily="34" charset="0"/>
                  </a:rPr>
                  <a:t>The time complexity of this algorithm is </a:t>
                </a:r>
                <a:r>
                  <a:rPr lang="en-US" b="1" i="0" dirty="0">
                    <a:solidFill>
                      <a:srgbClr val="FF0000"/>
                    </a:solidFill>
                    <a:effectLst/>
                    <a:latin typeface="arial" panose="020B0604020202020204" pitchFamily="34" charset="0"/>
                  </a:rPr>
                  <a:t>O(</a:t>
                </a:r>
                <a14:m>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𝑁</m:t>
                        </m:r>
                      </m:e>
                      <m:sup>
                        <m:r>
                          <a:rPr lang="en-US" i="1">
                            <a:solidFill>
                              <a:srgbClr val="FF0000"/>
                            </a:solidFill>
                            <a:latin typeface="Cambria Math" panose="02040503050406030204" pitchFamily="18" charset="0"/>
                          </a:rPr>
                          <m:t>2</m:t>
                        </m:r>
                      </m:sup>
                    </m:sSup>
                    <m:r>
                      <a:rPr lang="en-US" i="1">
                        <a:solidFill>
                          <a:srgbClr val="FF0000"/>
                        </a:solidFill>
                        <a:latin typeface="Cambria Math" panose="02040503050406030204" pitchFamily="18" charset="0"/>
                      </a:rPr>
                      <m:t>𝑇</m:t>
                    </m:r>
                  </m:oMath>
                </a14:m>
                <a:r>
                  <a:rPr lang="en-US" b="1" i="0" dirty="0">
                    <a:solidFill>
                      <a:srgbClr val="FF0000"/>
                    </a:solidFill>
                    <a:effectLst/>
                    <a:latin typeface="arial" panose="020B0604020202020204" pitchFamily="34" charset="0"/>
                  </a:rPr>
                  <a:t>)</a:t>
                </a:r>
                <a:r>
                  <a:rPr lang="en-US" b="0" i="0" dirty="0">
                    <a:solidFill>
                      <a:srgbClr val="FF0000"/>
                    </a:solidFill>
                    <a:effectLst/>
                    <a:latin typeface="arial" panose="020B0604020202020204" pitchFamily="34" charset="0"/>
                  </a:rPr>
                  <a:t> and the space complexity is O(</a:t>
                </a:r>
                <a14:m>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𝑁</m:t>
                        </m:r>
                      </m:e>
                      <m:sup>
                        <m:r>
                          <a:rPr lang="en-US" i="1">
                            <a:solidFill>
                              <a:srgbClr val="FF0000"/>
                            </a:solidFill>
                            <a:latin typeface="Cambria Math" panose="02040503050406030204" pitchFamily="18" charset="0"/>
                          </a:rPr>
                          <m:t>2</m:t>
                        </m:r>
                      </m:sup>
                    </m:sSup>
                  </m:oMath>
                </a14:m>
                <a:r>
                  <a:rPr lang="en-US" b="0" i="0" dirty="0">
                    <a:solidFill>
                      <a:srgbClr val="FF0000"/>
                    </a:solidFill>
                    <a:effectLst/>
                    <a:latin typeface="arial" panose="020B0604020202020204" pitchFamily="34" charset="0"/>
                  </a:rPr>
                  <a:t> + NT).</a:t>
                </a:r>
                <a:endParaRPr lang="en-US" sz="2800" dirty="0">
                  <a:solidFill>
                    <a:srgbClr val="FF0000"/>
                  </a:solidFill>
                </a:endParaRPr>
              </a:p>
              <a:p>
                <a:endParaRPr lang="en-US" sz="2800" dirty="0">
                  <a:solidFill>
                    <a:srgbClr val="FF0000"/>
                  </a:solidFill>
                </a:endParaRPr>
              </a:p>
              <a:p>
                <a:endParaRPr lang="en-IN" dirty="0"/>
              </a:p>
            </p:txBody>
          </p:sp>
        </mc:Choice>
        <mc:Fallback xmlns="">
          <p:sp>
            <p:nvSpPr>
              <p:cNvPr id="3" name="Content Placeholder 2">
                <a:extLst>
                  <a:ext uri="{FF2B5EF4-FFF2-40B4-BE49-F238E27FC236}">
                    <a16:creationId xmlns:a16="http://schemas.microsoft.com/office/drawing/2014/main" id="{277053E8-794D-4F0A-AE96-985AEDDA4EEF}"/>
                  </a:ext>
                </a:extLst>
              </p:cNvPr>
              <p:cNvSpPr>
                <a:spLocks noGrp="1" noRot="1" noChangeAspect="1" noMove="1" noResize="1" noEditPoints="1" noAdjustHandles="1" noChangeArrowheads="1" noChangeShapeType="1" noTextEdit="1"/>
              </p:cNvSpPr>
              <p:nvPr>
                <p:ph idx="1"/>
              </p:nvPr>
            </p:nvSpPr>
            <p:spPr>
              <a:blipFill>
                <a:blip r:embed="rId2"/>
                <a:stretch>
                  <a:fillRect l="-928" t="-3501" r="-1449"/>
                </a:stretch>
              </a:blipFill>
            </p:spPr>
            <p:txBody>
              <a:bodyPr/>
              <a:lstStyle/>
              <a:p>
                <a:r>
                  <a:rPr lang="en-IN">
                    <a:noFill/>
                  </a:rPr>
                  <a:t> </a:t>
                </a:r>
              </a:p>
            </p:txBody>
          </p:sp>
        </mc:Fallback>
      </mc:AlternateContent>
    </p:spTree>
    <p:extLst>
      <p:ext uri="{BB962C8B-B14F-4D97-AF65-F5344CB8AC3E}">
        <p14:creationId xmlns:p14="http://schemas.microsoft.com/office/powerpoint/2010/main" val="728499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CD61C-9528-4051-A37B-B1911DFE52C2}"/>
              </a:ext>
            </a:extLst>
          </p:cNvPr>
          <p:cNvSpPr>
            <a:spLocks noGrp="1"/>
          </p:cNvSpPr>
          <p:nvPr>
            <p:ph type="title"/>
          </p:nvPr>
        </p:nvSpPr>
        <p:spPr/>
        <p:txBody>
          <a:bodyPr/>
          <a:lstStyle/>
          <a:p>
            <a:r>
              <a:rPr lang="en-US" b="0" i="0" dirty="0">
                <a:solidFill>
                  <a:srgbClr val="292929"/>
                </a:solidFill>
                <a:effectLst/>
                <a:latin typeface="sohne"/>
              </a:rPr>
              <a:t>What is the Viterbi Algorithm?</a:t>
            </a:r>
            <a:br>
              <a:rPr lang="en-US" b="0" i="0" dirty="0">
                <a:solidFill>
                  <a:srgbClr val="292929"/>
                </a:solidFill>
                <a:effectLst/>
                <a:latin typeface="sohne"/>
              </a:rPr>
            </a:br>
            <a:endParaRPr lang="en-IN" dirty="0"/>
          </a:p>
        </p:txBody>
      </p:sp>
      <p:sp>
        <p:nvSpPr>
          <p:cNvPr id="9" name="TextBox 8">
            <a:extLst>
              <a:ext uri="{FF2B5EF4-FFF2-40B4-BE49-F238E27FC236}">
                <a16:creationId xmlns:a16="http://schemas.microsoft.com/office/drawing/2014/main" id="{D8794B7E-F1E7-4763-89B4-72EF10F253B4}"/>
              </a:ext>
            </a:extLst>
          </p:cNvPr>
          <p:cNvSpPr txBox="1"/>
          <p:nvPr/>
        </p:nvSpPr>
        <p:spPr>
          <a:xfrm>
            <a:off x="1367624" y="2122998"/>
            <a:ext cx="9191708" cy="2308324"/>
          </a:xfrm>
          <a:prstGeom prst="rect">
            <a:avLst/>
          </a:prstGeom>
          <a:noFill/>
        </p:spPr>
        <p:txBody>
          <a:bodyPr wrap="square">
            <a:spAutoFit/>
          </a:bodyPr>
          <a:lstStyle/>
          <a:p>
            <a:r>
              <a:rPr lang="en-US" dirty="0"/>
              <a:t>The Viterbi Algorithm is a </a:t>
            </a:r>
            <a:r>
              <a:rPr lang="en-US" dirty="0">
                <a:solidFill>
                  <a:srgbClr val="FF0000"/>
                </a:solidFill>
              </a:rPr>
              <a:t>dynamic programming solution</a:t>
            </a:r>
            <a:r>
              <a:rPr lang="en-US" dirty="0"/>
              <a:t> for finding the most probable hidden state sequence. If we have a set of states Q and a set of observations O, we are trying to find the state sequence that maximizes P(Q|O). By conditional probability, we can transform P(Q|O) to P(Q,O)/P(O), but there is no need in finding P(O) as P(O) does not pertain to changes in state sequences. We can just find the state sequence that maximizes P(Q,O). Let’s dive into the formula for P(Q, O).</a:t>
            </a:r>
          </a:p>
          <a:p>
            <a:endParaRPr lang="en-US" dirty="0"/>
          </a:p>
          <a:p>
            <a:endParaRPr lang="en-IN" dirty="0"/>
          </a:p>
        </p:txBody>
      </p:sp>
      <p:pic>
        <p:nvPicPr>
          <p:cNvPr id="3" name="Picture 2">
            <a:extLst>
              <a:ext uri="{FF2B5EF4-FFF2-40B4-BE49-F238E27FC236}">
                <a16:creationId xmlns:a16="http://schemas.microsoft.com/office/drawing/2014/main" id="{41D7D655-1E74-887F-2914-295E0F135C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31095" y="3573624"/>
            <a:ext cx="4131452" cy="3135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232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B7F54-3465-4DB6-9675-4F3FF1F16514}"/>
              </a:ext>
            </a:extLst>
          </p:cNvPr>
          <p:cNvSpPr>
            <a:spLocks noGrp="1"/>
          </p:cNvSpPr>
          <p:nvPr>
            <p:ph type="title"/>
          </p:nvPr>
        </p:nvSpPr>
        <p:spPr/>
        <p:txBody>
          <a:bodyPr/>
          <a:lstStyle/>
          <a:p>
            <a:r>
              <a:rPr lang="en-US" dirty="0"/>
              <a:t>Transition and Emission matrix</a:t>
            </a:r>
            <a:endParaRPr lang="en-IN" dirty="0"/>
          </a:p>
        </p:txBody>
      </p:sp>
      <p:graphicFrame>
        <p:nvGraphicFramePr>
          <p:cNvPr id="6" name="Table 6">
            <a:extLst>
              <a:ext uri="{FF2B5EF4-FFF2-40B4-BE49-F238E27FC236}">
                <a16:creationId xmlns:a16="http://schemas.microsoft.com/office/drawing/2014/main" id="{E8132C8A-552E-45BA-B254-812394FFECD8}"/>
              </a:ext>
            </a:extLst>
          </p:cNvPr>
          <p:cNvGraphicFramePr>
            <a:graphicFrameLocks noGrp="1"/>
          </p:cNvGraphicFramePr>
          <p:nvPr>
            <p:ph idx="1"/>
            <p:extLst>
              <p:ext uri="{D42A27DB-BD31-4B8C-83A1-F6EECF244321}">
                <p14:modId xmlns:p14="http://schemas.microsoft.com/office/powerpoint/2010/main" val="648937668"/>
              </p:ext>
            </p:extLst>
          </p:nvPr>
        </p:nvGraphicFramePr>
        <p:xfrm>
          <a:off x="838201" y="1825625"/>
          <a:ext cx="4330146" cy="1920240"/>
        </p:xfrm>
        <a:graphic>
          <a:graphicData uri="http://schemas.openxmlformats.org/drawingml/2006/table">
            <a:tbl>
              <a:tblPr firstRow="1" bandRow="1">
                <a:tableStyleId>{5C22544A-7EE6-4342-B048-85BDC9FD1C3A}</a:tableStyleId>
              </a:tblPr>
              <a:tblGrid>
                <a:gridCol w="1443382">
                  <a:extLst>
                    <a:ext uri="{9D8B030D-6E8A-4147-A177-3AD203B41FA5}">
                      <a16:colId xmlns:a16="http://schemas.microsoft.com/office/drawing/2014/main" val="3230544277"/>
                    </a:ext>
                  </a:extLst>
                </a:gridCol>
                <a:gridCol w="1443382">
                  <a:extLst>
                    <a:ext uri="{9D8B030D-6E8A-4147-A177-3AD203B41FA5}">
                      <a16:colId xmlns:a16="http://schemas.microsoft.com/office/drawing/2014/main" val="323203982"/>
                    </a:ext>
                  </a:extLst>
                </a:gridCol>
                <a:gridCol w="1443382">
                  <a:extLst>
                    <a:ext uri="{9D8B030D-6E8A-4147-A177-3AD203B41FA5}">
                      <a16:colId xmlns:a16="http://schemas.microsoft.com/office/drawing/2014/main" val="676718641"/>
                    </a:ext>
                  </a:extLst>
                </a:gridCol>
              </a:tblGrid>
              <a:tr h="634512">
                <a:tc>
                  <a:txBody>
                    <a:bodyPr/>
                    <a:lstStyle/>
                    <a:p>
                      <a:r>
                        <a:rPr lang="en-US" dirty="0"/>
                        <a:t>Transition matrix</a:t>
                      </a:r>
                      <a:endParaRPr lang="en-IN" dirty="0"/>
                    </a:p>
                  </a:txBody>
                  <a:tcPr/>
                </a:tc>
                <a:tc>
                  <a:txBody>
                    <a:bodyPr/>
                    <a:lstStyle/>
                    <a:p>
                      <a:r>
                        <a:rPr lang="en-US" dirty="0"/>
                        <a:t>Hot (H)</a:t>
                      </a:r>
                      <a:endParaRPr lang="en-IN" dirty="0"/>
                    </a:p>
                  </a:txBody>
                  <a:tcPr/>
                </a:tc>
                <a:tc>
                  <a:txBody>
                    <a:bodyPr/>
                    <a:lstStyle/>
                    <a:p>
                      <a:r>
                        <a:rPr lang="en-US" dirty="0"/>
                        <a:t>Cold( C)</a:t>
                      </a:r>
                      <a:endParaRPr lang="en-IN" dirty="0"/>
                    </a:p>
                  </a:txBody>
                  <a:tcPr/>
                </a:tc>
                <a:extLst>
                  <a:ext uri="{0D108BD9-81ED-4DB2-BD59-A6C34878D82A}">
                    <a16:rowId xmlns:a16="http://schemas.microsoft.com/office/drawing/2014/main" val="1162326820"/>
                  </a:ext>
                </a:extLst>
              </a:tr>
              <a:tr h="6345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Hot (H)</a:t>
                      </a:r>
                      <a:endParaRPr lang="en-IN" dirty="0"/>
                    </a:p>
                    <a:p>
                      <a:endParaRPr lang="en-IN" dirty="0"/>
                    </a:p>
                  </a:txBody>
                  <a:tcPr/>
                </a:tc>
                <a:tc>
                  <a:txBody>
                    <a:bodyPr/>
                    <a:lstStyle/>
                    <a:p>
                      <a:r>
                        <a:rPr lang="en-US" dirty="0"/>
                        <a:t>0.7</a:t>
                      </a:r>
                      <a:endParaRPr lang="en-IN" dirty="0"/>
                    </a:p>
                  </a:txBody>
                  <a:tcPr/>
                </a:tc>
                <a:tc>
                  <a:txBody>
                    <a:bodyPr/>
                    <a:lstStyle/>
                    <a:p>
                      <a:r>
                        <a:rPr lang="en-US" dirty="0"/>
                        <a:t>0.3</a:t>
                      </a:r>
                      <a:endParaRPr lang="en-IN" dirty="0"/>
                    </a:p>
                  </a:txBody>
                  <a:tcPr/>
                </a:tc>
                <a:extLst>
                  <a:ext uri="{0D108BD9-81ED-4DB2-BD59-A6C34878D82A}">
                    <a16:rowId xmlns:a16="http://schemas.microsoft.com/office/drawing/2014/main" val="198509556"/>
                  </a:ext>
                </a:extLst>
              </a:tr>
              <a:tr h="6345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Cold( C)</a:t>
                      </a:r>
                      <a:endParaRPr lang="en-IN" dirty="0"/>
                    </a:p>
                    <a:p>
                      <a:endParaRPr lang="en-IN" dirty="0"/>
                    </a:p>
                  </a:txBody>
                  <a:tcPr/>
                </a:tc>
                <a:tc>
                  <a:txBody>
                    <a:bodyPr/>
                    <a:lstStyle/>
                    <a:p>
                      <a:r>
                        <a:rPr lang="en-US" dirty="0"/>
                        <a:t>0.4</a:t>
                      </a:r>
                      <a:endParaRPr lang="en-IN" dirty="0"/>
                    </a:p>
                  </a:txBody>
                  <a:tcPr/>
                </a:tc>
                <a:tc>
                  <a:txBody>
                    <a:bodyPr/>
                    <a:lstStyle/>
                    <a:p>
                      <a:r>
                        <a:rPr lang="en-US" dirty="0"/>
                        <a:t>0.6</a:t>
                      </a:r>
                      <a:endParaRPr lang="en-IN" dirty="0"/>
                    </a:p>
                  </a:txBody>
                  <a:tcPr/>
                </a:tc>
                <a:extLst>
                  <a:ext uri="{0D108BD9-81ED-4DB2-BD59-A6C34878D82A}">
                    <a16:rowId xmlns:a16="http://schemas.microsoft.com/office/drawing/2014/main" val="3625841503"/>
                  </a:ext>
                </a:extLst>
              </a:tr>
            </a:tbl>
          </a:graphicData>
        </a:graphic>
      </p:graphicFrame>
      <p:graphicFrame>
        <p:nvGraphicFramePr>
          <p:cNvPr id="8" name="Table 8">
            <a:extLst>
              <a:ext uri="{FF2B5EF4-FFF2-40B4-BE49-F238E27FC236}">
                <a16:creationId xmlns:a16="http://schemas.microsoft.com/office/drawing/2014/main" id="{56103569-D258-4E66-968C-E3347FA54904}"/>
              </a:ext>
            </a:extLst>
          </p:cNvPr>
          <p:cNvGraphicFramePr>
            <a:graphicFrameLocks noGrp="1"/>
          </p:cNvGraphicFramePr>
          <p:nvPr>
            <p:extLst>
              <p:ext uri="{D42A27DB-BD31-4B8C-83A1-F6EECF244321}">
                <p14:modId xmlns:p14="http://schemas.microsoft.com/office/powerpoint/2010/main" val="2308140799"/>
              </p:ext>
            </p:extLst>
          </p:nvPr>
        </p:nvGraphicFramePr>
        <p:xfrm>
          <a:off x="783566" y="3907367"/>
          <a:ext cx="4782268" cy="1591538"/>
        </p:xfrm>
        <a:graphic>
          <a:graphicData uri="http://schemas.openxmlformats.org/drawingml/2006/table">
            <a:tbl>
              <a:tblPr firstRow="1" bandRow="1">
                <a:tableStyleId>{5C22544A-7EE6-4342-B048-85BDC9FD1C3A}</a:tableStyleId>
              </a:tblPr>
              <a:tblGrid>
                <a:gridCol w="1195567">
                  <a:extLst>
                    <a:ext uri="{9D8B030D-6E8A-4147-A177-3AD203B41FA5}">
                      <a16:colId xmlns:a16="http://schemas.microsoft.com/office/drawing/2014/main" val="2433974284"/>
                    </a:ext>
                  </a:extLst>
                </a:gridCol>
                <a:gridCol w="1195567">
                  <a:extLst>
                    <a:ext uri="{9D8B030D-6E8A-4147-A177-3AD203B41FA5}">
                      <a16:colId xmlns:a16="http://schemas.microsoft.com/office/drawing/2014/main" val="3128124212"/>
                    </a:ext>
                  </a:extLst>
                </a:gridCol>
                <a:gridCol w="1195567">
                  <a:extLst>
                    <a:ext uri="{9D8B030D-6E8A-4147-A177-3AD203B41FA5}">
                      <a16:colId xmlns:a16="http://schemas.microsoft.com/office/drawing/2014/main" val="1505230669"/>
                    </a:ext>
                  </a:extLst>
                </a:gridCol>
                <a:gridCol w="1195567">
                  <a:extLst>
                    <a:ext uri="{9D8B030D-6E8A-4147-A177-3AD203B41FA5}">
                      <a16:colId xmlns:a16="http://schemas.microsoft.com/office/drawing/2014/main" val="2006552314"/>
                    </a:ext>
                  </a:extLst>
                </a:gridCol>
              </a:tblGrid>
              <a:tr h="475729">
                <a:tc>
                  <a:txBody>
                    <a:bodyPr/>
                    <a:lstStyle/>
                    <a:p>
                      <a:r>
                        <a:rPr lang="en-US" dirty="0"/>
                        <a:t>Emission matrix</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784308682"/>
                  </a:ext>
                </a:extLst>
              </a:tr>
              <a:tr h="475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Hot (H)</a:t>
                      </a:r>
                      <a:endParaRPr lang="en-IN" dirty="0"/>
                    </a:p>
                  </a:txBody>
                  <a:tcPr/>
                </a:tc>
                <a:tc>
                  <a:txBody>
                    <a:bodyPr/>
                    <a:lstStyle/>
                    <a:p>
                      <a:r>
                        <a:rPr lang="en-US" dirty="0"/>
                        <a:t>0.2</a:t>
                      </a:r>
                      <a:endParaRPr lang="en-IN" dirty="0"/>
                    </a:p>
                  </a:txBody>
                  <a:tcPr/>
                </a:tc>
                <a:tc>
                  <a:txBody>
                    <a:bodyPr/>
                    <a:lstStyle/>
                    <a:p>
                      <a:r>
                        <a:rPr lang="en-US" dirty="0"/>
                        <a:t>0.4</a:t>
                      </a:r>
                      <a:endParaRPr lang="en-IN" dirty="0"/>
                    </a:p>
                  </a:txBody>
                  <a:tcPr/>
                </a:tc>
                <a:tc>
                  <a:txBody>
                    <a:bodyPr/>
                    <a:lstStyle/>
                    <a:p>
                      <a:r>
                        <a:rPr lang="en-US" dirty="0"/>
                        <a:t>0.4</a:t>
                      </a:r>
                      <a:endParaRPr lang="en-IN" dirty="0"/>
                    </a:p>
                  </a:txBody>
                  <a:tcPr/>
                </a:tc>
                <a:extLst>
                  <a:ext uri="{0D108BD9-81ED-4DB2-BD59-A6C34878D82A}">
                    <a16:rowId xmlns:a16="http://schemas.microsoft.com/office/drawing/2014/main" val="2342317594"/>
                  </a:ext>
                </a:extLst>
              </a:tr>
              <a:tr h="475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Cold( C)</a:t>
                      </a:r>
                      <a:endParaRPr lang="en-IN" dirty="0"/>
                    </a:p>
                  </a:txBody>
                  <a:tcPr/>
                </a:tc>
                <a:tc>
                  <a:txBody>
                    <a:bodyPr/>
                    <a:lstStyle/>
                    <a:p>
                      <a:r>
                        <a:rPr lang="en-US" dirty="0"/>
                        <a:t>0.5</a:t>
                      </a:r>
                      <a:endParaRPr lang="en-IN" dirty="0"/>
                    </a:p>
                  </a:txBody>
                  <a:tcPr/>
                </a:tc>
                <a:tc>
                  <a:txBody>
                    <a:bodyPr/>
                    <a:lstStyle/>
                    <a:p>
                      <a:r>
                        <a:rPr lang="en-US" dirty="0"/>
                        <a:t>0.4</a:t>
                      </a:r>
                      <a:endParaRPr lang="en-IN" dirty="0"/>
                    </a:p>
                  </a:txBody>
                  <a:tcPr/>
                </a:tc>
                <a:tc>
                  <a:txBody>
                    <a:bodyPr/>
                    <a:lstStyle/>
                    <a:p>
                      <a:r>
                        <a:rPr lang="en-US" dirty="0"/>
                        <a:t>0.1</a:t>
                      </a:r>
                      <a:endParaRPr lang="en-IN" dirty="0"/>
                    </a:p>
                  </a:txBody>
                  <a:tcPr/>
                </a:tc>
                <a:extLst>
                  <a:ext uri="{0D108BD9-81ED-4DB2-BD59-A6C34878D82A}">
                    <a16:rowId xmlns:a16="http://schemas.microsoft.com/office/drawing/2014/main" val="1653070160"/>
                  </a:ext>
                </a:extLst>
              </a:tr>
            </a:tbl>
          </a:graphicData>
        </a:graphic>
      </p:graphicFrame>
      <p:sp>
        <p:nvSpPr>
          <p:cNvPr id="9" name="TextBox 8">
            <a:extLst>
              <a:ext uri="{FF2B5EF4-FFF2-40B4-BE49-F238E27FC236}">
                <a16:creationId xmlns:a16="http://schemas.microsoft.com/office/drawing/2014/main" id="{200339EF-F74B-460A-9574-D3C8A41FD534}"/>
              </a:ext>
            </a:extLst>
          </p:cNvPr>
          <p:cNvSpPr txBox="1"/>
          <p:nvPr/>
        </p:nvSpPr>
        <p:spPr>
          <a:xfrm>
            <a:off x="6814268" y="1825625"/>
            <a:ext cx="3824577" cy="923330"/>
          </a:xfrm>
          <a:prstGeom prst="rect">
            <a:avLst/>
          </a:prstGeom>
          <a:noFill/>
        </p:spPr>
        <p:txBody>
          <a:bodyPr wrap="square" rtlCol="0">
            <a:spAutoFit/>
          </a:bodyPr>
          <a:lstStyle/>
          <a:p>
            <a:r>
              <a:rPr lang="en-US" dirty="0"/>
              <a:t>Initial probability  :</a:t>
            </a:r>
          </a:p>
          <a:p>
            <a:r>
              <a:rPr lang="en-US" dirty="0"/>
              <a:t>hot = 0.8</a:t>
            </a:r>
          </a:p>
          <a:p>
            <a:r>
              <a:rPr lang="en-US" dirty="0"/>
              <a:t>Cold=0.2</a:t>
            </a:r>
            <a:endParaRPr lang="en-IN" dirty="0"/>
          </a:p>
        </p:txBody>
      </p:sp>
      <p:pic>
        <p:nvPicPr>
          <p:cNvPr id="2050" name="Picture 2">
            <a:extLst>
              <a:ext uri="{FF2B5EF4-FFF2-40B4-BE49-F238E27FC236}">
                <a16:creationId xmlns:a16="http://schemas.microsoft.com/office/drawing/2014/main" id="{ED9E567B-866A-4842-A384-F972ECEC2C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2450" y="1955105"/>
            <a:ext cx="140398" cy="13608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A533D51-5641-4C7B-9671-F937CC6BAD33}"/>
              </a:ext>
            </a:extLst>
          </p:cNvPr>
          <p:cNvPicPr>
            <a:picLocks noChangeAspect="1"/>
          </p:cNvPicPr>
          <p:nvPr/>
        </p:nvPicPr>
        <p:blipFill>
          <a:blip r:embed="rId3"/>
          <a:stretch>
            <a:fillRect/>
          </a:stretch>
        </p:blipFill>
        <p:spPr>
          <a:xfrm>
            <a:off x="5950018" y="2748955"/>
            <a:ext cx="5063783" cy="2188805"/>
          </a:xfrm>
          <a:prstGeom prst="rect">
            <a:avLst/>
          </a:prstGeom>
        </p:spPr>
      </p:pic>
      <p:sp>
        <p:nvSpPr>
          <p:cNvPr id="11" name="Rectangle 10">
            <a:extLst>
              <a:ext uri="{FF2B5EF4-FFF2-40B4-BE49-F238E27FC236}">
                <a16:creationId xmlns:a16="http://schemas.microsoft.com/office/drawing/2014/main" id="{C5ADF9CA-FB57-4F34-B217-4A4B55BF31F9}"/>
              </a:ext>
            </a:extLst>
          </p:cNvPr>
          <p:cNvSpPr/>
          <p:nvPr/>
        </p:nvSpPr>
        <p:spPr>
          <a:xfrm>
            <a:off x="9231464" y="3745865"/>
            <a:ext cx="429371" cy="2943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0.4</a:t>
            </a:r>
            <a:endParaRPr lang="en-IN" sz="1200" dirty="0"/>
          </a:p>
        </p:txBody>
      </p:sp>
      <p:sp>
        <p:nvSpPr>
          <p:cNvPr id="13" name="Rectangle 12">
            <a:extLst>
              <a:ext uri="{FF2B5EF4-FFF2-40B4-BE49-F238E27FC236}">
                <a16:creationId xmlns:a16="http://schemas.microsoft.com/office/drawing/2014/main" id="{2E3E4D88-4550-4D6C-8586-2EC01685F74F}"/>
              </a:ext>
            </a:extLst>
          </p:cNvPr>
          <p:cNvSpPr/>
          <p:nvPr/>
        </p:nvSpPr>
        <p:spPr>
          <a:xfrm>
            <a:off x="7769749" y="4278573"/>
            <a:ext cx="396241" cy="286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0.7</a:t>
            </a:r>
            <a:endParaRPr lang="en-IN" sz="1200" dirty="0"/>
          </a:p>
        </p:txBody>
      </p:sp>
      <p:sp>
        <p:nvSpPr>
          <p:cNvPr id="14" name="Rectangle 13">
            <a:extLst>
              <a:ext uri="{FF2B5EF4-FFF2-40B4-BE49-F238E27FC236}">
                <a16:creationId xmlns:a16="http://schemas.microsoft.com/office/drawing/2014/main" id="{E6BEAD49-23C3-490F-9865-C43858984017}"/>
              </a:ext>
            </a:extLst>
          </p:cNvPr>
          <p:cNvSpPr/>
          <p:nvPr/>
        </p:nvSpPr>
        <p:spPr>
          <a:xfrm>
            <a:off x="9231463" y="4494806"/>
            <a:ext cx="391298" cy="2989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0.3</a:t>
            </a:r>
            <a:endParaRPr lang="en-IN" sz="1200" dirty="0"/>
          </a:p>
        </p:txBody>
      </p:sp>
      <p:sp>
        <p:nvSpPr>
          <p:cNvPr id="15" name="Rectangle 14">
            <a:extLst>
              <a:ext uri="{FF2B5EF4-FFF2-40B4-BE49-F238E27FC236}">
                <a16:creationId xmlns:a16="http://schemas.microsoft.com/office/drawing/2014/main" id="{311AC2AB-4B97-45F1-ACF7-56F1D61E95E4}"/>
              </a:ext>
            </a:extLst>
          </p:cNvPr>
          <p:cNvSpPr/>
          <p:nvPr/>
        </p:nvSpPr>
        <p:spPr>
          <a:xfrm>
            <a:off x="10538114" y="4384421"/>
            <a:ext cx="396241" cy="2866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0.6</a:t>
            </a:r>
            <a:endParaRPr lang="en-IN" sz="1200" dirty="0"/>
          </a:p>
        </p:txBody>
      </p:sp>
      <p:sp>
        <p:nvSpPr>
          <p:cNvPr id="12" name="Oval 11">
            <a:extLst>
              <a:ext uri="{FF2B5EF4-FFF2-40B4-BE49-F238E27FC236}">
                <a16:creationId xmlns:a16="http://schemas.microsoft.com/office/drawing/2014/main" id="{D6B29C23-161B-48AC-BE14-C1E45472F014}"/>
              </a:ext>
            </a:extLst>
          </p:cNvPr>
          <p:cNvSpPr/>
          <p:nvPr/>
        </p:nvSpPr>
        <p:spPr>
          <a:xfrm>
            <a:off x="7769749" y="5392348"/>
            <a:ext cx="397565" cy="397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17" name="Oval 16">
            <a:extLst>
              <a:ext uri="{FF2B5EF4-FFF2-40B4-BE49-F238E27FC236}">
                <a16:creationId xmlns:a16="http://schemas.microsoft.com/office/drawing/2014/main" id="{E313C548-97F7-467C-85D9-CA27C31563AF}"/>
              </a:ext>
            </a:extLst>
          </p:cNvPr>
          <p:cNvSpPr/>
          <p:nvPr/>
        </p:nvSpPr>
        <p:spPr>
          <a:xfrm>
            <a:off x="8343667" y="5398936"/>
            <a:ext cx="397565" cy="397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8" name="Oval 17">
            <a:extLst>
              <a:ext uri="{FF2B5EF4-FFF2-40B4-BE49-F238E27FC236}">
                <a16:creationId xmlns:a16="http://schemas.microsoft.com/office/drawing/2014/main" id="{95822D9A-F025-45E8-B1D6-833544506D06}"/>
              </a:ext>
            </a:extLst>
          </p:cNvPr>
          <p:cNvSpPr/>
          <p:nvPr/>
        </p:nvSpPr>
        <p:spPr>
          <a:xfrm>
            <a:off x="8941022" y="5392347"/>
            <a:ext cx="397565" cy="397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cxnSp>
        <p:nvCxnSpPr>
          <p:cNvPr id="19" name="Straight Arrow Connector 18">
            <a:extLst>
              <a:ext uri="{FF2B5EF4-FFF2-40B4-BE49-F238E27FC236}">
                <a16:creationId xmlns:a16="http://schemas.microsoft.com/office/drawing/2014/main" id="{9B33BC4F-82D6-4590-BEB3-769D95E1A64C}"/>
              </a:ext>
            </a:extLst>
          </p:cNvPr>
          <p:cNvCxnSpPr>
            <a:endCxn id="12" idx="0"/>
          </p:cNvCxnSpPr>
          <p:nvPr/>
        </p:nvCxnSpPr>
        <p:spPr>
          <a:xfrm flipH="1">
            <a:off x="7968532" y="4427389"/>
            <a:ext cx="403383" cy="9649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1B7F9B5-F5DE-4DB5-BD31-E211F4F0833D}"/>
              </a:ext>
            </a:extLst>
          </p:cNvPr>
          <p:cNvCxnSpPr>
            <a:cxnSpLocks/>
          </p:cNvCxnSpPr>
          <p:nvPr/>
        </p:nvCxnSpPr>
        <p:spPr>
          <a:xfrm flipH="1">
            <a:off x="8501885" y="4472520"/>
            <a:ext cx="80272" cy="943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B4EEEF3-E5B3-4201-ABA5-56075171D1E5}"/>
              </a:ext>
            </a:extLst>
          </p:cNvPr>
          <p:cNvCxnSpPr>
            <a:cxnSpLocks/>
          </p:cNvCxnSpPr>
          <p:nvPr/>
        </p:nvCxnSpPr>
        <p:spPr>
          <a:xfrm>
            <a:off x="8781660" y="4468128"/>
            <a:ext cx="327524" cy="910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0FED3C1-AE50-49BB-9980-D05E68D87A62}"/>
              </a:ext>
            </a:extLst>
          </p:cNvPr>
          <p:cNvSpPr/>
          <p:nvPr/>
        </p:nvSpPr>
        <p:spPr>
          <a:xfrm>
            <a:off x="9573300" y="5402619"/>
            <a:ext cx="397565" cy="397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26" name="Oval 25">
            <a:extLst>
              <a:ext uri="{FF2B5EF4-FFF2-40B4-BE49-F238E27FC236}">
                <a16:creationId xmlns:a16="http://schemas.microsoft.com/office/drawing/2014/main" id="{5D1A8ACA-F437-48AC-9A43-8E97FC4C624F}"/>
              </a:ext>
            </a:extLst>
          </p:cNvPr>
          <p:cNvSpPr/>
          <p:nvPr/>
        </p:nvSpPr>
        <p:spPr>
          <a:xfrm>
            <a:off x="10182411" y="5392347"/>
            <a:ext cx="397565" cy="397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27" name="Oval 26">
            <a:extLst>
              <a:ext uri="{FF2B5EF4-FFF2-40B4-BE49-F238E27FC236}">
                <a16:creationId xmlns:a16="http://schemas.microsoft.com/office/drawing/2014/main" id="{36A30E06-238B-4204-B396-FD38680E2718}"/>
              </a:ext>
            </a:extLst>
          </p:cNvPr>
          <p:cNvSpPr/>
          <p:nvPr/>
        </p:nvSpPr>
        <p:spPr>
          <a:xfrm>
            <a:off x="10720804" y="5353071"/>
            <a:ext cx="397565" cy="397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cxnSp>
        <p:nvCxnSpPr>
          <p:cNvPr id="28" name="Straight Arrow Connector 27">
            <a:extLst>
              <a:ext uri="{FF2B5EF4-FFF2-40B4-BE49-F238E27FC236}">
                <a16:creationId xmlns:a16="http://schemas.microsoft.com/office/drawing/2014/main" id="{088D8DA3-E287-49F8-829E-A8294974D8AC}"/>
              </a:ext>
            </a:extLst>
          </p:cNvPr>
          <p:cNvCxnSpPr>
            <a:cxnSpLocks/>
            <a:endCxn id="25" idx="0"/>
          </p:cNvCxnSpPr>
          <p:nvPr/>
        </p:nvCxnSpPr>
        <p:spPr>
          <a:xfrm flipH="1">
            <a:off x="9772083" y="4494806"/>
            <a:ext cx="213304" cy="907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5A28F93-C458-4C0F-B5DB-61798D5FB907}"/>
              </a:ext>
            </a:extLst>
          </p:cNvPr>
          <p:cNvCxnSpPr>
            <a:cxnSpLocks/>
          </p:cNvCxnSpPr>
          <p:nvPr/>
        </p:nvCxnSpPr>
        <p:spPr>
          <a:xfrm>
            <a:off x="10176218" y="4468128"/>
            <a:ext cx="143968" cy="939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1530FEC-5006-489D-BFF7-4B8BA47EB5A6}"/>
              </a:ext>
            </a:extLst>
          </p:cNvPr>
          <p:cNvCxnSpPr>
            <a:cxnSpLocks/>
          </p:cNvCxnSpPr>
          <p:nvPr/>
        </p:nvCxnSpPr>
        <p:spPr>
          <a:xfrm>
            <a:off x="10278912" y="4408274"/>
            <a:ext cx="453965" cy="1016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A65B0F9-5FF8-4C6F-9A52-8E843F3CE22C}"/>
              </a:ext>
            </a:extLst>
          </p:cNvPr>
          <p:cNvSpPr txBox="1"/>
          <p:nvPr/>
        </p:nvSpPr>
        <p:spPr>
          <a:xfrm>
            <a:off x="7714226" y="4917202"/>
            <a:ext cx="564542" cy="246221"/>
          </a:xfrm>
          <a:prstGeom prst="rect">
            <a:avLst/>
          </a:prstGeom>
          <a:noFill/>
        </p:spPr>
        <p:txBody>
          <a:bodyPr wrap="square" rtlCol="0">
            <a:spAutoFit/>
          </a:bodyPr>
          <a:lstStyle/>
          <a:p>
            <a:r>
              <a:rPr lang="en-US" sz="1000" b="1" dirty="0"/>
              <a:t>0.2</a:t>
            </a:r>
            <a:endParaRPr lang="en-IN" sz="1000" b="1" dirty="0"/>
          </a:p>
        </p:txBody>
      </p:sp>
      <p:sp>
        <p:nvSpPr>
          <p:cNvPr id="37" name="TextBox 36">
            <a:extLst>
              <a:ext uri="{FF2B5EF4-FFF2-40B4-BE49-F238E27FC236}">
                <a16:creationId xmlns:a16="http://schemas.microsoft.com/office/drawing/2014/main" id="{35D17EBF-2F04-46A5-A07E-90E255288B4D}"/>
              </a:ext>
            </a:extLst>
          </p:cNvPr>
          <p:cNvSpPr txBox="1"/>
          <p:nvPr/>
        </p:nvSpPr>
        <p:spPr>
          <a:xfrm>
            <a:off x="8693964" y="4975149"/>
            <a:ext cx="564542" cy="253916"/>
          </a:xfrm>
          <a:prstGeom prst="rect">
            <a:avLst/>
          </a:prstGeom>
          <a:noFill/>
        </p:spPr>
        <p:txBody>
          <a:bodyPr wrap="square" rtlCol="0">
            <a:spAutoFit/>
          </a:bodyPr>
          <a:lstStyle/>
          <a:p>
            <a:r>
              <a:rPr lang="en-US" sz="1050" b="1" dirty="0"/>
              <a:t>0.4</a:t>
            </a:r>
            <a:endParaRPr lang="en-IN" sz="1050" b="1" dirty="0"/>
          </a:p>
        </p:txBody>
      </p:sp>
      <p:sp>
        <p:nvSpPr>
          <p:cNvPr id="38" name="TextBox 37">
            <a:extLst>
              <a:ext uri="{FF2B5EF4-FFF2-40B4-BE49-F238E27FC236}">
                <a16:creationId xmlns:a16="http://schemas.microsoft.com/office/drawing/2014/main" id="{69AE9388-7FF8-436E-9587-E7ED6538C886}"/>
              </a:ext>
            </a:extLst>
          </p:cNvPr>
          <p:cNvSpPr txBox="1"/>
          <p:nvPr/>
        </p:nvSpPr>
        <p:spPr>
          <a:xfrm>
            <a:off x="9958814" y="4926354"/>
            <a:ext cx="564542" cy="253916"/>
          </a:xfrm>
          <a:prstGeom prst="rect">
            <a:avLst/>
          </a:prstGeom>
          <a:noFill/>
        </p:spPr>
        <p:txBody>
          <a:bodyPr wrap="square" rtlCol="0">
            <a:spAutoFit/>
          </a:bodyPr>
          <a:lstStyle/>
          <a:p>
            <a:r>
              <a:rPr lang="en-US" sz="1050" b="1" dirty="0"/>
              <a:t>0.4</a:t>
            </a:r>
            <a:endParaRPr lang="en-IN" sz="1050" b="1" dirty="0"/>
          </a:p>
        </p:txBody>
      </p:sp>
      <p:sp>
        <p:nvSpPr>
          <p:cNvPr id="39" name="TextBox 38">
            <a:extLst>
              <a:ext uri="{FF2B5EF4-FFF2-40B4-BE49-F238E27FC236}">
                <a16:creationId xmlns:a16="http://schemas.microsoft.com/office/drawing/2014/main" id="{789AC830-D245-4565-B2FC-47AA21FEF45D}"/>
              </a:ext>
            </a:extLst>
          </p:cNvPr>
          <p:cNvSpPr txBox="1"/>
          <p:nvPr/>
        </p:nvSpPr>
        <p:spPr>
          <a:xfrm>
            <a:off x="9503828" y="4971213"/>
            <a:ext cx="564542" cy="253916"/>
          </a:xfrm>
          <a:prstGeom prst="rect">
            <a:avLst/>
          </a:prstGeom>
          <a:noFill/>
        </p:spPr>
        <p:txBody>
          <a:bodyPr wrap="square" rtlCol="0">
            <a:spAutoFit/>
          </a:bodyPr>
          <a:lstStyle/>
          <a:p>
            <a:r>
              <a:rPr lang="en-US" sz="1050" b="1" dirty="0"/>
              <a:t>0.5</a:t>
            </a:r>
            <a:endParaRPr lang="en-IN" sz="1050" b="1" dirty="0"/>
          </a:p>
        </p:txBody>
      </p:sp>
      <p:sp>
        <p:nvSpPr>
          <p:cNvPr id="40" name="TextBox 39">
            <a:extLst>
              <a:ext uri="{FF2B5EF4-FFF2-40B4-BE49-F238E27FC236}">
                <a16:creationId xmlns:a16="http://schemas.microsoft.com/office/drawing/2014/main" id="{39CFB79E-9791-4DB3-B5DF-69FF2350197E}"/>
              </a:ext>
            </a:extLst>
          </p:cNvPr>
          <p:cNvSpPr txBox="1"/>
          <p:nvPr/>
        </p:nvSpPr>
        <p:spPr>
          <a:xfrm>
            <a:off x="8233189" y="4952965"/>
            <a:ext cx="564542" cy="253916"/>
          </a:xfrm>
          <a:prstGeom prst="rect">
            <a:avLst/>
          </a:prstGeom>
          <a:noFill/>
        </p:spPr>
        <p:txBody>
          <a:bodyPr wrap="square" rtlCol="0">
            <a:spAutoFit/>
          </a:bodyPr>
          <a:lstStyle/>
          <a:p>
            <a:r>
              <a:rPr lang="en-US" sz="1050" b="1" dirty="0"/>
              <a:t>0.4</a:t>
            </a:r>
            <a:endParaRPr lang="en-IN" sz="1050" b="1" dirty="0"/>
          </a:p>
        </p:txBody>
      </p:sp>
      <p:sp>
        <p:nvSpPr>
          <p:cNvPr id="41" name="TextBox 40">
            <a:extLst>
              <a:ext uri="{FF2B5EF4-FFF2-40B4-BE49-F238E27FC236}">
                <a16:creationId xmlns:a16="http://schemas.microsoft.com/office/drawing/2014/main" id="{98D6DCA2-1DB2-4ED0-BDA2-7B9DBFA093BF}"/>
              </a:ext>
            </a:extLst>
          </p:cNvPr>
          <p:cNvSpPr txBox="1"/>
          <p:nvPr/>
        </p:nvSpPr>
        <p:spPr>
          <a:xfrm>
            <a:off x="10538114" y="4926354"/>
            <a:ext cx="564542" cy="246221"/>
          </a:xfrm>
          <a:prstGeom prst="rect">
            <a:avLst/>
          </a:prstGeom>
          <a:noFill/>
        </p:spPr>
        <p:txBody>
          <a:bodyPr wrap="square" rtlCol="0">
            <a:spAutoFit/>
          </a:bodyPr>
          <a:lstStyle/>
          <a:p>
            <a:r>
              <a:rPr lang="en-US" sz="1000" b="1" dirty="0"/>
              <a:t>0.1</a:t>
            </a:r>
            <a:endParaRPr lang="en-IN" sz="1000" b="1" dirty="0"/>
          </a:p>
        </p:txBody>
      </p:sp>
      <p:sp>
        <p:nvSpPr>
          <p:cNvPr id="36" name="Rectangle 35">
            <a:extLst>
              <a:ext uri="{FF2B5EF4-FFF2-40B4-BE49-F238E27FC236}">
                <a16:creationId xmlns:a16="http://schemas.microsoft.com/office/drawing/2014/main" id="{899DEB77-B740-4EC4-9D47-9F645589026F}"/>
              </a:ext>
            </a:extLst>
          </p:cNvPr>
          <p:cNvSpPr/>
          <p:nvPr/>
        </p:nvSpPr>
        <p:spPr>
          <a:xfrm>
            <a:off x="5938371" y="2866444"/>
            <a:ext cx="1697624" cy="25497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4FE0A748-EC18-4C1C-821A-DD8BEA29BDBA}"/>
              </a:ext>
            </a:extLst>
          </p:cNvPr>
          <p:cNvSpPr txBox="1"/>
          <p:nvPr/>
        </p:nvSpPr>
        <p:spPr>
          <a:xfrm>
            <a:off x="2569051" y="5672861"/>
            <a:ext cx="5021266" cy="646331"/>
          </a:xfrm>
          <a:prstGeom prst="rect">
            <a:avLst/>
          </a:prstGeom>
          <a:noFill/>
        </p:spPr>
        <p:txBody>
          <a:bodyPr wrap="square" rtlCol="0">
            <a:spAutoFit/>
          </a:bodyPr>
          <a:lstStyle/>
          <a:p>
            <a:r>
              <a:rPr lang="en-US" dirty="0"/>
              <a:t>For Emission states  = 3,1,3</a:t>
            </a:r>
          </a:p>
          <a:p>
            <a:r>
              <a:rPr lang="en-US" dirty="0"/>
              <a:t>What is the hidden state sequence?</a:t>
            </a:r>
            <a:endParaRPr lang="en-IN" dirty="0"/>
          </a:p>
        </p:txBody>
      </p:sp>
      <p:sp>
        <p:nvSpPr>
          <p:cNvPr id="3" name="Oval 2">
            <a:extLst>
              <a:ext uri="{FF2B5EF4-FFF2-40B4-BE49-F238E27FC236}">
                <a16:creationId xmlns:a16="http://schemas.microsoft.com/office/drawing/2014/main" id="{18596DFA-666A-449C-981A-54044B9F707C}"/>
              </a:ext>
            </a:extLst>
          </p:cNvPr>
          <p:cNvSpPr/>
          <p:nvPr/>
        </p:nvSpPr>
        <p:spPr>
          <a:xfrm>
            <a:off x="9707091" y="3799213"/>
            <a:ext cx="714368" cy="676711"/>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highlight>
                  <a:srgbClr val="FFFF00"/>
                </a:highlight>
              </a:rPr>
              <a:t>COLD</a:t>
            </a:r>
            <a:endParaRPr lang="en-IN" sz="900" dirty="0">
              <a:solidFill>
                <a:schemeClr val="tx1"/>
              </a:solidFill>
              <a:highlight>
                <a:srgbClr val="FFFF00"/>
              </a:highlight>
            </a:endParaRPr>
          </a:p>
        </p:txBody>
      </p:sp>
    </p:spTree>
    <p:extLst>
      <p:ext uri="{BB962C8B-B14F-4D97-AF65-F5344CB8AC3E}">
        <p14:creationId xmlns:p14="http://schemas.microsoft.com/office/powerpoint/2010/main" val="806679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89A86-A569-4B3B-8284-95AEEB91D37C}"/>
              </a:ext>
            </a:extLst>
          </p:cNvPr>
          <p:cNvSpPr>
            <a:spLocks noGrp="1"/>
          </p:cNvSpPr>
          <p:nvPr>
            <p:ph type="title"/>
          </p:nvPr>
        </p:nvSpPr>
        <p:spPr/>
        <p:txBody>
          <a:bodyPr/>
          <a:lstStyle/>
          <a:p>
            <a:endParaRPr lang="en-IN" dirty="0"/>
          </a:p>
        </p:txBody>
      </p:sp>
      <p:pic>
        <p:nvPicPr>
          <p:cNvPr id="1026" name="Picture 2">
            <a:extLst>
              <a:ext uri="{FF2B5EF4-FFF2-40B4-BE49-F238E27FC236}">
                <a16:creationId xmlns:a16="http://schemas.microsoft.com/office/drawing/2014/main" id="{A5388A7A-7E75-4D38-B7B3-683E440CC5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7803" y="2665182"/>
            <a:ext cx="9580104" cy="35674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6">
            <a:extLst>
              <a:ext uri="{FF2B5EF4-FFF2-40B4-BE49-F238E27FC236}">
                <a16:creationId xmlns:a16="http://schemas.microsoft.com/office/drawing/2014/main" id="{C31A7DEE-9068-45F3-A718-410E611365DD}"/>
              </a:ext>
            </a:extLst>
          </p:cNvPr>
          <p:cNvGraphicFramePr>
            <a:graphicFrameLocks/>
          </p:cNvGraphicFramePr>
          <p:nvPr>
            <p:extLst>
              <p:ext uri="{D42A27DB-BD31-4B8C-83A1-F6EECF244321}">
                <p14:modId xmlns:p14="http://schemas.microsoft.com/office/powerpoint/2010/main" val="2597271978"/>
              </p:ext>
            </p:extLst>
          </p:nvPr>
        </p:nvGraphicFramePr>
        <p:xfrm>
          <a:off x="683100" y="479953"/>
          <a:ext cx="3956823" cy="1500088"/>
        </p:xfrm>
        <a:graphic>
          <a:graphicData uri="http://schemas.openxmlformats.org/drawingml/2006/table">
            <a:tbl>
              <a:tblPr firstRow="1" bandRow="1">
                <a:tableStyleId>{5C22544A-7EE6-4342-B048-85BDC9FD1C3A}</a:tableStyleId>
              </a:tblPr>
              <a:tblGrid>
                <a:gridCol w="1318941">
                  <a:extLst>
                    <a:ext uri="{9D8B030D-6E8A-4147-A177-3AD203B41FA5}">
                      <a16:colId xmlns:a16="http://schemas.microsoft.com/office/drawing/2014/main" val="3230544277"/>
                    </a:ext>
                  </a:extLst>
                </a:gridCol>
                <a:gridCol w="1318941">
                  <a:extLst>
                    <a:ext uri="{9D8B030D-6E8A-4147-A177-3AD203B41FA5}">
                      <a16:colId xmlns:a16="http://schemas.microsoft.com/office/drawing/2014/main" val="323203982"/>
                    </a:ext>
                  </a:extLst>
                </a:gridCol>
                <a:gridCol w="1318941">
                  <a:extLst>
                    <a:ext uri="{9D8B030D-6E8A-4147-A177-3AD203B41FA5}">
                      <a16:colId xmlns:a16="http://schemas.microsoft.com/office/drawing/2014/main" val="676718641"/>
                    </a:ext>
                  </a:extLst>
                </a:gridCol>
              </a:tblGrid>
              <a:tr h="557216">
                <a:tc>
                  <a:txBody>
                    <a:bodyPr/>
                    <a:lstStyle/>
                    <a:p>
                      <a:pPr marL="0" algn="l" defTabSz="914400" rtl="0" eaLnBrk="1" latinLnBrk="0" hangingPunct="1"/>
                      <a:r>
                        <a:rPr lang="en-US" sz="1800" b="1" kern="1200" dirty="0">
                          <a:solidFill>
                            <a:schemeClr val="lt1"/>
                          </a:solidFill>
                          <a:latin typeface="+mn-lt"/>
                          <a:ea typeface="+mn-ea"/>
                          <a:cs typeface="+mn-cs"/>
                        </a:rPr>
                        <a:t>Transition matrix</a:t>
                      </a:r>
                      <a:endParaRPr lang="en-IN" sz="1800" b="1" kern="1200" dirty="0">
                        <a:solidFill>
                          <a:schemeClr val="lt1"/>
                        </a:solidFill>
                        <a:latin typeface="+mn-lt"/>
                        <a:ea typeface="+mn-ea"/>
                        <a:cs typeface="+mn-cs"/>
                      </a:endParaRPr>
                    </a:p>
                  </a:txBody>
                  <a:tcPr/>
                </a:tc>
                <a:tc>
                  <a:txBody>
                    <a:bodyPr/>
                    <a:lstStyle/>
                    <a:p>
                      <a:pPr marL="0" algn="l" defTabSz="914400" rtl="0" eaLnBrk="1" latinLnBrk="0" hangingPunct="1"/>
                      <a:r>
                        <a:rPr lang="en-US" sz="1800" b="1" kern="1200" dirty="0">
                          <a:solidFill>
                            <a:schemeClr val="lt1"/>
                          </a:solidFill>
                          <a:latin typeface="+mn-lt"/>
                          <a:ea typeface="+mn-ea"/>
                          <a:cs typeface="+mn-cs"/>
                        </a:rPr>
                        <a:t>Hot (H)</a:t>
                      </a:r>
                      <a:endParaRPr lang="en-IN" sz="1800" b="1" kern="1200" dirty="0">
                        <a:solidFill>
                          <a:schemeClr val="lt1"/>
                        </a:solidFill>
                        <a:latin typeface="+mn-lt"/>
                        <a:ea typeface="+mn-ea"/>
                        <a:cs typeface="+mn-cs"/>
                      </a:endParaRPr>
                    </a:p>
                  </a:txBody>
                  <a:tcPr/>
                </a:tc>
                <a:tc>
                  <a:txBody>
                    <a:bodyPr/>
                    <a:lstStyle/>
                    <a:p>
                      <a:pPr marL="0" algn="l" defTabSz="914400" rtl="0" eaLnBrk="1" latinLnBrk="0" hangingPunct="1"/>
                      <a:r>
                        <a:rPr lang="en-US" sz="1800" b="1" kern="1200" dirty="0">
                          <a:solidFill>
                            <a:schemeClr val="lt1"/>
                          </a:solidFill>
                          <a:latin typeface="+mn-lt"/>
                          <a:ea typeface="+mn-ea"/>
                          <a:cs typeface="+mn-cs"/>
                        </a:rPr>
                        <a:t>Cold( C)</a:t>
                      </a:r>
                      <a:endParaRPr lang="en-IN" sz="1800" b="1" kern="1200" dirty="0">
                        <a:solidFill>
                          <a:schemeClr val="lt1"/>
                        </a:solidFill>
                        <a:latin typeface="+mn-lt"/>
                        <a:ea typeface="+mn-ea"/>
                        <a:cs typeface="+mn-cs"/>
                      </a:endParaRPr>
                    </a:p>
                  </a:txBody>
                  <a:tcPr/>
                </a:tc>
                <a:extLst>
                  <a:ext uri="{0D108BD9-81ED-4DB2-BD59-A6C34878D82A}">
                    <a16:rowId xmlns:a16="http://schemas.microsoft.com/office/drawing/2014/main" val="1162326820"/>
                  </a:ext>
                </a:extLst>
              </a:tr>
              <a:tr h="363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Hot (H)</a:t>
                      </a:r>
                      <a:endParaRPr lang="en-IN" sz="1800" b="0" kern="1200" dirty="0">
                        <a:solidFill>
                          <a:schemeClr val="tx1"/>
                        </a:solidFill>
                        <a:latin typeface="+mn-lt"/>
                        <a:ea typeface="+mn-ea"/>
                        <a:cs typeface="+mn-cs"/>
                      </a:endParaRPr>
                    </a:p>
                  </a:txBody>
                  <a:tcPr/>
                </a:tc>
                <a:tc>
                  <a:txBody>
                    <a:bodyPr/>
                    <a:lstStyle/>
                    <a:p>
                      <a:pPr marL="0" algn="l" defTabSz="914400" rtl="0" eaLnBrk="1" latinLnBrk="0" hangingPunct="1"/>
                      <a:r>
                        <a:rPr lang="en-US" sz="1800" b="0" kern="1200" dirty="0">
                          <a:solidFill>
                            <a:schemeClr val="tx1"/>
                          </a:solidFill>
                          <a:latin typeface="+mn-lt"/>
                          <a:ea typeface="+mn-ea"/>
                          <a:cs typeface="+mn-cs"/>
                        </a:rPr>
                        <a:t>0.7</a:t>
                      </a:r>
                      <a:endParaRPr lang="en-IN" sz="1800" b="0" kern="1200" dirty="0">
                        <a:solidFill>
                          <a:schemeClr val="tx1"/>
                        </a:solidFill>
                        <a:latin typeface="+mn-lt"/>
                        <a:ea typeface="+mn-ea"/>
                        <a:cs typeface="+mn-cs"/>
                      </a:endParaRPr>
                    </a:p>
                  </a:txBody>
                  <a:tcPr/>
                </a:tc>
                <a:tc>
                  <a:txBody>
                    <a:bodyPr/>
                    <a:lstStyle/>
                    <a:p>
                      <a:pPr marL="0" algn="l" defTabSz="914400" rtl="0" eaLnBrk="1" latinLnBrk="0" hangingPunct="1"/>
                      <a:r>
                        <a:rPr lang="en-US" sz="1800" b="0" kern="1200" dirty="0">
                          <a:solidFill>
                            <a:schemeClr val="tx1"/>
                          </a:solidFill>
                          <a:latin typeface="+mn-lt"/>
                          <a:ea typeface="+mn-ea"/>
                          <a:cs typeface="+mn-cs"/>
                        </a:rPr>
                        <a:t>0.3</a:t>
                      </a:r>
                      <a:endParaRPr lang="en-IN" sz="1800" b="0" kern="1200" dirty="0">
                        <a:solidFill>
                          <a:schemeClr val="tx1"/>
                        </a:solidFill>
                        <a:latin typeface="+mn-lt"/>
                        <a:ea typeface="+mn-ea"/>
                        <a:cs typeface="+mn-cs"/>
                      </a:endParaRPr>
                    </a:p>
                  </a:txBody>
                  <a:tcPr/>
                </a:tc>
                <a:extLst>
                  <a:ext uri="{0D108BD9-81ED-4DB2-BD59-A6C34878D82A}">
                    <a16:rowId xmlns:a16="http://schemas.microsoft.com/office/drawing/2014/main" val="198509556"/>
                  </a:ext>
                </a:extLst>
              </a:tr>
              <a:tr h="4942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latin typeface="+mn-lt"/>
                          <a:ea typeface="+mn-ea"/>
                          <a:cs typeface="+mn-cs"/>
                        </a:rPr>
                        <a:t>Cold( C)</a:t>
                      </a:r>
                      <a:endParaRPr lang="en-IN" sz="1800" b="0" kern="1200" dirty="0">
                        <a:solidFill>
                          <a:schemeClr val="tx1"/>
                        </a:solidFill>
                        <a:latin typeface="+mn-lt"/>
                        <a:ea typeface="+mn-ea"/>
                        <a:cs typeface="+mn-cs"/>
                      </a:endParaRPr>
                    </a:p>
                  </a:txBody>
                  <a:tcPr/>
                </a:tc>
                <a:tc>
                  <a:txBody>
                    <a:bodyPr/>
                    <a:lstStyle/>
                    <a:p>
                      <a:pPr marL="0" algn="l" defTabSz="914400" rtl="0" eaLnBrk="1" latinLnBrk="0" hangingPunct="1"/>
                      <a:r>
                        <a:rPr lang="en-US" sz="1800" b="0" kern="1200" dirty="0">
                          <a:solidFill>
                            <a:schemeClr val="tx1"/>
                          </a:solidFill>
                          <a:latin typeface="+mn-lt"/>
                          <a:ea typeface="+mn-ea"/>
                          <a:cs typeface="+mn-cs"/>
                        </a:rPr>
                        <a:t>0.4</a:t>
                      </a:r>
                      <a:endParaRPr lang="en-IN" sz="1800" b="0" kern="1200" dirty="0">
                        <a:solidFill>
                          <a:schemeClr val="tx1"/>
                        </a:solidFill>
                        <a:latin typeface="+mn-lt"/>
                        <a:ea typeface="+mn-ea"/>
                        <a:cs typeface="+mn-cs"/>
                      </a:endParaRPr>
                    </a:p>
                  </a:txBody>
                  <a:tcPr/>
                </a:tc>
                <a:tc>
                  <a:txBody>
                    <a:bodyPr/>
                    <a:lstStyle/>
                    <a:p>
                      <a:pPr marL="0" algn="l" defTabSz="914400" rtl="0" eaLnBrk="1" latinLnBrk="0" hangingPunct="1"/>
                      <a:r>
                        <a:rPr lang="en-US" sz="1800" b="0" kern="1200" dirty="0">
                          <a:solidFill>
                            <a:schemeClr val="tx1"/>
                          </a:solidFill>
                          <a:latin typeface="+mn-lt"/>
                          <a:ea typeface="+mn-ea"/>
                          <a:cs typeface="+mn-cs"/>
                        </a:rPr>
                        <a:t>0.6</a:t>
                      </a:r>
                      <a:endParaRPr lang="en-IN" sz="1800" b="0" kern="1200" dirty="0">
                        <a:solidFill>
                          <a:schemeClr val="tx1"/>
                        </a:solidFill>
                        <a:latin typeface="+mn-lt"/>
                        <a:ea typeface="+mn-ea"/>
                        <a:cs typeface="+mn-cs"/>
                      </a:endParaRPr>
                    </a:p>
                  </a:txBody>
                  <a:tcPr/>
                </a:tc>
                <a:extLst>
                  <a:ext uri="{0D108BD9-81ED-4DB2-BD59-A6C34878D82A}">
                    <a16:rowId xmlns:a16="http://schemas.microsoft.com/office/drawing/2014/main" val="3625841503"/>
                  </a:ext>
                </a:extLst>
              </a:tr>
            </a:tbl>
          </a:graphicData>
        </a:graphic>
      </p:graphicFrame>
      <p:graphicFrame>
        <p:nvGraphicFramePr>
          <p:cNvPr id="7" name="Table 8">
            <a:extLst>
              <a:ext uri="{FF2B5EF4-FFF2-40B4-BE49-F238E27FC236}">
                <a16:creationId xmlns:a16="http://schemas.microsoft.com/office/drawing/2014/main" id="{BD212CFA-1CDA-454B-B465-C942D0F8F524}"/>
              </a:ext>
            </a:extLst>
          </p:cNvPr>
          <p:cNvGraphicFramePr>
            <a:graphicFrameLocks noGrp="1"/>
          </p:cNvGraphicFramePr>
          <p:nvPr>
            <p:extLst>
              <p:ext uri="{D42A27DB-BD31-4B8C-83A1-F6EECF244321}">
                <p14:modId xmlns:p14="http://schemas.microsoft.com/office/powerpoint/2010/main" val="1569490028"/>
              </p:ext>
            </p:extLst>
          </p:nvPr>
        </p:nvGraphicFramePr>
        <p:xfrm>
          <a:off x="7036488" y="442820"/>
          <a:ext cx="4114800" cy="1464318"/>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433974284"/>
                    </a:ext>
                  </a:extLst>
                </a:gridCol>
                <a:gridCol w="1028700">
                  <a:extLst>
                    <a:ext uri="{9D8B030D-6E8A-4147-A177-3AD203B41FA5}">
                      <a16:colId xmlns:a16="http://schemas.microsoft.com/office/drawing/2014/main" val="3128124212"/>
                    </a:ext>
                  </a:extLst>
                </a:gridCol>
                <a:gridCol w="1028700">
                  <a:extLst>
                    <a:ext uri="{9D8B030D-6E8A-4147-A177-3AD203B41FA5}">
                      <a16:colId xmlns:a16="http://schemas.microsoft.com/office/drawing/2014/main" val="1505230669"/>
                    </a:ext>
                  </a:extLst>
                </a:gridCol>
                <a:gridCol w="1028700">
                  <a:extLst>
                    <a:ext uri="{9D8B030D-6E8A-4147-A177-3AD203B41FA5}">
                      <a16:colId xmlns:a16="http://schemas.microsoft.com/office/drawing/2014/main" val="2006552314"/>
                    </a:ext>
                  </a:extLst>
                </a:gridCol>
              </a:tblGrid>
              <a:tr h="588742">
                <a:tc>
                  <a:txBody>
                    <a:bodyPr/>
                    <a:lstStyle/>
                    <a:p>
                      <a:r>
                        <a:rPr lang="en-US" dirty="0"/>
                        <a:t>Emission matrix</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784308682"/>
                  </a:ext>
                </a:extLst>
              </a:tr>
              <a:tr h="412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Hot (H)</a:t>
                      </a:r>
                      <a:endParaRPr lang="en-IN" dirty="0"/>
                    </a:p>
                  </a:txBody>
                  <a:tcPr/>
                </a:tc>
                <a:tc>
                  <a:txBody>
                    <a:bodyPr/>
                    <a:lstStyle/>
                    <a:p>
                      <a:r>
                        <a:rPr lang="en-US" dirty="0"/>
                        <a:t>0.2</a:t>
                      </a:r>
                      <a:endParaRPr lang="en-IN" dirty="0"/>
                    </a:p>
                  </a:txBody>
                  <a:tcPr/>
                </a:tc>
                <a:tc>
                  <a:txBody>
                    <a:bodyPr/>
                    <a:lstStyle/>
                    <a:p>
                      <a:r>
                        <a:rPr lang="en-US" dirty="0"/>
                        <a:t>0.4</a:t>
                      </a:r>
                      <a:endParaRPr lang="en-IN" dirty="0"/>
                    </a:p>
                  </a:txBody>
                  <a:tcPr/>
                </a:tc>
                <a:tc>
                  <a:txBody>
                    <a:bodyPr/>
                    <a:lstStyle/>
                    <a:p>
                      <a:r>
                        <a:rPr lang="en-US" dirty="0"/>
                        <a:t>0.4</a:t>
                      </a:r>
                      <a:endParaRPr lang="en-IN" dirty="0"/>
                    </a:p>
                  </a:txBody>
                  <a:tcPr/>
                </a:tc>
                <a:extLst>
                  <a:ext uri="{0D108BD9-81ED-4DB2-BD59-A6C34878D82A}">
                    <a16:rowId xmlns:a16="http://schemas.microsoft.com/office/drawing/2014/main" val="2342317594"/>
                  </a:ext>
                </a:extLst>
              </a:tr>
              <a:tr h="412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Cold( C)</a:t>
                      </a:r>
                      <a:endParaRPr lang="en-IN" dirty="0"/>
                    </a:p>
                  </a:txBody>
                  <a:tcPr/>
                </a:tc>
                <a:tc>
                  <a:txBody>
                    <a:bodyPr/>
                    <a:lstStyle/>
                    <a:p>
                      <a:r>
                        <a:rPr lang="en-US" dirty="0"/>
                        <a:t>0.5</a:t>
                      </a:r>
                      <a:endParaRPr lang="en-IN" dirty="0"/>
                    </a:p>
                  </a:txBody>
                  <a:tcPr/>
                </a:tc>
                <a:tc>
                  <a:txBody>
                    <a:bodyPr/>
                    <a:lstStyle/>
                    <a:p>
                      <a:r>
                        <a:rPr lang="en-US" dirty="0"/>
                        <a:t>0.4</a:t>
                      </a:r>
                      <a:endParaRPr lang="en-IN" dirty="0"/>
                    </a:p>
                  </a:txBody>
                  <a:tcPr/>
                </a:tc>
                <a:tc>
                  <a:txBody>
                    <a:bodyPr/>
                    <a:lstStyle/>
                    <a:p>
                      <a:r>
                        <a:rPr lang="en-US" dirty="0"/>
                        <a:t>0.1</a:t>
                      </a:r>
                      <a:endParaRPr lang="en-IN" dirty="0"/>
                    </a:p>
                  </a:txBody>
                  <a:tcPr/>
                </a:tc>
                <a:extLst>
                  <a:ext uri="{0D108BD9-81ED-4DB2-BD59-A6C34878D82A}">
                    <a16:rowId xmlns:a16="http://schemas.microsoft.com/office/drawing/2014/main" val="1653070160"/>
                  </a:ext>
                </a:extLst>
              </a:tr>
            </a:tbl>
          </a:graphicData>
        </a:graphic>
      </p:graphicFrame>
      <p:sp>
        <p:nvSpPr>
          <p:cNvPr id="8" name="TextBox 7">
            <a:extLst>
              <a:ext uri="{FF2B5EF4-FFF2-40B4-BE49-F238E27FC236}">
                <a16:creationId xmlns:a16="http://schemas.microsoft.com/office/drawing/2014/main" id="{77EAB377-61AF-4A7F-A50B-D2ABDEF2AD6B}"/>
              </a:ext>
            </a:extLst>
          </p:cNvPr>
          <p:cNvSpPr txBox="1"/>
          <p:nvPr/>
        </p:nvSpPr>
        <p:spPr>
          <a:xfrm>
            <a:off x="3733949" y="2699413"/>
            <a:ext cx="1622322" cy="338554"/>
          </a:xfrm>
          <a:prstGeom prst="rect">
            <a:avLst/>
          </a:prstGeom>
          <a:noFill/>
        </p:spPr>
        <p:txBody>
          <a:bodyPr wrap="square" rtlCol="0">
            <a:spAutoFit/>
          </a:bodyPr>
          <a:lstStyle/>
          <a:p>
            <a:r>
              <a:rPr lang="en-US" sz="1600" dirty="0"/>
              <a:t>0.7*0.2=0.14</a:t>
            </a:r>
            <a:endParaRPr lang="en-IN" sz="1600" dirty="0"/>
          </a:p>
        </p:txBody>
      </p:sp>
      <p:sp>
        <p:nvSpPr>
          <p:cNvPr id="12" name="TextBox 11">
            <a:extLst>
              <a:ext uri="{FF2B5EF4-FFF2-40B4-BE49-F238E27FC236}">
                <a16:creationId xmlns:a16="http://schemas.microsoft.com/office/drawing/2014/main" id="{F4B4C0AF-7DAC-47F2-AEF8-BB33A776B72A}"/>
              </a:ext>
            </a:extLst>
          </p:cNvPr>
          <p:cNvSpPr txBox="1"/>
          <p:nvPr/>
        </p:nvSpPr>
        <p:spPr>
          <a:xfrm>
            <a:off x="2330475" y="5387869"/>
            <a:ext cx="1622322" cy="338554"/>
          </a:xfrm>
          <a:prstGeom prst="rect">
            <a:avLst/>
          </a:prstGeom>
          <a:noFill/>
        </p:spPr>
        <p:txBody>
          <a:bodyPr wrap="square" rtlCol="0">
            <a:spAutoFit/>
          </a:bodyPr>
          <a:lstStyle/>
          <a:p>
            <a:r>
              <a:rPr lang="en-US" sz="1600" dirty="0"/>
              <a:t>0.2*0.1=0.02</a:t>
            </a:r>
            <a:endParaRPr lang="en-IN" sz="1600" dirty="0"/>
          </a:p>
        </p:txBody>
      </p:sp>
      <p:sp>
        <p:nvSpPr>
          <p:cNvPr id="13" name="TextBox 12">
            <a:extLst>
              <a:ext uri="{FF2B5EF4-FFF2-40B4-BE49-F238E27FC236}">
                <a16:creationId xmlns:a16="http://schemas.microsoft.com/office/drawing/2014/main" id="{EB1C9D4F-7A7C-4B7B-B0AA-35F203BB6BD2}"/>
              </a:ext>
            </a:extLst>
          </p:cNvPr>
          <p:cNvSpPr txBox="1"/>
          <p:nvPr/>
        </p:nvSpPr>
        <p:spPr>
          <a:xfrm>
            <a:off x="2320740" y="2385986"/>
            <a:ext cx="1622322" cy="338554"/>
          </a:xfrm>
          <a:prstGeom prst="rect">
            <a:avLst/>
          </a:prstGeom>
          <a:noFill/>
        </p:spPr>
        <p:txBody>
          <a:bodyPr wrap="square" rtlCol="0">
            <a:spAutoFit/>
          </a:bodyPr>
          <a:lstStyle/>
          <a:p>
            <a:r>
              <a:rPr lang="en-US" sz="1600" dirty="0"/>
              <a:t>0.8*0.4=0.32</a:t>
            </a:r>
            <a:endParaRPr lang="en-IN" sz="1600" dirty="0"/>
          </a:p>
        </p:txBody>
      </p:sp>
      <p:sp>
        <p:nvSpPr>
          <p:cNvPr id="14" name="TextBox 13">
            <a:extLst>
              <a:ext uri="{FF2B5EF4-FFF2-40B4-BE49-F238E27FC236}">
                <a16:creationId xmlns:a16="http://schemas.microsoft.com/office/drawing/2014/main" id="{A5E1E2F9-4FD7-4C33-B361-C3B084FDAF08}"/>
              </a:ext>
            </a:extLst>
          </p:cNvPr>
          <p:cNvSpPr txBox="1"/>
          <p:nvPr/>
        </p:nvSpPr>
        <p:spPr>
          <a:xfrm>
            <a:off x="3828762" y="5328474"/>
            <a:ext cx="1622322" cy="338554"/>
          </a:xfrm>
          <a:prstGeom prst="rect">
            <a:avLst/>
          </a:prstGeom>
          <a:noFill/>
        </p:spPr>
        <p:txBody>
          <a:bodyPr wrap="square" rtlCol="0">
            <a:spAutoFit/>
          </a:bodyPr>
          <a:lstStyle/>
          <a:p>
            <a:r>
              <a:rPr lang="en-US" sz="1600" dirty="0"/>
              <a:t>0.6*0.5=0.3</a:t>
            </a:r>
            <a:endParaRPr lang="en-IN" sz="1600" dirty="0"/>
          </a:p>
        </p:txBody>
      </p:sp>
      <p:sp>
        <p:nvSpPr>
          <p:cNvPr id="15" name="TextBox 14">
            <a:extLst>
              <a:ext uri="{FF2B5EF4-FFF2-40B4-BE49-F238E27FC236}">
                <a16:creationId xmlns:a16="http://schemas.microsoft.com/office/drawing/2014/main" id="{6ABD79F5-00F4-4DB1-B88D-BB847CFE8E85}"/>
              </a:ext>
            </a:extLst>
          </p:cNvPr>
          <p:cNvSpPr txBox="1"/>
          <p:nvPr/>
        </p:nvSpPr>
        <p:spPr>
          <a:xfrm>
            <a:off x="5109937" y="2003503"/>
            <a:ext cx="1859082" cy="338554"/>
          </a:xfrm>
          <a:prstGeom prst="rect">
            <a:avLst/>
          </a:prstGeom>
          <a:noFill/>
        </p:spPr>
        <p:txBody>
          <a:bodyPr wrap="square" rtlCol="0">
            <a:spAutoFit/>
          </a:bodyPr>
          <a:lstStyle/>
          <a:p>
            <a:r>
              <a:rPr lang="en-US" sz="1600" dirty="0">
                <a:solidFill>
                  <a:schemeClr val="accent6">
                    <a:lumMod val="75000"/>
                  </a:schemeClr>
                </a:solidFill>
              </a:rPr>
              <a:t>0.14*0.32=0.0448</a:t>
            </a:r>
            <a:endParaRPr lang="en-IN" sz="1600" dirty="0">
              <a:solidFill>
                <a:schemeClr val="accent6">
                  <a:lumMod val="75000"/>
                </a:schemeClr>
              </a:solidFill>
            </a:endParaRPr>
          </a:p>
        </p:txBody>
      </p:sp>
      <p:sp>
        <p:nvSpPr>
          <p:cNvPr id="16" name="TextBox 15">
            <a:extLst>
              <a:ext uri="{FF2B5EF4-FFF2-40B4-BE49-F238E27FC236}">
                <a16:creationId xmlns:a16="http://schemas.microsoft.com/office/drawing/2014/main" id="{89DA95AC-6387-4BF0-98A3-C86BE8FD040C}"/>
              </a:ext>
            </a:extLst>
          </p:cNvPr>
          <p:cNvSpPr txBox="1"/>
          <p:nvPr/>
        </p:nvSpPr>
        <p:spPr>
          <a:xfrm>
            <a:off x="5109937" y="2249472"/>
            <a:ext cx="1859082" cy="338554"/>
          </a:xfrm>
          <a:prstGeom prst="rect">
            <a:avLst/>
          </a:prstGeom>
          <a:noFill/>
        </p:spPr>
        <p:txBody>
          <a:bodyPr wrap="square" rtlCol="0">
            <a:spAutoFit/>
          </a:bodyPr>
          <a:lstStyle/>
          <a:p>
            <a:r>
              <a:rPr lang="en-US" sz="1600" dirty="0"/>
              <a:t>0.08*0.02=0.0016</a:t>
            </a:r>
            <a:endParaRPr lang="en-IN" sz="1600" dirty="0"/>
          </a:p>
        </p:txBody>
      </p:sp>
      <p:sp>
        <p:nvSpPr>
          <p:cNvPr id="17" name="TextBox 16">
            <a:extLst>
              <a:ext uri="{FF2B5EF4-FFF2-40B4-BE49-F238E27FC236}">
                <a16:creationId xmlns:a16="http://schemas.microsoft.com/office/drawing/2014/main" id="{DF3C2341-00C6-43BB-8C62-E6DF89216D3F}"/>
              </a:ext>
            </a:extLst>
          </p:cNvPr>
          <p:cNvSpPr txBox="1"/>
          <p:nvPr/>
        </p:nvSpPr>
        <p:spPr>
          <a:xfrm rot="19713395">
            <a:off x="3368211" y="4362725"/>
            <a:ext cx="1622322" cy="338554"/>
          </a:xfrm>
          <a:prstGeom prst="rect">
            <a:avLst/>
          </a:prstGeom>
          <a:noFill/>
        </p:spPr>
        <p:txBody>
          <a:bodyPr wrap="square" rtlCol="0">
            <a:spAutoFit/>
          </a:bodyPr>
          <a:lstStyle/>
          <a:p>
            <a:r>
              <a:rPr lang="en-US" sz="1600" dirty="0"/>
              <a:t>0.4*0.2=0.08</a:t>
            </a:r>
            <a:endParaRPr lang="en-IN" sz="1600" dirty="0"/>
          </a:p>
        </p:txBody>
      </p:sp>
      <p:sp>
        <p:nvSpPr>
          <p:cNvPr id="18" name="TextBox 17">
            <a:extLst>
              <a:ext uri="{FF2B5EF4-FFF2-40B4-BE49-F238E27FC236}">
                <a16:creationId xmlns:a16="http://schemas.microsoft.com/office/drawing/2014/main" id="{FA25338E-0EC2-4290-B592-3D5C528BBE29}"/>
              </a:ext>
            </a:extLst>
          </p:cNvPr>
          <p:cNvSpPr txBox="1"/>
          <p:nvPr/>
        </p:nvSpPr>
        <p:spPr>
          <a:xfrm rot="1663631">
            <a:off x="2975088" y="3835483"/>
            <a:ext cx="1622322" cy="338554"/>
          </a:xfrm>
          <a:prstGeom prst="rect">
            <a:avLst/>
          </a:prstGeom>
          <a:noFill/>
        </p:spPr>
        <p:txBody>
          <a:bodyPr wrap="square" rtlCol="0">
            <a:spAutoFit/>
          </a:bodyPr>
          <a:lstStyle/>
          <a:p>
            <a:r>
              <a:rPr lang="en-US" sz="1600" dirty="0"/>
              <a:t>0.3*0.5=0.15</a:t>
            </a:r>
            <a:endParaRPr lang="en-IN" sz="1600" dirty="0"/>
          </a:p>
        </p:txBody>
      </p:sp>
      <p:sp>
        <p:nvSpPr>
          <p:cNvPr id="11" name="TextBox 10">
            <a:extLst>
              <a:ext uri="{FF2B5EF4-FFF2-40B4-BE49-F238E27FC236}">
                <a16:creationId xmlns:a16="http://schemas.microsoft.com/office/drawing/2014/main" id="{76D6CD29-BDCB-4DEB-92D2-36BF256E6969}"/>
              </a:ext>
            </a:extLst>
          </p:cNvPr>
          <p:cNvSpPr txBox="1"/>
          <p:nvPr/>
        </p:nvSpPr>
        <p:spPr>
          <a:xfrm>
            <a:off x="7892466" y="6197077"/>
            <a:ext cx="2525838" cy="646331"/>
          </a:xfrm>
          <a:prstGeom prst="rect">
            <a:avLst/>
          </a:prstGeom>
          <a:noFill/>
        </p:spPr>
        <p:txBody>
          <a:bodyPr wrap="square" rtlCol="0">
            <a:spAutoFit/>
          </a:bodyPr>
          <a:lstStyle/>
          <a:p>
            <a:r>
              <a:rPr lang="en-US" dirty="0">
                <a:solidFill>
                  <a:schemeClr val="accent6">
                    <a:lumMod val="75000"/>
                  </a:schemeClr>
                </a:solidFill>
              </a:rPr>
              <a:t>0.06*0.048=0.00288</a:t>
            </a:r>
          </a:p>
          <a:p>
            <a:r>
              <a:rPr lang="en-US" dirty="0"/>
              <a:t>0.03* 0.0448 =0.001344</a:t>
            </a:r>
            <a:endParaRPr lang="en-IN" dirty="0"/>
          </a:p>
        </p:txBody>
      </p:sp>
      <p:sp>
        <p:nvSpPr>
          <p:cNvPr id="20" name="TextBox 19">
            <a:extLst>
              <a:ext uri="{FF2B5EF4-FFF2-40B4-BE49-F238E27FC236}">
                <a16:creationId xmlns:a16="http://schemas.microsoft.com/office/drawing/2014/main" id="{360C26D7-6A1C-4963-94C1-3C6F8F8ADCDB}"/>
              </a:ext>
            </a:extLst>
          </p:cNvPr>
          <p:cNvSpPr txBox="1"/>
          <p:nvPr/>
        </p:nvSpPr>
        <p:spPr>
          <a:xfrm>
            <a:off x="6474206" y="2724540"/>
            <a:ext cx="1622322" cy="338554"/>
          </a:xfrm>
          <a:prstGeom prst="rect">
            <a:avLst/>
          </a:prstGeom>
          <a:noFill/>
        </p:spPr>
        <p:txBody>
          <a:bodyPr wrap="square" rtlCol="0">
            <a:spAutoFit/>
          </a:bodyPr>
          <a:lstStyle/>
          <a:p>
            <a:r>
              <a:rPr lang="en-US" sz="1600" dirty="0"/>
              <a:t>0.7*0.4=0.3=0.28</a:t>
            </a:r>
            <a:endParaRPr lang="en-IN" sz="1600" dirty="0"/>
          </a:p>
        </p:txBody>
      </p:sp>
      <p:sp>
        <p:nvSpPr>
          <p:cNvPr id="19" name="TextBox 18">
            <a:extLst>
              <a:ext uri="{FF2B5EF4-FFF2-40B4-BE49-F238E27FC236}">
                <a16:creationId xmlns:a16="http://schemas.microsoft.com/office/drawing/2014/main" id="{6432017B-3C71-446A-A666-726AA0C12936}"/>
              </a:ext>
            </a:extLst>
          </p:cNvPr>
          <p:cNvSpPr txBox="1"/>
          <p:nvPr/>
        </p:nvSpPr>
        <p:spPr>
          <a:xfrm>
            <a:off x="8117556" y="2167528"/>
            <a:ext cx="2300748" cy="338554"/>
          </a:xfrm>
          <a:prstGeom prst="rect">
            <a:avLst/>
          </a:prstGeom>
          <a:noFill/>
        </p:spPr>
        <p:txBody>
          <a:bodyPr wrap="square" rtlCol="0">
            <a:spAutoFit/>
          </a:bodyPr>
          <a:lstStyle/>
          <a:p>
            <a:r>
              <a:rPr lang="en-US" sz="1600" dirty="0"/>
              <a:t>0.28*0.0448=0.012544</a:t>
            </a:r>
            <a:endParaRPr lang="en-IN" sz="1600" dirty="0"/>
          </a:p>
        </p:txBody>
      </p:sp>
      <p:sp>
        <p:nvSpPr>
          <p:cNvPr id="22" name="TextBox 21">
            <a:extLst>
              <a:ext uri="{FF2B5EF4-FFF2-40B4-BE49-F238E27FC236}">
                <a16:creationId xmlns:a16="http://schemas.microsoft.com/office/drawing/2014/main" id="{9B152376-5AD3-4BEE-9477-AB2EDFD9352E}"/>
              </a:ext>
            </a:extLst>
          </p:cNvPr>
          <p:cNvSpPr txBox="1"/>
          <p:nvPr/>
        </p:nvSpPr>
        <p:spPr>
          <a:xfrm rot="19807819">
            <a:off x="6106770" y="4446911"/>
            <a:ext cx="1415845" cy="369332"/>
          </a:xfrm>
          <a:prstGeom prst="rect">
            <a:avLst/>
          </a:prstGeom>
          <a:noFill/>
        </p:spPr>
        <p:txBody>
          <a:bodyPr wrap="square" rtlCol="0">
            <a:spAutoFit/>
          </a:bodyPr>
          <a:lstStyle/>
          <a:p>
            <a:r>
              <a:rPr lang="en-US" dirty="0"/>
              <a:t>0.4*0.4=0.16</a:t>
            </a:r>
            <a:endParaRPr lang="en-IN" dirty="0"/>
          </a:p>
        </p:txBody>
      </p:sp>
      <p:sp>
        <p:nvSpPr>
          <p:cNvPr id="24" name="TextBox 23">
            <a:extLst>
              <a:ext uri="{FF2B5EF4-FFF2-40B4-BE49-F238E27FC236}">
                <a16:creationId xmlns:a16="http://schemas.microsoft.com/office/drawing/2014/main" id="{C57E26D5-8F1B-4F89-BF75-0C762D5C2161}"/>
              </a:ext>
            </a:extLst>
          </p:cNvPr>
          <p:cNvSpPr txBox="1"/>
          <p:nvPr/>
        </p:nvSpPr>
        <p:spPr>
          <a:xfrm>
            <a:off x="6740917" y="5335624"/>
            <a:ext cx="1415845" cy="369332"/>
          </a:xfrm>
          <a:prstGeom prst="rect">
            <a:avLst/>
          </a:prstGeom>
          <a:noFill/>
        </p:spPr>
        <p:txBody>
          <a:bodyPr wrap="square" rtlCol="0">
            <a:spAutoFit/>
          </a:bodyPr>
          <a:lstStyle/>
          <a:p>
            <a:r>
              <a:rPr lang="en-US" dirty="0"/>
              <a:t>0.6*0.1=0.06</a:t>
            </a:r>
            <a:endParaRPr lang="en-IN" dirty="0"/>
          </a:p>
        </p:txBody>
      </p:sp>
      <p:sp>
        <p:nvSpPr>
          <p:cNvPr id="25" name="TextBox 24">
            <a:extLst>
              <a:ext uri="{FF2B5EF4-FFF2-40B4-BE49-F238E27FC236}">
                <a16:creationId xmlns:a16="http://schemas.microsoft.com/office/drawing/2014/main" id="{9A78CB98-7826-4029-A254-67010A443B90}"/>
              </a:ext>
            </a:extLst>
          </p:cNvPr>
          <p:cNvSpPr txBox="1"/>
          <p:nvPr/>
        </p:nvSpPr>
        <p:spPr>
          <a:xfrm rot="1763633">
            <a:off x="5898175" y="3751438"/>
            <a:ext cx="1415845" cy="369332"/>
          </a:xfrm>
          <a:prstGeom prst="rect">
            <a:avLst/>
          </a:prstGeom>
          <a:noFill/>
        </p:spPr>
        <p:txBody>
          <a:bodyPr wrap="square" rtlCol="0">
            <a:spAutoFit/>
          </a:bodyPr>
          <a:lstStyle/>
          <a:p>
            <a:r>
              <a:rPr lang="en-US" dirty="0"/>
              <a:t>0.3*0.1=0.03</a:t>
            </a:r>
            <a:endParaRPr lang="en-IN" dirty="0"/>
          </a:p>
        </p:txBody>
      </p:sp>
      <p:sp>
        <p:nvSpPr>
          <p:cNvPr id="26" name="TextBox 25">
            <a:extLst>
              <a:ext uri="{FF2B5EF4-FFF2-40B4-BE49-F238E27FC236}">
                <a16:creationId xmlns:a16="http://schemas.microsoft.com/office/drawing/2014/main" id="{86A6AF32-DB0C-48E0-AB3A-8B67CB03E3A2}"/>
              </a:ext>
            </a:extLst>
          </p:cNvPr>
          <p:cNvSpPr txBox="1"/>
          <p:nvPr/>
        </p:nvSpPr>
        <p:spPr>
          <a:xfrm>
            <a:off x="8137159" y="2426654"/>
            <a:ext cx="2300748" cy="338554"/>
          </a:xfrm>
          <a:prstGeom prst="rect">
            <a:avLst/>
          </a:prstGeom>
          <a:noFill/>
        </p:spPr>
        <p:txBody>
          <a:bodyPr wrap="square" rtlCol="0">
            <a:spAutoFit/>
          </a:bodyPr>
          <a:lstStyle/>
          <a:p>
            <a:r>
              <a:rPr lang="en-US" sz="1600" dirty="0">
                <a:solidFill>
                  <a:schemeClr val="accent6">
                    <a:lumMod val="75000"/>
                  </a:schemeClr>
                </a:solidFill>
              </a:rPr>
              <a:t>0.16*0.048=0.00768</a:t>
            </a:r>
            <a:endParaRPr lang="en-IN" sz="1600" dirty="0">
              <a:solidFill>
                <a:schemeClr val="accent6">
                  <a:lumMod val="75000"/>
                </a:schemeClr>
              </a:solidFill>
            </a:endParaRPr>
          </a:p>
        </p:txBody>
      </p:sp>
      <p:sp>
        <p:nvSpPr>
          <p:cNvPr id="27" name="TextBox 26">
            <a:extLst>
              <a:ext uri="{FF2B5EF4-FFF2-40B4-BE49-F238E27FC236}">
                <a16:creationId xmlns:a16="http://schemas.microsoft.com/office/drawing/2014/main" id="{A7D0CEFF-11F1-46A9-B358-09A938198D11}"/>
              </a:ext>
            </a:extLst>
          </p:cNvPr>
          <p:cNvSpPr txBox="1"/>
          <p:nvPr/>
        </p:nvSpPr>
        <p:spPr>
          <a:xfrm>
            <a:off x="5017254" y="6211669"/>
            <a:ext cx="2044447" cy="646331"/>
          </a:xfrm>
          <a:prstGeom prst="rect">
            <a:avLst/>
          </a:prstGeom>
          <a:noFill/>
        </p:spPr>
        <p:txBody>
          <a:bodyPr wrap="square" rtlCol="0">
            <a:spAutoFit/>
          </a:bodyPr>
          <a:lstStyle/>
          <a:p>
            <a:r>
              <a:rPr lang="en-US" dirty="0">
                <a:solidFill>
                  <a:schemeClr val="accent6">
                    <a:lumMod val="75000"/>
                  </a:schemeClr>
                </a:solidFill>
              </a:rPr>
              <a:t>0.15*0.32=0.048</a:t>
            </a:r>
          </a:p>
          <a:p>
            <a:r>
              <a:rPr lang="en-US" dirty="0"/>
              <a:t>0.3*0.02=0.006</a:t>
            </a:r>
            <a:endParaRPr lang="en-IN" dirty="0"/>
          </a:p>
        </p:txBody>
      </p:sp>
      <p:cxnSp>
        <p:nvCxnSpPr>
          <p:cNvPr id="28" name="Straight Connector 27">
            <a:extLst>
              <a:ext uri="{FF2B5EF4-FFF2-40B4-BE49-F238E27FC236}">
                <a16:creationId xmlns:a16="http://schemas.microsoft.com/office/drawing/2014/main" id="{5CD99A1F-62E1-4009-AF1A-557262B92187}"/>
              </a:ext>
            </a:extLst>
          </p:cNvPr>
          <p:cNvCxnSpPr/>
          <p:nvPr/>
        </p:nvCxnSpPr>
        <p:spPr>
          <a:xfrm flipV="1">
            <a:off x="1590675" y="3568121"/>
            <a:ext cx="1066800" cy="61788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E8F4FFE-B20A-4773-AFE8-BC57BD27A3EF}"/>
              </a:ext>
            </a:extLst>
          </p:cNvPr>
          <p:cNvCxnSpPr>
            <a:cxnSpLocks/>
          </p:cNvCxnSpPr>
          <p:nvPr/>
        </p:nvCxnSpPr>
        <p:spPr>
          <a:xfrm>
            <a:off x="3191478" y="3556557"/>
            <a:ext cx="2330495" cy="132197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D76E28F-DDA1-4B2D-9034-4E01982B0129}"/>
              </a:ext>
            </a:extLst>
          </p:cNvPr>
          <p:cNvCxnSpPr>
            <a:cxnSpLocks/>
          </p:cNvCxnSpPr>
          <p:nvPr/>
        </p:nvCxnSpPr>
        <p:spPr>
          <a:xfrm flipV="1">
            <a:off x="6108841" y="3598096"/>
            <a:ext cx="2384091" cy="134986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A78A49FC-713A-40D7-8AE4-64441DDE57CA}"/>
              </a:ext>
            </a:extLst>
          </p:cNvPr>
          <p:cNvSpPr txBox="1"/>
          <p:nvPr/>
        </p:nvSpPr>
        <p:spPr>
          <a:xfrm>
            <a:off x="9931905" y="4878533"/>
            <a:ext cx="1622322" cy="1200329"/>
          </a:xfrm>
          <a:prstGeom prst="rect">
            <a:avLst/>
          </a:prstGeom>
          <a:noFill/>
        </p:spPr>
        <p:txBody>
          <a:bodyPr wrap="square" rtlCol="0">
            <a:spAutoFit/>
          </a:bodyPr>
          <a:lstStyle/>
          <a:p>
            <a:r>
              <a:rPr lang="en-US" dirty="0">
                <a:solidFill>
                  <a:srgbClr val="C00000"/>
                </a:solidFill>
              </a:rPr>
              <a:t>Ans: desired hidden sequence is H,C,H</a:t>
            </a:r>
            <a:endParaRPr lang="en-IN" dirty="0">
              <a:solidFill>
                <a:srgbClr val="C00000"/>
              </a:solidFill>
            </a:endParaRPr>
          </a:p>
        </p:txBody>
      </p:sp>
      <p:cxnSp>
        <p:nvCxnSpPr>
          <p:cNvPr id="4" name="Straight Arrow Connector 3">
            <a:extLst>
              <a:ext uri="{FF2B5EF4-FFF2-40B4-BE49-F238E27FC236}">
                <a16:creationId xmlns:a16="http://schemas.microsoft.com/office/drawing/2014/main" id="{F31B8917-3A68-4DF6-8DD6-F95467045F55}"/>
              </a:ext>
            </a:extLst>
          </p:cNvPr>
          <p:cNvCxnSpPr/>
          <p:nvPr/>
        </p:nvCxnSpPr>
        <p:spPr>
          <a:xfrm>
            <a:off x="1590675" y="3260035"/>
            <a:ext cx="214271" cy="296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EDD6BCA-170F-491D-8D45-070731C3CBB4}"/>
              </a:ext>
            </a:extLst>
          </p:cNvPr>
          <p:cNvSpPr txBox="1"/>
          <p:nvPr/>
        </p:nvSpPr>
        <p:spPr>
          <a:xfrm>
            <a:off x="1057275" y="2796074"/>
            <a:ext cx="1066800" cy="461665"/>
          </a:xfrm>
          <a:prstGeom prst="rect">
            <a:avLst/>
          </a:prstGeom>
          <a:noFill/>
        </p:spPr>
        <p:txBody>
          <a:bodyPr wrap="square" rtlCol="0">
            <a:spAutoFit/>
          </a:bodyPr>
          <a:lstStyle/>
          <a:p>
            <a:r>
              <a:rPr lang="en-US" sz="1200" dirty="0"/>
              <a:t>Joint probability</a:t>
            </a:r>
            <a:endParaRPr lang="en-IN" sz="1200" dirty="0"/>
          </a:p>
        </p:txBody>
      </p:sp>
      <p:sp>
        <p:nvSpPr>
          <p:cNvPr id="9" name="Star: 5 Points 8">
            <a:extLst>
              <a:ext uri="{FF2B5EF4-FFF2-40B4-BE49-F238E27FC236}">
                <a16:creationId xmlns:a16="http://schemas.microsoft.com/office/drawing/2014/main" id="{D07E1ADC-C0C3-4F43-AE75-F83D820DAEDF}"/>
              </a:ext>
            </a:extLst>
          </p:cNvPr>
          <p:cNvSpPr/>
          <p:nvPr/>
        </p:nvSpPr>
        <p:spPr>
          <a:xfrm>
            <a:off x="2301138" y="2489377"/>
            <a:ext cx="65322" cy="98649"/>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C00000"/>
              </a:solidFill>
            </a:endParaRPr>
          </a:p>
        </p:txBody>
      </p:sp>
      <p:sp>
        <p:nvSpPr>
          <p:cNvPr id="31" name="Star: 5 Points 30">
            <a:extLst>
              <a:ext uri="{FF2B5EF4-FFF2-40B4-BE49-F238E27FC236}">
                <a16:creationId xmlns:a16="http://schemas.microsoft.com/office/drawing/2014/main" id="{9669B581-3E5E-4176-9E16-A07C277CF594}"/>
              </a:ext>
            </a:extLst>
          </p:cNvPr>
          <p:cNvSpPr/>
          <p:nvPr/>
        </p:nvSpPr>
        <p:spPr>
          <a:xfrm>
            <a:off x="4978333" y="6313953"/>
            <a:ext cx="65322" cy="98649"/>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C00000"/>
              </a:solidFill>
            </a:endParaRPr>
          </a:p>
        </p:txBody>
      </p:sp>
      <p:sp>
        <p:nvSpPr>
          <p:cNvPr id="10" name="Star: 5 Points 9">
            <a:extLst>
              <a:ext uri="{FF2B5EF4-FFF2-40B4-BE49-F238E27FC236}">
                <a16:creationId xmlns:a16="http://schemas.microsoft.com/office/drawing/2014/main" id="{7AB59056-A48B-4402-99D8-BB376609D4AD}"/>
              </a:ext>
            </a:extLst>
          </p:cNvPr>
          <p:cNvSpPr/>
          <p:nvPr/>
        </p:nvSpPr>
        <p:spPr>
          <a:xfrm>
            <a:off x="8096528" y="2588026"/>
            <a:ext cx="60234" cy="77156"/>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23601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DE7F-1326-4194-B0F1-3C6F8D992F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EF5CD1-2950-4824-8EE7-E9473F3EE566}"/>
              </a:ext>
            </a:extLst>
          </p:cNvPr>
          <p:cNvSpPr>
            <a:spLocks noGrp="1"/>
          </p:cNvSpPr>
          <p:nvPr>
            <p:ph idx="1"/>
          </p:nvPr>
        </p:nvSpPr>
        <p:spPr/>
        <p:txBody>
          <a:bodyPr>
            <a:normAutofit/>
          </a:bodyPr>
          <a:lstStyle/>
          <a:p>
            <a:r>
              <a:rPr lang="en-US" dirty="0"/>
              <a:t>Note: T is the number of observations in the sequence. </a:t>
            </a:r>
          </a:p>
          <a:p>
            <a:r>
              <a:rPr lang="en-US" dirty="0"/>
              <a:t>So, if we wanted to find the state sequence to maximize P(Q, O), you could imagine this would be quite expensive as we would have to maximize P(Q, O) for all possible state sequences. This is where the Viterbi algorithm comes in. </a:t>
            </a:r>
            <a:r>
              <a:rPr lang="en-US" u="sng" dirty="0"/>
              <a:t>The Viterbi algorithm is an iterative approach to solving for the most likely sequence. Rather than finding the most probable hidden state sequence for all the observations, we just want to find the next most probable hidden state. We iteratively find the most probable states until we are done with the sequence of observations.</a:t>
            </a:r>
            <a:endParaRPr lang="en-IN" u="sng" dirty="0"/>
          </a:p>
        </p:txBody>
      </p:sp>
    </p:spTree>
    <p:extLst>
      <p:ext uri="{BB962C8B-B14F-4D97-AF65-F5344CB8AC3E}">
        <p14:creationId xmlns:p14="http://schemas.microsoft.com/office/powerpoint/2010/main" val="1857855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10E5B-D557-4804-80E3-DF4A498FBFB1}"/>
              </a:ext>
            </a:extLst>
          </p:cNvPr>
          <p:cNvSpPr>
            <a:spLocks noGrp="1"/>
          </p:cNvSpPr>
          <p:nvPr>
            <p:ph type="title"/>
          </p:nvPr>
        </p:nvSpPr>
        <p:spPr/>
        <p:txBody>
          <a:bodyPr/>
          <a:lstStyle/>
          <a:p>
            <a:r>
              <a:rPr lang="en-US" dirty="0">
                <a:solidFill>
                  <a:srgbClr val="C00000"/>
                </a:solidFill>
              </a:rPr>
              <a:t>Steps of Viterbi algorithm (important)</a:t>
            </a:r>
            <a:endParaRPr lang="en-IN" dirty="0">
              <a:solidFill>
                <a:srgbClr val="C00000"/>
              </a:solidFill>
            </a:endParaRPr>
          </a:p>
        </p:txBody>
      </p:sp>
      <p:pic>
        <p:nvPicPr>
          <p:cNvPr id="4" name="Content Placeholder 3">
            <a:extLst>
              <a:ext uri="{FF2B5EF4-FFF2-40B4-BE49-F238E27FC236}">
                <a16:creationId xmlns:a16="http://schemas.microsoft.com/office/drawing/2014/main" id="{6C11912C-44F0-4135-ADF1-EB01990519C8}"/>
              </a:ext>
            </a:extLst>
          </p:cNvPr>
          <p:cNvPicPr>
            <a:picLocks noGrp="1" noChangeAspect="1"/>
          </p:cNvPicPr>
          <p:nvPr>
            <p:ph idx="1"/>
          </p:nvPr>
        </p:nvPicPr>
        <p:blipFill>
          <a:blip r:embed="rId2"/>
          <a:stretch>
            <a:fillRect/>
          </a:stretch>
        </p:blipFill>
        <p:spPr>
          <a:xfrm>
            <a:off x="1072380" y="1825625"/>
            <a:ext cx="10047239" cy="4351338"/>
          </a:xfrm>
          <a:prstGeom prst="rect">
            <a:avLst/>
          </a:prstGeom>
        </p:spPr>
      </p:pic>
    </p:spTree>
    <p:extLst>
      <p:ext uri="{BB962C8B-B14F-4D97-AF65-F5344CB8AC3E}">
        <p14:creationId xmlns:p14="http://schemas.microsoft.com/office/powerpoint/2010/main" val="904131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D0D90-04B0-42CA-BCA2-8F3F86A295C7}"/>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AE39773-6FB3-43CA-B77F-9DFFB3726E4D}"/>
              </a:ext>
            </a:extLst>
          </p:cNvPr>
          <p:cNvPicPr>
            <a:picLocks noGrp="1" noChangeAspect="1"/>
          </p:cNvPicPr>
          <p:nvPr>
            <p:ph idx="1"/>
          </p:nvPr>
        </p:nvPicPr>
        <p:blipFill>
          <a:blip r:embed="rId2"/>
          <a:stretch>
            <a:fillRect/>
          </a:stretch>
        </p:blipFill>
        <p:spPr>
          <a:xfrm>
            <a:off x="1928812" y="2420144"/>
            <a:ext cx="8334375" cy="3162300"/>
          </a:xfrm>
          <a:prstGeom prst="rect">
            <a:avLst/>
          </a:prstGeom>
        </p:spPr>
      </p:pic>
      <p:sp>
        <p:nvSpPr>
          <p:cNvPr id="7" name="TextBox 6">
            <a:extLst>
              <a:ext uri="{FF2B5EF4-FFF2-40B4-BE49-F238E27FC236}">
                <a16:creationId xmlns:a16="http://schemas.microsoft.com/office/drawing/2014/main" id="{DC65AF34-09C4-41B7-9D9C-071733D01715}"/>
              </a:ext>
            </a:extLst>
          </p:cNvPr>
          <p:cNvSpPr txBox="1"/>
          <p:nvPr/>
        </p:nvSpPr>
        <p:spPr>
          <a:xfrm>
            <a:off x="4500438" y="5397778"/>
            <a:ext cx="6094674" cy="369332"/>
          </a:xfrm>
          <a:prstGeom prst="rect">
            <a:avLst/>
          </a:prstGeom>
          <a:noFill/>
        </p:spPr>
        <p:txBody>
          <a:bodyPr wrap="square">
            <a:spAutoFit/>
          </a:bodyPr>
          <a:lstStyle/>
          <a:p>
            <a:r>
              <a:rPr lang="en-US" dirty="0"/>
              <a:t>Head 	          tail 	                tail  	         head</a:t>
            </a:r>
            <a:endParaRPr lang="en-IN" dirty="0"/>
          </a:p>
        </p:txBody>
      </p:sp>
    </p:spTree>
    <p:extLst>
      <p:ext uri="{BB962C8B-B14F-4D97-AF65-F5344CB8AC3E}">
        <p14:creationId xmlns:p14="http://schemas.microsoft.com/office/powerpoint/2010/main" val="1943134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A44EA-D0A1-46F0-9EA7-D8C7FAD069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B4EE14F-E7B3-4BDA-A578-128AD79AD049}"/>
              </a:ext>
            </a:extLst>
          </p:cNvPr>
          <p:cNvSpPr>
            <a:spLocks noGrp="1"/>
          </p:cNvSpPr>
          <p:nvPr>
            <p:ph idx="1"/>
          </p:nvPr>
        </p:nvSpPr>
        <p:spPr/>
        <p:txBody>
          <a:bodyPr/>
          <a:lstStyle/>
          <a:p>
            <a:r>
              <a:rPr lang="en-US" b="1" dirty="0"/>
              <a:t>Step1: Initialization</a:t>
            </a:r>
          </a:p>
          <a:p>
            <a:r>
              <a:rPr lang="en-US" sz="2000" dirty="0"/>
              <a:t>We first create a start state q*. We then find the probabilities of the initial states and the observations given the initial states. In this case, P(</a:t>
            </a:r>
            <a:r>
              <a:rPr lang="en-US" sz="2000" dirty="0" err="1"/>
              <a:t>qi|q</a:t>
            </a:r>
            <a:r>
              <a:rPr lang="en-US" sz="2000" dirty="0"/>
              <a:t>*) is the probability that the start state is qi.</a:t>
            </a:r>
          </a:p>
          <a:p>
            <a:endParaRPr lang="en-US" dirty="0"/>
          </a:p>
          <a:p>
            <a:endParaRPr lang="en-US" dirty="0"/>
          </a:p>
          <a:p>
            <a:endParaRPr lang="en-US" dirty="0"/>
          </a:p>
          <a:p>
            <a:endParaRPr lang="en-IN" dirty="0"/>
          </a:p>
        </p:txBody>
      </p:sp>
      <p:pic>
        <p:nvPicPr>
          <p:cNvPr id="4" name="Picture 3">
            <a:extLst>
              <a:ext uri="{FF2B5EF4-FFF2-40B4-BE49-F238E27FC236}">
                <a16:creationId xmlns:a16="http://schemas.microsoft.com/office/drawing/2014/main" id="{7EF2901C-C59B-415E-86B2-20BA5C5598ED}"/>
              </a:ext>
            </a:extLst>
          </p:cNvPr>
          <p:cNvPicPr>
            <a:picLocks noChangeAspect="1"/>
          </p:cNvPicPr>
          <p:nvPr/>
        </p:nvPicPr>
        <p:blipFill>
          <a:blip r:embed="rId2"/>
          <a:stretch>
            <a:fillRect/>
          </a:stretch>
        </p:blipFill>
        <p:spPr>
          <a:xfrm>
            <a:off x="0" y="3429000"/>
            <a:ext cx="5599247" cy="1657377"/>
          </a:xfrm>
          <a:prstGeom prst="rect">
            <a:avLst/>
          </a:prstGeom>
        </p:spPr>
      </p:pic>
      <p:pic>
        <p:nvPicPr>
          <p:cNvPr id="5" name="Picture 4">
            <a:extLst>
              <a:ext uri="{FF2B5EF4-FFF2-40B4-BE49-F238E27FC236}">
                <a16:creationId xmlns:a16="http://schemas.microsoft.com/office/drawing/2014/main" id="{2B88A435-C443-47EA-A8A5-4333F45669FC}"/>
              </a:ext>
            </a:extLst>
          </p:cNvPr>
          <p:cNvPicPr>
            <a:picLocks noChangeAspect="1"/>
          </p:cNvPicPr>
          <p:nvPr/>
        </p:nvPicPr>
        <p:blipFill>
          <a:blip r:embed="rId3"/>
          <a:stretch>
            <a:fillRect/>
          </a:stretch>
        </p:blipFill>
        <p:spPr>
          <a:xfrm>
            <a:off x="6218224" y="3052772"/>
            <a:ext cx="5631869" cy="2136652"/>
          </a:xfrm>
          <a:prstGeom prst="rect">
            <a:avLst/>
          </a:prstGeom>
        </p:spPr>
      </p:pic>
      <p:sp>
        <p:nvSpPr>
          <p:cNvPr id="6" name="TextBox 5">
            <a:extLst>
              <a:ext uri="{FF2B5EF4-FFF2-40B4-BE49-F238E27FC236}">
                <a16:creationId xmlns:a16="http://schemas.microsoft.com/office/drawing/2014/main" id="{5E337D90-A79C-4E99-9A19-E67E39124FE4}"/>
              </a:ext>
            </a:extLst>
          </p:cNvPr>
          <p:cNvSpPr txBox="1"/>
          <p:nvPr/>
        </p:nvSpPr>
        <p:spPr>
          <a:xfrm>
            <a:off x="7102653" y="5004758"/>
            <a:ext cx="4747440" cy="369332"/>
          </a:xfrm>
          <a:prstGeom prst="rect">
            <a:avLst/>
          </a:prstGeom>
          <a:noFill/>
        </p:spPr>
        <p:txBody>
          <a:bodyPr wrap="square">
            <a:spAutoFit/>
          </a:bodyPr>
          <a:lstStyle/>
          <a:p>
            <a:r>
              <a:rPr lang="en-US" dirty="0"/>
              <a:t>         Head              tail 	 tail           head</a:t>
            </a:r>
            <a:endParaRPr lang="en-IN" dirty="0"/>
          </a:p>
        </p:txBody>
      </p:sp>
    </p:spTree>
    <p:extLst>
      <p:ext uri="{BB962C8B-B14F-4D97-AF65-F5344CB8AC3E}">
        <p14:creationId xmlns:p14="http://schemas.microsoft.com/office/powerpoint/2010/main" val="86373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D0D90-04B0-42CA-BCA2-8F3F86A295C7}"/>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AE39773-6FB3-43CA-B77F-9DFFB3726E4D}"/>
              </a:ext>
            </a:extLst>
          </p:cNvPr>
          <p:cNvPicPr>
            <a:picLocks noGrp="1" noChangeAspect="1"/>
          </p:cNvPicPr>
          <p:nvPr>
            <p:ph idx="1"/>
          </p:nvPr>
        </p:nvPicPr>
        <p:blipFill>
          <a:blip r:embed="rId2"/>
          <a:stretch>
            <a:fillRect/>
          </a:stretch>
        </p:blipFill>
        <p:spPr>
          <a:xfrm>
            <a:off x="1928812" y="2420144"/>
            <a:ext cx="8334375" cy="3162300"/>
          </a:xfrm>
          <a:prstGeom prst="rect">
            <a:avLst/>
          </a:prstGeom>
        </p:spPr>
      </p:pic>
      <p:sp>
        <p:nvSpPr>
          <p:cNvPr id="7" name="TextBox 6">
            <a:extLst>
              <a:ext uri="{FF2B5EF4-FFF2-40B4-BE49-F238E27FC236}">
                <a16:creationId xmlns:a16="http://schemas.microsoft.com/office/drawing/2014/main" id="{DC65AF34-09C4-41B7-9D9C-071733D01715}"/>
              </a:ext>
            </a:extLst>
          </p:cNvPr>
          <p:cNvSpPr txBox="1"/>
          <p:nvPr/>
        </p:nvSpPr>
        <p:spPr>
          <a:xfrm>
            <a:off x="4500438" y="5397778"/>
            <a:ext cx="6094674" cy="369332"/>
          </a:xfrm>
          <a:prstGeom prst="rect">
            <a:avLst/>
          </a:prstGeom>
          <a:noFill/>
        </p:spPr>
        <p:txBody>
          <a:bodyPr wrap="square">
            <a:spAutoFit/>
          </a:bodyPr>
          <a:lstStyle/>
          <a:p>
            <a:r>
              <a:rPr lang="en-US" dirty="0"/>
              <a:t>Head 	          tail 	                tail  	         head</a:t>
            </a:r>
            <a:endParaRPr lang="en-IN" dirty="0"/>
          </a:p>
        </p:txBody>
      </p:sp>
    </p:spTree>
    <p:extLst>
      <p:ext uri="{BB962C8B-B14F-4D97-AF65-F5344CB8AC3E}">
        <p14:creationId xmlns:p14="http://schemas.microsoft.com/office/powerpoint/2010/main" val="3160516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B5DEB-52FA-4D63-A5B9-2A02348775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928DD3-3C77-44B9-A160-CA5792F40542}"/>
              </a:ext>
            </a:extLst>
          </p:cNvPr>
          <p:cNvSpPr>
            <a:spLocks noGrp="1"/>
          </p:cNvSpPr>
          <p:nvPr>
            <p:ph idx="1"/>
          </p:nvPr>
        </p:nvSpPr>
        <p:spPr/>
        <p:txBody>
          <a:bodyPr/>
          <a:lstStyle/>
          <a:p>
            <a:pPr marL="0" indent="0" algn="l">
              <a:buNone/>
            </a:pPr>
            <a:r>
              <a:rPr lang="en-US" b="1" i="0" dirty="0">
                <a:solidFill>
                  <a:srgbClr val="292929"/>
                </a:solidFill>
                <a:effectLst/>
                <a:latin typeface="charter"/>
              </a:rPr>
              <a:t>Step 2: Induction</a:t>
            </a:r>
            <a:endParaRPr lang="en-US" b="0" i="0" dirty="0">
              <a:solidFill>
                <a:srgbClr val="292929"/>
              </a:solidFill>
              <a:effectLst/>
              <a:latin typeface="charter"/>
            </a:endParaRPr>
          </a:p>
          <a:p>
            <a:pPr algn="l"/>
            <a:r>
              <a:rPr lang="en-US" sz="1800" b="0" i="0" dirty="0">
                <a:solidFill>
                  <a:srgbClr val="292929"/>
                </a:solidFill>
                <a:effectLst/>
                <a:latin typeface="charter"/>
              </a:rPr>
              <a:t>We perform the induction step when t is greater than or equal to 2 and less than or equal to T where </a:t>
            </a:r>
            <a:r>
              <a:rPr lang="en-US" sz="1800" b="1" i="1" dirty="0">
                <a:solidFill>
                  <a:srgbClr val="292929"/>
                </a:solidFill>
                <a:effectLst/>
                <a:latin typeface="charter"/>
              </a:rPr>
              <a:t>T is the number of observations + 1 (the plus 1 comes from the added start state</a:t>
            </a:r>
            <a:r>
              <a:rPr lang="en-US" sz="1800" b="0" i="0" dirty="0">
                <a:solidFill>
                  <a:srgbClr val="292929"/>
                </a:solidFill>
                <a:effectLst/>
                <a:latin typeface="charter"/>
              </a:rPr>
              <a:t>). T represents to total number of observations.</a:t>
            </a:r>
          </a:p>
          <a:p>
            <a:pPr algn="l"/>
            <a:endParaRPr lang="en-US" b="0" i="0" dirty="0">
              <a:solidFill>
                <a:srgbClr val="292929"/>
              </a:solidFill>
              <a:effectLst/>
              <a:latin typeface="charter"/>
            </a:endParaRPr>
          </a:p>
          <a:p>
            <a:endParaRPr lang="en-IN" b="1" dirty="0"/>
          </a:p>
        </p:txBody>
      </p:sp>
      <p:pic>
        <p:nvPicPr>
          <p:cNvPr id="4" name="Picture 3">
            <a:extLst>
              <a:ext uri="{FF2B5EF4-FFF2-40B4-BE49-F238E27FC236}">
                <a16:creationId xmlns:a16="http://schemas.microsoft.com/office/drawing/2014/main" id="{1813694D-1A95-40E4-A85C-F2FED0B211D0}"/>
              </a:ext>
            </a:extLst>
          </p:cNvPr>
          <p:cNvPicPr>
            <a:picLocks noChangeAspect="1"/>
          </p:cNvPicPr>
          <p:nvPr/>
        </p:nvPicPr>
        <p:blipFill>
          <a:blip r:embed="rId2"/>
          <a:stretch>
            <a:fillRect/>
          </a:stretch>
        </p:blipFill>
        <p:spPr>
          <a:xfrm>
            <a:off x="341907" y="3805228"/>
            <a:ext cx="6701002" cy="1906914"/>
          </a:xfrm>
          <a:prstGeom prst="rect">
            <a:avLst/>
          </a:prstGeom>
        </p:spPr>
      </p:pic>
      <p:pic>
        <p:nvPicPr>
          <p:cNvPr id="5" name="Picture 4">
            <a:extLst>
              <a:ext uri="{FF2B5EF4-FFF2-40B4-BE49-F238E27FC236}">
                <a16:creationId xmlns:a16="http://schemas.microsoft.com/office/drawing/2014/main" id="{5B3BA1E3-813A-4FED-B18B-80D6036CE6A8}"/>
              </a:ext>
            </a:extLst>
          </p:cNvPr>
          <p:cNvPicPr>
            <a:picLocks noChangeAspect="1"/>
          </p:cNvPicPr>
          <p:nvPr/>
        </p:nvPicPr>
        <p:blipFill>
          <a:blip r:embed="rId3"/>
          <a:stretch>
            <a:fillRect/>
          </a:stretch>
        </p:blipFill>
        <p:spPr>
          <a:xfrm>
            <a:off x="6218224" y="3052772"/>
            <a:ext cx="5631869" cy="2136652"/>
          </a:xfrm>
          <a:prstGeom prst="rect">
            <a:avLst/>
          </a:prstGeom>
        </p:spPr>
      </p:pic>
      <p:sp>
        <p:nvSpPr>
          <p:cNvPr id="6" name="TextBox 5">
            <a:extLst>
              <a:ext uri="{FF2B5EF4-FFF2-40B4-BE49-F238E27FC236}">
                <a16:creationId xmlns:a16="http://schemas.microsoft.com/office/drawing/2014/main" id="{8D17D1E6-F419-4FC7-89F1-4A5955094919}"/>
              </a:ext>
            </a:extLst>
          </p:cNvPr>
          <p:cNvSpPr txBox="1"/>
          <p:nvPr/>
        </p:nvSpPr>
        <p:spPr>
          <a:xfrm>
            <a:off x="7102653" y="5004758"/>
            <a:ext cx="4747440" cy="369332"/>
          </a:xfrm>
          <a:prstGeom prst="rect">
            <a:avLst/>
          </a:prstGeom>
          <a:noFill/>
        </p:spPr>
        <p:txBody>
          <a:bodyPr wrap="square">
            <a:spAutoFit/>
          </a:bodyPr>
          <a:lstStyle/>
          <a:p>
            <a:r>
              <a:rPr lang="en-US" dirty="0"/>
              <a:t>         Head              tail 	 tail           head</a:t>
            </a:r>
            <a:endParaRPr lang="en-IN" dirty="0"/>
          </a:p>
        </p:txBody>
      </p:sp>
    </p:spTree>
    <p:extLst>
      <p:ext uri="{BB962C8B-B14F-4D97-AF65-F5344CB8AC3E}">
        <p14:creationId xmlns:p14="http://schemas.microsoft.com/office/powerpoint/2010/main" val="3636413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3AE8-9C0A-4353-9ECC-8C8F9015BC21}"/>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72386077-C3A8-4C94-B725-5C7FA290C22E}"/>
              </a:ext>
            </a:extLst>
          </p:cNvPr>
          <p:cNvSpPr>
            <a:spLocks noGrp="1"/>
          </p:cNvSpPr>
          <p:nvPr>
            <p:ph idx="1"/>
          </p:nvPr>
        </p:nvSpPr>
        <p:spPr/>
        <p:txBody>
          <a:bodyPr/>
          <a:lstStyle/>
          <a:p>
            <a:r>
              <a:rPr lang="en-IN" b="1" i="0" dirty="0">
                <a:solidFill>
                  <a:srgbClr val="292929"/>
                </a:solidFill>
                <a:effectLst/>
                <a:latin typeface="charter"/>
              </a:rPr>
              <a:t>Step 3: Termination</a:t>
            </a:r>
            <a:endParaRPr lang="en-US" dirty="0"/>
          </a:p>
          <a:p>
            <a:endParaRPr lang="en-IN" dirty="0"/>
          </a:p>
        </p:txBody>
      </p:sp>
      <p:pic>
        <p:nvPicPr>
          <p:cNvPr id="2052" name="Picture 4">
            <a:extLst>
              <a:ext uri="{FF2B5EF4-FFF2-40B4-BE49-F238E27FC236}">
                <a16:creationId xmlns:a16="http://schemas.microsoft.com/office/drawing/2014/main" id="{8259C022-F24B-45B3-978E-E64DF81820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074" y="2241663"/>
            <a:ext cx="6716906" cy="4321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606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5E286-A06D-454B-BD6F-A2E5B251F4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B04C4A-0C01-4504-BCF3-DCF8F620A4B9}"/>
              </a:ext>
            </a:extLst>
          </p:cNvPr>
          <p:cNvSpPr>
            <a:spLocks noGrp="1"/>
          </p:cNvSpPr>
          <p:nvPr>
            <p:ph idx="1"/>
          </p:nvPr>
        </p:nvSpPr>
        <p:spPr/>
        <p:txBody>
          <a:bodyPr>
            <a:normAutofit/>
          </a:bodyPr>
          <a:lstStyle/>
          <a:p>
            <a:pPr algn="l"/>
            <a:r>
              <a:rPr lang="en-US" b="0" i="0" dirty="0">
                <a:solidFill>
                  <a:srgbClr val="292929"/>
                </a:solidFill>
                <a:effectLst/>
                <a:latin typeface="charter"/>
              </a:rPr>
              <a:t>Remember, in the induction step, we want to discover with the state at time t-1 maximizes the function. We do this by taking the state which maximizes the delta function. We do this with respect to all the states in our current time step. Here we see that the coin that maximizes the probability at time step 2 is coin 1 if we are in state coin 1 at time step 2, and coin 2 maximizes the probability if we are in state coin 2 at time step 2.</a:t>
            </a:r>
          </a:p>
        </p:txBody>
      </p:sp>
    </p:spTree>
    <p:extLst>
      <p:ext uri="{BB962C8B-B14F-4D97-AF65-F5344CB8AC3E}">
        <p14:creationId xmlns:p14="http://schemas.microsoft.com/office/powerpoint/2010/main" val="1092678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9325F-757F-4CA8-AD08-2480FDEE3781}"/>
              </a:ext>
            </a:extLst>
          </p:cNvPr>
          <p:cNvSpPr>
            <a:spLocks noGrp="1"/>
          </p:cNvSpPr>
          <p:nvPr>
            <p:ph type="title"/>
          </p:nvPr>
        </p:nvSpPr>
        <p:spPr/>
        <p:txBody>
          <a:bodyPr/>
          <a:lstStyle/>
          <a:p>
            <a:r>
              <a:rPr lang="en-US" dirty="0"/>
              <a:t>Another example</a:t>
            </a:r>
            <a:endParaRPr lang="en-IN" dirty="0"/>
          </a:p>
        </p:txBody>
      </p:sp>
      <p:pic>
        <p:nvPicPr>
          <p:cNvPr id="4" name="Content Placeholder 3">
            <a:extLst>
              <a:ext uri="{FF2B5EF4-FFF2-40B4-BE49-F238E27FC236}">
                <a16:creationId xmlns:a16="http://schemas.microsoft.com/office/drawing/2014/main" id="{4AA59D36-8A32-4683-96D4-3945FDB63BCF}"/>
              </a:ext>
            </a:extLst>
          </p:cNvPr>
          <p:cNvPicPr>
            <a:picLocks noGrp="1" noChangeAspect="1"/>
          </p:cNvPicPr>
          <p:nvPr>
            <p:ph idx="1"/>
          </p:nvPr>
        </p:nvPicPr>
        <p:blipFill>
          <a:blip r:embed="rId2"/>
          <a:stretch>
            <a:fillRect/>
          </a:stretch>
        </p:blipFill>
        <p:spPr>
          <a:xfrm>
            <a:off x="1863918" y="1690688"/>
            <a:ext cx="8334375" cy="4210050"/>
          </a:xfrm>
          <a:prstGeom prst="rect">
            <a:avLst/>
          </a:prstGeom>
        </p:spPr>
      </p:pic>
      <p:sp>
        <p:nvSpPr>
          <p:cNvPr id="6" name="TextBox 5">
            <a:extLst>
              <a:ext uri="{FF2B5EF4-FFF2-40B4-BE49-F238E27FC236}">
                <a16:creationId xmlns:a16="http://schemas.microsoft.com/office/drawing/2014/main" id="{9C2B1F2D-AC8F-4049-BD4E-0E1DD1A97CEC}"/>
              </a:ext>
            </a:extLst>
          </p:cNvPr>
          <p:cNvSpPr txBox="1"/>
          <p:nvPr/>
        </p:nvSpPr>
        <p:spPr>
          <a:xfrm>
            <a:off x="5567901" y="672045"/>
            <a:ext cx="6094674" cy="1200329"/>
          </a:xfrm>
          <a:prstGeom prst="rect">
            <a:avLst/>
          </a:prstGeom>
          <a:noFill/>
        </p:spPr>
        <p:txBody>
          <a:bodyPr wrap="square">
            <a:spAutoFit/>
          </a:bodyPr>
          <a:lstStyle/>
          <a:p>
            <a:r>
              <a:rPr lang="en-US" dirty="0"/>
              <a:t>So, let’s go ahead and start finding the most probable hidden state sequence when we observed </a:t>
            </a:r>
            <a:r>
              <a:rPr lang="en-US" dirty="0">
                <a:solidFill>
                  <a:srgbClr val="C00000"/>
                </a:solidFill>
              </a:rPr>
              <a:t>head, tail, tail, and head</a:t>
            </a:r>
            <a:r>
              <a:rPr lang="en-US" dirty="0"/>
              <a:t>. I like to visualize the Viterbi algorithm using a trellis (the diagram found below).</a:t>
            </a:r>
            <a:endParaRPr lang="en-IN" dirty="0"/>
          </a:p>
        </p:txBody>
      </p:sp>
      <p:sp>
        <p:nvSpPr>
          <p:cNvPr id="3" name="TextBox 2">
            <a:extLst>
              <a:ext uri="{FF2B5EF4-FFF2-40B4-BE49-F238E27FC236}">
                <a16:creationId xmlns:a16="http://schemas.microsoft.com/office/drawing/2014/main" id="{B1EFA963-F9F5-480D-B4CA-CA3B92628685}"/>
              </a:ext>
            </a:extLst>
          </p:cNvPr>
          <p:cNvSpPr txBox="1"/>
          <p:nvPr/>
        </p:nvSpPr>
        <p:spPr>
          <a:xfrm>
            <a:off x="9899374" y="3197937"/>
            <a:ext cx="1550504" cy="923330"/>
          </a:xfrm>
          <a:prstGeom prst="rect">
            <a:avLst/>
          </a:prstGeom>
          <a:noFill/>
        </p:spPr>
        <p:txBody>
          <a:bodyPr wrap="square" rtlCol="0">
            <a:spAutoFit/>
          </a:bodyPr>
          <a:lstStyle/>
          <a:p>
            <a:r>
              <a:rPr lang="en-US" dirty="0"/>
              <a:t>Initial state</a:t>
            </a:r>
          </a:p>
          <a:p>
            <a:r>
              <a:rPr lang="en-US" dirty="0"/>
              <a:t>Coin1= 0.6</a:t>
            </a:r>
          </a:p>
          <a:p>
            <a:r>
              <a:rPr lang="en-US" dirty="0"/>
              <a:t>Coin2= 0.4</a:t>
            </a:r>
            <a:endParaRPr lang="en-IN" dirty="0"/>
          </a:p>
        </p:txBody>
      </p:sp>
    </p:spTree>
    <p:extLst>
      <p:ext uri="{BB962C8B-B14F-4D97-AF65-F5344CB8AC3E}">
        <p14:creationId xmlns:p14="http://schemas.microsoft.com/office/powerpoint/2010/main" val="2891042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D0D90-04B0-42CA-BCA2-8F3F86A295C7}"/>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AE39773-6FB3-43CA-B77F-9DFFB3726E4D}"/>
              </a:ext>
            </a:extLst>
          </p:cNvPr>
          <p:cNvPicPr>
            <a:picLocks noGrp="1" noChangeAspect="1"/>
          </p:cNvPicPr>
          <p:nvPr>
            <p:ph idx="1"/>
          </p:nvPr>
        </p:nvPicPr>
        <p:blipFill>
          <a:blip r:embed="rId2"/>
          <a:stretch>
            <a:fillRect/>
          </a:stretch>
        </p:blipFill>
        <p:spPr>
          <a:xfrm>
            <a:off x="1928812" y="2420144"/>
            <a:ext cx="8334375" cy="3162300"/>
          </a:xfrm>
          <a:prstGeom prst="rect">
            <a:avLst/>
          </a:prstGeom>
        </p:spPr>
      </p:pic>
      <p:sp>
        <p:nvSpPr>
          <p:cNvPr id="7" name="TextBox 6">
            <a:extLst>
              <a:ext uri="{FF2B5EF4-FFF2-40B4-BE49-F238E27FC236}">
                <a16:creationId xmlns:a16="http://schemas.microsoft.com/office/drawing/2014/main" id="{DC65AF34-09C4-41B7-9D9C-071733D01715}"/>
              </a:ext>
            </a:extLst>
          </p:cNvPr>
          <p:cNvSpPr txBox="1"/>
          <p:nvPr/>
        </p:nvSpPr>
        <p:spPr>
          <a:xfrm>
            <a:off x="4500438" y="5397778"/>
            <a:ext cx="6094674" cy="369332"/>
          </a:xfrm>
          <a:prstGeom prst="rect">
            <a:avLst/>
          </a:prstGeom>
          <a:noFill/>
        </p:spPr>
        <p:txBody>
          <a:bodyPr wrap="square">
            <a:spAutoFit/>
          </a:bodyPr>
          <a:lstStyle/>
          <a:p>
            <a:r>
              <a:rPr lang="en-US" dirty="0"/>
              <a:t>Head 	          tail 	                tail  	         head</a:t>
            </a:r>
            <a:endParaRPr lang="en-IN" dirty="0"/>
          </a:p>
        </p:txBody>
      </p:sp>
    </p:spTree>
    <p:extLst>
      <p:ext uri="{BB962C8B-B14F-4D97-AF65-F5344CB8AC3E}">
        <p14:creationId xmlns:p14="http://schemas.microsoft.com/office/powerpoint/2010/main" val="532961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04623-E450-4871-BB41-C74E2C4CF69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4982BB-35F4-4A16-BF56-36B6865D885B}"/>
              </a:ext>
            </a:extLst>
          </p:cNvPr>
          <p:cNvSpPr>
            <a:spLocks noGrp="1"/>
          </p:cNvSpPr>
          <p:nvPr>
            <p:ph idx="1"/>
          </p:nvPr>
        </p:nvSpPr>
        <p:spPr>
          <a:xfrm>
            <a:off x="774590" y="1825625"/>
            <a:ext cx="10515600" cy="4351338"/>
          </a:xfrm>
        </p:spPr>
        <p:txBody>
          <a:bodyPr/>
          <a:lstStyle/>
          <a:p>
            <a:r>
              <a:rPr lang="en-US" b="0" i="0" dirty="0">
                <a:solidFill>
                  <a:srgbClr val="292929"/>
                </a:solidFill>
                <a:effectLst/>
                <a:latin typeface="charter"/>
              </a:rPr>
              <a:t>From the definition of the algorithm, we need to first initialize before we perform the induction step.</a:t>
            </a:r>
          </a:p>
          <a:p>
            <a:r>
              <a:rPr lang="en-IN" b="1" i="0" dirty="0">
                <a:solidFill>
                  <a:srgbClr val="292929"/>
                </a:solidFill>
                <a:effectLst/>
                <a:latin typeface="charter"/>
              </a:rPr>
              <a:t>Initialization Step</a:t>
            </a:r>
            <a:endParaRPr lang="en-US" dirty="0">
              <a:solidFill>
                <a:srgbClr val="292929"/>
              </a:solidFill>
              <a:latin typeface="charter"/>
            </a:endParaRPr>
          </a:p>
          <a:p>
            <a:endParaRPr lang="en-IN" dirty="0"/>
          </a:p>
        </p:txBody>
      </p:sp>
      <p:pic>
        <p:nvPicPr>
          <p:cNvPr id="6146" name="Picture 2">
            <a:extLst>
              <a:ext uri="{FF2B5EF4-FFF2-40B4-BE49-F238E27FC236}">
                <a16:creationId xmlns:a16="http://schemas.microsoft.com/office/drawing/2014/main" id="{A048C7F2-2369-402D-A1E0-A0F5EDDB6B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942" y="3586039"/>
            <a:ext cx="5870725" cy="2281196"/>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3">
            <a:extLst>
              <a:ext uri="{FF2B5EF4-FFF2-40B4-BE49-F238E27FC236}">
                <a16:creationId xmlns:a16="http://schemas.microsoft.com/office/drawing/2014/main" id="{F50A585F-87DE-4DB2-890B-D2E04BB48A1E}"/>
              </a:ext>
            </a:extLst>
          </p:cNvPr>
          <p:cNvPicPr>
            <a:picLocks noChangeAspect="1"/>
          </p:cNvPicPr>
          <p:nvPr/>
        </p:nvPicPr>
        <p:blipFill>
          <a:blip r:embed="rId3"/>
          <a:stretch>
            <a:fillRect/>
          </a:stretch>
        </p:blipFill>
        <p:spPr>
          <a:xfrm>
            <a:off x="6645544" y="2578832"/>
            <a:ext cx="4334514" cy="2189549"/>
          </a:xfrm>
          <a:prstGeom prst="rect">
            <a:avLst/>
          </a:prstGeom>
        </p:spPr>
      </p:pic>
      <p:sp>
        <p:nvSpPr>
          <p:cNvPr id="9" name="TextBox 8">
            <a:extLst>
              <a:ext uri="{FF2B5EF4-FFF2-40B4-BE49-F238E27FC236}">
                <a16:creationId xmlns:a16="http://schemas.microsoft.com/office/drawing/2014/main" id="{BDFF4531-73FB-4B6B-8982-A025C1583FAA}"/>
              </a:ext>
            </a:extLst>
          </p:cNvPr>
          <p:cNvSpPr txBox="1"/>
          <p:nvPr/>
        </p:nvSpPr>
        <p:spPr>
          <a:xfrm>
            <a:off x="304139" y="5934670"/>
            <a:ext cx="11805698" cy="923330"/>
          </a:xfrm>
          <a:prstGeom prst="rect">
            <a:avLst/>
          </a:prstGeom>
          <a:noFill/>
        </p:spPr>
        <p:txBody>
          <a:bodyPr wrap="square">
            <a:spAutoFit/>
          </a:bodyPr>
          <a:lstStyle/>
          <a:p>
            <a:r>
              <a:rPr lang="en-US" dirty="0"/>
              <a:t>Here we are calculating the probability of observing head at coin 1 and head at coin 2 at time step 1. Instead of user P(qi | q*), we use the initial state distribution. Now that we have initialized the function at time step 1, we can begin the induction step.</a:t>
            </a:r>
            <a:endParaRPr lang="en-IN" dirty="0"/>
          </a:p>
        </p:txBody>
      </p:sp>
    </p:spTree>
    <p:extLst>
      <p:ext uri="{BB962C8B-B14F-4D97-AF65-F5344CB8AC3E}">
        <p14:creationId xmlns:p14="http://schemas.microsoft.com/office/powerpoint/2010/main" val="4101059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A5638-C360-4989-8510-12C04D51D2C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B85AAA-2C46-48A9-8299-6EB00D3E099C}"/>
              </a:ext>
            </a:extLst>
          </p:cNvPr>
          <p:cNvSpPr>
            <a:spLocks noGrp="1"/>
          </p:cNvSpPr>
          <p:nvPr>
            <p:ph idx="1"/>
          </p:nvPr>
        </p:nvSpPr>
        <p:spPr>
          <a:xfrm>
            <a:off x="838200" y="1825625"/>
            <a:ext cx="10515600" cy="4351338"/>
          </a:xfrm>
        </p:spPr>
        <p:txBody>
          <a:bodyPr/>
          <a:lstStyle/>
          <a:p>
            <a:r>
              <a:rPr lang="en-US" dirty="0"/>
              <a:t>Induction Steps at time t=2</a:t>
            </a:r>
          </a:p>
          <a:p>
            <a:endParaRPr lang="en-IN" dirty="0"/>
          </a:p>
        </p:txBody>
      </p:sp>
      <p:pic>
        <p:nvPicPr>
          <p:cNvPr id="7172" name="Picture 4">
            <a:extLst>
              <a:ext uri="{FF2B5EF4-FFF2-40B4-BE49-F238E27FC236}">
                <a16:creationId xmlns:a16="http://schemas.microsoft.com/office/drawing/2014/main" id="{05EDD63C-B2AA-4032-A4DA-0BF687BA7D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6090" y="2305878"/>
            <a:ext cx="5046285" cy="473500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2B65DA3-79DC-4E14-9CE8-CDB305A7C176}"/>
              </a:ext>
            </a:extLst>
          </p:cNvPr>
          <p:cNvPicPr>
            <a:picLocks noChangeAspect="1"/>
          </p:cNvPicPr>
          <p:nvPr/>
        </p:nvPicPr>
        <p:blipFill>
          <a:blip r:embed="rId3"/>
          <a:stretch>
            <a:fillRect/>
          </a:stretch>
        </p:blipFill>
        <p:spPr>
          <a:xfrm>
            <a:off x="113077" y="3245909"/>
            <a:ext cx="5778840" cy="2192411"/>
          </a:xfrm>
          <a:prstGeom prst="rect">
            <a:avLst/>
          </a:prstGeom>
        </p:spPr>
      </p:pic>
      <p:sp>
        <p:nvSpPr>
          <p:cNvPr id="8" name="TextBox 7">
            <a:extLst>
              <a:ext uri="{FF2B5EF4-FFF2-40B4-BE49-F238E27FC236}">
                <a16:creationId xmlns:a16="http://schemas.microsoft.com/office/drawing/2014/main" id="{40FD7151-E159-4F4D-8DFF-1E974C4DDD2D}"/>
              </a:ext>
            </a:extLst>
          </p:cNvPr>
          <p:cNvSpPr txBox="1"/>
          <p:nvPr/>
        </p:nvSpPr>
        <p:spPr>
          <a:xfrm>
            <a:off x="1457078" y="5360196"/>
            <a:ext cx="6094674" cy="369332"/>
          </a:xfrm>
          <a:prstGeom prst="rect">
            <a:avLst/>
          </a:prstGeom>
          <a:noFill/>
        </p:spPr>
        <p:txBody>
          <a:bodyPr wrap="square">
            <a:spAutoFit/>
          </a:bodyPr>
          <a:lstStyle/>
          <a:p>
            <a:r>
              <a:rPr lang="en-US" dirty="0"/>
              <a:t>Head 	       tail 	         tail  	         head</a:t>
            </a:r>
            <a:endParaRPr lang="en-IN" dirty="0"/>
          </a:p>
        </p:txBody>
      </p:sp>
      <p:pic>
        <p:nvPicPr>
          <p:cNvPr id="4" name="Picture 3">
            <a:extLst>
              <a:ext uri="{FF2B5EF4-FFF2-40B4-BE49-F238E27FC236}">
                <a16:creationId xmlns:a16="http://schemas.microsoft.com/office/drawing/2014/main" id="{90778E67-644E-4EC7-9AD3-5856F5C125CB}"/>
              </a:ext>
            </a:extLst>
          </p:cNvPr>
          <p:cNvPicPr>
            <a:picLocks noChangeAspect="1"/>
          </p:cNvPicPr>
          <p:nvPr/>
        </p:nvPicPr>
        <p:blipFill>
          <a:blip r:embed="rId4"/>
          <a:stretch>
            <a:fillRect/>
          </a:stretch>
        </p:blipFill>
        <p:spPr>
          <a:xfrm>
            <a:off x="5963479" y="596361"/>
            <a:ext cx="4334632" cy="2188654"/>
          </a:xfrm>
          <a:prstGeom prst="rect">
            <a:avLst/>
          </a:prstGeom>
        </p:spPr>
      </p:pic>
    </p:spTree>
    <p:extLst>
      <p:ext uri="{BB962C8B-B14F-4D97-AF65-F5344CB8AC3E}">
        <p14:creationId xmlns:p14="http://schemas.microsoft.com/office/powerpoint/2010/main" val="2985171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B9AF9F-5E95-4A39-AC65-4FECCE90A2B8}"/>
              </a:ext>
            </a:extLst>
          </p:cNvPr>
          <p:cNvPicPr>
            <a:picLocks noChangeAspect="1"/>
          </p:cNvPicPr>
          <p:nvPr/>
        </p:nvPicPr>
        <p:blipFill>
          <a:blip r:embed="rId2"/>
          <a:stretch>
            <a:fillRect/>
          </a:stretch>
        </p:blipFill>
        <p:spPr>
          <a:xfrm>
            <a:off x="6702950" y="509213"/>
            <a:ext cx="4334632" cy="2188654"/>
          </a:xfrm>
          <a:prstGeom prst="rect">
            <a:avLst/>
          </a:prstGeom>
        </p:spPr>
      </p:pic>
      <p:pic>
        <p:nvPicPr>
          <p:cNvPr id="8194" name="Picture 2">
            <a:extLst>
              <a:ext uri="{FF2B5EF4-FFF2-40B4-BE49-F238E27FC236}">
                <a16:creationId xmlns:a16="http://schemas.microsoft.com/office/drawing/2014/main" id="{02EC8AC3-5B3E-4A8E-8CA7-29ED7191ED4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685060" y="2506662"/>
            <a:ext cx="3913073" cy="43513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91288CB-5294-4D30-A95E-E4B3EDD86FEC}"/>
              </a:ext>
            </a:extLst>
          </p:cNvPr>
          <p:cNvPicPr>
            <a:picLocks noChangeAspect="1"/>
          </p:cNvPicPr>
          <p:nvPr/>
        </p:nvPicPr>
        <p:blipFill>
          <a:blip r:embed="rId4"/>
          <a:stretch>
            <a:fillRect/>
          </a:stretch>
        </p:blipFill>
        <p:spPr>
          <a:xfrm>
            <a:off x="136931" y="2546666"/>
            <a:ext cx="6566019" cy="2491055"/>
          </a:xfrm>
          <a:prstGeom prst="rect">
            <a:avLst/>
          </a:prstGeom>
        </p:spPr>
      </p:pic>
      <p:sp>
        <p:nvSpPr>
          <p:cNvPr id="6" name="TextBox 5">
            <a:extLst>
              <a:ext uri="{FF2B5EF4-FFF2-40B4-BE49-F238E27FC236}">
                <a16:creationId xmlns:a16="http://schemas.microsoft.com/office/drawing/2014/main" id="{15464576-6164-41FC-B8DA-B7E98E51D6D4}"/>
              </a:ext>
            </a:extLst>
          </p:cNvPr>
          <p:cNvSpPr txBox="1"/>
          <p:nvPr/>
        </p:nvSpPr>
        <p:spPr>
          <a:xfrm>
            <a:off x="1981864" y="5037721"/>
            <a:ext cx="6094674" cy="369332"/>
          </a:xfrm>
          <a:prstGeom prst="rect">
            <a:avLst/>
          </a:prstGeom>
          <a:noFill/>
        </p:spPr>
        <p:txBody>
          <a:bodyPr wrap="square">
            <a:spAutoFit/>
          </a:bodyPr>
          <a:lstStyle/>
          <a:p>
            <a:r>
              <a:rPr lang="en-US" dirty="0"/>
              <a:t>Head 	       tail 	         tail  	         head</a:t>
            </a:r>
            <a:endParaRPr lang="en-IN" dirty="0"/>
          </a:p>
        </p:txBody>
      </p:sp>
    </p:spTree>
    <p:extLst>
      <p:ext uri="{BB962C8B-B14F-4D97-AF65-F5344CB8AC3E}">
        <p14:creationId xmlns:p14="http://schemas.microsoft.com/office/powerpoint/2010/main" val="376203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5EC6-A862-407C-9678-ED5CD14A4BFC}"/>
              </a:ext>
            </a:extLst>
          </p:cNvPr>
          <p:cNvSpPr>
            <a:spLocks noGrp="1"/>
          </p:cNvSpPr>
          <p:nvPr>
            <p:ph type="title"/>
          </p:nvPr>
        </p:nvSpPr>
        <p:spPr/>
        <p:txBody>
          <a:bodyPr/>
          <a:lstStyle/>
          <a:p>
            <a:endParaRPr lang="en-IN"/>
          </a:p>
        </p:txBody>
      </p:sp>
      <p:pic>
        <p:nvPicPr>
          <p:cNvPr id="5122" name="Picture 2">
            <a:extLst>
              <a:ext uri="{FF2B5EF4-FFF2-40B4-BE49-F238E27FC236}">
                <a16:creationId xmlns:a16="http://schemas.microsoft.com/office/drawing/2014/main" id="{BF7A5A37-E8C9-4816-B9F6-D28AC3D8D12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66168" y="754739"/>
            <a:ext cx="5668308" cy="58043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FFF1200-7887-44E1-9D69-8A41A40523E5}"/>
              </a:ext>
            </a:extLst>
          </p:cNvPr>
          <p:cNvPicPr>
            <a:picLocks noChangeAspect="1"/>
          </p:cNvPicPr>
          <p:nvPr/>
        </p:nvPicPr>
        <p:blipFill>
          <a:blip r:embed="rId3"/>
          <a:stretch>
            <a:fillRect/>
          </a:stretch>
        </p:blipFill>
        <p:spPr>
          <a:xfrm>
            <a:off x="751832" y="1857430"/>
            <a:ext cx="4986359" cy="1891754"/>
          </a:xfrm>
          <a:prstGeom prst="rect">
            <a:avLst/>
          </a:prstGeom>
        </p:spPr>
      </p:pic>
      <p:sp>
        <p:nvSpPr>
          <p:cNvPr id="7" name="TextBox 6">
            <a:extLst>
              <a:ext uri="{FF2B5EF4-FFF2-40B4-BE49-F238E27FC236}">
                <a16:creationId xmlns:a16="http://schemas.microsoft.com/office/drawing/2014/main" id="{7E22D72D-7740-4061-A383-99475C3DC624}"/>
              </a:ext>
            </a:extLst>
          </p:cNvPr>
          <p:cNvSpPr txBox="1"/>
          <p:nvPr/>
        </p:nvSpPr>
        <p:spPr>
          <a:xfrm>
            <a:off x="2132938" y="3848433"/>
            <a:ext cx="6094674" cy="369332"/>
          </a:xfrm>
          <a:prstGeom prst="rect">
            <a:avLst/>
          </a:prstGeom>
          <a:noFill/>
        </p:spPr>
        <p:txBody>
          <a:bodyPr wrap="square">
            <a:spAutoFit/>
          </a:bodyPr>
          <a:lstStyle/>
          <a:p>
            <a:r>
              <a:rPr lang="en-US" dirty="0"/>
              <a:t>Head 	tail 	tail  	head</a:t>
            </a:r>
            <a:endParaRPr lang="en-IN" dirty="0"/>
          </a:p>
        </p:txBody>
      </p:sp>
      <p:pic>
        <p:nvPicPr>
          <p:cNvPr id="3" name="Picture 2">
            <a:extLst>
              <a:ext uri="{FF2B5EF4-FFF2-40B4-BE49-F238E27FC236}">
                <a16:creationId xmlns:a16="http://schemas.microsoft.com/office/drawing/2014/main" id="{E0A5C459-D68F-4D12-8847-7C205711506B}"/>
              </a:ext>
            </a:extLst>
          </p:cNvPr>
          <p:cNvPicPr>
            <a:picLocks noChangeAspect="1"/>
          </p:cNvPicPr>
          <p:nvPr/>
        </p:nvPicPr>
        <p:blipFill>
          <a:blip r:embed="rId4"/>
          <a:stretch>
            <a:fillRect/>
          </a:stretch>
        </p:blipFill>
        <p:spPr>
          <a:xfrm>
            <a:off x="1320656" y="4340616"/>
            <a:ext cx="4334632" cy="2188654"/>
          </a:xfrm>
          <a:prstGeom prst="rect">
            <a:avLst/>
          </a:prstGeom>
        </p:spPr>
      </p:pic>
    </p:spTree>
    <p:extLst>
      <p:ext uri="{BB962C8B-B14F-4D97-AF65-F5344CB8AC3E}">
        <p14:creationId xmlns:p14="http://schemas.microsoft.com/office/powerpoint/2010/main" val="3127001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C316A-F0F2-4BE6-95A7-2AE6B670C1DE}"/>
              </a:ext>
            </a:extLst>
          </p:cNvPr>
          <p:cNvSpPr>
            <a:spLocks noGrp="1"/>
          </p:cNvSpPr>
          <p:nvPr>
            <p:ph type="title"/>
          </p:nvPr>
        </p:nvSpPr>
        <p:spPr/>
        <p:txBody>
          <a:bodyPr/>
          <a:lstStyle/>
          <a:p>
            <a:endParaRPr lang="en-IN"/>
          </a:p>
        </p:txBody>
      </p:sp>
      <p:pic>
        <p:nvPicPr>
          <p:cNvPr id="4" name="Picture 4">
            <a:extLst>
              <a:ext uri="{FF2B5EF4-FFF2-40B4-BE49-F238E27FC236}">
                <a16:creationId xmlns:a16="http://schemas.microsoft.com/office/drawing/2014/main" id="{80FA73C6-638B-4277-A5E8-E0419AF1E0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60356" y="2016457"/>
            <a:ext cx="6005395" cy="43513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6AC19D6-E8ED-4CA1-849C-490000AC99D0}"/>
              </a:ext>
            </a:extLst>
          </p:cNvPr>
          <p:cNvPicPr>
            <a:picLocks noChangeAspect="1"/>
          </p:cNvPicPr>
          <p:nvPr/>
        </p:nvPicPr>
        <p:blipFill>
          <a:blip r:embed="rId3"/>
          <a:stretch>
            <a:fillRect/>
          </a:stretch>
        </p:blipFill>
        <p:spPr>
          <a:xfrm>
            <a:off x="1172154" y="3475329"/>
            <a:ext cx="4986359" cy="1891754"/>
          </a:xfrm>
          <a:prstGeom prst="rect">
            <a:avLst/>
          </a:prstGeom>
        </p:spPr>
      </p:pic>
      <p:sp>
        <p:nvSpPr>
          <p:cNvPr id="6" name="TextBox 5">
            <a:extLst>
              <a:ext uri="{FF2B5EF4-FFF2-40B4-BE49-F238E27FC236}">
                <a16:creationId xmlns:a16="http://schemas.microsoft.com/office/drawing/2014/main" id="{E216804F-1621-49FF-B0A9-1BC45B0AF9B2}"/>
              </a:ext>
            </a:extLst>
          </p:cNvPr>
          <p:cNvSpPr txBox="1"/>
          <p:nvPr/>
        </p:nvSpPr>
        <p:spPr>
          <a:xfrm>
            <a:off x="1958010" y="5474617"/>
            <a:ext cx="6094674" cy="369332"/>
          </a:xfrm>
          <a:prstGeom prst="rect">
            <a:avLst/>
          </a:prstGeom>
          <a:noFill/>
        </p:spPr>
        <p:txBody>
          <a:bodyPr wrap="square">
            <a:spAutoFit/>
          </a:bodyPr>
          <a:lstStyle/>
          <a:p>
            <a:r>
              <a:rPr lang="en-US" dirty="0"/>
              <a:t>Head 	tail 	tail  	head</a:t>
            </a:r>
            <a:endParaRPr lang="en-IN" dirty="0"/>
          </a:p>
        </p:txBody>
      </p:sp>
      <p:sp>
        <p:nvSpPr>
          <p:cNvPr id="7" name="TextBox 6">
            <a:extLst>
              <a:ext uri="{FF2B5EF4-FFF2-40B4-BE49-F238E27FC236}">
                <a16:creationId xmlns:a16="http://schemas.microsoft.com/office/drawing/2014/main" id="{AD61055B-D5E5-4359-9A33-826F4D60F692}"/>
              </a:ext>
            </a:extLst>
          </p:cNvPr>
          <p:cNvSpPr txBox="1"/>
          <p:nvPr/>
        </p:nvSpPr>
        <p:spPr>
          <a:xfrm>
            <a:off x="2047445" y="5903751"/>
            <a:ext cx="3777114" cy="369332"/>
          </a:xfrm>
          <a:prstGeom prst="rect">
            <a:avLst/>
          </a:prstGeom>
          <a:noFill/>
        </p:spPr>
        <p:txBody>
          <a:bodyPr wrap="square" rtlCol="0">
            <a:spAutoFit/>
          </a:bodyPr>
          <a:lstStyle/>
          <a:p>
            <a:r>
              <a:rPr lang="en-US" dirty="0"/>
              <a:t> C1         </a:t>
            </a:r>
            <a:r>
              <a:rPr lang="en-US" dirty="0" err="1"/>
              <a:t>C1</a:t>
            </a:r>
            <a:r>
              <a:rPr lang="en-US" dirty="0"/>
              <a:t>            </a:t>
            </a:r>
            <a:r>
              <a:rPr lang="en-US" dirty="0" err="1"/>
              <a:t>C1</a:t>
            </a:r>
            <a:r>
              <a:rPr lang="en-US" dirty="0"/>
              <a:t>               </a:t>
            </a:r>
            <a:r>
              <a:rPr lang="en-US" dirty="0" err="1"/>
              <a:t>C1</a:t>
            </a:r>
            <a:endParaRPr lang="en-IN" dirty="0"/>
          </a:p>
        </p:txBody>
      </p:sp>
      <p:pic>
        <p:nvPicPr>
          <p:cNvPr id="8" name="Picture 7">
            <a:extLst>
              <a:ext uri="{FF2B5EF4-FFF2-40B4-BE49-F238E27FC236}">
                <a16:creationId xmlns:a16="http://schemas.microsoft.com/office/drawing/2014/main" id="{261BCA00-394A-460B-8C3C-B7ED5443EE6D}"/>
              </a:ext>
            </a:extLst>
          </p:cNvPr>
          <p:cNvPicPr>
            <a:picLocks noChangeAspect="1"/>
          </p:cNvPicPr>
          <p:nvPr/>
        </p:nvPicPr>
        <p:blipFill>
          <a:blip r:embed="rId4"/>
          <a:stretch>
            <a:fillRect/>
          </a:stretch>
        </p:blipFill>
        <p:spPr>
          <a:xfrm>
            <a:off x="1348939" y="1089658"/>
            <a:ext cx="4334632" cy="2188654"/>
          </a:xfrm>
          <a:prstGeom prst="rect">
            <a:avLst/>
          </a:prstGeom>
        </p:spPr>
      </p:pic>
    </p:spTree>
    <p:extLst>
      <p:ext uri="{BB962C8B-B14F-4D97-AF65-F5344CB8AC3E}">
        <p14:creationId xmlns:p14="http://schemas.microsoft.com/office/powerpoint/2010/main" val="2763836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69BE5-F69B-4E7C-BEB7-F614E0801746}"/>
              </a:ext>
            </a:extLst>
          </p:cNvPr>
          <p:cNvSpPr>
            <a:spLocks noGrp="1"/>
          </p:cNvSpPr>
          <p:nvPr>
            <p:ph type="title"/>
          </p:nvPr>
        </p:nvSpPr>
        <p:spPr/>
        <p:txBody>
          <a:bodyPr/>
          <a:lstStyle/>
          <a:p>
            <a:r>
              <a:rPr lang="en-IN" b="1" dirty="0"/>
              <a:t>References</a:t>
            </a:r>
          </a:p>
        </p:txBody>
      </p:sp>
      <p:sp>
        <p:nvSpPr>
          <p:cNvPr id="3" name="Content Placeholder 2">
            <a:extLst>
              <a:ext uri="{FF2B5EF4-FFF2-40B4-BE49-F238E27FC236}">
                <a16:creationId xmlns:a16="http://schemas.microsoft.com/office/drawing/2014/main" id="{9A7014BE-D4A7-4EEC-8B5E-87D9BF0D0D82}"/>
              </a:ext>
            </a:extLst>
          </p:cNvPr>
          <p:cNvSpPr>
            <a:spLocks noGrp="1"/>
          </p:cNvSpPr>
          <p:nvPr>
            <p:ph idx="1"/>
          </p:nvPr>
        </p:nvSpPr>
        <p:spPr/>
        <p:txBody>
          <a:bodyPr/>
          <a:lstStyle/>
          <a:p>
            <a:r>
              <a:rPr lang="en-IN" dirty="0">
                <a:hlinkClick r:id="rId2"/>
              </a:rPr>
              <a:t>Hidden Markov Models with Viterbi Algorithm… | by </a:t>
            </a:r>
            <a:r>
              <a:rPr lang="en-IN" dirty="0" err="1">
                <a:hlinkClick r:id="rId2"/>
              </a:rPr>
              <a:t>shashika</a:t>
            </a:r>
            <a:r>
              <a:rPr lang="en-IN" dirty="0">
                <a:hlinkClick r:id="rId2"/>
              </a:rPr>
              <a:t> </a:t>
            </a:r>
            <a:r>
              <a:rPr lang="en-IN" dirty="0" err="1">
                <a:hlinkClick r:id="rId2"/>
              </a:rPr>
              <a:t>dilhani</a:t>
            </a:r>
            <a:r>
              <a:rPr lang="en-IN" dirty="0">
                <a:hlinkClick r:id="rId2"/>
              </a:rPr>
              <a:t> | Medium</a:t>
            </a:r>
            <a:endParaRPr lang="en-IN" dirty="0"/>
          </a:p>
          <a:p>
            <a:r>
              <a:rPr lang="en-IN">
                <a:hlinkClick r:id="rId3"/>
              </a:rPr>
              <a:t>Viterbi Algorithm | HMM | Solved Decoding Example - YouTube</a:t>
            </a:r>
            <a:endParaRPr lang="en-IN" dirty="0"/>
          </a:p>
          <a:p>
            <a:endParaRPr lang="en-IN" dirty="0"/>
          </a:p>
        </p:txBody>
      </p:sp>
    </p:spTree>
    <p:extLst>
      <p:ext uri="{BB962C8B-B14F-4D97-AF65-F5344CB8AC3E}">
        <p14:creationId xmlns:p14="http://schemas.microsoft.com/office/powerpoint/2010/main" val="1788187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4391</TotalTime>
  <Words>1135</Words>
  <Application>Microsoft Office PowerPoint</Application>
  <PresentationFormat>Widescreen</PresentationFormat>
  <Paragraphs>132</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vt:lpstr>
      <vt:lpstr>Calibri</vt:lpstr>
      <vt:lpstr>Calibri Light</vt:lpstr>
      <vt:lpstr>Cambria Math</vt:lpstr>
      <vt:lpstr>charter</vt:lpstr>
      <vt:lpstr>sohne</vt:lpstr>
      <vt:lpstr>Office Theme</vt:lpstr>
      <vt:lpstr>Hidden Markov Model with Viterbi Algorithm </vt:lpstr>
      <vt:lpstr>Viterbi algorithm</vt:lpstr>
      <vt:lpstr>PowerPoint Presentation</vt:lpstr>
      <vt:lpstr>What is the Viterbi Algorithm? </vt:lpstr>
      <vt:lpstr>Transition and Emission matrix</vt:lpstr>
      <vt:lpstr>PowerPoint Presentation</vt:lpstr>
      <vt:lpstr>PowerPoint Presentation</vt:lpstr>
      <vt:lpstr>Steps of Viterbi algorithm (important)</vt:lpstr>
      <vt:lpstr>PowerPoint Presentation</vt:lpstr>
      <vt:lpstr>PowerPoint Presentation</vt:lpstr>
      <vt:lpstr>PowerPoint Presentation</vt:lpstr>
      <vt:lpstr>PowerPoint Presentation</vt:lpstr>
      <vt:lpstr>PowerPoint Presentation</vt:lpstr>
      <vt:lpstr>PowerPoint Presentation</vt:lpstr>
      <vt:lpstr>Another example</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Hidden Markov Models with Viterbi Algorithm</dc:title>
  <dc:creator>kriti ohri</dc:creator>
  <cp:lastModifiedBy>Kriti Ohri</cp:lastModifiedBy>
  <cp:revision>9</cp:revision>
  <dcterms:created xsi:type="dcterms:W3CDTF">2021-12-29T19:12:25Z</dcterms:created>
  <dcterms:modified xsi:type="dcterms:W3CDTF">2024-11-17T03:20:17Z</dcterms:modified>
</cp:coreProperties>
</file>