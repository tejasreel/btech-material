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305" r:id="rId3"/>
    <p:sldId id="293" r:id="rId4"/>
    <p:sldId id="306" r:id="rId5"/>
    <p:sldId id="257" r:id="rId6"/>
    <p:sldId id="300" r:id="rId7"/>
    <p:sldId id="301" r:id="rId8"/>
    <p:sldId id="303" r:id="rId9"/>
    <p:sldId id="304" r:id="rId10"/>
    <p:sldId id="294" r:id="rId11"/>
    <p:sldId id="295" r:id="rId12"/>
    <p:sldId id="296" r:id="rId13"/>
    <p:sldId id="259" r:id="rId14"/>
    <p:sldId id="260" r:id="rId15"/>
    <p:sldId id="292" r:id="rId16"/>
    <p:sldId id="261" r:id="rId17"/>
    <p:sldId id="268" r:id="rId18"/>
    <p:sldId id="269" r:id="rId19"/>
    <p:sldId id="258" r:id="rId20"/>
    <p:sldId id="270" r:id="rId21"/>
    <p:sldId id="271" r:id="rId22"/>
    <p:sldId id="282" r:id="rId23"/>
    <p:sldId id="283" r:id="rId24"/>
    <p:sldId id="284" r:id="rId25"/>
    <p:sldId id="279" r:id="rId26"/>
    <p:sldId id="297" r:id="rId27"/>
    <p:sldId id="298" r:id="rId28"/>
    <p:sldId id="299" r:id="rId29"/>
    <p:sldId id="278" r:id="rId30"/>
    <p:sldId id="277" r:id="rId31"/>
    <p:sldId id="285" r:id="rId32"/>
    <p:sldId id="286" r:id="rId33"/>
    <p:sldId id="287" r:id="rId34"/>
    <p:sldId id="288" r:id="rId35"/>
    <p:sldId id="289" r:id="rId36"/>
    <p:sldId id="290" r:id="rId37"/>
    <p:sldId id="291" r:id="rId38"/>
    <p:sldId id="28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51" autoAdjust="0"/>
  </p:normalViewPr>
  <p:slideViewPr>
    <p:cSldViewPr snapToGrid="0">
      <p:cViewPr varScale="1">
        <p:scale>
          <a:sx n="78" d="100"/>
          <a:sy n="78" d="100"/>
        </p:scale>
        <p:origin x="878" y="62"/>
      </p:cViewPr>
      <p:guideLst/>
    </p:cSldViewPr>
  </p:slideViewPr>
  <p:outlineViewPr>
    <p:cViewPr>
      <p:scale>
        <a:sx n="33" d="100"/>
        <a:sy n="33" d="100"/>
      </p:scale>
      <p:origin x="0" y="-355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F1C25D-5A00-4359-AFBA-6CDFCFF9E0E1}" type="datetimeFigureOut">
              <a:rPr lang="en-IN" smtClean="0"/>
              <a:t>17-11-2024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7C7E2C-F91B-4DF1-AC3D-32A13D49C238}" type="slidenum">
              <a:rPr lang="en-IN" smtClean="0"/>
              <a:t>‹#›</a:t>
            </a:fld>
            <a:endParaRPr lang="en-IN"/>
          </a:p>
        </p:txBody>
      </p:sp>
    </p:spTree>
    <p:extLst>
      <p:ext uri="{BB962C8B-B14F-4D97-AF65-F5344CB8AC3E}">
        <p14:creationId xmlns:p14="http://schemas.microsoft.com/office/powerpoint/2010/main" val="4207578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7C7E2C-F91B-4DF1-AC3D-32A13D49C238}" type="slidenum">
              <a:rPr lang="en-IN" smtClean="0"/>
              <a:t>17</a:t>
            </a:fld>
            <a:endParaRPr lang="en-IN"/>
          </a:p>
        </p:txBody>
      </p:sp>
    </p:spTree>
    <p:extLst>
      <p:ext uri="{BB962C8B-B14F-4D97-AF65-F5344CB8AC3E}">
        <p14:creationId xmlns:p14="http://schemas.microsoft.com/office/powerpoint/2010/main" val="2674933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7C7E2C-F91B-4DF1-AC3D-32A13D49C238}" type="slidenum">
              <a:rPr lang="en-IN" smtClean="0"/>
              <a:t>26</a:t>
            </a:fld>
            <a:endParaRPr lang="en-IN"/>
          </a:p>
        </p:txBody>
      </p:sp>
    </p:spTree>
    <p:extLst>
      <p:ext uri="{BB962C8B-B14F-4D97-AF65-F5344CB8AC3E}">
        <p14:creationId xmlns:p14="http://schemas.microsoft.com/office/powerpoint/2010/main" val="2305701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3E4FD-0AF9-4B6D-A042-A175B01005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71B219-C470-48D4-8923-461AAB9B45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3DA3836-4349-41BA-8CE6-CD8277F7DB5C}"/>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5" name="Footer Placeholder 4">
            <a:extLst>
              <a:ext uri="{FF2B5EF4-FFF2-40B4-BE49-F238E27FC236}">
                <a16:creationId xmlns:a16="http://schemas.microsoft.com/office/drawing/2014/main" id="{A433F782-68E2-46E6-9704-31B7B1F0B1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3AF7D7-AC21-4106-9627-5BA47173D437}"/>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3626386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E083D-872F-43EB-B07A-43388B6136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1C51C3-EBE5-4694-AFFC-29137B4BB9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3E614E-882A-46B0-843C-DA7E4A4EB835}"/>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5" name="Footer Placeholder 4">
            <a:extLst>
              <a:ext uri="{FF2B5EF4-FFF2-40B4-BE49-F238E27FC236}">
                <a16:creationId xmlns:a16="http://schemas.microsoft.com/office/drawing/2014/main" id="{E8587302-2513-447F-818F-1A221210CA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FC7D3C-AFA4-49C2-93A2-68827784E2FF}"/>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86403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1A3E6-08DA-4971-ADED-640914AF16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201DF1-4380-4ACB-8A3A-6C4DEBCDEE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158FFD-8512-45B1-BBFE-5EF389927B92}"/>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5" name="Footer Placeholder 4">
            <a:extLst>
              <a:ext uri="{FF2B5EF4-FFF2-40B4-BE49-F238E27FC236}">
                <a16:creationId xmlns:a16="http://schemas.microsoft.com/office/drawing/2014/main" id="{23FBA646-4BE5-4A67-8299-E00B46EE87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EE8537-BF5C-4456-A0AE-179409E4376F}"/>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826906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8553-1833-4CE0-A43A-D2FA5E2B46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6CD248-86B2-43DA-B40D-1B6115AC8F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E037E1-DB67-4F2B-9AC6-92318EF278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C11535-64E7-41DC-9A1D-2430BC6C1E70}"/>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6" name="Footer Placeholder 5">
            <a:extLst>
              <a:ext uri="{FF2B5EF4-FFF2-40B4-BE49-F238E27FC236}">
                <a16:creationId xmlns:a16="http://schemas.microsoft.com/office/drawing/2014/main" id="{53CA2349-76B6-4337-9DB3-76239D1B2D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A23F9E-C610-42C3-9233-ED0C6DBA1BAD}"/>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2034655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5CFD2-91A8-46A3-9864-935ABFE0A91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331CEF-A530-41D9-9737-4F0BFCC974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A6D04C-49C8-4D91-BED4-C4A2AF220B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6A6D26-EC09-4BAE-B4F2-8D17A4A1F7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AC960C-73AE-4BE6-B860-EA006EBA3F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9DC408-9D0E-405C-BA8C-C2A3AC640A73}"/>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8" name="Footer Placeholder 7">
            <a:extLst>
              <a:ext uri="{FF2B5EF4-FFF2-40B4-BE49-F238E27FC236}">
                <a16:creationId xmlns:a16="http://schemas.microsoft.com/office/drawing/2014/main" id="{1A324982-B4AA-4755-918B-62710F37FA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3053E6-A53A-4F50-B278-1AC515967975}"/>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3058691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46B42-E6F9-457A-BF8C-E0495ABEB4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A5ECF3-3119-44C6-A710-83F481F27FE7}"/>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4" name="Footer Placeholder 3">
            <a:extLst>
              <a:ext uri="{FF2B5EF4-FFF2-40B4-BE49-F238E27FC236}">
                <a16:creationId xmlns:a16="http://schemas.microsoft.com/office/drawing/2014/main" id="{3C9A9A82-8B83-464A-88A0-1B0103616D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1F3A567-E42D-4148-B0A1-A1E4912F18FE}"/>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4115183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8234B5-883D-4478-ACF9-3AA02937FD80}"/>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3" name="Footer Placeholder 2">
            <a:extLst>
              <a:ext uri="{FF2B5EF4-FFF2-40B4-BE49-F238E27FC236}">
                <a16:creationId xmlns:a16="http://schemas.microsoft.com/office/drawing/2014/main" id="{EACD617A-AF0A-4531-A4EE-166C3F74B88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D9CEAC-39BB-4F8D-95F2-0E79BDDED051}"/>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398086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F5AE2-3808-441E-9BEE-0811A85E6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93FB9A-3454-4301-A57E-32BCA774E1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D1E959-86E3-4EA6-A764-08414617C1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562880-FDA5-4C80-90F4-57CF9E40CCD6}"/>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6" name="Footer Placeholder 5">
            <a:extLst>
              <a:ext uri="{FF2B5EF4-FFF2-40B4-BE49-F238E27FC236}">
                <a16:creationId xmlns:a16="http://schemas.microsoft.com/office/drawing/2014/main" id="{277E735E-35C9-4493-B350-488EE4309C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841326-D58A-4348-BD33-30A517B26EDD}"/>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63385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E357E-4082-4C7D-BC8F-59673A657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2538DB-7F31-4934-816F-6824BD6FF2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C2125B-1B1F-44FE-B9F8-CA8A18C7B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BACE8-15B4-4D73-84E8-9001E88737AD}"/>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6" name="Footer Placeholder 5">
            <a:extLst>
              <a:ext uri="{FF2B5EF4-FFF2-40B4-BE49-F238E27FC236}">
                <a16:creationId xmlns:a16="http://schemas.microsoft.com/office/drawing/2014/main" id="{F17BE566-590F-4939-B02C-ECBB59969C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2B919F-2A81-4C3C-94AE-EE221627BD66}"/>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924073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7A6A-AF7B-4AE4-9C61-52B578F5362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A5BA83-A466-45FC-9BB7-1D15A5E9B9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B49716-C874-4CC6-A6E1-D3B4979FE9D7}"/>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5" name="Footer Placeholder 4">
            <a:extLst>
              <a:ext uri="{FF2B5EF4-FFF2-40B4-BE49-F238E27FC236}">
                <a16:creationId xmlns:a16="http://schemas.microsoft.com/office/drawing/2014/main" id="{51A79B95-2253-4492-86C1-BA325B213C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E4C3B7-662B-486C-A0B7-4BE2710804BE}"/>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3379699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D5CE5B-BBCE-41D5-8456-FBA74B6EDB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5C025E-FC2C-451C-AC6F-C1C511DD23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6E39D2-AC3F-4212-9635-DB51EF3F56EA}"/>
              </a:ext>
            </a:extLst>
          </p:cNvPr>
          <p:cNvSpPr>
            <a:spLocks noGrp="1"/>
          </p:cNvSpPr>
          <p:nvPr>
            <p:ph type="dt" sz="half" idx="10"/>
          </p:nvPr>
        </p:nvSpPr>
        <p:spPr/>
        <p:txBody>
          <a:bodyPr/>
          <a:lstStyle/>
          <a:p>
            <a:fld id="{9FAD213A-76DE-4928-8FEC-669CFD1BE11E}" type="datetimeFigureOut">
              <a:rPr lang="en-IN" smtClean="0"/>
              <a:t>17-11-2024</a:t>
            </a:fld>
            <a:endParaRPr lang="en-IN"/>
          </a:p>
        </p:txBody>
      </p:sp>
      <p:sp>
        <p:nvSpPr>
          <p:cNvPr id="5" name="Footer Placeholder 4">
            <a:extLst>
              <a:ext uri="{FF2B5EF4-FFF2-40B4-BE49-F238E27FC236}">
                <a16:creationId xmlns:a16="http://schemas.microsoft.com/office/drawing/2014/main" id="{680E99E0-CFB9-450B-9174-A3B8F42729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923863-341D-4BE1-8F70-0C8DF55BD6A8}"/>
              </a:ext>
            </a:extLst>
          </p:cNvPr>
          <p:cNvSpPr>
            <a:spLocks noGrp="1"/>
          </p:cNvSpPr>
          <p:nvPr>
            <p:ph type="sldNum" sz="quarter" idx="12"/>
          </p:nvPr>
        </p:nvSpPr>
        <p:spPr/>
        <p:txBody>
          <a:bodyPr/>
          <a:lstStyle/>
          <a:p>
            <a:fld id="{940ADDB3-D9C7-4FAB-880C-F5E3AA058B1C}" type="slidenum">
              <a:rPr lang="en-IN" smtClean="0"/>
              <a:t>‹#›</a:t>
            </a:fld>
            <a:endParaRPr lang="en-IN"/>
          </a:p>
        </p:txBody>
      </p:sp>
    </p:spTree>
    <p:extLst>
      <p:ext uri="{BB962C8B-B14F-4D97-AF65-F5344CB8AC3E}">
        <p14:creationId xmlns:p14="http://schemas.microsoft.com/office/powerpoint/2010/main" val="1667320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DC0F8-7114-4EFA-BFD3-14065B194B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6078CF-D5B9-4596-9B55-33C2B99BEE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59D045-BB74-40D6-89E8-01879CCABD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AD213A-76DE-4928-8FEC-669CFD1BE11E}" type="datetimeFigureOut">
              <a:rPr lang="en-IN" smtClean="0"/>
              <a:t>17-11-2024</a:t>
            </a:fld>
            <a:endParaRPr lang="en-IN"/>
          </a:p>
        </p:txBody>
      </p:sp>
      <p:sp>
        <p:nvSpPr>
          <p:cNvPr id="5" name="Footer Placeholder 4">
            <a:extLst>
              <a:ext uri="{FF2B5EF4-FFF2-40B4-BE49-F238E27FC236}">
                <a16:creationId xmlns:a16="http://schemas.microsoft.com/office/drawing/2014/main" id="{6846551A-B2FB-4D89-87DF-CD661E2BC3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433DA9F-D71F-4818-89AF-1F9C800F3B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0ADDB3-D9C7-4FAB-880C-F5E3AA058B1C}" type="slidenum">
              <a:rPr lang="en-IN" smtClean="0"/>
              <a:t>‹#›</a:t>
            </a:fld>
            <a:endParaRPr lang="en-IN"/>
          </a:p>
        </p:txBody>
      </p:sp>
    </p:spTree>
    <p:extLst>
      <p:ext uri="{BB962C8B-B14F-4D97-AF65-F5344CB8AC3E}">
        <p14:creationId xmlns:p14="http://schemas.microsoft.com/office/powerpoint/2010/main" val="2276602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7.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hyperlink" Target="https://www.youtube.com/watch?v=IGt8HPRARS0" TargetMode="External"/><Relationship Id="rId2" Type="http://schemas.openxmlformats.org/officeDocument/2006/relationships/hyperlink" Target="https://www.mygreatlearning.com/blog/pos-tagg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15B76-9456-4EC8-B040-5F27B0141AD3}"/>
              </a:ext>
            </a:extLst>
          </p:cNvPr>
          <p:cNvSpPr>
            <a:spLocks noGrp="1"/>
          </p:cNvSpPr>
          <p:nvPr>
            <p:ph type="ctrTitle"/>
          </p:nvPr>
        </p:nvSpPr>
        <p:spPr/>
        <p:txBody>
          <a:bodyPr>
            <a:normAutofit fontScale="90000"/>
          </a:bodyPr>
          <a:lstStyle/>
          <a:p>
            <a:r>
              <a:rPr lang="en-US" dirty="0"/>
              <a:t>Applications of </a:t>
            </a:r>
            <a:r>
              <a:rPr lang="en-US" sz="6000" dirty="0">
                <a:latin typeface="+mj-lt"/>
                <a:ea typeface="+mj-ea"/>
                <a:cs typeface="+mj-cs"/>
              </a:rPr>
              <a:t>Sequence Classification</a:t>
            </a:r>
            <a:br>
              <a:rPr lang="en-US" sz="6000" dirty="0">
                <a:latin typeface="+mj-lt"/>
                <a:ea typeface="+mj-ea"/>
                <a:cs typeface="+mj-cs"/>
              </a:rPr>
            </a:br>
            <a:endParaRPr lang="en-IN" dirty="0"/>
          </a:p>
        </p:txBody>
      </p:sp>
      <p:sp>
        <p:nvSpPr>
          <p:cNvPr id="3" name="Subtitle 2">
            <a:extLst>
              <a:ext uri="{FF2B5EF4-FFF2-40B4-BE49-F238E27FC236}">
                <a16:creationId xmlns:a16="http://schemas.microsoft.com/office/drawing/2014/main" id="{A0E94C26-2F67-43AD-991C-F3691CA6B8F5}"/>
              </a:ext>
            </a:extLst>
          </p:cNvPr>
          <p:cNvSpPr>
            <a:spLocks noGrp="1"/>
          </p:cNvSpPr>
          <p:nvPr>
            <p:ph type="subTitle" idx="1"/>
          </p:nvPr>
        </p:nvSpPr>
        <p:spPr/>
        <p:txBody>
          <a:bodyPr>
            <a:normAutofit/>
          </a:bodyPr>
          <a:lstStyle/>
          <a:p>
            <a:r>
              <a:rPr lang="en-US" sz="5400" dirty="0">
                <a:latin typeface="+mj-lt"/>
                <a:ea typeface="+mj-ea"/>
                <a:cs typeface="+mj-cs"/>
              </a:rPr>
              <a:t>(Parts of speech)</a:t>
            </a:r>
            <a:endParaRPr lang="en-IN" sz="5400" dirty="0">
              <a:latin typeface="+mj-lt"/>
              <a:ea typeface="+mj-ea"/>
              <a:cs typeface="+mj-cs"/>
            </a:endParaRPr>
          </a:p>
        </p:txBody>
      </p:sp>
    </p:spTree>
    <p:extLst>
      <p:ext uri="{BB962C8B-B14F-4D97-AF65-F5344CB8AC3E}">
        <p14:creationId xmlns:p14="http://schemas.microsoft.com/office/powerpoint/2010/main" val="316288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8F6D-2340-AA4A-F81C-370CBB94E3EC}"/>
              </a:ext>
            </a:extLst>
          </p:cNvPr>
          <p:cNvSpPr>
            <a:spLocks noGrp="1"/>
          </p:cNvSpPr>
          <p:nvPr>
            <p:ph type="title"/>
          </p:nvPr>
        </p:nvSpPr>
        <p:spPr/>
        <p:txBody>
          <a:bodyPr/>
          <a:lstStyle/>
          <a:p>
            <a:r>
              <a:rPr lang="en-US" sz="4400" b="1" dirty="0">
                <a:latin typeface="+mj-lt"/>
                <a:ea typeface="+mj-ea"/>
                <a:cs typeface="+mj-cs"/>
              </a:rPr>
              <a:t>Sequence Classification</a:t>
            </a:r>
            <a:endParaRPr lang="en-IN" b="1" dirty="0"/>
          </a:p>
        </p:txBody>
      </p:sp>
      <p:sp>
        <p:nvSpPr>
          <p:cNvPr id="3" name="Content Placeholder 2">
            <a:extLst>
              <a:ext uri="{FF2B5EF4-FFF2-40B4-BE49-F238E27FC236}">
                <a16:creationId xmlns:a16="http://schemas.microsoft.com/office/drawing/2014/main" id="{F4C1BCD0-8C79-892F-4096-D466DFAF6811}"/>
              </a:ext>
            </a:extLst>
          </p:cNvPr>
          <p:cNvSpPr>
            <a:spLocks noGrp="1"/>
          </p:cNvSpPr>
          <p:nvPr>
            <p:ph idx="1"/>
          </p:nvPr>
        </p:nvSpPr>
        <p:spPr/>
        <p:txBody>
          <a:bodyPr/>
          <a:lstStyle/>
          <a:p>
            <a:r>
              <a:rPr lang="en-US" b="0" i="0" dirty="0">
                <a:solidFill>
                  <a:srgbClr val="555555"/>
                </a:solidFill>
                <a:effectLst/>
                <a:latin typeface="Helvetica Neue"/>
              </a:rPr>
              <a:t>Sequence classification is a predictive modeling problem where you have some sequence of inputs over space or time, and the task is to predict a category for the sequence.</a:t>
            </a:r>
            <a:endParaRPr lang="en-IN" dirty="0"/>
          </a:p>
        </p:txBody>
      </p:sp>
    </p:spTree>
    <p:extLst>
      <p:ext uri="{BB962C8B-B14F-4D97-AF65-F5344CB8AC3E}">
        <p14:creationId xmlns:p14="http://schemas.microsoft.com/office/powerpoint/2010/main" val="3862719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E65CC-E073-422F-B0B8-BA92217B2C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72B203-4694-4D88-B5AA-1A9CA205E2C1}"/>
              </a:ext>
            </a:extLst>
          </p:cNvPr>
          <p:cNvSpPr>
            <a:spLocks noGrp="1"/>
          </p:cNvSpPr>
          <p:nvPr>
            <p:ph idx="1"/>
          </p:nvPr>
        </p:nvSpPr>
        <p:spPr/>
        <p:txBody>
          <a:bodyPr/>
          <a:lstStyle/>
          <a:p>
            <a:pPr algn="just" fontAlgn="base"/>
            <a:r>
              <a:rPr lang="en-US" dirty="0"/>
              <a:t>Sequence classification is a predictive modeling problem where you have some sequence of inputs over space or time and the task is to predict a category for the sequence.</a:t>
            </a:r>
          </a:p>
          <a:p>
            <a:pPr algn="just" fontAlgn="base"/>
            <a:r>
              <a:rPr lang="en-US" dirty="0"/>
              <a:t>What makes this problem difficult is that the sequences can vary in length, be comprised of a very large vocabulary of input symbols and may require the model to learn the long-term context or dependencies between symbols in the input sequence.</a:t>
            </a:r>
          </a:p>
          <a:p>
            <a:endParaRPr lang="en-IN" dirty="0"/>
          </a:p>
        </p:txBody>
      </p:sp>
    </p:spTree>
    <p:extLst>
      <p:ext uri="{BB962C8B-B14F-4D97-AF65-F5344CB8AC3E}">
        <p14:creationId xmlns:p14="http://schemas.microsoft.com/office/powerpoint/2010/main" val="909724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A36E7-48CA-4CA5-B709-9F1E815E4DF8}"/>
              </a:ext>
            </a:extLst>
          </p:cNvPr>
          <p:cNvSpPr>
            <a:spLocks noGrp="1"/>
          </p:cNvSpPr>
          <p:nvPr>
            <p:ph type="title"/>
          </p:nvPr>
        </p:nvSpPr>
        <p:spPr/>
        <p:txBody>
          <a:bodyPr/>
          <a:lstStyle/>
          <a:p>
            <a:r>
              <a:rPr lang="en-US" dirty="0"/>
              <a:t>Applications</a:t>
            </a:r>
            <a:endParaRPr lang="en-IN" dirty="0"/>
          </a:p>
        </p:txBody>
      </p:sp>
      <p:sp>
        <p:nvSpPr>
          <p:cNvPr id="3" name="Content Placeholder 2">
            <a:extLst>
              <a:ext uri="{FF2B5EF4-FFF2-40B4-BE49-F238E27FC236}">
                <a16:creationId xmlns:a16="http://schemas.microsoft.com/office/drawing/2014/main" id="{45F31052-4F4B-41CB-88B8-5F91EC358AC7}"/>
              </a:ext>
            </a:extLst>
          </p:cNvPr>
          <p:cNvSpPr>
            <a:spLocks noGrp="1"/>
          </p:cNvSpPr>
          <p:nvPr>
            <p:ph idx="1"/>
          </p:nvPr>
        </p:nvSpPr>
        <p:spPr/>
        <p:txBody>
          <a:bodyPr>
            <a:normAutofit/>
          </a:bodyPr>
          <a:lstStyle/>
          <a:p>
            <a:pPr algn="l" fontAlgn="base">
              <a:buFont typeface="Arial" panose="020B0604020202020204" pitchFamily="34" charset="0"/>
              <a:buChar char="•"/>
            </a:pPr>
            <a:r>
              <a:rPr lang="en-IN" dirty="0">
                <a:solidFill>
                  <a:srgbClr val="0C0C0C"/>
                </a:solidFill>
                <a:latin typeface="Tinos"/>
              </a:rPr>
              <a:t>S</a:t>
            </a:r>
            <a:r>
              <a:rPr lang="en-IN" b="0" i="0" dirty="0">
                <a:solidFill>
                  <a:srgbClr val="0C0C0C"/>
                </a:solidFill>
                <a:effectLst/>
                <a:latin typeface="Tinos"/>
              </a:rPr>
              <a:t>peed analysis</a:t>
            </a:r>
          </a:p>
          <a:p>
            <a:pPr algn="l" fontAlgn="base">
              <a:buFont typeface="Arial" panose="020B0604020202020204" pitchFamily="34" charset="0"/>
              <a:buChar char="•"/>
            </a:pPr>
            <a:r>
              <a:rPr lang="en-IN" b="0" i="0" dirty="0">
                <a:solidFill>
                  <a:srgbClr val="FF0000"/>
                </a:solidFill>
                <a:effectLst/>
                <a:latin typeface="Tinos"/>
              </a:rPr>
              <a:t>Speech recognition</a:t>
            </a:r>
          </a:p>
          <a:p>
            <a:pPr algn="l" fontAlgn="base">
              <a:buFont typeface="Arial" panose="020B0604020202020204" pitchFamily="34" charset="0"/>
              <a:buChar char="•"/>
            </a:pPr>
            <a:r>
              <a:rPr lang="en-IN" b="0" i="0" dirty="0">
                <a:solidFill>
                  <a:srgbClr val="FF0000"/>
                </a:solidFill>
                <a:effectLst/>
                <a:latin typeface="Tinos"/>
              </a:rPr>
              <a:t>Part-of-speech tagging</a:t>
            </a:r>
          </a:p>
          <a:p>
            <a:pPr algn="l" fontAlgn="base">
              <a:buFont typeface="Arial" panose="020B0604020202020204" pitchFamily="34" charset="0"/>
              <a:buChar char="•"/>
            </a:pPr>
            <a:r>
              <a:rPr lang="en-IN" b="0" i="0" dirty="0">
                <a:solidFill>
                  <a:srgbClr val="0C0C0C"/>
                </a:solidFill>
                <a:effectLst/>
                <a:latin typeface="Tinos"/>
              </a:rPr>
              <a:t>Machine translation</a:t>
            </a:r>
          </a:p>
          <a:p>
            <a:pPr algn="l" fontAlgn="base">
              <a:buFont typeface="Arial" panose="020B0604020202020204" pitchFamily="34" charset="0"/>
              <a:buChar char="•"/>
            </a:pPr>
            <a:r>
              <a:rPr lang="en-IN" b="0" i="0" dirty="0">
                <a:solidFill>
                  <a:srgbClr val="0C0C0C"/>
                </a:solidFill>
                <a:effectLst/>
                <a:latin typeface="Tinos"/>
              </a:rPr>
              <a:t>Handwriting recognition</a:t>
            </a:r>
          </a:p>
          <a:p>
            <a:pPr algn="l" fontAlgn="base">
              <a:buFont typeface="Arial" panose="020B0604020202020204" pitchFamily="34" charset="0"/>
              <a:buChar char="•"/>
            </a:pPr>
            <a:r>
              <a:rPr lang="en-IN" b="0" i="0" dirty="0">
                <a:solidFill>
                  <a:srgbClr val="0C0C0C"/>
                </a:solidFill>
                <a:effectLst/>
                <a:latin typeface="Tinos"/>
              </a:rPr>
              <a:t>Time series analysis</a:t>
            </a:r>
          </a:p>
          <a:p>
            <a:pPr algn="l" fontAlgn="base">
              <a:buFont typeface="Arial" panose="020B0604020202020204" pitchFamily="34" charset="0"/>
              <a:buChar char="•"/>
            </a:pPr>
            <a:r>
              <a:rPr lang="en-IN" b="0" i="0" dirty="0">
                <a:solidFill>
                  <a:srgbClr val="FF0000"/>
                </a:solidFill>
                <a:effectLst/>
                <a:latin typeface="Tinos"/>
              </a:rPr>
              <a:t>Activity recognition</a:t>
            </a:r>
          </a:p>
          <a:p>
            <a:pPr algn="l" fontAlgn="base">
              <a:buFont typeface="Arial" panose="020B0604020202020204" pitchFamily="34" charset="0"/>
              <a:buChar char="•"/>
            </a:pPr>
            <a:r>
              <a:rPr lang="en-IN" b="0" i="0" dirty="0">
                <a:solidFill>
                  <a:srgbClr val="0C0C0C"/>
                </a:solidFill>
                <a:effectLst/>
                <a:latin typeface="Tinos"/>
              </a:rPr>
              <a:t>Sequence classification</a:t>
            </a:r>
          </a:p>
          <a:p>
            <a:endParaRPr lang="en-IN" dirty="0"/>
          </a:p>
        </p:txBody>
      </p:sp>
    </p:spTree>
    <p:extLst>
      <p:ext uri="{BB962C8B-B14F-4D97-AF65-F5344CB8AC3E}">
        <p14:creationId xmlns:p14="http://schemas.microsoft.com/office/powerpoint/2010/main" val="3685132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3396A-4BFD-44E1-BAFD-0DDA19B86524}"/>
              </a:ext>
            </a:extLst>
          </p:cNvPr>
          <p:cNvSpPr>
            <a:spLocks noGrp="1"/>
          </p:cNvSpPr>
          <p:nvPr>
            <p:ph type="title"/>
          </p:nvPr>
        </p:nvSpPr>
        <p:spPr/>
        <p:txBody>
          <a:bodyPr/>
          <a:lstStyle/>
          <a:p>
            <a:r>
              <a:rPr lang="en-US" b="0" i="0" dirty="0">
                <a:solidFill>
                  <a:srgbClr val="0C0C0C"/>
                </a:solidFill>
                <a:effectLst/>
                <a:latin typeface="Tinos"/>
              </a:rPr>
              <a:t>Hidden Markov Model (HMM)</a:t>
            </a:r>
            <a:endParaRPr lang="en-IN" dirty="0"/>
          </a:p>
        </p:txBody>
      </p:sp>
      <p:sp>
        <p:nvSpPr>
          <p:cNvPr id="3" name="Content Placeholder 2">
            <a:extLst>
              <a:ext uri="{FF2B5EF4-FFF2-40B4-BE49-F238E27FC236}">
                <a16:creationId xmlns:a16="http://schemas.microsoft.com/office/drawing/2014/main" id="{13061961-D08C-4928-9B7C-34E1C61AD45A}"/>
              </a:ext>
            </a:extLst>
          </p:cNvPr>
          <p:cNvSpPr>
            <a:spLocks noGrp="1"/>
          </p:cNvSpPr>
          <p:nvPr>
            <p:ph idx="1"/>
          </p:nvPr>
        </p:nvSpPr>
        <p:spPr/>
        <p:txBody>
          <a:bodyPr>
            <a:normAutofit fontScale="92500"/>
          </a:bodyPr>
          <a:lstStyle/>
          <a:p>
            <a:pPr algn="just"/>
            <a:r>
              <a:rPr lang="en-US" sz="2200" dirty="0">
                <a:solidFill>
                  <a:srgbClr val="0C0C0C"/>
                </a:solidFill>
                <a:latin typeface="Tinos"/>
              </a:rPr>
              <a:t>A Hidden Markov Model (HMM) is a statistical model which is also used in machine learning. It can be used to describe the evolution of observable events that depend on internal factors, which are not directly observable. These are a class of probabilistic graphical models that allow us to predict a sequence of unknown variables from a set of observed variables. We will also discuss the use of HMM for (Parts of Speech tagging)</a:t>
            </a:r>
            <a:r>
              <a:rPr lang="en-US" sz="2200" dirty="0" err="1">
                <a:solidFill>
                  <a:srgbClr val="0C0C0C"/>
                </a:solidFill>
                <a:latin typeface="Tinos"/>
              </a:rPr>
              <a:t>PoS</a:t>
            </a:r>
            <a:r>
              <a:rPr lang="en-US" sz="2200" dirty="0">
                <a:solidFill>
                  <a:srgbClr val="0C0C0C"/>
                </a:solidFill>
                <a:latin typeface="Tinos"/>
              </a:rPr>
              <a:t> in detail. </a:t>
            </a:r>
          </a:p>
          <a:p>
            <a:pPr algn="just"/>
            <a:r>
              <a:rPr lang="en-US" sz="2200" dirty="0">
                <a:solidFill>
                  <a:srgbClr val="0C0C0C"/>
                </a:solidFill>
                <a:latin typeface="Tinos"/>
              </a:rPr>
              <a:t>Mainly used for sequential and temporal data</a:t>
            </a:r>
          </a:p>
          <a:p>
            <a:pPr algn="just"/>
            <a:r>
              <a:rPr lang="en-US" sz="2200" dirty="0">
                <a:solidFill>
                  <a:srgbClr val="0C0C0C"/>
                </a:solidFill>
                <a:latin typeface="Tinos"/>
              </a:rPr>
              <a:t>Simple and powerful </a:t>
            </a:r>
          </a:p>
          <a:p>
            <a:pPr algn="just"/>
            <a:r>
              <a:rPr lang="en-US" sz="2200" dirty="0">
                <a:solidFill>
                  <a:srgbClr val="0C0C0C"/>
                </a:solidFill>
                <a:latin typeface="Tinos"/>
              </a:rPr>
              <a:t>Through HMM we can compute the probability for distribution of event that can be observed. </a:t>
            </a:r>
          </a:p>
          <a:p>
            <a:pPr algn="just"/>
            <a:r>
              <a:rPr lang="en-US" sz="2200" dirty="0">
                <a:solidFill>
                  <a:srgbClr val="0C0C0C"/>
                </a:solidFill>
                <a:latin typeface="Tinos"/>
              </a:rPr>
              <a:t>HMM is based on, Markov process, and Markov chain, Markov property</a:t>
            </a:r>
          </a:p>
          <a:p>
            <a:pPr algn="just"/>
            <a:r>
              <a:rPr lang="en-US" sz="2200" dirty="0">
                <a:solidFill>
                  <a:srgbClr val="0C0C0C"/>
                </a:solidFill>
                <a:latin typeface="Tinos"/>
              </a:rPr>
              <a:t>The Markov property means that evolution of the Markov process in the future depends only on the present state and does not depend on past history. The Markov process does not remember the past if the present state is given. Hence, the Markov process is called the process with memoryless property.</a:t>
            </a:r>
            <a:endParaRPr lang="en-IN" sz="2200" dirty="0">
              <a:solidFill>
                <a:srgbClr val="0C0C0C"/>
              </a:solidFill>
              <a:latin typeface="Tinos"/>
            </a:endParaRPr>
          </a:p>
        </p:txBody>
      </p:sp>
    </p:spTree>
    <p:extLst>
      <p:ext uri="{BB962C8B-B14F-4D97-AF65-F5344CB8AC3E}">
        <p14:creationId xmlns:p14="http://schemas.microsoft.com/office/powerpoint/2010/main" val="2007593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A17A6-D24C-28E1-B6B3-6A57D45105D7}"/>
              </a:ext>
            </a:extLst>
          </p:cNvPr>
          <p:cNvSpPr>
            <a:spLocks noGrp="1"/>
          </p:cNvSpPr>
          <p:nvPr>
            <p:ph type="title"/>
          </p:nvPr>
        </p:nvSpPr>
        <p:spPr/>
        <p:txBody>
          <a:bodyPr/>
          <a:lstStyle/>
          <a:p>
            <a:r>
              <a:rPr lang="en-US" b="1" i="0" dirty="0">
                <a:solidFill>
                  <a:srgbClr val="0C0C0C"/>
                </a:solidFill>
                <a:effectLst/>
                <a:latin typeface="Tinos"/>
              </a:rPr>
              <a:t>Hidden Markov Model</a:t>
            </a:r>
            <a:endParaRPr lang="en-IN" dirty="0"/>
          </a:p>
        </p:txBody>
      </p:sp>
      <p:sp>
        <p:nvSpPr>
          <p:cNvPr id="3" name="Content Placeholder 2">
            <a:extLst>
              <a:ext uri="{FF2B5EF4-FFF2-40B4-BE49-F238E27FC236}">
                <a16:creationId xmlns:a16="http://schemas.microsoft.com/office/drawing/2014/main" id="{E2296AEA-9A48-7599-2BC4-EEEF98BE738F}"/>
              </a:ext>
            </a:extLst>
          </p:cNvPr>
          <p:cNvSpPr>
            <a:spLocks noGrp="1"/>
          </p:cNvSpPr>
          <p:nvPr>
            <p:ph idx="1"/>
          </p:nvPr>
        </p:nvSpPr>
        <p:spPr/>
        <p:txBody>
          <a:bodyPr/>
          <a:lstStyle/>
          <a:p>
            <a:pPr algn="just"/>
            <a:r>
              <a:rPr lang="en-US" dirty="0"/>
              <a:t>The HMM is based on augmenting the Markov chain. A Markov chain is a model that tells us something about the probabilities of sequences of random variables, states, each of which can take on values from some set. These sets can be words, or tags, or symbols representing anything, like the weather. </a:t>
            </a:r>
            <a:r>
              <a:rPr lang="en-US" dirty="0">
                <a:solidFill>
                  <a:srgbClr val="C00000"/>
                </a:solidFill>
              </a:rPr>
              <a:t>A Markov chain makes a very strong assumption that if we want to predict the future in the sequence, all that matters is the current state. </a:t>
            </a:r>
            <a:r>
              <a:rPr lang="en-US" dirty="0"/>
              <a:t>The states before the current state have no impact on the future except via the current state. It’s as if to predict tomorrow’s weather you could examine today’s weather but you weren’t allowed to look at yesterday’s weather</a:t>
            </a:r>
            <a:endParaRPr lang="en-IN" dirty="0"/>
          </a:p>
        </p:txBody>
      </p:sp>
    </p:spTree>
    <p:extLst>
      <p:ext uri="{BB962C8B-B14F-4D97-AF65-F5344CB8AC3E}">
        <p14:creationId xmlns:p14="http://schemas.microsoft.com/office/powerpoint/2010/main" val="2797764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9661B-8A9F-F121-2A1F-7768C8DEA850}"/>
              </a:ext>
            </a:extLst>
          </p:cNvPr>
          <p:cNvSpPr>
            <a:spLocks noGrp="1"/>
          </p:cNvSpPr>
          <p:nvPr>
            <p:ph type="title"/>
          </p:nvPr>
        </p:nvSpPr>
        <p:spPr/>
        <p:txBody>
          <a:bodyPr/>
          <a:lstStyle/>
          <a:p>
            <a:r>
              <a:rPr lang="en-IN" dirty="0"/>
              <a:t>Markov assumption</a:t>
            </a:r>
          </a:p>
        </p:txBody>
      </p:sp>
      <p:sp>
        <p:nvSpPr>
          <p:cNvPr id="3" name="Content Placeholder 2">
            <a:extLst>
              <a:ext uri="{FF2B5EF4-FFF2-40B4-BE49-F238E27FC236}">
                <a16:creationId xmlns:a16="http://schemas.microsoft.com/office/drawing/2014/main" id="{9000BA67-BFE5-DC9D-BDFD-B3CB599669A8}"/>
              </a:ext>
            </a:extLst>
          </p:cNvPr>
          <p:cNvSpPr>
            <a:spLocks noGrp="1"/>
          </p:cNvSpPr>
          <p:nvPr>
            <p:ph idx="1"/>
          </p:nvPr>
        </p:nvSpPr>
        <p:spPr/>
        <p:txBody>
          <a:bodyPr/>
          <a:lstStyle/>
          <a:p>
            <a:pPr marL="0" indent="0">
              <a:buNone/>
            </a:pPr>
            <a:r>
              <a:rPr lang="en-US" dirty="0"/>
              <a:t>More formally, consider a sequence of state variables q1,q2,...,qi . A Markov model embodies the Markov assumption on the probabilities of this sequence: that Markov assumption when predicting the future, the past doesn’t matter, only the present. </a:t>
            </a:r>
          </a:p>
          <a:p>
            <a:pPr marL="0" indent="0">
              <a:buNone/>
            </a:pPr>
            <a:r>
              <a:rPr lang="en-US" dirty="0"/>
              <a:t>Markov Assumption: P(qi = a|q1...qi−1) = P(qi = a|qi−1) </a:t>
            </a:r>
          </a:p>
          <a:p>
            <a:pPr marL="0" indent="0">
              <a:buNone/>
            </a:pPr>
            <a:r>
              <a:rPr lang="en-US" dirty="0"/>
              <a:t>Figure A.1a shows a Markov chain for assigning a probability to a sequence of weather events, for which the vocabulary consists of HOT, COLD, and WARM. The states are represented as nodes in the graph, and the transitions, with their probabilities, as edges. The transitions are probabilities: the values of arcs leaving a given state must sum to 1. </a:t>
            </a:r>
            <a:endParaRPr lang="en-IN" dirty="0"/>
          </a:p>
        </p:txBody>
      </p:sp>
    </p:spTree>
    <p:extLst>
      <p:ext uri="{BB962C8B-B14F-4D97-AF65-F5344CB8AC3E}">
        <p14:creationId xmlns:p14="http://schemas.microsoft.com/office/powerpoint/2010/main" val="1926475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EA84-B018-C0E3-2078-908B1922DE6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01A9B48-B7D5-F1A1-5524-BED07422004A}"/>
              </a:ext>
            </a:extLst>
          </p:cNvPr>
          <p:cNvPicPr>
            <a:picLocks noGrp="1" noChangeAspect="1"/>
          </p:cNvPicPr>
          <p:nvPr>
            <p:ph idx="1"/>
          </p:nvPr>
        </p:nvPicPr>
        <p:blipFill>
          <a:blip r:embed="rId2"/>
          <a:stretch>
            <a:fillRect/>
          </a:stretch>
        </p:blipFill>
        <p:spPr>
          <a:xfrm>
            <a:off x="2015391" y="1878176"/>
            <a:ext cx="9323401" cy="3951123"/>
          </a:xfrm>
        </p:spPr>
      </p:pic>
    </p:spTree>
    <p:extLst>
      <p:ext uri="{BB962C8B-B14F-4D97-AF65-F5344CB8AC3E}">
        <p14:creationId xmlns:p14="http://schemas.microsoft.com/office/powerpoint/2010/main" val="782814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FECD4-2BB4-AC51-29E1-3B69374BC64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0F83A11-B692-58B2-7F81-6E35CAB2426D}"/>
              </a:ext>
            </a:extLst>
          </p:cNvPr>
          <p:cNvPicPr>
            <a:picLocks noGrp="1" noChangeAspect="1"/>
          </p:cNvPicPr>
          <p:nvPr>
            <p:ph idx="1"/>
          </p:nvPr>
        </p:nvPicPr>
        <p:blipFill>
          <a:blip r:embed="rId2"/>
          <a:stretch>
            <a:fillRect/>
          </a:stretch>
        </p:blipFill>
        <p:spPr>
          <a:xfrm>
            <a:off x="2286000" y="2124756"/>
            <a:ext cx="8368201" cy="4466544"/>
          </a:xfrm>
        </p:spPr>
      </p:pic>
      <p:sp>
        <p:nvSpPr>
          <p:cNvPr id="6" name="Rectangle 5">
            <a:extLst>
              <a:ext uri="{FF2B5EF4-FFF2-40B4-BE49-F238E27FC236}">
                <a16:creationId xmlns:a16="http://schemas.microsoft.com/office/drawing/2014/main" id="{6D8BF071-B7B9-FEA8-2A5D-2BD83D85AA0A}"/>
              </a:ext>
            </a:extLst>
          </p:cNvPr>
          <p:cNvSpPr/>
          <p:nvPr/>
        </p:nvSpPr>
        <p:spPr>
          <a:xfrm>
            <a:off x="2541037" y="4815569"/>
            <a:ext cx="7858125" cy="2042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08079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162F-0211-EB1B-B501-F4C660F308D5}"/>
              </a:ext>
            </a:extLst>
          </p:cNvPr>
          <p:cNvSpPr>
            <a:spLocks noGrp="1"/>
          </p:cNvSpPr>
          <p:nvPr>
            <p:ph type="title"/>
          </p:nvPr>
        </p:nvSpPr>
        <p:spPr/>
        <p:txBody>
          <a:bodyPr/>
          <a:lstStyle/>
          <a:p>
            <a:r>
              <a:rPr lang="en-IN" dirty="0"/>
              <a:t>Parts of speech</a:t>
            </a:r>
          </a:p>
        </p:txBody>
      </p:sp>
      <p:sp>
        <p:nvSpPr>
          <p:cNvPr id="3" name="Content Placeholder 2">
            <a:extLst>
              <a:ext uri="{FF2B5EF4-FFF2-40B4-BE49-F238E27FC236}">
                <a16:creationId xmlns:a16="http://schemas.microsoft.com/office/drawing/2014/main" id="{5F8B3D5F-D3A1-80FB-B390-F7E8C415A94D}"/>
              </a:ext>
            </a:extLst>
          </p:cNvPr>
          <p:cNvSpPr>
            <a:spLocks noGrp="1"/>
          </p:cNvSpPr>
          <p:nvPr>
            <p:ph idx="1"/>
          </p:nvPr>
        </p:nvSpPr>
        <p:spPr/>
        <p:txBody>
          <a:bodyPr/>
          <a:lstStyle/>
          <a:p>
            <a:pPr algn="just"/>
            <a:r>
              <a:rPr lang="en-US" dirty="0"/>
              <a:t>Back in elementary school, we have learned the differences between the various parts of speech tags such as </a:t>
            </a:r>
            <a:r>
              <a:rPr lang="en-US" dirty="0">
                <a:solidFill>
                  <a:srgbClr val="C00000"/>
                </a:solidFill>
              </a:rPr>
              <a:t>nouns, verbs, adjectives, and adverbs</a:t>
            </a:r>
            <a:r>
              <a:rPr lang="en-US" dirty="0"/>
              <a:t>. Associating each word in a sentence with a proper POS (part of speech) is known as POS tagging or POS annotation. POS tags are also known as word classes, morphological classes, or lexical tags.</a:t>
            </a:r>
            <a:endParaRPr lang="en-IN" dirty="0"/>
          </a:p>
        </p:txBody>
      </p:sp>
    </p:spTree>
    <p:extLst>
      <p:ext uri="{BB962C8B-B14F-4D97-AF65-F5344CB8AC3E}">
        <p14:creationId xmlns:p14="http://schemas.microsoft.com/office/powerpoint/2010/main" val="1196971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69D7D-9319-4FC6-D633-7D6DC05136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347DB12-1805-53EF-8655-AFF36B7D0B72}"/>
              </a:ext>
            </a:extLst>
          </p:cNvPr>
          <p:cNvSpPr>
            <a:spLocks noGrp="1"/>
          </p:cNvSpPr>
          <p:nvPr>
            <p:ph idx="1"/>
          </p:nvPr>
        </p:nvSpPr>
        <p:spPr/>
        <p:txBody>
          <a:bodyPr>
            <a:normAutofit fontScale="77500" lnSpcReduction="20000"/>
          </a:bodyPr>
          <a:lstStyle/>
          <a:p>
            <a:r>
              <a:rPr lang="en-US" dirty="0"/>
              <a:t>Back in the days, the POS annotation was manually done by human annotators but being such a laborious task, today we have automatic tools that are capable of tagging each word with an appropriate POS tag within a context.</a:t>
            </a:r>
          </a:p>
          <a:p>
            <a:endParaRPr lang="en-US" dirty="0"/>
          </a:p>
          <a:p>
            <a:r>
              <a:rPr lang="en-US" dirty="0"/>
              <a:t>Nowadays, manual annotation is typically used to annotate a small corpus to be used as training data for the development of a new automatic POS tagger. Annotating modern multi-billion-word corpora manually is unrealistic and automatic tagging is used instead.</a:t>
            </a:r>
          </a:p>
          <a:p>
            <a:endParaRPr lang="en-US" dirty="0"/>
          </a:p>
          <a:p>
            <a:r>
              <a:rPr lang="en-US" dirty="0"/>
              <a:t>POS tags give a large amount of information about a word and its neighbors. Their applications can be found in various tasks such as </a:t>
            </a:r>
            <a:r>
              <a:rPr lang="en-US" dirty="0">
                <a:solidFill>
                  <a:srgbClr val="FF0000"/>
                </a:solidFill>
              </a:rPr>
              <a:t>information retrieval</a:t>
            </a:r>
            <a:r>
              <a:rPr lang="en-US" dirty="0"/>
              <a:t>, </a:t>
            </a:r>
            <a:r>
              <a:rPr lang="en-US" dirty="0">
                <a:solidFill>
                  <a:srgbClr val="FF0000"/>
                </a:solidFill>
              </a:rPr>
              <a:t>parsing</a:t>
            </a:r>
            <a:r>
              <a:rPr lang="en-US" dirty="0"/>
              <a:t>, </a:t>
            </a:r>
            <a:r>
              <a:rPr lang="en-US" dirty="0">
                <a:solidFill>
                  <a:srgbClr val="FF0000"/>
                </a:solidFill>
              </a:rPr>
              <a:t>Text to Speech (TTS) </a:t>
            </a:r>
            <a:r>
              <a:rPr lang="en-US" dirty="0"/>
              <a:t>applications, </a:t>
            </a:r>
            <a:r>
              <a:rPr lang="en-US" dirty="0">
                <a:solidFill>
                  <a:srgbClr val="FF0000"/>
                </a:solidFill>
              </a:rPr>
              <a:t>information extraction</a:t>
            </a:r>
            <a:r>
              <a:rPr lang="en-US" dirty="0"/>
              <a:t>, </a:t>
            </a:r>
            <a:r>
              <a:rPr lang="en-US" dirty="0">
                <a:solidFill>
                  <a:srgbClr val="FF0000"/>
                </a:solidFill>
              </a:rPr>
              <a:t>linguistic research</a:t>
            </a:r>
            <a:r>
              <a:rPr lang="en-US" dirty="0"/>
              <a:t> for corpora. They are also used as an intermediate step for higher-level </a:t>
            </a:r>
            <a:r>
              <a:rPr lang="en-US" dirty="0">
                <a:solidFill>
                  <a:srgbClr val="FF0000"/>
                </a:solidFill>
              </a:rPr>
              <a:t>NLP tasks such as parsing, semantics analysis, translation, and many more</a:t>
            </a:r>
            <a:r>
              <a:rPr lang="en-US" dirty="0"/>
              <a:t>, which makes POS tagging a necessary function for advanced NLP applications.</a:t>
            </a:r>
            <a:endParaRPr lang="en-IN" dirty="0"/>
          </a:p>
        </p:txBody>
      </p:sp>
    </p:spTree>
    <p:extLst>
      <p:ext uri="{BB962C8B-B14F-4D97-AF65-F5344CB8AC3E}">
        <p14:creationId xmlns:p14="http://schemas.microsoft.com/office/powerpoint/2010/main" val="1739090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4BA47-FC86-9A37-3E44-3D1D4193A48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E1CFF2-1327-4753-878B-C320C42B4E75}"/>
              </a:ext>
            </a:extLst>
          </p:cNvPr>
          <p:cNvSpPr>
            <a:spLocks noGrp="1"/>
          </p:cNvSpPr>
          <p:nvPr>
            <p:ph idx="1"/>
          </p:nvPr>
        </p:nvSpPr>
        <p:spPr/>
        <p:txBody>
          <a:bodyPr/>
          <a:lstStyle/>
          <a:p>
            <a:r>
              <a:rPr lang="en-US" b="0" i="0" dirty="0">
                <a:solidFill>
                  <a:srgbClr val="444444"/>
                </a:solidFill>
                <a:effectLst/>
                <a:latin typeface="Poppins" panose="00000500000000000000" pitchFamily="2" charset="0"/>
              </a:rPr>
              <a:t>In this, you will learn how to use POS tagging with the Hidden </a:t>
            </a:r>
            <a:r>
              <a:rPr lang="en-US" b="0" i="0" dirty="0" err="1">
                <a:solidFill>
                  <a:srgbClr val="444444"/>
                </a:solidFill>
                <a:effectLst/>
                <a:latin typeface="Poppins" panose="00000500000000000000" pitchFamily="2" charset="0"/>
              </a:rPr>
              <a:t>Makrow</a:t>
            </a:r>
            <a:r>
              <a:rPr lang="en-US" b="0" i="0" dirty="0">
                <a:solidFill>
                  <a:srgbClr val="444444"/>
                </a:solidFill>
                <a:effectLst/>
                <a:latin typeface="Poppins" panose="00000500000000000000" pitchFamily="2" charset="0"/>
              </a:rPr>
              <a:t> model.</a:t>
            </a:r>
            <a:br>
              <a:rPr lang="en-US" dirty="0"/>
            </a:br>
            <a:endParaRPr lang="en-IN" dirty="0"/>
          </a:p>
        </p:txBody>
      </p:sp>
    </p:spTree>
    <p:extLst>
      <p:ext uri="{BB962C8B-B14F-4D97-AF65-F5344CB8AC3E}">
        <p14:creationId xmlns:p14="http://schemas.microsoft.com/office/powerpoint/2010/main" val="2917455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FBED1-C15C-4D98-AE35-61CD7F640AB3}"/>
              </a:ext>
            </a:extLst>
          </p:cNvPr>
          <p:cNvSpPr>
            <a:spLocks noGrp="1"/>
          </p:cNvSpPr>
          <p:nvPr>
            <p:ph type="title"/>
          </p:nvPr>
        </p:nvSpPr>
        <p:spPr/>
        <p:txBody>
          <a:bodyPr/>
          <a:lstStyle/>
          <a:p>
            <a:r>
              <a:rPr lang="en-US" b="1" i="0" dirty="0">
                <a:solidFill>
                  <a:srgbClr val="0C0C0C"/>
                </a:solidFill>
                <a:effectLst/>
                <a:latin typeface="Tinos"/>
              </a:rPr>
              <a:t>Application of Hidden Markov Model</a:t>
            </a:r>
            <a:endParaRPr lang="en-IN" dirty="0"/>
          </a:p>
        </p:txBody>
      </p:sp>
      <p:sp>
        <p:nvSpPr>
          <p:cNvPr id="3" name="Content Placeholder 2">
            <a:extLst>
              <a:ext uri="{FF2B5EF4-FFF2-40B4-BE49-F238E27FC236}">
                <a16:creationId xmlns:a16="http://schemas.microsoft.com/office/drawing/2014/main" id="{D5C8202D-43E1-453F-BCDB-9CB91436015F}"/>
              </a:ext>
            </a:extLst>
          </p:cNvPr>
          <p:cNvSpPr>
            <a:spLocks noGrp="1"/>
          </p:cNvSpPr>
          <p:nvPr>
            <p:ph idx="1"/>
          </p:nvPr>
        </p:nvSpPr>
        <p:spPr/>
        <p:txBody>
          <a:bodyPr/>
          <a:lstStyle/>
          <a:p>
            <a:pPr algn="just"/>
            <a:r>
              <a:rPr lang="en-US" b="0" i="0" dirty="0">
                <a:solidFill>
                  <a:srgbClr val="0C0C0C"/>
                </a:solidFill>
                <a:effectLst/>
                <a:latin typeface="Tinos"/>
              </a:rPr>
              <a:t>An application, where HMM is used, aims to recover the data sequence where the next sequence of the data can not be observed immediately but the next data depends on the old sequences. Taking the above intuition into account the HMM can be used in the following applications:</a:t>
            </a:r>
            <a:endParaRPr lang="en-IN" dirty="0"/>
          </a:p>
        </p:txBody>
      </p:sp>
    </p:spTree>
    <p:extLst>
      <p:ext uri="{BB962C8B-B14F-4D97-AF65-F5344CB8AC3E}">
        <p14:creationId xmlns:p14="http://schemas.microsoft.com/office/powerpoint/2010/main" val="570127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A36E7-48CA-4CA5-B709-9F1E815E4DF8}"/>
              </a:ext>
            </a:extLst>
          </p:cNvPr>
          <p:cNvSpPr>
            <a:spLocks noGrp="1"/>
          </p:cNvSpPr>
          <p:nvPr>
            <p:ph type="title"/>
          </p:nvPr>
        </p:nvSpPr>
        <p:spPr/>
        <p:txBody>
          <a:bodyPr/>
          <a:lstStyle/>
          <a:p>
            <a:r>
              <a:rPr lang="en-US" dirty="0"/>
              <a:t>Applications of HMM</a:t>
            </a:r>
            <a:endParaRPr lang="en-IN" dirty="0"/>
          </a:p>
        </p:txBody>
      </p:sp>
      <p:sp>
        <p:nvSpPr>
          <p:cNvPr id="3" name="Content Placeholder 2">
            <a:extLst>
              <a:ext uri="{FF2B5EF4-FFF2-40B4-BE49-F238E27FC236}">
                <a16:creationId xmlns:a16="http://schemas.microsoft.com/office/drawing/2014/main" id="{45F31052-4F4B-41CB-88B8-5F91EC358AC7}"/>
              </a:ext>
            </a:extLst>
          </p:cNvPr>
          <p:cNvSpPr>
            <a:spLocks noGrp="1"/>
          </p:cNvSpPr>
          <p:nvPr>
            <p:ph idx="1"/>
          </p:nvPr>
        </p:nvSpPr>
        <p:spPr/>
        <p:txBody>
          <a:bodyPr>
            <a:normAutofit lnSpcReduction="10000"/>
          </a:bodyPr>
          <a:lstStyle/>
          <a:p>
            <a:pPr algn="l" fontAlgn="base">
              <a:buFont typeface="Arial" panose="020B0604020202020204" pitchFamily="34" charset="0"/>
              <a:buChar char="•"/>
            </a:pPr>
            <a:r>
              <a:rPr lang="en-IN" dirty="0">
                <a:solidFill>
                  <a:srgbClr val="0C0C0C"/>
                </a:solidFill>
                <a:latin typeface="Tinos"/>
              </a:rPr>
              <a:t>S</a:t>
            </a:r>
            <a:r>
              <a:rPr lang="en-IN" b="0" i="0" dirty="0">
                <a:solidFill>
                  <a:srgbClr val="0C0C0C"/>
                </a:solidFill>
                <a:effectLst/>
                <a:latin typeface="Tinos"/>
              </a:rPr>
              <a:t>peed analysis</a:t>
            </a:r>
          </a:p>
          <a:p>
            <a:pPr algn="l" fontAlgn="base">
              <a:buFont typeface="Arial" panose="020B0604020202020204" pitchFamily="34" charset="0"/>
              <a:buChar char="•"/>
            </a:pPr>
            <a:r>
              <a:rPr lang="en-IN" b="0" i="0" dirty="0">
                <a:solidFill>
                  <a:srgbClr val="FF0000"/>
                </a:solidFill>
                <a:effectLst/>
                <a:latin typeface="Tinos"/>
              </a:rPr>
              <a:t>Speech recognition</a:t>
            </a:r>
          </a:p>
          <a:p>
            <a:pPr algn="l" fontAlgn="base">
              <a:buFont typeface="Arial" panose="020B0604020202020204" pitchFamily="34" charset="0"/>
              <a:buChar char="•"/>
            </a:pPr>
            <a:r>
              <a:rPr lang="en-IN" b="0" i="0" dirty="0">
                <a:solidFill>
                  <a:srgbClr val="FF0000"/>
                </a:solidFill>
                <a:effectLst/>
                <a:latin typeface="Tinos"/>
              </a:rPr>
              <a:t>Part-of-speech tagging</a:t>
            </a:r>
          </a:p>
          <a:p>
            <a:pPr algn="l" fontAlgn="base">
              <a:buFont typeface="Arial" panose="020B0604020202020204" pitchFamily="34" charset="0"/>
              <a:buChar char="•"/>
            </a:pPr>
            <a:r>
              <a:rPr lang="en-IN" b="0" i="0" dirty="0">
                <a:solidFill>
                  <a:srgbClr val="0C0C0C"/>
                </a:solidFill>
                <a:effectLst/>
                <a:latin typeface="Tinos"/>
              </a:rPr>
              <a:t>Machine translation</a:t>
            </a:r>
          </a:p>
          <a:p>
            <a:pPr algn="l" fontAlgn="base">
              <a:buFont typeface="Arial" panose="020B0604020202020204" pitchFamily="34" charset="0"/>
              <a:buChar char="•"/>
            </a:pPr>
            <a:r>
              <a:rPr lang="en-IN" b="0" i="0" dirty="0">
                <a:solidFill>
                  <a:srgbClr val="0C0C0C"/>
                </a:solidFill>
                <a:effectLst/>
                <a:latin typeface="Tinos"/>
              </a:rPr>
              <a:t>Handwriting recognition</a:t>
            </a:r>
          </a:p>
          <a:p>
            <a:pPr algn="l" fontAlgn="base">
              <a:buFont typeface="Arial" panose="020B0604020202020204" pitchFamily="34" charset="0"/>
              <a:buChar char="•"/>
            </a:pPr>
            <a:r>
              <a:rPr lang="en-IN" b="0" i="0" dirty="0">
                <a:solidFill>
                  <a:srgbClr val="0C0C0C"/>
                </a:solidFill>
                <a:effectLst/>
                <a:latin typeface="Tinos"/>
              </a:rPr>
              <a:t>Time series analysis</a:t>
            </a:r>
          </a:p>
          <a:p>
            <a:pPr algn="l" fontAlgn="base">
              <a:buFont typeface="Arial" panose="020B0604020202020204" pitchFamily="34" charset="0"/>
              <a:buChar char="•"/>
            </a:pPr>
            <a:r>
              <a:rPr lang="en-IN" b="0" i="0" dirty="0">
                <a:solidFill>
                  <a:srgbClr val="FF0000"/>
                </a:solidFill>
                <a:effectLst/>
                <a:latin typeface="Tinos"/>
              </a:rPr>
              <a:t>Activity recognition</a:t>
            </a:r>
          </a:p>
          <a:p>
            <a:pPr algn="l" fontAlgn="base">
              <a:buFont typeface="Arial" panose="020B0604020202020204" pitchFamily="34" charset="0"/>
              <a:buChar char="•"/>
            </a:pPr>
            <a:r>
              <a:rPr lang="en-IN" b="0" i="0" dirty="0">
                <a:solidFill>
                  <a:srgbClr val="0C0C0C"/>
                </a:solidFill>
                <a:effectLst/>
                <a:latin typeface="Tinos"/>
              </a:rPr>
              <a:t>Sequence classification</a:t>
            </a:r>
          </a:p>
          <a:p>
            <a:pPr algn="l" fontAlgn="base">
              <a:buFont typeface="Arial" panose="020B0604020202020204" pitchFamily="34" charset="0"/>
              <a:buChar char="•"/>
            </a:pPr>
            <a:r>
              <a:rPr lang="en-IN" b="0" i="0" dirty="0">
                <a:solidFill>
                  <a:srgbClr val="0C0C0C"/>
                </a:solidFill>
                <a:effectLst/>
                <a:latin typeface="Tinos"/>
              </a:rPr>
              <a:t>Transportation forecasting </a:t>
            </a:r>
          </a:p>
          <a:p>
            <a:endParaRPr lang="en-IN" dirty="0"/>
          </a:p>
        </p:txBody>
      </p:sp>
    </p:spTree>
    <p:extLst>
      <p:ext uri="{BB962C8B-B14F-4D97-AF65-F5344CB8AC3E}">
        <p14:creationId xmlns:p14="http://schemas.microsoft.com/office/powerpoint/2010/main" val="2704560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7B146-126B-4C27-8CDD-311716EB7D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A7AD92-102E-43F9-B5D8-C990C112099E}"/>
              </a:ext>
            </a:extLst>
          </p:cNvPr>
          <p:cNvSpPr>
            <a:spLocks noGrp="1"/>
          </p:cNvSpPr>
          <p:nvPr>
            <p:ph idx="1"/>
          </p:nvPr>
        </p:nvSpPr>
        <p:spPr/>
        <p:txBody>
          <a:bodyPr/>
          <a:lstStyle/>
          <a:p>
            <a:r>
              <a:rPr lang="en-IN" dirty="0"/>
              <a:t>HMM (Hidden Markov Model) is a Stochastic technique for POS tagging. Hidden Markov models are known for their applications to reinforcement learning and temporal pattern recognition such as speech, handwriting, gesture recognition, musical score following, partial discharges, and bioinformatics.</a:t>
            </a:r>
          </a:p>
          <a:p>
            <a:endParaRPr lang="en-IN" dirty="0"/>
          </a:p>
        </p:txBody>
      </p:sp>
    </p:spTree>
    <p:extLst>
      <p:ext uri="{BB962C8B-B14F-4D97-AF65-F5344CB8AC3E}">
        <p14:creationId xmlns:p14="http://schemas.microsoft.com/office/powerpoint/2010/main" val="376064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3F829-D708-4C49-AFEA-24A6FA2C0AA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019291C-0B76-44F9-ACCB-541DBA9B482A}"/>
              </a:ext>
            </a:extLst>
          </p:cNvPr>
          <p:cNvSpPr>
            <a:spLocks noGrp="1"/>
          </p:cNvSpPr>
          <p:nvPr>
            <p:ph idx="1"/>
          </p:nvPr>
        </p:nvSpPr>
        <p:spPr/>
        <p:txBody>
          <a:bodyPr/>
          <a:lstStyle/>
          <a:p>
            <a:pPr algn="l"/>
            <a:r>
              <a:rPr lang="en-US" b="1" i="0" dirty="0">
                <a:solidFill>
                  <a:srgbClr val="0C0C0C"/>
                </a:solidFill>
                <a:effectLst/>
                <a:latin typeface="Tinos"/>
              </a:rPr>
              <a:t>Hidden Markov Models in NLP</a:t>
            </a:r>
            <a:endParaRPr lang="en-US" b="0" i="0" dirty="0">
              <a:solidFill>
                <a:srgbClr val="0C0C0C"/>
              </a:solidFill>
              <a:effectLst/>
              <a:latin typeface="Tinos"/>
            </a:endParaRPr>
          </a:p>
          <a:p>
            <a:pPr algn="l"/>
            <a:r>
              <a:rPr lang="en-US" b="0" i="0" dirty="0">
                <a:solidFill>
                  <a:srgbClr val="0C0C0C"/>
                </a:solidFill>
                <a:effectLst/>
                <a:latin typeface="Tinos"/>
              </a:rPr>
              <a:t>From the above application of HMM, we can understand that the applications where the HMM can be used have sequential data like time series data, audio, and video data, and text data or NLP data. In this article, our main focus is on those applications of NLP where we can use the HMM for better performance of the model, and here in the above-given list, we can see that one of the applications of the HMM is that we can use it in the Part-of-Speech tagging..</a:t>
            </a:r>
          </a:p>
          <a:p>
            <a:endParaRPr lang="en-IN" dirty="0"/>
          </a:p>
        </p:txBody>
      </p:sp>
    </p:spTree>
    <p:extLst>
      <p:ext uri="{BB962C8B-B14F-4D97-AF65-F5344CB8AC3E}">
        <p14:creationId xmlns:p14="http://schemas.microsoft.com/office/powerpoint/2010/main" val="317234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05352-845B-4305-A601-FFFA99FC4152}"/>
              </a:ext>
            </a:extLst>
          </p:cNvPr>
          <p:cNvSpPr>
            <a:spLocks noGrp="1"/>
          </p:cNvSpPr>
          <p:nvPr>
            <p:ph type="ctrTitle"/>
          </p:nvPr>
        </p:nvSpPr>
        <p:spPr/>
        <p:txBody>
          <a:bodyPr>
            <a:normAutofit fontScale="90000"/>
          </a:bodyPr>
          <a:lstStyle/>
          <a:p>
            <a:r>
              <a:rPr lang="en-US" dirty="0"/>
              <a:t>Applications of </a:t>
            </a:r>
            <a:br>
              <a:rPr lang="en-US" dirty="0"/>
            </a:br>
            <a:r>
              <a:rPr lang="en-US" dirty="0"/>
              <a:t>sequence classification such as part-of-speech tagging using HMM</a:t>
            </a:r>
            <a:endParaRPr lang="en-IN" dirty="0"/>
          </a:p>
        </p:txBody>
      </p:sp>
      <p:sp>
        <p:nvSpPr>
          <p:cNvPr id="3" name="Subtitle 2">
            <a:extLst>
              <a:ext uri="{FF2B5EF4-FFF2-40B4-BE49-F238E27FC236}">
                <a16:creationId xmlns:a16="http://schemas.microsoft.com/office/drawing/2014/main" id="{35C86ACC-4860-49B1-843C-1AE5907FB3BF}"/>
              </a:ext>
            </a:extLst>
          </p:cNvPr>
          <p:cNvSpPr>
            <a:spLocks noGrp="1"/>
          </p:cNvSpPr>
          <p:nvPr>
            <p:ph type="subTitle" idx="1"/>
          </p:nvPr>
        </p:nvSpPr>
        <p:spPr/>
        <p:txBody>
          <a:bodyPr/>
          <a:lstStyle/>
          <a:p>
            <a:endParaRPr lang="en-US" b="1" i="0" dirty="0">
              <a:effectLst/>
              <a:latin typeface="Poppins" panose="00000500000000000000" pitchFamily="2" charset="0"/>
            </a:endParaRPr>
          </a:p>
          <a:p>
            <a:r>
              <a:rPr lang="en-US" b="1" i="0" dirty="0">
                <a:effectLst/>
                <a:latin typeface="Poppins" panose="00000500000000000000" pitchFamily="2" charset="0"/>
              </a:rPr>
              <a:t>POS tagging with Hidden Markov Model</a:t>
            </a:r>
          </a:p>
          <a:p>
            <a:endParaRPr lang="en-IN" dirty="0"/>
          </a:p>
        </p:txBody>
      </p:sp>
    </p:spTree>
    <p:extLst>
      <p:ext uri="{BB962C8B-B14F-4D97-AF65-F5344CB8AC3E}">
        <p14:creationId xmlns:p14="http://schemas.microsoft.com/office/powerpoint/2010/main" val="316707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70043-A9D4-4C72-9EA6-A220506AF2E4}"/>
              </a:ext>
            </a:extLst>
          </p:cNvPr>
          <p:cNvSpPr>
            <a:spLocks noGrp="1"/>
          </p:cNvSpPr>
          <p:nvPr>
            <p:ph type="title"/>
          </p:nvPr>
        </p:nvSpPr>
        <p:spPr/>
        <p:txBody>
          <a:bodyPr/>
          <a:lstStyle/>
          <a:p>
            <a:r>
              <a:rPr lang="en-IN" dirty="0"/>
              <a:t>part-of-speech tagging</a:t>
            </a:r>
          </a:p>
        </p:txBody>
      </p:sp>
      <p:sp>
        <p:nvSpPr>
          <p:cNvPr id="3" name="Content Placeholder 2">
            <a:extLst>
              <a:ext uri="{FF2B5EF4-FFF2-40B4-BE49-F238E27FC236}">
                <a16:creationId xmlns:a16="http://schemas.microsoft.com/office/drawing/2014/main" id="{8BA99842-DB96-4B7F-9576-BF8EE94A14EE}"/>
              </a:ext>
            </a:extLst>
          </p:cNvPr>
          <p:cNvSpPr>
            <a:spLocks noGrp="1"/>
          </p:cNvSpPr>
          <p:nvPr>
            <p:ph idx="1"/>
          </p:nvPr>
        </p:nvSpPr>
        <p:spPr/>
        <p:txBody>
          <a:bodyPr>
            <a:normAutofit fontScale="85000" lnSpcReduction="20000"/>
          </a:bodyPr>
          <a:lstStyle/>
          <a:p>
            <a:pPr algn="just"/>
            <a:r>
              <a:rPr lang="en-US" dirty="0"/>
              <a:t>Tagging is a kind of classification that may be defined as the automatic assignment of description to the tokens. Here the descriptor is called tag, which may represent one of the part-of-speech, semantic information and so on.</a:t>
            </a:r>
          </a:p>
          <a:p>
            <a:pPr algn="just"/>
            <a:endParaRPr lang="en-US" dirty="0"/>
          </a:p>
          <a:p>
            <a:pPr algn="just"/>
            <a:r>
              <a:rPr lang="en-US" dirty="0"/>
              <a:t>Now, if we talk about Part-of-Speech (</a:t>
            </a:r>
            <a:r>
              <a:rPr lang="en-US" dirty="0" err="1"/>
              <a:t>PoS</a:t>
            </a:r>
            <a:r>
              <a:rPr lang="en-US" dirty="0"/>
              <a:t>) tagging, then it may be defined as the process of assigning one of the parts of speech to the given word. It is generally called POS tagging. In simple words, we can say that POS tagging is a task of labelling each word in a sentence with its appropriate part of speech. We already know that parts of speech include nouns, verb, adverbs, adjectives, pronouns, conjunction and their sub-categories.</a:t>
            </a:r>
          </a:p>
          <a:p>
            <a:pPr algn="just"/>
            <a:endParaRPr lang="en-US" dirty="0"/>
          </a:p>
          <a:p>
            <a:pPr algn="just"/>
            <a:r>
              <a:rPr lang="en-US" dirty="0"/>
              <a:t>Most of the POS tagging falls under Rule Base POS tagging, Stochastic POS tagging and Transformation based tagging.</a:t>
            </a:r>
            <a:endParaRPr lang="en-IN" dirty="0"/>
          </a:p>
        </p:txBody>
      </p:sp>
    </p:spTree>
    <p:extLst>
      <p:ext uri="{BB962C8B-B14F-4D97-AF65-F5344CB8AC3E}">
        <p14:creationId xmlns:p14="http://schemas.microsoft.com/office/powerpoint/2010/main" val="3091598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322E0-E70B-4E5B-B36C-A4E96E62B36A}"/>
              </a:ext>
            </a:extLst>
          </p:cNvPr>
          <p:cNvSpPr>
            <a:spLocks noGrp="1"/>
          </p:cNvSpPr>
          <p:nvPr>
            <p:ph type="title"/>
          </p:nvPr>
        </p:nvSpPr>
        <p:spPr/>
        <p:txBody>
          <a:bodyPr/>
          <a:lstStyle/>
          <a:p>
            <a:r>
              <a:rPr lang="en-US" dirty="0"/>
              <a:t>Given a sentence, predict the tag of each word</a:t>
            </a:r>
            <a:endParaRPr lang="en-IN" dirty="0"/>
          </a:p>
        </p:txBody>
      </p:sp>
      <p:pic>
        <p:nvPicPr>
          <p:cNvPr id="5" name="Content Placeholder 4">
            <a:extLst>
              <a:ext uri="{FF2B5EF4-FFF2-40B4-BE49-F238E27FC236}">
                <a16:creationId xmlns:a16="http://schemas.microsoft.com/office/drawing/2014/main" id="{FB78AF11-7F24-43CE-9F27-C221FB66302D}"/>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87000"/>
                    </a14:imgEffect>
                  </a14:imgLayer>
                </a14:imgProps>
              </a:ext>
            </a:extLst>
          </a:blip>
          <a:stretch>
            <a:fillRect/>
          </a:stretch>
        </p:blipFill>
        <p:spPr>
          <a:xfrm>
            <a:off x="2795587" y="2872581"/>
            <a:ext cx="6600825" cy="2257425"/>
          </a:xfrm>
        </p:spPr>
      </p:pic>
    </p:spTree>
    <p:extLst>
      <p:ext uri="{BB962C8B-B14F-4D97-AF65-F5344CB8AC3E}">
        <p14:creationId xmlns:p14="http://schemas.microsoft.com/office/powerpoint/2010/main" val="882473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AD1E3-00A9-467B-A1FF-77EAB0BEEA88}"/>
              </a:ext>
            </a:extLst>
          </p:cNvPr>
          <p:cNvSpPr>
            <a:spLocks noGrp="1"/>
          </p:cNvSpPr>
          <p:nvPr>
            <p:ph type="title"/>
          </p:nvPr>
        </p:nvSpPr>
        <p:spPr/>
        <p:txBody>
          <a:bodyPr/>
          <a:lstStyle/>
          <a:p>
            <a:r>
              <a:rPr lang="en-US" b="1" dirty="0"/>
              <a:t>Where is Parts of Speech used:</a:t>
            </a:r>
            <a:br>
              <a:rPr lang="en-US" b="1" dirty="0"/>
            </a:br>
            <a:endParaRPr lang="en-IN" b="1" dirty="0"/>
          </a:p>
        </p:txBody>
      </p:sp>
      <p:sp>
        <p:nvSpPr>
          <p:cNvPr id="3" name="Content Placeholder 2">
            <a:extLst>
              <a:ext uri="{FF2B5EF4-FFF2-40B4-BE49-F238E27FC236}">
                <a16:creationId xmlns:a16="http://schemas.microsoft.com/office/drawing/2014/main" id="{CC0987CE-C257-4F18-8510-07E293764AA4}"/>
              </a:ext>
            </a:extLst>
          </p:cNvPr>
          <p:cNvSpPr>
            <a:spLocks noGrp="1"/>
          </p:cNvSpPr>
          <p:nvPr>
            <p:ph idx="1"/>
          </p:nvPr>
        </p:nvSpPr>
        <p:spPr/>
        <p:txBody>
          <a:bodyPr/>
          <a:lstStyle/>
          <a:p>
            <a:r>
              <a:rPr lang="en-US" dirty="0"/>
              <a:t>Grammatical Analysis of text</a:t>
            </a:r>
          </a:p>
          <a:p>
            <a:r>
              <a:rPr lang="en-US" dirty="0"/>
              <a:t>Spell Check</a:t>
            </a:r>
          </a:p>
          <a:p>
            <a:endParaRPr lang="en-IN" dirty="0"/>
          </a:p>
        </p:txBody>
      </p:sp>
    </p:spTree>
    <p:extLst>
      <p:ext uri="{BB962C8B-B14F-4D97-AF65-F5344CB8AC3E}">
        <p14:creationId xmlns:p14="http://schemas.microsoft.com/office/powerpoint/2010/main" val="29800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77ED5-B7B4-4843-84B2-4D13FB1E1975}"/>
              </a:ext>
            </a:extLst>
          </p:cNvPr>
          <p:cNvSpPr>
            <a:spLocks noGrp="1"/>
          </p:cNvSpPr>
          <p:nvPr>
            <p:ph type="title"/>
          </p:nvPr>
        </p:nvSpPr>
        <p:spPr/>
        <p:txBody>
          <a:bodyPr/>
          <a:lstStyle/>
          <a:p>
            <a:r>
              <a:rPr lang="en-US" b="1" dirty="0"/>
              <a:t>Parts of speech</a:t>
            </a:r>
            <a:endParaRPr lang="en-IN" b="1" dirty="0"/>
          </a:p>
        </p:txBody>
      </p:sp>
      <p:pic>
        <p:nvPicPr>
          <p:cNvPr id="5" name="Content Placeholder 4">
            <a:extLst>
              <a:ext uri="{FF2B5EF4-FFF2-40B4-BE49-F238E27FC236}">
                <a16:creationId xmlns:a16="http://schemas.microsoft.com/office/drawing/2014/main" id="{55959478-EB72-4B22-8AB4-670FE0C1EAEB}"/>
              </a:ext>
            </a:extLst>
          </p:cNvPr>
          <p:cNvPicPr>
            <a:picLocks noGrp="1" noChangeAspect="1"/>
          </p:cNvPicPr>
          <p:nvPr>
            <p:ph idx="1"/>
          </p:nvPr>
        </p:nvPicPr>
        <p:blipFill>
          <a:blip r:embed="rId2"/>
          <a:stretch>
            <a:fillRect/>
          </a:stretch>
        </p:blipFill>
        <p:spPr>
          <a:xfrm>
            <a:off x="4062412" y="2048669"/>
            <a:ext cx="5534025" cy="3238500"/>
          </a:xfrm>
        </p:spPr>
      </p:pic>
    </p:spTree>
    <p:extLst>
      <p:ext uri="{BB962C8B-B14F-4D97-AF65-F5344CB8AC3E}">
        <p14:creationId xmlns:p14="http://schemas.microsoft.com/office/powerpoint/2010/main" val="1613447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6583C-80C8-4BDF-B1BA-9D9ECC16A89B}"/>
              </a:ext>
            </a:extLst>
          </p:cNvPr>
          <p:cNvSpPr>
            <a:spLocks noGrp="1"/>
          </p:cNvSpPr>
          <p:nvPr>
            <p:ph type="title"/>
          </p:nvPr>
        </p:nvSpPr>
        <p:spPr/>
        <p:txBody>
          <a:bodyPr/>
          <a:lstStyle/>
          <a:p>
            <a:endParaRPr lang="en-IN"/>
          </a:p>
        </p:txBody>
      </p:sp>
      <p:sp>
        <p:nvSpPr>
          <p:cNvPr id="7" name="Content Placeholder 6">
            <a:extLst>
              <a:ext uri="{FF2B5EF4-FFF2-40B4-BE49-F238E27FC236}">
                <a16:creationId xmlns:a16="http://schemas.microsoft.com/office/drawing/2014/main" id="{E5791ACA-24E4-4BB4-AF69-3D70ECD1C046}"/>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F8B2B8CC-F3B4-4B2D-B7D4-B0CFF5665EE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3000"/>
                    </a14:imgEffect>
                  </a14:imgLayer>
                </a14:imgProps>
              </a:ext>
            </a:extLst>
          </a:blip>
          <a:stretch>
            <a:fillRect/>
          </a:stretch>
        </p:blipFill>
        <p:spPr>
          <a:xfrm>
            <a:off x="838200" y="1825625"/>
            <a:ext cx="10833732" cy="4586481"/>
          </a:xfrm>
          <a:prstGeom prst="rect">
            <a:avLst/>
          </a:prstGeom>
        </p:spPr>
      </p:pic>
    </p:spTree>
    <p:extLst>
      <p:ext uri="{BB962C8B-B14F-4D97-AF65-F5344CB8AC3E}">
        <p14:creationId xmlns:p14="http://schemas.microsoft.com/office/powerpoint/2010/main" val="3033661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F435D-6B75-427C-A7AA-92F44C92D57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792427D-562B-4073-94AA-E3E86901BCB0}"/>
              </a:ext>
            </a:extLst>
          </p:cNvPr>
          <p:cNvPicPr>
            <a:picLocks noGrp="1" noChangeAspect="1"/>
          </p:cNvPicPr>
          <p:nvPr>
            <p:ph idx="1"/>
          </p:nvPr>
        </p:nvPicPr>
        <p:blipFill>
          <a:blip r:embed="rId2"/>
          <a:stretch>
            <a:fillRect/>
          </a:stretch>
        </p:blipFill>
        <p:spPr>
          <a:xfrm>
            <a:off x="838200" y="2061692"/>
            <a:ext cx="10515600" cy="3879203"/>
          </a:xfrm>
        </p:spPr>
      </p:pic>
    </p:spTree>
    <p:extLst>
      <p:ext uri="{BB962C8B-B14F-4D97-AF65-F5344CB8AC3E}">
        <p14:creationId xmlns:p14="http://schemas.microsoft.com/office/powerpoint/2010/main" val="3790259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20951-EA70-4131-A005-D142A2AAD93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E259E4F-4F21-4E4B-9442-57382817EF86}"/>
              </a:ext>
            </a:extLst>
          </p:cNvPr>
          <p:cNvPicPr>
            <a:picLocks noGrp="1" noChangeAspect="1"/>
          </p:cNvPicPr>
          <p:nvPr>
            <p:ph idx="1"/>
          </p:nvPr>
        </p:nvPicPr>
        <p:blipFill>
          <a:blip r:embed="rId2"/>
          <a:stretch>
            <a:fillRect/>
          </a:stretch>
        </p:blipFill>
        <p:spPr>
          <a:xfrm>
            <a:off x="971550" y="2976562"/>
            <a:ext cx="4372278" cy="1128713"/>
          </a:xfrm>
        </p:spPr>
      </p:pic>
      <p:sp>
        <p:nvSpPr>
          <p:cNvPr id="6" name="TextBox 5">
            <a:extLst>
              <a:ext uri="{FF2B5EF4-FFF2-40B4-BE49-F238E27FC236}">
                <a16:creationId xmlns:a16="http://schemas.microsoft.com/office/drawing/2014/main" id="{7141B526-4574-4F96-8C02-61211A5B20A1}"/>
              </a:ext>
            </a:extLst>
          </p:cNvPr>
          <p:cNvSpPr txBox="1"/>
          <p:nvPr/>
        </p:nvSpPr>
        <p:spPr>
          <a:xfrm>
            <a:off x="1466850" y="4410075"/>
            <a:ext cx="2581275" cy="369332"/>
          </a:xfrm>
          <a:prstGeom prst="rect">
            <a:avLst/>
          </a:prstGeom>
          <a:noFill/>
        </p:spPr>
        <p:txBody>
          <a:bodyPr wrap="square" rtlCol="0">
            <a:spAutoFit/>
          </a:bodyPr>
          <a:lstStyle/>
          <a:p>
            <a:r>
              <a:rPr lang="en-US" dirty="0"/>
              <a:t>Transition probability</a:t>
            </a:r>
            <a:endParaRPr lang="en-IN" dirty="0"/>
          </a:p>
        </p:txBody>
      </p:sp>
      <p:pic>
        <p:nvPicPr>
          <p:cNvPr id="8" name="Picture 7">
            <a:extLst>
              <a:ext uri="{FF2B5EF4-FFF2-40B4-BE49-F238E27FC236}">
                <a16:creationId xmlns:a16="http://schemas.microsoft.com/office/drawing/2014/main" id="{6E687E7A-74C5-4FD8-BDE4-A5CEE7FEDEDD}"/>
              </a:ext>
            </a:extLst>
          </p:cNvPr>
          <p:cNvPicPr>
            <a:picLocks noChangeAspect="1"/>
          </p:cNvPicPr>
          <p:nvPr/>
        </p:nvPicPr>
        <p:blipFill>
          <a:blip r:embed="rId3"/>
          <a:stretch>
            <a:fillRect/>
          </a:stretch>
        </p:blipFill>
        <p:spPr>
          <a:xfrm>
            <a:off x="6415087" y="2976561"/>
            <a:ext cx="4099905" cy="1052513"/>
          </a:xfrm>
          <a:prstGeom prst="rect">
            <a:avLst/>
          </a:prstGeom>
        </p:spPr>
      </p:pic>
      <p:sp>
        <p:nvSpPr>
          <p:cNvPr id="9" name="TextBox 8">
            <a:extLst>
              <a:ext uri="{FF2B5EF4-FFF2-40B4-BE49-F238E27FC236}">
                <a16:creationId xmlns:a16="http://schemas.microsoft.com/office/drawing/2014/main" id="{2A2DC16F-78E8-46CC-B134-08CA0DE01405}"/>
              </a:ext>
            </a:extLst>
          </p:cNvPr>
          <p:cNvSpPr txBox="1"/>
          <p:nvPr/>
        </p:nvSpPr>
        <p:spPr>
          <a:xfrm>
            <a:off x="6743700" y="4343400"/>
            <a:ext cx="3076575" cy="646331"/>
          </a:xfrm>
          <a:prstGeom prst="rect">
            <a:avLst/>
          </a:prstGeom>
          <a:noFill/>
        </p:spPr>
        <p:txBody>
          <a:bodyPr wrap="square" rtlCol="0">
            <a:spAutoFit/>
          </a:bodyPr>
          <a:lstStyle/>
          <a:p>
            <a:r>
              <a:rPr lang="en-US" dirty="0"/>
              <a:t>Word likelihood probabilities or Emission probabilities</a:t>
            </a:r>
            <a:endParaRPr lang="en-IN" dirty="0"/>
          </a:p>
        </p:txBody>
      </p:sp>
    </p:spTree>
    <p:extLst>
      <p:ext uri="{BB962C8B-B14F-4D97-AF65-F5344CB8AC3E}">
        <p14:creationId xmlns:p14="http://schemas.microsoft.com/office/powerpoint/2010/main" val="27640937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95884-ED41-46A9-8B38-099E26D4C197}"/>
              </a:ext>
            </a:extLst>
          </p:cNvPr>
          <p:cNvSpPr>
            <a:spLocks noGrp="1"/>
          </p:cNvSpPr>
          <p:nvPr>
            <p:ph type="title"/>
          </p:nvPr>
        </p:nvSpPr>
        <p:spPr/>
        <p:txBody>
          <a:bodyPr/>
          <a:lstStyle/>
          <a:p>
            <a:r>
              <a:rPr lang="en-US" dirty="0"/>
              <a:t>Predict the tags for the following sentence</a:t>
            </a:r>
            <a:endParaRPr lang="en-IN" dirty="0"/>
          </a:p>
        </p:txBody>
      </p:sp>
      <p:pic>
        <p:nvPicPr>
          <p:cNvPr id="5" name="Content Placeholder 4">
            <a:extLst>
              <a:ext uri="{FF2B5EF4-FFF2-40B4-BE49-F238E27FC236}">
                <a16:creationId xmlns:a16="http://schemas.microsoft.com/office/drawing/2014/main" id="{70E40C4B-383F-48E9-944F-D3BD28A06B2C}"/>
              </a:ext>
            </a:extLst>
          </p:cNvPr>
          <p:cNvPicPr>
            <a:picLocks noGrp="1" noChangeAspect="1"/>
          </p:cNvPicPr>
          <p:nvPr>
            <p:ph idx="1"/>
          </p:nvPr>
        </p:nvPicPr>
        <p:blipFill>
          <a:blip r:embed="rId2"/>
          <a:stretch>
            <a:fillRect/>
          </a:stretch>
        </p:blipFill>
        <p:spPr>
          <a:xfrm>
            <a:off x="2516153" y="1825625"/>
            <a:ext cx="7159694" cy="4351338"/>
          </a:xfrm>
        </p:spPr>
      </p:pic>
    </p:spTree>
    <p:extLst>
      <p:ext uri="{BB962C8B-B14F-4D97-AF65-F5344CB8AC3E}">
        <p14:creationId xmlns:p14="http://schemas.microsoft.com/office/powerpoint/2010/main" val="1374459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A2490-AAC5-42D6-2810-EAD0D27E5036}"/>
              </a:ext>
            </a:extLst>
          </p:cNvPr>
          <p:cNvSpPr>
            <a:spLocks noGrp="1"/>
          </p:cNvSpPr>
          <p:nvPr>
            <p:ph type="title"/>
          </p:nvPr>
        </p:nvSpPr>
        <p:spPr/>
        <p:txBody>
          <a:bodyPr/>
          <a:lstStyle/>
          <a:p>
            <a:pPr algn="ctr"/>
            <a:r>
              <a:rPr lang="en-IN" dirty="0">
                <a:solidFill>
                  <a:srgbClr val="000000"/>
                </a:solidFill>
                <a:latin typeface="EB Garamond" panose="020B0604020202020204" pitchFamily="2" charset="0"/>
              </a:rPr>
              <a:t>T</a:t>
            </a:r>
            <a:r>
              <a:rPr lang="en-IN" b="0" i="0" dirty="0">
                <a:solidFill>
                  <a:srgbClr val="000000"/>
                </a:solidFill>
                <a:effectLst/>
                <a:latin typeface="EB Garamond" panose="020B0604020202020204" pitchFamily="2" charset="0"/>
              </a:rPr>
              <a:t>ransition </a:t>
            </a:r>
            <a:r>
              <a:rPr lang="en-IN" dirty="0">
                <a:solidFill>
                  <a:srgbClr val="000000"/>
                </a:solidFill>
                <a:latin typeface="EB Garamond" panose="020B0604020202020204" pitchFamily="2" charset="0"/>
              </a:rPr>
              <a:t>P</a:t>
            </a:r>
            <a:r>
              <a:rPr lang="en-IN" b="0" i="0" dirty="0">
                <a:solidFill>
                  <a:srgbClr val="000000"/>
                </a:solidFill>
                <a:effectLst/>
                <a:latin typeface="EB Garamond" panose="020B0604020202020204" pitchFamily="2" charset="0"/>
              </a:rPr>
              <a:t>robability</a:t>
            </a:r>
            <a:endParaRPr lang="en-IN" dirty="0"/>
          </a:p>
        </p:txBody>
      </p:sp>
      <p:pic>
        <p:nvPicPr>
          <p:cNvPr id="4" name="Content Placeholder 3">
            <a:extLst>
              <a:ext uri="{FF2B5EF4-FFF2-40B4-BE49-F238E27FC236}">
                <a16:creationId xmlns:a16="http://schemas.microsoft.com/office/drawing/2014/main" id="{EE991988-0ADA-1513-054D-D17477EE6DBE}"/>
              </a:ext>
            </a:extLst>
          </p:cNvPr>
          <p:cNvPicPr>
            <a:picLocks noGrp="1" noChangeAspect="1"/>
          </p:cNvPicPr>
          <p:nvPr>
            <p:ph idx="1"/>
          </p:nvPr>
        </p:nvPicPr>
        <p:blipFill>
          <a:blip r:embed="rId3"/>
          <a:stretch>
            <a:fillRect/>
          </a:stretch>
        </p:blipFill>
        <p:spPr>
          <a:xfrm>
            <a:off x="3176835" y="2152068"/>
            <a:ext cx="6075918" cy="2991221"/>
          </a:xfrm>
          <a:prstGeom prst="rect">
            <a:avLst/>
          </a:prstGeom>
        </p:spPr>
      </p:pic>
    </p:spTree>
    <p:extLst>
      <p:ext uri="{BB962C8B-B14F-4D97-AF65-F5344CB8AC3E}">
        <p14:creationId xmlns:p14="http://schemas.microsoft.com/office/powerpoint/2010/main" val="1043033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F05A3-8D06-8E60-6890-DE4E326C3C06}"/>
              </a:ext>
            </a:extLst>
          </p:cNvPr>
          <p:cNvSpPr>
            <a:spLocks noGrp="1"/>
          </p:cNvSpPr>
          <p:nvPr>
            <p:ph type="title"/>
          </p:nvPr>
        </p:nvSpPr>
        <p:spPr/>
        <p:txBody>
          <a:bodyPr/>
          <a:lstStyle/>
          <a:p>
            <a:r>
              <a:rPr lang="en-US" dirty="0">
                <a:solidFill>
                  <a:srgbClr val="444444"/>
                </a:solidFill>
                <a:latin typeface="Poppins" panose="00000500000000000000" pitchFamily="2" charset="0"/>
              </a:rPr>
              <a:t>T</a:t>
            </a:r>
            <a:r>
              <a:rPr lang="en-US" b="0" i="0" dirty="0">
                <a:solidFill>
                  <a:srgbClr val="444444"/>
                </a:solidFill>
                <a:effectLst/>
                <a:latin typeface="Poppins" panose="00000500000000000000" pitchFamily="2" charset="0"/>
              </a:rPr>
              <a:t>ransition probability</a:t>
            </a:r>
            <a:endParaRPr lang="en-IN" dirty="0"/>
          </a:p>
        </p:txBody>
      </p:sp>
      <p:sp>
        <p:nvSpPr>
          <p:cNvPr id="3" name="Content Placeholder 2">
            <a:extLst>
              <a:ext uri="{FF2B5EF4-FFF2-40B4-BE49-F238E27FC236}">
                <a16:creationId xmlns:a16="http://schemas.microsoft.com/office/drawing/2014/main" id="{9AA9AC14-9E3A-884E-1D3D-3830727341D8}"/>
              </a:ext>
            </a:extLst>
          </p:cNvPr>
          <p:cNvSpPr>
            <a:spLocks noGrp="1"/>
          </p:cNvSpPr>
          <p:nvPr>
            <p:ph idx="1"/>
          </p:nvPr>
        </p:nvSpPr>
        <p:spPr/>
        <p:txBody>
          <a:bodyPr/>
          <a:lstStyle/>
          <a:p>
            <a:pPr algn="just"/>
            <a:r>
              <a:rPr lang="en-US" b="0" i="0" dirty="0">
                <a:solidFill>
                  <a:srgbClr val="444444"/>
                </a:solidFill>
                <a:effectLst/>
                <a:latin typeface="Poppins" panose="00000500000000000000" pitchFamily="2" charset="0"/>
              </a:rPr>
              <a:t>The transition probability is the likelihood of a particular sequence for example, how likely is that a noun is followed by a model and a model by a verb and a verb by a noun. This probability is known as Transition probability. It should be high for a particular sequence to be correct.</a:t>
            </a:r>
            <a:endParaRPr lang="en-IN" dirty="0"/>
          </a:p>
        </p:txBody>
      </p:sp>
      <p:pic>
        <p:nvPicPr>
          <p:cNvPr id="4" name="Picture 3">
            <a:extLst>
              <a:ext uri="{FF2B5EF4-FFF2-40B4-BE49-F238E27FC236}">
                <a16:creationId xmlns:a16="http://schemas.microsoft.com/office/drawing/2014/main" id="{6E57B702-F005-9D14-1294-910B627D39C4}"/>
              </a:ext>
            </a:extLst>
          </p:cNvPr>
          <p:cNvPicPr>
            <a:picLocks noChangeAspect="1"/>
          </p:cNvPicPr>
          <p:nvPr/>
        </p:nvPicPr>
        <p:blipFill>
          <a:blip r:embed="rId2"/>
          <a:stretch>
            <a:fillRect/>
          </a:stretch>
        </p:blipFill>
        <p:spPr>
          <a:xfrm>
            <a:off x="5032801" y="3770529"/>
            <a:ext cx="5723729" cy="2818807"/>
          </a:xfrm>
          <a:prstGeom prst="rect">
            <a:avLst/>
          </a:prstGeom>
        </p:spPr>
      </p:pic>
    </p:spTree>
    <p:extLst>
      <p:ext uri="{BB962C8B-B14F-4D97-AF65-F5344CB8AC3E}">
        <p14:creationId xmlns:p14="http://schemas.microsoft.com/office/powerpoint/2010/main" val="2847972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EFD94-F0F0-1908-3601-F32467A9ADDF}"/>
              </a:ext>
            </a:extLst>
          </p:cNvPr>
          <p:cNvSpPr>
            <a:spLocks noGrp="1"/>
          </p:cNvSpPr>
          <p:nvPr>
            <p:ph type="title"/>
          </p:nvPr>
        </p:nvSpPr>
        <p:spPr/>
        <p:txBody>
          <a:bodyPr/>
          <a:lstStyle/>
          <a:p>
            <a:r>
              <a:rPr lang="en-IN" b="0" i="0" dirty="0">
                <a:solidFill>
                  <a:srgbClr val="444444"/>
                </a:solidFill>
                <a:effectLst/>
                <a:latin typeface="Poppins" panose="00000500000000000000" pitchFamily="2" charset="0"/>
              </a:rPr>
              <a:t>Emission probability.</a:t>
            </a:r>
            <a:endParaRPr lang="en-IN" dirty="0"/>
          </a:p>
        </p:txBody>
      </p:sp>
      <p:sp>
        <p:nvSpPr>
          <p:cNvPr id="3" name="Content Placeholder 2">
            <a:extLst>
              <a:ext uri="{FF2B5EF4-FFF2-40B4-BE49-F238E27FC236}">
                <a16:creationId xmlns:a16="http://schemas.microsoft.com/office/drawing/2014/main" id="{9123C84D-B121-F16E-E56A-3D04A5EE3C89}"/>
              </a:ext>
            </a:extLst>
          </p:cNvPr>
          <p:cNvSpPr>
            <a:spLocks noGrp="1"/>
          </p:cNvSpPr>
          <p:nvPr>
            <p:ph idx="1"/>
          </p:nvPr>
        </p:nvSpPr>
        <p:spPr/>
        <p:txBody>
          <a:bodyPr/>
          <a:lstStyle/>
          <a:p>
            <a:r>
              <a:rPr lang="en-US" dirty="0">
                <a:solidFill>
                  <a:srgbClr val="444444"/>
                </a:solidFill>
                <a:latin typeface="Poppins" panose="00000500000000000000" pitchFamily="2" charset="0"/>
              </a:rPr>
              <a:t>W</a:t>
            </a:r>
            <a:r>
              <a:rPr lang="en-US" b="0" i="0" dirty="0">
                <a:solidFill>
                  <a:srgbClr val="444444"/>
                </a:solidFill>
                <a:effectLst/>
                <a:latin typeface="Poppins" panose="00000500000000000000" pitchFamily="2" charset="0"/>
              </a:rPr>
              <a:t>hat is the probability that the word Ted is a noun, will is a model, spot is a verb and Will is a noun. These sets of probabilities are Emission probabilities and should be high for our tagging to be likely.</a:t>
            </a:r>
            <a:endParaRPr lang="en-IN" dirty="0"/>
          </a:p>
        </p:txBody>
      </p:sp>
      <p:pic>
        <p:nvPicPr>
          <p:cNvPr id="4" name="Picture 3">
            <a:extLst>
              <a:ext uri="{FF2B5EF4-FFF2-40B4-BE49-F238E27FC236}">
                <a16:creationId xmlns:a16="http://schemas.microsoft.com/office/drawing/2014/main" id="{D9C165E9-D35C-7D56-22E8-042A50A1A6AE}"/>
              </a:ext>
            </a:extLst>
          </p:cNvPr>
          <p:cNvPicPr>
            <a:picLocks noChangeAspect="1"/>
          </p:cNvPicPr>
          <p:nvPr/>
        </p:nvPicPr>
        <p:blipFill>
          <a:blip r:embed="rId2"/>
          <a:stretch>
            <a:fillRect/>
          </a:stretch>
        </p:blipFill>
        <p:spPr>
          <a:xfrm>
            <a:off x="5275561" y="3183568"/>
            <a:ext cx="6078239" cy="2993395"/>
          </a:xfrm>
          <a:prstGeom prst="rect">
            <a:avLst/>
          </a:prstGeom>
        </p:spPr>
      </p:pic>
    </p:spTree>
    <p:extLst>
      <p:ext uri="{BB962C8B-B14F-4D97-AF65-F5344CB8AC3E}">
        <p14:creationId xmlns:p14="http://schemas.microsoft.com/office/powerpoint/2010/main" val="1597319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E42CC-558E-4917-ACBD-558E7D9E4660}"/>
              </a:ext>
            </a:extLst>
          </p:cNvPr>
          <p:cNvSpPr>
            <a:spLocks noGrp="1"/>
          </p:cNvSpPr>
          <p:nvPr>
            <p:ph type="title"/>
          </p:nvPr>
        </p:nvSpPr>
        <p:spPr/>
        <p:txBody>
          <a:bodyPr/>
          <a:lstStyle/>
          <a:p>
            <a:r>
              <a:rPr lang="en-US" dirty="0"/>
              <a:t>Count how many times a word occurs as Noun, modal or verb</a:t>
            </a:r>
            <a:endParaRPr lang="en-IN" dirty="0"/>
          </a:p>
        </p:txBody>
      </p:sp>
      <p:pic>
        <p:nvPicPr>
          <p:cNvPr id="5" name="Content Placeholder 4">
            <a:extLst>
              <a:ext uri="{FF2B5EF4-FFF2-40B4-BE49-F238E27FC236}">
                <a16:creationId xmlns:a16="http://schemas.microsoft.com/office/drawing/2014/main" id="{8612C75F-C6F0-4BFC-905A-90CF925629E2}"/>
              </a:ext>
            </a:extLst>
          </p:cNvPr>
          <p:cNvPicPr>
            <a:picLocks noGrp="1" noChangeAspect="1"/>
          </p:cNvPicPr>
          <p:nvPr>
            <p:ph idx="1"/>
          </p:nvPr>
        </p:nvPicPr>
        <p:blipFill>
          <a:blip r:embed="rId2"/>
          <a:stretch>
            <a:fillRect/>
          </a:stretch>
        </p:blipFill>
        <p:spPr>
          <a:xfrm>
            <a:off x="1632858" y="1610725"/>
            <a:ext cx="8525072" cy="4566238"/>
          </a:xfrm>
        </p:spPr>
      </p:pic>
    </p:spTree>
    <p:extLst>
      <p:ext uri="{BB962C8B-B14F-4D97-AF65-F5344CB8AC3E}">
        <p14:creationId xmlns:p14="http://schemas.microsoft.com/office/powerpoint/2010/main" val="1772209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5B03B-CEC3-4135-A287-98022B5266B2}"/>
              </a:ext>
            </a:extLst>
          </p:cNvPr>
          <p:cNvSpPr>
            <a:spLocks noGrp="1"/>
          </p:cNvSpPr>
          <p:nvPr>
            <p:ph type="title"/>
          </p:nvPr>
        </p:nvSpPr>
        <p:spPr/>
        <p:txBody>
          <a:bodyPr/>
          <a:lstStyle/>
          <a:p>
            <a:r>
              <a:rPr lang="en-US" dirty="0"/>
              <a:t>Calculate Emission Probabilities</a:t>
            </a:r>
            <a:endParaRPr lang="en-IN" dirty="0"/>
          </a:p>
        </p:txBody>
      </p:sp>
      <p:pic>
        <p:nvPicPr>
          <p:cNvPr id="5" name="Content Placeholder 4">
            <a:extLst>
              <a:ext uri="{FF2B5EF4-FFF2-40B4-BE49-F238E27FC236}">
                <a16:creationId xmlns:a16="http://schemas.microsoft.com/office/drawing/2014/main" id="{E89E3652-0D53-44F5-8A80-C9E726DDB859}"/>
              </a:ext>
            </a:extLst>
          </p:cNvPr>
          <p:cNvPicPr>
            <a:picLocks noGrp="1" noChangeAspect="1"/>
          </p:cNvPicPr>
          <p:nvPr>
            <p:ph idx="1"/>
          </p:nvPr>
        </p:nvPicPr>
        <p:blipFill>
          <a:blip r:embed="rId2"/>
          <a:stretch>
            <a:fillRect/>
          </a:stretch>
        </p:blipFill>
        <p:spPr>
          <a:xfrm>
            <a:off x="1278294" y="1681946"/>
            <a:ext cx="9993171" cy="4810929"/>
          </a:xfrm>
        </p:spPr>
      </p:pic>
      <p:cxnSp>
        <p:nvCxnSpPr>
          <p:cNvPr id="4" name="Straight Arrow Connector 3">
            <a:extLst>
              <a:ext uri="{FF2B5EF4-FFF2-40B4-BE49-F238E27FC236}">
                <a16:creationId xmlns:a16="http://schemas.microsoft.com/office/drawing/2014/main" id="{15EFC219-4D0E-3D9B-A3BC-29179ABCF1E3}"/>
              </a:ext>
            </a:extLst>
          </p:cNvPr>
          <p:cNvCxnSpPr/>
          <p:nvPr/>
        </p:nvCxnSpPr>
        <p:spPr>
          <a:xfrm flipV="1">
            <a:off x="2969443" y="2224726"/>
            <a:ext cx="1102936" cy="1564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469BCE3-CF73-7C80-2243-C0F6E6D8E67B}"/>
              </a:ext>
            </a:extLst>
          </p:cNvPr>
          <p:cNvSpPr txBox="1"/>
          <p:nvPr/>
        </p:nvSpPr>
        <p:spPr>
          <a:xfrm>
            <a:off x="4289196" y="1951348"/>
            <a:ext cx="2318994" cy="369332"/>
          </a:xfrm>
          <a:prstGeom prst="rect">
            <a:avLst/>
          </a:prstGeom>
          <a:noFill/>
        </p:spPr>
        <p:txBody>
          <a:bodyPr wrap="square" rtlCol="0">
            <a:spAutoFit/>
          </a:bodyPr>
          <a:lstStyle/>
          <a:p>
            <a:r>
              <a:rPr lang="en-IN" dirty="0"/>
              <a:t>Column sum</a:t>
            </a:r>
          </a:p>
        </p:txBody>
      </p:sp>
    </p:spTree>
    <p:extLst>
      <p:ext uri="{BB962C8B-B14F-4D97-AF65-F5344CB8AC3E}">
        <p14:creationId xmlns:p14="http://schemas.microsoft.com/office/powerpoint/2010/main" val="2038013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322C3-77C9-4A89-9435-CAEA037221FD}"/>
              </a:ext>
            </a:extLst>
          </p:cNvPr>
          <p:cNvSpPr>
            <a:spLocks noGrp="1"/>
          </p:cNvSpPr>
          <p:nvPr>
            <p:ph type="title"/>
          </p:nvPr>
        </p:nvSpPr>
        <p:spPr/>
        <p:txBody>
          <a:bodyPr/>
          <a:lstStyle/>
          <a:p>
            <a:r>
              <a:rPr lang="en-US" dirty="0"/>
              <a:t>Transition Probabilities</a:t>
            </a:r>
            <a:endParaRPr lang="en-IN" dirty="0"/>
          </a:p>
        </p:txBody>
      </p:sp>
      <p:pic>
        <p:nvPicPr>
          <p:cNvPr id="5" name="Content Placeholder 4">
            <a:extLst>
              <a:ext uri="{FF2B5EF4-FFF2-40B4-BE49-F238E27FC236}">
                <a16:creationId xmlns:a16="http://schemas.microsoft.com/office/drawing/2014/main" id="{521A12BD-2D85-473E-A0A6-BA5B6925F07A}"/>
              </a:ext>
            </a:extLst>
          </p:cNvPr>
          <p:cNvPicPr>
            <a:picLocks noGrp="1" noChangeAspect="1"/>
          </p:cNvPicPr>
          <p:nvPr>
            <p:ph idx="1"/>
          </p:nvPr>
        </p:nvPicPr>
        <p:blipFill>
          <a:blip r:embed="rId2"/>
          <a:stretch>
            <a:fillRect/>
          </a:stretch>
        </p:blipFill>
        <p:spPr>
          <a:xfrm>
            <a:off x="2020500" y="1825625"/>
            <a:ext cx="8151000" cy="4351338"/>
          </a:xfrm>
        </p:spPr>
      </p:pic>
    </p:spTree>
    <p:extLst>
      <p:ext uri="{BB962C8B-B14F-4D97-AF65-F5344CB8AC3E}">
        <p14:creationId xmlns:p14="http://schemas.microsoft.com/office/powerpoint/2010/main" val="491550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13AC7-5F4D-472E-8395-D9CFF4EFE1BA}"/>
              </a:ext>
            </a:extLst>
          </p:cNvPr>
          <p:cNvSpPr>
            <a:spLocks noGrp="1"/>
          </p:cNvSpPr>
          <p:nvPr>
            <p:ph type="title"/>
          </p:nvPr>
        </p:nvSpPr>
        <p:spPr/>
        <p:txBody>
          <a:bodyPr/>
          <a:lstStyle/>
          <a:p>
            <a:r>
              <a:rPr lang="en-US" dirty="0"/>
              <a:t>Transition Probabilities</a:t>
            </a:r>
            <a:endParaRPr lang="en-IN" dirty="0"/>
          </a:p>
        </p:txBody>
      </p:sp>
      <p:pic>
        <p:nvPicPr>
          <p:cNvPr id="5" name="Content Placeholder 4">
            <a:extLst>
              <a:ext uri="{FF2B5EF4-FFF2-40B4-BE49-F238E27FC236}">
                <a16:creationId xmlns:a16="http://schemas.microsoft.com/office/drawing/2014/main" id="{2235FFAD-2E7E-40B9-A72B-AC28C499A481}"/>
              </a:ext>
            </a:extLst>
          </p:cNvPr>
          <p:cNvPicPr>
            <a:picLocks noGrp="1" noChangeAspect="1"/>
          </p:cNvPicPr>
          <p:nvPr>
            <p:ph idx="1"/>
          </p:nvPr>
        </p:nvPicPr>
        <p:blipFill>
          <a:blip r:embed="rId2"/>
          <a:stretch>
            <a:fillRect/>
          </a:stretch>
        </p:blipFill>
        <p:spPr>
          <a:xfrm>
            <a:off x="1685959" y="1825625"/>
            <a:ext cx="8820081" cy="4351338"/>
          </a:xfrm>
        </p:spPr>
      </p:pic>
      <p:cxnSp>
        <p:nvCxnSpPr>
          <p:cNvPr id="4" name="Straight Arrow Connector 3">
            <a:extLst>
              <a:ext uri="{FF2B5EF4-FFF2-40B4-BE49-F238E27FC236}">
                <a16:creationId xmlns:a16="http://schemas.microsoft.com/office/drawing/2014/main" id="{98C4EC38-F5D4-0250-9776-9720046E501F}"/>
              </a:ext>
            </a:extLst>
          </p:cNvPr>
          <p:cNvCxnSpPr/>
          <p:nvPr/>
        </p:nvCxnSpPr>
        <p:spPr>
          <a:xfrm flipV="1">
            <a:off x="3535543" y="1875354"/>
            <a:ext cx="1885360" cy="2058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F618A24-3C38-9A1E-ACA0-94DC1CFF0BE3}"/>
              </a:ext>
            </a:extLst>
          </p:cNvPr>
          <p:cNvSpPr txBox="1"/>
          <p:nvPr/>
        </p:nvSpPr>
        <p:spPr>
          <a:xfrm>
            <a:off x="5571241" y="1690688"/>
            <a:ext cx="1960775" cy="369332"/>
          </a:xfrm>
          <a:prstGeom prst="rect">
            <a:avLst/>
          </a:prstGeom>
          <a:noFill/>
        </p:spPr>
        <p:txBody>
          <a:bodyPr wrap="square" rtlCol="0">
            <a:spAutoFit/>
          </a:bodyPr>
          <a:lstStyle/>
          <a:p>
            <a:r>
              <a:rPr lang="en-IN" dirty="0"/>
              <a:t>Row sum</a:t>
            </a:r>
          </a:p>
        </p:txBody>
      </p:sp>
    </p:spTree>
    <p:extLst>
      <p:ext uri="{BB962C8B-B14F-4D97-AF65-F5344CB8AC3E}">
        <p14:creationId xmlns:p14="http://schemas.microsoft.com/office/powerpoint/2010/main" val="2584523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9DAA7-B690-418A-8233-F4C762D58F93}"/>
              </a:ext>
            </a:extLst>
          </p:cNvPr>
          <p:cNvSpPr>
            <a:spLocks noGrp="1"/>
          </p:cNvSpPr>
          <p:nvPr>
            <p:ph type="title"/>
          </p:nvPr>
        </p:nvSpPr>
        <p:spPr/>
        <p:txBody>
          <a:bodyPr/>
          <a:lstStyle/>
          <a:p>
            <a:r>
              <a:rPr lang="en-US" dirty="0"/>
              <a:t>Hidden Markov model</a:t>
            </a:r>
            <a:endParaRPr lang="en-IN" dirty="0"/>
          </a:p>
        </p:txBody>
      </p:sp>
      <p:pic>
        <p:nvPicPr>
          <p:cNvPr id="5" name="Content Placeholder 4">
            <a:extLst>
              <a:ext uri="{FF2B5EF4-FFF2-40B4-BE49-F238E27FC236}">
                <a16:creationId xmlns:a16="http://schemas.microsoft.com/office/drawing/2014/main" id="{BB60DA1B-D972-4935-96E2-CA508561547B}"/>
              </a:ext>
            </a:extLst>
          </p:cNvPr>
          <p:cNvPicPr>
            <a:picLocks noGrp="1" noChangeAspect="1"/>
          </p:cNvPicPr>
          <p:nvPr>
            <p:ph idx="1"/>
          </p:nvPr>
        </p:nvPicPr>
        <p:blipFill>
          <a:blip r:embed="rId2"/>
          <a:stretch>
            <a:fillRect/>
          </a:stretch>
        </p:blipFill>
        <p:spPr>
          <a:xfrm>
            <a:off x="2347297" y="1825625"/>
            <a:ext cx="8214955" cy="4767790"/>
          </a:xfrm>
        </p:spPr>
      </p:pic>
    </p:spTree>
    <p:extLst>
      <p:ext uri="{BB962C8B-B14F-4D97-AF65-F5344CB8AC3E}">
        <p14:creationId xmlns:p14="http://schemas.microsoft.com/office/powerpoint/2010/main" val="24089150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BED6F-42F9-4399-90E8-0F313B9B8ED5}"/>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7CBD7EDB-14D4-48D2-8B21-6D00CB7B7D59}"/>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30000"/>
                    </a14:imgEffect>
                  </a14:imgLayer>
                </a14:imgProps>
              </a:ext>
            </a:extLst>
          </a:blip>
          <a:stretch>
            <a:fillRect/>
          </a:stretch>
        </p:blipFill>
        <p:spPr>
          <a:xfrm>
            <a:off x="943028" y="1862138"/>
            <a:ext cx="7932535" cy="4314186"/>
          </a:xfrm>
        </p:spPr>
      </p:pic>
      <p:pic>
        <p:nvPicPr>
          <p:cNvPr id="4" name="Picture 3">
            <a:extLst>
              <a:ext uri="{FF2B5EF4-FFF2-40B4-BE49-F238E27FC236}">
                <a16:creationId xmlns:a16="http://schemas.microsoft.com/office/drawing/2014/main" id="{BB2E80DC-32C8-4209-77B3-AD4DFEAE40D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43000"/>
                    </a14:imgEffect>
                  </a14:imgLayer>
                </a14:imgProps>
              </a:ext>
            </a:extLst>
          </a:blip>
          <a:stretch>
            <a:fillRect/>
          </a:stretch>
        </p:blipFill>
        <p:spPr>
          <a:xfrm>
            <a:off x="9153707" y="3873587"/>
            <a:ext cx="2651990" cy="2385267"/>
          </a:xfrm>
          <a:prstGeom prst="rect">
            <a:avLst/>
          </a:prstGeom>
        </p:spPr>
      </p:pic>
    </p:spTree>
    <p:extLst>
      <p:ext uri="{BB962C8B-B14F-4D97-AF65-F5344CB8AC3E}">
        <p14:creationId xmlns:p14="http://schemas.microsoft.com/office/powerpoint/2010/main" val="7298470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C655E-645D-4AF3-9C56-F0A52F785F1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BB2E875-9D59-461F-9DF2-BC82005E96C4}"/>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1000"/>
                    </a14:imgEffect>
                  </a14:imgLayer>
                </a14:imgProps>
              </a:ext>
            </a:extLst>
          </a:blip>
          <a:stretch>
            <a:fillRect/>
          </a:stretch>
        </p:blipFill>
        <p:spPr>
          <a:xfrm>
            <a:off x="838200" y="2141537"/>
            <a:ext cx="8581409" cy="4351338"/>
          </a:xfrm>
        </p:spPr>
      </p:pic>
      <p:pic>
        <p:nvPicPr>
          <p:cNvPr id="3" name="Picture 2">
            <a:extLst>
              <a:ext uri="{FF2B5EF4-FFF2-40B4-BE49-F238E27FC236}">
                <a16:creationId xmlns:a16="http://schemas.microsoft.com/office/drawing/2014/main" id="{7519AEFB-5762-BFA8-91A0-9168924ED1CC}"/>
              </a:ext>
            </a:extLst>
          </p:cNvPr>
          <p:cNvPicPr>
            <a:picLocks noChangeAspect="1"/>
          </p:cNvPicPr>
          <p:nvPr/>
        </p:nvPicPr>
        <p:blipFill>
          <a:blip r:embed="rId4"/>
          <a:stretch>
            <a:fillRect/>
          </a:stretch>
        </p:blipFill>
        <p:spPr>
          <a:xfrm>
            <a:off x="8969805" y="1602007"/>
            <a:ext cx="2595009" cy="2321064"/>
          </a:xfrm>
          <a:prstGeom prst="rect">
            <a:avLst/>
          </a:prstGeom>
        </p:spPr>
      </p:pic>
    </p:spTree>
    <p:extLst>
      <p:ext uri="{BB962C8B-B14F-4D97-AF65-F5344CB8AC3E}">
        <p14:creationId xmlns:p14="http://schemas.microsoft.com/office/powerpoint/2010/main" val="4056841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9121D-B2FC-4256-BB50-40E6A9EF33EE}"/>
              </a:ext>
            </a:extLst>
          </p:cNvPr>
          <p:cNvSpPr>
            <a:spLocks noGrp="1"/>
          </p:cNvSpPr>
          <p:nvPr>
            <p:ph type="title"/>
          </p:nvPr>
        </p:nvSpPr>
        <p:spPr/>
        <p:txBody>
          <a:bodyPr/>
          <a:lstStyle/>
          <a:p>
            <a:r>
              <a:rPr lang="en-US" dirty="0">
                <a:solidFill>
                  <a:srgbClr val="FF0000"/>
                </a:solidFill>
              </a:rPr>
              <a:t>Question: </a:t>
            </a:r>
            <a:r>
              <a:rPr lang="en-US" dirty="0"/>
              <a:t>Jane will spot Will</a:t>
            </a:r>
            <a:r>
              <a:rPr lang="en-US" dirty="0">
                <a:solidFill>
                  <a:srgbClr val="FF0000"/>
                </a:solidFill>
              </a:rPr>
              <a:t>: predict Parts of speech</a:t>
            </a:r>
            <a:endParaRPr lang="en-IN" dirty="0">
              <a:solidFill>
                <a:srgbClr val="FF0000"/>
              </a:solidFill>
            </a:endParaRPr>
          </a:p>
        </p:txBody>
      </p:sp>
      <p:pic>
        <p:nvPicPr>
          <p:cNvPr id="5" name="Content Placeholder 4">
            <a:extLst>
              <a:ext uri="{FF2B5EF4-FFF2-40B4-BE49-F238E27FC236}">
                <a16:creationId xmlns:a16="http://schemas.microsoft.com/office/drawing/2014/main" id="{A78E16CE-AACF-458C-A512-130ED4A6407C}"/>
              </a:ext>
            </a:extLst>
          </p:cNvPr>
          <p:cNvPicPr>
            <a:picLocks noGrp="1" noChangeAspect="1"/>
          </p:cNvPicPr>
          <p:nvPr>
            <p:ph idx="1"/>
          </p:nvPr>
        </p:nvPicPr>
        <p:blipFill>
          <a:blip r:embed="rId2"/>
          <a:stretch>
            <a:fillRect/>
          </a:stretch>
        </p:blipFill>
        <p:spPr>
          <a:xfrm>
            <a:off x="460724" y="1806575"/>
            <a:ext cx="8660701" cy="4351338"/>
          </a:xfrm>
        </p:spPr>
      </p:pic>
    </p:spTree>
    <p:extLst>
      <p:ext uri="{BB962C8B-B14F-4D97-AF65-F5344CB8AC3E}">
        <p14:creationId xmlns:p14="http://schemas.microsoft.com/office/powerpoint/2010/main" val="4162216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2C471-9C18-4F6C-885E-C8B8389CC8E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0399B43-7C49-41B4-9388-A9428083596E}"/>
              </a:ext>
            </a:extLst>
          </p:cNvPr>
          <p:cNvPicPr>
            <a:picLocks noGrp="1" noChangeAspect="1"/>
          </p:cNvPicPr>
          <p:nvPr>
            <p:ph idx="1"/>
          </p:nvPr>
        </p:nvPicPr>
        <p:blipFill>
          <a:blip r:embed="rId2"/>
          <a:stretch>
            <a:fillRect/>
          </a:stretch>
        </p:blipFill>
        <p:spPr>
          <a:xfrm>
            <a:off x="1400174" y="3004425"/>
            <a:ext cx="8698535" cy="3724987"/>
          </a:xfrm>
        </p:spPr>
      </p:pic>
      <p:sp>
        <p:nvSpPr>
          <p:cNvPr id="9" name="TextBox 8">
            <a:extLst>
              <a:ext uri="{FF2B5EF4-FFF2-40B4-BE49-F238E27FC236}">
                <a16:creationId xmlns:a16="http://schemas.microsoft.com/office/drawing/2014/main" id="{B39C5112-72F2-4071-BE89-F57E48D8FE28}"/>
              </a:ext>
            </a:extLst>
          </p:cNvPr>
          <p:cNvSpPr txBox="1"/>
          <p:nvPr/>
        </p:nvSpPr>
        <p:spPr>
          <a:xfrm>
            <a:off x="6821781" y="4637799"/>
            <a:ext cx="3826489" cy="523220"/>
          </a:xfrm>
          <a:prstGeom prst="rect">
            <a:avLst/>
          </a:prstGeom>
          <a:noFill/>
        </p:spPr>
        <p:txBody>
          <a:bodyPr wrap="square" rtlCol="0">
            <a:spAutoFit/>
          </a:bodyPr>
          <a:lstStyle/>
          <a:p>
            <a:r>
              <a:rPr lang="en-US" sz="1400" dirty="0">
                <a:solidFill>
                  <a:srgbClr val="C00000"/>
                </a:solidFill>
              </a:rPr>
              <a:t>Take this  sequence of states  as more probability for this sequence (multiplying </a:t>
            </a:r>
            <a:r>
              <a:rPr lang="en-US" sz="1400">
                <a:solidFill>
                  <a:srgbClr val="C00000"/>
                </a:solidFill>
              </a:rPr>
              <a:t>all probabilities)</a:t>
            </a:r>
            <a:endParaRPr lang="en-IN" sz="1400" dirty="0">
              <a:solidFill>
                <a:srgbClr val="C00000"/>
              </a:solidFill>
            </a:endParaRPr>
          </a:p>
        </p:txBody>
      </p:sp>
      <p:pic>
        <p:nvPicPr>
          <p:cNvPr id="7" name="Picture 6">
            <a:extLst>
              <a:ext uri="{FF2B5EF4-FFF2-40B4-BE49-F238E27FC236}">
                <a16:creationId xmlns:a16="http://schemas.microsoft.com/office/drawing/2014/main" id="{BB2650B3-2B92-7852-22A9-6349762628E9}"/>
              </a:ext>
            </a:extLst>
          </p:cNvPr>
          <p:cNvPicPr>
            <a:picLocks noChangeAspect="1"/>
          </p:cNvPicPr>
          <p:nvPr/>
        </p:nvPicPr>
        <p:blipFill>
          <a:blip r:embed="rId3"/>
          <a:stretch>
            <a:fillRect/>
          </a:stretch>
        </p:blipFill>
        <p:spPr>
          <a:xfrm>
            <a:off x="3992955" y="0"/>
            <a:ext cx="3177815" cy="2842506"/>
          </a:xfrm>
          <a:prstGeom prst="rect">
            <a:avLst/>
          </a:prstGeom>
        </p:spPr>
      </p:pic>
      <p:pic>
        <p:nvPicPr>
          <p:cNvPr id="11" name="Picture 10">
            <a:extLst>
              <a:ext uri="{FF2B5EF4-FFF2-40B4-BE49-F238E27FC236}">
                <a16:creationId xmlns:a16="http://schemas.microsoft.com/office/drawing/2014/main" id="{528F3E47-7874-D317-C7CF-F1E839EE01D2}"/>
              </a:ext>
            </a:extLst>
          </p:cNvPr>
          <p:cNvPicPr>
            <a:picLocks noChangeAspect="1"/>
          </p:cNvPicPr>
          <p:nvPr/>
        </p:nvPicPr>
        <p:blipFill>
          <a:blip r:embed="rId4"/>
          <a:stretch>
            <a:fillRect/>
          </a:stretch>
        </p:blipFill>
        <p:spPr>
          <a:xfrm>
            <a:off x="7636419" y="0"/>
            <a:ext cx="3011851" cy="2762250"/>
          </a:xfrm>
          <a:prstGeom prst="rect">
            <a:avLst/>
          </a:prstGeom>
        </p:spPr>
      </p:pic>
      <p:cxnSp>
        <p:nvCxnSpPr>
          <p:cNvPr id="15" name="Straight Arrow Connector 14">
            <a:extLst>
              <a:ext uri="{FF2B5EF4-FFF2-40B4-BE49-F238E27FC236}">
                <a16:creationId xmlns:a16="http://schemas.microsoft.com/office/drawing/2014/main" id="{E05BF0C3-BAE7-CA4A-3498-B9B2588A29A6}"/>
              </a:ext>
            </a:extLst>
          </p:cNvPr>
          <p:cNvCxnSpPr/>
          <p:nvPr/>
        </p:nvCxnSpPr>
        <p:spPr>
          <a:xfrm>
            <a:off x="6467475" y="4781550"/>
            <a:ext cx="2571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67592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A9D04-5353-4459-9B27-825C83BC9B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95EBA2E-0816-4C79-BD42-DCB63EE2AD6C}"/>
              </a:ext>
            </a:extLst>
          </p:cNvPr>
          <p:cNvSpPr>
            <a:spLocks noGrp="1"/>
          </p:cNvSpPr>
          <p:nvPr>
            <p:ph idx="1"/>
          </p:nvPr>
        </p:nvSpPr>
        <p:spPr/>
        <p:txBody>
          <a:bodyPr/>
          <a:lstStyle/>
          <a:p>
            <a:r>
              <a:rPr lang="en-US" dirty="0">
                <a:hlinkClick r:id="rId2"/>
              </a:rPr>
              <a:t>POS (Part-of-Speech) tagging with Hidden Markov Model (mygreatlearning.com)</a:t>
            </a:r>
            <a:endParaRPr lang="en-US" dirty="0"/>
          </a:p>
          <a:p>
            <a:r>
              <a:rPr lang="en-US" dirty="0">
                <a:hlinkClick r:id="rId3"/>
              </a:rPr>
              <a:t>Part-of-speech (POS) tagging with Hidden Markov Model (HMM) – YouTube</a:t>
            </a:r>
            <a:endParaRPr lang="en-US" dirty="0"/>
          </a:p>
          <a:p>
            <a:r>
              <a:rPr lang="en-US" dirty="0">
                <a:hlinkClick r:id="rId2"/>
              </a:rPr>
              <a:t>POS (Part-of-Speech) tagging with Hidden Markov Model | Great Learning (mygreatlearning.com)</a:t>
            </a:r>
            <a:endParaRPr lang="en-IN" dirty="0"/>
          </a:p>
        </p:txBody>
      </p:sp>
    </p:spTree>
    <p:extLst>
      <p:ext uri="{BB962C8B-B14F-4D97-AF65-F5344CB8AC3E}">
        <p14:creationId xmlns:p14="http://schemas.microsoft.com/office/powerpoint/2010/main" val="2048151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5413</TotalTime>
  <Words>1501</Words>
  <Application>Microsoft Office PowerPoint</Application>
  <PresentationFormat>Widescreen</PresentationFormat>
  <Paragraphs>87</Paragraphs>
  <Slides>38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Calibri</vt:lpstr>
      <vt:lpstr>Calibri Light</vt:lpstr>
      <vt:lpstr>EB Garamond</vt:lpstr>
      <vt:lpstr>Helvetica Neue</vt:lpstr>
      <vt:lpstr>Poppins</vt:lpstr>
      <vt:lpstr>Tinos</vt:lpstr>
      <vt:lpstr>Office Theme</vt:lpstr>
      <vt:lpstr>Applications of Sequence Classification </vt:lpstr>
      <vt:lpstr>Sequence Classification</vt:lpstr>
      <vt:lpstr>PowerPoint Presentation</vt:lpstr>
      <vt:lpstr>Applications</vt:lpstr>
      <vt:lpstr>Hidden Markov Model (HMM)</vt:lpstr>
      <vt:lpstr>Hidden Markov Model</vt:lpstr>
      <vt:lpstr>Markov assumption</vt:lpstr>
      <vt:lpstr>PowerPoint Presentation</vt:lpstr>
      <vt:lpstr>PowerPoint Presentation</vt:lpstr>
      <vt:lpstr>Parts of speech</vt:lpstr>
      <vt:lpstr>PowerPoint Presentation</vt:lpstr>
      <vt:lpstr>PowerPoint Presentation</vt:lpstr>
      <vt:lpstr>Application of Hidden Markov Model</vt:lpstr>
      <vt:lpstr>Applications of HMM</vt:lpstr>
      <vt:lpstr>PowerPoint Presentation</vt:lpstr>
      <vt:lpstr>PowerPoint Presentation</vt:lpstr>
      <vt:lpstr>Applications of  sequence classification such as part-of-speech tagging using HMM</vt:lpstr>
      <vt:lpstr>part-of-speech tagging</vt:lpstr>
      <vt:lpstr>Given a sentence, predict the tag of each word</vt:lpstr>
      <vt:lpstr>Where is Parts of Speech used: </vt:lpstr>
      <vt:lpstr>Parts of speech</vt:lpstr>
      <vt:lpstr>PowerPoint Presentation</vt:lpstr>
      <vt:lpstr>PowerPoint Presentation</vt:lpstr>
      <vt:lpstr>PowerPoint Presentation</vt:lpstr>
      <vt:lpstr>Predict the tags for the following sentence</vt:lpstr>
      <vt:lpstr>Transition Probability</vt:lpstr>
      <vt:lpstr>Transition probability</vt:lpstr>
      <vt:lpstr>Emission probability.</vt:lpstr>
      <vt:lpstr>Count how many times a word occurs as Noun, modal or verb</vt:lpstr>
      <vt:lpstr>Calculate Emission Probabilities</vt:lpstr>
      <vt:lpstr>Transition Probabilities</vt:lpstr>
      <vt:lpstr>Transition Probabilities</vt:lpstr>
      <vt:lpstr>Hidden Markov model</vt:lpstr>
      <vt:lpstr>PowerPoint Presentation</vt:lpstr>
      <vt:lpstr>PowerPoint Presentation</vt:lpstr>
      <vt:lpstr>Question: Jane will spot Will: predict Parts of speech</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Hidden Markov Model</dc:title>
  <dc:creator>kriti ohri</dc:creator>
  <cp:lastModifiedBy>Kriti Ohri</cp:lastModifiedBy>
  <cp:revision>9</cp:revision>
  <dcterms:created xsi:type="dcterms:W3CDTF">2021-12-25T16:17:33Z</dcterms:created>
  <dcterms:modified xsi:type="dcterms:W3CDTF">2024-11-17T03:22:04Z</dcterms:modified>
</cp:coreProperties>
</file>