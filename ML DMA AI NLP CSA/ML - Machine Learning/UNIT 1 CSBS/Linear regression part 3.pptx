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320" r:id="rId2"/>
    <p:sldId id="257" r:id="rId3"/>
    <p:sldId id="291" r:id="rId4"/>
    <p:sldId id="278" r:id="rId5"/>
    <p:sldId id="259" r:id="rId6"/>
    <p:sldId id="260" r:id="rId7"/>
    <p:sldId id="261" r:id="rId8"/>
    <p:sldId id="304" r:id="rId9"/>
    <p:sldId id="263" r:id="rId10"/>
    <p:sldId id="264" r:id="rId11"/>
    <p:sldId id="265" r:id="rId12"/>
    <p:sldId id="266" r:id="rId13"/>
    <p:sldId id="321" r:id="rId14"/>
    <p:sldId id="258" r:id="rId15"/>
    <p:sldId id="322" r:id="rId16"/>
    <p:sldId id="323" r:id="rId17"/>
    <p:sldId id="324" r:id="rId18"/>
    <p:sldId id="262" r:id="rId19"/>
    <p:sldId id="325" r:id="rId20"/>
    <p:sldId id="326" r:id="rId21"/>
    <p:sldId id="327" r:id="rId22"/>
    <p:sldId id="328" r:id="rId23"/>
    <p:sldId id="329" r:id="rId24"/>
    <p:sldId id="268" r:id="rId25"/>
    <p:sldId id="269" r:id="rId26"/>
    <p:sldId id="292" r:id="rId27"/>
    <p:sldId id="293" r:id="rId28"/>
    <p:sldId id="294" r:id="rId29"/>
    <p:sldId id="295" r:id="rId30"/>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4660"/>
  </p:normalViewPr>
  <p:slideViewPr>
    <p:cSldViewPr>
      <p:cViewPr varScale="1">
        <p:scale>
          <a:sx n="116" d="100"/>
          <a:sy n="116" d="100"/>
        </p:scale>
        <p:origin x="475"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53A4586C-D5A3-4A5C-9519-18FCD40E6F9F}" type="datetimeFigureOut">
              <a:rPr lang="en-IN" smtClean="0"/>
              <a:t>20-12-2024</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5111DD5E-E2A1-4433-8BB8-CCF55CB6AB1A}" type="slidenum">
              <a:rPr lang="en-IN" smtClean="0"/>
              <a:t>‹#›</a:t>
            </a:fld>
            <a:endParaRPr lang="en-IN"/>
          </a:p>
        </p:txBody>
      </p:sp>
    </p:spTree>
    <p:extLst>
      <p:ext uri="{BB962C8B-B14F-4D97-AF65-F5344CB8AC3E}">
        <p14:creationId xmlns:p14="http://schemas.microsoft.com/office/powerpoint/2010/main" val="2428504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a:p>
        </p:txBody>
      </p:sp>
    </p:spTree>
    <p:extLst>
      <p:ext uri="{BB962C8B-B14F-4D97-AF65-F5344CB8AC3E}">
        <p14:creationId xmlns:p14="http://schemas.microsoft.com/office/powerpoint/2010/main" val="2780510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49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ctrTitle"/>
          </p:nvPr>
        </p:nvSpPr>
        <p:spPr>
          <a:xfrm>
            <a:off x="3490721" y="1395255"/>
            <a:ext cx="2162556" cy="919480"/>
          </a:xfrm>
          <a:prstGeom prst="rect">
            <a:avLst/>
          </a:prstGeom>
        </p:spPr>
        <p:txBody>
          <a:bodyPr wrap="square" lIns="0" tIns="0" rIns="0" bIns="0">
            <a:spAutoFit/>
          </a:bodyPr>
          <a:lstStyle>
            <a:lvl1pPr>
              <a:defRPr sz="2800" b="1" i="0">
                <a:solidFill>
                  <a:srgbClr val="353B5F"/>
                </a:solidFill>
                <a:latin typeface="Carlito"/>
                <a:cs typeface="Carlito"/>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333FF"/>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333FF"/>
                </a:solidFill>
                <a:latin typeface="Carlito"/>
                <a:cs typeface="Carli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12/20/2024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333FF"/>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12/20/2024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17721" y="385648"/>
            <a:ext cx="1908556" cy="452119"/>
          </a:xfrm>
          <a:prstGeom prst="rect">
            <a:avLst/>
          </a:prstGeom>
        </p:spPr>
        <p:txBody>
          <a:bodyPr wrap="square" lIns="0" tIns="0" rIns="0" bIns="0">
            <a:spAutoFit/>
          </a:bodyPr>
          <a:lstStyle>
            <a:lvl1pPr>
              <a:defRPr sz="2800" b="1" i="0">
                <a:solidFill>
                  <a:srgbClr val="3333FF"/>
                </a:solidFill>
                <a:latin typeface="Carlito"/>
                <a:cs typeface="Carlito"/>
              </a:defRPr>
            </a:lvl1pPr>
          </a:lstStyle>
          <a:p>
            <a:endParaRPr/>
          </a:p>
        </p:txBody>
      </p:sp>
      <p:sp>
        <p:nvSpPr>
          <p:cNvPr id="3" name="Holder 3"/>
          <p:cNvSpPr>
            <a:spLocks noGrp="1"/>
          </p:cNvSpPr>
          <p:nvPr>
            <p:ph type="body" idx="1"/>
          </p:nvPr>
        </p:nvSpPr>
        <p:spPr>
          <a:xfrm>
            <a:off x="727354" y="785992"/>
            <a:ext cx="8258175" cy="1565910"/>
          </a:xfrm>
          <a:prstGeom prst="rect">
            <a:avLst/>
          </a:prstGeom>
        </p:spPr>
        <p:txBody>
          <a:bodyPr wrap="square" lIns="0" tIns="0" rIns="0" bIns="0">
            <a:spAutoFit/>
          </a:bodyPr>
          <a:lstStyle>
            <a:lvl1pPr>
              <a:defRPr sz="24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sciencedirect.com/topics/engineering/numerical-prediction"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E14D4819-D7DD-F22A-4C68-D50A73BD631A}"/>
              </a:ext>
            </a:extLst>
          </p:cNvPr>
          <p:cNvSpPr>
            <a:spLocks noChangeArrowheads="1"/>
          </p:cNvSpPr>
          <p:nvPr/>
        </p:nvSpPr>
        <p:spPr bwMode="auto">
          <a:xfrm>
            <a:off x="193544" y="260297"/>
            <a:ext cx="8851064" cy="2908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indent="342900" algn="ctr" defTabSz="685800" eaLnBrk="0" fontAlgn="base" hangingPunct="0">
              <a:spcBef>
                <a:spcPct val="0"/>
              </a:spcBef>
              <a:spcAft>
                <a:spcPct val="0"/>
              </a:spcAft>
            </a:pPr>
            <a:r>
              <a:rPr lang="en-US" altLang="en-US" sz="2100" b="1" dirty="0">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100" dirty="0"/>
              <a:t> </a:t>
            </a:r>
            <a:r>
              <a:rPr lang="en-US" altLang="en-US" sz="2100" b="1" dirty="0">
                <a:solidFill>
                  <a:srgbClr val="000000"/>
                </a:solidFill>
                <a:latin typeface="Cambria" panose="02040503050406030204" pitchFamily="18" charset="0"/>
                <a:ea typeface="Calibri" panose="020F0502020204030204" pitchFamily="34" charset="0"/>
                <a:cs typeface="Arial" panose="020B0604020202020204" pitchFamily="34" charset="0"/>
              </a:rPr>
              <a:t>INSTITUTE OF ENGINEERING AND TECHNOLOGY</a:t>
            </a:r>
            <a:endParaRPr lang="en-US" altLang="en-US" sz="2100" dirty="0"/>
          </a:p>
          <a:p>
            <a:pPr indent="342900" algn="ctr" defTabSz="685800" eaLnBrk="0" fontAlgn="base" hangingPunct="0">
              <a:spcBef>
                <a:spcPct val="0"/>
              </a:spcBef>
              <a:spcAft>
                <a:spcPct val="0"/>
              </a:spcAft>
            </a:pPr>
            <a:endParaRPr lang="en-US" altLang="en-US" sz="30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algn="ctr"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algn="ctr" defTabSz="685800" eaLnBrk="0" fontAlgn="base" hangingPunct="0">
              <a:spcBef>
                <a:spcPct val="0"/>
              </a:spcBef>
              <a:spcAft>
                <a:spcPct val="0"/>
              </a:spcAft>
            </a:pPr>
            <a:r>
              <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Department of Computer Science and Engineering </a:t>
            </a:r>
            <a:endParaRPr lang="en-US" altLang="en-US" sz="600" dirty="0"/>
          </a:p>
          <a:p>
            <a:pPr indent="342900" defTabSz="685800" eaLnBrk="0" fontAlgn="base" hangingPunct="0">
              <a:spcBef>
                <a:spcPct val="0"/>
              </a:spcBef>
              <a:spcAft>
                <a:spcPct val="0"/>
              </a:spcAft>
            </a:pPr>
            <a:endParaRPr lang="en-US" altLang="en-US" sz="1350" dirty="0">
              <a:latin typeface="Arial" panose="020B0604020202020204" pitchFamily="34" charset="0"/>
            </a:endParaRPr>
          </a:p>
        </p:txBody>
      </p:sp>
      <p:pic>
        <p:nvPicPr>
          <p:cNvPr id="1025" name="Picture 3">
            <a:extLst>
              <a:ext uri="{FF2B5EF4-FFF2-40B4-BE49-F238E27FC236}">
                <a16:creationId xmlns:a16="http://schemas.microsoft.com/office/drawing/2014/main" xmlns=""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7563" y="1001641"/>
            <a:ext cx="1343025" cy="125134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xmlns="" id="{4601E913-B864-500D-8186-0A789C882082}"/>
              </a:ext>
            </a:extLst>
          </p:cNvPr>
          <p:cNvSpPr>
            <a:spLocks noChangeArrowheads="1"/>
          </p:cNvSpPr>
          <p:nvPr/>
        </p:nvSpPr>
        <p:spPr bwMode="auto">
          <a:xfrm>
            <a:off x="3048613" y="3560589"/>
            <a:ext cx="3140923" cy="90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ctr" defTabSz="685800" eaLnBrk="0" fontAlgn="base" hangingPunct="0">
              <a:spcBef>
                <a:spcPct val="0"/>
              </a:spcBef>
              <a:spcAft>
                <a:spcPct val="0"/>
              </a:spcAft>
            </a:pPr>
            <a:endParaRPr lang="en-US" altLang="en-US" sz="600" dirty="0"/>
          </a:p>
          <a:p>
            <a:pPr algn="ctr" defTabSz="685800" eaLnBrk="0" fontAlgn="base" hangingPunct="0">
              <a:spcBef>
                <a:spcPct val="0"/>
              </a:spcBef>
              <a:spcAft>
                <a:spcPct val="0"/>
              </a:spcAft>
            </a:pPr>
            <a:r>
              <a:rPr lang="en-US" altLang="en-US" sz="1350" b="1" dirty="0">
                <a:latin typeface="Adobe Caslon Pro"/>
                <a:ea typeface="Calibri" panose="020F0502020204030204" pitchFamily="34" charset="0"/>
                <a:cs typeface="Times New Roman" panose="02020603050405020304" pitchFamily="18" charset="0"/>
              </a:rPr>
              <a:t>MACHINE LEARNING</a:t>
            </a:r>
            <a:endParaRPr lang="en-US" altLang="en-US" sz="600" dirty="0"/>
          </a:p>
          <a:p>
            <a:pPr algn="ctr" defTabSz="685800" eaLnBrk="0" fontAlgn="base" hangingPunct="0">
              <a:spcBef>
                <a:spcPct val="0"/>
              </a:spcBef>
              <a:spcAft>
                <a:spcPct val="0"/>
              </a:spcAft>
            </a:pPr>
            <a:r>
              <a:rPr lang="en-US" altLang="en-US" sz="1350" b="1">
                <a:latin typeface="Adobe Caslon Pro"/>
                <a:ea typeface="Calibri" panose="020F0502020204030204" pitchFamily="34" charset="0"/>
                <a:cs typeface="Times New Roman" panose="02020603050405020304" pitchFamily="18" charset="0"/>
              </a:rPr>
              <a:t>Dr. Kriti </a:t>
            </a:r>
            <a:r>
              <a:rPr lang="en-US" altLang="en-US" sz="1350" b="1" dirty="0">
                <a:latin typeface="Adobe Caslon Pro"/>
                <a:ea typeface="Calibri" panose="020F0502020204030204" pitchFamily="34" charset="0"/>
                <a:cs typeface="Times New Roman" panose="02020603050405020304" pitchFamily="18" charset="0"/>
              </a:rPr>
              <a:t>Ohri</a:t>
            </a:r>
            <a:endParaRPr lang="en-US" altLang="en-US" sz="600" dirty="0"/>
          </a:p>
          <a:p>
            <a:pPr algn="ctr" defTabSz="685800" eaLnBrk="0" fontAlgn="base" hangingPunct="0">
              <a:spcBef>
                <a:spcPct val="0"/>
              </a:spcBef>
              <a:spcAft>
                <a:spcPct val="0"/>
              </a:spcAft>
            </a:pPr>
            <a:r>
              <a:rPr lang="en-US" altLang="en-US" sz="1050" dirty="0">
                <a:latin typeface="Adobe Caslon Pro"/>
                <a:ea typeface="Calibri" panose="020F0502020204030204" pitchFamily="34" charset="0"/>
                <a:cs typeface="Times New Roman" panose="02020603050405020304" pitchFamily="18" charset="0"/>
              </a:rPr>
              <a:t>Assistant Professor</a:t>
            </a:r>
            <a:endParaRPr lang="en-US" altLang="en-US" sz="600" dirty="0"/>
          </a:p>
          <a:p>
            <a:pPr algn="ctr" defTabSz="685800" eaLnBrk="0" fontAlgn="base" hangingPunct="0">
              <a:spcBef>
                <a:spcPct val="0"/>
              </a:spcBef>
              <a:spcAft>
                <a:spcPct val="0"/>
              </a:spcAft>
            </a:pPr>
            <a:r>
              <a:rPr lang="en-US" altLang="en-US" sz="1050" dirty="0">
                <a:latin typeface="Adobe Caslon Pro"/>
                <a:ea typeface="Calibri" panose="020F0502020204030204" pitchFamily="34" charset="0"/>
                <a:cs typeface="Times New Roman" panose="02020603050405020304" pitchFamily="18" charset="0"/>
                <a:hlinkClick r:id="rId4"/>
              </a:rPr>
              <a:t>Department of Computer Science and Engineering</a:t>
            </a:r>
            <a:endParaRPr lang="en-US" altLang="en-US" sz="1350" dirty="0">
              <a:latin typeface="Arial" panose="020B0604020202020204" pitchFamily="34" charset="0"/>
            </a:endParaRPr>
          </a:p>
        </p:txBody>
      </p:sp>
      <p:sp>
        <p:nvSpPr>
          <p:cNvPr id="5" name="Footer Placeholder 4">
            <a:extLst>
              <a:ext uri="{FF2B5EF4-FFF2-40B4-BE49-F238E27FC236}">
                <a16:creationId xmlns:a16="http://schemas.microsoft.com/office/drawing/2014/main" xmlns="" id="{FF3375C2-6977-6830-5E74-51E3850230E9}"/>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Machine Learning</a:t>
            </a:r>
          </a:p>
        </p:txBody>
      </p:sp>
      <p:sp>
        <p:nvSpPr>
          <p:cNvPr id="7" name="Date Placeholder 6">
            <a:extLst>
              <a:ext uri="{FF2B5EF4-FFF2-40B4-BE49-F238E27FC236}">
                <a16:creationId xmlns:a16="http://schemas.microsoft.com/office/drawing/2014/main" xmlns="" id="{104C03E4-1F28-2FB0-9B80-AE079E772F4D}"/>
              </a:ext>
            </a:extLst>
          </p:cNvPr>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Kriti Ohri</a:t>
            </a:r>
            <a:endParaRPr lang="en-IN"/>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11245" y="385648"/>
            <a:ext cx="2921635" cy="452120"/>
          </a:xfrm>
          <a:prstGeom prst="rect">
            <a:avLst/>
          </a:prstGeom>
        </p:spPr>
        <p:txBody>
          <a:bodyPr vert="horz" wrap="square" lIns="0" tIns="12065" rIns="0" bIns="0" rtlCol="0">
            <a:spAutoFit/>
          </a:bodyPr>
          <a:lstStyle/>
          <a:p>
            <a:pPr marL="12700">
              <a:lnSpc>
                <a:spcPct val="100000"/>
              </a:lnSpc>
              <a:spcBef>
                <a:spcPts val="95"/>
              </a:spcBef>
            </a:pPr>
            <a:r>
              <a:rPr spc="-5" dirty="0"/>
              <a:t>Learning</a:t>
            </a:r>
            <a:r>
              <a:rPr spc="-20" dirty="0"/>
              <a:t> </a:t>
            </a:r>
            <a:r>
              <a:rPr spc="-10" dirty="0"/>
              <a:t>Objectives</a:t>
            </a:r>
          </a:p>
        </p:txBody>
      </p:sp>
      <p:sp>
        <p:nvSpPr>
          <p:cNvPr id="3" name="object 3"/>
          <p:cNvSpPr txBox="1"/>
          <p:nvPr/>
        </p:nvSpPr>
        <p:spPr>
          <a:xfrm>
            <a:off x="535940" y="1156563"/>
            <a:ext cx="6978015" cy="766877"/>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lang="en-US" sz="2000" spc="-10" dirty="0">
                <a:latin typeface="Carlito"/>
                <a:cs typeface="Carlito"/>
              </a:rPr>
              <a:t>Performance measures of regression models</a:t>
            </a:r>
          </a:p>
          <a:p>
            <a:pPr marL="355600" indent="-342900">
              <a:lnSpc>
                <a:spcPct val="100000"/>
              </a:lnSpc>
              <a:spcBef>
                <a:spcPts val="580"/>
              </a:spcBef>
              <a:buFont typeface="Arial"/>
              <a:buChar char="•"/>
              <a:tabLst>
                <a:tab pos="354965" algn="l"/>
                <a:tab pos="355600" algn="l"/>
              </a:tabLst>
            </a:pPr>
            <a:r>
              <a:rPr sz="2000" spc="-10" dirty="0">
                <a:latin typeface="Carlito"/>
                <a:cs typeface="Carlito"/>
              </a:rPr>
              <a:t>Understanding Coefficient </a:t>
            </a:r>
            <a:r>
              <a:rPr sz="2000" spc="-5" dirty="0">
                <a:latin typeface="Carlito"/>
                <a:cs typeface="Carlito"/>
              </a:rPr>
              <a:t>of</a:t>
            </a:r>
            <a:r>
              <a:rPr sz="2000" spc="5" dirty="0">
                <a:latin typeface="Carlito"/>
                <a:cs typeface="Carlito"/>
              </a:rPr>
              <a:t> </a:t>
            </a:r>
            <a:r>
              <a:rPr sz="2000" spc="-5" dirty="0">
                <a:latin typeface="Carlito"/>
                <a:cs typeface="Carlito"/>
              </a:rPr>
              <a:t>Determination</a:t>
            </a:r>
            <a:endParaRPr sz="2000" dirty="0">
              <a:latin typeface="Carlito"/>
              <a:cs typeface="Carlito"/>
            </a:endParaRPr>
          </a:p>
        </p:txBody>
      </p:sp>
      <p:sp>
        <p:nvSpPr>
          <p:cNvPr id="4" name="object 4"/>
          <p:cNvSpPr txBox="1"/>
          <p:nvPr/>
        </p:nvSpPr>
        <p:spPr>
          <a:xfrm>
            <a:off x="8504681" y="4792167"/>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2</a:t>
            </a:r>
            <a:endParaRPr sz="1200">
              <a:latin typeface="Carlito"/>
              <a:cs typeface="Carl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8292D3-08AF-4552-B356-E7424FEC83D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C1843FF0-B31D-4D56-9569-6BF9A713A9BF}"/>
              </a:ext>
            </a:extLst>
          </p:cNvPr>
          <p:cNvSpPr>
            <a:spLocks noGrp="1"/>
          </p:cNvSpPr>
          <p:nvPr>
            <p:ph type="body" idx="1"/>
          </p:nvPr>
        </p:nvSpPr>
        <p:spPr/>
        <p:txBody>
          <a:bodyPr/>
          <a:lstStyle/>
          <a:p>
            <a:endParaRPr lang="en-IN" dirty="0"/>
          </a:p>
        </p:txBody>
      </p:sp>
      <p:pic>
        <p:nvPicPr>
          <p:cNvPr id="1026" name="Picture 2" descr="linear regression questions">
            <a:extLst>
              <a:ext uri="{FF2B5EF4-FFF2-40B4-BE49-F238E27FC236}">
                <a16:creationId xmlns:a16="http://schemas.microsoft.com/office/drawing/2014/main" xmlns="" id="{A9FC9FBB-E042-4D5D-8F8E-F9A9F8B5924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66000"/>
                    </a14:imgEffect>
                  </a14:imgLayer>
                </a14:imgProps>
              </a:ext>
              <a:ext uri="{28A0092B-C50C-407E-A947-70E740481C1C}">
                <a14:useLocalDpi xmlns:a14="http://schemas.microsoft.com/office/drawing/2010/main" val="0"/>
              </a:ext>
            </a:extLst>
          </a:blip>
          <a:srcRect/>
          <a:stretch>
            <a:fillRect/>
          </a:stretch>
        </p:blipFill>
        <p:spPr bwMode="auto">
          <a:xfrm>
            <a:off x="974432" y="1073886"/>
            <a:ext cx="6946348" cy="3936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635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427497-D7CD-46E9-9465-A30AA506C3A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045150D9-3EBB-4850-8754-82C0AF4A401F}"/>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xmlns="" id="{D31B782A-EDE7-476E-8F77-6E9DEC79C2B5}"/>
              </a:ext>
            </a:extLst>
          </p:cNvPr>
          <p:cNvPicPr>
            <a:picLocks noChangeAspect="1"/>
          </p:cNvPicPr>
          <p:nvPr/>
        </p:nvPicPr>
        <p:blipFill>
          <a:blip r:embed="rId2"/>
          <a:stretch>
            <a:fillRect/>
          </a:stretch>
        </p:blipFill>
        <p:spPr>
          <a:xfrm>
            <a:off x="0" y="235066"/>
            <a:ext cx="9144000" cy="4630837"/>
          </a:xfrm>
          <a:prstGeom prst="rect">
            <a:avLst/>
          </a:prstGeom>
        </p:spPr>
      </p:pic>
      <p:cxnSp>
        <p:nvCxnSpPr>
          <p:cNvPr id="6" name="Straight Connector 5">
            <a:extLst>
              <a:ext uri="{FF2B5EF4-FFF2-40B4-BE49-F238E27FC236}">
                <a16:creationId xmlns:a16="http://schemas.microsoft.com/office/drawing/2014/main" xmlns="" id="{0B221F51-C81E-440D-B038-781E7A48BA47}"/>
              </a:ext>
            </a:extLst>
          </p:cNvPr>
          <p:cNvCxnSpPr/>
          <p:nvPr/>
        </p:nvCxnSpPr>
        <p:spPr>
          <a:xfrm>
            <a:off x="7696200" y="4171950"/>
            <a:ext cx="1524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7E8CD8F5-20EA-4B93-BE64-431696A28650}"/>
              </a:ext>
            </a:extLst>
          </p:cNvPr>
          <p:cNvCxnSpPr/>
          <p:nvPr/>
        </p:nvCxnSpPr>
        <p:spPr>
          <a:xfrm>
            <a:off x="5181600" y="1200150"/>
            <a:ext cx="1524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F9C1F63-30CF-4280-A835-EEACAFB5F116}"/>
              </a:ext>
            </a:extLst>
          </p:cNvPr>
          <p:cNvCxnSpPr/>
          <p:nvPr/>
        </p:nvCxnSpPr>
        <p:spPr>
          <a:xfrm>
            <a:off x="7692571" y="1200150"/>
            <a:ext cx="1524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B09524DE-EB36-43FA-B3B2-04C630266B38}"/>
              </a:ext>
            </a:extLst>
          </p:cNvPr>
          <p:cNvCxnSpPr/>
          <p:nvPr/>
        </p:nvCxnSpPr>
        <p:spPr>
          <a:xfrm>
            <a:off x="8610600" y="1200150"/>
            <a:ext cx="1524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1471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0973" y="314324"/>
            <a:ext cx="4241165" cy="452120"/>
          </a:xfrm>
          <a:prstGeom prst="rect">
            <a:avLst/>
          </a:prstGeom>
        </p:spPr>
        <p:txBody>
          <a:bodyPr vert="horz" wrap="square" lIns="0" tIns="12065" rIns="0" bIns="0" rtlCol="0">
            <a:spAutoFit/>
          </a:bodyPr>
          <a:lstStyle/>
          <a:p>
            <a:pPr marL="12700">
              <a:lnSpc>
                <a:spcPct val="100000"/>
              </a:lnSpc>
              <a:spcBef>
                <a:spcPts val="95"/>
              </a:spcBef>
            </a:pPr>
            <a:r>
              <a:rPr spc="-10" dirty="0"/>
              <a:t>Coefficient </a:t>
            </a:r>
            <a:r>
              <a:rPr spc="-5" dirty="0"/>
              <a:t>of</a:t>
            </a:r>
            <a:r>
              <a:rPr spc="-25" dirty="0"/>
              <a:t> </a:t>
            </a:r>
            <a:r>
              <a:rPr spc="-10" dirty="0"/>
              <a:t>Determination</a:t>
            </a:r>
          </a:p>
        </p:txBody>
      </p:sp>
      <p:sp>
        <p:nvSpPr>
          <p:cNvPr id="3" name="object 3"/>
          <p:cNvSpPr txBox="1"/>
          <p:nvPr/>
        </p:nvSpPr>
        <p:spPr>
          <a:xfrm>
            <a:off x="1278382" y="3319398"/>
            <a:ext cx="74803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Carlito"/>
                <a:cs typeface="Carlito"/>
              </a:rPr>
              <a:t>whe</a:t>
            </a:r>
            <a:r>
              <a:rPr sz="2000" spc="-30" dirty="0">
                <a:latin typeface="Carlito"/>
                <a:cs typeface="Carlito"/>
              </a:rPr>
              <a:t>r</a:t>
            </a:r>
            <a:r>
              <a:rPr sz="2000" dirty="0">
                <a:latin typeface="Carlito"/>
                <a:cs typeface="Carlito"/>
              </a:rPr>
              <a:t>e:</a:t>
            </a:r>
            <a:endParaRPr sz="2000">
              <a:latin typeface="Carlito"/>
              <a:cs typeface="Carlito"/>
            </a:endParaRPr>
          </a:p>
        </p:txBody>
      </p:sp>
      <p:sp>
        <p:nvSpPr>
          <p:cNvPr id="4" name="object 4"/>
          <p:cNvSpPr txBox="1"/>
          <p:nvPr/>
        </p:nvSpPr>
        <p:spPr>
          <a:xfrm>
            <a:off x="2477770" y="3624808"/>
            <a:ext cx="4055110" cy="1031875"/>
          </a:xfrm>
          <a:prstGeom prst="rect">
            <a:avLst/>
          </a:prstGeom>
        </p:spPr>
        <p:txBody>
          <a:bodyPr vert="horz" wrap="square" lIns="0" tIns="43180" rIns="0" bIns="0" rtlCol="0">
            <a:spAutoFit/>
          </a:bodyPr>
          <a:lstStyle/>
          <a:p>
            <a:pPr marL="12700">
              <a:lnSpc>
                <a:spcPct val="100000"/>
              </a:lnSpc>
              <a:spcBef>
                <a:spcPts val="340"/>
              </a:spcBef>
            </a:pPr>
            <a:r>
              <a:rPr sz="2000" spc="-5" dirty="0">
                <a:latin typeface="Carlito"/>
                <a:cs typeface="Carlito"/>
              </a:rPr>
              <a:t>SST </a:t>
            </a:r>
            <a:r>
              <a:rPr sz="2000" dirty="0">
                <a:latin typeface="Carlito"/>
                <a:cs typeface="Carlito"/>
              </a:rPr>
              <a:t>= </a:t>
            </a:r>
            <a:r>
              <a:rPr sz="2000" spc="-10" dirty="0">
                <a:latin typeface="Carlito"/>
                <a:cs typeface="Carlito"/>
              </a:rPr>
              <a:t>total </a:t>
            </a:r>
            <a:r>
              <a:rPr sz="2000" dirty="0">
                <a:latin typeface="Carlito"/>
                <a:cs typeface="Carlito"/>
              </a:rPr>
              <a:t>sum of</a:t>
            </a:r>
            <a:r>
              <a:rPr sz="2000" spc="-25" dirty="0">
                <a:latin typeface="Carlito"/>
                <a:cs typeface="Carlito"/>
              </a:rPr>
              <a:t> </a:t>
            </a:r>
            <a:r>
              <a:rPr sz="2000" spc="-5" dirty="0">
                <a:latin typeface="Carlito"/>
                <a:cs typeface="Carlito"/>
              </a:rPr>
              <a:t>squares</a:t>
            </a:r>
            <a:endParaRPr sz="2000">
              <a:latin typeface="Carlito"/>
              <a:cs typeface="Carlito"/>
            </a:endParaRPr>
          </a:p>
          <a:p>
            <a:pPr marL="12700" marR="5080">
              <a:lnSpc>
                <a:spcPct val="110000"/>
              </a:lnSpc>
            </a:pPr>
            <a:r>
              <a:rPr sz="2000" dirty="0">
                <a:latin typeface="Carlito"/>
                <a:cs typeface="Carlito"/>
              </a:rPr>
              <a:t>SSR = </a:t>
            </a:r>
            <a:r>
              <a:rPr sz="2000" spc="-5" dirty="0">
                <a:latin typeface="Carlito"/>
                <a:cs typeface="Carlito"/>
              </a:rPr>
              <a:t>sum of squares due </a:t>
            </a:r>
            <a:r>
              <a:rPr sz="2000" spc="-15" dirty="0">
                <a:latin typeface="Carlito"/>
                <a:cs typeface="Carlito"/>
              </a:rPr>
              <a:t>to </a:t>
            </a:r>
            <a:r>
              <a:rPr sz="2000" spc="-5" dirty="0">
                <a:latin typeface="Carlito"/>
                <a:cs typeface="Carlito"/>
              </a:rPr>
              <a:t>regression  </a:t>
            </a:r>
            <a:r>
              <a:rPr sz="2000" dirty="0">
                <a:latin typeface="Carlito"/>
                <a:cs typeface="Carlito"/>
              </a:rPr>
              <a:t>SSE = </a:t>
            </a:r>
            <a:r>
              <a:rPr sz="2000" spc="-5" dirty="0">
                <a:latin typeface="Carlito"/>
                <a:cs typeface="Carlito"/>
              </a:rPr>
              <a:t>sum of squares </a:t>
            </a:r>
            <a:r>
              <a:rPr sz="2000" dirty="0">
                <a:latin typeface="Carlito"/>
                <a:cs typeface="Carlito"/>
              </a:rPr>
              <a:t>due </a:t>
            </a:r>
            <a:r>
              <a:rPr sz="2000" spc="-15" dirty="0">
                <a:latin typeface="Carlito"/>
                <a:cs typeface="Carlito"/>
              </a:rPr>
              <a:t>to</a:t>
            </a:r>
            <a:r>
              <a:rPr sz="2000" spc="-35" dirty="0">
                <a:latin typeface="Carlito"/>
                <a:cs typeface="Carlito"/>
              </a:rPr>
              <a:t> </a:t>
            </a:r>
            <a:r>
              <a:rPr sz="2000" spc="-10" dirty="0">
                <a:latin typeface="Carlito"/>
                <a:cs typeface="Carlito"/>
              </a:rPr>
              <a:t>error</a:t>
            </a:r>
            <a:endParaRPr sz="2000">
              <a:latin typeface="Carlito"/>
              <a:cs typeface="Carlito"/>
            </a:endParaRPr>
          </a:p>
        </p:txBody>
      </p:sp>
      <p:sp>
        <p:nvSpPr>
          <p:cNvPr id="5" name="object 5"/>
          <p:cNvSpPr/>
          <p:nvPr/>
        </p:nvSpPr>
        <p:spPr>
          <a:xfrm>
            <a:off x="3383915" y="1510970"/>
            <a:ext cx="3148965" cy="400685"/>
          </a:xfrm>
          <a:custGeom>
            <a:avLst/>
            <a:gdLst/>
            <a:ahLst/>
            <a:cxnLst/>
            <a:rect l="l" t="t" r="r" b="b"/>
            <a:pathLst>
              <a:path w="3148965" h="400685">
                <a:moveTo>
                  <a:pt x="3148965" y="0"/>
                </a:moveTo>
                <a:lnTo>
                  <a:pt x="0" y="0"/>
                </a:lnTo>
                <a:lnTo>
                  <a:pt x="0" y="400113"/>
                </a:lnTo>
                <a:lnTo>
                  <a:pt x="3148965" y="400113"/>
                </a:lnTo>
                <a:lnTo>
                  <a:pt x="3148965" y="0"/>
                </a:lnTo>
                <a:close/>
              </a:path>
            </a:pathLst>
          </a:custGeom>
          <a:solidFill>
            <a:srgbClr val="00AF50"/>
          </a:solidFill>
        </p:spPr>
        <p:txBody>
          <a:bodyPr wrap="square" lIns="0" tIns="0" rIns="0" bIns="0" rtlCol="0"/>
          <a:lstStyle/>
          <a:p>
            <a:endParaRPr/>
          </a:p>
        </p:txBody>
      </p:sp>
      <p:sp>
        <p:nvSpPr>
          <p:cNvPr id="6" name="object 6"/>
          <p:cNvSpPr txBox="1"/>
          <p:nvPr/>
        </p:nvSpPr>
        <p:spPr>
          <a:xfrm>
            <a:off x="763016" y="952880"/>
            <a:ext cx="5538723" cy="861694"/>
          </a:xfrm>
          <a:prstGeom prst="rect">
            <a:avLst/>
          </a:prstGeom>
        </p:spPr>
        <p:txBody>
          <a:bodyPr vert="horz" wrap="square" lIns="0" tIns="12065" rIns="0" bIns="0" rtlCol="0">
            <a:spAutoFit/>
          </a:bodyPr>
          <a:lstStyle/>
          <a:p>
            <a:pPr marL="355600" indent="-342900">
              <a:lnSpc>
                <a:spcPct val="100000"/>
              </a:lnSpc>
              <a:spcBef>
                <a:spcPts val="95"/>
              </a:spcBef>
              <a:buFont typeface="Arial"/>
              <a:buChar char="•"/>
              <a:tabLst>
                <a:tab pos="354965" algn="l"/>
                <a:tab pos="355600" algn="l"/>
              </a:tabLst>
            </a:pPr>
            <a:r>
              <a:rPr sz="2200" spc="-10" dirty="0">
                <a:latin typeface="Carlito"/>
                <a:cs typeface="Carlito"/>
              </a:rPr>
              <a:t>Relationship </a:t>
            </a:r>
            <a:r>
              <a:rPr sz="2200" spc="-5" dirty="0">
                <a:latin typeface="Carlito"/>
                <a:cs typeface="Carlito"/>
              </a:rPr>
              <a:t>Among </a:t>
            </a:r>
            <a:r>
              <a:rPr sz="2200" spc="-65" dirty="0">
                <a:latin typeface="Carlito"/>
                <a:cs typeface="Carlito"/>
              </a:rPr>
              <a:t>SST, </a:t>
            </a:r>
            <a:r>
              <a:rPr sz="2200" spc="-10" dirty="0">
                <a:latin typeface="Carlito"/>
                <a:cs typeface="Carlito"/>
              </a:rPr>
              <a:t>SSR,</a:t>
            </a:r>
            <a:r>
              <a:rPr sz="2200" spc="130" dirty="0">
                <a:latin typeface="Carlito"/>
                <a:cs typeface="Carlito"/>
              </a:rPr>
              <a:t> </a:t>
            </a:r>
            <a:r>
              <a:rPr sz="2200" spc="-10" dirty="0">
                <a:latin typeface="Carlito"/>
                <a:cs typeface="Carlito"/>
              </a:rPr>
              <a:t>SSE</a:t>
            </a:r>
            <a:endParaRPr sz="2200" dirty="0">
              <a:latin typeface="Carlito"/>
              <a:cs typeface="Carlito"/>
            </a:endParaRPr>
          </a:p>
          <a:p>
            <a:pPr marL="2694940">
              <a:lnSpc>
                <a:spcPct val="100000"/>
              </a:lnSpc>
              <a:spcBef>
                <a:spcPts val="1545"/>
              </a:spcBef>
              <a:tabLst>
                <a:tab pos="3279775" algn="l"/>
                <a:tab pos="3636645" algn="l"/>
                <a:tab pos="4237990" algn="l"/>
                <a:tab pos="4593590" algn="l"/>
              </a:tabLst>
            </a:pPr>
            <a:r>
              <a:rPr sz="2000" spc="-5" dirty="0">
                <a:latin typeface="Carlito"/>
                <a:cs typeface="Carlito"/>
              </a:rPr>
              <a:t>SS</a:t>
            </a:r>
            <a:r>
              <a:rPr sz="2000" dirty="0">
                <a:latin typeface="Carlito"/>
                <a:cs typeface="Carlito"/>
              </a:rPr>
              <a:t>T	=	</a:t>
            </a:r>
            <a:r>
              <a:rPr sz="2000" spc="-5" dirty="0">
                <a:latin typeface="Carlito"/>
                <a:cs typeface="Carlito"/>
              </a:rPr>
              <a:t>S</a:t>
            </a:r>
            <a:r>
              <a:rPr sz="2000" dirty="0">
                <a:latin typeface="Carlito"/>
                <a:cs typeface="Carlito"/>
              </a:rPr>
              <a:t>SR	+	</a:t>
            </a:r>
            <a:r>
              <a:rPr sz="2000" spc="-5" dirty="0">
                <a:latin typeface="Carlito"/>
                <a:cs typeface="Carlito"/>
              </a:rPr>
              <a:t>SSE</a:t>
            </a:r>
            <a:endParaRPr sz="2000" dirty="0">
              <a:latin typeface="Carlito"/>
              <a:cs typeface="Carlito"/>
            </a:endParaRPr>
          </a:p>
        </p:txBody>
      </p:sp>
      <p:grpSp>
        <p:nvGrpSpPr>
          <p:cNvPr id="7" name="object 7"/>
          <p:cNvGrpSpPr/>
          <p:nvPr/>
        </p:nvGrpSpPr>
        <p:grpSpPr>
          <a:xfrm>
            <a:off x="3002279" y="1786001"/>
            <a:ext cx="3299460" cy="419734"/>
            <a:chOff x="3002279" y="1786001"/>
            <a:chExt cx="3299460" cy="419734"/>
          </a:xfrm>
        </p:grpSpPr>
        <p:sp>
          <p:nvSpPr>
            <p:cNvPr id="8" name="object 8"/>
            <p:cNvSpPr/>
            <p:nvPr/>
          </p:nvSpPr>
          <p:spPr>
            <a:xfrm>
              <a:off x="3002279" y="1798320"/>
              <a:ext cx="467868" cy="406908"/>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3067049" y="1786636"/>
              <a:ext cx="389890" cy="328295"/>
            </a:xfrm>
            <a:custGeom>
              <a:avLst/>
              <a:gdLst/>
              <a:ahLst/>
              <a:cxnLst/>
              <a:rect l="l" t="t" r="r" b="b"/>
              <a:pathLst>
                <a:path w="389889" h="328294">
                  <a:moveTo>
                    <a:pt x="33908" y="249808"/>
                  </a:moveTo>
                  <a:lnTo>
                    <a:pt x="0" y="327913"/>
                  </a:lnTo>
                  <a:lnTo>
                    <a:pt x="82931" y="308101"/>
                  </a:lnTo>
                  <a:lnTo>
                    <a:pt x="69367" y="291972"/>
                  </a:lnTo>
                  <a:lnTo>
                    <a:pt x="52705" y="291972"/>
                  </a:lnTo>
                  <a:lnTo>
                    <a:pt x="44576" y="282194"/>
                  </a:lnTo>
                  <a:lnTo>
                    <a:pt x="54294" y="274049"/>
                  </a:lnTo>
                  <a:lnTo>
                    <a:pt x="33908" y="249808"/>
                  </a:lnTo>
                  <a:close/>
                </a:path>
                <a:path w="389889" h="328294">
                  <a:moveTo>
                    <a:pt x="54294" y="274049"/>
                  </a:moveTo>
                  <a:lnTo>
                    <a:pt x="44576" y="282194"/>
                  </a:lnTo>
                  <a:lnTo>
                    <a:pt x="52705" y="291972"/>
                  </a:lnTo>
                  <a:lnTo>
                    <a:pt x="62476" y="283779"/>
                  </a:lnTo>
                  <a:lnTo>
                    <a:pt x="54294" y="274049"/>
                  </a:lnTo>
                  <a:close/>
                </a:path>
                <a:path w="389889" h="328294">
                  <a:moveTo>
                    <a:pt x="62476" y="283779"/>
                  </a:moveTo>
                  <a:lnTo>
                    <a:pt x="52705" y="291972"/>
                  </a:lnTo>
                  <a:lnTo>
                    <a:pt x="69367" y="291972"/>
                  </a:lnTo>
                  <a:lnTo>
                    <a:pt x="62476" y="283779"/>
                  </a:lnTo>
                  <a:close/>
                </a:path>
                <a:path w="389889" h="328294">
                  <a:moveTo>
                    <a:pt x="381253" y="0"/>
                  </a:moveTo>
                  <a:lnTo>
                    <a:pt x="54294" y="274049"/>
                  </a:lnTo>
                  <a:lnTo>
                    <a:pt x="62476" y="283779"/>
                  </a:lnTo>
                  <a:lnTo>
                    <a:pt x="389382" y="9651"/>
                  </a:lnTo>
                  <a:lnTo>
                    <a:pt x="381253" y="0"/>
                  </a:lnTo>
                  <a:close/>
                </a:path>
              </a:pathLst>
            </a:custGeom>
            <a:solidFill>
              <a:srgbClr val="66FFFF"/>
            </a:solidFill>
          </p:spPr>
          <p:txBody>
            <a:bodyPr wrap="square" lIns="0" tIns="0" rIns="0" bIns="0" rtlCol="0"/>
            <a:lstStyle/>
            <a:p>
              <a:endParaRPr/>
            </a:p>
          </p:txBody>
        </p:sp>
        <p:sp>
          <p:nvSpPr>
            <p:cNvPr id="10" name="object 10"/>
            <p:cNvSpPr/>
            <p:nvPr/>
          </p:nvSpPr>
          <p:spPr>
            <a:xfrm>
              <a:off x="5708903" y="1796796"/>
              <a:ext cx="592836" cy="3947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4555363" y="1786000"/>
              <a:ext cx="1655445" cy="314325"/>
            </a:xfrm>
            <a:custGeom>
              <a:avLst/>
              <a:gdLst/>
              <a:ahLst/>
              <a:cxnLst/>
              <a:rect l="l" t="t" r="r" b="b"/>
              <a:pathLst>
                <a:path w="1655445" h="314325">
                  <a:moveTo>
                    <a:pt x="76073" y="239268"/>
                  </a:moveTo>
                  <a:lnTo>
                    <a:pt x="44323" y="238315"/>
                  </a:lnTo>
                  <a:lnTo>
                    <a:pt x="51562" y="5715"/>
                  </a:lnTo>
                  <a:lnTo>
                    <a:pt x="38862" y="5334"/>
                  </a:lnTo>
                  <a:lnTo>
                    <a:pt x="31623" y="237934"/>
                  </a:lnTo>
                  <a:lnTo>
                    <a:pt x="0" y="236982"/>
                  </a:lnTo>
                  <a:lnTo>
                    <a:pt x="35687" y="314198"/>
                  </a:lnTo>
                  <a:lnTo>
                    <a:pt x="69773" y="250952"/>
                  </a:lnTo>
                  <a:lnTo>
                    <a:pt x="76073" y="239268"/>
                  </a:lnTo>
                  <a:close/>
                </a:path>
                <a:path w="1655445" h="314325">
                  <a:moveTo>
                    <a:pt x="1654937" y="314198"/>
                  </a:moveTo>
                  <a:lnTo>
                    <a:pt x="1637614" y="286766"/>
                  </a:lnTo>
                  <a:lnTo>
                    <a:pt x="1609471" y="242189"/>
                  </a:lnTo>
                  <a:lnTo>
                    <a:pt x="1592986" y="269367"/>
                  </a:lnTo>
                  <a:lnTo>
                    <a:pt x="1148969" y="0"/>
                  </a:lnTo>
                  <a:lnTo>
                    <a:pt x="1142365" y="10922"/>
                  </a:lnTo>
                  <a:lnTo>
                    <a:pt x="1586458" y="280136"/>
                  </a:lnTo>
                  <a:lnTo>
                    <a:pt x="1569974" y="307340"/>
                  </a:lnTo>
                  <a:lnTo>
                    <a:pt x="1654937" y="314198"/>
                  </a:lnTo>
                  <a:close/>
                </a:path>
              </a:pathLst>
            </a:custGeom>
            <a:solidFill>
              <a:srgbClr val="66FFFF"/>
            </a:solidFill>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435350" y="1658962"/>
            <a:ext cx="2351405" cy="665480"/>
            <a:chOff x="3435350" y="1658962"/>
            <a:chExt cx="2351405" cy="665480"/>
          </a:xfrm>
        </p:grpSpPr>
        <p:sp>
          <p:nvSpPr>
            <p:cNvPr id="3" name="object 3"/>
            <p:cNvSpPr/>
            <p:nvPr/>
          </p:nvSpPr>
          <p:spPr>
            <a:xfrm>
              <a:off x="3483863" y="1708403"/>
              <a:ext cx="2302764" cy="61569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438525" y="1662137"/>
              <a:ext cx="2292350" cy="607695"/>
            </a:xfrm>
            <a:custGeom>
              <a:avLst/>
              <a:gdLst/>
              <a:ahLst/>
              <a:cxnLst/>
              <a:rect l="l" t="t" r="r" b="b"/>
              <a:pathLst>
                <a:path w="2292350" h="607694">
                  <a:moveTo>
                    <a:pt x="2292350" y="0"/>
                  </a:moveTo>
                  <a:lnTo>
                    <a:pt x="0" y="0"/>
                  </a:lnTo>
                  <a:lnTo>
                    <a:pt x="0" y="607225"/>
                  </a:lnTo>
                  <a:lnTo>
                    <a:pt x="2292350" y="607225"/>
                  </a:lnTo>
                  <a:lnTo>
                    <a:pt x="2292350" y="0"/>
                  </a:lnTo>
                  <a:close/>
                </a:path>
              </a:pathLst>
            </a:custGeom>
            <a:solidFill>
              <a:srgbClr val="00AF50"/>
            </a:solidFill>
          </p:spPr>
          <p:txBody>
            <a:bodyPr wrap="square" lIns="0" tIns="0" rIns="0" bIns="0" rtlCol="0"/>
            <a:lstStyle/>
            <a:p>
              <a:endParaRPr/>
            </a:p>
          </p:txBody>
        </p:sp>
        <p:sp>
          <p:nvSpPr>
            <p:cNvPr id="5" name="object 5"/>
            <p:cNvSpPr/>
            <p:nvPr/>
          </p:nvSpPr>
          <p:spPr>
            <a:xfrm>
              <a:off x="3438525" y="1662137"/>
              <a:ext cx="2292350" cy="607695"/>
            </a:xfrm>
            <a:custGeom>
              <a:avLst/>
              <a:gdLst/>
              <a:ahLst/>
              <a:cxnLst/>
              <a:rect l="l" t="t" r="r" b="b"/>
              <a:pathLst>
                <a:path w="2292350" h="607694">
                  <a:moveTo>
                    <a:pt x="0" y="607225"/>
                  </a:moveTo>
                  <a:lnTo>
                    <a:pt x="2292350" y="607225"/>
                  </a:lnTo>
                  <a:lnTo>
                    <a:pt x="2292350" y="0"/>
                  </a:lnTo>
                  <a:lnTo>
                    <a:pt x="0" y="0"/>
                  </a:lnTo>
                  <a:lnTo>
                    <a:pt x="0" y="607225"/>
                  </a:lnTo>
                  <a:close/>
                </a:path>
              </a:pathLst>
            </a:custGeom>
            <a:ln w="6350">
              <a:solidFill>
                <a:srgbClr val="000000"/>
              </a:solidFill>
            </a:ln>
          </p:spPr>
          <p:txBody>
            <a:bodyPr wrap="square" lIns="0" tIns="0" rIns="0" bIns="0" rtlCol="0"/>
            <a:lstStyle/>
            <a:p>
              <a:endParaRPr/>
            </a:p>
          </p:txBody>
        </p:sp>
      </p:grpSp>
      <p:sp>
        <p:nvSpPr>
          <p:cNvPr id="6" name="object 6"/>
          <p:cNvSpPr txBox="1"/>
          <p:nvPr/>
        </p:nvSpPr>
        <p:spPr>
          <a:xfrm>
            <a:off x="762101" y="1243329"/>
            <a:ext cx="4706620" cy="391160"/>
          </a:xfrm>
          <a:prstGeom prst="rect">
            <a:avLst/>
          </a:prstGeom>
        </p:spPr>
        <p:txBody>
          <a:bodyPr vert="horz" wrap="square" lIns="0" tIns="12700" rIns="0" bIns="0" rtlCol="0">
            <a:spAutoFit/>
          </a:bodyPr>
          <a:lstStyle/>
          <a:p>
            <a:pPr marL="355600" indent="-342900">
              <a:lnSpc>
                <a:spcPct val="100000"/>
              </a:lnSpc>
              <a:spcBef>
                <a:spcPts val="100"/>
              </a:spcBef>
              <a:buSzPct val="75000"/>
              <a:buFont typeface="Wingdings"/>
              <a:buChar char=""/>
              <a:tabLst>
                <a:tab pos="354965" algn="l"/>
                <a:tab pos="355600" algn="l"/>
              </a:tabLst>
            </a:pPr>
            <a:r>
              <a:rPr sz="2400" spc="-5" dirty="0">
                <a:latin typeface="Carlito"/>
                <a:cs typeface="Carlito"/>
              </a:rPr>
              <a:t>The </a:t>
            </a:r>
            <a:r>
              <a:rPr sz="2400" u="heavy" spc="-15" dirty="0">
                <a:uFill>
                  <a:solidFill>
                    <a:srgbClr val="000000"/>
                  </a:solidFill>
                </a:uFill>
                <a:latin typeface="Carlito"/>
                <a:cs typeface="Carlito"/>
              </a:rPr>
              <a:t>coefficient </a:t>
            </a:r>
            <a:r>
              <a:rPr sz="2400" u="heavy" spc="-5" dirty="0">
                <a:uFill>
                  <a:solidFill>
                    <a:srgbClr val="000000"/>
                  </a:solidFill>
                </a:uFill>
                <a:latin typeface="Carlito"/>
                <a:cs typeface="Carlito"/>
              </a:rPr>
              <a:t>of determination</a:t>
            </a:r>
            <a:r>
              <a:rPr sz="2400" spc="-25" dirty="0">
                <a:latin typeface="Carlito"/>
                <a:cs typeface="Carlito"/>
              </a:rPr>
              <a:t> </a:t>
            </a:r>
            <a:r>
              <a:rPr sz="2400" dirty="0">
                <a:latin typeface="Carlito"/>
                <a:cs typeface="Carlito"/>
              </a:rPr>
              <a:t>is:</a:t>
            </a:r>
            <a:endParaRPr sz="2400">
              <a:latin typeface="Carlito"/>
              <a:cs typeface="Carlito"/>
            </a:endParaRPr>
          </a:p>
        </p:txBody>
      </p:sp>
      <p:sp>
        <p:nvSpPr>
          <p:cNvPr id="7" name="object 7"/>
          <p:cNvSpPr txBox="1">
            <a:spLocks noGrp="1"/>
          </p:cNvSpPr>
          <p:nvPr>
            <p:ph type="title"/>
          </p:nvPr>
        </p:nvSpPr>
        <p:spPr>
          <a:xfrm>
            <a:off x="3023361" y="237820"/>
            <a:ext cx="4237990" cy="452120"/>
          </a:xfrm>
          <a:prstGeom prst="rect">
            <a:avLst/>
          </a:prstGeom>
        </p:spPr>
        <p:txBody>
          <a:bodyPr vert="horz" wrap="square" lIns="0" tIns="12065" rIns="0" bIns="0" rtlCol="0">
            <a:spAutoFit/>
          </a:bodyPr>
          <a:lstStyle/>
          <a:p>
            <a:pPr marL="12700">
              <a:lnSpc>
                <a:spcPct val="100000"/>
              </a:lnSpc>
              <a:spcBef>
                <a:spcPts val="95"/>
              </a:spcBef>
            </a:pPr>
            <a:r>
              <a:rPr spc="-10" dirty="0"/>
              <a:t>Coefficient </a:t>
            </a:r>
            <a:r>
              <a:rPr spc="-5" dirty="0"/>
              <a:t>of</a:t>
            </a:r>
            <a:r>
              <a:rPr dirty="0"/>
              <a:t> </a:t>
            </a:r>
            <a:r>
              <a:rPr spc="-15" dirty="0"/>
              <a:t>Determination</a:t>
            </a:r>
          </a:p>
        </p:txBody>
      </p:sp>
      <p:sp>
        <p:nvSpPr>
          <p:cNvPr id="8" name="object 8"/>
          <p:cNvSpPr txBox="1"/>
          <p:nvPr/>
        </p:nvSpPr>
        <p:spPr>
          <a:xfrm>
            <a:off x="1242466" y="2252849"/>
            <a:ext cx="5763895" cy="1343025"/>
          </a:xfrm>
          <a:prstGeom prst="rect">
            <a:avLst/>
          </a:prstGeom>
        </p:spPr>
        <p:txBody>
          <a:bodyPr vert="horz" wrap="square" lIns="0" tIns="85725" rIns="0" bIns="0" rtlCol="0">
            <a:spAutoFit/>
          </a:bodyPr>
          <a:lstStyle/>
          <a:p>
            <a:pPr marL="12700">
              <a:lnSpc>
                <a:spcPct val="100000"/>
              </a:lnSpc>
              <a:spcBef>
                <a:spcPts val="675"/>
              </a:spcBef>
            </a:pPr>
            <a:r>
              <a:rPr sz="2400" spc="-5" dirty="0">
                <a:latin typeface="Carlito"/>
                <a:cs typeface="Carlito"/>
              </a:rPr>
              <a:t>where:</a:t>
            </a:r>
            <a:endParaRPr sz="2400" dirty="0">
              <a:latin typeface="Carlito"/>
              <a:cs typeface="Carlito"/>
            </a:endParaRPr>
          </a:p>
          <a:p>
            <a:pPr marL="927100">
              <a:lnSpc>
                <a:spcPct val="100000"/>
              </a:lnSpc>
              <a:spcBef>
                <a:spcPts val="580"/>
              </a:spcBef>
            </a:pPr>
            <a:r>
              <a:rPr sz="2400" spc="-5" dirty="0">
                <a:latin typeface="Carlito"/>
                <a:cs typeface="Carlito"/>
              </a:rPr>
              <a:t>SSR </a:t>
            </a:r>
            <a:r>
              <a:rPr sz="2400" dirty="0">
                <a:latin typeface="Carlito"/>
                <a:cs typeface="Carlito"/>
              </a:rPr>
              <a:t>= </a:t>
            </a:r>
            <a:r>
              <a:rPr sz="2400" spc="-5" dirty="0">
                <a:latin typeface="Carlito"/>
                <a:cs typeface="Carlito"/>
              </a:rPr>
              <a:t>sum </a:t>
            </a:r>
            <a:r>
              <a:rPr sz="2400" spc="-10" dirty="0">
                <a:latin typeface="Carlito"/>
                <a:cs typeface="Carlito"/>
              </a:rPr>
              <a:t>of squares </a:t>
            </a:r>
            <a:r>
              <a:rPr sz="2400" spc="-5" dirty="0">
                <a:latin typeface="Carlito"/>
                <a:cs typeface="Carlito"/>
              </a:rPr>
              <a:t>due </a:t>
            </a:r>
            <a:r>
              <a:rPr sz="2400" spc="-15" dirty="0">
                <a:latin typeface="Carlito"/>
                <a:cs typeface="Carlito"/>
              </a:rPr>
              <a:t>to</a:t>
            </a:r>
            <a:r>
              <a:rPr sz="2400" spc="-30" dirty="0">
                <a:latin typeface="Carlito"/>
                <a:cs typeface="Carlito"/>
              </a:rPr>
              <a:t> </a:t>
            </a:r>
            <a:r>
              <a:rPr sz="2400" spc="-10" dirty="0">
                <a:latin typeface="Carlito"/>
                <a:cs typeface="Carlito"/>
              </a:rPr>
              <a:t>regression</a:t>
            </a:r>
            <a:endParaRPr sz="2400" dirty="0">
              <a:latin typeface="Carlito"/>
              <a:cs typeface="Carlito"/>
            </a:endParaRPr>
          </a:p>
          <a:p>
            <a:pPr marL="927100">
              <a:lnSpc>
                <a:spcPct val="100000"/>
              </a:lnSpc>
              <a:spcBef>
                <a:spcPts val="575"/>
              </a:spcBef>
            </a:pPr>
            <a:r>
              <a:rPr sz="2400" spc="-5" dirty="0">
                <a:latin typeface="Carlito"/>
                <a:cs typeface="Carlito"/>
              </a:rPr>
              <a:t>SST </a:t>
            </a:r>
            <a:r>
              <a:rPr sz="2400" dirty="0">
                <a:latin typeface="Carlito"/>
                <a:cs typeface="Carlito"/>
              </a:rPr>
              <a:t>= </a:t>
            </a:r>
            <a:r>
              <a:rPr sz="2400" spc="-15" dirty="0">
                <a:latin typeface="Carlito"/>
                <a:cs typeface="Carlito"/>
              </a:rPr>
              <a:t>total </a:t>
            </a:r>
            <a:r>
              <a:rPr sz="2400" spc="-5" dirty="0">
                <a:latin typeface="Carlito"/>
                <a:cs typeface="Carlito"/>
              </a:rPr>
              <a:t>sum of</a:t>
            </a:r>
            <a:r>
              <a:rPr sz="2400" spc="-45" dirty="0">
                <a:latin typeface="Carlito"/>
                <a:cs typeface="Carlito"/>
              </a:rPr>
              <a:t> </a:t>
            </a:r>
            <a:r>
              <a:rPr sz="2400" spc="-10" dirty="0">
                <a:latin typeface="Carlito"/>
                <a:cs typeface="Carlito"/>
              </a:rPr>
              <a:t>squares</a:t>
            </a:r>
            <a:endParaRPr sz="2400" dirty="0">
              <a:latin typeface="Carlito"/>
              <a:cs typeface="Carlito"/>
            </a:endParaRPr>
          </a:p>
        </p:txBody>
      </p:sp>
      <p:sp>
        <p:nvSpPr>
          <p:cNvPr id="9" name="object 9"/>
          <p:cNvSpPr txBox="1"/>
          <p:nvPr/>
        </p:nvSpPr>
        <p:spPr>
          <a:xfrm>
            <a:off x="3438525" y="1662137"/>
            <a:ext cx="2292350" cy="607695"/>
          </a:xfrm>
          <a:prstGeom prst="rect">
            <a:avLst/>
          </a:prstGeom>
        </p:spPr>
        <p:txBody>
          <a:bodyPr vert="horz" wrap="square" lIns="0" tIns="147320" rIns="0" bIns="0" rtlCol="0">
            <a:spAutoFit/>
          </a:bodyPr>
          <a:lstStyle/>
          <a:p>
            <a:pPr marL="266065">
              <a:lnSpc>
                <a:spcPct val="100000"/>
              </a:lnSpc>
              <a:spcBef>
                <a:spcPts val="1160"/>
              </a:spcBef>
            </a:pPr>
            <a:r>
              <a:rPr sz="2400" i="1" dirty="0">
                <a:latin typeface="Carlito"/>
                <a:cs typeface="Carlito"/>
              </a:rPr>
              <a:t>r</a:t>
            </a:r>
            <a:r>
              <a:rPr sz="2400" baseline="24305" dirty="0">
                <a:latin typeface="Carlito"/>
                <a:cs typeface="Carlito"/>
              </a:rPr>
              <a:t>2 </a:t>
            </a:r>
            <a:r>
              <a:rPr sz="2400" dirty="0">
                <a:latin typeface="Carlito"/>
                <a:cs typeface="Carlito"/>
              </a:rPr>
              <a:t>=</a:t>
            </a:r>
            <a:r>
              <a:rPr sz="2400" spc="-215" dirty="0">
                <a:latin typeface="Carlito"/>
                <a:cs typeface="Carlito"/>
              </a:rPr>
              <a:t> </a:t>
            </a:r>
            <a:r>
              <a:rPr sz="2400" spc="-5" dirty="0">
                <a:latin typeface="Carlito"/>
                <a:cs typeface="Carlito"/>
              </a:rPr>
              <a:t>SSR/SST</a:t>
            </a:r>
            <a:endParaRPr sz="2400" dirty="0">
              <a:latin typeface="Carlito"/>
              <a:cs typeface="Carlito"/>
            </a:endParaRPr>
          </a:p>
        </p:txBody>
      </p:sp>
      <p:sp>
        <p:nvSpPr>
          <p:cNvPr id="10" name="TextBox 9">
            <a:extLst>
              <a:ext uri="{FF2B5EF4-FFF2-40B4-BE49-F238E27FC236}">
                <a16:creationId xmlns:a16="http://schemas.microsoft.com/office/drawing/2014/main" xmlns="" id="{FB8C12FB-7383-46F6-AD4C-424D7BC60EC5}"/>
              </a:ext>
            </a:extLst>
          </p:cNvPr>
          <p:cNvSpPr txBox="1"/>
          <p:nvPr/>
        </p:nvSpPr>
        <p:spPr>
          <a:xfrm>
            <a:off x="6781800" y="1047750"/>
            <a:ext cx="1981200" cy="646331"/>
          </a:xfrm>
          <a:prstGeom prst="rect">
            <a:avLst/>
          </a:prstGeom>
          <a:noFill/>
        </p:spPr>
        <p:txBody>
          <a:bodyPr wrap="square" rtlCol="0">
            <a:spAutoFit/>
          </a:bodyPr>
          <a:lstStyle/>
          <a:p>
            <a:r>
              <a:rPr lang="en-US" dirty="0"/>
              <a:t>Explained error/total error</a:t>
            </a:r>
            <a:endParaRPr lang="en-IN" dirty="0"/>
          </a:p>
        </p:txBody>
      </p:sp>
      <p:pic>
        <p:nvPicPr>
          <p:cNvPr id="12" name="Picture 11">
            <a:extLst>
              <a:ext uri="{FF2B5EF4-FFF2-40B4-BE49-F238E27FC236}">
                <a16:creationId xmlns:a16="http://schemas.microsoft.com/office/drawing/2014/main" xmlns="" id="{ACF0E581-1400-4602-BD4C-0F1E105C727E}"/>
              </a:ext>
            </a:extLst>
          </p:cNvPr>
          <p:cNvPicPr>
            <a:picLocks noChangeAspect="1"/>
          </p:cNvPicPr>
          <p:nvPr/>
        </p:nvPicPr>
        <p:blipFill>
          <a:blip r:embed="rId3"/>
          <a:stretch>
            <a:fillRect/>
          </a:stretch>
        </p:blipFill>
        <p:spPr>
          <a:xfrm>
            <a:off x="533400" y="4154642"/>
            <a:ext cx="4935321" cy="906823"/>
          </a:xfrm>
          <a:prstGeom prst="rect">
            <a:avLst/>
          </a:prstGeom>
        </p:spPr>
      </p:pic>
      <p:pic>
        <p:nvPicPr>
          <p:cNvPr id="14" name="Picture 13">
            <a:extLst>
              <a:ext uri="{FF2B5EF4-FFF2-40B4-BE49-F238E27FC236}">
                <a16:creationId xmlns:a16="http://schemas.microsoft.com/office/drawing/2014/main" xmlns="" id="{55B631FF-771A-489E-A96D-2D469529D16A}"/>
              </a:ext>
            </a:extLst>
          </p:cNvPr>
          <p:cNvPicPr>
            <a:picLocks noChangeAspect="1"/>
          </p:cNvPicPr>
          <p:nvPr/>
        </p:nvPicPr>
        <p:blipFill>
          <a:blip r:embed="rId4"/>
          <a:stretch>
            <a:fillRect/>
          </a:stretch>
        </p:blipFill>
        <p:spPr>
          <a:xfrm>
            <a:off x="6019800" y="3486150"/>
            <a:ext cx="3026164" cy="5633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1607" y="299973"/>
            <a:ext cx="4239895" cy="452120"/>
          </a:xfrm>
          <a:prstGeom prst="rect">
            <a:avLst/>
          </a:prstGeom>
        </p:spPr>
        <p:txBody>
          <a:bodyPr vert="horz" wrap="square" lIns="0" tIns="12065" rIns="0" bIns="0" rtlCol="0">
            <a:spAutoFit/>
          </a:bodyPr>
          <a:lstStyle/>
          <a:p>
            <a:pPr marL="12700">
              <a:lnSpc>
                <a:spcPct val="100000"/>
              </a:lnSpc>
              <a:spcBef>
                <a:spcPts val="95"/>
              </a:spcBef>
            </a:pPr>
            <a:r>
              <a:rPr spc="-10" dirty="0"/>
              <a:t>Coefficient </a:t>
            </a:r>
            <a:r>
              <a:rPr spc="-5" dirty="0"/>
              <a:t>of</a:t>
            </a:r>
            <a:r>
              <a:rPr spc="20" dirty="0"/>
              <a:t> </a:t>
            </a:r>
            <a:r>
              <a:rPr spc="-15" dirty="0"/>
              <a:t>Determination</a:t>
            </a:r>
          </a:p>
        </p:txBody>
      </p:sp>
      <p:sp>
        <p:nvSpPr>
          <p:cNvPr id="3" name="object 3"/>
          <p:cNvSpPr txBox="1"/>
          <p:nvPr/>
        </p:nvSpPr>
        <p:spPr>
          <a:xfrm>
            <a:off x="588772" y="1214373"/>
            <a:ext cx="7804784" cy="3041154"/>
          </a:xfrm>
          <a:prstGeom prst="rect">
            <a:avLst/>
          </a:prstGeom>
        </p:spPr>
        <p:txBody>
          <a:bodyPr vert="horz" wrap="square" lIns="0" tIns="99695" rIns="0" bIns="0" rtlCol="0">
            <a:spAutoFit/>
          </a:bodyPr>
          <a:lstStyle/>
          <a:p>
            <a:pPr marL="1791970" algn="just">
              <a:lnSpc>
                <a:spcPct val="100000"/>
              </a:lnSpc>
              <a:spcBef>
                <a:spcPts val="785"/>
              </a:spcBef>
            </a:pPr>
            <a:r>
              <a:rPr sz="2400" i="1" dirty="0">
                <a:latin typeface="Carlito"/>
                <a:cs typeface="Carlito"/>
              </a:rPr>
              <a:t>r</a:t>
            </a:r>
            <a:r>
              <a:rPr sz="2400" baseline="24305" dirty="0">
                <a:latin typeface="Carlito"/>
                <a:cs typeface="Carlito"/>
              </a:rPr>
              <a:t>2 </a:t>
            </a:r>
            <a:r>
              <a:rPr sz="2400" dirty="0">
                <a:latin typeface="Carlito"/>
                <a:cs typeface="Carlito"/>
              </a:rPr>
              <a:t>= </a:t>
            </a:r>
            <a:r>
              <a:rPr sz="2400" spc="-5" dirty="0">
                <a:latin typeface="Carlito"/>
                <a:cs typeface="Carlito"/>
              </a:rPr>
              <a:t>SSR/SST </a:t>
            </a:r>
            <a:r>
              <a:rPr sz="2400" dirty="0">
                <a:latin typeface="Carlito"/>
                <a:cs typeface="Carlito"/>
              </a:rPr>
              <a:t>= </a:t>
            </a:r>
            <a:r>
              <a:rPr sz="2400" spc="-5" dirty="0">
                <a:latin typeface="Carlito"/>
                <a:cs typeface="Carlito"/>
              </a:rPr>
              <a:t>100/114 </a:t>
            </a:r>
            <a:r>
              <a:rPr sz="2400" dirty="0">
                <a:latin typeface="Carlito"/>
                <a:cs typeface="Carlito"/>
              </a:rPr>
              <a:t>=</a:t>
            </a:r>
            <a:r>
              <a:rPr sz="2400" spc="280" dirty="0">
                <a:latin typeface="Carlito"/>
                <a:cs typeface="Carlito"/>
              </a:rPr>
              <a:t> </a:t>
            </a:r>
            <a:r>
              <a:rPr sz="2400" spc="-5" dirty="0">
                <a:latin typeface="Carlito"/>
                <a:cs typeface="Carlito"/>
              </a:rPr>
              <a:t>.8772</a:t>
            </a:r>
            <a:endParaRPr sz="2400" dirty="0">
              <a:latin typeface="Carlito"/>
              <a:cs typeface="Carlito"/>
            </a:endParaRPr>
          </a:p>
          <a:p>
            <a:pPr marL="25400" marR="17780" indent="68580" algn="just">
              <a:lnSpc>
                <a:spcPct val="110000"/>
              </a:lnSpc>
              <a:spcBef>
                <a:spcPts val="395"/>
              </a:spcBef>
            </a:pPr>
            <a:r>
              <a:rPr sz="2400" spc="-5" dirty="0">
                <a:latin typeface="Carlito"/>
                <a:cs typeface="Carlito"/>
              </a:rPr>
              <a:t>The </a:t>
            </a:r>
            <a:r>
              <a:rPr sz="2400" spc="-10" dirty="0">
                <a:latin typeface="Carlito"/>
                <a:cs typeface="Carlito"/>
              </a:rPr>
              <a:t>regression relationship </a:t>
            </a:r>
            <a:r>
              <a:rPr sz="2400" dirty="0">
                <a:latin typeface="Carlito"/>
                <a:cs typeface="Carlito"/>
              </a:rPr>
              <a:t>is </a:t>
            </a:r>
            <a:r>
              <a:rPr sz="2400" spc="-5" dirty="0">
                <a:latin typeface="Carlito"/>
                <a:cs typeface="Carlito"/>
              </a:rPr>
              <a:t>very </a:t>
            </a:r>
            <a:r>
              <a:rPr sz="2400" spc="-15" dirty="0">
                <a:latin typeface="Carlito"/>
                <a:cs typeface="Carlito"/>
              </a:rPr>
              <a:t>strong; </a:t>
            </a:r>
            <a:r>
              <a:rPr sz="2400" spc="-5" dirty="0">
                <a:latin typeface="Carlito"/>
                <a:cs typeface="Carlito"/>
              </a:rPr>
              <a:t>88% of the  </a:t>
            </a:r>
            <a:r>
              <a:rPr sz="2400" spc="-10" dirty="0">
                <a:latin typeface="Carlito"/>
                <a:cs typeface="Carlito"/>
              </a:rPr>
              <a:t>variability </a:t>
            </a:r>
            <a:r>
              <a:rPr sz="2400" dirty="0">
                <a:latin typeface="Carlito"/>
                <a:cs typeface="Carlito"/>
              </a:rPr>
              <a:t>in the </a:t>
            </a:r>
            <a:r>
              <a:rPr sz="2400" spc="-5" dirty="0">
                <a:latin typeface="Carlito"/>
                <a:cs typeface="Carlito"/>
              </a:rPr>
              <a:t>number of </a:t>
            </a:r>
            <a:r>
              <a:rPr sz="2400" spc="-15" dirty="0">
                <a:latin typeface="Carlito"/>
                <a:cs typeface="Carlito"/>
              </a:rPr>
              <a:t>cars </a:t>
            </a:r>
            <a:r>
              <a:rPr sz="2400" spc="-10" dirty="0">
                <a:latin typeface="Carlito"/>
                <a:cs typeface="Carlito"/>
              </a:rPr>
              <a:t>sold can </a:t>
            </a:r>
            <a:r>
              <a:rPr sz="2400" spc="-5" dirty="0">
                <a:latin typeface="Carlito"/>
                <a:cs typeface="Carlito"/>
              </a:rPr>
              <a:t>be </a:t>
            </a:r>
            <a:r>
              <a:rPr sz="2400" spc="-10" dirty="0">
                <a:latin typeface="Carlito"/>
                <a:cs typeface="Carlito"/>
              </a:rPr>
              <a:t>explained by the  </a:t>
            </a:r>
            <a:r>
              <a:rPr sz="2400" dirty="0">
                <a:latin typeface="Carlito"/>
                <a:cs typeface="Carlito"/>
              </a:rPr>
              <a:t>linear </a:t>
            </a:r>
            <a:r>
              <a:rPr sz="2400" spc="-10" dirty="0">
                <a:latin typeface="Carlito"/>
                <a:cs typeface="Carlito"/>
              </a:rPr>
              <a:t>relationship between </a:t>
            </a:r>
            <a:r>
              <a:rPr sz="2400" spc="-5" dirty="0">
                <a:latin typeface="Carlito"/>
                <a:cs typeface="Carlito"/>
              </a:rPr>
              <a:t>the number of </a:t>
            </a:r>
            <a:r>
              <a:rPr sz="2400" dirty="0">
                <a:latin typeface="Carlito"/>
                <a:cs typeface="Carlito"/>
              </a:rPr>
              <a:t>TV ads and </a:t>
            </a:r>
            <a:r>
              <a:rPr sz="2400" spc="-5" dirty="0">
                <a:latin typeface="Carlito"/>
                <a:cs typeface="Carlito"/>
              </a:rPr>
              <a:t>the  number of </a:t>
            </a:r>
            <a:r>
              <a:rPr sz="2400" spc="-15" dirty="0">
                <a:latin typeface="Carlito"/>
                <a:cs typeface="Carlito"/>
              </a:rPr>
              <a:t>cars</a:t>
            </a:r>
            <a:r>
              <a:rPr sz="2400" spc="-10" dirty="0">
                <a:latin typeface="Carlito"/>
                <a:cs typeface="Carlito"/>
              </a:rPr>
              <a:t> </a:t>
            </a:r>
            <a:r>
              <a:rPr sz="2400" spc="-5" dirty="0">
                <a:latin typeface="Carlito"/>
                <a:cs typeface="Carlito"/>
              </a:rPr>
              <a:t>sold.</a:t>
            </a:r>
            <a:endParaRPr lang="en-US" sz="2400" spc="-5" dirty="0">
              <a:latin typeface="Carlito"/>
              <a:cs typeface="Carlito"/>
            </a:endParaRPr>
          </a:p>
          <a:p>
            <a:pPr marL="25400" marR="17780" indent="68580" algn="just">
              <a:lnSpc>
                <a:spcPct val="110000"/>
              </a:lnSpc>
              <a:spcBef>
                <a:spcPts val="395"/>
              </a:spcBef>
            </a:pPr>
            <a:endParaRPr lang="en-IN" sz="2400" spc="-5" dirty="0">
              <a:latin typeface="Carlito"/>
              <a:cs typeface="Carlito"/>
            </a:endParaRPr>
          </a:p>
          <a:p>
            <a:pPr marL="25400" marR="17780" indent="68580" algn="just">
              <a:lnSpc>
                <a:spcPct val="110000"/>
              </a:lnSpc>
              <a:spcBef>
                <a:spcPts val="395"/>
              </a:spcBef>
            </a:pPr>
            <a:r>
              <a:rPr lang="en-IN" sz="2400" spc="-5" dirty="0">
                <a:latin typeface="Carlito"/>
                <a:cs typeface="Carlito"/>
              </a:rPr>
              <a:t>0 to 1 is the interval of </a:t>
            </a:r>
            <a:r>
              <a:rPr lang="en-IN" sz="2400" i="1" dirty="0">
                <a:latin typeface="Carlito"/>
                <a:cs typeface="Carlito"/>
              </a:rPr>
              <a:t>r</a:t>
            </a:r>
            <a:r>
              <a:rPr lang="en-IN" sz="2400" baseline="24305" dirty="0">
                <a:latin typeface="Carlito"/>
                <a:cs typeface="Carlito"/>
              </a:rPr>
              <a:t>2 </a:t>
            </a:r>
            <a:endParaRPr sz="2400" dirty="0">
              <a:latin typeface="Carlito"/>
              <a:cs typeface="Carl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6182" y="246329"/>
            <a:ext cx="3691890" cy="452120"/>
          </a:xfrm>
          <a:prstGeom prst="rect">
            <a:avLst/>
          </a:prstGeom>
        </p:spPr>
        <p:txBody>
          <a:bodyPr vert="horz" wrap="square" lIns="0" tIns="12065" rIns="0" bIns="0" rtlCol="0">
            <a:spAutoFit/>
          </a:bodyPr>
          <a:lstStyle/>
          <a:p>
            <a:pPr marL="12700">
              <a:lnSpc>
                <a:spcPct val="100000"/>
              </a:lnSpc>
              <a:spcBef>
                <a:spcPts val="95"/>
              </a:spcBef>
            </a:pPr>
            <a:r>
              <a:rPr spc="-5" dirty="0"/>
              <a:t>Simple Linear</a:t>
            </a:r>
            <a:r>
              <a:rPr spc="-20" dirty="0"/>
              <a:t> </a:t>
            </a:r>
            <a:r>
              <a:rPr spc="-15" dirty="0"/>
              <a:t>Regression</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40970">
              <a:lnSpc>
                <a:spcPts val="1335"/>
              </a:lnSpc>
            </a:pPr>
            <a:fld id="{81D60167-4931-47E6-BA6A-407CBD079E47}" type="slidenum">
              <a:rPr dirty="0"/>
              <a:t>8</a:t>
            </a:fld>
            <a:endParaRPr dirty="0"/>
          </a:p>
        </p:txBody>
      </p:sp>
      <p:sp>
        <p:nvSpPr>
          <p:cNvPr id="3" name="object 3"/>
          <p:cNvSpPr txBox="1"/>
          <p:nvPr/>
        </p:nvSpPr>
        <p:spPr>
          <a:xfrm>
            <a:off x="762101" y="840486"/>
            <a:ext cx="2101850"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Carlito"/>
                <a:cs typeface="Carlito"/>
              </a:rPr>
              <a:t>Example: Auto</a:t>
            </a:r>
            <a:r>
              <a:rPr sz="2000" spc="-85" dirty="0">
                <a:latin typeface="Carlito"/>
                <a:cs typeface="Carlito"/>
              </a:rPr>
              <a:t> </a:t>
            </a:r>
            <a:r>
              <a:rPr sz="2000" spc="-5" dirty="0">
                <a:latin typeface="Carlito"/>
                <a:cs typeface="Carlito"/>
              </a:rPr>
              <a:t>Sales</a:t>
            </a:r>
            <a:endParaRPr sz="2000">
              <a:latin typeface="Carlito"/>
              <a:cs typeface="Carlito"/>
            </a:endParaRPr>
          </a:p>
        </p:txBody>
      </p:sp>
      <p:sp>
        <p:nvSpPr>
          <p:cNvPr id="4" name="object 4"/>
          <p:cNvSpPr txBox="1"/>
          <p:nvPr/>
        </p:nvSpPr>
        <p:spPr>
          <a:xfrm>
            <a:off x="1396364" y="1370457"/>
            <a:ext cx="1165225" cy="2314575"/>
          </a:xfrm>
          <a:prstGeom prst="rect">
            <a:avLst/>
          </a:prstGeom>
        </p:spPr>
        <p:txBody>
          <a:bodyPr vert="horz" wrap="square" lIns="0" tIns="13335" rIns="0" bIns="0" rtlCol="0">
            <a:spAutoFit/>
          </a:bodyPr>
          <a:lstStyle/>
          <a:p>
            <a:pPr marL="12700">
              <a:lnSpc>
                <a:spcPct val="100000"/>
              </a:lnSpc>
              <a:spcBef>
                <a:spcPts val="105"/>
              </a:spcBef>
            </a:pPr>
            <a:r>
              <a:rPr sz="2000" b="1" dirty="0">
                <a:latin typeface="Carlito"/>
                <a:cs typeface="Carlito"/>
              </a:rPr>
              <a:t>Number</a:t>
            </a:r>
            <a:r>
              <a:rPr sz="2000" b="1" spc="-95" dirty="0">
                <a:latin typeface="Carlito"/>
                <a:cs typeface="Carlito"/>
              </a:rPr>
              <a:t> </a:t>
            </a:r>
            <a:r>
              <a:rPr sz="2000" b="1" dirty="0">
                <a:latin typeface="Carlito"/>
                <a:cs typeface="Carlito"/>
              </a:rPr>
              <a:t>of</a:t>
            </a:r>
            <a:endParaRPr sz="2000">
              <a:latin typeface="Carlito"/>
              <a:cs typeface="Carlito"/>
            </a:endParaRPr>
          </a:p>
          <a:p>
            <a:pPr marL="12700">
              <a:lnSpc>
                <a:spcPct val="100000"/>
              </a:lnSpc>
            </a:pPr>
            <a:r>
              <a:rPr sz="2000" b="1" u="heavy" spc="-10" dirty="0">
                <a:uFill>
                  <a:solidFill>
                    <a:srgbClr val="000000"/>
                  </a:solidFill>
                </a:uFill>
                <a:latin typeface="Carlito"/>
                <a:cs typeface="Carlito"/>
              </a:rPr>
              <a:t> </a:t>
            </a:r>
            <a:r>
              <a:rPr sz="2000" b="1" u="heavy" spc="-5" dirty="0">
                <a:uFill>
                  <a:solidFill>
                    <a:srgbClr val="000000"/>
                  </a:solidFill>
                </a:uFill>
                <a:latin typeface="Carlito"/>
                <a:cs typeface="Carlito"/>
              </a:rPr>
              <a:t>TV</a:t>
            </a:r>
            <a:r>
              <a:rPr sz="2000" b="1" u="heavy" spc="-20" dirty="0">
                <a:uFill>
                  <a:solidFill>
                    <a:srgbClr val="000000"/>
                  </a:solidFill>
                </a:uFill>
                <a:latin typeface="Carlito"/>
                <a:cs typeface="Carlito"/>
              </a:rPr>
              <a:t> </a:t>
            </a:r>
            <a:r>
              <a:rPr sz="2000" b="1" u="heavy" dirty="0">
                <a:uFill>
                  <a:solidFill>
                    <a:srgbClr val="000000"/>
                  </a:solidFill>
                </a:uFill>
                <a:latin typeface="Carlito"/>
                <a:cs typeface="Carlito"/>
              </a:rPr>
              <a:t>Ads</a:t>
            </a:r>
            <a:endParaRPr sz="2000">
              <a:latin typeface="Carlito"/>
              <a:cs typeface="Carlito"/>
            </a:endParaRPr>
          </a:p>
          <a:p>
            <a:pPr marR="115570" algn="ctr">
              <a:lnSpc>
                <a:spcPct val="100000"/>
              </a:lnSpc>
              <a:spcBef>
                <a:spcPts val="1210"/>
              </a:spcBef>
            </a:pPr>
            <a:r>
              <a:rPr sz="2000" b="1" dirty="0">
                <a:latin typeface="Carlito"/>
                <a:cs typeface="Carlito"/>
              </a:rPr>
              <a:t>1</a:t>
            </a:r>
            <a:endParaRPr sz="2000">
              <a:latin typeface="Carlito"/>
              <a:cs typeface="Carlito"/>
            </a:endParaRPr>
          </a:p>
          <a:p>
            <a:pPr marR="115570" algn="ctr">
              <a:lnSpc>
                <a:spcPct val="100000"/>
              </a:lnSpc>
            </a:pPr>
            <a:r>
              <a:rPr sz="2000" b="1" dirty="0">
                <a:latin typeface="Carlito"/>
                <a:cs typeface="Carlito"/>
              </a:rPr>
              <a:t>3</a:t>
            </a:r>
            <a:endParaRPr sz="2000">
              <a:latin typeface="Carlito"/>
              <a:cs typeface="Carlito"/>
            </a:endParaRPr>
          </a:p>
          <a:p>
            <a:pPr marR="115570" algn="ctr">
              <a:lnSpc>
                <a:spcPct val="100000"/>
              </a:lnSpc>
              <a:spcBef>
                <a:spcPts val="5"/>
              </a:spcBef>
            </a:pPr>
            <a:r>
              <a:rPr sz="2000" b="1" dirty="0">
                <a:latin typeface="Carlito"/>
                <a:cs typeface="Carlito"/>
              </a:rPr>
              <a:t>2</a:t>
            </a:r>
            <a:endParaRPr sz="2000">
              <a:latin typeface="Carlito"/>
              <a:cs typeface="Carlito"/>
            </a:endParaRPr>
          </a:p>
          <a:p>
            <a:pPr marR="115570" algn="ctr">
              <a:lnSpc>
                <a:spcPct val="100000"/>
              </a:lnSpc>
            </a:pPr>
            <a:r>
              <a:rPr sz="2000" b="1" dirty="0">
                <a:latin typeface="Carlito"/>
                <a:cs typeface="Carlito"/>
              </a:rPr>
              <a:t>1</a:t>
            </a:r>
            <a:endParaRPr sz="2000">
              <a:latin typeface="Carlito"/>
              <a:cs typeface="Carlito"/>
            </a:endParaRPr>
          </a:p>
          <a:p>
            <a:pPr marR="115570" algn="ctr">
              <a:lnSpc>
                <a:spcPct val="100000"/>
              </a:lnSpc>
            </a:pPr>
            <a:r>
              <a:rPr sz="2000" b="1" dirty="0">
                <a:latin typeface="Carlito"/>
                <a:cs typeface="Carlito"/>
              </a:rPr>
              <a:t>3</a:t>
            </a:r>
            <a:endParaRPr sz="2000">
              <a:latin typeface="Carlito"/>
              <a:cs typeface="Carlito"/>
            </a:endParaRPr>
          </a:p>
        </p:txBody>
      </p:sp>
      <p:sp>
        <p:nvSpPr>
          <p:cNvPr id="5" name="object 5"/>
          <p:cNvSpPr txBox="1"/>
          <p:nvPr/>
        </p:nvSpPr>
        <p:spPr>
          <a:xfrm>
            <a:off x="3206623" y="1370457"/>
            <a:ext cx="1165225" cy="2314575"/>
          </a:xfrm>
          <a:prstGeom prst="rect">
            <a:avLst/>
          </a:prstGeom>
        </p:spPr>
        <p:txBody>
          <a:bodyPr vert="horz" wrap="square" lIns="0" tIns="13335" rIns="0" bIns="0" rtlCol="0">
            <a:spAutoFit/>
          </a:bodyPr>
          <a:lstStyle/>
          <a:p>
            <a:pPr marL="12700" marR="5080">
              <a:lnSpc>
                <a:spcPct val="100000"/>
              </a:lnSpc>
              <a:spcBef>
                <a:spcPts val="105"/>
              </a:spcBef>
            </a:pPr>
            <a:r>
              <a:rPr sz="2000" b="1" dirty="0">
                <a:latin typeface="Carlito"/>
                <a:cs typeface="Carlito"/>
              </a:rPr>
              <a:t>Number</a:t>
            </a:r>
            <a:r>
              <a:rPr sz="2000" b="1" spc="-105" dirty="0">
                <a:latin typeface="Carlito"/>
                <a:cs typeface="Carlito"/>
              </a:rPr>
              <a:t> </a:t>
            </a:r>
            <a:r>
              <a:rPr sz="2000" b="1" dirty="0">
                <a:latin typeface="Carlito"/>
                <a:cs typeface="Carlito"/>
              </a:rPr>
              <a:t>of  </a:t>
            </a:r>
            <a:r>
              <a:rPr sz="2000" b="1" u="heavy" spc="-15" dirty="0">
                <a:uFill>
                  <a:solidFill>
                    <a:srgbClr val="000000"/>
                  </a:solidFill>
                </a:uFill>
                <a:latin typeface="Carlito"/>
                <a:cs typeface="Carlito"/>
              </a:rPr>
              <a:t>Cars </a:t>
            </a:r>
            <a:r>
              <a:rPr sz="2000" b="1" u="heavy" dirty="0">
                <a:uFill>
                  <a:solidFill>
                    <a:srgbClr val="000000"/>
                  </a:solidFill>
                </a:uFill>
                <a:latin typeface="Carlito"/>
                <a:cs typeface="Carlito"/>
              </a:rPr>
              <a:t>Sold</a:t>
            </a:r>
            <a:endParaRPr sz="2000">
              <a:latin typeface="Carlito"/>
              <a:cs typeface="Carlito"/>
            </a:endParaRPr>
          </a:p>
          <a:p>
            <a:pPr marR="117475" algn="ctr">
              <a:lnSpc>
                <a:spcPct val="100000"/>
              </a:lnSpc>
              <a:spcBef>
                <a:spcPts val="1210"/>
              </a:spcBef>
            </a:pPr>
            <a:r>
              <a:rPr sz="2000" b="1" dirty="0">
                <a:latin typeface="Carlito"/>
                <a:cs typeface="Carlito"/>
              </a:rPr>
              <a:t>14</a:t>
            </a:r>
            <a:endParaRPr sz="2000">
              <a:latin typeface="Carlito"/>
              <a:cs typeface="Carlito"/>
            </a:endParaRPr>
          </a:p>
          <a:p>
            <a:pPr marR="117475" algn="ctr">
              <a:lnSpc>
                <a:spcPct val="100000"/>
              </a:lnSpc>
            </a:pPr>
            <a:r>
              <a:rPr sz="2000" b="1" dirty="0">
                <a:latin typeface="Carlito"/>
                <a:cs typeface="Carlito"/>
              </a:rPr>
              <a:t>24</a:t>
            </a:r>
            <a:endParaRPr sz="2000">
              <a:latin typeface="Carlito"/>
              <a:cs typeface="Carlito"/>
            </a:endParaRPr>
          </a:p>
          <a:p>
            <a:pPr marR="117475" algn="ctr">
              <a:lnSpc>
                <a:spcPct val="100000"/>
              </a:lnSpc>
              <a:spcBef>
                <a:spcPts val="5"/>
              </a:spcBef>
            </a:pPr>
            <a:r>
              <a:rPr sz="2000" b="1" dirty="0">
                <a:latin typeface="Carlito"/>
                <a:cs typeface="Carlito"/>
              </a:rPr>
              <a:t>18</a:t>
            </a:r>
            <a:endParaRPr sz="2000">
              <a:latin typeface="Carlito"/>
              <a:cs typeface="Carlito"/>
            </a:endParaRPr>
          </a:p>
          <a:p>
            <a:pPr marR="117475" algn="ctr">
              <a:lnSpc>
                <a:spcPct val="100000"/>
              </a:lnSpc>
            </a:pPr>
            <a:r>
              <a:rPr sz="2000" b="1" dirty="0">
                <a:latin typeface="Carlito"/>
                <a:cs typeface="Carlito"/>
              </a:rPr>
              <a:t>17</a:t>
            </a:r>
            <a:endParaRPr sz="2000">
              <a:latin typeface="Carlito"/>
              <a:cs typeface="Carlito"/>
            </a:endParaRPr>
          </a:p>
          <a:p>
            <a:pPr marR="117475" algn="ctr">
              <a:lnSpc>
                <a:spcPct val="100000"/>
              </a:lnSpc>
            </a:pPr>
            <a:r>
              <a:rPr sz="2000" b="1" dirty="0">
                <a:latin typeface="Carlito"/>
                <a:cs typeface="Carlito"/>
              </a:rPr>
              <a:t>27</a:t>
            </a:r>
            <a:endParaRPr sz="2000">
              <a:latin typeface="Carlito"/>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8236" y="336296"/>
            <a:ext cx="4239895" cy="452120"/>
          </a:xfrm>
          <a:prstGeom prst="rect">
            <a:avLst/>
          </a:prstGeom>
        </p:spPr>
        <p:txBody>
          <a:bodyPr vert="horz" wrap="square" lIns="0" tIns="12065" rIns="0" bIns="0" rtlCol="0">
            <a:spAutoFit/>
          </a:bodyPr>
          <a:lstStyle/>
          <a:p>
            <a:pPr marL="12700">
              <a:lnSpc>
                <a:spcPct val="100000"/>
              </a:lnSpc>
              <a:spcBef>
                <a:spcPts val="95"/>
              </a:spcBef>
            </a:pPr>
            <a:r>
              <a:rPr spc="-10" dirty="0"/>
              <a:t>Coefficient </a:t>
            </a:r>
            <a:r>
              <a:rPr spc="-5" dirty="0"/>
              <a:t>of</a:t>
            </a:r>
            <a:r>
              <a:rPr spc="20" dirty="0"/>
              <a:t> </a:t>
            </a:r>
            <a:r>
              <a:rPr spc="-15" dirty="0"/>
              <a:t>Determination</a:t>
            </a:r>
          </a:p>
        </p:txBody>
      </p:sp>
      <p:sp>
        <p:nvSpPr>
          <p:cNvPr id="3" name="object 3"/>
          <p:cNvSpPr txBox="1"/>
          <p:nvPr/>
        </p:nvSpPr>
        <p:spPr>
          <a:xfrm>
            <a:off x="762609" y="1250696"/>
            <a:ext cx="7574915" cy="2138045"/>
          </a:xfrm>
          <a:prstGeom prst="rect">
            <a:avLst/>
          </a:prstGeom>
        </p:spPr>
        <p:txBody>
          <a:bodyPr vert="horz" wrap="square" lIns="0" tIns="99060" rIns="0" bIns="0" rtlCol="0">
            <a:spAutoFit/>
          </a:bodyPr>
          <a:lstStyle/>
          <a:p>
            <a:pPr marL="1824355">
              <a:lnSpc>
                <a:spcPct val="100000"/>
              </a:lnSpc>
              <a:spcBef>
                <a:spcPts val="780"/>
              </a:spcBef>
              <a:tabLst>
                <a:tab pos="5066665" algn="l"/>
              </a:tabLst>
            </a:pPr>
            <a:r>
              <a:rPr sz="2400" i="1" dirty="0">
                <a:latin typeface="Carlito"/>
                <a:cs typeface="Carlito"/>
              </a:rPr>
              <a:t>r</a:t>
            </a:r>
            <a:r>
              <a:rPr sz="2400" baseline="24305" dirty="0">
                <a:latin typeface="Carlito"/>
                <a:cs typeface="Carlito"/>
              </a:rPr>
              <a:t>2  </a:t>
            </a:r>
            <a:r>
              <a:rPr sz="2400" dirty="0">
                <a:latin typeface="Carlito"/>
                <a:cs typeface="Carlito"/>
              </a:rPr>
              <a:t>= </a:t>
            </a:r>
            <a:r>
              <a:rPr sz="2400" spc="-5" dirty="0">
                <a:latin typeface="Carlito"/>
                <a:cs typeface="Carlito"/>
              </a:rPr>
              <a:t>SSR/SST </a:t>
            </a:r>
            <a:r>
              <a:rPr sz="2400" dirty="0">
                <a:latin typeface="Carlito"/>
                <a:cs typeface="Carlito"/>
              </a:rPr>
              <a:t>=</a:t>
            </a:r>
            <a:r>
              <a:rPr sz="2400" spc="-220" dirty="0">
                <a:latin typeface="Carlito"/>
                <a:cs typeface="Carlito"/>
              </a:rPr>
              <a:t> </a:t>
            </a:r>
            <a:r>
              <a:rPr sz="2400" spc="-5" dirty="0">
                <a:latin typeface="Carlito"/>
                <a:cs typeface="Carlito"/>
              </a:rPr>
              <a:t>100/114 </a:t>
            </a:r>
            <a:r>
              <a:rPr sz="2400" dirty="0">
                <a:latin typeface="Carlito"/>
                <a:cs typeface="Carlito"/>
              </a:rPr>
              <a:t>=	</a:t>
            </a:r>
            <a:r>
              <a:rPr sz="2400" spc="-5" dirty="0">
                <a:latin typeface="Carlito"/>
                <a:cs typeface="Carlito"/>
              </a:rPr>
              <a:t>.8772</a:t>
            </a:r>
            <a:endParaRPr sz="2400">
              <a:latin typeface="Carlito"/>
              <a:cs typeface="Carlito"/>
            </a:endParaRPr>
          </a:p>
          <a:p>
            <a:pPr marL="38100" marR="30480">
              <a:lnSpc>
                <a:spcPct val="110000"/>
              </a:lnSpc>
              <a:spcBef>
                <a:spcPts val="400"/>
              </a:spcBef>
              <a:tabLst>
                <a:tab pos="5314950" algn="l"/>
              </a:tabLst>
            </a:pPr>
            <a:r>
              <a:rPr sz="2400" spc="-5" dirty="0">
                <a:latin typeface="Carlito"/>
                <a:cs typeface="Carlito"/>
              </a:rPr>
              <a:t>The </a:t>
            </a:r>
            <a:r>
              <a:rPr sz="2400" spc="-10" dirty="0">
                <a:latin typeface="Carlito"/>
                <a:cs typeface="Carlito"/>
              </a:rPr>
              <a:t>regression </a:t>
            </a:r>
            <a:r>
              <a:rPr sz="2400" spc="-5" dirty="0">
                <a:latin typeface="Carlito"/>
                <a:cs typeface="Carlito"/>
              </a:rPr>
              <a:t>relationship </a:t>
            </a:r>
            <a:r>
              <a:rPr sz="2400" dirty="0">
                <a:latin typeface="Carlito"/>
                <a:cs typeface="Carlito"/>
              </a:rPr>
              <a:t>is</a:t>
            </a:r>
            <a:r>
              <a:rPr sz="2400" spc="50" dirty="0">
                <a:latin typeface="Carlito"/>
                <a:cs typeface="Carlito"/>
              </a:rPr>
              <a:t> </a:t>
            </a:r>
            <a:r>
              <a:rPr sz="2400" spc="-5" dirty="0">
                <a:latin typeface="Carlito"/>
                <a:cs typeface="Carlito"/>
              </a:rPr>
              <a:t>very</a:t>
            </a:r>
            <a:r>
              <a:rPr sz="2400" spc="10" dirty="0">
                <a:latin typeface="Carlito"/>
                <a:cs typeface="Carlito"/>
              </a:rPr>
              <a:t> </a:t>
            </a:r>
            <a:r>
              <a:rPr sz="2400" spc="-15" dirty="0">
                <a:latin typeface="Carlito"/>
                <a:cs typeface="Carlito"/>
              </a:rPr>
              <a:t>strong;	</a:t>
            </a:r>
            <a:r>
              <a:rPr sz="2400" spc="-5" dirty="0">
                <a:latin typeface="Carlito"/>
                <a:cs typeface="Carlito"/>
              </a:rPr>
              <a:t>88% </a:t>
            </a:r>
            <a:r>
              <a:rPr sz="2400" spc="-10" dirty="0">
                <a:latin typeface="Carlito"/>
                <a:cs typeface="Carlito"/>
              </a:rPr>
              <a:t>of </a:t>
            </a:r>
            <a:r>
              <a:rPr sz="2400" dirty="0">
                <a:latin typeface="Carlito"/>
                <a:cs typeface="Carlito"/>
              </a:rPr>
              <a:t>the  </a:t>
            </a:r>
            <a:r>
              <a:rPr sz="2400" spc="-5" dirty="0">
                <a:latin typeface="Carlito"/>
                <a:cs typeface="Carlito"/>
              </a:rPr>
              <a:t>variability </a:t>
            </a:r>
            <a:r>
              <a:rPr sz="2400" dirty="0">
                <a:latin typeface="Carlito"/>
                <a:cs typeface="Carlito"/>
              </a:rPr>
              <a:t>in the </a:t>
            </a:r>
            <a:r>
              <a:rPr sz="2400" spc="-5" dirty="0">
                <a:latin typeface="Carlito"/>
                <a:cs typeface="Carlito"/>
              </a:rPr>
              <a:t>number of </a:t>
            </a:r>
            <a:r>
              <a:rPr sz="2400" spc="-15" dirty="0">
                <a:latin typeface="Carlito"/>
                <a:cs typeface="Carlito"/>
              </a:rPr>
              <a:t>cars </a:t>
            </a:r>
            <a:r>
              <a:rPr sz="2400" spc="-5" dirty="0">
                <a:latin typeface="Carlito"/>
                <a:cs typeface="Carlito"/>
              </a:rPr>
              <a:t>sold </a:t>
            </a:r>
            <a:r>
              <a:rPr sz="2400" spc="-10" dirty="0">
                <a:latin typeface="Carlito"/>
                <a:cs typeface="Carlito"/>
              </a:rPr>
              <a:t>can </a:t>
            </a:r>
            <a:r>
              <a:rPr sz="2400" spc="-5" dirty="0">
                <a:latin typeface="Carlito"/>
                <a:cs typeface="Carlito"/>
              </a:rPr>
              <a:t>be </a:t>
            </a:r>
            <a:r>
              <a:rPr sz="2400" spc="-10" dirty="0">
                <a:latin typeface="Carlito"/>
                <a:cs typeface="Carlito"/>
              </a:rPr>
              <a:t>explained by </a:t>
            </a:r>
            <a:r>
              <a:rPr sz="2400" dirty="0">
                <a:latin typeface="Carlito"/>
                <a:cs typeface="Carlito"/>
              </a:rPr>
              <a:t>the  linear </a:t>
            </a:r>
            <a:r>
              <a:rPr sz="2400" spc="-5" dirty="0">
                <a:latin typeface="Carlito"/>
                <a:cs typeface="Carlito"/>
              </a:rPr>
              <a:t>relationship between </a:t>
            </a:r>
            <a:r>
              <a:rPr sz="2400" dirty="0">
                <a:latin typeface="Carlito"/>
                <a:cs typeface="Carlito"/>
              </a:rPr>
              <a:t>the </a:t>
            </a:r>
            <a:r>
              <a:rPr sz="2400" spc="-5" dirty="0">
                <a:latin typeface="Carlito"/>
                <a:cs typeface="Carlito"/>
              </a:rPr>
              <a:t>number of TV ads </a:t>
            </a:r>
            <a:r>
              <a:rPr sz="2400" dirty="0">
                <a:latin typeface="Carlito"/>
                <a:cs typeface="Carlito"/>
              </a:rPr>
              <a:t>and the  </a:t>
            </a:r>
            <a:r>
              <a:rPr sz="2400" spc="-5" dirty="0">
                <a:latin typeface="Carlito"/>
                <a:cs typeface="Carlito"/>
              </a:rPr>
              <a:t>number of </a:t>
            </a:r>
            <a:r>
              <a:rPr sz="2400" spc="-15" dirty="0">
                <a:latin typeface="Carlito"/>
                <a:cs typeface="Carlito"/>
              </a:rPr>
              <a:t>cars</a:t>
            </a:r>
            <a:r>
              <a:rPr sz="2400" spc="-25" dirty="0">
                <a:latin typeface="Carlito"/>
                <a:cs typeface="Carlito"/>
              </a:rPr>
              <a:t> </a:t>
            </a:r>
            <a:r>
              <a:rPr sz="2400" spc="-10" dirty="0">
                <a:latin typeface="Carlito"/>
                <a:cs typeface="Carlito"/>
              </a:rPr>
              <a:t>sold.</a:t>
            </a:r>
            <a:endParaRPr sz="2400">
              <a:latin typeface="Carlito"/>
              <a:cs typeface="Carl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6894" y="227837"/>
            <a:ext cx="4530725" cy="452120"/>
          </a:xfrm>
          <a:prstGeom prst="rect">
            <a:avLst/>
          </a:prstGeom>
        </p:spPr>
        <p:txBody>
          <a:bodyPr vert="horz" wrap="square" lIns="0" tIns="12065" rIns="0" bIns="0" rtlCol="0">
            <a:spAutoFit/>
          </a:bodyPr>
          <a:lstStyle/>
          <a:p>
            <a:pPr marL="12700">
              <a:lnSpc>
                <a:spcPct val="100000"/>
              </a:lnSpc>
              <a:spcBef>
                <a:spcPts val="95"/>
              </a:spcBef>
            </a:pPr>
            <a:r>
              <a:rPr spc="-5" dirty="0"/>
              <a:t>Sample </a:t>
            </a:r>
            <a:r>
              <a:rPr spc="-15" dirty="0"/>
              <a:t>Correlation</a:t>
            </a:r>
            <a:r>
              <a:rPr spc="40" dirty="0"/>
              <a:t> </a:t>
            </a:r>
            <a:r>
              <a:rPr spc="-10" dirty="0"/>
              <a:t>Coefficient</a:t>
            </a:r>
          </a:p>
        </p:txBody>
      </p:sp>
      <p:grpSp>
        <p:nvGrpSpPr>
          <p:cNvPr id="3" name="object 3"/>
          <p:cNvGrpSpPr/>
          <p:nvPr/>
        </p:nvGrpSpPr>
        <p:grpSpPr>
          <a:xfrm>
            <a:off x="1257300" y="1500200"/>
            <a:ext cx="2966085" cy="501015"/>
            <a:chOff x="1257300" y="1500200"/>
            <a:chExt cx="2966085" cy="501015"/>
          </a:xfrm>
        </p:grpSpPr>
        <p:sp>
          <p:nvSpPr>
            <p:cNvPr id="4" name="object 4"/>
            <p:cNvSpPr/>
            <p:nvPr/>
          </p:nvSpPr>
          <p:spPr>
            <a:xfrm>
              <a:off x="1267967" y="1511807"/>
              <a:ext cx="2955035" cy="489203"/>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257300" y="1500200"/>
              <a:ext cx="2951480" cy="487045"/>
            </a:xfrm>
            <a:custGeom>
              <a:avLst/>
              <a:gdLst/>
              <a:ahLst/>
              <a:cxnLst/>
              <a:rect l="l" t="t" r="r" b="b"/>
              <a:pathLst>
                <a:path w="2951479" h="487044">
                  <a:moveTo>
                    <a:pt x="2951226" y="0"/>
                  </a:moveTo>
                  <a:lnTo>
                    <a:pt x="0" y="0"/>
                  </a:lnTo>
                  <a:lnTo>
                    <a:pt x="0" y="486968"/>
                  </a:lnTo>
                  <a:lnTo>
                    <a:pt x="2951226" y="486968"/>
                  </a:lnTo>
                  <a:lnTo>
                    <a:pt x="2951226" y="0"/>
                  </a:lnTo>
                  <a:close/>
                </a:path>
              </a:pathLst>
            </a:custGeom>
            <a:solidFill>
              <a:srgbClr val="00AF50"/>
            </a:solidFill>
          </p:spPr>
          <p:txBody>
            <a:bodyPr wrap="square" lIns="0" tIns="0" rIns="0" bIns="0" rtlCol="0"/>
            <a:lstStyle/>
            <a:p>
              <a:endParaRPr/>
            </a:p>
          </p:txBody>
        </p:sp>
        <p:sp>
          <p:nvSpPr>
            <p:cNvPr id="6" name="object 6"/>
            <p:cNvSpPr/>
            <p:nvPr/>
          </p:nvSpPr>
          <p:spPr>
            <a:xfrm>
              <a:off x="3599397" y="1747330"/>
              <a:ext cx="44450" cy="19050"/>
            </a:xfrm>
            <a:custGeom>
              <a:avLst/>
              <a:gdLst/>
              <a:ahLst/>
              <a:cxnLst/>
              <a:rect l="l" t="t" r="r" b="b"/>
              <a:pathLst>
                <a:path w="44450" h="19050">
                  <a:moveTo>
                    <a:pt x="0" y="18540"/>
                  </a:moveTo>
                  <a:lnTo>
                    <a:pt x="43899" y="0"/>
                  </a:lnTo>
                </a:path>
              </a:pathLst>
            </a:custGeom>
            <a:ln w="11152">
              <a:solidFill>
                <a:srgbClr val="FFFFFF"/>
              </a:solidFill>
            </a:ln>
          </p:spPr>
          <p:txBody>
            <a:bodyPr wrap="square" lIns="0" tIns="0" rIns="0" bIns="0" rtlCol="0"/>
            <a:lstStyle/>
            <a:p>
              <a:endParaRPr/>
            </a:p>
          </p:txBody>
        </p:sp>
        <p:sp>
          <p:nvSpPr>
            <p:cNvPr id="7" name="object 7"/>
            <p:cNvSpPr/>
            <p:nvPr/>
          </p:nvSpPr>
          <p:spPr>
            <a:xfrm>
              <a:off x="3643297" y="1752622"/>
              <a:ext cx="64135" cy="97790"/>
            </a:xfrm>
            <a:custGeom>
              <a:avLst/>
              <a:gdLst/>
              <a:ahLst/>
              <a:cxnLst/>
              <a:rect l="l" t="t" r="r" b="b"/>
              <a:pathLst>
                <a:path w="64135" h="97789">
                  <a:moveTo>
                    <a:pt x="0" y="0"/>
                  </a:moveTo>
                  <a:lnTo>
                    <a:pt x="63593" y="97386"/>
                  </a:lnTo>
                </a:path>
              </a:pathLst>
            </a:custGeom>
            <a:ln w="26415">
              <a:solidFill>
                <a:srgbClr val="FFFFFF"/>
              </a:solidFill>
            </a:ln>
          </p:spPr>
          <p:txBody>
            <a:bodyPr wrap="square" lIns="0" tIns="0" rIns="0" bIns="0" rtlCol="0"/>
            <a:lstStyle/>
            <a:p>
              <a:endParaRPr/>
            </a:p>
          </p:txBody>
        </p:sp>
        <p:sp>
          <p:nvSpPr>
            <p:cNvPr id="8" name="object 8"/>
            <p:cNvSpPr/>
            <p:nvPr/>
          </p:nvSpPr>
          <p:spPr>
            <a:xfrm>
              <a:off x="3714051" y="1564463"/>
              <a:ext cx="426720" cy="285750"/>
            </a:xfrm>
            <a:custGeom>
              <a:avLst/>
              <a:gdLst/>
              <a:ahLst/>
              <a:cxnLst/>
              <a:rect l="l" t="t" r="r" b="b"/>
              <a:pathLst>
                <a:path w="426720" h="285750">
                  <a:moveTo>
                    <a:pt x="0" y="285545"/>
                  </a:moveTo>
                  <a:lnTo>
                    <a:pt x="84191" y="0"/>
                  </a:lnTo>
                </a:path>
                <a:path w="426720" h="285750">
                  <a:moveTo>
                    <a:pt x="84191" y="0"/>
                  </a:moveTo>
                  <a:lnTo>
                    <a:pt x="426328" y="0"/>
                  </a:lnTo>
                </a:path>
              </a:pathLst>
            </a:custGeom>
            <a:ln w="12456">
              <a:solidFill>
                <a:srgbClr val="FFFFFF"/>
              </a:solidFill>
            </a:ln>
          </p:spPr>
          <p:txBody>
            <a:bodyPr wrap="square" lIns="0" tIns="0" rIns="0" bIns="0" rtlCol="0"/>
            <a:lstStyle/>
            <a:p>
              <a:endParaRPr/>
            </a:p>
          </p:txBody>
        </p:sp>
      </p:grpSp>
      <p:sp>
        <p:nvSpPr>
          <p:cNvPr id="9" name="object 9"/>
          <p:cNvSpPr txBox="1"/>
          <p:nvPr/>
        </p:nvSpPr>
        <p:spPr>
          <a:xfrm>
            <a:off x="3794327" y="1458365"/>
            <a:ext cx="333375" cy="330835"/>
          </a:xfrm>
          <a:prstGeom prst="rect">
            <a:avLst/>
          </a:prstGeom>
        </p:spPr>
        <p:txBody>
          <a:bodyPr vert="horz" wrap="square" lIns="0" tIns="12700" rIns="0" bIns="0" rtlCol="0">
            <a:spAutoFit/>
          </a:bodyPr>
          <a:lstStyle/>
          <a:p>
            <a:pPr marL="25400">
              <a:lnSpc>
                <a:spcPct val="100000"/>
              </a:lnSpc>
              <a:spcBef>
                <a:spcPts val="100"/>
              </a:spcBef>
            </a:pPr>
            <a:r>
              <a:rPr sz="3000" i="1" spc="412" baseline="-25000" dirty="0">
                <a:solidFill>
                  <a:srgbClr val="FFFFFF"/>
                </a:solidFill>
                <a:latin typeface="Times New Roman"/>
                <a:cs typeface="Times New Roman"/>
              </a:rPr>
              <a:t>r</a:t>
            </a:r>
            <a:r>
              <a:rPr sz="3000" i="1" spc="-412" baseline="-25000" dirty="0">
                <a:solidFill>
                  <a:srgbClr val="FFFFFF"/>
                </a:solidFill>
                <a:latin typeface="Times New Roman"/>
                <a:cs typeface="Times New Roman"/>
              </a:rPr>
              <a:t> </a:t>
            </a:r>
            <a:r>
              <a:rPr sz="1150" spc="215" dirty="0">
                <a:solidFill>
                  <a:srgbClr val="FFFFFF"/>
                </a:solidFill>
                <a:latin typeface="Times New Roman"/>
                <a:cs typeface="Times New Roman"/>
              </a:rPr>
              <a:t>2</a:t>
            </a:r>
            <a:endParaRPr sz="1150">
              <a:latin typeface="Times New Roman"/>
              <a:cs typeface="Times New Roman"/>
            </a:endParaRPr>
          </a:p>
        </p:txBody>
      </p:sp>
      <p:sp>
        <p:nvSpPr>
          <p:cNvPr id="10" name="object 10"/>
          <p:cNvSpPr txBox="1"/>
          <p:nvPr/>
        </p:nvSpPr>
        <p:spPr>
          <a:xfrm>
            <a:off x="1283853" y="1572314"/>
            <a:ext cx="2273300" cy="330835"/>
          </a:xfrm>
          <a:prstGeom prst="rect">
            <a:avLst/>
          </a:prstGeom>
        </p:spPr>
        <p:txBody>
          <a:bodyPr vert="horz" wrap="square" lIns="0" tIns="12700" rIns="0" bIns="0" rtlCol="0">
            <a:spAutoFit/>
          </a:bodyPr>
          <a:lstStyle/>
          <a:p>
            <a:pPr marL="25400">
              <a:lnSpc>
                <a:spcPct val="100000"/>
              </a:lnSpc>
              <a:spcBef>
                <a:spcPts val="100"/>
              </a:spcBef>
            </a:pPr>
            <a:r>
              <a:rPr sz="2000" i="1" spc="165" dirty="0">
                <a:solidFill>
                  <a:srgbClr val="FFFFFF"/>
                </a:solidFill>
                <a:latin typeface="Times New Roman"/>
                <a:cs typeface="Times New Roman"/>
              </a:rPr>
              <a:t>r</a:t>
            </a:r>
            <a:r>
              <a:rPr sz="1725" i="1" spc="247" baseline="-24154" dirty="0">
                <a:solidFill>
                  <a:srgbClr val="FFFFFF"/>
                </a:solidFill>
                <a:latin typeface="Times New Roman"/>
                <a:cs typeface="Times New Roman"/>
              </a:rPr>
              <a:t>xy </a:t>
            </a:r>
            <a:r>
              <a:rPr sz="2000" spc="390" dirty="0">
                <a:solidFill>
                  <a:srgbClr val="FFFFFF"/>
                </a:solidFill>
                <a:latin typeface="Symbol"/>
                <a:cs typeface="Symbol"/>
              </a:rPr>
              <a:t></a:t>
            </a:r>
            <a:r>
              <a:rPr sz="2000" spc="-330" dirty="0">
                <a:solidFill>
                  <a:srgbClr val="FFFFFF"/>
                </a:solidFill>
                <a:latin typeface="Times New Roman"/>
                <a:cs typeface="Times New Roman"/>
              </a:rPr>
              <a:t> </a:t>
            </a:r>
            <a:r>
              <a:rPr sz="2000" spc="280" dirty="0">
                <a:solidFill>
                  <a:srgbClr val="FFFFFF"/>
                </a:solidFill>
                <a:latin typeface="Times New Roman"/>
                <a:cs typeface="Times New Roman"/>
              </a:rPr>
              <a:t>(sign </a:t>
            </a:r>
            <a:r>
              <a:rPr sz="2000" spc="290" dirty="0">
                <a:solidFill>
                  <a:srgbClr val="FFFFFF"/>
                </a:solidFill>
                <a:latin typeface="Times New Roman"/>
                <a:cs typeface="Times New Roman"/>
              </a:rPr>
              <a:t>of </a:t>
            </a:r>
            <a:r>
              <a:rPr sz="2000" i="1" spc="150" dirty="0">
                <a:solidFill>
                  <a:srgbClr val="FFFFFF"/>
                </a:solidFill>
                <a:latin typeface="Times New Roman"/>
                <a:cs typeface="Times New Roman"/>
              </a:rPr>
              <a:t>b</a:t>
            </a:r>
            <a:r>
              <a:rPr sz="1725" spc="225" baseline="-24154" dirty="0">
                <a:solidFill>
                  <a:srgbClr val="FFFFFF"/>
                </a:solidFill>
                <a:latin typeface="Times New Roman"/>
                <a:cs typeface="Times New Roman"/>
              </a:rPr>
              <a:t>1 </a:t>
            </a:r>
            <a:r>
              <a:rPr sz="2000" spc="235" dirty="0">
                <a:solidFill>
                  <a:srgbClr val="FFFFFF"/>
                </a:solidFill>
                <a:latin typeface="Times New Roman"/>
                <a:cs typeface="Times New Roman"/>
              </a:rPr>
              <a:t>)</a:t>
            </a:r>
            <a:endParaRPr sz="2000">
              <a:latin typeface="Times New Roman"/>
              <a:cs typeface="Times New Roman"/>
            </a:endParaRPr>
          </a:p>
        </p:txBody>
      </p:sp>
      <p:grpSp>
        <p:nvGrpSpPr>
          <p:cNvPr id="11" name="object 11"/>
          <p:cNvGrpSpPr/>
          <p:nvPr/>
        </p:nvGrpSpPr>
        <p:grpSpPr>
          <a:xfrm>
            <a:off x="1257300" y="1107325"/>
            <a:ext cx="6623684" cy="457834"/>
            <a:chOff x="1257300" y="1107325"/>
            <a:chExt cx="6623684" cy="457834"/>
          </a:xfrm>
        </p:grpSpPr>
        <p:sp>
          <p:nvSpPr>
            <p:cNvPr id="12" name="object 12"/>
            <p:cNvSpPr/>
            <p:nvPr/>
          </p:nvSpPr>
          <p:spPr>
            <a:xfrm>
              <a:off x="1267967" y="1118616"/>
              <a:ext cx="6612635" cy="446531"/>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1257300" y="1107325"/>
              <a:ext cx="6609080" cy="444500"/>
            </a:xfrm>
            <a:custGeom>
              <a:avLst/>
              <a:gdLst/>
              <a:ahLst/>
              <a:cxnLst/>
              <a:rect l="l" t="t" r="r" b="b"/>
              <a:pathLst>
                <a:path w="6609080" h="444500">
                  <a:moveTo>
                    <a:pt x="6608826" y="0"/>
                  </a:moveTo>
                  <a:lnTo>
                    <a:pt x="0" y="0"/>
                  </a:lnTo>
                  <a:lnTo>
                    <a:pt x="0" y="444106"/>
                  </a:lnTo>
                  <a:lnTo>
                    <a:pt x="6608826" y="444106"/>
                  </a:lnTo>
                  <a:lnTo>
                    <a:pt x="6608826" y="0"/>
                  </a:lnTo>
                  <a:close/>
                </a:path>
              </a:pathLst>
            </a:custGeom>
            <a:solidFill>
              <a:srgbClr val="00AF50"/>
            </a:solidFill>
          </p:spPr>
          <p:txBody>
            <a:bodyPr wrap="square" lIns="0" tIns="0" rIns="0" bIns="0" rtlCol="0"/>
            <a:lstStyle/>
            <a:p>
              <a:endParaRPr/>
            </a:p>
          </p:txBody>
        </p:sp>
        <p:sp>
          <p:nvSpPr>
            <p:cNvPr id="14" name="object 14"/>
            <p:cNvSpPr/>
            <p:nvPr/>
          </p:nvSpPr>
          <p:spPr>
            <a:xfrm>
              <a:off x="3585472" y="1327054"/>
              <a:ext cx="43815" cy="19050"/>
            </a:xfrm>
            <a:custGeom>
              <a:avLst/>
              <a:gdLst/>
              <a:ahLst/>
              <a:cxnLst/>
              <a:rect l="l" t="t" r="r" b="b"/>
              <a:pathLst>
                <a:path w="43814" h="19050">
                  <a:moveTo>
                    <a:pt x="0" y="18540"/>
                  </a:moveTo>
                  <a:lnTo>
                    <a:pt x="43618" y="0"/>
                  </a:lnTo>
                </a:path>
              </a:pathLst>
            </a:custGeom>
            <a:ln w="11135">
              <a:solidFill>
                <a:srgbClr val="FFFFFF"/>
              </a:solidFill>
            </a:ln>
          </p:spPr>
          <p:txBody>
            <a:bodyPr wrap="square" lIns="0" tIns="0" rIns="0" bIns="0" rtlCol="0"/>
            <a:lstStyle/>
            <a:p>
              <a:endParaRPr/>
            </a:p>
          </p:txBody>
        </p:sp>
        <p:sp>
          <p:nvSpPr>
            <p:cNvPr id="15" name="object 15"/>
            <p:cNvSpPr/>
            <p:nvPr/>
          </p:nvSpPr>
          <p:spPr>
            <a:xfrm>
              <a:off x="3629091" y="1332360"/>
              <a:ext cx="63500" cy="86360"/>
            </a:xfrm>
            <a:custGeom>
              <a:avLst/>
              <a:gdLst/>
              <a:ahLst/>
              <a:cxnLst/>
              <a:rect l="l" t="t" r="r" b="b"/>
              <a:pathLst>
                <a:path w="63500" h="86359">
                  <a:moveTo>
                    <a:pt x="0" y="0"/>
                  </a:moveTo>
                  <a:lnTo>
                    <a:pt x="63207" y="86040"/>
                  </a:lnTo>
                </a:path>
              </a:pathLst>
            </a:custGeom>
            <a:ln w="25913">
              <a:solidFill>
                <a:srgbClr val="FFFFFF"/>
              </a:solidFill>
            </a:ln>
          </p:spPr>
          <p:txBody>
            <a:bodyPr wrap="square" lIns="0" tIns="0" rIns="0" bIns="0" rtlCol="0"/>
            <a:lstStyle/>
            <a:p>
              <a:endParaRPr/>
            </a:p>
          </p:txBody>
        </p:sp>
        <p:sp>
          <p:nvSpPr>
            <p:cNvPr id="16" name="object 16"/>
            <p:cNvSpPr/>
            <p:nvPr/>
          </p:nvSpPr>
          <p:spPr>
            <a:xfrm>
              <a:off x="3699418" y="1161587"/>
              <a:ext cx="4102735" cy="257175"/>
            </a:xfrm>
            <a:custGeom>
              <a:avLst/>
              <a:gdLst/>
              <a:ahLst/>
              <a:cxnLst/>
              <a:rect l="l" t="t" r="r" b="b"/>
              <a:pathLst>
                <a:path w="4102734" h="257175">
                  <a:moveTo>
                    <a:pt x="0" y="256812"/>
                  </a:moveTo>
                  <a:lnTo>
                    <a:pt x="83695" y="0"/>
                  </a:lnTo>
                </a:path>
                <a:path w="4102734" h="257175">
                  <a:moveTo>
                    <a:pt x="83695" y="0"/>
                  </a:moveTo>
                  <a:lnTo>
                    <a:pt x="4102554" y="0"/>
                  </a:lnTo>
                </a:path>
              </a:pathLst>
            </a:custGeom>
            <a:ln w="12408">
              <a:solidFill>
                <a:srgbClr val="FFFFFF"/>
              </a:solidFill>
            </a:ln>
          </p:spPr>
          <p:txBody>
            <a:bodyPr wrap="square" lIns="0" tIns="0" rIns="0" bIns="0" rtlCol="0"/>
            <a:lstStyle/>
            <a:p>
              <a:endParaRPr/>
            </a:p>
          </p:txBody>
        </p:sp>
      </p:grpSp>
      <p:sp>
        <p:nvSpPr>
          <p:cNvPr id="17" name="object 17"/>
          <p:cNvSpPr txBox="1"/>
          <p:nvPr/>
        </p:nvSpPr>
        <p:spPr>
          <a:xfrm>
            <a:off x="3799142" y="1136981"/>
            <a:ext cx="3987165" cy="330835"/>
          </a:xfrm>
          <a:prstGeom prst="rect">
            <a:avLst/>
          </a:prstGeom>
        </p:spPr>
        <p:txBody>
          <a:bodyPr vert="horz" wrap="square" lIns="0" tIns="12700" rIns="0" bIns="0" rtlCol="0">
            <a:spAutoFit/>
          </a:bodyPr>
          <a:lstStyle/>
          <a:p>
            <a:pPr>
              <a:lnSpc>
                <a:spcPct val="100000"/>
              </a:lnSpc>
              <a:spcBef>
                <a:spcPts val="100"/>
              </a:spcBef>
            </a:pPr>
            <a:r>
              <a:rPr sz="2000" spc="275" dirty="0">
                <a:solidFill>
                  <a:srgbClr val="FFFFFF"/>
                </a:solidFill>
                <a:latin typeface="Times New Roman"/>
                <a:cs typeface="Times New Roman"/>
              </a:rPr>
              <a:t>Coefficient </a:t>
            </a:r>
            <a:r>
              <a:rPr sz="2000" spc="285" dirty="0">
                <a:solidFill>
                  <a:srgbClr val="FFFFFF"/>
                </a:solidFill>
                <a:latin typeface="Times New Roman"/>
                <a:cs typeface="Times New Roman"/>
              </a:rPr>
              <a:t>of</a:t>
            </a:r>
            <a:r>
              <a:rPr sz="2000" spc="180" dirty="0">
                <a:solidFill>
                  <a:srgbClr val="FFFFFF"/>
                </a:solidFill>
                <a:latin typeface="Times New Roman"/>
                <a:cs typeface="Times New Roman"/>
              </a:rPr>
              <a:t> </a:t>
            </a:r>
            <a:r>
              <a:rPr sz="2000" spc="300" dirty="0">
                <a:solidFill>
                  <a:srgbClr val="FFFFFF"/>
                </a:solidFill>
                <a:latin typeface="Times New Roman"/>
                <a:cs typeface="Times New Roman"/>
              </a:rPr>
              <a:t>Determination</a:t>
            </a:r>
            <a:endParaRPr sz="2000">
              <a:latin typeface="Times New Roman"/>
              <a:cs typeface="Times New Roman"/>
            </a:endParaRPr>
          </a:p>
        </p:txBody>
      </p:sp>
      <p:sp>
        <p:nvSpPr>
          <p:cNvPr id="18" name="object 18"/>
          <p:cNvSpPr txBox="1"/>
          <p:nvPr/>
        </p:nvSpPr>
        <p:spPr>
          <a:xfrm>
            <a:off x="1283531" y="1200510"/>
            <a:ext cx="354965" cy="330835"/>
          </a:xfrm>
          <a:prstGeom prst="rect">
            <a:avLst/>
          </a:prstGeom>
        </p:spPr>
        <p:txBody>
          <a:bodyPr vert="horz" wrap="square" lIns="0" tIns="12700" rIns="0" bIns="0" rtlCol="0">
            <a:spAutoFit/>
          </a:bodyPr>
          <a:lstStyle/>
          <a:p>
            <a:pPr marL="25400">
              <a:lnSpc>
                <a:spcPct val="100000"/>
              </a:lnSpc>
              <a:spcBef>
                <a:spcPts val="100"/>
              </a:spcBef>
            </a:pPr>
            <a:r>
              <a:rPr sz="3000" i="1" spc="240" baseline="13888" dirty="0">
                <a:solidFill>
                  <a:srgbClr val="FFFFFF"/>
                </a:solidFill>
                <a:latin typeface="Times New Roman"/>
                <a:cs typeface="Times New Roman"/>
              </a:rPr>
              <a:t>r</a:t>
            </a:r>
            <a:r>
              <a:rPr sz="1150" i="1" spc="160" dirty="0">
                <a:solidFill>
                  <a:srgbClr val="FFFFFF"/>
                </a:solidFill>
                <a:latin typeface="Times New Roman"/>
                <a:cs typeface="Times New Roman"/>
              </a:rPr>
              <a:t>xy</a:t>
            </a:r>
            <a:endParaRPr sz="1150">
              <a:latin typeface="Times New Roman"/>
              <a:cs typeface="Times New Roman"/>
            </a:endParaRPr>
          </a:p>
        </p:txBody>
      </p:sp>
      <p:sp>
        <p:nvSpPr>
          <p:cNvPr id="19" name="object 19"/>
          <p:cNvSpPr txBox="1"/>
          <p:nvPr/>
        </p:nvSpPr>
        <p:spPr>
          <a:xfrm>
            <a:off x="1695756" y="1136981"/>
            <a:ext cx="1847850" cy="330835"/>
          </a:xfrm>
          <a:prstGeom prst="rect">
            <a:avLst/>
          </a:prstGeom>
        </p:spPr>
        <p:txBody>
          <a:bodyPr vert="horz" wrap="square" lIns="0" tIns="12700" rIns="0" bIns="0" rtlCol="0">
            <a:spAutoFit/>
          </a:bodyPr>
          <a:lstStyle/>
          <a:p>
            <a:pPr marL="25400">
              <a:lnSpc>
                <a:spcPct val="100000"/>
              </a:lnSpc>
              <a:spcBef>
                <a:spcPts val="100"/>
              </a:spcBef>
            </a:pPr>
            <a:r>
              <a:rPr sz="2000" spc="380" dirty="0">
                <a:solidFill>
                  <a:srgbClr val="FFFFFF"/>
                </a:solidFill>
                <a:latin typeface="Symbol"/>
                <a:cs typeface="Symbol"/>
              </a:rPr>
              <a:t></a:t>
            </a:r>
            <a:r>
              <a:rPr sz="2000" spc="60" dirty="0">
                <a:solidFill>
                  <a:srgbClr val="FFFFFF"/>
                </a:solidFill>
                <a:latin typeface="Times New Roman"/>
                <a:cs typeface="Times New Roman"/>
              </a:rPr>
              <a:t> </a:t>
            </a:r>
            <a:r>
              <a:rPr sz="2000" spc="275" dirty="0">
                <a:solidFill>
                  <a:srgbClr val="FFFFFF"/>
                </a:solidFill>
                <a:latin typeface="Times New Roman"/>
                <a:cs typeface="Times New Roman"/>
              </a:rPr>
              <a:t>(sign</a:t>
            </a:r>
            <a:r>
              <a:rPr sz="2000" spc="65" dirty="0">
                <a:solidFill>
                  <a:srgbClr val="FFFFFF"/>
                </a:solidFill>
                <a:latin typeface="Times New Roman"/>
                <a:cs typeface="Times New Roman"/>
              </a:rPr>
              <a:t> </a:t>
            </a:r>
            <a:r>
              <a:rPr sz="2000" spc="285" dirty="0">
                <a:solidFill>
                  <a:srgbClr val="FFFFFF"/>
                </a:solidFill>
                <a:latin typeface="Times New Roman"/>
                <a:cs typeface="Times New Roman"/>
              </a:rPr>
              <a:t>of</a:t>
            </a:r>
            <a:r>
              <a:rPr sz="2000" spc="305" dirty="0">
                <a:solidFill>
                  <a:srgbClr val="FFFFFF"/>
                </a:solidFill>
                <a:latin typeface="Times New Roman"/>
                <a:cs typeface="Times New Roman"/>
              </a:rPr>
              <a:t> </a:t>
            </a:r>
            <a:r>
              <a:rPr sz="2000" i="1" spc="140" dirty="0">
                <a:solidFill>
                  <a:srgbClr val="FFFFFF"/>
                </a:solidFill>
                <a:latin typeface="Times New Roman"/>
                <a:cs typeface="Times New Roman"/>
              </a:rPr>
              <a:t>b</a:t>
            </a:r>
            <a:r>
              <a:rPr sz="1725" spc="209" baseline="-24154" dirty="0">
                <a:solidFill>
                  <a:srgbClr val="FFFFFF"/>
                </a:solidFill>
                <a:latin typeface="Times New Roman"/>
                <a:cs typeface="Times New Roman"/>
              </a:rPr>
              <a:t>1</a:t>
            </a:r>
            <a:r>
              <a:rPr sz="1725" spc="-172" baseline="-24154" dirty="0">
                <a:solidFill>
                  <a:srgbClr val="FFFFFF"/>
                </a:solidFill>
                <a:latin typeface="Times New Roman"/>
                <a:cs typeface="Times New Roman"/>
              </a:rPr>
              <a:t> </a:t>
            </a:r>
            <a:r>
              <a:rPr sz="2000" spc="229" dirty="0">
                <a:solidFill>
                  <a:srgbClr val="FFFFFF"/>
                </a:solidFill>
                <a:latin typeface="Times New Roman"/>
                <a:cs typeface="Times New Roman"/>
              </a:rPr>
              <a:t>)</a:t>
            </a:r>
            <a:endParaRPr sz="2000">
              <a:latin typeface="Times New Roman"/>
              <a:cs typeface="Times New Roman"/>
            </a:endParaRPr>
          </a:p>
        </p:txBody>
      </p:sp>
      <p:sp>
        <p:nvSpPr>
          <p:cNvPr id="20" name="object 20"/>
          <p:cNvSpPr txBox="1"/>
          <p:nvPr/>
        </p:nvSpPr>
        <p:spPr>
          <a:xfrm>
            <a:off x="1483994" y="2806065"/>
            <a:ext cx="6280150" cy="1343025"/>
          </a:xfrm>
          <a:prstGeom prst="rect">
            <a:avLst/>
          </a:prstGeom>
        </p:spPr>
        <p:txBody>
          <a:bodyPr vert="horz" wrap="square" lIns="0" tIns="85725" rIns="0" bIns="0" rtlCol="0">
            <a:spAutoFit/>
          </a:bodyPr>
          <a:lstStyle/>
          <a:p>
            <a:pPr marL="25400">
              <a:lnSpc>
                <a:spcPct val="100000"/>
              </a:lnSpc>
              <a:spcBef>
                <a:spcPts val="675"/>
              </a:spcBef>
            </a:pPr>
            <a:r>
              <a:rPr sz="2400" spc="-5" dirty="0">
                <a:latin typeface="Carlito"/>
                <a:cs typeface="Carlito"/>
              </a:rPr>
              <a:t>where:</a:t>
            </a:r>
            <a:endParaRPr sz="2400">
              <a:latin typeface="Carlito"/>
              <a:cs typeface="Carlito"/>
            </a:endParaRPr>
          </a:p>
          <a:p>
            <a:pPr marL="1622425" marR="43180" indent="-546100">
              <a:lnSpc>
                <a:spcPts val="3460"/>
              </a:lnSpc>
              <a:spcBef>
                <a:spcPts val="204"/>
              </a:spcBef>
            </a:pPr>
            <a:r>
              <a:rPr sz="2400" i="1" spc="-5" dirty="0">
                <a:latin typeface="Carlito"/>
                <a:cs typeface="Carlito"/>
              </a:rPr>
              <a:t>b</a:t>
            </a:r>
            <a:r>
              <a:rPr sz="2400" spc="-7" baseline="-20833" dirty="0">
                <a:latin typeface="Carlito"/>
                <a:cs typeface="Carlito"/>
              </a:rPr>
              <a:t>1 </a:t>
            </a:r>
            <a:r>
              <a:rPr sz="2400" dirty="0">
                <a:latin typeface="Carlito"/>
                <a:cs typeface="Carlito"/>
              </a:rPr>
              <a:t>= the </a:t>
            </a:r>
            <a:r>
              <a:rPr sz="2400" spc="-5" dirty="0">
                <a:latin typeface="Carlito"/>
                <a:cs typeface="Carlito"/>
              </a:rPr>
              <a:t>slope of </a:t>
            </a:r>
            <a:r>
              <a:rPr sz="2400" dirty="0">
                <a:latin typeface="Carlito"/>
                <a:cs typeface="Carlito"/>
              </a:rPr>
              <a:t>the </a:t>
            </a:r>
            <a:r>
              <a:rPr sz="2400" spc="-10" dirty="0">
                <a:latin typeface="Carlito"/>
                <a:cs typeface="Carlito"/>
              </a:rPr>
              <a:t>estimated regression  </a:t>
            </a:r>
            <a:r>
              <a:rPr sz="2400" spc="-5" dirty="0">
                <a:latin typeface="Carlito"/>
                <a:cs typeface="Carlito"/>
              </a:rPr>
              <a:t>equation</a:t>
            </a:r>
            <a:endParaRPr sz="2400">
              <a:latin typeface="Carlito"/>
              <a:cs typeface="Carlito"/>
            </a:endParaRPr>
          </a:p>
        </p:txBody>
      </p:sp>
      <p:grpSp>
        <p:nvGrpSpPr>
          <p:cNvPr id="21" name="object 21"/>
          <p:cNvGrpSpPr/>
          <p:nvPr/>
        </p:nvGrpSpPr>
        <p:grpSpPr>
          <a:xfrm>
            <a:off x="4102100" y="2247176"/>
            <a:ext cx="1551940" cy="379095"/>
            <a:chOff x="4102100" y="2247176"/>
            <a:chExt cx="1551940" cy="379095"/>
          </a:xfrm>
        </p:grpSpPr>
        <p:sp>
          <p:nvSpPr>
            <p:cNvPr id="22" name="object 22"/>
            <p:cNvSpPr/>
            <p:nvPr/>
          </p:nvSpPr>
          <p:spPr>
            <a:xfrm>
              <a:off x="4113275" y="2258567"/>
              <a:ext cx="1540764" cy="367284"/>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4102100" y="2247176"/>
              <a:ext cx="1538605" cy="364490"/>
            </a:xfrm>
            <a:custGeom>
              <a:avLst/>
              <a:gdLst/>
              <a:ahLst/>
              <a:cxnLst/>
              <a:rect l="l" t="t" r="r" b="b"/>
              <a:pathLst>
                <a:path w="1538604" h="364489">
                  <a:moveTo>
                    <a:pt x="1538351" y="0"/>
                  </a:moveTo>
                  <a:lnTo>
                    <a:pt x="0" y="0"/>
                  </a:lnTo>
                  <a:lnTo>
                    <a:pt x="0" y="364324"/>
                  </a:lnTo>
                  <a:lnTo>
                    <a:pt x="1538351" y="364324"/>
                  </a:lnTo>
                  <a:lnTo>
                    <a:pt x="1538351" y="0"/>
                  </a:lnTo>
                  <a:close/>
                </a:path>
              </a:pathLst>
            </a:custGeom>
            <a:solidFill>
              <a:srgbClr val="00AF50"/>
            </a:solidFill>
          </p:spPr>
          <p:txBody>
            <a:bodyPr wrap="square" lIns="0" tIns="0" rIns="0" bIns="0" rtlCol="0"/>
            <a:lstStyle/>
            <a:p>
              <a:endParaRPr/>
            </a:p>
          </p:txBody>
        </p:sp>
      </p:grpSp>
      <p:sp>
        <p:nvSpPr>
          <p:cNvPr id="24" name="object 24"/>
          <p:cNvSpPr txBox="1"/>
          <p:nvPr/>
        </p:nvSpPr>
        <p:spPr>
          <a:xfrm>
            <a:off x="4102100" y="2247176"/>
            <a:ext cx="1538605" cy="364490"/>
          </a:xfrm>
          <a:prstGeom prst="rect">
            <a:avLst/>
          </a:prstGeom>
        </p:spPr>
        <p:txBody>
          <a:bodyPr vert="horz" wrap="square" lIns="0" tIns="1905" rIns="0" bIns="0" rtlCol="0">
            <a:spAutoFit/>
          </a:bodyPr>
          <a:lstStyle/>
          <a:p>
            <a:pPr marL="78740">
              <a:lnSpc>
                <a:spcPct val="100000"/>
              </a:lnSpc>
              <a:spcBef>
                <a:spcPts val="15"/>
              </a:spcBef>
            </a:pPr>
            <a:r>
              <a:rPr sz="1900" i="1" spc="-225" dirty="0">
                <a:solidFill>
                  <a:srgbClr val="FFFFFF"/>
                </a:solidFill>
                <a:latin typeface="Times New Roman"/>
                <a:cs typeface="Times New Roman"/>
              </a:rPr>
              <a:t>y</a:t>
            </a:r>
            <a:r>
              <a:rPr sz="2850" spc="-337" baseline="2923" dirty="0">
                <a:solidFill>
                  <a:srgbClr val="FFFFFF"/>
                </a:solidFill>
                <a:latin typeface="Times New Roman"/>
                <a:cs typeface="Times New Roman"/>
              </a:rPr>
              <a:t>ˆ </a:t>
            </a:r>
            <a:r>
              <a:rPr sz="1900" spc="355" dirty="0">
                <a:solidFill>
                  <a:srgbClr val="FFFFFF"/>
                </a:solidFill>
                <a:latin typeface="Symbol"/>
                <a:cs typeface="Symbol"/>
              </a:rPr>
              <a:t></a:t>
            </a:r>
            <a:r>
              <a:rPr sz="1900" spc="355" dirty="0">
                <a:solidFill>
                  <a:srgbClr val="FFFFFF"/>
                </a:solidFill>
                <a:latin typeface="Times New Roman"/>
                <a:cs typeface="Times New Roman"/>
              </a:rPr>
              <a:t> </a:t>
            </a:r>
            <a:r>
              <a:rPr sz="1900" i="1" spc="200" dirty="0">
                <a:solidFill>
                  <a:srgbClr val="FFFFFF"/>
                </a:solidFill>
                <a:latin typeface="Times New Roman"/>
                <a:cs typeface="Times New Roman"/>
              </a:rPr>
              <a:t>b</a:t>
            </a:r>
            <a:r>
              <a:rPr sz="1650" spc="300" baseline="-25252" dirty="0">
                <a:solidFill>
                  <a:srgbClr val="FFFFFF"/>
                </a:solidFill>
                <a:latin typeface="Times New Roman"/>
                <a:cs typeface="Times New Roman"/>
              </a:rPr>
              <a:t>0 </a:t>
            </a:r>
            <a:r>
              <a:rPr sz="1900" spc="355" dirty="0">
                <a:solidFill>
                  <a:srgbClr val="FFFFFF"/>
                </a:solidFill>
                <a:latin typeface="Symbol"/>
                <a:cs typeface="Symbol"/>
              </a:rPr>
              <a:t></a:t>
            </a:r>
            <a:r>
              <a:rPr sz="1900" spc="-280" dirty="0">
                <a:solidFill>
                  <a:srgbClr val="FFFFFF"/>
                </a:solidFill>
                <a:latin typeface="Times New Roman"/>
                <a:cs typeface="Times New Roman"/>
              </a:rPr>
              <a:t> </a:t>
            </a:r>
            <a:r>
              <a:rPr sz="1900" i="1" spc="130" dirty="0">
                <a:solidFill>
                  <a:srgbClr val="FFFFFF"/>
                </a:solidFill>
                <a:latin typeface="Times New Roman"/>
                <a:cs typeface="Times New Roman"/>
              </a:rPr>
              <a:t>b</a:t>
            </a:r>
            <a:r>
              <a:rPr sz="1650" spc="195" baseline="-25252" dirty="0">
                <a:solidFill>
                  <a:srgbClr val="FFFFFF"/>
                </a:solidFill>
                <a:latin typeface="Times New Roman"/>
                <a:cs typeface="Times New Roman"/>
              </a:rPr>
              <a:t>1 </a:t>
            </a:r>
            <a:r>
              <a:rPr sz="1900" i="1" spc="290" dirty="0">
                <a:solidFill>
                  <a:srgbClr val="FFFFFF"/>
                </a:solidFill>
                <a:latin typeface="Times New Roman"/>
                <a:cs typeface="Times New Roman"/>
              </a:rPr>
              <a:t>x</a:t>
            </a:r>
            <a:endParaRPr sz="1900" dirty="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object 2"/>
          <p:cNvGrpSpPr/>
          <p:nvPr/>
        </p:nvGrpSpPr>
        <p:grpSpPr>
          <a:xfrm>
            <a:off x="3124200" y="1071575"/>
            <a:ext cx="2966085" cy="501650"/>
            <a:chOff x="3124200" y="1071575"/>
            <a:chExt cx="2966085" cy="501650"/>
          </a:xfrm>
        </p:grpSpPr>
        <p:sp>
          <p:nvSpPr>
            <p:cNvPr id="3" name="object 3"/>
            <p:cNvSpPr/>
            <p:nvPr/>
          </p:nvSpPr>
          <p:spPr>
            <a:xfrm>
              <a:off x="3134867" y="1082039"/>
              <a:ext cx="2955035" cy="490727"/>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124200" y="1071575"/>
              <a:ext cx="2951480" cy="487045"/>
            </a:xfrm>
            <a:custGeom>
              <a:avLst/>
              <a:gdLst/>
              <a:ahLst/>
              <a:cxnLst/>
              <a:rect l="l" t="t" r="r" b="b"/>
              <a:pathLst>
                <a:path w="2951479" h="487044">
                  <a:moveTo>
                    <a:pt x="2951226" y="0"/>
                  </a:moveTo>
                  <a:lnTo>
                    <a:pt x="0" y="0"/>
                  </a:lnTo>
                  <a:lnTo>
                    <a:pt x="0" y="486968"/>
                  </a:lnTo>
                  <a:lnTo>
                    <a:pt x="2951226" y="486968"/>
                  </a:lnTo>
                  <a:lnTo>
                    <a:pt x="2951226" y="0"/>
                  </a:lnTo>
                  <a:close/>
                </a:path>
              </a:pathLst>
            </a:custGeom>
            <a:solidFill>
              <a:srgbClr val="00AF50"/>
            </a:solidFill>
          </p:spPr>
          <p:txBody>
            <a:bodyPr wrap="square" lIns="0" tIns="0" rIns="0" bIns="0" rtlCol="0"/>
            <a:lstStyle/>
            <a:p>
              <a:endParaRPr/>
            </a:p>
          </p:txBody>
        </p:sp>
        <p:sp>
          <p:nvSpPr>
            <p:cNvPr id="5" name="object 5"/>
            <p:cNvSpPr/>
            <p:nvPr/>
          </p:nvSpPr>
          <p:spPr>
            <a:xfrm>
              <a:off x="5482551" y="1326269"/>
              <a:ext cx="44450" cy="19685"/>
            </a:xfrm>
            <a:custGeom>
              <a:avLst/>
              <a:gdLst/>
              <a:ahLst/>
              <a:cxnLst/>
              <a:rect l="l" t="t" r="r" b="b"/>
              <a:pathLst>
                <a:path w="44450" h="19684">
                  <a:moveTo>
                    <a:pt x="0" y="19152"/>
                  </a:moveTo>
                  <a:lnTo>
                    <a:pt x="44147" y="0"/>
                  </a:lnTo>
                </a:path>
              </a:pathLst>
            </a:custGeom>
            <a:ln w="10949">
              <a:solidFill>
                <a:srgbClr val="FFFFFF"/>
              </a:solidFill>
            </a:ln>
          </p:spPr>
          <p:txBody>
            <a:bodyPr wrap="square" lIns="0" tIns="0" rIns="0" bIns="0" rtlCol="0"/>
            <a:lstStyle/>
            <a:p>
              <a:endParaRPr/>
            </a:p>
          </p:txBody>
        </p:sp>
        <p:sp>
          <p:nvSpPr>
            <p:cNvPr id="6" name="object 6"/>
            <p:cNvSpPr/>
            <p:nvPr/>
          </p:nvSpPr>
          <p:spPr>
            <a:xfrm>
              <a:off x="5526699" y="1332014"/>
              <a:ext cx="64769" cy="100965"/>
            </a:xfrm>
            <a:custGeom>
              <a:avLst/>
              <a:gdLst/>
              <a:ahLst/>
              <a:cxnLst/>
              <a:rect l="l" t="t" r="r" b="b"/>
              <a:pathLst>
                <a:path w="64770" h="100965">
                  <a:moveTo>
                    <a:pt x="0" y="0"/>
                  </a:moveTo>
                  <a:lnTo>
                    <a:pt x="64175" y="100346"/>
                  </a:lnTo>
                </a:path>
              </a:pathLst>
            </a:custGeom>
            <a:ln w="26622">
              <a:solidFill>
                <a:srgbClr val="FFFFFF"/>
              </a:solidFill>
            </a:ln>
          </p:spPr>
          <p:txBody>
            <a:bodyPr wrap="square" lIns="0" tIns="0" rIns="0" bIns="0" rtlCol="0"/>
            <a:lstStyle/>
            <a:p>
              <a:endParaRPr/>
            </a:p>
          </p:txBody>
        </p:sp>
        <p:sp>
          <p:nvSpPr>
            <p:cNvPr id="7" name="object 7"/>
            <p:cNvSpPr/>
            <p:nvPr/>
          </p:nvSpPr>
          <p:spPr>
            <a:xfrm>
              <a:off x="5598197" y="1137840"/>
              <a:ext cx="429259" cy="294640"/>
            </a:xfrm>
            <a:custGeom>
              <a:avLst/>
              <a:gdLst/>
              <a:ahLst/>
              <a:cxnLst/>
              <a:rect l="l" t="t" r="r" b="b"/>
              <a:pathLst>
                <a:path w="429260" h="294640">
                  <a:moveTo>
                    <a:pt x="0" y="294520"/>
                  </a:moveTo>
                  <a:lnTo>
                    <a:pt x="84634" y="0"/>
                  </a:lnTo>
                </a:path>
                <a:path w="429260" h="294640">
                  <a:moveTo>
                    <a:pt x="84634" y="0"/>
                  </a:moveTo>
                  <a:lnTo>
                    <a:pt x="429202" y="0"/>
                  </a:lnTo>
                </a:path>
              </a:pathLst>
            </a:custGeom>
            <a:ln w="12262">
              <a:solidFill>
                <a:srgbClr val="FFFFFF"/>
              </a:solidFill>
            </a:ln>
          </p:spPr>
          <p:txBody>
            <a:bodyPr wrap="square" lIns="0" tIns="0" rIns="0" bIns="0" rtlCol="0"/>
            <a:lstStyle/>
            <a:p>
              <a:endParaRPr/>
            </a:p>
          </p:txBody>
        </p:sp>
      </p:grpSp>
      <p:sp>
        <p:nvSpPr>
          <p:cNvPr id="8" name="object 8"/>
          <p:cNvSpPr txBox="1"/>
          <p:nvPr/>
        </p:nvSpPr>
        <p:spPr>
          <a:xfrm>
            <a:off x="5678967" y="1028641"/>
            <a:ext cx="339725" cy="340360"/>
          </a:xfrm>
          <a:prstGeom prst="rect">
            <a:avLst/>
          </a:prstGeom>
        </p:spPr>
        <p:txBody>
          <a:bodyPr vert="horz" wrap="square" lIns="0" tIns="14604" rIns="0" bIns="0" rtlCol="0">
            <a:spAutoFit/>
          </a:bodyPr>
          <a:lstStyle/>
          <a:p>
            <a:pPr marL="25400">
              <a:lnSpc>
                <a:spcPct val="100000"/>
              </a:lnSpc>
              <a:spcBef>
                <a:spcPts val="114"/>
              </a:spcBef>
            </a:pPr>
            <a:r>
              <a:rPr sz="3075" i="1" spc="450" baseline="-25745" dirty="0">
                <a:solidFill>
                  <a:srgbClr val="FFFFFF"/>
                </a:solidFill>
                <a:latin typeface="Times New Roman"/>
                <a:cs typeface="Times New Roman"/>
              </a:rPr>
              <a:t>r</a:t>
            </a:r>
            <a:r>
              <a:rPr sz="3075" i="1" spc="-480" baseline="-25745" dirty="0">
                <a:solidFill>
                  <a:srgbClr val="FFFFFF"/>
                </a:solidFill>
                <a:latin typeface="Times New Roman"/>
                <a:cs typeface="Times New Roman"/>
              </a:rPr>
              <a:t> </a:t>
            </a:r>
            <a:r>
              <a:rPr sz="1200" spc="225" dirty="0">
                <a:solidFill>
                  <a:srgbClr val="FFFFFF"/>
                </a:solidFill>
                <a:latin typeface="Times New Roman"/>
                <a:cs typeface="Times New Roman"/>
              </a:rPr>
              <a:t>2</a:t>
            </a:r>
            <a:endParaRPr sz="1200">
              <a:latin typeface="Times New Roman"/>
              <a:cs typeface="Times New Roman"/>
            </a:endParaRPr>
          </a:p>
        </p:txBody>
      </p:sp>
      <p:sp>
        <p:nvSpPr>
          <p:cNvPr id="9" name="object 9"/>
          <p:cNvSpPr txBox="1"/>
          <p:nvPr/>
        </p:nvSpPr>
        <p:spPr>
          <a:xfrm>
            <a:off x="3151338" y="1146216"/>
            <a:ext cx="2292985" cy="340360"/>
          </a:xfrm>
          <a:prstGeom prst="rect">
            <a:avLst/>
          </a:prstGeom>
        </p:spPr>
        <p:txBody>
          <a:bodyPr vert="horz" wrap="square" lIns="0" tIns="14604" rIns="0" bIns="0" rtlCol="0">
            <a:spAutoFit/>
          </a:bodyPr>
          <a:lstStyle/>
          <a:p>
            <a:pPr marL="25400">
              <a:lnSpc>
                <a:spcPct val="100000"/>
              </a:lnSpc>
              <a:spcBef>
                <a:spcPts val="114"/>
              </a:spcBef>
              <a:tabLst>
                <a:tab pos="1476375" algn="l"/>
              </a:tabLst>
            </a:pPr>
            <a:r>
              <a:rPr sz="2050" i="1" spc="150" dirty="0">
                <a:solidFill>
                  <a:srgbClr val="FFFFFF"/>
                </a:solidFill>
                <a:latin typeface="Times New Roman"/>
                <a:cs typeface="Times New Roman"/>
              </a:rPr>
              <a:t>r</a:t>
            </a:r>
            <a:r>
              <a:rPr sz="1800" i="1" spc="225" baseline="-23148" dirty="0">
                <a:solidFill>
                  <a:srgbClr val="FFFFFF"/>
                </a:solidFill>
                <a:latin typeface="Times New Roman"/>
                <a:cs typeface="Times New Roman"/>
              </a:rPr>
              <a:t>xy </a:t>
            </a:r>
            <a:r>
              <a:rPr sz="1800" i="1" spc="315" baseline="-23148" dirty="0">
                <a:solidFill>
                  <a:srgbClr val="FFFFFF"/>
                </a:solidFill>
                <a:latin typeface="Times New Roman"/>
                <a:cs typeface="Times New Roman"/>
              </a:rPr>
              <a:t> </a:t>
            </a:r>
            <a:r>
              <a:rPr sz="2050" spc="430" dirty="0">
                <a:solidFill>
                  <a:srgbClr val="FFFFFF"/>
                </a:solidFill>
                <a:latin typeface="Symbol"/>
                <a:cs typeface="Symbol"/>
              </a:rPr>
              <a:t></a:t>
            </a:r>
            <a:r>
              <a:rPr sz="2050" spc="25" dirty="0">
                <a:solidFill>
                  <a:srgbClr val="FFFFFF"/>
                </a:solidFill>
                <a:latin typeface="Times New Roman"/>
                <a:cs typeface="Times New Roman"/>
              </a:rPr>
              <a:t> </a:t>
            </a:r>
            <a:r>
              <a:rPr sz="2050" spc="175" dirty="0">
                <a:solidFill>
                  <a:srgbClr val="FFFFFF"/>
                </a:solidFill>
                <a:latin typeface="Times New Roman"/>
                <a:cs typeface="Times New Roman"/>
              </a:rPr>
              <a:t>(sign	</a:t>
            </a:r>
            <a:r>
              <a:rPr sz="2050" spc="295" dirty="0">
                <a:solidFill>
                  <a:srgbClr val="FFFFFF"/>
                </a:solidFill>
                <a:latin typeface="Times New Roman"/>
                <a:cs typeface="Times New Roman"/>
              </a:rPr>
              <a:t>of </a:t>
            </a:r>
            <a:r>
              <a:rPr sz="2050" i="1" spc="145" dirty="0">
                <a:solidFill>
                  <a:srgbClr val="FFFFFF"/>
                </a:solidFill>
                <a:latin typeface="Times New Roman"/>
                <a:cs typeface="Times New Roman"/>
              </a:rPr>
              <a:t>b</a:t>
            </a:r>
            <a:r>
              <a:rPr sz="1800" spc="217" baseline="-23148" dirty="0">
                <a:solidFill>
                  <a:srgbClr val="FFFFFF"/>
                </a:solidFill>
                <a:latin typeface="Times New Roman"/>
                <a:cs typeface="Times New Roman"/>
              </a:rPr>
              <a:t>1</a:t>
            </a:r>
            <a:r>
              <a:rPr sz="1800" spc="-337" baseline="-23148" dirty="0">
                <a:solidFill>
                  <a:srgbClr val="FFFFFF"/>
                </a:solidFill>
                <a:latin typeface="Times New Roman"/>
                <a:cs typeface="Times New Roman"/>
              </a:rPr>
              <a:t> </a:t>
            </a:r>
            <a:r>
              <a:rPr sz="2050" spc="260" dirty="0">
                <a:solidFill>
                  <a:srgbClr val="FFFFFF"/>
                </a:solidFill>
                <a:latin typeface="Times New Roman"/>
                <a:cs typeface="Times New Roman"/>
              </a:rPr>
              <a:t>)</a:t>
            </a:r>
            <a:endParaRPr sz="2050">
              <a:latin typeface="Times New Roman"/>
              <a:cs typeface="Times New Roman"/>
            </a:endParaRPr>
          </a:p>
        </p:txBody>
      </p:sp>
      <p:sp>
        <p:nvSpPr>
          <p:cNvPr id="10" name="object 10"/>
          <p:cNvSpPr txBox="1"/>
          <p:nvPr/>
        </p:nvSpPr>
        <p:spPr>
          <a:xfrm>
            <a:off x="1609978" y="1668017"/>
            <a:ext cx="3709035" cy="391160"/>
          </a:xfrm>
          <a:prstGeom prst="rect">
            <a:avLst/>
          </a:prstGeom>
        </p:spPr>
        <p:txBody>
          <a:bodyPr vert="horz" wrap="square" lIns="0" tIns="12700" rIns="0" bIns="0" rtlCol="0">
            <a:spAutoFit/>
          </a:bodyPr>
          <a:lstStyle/>
          <a:p>
            <a:pPr marL="38100">
              <a:lnSpc>
                <a:spcPct val="100000"/>
              </a:lnSpc>
              <a:spcBef>
                <a:spcPts val="100"/>
              </a:spcBef>
            </a:pPr>
            <a:r>
              <a:rPr sz="2400" spc="-5" dirty="0">
                <a:latin typeface="Carlito"/>
                <a:cs typeface="Carlito"/>
              </a:rPr>
              <a:t>The sign </a:t>
            </a:r>
            <a:r>
              <a:rPr sz="2400" spc="-10" dirty="0">
                <a:latin typeface="Carlito"/>
                <a:cs typeface="Carlito"/>
              </a:rPr>
              <a:t>of </a:t>
            </a:r>
            <a:r>
              <a:rPr sz="2400" i="1" spc="-5" dirty="0">
                <a:latin typeface="Carlito"/>
                <a:cs typeface="Carlito"/>
              </a:rPr>
              <a:t>b</a:t>
            </a:r>
            <a:r>
              <a:rPr sz="2400" spc="-7" baseline="-20833" dirty="0">
                <a:latin typeface="Carlito"/>
                <a:cs typeface="Carlito"/>
              </a:rPr>
              <a:t>1 </a:t>
            </a:r>
            <a:r>
              <a:rPr sz="2400" dirty="0">
                <a:latin typeface="Carlito"/>
                <a:cs typeface="Carlito"/>
              </a:rPr>
              <a:t>in the</a:t>
            </a:r>
            <a:r>
              <a:rPr sz="2400" spc="-215" dirty="0">
                <a:latin typeface="Carlito"/>
                <a:cs typeface="Carlito"/>
              </a:rPr>
              <a:t> </a:t>
            </a:r>
            <a:r>
              <a:rPr sz="2400" spc="-5" dirty="0">
                <a:latin typeface="Carlito"/>
                <a:cs typeface="Carlito"/>
              </a:rPr>
              <a:t>equation</a:t>
            </a:r>
            <a:endParaRPr sz="2400">
              <a:latin typeface="Carlito"/>
              <a:cs typeface="Carlito"/>
            </a:endParaRPr>
          </a:p>
        </p:txBody>
      </p:sp>
      <p:sp>
        <p:nvSpPr>
          <p:cNvPr id="11" name="object 11"/>
          <p:cNvSpPr txBox="1"/>
          <p:nvPr/>
        </p:nvSpPr>
        <p:spPr>
          <a:xfrm>
            <a:off x="6891019" y="1668017"/>
            <a:ext cx="73977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rlito"/>
                <a:cs typeface="Carlito"/>
              </a:rPr>
              <a:t>is</a:t>
            </a:r>
            <a:r>
              <a:rPr sz="2400" spc="-75" dirty="0">
                <a:latin typeface="Carlito"/>
                <a:cs typeface="Carlito"/>
              </a:rPr>
              <a:t> </a:t>
            </a:r>
            <a:r>
              <a:rPr sz="2400" spc="-60" dirty="0">
                <a:latin typeface="Carlito"/>
                <a:cs typeface="Carlito"/>
              </a:rPr>
              <a:t>“+”.</a:t>
            </a:r>
            <a:endParaRPr sz="2400">
              <a:latin typeface="Carlito"/>
              <a:cs typeface="Carlito"/>
            </a:endParaRPr>
          </a:p>
        </p:txBody>
      </p:sp>
      <p:grpSp>
        <p:nvGrpSpPr>
          <p:cNvPr id="12" name="object 12"/>
          <p:cNvGrpSpPr/>
          <p:nvPr/>
        </p:nvGrpSpPr>
        <p:grpSpPr>
          <a:xfrm>
            <a:off x="5329809" y="1748282"/>
            <a:ext cx="1505585" cy="328930"/>
            <a:chOff x="5329809" y="1748282"/>
            <a:chExt cx="1505585" cy="328930"/>
          </a:xfrm>
        </p:grpSpPr>
        <p:sp>
          <p:nvSpPr>
            <p:cNvPr id="13" name="object 13"/>
            <p:cNvSpPr/>
            <p:nvPr/>
          </p:nvSpPr>
          <p:spPr>
            <a:xfrm>
              <a:off x="5341620" y="1758696"/>
              <a:ext cx="1493520" cy="318515"/>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5329809" y="1748282"/>
              <a:ext cx="1490980" cy="314325"/>
            </a:xfrm>
            <a:custGeom>
              <a:avLst/>
              <a:gdLst/>
              <a:ahLst/>
              <a:cxnLst/>
              <a:rect l="l" t="t" r="r" b="b"/>
              <a:pathLst>
                <a:path w="1490979" h="314325">
                  <a:moveTo>
                    <a:pt x="1490725" y="0"/>
                  </a:moveTo>
                  <a:lnTo>
                    <a:pt x="0" y="0"/>
                  </a:lnTo>
                  <a:lnTo>
                    <a:pt x="0" y="314325"/>
                  </a:lnTo>
                  <a:lnTo>
                    <a:pt x="1490725" y="314325"/>
                  </a:lnTo>
                  <a:lnTo>
                    <a:pt x="1490725" y="0"/>
                  </a:lnTo>
                  <a:close/>
                </a:path>
              </a:pathLst>
            </a:custGeom>
            <a:solidFill>
              <a:srgbClr val="00AF50"/>
            </a:solidFill>
          </p:spPr>
          <p:txBody>
            <a:bodyPr wrap="square" lIns="0" tIns="0" rIns="0" bIns="0" rtlCol="0"/>
            <a:lstStyle/>
            <a:p>
              <a:endParaRPr/>
            </a:p>
          </p:txBody>
        </p:sp>
      </p:grpSp>
      <p:sp>
        <p:nvSpPr>
          <p:cNvPr id="15" name="object 15"/>
          <p:cNvSpPr txBox="1"/>
          <p:nvPr/>
        </p:nvSpPr>
        <p:spPr>
          <a:xfrm>
            <a:off x="5329809" y="1748282"/>
            <a:ext cx="1490980" cy="314325"/>
          </a:xfrm>
          <a:prstGeom prst="rect">
            <a:avLst/>
          </a:prstGeom>
        </p:spPr>
        <p:txBody>
          <a:bodyPr vert="horz" wrap="square" lIns="0" tIns="635" rIns="0" bIns="0" rtlCol="0">
            <a:spAutoFit/>
          </a:bodyPr>
          <a:lstStyle/>
          <a:p>
            <a:pPr marL="52069">
              <a:lnSpc>
                <a:spcPct val="100000"/>
              </a:lnSpc>
              <a:spcBef>
                <a:spcPts val="5"/>
              </a:spcBef>
            </a:pPr>
            <a:r>
              <a:rPr sz="1700" i="1" spc="-125" dirty="0">
                <a:solidFill>
                  <a:srgbClr val="FFFFFF"/>
                </a:solidFill>
                <a:latin typeface="Arial"/>
                <a:cs typeface="Arial"/>
              </a:rPr>
              <a:t>y</a:t>
            </a:r>
            <a:r>
              <a:rPr sz="2550" spc="-187" baseline="4901" dirty="0">
                <a:solidFill>
                  <a:srgbClr val="FFFFFF"/>
                </a:solidFill>
                <a:latin typeface="Arial"/>
                <a:cs typeface="Arial"/>
              </a:rPr>
              <a:t>ˆ</a:t>
            </a:r>
            <a:r>
              <a:rPr sz="2550" spc="-127" baseline="4901" dirty="0">
                <a:solidFill>
                  <a:srgbClr val="FFFFFF"/>
                </a:solidFill>
                <a:latin typeface="Arial"/>
                <a:cs typeface="Arial"/>
              </a:rPr>
              <a:t> </a:t>
            </a:r>
            <a:r>
              <a:rPr sz="1700" spc="310" dirty="0">
                <a:solidFill>
                  <a:srgbClr val="FFFFFF"/>
                </a:solidFill>
                <a:latin typeface="Symbol"/>
                <a:cs typeface="Symbol"/>
              </a:rPr>
              <a:t></a:t>
            </a:r>
            <a:r>
              <a:rPr sz="1700" spc="-65" dirty="0">
                <a:solidFill>
                  <a:srgbClr val="FFFFFF"/>
                </a:solidFill>
                <a:latin typeface="Times New Roman"/>
                <a:cs typeface="Times New Roman"/>
              </a:rPr>
              <a:t> </a:t>
            </a:r>
            <a:r>
              <a:rPr sz="1700" spc="320" dirty="0">
                <a:solidFill>
                  <a:srgbClr val="FFFFFF"/>
                </a:solidFill>
                <a:latin typeface="Arial"/>
                <a:cs typeface="Arial"/>
              </a:rPr>
              <a:t>10</a:t>
            </a:r>
            <a:r>
              <a:rPr sz="1700" dirty="0">
                <a:solidFill>
                  <a:srgbClr val="FFFFFF"/>
                </a:solidFill>
                <a:latin typeface="Arial"/>
                <a:cs typeface="Arial"/>
              </a:rPr>
              <a:t> </a:t>
            </a:r>
            <a:r>
              <a:rPr sz="1700" spc="310" dirty="0">
                <a:solidFill>
                  <a:srgbClr val="FFFFFF"/>
                </a:solidFill>
                <a:latin typeface="Symbol"/>
                <a:cs typeface="Symbol"/>
              </a:rPr>
              <a:t></a:t>
            </a:r>
            <a:r>
              <a:rPr sz="1700" spc="25" dirty="0">
                <a:solidFill>
                  <a:srgbClr val="FFFFFF"/>
                </a:solidFill>
                <a:latin typeface="Times New Roman"/>
                <a:cs typeface="Times New Roman"/>
              </a:rPr>
              <a:t> </a:t>
            </a:r>
            <a:r>
              <a:rPr sz="1700" spc="355" dirty="0">
                <a:solidFill>
                  <a:srgbClr val="FFFFFF"/>
                </a:solidFill>
                <a:latin typeface="Arial"/>
                <a:cs typeface="Arial"/>
              </a:rPr>
              <a:t>5</a:t>
            </a:r>
            <a:r>
              <a:rPr sz="1700" i="1" spc="355" dirty="0">
                <a:solidFill>
                  <a:srgbClr val="FFFFFF"/>
                </a:solidFill>
                <a:latin typeface="Arial"/>
                <a:cs typeface="Arial"/>
              </a:rPr>
              <a:t>x</a:t>
            </a:r>
            <a:endParaRPr sz="1700">
              <a:latin typeface="Arial"/>
              <a:cs typeface="Arial"/>
            </a:endParaRPr>
          </a:p>
        </p:txBody>
      </p:sp>
      <p:grpSp>
        <p:nvGrpSpPr>
          <p:cNvPr id="16" name="object 16"/>
          <p:cNvGrpSpPr/>
          <p:nvPr/>
        </p:nvGrpSpPr>
        <p:grpSpPr>
          <a:xfrm>
            <a:off x="3648075" y="2259838"/>
            <a:ext cx="1800225" cy="424180"/>
            <a:chOff x="3648075" y="2259838"/>
            <a:chExt cx="1800225" cy="424180"/>
          </a:xfrm>
        </p:grpSpPr>
        <p:sp>
          <p:nvSpPr>
            <p:cNvPr id="17" name="object 17"/>
            <p:cNvSpPr/>
            <p:nvPr/>
          </p:nvSpPr>
          <p:spPr>
            <a:xfrm>
              <a:off x="3659124" y="2270760"/>
              <a:ext cx="1789176" cy="413004"/>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3648075" y="2259838"/>
              <a:ext cx="1786255" cy="409575"/>
            </a:xfrm>
            <a:custGeom>
              <a:avLst/>
              <a:gdLst/>
              <a:ahLst/>
              <a:cxnLst/>
              <a:rect l="l" t="t" r="r" b="b"/>
              <a:pathLst>
                <a:path w="1786254" h="409575">
                  <a:moveTo>
                    <a:pt x="1786001" y="0"/>
                  </a:moveTo>
                  <a:lnTo>
                    <a:pt x="0" y="0"/>
                  </a:lnTo>
                  <a:lnTo>
                    <a:pt x="0" y="409575"/>
                  </a:lnTo>
                  <a:lnTo>
                    <a:pt x="1786001" y="409575"/>
                  </a:lnTo>
                  <a:lnTo>
                    <a:pt x="1786001" y="0"/>
                  </a:lnTo>
                  <a:close/>
                </a:path>
              </a:pathLst>
            </a:custGeom>
            <a:solidFill>
              <a:srgbClr val="00AF50"/>
            </a:solidFill>
          </p:spPr>
          <p:txBody>
            <a:bodyPr wrap="square" lIns="0" tIns="0" rIns="0" bIns="0" rtlCol="0"/>
            <a:lstStyle/>
            <a:p>
              <a:endParaRPr/>
            </a:p>
          </p:txBody>
        </p:sp>
        <p:sp>
          <p:nvSpPr>
            <p:cNvPr id="19" name="object 19"/>
            <p:cNvSpPr/>
            <p:nvPr/>
          </p:nvSpPr>
          <p:spPr>
            <a:xfrm>
              <a:off x="4495499" y="2321051"/>
              <a:ext cx="883285" cy="227329"/>
            </a:xfrm>
            <a:custGeom>
              <a:avLst/>
              <a:gdLst/>
              <a:ahLst/>
              <a:cxnLst/>
              <a:rect l="l" t="t" r="r" b="b"/>
              <a:pathLst>
                <a:path w="883285" h="227330">
                  <a:moveTo>
                    <a:pt x="0" y="153186"/>
                  </a:moveTo>
                  <a:lnTo>
                    <a:pt x="30070" y="141650"/>
                  </a:lnTo>
                </a:path>
                <a:path w="883285" h="227330">
                  <a:moveTo>
                    <a:pt x="30929" y="141650"/>
                  </a:moveTo>
                  <a:lnTo>
                    <a:pt x="104814" y="226263"/>
                  </a:lnTo>
                </a:path>
                <a:path w="883285" h="227330">
                  <a:moveTo>
                    <a:pt x="104814" y="226903"/>
                  </a:moveTo>
                  <a:lnTo>
                    <a:pt x="184682" y="639"/>
                  </a:lnTo>
                </a:path>
                <a:path w="883285" h="227330">
                  <a:moveTo>
                    <a:pt x="184682" y="0"/>
                  </a:moveTo>
                  <a:lnTo>
                    <a:pt x="883075" y="0"/>
                  </a:lnTo>
                </a:path>
              </a:pathLst>
            </a:custGeom>
            <a:ln w="3175">
              <a:solidFill>
                <a:srgbClr val="FFFFFF"/>
              </a:solidFill>
            </a:ln>
          </p:spPr>
          <p:txBody>
            <a:bodyPr wrap="square" lIns="0" tIns="0" rIns="0" bIns="0" rtlCol="0"/>
            <a:lstStyle/>
            <a:p>
              <a:endParaRPr/>
            </a:p>
          </p:txBody>
        </p:sp>
        <p:sp>
          <p:nvSpPr>
            <p:cNvPr id="20" name="object 20"/>
            <p:cNvSpPr/>
            <p:nvPr/>
          </p:nvSpPr>
          <p:spPr>
            <a:xfrm>
              <a:off x="4493353" y="2315612"/>
              <a:ext cx="885825" cy="232410"/>
            </a:xfrm>
            <a:custGeom>
              <a:avLst/>
              <a:gdLst/>
              <a:ahLst/>
              <a:cxnLst/>
              <a:rect l="l" t="t" r="r" b="b"/>
              <a:pathLst>
                <a:path w="885825" h="232410">
                  <a:moveTo>
                    <a:pt x="885650" y="0"/>
                  </a:moveTo>
                  <a:lnTo>
                    <a:pt x="181248" y="0"/>
                  </a:lnTo>
                  <a:lnTo>
                    <a:pt x="106531" y="212156"/>
                  </a:lnTo>
                  <a:lnTo>
                    <a:pt x="40371" y="139731"/>
                  </a:lnTo>
                  <a:lnTo>
                    <a:pt x="0" y="155745"/>
                  </a:lnTo>
                  <a:lnTo>
                    <a:pt x="4292" y="161516"/>
                  </a:lnTo>
                  <a:lnTo>
                    <a:pt x="24920" y="153825"/>
                  </a:lnTo>
                  <a:lnTo>
                    <a:pt x="99637" y="232021"/>
                  </a:lnTo>
                  <a:lnTo>
                    <a:pt x="114256" y="232021"/>
                  </a:lnTo>
                  <a:lnTo>
                    <a:pt x="191575" y="10895"/>
                  </a:lnTo>
                  <a:lnTo>
                    <a:pt x="885650" y="10895"/>
                  </a:lnTo>
                  <a:lnTo>
                    <a:pt x="885650" y="0"/>
                  </a:lnTo>
                  <a:close/>
                </a:path>
              </a:pathLst>
            </a:custGeom>
            <a:solidFill>
              <a:srgbClr val="FFFFFF"/>
            </a:solidFill>
          </p:spPr>
          <p:txBody>
            <a:bodyPr wrap="square" lIns="0" tIns="0" rIns="0" bIns="0" rtlCol="0"/>
            <a:lstStyle/>
            <a:p>
              <a:endParaRPr/>
            </a:p>
          </p:txBody>
        </p:sp>
      </p:grpSp>
      <p:sp>
        <p:nvSpPr>
          <p:cNvPr id="21" name="object 21"/>
          <p:cNvSpPr txBox="1"/>
          <p:nvPr/>
        </p:nvSpPr>
        <p:spPr>
          <a:xfrm>
            <a:off x="4065554" y="2288165"/>
            <a:ext cx="1307465" cy="296545"/>
          </a:xfrm>
          <a:prstGeom prst="rect">
            <a:avLst/>
          </a:prstGeom>
        </p:spPr>
        <p:txBody>
          <a:bodyPr vert="horz" wrap="square" lIns="0" tIns="15875" rIns="0" bIns="0" rtlCol="0">
            <a:spAutoFit/>
          </a:bodyPr>
          <a:lstStyle/>
          <a:p>
            <a:pPr>
              <a:lnSpc>
                <a:spcPct val="100000"/>
              </a:lnSpc>
              <a:spcBef>
                <a:spcPts val="125"/>
              </a:spcBef>
              <a:tabLst>
                <a:tab pos="613410" algn="l"/>
              </a:tabLst>
            </a:pPr>
            <a:r>
              <a:rPr sz="1750" spc="380" dirty="0">
                <a:solidFill>
                  <a:srgbClr val="FFFFFF"/>
                </a:solidFill>
                <a:latin typeface="TeXGyrePagella"/>
                <a:cs typeface="TeXGyrePagella"/>
              </a:rPr>
              <a:t>=</a:t>
            </a:r>
            <a:r>
              <a:rPr sz="1750" spc="-5" dirty="0">
                <a:solidFill>
                  <a:srgbClr val="FFFFFF"/>
                </a:solidFill>
                <a:latin typeface="TeXGyrePagella"/>
                <a:cs typeface="TeXGyrePagella"/>
              </a:rPr>
              <a:t> </a:t>
            </a:r>
            <a:r>
              <a:rPr sz="1750" spc="380" dirty="0">
                <a:solidFill>
                  <a:srgbClr val="FFFFFF"/>
                </a:solidFill>
                <a:latin typeface="TeXGyrePagella"/>
                <a:cs typeface="TeXGyrePagella"/>
              </a:rPr>
              <a:t>+</a:t>
            </a:r>
            <a:r>
              <a:rPr sz="1750" dirty="0">
                <a:solidFill>
                  <a:srgbClr val="FFFFFF"/>
                </a:solidFill>
                <a:latin typeface="TeXGyrePagella"/>
                <a:cs typeface="TeXGyrePagella"/>
              </a:rPr>
              <a:t>	</a:t>
            </a:r>
            <a:r>
              <a:rPr sz="1750" spc="285" dirty="0">
                <a:solidFill>
                  <a:srgbClr val="FFFFFF"/>
                </a:solidFill>
                <a:latin typeface="TeXGyrePagella"/>
                <a:cs typeface="TeXGyrePagella"/>
              </a:rPr>
              <a:t>.8772</a:t>
            </a:r>
            <a:endParaRPr sz="1750" dirty="0">
              <a:latin typeface="TeXGyrePagella"/>
              <a:cs typeface="TeXGyrePagella"/>
            </a:endParaRPr>
          </a:p>
        </p:txBody>
      </p:sp>
      <p:sp>
        <p:nvSpPr>
          <p:cNvPr id="22" name="object 22"/>
          <p:cNvSpPr txBox="1"/>
          <p:nvPr/>
        </p:nvSpPr>
        <p:spPr>
          <a:xfrm>
            <a:off x="3668202" y="2344563"/>
            <a:ext cx="335915" cy="296545"/>
          </a:xfrm>
          <a:prstGeom prst="rect">
            <a:avLst/>
          </a:prstGeom>
        </p:spPr>
        <p:txBody>
          <a:bodyPr vert="horz" wrap="square" lIns="0" tIns="15875" rIns="0" bIns="0" rtlCol="0">
            <a:spAutoFit/>
          </a:bodyPr>
          <a:lstStyle/>
          <a:p>
            <a:pPr marL="25400">
              <a:lnSpc>
                <a:spcPct val="100000"/>
              </a:lnSpc>
              <a:spcBef>
                <a:spcPts val="125"/>
              </a:spcBef>
            </a:pPr>
            <a:r>
              <a:rPr sz="2625" i="1" spc="225" baseline="14285" dirty="0">
                <a:solidFill>
                  <a:srgbClr val="FFFFFF"/>
                </a:solidFill>
                <a:latin typeface="Palladio Uralic"/>
                <a:cs typeface="Palladio Uralic"/>
              </a:rPr>
              <a:t>r</a:t>
            </a:r>
            <a:r>
              <a:rPr sz="1000" i="1" spc="150" dirty="0">
                <a:solidFill>
                  <a:srgbClr val="FFFFFF"/>
                </a:solidFill>
                <a:latin typeface="Palladio Uralic"/>
                <a:cs typeface="Palladio Uralic"/>
              </a:rPr>
              <a:t>xy</a:t>
            </a:r>
            <a:endParaRPr sz="1000">
              <a:latin typeface="Palladio Uralic"/>
              <a:cs typeface="Palladio Uralic"/>
            </a:endParaRPr>
          </a:p>
        </p:txBody>
      </p:sp>
      <p:sp>
        <p:nvSpPr>
          <p:cNvPr id="23" name="object 23"/>
          <p:cNvSpPr txBox="1">
            <a:spLocks noGrp="1"/>
          </p:cNvSpPr>
          <p:nvPr>
            <p:ph type="title"/>
          </p:nvPr>
        </p:nvSpPr>
        <p:spPr>
          <a:xfrm>
            <a:off x="2394966" y="309448"/>
            <a:ext cx="4535805" cy="452120"/>
          </a:xfrm>
          <a:prstGeom prst="rect">
            <a:avLst/>
          </a:prstGeom>
        </p:spPr>
        <p:txBody>
          <a:bodyPr vert="horz" wrap="square" lIns="0" tIns="12065" rIns="0" bIns="0" rtlCol="0">
            <a:spAutoFit/>
          </a:bodyPr>
          <a:lstStyle/>
          <a:p>
            <a:pPr marL="12700">
              <a:lnSpc>
                <a:spcPct val="100000"/>
              </a:lnSpc>
              <a:spcBef>
                <a:spcPts val="95"/>
              </a:spcBef>
            </a:pPr>
            <a:r>
              <a:rPr spc="-5" dirty="0"/>
              <a:t>Sample </a:t>
            </a:r>
            <a:r>
              <a:rPr spc="-10" dirty="0"/>
              <a:t>Correlation</a:t>
            </a:r>
            <a:r>
              <a:rPr spc="30" dirty="0"/>
              <a:t> </a:t>
            </a:r>
            <a:r>
              <a:rPr spc="-10" dirty="0"/>
              <a:t>Coefficient</a:t>
            </a:r>
          </a:p>
        </p:txBody>
      </p:sp>
      <p:sp>
        <p:nvSpPr>
          <p:cNvPr id="24" name="object 24"/>
          <p:cNvSpPr txBox="1"/>
          <p:nvPr/>
        </p:nvSpPr>
        <p:spPr>
          <a:xfrm>
            <a:off x="3624198" y="2767964"/>
            <a:ext cx="1710689" cy="391160"/>
          </a:xfrm>
          <a:prstGeom prst="rect">
            <a:avLst/>
          </a:prstGeom>
        </p:spPr>
        <p:txBody>
          <a:bodyPr vert="horz" wrap="square" lIns="0" tIns="12700" rIns="0" bIns="0" rtlCol="0">
            <a:spAutoFit/>
          </a:bodyPr>
          <a:lstStyle/>
          <a:p>
            <a:pPr marL="50800">
              <a:lnSpc>
                <a:spcPct val="100000"/>
              </a:lnSpc>
              <a:spcBef>
                <a:spcPts val="100"/>
              </a:spcBef>
              <a:tabLst>
                <a:tab pos="826135" algn="l"/>
              </a:tabLst>
            </a:pPr>
            <a:r>
              <a:rPr sz="2400" i="1" dirty="0">
                <a:latin typeface="Carlito"/>
                <a:cs typeface="Carlito"/>
              </a:rPr>
              <a:t>r</a:t>
            </a:r>
            <a:r>
              <a:rPr sz="2400" i="1" baseline="-20833" dirty="0">
                <a:latin typeface="Carlito"/>
                <a:cs typeface="Carlito"/>
              </a:rPr>
              <a:t>xy</a:t>
            </a:r>
            <a:r>
              <a:rPr sz="2400" i="1" spc="240" baseline="-20833" dirty="0">
                <a:latin typeface="Carlito"/>
                <a:cs typeface="Carlito"/>
              </a:rPr>
              <a:t> </a:t>
            </a:r>
            <a:r>
              <a:rPr sz="2400" dirty="0">
                <a:latin typeface="Carlito"/>
                <a:cs typeface="Carlito"/>
              </a:rPr>
              <a:t>=	</a:t>
            </a:r>
            <a:r>
              <a:rPr sz="2400" spc="-5" dirty="0">
                <a:latin typeface="Carlito"/>
                <a:cs typeface="Carlito"/>
              </a:rPr>
              <a:t>+.9366</a:t>
            </a:r>
            <a:endParaRPr sz="2400">
              <a:latin typeface="Carlito"/>
              <a:cs typeface="Carlito"/>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6425" y="192481"/>
            <a:ext cx="5391785" cy="452120"/>
          </a:xfrm>
          <a:prstGeom prst="rect">
            <a:avLst/>
          </a:prstGeom>
        </p:spPr>
        <p:txBody>
          <a:bodyPr vert="horz" wrap="square" lIns="0" tIns="12065" rIns="0" bIns="0" rtlCol="0">
            <a:spAutoFit/>
          </a:bodyPr>
          <a:lstStyle/>
          <a:p>
            <a:pPr marL="12700">
              <a:lnSpc>
                <a:spcPct val="100000"/>
              </a:lnSpc>
              <a:spcBef>
                <a:spcPts val="95"/>
              </a:spcBef>
            </a:pPr>
            <a:r>
              <a:rPr spc="-5" dirty="0"/>
              <a:t>Assumptions About the </a:t>
            </a:r>
            <a:r>
              <a:rPr spc="-10" dirty="0"/>
              <a:t>Error </a:t>
            </a:r>
            <a:r>
              <a:rPr spc="-70" dirty="0"/>
              <a:t>Term</a:t>
            </a:r>
            <a:r>
              <a:rPr spc="35" dirty="0"/>
              <a:t> </a:t>
            </a:r>
            <a:r>
              <a:rPr i="1" spc="-5" dirty="0">
                <a:latin typeface="Carlito"/>
                <a:cs typeface="Carlito"/>
              </a:rPr>
              <a:t>e</a:t>
            </a:r>
          </a:p>
        </p:txBody>
      </p:sp>
      <p:grpSp>
        <p:nvGrpSpPr>
          <p:cNvPr id="3" name="object 3"/>
          <p:cNvGrpSpPr/>
          <p:nvPr/>
        </p:nvGrpSpPr>
        <p:grpSpPr>
          <a:xfrm>
            <a:off x="757427" y="963167"/>
            <a:ext cx="7190740" cy="3095625"/>
            <a:chOff x="757427" y="963167"/>
            <a:chExt cx="7190740" cy="3095625"/>
          </a:xfrm>
        </p:grpSpPr>
        <p:sp>
          <p:nvSpPr>
            <p:cNvPr id="4" name="object 4"/>
            <p:cNvSpPr/>
            <p:nvPr/>
          </p:nvSpPr>
          <p:spPr>
            <a:xfrm>
              <a:off x="757427" y="963167"/>
              <a:ext cx="7190232" cy="643127"/>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57427" y="1536191"/>
              <a:ext cx="6888480" cy="100888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757427" y="2474975"/>
              <a:ext cx="4920996" cy="643128"/>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757427" y="3049523"/>
              <a:ext cx="6339840" cy="1008888"/>
            </a:xfrm>
            <a:prstGeom prst="rect">
              <a:avLst/>
            </a:prstGeom>
            <a:blipFill>
              <a:blip r:embed="rId5" cstate="print"/>
              <a:stretch>
                <a:fillRect/>
              </a:stretch>
            </a:blipFill>
          </p:spPr>
          <p:txBody>
            <a:bodyPr wrap="square" lIns="0" tIns="0" rIns="0" bIns="0" rtlCol="0"/>
            <a:lstStyle/>
            <a:p>
              <a:endParaRPr/>
            </a:p>
          </p:txBody>
        </p:sp>
      </p:grpSp>
      <p:sp>
        <p:nvSpPr>
          <p:cNvPr id="8" name="object 8"/>
          <p:cNvSpPr txBox="1"/>
          <p:nvPr/>
        </p:nvSpPr>
        <p:spPr>
          <a:xfrm>
            <a:off x="815644" y="763651"/>
            <a:ext cx="6880225" cy="3067505"/>
          </a:xfrm>
          <a:prstGeom prst="rect">
            <a:avLst/>
          </a:prstGeom>
        </p:spPr>
        <p:txBody>
          <a:bodyPr vert="horz" wrap="square" lIns="0" tIns="220979" rIns="0" bIns="0" rtlCol="0">
            <a:spAutoFit/>
          </a:bodyPr>
          <a:lstStyle/>
          <a:p>
            <a:pPr marL="443865" indent="-368300">
              <a:lnSpc>
                <a:spcPct val="100000"/>
              </a:lnSpc>
              <a:spcBef>
                <a:spcPts val="1739"/>
              </a:spcBef>
              <a:buAutoNum type="arabicPeriod"/>
              <a:tabLst>
                <a:tab pos="443865" algn="l"/>
                <a:tab pos="444500" algn="l"/>
                <a:tab pos="1950085" algn="l"/>
              </a:tabLst>
            </a:pPr>
            <a:r>
              <a:rPr sz="2400" spc="-10" dirty="0">
                <a:latin typeface="Carlito"/>
                <a:cs typeface="Carlito"/>
              </a:rPr>
              <a:t>The</a:t>
            </a:r>
            <a:r>
              <a:rPr sz="2400" spc="10" dirty="0">
                <a:latin typeface="Carlito"/>
                <a:cs typeface="Carlito"/>
              </a:rPr>
              <a:t> </a:t>
            </a:r>
            <a:r>
              <a:rPr sz="2400" spc="-10" dirty="0">
                <a:latin typeface="Carlito"/>
                <a:cs typeface="Carlito"/>
              </a:rPr>
              <a:t>error </a:t>
            </a:r>
            <a:r>
              <a:rPr sz="2400" i="1" dirty="0">
                <a:latin typeface="Carlito"/>
                <a:cs typeface="Carlito"/>
              </a:rPr>
              <a:t>e	</a:t>
            </a:r>
            <a:r>
              <a:rPr sz="2400" dirty="0">
                <a:latin typeface="Carlito"/>
                <a:cs typeface="Carlito"/>
              </a:rPr>
              <a:t>is a </a:t>
            </a:r>
            <a:r>
              <a:rPr sz="2400" u="sng" spc="-10" dirty="0">
                <a:latin typeface="Carlito"/>
                <a:cs typeface="Carlito"/>
              </a:rPr>
              <a:t>random variable </a:t>
            </a:r>
            <a:r>
              <a:rPr sz="2400" dirty="0">
                <a:latin typeface="Carlito"/>
                <a:cs typeface="Carlito"/>
              </a:rPr>
              <a:t>with </a:t>
            </a:r>
            <a:r>
              <a:rPr sz="2400" b="1" dirty="0">
                <a:latin typeface="Carlito"/>
                <a:cs typeface="Carlito"/>
              </a:rPr>
              <a:t>mean </a:t>
            </a:r>
            <a:r>
              <a:rPr sz="2400" b="1" spc="-5" dirty="0">
                <a:latin typeface="Carlito"/>
                <a:cs typeface="Carlito"/>
              </a:rPr>
              <a:t>of</a:t>
            </a:r>
            <a:r>
              <a:rPr sz="2400" b="1" spc="-75" dirty="0">
                <a:latin typeface="Carlito"/>
                <a:cs typeface="Carlito"/>
              </a:rPr>
              <a:t> </a:t>
            </a:r>
            <a:r>
              <a:rPr sz="2400" b="1" spc="-20" dirty="0">
                <a:latin typeface="Carlito"/>
                <a:cs typeface="Carlito"/>
              </a:rPr>
              <a:t>zero</a:t>
            </a:r>
            <a:r>
              <a:rPr sz="2400" spc="-20" dirty="0" smtClean="0">
                <a:latin typeface="Carlito"/>
                <a:cs typeface="Carlito"/>
              </a:rPr>
              <a:t>.</a:t>
            </a:r>
            <a:endParaRPr lang="en-US" sz="2400" spc="-20" dirty="0" smtClean="0">
              <a:latin typeface="Carlito"/>
              <a:cs typeface="Carlito"/>
            </a:endParaRPr>
          </a:p>
          <a:p>
            <a:pPr marL="443865" indent="-368300">
              <a:lnSpc>
                <a:spcPct val="100000"/>
              </a:lnSpc>
              <a:spcBef>
                <a:spcPts val="1739"/>
              </a:spcBef>
              <a:buAutoNum type="arabicPeriod"/>
              <a:tabLst>
                <a:tab pos="443865" algn="l"/>
                <a:tab pos="444500" algn="l"/>
                <a:tab pos="1950085" algn="l"/>
              </a:tabLst>
            </a:pPr>
            <a:endParaRPr sz="2400" dirty="0">
              <a:latin typeface="Carlito"/>
              <a:cs typeface="Carlito"/>
            </a:endParaRPr>
          </a:p>
          <a:p>
            <a:pPr marL="443865" indent="-368300">
              <a:lnSpc>
                <a:spcPct val="100000"/>
              </a:lnSpc>
              <a:spcBef>
                <a:spcPts val="1635"/>
              </a:spcBef>
              <a:buAutoNum type="arabicPeriod"/>
              <a:tabLst>
                <a:tab pos="443865" algn="l"/>
                <a:tab pos="444500" algn="l"/>
                <a:tab pos="2427605" algn="l"/>
              </a:tabLst>
            </a:pPr>
            <a:r>
              <a:rPr sz="2400" spc="-10" dirty="0">
                <a:latin typeface="Carlito"/>
                <a:cs typeface="Carlito"/>
              </a:rPr>
              <a:t>The values</a:t>
            </a:r>
            <a:r>
              <a:rPr sz="2400" spc="20" dirty="0">
                <a:latin typeface="Carlito"/>
                <a:cs typeface="Carlito"/>
              </a:rPr>
              <a:t> </a:t>
            </a:r>
            <a:r>
              <a:rPr sz="2400" spc="-10" dirty="0">
                <a:latin typeface="Carlito"/>
                <a:cs typeface="Carlito"/>
              </a:rPr>
              <a:t>of</a:t>
            </a:r>
            <a:r>
              <a:rPr sz="2400" spc="30" dirty="0">
                <a:latin typeface="Carlito"/>
                <a:cs typeface="Carlito"/>
              </a:rPr>
              <a:t> </a:t>
            </a:r>
            <a:r>
              <a:rPr sz="2400" i="1" dirty="0">
                <a:latin typeface="Carlito"/>
                <a:cs typeface="Carlito"/>
              </a:rPr>
              <a:t>e	</a:t>
            </a:r>
            <a:r>
              <a:rPr sz="2400" b="1" spc="-15" dirty="0">
                <a:latin typeface="Carlito"/>
                <a:cs typeface="Carlito"/>
              </a:rPr>
              <a:t>are</a:t>
            </a:r>
            <a:r>
              <a:rPr sz="2400" b="1" spc="-5" dirty="0">
                <a:latin typeface="Carlito"/>
                <a:cs typeface="Carlito"/>
              </a:rPr>
              <a:t> independent.</a:t>
            </a:r>
            <a:endParaRPr sz="2400" b="1" dirty="0">
              <a:latin typeface="Carlito"/>
              <a:cs typeface="Carlito"/>
            </a:endParaRPr>
          </a:p>
          <a:p>
            <a:pPr marL="443865" indent="-368300">
              <a:lnSpc>
                <a:spcPct val="100000"/>
              </a:lnSpc>
              <a:spcBef>
                <a:spcPts val="1639"/>
              </a:spcBef>
              <a:buAutoNum type="arabicPeriod"/>
              <a:tabLst>
                <a:tab pos="443865" algn="l"/>
                <a:tab pos="444500" algn="l"/>
                <a:tab pos="1950085" algn="l"/>
              </a:tabLst>
            </a:pPr>
            <a:r>
              <a:rPr sz="2400" spc="-10" dirty="0">
                <a:latin typeface="Carlito"/>
                <a:cs typeface="Carlito"/>
              </a:rPr>
              <a:t>The</a:t>
            </a:r>
            <a:r>
              <a:rPr sz="2400" spc="15" dirty="0">
                <a:latin typeface="Carlito"/>
                <a:cs typeface="Carlito"/>
              </a:rPr>
              <a:t> </a:t>
            </a:r>
            <a:r>
              <a:rPr sz="2400" spc="-10" dirty="0">
                <a:latin typeface="Carlito"/>
                <a:cs typeface="Carlito"/>
              </a:rPr>
              <a:t>error</a:t>
            </a:r>
            <a:r>
              <a:rPr sz="2400" spc="-5" dirty="0">
                <a:latin typeface="Carlito"/>
                <a:cs typeface="Carlito"/>
              </a:rPr>
              <a:t> </a:t>
            </a:r>
            <a:r>
              <a:rPr sz="2400" i="1" dirty="0">
                <a:latin typeface="Carlito"/>
                <a:cs typeface="Carlito"/>
              </a:rPr>
              <a:t>e	</a:t>
            </a:r>
            <a:r>
              <a:rPr sz="2400" dirty="0">
                <a:latin typeface="Carlito"/>
                <a:cs typeface="Carlito"/>
              </a:rPr>
              <a:t>is a </a:t>
            </a:r>
            <a:r>
              <a:rPr sz="2400" b="1" spc="-5" dirty="0">
                <a:latin typeface="Carlito"/>
                <a:cs typeface="Carlito"/>
              </a:rPr>
              <a:t>normally </a:t>
            </a:r>
            <a:r>
              <a:rPr sz="2400" b="1" spc="-10" dirty="0">
                <a:latin typeface="Carlito"/>
                <a:cs typeface="Carlito"/>
              </a:rPr>
              <a:t>distributed</a:t>
            </a:r>
            <a:r>
              <a:rPr sz="2400" b="1" spc="-35" dirty="0">
                <a:latin typeface="Carlito"/>
                <a:cs typeface="Carlito"/>
              </a:rPr>
              <a:t> </a:t>
            </a:r>
            <a:r>
              <a:rPr sz="2400" spc="-10" dirty="0">
                <a:latin typeface="Carlito"/>
                <a:cs typeface="Carlito"/>
              </a:rPr>
              <a:t>random</a:t>
            </a:r>
            <a:endParaRPr sz="2400" dirty="0">
              <a:latin typeface="Carlito"/>
              <a:cs typeface="Carlito"/>
            </a:endParaRPr>
          </a:p>
          <a:p>
            <a:pPr marL="417195">
              <a:lnSpc>
                <a:spcPct val="100000"/>
              </a:lnSpc>
            </a:pPr>
            <a:r>
              <a:rPr sz="2400" spc="-10" dirty="0">
                <a:latin typeface="Carlito"/>
                <a:cs typeface="Carlito"/>
              </a:rPr>
              <a:t>variable.</a:t>
            </a:r>
            <a:endParaRPr sz="2400" dirty="0">
              <a:latin typeface="Carlito"/>
              <a:cs typeface="Carl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4978" y="385953"/>
            <a:ext cx="1116330" cy="452120"/>
          </a:xfrm>
          <a:prstGeom prst="rect">
            <a:avLst/>
          </a:prstGeom>
        </p:spPr>
        <p:txBody>
          <a:bodyPr vert="horz" wrap="square" lIns="0" tIns="12065" rIns="0" bIns="0" rtlCol="0">
            <a:spAutoFit/>
          </a:bodyPr>
          <a:lstStyle/>
          <a:p>
            <a:pPr marL="12700">
              <a:lnSpc>
                <a:spcPct val="100000"/>
              </a:lnSpc>
              <a:spcBef>
                <a:spcPts val="95"/>
              </a:spcBef>
            </a:pPr>
            <a:r>
              <a:rPr b="0" spc="-5" dirty="0">
                <a:latin typeface="Calibri"/>
                <a:cs typeface="Calibri"/>
              </a:rPr>
              <a:t>A</a:t>
            </a:r>
            <a:r>
              <a:rPr b="0" spc="-25" dirty="0">
                <a:latin typeface="Calibri"/>
                <a:cs typeface="Calibri"/>
              </a:rPr>
              <a:t>g</a:t>
            </a:r>
            <a:r>
              <a:rPr b="0" spc="-5" dirty="0">
                <a:latin typeface="Calibri"/>
                <a:cs typeface="Calibri"/>
              </a:rPr>
              <a:t>enda</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13</a:t>
            </a:fld>
            <a:endParaRPr dirty="0"/>
          </a:p>
        </p:txBody>
      </p:sp>
      <p:sp>
        <p:nvSpPr>
          <p:cNvPr id="3" name="object 3"/>
          <p:cNvSpPr txBox="1"/>
          <p:nvPr/>
        </p:nvSpPr>
        <p:spPr>
          <a:xfrm>
            <a:off x="535940" y="1156563"/>
            <a:ext cx="5470525" cy="689932"/>
          </a:xfrm>
          <a:prstGeom prst="rect">
            <a:avLst/>
          </a:prstGeom>
        </p:spPr>
        <p:txBody>
          <a:bodyPr vert="horz" wrap="square" lIns="0" tIns="73660" rIns="0" bIns="0" rtlCol="0">
            <a:spAutoFit/>
          </a:bodyPr>
          <a:lstStyle/>
          <a:p>
            <a:pPr marL="542925" marR="5080" indent="-530860">
              <a:lnSpc>
                <a:spcPct val="100000"/>
              </a:lnSpc>
              <a:spcBef>
                <a:spcPts val="95"/>
              </a:spcBef>
            </a:pPr>
            <a:r>
              <a:rPr lang="en-US" sz="2000" b="1" spc="-10" dirty="0">
                <a:solidFill>
                  <a:srgbClr val="0000FF"/>
                </a:solidFill>
                <a:latin typeface="Calibri"/>
                <a:cs typeface="Calibri"/>
              </a:rPr>
              <a:t>Estimation,</a:t>
            </a:r>
            <a:r>
              <a:rPr lang="en-US" sz="2000" b="1" spc="20" dirty="0">
                <a:solidFill>
                  <a:srgbClr val="0000FF"/>
                </a:solidFill>
                <a:latin typeface="Calibri"/>
                <a:cs typeface="Calibri"/>
              </a:rPr>
              <a:t> </a:t>
            </a:r>
            <a:r>
              <a:rPr lang="en-US" sz="2000" b="1" spc="-10" dirty="0">
                <a:solidFill>
                  <a:srgbClr val="0000FF"/>
                </a:solidFill>
                <a:latin typeface="Calibri"/>
                <a:cs typeface="Calibri"/>
              </a:rPr>
              <a:t>Prediction</a:t>
            </a:r>
            <a:r>
              <a:rPr lang="en-US" sz="2000" b="1" spc="35" dirty="0">
                <a:solidFill>
                  <a:srgbClr val="0000FF"/>
                </a:solidFill>
                <a:latin typeface="Calibri"/>
                <a:cs typeface="Calibri"/>
              </a:rPr>
              <a:t> </a:t>
            </a:r>
            <a:r>
              <a:rPr lang="en-US" sz="2000" b="1" spc="-5" dirty="0">
                <a:solidFill>
                  <a:srgbClr val="0000FF"/>
                </a:solidFill>
                <a:latin typeface="Calibri"/>
                <a:cs typeface="Calibri"/>
              </a:rPr>
              <a:t>of</a:t>
            </a:r>
            <a:r>
              <a:rPr lang="en-US" sz="2000" b="1" spc="10" dirty="0">
                <a:solidFill>
                  <a:srgbClr val="0000FF"/>
                </a:solidFill>
                <a:latin typeface="Calibri"/>
                <a:cs typeface="Calibri"/>
              </a:rPr>
              <a:t> </a:t>
            </a:r>
            <a:r>
              <a:rPr lang="en-US" sz="2000" b="1" spc="-15" dirty="0">
                <a:solidFill>
                  <a:srgbClr val="0000FF"/>
                </a:solidFill>
                <a:latin typeface="Calibri"/>
                <a:cs typeface="Calibri"/>
              </a:rPr>
              <a:t>Regression</a:t>
            </a:r>
            <a:r>
              <a:rPr lang="en-US" sz="2000" b="1" spc="25" dirty="0">
                <a:solidFill>
                  <a:srgbClr val="0000FF"/>
                </a:solidFill>
                <a:latin typeface="Calibri"/>
                <a:cs typeface="Calibri"/>
              </a:rPr>
              <a:t> </a:t>
            </a:r>
            <a:r>
              <a:rPr lang="en-US" sz="2000" b="1" spc="-10" dirty="0">
                <a:solidFill>
                  <a:srgbClr val="0000FF"/>
                </a:solidFill>
                <a:latin typeface="Calibri"/>
                <a:cs typeface="Calibri"/>
              </a:rPr>
              <a:t>Model</a:t>
            </a:r>
            <a:r>
              <a:rPr lang="en-US" sz="2000" b="1" spc="25" dirty="0">
                <a:solidFill>
                  <a:srgbClr val="0000FF"/>
                </a:solidFill>
                <a:latin typeface="Calibri"/>
                <a:cs typeface="Calibri"/>
              </a:rPr>
              <a:t> </a:t>
            </a:r>
            <a:r>
              <a:rPr lang="en-US" sz="2000" b="1" spc="-15" dirty="0">
                <a:solidFill>
                  <a:srgbClr val="0000FF"/>
                </a:solidFill>
                <a:latin typeface="Calibri"/>
                <a:cs typeface="Calibri"/>
              </a:rPr>
              <a:t>Residual </a:t>
            </a:r>
            <a:r>
              <a:rPr lang="en-US" sz="2000" b="1" spc="-480" dirty="0">
                <a:solidFill>
                  <a:srgbClr val="0000FF"/>
                </a:solidFill>
                <a:latin typeface="Calibri"/>
                <a:cs typeface="Calibri"/>
              </a:rPr>
              <a:t> </a:t>
            </a:r>
            <a:r>
              <a:rPr lang="en-US" sz="2000" b="1" spc="-5" dirty="0">
                <a:solidFill>
                  <a:srgbClr val="0000FF"/>
                </a:solidFill>
                <a:latin typeface="Calibri"/>
                <a:cs typeface="Calibri"/>
              </a:rPr>
              <a:t>Analysis:</a:t>
            </a:r>
            <a:r>
              <a:rPr lang="en-US" sz="2000" b="1" spc="-10" dirty="0">
                <a:solidFill>
                  <a:srgbClr val="0000FF"/>
                </a:solidFill>
                <a:latin typeface="Calibri"/>
                <a:cs typeface="Calibri"/>
              </a:rPr>
              <a:t> </a:t>
            </a:r>
            <a:r>
              <a:rPr lang="en-US" sz="2000" b="1" spc="-20" dirty="0">
                <a:solidFill>
                  <a:srgbClr val="0000FF"/>
                </a:solidFill>
                <a:latin typeface="Calibri"/>
                <a:cs typeface="Calibri"/>
              </a:rPr>
              <a:t>Validating</a:t>
            </a:r>
            <a:r>
              <a:rPr lang="en-US" sz="2000" b="1" spc="15" dirty="0">
                <a:solidFill>
                  <a:srgbClr val="0000FF"/>
                </a:solidFill>
                <a:latin typeface="Calibri"/>
                <a:cs typeface="Calibri"/>
              </a:rPr>
              <a:t> </a:t>
            </a:r>
            <a:r>
              <a:rPr lang="en-US" sz="2000" b="1" spc="-10" dirty="0">
                <a:solidFill>
                  <a:srgbClr val="0000FF"/>
                </a:solidFill>
                <a:latin typeface="Calibri"/>
                <a:cs typeface="Calibri"/>
              </a:rPr>
              <a:t>Model</a:t>
            </a:r>
            <a:r>
              <a:rPr lang="en-US" sz="2000" b="1" spc="25" dirty="0">
                <a:solidFill>
                  <a:srgbClr val="0000FF"/>
                </a:solidFill>
                <a:latin typeface="Calibri"/>
                <a:cs typeface="Calibri"/>
              </a:rPr>
              <a:t> </a:t>
            </a:r>
            <a:r>
              <a:rPr lang="en-US" sz="2000" b="1" spc="-10" dirty="0">
                <a:solidFill>
                  <a:srgbClr val="0000FF"/>
                </a:solidFill>
                <a:latin typeface="Calibri"/>
                <a:cs typeface="Calibri"/>
              </a:rPr>
              <a:t>Assumptions</a:t>
            </a:r>
            <a:r>
              <a:rPr lang="en-US" sz="2000" b="1" spc="35" dirty="0">
                <a:solidFill>
                  <a:srgbClr val="0000FF"/>
                </a:solidFill>
                <a:latin typeface="Calibri"/>
                <a:cs typeface="Calibri"/>
              </a:rPr>
              <a:t> </a:t>
            </a:r>
            <a:r>
              <a:rPr lang="en-US" sz="2000" b="1" spc="-5" dirty="0">
                <a:solidFill>
                  <a:srgbClr val="0000FF"/>
                </a:solidFill>
                <a:latin typeface="Calibri"/>
                <a:cs typeface="Calibri"/>
              </a:rPr>
              <a:t>-</a:t>
            </a:r>
            <a:r>
              <a:rPr lang="en-US" sz="2000" b="1" spc="5" dirty="0">
                <a:solidFill>
                  <a:srgbClr val="0000FF"/>
                </a:solidFill>
                <a:latin typeface="Calibri"/>
                <a:cs typeface="Calibri"/>
              </a:rPr>
              <a:t> </a:t>
            </a:r>
            <a:r>
              <a:rPr lang="en-US" sz="2000" b="1" spc="-5" dirty="0">
                <a:solidFill>
                  <a:srgbClr val="0000FF"/>
                </a:solidFill>
                <a:latin typeface="Calibri"/>
                <a:cs typeface="Calibri"/>
              </a:rPr>
              <a:t>II</a:t>
            </a:r>
            <a:endParaRPr lang="en-US" sz="20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4430" y="385953"/>
            <a:ext cx="7232015" cy="452120"/>
          </a:xfrm>
          <a:prstGeom prst="rect">
            <a:avLst/>
          </a:prstGeom>
        </p:spPr>
        <p:txBody>
          <a:bodyPr vert="horz" wrap="square" lIns="0" tIns="12065" rIns="0" bIns="0" rtlCol="0">
            <a:spAutoFit/>
          </a:bodyPr>
          <a:lstStyle/>
          <a:p>
            <a:pPr marL="12700">
              <a:lnSpc>
                <a:spcPct val="100000"/>
              </a:lnSpc>
              <a:spcBef>
                <a:spcPts val="95"/>
              </a:spcBef>
            </a:pPr>
            <a:r>
              <a:rPr spc="-15" dirty="0"/>
              <a:t>Residual</a:t>
            </a:r>
            <a:r>
              <a:rPr spc="20" dirty="0"/>
              <a:t> </a:t>
            </a:r>
            <a:r>
              <a:rPr spc="-5" dirty="0"/>
              <a:t>Analysis:</a:t>
            </a:r>
            <a:r>
              <a:rPr spc="20" dirty="0"/>
              <a:t> </a:t>
            </a:r>
            <a:r>
              <a:rPr spc="-25" dirty="0"/>
              <a:t>Validating</a:t>
            </a:r>
            <a:r>
              <a:rPr spc="20" dirty="0"/>
              <a:t> </a:t>
            </a:r>
            <a:r>
              <a:rPr spc="-10" dirty="0"/>
              <a:t>Model</a:t>
            </a:r>
            <a:r>
              <a:rPr spc="5" dirty="0"/>
              <a:t> </a:t>
            </a:r>
            <a:r>
              <a:rPr spc="-5" dirty="0"/>
              <a:t>Assumptions</a:t>
            </a:r>
          </a:p>
        </p:txBody>
      </p:sp>
      <p:sp>
        <p:nvSpPr>
          <p:cNvPr id="3" name="object 3"/>
          <p:cNvSpPr txBox="1"/>
          <p:nvPr/>
        </p:nvSpPr>
        <p:spPr>
          <a:xfrm>
            <a:off x="535940" y="1216913"/>
            <a:ext cx="8016875" cy="635635"/>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Lst>
            </a:pPr>
            <a:r>
              <a:rPr sz="2000" b="1" spc="-5" dirty="0">
                <a:latin typeface="Calibri"/>
                <a:cs typeface="Calibri"/>
              </a:rPr>
              <a:t>Residual analysis </a:t>
            </a:r>
            <a:r>
              <a:rPr sz="2000" i="1" dirty="0">
                <a:latin typeface="Calibri"/>
                <a:cs typeface="Calibri"/>
              </a:rPr>
              <a:t>is the </a:t>
            </a:r>
            <a:r>
              <a:rPr sz="2000" i="1" spc="-5" dirty="0">
                <a:latin typeface="Calibri"/>
                <a:cs typeface="Calibri"/>
              </a:rPr>
              <a:t>primary tool </a:t>
            </a:r>
            <a:r>
              <a:rPr sz="2000" i="1" spc="-10" dirty="0">
                <a:latin typeface="Calibri"/>
                <a:cs typeface="Calibri"/>
              </a:rPr>
              <a:t>for </a:t>
            </a:r>
            <a:r>
              <a:rPr sz="2000" i="1" spc="-5" dirty="0">
                <a:latin typeface="Calibri"/>
                <a:cs typeface="Calibri"/>
              </a:rPr>
              <a:t>determining whether </a:t>
            </a:r>
            <a:r>
              <a:rPr sz="2000" i="1" dirty="0">
                <a:latin typeface="Calibri"/>
                <a:cs typeface="Calibri"/>
              </a:rPr>
              <a:t>the </a:t>
            </a:r>
            <a:r>
              <a:rPr sz="2000" i="1" spc="-5" dirty="0">
                <a:latin typeface="Calibri"/>
                <a:cs typeface="Calibri"/>
              </a:rPr>
              <a:t>assumed </a:t>
            </a:r>
            <a:r>
              <a:rPr sz="2000" i="1" spc="-440" dirty="0">
                <a:latin typeface="Calibri"/>
                <a:cs typeface="Calibri"/>
              </a:rPr>
              <a:t> </a:t>
            </a:r>
            <a:r>
              <a:rPr sz="2000" i="1" dirty="0">
                <a:latin typeface="Calibri"/>
                <a:cs typeface="Calibri"/>
              </a:rPr>
              <a:t>regression</a:t>
            </a:r>
            <a:r>
              <a:rPr sz="2000" i="1" spc="-45" dirty="0">
                <a:latin typeface="Calibri"/>
                <a:cs typeface="Calibri"/>
              </a:rPr>
              <a:t> </a:t>
            </a:r>
            <a:r>
              <a:rPr sz="2000" i="1" dirty="0">
                <a:latin typeface="Calibri"/>
                <a:cs typeface="Calibri"/>
              </a:rPr>
              <a:t>model</a:t>
            </a:r>
            <a:r>
              <a:rPr sz="2000" i="1" spc="-15" dirty="0">
                <a:latin typeface="Calibri"/>
                <a:cs typeface="Calibri"/>
              </a:rPr>
              <a:t> </a:t>
            </a:r>
            <a:r>
              <a:rPr sz="2000" i="1" dirty="0">
                <a:latin typeface="Calibri"/>
                <a:cs typeface="Calibri"/>
              </a:rPr>
              <a:t>is</a:t>
            </a:r>
            <a:r>
              <a:rPr sz="2000" i="1" spc="-15" dirty="0">
                <a:latin typeface="Calibri"/>
                <a:cs typeface="Calibri"/>
              </a:rPr>
              <a:t> </a:t>
            </a:r>
            <a:r>
              <a:rPr sz="2000" i="1" spc="-5" dirty="0">
                <a:latin typeface="Calibri"/>
                <a:cs typeface="Calibri"/>
              </a:rPr>
              <a:t>appropriate</a:t>
            </a:r>
            <a:endParaRPr sz="2000">
              <a:latin typeface="Calibri"/>
              <a:cs typeface="Calibri"/>
            </a:endParaRPr>
          </a:p>
        </p:txBody>
      </p:sp>
      <p:pic>
        <p:nvPicPr>
          <p:cNvPr id="4" name="object 4"/>
          <p:cNvPicPr/>
          <p:nvPr/>
        </p:nvPicPr>
        <p:blipFill>
          <a:blip r:embed="rId2" cstate="print"/>
          <a:stretch>
            <a:fillRect/>
          </a:stretch>
        </p:blipFill>
        <p:spPr>
          <a:xfrm>
            <a:off x="1833372" y="2266188"/>
            <a:ext cx="5477256" cy="189585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7368" y="2147316"/>
            <a:ext cx="8589264" cy="1688592"/>
          </a:xfrm>
          <a:prstGeom prst="rect">
            <a:avLst/>
          </a:prstGeom>
        </p:spPr>
      </p:pic>
      <p:sp>
        <p:nvSpPr>
          <p:cNvPr id="3" name="object 3"/>
          <p:cNvSpPr txBox="1">
            <a:spLocks noGrp="1"/>
          </p:cNvSpPr>
          <p:nvPr>
            <p:ph type="title"/>
          </p:nvPr>
        </p:nvSpPr>
        <p:spPr>
          <a:xfrm>
            <a:off x="2001392" y="356913"/>
            <a:ext cx="5339080" cy="486409"/>
          </a:xfrm>
          <a:prstGeom prst="rect">
            <a:avLst/>
          </a:prstGeom>
        </p:spPr>
        <p:txBody>
          <a:bodyPr vert="horz" wrap="square" lIns="0" tIns="15875" rIns="0" bIns="0" rtlCol="0">
            <a:spAutoFit/>
          </a:bodyPr>
          <a:lstStyle/>
          <a:p>
            <a:pPr marL="12700">
              <a:lnSpc>
                <a:spcPct val="100000"/>
              </a:lnSpc>
              <a:spcBef>
                <a:spcPts val="125"/>
              </a:spcBef>
            </a:pPr>
            <a:r>
              <a:rPr b="0" spc="-5" dirty="0">
                <a:latin typeface="Calibri"/>
                <a:cs typeface="Calibri"/>
              </a:rPr>
              <a:t>Assumptions</a:t>
            </a:r>
            <a:r>
              <a:rPr b="0" spc="50" dirty="0">
                <a:latin typeface="Calibri"/>
                <a:cs typeface="Calibri"/>
              </a:rPr>
              <a:t> </a:t>
            </a:r>
            <a:r>
              <a:rPr b="0" spc="-5" dirty="0">
                <a:latin typeface="Calibri"/>
                <a:cs typeface="Calibri"/>
              </a:rPr>
              <a:t>about</a:t>
            </a:r>
            <a:r>
              <a:rPr b="0" dirty="0">
                <a:latin typeface="Calibri"/>
                <a:cs typeface="Calibri"/>
              </a:rPr>
              <a:t> </a:t>
            </a:r>
            <a:r>
              <a:rPr b="0" spc="-5" dirty="0">
                <a:latin typeface="Calibri"/>
                <a:cs typeface="Calibri"/>
              </a:rPr>
              <a:t>the </a:t>
            </a:r>
            <a:r>
              <a:rPr b="0" spc="-15" dirty="0">
                <a:latin typeface="Calibri"/>
                <a:cs typeface="Calibri"/>
              </a:rPr>
              <a:t>error</a:t>
            </a:r>
            <a:r>
              <a:rPr b="0" spc="-5" dirty="0">
                <a:latin typeface="Calibri"/>
                <a:cs typeface="Calibri"/>
              </a:rPr>
              <a:t> </a:t>
            </a:r>
            <a:r>
              <a:rPr b="0" spc="-10" dirty="0">
                <a:latin typeface="Calibri"/>
                <a:cs typeface="Calibri"/>
              </a:rPr>
              <a:t>term </a:t>
            </a:r>
            <a:r>
              <a:rPr b="0" spc="35" dirty="0">
                <a:latin typeface="Calibri"/>
                <a:cs typeface="Calibri"/>
              </a:rPr>
              <a:t>.</a:t>
            </a:r>
            <a:r>
              <a:rPr sz="4500" b="0" spc="52" baseline="-1851" dirty="0">
                <a:solidFill>
                  <a:srgbClr val="000000"/>
                </a:solidFill>
                <a:latin typeface="Symbol"/>
                <a:cs typeface="Symbol"/>
              </a:rPr>
              <a:t></a:t>
            </a:r>
            <a:endParaRPr sz="4500" baseline="-1851">
              <a:latin typeface="Symbol"/>
              <a:cs typeface="Symbol"/>
            </a:endParaRPr>
          </a:p>
        </p:txBody>
      </p:sp>
      <p:pic>
        <p:nvPicPr>
          <p:cNvPr id="4" name="object 4"/>
          <p:cNvPicPr/>
          <p:nvPr/>
        </p:nvPicPr>
        <p:blipFill>
          <a:blip r:embed="rId3" cstate="print"/>
          <a:stretch>
            <a:fillRect/>
          </a:stretch>
        </p:blipFill>
        <p:spPr>
          <a:xfrm>
            <a:off x="2759964" y="1271016"/>
            <a:ext cx="2233118" cy="51511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7904" y="385953"/>
            <a:ext cx="4567555" cy="452120"/>
          </a:xfrm>
          <a:prstGeom prst="rect">
            <a:avLst/>
          </a:prstGeom>
        </p:spPr>
        <p:txBody>
          <a:bodyPr vert="horz" wrap="square" lIns="0" tIns="12065" rIns="0" bIns="0" rtlCol="0">
            <a:spAutoFit/>
          </a:bodyPr>
          <a:lstStyle/>
          <a:p>
            <a:pPr marL="12700">
              <a:lnSpc>
                <a:spcPct val="100000"/>
              </a:lnSpc>
              <a:spcBef>
                <a:spcPts val="95"/>
              </a:spcBef>
            </a:pPr>
            <a:r>
              <a:rPr b="0" spc="-10" dirty="0">
                <a:latin typeface="Calibri"/>
                <a:cs typeface="Calibri"/>
              </a:rPr>
              <a:t>Importance</a:t>
            </a:r>
            <a:r>
              <a:rPr b="0" dirty="0">
                <a:latin typeface="Calibri"/>
                <a:cs typeface="Calibri"/>
              </a:rPr>
              <a:t> </a:t>
            </a:r>
            <a:r>
              <a:rPr b="0" spc="-5" dirty="0">
                <a:latin typeface="Calibri"/>
                <a:cs typeface="Calibri"/>
              </a:rPr>
              <a:t>of</a:t>
            </a:r>
            <a:r>
              <a:rPr b="0" spc="-15" dirty="0">
                <a:latin typeface="Calibri"/>
                <a:cs typeface="Calibri"/>
              </a:rPr>
              <a:t> </a:t>
            </a:r>
            <a:r>
              <a:rPr b="0" spc="-5" dirty="0">
                <a:latin typeface="Calibri"/>
                <a:cs typeface="Calibri"/>
              </a:rPr>
              <a:t>the Assumptions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16</a:t>
            </a:fld>
            <a:endParaRPr dirty="0"/>
          </a:p>
        </p:txBody>
      </p:sp>
      <p:sp>
        <p:nvSpPr>
          <p:cNvPr id="3" name="object 3"/>
          <p:cNvSpPr txBox="1"/>
          <p:nvPr/>
        </p:nvSpPr>
        <p:spPr>
          <a:xfrm>
            <a:off x="535940" y="1216913"/>
            <a:ext cx="7898765" cy="1916430"/>
          </a:xfrm>
          <a:prstGeom prst="rect">
            <a:avLst/>
          </a:prstGeom>
        </p:spPr>
        <p:txBody>
          <a:bodyPr vert="horz" wrap="square" lIns="0" tIns="13335" rIns="0" bIns="0" rtlCol="0">
            <a:spAutoFit/>
          </a:bodyPr>
          <a:lstStyle/>
          <a:p>
            <a:pPr marL="355600" marR="197485" indent="-342900">
              <a:lnSpc>
                <a:spcPct val="100000"/>
              </a:lnSpc>
              <a:spcBef>
                <a:spcPts val="105"/>
              </a:spcBef>
              <a:buFont typeface="Arial MT"/>
              <a:buChar char="•"/>
              <a:tabLst>
                <a:tab pos="354965" algn="l"/>
                <a:tab pos="355600" algn="l"/>
              </a:tabLst>
            </a:pPr>
            <a:r>
              <a:rPr sz="2000" spc="-5" dirty="0">
                <a:latin typeface="Calibri"/>
                <a:cs typeface="Calibri"/>
              </a:rPr>
              <a:t>These</a:t>
            </a:r>
            <a:r>
              <a:rPr sz="2000" spc="15" dirty="0">
                <a:latin typeface="Calibri"/>
                <a:cs typeface="Calibri"/>
              </a:rPr>
              <a:t> </a:t>
            </a:r>
            <a:r>
              <a:rPr sz="2000" dirty="0">
                <a:latin typeface="Calibri"/>
                <a:cs typeface="Calibri"/>
              </a:rPr>
              <a:t>assumptions</a:t>
            </a:r>
            <a:r>
              <a:rPr sz="2000" spc="10" dirty="0">
                <a:latin typeface="Calibri"/>
                <a:cs typeface="Calibri"/>
              </a:rPr>
              <a:t> </a:t>
            </a:r>
            <a:r>
              <a:rPr sz="2000" spc="-10" dirty="0">
                <a:latin typeface="Calibri"/>
                <a:cs typeface="Calibri"/>
              </a:rPr>
              <a:t>provide </a:t>
            </a:r>
            <a:r>
              <a:rPr sz="2000" dirty="0">
                <a:latin typeface="Calibri"/>
                <a:cs typeface="Calibri"/>
              </a:rPr>
              <a:t>the</a:t>
            </a:r>
            <a:r>
              <a:rPr sz="2000" spc="5" dirty="0">
                <a:latin typeface="Calibri"/>
                <a:cs typeface="Calibri"/>
              </a:rPr>
              <a:t> </a:t>
            </a:r>
            <a:r>
              <a:rPr sz="2000" spc="-5" dirty="0">
                <a:latin typeface="Calibri"/>
                <a:cs typeface="Calibri"/>
              </a:rPr>
              <a:t>theoretical</a:t>
            </a:r>
            <a:r>
              <a:rPr sz="2000" spc="5" dirty="0">
                <a:latin typeface="Calibri"/>
                <a:cs typeface="Calibri"/>
              </a:rPr>
              <a:t> </a:t>
            </a:r>
            <a:r>
              <a:rPr sz="2000" spc="-5" dirty="0">
                <a:latin typeface="Calibri"/>
                <a:cs typeface="Calibri"/>
              </a:rPr>
              <a:t>basis</a:t>
            </a:r>
            <a:r>
              <a:rPr sz="2000" spc="10" dirty="0">
                <a:latin typeface="Calibri"/>
                <a:cs typeface="Calibri"/>
              </a:rPr>
              <a:t> </a:t>
            </a:r>
            <a:r>
              <a:rPr sz="2000" spc="-15" dirty="0">
                <a:latin typeface="Calibri"/>
                <a:cs typeface="Calibri"/>
              </a:rPr>
              <a:t>for</a:t>
            </a:r>
            <a:r>
              <a:rPr sz="2000" spc="-20" dirty="0">
                <a:latin typeface="Calibri"/>
                <a:cs typeface="Calibri"/>
              </a:rPr>
              <a:t> </a:t>
            </a:r>
            <a:r>
              <a:rPr sz="2000" dirty="0">
                <a:latin typeface="Calibri"/>
                <a:cs typeface="Calibri"/>
              </a:rPr>
              <a:t>the</a:t>
            </a:r>
            <a:r>
              <a:rPr sz="2000" spc="-15" dirty="0">
                <a:latin typeface="Calibri"/>
                <a:cs typeface="Calibri"/>
              </a:rPr>
              <a:t> </a:t>
            </a:r>
            <a:r>
              <a:rPr sz="2000" i="1" dirty="0">
                <a:latin typeface="Calibri"/>
                <a:cs typeface="Calibri"/>
              </a:rPr>
              <a:t>t</a:t>
            </a:r>
            <a:r>
              <a:rPr sz="2000" i="1" spc="5" dirty="0">
                <a:latin typeface="Calibri"/>
                <a:cs typeface="Calibri"/>
              </a:rPr>
              <a:t> </a:t>
            </a:r>
            <a:r>
              <a:rPr sz="2000" spc="-15" dirty="0">
                <a:latin typeface="Calibri"/>
                <a:cs typeface="Calibri"/>
              </a:rPr>
              <a:t>test</a:t>
            </a:r>
            <a:r>
              <a:rPr sz="2000" spc="15" dirty="0">
                <a:latin typeface="Calibri"/>
                <a:cs typeface="Calibri"/>
              </a:rPr>
              <a:t> </a:t>
            </a:r>
            <a:r>
              <a:rPr sz="2000" dirty="0">
                <a:latin typeface="Calibri"/>
                <a:cs typeface="Calibri"/>
              </a:rPr>
              <a:t>and</a:t>
            </a:r>
            <a:r>
              <a:rPr sz="2000" spc="-5" dirty="0">
                <a:latin typeface="Calibri"/>
                <a:cs typeface="Calibri"/>
              </a:rPr>
              <a:t> </a:t>
            </a:r>
            <a:r>
              <a:rPr sz="2000" dirty="0">
                <a:latin typeface="Calibri"/>
                <a:cs typeface="Calibri"/>
              </a:rPr>
              <a:t>the</a:t>
            </a:r>
            <a:r>
              <a:rPr sz="2000" spc="-5" dirty="0">
                <a:latin typeface="Calibri"/>
                <a:cs typeface="Calibri"/>
              </a:rPr>
              <a:t> </a:t>
            </a:r>
            <a:r>
              <a:rPr sz="2000" i="1" dirty="0">
                <a:latin typeface="Calibri"/>
                <a:cs typeface="Calibri"/>
              </a:rPr>
              <a:t>F </a:t>
            </a:r>
            <a:r>
              <a:rPr sz="2000" i="1" spc="-434" dirty="0">
                <a:latin typeface="Calibri"/>
                <a:cs typeface="Calibri"/>
              </a:rPr>
              <a:t> </a:t>
            </a:r>
            <a:r>
              <a:rPr sz="2000" spc="-15" dirty="0">
                <a:latin typeface="Calibri"/>
                <a:cs typeface="Calibri"/>
              </a:rPr>
              <a:t>test</a:t>
            </a:r>
            <a:r>
              <a:rPr sz="2000" spc="10" dirty="0">
                <a:latin typeface="Calibri"/>
                <a:cs typeface="Calibri"/>
              </a:rPr>
              <a:t> </a:t>
            </a:r>
            <a:r>
              <a:rPr sz="2000" spc="-5" dirty="0">
                <a:latin typeface="Calibri"/>
                <a:cs typeface="Calibri"/>
              </a:rPr>
              <a:t>used</a:t>
            </a:r>
            <a:r>
              <a:rPr sz="2000" dirty="0">
                <a:latin typeface="Calibri"/>
                <a:cs typeface="Calibri"/>
              </a:rPr>
              <a:t> </a:t>
            </a:r>
            <a:r>
              <a:rPr sz="2000" spc="-15" dirty="0">
                <a:latin typeface="Calibri"/>
                <a:cs typeface="Calibri"/>
              </a:rPr>
              <a:t>to</a:t>
            </a:r>
            <a:r>
              <a:rPr sz="2000" spc="-10" dirty="0">
                <a:latin typeface="Calibri"/>
                <a:cs typeface="Calibri"/>
              </a:rPr>
              <a:t> </a:t>
            </a:r>
            <a:r>
              <a:rPr sz="2000" spc="-5" dirty="0">
                <a:latin typeface="Calibri"/>
                <a:cs typeface="Calibri"/>
              </a:rPr>
              <a:t>determine</a:t>
            </a:r>
            <a:r>
              <a:rPr sz="2000" spc="25" dirty="0">
                <a:latin typeface="Calibri"/>
                <a:cs typeface="Calibri"/>
              </a:rPr>
              <a:t> </a:t>
            </a:r>
            <a:r>
              <a:rPr sz="2000" dirty="0">
                <a:latin typeface="Calibri"/>
                <a:cs typeface="Calibri"/>
              </a:rPr>
              <a:t>whether</a:t>
            </a:r>
            <a:r>
              <a:rPr sz="2000" spc="-5" dirty="0">
                <a:latin typeface="Calibri"/>
                <a:cs typeface="Calibri"/>
              </a:rPr>
              <a:t> </a:t>
            </a:r>
            <a:r>
              <a:rPr sz="2000" dirty="0">
                <a:latin typeface="Calibri"/>
                <a:cs typeface="Calibri"/>
              </a:rPr>
              <a:t>the </a:t>
            </a:r>
            <a:r>
              <a:rPr sz="2000" spc="-5" dirty="0">
                <a:latin typeface="Calibri"/>
                <a:cs typeface="Calibri"/>
              </a:rPr>
              <a:t>relationship</a:t>
            </a:r>
            <a:r>
              <a:rPr sz="2000" spc="15" dirty="0">
                <a:latin typeface="Calibri"/>
                <a:cs typeface="Calibri"/>
              </a:rPr>
              <a:t> </a:t>
            </a:r>
            <a:r>
              <a:rPr sz="2000" spc="-5" dirty="0">
                <a:latin typeface="Calibri"/>
                <a:cs typeface="Calibri"/>
              </a:rPr>
              <a:t>between</a:t>
            </a:r>
            <a:r>
              <a:rPr sz="2000" spc="-50" dirty="0">
                <a:latin typeface="Calibri"/>
                <a:cs typeface="Calibri"/>
              </a:rPr>
              <a:t> </a:t>
            </a:r>
            <a:r>
              <a:rPr sz="2000" i="1" dirty="0">
                <a:latin typeface="Calibri"/>
                <a:cs typeface="Calibri"/>
              </a:rPr>
              <a:t>x</a:t>
            </a:r>
            <a:r>
              <a:rPr sz="2000" i="1" spc="-5" dirty="0">
                <a:latin typeface="Calibri"/>
                <a:cs typeface="Calibri"/>
              </a:rPr>
              <a:t> </a:t>
            </a:r>
            <a:r>
              <a:rPr sz="2000" dirty="0">
                <a:latin typeface="Calibri"/>
                <a:cs typeface="Calibri"/>
              </a:rPr>
              <a:t>and</a:t>
            </a:r>
            <a:r>
              <a:rPr sz="2000" spc="-10" dirty="0">
                <a:latin typeface="Calibri"/>
                <a:cs typeface="Calibri"/>
              </a:rPr>
              <a:t> </a:t>
            </a:r>
            <a:r>
              <a:rPr sz="2000" i="1" dirty="0">
                <a:latin typeface="Calibri"/>
                <a:cs typeface="Calibri"/>
              </a:rPr>
              <a:t>y</a:t>
            </a:r>
            <a:r>
              <a:rPr sz="2000" i="1" spc="5" dirty="0">
                <a:latin typeface="Calibri"/>
                <a:cs typeface="Calibri"/>
              </a:rPr>
              <a:t> </a:t>
            </a:r>
            <a:r>
              <a:rPr sz="2000" dirty="0">
                <a:latin typeface="Calibri"/>
                <a:cs typeface="Calibri"/>
              </a:rPr>
              <a:t>is </a:t>
            </a:r>
            <a:r>
              <a:rPr sz="2000" spc="5" dirty="0">
                <a:latin typeface="Calibri"/>
                <a:cs typeface="Calibri"/>
              </a:rPr>
              <a:t> </a:t>
            </a:r>
            <a:r>
              <a:rPr sz="2000" spc="-5" dirty="0">
                <a:latin typeface="Calibri"/>
                <a:cs typeface="Calibri"/>
              </a:rPr>
              <a:t>significant,</a:t>
            </a:r>
            <a:r>
              <a:rPr sz="2000" dirty="0">
                <a:latin typeface="Calibri"/>
                <a:cs typeface="Calibri"/>
              </a:rPr>
              <a:t> and </a:t>
            </a:r>
            <a:r>
              <a:rPr sz="2000" spc="-15" dirty="0">
                <a:latin typeface="Calibri"/>
                <a:cs typeface="Calibri"/>
              </a:rPr>
              <a:t>for</a:t>
            </a:r>
            <a:r>
              <a:rPr sz="2000" spc="-10" dirty="0">
                <a:latin typeface="Calibri"/>
                <a:cs typeface="Calibri"/>
              </a:rPr>
              <a:t> </a:t>
            </a:r>
            <a:r>
              <a:rPr sz="2000" dirty="0">
                <a:latin typeface="Calibri"/>
                <a:cs typeface="Calibri"/>
              </a:rPr>
              <a:t>the</a:t>
            </a:r>
            <a:r>
              <a:rPr sz="2000" spc="5" dirty="0">
                <a:latin typeface="Calibri"/>
                <a:cs typeface="Calibri"/>
              </a:rPr>
              <a:t> </a:t>
            </a:r>
            <a:r>
              <a:rPr sz="2000" spc="-5" dirty="0">
                <a:latin typeface="Calibri"/>
                <a:cs typeface="Calibri"/>
              </a:rPr>
              <a:t>confidence</a:t>
            </a:r>
            <a:r>
              <a:rPr sz="2000" spc="-15" dirty="0">
                <a:latin typeface="Calibri"/>
                <a:cs typeface="Calibri"/>
              </a:rPr>
              <a:t> </a:t>
            </a:r>
            <a:r>
              <a:rPr sz="2000" dirty="0">
                <a:latin typeface="Calibri"/>
                <a:cs typeface="Calibri"/>
              </a:rPr>
              <a:t>and</a:t>
            </a:r>
            <a:r>
              <a:rPr sz="2000" spc="-20" dirty="0">
                <a:latin typeface="Calibri"/>
                <a:cs typeface="Calibri"/>
              </a:rPr>
              <a:t> </a:t>
            </a:r>
            <a:r>
              <a:rPr sz="2000" spc="-5" dirty="0">
                <a:latin typeface="Calibri"/>
                <a:cs typeface="Calibri"/>
              </a:rPr>
              <a:t>prediction </a:t>
            </a:r>
            <a:r>
              <a:rPr sz="2000" spc="-10" dirty="0">
                <a:latin typeface="Calibri"/>
                <a:cs typeface="Calibri"/>
              </a:rPr>
              <a:t>interval</a:t>
            </a:r>
            <a:r>
              <a:rPr sz="2000" spc="5" dirty="0">
                <a:latin typeface="Calibri"/>
                <a:cs typeface="Calibri"/>
              </a:rPr>
              <a:t> </a:t>
            </a:r>
            <a:r>
              <a:rPr sz="2000" spc="-10" dirty="0">
                <a:latin typeface="Calibri"/>
                <a:cs typeface="Calibri"/>
              </a:rPr>
              <a:t>estimates</a:t>
            </a:r>
            <a:endParaRPr sz="2000">
              <a:latin typeface="Calibri"/>
              <a:cs typeface="Calibri"/>
            </a:endParaRPr>
          </a:p>
          <a:p>
            <a:pPr marL="355600" indent="-342900">
              <a:lnSpc>
                <a:spcPts val="2980"/>
              </a:lnSpc>
              <a:buFont typeface="Arial MT"/>
              <a:buChar char="•"/>
              <a:tabLst>
                <a:tab pos="354965" algn="l"/>
                <a:tab pos="355600" algn="l"/>
                <a:tab pos="4607560" algn="l"/>
              </a:tabLst>
            </a:pPr>
            <a:r>
              <a:rPr sz="2000" dirty="0">
                <a:latin typeface="Calibri"/>
                <a:cs typeface="Calibri"/>
              </a:rPr>
              <a:t>If</a:t>
            </a:r>
            <a:r>
              <a:rPr sz="2000" spc="-5" dirty="0">
                <a:latin typeface="Calibri"/>
                <a:cs typeface="Calibri"/>
              </a:rPr>
              <a:t> </a:t>
            </a:r>
            <a:r>
              <a:rPr sz="2000" dirty="0">
                <a:latin typeface="Calibri"/>
                <a:cs typeface="Calibri"/>
              </a:rPr>
              <a:t>the</a:t>
            </a:r>
            <a:r>
              <a:rPr sz="2000" spc="5" dirty="0">
                <a:latin typeface="Calibri"/>
                <a:cs typeface="Calibri"/>
              </a:rPr>
              <a:t> </a:t>
            </a:r>
            <a:r>
              <a:rPr sz="2000" dirty="0">
                <a:latin typeface="Calibri"/>
                <a:cs typeface="Calibri"/>
              </a:rPr>
              <a:t>assumptions</a:t>
            </a:r>
            <a:r>
              <a:rPr sz="2000" spc="15" dirty="0">
                <a:latin typeface="Calibri"/>
                <a:cs typeface="Calibri"/>
              </a:rPr>
              <a:t> </a:t>
            </a:r>
            <a:r>
              <a:rPr sz="2000" dirty="0">
                <a:latin typeface="Calibri"/>
                <a:cs typeface="Calibri"/>
              </a:rPr>
              <a:t>about</a:t>
            </a:r>
            <a:r>
              <a:rPr sz="2000" spc="-1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error</a:t>
            </a:r>
            <a:r>
              <a:rPr sz="2000" dirty="0">
                <a:latin typeface="Calibri"/>
                <a:cs typeface="Calibri"/>
              </a:rPr>
              <a:t> </a:t>
            </a:r>
            <a:r>
              <a:rPr sz="2000" spc="-5" dirty="0">
                <a:latin typeface="Calibri"/>
                <a:cs typeface="Calibri"/>
              </a:rPr>
              <a:t>term	</a:t>
            </a:r>
            <a:r>
              <a:rPr sz="4500" spc="-112" baseline="-2777" dirty="0">
                <a:latin typeface="Symbol"/>
                <a:cs typeface="Symbol"/>
              </a:rPr>
              <a:t></a:t>
            </a:r>
            <a:r>
              <a:rPr sz="4500" spc="540" baseline="-2777" dirty="0">
                <a:latin typeface="Times New Roman"/>
                <a:cs typeface="Times New Roman"/>
              </a:rPr>
              <a:t> </a:t>
            </a:r>
            <a:r>
              <a:rPr sz="2000" dirty="0">
                <a:latin typeface="Calibri"/>
                <a:cs typeface="Calibri"/>
              </a:rPr>
              <a:t>appear</a:t>
            </a:r>
            <a:r>
              <a:rPr sz="2000" spc="-5" dirty="0">
                <a:latin typeface="Calibri"/>
                <a:cs typeface="Calibri"/>
              </a:rPr>
              <a:t> questionable,</a:t>
            </a:r>
            <a:r>
              <a:rPr sz="2000" spc="-10" dirty="0">
                <a:latin typeface="Calibri"/>
                <a:cs typeface="Calibri"/>
              </a:rPr>
              <a:t> </a:t>
            </a:r>
            <a:r>
              <a:rPr sz="2000" dirty="0">
                <a:latin typeface="Calibri"/>
                <a:cs typeface="Calibri"/>
              </a:rPr>
              <a:t>the</a:t>
            </a:r>
            <a:endParaRPr sz="2000">
              <a:latin typeface="Calibri"/>
              <a:cs typeface="Calibri"/>
            </a:endParaRPr>
          </a:p>
          <a:p>
            <a:pPr marL="355600">
              <a:lnSpc>
                <a:spcPts val="2300"/>
              </a:lnSpc>
            </a:pPr>
            <a:r>
              <a:rPr sz="2000" spc="-5" dirty="0">
                <a:latin typeface="Calibri"/>
                <a:cs typeface="Calibri"/>
              </a:rPr>
              <a:t>hypothesis</a:t>
            </a:r>
            <a:r>
              <a:rPr sz="2000" spc="-15" dirty="0">
                <a:latin typeface="Calibri"/>
                <a:cs typeface="Calibri"/>
              </a:rPr>
              <a:t> </a:t>
            </a:r>
            <a:r>
              <a:rPr sz="2000" spc="-10" dirty="0">
                <a:latin typeface="Calibri"/>
                <a:cs typeface="Calibri"/>
              </a:rPr>
              <a:t>tests</a:t>
            </a:r>
            <a:r>
              <a:rPr sz="2000" spc="20" dirty="0">
                <a:latin typeface="Calibri"/>
                <a:cs typeface="Calibri"/>
              </a:rPr>
              <a:t> </a:t>
            </a:r>
            <a:r>
              <a:rPr sz="2000" dirty="0">
                <a:latin typeface="Calibri"/>
                <a:cs typeface="Calibri"/>
              </a:rPr>
              <a:t>about</a:t>
            </a:r>
            <a:r>
              <a:rPr sz="2000" spc="-20" dirty="0">
                <a:latin typeface="Calibri"/>
                <a:cs typeface="Calibri"/>
              </a:rPr>
              <a:t> </a:t>
            </a:r>
            <a:r>
              <a:rPr sz="2000" dirty="0">
                <a:latin typeface="Calibri"/>
                <a:cs typeface="Calibri"/>
              </a:rPr>
              <a:t>the</a:t>
            </a:r>
            <a:r>
              <a:rPr sz="2000" spc="5" dirty="0">
                <a:latin typeface="Calibri"/>
                <a:cs typeface="Calibri"/>
              </a:rPr>
              <a:t> </a:t>
            </a:r>
            <a:r>
              <a:rPr sz="2000" spc="-5" dirty="0">
                <a:latin typeface="Calibri"/>
                <a:cs typeface="Calibri"/>
              </a:rPr>
              <a:t>significance</a:t>
            </a:r>
            <a:r>
              <a:rPr sz="2000" spc="5" dirty="0">
                <a:latin typeface="Calibri"/>
                <a:cs typeface="Calibri"/>
              </a:rPr>
              <a:t> </a:t>
            </a:r>
            <a:r>
              <a:rPr sz="2000" spc="-5" dirty="0">
                <a:latin typeface="Calibri"/>
                <a:cs typeface="Calibri"/>
              </a:rPr>
              <a:t>of </a:t>
            </a:r>
            <a:r>
              <a:rPr sz="2000" dirty="0">
                <a:latin typeface="Calibri"/>
                <a:cs typeface="Calibri"/>
              </a:rPr>
              <a:t>the</a:t>
            </a:r>
            <a:r>
              <a:rPr sz="2000" spc="-5" dirty="0">
                <a:latin typeface="Calibri"/>
                <a:cs typeface="Calibri"/>
              </a:rPr>
              <a:t> regression</a:t>
            </a:r>
            <a:r>
              <a:rPr sz="2000" spc="5" dirty="0">
                <a:latin typeface="Calibri"/>
                <a:cs typeface="Calibri"/>
              </a:rPr>
              <a:t> </a:t>
            </a:r>
            <a:r>
              <a:rPr sz="2000" spc="-5" dirty="0">
                <a:latin typeface="Calibri"/>
                <a:cs typeface="Calibri"/>
              </a:rPr>
              <a:t>relationship</a:t>
            </a:r>
            <a:r>
              <a:rPr sz="2000" spc="25" dirty="0">
                <a:latin typeface="Calibri"/>
                <a:cs typeface="Calibri"/>
              </a:rPr>
              <a:t> </a:t>
            </a:r>
            <a:r>
              <a:rPr sz="2000" dirty="0">
                <a:latin typeface="Calibri"/>
                <a:cs typeface="Calibri"/>
              </a:rPr>
              <a:t>and</a:t>
            </a:r>
            <a:endParaRPr sz="2000">
              <a:latin typeface="Calibri"/>
              <a:cs typeface="Calibri"/>
            </a:endParaRPr>
          </a:p>
          <a:p>
            <a:pPr marL="355600">
              <a:lnSpc>
                <a:spcPct val="100000"/>
              </a:lnSpc>
            </a:pPr>
            <a:r>
              <a:rPr sz="2000" dirty="0">
                <a:latin typeface="Calibri"/>
                <a:cs typeface="Calibri"/>
              </a:rPr>
              <a:t>the</a:t>
            </a:r>
            <a:r>
              <a:rPr sz="2000" spc="5" dirty="0">
                <a:latin typeface="Calibri"/>
                <a:cs typeface="Calibri"/>
              </a:rPr>
              <a:t> </a:t>
            </a:r>
            <a:r>
              <a:rPr sz="2000" spc="-10" dirty="0">
                <a:latin typeface="Calibri"/>
                <a:cs typeface="Calibri"/>
              </a:rPr>
              <a:t>interval</a:t>
            </a:r>
            <a:r>
              <a:rPr sz="2000" spc="5" dirty="0">
                <a:latin typeface="Calibri"/>
                <a:cs typeface="Calibri"/>
              </a:rPr>
              <a:t> </a:t>
            </a:r>
            <a:r>
              <a:rPr sz="2000" spc="-5" dirty="0">
                <a:latin typeface="Calibri"/>
                <a:cs typeface="Calibri"/>
              </a:rPr>
              <a:t>estimation</a:t>
            </a:r>
            <a:r>
              <a:rPr sz="2000" spc="30" dirty="0">
                <a:latin typeface="Calibri"/>
                <a:cs typeface="Calibri"/>
              </a:rPr>
              <a:t> </a:t>
            </a:r>
            <a:r>
              <a:rPr sz="2000" spc="-5" dirty="0">
                <a:latin typeface="Calibri"/>
                <a:cs typeface="Calibri"/>
              </a:rPr>
              <a:t>results</a:t>
            </a:r>
            <a:r>
              <a:rPr sz="2000" dirty="0">
                <a:latin typeface="Calibri"/>
                <a:cs typeface="Calibri"/>
              </a:rPr>
              <a:t> </a:t>
            </a:r>
            <a:r>
              <a:rPr sz="2000" spc="-15" dirty="0">
                <a:latin typeface="Calibri"/>
                <a:cs typeface="Calibri"/>
              </a:rPr>
              <a:t>may</a:t>
            </a:r>
            <a:r>
              <a:rPr sz="2000" dirty="0">
                <a:latin typeface="Calibri"/>
                <a:cs typeface="Calibri"/>
              </a:rPr>
              <a:t> not</a:t>
            </a:r>
            <a:r>
              <a:rPr sz="2000" spc="-10" dirty="0">
                <a:latin typeface="Calibri"/>
                <a:cs typeface="Calibri"/>
              </a:rPr>
              <a:t> </a:t>
            </a:r>
            <a:r>
              <a:rPr sz="2000" dirty="0">
                <a:latin typeface="Calibri"/>
                <a:cs typeface="Calibri"/>
              </a:rPr>
              <a:t>be </a:t>
            </a:r>
            <a:r>
              <a:rPr sz="2000" spc="-10" dirty="0">
                <a:latin typeface="Calibri"/>
                <a:cs typeface="Calibri"/>
              </a:rPr>
              <a:t>valid.</a:t>
            </a:r>
            <a:endParaRPr sz="20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63520" y="385953"/>
            <a:ext cx="4615815" cy="452120"/>
          </a:xfrm>
          <a:prstGeom prst="rect">
            <a:avLst/>
          </a:prstGeom>
        </p:spPr>
        <p:txBody>
          <a:bodyPr vert="horz" wrap="square" lIns="0" tIns="12065" rIns="0" bIns="0" rtlCol="0">
            <a:spAutoFit/>
          </a:bodyPr>
          <a:lstStyle/>
          <a:p>
            <a:pPr marL="12700">
              <a:lnSpc>
                <a:spcPct val="100000"/>
              </a:lnSpc>
              <a:spcBef>
                <a:spcPts val="95"/>
              </a:spcBef>
            </a:pPr>
            <a:r>
              <a:rPr b="0" spc="-15" dirty="0">
                <a:latin typeface="Calibri"/>
                <a:cs typeface="Calibri"/>
              </a:rPr>
              <a:t>Residuals</a:t>
            </a:r>
            <a:r>
              <a:rPr b="0" spc="20" dirty="0">
                <a:latin typeface="Calibri"/>
                <a:cs typeface="Calibri"/>
              </a:rPr>
              <a:t> </a:t>
            </a:r>
            <a:r>
              <a:rPr b="0" spc="-25" dirty="0">
                <a:latin typeface="Calibri"/>
                <a:cs typeface="Calibri"/>
              </a:rPr>
              <a:t>for</a:t>
            </a:r>
            <a:r>
              <a:rPr b="0" spc="-10" dirty="0">
                <a:latin typeface="Calibri"/>
                <a:cs typeface="Calibri"/>
              </a:rPr>
              <a:t> </a:t>
            </a:r>
            <a:r>
              <a:rPr b="0" dirty="0">
                <a:latin typeface="Calibri"/>
                <a:cs typeface="Calibri"/>
              </a:rPr>
              <a:t>Ice</a:t>
            </a:r>
            <a:r>
              <a:rPr b="0" spc="-5" dirty="0">
                <a:latin typeface="Calibri"/>
                <a:cs typeface="Calibri"/>
              </a:rPr>
              <a:t> </a:t>
            </a:r>
            <a:r>
              <a:rPr b="0" spc="-15" dirty="0">
                <a:latin typeface="Calibri"/>
                <a:cs typeface="Calibri"/>
              </a:rPr>
              <a:t>cream</a:t>
            </a:r>
            <a:r>
              <a:rPr b="0" spc="-10" dirty="0">
                <a:latin typeface="Calibri"/>
                <a:cs typeface="Calibri"/>
              </a:rPr>
              <a:t> </a:t>
            </a:r>
            <a:r>
              <a:rPr b="0" spc="-15" dirty="0">
                <a:latin typeface="Calibri"/>
                <a:cs typeface="Calibri"/>
              </a:rPr>
              <a:t>parlours</a:t>
            </a:r>
          </a:p>
        </p:txBody>
      </p:sp>
      <p:pic>
        <p:nvPicPr>
          <p:cNvPr id="3" name="object 3"/>
          <p:cNvPicPr/>
          <p:nvPr/>
        </p:nvPicPr>
        <p:blipFill>
          <a:blip r:embed="rId2" cstate="print"/>
          <a:stretch>
            <a:fillRect/>
          </a:stretch>
        </p:blipFill>
        <p:spPr>
          <a:xfrm>
            <a:off x="775716" y="1118616"/>
            <a:ext cx="7264908" cy="2662808"/>
          </a:xfrm>
          <a:prstGeom prst="rect">
            <a:avLst/>
          </a:prstGeom>
        </p:spPr>
      </p:pic>
      <p:sp>
        <p:nvSpPr>
          <p:cNvPr id="4" name="object 4"/>
          <p:cNvSpPr txBox="1"/>
          <p:nvPr/>
        </p:nvSpPr>
        <p:spPr>
          <a:xfrm>
            <a:off x="1069949" y="4301439"/>
            <a:ext cx="6750684" cy="147955"/>
          </a:xfrm>
          <a:prstGeom prst="rect">
            <a:avLst/>
          </a:prstGeom>
        </p:spPr>
        <p:txBody>
          <a:bodyPr vert="horz" wrap="square" lIns="0" tIns="12700" rIns="0" bIns="0" rtlCol="0">
            <a:spAutoFit/>
          </a:bodyPr>
          <a:lstStyle/>
          <a:p>
            <a:pPr marL="12700">
              <a:lnSpc>
                <a:spcPct val="100000"/>
              </a:lnSpc>
              <a:spcBef>
                <a:spcPts val="100"/>
              </a:spcBef>
            </a:pPr>
            <a:r>
              <a:rPr sz="800" spc="-5" dirty="0">
                <a:latin typeface="Calibri"/>
                <a:cs typeface="Calibri"/>
              </a:rPr>
              <a:t>Source:</a:t>
            </a:r>
            <a:r>
              <a:rPr sz="800" spc="10" dirty="0">
                <a:latin typeface="Calibri"/>
                <a:cs typeface="Calibri"/>
              </a:rPr>
              <a:t> </a:t>
            </a:r>
            <a:r>
              <a:rPr sz="800" spc="-5" dirty="0">
                <a:latin typeface="Calibri"/>
                <a:cs typeface="Calibri"/>
              </a:rPr>
              <a:t>Statistics</a:t>
            </a:r>
            <a:r>
              <a:rPr sz="800" spc="5" dirty="0">
                <a:latin typeface="Calibri"/>
                <a:cs typeface="Calibri"/>
              </a:rPr>
              <a:t> </a:t>
            </a:r>
            <a:r>
              <a:rPr sz="800" spc="-5" dirty="0">
                <a:latin typeface="Calibri"/>
                <a:cs typeface="Calibri"/>
              </a:rPr>
              <a:t>for</a:t>
            </a:r>
            <a:r>
              <a:rPr sz="800" spc="20" dirty="0">
                <a:latin typeface="Calibri"/>
                <a:cs typeface="Calibri"/>
              </a:rPr>
              <a:t> </a:t>
            </a:r>
            <a:r>
              <a:rPr sz="800" spc="-5" dirty="0">
                <a:latin typeface="Calibri"/>
                <a:cs typeface="Calibri"/>
              </a:rPr>
              <a:t>Business</a:t>
            </a:r>
            <a:r>
              <a:rPr sz="800" spc="25" dirty="0">
                <a:latin typeface="Calibri"/>
                <a:cs typeface="Calibri"/>
              </a:rPr>
              <a:t> </a:t>
            </a:r>
            <a:r>
              <a:rPr sz="800" dirty="0">
                <a:latin typeface="Calibri"/>
                <a:cs typeface="Calibri"/>
              </a:rPr>
              <a:t>&amp; </a:t>
            </a:r>
            <a:r>
              <a:rPr sz="800" spc="-5" dirty="0">
                <a:latin typeface="Calibri"/>
                <a:cs typeface="Calibri"/>
              </a:rPr>
              <a:t>Economics,</a:t>
            </a:r>
            <a:r>
              <a:rPr sz="800" spc="15" dirty="0">
                <a:latin typeface="Calibri"/>
                <a:cs typeface="Calibri"/>
              </a:rPr>
              <a:t> </a:t>
            </a:r>
            <a:r>
              <a:rPr sz="800" spc="-5" dirty="0">
                <a:latin typeface="Calibri"/>
                <a:cs typeface="Calibri"/>
              </a:rPr>
              <a:t>David</a:t>
            </a:r>
            <a:r>
              <a:rPr sz="800" spc="15" dirty="0">
                <a:latin typeface="Calibri"/>
                <a:cs typeface="Calibri"/>
              </a:rPr>
              <a:t> </a:t>
            </a:r>
            <a:r>
              <a:rPr sz="800" spc="-5" dirty="0">
                <a:latin typeface="Calibri"/>
                <a:cs typeface="Calibri"/>
              </a:rPr>
              <a:t>R. Anderson,</a:t>
            </a:r>
            <a:r>
              <a:rPr sz="800" spc="40" dirty="0">
                <a:latin typeface="Calibri"/>
                <a:cs typeface="Calibri"/>
              </a:rPr>
              <a:t> </a:t>
            </a:r>
            <a:r>
              <a:rPr sz="800" spc="-5" dirty="0">
                <a:latin typeface="Calibri"/>
                <a:cs typeface="Calibri"/>
              </a:rPr>
              <a:t>Dennis</a:t>
            </a:r>
            <a:r>
              <a:rPr sz="800" spc="15" dirty="0">
                <a:latin typeface="Calibri"/>
                <a:cs typeface="Calibri"/>
              </a:rPr>
              <a:t> </a:t>
            </a:r>
            <a:r>
              <a:rPr sz="800" spc="-5" dirty="0">
                <a:latin typeface="Calibri"/>
                <a:cs typeface="Calibri"/>
              </a:rPr>
              <a:t>J.</a:t>
            </a:r>
            <a:r>
              <a:rPr sz="800" dirty="0">
                <a:latin typeface="Calibri"/>
                <a:cs typeface="Calibri"/>
              </a:rPr>
              <a:t> </a:t>
            </a:r>
            <a:r>
              <a:rPr sz="800" spc="-5" dirty="0">
                <a:latin typeface="Calibri"/>
                <a:cs typeface="Calibri"/>
              </a:rPr>
              <a:t>Sweeney,</a:t>
            </a:r>
            <a:r>
              <a:rPr sz="800" spc="10" dirty="0">
                <a:latin typeface="Calibri"/>
                <a:cs typeface="Calibri"/>
              </a:rPr>
              <a:t> </a:t>
            </a:r>
            <a:r>
              <a:rPr sz="800" dirty="0">
                <a:latin typeface="Calibri"/>
                <a:cs typeface="Calibri"/>
              </a:rPr>
              <a:t>Thomas</a:t>
            </a:r>
            <a:r>
              <a:rPr sz="800" spc="-10" dirty="0">
                <a:latin typeface="Calibri"/>
                <a:cs typeface="Calibri"/>
              </a:rPr>
              <a:t> </a:t>
            </a:r>
            <a:r>
              <a:rPr sz="800" dirty="0">
                <a:latin typeface="Calibri"/>
                <a:cs typeface="Calibri"/>
              </a:rPr>
              <a:t>A.</a:t>
            </a:r>
            <a:r>
              <a:rPr sz="800" spc="-5" dirty="0">
                <a:latin typeface="Calibri"/>
                <a:cs typeface="Calibri"/>
              </a:rPr>
              <a:t> Williams,</a:t>
            </a:r>
            <a:r>
              <a:rPr sz="800" spc="30" dirty="0">
                <a:latin typeface="Calibri"/>
                <a:cs typeface="Calibri"/>
              </a:rPr>
              <a:t> </a:t>
            </a:r>
            <a:r>
              <a:rPr sz="800" spc="-5" dirty="0">
                <a:latin typeface="Calibri"/>
                <a:cs typeface="Calibri"/>
              </a:rPr>
              <a:t>Jeffrey</a:t>
            </a:r>
            <a:r>
              <a:rPr sz="800" spc="25" dirty="0">
                <a:latin typeface="Calibri"/>
                <a:cs typeface="Calibri"/>
              </a:rPr>
              <a:t> </a:t>
            </a:r>
            <a:r>
              <a:rPr sz="800" spc="-5" dirty="0">
                <a:latin typeface="Calibri"/>
                <a:cs typeface="Calibri"/>
              </a:rPr>
              <a:t>D.</a:t>
            </a:r>
            <a:r>
              <a:rPr sz="800" spc="-15" dirty="0">
                <a:latin typeface="Calibri"/>
                <a:cs typeface="Calibri"/>
              </a:rPr>
              <a:t> </a:t>
            </a:r>
            <a:r>
              <a:rPr sz="800" dirty="0">
                <a:latin typeface="Calibri"/>
                <a:cs typeface="Calibri"/>
              </a:rPr>
              <a:t>Camm,</a:t>
            </a:r>
            <a:r>
              <a:rPr sz="800" spc="-15" dirty="0">
                <a:latin typeface="Calibri"/>
                <a:cs typeface="Calibri"/>
              </a:rPr>
              <a:t> </a:t>
            </a:r>
            <a:r>
              <a:rPr sz="800" dirty="0">
                <a:latin typeface="Calibri"/>
                <a:cs typeface="Calibri"/>
              </a:rPr>
              <a:t>James</a:t>
            </a:r>
            <a:r>
              <a:rPr sz="800" spc="-10" dirty="0">
                <a:latin typeface="Calibri"/>
                <a:cs typeface="Calibri"/>
              </a:rPr>
              <a:t> </a:t>
            </a:r>
            <a:r>
              <a:rPr sz="800" spc="-5" dirty="0">
                <a:latin typeface="Calibri"/>
                <a:cs typeface="Calibri"/>
              </a:rPr>
              <a:t>J.</a:t>
            </a:r>
            <a:r>
              <a:rPr sz="800" dirty="0">
                <a:latin typeface="Calibri"/>
                <a:cs typeface="Calibri"/>
              </a:rPr>
              <a:t> </a:t>
            </a:r>
            <a:r>
              <a:rPr sz="800" spc="-5" dirty="0">
                <a:latin typeface="Calibri"/>
                <a:cs typeface="Calibri"/>
              </a:rPr>
              <a:t>Cochran,</a:t>
            </a:r>
            <a:r>
              <a:rPr sz="800" spc="10" dirty="0">
                <a:latin typeface="Calibri"/>
                <a:cs typeface="Calibri"/>
              </a:rPr>
              <a:t> </a:t>
            </a:r>
            <a:r>
              <a:rPr sz="800" spc="-5" dirty="0">
                <a:latin typeface="Calibri"/>
                <a:cs typeface="Calibri"/>
              </a:rPr>
              <a:t>Cengage</a:t>
            </a:r>
            <a:r>
              <a:rPr sz="800" spc="-10" dirty="0">
                <a:latin typeface="Calibri"/>
                <a:cs typeface="Calibri"/>
              </a:rPr>
              <a:t> </a:t>
            </a:r>
            <a:r>
              <a:rPr sz="800" spc="-5" dirty="0">
                <a:latin typeface="Calibri"/>
                <a:cs typeface="Calibri"/>
              </a:rPr>
              <a:t>Learning,2013</a:t>
            </a:r>
            <a:endParaRPr sz="8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17</a:t>
            </a:fld>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2094" y="411861"/>
            <a:ext cx="8036559" cy="406400"/>
          </a:xfrm>
          <a:prstGeom prst="rect">
            <a:avLst/>
          </a:prstGeom>
        </p:spPr>
        <p:txBody>
          <a:bodyPr vert="horz" wrap="square" lIns="0" tIns="12065" rIns="0" bIns="0" rtlCol="0">
            <a:spAutoFit/>
          </a:bodyPr>
          <a:lstStyle/>
          <a:p>
            <a:pPr marL="12700">
              <a:lnSpc>
                <a:spcPct val="100000"/>
              </a:lnSpc>
              <a:spcBef>
                <a:spcPts val="95"/>
              </a:spcBef>
            </a:pPr>
            <a:r>
              <a:rPr sz="2500" b="0" spc="-10" dirty="0">
                <a:latin typeface="Calibri"/>
                <a:cs typeface="Calibri"/>
              </a:rPr>
              <a:t>Residual</a:t>
            </a:r>
            <a:r>
              <a:rPr sz="2500" b="0" spc="25" dirty="0">
                <a:latin typeface="Calibri"/>
                <a:cs typeface="Calibri"/>
              </a:rPr>
              <a:t> </a:t>
            </a:r>
            <a:r>
              <a:rPr sz="2500" b="0" spc="-10" dirty="0">
                <a:latin typeface="Calibri"/>
                <a:cs typeface="Calibri"/>
              </a:rPr>
              <a:t>analysis</a:t>
            </a:r>
            <a:r>
              <a:rPr sz="2500" b="0" dirty="0">
                <a:latin typeface="Calibri"/>
                <a:cs typeface="Calibri"/>
              </a:rPr>
              <a:t> is </a:t>
            </a:r>
            <a:r>
              <a:rPr sz="2500" b="0" spc="-10" dirty="0">
                <a:latin typeface="Calibri"/>
                <a:cs typeface="Calibri"/>
              </a:rPr>
              <a:t>based</a:t>
            </a:r>
            <a:r>
              <a:rPr sz="2500" b="0" dirty="0">
                <a:latin typeface="Calibri"/>
                <a:cs typeface="Calibri"/>
              </a:rPr>
              <a:t> </a:t>
            </a:r>
            <a:r>
              <a:rPr sz="2500" b="0" spc="-5" dirty="0">
                <a:latin typeface="Calibri"/>
                <a:cs typeface="Calibri"/>
              </a:rPr>
              <a:t>on</a:t>
            </a:r>
            <a:r>
              <a:rPr sz="2500" b="0" dirty="0">
                <a:latin typeface="Calibri"/>
                <a:cs typeface="Calibri"/>
              </a:rPr>
              <a:t> </a:t>
            </a:r>
            <a:r>
              <a:rPr sz="2500" b="0" spc="-5" dirty="0">
                <a:latin typeface="Calibri"/>
                <a:cs typeface="Calibri"/>
              </a:rPr>
              <a:t>an</a:t>
            </a:r>
            <a:r>
              <a:rPr sz="2500" b="0" dirty="0">
                <a:latin typeface="Calibri"/>
                <a:cs typeface="Calibri"/>
              </a:rPr>
              <a:t> </a:t>
            </a:r>
            <a:r>
              <a:rPr sz="2500" b="0" spc="-15" dirty="0">
                <a:latin typeface="Calibri"/>
                <a:cs typeface="Calibri"/>
              </a:rPr>
              <a:t>examination</a:t>
            </a:r>
            <a:r>
              <a:rPr sz="2500" b="0" dirty="0">
                <a:latin typeface="Calibri"/>
                <a:cs typeface="Calibri"/>
              </a:rPr>
              <a:t> </a:t>
            </a:r>
            <a:r>
              <a:rPr sz="2500" b="0" spc="-5" dirty="0">
                <a:latin typeface="Calibri"/>
                <a:cs typeface="Calibri"/>
              </a:rPr>
              <a:t>of</a:t>
            </a:r>
            <a:r>
              <a:rPr sz="2500" b="0" dirty="0">
                <a:latin typeface="Calibri"/>
                <a:cs typeface="Calibri"/>
              </a:rPr>
              <a:t> </a:t>
            </a:r>
            <a:r>
              <a:rPr sz="2500" b="0" spc="-10" dirty="0">
                <a:latin typeface="Calibri"/>
                <a:cs typeface="Calibri"/>
              </a:rPr>
              <a:t>graphical</a:t>
            </a:r>
            <a:r>
              <a:rPr sz="2500" b="0" spc="15" dirty="0">
                <a:latin typeface="Calibri"/>
                <a:cs typeface="Calibri"/>
              </a:rPr>
              <a:t> </a:t>
            </a:r>
            <a:r>
              <a:rPr sz="2500" b="0" spc="-5" dirty="0">
                <a:latin typeface="Calibri"/>
                <a:cs typeface="Calibri"/>
              </a:rPr>
              <a:t>plots</a:t>
            </a:r>
            <a:endParaRPr sz="25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18</a:t>
            </a:fld>
            <a:endParaRPr dirty="0"/>
          </a:p>
        </p:txBody>
      </p:sp>
      <p:sp>
        <p:nvSpPr>
          <p:cNvPr id="3" name="object 3"/>
          <p:cNvSpPr txBox="1"/>
          <p:nvPr/>
        </p:nvSpPr>
        <p:spPr>
          <a:xfrm>
            <a:off x="535940" y="1156563"/>
            <a:ext cx="7922259" cy="754053"/>
          </a:xfrm>
          <a:prstGeom prst="rect">
            <a:avLst/>
          </a:prstGeom>
        </p:spPr>
        <p:txBody>
          <a:bodyPr vert="horz" wrap="square" lIns="0" tIns="73660" rIns="0" bIns="0" rtlCol="0">
            <a:spAutoFit/>
          </a:bodyPr>
          <a:lstStyle/>
          <a:p>
            <a:pPr marL="355600" indent="-342900">
              <a:lnSpc>
                <a:spcPct val="100000"/>
              </a:lnSpc>
              <a:spcBef>
                <a:spcPts val="580"/>
              </a:spcBef>
              <a:buFont typeface="Arial MT"/>
              <a:buChar char="•"/>
              <a:tabLst>
                <a:tab pos="354965" algn="l"/>
                <a:tab pos="355600" algn="l"/>
              </a:tabLst>
            </a:pPr>
            <a:r>
              <a:rPr sz="2000" dirty="0">
                <a:latin typeface="Calibri"/>
                <a:cs typeface="Calibri"/>
              </a:rPr>
              <a:t>A</a:t>
            </a:r>
            <a:r>
              <a:rPr sz="2000" spc="-5" dirty="0">
                <a:latin typeface="Calibri"/>
                <a:cs typeface="Calibri"/>
              </a:rPr>
              <a:t> </a:t>
            </a:r>
            <a:r>
              <a:rPr sz="2000" dirty="0">
                <a:latin typeface="Calibri"/>
                <a:cs typeface="Calibri"/>
              </a:rPr>
              <a:t>plot </a:t>
            </a:r>
            <a:r>
              <a:rPr sz="2000" spc="-5" dirty="0">
                <a:latin typeface="Calibri"/>
                <a:cs typeface="Calibri"/>
              </a:rPr>
              <a:t>of </a:t>
            </a:r>
            <a:r>
              <a:rPr sz="2000" dirty="0">
                <a:latin typeface="Calibri"/>
                <a:cs typeface="Calibri"/>
              </a:rPr>
              <a:t>the</a:t>
            </a:r>
            <a:r>
              <a:rPr sz="2000" spc="-10" dirty="0">
                <a:latin typeface="Calibri"/>
                <a:cs typeface="Calibri"/>
              </a:rPr>
              <a:t> </a:t>
            </a:r>
            <a:r>
              <a:rPr sz="2000" spc="-5" dirty="0">
                <a:latin typeface="Calibri"/>
                <a:cs typeface="Calibri"/>
              </a:rPr>
              <a:t>residuals</a:t>
            </a:r>
            <a:r>
              <a:rPr sz="2000" spc="15" dirty="0">
                <a:latin typeface="Calibri"/>
                <a:cs typeface="Calibri"/>
              </a:rPr>
              <a:t> </a:t>
            </a:r>
            <a:r>
              <a:rPr sz="2000" spc="-10" dirty="0">
                <a:latin typeface="Calibri"/>
                <a:cs typeface="Calibri"/>
              </a:rPr>
              <a:t>against</a:t>
            </a:r>
            <a:r>
              <a:rPr sz="2000" dirty="0">
                <a:latin typeface="Calibri"/>
                <a:cs typeface="Calibri"/>
              </a:rPr>
              <a:t> </a:t>
            </a:r>
            <a:r>
              <a:rPr sz="2000" spc="-5" dirty="0">
                <a:latin typeface="Calibri"/>
                <a:cs typeface="Calibri"/>
              </a:rPr>
              <a:t>values</a:t>
            </a:r>
            <a:r>
              <a:rPr sz="2000" dirty="0">
                <a:latin typeface="Calibri"/>
                <a:cs typeface="Calibri"/>
              </a:rPr>
              <a:t> </a:t>
            </a:r>
            <a:r>
              <a:rPr sz="2000" spc="-5" dirty="0">
                <a:latin typeface="Calibri"/>
                <a:cs typeface="Calibri"/>
              </a:rPr>
              <a:t>of </a:t>
            </a:r>
            <a:r>
              <a:rPr sz="2000" dirty="0">
                <a:latin typeface="Calibri"/>
                <a:cs typeface="Calibri"/>
              </a:rPr>
              <a:t>the independent</a:t>
            </a:r>
            <a:r>
              <a:rPr sz="2000" spc="-20" dirty="0">
                <a:latin typeface="Calibri"/>
                <a:cs typeface="Calibri"/>
              </a:rPr>
              <a:t> </a:t>
            </a:r>
            <a:r>
              <a:rPr sz="2000" spc="-5" dirty="0">
                <a:latin typeface="Calibri"/>
                <a:cs typeface="Calibri"/>
              </a:rPr>
              <a:t>variable</a:t>
            </a:r>
            <a:r>
              <a:rPr sz="2000" spc="-30" dirty="0">
                <a:latin typeface="Calibri"/>
                <a:cs typeface="Calibri"/>
              </a:rPr>
              <a:t> </a:t>
            </a:r>
            <a:r>
              <a:rPr sz="2000" i="1" dirty="0">
                <a:latin typeface="Calibri"/>
                <a:cs typeface="Calibri"/>
              </a:rPr>
              <a:t>x</a:t>
            </a:r>
            <a:endParaRPr sz="2000" dirty="0">
              <a:latin typeface="Calibri"/>
              <a:cs typeface="Calibri"/>
            </a:endParaRPr>
          </a:p>
          <a:p>
            <a:pPr marL="355600" indent="-342900">
              <a:lnSpc>
                <a:spcPct val="100000"/>
              </a:lnSpc>
              <a:spcBef>
                <a:spcPts val="480"/>
              </a:spcBef>
              <a:buFont typeface="Arial MT"/>
              <a:buChar char="•"/>
              <a:tabLst>
                <a:tab pos="354965" algn="l"/>
                <a:tab pos="355600" algn="l"/>
              </a:tabLst>
            </a:pPr>
            <a:r>
              <a:rPr sz="2000" dirty="0">
                <a:latin typeface="Calibri"/>
                <a:cs typeface="Calibri"/>
              </a:rPr>
              <a:t>A</a:t>
            </a:r>
            <a:r>
              <a:rPr sz="2000" spc="-5" dirty="0">
                <a:latin typeface="Calibri"/>
                <a:cs typeface="Calibri"/>
              </a:rPr>
              <a:t> </a:t>
            </a:r>
            <a:r>
              <a:rPr sz="2000" dirty="0">
                <a:latin typeface="Calibri"/>
                <a:cs typeface="Calibri"/>
              </a:rPr>
              <a:t>plot</a:t>
            </a:r>
            <a:r>
              <a:rPr sz="2000" spc="5" dirty="0">
                <a:latin typeface="Calibri"/>
                <a:cs typeface="Calibri"/>
              </a:rPr>
              <a:t> </a:t>
            </a:r>
            <a:r>
              <a:rPr sz="2000" spc="-5" dirty="0">
                <a:latin typeface="Calibri"/>
                <a:cs typeface="Calibri"/>
              </a:rPr>
              <a:t>of</a:t>
            </a:r>
            <a:r>
              <a:rPr sz="2000" dirty="0">
                <a:latin typeface="Calibri"/>
                <a:cs typeface="Calibri"/>
              </a:rPr>
              <a:t> </a:t>
            </a:r>
            <a:r>
              <a:rPr sz="2000" spc="-5" dirty="0">
                <a:latin typeface="Calibri"/>
                <a:cs typeface="Calibri"/>
              </a:rPr>
              <a:t>residuals</a:t>
            </a:r>
            <a:r>
              <a:rPr sz="2000" spc="10" dirty="0">
                <a:latin typeface="Calibri"/>
                <a:cs typeface="Calibri"/>
              </a:rPr>
              <a:t> </a:t>
            </a:r>
            <a:r>
              <a:rPr sz="2000" spc="-10" dirty="0">
                <a:latin typeface="Calibri"/>
                <a:cs typeface="Calibri"/>
              </a:rPr>
              <a:t>against</a:t>
            </a:r>
            <a:r>
              <a:rPr sz="2000" spc="5" dirty="0">
                <a:latin typeface="Calibri"/>
                <a:cs typeface="Calibri"/>
              </a:rPr>
              <a:t> </a:t>
            </a:r>
            <a:r>
              <a:rPr sz="2000" dirty="0">
                <a:latin typeface="Calibri"/>
                <a:cs typeface="Calibri"/>
              </a:rPr>
              <a:t>the</a:t>
            </a:r>
            <a:r>
              <a:rPr sz="2000" spc="5" dirty="0">
                <a:latin typeface="Calibri"/>
                <a:cs typeface="Calibri"/>
              </a:rPr>
              <a:t> </a:t>
            </a:r>
            <a:r>
              <a:rPr sz="2000" spc="-5" dirty="0">
                <a:latin typeface="Calibri"/>
                <a:cs typeface="Calibri"/>
              </a:rPr>
              <a:t>predicted</a:t>
            </a:r>
            <a:r>
              <a:rPr sz="2000" dirty="0">
                <a:latin typeface="Calibri"/>
                <a:cs typeface="Calibri"/>
              </a:rPr>
              <a:t> </a:t>
            </a:r>
            <a:r>
              <a:rPr sz="2000" spc="-5" dirty="0">
                <a:latin typeface="Calibri"/>
                <a:cs typeface="Calibri"/>
              </a:rPr>
              <a:t>values</a:t>
            </a:r>
            <a:r>
              <a:rPr sz="2000" spc="10" dirty="0">
                <a:latin typeface="Calibri"/>
                <a:cs typeface="Calibri"/>
              </a:rPr>
              <a:t> </a:t>
            </a:r>
            <a:r>
              <a:rPr sz="2000" spc="-5" dirty="0">
                <a:latin typeface="Calibri"/>
                <a:cs typeface="Calibri"/>
              </a:rPr>
              <a:t>of</a:t>
            </a:r>
            <a:r>
              <a:rPr sz="2000" dirty="0">
                <a:latin typeface="Calibri"/>
                <a:cs typeface="Calibri"/>
              </a:rPr>
              <a:t> the</a:t>
            </a:r>
            <a:r>
              <a:rPr sz="2000" spc="-5" dirty="0">
                <a:latin typeface="Calibri"/>
                <a:cs typeface="Calibri"/>
              </a:rPr>
              <a:t> dependent variable</a:t>
            </a:r>
            <a:endParaRPr sz="2000" dirty="0">
              <a:latin typeface="Calibri"/>
              <a:cs typeface="Calibri"/>
            </a:endParaRPr>
          </a:p>
        </p:txBody>
      </p:sp>
      <p:sp>
        <p:nvSpPr>
          <p:cNvPr id="4" name="object 4"/>
          <p:cNvSpPr txBox="1"/>
          <p:nvPr/>
        </p:nvSpPr>
        <p:spPr>
          <a:xfrm>
            <a:off x="8520683" y="1424939"/>
            <a:ext cx="516890" cy="619125"/>
          </a:xfrm>
          <a:prstGeom prst="rect">
            <a:avLst/>
          </a:prstGeom>
          <a:solidFill>
            <a:srgbClr val="FFFFFF"/>
          </a:solidFill>
        </p:spPr>
        <p:txBody>
          <a:bodyPr vert="horz" wrap="square" lIns="0" tIns="30480" rIns="0" bIns="0" rtlCol="0">
            <a:spAutoFit/>
          </a:bodyPr>
          <a:lstStyle/>
          <a:p>
            <a:pPr marL="163830">
              <a:lnSpc>
                <a:spcPts val="1420"/>
              </a:lnSpc>
              <a:spcBef>
                <a:spcPts val="240"/>
              </a:spcBef>
            </a:pPr>
            <a:r>
              <a:rPr sz="1400" spc="545" dirty="0">
                <a:latin typeface="Times New Roman"/>
                <a:cs typeface="Times New Roman"/>
              </a:rPr>
              <a:t>^</a:t>
            </a:r>
            <a:endParaRPr sz="1400">
              <a:latin typeface="Times New Roman"/>
              <a:cs typeface="Times New Roman"/>
            </a:endParaRPr>
          </a:p>
          <a:p>
            <a:pPr marL="137795">
              <a:lnSpc>
                <a:spcPts val="2680"/>
              </a:lnSpc>
            </a:pPr>
            <a:r>
              <a:rPr sz="2450" i="1" spc="880" dirty="0">
                <a:latin typeface="Times New Roman"/>
                <a:cs typeface="Times New Roman"/>
              </a:rPr>
              <a:t>y</a:t>
            </a:r>
            <a:endParaRPr sz="245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0266" y="385953"/>
            <a:ext cx="3363595" cy="452120"/>
          </a:xfrm>
          <a:prstGeom prst="rect">
            <a:avLst/>
          </a:prstGeom>
        </p:spPr>
        <p:txBody>
          <a:bodyPr vert="horz" wrap="square" lIns="0" tIns="12065" rIns="0" bIns="0" rtlCol="0">
            <a:spAutoFit/>
          </a:bodyPr>
          <a:lstStyle/>
          <a:p>
            <a:pPr marL="12700">
              <a:lnSpc>
                <a:spcPct val="100000"/>
              </a:lnSpc>
              <a:spcBef>
                <a:spcPts val="95"/>
              </a:spcBef>
            </a:pPr>
            <a:r>
              <a:rPr spc="-15" dirty="0"/>
              <a:t>Residual</a:t>
            </a:r>
            <a:r>
              <a:rPr spc="10" dirty="0"/>
              <a:t> </a:t>
            </a:r>
            <a:r>
              <a:rPr spc="-10" dirty="0"/>
              <a:t>Plot </a:t>
            </a:r>
            <a:r>
              <a:rPr spc="-20" dirty="0"/>
              <a:t>Against</a:t>
            </a:r>
            <a:r>
              <a:rPr spc="55" dirty="0"/>
              <a:t> </a:t>
            </a:r>
            <a:r>
              <a:rPr i="1" spc="-5" dirty="0">
                <a:latin typeface="Calibri"/>
                <a:cs typeface="Calibri"/>
              </a:rPr>
              <a:t>x</a:t>
            </a:r>
          </a:p>
        </p:txBody>
      </p:sp>
      <p:pic>
        <p:nvPicPr>
          <p:cNvPr id="3" name="object 3"/>
          <p:cNvPicPr/>
          <p:nvPr/>
        </p:nvPicPr>
        <p:blipFill>
          <a:blip r:embed="rId2" cstate="print"/>
          <a:stretch>
            <a:fillRect/>
          </a:stretch>
        </p:blipFill>
        <p:spPr>
          <a:xfrm>
            <a:off x="1604772" y="935736"/>
            <a:ext cx="5934456" cy="3658806"/>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0266" y="385953"/>
            <a:ext cx="3363595" cy="452120"/>
          </a:xfrm>
          <a:prstGeom prst="rect">
            <a:avLst/>
          </a:prstGeom>
        </p:spPr>
        <p:txBody>
          <a:bodyPr vert="horz" wrap="square" lIns="0" tIns="12065" rIns="0" bIns="0" rtlCol="0">
            <a:spAutoFit/>
          </a:bodyPr>
          <a:lstStyle/>
          <a:p>
            <a:pPr marL="12700">
              <a:lnSpc>
                <a:spcPct val="100000"/>
              </a:lnSpc>
              <a:spcBef>
                <a:spcPts val="95"/>
              </a:spcBef>
            </a:pPr>
            <a:r>
              <a:rPr spc="-15" dirty="0"/>
              <a:t>Residual</a:t>
            </a:r>
            <a:r>
              <a:rPr spc="10" dirty="0"/>
              <a:t> </a:t>
            </a:r>
            <a:r>
              <a:rPr spc="-10" dirty="0"/>
              <a:t>Plot </a:t>
            </a:r>
            <a:r>
              <a:rPr spc="-20" dirty="0"/>
              <a:t>Against</a:t>
            </a:r>
            <a:r>
              <a:rPr spc="55" dirty="0"/>
              <a:t> </a:t>
            </a:r>
            <a:r>
              <a:rPr i="1" spc="-5" dirty="0">
                <a:latin typeface="Calibri"/>
                <a:cs typeface="Calibri"/>
              </a:rPr>
              <a:t>x</a:t>
            </a:r>
          </a:p>
        </p:txBody>
      </p:sp>
      <p:pic>
        <p:nvPicPr>
          <p:cNvPr id="3" name="object 3"/>
          <p:cNvPicPr/>
          <p:nvPr/>
        </p:nvPicPr>
        <p:blipFill>
          <a:blip r:embed="rId2" cstate="print"/>
          <a:stretch>
            <a:fillRect/>
          </a:stretch>
        </p:blipFill>
        <p:spPr>
          <a:xfrm>
            <a:off x="1752600" y="1124711"/>
            <a:ext cx="5436108" cy="3317748"/>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1906" y="385953"/>
            <a:ext cx="8001634" cy="452120"/>
          </a:xfrm>
          <a:prstGeom prst="rect">
            <a:avLst/>
          </a:prstGeom>
        </p:spPr>
        <p:txBody>
          <a:bodyPr vert="horz" wrap="square" lIns="0" tIns="12065" rIns="0" bIns="0" rtlCol="0">
            <a:spAutoFit/>
          </a:bodyPr>
          <a:lstStyle/>
          <a:p>
            <a:pPr marL="12700">
              <a:lnSpc>
                <a:spcPct val="100000"/>
              </a:lnSpc>
              <a:spcBef>
                <a:spcPts val="95"/>
              </a:spcBef>
              <a:tabLst>
                <a:tab pos="3846195" algn="l"/>
              </a:tabLst>
            </a:pPr>
            <a:r>
              <a:rPr b="0" spc="-5" dirty="0">
                <a:latin typeface="Calibri"/>
                <a:cs typeface="Calibri"/>
              </a:rPr>
              <a:t>Assumption:</a:t>
            </a:r>
            <a:r>
              <a:rPr b="0" spc="65" dirty="0">
                <a:latin typeface="Calibri"/>
                <a:cs typeface="Calibri"/>
              </a:rPr>
              <a:t> </a:t>
            </a:r>
            <a:r>
              <a:rPr b="0" spc="-5" dirty="0">
                <a:latin typeface="Calibri"/>
                <a:cs typeface="Calibri"/>
              </a:rPr>
              <a:t>the</a:t>
            </a:r>
            <a:r>
              <a:rPr b="0" spc="15" dirty="0">
                <a:latin typeface="Calibri"/>
                <a:cs typeface="Calibri"/>
              </a:rPr>
              <a:t> </a:t>
            </a:r>
            <a:r>
              <a:rPr b="0" spc="-10" dirty="0">
                <a:latin typeface="Calibri"/>
                <a:cs typeface="Calibri"/>
              </a:rPr>
              <a:t>variance	is</a:t>
            </a:r>
            <a:r>
              <a:rPr b="0" spc="5" dirty="0">
                <a:latin typeface="Calibri"/>
                <a:cs typeface="Calibri"/>
              </a:rPr>
              <a:t> </a:t>
            </a:r>
            <a:r>
              <a:rPr b="0" spc="-5" dirty="0">
                <a:latin typeface="Calibri"/>
                <a:cs typeface="Calibri"/>
              </a:rPr>
              <a:t>the</a:t>
            </a:r>
            <a:r>
              <a:rPr b="0" dirty="0">
                <a:latin typeface="Calibri"/>
                <a:cs typeface="Calibri"/>
              </a:rPr>
              <a:t> </a:t>
            </a:r>
            <a:r>
              <a:rPr b="0" spc="-10" dirty="0">
                <a:latin typeface="Calibri"/>
                <a:cs typeface="Calibri"/>
              </a:rPr>
              <a:t>same</a:t>
            </a:r>
            <a:r>
              <a:rPr b="0" spc="-5" dirty="0">
                <a:latin typeface="Calibri"/>
                <a:cs typeface="Calibri"/>
              </a:rPr>
              <a:t> </a:t>
            </a:r>
            <a:r>
              <a:rPr b="0" spc="-25" dirty="0">
                <a:latin typeface="Calibri"/>
                <a:cs typeface="Calibri"/>
              </a:rPr>
              <a:t>for</a:t>
            </a:r>
            <a:r>
              <a:rPr b="0" dirty="0">
                <a:latin typeface="Calibri"/>
                <a:cs typeface="Calibri"/>
              </a:rPr>
              <a:t> </a:t>
            </a:r>
            <a:r>
              <a:rPr b="0" spc="-5" dirty="0">
                <a:latin typeface="Calibri"/>
                <a:cs typeface="Calibri"/>
              </a:rPr>
              <a:t>all</a:t>
            </a:r>
            <a:r>
              <a:rPr b="0" spc="-10" dirty="0">
                <a:latin typeface="Calibri"/>
                <a:cs typeface="Calibri"/>
              </a:rPr>
              <a:t> </a:t>
            </a:r>
            <a:r>
              <a:rPr b="0" spc="-15" dirty="0">
                <a:latin typeface="Calibri"/>
                <a:cs typeface="Calibri"/>
              </a:rPr>
              <a:t>values</a:t>
            </a:r>
            <a:r>
              <a:rPr b="0" spc="-5" dirty="0">
                <a:latin typeface="Calibri"/>
                <a:cs typeface="Calibri"/>
              </a:rPr>
              <a:t> </a:t>
            </a:r>
            <a:r>
              <a:rPr b="0" dirty="0">
                <a:latin typeface="Calibri"/>
                <a:cs typeface="Calibri"/>
              </a:rPr>
              <a:t>of</a:t>
            </a:r>
            <a:r>
              <a:rPr b="0" spc="25" dirty="0">
                <a:latin typeface="Calibri"/>
                <a:cs typeface="Calibri"/>
              </a:rPr>
              <a:t> </a:t>
            </a:r>
            <a:r>
              <a:rPr b="0" i="1" spc="-5" dirty="0">
                <a:latin typeface="Calibri"/>
                <a:cs typeface="Calibri"/>
              </a:rPr>
              <a:t>x</a:t>
            </a:r>
          </a:p>
        </p:txBody>
      </p:sp>
      <p:pic>
        <p:nvPicPr>
          <p:cNvPr id="3" name="object 3"/>
          <p:cNvPicPr/>
          <p:nvPr/>
        </p:nvPicPr>
        <p:blipFill>
          <a:blip r:embed="rId2" cstate="print"/>
          <a:stretch>
            <a:fillRect/>
          </a:stretch>
        </p:blipFill>
        <p:spPr>
          <a:xfrm>
            <a:off x="528827" y="1717548"/>
            <a:ext cx="4011167" cy="2120518"/>
          </a:xfrm>
          <a:prstGeom prst="rect">
            <a:avLst/>
          </a:prstGeom>
        </p:spPr>
      </p:pic>
      <p:sp>
        <p:nvSpPr>
          <p:cNvPr id="4" name="object 4"/>
          <p:cNvSpPr txBox="1"/>
          <p:nvPr/>
        </p:nvSpPr>
        <p:spPr>
          <a:xfrm>
            <a:off x="4727575" y="1522221"/>
            <a:ext cx="3794760" cy="941069"/>
          </a:xfrm>
          <a:prstGeom prst="rect">
            <a:avLst/>
          </a:prstGeom>
        </p:spPr>
        <p:txBody>
          <a:bodyPr vert="horz" wrap="square" lIns="0" tIns="13335" rIns="0" bIns="0" rtlCol="0">
            <a:spAutoFit/>
          </a:bodyPr>
          <a:lstStyle/>
          <a:p>
            <a:pPr marL="355600" marR="5080" indent="-343535">
              <a:lnSpc>
                <a:spcPct val="100000"/>
              </a:lnSpc>
              <a:spcBef>
                <a:spcPts val="105"/>
              </a:spcBef>
              <a:buFont typeface="Arial MT"/>
              <a:buChar char="•"/>
              <a:tabLst>
                <a:tab pos="355600" algn="l"/>
                <a:tab pos="356235" algn="l"/>
              </a:tabLst>
            </a:pPr>
            <a:r>
              <a:rPr sz="2000" spc="-5" dirty="0">
                <a:latin typeface="Calibri"/>
                <a:cs typeface="Calibri"/>
              </a:rPr>
              <a:t>The residual plot should </a:t>
            </a:r>
            <a:r>
              <a:rPr sz="2000" spc="-10" dirty="0">
                <a:latin typeface="Calibri"/>
                <a:cs typeface="Calibri"/>
              </a:rPr>
              <a:t>give </a:t>
            </a:r>
            <a:r>
              <a:rPr sz="2000" dirty="0">
                <a:latin typeface="Calibri"/>
                <a:cs typeface="Calibri"/>
              </a:rPr>
              <a:t>an </a:t>
            </a:r>
            <a:r>
              <a:rPr sz="2000" spc="5" dirty="0">
                <a:latin typeface="Calibri"/>
                <a:cs typeface="Calibri"/>
              </a:rPr>
              <a:t> </a:t>
            </a:r>
            <a:r>
              <a:rPr sz="2000" spc="-15" dirty="0">
                <a:latin typeface="Calibri"/>
                <a:cs typeface="Calibri"/>
              </a:rPr>
              <a:t>overall</a:t>
            </a:r>
            <a:r>
              <a:rPr sz="2000" dirty="0">
                <a:latin typeface="Calibri"/>
                <a:cs typeface="Calibri"/>
              </a:rPr>
              <a:t> </a:t>
            </a:r>
            <a:r>
              <a:rPr sz="2000" spc="-5" dirty="0">
                <a:latin typeface="Calibri"/>
                <a:cs typeface="Calibri"/>
              </a:rPr>
              <a:t>impression</a:t>
            </a:r>
            <a:r>
              <a:rPr sz="2000" spc="10" dirty="0">
                <a:latin typeface="Calibri"/>
                <a:cs typeface="Calibri"/>
              </a:rPr>
              <a:t> </a:t>
            </a:r>
            <a:r>
              <a:rPr sz="2000" spc="-5" dirty="0">
                <a:latin typeface="Calibri"/>
                <a:cs typeface="Calibri"/>
              </a:rPr>
              <a:t>of</a:t>
            </a:r>
            <a:r>
              <a:rPr sz="2000" spc="-10" dirty="0">
                <a:latin typeface="Calibri"/>
                <a:cs typeface="Calibri"/>
              </a:rPr>
              <a:t> </a:t>
            </a:r>
            <a:r>
              <a:rPr sz="2000" dirty="0">
                <a:latin typeface="Calibri"/>
                <a:cs typeface="Calibri"/>
              </a:rPr>
              <a:t>a </a:t>
            </a:r>
            <a:r>
              <a:rPr sz="2000" spc="-15" dirty="0">
                <a:latin typeface="Calibri"/>
                <a:cs typeface="Calibri"/>
              </a:rPr>
              <a:t>horizontal </a:t>
            </a:r>
            <a:r>
              <a:rPr sz="2000" spc="-440" dirty="0">
                <a:latin typeface="Calibri"/>
                <a:cs typeface="Calibri"/>
              </a:rPr>
              <a:t> </a:t>
            </a:r>
            <a:r>
              <a:rPr sz="2000" dirty="0">
                <a:latin typeface="Calibri"/>
                <a:cs typeface="Calibri"/>
              </a:rPr>
              <a:t>band</a:t>
            </a:r>
            <a:r>
              <a:rPr sz="2000" spc="-25"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points</a:t>
            </a:r>
            <a:endParaRPr sz="20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21</a:t>
            </a:fld>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3262" y="172592"/>
            <a:ext cx="7639050" cy="878840"/>
          </a:xfrm>
          <a:prstGeom prst="rect">
            <a:avLst/>
          </a:prstGeom>
        </p:spPr>
        <p:txBody>
          <a:bodyPr vert="horz" wrap="square" lIns="0" tIns="12065" rIns="0" bIns="0" rtlCol="0">
            <a:spAutoFit/>
          </a:bodyPr>
          <a:lstStyle/>
          <a:p>
            <a:pPr algn="ctr">
              <a:lnSpc>
                <a:spcPct val="100000"/>
              </a:lnSpc>
              <a:spcBef>
                <a:spcPts val="95"/>
              </a:spcBef>
            </a:pPr>
            <a:r>
              <a:rPr spc="-10" dirty="0"/>
              <a:t>Violation</a:t>
            </a:r>
            <a:r>
              <a:rPr spc="-20" dirty="0"/>
              <a:t> </a:t>
            </a:r>
            <a:r>
              <a:rPr spc="-5" dirty="0"/>
              <a:t>of</a:t>
            </a:r>
            <a:r>
              <a:rPr spc="-10" dirty="0"/>
              <a:t> </a:t>
            </a:r>
            <a:r>
              <a:rPr spc="-5" dirty="0"/>
              <a:t>Assumption:</a:t>
            </a:r>
          </a:p>
          <a:p>
            <a:pPr algn="ctr">
              <a:lnSpc>
                <a:spcPct val="100000"/>
              </a:lnSpc>
            </a:pPr>
            <a:r>
              <a:rPr spc="-10" dirty="0"/>
              <a:t>The</a:t>
            </a:r>
            <a:r>
              <a:rPr spc="-5" dirty="0"/>
              <a:t> </a:t>
            </a:r>
            <a:r>
              <a:rPr spc="-10" dirty="0"/>
              <a:t>variance</a:t>
            </a:r>
            <a:r>
              <a:rPr spc="45" dirty="0"/>
              <a:t> </a:t>
            </a:r>
            <a:r>
              <a:rPr spc="-5" dirty="0"/>
              <a:t>of</a:t>
            </a:r>
            <a:r>
              <a:rPr spc="5" dirty="0"/>
              <a:t> </a:t>
            </a:r>
            <a:r>
              <a:rPr spc="-40" dirty="0"/>
              <a:t>‘e’</a:t>
            </a:r>
            <a:r>
              <a:rPr spc="15" dirty="0"/>
              <a:t> </a:t>
            </a:r>
            <a:r>
              <a:rPr spc="-5" dirty="0"/>
              <a:t>is</a:t>
            </a:r>
            <a:r>
              <a:rPr spc="5" dirty="0"/>
              <a:t> </a:t>
            </a:r>
            <a:r>
              <a:rPr spc="-5" dirty="0"/>
              <a:t>not</a:t>
            </a:r>
            <a:r>
              <a:rPr spc="5" dirty="0"/>
              <a:t> </a:t>
            </a:r>
            <a:r>
              <a:rPr spc="-5" dirty="0"/>
              <a:t>the</a:t>
            </a:r>
            <a:r>
              <a:rPr spc="15" dirty="0"/>
              <a:t> </a:t>
            </a:r>
            <a:r>
              <a:rPr spc="-5" dirty="0"/>
              <a:t>same</a:t>
            </a:r>
            <a:r>
              <a:rPr spc="15" dirty="0"/>
              <a:t> </a:t>
            </a:r>
            <a:r>
              <a:rPr spc="-20" dirty="0"/>
              <a:t>for</a:t>
            </a:r>
            <a:r>
              <a:rPr spc="15" dirty="0"/>
              <a:t> </a:t>
            </a:r>
            <a:r>
              <a:rPr spc="-5" dirty="0"/>
              <a:t>all</a:t>
            </a:r>
            <a:r>
              <a:rPr spc="10" dirty="0"/>
              <a:t> </a:t>
            </a:r>
            <a:r>
              <a:rPr spc="-15" dirty="0"/>
              <a:t>values</a:t>
            </a:r>
            <a:r>
              <a:rPr spc="20" dirty="0"/>
              <a:t> </a:t>
            </a:r>
            <a:r>
              <a:rPr spc="-5" dirty="0"/>
              <a:t>of</a:t>
            </a:r>
            <a:r>
              <a:rPr spc="5" dirty="0"/>
              <a:t> </a:t>
            </a:r>
            <a:r>
              <a:rPr i="1" spc="-5" dirty="0">
                <a:latin typeface="Calibri"/>
                <a:cs typeface="Calibri"/>
              </a:rPr>
              <a:t>x</a:t>
            </a:r>
          </a:p>
        </p:txBody>
      </p:sp>
      <p:sp>
        <p:nvSpPr>
          <p:cNvPr id="3" name="object 3"/>
          <p:cNvSpPr txBox="1"/>
          <p:nvPr/>
        </p:nvSpPr>
        <p:spPr>
          <a:xfrm>
            <a:off x="4727575" y="1480261"/>
            <a:ext cx="3773804" cy="1612265"/>
          </a:xfrm>
          <a:prstGeom prst="rect">
            <a:avLst/>
          </a:prstGeom>
        </p:spPr>
        <p:txBody>
          <a:bodyPr vert="horz" wrap="square" lIns="0" tIns="13335" rIns="0" bIns="0" rtlCol="0">
            <a:spAutoFit/>
          </a:bodyPr>
          <a:lstStyle/>
          <a:p>
            <a:pPr marL="355600" indent="-343535" algn="just">
              <a:lnSpc>
                <a:spcPct val="100000"/>
              </a:lnSpc>
              <a:spcBef>
                <a:spcPts val="105"/>
              </a:spcBef>
              <a:buFont typeface="Arial MT"/>
              <a:buChar char="•"/>
              <a:tabLst>
                <a:tab pos="356235" algn="l"/>
              </a:tabLst>
            </a:pPr>
            <a:r>
              <a:rPr sz="2000" spc="-5" dirty="0">
                <a:latin typeface="Calibri"/>
                <a:cs typeface="Calibri"/>
              </a:rPr>
              <a:t>Assumption</a:t>
            </a:r>
            <a:r>
              <a:rPr sz="2000" spc="-15" dirty="0">
                <a:latin typeface="Calibri"/>
                <a:cs typeface="Calibri"/>
              </a:rPr>
              <a:t> </a:t>
            </a:r>
            <a:r>
              <a:rPr sz="2000" dirty="0">
                <a:latin typeface="Calibri"/>
                <a:cs typeface="Calibri"/>
              </a:rPr>
              <a:t>of</a:t>
            </a:r>
            <a:r>
              <a:rPr sz="2000" spc="-30" dirty="0">
                <a:latin typeface="Calibri"/>
                <a:cs typeface="Calibri"/>
              </a:rPr>
              <a:t> </a:t>
            </a:r>
            <a:r>
              <a:rPr sz="2000" dirty="0">
                <a:latin typeface="Calibri"/>
                <a:cs typeface="Calibri"/>
              </a:rPr>
              <a:t>a</a:t>
            </a:r>
            <a:r>
              <a:rPr sz="2000" spc="-10" dirty="0">
                <a:latin typeface="Calibri"/>
                <a:cs typeface="Calibri"/>
              </a:rPr>
              <a:t> constant</a:t>
            </a:r>
            <a:endParaRPr sz="2000">
              <a:latin typeface="Calibri"/>
              <a:cs typeface="Calibri"/>
            </a:endParaRPr>
          </a:p>
          <a:p>
            <a:pPr marL="355600" algn="just">
              <a:lnSpc>
                <a:spcPct val="100000"/>
              </a:lnSpc>
            </a:pPr>
            <a:r>
              <a:rPr sz="2000" spc="-5" dirty="0">
                <a:latin typeface="Calibri"/>
                <a:cs typeface="Calibri"/>
              </a:rPr>
              <a:t>variance</a:t>
            </a:r>
            <a:r>
              <a:rPr sz="2000" spc="-10" dirty="0">
                <a:latin typeface="Calibri"/>
                <a:cs typeface="Calibri"/>
              </a:rPr>
              <a:t> </a:t>
            </a:r>
            <a:r>
              <a:rPr sz="2000" spc="-5" dirty="0">
                <a:latin typeface="Calibri"/>
                <a:cs typeface="Calibri"/>
              </a:rPr>
              <a:t>of</a:t>
            </a:r>
            <a:r>
              <a:rPr sz="2000" spc="-15" dirty="0">
                <a:latin typeface="Calibri"/>
                <a:cs typeface="Calibri"/>
              </a:rPr>
              <a:t> </a:t>
            </a:r>
            <a:r>
              <a:rPr sz="2000" spc="-30" dirty="0">
                <a:latin typeface="Calibri"/>
                <a:cs typeface="Calibri"/>
              </a:rPr>
              <a:t>‘e’</a:t>
            </a:r>
            <a:r>
              <a:rPr sz="2000" spc="-20" dirty="0">
                <a:latin typeface="Calibri"/>
                <a:cs typeface="Calibri"/>
              </a:rPr>
              <a:t> </a:t>
            </a:r>
            <a:r>
              <a:rPr sz="2000" dirty="0">
                <a:latin typeface="Calibri"/>
                <a:cs typeface="Calibri"/>
              </a:rPr>
              <a:t>is </a:t>
            </a:r>
            <a:r>
              <a:rPr sz="2000" spc="-10" dirty="0">
                <a:latin typeface="Calibri"/>
                <a:cs typeface="Calibri"/>
              </a:rPr>
              <a:t>violated</a:t>
            </a:r>
            <a:endParaRPr sz="2000">
              <a:latin typeface="Calibri"/>
              <a:cs typeface="Calibri"/>
            </a:endParaRPr>
          </a:p>
          <a:p>
            <a:pPr marL="355600" marR="5080" indent="-343535" algn="just">
              <a:lnSpc>
                <a:spcPct val="100000"/>
              </a:lnSpc>
              <a:spcBef>
                <a:spcPts val="480"/>
              </a:spcBef>
              <a:buFont typeface="Arial MT"/>
              <a:buChar char="•"/>
              <a:tabLst>
                <a:tab pos="356235" algn="l"/>
              </a:tabLst>
            </a:pPr>
            <a:r>
              <a:rPr sz="2000" dirty="0">
                <a:latin typeface="Calibri"/>
                <a:cs typeface="Calibri"/>
              </a:rPr>
              <a:t>If</a:t>
            </a:r>
            <a:r>
              <a:rPr sz="2000" spc="-25" dirty="0">
                <a:latin typeface="Calibri"/>
                <a:cs typeface="Calibri"/>
              </a:rPr>
              <a:t> </a:t>
            </a:r>
            <a:r>
              <a:rPr sz="2000" spc="-5" dirty="0">
                <a:latin typeface="Calibri"/>
                <a:cs typeface="Calibri"/>
              </a:rPr>
              <a:t>variability</a:t>
            </a:r>
            <a:r>
              <a:rPr sz="2000" dirty="0">
                <a:latin typeface="Calibri"/>
                <a:cs typeface="Calibri"/>
              </a:rPr>
              <a:t> about</a:t>
            </a:r>
            <a:r>
              <a:rPr sz="2000" spc="-35"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regression </a:t>
            </a:r>
            <a:r>
              <a:rPr sz="2000" spc="-440" dirty="0">
                <a:latin typeface="Calibri"/>
                <a:cs typeface="Calibri"/>
              </a:rPr>
              <a:t> </a:t>
            </a:r>
            <a:r>
              <a:rPr sz="2000" spc="-5" dirty="0">
                <a:latin typeface="Calibri"/>
                <a:cs typeface="Calibri"/>
              </a:rPr>
              <a:t>line </a:t>
            </a:r>
            <a:r>
              <a:rPr sz="2000" dirty="0">
                <a:latin typeface="Calibri"/>
                <a:cs typeface="Calibri"/>
              </a:rPr>
              <a:t>is </a:t>
            </a:r>
            <a:r>
              <a:rPr sz="2000" spc="-10" dirty="0">
                <a:latin typeface="Calibri"/>
                <a:cs typeface="Calibri"/>
              </a:rPr>
              <a:t>greater </a:t>
            </a:r>
            <a:r>
              <a:rPr sz="2000" spc="-15" dirty="0">
                <a:latin typeface="Calibri"/>
                <a:cs typeface="Calibri"/>
              </a:rPr>
              <a:t>for </a:t>
            </a:r>
            <a:r>
              <a:rPr sz="2000" spc="-5" dirty="0">
                <a:latin typeface="Calibri"/>
                <a:cs typeface="Calibri"/>
              </a:rPr>
              <a:t>larger </a:t>
            </a:r>
            <a:r>
              <a:rPr sz="2000" spc="-10" dirty="0">
                <a:latin typeface="Calibri"/>
                <a:cs typeface="Calibri"/>
              </a:rPr>
              <a:t>values </a:t>
            </a:r>
            <a:r>
              <a:rPr sz="2000" spc="-5" dirty="0">
                <a:latin typeface="Calibri"/>
                <a:cs typeface="Calibri"/>
              </a:rPr>
              <a:t>of </a:t>
            </a:r>
            <a:r>
              <a:rPr sz="2000" spc="-440" dirty="0">
                <a:latin typeface="Calibri"/>
                <a:cs typeface="Calibri"/>
              </a:rPr>
              <a:t> </a:t>
            </a:r>
            <a:r>
              <a:rPr sz="2000" i="1" dirty="0">
                <a:latin typeface="Calibri"/>
                <a:cs typeface="Calibri"/>
              </a:rPr>
              <a:t>x</a:t>
            </a:r>
            <a:endParaRPr sz="2000">
              <a:latin typeface="Calibri"/>
              <a:cs typeface="Calibri"/>
            </a:endParaRPr>
          </a:p>
        </p:txBody>
      </p:sp>
      <p:pic>
        <p:nvPicPr>
          <p:cNvPr id="4" name="object 4"/>
          <p:cNvPicPr/>
          <p:nvPr/>
        </p:nvPicPr>
        <p:blipFill>
          <a:blip r:embed="rId2" cstate="print"/>
          <a:stretch>
            <a:fillRect/>
          </a:stretch>
        </p:blipFill>
        <p:spPr>
          <a:xfrm>
            <a:off x="519683" y="1850135"/>
            <a:ext cx="3977640" cy="215950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8BC4BD-79E9-1B73-1FC7-9E371A3CF31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xmlns="" id="{FDD21CCF-0FEF-816B-3834-58F927BF9F7B}"/>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xmlns="" id="{FB71066C-3E1B-0147-92AF-DFD3D0D9F2FD}"/>
              </a:ext>
            </a:extLst>
          </p:cNvPr>
          <p:cNvPicPr>
            <a:picLocks noChangeAspect="1"/>
          </p:cNvPicPr>
          <p:nvPr/>
        </p:nvPicPr>
        <p:blipFill>
          <a:blip r:embed="rId2"/>
          <a:stretch>
            <a:fillRect/>
          </a:stretch>
        </p:blipFill>
        <p:spPr>
          <a:xfrm>
            <a:off x="190120" y="1009514"/>
            <a:ext cx="8763759" cy="3124471"/>
          </a:xfrm>
          <a:prstGeom prst="rect">
            <a:avLst/>
          </a:prstGeom>
        </p:spPr>
      </p:pic>
    </p:spTree>
    <p:extLst>
      <p:ext uri="{BB962C8B-B14F-4D97-AF65-F5344CB8AC3E}">
        <p14:creationId xmlns:p14="http://schemas.microsoft.com/office/powerpoint/2010/main" val="3107841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5233" y="385953"/>
            <a:ext cx="3112135" cy="452120"/>
          </a:xfrm>
          <a:prstGeom prst="rect">
            <a:avLst/>
          </a:prstGeom>
        </p:spPr>
        <p:txBody>
          <a:bodyPr vert="horz" wrap="square" lIns="0" tIns="12065" rIns="0" bIns="0" rtlCol="0">
            <a:spAutoFit/>
          </a:bodyPr>
          <a:lstStyle/>
          <a:p>
            <a:pPr marL="12700">
              <a:lnSpc>
                <a:spcPct val="100000"/>
              </a:lnSpc>
              <a:spcBef>
                <a:spcPts val="95"/>
              </a:spcBef>
            </a:pPr>
            <a:r>
              <a:rPr spc="-15" dirty="0"/>
              <a:t>Residual</a:t>
            </a:r>
            <a:r>
              <a:rPr spc="5" dirty="0"/>
              <a:t> </a:t>
            </a:r>
            <a:r>
              <a:rPr spc="-10" dirty="0"/>
              <a:t>Plot</a:t>
            </a:r>
            <a:r>
              <a:rPr spc="-15" dirty="0"/>
              <a:t> </a:t>
            </a:r>
            <a:r>
              <a:rPr spc="-20" dirty="0"/>
              <a:t>Against</a:t>
            </a:r>
          </a:p>
        </p:txBody>
      </p:sp>
      <p:sp>
        <p:nvSpPr>
          <p:cNvPr id="3" name="object 3"/>
          <p:cNvSpPr txBox="1"/>
          <p:nvPr/>
        </p:nvSpPr>
        <p:spPr>
          <a:xfrm>
            <a:off x="4363973" y="1607311"/>
            <a:ext cx="4034154" cy="1452245"/>
          </a:xfrm>
          <a:prstGeom prst="rect">
            <a:avLst/>
          </a:prstGeom>
        </p:spPr>
        <p:txBody>
          <a:bodyPr vert="horz" wrap="square" lIns="0" tIns="12700" rIns="0" bIns="0" rtlCol="0">
            <a:spAutoFit/>
          </a:bodyPr>
          <a:lstStyle/>
          <a:p>
            <a:pPr marL="355600" marR="5080" indent="-343535">
              <a:lnSpc>
                <a:spcPct val="100000"/>
              </a:lnSpc>
              <a:spcBef>
                <a:spcPts val="100"/>
              </a:spcBef>
              <a:buFont typeface="Arial MT"/>
              <a:buChar char="•"/>
              <a:tabLst>
                <a:tab pos="355600" algn="l"/>
                <a:tab pos="356235" algn="l"/>
              </a:tabLst>
            </a:pPr>
            <a:r>
              <a:rPr sz="1800" spc="-5" dirty="0">
                <a:latin typeface="Calibri"/>
                <a:cs typeface="Calibri"/>
              </a:rPr>
              <a:t>The </a:t>
            </a:r>
            <a:r>
              <a:rPr sz="1800" spc="-15" dirty="0">
                <a:latin typeface="Calibri"/>
                <a:cs typeface="Calibri"/>
              </a:rPr>
              <a:t>pattern</a:t>
            </a:r>
            <a:r>
              <a:rPr sz="1800" spc="10" dirty="0">
                <a:latin typeface="Calibri"/>
                <a:cs typeface="Calibri"/>
              </a:rPr>
              <a:t> </a:t>
            </a:r>
            <a:r>
              <a:rPr sz="1800" spc="-5" dirty="0">
                <a:latin typeface="Calibri"/>
                <a:cs typeface="Calibri"/>
              </a:rPr>
              <a:t>of</a:t>
            </a:r>
            <a:r>
              <a:rPr sz="1800" spc="-10" dirty="0">
                <a:latin typeface="Calibri"/>
                <a:cs typeface="Calibri"/>
              </a:rPr>
              <a:t> </a:t>
            </a:r>
            <a:r>
              <a:rPr sz="1800" dirty="0">
                <a:latin typeface="Calibri"/>
                <a:cs typeface="Calibri"/>
              </a:rPr>
              <a:t>this</a:t>
            </a:r>
            <a:r>
              <a:rPr sz="1800" spc="5" dirty="0">
                <a:latin typeface="Calibri"/>
                <a:cs typeface="Calibri"/>
              </a:rPr>
              <a:t> </a:t>
            </a:r>
            <a:r>
              <a:rPr sz="1800" spc="-5" dirty="0">
                <a:latin typeface="Calibri"/>
                <a:cs typeface="Calibri"/>
              </a:rPr>
              <a:t>residual</a:t>
            </a:r>
            <a:r>
              <a:rPr sz="1800" spc="-10" dirty="0">
                <a:latin typeface="Calibri"/>
                <a:cs typeface="Calibri"/>
              </a:rPr>
              <a:t> </a:t>
            </a:r>
            <a:r>
              <a:rPr sz="1800" spc="-5" dirty="0">
                <a:latin typeface="Calibri"/>
                <a:cs typeface="Calibri"/>
              </a:rPr>
              <a:t>plot</a:t>
            </a:r>
            <a:r>
              <a:rPr sz="1800" spc="10" dirty="0">
                <a:latin typeface="Calibri"/>
                <a:cs typeface="Calibri"/>
              </a:rPr>
              <a:t> </a:t>
            </a:r>
            <a:r>
              <a:rPr sz="1800" spc="-5" dirty="0">
                <a:latin typeface="Calibri"/>
                <a:cs typeface="Calibri"/>
              </a:rPr>
              <a:t>is </a:t>
            </a:r>
            <a:r>
              <a:rPr sz="1800" dirty="0">
                <a:latin typeface="Calibri"/>
                <a:cs typeface="Calibri"/>
              </a:rPr>
              <a:t>the </a:t>
            </a:r>
            <a:r>
              <a:rPr sz="1800" spc="5" dirty="0">
                <a:latin typeface="Calibri"/>
                <a:cs typeface="Calibri"/>
              </a:rPr>
              <a:t> </a:t>
            </a:r>
            <a:r>
              <a:rPr sz="1800" spc="-5" dirty="0">
                <a:latin typeface="Calibri"/>
                <a:cs typeface="Calibri"/>
              </a:rPr>
              <a:t>same</a:t>
            </a:r>
            <a:r>
              <a:rPr sz="1800" spc="-15" dirty="0">
                <a:latin typeface="Calibri"/>
                <a:cs typeface="Calibri"/>
              </a:rPr>
              <a:t> </a:t>
            </a:r>
            <a:r>
              <a:rPr sz="1800" dirty="0">
                <a:latin typeface="Calibri"/>
                <a:cs typeface="Calibri"/>
              </a:rPr>
              <a:t>as</a:t>
            </a:r>
            <a:r>
              <a:rPr sz="1800" spc="-5" dirty="0">
                <a:latin typeface="Calibri"/>
                <a:cs typeface="Calibri"/>
              </a:rPr>
              <a:t> </a:t>
            </a:r>
            <a:r>
              <a:rPr sz="1800" dirty="0">
                <a:latin typeface="Calibri"/>
                <a:cs typeface="Calibri"/>
              </a:rPr>
              <a:t>the</a:t>
            </a:r>
            <a:r>
              <a:rPr sz="1800" spc="-5" dirty="0">
                <a:latin typeface="Calibri"/>
                <a:cs typeface="Calibri"/>
              </a:rPr>
              <a:t> </a:t>
            </a:r>
            <a:r>
              <a:rPr sz="1800" spc="-15" dirty="0">
                <a:latin typeface="Calibri"/>
                <a:cs typeface="Calibri"/>
              </a:rPr>
              <a:t>pattern</a:t>
            </a:r>
            <a:r>
              <a:rPr sz="1800" spc="10" dirty="0">
                <a:latin typeface="Calibri"/>
                <a:cs typeface="Calibri"/>
              </a:rPr>
              <a:t> </a:t>
            </a:r>
            <a:r>
              <a:rPr sz="1800" spc="-5" dirty="0">
                <a:latin typeface="Calibri"/>
                <a:cs typeface="Calibri"/>
              </a:rPr>
              <a:t>of</a:t>
            </a:r>
            <a:r>
              <a:rPr sz="1800" spc="-15" dirty="0">
                <a:latin typeface="Calibri"/>
                <a:cs typeface="Calibri"/>
              </a:rPr>
              <a:t> </a:t>
            </a:r>
            <a:r>
              <a:rPr sz="1800" dirty="0">
                <a:latin typeface="Calibri"/>
                <a:cs typeface="Calibri"/>
              </a:rPr>
              <a:t>the</a:t>
            </a:r>
            <a:r>
              <a:rPr sz="1800" spc="10" dirty="0">
                <a:latin typeface="Calibri"/>
                <a:cs typeface="Calibri"/>
              </a:rPr>
              <a:t> </a:t>
            </a:r>
            <a:r>
              <a:rPr sz="1800" spc="-5" dirty="0">
                <a:latin typeface="Calibri"/>
                <a:cs typeface="Calibri"/>
              </a:rPr>
              <a:t>residual</a:t>
            </a:r>
            <a:r>
              <a:rPr sz="1800" dirty="0">
                <a:latin typeface="Calibri"/>
                <a:cs typeface="Calibri"/>
              </a:rPr>
              <a:t> </a:t>
            </a:r>
            <a:r>
              <a:rPr sz="1800" spc="-5" dirty="0">
                <a:latin typeface="Calibri"/>
                <a:cs typeface="Calibri"/>
              </a:rPr>
              <a:t>plot </a:t>
            </a:r>
            <a:r>
              <a:rPr sz="1800" spc="-395" dirty="0">
                <a:latin typeface="Calibri"/>
                <a:cs typeface="Calibri"/>
              </a:rPr>
              <a:t> </a:t>
            </a:r>
            <a:r>
              <a:rPr sz="1800" spc="-10" dirty="0">
                <a:latin typeface="Calibri"/>
                <a:cs typeface="Calibri"/>
              </a:rPr>
              <a:t>against </a:t>
            </a:r>
            <a:r>
              <a:rPr sz="1800" spc="-5" dirty="0">
                <a:latin typeface="Calibri"/>
                <a:cs typeface="Calibri"/>
              </a:rPr>
              <a:t>the</a:t>
            </a:r>
            <a:r>
              <a:rPr sz="1800" spc="5" dirty="0">
                <a:latin typeface="Calibri"/>
                <a:cs typeface="Calibri"/>
              </a:rPr>
              <a:t> </a:t>
            </a:r>
            <a:r>
              <a:rPr sz="1800" spc="-5" dirty="0">
                <a:latin typeface="Calibri"/>
                <a:cs typeface="Calibri"/>
              </a:rPr>
              <a:t>independent</a:t>
            </a:r>
            <a:r>
              <a:rPr sz="1800" dirty="0">
                <a:latin typeface="Calibri"/>
                <a:cs typeface="Calibri"/>
              </a:rPr>
              <a:t> </a:t>
            </a:r>
            <a:r>
              <a:rPr sz="1800" spc="-5" dirty="0">
                <a:latin typeface="Calibri"/>
                <a:cs typeface="Calibri"/>
              </a:rPr>
              <a:t>variable</a:t>
            </a:r>
            <a:r>
              <a:rPr sz="1800" spc="30" dirty="0">
                <a:latin typeface="Calibri"/>
                <a:cs typeface="Calibri"/>
              </a:rPr>
              <a:t> </a:t>
            </a:r>
            <a:r>
              <a:rPr sz="1800" i="1" spc="-5" dirty="0">
                <a:latin typeface="Calibri"/>
                <a:cs typeface="Calibri"/>
              </a:rPr>
              <a:t>x</a:t>
            </a:r>
            <a:r>
              <a:rPr sz="1800" spc="-5" dirty="0">
                <a:latin typeface="Calibri"/>
                <a:cs typeface="Calibri"/>
              </a:rPr>
              <a:t>.</a:t>
            </a:r>
            <a:endParaRPr sz="1800">
              <a:latin typeface="Calibri"/>
              <a:cs typeface="Calibri"/>
            </a:endParaRPr>
          </a:p>
          <a:p>
            <a:pPr marL="355600" marR="51435" indent="-343535">
              <a:lnSpc>
                <a:spcPct val="100000"/>
              </a:lnSpc>
              <a:spcBef>
                <a:spcPts val="430"/>
              </a:spcBef>
              <a:buFont typeface="Arial MT"/>
              <a:buChar char="•"/>
              <a:tabLst>
                <a:tab pos="355600" algn="l"/>
                <a:tab pos="356235" algn="l"/>
              </a:tabLst>
            </a:pPr>
            <a:r>
              <a:rPr sz="1800" dirty="0">
                <a:latin typeface="Calibri"/>
                <a:cs typeface="Calibri"/>
              </a:rPr>
              <a:t>It</a:t>
            </a:r>
            <a:r>
              <a:rPr sz="1800" spc="-5" dirty="0">
                <a:latin typeface="Calibri"/>
                <a:cs typeface="Calibri"/>
              </a:rPr>
              <a:t> </a:t>
            </a:r>
            <a:r>
              <a:rPr sz="1800" dirty="0">
                <a:latin typeface="Calibri"/>
                <a:cs typeface="Calibri"/>
              </a:rPr>
              <a:t>is </a:t>
            </a:r>
            <a:r>
              <a:rPr sz="1800" spc="-5" dirty="0">
                <a:latin typeface="Calibri"/>
                <a:cs typeface="Calibri"/>
              </a:rPr>
              <a:t>not</a:t>
            </a:r>
            <a:r>
              <a:rPr sz="1800" spc="5" dirty="0">
                <a:latin typeface="Calibri"/>
                <a:cs typeface="Calibri"/>
              </a:rPr>
              <a:t> </a:t>
            </a:r>
            <a:r>
              <a:rPr sz="1800" dirty="0">
                <a:latin typeface="Calibri"/>
                <a:cs typeface="Calibri"/>
              </a:rPr>
              <a:t>a</a:t>
            </a:r>
            <a:r>
              <a:rPr sz="1800" spc="-5" dirty="0">
                <a:latin typeface="Calibri"/>
                <a:cs typeface="Calibri"/>
              </a:rPr>
              <a:t> </a:t>
            </a:r>
            <a:r>
              <a:rPr sz="1800" spc="-15" dirty="0">
                <a:latin typeface="Calibri"/>
                <a:cs typeface="Calibri"/>
              </a:rPr>
              <a:t>pattern</a:t>
            </a:r>
            <a:r>
              <a:rPr sz="1800" spc="-5" dirty="0">
                <a:latin typeface="Calibri"/>
                <a:cs typeface="Calibri"/>
              </a:rPr>
              <a:t> that</a:t>
            </a:r>
            <a:r>
              <a:rPr sz="1800" spc="5" dirty="0">
                <a:latin typeface="Calibri"/>
                <a:cs typeface="Calibri"/>
              </a:rPr>
              <a:t> </a:t>
            </a:r>
            <a:r>
              <a:rPr sz="1800" spc="-10" dirty="0">
                <a:latin typeface="Calibri"/>
                <a:cs typeface="Calibri"/>
              </a:rPr>
              <a:t>would</a:t>
            </a:r>
            <a:r>
              <a:rPr sz="1800" spc="5" dirty="0">
                <a:latin typeface="Calibri"/>
                <a:cs typeface="Calibri"/>
              </a:rPr>
              <a:t> </a:t>
            </a:r>
            <a:r>
              <a:rPr sz="1800" spc="-5" dirty="0">
                <a:latin typeface="Calibri"/>
                <a:cs typeface="Calibri"/>
              </a:rPr>
              <a:t>lead</a:t>
            </a:r>
            <a:r>
              <a:rPr sz="1800" spc="5" dirty="0">
                <a:latin typeface="Calibri"/>
                <a:cs typeface="Calibri"/>
              </a:rPr>
              <a:t> </a:t>
            </a:r>
            <a:r>
              <a:rPr sz="1800" spc="-5" dirty="0">
                <a:latin typeface="Calibri"/>
                <a:cs typeface="Calibri"/>
              </a:rPr>
              <a:t>us</a:t>
            </a:r>
            <a:r>
              <a:rPr sz="1800" spc="5" dirty="0">
                <a:latin typeface="Calibri"/>
                <a:cs typeface="Calibri"/>
              </a:rPr>
              <a:t> </a:t>
            </a:r>
            <a:r>
              <a:rPr sz="1800" spc="-10" dirty="0">
                <a:latin typeface="Calibri"/>
                <a:cs typeface="Calibri"/>
              </a:rPr>
              <a:t>to </a:t>
            </a:r>
            <a:r>
              <a:rPr sz="1800" spc="-395" dirty="0">
                <a:latin typeface="Calibri"/>
                <a:cs typeface="Calibri"/>
              </a:rPr>
              <a:t> </a:t>
            </a:r>
            <a:r>
              <a:rPr sz="1800" spc="-5" dirty="0">
                <a:latin typeface="Calibri"/>
                <a:cs typeface="Calibri"/>
              </a:rPr>
              <a:t>question</a:t>
            </a:r>
            <a:r>
              <a:rPr sz="1800" spc="5" dirty="0">
                <a:latin typeface="Calibri"/>
                <a:cs typeface="Calibri"/>
              </a:rPr>
              <a:t> </a:t>
            </a:r>
            <a:r>
              <a:rPr sz="1800" dirty="0">
                <a:latin typeface="Calibri"/>
                <a:cs typeface="Calibri"/>
              </a:rPr>
              <a:t>the</a:t>
            </a:r>
            <a:r>
              <a:rPr sz="1800" spc="5" dirty="0">
                <a:latin typeface="Calibri"/>
                <a:cs typeface="Calibri"/>
              </a:rPr>
              <a:t> </a:t>
            </a:r>
            <a:r>
              <a:rPr sz="1800" dirty="0">
                <a:latin typeface="Calibri"/>
                <a:cs typeface="Calibri"/>
              </a:rPr>
              <a:t>model </a:t>
            </a:r>
            <a:r>
              <a:rPr sz="1800" spc="-5" dirty="0">
                <a:latin typeface="Calibri"/>
                <a:cs typeface="Calibri"/>
              </a:rPr>
              <a:t>assumptions.</a:t>
            </a:r>
            <a:endParaRPr sz="1800">
              <a:latin typeface="Calibri"/>
              <a:cs typeface="Calibri"/>
            </a:endParaRPr>
          </a:p>
        </p:txBody>
      </p:sp>
      <p:sp>
        <p:nvSpPr>
          <p:cNvPr id="4" name="object 4"/>
          <p:cNvSpPr txBox="1"/>
          <p:nvPr/>
        </p:nvSpPr>
        <p:spPr>
          <a:xfrm>
            <a:off x="6204203" y="300227"/>
            <a:ext cx="516890" cy="620395"/>
          </a:xfrm>
          <a:prstGeom prst="rect">
            <a:avLst/>
          </a:prstGeom>
          <a:solidFill>
            <a:srgbClr val="FFFFFF"/>
          </a:solidFill>
        </p:spPr>
        <p:txBody>
          <a:bodyPr vert="horz" wrap="square" lIns="0" tIns="31115" rIns="0" bIns="0" rtlCol="0">
            <a:spAutoFit/>
          </a:bodyPr>
          <a:lstStyle/>
          <a:p>
            <a:pPr marL="163830">
              <a:lnSpc>
                <a:spcPts val="1425"/>
              </a:lnSpc>
              <a:spcBef>
                <a:spcPts val="245"/>
              </a:spcBef>
            </a:pPr>
            <a:r>
              <a:rPr sz="1400" spc="545" dirty="0">
                <a:latin typeface="Times New Roman"/>
                <a:cs typeface="Times New Roman"/>
              </a:rPr>
              <a:t>^</a:t>
            </a:r>
            <a:endParaRPr sz="1400">
              <a:latin typeface="Times New Roman"/>
              <a:cs typeface="Times New Roman"/>
            </a:endParaRPr>
          </a:p>
          <a:p>
            <a:pPr marL="137795">
              <a:lnSpc>
                <a:spcPts val="2685"/>
              </a:lnSpc>
            </a:pPr>
            <a:r>
              <a:rPr sz="2450" i="1" spc="880" dirty="0">
                <a:latin typeface="Times New Roman"/>
                <a:cs typeface="Times New Roman"/>
              </a:rPr>
              <a:t>y</a:t>
            </a:r>
            <a:endParaRPr sz="2450">
              <a:latin typeface="Times New Roman"/>
              <a:cs typeface="Times New Roman"/>
            </a:endParaRPr>
          </a:p>
        </p:txBody>
      </p:sp>
      <p:pic>
        <p:nvPicPr>
          <p:cNvPr id="5" name="object 5"/>
          <p:cNvPicPr/>
          <p:nvPr/>
        </p:nvPicPr>
        <p:blipFill>
          <a:blip r:embed="rId2" cstate="print"/>
          <a:stretch>
            <a:fillRect/>
          </a:stretch>
        </p:blipFill>
        <p:spPr>
          <a:xfrm>
            <a:off x="252984" y="1495044"/>
            <a:ext cx="3706367" cy="2403348"/>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5233" y="385953"/>
            <a:ext cx="3112135" cy="452120"/>
          </a:xfrm>
          <a:prstGeom prst="rect">
            <a:avLst/>
          </a:prstGeom>
        </p:spPr>
        <p:txBody>
          <a:bodyPr vert="horz" wrap="square" lIns="0" tIns="12065" rIns="0" bIns="0" rtlCol="0">
            <a:spAutoFit/>
          </a:bodyPr>
          <a:lstStyle/>
          <a:p>
            <a:pPr marL="12700">
              <a:lnSpc>
                <a:spcPct val="100000"/>
              </a:lnSpc>
              <a:spcBef>
                <a:spcPts val="95"/>
              </a:spcBef>
            </a:pPr>
            <a:r>
              <a:rPr spc="-15" dirty="0"/>
              <a:t>Residual</a:t>
            </a:r>
            <a:r>
              <a:rPr spc="5" dirty="0"/>
              <a:t> </a:t>
            </a:r>
            <a:r>
              <a:rPr spc="-10" dirty="0"/>
              <a:t>Plot</a:t>
            </a:r>
            <a:r>
              <a:rPr spc="-15" dirty="0"/>
              <a:t> </a:t>
            </a:r>
            <a:r>
              <a:rPr spc="-20" dirty="0"/>
              <a:t>Against</a:t>
            </a:r>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Lst>
            </a:pPr>
            <a:r>
              <a:rPr spc="-10" dirty="0"/>
              <a:t>For </a:t>
            </a:r>
            <a:r>
              <a:rPr spc="-5" dirty="0"/>
              <a:t>simple linear regression, </a:t>
            </a:r>
            <a:r>
              <a:rPr dirty="0"/>
              <a:t>both the </a:t>
            </a:r>
            <a:r>
              <a:rPr spc="5" dirty="0"/>
              <a:t> </a:t>
            </a:r>
            <a:r>
              <a:rPr spc="-5" dirty="0"/>
              <a:t>residual plot </a:t>
            </a:r>
            <a:r>
              <a:rPr spc="-10" dirty="0"/>
              <a:t>against </a:t>
            </a:r>
            <a:r>
              <a:rPr i="1" dirty="0">
                <a:latin typeface="Calibri"/>
                <a:cs typeface="Calibri"/>
              </a:rPr>
              <a:t>x </a:t>
            </a:r>
            <a:r>
              <a:rPr dirty="0"/>
              <a:t>and the </a:t>
            </a:r>
            <a:r>
              <a:rPr spc="-5" dirty="0"/>
              <a:t>residual </a:t>
            </a:r>
            <a:r>
              <a:rPr spc="-440" dirty="0"/>
              <a:t> </a:t>
            </a:r>
            <a:r>
              <a:rPr spc="-5" dirty="0"/>
              <a:t>plot</a:t>
            </a:r>
            <a:r>
              <a:rPr spc="-20" dirty="0"/>
              <a:t> </a:t>
            </a:r>
            <a:r>
              <a:rPr spc="-10" dirty="0"/>
              <a:t>against</a:t>
            </a:r>
            <a:r>
              <a:rPr spc="-5" dirty="0"/>
              <a:t> </a:t>
            </a:r>
            <a:r>
              <a:rPr spc="-10" dirty="0"/>
              <a:t>provide </a:t>
            </a:r>
            <a:r>
              <a:rPr dirty="0"/>
              <a:t>the</a:t>
            </a:r>
            <a:r>
              <a:rPr spc="-5" dirty="0"/>
              <a:t> same</a:t>
            </a:r>
            <a:r>
              <a:rPr spc="5" dirty="0"/>
              <a:t> </a:t>
            </a:r>
            <a:r>
              <a:rPr spc="-10" dirty="0"/>
              <a:t>pattern</a:t>
            </a:r>
          </a:p>
          <a:p>
            <a:pPr marL="355600" indent="-342900">
              <a:lnSpc>
                <a:spcPct val="100000"/>
              </a:lnSpc>
              <a:spcBef>
                <a:spcPts val="480"/>
              </a:spcBef>
              <a:buFont typeface="Arial MT"/>
              <a:buChar char="•"/>
              <a:tabLst>
                <a:tab pos="354965" algn="l"/>
                <a:tab pos="355600" algn="l"/>
              </a:tabLst>
            </a:pPr>
            <a:r>
              <a:rPr spc="-10" dirty="0"/>
              <a:t>For</a:t>
            </a:r>
            <a:r>
              <a:rPr spc="-20" dirty="0"/>
              <a:t> </a:t>
            </a:r>
            <a:r>
              <a:rPr dirty="0"/>
              <a:t>multiple </a:t>
            </a:r>
            <a:r>
              <a:rPr spc="-10" dirty="0"/>
              <a:t>regression</a:t>
            </a:r>
            <a:r>
              <a:rPr spc="10" dirty="0"/>
              <a:t> </a:t>
            </a:r>
            <a:r>
              <a:rPr spc="-5" dirty="0"/>
              <a:t>analysis, </a:t>
            </a:r>
            <a:r>
              <a:rPr dirty="0"/>
              <a:t>the</a:t>
            </a:r>
          </a:p>
        </p:txBody>
      </p:sp>
      <p:sp>
        <p:nvSpPr>
          <p:cNvPr id="4" name="object 4"/>
          <p:cNvSpPr txBox="1"/>
          <p:nvPr/>
        </p:nvSpPr>
        <p:spPr>
          <a:xfrm>
            <a:off x="4512055" y="2962148"/>
            <a:ext cx="2101215" cy="3308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libri"/>
                <a:cs typeface="Calibri"/>
              </a:rPr>
              <a:t>residual</a:t>
            </a:r>
            <a:r>
              <a:rPr sz="2000" spc="-25" dirty="0">
                <a:latin typeface="Calibri"/>
                <a:cs typeface="Calibri"/>
              </a:rPr>
              <a:t> </a:t>
            </a:r>
            <a:r>
              <a:rPr sz="2000" spc="-5" dirty="0">
                <a:latin typeface="Calibri"/>
                <a:cs typeface="Calibri"/>
              </a:rPr>
              <a:t>plot</a:t>
            </a:r>
            <a:r>
              <a:rPr sz="2000" spc="-40" dirty="0">
                <a:latin typeface="Calibri"/>
                <a:cs typeface="Calibri"/>
              </a:rPr>
              <a:t> </a:t>
            </a:r>
            <a:r>
              <a:rPr sz="2000" spc="-10" dirty="0">
                <a:latin typeface="Calibri"/>
                <a:cs typeface="Calibri"/>
              </a:rPr>
              <a:t>against</a:t>
            </a:r>
            <a:endParaRPr sz="2000">
              <a:latin typeface="Calibri"/>
              <a:cs typeface="Calibri"/>
            </a:endParaRPr>
          </a:p>
        </p:txBody>
      </p:sp>
      <p:sp>
        <p:nvSpPr>
          <p:cNvPr id="5" name="object 5"/>
          <p:cNvSpPr txBox="1"/>
          <p:nvPr/>
        </p:nvSpPr>
        <p:spPr>
          <a:xfrm>
            <a:off x="7045875" y="2962148"/>
            <a:ext cx="152019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a:cs typeface="Calibri"/>
              </a:rPr>
              <a:t>is</a:t>
            </a:r>
            <a:r>
              <a:rPr sz="2000" spc="-40" dirty="0">
                <a:latin typeface="Calibri"/>
                <a:cs typeface="Calibri"/>
              </a:rPr>
              <a:t> </a:t>
            </a:r>
            <a:r>
              <a:rPr sz="2000" spc="-10" dirty="0">
                <a:latin typeface="Calibri"/>
                <a:cs typeface="Calibri"/>
              </a:rPr>
              <a:t>more</a:t>
            </a:r>
            <a:r>
              <a:rPr sz="2000" spc="-35" dirty="0">
                <a:latin typeface="Calibri"/>
                <a:cs typeface="Calibri"/>
              </a:rPr>
              <a:t> </a:t>
            </a:r>
            <a:r>
              <a:rPr sz="2000" spc="-5" dirty="0">
                <a:latin typeface="Calibri"/>
                <a:cs typeface="Calibri"/>
              </a:rPr>
              <a:t>widely</a:t>
            </a:r>
            <a:endParaRPr sz="2000">
              <a:latin typeface="Calibri"/>
              <a:cs typeface="Calibri"/>
            </a:endParaRPr>
          </a:p>
        </p:txBody>
      </p:sp>
      <p:sp>
        <p:nvSpPr>
          <p:cNvPr id="6" name="object 6"/>
          <p:cNvSpPr txBox="1"/>
          <p:nvPr/>
        </p:nvSpPr>
        <p:spPr>
          <a:xfrm>
            <a:off x="4512055" y="3266947"/>
            <a:ext cx="3968115" cy="636270"/>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libri"/>
                <a:cs typeface="Calibri"/>
              </a:rPr>
              <a:t>used</a:t>
            </a:r>
            <a:r>
              <a:rPr sz="2000" spc="-15" dirty="0">
                <a:latin typeface="Calibri"/>
                <a:cs typeface="Calibri"/>
              </a:rPr>
              <a:t> </a:t>
            </a:r>
            <a:r>
              <a:rPr sz="2000" spc="-5" dirty="0">
                <a:latin typeface="Calibri"/>
                <a:cs typeface="Calibri"/>
              </a:rPr>
              <a:t>because</a:t>
            </a:r>
            <a:r>
              <a:rPr sz="2000" spc="-15" dirty="0">
                <a:latin typeface="Calibri"/>
                <a:cs typeface="Calibri"/>
              </a:rPr>
              <a:t> </a:t>
            </a:r>
            <a:r>
              <a:rPr sz="2000" spc="-5" dirty="0">
                <a:latin typeface="Calibri"/>
                <a:cs typeface="Calibri"/>
              </a:rPr>
              <a:t>of </a:t>
            </a:r>
            <a:r>
              <a:rPr sz="2000" dirty="0">
                <a:latin typeface="Calibri"/>
                <a:cs typeface="Calibri"/>
              </a:rPr>
              <a:t>the</a:t>
            </a:r>
            <a:r>
              <a:rPr sz="2000" spc="-5" dirty="0">
                <a:latin typeface="Calibri"/>
                <a:cs typeface="Calibri"/>
              </a:rPr>
              <a:t> presence</a:t>
            </a:r>
            <a:r>
              <a:rPr sz="2000" dirty="0">
                <a:latin typeface="Calibri"/>
                <a:cs typeface="Calibri"/>
              </a:rPr>
              <a:t> </a:t>
            </a:r>
            <a:r>
              <a:rPr sz="2000" spc="-5" dirty="0">
                <a:latin typeface="Calibri"/>
                <a:cs typeface="Calibri"/>
              </a:rPr>
              <a:t>of</a:t>
            </a:r>
            <a:r>
              <a:rPr sz="2000" spc="-15" dirty="0">
                <a:latin typeface="Calibri"/>
                <a:cs typeface="Calibri"/>
              </a:rPr>
              <a:t> </a:t>
            </a:r>
            <a:r>
              <a:rPr sz="2000" spc="-10" dirty="0">
                <a:latin typeface="Calibri"/>
                <a:cs typeface="Calibri"/>
              </a:rPr>
              <a:t>more</a:t>
            </a:r>
            <a:endParaRPr sz="2000">
              <a:latin typeface="Calibri"/>
              <a:cs typeface="Calibri"/>
            </a:endParaRPr>
          </a:p>
          <a:p>
            <a:pPr marL="12700">
              <a:lnSpc>
                <a:spcPct val="100000"/>
              </a:lnSpc>
            </a:pPr>
            <a:r>
              <a:rPr sz="2000" dirty="0">
                <a:latin typeface="Calibri"/>
                <a:cs typeface="Calibri"/>
              </a:rPr>
              <a:t>than</a:t>
            </a:r>
            <a:r>
              <a:rPr sz="2000" spc="-15" dirty="0">
                <a:latin typeface="Calibri"/>
                <a:cs typeface="Calibri"/>
              </a:rPr>
              <a:t> </a:t>
            </a:r>
            <a:r>
              <a:rPr sz="2000" spc="-5" dirty="0">
                <a:latin typeface="Calibri"/>
                <a:cs typeface="Calibri"/>
              </a:rPr>
              <a:t>one</a:t>
            </a:r>
            <a:r>
              <a:rPr sz="2000" spc="-25" dirty="0">
                <a:latin typeface="Calibri"/>
                <a:cs typeface="Calibri"/>
              </a:rPr>
              <a:t> </a:t>
            </a:r>
            <a:r>
              <a:rPr sz="2000" dirty="0">
                <a:latin typeface="Calibri"/>
                <a:cs typeface="Calibri"/>
              </a:rPr>
              <a:t>independent</a:t>
            </a:r>
            <a:r>
              <a:rPr sz="2000" spc="-20" dirty="0">
                <a:latin typeface="Calibri"/>
                <a:cs typeface="Calibri"/>
              </a:rPr>
              <a:t> </a:t>
            </a:r>
            <a:r>
              <a:rPr sz="2000" spc="-5" dirty="0">
                <a:latin typeface="Calibri"/>
                <a:cs typeface="Calibri"/>
              </a:rPr>
              <a:t>variable.</a:t>
            </a:r>
            <a:endParaRPr sz="2000">
              <a:latin typeface="Calibri"/>
              <a:cs typeface="Calibri"/>
            </a:endParaRPr>
          </a:p>
        </p:txBody>
      </p:sp>
      <p:pic>
        <p:nvPicPr>
          <p:cNvPr id="7" name="object 7"/>
          <p:cNvPicPr/>
          <p:nvPr/>
        </p:nvPicPr>
        <p:blipFill>
          <a:blip r:embed="rId2" cstate="print"/>
          <a:stretch>
            <a:fillRect/>
          </a:stretch>
        </p:blipFill>
        <p:spPr>
          <a:xfrm>
            <a:off x="457200" y="1499616"/>
            <a:ext cx="3706367" cy="2403348"/>
          </a:xfrm>
          <a:prstGeom prst="rect">
            <a:avLst/>
          </a:prstGeom>
        </p:spPr>
      </p:pic>
      <p:sp>
        <p:nvSpPr>
          <p:cNvPr id="8" name="object 8"/>
          <p:cNvSpPr txBox="1"/>
          <p:nvPr/>
        </p:nvSpPr>
        <p:spPr>
          <a:xfrm>
            <a:off x="6204203" y="300227"/>
            <a:ext cx="516890" cy="620395"/>
          </a:xfrm>
          <a:prstGeom prst="rect">
            <a:avLst/>
          </a:prstGeom>
          <a:solidFill>
            <a:srgbClr val="FFFFFF"/>
          </a:solidFill>
        </p:spPr>
        <p:txBody>
          <a:bodyPr vert="horz" wrap="square" lIns="0" tIns="31115" rIns="0" bIns="0" rtlCol="0">
            <a:spAutoFit/>
          </a:bodyPr>
          <a:lstStyle/>
          <a:p>
            <a:pPr marL="163830">
              <a:lnSpc>
                <a:spcPts val="1425"/>
              </a:lnSpc>
              <a:spcBef>
                <a:spcPts val="245"/>
              </a:spcBef>
            </a:pPr>
            <a:r>
              <a:rPr sz="1400" spc="545" dirty="0">
                <a:latin typeface="Times New Roman"/>
                <a:cs typeface="Times New Roman"/>
              </a:rPr>
              <a:t>^</a:t>
            </a:r>
            <a:endParaRPr sz="1400">
              <a:latin typeface="Times New Roman"/>
              <a:cs typeface="Times New Roman"/>
            </a:endParaRPr>
          </a:p>
          <a:p>
            <a:pPr marL="137795">
              <a:lnSpc>
                <a:spcPts val="2685"/>
              </a:lnSpc>
            </a:pPr>
            <a:r>
              <a:rPr sz="2450" i="1" spc="880" dirty="0">
                <a:latin typeface="Times New Roman"/>
                <a:cs typeface="Times New Roman"/>
              </a:rPr>
              <a:t>y</a:t>
            </a:r>
            <a:endParaRPr sz="245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25</a:t>
            </a:fld>
            <a:endParaRPr dirty="0"/>
          </a:p>
        </p:txBody>
      </p:sp>
      <p:sp>
        <p:nvSpPr>
          <p:cNvPr id="9" name="object 9"/>
          <p:cNvSpPr txBox="1"/>
          <p:nvPr/>
        </p:nvSpPr>
        <p:spPr>
          <a:xfrm>
            <a:off x="6606540" y="2939795"/>
            <a:ext cx="349250" cy="419100"/>
          </a:xfrm>
          <a:prstGeom prst="rect">
            <a:avLst/>
          </a:prstGeom>
          <a:solidFill>
            <a:srgbClr val="FFFFFF"/>
          </a:solidFill>
        </p:spPr>
        <p:txBody>
          <a:bodyPr vert="horz" wrap="square" lIns="0" tIns="20320" rIns="0" bIns="0" rtlCol="0">
            <a:spAutoFit/>
          </a:bodyPr>
          <a:lstStyle/>
          <a:p>
            <a:pPr marL="110489">
              <a:lnSpc>
                <a:spcPts val="969"/>
              </a:lnSpc>
              <a:spcBef>
                <a:spcPts val="160"/>
              </a:spcBef>
            </a:pPr>
            <a:r>
              <a:rPr sz="950" spc="365" dirty="0">
                <a:latin typeface="Times New Roman"/>
                <a:cs typeface="Times New Roman"/>
              </a:rPr>
              <a:t>^</a:t>
            </a:r>
            <a:endParaRPr sz="950">
              <a:latin typeface="Times New Roman"/>
              <a:cs typeface="Times New Roman"/>
            </a:endParaRPr>
          </a:p>
          <a:p>
            <a:pPr marL="92710">
              <a:lnSpc>
                <a:spcPts val="1810"/>
              </a:lnSpc>
            </a:pPr>
            <a:r>
              <a:rPr sz="1650" i="1" spc="595" dirty="0">
                <a:latin typeface="Times New Roman"/>
                <a:cs typeface="Times New Roman"/>
              </a:rPr>
              <a:t>y</a:t>
            </a:r>
            <a:endParaRPr sz="165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544D51-7AB4-4A25-8900-12EEED693458}"/>
              </a:ext>
            </a:extLst>
          </p:cNvPr>
          <p:cNvSpPr>
            <a:spLocks noGrp="1"/>
          </p:cNvSpPr>
          <p:nvPr>
            <p:ph type="title"/>
          </p:nvPr>
        </p:nvSpPr>
        <p:spPr>
          <a:xfrm>
            <a:off x="381000" y="385649"/>
            <a:ext cx="8458199" cy="861774"/>
          </a:xfrm>
        </p:spPr>
        <p:txBody>
          <a:bodyPr/>
          <a:lstStyle/>
          <a:p>
            <a:r>
              <a:rPr lang="en-US" b="1" dirty="0">
                <a:solidFill>
                  <a:srgbClr val="222222"/>
                </a:solidFill>
                <a:effectLst/>
                <a:latin typeface="Helvetica Neue"/>
              </a:rPr>
              <a:t>Regression Metrics/ Performance metrics </a:t>
            </a:r>
            <a:br>
              <a:rPr lang="en-US" b="1" dirty="0">
                <a:solidFill>
                  <a:srgbClr val="222222"/>
                </a:solidFill>
                <a:effectLst/>
                <a:latin typeface="Helvetica Neue"/>
              </a:rPr>
            </a:br>
            <a:endParaRPr lang="en-IN" dirty="0"/>
          </a:p>
        </p:txBody>
      </p:sp>
      <p:sp>
        <p:nvSpPr>
          <p:cNvPr id="3" name="Text Placeholder 2">
            <a:extLst>
              <a:ext uri="{FF2B5EF4-FFF2-40B4-BE49-F238E27FC236}">
                <a16:creationId xmlns:a16="http://schemas.microsoft.com/office/drawing/2014/main" xmlns="" id="{F94CDD65-A2C0-4EBF-AB57-33588F8B55F9}"/>
              </a:ext>
            </a:extLst>
          </p:cNvPr>
          <p:cNvSpPr>
            <a:spLocks noGrp="1"/>
          </p:cNvSpPr>
          <p:nvPr>
            <p:ph type="body" idx="1"/>
          </p:nvPr>
        </p:nvSpPr>
        <p:spPr>
          <a:xfrm>
            <a:off x="859244" y="1788795"/>
            <a:ext cx="8258175" cy="2277547"/>
          </a:xfrm>
        </p:spPr>
        <p:txBody>
          <a:bodyPr/>
          <a:lstStyle/>
          <a:p>
            <a:pPr algn="l" fontAlgn="base"/>
            <a:r>
              <a:rPr lang="en-US" sz="1600" b="0" i="0" dirty="0">
                <a:solidFill>
                  <a:srgbClr val="555555"/>
                </a:solidFill>
                <a:effectLst/>
                <a:latin typeface="Helvetica Neue"/>
              </a:rPr>
              <a:t>There are three error metrics that are commonly used for evaluating and reporting the performance of a regression model; they are:</a:t>
            </a:r>
          </a:p>
          <a:p>
            <a:pPr algn="l" fontAlgn="base"/>
            <a:endParaRPr lang="en-US" sz="2000" b="0" i="0" dirty="0">
              <a:solidFill>
                <a:srgbClr val="555555"/>
              </a:solidFill>
              <a:effectLst/>
              <a:latin typeface="Helvetica Neue"/>
            </a:endParaRPr>
          </a:p>
          <a:p>
            <a:pPr algn="l" fontAlgn="base">
              <a:lnSpc>
                <a:spcPct val="150000"/>
              </a:lnSpc>
              <a:buFont typeface="Arial" panose="020B0604020202020204" pitchFamily="34" charset="0"/>
              <a:buChar char="•"/>
            </a:pPr>
            <a:r>
              <a:rPr lang="en-US" sz="1600" b="0" i="0" dirty="0">
                <a:solidFill>
                  <a:srgbClr val="555555"/>
                </a:solidFill>
                <a:effectLst/>
                <a:latin typeface="Helvetica Neue"/>
              </a:rPr>
              <a:t>Mean Squared Error (MSE).</a:t>
            </a:r>
          </a:p>
          <a:p>
            <a:pPr algn="l" fontAlgn="base">
              <a:lnSpc>
                <a:spcPct val="150000"/>
              </a:lnSpc>
              <a:buFont typeface="Arial" panose="020B0604020202020204" pitchFamily="34" charset="0"/>
              <a:buChar char="•"/>
            </a:pPr>
            <a:r>
              <a:rPr lang="en-US" sz="1600" b="0" i="0" dirty="0">
                <a:solidFill>
                  <a:srgbClr val="555555"/>
                </a:solidFill>
                <a:effectLst/>
                <a:latin typeface="Helvetica Neue"/>
              </a:rPr>
              <a:t>Root Mean Squared Error (RMSE).</a:t>
            </a:r>
          </a:p>
          <a:p>
            <a:pPr algn="l" fontAlgn="base">
              <a:lnSpc>
                <a:spcPct val="150000"/>
              </a:lnSpc>
              <a:buFont typeface="Arial" panose="020B0604020202020204" pitchFamily="34" charset="0"/>
              <a:buChar char="•"/>
            </a:pPr>
            <a:r>
              <a:rPr lang="en-US" sz="1600" b="0" i="0" dirty="0">
                <a:solidFill>
                  <a:srgbClr val="555555"/>
                </a:solidFill>
                <a:effectLst/>
                <a:latin typeface="Helvetica Neue"/>
              </a:rPr>
              <a:t>Mean Absolute Error (MAE)</a:t>
            </a:r>
          </a:p>
          <a:p>
            <a:endParaRPr lang="en-IN" dirty="0"/>
          </a:p>
        </p:txBody>
      </p:sp>
    </p:spTree>
    <p:extLst>
      <p:ext uri="{BB962C8B-B14F-4D97-AF65-F5344CB8AC3E}">
        <p14:creationId xmlns:p14="http://schemas.microsoft.com/office/powerpoint/2010/main" val="3974600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317646-1385-4FA0-9E3A-3A545909C757}"/>
              </a:ext>
            </a:extLst>
          </p:cNvPr>
          <p:cNvSpPr>
            <a:spLocks noGrp="1"/>
          </p:cNvSpPr>
          <p:nvPr>
            <p:ph type="title"/>
          </p:nvPr>
        </p:nvSpPr>
        <p:spPr>
          <a:xfrm>
            <a:off x="2514600" y="361950"/>
            <a:ext cx="4230879" cy="1292662"/>
          </a:xfrm>
        </p:spPr>
        <p:txBody>
          <a:bodyPr/>
          <a:lstStyle/>
          <a:p>
            <a:r>
              <a:rPr lang="en-US" dirty="0"/>
              <a:t>Mean squared error</a:t>
            </a:r>
            <a:endParaRPr lang="en-IN" dirty="0"/>
          </a:p>
        </p:txBody>
      </p:sp>
      <p:sp>
        <p:nvSpPr>
          <p:cNvPr id="3" name="Text Placeholder 2">
            <a:extLst>
              <a:ext uri="{FF2B5EF4-FFF2-40B4-BE49-F238E27FC236}">
                <a16:creationId xmlns:a16="http://schemas.microsoft.com/office/drawing/2014/main" xmlns="" id="{D1596B3B-CF8D-4CFE-A2AC-D016201CC8BA}"/>
              </a:ext>
            </a:extLst>
          </p:cNvPr>
          <p:cNvSpPr>
            <a:spLocks noGrp="1"/>
          </p:cNvSpPr>
          <p:nvPr>
            <p:ph type="body" idx="1"/>
          </p:nvPr>
        </p:nvSpPr>
        <p:spPr>
          <a:xfrm>
            <a:off x="609600" y="1123950"/>
            <a:ext cx="8258175" cy="2308324"/>
          </a:xfrm>
        </p:spPr>
        <p:txBody>
          <a:bodyPr/>
          <a:lstStyle/>
          <a:p>
            <a:pPr algn="l" fontAlgn="base"/>
            <a:r>
              <a:rPr lang="en-US" sz="1800" b="0" dirty="0">
                <a:solidFill>
                  <a:srgbClr val="555555"/>
                </a:solidFill>
                <a:effectLst/>
                <a:latin typeface="Helvetica Neue"/>
              </a:rPr>
              <a:t>It is also an important loss function for algorithms fit or optimized using the least squares framing of a regression problem. Here “</a:t>
            </a:r>
            <a:r>
              <a:rPr lang="en-US" sz="1800" b="0" i="1" dirty="0">
                <a:solidFill>
                  <a:srgbClr val="555555"/>
                </a:solidFill>
                <a:effectLst/>
                <a:latin typeface="Helvetica Neue"/>
              </a:rPr>
              <a:t>least squares</a:t>
            </a:r>
            <a:r>
              <a:rPr lang="en-US" sz="1800" b="0" dirty="0">
                <a:solidFill>
                  <a:srgbClr val="555555"/>
                </a:solidFill>
                <a:effectLst/>
                <a:latin typeface="Helvetica Neue"/>
              </a:rPr>
              <a:t>” refers to minimizing the mean squared error between predictions and expected values.</a:t>
            </a:r>
          </a:p>
          <a:p>
            <a:pPr algn="l" fontAlgn="base"/>
            <a:r>
              <a:rPr lang="en-US" sz="1800" b="0" dirty="0">
                <a:solidFill>
                  <a:srgbClr val="555555"/>
                </a:solidFill>
                <a:effectLst/>
                <a:latin typeface="Helvetica Neue"/>
              </a:rPr>
              <a:t>The MSE is calculated as the mean or average of the squared differences between predicted and expected target values in a dataset.</a:t>
            </a:r>
          </a:p>
          <a:p>
            <a:pPr algn="l" fontAlgn="base"/>
            <a:endParaRPr lang="en-US" sz="1800" dirty="0">
              <a:solidFill>
                <a:srgbClr val="555555"/>
              </a:solidFill>
              <a:latin typeface="Helvetica Neue"/>
            </a:endParaRPr>
          </a:p>
          <a:p>
            <a:pPr algn="l" fontAlgn="base"/>
            <a:endParaRPr lang="en-US" sz="1800" b="0" dirty="0">
              <a:solidFill>
                <a:srgbClr val="555555"/>
              </a:solidFill>
              <a:effectLst/>
              <a:latin typeface="Helvetica Neue"/>
            </a:endParaRPr>
          </a:p>
          <a:p>
            <a:endParaRPr lang="en-IN" dirty="0"/>
          </a:p>
        </p:txBody>
      </p:sp>
      <p:pic>
        <p:nvPicPr>
          <p:cNvPr id="5" name="Picture 4">
            <a:extLst>
              <a:ext uri="{FF2B5EF4-FFF2-40B4-BE49-F238E27FC236}">
                <a16:creationId xmlns:a16="http://schemas.microsoft.com/office/drawing/2014/main" xmlns="" id="{A30B2B62-828D-4A12-A215-A5075531CFCD}"/>
              </a:ext>
            </a:extLst>
          </p:cNvPr>
          <p:cNvPicPr>
            <a:picLocks noChangeAspect="1"/>
          </p:cNvPicPr>
          <p:nvPr/>
        </p:nvPicPr>
        <p:blipFill>
          <a:blip r:embed="rId2"/>
          <a:stretch>
            <a:fillRect/>
          </a:stretch>
        </p:blipFill>
        <p:spPr>
          <a:xfrm>
            <a:off x="2286000" y="2612882"/>
            <a:ext cx="4230879" cy="2543466"/>
          </a:xfrm>
          <a:prstGeom prst="rect">
            <a:avLst/>
          </a:prstGeom>
        </p:spPr>
      </p:pic>
    </p:spTree>
    <p:extLst>
      <p:ext uri="{BB962C8B-B14F-4D97-AF65-F5344CB8AC3E}">
        <p14:creationId xmlns:p14="http://schemas.microsoft.com/office/powerpoint/2010/main" val="1166857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CA0DCC-4686-427C-9121-7756BAC2A49A}"/>
              </a:ext>
            </a:extLst>
          </p:cNvPr>
          <p:cNvSpPr>
            <a:spLocks noGrp="1"/>
          </p:cNvSpPr>
          <p:nvPr>
            <p:ph type="title"/>
          </p:nvPr>
        </p:nvSpPr>
        <p:spPr>
          <a:xfrm>
            <a:off x="1219200" y="385648"/>
            <a:ext cx="6476999" cy="1292662"/>
          </a:xfrm>
        </p:spPr>
        <p:txBody>
          <a:bodyPr/>
          <a:lstStyle/>
          <a:p>
            <a:r>
              <a:rPr lang="en-US" dirty="0"/>
              <a:t>Root Mean Squared Error (RMSE).</a:t>
            </a:r>
            <a:br>
              <a:rPr lang="en-US" dirty="0"/>
            </a:br>
            <a:endParaRPr lang="en-IN" dirty="0"/>
          </a:p>
        </p:txBody>
      </p:sp>
      <p:sp>
        <p:nvSpPr>
          <p:cNvPr id="3" name="Text Placeholder 2">
            <a:extLst>
              <a:ext uri="{FF2B5EF4-FFF2-40B4-BE49-F238E27FC236}">
                <a16:creationId xmlns:a16="http://schemas.microsoft.com/office/drawing/2014/main" xmlns="" id="{0E532CAA-8C9B-4A13-BDB0-775FBD8DD5DB}"/>
              </a:ext>
            </a:extLst>
          </p:cNvPr>
          <p:cNvSpPr>
            <a:spLocks noGrp="1"/>
          </p:cNvSpPr>
          <p:nvPr>
            <p:ph type="body" idx="1"/>
          </p:nvPr>
        </p:nvSpPr>
        <p:spPr>
          <a:xfrm>
            <a:off x="685800" y="1031979"/>
            <a:ext cx="8258175" cy="1477328"/>
          </a:xfrm>
        </p:spPr>
        <p:txBody>
          <a:bodyPr/>
          <a:lstStyle/>
          <a:p>
            <a:r>
              <a:rPr lang="en-US" b="0" i="0" dirty="0">
                <a:solidFill>
                  <a:srgbClr val="2E2E2E"/>
                </a:solidFill>
                <a:effectLst/>
                <a:latin typeface="NexusSans"/>
              </a:rPr>
              <a:t>Root mean squared error (RMSE) is the square root of the mean of the square of all of the error. The use of RMSE is very common, and it is considered an excellent general-purpose error metric for </a:t>
            </a:r>
            <a:r>
              <a:rPr lang="en-US" b="0" i="0" u="none" strike="noStrike" dirty="0">
                <a:solidFill>
                  <a:srgbClr val="0C7DBB"/>
                </a:solidFill>
                <a:effectLst/>
                <a:latin typeface="NexusSans"/>
                <a:hlinkClick r:id="rId2" tooltip="Learn more about Numerical Prediction from ScienceDirect's AI-generated Topic Pages"/>
              </a:rPr>
              <a:t>numerical predictions</a:t>
            </a:r>
            <a:r>
              <a:rPr lang="en-US" b="0" i="0" dirty="0">
                <a:solidFill>
                  <a:srgbClr val="2E2E2E"/>
                </a:solidFill>
                <a:effectLst/>
                <a:latin typeface="NexusSans"/>
              </a:rPr>
              <a:t>.</a:t>
            </a:r>
            <a:endParaRPr lang="en-IN" dirty="0"/>
          </a:p>
        </p:txBody>
      </p:sp>
      <p:pic>
        <p:nvPicPr>
          <p:cNvPr id="1026" name="Picture 2" descr="What does RMSE really mean?. Root Mean Square Error (RMSE) is a… | by James  Moody | Towards Data Science">
            <a:extLst>
              <a:ext uri="{FF2B5EF4-FFF2-40B4-BE49-F238E27FC236}">
                <a16:creationId xmlns:a16="http://schemas.microsoft.com/office/drawing/2014/main" xmlns="" id="{85EF4BD6-3652-4A13-A3FD-4D99AB8DA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752246"/>
            <a:ext cx="4600575" cy="143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972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9C55AF-3D84-455A-85BE-61362FCEADC3}"/>
              </a:ext>
            </a:extLst>
          </p:cNvPr>
          <p:cNvSpPr>
            <a:spLocks noGrp="1"/>
          </p:cNvSpPr>
          <p:nvPr>
            <p:ph type="title"/>
          </p:nvPr>
        </p:nvSpPr>
        <p:spPr>
          <a:xfrm>
            <a:off x="3617720" y="385648"/>
            <a:ext cx="3468879" cy="1292662"/>
          </a:xfrm>
        </p:spPr>
        <p:txBody>
          <a:bodyPr/>
          <a:lstStyle/>
          <a:p>
            <a:r>
              <a:rPr lang="en-US" dirty="0"/>
              <a:t>Mean absolute error</a:t>
            </a:r>
            <a:endParaRPr lang="en-IN" dirty="0"/>
          </a:p>
        </p:txBody>
      </p:sp>
      <p:sp>
        <p:nvSpPr>
          <p:cNvPr id="3" name="Text Placeholder 2">
            <a:extLst>
              <a:ext uri="{FF2B5EF4-FFF2-40B4-BE49-F238E27FC236}">
                <a16:creationId xmlns:a16="http://schemas.microsoft.com/office/drawing/2014/main" xmlns="" id="{2506C741-DC78-4517-850A-A3F071D1AACD}"/>
              </a:ext>
            </a:extLst>
          </p:cNvPr>
          <p:cNvSpPr>
            <a:spLocks noGrp="1"/>
          </p:cNvSpPr>
          <p:nvPr>
            <p:ph type="body" idx="1"/>
          </p:nvPr>
        </p:nvSpPr>
        <p:spPr>
          <a:xfrm>
            <a:off x="304800" y="1453827"/>
            <a:ext cx="8610600" cy="1803724"/>
          </a:xfrm>
        </p:spPr>
        <p:txBody>
          <a:bodyPr/>
          <a:lstStyle/>
          <a:p>
            <a:r>
              <a:rPr lang="en-US" dirty="0">
                <a:solidFill>
                  <a:srgbClr val="2E2E2E"/>
                </a:solidFill>
                <a:latin typeface="NexusSans"/>
              </a:rPr>
              <a:t>MAE score is calculated as the average of the absolute error values. Absolute or abs() is a mathematical function that simply makes a number positive. Therefore, the difference between an expected and predicted value may be positive or negative and is forced to be positive when calculating </a:t>
            </a:r>
            <a:r>
              <a:rPr lang="en-US" b="0" i="0" dirty="0">
                <a:solidFill>
                  <a:srgbClr val="555555"/>
                </a:solidFill>
                <a:effectLst/>
                <a:latin typeface="Helvetica Neue"/>
              </a:rPr>
              <a:t>the MAE.</a:t>
            </a:r>
            <a:endParaRPr lang="en-IN" dirty="0"/>
          </a:p>
        </p:txBody>
      </p:sp>
      <p:pic>
        <p:nvPicPr>
          <p:cNvPr id="2050" name="Picture 2" descr="MODEL EVALUATION – REGRESSION MODELS | Data Vedas">
            <a:extLst>
              <a:ext uri="{FF2B5EF4-FFF2-40B4-BE49-F238E27FC236}">
                <a16:creationId xmlns:a16="http://schemas.microsoft.com/office/drawing/2014/main" xmlns="" id="{AF36BE3D-FAF2-40E2-8BD9-5169895DC0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562350"/>
            <a:ext cx="4543425" cy="143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0420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75617</TotalTime>
  <Words>802</Words>
  <Application>Microsoft Office PowerPoint</Application>
  <PresentationFormat>On-screen Show (16:9)</PresentationFormat>
  <Paragraphs>149</Paragraphs>
  <Slides>29</Slides>
  <Notes>1</Notes>
  <HiddenSlides>2</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29</vt:i4>
      </vt:variant>
    </vt:vector>
  </HeadingPairs>
  <TitlesOfParts>
    <vt:vector size="43" baseType="lpstr">
      <vt:lpstr>Adobe Caslon Pro</vt:lpstr>
      <vt:lpstr>Arial</vt:lpstr>
      <vt:lpstr>Arial MT</vt:lpstr>
      <vt:lpstr>Calibri</vt:lpstr>
      <vt:lpstr>Cambria</vt:lpstr>
      <vt:lpstr>Carlito</vt:lpstr>
      <vt:lpstr>Helvetica Neue</vt:lpstr>
      <vt:lpstr>NexusSans</vt:lpstr>
      <vt:lpstr>Palladio Uralic</vt:lpstr>
      <vt:lpstr>Symbol</vt:lpstr>
      <vt:lpstr>TeXGyrePagella</vt:lpstr>
      <vt:lpstr>Times New Roman</vt:lpstr>
      <vt:lpstr>Wingdings</vt:lpstr>
      <vt:lpstr>Office Theme</vt:lpstr>
      <vt:lpstr>PowerPoint Presentation</vt:lpstr>
      <vt:lpstr>Learning Objectives</vt:lpstr>
      <vt:lpstr>PowerPoint Presentation</vt:lpstr>
      <vt:lpstr>PowerPoint Presentation</vt:lpstr>
      <vt:lpstr>Coefficient of Determination</vt:lpstr>
      <vt:lpstr>Coefficient of Determination</vt:lpstr>
      <vt:lpstr>Coefficient of Determination</vt:lpstr>
      <vt:lpstr>Simple Linear Regression</vt:lpstr>
      <vt:lpstr>Coefficient of Determination</vt:lpstr>
      <vt:lpstr>Sample Correlation Coefficient</vt:lpstr>
      <vt:lpstr>Sample Correlation Coefficient</vt:lpstr>
      <vt:lpstr>Assumptions About the Error Term e</vt:lpstr>
      <vt:lpstr>Agenda</vt:lpstr>
      <vt:lpstr>Residual Analysis: Validating Model Assumptions</vt:lpstr>
      <vt:lpstr>Assumptions about the error term .</vt:lpstr>
      <vt:lpstr>Importance of the Assumptions</vt:lpstr>
      <vt:lpstr>Residuals for Ice cream parlours</vt:lpstr>
      <vt:lpstr>Residual analysis is based on an examination of graphical plots</vt:lpstr>
      <vt:lpstr>Residual Plot Against x</vt:lpstr>
      <vt:lpstr>Residual Plot Against x</vt:lpstr>
      <vt:lpstr>Assumption: the variance is the same for all values of x</vt:lpstr>
      <vt:lpstr>Violation of Assumption: The variance of ‘e’ is not the same for all values of x</vt:lpstr>
      <vt:lpstr>PowerPoint Presentation</vt:lpstr>
      <vt:lpstr>Residual Plot Against</vt:lpstr>
      <vt:lpstr>Residual Plot Against</vt:lpstr>
      <vt:lpstr>Regression Metrics/ Performance metrics  </vt:lpstr>
      <vt:lpstr>Mean squared error</vt:lpstr>
      <vt:lpstr>Root Mean Squared Error (RMSE). </vt:lpstr>
      <vt:lpstr>Mean absolute error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IITR</dc:creator>
  <cp:lastModifiedBy>Microsoft account</cp:lastModifiedBy>
  <cp:revision>24</cp:revision>
  <dcterms:created xsi:type="dcterms:W3CDTF">2021-03-20T04:19:49Z</dcterms:created>
  <dcterms:modified xsi:type="dcterms:W3CDTF">2024-12-20T08:15:42Z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2020-01-03T00:00:00Z</vt:filetime>
  </property>
  <property fmtid="{D5CDD505-2E9C-101B-9397-08002B2CF9AE}" pid="3" name="Creator">
    <vt:lpwstr>Microsoft® PowerPoint® 2010</vt:lpwstr>
  </property>
  <property fmtid="{D5CDD505-2E9C-101B-9397-08002B2CF9AE}" pid="4" name="LastSaved">
    <vt:filetime>2021-03-20T00:00:00Z</vt:filetime>
  </property>
</Properties>
</file>