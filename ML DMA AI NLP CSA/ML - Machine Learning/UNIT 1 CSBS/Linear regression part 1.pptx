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32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66437" autoAdjust="0"/>
  </p:normalViewPr>
  <p:slideViewPr>
    <p:cSldViewPr>
      <p:cViewPr varScale="1">
        <p:scale>
          <a:sx n="69" d="100"/>
          <a:sy n="69" d="100"/>
        </p:scale>
        <p:origin x="1843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8606A-24C4-45CA-B2D9-CBF4DBBA0BD1}" type="datetimeFigureOut">
              <a:rPr lang="en-IN" smtClean="0"/>
              <a:t>16-08-2024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CCE153-F9E1-41EC-87C8-A096E0452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591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485DB-6355-47A6-ABCE-F416926EEF6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510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CCE153-F9E1-41EC-87C8-A096E04528C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011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value is mean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CCE153-F9E1-41EC-87C8-A096E04528C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86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24834" y="1395255"/>
            <a:ext cx="1894331" cy="919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53B5F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557" y="4830267"/>
            <a:ext cx="231775" cy="177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333FF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557" y="4830267"/>
            <a:ext cx="231775" cy="177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333FF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401557" y="4830267"/>
            <a:ext cx="231775" cy="177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333FF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401557" y="4830267"/>
            <a:ext cx="231775" cy="177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401557" y="4830267"/>
            <a:ext cx="231775" cy="177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15030" y="227837"/>
            <a:ext cx="3313938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333FF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9742" y="2541879"/>
            <a:ext cx="4851400" cy="1445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bing.com/ck/a?!&amp;&amp;p=9158114ba42c886bJmltdHM9MTY2ODU1NjgwMCZpZ3VpZD0zZWZjMWQzYy01ZDhiLTY1NzEtM2I1Yy0wYzhhNWM2MzY0ZDYmaW5zaWQ9NTIwOA&amp;ptn=3&amp;hsh=3&amp;fclid=3efc1d3c-5d8b-6571-3b5c-0c8a5c6364d6&amp;psq=deprtaement+of+computer+scoence+and+engimnerring&amp;u=a1aHR0cHM6Ly93d3cuc2N1LmVkdS9lbmdpbmVlcmluZy9hY2FkZW1pYy1wcm9ncmFtcy9kZXBhcnRtZW50LW9mLWNvbXB1dGVyLWVuZ2luZWVyaW5nLw&amp;ntb=1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7.png"/><Relationship Id="rId21" Type="http://schemas.openxmlformats.org/officeDocument/2006/relationships/image" Target="../media/image35.png"/><Relationship Id="rId34" Type="http://schemas.openxmlformats.org/officeDocument/2006/relationships/image" Target="../media/image4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2" Type="http://schemas.openxmlformats.org/officeDocument/2006/relationships/image" Target="../media/image16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5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8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14D4819-D7DD-F22A-4C68-D50A73BD6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544" y="260297"/>
            <a:ext cx="8851064" cy="2908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indent="342900"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b="1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VALLURUPALLI NAGESWARA RAO VIGNANA JYOTHI </a:t>
            </a:r>
            <a:r>
              <a:rPr lang="en-US" altLang="en-US" sz="2100" dirty="0"/>
              <a:t> </a:t>
            </a:r>
            <a:r>
              <a:rPr lang="en-US" altLang="en-US" sz="2100" b="1" dirty="0">
                <a:solidFill>
                  <a:srgbClr val="000000"/>
                </a:solidFill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INSTITUTE OF ENGINEERING AND TECHNOLOGY</a:t>
            </a:r>
            <a:endParaRPr lang="en-US" altLang="en-US" sz="2100" dirty="0"/>
          </a:p>
          <a:p>
            <a:pPr indent="342900"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5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5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5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5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5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5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 and Engineering </a:t>
            </a:r>
            <a:endParaRPr lang="en-US" altLang="en-US" sz="600" dirty="0"/>
          </a:p>
          <a:p>
            <a:pPr indent="342900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1F402572-1AC1-C244-FE3C-D3880CA04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563" y="1001641"/>
            <a:ext cx="1343025" cy="125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4601E913-B864-500D-8186-0A789C882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613" y="3375923"/>
            <a:ext cx="3140924" cy="1269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00" dirty="0"/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Adobe Caslon Pro"/>
                <a:ea typeface="Calibri" panose="020F0502020204030204" pitchFamily="34" charset="0"/>
                <a:cs typeface="Times New Roman" panose="02020603050405020304" pitchFamily="18" charset="0"/>
              </a:rPr>
              <a:t>MACHINE LEARNING</a:t>
            </a:r>
            <a:endParaRPr lang="en-US" altLang="en-US" sz="600" dirty="0"/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50" b="1" dirty="0">
                <a:latin typeface="Adobe Caslon Pro"/>
                <a:ea typeface="Calibri" panose="020F0502020204030204" pitchFamily="34" charset="0"/>
                <a:cs typeface="Times New Roman" panose="02020603050405020304" pitchFamily="18" charset="0"/>
              </a:rPr>
              <a:t>Regulation</a:t>
            </a:r>
            <a:r>
              <a:rPr lang="en-US" altLang="en-US" sz="1050" b="1">
                <a:latin typeface="Adobe Caslon Pro"/>
                <a:ea typeface="Calibri" panose="020F0502020204030204" pitchFamily="34" charset="0"/>
                <a:cs typeface="Times New Roman" panose="02020603050405020304" pitchFamily="18" charset="0"/>
              </a:rPr>
              <a:t>: A19</a:t>
            </a:r>
            <a:endParaRPr lang="en-US" altLang="en-US" sz="600" dirty="0"/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50" b="1" dirty="0">
                <a:latin typeface="Adobe Caslon Pro"/>
                <a:ea typeface="Calibri" panose="020F0502020204030204" pitchFamily="34" charset="0"/>
                <a:cs typeface="Times New Roman" panose="02020603050405020304" pitchFamily="18" charset="0"/>
              </a:rPr>
              <a:t>BTech CSE (III Year-II Sem)</a:t>
            </a:r>
            <a:r>
              <a:rPr lang="en-US" altLang="en-US" sz="1350" b="1" dirty="0">
                <a:latin typeface="Adobe Caslon Pro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Adobe Caslon Pro"/>
                <a:ea typeface="Calibri" panose="020F0502020204030204" pitchFamily="34" charset="0"/>
                <a:cs typeface="Times New Roman" panose="02020603050405020304" pitchFamily="18" charset="0"/>
              </a:rPr>
              <a:t>Kriti Ohri</a:t>
            </a:r>
            <a:endParaRPr lang="en-US" altLang="en-US" sz="600" dirty="0"/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50" dirty="0">
                <a:latin typeface="Adobe Caslon Pro"/>
                <a:ea typeface="Calibri" panose="020F0502020204030204" pitchFamily="34" charset="0"/>
                <a:cs typeface="Times New Roman" panose="02020603050405020304" pitchFamily="18" charset="0"/>
              </a:rPr>
              <a:t>Assistant Professor</a:t>
            </a:r>
            <a:endParaRPr lang="en-US" altLang="en-US" sz="600" dirty="0"/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50" dirty="0">
                <a:latin typeface="Adobe Caslon Pro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Department of Computer Science and Engineering</a:t>
            </a:r>
            <a:endParaRPr lang="en-US" altLang="en-US" sz="1350" dirty="0">
              <a:latin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75C2-6977-6830-5E74-51E38502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Machine Learning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4C03E4-1F28-2FB0-9B80-AE079E772F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Kriti Ohri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3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3392" y="380746"/>
            <a:ext cx="36944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 Linear </a:t>
            </a:r>
            <a:r>
              <a:rPr spc="-15" dirty="0"/>
              <a:t>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15E08-3F4C-48B3-83AE-4D4AE23F2C88}"/>
              </a:ext>
            </a:extLst>
          </p:cNvPr>
          <p:cNvSpPr txBox="1"/>
          <p:nvPr/>
        </p:nvSpPr>
        <p:spPr>
          <a:xfrm>
            <a:off x="1219200" y="1352550"/>
            <a:ext cx="6705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4A4A4A"/>
                </a:solidFill>
                <a:effectLst/>
                <a:latin typeface="Open Sans"/>
              </a:rPr>
              <a:t>The main goal of regression is the construction of an efficient model to predict the dependent attributes from a bunch of attribute variables. A regression problem is when the output variable is either real or a continuous value </a:t>
            </a:r>
            <a:r>
              <a:rPr lang="en-US" b="0" i="0" dirty="0" err="1">
                <a:solidFill>
                  <a:srgbClr val="4A4A4A"/>
                </a:solidFill>
                <a:effectLst/>
                <a:latin typeface="Open Sans"/>
              </a:rPr>
              <a:t>i.e</a:t>
            </a:r>
            <a:r>
              <a:rPr lang="en-US" b="0" i="0" dirty="0">
                <a:solidFill>
                  <a:srgbClr val="4A4A4A"/>
                </a:solidFill>
                <a:effectLst/>
                <a:latin typeface="Open Sans"/>
              </a:rPr>
              <a:t> salary, weight, area, etc.</a:t>
            </a:r>
          </a:p>
          <a:p>
            <a:pPr algn="just"/>
            <a:r>
              <a:rPr lang="en-US" b="0" i="0" dirty="0">
                <a:solidFill>
                  <a:srgbClr val="4A4A4A"/>
                </a:solidFill>
                <a:effectLst/>
                <a:latin typeface="Open Sans"/>
              </a:rPr>
              <a:t>We can also define regression as a statistical means that is used in applications like housing, investing, etc. It is used to predict the relationship between a dependent variable and a bunch of independent variables. Let us take a look at various types of regression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7653" y="385648"/>
            <a:ext cx="2571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Empirical</a:t>
            </a:r>
            <a:r>
              <a:rPr spc="-55" dirty="0"/>
              <a:t> </a:t>
            </a:r>
            <a:r>
              <a:rPr spc="-5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79281" y="4830267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3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3624" y="964264"/>
            <a:ext cx="7990840" cy="289179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2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rlito"/>
                <a:cs typeface="Carlito"/>
              </a:rPr>
              <a:t>Many </a:t>
            </a:r>
            <a:r>
              <a:rPr sz="2000" spc="-5" dirty="0">
                <a:latin typeface="Carlito"/>
                <a:cs typeface="Carlito"/>
              </a:rPr>
              <a:t>problems </a:t>
            </a:r>
            <a:r>
              <a:rPr sz="2000" dirty="0">
                <a:latin typeface="Carlito"/>
                <a:cs typeface="Carlito"/>
              </a:rPr>
              <a:t>in engineering and </a:t>
            </a:r>
            <a:r>
              <a:rPr sz="2000" spc="-5" dirty="0">
                <a:latin typeface="Carlito"/>
                <a:cs typeface="Carlito"/>
              </a:rPr>
              <a:t>science </a:t>
            </a:r>
            <a:r>
              <a:rPr sz="2000" spc="-15" dirty="0">
                <a:latin typeface="Carlito"/>
                <a:cs typeface="Carlito"/>
              </a:rPr>
              <a:t>involve </a:t>
            </a:r>
            <a:r>
              <a:rPr sz="2000" spc="-10" dirty="0">
                <a:latin typeface="Carlito"/>
                <a:cs typeface="Carlito"/>
              </a:rPr>
              <a:t>exploring</a:t>
            </a:r>
            <a:r>
              <a:rPr sz="2000" spc="2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the</a:t>
            </a: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sz="2000" u="sng" spc="-5" dirty="0">
                <a:latin typeface="Carlito"/>
                <a:cs typeface="Carlito"/>
              </a:rPr>
              <a:t>relationships between </a:t>
            </a:r>
            <a:r>
              <a:rPr sz="2000" u="sng" spc="-10" dirty="0">
                <a:latin typeface="Carlito"/>
                <a:cs typeface="Carlito"/>
              </a:rPr>
              <a:t>two </a:t>
            </a:r>
            <a:r>
              <a:rPr sz="2000" u="sng" dirty="0">
                <a:latin typeface="Carlito"/>
                <a:cs typeface="Carlito"/>
              </a:rPr>
              <a:t>or </a:t>
            </a:r>
            <a:r>
              <a:rPr sz="2000" u="sng" spc="-10" dirty="0">
                <a:latin typeface="Carlito"/>
                <a:cs typeface="Carlito"/>
              </a:rPr>
              <a:t>more</a:t>
            </a:r>
            <a:r>
              <a:rPr sz="2000" u="sng" spc="15" dirty="0">
                <a:latin typeface="Carlito"/>
                <a:cs typeface="Carlito"/>
              </a:rPr>
              <a:t> </a:t>
            </a:r>
            <a:r>
              <a:rPr sz="2000" u="sng" spc="-5" dirty="0">
                <a:latin typeface="Carlito"/>
                <a:cs typeface="Carlito"/>
              </a:rPr>
              <a:t>variables</a:t>
            </a:r>
            <a:endParaRPr sz="2000" u="sng" dirty="0">
              <a:latin typeface="Carlito"/>
              <a:cs typeface="Carlito"/>
            </a:endParaRPr>
          </a:p>
          <a:p>
            <a:pPr marL="355600" marR="254000" indent="-343535">
              <a:lnSpc>
                <a:spcPct val="150100"/>
              </a:lnSpc>
              <a:spcBef>
                <a:spcPts val="4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rlito"/>
                <a:cs typeface="Carlito"/>
              </a:rPr>
              <a:t>Regression </a:t>
            </a:r>
            <a:r>
              <a:rPr sz="2000" spc="-5" dirty="0">
                <a:latin typeface="Carlito"/>
                <a:cs typeface="Carlito"/>
              </a:rPr>
              <a:t>analysis </a:t>
            </a:r>
            <a:r>
              <a:rPr sz="2000" dirty="0">
                <a:latin typeface="Carlito"/>
                <a:cs typeface="Carlito"/>
              </a:rPr>
              <a:t>is a </a:t>
            </a:r>
            <a:r>
              <a:rPr sz="2000" spc="-10" dirty="0">
                <a:latin typeface="Carlito"/>
                <a:cs typeface="Carlito"/>
              </a:rPr>
              <a:t>statistical </a:t>
            </a:r>
            <a:r>
              <a:rPr sz="2000" dirty="0">
                <a:latin typeface="Carlito"/>
                <a:cs typeface="Carlito"/>
              </a:rPr>
              <a:t>technique </a:t>
            </a:r>
            <a:r>
              <a:rPr sz="2000" spc="-5" dirty="0">
                <a:latin typeface="Carlito"/>
                <a:cs typeface="Carlito"/>
              </a:rPr>
              <a:t>that </a:t>
            </a:r>
            <a:r>
              <a:rPr sz="2000" dirty="0">
                <a:latin typeface="Carlito"/>
                <a:cs typeface="Carlito"/>
              </a:rPr>
              <a:t>is </a:t>
            </a:r>
            <a:r>
              <a:rPr sz="2000" spc="-5" dirty="0">
                <a:latin typeface="Carlito"/>
                <a:cs typeface="Carlito"/>
              </a:rPr>
              <a:t>very useful </a:t>
            </a:r>
            <a:r>
              <a:rPr sz="2000" spc="-15" dirty="0">
                <a:latin typeface="Carlito"/>
                <a:cs typeface="Carlito"/>
              </a:rPr>
              <a:t>for </a:t>
            </a:r>
            <a:r>
              <a:rPr sz="2000" dirty="0">
                <a:latin typeface="Carlito"/>
                <a:cs typeface="Carlito"/>
              </a:rPr>
              <a:t>these  types </a:t>
            </a:r>
            <a:r>
              <a:rPr sz="2000" spc="-5" dirty="0">
                <a:latin typeface="Carlito"/>
                <a:cs typeface="Carlito"/>
              </a:rPr>
              <a:t>of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problems</a:t>
            </a:r>
            <a:endParaRPr sz="2000" dirty="0">
              <a:latin typeface="Carlito"/>
              <a:cs typeface="Carlito"/>
            </a:endParaRPr>
          </a:p>
          <a:p>
            <a:pPr marL="355600" marR="5080" indent="-343535">
              <a:lnSpc>
                <a:spcPct val="1501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rlito"/>
                <a:cs typeface="Carlito"/>
              </a:rPr>
              <a:t>This </a:t>
            </a:r>
            <a:r>
              <a:rPr sz="2000" dirty="0">
                <a:latin typeface="Carlito"/>
                <a:cs typeface="Carlito"/>
              </a:rPr>
              <a:t>model can </a:t>
            </a:r>
            <a:r>
              <a:rPr sz="2000" spc="-5" dirty="0">
                <a:latin typeface="Carlito"/>
                <a:cs typeface="Carlito"/>
              </a:rPr>
              <a:t>also </a:t>
            </a:r>
            <a:r>
              <a:rPr sz="2000" dirty="0">
                <a:latin typeface="Carlito"/>
                <a:cs typeface="Carlito"/>
              </a:rPr>
              <a:t>be used </a:t>
            </a:r>
            <a:r>
              <a:rPr sz="2000" spc="-20" dirty="0">
                <a:latin typeface="Carlito"/>
                <a:cs typeface="Carlito"/>
              </a:rPr>
              <a:t>for </a:t>
            </a:r>
            <a:r>
              <a:rPr sz="2000" spc="-5" dirty="0">
                <a:latin typeface="Carlito"/>
                <a:cs typeface="Carlito"/>
              </a:rPr>
              <a:t>process </a:t>
            </a:r>
            <a:r>
              <a:rPr sz="2000" spc="-10" dirty="0">
                <a:latin typeface="Carlito"/>
                <a:cs typeface="Carlito"/>
              </a:rPr>
              <a:t>optimization, </a:t>
            </a:r>
            <a:r>
              <a:rPr sz="2000" dirty="0">
                <a:latin typeface="Carlito"/>
                <a:cs typeface="Carlito"/>
              </a:rPr>
              <a:t>such as ﬁnding the  </a:t>
            </a:r>
            <a:r>
              <a:rPr sz="2000" spc="-10" dirty="0">
                <a:latin typeface="Carlito"/>
                <a:cs typeface="Carlito"/>
              </a:rPr>
              <a:t>level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spc="-10" dirty="0">
                <a:latin typeface="Carlito"/>
                <a:cs typeface="Carlito"/>
              </a:rPr>
              <a:t>temperature </a:t>
            </a:r>
            <a:r>
              <a:rPr sz="2000" spc="-5" dirty="0">
                <a:latin typeface="Carlito"/>
                <a:cs typeface="Carlito"/>
              </a:rPr>
              <a:t>that </a:t>
            </a:r>
            <a:r>
              <a:rPr sz="2000" spc="-10" dirty="0">
                <a:latin typeface="Carlito"/>
                <a:cs typeface="Carlito"/>
              </a:rPr>
              <a:t>maximizes </a:t>
            </a:r>
            <a:r>
              <a:rPr sz="2000" dirty="0">
                <a:latin typeface="Carlito"/>
                <a:cs typeface="Carlito"/>
              </a:rPr>
              <a:t>yield, </a:t>
            </a:r>
            <a:r>
              <a:rPr sz="2000" spc="-5" dirty="0">
                <a:latin typeface="Carlito"/>
                <a:cs typeface="Carlito"/>
              </a:rPr>
              <a:t>or </a:t>
            </a:r>
            <a:r>
              <a:rPr sz="2000" spc="-15" dirty="0">
                <a:latin typeface="Carlito"/>
                <a:cs typeface="Carlito"/>
              </a:rPr>
              <a:t>for </a:t>
            </a:r>
            <a:r>
              <a:rPr sz="2000" spc="-5" dirty="0">
                <a:latin typeface="Carlito"/>
                <a:cs typeface="Carlito"/>
              </a:rPr>
              <a:t>process </a:t>
            </a:r>
            <a:r>
              <a:rPr sz="2000" spc="-10" dirty="0">
                <a:latin typeface="Carlito"/>
                <a:cs typeface="Carlito"/>
              </a:rPr>
              <a:t>control</a:t>
            </a:r>
            <a:r>
              <a:rPr sz="2000" spc="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purposes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0136" y="385648"/>
            <a:ext cx="3905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Empirical </a:t>
            </a:r>
            <a:r>
              <a:rPr spc="-10" dirty="0"/>
              <a:t>Models</a:t>
            </a:r>
            <a:r>
              <a:rPr spc="-2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79281" y="4830267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4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216913"/>
            <a:ext cx="4368165" cy="2221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0489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As an </a:t>
            </a:r>
            <a:r>
              <a:rPr sz="2000" spc="-10" dirty="0">
                <a:latin typeface="Carlito"/>
                <a:cs typeface="Carlito"/>
              </a:rPr>
              <a:t>illustration, </a:t>
            </a:r>
            <a:r>
              <a:rPr sz="2000" spc="-5" dirty="0">
                <a:latin typeface="Carlito"/>
                <a:cs typeface="Carlito"/>
              </a:rPr>
              <a:t>consider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data </a:t>
            </a:r>
            <a:r>
              <a:rPr sz="2000" dirty="0">
                <a:latin typeface="Carlito"/>
                <a:cs typeface="Carlito"/>
              </a:rPr>
              <a:t>in  the</a:t>
            </a:r>
            <a:r>
              <a:rPr sz="2000" spc="-5" dirty="0">
                <a:latin typeface="Carlito"/>
                <a:cs typeface="Carlito"/>
              </a:rPr>
              <a:t> table.</a:t>
            </a:r>
            <a:endParaRPr sz="2000" dirty="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rlito"/>
                <a:cs typeface="Carlito"/>
              </a:rPr>
              <a:t>In </a:t>
            </a:r>
            <a:r>
              <a:rPr sz="2000" spc="-5" dirty="0">
                <a:latin typeface="Carlito"/>
                <a:cs typeface="Carlito"/>
              </a:rPr>
              <a:t>this table </a:t>
            </a:r>
            <a:r>
              <a:rPr sz="2000" dirty="0">
                <a:latin typeface="Carlito"/>
                <a:cs typeface="Carlito"/>
              </a:rPr>
              <a:t>y </a:t>
            </a:r>
            <a:r>
              <a:rPr sz="2000" spc="-5" dirty="0">
                <a:latin typeface="Carlito"/>
                <a:cs typeface="Carlito"/>
              </a:rPr>
              <a:t>is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purity of </a:t>
            </a:r>
            <a:r>
              <a:rPr sz="2000" spc="-15" dirty="0">
                <a:latin typeface="Carlito"/>
                <a:cs typeface="Carlito"/>
              </a:rPr>
              <a:t>oxygen  </a:t>
            </a:r>
            <a:r>
              <a:rPr sz="2000" spc="-5" dirty="0">
                <a:latin typeface="Carlito"/>
                <a:cs typeface="Carlito"/>
              </a:rPr>
              <a:t>produced </a:t>
            </a:r>
            <a:r>
              <a:rPr sz="2000" dirty="0">
                <a:latin typeface="Carlito"/>
                <a:cs typeface="Carlito"/>
              </a:rPr>
              <a:t>in a </a:t>
            </a:r>
            <a:r>
              <a:rPr sz="2000" spc="-5" dirty="0">
                <a:latin typeface="Carlito"/>
                <a:cs typeface="Carlito"/>
              </a:rPr>
              <a:t>chemical </a:t>
            </a:r>
            <a:r>
              <a:rPr sz="2000" spc="-10" dirty="0">
                <a:latin typeface="Carlito"/>
                <a:cs typeface="Carlito"/>
              </a:rPr>
              <a:t>distillation  process, </a:t>
            </a:r>
            <a:r>
              <a:rPr sz="2000" dirty="0">
                <a:latin typeface="Carlito"/>
                <a:cs typeface="Carlito"/>
              </a:rPr>
              <a:t>and x is the </a:t>
            </a:r>
            <a:r>
              <a:rPr sz="2000" spc="-10" dirty="0">
                <a:latin typeface="Carlito"/>
                <a:cs typeface="Carlito"/>
              </a:rPr>
              <a:t>percentage </a:t>
            </a:r>
            <a:r>
              <a:rPr sz="2000" spc="-5" dirty="0">
                <a:latin typeface="Carlito"/>
                <a:cs typeface="Carlito"/>
              </a:rPr>
              <a:t>of  </a:t>
            </a:r>
            <a:r>
              <a:rPr sz="2000" spc="-10" dirty="0">
                <a:latin typeface="Carlito"/>
                <a:cs typeface="Carlito"/>
              </a:rPr>
              <a:t>hydrocarbons </a:t>
            </a:r>
            <a:r>
              <a:rPr sz="2000" spc="-5" dirty="0">
                <a:latin typeface="Carlito"/>
                <a:cs typeface="Carlito"/>
              </a:rPr>
              <a:t>that </a:t>
            </a:r>
            <a:r>
              <a:rPr sz="2000" spc="-10" dirty="0">
                <a:latin typeface="Carlito"/>
                <a:cs typeface="Carlito"/>
              </a:rPr>
              <a:t>are present </a:t>
            </a:r>
            <a:r>
              <a:rPr sz="2000" dirty="0">
                <a:latin typeface="Carlito"/>
                <a:cs typeface="Carlito"/>
              </a:rPr>
              <a:t>in the  </a:t>
            </a:r>
            <a:r>
              <a:rPr sz="2000" spc="-5" dirty="0">
                <a:latin typeface="Carlito"/>
                <a:cs typeface="Carlito"/>
              </a:rPr>
              <a:t>main </a:t>
            </a:r>
            <a:r>
              <a:rPr sz="2000" dirty="0">
                <a:latin typeface="Carlito"/>
                <a:cs typeface="Carlito"/>
              </a:rPr>
              <a:t>condenser of the </a:t>
            </a:r>
            <a:r>
              <a:rPr sz="2000" spc="-10" dirty="0">
                <a:latin typeface="Carlito"/>
                <a:cs typeface="Carlito"/>
              </a:rPr>
              <a:t>distillation </a:t>
            </a:r>
            <a:r>
              <a:rPr sz="2000" spc="-5" dirty="0">
                <a:latin typeface="Carlito"/>
                <a:cs typeface="Carlito"/>
              </a:rPr>
              <a:t>unit.</a:t>
            </a:r>
            <a:endParaRPr sz="2000" dirty="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018404" y="1250378"/>
          <a:ext cx="3704590" cy="3122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1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45">
                <a:tc>
                  <a:txBody>
                    <a:bodyPr/>
                    <a:lstStyle/>
                    <a:p>
                      <a:pPr marL="1905" algn="ctr">
                        <a:lnSpc>
                          <a:spcPts val="2120"/>
                        </a:lnSpc>
                      </a:pPr>
                      <a:r>
                        <a:rPr sz="1800" spc="-10" dirty="0">
                          <a:latin typeface="Carlito"/>
                          <a:cs typeface="Carlito"/>
                        </a:rPr>
                        <a:t>Hydrocarbon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level</a:t>
                      </a:r>
                      <a:r>
                        <a:rPr sz="1800" spc="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10" dirty="0">
                          <a:latin typeface="Carlito"/>
                          <a:cs typeface="Carlito"/>
                        </a:rPr>
                        <a:t>(X)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1800" spc="-5" dirty="0">
                          <a:latin typeface="Carlito"/>
                          <a:cs typeface="Carlito"/>
                        </a:rPr>
                        <a:t>Purity</a:t>
                      </a:r>
                      <a:r>
                        <a:rPr sz="1800" spc="-2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spc="-5" dirty="0">
                          <a:latin typeface="Carlito"/>
                          <a:cs typeface="Carlito"/>
                        </a:rPr>
                        <a:t>(Y)</a:t>
                      </a:r>
                      <a:endParaRPr sz="1800" dirty="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44">
                <a:tc>
                  <a:txBody>
                    <a:bodyPr/>
                    <a:lstStyle/>
                    <a:p>
                      <a:pPr marL="1270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0.99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90.01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270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1.02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89.05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844">
                <a:tc>
                  <a:txBody>
                    <a:bodyPr/>
                    <a:lstStyle/>
                    <a:p>
                      <a:pPr marL="1270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1.15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91.43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270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1.29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93.74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844">
                <a:tc>
                  <a:txBody>
                    <a:bodyPr/>
                    <a:lstStyle/>
                    <a:p>
                      <a:pPr marL="1270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1.46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96.73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844">
                <a:tc>
                  <a:txBody>
                    <a:bodyPr/>
                    <a:lstStyle/>
                    <a:p>
                      <a:pPr marL="1270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1.36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94.45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844">
                <a:tc>
                  <a:txBody>
                    <a:bodyPr/>
                    <a:lstStyle/>
                    <a:p>
                      <a:pPr marL="1270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0.87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0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87.59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270" algn="ctr">
                        <a:lnSpc>
                          <a:spcPts val="212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1.23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91.77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883">
                <a:tc>
                  <a:txBody>
                    <a:bodyPr/>
                    <a:lstStyle/>
                    <a:p>
                      <a:pPr marL="1905" algn="ctr">
                        <a:lnSpc>
                          <a:spcPts val="212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1.55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12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99.42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marL="1270" algn="ctr">
                        <a:lnSpc>
                          <a:spcPts val="212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1.4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25"/>
                        </a:lnSpc>
                      </a:pPr>
                      <a:r>
                        <a:rPr sz="1800" dirty="0">
                          <a:latin typeface="Carlito"/>
                          <a:cs typeface="Carlito"/>
                        </a:rPr>
                        <a:t>93.65</a:t>
                      </a: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219200" y="819150"/>
            <a:ext cx="6264401" cy="3759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479281" y="4830267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5</a:t>
            </a:fld>
            <a:endParaRPr sz="1200">
              <a:latin typeface="Carlito"/>
              <a:cs typeface="Carlito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75538FB-E235-4F84-BEEF-2D9CA3F1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9894" y="285445"/>
            <a:ext cx="47332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 Linear </a:t>
            </a:r>
            <a:r>
              <a:rPr spc="-15" dirty="0"/>
              <a:t>Regression</a:t>
            </a:r>
            <a:r>
              <a:rPr spc="30" dirty="0"/>
              <a:t> </a:t>
            </a:r>
            <a:r>
              <a:rPr spc="-1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423" y="1035812"/>
            <a:ext cx="5928995" cy="2971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marR="304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37515" algn="l"/>
                <a:tab pos="438150" algn="l"/>
              </a:tabLst>
            </a:pPr>
            <a:r>
              <a:rPr dirty="0"/>
              <a:t>	</a:t>
            </a:r>
            <a:r>
              <a:rPr sz="2000" spc="-5" dirty="0">
                <a:latin typeface="Carlito"/>
                <a:cs typeface="Carlito"/>
              </a:rPr>
              <a:t>The equation that describes how </a:t>
            </a:r>
            <a:r>
              <a:rPr sz="2000" i="1" dirty="0">
                <a:latin typeface="Carlito"/>
                <a:cs typeface="Carlito"/>
              </a:rPr>
              <a:t>y </a:t>
            </a:r>
            <a:r>
              <a:rPr sz="2000" dirty="0">
                <a:latin typeface="Carlito"/>
                <a:cs typeface="Carlito"/>
              </a:rPr>
              <a:t>is </a:t>
            </a:r>
            <a:r>
              <a:rPr sz="2000" spc="-15" dirty="0">
                <a:latin typeface="Carlito"/>
                <a:cs typeface="Carlito"/>
              </a:rPr>
              <a:t>related to </a:t>
            </a:r>
            <a:r>
              <a:rPr sz="2000" i="1" dirty="0">
                <a:latin typeface="Carlito"/>
                <a:cs typeface="Carlito"/>
              </a:rPr>
              <a:t>x </a:t>
            </a:r>
            <a:r>
              <a:rPr sz="2000" dirty="0">
                <a:latin typeface="Carlito"/>
                <a:cs typeface="Carlito"/>
              </a:rPr>
              <a:t>and  an </a:t>
            </a:r>
            <a:r>
              <a:rPr sz="2000" spc="-15" dirty="0">
                <a:latin typeface="Carlito"/>
                <a:cs typeface="Carlito"/>
              </a:rPr>
              <a:t>error </a:t>
            </a:r>
            <a:r>
              <a:rPr sz="2000" spc="-5" dirty="0">
                <a:latin typeface="Carlito"/>
                <a:cs typeface="Carlito"/>
              </a:rPr>
              <a:t>term </a:t>
            </a:r>
            <a:r>
              <a:rPr sz="2000" dirty="0">
                <a:latin typeface="Carlito"/>
                <a:cs typeface="Carlito"/>
              </a:rPr>
              <a:t>is </a:t>
            </a:r>
            <a:r>
              <a:rPr sz="2000" spc="-5" dirty="0">
                <a:latin typeface="Carlito"/>
                <a:cs typeface="Carlito"/>
              </a:rPr>
              <a:t>called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regression</a:t>
            </a:r>
            <a:r>
              <a:rPr sz="2000" spc="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model.</a:t>
            </a:r>
          </a:p>
          <a:p>
            <a:pPr marL="466090" indent="-399415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2000" spc="-5" dirty="0">
                <a:latin typeface="Carlito"/>
                <a:cs typeface="Carlito"/>
              </a:rPr>
              <a:t>The simple linear </a:t>
            </a:r>
            <a:r>
              <a:rPr sz="2000" spc="-10" dirty="0">
                <a:latin typeface="Carlito"/>
                <a:cs typeface="Carlito"/>
              </a:rPr>
              <a:t>regression </a:t>
            </a:r>
            <a:r>
              <a:rPr sz="2000" dirty="0">
                <a:latin typeface="Carlito"/>
                <a:cs typeface="Carlito"/>
              </a:rPr>
              <a:t>model</a:t>
            </a:r>
            <a:r>
              <a:rPr sz="2000" spc="3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is: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 dirty="0">
              <a:latin typeface="Carlito"/>
              <a:cs typeface="Carlito"/>
            </a:endParaRPr>
          </a:p>
          <a:p>
            <a:pPr marL="2880995">
              <a:lnSpc>
                <a:spcPct val="100000"/>
              </a:lnSpc>
            </a:pPr>
            <a:r>
              <a:rPr sz="1800" i="1" dirty="0">
                <a:latin typeface="Palladio Uralic"/>
                <a:cs typeface="Palladio Uralic"/>
              </a:rPr>
              <a:t>y </a:t>
            </a:r>
            <a:r>
              <a:rPr sz="1800" dirty="0">
                <a:latin typeface="TeXGyrePagella"/>
                <a:cs typeface="TeXGyrePagella"/>
              </a:rPr>
              <a:t>= </a:t>
            </a:r>
            <a:r>
              <a:rPr sz="1900" i="1" spc="-30" dirty="0">
                <a:latin typeface="Symbol"/>
                <a:cs typeface="Symbol"/>
              </a:rPr>
              <a:t></a:t>
            </a:r>
            <a:r>
              <a:rPr sz="1800" spc="-44" baseline="-20833" dirty="0">
                <a:latin typeface="TeXGyrePagella"/>
                <a:cs typeface="TeXGyrePagella"/>
              </a:rPr>
              <a:t>0 </a:t>
            </a:r>
            <a:r>
              <a:rPr sz="1800" dirty="0">
                <a:latin typeface="TeXGyrePagella"/>
                <a:cs typeface="TeXGyrePagella"/>
              </a:rPr>
              <a:t>+ </a:t>
            </a:r>
            <a:r>
              <a:rPr sz="1900" i="1" spc="-20" dirty="0">
                <a:latin typeface="Symbol"/>
                <a:cs typeface="Symbol"/>
              </a:rPr>
              <a:t></a:t>
            </a:r>
            <a:r>
              <a:rPr sz="1800" spc="-30" baseline="-20833" dirty="0">
                <a:latin typeface="TeXGyrePagella"/>
                <a:cs typeface="TeXGyrePagella"/>
              </a:rPr>
              <a:t>1</a:t>
            </a:r>
            <a:r>
              <a:rPr sz="1800" i="1" spc="-20" dirty="0">
                <a:latin typeface="Palladio Uralic"/>
                <a:cs typeface="Palladio Uralic"/>
              </a:rPr>
              <a:t>x</a:t>
            </a:r>
            <a:r>
              <a:rPr sz="1800" i="1" spc="-125" dirty="0">
                <a:latin typeface="Palladio Uralic"/>
                <a:cs typeface="Palladio Uralic"/>
              </a:rPr>
              <a:t> </a:t>
            </a:r>
            <a:r>
              <a:rPr sz="1800" spc="-25" dirty="0">
                <a:latin typeface="TeXGyrePagella"/>
                <a:cs typeface="TeXGyrePagella"/>
              </a:rPr>
              <a:t>+</a:t>
            </a:r>
            <a:r>
              <a:rPr sz="1900" i="1" spc="-25" dirty="0">
                <a:latin typeface="Symbol"/>
                <a:cs typeface="Symbol"/>
              </a:rPr>
              <a:t></a:t>
            </a:r>
            <a:endParaRPr sz="1900" dirty="0">
              <a:latin typeface="Symbol"/>
              <a:cs typeface="Symbol"/>
            </a:endParaRPr>
          </a:p>
          <a:p>
            <a:pPr marL="309245">
              <a:lnSpc>
                <a:spcPct val="100000"/>
              </a:lnSpc>
              <a:spcBef>
                <a:spcPts val="1110"/>
              </a:spcBef>
            </a:pPr>
            <a:r>
              <a:rPr sz="2000" spc="-5" dirty="0">
                <a:latin typeface="Carlito"/>
                <a:cs typeface="Carlito"/>
              </a:rPr>
              <a:t>where:</a:t>
            </a:r>
            <a:endParaRPr sz="2000" dirty="0">
              <a:latin typeface="Carlito"/>
              <a:cs typeface="Carlito"/>
            </a:endParaRPr>
          </a:p>
          <a:p>
            <a:pPr marL="1021080">
              <a:lnSpc>
                <a:spcPct val="100000"/>
              </a:lnSpc>
              <a:spcBef>
                <a:spcPts val="405"/>
              </a:spcBef>
            </a:pPr>
            <a:r>
              <a:rPr sz="2100" i="1" spc="-20" dirty="0">
                <a:latin typeface="Symbol"/>
                <a:cs typeface="Symbol"/>
              </a:rPr>
              <a:t></a:t>
            </a:r>
            <a:r>
              <a:rPr sz="1950" spc="-30" baseline="-21367" dirty="0">
                <a:latin typeface="Symbol"/>
                <a:cs typeface="Symbol"/>
              </a:rPr>
              <a:t></a:t>
            </a:r>
            <a:r>
              <a:rPr sz="1950" spc="-30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rlito"/>
                <a:cs typeface="Carlito"/>
              </a:rPr>
              <a:t>and </a:t>
            </a:r>
            <a:r>
              <a:rPr sz="2100" i="1" spc="-20" dirty="0">
                <a:latin typeface="Symbol"/>
                <a:cs typeface="Symbol"/>
              </a:rPr>
              <a:t></a:t>
            </a:r>
            <a:r>
              <a:rPr sz="1950" spc="-30" baseline="-21367" dirty="0">
                <a:latin typeface="Symbol"/>
                <a:cs typeface="Symbol"/>
              </a:rPr>
              <a:t></a:t>
            </a:r>
            <a:r>
              <a:rPr sz="1950" spc="-30" baseline="-21367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called </a:t>
            </a:r>
            <a:r>
              <a:rPr sz="2000" spc="-15" dirty="0">
                <a:latin typeface="Carlito"/>
                <a:cs typeface="Carlito"/>
              </a:rPr>
              <a:t>parameters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2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model,</a:t>
            </a:r>
          </a:p>
          <a:p>
            <a:pPr marL="995044">
              <a:lnSpc>
                <a:spcPct val="100000"/>
              </a:lnSpc>
              <a:spcBef>
                <a:spcPts val="360"/>
              </a:spcBef>
            </a:pPr>
            <a:r>
              <a:rPr sz="2100" i="1" spc="-45" dirty="0">
                <a:latin typeface="Symbol"/>
                <a:cs typeface="Symbol"/>
              </a:rPr>
              <a:t></a:t>
            </a:r>
            <a:r>
              <a:rPr sz="2100" i="1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rlito"/>
                <a:cs typeface="Carlito"/>
              </a:rPr>
              <a:t>is a </a:t>
            </a:r>
            <a:r>
              <a:rPr sz="2000" spc="-5" dirty="0">
                <a:latin typeface="Carlito"/>
                <a:cs typeface="Carlito"/>
              </a:rPr>
              <a:t>random variable called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error</a:t>
            </a:r>
            <a:r>
              <a:rPr sz="2000" spc="-7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term.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5055" y="300050"/>
            <a:ext cx="50901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 Linear </a:t>
            </a:r>
            <a:r>
              <a:rPr spc="-15" dirty="0"/>
              <a:t>Regression</a:t>
            </a:r>
            <a:r>
              <a:rPr spc="45" dirty="0"/>
              <a:t> </a:t>
            </a:r>
            <a:r>
              <a:rPr spc="-15" dirty="0"/>
              <a:t>Equation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6716" y="808356"/>
            <a:ext cx="5615940" cy="243649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2000" spc="-5" dirty="0">
                <a:latin typeface="Carlito"/>
                <a:cs typeface="Carlito"/>
              </a:rPr>
              <a:t>The simple linear </a:t>
            </a:r>
            <a:r>
              <a:rPr sz="2000" spc="-10" dirty="0">
                <a:latin typeface="Carlito"/>
                <a:cs typeface="Carlito"/>
              </a:rPr>
              <a:t>regression </a:t>
            </a:r>
            <a:r>
              <a:rPr sz="2000" spc="-5" dirty="0">
                <a:latin typeface="Carlito"/>
                <a:cs typeface="Carlito"/>
              </a:rPr>
              <a:t>equation</a:t>
            </a:r>
            <a:r>
              <a:rPr sz="2000" spc="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is:</a:t>
            </a:r>
            <a:endParaRPr sz="2000">
              <a:latin typeface="Carlito"/>
              <a:cs typeface="Carlito"/>
            </a:endParaRPr>
          </a:p>
          <a:p>
            <a:pPr marL="2481580">
              <a:lnSpc>
                <a:spcPct val="100000"/>
              </a:lnSpc>
              <a:spcBef>
                <a:spcPts val="1040"/>
              </a:spcBef>
            </a:pPr>
            <a:r>
              <a:rPr sz="2000" i="1" dirty="0">
                <a:latin typeface="Palladio Uralic"/>
                <a:cs typeface="Palladio Uralic"/>
              </a:rPr>
              <a:t>E</a:t>
            </a:r>
            <a:r>
              <a:rPr sz="2000" dirty="0">
                <a:latin typeface="TeXGyrePagella"/>
                <a:cs typeface="TeXGyrePagella"/>
              </a:rPr>
              <a:t>(</a:t>
            </a:r>
            <a:r>
              <a:rPr sz="2000" i="1" dirty="0">
                <a:latin typeface="Palladio Uralic"/>
                <a:cs typeface="Palladio Uralic"/>
              </a:rPr>
              <a:t>y</a:t>
            </a:r>
            <a:r>
              <a:rPr sz="2000" dirty="0">
                <a:latin typeface="TeXGyrePagella"/>
                <a:cs typeface="TeXGyrePagella"/>
              </a:rPr>
              <a:t>) = </a:t>
            </a:r>
            <a:r>
              <a:rPr sz="2100" i="1" spc="-20" dirty="0">
                <a:latin typeface="Symbol"/>
                <a:cs typeface="Symbol"/>
              </a:rPr>
              <a:t></a:t>
            </a:r>
            <a:r>
              <a:rPr sz="1950" spc="-30" baseline="-21367" dirty="0">
                <a:latin typeface="TeXGyrePagella"/>
                <a:cs typeface="TeXGyrePagella"/>
              </a:rPr>
              <a:t>0 </a:t>
            </a:r>
            <a:r>
              <a:rPr sz="2000" dirty="0">
                <a:latin typeface="TeXGyrePagella"/>
                <a:cs typeface="TeXGyrePagella"/>
              </a:rPr>
              <a:t>+</a:t>
            </a:r>
            <a:r>
              <a:rPr sz="2000" spc="-175" dirty="0">
                <a:latin typeface="TeXGyrePagella"/>
                <a:cs typeface="TeXGyrePagella"/>
              </a:rPr>
              <a:t> </a:t>
            </a:r>
            <a:r>
              <a:rPr sz="2100" i="1" spc="-10" dirty="0">
                <a:latin typeface="Symbol"/>
                <a:cs typeface="Symbol"/>
              </a:rPr>
              <a:t></a:t>
            </a:r>
            <a:r>
              <a:rPr sz="1950" spc="-15" baseline="-21367" dirty="0">
                <a:latin typeface="TeXGyrePagella"/>
                <a:cs typeface="TeXGyrePagella"/>
              </a:rPr>
              <a:t>1</a:t>
            </a:r>
            <a:r>
              <a:rPr sz="2000" i="1" spc="-10" dirty="0">
                <a:latin typeface="Palladio Uralic"/>
                <a:cs typeface="Palladio Uralic"/>
              </a:rPr>
              <a:t>x</a:t>
            </a:r>
            <a:endParaRPr sz="2000">
              <a:latin typeface="Palladio Uralic"/>
              <a:cs typeface="Palladio Uralic"/>
            </a:endParaRPr>
          </a:p>
          <a:p>
            <a:pPr marL="405130" indent="-343535">
              <a:lnSpc>
                <a:spcPct val="100000"/>
              </a:lnSpc>
              <a:spcBef>
                <a:spcPts val="1880"/>
              </a:spcBef>
              <a:buFont typeface="Arial"/>
              <a:buChar char="•"/>
              <a:tabLst>
                <a:tab pos="404495" algn="l"/>
                <a:tab pos="405130" algn="l"/>
              </a:tabLst>
            </a:pPr>
            <a:r>
              <a:rPr sz="2000" spc="-10" dirty="0">
                <a:latin typeface="Carlito"/>
                <a:cs typeface="Carlito"/>
              </a:rPr>
              <a:t>Graph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regression </a:t>
            </a:r>
            <a:r>
              <a:rPr sz="2000" spc="-5" dirty="0">
                <a:latin typeface="Carlito"/>
                <a:cs typeface="Carlito"/>
              </a:rPr>
              <a:t>equation </a:t>
            </a:r>
            <a:r>
              <a:rPr sz="2000" dirty="0">
                <a:latin typeface="Carlito"/>
                <a:cs typeface="Carlito"/>
              </a:rPr>
              <a:t>is a </a:t>
            </a:r>
            <a:r>
              <a:rPr sz="2000" spc="-10" dirty="0">
                <a:latin typeface="Carlito"/>
                <a:cs typeface="Carlito"/>
              </a:rPr>
              <a:t>straight</a:t>
            </a:r>
            <a:r>
              <a:rPr sz="2000" spc="1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line.</a:t>
            </a:r>
            <a:endParaRPr sz="2000">
              <a:latin typeface="Carlito"/>
              <a:cs typeface="Carlito"/>
            </a:endParaRPr>
          </a:p>
          <a:p>
            <a:pPr marL="461009" indent="-400050">
              <a:lnSpc>
                <a:spcPct val="100000"/>
              </a:lnSpc>
              <a:spcBef>
                <a:spcPts val="90"/>
              </a:spcBef>
              <a:buSzPct val="95238"/>
              <a:buFont typeface="Arial"/>
              <a:buChar char="•"/>
              <a:tabLst>
                <a:tab pos="461009" algn="l"/>
                <a:tab pos="461645" algn="l"/>
              </a:tabLst>
            </a:pPr>
            <a:r>
              <a:rPr sz="2100" i="1" spc="-20" dirty="0">
                <a:latin typeface="Symbol"/>
                <a:cs typeface="Symbol"/>
              </a:rPr>
              <a:t></a:t>
            </a:r>
            <a:r>
              <a:rPr sz="1950" spc="-30" baseline="-21367" dirty="0">
                <a:latin typeface="Symbol"/>
                <a:cs typeface="Symbol"/>
              </a:rPr>
              <a:t></a:t>
            </a:r>
            <a:r>
              <a:rPr sz="1950" spc="-30" baseline="-2136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rlito"/>
                <a:cs typeface="Carlito"/>
              </a:rPr>
              <a:t>is the </a:t>
            </a:r>
            <a:r>
              <a:rPr sz="2000" i="1" dirty="0">
                <a:latin typeface="Carlito"/>
                <a:cs typeface="Carlito"/>
              </a:rPr>
              <a:t>y </a:t>
            </a:r>
            <a:r>
              <a:rPr sz="2000" spc="-10" dirty="0">
                <a:latin typeface="Carlito"/>
                <a:cs typeface="Carlito"/>
              </a:rPr>
              <a:t>intercept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regression</a:t>
            </a:r>
            <a:r>
              <a:rPr sz="2000" spc="-16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line.</a:t>
            </a:r>
            <a:endParaRPr sz="2000">
              <a:latin typeface="Carlito"/>
              <a:cs typeface="Carlito"/>
            </a:endParaRPr>
          </a:p>
          <a:p>
            <a:pPr marL="405130" indent="-343535">
              <a:lnSpc>
                <a:spcPct val="100000"/>
              </a:lnSpc>
              <a:spcBef>
                <a:spcPts val="70"/>
              </a:spcBef>
              <a:buSzPct val="95238"/>
              <a:buFont typeface="Arial"/>
              <a:buChar char="•"/>
              <a:tabLst>
                <a:tab pos="404495" algn="l"/>
                <a:tab pos="405130" algn="l"/>
              </a:tabLst>
            </a:pPr>
            <a:r>
              <a:rPr sz="2100" i="1" spc="-50" dirty="0">
                <a:latin typeface="Symbol"/>
                <a:cs typeface="Symbol"/>
              </a:rPr>
              <a:t></a:t>
            </a:r>
            <a:r>
              <a:rPr sz="2100" i="1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rlito"/>
                <a:cs typeface="Carlito"/>
              </a:rPr>
              <a:t>is the </a:t>
            </a:r>
            <a:r>
              <a:rPr sz="2000" spc="-5" dirty="0">
                <a:latin typeface="Carlito"/>
                <a:cs typeface="Carlito"/>
              </a:rPr>
              <a:t>slope </a:t>
            </a:r>
            <a:r>
              <a:rPr sz="2000" dirty="0">
                <a:latin typeface="Carlito"/>
                <a:cs typeface="Carlito"/>
              </a:rPr>
              <a:t>of the </a:t>
            </a:r>
            <a:r>
              <a:rPr sz="2000" spc="-10" dirty="0">
                <a:latin typeface="Carlito"/>
                <a:cs typeface="Carlito"/>
              </a:rPr>
              <a:t>regression</a:t>
            </a:r>
            <a:r>
              <a:rPr sz="2000" spc="-6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line.</a:t>
            </a:r>
            <a:endParaRPr sz="2000">
              <a:latin typeface="Carlito"/>
              <a:cs typeface="Carlito"/>
            </a:endParaRPr>
          </a:p>
          <a:p>
            <a:pPr marL="405130" indent="-343535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404495" algn="l"/>
                <a:tab pos="405130" algn="l"/>
              </a:tabLst>
            </a:pPr>
            <a:r>
              <a:rPr sz="2000" i="1" dirty="0">
                <a:latin typeface="Carlito"/>
                <a:cs typeface="Carlito"/>
              </a:rPr>
              <a:t>E</a:t>
            </a:r>
            <a:r>
              <a:rPr sz="2000" dirty="0">
                <a:latin typeface="Carlito"/>
                <a:cs typeface="Carlito"/>
              </a:rPr>
              <a:t>(</a:t>
            </a:r>
            <a:r>
              <a:rPr sz="2000" i="1" dirty="0">
                <a:latin typeface="Carlito"/>
                <a:cs typeface="Carlito"/>
              </a:rPr>
              <a:t>y</a:t>
            </a:r>
            <a:r>
              <a:rPr sz="2000" dirty="0">
                <a:latin typeface="Carlito"/>
                <a:cs typeface="Carlito"/>
              </a:rPr>
              <a:t>) </a:t>
            </a:r>
            <a:r>
              <a:rPr sz="2000" spc="-5" dirty="0">
                <a:latin typeface="Carlito"/>
                <a:cs typeface="Carlito"/>
              </a:rPr>
              <a:t>is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expected </a:t>
            </a:r>
            <a:r>
              <a:rPr sz="2000" spc="-5" dirty="0">
                <a:latin typeface="Carlito"/>
                <a:cs typeface="Carlito"/>
              </a:rPr>
              <a:t>value of </a:t>
            </a:r>
            <a:r>
              <a:rPr sz="2000" i="1" dirty="0">
                <a:latin typeface="Carlito"/>
                <a:cs typeface="Carlito"/>
              </a:rPr>
              <a:t>y </a:t>
            </a:r>
            <a:r>
              <a:rPr sz="2000" spc="-15" dirty="0">
                <a:latin typeface="Carlito"/>
                <a:cs typeface="Carlito"/>
              </a:rPr>
              <a:t>for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given </a:t>
            </a:r>
            <a:r>
              <a:rPr sz="2000" i="1" dirty="0">
                <a:latin typeface="Carlito"/>
                <a:cs typeface="Carlito"/>
              </a:rPr>
              <a:t>x</a:t>
            </a:r>
            <a:r>
              <a:rPr sz="2000" i="1" spc="-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value.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5776" y="348487"/>
            <a:ext cx="5092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 Linear </a:t>
            </a:r>
            <a:r>
              <a:rPr spc="-15" dirty="0"/>
              <a:t>Regression</a:t>
            </a:r>
            <a:r>
              <a:rPr spc="15" dirty="0"/>
              <a:t> </a:t>
            </a:r>
            <a:r>
              <a:rPr spc="-10" dirty="0"/>
              <a:t>Equation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39211" y="1313688"/>
            <a:ext cx="908685" cy="2803525"/>
            <a:chOff x="2839211" y="1313688"/>
            <a:chExt cx="908685" cy="2803525"/>
          </a:xfrm>
        </p:grpSpPr>
        <p:sp>
          <p:nvSpPr>
            <p:cNvPr id="4" name="object 4"/>
            <p:cNvSpPr/>
            <p:nvPr/>
          </p:nvSpPr>
          <p:spPr>
            <a:xfrm>
              <a:off x="3371849" y="1793748"/>
              <a:ext cx="0" cy="2318385"/>
            </a:xfrm>
            <a:custGeom>
              <a:avLst/>
              <a:gdLst/>
              <a:ahLst/>
              <a:cxnLst/>
              <a:rect l="l" t="t" r="r" b="b"/>
              <a:pathLst>
                <a:path h="2318385">
                  <a:moveTo>
                    <a:pt x="0" y="2318004"/>
                  </a:moveTo>
                  <a:lnTo>
                    <a:pt x="0" y="0"/>
                  </a:lnTo>
                </a:path>
              </a:pathLst>
            </a:custGeom>
            <a:ln w="10667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49" y="1757299"/>
              <a:ext cx="0" cy="2315210"/>
            </a:xfrm>
            <a:custGeom>
              <a:avLst/>
              <a:gdLst/>
              <a:ahLst/>
              <a:cxnLst/>
              <a:rect l="l" t="t" r="r" b="b"/>
              <a:pathLst>
                <a:path h="2315210">
                  <a:moveTo>
                    <a:pt x="0" y="0"/>
                  </a:moveTo>
                  <a:lnTo>
                    <a:pt x="0" y="231463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39211" y="1313688"/>
              <a:ext cx="908303" cy="64312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2101" y="690095"/>
            <a:ext cx="2851785" cy="102489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000" spc="-15" dirty="0">
                <a:latin typeface="Carlito"/>
                <a:cs typeface="Carlito"/>
              </a:rPr>
              <a:t>Positive </a:t>
            </a:r>
            <a:r>
              <a:rPr sz="2000" spc="-5" dirty="0">
                <a:latin typeface="Carlito"/>
                <a:cs typeface="Carlito"/>
              </a:rPr>
              <a:t>Linear</a:t>
            </a:r>
            <a:r>
              <a:rPr sz="200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Relationship</a:t>
            </a:r>
            <a:endParaRPr sz="2000">
              <a:latin typeface="Carlito"/>
              <a:cs typeface="Carlito"/>
            </a:endParaRPr>
          </a:p>
          <a:p>
            <a:pPr marL="2211070">
              <a:lnSpc>
                <a:spcPct val="100000"/>
              </a:lnSpc>
              <a:spcBef>
                <a:spcPts val="1410"/>
              </a:spcBef>
            </a:pPr>
            <a:r>
              <a:rPr sz="2400" i="1" spc="-5" dirty="0">
                <a:latin typeface="Carlito"/>
                <a:cs typeface="Carlito"/>
              </a:rPr>
              <a:t>E</a:t>
            </a:r>
            <a:r>
              <a:rPr sz="2400" spc="-5" dirty="0">
                <a:latin typeface="Carlito"/>
                <a:cs typeface="Carlito"/>
              </a:rPr>
              <a:t>(</a:t>
            </a:r>
            <a:r>
              <a:rPr sz="2400" i="1" spc="-5" dirty="0">
                <a:latin typeface="Carlito"/>
                <a:cs typeface="Carlito"/>
              </a:rPr>
              <a:t>y</a:t>
            </a:r>
            <a:r>
              <a:rPr sz="2400" spc="-5" dirty="0">
                <a:latin typeface="Carlito"/>
                <a:cs typeface="Carlito"/>
              </a:rPr>
              <a:t>)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00088" y="3968496"/>
            <a:ext cx="569976" cy="6431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314700" y="2081276"/>
            <a:ext cx="3418204" cy="2019935"/>
            <a:chOff x="3314700" y="2081276"/>
            <a:chExt cx="3418204" cy="2019935"/>
          </a:xfrm>
        </p:grpSpPr>
        <p:sp>
          <p:nvSpPr>
            <p:cNvPr id="10" name="object 10"/>
            <p:cNvSpPr/>
            <p:nvPr/>
          </p:nvSpPr>
          <p:spPr>
            <a:xfrm>
              <a:off x="3371088" y="4095750"/>
              <a:ext cx="3355975" cy="0"/>
            </a:xfrm>
            <a:custGeom>
              <a:avLst/>
              <a:gdLst/>
              <a:ahLst/>
              <a:cxnLst/>
              <a:rect l="l" t="t" r="r" b="b"/>
              <a:pathLst>
                <a:path w="3355975">
                  <a:moveTo>
                    <a:pt x="0" y="0"/>
                  </a:moveTo>
                  <a:lnTo>
                    <a:pt x="3355848" y="0"/>
                  </a:lnTo>
                </a:path>
              </a:pathLst>
            </a:custGeom>
            <a:ln w="10668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33750" y="4057650"/>
              <a:ext cx="3352800" cy="0"/>
            </a:xfrm>
            <a:custGeom>
              <a:avLst/>
              <a:gdLst/>
              <a:ahLst/>
              <a:cxnLst/>
              <a:rect l="l" t="t" r="r" b="b"/>
              <a:pathLst>
                <a:path w="3352800">
                  <a:moveTo>
                    <a:pt x="3352800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39083" y="2092452"/>
              <a:ext cx="3310127" cy="10408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33750" y="2100326"/>
              <a:ext cx="3295650" cy="1000125"/>
            </a:xfrm>
            <a:custGeom>
              <a:avLst/>
              <a:gdLst/>
              <a:ahLst/>
              <a:cxnLst/>
              <a:rect l="l" t="t" r="r" b="b"/>
              <a:pathLst>
                <a:path w="3295650" h="1000125">
                  <a:moveTo>
                    <a:pt x="0" y="1000125"/>
                  </a:moveTo>
                  <a:lnTo>
                    <a:pt x="3295650" y="0"/>
                  </a:lnTo>
                </a:path>
              </a:pathLst>
            </a:custGeom>
            <a:ln w="38100">
              <a:solidFill>
                <a:srgbClr val="D200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82311" y="2928620"/>
            <a:ext cx="13011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Slope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i="1" spc="-5" dirty="0">
                <a:latin typeface="Carlito"/>
                <a:cs typeface="Carlito"/>
              </a:rPr>
              <a:t>b</a:t>
            </a:r>
            <a:r>
              <a:rPr sz="2400" spc="-7" baseline="-20833" dirty="0">
                <a:latin typeface="Carlito"/>
                <a:cs typeface="Carlito"/>
              </a:rPr>
              <a:t>1</a:t>
            </a:r>
            <a:endParaRPr sz="2400" baseline="-20833">
              <a:latin typeface="Carlito"/>
              <a:cs typeface="Carlito"/>
            </a:endParaRPr>
          </a:p>
          <a:p>
            <a:pPr marL="38100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is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positive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87799" y="1974544"/>
            <a:ext cx="1798701" cy="5780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18132" y="2945638"/>
            <a:ext cx="1223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7625" algn="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I</a:t>
            </a:r>
            <a:r>
              <a:rPr sz="2400" spc="-30" dirty="0">
                <a:latin typeface="Carlito"/>
                <a:cs typeface="Carlito"/>
              </a:rPr>
              <a:t>n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-30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c</a:t>
            </a:r>
            <a:r>
              <a:rPr sz="2400" spc="5" dirty="0">
                <a:latin typeface="Carlito"/>
                <a:cs typeface="Carlito"/>
              </a:rPr>
              <a:t>e</a:t>
            </a:r>
            <a:r>
              <a:rPr sz="2400" spc="-15" dirty="0">
                <a:latin typeface="Carlito"/>
                <a:cs typeface="Carlito"/>
              </a:rPr>
              <a:t>p</a:t>
            </a:r>
            <a:r>
              <a:rPr sz="2400" dirty="0">
                <a:latin typeface="Carlito"/>
                <a:cs typeface="Carlito"/>
              </a:rPr>
              <a:t>t</a:t>
            </a:r>
            <a:endParaRPr sz="2400">
              <a:latin typeface="Carlito"/>
              <a:cs typeface="Carlito"/>
            </a:endParaRPr>
          </a:p>
          <a:p>
            <a:pPr marR="30480" algn="r">
              <a:lnSpc>
                <a:spcPct val="100000"/>
              </a:lnSpc>
            </a:pPr>
            <a:r>
              <a:rPr sz="2400" i="1" dirty="0">
                <a:latin typeface="Carlito"/>
                <a:cs typeface="Carlito"/>
              </a:rPr>
              <a:t>b</a:t>
            </a:r>
            <a:r>
              <a:rPr sz="2400" spc="-7" baseline="-20833" dirty="0">
                <a:latin typeface="Carlito"/>
                <a:cs typeface="Carlito"/>
              </a:rPr>
              <a:t>0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22134" y="4055465"/>
            <a:ext cx="1574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dirty="0">
                <a:latin typeface="Carlito"/>
                <a:cs typeface="Carlito"/>
              </a:rPr>
              <a:t>x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5810" y="151892"/>
            <a:ext cx="5092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 Linear </a:t>
            </a:r>
            <a:r>
              <a:rPr spc="-15" dirty="0"/>
              <a:t>Regression</a:t>
            </a:r>
            <a:r>
              <a:rPr spc="15" dirty="0"/>
              <a:t> </a:t>
            </a:r>
            <a:r>
              <a:rPr spc="-10" dirty="0"/>
              <a:t>Equation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69335" y="1278636"/>
            <a:ext cx="4174490" cy="3188335"/>
            <a:chOff x="3069335" y="1278636"/>
            <a:chExt cx="4174490" cy="3188335"/>
          </a:xfrm>
        </p:grpSpPr>
        <p:sp>
          <p:nvSpPr>
            <p:cNvPr id="4" name="object 4"/>
            <p:cNvSpPr/>
            <p:nvPr/>
          </p:nvSpPr>
          <p:spPr>
            <a:xfrm>
              <a:off x="3371849" y="1793748"/>
              <a:ext cx="0" cy="2318385"/>
            </a:xfrm>
            <a:custGeom>
              <a:avLst/>
              <a:gdLst/>
              <a:ahLst/>
              <a:cxnLst/>
              <a:rect l="l" t="t" r="r" b="b"/>
              <a:pathLst>
                <a:path h="2318385">
                  <a:moveTo>
                    <a:pt x="0" y="2318004"/>
                  </a:moveTo>
                  <a:lnTo>
                    <a:pt x="0" y="0"/>
                  </a:lnTo>
                </a:path>
              </a:pathLst>
            </a:custGeom>
            <a:ln w="10667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49" y="1757298"/>
              <a:ext cx="0" cy="2315210"/>
            </a:xfrm>
            <a:custGeom>
              <a:avLst/>
              <a:gdLst/>
              <a:ahLst/>
              <a:cxnLst/>
              <a:rect l="l" t="t" r="r" b="b"/>
              <a:pathLst>
                <a:path h="2315210">
                  <a:moveTo>
                    <a:pt x="0" y="0"/>
                  </a:moveTo>
                  <a:lnTo>
                    <a:pt x="0" y="231463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69335" y="1278636"/>
              <a:ext cx="908303" cy="64312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71087" y="4095750"/>
              <a:ext cx="3355975" cy="0"/>
            </a:xfrm>
            <a:custGeom>
              <a:avLst/>
              <a:gdLst/>
              <a:ahLst/>
              <a:cxnLst/>
              <a:rect l="l" t="t" r="r" b="b"/>
              <a:pathLst>
                <a:path w="3355975">
                  <a:moveTo>
                    <a:pt x="0" y="0"/>
                  </a:moveTo>
                  <a:lnTo>
                    <a:pt x="3355848" y="0"/>
                  </a:lnTo>
                </a:path>
              </a:pathLst>
            </a:custGeom>
            <a:ln w="10668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33749" y="4057650"/>
              <a:ext cx="3352800" cy="0"/>
            </a:xfrm>
            <a:custGeom>
              <a:avLst/>
              <a:gdLst/>
              <a:ahLst/>
              <a:cxnLst/>
              <a:rect l="l" t="t" r="r" b="b"/>
              <a:pathLst>
                <a:path w="3352800">
                  <a:moveTo>
                    <a:pt x="3352800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73595" y="3823715"/>
              <a:ext cx="569976" cy="64312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40607" y="2406396"/>
              <a:ext cx="3287267" cy="69799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33749" y="2414650"/>
              <a:ext cx="3276600" cy="657225"/>
            </a:xfrm>
            <a:custGeom>
              <a:avLst/>
              <a:gdLst/>
              <a:ahLst/>
              <a:cxnLst/>
              <a:rect l="l" t="t" r="r" b="b"/>
              <a:pathLst>
                <a:path w="3276600" h="657225">
                  <a:moveTo>
                    <a:pt x="0" y="0"/>
                  </a:moveTo>
                  <a:lnTo>
                    <a:pt x="3276600" y="657225"/>
                  </a:lnTo>
                </a:path>
              </a:pathLst>
            </a:custGeom>
            <a:ln w="38100">
              <a:solidFill>
                <a:srgbClr val="D200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66056" y="2078355"/>
              <a:ext cx="1806955" cy="49237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36701" y="718833"/>
            <a:ext cx="4953635" cy="312483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R="1974214" algn="r">
              <a:lnSpc>
                <a:spcPct val="100000"/>
              </a:lnSpc>
              <a:spcBef>
                <a:spcPts val="1050"/>
              </a:spcBef>
            </a:pPr>
            <a:r>
              <a:rPr sz="2000" spc="-15" dirty="0">
                <a:latin typeface="Carlito"/>
                <a:cs typeface="Carlito"/>
              </a:rPr>
              <a:t>Negative </a:t>
            </a:r>
            <a:r>
              <a:rPr sz="2000" spc="-5" dirty="0">
                <a:latin typeface="Carlito"/>
                <a:cs typeface="Carlito"/>
              </a:rPr>
              <a:t>Linear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Relationship</a:t>
            </a:r>
            <a:endParaRPr sz="2000">
              <a:latin typeface="Carlito"/>
              <a:cs typeface="Carlito"/>
            </a:endParaRPr>
          </a:p>
          <a:p>
            <a:pPr marR="2008505" algn="r">
              <a:lnSpc>
                <a:spcPct val="100000"/>
              </a:lnSpc>
              <a:spcBef>
                <a:spcPts val="1135"/>
              </a:spcBef>
            </a:pPr>
            <a:r>
              <a:rPr sz="2400" i="1" dirty="0">
                <a:latin typeface="Carlito"/>
                <a:cs typeface="Carlito"/>
              </a:rPr>
              <a:t>E</a:t>
            </a:r>
            <a:r>
              <a:rPr sz="2400" dirty="0">
                <a:latin typeface="Carlito"/>
                <a:cs typeface="Carlito"/>
              </a:rPr>
              <a:t>(</a:t>
            </a:r>
            <a:r>
              <a:rPr sz="2400" i="1" spc="-10" dirty="0">
                <a:latin typeface="Carlito"/>
                <a:cs typeface="Carlito"/>
              </a:rPr>
              <a:t>y</a:t>
            </a:r>
            <a:r>
              <a:rPr sz="2400" dirty="0">
                <a:latin typeface="Carlito"/>
                <a:cs typeface="Carlito"/>
              </a:rPr>
              <a:t>)</a:t>
            </a: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4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Carlito"/>
              <a:cs typeface="Carlito"/>
            </a:endParaRPr>
          </a:p>
          <a:p>
            <a:pPr marR="2776855" algn="r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I</a:t>
            </a:r>
            <a:r>
              <a:rPr sz="2400" spc="-30" dirty="0">
                <a:latin typeface="Carlito"/>
                <a:cs typeface="Carlito"/>
              </a:rPr>
              <a:t>n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-30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c</a:t>
            </a:r>
            <a:r>
              <a:rPr sz="2400" spc="5" dirty="0">
                <a:latin typeface="Carlito"/>
                <a:cs typeface="Carlito"/>
              </a:rPr>
              <a:t>e</a:t>
            </a:r>
            <a:r>
              <a:rPr sz="2400" spc="-15" dirty="0">
                <a:latin typeface="Carlito"/>
                <a:cs typeface="Carlito"/>
              </a:rPr>
              <a:t>p</a:t>
            </a:r>
            <a:r>
              <a:rPr sz="2400" dirty="0">
                <a:latin typeface="Carlito"/>
                <a:cs typeface="Carlito"/>
              </a:rPr>
              <a:t>t</a:t>
            </a:r>
            <a:endParaRPr sz="2400">
              <a:latin typeface="Carlito"/>
              <a:cs typeface="Carlito"/>
            </a:endParaRPr>
          </a:p>
          <a:p>
            <a:pPr marR="2759075" algn="r">
              <a:lnSpc>
                <a:spcPct val="100000"/>
              </a:lnSpc>
            </a:pPr>
            <a:r>
              <a:rPr sz="2400" i="1" dirty="0">
                <a:latin typeface="Carlito"/>
                <a:cs typeface="Carlito"/>
              </a:rPr>
              <a:t>b</a:t>
            </a:r>
            <a:r>
              <a:rPr sz="2400" spc="-7" baseline="-20833" dirty="0">
                <a:latin typeface="Carlito"/>
                <a:cs typeface="Carlito"/>
              </a:rPr>
              <a:t>0</a:t>
            </a:r>
            <a:endParaRPr sz="2400" baseline="-20833">
              <a:latin typeface="Carlito"/>
              <a:cs typeface="Carlito"/>
            </a:endParaRPr>
          </a:p>
          <a:p>
            <a:pPr marL="359346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Slope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i="1" spc="-5" dirty="0">
                <a:latin typeface="Carlito"/>
                <a:cs typeface="Carlito"/>
              </a:rPr>
              <a:t>b</a:t>
            </a:r>
            <a:r>
              <a:rPr sz="2400" spc="-7" baseline="-20833" dirty="0">
                <a:latin typeface="Carlito"/>
                <a:cs typeface="Carlito"/>
              </a:rPr>
              <a:t>1</a:t>
            </a:r>
            <a:endParaRPr sz="2400" baseline="-20833">
              <a:latin typeface="Carlito"/>
              <a:cs typeface="Carlito"/>
            </a:endParaRPr>
          </a:p>
          <a:p>
            <a:pPr marL="359346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rlito"/>
                <a:cs typeface="Carlito"/>
              </a:rPr>
              <a:t>is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negative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22134" y="4055465"/>
            <a:ext cx="1574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dirty="0">
                <a:latin typeface="Carlito"/>
                <a:cs typeface="Carlito"/>
              </a:rPr>
              <a:t>x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6411" y="279018"/>
            <a:ext cx="5092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Simple Linear </a:t>
            </a:r>
            <a:r>
              <a:rPr spc="-15" dirty="0"/>
              <a:t>Regression</a:t>
            </a:r>
            <a:r>
              <a:rPr spc="15" dirty="0"/>
              <a:t> </a:t>
            </a:r>
            <a:r>
              <a:rPr spc="-10" dirty="0"/>
              <a:t>Equation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48939" y="1371600"/>
            <a:ext cx="4383405" cy="3129280"/>
            <a:chOff x="2948939" y="1371600"/>
            <a:chExt cx="4383405" cy="3129280"/>
          </a:xfrm>
        </p:grpSpPr>
        <p:sp>
          <p:nvSpPr>
            <p:cNvPr id="4" name="object 4"/>
            <p:cNvSpPr/>
            <p:nvPr/>
          </p:nvSpPr>
          <p:spPr>
            <a:xfrm>
              <a:off x="3371849" y="1793748"/>
              <a:ext cx="0" cy="2318385"/>
            </a:xfrm>
            <a:custGeom>
              <a:avLst/>
              <a:gdLst/>
              <a:ahLst/>
              <a:cxnLst/>
              <a:rect l="l" t="t" r="r" b="b"/>
              <a:pathLst>
                <a:path h="2318385">
                  <a:moveTo>
                    <a:pt x="0" y="2318004"/>
                  </a:moveTo>
                  <a:lnTo>
                    <a:pt x="0" y="0"/>
                  </a:lnTo>
                </a:path>
              </a:pathLst>
            </a:custGeom>
            <a:ln w="10667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33749" y="1757299"/>
              <a:ext cx="0" cy="2315210"/>
            </a:xfrm>
            <a:custGeom>
              <a:avLst/>
              <a:gdLst/>
              <a:ahLst/>
              <a:cxnLst/>
              <a:rect l="l" t="t" r="r" b="b"/>
              <a:pathLst>
                <a:path h="2315210">
                  <a:moveTo>
                    <a:pt x="0" y="0"/>
                  </a:moveTo>
                  <a:lnTo>
                    <a:pt x="0" y="231463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48939" y="1371600"/>
              <a:ext cx="908303" cy="64312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71087" y="4095750"/>
              <a:ext cx="3355975" cy="0"/>
            </a:xfrm>
            <a:custGeom>
              <a:avLst/>
              <a:gdLst/>
              <a:ahLst/>
              <a:cxnLst/>
              <a:rect l="l" t="t" r="r" b="b"/>
              <a:pathLst>
                <a:path w="3355975">
                  <a:moveTo>
                    <a:pt x="0" y="0"/>
                  </a:moveTo>
                  <a:lnTo>
                    <a:pt x="3355848" y="0"/>
                  </a:lnTo>
                </a:path>
              </a:pathLst>
            </a:custGeom>
            <a:ln w="10668">
              <a:solidFill>
                <a:srgbClr val="FEFE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33749" y="4057650"/>
              <a:ext cx="3352800" cy="0"/>
            </a:xfrm>
            <a:custGeom>
              <a:avLst/>
              <a:gdLst/>
              <a:ahLst/>
              <a:cxnLst/>
              <a:rect l="l" t="t" r="r" b="b"/>
              <a:pathLst>
                <a:path w="3352800">
                  <a:moveTo>
                    <a:pt x="3352800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61987" y="3857244"/>
              <a:ext cx="569976" cy="64312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3467" y="2650236"/>
              <a:ext cx="3279647" cy="411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52799" y="2657475"/>
              <a:ext cx="3276600" cy="0"/>
            </a:xfrm>
            <a:custGeom>
              <a:avLst/>
              <a:gdLst/>
              <a:ahLst/>
              <a:cxnLst/>
              <a:rect l="l" t="t" r="r" b="b"/>
              <a:pathLst>
                <a:path w="3276600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ln w="38100">
              <a:solidFill>
                <a:srgbClr val="D200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60064" y="2808477"/>
            <a:ext cx="1500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Slope </a:t>
            </a:r>
            <a:r>
              <a:rPr sz="2400" i="1" spc="-5" dirty="0">
                <a:latin typeface="Carlito"/>
                <a:cs typeface="Carlito"/>
              </a:rPr>
              <a:t>b</a:t>
            </a:r>
            <a:r>
              <a:rPr sz="2400" spc="-7" baseline="-20833" dirty="0">
                <a:latin typeface="Carlito"/>
                <a:cs typeface="Carlito"/>
              </a:rPr>
              <a:t>1</a:t>
            </a:r>
            <a:r>
              <a:rPr sz="2400" spc="-5" dirty="0">
                <a:latin typeface="Carlito"/>
                <a:cs typeface="Carlito"/>
              </a:rPr>
              <a:t>is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0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22134" y="4055465"/>
            <a:ext cx="15748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dirty="0">
                <a:latin typeface="Carlito"/>
                <a:cs typeface="Carlito"/>
              </a:rPr>
              <a:t>x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2101" y="674717"/>
            <a:ext cx="4916170" cy="1654810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R="2927985" algn="ctr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Carlito"/>
                <a:cs typeface="Carlito"/>
              </a:rPr>
              <a:t>No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Relationship</a:t>
            </a:r>
            <a:endParaRPr sz="2400">
              <a:latin typeface="Carlito"/>
              <a:cs typeface="Carlito"/>
            </a:endParaRPr>
          </a:p>
          <a:p>
            <a:pPr marL="195580" algn="ctr">
              <a:lnSpc>
                <a:spcPct val="100000"/>
              </a:lnSpc>
              <a:spcBef>
                <a:spcPts val="1340"/>
              </a:spcBef>
            </a:pPr>
            <a:r>
              <a:rPr sz="2400" i="1" spc="-5" dirty="0">
                <a:latin typeface="Carlito"/>
                <a:cs typeface="Carlito"/>
              </a:rPr>
              <a:t>E</a:t>
            </a:r>
            <a:r>
              <a:rPr sz="2400" spc="-5" dirty="0">
                <a:latin typeface="Carlito"/>
                <a:cs typeface="Carlito"/>
              </a:rPr>
              <a:t>(</a:t>
            </a:r>
            <a:r>
              <a:rPr sz="2400" i="1" spc="-5" dirty="0">
                <a:latin typeface="Carlito"/>
                <a:cs typeface="Carlito"/>
              </a:rPr>
              <a:t>y</a:t>
            </a:r>
            <a:r>
              <a:rPr sz="2400" spc="-5" dirty="0">
                <a:latin typeface="Carlito"/>
                <a:cs typeface="Carlito"/>
              </a:rPr>
              <a:t>)</a:t>
            </a:r>
            <a:endParaRPr sz="2400">
              <a:latin typeface="Carlito"/>
              <a:cs typeface="Carlito"/>
            </a:endParaRPr>
          </a:p>
          <a:p>
            <a:pPr marL="3000375">
              <a:lnSpc>
                <a:spcPct val="100000"/>
              </a:lnSpc>
              <a:spcBef>
                <a:spcPts val="1500"/>
              </a:spcBef>
            </a:pPr>
            <a:r>
              <a:rPr sz="2400" b="1" spc="-10" dirty="0">
                <a:latin typeface="Carlito"/>
                <a:cs typeface="Carlito"/>
              </a:rPr>
              <a:t>Regression</a:t>
            </a:r>
            <a:r>
              <a:rPr sz="2400" b="1" spc="-80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line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0783" y="2394330"/>
            <a:ext cx="12236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8260" algn="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I</a:t>
            </a:r>
            <a:r>
              <a:rPr sz="2400" spc="-30" dirty="0">
                <a:latin typeface="Carlito"/>
                <a:cs typeface="Carlito"/>
              </a:rPr>
              <a:t>n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-30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c</a:t>
            </a:r>
            <a:r>
              <a:rPr sz="2400" spc="5" dirty="0">
                <a:latin typeface="Carlito"/>
                <a:cs typeface="Carlito"/>
              </a:rPr>
              <a:t>e</a:t>
            </a:r>
            <a:r>
              <a:rPr sz="2400" spc="-15" dirty="0">
                <a:latin typeface="Carlito"/>
                <a:cs typeface="Carlito"/>
              </a:rPr>
              <a:t>p</a:t>
            </a:r>
            <a:r>
              <a:rPr sz="2400" dirty="0">
                <a:latin typeface="Carlito"/>
                <a:cs typeface="Carlito"/>
              </a:rPr>
              <a:t>t</a:t>
            </a:r>
            <a:endParaRPr sz="2400">
              <a:latin typeface="Carlito"/>
              <a:cs typeface="Carlito"/>
            </a:endParaRPr>
          </a:p>
          <a:p>
            <a:pPr marR="30480" algn="r">
              <a:lnSpc>
                <a:spcPct val="100000"/>
              </a:lnSpc>
            </a:pPr>
            <a:r>
              <a:rPr sz="2400" i="1" dirty="0">
                <a:latin typeface="Carlito"/>
                <a:cs typeface="Carlito"/>
              </a:rPr>
              <a:t>b</a:t>
            </a:r>
            <a:r>
              <a:rPr sz="2400" spc="-7" baseline="-20833" dirty="0">
                <a:latin typeface="Carlito"/>
                <a:cs typeface="Carlito"/>
              </a:rPr>
              <a:t>0</a:t>
            </a:r>
            <a:endParaRPr sz="2400" baseline="-20833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172" y="285445"/>
            <a:ext cx="66433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Estimated </a:t>
            </a:r>
            <a:r>
              <a:rPr spc="-5" dirty="0"/>
              <a:t>Simple Linear </a:t>
            </a:r>
            <a:r>
              <a:rPr spc="-15" dirty="0"/>
              <a:t>Regression</a:t>
            </a:r>
            <a:r>
              <a:rPr spc="95" dirty="0"/>
              <a:t> </a:t>
            </a:r>
            <a:r>
              <a:rPr spc="-15" dirty="0"/>
              <a:t>Equation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101" y="1109852"/>
            <a:ext cx="53378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spc="-5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estimated </a:t>
            </a:r>
            <a:r>
              <a:rPr sz="2000" spc="-5" dirty="0">
                <a:latin typeface="Carlito"/>
                <a:cs typeface="Carlito"/>
              </a:rPr>
              <a:t>simple linear </a:t>
            </a:r>
            <a:r>
              <a:rPr sz="2000" spc="-10" dirty="0">
                <a:latin typeface="Carlito"/>
                <a:cs typeface="Carlito"/>
              </a:rPr>
              <a:t>regression</a:t>
            </a:r>
            <a:r>
              <a:rPr sz="2000" spc="114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equation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827" y="2345703"/>
            <a:ext cx="5384165" cy="14109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10515" indent="-273050">
              <a:lnSpc>
                <a:spcPct val="100000"/>
              </a:lnSpc>
              <a:spcBef>
                <a:spcPts val="250"/>
              </a:spcBef>
              <a:buSzPct val="125000"/>
              <a:buChar char="•"/>
              <a:tabLst>
                <a:tab pos="311150" algn="l"/>
              </a:tabLst>
            </a:pPr>
            <a:r>
              <a:rPr sz="2000" spc="-5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graph </a:t>
            </a:r>
            <a:r>
              <a:rPr sz="2000" dirty="0">
                <a:latin typeface="Carlito"/>
                <a:cs typeface="Carlito"/>
              </a:rPr>
              <a:t>is </a:t>
            </a:r>
            <a:r>
              <a:rPr sz="2000" spc="-5" dirty="0">
                <a:latin typeface="Carlito"/>
                <a:cs typeface="Carlito"/>
              </a:rPr>
              <a:t>called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estimated regression</a:t>
            </a:r>
            <a:r>
              <a:rPr sz="2000" spc="6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line.</a:t>
            </a:r>
            <a:endParaRPr sz="2000">
              <a:latin typeface="Carlito"/>
              <a:cs typeface="Carlito"/>
            </a:endParaRPr>
          </a:p>
          <a:p>
            <a:pPr marL="435609" lvl="1" indent="-273685">
              <a:lnSpc>
                <a:spcPct val="100000"/>
              </a:lnSpc>
              <a:spcBef>
                <a:spcPts val="680"/>
              </a:spcBef>
              <a:buSzPct val="125000"/>
              <a:buFont typeface="Carlito"/>
              <a:buChar char="•"/>
              <a:tabLst>
                <a:tab pos="436245" algn="l"/>
              </a:tabLst>
            </a:pPr>
            <a:r>
              <a:rPr sz="2000" i="1" spc="5" dirty="0">
                <a:latin typeface="Carlito"/>
                <a:cs typeface="Carlito"/>
              </a:rPr>
              <a:t>b</a:t>
            </a:r>
            <a:r>
              <a:rPr sz="1950" spc="7" baseline="-21367" dirty="0">
                <a:latin typeface="Carlito"/>
                <a:cs typeface="Carlito"/>
              </a:rPr>
              <a:t>0 </a:t>
            </a:r>
            <a:r>
              <a:rPr sz="2000" dirty="0">
                <a:latin typeface="Carlito"/>
                <a:cs typeface="Carlito"/>
              </a:rPr>
              <a:t>is the </a:t>
            </a:r>
            <a:r>
              <a:rPr sz="2000" i="1" dirty="0">
                <a:latin typeface="Carlito"/>
                <a:cs typeface="Carlito"/>
              </a:rPr>
              <a:t>y </a:t>
            </a:r>
            <a:r>
              <a:rPr sz="2000" spc="-10" dirty="0">
                <a:latin typeface="Carlito"/>
                <a:cs typeface="Carlito"/>
              </a:rPr>
              <a:t>intercept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17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line.</a:t>
            </a:r>
            <a:endParaRPr sz="2000">
              <a:latin typeface="Carlito"/>
              <a:cs typeface="Carlito"/>
            </a:endParaRPr>
          </a:p>
          <a:p>
            <a:pPr marL="435609" lvl="1" indent="-273685">
              <a:lnSpc>
                <a:spcPct val="100000"/>
              </a:lnSpc>
              <a:spcBef>
                <a:spcPts val="190"/>
              </a:spcBef>
              <a:buSzPct val="125000"/>
              <a:buFont typeface="Carlito"/>
              <a:buChar char="•"/>
              <a:tabLst>
                <a:tab pos="436245" algn="l"/>
              </a:tabLst>
            </a:pPr>
            <a:r>
              <a:rPr sz="2000" i="1" spc="10" dirty="0">
                <a:latin typeface="Carlito"/>
                <a:cs typeface="Carlito"/>
              </a:rPr>
              <a:t>b</a:t>
            </a:r>
            <a:r>
              <a:rPr sz="1950" spc="15" baseline="-21367" dirty="0">
                <a:latin typeface="Carlito"/>
                <a:cs typeface="Carlito"/>
              </a:rPr>
              <a:t>1 </a:t>
            </a:r>
            <a:r>
              <a:rPr sz="2000" dirty="0">
                <a:latin typeface="Carlito"/>
                <a:cs typeface="Carlito"/>
              </a:rPr>
              <a:t>is the </a:t>
            </a:r>
            <a:r>
              <a:rPr sz="2000" spc="-5" dirty="0">
                <a:latin typeface="Carlito"/>
                <a:cs typeface="Carlito"/>
              </a:rPr>
              <a:t>slope </a:t>
            </a:r>
            <a:r>
              <a:rPr sz="2000" dirty="0">
                <a:latin typeface="Carlito"/>
                <a:cs typeface="Carlito"/>
              </a:rPr>
              <a:t>of the</a:t>
            </a:r>
            <a:r>
              <a:rPr sz="2000" spc="-204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line.</a:t>
            </a:r>
            <a:endParaRPr sz="2000">
              <a:latin typeface="Carlito"/>
              <a:cs typeface="Carlito"/>
            </a:endParaRPr>
          </a:p>
          <a:p>
            <a:pPr marL="435609" lvl="1" indent="-273685">
              <a:lnSpc>
                <a:spcPct val="100000"/>
              </a:lnSpc>
              <a:spcBef>
                <a:spcPts val="190"/>
              </a:spcBef>
              <a:buSzPct val="125000"/>
              <a:buFont typeface="Carlito"/>
              <a:buChar char="•"/>
              <a:tabLst>
                <a:tab pos="436245" algn="l"/>
              </a:tabLst>
            </a:pPr>
            <a:r>
              <a:rPr sz="2000" i="1" spc="-345" dirty="0">
                <a:latin typeface="Carlito"/>
                <a:cs typeface="Carlito"/>
              </a:rPr>
              <a:t>y</a:t>
            </a:r>
            <a:r>
              <a:rPr sz="2400" spc="-517" baseline="24305" dirty="0">
                <a:latin typeface="Carlito"/>
                <a:cs typeface="Carlito"/>
              </a:rPr>
              <a:t>^ </a:t>
            </a:r>
            <a:r>
              <a:rPr sz="2000" dirty="0">
                <a:latin typeface="Carlito"/>
                <a:cs typeface="Carlito"/>
              </a:rPr>
              <a:t>is the </a:t>
            </a:r>
            <a:r>
              <a:rPr sz="2000" spc="-10" dirty="0">
                <a:latin typeface="Carlito"/>
                <a:cs typeface="Carlito"/>
              </a:rPr>
              <a:t>estimated </a:t>
            </a:r>
            <a:r>
              <a:rPr sz="2000" spc="-5" dirty="0">
                <a:latin typeface="Carlito"/>
                <a:cs typeface="Carlito"/>
              </a:rPr>
              <a:t>value of </a:t>
            </a:r>
            <a:r>
              <a:rPr sz="2000" i="1" dirty="0">
                <a:latin typeface="Carlito"/>
                <a:cs typeface="Carlito"/>
              </a:rPr>
              <a:t>y </a:t>
            </a:r>
            <a:r>
              <a:rPr sz="2000" spc="-15" dirty="0">
                <a:latin typeface="Carlito"/>
                <a:cs typeface="Carlito"/>
              </a:rPr>
              <a:t>for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given </a:t>
            </a:r>
            <a:r>
              <a:rPr sz="2000" i="1" dirty="0">
                <a:latin typeface="Carlito"/>
                <a:cs typeface="Carlito"/>
              </a:rPr>
              <a:t>x</a:t>
            </a:r>
            <a:r>
              <a:rPr sz="2000" i="1" spc="-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value.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09442" y="1699120"/>
            <a:ext cx="2805558" cy="309699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32384" rIns="0" bIns="0" rtlCol="0">
            <a:spAutoFit/>
          </a:bodyPr>
          <a:lstStyle/>
          <a:p>
            <a:pPr marL="471170">
              <a:lnSpc>
                <a:spcPct val="100000"/>
              </a:lnSpc>
              <a:spcBef>
                <a:spcPts val="254"/>
              </a:spcBef>
            </a:pPr>
            <a:r>
              <a:rPr sz="1800" spc="-1565" dirty="0">
                <a:latin typeface="Verdana"/>
                <a:cs typeface="Verdana"/>
              </a:rPr>
              <a:t>𝑦</a:t>
            </a:r>
            <a:r>
              <a:rPr sz="1800" spc="650" dirty="0">
                <a:latin typeface="Verdana"/>
                <a:cs typeface="Verdana"/>
              </a:rPr>
              <a:t> </a:t>
            </a:r>
            <a:r>
              <a:rPr sz="1800" spc="-130" dirty="0">
                <a:latin typeface="Verdana"/>
                <a:cs typeface="Verdana"/>
              </a:rPr>
              <a:t>= </a:t>
            </a:r>
            <a:r>
              <a:rPr sz="1800" spc="-480" dirty="0">
                <a:latin typeface="Verdana"/>
                <a:cs typeface="Verdana"/>
              </a:rPr>
              <a:t>𝑏</a:t>
            </a:r>
            <a:r>
              <a:rPr sz="1950" spc="-719" baseline="-14957" dirty="0">
                <a:latin typeface="Verdana"/>
                <a:cs typeface="Verdana"/>
              </a:rPr>
              <a:t>0</a:t>
            </a:r>
            <a:r>
              <a:rPr sz="1950" spc="30" baseline="-14957" dirty="0">
                <a:latin typeface="Verdana"/>
                <a:cs typeface="Verdana"/>
              </a:rPr>
              <a:t> </a:t>
            </a:r>
            <a:r>
              <a:rPr sz="1800" spc="-130" dirty="0">
                <a:latin typeface="Verdana"/>
                <a:cs typeface="Verdana"/>
              </a:rPr>
              <a:t>+</a:t>
            </a:r>
            <a:r>
              <a:rPr sz="1800" spc="-245" dirty="0">
                <a:latin typeface="Verdana"/>
                <a:cs typeface="Verdana"/>
              </a:rPr>
              <a:t> </a:t>
            </a:r>
            <a:r>
              <a:rPr sz="1800" spc="-585" dirty="0">
                <a:latin typeface="Verdana"/>
                <a:cs typeface="Verdana"/>
              </a:rPr>
              <a:t>𝑏</a:t>
            </a:r>
            <a:r>
              <a:rPr sz="1950" spc="-877" baseline="-14957" dirty="0">
                <a:latin typeface="Verdana"/>
                <a:cs typeface="Verdana"/>
              </a:rPr>
              <a:t>1</a:t>
            </a:r>
            <a:r>
              <a:rPr sz="1800" spc="-585" dirty="0">
                <a:latin typeface="Verdana"/>
                <a:cs typeface="Verdana"/>
              </a:rPr>
              <a:t>𝑥</a:t>
            </a:r>
            <a:r>
              <a:rPr lang="en-US" sz="1800" spc="-585" dirty="0">
                <a:latin typeface="Verdana"/>
                <a:cs typeface="Verdana"/>
              </a:rPr>
              <a:t>     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19222" y="227456"/>
            <a:ext cx="3305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3333FF"/>
                </a:solidFill>
                <a:latin typeface="Carlito"/>
                <a:cs typeface="Carlito"/>
              </a:rPr>
              <a:t>Least Squares Method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8657" y="925195"/>
            <a:ext cx="27444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Carlito"/>
                <a:cs typeface="Carlito"/>
              </a:rPr>
              <a:t>Least </a:t>
            </a:r>
            <a:r>
              <a:rPr sz="2000" spc="-5" dirty="0">
                <a:latin typeface="Carlito"/>
                <a:cs typeface="Carlito"/>
              </a:rPr>
              <a:t>Squares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Criterion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09901" y="1410119"/>
            <a:ext cx="2906395" cy="740410"/>
            <a:chOff x="2509901" y="1410119"/>
            <a:chExt cx="2906395" cy="740410"/>
          </a:xfrm>
        </p:grpSpPr>
        <p:sp>
          <p:nvSpPr>
            <p:cNvPr id="5" name="object 5"/>
            <p:cNvSpPr/>
            <p:nvPr/>
          </p:nvSpPr>
          <p:spPr>
            <a:xfrm>
              <a:off x="2520696" y="1421891"/>
              <a:ext cx="2895600" cy="7284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09901" y="1410119"/>
              <a:ext cx="2893060" cy="727075"/>
            </a:xfrm>
            <a:custGeom>
              <a:avLst/>
              <a:gdLst/>
              <a:ahLst/>
              <a:cxnLst/>
              <a:rect l="l" t="t" r="r" b="b"/>
              <a:pathLst>
                <a:path w="2893060" h="727075">
                  <a:moveTo>
                    <a:pt x="2892552" y="0"/>
                  </a:moveTo>
                  <a:lnTo>
                    <a:pt x="0" y="0"/>
                  </a:lnTo>
                  <a:lnTo>
                    <a:pt x="0" y="726528"/>
                  </a:lnTo>
                  <a:lnTo>
                    <a:pt x="2892552" y="726528"/>
                  </a:lnTo>
                  <a:lnTo>
                    <a:pt x="289255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153369" y="1421246"/>
            <a:ext cx="147955" cy="333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spc="-4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41195" y="1413707"/>
            <a:ext cx="165100" cy="553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50" dirty="0">
                <a:latin typeface="Times New Roman"/>
                <a:cs typeface="Times New Roman"/>
              </a:rPr>
              <a:t>ˆ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65627" y="1434877"/>
            <a:ext cx="658495" cy="553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50" spc="-250" dirty="0">
                <a:latin typeface="Times New Roman"/>
                <a:cs typeface="Times New Roman"/>
              </a:rPr>
              <a:t>m</a:t>
            </a:r>
            <a:r>
              <a:rPr sz="3450" spc="-70" dirty="0">
                <a:latin typeface="Times New Roman"/>
                <a:cs typeface="Times New Roman"/>
              </a:rPr>
              <a:t>i</a:t>
            </a:r>
            <a:r>
              <a:rPr sz="3450" spc="-75" dirty="0">
                <a:latin typeface="Times New Roman"/>
                <a:cs typeface="Times New Roman"/>
              </a:rPr>
              <a:t>n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00781" y="1732019"/>
            <a:ext cx="778510" cy="333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97230" algn="l"/>
              </a:tabLst>
            </a:pPr>
            <a:r>
              <a:rPr sz="2000" i="1" spc="-25" dirty="0">
                <a:latin typeface="Times New Roman"/>
                <a:cs typeface="Times New Roman"/>
              </a:rPr>
              <a:t>i	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94145" y="1434877"/>
            <a:ext cx="1276350" cy="553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01015" algn="l"/>
              </a:tabLst>
            </a:pPr>
            <a:r>
              <a:rPr sz="3450" spc="-90" dirty="0">
                <a:latin typeface="Times New Roman"/>
                <a:cs typeface="Times New Roman"/>
              </a:rPr>
              <a:t>(</a:t>
            </a:r>
            <a:r>
              <a:rPr sz="3450" i="1" spc="-90" dirty="0">
                <a:latin typeface="Times New Roman"/>
                <a:cs typeface="Times New Roman"/>
              </a:rPr>
              <a:t>y	</a:t>
            </a:r>
            <a:r>
              <a:rPr sz="3450" spc="-85" dirty="0">
                <a:latin typeface="Symbol"/>
                <a:cs typeface="Symbol"/>
              </a:rPr>
              <a:t></a:t>
            </a:r>
            <a:r>
              <a:rPr sz="3450" spc="-85" dirty="0">
                <a:latin typeface="Times New Roman"/>
                <a:cs typeface="Times New Roman"/>
              </a:rPr>
              <a:t> </a:t>
            </a:r>
            <a:r>
              <a:rPr sz="3450" i="1" spc="-70" dirty="0">
                <a:latin typeface="Times New Roman"/>
                <a:cs typeface="Times New Roman"/>
              </a:rPr>
              <a:t>y</a:t>
            </a:r>
            <a:r>
              <a:rPr sz="3450" i="1" spc="-110" dirty="0">
                <a:latin typeface="Times New Roman"/>
                <a:cs typeface="Times New Roman"/>
              </a:rPr>
              <a:t> </a:t>
            </a:r>
            <a:r>
              <a:rPr sz="3450" spc="-50" dirty="0">
                <a:latin typeface="Times New Roman"/>
                <a:cs typeface="Times New Roman"/>
              </a:rPr>
              <a:t>)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413511" y="1315599"/>
            <a:ext cx="47434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b="0" spc="-180" dirty="0">
                <a:solidFill>
                  <a:srgbClr val="000000"/>
                </a:solidFill>
                <a:latin typeface="Symbol"/>
                <a:cs typeface="Symbol"/>
              </a:rPr>
              <a:t></a:t>
            </a:r>
            <a:endParaRPr sz="52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0792" y="2236724"/>
            <a:ext cx="7480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rlito"/>
                <a:cs typeface="Carlito"/>
              </a:rPr>
              <a:t>whe</a:t>
            </a:r>
            <a:r>
              <a:rPr sz="2000" spc="-30" dirty="0">
                <a:latin typeface="Carlito"/>
                <a:cs typeface="Carlito"/>
              </a:rPr>
              <a:t>r</a:t>
            </a:r>
            <a:r>
              <a:rPr sz="2000" dirty="0">
                <a:latin typeface="Carlito"/>
                <a:cs typeface="Carlito"/>
              </a:rPr>
              <a:t>e: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41905" y="3159379"/>
            <a:ext cx="1524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rlito"/>
                <a:cs typeface="Carlito"/>
              </a:rPr>
              <a:t>^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7515" marR="109855" indent="-400050">
              <a:lnSpc>
                <a:spcPct val="120100"/>
              </a:lnSpc>
              <a:spcBef>
                <a:spcPts val="95"/>
              </a:spcBef>
            </a:pPr>
            <a:r>
              <a:rPr i="1" spc="5" dirty="0">
                <a:latin typeface="Carlito"/>
                <a:cs typeface="Carlito"/>
              </a:rPr>
              <a:t>y</a:t>
            </a:r>
            <a:r>
              <a:rPr sz="1950" i="1" spc="7" baseline="-21367" dirty="0">
                <a:latin typeface="Carlito"/>
                <a:cs typeface="Carlito"/>
              </a:rPr>
              <a:t>i </a:t>
            </a:r>
            <a:r>
              <a:rPr sz="2000" dirty="0"/>
              <a:t>=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</a:rPr>
              <a:t>observed</a:t>
            </a:r>
            <a:r>
              <a:rPr sz="2000" spc="-5" dirty="0"/>
              <a:t> value of </a:t>
            </a:r>
            <a:r>
              <a:rPr sz="2000" dirty="0"/>
              <a:t>the </a:t>
            </a:r>
            <a:r>
              <a:rPr sz="2000" spc="-5" dirty="0"/>
              <a:t>dependent variable  </a:t>
            </a:r>
            <a:r>
              <a:rPr sz="2000" spc="-15" dirty="0"/>
              <a:t>for </a:t>
            </a:r>
            <a:r>
              <a:rPr sz="2000" dirty="0"/>
              <a:t>the </a:t>
            </a:r>
            <a:r>
              <a:rPr sz="2000" i="1" spc="-5" dirty="0">
                <a:latin typeface="Carlito"/>
                <a:cs typeface="Carlito"/>
              </a:rPr>
              <a:t>i</a:t>
            </a:r>
            <a:r>
              <a:rPr sz="2000" spc="-5" dirty="0"/>
              <a:t>th</a:t>
            </a:r>
            <a:r>
              <a:rPr sz="2000" dirty="0"/>
              <a:t> </a:t>
            </a:r>
            <a:r>
              <a:rPr sz="2000" spc="-5" dirty="0"/>
              <a:t>observation</a:t>
            </a:r>
            <a:endParaRPr sz="2000" dirty="0">
              <a:latin typeface="Carlito"/>
              <a:cs typeface="Carlito"/>
            </a:endParaRPr>
          </a:p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i="1" spc="5" dirty="0">
                <a:latin typeface="Carlito"/>
                <a:cs typeface="Carlito"/>
              </a:rPr>
              <a:t>y</a:t>
            </a:r>
            <a:r>
              <a:rPr sz="1950" i="1" spc="7" baseline="-21367" dirty="0">
                <a:latin typeface="Carlito"/>
                <a:cs typeface="Carlito"/>
              </a:rPr>
              <a:t>i </a:t>
            </a:r>
            <a:r>
              <a:rPr sz="2000" dirty="0"/>
              <a:t>=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</a:rPr>
              <a:t>estimated</a:t>
            </a:r>
            <a:r>
              <a:rPr sz="2000" spc="-10" dirty="0"/>
              <a:t> value </a:t>
            </a:r>
            <a:r>
              <a:rPr sz="2000" dirty="0"/>
              <a:t>of the </a:t>
            </a:r>
            <a:r>
              <a:rPr sz="2000" spc="-5" dirty="0"/>
              <a:t>dependent</a:t>
            </a:r>
            <a:r>
              <a:rPr sz="2000" spc="-165" dirty="0"/>
              <a:t> </a:t>
            </a:r>
            <a:r>
              <a:rPr sz="2000" spc="-5" dirty="0"/>
              <a:t>variable</a:t>
            </a:r>
            <a:endParaRPr sz="2000" dirty="0">
              <a:latin typeface="Carlito"/>
              <a:cs typeface="Carlito"/>
            </a:endParaRPr>
          </a:p>
          <a:p>
            <a:pPr marL="437515">
              <a:lnSpc>
                <a:spcPct val="100000"/>
              </a:lnSpc>
              <a:spcBef>
                <a:spcPts val="480"/>
              </a:spcBef>
            </a:pPr>
            <a:r>
              <a:rPr spc="-15" dirty="0"/>
              <a:t>for </a:t>
            </a:r>
            <a:r>
              <a:rPr dirty="0"/>
              <a:t>the </a:t>
            </a:r>
            <a:r>
              <a:rPr i="1" spc="-5" dirty="0">
                <a:latin typeface="Carlito"/>
                <a:cs typeface="Carlito"/>
              </a:rPr>
              <a:t>i</a:t>
            </a:r>
            <a:r>
              <a:rPr spc="-5" dirty="0"/>
              <a:t>th</a:t>
            </a:r>
            <a:r>
              <a:rPr dirty="0"/>
              <a:t> </a:t>
            </a:r>
            <a:r>
              <a:rPr spc="-5" dirty="0"/>
              <a:t>observation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5254" y="179654"/>
            <a:ext cx="27965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Estimation</a:t>
            </a:r>
            <a:r>
              <a:rPr spc="-35" dirty="0"/>
              <a:t> </a:t>
            </a:r>
            <a:r>
              <a:rPr spc="-10" dirty="0"/>
              <a:t>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55650" y="736600"/>
            <a:ext cx="3556000" cy="1814830"/>
            <a:chOff x="755650" y="736600"/>
            <a:chExt cx="3556000" cy="1814830"/>
          </a:xfrm>
        </p:grpSpPr>
        <p:sp>
          <p:nvSpPr>
            <p:cNvPr id="4" name="object 4"/>
            <p:cNvSpPr/>
            <p:nvPr/>
          </p:nvSpPr>
          <p:spPr>
            <a:xfrm>
              <a:off x="762000" y="742950"/>
              <a:ext cx="3543300" cy="17430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2000" y="742950"/>
              <a:ext cx="3543300" cy="1743075"/>
            </a:xfrm>
            <a:custGeom>
              <a:avLst/>
              <a:gdLst/>
              <a:ahLst/>
              <a:cxnLst/>
              <a:rect l="l" t="t" r="r" b="b"/>
              <a:pathLst>
                <a:path w="3543300" h="1743075">
                  <a:moveTo>
                    <a:pt x="0" y="871601"/>
                  </a:moveTo>
                  <a:lnTo>
                    <a:pt x="4448" y="809344"/>
                  </a:lnTo>
                  <a:lnTo>
                    <a:pt x="17594" y="748271"/>
                  </a:lnTo>
                  <a:lnTo>
                    <a:pt x="39137" y="688528"/>
                  </a:lnTo>
                  <a:lnTo>
                    <a:pt x="68778" y="630263"/>
                  </a:lnTo>
                  <a:lnTo>
                    <a:pt x="106216" y="573623"/>
                  </a:lnTo>
                  <a:lnTo>
                    <a:pt x="151152" y="518756"/>
                  </a:lnTo>
                  <a:lnTo>
                    <a:pt x="203286" y="465808"/>
                  </a:lnTo>
                  <a:lnTo>
                    <a:pt x="231958" y="440100"/>
                  </a:lnTo>
                  <a:lnTo>
                    <a:pt x="262317" y="414928"/>
                  </a:lnTo>
                  <a:lnTo>
                    <a:pt x="294326" y="390309"/>
                  </a:lnTo>
                  <a:lnTo>
                    <a:pt x="327947" y="366262"/>
                  </a:lnTo>
                  <a:lnTo>
                    <a:pt x="363143" y="342806"/>
                  </a:lnTo>
                  <a:lnTo>
                    <a:pt x="399876" y="319958"/>
                  </a:lnTo>
                  <a:lnTo>
                    <a:pt x="438108" y="297738"/>
                  </a:lnTo>
                  <a:lnTo>
                    <a:pt x="477802" y="276164"/>
                  </a:lnTo>
                  <a:lnTo>
                    <a:pt x="518921" y="255254"/>
                  </a:lnTo>
                  <a:lnTo>
                    <a:pt x="561428" y="235026"/>
                  </a:lnTo>
                  <a:lnTo>
                    <a:pt x="605284" y="215500"/>
                  </a:lnTo>
                  <a:lnTo>
                    <a:pt x="650452" y="196692"/>
                  </a:lnTo>
                  <a:lnTo>
                    <a:pt x="696895" y="178623"/>
                  </a:lnTo>
                  <a:lnTo>
                    <a:pt x="744575" y="161310"/>
                  </a:lnTo>
                  <a:lnTo>
                    <a:pt x="793454" y="144772"/>
                  </a:lnTo>
                  <a:lnTo>
                    <a:pt x="843496" y="129027"/>
                  </a:lnTo>
                  <a:lnTo>
                    <a:pt x="894663" y="114093"/>
                  </a:lnTo>
                  <a:lnTo>
                    <a:pt x="946917" y="99989"/>
                  </a:lnTo>
                  <a:lnTo>
                    <a:pt x="1000221" y="86734"/>
                  </a:lnTo>
                  <a:lnTo>
                    <a:pt x="1054537" y="74346"/>
                  </a:lnTo>
                  <a:lnTo>
                    <a:pt x="1109828" y="62842"/>
                  </a:lnTo>
                  <a:lnTo>
                    <a:pt x="1166057" y="52243"/>
                  </a:lnTo>
                  <a:lnTo>
                    <a:pt x="1223185" y="42565"/>
                  </a:lnTo>
                  <a:lnTo>
                    <a:pt x="1281176" y="33828"/>
                  </a:lnTo>
                  <a:lnTo>
                    <a:pt x="1339991" y="26050"/>
                  </a:lnTo>
                  <a:lnTo>
                    <a:pt x="1399594" y="19249"/>
                  </a:lnTo>
                  <a:lnTo>
                    <a:pt x="1459947" y="13444"/>
                  </a:lnTo>
                  <a:lnTo>
                    <a:pt x="1521013" y="8653"/>
                  </a:lnTo>
                  <a:lnTo>
                    <a:pt x="1582753" y="4895"/>
                  </a:lnTo>
                  <a:lnTo>
                    <a:pt x="1645131" y="2187"/>
                  </a:lnTo>
                  <a:lnTo>
                    <a:pt x="1708109" y="550"/>
                  </a:lnTo>
                  <a:lnTo>
                    <a:pt x="1771650" y="0"/>
                  </a:lnTo>
                  <a:lnTo>
                    <a:pt x="1835190" y="550"/>
                  </a:lnTo>
                  <a:lnTo>
                    <a:pt x="1898168" y="2187"/>
                  </a:lnTo>
                  <a:lnTo>
                    <a:pt x="1960546" y="4895"/>
                  </a:lnTo>
                  <a:lnTo>
                    <a:pt x="2022286" y="8653"/>
                  </a:lnTo>
                  <a:lnTo>
                    <a:pt x="2083352" y="13444"/>
                  </a:lnTo>
                  <a:lnTo>
                    <a:pt x="2143705" y="19249"/>
                  </a:lnTo>
                  <a:lnTo>
                    <a:pt x="2203308" y="26050"/>
                  </a:lnTo>
                  <a:lnTo>
                    <a:pt x="2262123" y="33828"/>
                  </a:lnTo>
                  <a:lnTo>
                    <a:pt x="2320114" y="42565"/>
                  </a:lnTo>
                  <a:lnTo>
                    <a:pt x="2377242" y="52243"/>
                  </a:lnTo>
                  <a:lnTo>
                    <a:pt x="2433471" y="62842"/>
                  </a:lnTo>
                  <a:lnTo>
                    <a:pt x="2488762" y="74346"/>
                  </a:lnTo>
                  <a:lnTo>
                    <a:pt x="2543078" y="86734"/>
                  </a:lnTo>
                  <a:lnTo>
                    <a:pt x="2596382" y="99989"/>
                  </a:lnTo>
                  <a:lnTo>
                    <a:pt x="2648636" y="114093"/>
                  </a:lnTo>
                  <a:lnTo>
                    <a:pt x="2699803" y="129027"/>
                  </a:lnTo>
                  <a:lnTo>
                    <a:pt x="2749845" y="144772"/>
                  </a:lnTo>
                  <a:lnTo>
                    <a:pt x="2798724" y="161310"/>
                  </a:lnTo>
                  <a:lnTo>
                    <a:pt x="2846404" y="178623"/>
                  </a:lnTo>
                  <a:lnTo>
                    <a:pt x="2892847" y="196692"/>
                  </a:lnTo>
                  <a:lnTo>
                    <a:pt x="2938015" y="215500"/>
                  </a:lnTo>
                  <a:lnTo>
                    <a:pt x="2981871" y="235026"/>
                  </a:lnTo>
                  <a:lnTo>
                    <a:pt x="3024378" y="255254"/>
                  </a:lnTo>
                  <a:lnTo>
                    <a:pt x="3065497" y="276164"/>
                  </a:lnTo>
                  <a:lnTo>
                    <a:pt x="3105191" y="297738"/>
                  </a:lnTo>
                  <a:lnTo>
                    <a:pt x="3143423" y="319958"/>
                  </a:lnTo>
                  <a:lnTo>
                    <a:pt x="3180156" y="342806"/>
                  </a:lnTo>
                  <a:lnTo>
                    <a:pt x="3215352" y="366262"/>
                  </a:lnTo>
                  <a:lnTo>
                    <a:pt x="3248973" y="390309"/>
                  </a:lnTo>
                  <a:lnTo>
                    <a:pt x="3280982" y="414928"/>
                  </a:lnTo>
                  <a:lnTo>
                    <a:pt x="3311341" y="440100"/>
                  </a:lnTo>
                  <a:lnTo>
                    <a:pt x="3340013" y="465808"/>
                  </a:lnTo>
                  <a:lnTo>
                    <a:pt x="3392147" y="518756"/>
                  </a:lnTo>
                  <a:lnTo>
                    <a:pt x="3437083" y="573623"/>
                  </a:lnTo>
                  <a:lnTo>
                    <a:pt x="3474521" y="630263"/>
                  </a:lnTo>
                  <a:lnTo>
                    <a:pt x="3504162" y="688528"/>
                  </a:lnTo>
                  <a:lnTo>
                    <a:pt x="3525705" y="748271"/>
                  </a:lnTo>
                  <a:lnTo>
                    <a:pt x="3538851" y="809344"/>
                  </a:lnTo>
                  <a:lnTo>
                    <a:pt x="3543300" y="871601"/>
                  </a:lnTo>
                  <a:lnTo>
                    <a:pt x="3542181" y="902859"/>
                  </a:lnTo>
                  <a:lnTo>
                    <a:pt x="3533346" y="964527"/>
                  </a:lnTo>
                  <a:lnTo>
                    <a:pt x="3515965" y="1024940"/>
                  </a:lnTo>
                  <a:lnTo>
                    <a:pt x="3490335" y="1083950"/>
                  </a:lnTo>
                  <a:lnTo>
                    <a:pt x="3456758" y="1141409"/>
                  </a:lnTo>
                  <a:lnTo>
                    <a:pt x="3415534" y="1197171"/>
                  </a:lnTo>
                  <a:lnTo>
                    <a:pt x="3366961" y="1251088"/>
                  </a:lnTo>
                  <a:lnTo>
                    <a:pt x="3311341" y="1303013"/>
                  </a:lnTo>
                  <a:lnTo>
                    <a:pt x="3280982" y="1328182"/>
                  </a:lnTo>
                  <a:lnTo>
                    <a:pt x="3248973" y="1352797"/>
                  </a:lnTo>
                  <a:lnTo>
                    <a:pt x="3215352" y="1376841"/>
                  </a:lnTo>
                  <a:lnTo>
                    <a:pt x="3180156" y="1400294"/>
                  </a:lnTo>
                  <a:lnTo>
                    <a:pt x="3143423" y="1423139"/>
                  </a:lnTo>
                  <a:lnTo>
                    <a:pt x="3105191" y="1445356"/>
                  </a:lnTo>
                  <a:lnTo>
                    <a:pt x="3065497" y="1466928"/>
                  </a:lnTo>
                  <a:lnTo>
                    <a:pt x="3024378" y="1487836"/>
                  </a:lnTo>
                  <a:lnTo>
                    <a:pt x="2981871" y="1508062"/>
                  </a:lnTo>
                  <a:lnTo>
                    <a:pt x="2938015" y="1527587"/>
                  </a:lnTo>
                  <a:lnTo>
                    <a:pt x="2892847" y="1546392"/>
                  </a:lnTo>
                  <a:lnTo>
                    <a:pt x="2846404" y="1564460"/>
                  </a:lnTo>
                  <a:lnTo>
                    <a:pt x="2798724" y="1581771"/>
                  </a:lnTo>
                  <a:lnTo>
                    <a:pt x="2749845" y="1598309"/>
                  </a:lnTo>
                  <a:lnTo>
                    <a:pt x="2699803" y="1614053"/>
                  </a:lnTo>
                  <a:lnTo>
                    <a:pt x="2648636" y="1628985"/>
                  </a:lnTo>
                  <a:lnTo>
                    <a:pt x="2596382" y="1643088"/>
                  </a:lnTo>
                  <a:lnTo>
                    <a:pt x="2543078" y="1656343"/>
                  </a:lnTo>
                  <a:lnTo>
                    <a:pt x="2488762" y="1668731"/>
                  </a:lnTo>
                  <a:lnTo>
                    <a:pt x="2433471" y="1680233"/>
                  </a:lnTo>
                  <a:lnTo>
                    <a:pt x="2377242" y="1690832"/>
                  </a:lnTo>
                  <a:lnTo>
                    <a:pt x="2320114" y="1700510"/>
                  </a:lnTo>
                  <a:lnTo>
                    <a:pt x="2262123" y="1709246"/>
                  </a:lnTo>
                  <a:lnTo>
                    <a:pt x="2203308" y="1717024"/>
                  </a:lnTo>
                  <a:lnTo>
                    <a:pt x="2143705" y="1723825"/>
                  </a:lnTo>
                  <a:lnTo>
                    <a:pt x="2083352" y="1729630"/>
                  </a:lnTo>
                  <a:lnTo>
                    <a:pt x="2022286" y="1734421"/>
                  </a:lnTo>
                  <a:lnTo>
                    <a:pt x="1960546" y="1738179"/>
                  </a:lnTo>
                  <a:lnTo>
                    <a:pt x="1898168" y="1740887"/>
                  </a:lnTo>
                  <a:lnTo>
                    <a:pt x="1835190" y="1742524"/>
                  </a:lnTo>
                  <a:lnTo>
                    <a:pt x="1771650" y="1743075"/>
                  </a:lnTo>
                  <a:lnTo>
                    <a:pt x="1708109" y="1742524"/>
                  </a:lnTo>
                  <a:lnTo>
                    <a:pt x="1645131" y="1740887"/>
                  </a:lnTo>
                  <a:lnTo>
                    <a:pt x="1582753" y="1738179"/>
                  </a:lnTo>
                  <a:lnTo>
                    <a:pt x="1521013" y="1734421"/>
                  </a:lnTo>
                  <a:lnTo>
                    <a:pt x="1459947" y="1729630"/>
                  </a:lnTo>
                  <a:lnTo>
                    <a:pt x="1399594" y="1723825"/>
                  </a:lnTo>
                  <a:lnTo>
                    <a:pt x="1339991" y="1717024"/>
                  </a:lnTo>
                  <a:lnTo>
                    <a:pt x="1281176" y="1709246"/>
                  </a:lnTo>
                  <a:lnTo>
                    <a:pt x="1223185" y="1700510"/>
                  </a:lnTo>
                  <a:lnTo>
                    <a:pt x="1166057" y="1690832"/>
                  </a:lnTo>
                  <a:lnTo>
                    <a:pt x="1109828" y="1680233"/>
                  </a:lnTo>
                  <a:lnTo>
                    <a:pt x="1054537" y="1668731"/>
                  </a:lnTo>
                  <a:lnTo>
                    <a:pt x="1000221" y="1656343"/>
                  </a:lnTo>
                  <a:lnTo>
                    <a:pt x="946917" y="1643088"/>
                  </a:lnTo>
                  <a:lnTo>
                    <a:pt x="894663" y="1628985"/>
                  </a:lnTo>
                  <a:lnTo>
                    <a:pt x="843496" y="1614053"/>
                  </a:lnTo>
                  <a:lnTo>
                    <a:pt x="793454" y="1598309"/>
                  </a:lnTo>
                  <a:lnTo>
                    <a:pt x="744575" y="1581771"/>
                  </a:lnTo>
                  <a:lnTo>
                    <a:pt x="696895" y="1564460"/>
                  </a:lnTo>
                  <a:lnTo>
                    <a:pt x="650452" y="1546392"/>
                  </a:lnTo>
                  <a:lnTo>
                    <a:pt x="605284" y="1527587"/>
                  </a:lnTo>
                  <a:lnTo>
                    <a:pt x="561428" y="1508062"/>
                  </a:lnTo>
                  <a:lnTo>
                    <a:pt x="518922" y="1487836"/>
                  </a:lnTo>
                  <a:lnTo>
                    <a:pt x="477802" y="1466928"/>
                  </a:lnTo>
                  <a:lnTo>
                    <a:pt x="438108" y="1445356"/>
                  </a:lnTo>
                  <a:lnTo>
                    <a:pt x="399876" y="1423139"/>
                  </a:lnTo>
                  <a:lnTo>
                    <a:pt x="363143" y="1400294"/>
                  </a:lnTo>
                  <a:lnTo>
                    <a:pt x="327947" y="1376841"/>
                  </a:lnTo>
                  <a:lnTo>
                    <a:pt x="294326" y="1352797"/>
                  </a:lnTo>
                  <a:lnTo>
                    <a:pt x="262317" y="1328182"/>
                  </a:lnTo>
                  <a:lnTo>
                    <a:pt x="231958" y="1303013"/>
                  </a:lnTo>
                  <a:lnTo>
                    <a:pt x="203286" y="1277309"/>
                  </a:lnTo>
                  <a:lnTo>
                    <a:pt x="151152" y="1224370"/>
                  </a:lnTo>
                  <a:lnTo>
                    <a:pt x="106216" y="1169512"/>
                  </a:lnTo>
                  <a:lnTo>
                    <a:pt x="68778" y="1112883"/>
                  </a:lnTo>
                  <a:lnTo>
                    <a:pt x="39137" y="1054629"/>
                  </a:lnTo>
                  <a:lnTo>
                    <a:pt x="17594" y="994900"/>
                  </a:lnTo>
                  <a:lnTo>
                    <a:pt x="4448" y="933841"/>
                  </a:lnTo>
                  <a:lnTo>
                    <a:pt x="0" y="87160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12391" y="810768"/>
              <a:ext cx="1965960" cy="5135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28216" y="1060704"/>
              <a:ext cx="409956" cy="5135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82139" y="1060704"/>
              <a:ext cx="473963" cy="51358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48255" y="1050036"/>
              <a:ext cx="432816" cy="5135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18944" y="1203959"/>
              <a:ext cx="292607" cy="35356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7336" y="1060704"/>
              <a:ext cx="475488" cy="51358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74976" y="1050036"/>
              <a:ext cx="432815" cy="5135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645664" y="1203959"/>
              <a:ext cx="292607" cy="35356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76144" y="1060704"/>
              <a:ext cx="406907" cy="51358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27020" y="1060704"/>
              <a:ext cx="422148" cy="51358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41320" y="1060704"/>
              <a:ext cx="417576" cy="51358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47800" y="1304544"/>
              <a:ext cx="2189988" cy="51358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43455" y="1554480"/>
              <a:ext cx="419100" cy="51358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54708" y="1554480"/>
              <a:ext cx="376428" cy="51358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23288" y="1554480"/>
              <a:ext cx="409956" cy="5135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25396" y="1554480"/>
              <a:ext cx="597407" cy="51358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14955" y="1543812"/>
              <a:ext cx="432816" cy="5135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85644" y="1697736"/>
              <a:ext cx="292607" cy="35356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69464" y="1554480"/>
              <a:ext cx="473963" cy="51358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35579" y="1543812"/>
              <a:ext cx="432816" cy="5135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06267" y="1697736"/>
              <a:ext cx="292607" cy="3535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36748" y="1554480"/>
              <a:ext cx="406908" cy="51358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88363" y="1798319"/>
              <a:ext cx="2308860" cy="513587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34183" y="2037588"/>
              <a:ext cx="432816" cy="5135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04872" y="2191511"/>
              <a:ext cx="292607" cy="35356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435351" y="2037588"/>
              <a:ext cx="423672" cy="51358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51176" y="2037588"/>
              <a:ext cx="432815" cy="5135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21864" y="2191511"/>
              <a:ext cx="292607" cy="3535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507108" y="859916"/>
            <a:ext cx="2051685" cy="15405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84455" marR="78105" indent="106045" algn="ctr">
              <a:lnSpc>
                <a:spcPct val="87400"/>
              </a:lnSpc>
              <a:spcBef>
                <a:spcPts val="370"/>
              </a:spcBef>
            </a:pP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Regression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Model  </a:t>
            </a:r>
            <a:r>
              <a:rPr sz="1800" i="1" dirty="0">
                <a:solidFill>
                  <a:srgbClr val="FFFFFF"/>
                </a:solidFill>
                <a:latin typeface="Carlito"/>
                <a:cs typeface="Carlito"/>
              </a:rPr>
              <a:t>y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= </a:t>
            </a:r>
            <a:r>
              <a:rPr sz="1900" i="1" spc="-30" dirty="0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sz="1800" spc="-44" baseline="-20833" dirty="0">
                <a:solidFill>
                  <a:srgbClr val="FFFFFF"/>
                </a:solidFill>
                <a:latin typeface="Symbol"/>
                <a:cs typeface="Symbol"/>
              </a:rPr>
              <a:t></a:t>
            </a:r>
            <a:r>
              <a:rPr sz="1800" spc="-44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+ </a:t>
            </a:r>
            <a:r>
              <a:rPr sz="1900" i="1" spc="-20" dirty="0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sz="1800" spc="-30" baseline="-20833" dirty="0">
                <a:solidFill>
                  <a:srgbClr val="FFFFFF"/>
                </a:solidFill>
                <a:latin typeface="Symbol"/>
                <a:cs typeface="Symbol"/>
              </a:rPr>
              <a:t></a:t>
            </a:r>
            <a:r>
              <a:rPr sz="1800" i="1" spc="-20" dirty="0">
                <a:solidFill>
                  <a:srgbClr val="FFFFFF"/>
                </a:solidFill>
                <a:latin typeface="Carlito"/>
                <a:cs typeface="Carlito"/>
              </a:rPr>
              <a:t>x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+</a:t>
            </a:r>
            <a:r>
              <a:rPr sz="1800" i="1" dirty="0">
                <a:solidFill>
                  <a:srgbClr val="FFFFFF"/>
                </a:solidFill>
                <a:latin typeface="Carlito"/>
                <a:cs typeface="Carlito"/>
              </a:rPr>
              <a:t>e 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Regression</a:t>
            </a:r>
            <a:r>
              <a:rPr sz="18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rlito"/>
                <a:cs typeface="Carlito"/>
              </a:rPr>
              <a:t>Equation  </a:t>
            </a:r>
            <a:r>
              <a:rPr sz="1800" i="1" spc="-5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arlito"/>
                <a:cs typeface="Carlito"/>
              </a:rPr>
              <a:t>(</a:t>
            </a:r>
            <a:r>
              <a:rPr sz="1800" i="1" spc="-5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r>
              <a:rPr sz="1800" spc="-5" dirty="0">
                <a:solidFill>
                  <a:srgbClr val="FFFFFF"/>
                </a:solidFill>
                <a:latin typeface="Carlito"/>
                <a:cs typeface="Carlito"/>
              </a:rPr>
              <a:t>)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= </a:t>
            </a:r>
            <a:r>
              <a:rPr sz="1900" i="1" spc="-35" dirty="0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sz="1800" spc="-52" baseline="-20833" dirty="0">
                <a:solidFill>
                  <a:srgbClr val="FFFFFF"/>
                </a:solidFill>
                <a:latin typeface="Symbol"/>
                <a:cs typeface="Symbol"/>
              </a:rPr>
              <a:t></a:t>
            </a:r>
            <a:r>
              <a:rPr sz="1800" spc="-52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Carlito"/>
                <a:cs typeface="Carlito"/>
              </a:rPr>
              <a:t>+</a:t>
            </a:r>
            <a:r>
              <a:rPr sz="1800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900" i="1" spc="-25" dirty="0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sz="1800" spc="-37" baseline="-20833" dirty="0">
                <a:solidFill>
                  <a:srgbClr val="FFFFFF"/>
                </a:solidFill>
                <a:latin typeface="Symbol"/>
                <a:cs typeface="Symbol"/>
              </a:rPr>
              <a:t></a:t>
            </a:r>
            <a:r>
              <a:rPr sz="1800" i="1" spc="-25" dirty="0">
                <a:solidFill>
                  <a:srgbClr val="FFFFFF"/>
                </a:solidFill>
                <a:latin typeface="Carlito"/>
                <a:cs typeface="Carlito"/>
              </a:rPr>
              <a:t>x</a:t>
            </a:r>
            <a:endParaRPr sz="1800" dirty="0">
              <a:latin typeface="Carlito"/>
              <a:cs typeface="Carlito"/>
            </a:endParaRPr>
          </a:p>
          <a:p>
            <a:pPr algn="ctr">
              <a:lnSpc>
                <a:spcPts val="1755"/>
              </a:lnSpc>
            </a:pPr>
            <a:r>
              <a:rPr sz="1800" spc="-5" dirty="0">
                <a:solidFill>
                  <a:srgbClr val="FFFFFF"/>
                </a:solidFill>
                <a:latin typeface="Carlito"/>
                <a:cs typeface="Carlito"/>
              </a:rPr>
              <a:t>Unknown</a:t>
            </a:r>
            <a:r>
              <a:rPr sz="1800" spc="-20" dirty="0">
                <a:solidFill>
                  <a:srgbClr val="FFFFFF"/>
                </a:solidFill>
                <a:latin typeface="Carlito"/>
                <a:cs typeface="Carlito"/>
              </a:rPr>
              <a:t> Parameters</a:t>
            </a:r>
            <a:endParaRPr sz="1800" dirty="0">
              <a:latin typeface="Carlito"/>
              <a:cs typeface="Carlito"/>
            </a:endParaRPr>
          </a:p>
          <a:p>
            <a:pPr marL="871219">
              <a:lnSpc>
                <a:spcPts val="2135"/>
              </a:lnSpc>
            </a:pPr>
            <a:r>
              <a:rPr sz="1900" i="1" spc="-20" dirty="0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sz="1800" spc="-30" baseline="-20833" dirty="0">
                <a:solidFill>
                  <a:srgbClr val="FFFFFF"/>
                </a:solidFill>
                <a:latin typeface="Symbol"/>
                <a:cs typeface="Symbol"/>
              </a:rPr>
              <a:t></a:t>
            </a:r>
            <a:r>
              <a:rPr sz="1800" spc="-20" dirty="0">
                <a:solidFill>
                  <a:srgbClr val="FFFFFF"/>
                </a:solidFill>
                <a:latin typeface="Symbol"/>
                <a:cs typeface="Symbol"/>
              </a:rPr>
              <a:t>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i="1" spc="-30" dirty="0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sz="1800" spc="-44" baseline="-20833" dirty="0">
                <a:solidFill>
                  <a:srgbClr val="FFFFFF"/>
                </a:solidFill>
                <a:latin typeface="Symbol"/>
                <a:cs typeface="Symbol"/>
              </a:rPr>
              <a:t></a:t>
            </a:r>
            <a:endParaRPr sz="1800" baseline="-20833" dirty="0">
              <a:latin typeface="Symbol"/>
              <a:cs typeface="Symbo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851400" y="708025"/>
            <a:ext cx="3498850" cy="1851025"/>
            <a:chOff x="4851400" y="708025"/>
            <a:chExt cx="3498850" cy="1851025"/>
          </a:xfrm>
        </p:grpSpPr>
        <p:sp>
          <p:nvSpPr>
            <p:cNvPr id="36" name="object 36"/>
            <p:cNvSpPr/>
            <p:nvPr/>
          </p:nvSpPr>
          <p:spPr>
            <a:xfrm>
              <a:off x="4857750" y="714375"/>
              <a:ext cx="3486150" cy="1800225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57750" y="714375"/>
              <a:ext cx="3486150" cy="1800225"/>
            </a:xfrm>
            <a:custGeom>
              <a:avLst/>
              <a:gdLst/>
              <a:ahLst/>
              <a:cxnLst/>
              <a:rect l="l" t="t" r="r" b="b"/>
              <a:pathLst>
                <a:path w="3486150" h="1800225">
                  <a:moveTo>
                    <a:pt x="0" y="900176"/>
                  </a:moveTo>
                  <a:lnTo>
                    <a:pt x="4376" y="835882"/>
                  </a:lnTo>
                  <a:lnTo>
                    <a:pt x="17309" y="772810"/>
                  </a:lnTo>
                  <a:lnTo>
                    <a:pt x="38504" y="711112"/>
                  </a:lnTo>
                  <a:lnTo>
                    <a:pt x="67666" y="650939"/>
                  </a:lnTo>
                  <a:lnTo>
                    <a:pt x="104499" y="592443"/>
                  </a:lnTo>
                  <a:lnTo>
                    <a:pt x="148709" y="535778"/>
                  </a:lnTo>
                  <a:lnTo>
                    <a:pt x="200000" y="481095"/>
                  </a:lnTo>
                  <a:lnTo>
                    <a:pt x="228210" y="454545"/>
                  </a:lnTo>
                  <a:lnTo>
                    <a:pt x="258079" y="428547"/>
                  </a:lnTo>
                  <a:lnTo>
                    <a:pt x="289571" y="403121"/>
                  </a:lnTo>
                  <a:lnTo>
                    <a:pt x="322649" y="378285"/>
                  </a:lnTo>
                  <a:lnTo>
                    <a:pt x="357276" y="354060"/>
                  </a:lnTo>
                  <a:lnTo>
                    <a:pt x="393416" y="330463"/>
                  </a:lnTo>
                  <a:lnTo>
                    <a:pt x="431031" y="307514"/>
                  </a:lnTo>
                  <a:lnTo>
                    <a:pt x="470084" y="285232"/>
                  </a:lnTo>
                  <a:lnTo>
                    <a:pt x="510539" y="263636"/>
                  </a:lnTo>
                  <a:lnTo>
                    <a:pt x="552360" y="242744"/>
                  </a:lnTo>
                  <a:lnTo>
                    <a:pt x="595508" y="222577"/>
                  </a:lnTo>
                  <a:lnTo>
                    <a:pt x="639947" y="203153"/>
                  </a:lnTo>
                  <a:lnTo>
                    <a:pt x="685640" y="184490"/>
                  </a:lnTo>
                  <a:lnTo>
                    <a:pt x="732551" y="166609"/>
                  </a:lnTo>
                  <a:lnTo>
                    <a:pt x="780642" y="149528"/>
                  </a:lnTo>
                  <a:lnTo>
                    <a:pt x="829877" y="133265"/>
                  </a:lnTo>
                  <a:lnTo>
                    <a:pt x="880218" y="117841"/>
                  </a:lnTo>
                  <a:lnTo>
                    <a:pt x="931630" y="103275"/>
                  </a:lnTo>
                  <a:lnTo>
                    <a:pt x="984074" y="89584"/>
                  </a:lnTo>
                  <a:lnTo>
                    <a:pt x="1037515" y="76789"/>
                  </a:lnTo>
                  <a:lnTo>
                    <a:pt x="1091914" y="64907"/>
                  </a:lnTo>
                  <a:lnTo>
                    <a:pt x="1147236" y="53960"/>
                  </a:lnTo>
                  <a:lnTo>
                    <a:pt x="1203444" y="43964"/>
                  </a:lnTo>
                  <a:lnTo>
                    <a:pt x="1260500" y="34940"/>
                  </a:lnTo>
                  <a:lnTo>
                    <a:pt x="1318368" y="26906"/>
                  </a:lnTo>
                  <a:lnTo>
                    <a:pt x="1377011" y="19882"/>
                  </a:lnTo>
                  <a:lnTo>
                    <a:pt x="1436391" y="13886"/>
                  </a:lnTo>
                  <a:lnTo>
                    <a:pt x="1496473" y="8938"/>
                  </a:lnTo>
                  <a:lnTo>
                    <a:pt x="1557219" y="5056"/>
                  </a:lnTo>
                  <a:lnTo>
                    <a:pt x="1618593" y="2259"/>
                  </a:lnTo>
                  <a:lnTo>
                    <a:pt x="1680557" y="568"/>
                  </a:lnTo>
                  <a:lnTo>
                    <a:pt x="1743075" y="0"/>
                  </a:lnTo>
                  <a:lnTo>
                    <a:pt x="1805592" y="568"/>
                  </a:lnTo>
                  <a:lnTo>
                    <a:pt x="1867556" y="2259"/>
                  </a:lnTo>
                  <a:lnTo>
                    <a:pt x="1928930" y="5056"/>
                  </a:lnTo>
                  <a:lnTo>
                    <a:pt x="1989676" y="8938"/>
                  </a:lnTo>
                  <a:lnTo>
                    <a:pt x="2049758" y="13886"/>
                  </a:lnTo>
                  <a:lnTo>
                    <a:pt x="2109138" y="19882"/>
                  </a:lnTo>
                  <a:lnTo>
                    <a:pt x="2167781" y="26906"/>
                  </a:lnTo>
                  <a:lnTo>
                    <a:pt x="2225649" y="34940"/>
                  </a:lnTo>
                  <a:lnTo>
                    <a:pt x="2282705" y="43964"/>
                  </a:lnTo>
                  <a:lnTo>
                    <a:pt x="2338913" y="53960"/>
                  </a:lnTo>
                  <a:lnTo>
                    <a:pt x="2394235" y="64907"/>
                  </a:lnTo>
                  <a:lnTo>
                    <a:pt x="2448634" y="76789"/>
                  </a:lnTo>
                  <a:lnTo>
                    <a:pt x="2502075" y="89584"/>
                  </a:lnTo>
                  <a:lnTo>
                    <a:pt x="2554519" y="103275"/>
                  </a:lnTo>
                  <a:lnTo>
                    <a:pt x="2605931" y="117841"/>
                  </a:lnTo>
                  <a:lnTo>
                    <a:pt x="2656272" y="133265"/>
                  </a:lnTo>
                  <a:lnTo>
                    <a:pt x="2705507" y="149528"/>
                  </a:lnTo>
                  <a:lnTo>
                    <a:pt x="2753598" y="166609"/>
                  </a:lnTo>
                  <a:lnTo>
                    <a:pt x="2800509" y="184490"/>
                  </a:lnTo>
                  <a:lnTo>
                    <a:pt x="2846202" y="203153"/>
                  </a:lnTo>
                  <a:lnTo>
                    <a:pt x="2890641" y="222577"/>
                  </a:lnTo>
                  <a:lnTo>
                    <a:pt x="2933789" y="242744"/>
                  </a:lnTo>
                  <a:lnTo>
                    <a:pt x="2975609" y="263636"/>
                  </a:lnTo>
                  <a:lnTo>
                    <a:pt x="3016065" y="285232"/>
                  </a:lnTo>
                  <a:lnTo>
                    <a:pt x="3055118" y="307514"/>
                  </a:lnTo>
                  <a:lnTo>
                    <a:pt x="3092733" y="330463"/>
                  </a:lnTo>
                  <a:lnTo>
                    <a:pt x="3128873" y="354060"/>
                  </a:lnTo>
                  <a:lnTo>
                    <a:pt x="3163500" y="378285"/>
                  </a:lnTo>
                  <a:lnTo>
                    <a:pt x="3196578" y="403121"/>
                  </a:lnTo>
                  <a:lnTo>
                    <a:pt x="3228070" y="428547"/>
                  </a:lnTo>
                  <a:lnTo>
                    <a:pt x="3257939" y="454545"/>
                  </a:lnTo>
                  <a:lnTo>
                    <a:pt x="3286149" y="481095"/>
                  </a:lnTo>
                  <a:lnTo>
                    <a:pt x="3337440" y="535778"/>
                  </a:lnTo>
                  <a:lnTo>
                    <a:pt x="3381650" y="592443"/>
                  </a:lnTo>
                  <a:lnTo>
                    <a:pt x="3418483" y="650939"/>
                  </a:lnTo>
                  <a:lnTo>
                    <a:pt x="3447645" y="711112"/>
                  </a:lnTo>
                  <a:lnTo>
                    <a:pt x="3468840" y="772810"/>
                  </a:lnTo>
                  <a:lnTo>
                    <a:pt x="3481773" y="835882"/>
                  </a:lnTo>
                  <a:lnTo>
                    <a:pt x="3486150" y="900176"/>
                  </a:lnTo>
                  <a:lnTo>
                    <a:pt x="3485049" y="932457"/>
                  </a:lnTo>
                  <a:lnTo>
                    <a:pt x="3476357" y="996143"/>
                  </a:lnTo>
                  <a:lnTo>
                    <a:pt x="3459256" y="1058534"/>
                  </a:lnTo>
                  <a:lnTo>
                    <a:pt x="3434041" y="1119476"/>
                  </a:lnTo>
                  <a:lnTo>
                    <a:pt x="3401007" y="1178818"/>
                  </a:lnTo>
                  <a:lnTo>
                    <a:pt x="3360449" y="1236407"/>
                  </a:lnTo>
                  <a:lnTo>
                    <a:pt x="3312661" y="1292091"/>
                  </a:lnTo>
                  <a:lnTo>
                    <a:pt x="3257939" y="1345718"/>
                  </a:lnTo>
                  <a:lnTo>
                    <a:pt x="3228070" y="1371712"/>
                  </a:lnTo>
                  <a:lnTo>
                    <a:pt x="3196578" y="1397135"/>
                  </a:lnTo>
                  <a:lnTo>
                    <a:pt x="3163500" y="1421967"/>
                  </a:lnTo>
                  <a:lnTo>
                    <a:pt x="3128873" y="1446190"/>
                  </a:lnTo>
                  <a:lnTo>
                    <a:pt x="3092733" y="1469784"/>
                  </a:lnTo>
                  <a:lnTo>
                    <a:pt x="3055118" y="1492730"/>
                  </a:lnTo>
                  <a:lnTo>
                    <a:pt x="3016065" y="1515010"/>
                  </a:lnTo>
                  <a:lnTo>
                    <a:pt x="2975609" y="1536604"/>
                  </a:lnTo>
                  <a:lnTo>
                    <a:pt x="2933789" y="1557494"/>
                  </a:lnTo>
                  <a:lnTo>
                    <a:pt x="2890641" y="1577659"/>
                  </a:lnTo>
                  <a:lnTo>
                    <a:pt x="2846202" y="1597082"/>
                  </a:lnTo>
                  <a:lnTo>
                    <a:pt x="2800509" y="1615743"/>
                  </a:lnTo>
                  <a:lnTo>
                    <a:pt x="2753598" y="1633623"/>
                  </a:lnTo>
                  <a:lnTo>
                    <a:pt x="2705507" y="1650703"/>
                  </a:lnTo>
                  <a:lnTo>
                    <a:pt x="2656272" y="1666964"/>
                  </a:lnTo>
                  <a:lnTo>
                    <a:pt x="2605931" y="1682387"/>
                  </a:lnTo>
                  <a:lnTo>
                    <a:pt x="2554519" y="1696953"/>
                  </a:lnTo>
                  <a:lnTo>
                    <a:pt x="2502075" y="1710643"/>
                  </a:lnTo>
                  <a:lnTo>
                    <a:pt x="2448634" y="1723438"/>
                  </a:lnTo>
                  <a:lnTo>
                    <a:pt x="2394235" y="1735318"/>
                  </a:lnTo>
                  <a:lnTo>
                    <a:pt x="2338913" y="1746266"/>
                  </a:lnTo>
                  <a:lnTo>
                    <a:pt x="2282705" y="1756261"/>
                  </a:lnTo>
                  <a:lnTo>
                    <a:pt x="2225649" y="1765285"/>
                  </a:lnTo>
                  <a:lnTo>
                    <a:pt x="2167781" y="1773318"/>
                  </a:lnTo>
                  <a:lnTo>
                    <a:pt x="2109138" y="1780342"/>
                  </a:lnTo>
                  <a:lnTo>
                    <a:pt x="2049758" y="1786338"/>
                  </a:lnTo>
                  <a:lnTo>
                    <a:pt x="1989676" y="1791286"/>
                  </a:lnTo>
                  <a:lnTo>
                    <a:pt x="1928930" y="1795168"/>
                  </a:lnTo>
                  <a:lnTo>
                    <a:pt x="1867556" y="1797965"/>
                  </a:lnTo>
                  <a:lnTo>
                    <a:pt x="1805592" y="1799656"/>
                  </a:lnTo>
                  <a:lnTo>
                    <a:pt x="1743075" y="1800225"/>
                  </a:lnTo>
                  <a:lnTo>
                    <a:pt x="1680557" y="1799656"/>
                  </a:lnTo>
                  <a:lnTo>
                    <a:pt x="1618593" y="1797965"/>
                  </a:lnTo>
                  <a:lnTo>
                    <a:pt x="1557219" y="1795168"/>
                  </a:lnTo>
                  <a:lnTo>
                    <a:pt x="1496473" y="1791286"/>
                  </a:lnTo>
                  <a:lnTo>
                    <a:pt x="1436391" y="1786338"/>
                  </a:lnTo>
                  <a:lnTo>
                    <a:pt x="1377011" y="1780342"/>
                  </a:lnTo>
                  <a:lnTo>
                    <a:pt x="1318368" y="1773318"/>
                  </a:lnTo>
                  <a:lnTo>
                    <a:pt x="1260500" y="1765285"/>
                  </a:lnTo>
                  <a:lnTo>
                    <a:pt x="1203444" y="1756261"/>
                  </a:lnTo>
                  <a:lnTo>
                    <a:pt x="1147236" y="1746266"/>
                  </a:lnTo>
                  <a:lnTo>
                    <a:pt x="1091914" y="1735318"/>
                  </a:lnTo>
                  <a:lnTo>
                    <a:pt x="1037515" y="1723438"/>
                  </a:lnTo>
                  <a:lnTo>
                    <a:pt x="984074" y="1710643"/>
                  </a:lnTo>
                  <a:lnTo>
                    <a:pt x="931630" y="1696953"/>
                  </a:lnTo>
                  <a:lnTo>
                    <a:pt x="880218" y="1682387"/>
                  </a:lnTo>
                  <a:lnTo>
                    <a:pt x="829877" y="1666964"/>
                  </a:lnTo>
                  <a:lnTo>
                    <a:pt x="780642" y="1650703"/>
                  </a:lnTo>
                  <a:lnTo>
                    <a:pt x="732551" y="1633623"/>
                  </a:lnTo>
                  <a:lnTo>
                    <a:pt x="685640" y="1615743"/>
                  </a:lnTo>
                  <a:lnTo>
                    <a:pt x="639947" y="1597082"/>
                  </a:lnTo>
                  <a:lnTo>
                    <a:pt x="595508" y="1577659"/>
                  </a:lnTo>
                  <a:lnTo>
                    <a:pt x="552360" y="1557494"/>
                  </a:lnTo>
                  <a:lnTo>
                    <a:pt x="510539" y="1536604"/>
                  </a:lnTo>
                  <a:lnTo>
                    <a:pt x="470084" y="1515010"/>
                  </a:lnTo>
                  <a:lnTo>
                    <a:pt x="431031" y="1492730"/>
                  </a:lnTo>
                  <a:lnTo>
                    <a:pt x="393416" y="1469784"/>
                  </a:lnTo>
                  <a:lnTo>
                    <a:pt x="357276" y="1446190"/>
                  </a:lnTo>
                  <a:lnTo>
                    <a:pt x="322649" y="1421967"/>
                  </a:lnTo>
                  <a:lnTo>
                    <a:pt x="289571" y="1397135"/>
                  </a:lnTo>
                  <a:lnTo>
                    <a:pt x="258079" y="1371712"/>
                  </a:lnTo>
                  <a:lnTo>
                    <a:pt x="228210" y="1345718"/>
                  </a:lnTo>
                  <a:lnTo>
                    <a:pt x="200000" y="1319171"/>
                  </a:lnTo>
                  <a:lnTo>
                    <a:pt x="148709" y="1264497"/>
                  </a:lnTo>
                  <a:lnTo>
                    <a:pt x="104499" y="1207841"/>
                  </a:lnTo>
                  <a:lnTo>
                    <a:pt x="67666" y="1149357"/>
                  </a:lnTo>
                  <a:lnTo>
                    <a:pt x="38504" y="1089196"/>
                  </a:lnTo>
                  <a:lnTo>
                    <a:pt x="17309" y="1027510"/>
                  </a:lnTo>
                  <a:lnTo>
                    <a:pt x="4376" y="964453"/>
                  </a:lnTo>
                  <a:lnTo>
                    <a:pt x="0" y="90017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41491" y="728472"/>
              <a:ext cx="1536191" cy="513588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146291" y="975359"/>
              <a:ext cx="928115" cy="51358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20383" y="1304544"/>
              <a:ext cx="406908" cy="51358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65163" y="1456944"/>
              <a:ext cx="294132" cy="353567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611111" y="1304544"/>
              <a:ext cx="409955" cy="513588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58939" y="1456944"/>
              <a:ext cx="294131" cy="353567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11824" y="1551432"/>
              <a:ext cx="795527" cy="513588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211824" y="1798319"/>
              <a:ext cx="797051" cy="513587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147816" y="2045208"/>
              <a:ext cx="406908" cy="51358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92596" y="2197608"/>
              <a:ext cx="294131" cy="353568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585204" y="2045208"/>
              <a:ext cx="409955" cy="513588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733032" y="2197608"/>
              <a:ext cx="294131" cy="353568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961507" y="777621"/>
            <a:ext cx="1278255" cy="1617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050"/>
              </a:lnSpc>
              <a:spcBef>
                <a:spcPts val="100"/>
              </a:spcBef>
            </a:pPr>
            <a:r>
              <a:rPr sz="1800" spc="-5" dirty="0">
                <a:solidFill>
                  <a:srgbClr val="FFFF00"/>
                </a:solidFill>
                <a:latin typeface="Carlito"/>
                <a:cs typeface="Carlito"/>
              </a:rPr>
              <a:t>Sample</a:t>
            </a:r>
            <a:r>
              <a:rPr sz="1800" spc="-65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1800" spc="-10" dirty="0">
                <a:solidFill>
                  <a:srgbClr val="FFFF00"/>
                </a:solidFill>
                <a:latin typeface="Carlito"/>
                <a:cs typeface="Carlito"/>
              </a:rPr>
              <a:t>Data:</a:t>
            </a:r>
            <a:endParaRPr sz="1800">
              <a:latin typeface="Carlito"/>
              <a:cs typeface="Carlito"/>
            </a:endParaRPr>
          </a:p>
          <a:p>
            <a:pPr marL="1905" algn="ctr">
              <a:lnSpc>
                <a:spcPts val="2050"/>
              </a:lnSpc>
              <a:tabLst>
                <a:tab pos="519430" algn="l"/>
              </a:tabLst>
            </a:pPr>
            <a:r>
              <a:rPr sz="1800" i="1" dirty="0">
                <a:solidFill>
                  <a:srgbClr val="FFFF00"/>
                </a:solidFill>
                <a:latin typeface="Carlito"/>
                <a:cs typeface="Carlito"/>
              </a:rPr>
              <a:t>x	y</a:t>
            </a:r>
            <a:endParaRPr sz="1800">
              <a:latin typeface="Carlito"/>
              <a:cs typeface="Carlito"/>
            </a:endParaRPr>
          </a:p>
          <a:p>
            <a:pPr marL="635" algn="ctr">
              <a:lnSpc>
                <a:spcPts val="2055"/>
              </a:lnSpc>
              <a:spcBef>
                <a:spcPts val="430"/>
              </a:spcBef>
              <a:tabLst>
                <a:tab pos="490855" algn="l"/>
              </a:tabLst>
            </a:pPr>
            <a:r>
              <a:rPr sz="1800" i="1" dirty="0">
                <a:solidFill>
                  <a:srgbClr val="FFFF00"/>
                </a:solidFill>
                <a:latin typeface="Carlito"/>
                <a:cs typeface="Carlito"/>
              </a:rPr>
              <a:t>x</a:t>
            </a:r>
            <a:r>
              <a:rPr sz="1800" baseline="-20833" dirty="0">
                <a:solidFill>
                  <a:srgbClr val="FFFF00"/>
                </a:solidFill>
                <a:latin typeface="Carlito"/>
                <a:cs typeface="Carlito"/>
              </a:rPr>
              <a:t>1	</a:t>
            </a:r>
            <a:r>
              <a:rPr sz="1800" i="1" spc="-5" dirty="0">
                <a:solidFill>
                  <a:srgbClr val="FFFF00"/>
                </a:solidFill>
                <a:latin typeface="Carlito"/>
                <a:cs typeface="Carlito"/>
              </a:rPr>
              <a:t>y</a:t>
            </a:r>
            <a:r>
              <a:rPr sz="1800" spc="-7" baseline="-20833" dirty="0">
                <a:solidFill>
                  <a:srgbClr val="FFFF00"/>
                </a:solidFill>
                <a:latin typeface="Carlito"/>
                <a:cs typeface="Carlito"/>
              </a:rPr>
              <a:t>1</a:t>
            </a:r>
            <a:endParaRPr sz="1800" baseline="-20833">
              <a:latin typeface="Carlito"/>
              <a:cs typeface="Carlito"/>
            </a:endParaRPr>
          </a:p>
          <a:p>
            <a:pPr marL="635" algn="ctr">
              <a:lnSpc>
                <a:spcPts val="1945"/>
              </a:lnSpc>
              <a:tabLst>
                <a:tab pos="426720" algn="l"/>
              </a:tabLst>
            </a:pPr>
            <a:r>
              <a:rPr sz="1800" b="1" i="1" dirty="0">
                <a:solidFill>
                  <a:srgbClr val="FFFF00"/>
                </a:solidFill>
                <a:latin typeface="Carlito"/>
                <a:cs typeface="Carlito"/>
              </a:rPr>
              <a:t>.	.</a:t>
            </a:r>
            <a:endParaRPr sz="1800">
              <a:latin typeface="Carlito"/>
              <a:cs typeface="Carlito"/>
            </a:endParaRPr>
          </a:p>
          <a:p>
            <a:pPr marL="1905" algn="ctr">
              <a:lnSpc>
                <a:spcPts val="1945"/>
              </a:lnSpc>
              <a:tabLst>
                <a:tab pos="429259" algn="l"/>
              </a:tabLst>
            </a:pPr>
            <a:r>
              <a:rPr sz="1800" b="1" i="1" dirty="0">
                <a:solidFill>
                  <a:srgbClr val="FFFF00"/>
                </a:solidFill>
                <a:latin typeface="Carlito"/>
                <a:cs typeface="Carlito"/>
              </a:rPr>
              <a:t>.	.</a:t>
            </a:r>
            <a:endParaRPr sz="1800">
              <a:latin typeface="Carlito"/>
              <a:cs typeface="Carlito"/>
            </a:endParaRPr>
          </a:p>
          <a:p>
            <a:pPr marL="3175" algn="ctr">
              <a:lnSpc>
                <a:spcPts val="2050"/>
              </a:lnSpc>
              <a:tabLst>
                <a:tab pos="440055" algn="l"/>
              </a:tabLst>
            </a:pPr>
            <a:r>
              <a:rPr sz="1800" i="1" dirty="0">
                <a:solidFill>
                  <a:srgbClr val="FFFF00"/>
                </a:solidFill>
                <a:latin typeface="Carlito"/>
                <a:cs typeface="Carlito"/>
              </a:rPr>
              <a:t>x</a:t>
            </a:r>
            <a:r>
              <a:rPr sz="1800" i="1" baseline="-20833" dirty="0">
                <a:solidFill>
                  <a:srgbClr val="FFFF00"/>
                </a:solidFill>
                <a:latin typeface="Carlito"/>
                <a:cs typeface="Carlito"/>
              </a:rPr>
              <a:t>n	</a:t>
            </a:r>
            <a:r>
              <a:rPr sz="1800" i="1" spc="-5" dirty="0">
                <a:solidFill>
                  <a:srgbClr val="FFFF00"/>
                </a:solidFill>
                <a:latin typeface="Carlito"/>
                <a:cs typeface="Carlito"/>
              </a:rPr>
              <a:t>y</a:t>
            </a:r>
            <a:r>
              <a:rPr sz="1800" i="1" spc="-7" baseline="-20833" dirty="0">
                <a:solidFill>
                  <a:srgbClr val="FFFF00"/>
                </a:solidFill>
                <a:latin typeface="Carlito"/>
                <a:cs typeface="Carlito"/>
              </a:rPr>
              <a:t>n</a:t>
            </a:r>
            <a:endParaRPr sz="1800" baseline="-20833">
              <a:latin typeface="Carlito"/>
              <a:cs typeface="Carlito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55650" y="1408175"/>
            <a:ext cx="6421120" cy="3213100"/>
            <a:chOff x="755650" y="1408175"/>
            <a:chExt cx="6421120" cy="3213100"/>
          </a:xfrm>
        </p:grpSpPr>
        <p:sp>
          <p:nvSpPr>
            <p:cNvPr id="52" name="object 52"/>
            <p:cNvSpPr/>
            <p:nvPr/>
          </p:nvSpPr>
          <p:spPr>
            <a:xfrm>
              <a:off x="6088379" y="1418843"/>
              <a:ext cx="1088135" cy="16763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076950" y="1414525"/>
              <a:ext cx="1085850" cy="0"/>
            </a:xfrm>
            <a:custGeom>
              <a:avLst/>
              <a:gdLst/>
              <a:ahLst/>
              <a:cxnLst/>
              <a:rect l="l" t="t" r="r" b="b"/>
              <a:pathLst>
                <a:path w="1085850">
                  <a:moveTo>
                    <a:pt x="0" y="0"/>
                  </a:moveTo>
                  <a:lnTo>
                    <a:pt x="108585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62000" y="2871850"/>
              <a:ext cx="3543300" cy="1743075"/>
            </a:xfrm>
            <a:custGeom>
              <a:avLst/>
              <a:gdLst/>
              <a:ahLst/>
              <a:cxnLst/>
              <a:rect l="l" t="t" r="r" b="b"/>
              <a:pathLst>
                <a:path w="3543300" h="1743075">
                  <a:moveTo>
                    <a:pt x="1771650" y="0"/>
                  </a:moveTo>
                  <a:lnTo>
                    <a:pt x="1708109" y="550"/>
                  </a:lnTo>
                  <a:lnTo>
                    <a:pt x="1645131" y="2187"/>
                  </a:lnTo>
                  <a:lnTo>
                    <a:pt x="1582753" y="4895"/>
                  </a:lnTo>
                  <a:lnTo>
                    <a:pt x="1521013" y="8653"/>
                  </a:lnTo>
                  <a:lnTo>
                    <a:pt x="1459947" y="13444"/>
                  </a:lnTo>
                  <a:lnTo>
                    <a:pt x="1399594" y="19249"/>
                  </a:lnTo>
                  <a:lnTo>
                    <a:pt x="1339991" y="26050"/>
                  </a:lnTo>
                  <a:lnTo>
                    <a:pt x="1281176" y="33828"/>
                  </a:lnTo>
                  <a:lnTo>
                    <a:pt x="1223185" y="42564"/>
                  </a:lnTo>
                  <a:lnTo>
                    <a:pt x="1166057" y="52242"/>
                  </a:lnTo>
                  <a:lnTo>
                    <a:pt x="1109828" y="62841"/>
                  </a:lnTo>
                  <a:lnTo>
                    <a:pt x="1054537" y="74343"/>
                  </a:lnTo>
                  <a:lnTo>
                    <a:pt x="1000221" y="86731"/>
                  </a:lnTo>
                  <a:lnTo>
                    <a:pt x="946917" y="99986"/>
                  </a:lnTo>
                  <a:lnTo>
                    <a:pt x="894663" y="114089"/>
                  </a:lnTo>
                  <a:lnTo>
                    <a:pt x="843496" y="129021"/>
                  </a:lnTo>
                  <a:lnTo>
                    <a:pt x="793454" y="144765"/>
                  </a:lnTo>
                  <a:lnTo>
                    <a:pt x="744575" y="161303"/>
                  </a:lnTo>
                  <a:lnTo>
                    <a:pt x="696895" y="178614"/>
                  </a:lnTo>
                  <a:lnTo>
                    <a:pt x="650452" y="196682"/>
                  </a:lnTo>
                  <a:lnTo>
                    <a:pt x="605284" y="215487"/>
                  </a:lnTo>
                  <a:lnTo>
                    <a:pt x="561428" y="235012"/>
                  </a:lnTo>
                  <a:lnTo>
                    <a:pt x="518921" y="255238"/>
                  </a:lnTo>
                  <a:lnTo>
                    <a:pt x="477802" y="276146"/>
                  </a:lnTo>
                  <a:lnTo>
                    <a:pt x="438108" y="297718"/>
                  </a:lnTo>
                  <a:lnTo>
                    <a:pt x="399876" y="319935"/>
                  </a:lnTo>
                  <a:lnTo>
                    <a:pt x="363143" y="342780"/>
                  </a:lnTo>
                  <a:lnTo>
                    <a:pt x="327947" y="366233"/>
                  </a:lnTo>
                  <a:lnTo>
                    <a:pt x="294326" y="390277"/>
                  </a:lnTo>
                  <a:lnTo>
                    <a:pt x="262317" y="414892"/>
                  </a:lnTo>
                  <a:lnTo>
                    <a:pt x="231958" y="440061"/>
                  </a:lnTo>
                  <a:lnTo>
                    <a:pt x="203286" y="465765"/>
                  </a:lnTo>
                  <a:lnTo>
                    <a:pt x="151152" y="518704"/>
                  </a:lnTo>
                  <a:lnTo>
                    <a:pt x="106216" y="573562"/>
                  </a:lnTo>
                  <a:lnTo>
                    <a:pt x="68778" y="630191"/>
                  </a:lnTo>
                  <a:lnTo>
                    <a:pt x="39137" y="688445"/>
                  </a:lnTo>
                  <a:lnTo>
                    <a:pt x="17594" y="748174"/>
                  </a:lnTo>
                  <a:lnTo>
                    <a:pt x="4448" y="809233"/>
                  </a:lnTo>
                  <a:lnTo>
                    <a:pt x="0" y="871474"/>
                  </a:lnTo>
                  <a:lnTo>
                    <a:pt x="1118" y="902733"/>
                  </a:lnTo>
                  <a:lnTo>
                    <a:pt x="9953" y="964403"/>
                  </a:lnTo>
                  <a:lnTo>
                    <a:pt x="27334" y="1024818"/>
                  </a:lnTo>
                  <a:lnTo>
                    <a:pt x="52964" y="1083831"/>
                  </a:lnTo>
                  <a:lnTo>
                    <a:pt x="86541" y="1141294"/>
                  </a:lnTo>
                  <a:lnTo>
                    <a:pt x="127765" y="1197059"/>
                  </a:lnTo>
                  <a:lnTo>
                    <a:pt x="176338" y="1250979"/>
                  </a:lnTo>
                  <a:lnTo>
                    <a:pt x="231958" y="1302907"/>
                  </a:lnTo>
                  <a:lnTo>
                    <a:pt x="262317" y="1328078"/>
                  </a:lnTo>
                  <a:lnTo>
                    <a:pt x="294326" y="1352695"/>
                  </a:lnTo>
                  <a:lnTo>
                    <a:pt x="327947" y="1376741"/>
                  </a:lnTo>
                  <a:lnTo>
                    <a:pt x="363143" y="1400196"/>
                  </a:lnTo>
                  <a:lnTo>
                    <a:pt x="399876" y="1423043"/>
                  </a:lnTo>
                  <a:lnTo>
                    <a:pt x="438108" y="1445262"/>
                  </a:lnTo>
                  <a:lnTo>
                    <a:pt x="477802" y="1466836"/>
                  </a:lnTo>
                  <a:lnTo>
                    <a:pt x="518922" y="1487746"/>
                  </a:lnTo>
                  <a:lnTo>
                    <a:pt x="561428" y="1507973"/>
                  </a:lnTo>
                  <a:lnTo>
                    <a:pt x="605284" y="1527500"/>
                  </a:lnTo>
                  <a:lnTo>
                    <a:pt x="650452" y="1546307"/>
                  </a:lnTo>
                  <a:lnTo>
                    <a:pt x="696895" y="1564377"/>
                  </a:lnTo>
                  <a:lnTo>
                    <a:pt x="744575" y="1581690"/>
                  </a:lnTo>
                  <a:lnTo>
                    <a:pt x="793454" y="1598229"/>
                  </a:lnTo>
                  <a:lnTo>
                    <a:pt x="843496" y="1613974"/>
                  </a:lnTo>
                  <a:lnTo>
                    <a:pt x="894663" y="1628909"/>
                  </a:lnTo>
                  <a:lnTo>
                    <a:pt x="946917" y="1643013"/>
                  </a:lnTo>
                  <a:lnTo>
                    <a:pt x="1000221" y="1656269"/>
                  </a:lnTo>
                  <a:lnTo>
                    <a:pt x="1054537" y="1668658"/>
                  </a:lnTo>
                  <a:lnTo>
                    <a:pt x="1109828" y="1680162"/>
                  </a:lnTo>
                  <a:lnTo>
                    <a:pt x="1166057" y="1690763"/>
                  </a:lnTo>
                  <a:lnTo>
                    <a:pt x="1223185" y="1700441"/>
                  </a:lnTo>
                  <a:lnTo>
                    <a:pt x="1281176" y="1709179"/>
                  </a:lnTo>
                  <a:lnTo>
                    <a:pt x="1339991" y="1716958"/>
                  </a:lnTo>
                  <a:lnTo>
                    <a:pt x="1399594" y="1723759"/>
                  </a:lnTo>
                  <a:lnTo>
                    <a:pt x="1459947" y="1729565"/>
                  </a:lnTo>
                  <a:lnTo>
                    <a:pt x="1521013" y="1734356"/>
                  </a:lnTo>
                  <a:lnTo>
                    <a:pt x="1582753" y="1738115"/>
                  </a:lnTo>
                  <a:lnTo>
                    <a:pt x="1645131" y="1740823"/>
                  </a:lnTo>
                  <a:lnTo>
                    <a:pt x="1708109" y="1742461"/>
                  </a:lnTo>
                  <a:lnTo>
                    <a:pt x="1771650" y="1743011"/>
                  </a:lnTo>
                  <a:lnTo>
                    <a:pt x="1835190" y="1742461"/>
                  </a:lnTo>
                  <a:lnTo>
                    <a:pt x="1898168" y="1740823"/>
                  </a:lnTo>
                  <a:lnTo>
                    <a:pt x="1960546" y="1738115"/>
                  </a:lnTo>
                  <a:lnTo>
                    <a:pt x="2022286" y="1734356"/>
                  </a:lnTo>
                  <a:lnTo>
                    <a:pt x="2083352" y="1729565"/>
                  </a:lnTo>
                  <a:lnTo>
                    <a:pt x="2143705" y="1723759"/>
                  </a:lnTo>
                  <a:lnTo>
                    <a:pt x="2203308" y="1716958"/>
                  </a:lnTo>
                  <a:lnTo>
                    <a:pt x="2262123" y="1709179"/>
                  </a:lnTo>
                  <a:lnTo>
                    <a:pt x="2320114" y="1700441"/>
                  </a:lnTo>
                  <a:lnTo>
                    <a:pt x="2377242" y="1690763"/>
                  </a:lnTo>
                  <a:lnTo>
                    <a:pt x="2433471" y="1680162"/>
                  </a:lnTo>
                  <a:lnTo>
                    <a:pt x="2488762" y="1668658"/>
                  </a:lnTo>
                  <a:lnTo>
                    <a:pt x="2543078" y="1656269"/>
                  </a:lnTo>
                  <a:lnTo>
                    <a:pt x="2596382" y="1643013"/>
                  </a:lnTo>
                  <a:lnTo>
                    <a:pt x="2648636" y="1628909"/>
                  </a:lnTo>
                  <a:lnTo>
                    <a:pt x="2699803" y="1613974"/>
                  </a:lnTo>
                  <a:lnTo>
                    <a:pt x="2749845" y="1598229"/>
                  </a:lnTo>
                  <a:lnTo>
                    <a:pt x="2798724" y="1581690"/>
                  </a:lnTo>
                  <a:lnTo>
                    <a:pt x="2846404" y="1564377"/>
                  </a:lnTo>
                  <a:lnTo>
                    <a:pt x="2892847" y="1546307"/>
                  </a:lnTo>
                  <a:lnTo>
                    <a:pt x="2938015" y="1527500"/>
                  </a:lnTo>
                  <a:lnTo>
                    <a:pt x="2981871" y="1507973"/>
                  </a:lnTo>
                  <a:lnTo>
                    <a:pt x="3024378" y="1487746"/>
                  </a:lnTo>
                  <a:lnTo>
                    <a:pt x="3065497" y="1466836"/>
                  </a:lnTo>
                  <a:lnTo>
                    <a:pt x="3105191" y="1445262"/>
                  </a:lnTo>
                  <a:lnTo>
                    <a:pt x="3143423" y="1423043"/>
                  </a:lnTo>
                  <a:lnTo>
                    <a:pt x="3180156" y="1400196"/>
                  </a:lnTo>
                  <a:lnTo>
                    <a:pt x="3215352" y="1376741"/>
                  </a:lnTo>
                  <a:lnTo>
                    <a:pt x="3248973" y="1352695"/>
                  </a:lnTo>
                  <a:lnTo>
                    <a:pt x="3280982" y="1328078"/>
                  </a:lnTo>
                  <a:lnTo>
                    <a:pt x="3311341" y="1302907"/>
                  </a:lnTo>
                  <a:lnTo>
                    <a:pt x="3340013" y="1277201"/>
                  </a:lnTo>
                  <a:lnTo>
                    <a:pt x="3392147" y="1224259"/>
                  </a:lnTo>
                  <a:lnTo>
                    <a:pt x="3437083" y="1169398"/>
                  </a:lnTo>
                  <a:lnTo>
                    <a:pt x="3474521" y="1112765"/>
                  </a:lnTo>
                  <a:lnTo>
                    <a:pt x="3504162" y="1054509"/>
                  </a:lnTo>
                  <a:lnTo>
                    <a:pt x="3525705" y="994777"/>
                  </a:lnTo>
                  <a:lnTo>
                    <a:pt x="3538851" y="933716"/>
                  </a:lnTo>
                  <a:lnTo>
                    <a:pt x="3543300" y="871474"/>
                  </a:lnTo>
                  <a:lnTo>
                    <a:pt x="3542181" y="840215"/>
                  </a:lnTo>
                  <a:lnTo>
                    <a:pt x="3533346" y="778547"/>
                  </a:lnTo>
                  <a:lnTo>
                    <a:pt x="3515965" y="718134"/>
                  </a:lnTo>
                  <a:lnTo>
                    <a:pt x="3490335" y="659124"/>
                  </a:lnTo>
                  <a:lnTo>
                    <a:pt x="3456758" y="601665"/>
                  </a:lnTo>
                  <a:lnTo>
                    <a:pt x="3415534" y="545903"/>
                  </a:lnTo>
                  <a:lnTo>
                    <a:pt x="3366961" y="491986"/>
                  </a:lnTo>
                  <a:lnTo>
                    <a:pt x="3311341" y="440061"/>
                  </a:lnTo>
                  <a:lnTo>
                    <a:pt x="3280982" y="414892"/>
                  </a:lnTo>
                  <a:lnTo>
                    <a:pt x="3248973" y="390277"/>
                  </a:lnTo>
                  <a:lnTo>
                    <a:pt x="3215352" y="366233"/>
                  </a:lnTo>
                  <a:lnTo>
                    <a:pt x="3180156" y="342780"/>
                  </a:lnTo>
                  <a:lnTo>
                    <a:pt x="3143423" y="319935"/>
                  </a:lnTo>
                  <a:lnTo>
                    <a:pt x="3105191" y="297718"/>
                  </a:lnTo>
                  <a:lnTo>
                    <a:pt x="3065497" y="276146"/>
                  </a:lnTo>
                  <a:lnTo>
                    <a:pt x="3024378" y="255238"/>
                  </a:lnTo>
                  <a:lnTo>
                    <a:pt x="2981871" y="235012"/>
                  </a:lnTo>
                  <a:lnTo>
                    <a:pt x="2938015" y="215487"/>
                  </a:lnTo>
                  <a:lnTo>
                    <a:pt x="2892847" y="196682"/>
                  </a:lnTo>
                  <a:lnTo>
                    <a:pt x="2846404" y="178614"/>
                  </a:lnTo>
                  <a:lnTo>
                    <a:pt x="2798724" y="161303"/>
                  </a:lnTo>
                  <a:lnTo>
                    <a:pt x="2749845" y="144765"/>
                  </a:lnTo>
                  <a:lnTo>
                    <a:pt x="2699803" y="129021"/>
                  </a:lnTo>
                  <a:lnTo>
                    <a:pt x="2648636" y="114089"/>
                  </a:lnTo>
                  <a:lnTo>
                    <a:pt x="2596382" y="99986"/>
                  </a:lnTo>
                  <a:lnTo>
                    <a:pt x="2543078" y="86731"/>
                  </a:lnTo>
                  <a:lnTo>
                    <a:pt x="2488762" y="74343"/>
                  </a:lnTo>
                  <a:lnTo>
                    <a:pt x="2433471" y="62841"/>
                  </a:lnTo>
                  <a:lnTo>
                    <a:pt x="2377242" y="52242"/>
                  </a:lnTo>
                  <a:lnTo>
                    <a:pt x="2320114" y="42564"/>
                  </a:lnTo>
                  <a:lnTo>
                    <a:pt x="2262123" y="33828"/>
                  </a:lnTo>
                  <a:lnTo>
                    <a:pt x="2203308" y="26050"/>
                  </a:lnTo>
                  <a:lnTo>
                    <a:pt x="2143705" y="19249"/>
                  </a:lnTo>
                  <a:lnTo>
                    <a:pt x="2083352" y="13444"/>
                  </a:lnTo>
                  <a:lnTo>
                    <a:pt x="2022286" y="8653"/>
                  </a:lnTo>
                  <a:lnTo>
                    <a:pt x="1960546" y="4895"/>
                  </a:lnTo>
                  <a:lnTo>
                    <a:pt x="1898168" y="2187"/>
                  </a:lnTo>
                  <a:lnTo>
                    <a:pt x="1835190" y="550"/>
                  </a:lnTo>
                  <a:lnTo>
                    <a:pt x="177165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62000" y="2871850"/>
              <a:ext cx="3543300" cy="1743075"/>
            </a:xfrm>
            <a:custGeom>
              <a:avLst/>
              <a:gdLst/>
              <a:ahLst/>
              <a:cxnLst/>
              <a:rect l="l" t="t" r="r" b="b"/>
              <a:pathLst>
                <a:path w="3543300" h="1743075">
                  <a:moveTo>
                    <a:pt x="0" y="871474"/>
                  </a:moveTo>
                  <a:lnTo>
                    <a:pt x="4448" y="809233"/>
                  </a:lnTo>
                  <a:lnTo>
                    <a:pt x="17594" y="748174"/>
                  </a:lnTo>
                  <a:lnTo>
                    <a:pt x="39137" y="688445"/>
                  </a:lnTo>
                  <a:lnTo>
                    <a:pt x="68778" y="630191"/>
                  </a:lnTo>
                  <a:lnTo>
                    <a:pt x="106216" y="573562"/>
                  </a:lnTo>
                  <a:lnTo>
                    <a:pt x="151152" y="518704"/>
                  </a:lnTo>
                  <a:lnTo>
                    <a:pt x="203286" y="465765"/>
                  </a:lnTo>
                  <a:lnTo>
                    <a:pt x="231958" y="440061"/>
                  </a:lnTo>
                  <a:lnTo>
                    <a:pt x="262317" y="414892"/>
                  </a:lnTo>
                  <a:lnTo>
                    <a:pt x="294326" y="390277"/>
                  </a:lnTo>
                  <a:lnTo>
                    <a:pt x="327947" y="366233"/>
                  </a:lnTo>
                  <a:lnTo>
                    <a:pt x="363143" y="342780"/>
                  </a:lnTo>
                  <a:lnTo>
                    <a:pt x="399876" y="319935"/>
                  </a:lnTo>
                  <a:lnTo>
                    <a:pt x="438108" y="297718"/>
                  </a:lnTo>
                  <a:lnTo>
                    <a:pt x="477802" y="276146"/>
                  </a:lnTo>
                  <a:lnTo>
                    <a:pt x="518921" y="255238"/>
                  </a:lnTo>
                  <a:lnTo>
                    <a:pt x="561428" y="235012"/>
                  </a:lnTo>
                  <a:lnTo>
                    <a:pt x="605284" y="215487"/>
                  </a:lnTo>
                  <a:lnTo>
                    <a:pt x="650452" y="196682"/>
                  </a:lnTo>
                  <a:lnTo>
                    <a:pt x="696895" y="178614"/>
                  </a:lnTo>
                  <a:lnTo>
                    <a:pt x="744575" y="161303"/>
                  </a:lnTo>
                  <a:lnTo>
                    <a:pt x="793454" y="144765"/>
                  </a:lnTo>
                  <a:lnTo>
                    <a:pt x="843496" y="129021"/>
                  </a:lnTo>
                  <a:lnTo>
                    <a:pt x="894663" y="114089"/>
                  </a:lnTo>
                  <a:lnTo>
                    <a:pt x="946917" y="99986"/>
                  </a:lnTo>
                  <a:lnTo>
                    <a:pt x="1000221" y="86731"/>
                  </a:lnTo>
                  <a:lnTo>
                    <a:pt x="1054537" y="74343"/>
                  </a:lnTo>
                  <a:lnTo>
                    <a:pt x="1109828" y="62841"/>
                  </a:lnTo>
                  <a:lnTo>
                    <a:pt x="1166057" y="52242"/>
                  </a:lnTo>
                  <a:lnTo>
                    <a:pt x="1223185" y="42564"/>
                  </a:lnTo>
                  <a:lnTo>
                    <a:pt x="1281176" y="33828"/>
                  </a:lnTo>
                  <a:lnTo>
                    <a:pt x="1339991" y="26050"/>
                  </a:lnTo>
                  <a:lnTo>
                    <a:pt x="1399594" y="19249"/>
                  </a:lnTo>
                  <a:lnTo>
                    <a:pt x="1459947" y="13444"/>
                  </a:lnTo>
                  <a:lnTo>
                    <a:pt x="1521013" y="8653"/>
                  </a:lnTo>
                  <a:lnTo>
                    <a:pt x="1582753" y="4895"/>
                  </a:lnTo>
                  <a:lnTo>
                    <a:pt x="1645131" y="2187"/>
                  </a:lnTo>
                  <a:lnTo>
                    <a:pt x="1708109" y="550"/>
                  </a:lnTo>
                  <a:lnTo>
                    <a:pt x="1771650" y="0"/>
                  </a:lnTo>
                  <a:lnTo>
                    <a:pt x="1835190" y="550"/>
                  </a:lnTo>
                  <a:lnTo>
                    <a:pt x="1898168" y="2187"/>
                  </a:lnTo>
                  <a:lnTo>
                    <a:pt x="1960546" y="4895"/>
                  </a:lnTo>
                  <a:lnTo>
                    <a:pt x="2022286" y="8653"/>
                  </a:lnTo>
                  <a:lnTo>
                    <a:pt x="2083352" y="13444"/>
                  </a:lnTo>
                  <a:lnTo>
                    <a:pt x="2143705" y="19249"/>
                  </a:lnTo>
                  <a:lnTo>
                    <a:pt x="2203308" y="26050"/>
                  </a:lnTo>
                  <a:lnTo>
                    <a:pt x="2262123" y="33828"/>
                  </a:lnTo>
                  <a:lnTo>
                    <a:pt x="2320114" y="42564"/>
                  </a:lnTo>
                  <a:lnTo>
                    <a:pt x="2377242" y="52242"/>
                  </a:lnTo>
                  <a:lnTo>
                    <a:pt x="2433471" y="62841"/>
                  </a:lnTo>
                  <a:lnTo>
                    <a:pt x="2488762" y="74343"/>
                  </a:lnTo>
                  <a:lnTo>
                    <a:pt x="2543078" y="86731"/>
                  </a:lnTo>
                  <a:lnTo>
                    <a:pt x="2596382" y="99986"/>
                  </a:lnTo>
                  <a:lnTo>
                    <a:pt x="2648636" y="114089"/>
                  </a:lnTo>
                  <a:lnTo>
                    <a:pt x="2699803" y="129021"/>
                  </a:lnTo>
                  <a:lnTo>
                    <a:pt x="2749845" y="144765"/>
                  </a:lnTo>
                  <a:lnTo>
                    <a:pt x="2798724" y="161303"/>
                  </a:lnTo>
                  <a:lnTo>
                    <a:pt x="2846404" y="178614"/>
                  </a:lnTo>
                  <a:lnTo>
                    <a:pt x="2892847" y="196682"/>
                  </a:lnTo>
                  <a:lnTo>
                    <a:pt x="2938015" y="215487"/>
                  </a:lnTo>
                  <a:lnTo>
                    <a:pt x="2981871" y="235012"/>
                  </a:lnTo>
                  <a:lnTo>
                    <a:pt x="3024378" y="255238"/>
                  </a:lnTo>
                  <a:lnTo>
                    <a:pt x="3065497" y="276146"/>
                  </a:lnTo>
                  <a:lnTo>
                    <a:pt x="3105191" y="297718"/>
                  </a:lnTo>
                  <a:lnTo>
                    <a:pt x="3143423" y="319935"/>
                  </a:lnTo>
                  <a:lnTo>
                    <a:pt x="3180156" y="342780"/>
                  </a:lnTo>
                  <a:lnTo>
                    <a:pt x="3215352" y="366233"/>
                  </a:lnTo>
                  <a:lnTo>
                    <a:pt x="3248973" y="390277"/>
                  </a:lnTo>
                  <a:lnTo>
                    <a:pt x="3280982" y="414892"/>
                  </a:lnTo>
                  <a:lnTo>
                    <a:pt x="3311341" y="440061"/>
                  </a:lnTo>
                  <a:lnTo>
                    <a:pt x="3340013" y="465765"/>
                  </a:lnTo>
                  <a:lnTo>
                    <a:pt x="3392147" y="518704"/>
                  </a:lnTo>
                  <a:lnTo>
                    <a:pt x="3437083" y="573562"/>
                  </a:lnTo>
                  <a:lnTo>
                    <a:pt x="3474521" y="630191"/>
                  </a:lnTo>
                  <a:lnTo>
                    <a:pt x="3504162" y="688445"/>
                  </a:lnTo>
                  <a:lnTo>
                    <a:pt x="3525705" y="748174"/>
                  </a:lnTo>
                  <a:lnTo>
                    <a:pt x="3538851" y="809233"/>
                  </a:lnTo>
                  <a:lnTo>
                    <a:pt x="3543300" y="871474"/>
                  </a:lnTo>
                  <a:lnTo>
                    <a:pt x="3542181" y="902733"/>
                  </a:lnTo>
                  <a:lnTo>
                    <a:pt x="3533346" y="964403"/>
                  </a:lnTo>
                  <a:lnTo>
                    <a:pt x="3515965" y="1024818"/>
                  </a:lnTo>
                  <a:lnTo>
                    <a:pt x="3490335" y="1083831"/>
                  </a:lnTo>
                  <a:lnTo>
                    <a:pt x="3456758" y="1141294"/>
                  </a:lnTo>
                  <a:lnTo>
                    <a:pt x="3415534" y="1197059"/>
                  </a:lnTo>
                  <a:lnTo>
                    <a:pt x="3366961" y="1250979"/>
                  </a:lnTo>
                  <a:lnTo>
                    <a:pt x="3311341" y="1302907"/>
                  </a:lnTo>
                  <a:lnTo>
                    <a:pt x="3280982" y="1328078"/>
                  </a:lnTo>
                  <a:lnTo>
                    <a:pt x="3248973" y="1352695"/>
                  </a:lnTo>
                  <a:lnTo>
                    <a:pt x="3215352" y="1376741"/>
                  </a:lnTo>
                  <a:lnTo>
                    <a:pt x="3180156" y="1400196"/>
                  </a:lnTo>
                  <a:lnTo>
                    <a:pt x="3143423" y="1423043"/>
                  </a:lnTo>
                  <a:lnTo>
                    <a:pt x="3105191" y="1445262"/>
                  </a:lnTo>
                  <a:lnTo>
                    <a:pt x="3065497" y="1466836"/>
                  </a:lnTo>
                  <a:lnTo>
                    <a:pt x="3024378" y="1487746"/>
                  </a:lnTo>
                  <a:lnTo>
                    <a:pt x="2981871" y="1507973"/>
                  </a:lnTo>
                  <a:lnTo>
                    <a:pt x="2938015" y="1527500"/>
                  </a:lnTo>
                  <a:lnTo>
                    <a:pt x="2892847" y="1546307"/>
                  </a:lnTo>
                  <a:lnTo>
                    <a:pt x="2846404" y="1564377"/>
                  </a:lnTo>
                  <a:lnTo>
                    <a:pt x="2798724" y="1581690"/>
                  </a:lnTo>
                  <a:lnTo>
                    <a:pt x="2749845" y="1598229"/>
                  </a:lnTo>
                  <a:lnTo>
                    <a:pt x="2699803" y="1613974"/>
                  </a:lnTo>
                  <a:lnTo>
                    <a:pt x="2648636" y="1628909"/>
                  </a:lnTo>
                  <a:lnTo>
                    <a:pt x="2596382" y="1643013"/>
                  </a:lnTo>
                  <a:lnTo>
                    <a:pt x="2543078" y="1656269"/>
                  </a:lnTo>
                  <a:lnTo>
                    <a:pt x="2488762" y="1668658"/>
                  </a:lnTo>
                  <a:lnTo>
                    <a:pt x="2433471" y="1680162"/>
                  </a:lnTo>
                  <a:lnTo>
                    <a:pt x="2377242" y="1690763"/>
                  </a:lnTo>
                  <a:lnTo>
                    <a:pt x="2320114" y="1700441"/>
                  </a:lnTo>
                  <a:lnTo>
                    <a:pt x="2262123" y="1709179"/>
                  </a:lnTo>
                  <a:lnTo>
                    <a:pt x="2203308" y="1716958"/>
                  </a:lnTo>
                  <a:lnTo>
                    <a:pt x="2143705" y="1723759"/>
                  </a:lnTo>
                  <a:lnTo>
                    <a:pt x="2083352" y="1729565"/>
                  </a:lnTo>
                  <a:lnTo>
                    <a:pt x="2022286" y="1734356"/>
                  </a:lnTo>
                  <a:lnTo>
                    <a:pt x="1960546" y="1738115"/>
                  </a:lnTo>
                  <a:lnTo>
                    <a:pt x="1898168" y="1740823"/>
                  </a:lnTo>
                  <a:lnTo>
                    <a:pt x="1835190" y="1742461"/>
                  </a:lnTo>
                  <a:lnTo>
                    <a:pt x="1771650" y="1743011"/>
                  </a:lnTo>
                  <a:lnTo>
                    <a:pt x="1708109" y="1742461"/>
                  </a:lnTo>
                  <a:lnTo>
                    <a:pt x="1645131" y="1740823"/>
                  </a:lnTo>
                  <a:lnTo>
                    <a:pt x="1582753" y="1738115"/>
                  </a:lnTo>
                  <a:lnTo>
                    <a:pt x="1521013" y="1734356"/>
                  </a:lnTo>
                  <a:lnTo>
                    <a:pt x="1459947" y="1729565"/>
                  </a:lnTo>
                  <a:lnTo>
                    <a:pt x="1399594" y="1723759"/>
                  </a:lnTo>
                  <a:lnTo>
                    <a:pt x="1339991" y="1716958"/>
                  </a:lnTo>
                  <a:lnTo>
                    <a:pt x="1281176" y="1709179"/>
                  </a:lnTo>
                  <a:lnTo>
                    <a:pt x="1223185" y="1700441"/>
                  </a:lnTo>
                  <a:lnTo>
                    <a:pt x="1166057" y="1690763"/>
                  </a:lnTo>
                  <a:lnTo>
                    <a:pt x="1109828" y="1680162"/>
                  </a:lnTo>
                  <a:lnTo>
                    <a:pt x="1054537" y="1668658"/>
                  </a:lnTo>
                  <a:lnTo>
                    <a:pt x="1000221" y="1656269"/>
                  </a:lnTo>
                  <a:lnTo>
                    <a:pt x="946917" y="1643013"/>
                  </a:lnTo>
                  <a:lnTo>
                    <a:pt x="894663" y="1628909"/>
                  </a:lnTo>
                  <a:lnTo>
                    <a:pt x="843496" y="1613974"/>
                  </a:lnTo>
                  <a:lnTo>
                    <a:pt x="793454" y="1598229"/>
                  </a:lnTo>
                  <a:lnTo>
                    <a:pt x="744575" y="1581690"/>
                  </a:lnTo>
                  <a:lnTo>
                    <a:pt x="696895" y="1564377"/>
                  </a:lnTo>
                  <a:lnTo>
                    <a:pt x="650452" y="1546307"/>
                  </a:lnTo>
                  <a:lnTo>
                    <a:pt x="605284" y="1527500"/>
                  </a:lnTo>
                  <a:lnTo>
                    <a:pt x="561428" y="1507973"/>
                  </a:lnTo>
                  <a:lnTo>
                    <a:pt x="518922" y="1487746"/>
                  </a:lnTo>
                  <a:lnTo>
                    <a:pt x="477802" y="1466836"/>
                  </a:lnTo>
                  <a:lnTo>
                    <a:pt x="438108" y="1445262"/>
                  </a:lnTo>
                  <a:lnTo>
                    <a:pt x="399876" y="1423043"/>
                  </a:lnTo>
                  <a:lnTo>
                    <a:pt x="363143" y="1400196"/>
                  </a:lnTo>
                  <a:lnTo>
                    <a:pt x="327947" y="1376741"/>
                  </a:lnTo>
                  <a:lnTo>
                    <a:pt x="294326" y="1352695"/>
                  </a:lnTo>
                  <a:lnTo>
                    <a:pt x="262317" y="1328078"/>
                  </a:lnTo>
                  <a:lnTo>
                    <a:pt x="231958" y="1302907"/>
                  </a:lnTo>
                  <a:lnTo>
                    <a:pt x="203286" y="1277201"/>
                  </a:lnTo>
                  <a:lnTo>
                    <a:pt x="151152" y="1224259"/>
                  </a:lnTo>
                  <a:lnTo>
                    <a:pt x="106216" y="1169398"/>
                  </a:lnTo>
                  <a:lnTo>
                    <a:pt x="68778" y="1112765"/>
                  </a:lnTo>
                  <a:lnTo>
                    <a:pt x="39137" y="1054509"/>
                  </a:lnTo>
                  <a:lnTo>
                    <a:pt x="17594" y="994777"/>
                  </a:lnTo>
                  <a:lnTo>
                    <a:pt x="4448" y="933716"/>
                  </a:lnTo>
                  <a:lnTo>
                    <a:pt x="0" y="871474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524888" y="3304743"/>
            <a:ext cx="2016125" cy="8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Carlito"/>
                <a:cs typeface="Carlito"/>
              </a:rPr>
              <a:t>b</a:t>
            </a:r>
            <a:r>
              <a:rPr sz="1800" b="1" spc="-7" baseline="-20833" dirty="0">
                <a:latin typeface="Carlito"/>
                <a:cs typeface="Carlito"/>
              </a:rPr>
              <a:t>0 </a:t>
            </a:r>
            <a:r>
              <a:rPr sz="1800" b="1" dirty="0">
                <a:latin typeface="Carlito"/>
                <a:cs typeface="Carlito"/>
              </a:rPr>
              <a:t>and</a:t>
            </a:r>
            <a:r>
              <a:rPr sz="1800" b="1" spc="-140" dirty="0">
                <a:latin typeface="Carlito"/>
                <a:cs typeface="Carlito"/>
              </a:rPr>
              <a:t> </a:t>
            </a:r>
            <a:r>
              <a:rPr sz="1800" b="1" i="1" spc="-5" dirty="0">
                <a:latin typeface="Carlito"/>
                <a:cs typeface="Carlito"/>
              </a:rPr>
              <a:t>b</a:t>
            </a:r>
            <a:r>
              <a:rPr sz="1800" b="1" spc="-7" baseline="-20833" dirty="0">
                <a:latin typeface="Carlito"/>
                <a:cs typeface="Carlito"/>
              </a:rPr>
              <a:t>1</a:t>
            </a:r>
            <a:endParaRPr sz="1800" baseline="-20833">
              <a:latin typeface="Carlito"/>
              <a:cs typeface="Carlito"/>
            </a:endParaRPr>
          </a:p>
          <a:p>
            <a:pPr algn="ctr">
              <a:lnSpc>
                <a:spcPts val="2120"/>
              </a:lnSpc>
            </a:pPr>
            <a:r>
              <a:rPr sz="1800" b="1" spc="-5" dirty="0">
                <a:latin typeface="Carlito"/>
                <a:cs typeface="Carlito"/>
              </a:rPr>
              <a:t>provide </a:t>
            </a:r>
            <a:r>
              <a:rPr sz="1800" b="1" spc="-10" dirty="0">
                <a:latin typeface="Carlito"/>
                <a:cs typeface="Carlito"/>
              </a:rPr>
              <a:t>estimates</a:t>
            </a:r>
            <a:r>
              <a:rPr sz="1800" b="1" spc="-10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of</a:t>
            </a:r>
            <a:endParaRPr sz="1800">
              <a:latin typeface="Carlito"/>
              <a:cs typeface="Carlito"/>
            </a:endParaRPr>
          </a:p>
          <a:p>
            <a:pPr marL="635" algn="ctr">
              <a:lnSpc>
                <a:spcPts val="2240"/>
              </a:lnSpc>
            </a:pPr>
            <a:r>
              <a:rPr sz="1900" b="1" i="1" spc="-30" dirty="0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sz="1800" b="1" spc="-44" baseline="-20833" dirty="0">
                <a:solidFill>
                  <a:srgbClr val="FFFFFF"/>
                </a:solidFill>
                <a:latin typeface="Carlito"/>
                <a:cs typeface="Carlito"/>
              </a:rPr>
              <a:t>0 </a:t>
            </a:r>
            <a:r>
              <a:rPr sz="1800" b="1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800" b="1" spc="-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900" b="1" i="1" spc="-30" dirty="0">
                <a:solidFill>
                  <a:srgbClr val="FFFFFF"/>
                </a:solidFill>
                <a:latin typeface="Symbol"/>
                <a:cs typeface="Symbol"/>
              </a:rPr>
              <a:t></a:t>
            </a:r>
            <a:r>
              <a:rPr sz="1800" b="1" spc="-44" baseline="-20833" dirty="0">
                <a:solidFill>
                  <a:srgbClr val="FFFFFF"/>
                </a:solidFill>
                <a:latin typeface="Symbol"/>
                <a:cs typeface="Symbol"/>
              </a:rPr>
              <a:t></a:t>
            </a:r>
            <a:endParaRPr sz="1800" baseline="-20833">
              <a:latin typeface="Symbol"/>
              <a:cs typeface="Symbo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857750" y="2871851"/>
            <a:ext cx="3486150" cy="2229103"/>
            <a:chOff x="4857750" y="2871851"/>
            <a:chExt cx="3486150" cy="2229103"/>
          </a:xfrm>
        </p:grpSpPr>
        <p:sp>
          <p:nvSpPr>
            <p:cNvPr id="58" name="object 58"/>
            <p:cNvSpPr/>
            <p:nvPr/>
          </p:nvSpPr>
          <p:spPr>
            <a:xfrm>
              <a:off x="4857750" y="2871851"/>
              <a:ext cx="3486150" cy="1743075"/>
            </a:xfrm>
            <a:custGeom>
              <a:avLst/>
              <a:gdLst/>
              <a:ahLst/>
              <a:cxnLst/>
              <a:rect l="l" t="t" r="r" b="b"/>
              <a:pathLst>
                <a:path w="3486150" h="1743075">
                  <a:moveTo>
                    <a:pt x="1743075" y="0"/>
                  </a:moveTo>
                  <a:lnTo>
                    <a:pt x="1680557" y="550"/>
                  </a:lnTo>
                  <a:lnTo>
                    <a:pt x="1618593" y="2187"/>
                  </a:lnTo>
                  <a:lnTo>
                    <a:pt x="1557219" y="4895"/>
                  </a:lnTo>
                  <a:lnTo>
                    <a:pt x="1496473" y="8653"/>
                  </a:lnTo>
                  <a:lnTo>
                    <a:pt x="1436391" y="13444"/>
                  </a:lnTo>
                  <a:lnTo>
                    <a:pt x="1377011" y="19249"/>
                  </a:lnTo>
                  <a:lnTo>
                    <a:pt x="1318368" y="26050"/>
                  </a:lnTo>
                  <a:lnTo>
                    <a:pt x="1260500" y="33828"/>
                  </a:lnTo>
                  <a:lnTo>
                    <a:pt x="1203444" y="42564"/>
                  </a:lnTo>
                  <a:lnTo>
                    <a:pt x="1147236" y="52242"/>
                  </a:lnTo>
                  <a:lnTo>
                    <a:pt x="1091914" y="62841"/>
                  </a:lnTo>
                  <a:lnTo>
                    <a:pt x="1037515" y="74343"/>
                  </a:lnTo>
                  <a:lnTo>
                    <a:pt x="984074" y="86731"/>
                  </a:lnTo>
                  <a:lnTo>
                    <a:pt x="931630" y="99986"/>
                  </a:lnTo>
                  <a:lnTo>
                    <a:pt x="880218" y="114089"/>
                  </a:lnTo>
                  <a:lnTo>
                    <a:pt x="829877" y="129021"/>
                  </a:lnTo>
                  <a:lnTo>
                    <a:pt x="780642" y="144765"/>
                  </a:lnTo>
                  <a:lnTo>
                    <a:pt x="732551" y="161303"/>
                  </a:lnTo>
                  <a:lnTo>
                    <a:pt x="685640" y="178614"/>
                  </a:lnTo>
                  <a:lnTo>
                    <a:pt x="639947" y="196682"/>
                  </a:lnTo>
                  <a:lnTo>
                    <a:pt x="595508" y="215487"/>
                  </a:lnTo>
                  <a:lnTo>
                    <a:pt x="552360" y="235012"/>
                  </a:lnTo>
                  <a:lnTo>
                    <a:pt x="510539" y="255238"/>
                  </a:lnTo>
                  <a:lnTo>
                    <a:pt x="470084" y="276146"/>
                  </a:lnTo>
                  <a:lnTo>
                    <a:pt x="431031" y="297718"/>
                  </a:lnTo>
                  <a:lnTo>
                    <a:pt x="393416" y="319935"/>
                  </a:lnTo>
                  <a:lnTo>
                    <a:pt x="357276" y="342780"/>
                  </a:lnTo>
                  <a:lnTo>
                    <a:pt x="322649" y="366233"/>
                  </a:lnTo>
                  <a:lnTo>
                    <a:pt x="289571" y="390277"/>
                  </a:lnTo>
                  <a:lnTo>
                    <a:pt x="258079" y="414892"/>
                  </a:lnTo>
                  <a:lnTo>
                    <a:pt x="228210" y="440061"/>
                  </a:lnTo>
                  <a:lnTo>
                    <a:pt x="200000" y="465765"/>
                  </a:lnTo>
                  <a:lnTo>
                    <a:pt x="148709" y="518704"/>
                  </a:lnTo>
                  <a:lnTo>
                    <a:pt x="104499" y="573562"/>
                  </a:lnTo>
                  <a:lnTo>
                    <a:pt x="67666" y="630191"/>
                  </a:lnTo>
                  <a:lnTo>
                    <a:pt x="38504" y="688445"/>
                  </a:lnTo>
                  <a:lnTo>
                    <a:pt x="17309" y="748174"/>
                  </a:lnTo>
                  <a:lnTo>
                    <a:pt x="4376" y="809233"/>
                  </a:lnTo>
                  <a:lnTo>
                    <a:pt x="0" y="871474"/>
                  </a:lnTo>
                  <a:lnTo>
                    <a:pt x="1100" y="902733"/>
                  </a:lnTo>
                  <a:lnTo>
                    <a:pt x="9792" y="964403"/>
                  </a:lnTo>
                  <a:lnTo>
                    <a:pt x="26893" y="1024818"/>
                  </a:lnTo>
                  <a:lnTo>
                    <a:pt x="52108" y="1083831"/>
                  </a:lnTo>
                  <a:lnTo>
                    <a:pt x="85142" y="1141294"/>
                  </a:lnTo>
                  <a:lnTo>
                    <a:pt x="125700" y="1197059"/>
                  </a:lnTo>
                  <a:lnTo>
                    <a:pt x="173488" y="1250979"/>
                  </a:lnTo>
                  <a:lnTo>
                    <a:pt x="228210" y="1302907"/>
                  </a:lnTo>
                  <a:lnTo>
                    <a:pt x="258079" y="1328078"/>
                  </a:lnTo>
                  <a:lnTo>
                    <a:pt x="289571" y="1352695"/>
                  </a:lnTo>
                  <a:lnTo>
                    <a:pt x="322649" y="1376741"/>
                  </a:lnTo>
                  <a:lnTo>
                    <a:pt x="357276" y="1400196"/>
                  </a:lnTo>
                  <a:lnTo>
                    <a:pt x="393416" y="1423043"/>
                  </a:lnTo>
                  <a:lnTo>
                    <a:pt x="431031" y="1445262"/>
                  </a:lnTo>
                  <a:lnTo>
                    <a:pt x="470084" y="1466836"/>
                  </a:lnTo>
                  <a:lnTo>
                    <a:pt x="510539" y="1487746"/>
                  </a:lnTo>
                  <a:lnTo>
                    <a:pt x="552360" y="1507973"/>
                  </a:lnTo>
                  <a:lnTo>
                    <a:pt x="595508" y="1527500"/>
                  </a:lnTo>
                  <a:lnTo>
                    <a:pt x="639947" y="1546307"/>
                  </a:lnTo>
                  <a:lnTo>
                    <a:pt x="685640" y="1564377"/>
                  </a:lnTo>
                  <a:lnTo>
                    <a:pt x="732551" y="1581690"/>
                  </a:lnTo>
                  <a:lnTo>
                    <a:pt x="780642" y="1598229"/>
                  </a:lnTo>
                  <a:lnTo>
                    <a:pt x="829877" y="1613974"/>
                  </a:lnTo>
                  <a:lnTo>
                    <a:pt x="880218" y="1628909"/>
                  </a:lnTo>
                  <a:lnTo>
                    <a:pt x="931630" y="1643013"/>
                  </a:lnTo>
                  <a:lnTo>
                    <a:pt x="984074" y="1656269"/>
                  </a:lnTo>
                  <a:lnTo>
                    <a:pt x="1037515" y="1668658"/>
                  </a:lnTo>
                  <a:lnTo>
                    <a:pt x="1091914" y="1680162"/>
                  </a:lnTo>
                  <a:lnTo>
                    <a:pt x="1147236" y="1690763"/>
                  </a:lnTo>
                  <a:lnTo>
                    <a:pt x="1203444" y="1700441"/>
                  </a:lnTo>
                  <a:lnTo>
                    <a:pt x="1260500" y="1709179"/>
                  </a:lnTo>
                  <a:lnTo>
                    <a:pt x="1318368" y="1716958"/>
                  </a:lnTo>
                  <a:lnTo>
                    <a:pt x="1377011" y="1723759"/>
                  </a:lnTo>
                  <a:lnTo>
                    <a:pt x="1436391" y="1729565"/>
                  </a:lnTo>
                  <a:lnTo>
                    <a:pt x="1496473" y="1734356"/>
                  </a:lnTo>
                  <a:lnTo>
                    <a:pt x="1557219" y="1738115"/>
                  </a:lnTo>
                  <a:lnTo>
                    <a:pt x="1618593" y="1740823"/>
                  </a:lnTo>
                  <a:lnTo>
                    <a:pt x="1680557" y="1742461"/>
                  </a:lnTo>
                  <a:lnTo>
                    <a:pt x="1743075" y="1743011"/>
                  </a:lnTo>
                  <a:lnTo>
                    <a:pt x="1805592" y="1742461"/>
                  </a:lnTo>
                  <a:lnTo>
                    <a:pt x="1867556" y="1740823"/>
                  </a:lnTo>
                  <a:lnTo>
                    <a:pt x="1928930" y="1738115"/>
                  </a:lnTo>
                  <a:lnTo>
                    <a:pt x="1989676" y="1734356"/>
                  </a:lnTo>
                  <a:lnTo>
                    <a:pt x="2049758" y="1729565"/>
                  </a:lnTo>
                  <a:lnTo>
                    <a:pt x="2109138" y="1723759"/>
                  </a:lnTo>
                  <a:lnTo>
                    <a:pt x="2167781" y="1716958"/>
                  </a:lnTo>
                  <a:lnTo>
                    <a:pt x="2225649" y="1709179"/>
                  </a:lnTo>
                  <a:lnTo>
                    <a:pt x="2282705" y="1700441"/>
                  </a:lnTo>
                  <a:lnTo>
                    <a:pt x="2338913" y="1690763"/>
                  </a:lnTo>
                  <a:lnTo>
                    <a:pt x="2394235" y="1680162"/>
                  </a:lnTo>
                  <a:lnTo>
                    <a:pt x="2448634" y="1668658"/>
                  </a:lnTo>
                  <a:lnTo>
                    <a:pt x="2502075" y="1656269"/>
                  </a:lnTo>
                  <a:lnTo>
                    <a:pt x="2554519" y="1643013"/>
                  </a:lnTo>
                  <a:lnTo>
                    <a:pt x="2605931" y="1628909"/>
                  </a:lnTo>
                  <a:lnTo>
                    <a:pt x="2656272" y="1613974"/>
                  </a:lnTo>
                  <a:lnTo>
                    <a:pt x="2705507" y="1598229"/>
                  </a:lnTo>
                  <a:lnTo>
                    <a:pt x="2753598" y="1581690"/>
                  </a:lnTo>
                  <a:lnTo>
                    <a:pt x="2800509" y="1564377"/>
                  </a:lnTo>
                  <a:lnTo>
                    <a:pt x="2846202" y="1546307"/>
                  </a:lnTo>
                  <a:lnTo>
                    <a:pt x="2890641" y="1527500"/>
                  </a:lnTo>
                  <a:lnTo>
                    <a:pt x="2933789" y="1507973"/>
                  </a:lnTo>
                  <a:lnTo>
                    <a:pt x="2975609" y="1487746"/>
                  </a:lnTo>
                  <a:lnTo>
                    <a:pt x="3016065" y="1466836"/>
                  </a:lnTo>
                  <a:lnTo>
                    <a:pt x="3055118" y="1445262"/>
                  </a:lnTo>
                  <a:lnTo>
                    <a:pt x="3092733" y="1423043"/>
                  </a:lnTo>
                  <a:lnTo>
                    <a:pt x="3128873" y="1400196"/>
                  </a:lnTo>
                  <a:lnTo>
                    <a:pt x="3163500" y="1376741"/>
                  </a:lnTo>
                  <a:lnTo>
                    <a:pt x="3196578" y="1352695"/>
                  </a:lnTo>
                  <a:lnTo>
                    <a:pt x="3228070" y="1328078"/>
                  </a:lnTo>
                  <a:lnTo>
                    <a:pt x="3257939" y="1302907"/>
                  </a:lnTo>
                  <a:lnTo>
                    <a:pt x="3286149" y="1277201"/>
                  </a:lnTo>
                  <a:lnTo>
                    <a:pt x="3337440" y="1224259"/>
                  </a:lnTo>
                  <a:lnTo>
                    <a:pt x="3381650" y="1169398"/>
                  </a:lnTo>
                  <a:lnTo>
                    <a:pt x="3418483" y="1112765"/>
                  </a:lnTo>
                  <a:lnTo>
                    <a:pt x="3447645" y="1054509"/>
                  </a:lnTo>
                  <a:lnTo>
                    <a:pt x="3468840" y="994777"/>
                  </a:lnTo>
                  <a:lnTo>
                    <a:pt x="3481773" y="933716"/>
                  </a:lnTo>
                  <a:lnTo>
                    <a:pt x="3486150" y="871474"/>
                  </a:lnTo>
                  <a:lnTo>
                    <a:pt x="3485049" y="840215"/>
                  </a:lnTo>
                  <a:lnTo>
                    <a:pt x="3476357" y="778547"/>
                  </a:lnTo>
                  <a:lnTo>
                    <a:pt x="3459256" y="718134"/>
                  </a:lnTo>
                  <a:lnTo>
                    <a:pt x="3434041" y="659124"/>
                  </a:lnTo>
                  <a:lnTo>
                    <a:pt x="3401007" y="601665"/>
                  </a:lnTo>
                  <a:lnTo>
                    <a:pt x="3360449" y="545903"/>
                  </a:lnTo>
                  <a:lnTo>
                    <a:pt x="3312661" y="491986"/>
                  </a:lnTo>
                  <a:lnTo>
                    <a:pt x="3257939" y="440061"/>
                  </a:lnTo>
                  <a:lnTo>
                    <a:pt x="3228070" y="414892"/>
                  </a:lnTo>
                  <a:lnTo>
                    <a:pt x="3196578" y="390277"/>
                  </a:lnTo>
                  <a:lnTo>
                    <a:pt x="3163500" y="366233"/>
                  </a:lnTo>
                  <a:lnTo>
                    <a:pt x="3128873" y="342780"/>
                  </a:lnTo>
                  <a:lnTo>
                    <a:pt x="3092733" y="319935"/>
                  </a:lnTo>
                  <a:lnTo>
                    <a:pt x="3055118" y="297718"/>
                  </a:lnTo>
                  <a:lnTo>
                    <a:pt x="3016065" y="276146"/>
                  </a:lnTo>
                  <a:lnTo>
                    <a:pt x="2975609" y="255238"/>
                  </a:lnTo>
                  <a:lnTo>
                    <a:pt x="2933789" y="235012"/>
                  </a:lnTo>
                  <a:lnTo>
                    <a:pt x="2890641" y="215487"/>
                  </a:lnTo>
                  <a:lnTo>
                    <a:pt x="2846202" y="196682"/>
                  </a:lnTo>
                  <a:lnTo>
                    <a:pt x="2800509" y="178614"/>
                  </a:lnTo>
                  <a:lnTo>
                    <a:pt x="2753598" y="161303"/>
                  </a:lnTo>
                  <a:lnTo>
                    <a:pt x="2705507" y="144765"/>
                  </a:lnTo>
                  <a:lnTo>
                    <a:pt x="2656272" y="129021"/>
                  </a:lnTo>
                  <a:lnTo>
                    <a:pt x="2605931" y="114089"/>
                  </a:lnTo>
                  <a:lnTo>
                    <a:pt x="2554519" y="99986"/>
                  </a:lnTo>
                  <a:lnTo>
                    <a:pt x="2502075" y="86731"/>
                  </a:lnTo>
                  <a:lnTo>
                    <a:pt x="2448634" y="74343"/>
                  </a:lnTo>
                  <a:lnTo>
                    <a:pt x="2394235" y="62841"/>
                  </a:lnTo>
                  <a:lnTo>
                    <a:pt x="2338913" y="52242"/>
                  </a:lnTo>
                  <a:lnTo>
                    <a:pt x="2282705" y="42564"/>
                  </a:lnTo>
                  <a:lnTo>
                    <a:pt x="2225649" y="33828"/>
                  </a:lnTo>
                  <a:lnTo>
                    <a:pt x="2167781" y="26050"/>
                  </a:lnTo>
                  <a:lnTo>
                    <a:pt x="2109138" y="19249"/>
                  </a:lnTo>
                  <a:lnTo>
                    <a:pt x="2049758" y="13444"/>
                  </a:lnTo>
                  <a:lnTo>
                    <a:pt x="1989676" y="8653"/>
                  </a:lnTo>
                  <a:lnTo>
                    <a:pt x="1928930" y="4895"/>
                  </a:lnTo>
                  <a:lnTo>
                    <a:pt x="1867556" y="2187"/>
                  </a:lnTo>
                  <a:lnTo>
                    <a:pt x="1805592" y="550"/>
                  </a:lnTo>
                  <a:lnTo>
                    <a:pt x="1743075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857750" y="2871851"/>
              <a:ext cx="3486150" cy="1743075"/>
            </a:xfrm>
            <a:custGeom>
              <a:avLst/>
              <a:gdLst/>
              <a:ahLst/>
              <a:cxnLst/>
              <a:rect l="l" t="t" r="r" b="b"/>
              <a:pathLst>
                <a:path w="3486150" h="1743075">
                  <a:moveTo>
                    <a:pt x="0" y="871474"/>
                  </a:moveTo>
                  <a:lnTo>
                    <a:pt x="4376" y="809233"/>
                  </a:lnTo>
                  <a:lnTo>
                    <a:pt x="17309" y="748174"/>
                  </a:lnTo>
                  <a:lnTo>
                    <a:pt x="38504" y="688445"/>
                  </a:lnTo>
                  <a:lnTo>
                    <a:pt x="67666" y="630191"/>
                  </a:lnTo>
                  <a:lnTo>
                    <a:pt x="104499" y="573562"/>
                  </a:lnTo>
                  <a:lnTo>
                    <a:pt x="148709" y="518704"/>
                  </a:lnTo>
                  <a:lnTo>
                    <a:pt x="200000" y="465765"/>
                  </a:lnTo>
                  <a:lnTo>
                    <a:pt x="228210" y="440061"/>
                  </a:lnTo>
                  <a:lnTo>
                    <a:pt x="258079" y="414892"/>
                  </a:lnTo>
                  <a:lnTo>
                    <a:pt x="289571" y="390277"/>
                  </a:lnTo>
                  <a:lnTo>
                    <a:pt x="322649" y="366233"/>
                  </a:lnTo>
                  <a:lnTo>
                    <a:pt x="357276" y="342780"/>
                  </a:lnTo>
                  <a:lnTo>
                    <a:pt x="393416" y="319935"/>
                  </a:lnTo>
                  <a:lnTo>
                    <a:pt x="431031" y="297718"/>
                  </a:lnTo>
                  <a:lnTo>
                    <a:pt x="470084" y="276146"/>
                  </a:lnTo>
                  <a:lnTo>
                    <a:pt x="510539" y="255238"/>
                  </a:lnTo>
                  <a:lnTo>
                    <a:pt x="552360" y="235012"/>
                  </a:lnTo>
                  <a:lnTo>
                    <a:pt x="595508" y="215487"/>
                  </a:lnTo>
                  <a:lnTo>
                    <a:pt x="639947" y="196682"/>
                  </a:lnTo>
                  <a:lnTo>
                    <a:pt x="685640" y="178614"/>
                  </a:lnTo>
                  <a:lnTo>
                    <a:pt x="732551" y="161303"/>
                  </a:lnTo>
                  <a:lnTo>
                    <a:pt x="780642" y="144765"/>
                  </a:lnTo>
                  <a:lnTo>
                    <a:pt x="829877" y="129021"/>
                  </a:lnTo>
                  <a:lnTo>
                    <a:pt x="880218" y="114089"/>
                  </a:lnTo>
                  <a:lnTo>
                    <a:pt x="931630" y="99986"/>
                  </a:lnTo>
                  <a:lnTo>
                    <a:pt x="984074" y="86731"/>
                  </a:lnTo>
                  <a:lnTo>
                    <a:pt x="1037515" y="74343"/>
                  </a:lnTo>
                  <a:lnTo>
                    <a:pt x="1091914" y="62841"/>
                  </a:lnTo>
                  <a:lnTo>
                    <a:pt x="1147236" y="52242"/>
                  </a:lnTo>
                  <a:lnTo>
                    <a:pt x="1203444" y="42564"/>
                  </a:lnTo>
                  <a:lnTo>
                    <a:pt x="1260500" y="33828"/>
                  </a:lnTo>
                  <a:lnTo>
                    <a:pt x="1318368" y="26050"/>
                  </a:lnTo>
                  <a:lnTo>
                    <a:pt x="1377011" y="19249"/>
                  </a:lnTo>
                  <a:lnTo>
                    <a:pt x="1436391" y="13444"/>
                  </a:lnTo>
                  <a:lnTo>
                    <a:pt x="1496473" y="8653"/>
                  </a:lnTo>
                  <a:lnTo>
                    <a:pt x="1557219" y="4895"/>
                  </a:lnTo>
                  <a:lnTo>
                    <a:pt x="1618593" y="2187"/>
                  </a:lnTo>
                  <a:lnTo>
                    <a:pt x="1680557" y="550"/>
                  </a:lnTo>
                  <a:lnTo>
                    <a:pt x="1743075" y="0"/>
                  </a:lnTo>
                  <a:lnTo>
                    <a:pt x="1805592" y="550"/>
                  </a:lnTo>
                  <a:lnTo>
                    <a:pt x="1867556" y="2187"/>
                  </a:lnTo>
                  <a:lnTo>
                    <a:pt x="1928930" y="4895"/>
                  </a:lnTo>
                  <a:lnTo>
                    <a:pt x="1989676" y="8653"/>
                  </a:lnTo>
                  <a:lnTo>
                    <a:pt x="2049758" y="13444"/>
                  </a:lnTo>
                  <a:lnTo>
                    <a:pt x="2109138" y="19249"/>
                  </a:lnTo>
                  <a:lnTo>
                    <a:pt x="2167781" y="26050"/>
                  </a:lnTo>
                  <a:lnTo>
                    <a:pt x="2225649" y="33828"/>
                  </a:lnTo>
                  <a:lnTo>
                    <a:pt x="2282705" y="42564"/>
                  </a:lnTo>
                  <a:lnTo>
                    <a:pt x="2338913" y="52242"/>
                  </a:lnTo>
                  <a:lnTo>
                    <a:pt x="2394235" y="62841"/>
                  </a:lnTo>
                  <a:lnTo>
                    <a:pt x="2448634" y="74343"/>
                  </a:lnTo>
                  <a:lnTo>
                    <a:pt x="2502075" y="86731"/>
                  </a:lnTo>
                  <a:lnTo>
                    <a:pt x="2554519" y="99986"/>
                  </a:lnTo>
                  <a:lnTo>
                    <a:pt x="2605931" y="114089"/>
                  </a:lnTo>
                  <a:lnTo>
                    <a:pt x="2656272" y="129021"/>
                  </a:lnTo>
                  <a:lnTo>
                    <a:pt x="2705507" y="144765"/>
                  </a:lnTo>
                  <a:lnTo>
                    <a:pt x="2753598" y="161303"/>
                  </a:lnTo>
                  <a:lnTo>
                    <a:pt x="2800509" y="178614"/>
                  </a:lnTo>
                  <a:lnTo>
                    <a:pt x="2846202" y="196682"/>
                  </a:lnTo>
                  <a:lnTo>
                    <a:pt x="2890641" y="215487"/>
                  </a:lnTo>
                  <a:lnTo>
                    <a:pt x="2933789" y="235012"/>
                  </a:lnTo>
                  <a:lnTo>
                    <a:pt x="2975609" y="255238"/>
                  </a:lnTo>
                  <a:lnTo>
                    <a:pt x="3016065" y="276146"/>
                  </a:lnTo>
                  <a:lnTo>
                    <a:pt x="3055118" y="297718"/>
                  </a:lnTo>
                  <a:lnTo>
                    <a:pt x="3092733" y="319935"/>
                  </a:lnTo>
                  <a:lnTo>
                    <a:pt x="3128873" y="342780"/>
                  </a:lnTo>
                  <a:lnTo>
                    <a:pt x="3163500" y="366233"/>
                  </a:lnTo>
                  <a:lnTo>
                    <a:pt x="3196578" y="390277"/>
                  </a:lnTo>
                  <a:lnTo>
                    <a:pt x="3228070" y="414892"/>
                  </a:lnTo>
                  <a:lnTo>
                    <a:pt x="3257939" y="440061"/>
                  </a:lnTo>
                  <a:lnTo>
                    <a:pt x="3286149" y="465765"/>
                  </a:lnTo>
                  <a:lnTo>
                    <a:pt x="3337440" y="518704"/>
                  </a:lnTo>
                  <a:lnTo>
                    <a:pt x="3381650" y="573562"/>
                  </a:lnTo>
                  <a:lnTo>
                    <a:pt x="3418483" y="630191"/>
                  </a:lnTo>
                  <a:lnTo>
                    <a:pt x="3447645" y="688445"/>
                  </a:lnTo>
                  <a:lnTo>
                    <a:pt x="3468840" y="748174"/>
                  </a:lnTo>
                  <a:lnTo>
                    <a:pt x="3481773" y="809233"/>
                  </a:lnTo>
                  <a:lnTo>
                    <a:pt x="3486150" y="871474"/>
                  </a:lnTo>
                  <a:lnTo>
                    <a:pt x="3485049" y="902733"/>
                  </a:lnTo>
                  <a:lnTo>
                    <a:pt x="3476357" y="964403"/>
                  </a:lnTo>
                  <a:lnTo>
                    <a:pt x="3459256" y="1024818"/>
                  </a:lnTo>
                  <a:lnTo>
                    <a:pt x="3434041" y="1083831"/>
                  </a:lnTo>
                  <a:lnTo>
                    <a:pt x="3401007" y="1141294"/>
                  </a:lnTo>
                  <a:lnTo>
                    <a:pt x="3360449" y="1197059"/>
                  </a:lnTo>
                  <a:lnTo>
                    <a:pt x="3312661" y="1250979"/>
                  </a:lnTo>
                  <a:lnTo>
                    <a:pt x="3257939" y="1302907"/>
                  </a:lnTo>
                  <a:lnTo>
                    <a:pt x="3228070" y="1328078"/>
                  </a:lnTo>
                  <a:lnTo>
                    <a:pt x="3196578" y="1352695"/>
                  </a:lnTo>
                  <a:lnTo>
                    <a:pt x="3163500" y="1376741"/>
                  </a:lnTo>
                  <a:lnTo>
                    <a:pt x="3128873" y="1400196"/>
                  </a:lnTo>
                  <a:lnTo>
                    <a:pt x="3092733" y="1423043"/>
                  </a:lnTo>
                  <a:lnTo>
                    <a:pt x="3055118" y="1445262"/>
                  </a:lnTo>
                  <a:lnTo>
                    <a:pt x="3016065" y="1466836"/>
                  </a:lnTo>
                  <a:lnTo>
                    <a:pt x="2975609" y="1487746"/>
                  </a:lnTo>
                  <a:lnTo>
                    <a:pt x="2933789" y="1507973"/>
                  </a:lnTo>
                  <a:lnTo>
                    <a:pt x="2890641" y="1527500"/>
                  </a:lnTo>
                  <a:lnTo>
                    <a:pt x="2846202" y="1546307"/>
                  </a:lnTo>
                  <a:lnTo>
                    <a:pt x="2800509" y="1564377"/>
                  </a:lnTo>
                  <a:lnTo>
                    <a:pt x="2753598" y="1581690"/>
                  </a:lnTo>
                  <a:lnTo>
                    <a:pt x="2705507" y="1598229"/>
                  </a:lnTo>
                  <a:lnTo>
                    <a:pt x="2656272" y="1613974"/>
                  </a:lnTo>
                  <a:lnTo>
                    <a:pt x="2605931" y="1628909"/>
                  </a:lnTo>
                  <a:lnTo>
                    <a:pt x="2554519" y="1643013"/>
                  </a:lnTo>
                  <a:lnTo>
                    <a:pt x="2502075" y="1656269"/>
                  </a:lnTo>
                  <a:lnTo>
                    <a:pt x="2448634" y="1668658"/>
                  </a:lnTo>
                  <a:lnTo>
                    <a:pt x="2394235" y="1680162"/>
                  </a:lnTo>
                  <a:lnTo>
                    <a:pt x="2338913" y="1690763"/>
                  </a:lnTo>
                  <a:lnTo>
                    <a:pt x="2282705" y="1700441"/>
                  </a:lnTo>
                  <a:lnTo>
                    <a:pt x="2225649" y="1709179"/>
                  </a:lnTo>
                  <a:lnTo>
                    <a:pt x="2167781" y="1716958"/>
                  </a:lnTo>
                  <a:lnTo>
                    <a:pt x="2109138" y="1723759"/>
                  </a:lnTo>
                  <a:lnTo>
                    <a:pt x="2049758" y="1729565"/>
                  </a:lnTo>
                  <a:lnTo>
                    <a:pt x="1989676" y="1734356"/>
                  </a:lnTo>
                  <a:lnTo>
                    <a:pt x="1928930" y="1738115"/>
                  </a:lnTo>
                  <a:lnTo>
                    <a:pt x="1867556" y="1740823"/>
                  </a:lnTo>
                  <a:lnTo>
                    <a:pt x="1805592" y="1742461"/>
                  </a:lnTo>
                  <a:lnTo>
                    <a:pt x="1743075" y="1743011"/>
                  </a:lnTo>
                  <a:lnTo>
                    <a:pt x="1680557" y="1742461"/>
                  </a:lnTo>
                  <a:lnTo>
                    <a:pt x="1618593" y="1740823"/>
                  </a:lnTo>
                  <a:lnTo>
                    <a:pt x="1557219" y="1738115"/>
                  </a:lnTo>
                  <a:lnTo>
                    <a:pt x="1496473" y="1734356"/>
                  </a:lnTo>
                  <a:lnTo>
                    <a:pt x="1436391" y="1729565"/>
                  </a:lnTo>
                  <a:lnTo>
                    <a:pt x="1377011" y="1723759"/>
                  </a:lnTo>
                  <a:lnTo>
                    <a:pt x="1318368" y="1716958"/>
                  </a:lnTo>
                  <a:lnTo>
                    <a:pt x="1260500" y="1709179"/>
                  </a:lnTo>
                  <a:lnTo>
                    <a:pt x="1203444" y="1700441"/>
                  </a:lnTo>
                  <a:lnTo>
                    <a:pt x="1147236" y="1690763"/>
                  </a:lnTo>
                  <a:lnTo>
                    <a:pt x="1091914" y="1680162"/>
                  </a:lnTo>
                  <a:lnTo>
                    <a:pt x="1037515" y="1668658"/>
                  </a:lnTo>
                  <a:lnTo>
                    <a:pt x="984074" y="1656269"/>
                  </a:lnTo>
                  <a:lnTo>
                    <a:pt x="931630" y="1643013"/>
                  </a:lnTo>
                  <a:lnTo>
                    <a:pt x="880218" y="1628909"/>
                  </a:lnTo>
                  <a:lnTo>
                    <a:pt x="829877" y="1613974"/>
                  </a:lnTo>
                  <a:lnTo>
                    <a:pt x="780642" y="1598229"/>
                  </a:lnTo>
                  <a:lnTo>
                    <a:pt x="732551" y="1581690"/>
                  </a:lnTo>
                  <a:lnTo>
                    <a:pt x="685640" y="1564377"/>
                  </a:lnTo>
                  <a:lnTo>
                    <a:pt x="639947" y="1546307"/>
                  </a:lnTo>
                  <a:lnTo>
                    <a:pt x="595508" y="1527500"/>
                  </a:lnTo>
                  <a:lnTo>
                    <a:pt x="552360" y="1507973"/>
                  </a:lnTo>
                  <a:lnTo>
                    <a:pt x="510539" y="1487746"/>
                  </a:lnTo>
                  <a:lnTo>
                    <a:pt x="470084" y="1466836"/>
                  </a:lnTo>
                  <a:lnTo>
                    <a:pt x="431031" y="1445262"/>
                  </a:lnTo>
                  <a:lnTo>
                    <a:pt x="393416" y="1423043"/>
                  </a:lnTo>
                  <a:lnTo>
                    <a:pt x="357276" y="1400196"/>
                  </a:lnTo>
                  <a:lnTo>
                    <a:pt x="322649" y="1376741"/>
                  </a:lnTo>
                  <a:lnTo>
                    <a:pt x="289571" y="1352695"/>
                  </a:lnTo>
                  <a:lnTo>
                    <a:pt x="258079" y="1328078"/>
                  </a:lnTo>
                  <a:lnTo>
                    <a:pt x="228210" y="1302907"/>
                  </a:lnTo>
                  <a:lnTo>
                    <a:pt x="200000" y="1277201"/>
                  </a:lnTo>
                  <a:lnTo>
                    <a:pt x="148709" y="1224259"/>
                  </a:lnTo>
                  <a:lnTo>
                    <a:pt x="104499" y="1169398"/>
                  </a:lnTo>
                  <a:lnTo>
                    <a:pt x="67666" y="1112765"/>
                  </a:lnTo>
                  <a:lnTo>
                    <a:pt x="38504" y="1054509"/>
                  </a:lnTo>
                  <a:lnTo>
                    <a:pt x="17309" y="994777"/>
                  </a:lnTo>
                  <a:lnTo>
                    <a:pt x="4376" y="933716"/>
                  </a:lnTo>
                  <a:lnTo>
                    <a:pt x="0" y="871474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576821" y="4755007"/>
              <a:ext cx="1557528" cy="345947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5429017" y="3046924"/>
            <a:ext cx="1996439" cy="13976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 marR="30480" indent="-1270" algn="ctr">
              <a:lnSpc>
                <a:spcPct val="98200"/>
              </a:lnSpc>
              <a:spcBef>
                <a:spcPts val="135"/>
              </a:spcBef>
            </a:pPr>
            <a:r>
              <a:rPr sz="1800" b="1" spc="-10" dirty="0">
                <a:latin typeface="Carlito"/>
                <a:cs typeface="Carlito"/>
              </a:rPr>
              <a:t>Estimated  Regression</a:t>
            </a:r>
            <a:r>
              <a:rPr sz="1800" b="1" spc="-114" dirty="0">
                <a:latin typeface="Carlito"/>
                <a:cs typeface="Carlito"/>
              </a:rPr>
              <a:t> </a:t>
            </a:r>
            <a:r>
              <a:rPr sz="1800" b="1" spc="-5" dirty="0">
                <a:latin typeface="Carlito"/>
                <a:cs typeface="Carlito"/>
              </a:rPr>
              <a:t>Equation  </a:t>
            </a:r>
            <a:r>
              <a:rPr sz="1900" i="1" spc="-229" dirty="0">
                <a:solidFill>
                  <a:srgbClr val="FFFFFF"/>
                </a:solidFill>
                <a:latin typeface="Palladio Uralic"/>
                <a:cs typeface="Palladio Uralic"/>
              </a:rPr>
              <a:t>y</a:t>
            </a:r>
            <a:r>
              <a:rPr sz="2850" spc="-345" baseline="5847" dirty="0">
                <a:solidFill>
                  <a:srgbClr val="FFFFFF"/>
                </a:solidFill>
                <a:latin typeface="TeXGyrePagella"/>
                <a:cs typeface="TeXGyrePagella"/>
              </a:rPr>
              <a:t>ˆ </a:t>
            </a:r>
            <a:r>
              <a:rPr sz="1900" spc="340" dirty="0">
                <a:solidFill>
                  <a:srgbClr val="FFFFFF"/>
                </a:solidFill>
                <a:latin typeface="Symbol"/>
                <a:cs typeface="Symbol"/>
              </a:rPr>
              <a:t></a:t>
            </a:r>
            <a:r>
              <a:rPr sz="19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i="1" spc="200" dirty="0">
                <a:solidFill>
                  <a:srgbClr val="FFFFFF"/>
                </a:solidFill>
                <a:latin typeface="Palladio Uralic"/>
                <a:cs typeface="Palladio Uralic"/>
              </a:rPr>
              <a:t>b</a:t>
            </a:r>
            <a:r>
              <a:rPr sz="1650" spc="300" baseline="-22727" dirty="0">
                <a:solidFill>
                  <a:srgbClr val="FFFFFF"/>
                </a:solidFill>
                <a:latin typeface="TeXGyrePagella"/>
                <a:cs typeface="TeXGyrePagella"/>
              </a:rPr>
              <a:t>0 </a:t>
            </a:r>
            <a:r>
              <a:rPr sz="1900" spc="340" dirty="0">
                <a:solidFill>
                  <a:srgbClr val="FFFFFF"/>
                </a:solidFill>
                <a:latin typeface="Symbol"/>
                <a:cs typeface="Symbol"/>
              </a:rPr>
              <a:t></a:t>
            </a:r>
            <a:r>
              <a:rPr sz="1900" spc="3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900" i="1" spc="275" dirty="0">
                <a:solidFill>
                  <a:srgbClr val="FFFFFF"/>
                </a:solidFill>
                <a:latin typeface="Palladio Uralic"/>
                <a:cs typeface="Palladio Uralic"/>
              </a:rPr>
              <a:t>b</a:t>
            </a:r>
            <a:r>
              <a:rPr sz="1650" spc="412" baseline="-22727" dirty="0">
                <a:solidFill>
                  <a:srgbClr val="FFFFFF"/>
                </a:solidFill>
                <a:latin typeface="TeXGyrePagella"/>
                <a:cs typeface="TeXGyrePagella"/>
              </a:rPr>
              <a:t>1</a:t>
            </a:r>
            <a:r>
              <a:rPr sz="1900" i="1" spc="275" dirty="0">
                <a:solidFill>
                  <a:srgbClr val="FFFFFF"/>
                </a:solidFill>
                <a:latin typeface="Palladio Uralic"/>
                <a:cs typeface="Palladio Uralic"/>
              </a:rPr>
              <a:t>x  </a:t>
            </a:r>
            <a:r>
              <a:rPr sz="1800" b="1" dirty="0">
                <a:latin typeface="Carlito"/>
                <a:cs typeface="Carlito"/>
              </a:rPr>
              <a:t>Sample</a:t>
            </a:r>
            <a:r>
              <a:rPr sz="1800" b="1" spc="-3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Statistics</a:t>
            </a:r>
            <a:endParaRPr sz="1800" dirty="0">
              <a:latin typeface="Carlito"/>
              <a:cs typeface="Carlito"/>
            </a:endParaRPr>
          </a:p>
          <a:p>
            <a:pPr marL="635" algn="ctr">
              <a:lnSpc>
                <a:spcPct val="100000"/>
              </a:lnSpc>
            </a:pPr>
            <a:r>
              <a:rPr sz="1800" b="1" i="1" spc="-5" dirty="0">
                <a:latin typeface="Carlito"/>
                <a:cs typeface="Carlito"/>
              </a:rPr>
              <a:t>b</a:t>
            </a:r>
            <a:r>
              <a:rPr sz="1800" b="1" spc="-7" baseline="-20833" dirty="0">
                <a:latin typeface="Carlito"/>
                <a:cs typeface="Carlito"/>
              </a:rPr>
              <a:t>0</a:t>
            </a:r>
            <a:r>
              <a:rPr sz="1800" b="1" spc="-5" dirty="0">
                <a:latin typeface="Carlito"/>
                <a:cs typeface="Carlito"/>
              </a:rPr>
              <a:t>, </a:t>
            </a:r>
            <a:r>
              <a:rPr sz="1800" b="1" i="1" spc="-5" dirty="0">
                <a:latin typeface="Carlito"/>
                <a:cs typeface="Carlito"/>
              </a:rPr>
              <a:t>b</a:t>
            </a:r>
            <a:r>
              <a:rPr sz="1800" b="1" spc="-7" baseline="-20833" dirty="0">
                <a:latin typeface="Carlito"/>
                <a:cs typeface="Carlito"/>
              </a:rPr>
              <a:t>1</a:t>
            </a:r>
            <a:endParaRPr sz="1800" baseline="-20833" dirty="0">
              <a:latin typeface="Carlito"/>
              <a:cs typeface="Carlito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2468879" y="1548383"/>
            <a:ext cx="4223385" cy="2286000"/>
            <a:chOff x="2468879" y="1548383"/>
            <a:chExt cx="4223385" cy="2286000"/>
          </a:xfrm>
        </p:grpSpPr>
        <p:sp>
          <p:nvSpPr>
            <p:cNvPr id="63" name="object 63"/>
            <p:cNvSpPr/>
            <p:nvPr/>
          </p:nvSpPr>
          <p:spPr>
            <a:xfrm>
              <a:off x="4315967" y="1548383"/>
              <a:ext cx="632460" cy="156972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305300" y="1576450"/>
              <a:ext cx="552450" cy="76200"/>
            </a:xfrm>
            <a:custGeom>
              <a:avLst/>
              <a:gdLst/>
              <a:ahLst/>
              <a:cxnLst/>
              <a:rect l="l" t="t" r="r" b="b"/>
              <a:pathLst>
                <a:path w="552450" h="76200">
                  <a:moveTo>
                    <a:pt x="476250" y="47621"/>
                  </a:moveTo>
                  <a:lnTo>
                    <a:pt x="476250" y="76200"/>
                  </a:lnTo>
                  <a:lnTo>
                    <a:pt x="533400" y="47625"/>
                  </a:lnTo>
                  <a:lnTo>
                    <a:pt x="476250" y="47621"/>
                  </a:lnTo>
                  <a:close/>
                </a:path>
                <a:path w="552450" h="76200">
                  <a:moveTo>
                    <a:pt x="476250" y="28571"/>
                  </a:moveTo>
                  <a:lnTo>
                    <a:pt x="476250" y="47621"/>
                  </a:lnTo>
                  <a:lnTo>
                    <a:pt x="488950" y="47625"/>
                  </a:lnTo>
                  <a:lnTo>
                    <a:pt x="488950" y="28575"/>
                  </a:lnTo>
                  <a:lnTo>
                    <a:pt x="476250" y="28571"/>
                  </a:lnTo>
                  <a:close/>
                </a:path>
                <a:path w="552450" h="76200">
                  <a:moveTo>
                    <a:pt x="476250" y="0"/>
                  </a:moveTo>
                  <a:lnTo>
                    <a:pt x="476250" y="28571"/>
                  </a:lnTo>
                  <a:lnTo>
                    <a:pt x="488950" y="28575"/>
                  </a:lnTo>
                  <a:lnTo>
                    <a:pt x="488950" y="47625"/>
                  </a:lnTo>
                  <a:lnTo>
                    <a:pt x="533406" y="47621"/>
                  </a:lnTo>
                  <a:lnTo>
                    <a:pt x="552450" y="38100"/>
                  </a:lnTo>
                  <a:lnTo>
                    <a:pt x="476250" y="0"/>
                  </a:lnTo>
                  <a:close/>
                </a:path>
                <a:path w="552450" h="76200">
                  <a:moveTo>
                    <a:pt x="0" y="28448"/>
                  </a:moveTo>
                  <a:lnTo>
                    <a:pt x="0" y="47498"/>
                  </a:lnTo>
                  <a:lnTo>
                    <a:pt x="476250" y="47621"/>
                  </a:lnTo>
                  <a:lnTo>
                    <a:pt x="476250" y="28571"/>
                  </a:lnTo>
                  <a:lnTo>
                    <a:pt x="0" y="284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239767" y="3677411"/>
              <a:ext cx="632460" cy="156972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305300" y="3705225"/>
              <a:ext cx="552450" cy="76200"/>
            </a:xfrm>
            <a:custGeom>
              <a:avLst/>
              <a:gdLst/>
              <a:ahLst/>
              <a:cxnLst/>
              <a:rect l="l" t="t" r="r" b="b"/>
              <a:pathLst>
                <a:path w="55245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7625"/>
                  </a:lnTo>
                  <a:lnTo>
                    <a:pt x="63500" y="47625"/>
                  </a:lnTo>
                  <a:lnTo>
                    <a:pt x="63500" y="28575"/>
                  </a:lnTo>
                  <a:lnTo>
                    <a:pt x="76200" y="28575"/>
                  </a:lnTo>
                  <a:lnTo>
                    <a:pt x="76200" y="0"/>
                  </a:lnTo>
                  <a:close/>
                </a:path>
                <a:path w="552450" h="76200">
                  <a:moveTo>
                    <a:pt x="76200" y="28575"/>
                  </a:moveTo>
                  <a:lnTo>
                    <a:pt x="63500" y="28575"/>
                  </a:lnTo>
                  <a:lnTo>
                    <a:pt x="63500" y="47625"/>
                  </a:lnTo>
                  <a:lnTo>
                    <a:pt x="76200" y="47625"/>
                  </a:lnTo>
                  <a:lnTo>
                    <a:pt x="76200" y="28575"/>
                  </a:lnTo>
                  <a:close/>
                </a:path>
                <a:path w="552450" h="76200">
                  <a:moveTo>
                    <a:pt x="552450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552450" y="47625"/>
                  </a:lnTo>
                  <a:lnTo>
                    <a:pt x="55245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34911" y="2525267"/>
              <a:ext cx="156972" cy="437388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562725" y="2514600"/>
              <a:ext cx="76200" cy="357505"/>
            </a:xfrm>
            <a:custGeom>
              <a:avLst/>
              <a:gdLst/>
              <a:ahLst/>
              <a:cxnLst/>
              <a:rect l="l" t="t" r="r" b="b"/>
              <a:pathLst>
                <a:path w="76200" h="357505">
                  <a:moveTo>
                    <a:pt x="28575" y="280924"/>
                  </a:moveTo>
                  <a:lnTo>
                    <a:pt x="0" y="280924"/>
                  </a:lnTo>
                  <a:lnTo>
                    <a:pt x="38100" y="357124"/>
                  </a:lnTo>
                  <a:lnTo>
                    <a:pt x="69850" y="293624"/>
                  </a:lnTo>
                  <a:lnTo>
                    <a:pt x="28575" y="293624"/>
                  </a:lnTo>
                  <a:lnTo>
                    <a:pt x="28575" y="280924"/>
                  </a:lnTo>
                  <a:close/>
                </a:path>
                <a:path w="76200" h="357505">
                  <a:moveTo>
                    <a:pt x="47625" y="0"/>
                  </a:moveTo>
                  <a:lnTo>
                    <a:pt x="28575" y="0"/>
                  </a:lnTo>
                  <a:lnTo>
                    <a:pt x="28575" y="293624"/>
                  </a:lnTo>
                  <a:lnTo>
                    <a:pt x="47625" y="293624"/>
                  </a:lnTo>
                  <a:lnTo>
                    <a:pt x="47625" y="0"/>
                  </a:lnTo>
                  <a:close/>
                </a:path>
                <a:path w="76200" h="357505">
                  <a:moveTo>
                    <a:pt x="76200" y="280924"/>
                  </a:moveTo>
                  <a:lnTo>
                    <a:pt x="47625" y="280924"/>
                  </a:lnTo>
                  <a:lnTo>
                    <a:pt x="47625" y="293624"/>
                  </a:lnTo>
                  <a:lnTo>
                    <a:pt x="69850" y="293624"/>
                  </a:lnTo>
                  <a:lnTo>
                    <a:pt x="76200" y="280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468879" y="2420111"/>
              <a:ext cx="155448" cy="466344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2495549" y="2486025"/>
              <a:ext cx="76200" cy="386080"/>
            </a:xfrm>
            <a:custGeom>
              <a:avLst/>
              <a:gdLst/>
              <a:ahLst/>
              <a:cxnLst/>
              <a:rect l="l" t="t" r="r" b="b"/>
              <a:pathLst>
                <a:path w="76200" h="386080">
                  <a:moveTo>
                    <a:pt x="47625" y="63500"/>
                  </a:moveTo>
                  <a:lnTo>
                    <a:pt x="28575" y="63500"/>
                  </a:lnTo>
                  <a:lnTo>
                    <a:pt x="28575" y="385825"/>
                  </a:lnTo>
                  <a:lnTo>
                    <a:pt x="47625" y="385825"/>
                  </a:lnTo>
                  <a:lnTo>
                    <a:pt x="47625" y="63500"/>
                  </a:lnTo>
                  <a:close/>
                </a:path>
                <a:path w="76200" h="386080">
                  <a:moveTo>
                    <a:pt x="38100" y="0"/>
                  </a:moveTo>
                  <a:lnTo>
                    <a:pt x="0" y="76200"/>
                  </a:lnTo>
                  <a:lnTo>
                    <a:pt x="28575" y="76200"/>
                  </a:lnTo>
                  <a:lnTo>
                    <a:pt x="28575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86080">
                  <a:moveTo>
                    <a:pt x="69850" y="63500"/>
                  </a:moveTo>
                  <a:lnTo>
                    <a:pt x="47625" y="63500"/>
                  </a:lnTo>
                  <a:lnTo>
                    <a:pt x="4762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6075" y="881125"/>
            <a:ext cx="8566150" cy="390525"/>
          </a:xfrm>
          <a:custGeom>
            <a:avLst/>
            <a:gdLst/>
            <a:ahLst/>
            <a:cxnLst/>
            <a:rect l="l" t="t" r="r" b="b"/>
            <a:pathLst>
              <a:path w="8566150" h="390525">
                <a:moveTo>
                  <a:pt x="8566150" y="0"/>
                </a:moveTo>
                <a:lnTo>
                  <a:pt x="0" y="0"/>
                </a:lnTo>
                <a:lnTo>
                  <a:pt x="0" y="390525"/>
                </a:lnTo>
                <a:lnTo>
                  <a:pt x="8566150" y="390525"/>
                </a:lnTo>
                <a:lnTo>
                  <a:pt x="8566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92396" y="869409"/>
            <a:ext cx="3591560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1491615" algn="l"/>
                <a:tab pos="1931035" algn="l"/>
                <a:tab pos="3484879" algn="l"/>
              </a:tabLst>
            </a:pPr>
            <a:r>
              <a:rPr sz="2200" dirty="0">
                <a:solidFill>
                  <a:srgbClr val="0000FF"/>
                </a:solidFill>
                <a:latin typeface="Symbol"/>
                <a:cs typeface="Symbol"/>
              </a:rPr>
              <a:t>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200" dirty="0">
                <a:solidFill>
                  <a:srgbClr val="0000FF"/>
                </a:solidFill>
                <a:latin typeface="Symbol"/>
                <a:cs typeface="Symbol"/>
              </a:rPr>
              <a:t>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200" dirty="0">
                <a:solidFill>
                  <a:srgbClr val="FF00FF"/>
                </a:solidFill>
                <a:latin typeface="Symbol"/>
                <a:cs typeface="Symbol"/>
              </a:rPr>
              <a:t></a:t>
            </a:r>
            <a:r>
              <a:rPr sz="220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2200" dirty="0">
                <a:solidFill>
                  <a:srgbClr val="FF00FF"/>
                </a:solidFill>
                <a:latin typeface="Symbol"/>
                <a:cs typeface="Symbol"/>
              </a:rPr>
              <a:t>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1963" y="869409"/>
            <a:ext cx="106045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2200" dirty="0">
                <a:solidFill>
                  <a:srgbClr val="FF007E"/>
                </a:solidFill>
                <a:latin typeface="Symbol"/>
                <a:cs typeface="Symbol"/>
              </a:rPr>
              <a:t>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4172" y="880745"/>
            <a:ext cx="9588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950" spc="175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76955" y="880745"/>
            <a:ext cx="9588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950" spc="175" dirty="0">
                <a:solidFill>
                  <a:srgbClr val="FF00FF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1833" y="1063749"/>
            <a:ext cx="84010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744220" algn="l"/>
              </a:tabLst>
            </a:pPr>
            <a:r>
              <a:rPr sz="950" spc="175" dirty="0">
                <a:solidFill>
                  <a:srgbClr val="FF00FF"/>
                </a:solidFill>
                <a:latin typeface="Times New Roman"/>
                <a:cs typeface="Times New Roman"/>
              </a:rPr>
              <a:t>2	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1956" y="1063749"/>
            <a:ext cx="80899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713105" algn="l"/>
              </a:tabLst>
            </a:pPr>
            <a:r>
              <a:rPr sz="950" spc="175" dirty="0">
                <a:solidFill>
                  <a:srgbClr val="0000FF"/>
                </a:solidFill>
                <a:latin typeface="Times New Roman"/>
                <a:cs typeface="Times New Roman"/>
              </a:rPr>
              <a:t>1	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800163" y="853770"/>
            <a:ext cx="2102485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447040" algn="l"/>
                <a:tab pos="716280" algn="l"/>
                <a:tab pos="1468120" algn="l"/>
              </a:tabLst>
            </a:pPr>
            <a:r>
              <a:rPr sz="1650" b="0" spc="145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sz="1650" b="0" spc="135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sz="1650" b="0" spc="145" dirty="0">
                <a:solidFill>
                  <a:srgbClr val="000000"/>
                </a:solidFill>
                <a:latin typeface="Times New Roman"/>
                <a:cs typeface="Times New Roman"/>
              </a:rPr>
              <a:t>..</a:t>
            </a:r>
            <a:r>
              <a:rPr sz="1650" b="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1650" b="0" spc="290" dirty="0">
                <a:solidFill>
                  <a:srgbClr val="FF007E"/>
                </a:solidFill>
                <a:latin typeface="Times New Roman"/>
                <a:cs typeface="Times New Roman"/>
              </a:rPr>
              <a:t>y</a:t>
            </a:r>
            <a:r>
              <a:rPr sz="1650" b="0" dirty="0">
                <a:solidFill>
                  <a:srgbClr val="FF007E"/>
                </a:solidFill>
                <a:latin typeface="Times New Roman"/>
                <a:cs typeface="Times New Roman"/>
              </a:rPr>
              <a:t>	</a:t>
            </a:r>
            <a:r>
              <a:rPr sz="1650" b="0" spc="195" dirty="0">
                <a:solidFill>
                  <a:srgbClr val="FF007E"/>
                </a:solidFill>
                <a:latin typeface="Times New Roman"/>
                <a:cs typeface="Times New Roman"/>
              </a:rPr>
              <a:t>-</a:t>
            </a:r>
            <a:r>
              <a:rPr sz="1650" b="0" spc="95" dirty="0">
                <a:solidFill>
                  <a:srgbClr val="FF007E"/>
                </a:solidFill>
                <a:latin typeface="Times New Roman"/>
                <a:cs typeface="Times New Roman"/>
              </a:rPr>
              <a:t> </a:t>
            </a:r>
            <a:r>
              <a:rPr sz="1650" b="0" spc="175" dirty="0">
                <a:solidFill>
                  <a:srgbClr val="FF007E"/>
                </a:solidFill>
                <a:latin typeface="Times New Roman"/>
                <a:cs typeface="Times New Roman"/>
              </a:rPr>
              <a:t>(</a:t>
            </a:r>
            <a:r>
              <a:rPr sz="1650" b="0" spc="425" dirty="0">
                <a:solidFill>
                  <a:srgbClr val="FF007E"/>
                </a:solidFill>
                <a:latin typeface="Times New Roman"/>
                <a:cs typeface="Times New Roman"/>
              </a:rPr>
              <a:t>m</a:t>
            </a:r>
            <a:r>
              <a:rPr sz="1650" b="0" spc="290" dirty="0">
                <a:solidFill>
                  <a:srgbClr val="FF007E"/>
                </a:solidFill>
                <a:latin typeface="Times New Roman"/>
                <a:cs typeface="Times New Roman"/>
              </a:rPr>
              <a:t>x</a:t>
            </a:r>
            <a:r>
              <a:rPr sz="1650" b="0" dirty="0">
                <a:solidFill>
                  <a:srgbClr val="FF007E"/>
                </a:solidFill>
                <a:latin typeface="Times New Roman"/>
                <a:cs typeface="Times New Roman"/>
              </a:rPr>
              <a:t>	</a:t>
            </a:r>
            <a:r>
              <a:rPr sz="1650" b="0" spc="315" dirty="0">
                <a:solidFill>
                  <a:srgbClr val="FF007E"/>
                </a:solidFill>
                <a:latin typeface="Times New Roman"/>
                <a:cs typeface="Times New Roman"/>
              </a:rPr>
              <a:t>+</a:t>
            </a:r>
            <a:r>
              <a:rPr sz="1650" b="0" spc="285" dirty="0">
                <a:solidFill>
                  <a:srgbClr val="FF007E"/>
                </a:solidFill>
                <a:latin typeface="Times New Roman"/>
                <a:cs typeface="Times New Roman"/>
              </a:rPr>
              <a:t>b</a:t>
            </a:r>
            <a:r>
              <a:rPr sz="1650" b="0" spc="335" dirty="0">
                <a:solidFill>
                  <a:srgbClr val="FF007E"/>
                </a:solidFill>
                <a:latin typeface="Times New Roman"/>
                <a:cs typeface="Times New Roman"/>
              </a:rPr>
              <a:t>)</a:t>
            </a:r>
            <a:r>
              <a:rPr sz="3300" b="0" spc="67" baseline="-2525" dirty="0">
                <a:solidFill>
                  <a:srgbClr val="FF007E"/>
                </a:solidFill>
                <a:latin typeface="Symbol"/>
                <a:cs typeface="Symbol"/>
              </a:rPr>
              <a:t></a:t>
            </a:r>
            <a:r>
              <a:rPr sz="1425" b="0" spc="262" baseline="58479" dirty="0">
                <a:solidFill>
                  <a:srgbClr val="FF007E"/>
                </a:solidFill>
                <a:latin typeface="Times New Roman"/>
                <a:cs typeface="Times New Roman"/>
              </a:rPr>
              <a:t>2</a:t>
            </a:r>
            <a:endParaRPr sz="1425" baseline="58479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99911" y="1063749"/>
            <a:ext cx="84328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746760" algn="l"/>
              </a:tabLst>
            </a:pPr>
            <a:r>
              <a:rPr sz="950" i="1" spc="175" dirty="0">
                <a:solidFill>
                  <a:srgbClr val="FF007E"/>
                </a:solidFill>
                <a:latin typeface="Times New Roman"/>
                <a:cs typeface="Times New Roman"/>
              </a:rPr>
              <a:t>n	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5677" y="921368"/>
            <a:ext cx="6429375" cy="2787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2641600" algn="l"/>
                <a:tab pos="4257675" algn="l"/>
                <a:tab pos="4573270" algn="l"/>
                <a:tab pos="5588000" algn="l"/>
                <a:tab pos="6259830" algn="l"/>
              </a:tabLst>
            </a:pPr>
            <a:r>
              <a:rPr sz="1650" spc="330" dirty="0">
                <a:latin typeface="Times New Roman"/>
                <a:cs typeface="Times New Roman"/>
              </a:rPr>
              <a:t>S</a:t>
            </a:r>
            <a:r>
              <a:rPr sz="1650" spc="290" dirty="0">
                <a:latin typeface="Times New Roman"/>
                <a:cs typeface="Times New Roman"/>
              </a:rPr>
              <a:t>qu</a:t>
            </a:r>
            <a:r>
              <a:rPr sz="1650" spc="235" dirty="0">
                <a:latin typeface="Times New Roman"/>
                <a:cs typeface="Times New Roman"/>
              </a:rPr>
              <a:t>a</a:t>
            </a:r>
            <a:r>
              <a:rPr sz="1650" spc="180" dirty="0">
                <a:latin typeface="Times New Roman"/>
                <a:cs typeface="Times New Roman"/>
              </a:rPr>
              <a:t>r</a:t>
            </a:r>
            <a:r>
              <a:rPr sz="1650" spc="240" dirty="0">
                <a:latin typeface="Times New Roman"/>
                <a:cs typeface="Times New Roman"/>
              </a:rPr>
              <a:t>e</a:t>
            </a:r>
            <a:r>
              <a:rPr sz="1650" spc="290" dirty="0">
                <a:latin typeface="Times New Roman"/>
                <a:cs typeface="Times New Roman"/>
              </a:rPr>
              <a:t>d</a:t>
            </a:r>
            <a:r>
              <a:rPr sz="1650" spc="145" dirty="0">
                <a:latin typeface="Times New Roman"/>
                <a:cs typeface="Times New Roman"/>
              </a:rPr>
              <a:t> </a:t>
            </a:r>
            <a:r>
              <a:rPr sz="1650" spc="229" dirty="0">
                <a:latin typeface="Times New Roman"/>
                <a:cs typeface="Times New Roman"/>
              </a:rPr>
              <a:t>Err</a:t>
            </a:r>
            <a:r>
              <a:rPr sz="1650" spc="240" dirty="0">
                <a:latin typeface="Times New Roman"/>
                <a:cs typeface="Times New Roman"/>
              </a:rPr>
              <a:t>or</a:t>
            </a:r>
            <a:r>
              <a:rPr sz="1650" spc="130" dirty="0">
                <a:latin typeface="Times New Roman"/>
                <a:cs typeface="Times New Roman"/>
              </a:rPr>
              <a:t> </a:t>
            </a:r>
            <a:r>
              <a:rPr sz="1650" spc="175" dirty="0">
                <a:latin typeface="Times New Roman"/>
                <a:cs typeface="Times New Roman"/>
              </a:rPr>
              <a:t>(</a:t>
            </a:r>
            <a:r>
              <a:rPr sz="1650" spc="330" dirty="0">
                <a:latin typeface="Times New Roman"/>
                <a:cs typeface="Times New Roman"/>
              </a:rPr>
              <a:t>S</a:t>
            </a:r>
            <a:r>
              <a:rPr sz="1650" spc="345" dirty="0">
                <a:latin typeface="Times New Roman"/>
                <a:cs typeface="Times New Roman"/>
              </a:rPr>
              <a:t>E</a:t>
            </a:r>
            <a:r>
              <a:rPr sz="1650" spc="195" dirty="0">
                <a:latin typeface="Times New Roman"/>
                <a:cs typeface="Times New Roman"/>
              </a:rPr>
              <a:t>)</a:t>
            </a:r>
            <a:r>
              <a:rPr sz="1650" spc="130" dirty="0">
                <a:latin typeface="Times New Roman"/>
                <a:cs typeface="Times New Roman"/>
              </a:rPr>
              <a:t> </a:t>
            </a:r>
            <a:r>
              <a:rPr sz="1650" spc="330" dirty="0">
                <a:latin typeface="Times New Roman"/>
                <a:cs typeface="Times New Roman"/>
              </a:rPr>
              <a:t>=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290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16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50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50" spc="195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650" spc="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50" spc="175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1650" spc="420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1650" spc="29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r>
              <a:rPr sz="16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50" spc="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50" spc="330" dirty="0">
                <a:solidFill>
                  <a:srgbClr val="0000FF"/>
                </a:solidFill>
                <a:latin typeface="Times New Roman"/>
                <a:cs typeface="Times New Roman"/>
              </a:rPr>
              <a:t>+</a:t>
            </a:r>
            <a:r>
              <a:rPr sz="1650" spc="28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1650" spc="195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r>
              <a:rPr sz="165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1650" spc="330" dirty="0">
                <a:latin typeface="Times New Roman"/>
                <a:cs typeface="Times New Roman"/>
              </a:rPr>
              <a:t>+</a:t>
            </a:r>
            <a:r>
              <a:rPr sz="1650" dirty="0">
                <a:latin typeface="Times New Roman"/>
                <a:cs typeface="Times New Roman"/>
              </a:rPr>
              <a:t>	</a:t>
            </a:r>
            <a:r>
              <a:rPr sz="1650" spc="290" dirty="0">
                <a:solidFill>
                  <a:srgbClr val="FF00FF"/>
                </a:solidFill>
                <a:latin typeface="Times New Roman"/>
                <a:cs typeface="Times New Roman"/>
              </a:rPr>
              <a:t>y</a:t>
            </a:r>
            <a:r>
              <a:rPr sz="1650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650" spc="155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650" spc="195" dirty="0">
                <a:solidFill>
                  <a:srgbClr val="FF00FF"/>
                </a:solidFill>
                <a:latin typeface="Times New Roman"/>
                <a:cs typeface="Times New Roman"/>
              </a:rPr>
              <a:t>-</a:t>
            </a:r>
            <a:r>
              <a:rPr sz="1650" spc="95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650" spc="175" dirty="0">
                <a:solidFill>
                  <a:srgbClr val="FF00FF"/>
                </a:solidFill>
                <a:latin typeface="Times New Roman"/>
                <a:cs typeface="Times New Roman"/>
              </a:rPr>
              <a:t>(</a:t>
            </a:r>
            <a:r>
              <a:rPr sz="1650" spc="420" dirty="0">
                <a:solidFill>
                  <a:srgbClr val="FF00FF"/>
                </a:solidFill>
                <a:latin typeface="Times New Roman"/>
                <a:cs typeface="Times New Roman"/>
              </a:rPr>
              <a:t>m</a:t>
            </a:r>
            <a:r>
              <a:rPr sz="1650" spc="290" dirty="0">
                <a:solidFill>
                  <a:srgbClr val="FF00FF"/>
                </a:solidFill>
                <a:latin typeface="Times New Roman"/>
                <a:cs typeface="Times New Roman"/>
              </a:rPr>
              <a:t>x</a:t>
            </a:r>
            <a:r>
              <a:rPr sz="16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650" spc="330" dirty="0">
                <a:solidFill>
                  <a:srgbClr val="FF00FF"/>
                </a:solidFill>
                <a:latin typeface="Times New Roman"/>
                <a:cs typeface="Times New Roman"/>
              </a:rPr>
              <a:t>+</a:t>
            </a:r>
            <a:r>
              <a:rPr sz="1650" spc="280" dirty="0">
                <a:solidFill>
                  <a:srgbClr val="FF00FF"/>
                </a:solidFill>
                <a:latin typeface="Times New Roman"/>
                <a:cs typeface="Times New Roman"/>
              </a:rPr>
              <a:t>b</a:t>
            </a:r>
            <a:r>
              <a:rPr sz="1650" spc="195" dirty="0">
                <a:solidFill>
                  <a:srgbClr val="FF00FF"/>
                </a:solidFill>
                <a:latin typeface="Times New Roman"/>
                <a:cs typeface="Times New Roman"/>
              </a:rPr>
              <a:t>)</a:t>
            </a:r>
            <a:r>
              <a:rPr sz="1650" dirty="0">
                <a:solidFill>
                  <a:srgbClr val="FF00FF"/>
                </a:solidFill>
                <a:latin typeface="Times New Roman"/>
                <a:cs typeface="Times New Roman"/>
              </a:rPr>
              <a:t>	</a:t>
            </a:r>
            <a:r>
              <a:rPr sz="1650" spc="320" dirty="0">
                <a:latin typeface="Symbol"/>
                <a:cs typeface="Symbol"/>
              </a:rPr>
              <a:t>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28875" y="1417700"/>
            <a:ext cx="4171950" cy="1584325"/>
          </a:xfrm>
          <a:custGeom>
            <a:avLst/>
            <a:gdLst/>
            <a:ahLst/>
            <a:cxnLst/>
            <a:rect l="l" t="t" r="r" b="b"/>
            <a:pathLst>
              <a:path w="4171950" h="1584325">
                <a:moveTo>
                  <a:pt x="4171950" y="0"/>
                </a:moveTo>
                <a:lnTo>
                  <a:pt x="0" y="0"/>
                </a:lnTo>
                <a:lnTo>
                  <a:pt x="0" y="1584325"/>
                </a:lnTo>
                <a:lnTo>
                  <a:pt x="4171950" y="1584325"/>
                </a:lnTo>
                <a:lnTo>
                  <a:pt x="4171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78349" y="1830681"/>
            <a:ext cx="355028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439160" algn="l"/>
              </a:tabLst>
            </a:pPr>
            <a:r>
              <a:rPr sz="1150" spc="195" dirty="0">
                <a:solidFill>
                  <a:srgbClr val="FF00FF"/>
                </a:solidFill>
                <a:latin typeface="Times New Roman"/>
                <a:cs typeface="Times New Roman"/>
              </a:rPr>
              <a:t>2	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81679" y="2618836"/>
            <a:ext cx="1111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1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1969" y="2618836"/>
            <a:ext cx="11112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195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91752" y="1594141"/>
            <a:ext cx="293497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862965" algn="l"/>
                <a:tab pos="1515110" algn="l"/>
                <a:tab pos="2823845" algn="l"/>
              </a:tabLst>
            </a:pPr>
            <a:r>
              <a:rPr sz="1150" spc="195" dirty="0">
                <a:solidFill>
                  <a:srgbClr val="0000FF"/>
                </a:solidFill>
                <a:latin typeface="Times New Roman"/>
                <a:cs typeface="Times New Roman"/>
              </a:rPr>
              <a:t>1	1	1	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53729" y="2626872"/>
            <a:ext cx="4005579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tabLst>
                <a:tab pos="714375" algn="l"/>
              </a:tabLst>
            </a:pPr>
            <a:r>
              <a:rPr sz="1950" spc="395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1950" spc="395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r>
              <a:rPr sz="1725" i="1" spc="592" baseline="-24154" dirty="0">
                <a:solidFill>
                  <a:srgbClr val="FF0000"/>
                </a:solidFill>
                <a:latin typeface="Times New Roman"/>
                <a:cs typeface="Times New Roman"/>
              </a:rPr>
              <a:t>n	</a:t>
            </a:r>
            <a:r>
              <a:rPr sz="1950" spc="375" dirty="0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sz="195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360" dirty="0">
                <a:solidFill>
                  <a:srgbClr val="FF0000"/>
                </a:solidFill>
                <a:latin typeface="Times New Roman"/>
                <a:cs typeface="Times New Roman"/>
              </a:rPr>
              <a:t>2y</a:t>
            </a:r>
            <a:r>
              <a:rPr sz="1725" i="1" spc="540" baseline="-24154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725" i="1" spc="15" baseline="-241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350" dirty="0">
                <a:solidFill>
                  <a:srgbClr val="FF0000"/>
                </a:solidFill>
                <a:latin typeface="Times New Roman"/>
                <a:cs typeface="Times New Roman"/>
              </a:rPr>
              <a:t>(mx</a:t>
            </a:r>
            <a:r>
              <a:rPr sz="1725" i="1" spc="525" baseline="-24154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725" i="1" spc="82" baseline="-241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335" dirty="0">
                <a:solidFill>
                  <a:srgbClr val="FF0000"/>
                </a:solidFill>
                <a:latin typeface="Times New Roman"/>
                <a:cs typeface="Times New Roman"/>
              </a:rPr>
              <a:t>+b)+(mx</a:t>
            </a:r>
            <a:r>
              <a:rPr sz="1725" i="1" spc="502" baseline="-24154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1725" i="1" spc="82" baseline="-241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315" dirty="0">
                <a:solidFill>
                  <a:srgbClr val="FF0000"/>
                </a:solidFill>
                <a:latin typeface="Times New Roman"/>
                <a:cs typeface="Times New Roman"/>
              </a:rPr>
              <a:t>+b)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53729" y="1425664"/>
            <a:ext cx="4100195" cy="325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4"/>
              </a:spcBef>
              <a:tabLst>
                <a:tab pos="379730" algn="l"/>
              </a:tabLst>
            </a:pPr>
            <a:r>
              <a:rPr sz="1950" spc="385" dirty="0">
                <a:latin typeface="Times New Roman"/>
                <a:cs typeface="Times New Roman"/>
              </a:rPr>
              <a:t>=	</a:t>
            </a:r>
            <a:r>
              <a:rPr sz="1950" spc="340" dirty="0">
                <a:solidFill>
                  <a:srgbClr val="0000FF"/>
                </a:solidFill>
                <a:latin typeface="Times New Roman"/>
                <a:cs typeface="Times New Roman"/>
              </a:rPr>
              <a:t>y </a:t>
            </a:r>
            <a:r>
              <a:rPr sz="1725" spc="292" baseline="43478" dirty="0">
                <a:solidFill>
                  <a:srgbClr val="0000FF"/>
                </a:solidFill>
                <a:latin typeface="Times New Roman"/>
                <a:cs typeface="Times New Roman"/>
              </a:rPr>
              <a:t>2 </a:t>
            </a:r>
            <a:r>
              <a:rPr sz="1950" spc="375" dirty="0">
                <a:solidFill>
                  <a:srgbClr val="0000FF"/>
                </a:solidFill>
                <a:latin typeface="Symbol"/>
                <a:cs typeface="Symbol"/>
              </a:rPr>
              <a:t></a:t>
            </a:r>
            <a:r>
              <a:rPr sz="1950" spc="3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50" spc="395" dirty="0">
                <a:solidFill>
                  <a:srgbClr val="0000FF"/>
                </a:solidFill>
                <a:latin typeface="Times New Roman"/>
                <a:cs typeface="Times New Roman"/>
              </a:rPr>
              <a:t>2y </a:t>
            </a:r>
            <a:r>
              <a:rPr sz="1950" spc="345" dirty="0">
                <a:solidFill>
                  <a:srgbClr val="0000FF"/>
                </a:solidFill>
                <a:latin typeface="Times New Roman"/>
                <a:cs typeface="Times New Roman"/>
              </a:rPr>
              <a:t>(mx </a:t>
            </a:r>
            <a:r>
              <a:rPr sz="1950" spc="330" dirty="0">
                <a:solidFill>
                  <a:srgbClr val="0000FF"/>
                </a:solidFill>
                <a:latin typeface="Times New Roman"/>
                <a:cs typeface="Times New Roman"/>
              </a:rPr>
              <a:t>+b)+(mx</a:t>
            </a:r>
            <a:r>
              <a:rPr sz="1950" spc="2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50" spc="305" dirty="0">
                <a:solidFill>
                  <a:srgbClr val="0000FF"/>
                </a:solidFill>
                <a:latin typeface="Times New Roman"/>
                <a:cs typeface="Times New Roman"/>
              </a:rPr>
              <a:t>+b)</a:t>
            </a:r>
            <a:r>
              <a:rPr sz="1725" spc="457" baseline="4347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725" baseline="43478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53729" y="1757585"/>
            <a:ext cx="3990340" cy="78803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55"/>
              </a:spcBef>
              <a:tabLst>
                <a:tab pos="711200" algn="l"/>
              </a:tabLst>
            </a:pPr>
            <a:r>
              <a:rPr sz="1950" spc="395" dirty="0">
                <a:latin typeface="Symbol"/>
                <a:cs typeface="Symbol"/>
              </a:rPr>
              <a:t></a:t>
            </a:r>
            <a:r>
              <a:rPr sz="1950" spc="395" dirty="0">
                <a:solidFill>
                  <a:srgbClr val="FF00FF"/>
                </a:solidFill>
                <a:latin typeface="Times New Roman"/>
                <a:cs typeface="Times New Roman"/>
              </a:rPr>
              <a:t>y</a:t>
            </a:r>
            <a:r>
              <a:rPr sz="1725" spc="592" baseline="-24154" dirty="0">
                <a:solidFill>
                  <a:srgbClr val="FF00FF"/>
                </a:solidFill>
                <a:latin typeface="Times New Roman"/>
                <a:cs typeface="Times New Roman"/>
              </a:rPr>
              <a:t>2	</a:t>
            </a:r>
            <a:r>
              <a:rPr sz="1950" spc="375" dirty="0">
                <a:solidFill>
                  <a:srgbClr val="FF00FF"/>
                </a:solidFill>
                <a:latin typeface="Symbol"/>
                <a:cs typeface="Symbol"/>
              </a:rPr>
              <a:t></a:t>
            </a:r>
            <a:r>
              <a:rPr sz="1950" spc="-65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950" spc="360" dirty="0">
                <a:solidFill>
                  <a:srgbClr val="FF00FF"/>
                </a:solidFill>
                <a:latin typeface="Times New Roman"/>
                <a:cs typeface="Times New Roman"/>
              </a:rPr>
              <a:t>2y</a:t>
            </a:r>
            <a:r>
              <a:rPr sz="1725" spc="540" baseline="-24154" dirty="0">
                <a:solidFill>
                  <a:srgbClr val="FF00FF"/>
                </a:solidFill>
                <a:latin typeface="Times New Roman"/>
                <a:cs typeface="Times New Roman"/>
              </a:rPr>
              <a:t>2</a:t>
            </a:r>
            <a:r>
              <a:rPr sz="1725" spc="-15" baseline="-24154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950" spc="350" dirty="0">
                <a:solidFill>
                  <a:srgbClr val="FF00FF"/>
                </a:solidFill>
                <a:latin typeface="Times New Roman"/>
                <a:cs typeface="Times New Roman"/>
              </a:rPr>
              <a:t>(mx</a:t>
            </a:r>
            <a:r>
              <a:rPr sz="1725" spc="525" baseline="-24154" dirty="0">
                <a:solidFill>
                  <a:srgbClr val="FF00FF"/>
                </a:solidFill>
                <a:latin typeface="Times New Roman"/>
                <a:cs typeface="Times New Roman"/>
              </a:rPr>
              <a:t>2</a:t>
            </a:r>
            <a:r>
              <a:rPr sz="1725" spc="37" baseline="-24154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950" spc="335" dirty="0">
                <a:solidFill>
                  <a:srgbClr val="FF00FF"/>
                </a:solidFill>
                <a:latin typeface="Times New Roman"/>
                <a:cs typeface="Times New Roman"/>
              </a:rPr>
              <a:t>+b)+(mx</a:t>
            </a:r>
            <a:r>
              <a:rPr sz="1725" spc="502" baseline="-24154" dirty="0">
                <a:solidFill>
                  <a:srgbClr val="FF00FF"/>
                </a:solidFill>
                <a:latin typeface="Times New Roman"/>
                <a:cs typeface="Times New Roman"/>
              </a:rPr>
              <a:t>2</a:t>
            </a:r>
            <a:r>
              <a:rPr sz="1725" spc="37" baseline="-24154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950" spc="315" dirty="0">
                <a:solidFill>
                  <a:srgbClr val="FF00FF"/>
                </a:solidFill>
                <a:latin typeface="Times New Roman"/>
                <a:cs typeface="Times New Roman"/>
              </a:rPr>
              <a:t>+b)</a:t>
            </a:r>
            <a:endParaRPr sz="19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sz="1950" spc="200" dirty="0">
                <a:latin typeface="Symbol"/>
                <a:cs typeface="Symbol"/>
              </a:rPr>
              <a:t></a:t>
            </a:r>
            <a:r>
              <a:rPr sz="1950" spc="200" dirty="0">
                <a:latin typeface="Times New Roman"/>
                <a:cs typeface="Times New Roman"/>
              </a:rPr>
              <a:t>....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71600" y="3155950"/>
            <a:ext cx="6475730" cy="1412875"/>
          </a:xfrm>
          <a:custGeom>
            <a:avLst/>
            <a:gdLst/>
            <a:ahLst/>
            <a:cxnLst/>
            <a:rect l="l" t="t" r="r" b="b"/>
            <a:pathLst>
              <a:path w="6475730" h="1412875">
                <a:moveTo>
                  <a:pt x="6475476" y="0"/>
                </a:moveTo>
                <a:lnTo>
                  <a:pt x="0" y="0"/>
                </a:lnTo>
                <a:lnTo>
                  <a:pt x="0" y="1412875"/>
                </a:lnTo>
                <a:lnTo>
                  <a:pt x="6475476" y="1412875"/>
                </a:lnTo>
                <a:lnTo>
                  <a:pt x="64754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706774" y="3522867"/>
            <a:ext cx="12763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000" spc="400" dirty="0">
                <a:solidFill>
                  <a:srgbClr val="FF00FF"/>
                </a:solidFill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5575593" y="3680293"/>
            <a:ext cx="12763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000" spc="400" dirty="0">
                <a:solidFill>
                  <a:srgbClr val="FF00FF"/>
                </a:solidFill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70092" y="3680293"/>
            <a:ext cx="12763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000" spc="400" dirty="0">
                <a:solidFill>
                  <a:srgbClr val="FF00FF"/>
                </a:solidFill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87890" y="4383149"/>
            <a:ext cx="12763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000" spc="40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51443" y="3154499"/>
            <a:ext cx="242570" cy="339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25"/>
              </a:spcBef>
            </a:pPr>
            <a:r>
              <a:rPr sz="1000" spc="400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r>
              <a:rPr sz="1000" spc="400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03428" y="3311926"/>
            <a:ext cx="12763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000" spc="400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21273" y="4383149"/>
            <a:ext cx="12763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000" spc="40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92524" y="3161680"/>
            <a:ext cx="4109085" cy="332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1650"/>
              </a:lnSpc>
              <a:spcBef>
                <a:spcPts val="105"/>
              </a:spcBef>
              <a:tabLst>
                <a:tab pos="1559560" algn="l"/>
              </a:tabLst>
            </a:pPr>
            <a:r>
              <a:rPr sz="1750" spc="760" dirty="0">
                <a:latin typeface="Times New Roman"/>
                <a:cs typeface="Times New Roman"/>
              </a:rPr>
              <a:t>=</a:t>
            </a:r>
            <a:r>
              <a:rPr sz="1750" spc="330" dirty="0">
                <a:latin typeface="Times New Roman"/>
                <a:cs typeface="Times New Roman"/>
              </a:rPr>
              <a:t> </a:t>
            </a:r>
            <a:r>
              <a:rPr sz="1750" spc="670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1750" spc="3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500" spc="600" baseline="4444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1500" spc="135" baseline="4444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50" spc="445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50" spc="2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50" spc="670" dirty="0">
                <a:solidFill>
                  <a:srgbClr val="0000FF"/>
                </a:solidFill>
                <a:latin typeface="Times New Roman"/>
                <a:cs typeface="Times New Roman"/>
              </a:rPr>
              <a:t>2x	y</a:t>
            </a:r>
            <a:r>
              <a:rPr sz="1750" spc="3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50" spc="104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1750" spc="2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50" spc="445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50" spc="2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50" spc="670" dirty="0">
                <a:solidFill>
                  <a:srgbClr val="0000FF"/>
                </a:solidFill>
                <a:latin typeface="Times New Roman"/>
                <a:cs typeface="Times New Roman"/>
              </a:rPr>
              <a:t>2y</a:t>
            </a:r>
            <a:r>
              <a:rPr sz="1750" spc="38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50" spc="745" dirty="0">
                <a:solidFill>
                  <a:srgbClr val="0000FF"/>
                </a:solidFill>
                <a:latin typeface="Times New Roman"/>
                <a:cs typeface="Times New Roman"/>
              </a:rPr>
              <a:t>b+m</a:t>
            </a:r>
            <a:r>
              <a:rPr sz="1500" spc="1117" baseline="4444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1500" spc="-104" baseline="4444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50" spc="670" dirty="0">
                <a:solidFill>
                  <a:srgbClr val="0000FF"/>
                </a:solidFill>
                <a:latin typeface="Times New Roman"/>
                <a:cs typeface="Times New Roman"/>
              </a:rPr>
              <a:t>x</a:t>
            </a:r>
            <a:endParaRPr sz="1750">
              <a:latin typeface="Times New Roman"/>
              <a:cs typeface="Times New Roman"/>
            </a:endParaRPr>
          </a:p>
          <a:p>
            <a:pPr marL="542925">
              <a:lnSpc>
                <a:spcPts val="750"/>
              </a:lnSpc>
              <a:tabLst>
                <a:tab pos="1430655" algn="l"/>
                <a:tab pos="1744980" algn="l"/>
                <a:tab pos="2863850" algn="l"/>
              </a:tabLst>
            </a:pPr>
            <a:r>
              <a:rPr sz="1000" spc="400" dirty="0">
                <a:solidFill>
                  <a:srgbClr val="0000FF"/>
                </a:solidFill>
                <a:latin typeface="Times New Roman"/>
                <a:cs typeface="Times New Roman"/>
              </a:rPr>
              <a:t>1	1	1	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04579" y="4232895"/>
            <a:ext cx="2853690" cy="332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2245">
              <a:lnSpc>
                <a:spcPts val="1650"/>
              </a:lnSpc>
              <a:spcBef>
                <a:spcPts val="105"/>
              </a:spcBef>
              <a:tabLst>
                <a:tab pos="539115" algn="l"/>
                <a:tab pos="1713230" algn="l"/>
              </a:tabLst>
            </a:pPr>
            <a:r>
              <a:rPr sz="1750" spc="670" dirty="0">
                <a:solidFill>
                  <a:srgbClr val="FF0000"/>
                </a:solidFill>
                <a:latin typeface="Times New Roman"/>
                <a:cs typeface="Times New Roman"/>
              </a:rPr>
              <a:t>y	</a:t>
            </a:r>
            <a:r>
              <a:rPr sz="1750" spc="1045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1750" spc="2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spc="445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1750" spc="2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spc="670" dirty="0">
                <a:solidFill>
                  <a:srgbClr val="FF0000"/>
                </a:solidFill>
                <a:latin typeface="Times New Roman"/>
                <a:cs typeface="Times New Roman"/>
              </a:rPr>
              <a:t>2y	</a:t>
            </a:r>
            <a:r>
              <a:rPr sz="1750" spc="745" dirty="0">
                <a:solidFill>
                  <a:srgbClr val="FF0000"/>
                </a:solidFill>
                <a:latin typeface="Times New Roman"/>
                <a:cs typeface="Times New Roman"/>
              </a:rPr>
              <a:t>b+m</a:t>
            </a:r>
            <a:r>
              <a:rPr sz="1500" spc="1117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1500" spc="-97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spc="67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sz="1750">
              <a:latin typeface="Times New Roman"/>
              <a:cs typeface="Times New Roman"/>
            </a:endParaRPr>
          </a:p>
          <a:p>
            <a:pPr marL="25400">
              <a:lnSpc>
                <a:spcPts val="750"/>
              </a:lnSpc>
              <a:tabLst>
                <a:tab pos="394335" algn="l"/>
                <a:tab pos="1567815" algn="l"/>
              </a:tabLst>
            </a:pPr>
            <a:r>
              <a:rPr sz="1000" spc="400" dirty="0">
                <a:solidFill>
                  <a:srgbClr val="FF0000"/>
                </a:solidFill>
                <a:latin typeface="Times New Roman"/>
                <a:cs typeface="Times New Roman"/>
              </a:rPr>
              <a:t>n	n	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16749" y="4383149"/>
            <a:ext cx="127635" cy="181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000" i="1" spc="40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37202" y="4232895"/>
            <a:ext cx="199898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1216025" algn="l"/>
              </a:tabLst>
            </a:pPr>
            <a:r>
              <a:rPr sz="1500" spc="600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1500" spc="217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spc="780" dirty="0">
                <a:solidFill>
                  <a:srgbClr val="FF0000"/>
                </a:solidFill>
                <a:latin typeface="Times New Roman"/>
                <a:cs typeface="Times New Roman"/>
              </a:rPr>
              <a:t>+2</a:t>
            </a:r>
            <a:r>
              <a:rPr sz="1750" i="1" spc="780" dirty="0">
                <a:solidFill>
                  <a:srgbClr val="FF0000"/>
                </a:solidFill>
                <a:latin typeface="Times New Roman"/>
                <a:cs typeface="Times New Roman"/>
              </a:rPr>
              <a:t>mx	</a:t>
            </a:r>
            <a:r>
              <a:rPr sz="1750" spc="650" dirty="0">
                <a:solidFill>
                  <a:srgbClr val="FF0000"/>
                </a:solidFill>
                <a:latin typeface="Times New Roman"/>
                <a:cs typeface="Times New Roman"/>
              </a:rPr>
              <a:t>b+b</a:t>
            </a:r>
            <a:r>
              <a:rPr sz="1500" spc="975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500" baseline="44444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05224" y="4232895"/>
            <a:ext cx="144907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624840" algn="l"/>
              </a:tabLst>
            </a:pPr>
            <a:r>
              <a:rPr sz="1750" spc="819" dirty="0">
                <a:solidFill>
                  <a:srgbClr val="FF0000"/>
                </a:solidFill>
                <a:latin typeface="Symbol"/>
                <a:cs typeface="Symbol"/>
              </a:rPr>
              <a:t></a:t>
            </a:r>
            <a:r>
              <a:rPr sz="1750" spc="819" dirty="0">
                <a:solidFill>
                  <a:srgbClr val="FF0000"/>
                </a:solidFill>
                <a:latin typeface="Times New Roman"/>
                <a:cs typeface="Times New Roman"/>
              </a:rPr>
              <a:t>y	</a:t>
            </a:r>
            <a:r>
              <a:rPr sz="1500" spc="600" baseline="44444" dirty="0">
                <a:solidFill>
                  <a:srgbClr val="FF0000"/>
                </a:solidFill>
                <a:latin typeface="Times New Roman"/>
                <a:cs typeface="Times New Roman"/>
              </a:rPr>
              <a:t>2 </a:t>
            </a:r>
            <a:r>
              <a:rPr sz="1750" spc="445" dirty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1750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spc="670" dirty="0">
                <a:solidFill>
                  <a:srgbClr val="FF0000"/>
                </a:solidFill>
                <a:latin typeface="Times New Roman"/>
                <a:cs typeface="Times New Roman"/>
              </a:rPr>
              <a:t>2x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01261" y="3530048"/>
            <a:ext cx="1885314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3690" indent="-288925">
              <a:lnSpc>
                <a:spcPct val="100000"/>
              </a:lnSpc>
              <a:spcBef>
                <a:spcPts val="105"/>
              </a:spcBef>
              <a:buFont typeface="Symbol"/>
              <a:buChar char=""/>
              <a:tabLst>
                <a:tab pos="314325" algn="l"/>
                <a:tab pos="1102995" algn="l"/>
              </a:tabLst>
            </a:pPr>
            <a:r>
              <a:rPr sz="1750" spc="755" dirty="0">
                <a:solidFill>
                  <a:srgbClr val="FF00FF"/>
                </a:solidFill>
                <a:latin typeface="Times New Roman"/>
                <a:cs typeface="Times New Roman"/>
              </a:rPr>
              <a:t>2</a:t>
            </a:r>
            <a:r>
              <a:rPr sz="1750" i="1" spc="755" dirty="0">
                <a:solidFill>
                  <a:srgbClr val="FF00FF"/>
                </a:solidFill>
                <a:latin typeface="Times New Roman"/>
                <a:cs typeface="Times New Roman"/>
              </a:rPr>
              <a:t>mx	</a:t>
            </a:r>
            <a:r>
              <a:rPr sz="1750" spc="650" dirty="0">
                <a:solidFill>
                  <a:srgbClr val="FF00FF"/>
                </a:solidFill>
                <a:latin typeface="Times New Roman"/>
                <a:cs typeface="Times New Roman"/>
              </a:rPr>
              <a:t>b+b</a:t>
            </a:r>
            <a:r>
              <a:rPr sz="1500" spc="975" baseline="44444" dirty="0">
                <a:solidFill>
                  <a:srgbClr val="FF00FF"/>
                </a:solidFill>
                <a:latin typeface="Times New Roman"/>
                <a:cs typeface="Times New Roman"/>
              </a:rPr>
              <a:t>2</a:t>
            </a:r>
            <a:endParaRPr sz="1500" baseline="44444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60463" y="3161680"/>
            <a:ext cx="184277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2420" indent="-287655">
              <a:lnSpc>
                <a:spcPct val="100000"/>
              </a:lnSpc>
              <a:spcBef>
                <a:spcPts val="105"/>
              </a:spcBef>
              <a:buFont typeface="Symbol"/>
              <a:buChar char=""/>
              <a:tabLst>
                <a:tab pos="313055" algn="l"/>
              </a:tabLst>
            </a:pPr>
            <a:r>
              <a:rPr sz="1750" spc="760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sz="1750" i="1" spc="760" dirty="0">
                <a:solidFill>
                  <a:srgbClr val="0000FF"/>
                </a:solidFill>
                <a:latin typeface="Times New Roman"/>
                <a:cs typeface="Times New Roman"/>
              </a:rPr>
              <a:t>mx</a:t>
            </a:r>
            <a:r>
              <a:rPr sz="1750" i="1" spc="1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50" spc="655" dirty="0">
                <a:solidFill>
                  <a:srgbClr val="0000FF"/>
                </a:solidFill>
                <a:latin typeface="Times New Roman"/>
                <a:cs typeface="Times New Roman"/>
              </a:rPr>
              <a:t>b+b</a:t>
            </a:r>
            <a:r>
              <a:rPr sz="1500" spc="982" baseline="44444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500" baseline="44444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79824" y="3530048"/>
            <a:ext cx="4232910" cy="6330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1650"/>
              </a:lnSpc>
              <a:spcBef>
                <a:spcPts val="105"/>
              </a:spcBef>
              <a:tabLst>
                <a:tab pos="638810" algn="l"/>
                <a:tab pos="1584960" algn="l"/>
                <a:tab pos="1929764" algn="l"/>
                <a:tab pos="3091815" algn="l"/>
              </a:tabLst>
            </a:pPr>
            <a:r>
              <a:rPr sz="1750" spc="819" dirty="0">
                <a:latin typeface="Symbol"/>
                <a:cs typeface="Symbol"/>
              </a:rPr>
              <a:t></a:t>
            </a:r>
            <a:r>
              <a:rPr sz="1750" spc="819" dirty="0">
                <a:latin typeface="Times New Roman"/>
                <a:cs typeface="Times New Roman"/>
              </a:rPr>
              <a:t>y	</a:t>
            </a:r>
            <a:r>
              <a:rPr sz="1500" spc="600" baseline="44444" dirty="0">
                <a:solidFill>
                  <a:srgbClr val="FF00FF"/>
                </a:solidFill>
                <a:latin typeface="Times New Roman"/>
                <a:cs typeface="Times New Roman"/>
              </a:rPr>
              <a:t>2</a:t>
            </a:r>
            <a:r>
              <a:rPr sz="1500" spc="135" baseline="44444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750" spc="445" dirty="0">
                <a:solidFill>
                  <a:srgbClr val="FF00FF"/>
                </a:solidFill>
                <a:latin typeface="Times New Roman"/>
                <a:cs typeface="Times New Roman"/>
              </a:rPr>
              <a:t>-</a:t>
            </a:r>
            <a:r>
              <a:rPr sz="1750" spc="275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750" spc="670" dirty="0">
                <a:solidFill>
                  <a:srgbClr val="FF00FF"/>
                </a:solidFill>
                <a:latin typeface="Times New Roman"/>
                <a:cs typeface="Times New Roman"/>
              </a:rPr>
              <a:t>2x	y	</a:t>
            </a:r>
            <a:r>
              <a:rPr sz="1750" spc="1045" dirty="0">
                <a:solidFill>
                  <a:srgbClr val="FF00FF"/>
                </a:solidFill>
                <a:latin typeface="Times New Roman"/>
                <a:cs typeface="Times New Roman"/>
              </a:rPr>
              <a:t>m</a:t>
            </a:r>
            <a:r>
              <a:rPr sz="1750" spc="295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750" spc="445" dirty="0">
                <a:solidFill>
                  <a:srgbClr val="FF00FF"/>
                </a:solidFill>
                <a:latin typeface="Times New Roman"/>
                <a:cs typeface="Times New Roman"/>
              </a:rPr>
              <a:t>-</a:t>
            </a:r>
            <a:r>
              <a:rPr sz="1750" spc="275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750" spc="670" dirty="0">
                <a:solidFill>
                  <a:srgbClr val="FF00FF"/>
                </a:solidFill>
                <a:latin typeface="Times New Roman"/>
                <a:cs typeface="Times New Roman"/>
              </a:rPr>
              <a:t>2y	</a:t>
            </a:r>
            <a:r>
              <a:rPr sz="1750" spc="750" dirty="0">
                <a:solidFill>
                  <a:srgbClr val="FF00FF"/>
                </a:solidFill>
                <a:latin typeface="Times New Roman"/>
                <a:cs typeface="Times New Roman"/>
              </a:rPr>
              <a:t>b+m</a:t>
            </a:r>
            <a:r>
              <a:rPr sz="1500" spc="1125" baseline="44444" dirty="0">
                <a:solidFill>
                  <a:srgbClr val="FF00FF"/>
                </a:solidFill>
                <a:latin typeface="Times New Roman"/>
                <a:cs typeface="Times New Roman"/>
              </a:rPr>
              <a:t>2</a:t>
            </a:r>
            <a:r>
              <a:rPr sz="1500" spc="-120" baseline="44444" dirty="0">
                <a:solidFill>
                  <a:srgbClr val="FF00FF"/>
                </a:solidFill>
                <a:latin typeface="Times New Roman"/>
                <a:cs typeface="Times New Roman"/>
              </a:rPr>
              <a:t> </a:t>
            </a:r>
            <a:r>
              <a:rPr sz="1750" spc="670" dirty="0">
                <a:solidFill>
                  <a:srgbClr val="FF00FF"/>
                </a:solidFill>
                <a:latin typeface="Times New Roman"/>
                <a:cs typeface="Times New Roman"/>
              </a:rPr>
              <a:t>x</a:t>
            </a:r>
            <a:endParaRPr sz="1750">
              <a:latin typeface="Times New Roman"/>
              <a:cs typeface="Times New Roman"/>
            </a:endParaRPr>
          </a:p>
          <a:p>
            <a:pPr marL="508000">
              <a:lnSpc>
                <a:spcPts val="750"/>
              </a:lnSpc>
              <a:tabLst>
                <a:tab pos="1438275" algn="l"/>
                <a:tab pos="1796414" algn="l"/>
                <a:tab pos="2957830" algn="l"/>
              </a:tabLst>
            </a:pPr>
            <a:r>
              <a:rPr sz="1000" spc="400" dirty="0">
                <a:solidFill>
                  <a:srgbClr val="FF00FF"/>
                </a:solidFill>
                <a:latin typeface="Times New Roman"/>
                <a:cs typeface="Times New Roman"/>
              </a:rPr>
              <a:t>2	2	2	2</a:t>
            </a:r>
            <a:endParaRPr sz="10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70"/>
              </a:spcBef>
            </a:pPr>
            <a:r>
              <a:rPr sz="1750" spc="400" dirty="0">
                <a:latin typeface="Symbol"/>
                <a:cs typeface="Symbol"/>
              </a:rPr>
              <a:t></a:t>
            </a:r>
            <a:r>
              <a:rPr sz="1750" spc="400" dirty="0">
                <a:latin typeface="Times New Roman"/>
                <a:cs typeface="Times New Roman"/>
              </a:rPr>
              <a:t>.....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4726" y="757301"/>
            <a:ext cx="4743450" cy="2786380"/>
          </a:xfrm>
          <a:custGeom>
            <a:avLst/>
            <a:gdLst/>
            <a:ahLst/>
            <a:cxnLst/>
            <a:rect l="l" t="t" r="r" b="b"/>
            <a:pathLst>
              <a:path w="4743450" h="2786379">
                <a:moveTo>
                  <a:pt x="4743450" y="0"/>
                </a:moveTo>
                <a:lnTo>
                  <a:pt x="0" y="0"/>
                </a:lnTo>
                <a:lnTo>
                  <a:pt x="0" y="2785999"/>
                </a:lnTo>
                <a:lnTo>
                  <a:pt x="4743450" y="2785999"/>
                </a:lnTo>
                <a:lnTo>
                  <a:pt x="4743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47632" y="966229"/>
            <a:ext cx="2469515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856615" algn="l"/>
                <a:tab pos="2339975" algn="l"/>
              </a:tabLst>
            </a:pPr>
            <a:r>
              <a:rPr sz="1350" spc="240" dirty="0">
                <a:latin typeface="Times New Roman"/>
                <a:cs typeface="Times New Roman"/>
              </a:rPr>
              <a:t>1	2	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46731" y="2370623"/>
            <a:ext cx="2034539" cy="234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731520" algn="l"/>
                <a:tab pos="1904364" algn="l"/>
              </a:tabLst>
            </a:pPr>
            <a:r>
              <a:rPr sz="1350" spc="240" dirty="0">
                <a:latin typeface="Times New Roman"/>
                <a:cs typeface="Times New Roman"/>
              </a:rPr>
              <a:t>1	2	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6088" y="631116"/>
            <a:ext cx="35560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350" spc="240" dirty="0">
                <a:latin typeface="Times New Roman"/>
                <a:cs typeface="Times New Roman"/>
              </a:rPr>
              <a:t>2</a:t>
            </a:r>
            <a:r>
              <a:rPr sz="1350" spc="-60" dirty="0">
                <a:latin typeface="Times New Roman"/>
                <a:cs typeface="Times New Roman"/>
              </a:rPr>
              <a:t> </a:t>
            </a:r>
            <a:r>
              <a:rPr sz="3525" spc="390" baseline="-24822" dirty="0">
                <a:latin typeface="Times New Roman"/>
                <a:cs typeface="Times New Roman"/>
              </a:rPr>
              <a:t>)</a:t>
            </a:r>
            <a:endParaRPr sz="3525" baseline="-24822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6516" y="2169352"/>
            <a:ext cx="300863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944370" algn="l"/>
              </a:tabLst>
            </a:pPr>
            <a:r>
              <a:rPr sz="2350" spc="470" dirty="0">
                <a:latin typeface="Times New Roman"/>
                <a:cs typeface="Times New Roman"/>
              </a:rPr>
              <a:t>+m</a:t>
            </a:r>
            <a:r>
              <a:rPr sz="2025" spc="705" baseline="43209" dirty="0">
                <a:latin typeface="Times New Roman"/>
                <a:cs typeface="Times New Roman"/>
              </a:rPr>
              <a:t>2 </a:t>
            </a:r>
            <a:r>
              <a:rPr sz="2350" spc="315" dirty="0">
                <a:latin typeface="Times New Roman"/>
                <a:cs typeface="Times New Roman"/>
              </a:rPr>
              <a:t>(x</a:t>
            </a:r>
            <a:r>
              <a:rPr sz="2350" spc="-130" dirty="0">
                <a:latin typeface="Times New Roman"/>
                <a:cs typeface="Times New Roman"/>
              </a:rPr>
              <a:t> </a:t>
            </a:r>
            <a:r>
              <a:rPr sz="2025" spc="359" baseline="43209" dirty="0">
                <a:latin typeface="Times New Roman"/>
                <a:cs typeface="Times New Roman"/>
              </a:rPr>
              <a:t>2</a:t>
            </a:r>
            <a:r>
              <a:rPr sz="2025" spc="82" baseline="43209" dirty="0">
                <a:latin typeface="Times New Roman"/>
                <a:cs typeface="Times New Roman"/>
              </a:rPr>
              <a:t> </a:t>
            </a:r>
            <a:r>
              <a:rPr sz="2350" spc="409" dirty="0">
                <a:latin typeface="Times New Roman"/>
                <a:cs typeface="Times New Roman"/>
              </a:rPr>
              <a:t>+x	</a:t>
            </a:r>
            <a:r>
              <a:rPr sz="2025" spc="359" baseline="43209" dirty="0">
                <a:latin typeface="Times New Roman"/>
                <a:cs typeface="Times New Roman"/>
              </a:rPr>
              <a:t>2</a:t>
            </a:r>
            <a:r>
              <a:rPr sz="2025" spc="7" baseline="43209" dirty="0">
                <a:latin typeface="Times New Roman"/>
                <a:cs typeface="Times New Roman"/>
              </a:rPr>
              <a:t> </a:t>
            </a:r>
            <a:r>
              <a:rPr sz="2350" spc="330" dirty="0">
                <a:latin typeface="Times New Roman"/>
                <a:cs typeface="Times New Roman"/>
              </a:rPr>
              <a:t>+..+x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69899" y="2035559"/>
            <a:ext cx="356870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350" spc="240" dirty="0">
                <a:latin typeface="Times New Roman"/>
                <a:cs typeface="Times New Roman"/>
              </a:rPr>
              <a:t>2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3525" spc="390" baseline="-24822" dirty="0">
                <a:latin typeface="Times New Roman"/>
                <a:cs typeface="Times New Roman"/>
              </a:rPr>
              <a:t>)</a:t>
            </a:r>
            <a:endParaRPr sz="3525" baseline="-24822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79216" y="764983"/>
            <a:ext cx="2930525" cy="38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1557020" algn="l"/>
              </a:tabLst>
            </a:pPr>
            <a:r>
              <a:rPr sz="2350" b="0" spc="355" dirty="0">
                <a:solidFill>
                  <a:srgbClr val="000000"/>
                </a:solidFill>
                <a:latin typeface="Times New Roman"/>
                <a:cs typeface="Times New Roman"/>
              </a:rPr>
              <a:t>=(y </a:t>
            </a:r>
            <a:r>
              <a:rPr sz="2025" b="0" spc="359" baseline="43209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2025" b="0" spc="569" baseline="432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50" b="0" spc="434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350" b="0" spc="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50" b="0" spc="395" dirty="0">
                <a:solidFill>
                  <a:srgbClr val="000000"/>
                </a:solidFill>
                <a:latin typeface="Times New Roman"/>
                <a:cs typeface="Times New Roman"/>
              </a:rPr>
              <a:t>y	</a:t>
            </a:r>
            <a:r>
              <a:rPr sz="2025" b="0" spc="359" baseline="43209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2025" b="0" spc="705" baseline="432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50" b="0" spc="434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350" b="0" spc="-2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50" b="0" spc="195" dirty="0">
                <a:solidFill>
                  <a:srgbClr val="000000"/>
                </a:solidFill>
                <a:latin typeface="Times New Roman"/>
                <a:cs typeface="Times New Roman"/>
              </a:rPr>
              <a:t>...</a:t>
            </a:r>
            <a:r>
              <a:rPr sz="2350" b="0" spc="-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50" b="0" spc="434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2350" b="0" spc="5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50" b="0" spc="395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9216" y="1123828"/>
            <a:ext cx="4668520" cy="93599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860"/>
              </a:spcBef>
            </a:pPr>
            <a:r>
              <a:rPr sz="2350" spc="490" dirty="0">
                <a:latin typeface="Symbol"/>
                <a:cs typeface="Symbol"/>
              </a:rPr>
              <a:t></a:t>
            </a:r>
            <a:r>
              <a:rPr sz="2350" spc="490" dirty="0">
                <a:latin typeface="Times New Roman"/>
                <a:cs typeface="Times New Roman"/>
              </a:rPr>
              <a:t>2m</a:t>
            </a:r>
            <a:r>
              <a:rPr sz="2350" spc="135" dirty="0">
                <a:latin typeface="Times New Roman"/>
                <a:cs typeface="Times New Roman"/>
              </a:rPr>
              <a:t> </a:t>
            </a:r>
            <a:r>
              <a:rPr sz="2350" spc="310" dirty="0">
                <a:latin typeface="Times New Roman"/>
                <a:cs typeface="Times New Roman"/>
              </a:rPr>
              <a:t>(x</a:t>
            </a:r>
            <a:r>
              <a:rPr sz="2025" spc="465" baseline="-24691" dirty="0">
                <a:latin typeface="Times New Roman"/>
                <a:cs typeface="Times New Roman"/>
              </a:rPr>
              <a:t>1</a:t>
            </a:r>
            <a:r>
              <a:rPr sz="2350" spc="310" dirty="0">
                <a:latin typeface="Times New Roman"/>
                <a:cs typeface="Times New Roman"/>
              </a:rPr>
              <a:t>y</a:t>
            </a:r>
            <a:r>
              <a:rPr sz="2025" spc="465" baseline="-24691" dirty="0">
                <a:latin typeface="Times New Roman"/>
                <a:cs typeface="Times New Roman"/>
              </a:rPr>
              <a:t>1</a:t>
            </a:r>
            <a:r>
              <a:rPr sz="2025" spc="517" baseline="-24691" dirty="0">
                <a:latin typeface="Times New Roman"/>
                <a:cs typeface="Times New Roman"/>
              </a:rPr>
              <a:t> </a:t>
            </a:r>
            <a:r>
              <a:rPr sz="2350" spc="434" dirty="0">
                <a:latin typeface="Symbol"/>
                <a:cs typeface="Symbol"/>
              </a:rPr>
              <a:t></a:t>
            </a:r>
            <a:r>
              <a:rPr sz="2350" spc="25" dirty="0">
                <a:latin typeface="Times New Roman"/>
                <a:cs typeface="Times New Roman"/>
              </a:rPr>
              <a:t> </a:t>
            </a:r>
            <a:r>
              <a:rPr sz="2350" spc="430" dirty="0">
                <a:latin typeface="Times New Roman"/>
                <a:cs typeface="Times New Roman"/>
              </a:rPr>
              <a:t>x</a:t>
            </a:r>
            <a:r>
              <a:rPr sz="2025" spc="644" baseline="-24691" dirty="0">
                <a:latin typeface="Times New Roman"/>
                <a:cs typeface="Times New Roman"/>
              </a:rPr>
              <a:t>2</a:t>
            </a:r>
            <a:r>
              <a:rPr sz="2025" spc="-165" baseline="-24691" dirty="0">
                <a:latin typeface="Times New Roman"/>
                <a:cs typeface="Times New Roman"/>
              </a:rPr>
              <a:t> </a:t>
            </a:r>
            <a:r>
              <a:rPr sz="2350" spc="380" dirty="0">
                <a:latin typeface="Times New Roman"/>
                <a:cs typeface="Times New Roman"/>
              </a:rPr>
              <a:t>y</a:t>
            </a:r>
            <a:r>
              <a:rPr sz="2025" spc="569" baseline="-24691" dirty="0">
                <a:latin typeface="Times New Roman"/>
                <a:cs typeface="Times New Roman"/>
              </a:rPr>
              <a:t>2</a:t>
            </a:r>
            <a:r>
              <a:rPr sz="2025" spc="719" baseline="-24691" dirty="0">
                <a:latin typeface="Times New Roman"/>
                <a:cs typeface="Times New Roman"/>
              </a:rPr>
              <a:t> </a:t>
            </a:r>
            <a:r>
              <a:rPr sz="2350" spc="434" dirty="0">
                <a:latin typeface="Symbol"/>
                <a:cs typeface="Symbol"/>
              </a:rPr>
              <a:t></a:t>
            </a:r>
            <a:r>
              <a:rPr sz="2350" spc="-220" dirty="0">
                <a:latin typeface="Times New Roman"/>
                <a:cs typeface="Times New Roman"/>
              </a:rPr>
              <a:t> </a:t>
            </a:r>
            <a:r>
              <a:rPr sz="2350" spc="195" dirty="0">
                <a:latin typeface="Times New Roman"/>
                <a:cs typeface="Times New Roman"/>
              </a:rPr>
              <a:t>...</a:t>
            </a:r>
            <a:r>
              <a:rPr sz="2350" spc="-254" dirty="0">
                <a:latin typeface="Times New Roman"/>
                <a:cs typeface="Times New Roman"/>
              </a:rPr>
              <a:t> </a:t>
            </a:r>
            <a:r>
              <a:rPr sz="2350" spc="434" dirty="0">
                <a:latin typeface="Symbol"/>
                <a:cs typeface="Symbol"/>
              </a:rPr>
              <a:t></a:t>
            </a:r>
            <a:r>
              <a:rPr sz="2350" spc="30" dirty="0">
                <a:latin typeface="Times New Roman"/>
                <a:cs typeface="Times New Roman"/>
              </a:rPr>
              <a:t> </a:t>
            </a:r>
            <a:r>
              <a:rPr sz="2350" spc="430" dirty="0">
                <a:latin typeface="Times New Roman"/>
                <a:cs typeface="Times New Roman"/>
              </a:rPr>
              <a:t>x</a:t>
            </a:r>
            <a:r>
              <a:rPr sz="2025" spc="644" baseline="-24691" dirty="0">
                <a:latin typeface="Times New Roman"/>
                <a:cs typeface="Times New Roman"/>
              </a:rPr>
              <a:t>n</a:t>
            </a:r>
            <a:r>
              <a:rPr sz="2025" spc="-30" baseline="-24691" dirty="0">
                <a:latin typeface="Times New Roman"/>
                <a:cs typeface="Times New Roman"/>
              </a:rPr>
              <a:t> </a:t>
            </a:r>
            <a:r>
              <a:rPr sz="2350" spc="380" dirty="0">
                <a:latin typeface="Times New Roman"/>
                <a:cs typeface="Times New Roman"/>
              </a:rPr>
              <a:t>y</a:t>
            </a:r>
            <a:r>
              <a:rPr sz="2025" spc="569" baseline="-24691" dirty="0">
                <a:latin typeface="Times New Roman"/>
                <a:cs typeface="Times New Roman"/>
              </a:rPr>
              <a:t>n</a:t>
            </a:r>
            <a:r>
              <a:rPr sz="2025" spc="120" baseline="-24691" dirty="0">
                <a:latin typeface="Times New Roman"/>
                <a:cs typeface="Times New Roman"/>
              </a:rPr>
              <a:t> </a:t>
            </a:r>
            <a:r>
              <a:rPr sz="2350" spc="260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765"/>
              </a:spcBef>
            </a:pPr>
            <a:r>
              <a:rPr sz="2350" spc="340" dirty="0">
                <a:latin typeface="Symbol"/>
                <a:cs typeface="Symbol"/>
              </a:rPr>
              <a:t></a:t>
            </a:r>
            <a:r>
              <a:rPr sz="2350" spc="340" dirty="0">
                <a:latin typeface="Times New Roman"/>
                <a:cs typeface="Times New Roman"/>
              </a:rPr>
              <a:t>2b(y</a:t>
            </a:r>
            <a:r>
              <a:rPr sz="2025" spc="509" baseline="-24691" dirty="0">
                <a:latin typeface="Times New Roman"/>
                <a:cs typeface="Times New Roman"/>
              </a:rPr>
              <a:t>1</a:t>
            </a:r>
            <a:r>
              <a:rPr sz="2025" spc="-142" baseline="-24691" dirty="0">
                <a:latin typeface="Times New Roman"/>
                <a:cs typeface="Times New Roman"/>
              </a:rPr>
              <a:t> </a:t>
            </a:r>
            <a:r>
              <a:rPr sz="2350" spc="395" dirty="0">
                <a:latin typeface="Times New Roman"/>
                <a:cs typeface="Times New Roman"/>
              </a:rPr>
              <a:t>+y</a:t>
            </a:r>
            <a:r>
              <a:rPr sz="2025" spc="592" baseline="-24691" dirty="0">
                <a:latin typeface="Times New Roman"/>
                <a:cs typeface="Times New Roman"/>
              </a:rPr>
              <a:t>2</a:t>
            </a:r>
            <a:r>
              <a:rPr sz="2025" spc="60" baseline="-24691" dirty="0">
                <a:latin typeface="Times New Roman"/>
                <a:cs typeface="Times New Roman"/>
              </a:rPr>
              <a:t> </a:t>
            </a:r>
            <a:r>
              <a:rPr sz="2350" spc="300" dirty="0">
                <a:latin typeface="Times New Roman"/>
                <a:cs typeface="Times New Roman"/>
              </a:rPr>
              <a:t>+....+y</a:t>
            </a:r>
            <a:r>
              <a:rPr sz="2025" spc="450" baseline="-24691" dirty="0">
                <a:latin typeface="Times New Roman"/>
                <a:cs typeface="Times New Roman"/>
              </a:rPr>
              <a:t>n</a:t>
            </a:r>
            <a:r>
              <a:rPr sz="2025" spc="127" baseline="-24691" dirty="0">
                <a:latin typeface="Times New Roman"/>
                <a:cs typeface="Times New Roman"/>
              </a:rPr>
              <a:t> </a:t>
            </a:r>
            <a:r>
              <a:rPr sz="2350" spc="260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9216" y="2489360"/>
            <a:ext cx="3264535" cy="101282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65"/>
              </a:spcBef>
            </a:pPr>
            <a:r>
              <a:rPr sz="2350" spc="380" dirty="0">
                <a:latin typeface="Times New Roman"/>
                <a:cs typeface="Times New Roman"/>
              </a:rPr>
              <a:t>+2mb(x</a:t>
            </a:r>
            <a:r>
              <a:rPr sz="2025" spc="569" baseline="-24691" dirty="0">
                <a:latin typeface="Times New Roman"/>
                <a:cs typeface="Times New Roman"/>
              </a:rPr>
              <a:t>1</a:t>
            </a:r>
            <a:r>
              <a:rPr sz="2025" spc="-157" baseline="-24691" dirty="0">
                <a:latin typeface="Times New Roman"/>
                <a:cs typeface="Times New Roman"/>
              </a:rPr>
              <a:t> </a:t>
            </a:r>
            <a:r>
              <a:rPr sz="2350" spc="430" dirty="0">
                <a:latin typeface="Times New Roman"/>
                <a:cs typeface="Times New Roman"/>
              </a:rPr>
              <a:t>+x</a:t>
            </a:r>
            <a:r>
              <a:rPr sz="2025" spc="644" baseline="-24691" dirty="0">
                <a:latin typeface="Times New Roman"/>
                <a:cs typeface="Times New Roman"/>
              </a:rPr>
              <a:t>2</a:t>
            </a:r>
            <a:r>
              <a:rPr sz="2025" spc="44" baseline="-24691" dirty="0">
                <a:latin typeface="Times New Roman"/>
                <a:cs typeface="Times New Roman"/>
              </a:rPr>
              <a:t> </a:t>
            </a:r>
            <a:r>
              <a:rPr sz="2350" spc="350" dirty="0">
                <a:latin typeface="Times New Roman"/>
                <a:cs typeface="Times New Roman"/>
              </a:rPr>
              <a:t>+..+x</a:t>
            </a:r>
            <a:r>
              <a:rPr sz="2025" spc="525" baseline="-24691" dirty="0">
                <a:latin typeface="Times New Roman"/>
                <a:cs typeface="Times New Roman"/>
              </a:rPr>
              <a:t>n</a:t>
            </a:r>
            <a:r>
              <a:rPr sz="2025" spc="89" baseline="-24691" dirty="0">
                <a:latin typeface="Times New Roman"/>
                <a:cs typeface="Times New Roman"/>
              </a:rPr>
              <a:t> </a:t>
            </a:r>
            <a:r>
              <a:rPr sz="2350" spc="260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65"/>
              </a:spcBef>
            </a:pPr>
            <a:r>
              <a:rPr sz="2350" spc="355" dirty="0">
                <a:latin typeface="Times New Roman"/>
                <a:cs typeface="Times New Roman"/>
              </a:rPr>
              <a:t>+(b</a:t>
            </a:r>
            <a:r>
              <a:rPr sz="2025" spc="532" baseline="43209" dirty="0">
                <a:latin typeface="Times New Roman"/>
                <a:cs typeface="Times New Roman"/>
              </a:rPr>
              <a:t>2</a:t>
            </a:r>
            <a:r>
              <a:rPr sz="2025" spc="719" baseline="43209" dirty="0">
                <a:latin typeface="Times New Roman"/>
                <a:cs typeface="Times New Roman"/>
              </a:rPr>
              <a:t> </a:t>
            </a:r>
            <a:r>
              <a:rPr sz="2350" spc="434" dirty="0">
                <a:latin typeface="Symbol"/>
                <a:cs typeface="Symbol"/>
              </a:rPr>
              <a:t></a:t>
            </a:r>
            <a:r>
              <a:rPr sz="2350" spc="-30" dirty="0">
                <a:latin typeface="Times New Roman"/>
                <a:cs typeface="Times New Roman"/>
              </a:rPr>
              <a:t> </a:t>
            </a:r>
            <a:r>
              <a:rPr sz="2350" spc="380" dirty="0">
                <a:latin typeface="Times New Roman"/>
                <a:cs typeface="Times New Roman"/>
              </a:rPr>
              <a:t>b</a:t>
            </a:r>
            <a:r>
              <a:rPr sz="2025" spc="569" baseline="43209" dirty="0">
                <a:latin typeface="Times New Roman"/>
                <a:cs typeface="Times New Roman"/>
              </a:rPr>
              <a:t>2</a:t>
            </a:r>
            <a:r>
              <a:rPr sz="2025" spc="719" baseline="43209" dirty="0">
                <a:latin typeface="Times New Roman"/>
                <a:cs typeface="Times New Roman"/>
              </a:rPr>
              <a:t> </a:t>
            </a:r>
            <a:r>
              <a:rPr sz="2350" spc="434" dirty="0">
                <a:latin typeface="Symbol"/>
                <a:cs typeface="Symbol"/>
              </a:rPr>
              <a:t></a:t>
            </a:r>
            <a:r>
              <a:rPr sz="2350" spc="-220" dirty="0">
                <a:latin typeface="Times New Roman"/>
                <a:cs typeface="Times New Roman"/>
              </a:rPr>
              <a:t> </a:t>
            </a:r>
            <a:r>
              <a:rPr sz="2350" spc="195" dirty="0">
                <a:latin typeface="Times New Roman"/>
                <a:cs typeface="Times New Roman"/>
              </a:rPr>
              <a:t>...</a:t>
            </a:r>
            <a:r>
              <a:rPr sz="2350" spc="-254" dirty="0">
                <a:latin typeface="Times New Roman"/>
                <a:cs typeface="Times New Roman"/>
              </a:rPr>
              <a:t> </a:t>
            </a:r>
            <a:r>
              <a:rPr sz="2350" spc="434" dirty="0">
                <a:latin typeface="Symbol"/>
                <a:cs typeface="Symbol"/>
              </a:rPr>
              <a:t>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spc="380" dirty="0">
                <a:latin typeface="Times New Roman"/>
                <a:cs typeface="Times New Roman"/>
              </a:rPr>
              <a:t>b</a:t>
            </a:r>
            <a:r>
              <a:rPr sz="2025" spc="569" baseline="43209" dirty="0">
                <a:latin typeface="Times New Roman"/>
                <a:cs typeface="Times New Roman"/>
              </a:rPr>
              <a:t>2</a:t>
            </a:r>
            <a:r>
              <a:rPr sz="2025" spc="-15" baseline="43209" dirty="0">
                <a:latin typeface="Times New Roman"/>
                <a:cs typeface="Times New Roman"/>
              </a:rPr>
              <a:t> </a:t>
            </a:r>
            <a:r>
              <a:rPr sz="2350" spc="260" dirty="0">
                <a:latin typeface="Times New Roman"/>
                <a:cs typeface="Times New Roman"/>
              </a:rPr>
              <a:t>)</a:t>
            </a:r>
            <a:endParaRPr sz="235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68412" y="3667125"/>
            <a:ext cx="6888480" cy="576580"/>
            <a:chOff x="1268412" y="3667125"/>
            <a:chExt cx="6888480" cy="576580"/>
          </a:xfrm>
        </p:grpSpPr>
        <p:sp>
          <p:nvSpPr>
            <p:cNvPr id="12" name="object 12"/>
            <p:cNvSpPr/>
            <p:nvPr/>
          </p:nvSpPr>
          <p:spPr>
            <a:xfrm>
              <a:off x="1268412" y="3667125"/>
              <a:ext cx="6888480" cy="576580"/>
            </a:xfrm>
            <a:custGeom>
              <a:avLst/>
              <a:gdLst/>
              <a:ahLst/>
              <a:cxnLst/>
              <a:rect l="l" t="t" r="r" b="b"/>
              <a:pathLst>
                <a:path w="6888480" h="576579">
                  <a:moveTo>
                    <a:pt x="6888099" y="0"/>
                  </a:moveTo>
                  <a:lnTo>
                    <a:pt x="0" y="0"/>
                  </a:lnTo>
                  <a:lnTo>
                    <a:pt x="0" y="576262"/>
                  </a:lnTo>
                  <a:lnTo>
                    <a:pt x="6888099" y="576262"/>
                  </a:lnTo>
                  <a:lnTo>
                    <a:pt x="68880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67890" y="3862608"/>
              <a:ext cx="5377180" cy="32384"/>
            </a:xfrm>
            <a:custGeom>
              <a:avLst/>
              <a:gdLst/>
              <a:ahLst/>
              <a:cxnLst/>
              <a:rect l="l" t="t" r="r" b="b"/>
              <a:pathLst>
                <a:path w="5377180" h="32385">
                  <a:moveTo>
                    <a:pt x="0" y="0"/>
                  </a:moveTo>
                  <a:lnTo>
                    <a:pt x="395389" y="0"/>
                  </a:lnTo>
                </a:path>
                <a:path w="5377180" h="32385">
                  <a:moveTo>
                    <a:pt x="1403574" y="32024"/>
                  </a:moveTo>
                  <a:lnTo>
                    <a:pt x="1975532" y="32024"/>
                  </a:lnTo>
                </a:path>
                <a:path w="5377180" h="32385">
                  <a:moveTo>
                    <a:pt x="2808645" y="32024"/>
                  </a:moveTo>
                  <a:lnTo>
                    <a:pt x="2966290" y="32024"/>
                  </a:lnTo>
                </a:path>
                <a:path w="5377180" h="32385">
                  <a:moveTo>
                    <a:pt x="3822122" y="0"/>
                  </a:moveTo>
                  <a:lnTo>
                    <a:pt x="4198643" y="0"/>
                  </a:lnTo>
                </a:path>
                <a:path w="5377180" h="32385">
                  <a:moveTo>
                    <a:pt x="5214891" y="32024"/>
                  </a:moveTo>
                  <a:lnTo>
                    <a:pt x="5376970" y="32024"/>
                  </a:lnTo>
                </a:path>
              </a:pathLst>
            </a:custGeom>
            <a:ln w="121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68412" y="3667125"/>
            <a:ext cx="6888480" cy="576580"/>
          </a:xfrm>
          <a:prstGeom prst="rect">
            <a:avLst/>
          </a:prstGeom>
        </p:spPr>
        <p:txBody>
          <a:bodyPr vert="horz" wrap="square" lIns="0" tIns="208279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639"/>
              </a:spcBef>
              <a:tabLst>
                <a:tab pos="2197735" algn="l"/>
                <a:tab pos="2795905" algn="l"/>
              </a:tabLst>
            </a:pPr>
            <a:r>
              <a:rPr sz="1950" spc="420" dirty="0">
                <a:latin typeface="Times New Roman"/>
                <a:cs typeface="Times New Roman"/>
              </a:rPr>
              <a:t>=</a:t>
            </a:r>
            <a:r>
              <a:rPr sz="1950" spc="120" dirty="0">
                <a:latin typeface="Times New Roman"/>
                <a:cs typeface="Times New Roman"/>
              </a:rPr>
              <a:t> </a:t>
            </a:r>
            <a:r>
              <a:rPr sz="1950" spc="375" dirty="0">
                <a:latin typeface="Times New Roman"/>
                <a:cs typeface="Times New Roman"/>
              </a:rPr>
              <a:t>n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spc="375" dirty="0">
                <a:latin typeface="Times New Roman"/>
                <a:cs typeface="Times New Roman"/>
              </a:rPr>
              <a:t>y</a:t>
            </a:r>
            <a:r>
              <a:rPr sz="1950" spc="350" dirty="0">
                <a:latin typeface="Times New Roman"/>
                <a:cs typeface="Times New Roman"/>
              </a:rPr>
              <a:t> </a:t>
            </a:r>
            <a:r>
              <a:rPr sz="1725" spc="315" baseline="43478" dirty="0">
                <a:latin typeface="Times New Roman"/>
                <a:cs typeface="Times New Roman"/>
              </a:rPr>
              <a:t>2</a:t>
            </a:r>
            <a:r>
              <a:rPr sz="1725" baseline="43478" dirty="0">
                <a:latin typeface="Times New Roman"/>
                <a:cs typeface="Times New Roman"/>
              </a:rPr>
              <a:t> </a:t>
            </a:r>
            <a:r>
              <a:rPr sz="1950" spc="409" dirty="0">
                <a:latin typeface="Symbol"/>
                <a:cs typeface="Symbol"/>
              </a:rPr>
              <a:t></a:t>
            </a:r>
            <a:r>
              <a:rPr sz="1950" spc="-30" dirty="0">
                <a:latin typeface="Times New Roman"/>
                <a:cs typeface="Times New Roman"/>
              </a:rPr>
              <a:t> </a:t>
            </a:r>
            <a:r>
              <a:rPr sz="1950" spc="420" dirty="0">
                <a:latin typeface="Times New Roman"/>
                <a:cs typeface="Times New Roman"/>
              </a:rPr>
              <a:t>2mn	</a:t>
            </a:r>
            <a:r>
              <a:rPr sz="1950" spc="375" dirty="0">
                <a:latin typeface="Times New Roman"/>
                <a:cs typeface="Times New Roman"/>
              </a:rPr>
              <a:t>x</a:t>
            </a:r>
            <a:r>
              <a:rPr sz="1950" spc="455" dirty="0">
                <a:latin typeface="Times New Roman"/>
                <a:cs typeface="Times New Roman"/>
              </a:rPr>
              <a:t> </a:t>
            </a:r>
            <a:r>
              <a:rPr sz="1950" spc="375" dirty="0">
                <a:latin typeface="Times New Roman"/>
                <a:cs typeface="Times New Roman"/>
              </a:rPr>
              <a:t>y	</a:t>
            </a:r>
            <a:r>
              <a:rPr sz="1950" spc="409" dirty="0">
                <a:latin typeface="Symbol"/>
                <a:cs typeface="Symbol"/>
              </a:rPr>
              <a:t></a:t>
            </a:r>
            <a:r>
              <a:rPr sz="1950" spc="-55" dirty="0">
                <a:latin typeface="Times New Roman"/>
                <a:cs typeface="Times New Roman"/>
              </a:rPr>
              <a:t> </a:t>
            </a:r>
            <a:r>
              <a:rPr sz="1950" spc="370" dirty="0">
                <a:latin typeface="Times New Roman"/>
                <a:cs typeface="Times New Roman"/>
              </a:rPr>
              <a:t>2bn</a:t>
            </a:r>
            <a:r>
              <a:rPr sz="1950" spc="-90" dirty="0">
                <a:latin typeface="Times New Roman"/>
                <a:cs typeface="Times New Roman"/>
              </a:rPr>
              <a:t> </a:t>
            </a:r>
            <a:r>
              <a:rPr sz="1950" spc="425" dirty="0">
                <a:latin typeface="Times New Roman"/>
                <a:cs typeface="Times New Roman"/>
              </a:rPr>
              <a:t>y</a:t>
            </a:r>
            <a:r>
              <a:rPr sz="1950" spc="425" dirty="0">
                <a:latin typeface="Symbol"/>
                <a:cs typeface="Symbol"/>
              </a:rPr>
              <a:t></a:t>
            </a:r>
            <a:r>
              <a:rPr sz="1950" spc="-10" dirty="0">
                <a:latin typeface="Times New Roman"/>
                <a:cs typeface="Times New Roman"/>
              </a:rPr>
              <a:t> </a:t>
            </a:r>
            <a:r>
              <a:rPr sz="1950" i="1" spc="409" dirty="0">
                <a:latin typeface="Times New Roman"/>
                <a:cs typeface="Times New Roman"/>
              </a:rPr>
              <a:t>m</a:t>
            </a:r>
            <a:r>
              <a:rPr sz="1725" spc="615" baseline="43478" dirty="0">
                <a:latin typeface="Times New Roman"/>
                <a:cs typeface="Times New Roman"/>
              </a:rPr>
              <a:t>2</a:t>
            </a:r>
            <a:r>
              <a:rPr sz="1950" i="1" spc="409" dirty="0">
                <a:latin typeface="Times New Roman"/>
                <a:cs typeface="Times New Roman"/>
              </a:rPr>
              <a:t>n</a:t>
            </a:r>
            <a:r>
              <a:rPr sz="1950" i="1" dirty="0">
                <a:latin typeface="Times New Roman"/>
                <a:cs typeface="Times New Roman"/>
              </a:rPr>
              <a:t> </a:t>
            </a:r>
            <a:r>
              <a:rPr sz="1950" i="1" spc="330" dirty="0">
                <a:latin typeface="Times New Roman"/>
                <a:cs typeface="Times New Roman"/>
              </a:rPr>
              <a:t>x</a:t>
            </a:r>
            <a:r>
              <a:rPr sz="1950" i="1" spc="260" dirty="0">
                <a:latin typeface="Times New Roman"/>
                <a:cs typeface="Times New Roman"/>
              </a:rPr>
              <a:t> </a:t>
            </a:r>
            <a:r>
              <a:rPr sz="1725" spc="315" baseline="43478" dirty="0">
                <a:latin typeface="Times New Roman"/>
                <a:cs typeface="Times New Roman"/>
              </a:rPr>
              <a:t>2</a:t>
            </a:r>
            <a:r>
              <a:rPr sz="1725" spc="322" baseline="43478" dirty="0">
                <a:latin typeface="Times New Roman"/>
                <a:cs typeface="Times New Roman"/>
              </a:rPr>
              <a:t> </a:t>
            </a:r>
            <a:r>
              <a:rPr sz="1950" spc="380" dirty="0">
                <a:latin typeface="Times New Roman"/>
                <a:cs typeface="Times New Roman"/>
              </a:rPr>
              <a:t>+2mbnx+nb</a:t>
            </a:r>
            <a:r>
              <a:rPr sz="1725" spc="569" baseline="43478" dirty="0">
                <a:latin typeface="Times New Roman"/>
                <a:cs typeface="Times New Roman"/>
              </a:rPr>
              <a:t>2</a:t>
            </a:r>
            <a:endParaRPr sz="1725" baseline="43478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4687" y="596900"/>
            <a:ext cx="6348730" cy="1435100"/>
            <a:chOff x="674687" y="596900"/>
            <a:chExt cx="6348730" cy="1435100"/>
          </a:xfrm>
        </p:grpSpPr>
        <p:sp>
          <p:nvSpPr>
            <p:cNvPr id="3" name="object 3"/>
            <p:cNvSpPr/>
            <p:nvPr/>
          </p:nvSpPr>
          <p:spPr>
            <a:xfrm>
              <a:off x="674687" y="596900"/>
              <a:ext cx="6348730" cy="1435100"/>
            </a:xfrm>
            <a:custGeom>
              <a:avLst/>
              <a:gdLst/>
              <a:ahLst/>
              <a:cxnLst/>
              <a:rect l="l" t="t" r="r" b="b"/>
              <a:pathLst>
                <a:path w="6348730" h="1435100">
                  <a:moveTo>
                    <a:pt x="6348349" y="0"/>
                  </a:moveTo>
                  <a:lnTo>
                    <a:pt x="0" y="0"/>
                  </a:lnTo>
                  <a:lnTo>
                    <a:pt x="0" y="1435100"/>
                  </a:lnTo>
                  <a:lnTo>
                    <a:pt x="6348349" y="1435100"/>
                  </a:lnTo>
                  <a:lnTo>
                    <a:pt x="63483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4688" y="784143"/>
              <a:ext cx="5534025" cy="690245"/>
            </a:xfrm>
            <a:custGeom>
              <a:avLst/>
              <a:gdLst/>
              <a:ahLst/>
              <a:cxnLst/>
              <a:rect l="l" t="t" r="r" b="b"/>
              <a:pathLst>
                <a:path w="5534025" h="690244">
                  <a:moveTo>
                    <a:pt x="698823" y="0"/>
                  </a:moveTo>
                  <a:lnTo>
                    <a:pt x="1054262" y="0"/>
                  </a:lnTo>
                </a:path>
                <a:path w="5534025" h="690244">
                  <a:moveTo>
                    <a:pt x="1960910" y="28590"/>
                  </a:moveTo>
                  <a:lnTo>
                    <a:pt x="2475270" y="28590"/>
                  </a:lnTo>
                </a:path>
                <a:path w="5534025" h="690244">
                  <a:moveTo>
                    <a:pt x="3224219" y="28590"/>
                  </a:moveTo>
                  <a:lnTo>
                    <a:pt x="3366425" y="28590"/>
                  </a:lnTo>
                </a:path>
                <a:path w="5534025" h="690244">
                  <a:moveTo>
                    <a:pt x="4135583" y="0"/>
                  </a:moveTo>
                  <a:lnTo>
                    <a:pt x="4474132" y="0"/>
                  </a:lnTo>
                </a:path>
                <a:path w="5534025" h="690244">
                  <a:moveTo>
                    <a:pt x="5388239" y="28590"/>
                  </a:moveTo>
                  <a:lnTo>
                    <a:pt x="5533938" y="28590"/>
                  </a:lnTo>
                </a:path>
                <a:path w="5534025" h="690244">
                  <a:moveTo>
                    <a:pt x="0" y="689838"/>
                  </a:moveTo>
                  <a:lnTo>
                    <a:pt x="742807" y="689838"/>
                  </a:lnTo>
                </a:path>
                <a:path w="5534025" h="690244">
                  <a:moveTo>
                    <a:pt x="1588606" y="539709"/>
                  </a:moveTo>
                  <a:lnTo>
                    <a:pt x="2103091" y="539709"/>
                  </a:lnTo>
                </a:path>
                <a:path w="5534025" h="690244">
                  <a:moveTo>
                    <a:pt x="2733735" y="511118"/>
                  </a:moveTo>
                  <a:lnTo>
                    <a:pt x="3203762" y="511118"/>
                  </a:lnTo>
                </a:path>
                <a:path w="5534025" h="690244">
                  <a:moveTo>
                    <a:pt x="3962691" y="539709"/>
                  </a:moveTo>
                  <a:lnTo>
                    <a:pt x="4109137" y="539709"/>
                  </a:lnTo>
                </a:path>
              </a:pathLst>
            </a:custGeom>
            <a:ln w="110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7915" y="781818"/>
            <a:ext cx="6209030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750" b="0" spc="335" dirty="0">
                <a:solidFill>
                  <a:srgbClr val="000000"/>
                </a:solidFill>
                <a:latin typeface="Times New Roman"/>
                <a:cs typeface="Times New Roman"/>
              </a:rPr>
              <a:t>SE=n</a:t>
            </a:r>
            <a:r>
              <a:rPr sz="1750" b="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b="0" spc="31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750" b="0" spc="3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b="0" spc="284" baseline="44444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500" b="0" spc="37" baseline="444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b="0" spc="34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1750"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b="0" spc="370" dirty="0">
                <a:solidFill>
                  <a:srgbClr val="000000"/>
                </a:solidFill>
                <a:latin typeface="Times New Roman"/>
                <a:cs typeface="Times New Roman"/>
              </a:rPr>
              <a:t>2mn</a:t>
            </a:r>
            <a:r>
              <a:rPr sz="1750" b="0" spc="5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b="0" spc="31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750" b="0" spc="4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b="0" spc="31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750" b="0" spc="5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b="0" spc="340" dirty="0">
                <a:solidFill>
                  <a:srgbClr val="000000"/>
                </a:solidFill>
                <a:latin typeface="Symbol"/>
                <a:cs typeface="Symbol"/>
              </a:rPr>
              <a:t></a:t>
            </a:r>
            <a:r>
              <a:rPr sz="1750" b="0"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b="0" spc="330" dirty="0">
                <a:solidFill>
                  <a:srgbClr val="000000"/>
                </a:solidFill>
                <a:latin typeface="Times New Roman"/>
                <a:cs typeface="Times New Roman"/>
              </a:rPr>
              <a:t>2bn</a:t>
            </a:r>
            <a:r>
              <a:rPr sz="1750" b="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b="0" spc="370" dirty="0">
                <a:solidFill>
                  <a:srgbClr val="000000"/>
                </a:solidFill>
                <a:latin typeface="Times New Roman"/>
                <a:cs typeface="Times New Roman"/>
              </a:rPr>
              <a:t>y</a:t>
            </a:r>
            <a:r>
              <a:rPr sz="1750" b="0" spc="370" dirty="0">
                <a:solidFill>
                  <a:srgbClr val="000000"/>
                </a:solidFill>
                <a:latin typeface="Symbol"/>
                <a:cs typeface="Symbol"/>
              </a:rPr>
              <a:t></a:t>
            </a:r>
            <a:r>
              <a:rPr sz="1750" b="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b="0" i="1" spc="365" dirty="0">
                <a:solidFill>
                  <a:srgbClr val="000000"/>
                </a:solidFill>
                <a:latin typeface="Times New Roman"/>
                <a:cs typeface="Times New Roman"/>
              </a:rPr>
              <a:t>m</a:t>
            </a:r>
            <a:r>
              <a:rPr sz="1500" b="0" spc="547" baseline="44444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750" b="0" i="1" spc="365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1750" b="0" i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b="0" i="1" spc="275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1750" b="0" i="1" spc="27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b="0" spc="284" baseline="44444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1500" b="0" spc="352" baseline="444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750" b="0" spc="345" dirty="0">
                <a:solidFill>
                  <a:srgbClr val="000000"/>
                </a:solidFill>
                <a:latin typeface="Times New Roman"/>
                <a:cs typeface="Times New Roman"/>
              </a:rPr>
              <a:t>+2mbnx+nb</a:t>
            </a:r>
            <a:r>
              <a:rPr sz="1500" b="0" spc="517" baseline="44444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endParaRPr sz="1500" baseline="44444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0445" y="1293381"/>
            <a:ext cx="4635500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625" spc="457" baseline="34920" dirty="0">
                <a:latin typeface="Symbol"/>
                <a:cs typeface="Symbol"/>
              </a:rPr>
              <a:t></a:t>
            </a:r>
            <a:r>
              <a:rPr sz="2625" spc="457" baseline="34920" dirty="0">
                <a:latin typeface="Times New Roman"/>
                <a:cs typeface="Times New Roman"/>
              </a:rPr>
              <a:t>(SE)</a:t>
            </a:r>
            <a:r>
              <a:rPr sz="2625" spc="472" baseline="34920" dirty="0">
                <a:latin typeface="Times New Roman"/>
                <a:cs typeface="Times New Roman"/>
              </a:rPr>
              <a:t> </a:t>
            </a:r>
            <a:r>
              <a:rPr sz="1750" spc="340" dirty="0">
                <a:latin typeface="Symbol"/>
                <a:cs typeface="Symbol"/>
              </a:rPr>
              <a:t></a:t>
            </a:r>
            <a:r>
              <a:rPr sz="1750" spc="140" dirty="0">
                <a:latin typeface="Times New Roman"/>
                <a:cs typeface="Times New Roman"/>
              </a:rPr>
              <a:t> </a:t>
            </a:r>
            <a:r>
              <a:rPr sz="1750" spc="335" dirty="0">
                <a:latin typeface="Symbol"/>
                <a:cs typeface="Symbol"/>
              </a:rPr>
              <a:t></a:t>
            </a:r>
            <a:r>
              <a:rPr sz="1750" spc="335" dirty="0">
                <a:latin typeface="Times New Roman"/>
                <a:cs typeface="Times New Roman"/>
              </a:rPr>
              <a:t>2n</a:t>
            </a:r>
            <a:r>
              <a:rPr sz="1750" spc="-80" dirty="0">
                <a:latin typeface="Times New Roman"/>
                <a:cs typeface="Times New Roman"/>
              </a:rPr>
              <a:t> </a:t>
            </a:r>
            <a:r>
              <a:rPr sz="1750" spc="310" dirty="0">
                <a:latin typeface="Times New Roman"/>
                <a:cs typeface="Times New Roman"/>
              </a:rPr>
              <a:t>x</a:t>
            </a:r>
            <a:r>
              <a:rPr sz="1750" spc="434" dirty="0">
                <a:latin typeface="Times New Roman"/>
                <a:cs typeface="Times New Roman"/>
              </a:rPr>
              <a:t> </a:t>
            </a:r>
            <a:r>
              <a:rPr sz="1750" spc="310" dirty="0">
                <a:latin typeface="Times New Roman"/>
                <a:cs typeface="Times New Roman"/>
              </a:rPr>
              <a:t>y</a:t>
            </a:r>
            <a:r>
              <a:rPr sz="1750" spc="535" dirty="0">
                <a:latin typeface="Times New Roman"/>
                <a:cs typeface="Times New Roman"/>
              </a:rPr>
              <a:t> </a:t>
            </a:r>
            <a:r>
              <a:rPr sz="1750" spc="340" dirty="0">
                <a:latin typeface="Symbol"/>
                <a:cs typeface="Symbol"/>
              </a:rPr>
              <a:t></a:t>
            </a:r>
            <a:r>
              <a:rPr sz="1750" spc="15" dirty="0">
                <a:latin typeface="Times New Roman"/>
                <a:cs typeface="Times New Roman"/>
              </a:rPr>
              <a:t> </a:t>
            </a:r>
            <a:r>
              <a:rPr sz="1750" spc="360" dirty="0">
                <a:latin typeface="Times New Roman"/>
                <a:cs typeface="Times New Roman"/>
              </a:rPr>
              <a:t>2</a:t>
            </a:r>
            <a:r>
              <a:rPr sz="1750" i="1" spc="360" dirty="0">
                <a:latin typeface="Times New Roman"/>
                <a:cs typeface="Times New Roman"/>
              </a:rPr>
              <a:t>mnx</a:t>
            </a:r>
            <a:r>
              <a:rPr sz="1750" i="1" spc="254" dirty="0">
                <a:latin typeface="Times New Roman"/>
                <a:cs typeface="Times New Roman"/>
              </a:rPr>
              <a:t> </a:t>
            </a:r>
            <a:r>
              <a:rPr sz="1500" spc="284" baseline="44444" dirty="0">
                <a:latin typeface="Times New Roman"/>
                <a:cs typeface="Times New Roman"/>
              </a:rPr>
              <a:t>2</a:t>
            </a:r>
            <a:r>
              <a:rPr sz="1500" spc="569" baseline="44444" dirty="0">
                <a:latin typeface="Times New Roman"/>
                <a:cs typeface="Times New Roman"/>
              </a:rPr>
              <a:t> </a:t>
            </a:r>
            <a:r>
              <a:rPr sz="1750" spc="340" dirty="0">
                <a:latin typeface="Symbol"/>
                <a:cs typeface="Symbol"/>
              </a:rPr>
              <a:t></a:t>
            </a:r>
            <a:r>
              <a:rPr sz="1750" spc="15" dirty="0">
                <a:latin typeface="Times New Roman"/>
                <a:cs typeface="Times New Roman"/>
              </a:rPr>
              <a:t> </a:t>
            </a:r>
            <a:r>
              <a:rPr sz="1750" spc="335" dirty="0">
                <a:latin typeface="Times New Roman"/>
                <a:cs typeface="Times New Roman"/>
              </a:rPr>
              <a:t>2bnx</a:t>
            </a:r>
            <a:r>
              <a:rPr sz="1750" spc="190" dirty="0">
                <a:latin typeface="Times New Roman"/>
                <a:cs typeface="Times New Roman"/>
              </a:rPr>
              <a:t> </a:t>
            </a:r>
            <a:r>
              <a:rPr sz="1750" spc="340" dirty="0">
                <a:latin typeface="Symbol"/>
                <a:cs typeface="Symbol"/>
              </a:rPr>
              <a:t></a:t>
            </a:r>
            <a:r>
              <a:rPr sz="1750" spc="85" dirty="0">
                <a:latin typeface="Times New Roman"/>
                <a:cs typeface="Times New Roman"/>
              </a:rPr>
              <a:t> </a:t>
            </a:r>
            <a:r>
              <a:rPr sz="1750" spc="310" dirty="0"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9346" y="1467181"/>
            <a:ext cx="389255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275" dirty="0">
                <a:latin typeface="Symbol"/>
                <a:cs typeface="Symbol"/>
              </a:rPr>
              <a:t></a:t>
            </a:r>
            <a:r>
              <a:rPr sz="1750" i="1" spc="450" dirty="0">
                <a:latin typeface="Times New Roman"/>
                <a:cs typeface="Times New Roman"/>
              </a:rPr>
              <a:t>m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82662" y="1993900"/>
            <a:ext cx="4765675" cy="1524000"/>
            <a:chOff x="982662" y="1993900"/>
            <a:chExt cx="4765675" cy="1524000"/>
          </a:xfrm>
        </p:grpSpPr>
        <p:sp>
          <p:nvSpPr>
            <p:cNvPr id="9" name="object 9"/>
            <p:cNvSpPr/>
            <p:nvPr/>
          </p:nvSpPr>
          <p:spPr>
            <a:xfrm>
              <a:off x="982662" y="1993900"/>
              <a:ext cx="4765675" cy="1524000"/>
            </a:xfrm>
            <a:custGeom>
              <a:avLst/>
              <a:gdLst/>
              <a:ahLst/>
              <a:cxnLst/>
              <a:rect l="l" t="t" r="r" b="b"/>
              <a:pathLst>
                <a:path w="4765675" h="1524000">
                  <a:moveTo>
                    <a:pt x="4765675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4765675" y="1524000"/>
                  </a:lnTo>
                  <a:lnTo>
                    <a:pt x="47656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6172" y="2167060"/>
              <a:ext cx="4159885" cy="708660"/>
            </a:xfrm>
            <a:custGeom>
              <a:avLst/>
              <a:gdLst/>
              <a:ahLst/>
              <a:cxnLst/>
              <a:rect l="l" t="t" r="r" b="b"/>
              <a:pathLst>
                <a:path w="4159885" h="708660">
                  <a:moveTo>
                    <a:pt x="0" y="191460"/>
                  </a:moveTo>
                  <a:lnTo>
                    <a:pt x="795571" y="191460"/>
                  </a:lnTo>
                </a:path>
                <a:path w="4159885" h="708660">
                  <a:moveTo>
                    <a:pt x="1701361" y="30307"/>
                  </a:moveTo>
                  <a:lnTo>
                    <a:pt x="2010189" y="30307"/>
                  </a:lnTo>
                </a:path>
                <a:path w="4159885" h="708660">
                  <a:moveTo>
                    <a:pt x="2686608" y="0"/>
                  </a:moveTo>
                  <a:lnTo>
                    <a:pt x="3189884" y="0"/>
                  </a:lnTo>
                </a:path>
                <a:path w="4159885" h="708660">
                  <a:moveTo>
                    <a:pt x="4002869" y="30307"/>
                  </a:moveTo>
                  <a:lnTo>
                    <a:pt x="4159592" y="30307"/>
                  </a:lnTo>
                </a:path>
                <a:path w="4159885" h="708660">
                  <a:moveTo>
                    <a:pt x="480309" y="708614"/>
                  </a:moveTo>
                  <a:lnTo>
                    <a:pt x="789110" y="708614"/>
                  </a:lnTo>
                </a:path>
                <a:path w="4159885" h="708660">
                  <a:moveTo>
                    <a:pt x="1319058" y="677829"/>
                  </a:moveTo>
                  <a:lnTo>
                    <a:pt x="1682031" y="677829"/>
                  </a:lnTo>
                </a:path>
                <a:path w="4159885" h="708660">
                  <a:moveTo>
                    <a:pt x="2170730" y="708614"/>
                  </a:moveTo>
                  <a:lnTo>
                    <a:pt x="2327373" y="708614"/>
                  </a:lnTo>
                </a:path>
              </a:pathLst>
            </a:custGeom>
            <a:ln w="118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102022" y="2157785"/>
            <a:ext cx="120014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19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94623" y="2836092"/>
            <a:ext cx="120014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19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2901" y="2165531"/>
            <a:ext cx="304355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850" spc="472" baseline="35087" dirty="0">
                <a:latin typeface="Symbol"/>
                <a:cs typeface="Symbol"/>
              </a:rPr>
              <a:t></a:t>
            </a:r>
            <a:r>
              <a:rPr sz="2850" spc="472" baseline="35087" dirty="0">
                <a:latin typeface="Times New Roman"/>
                <a:cs typeface="Times New Roman"/>
              </a:rPr>
              <a:t>(SE)</a:t>
            </a:r>
            <a:r>
              <a:rPr sz="2850" spc="487" baseline="35087" dirty="0">
                <a:latin typeface="Times New Roman"/>
                <a:cs typeface="Times New Roman"/>
              </a:rPr>
              <a:t> </a:t>
            </a:r>
            <a:r>
              <a:rPr sz="1900" spc="350" dirty="0">
                <a:latin typeface="Symbol"/>
                <a:cs typeface="Symbol"/>
              </a:rPr>
              <a:t></a:t>
            </a:r>
            <a:r>
              <a:rPr sz="1900" spc="135" dirty="0">
                <a:latin typeface="Times New Roman"/>
                <a:cs typeface="Times New Roman"/>
              </a:rPr>
              <a:t> </a:t>
            </a:r>
            <a:r>
              <a:rPr sz="1900" spc="345" dirty="0">
                <a:latin typeface="Symbol"/>
                <a:cs typeface="Symbol"/>
              </a:rPr>
              <a:t></a:t>
            </a:r>
            <a:r>
              <a:rPr sz="1900" spc="345" dirty="0">
                <a:latin typeface="Times New Roman"/>
                <a:cs typeface="Times New Roman"/>
              </a:rPr>
              <a:t>2n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355" dirty="0">
                <a:latin typeface="Times New Roman"/>
                <a:cs typeface="Times New Roman"/>
              </a:rPr>
              <a:t>xy</a:t>
            </a:r>
            <a:r>
              <a:rPr sz="1900" spc="355" dirty="0">
                <a:latin typeface="Symbol"/>
                <a:cs typeface="Symbol"/>
              </a:rPr>
              <a:t>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370" dirty="0">
                <a:latin typeface="Times New Roman"/>
                <a:cs typeface="Times New Roman"/>
              </a:rPr>
              <a:t>2</a:t>
            </a:r>
            <a:r>
              <a:rPr sz="1900" i="1" spc="370" dirty="0">
                <a:latin typeface="Times New Roman"/>
                <a:cs typeface="Times New Roman"/>
              </a:rPr>
              <a:t>mnx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82867" y="2165531"/>
            <a:ext cx="142113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1460" indent="-239395">
              <a:lnSpc>
                <a:spcPct val="100000"/>
              </a:lnSpc>
              <a:spcBef>
                <a:spcPts val="90"/>
              </a:spcBef>
              <a:buFont typeface="Symbol"/>
              <a:buChar char=""/>
              <a:tabLst>
                <a:tab pos="252095" algn="l"/>
              </a:tabLst>
            </a:pPr>
            <a:r>
              <a:rPr sz="1900" spc="345" dirty="0">
                <a:latin typeface="Times New Roman"/>
                <a:cs typeface="Times New Roman"/>
              </a:rPr>
              <a:t>2bnx </a:t>
            </a:r>
            <a:r>
              <a:rPr sz="1900" spc="350" dirty="0">
                <a:latin typeface="Symbol"/>
                <a:cs typeface="Symbol"/>
              </a:rPr>
              <a:t>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spc="315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3976" y="2352193"/>
            <a:ext cx="41529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290" dirty="0">
                <a:latin typeface="Symbol"/>
                <a:cs typeface="Symbol"/>
              </a:rPr>
              <a:t></a:t>
            </a:r>
            <a:r>
              <a:rPr sz="1900" i="1" spc="459" dirty="0">
                <a:latin typeface="Times New Roman"/>
                <a:cs typeface="Times New Roman"/>
              </a:rPr>
              <a:t>m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9603" y="2843838"/>
            <a:ext cx="285369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769110" algn="l"/>
              </a:tabLst>
            </a:pPr>
            <a:r>
              <a:rPr sz="1900" spc="350" dirty="0">
                <a:latin typeface="Symbol"/>
                <a:cs typeface="Symbol"/>
              </a:rPr>
              <a:t>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spc="350" dirty="0">
                <a:latin typeface="Symbol"/>
                <a:cs typeface="Symbol"/>
              </a:rPr>
              <a:t>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spc="355" dirty="0">
                <a:latin typeface="Times New Roman"/>
                <a:cs typeface="Times New Roman"/>
              </a:rPr>
              <a:t>xy</a:t>
            </a:r>
            <a:r>
              <a:rPr sz="1900" spc="355" dirty="0">
                <a:latin typeface="Symbol"/>
                <a:cs typeface="Symbol"/>
              </a:rPr>
              <a:t></a:t>
            </a:r>
            <a:r>
              <a:rPr sz="1900" spc="50" dirty="0">
                <a:latin typeface="Times New Roman"/>
                <a:cs typeface="Times New Roman"/>
              </a:rPr>
              <a:t> </a:t>
            </a:r>
            <a:r>
              <a:rPr sz="1900" spc="495" dirty="0">
                <a:latin typeface="Times New Roman"/>
                <a:cs typeface="Times New Roman"/>
              </a:rPr>
              <a:t>m</a:t>
            </a:r>
            <a:r>
              <a:rPr sz="1900" spc="-254" dirty="0">
                <a:latin typeface="Times New Roman"/>
                <a:cs typeface="Times New Roman"/>
              </a:rPr>
              <a:t> </a:t>
            </a:r>
            <a:r>
              <a:rPr sz="1900" i="1" spc="280" dirty="0">
                <a:latin typeface="Times New Roman"/>
                <a:cs typeface="Times New Roman"/>
              </a:rPr>
              <a:t>x	</a:t>
            </a:r>
            <a:r>
              <a:rPr sz="1900" spc="350" dirty="0">
                <a:latin typeface="Symbol"/>
                <a:cs typeface="Symbol"/>
              </a:rPr>
              <a:t>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345" dirty="0">
                <a:latin typeface="Times New Roman"/>
                <a:cs typeface="Times New Roman"/>
              </a:rPr>
              <a:t>bx</a:t>
            </a:r>
            <a:r>
              <a:rPr sz="1900" spc="180" dirty="0">
                <a:latin typeface="Times New Roman"/>
                <a:cs typeface="Times New Roman"/>
              </a:rPr>
              <a:t> </a:t>
            </a:r>
            <a:r>
              <a:rPr sz="1900" spc="350" dirty="0">
                <a:latin typeface="Symbol"/>
                <a:cs typeface="Symbol"/>
              </a:rPr>
              <a:t></a:t>
            </a:r>
            <a:r>
              <a:rPr sz="1900" spc="65" dirty="0">
                <a:latin typeface="Times New Roman"/>
                <a:cs typeface="Times New Roman"/>
              </a:rPr>
              <a:t> </a:t>
            </a:r>
            <a:r>
              <a:rPr sz="1900" spc="315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95387" y="3509962"/>
            <a:ext cx="2054225" cy="1108075"/>
            <a:chOff x="1195387" y="3509962"/>
            <a:chExt cx="2054225" cy="1108075"/>
          </a:xfrm>
        </p:grpSpPr>
        <p:sp>
          <p:nvSpPr>
            <p:cNvPr id="18" name="object 18"/>
            <p:cNvSpPr/>
            <p:nvPr/>
          </p:nvSpPr>
          <p:spPr>
            <a:xfrm>
              <a:off x="1195387" y="3509962"/>
              <a:ext cx="2054225" cy="1108075"/>
            </a:xfrm>
            <a:custGeom>
              <a:avLst/>
              <a:gdLst/>
              <a:ahLst/>
              <a:cxnLst/>
              <a:rect l="l" t="t" r="r" b="b"/>
              <a:pathLst>
                <a:path w="2054225" h="1108075">
                  <a:moveTo>
                    <a:pt x="2054225" y="0"/>
                  </a:moveTo>
                  <a:lnTo>
                    <a:pt x="0" y="0"/>
                  </a:lnTo>
                  <a:lnTo>
                    <a:pt x="0" y="1108075"/>
                  </a:lnTo>
                  <a:lnTo>
                    <a:pt x="2054225" y="1108075"/>
                  </a:lnTo>
                  <a:lnTo>
                    <a:pt x="2054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77215" y="3656392"/>
              <a:ext cx="1704339" cy="725170"/>
            </a:xfrm>
            <a:custGeom>
              <a:avLst/>
              <a:gdLst/>
              <a:ahLst/>
              <a:cxnLst/>
              <a:rect l="l" t="t" r="r" b="b"/>
              <a:pathLst>
                <a:path w="1704339" h="725170">
                  <a:moveTo>
                    <a:pt x="0" y="0"/>
                  </a:moveTo>
                  <a:lnTo>
                    <a:pt x="324244" y="0"/>
                  </a:lnTo>
                </a:path>
                <a:path w="1704339" h="725170">
                  <a:moveTo>
                    <a:pt x="760744" y="27314"/>
                  </a:moveTo>
                  <a:lnTo>
                    <a:pt x="899950" y="27314"/>
                  </a:lnTo>
                </a:path>
                <a:path w="1704339" h="725170">
                  <a:moveTo>
                    <a:pt x="1211574" y="27314"/>
                  </a:moveTo>
                  <a:lnTo>
                    <a:pt x="1704203" y="27314"/>
                  </a:lnTo>
                </a:path>
                <a:path w="1704339" h="725170">
                  <a:moveTo>
                    <a:pt x="53850" y="391831"/>
                  </a:moveTo>
                  <a:lnTo>
                    <a:pt x="378071" y="391831"/>
                  </a:lnTo>
                </a:path>
                <a:path w="1704339" h="725170">
                  <a:moveTo>
                    <a:pt x="146085" y="724758"/>
                  </a:moveTo>
                  <a:lnTo>
                    <a:pt x="285860" y="724758"/>
                  </a:lnTo>
                </a:path>
                <a:path w="1704339" h="725170">
                  <a:moveTo>
                    <a:pt x="29795" y="697868"/>
                  </a:moveTo>
                  <a:lnTo>
                    <a:pt x="401580" y="697868"/>
                  </a:lnTo>
                </a:path>
                <a:path w="1704339" h="725170">
                  <a:moveTo>
                    <a:pt x="1076377" y="419569"/>
                  </a:moveTo>
                  <a:lnTo>
                    <a:pt x="1569006" y="419569"/>
                  </a:lnTo>
                </a:path>
                <a:path w="1704339" h="725170">
                  <a:moveTo>
                    <a:pt x="1252804" y="724758"/>
                  </a:moveTo>
                  <a:lnTo>
                    <a:pt x="1392579" y="724758"/>
                  </a:lnTo>
                </a:path>
                <a:path w="1704339" h="725170">
                  <a:moveTo>
                    <a:pt x="1052891" y="697868"/>
                  </a:moveTo>
                  <a:lnTo>
                    <a:pt x="1593085" y="697868"/>
                  </a:lnTo>
                </a:path>
              </a:pathLst>
            </a:custGeom>
            <a:ln w="104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537452" y="4045876"/>
            <a:ext cx="42227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285" dirty="0">
                <a:latin typeface="Times New Roman"/>
                <a:cs typeface="Times New Roman"/>
              </a:rPr>
              <a:t>x</a:t>
            </a:r>
            <a:r>
              <a:rPr sz="1700" spc="330" dirty="0">
                <a:latin typeface="Times New Roman"/>
                <a:cs typeface="Times New Roman"/>
              </a:rPr>
              <a:t> </a:t>
            </a:r>
            <a:r>
              <a:rPr sz="1700" spc="285" dirty="0">
                <a:latin typeface="Times New Roman"/>
                <a:cs typeface="Times New Roman"/>
              </a:rPr>
              <a:t>y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07160" y="4351055"/>
            <a:ext cx="1701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285" dirty="0">
                <a:latin typeface="Times New Roman"/>
                <a:cs typeface="Times New Roman"/>
              </a:rPr>
              <a:t>x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13951" y="4351055"/>
            <a:ext cx="17018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285" dirty="0">
                <a:latin typeface="Times New Roman"/>
                <a:cs typeface="Times New Roman"/>
              </a:rPr>
              <a:t>x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03285" y="3949411"/>
            <a:ext cx="37465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550" i="1" spc="375" baseline="-24509" dirty="0">
                <a:latin typeface="Times New Roman"/>
                <a:cs typeface="Times New Roman"/>
              </a:rPr>
              <a:t>x</a:t>
            </a:r>
            <a:r>
              <a:rPr sz="2550" i="1" spc="277" baseline="-24509" dirty="0">
                <a:latin typeface="Times New Roman"/>
                <a:cs typeface="Times New Roman"/>
              </a:rPr>
              <a:t> </a:t>
            </a:r>
            <a:r>
              <a:rPr sz="950" spc="185" dirty="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01395" y="3653621"/>
            <a:ext cx="1917700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700" spc="445" dirty="0">
                <a:latin typeface="Times New Roman"/>
                <a:cs typeface="Times New Roman"/>
              </a:rPr>
              <a:t>m</a:t>
            </a:r>
            <a:r>
              <a:rPr sz="1700" spc="-250" dirty="0">
                <a:latin typeface="Times New Roman"/>
                <a:cs typeface="Times New Roman"/>
              </a:rPr>
              <a:t> </a:t>
            </a:r>
            <a:r>
              <a:rPr sz="1700" i="1" spc="250" dirty="0">
                <a:latin typeface="Times New Roman"/>
                <a:cs typeface="Times New Roman"/>
              </a:rPr>
              <a:t>x</a:t>
            </a:r>
            <a:r>
              <a:rPr sz="1700" i="1" spc="240" dirty="0">
                <a:latin typeface="Times New Roman"/>
                <a:cs typeface="Times New Roman"/>
              </a:rPr>
              <a:t> </a:t>
            </a:r>
            <a:r>
              <a:rPr sz="1425" spc="277" baseline="43859" dirty="0">
                <a:latin typeface="Times New Roman"/>
                <a:cs typeface="Times New Roman"/>
              </a:rPr>
              <a:t>2</a:t>
            </a:r>
            <a:r>
              <a:rPr sz="1425" spc="562" baseline="43859" dirty="0">
                <a:latin typeface="Times New Roman"/>
                <a:cs typeface="Times New Roman"/>
              </a:rPr>
              <a:t> </a:t>
            </a:r>
            <a:r>
              <a:rPr sz="1700" spc="310" dirty="0">
                <a:latin typeface="Symbol"/>
                <a:cs typeface="Symbol"/>
              </a:rPr>
              <a:t>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spc="310" dirty="0">
                <a:latin typeface="Times New Roman"/>
                <a:cs typeface="Times New Roman"/>
              </a:rPr>
              <a:t>bx</a:t>
            </a:r>
            <a:r>
              <a:rPr sz="1700" spc="180" dirty="0">
                <a:latin typeface="Times New Roman"/>
                <a:cs typeface="Times New Roman"/>
              </a:rPr>
              <a:t> </a:t>
            </a:r>
            <a:r>
              <a:rPr sz="1700" spc="310" dirty="0">
                <a:latin typeface="Symbol"/>
                <a:cs typeface="Symbol"/>
              </a:rPr>
              <a:t>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285" dirty="0">
                <a:latin typeface="Times New Roman"/>
                <a:cs typeface="Times New Roman"/>
              </a:rPr>
              <a:t>x</a:t>
            </a:r>
            <a:r>
              <a:rPr sz="1700" spc="405" dirty="0">
                <a:latin typeface="Times New Roman"/>
                <a:cs typeface="Times New Roman"/>
              </a:rPr>
              <a:t> </a:t>
            </a:r>
            <a:r>
              <a:rPr sz="1700" spc="285" dirty="0">
                <a:latin typeface="Times New Roman"/>
                <a:cs typeface="Times New Roman"/>
              </a:rPr>
              <a:t>y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26795" y="4180326"/>
            <a:ext cx="1241425" cy="283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96595" algn="l"/>
              </a:tabLst>
            </a:pPr>
            <a:r>
              <a:rPr sz="1700" spc="445" dirty="0">
                <a:latin typeface="Times New Roman"/>
                <a:cs typeface="Times New Roman"/>
              </a:rPr>
              <a:t>m	</a:t>
            </a:r>
            <a:r>
              <a:rPr sz="1700" spc="300" dirty="0">
                <a:latin typeface="Times New Roman"/>
                <a:cs typeface="Times New Roman"/>
              </a:rPr>
              <a:t>+b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spc="310" dirty="0">
                <a:latin typeface="Symbol"/>
                <a:cs typeface="Symbol"/>
              </a:rPr>
              <a:t></a:t>
            </a:r>
            <a:endParaRPr sz="1700">
              <a:latin typeface="Symbol"/>
              <a:cs typeface="Symbo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925951" y="3873500"/>
            <a:ext cx="2627630" cy="647700"/>
            <a:chOff x="3925951" y="3873500"/>
            <a:chExt cx="2627630" cy="647700"/>
          </a:xfrm>
        </p:grpSpPr>
        <p:sp>
          <p:nvSpPr>
            <p:cNvPr id="27" name="object 27"/>
            <p:cNvSpPr/>
            <p:nvPr/>
          </p:nvSpPr>
          <p:spPr>
            <a:xfrm>
              <a:off x="3925951" y="3873500"/>
              <a:ext cx="2627630" cy="647700"/>
            </a:xfrm>
            <a:custGeom>
              <a:avLst/>
              <a:gdLst/>
              <a:ahLst/>
              <a:cxnLst/>
              <a:rect l="l" t="t" r="r" b="b"/>
              <a:pathLst>
                <a:path w="2627629" h="647700">
                  <a:moveTo>
                    <a:pt x="2627249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2627249" y="647700"/>
                  </a:lnTo>
                  <a:lnTo>
                    <a:pt x="26272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295139" y="3927979"/>
              <a:ext cx="1097280" cy="344805"/>
            </a:xfrm>
            <a:custGeom>
              <a:avLst/>
              <a:gdLst/>
              <a:ahLst/>
              <a:cxnLst/>
              <a:rect l="l" t="t" r="r" b="b"/>
              <a:pathLst>
                <a:path w="1097279" h="344804">
                  <a:moveTo>
                    <a:pt x="24481" y="0"/>
                  </a:moveTo>
                  <a:lnTo>
                    <a:pt x="360070" y="0"/>
                  </a:lnTo>
                </a:path>
                <a:path w="1097279" h="344804">
                  <a:moveTo>
                    <a:pt x="120625" y="344510"/>
                  </a:moveTo>
                  <a:lnTo>
                    <a:pt x="265138" y="344510"/>
                  </a:lnTo>
                </a:path>
                <a:path w="1097279" h="344804">
                  <a:moveTo>
                    <a:pt x="0" y="316827"/>
                  </a:moveTo>
                  <a:lnTo>
                    <a:pt x="384551" y="316827"/>
                  </a:lnTo>
                </a:path>
                <a:path w="1097279" h="344804">
                  <a:moveTo>
                    <a:pt x="562497" y="28574"/>
                  </a:moveTo>
                  <a:lnTo>
                    <a:pt x="1071829" y="28574"/>
                  </a:lnTo>
                </a:path>
                <a:path w="1097279" h="344804">
                  <a:moveTo>
                    <a:pt x="745215" y="344510"/>
                  </a:moveTo>
                  <a:lnTo>
                    <a:pt x="889728" y="344510"/>
                  </a:lnTo>
                </a:path>
                <a:path w="1097279" h="344804">
                  <a:moveTo>
                    <a:pt x="538016" y="316827"/>
                  </a:moveTo>
                  <a:lnTo>
                    <a:pt x="1096928" y="316827"/>
                  </a:lnTo>
                </a:path>
              </a:pathLst>
            </a:custGeom>
            <a:ln w="108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841351" y="3925937"/>
            <a:ext cx="4375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15" dirty="0">
                <a:latin typeface="Times New Roman"/>
                <a:cs typeface="Times New Roman"/>
              </a:rPr>
              <a:t>x</a:t>
            </a:r>
            <a:r>
              <a:rPr sz="1750" spc="330" dirty="0">
                <a:latin typeface="Times New Roman"/>
                <a:cs typeface="Times New Roman"/>
              </a:rPr>
              <a:t> </a:t>
            </a:r>
            <a:r>
              <a:rPr sz="1750" spc="315" dirty="0">
                <a:latin typeface="Times New Roman"/>
                <a:cs typeface="Times New Roman"/>
              </a:rPr>
              <a:t>y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0" name="object 30"/>
          <p:cNvSpPr txBox="1"/>
          <p:nvPr/>
        </p:nvSpPr>
        <p:spPr>
          <a:xfrm>
            <a:off x="3955049" y="4064789"/>
            <a:ext cx="130683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275" dirty="0">
                <a:latin typeface="Times New Roman"/>
                <a:cs typeface="Times New Roman"/>
              </a:rPr>
              <a:t>one </a:t>
            </a:r>
            <a:r>
              <a:rPr sz="1750" spc="235" dirty="0">
                <a:latin typeface="Times New Roman"/>
                <a:cs typeface="Times New Roman"/>
              </a:rPr>
              <a:t>point</a:t>
            </a:r>
            <a:r>
              <a:rPr sz="1750" spc="-95" dirty="0">
                <a:latin typeface="Times New Roman"/>
                <a:cs typeface="Times New Roman"/>
              </a:rPr>
              <a:t> </a:t>
            </a:r>
            <a:r>
              <a:rPr sz="1750" spc="210" dirty="0">
                <a:latin typeface="Times New Roman"/>
                <a:cs typeface="Times New Roman"/>
              </a:rPr>
              <a:t>(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06408" y="4064789"/>
            <a:ext cx="10160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155" dirty="0">
                <a:latin typeface="Times New Roman"/>
                <a:cs typeface="Times New Roman"/>
              </a:rPr>
              <a:t>,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393953" y="4064789"/>
            <a:ext cx="126364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210" dirty="0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98885" y="4241875"/>
            <a:ext cx="1771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15" dirty="0">
                <a:latin typeface="Times New Roman"/>
                <a:cs typeface="Times New Roman"/>
              </a:rPr>
              <a:t>x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23562" y="4241875"/>
            <a:ext cx="17716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315" dirty="0">
                <a:latin typeface="Times New Roman"/>
                <a:cs typeface="Times New Roman"/>
              </a:rPr>
              <a:t>x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92277" y="3826191"/>
            <a:ext cx="38671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625" i="1" spc="419" baseline="-25396" dirty="0">
                <a:latin typeface="Times New Roman"/>
                <a:cs typeface="Times New Roman"/>
              </a:rPr>
              <a:t>x</a:t>
            </a:r>
            <a:r>
              <a:rPr sz="2625" i="1" spc="270" baseline="-25396" dirty="0">
                <a:latin typeface="Times New Roman"/>
                <a:cs typeface="Times New Roman"/>
              </a:rPr>
              <a:t> </a:t>
            </a:r>
            <a:r>
              <a:rPr sz="1000" spc="195" dirty="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1350" y="1457325"/>
            <a:ext cx="6120130" cy="2584450"/>
            <a:chOff x="1411350" y="1457325"/>
            <a:chExt cx="6120130" cy="2584450"/>
          </a:xfrm>
        </p:grpSpPr>
        <p:sp>
          <p:nvSpPr>
            <p:cNvPr id="3" name="object 3"/>
            <p:cNvSpPr/>
            <p:nvPr/>
          </p:nvSpPr>
          <p:spPr>
            <a:xfrm>
              <a:off x="1411350" y="1457325"/>
              <a:ext cx="6120130" cy="2584450"/>
            </a:xfrm>
            <a:custGeom>
              <a:avLst/>
              <a:gdLst/>
              <a:ahLst/>
              <a:cxnLst/>
              <a:rect l="l" t="t" r="r" b="b"/>
              <a:pathLst>
                <a:path w="6120130" h="2584450">
                  <a:moveTo>
                    <a:pt x="6119749" y="0"/>
                  </a:moveTo>
                  <a:lnTo>
                    <a:pt x="0" y="0"/>
                  </a:lnTo>
                  <a:lnTo>
                    <a:pt x="0" y="2584450"/>
                  </a:lnTo>
                  <a:lnTo>
                    <a:pt x="6119749" y="2584450"/>
                  </a:lnTo>
                  <a:lnTo>
                    <a:pt x="61197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59551" y="1641797"/>
              <a:ext cx="5335270" cy="2117090"/>
            </a:xfrm>
            <a:custGeom>
              <a:avLst/>
              <a:gdLst/>
              <a:ahLst/>
              <a:cxnLst/>
              <a:rect l="l" t="t" r="r" b="b"/>
              <a:pathLst>
                <a:path w="5335270" h="2117090">
                  <a:moveTo>
                    <a:pt x="673659" y="0"/>
                  </a:moveTo>
                  <a:lnTo>
                    <a:pt x="1016299" y="0"/>
                  </a:lnTo>
                </a:path>
                <a:path w="5335270" h="2117090">
                  <a:moveTo>
                    <a:pt x="1890299" y="27915"/>
                  </a:moveTo>
                  <a:lnTo>
                    <a:pt x="2386138" y="27915"/>
                  </a:lnTo>
                </a:path>
                <a:path w="5335270" h="2117090">
                  <a:moveTo>
                    <a:pt x="3108118" y="27915"/>
                  </a:moveTo>
                  <a:lnTo>
                    <a:pt x="3245203" y="27915"/>
                  </a:lnTo>
                </a:path>
                <a:path w="5335270" h="2117090">
                  <a:moveTo>
                    <a:pt x="3986664" y="0"/>
                  </a:moveTo>
                  <a:lnTo>
                    <a:pt x="4313023" y="0"/>
                  </a:lnTo>
                </a:path>
                <a:path w="5335270" h="2117090">
                  <a:moveTo>
                    <a:pt x="5194214" y="27915"/>
                  </a:moveTo>
                  <a:lnTo>
                    <a:pt x="5334666" y="27915"/>
                  </a:lnTo>
                </a:path>
                <a:path w="5335270" h="2117090">
                  <a:moveTo>
                    <a:pt x="0" y="668305"/>
                  </a:moveTo>
                  <a:lnTo>
                    <a:pt x="716059" y="668305"/>
                  </a:lnTo>
                </a:path>
                <a:path w="5335270" h="2117090">
                  <a:moveTo>
                    <a:pt x="1531401" y="523002"/>
                  </a:moveTo>
                  <a:lnTo>
                    <a:pt x="1667885" y="523002"/>
                  </a:lnTo>
                </a:path>
                <a:path w="5335270" h="2117090">
                  <a:moveTo>
                    <a:pt x="2430871" y="523002"/>
                  </a:moveTo>
                  <a:lnTo>
                    <a:pt x="2571563" y="523002"/>
                  </a:lnTo>
                </a:path>
                <a:path w="5335270" h="2117090">
                  <a:moveTo>
                    <a:pt x="290374" y="1134289"/>
                  </a:moveTo>
                  <a:lnTo>
                    <a:pt x="427411" y="1134289"/>
                  </a:lnTo>
                </a:path>
                <a:path w="5335270" h="2117090">
                  <a:moveTo>
                    <a:pt x="886790" y="1134289"/>
                  </a:moveTo>
                  <a:lnTo>
                    <a:pt x="1027314" y="1134289"/>
                  </a:lnTo>
                </a:path>
                <a:path w="5335270" h="2117090">
                  <a:moveTo>
                    <a:pt x="0" y="1625505"/>
                  </a:moveTo>
                  <a:lnTo>
                    <a:pt x="137053" y="1625505"/>
                  </a:lnTo>
                </a:path>
                <a:path w="5335270" h="2117090">
                  <a:moveTo>
                    <a:pt x="668440" y="1625505"/>
                  </a:moveTo>
                  <a:lnTo>
                    <a:pt x="808964" y="1625505"/>
                  </a:lnTo>
                </a:path>
                <a:path w="5335270" h="2117090">
                  <a:moveTo>
                    <a:pt x="1704465" y="2116738"/>
                  </a:moveTo>
                  <a:lnTo>
                    <a:pt x="1845013" y="2116738"/>
                  </a:lnTo>
                </a:path>
                <a:path w="5335270" h="2117090">
                  <a:moveTo>
                    <a:pt x="1964061" y="2116738"/>
                  </a:moveTo>
                  <a:lnTo>
                    <a:pt x="2101122" y="2116738"/>
                  </a:lnTo>
                </a:path>
              </a:pathLst>
            </a:custGeom>
            <a:ln w="106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16150" y="1639632"/>
            <a:ext cx="597535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700" spc="315" dirty="0">
                <a:latin typeface="Times New Roman"/>
                <a:cs typeface="Times New Roman"/>
              </a:rPr>
              <a:t>SE=n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285" dirty="0">
                <a:latin typeface="Times New Roman"/>
                <a:cs typeface="Times New Roman"/>
              </a:rPr>
              <a:t>y</a:t>
            </a:r>
            <a:r>
              <a:rPr sz="1700" spc="335" dirty="0">
                <a:latin typeface="Times New Roman"/>
                <a:cs typeface="Times New Roman"/>
              </a:rPr>
              <a:t> </a:t>
            </a:r>
            <a:r>
              <a:rPr sz="1500" spc="247" baseline="41666" dirty="0">
                <a:latin typeface="Times New Roman"/>
                <a:cs typeface="Times New Roman"/>
              </a:rPr>
              <a:t>2</a:t>
            </a:r>
            <a:r>
              <a:rPr sz="1500" spc="30" baseline="41666" dirty="0">
                <a:latin typeface="Times New Roman"/>
                <a:cs typeface="Times New Roman"/>
              </a:rPr>
              <a:t> </a:t>
            </a:r>
            <a:r>
              <a:rPr sz="1700" spc="315" dirty="0">
                <a:latin typeface="Symbol"/>
                <a:cs typeface="Symbol"/>
              </a:rPr>
              <a:t>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350" dirty="0">
                <a:latin typeface="Times New Roman"/>
                <a:cs typeface="Times New Roman"/>
              </a:rPr>
              <a:t>2mn</a:t>
            </a:r>
            <a:r>
              <a:rPr sz="1700" spc="520" dirty="0">
                <a:latin typeface="Times New Roman"/>
                <a:cs typeface="Times New Roman"/>
              </a:rPr>
              <a:t> </a:t>
            </a:r>
            <a:r>
              <a:rPr sz="1700" spc="285" dirty="0">
                <a:latin typeface="Times New Roman"/>
                <a:cs typeface="Times New Roman"/>
              </a:rPr>
              <a:t>x</a:t>
            </a:r>
            <a:r>
              <a:rPr sz="1700" spc="425" dirty="0">
                <a:latin typeface="Times New Roman"/>
                <a:cs typeface="Times New Roman"/>
              </a:rPr>
              <a:t> </a:t>
            </a:r>
            <a:r>
              <a:rPr sz="1700" spc="285" dirty="0">
                <a:latin typeface="Times New Roman"/>
                <a:cs typeface="Times New Roman"/>
              </a:rPr>
              <a:t>y</a:t>
            </a:r>
            <a:r>
              <a:rPr sz="1700" spc="515" dirty="0">
                <a:latin typeface="Times New Roman"/>
                <a:cs typeface="Times New Roman"/>
              </a:rPr>
              <a:t> </a:t>
            </a:r>
            <a:r>
              <a:rPr sz="1700" spc="315" dirty="0">
                <a:latin typeface="Symbol"/>
                <a:cs typeface="Symbol"/>
              </a:rPr>
              <a:t>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305" dirty="0">
                <a:latin typeface="Times New Roman"/>
                <a:cs typeface="Times New Roman"/>
              </a:rPr>
              <a:t>2bn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345" dirty="0">
                <a:latin typeface="Times New Roman"/>
                <a:cs typeface="Times New Roman"/>
              </a:rPr>
              <a:t>y</a:t>
            </a:r>
            <a:r>
              <a:rPr sz="1700" spc="345" dirty="0">
                <a:latin typeface="Symbol"/>
                <a:cs typeface="Symbol"/>
              </a:rPr>
              <a:t>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i="1" spc="340" dirty="0">
                <a:latin typeface="Times New Roman"/>
                <a:cs typeface="Times New Roman"/>
              </a:rPr>
              <a:t>m</a:t>
            </a:r>
            <a:r>
              <a:rPr sz="1500" spc="509" baseline="41666" dirty="0">
                <a:latin typeface="Times New Roman"/>
                <a:cs typeface="Times New Roman"/>
              </a:rPr>
              <a:t>2</a:t>
            </a:r>
            <a:r>
              <a:rPr sz="1700" i="1" spc="340" dirty="0">
                <a:latin typeface="Times New Roman"/>
                <a:cs typeface="Times New Roman"/>
              </a:rPr>
              <a:t>n</a:t>
            </a:r>
            <a:r>
              <a:rPr sz="1700" i="1" spc="35" dirty="0">
                <a:latin typeface="Times New Roman"/>
                <a:cs typeface="Times New Roman"/>
              </a:rPr>
              <a:t> </a:t>
            </a:r>
            <a:r>
              <a:rPr sz="1700" i="1" spc="254" dirty="0">
                <a:latin typeface="Times New Roman"/>
                <a:cs typeface="Times New Roman"/>
              </a:rPr>
              <a:t>x</a:t>
            </a:r>
            <a:r>
              <a:rPr sz="1700" i="1" spc="260" dirty="0">
                <a:latin typeface="Times New Roman"/>
                <a:cs typeface="Times New Roman"/>
              </a:rPr>
              <a:t> </a:t>
            </a:r>
            <a:r>
              <a:rPr sz="1500" spc="247" baseline="41666" dirty="0">
                <a:latin typeface="Times New Roman"/>
                <a:cs typeface="Times New Roman"/>
              </a:rPr>
              <a:t>2</a:t>
            </a:r>
            <a:r>
              <a:rPr sz="1500" spc="315" baseline="41666" dirty="0">
                <a:latin typeface="Times New Roman"/>
                <a:cs typeface="Times New Roman"/>
              </a:rPr>
              <a:t> </a:t>
            </a:r>
            <a:r>
              <a:rPr sz="1700" spc="325" dirty="0">
                <a:latin typeface="Times New Roman"/>
                <a:cs typeface="Times New Roman"/>
              </a:rPr>
              <a:t>+2mbnx+nb</a:t>
            </a:r>
            <a:r>
              <a:rPr sz="1500" spc="487" baseline="41666" dirty="0">
                <a:latin typeface="Times New Roman"/>
                <a:cs typeface="Times New Roman"/>
              </a:rPr>
              <a:t>2</a:t>
            </a:r>
            <a:endParaRPr sz="1500" baseline="41666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447509" y="2135206"/>
            <a:ext cx="36493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550" spc="434" baseline="34313" dirty="0">
                <a:latin typeface="Symbol"/>
                <a:cs typeface="Symbol"/>
              </a:rPr>
              <a:t></a:t>
            </a:r>
            <a:r>
              <a:rPr sz="2550" spc="434" baseline="34313" dirty="0">
                <a:latin typeface="Times New Roman"/>
                <a:cs typeface="Times New Roman"/>
              </a:rPr>
              <a:t>(SE)</a:t>
            </a:r>
            <a:r>
              <a:rPr sz="2550" spc="442" baseline="34313" dirty="0">
                <a:latin typeface="Times New Roman"/>
                <a:cs typeface="Times New Roman"/>
              </a:rPr>
              <a:t> </a:t>
            </a:r>
            <a:r>
              <a:rPr sz="1700" spc="315" dirty="0">
                <a:latin typeface="Symbol"/>
                <a:cs typeface="Symbol"/>
              </a:rPr>
              <a:t></a:t>
            </a:r>
            <a:r>
              <a:rPr sz="1700" spc="135" dirty="0">
                <a:latin typeface="Times New Roman"/>
                <a:cs typeface="Times New Roman"/>
              </a:rPr>
              <a:t> </a:t>
            </a:r>
            <a:r>
              <a:rPr sz="1700" spc="315" dirty="0">
                <a:latin typeface="Symbol"/>
                <a:cs typeface="Symbol"/>
              </a:rPr>
              <a:t></a:t>
            </a:r>
            <a:r>
              <a:rPr sz="1700" spc="315" dirty="0">
                <a:latin typeface="Times New Roman"/>
                <a:cs typeface="Times New Roman"/>
              </a:rPr>
              <a:t>2n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345" dirty="0">
                <a:latin typeface="Times New Roman"/>
                <a:cs typeface="Times New Roman"/>
              </a:rPr>
              <a:t>y</a:t>
            </a:r>
            <a:r>
              <a:rPr sz="1700" spc="345" dirty="0">
                <a:latin typeface="Symbol"/>
                <a:cs typeface="Symbol"/>
              </a:rPr>
              <a:t>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345" dirty="0">
                <a:latin typeface="Times New Roman"/>
                <a:cs typeface="Times New Roman"/>
              </a:rPr>
              <a:t>2mnx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spc="315" dirty="0">
                <a:latin typeface="Symbol"/>
                <a:cs typeface="Symbol"/>
              </a:rPr>
              <a:t>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305" dirty="0">
                <a:latin typeface="Times New Roman"/>
                <a:cs typeface="Times New Roman"/>
              </a:rPr>
              <a:t>2nb=0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2002" y="2303165"/>
            <a:ext cx="1911350" cy="728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2885">
              <a:lnSpc>
                <a:spcPct val="100000"/>
              </a:lnSpc>
              <a:spcBef>
                <a:spcPts val="105"/>
              </a:spcBef>
            </a:pPr>
            <a:r>
              <a:rPr sz="1700" spc="275" dirty="0">
                <a:latin typeface="Symbol"/>
                <a:cs typeface="Symbol"/>
              </a:rPr>
              <a:t></a:t>
            </a:r>
            <a:r>
              <a:rPr sz="1700" i="1" spc="275" dirty="0">
                <a:latin typeface="Times New Roman"/>
                <a:cs typeface="Times New Roman"/>
              </a:rPr>
              <a:t>b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r>
              <a:rPr sz="1700" spc="254" dirty="0">
                <a:latin typeface="Times New Roman"/>
                <a:cs typeface="Times New Roman"/>
              </a:rPr>
              <a:t>=-</a:t>
            </a:r>
            <a:r>
              <a:rPr sz="1700" spc="-135" dirty="0">
                <a:latin typeface="Times New Roman"/>
                <a:cs typeface="Times New Roman"/>
              </a:rPr>
              <a:t> </a:t>
            </a:r>
            <a:r>
              <a:rPr sz="1700" spc="345" dirty="0">
                <a:latin typeface="Times New Roman"/>
                <a:cs typeface="Times New Roman"/>
              </a:rPr>
              <a:t>y</a:t>
            </a:r>
            <a:r>
              <a:rPr sz="1700" spc="345" dirty="0">
                <a:latin typeface="Symbol"/>
                <a:cs typeface="Symbol"/>
              </a:rPr>
              <a:t>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i="1" spc="395" dirty="0">
                <a:latin typeface="Times New Roman"/>
                <a:cs typeface="Times New Roman"/>
              </a:rPr>
              <a:t>m</a:t>
            </a:r>
            <a:r>
              <a:rPr sz="1700" spc="395" dirty="0">
                <a:latin typeface="Times New Roman"/>
                <a:cs typeface="Times New Roman"/>
              </a:rPr>
              <a:t>x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315" dirty="0">
                <a:latin typeface="Symbol"/>
                <a:cs typeface="Symbol"/>
              </a:rPr>
              <a:t>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spc="285" dirty="0">
                <a:latin typeface="Times New Roman"/>
                <a:cs typeface="Times New Roman"/>
              </a:rPr>
              <a:t>b</a:t>
            </a:r>
            <a:r>
              <a:rPr sz="1700" spc="105" dirty="0">
                <a:latin typeface="Times New Roman"/>
                <a:cs typeface="Times New Roman"/>
              </a:rPr>
              <a:t> </a:t>
            </a:r>
            <a:r>
              <a:rPr sz="1700" spc="315" dirty="0">
                <a:latin typeface="Symbol"/>
                <a:cs typeface="Symbol"/>
              </a:rPr>
              <a:t>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285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9099" y="3237312"/>
            <a:ext cx="2233295" cy="777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160">
              <a:lnSpc>
                <a:spcPct val="100000"/>
              </a:lnSpc>
              <a:spcBef>
                <a:spcPts val="105"/>
              </a:spcBef>
            </a:pPr>
            <a:r>
              <a:rPr sz="1700" spc="285" dirty="0">
                <a:latin typeface="Times New Roman"/>
                <a:cs typeface="Times New Roman"/>
              </a:rPr>
              <a:t>y</a:t>
            </a:r>
            <a:r>
              <a:rPr sz="1700" spc="125" dirty="0">
                <a:latin typeface="Times New Roman"/>
                <a:cs typeface="Times New Roman"/>
              </a:rPr>
              <a:t> </a:t>
            </a:r>
            <a:r>
              <a:rPr sz="1700" spc="315" dirty="0">
                <a:latin typeface="Symbol"/>
                <a:cs typeface="Symbol"/>
              </a:rPr>
              <a:t>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i="1" spc="400" dirty="0">
                <a:latin typeface="Times New Roman"/>
                <a:cs typeface="Times New Roman"/>
              </a:rPr>
              <a:t>m</a:t>
            </a:r>
            <a:r>
              <a:rPr sz="1700" spc="400" dirty="0">
                <a:latin typeface="Times New Roman"/>
                <a:cs typeface="Times New Roman"/>
              </a:rPr>
              <a:t>x</a:t>
            </a:r>
            <a:r>
              <a:rPr sz="1700" spc="75" dirty="0">
                <a:latin typeface="Times New Roman"/>
                <a:cs typeface="Times New Roman"/>
              </a:rPr>
              <a:t> </a:t>
            </a:r>
            <a:r>
              <a:rPr sz="1700" spc="315" dirty="0">
                <a:latin typeface="Symbol"/>
                <a:cs typeface="Symbol"/>
              </a:rPr>
              <a:t></a:t>
            </a:r>
            <a:r>
              <a:rPr sz="1700" spc="35" dirty="0">
                <a:latin typeface="Times New Roman"/>
                <a:cs typeface="Times New Roman"/>
              </a:rPr>
              <a:t> </a:t>
            </a:r>
            <a:r>
              <a:rPr sz="1700" spc="285" dirty="0">
                <a:latin typeface="Times New Roman"/>
                <a:cs typeface="Times New Roman"/>
              </a:rPr>
              <a:t>b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0"/>
              </a:spcBef>
            </a:pPr>
            <a:r>
              <a:rPr sz="1700" spc="240" dirty="0">
                <a:latin typeface="Times New Roman"/>
                <a:cs typeface="Times New Roman"/>
              </a:rPr>
              <a:t>another</a:t>
            </a:r>
            <a:r>
              <a:rPr sz="1700" spc="130" dirty="0">
                <a:latin typeface="Times New Roman"/>
                <a:cs typeface="Times New Roman"/>
              </a:rPr>
              <a:t> </a:t>
            </a:r>
            <a:r>
              <a:rPr sz="1700" spc="229" dirty="0">
                <a:latin typeface="Times New Roman"/>
                <a:cs typeface="Times New Roman"/>
              </a:rPr>
              <a:t>point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260" dirty="0">
                <a:latin typeface="Times New Roman"/>
                <a:cs typeface="Times New Roman"/>
              </a:rPr>
              <a:t>(x,</a:t>
            </a:r>
            <a:r>
              <a:rPr sz="1700" spc="-140" dirty="0">
                <a:latin typeface="Times New Roman"/>
                <a:cs typeface="Times New Roman"/>
              </a:rPr>
              <a:t> </a:t>
            </a:r>
            <a:r>
              <a:rPr sz="1700" spc="265" dirty="0">
                <a:latin typeface="Times New Roman"/>
                <a:cs typeface="Times New Roman"/>
              </a:rPr>
              <a:t>y)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9B10CD1-55B0-459B-BCC2-15D8F9C0A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" y="0"/>
            <a:ext cx="9063038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995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13092</TotalTime>
  <Words>1112</Words>
  <Application>Microsoft Office PowerPoint</Application>
  <PresentationFormat>On-screen Show (16:9)</PresentationFormat>
  <Paragraphs>213</Paragraphs>
  <Slides>18</Slides>
  <Notes>3</Notes>
  <HiddenSlides>4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Adobe Caslon Pro</vt:lpstr>
      <vt:lpstr>Arial</vt:lpstr>
      <vt:lpstr>Calibri</vt:lpstr>
      <vt:lpstr>Cambria</vt:lpstr>
      <vt:lpstr>Carlito</vt:lpstr>
      <vt:lpstr>Open Sans</vt:lpstr>
      <vt:lpstr>Palladio Uralic</vt:lpstr>
      <vt:lpstr>Symbol</vt:lpstr>
      <vt:lpstr>TeXGyrePagella</vt:lpstr>
      <vt:lpstr>Times New Roman</vt:lpstr>
      <vt:lpstr>Verdana</vt:lpstr>
      <vt:lpstr>Wingdings</vt:lpstr>
      <vt:lpstr>Office Theme</vt:lpstr>
      <vt:lpstr>PowerPoint Presentation</vt:lpstr>
      <vt:lpstr>Simple Linear Regression</vt:lpstr>
      <vt:lpstr>Empirical Models</vt:lpstr>
      <vt:lpstr>Empirical Models Example</vt:lpstr>
      <vt:lpstr>PowerPoint Presentation</vt:lpstr>
      <vt:lpstr>Simple Linear Regression Model</vt:lpstr>
      <vt:lpstr>Simple Linear Regression Equation</vt:lpstr>
      <vt:lpstr>Simple Linear Regression Equation</vt:lpstr>
      <vt:lpstr>Simple Linear Regression Equation</vt:lpstr>
      <vt:lpstr>Simple Linear Regression Equation</vt:lpstr>
      <vt:lpstr>Estimated Simple Linear Regression Equation</vt:lpstr>
      <vt:lpstr></vt:lpstr>
      <vt:lpstr>Estimation Process</vt:lpstr>
      <vt:lpstr>.... y - (mx +b)2</vt:lpstr>
      <vt:lpstr>=(y 2  y 2  ...  y</vt:lpstr>
      <vt:lpstr>SE=n y 2  2mn x y  2bn y m2n x 2 +2mbnx+nb2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IITR</dc:creator>
  <cp:lastModifiedBy>lenovo</cp:lastModifiedBy>
  <cp:revision>11</cp:revision>
  <dcterms:created xsi:type="dcterms:W3CDTF">2021-03-19T04:04:42Z</dcterms:created>
  <dcterms:modified xsi:type="dcterms:W3CDTF">2024-08-21T05:18:23Z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2020-01-03T00:00:00Z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2021-03-19T00:00:00Z</vt:filetime>
  </property>
</Properties>
</file>