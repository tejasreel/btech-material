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75" r:id="rId2"/>
    <p:sldId id="278" r:id="rId3"/>
    <p:sldId id="257" r:id="rId4"/>
    <p:sldId id="277" r:id="rId5"/>
    <p:sldId id="259" r:id="rId6"/>
    <p:sldId id="296" r:id="rId7"/>
    <p:sldId id="276" r:id="rId8"/>
    <p:sldId id="262"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67" r:id="rId24"/>
    <p:sldId id="294" r:id="rId25"/>
    <p:sldId id="295" r:id="rId26"/>
    <p:sldId id="293" r:id="rId27"/>
    <p:sldId id="268" r:id="rId28"/>
    <p:sldId id="269" r:id="rId29"/>
    <p:sldId id="270" r:id="rId30"/>
    <p:sldId id="271" r:id="rId31"/>
    <p:sldId id="272" r:id="rId32"/>
    <p:sldId id="273" r:id="rId3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00920BF-8D58-4A51-B730-D55A6083AEB8}" type="datetimeFigureOut">
              <a:rPr lang="en-IN" smtClean="0"/>
              <a:t>26-10-2022</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78C304C-5B11-4C5A-9507-ABBA00826D8A}" type="slidenum">
              <a:rPr lang="en-IN" smtClean="0"/>
              <a:t>‹#›</a:t>
            </a:fld>
            <a:endParaRPr lang="en-IN"/>
          </a:p>
        </p:txBody>
      </p:sp>
    </p:spTree>
    <p:extLst>
      <p:ext uri="{BB962C8B-B14F-4D97-AF65-F5344CB8AC3E}">
        <p14:creationId xmlns:p14="http://schemas.microsoft.com/office/powerpoint/2010/main" val="1929787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8C304C-5B11-4C5A-9507-ABBA00826D8A}" type="slidenum">
              <a:rPr lang="en-IN" smtClean="0"/>
              <a:t>15</a:t>
            </a:fld>
            <a:endParaRPr lang="en-IN"/>
          </a:p>
        </p:txBody>
      </p:sp>
    </p:spTree>
    <p:extLst>
      <p:ext uri="{BB962C8B-B14F-4D97-AF65-F5344CB8AC3E}">
        <p14:creationId xmlns:p14="http://schemas.microsoft.com/office/powerpoint/2010/main" val="645817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8C304C-5B11-4C5A-9507-ABBA00826D8A}" type="slidenum">
              <a:rPr lang="en-IN" smtClean="0"/>
              <a:t>17</a:t>
            </a:fld>
            <a:endParaRPr lang="en-IN"/>
          </a:p>
        </p:txBody>
      </p:sp>
    </p:spTree>
    <p:extLst>
      <p:ext uri="{BB962C8B-B14F-4D97-AF65-F5344CB8AC3E}">
        <p14:creationId xmlns:p14="http://schemas.microsoft.com/office/powerpoint/2010/main" val="438183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5940" y="300354"/>
            <a:ext cx="8072119" cy="46100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rgbClr val="3333CC"/>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rgbClr val="3333CC"/>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7" name="Holder 7"/>
          <p:cNvSpPr>
            <a:spLocks noGrp="1"/>
          </p:cNvSpPr>
          <p:nvPr>
            <p:ph type="sldNum" sz="quarter" idx="7"/>
          </p:nvPr>
        </p:nvSpPr>
        <p:spPr/>
        <p:txBody>
          <a:bodyPr lIns="0" tIns="0" rIns="0" bIns="0"/>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50" b="1" i="0">
                <a:solidFill>
                  <a:srgbClr val="3333C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5" name="Holder 5"/>
          <p:cNvSpPr>
            <a:spLocks noGrp="1"/>
          </p:cNvSpPr>
          <p:nvPr>
            <p:ph type="sldNum" sz="quarter" idx="7"/>
          </p:nvPr>
        </p:nvSpPr>
        <p:spPr/>
        <p:txBody>
          <a:bodyPr lIns="0" tIns="0" rIns="0" bIns="0"/>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4" name="Holder 4"/>
          <p:cNvSpPr>
            <a:spLocks noGrp="1"/>
          </p:cNvSpPr>
          <p:nvPr>
            <p:ph type="sldNum" sz="quarter" idx="7"/>
          </p:nvPr>
        </p:nvSpPr>
        <p:spPr/>
        <p:txBody>
          <a:bodyPr lIns="0" tIns="0" rIns="0" bIns="0"/>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228600"/>
            <a:ext cx="8229600" cy="609600"/>
          </a:xfrm>
          <a:custGeom>
            <a:avLst/>
            <a:gdLst/>
            <a:ahLst/>
            <a:cxnLst/>
            <a:rect l="l" t="t" r="r" b="b"/>
            <a:pathLst>
              <a:path w="8229600" h="609600">
                <a:moveTo>
                  <a:pt x="0" y="609600"/>
                </a:moveTo>
                <a:lnTo>
                  <a:pt x="0" y="0"/>
                </a:lnTo>
                <a:lnTo>
                  <a:pt x="8229600" y="0"/>
                </a:lnTo>
              </a:path>
            </a:pathLst>
          </a:custGeom>
          <a:ln w="19050">
            <a:solidFill>
              <a:srgbClr val="666699"/>
            </a:solidFill>
          </a:ln>
        </p:spPr>
        <p:txBody>
          <a:bodyPr wrap="square" lIns="0" tIns="0" rIns="0" bIns="0" rtlCol="0"/>
          <a:lstStyle/>
          <a:p>
            <a:endParaRPr/>
          </a:p>
        </p:txBody>
      </p:sp>
      <p:sp>
        <p:nvSpPr>
          <p:cNvPr id="17" name="bg object 17"/>
          <p:cNvSpPr/>
          <p:nvPr/>
        </p:nvSpPr>
        <p:spPr>
          <a:xfrm>
            <a:off x="457200" y="6172200"/>
            <a:ext cx="8229600" cy="0"/>
          </a:xfrm>
          <a:custGeom>
            <a:avLst/>
            <a:gdLst/>
            <a:ahLst/>
            <a:cxnLst/>
            <a:rect l="l" t="t" r="r" b="b"/>
            <a:pathLst>
              <a:path w="8229600">
                <a:moveTo>
                  <a:pt x="0" y="0"/>
                </a:moveTo>
                <a:lnTo>
                  <a:pt x="8229600" y="0"/>
                </a:lnTo>
              </a:path>
            </a:pathLst>
          </a:custGeom>
          <a:ln w="19050">
            <a:solidFill>
              <a:srgbClr val="666699"/>
            </a:solidFill>
          </a:ln>
        </p:spPr>
        <p:txBody>
          <a:bodyPr wrap="square" lIns="0" tIns="0" rIns="0" bIns="0" rtlCol="0"/>
          <a:lstStyle/>
          <a:p>
            <a:endParaRPr/>
          </a:p>
        </p:txBody>
      </p:sp>
      <p:sp>
        <p:nvSpPr>
          <p:cNvPr id="2" name="Holder 2"/>
          <p:cNvSpPr>
            <a:spLocks noGrp="1"/>
          </p:cNvSpPr>
          <p:nvPr>
            <p:ph type="title"/>
          </p:nvPr>
        </p:nvSpPr>
        <p:spPr>
          <a:xfrm>
            <a:off x="535940" y="300354"/>
            <a:ext cx="6960870" cy="895350"/>
          </a:xfrm>
          <a:prstGeom prst="rect">
            <a:avLst/>
          </a:prstGeom>
        </p:spPr>
        <p:txBody>
          <a:bodyPr wrap="square" lIns="0" tIns="0" rIns="0" bIns="0">
            <a:spAutoFit/>
          </a:bodyPr>
          <a:lstStyle>
            <a:lvl1pPr>
              <a:defRPr sz="2850" b="1" i="0">
                <a:solidFill>
                  <a:srgbClr val="3333CC"/>
                </a:solidFill>
                <a:latin typeface="Arial"/>
                <a:cs typeface="Arial"/>
              </a:defRPr>
            </a:lvl1pPr>
          </a:lstStyle>
          <a:p>
            <a:endParaRPr/>
          </a:p>
        </p:txBody>
      </p:sp>
      <p:sp>
        <p:nvSpPr>
          <p:cNvPr id="3" name="Holder 3"/>
          <p:cNvSpPr>
            <a:spLocks noGrp="1"/>
          </p:cNvSpPr>
          <p:nvPr>
            <p:ph type="body" idx="1"/>
          </p:nvPr>
        </p:nvSpPr>
        <p:spPr>
          <a:xfrm>
            <a:off x="535940" y="1166829"/>
            <a:ext cx="7995920" cy="444627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10/26/2022</a:t>
            </a:fld>
            <a:endParaRPr lang="en-US"/>
          </a:p>
        </p:txBody>
      </p:sp>
      <p:sp>
        <p:nvSpPr>
          <p:cNvPr id="6" name="Holder 6"/>
          <p:cNvSpPr>
            <a:spLocks noGrp="1"/>
          </p:cNvSpPr>
          <p:nvPr>
            <p:ph type="sldNum" sz="quarter" idx="7"/>
          </p:nvPr>
        </p:nvSpPr>
        <p:spPr>
          <a:xfrm>
            <a:off x="8450326" y="6513317"/>
            <a:ext cx="183515" cy="154304"/>
          </a:xfrm>
          <a:prstGeom prst="rect">
            <a:avLst/>
          </a:prstGeom>
        </p:spPr>
        <p:txBody>
          <a:bodyPr wrap="square" lIns="0" tIns="0" rIns="0" bIns="0">
            <a:spAutoFit/>
          </a:bodyPr>
          <a:lstStyle>
            <a:lvl1pPr>
              <a:defRPr sz="900" b="0" i="0">
                <a:solidFill>
                  <a:schemeClr val="tx1"/>
                </a:solidFill>
                <a:latin typeface="PMingLiU-ExtB"/>
                <a:cs typeface="PMingLiU-ExtB"/>
              </a:defRPr>
            </a:lvl1pPr>
          </a:lstStyle>
          <a:p>
            <a:pPr marL="38100">
              <a:lnSpc>
                <a:spcPts val="1055"/>
              </a:lnSpc>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beginnersbook.com/2014/01/parameterized-constructor-in-java-exampl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javatpoint.com/jvm-java-virtual-machine" TargetMode="External"/><Relationship Id="rId2" Type="http://schemas.openxmlformats.org/officeDocument/2006/relationships/hyperlink" Target="https://www.javatpoint.com/Garbage-Collectio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B3623-E881-377A-5C00-6FD94CCE9F0B}"/>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E946572D-9742-F50E-A7D6-7FFAC170A176}"/>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7856604F-48DB-62A8-3B11-EDC849C64E83}"/>
              </a:ext>
            </a:extLst>
          </p:cNvPr>
          <p:cNvPicPr>
            <a:picLocks noChangeAspect="1"/>
          </p:cNvPicPr>
          <p:nvPr/>
        </p:nvPicPr>
        <p:blipFill>
          <a:blip r:embed="rId2"/>
          <a:stretch>
            <a:fillRect/>
          </a:stretch>
        </p:blipFill>
        <p:spPr>
          <a:xfrm>
            <a:off x="304800" y="342900"/>
            <a:ext cx="8839200" cy="6172200"/>
          </a:xfrm>
          <a:prstGeom prst="rect">
            <a:avLst/>
          </a:prstGeom>
        </p:spPr>
      </p:pic>
    </p:spTree>
    <p:extLst>
      <p:ext uri="{BB962C8B-B14F-4D97-AF65-F5344CB8AC3E}">
        <p14:creationId xmlns:p14="http://schemas.microsoft.com/office/powerpoint/2010/main" val="1056082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BF3E-E39A-A3ED-7FBE-6E4C8A206A2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CEE109D-E49C-A32B-5652-44FE9E3318D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701160A0-FDBA-7D0E-358A-56AF47033B79}"/>
              </a:ext>
            </a:extLst>
          </p:cNvPr>
          <p:cNvPicPr>
            <a:picLocks noChangeAspect="1"/>
          </p:cNvPicPr>
          <p:nvPr/>
        </p:nvPicPr>
        <p:blipFill>
          <a:blip r:embed="rId2"/>
          <a:stretch>
            <a:fillRect/>
          </a:stretch>
        </p:blipFill>
        <p:spPr>
          <a:xfrm>
            <a:off x="304800" y="152401"/>
            <a:ext cx="8382000" cy="6158228"/>
          </a:xfrm>
          <a:prstGeom prst="rect">
            <a:avLst/>
          </a:prstGeom>
        </p:spPr>
      </p:pic>
    </p:spTree>
    <p:extLst>
      <p:ext uri="{BB962C8B-B14F-4D97-AF65-F5344CB8AC3E}">
        <p14:creationId xmlns:p14="http://schemas.microsoft.com/office/powerpoint/2010/main" val="524888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3624579" cy="461009"/>
          </a:xfrm>
          <a:prstGeom prst="rect">
            <a:avLst/>
          </a:prstGeom>
        </p:spPr>
        <p:txBody>
          <a:bodyPr vert="horz" wrap="square" lIns="0" tIns="13335" rIns="0" bIns="0" rtlCol="0">
            <a:spAutoFit/>
          </a:bodyPr>
          <a:lstStyle/>
          <a:p>
            <a:pPr marL="12700">
              <a:lnSpc>
                <a:spcPct val="100000"/>
              </a:lnSpc>
              <a:spcBef>
                <a:spcPts val="105"/>
              </a:spcBef>
            </a:pPr>
            <a:endParaRPr spc="-5"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 dirty="0"/>
              <a:t>3</a:t>
            </a:fld>
            <a:endParaRPr spc="-5" dirty="0"/>
          </a:p>
        </p:txBody>
      </p:sp>
      <p:sp>
        <p:nvSpPr>
          <p:cNvPr id="3" name="object 3"/>
          <p:cNvSpPr txBox="1"/>
          <p:nvPr/>
        </p:nvSpPr>
        <p:spPr>
          <a:xfrm>
            <a:off x="535940" y="797711"/>
            <a:ext cx="8065134" cy="4097275"/>
          </a:xfrm>
          <a:prstGeom prst="rect">
            <a:avLst/>
          </a:prstGeom>
        </p:spPr>
        <p:txBody>
          <a:bodyPr vert="horz" wrap="square" lIns="0" tIns="12700" rIns="0" bIns="0" rtlCol="0">
            <a:spAutoFit/>
          </a:bodyPr>
          <a:lstStyle/>
          <a:p>
            <a:pPr marL="12065" marR="577850">
              <a:lnSpc>
                <a:spcPct val="150200"/>
              </a:lnSpc>
              <a:spcBef>
                <a:spcPts val="100"/>
              </a:spcBef>
              <a:buClr>
                <a:srgbClr val="3333CC"/>
              </a:buClr>
              <a:buSzPct val="64444"/>
              <a:tabLst>
                <a:tab pos="270510" algn="l"/>
              </a:tabLst>
            </a:pPr>
            <a:endParaRPr sz="2250" dirty="0">
              <a:latin typeface="Arial MT"/>
              <a:cs typeface="Arial MT"/>
            </a:endParaRPr>
          </a:p>
          <a:p>
            <a:pPr marL="12700">
              <a:lnSpc>
                <a:spcPct val="100000"/>
              </a:lnSpc>
              <a:spcBef>
                <a:spcPts val="1035"/>
              </a:spcBef>
            </a:pPr>
            <a:r>
              <a:rPr sz="2250" b="1" dirty="0">
                <a:solidFill>
                  <a:schemeClr val="tx2">
                    <a:lumMod val="60000"/>
                    <a:lumOff val="40000"/>
                  </a:schemeClr>
                </a:solidFill>
                <a:latin typeface="Arial"/>
                <a:cs typeface="Arial"/>
              </a:rPr>
              <a:t>How</a:t>
            </a:r>
            <a:r>
              <a:rPr sz="2250" b="1" spc="-5"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Constructors</a:t>
            </a:r>
            <a:r>
              <a:rPr sz="2250" b="1" spc="-40"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are</a:t>
            </a:r>
            <a:r>
              <a:rPr sz="2250" b="1" spc="-15"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Different</a:t>
            </a:r>
            <a:r>
              <a:rPr sz="2250" b="1" spc="-45"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From</a:t>
            </a:r>
            <a:r>
              <a:rPr sz="2250" b="1" spc="-10"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Methods</a:t>
            </a:r>
            <a:r>
              <a:rPr sz="2250" b="1" spc="-40" dirty="0">
                <a:solidFill>
                  <a:schemeClr val="tx2">
                    <a:lumMod val="60000"/>
                    <a:lumOff val="40000"/>
                  </a:schemeClr>
                </a:solidFill>
                <a:latin typeface="Arial"/>
                <a:cs typeface="Arial"/>
              </a:rPr>
              <a:t> </a:t>
            </a:r>
            <a:r>
              <a:rPr sz="2250" b="1" dirty="0">
                <a:solidFill>
                  <a:schemeClr val="tx2">
                    <a:lumMod val="60000"/>
                    <a:lumOff val="40000"/>
                  </a:schemeClr>
                </a:solidFill>
                <a:latin typeface="Arial"/>
                <a:cs typeface="Arial"/>
              </a:rPr>
              <a:t>in </a:t>
            </a:r>
            <a:r>
              <a:rPr sz="2250" b="1" spc="10" dirty="0">
                <a:solidFill>
                  <a:schemeClr val="tx2">
                    <a:lumMod val="60000"/>
                    <a:lumOff val="40000"/>
                  </a:schemeClr>
                </a:solidFill>
                <a:latin typeface="Arial"/>
                <a:cs typeface="Arial"/>
              </a:rPr>
              <a:t>Java?</a:t>
            </a:r>
            <a:endParaRPr lang="en-US" sz="2250" b="1" spc="10" dirty="0">
              <a:solidFill>
                <a:schemeClr val="tx2">
                  <a:lumMod val="60000"/>
                  <a:lumOff val="40000"/>
                </a:schemeClr>
              </a:solidFill>
              <a:latin typeface="Arial"/>
              <a:cs typeface="Arial"/>
            </a:endParaRPr>
          </a:p>
          <a:p>
            <a:pPr marL="12700">
              <a:lnSpc>
                <a:spcPct val="100000"/>
              </a:lnSpc>
              <a:spcBef>
                <a:spcPts val="1035"/>
              </a:spcBef>
            </a:pPr>
            <a:endParaRPr sz="2250" dirty="0">
              <a:solidFill>
                <a:srgbClr val="FF0000"/>
              </a:solidFill>
              <a:latin typeface="Arial"/>
              <a:cs typeface="Arial"/>
            </a:endParaRPr>
          </a:p>
          <a:p>
            <a:pPr marL="269875" marR="215900" indent="-257810">
              <a:lnSpc>
                <a:spcPct val="100000"/>
              </a:lnSpc>
              <a:spcBef>
                <a:spcPts val="540"/>
              </a:spcBef>
              <a:buClr>
                <a:srgbClr val="3333CC"/>
              </a:buClr>
              <a:buSzPct val="64444"/>
              <a:buFont typeface="Wingdings"/>
              <a:buChar char=""/>
              <a:tabLst>
                <a:tab pos="270510" algn="l"/>
              </a:tabLst>
            </a:pPr>
            <a:r>
              <a:rPr sz="2250" dirty="0">
                <a:latin typeface="Arial MT"/>
                <a:cs typeface="Arial MT"/>
              </a:rPr>
              <a:t>Constructors must have </a:t>
            </a:r>
            <a:r>
              <a:rPr sz="2250" dirty="0">
                <a:solidFill>
                  <a:srgbClr val="FF0000"/>
                </a:solidFill>
                <a:latin typeface="Arial MT"/>
                <a:cs typeface="Arial MT"/>
              </a:rPr>
              <a:t>the </a:t>
            </a:r>
            <a:r>
              <a:rPr sz="2250" spc="5" dirty="0">
                <a:solidFill>
                  <a:srgbClr val="FF0000"/>
                </a:solidFill>
                <a:latin typeface="Arial MT"/>
                <a:cs typeface="Arial MT"/>
              </a:rPr>
              <a:t>same name </a:t>
            </a:r>
            <a:r>
              <a:rPr sz="2250" dirty="0">
                <a:solidFill>
                  <a:srgbClr val="FF0000"/>
                </a:solidFill>
                <a:latin typeface="Arial MT"/>
                <a:cs typeface="Arial MT"/>
              </a:rPr>
              <a:t>as the class </a:t>
            </a:r>
            <a:r>
              <a:rPr sz="2250" dirty="0">
                <a:latin typeface="Arial MT"/>
                <a:cs typeface="Arial MT"/>
              </a:rPr>
              <a:t>within </a:t>
            </a:r>
            <a:r>
              <a:rPr sz="2250" spc="5" dirty="0">
                <a:latin typeface="Arial MT"/>
                <a:cs typeface="Arial MT"/>
              </a:rPr>
              <a:t> </a:t>
            </a:r>
            <a:r>
              <a:rPr sz="2250" dirty="0">
                <a:latin typeface="Arial MT"/>
                <a:cs typeface="Arial MT"/>
              </a:rPr>
              <a:t>which</a:t>
            </a:r>
            <a:r>
              <a:rPr sz="2250" spc="-25" dirty="0">
                <a:latin typeface="Arial MT"/>
                <a:cs typeface="Arial MT"/>
              </a:rPr>
              <a:t> </a:t>
            </a:r>
            <a:r>
              <a:rPr sz="2250" dirty="0">
                <a:latin typeface="Arial MT"/>
                <a:cs typeface="Arial MT"/>
              </a:rPr>
              <a:t>it</a:t>
            </a:r>
            <a:r>
              <a:rPr sz="2250" spc="5" dirty="0">
                <a:latin typeface="Arial MT"/>
                <a:cs typeface="Arial MT"/>
              </a:rPr>
              <a:t> </a:t>
            </a:r>
            <a:r>
              <a:rPr sz="2250" dirty="0">
                <a:latin typeface="Arial MT"/>
                <a:cs typeface="Arial MT"/>
              </a:rPr>
              <a:t>is</a:t>
            </a:r>
            <a:r>
              <a:rPr sz="2250" spc="5" dirty="0">
                <a:latin typeface="Arial MT"/>
                <a:cs typeface="Arial MT"/>
              </a:rPr>
              <a:t> </a:t>
            </a:r>
            <a:r>
              <a:rPr sz="2250" dirty="0">
                <a:latin typeface="Arial MT"/>
                <a:cs typeface="Arial MT"/>
              </a:rPr>
              <a:t>defined</a:t>
            </a:r>
            <a:r>
              <a:rPr sz="2250" spc="-40" dirty="0">
                <a:latin typeface="Arial MT"/>
                <a:cs typeface="Arial MT"/>
              </a:rPr>
              <a:t> </a:t>
            </a:r>
            <a:r>
              <a:rPr sz="2250" dirty="0">
                <a:latin typeface="Arial MT"/>
                <a:cs typeface="Arial MT"/>
              </a:rPr>
              <a:t>while</a:t>
            </a:r>
            <a:r>
              <a:rPr sz="2250" spc="-25" dirty="0">
                <a:latin typeface="Arial MT"/>
                <a:cs typeface="Arial MT"/>
              </a:rPr>
              <a:t> </a:t>
            </a:r>
            <a:r>
              <a:rPr sz="2250" dirty="0">
                <a:latin typeface="Arial MT"/>
                <a:cs typeface="Arial MT"/>
              </a:rPr>
              <a:t>it</a:t>
            </a:r>
            <a:r>
              <a:rPr sz="2250" spc="5" dirty="0">
                <a:latin typeface="Arial MT"/>
                <a:cs typeface="Arial MT"/>
              </a:rPr>
              <a:t> </a:t>
            </a:r>
            <a:r>
              <a:rPr sz="2250" dirty="0">
                <a:latin typeface="Arial MT"/>
                <a:cs typeface="Arial MT"/>
              </a:rPr>
              <a:t>is</a:t>
            </a:r>
            <a:r>
              <a:rPr sz="2250" spc="5" dirty="0">
                <a:latin typeface="Arial MT"/>
                <a:cs typeface="Arial MT"/>
              </a:rPr>
              <a:t> </a:t>
            </a:r>
            <a:r>
              <a:rPr sz="2250" dirty="0">
                <a:latin typeface="Arial MT"/>
                <a:cs typeface="Arial MT"/>
              </a:rPr>
              <a:t>not</a:t>
            </a:r>
            <a:r>
              <a:rPr sz="2250" spc="-25" dirty="0">
                <a:latin typeface="Arial MT"/>
                <a:cs typeface="Arial MT"/>
              </a:rPr>
              <a:t> </a:t>
            </a:r>
            <a:r>
              <a:rPr sz="2250" dirty="0">
                <a:latin typeface="Arial MT"/>
                <a:cs typeface="Arial MT"/>
              </a:rPr>
              <a:t>necessary</a:t>
            </a:r>
            <a:r>
              <a:rPr sz="2250" spc="-5" dirty="0">
                <a:latin typeface="Arial MT"/>
                <a:cs typeface="Arial MT"/>
              </a:rPr>
              <a:t> </a:t>
            </a:r>
            <a:r>
              <a:rPr sz="2250" dirty="0">
                <a:latin typeface="Arial MT"/>
                <a:cs typeface="Arial MT"/>
              </a:rPr>
              <a:t>for</a:t>
            </a:r>
            <a:r>
              <a:rPr sz="2250" spc="-45" dirty="0">
                <a:latin typeface="Arial MT"/>
                <a:cs typeface="Arial MT"/>
              </a:rPr>
              <a:t> </a:t>
            </a:r>
            <a:r>
              <a:rPr sz="2250" dirty="0">
                <a:latin typeface="Arial MT"/>
                <a:cs typeface="Arial MT"/>
              </a:rPr>
              <a:t>the</a:t>
            </a:r>
            <a:r>
              <a:rPr sz="2250" spc="-5" dirty="0">
                <a:latin typeface="Arial MT"/>
                <a:cs typeface="Arial MT"/>
              </a:rPr>
              <a:t> </a:t>
            </a:r>
            <a:r>
              <a:rPr sz="2250" dirty="0">
                <a:latin typeface="Arial MT"/>
                <a:cs typeface="Arial MT"/>
              </a:rPr>
              <a:t>method</a:t>
            </a:r>
            <a:r>
              <a:rPr sz="2250" spc="-40" dirty="0">
                <a:latin typeface="Arial MT"/>
                <a:cs typeface="Arial MT"/>
              </a:rPr>
              <a:t> </a:t>
            </a:r>
            <a:r>
              <a:rPr sz="2250" dirty="0">
                <a:latin typeface="Arial MT"/>
                <a:cs typeface="Arial MT"/>
              </a:rPr>
              <a:t>in </a:t>
            </a:r>
            <a:r>
              <a:rPr sz="2250" spc="-610" dirty="0">
                <a:latin typeface="Arial MT"/>
                <a:cs typeface="Arial MT"/>
              </a:rPr>
              <a:t> </a:t>
            </a:r>
            <a:r>
              <a:rPr sz="2250" dirty="0">
                <a:latin typeface="Arial MT"/>
                <a:cs typeface="Arial MT"/>
              </a:rPr>
              <a:t>Java.</a:t>
            </a:r>
          </a:p>
          <a:p>
            <a:pPr marL="269875" marR="38735" indent="-257810">
              <a:lnSpc>
                <a:spcPct val="100000"/>
              </a:lnSpc>
              <a:spcBef>
                <a:spcPts val="540"/>
              </a:spcBef>
              <a:buClr>
                <a:srgbClr val="3333CC"/>
              </a:buClr>
              <a:buSzPct val="64444"/>
              <a:buFont typeface="Wingdings"/>
              <a:buChar char=""/>
              <a:tabLst>
                <a:tab pos="270510" algn="l"/>
              </a:tabLst>
            </a:pPr>
            <a:r>
              <a:rPr sz="2250" dirty="0">
                <a:latin typeface="Arial MT"/>
                <a:cs typeface="Arial MT"/>
              </a:rPr>
              <a:t>Constructors</a:t>
            </a:r>
            <a:r>
              <a:rPr sz="2250" spc="-35" dirty="0">
                <a:latin typeface="Arial MT"/>
                <a:cs typeface="Arial MT"/>
              </a:rPr>
              <a:t> </a:t>
            </a:r>
            <a:r>
              <a:rPr sz="2250" dirty="0">
                <a:solidFill>
                  <a:srgbClr val="FF0000"/>
                </a:solidFill>
                <a:latin typeface="Arial MT"/>
                <a:cs typeface="Arial MT"/>
              </a:rPr>
              <a:t>do</a:t>
            </a:r>
            <a:r>
              <a:rPr sz="2250" spc="-15" dirty="0">
                <a:solidFill>
                  <a:srgbClr val="FF0000"/>
                </a:solidFill>
                <a:latin typeface="Arial MT"/>
                <a:cs typeface="Arial MT"/>
              </a:rPr>
              <a:t> </a:t>
            </a:r>
            <a:r>
              <a:rPr sz="2250" dirty="0">
                <a:solidFill>
                  <a:srgbClr val="FF0000"/>
                </a:solidFill>
                <a:latin typeface="Arial MT"/>
                <a:cs typeface="Arial MT"/>
              </a:rPr>
              <a:t>not</a:t>
            </a:r>
            <a:r>
              <a:rPr sz="2250" spc="-15" dirty="0">
                <a:solidFill>
                  <a:srgbClr val="FF0000"/>
                </a:solidFill>
                <a:latin typeface="Arial MT"/>
                <a:cs typeface="Arial MT"/>
              </a:rPr>
              <a:t> </a:t>
            </a:r>
            <a:r>
              <a:rPr sz="2250" dirty="0">
                <a:solidFill>
                  <a:srgbClr val="FF0000"/>
                </a:solidFill>
                <a:latin typeface="Arial MT"/>
                <a:cs typeface="Arial MT"/>
              </a:rPr>
              <a:t>return</a:t>
            </a:r>
            <a:r>
              <a:rPr sz="2250" spc="-40" dirty="0">
                <a:solidFill>
                  <a:srgbClr val="FF0000"/>
                </a:solidFill>
                <a:latin typeface="Arial MT"/>
                <a:cs typeface="Arial MT"/>
              </a:rPr>
              <a:t> </a:t>
            </a:r>
            <a:r>
              <a:rPr sz="2250" dirty="0">
                <a:solidFill>
                  <a:srgbClr val="FF0000"/>
                </a:solidFill>
                <a:latin typeface="Arial MT"/>
                <a:cs typeface="Arial MT"/>
              </a:rPr>
              <a:t>any</a:t>
            </a:r>
            <a:r>
              <a:rPr sz="2250" spc="-20" dirty="0">
                <a:solidFill>
                  <a:srgbClr val="FF0000"/>
                </a:solidFill>
                <a:latin typeface="Arial MT"/>
                <a:cs typeface="Arial MT"/>
              </a:rPr>
              <a:t> </a:t>
            </a:r>
            <a:r>
              <a:rPr sz="2250" dirty="0">
                <a:solidFill>
                  <a:srgbClr val="FF0000"/>
                </a:solidFill>
                <a:latin typeface="Arial MT"/>
                <a:cs typeface="Arial MT"/>
              </a:rPr>
              <a:t>type</a:t>
            </a:r>
            <a:r>
              <a:rPr sz="2250" spc="15" dirty="0">
                <a:solidFill>
                  <a:srgbClr val="FF0000"/>
                </a:solidFill>
                <a:latin typeface="Arial MT"/>
                <a:cs typeface="Arial MT"/>
              </a:rPr>
              <a:t> </a:t>
            </a:r>
            <a:r>
              <a:rPr sz="2250" dirty="0">
                <a:latin typeface="Arial MT"/>
                <a:cs typeface="Arial MT"/>
              </a:rPr>
              <a:t>while</a:t>
            </a:r>
            <a:r>
              <a:rPr sz="2250" spc="-25" dirty="0">
                <a:latin typeface="Arial MT"/>
                <a:cs typeface="Arial MT"/>
              </a:rPr>
              <a:t> </a:t>
            </a:r>
            <a:r>
              <a:rPr sz="2250" dirty="0">
                <a:latin typeface="Arial MT"/>
                <a:cs typeface="Arial MT"/>
              </a:rPr>
              <a:t>method(s)</a:t>
            </a:r>
            <a:r>
              <a:rPr sz="2250" spc="-35" dirty="0">
                <a:latin typeface="Arial MT"/>
                <a:cs typeface="Arial MT"/>
              </a:rPr>
              <a:t> </a:t>
            </a:r>
            <a:r>
              <a:rPr sz="2250" dirty="0">
                <a:latin typeface="Arial MT"/>
                <a:cs typeface="Arial MT"/>
              </a:rPr>
              <a:t>have</a:t>
            </a:r>
            <a:r>
              <a:rPr sz="2250" spc="-20" dirty="0">
                <a:latin typeface="Arial MT"/>
                <a:cs typeface="Arial MT"/>
              </a:rPr>
              <a:t> </a:t>
            </a:r>
            <a:r>
              <a:rPr sz="2250" dirty="0">
                <a:latin typeface="Arial MT"/>
                <a:cs typeface="Arial MT"/>
              </a:rPr>
              <a:t>the </a:t>
            </a:r>
            <a:r>
              <a:rPr sz="2250" spc="-610" dirty="0">
                <a:latin typeface="Arial MT"/>
                <a:cs typeface="Arial MT"/>
              </a:rPr>
              <a:t> </a:t>
            </a:r>
            <a:r>
              <a:rPr sz="2250" dirty="0">
                <a:latin typeface="Arial MT"/>
                <a:cs typeface="Arial MT"/>
              </a:rPr>
              <a:t>return</a:t>
            </a:r>
            <a:r>
              <a:rPr sz="2250" spc="-35" dirty="0">
                <a:latin typeface="Arial MT"/>
                <a:cs typeface="Arial MT"/>
              </a:rPr>
              <a:t> </a:t>
            </a:r>
            <a:r>
              <a:rPr sz="2250" dirty="0">
                <a:latin typeface="Arial MT"/>
                <a:cs typeface="Arial MT"/>
              </a:rPr>
              <a:t>type</a:t>
            </a:r>
            <a:r>
              <a:rPr sz="2250" spc="-20" dirty="0">
                <a:latin typeface="Arial MT"/>
                <a:cs typeface="Arial MT"/>
              </a:rPr>
              <a:t> </a:t>
            </a:r>
            <a:r>
              <a:rPr sz="2250" dirty="0">
                <a:latin typeface="Arial MT"/>
                <a:cs typeface="Arial MT"/>
              </a:rPr>
              <a:t>or</a:t>
            </a:r>
            <a:r>
              <a:rPr sz="2250" spc="5" dirty="0">
                <a:latin typeface="Arial MT"/>
                <a:cs typeface="Arial MT"/>
              </a:rPr>
              <a:t> </a:t>
            </a:r>
            <a:r>
              <a:rPr sz="2250" b="1" dirty="0">
                <a:latin typeface="Arial"/>
                <a:cs typeface="Arial"/>
              </a:rPr>
              <a:t>void</a:t>
            </a:r>
            <a:r>
              <a:rPr sz="2250" b="1" spc="-25" dirty="0">
                <a:latin typeface="Arial"/>
                <a:cs typeface="Arial"/>
              </a:rPr>
              <a:t> </a:t>
            </a:r>
            <a:r>
              <a:rPr sz="2250" dirty="0">
                <a:latin typeface="Arial MT"/>
                <a:cs typeface="Arial MT"/>
              </a:rPr>
              <a:t>if does</a:t>
            </a:r>
            <a:r>
              <a:rPr sz="2250" spc="-35" dirty="0">
                <a:latin typeface="Arial MT"/>
                <a:cs typeface="Arial MT"/>
              </a:rPr>
              <a:t> </a:t>
            </a:r>
            <a:r>
              <a:rPr sz="2250" dirty="0">
                <a:latin typeface="Arial MT"/>
                <a:cs typeface="Arial MT"/>
              </a:rPr>
              <a:t>not</a:t>
            </a:r>
            <a:r>
              <a:rPr sz="2250" spc="-20" dirty="0">
                <a:latin typeface="Arial MT"/>
                <a:cs typeface="Arial MT"/>
              </a:rPr>
              <a:t> </a:t>
            </a:r>
            <a:r>
              <a:rPr sz="2250" dirty="0">
                <a:latin typeface="Arial MT"/>
                <a:cs typeface="Arial MT"/>
              </a:rPr>
              <a:t>return</a:t>
            </a:r>
            <a:r>
              <a:rPr sz="2250" spc="-5" dirty="0">
                <a:latin typeface="Arial MT"/>
                <a:cs typeface="Arial MT"/>
              </a:rPr>
              <a:t> </a:t>
            </a:r>
            <a:r>
              <a:rPr sz="2250" dirty="0">
                <a:latin typeface="Arial MT"/>
                <a:cs typeface="Arial MT"/>
              </a:rPr>
              <a:t>any</a:t>
            </a:r>
            <a:r>
              <a:rPr sz="2250" spc="-40" dirty="0">
                <a:latin typeface="Arial MT"/>
                <a:cs typeface="Arial MT"/>
              </a:rPr>
              <a:t> </a:t>
            </a:r>
            <a:r>
              <a:rPr sz="2250" dirty="0">
                <a:latin typeface="Arial MT"/>
                <a:cs typeface="Arial MT"/>
              </a:rPr>
              <a:t>value.</a:t>
            </a:r>
          </a:p>
          <a:p>
            <a:pPr marL="269875" marR="166370" indent="-257810">
              <a:lnSpc>
                <a:spcPct val="100000"/>
              </a:lnSpc>
              <a:spcBef>
                <a:spcPts val="545"/>
              </a:spcBef>
              <a:buClr>
                <a:srgbClr val="3333CC"/>
              </a:buClr>
              <a:buSzPct val="64444"/>
              <a:buFont typeface="Wingdings"/>
              <a:buChar char=""/>
              <a:tabLst>
                <a:tab pos="270510" algn="l"/>
              </a:tabLst>
            </a:pPr>
            <a:r>
              <a:rPr sz="2250" dirty="0">
                <a:latin typeface="Arial MT"/>
                <a:cs typeface="Arial MT"/>
              </a:rPr>
              <a:t>Constructors are called </a:t>
            </a:r>
            <a:r>
              <a:rPr sz="2250" dirty="0">
                <a:solidFill>
                  <a:srgbClr val="FF0000"/>
                </a:solidFill>
                <a:latin typeface="Arial MT"/>
                <a:cs typeface="Arial MT"/>
              </a:rPr>
              <a:t>only once at the time of Object </a:t>
            </a:r>
            <a:r>
              <a:rPr sz="2250" spc="5" dirty="0">
                <a:solidFill>
                  <a:srgbClr val="FF0000"/>
                </a:solidFill>
                <a:latin typeface="Arial MT"/>
                <a:cs typeface="Arial MT"/>
              </a:rPr>
              <a:t> </a:t>
            </a:r>
            <a:r>
              <a:rPr sz="2250" dirty="0">
                <a:latin typeface="Arial MT"/>
                <a:cs typeface="Arial MT"/>
              </a:rPr>
              <a:t>creation</a:t>
            </a:r>
            <a:r>
              <a:rPr sz="2250" spc="-30" dirty="0">
                <a:latin typeface="Arial MT"/>
                <a:cs typeface="Arial MT"/>
              </a:rPr>
              <a:t> </a:t>
            </a:r>
            <a:r>
              <a:rPr sz="2250" dirty="0">
                <a:latin typeface="Arial MT"/>
                <a:cs typeface="Arial MT"/>
              </a:rPr>
              <a:t>while</a:t>
            </a:r>
            <a:r>
              <a:rPr sz="2250" spc="-20" dirty="0">
                <a:latin typeface="Arial MT"/>
                <a:cs typeface="Arial MT"/>
              </a:rPr>
              <a:t> </a:t>
            </a:r>
            <a:r>
              <a:rPr sz="2250" dirty="0">
                <a:latin typeface="Arial MT"/>
                <a:cs typeface="Arial MT"/>
              </a:rPr>
              <a:t>method(s)</a:t>
            </a:r>
            <a:r>
              <a:rPr sz="2250" spc="-30" dirty="0">
                <a:latin typeface="Arial MT"/>
                <a:cs typeface="Arial MT"/>
              </a:rPr>
              <a:t> </a:t>
            </a:r>
            <a:r>
              <a:rPr sz="2250" dirty="0">
                <a:latin typeface="Arial MT"/>
                <a:cs typeface="Arial MT"/>
              </a:rPr>
              <a:t>can</a:t>
            </a:r>
            <a:r>
              <a:rPr sz="2250" spc="-10" dirty="0">
                <a:latin typeface="Arial MT"/>
                <a:cs typeface="Arial MT"/>
              </a:rPr>
              <a:t> </a:t>
            </a:r>
            <a:r>
              <a:rPr sz="2250" dirty="0">
                <a:latin typeface="Arial MT"/>
                <a:cs typeface="Arial MT"/>
              </a:rPr>
              <a:t>be</a:t>
            </a:r>
            <a:r>
              <a:rPr sz="2250" spc="-15" dirty="0">
                <a:latin typeface="Arial MT"/>
                <a:cs typeface="Arial MT"/>
              </a:rPr>
              <a:t> </a:t>
            </a:r>
            <a:r>
              <a:rPr sz="2250" dirty="0">
                <a:latin typeface="Arial MT"/>
                <a:cs typeface="Arial MT"/>
              </a:rPr>
              <a:t>called</a:t>
            </a:r>
            <a:r>
              <a:rPr sz="2250" spc="-25" dirty="0">
                <a:latin typeface="Arial MT"/>
                <a:cs typeface="Arial MT"/>
              </a:rPr>
              <a:t> </a:t>
            </a:r>
            <a:r>
              <a:rPr sz="2250" dirty="0">
                <a:latin typeface="Arial MT"/>
                <a:cs typeface="Arial MT"/>
              </a:rPr>
              <a:t>any</a:t>
            </a:r>
            <a:r>
              <a:rPr sz="2250" spc="-20" dirty="0">
                <a:latin typeface="Arial MT"/>
                <a:cs typeface="Arial MT"/>
              </a:rPr>
              <a:t> </a:t>
            </a:r>
            <a:r>
              <a:rPr sz="2250" dirty="0">
                <a:latin typeface="Arial MT"/>
                <a:cs typeface="Arial MT"/>
              </a:rPr>
              <a:t>number</a:t>
            </a:r>
            <a:r>
              <a:rPr sz="2250" spc="-30" dirty="0">
                <a:latin typeface="Arial MT"/>
                <a:cs typeface="Arial MT"/>
              </a:rPr>
              <a:t> </a:t>
            </a:r>
            <a:r>
              <a:rPr sz="2250" dirty="0">
                <a:latin typeface="Arial MT"/>
                <a:cs typeface="Arial MT"/>
              </a:rPr>
              <a:t>of</a:t>
            </a:r>
            <a:r>
              <a:rPr sz="2250" spc="-5" dirty="0">
                <a:latin typeface="Arial MT"/>
                <a:cs typeface="Arial MT"/>
              </a:rPr>
              <a:t> </a:t>
            </a:r>
            <a:r>
              <a:rPr sz="2250" dirty="0">
                <a:latin typeface="Arial MT"/>
                <a:cs typeface="Arial MT"/>
              </a:rPr>
              <a:t>times.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BA2F-2590-A117-4BDB-A9346ACCA4E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C67A4AF-2229-70F2-9C7E-7BA0C61E1C67}"/>
              </a:ext>
            </a:extLst>
          </p:cNvPr>
          <p:cNvSpPr>
            <a:spLocks noGrp="1"/>
          </p:cNvSpPr>
          <p:nvPr>
            <p:ph type="body" idx="1"/>
          </p:nvPr>
        </p:nvSpPr>
        <p:spPr>
          <a:xfrm>
            <a:off x="535940" y="1166829"/>
            <a:ext cx="7995920" cy="3385542"/>
          </a:xfrm>
        </p:spPr>
        <p:txBody>
          <a:bodyPr/>
          <a:lstStyle/>
          <a:p>
            <a:r>
              <a:rPr lang="en-IN" dirty="0"/>
              <a:t>public class Hello {</a:t>
            </a:r>
          </a:p>
          <a:p>
            <a:r>
              <a:rPr lang="en-IN" dirty="0"/>
              <a:t>   String name;</a:t>
            </a:r>
          </a:p>
          <a:p>
            <a:r>
              <a:rPr lang="en-IN" dirty="0"/>
              <a:t>            //Constructor</a:t>
            </a:r>
          </a:p>
          <a:p>
            <a:r>
              <a:rPr lang="en-IN" dirty="0"/>
              <a:t>   Hello(){</a:t>
            </a:r>
          </a:p>
          <a:p>
            <a:r>
              <a:rPr lang="en-IN" dirty="0"/>
              <a:t>      this.name = “Java";</a:t>
            </a:r>
          </a:p>
          <a:p>
            <a:r>
              <a:rPr lang="en-IN" dirty="0"/>
              <a:t>   }</a:t>
            </a:r>
          </a:p>
          <a:p>
            <a:r>
              <a:rPr lang="en-IN" dirty="0"/>
              <a:t>   public static void main(String[] </a:t>
            </a:r>
            <a:r>
              <a:rPr lang="en-IN" dirty="0" err="1"/>
              <a:t>args</a:t>
            </a:r>
            <a:r>
              <a:rPr lang="en-IN" dirty="0"/>
              <a:t>) {</a:t>
            </a:r>
          </a:p>
          <a:p>
            <a:r>
              <a:rPr lang="en-IN" dirty="0"/>
              <a:t>      Hello </a:t>
            </a:r>
            <a:r>
              <a:rPr lang="en-IN" dirty="0" err="1"/>
              <a:t>obj</a:t>
            </a:r>
            <a:r>
              <a:rPr lang="en-IN" dirty="0"/>
              <a:t> = new Hello();</a:t>
            </a:r>
          </a:p>
          <a:p>
            <a:r>
              <a:rPr lang="en-IN" dirty="0"/>
              <a:t>      </a:t>
            </a:r>
            <a:r>
              <a:rPr lang="en-IN" dirty="0" err="1"/>
              <a:t>System.out.println</a:t>
            </a:r>
            <a:r>
              <a:rPr lang="en-IN" dirty="0"/>
              <a:t>(obj.name);</a:t>
            </a:r>
          </a:p>
          <a:p>
            <a:r>
              <a:rPr lang="en-IN" dirty="0"/>
              <a:t>   }</a:t>
            </a:r>
          </a:p>
          <a:p>
            <a:r>
              <a:rPr lang="en-IN" dirty="0"/>
              <a:t>}</a:t>
            </a:r>
          </a:p>
        </p:txBody>
      </p:sp>
    </p:spTree>
    <p:extLst>
      <p:ext uri="{BB962C8B-B14F-4D97-AF65-F5344CB8AC3E}">
        <p14:creationId xmlns:p14="http://schemas.microsoft.com/office/powerpoint/2010/main" val="497679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8652" y="410717"/>
            <a:ext cx="6252210" cy="5926622"/>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006699"/>
                </a:solidFill>
                <a:latin typeface="Consolas"/>
                <a:cs typeface="Consolas"/>
              </a:rPr>
              <a:t>impor</a:t>
            </a:r>
            <a:r>
              <a:rPr sz="1600" b="1" spc="-5" dirty="0">
                <a:solidFill>
                  <a:srgbClr val="006699"/>
                </a:solidFill>
                <a:latin typeface="Consolas"/>
                <a:cs typeface="Consolas"/>
              </a:rPr>
              <a:t>t</a:t>
            </a:r>
            <a:r>
              <a:rPr sz="1600" b="1" spc="-390" dirty="0">
                <a:solidFill>
                  <a:srgbClr val="006699"/>
                </a:solidFill>
                <a:latin typeface="Consolas"/>
                <a:cs typeface="Consolas"/>
              </a:rPr>
              <a:t> </a:t>
            </a:r>
            <a:r>
              <a:rPr sz="1600" b="1" spc="-10" dirty="0">
                <a:latin typeface="Consolas"/>
                <a:cs typeface="Consolas"/>
              </a:rPr>
              <a:t>java.io.*;</a:t>
            </a:r>
            <a:endParaRPr sz="1600" dirty="0">
              <a:latin typeface="Consolas"/>
              <a:cs typeface="Consolas"/>
            </a:endParaRPr>
          </a:p>
          <a:p>
            <a:pPr>
              <a:lnSpc>
                <a:spcPct val="100000"/>
              </a:lnSpc>
            </a:pPr>
            <a:endParaRPr sz="1600" dirty="0">
              <a:latin typeface="Consolas"/>
              <a:cs typeface="Consolas"/>
            </a:endParaRPr>
          </a:p>
          <a:p>
            <a:pPr>
              <a:lnSpc>
                <a:spcPct val="100000"/>
              </a:lnSpc>
              <a:spcBef>
                <a:spcPts val="25"/>
              </a:spcBef>
            </a:pPr>
            <a:endParaRPr sz="1250" dirty="0">
              <a:latin typeface="Consolas"/>
              <a:cs typeface="Consolas"/>
            </a:endParaRPr>
          </a:p>
          <a:p>
            <a:pPr marR="4944745" algn="r">
              <a:lnSpc>
                <a:spcPct val="100000"/>
              </a:lnSpc>
            </a:pPr>
            <a:r>
              <a:rPr sz="1600" b="1" spc="-10" dirty="0">
                <a:solidFill>
                  <a:srgbClr val="006699"/>
                </a:solidFill>
                <a:latin typeface="Consolas"/>
                <a:cs typeface="Consolas"/>
              </a:rPr>
              <a:t>clas</a:t>
            </a:r>
            <a:r>
              <a:rPr sz="1600" b="1" spc="-5" dirty="0">
                <a:solidFill>
                  <a:srgbClr val="006699"/>
                </a:solidFill>
                <a:latin typeface="Consolas"/>
                <a:cs typeface="Consolas"/>
              </a:rPr>
              <a:t>s</a:t>
            </a:r>
            <a:r>
              <a:rPr sz="1600" b="1" spc="-395" dirty="0">
                <a:solidFill>
                  <a:srgbClr val="006699"/>
                </a:solidFill>
                <a:latin typeface="Consolas"/>
                <a:cs typeface="Consolas"/>
              </a:rPr>
              <a:t> </a:t>
            </a:r>
            <a:r>
              <a:rPr lang="en-US" sz="1600" b="1" spc="-10" dirty="0">
                <a:solidFill>
                  <a:srgbClr val="006699"/>
                </a:solidFill>
                <a:latin typeface="Consolas"/>
                <a:cs typeface="Consolas"/>
              </a:rPr>
              <a:t>Stud</a:t>
            </a:r>
            <a:r>
              <a:rPr sz="1600" b="1" spc="-10" dirty="0">
                <a:latin typeface="Consolas"/>
                <a:cs typeface="Consolas"/>
              </a:rPr>
              <a:t> </a:t>
            </a:r>
            <a:r>
              <a:rPr sz="1600" b="1" spc="-5" dirty="0">
                <a:latin typeface="Consolas"/>
                <a:cs typeface="Consolas"/>
              </a:rPr>
              <a:t>{</a:t>
            </a:r>
            <a:endParaRPr sz="1600" dirty="0">
              <a:latin typeface="Consolas"/>
              <a:cs typeface="Consolas"/>
            </a:endParaRPr>
          </a:p>
          <a:p>
            <a:pPr marR="4944745" algn="r">
              <a:lnSpc>
                <a:spcPct val="100000"/>
              </a:lnSpc>
            </a:pPr>
            <a:r>
              <a:rPr sz="1600" b="1" spc="-10" dirty="0">
                <a:solidFill>
                  <a:srgbClr val="006699"/>
                </a:solidFill>
                <a:latin typeface="Consolas"/>
                <a:cs typeface="Consolas"/>
              </a:rPr>
              <a:t>in</a:t>
            </a:r>
            <a:r>
              <a:rPr sz="1600" b="1" spc="-5" dirty="0">
                <a:solidFill>
                  <a:srgbClr val="006699"/>
                </a:solidFill>
                <a:latin typeface="Consolas"/>
                <a:cs typeface="Consolas"/>
              </a:rPr>
              <a:t>t</a:t>
            </a:r>
            <a:r>
              <a:rPr sz="1600" b="1" spc="-390" dirty="0">
                <a:solidFill>
                  <a:srgbClr val="006699"/>
                </a:solidFill>
                <a:latin typeface="Consolas"/>
                <a:cs typeface="Consolas"/>
              </a:rPr>
              <a:t> </a:t>
            </a:r>
            <a:r>
              <a:rPr sz="1600" b="1" spc="-10" dirty="0">
                <a:latin typeface="Consolas"/>
                <a:cs typeface="Consolas"/>
              </a:rPr>
              <a:t>nu</a:t>
            </a:r>
            <a:r>
              <a:rPr sz="1600" b="1" spc="-5" dirty="0">
                <a:latin typeface="Consolas"/>
                <a:cs typeface="Consolas"/>
              </a:rPr>
              <a:t>m;</a:t>
            </a:r>
            <a:endParaRPr sz="1600" dirty="0">
              <a:latin typeface="Consolas"/>
              <a:cs typeface="Consolas"/>
            </a:endParaRPr>
          </a:p>
          <a:p>
            <a:pPr marL="457200">
              <a:lnSpc>
                <a:spcPct val="100000"/>
              </a:lnSpc>
              <a:spcBef>
                <a:spcPts val="1125"/>
              </a:spcBef>
            </a:pPr>
            <a:r>
              <a:rPr sz="1600" b="1" spc="-10" dirty="0">
                <a:latin typeface="Consolas"/>
                <a:cs typeface="Consolas"/>
              </a:rPr>
              <a:t>String</a:t>
            </a:r>
            <a:r>
              <a:rPr sz="1600" b="1" spc="-55" dirty="0">
                <a:latin typeface="Consolas"/>
                <a:cs typeface="Consolas"/>
              </a:rPr>
              <a:t> </a:t>
            </a:r>
            <a:r>
              <a:rPr sz="1600" b="1" spc="-10" dirty="0">
                <a:latin typeface="Consolas"/>
                <a:cs typeface="Consolas"/>
              </a:rPr>
              <a:t>name;</a:t>
            </a:r>
            <a:endParaRPr sz="1600" dirty="0">
              <a:latin typeface="Consolas"/>
              <a:cs typeface="Consolas"/>
            </a:endParaRPr>
          </a:p>
          <a:p>
            <a:pPr marL="457200">
              <a:lnSpc>
                <a:spcPct val="100000"/>
              </a:lnSpc>
              <a:spcBef>
                <a:spcPts val="315"/>
              </a:spcBef>
            </a:pPr>
            <a:r>
              <a:rPr sz="1600" b="1" spc="-5" dirty="0">
                <a:solidFill>
                  <a:srgbClr val="008200"/>
                </a:solidFill>
                <a:latin typeface="Consolas"/>
                <a:cs typeface="Consolas"/>
              </a:rPr>
              <a:t>//</a:t>
            </a:r>
            <a:r>
              <a:rPr sz="1600" b="1" spc="-10" dirty="0">
                <a:solidFill>
                  <a:srgbClr val="008200"/>
                </a:solidFill>
                <a:latin typeface="Consolas"/>
                <a:cs typeface="Consolas"/>
              </a:rPr>
              <a:t> this would</a:t>
            </a:r>
            <a:r>
              <a:rPr sz="1600" b="1" spc="-5" dirty="0">
                <a:solidFill>
                  <a:srgbClr val="008200"/>
                </a:solidFill>
                <a:latin typeface="Consolas"/>
                <a:cs typeface="Consolas"/>
              </a:rPr>
              <a:t> be</a:t>
            </a:r>
            <a:r>
              <a:rPr sz="1600" b="1" spc="-10" dirty="0">
                <a:solidFill>
                  <a:srgbClr val="008200"/>
                </a:solidFill>
                <a:latin typeface="Consolas"/>
                <a:cs typeface="Consolas"/>
              </a:rPr>
              <a:t> invoked</a:t>
            </a:r>
            <a:r>
              <a:rPr sz="1600" b="1" spc="-20" dirty="0">
                <a:solidFill>
                  <a:srgbClr val="008200"/>
                </a:solidFill>
                <a:latin typeface="Consolas"/>
                <a:cs typeface="Consolas"/>
              </a:rPr>
              <a:t> </a:t>
            </a:r>
            <a:r>
              <a:rPr sz="1600" b="1" spc="-10" dirty="0">
                <a:solidFill>
                  <a:srgbClr val="008200"/>
                </a:solidFill>
                <a:latin typeface="Consolas"/>
                <a:cs typeface="Consolas"/>
              </a:rPr>
              <a:t>while </a:t>
            </a:r>
            <a:r>
              <a:rPr sz="1600" b="1" spc="-5" dirty="0">
                <a:solidFill>
                  <a:srgbClr val="008200"/>
                </a:solidFill>
                <a:latin typeface="Consolas"/>
                <a:cs typeface="Consolas"/>
              </a:rPr>
              <a:t>an</a:t>
            </a:r>
            <a:r>
              <a:rPr sz="1600" b="1" spc="-10" dirty="0">
                <a:solidFill>
                  <a:srgbClr val="008200"/>
                </a:solidFill>
                <a:latin typeface="Consolas"/>
                <a:cs typeface="Consolas"/>
              </a:rPr>
              <a:t> object</a:t>
            </a:r>
            <a:endParaRPr sz="1600" dirty="0">
              <a:latin typeface="Consolas"/>
              <a:cs typeface="Consolas"/>
            </a:endParaRPr>
          </a:p>
          <a:p>
            <a:pPr marL="457200">
              <a:lnSpc>
                <a:spcPct val="100000"/>
              </a:lnSpc>
            </a:pPr>
            <a:r>
              <a:rPr sz="1600" b="1" spc="-5" dirty="0">
                <a:solidFill>
                  <a:srgbClr val="008200"/>
                </a:solidFill>
                <a:latin typeface="Consolas"/>
                <a:cs typeface="Consolas"/>
              </a:rPr>
              <a:t>//</a:t>
            </a:r>
            <a:r>
              <a:rPr sz="1600" b="1" spc="-15" dirty="0">
                <a:solidFill>
                  <a:srgbClr val="008200"/>
                </a:solidFill>
                <a:latin typeface="Consolas"/>
                <a:cs typeface="Consolas"/>
              </a:rPr>
              <a:t> </a:t>
            </a:r>
            <a:r>
              <a:rPr sz="1600" b="1" spc="-5" dirty="0">
                <a:solidFill>
                  <a:srgbClr val="008200"/>
                </a:solidFill>
                <a:latin typeface="Consolas"/>
                <a:cs typeface="Consolas"/>
              </a:rPr>
              <a:t>of</a:t>
            </a:r>
            <a:r>
              <a:rPr sz="1600" b="1" spc="-15" dirty="0">
                <a:solidFill>
                  <a:srgbClr val="008200"/>
                </a:solidFill>
                <a:latin typeface="Consolas"/>
                <a:cs typeface="Consolas"/>
              </a:rPr>
              <a:t> </a:t>
            </a:r>
            <a:r>
              <a:rPr sz="1600" b="1" spc="-10" dirty="0">
                <a:solidFill>
                  <a:srgbClr val="008200"/>
                </a:solidFill>
                <a:latin typeface="Consolas"/>
                <a:cs typeface="Consolas"/>
              </a:rPr>
              <a:t>that</a:t>
            </a:r>
            <a:r>
              <a:rPr sz="1600" b="1" spc="-30" dirty="0">
                <a:solidFill>
                  <a:srgbClr val="008200"/>
                </a:solidFill>
                <a:latin typeface="Consolas"/>
                <a:cs typeface="Consolas"/>
              </a:rPr>
              <a:t> </a:t>
            </a:r>
            <a:r>
              <a:rPr sz="1600" b="1" spc="-10" dirty="0">
                <a:solidFill>
                  <a:srgbClr val="008200"/>
                </a:solidFill>
                <a:latin typeface="Consolas"/>
                <a:cs typeface="Consolas"/>
              </a:rPr>
              <a:t>class</a:t>
            </a:r>
            <a:r>
              <a:rPr sz="1600" b="1" spc="-15" dirty="0">
                <a:solidFill>
                  <a:srgbClr val="008200"/>
                </a:solidFill>
                <a:latin typeface="Consolas"/>
                <a:cs typeface="Consolas"/>
              </a:rPr>
              <a:t> </a:t>
            </a:r>
            <a:r>
              <a:rPr sz="1600" b="1" spc="-5" dirty="0">
                <a:solidFill>
                  <a:srgbClr val="008200"/>
                </a:solidFill>
                <a:latin typeface="Consolas"/>
                <a:cs typeface="Consolas"/>
              </a:rPr>
              <a:t>is</a:t>
            </a:r>
            <a:r>
              <a:rPr sz="1600" b="1" spc="-15" dirty="0">
                <a:solidFill>
                  <a:srgbClr val="008200"/>
                </a:solidFill>
                <a:latin typeface="Consolas"/>
                <a:cs typeface="Consolas"/>
              </a:rPr>
              <a:t> </a:t>
            </a:r>
            <a:r>
              <a:rPr sz="1600" b="1" spc="-10" dirty="0">
                <a:solidFill>
                  <a:srgbClr val="008200"/>
                </a:solidFill>
                <a:latin typeface="Consolas"/>
                <a:cs typeface="Consolas"/>
              </a:rPr>
              <a:t>created.</a:t>
            </a:r>
            <a:endParaRPr sz="1600" dirty="0">
              <a:latin typeface="Consolas"/>
              <a:cs typeface="Consolas"/>
            </a:endParaRPr>
          </a:p>
          <a:p>
            <a:pPr marL="457200">
              <a:lnSpc>
                <a:spcPct val="100000"/>
              </a:lnSpc>
            </a:pPr>
            <a:r>
              <a:rPr lang="en-US" sz="1600" b="1" spc="-10" dirty="0">
                <a:latin typeface="Consolas"/>
                <a:cs typeface="Consolas"/>
              </a:rPr>
              <a:t>Stud</a:t>
            </a:r>
            <a:r>
              <a:rPr sz="1600" b="1" spc="-10" dirty="0">
                <a:latin typeface="Consolas"/>
                <a:cs typeface="Consolas"/>
              </a:rPr>
              <a:t>()</a:t>
            </a:r>
            <a:r>
              <a:rPr sz="1600" b="1" spc="10" dirty="0">
                <a:latin typeface="Consolas"/>
                <a:cs typeface="Consolas"/>
              </a:rPr>
              <a:t> </a:t>
            </a:r>
            <a:r>
              <a:rPr sz="1600" b="1" spc="-5" dirty="0">
                <a:latin typeface="Consolas"/>
                <a:cs typeface="Consolas"/>
              </a:rPr>
              <a:t>{</a:t>
            </a:r>
            <a:r>
              <a:rPr sz="1600" b="1" spc="15" dirty="0">
                <a:latin typeface="Consolas"/>
                <a:cs typeface="Consolas"/>
              </a:rPr>
              <a:t> </a:t>
            </a:r>
            <a:r>
              <a:rPr sz="1600" b="1" spc="-10" dirty="0">
                <a:latin typeface="Consolas"/>
                <a:cs typeface="Consolas"/>
              </a:rPr>
              <a:t>System.out.println(</a:t>
            </a:r>
            <a:r>
              <a:rPr sz="1600" b="1" spc="-10" dirty="0">
                <a:solidFill>
                  <a:srgbClr val="0000FF"/>
                </a:solidFill>
                <a:latin typeface="Consolas"/>
                <a:cs typeface="Consolas"/>
              </a:rPr>
              <a:t>"Constructor</a:t>
            </a:r>
            <a:r>
              <a:rPr sz="1600" b="1" spc="10" dirty="0">
                <a:solidFill>
                  <a:srgbClr val="0000FF"/>
                </a:solidFill>
                <a:latin typeface="Consolas"/>
                <a:cs typeface="Consolas"/>
              </a:rPr>
              <a:t> </a:t>
            </a:r>
            <a:r>
              <a:rPr sz="1600" b="1" spc="-10" dirty="0">
                <a:solidFill>
                  <a:srgbClr val="0000FF"/>
                </a:solidFill>
                <a:latin typeface="Consolas"/>
                <a:cs typeface="Consolas"/>
              </a:rPr>
              <a:t>called"</a:t>
            </a:r>
            <a:r>
              <a:rPr sz="1600" b="1" spc="-10" dirty="0">
                <a:latin typeface="Consolas"/>
                <a:cs typeface="Consolas"/>
              </a:rPr>
              <a:t>);</a:t>
            </a:r>
            <a:r>
              <a:rPr sz="1600" b="1" spc="15" dirty="0">
                <a:latin typeface="Consolas"/>
                <a:cs typeface="Consolas"/>
              </a:rPr>
              <a:t> </a:t>
            </a:r>
            <a:r>
              <a:rPr sz="1600" b="1" spc="-5" dirty="0">
                <a:latin typeface="Consolas"/>
                <a:cs typeface="Consolas"/>
              </a:rPr>
              <a:t>}</a:t>
            </a:r>
            <a:endParaRPr sz="1600" dirty="0">
              <a:latin typeface="Consolas"/>
              <a:cs typeface="Consolas"/>
            </a:endParaRPr>
          </a:p>
          <a:p>
            <a:pPr marL="12700">
              <a:lnSpc>
                <a:spcPct val="100000"/>
              </a:lnSpc>
            </a:pPr>
            <a:r>
              <a:rPr sz="1600" b="1" spc="-5" dirty="0">
                <a:latin typeface="Consolas"/>
                <a:cs typeface="Consolas"/>
              </a:rPr>
              <a:t>}</a:t>
            </a:r>
            <a:endParaRPr sz="1600" dirty="0">
              <a:latin typeface="Consolas"/>
              <a:cs typeface="Consolas"/>
            </a:endParaRPr>
          </a:p>
          <a:p>
            <a:pPr>
              <a:lnSpc>
                <a:spcPct val="100000"/>
              </a:lnSpc>
            </a:pPr>
            <a:endParaRPr sz="1600" dirty="0">
              <a:latin typeface="Consolas"/>
              <a:cs typeface="Consolas"/>
            </a:endParaRPr>
          </a:p>
          <a:p>
            <a:pPr>
              <a:lnSpc>
                <a:spcPct val="100000"/>
              </a:lnSpc>
              <a:spcBef>
                <a:spcPts val="25"/>
              </a:spcBef>
            </a:pPr>
            <a:endParaRPr sz="1250" dirty="0">
              <a:latin typeface="Consolas"/>
              <a:cs typeface="Consolas"/>
            </a:endParaRPr>
          </a:p>
          <a:p>
            <a:pPr marL="12700">
              <a:lnSpc>
                <a:spcPct val="100000"/>
              </a:lnSpc>
            </a:pPr>
            <a:r>
              <a:rPr sz="1600" b="1" spc="-10" dirty="0">
                <a:solidFill>
                  <a:srgbClr val="006699"/>
                </a:solidFill>
                <a:latin typeface="Consolas"/>
                <a:cs typeface="Consolas"/>
              </a:rPr>
              <a:t>clas</a:t>
            </a:r>
            <a:r>
              <a:rPr sz="1600" b="1" spc="-5" dirty="0">
                <a:solidFill>
                  <a:srgbClr val="006699"/>
                </a:solidFill>
                <a:latin typeface="Consolas"/>
                <a:cs typeface="Consolas"/>
              </a:rPr>
              <a:t>s</a:t>
            </a:r>
            <a:r>
              <a:rPr sz="1600" b="1" spc="-390" dirty="0">
                <a:solidFill>
                  <a:srgbClr val="006699"/>
                </a:solidFill>
                <a:latin typeface="Consolas"/>
                <a:cs typeface="Consolas"/>
              </a:rPr>
              <a:t> </a:t>
            </a:r>
            <a:r>
              <a:rPr lang="en-US" sz="1600" b="1" spc="-10" dirty="0">
                <a:solidFill>
                  <a:srgbClr val="006699"/>
                </a:solidFill>
                <a:latin typeface="Consolas"/>
                <a:cs typeface="Consolas"/>
              </a:rPr>
              <a:t>Example</a:t>
            </a:r>
            <a:r>
              <a:rPr sz="1600" b="1" spc="-5" dirty="0">
                <a:latin typeface="Consolas"/>
                <a:cs typeface="Consolas"/>
              </a:rPr>
              <a:t> {</a:t>
            </a:r>
            <a:endParaRPr sz="1600" dirty="0">
              <a:latin typeface="Consolas"/>
              <a:cs typeface="Consolas"/>
            </a:endParaRPr>
          </a:p>
          <a:p>
            <a:pPr marL="457200">
              <a:lnSpc>
                <a:spcPct val="100000"/>
              </a:lnSpc>
            </a:pPr>
            <a:r>
              <a:rPr sz="1600" b="1" spc="-10" dirty="0">
                <a:solidFill>
                  <a:srgbClr val="006699"/>
                </a:solidFill>
                <a:latin typeface="Consolas"/>
                <a:cs typeface="Consolas"/>
              </a:rPr>
              <a:t>public</a:t>
            </a:r>
            <a:r>
              <a:rPr sz="1600" b="1" spc="-390" dirty="0">
                <a:solidFill>
                  <a:srgbClr val="006699"/>
                </a:solidFill>
                <a:latin typeface="Consolas"/>
                <a:cs typeface="Consolas"/>
              </a:rPr>
              <a:t> </a:t>
            </a:r>
            <a:r>
              <a:rPr sz="1600" b="1" spc="-10" dirty="0">
                <a:solidFill>
                  <a:srgbClr val="006699"/>
                </a:solidFill>
                <a:latin typeface="Consolas"/>
                <a:cs typeface="Consolas"/>
              </a:rPr>
              <a:t>static</a:t>
            </a:r>
            <a:r>
              <a:rPr sz="1600" b="1" spc="-385" dirty="0">
                <a:solidFill>
                  <a:srgbClr val="006699"/>
                </a:solidFill>
                <a:latin typeface="Consolas"/>
                <a:cs typeface="Consolas"/>
              </a:rPr>
              <a:t> </a:t>
            </a:r>
            <a:r>
              <a:rPr sz="1600" b="1" spc="-10" dirty="0">
                <a:solidFill>
                  <a:srgbClr val="006699"/>
                </a:solidFill>
                <a:latin typeface="Consolas"/>
                <a:cs typeface="Consolas"/>
              </a:rPr>
              <a:t>void</a:t>
            </a:r>
            <a:r>
              <a:rPr sz="1600" b="1" spc="-385" dirty="0">
                <a:solidFill>
                  <a:srgbClr val="006699"/>
                </a:solidFill>
                <a:latin typeface="Consolas"/>
                <a:cs typeface="Consolas"/>
              </a:rPr>
              <a:t> </a:t>
            </a:r>
            <a:r>
              <a:rPr sz="1600" b="1" spc="-10" dirty="0">
                <a:latin typeface="Consolas"/>
                <a:cs typeface="Consolas"/>
              </a:rPr>
              <a:t>main(String[]</a:t>
            </a:r>
            <a:r>
              <a:rPr sz="1600" b="1" spc="-5" dirty="0">
                <a:latin typeface="Consolas"/>
                <a:cs typeface="Consolas"/>
              </a:rPr>
              <a:t> </a:t>
            </a:r>
            <a:r>
              <a:rPr sz="1600" b="1" spc="-10" dirty="0">
                <a:latin typeface="Consolas"/>
                <a:cs typeface="Consolas"/>
              </a:rPr>
              <a:t>args)</a:t>
            </a:r>
            <a:endParaRPr sz="1600" dirty="0">
              <a:latin typeface="Consolas"/>
              <a:cs typeface="Consolas"/>
            </a:endParaRPr>
          </a:p>
          <a:p>
            <a:pPr marL="457200">
              <a:lnSpc>
                <a:spcPct val="100000"/>
              </a:lnSpc>
            </a:pPr>
            <a:r>
              <a:rPr sz="1600" b="1" spc="-5" dirty="0">
                <a:latin typeface="Consolas"/>
                <a:cs typeface="Consolas"/>
              </a:rPr>
              <a:t>{</a:t>
            </a:r>
            <a:endParaRPr sz="1600" dirty="0">
              <a:latin typeface="Consolas"/>
              <a:cs typeface="Consolas"/>
            </a:endParaRPr>
          </a:p>
          <a:p>
            <a:pPr marL="902335">
              <a:lnSpc>
                <a:spcPct val="100000"/>
              </a:lnSpc>
            </a:pPr>
            <a:r>
              <a:rPr sz="1600" b="1" spc="-5" dirty="0">
                <a:solidFill>
                  <a:srgbClr val="008200"/>
                </a:solidFill>
                <a:latin typeface="Consolas"/>
                <a:cs typeface="Consolas"/>
              </a:rPr>
              <a:t>//</a:t>
            </a:r>
            <a:r>
              <a:rPr sz="1600" b="1" spc="-15" dirty="0">
                <a:solidFill>
                  <a:srgbClr val="008200"/>
                </a:solidFill>
                <a:latin typeface="Consolas"/>
                <a:cs typeface="Consolas"/>
              </a:rPr>
              <a:t> </a:t>
            </a:r>
            <a:r>
              <a:rPr sz="1600" b="1" spc="-10" dirty="0">
                <a:solidFill>
                  <a:srgbClr val="008200"/>
                </a:solidFill>
                <a:latin typeface="Consolas"/>
                <a:cs typeface="Consolas"/>
              </a:rPr>
              <a:t>this </a:t>
            </a:r>
            <a:r>
              <a:rPr sz="1600" b="1" spc="-5" dirty="0">
                <a:solidFill>
                  <a:srgbClr val="008200"/>
                </a:solidFill>
                <a:latin typeface="Consolas"/>
                <a:cs typeface="Consolas"/>
              </a:rPr>
              <a:t>would</a:t>
            </a:r>
            <a:r>
              <a:rPr sz="1600" b="1" spc="-10" dirty="0">
                <a:solidFill>
                  <a:srgbClr val="008200"/>
                </a:solidFill>
                <a:latin typeface="Consolas"/>
                <a:cs typeface="Consolas"/>
              </a:rPr>
              <a:t> </a:t>
            </a:r>
            <a:r>
              <a:rPr sz="1600" b="1" spc="-5" dirty="0">
                <a:solidFill>
                  <a:srgbClr val="008200"/>
                </a:solidFill>
                <a:latin typeface="Consolas"/>
                <a:cs typeface="Consolas"/>
              </a:rPr>
              <a:t>invoke</a:t>
            </a:r>
            <a:r>
              <a:rPr sz="1600" b="1" spc="-20" dirty="0">
                <a:solidFill>
                  <a:srgbClr val="008200"/>
                </a:solidFill>
                <a:latin typeface="Consolas"/>
                <a:cs typeface="Consolas"/>
              </a:rPr>
              <a:t> </a:t>
            </a:r>
            <a:r>
              <a:rPr sz="1600" b="1" spc="-10" dirty="0">
                <a:solidFill>
                  <a:srgbClr val="008200"/>
                </a:solidFill>
                <a:latin typeface="Consolas"/>
                <a:cs typeface="Consolas"/>
              </a:rPr>
              <a:t>default</a:t>
            </a:r>
            <a:r>
              <a:rPr sz="1600" b="1" spc="-15" dirty="0">
                <a:solidFill>
                  <a:srgbClr val="008200"/>
                </a:solidFill>
                <a:latin typeface="Consolas"/>
                <a:cs typeface="Consolas"/>
              </a:rPr>
              <a:t> </a:t>
            </a:r>
            <a:r>
              <a:rPr sz="1600" b="1" spc="-10" dirty="0">
                <a:solidFill>
                  <a:srgbClr val="008200"/>
                </a:solidFill>
                <a:latin typeface="Consolas"/>
                <a:cs typeface="Consolas"/>
              </a:rPr>
              <a:t>constructor.</a:t>
            </a:r>
            <a:endParaRPr sz="1600" dirty="0">
              <a:latin typeface="Consolas"/>
              <a:cs typeface="Consolas"/>
            </a:endParaRPr>
          </a:p>
          <a:p>
            <a:pPr marL="902335">
              <a:lnSpc>
                <a:spcPct val="100000"/>
              </a:lnSpc>
            </a:pPr>
            <a:r>
              <a:rPr lang="en-US" sz="1600" b="1" spc="-5" dirty="0">
                <a:latin typeface="Consolas"/>
                <a:cs typeface="Consolas"/>
              </a:rPr>
              <a:t>Stud</a:t>
            </a:r>
            <a:r>
              <a:rPr sz="1600" b="1" spc="-5" dirty="0">
                <a:latin typeface="Consolas"/>
                <a:cs typeface="Consolas"/>
              </a:rPr>
              <a:t> </a:t>
            </a:r>
            <a:r>
              <a:rPr lang="en-US" sz="1600" b="1" spc="-25" dirty="0">
                <a:latin typeface="Consolas"/>
                <a:cs typeface="Consolas"/>
              </a:rPr>
              <a:t>stud1</a:t>
            </a:r>
            <a:r>
              <a:rPr sz="1600" b="1" spc="-5" dirty="0">
                <a:latin typeface="Consolas"/>
                <a:cs typeface="Consolas"/>
              </a:rPr>
              <a:t> =</a:t>
            </a:r>
            <a:r>
              <a:rPr sz="1600" b="1" spc="-10" dirty="0">
                <a:latin typeface="Consolas"/>
                <a:cs typeface="Consolas"/>
              </a:rPr>
              <a:t> </a:t>
            </a:r>
            <a:r>
              <a:rPr sz="1600" b="1" spc="-10" dirty="0">
                <a:solidFill>
                  <a:srgbClr val="006699"/>
                </a:solidFill>
                <a:latin typeface="Consolas"/>
                <a:cs typeface="Consolas"/>
              </a:rPr>
              <a:t>ne</a:t>
            </a:r>
            <a:r>
              <a:rPr sz="1600" b="1" spc="-5" dirty="0">
                <a:solidFill>
                  <a:srgbClr val="006699"/>
                </a:solidFill>
                <a:latin typeface="Consolas"/>
                <a:cs typeface="Consolas"/>
              </a:rPr>
              <a:t>w</a:t>
            </a:r>
            <a:r>
              <a:rPr sz="1600" b="1" spc="-390" dirty="0">
                <a:solidFill>
                  <a:srgbClr val="006699"/>
                </a:solidFill>
                <a:latin typeface="Consolas"/>
                <a:cs typeface="Consolas"/>
              </a:rPr>
              <a:t> </a:t>
            </a:r>
            <a:r>
              <a:rPr lang="en-US" sz="1600" b="1" spc="-10" dirty="0">
                <a:solidFill>
                  <a:srgbClr val="006699"/>
                </a:solidFill>
                <a:latin typeface="Consolas"/>
                <a:cs typeface="Consolas"/>
              </a:rPr>
              <a:t>Stud</a:t>
            </a:r>
            <a:r>
              <a:rPr sz="1600" b="1" spc="-10" dirty="0">
                <a:latin typeface="Consolas"/>
                <a:cs typeface="Consolas"/>
              </a:rPr>
              <a:t>();</a:t>
            </a:r>
            <a:endParaRPr sz="1600" dirty="0">
              <a:latin typeface="Consolas"/>
              <a:cs typeface="Consolas"/>
            </a:endParaRPr>
          </a:p>
          <a:p>
            <a:pPr marL="1097280">
              <a:lnSpc>
                <a:spcPct val="100000"/>
              </a:lnSpc>
              <a:spcBef>
                <a:spcPts val="1120"/>
              </a:spcBef>
            </a:pPr>
            <a:r>
              <a:rPr sz="1600" b="1" spc="-5" dirty="0">
                <a:solidFill>
                  <a:srgbClr val="008200"/>
                </a:solidFill>
                <a:latin typeface="Consolas"/>
                <a:cs typeface="Consolas"/>
              </a:rPr>
              <a:t>//</a:t>
            </a:r>
            <a:r>
              <a:rPr sz="1600" b="1" spc="-10" dirty="0">
                <a:solidFill>
                  <a:srgbClr val="008200"/>
                </a:solidFill>
                <a:latin typeface="Consolas"/>
                <a:cs typeface="Consolas"/>
              </a:rPr>
              <a:t> Default</a:t>
            </a:r>
            <a:r>
              <a:rPr sz="1600" b="1" spc="-5" dirty="0">
                <a:solidFill>
                  <a:srgbClr val="008200"/>
                </a:solidFill>
                <a:latin typeface="Consolas"/>
                <a:cs typeface="Consolas"/>
              </a:rPr>
              <a:t> </a:t>
            </a:r>
            <a:r>
              <a:rPr sz="1600" b="1" spc="-10" dirty="0">
                <a:solidFill>
                  <a:srgbClr val="008200"/>
                </a:solidFill>
                <a:latin typeface="Consolas"/>
                <a:cs typeface="Consolas"/>
              </a:rPr>
              <a:t>constructor</a:t>
            </a:r>
            <a:r>
              <a:rPr sz="1600" b="1" spc="-5" dirty="0">
                <a:solidFill>
                  <a:srgbClr val="008200"/>
                </a:solidFill>
                <a:latin typeface="Consolas"/>
                <a:cs typeface="Consolas"/>
              </a:rPr>
              <a:t> provides</a:t>
            </a:r>
            <a:r>
              <a:rPr sz="1600" b="1" spc="-15" dirty="0">
                <a:solidFill>
                  <a:srgbClr val="008200"/>
                </a:solidFill>
                <a:latin typeface="Consolas"/>
                <a:cs typeface="Consolas"/>
              </a:rPr>
              <a:t> </a:t>
            </a:r>
            <a:r>
              <a:rPr sz="1600" b="1" spc="-5" dirty="0">
                <a:solidFill>
                  <a:srgbClr val="008200"/>
                </a:solidFill>
                <a:latin typeface="Consolas"/>
                <a:cs typeface="Consolas"/>
              </a:rPr>
              <a:t>the</a:t>
            </a:r>
            <a:r>
              <a:rPr sz="1600" b="1" spc="-10" dirty="0">
                <a:solidFill>
                  <a:srgbClr val="008200"/>
                </a:solidFill>
                <a:latin typeface="Consolas"/>
                <a:cs typeface="Consolas"/>
              </a:rPr>
              <a:t> </a:t>
            </a:r>
            <a:r>
              <a:rPr sz="1600" b="1" spc="-5" dirty="0">
                <a:solidFill>
                  <a:srgbClr val="008200"/>
                </a:solidFill>
                <a:latin typeface="Consolas"/>
                <a:cs typeface="Consolas"/>
              </a:rPr>
              <a:t>default</a:t>
            </a:r>
            <a:endParaRPr sz="1600" dirty="0">
              <a:latin typeface="Consolas"/>
              <a:cs typeface="Consolas"/>
            </a:endParaRPr>
          </a:p>
          <a:p>
            <a:pPr marL="902335" marR="1339850">
              <a:lnSpc>
                <a:spcPct val="100000"/>
              </a:lnSpc>
              <a:spcBef>
                <a:spcPts val="320"/>
              </a:spcBef>
            </a:pPr>
            <a:r>
              <a:rPr sz="1600" b="1" spc="-5" dirty="0">
                <a:solidFill>
                  <a:srgbClr val="008200"/>
                </a:solidFill>
                <a:latin typeface="Consolas"/>
                <a:cs typeface="Consolas"/>
              </a:rPr>
              <a:t>// </a:t>
            </a:r>
            <a:r>
              <a:rPr sz="1600" b="1" spc="-10" dirty="0">
                <a:solidFill>
                  <a:srgbClr val="008200"/>
                </a:solidFill>
                <a:latin typeface="Consolas"/>
                <a:cs typeface="Consolas"/>
              </a:rPr>
              <a:t>values </a:t>
            </a:r>
            <a:r>
              <a:rPr sz="1600" b="1" spc="-5" dirty="0">
                <a:solidFill>
                  <a:srgbClr val="008200"/>
                </a:solidFill>
                <a:latin typeface="Consolas"/>
                <a:cs typeface="Consolas"/>
              </a:rPr>
              <a:t>to the </a:t>
            </a:r>
            <a:r>
              <a:rPr sz="1600" b="1" spc="-10" dirty="0">
                <a:solidFill>
                  <a:srgbClr val="008200"/>
                </a:solidFill>
                <a:latin typeface="Consolas"/>
                <a:cs typeface="Consolas"/>
              </a:rPr>
              <a:t>object </a:t>
            </a:r>
            <a:r>
              <a:rPr sz="1600" b="1" spc="-5" dirty="0">
                <a:solidFill>
                  <a:srgbClr val="008200"/>
                </a:solidFill>
                <a:latin typeface="Consolas"/>
                <a:cs typeface="Consolas"/>
              </a:rPr>
              <a:t>like 0, </a:t>
            </a:r>
            <a:r>
              <a:rPr sz="1600" b="1" spc="-10" dirty="0">
                <a:solidFill>
                  <a:srgbClr val="008200"/>
                </a:solidFill>
                <a:latin typeface="Consolas"/>
                <a:cs typeface="Consolas"/>
              </a:rPr>
              <a:t>null </a:t>
            </a:r>
            <a:r>
              <a:rPr sz="1600" b="1" spc="-865" dirty="0">
                <a:solidFill>
                  <a:srgbClr val="008200"/>
                </a:solidFill>
                <a:latin typeface="Consolas"/>
                <a:cs typeface="Consolas"/>
              </a:rPr>
              <a:t> </a:t>
            </a:r>
            <a:r>
              <a:rPr sz="1600" b="1" spc="-5" dirty="0" err="1">
                <a:latin typeface="Consolas"/>
                <a:cs typeface="Consolas"/>
              </a:rPr>
              <a:t>System.out.println</a:t>
            </a:r>
            <a:r>
              <a:rPr sz="1600" b="1" spc="-5" dirty="0">
                <a:latin typeface="Consolas"/>
                <a:cs typeface="Consolas"/>
              </a:rPr>
              <a:t>(</a:t>
            </a:r>
            <a:r>
              <a:rPr lang="en-US" sz="1600" b="1" spc="-25" dirty="0">
                <a:latin typeface="Consolas"/>
                <a:cs typeface="Consolas"/>
              </a:rPr>
              <a:t>stud1</a:t>
            </a:r>
            <a:r>
              <a:rPr sz="1600" b="1" spc="-5" dirty="0">
                <a:latin typeface="Consolas"/>
                <a:cs typeface="Consolas"/>
              </a:rPr>
              <a:t>.name); </a:t>
            </a:r>
            <a:r>
              <a:rPr sz="1600" b="1" dirty="0">
                <a:latin typeface="Consolas"/>
                <a:cs typeface="Consolas"/>
              </a:rPr>
              <a:t> </a:t>
            </a:r>
            <a:r>
              <a:rPr sz="1600" b="1" spc="-5" dirty="0" err="1">
                <a:latin typeface="Consolas"/>
                <a:cs typeface="Consolas"/>
              </a:rPr>
              <a:t>System.out.println</a:t>
            </a:r>
            <a:r>
              <a:rPr sz="1600" b="1" spc="-5" dirty="0">
                <a:latin typeface="Consolas"/>
                <a:cs typeface="Consolas"/>
              </a:rPr>
              <a:t>(</a:t>
            </a:r>
            <a:r>
              <a:rPr lang="en-US" sz="1600" b="1" spc="-25" dirty="0">
                <a:latin typeface="Consolas"/>
                <a:cs typeface="Consolas"/>
              </a:rPr>
              <a:t>stud1</a:t>
            </a:r>
            <a:r>
              <a:rPr sz="1600" b="1" spc="-5" dirty="0">
                <a:latin typeface="Consolas"/>
                <a:cs typeface="Consolas"/>
              </a:rPr>
              <a:t>.num);</a:t>
            </a:r>
            <a:endParaRPr sz="1600" dirty="0">
              <a:latin typeface="Consolas"/>
              <a:cs typeface="Consolas"/>
            </a:endParaRPr>
          </a:p>
          <a:p>
            <a:pPr marL="457200">
              <a:lnSpc>
                <a:spcPct val="100000"/>
              </a:lnSpc>
              <a:spcBef>
                <a:spcPts val="5"/>
              </a:spcBef>
            </a:pPr>
            <a:r>
              <a:rPr sz="1600" b="1" spc="-5" dirty="0">
                <a:latin typeface="Consolas"/>
                <a:cs typeface="Consolas"/>
              </a:rPr>
              <a:t>}</a:t>
            </a:r>
            <a:endParaRPr sz="1600" dirty="0">
              <a:latin typeface="Consolas"/>
              <a:cs typeface="Consolas"/>
            </a:endParaRPr>
          </a:p>
          <a:p>
            <a:pPr marL="12700">
              <a:lnSpc>
                <a:spcPct val="100000"/>
              </a:lnSpc>
            </a:pPr>
            <a:r>
              <a:rPr sz="1600" b="1" spc="-5" dirty="0">
                <a:latin typeface="Consolas"/>
                <a:cs typeface="Consolas"/>
              </a:rPr>
              <a:t>}</a:t>
            </a:r>
            <a:endParaRPr sz="1600" dirty="0">
              <a:latin typeface="Consolas"/>
              <a:cs typeface="Consolas"/>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 dirty="0"/>
              <a:t>5</a:t>
            </a:fld>
            <a:endParaRPr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A0908B-1EA9-D76E-377E-3F1A7E50B9D5}"/>
              </a:ext>
            </a:extLst>
          </p:cNvPr>
          <p:cNvSpPr txBox="1"/>
          <p:nvPr/>
        </p:nvSpPr>
        <p:spPr>
          <a:xfrm>
            <a:off x="762000" y="1143000"/>
            <a:ext cx="4572000" cy="1815882"/>
          </a:xfrm>
          <a:prstGeom prst="rect">
            <a:avLst/>
          </a:prstGeom>
          <a:noFill/>
        </p:spPr>
        <p:txBody>
          <a:bodyPr wrap="square">
            <a:spAutoFit/>
          </a:bodyPr>
          <a:lstStyle/>
          <a:p>
            <a:r>
              <a:rPr lang="en-US" sz="2800" b="1" u="sng" dirty="0"/>
              <a:t>Output</a:t>
            </a:r>
          </a:p>
          <a:p>
            <a:r>
              <a:rPr lang="en-US" sz="2800" dirty="0"/>
              <a:t>Constructor called</a:t>
            </a:r>
          </a:p>
          <a:p>
            <a:r>
              <a:rPr lang="en-US" sz="2800" dirty="0"/>
              <a:t>null</a:t>
            </a:r>
          </a:p>
          <a:p>
            <a:r>
              <a:rPr lang="en-US" sz="2800" dirty="0"/>
              <a:t>0</a:t>
            </a:r>
            <a:endParaRPr lang="en-IN" sz="2800" dirty="0"/>
          </a:p>
        </p:txBody>
      </p:sp>
    </p:spTree>
    <p:extLst>
      <p:ext uri="{BB962C8B-B14F-4D97-AF65-F5344CB8AC3E}">
        <p14:creationId xmlns:p14="http://schemas.microsoft.com/office/powerpoint/2010/main" val="3481822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0DA3FE-5E4F-9FE1-1D24-358B408C7679}"/>
              </a:ext>
            </a:extLst>
          </p:cNvPr>
          <p:cNvPicPr>
            <a:picLocks noChangeAspect="1"/>
          </p:cNvPicPr>
          <p:nvPr/>
        </p:nvPicPr>
        <p:blipFill>
          <a:blip r:embed="rId2"/>
          <a:stretch>
            <a:fillRect/>
          </a:stretch>
        </p:blipFill>
        <p:spPr>
          <a:xfrm>
            <a:off x="381000" y="457200"/>
            <a:ext cx="8153400" cy="5431749"/>
          </a:xfrm>
          <a:prstGeom prst="rect">
            <a:avLst/>
          </a:prstGeom>
        </p:spPr>
      </p:pic>
    </p:spTree>
    <p:extLst>
      <p:ext uri="{BB962C8B-B14F-4D97-AF65-F5344CB8AC3E}">
        <p14:creationId xmlns:p14="http://schemas.microsoft.com/office/powerpoint/2010/main" val="468664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marR="5080">
              <a:lnSpc>
                <a:spcPct val="100000"/>
              </a:lnSpc>
              <a:spcBef>
                <a:spcPts val="105"/>
              </a:spcBef>
            </a:pPr>
            <a:r>
              <a:rPr spc="-5" dirty="0"/>
              <a:t>The</a:t>
            </a:r>
            <a:r>
              <a:rPr spc="-15" dirty="0"/>
              <a:t> </a:t>
            </a:r>
            <a:r>
              <a:rPr dirty="0"/>
              <a:t>rules</a:t>
            </a:r>
            <a:r>
              <a:rPr spc="-5" dirty="0"/>
              <a:t> for</a:t>
            </a:r>
            <a:r>
              <a:rPr spc="-10" dirty="0"/>
              <a:t> </a:t>
            </a:r>
            <a:r>
              <a:rPr dirty="0"/>
              <a:t>writing</a:t>
            </a:r>
            <a:r>
              <a:rPr spc="-25" dirty="0"/>
              <a:t> </a:t>
            </a:r>
            <a:r>
              <a:rPr spc="-5" dirty="0"/>
              <a:t>constructors</a:t>
            </a:r>
            <a:r>
              <a:rPr dirty="0"/>
              <a:t> </a:t>
            </a:r>
            <a:r>
              <a:rPr spc="-5" dirty="0"/>
              <a:t>are</a:t>
            </a:r>
            <a:r>
              <a:rPr spc="-10" dirty="0"/>
              <a:t> </a:t>
            </a:r>
            <a:r>
              <a:rPr dirty="0"/>
              <a:t>as </a:t>
            </a:r>
            <a:r>
              <a:rPr spc="-775" dirty="0"/>
              <a:t> </a:t>
            </a:r>
            <a:r>
              <a:rPr spc="-5" dirty="0"/>
              <a:t>follows: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 dirty="0"/>
              <a:t>8</a:t>
            </a:fld>
            <a:endParaRPr spc="-5" dirty="0"/>
          </a:p>
        </p:txBody>
      </p:sp>
      <p:sp>
        <p:nvSpPr>
          <p:cNvPr id="3" name="object 3"/>
          <p:cNvSpPr txBox="1">
            <a:spLocks noGrp="1"/>
          </p:cNvSpPr>
          <p:nvPr>
            <p:ph type="body" idx="1"/>
          </p:nvPr>
        </p:nvSpPr>
        <p:spPr>
          <a:xfrm>
            <a:off x="535940" y="1166829"/>
            <a:ext cx="7995920" cy="2910412"/>
          </a:xfrm>
          <a:prstGeom prst="rect">
            <a:avLst/>
          </a:prstGeom>
        </p:spPr>
        <p:txBody>
          <a:bodyPr vert="horz" wrap="square" lIns="0" tIns="164465" rIns="0" bIns="0" rtlCol="0">
            <a:spAutoFit/>
          </a:bodyPr>
          <a:lstStyle/>
          <a:p>
            <a:pPr marL="269875" indent="-257810">
              <a:lnSpc>
                <a:spcPct val="100000"/>
              </a:lnSpc>
              <a:spcBef>
                <a:spcPts val="1295"/>
              </a:spcBef>
              <a:buClr>
                <a:srgbClr val="3333CC"/>
              </a:buClr>
              <a:buSzPct val="65000"/>
              <a:buFont typeface="Wingdings"/>
              <a:buChar char=""/>
              <a:tabLst>
                <a:tab pos="269875" algn="l"/>
                <a:tab pos="270510" algn="l"/>
              </a:tabLst>
            </a:pPr>
            <a:r>
              <a:rPr dirty="0"/>
              <a:t>Constructor(s)</a:t>
            </a:r>
            <a:r>
              <a:rPr spc="-55" dirty="0"/>
              <a:t> </a:t>
            </a:r>
            <a:r>
              <a:rPr dirty="0"/>
              <a:t>of</a:t>
            </a:r>
            <a:r>
              <a:rPr spc="-20" dirty="0"/>
              <a:t> </a:t>
            </a:r>
            <a:r>
              <a:rPr dirty="0"/>
              <a:t>a class</a:t>
            </a:r>
            <a:r>
              <a:rPr spc="-25" dirty="0"/>
              <a:t> </a:t>
            </a:r>
            <a:r>
              <a:rPr dirty="0"/>
              <a:t>must</a:t>
            </a:r>
            <a:r>
              <a:rPr spc="-35" dirty="0"/>
              <a:t> </a:t>
            </a:r>
            <a:r>
              <a:rPr dirty="0"/>
              <a:t>have </a:t>
            </a:r>
            <a:r>
              <a:rPr spc="-5" dirty="0"/>
              <a:t>the</a:t>
            </a:r>
            <a:r>
              <a:rPr spc="-20" dirty="0"/>
              <a:t> </a:t>
            </a:r>
            <a:r>
              <a:rPr dirty="0"/>
              <a:t>same</a:t>
            </a:r>
            <a:r>
              <a:rPr spc="-30" dirty="0"/>
              <a:t> </a:t>
            </a:r>
            <a:r>
              <a:rPr dirty="0"/>
              <a:t>name</a:t>
            </a:r>
            <a:r>
              <a:rPr spc="-25" dirty="0"/>
              <a:t> </a:t>
            </a:r>
            <a:r>
              <a:rPr dirty="0"/>
              <a:t>as</a:t>
            </a:r>
            <a:r>
              <a:rPr spc="-15" dirty="0"/>
              <a:t> </a:t>
            </a:r>
            <a:r>
              <a:rPr dirty="0"/>
              <a:t>the</a:t>
            </a:r>
            <a:r>
              <a:rPr spc="-20" dirty="0"/>
              <a:t> </a:t>
            </a:r>
            <a:r>
              <a:rPr dirty="0"/>
              <a:t>class</a:t>
            </a:r>
          </a:p>
          <a:p>
            <a:pPr marL="269875">
              <a:lnSpc>
                <a:spcPct val="100000"/>
              </a:lnSpc>
              <a:spcBef>
                <a:spcPts val="1205"/>
              </a:spcBef>
            </a:pPr>
            <a:r>
              <a:rPr dirty="0"/>
              <a:t>name</a:t>
            </a:r>
            <a:r>
              <a:rPr spc="-40" dirty="0"/>
              <a:t> </a:t>
            </a:r>
            <a:r>
              <a:rPr dirty="0"/>
              <a:t>in</a:t>
            </a:r>
            <a:r>
              <a:rPr spc="-5" dirty="0"/>
              <a:t> </a:t>
            </a:r>
            <a:r>
              <a:rPr dirty="0"/>
              <a:t>which</a:t>
            </a:r>
            <a:r>
              <a:rPr spc="-30" dirty="0"/>
              <a:t> </a:t>
            </a:r>
            <a:r>
              <a:rPr dirty="0"/>
              <a:t>it</a:t>
            </a:r>
            <a:r>
              <a:rPr spc="-10" dirty="0"/>
              <a:t> </a:t>
            </a:r>
            <a:r>
              <a:rPr dirty="0"/>
              <a:t>resides.</a:t>
            </a:r>
          </a:p>
          <a:p>
            <a:pPr marL="269875" marR="1420495" indent="-257810">
              <a:lnSpc>
                <a:spcPct val="150000"/>
              </a:lnSpc>
              <a:spcBef>
                <a:spcPts val="480"/>
              </a:spcBef>
              <a:buClr>
                <a:srgbClr val="3333CC"/>
              </a:buClr>
              <a:buSzPct val="65000"/>
              <a:buFont typeface="Wingdings"/>
              <a:buChar char=""/>
              <a:tabLst>
                <a:tab pos="269875" algn="l"/>
                <a:tab pos="270510" algn="l"/>
              </a:tabLst>
            </a:pPr>
            <a:r>
              <a:rPr dirty="0"/>
              <a:t>A</a:t>
            </a:r>
            <a:r>
              <a:rPr spc="-15" dirty="0"/>
              <a:t> </a:t>
            </a:r>
            <a:r>
              <a:rPr dirty="0"/>
              <a:t>constructor</a:t>
            </a:r>
            <a:r>
              <a:rPr spc="-45" dirty="0"/>
              <a:t> </a:t>
            </a:r>
            <a:r>
              <a:rPr dirty="0"/>
              <a:t>in Java</a:t>
            </a:r>
            <a:r>
              <a:rPr spc="-20" dirty="0"/>
              <a:t> </a:t>
            </a:r>
            <a:r>
              <a:rPr dirty="0"/>
              <a:t>can</a:t>
            </a:r>
            <a:r>
              <a:rPr spc="-20" dirty="0"/>
              <a:t> </a:t>
            </a:r>
            <a:r>
              <a:rPr dirty="0"/>
              <a:t>not</a:t>
            </a:r>
            <a:r>
              <a:rPr spc="-20" dirty="0"/>
              <a:t> </a:t>
            </a:r>
            <a:r>
              <a:rPr dirty="0"/>
              <a:t>be</a:t>
            </a:r>
            <a:r>
              <a:rPr spc="-15" dirty="0"/>
              <a:t> </a:t>
            </a:r>
            <a:r>
              <a:rPr dirty="0"/>
              <a:t>abstract,</a:t>
            </a:r>
            <a:r>
              <a:rPr spc="-65" dirty="0"/>
              <a:t> </a:t>
            </a:r>
            <a:r>
              <a:rPr dirty="0"/>
              <a:t>final,</a:t>
            </a:r>
            <a:r>
              <a:rPr spc="-10" dirty="0"/>
              <a:t> </a:t>
            </a:r>
            <a:r>
              <a:rPr dirty="0"/>
              <a:t>static,</a:t>
            </a:r>
            <a:r>
              <a:rPr spc="-35" dirty="0"/>
              <a:t> </a:t>
            </a:r>
            <a:r>
              <a:rPr dirty="0"/>
              <a:t>or </a:t>
            </a:r>
            <a:r>
              <a:rPr spc="-540" dirty="0"/>
              <a:t> </a:t>
            </a:r>
            <a:r>
              <a:rPr dirty="0"/>
              <a:t>Synchronized.</a:t>
            </a:r>
          </a:p>
          <a:p>
            <a:pPr marL="269875" indent="-257810">
              <a:lnSpc>
                <a:spcPct val="100000"/>
              </a:lnSpc>
              <a:spcBef>
                <a:spcPts val="1680"/>
              </a:spcBef>
              <a:buClr>
                <a:srgbClr val="3333CC"/>
              </a:buClr>
              <a:buSzPct val="65000"/>
              <a:buFont typeface="Wingdings"/>
              <a:buChar char=""/>
              <a:tabLst>
                <a:tab pos="269875" algn="l"/>
                <a:tab pos="270510" algn="l"/>
              </a:tabLst>
            </a:pPr>
            <a:r>
              <a:rPr dirty="0"/>
              <a:t>Access</a:t>
            </a:r>
            <a:r>
              <a:rPr spc="-35" dirty="0"/>
              <a:t> </a:t>
            </a:r>
            <a:r>
              <a:rPr dirty="0"/>
              <a:t>modifiers</a:t>
            </a:r>
            <a:r>
              <a:rPr spc="-20" dirty="0"/>
              <a:t> </a:t>
            </a:r>
            <a:r>
              <a:rPr dirty="0"/>
              <a:t>can</a:t>
            </a:r>
            <a:r>
              <a:rPr spc="-5" dirty="0"/>
              <a:t> </a:t>
            </a:r>
            <a:r>
              <a:rPr dirty="0"/>
              <a:t>be</a:t>
            </a:r>
            <a:r>
              <a:rPr spc="-10" dirty="0"/>
              <a:t> </a:t>
            </a:r>
            <a:r>
              <a:rPr dirty="0"/>
              <a:t>used</a:t>
            </a:r>
            <a:r>
              <a:rPr spc="-20" dirty="0"/>
              <a:t> </a:t>
            </a:r>
            <a:r>
              <a:rPr dirty="0"/>
              <a:t>in constructor</a:t>
            </a:r>
            <a:r>
              <a:rPr spc="-45" dirty="0"/>
              <a:t> </a:t>
            </a:r>
            <a:r>
              <a:rPr dirty="0"/>
              <a:t>declaration</a:t>
            </a:r>
            <a:r>
              <a:rPr spc="-30" dirty="0"/>
              <a:t> </a:t>
            </a:r>
            <a:r>
              <a:rPr dirty="0"/>
              <a:t>to</a:t>
            </a:r>
            <a:r>
              <a:rPr spc="-20" dirty="0"/>
              <a:t> </a:t>
            </a:r>
            <a:r>
              <a:rPr dirty="0"/>
              <a:t>control</a:t>
            </a:r>
            <a:r>
              <a:rPr spc="-20" dirty="0"/>
              <a:t> </a:t>
            </a:r>
            <a:r>
              <a:rPr spc="-5" dirty="0"/>
              <a:t>its</a:t>
            </a:r>
          </a:p>
          <a:p>
            <a:pPr marL="269875">
              <a:lnSpc>
                <a:spcPct val="100000"/>
              </a:lnSpc>
              <a:spcBef>
                <a:spcPts val="1200"/>
              </a:spcBef>
            </a:pPr>
            <a:r>
              <a:rPr dirty="0"/>
              <a:t>access</a:t>
            </a:r>
            <a:r>
              <a:rPr spc="-30" dirty="0"/>
              <a:t> </a:t>
            </a:r>
            <a:r>
              <a:rPr dirty="0"/>
              <a:t>i.e</a:t>
            </a:r>
            <a:r>
              <a:rPr spc="-20" dirty="0"/>
              <a:t> </a:t>
            </a:r>
            <a:r>
              <a:rPr dirty="0"/>
              <a:t>which</a:t>
            </a:r>
            <a:r>
              <a:rPr spc="-15" dirty="0"/>
              <a:t> </a:t>
            </a:r>
            <a:r>
              <a:rPr dirty="0"/>
              <a:t>other</a:t>
            </a:r>
            <a:r>
              <a:rPr spc="-25" dirty="0"/>
              <a:t> </a:t>
            </a:r>
            <a:r>
              <a:rPr dirty="0"/>
              <a:t>class</a:t>
            </a:r>
            <a:r>
              <a:rPr spc="-20" dirty="0"/>
              <a:t> </a:t>
            </a:r>
            <a:r>
              <a:rPr dirty="0"/>
              <a:t>can</a:t>
            </a:r>
            <a:r>
              <a:rPr spc="-15" dirty="0"/>
              <a:t> </a:t>
            </a:r>
            <a:r>
              <a:rPr dirty="0"/>
              <a:t>call</a:t>
            </a:r>
            <a:r>
              <a:rPr spc="-5" dirty="0"/>
              <a:t> </a:t>
            </a:r>
            <a:r>
              <a:rPr dirty="0"/>
              <a:t>the</a:t>
            </a:r>
            <a:r>
              <a:rPr spc="-20" dirty="0"/>
              <a:t> </a:t>
            </a:r>
            <a:r>
              <a:rPr dirty="0"/>
              <a:t>constructor.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0FB54-8A87-377C-2917-666A63BF7109}"/>
              </a:ext>
            </a:extLst>
          </p:cNvPr>
          <p:cNvSpPr>
            <a:spLocks noGrp="1"/>
          </p:cNvSpPr>
          <p:nvPr>
            <p:ph type="title"/>
          </p:nvPr>
        </p:nvSpPr>
        <p:spPr>
          <a:xfrm>
            <a:off x="535940" y="300354"/>
            <a:ext cx="6960870" cy="438582"/>
          </a:xfrm>
        </p:spPr>
        <p:txBody>
          <a:bodyPr/>
          <a:lstStyle/>
          <a:p>
            <a:r>
              <a:rPr lang="en-IN" dirty="0"/>
              <a:t>Types of Constructors</a:t>
            </a:r>
          </a:p>
        </p:txBody>
      </p:sp>
      <p:sp>
        <p:nvSpPr>
          <p:cNvPr id="3" name="Text Placeholder 2">
            <a:extLst>
              <a:ext uri="{FF2B5EF4-FFF2-40B4-BE49-F238E27FC236}">
                <a16:creationId xmlns:a16="http://schemas.microsoft.com/office/drawing/2014/main" id="{28F2F33D-0A3D-4A7D-7854-A20693BA879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7D4C9F23-7372-F329-7BAA-BB31A6C6753B}"/>
              </a:ext>
            </a:extLst>
          </p:cNvPr>
          <p:cNvPicPr>
            <a:picLocks noChangeAspect="1"/>
          </p:cNvPicPr>
          <p:nvPr/>
        </p:nvPicPr>
        <p:blipFill>
          <a:blip r:embed="rId2"/>
          <a:stretch>
            <a:fillRect/>
          </a:stretch>
        </p:blipFill>
        <p:spPr>
          <a:xfrm>
            <a:off x="612140" y="1166829"/>
            <a:ext cx="6779260" cy="1313015"/>
          </a:xfrm>
          <a:prstGeom prst="rect">
            <a:avLst/>
          </a:prstGeom>
        </p:spPr>
      </p:pic>
      <p:pic>
        <p:nvPicPr>
          <p:cNvPr id="9" name="Picture 8">
            <a:extLst>
              <a:ext uri="{FF2B5EF4-FFF2-40B4-BE49-F238E27FC236}">
                <a16:creationId xmlns:a16="http://schemas.microsoft.com/office/drawing/2014/main" id="{BD90D21C-C9FA-E2C6-DE71-47133188C828}"/>
              </a:ext>
            </a:extLst>
          </p:cNvPr>
          <p:cNvPicPr>
            <a:picLocks noChangeAspect="1"/>
          </p:cNvPicPr>
          <p:nvPr/>
        </p:nvPicPr>
        <p:blipFill>
          <a:blip r:embed="rId3"/>
          <a:stretch>
            <a:fillRect/>
          </a:stretch>
        </p:blipFill>
        <p:spPr>
          <a:xfrm>
            <a:off x="1524000" y="2456727"/>
            <a:ext cx="6855460" cy="2371974"/>
          </a:xfrm>
          <a:prstGeom prst="rect">
            <a:avLst/>
          </a:prstGeom>
        </p:spPr>
      </p:pic>
    </p:spTree>
    <p:extLst>
      <p:ext uri="{BB962C8B-B14F-4D97-AF65-F5344CB8AC3E}">
        <p14:creationId xmlns:p14="http://schemas.microsoft.com/office/powerpoint/2010/main" val="2214154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A170E-CD3C-13B2-F5D4-A16A4DCE22A1}"/>
              </a:ext>
            </a:extLst>
          </p:cNvPr>
          <p:cNvSpPr>
            <a:spLocks noGrp="1"/>
          </p:cNvSpPr>
          <p:nvPr>
            <p:ph type="title"/>
          </p:nvPr>
        </p:nvSpPr>
        <p:spPr>
          <a:xfrm>
            <a:off x="535940" y="300354"/>
            <a:ext cx="6960870" cy="2192908"/>
          </a:xfrm>
        </p:spPr>
        <p:txBody>
          <a:bodyPr/>
          <a:lstStyle/>
          <a:p>
            <a:r>
              <a:rPr lang="en-US" dirty="0"/>
              <a:t>Default Constructor</a:t>
            </a:r>
            <a:br>
              <a:rPr lang="en-US" dirty="0"/>
            </a:br>
            <a:br>
              <a:rPr lang="en-IN" dirty="0"/>
            </a:br>
            <a:br>
              <a:rPr lang="en-IN" dirty="0"/>
            </a:br>
            <a:br>
              <a:rPr lang="en-IN" dirty="0"/>
            </a:br>
            <a:endParaRPr lang="en-IN" dirty="0"/>
          </a:p>
        </p:txBody>
      </p:sp>
      <p:sp>
        <p:nvSpPr>
          <p:cNvPr id="3" name="Text Placeholder 2">
            <a:extLst>
              <a:ext uri="{FF2B5EF4-FFF2-40B4-BE49-F238E27FC236}">
                <a16:creationId xmlns:a16="http://schemas.microsoft.com/office/drawing/2014/main" id="{DA475790-9198-EB84-30B5-9D7278AB4B1D}"/>
              </a:ext>
            </a:extLst>
          </p:cNvPr>
          <p:cNvSpPr>
            <a:spLocks noGrp="1"/>
          </p:cNvSpPr>
          <p:nvPr>
            <p:ph type="body" idx="1"/>
          </p:nvPr>
        </p:nvSpPr>
        <p:spPr>
          <a:xfrm>
            <a:off x="304800" y="1166828"/>
            <a:ext cx="8458200" cy="3405171"/>
          </a:xfrm>
        </p:spPr>
        <p:txBody>
          <a:bodyPr/>
          <a:lstStyle/>
          <a:p>
            <a:pPr marL="342900" indent="-342900" algn="just">
              <a:buFont typeface="Arial" panose="020B0604020202020204" pitchFamily="34" charset="0"/>
              <a:buChar char="•"/>
            </a:pPr>
            <a:r>
              <a:rPr lang="en-US" sz="2800" dirty="0"/>
              <a:t>If you do not implement any constructor in your class, Java compiler inserts a default constructor into your code on your behalf.</a:t>
            </a:r>
          </a:p>
          <a:p>
            <a:pPr marL="342900" indent="-342900" algn="just">
              <a:buFont typeface="Arial" panose="020B0604020202020204" pitchFamily="34" charset="0"/>
              <a:buChar char="•"/>
            </a:pPr>
            <a:r>
              <a:rPr lang="en-US" sz="2800" dirty="0"/>
              <a:t> This constructor is known as default constructor.</a:t>
            </a:r>
          </a:p>
          <a:p>
            <a:pPr marL="342900" indent="-342900" algn="just">
              <a:buFont typeface="Arial" panose="020B0604020202020204" pitchFamily="34" charset="0"/>
              <a:buChar char="•"/>
            </a:pPr>
            <a:r>
              <a:rPr lang="en-US" sz="2800" dirty="0"/>
              <a:t> You would not find it in your source code(the java file) as it would be inserted into the code during compilation and exists in .class file. </a:t>
            </a:r>
          </a:p>
        </p:txBody>
      </p:sp>
    </p:spTree>
    <p:extLst>
      <p:ext uri="{BB962C8B-B14F-4D97-AF65-F5344CB8AC3E}">
        <p14:creationId xmlns:p14="http://schemas.microsoft.com/office/powerpoint/2010/main" val="77382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83AA-3BA2-D8BF-F098-C23D6FFD064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B541C17-9CA9-91EE-D149-04FAF05BDBBB}"/>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2C85803-0EA3-94D4-0A23-5E4D7B9534AA}"/>
              </a:ext>
            </a:extLst>
          </p:cNvPr>
          <p:cNvPicPr>
            <a:picLocks noChangeAspect="1"/>
          </p:cNvPicPr>
          <p:nvPr/>
        </p:nvPicPr>
        <p:blipFill>
          <a:blip r:embed="rId2"/>
          <a:stretch>
            <a:fillRect/>
          </a:stretch>
        </p:blipFill>
        <p:spPr>
          <a:xfrm>
            <a:off x="381000" y="1252607"/>
            <a:ext cx="3200400" cy="3098499"/>
          </a:xfrm>
          <a:prstGeom prst="rect">
            <a:avLst/>
          </a:prstGeom>
        </p:spPr>
      </p:pic>
      <p:pic>
        <p:nvPicPr>
          <p:cNvPr id="7" name="Picture 6">
            <a:extLst>
              <a:ext uri="{FF2B5EF4-FFF2-40B4-BE49-F238E27FC236}">
                <a16:creationId xmlns:a16="http://schemas.microsoft.com/office/drawing/2014/main" id="{5059886E-6EB5-83A6-2A17-2D61DDC5F11D}"/>
              </a:ext>
            </a:extLst>
          </p:cNvPr>
          <p:cNvPicPr>
            <a:picLocks noChangeAspect="1"/>
          </p:cNvPicPr>
          <p:nvPr/>
        </p:nvPicPr>
        <p:blipFill>
          <a:blip r:embed="rId3"/>
          <a:stretch>
            <a:fillRect/>
          </a:stretch>
        </p:blipFill>
        <p:spPr>
          <a:xfrm>
            <a:off x="3429000" y="2185204"/>
            <a:ext cx="1736231" cy="920797"/>
          </a:xfrm>
          <a:prstGeom prst="rect">
            <a:avLst/>
          </a:prstGeom>
        </p:spPr>
      </p:pic>
      <p:pic>
        <p:nvPicPr>
          <p:cNvPr id="11" name="Picture 10">
            <a:extLst>
              <a:ext uri="{FF2B5EF4-FFF2-40B4-BE49-F238E27FC236}">
                <a16:creationId xmlns:a16="http://schemas.microsoft.com/office/drawing/2014/main" id="{6E068F53-B91B-5E17-FFC2-1FAC9C118B82}"/>
              </a:ext>
            </a:extLst>
          </p:cNvPr>
          <p:cNvPicPr>
            <a:picLocks noChangeAspect="1"/>
          </p:cNvPicPr>
          <p:nvPr/>
        </p:nvPicPr>
        <p:blipFill>
          <a:blip r:embed="rId4"/>
          <a:stretch>
            <a:fillRect/>
          </a:stretch>
        </p:blipFill>
        <p:spPr>
          <a:xfrm>
            <a:off x="5165231" y="1252607"/>
            <a:ext cx="3200400" cy="3098499"/>
          </a:xfrm>
          <a:prstGeom prst="rect">
            <a:avLst/>
          </a:prstGeom>
        </p:spPr>
      </p:pic>
    </p:spTree>
    <p:extLst>
      <p:ext uri="{BB962C8B-B14F-4D97-AF65-F5344CB8AC3E}">
        <p14:creationId xmlns:p14="http://schemas.microsoft.com/office/powerpoint/2010/main" val="4281769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4A367-D61F-D93C-94E7-F23DCE84A573}"/>
              </a:ext>
            </a:extLst>
          </p:cNvPr>
          <p:cNvSpPr>
            <a:spLocks noGrp="1"/>
          </p:cNvSpPr>
          <p:nvPr>
            <p:ph type="title"/>
          </p:nvPr>
        </p:nvSpPr>
        <p:spPr/>
        <p:txBody>
          <a:bodyPr/>
          <a:lstStyle/>
          <a:p>
            <a:r>
              <a:rPr lang="en-IN" b="1" i="0" dirty="0">
                <a:solidFill>
                  <a:srgbClr val="444542"/>
                </a:solidFill>
                <a:effectLst/>
                <a:latin typeface="PT Sans" panose="020B0503020203020204" pitchFamily="34" charset="0"/>
              </a:rPr>
              <a:t>no-</a:t>
            </a:r>
            <a:r>
              <a:rPr lang="en-IN" b="1" i="0" dirty="0" err="1">
                <a:solidFill>
                  <a:srgbClr val="444542"/>
                </a:solidFill>
                <a:effectLst/>
                <a:latin typeface="PT Sans" panose="020B0503020203020204" pitchFamily="34" charset="0"/>
              </a:rPr>
              <a:t>arg</a:t>
            </a:r>
            <a:r>
              <a:rPr lang="en-IN" b="1" i="0" dirty="0">
                <a:solidFill>
                  <a:srgbClr val="444542"/>
                </a:solidFill>
                <a:effectLst/>
                <a:latin typeface="PT Sans" panose="020B0503020203020204" pitchFamily="34" charset="0"/>
              </a:rPr>
              <a:t> constructor:</a:t>
            </a:r>
            <a:br>
              <a:rPr lang="en-IN"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53A630F6-95D8-E698-A238-77EAEA8E1050}"/>
              </a:ext>
            </a:extLst>
          </p:cNvPr>
          <p:cNvSpPr>
            <a:spLocks noGrp="1"/>
          </p:cNvSpPr>
          <p:nvPr>
            <p:ph type="body" idx="1"/>
          </p:nvPr>
        </p:nvSpPr>
        <p:spPr>
          <a:xfrm>
            <a:off x="535940" y="1166828"/>
            <a:ext cx="7995920" cy="2585323"/>
          </a:xfrm>
        </p:spPr>
        <p:txBody>
          <a:bodyPr/>
          <a:lstStyle/>
          <a:p>
            <a:pPr marL="457200" indent="-457200">
              <a:buFont typeface="Wingdings" panose="05000000000000000000" pitchFamily="2" charset="2"/>
              <a:buChar char="§"/>
            </a:pPr>
            <a:r>
              <a:rPr lang="en-US" sz="2800" b="0" i="0" dirty="0">
                <a:solidFill>
                  <a:srgbClr val="222426"/>
                </a:solidFill>
                <a:effectLst/>
                <a:latin typeface="Roboto" panose="02000000000000000000" pitchFamily="2" charset="0"/>
              </a:rPr>
              <a:t>Constructor with no arguments is known as </a:t>
            </a:r>
            <a:r>
              <a:rPr lang="en-US" sz="2800" b="1" i="0" dirty="0">
                <a:solidFill>
                  <a:srgbClr val="222426"/>
                </a:solidFill>
                <a:effectLst/>
                <a:latin typeface="Roboto" panose="02000000000000000000" pitchFamily="2" charset="0"/>
              </a:rPr>
              <a:t>no-</a:t>
            </a:r>
            <a:r>
              <a:rPr lang="en-US" sz="2800" b="1" i="0" dirty="0" err="1">
                <a:solidFill>
                  <a:srgbClr val="222426"/>
                </a:solidFill>
                <a:effectLst/>
                <a:latin typeface="Roboto" panose="02000000000000000000" pitchFamily="2" charset="0"/>
              </a:rPr>
              <a:t>arg</a:t>
            </a:r>
            <a:r>
              <a:rPr lang="en-US" sz="2800" b="1" i="0" dirty="0">
                <a:solidFill>
                  <a:srgbClr val="222426"/>
                </a:solidFill>
                <a:effectLst/>
                <a:latin typeface="Roboto" panose="02000000000000000000" pitchFamily="2" charset="0"/>
              </a:rPr>
              <a:t> constructor</a:t>
            </a:r>
            <a:r>
              <a:rPr lang="en-US" sz="2800" b="0" i="0" dirty="0">
                <a:solidFill>
                  <a:srgbClr val="222426"/>
                </a:solidFill>
                <a:effectLst/>
                <a:latin typeface="Roboto" panose="02000000000000000000" pitchFamily="2" charset="0"/>
              </a:rPr>
              <a:t>.</a:t>
            </a:r>
          </a:p>
          <a:p>
            <a:pPr marL="457200" indent="-457200">
              <a:buFont typeface="Wingdings" panose="05000000000000000000" pitchFamily="2" charset="2"/>
              <a:buChar char="§"/>
            </a:pPr>
            <a:r>
              <a:rPr lang="en-US" sz="2800" b="0" i="0" dirty="0">
                <a:solidFill>
                  <a:srgbClr val="222426"/>
                </a:solidFill>
                <a:effectLst/>
                <a:latin typeface="Roboto" panose="02000000000000000000" pitchFamily="2" charset="0"/>
              </a:rPr>
              <a:t>The signature is same as default constructor, we can have any code unlike default constructor where the body of the constructor is empty.</a:t>
            </a:r>
            <a:endParaRPr lang="en-IN" sz="2800" dirty="0"/>
          </a:p>
        </p:txBody>
      </p:sp>
    </p:spTree>
    <p:extLst>
      <p:ext uri="{BB962C8B-B14F-4D97-AF65-F5344CB8AC3E}">
        <p14:creationId xmlns:p14="http://schemas.microsoft.com/office/powerpoint/2010/main" val="2927045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CFA4-1FE6-B631-10C2-8327705274C2}"/>
              </a:ext>
            </a:extLst>
          </p:cNvPr>
          <p:cNvSpPr>
            <a:spLocks noGrp="1"/>
          </p:cNvSpPr>
          <p:nvPr>
            <p:ph type="title"/>
          </p:nvPr>
        </p:nvSpPr>
        <p:spPr/>
        <p:txBody>
          <a:bodyPr/>
          <a:lstStyle/>
          <a:p>
            <a:r>
              <a:rPr lang="en-IN" b="1" i="0" dirty="0">
                <a:solidFill>
                  <a:srgbClr val="444542"/>
                </a:solidFill>
                <a:effectLst/>
                <a:latin typeface="PT Sans" panose="020B0503020203020204" pitchFamily="34" charset="0"/>
              </a:rPr>
              <a:t>Example: no-</a:t>
            </a:r>
            <a:r>
              <a:rPr lang="en-IN" b="1" i="0" dirty="0" err="1">
                <a:solidFill>
                  <a:srgbClr val="444542"/>
                </a:solidFill>
                <a:effectLst/>
                <a:latin typeface="PT Sans" panose="020B0503020203020204" pitchFamily="34" charset="0"/>
              </a:rPr>
              <a:t>arg</a:t>
            </a:r>
            <a:r>
              <a:rPr lang="en-IN" b="1" i="0" dirty="0">
                <a:solidFill>
                  <a:srgbClr val="444542"/>
                </a:solidFill>
                <a:effectLst/>
                <a:latin typeface="PT Sans" panose="020B0503020203020204" pitchFamily="34" charset="0"/>
              </a:rPr>
              <a:t> constructor</a:t>
            </a:r>
            <a:br>
              <a:rPr lang="en-IN"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7E4947B4-AF86-95E1-A666-B30538211EE8}"/>
              </a:ext>
            </a:extLst>
          </p:cNvPr>
          <p:cNvSpPr>
            <a:spLocks noGrp="1"/>
          </p:cNvSpPr>
          <p:nvPr>
            <p:ph type="body" idx="1"/>
          </p:nvPr>
        </p:nvSpPr>
        <p:spPr>
          <a:xfrm>
            <a:off x="535940" y="1166828"/>
            <a:ext cx="7995920" cy="4001095"/>
          </a:xfrm>
        </p:spPr>
        <p:txBody>
          <a:bodyPr/>
          <a:lstStyle/>
          <a:p>
            <a:r>
              <a:rPr lang="en-IN" dirty="0"/>
              <a:t>class Demo</a:t>
            </a:r>
          </a:p>
          <a:p>
            <a:r>
              <a:rPr lang="en-IN" dirty="0"/>
              <a:t>{</a:t>
            </a:r>
          </a:p>
          <a:p>
            <a:r>
              <a:rPr lang="en-IN" dirty="0"/>
              <a:t>     public Demo()</a:t>
            </a:r>
          </a:p>
          <a:p>
            <a:r>
              <a:rPr lang="en-IN" dirty="0"/>
              <a:t>     {</a:t>
            </a:r>
          </a:p>
          <a:p>
            <a:r>
              <a:rPr lang="en-IN" dirty="0"/>
              <a:t>         </a:t>
            </a:r>
            <a:r>
              <a:rPr lang="en-IN" dirty="0" err="1"/>
              <a:t>System.out.println</a:t>
            </a:r>
            <a:r>
              <a:rPr lang="en-IN" dirty="0"/>
              <a:t>("This is a no argument constructor");</a:t>
            </a:r>
          </a:p>
          <a:p>
            <a:r>
              <a:rPr lang="en-IN" dirty="0"/>
              <a:t>     }</a:t>
            </a:r>
          </a:p>
          <a:p>
            <a:r>
              <a:rPr lang="en-IN" dirty="0"/>
              <a:t>     public static void main(String </a:t>
            </a:r>
            <a:r>
              <a:rPr lang="en-IN" dirty="0" err="1"/>
              <a:t>args</a:t>
            </a:r>
            <a:r>
              <a:rPr lang="en-IN" dirty="0"/>
              <a:t>[]) {</a:t>
            </a:r>
          </a:p>
          <a:p>
            <a:r>
              <a:rPr lang="en-IN" dirty="0"/>
              <a:t>    	 new Demo();</a:t>
            </a:r>
          </a:p>
          <a:p>
            <a:r>
              <a:rPr lang="en-IN" dirty="0"/>
              <a:t>     }</a:t>
            </a:r>
          </a:p>
          <a:p>
            <a:r>
              <a:rPr lang="en-IN" dirty="0"/>
              <a:t>}</a:t>
            </a:r>
          </a:p>
          <a:p>
            <a:endParaRPr lang="en-IN" dirty="0"/>
          </a:p>
          <a:p>
            <a:r>
              <a:rPr lang="en-US" b="0" i="0" dirty="0">
                <a:solidFill>
                  <a:srgbClr val="222426"/>
                </a:solidFill>
                <a:effectLst/>
                <a:latin typeface="Roboto" panose="02000000000000000000" pitchFamily="2" charset="0"/>
              </a:rPr>
              <a:t>Output:</a:t>
            </a:r>
            <a:br>
              <a:rPr lang="en-US" dirty="0"/>
            </a:br>
            <a:r>
              <a:rPr lang="en-US" b="0" i="0" dirty="0">
                <a:solidFill>
                  <a:srgbClr val="222426"/>
                </a:solidFill>
                <a:effectLst/>
                <a:latin typeface="Roboto" panose="02000000000000000000" pitchFamily="2" charset="0"/>
              </a:rPr>
              <a:t>This is a no argument constructor</a:t>
            </a:r>
            <a:endParaRPr lang="en-IN" dirty="0"/>
          </a:p>
        </p:txBody>
      </p:sp>
    </p:spTree>
    <p:extLst>
      <p:ext uri="{BB962C8B-B14F-4D97-AF65-F5344CB8AC3E}">
        <p14:creationId xmlns:p14="http://schemas.microsoft.com/office/powerpoint/2010/main" val="180491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8D8F4-714C-C1E5-2017-079A99525694}"/>
              </a:ext>
            </a:extLst>
          </p:cNvPr>
          <p:cNvSpPr>
            <a:spLocks noGrp="1"/>
          </p:cNvSpPr>
          <p:nvPr>
            <p:ph type="title"/>
          </p:nvPr>
        </p:nvSpPr>
        <p:spPr/>
        <p:txBody>
          <a:bodyPr/>
          <a:lstStyle/>
          <a:p>
            <a:r>
              <a:rPr lang="en-IN" b="1" i="0" dirty="0">
                <a:solidFill>
                  <a:srgbClr val="444542"/>
                </a:solidFill>
                <a:effectLst/>
                <a:latin typeface="PT Sans" panose="020B0503020203020204" pitchFamily="34" charset="0"/>
              </a:rPr>
              <a:t>Parameterized constructor</a:t>
            </a:r>
            <a:br>
              <a:rPr lang="en-IN"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3AB7F33F-4475-8941-50D8-0BC39F4291DB}"/>
              </a:ext>
            </a:extLst>
          </p:cNvPr>
          <p:cNvSpPr>
            <a:spLocks noGrp="1"/>
          </p:cNvSpPr>
          <p:nvPr>
            <p:ph type="body" idx="1"/>
          </p:nvPr>
        </p:nvSpPr>
        <p:spPr>
          <a:xfrm>
            <a:off x="535940" y="1127686"/>
            <a:ext cx="8150860" cy="2301313"/>
          </a:xfrm>
        </p:spPr>
        <p:txBody>
          <a:bodyPr/>
          <a:lstStyle/>
          <a:p>
            <a:r>
              <a:rPr lang="en-US" sz="2800" b="0" i="0" dirty="0">
                <a:solidFill>
                  <a:srgbClr val="222426"/>
                </a:solidFill>
                <a:effectLst/>
                <a:latin typeface="Roboto" panose="02000000000000000000" pitchFamily="2" charset="0"/>
              </a:rPr>
              <a:t>Constructor with arguments(or you can say parameters) is known as </a:t>
            </a:r>
            <a:r>
              <a:rPr lang="en-US" sz="2800" b="1" i="0" u="none" strike="noStrike" dirty="0">
                <a:solidFill>
                  <a:srgbClr val="7DC246"/>
                </a:solidFill>
                <a:effectLst/>
                <a:latin typeface="Roboto" panose="02000000000000000000" pitchFamily="2" charset="0"/>
                <a:hlinkClick r:id="rId2"/>
              </a:rPr>
              <a:t>Parameterized constructor</a:t>
            </a:r>
            <a:r>
              <a:rPr lang="en-US" b="0" i="0" dirty="0">
                <a:solidFill>
                  <a:srgbClr val="222426"/>
                </a:solidFill>
                <a:effectLst/>
                <a:latin typeface="Roboto" panose="02000000000000000000" pitchFamily="2" charset="0"/>
              </a:rPr>
              <a:t>.</a:t>
            </a:r>
            <a:endParaRPr lang="en-IN" dirty="0"/>
          </a:p>
        </p:txBody>
      </p:sp>
    </p:spTree>
    <p:extLst>
      <p:ext uri="{BB962C8B-B14F-4D97-AF65-F5344CB8AC3E}">
        <p14:creationId xmlns:p14="http://schemas.microsoft.com/office/powerpoint/2010/main" val="298758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DDF4-17DE-19A6-6EAC-EAD739CB3B9A}"/>
              </a:ext>
            </a:extLst>
          </p:cNvPr>
          <p:cNvSpPr>
            <a:spLocks noGrp="1"/>
          </p:cNvSpPr>
          <p:nvPr>
            <p:ph type="title"/>
          </p:nvPr>
        </p:nvSpPr>
        <p:spPr/>
        <p:txBody>
          <a:bodyPr/>
          <a:lstStyle/>
          <a:p>
            <a:r>
              <a:rPr lang="en-IN" b="1" i="0" dirty="0">
                <a:solidFill>
                  <a:srgbClr val="444542"/>
                </a:solidFill>
                <a:effectLst/>
                <a:latin typeface="PT Sans" panose="020B0503020203020204" pitchFamily="34" charset="0"/>
              </a:rPr>
              <a:t>Example: parameterized constructor</a:t>
            </a:r>
            <a:br>
              <a:rPr lang="en-IN"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2415B603-339D-C94B-D580-6CE6823B56AD}"/>
              </a:ext>
            </a:extLst>
          </p:cNvPr>
          <p:cNvSpPr>
            <a:spLocks noGrp="1"/>
          </p:cNvSpPr>
          <p:nvPr>
            <p:ph type="body" idx="1"/>
          </p:nvPr>
        </p:nvSpPr>
        <p:spPr>
          <a:xfrm>
            <a:off x="535940" y="1166828"/>
            <a:ext cx="7995920" cy="5691171"/>
          </a:xfrm>
        </p:spPr>
        <p:txBody>
          <a:bodyPr/>
          <a:lstStyle/>
          <a:p>
            <a:r>
              <a:rPr lang="en-IN" dirty="0"/>
              <a:t>public class Employee {</a:t>
            </a:r>
          </a:p>
          <a:p>
            <a:r>
              <a:rPr lang="en-IN" dirty="0"/>
              <a:t>   int </a:t>
            </a:r>
            <a:r>
              <a:rPr lang="en-IN" dirty="0" err="1"/>
              <a:t>empId</a:t>
            </a:r>
            <a:r>
              <a:rPr lang="en-IN" dirty="0"/>
              <a:t>;  </a:t>
            </a:r>
          </a:p>
          <a:p>
            <a:r>
              <a:rPr lang="en-IN" dirty="0"/>
              <a:t>   String </a:t>
            </a:r>
            <a:r>
              <a:rPr lang="en-IN" dirty="0" err="1"/>
              <a:t>empName</a:t>
            </a:r>
            <a:r>
              <a:rPr lang="en-IN" dirty="0"/>
              <a:t>;      </a:t>
            </a:r>
          </a:p>
          <a:p>
            <a:r>
              <a:rPr lang="en-IN" dirty="0"/>
              <a:t>   //parameterized constructor with two parameters</a:t>
            </a:r>
          </a:p>
          <a:p>
            <a:r>
              <a:rPr lang="en-IN" dirty="0"/>
              <a:t>   Employee(int id, String name){  </a:t>
            </a:r>
          </a:p>
          <a:p>
            <a:r>
              <a:rPr lang="en-IN" dirty="0"/>
              <a:t>       </a:t>
            </a:r>
            <a:r>
              <a:rPr lang="en-IN" dirty="0" err="1"/>
              <a:t>this.empId</a:t>
            </a:r>
            <a:r>
              <a:rPr lang="en-IN" dirty="0"/>
              <a:t> = id;  </a:t>
            </a:r>
          </a:p>
          <a:p>
            <a:r>
              <a:rPr lang="en-IN" dirty="0"/>
              <a:t>       </a:t>
            </a:r>
            <a:r>
              <a:rPr lang="en-IN" dirty="0" err="1"/>
              <a:t>this.empName</a:t>
            </a:r>
            <a:r>
              <a:rPr lang="en-IN" dirty="0"/>
              <a:t> = name;  </a:t>
            </a:r>
          </a:p>
          <a:p>
            <a:r>
              <a:rPr lang="en-IN" dirty="0"/>
              <a:t>   }  </a:t>
            </a:r>
          </a:p>
          <a:p>
            <a:r>
              <a:rPr lang="en-IN" dirty="0"/>
              <a:t>   void info(){</a:t>
            </a:r>
          </a:p>
          <a:p>
            <a:r>
              <a:rPr lang="en-IN" dirty="0"/>
              <a:t>        </a:t>
            </a:r>
            <a:r>
              <a:rPr lang="en-IN" dirty="0" err="1"/>
              <a:t>System.out.println</a:t>
            </a:r>
            <a:r>
              <a:rPr lang="en-IN" dirty="0"/>
              <a:t>("Id: "+</a:t>
            </a:r>
            <a:r>
              <a:rPr lang="en-IN" dirty="0" err="1"/>
              <a:t>empId</a:t>
            </a:r>
            <a:r>
              <a:rPr lang="en-IN" dirty="0"/>
              <a:t>+" Name: "+</a:t>
            </a:r>
            <a:r>
              <a:rPr lang="en-IN" dirty="0" err="1"/>
              <a:t>empName</a:t>
            </a:r>
            <a:r>
              <a:rPr lang="en-IN" dirty="0"/>
              <a:t>);</a:t>
            </a:r>
          </a:p>
          <a:p>
            <a:r>
              <a:rPr lang="en-IN" dirty="0"/>
              <a:t>   }  	   </a:t>
            </a:r>
          </a:p>
          <a:p>
            <a:r>
              <a:rPr lang="en-IN" dirty="0"/>
              <a:t>   public static void main(String </a:t>
            </a:r>
            <a:r>
              <a:rPr lang="en-IN" dirty="0" err="1"/>
              <a:t>args</a:t>
            </a:r>
            <a:r>
              <a:rPr lang="en-IN" dirty="0"/>
              <a:t>[]){  </a:t>
            </a:r>
          </a:p>
          <a:p>
            <a:r>
              <a:rPr lang="en-IN" dirty="0"/>
              <a:t>	Employee obj1 = new Employee(10245,"Chaitanya");  </a:t>
            </a:r>
          </a:p>
          <a:p>
            <a:r>
              <a:rPr lang="en-IN" dirty="0"/>
              <a:t>	Employee obj2 = new Employee(92232,"Negan");  </a:t>
            </a:r>
          </a:p>
          <a:p>
            <a:r>
              <a:rPr lang="en-IN" dirty="0"/>
              <a:t>	obj1.info();  </a:t>
            </a:r>
          </a:p>
          <a:p>
            <a:r>
              <a:rPr lang="en-IN" dirty="0"/>
              <a:t>	obj2.info();  </a:t>
            </a:r>
          </a:p>
          <a:p>
            <a:r>
              <a:rPr lang="en-IN" dirty="0"/>
              <a:t>   }  </a:t>
            </a:r>
          </a:p>
          <a:p>
            <a:r>
              <a:rPr lang="en-IN" dirty="0"/>
              <a:t>}</a:t>
            </a:r>
          </a:p>
        </p:txBody>
      </p:sp>
    </p:spTree>
    <p:extLst>
      <p:ext uri="{BB962C8B-B14F-4D97-AF65-F5344CB8AC3E}">
        <p14:creationId xmlns:p14="http://schemas.microsoft.com/office/powerpoint/2010/main" val="465030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B4D0C-0E66-11AB-A04A-7595600894F2}"/>
              </a:ext>
            </a:extLst>
          </p:cNvPr>
          <p:cNvSpPr>
            <a:spLocks noGrp="1"/>
          </p:cNvSpPr>
          <p:nvPr>
            <p:ph type="title"/>
          </p:nvPr>
        </p:nvSpPr>
        <p:spPr>
          <a:xfrm>
            <a:off x="535940" y="300354"/>
            <a:ext cx="6960870" cy="438582"/>
          </a:xfrm>
        </p:spPr>
        <p:txBody>
          <a:bodyPr/>
          <a:lstStyle/>
          <a:p>
            <a:r>
              <a:rPr lang="en-US" dirty="0"/>
              <a:t>Output</a:t>
            </a:r>
            <a:endParaRPr lang="en-IN" dirty="0"/>
          </a:p>
        </p:txBody>
      </p:sp>
      <p:sp>
        <p:nvSpPr>
          <p:cNvPr id="3" name="Text Placeholder 2">
            <a:extLst>
              <a:ext uri="{FF2B5EF4-FFF2-40B4-BE49-F238E27FC236}">
                <a16:creationId xmlns:a16="http://schemas.microsoft.com/office/drawing/2014/main" id="{010BE30C-F6A7-0B94-7764-0B7F09B38C88}"/>
              </a:ext>
            </a:extLst>
          </p:cNvPr>
          <p:cNvSpPr>
            <a:spLocks noGrp="1"/>
          </p:cNvSpPr>
          <p:nvPr>
            <p:ph type="body" idx="1"/>
          </p:nvPr>
        </p:nvSpPr>
        <p:spPr>
          <a:xfrm>
            <a:off x="535940" y="1166829"/>
            <a:ext cx="7995920" cy="923330"/>
          </a:xfrm>
        </p:spPr>
        <p:txBody>
          <a:bodyPr/>
          <a:lstStyle/>
          <a:p>
            <a:endParaRPr lang="en-US" dirty="0"/>
          </a:p>
          <a:p>
            <a:r>
              <a:rPr lang="en-US" dirty="0"/>
              <a:t>Id: 10245 Name: Chaitanya</a:t>
            </a:r>
          </a:p>
          <a:p>
            <a:r>
              <a:rPr lang="en-US" dirty="0"/>
              <a:t>Id: 92232 Name: Negan</a:t>
            </a:r>
            <a:endParaRPr lang="en-IN" dirty="0"/>
          </a:p>
        </p:txBody>
      </p:sp>
    </p:spTree>
    <p:extLst>
      <p:ext uri="{BB962C8B-B14F-4D97-AF65-F5344CB8AC3E}">
        <p14:creationId xmlns:p14="http://schemas.microsoft.com/office/powerpoint/2010/main" val="1242667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3A91-6DA2-7D55-5FA7-6817641FC6AA}"/>
              </a:ext>
            </a:extLst>
          </p:cNvPr>
          <p:cNvSpPr>
            <a:spLocks noGrp="1"/>
          </p:cNvSpPr>
          <p:nvPr>
            <p:ph type="title"/>
          </p:nvPr>
        </p:nvSpPr>
        <p:spPr/>
        <p:txBody>
          <a:bodyPr/>
          <a:lstStyle/>
          <a:p>
            <a:r>
              <a:rPr lang="en-IN" b="1" i="0" dirty="0">
                <a:solidFill>
                  <a:srgbClr val="444542"/>
                </a:solidFill>
                <a:effectLst/>
                <a:latin typeface="PT Sans" panose="020B0503020203020204" pitchFamily="34" charset="0"/>
              </a:rPr>
              <a:t>Example2: parameterized constructor</a:t>
            </a:r>
            <a:br>
              <a:rPr lang="en-IN"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5986C2FC-BD6E-7392-166A-E908EA98D0A0}"/>
              </a:ext>
            </a:extLst>
          </p:cNvPr>
          <p:cNvSpPr>
            <a:spLocks noGrp="1"/>
          </p:cNvSpPr>
          <p:nvPr>
            <p:ph type="body" idx="1"/>
          </p:nvPr>
        </p:nvSpPr>
        <p:spPr>
          <a:xfrm>
            <a:off x="535940" y="609600"/>
            <a:ext cx="7995920" cy="5232202"/>
          </a:xfrm>
        </p:spPr>
        <p:txBody>
          <a:bodyPr/>
          <a:lstStyle/>
          <a:p>
            <a:r>
              <a:rPr lang="en-IN" dirty="0"/>
              <a:t>class Example2</a:t>
            </a:r>
          </a:p>
          <a:p>
            <a:r>
              <a:rPr lang="en-IN" dirty="0"/>
              <a:t>{</a:t>
            </a:r>
          </a:p>
          <a:p>
            <a:r>
              <a:rPr lang="en-IN" dirty="0"/>
              <a:t>      private int var;</a:t>
            </a:r>
          </a:p>
          <a:p>
            <a:r>
              <a:rPr lang="en-IN" dirty="0"/>
              <a:t>      //default constructor</a:t>
            </a:r>
          </a:p>
          <a:p>
            <a:r>
              <a:rPr lang="en-IN" dirty="0"/>
              <a:t>      public Example2()</a:t>
            </a:r>
          </a:p>
          <a:p>
            <a:r>
              <a:rPr lang="en-IN" dirty="0"/>
              <a:t>      {</a:t>
            </a:r>
          </a:p>
          <a:p>
            <a:r>
              <a:rPr lang="en-IN" dirty="0"/>
              <a:t>             </a:t>
            </a:r>
            <a:r>
              <a:rPr lang="en-IN" dirty="0" err="1"/>
              <a:t>this.var</a:t>
            </a:r>
            <a:r>
              <a:rPr lang="en-IN" dirty="0"/>
              <a:t> = 10;</a:t>
            </a:r>
          </a:p>
          <a:p>
            <a:r>
              <a:rPr lang="en-IN" dirty="0"/>
              <a:t>      }</a:t>
            </a:r>
          </a:p>
          <a:p>
            <a:r>
              <a:rPr lang="en-IN" dirty="0"/>
              <a:t>      //parameterized constructor</a:t>
            </a:r>
          </a:p>
          <a:p>
            <a:r>
              <a:rPr lang="en-IN" dirty="0"/>
              <a:t>      public Example2(int </a:t>
            </a:r>
            <a:r>
              <a:rPr lang="en-IN" dirty="0" err="1"/>
              <a:t>num</a:t>
            </a:r>
            <a:r>
              <a:rPr lang="en-IN" dirty="0"/>
              <a:t>)</a:t>
            </a:r>
          </a:p>
          <a:p>
            <a:r>
              <a:rPr lang="en-IN" dirty="0"/>
              <a:t>      {</a:t>
            </a:r>
          </a:p>
          <a:p>
            <a:r>
              <a:rPr lang="en-IN" dirty="0"/>
              <a:t>             </a:t>
            </a:r>
            <a:r>
              <a:rPr lang="en-IN" dirty="0" err="1"/>
              <a:t>this.var</a:t>
            </a:r>
            <a:r>
              <a:rPr lang="en-IN" dirty="0"/>
              <a:t> = </a:t>
            </a:r>
            <a:r>
              <a:rPr lang="en-IN" dirty="0" err="1"/>
              <a:t>num</a:t>
            </a:r>
            <a:r>
              <a:rPr lang="en-IN" dirty="0"/>
              <a:t>;</a:t>
            </a:r>
          </a:p>
          <a:p>
            <a:r>
              <a:rPr lang="en-IN" dirty="0"/>
              <a:t>      }</a:t>
            </a:r>
          </a:p>
          <a:p>
            <a:r>
              <a:rPr lang="en-IN" dirty="0"/>
              <a:t>      public int </a:t>
            </a:r>
            <a:r>
              <a:rPr lang="en-IN" dirty="0" err="1"/>
              <a:t>getValue</a:t>
            </a:r>
            <a:r>
              <a:rPr lang="en-IN" dirty="0"/>
              <a:t>()</a:t>
            </a:r>
          </a:p>
          <a:p>
            <a:r>
              <a:rPr lang="en-IN" dirty="0"/>
              <a:t>      {</a:t>
            </a:r>
          </a:p>
          <a:p>
            <a:r>
              <a:rPr lang="en-IN" dirty="0"/>
              <a:t>              return var;</a:t>
            </a:r>
          </a:p>
          <a:p>
            <a:r>
              <a:rPr lang="en-IN" dirty="0"/>
              <a:t>      }</a:t>
            </a:r>
          </a:p>
        </p:txBody>
      </p:sp>
    </p:spTree>
    <p:extLst>
      <p:ext uri="{BB962C8B-B14F-4D97-AF65-F5344CB8AC3E}">
        <p14:creationId xmlns:p14="http://schemas.microsoft.com/office/powerpoint/2010/main" val="3263993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23FA-8046-91C1-F733-562381620B60}"/>
              </a:ext>
            </a:extLst>
          </p:cNvPr>
          <p:cNvSpPr>
            <a:spLocks noGrp="1"/>
          </p:cNvSpPr>
          <p:nvPr>
            <p:ph type="title"/>
          </p:nvPr>
        </p:nvSpPr>
        <p:spPr>
          <a:xfrm>
            <a:off x="535940" y="300354"/>
            <a:ext cx="6960870" cy="438582"/>
          </a:xfrm>
        </p:spPr>
        <p:txBody>
          <a:bodyPr/>
          <a:lstStyle/>
          <a:p>
            <a:r>
              <a:rPr lang="en-US" dirty="0"/>
              <a:t>Continue…</a:t>
            </a:r>
            <a:endParaRPr lang="en-IN" dirty="0"/>
          </a:p>
        </p:txBody>
      </p:sp>
      <p:sp>
        <p:nvSpPr>
          <p:cNvPr id="3" name="Text Placeholder 2">
            <a:extLst>
              <a:ext uri="{FF2B5EF4-FFF2-40B4-BE49-F238E27FC236}">
                <a16:creationId xmlns:a16="http://schemas.microsoft.com/office/drawing/2014/main" id="{C0DF464E-E8EC-C95A-7E09-9B1B1DD1E0BE}"/>
              </a:ext>
            </a:extLst>
          </p:cNvPr>
          <p:cNvSpPr>
            <a:spLocks noGrp="1"/>
          </p:cNvSpPr>
          <p:nvPr>
            <p:ph type="body" idx="1"/>
          </p:nvPr>
        </p:nvSpPr>
        <p:spPr>
          <a:xfrm>
            <a:off x="535940" y="1166829"/>
            <a:ext cx="7995920" cy="4001095"/>
          </a:xfrm>
        </p:spPr>
        <p:txBody>
          <a:bodyPr/>
          <a:lstStyle/>
          <a:p>
            <a:r>
              <a:rPr lang="en-IN" dirty="0"/>
              <a:t>public static void main(String </a:t>
            </a:r>
            <a:r>
              <a:rPr lang="en-IN" dirty="0" err="1"/>
              <a:t>args</a:t>
            </a:r>
            <a:r>
              <a:rPr lang="en-IN" dirty="0"/>
              <a:t>[])</a:t>
            </a:r>
          </a:p>
          <a:p>
            <a:r>
              <a:rPr lang="en-IN" dirty="0"/>
              <a:t>      {</a:t>
            </a:r>
          </a:p>
          <a:p>
            <a:r>
              <a:rPr lang="en-IN" dirty="0"/>
              <a:t>              Example2 </a:t>
            </a:r>
            <a:r>
              <a:rPr lang="en-IN" dirty="0" err="1"/>
              <a:t>obj</a:t>
            </a:r>
            <a:r>
              <a:rPr lang="en-IN" dirty="0"/>
              <a:t> = new Example2();</a:t>
            </a:r>
          </a:p>
          <a:p>
            <a:r>
              <a:rPr lang="en-IN" dirty="0"/>
              <a:t>              Example2 obj2 = new Example2(100);</a:t>
            </a:r>
          </a:p>
          <a:p>
            <a:r>
              <a:rPr lang="en-IN" dirty="0"/>
              <a:t>              </a:t>
            </a:r>
            <a:r>
              <a:rPr lang="en-IN" dirty="0" err="1"/>
              <a:t>System.out.println</a:t>
            </a:r>
            <a:r>
              <a:rPr lang="en-IN" dirty="0"/>
              <a:t>("var is: "+</a:t>
            </a:r>
            <a:r>
              <a:rPr lang="en-IN" dirty="0" err="1"/>
              <a:t>obj.getValue</a:t>
            </a:r>
            <a:r>
              <a:rPr lang="en-IN" dirty="0"/>
              <a:t>());</a:t>
            </a:r>
          </a:p>
          <a:p>
            <a:r>
              <a:rPr lang="en-IN" dirty="0"/>
              <a:t>              </a:t>
            </a:r>
            <a:r>
              <a:rPr lang="en-IN" dirty="0" err="1"/>
              <a:t>System.out.println</a:t>
            </a:r>
            <a:r>
              <a:rPr lang="en-IN" dirty="0"/>
              <a:t>("var is: "+obj2.getValue());</a:t>
            </a:r>
          </a:p>
          <a:p>
            <a:r>
              <a:rPr lang="en-IN" dirty="0"/>
              <a:t>      }</a:t>
            </a:r>
          </a:p>
          <a:p>
            <a:r>
              <a:rPr lang="en-IN" dirty="0"/>
              <a:t>}</a:t>
            </a:r>
          </a:p>
          <a:p>
            <a:endParaRPr lang="en-IN" dirty="0"/>
          </a:p>
          <a:p>
            <a:r>
              <a:rPr lang="nl-NL" b="1" dirty="0"/>
              <a:t>Output:</a:t>
            </a:r>
          </a:p>
          <a:p>
            <a:endParaRPr lang="nl-NL" dirty="0"/>
          </a:p>
          <a:p>
            <a:r>
              <a:rPr lang="nl-NL" dirty="0"/>
              <a:t>var is: 10</a:t>
            </a:r>
          </a:p>
          <a:p>
            <a:r>
              <a:rPr lang="nl-NL" dirty="0"/>
              <a:t>var is: 100</a:t>
            </a:r>
            <a:endParaRPr lang="en-IN" dirty="0"/>
          </a:p>
        </p:txBody>
      </p:sp>
    </p:spTree>
    <p:extLst>
      <p:ext uri="{BB962C8B-B14F-4D97-AF65-F5344CB8AC3E}">
        <p14:creationId xmlns:p14="http://schemas.microsoft.com/office/powerpoint/2010/main" val="999204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295C-EDEB-5011-7FCC-89401CBDF6F6}"/>
              </a:ext>
            </a:extLst>
          </p:cNvPr>
          <p:cNvSpPr>
            <a:spLocks noGrp="1"/>
          </p:cNvSpPr>
          <p:nvPr>
            <p:ph type="title"/>
          </p:nvPr>
        </p:nvSpPr>
        <p:spPr>
          <a:xfrm>
            <a:off x="535940" y="300354"/>
            <a:ext cx="6960870" cy="1315745"/>
          </a:xfrm>
        </p:spPr>
        <p:txBody>
          <a:bodyPr/>
          <a:lstStyle/>
          <a:p>
            <a:r>
              <a:rPr lang="en-US" b="1" i="0" dirty="0">
                <a:solidFill>
                  <a:srgbClr val="444542"/>
                </a:solidFill>
                <a:effectLst/>
                <a:latin typeface="PT Sans" panose="020B0503020203020204" pitchFamily="34" charset="0"/>
              </a:rPr>
              <a:t>What if you implement only parameterized constructor in class</a:t>
            </a:r>
            <a:br>
              <a:rPr lang="en-US" b="1" i="0" dirty="0">
                <a:solidFill>
                  <a:srgbClr val="444542"/>
                </a:solidFill>
                <a:effectLst/>
                <a:latin typeface="PT Sans" panose="020B0503020203020204" pitchFamily="34" charset="0"/>
              </a:rPr>
            </a:br>
            <a:endParaRPr lang="en-IN" dirty="0"/>
          </a:p>
        </p:txBody>
      </p:sp>
      <p:sp>
        <p:nvSpPr>
          <p:cNvPr id="3" name="Text Placeholder 2">
            <a:extLst>
              <a:ext uri="{FF2B5EF4-FFF2-40B4-BE49-F238E27FC236}">
                <a16:creationId xmlns:a16="http://schemas.microsoft.com/office/drawing/2014/main" id="{F64896F7-B2CD-C9DE-D048-2B6C8AA9A4AC}"/>
              </a:ext>
            </a:extLst>
          </p:cNvPr>
          <p:cNvSpPr>
            <a:spLocks noGrp="1"/>
          </p:cNvSpPr>
          <p:nvPr>
            <p:ph type="body" idx="1"/>
          </p:nvPr>
        </p:nvSpPr>
        <p:spPr>
          <a:xfrm>
            <a:off x="535940" y="1166829"/>
            <a:ext cx="7995920" cy="6155531"/>
          </a:xfrm>
        </p:spPr>
        <p:txBody>
          <a:bodyPr/>
          <a:lstStyle/>
          <a:p>
            <a:r>
              <a:rPr lang="en-IN" dirty="0"/>
              <a:t>class Example3</a:t>
            </a:r>
          </a:p>
          <a:p>
            <a:r>
              <a:rPr lang="en-IN" dirty="0"/>
              <a:t>{</a:t>
            </a:r>
          </a:p>
          <a:p>
            <a:r>
              <a:rPr lang="en-IN" dirty="0"/>
              <a:t>      private int var;</a:t>
            </a:r>
          </a:p>
          <a:p>
            <a:r>
              <a:rPr lang="en-IN" dirty="0"/>
              <a:t>      public Example3(int </a:t>
            </a:r>
            <a:r>
              <a:rPr lang="en-IN" dirty="0" err="1"/>
              <a:t>num</a:t>
            </a:r>
            <a:r>
              <a:rPr lang="en-IN" dirty="0"/>
              <a:t>)</a:t>
            </a:r>
          </a:p>
          <a:p>
            <a:r>
              <a:rPr lang="en-IN" dirty="0"/>
              <a:t>      {</a:t>
            </a:r>
          </a:p>
          <a:p>
            <a:r>
              <a:rPr lang="en-IN" dirty="0"/>
              <a:t>             var=</a:t>
            </a:r>
            <a:r>
              <a:rPr lang="en-IN" dirty="0" err="1"/>
              <a:t>num</a:t>
            </a:r>
            <a:r>
              <a:rPr lang="en-IN" dirty="0"/>
              <a:t>;</a:t>
            </a:r>
          </a:p>
          <a:p>
            <a:r>
              <a:rPr lang="en-IN" dirty="0"/>
              <a:t>      }</a:t>
            </a:r>
          </a:p>
          <a:p>
            <a:r>
              <a:rPr lang="en-IN" dirty="0"/>
              <a:t>      public int </a:t>
            </a:r>
            <a:r>
              <a:rPr lang="en-IN" dirty="0" err="1"/>
              <a:t>getValue</a:t>
            </a:r>
            <a:r>
              <a:rPr lang="en-IN" dirty="0"/>
              <a:t>()</a:t>
            </a:r>
          </a:p>
          <a:p>
            <a:r>
              <a:rPr lang="en-IN" dirty="0"/>
              <a:t>      {</a:t>
            </a:r>
          </a:p>
          <a:p>
            <a:r>
              <a:rPr lang="en-IN" dirty="0"/>
              <a:t>              return var;</a:t>
            </a:r>
          </a:p>
          <a:p>
            <a:r>
              <a:rPr lang="en-IN" dirty="0"/>
              <a:t>      }</a:t>
            </a:r>
          </a:p>
          <a:p>
            <a:r>
              <a:rPr lang="en-IN" dirty="0"/>
              <a:t>      public static void main(String </a:t>
            </a:r>
            <a:r>
              <a:rPr lang="en-IN" dirty="0" err="1"/>
              <a:t>args</a:t>
            </a:r>
            <a:r>
              <a:rPr lang="en-IN" dirty="0"/>
              <a:t>[])</a:t>
            </a:r>
          </a:p>
          <a:p>
            <a:r>
              <a:rPr lang="en-IN" dirty="0"/>
              <a:t>      {</a:t>
            </a:r>
          </a:p>
          <a:p>
            <a:r>
              <a:rPr lang="en-IN" dirty="0"/>
              <a:t>              Example3 </a:t>
            </a:r>
            <a:r>
              <a:rPr lang="en-IN" dirty="0" err="1"/>
              <a:t>myobj</a:t>
            </a:r>
            <a:r>
              <a:rPr lang="en-IN" dirty="0"/>
              <a:t> = new Example3();</a:t>
            </a:r>
          </a:p>
          <a:p>
            <a:r>
              <a:rPr lang="en-IN" dirty="0"/>
              <a:t>              </a:t>
            </a:r>
            <a:r>
              <a:rPr lang="en-IN" dirty="0" err="1"/>
              <a:t>System.out.println</a:t>
            </a:r>
            <a:r>
              <a:rPr lang="en-IN" dirty="0"/>
              <a:t>("value of var is: "+</a:t>
            </a:r>
            <a:r>
              <a:rPr lang="en-IN" dirty="0" err="1"/>
              <a:t>myobj.getValue</a:t>
            </a:r>
            <a:r>
              <a:rPr lang="en-IN" dirty="0"/>
              <a:t>());</a:t>
            </a:r>
          </a:p>
          <a:p>
            <a:r>
              <a:rPr lang="en-IN" dirty="0"/>
              <a:t>      }</a:t>
            </a:r>
          </a:p>
          <a:p>
            <a:r>
              <a:rPr lang="en-IN" dirty="0"/>
              <a:t>}</a:t>
            </a:r>
          </a:p>
          <a:p>
            <a:endParaRPr lang="en-IN" dirty="0"/>
          </a:p>
          <a:p>
            <a:endParaRPr lang="en-IN" dirty="0"/>
          </a:p>
          <a:p>
            <a:endParaRPr lang="en-IN" dirty="0"/>
          </a:p>
        </p:txBody>
      </p:sp>
    </p:spTree>
    <p:extLst>
      <p:ext uri="{BB962C8B-B14F-4D97-AF65-F5344CB8AC3E}">
        <p14:creationId xmlns:p14="http://schemas.microsoft.com/office/powerpoint/2010/main" val="324410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2F522-3777-F24D-8A6F-17079C4D60F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82C9204-CE5A-D272-4BFD-C4A095557E37}"/>
              </a:ext>
            </a:extLst>
          </p:cNvPr>
          <p:cNvSpPr>
            <a:spLocks noGrp="1"/>
          </p:cNvSpPr>
          <p:nvPr>
            <p:ph type="body" idx="1"/>
          </p:nvPr>
        </p:nvSpPr>
        <p:spPr>
          <a:xfrm>
            <a:off x="535940" y="1166829"/>
            <a:ext cx="7995920" cy="4243371"/>
          </a:xfrm>
        </p:spPr>
        <p:txBody>
          <a:bodyPr/>
          <a:lstStyle/>
          <a:p>
            <a:r>
              <a:rPr lang="en-US" dirty="0"/>
              <a:t>Output: It will throw a compilation error. The reason is, the statement Example3 </a:t>
            </a:r>
            <a:r>
              <a:rPr lang="en-US" dirty="0" err="1"/>
              <a:t>myobj</a:t>
            </a:r>
            <a:r>
              <a:rPr lang="en-US" dirty="0"/>
              <a:t> = new Example3() is invoking a default constructor which we don’t have in our program. when you don’t implement any constructor in your class, compiler inserts the default constructor into your code, however when you implement any constructor (in above example I have implemented parameterized constructor with int parameter), then you don’t receive the default constructor by compiler into your code.</a:t>
            </a:r>
          </a:p>
          <a:p>
            <a:endParaRPr lang="en-US" dirty="0"/>
          </a:p>
          <a:p>
            <a:r>
              <a:rPr lang="en-US" dirty="0"/>
              <a:t>If we remove the parameterized constructor from the above code then the program would run fine, because then compiler would insert the default constructor into your code.</a:t>
            </a:r>
            <a:endParaRPr lang="en-IN" dirty="0"/>
          </a:p>
        </p:txBody>
      </p:sp>
    </p:spTree>
    <p:extLst>
      <p:ext uri="{BB962C8B-B14F-4D97-AF65-F5344CB8AC3E}">
        <p14:creationId xmlns:p14="http://schemas.microsoft.com/office/powerpoint/2010/main" val="3291675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F489-C0E2-280C-5775-F7F9CAFBAD3B}"/>
              </a:ext>
            </a:extLst>
          </p:cNvPr>
          <p:cNvSpPr>
            <a:spLocks noGrp="1"/>
          </p:cNvSpPr>
          <p:nvPr>
            <p:ph type="title"/>
          </p:nvPr>
        </p:nvSpPr>
        <p:spPr/>
        <p:txBody>
          <a:bodyPr/>
          <a:lstStyle/>
          <a:p>
            <a:r>
              <a:rPr lang="en-US" dirty="0"/>
              <a:t>Difference between Constructor and Method</a:t>
            </a:r>
            <a:endParaRPr lang="en-IN" dirty="0"/>
          </a:p>
        </p:txBody>
      </p:sp>
      <p:sp>
        <p:nvSpPr>
          <p:cNvPr id="3" name="Text Placeholder 2">
            <a:extLst>
              <a:ext uri="{FF2B5EF4-FFF2-40B4-BE49-F238E27FC236}">
                <a16:creationId xmlns:a16="http://schemas.microsoft.com/office/drawing/2014/main" id="{9FCA0A9E-69A0-6693-8710-D93752F4A03B}"/>
              </a:ext>
            </a:extLst>
          </p:cNvPr>
          <p:cNvSpPr>
            <a:spLocks noGrp="1"/>
          </p:cNvSpPr>
          <p:nvPr>
            <p:ph type="body" idx="1"/>
          </p:nvPr>
        </p:nvSpPr>
        <p:spPr>
          <a:xfrm>
            <a:off x="535940" y="1166829"/>
            <a:ext cx="7995920" cy="3016210"/>
          </a:xfrm>
        </p:spPr>
        <p:txBody>
          <a:bodyPr/>
          <a:lstStyle/>
          <a:p>
            <a:pPr marL="342900" indent="-342900">
              <a:buFont typeface="Arial" panose="020B0604020202020204" pitchFamily="34" charset="0"/>
              <a:buChar char="•"/>
            </a:pPr>
            <a:r>
              <a:rPr lang="en-US" sz="2800" dirty="0"/>
              <a:t>The purpose of constructor is to initialize the object of a class while the purpose of a method is to perform a task by executing java code.</a:t>
            </a:r>
          </a:p>
          <a:p>
            <a:pPr marL="342900" indent="-342900">
              <a:buFont typeface="Arial" panose="020B0604020202020204" pitchFamily="34" charset="0"/>
              <a:buChar char="•"/>
            </a:pPr>
            <a:r>
              <a:rPr lang="en-US" sz="2800" dirty="0"/>
              <a:t>Constructors cannot be abstract, final, static and </a:t>
            </a:r>
            <a:r>
              <a:rPr lang="en-US" sz="2800" dirty="0" err="1"/>
              <a:t>synchronised</a:t>
            </a:r>
            <a:r>
              <a:rPr lang="en-US" sz="2800" dirty="0"/>
              <a:t> while methods can be.</a:t>
            </a:r>
          </a:p>
          <a:p>
            <a:pPr marL="342900" indent="-342900">
              <a:buFont typeface="Arial" panose="020B0604020202020204" pitchFamily="34" charset="0"/>
              <a:buChar char="•"/>
            </a:pPr>
            <a:r>
              <a:rPr lang="en-US" sz="2800" dirty="0"/>
              <a:t>Constructors do not have return types while methods do.</a:t>
            </a:r>
            <a:endParaRPr lang="en-IN" sz="2800" dirty="0"/>
          </a:p>
        </p:txBody>
      </p:sp>
    </p:spTree>
    <p:extLst>
      <p:ext uri="{BB962C8B-B14F-4D97-AF65-F5344CB8AC3E}">
        <p14:creationId xmlns:p14="http://schemas.microsoft.com/office/powerpoint/2010/main" val="498434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9B46F-6257-F2A9-973D-E90932746282}"/>
              </a:ext>
            </a:extLst>
          </p:cNvPr>
          <p:cNvSpPr>
            <a:spLocks noGrp="1"/>
          </p:cNvSpPr>
          <p:nvPr>
            <p:ph type="title"/>
          </p:nvPr>
        </p:nvSpPr>
        <p:spPr>
          <a:xfrm>
            <a:off x="535940" y="300354"/>
            <a:ext cx="6960870" cy="438582"/>
          </a:xfrm>
        </p:spPr>
        <p:txBody>
          <a:bodyPr/>
          <a:lstStyle/>
          <a:p>
            <a:r>
              <a:rPr lang="en-IN" dirty="0"/>
              <a:t>Constructor Overloading</a:t>
            </a:r>
          </a:p>
        </p:txBody>
      </p:sp>
      <p:sp>
        <p:nvSpPr>
          <p:cNvPr id="3" name="Text Placeholder 2">
            <a:extLst>
              <a:ext uri="{FF2B5EF4-FFF2-40B4-BE49-F238E27FC236}">
                <a16:creationId xmlns:a16="http://schemas.microsoft.com/office/drawing/2014/main" id="{0016A690-4E95-E856-7B77-6C2A757C36F0}"/>
              </a:ext>
            </a:extLst>
          </p:cNvPr>
          <p:cNvSpPr>
            <a:spLocks noGrp="1"/>
          </p:cNvSpPr>
          <p:nvPr>
            <p:ph type="body" idx="1"/>
          </p:nvPr>
        </p:nvSpPr>
        <p:spPr>
          <a:xfrm>
            <a:off x="535940" y="1166828"/>
            <a:ext cx="7995920" cy="2871771"/>
          </a:xfrm>
        </p:spPr>
        <p:txBody>
          <a:bodyPr/>
          <a:lstStyle/>
          <a:p>
            <a:r>
              <a:rPr lang="en-US" dirty="0"/>
              <a:t>Constructor overloading is a concept of having more than one constructor with different parameters list, in such a way so that each constructor performs a different task.</a:t>
            </a:r>
            <a:endParaRPr lang="en-IN" dirty="0"/>
          </a:p>
        </p:txBody>
      </p:sp>
      <p:pic>
        <p:nvPicPr>
          <p:cNvPr id="4" name="Picture 3">
            <a:extLst>
              <a:ext uri="{FF2B5EF4-FFF2-40B4-BE49-F238E27FC236}">
                <a16:creationId xmlns:a16="http://schemas.microsoft.com/office/drawing/2014/main" id="{FEDA7571-4CE9-663A-3023-F3B021D54C25}"/>
              </a:ext>
            </a:extLst>
          </p:cNvPr>
          <p:cNvPicPr>
            <a:picLocks noChangeAspect="1"/>
          </p:cNvPicPr>
          <p:nvPr/>
        </p:nvPicPr>
        <p:blipFill>
          <a:blip r:embed="rId2"/>
          <a:stretch>
            <a:fillRect/>
          </a:stretch>
        </p:blipFill>
        <p:spPr>
          <a:xfrm>
            <a:off x="1066800" y="2590800"/>
            <a:ext cx="6430010" cy="3352800"/>
          </a:xfrm>
          <a:prstGeom prst="rect">
            <a:avLst/>
          </a:prstGeom>
        </p:spPr>
      </p:pic>
    </p:spTree>
    <p:extLst>
      <p:ext uri="{BB962C8B-B14F-4D97-AF65-F5344CB8AC3E}">
        <p14:creationId xmlns:p14="http://schemas.microsoft.com/office/powerpoint/2010/main" val="763128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2844165" cy="461009"/>
          </a:xfrm>
          <a:prstGeom prst="rect">
            <a:avLst/>
          </a:prstGeom>
        </p:spPr>
        <p:txBody>
          <a:bodyPr vert="horz" wrap="square" lIns="0" tIns="13335" rIns="0" bIns="0" rtlCol="0">
            <a:spAutoFit/>
          </a:bodyPr>
          <a:lstStyle/>
          <a:p>
            <a:pPr marL="12700">
              <a:lnSpc>
                <a:spcPct val="100000"/>
              </a:lnSpc>
              <a:spcBef>
                <a:spcPts val="105"/>
              </a:spcBef>
            </a:pPr>
            <a:r>
              <a:rPr b="0" dirty="0">
                <a:latin typeface="Arial MT"/>
                <a:cs typeface="Arial MT"/>
              </a:rPr>
              <a:t>Copy</a:t>
            </a:r>
            <a:r>
              <a:rPr b="0" spc="-80" dirty="0">
                <a:latin typeface="Arial MT"/>
                <a:cs typeface="Arial MT"/>
              </a:rPr>
              <a:t> </a:t>
            </a:r>
            <a:r>
              <a:rPr b="0" u="heavy" dirty="0">
                <a:solidFill>
                  <a:srgbClr val="996600"/>
                </a:solidFill>
                <a:uFill>
                  <a:solidFill>
                    <a:srgbClr val="996600"/>
                  </a:solidFill>
                </a:uFill>
                <a:latin typeface="Arial MT"/>
                <a:cs typeface="Arial MT"/>
              </a:rPr>
              <a:t>Constructor</a:t>
            </a:r>
          </a:p>
        </p:txBody>
      </p:sp>
      <p:sp>
        <p:nvSpPr>
          <p:cNvPr id="3" name="object 3"/>
          <p:cNvSpPr txBox="1"/>
          <p:nvPr/>
        </p:nvSpPr>
        <p:spPr>
          <a:xfrm>
            <a:off x="535940" y="1292809"/>
            <a:ext cx="8060055" cy="1810385"/>
          </a:xfrm>
          <a:prstGeom prst="rect">
            <a:avLst/>
          </a:prstGeom>
        </p:spPr>
        <p:txBody>
          <a:bodyPr vert="horz" wrap="square" lIns="0" tIns="13335" rIns="0" bIns="0" rtlCol="0">
            <a:spAutoFit/>
          </a:bodyPr>
          <a:lstStyle/>
          <a:p>
            <a:pPr marL="269875" marR="5080" indent="-257810">
              <a:lnSpc>
                <a:spcPct val="100000"/>
              </a:lnSpc>
              <a:spcBef>
                <a:spcPts val="105"/>
              </a:spcBef>
              <a:buClr>
                <a:srgbClr val="3333CC"/>
              </a:buClr>
              <a:buSzPct val="64444"/>
              <a:buFont typeface="Wingdings"/>
              <a:buChar char=""/>
              <a:tabLst>
                <a:tab pos="270510" algn="l"/>
              </a:tabLst>
            </a:pPr>
            <a:r>
              <a:rPr sz="2250" spc="5" dirty="0">
                <a:latin typeface="Arial MT"/>
                <a:cs typeface="Arial MT"/>
              </a:rPr>
              <a:t>A Copy </a:t>
            </a:r>
            <a:r>
              <a:rPr sz="2250" dirty="0">
                <a:latin typeface="Arial MT"/>
                <a:cs typeface="Arial MT"/>
              </a:rPr>
              <a:t>Constructor in Java is a special type of constructor </a:t>
            </a:r>
            <a:r>
              <a:rPr sz="2250" spc="5" dirty="0">
                <a:latin typeface="Arial MT"/>
                <a:cs typeface="Arial MT"/>
              </a:rPr>
              <a:t> </a:t>
            </a:r>
            <a:r>
              <a:rPr sz="2250" dirty="0">
                <a:latin typeface="Arial MT"/>
                <a:cs typeface="Arial MT"/>
              </a:rPr>
              <a:t>that</a:t>
            </a:r>
            <a:r>
              <a:rPr sz="2250" spc="-15" dirty="0">
                <a:latin typeface="Arial MT"/>
                <a:cs typeface="Arial MT"/>
              </a:rPr>
              <a:t> </a:t>
            </a:r>
            <a:r>
              <a:rPr sz="2250" dirty="0">
                <a:latin typeface="Arial MT"/>
                <a:cs typeface="Arial MT"/>
              </a:rPr>
              <a:t>is</a:t>
            </a:r>
            <a:r>
              <a:rPr sz="2250" spc="-5" dirty="0">
                <a:latin typeface="Arial MT"/>
                <a:cs typeface="Arial MT"/>
              </a:rPr>
              <a:t> </a:t>
            </a:r>
            <a:r>
              <a:rPr sz="2250" dirty="0">
                <a:latin typeface="Arial MT"/>
                <a:cs typeface="Arial MT"/>
              </a:rPr>
              <a:t>used</a:t>
            </a:r>
            <a:r>
              <a:rPr sz="2250" spc="-30" dirty="0">
                <a:latin typeface="Arial MT"/>
                <a:cs typeface="Arial MT"/>
              </a:rPr>
              <a:t> </a:t>
            </a:r>
            <a:r>
              <a:rPr sz="2250" dirty="0">
                <a:latin typeface="Arial MT"/>
                <a:cs typeface="Arial MT"/>
              </a:rPr>
              <a:t>to</a:t>
            </a:r>
            <a:r>
              <a:rPr sz="2250" spc="5" dirty="0">
                <a:latin typeface="Arial MT"/>
                <a:cs typeface="Arial MT"/>
              </a:rPr>
              <a:t> </a:t>
            </a:r>
            <a:r>
              <a:rPr sz="2250" dirty="0">
                <a:latin typeface="Arial MT"/>
                <a:cs typeface="Arial MT"/>
              </a:rPr>
              <a:t>create</a:t>
            </a:r>
            <a:r>
              <a:rPr sz="2250" spc="-25" dirty="0">
                <a:latin typeface="Arial MT"/>
                <a:cs typeface="Arial MT"/>
              </a:rPr>
              <a:t> </a:t>
            </a:r>
            <a:r>
              <a:rPr sz="2250" dirty="0">
                <a:latin typeface="Arial MT"/>
                <a:cs typeface="Arial MT"/>
              </a:rPr>
              <a:t>a</a:t>
            </a:r>
            <a:r>
              <a:rPr sz="2250" spc="-5" dirty="0">
                <a:latin typeface="Arial MT"/>
                <a:cs typeface="Arial MT"/>
              </a:rPr>
              <a:t> </a:t>
            </a:r>
            <a:r>
              <a:rPr sz="2250" spc="5" dirty="0">
                <a:latin typeface="Arial MT"/>
                <a:cs typeface="Arial MT"/>
              </a:rPr>
              <a:t>new</a:t>
            </a:r>
            <a:r>
              <a:rPr sz="2250" spc="-20" dirty="0">
                <a:latin typeface="Arial MT"/>
                <a:cs typeface="Arial MT"/>
              </a:rPr>
              <a:t> </a:t>
            </a:r>
            <a:r>
              <a:rPr sz="2250" dirty="0">
                <a:latin typeface="Arial MT"/>
                <a:cs typeface="Arial MT"/>
              </a:rPr>
              <a:t>object</a:t>
            </a:r>
            <a:r>
              <a:rPr sz="2250" spc="-40" dirty="0">
                <a:latin typeface="Arial MT"/>
                <a:cs typeface="Arial MT"/>
              </a:rPr>
              <a:t> </a:t>
            </a:r>
            <a:r>
              <a:rPr sz="2250" dirty="0">
                <a:latin typeface="Arial MT"/>
                <a:cs typeface="Arial MT"/>
              </a:rPr>
              <a:t>using</a:t>
            </a:r>
            <a:r>
              <a:rPr sz="2250" spc="-25" dirty="0">
                <a:latin typeface="Arial MT"/>
                <a:cs typeface="Arial MT"/>
              </a:rPr>
              <a:t> </a:t>
            </a:r>
            <a:r>
              <a:rPr sz="2250" dirty="0">
                <a:latin typeface="Arial MT"/>
                <a:cs typeface="Arial MT"/>
              </a:rPr>
              <a:t>the</a:t>
            </a:r>
            <a:r>
              <a:rPr sz="2250" spc="-15" dirty="0">
                <a:latin typeface="Arial MT"/>
                <a:cs typeface="Arial MT"/>
              </a:rPr>
              <a:t> </a:t>
            </a:r>
            <a:r>
              <a:rPr sz="2250" dirty="0">
                <a:latin typeface="Arial MT"/>
                <a:cs typeface="Arial MT"/>
              </a:rPr>
              <a:t>existing</a:t>
            </a:r>
            <a:r>
              <a:rPr sz="2250" spc="-15" dirty="0">
                <a:latin typeface="Arial MT"/>
                <a:cs typeface="Arial MT"/>
              </a:rPr>
              <a:t> </a:t>
            </a:r>
            <a:r>
              <a:rPr sz="2250" dirty="0">
                <a:latin typeface="Arial MT"/>
                <a:cs typeface="Arial MT"/>
              </a:rPr>
              <a:t>object</a:t>
            </a:r>
            <a:r>
              <a:rPr sz="2250" spc="-40" dirty="0">
                <a:latin typeface="Arial MT"/>
                <a:cs typeface="Arial MT"/>
              </a:rPr>
              <a:t> </a:t>
            </a:r>
            <a:r>
              <a:rPr sz="2250" dirty="0">
                <a:latin typeface="Arial MT"/>
                <a:cs typeface="Arial MT"/>
              </a:rPr>
              <a:t>of </a:t>
            </a:r>
            <a:r>
              <a:rPr sz="2250" spc="-610" dirty="0">
                <a:latin typeface="Arial MT"/>
                <a:cs typeface="Arial MT"/>
              </a:rPr>
              <a:t> </a:t>
            </a:r>
            <a:r>
              <a:rPr sz="2250" dirty="0">
                <a:latin typeface="Arial MT"/>
                <a:cs typeface="Arial MT"/>
              </a:rPr>
              <a:t>a</a:t>
            </a:r>
            <a:r>
              <a:rPr sz="2250" spc="-15" dirty="0">
                <a:latin typeface="Arial MT"/>
                <a:cs typeface="Arial MT"/>
              </a:rPr>
              <a:t> </a:t>
            </a:r>
            <a:r>
              <a:rPr sz="2250" dirty="0">
                <a:latin typeface="Arial MT"/>
                <a:cs typeface="Arial MT"/>
              </a:rPr>
              <a:t>class</a:t>
            </a:r>
            <a:r>
              <a:rPr sz="2250" spc="-25" dirty="0">
                <a:latin typeface="Arial MT"/>
                <a:cs typeface="Arial MT"/>
              </a:rPr>
              <a:t> </a:t>
            </a:r>
            <a:r>
              <a:rPr sz="2250" dirty="0">
                <a:latin typeface="Arial MT"/>
                <a:cs typeface="Arial MT"/>
              </a:rPr>
              <a:t>that</a:t>
            </a:r>
            <a:r>
              <a:rPr sz="2250" spc="-20" dirty="0">
                <a:latin typeface="Arial MT"/>
                <a:cs typeface="Arial MT"/>
              </a:rPr>
              <a:t> </a:t>
            </a:r>
            <a:r>
              <a:rPr sz="2250" dirty="0">
                <a:latin typeface="Arial MT"/>
                <a:cs typeface="Arial MT"/>
              </a:rPr>
              <a:t>we</a:t>
            </a:r>
            <a:r>
              <a:rPr sz="2250" spc="-10" dirty="0">
                <a:latin typeface="Arial MT"/>
                <a:cs typeface="Arial MT"/>
              </a:rPr>
              <a:t> </a:t>
            </a:r>
            <a:r>
              <a:rPr sz="2250" dirty="0">
                <a:latin typeface="Arial MT"/>
                <a:cs typeface="Arial MT"/>
              </a:rPr>
              <a:t>have</a:t>
            </a:r>
            <a:r>
              <a:rPr sz="2250" spc="-25" dirty="0">
                <a:latin typeface="Arial MT"/>
                <a:cs typeface="Arial MT"/>
              </a:rPr>
              <a:t> </a:t>
            </a:r>
            <a:r>
              <a:rPr sz="2250" dirty="0">
                <a:latin typeface="Arial MT"/>
                <a:cs typeface="Arial MT"/>
              </a:rPr>
              <a:t>created</a:t>
            </a:r>
            <a:r>
              <a:rPr sz="2250" spc="-45" dirty="0">
                <a:latin typeface="Arial MT"/>
                <a:cs typeface="Arial MT"/>
              </a:rPr>
              <a:t> </a:t>
            </a:r>
            <a:r>
              <a:rPr sz="2250" dirty="0">
                <a:latin typeface="Arial MT"/>
                <a:cs typeface="Arial MT"/>
              </a:rPr>
              <a:t>previously.</a:t>
            </a:r>
            <a:endParaRPr sz="2250">
              <a:latin typeface="Arial MT"/>
              <a:cs typeface="Arial MT"/>
            </a:endParaRPr>
          </a:p>
          <a:p>
            <a:pPr marL="269875" indent="-257810">
              <a:lnSpc>
                <a:spcPct val="100000"/>
              </a:lnSpc>
              <a:spcBef>
                <a:spcPts val="540"/>
              </a:spcBef>
              <a:buClr>
                <a:srgbClr val="3333CC"/>
              </a:buClr>
              <a:buSzPct val="64444"/>
              <a:buFont typeface="Wingdings"/>
              <a:buChar char=""/>
              <a:tabLst>
                <a:tab pos="270510" algn="l"/>
              </a:tabLst>
            </a:pPr>
            <a:r>
              <a:rPr sz="2250" spc="-5" dirty="0">
                <a:latin typeface="Arial MT"/>
                <a:cs typeface="Arial MT"/>
              </a:rPr>
              <a:t>It </a:t>
            </a:r>
            <a:r>
              <a:rPr sz="2250" dirty="0">
                <a:latin typeface="Arial MT"/>
                <a:cs typeface="Arial MT"/>
              </a:rPr>
              <a:t>creates</a:t>
            </a:r>
            <a:r>
              <a:rPr sz="2250" spc="-35" dirty="0">
                <a:latin typeface="Arial MT"/>
                <a:cs typeface="Arial MT"/>
              </a:rPr>
              <a:t> </a:t>
            </a:r>
            <a:r>
              <a:rPr sz="2250" dirty="0">
                <a:latin typeface="Arial MT"/>
                <a:cs typeface="Arial MT"/>
              </a:rPr>
              <a:t>a</a:t>
            </a:r>
            <a:r>
              <a:rPr sz="2250" spc="-5" dirty="0">
                <a:latin typeface="Arial MT"/>
                <a:cs typeface="Arial MT"/>
              </a:rPr>
              <a:t> </a:t>
            </a:r>
            <a:r>
              <a:rPr sz="2250" spc="5" dirty="0">
                <a:latin typeface="Arial MT"/>
                <a:cs typeface="Arial MT"/>
              </a:rPr>
              <a:t>new</a:t>
            </a:r>
            <a:r>
              <a:rPr sz="2250" spc="-20" dirty="0">
                <a:latin typeface="Arial MT"/>
                <a:cs typeface="Arial MT"/>
              </a:rPr>
              <a:t> </a:t>
            </a:r>
            <a:r>
              <a:rPr sz="2250" dirty="0">
                <a:latin typeface="Arial MT"/>
                <a:cs typeface="Arial MT"/>
              </a:rPr>
              <a:t>object</a:t>
            </a:r>
            <a:r>
              <a:rPr sz="2250" spc="-40" dirty="0">
                <a:latin typeface="Arial MT"/>
                <a:cs typeface="Arial MT"/>
              </a:rPr>
              <a:t> </a:t>
            </a:r>
            <a:r>
              <a:rPr sz="2250" dirty="0">
                <a:latin typeface="Arial MT"/>
                <a:cs typeface="Arial MT"/>
              </a:rPr>
              <a:t>by</a:t>
            </a:r>
            <a:r>
              <a:rPr sz="2250" spc="-10" dirty="0">
                <a:latin typeface="Arial MT"/>
                <a:cs typeface="Arial MT"/>
              </a:rPr>
              <a:t> </a:t>
            </a:r>
            <a:r>
              <a:rPr sz="2250" dirty="0">
                <a:latin typeface="Arial MT"/>
                <a:cs typeface="Arial MT"/>
              </a:rPr>
              <a:t>initializing</a:t>
            </a:r>
            <a:r>
              <a:rPr sz="2250" spc="-30" dirty="0">
                <a:latin typeface="Arial MT"/>
                <a:cs typeface="Arial MT"/>
              </a:rPr>
              <a:t> </a:t>
            </a:r>
            <a:r>
              <a:rPr sz="2250" dirty="0">
                <a:latin typeface="Arial MT"/>
                <a:cs typeface="Arial MT"/>
              </a:rPr>
              <a:t>the</a:t>
            </a:r>
            <a:r>
              <a:rPr sz="2250" spc="-15" dirty="0">
                <a:latin typeface="Arial MT"/>
                <a:cs typeface="Arial MT"/>
              </a:rPr>
              <a:t> </a:t>
            </a:r>
            <a:r>
              <a:rPr sz="2250" dirty="0">
                <a:latin typeface="Arial MT"/>
                <a:cs typeface="Arial MT"/>
              </a:rPr>
              <a:t>object</a:t>
            </a:r>
            <a:r>
              <a:rPr sz="2250" spc="-40" dirty="0">
                <a:latin typeface="Arial MT"/>
                <a:cs typeface="Arial MT"/>
              </a:rPr>
              <a:t> </a:t>
            </a:r>
            <a:r>
              <a:rPr sz="2250" dirty="0">
                <a:latin typeface="Arial MT"/>
                <a:cs typeface="Arial MT"/>
              </a:rPr>
              <a:t>with</a:t>
            </a:r>
            <a:r>
              <a:rPr sz="2250" spc="-5" dirty="0">
                <a:latin typeface="Arial MT"/>
                <a:cs typeface="Arial MT"/>
              </a:rPr>
              <a:t> </a:t>
            </a:r>
            <a:r>
              <a:rPr sz="2250" dirty="0">
                <a:latin typeface="Arial MT"/>
                <a:cs typeface="Arial MT"/>
              </a:rPr>
              <a:t>the</a:t>
            </a:r>
            <a:endParaRPr sz="2250">
              <a:latin typeface="Arial MT"/>
              <a:cs typeface="Arial MT"/>
            </a:endParaRPr>
          </a:p>
          <a:p>
            <a:pPr marL="269875">
              <a:lnSpc>
                <a:spcPct val="100000"/>
              </a:lnSpc>
              <a:spcBef>
                <a:spcPts val="5"/>
              </a:spcBef>
            </a:pPr>
            <a:r>
              <a:rPr sz="2250" dirty="0">
                <a:latin typeface="Arial MT"/>
                <a:cs typeface="Arial MT"/>
              </a:rPr>
              <a:t>instance</a:t>
            </a:r>
            <a:r>
              <a:rPr sz="2250" spc="-55" dirty="0">
                <a:latin typeface="Arial MT"/>
                <a:cs typeface="Arial MT"/>
              </a:rPr>
              <a:t> </a:t>
            </a:r>
            <a:r>
              <a:rPr sz="2250" dirty="0">
                <a:latin typeface="Arial MT"/>
                <a:cs typeface="Arial MT"/>
              </a:rPr>
              <a:t>of</a:t>
            </a:r>
            <a:r>
              <a:rPr sz="2250" spc="-25" dirty="0">
                <a:latin typeface="Arial MT"/>
                <a:cs typeface="Arial MT"/>
              </a:rPr>
              <a:t> </a:t>
            </a:r>
            <a:r>
              <a:rPr sz="2250" dirty="0">
                <a:latin typeface="Arial MT"/>
                <a:cs typeface="Arial MT"/>
              </a:rPr>
              <a:t>the</a:t>
            </a:r>
            <a:r>
              <a:rPr sz="2250" spc="-20" dirty="0">
                <a:latin typeface="Arial MT"/>
                <a:cs typeface="Arial MT"/>
              </a:rPr>
              <a:t> </a:t>
            </a:r>
            <a:r>
              <a:rPr sz="2250" spc="5" dirty="0">
                <a:latin typeface="Arial MT"/>
                <a:cs typeface="Arial MT"/>
              </a:rPr>
              <a:t>same</a:t>
            </a:r>
            <a:r>
              <a:rPr sz="2250" spc="-40" dirty="0">
                <a:latin typeface="Arial MT"/>
                <a:cs typeface="Arial MT"/>
              </a:rPr>
              <a:t> </a:t>
            </a:r>
            <a:r>
              <a:rPr sz="2250" spc="5" dirty="0">
                <a:latin typeface="Arial MT"/>
                <a:cs typeface="Arial MT"/>
              </a:rPr>
              <a:t>class.</a:t>
            </a:r>
            <a:endParaRPr sz="2250">
              <a:latin typeface="Arial MT"/>
              <a:cs typeface="Arial MT"/>
            </a:endParaRPr>
          </a:p>
        </p:txBody>
      </p:sp>
      <p:pic>
        <p:nvPicPr>
          <p:cNvPr id="4" name="object 4"/>
          <p:cNvPicPr/>
          <p:nvPr/>
        </p:nvPicPr>
        <p:blipFill>
          <a:blip r:embed="rId2" cstate="print"/>
          <a:stretch>
            <a:fillRect/>
          </a:stretch>
        </p:blipFill>
        <p:spPr>
          <a:xfrm>
            <a:off x="1683381" y="3389089"/>
            <a:ext cx="4217803" cy="245572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 dirty="0"/>
              <a:t>23</a:t>
            </a:fld>
            <a:endParaRPr spc="-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D47E-A573-F25C-33A2-71850E66EAF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E9AC6DE-8DA7-29D0-141E-6E634DCC0F31}"/>
              </a:ext>
            </a:extLst>
          </p:cNvPr>
          <p:cNvSpPr>
            <a:spLocks noGrp="1"/>
          </p:cNvSpPr>
          <p:nvPr>
            <p:ph type="body" idx="1"/>
          </p:nvPr>
        </p:nvSpPr>
        <p:spPr>
          <a:xfrm>
            <a:off x="535940" y="1166829"/>
            <a:ext cx="7995920" cy="3077766"/>
          </a:xfrm>
        </p:spPr>
        <p:txBody>
          <a:bodyPr/>
          <a:lstStyle/>
          <a:p>
            <a:r>
              <a:rPr lang="en-US" dirty="0"/>
              <a:t> It is used if we want to create a deep copy of an existing object.</a:t>
            </a:r>
          </a:p>
          <a:p>
            <a:r>
              <a:rPr lang="en-US" dirty="0"/>
              <a:t> It is easier to implement in comparison to the clone() method.</a:t>
            </a:r>
          </a:p>
          <a:p>
            <a:endParaRPr lang="en-US" dirty="0"/>
          </a:p>
          <a:p>
            <a:pPr algn="just"/>
            <a:r>
              <a:rPr lang="en-US" b="0" i="0" dirty="0">
                <a:solidFill>
                  <a:srgbClr val="610B4B"/>
                </a:solidFill>
                <a:effectLst/>
                <a:latin typeface="erdana"/>
              </a:rPr>
              <a:t>Advantages of Copy Constructor</a:t>
            </a:r>
          </a:p>
          <a:p>
            <a:pPr algn="just">
              <a:buFont typeface="Arial" panose="020B0604020202020204" pitchFamily="34" charset="0"/>
              <a:buChar char="•"/>
            </a:pPr>
            <a:r>
              <a:rPr lang="en-US" b="0" i="0" dirty="0">
                <a:solidFill>
                  <a:srgbClr val="000000"/>
                </a:solidFill>
                <a:effectLst/>
                <a:latin typeface="inter-regular"/>
              </a:rPr>
              <a:t>If a field declared as final, the copy constructor can change it.</a:t>
            </a:r>
          </a:p>
          <a:p>
            <a:pPr algn="just">
              <a:buFont typeface="Arial" panose="020B0604020202020204" pitchFamily="34" charset="0"/>
              <a:buChar char="•"/>
            </a:pPr>
            <a:r>
              <a:rPr lang="en-US" b="0" i="0" dirty="0">
                <a:solidFill>
                  <a:srgbClr val="000000"/>
                </a:solidFill>
                <a:effectLst/>
                <a:latin typeface="inter-regular"/>
              </a:rPr>
              <a:t>There is no need for typecasting.</a:t>
            </a:r>
          </a:p>
          <a:p>
            <a:pPr algn="just">
              <a:buFont typeface="Arial" panose="020B0604020202020204" pitchFamily="34" charset="0"/>
              <a:buChar char="•"/>
            </a:pPr>
            <a:r>
              <a:rPr lang="en-US" b="0" i="0" dirty="0">
                <a:solidFill>
                  <a:srgbClr val="000000"/>
                </a:solidFill>
                <a:effectLst/>
                <a:latin typeface="inter-regular"/>
              </a:rPr>
              <a:t>Its use is easier if an object has several fields.</a:t>
            </a:r>
          </a:p>
          <a:p>
            <a:pPr algn="just">
              <a:buFont typeface="Arial" panose="020B0604020202020204" pitchFamily="34" charset="0"/>
              <a:buChar char="•"/>
            </a:pPr>
            <a:r>
              <a:rPr lang="en-US" b="0" i="0" dirty="0">
                <a:solidFill>
                  <a:srgbClr val="000000"/>
                </a:solidFill>
                <a:effectLst/>
                <a:latin typeface="inter-regular"/>
              </a:rPr>
              <a:t>Addition of field to the class is easy because of it. We need to change only in the copy constructor.</a:t>
            </a:r>
          </a:p>
          <a:p>
            <a:endParaRPr lang="en-IN" dirty="0"/>
          </a:p>
        </p:txBody>
      </p:sp>
    </p:spTree>
    <p:extLst>
      <p:ext uri="{BB962C8B-B14F-4D97-AF65-F5344CB8AC3E}">
        <p14:creationId xmlns:p14="http://schemas.microsoft.com/office/powerpoint/2010/main" val="1798691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3918-CCBE-9AAE-18E6-D773114285A8}"/>
              </a:ext>
            </a:extLst>
          </p:cNvPr>
          <p:cNvSpPr>
            <a:spLocks noGrp="1"/>
          </p:cNvSpPr>
          <p:nvPr>
            <p:ph type="title"/>
          </p:nvPr>
        </p:nvSpPr>
        <p:spPr/>
        <p:txBody>
          <a:bodyPr/>
          <a:lstStyle/>
          <a:p>
            <a:r>
              <a:rPr lang="en-IN" b="0" i="0" dirty="0">
                <a:solidFill>
                  <a:srgbClr val="610B38"/>
                </a:solidFill>
                <a:effectLst/>
                <a:latin typeface="erdana"/>
              </a:rPr>
              <a:t>Copy Constructor Vs clone() Method</a:t>
            </a:r>
            <a:br>
              <a:rPr lang="en-IN" b="0" i="0" dirty="0">
                <a:solidFill>
                  <a:srgbClr val="610B38"/>
                </a:solidFill>
                <a:effectLst/>
                <a:latin typeface="erdana"/>
              </a:rPr>
            </a:br>
            <a:endParaRPr lang="en-IN" dirty="0"/>
          </a:p>
        </p:txBody>
      </p:sp>
      <p:sp>
        <p:nvSpPr>
          <p:cNvPr id="3" name="Text Placeholder 2">
            <a:extLst>
              <a:ext uri="{FF2B5EF4-FFF2-40B4-BE49-F238E27FC236}">
                <a16:creationId xmlns:a16="http://schemas.microsoft.com/office/drawing/2014/main" id="{0E07CE90-33DB-70E3-60D2-08AA0F14916A}"/>
              </a:ext>
            </a:extLst>
          </p:cNvPr>
          <p:cNvSpPr>
            <a:spLocks noGrp="1"/>
          </p:cNvSpPr>
          <p:nvPr>
            <p:ph type="body" idx="1"/>
          </p:nvPr>
        </p:nvSpPr>
        <p:spPr>
          <a:xfrm>
            <a:off x="535940" y="1166829"/>
            <a:ext cx="7995920" cy="5109091"/>
          </a:xfrm>
        </p:spPr>
        <p:txBody>
          <a:bodyPr/>
          <a:lstStyle/>
          <a:p>
            <a:pPr marL="342900" indent="-342900">
              <a:buFont typeface="Arial" panose="020B0604020202020204" pitchFamily="34" charset="0"/>
              <a:buChar char="•"/>
            </a:pPr>
            <a:r>
              <a:rPr lang="en-US" sz="2400" b="0" i="0" dirty="0">
                <a:solidFill>
                  <a:srgbClr val="333333"/>
                </a:solidFill>
                <a:effectLst/>
                <a:latin typeface="inter-regular"/>
              </a:rPr>
              <a:t>Both the copy constructor and the clone() method are used to create a copy of an existing object of the class. But the use of copy constructor is easier and better in comparison to the clone()</a:t>
            </a:r>
          </a:p>
          <a:p>
            <a:pPr algn="just">
              <a:buFont typeface="Arial" panose="020B0604020202020204" pitchFamily="34" charset="0"/>
              <a:buChar char="•"/>
            </a:pPr>
            <a:r>
              <a:rPr lang="en-US" sz="2400" b="0" i="0" dirty="0">
                <a:solidFill>
                  <a:srgbClr val="000000"/>
                </a:solidFill>
                <a:effectLst/>
                <a:latin typeface="inter-regular"/>
              </a:rPr>
              <a:t>If we are using the clone() method it is necessary to import the </a:t>
            </a:r>
            <a:r>
              <a:rPr lang="en-US" sz="2400" b="1" i="0" dirty="0">
                <a:solidFill>
                  <a:srgbClr val="000000"/>
                </a:solidFill>
                <a:effectLst/>
                <a:latin typeface="inter-bold"/>
              </a:rPr>
              <a:t>Cloneable</a:t>
            </a:r>
            <a:r>
              <a:rPr lang="en-US" sz="2400" b="0" i="0" dirty="0">
                <a:solidFill>
                  <a:srgbClr val="000000"/>
                </a:solidFill>
                <a:effectLst/>
                <a:latin typeface="inter-regular"/>
              </a:rPr>
              <a:t> The method may throw the exception </a:t>
            </a:r>
            <a:r>
              <a:rPr lang="en-US" sz="2400" b="1" i="0" dirty="0" err="1">
                <a:solidFill>
                  <a:srgbClr val="000000"/>
                </a:solidFill>
                <a:effectLst/>
                <a:latin typeface="inter-bold"/>
              </a:rPr>
              <a:t>CloneNotSupportException</a:t>
            </a:r>
            <a:r>
              <a:rPr lang="en-US" sz="2400" b="1" i="0" dirty="0">
                <a:solidFill>
                  <a:srgbClr val="000000"/>
                </a:solidFill>
                <a:effectLst/>
                <a:latin typeface="inter-bold"/>
              </a:rPr>
              <a:t>.</a:t>
            </a:r>
            <a:r>
              <a:rPr lang="en-US" sz="2400" b="0" i="0" dirty="0">
                <a:solidFill>
                  <a:srgbClr val="000000"/>
                </a:solidFill>
                <a:effectLst/>
                <a:latin typeface="inter-regular"/>
              </a:rPr>
              <a:t> So, handling the exception in a program is a complex task. While in copy constructor there are no such complexities.</a:t>
            </a:r>
          </a:p>
          <a:p>
            <a:pPr algn="just">
              <a:buFont typeface="Arial" panose="020B0604020202020204" pitchFamily="34" charset="0"/>
              <a:buChar char="•"/>
            </a:pPr>
            <a:r>
              <a:rPr lang="en-US" sz="2400" b="0" i="0" dirty="0">
                <a:solidFill>
                  <a:srgbClr val="000000"/>
                </a:solidFill>
                <a:effectLst/>
                <a:latin typeface="inter-regular"/>
              </a:rPr>
              <a:t>We cannot assign a value if the fields are </a:t>
            </a:r>
            <a:r>
              <a:rPr lang="en-US" sz="2400" b="1" i="0" dirty="0">
                <a:solidFill>
                  <a:srgbClr val="000000"/>
                </a:solidFill>
                <a:effectLst/>
                <a:latin typeface="inter-bold"/>
              </a:rPr>
              <a:t>final</a:t>
            </a:r>
            <a:r>
              <a:rPr lang="en-US" sz="2400" b="0" i="0" dirty="0">
                <a:solidFill>
                  <a:srgbClr val="000000"/>
                </a:solidFill>
                <a:effectLst/>
                <a:latin typeface="inter-regular"/>
              </a:rPr>
              <a:t>. While in the copy constructor we can assign values to the final fields.</a:t>
            </a:r>
          </a:p>
          <a:p>
            <a:pPr algn="just">
              <a:buFont typeface="Arial" panose="020B0604020202020204" pitchFamily="34" charset="0"/>
              <a:buChar char="•"/>
            </a:pPr>
            <a:r>
              <a:rPr lang="en-US" sz="2400" b="0" i="0" dirty="0">
                <a:solidFill>
                  <a:srgbClr val="000000"/>
                </a:solidFill>
                <a:effectLst/>
                <a:latin typeface="inter-regular"/>
              </a:rPr>
              <a:t>The object returned by the clone() method must be </a:t>
            </a:r>
            <a:r>
              <a:rPr lang="en-US" sz="2400" b="1" i="0" dirty="0">
                <a:solidFill>
                  <a:srgbClr val="000000"/>
                </a:solidFill>
                <a:effectLst/>
                <a:latin typeface="inter-bold"/>
              </a:rPr>
              <a:t>typecast</a:t>
            </a:r>
            <a:r>
              <a:rPr lang="en-US" sz="2400" b="0" i="0" dirty="0">
                <a:solidFill>
                  <a:srgbClr val="000000"/>
                </a:solidFill>
                <a:effectLst/>
                <a:latin typeface="inter-regular"/>
              </a:rPr>
              <a:t>. While in copy constructor there is no such requirement.</a:t>
            </a:r>
          </a:p>
          <a:p>
            <a:endParaRPr lang="en-IN" dirty="0"/>
          </a:p>
        </p:txBody>
      </p:sp>
    </p:spTree>
    <p:extLst>
      <p:ext uri="{BB962C8B-B14F-4D97-AF65-F5344CB8AC3E}">
        <p14:creationId xmlns:p14="http://schemas.microsoft.com/office/powerpoint/2010/main" val="2529057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4961-0817-59EE-3028-B8FA71D36FC7}"/>
              </a:ext>
            </a:extLst>
          </p:cNvPr>
          <p:cNvSpPr>
            <a:spLocks noGrp="1"/>
          </p:cNvSpPr>
          <p:nvPr>
            <p:ph type="title"/>
          </p:nvPr>
        </p:nvSpPr>
        <p:spPr>
          <a:xfrm>
            <a:off x="535940" y="300354"/>
            <a:ext cx="6960870" cy="438582"/>
          </a:xfrm>
        </p:spPr>
        <p:txBody>
          <a:bodyPr/>
          <a:lstStyle/>
          <a:p>
            <a:r>
              <a:rPr lang="en-IN" dirty="0"/>
              <a:t>Java Copy Constructor</a:t>
            </a:r>
          </a:p>
        </p:txBody>
      </p:sp>
      <p:sp>
        <p:nvSpPr>
          <p:cNvPr id="3" name="Text Placeholder 2">
            <a:extLst>
              <a:ext uri="{FF2B5EF4-FFF2-40B4-BE49-F238E27FC236}">
                <a16:creationId xmlns:a16="http://schemas.microsoft.com/office/drawing/2014/main" id="{78BEF5FC-BF20-5B07-977F-360B725B6A2D}"/>
              </a:ext>
            </a:extLst>
          </p:cNvPr>
          <p:cNvSpPr>
            <a:spLocks noGrp="1"/>
          </p:cNvSpPr>
          <p:nvPr>
            <p:ph type="body" idx="1"/>
          </p:nvPr>
        </p:nvSpPr>
        <p:spPr>
          <a:xfrm>
            <a:off x="535940" y="1166829"/>
            <a:ext cx="7995920" cy="6155531"/>
          </a:xfrm>
        </p:spPr>
        <p:txBody>
          <a:bodyPr/>
          <a:lstStyle/>
          <a:p>
            <a:r>
              <a:rPr lang="en-IN" dirty="0"/>
              <a:t>class </a:t>
            </a:r>
            <a:r>
              <a:rPr lang="en-IN" dirty="0" err="1"/>
              <a:t>JavaExample</a:t>
            </a:r>
            <a:r>
              <a:rPr lang="en-IN" dirty="0"/>
              <a:t>{  </a:t>
            </a:r>
          </a:p>
          <a:p>
            <a:r>
              <a:rPr lang="en-IN" dirty="0"/>
              <a:t>   String web; </a:t>
            </a:r>
          </a:p>
          <a:p>
            <a:r>
              <a:rPr lang="en-IN" dirty="0"/>
              <a:t>   </a:t>
            </a:r>
            <a:r>
              <a:rPr lang="en-IN" dirty="0" err="1"/>
              <a:t>JavaExample</a:t>
            </a:r>
            <a:r>
              <a:rPr lang="en-IN" dirty="0"/>
              <a:t>(String w){  </a:t>
            </a:r>
          </a:p>
          <a:p>
            <a:r>
              <a:rPr lang="en-IN" dirty="0"/>
              <a:t>	web = w;</a:t>
            </a:r>
          </a:p>
          <a:p>
            <a:r>
              <a:rPr lang="en-IN" dirty="0"/>
              <a:t>   }  </a:t>
            </a:r>
          </a:p>
          <a:p>
            <a:endParaRPr lang="en-IN" dirty="0"/>
          </a:p>
          <a:p>
            <a:r>
              <a:rPr lang="en-IN" dirty="0"/>
              <a:t>   /* This is the Copy Constructor, it </a:t>
            </a:r>
          </a:p>
          <a:p>
            <a:r>
              <a:rPr lang="en-IN" dirty="0"/>
              <a:t>    * copies the values of one object</a:t>
            </a:r>
          </a:p>
          <a:p>
            <a:r>
              <a:rPr lang="en-IN" dirty="0"/>
              <a:t>    * to the another object (the object</a:t>
            </a:r>
          </a:p>
          <a:p>
            <a:r>
              <a:rPr lang="en-IN" dirty="0"/>
              <a:t>    * that invokes this constructor)</a:t>
            </a:r>
          </a:p>
          <a:p>
            <a:r>
              <a:rPr lang="en-IN" dirty="0"/>
              <a:t>    */</a:t>
            </a:r>
          </a:p>
          <a:p>
            <a:r>
              <a:rPr lang="en-IN" dirty="0"/>
              <a:t>   </a:t>
            </a:r>
            <a:r>
              <a:rPr lang="en-IN" dirty="0" err="1"/>
              <a:t>JavaExample</a:t>
            </a:r>
            <a:r>
              <a:rPr lang="en-IN" dirty="0"/>
              <a:t>(</a:t>
            </a:r>
            <a:r>
              <a:rPr lang="en-IN" dirty="0" err="1"/>
              <a:t>JavaExample</a:t>
            </a:r>
            <a:r>
              <a:rPr lang="en-IN" dirty="0"/>
              <a:t> je){  </a:t>
            </a:r>
          </a:p>
          <a:p>
            <a:r>
              <a:rPr lang="en-IN" dirty="0"/>
              <a:t>	web = </a:t>
            </a:r>
            <a:r>
              <a:rPr lang="en-IN" dirty="0" err="1"/>
              <a:t>je.web</a:t>
            </a:r>
            <a:r>
              <a:rPr lang="en-IN" dirty="0"/>
              <a:t>; </a:t>
            </a:r>
          </a:p>
          <a:p>
            <a:r>
              <a:rPr lang="en-IN" dirty="0"/>
              <a:t>   }  </a:t>
            </a:r>
          </a:p>
          <a:p>
            <a:r>
              <a:rPr lang="en-IN" dirty="0"/>
              <a:t>   void </a:t>
            </a:r>
            <a:r>
              <a:rPr lang="en-IN" dirty="0" err="1"/>
              <a:t>disp</a:t>
            </a:r>
            <a:r>
              <a:rPr lang="en-IN" dirty="0"/>
              <a:t>(){</a:t>
            </a:r>
          </a:p>
          <a:p>
            <a:r>
              <a:rPr lang="en-IN" dirty="0"/>
              <a:t>	</a:t>
            </a:r>
            <a:r>
              <a:rPr lang="en-IN" dirty="0" err="1"/>
              <a:t>System.out.println</a:t>
            </a:r>
            <a:r>
              <a:rPr lang="en-IN" dirty="0"/>
              <a:t>("Website: "+web);</a:t>
            </a:r>
          </a:p>
          <a:p>
            <a:r>
              <a:rPr lang="en-IN" dirty="0"/>
              <a:t>   }  </a:t>
            </a:r>
          </a:p>
          <a:p>
            <a:endParaRPr lang="en-IN" dirty="0"/>
          </a:p>
          <a:p>
            <a:endParaRPr lang="en-IN" dirty="0"/>
          </a:p>
          <a:p>
            <a:endParaRPr lang="en-IN" dirty="0"/>
          </a:p>
        </p:txBody>
      </p:sp>
    </p:spTree>
    <p:extLst>
      <p:ext uri="{BB962C8B-B14F-4D97-AF65-F5344CB8AC3E}">
        <p14:creationId xmlns:p14="http://schemas.microsoft.com/office/powerpoint/2010/main" val="914690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081175"/>
            <a:ext cx="7968615" cy="4209415"/>
          </a:xfrm>
          <a:prstGeom prst="rect">
            <a:avLst/>
          </a:prstGeom>
        </p:spPr>
        <p:txBody>
          <a:bodyPr vert="horz" wrap="square" lIns="0" tIns="80645" rIns="0" bIns="0" rtlCol="0">
            <a:spAutoFit/>
          </a:bodyPr>
          <a:lstStyle/>
          <a:p>
            <a:pPr marL="269875" indent="-257810" algn="just">
              <a:lnSpc>
                <a:spcPct val="100000"/>
              </a:lnSpc>
              <a:spcBef>
                <a:spcPts val="635"/>
              </a:spcBef>
              <a:buClr>
                <a:srgbClr val="3333CC"/>
              </a:buClr>
              <a:buSzPct val="64444"/>
              <a:buFont typeface="Wingdings"/>
              <a:buChar char=""/>
              <a:tabLst>
                <a:tab pos="270510" algn="l"/>
              </a:tabLst>
            </a:pPr>
            <a:r>
              <a:rPr sz="2250" dirty="0">
                <a:solidFill>
                  <a:srgbClr val="333333"/>
                </a:solidFill>
                <a:latin typeface="Arial MT"/>
                <a:cs typeface="Arial MT"/>
              </a:rPr>
              <a:t>The</a:t>
            </a:r>
            <a:r>
              <a:rPr sz="2250" spc="-15" dirty="0">
                <a:solidFill>
                  <a:srgbClr val="333333"/>
                </a:solidFill>
                <a:latin typeface="Arial MT"/>
                <a:cs typeface="Arial MT"/>
              </a:rPr>
              <a:t> </a:t>
            </a:r>
            <a:r>
              <a:rPr sz="2250" b="1" dirty="0">
                <a:solidFill>
                  <a:srgbClr val="333333"/>
                </a:solidFill>
                <a:latin typeface="Arial"/>
                <a:cs typeface="Arial"/>
              </a:rPr>
              <a:t>destructor</a:t>
            </a:r>
            <a:r>
              <a:rPr sz="2250" b="1" spc="-35" dirty="0">
                <a:solidFill>
                  <a:srgbClr val="333333"/>
                </a:solidFill>
                <a:latin typeface="Arial"/>
                <a:cs typeface="Arial"/>
              </a:rPr>
              <a:t> </a:t>
            </a:r>
            <a:r>
              <a:rPr sz="2250" dirty="0">
                <a:solidFill>
                  <a:srgbClr val="333333"/>
                </a:solidFill>
                <a:latin typeface="Arial MT"/>
                <a:cs typeface="Arial MT"/>
              </a:rPr>
              <a:t>is the</a:t>
            </a:r>
            <a:r>
              <a:rPr sz="2250" spc="-20" dirty="0">
                <a:solidFill>
                  <a:srgbClr val="333333"/>
                </a:solidFill>
                <a:latin typeface="Arial MT"/>
                <a:cs typeface="Arial MT"/>
              </a:rPr>
              <a:t> </a:t>
            </a:r>
            <a:r>
              <a:rPr sz="2250" dirty="0">
                <a:solidFill>
                  <a:srgbClr val="333333"/>
                </a:solidFill>
                <a:latin typeface="Arial MT"/>
                <a:cs typeface="Arial MT"/>
              </a:rPr>
              <a:t>opposite</a:t>
            </a:r>
            <a:r>
              <a:rPr sz="2250" spc="-35" dirty="0">
                <a:solidFill>
                  <a:srgbClr val="333333"/>
                </a:solidFill>
                <a:latin typeface="Arial MT"/>
                <a:cs typeface="Arial MT"/>
              </a:rPr>
              <a:t> </a:t>
            </a:r>
            <a:r>
              <a:rPr sz="2250" dirty="0">
                <a:solidFill>
                  <a:srgbClr val="333333"/>
                </a:solidFill>
                <a:latin typeface="Arial MT"/>
                <a:cs typeface="Arial MT"/>
              </a:rPr>
              <a:t>of</a:t>
            </a:r>
            <a:r>
              <a:rPr sz="2250" spc="-15" dirty="0">
                <a:solidFill>
                  <a:srgbClr val="333333"/>
                </a:solidFill>
                <a:latin typeface="Arial MT"/>
                <a:cs typeface="Arial MT"/>
              </a:rPr>
              <a:t> </a:t>
            </a:r>
            <a:r>
              <a:rPr sz="2250" dirty="0">
                <a:solidFill>
                  <a:srgbClr val="333333"/>
                </a:solidFill>
                <a:latin typeface="Arial MT"/>
                <a:cs typeface="Arial MT"/>
              </a:rPr>
              <a:t>the</a:t>
            </a:r>
            <a:r>
              <a:rPr sz="2250" spc="-20" dirty="0">
                <a:solidFill>
                  <a:srgbClr val="333333"/>
                </a:solidFill>
                <a:latin typeface="Arial MT"/>
                <a:cs typeface="Arial MT"/>
              </a:rPr>
              <a:t> </a:t>
            </a:r>
            <a:r>
              <a:rPr sz="2250" dirty="0">
                <a:solidFill>
                  <a:srgbClr val="333333"/>
                </a:solidFill>
                <a:latin typeface="Arial MT"/>
                <a:cs typeface="Arial MT"/>
              </a:rPr>
              <a:t>constructor.</a:t>
            </a:r>
            <a:endParaRPr sz="2250">
              <a:latin typeface="Arial MT"/>
              <a:cs typeface="Arial MT"/>
            </a:endParaRPr>
          </a:p>
          <a:p>
            <a:pPr marL="269875" marR="1038225" indent="-257810" algn="just">
              <a:lnSpc>
                <a:spcPct val="100000"/>
              </a:lnSpc>
              <a:spcBef>
                <a:spcPts val="540"/>
              </a:spcBef>
              <a:buClr>
                <a:srgbClr val="3333CC"/>
              </a:buClr>
              <a:buSzPct val="64444"/>
              <a:buFont typeface="Wingdings"/>
              <a:buChar char=""/>
              <a:tabLst>
                <a:tab pos="270510" algn="l"/>
              </a:tabLst>
            </a:pPr>
            <a:r>
              <a:rPr sz="2250" dirty="0">
                <a:solidFill>
                  <a:srgbClr val="333333"/>
                </a:solidFill>
                <a:latin typeface="Arial MT"/>
                <a:cs typeface="Arial MT"/>
              </a:rPr>
              <a:t>The constructor is used to initialize objects while the </a:t>
            </a:r>
            <a:r>
              <a:rPr sz="2250" spc="-615" dirty="0">
                <a:solidFill>
                  <a:srgbClr val="333333"/>
                </a:solidFill>
                <a:latin typeface="Arial MT"/>
                <a:cs typeface="Arial MT"/>
              </a:rPr>
              <a:t> </a:t>
            </a:r>
            <a:r>
              <a:rPr sz="2250" dirty="0">
                <a:solidFill>
                  <a:srgbClr val="333333"/>
                </a:solidFill>
                <a:latin typeface="Arial MT"/>
                <a:cs typeface="Arial MT"/>
              </a:rPr>
              <a:t>destructor</a:t>
            </a:r>
            <a:r>
              <a:rPr sz="2250" spc="-40" dirty="0">
                <a:solidFill>
                  <a:srgbClr val="333333"/>
                </a:solidFill>
                <a:latin typeface="Arial MT"/>
                <a:cs typeface="Arial MT"/>
              </a:rPr>
              <a:t> </a:t>
            </a:r>
            <a:r>
              <a:rPr sz="2250" dirty="0">
                <a:solidFill>
                  <a:srgbClr val="333333"/>
                </a:solidFill>
                <a:latin typeface="Arial MT"/>
                <a:cs typeface="Arial MT"/>
              </a:rPr>
              <a:t>is</a:t>
            </a:r>
            <a:r>
              <a:rPr sz="2250" spc="5" dirty="0">
                <a:solidFill>
                  <a:srgbClr val="333333"/>
                </a:solidFill>
                <a:latin typeface="Arial MT"/>
                <a:cs typeface="Arial MT"/>
              </a:rPr>
              <a:t> </a:t>
            </a:r>
            <a:r>
              <a:rPr sz="2250" dirty="0">
                <a:solidFill>
                  <a:srgbClr val="333333"/>
                </a:solidFill>
                <a:latin typeface="Arial MT"/>
                <a:cs typeface="Arial MT"/>
              </a:rPr>
              <a:t>used</a:t>
            </a:r>
            <a:r>
              <a:rPr sz="2250" spc="-30" dirty="0">
                <a:solidFill>
                  <a:srgbClr val="333333"/>
                </a:solidFill>
                <a:latin typeface="Arial MT"/>
                <a:cs typeface="Arial MT"/>
              </a:rPr>
              <a:t> </a:t>
            </a:r>
            <a:r>
              <a:rPr sz="2250" dirty="0">
                <a:solidFill>
                  <a:srgbClr val="333333"/>
                </a:solidFill>
                <a:latin typeface="Arial MT"/>
                <a:cs typeface="Arial MT"/>
              </a:rPr>
              <a:t>to</a:t>
            </a:r>
            <a:r>
              <a:rPr sz="2250" spc="5" dirty="0">
                <a:solidFill>
                  <a:srgbClr val="333333"/>
                </a:solidFill>
                <a:latin typeface="Arial MT"/>
                <a:cs typeface="Arial MT"/>
              </a:rPr>
              <a:t> </a:t>
            </a:r>
            <a:r>
              <a:rPr sz="2250" dirty="0">
                <a:solidFill>
                  <a:srgbClr val="333333"/>
                </a:solidFill>
                <a:latin typeface="Arial MT"/>
                <a:cs typeface="Arial MT"/>
              </a:rPr>
              <a:t>delete</a:t>
            </a:r>
            <a:r>
              <a:rPr sz="2250" spc="-45" dirty="0">
                <a:solidFill>
                  <a:srgbClr val="333333"/>
                </a:solidFill>
                <a:latin typeface="Arial MT"/>
                <a:cs typeface="Arial MT"/>
              </a:rPr>
              <a:t> </a:t>
            </a:r>
            <a:r>
              <a:rPr sz="2250" dirty="0">
                <a:solidFill>
                  <a:srgbClr val="333333"/>
                </a:solidFill>
                <a:latin typeface="Arial MT"/>
                <a:cs typeface="Arial MT"/>
              </a:rPr>
              <a:t>or destroy</a:t>
            </a:r>
            <a:r>
              <a:rPr sz="2250" spc="-5" dirty="0">
                <a:solidFill>
                  <a:srgbClr val="333333"/>
                </a:solidFill>
                <a:latin typeface="Arial MT"/>
                <a:cs typeface="Arial MT"/>
              </a:rPr>
              <a:t> </a:t>
            </a:r>
            <a:r>
              <a:rPr sz="2250" dirty="0">
                <a:solidFill>
                  <a:srgbClr val="333333"/>
                </a:solidFill>
                <a:latin typeface="Arial MT"/>
                <a:cs typeface="Arial MT"/>
              </a:rPr>
              <a:t>the</a:t>
            </a:r>
            <a:r>
              <a:rPr sz="2250" spc="-40" dirty="0">
                <a:solidFill>
                  <a:srgbClr val="333333"/>
                </a:solidFill>
                <a:latin typeface="Arial MT"/>
                <a:cs typeface="Arial MT"/>
              </a:rPr>
              <a:t> </a:t>
            </a:r>
            <a:r>
              <a:rPr sz="2250" dirty="0">
                <a:solidFill>
                  <a:srgbClr val="333333"/>
                </a:solidFill>
                <a:latin typeface="Arial MT"/>
                <a:cs typeface="Arial MT"/>
              </a:rPr>
              <a:t>object</a:t>
            </a:r>
            <a:r>
              <a:rPr sz="2250" spc="-40" dirty="0">
                <a:solidFill>
                  <a:srgbClr val="333333"/>
                </a:solidFill>
                <a:latin typeface="Arial MT"/>
                <a:cs typeface="Arial MT"/>
              </a:rPr>
              <a:t> </a:t>
            </a:r>
            <a:r>
              <a:rPr sz="2250" dirty="0">
                <a:solidFill>
                  <a:srgbClr val="333333"/>
                </a:solidFill>
                <a:latin typeface="Arial MT"/>
                <a:cs typeface="Arial MT"/>
              </a:rPr>
              <a:t>that </a:t>
            </a:r>
            <a:r>
              <a:rPr sz="2250" spc="-610" dirty="0">
                <a:solidFill>
                  <a:srgbClr val="333333"/>
                </a:solidFill>
                <a:latin typeface="Arial MT"/>
                <a:cs typeface="Arial MT"/>
              </a:rPr>
              <a:t> </a:t>
            </a:r>
            <a:r>
              <a:rPr sz="2250" dirty="0">
                <a:solidFill>
                  <a:srgbClr val="333333"/>
                </a:solidFill>
                <a:latin typeface="Arial MT"/>
                <a:cs typeface="Arial MT"/>
              </a:rPr>
              <a:t>releases</a:t>
            </a:r>
            <a:r>
              <a:rPr sz="2250" spc="-50" dirty="0">
                <a:solidFill>
                  <a:srgbClr val="333333"/>
                </a:solidFill>
                <a:latin typeface="Arial MT"/>
                <a:cs typeface="Arial MT"/>
              </a:rPr>
              <a:t> </a:t>
            </a:r>
            <a:r>
              <a:rPr sz="2250" dirty="0">
                <a:solidFill>
                  <a:srgbClr val="333333"/>
                </a:solidFill>
                <a:latin typeface="Arial MT"/>
                <a:cs typeface="Arial MT"/>
              </a:rPr>
              <a:t>the</a:t>
            </a:r>
            <a:r>
              <a:rPr sz="2250" spc="-10" dirty="0">
                <a:solidFill>
                  <a:srgbClr val="333333"/>
                </a:solidFill>
                <a:latin typeface="Arial MT"/>
                <a:cs typeface="Arial MT"/>
              </a:rPr>
              <a:t> </a:t>
            </a:r>
            <a:r>
              <a:rPr sz="2250" dirty="0">
                <a:solidFill>
                  <a:srgbClr val="333333"/>
                </a:solidFill>
                <a:latin typeface="Arial MT"/>
                <a:cs typeface="Arial MT"/>
              </a:rPr>
              <a:t>resource</a:t>
            </a:r>
            <a:r>
              <a:rPr sz="2250" spc="-40" dirty="0">
                <a:solidFill>
                  <a:srgbClr val="333333"/>
                </a:solidFill>
                <a:latin typeface="Arial MT"/>
                <a:cs typeface="Arial MT"/>
              </a:rPr>
              <a:t> </a:t>
            </a:r>
            <a:r>
              <a:rPr sz="2250" dirty="0">
                <a:solidFill>
                  <a:srgbClr val="333333"/>
                </a:solidFill>
                <a:latin typeface="Arial MT"/>
                <a:cs typeface="Arial MT"/>
              </a:rPr>
              <a:t>occupied</a:t>
            </a:r>
            <a:r>
              <a:rPr sz="2250" spc="-50" dirty="0">
                <a:solidFill>
                  <a:srgbClr val="333333"/>
                </a:solidFill>
                <a:latin typeface="Arial MT"/>
                <a:cs typeface="Arial MT"/>
              </a:rPr>
              <a:t> </a:t>
            </a:r>
            <a:r>
              <a:rPr sz="2250" dirty="0">
                <a:solidFill>
                  <a:srgbClr val="333333"/>
                </a:solidFill>
                <a:latin typeface="Arial MT"/>
                <a:cs typeface="Arial MT"/>
              </a:rPr>
              <a:t>by</a:t>
            </a:r>
            <a:r>
              <a:rPr sz="2250" spc="-10" dirty="0">
                <a:solidFill>
                  <a:srgbClr val="333333"/>
                </a:solidFill>
                <a:latin typeface="Arial MT"/>
                <a:cs typeface="Arial MT"/>
              </a:rPr>
              <a:t> </a:t>
            </a:r>
            <a:r>
              <a:rPr sz="2250" dirty="0">
                <a:solidFill>
                  <a:srgbClr val="333333"/>
                </a:solidFill>
                <a:latin typeface="Arial MT"/>
                <a:cs typeface="Arial MT"/>
              </a:rPr>
              <a:t>the</a:t>
            </a:r>
            <a:r>
              <a:rPr sz="2250" spc="-5" dirty="0">
                <a:solidFill>
                  <a:srgbClr val="333333"/>
                </a:solidFill>
                <a:latin typeface="Arial MT"/>
                <a:cs typeface="Arial MT"/>
              </a:rPr>
              <a:t> </a:t>
            </a:r>
            <a:r>
              <a:rPr sz="2250" dirty="0">
                <a:solidFill>
                  <a:srgbClr val="333333"/>
                </a:solidFill>
                <a:latin typeface="Arial MT"/>
                <a:cs typeface="Arial MT"/>
              </a:rPr>
              <a:t>object.</a:t>
            </a:r>
            <a:endParaRPr sz="2250">
              <a:latin typeface="Arial MT"/>
              <a:cs typeface="Arial MT"/>
            </a:endParaRPr>
          </a:p>
          <a:p>
            <a:pPr marL="269875" marR="497205" indent="-257810">
              <a:lnSpc>
                <a:spcPct val="100000"/>
              </a:lnSpc>
              <a:spcBef>
                <a:spcPts val="545"/>
              </a:spcBef>
              <a:buClr>
                <a:srgbClr val="3333CC"/>
              </a:buClr>
              <a:buSzPct val="64444"/>
              <a:buFont typeface="Wingdings"/>
              <a:buChar char=""/>
              <a:tabLst>
                <a:tab pos="270510" algn="l"/>
              </a:tabLst>
            </a:pPr>
            <a:r>
              <a:rPr sz="2250" dirty="0">
                <a:solidFill>
                  <a:srgbClr val="1F2023"/>
                </a:solidFill>
                <a:latin typeface="Arial MT"/>
                <a:cs typeface="Arial MT"/>
              </a:rPr>
              <a:t>A destructor is </a:t>
            </a:r>
            <a:r>
              <a:rPr sz="2250" b="1" dirty="0">
                <a:solidFill>
                  <a:srgbClr val="1F2023"/>
                </a:solidFill>
                <a:latin typeface="Arial"/>
                <a:cs typeface="Arial"/>
              </a:rPr>
              <a:t>a special method that gets called </a:t>
            </a:r>
            <a:r>
              <a:rPr sz="2250" b="1" spc="5" dirty="0">
                <a:solidFill>
                  <a:srgbClr val="1F2023"/>
                </a:solidFill>
                <a:latin typeface="Arial"/>
                <a:cs typeface="Arial"/>
              </a:rPr>
              <a:t> </a:t>
            </a:r>
            <a:r>
              <a:rPr sz="2250" b="1" dirty="0">
                <a:solidFill>
                  <a:srgbClr val="1F2023"/>
                </a:solidFill>
                <a:latin typeface="Arial"/>
                <a:cs typeface="Arial"/>
              </a:rPr>
              <a:t>automatically</a:t>
            </a:r>
            <a:r>
              <a:rPr sz="2250" b="1" spc="-50" dirty="0">
                <a:solidFill>
                  <a:srgbClr val="1F2023"/>
                </a:solidFill>
                <a:latin typeface="Arial"/>
                <a:cs typeface="Arial"/>
              </a:rPr>
              <a:t> </a:t>
            </a:r>
            <a:r>
              <a:rPr sz="2250" b="1" dirty="0">
                <a:solidFill>
                  <a:srgbClr val="1F2023"/>
                </a:solidFill>
                <a:latin typeface="Arial"/>
                <a:cs typeface="Arial"/>
              </a:rPr>
              <a:t>as</a:t>
            </a:r>
            <a:r>
              <a:rPr sz="2250" b="1" spc="-20" dirty="0">
                <a:solidFill>
                  <a:srgbClr val="1F2023"/>
                </a:solidFill>
                <a:latin typeface="Arial"/>
                <a:cs typeface="Arial"/>
              </a:rPr>
              <a:t> </a:t>
            </a:r>
            <a:r>
              <a:rPr sz="2250" b="1" dirty="0">
                <a:solidFill>
                  <a:srgbClr val="1F2023"/>
                </a:solidFill>
                <a:latin typeface="Arial"/>
                <a:cs typeface="Arial"/>
              </a:rPr>
              <a:t>soon</a:t>
            </a:r>
            <a:r>
              <a:rPr sz="2250" b="1" spc="-25" dirty="0">
                <a:solidFill>
                  <a:srgbClr val="1F2023"/>
                </a:solidFill>
                <a:latin typeface="Arial"/>
                <a:cs typeface="Arial"/>
              </a:rPr>
              <a:t> </a:t>
            </a:r>
            <a:r>
              <a:rPr sz="2250" b="1" dirty="0">
                <a:solidFill>
                  <a:srgbClr val="1F2023"/>
                </a:solidFill>
                <a:latin typeface="Arial"/>
                <a:cs typeface="Arial"/>
              </a:rPr>
              <a:t>as the</a:t>
            </a:r>
            <a:r>
              <a:rPr sz="2250" b="1" spc="-20" dirty="0">
                <a:solidFill>
                  <a:srgbClr val="1F2023"/>
                </a:solidFill>
                <a:latin typeface="Arial"/>
                <a:cs typeface="Arial"/>
              </a:rPr>
              <a:t> </a:t>
            </a:r>
            <a:r>
              <a:rPr sz="2250" b="1" dirty="0">
                <a:solidFill>
                  <a:srgbClr val="1F2023"/>
                </a:solidFill>
                <a:latin typeface="Arial"/>
                <a:cs typeface="Arial"/>
              </a:rPr>
              <a:t>life-cycle</a:t>
            </a:r>
            <a:r>
              <a:rPr sz="2250" b="1" spc="-20" dirty="0">
                <a:solidFill>
                  <a:srgbClr val="1F2023"/>
                </a:solidFill>
                <a:latin typeface="Arial"/>
                <a:cs typeface="Arial"/>
              </a:rPr>
              <a:t> </a:t>
            </a:r>
            <a:r>
              <a:rPr sz="2250" b="1" dirty="0">
                <a:solidFill>
                  <a:srgbClr val="1F2023"/>
                </a:solidFill>
                <a:latin typeface="Arial"/>
                <a:cs typeface="Arial"/>
              </a:rPr>
              <a:t>of</a:t>
            </a:r>
            <a:r>
              <a:rPr sz="2250" b="1" spc="5" dirty="0">
                <a:solidFill>
                  <a:srgbClr val="1F2023"/>
                </a:solidFill>
                <a:latin typeface="Arial"/>
                <a:cs typeface="Arial"/>
              </a:rPr>
              <a:t> an</a:t>
            </a:r>
            <a:r>
              <a:rPr sz="2250" b="1" spc="-25" dirty="0">
                <a:solidFill>
                  <a:srgbClr val="1F2023"/>
                </a:solidFill>
                <a:latin typeface="Arial"/>
                <a:cs typeface="Arial"/>
              </a:rPr>
              <a:t> </a:t>
            </a:r>
            <a:r>
              <a:rPr sz="2250" b="1" dirty="0">
                <a:solidFill>
                  <a:srgbClr val="1F2023"/>
                </a:solidFill>
                <a:latin typeface="Arial"/>
                <a:cs typeface="Arial"/>
              </a:rPr>
              <a:t>object</a:t>
            </a:r>
            <a:r>
              <a:rPr sz="2250" b="1" spc="-25" dirty="0">
                <a:solidFill>
                  <a:srgbClr val="1F2023"/>
                </a:solidFill>
                <a:latin typeface="Arial"/>
                <a:cs typeface="Arial"/>
              </a:rPr>
              <a:t> </a:t>
            </a:r>
            <a:r>
              <a:rPr sz="2250" b="1" dirty="0">
                <a:solidFill>
                  <a:srgbClr val="1F2023"/>
                </a:solidFill>
                <a:latin typeface="Arial"/>
                <a:cs typeface="Arial"/>
              </a:rPr>
              <a:t>is </a:t>
            </a:r>
            <a:r>
              <a:rPr sz="2250" b="1" spc="-610" dirty="0">
                <a:solidFill>
                  <a:srgbClr val="1F2023"/>
                </a:solidFill>
                <a:latin typeface="Arial"/>
                <a:cs typeface="Arial"/>
              </a:rPr>
              <a:t> </a:t>
            </a:r>
            <a:r>
              <a:rPr sz="2250" b="1" dirty="0">
                <a:solidFill>
                  <a:srgbClr val="1F2023"/>
                </a:solidFill>
                <a:latin typeface="Arial"/>
                <a:cs typeface="Arial"/>
              </a:rPr>
              <a:t>finished</a:t>
            </a:r>
            <a:r>
              <a:rPr sz="2250" dirty="0">
                <a:solidFill>
                  <a:srgbClr val="1F2023"/>
                </a:solidFill>
                <a:latin typeface="Arial MT"/>
                <a:cs typeface="Arial MT"/>
              </a:rPr>
              <a:t>.</a:t>
            </a:r>
            <a:endParaRPr sz="2250">
              <a:latin typeface="Arial MT"/>
              <a:cs typeface="Arial MT"/>
            </a:endParaRPr>
          </a:p>
          <a:p>
            <a:pPr marL="269875" indent="-257810">
              <a:lnSpc>
                <a:spcPct val="100000"/>
              </a:lnSpc>
              <a:spcBef>
                <a:spcPts val="540"/>
              </a:spcBef>
              <a:buClr>
                <a:srgbClr val="3333CC"/>
              </a:buClr>
              <a:buSzPct val="64444"/>
              <a:buFont typeface="Wingdings"/>
              <a:buChar char=""/>
              <a:tabLst>
                <a:tab pos="270510" algn="l"/>
              </a:tabLst>
            </a:pPr>
            <a:r>
              <a:rPr sz="2250" dirty="0">
                <a:solidFill>
                  <a:srgbClr val="1F2023"/>
                </a:solidFill>
                <a:latin typeface="Arial MT"/>
                <a:cs typeface="Arial MT"/>
              </a:rPr>
              <a:t>A</a:t>
            </a:r>
            <a:r>
              <a:rPr sz="2250" spc="-10" dirty="0">
                <a:solidFill>
                  <a:srgbClr val="1F2023"/>
                </a:solidFill>
                <a:latin typeface="Arial MT"/>
                <a:cs typeface="Arial MT"/>
              </a:rPr>
              <a:t> </a:t>
            </a:r>
            <a:r>
              <a:rPr sz="2250" dirty="0">
                <a:solidFill>
                  <a:srgbClr val="1F2023"/>
                </a:solidFill>
                <a:latin typeface="Arial MT"/>
                <a:cs typeface="Arial MT"/>
              </a:rPr>
              <a:t>destructor is</a:t>
            </a:r>
            <a:r>
              <a:rPr sz="2250" spc="-35" dirty="0">
                <a:solidFill>
                  <a:srgbClr val="1F2023"/>
                </a:solidFill>
                <a:latin typeface="Arial MT"/>
                <a:cs typeface="Arial MT"/>
              </a:rPr>
              <a:t> </a:t>
            </a:r>
            <a:r>
              <a:rPr sz="2250" dirty="0">
                <a:solidFill>
                  <a:srgbClr val="1F2023"/>
                </a:solidFill>
                <a:latin typeface="Arial MT"/>
                <a:cs typeface="Arial MT"/>
              </a:rPr>
              <a:t>called</a:t>
            </a:r>
            <a:r>
              <a:rPr sz="2250" spc="-30" dirty="0">
                <a:solidFill>
                  <a:srgbClr val="1F2023"/>
                </a:solidFill>
                <a:latin typeface="Arial MT"/>
                <a:cs typeface="Arial MT"/>
              </a:rPr>
              <a:t> </a:t>
            </a:r>
            <a:r>
              <a:rPr sz="2250" dirty="0">
                <a:solidFill>
                  <a:srgbClr val="1F2023"/>
                </a:solidFill>
                <a:latin typeface="Arial MT"/>
                <a:cs typeface="Arial MT"/>
              </a:rPr>
              <a:t>to</a:t>
            </a:r>
            <a:r>
              <a:rPr sz="2250" spc="-10" dirty="0">
                <a:solidFill>
                  <a:srgbClr val="1F2023"/>
                </a:solidFill>
                <a:latin typeface="Arial MT"/>
                <a:cs typeface="Arial MT"/>
              </a:rPr>
              <a:t> </a:t>
            </a:r>
            <a:r>
              <a:rPr sz="2250" dirty="0">
                <a:solidFill>
                  <a:srgbClr val="1F2023"/>
                </a:solidFill>
                <a:latin typeface="Arial MT"/>
                <a:cs typeface="Arial MT"/>
              </a:rPr>
              <a:t>de-allocate</a:t>
            </a:r>
            <a:r>
              <a:rPr sz="2250" spc="-35" dirty="0">
                <a:solidFill>
                  <a:srgbClr val="1F2023"/>
                </a:solidFill>
                <a:latin typeface="Arial MT"/>
                <a:cs typeface="Arial MT"/>
              </a:rPr>
              <a:t> </a:t>
            </a:r>
            <a:r>
              <a:rPr sz="2250" dirty="0">
                <a:solidFill>
                  <a:srgbClr val="1F2023"/>
                </a:solidFill>
                <a:latin typeface="Arial MT"/>
                <a:cs typeface="Arial MT"/>
              </a:rPr>
              <a:t>and</a:t>
            </a:r>
            <a:r>
              <a:rPr sz="2250" spc="-30" dirty="0">
                <a:solidFill>
                  <a:srgbClr val="1F2023"/>
                </a:solidFill>
                <a:latin typeface="Arial MT"/>
                <a:cs typeface="Arial MT"/>
              </a:rPr>
              <a:t> </a:t>
            </a:r>
            <a:r>
              <a:rPr sz="2250" dirty="0">
                <a:solidFill>
                  <a:srgbClr val="1F2023"/>
                </a:solidFill>
                <a:latin typeface="Arial MT"/>
                <a:cs typeface="Arial MT"/>
              </a:rPr>
              <a:t>free</a:t>
            </a:r>
            <a:r>
              <a:rPr sz="2250" spc="-20" dirty="0">
                <a:solidFill>
                  <a:srgbClr val="1F2023"/>
                </a:solidFill>
                <a:latin typeface="Arial MT"/>
                <a:cs typeface="Arial MT"/>
              </a:rPr>
              <a:t> </a:t>
            </a:r>
            <a:r>
              <a:rPr sz="2250" dirty="0">
                <a:solidFill>
                  <a:srgbClr val="1F2023"/>
                </a:solidFill>
                <a:latin typeface="Arial MT"/>
                <a:cs typeface="Arial MT"/>
              </a:rPr>
              <a:t>memory.</a:t>
            </a:r>
            <a:endParaRPr sz="2250">
              <a:latin typeface="Arial MT"/>
              <a:cs typeface="Arial MT"/>
            </a:endParaRPr>
          </a:p>
          <a:p>
            <a:pPr marL="269875" indent="-257810">
              <a:lnSpc>
                <a:spcPct val="100000"/>
              </a:lnSpc>
              <a:spcBef>
                <a:spcPts val="540"/>
              </a:spcBef>
              <a:buClr>
                <a:srgbClr val="3333CC"/>
              </a:buClr>
              <a:buSzPct val="64444"/>
              <a:buFont typeface="Wingdings"/>
              <a:buChar char=""/>
              <a:tabLst>
                <a:tab pos="270510" algn="l"/>
              </a:tabLst>
            </a:pPr>
            <a:r>
              <a:rPr sz="2250" dirty="0">
                <a:solidFill>
                  <a:srgbClr val="1F2023"/>
                </a:solidFill>
                <a:latin typeface="Arial MT"/>
                <a:cs typeface="Arial MT"/>
              </a:rPr>
              <a:t>The</a:t>
            </a:r>
            <a:r>
              <a:rPr sz="2250" spc="-20" dirty="0">
                <a:solidFill>
                  <a:srgbClr val="1F2023"/>
                </a:solidFill>
                <a:latin typeface="Arial MT"/>
                <a:cs typeface="Arial MT"/>
              </a:rPr>
              <a:t> </a:t>
            </a:r>
            <a:r>
              <a:rPr sz="2250" dirty="0">
                <a:solidFill>
                  <a:srgbClr val="1F2023"/>
                </a:solidFill>
                <a:latin typeface="Arial MT"/>
                <a:cs typeface="Arial MT"/>
              </a:rPr>
              <a:t>following</a:t>
            </a:r>
            <a:r>
              <a:rPr sz="2250" spc="-45" dirty="0">
                <a:solidFill>
                  <a:srgbClr val="1F2023"/>
                </a:solidFill>
                <a:latin typeface="Arial MT"/>
                <a:cs typeface="Arial MT"/>
              </a:rPr>
              <a:t> </a:t>
            </a:r>
            <a:r>
              <a:rPr sz="2250" dirty="0">
                <a:solidFill>
                  <a:srgbClr val="1F2023"/>
                </a:solidFill>
                <a:latin typeface="Arial MT"/>
                <a:cs typeface="Arial MT"/>
              </a:rPr>
              <a:t>tasks</a:t>
            </a:r>
            <a:r>
              <a:rPr sz="2250" spc="-5" dirty="0">
                <a:solidFill>
                  <a:srgbClr val="1F2023"/>
                </a:solidFill>
                <a:latin typeface="Arial MT"/>
                <a:cs typeface="Arial MT"/>
              </a:rPr>
              <a:t> </a:t>
            </a:r>
            <a:r>
              <a:rPr sz="2250" dirty="0">
                <a:solidFill>
                  <a:srgbClr val="1F2023"/>
                </a:solidFill>
                <a:latin typeface="Arial MT"/>
                <a:cs typeface="Arial MT"/>
              </a:rPr>
              <a:t>get</a:t>
            </a:r>
            <a:r>
              <a:rPr sz="2250" spc="-25" dirty="0">
                <a:solidFill>
                  <a:srgbClr val="1F2023"/>
                </a:solidFill>
                <a:latin typeface="Arial MT"/>
                <a:cs typeface="Arial MT"/>
              </a:rPr>
              <a:t> </a:t>
            </a:r>
            <a:r>
              <a:rPr sz="2250" dirty="0">
                <a:solidFill>
                  <a:srgbClr val="1F2023"/>
                </a:solidFill>
                <a:latin typeface="Arial MT"/>
                <a:cs typeface="Arial MT"/>
              </a:rPr>
              <a:t>executed</a:t>
            </a:r>
            <a:r>
              <a:rPr sz="2250" spc="-30" dirty="0">
                <a:solidFill>
                  <a:srgbClr val="1F2023"/>
                </a:solidFill>
                <a:latin typeface="Arial MT"/>
                <a:cs typeface="Arial MT"/>
              </a:rPr>
              <a:t> </a:t>
            </a:r>
            <a:r>
              <a:rPr sz="2250" dirty="0">
                <a:solidFill>
                  <a:srgbClr val="1F2023"/>
                </a:solidFill>
                <a:latin typeface="Arial MT"/>
                <a:cs typeface="Arial MT"/>
              </a:rPr>
              <a:t>when</a:t>
            </a:r>
            <a:r>
              <a:rPr sz="2250" spc="-20" dirty="0">
                <a:solidFill>
                  <a:srgbClr val="1F2023"/>
                </a:solidFill>
                <a:latin typeface="Arial MT"/>
                <a:cs typeface="Arial MT"/>
              </a:rPr>
              <a:t> </a:t>
            </a:r>
            <a:r>
              <a:rPr sz="2250" dirty="0">
                <a:solidFill>
                  <a:srgbClr val="1F2023"/>
                </a:solidFill>
                <a:latin typeface="Arial MT"/>
                <a:cs typeface="Arial MT"/>
              </a:rPr>
              <a:t>a</a:t>
            </a:r>
            <a:r>
              <a:rPr sz="2250" spc="-5" dirty="0">
                <a:solidFill>
                  <a:srgbClr val="1F2023"/>
                </a:solidFill>
                <a:latin typeface="Arial MT"/>
                <a:cs typeface="Arial MT"/>
              </a:rPr>
              <a:t> </a:t>
            </a:r>
            <a:r>
              <a:rPr sz="2250" dirty="0">
                <a:solidFill>
                  <a:srgbClr val="1F2023"/>
                </a:solidFill>
                <a:latin typeface="Arial MT"/>
                <a:cs typeface="Arial MT"/>
              </a:rPr>
              <a:t>destructor is</a:t>
            </a:r>
            <a:r>
              <a:rPr sz="2250" spc="-30" dirty="0">
                <a:solidFill>
                  <a:srgbClr val="1F2023"/>
                </a:solidFill>
                <a:latin typeface="Arial MT"/>
                <a:cs typeface="Arial MT"/>
              </a:rPr>
              <a:t> </a:t>
            </a:r>
            <a:r>
              <a:rPr sz="2250" dirty="0">
                <a:solidFill>
                  <a:srgbClr val="1F2023"/>
                </a:solidFill>
                <a:latin typeface="Arial MT"/>
                <a:cs typeface="Arial MT"/>
              </a:rPr>
              <a:t>called.</a:t>
            </a:r>
            <a:endParaRPr sz="2250">
              <a:latin typeface="Arial MT"/>
              <a:cs typeface="Arial MT"/>
            </a:endParaRPr>
          </a:p>
          <a:p>
            <a:pPr marL="269875" marR="1002030" indent="-257810">
              <a:lnSpc>
                <a:spcPct val="100000"/>
              </a:lnSpc>
              <a:spcBef>
                <a:spcPts val="540"/>
              </a:spcBef>
              <a:buClr>
                <a:srgbClr val="3333CC"/>
              </a:buClr>
              <a:buSzPct val="64444"/>
              <a:buFont typeface="Wingdings"/>
              <a:buChar char=""/>
              <a:tabLst>
                <a:tab pos="270510" algn="l"/>
              </a:tabLst>
            </a:pPr>
            <a:r>
              <a:rPr sz="2250" dirty="0">
                <a:solidFill>
                  <a:srgbClr val="1F2023"/>
                </a:solidFill>
                <a:latin typeface="Arial MT"/>
                <a:cs typeface="Arial MT"/>
              </a:rPr>
              <a:t>Destructors</a:t>
            </a:r>
            <a:r>
              <a:rPr sz="2250" spc="-45" dirty="0">
                <a:solidFill>
                  <a:srgbClr val="1F2023"/>
                </a:solidFill>
                <a:latin typeface="Arial MT"/>
                <a:cs typeface="Arial MT"/>
              </a:rPr>
              <a:t> </a:t>
            </a:r>
            <a:r>
              <a:rPr sz="2250" dirty="0">
                <a:solidFill>
                  <a:srgbClr val="1F2023"/>
                </a:solidFill>
                <a:latin typeface="Arial MT"/>
                <a:cs typeface="Arial MT"/>
              </a:rPr>
              <a:t>in</a:t>
            </a:r>
            <a:r>
              <a:rPr sz="2250" spc="-5" dirty="0">
                <a:solidFill>
                  <a:srgbClr val="1F2023"/>
                </a:solidFill>
                <a:latin typeface="Arial MT"/>
                <a:cs typeface="Arial MT"/>
              </a:rPr>
              <a:t> </a:t>
            </a:r>
            <a:r>
              <a:rPr sz="2250" dirty="0">
                <a:solidFill>
                  <a:srgbClr val="1F2023"/>
                </a:solidFill>
                <a:latin typeface="Arial MT"/>
                <a:cs typeface="Arial MT"/>
              </a:rPr>
              <a:t>Java</a:t>
            </a:r>
            <a:r>
              <a:rPr sz="2250" spc="-15" dirty="0">
                <a:solidFill>
                  <a:srgbClr val="1F2023"/>
                </a:solidFill>
                <a:latin typeface="Arial MT"/>
                <a:cs typeface="Arial MT"/>
              </a:rPr>
              <a:t> </a:t>
            </a:r>
            <a:r>
              <a:rPr sz="2250" dirty="0">
                <a:solidFill>
                  <a:srgbClr val="1F2023"/>
                </a:solidFill>
                <a:latin typeface="Arial MT"/>
                <a:cs typeface="Arial MT"/>
              </a:rPr>
              <a:t>also</a:t>
            </a:r>
            <a:r>
              <a:rPr sz="2250" spc="-20" dirty="0">
                <a:solidFill>
                  <a:srgbClr val="1F2023"/>
                </a:solidFill>
                <a:latin typeface="Arial MT"/>
                <a:cs typeface="Arial MT"/>
              </a:rPr>
              <a:t> </a:t>
            </a:r>
            <a:r>
              <a:rPr sz="2250" dirty="0">
                <a:solidFill>
                  <a:srgbClr val="1F2023"/>
                </a:solidFill>
                <a:latin typeface="Arial MT"/>
                <a:cs typeface="Arial MT"/>
              </a:rPr>
              <a:t>known</a:t>
            </a:r>
            <a:r>
              <a:rPr sz="2250" spc="-30" dirty="0">
                <a:solidFill>
                  <a:srgbClr val="1F2023"/>
                </a:solidFill>
                <a:latin typeface="Arial MT"/>
                <a:cs typeface="Arial MT"/>
              </a:rPr>
              <a:t> </a:t>
            </a:r>
            <a:r>
              <a:rPr sz="2250" dirty="0">
                <a:solidFill>
                  <a:srgbClr val="1F2023"/>
                </a:solidFill>
                <a:latin typeface="Arial MT"/>
                <a:cs typeface="Arial MT"/>
              </a:rPr>
              <a:t>as</a:t>
            </a:r>
            <a:r>
              <a:rPr sz="2250" spc="-5" dirty="0">
                <a:solidFill>
                  <a:srgbClr val="1F2023"/>
                </a:solidFill>
                <a:latin typeface="Arial MT"/>
                <a:cs typeface="Arial MT"/>
              </a:rPr>
              <a:t> </a:t>
            </a:r>
            <a:r>
              <a:rPr sz="2250" dirty="0">
                <a:solidFill>
                  <a:srgbClr val="1F2023"/>
                </a:solidFill>
                <a:latin typeface="Arial MT"/>
                <a:cs typeface="Arial MT"/>
              </a:rPr>
              <a:t>finalizers are</a:t>
            </a:r>
            <a:r>
              <a:rPr sz="2250" spc="-50" dirty="0">
                <a:solidFill>
                  <a:srgbClr val="1F2023"/>
                </a:solidFill>
                <a:latin typeface="Arial MT"/>
                <a:cs typeface="Arial MT"/>
              </a:rPr>
              <a:t> </a:t>
            </a:r>
            <a:r>
              <a:rPr sz="2250" spc="10" dirty="0">
                <a:solidFill>
                  <a:srgbClr val="1F2023"/>
                </a:solidFill>
                <a:latin typeface="Arial MT"/>
                <a:cs typeface="Arial MT"/>
              </a:rPr>
              <a:t>non- </a:t>
            </a:r>
            <a:r>
              <a:rPr sz="2250" spc="-610" dirty="0">
                <a:solidFill>
                  <a:srgbClr val="1F2023"/>
                </a:solidFill>
                <a:latin typeface="Arial MT"/>
                <a:cs typeface="Arial MT"/>
              </a:rPr>
              <a:t> </a:t>
            </a:r>
            <a:r>
              <a:rPr sz="2250" dirty="0">
                <a:solidFill>
                  <a:srgbClr val="1F2023"/>
                </a:solidFill>
                <a:latin typeface="Arial MT"/>
                <a:cs typeface="Arial MT"/>
              </a:rPr>
              <a:t>deterministic</a:t>
            </a:r>
            <a:endParaRPr sz="2250">
              <a:latin typeface="Arial MT"/>
              <a:cs typeface="Arial MT"/>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 dirty="0"/>
              <a:t>27</a:t>
            </a:fld>
            <a:endParaRPr spc="-5" dirty="0"/>
          </a:p>
        </p:txBody>
      </p:sp>
      <p:sp>
        <p:nvSpPr>
          <p:cNvPr id="3" name="object 3"/>
          <p:cNvSpPr txBox="1">
            <a:spLocks noGrp="1"/>
          </p:cNvSpPr>
          <p:nvPr>
            <p:ph type="title"/>
          </p:nvPr>
        </p:nvSpPr>
        <p:spPr>
          <a:xfrm>
            <a:off x="535940" y="300354"/>
            <a:ext cx="1697355" cy="461009"/>
          </a:xfrm>
          <a:prstGeom prst="rect">
            <a:avLst/>
          </a:prstGeom>
        </p:spPr>
        <p:txBody>
          <a:bodyPr vert="horz" wrap="square" lIns="0" tIns="13335" rIns="0" bIns="0" rtlCol="0">
            <a:spAutoFit/>
          </a:bodyPr>
          <a:lstStyle/>
          <a:p>
            <a:pPr marL="12700">
              <a:lnSpc>
                <a:spcPct val="100000"/>
              </a:lnSpc>
              <a:spcBef>
                <a:spcPts val="105"/>
              </a:spcBef>
            </a:pPr>
            <a:r>
              <a:rPr b="0" dirty="0">
                <a:latin typeface="Arial MT"/>
                <a:cs typeface="Arial MT"/>
              </a:rPr>
              <a:t>Destr</a:t>
            </a:r>
            <a:r>
              <a:rPr b="0" spc="-15" dirty="0">
                <a:latin typeface="Arial MT"/>
                <a:cs typeface="Arial MT"/>
              </a:rPr>
              <a:t>u</a:t>
            </a:r>
            <a:r>
              <a:rPr b="0" dirty="0">
                <a:latin typeface="Arial MT"/>
                <a:cs typeface="Arial MT"/>
              </a:rPr>
              <a:t>ctor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1697355" cy="461009"/>
          </a:xfrm>
          <a:prstGeom prst="rect">
            <a:avLst/>
          </a:prstGeom>
        </p:spPr>
        <p:txBody>
          <a:bodyPr vert="horz" wrap="square" lIns="0" tIns="13335" rIns="0" bIns="0" rtlCol="0">
            <a:spAutoFit/>
          </a:bodyPr>
          <a:lstStyle/>
          <a:p>
            <a:pPr marL="12700">
              <a:lnSpc>
                <a:spcPct val="100000"/>
              </a:lnSpc>
              <a:spcBef>
                <a:spcPts val="105"/>
              </a:spcBef>
            </a:pPr>
            <a:r>
              <a:rPr b="0" dirty="0">
                <a:solidFill>
                  <a:srgbClr val="600A4A"/>
                </a:solidFill>
                <a:latin typeface="Arial MT"/>
                <a:cs typeface="Arial MT"/>
              </a:rPr>
              <a:t>Destr</a:t>
            </a:r>
            <a:r>
              <a:rPr b="0" spc="-15" dirty="0">
                <a:solidFill>
                  <a:srgbClr val="600A4A"/>
                </a:solidFill>
                <a:latin typeface="Arial MT"/>
                <a:cs typeface="Arial MT"/>
              </a:rPr>
              <a:t>u</a:t>
            </a:r>
            <a:r>
              <a:rPr b="0" dirty="0">
                <a:solidFill>
                  <a:srgbClr val="600A4A"/>
                </a:solidFill>
                <a:latin typeface="Arial MT"/>
                <a:cs typeface="Arial MT"/>
              </a:rPr>
              <a:t>ctor</a:t>
            </a:r>
          </a:p>
        </p:txBody>
      </p:sp>
      <p:sp>
        <p:nvSpPr>
          <p:cNvPr id="3" name="object 3"/>
          <p:cNvSpPr txBox="1"/>
          <p:nvPr/>
        </p:nvSpPr>
        <p:spPr>
          <a:xfrm>
            <a:off x="535940" y="1732534"/>
            <a:ext cx="7955915" cy="3593465"/>
          </a:xfrm>
          <a:prstGeom prst="rect">
            <a:avLst/>
          </a:prstGeom>
        </p:spPr>
        <p:txBody>
          <a:bodyPr vert="horz" wrap="square" lIns="0" tIns="13335" rIns="0" bIns="0" rtlCol="0">
            <a:spAutoFit/>
          </a:bodyPr>
          <a:lstStyle/>
          <a:p>
            <a:pPr marL="269875" indent="-257810">
              <a:lnSpc>
                <a:spcPct val="100000"/>
              </a:lnSpc>
              <a:spcBef>
                <a:spcPts val="105"/>
              </a:spcBef>
              <a:buClr>
                <a:srgbClr val="3333CC"/>
              </a:buClr>
              <a:buSzPct val="64444"/>
              <a:buFont typeface="Wingdings"/>
              <a:buChar char=""/>
              <a:tabLst>
                <a:tab pos="270510" algn="l"/>
              </a:tabLst>
            </a:pPr>
            <a:r>
              <a:rPr sz="2250" b="1" dirty="0">
                <a:solidFill>
                  <a:srgbClr val="333333"/>
                </a:solidFill>
                <a:latin typeface="Arial"/>
                <a:cs typeface="Arial"/>
              </a:rPr>
              <a:t>there</a:t>
            </a:r>
            <a:r>
              <a:rPr sz="2250" b="1" spc="-35" dirty="0">
                <a:solidFill>
                  <a:srgbClr val="333333"/>
                </a:solidFill>
                <a:latin typeface="Arial"/>
                <a:cs typeface="Arial"/>
              </a:rPr>
              <a:t> </a:t>
            </a:r>
            <a:r>
              <a:rPr sz="2250" b="1" dirty="0">
                <a:solidFill>
                  <a:srgbClr val="333333"/>
                </a:solidFill>
                <a:latin typeface="Arial"/>
                <a:cs typeface="Arial"/>
              </a:rPr>
              <a:t>is no</a:t>
            </a:r>
            <a:r>
              <a:rPr sz="2250" b="1" spc="-15" dirty="0">
                <a:solidFill>
                  <a:srgbClr val="333333"/>
                </a:solidFill>
                <a:latin typeface="Arial"/>
                <a:cs typeface="Arial"/>
              </a:rPr>
              <a:t> </a:t>
            </a:r>
            <a:r>
              <a:rPr sz="2250" b="1" dirty="0">
                <a:solidFill>
                  <a:srgbClr val="333333"/>
                </a:solidFill>
                <a:latin typeface="Arial"/>
                <a:cs typeface="Arial"/>
              </a:rPr>
              <a:t>concept</a:t>
            </a:r>
            <a:r>
              <a:rPr sz="2250" b="1" spc="-40" dirty="0">
                <a:solidFill>
                  <a:srgbClr val="333333"/>
                </a:solidFill>
                <a:latin typeface="Arial"/>
                <a:cs typeface="Arial"/>
              </a:rPr>
              <a:t> </a:t>
            </a:r>
            <a:r>
              <a:rPr sz="2250" b="1" dirty="0">
                <a:solidFill>
                  <a:srgbClr val="333333"/>
                </a:solidFill>
                <a:latin typeface="Arial"/>
                <a:cs typeface="Arial"/>
              </a:rPr>
              <a:t>of</a:t>
            </a:r>
            <a:r>
              <a:rPr sz="2250" b="1" spc="-10" dirty="0">
                <a:solidFill>
                  <a:srgbClr val="333333"/>
                </a:solidFill>
                <a:latin typeface="Arial"/>
                <a:cs typeface="Arial"/>
              </a:rPr>
              <a:t> </a:t>
            </a:r>
            <a:r>
              <a:rPr sz="2250" b="1" dirty="0">
                <a:solidFill>
                  <a:srgbClr val="333333"/>
                </a:solidFill>
                <a:latin typeface="Arial"/>
                <a:cs typeface="Arial"/>
              </a:rPr>
              <a:t>destructor</a:t>
            </a:r>
            <a:r>
              <a:rPr sz="2250" b="1" spc="-40" dirty="0">
                <a:solidFill>
                  <a:srgbClr val="333333"/>
                </a:solidFill>
                <a:latin typeface="Arial"/>
                <a:cs typeface="Arial"/>
              </a:rPr>
              <a:t> </a:t>
            </a:r>
            <a:r>
              <a:rPr sz="2250" b="1" dirty="0">
                <a:solidFill>
                  <a:srgbClr val="333333"/>
                </a:solidFill>
                <a:latin typeface="Arial"/>
                <a:cs typeface="Arial"/>
              </a:rPr>
              <a:t>in </a:t>
            </a:r>
            <a:r>
              <a:rPr sz="2250" b="1" spc="5" dirty="0">
                <a:solidFill>
                  <a:srgbClr val="333333"/>
                </a:solidFill>
                <a:latin typeface="Arial"/>
                <a:cs typeface="Arial"/>
              </a:rPr>
              <a:t>Java</a:t>
            </a:r>
            <a:r>
              <a:rPr sz="2250" spc="5" dirty="0">
                <a:solidFill>
                  <a:srgbClr val="333333"/>
                </a:solidFill>
                <a:latin typeface="Arial MT"/>
                <a:cs typeface="Arial MT"/>
              </a:rPr>
              <a:t>.</a:t>
            </a:r>
            <a:endParaRPr sz="2250">
              <a:latin typeface="Arial MT"/>
              <a:cs typeface="Arial MT"/>
            </a:endParaRPr>
          </a:p>
          <a:p>
            <a:pPr marL="269875" indent="-257810">
              <a:lnSpc>
                <a:spcPct val="100000"/>
              </a:lnSpc>
              <a:spcBef>
                <a:spcPts val="1900"/>
              </a:spcBef>
              <a:buClr>
                <a:srgbClr val="3333CC"/>
              </a:buClr>
              <a:buSzPct val="64444"/>
              <a:buFont typeface="Wingdings"/>
              <a:buChar char=""/>
              <a:tabLst>
                <a:tab pos="270510" algn="l"/>
              </a:tabLst>
            </a:pPr>
            <a:r>
              <a:rPr sz="2250" dirty="0">
                <a:solidFill>
                  <a:srgbClr val="333333"/>
                </a:solidFill>
                <a:latin typeface="Arial MT"/>
                <a:cs typeface="Arial MT"/>
              </a:rPr>
              <a:t>The</a:t>
            </a:r>
            <a:r>
              <a:rPr sz="2250" spc="-15" dirty="0">
                <a:solidFill>
                  <a:srgbClr val="996600"/>
                </a:solidFill>
                <a:latin typeface="Arial MT"/>
                <a:cs typeface="Arial MT"/>
              </a:rPr>
              <a:t> </a:t>
            </a:r>
            <a:r>
              <a:rPr sz="2250" u="heavy" dirty="0">
                <a:solidFill>
                  <a:srgbClr val="996600"/>
                </a:solidFill>
                <a:uFill>
                  <a:solidFill>
                    <a:srgbClr val="996600"/>
                  </a:solidFill>
                </a:uFill>
                <a:latin typeface="Arial MT"/>
                <a:cs typeface="Arial MT"/>
                <a:hlinkClick r:id="rId2"/>
              </a:rPr>
              <a:t>garbage</a:t>
            </a:r>
            <a:r>
              <a:rPr sz="2250" u="heavy" spc="-35" dirty="0">
                <a:solidFill>
                  <a:srgbClr val="996600"/>
                </a:solidFill>
                <a:uFill>
                  <a:solidFill>
                    <a:srgbClr val="996600"/>
                  </a:solidFill>
                </a:uFill>
                <a:latin typeface="Arial MT"/>
                <a:cs typeface="Arial MT"/>
                <a:hlinkClick r:id="rId2"/>
              </a:rPr>
              <a:t> </a:t>
            </a:r>
            <a:r>
              <a:rPr sz="2250" u="heavy" dirty="0">
                <a:solidFill>
                  <a:srgbClr val="996600"/>
                </a:solidFill>
                <a:uFill>
                  <a:solidFill>
                    <a:srgbClr val="996600"/>
                  </a:solidFill>
                </a:uFill>
                <a:latin typeface="Arial MT"/>
                <a:cs typeface="Arial MT"/>
                <a:hlinkClick r:id="rId2"/>
              </a:rPr>
              <a:t>collector</a:t>
            </a:r>
            <a:r>
              <a:rPr sz="2250" spc="-25" dirty="0">
                <a:solidFill>
                  <a:srgbClr val="996600"/>
                </a:solidFill>
                <a:latin typeface="Arial MT"/>
                <a:cs typeface="Arial MT"/>
                <a:hlinkClick r:id="rId2"/>
              </a:rPr>
              <a:t> </a:t>
            </a:r>
            <a:r>
              <a:rPr sz="2250" dirty="0">
                <a:solidFill>
                  <a:srgbClr val="333333"/>
                </a:solidFill>
                <a:latin typeface="Arial MT"/>
                <a:cs typeface="Arial MT"/>
              </a:rPr>
              <a:t>is</a:t>
            </a:r>
            <a:r>
              <a:rPr sz="2250" spc="-15" dirty="0">
                <a:solidFill>
                  <a:srgbClr val="333333"/>
                </a:solidFill>
                <a:latin typeface="Arial MT"/>
                <a:cs typeface="Arial MT"/>
              </a:rPr>
              <a:t> </a:t>
            </a:r>
            <a:r>
              <a:rPr sz="2250" dirty="0">
                <a:solidFill>
                  <a:srgbClr val="333333"/>
                </a:solidFill>
                <a:latin typeface="Arial MT"/>
                <a:cs typeface="Arial MT"/>
              </a:rPr>
              <a:t>a</a:t>
            </a:r>
            <a:r>
              <a:rPr sz="2250" spc="-5" dirty="0">
                <a:solidFill>
                  <a:srgbClr val="333333"/>
                </a:solidFill>
                <a:latin typeface="Arial MT"/>
                <a:cs typeface="Arial MT"/>
              </a:rPr>
              <a:t> </a:t>
            </a:r>
            <a:r>
              <a:rPr sz="2250" spc="5" dirty="0">
                <a:solidFill>
                  <a:srgbClr val="333333"/>
                </a:solidFill>
                <a:latin typeface="Arial MT"/>
                <a:cs typeface="Arial MT"/>
              </a:rPr>
              <a:t>program</a:t>
            </a:r>
            <a:r>
              <a:rPr sz="2250" spc="-55" dirty="0">
                <a:solidFill>
                  <a:srgbClr val="333333"/>
                </a:solidFill>
                <a:latin typeface="Arial MT"/>
                <a:cs typeface="Arial MT"/>
              </a:rPr>
              <a:t> </a:t>
            </a:r>
            <a:r>
              <a:rPr sz="2250" dirty="0">
                <a:solidFill>
                  <a:srgbClr val="333333"/>
                </a:solidFill>
                <a:latin typeface="Arial MT"/>
                <a:cs typeface="Arial MT"/>
              </a:rPr>
              <a:t>(thread)</a:t>
            </a:r>
            <a:r>
              <a:rPr sz="2250" spc="-30" dirty="0">
                <a:solidFill>
                  <a:srgbClr val="333333"/>
                </a:solidFill>
                <a:latin typeface="Arial MT"/>
                <a:cs typeface="Arial MT"/>
              </a:rPr>
              <a:t> </a:t>
            </a:r>
            <a:r>
              <a:rPr sz="2250" dirty="0">
                <a:solidFill>
                  <a:srgbClr val="333333"/>
                </a:solidFill>
                <a:latin typeface="Arial MT"/>
                <a:cs typeface="Arial MT"/>
              </a:rPr>
              <a:t>that</a:t>
            </a:r>
            <a:r>
              <a:rPr sz="2250" spc="-25" dirty="0">
                <a:solidFill>
                  <a:srgbClr val="333333"/>
                </a:solidFill>
                <a:latin typeface="Arial MT"/>
                <a:cs typeface="Arial MT"/>
              </a:rPr>
              <a:t> </a:t>
            </a:r>
            <a:r>
              <a:rPr sz="2250" spc="5" dirty="0">
                <a:solidFill>
                  <a:srgbClr val="333333"/>
                </a:solidFill>
                <a:latin typeface="Arial MT"/>
                <a:cs typeface="Arial MT"/>
              </a:rPr>
              <a:t>runs</a:t>
            </a:r>
            <a:r>
              <a:rPr sz="2250" spc="-20" dirty="0">
                <a:solidFill>
                  <a:srgbClr val="333333"/>
                </a:solidFill>
                <a:latin typeface="Arial MT"/>
                <a:cs typeface="Arial MT"/>
              </a:rPr>
              <a:t> </a:t>
            </a:r>
            <a:r>
              <a:rPr sz="2250" dirty="0">
                <a:solidFill>
                  <a:srgbClr val="333333"/>
                </a:solidFill>
                <a:latin typeface="Arial MT"/>
                <a:cs typeface="Arial MT"/>
              </a:rPr>
              <a:t>on</a:t>
            </a:r>
            <a:endParaRPr sz="2250">
              <a:latin typeface="Arial MT"/>
              <a:cs typeface="Arial MT"/>
            </a:endParaRPr>
          </a:p>
          <a:p>
            <a:pPr marL="269875" marR="6985">
              <a:lnSpc>
                <a:spcPts val="4060"/>
              </a:lnSpc>
              <a:spcBef>
                <a:spcPts val="345"/>
              </a:spcBef>
            </a:pPr>
            <a:r>
              <a:rPr sz="2250" dirty="0">
                <a:solidFill>
                  <a:srgbClr val="333333"/>
                </a:solidFill>
                <a:latin typeface="Arial MT"/>
                <a:cs typeface="Arial MT"/>
              </a:rPr>
              <a:t>the</a:t>
            </a:r>
            <a:r>
              <a:rPr sz="2250" spc="-10" dirty="0">
                <a:solidFill>
                  <a:srgbClr val="333333"/>
                </a:solidFill>
                <a:latin typeface="Arial MT"/>
                <a:cs typeface="Arial MT"/>
              </a:rPr>
              <a:t> </a:t>
            </a:r>
            <a:r>
              <a:rPr sz="2250" u="heavy" dirty="0">
                <a:solidFill>
                  <a:srgbClr val="996600"/>
                </a:solidFill>
                <a:uFill>
                  <a:solidFill>
                    <a:srgbClr val="996600"/>
                  </a:solidFill>
                </a:uFill>
                <a:latin typeface="Arial MT"/>
                <a:cs typeface="Arial MT"/>
                <a:hlinkClick r:id="rId3"/>
              </a:rPr>
              <a:t>JVM</a:t>
            </a:r>
            <a:r>
              <a:rPr sz="2250" dirty="0">
                <a:solidFill>
                  <a:srgbClr val="333333"/>
                </a:solidFill>
                <a:latin typeface="Arial MT"/>
                <a:cs typeface="Arial MT"/>
              </a:rPr>
              <a:t>.</a:t>
            </a:r>
            <a:r>
              <a:rPr sz="2250" spc="5" dirty="0">
                <a:solidFill>
                  <a:srgbClr val="333333"/>
                </a:solidFill>
                <a:latin typeface="Arial MT"/>
                <a:cs typeface="Arial MT"/>
              </a:rPr>
              <a:t> </a:t>
            </a:r>
            <a:r>
              <a:rPr sz="2250" spc="-5" dirty="0">
                <a:solidFill>
                  <a:srgbClr val="333333"/>
                </a:solidFill>
                <a:latin typeface="Arial MT"/>
                <a:cs typeface="Arial MT"/>
              </a:rPr>
              <a:t>It</a:t>
            </a:r>
            <a:r>
              <a:rPr sz="2250" spc="5" dirty="0">
                <a:solidFill>
                  <a:srgbClr val="333333"/>
                </a:solidFill>
                <a:latin typeface="Arial MT"/>
                <a:cs typeface="Arial MT"/>
              </a:rPr>
              <a:t> </a:t>
            </a:r>
            <a:r>
              <a:rPr sz="2250" dirty="0">
                <a:solidFill>
                  <a:srgbClr val="333333"/>
                </a:solidFill>
                <a:latin typeface="Arial MT"/>
                <a:cs typeface="Arial MT"/>
              </a:rPr>
              <a:t>automatically</a:t>
            </a:r>
            <a:r>
              <a:rPr sz="2250" spc="-35" dirty="0">
                <a:solidFill>
                  <a:srgbClr val="333333"/>
                </a:solidFill>
                <a:latin typeface="Arial MT"/>
                <a:cs typeface="Arial MT"/>
              </a:rPr>
              <a:t> </a:t>
            </a:r>
            <a:r>
              <a:rPr sz="2250" dirty="0">
                <a:solidFill>
                  <a:srgbClr val="333333"/>
                </a:solidFill>
                <a:latin typeface="Arial MT"/>
                <a:cs typeface="Arial MT"/>
              </a:rPr>
              <a:t>deletes</a:t>
            </a:r>
            <a:r>
              <a:rPr sz="2250" spc="-35" dirty="0">
                <a:solidFill>
                  <a:srgbClr val="333333"/>
                </a:solidFill>
                <a:latin typeface="Arial MT"/>
                <a:cs typeface="Arial MT"/>
              </a:rPr>
              <a:t> </a:t>
            </a:r>
            <a:r>
              <a:rPr sz="2250" dirty="0">
                <a:solidFill>
                  <a:srgbClr val="333333"/>
                </a:solidFill>
                <a:latin typeface="Arial MT"/>
                <a:cs typeface="Arial MT"/>
              </a:rPr>
              <a:t>the</a:t>
            </a:r>
            <a:r>
              <a:rPr sz="2250" spc="-5" dirty="0">
                <a:solidFill>
                  <a:srgbClr val="333333"/>
                </a:solidFill>
                <a:latin typeface="Arial MT"/>
                <a:cs typeface="Arial MT"/>
              </a:rPr>
              <a:t> </a:t>
            </a:r>
            <a:r>
              <a:rPr sz="2250" dirty="0">
                <a:solidFill>
                  <a:srgbClr val="333333"/>
                </a:solidFill>
                <a:latin typeface="Arial MT"/>
                <a:cs typeface="Arial MT"/>
              </a:rPr>
              <a:t>unused</a:t>
            </a:r>
            <a:r>
              <a:rPr sz="2250" spc="-45" dirty="0">
                <a:solidFill>
                  <a:srgbClr val="333333"/>
                </a:solidFill>
                <a:latin typeface="Arial MT"/>
                <a:cs typeface="Arial MT"/>
              </a:rPr>
              <a:t> </a:t>
            </a:r>
            <a:r>
              <a:rPr sz="2250" dirty="0">
                <a:solidFill>
                  <a:srgbClr val="333333"/>
                </a:solidFill>
                <a:latin typeface="Arial MT"/>
                <a:cs typeface="Arial MT"/>
              </a:rPr>
              <a:t>objects</a:t>
            </a:r>
            <a:r>
              <a:rPr sz="2250" spc="-40" dirty="0">
                <a:solidFill>
                  <a:srgbClr val="333333"/>
                </a:solidFill>
                <a:latin typeface="Arial MT"/>
                <a:cs typeface="Arial MT"/>
              </a:rPr>
              <a:t> </a:t>
            </a:r>
            <a:r>
              <a:rPr sz="2250" dirty="0">
                <a:solidFill>
                  <a:srgbClr val="333333"/>
                </a:solidFill>
                <a:latin typeface="Arial MT"/>
                <a:cs typeface="Arial MT"/>
              </a:rPr>
              <a:t>(objects </a:t>
            </a:r>
            <a:r>
              <a:rPr sz="2250" spc="-610" dirty="0">
                <a:solidFill>
                  <a:srgbClr val="333333"/>
                </a:solidFill>
                <a:latin typeface="Arial MT"/>
                <a:cs typeface="Arial MT"/>
              </a:rPr>
              <a:t> </a:t>
            </a:r>
            <a:r>
              <a:rPr sz="2250" dirty="0">
                <a:solidFill>
                  <a:srgbClr val="333333"/>
                </a:solidFill>
                <a:latin typeface="Arial MT"/>
                <a:cs typeface="Arial MT"/>
              </a:rPr>
              <a:t>that</a:t>
            </a:r>
            <a:r>
              <a:rPr sz="2250" spc="-20" dirty="0">
                <a:solidFill>
                  <a:srgbClr val="333333"/>
                </a:solidFill>
                <a:latin typeface="Arial MT"/>
                <a:cs typeface="Arial MT"/>
              </a:rPr>
              <a:t> </a:t>
            </a:r>
            <a:r>
              <a:rPr sz="2250" dirty="0">
                <a:solidFill>
                  <a:srgbClr val="333333"/>
                </a:solidFill>
                <a:latin typeface="Arial MT"/>
                <a:cs typeface="Arial MT"/>
              </a:rPr>
              <a:t>are</a:t>
            </a:r>
            <a:r>
              <a:rPr sz="2250" spc="-35" dirty="0">
                <a:solidFill>
                  <a:srgbClr val="333333"/>
                </a:solidFill>
                <a:latin typeface="Arial MT"/>
                <a:cs typeface="Arial MT"/>
              </a:rPr>
              <a:t> </a:t>
            </a:r>
            <a:r>
              <a:rPr sz="2250" dirty="0">
                <a:solidFill>
                  <a:srgbClr val="333333"/>
                </a:solidFill>
                <a:latin typeface="Arial MT"/>
                <a:cs typeface="Arial MT"/>
              </a:rPr>
              <a:t>no</a:t>
            </a:r>
            <a:r>
              <a:rPr sz="2250" spc="-5" dirty="0">
                <a:solidFill>
                  <a:srgbClr val="333333"/>
                </a:solidFill>
                <a:latin typeface="Arial MT"/>
                <a:cs typeface="Arial MT"/>
              </a:rPr>
              <a:t> </a:t>
            </a:r>
            <a:r>
              <a:rPr sz="2250" dirty="0">
                <a:solidFill>
                  <a:srgbClr val="333333"/>
                </a:solidFill>
                <a:latin typeface="Arial MT"/>
                <a:cs typeface="Arial MT"/>
              </a:rPr>
              <a:t>longer</a:t>
            </a:r>
            <a:r>
              <a:rPr sz="2250" spc="-35" dirty="0">
                <a:solidFill>
                  <a:srgbClr val="333333"/>
                </a:solidFill>
                <a:latin typeface="Arial MT"/>
                <a:cs typeface="Arial MT"/>
              </a:rPr>
              <a:t> </a:t>
            </a:r>
            <a:r>
              <a:rPr sz="2250" dirty="0">
                <a:solidFill>
                  <a:srgbClr val="333333"/>
                </a:solidFill>
                <a:latin typeface="Arial MT"/>
                <a:cs typeface="Arial MT"/>
              </a:rPr>
              <a:t>used)</a:t>
            </a:r>
            <a:r>
              <a:rPr sz="2250" spc="-30" dirty="0">
                <a:solidFill>
                  <a:srgbClr val="333333"/>
                </a:solidFill>
                <a:latin typeface="Arial MT"/>
                <a:cs typeface="Arial MT"/>
              </a:rPr>
              <a:t> </a:t>
            </a:r>
            <a:r>
              <a:rPr sz="2250" dirty="0">
                <a:solidFill>
                  <a:srgbClr val="333333"/>
                </a:solidFill>
                <a:latin typeface="Arial MT"/>
                <a:cs typeface="Arial MT"/>
              </a:rPr>
              <a:t>and</a:t>
            </a:r>
            <a:r>
              <a:rPr sz="2250" spc="-35" dirty="0">
                <a:solidFill>
                  <a:srgbClr val="333333"/>
                </a:solidFill>
                <a:latin typeface="Arial MT"/>
                <a:cs typeface="Arial MT"/>
              </a:rPr>
              <a:t> </a:t>
            </a:r>
            <a:r>
              <a:rPr sz="2250" spc="5" dirty="0">
                <a:solidFill>
                  <a:srgbClr val="333333"/>
                </a:solidFill>
                <a:latin typeface="Arial MT"/>
                <a:cs typeface="Arial MT"/>
              </a:rPr>
              <a:t>free-up</a:t>
            </a:r>
            <a:r>
              <a:rPr sz="2250" spc="-40" dirty="0">
                <a:solidFill>
                  <a:srgbClr val="333333"/>
                </a:solidFill>
                <a:latin typeface="Arial MT"/>
                <a:cs typeface="Arial MT"/>
              </a:rPr>
              <a:t> </a:t>
            </a:r>
            <a:r>
              <a:rPr sz="2250" dirty="0">
                <a:solidFill>
                  <a:srgbClr val="333333"/>
                </a:solidFill>
                <a:latin typeface="Arial MT"/>
                <a:cs typeface="Arial MT"/>
              </a:rPr>
              <a:t>the</a:t>
            </a:r>
            <a:r>
              <a:rPr sz="2250" spc="-5" dirty="0">
                <a:solidFill>
                  <a:srgbClr val="333333"/>
                </a:solidFill>
                <a:latin typeface="Arial MT"/>
                <a:cs typeface="Arial MT"/>
              </a:rPr>
              <a:t> </a:t>
            </a:r>
            <a:r>
              <a:rPr sz="2250" dirty="0">
                <a:solidFill>
                  <a:srgbClr val="333333"/>
                </a:solidFill>
                <a:latin typeface="Arial MT"/>
                <a:cs typeface="Arial MT"/>
              </a:rPr>
              <a:t>memory.</a:t>
            </a:r>
            <a:endParaRPr sz="2250">
              <a:latin typeface="Arial MT"/>
              <a:cs typeface="Arial MT"/>
            </a:endParaRPr>
          </a:p>
          <a:p>
            <a:pPr marL="269875" marR="5080" indent="-257810">
              <a:lnSpc>
                <a:spcPct val="150000"/>
              </a:lnSpc>
              <a:spcBef>
                <a:spcPts val="170"/>
              </a:spcBef>
              <a:buClr>
                <a:srgbClr val="3333CC"/>
              </a:buClr>
              <a:buSzPct val="64444"/>
              <a:buFont typeface="Wingdings"/>
              <a:buChar char=""/>
              <a:tabLst>
                <a:tab pos="270510" algn="l"/>
              </a:tabLst>
            </a:pPr>
            <a:r>
              <a:rPr sz="2250" dirty="0">
                <a:solidFill>
                  <a:srgbClr val="333333"/>
                </a:solidFill>
                <a:latin typeface="Arial MT"/>
                <a:cs typeface="Arial MT"/>
              </a:rPr>
              <a:t>When</a:t>
            </a:r>
            <a:r>
              <a:rPr sz="2250" spc="-10" dirty="0">
                <a:solidFill>
                  <a:srgbClr val="333333"/>
                </a:solidFill>
                <a:latin typeface="Arial MT"/>
                <a:cs typeface="Arial MT"/>
              </a:rPr>
              <a:t> </a:t>
            </a:r>
            <a:r>
              <a:rPr sz="2250" dirty="0">
                <a:solidFill>
                  <a:srgbClr val="333333"/>
                </a:solidFill>
                <a:latin typeface="Arial MT"/>
                <a:cs typeface="Arial MT"/>
              </a:rPr>
              <a:t>an</a:t>
            </a:r>
            <a:r>
              <a:rPr sz="2250" spc="-10" dirty="0">
                <a:solidFill>
                  <a:srgbClr val="333333"/>
                </a:solidFill>
                <a:latin typeface="Arial MT"/>
                <a:cs typeface="Arial MT"/>
              </a:rPr>
              <a:t> </a:t>
            </a:r>
            <a:r>
              <a:rPr sz="2250" dirty="0">
                <a:solidFill>
                  <a:srgbClr val="333333"/>
                </a:solidFill>
                <a:latin typeface="Arial MT"/>
                <a:cs typeface="Arial MT"/>
              </a:rPr>
              <a:t>object</a:t>
            </a:r>
            <a:r>
              <a:rPr sz="2250" spc="-30" dirty="0">
                <a:solidFill>
                  <a:srgbClr val="333333"/>
                </a:solidFill>
                <a:latin typeface="Arial MT"/>
                <a:cs typeface="Arial MT"/>
              </a:rPr>
              <a:t> </a:t>
            </a:r>
            <a:r>
              <a:rPr sz="2250" dirty="0">
                <a:solidFill>
                  <a:srgbClr val="333333"/>
                </a:solidFill>
                <a:latin typeface="Arial MT"/>
                <a:cs typeface="Arial MT"/>
              </a:rPr>
              <a:t>completes</a:t>
            </a:r>
            <a:r>
              <a:rPr sz="2250" spc="-40" dirty="0">
                <a:solidFill>
                  <a:srgbClr val="333333"/>
                </a:solidFill>
                <a:latin typeface="Arial MT"/>
                <a:cs typeface="Arial MT"/>
              </a:rPr>
              <a:t> </a:t>
            </a:r>
            <a:r>
              <a:rPr sz="2250" dirty="0">
                <a:solidFill>
                  <a:srgbClr val="333333"/>
                </a:solidFill>
                <a:latin typeface="Arial MT"/>
                <a:cs typeface="Arial MT"/>
              </a:rPr>
              <a:t>its</a:t>
            </a:r>
            <a:r>
              <a:rPr sz="2250" spc="15" dirty="0">
                <a:solidFill>
                  <a:srgbClr val="333333"/>
                </a:solidFill>
                <a:latin typeface="Arial MT"/>
                <a:cs typeface="Arial MT"/>
              </a:rPr>
              <a:t> </a:t>
            </a:r>
            <a:r>
              <a:rPr sz="2250" dirty="0">
                <a:solidFill>
                  <a:srgbClr val="333333"/>
                </a:solidFill>
                <a:latin typeface="Arial MT"/>
                <a:cs typeface="Arial MT"/>
              </a:rPr>
              <a:t>life-cycle</a:t>
            </a:r>
            <a:r>
              <a:rPr sz="2250" spc="-40" dirty="0">
                <a:solidFill>
                  <a:srgbClr val="333333"/>
                </a:solidFill>
                <a:latin typeface="Arial MT"/>
                <a:cs typeface="Arial MT"/>
              </a:rPr>
              <a:t> </a:t>
            </a:r>
            <a:r>
              <a:rPr sz="2250" dirty="0">
                <a:solidFill>
                  <a:srgbClr val="333333"/>
                </a:solidFill>
                <a:latin typeface="Arial MT"/>
                <a:cs typeface="Arial MT"/>
              </a:rPr>
              <a:t>the garbage</a:t>
            </a:r>
            <a:r>
              <a:rPr sz="2250" spc="-30" dirty="0">
                <a:solidFill>
                  <a:srgbClr val="333333"/>
                </a:solidFill>
                <a:latin typeface="Arial MT"/>
                <a:cs typeface="Arial MT"/>
              </a:rPr>
              <a:t> </a:t>
            </a:r>
            <a:r>
              <a:rPr sz="2250" dirty="0">
                <a:solidFill>
                  <a:srgbClr val="333333"/>
                </a:solidFill>
                <a:latin typeface="Arial MT"/>
                <a:cs typeface="Arial MT"/>
              </a:rPr>
              <a:t>collector </a:t>
            </a:r>
            <a:r>
              <a:rPr sz="2250" spc="-610" dirty="0">
                <a:solidFill>
                  <a:srgbClr val="333333"/>
                </a:solidFill>
                <a:latin typeface="Arial MT"/>
                <a:cs typeface="Arial MT"/>
              </a:rPr>
              <a:t> </a:t>
            </a:r>
            <a:r>
              <a:rPr sz="2250" dirty="0">
                <a:solidFill>
                  <a:srgbClr val="333333"/>
                </a:solidFill>
                <a:latin typeface="Arial MT"/>
                <a:cs typeface="Arial MT"/>
              </a:rPr>
              <a:t>deletes that object and deallocates or releases the </a:t>
            </a:r>
            <a:r>
              <a:rPr sz="2250" spc="5" dirty="0">
                <a:solidFill>
                  <a:srgbClr val="333333"/>
                </a:solidFill>
                <a:latin typeface="Arial MT"/>
                <a:cs typeface="Arial MT"/>
              </a:rPr>
              <a:t>memory </a:t>
            </a:r>
            <a:r>
              <a:rPr sz="2250" spc="10" dirty="0">
                <a:solidFill>
                  <a:srgbClr val="333333"/>
                </a:solidFill>
                <a:latin typeface="Arial MT"/>
                <a:cs typeface="Arial MT"/>
              </a:rPr>
              <a:t> </a:t>
            </a:r>
            <a:r>
              <a:rPr sz="2250" dirty="0">
                <a:solidFill>
                  <a:srgbClr val="333333"/>
                </a:solidFill>
                <a:latin typeface="Arial MT"/>
                <a:cs typeface="Arial MT"/>
              </a:rPr>
              <a:t>occupied</a:t>
            </a:r>
            <a:r>
              <a:rPr sz="2250" spc="-55" dirty="0">
                <a:solidFill>
                  <a:srgbClr val="333333"/>
                </a:solidFill>
                <a:latin typeface="Arial MT"/>
                <a:cs typeface="Arial MT"/>
              </a:rPr>
              <a:t> </a:t>
            </a:r>
            <a:r>
              <a:rPr sz="2250" dirty="0">
                <a:solidFill>
                  <a:srgbClr val="333333"/>
                </a:solidFill>
                <a:latin typeface="Arial MT"/>
                <a:cs typeface="Arial MT"/>
              </a:rPr>
              <a:t>by</a:t>
            </a:r>
            <a:r>
              <a:rPr sz="2250" spc="-10" dirty="0">
                <a:solidFill>
                  <a:srgbClr val="333333"/>
                </a:solidFill>
                <a:latin typeface="Arial MT"/>
                <a:cs typeface="Arial MT"/>
              </a:rPr>
              <a:t> </a:t>
            </a:r>
            <a:r>
              <a:rPr sz="2250" dirty="0">
                <a:solidFill>
                  <a:srgbClr val="333333"/>
                </a:solidFill>
                <a:latin typeface="Arial MT"/>
                <a:cs typeface="Arial MT"/>
              </a:rPr>
              <a:t>the</a:t>
            </a:r>
            <a:r>
              <a:rPr sz="2250" spc="-10" dirty="0">
                <a:solidFill>
                  <a:srgbClr val="333333"/>
                </a:solidFill>
                <a:latin typeface="Arial MT"/>
                <a:cs typeface="Arial MT"/>
              </a:rPr>
              <a:t> </a:t>
            </a:r>
            <a:r>
              <a:rPr sz="2250" dirty="0">
                <a:solidFill>
                  <a:srgbClr val="333333"/>
                </a:solidFill>
                <a:latin typeface="Arial MT"/>
                <a:cs typeface="Arial MT"/>
              </a:rPr>
              <a:t>object.</a:t>
            </a:r>
            <a:endParaRPr sz="225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1697355" cy="461009"/>
          </a:xfrm>
          <a:prstGeom prst="rect">
            <a:avLst/>
          </a:prstGeom>
        </p:spPr>
        <p:txBody>
          <a:bodyPr vert="horz" wrap="square" lIns="0" tIns="13335" rIns="0" bIns="0" rtlCol="0">
            <a:spAutoFit/>
          </a:bodyPr>
          <a:lstStyle/>
          <a:p>
            <a:pPr marL="12700">
              <a:lnSpc>
                <a:spcPct val="100000"/>
              </a:lnSpc>
              <a:spcBef>
                <a:spcPts val="105"/>
              </a:spcBef>
            </a:pPr>
            <a:r>
              <a:rPr b="0" dirty="0">
                <a:solidFill>
                  <a:srgbClr val="600A4A"/>
                </a:solidFill>
                <a:latin typeface="Arial MT"/>
                <a:cs typeface="Arial MT"/>
              </a:rPr>
              <a:t>Destr</a:t>
            </a:r>
            <a:r>
              <a:rPr b="0" spc="-15" dirty="0">
                <a:solidFill>
                  <a:srgbClr val="600A4A"/>
                </a:solidFill>
                <a:latin typeface="Arial MT"/>
                <a:cs typeface="Arial MT"/>
              </a:rPr>
              <a:t>u</a:t>
            </a:r>
            <a:r>
              <a:rPr b="0" dirty="0">
                <a:solidFill>
                  <a:srgbClr val="600A4A"/>
                </a:solidFill>
                <a:latin typeface="Arial MT"/>
                <a:cs typeface="Arial MT"/>
              </a:rPr>
              <a:t>ctor</a:t>
            </a:r>
          </a:p>
        </p:txBody>
      </p:sp>
      <p:sp>
        <p:nvSpPr>
          <p:cNvPr id="3" name="object 3"/>
          <p:cNvSpPr txBox="1"/>
          <p:nvPr/>
        </p:nvSpPr>
        <p:spPr>
          <a:xfrm>
            <a:off x="535940" y="941222"/>
            <a:ext cx="8074025" cy="4931410"/>
          </a:xfrm>
          <a:prstGeom prst="rect">
            <a:avLst/>
          </a:prstGeom>
        </p:spPr>
        <p:txBody>
          <a:bodyPr vert="horz" wrap="square" lIns="0" tIns="13335" rIns="0" bIns="0" rtlCol="0">
            <a:spAutoFit/>
          </a:bodyPr>
          <a:lstStyle/>
          <a:p>
            <a:pPr marL="269875" marR="5080" indent="-257810" algn="just">
              <a:lnSpc>
                <a:spcPct val="150100"/>
              </a:lnSpc>
              <a:spcBef>
                <a:spcPts val="105"/>
              </a:spcBef>
              <a:buClr>
                <a:srgbClr val="3333CC"/>
              </a:buClr>
              <a:buSzPct val="64444"/>
              <a:buFont typeface="Wingdings"/>
              <a:buChar char=""/>
              <a:tabLst>
                <a:tab pos="270510" algn="l"/>
              </a:tabLst>
            </a:pPr>
            <a:r>
              <a:rPr sz="2250" spc="-5" dirty="0">
                <a:solidFill>
                  <a:srgbClr val="333333"/>
                </a:solidFill>
                <a:latin typeface="Arial MT"/>
                <a:cs typeface="Arial MT"/>
              </a:rPr>
              <a:t>It</a:t>
            </a:r>
            <a:r>
              <a:rPr sz="2250" dirty="0">
                <a:solidFill>
                  <a:srgbClr val="333333"/>
                </a:solidFill>
                <a:latin typeface="Arial MT"/>
                <a:cs typeface="Arial MT"/>
              </a:rPr>
              <a:t> is</a:t>
            </a:r>
            <a:r>
              <a:rPr sz="2250" spc="625" dirty="0">
                <a:solidFill>
                  <a:srgbClr val="333333"/>
                </a:solidFill>
                <a:latin typeface="Arial MT"/>
                <a:cs typeface="Arial MT"/>
              </a:rPr>
              <a:t> </a:t>
            </a:r>
            <a:r>
              <a:rPr sz="2250" spc="-5" dirty="0">
                <a:solidFill>
                  <a:srgbClr val="333333"/>
                </a:solidFill>
                <a:latin typeface="Arial MT"/>
                <a:cs typeface="Arial MT"/>
              </a:rPr>
              <a:t>also</a:t>
            </a:r>
            <a:r>
              <a:rPr sz="2250" spc="615" dirty="0">
                <a:solidFill>
                  <a:srgbClr val="333333"/>
                </a:solidFill>
                <a:latin typeface="Arial MT"/>
                <a:cs typeface="Arial MT"/>
              </a:rPr>
              <a:t> </a:t>
            </a:r>
            <a:r>
              <a:rPr sz="2250" spc="-5" dirty="0">
                <a:solidFill>
                  <a:srgbClr val="333333"/>
                </a:solidFill>
                <a:latin typeface="Arial MT"/>
                <a:cs typeface="Arial MT"/>
              </a:rPr>
              <a:t>known</a:t>
            </a:r>
            <a:r>
              <a:rPr sz="2250" spc="615" dirty="0">
                <a:solidFill>
                  <a:srgbClr val="333333"/>
                </a:solidFill>
                <a:latin typeface="Arial MT"/>
                <a:cs typeface="Arial MT"/>
              </a:rPr>
              <a:t> </a:t>
            </a:r>
            <a:r>
              <a:rPr sz="2250" spc="5" dirty="0">
                <a:solidFill>
                  <a:srgbClr val="333333"/>
                </a:solidFill>
                <a:latin typeface="Arial MT"/>
                <a:cs typeface="Arial MT"/>
              </a:rPr>
              <a:t>as  </a:t>
            </a:r>
            <a:r>
              <a:rPr sz="2250" b="1" spc="-5" dirty="0">
                <a:solidFill>
                  <a:srgbClr val="333333"/>
                </a:solidFill>
                <a:latin typeface="Arial"/>
                <a:cs typeface="Arial"/>
              </a:rPr>
              <a:t>finalizers</a:t>
            </a:r>
            <a:r>
              <a:rPr sz="2250" b="1" spc="615" dirty="0">
                <a:solidFill>
                  <a:srgbClr val="333333"/>
                </a:solidFill>
                <a:latin typeface="Arial"/>
                <a:cs typeface="Arial"/>
              </a:rPr>
              <a:t> </a:t>
            </a:r>
            <a:r>
              <a:rPr sz="2250" spc="-5" dirty="0">
                <a:solidFill>
                  <a:srgbClr val="333333"/>
                </a:solidFill>
                <a:latin typeface="Arial MT"/>
                <a:cs typeface="Arial MT"/>
              </a:rPr>
              <a:t>that</a:t>
            </a:r>
            <a:r>
              <a:rPr sz="2250" spc="615" dirty="0">
                <a:solidFill>
                  <a:srgbClr val="333333"/>
                </a:solidFill>
                <a:latin typeface="Arial MT"/>
                <a:cs typeface="Arial MT"/>
              </a:rPr>
              <a:t> </a:t>
            </a:r>
            <a:r>
              <a:rPr sz="2250" dirty="0">
                <a:solidFill>
                  <a:srgbClr val="333333"/>
                </a:solidFill>
                <a:latin typeface="Arial MT"/>
                <a:cs typeface="Arial MT"/>
              </a:rPr>
              <a:t>are</a:t>
            </a:r>
            <a:r>
              <a:rPr sz="2250" spc="625" dirty="0">
                <a:solidFill>
                  <a:srgbClr val="333333"/>
                </a:solidFill>
                <a:latin typeface="Arial MT"/>
                <a:cs typeface="Arial MT"/>
              </a:rPr>
              <a:t> </a:t>
            </a:r>
            <a:r>
              <a:rPr sz="2250" spc="-5" dirty="0">
                <a:solidFill>
                  <a:srgbClr val="333333"/>
                </a:solidFill>
                <a:latin typeface="Arial MT"/>
                <a:cs typeface="Arial MT"/>
              </a:rPr>
              <a:t>non-deterministic. </a:t>
            </a:r>
            <a:r>
              <a:rPr sz="2250" dirty="0">
                <a:solidFill>
                  <a:srgbClr val="333333"/>
                </a:solidFill>
                <a:latin typeface="Arial MT"/>
                <a:cs typeface="Arial MT"/>
              </a:rPr>
              <a:t> In</a:t>
            </a:r>
            <a:r>
              <a:rPr sz="2250" dirty="0">
                <a:solidFill>
                  <a:srgbClr val="996600"/>
                </a:solidFill>
                <a:latin typeface="Arial MT"/>
                <a:cs typeface="Arial MT"/>
              </a:rPr>
              <a:t> </a:t>
            </a:r>
            <a:r>
              <a:rPr sz="2250" u="heavy" dirty="0">
                <a:solidFill>
                  <a:srgbClr val="996600"/>
                </a:solidFill>
                <a:uFill>
                  <a:solidFill>
                    <a:srgbClr val="996600"/>
                  </a:solidFill>
                </a:uFill>
                <a:latin typeface="Arial MT"/>
                <a:cs typeface="Arial MT"/>
                <a:hlinkClick r:id="rId2"/>
              </a:rPr>
              <a:t>Java</a:t>
            </a:r>
            <a:r>
              <a:rPr sz="2250" dirty="0">
                <a:solidFill>
                  <a:srgbClr val="333333"/>
                </a:solidFill>
                <a:latin typeface="Arial MT"/>
                <a:cs typeface="Arial MT"/>
              </a:rPr>
              <a:t>, </a:t>
            </a:r>
            <a:r>
              <a:rPr sz="2250" spc="-5" dirty="0">
                <a:solidFill>
                  <a:srgbClr val="333333"/>
                </a:solidFill>
                <a:latin typeface="Arial MT"/>
                <a:cs typeface="Arial MT"/>
              </a:rPr>
              <a:t>the </a:t>
            </a:r>
            <a:r>
              <a:rPr sz="2250" dirty="0">
                <a:solidFill>
                  <a:srgbClr val="333333"/>
                </a:solidFill>
                <a:latin typeface="Arial MT"/>
                <a:cs typeface="Arial MT"/>
              </a:rPr>
              <a:t>allocation </a:t>
            </a:r>
            <a:r>
              <a:rPr sz="2250" spc="-5" dirty="0">
                <a:solidFill>
                  <a:srgbClr val="333333"/>
                </a:solidFill>
                <a:latin typeface="Arial MT"/>
                <a:cs typeface="Arial MT"/>
              </a:rPr>
              <a:t>and deallocation </a:t>
            </a:r>
            <a:r>
              <a:rPr sz="2250" spc="5" dirty="0">
                <a:solidFill>
                  <a:srgbClr val="333333"/>
                </a:solidFill>
                <a:latin typeface="Arial MT"/>
                <a:cs typeface="Arial MT"/>
              </a:rPr>
              <a:t>of </a:t>
            </a:r>
            <a:r>
              <a:rPr sz="2250" spc="-5" dirty="0">
                <a:solidFill>
                  <a:srgbClr val="333333"/>
                </a:solidFill>
                <a:latin typeface="Arial MT"/>
                <a:cs typeface="Arial MT"/>
              </a:rPr>
              <a:t>objects handled </a:t>
            </a:r>
            <a:r>
              <a:rPr sz="2250" spc="-10" dirty="0">
                <a:solidFill>
                  <a:srgbClr val="333333"/>
                </a:solidFill>
                <a:latin typeface="Arial MT"/>
                <a:cs typeface="Arial MT"/>
              </a:rPr>
              <a:t>by </a:t>
            </a:r>
            <a:r>
              <a:rPr sz="2250" spc="-5" dirty="0">
                <a:solidFill>
                  <a:srgbClr val="333333"/>
                </a:solidFill>
                <a:latin typeface="Arial MT"/>
                <a:cs typeface="Arial MT"/>
              </a:rPr>
              <a:t> the</a:t>
            </a:r>
            <a:r>
              <a:rPr sz="2250" dirty="0">
                <a:solidFill>
                  <a:srgbClr val="333333"/>
                </a:solidFill>
                <a:latin typeface="Arial MT"/>
                <a:cs typeface="Arial MT"/>
              </a:rPr>
              <a:t> </a:t>
            </a:r>
            <a:r>
              <a:rPr sz="2250" b="1" spc="-5" dirty="0">
                <a:solidFill>
                  <a:srgbClr val="333333"/>
                </a:solidFill>
                <a:latin typeface="Arial"/>
                <a:cs typeface="Arial"/>
              </a:rPr>
              <a:t>garbage</a:t>
            </a:r>
            <a:r>
              <a:rPr sz="2250" b="1" dirty="0">
                <a:solidFill>
                  <a:srgbClr val="333333"/>
                </a:solidFill>
                <a:latin typeface="Arial"/>
                <a:cs typeface="Arial"/>
              </a:rPr>
              <a:t> </a:t>
            </a:r>
            <a:r>
              <a:rPr sz="2250" b="1" spc="-5" dirty="0">
                <a:solidFill>
                  <a:srgbClr val="333333"/>
                </a:solidFill>
                <a:latin typeface="Arial"/>
                <a:cs typeface="Arial"/>
              </a:rPr>
              <a:t>collector</a:t>
            </a:r>
            <a:r>
              <a:rPr sz="2250" spc="-5" dirty="0">
                <a:solidFill>
                  <a:srgbClr val="333333"/>
                </a:solidFill>
                <a:latin typeface="Arial MT"/>
                <a:cs typeface="Arial MT"/>
              </a:rPr>
              <a:t>.</a:t>
            </a:r>
            <a:r>
              <a:rPr sz="2250" dirty="0">
                <a:solidFill>
                  <a:srgbClr val="333333"/>
                </a:solidFill>
                <a:latin typeface="Arial MT"/>
                <a:cs typeface="Arial MT"/>
              </a:rPr>
              <a:t> </a:t>
            </a:r>
            <a:r>
              <a:rPr sz="2250" spc="-5" dirty="0">
                <a:solidFill>
                  <a:srgbClr val="333333"/>
                </a:solidFill>
                <a:latin typeface="Arial MT"/>
                <a:cs typeface="Arial MT"/>
              </a:rPr>
              <a:t>The</a:t>
            </a:r>
            <a:r>
              <a:rPr sz="2250" dirty="0">
                <a:solidFill>
                  <a:srgbClr val="333333"/>
                </a:solidFill>
                <a:latin typeface="Arial MT"/>
                <a:cs typeface="Arial MT"/>
              </a:rPr>
              <a:t> </a:t>
            </a:r>
            <a:r>
              <a:rPr sz="2250" spc="-5" dirty="0">
                <a:solidFill>
                  <a:srgbClr val="333333"/>
                </a:solidFill>
                <a:latin typeface="Arial MT"/>
                <a:cs typeface="Arial MT"/>
              </a:rPr>
              <a:t>invocation</a:t>
            </a:r>
            <a:r>
              <a:rPr sz="2250" dirty="0">
                <a:solidFill>
                  <a:srgbClr val="333333"/>
                </a:solidFill>
                <a:latin typeface="Arial MT"/>
                <a:cs typeface="Arial MT"/>
              </a:rPr>
              <a:t> </a:t>
            </a:r>
            <a:r>
              <a:rPr sz="2250" spc="5" dirty="0">
                <a:solidFill>
                  <a:srgbClr val="333333"/>
                </a:solidFill>
                <a:latin typeface="Arial MT"/>
                <a:cs typeface="Arial MT"/>
              </a:rPr>
              <a:t>of</a:t>
            </a:r>
            <a:r>
              <a:rPr sz="2250" spc="10" dirty="0">
                <a:solidFill>
                  <a:srgbClr val="333333"/>
                </a:solidFill>
                <a:latin typeface="Arial MT"/>
                <a:cs typeface="Arial MT"/>
              </a:rPr>
              <a:t> </a:t>
            </a:r>
            <a:r>
              <a:rPr sz="2250" spc="-5" dirty="0">
                <a:solidFill>
                  <a:srgbClr val="333333"/>
                </a:solidFill>
                <a:latin typeface="Arial MT"/>
                <a:cs typeface="Arial MT"/>
              </a:rPr>
              <a:t>finalizers</a:t>
            </a:r>
            <a:r>
              <a:rPr sz="2250" dirty="0">
                <a:solidFill>
                  <a:srgbClr val="333333"/>
                </a:solidFill>
                <a:latin typeface="Arial MT"/>
                <a:cs typeface="Arial MT"/>
              </a:rPr>
              <a:t> is</a:t>
            </a:r>
            <a:r>
              <a:rPr sz="2250" spc="5" dirty="0">
                <a:solidFill>
                  <a:srgbClr val="333333"/>
                </a:solidFill>
                <a:latin typeface="Arial MT"/>
                <a:cs typeface="Arial MT"/>
              </a:rPr>
              <a:t> </a:t>
            </a:r>
            <a:r>
              <a:rPr sz="2250" dirty="0">
                <a:solidFill>
                  <a:srgbClr val="333333"/>
                </a:solidFill>
                <a:latin typeface="Arial MT"/>
                <a:cs typeface="Arial MT"/>
              </a:rPr>
              <a:t>not </a:t>
            </a:r>
            <a:r>
              <a:rPr sz="2250" spc="-615" dirty="0">
                <a:solidFill>
                  <a:srgbClr val="333333"/>
                </a:solidFill>
                <a:latin typeface="Arial MT"/>
                <a:cs typeface="Arial MT"/>
              </a:rPr>
              <a:t> </a:t>
            </a:r>
            <a:r>
              <a:rPr sz="2250" dirty="0">
                <a:solidFill>
                  <a:srgbClr val="333333"/>
                </a:solidFill>
                <a:latin typeface="Arial MT"/>
                <a:cs typeface="Arial MT"/>
              </a:rPr>
              <a:t>guaranteed</a:t>
            </a:r>
            <a:r>
              <a:rPr sz="2250" spc="-50" dirty="0">
                <a:solidFill>
                  <a:srgbClr val="333333"/>
                </a:solidFill>
                <a:latin typeface="Arial MT"/>
                <a:cs typeface="Arial MT"/>
              </a:rPr>
              <a:t> </a:t>
            </a:r>
            <a:r>
              <a:rPr sz="2250" dirty="0">
                <a:solidFill>
                  <a:srgbClr val="333333"/>
                </a:solidFill>
                <a:latin typeface="Arial MT"/>
                <a:cs typeface="Arial MT"/>
              </a:rPr>
              <a:t>because</a:t>
            </a:r>
            <a:r>
              <a:rPr sz="2250" spc="-40" dirty="0">
                <a:solidFill>
                  <a:srgbClr val="333333"/>
                </a:solidFill>
                <a:latin typeface="Arial MT"/>
                <a:cs typeface="Arial MT"/>
              </a:rPr>
              <a:t> </a:t>
            </a:r>
            <a:r>
              <a:rPr sz="2250" dirty="0">
                <a:solidFill>
                  <a:srgbClr val="333333"/>
                </a:solidFill>
                <a:latin typeface="Arial MT"/>
                <a:cs typeface="Arial MT"/>
              </a:rPr>
              <a:t>it</a:t>
            </a:r>
            <a:r>
              <a:rPr sz="2250" spc="-5" dirty="0">
                <a:solidFill>
                  <a:srgbClr val="333333"/>
                </a:solidFill>
                <a:latin typeface="Arial MT"/>
                <a:cs typeface="Arial MT"/>
              </a:rPr>
              <a:t> </a:t>
            </a:r>
            <a:r>
              <a:rPr sz="2250" dirty="0">
                <a:solidFill>
                  <a:srgbClr val="333333"/>
                </a:solidFill>
                <a:latin typeface="Arial MT"/>
                <a:cs typeface="Arial MT"/>
              </a:rPr>
              <a:t>invokes</a:t>
            </a:r>
            <a:r>
              <a:rPr sz="2250" spc="-25" dirty="0">
                <a:solidFill>
                  <a:srgbClr val="333333"/>
                </a:solidFill>
                <a:latin typeface="Arial MT"/>
                <a:cs typeface="Arial MT"/>
              </a:rPr>
              <a:t> </a:t>
            </a:r>
            <a:r>
              <a:rPr sz="2250" dirty="0">
                <a:solidFill>
                  <a:srgbClr val="333333"/>
                </a:solidFill>
                <a:latin typeface="Arial MT"/>
                <a:cs typeface="Arial MT"/>
              </a:rPr>
              <a:t>implicitly.</a:t>
            </a:r>
            <a:endParaRPr sz="2250">
              <a:latin typeface="Arial MT"/>
              <a:cs typeface="Arial MT"/>
            </a:endParaRPr>
          </a:p>
          <a:p>
            <a:pPr marL="12700" algn="just">
              <a:lnSpc>
                <a:spcPct val="100000"/>
              </a:lnSpc>
              <a:spcBef>
                <a:spcPts val="1885"/>
              </a:spcBef>
            </a:pPr>
            <a:r>
              <a:rPr sz="2250" dirty="0">
                <a:solidFill>
                  <a:srgbClr val="600A38"/>
                </a:solidFill>
                <a:latin typeface="Arial MT"/>
                <a:cs typeface="Arial MT"/>
              </a:rPr>
              <a:t>Advantages</a:t>
            </a:r>
            <a:r>
              <a:rPr sz="2250" spc="-60" dirty="0">
                <a:solidFill>
                  <a:srgbClr val="600A38"/>
                </a:solidFill>
                <a:latin typeface="Arial MT"/>
                <a:cs typeface="Arial MT"/>
              </a:rPr>
              <a:t> </a:t>
            </a:r>
            <a:r>
              <a:rPr sz="2250" spc="5" dirty="0">
                <a:solidFill>
                  <a:srgbClr val="600A38"/>
                </a:solidFill>
                <a:latin typeface="Arial MT"/>
                <a:cs typeface="Arial MT"/>
              </a:rPr>
              <a:t>of</a:t>
            </a:r>
            <a:r>
              <a:rPr sz="2250" spc="-35" dirty="0">
                <a:solidFill>
                  <a:srgbClr val="600A38"/>
                </a:solidFill>
                <a:latin typeface="Arial MT"/>
                <a:cs typeface="Arial MT"/>
              </a:rPr>
              <a:t> </a:t>
            </a:r>
            <a:r>
              <a:rPr sz="2250" dirty="0">
                <a:solidFill>
                  <a:srgbClr val="600A38"/>
                </a:solidFill>
                <a:latin typeface="Arial MT"/>
                <a:cs typeface="Arial MT"/>
              </a:rPr>
              <a:t>Destructor</a:t>
            </a:r>
            <a:endParaRPr sz="2250">
              <a:latin typeface="Arial MT"/>
              <a:cs typeface="Arial MT"/>
            </a:endParaRPr>
          </a:p>
          <a:p>
            <a:pPr marL="269875" indent="-257810">
              <a:lnSpc>
                <a:spcPct val="100000"/>
              </a:lnSpc>
              <a:spcBef>
                <a:spcPts val="1895"/>
              </a:spcBef>
              <a:buClr>
                <a:srgbClr val="3333CC"/>
              </a:buClr>
              <a:buSzPct val="64444"/>
              <a:buChar char="•"/>
              <a:tabLst>
                <a:tab pos="269875" algn="l"/>
                <a:tab pos="270510" algn="l"/>
              </a:tabLst>
            </a:pPr>
            <a:r>
              <a:rPr sz="2250" spc="-5" dirty="0">
                <a:latin typeface="Arial MT"/>
                <a:cs typeface="Arial MT"/>
              </a:rPr>
              <a:t>It</a:t>
            </a:r>
            <a:r>
              <a:rPr sz="2250" dirty="0">
                <a:latin typeface="Arial MT"/>
                <a:cs typeface="Arial MT"/>
              </a:rPr>
              <a:t> releases</a:t>
            </a:r>
            <a:r>
              <a:rPr sz="2250" spc="-30" dirty="0">
                <a:latin typeface="Arial MT"/>
                <a:cs typeface="Arial MT"/>
              </a:rPr>
              <a:t> </a:t>
            </a:r>
            <a:r>
              <a:rPr sz="2250" dirty="0">
                <a:latin typeface="Arial MT"/>
                <a:cs typeface="Arial MT"/>
              </a:rPr>
              <a:t>the</a:t>
            </a:r>
            <a:r>
              <a:rPr sz="2250" spc="-15" dirty="0">
                <a:latin typeface="Arial MT"/>
                <a:cs typeface="Arial MT"/>
              </a:rPr>
              <a:t> </a:t>
            </a:r>
            <a:r>
              <a:rPr sz="2250" dirty="0">
                <a:latin typeface="Arial MT"/>
                <a:cs typeface="Arial MT"/>
              </a:rPr>
              <a:t>resources</a:t>
            </a:r>
            <a:r>
              <a:rPr sz="2250" spc="-40" dirty="0">
                <a:latin typeface="Arial MT"/>
                <a:cs typeface="Arial MT"/>
              </a:rPr>
              <a:t> </a:t>
            </a:r>
            <a:r>
              <a:rPr sz="2250" dirty="0">
                <a:latin typeface="Arial MT"/>
                <a:cs typeface="Arial MT"/>
              </a:rPr>
              <a:t>occupied</a:t>
            </a:r>
            <a:r>
              <a:rPr sz="2250" spc="-40" dirty="0">
                <a:latin typeface="Arial MT"/>
                <a:cs typeface="Arial MT"/>
              </a:rPr>
              <a:t> </a:t>
            </a:r>
            <a:r>
              <a:rPr sz="2250" spc="5" dirty="0">
                <a:latin typeface="Arial MT"/>
                <a:cs typeface="Arial MT"/>
              </a:rPr>
              <a:t>by</a:t>
            </a:r>
            <a:r>
              <a:rPr sz="2250" spc="-10" dirty="0">
                <a:latin typeface="Arial MT"/>
                <a:cs typeface="Arial MT"/>
              </a:rPr>
              <a:t> </a:t>
            </a:r>
            <a:r>
              <a:rPr sz="2250" dirty="0">
                <a:latin typeface="Arial MT"/>
                <a:cs typeface="Arial MT"/>
              </a:rPr>
              <a:t>the</a:t>
            </a:r>
            <a:r>
              <a:rPr sz="2250" spc="5" dirty="0">
                <a:latin typeface="Arial MT"/>
                <a:cs typeface="Arial MT"/>
              </a:rPr>
              <a:t> </a:t>
            </a:r>
            <a:r>
              <a:rPr sz="2250" dirty="0">
                <a:latin typeface="Arial MT"/>
                <a:cs typeface="Arial MT"/>
              </a:rPr>
              <a:t>object.</a:t>
            </a:r>
            <a:endParaRPr sz="2250">
              <a:latin typeface="Arial MT"/>
              <a:cs typeface="Arial MT"/>
            </a:endParaRPr>
          </a:p>
          <a:p>
            <a:pPr marL="269875" indent="-257810">
              <a:lnSpc>
                <a:spcPct val="100000"/>
              </a:lnSpc>
              <a:spcBef>
                <a:spcPts val="1885"/>
              </a:spcBef>
              <a:buClr>
                <a:srgbClr val="3333CC"/>
              </a:buClr>
              <a:buSzPct val="64444"/>
              <a:buChar char="•"/>
              <a:tabLst>
                <a:tab pos="269875" algn="l"/>
                <a:tab pos="270510" algn="l"/>
              </a:tabLst>
            </a:pPr>
            <a:r>
              <a:rPr sz="2250" spc="5" dirty="0">
                <a:latin typeface="Arial MT"/>
                <a:cs typeface="Arial MT"/>
              </a:rPr>
              <a:t>No</a:t>
            </a:r>
            <a:r>
              <a:rPr sz="2250" spc="265" dirty="0">
                <a:latin typeface="Arial MT"/>
                <a:cs typeface="Arial MT"/>
              </a:rPr>
              <a:t> </a:t>
            </a:r>
            <a:r>
              <a:rPr sz="2250" dirty="0">
                <a:latin typeface="Arial MT"/>
                <a:cs typeface="Arial MT"/>
              </a:rPr>
              <a:t>explicit</a:t>
            </a:r>
            <a:r>
              <a:rPr sz="2250" spc="270" dirty="0">
                <a:latin typeface="Arial MT"/>
                <a:cs typeface="Arial MT"/>
              </a:rPr>
              <a:t> </a:t>
            </a:r>
            <a:r>
              <a:rPr sz="2250" dirty="0">
                <a:latin typeface="Arial MT"/>
                <a:cs typeface="Arial MT"/>
              </a:rPr>
              <a:t>call</a:t>
            </a:r>
            <a:r>
              <a:rPr sz="2250" spc="280" dirty="0">
                <a:latin typeface="Arial MT"/>
                <a:cs typeface="Arial MT"/>
              </a:rPr>
              <a:t> </a:t>
            </a:r>
            <a:r>
              <a:rPr sz="2250" spc="-5" dirty="0">
                <a:latin typeface="Arial MT"/>
                <a:cs typeface="Arial MT"/>
              </a:rPr>
              <a:t>is</a:t>
            </a:r>
            <a:r>
              <a:rPr sz="2250" spc="275" dirty="0">
                <a:latin typeface="Arial MT"/>
                <a:cs typeface="Arial MT"/>
              </a:rPr>
              <a:t> </a:t>
            </a:r>
            <a:r>
              <a:rPr sz="2250" dirty="0">
                <a:latin typeface="Arial MT"/>
                <a:cs typeface="Arial MT"/>
              </a:rPr>
              <a:t>required,</a:t>
            </a:r>
            <a:r>
              <a:rPr sz="2250" spc="280" dirty="0">
                <a:latin typeface="Arial MT"/>
                <a:cs typeface="Arial MT"/>
              </a:rPr>
              <a:t> </a:t>
            </a:r>
            <a:r>
              <a:rPr sz="2250" dirty="0">
                <a:latin typeface="Arial MT"/>
                <a:cs typeface="Arial MT"/>
              </a:rPr>
              <a:t>it</a:t>
            </a:r>
            <a:r>
              <a:rPr sz="2250" spc="280" dirty="0">
                <a:latin typeface="Arial MT"/>
                <a:cs typeface="Arial MT"/>
              </a:rPr>
              <a:t> </a:t>
            </a:r>
            <a:r>
              <a:rPr sz="2250" spc="-5" dirty="0">
                <a:latin typeface="Arial MT"/>
                <a:cs typeface="Arial MT"/>
              </a:rPr>
              <a:t>is</a:t>
            </a:r>
            <a:r>
              <a:rPr sz="2250" spc="270" dirty="0">
                <a:latin typeface="Arial MT"/>
                <a:cs typeface="Arial MT"/>
              </a:rPr>
              <a:t> </a:t>
            </a:r>
            <a:r>
              <a:rPr sz="2250" spc="-5" dirty="0">
                <a:latin typeface="Arial MT"/>
                <a:cs typeface="Arial MT"/>
              </a:rPr>
              <a:t>automatically</a:t>
            </a:r>
            <a:r>
              <a:rPr sz="2250" spc="290" dirty="0">
                <a:latin typeface="Arial MT"/>
                <a:cs typeface="Arial MT"/>
              </a:rPr>
              <a:t> </a:t>
            </a:r>
            <a:r>
              <a:rPr sz="2250" spc="-5" dirty="0">
                <a:latin typeface="Arial MT"/>
                <a:cs typeface="Arial MT"/>
              </a:rPr>
              <a:t>invoked</a:t>
            </a:r>
            <a:r>
              <a:rPr sz="2250" spc="280" dirty="0">
                <a:latin typeface="Arial MT"/>
                <a:cs typeface="Arial MT"/>
              </a:rPr>
              <a:t> </a:t>
            </a:r>
            <a:r>
              <a:rPr sz="2250" dirty="0">
                <a:latin typeface="Arial MT"/>
                <a:cs typeface="Arial MT"/>
              </a:rPr>
              <a:t>at</a:t>
            </a:r>
            <a:r>
              <a:rPr sz="2250" spc="275" dirty="0">
                <a:latin typeface="Arial MT"/>
                <a:cs typeface="Arial MT"/>
              </a:rPr>
              <a:t> </a:t>
            </a:r>
            <a:r>
              <a:rPr sz="2250" spc="-10" dirty="0">
                <a:latin typeface="Arial MT"/>
                <a:cs typeface="Arial MT"/>
              </a:rPr>
              <a:t>the</a:t>
            </a:r>
            <a:endParaRPr sz="2250">
              <a:latin typeface="Arial MT"/>
              <a:cs typeface="Arial MT"/>
            </a:endParaRPr>
          </a:p>
          <a:p>
            <a:pPr marL="269875">
              <a:lnSpc>
                <a:spcPct val="100000"/>
              </a:lnSpc>
              <a:spcBef>
                <a:spcPts val="1360"/>
              </a:spcBef>
            </a:pPr>
            <a:r>
              <a:rPr sz="2250" spc="5" dirty="0">
                <a:latin typeface="Arial MT"/>
                <a:cs typeface="Arial MT"/>
              </a:rPr>
              <a:t>end</a:t>
            </a:r>
            <a:r>
              <a:rPr sz="2250" spc="-25" dirty="0">
                <a:latin typeface="Arial MT"/>
                <a:cs typeface="Arial MT"/>
              </a:rPr>
              <a:t> </a:t>
            </a:r>
            <a:r>
              <a:rPr sz="2250" spc="5" dirty="0">
                <a:latin typeface="Arial MT"/>
                <a:cs typeface="Arial MT"/>
              </a:rPr>
              <a:t>of</a:t>
            </a:r>
            <a:r>
              <a:rPr sz="2250" spc="-25" dirty="0">
                <a:latin typeface="Arial MT"/>
                <a:cs typeface="Arial MT"/>
              </a:rPr>
              <a:t> </a:t>
            </a:r>
            <a:r>
              <a:rPr sz="2250" dirty="0">
                <a:latin typeface="Arial MT"/>
                <a:cs typeface="Arial MT"/>
              </a:rPr>
              <a:t>the</a:t>
            </a:r>
            <a:r>
              <a:rPr sz="2250" spc="-25" dirty="0">
                <a:latin typeface="Arial MT"/>
                <a:cs typeface="Arial MT"/>
              </a:rPr>
              <a:t> </a:t>
            </a:r>
            <a:r>
              <a:rPr sz="2250" dirty="0">
                <a:latin typeface="Arial MT"/>
                <a:cs typeface="Arial MT"/>
              </a:rPr>
              <a:t>program</a:t>
            </a:r>
            <a:r>
              <a:rPr sz="2250" spc="-45" dirty="0">
                <a:latin typeface="Arial MT"/>
                <a:cs typeface="Arial MT"/>
              </a:rPr>
              <a:t> </a:t>
            </a:r>
            <a:r>
              <a:rPr sz="2250" dirty="0">
                <a:latin typeface="Arial MT"/>
                <a:cs typeface="Arial MT"/>
              </a:rPr>
              <a:t>execution.</a:t>
            </a:r>
            <a:endParaRPr sz="2250">
              <a:latin typeface="Arial MT"/>
              <a:cs typeface="Arial MT"/>
            </a:endParaRPr>
          </a:p>
          <a:p>
            <a:pPr marL="269875" indent="-257810">
              <a:lnSpc>
                <a:spcPct val="100000"/>
              </a:lnSpc>
              <a:spcBef>
                <a:spcPts val="1880"/>
              </a:spcBef>
              <a:buClr>
                <a:srgbClr val="3333CC"/>
              </a:buClr>
              <a:buSzPct val="64444"/>
              <a:buChar char="•"/>
              <a:tabLst>
                <a:tab pos="269875" algn="l"/>
                <a:tab pos="270510" algn="l"/>
              </a:tabLst>
            </a:pPr>
            <a:r>
              <a:rPr sz="2250" spc="-5" dirty="0">
                <a:latin typeface="Arial MT"/>
                <a:cs typeface="Arial MT"/>
              </a:rPr>
              <a:t>It </a:t>
            </a:r>
            <a:r>
              <a:rPr sz="2250" spc="5" dirty="0">
                <a:latin typeface="Arial MT"/>
                <a:cs typeface="Arial MT"/>
              </a:rPr>
              <a:t>does</a:t>
            </a:r>
            <a:r>
              <a:rPr sz="2250" spc="-25" dirty="0">
                <a:latin typeface="Arial MT"/>
                <a:cs typeface="Arial MT"/>
              </a:rPr>
              <a:t> </a:t>
            </a:r>
            <a:r>
              <a:rPr sz="2250" spc="5" dirty="0">
                <a:latin typeface="Arial MT"/>
                <a:cs typeface="Arial MT"/>
              </a:rPr>
              <a:t>not</a:t>
            </a:r>
            <a:r>
              <a:rPr sz="2250" spc="-25" dirty="0">
                <a:latin typeface="Arial MT"/>
                <a:cs typeface="Arial MT"/>
              </a:rPr>
              <a:t> </a:t>
            </a:r>
            <a:r>
              <a:rPr sz="2250" dirty="0">
                <a:latin typeface="Arial MT"/>
                <a:cs typeface="Arial MT"/>
              </a:rPr>
              <a:t>accept</a:t>
            </a:r>
            <a:r>
              <a:rPr sz="2250" spc="-30" dirty="0">
                <a:latin typeface="Arial MT"/>
                <a:cs typeface="Arial MT"/>
              </a:rPr>
              <a:t> </a:t>
            </a:r>
            <a:r>
              <a:rPr sz="2250" spc="5" dirty="0">
                <a:latin typeface="Arial MT"/>
                <a:cs typeface="Arial MT"/>
              </a:rPr>
              <a:t>any</a:t>
            </a:r>
            <a:r>
              <a:rPr sz="2250" spc="-30" dirty="0">
                <a:latin typeface="Arial MT"/>
                <a:cs typeface="Arial MT"/>
              </a:rPr>
              <a:t> </a:t>
            </a:r>
            <a:r>
              <a:rPr sz="2250" dirty="0">
                <a:latin typeface="Arial MT"/>
                <a:cs typeface="Arial MT"/>
              </a:rPr>
              <a:t>parameter</a:t>
            </a:r>
            <a:r>
              <a:rPr sz="2250" spc="-25" dirty="0">
                <a:latin typeface="Arial MT"/>
                <a:cs typeface="Arial MT"/>
              </a:rPr>
              <a:t> </a:t>
            </a:r>
            <a:r>
              <a:rPr sz="2250" spc="5" dirty="0">
                <a:latin typeface="Arial MT"/>
                <a:cs typeface="Arial MT"/>
              </a:rPr>
              <a:t>and</a:t>
            </a:r>
            <a:r>
              <a:rPr sz="2250" spc="-30" dirty="0">
                <a:latin typeface="Arial MT"/>
                <a:cs typeface="Arial MT"/>
              </a:rPr>
              <a:t> </a:t>
            </a:r>
            <a:r>
              <a:rPr sz="2250" dirty="0">
                <a:latin typeface="Arial MT"/>
                <a:cs typeface="Arial MT"/>
              </a:rPr>
              <a:t>cannot</a:t>
            </a:r>
            <a:r>
              <a:rPr sz="2250" spc="-40" dirty="0">
                <a:latin typeface="Arial MT"/>
                <a:cs typeface="Arial MT"/>
              </a:rPr>
              <a:t> </a:t>
            </a:r>
            <a:r>
              <a:rPr sz="2250" spc="5" dirty="0">
                <a:latin typeface="Arial MT"/>
                <a:cs typeface="Arial MT"/>
              </a:rPr>
              <a:t>be</a:t>
            </a:r>
            <a:r>
              <a:rPr sz="2250" spc="-15" dirty="0">
                <a:latin typeface="Arial MT"/>
                <a:cs typeface="Arial MT"/>
              </a:rPr>
              <a:t> </a:t>
            </a:r>
            <a:r>
              <a:rPr sz="2250" dirty="0">
                <a:latin typeface="Arial MT"/>
                <a:cs typeface="Arial MT"/>
              </a:rPr>
              <a:t>overloaded.</a:t>
            </a:r>
            <a:endParaRPr sz="2250">
              <a:latin typeface="Arial M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3568065" cy="461009"/>
          </a:xfrm>
          <a:prstGeom prst="rect">
            <a:avLst/>
          </a:prstGeom>
        </p:spPr>
        <p:txBody>
          <a:bodyPr vert="horz" wrap="square" lIns="0" tIns="13335" rIns="0" bIns="0" rtlCol="0">
            <a:spAutoFit/>
          </a:bodyPr>
          <a:lstStyle/>
          <a:p>
            <a:pPr marL="12700">
              <a:lnSpc>
                <a:spcPct val="100000"/>
              </a:lnSpc>
              <a:spcBef>
                <a:spcPts val="105"/>
              </a:spcBef>
            </a:pPr>
            <a:r>
              <a:rPr b="0" dirty="0">
                <a:solidFill>
                  <a:srgbClr val="600A38"/>
                </a:solidFill>
                <a:latin typeface="Arial MT"/>
                <a:cs typeface="Arial MT"/>
              </a:rPr>
              <a:t>Java</a:t>
            </a:r>
            <a:r>
              <a:rPr b="0" spc="-40" dirty="0">
                <a:solidFill>
                  <a:srgbClr val="600A38"/>
                </a:solidFill>
                <a:latin typeface="Arial MT"/>
                <a:cs typeface="Arial MT"/>
              </a:rPr>
              <a:t> </a:t>
            </a:r>
            <a:r>
              <a:rPr b="0" dirty="0">
                <a:solidFill>
                  <a:srgbClr val="600A38"/>
                </a:solidFill>
                <a:latin typeface="Arial MT"/>
                <a:cs typeface="Arial MT"/>
              </a:rPr>
              <a:t>finalize()</a:t>
            </a:r>
            <a:r>
              <a:rPr b="0" spc="-30" dirty="0">
                <a:solidFill>
                  <a:srgbClr val="600A38"/>
                </a:solidFill>
                <a:latin typeface="Arial MT"/>
                <a:cs typeface="Arial MT"/>
              </a:rPr>
              <a:t> </a:t>
            </a:r>
            <a:r>
              <a:rPr b="0" spc="-5" dirty="0">
                <a:solidFill>
                  <a:srgbClr val="600A38"/>
                </a:solidFill>
                <a:latin typeface="Arial MT"/>
                <a:cs typeface="Arial MT"/>
              </a:rPr>
              <a:t>Method</a:t>
            </a:r>
          </a:p>
        </p:txBody>
      </p:sp>
      <p:sp>
        <p:nvSpPr>
          <p:cNvPr id="3" name="object 3"/>
          <p:cNvSpPr txBox="1"/>
          <p:nvPr/>
        </p:nvSpPr>
        <p:spPr>
          <a:xfrm>
            <a:off x="535940" y="1561846"/>
            <a:ext cx="8074659" cy="4251325"/>
          </a:xfrm>
          <a:prstGeom prst="rect">
            <a:avLst/>
          </a:prstGeom>
        </p:spPr>
        <p:txBody>
          <a:bodyPr vert="horz" wrap="square" lIns="0" tIns="12700" rIns="0" bIns="0" rtlCol="0">
            <a:spAutoFit/>
          </a:bodyPr>
          <a:lstStyle/>
          <a:p>
            <a:pPr marL="269875" indent="-257810" algn="just">
              <a:lnSpc>
                <a:spcPct val="100000"/>
              </a:lnSpc>
              <a:spcBef>
                <a:spcPts val="100"/>
              </a:spcBef>
              <a:buClr>
                <a:srgbClr val="3333CC"/>
              </a:buClr>
              <a:buSzPct val="64285"/>
              <a:buFont typeface="Wingdings"/>
              <a:buChar char=""/>
              <a:tabLst>
                <a:tab pos="270510" algn="l"/>
              </a:tabLst>
            </a:pPr>
            <a:r>
              <a:rPr sz="2100" b="1" spc="-10" dirty="0">
                <a:solidFill>
                  <a:srgbClr val="333333"/>
                </a:solidFill>
                <a:latin typeface="Arial"/>
                <a:cs typeface="Arial"/>
              </a:rPr>
              <a:t>Syntax:</a:t>
            </a:r>
            <a:endParaRPr sz="2100">
              <a:latin typeface="Arial"/>
              <a:cs typeface="Arial"/>
            </a:endParaRPr>
          </a:p>
          <a:p>
            <a:pPr marL="12700">
              <a:lnSpc>
                <a:spcPct val="100000"/>
              </a:lnSpc>
            </a:pPr>
            <a:r>
              <a:rPr sz="2100" b="1" spc="-5" dirty="0">
                <a:solidFill>
                  <a:srgbClr val="006699"/>
                </a:solidFill>
                <a:latin typeface="Arial"/>
                <a:cs typeface="Arial"/>
              </a:rPr>
              <a:t>protected</a:t>
            </a:r>
            <a:r>
              <a:rPr sz="2100" b="1" spc="5" dirty="0">
                <a:solidFill>
                  <a:srgbClr val="006699"/>
                </a:solidFill>
                <a:latin typeface="Arial"/>
                <a:cs typeface="Arial"/>
              </a:rPr>
              <a:t> </a:t>
            </a:r>
            <a:r>
              <a:rPr sz="2100" b="1" dirty="0">
                <a:solidFill>
                  <a:srgbClr val="006699"/>
                </a:solidFill>
                <a:latin typeface="Arial"/>
                <a:cs typeface="Arial"/>
              </a:rPr>
              <a:t>void</a:t>
            </a:r>
            <a:r>
              <a:rPr sz="2100" b="1" spc="-5" dirty="0">
                <a:solidFill>
                  <a:srgbClr val="006699"/>
                </a:solidFill>
                <a:latin typeface="Arial"/>
                <a:cs typeface="Arial"/>
              </a:rPr>
              <a:t> </a:t>
            </a:r>
            <a:r>
              <a:rPr sz="2100" dirty="0">
                <a:latin typeface="Arial MT"/>
                <a:cs typeface="Arial MT"/>
              </a:rPr>
              <a:t>finalize</a:t>
            </a:r>
            <a:r>
              <a:rPr sz="2100" spc="-30" dirty="0">
                <a:latin typeface="Arial MT"/>
                <a:cs typeface="Arial MT"/>
              </a:rPr>
              <a:t> </a:t>
            </a:r>
            <a:r>
              <a:rPr sz="2100" b="1" spc="5" dirty="0">
                <a:solidFill>
                  <a:srgbClr val="006699"/>
                </a:solidFill>
                <a:latin typeface="Arial"/>
                <a:cs typeface="Arial"/>
              </a:rPr>
              <a:t>throws</a:t>
            </a:r>
            <a:r>
              <a:rPr sz="2100" b="1" spc="-45" dirty="0">
                <a:solidFill>
                  <a:srgbClr val="006699"/>
                </a:solidFill>
                <a:latin typeface="Arial"/>
                <a:cs typeface="Arial"/>
              </a:rPr>
              <a:t> </a:t>
            </a:r>
            <a:r>
              <a:rPr sz="2100" spc="-5" dirty="0">
                <a:latin typeface="Arial MT"/>
                <a:cs typeface="Arial MT"/>
              </a:rPr>
              <a:t>Throwable()</a:t>
            </a:r>
            <a:endParaRPr sz="2100">
              <a:latin typeface="Arial MT"/>
              <a:cs typeface="Arial MT"/>
            </a:endParaRPr>
          </a:p>
          <a:p>
            <a:pPr marL="12700">
              <a:lnSpc>
                <a:spcPct val="100000"/>
              </a:lnSpc>
            </a:pPr>
            <a:r>
              <a:rPr sz="2100" dirty="0">
                <a:latin typeface="Arial MT"/>
                <a:cs typeface="Arial MT"/>
              </a:rPr>
              <a:t>{</a:t>
            </a:r>
            <a:endParaRPr sz="2100">
              <a:latin typeface="Arial MT"/>
              <a:cs typeface="Arial MT"/>
            </a:endParaRPr>
          </a:p>
          <a:p>
            <a:pPr marL="12700">
              <a:lnSpc>
                <a:spcPct val="100000"/>
              </a:lnSpc>
            </a:pPr>
            <a:r>
              <a:rPr sz="2100" spc="-5" dirty="0">
                <a:solidFill>
                  <a:srgbClr val="008200"/>
                </a:solidFill>
                <a:latin typeface="Arial MT"/>
                <a:cs typeface="Arial MT"/>
              </a:rPr>
              <a:t>//resources</a:t>
            </a:r>
            <a:r>
              <a:rPr sz="2100" spc="-15" dirty="0">
                <a:solidFill>
                  <a:srgbClr val="008200"/>
                </a:solidFill>
                <a:latin typeface="Arial MT"/>
                <a:cs typeface="Arial MT"/>
              </a:rPr>
              <a:t> </a:t>
            </a:r>
            <a:r>
              <a:rPr sz="2100" dirty="0">
                <a:solidFill>
                  <a:srgbClr val="008200"/>
                </a:solidFill>
                <a:latin typeface="Arial MT"/>
                <a:cs typeface="Arial MT"/>
              </a:rPr>
              <a:t>to</a:t>
            </a:r>
            <a:r>
              <a:rPr sz="2100" spc="-25" dirty="0">
                <a:solidFill>
                  <a:srgbClr val="008200"/>
                </a:solidFill>
                <a:latin typeface="Arial MT"/>
                <a:cs typeface="Arial MT"/>
              </a:rPr>
              <a:t> </a:t>
            </a:r>
            <a:r>
              <a:rPr sz="2100" spc="-5" dirty="0">
                <a:solidFill>
                  <a:srgbClr val="008200"/>
                </a:solidFill>
                <a:latin typeface="Arial MT"/>
                <a:cs typeface="Arial MT"/>
              </a:rPr>
              <a:t>be</a:t>
            </a:r>
            <a:r>
              <a:rPr sz="2100" spc="-10" dirty="0">
                <a:solidFill>
                  <a:srgbClr val="008200"/>
                </a:solidFill>
                <a:latin typeface="Arial MT"/>
                <a:cs typeface="Arial MT"/>
              </a:rPr>
              <a:t> </a:t>
            </a:r>
            <a:r>
              <a:rPr sz="2100" dirty="0">
                <a:solidFill>
                  <a:srgbClr val="008200"/>
                </a:solidFill>
                <a:latin typeface="Arial MT"/>
                <a:cs typeface="Arial MT"/>
              </a:rPr>
              <a:t>close</a:t>
            </a:r>
            <a:endParaRPr sz="2100">
              <a:latin typeface="Arial MT"/>
              <a:cs typeface="Arial MT"/>
            </a:endParaRPr>
          </a:p>
          <a:p>
            <a:pPr marL="12700">
              <a:lnSpc>
                <a:spcPct val="100000"/>
              </a:lnSpc>
            </a:pPr>
            <a:r>
              <a:rPr sz="2100" dirty="0">
                <a:latin typeface="Arial MT"/>
                <a:cs typeface="Arial MT"/>
              </a:rPr>
              <a:t>}</a:t>
            </a:r>
            <a:endParaRPr sz="2100">
              <a:latin typeface="Arial MT"/>
              <a:cs typeface="Arial MT"/>
            </a:endParaRPr>
          </a:p>
          <a:p>
            <a:pPr marL="269875" indent="-257810" algn="just">
              <a:lnSpc>
                <a:spcPct val="100000"/>
              </a:lnSpc>
              <a:buClr>
                <a:srgbClr val="3333CC"/>
              </a:buClr>
              <a:buSzPct val="64285"/>
              <a:buFont typeface="Wingdings"/>
              <a:buChar char=""/>
              <a:tabLst>
                <a:tab pos="270510" algn="l"/>
              </a:tabLst>
            </a:pPr>
            <a:r>
              <a:rPr sz="2100" b="1" spc="-5" dirty="0">
                <a:solidFill>
                  <a:srgbClr val="333333"/>
                </a:solidFill>
                <a:latin typeface="Arial"/>
                <a:cs typeface="Arial"/>
              </a:rPr>
              <a:t>System.runFinalizersOnExit(true)</a:t>
            </a:r>
            <a:r>
              <a:rPr sz="2100" spc="-5" dirty="0">
                <a:solidFill>
                  <a:srgbClr val="333333"/>
                </a:solidFill>
                <a:latin typeface="Arial MT"/>
                <a:cs typeface="Arial MT"/>
              </a:rPr>
              <a:t>.</a:t>
            </a:r>
            <a:endParaRPr sz="2100">
              <a:latin typeface="Arial MT"/>
              <a:cs typeface="Arial MT"/>
            </a:endParaRPr>
          </a:p>
          <a:p>
            <a:pPr marL="269875" marR="6350" indent="-257810" algn="just">
              <a:lnSpc>
                <a:spcPts val="2020"/>
              </a:lnSpc>
              <a:spcBef>
                <a:spcPts val="484"/>
              </a:spcBef>
              <a:buClr>
                <a:srgbClr val="3333CC"/>
              </a:buClr>
              <a:buSzPct val="64285"/>
              <a:buChar char="•"/>
              <a:tabLst>
                <a:tab pos="270510" algn="l"/>
              </a:tabLst>
            </a:pPr>
            <a:r>
              <a:rPr sz="2100" dirty="0">
                <a:latin typeface="Arial MT"/>
                <a:cs typeface="Arial MT"/>
              </a:rPr>
              <a:t>It </a:t>
            </a:r>
            <a:r>
              <a:rPr sz="2100" spc="-5" dirty="0">
                <a:latin typeface="Arial MT"/>
                <a:cs typeface="Arial MT"/>
              </a:rPr>
              <a:t>is a protected method of the Object class </a:t>
            </a:r>
            <a:r>
              <a:rPr sz="2100" dirty="0">
                <a:latin typeface="Arial MT"/>
                <a:cs typeface="Arial MT"/>
              </a:rPr>
              <a:t>that </a:t>
            </a:r>
            <a:r>
              <a:rPr sz="2100" spc="-5" dirty="0">
                <a:latin typeface="Arial MT"/>
                <a:cs typeface="Arial MT"/>
              </a:rPr>
              <a:t>is defined </a:t>
            </a:r>
            <a:r>
              <a:rPr sz="2100" spc="-10" dirty="0">
                <a:latin typeface="Arial MT"/>
                <a:cs typeface="Arial MT"/>
              </a:rPr>
              <a:t>in </a:t>
            </a:r>
            <a:r>
              <a:rPr sz="2100" spc="-5" dirty="0">
                <a:latin typeface="Arial MT"/>
                <a:cs typeface="Arial MT"/>
              </a:rPr>
              <a:t>the </a:t>
            </a:r>
            <a:r>
              <a:rPr sz="2100" dirty="0">
                <a:latin typeface="Arial MT"/>
                <a:cs typeface="Arial MT"/>
              </a:rPr>
              <a:t> </a:t>
            </a:r>
            <a:r>
              <a:rPr sz="2100" spc="-5" dirty="0">
                <a:latin typeface="Arial MT"/>
                <a:cs typeface="Arial MT"/>
              </a:rPr>
              <a:t>java.lang</a:t>
            </a:r>
            <a:r>
              <a:rPr sz="2100" spc="-10" dirty="0">
                <a:latin typeface="Arial MT"/>
                <a:cs typeface="Arial MT"/>
              </a:rPr>
              <a:t> </a:t>
            </a:r>
            <a:r>
              <a:rPr sz="2100" spc="-5" dirty="0">
                <a:latin typeface="Arial MT"/>
                <a:cs typeface="Arial MT"/>
              </a:rPr>
              <a:t>package.</a:t>
            </a:r>
            <a:endParaRPr sz="2100">
              <a:latin typeface="Arial MT"/>
              <a:cs typeface="Arial MT"/>
            </a:endParaRPr>
          </a:p>
          <a:p>
            <a:pPr marL="269875" indent="-257810" algn="just">
              <a:lnSpc>
                <a:spcPct val="100000"/>
              </a:lnSpc>
              <a:spcBef>
                <a:spcPts val="15"/>
              </a:spcBef>
              <a:buClr>
                <a:srgbClr val="3333CC"/>
              </a:buClr>
              <a:buSzPct val="64285"/>
              <a:buChar char="•"/>
              <a:tabLst>
                <a:tab pos="270510" algn="l"/>
              </a:tabLst>
            </a:pPr>
            <a:r>
              <a:rPr sz="2100" dirty="0">
                <a:latin typeface="Arial MT"/>
                <a:cs typeface="Arial MT"/>
              </a:rPr>
              <a:t>It </a:t>
            </a:r>
            <a:r>
              <a:rPr sz="2100" spc="-5" dirty="0">
                <a:latin typeface="Arial MT"/>
                <a:cs typeface="Arial MT"/>
              </a:rPr>
              <a:t>can</a:t>
            </a:r>
            <a:r>
              <a:rPr sz="2100" spc="-15" dirty="0">
                <a:latin typeface="Arial MT"/>
                <a:cs typeface="Arial MT"/>
              </a:rPr>
              <a:t> </a:t>
            </a:r>
            <a:r>
              <a:rPr sz="2100" spc="-5" dirty="0">
                <a:latin typeface="Arial MT"/>
                <a:cs typeface="Arial MT"/>
              </a:rPr>
              <a:t>be called</a:t>
            </a:r>
            <a:r>
              <a:rPr sz="2100" spc="-30" dirty="0">
                <a:latin typeface="Arial MT"/>
                <a:cs typeface="Arial MT"/>
              </a:rPr>
              <a:t> </a:t>
            </a:r>
            <a:r>
              <a:rPr sz="2100" spc="-5" dirty="0">
                <a:latin typeface="Arial MT"/>
                <a:cs typeface="Arial MT"/>
              </a:rPr>
              <a:t>only once.</a:t>
            </a:r>
            <a:endParaRPr sz="2100">
              <a:latin typeface="Arial MT"/>
              <a:cs typeface="Arial MT"/>
            </a:endParaRPr>
          </a:p>
          <a:p>
            <a:pPr marL="269875" marR="5080" indent="-257810" algn="just">
              <a:lnSpc>
                <a:spcPts val="2020"/>
              </a:lnSpc>
              <a:spcBef>
                <a:spcPts val="484"/>
              </a:spcBef>
              <a:buClr>
                <a:srgbClr val="3333CC"/>
              </a:buClr>
              <a:buSzPct val="64285"/>
              <a:buChar char="•"/>
              <a:tabLst>
                <a:tab pos="270510" algn="l"/>
              </a:tabLst>
            </a:pPr>
            <a:r>
              <a:rPr sz="2100" spc="-5" dirty="0">
                <a:latin typeface="Arial MT"/>
                <a:cs typeface="Arial MT"/>
              </a:rPr>
              <a:t>We</a:t>
            </a:r>
            <a:r>
              <a:rPr sz="2100" dirty="0">
                <a:latin typeface="Arial MT"/>
                <a:cs typeface="Arial MT"/>
              </a:rPr>
              <a:t> </a:t>
            </a:r>
            <a:r>
              <a:rPr sz="2100" spc="-5" dirty="0">
                <a:latin typeface="Arial MT"/>
                <a:cs typeface="Arial MT"/>
              </a:rPr>
              <a:t>need</a:t>
            </a:r>
            <a:r>
              <a:rPr sz="2100" dirty="0">
                <a:latin typeface="Arial MT"/>
                <a:cs typeface="Arial MT"/>
              </a:rPr>
              <a:t> to</a:t>
            </a:r>
            <a:r>
              <a:rPr sz="2100" spc="5" dirty="0">
                <a:latin typeface="Arial MT"/>
                <a:cs typeface="Arial MT"/>
              </a:rPr>
              <a:t> </a:t>
            </a:r>
            <a:r>
              <a:rPr sz="2100" spc="-5" dirty="0">
                <a:latin typeface="Arial MT"/>
                <a:cs typeface="Arial MT"/>
              </a:rPr>
              <a:t>call</a:t>
            </a:r>
            <a:r>
              <a:rPr sz="2100" dirty="0">
                <a:latin typeface="Arial MT"/>
                <a:cs typeface="Arial MT"/>
              </a:rPr>
              <a:t> </a:t>
            </a:r>
            <a:r>
              <a:rPr sz="2100" spc="-5" dirty="0">
                <a:latin typeface="Arial MT"/>
                <a:cs typeface="Arial MT"/>
              </a:rPr>
              <a:t>the</a:t>
            </a:r>
            <a:r>
              <a:rPr sz="2100" dirty="0">
                <a:latin typeface="Arial MT"/>
                <a:cs typeface="Arial MT"/>
              </a:rPr>
              <a:t> </a:t>
            </a:r>
            <a:r>
              <a:rPr sz="2100" spc="-5" dirty="0">
                <a:latin typeface="Arial MT"/>
                <a:cs typeface="Arial MT"/>
              </a:rPr>
              <a:t>finalize()</a:t>
            </a:r>
            <a:r>
              <a:rPr sz="2100" dirty="0">
                <a:latin typeface="Arial MT"/>
                <a:cs typeface="Arial MT"/>
              </a:rPr>
              <a:t> </a:t>
            </a:r>
            <a:r>
              <a:rPr sz="2100" spc="-5" dirty="0">
                <a:latin typeface="Arial MT"/>
                <a:cs typeface="Arial MT"/>
              </a:rPr>
              <a:t>method</a:t>
            </a:r>
            <a:r>
              <a:rPr sz="2100" dirty="0">
                <a:latin typeface="Arial MT"/>
                <a:cs typeface="Arial MT"/>
              </a:rPr>
              <a:t> </a:t>
            </a:r>
            <a:r>
              <a:rPr sz="2100" spc="-5" dirty="0">
                <a:latin typeface="Arial MT"/>
                <a:cs typeface="Arial MT"/>
              </a:rPr>
              <a:t>explicitly</a:t>
            </a:r>
            <a:r>
              <a:rPr sz="2100" dirty="0">
                <a:latin typeface="Arial MT"/>
                <a:cs typeface="Arial MT"/>
              </a:rPr>
              <a:t> if</a:t>
            </a:r>
            <a:r>
              <a:rPr sz="2100" spc="5" dirty="0">
                <a:latin typeface="Arial MT"/>
                <a:cs typeface="Arial MT"/>
              </a:rPr>
              <a:t> </a:t>
            </a:r>
            <a:r>
              <a:rPr sz="2100" spc="-5" dirty="0">
                <a:latin typeface="Arial MT"/>
                <a:cs typeface="Arial MT"/>
              </a:rPr>
              <a:t>we</a:t>
            </a:r>
            <a:r>
              <a:rPr sz="2100" dirty="0">
                <a:latin typeface="Arial MT"/>
                <a:cs typeface="Arial MT"/>
              </a:rPr>
              <a:t> </a:t>
            </a:r>
            <a:r>
              <a:rPr sz="2100" spc="-5" dirty="0">
                <a:latin typeface="Arial MT"/>
                <a:cs typeface="Arial MT"/>
              </a:rPr>
              <a:t>want</a:t>
            </a:r>
            <a:r>
              <a:rPr sz="2100" dirty="0">
                <a:latin typeface="Arial MT"/>
                <a:cs typeface="Arial MT"/>
              </a:rPr>
              <a:t> to </a:t>
            </a:r>
            <a:r>
              <a:rPr sz="2100" spc="-570" dirty="0">
                <a:latin typeface="Arial MT"/>
                <a:cs typeface="Arial MT"/>
              </a:rPr>
              <a:t> </a:t>
            </a:r>
            <a:r>
              <a:rPr sz="2100" spc="-5" dirty="0">
                <a:latin typeface="Arial MT"/>
                <a:cs typeface="Arial MT"/>
              </a:rPr>
              <a:t>override</a:t>
            </a:r>
            <a:r>
              <a:rPr sz="2100" spc="-10" dirty="0">
                <a:latin typeface="Arial MT"/>
                <a:cs typeface="Arial MT"/>
              </a:rPr>
              <a:t> </a:t>
            </a:r>
            <a:r>
              <a:rPr sz="2100" dirty="0">
                <a:latin typeface="Arial MT"/>
                <a:cs typeface="Arial MT"/>
              </a:rPr>
              <a:t>the </a:t>
            </a:r>
            <a:r>
              <a:rPr sz="2100" spc="-5" dirty="0">
                <a:latin typeface="Arial MT"/>
                <a:cs typeface="Arial MT"/>
              </a:rPr>
              <a:t>method.</a:t>
            </a:r>
            <a:endParaRPr sz="2100">
              <a:latin typeface="Arial MT"/>
              <a:cs typeface="Arial MT"/>
            </a:endParaRPr>
          </a:p>
          <a:p>
            <a:pPr marL="269875" marR="5080" indent="-257810" algn="just">
              <a:lnSpc>
                <a:spcPct val="80100"/>
              </a:lnSpc>
              <a:spcBef>
                <a:spcPts val="509"/>
              </a:spcBef>
              <a:buClr>
                <a:srgbClr val="3333CC"/>
              </a:buClr>
              <a:buSzPct val="64285"/>
              <a:buChar char="•"/>
              <a:tabLst>
                <a:tab pos="270510" algn="l"/>
              </a:tabLst>
            </a:pPr>
            <a:r>
              <a:rPr sz="2100" dirty="0">
                <a:latin typeface="Arial MT"/>
                <a:cs typeface="Arial MT"/>
              </a:rPr>
              <a:t>The</a:t>
            </a:r>
            <a:r>
              <a:rPr sz="2100" spc="130" dirty="0">
                <a:latin typeface="Arial MT"/>
                <a:cs typeface="Arial MT"/>
              </a:rPr>
              <a:t> </a:t>
            </a:r>
            <a:r>
              <a:rPr sz="2100" spc="-5" dirty="0">
                <a:latin typeface="Arial MT"/>
                <a:cs typeface="Arial MT"/>
              </a:rPr>
              <a:t>gc()</a:t>
            </a:r>
            <a:r>
              <a:rPr sz="2100" spc="135" dirty="0">
                <a:latin typeface="Arial MT"/>
                <a:cs typeface="Arial MT"/>
              </a:rPr>
              <a:t> </a:t>
            </a:r>
            <a:r>
              <a:rPr sz="2100" spc="-10" dirty="0">
                <a:latin typeface="Arial MT"/>
                <a:cs typeface="Arial MT"/>
              </a:rPr>
              <a:t>is</a:t>
            </a:r>
            <a:r>
              <a:rPr sz="2100" spc="145" dirty="0">
                <a:latin typeface="Arial MT"/>
                <a:cs typeface="Arial MT"/>
              </a:rPr>
              <a:t> </a:t>
            </a:r>
            <a:r>
              <a:rPr sz="2100" spc="-5" dirty="0">
                <a:latin typeface="Arial MT"/>
                <a:cs typeface="Arial MT"/>
              </a:rPr>
              <a:t>a</a:t>
            </a:r>
            <a:r>
              <a:rPr sz="2100" spc="125" dirty="0">
                <a:latin typeface="Arial MT"/>
                <a:cs typeface="Arial MT"/>
              </a:rPr>
              <a:t> </a:t>
            </a:r>
            <a:r>
              <a:rPr sz="2100" spc="-5" dirty="0">
                <a:latin typeface="Arial MT"/>
                <a:cs typeface="Arial MT"/>
              </a:rPr>
              <a:t>method</a:t>
            </a:r>
            <a:r>
              <a:rPr sz="2100" spc="125" dirty="0">
                <a:latin typeface="Arial MT"/>
                <a:cs typeface="Arial MT"/>
              </a:rPr>
              <a:t> </a:t>
            </a:r>
            <a:r>
              <a:rPr sz="2100" spc="-5" dirty="0">
                <a:latin typeface="Arial MT"/>
                <a:cs typeface="Arial MT"/>
              </a:rPr>
              <a:t>of</a:t>
            </a:r>
            <a:r>
              <a:rPr sz="2100" spc="130" dirty="0">
                <a:latin typeface="Arial MT"/>
                <a:cs typeface="Arial MT"/>
              </a:rPr>
              <a:t> </a:t>
            </a:r>
            <a:r>
              <a:rPr sz="2100" dirty="0">
                <a:latin typeface="Arial MT"/>
                <a:cs typeface="Arial MT"/>
              </a:rPr>
              <a:t>JVM</a:t>
            </a:r>
            <a:r>
              <a:rPr sz="2100" spc="140" dirty="0">
                <a:latin typeface="Arial MT"/>
                <a:cs typeface="Arial MT"/>
              </a:rPr>
              <a:t> </a:t>
            </a:r>
            <a:r>
              <a:rPr sz="2100" spc="-5" dirty="0">
                <a:latin typeface="Arial MT"/>
                <a:cs typeface="Arial MT"/>
              </a:rPr>
              <a:t>executed</a:t>
            </a:r>
            <a:r>
              <a:rPr sz="2100" spc="140" dirty="0">
                <a:latin typeface="Arial MT"/>
                <a:cs typeface="Arial MT"/>
              </a:rPr>
              <a:t> </a:t>
            </a:r>
            <a:r>
              <a:rPr sz="2100" spc="-5" dirty="0">
                <a:latin typeface="Arial MT"/>
                <a:cs typeface="Arial MT"/>
              </a:rPr>
              <a:t>by</a:t>
            </a:r>
            <a:r>
              <a:rPr sz="2100" spc="135" dirty="0">
                <a:latin typeface="Arial MT"/>
                <a:cs typeface="Arial MT"/>
              </a:rPr>
              <a:t> </a:t>
            </a:r>
            <a:r>
              <a:rPr sz="2100" dirty="0">
                <a:latin typeface="Arial MT"/>
                <a:cs typeface="Arial MT"/>
              </a:rPr>
              <a:t>the</a:t>
            </a:r>
            <a:r>
              <a:rPr sz="2100" spc="135" dirty="0">
                <a:latin typeface="Arial MT"/>
                <a:cs typeface="Arial MT"/>
              </a:rPr>
              <a:t> </a:t>
            </a:r>
            <a:r>
              <a:rPr sz="2100" spc="-10" dirty="0">
                <a:latin typeface="Arial MT"/>
                <a:cs typeface="Arial MT"/>
              </a:rPr>
              <a:t>Garbage</a:t>
            </a:r>
            <a:r>
              <a:rPr sz="2100" spc="135" dirty="0">
                <a:latin typeface="Arial MT"/>
                <a:cs typeface="Arial MT"/>
              </a:rPr>
              <a:t> </a:t>
            </a:r>
            <a:r>
              <a:rPr sz="2100" spc="-10" dirty="0">
                <a:latin typeface="Arial MT"/>
                <a:cs typeface="Arial MT"/>
              </a:rPr>
              <a:t>Collector. </a:t>
            </a:r>
            <a:r>
              <a:rPr sz="2100" spc="-570" dirty="0">
                <a:latin typeface="Arial MT"/>
                <a:cs typeface="Arial MT"/>
              </a:rPr>
              <a:t> </a:t>
            </a:r>
            <a:r>
              <a:rPr sz="2100" dirty="0">
                <a:latin typeface="Arial MT"/>
                <a:cs typeface="Arial MT"/>
              </a:rPr>
              <a:t>It</a:t>
            </a:r>
            <a:r>
              <a:rPr sz="2100" spc="5" dirty="0">
                <a:latin typeface="Arial MT"/>
                <a:cs typeface="Arial MT"/>
              </a:rPr>
              <a:t> </a:t>
            </a:r>
            <a:r>
              <a:rPr sz="2100" spc="-5" dirty="0">
                <a:latin typeface="Arial MT"/>
                <a:cs typeface="Arial MT"/>
              </a:rPr>
              <a:t>invokes</a:t>
            </a:r>
            <a:r>
              <a:rPr sz="2100" dirty="0">
                <a:latin typeface="Arial MT"/>
                <a:cs typeface="Arial MT"/>
              </a:rPr>
              <a:t> </a:t>
            </a:r>
            <a:r>
              <a:rPr sz="2100" spc="-10" dirty="0">
                <a:latin typeface="Arial MT"/>
                <a:cs typeface="Arial MT"/>
              </a:rPr>
              <a:t>when</a:t>
            </a:r>
            <a:r>
              <a:rPr sz="2100" spc="-5" dirty="0">
                <a:latin typeface="Arial MT"/>
                <a:cs typeface="Arial MT"/>
              </a:rPr>
              <a:t> </a:t>
            </a:r>
            <a:r>
              <a:rPr sz="2100" dirty="0">
                <a:latin typeface="Arial MT"/>
                <a:cs typeface="Arial MT"/>
              </a:rPr>
              <a:t>the</a:t>
            </a:r>
            <a:r>
              <a:rPr sz="2100" spc="5" dirty="0">
                <a:latin typeface="Arial MT"/>
                <a:cs typeface="Arial MT"/>
              </a:rPr>
              <a:t> </a:t>
            </a:r>
            <a:r>
              <a:rPr sz="2100" spc="-10" dirty="0">
                <a:latin typeface="Arial MT"/>
                <a:cs typeface="Arial MT"/>
              </a:rPr>
              <a:t>heap</a:t>
            </a:r>
            <a:r>
              <a:rPr sz="2100" spc="-5" dirty="0">
                <a:latin typeface="Arial MT"/>
                <a:cs typeface="Arial MT"/>
              </a:rPr>
              <a:t> memory</a:t>
            </a:r>
            <a:r>
              <a:rPr sz="2100" dirty="0">
                <a:latin typeface="Arial MT"/>
                <a:cs typeface="Arial MT"/>
              </a:rPr>
              <a:t> is</a:t>
            </a:r>
            <a:r>
              <a:rPr sz="2100" spc="5" dirty="0">
                <a:latin typeface="Arial MT"/>
                <a:cs typeface="Arial MT"/>
              </a:rPr>
              <a:t> </a:t>
            </a:r>
            <a:r>
              <a:rPr sz="2100" spc="-5" dirty="0">
                <a:latin typeface="Arial MT"/>
                <a:cs typeface="Arial MT"/>
              </a:rPr>
              <a:t>full</a:t>
            </a:r>
            <a:r>
              <a:rPr sz="2100" dirty="0">
                <a:latin typeface="Arial MT"/>
                <a:cs typeface="Arial MT"/>
              </a:rPr>
              <a:t> </a:t>
            </a:r>
            <a:r>
              <a:rPr sz="2100" spc="-10" dirty="0">
                <a:latin typeface="Arial MT"/>
                <a:cs typeface="Arial MT"/>
              </a:rPr>
              <a:t>and</a:t>
            </a:r>
            <a:r>
              <a:rPr sz="2100" spc="-5" dirty="0">
                <a:latin typeface="Arial MT"/>
                <a:cs typeface="Arial MT"/>
              </a:rPr>
              <a:t> requires</a:t>
            </a:r>
            <a:r>
              <a:rPr sz="2100" dirty="0">
                <a:latin typeface="Arial MT"/>
                <a:cs typeface="Arial MT"/>
              </a:rPr>
              <a:t> </a:t>
            </a:r>
            <a:r>
              <a:rPr sz="2100" spc="-5" dirty="0">
                <a:latin typeface="Arial MT"/>
                <a:cs typeface="Arial MT"/>
              </a:rPr>
              <a:t>more </a:t>
            </a:r>
            <a:r>
              <a:rPr sz="2100" dirty="0">
                <a:latin typeface="Arial MT"/>
                <a:cs typeface="Arial MT"/>
              </a:rPr>
              <a:t> </a:t>
            </a:r>
            <a:r>
              <a:rPr sz="2100" spc="-5" dirty="0">
                <a:latin typeface="Arial MT"/>
                <a:cs typeface="Arial MT"/>
              </a:rPr>
              <a:t>memory</a:t>
            </a:r>
            <a:r>
              <a:rPr sz="2100" spc="-10" dirty="0">
                <a:latin typeface="Arial MT"/>
                <a:cs typeface="Arial MT"/>
              </a:rPr>
              <a:t> </a:t>
            </a:r>
            <a:r>
              <a:rPr sz="2100" spc="-5" dirty="0">
                <a:latin typeface="Arial MT"/>
                <a:cs typeface="Arial MT"/>
              </a:rPr>
              <a:t>for</a:t>
            </a:r>
            <a:r>
              <a:rPr sz="2100" dirty="0">
                <a:latin typeface="Arial MT"/>
                <a:cs typeface="Arial MT"/>
              </a:rPr>
              <a:t> </a:t>
            </a:r>
            <a:r>
              <a:rPr sz="2100" spc="-5" dirty="0">
                <a:latin typeface="Arial MT"/>
                <a:cs typeface="Arial MT"/>
              </a:rPr>
              <a:t>new</a:t>
            </a:r>
            <a:r>
              <a:rPr sz="2100" dirty="0">
                <a:latin typeface="Arial MT"/>
                <a:cs typeface="Arial MT"/>
              </a:rPr>
              <a:t> </a:t>
            </a:r>
            <a:r>
              <a:rPr sz="2100" spc="-5" dirty="0">
                <a:latin typeface="Arial MT"/>
                <a:cs typeface="Arial MT"/>
              </a:rPr>
              <a:t>arriving</a:t>
            </a:r>
            <a:r>
              <a:rPr sz="2100" dirty="0">
                <a:latin typeface="Arial MT"/>
                <a:cs typeface="Arial MT"/>
              </a:rPr>
              <a:t> </a:t>
            </a:r>
            <a:r>
              <a:rPr sz="2100" spc="-5" dirty="0">
                <a:latin typeface="Arial MT"/>
                <a:cs typeface="Arial MT"/>
              </a:rPr>
              <a:t>objects.</a:t>
            </a:r>
            <a:endParaRPr sz="21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3608070" cy="461009"/>
          </a:xfrm>
          <a:prstGeom prst="rect">
            <a:avLst/>
          </a:prstGeom>
        </p:spPr>
        <p:txBody>
          <a:bodyPr vert="horz" wrap="square" lIns="0" tIns="13335" rIns="0" bIns="0" rtlCol="0">
            <a:spAutoFit/>
          </a:bodyPr>
          <a:lstStyle/>
          <a:p>
            <a:pPr marL="12700">
              <a:lnSpc>
                <a:spcPct val="100000"/>
              </a:lnSpc>
              <a:spcBef>
                <a:spcPts val="105"/>
              </a:spcBef>
            </a:pPr>
            <a:r>
              <a:rPr b="0" dirty="0">
                <a:solidFill>
                  <a:srgbClr val="600A4A"/>
                </a:solidFill>
                <a:latin typeface="Arial MT"/>
                <a:cs typeface="Arial MT"/>
              </a:rPr>
              <a:t>Example</a:t>
            </a:r>
            <a:r>
              <a:rPr b="0" spc="-40" dirty="0">
                <a:solidFill>
                  <a:srgbClr val="600A4A"/>
                </a:solidFill>
                <a:latin typeface="Arial MT"/>
                <a:cs typeface="Arial MT"/>
              </a:rPr>
              <a:t> </a:t>
            </a:r>
            <a:r>
              <a:rPr b="0" dirty="0">
                <a:solidFill>
                  <a:srgbClr val="600A4A"/>
                </a:solidFill>
                <a:latin typeface="Arial MT"/>
                <a:cs typeface="Arial MT"/>
              </a:rPr>
              <a:t>of</a:t>
            </a:r>
            <a:r>
              <a:rPr b="0" spc="-55" dirty="0">
                <a:solidFill>
                  <a:srgbClr val="600A4A"/>
                </a:solidFill>
                <a:latin typeface="Arial MT"/>
                <a:cs typeface="Arial MT"/>
              </a:rPr>
              <a:t> </a:t>
            </a:r>
            <a:r>
              <a:rPr b="0" dirty="0">
                <a:solidFill>
                  <a:srgbClr val="600A4A"/>
                </a:solidFill>
                <a:latin typeface="Arial MT"/>
                <a:cs typeface="Arial MT"/>
              </a:rPr>
              <a:t>Destructor</a:t>
            </a:r>
          </a:p>
        </p:txBody>
      </p:sp>
      <p:sp>
        <p:nvSpPr>
          <p:cNvPr id="3" name="object 3"/>
          <p:cNvSpPr txBox="1"/>
          <p:nvPr/>
        </p:nvSpPr>
        <p:spPr>
          <a:xfrm>
            <a:off x="535940" y="1575562"/>
            <a:ext cx="6435725" cy="4172585"/>
          </a:xfrm>
          <a:prstGeom prst="rect">
            <a:avLst/>
          </a:prstGeom>
        </p:spPr>
        <p:txBody>
          <a:bodyPr vert="horz" wrap="square" lIns="0" tIns="13335" rIns="0" bIns="0" rtlCol="0">
            <a:spAutoFit/>
          </a:bodyPr>
          <a:lstStyle/>
          <a:p>
            <a:pPr marL="12700" marR="3277235">
              <a:lnSpc>
                <a:spcPct val="100000"/>
              </a:lnSpc>
              <a:spcBef>
                <a:spcPts val="105"/>
              </a:spcBef>
            </a:pPr>
            <a:r>
              <a:rPr sz="1700" b="1" spc="-5" dirty="0">
                <a:solidFill>
                  <a:srgbClr val="333333"/>
                </a:solidFill>
                <a:latin typeface="Arial"/>
                <a:cs typeface="Arial"/>
              </a:rPr>
              <a:t>DestructorExample.java </a:t>
            </a:r>
            <a:r>
              <a:rPr sz="1700" b="1" spc="5" dirty="0">
                <a:solidFill>
                  <a:srgbClr val="333333"/>
                </a:solidFill>
                <a:latin typeface="Arial"/>
                <a:cs typeface="Arial"/>
              </a:rPr>
              <a:t> </a:t>
            </a:r>
            <a:r>
              <a:rPr sz="1700" b="1" dirty="0">
                <a:solidFill>
                  <a:srgbClr val="006699"/>
                </a:solidFill>
                <a:latin typeface="Arial"/>
                <a:cs typeface="Arial"/>
              </a:rPr>
              <a:t>public </a:t>
            </a:r>
            <a:r>
              <a:rPr sz="1700" b="1" spc="-5" dirty="0">
                <a:solidFill>
                  <a:srgbClr val="006699"/>
                </a:solidFill>
                <a:latin typeface="Arial"/>
                <a:cs typeface="Arial"/>
              </a:rPr>
              <a:t>class</a:t>
            </a:r>
            <a:r>
              <a:rPr sz="1700" b="1" spc="25" dirty="0">
                <a:solidFill>
                  <a:srgbClr val="006699"/>
                </a:solidFill>
                <a:latin typeface="Arial"/>
                <a:cs typeface="Arial"/>
              </a:rPr>
              <a:t> </a:t>
            </a:r>
            <a:r>
              <a:rPr sz="1700" spc="-5" dirty="0">
                <a:latin typeface="Arial MT"/>
                <a:cs typeface="Arial MT"/>
              </a:rPr>
              <a:t>DestructorExample</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a:p>
            <a:pPr marL="12700">
              <a:lnSpc>
                <a:spcPct val="100000"/>
              </a:lnSpc>
            </a:pPr>
            <a:r>
              <a:rPr sz="1700" b="1" dirty="0">
                <a:solidFill>
                  <a:srgbClr val="006699"/>
                </a:solidFill>
                <a:latin typeface="Arial"/>
                <a:cs typeface="Arial"/>
              </a:rPr>
              <a:t>public</a:t>
            </a:r>
            <a:r>
              <a:rPr sz="1700" b="1" spc="-10" dirty="0">
                <a:solidFill>
                  <a:srgbClr val="006699"/>
                </a:solidFill>
                <a:latin typeface="Arial"/>
                <a:cs typeface="Arial"/>
              </a:rPr>
              <a:t> </a:t>
            </a:r>
            <a:r>
              <a:rPr sz="1700" b="1" spc="-5" dirty="0">
                <a:solidFill>
                  <a:srgbClr val="006699"/>
                </a:solidFill>
                <a:latin typeface="Arial"/>
                <a:cs typeface="Arial"/>
              </a:rPr>
              <a:t>static</a:t>
            </a:r>
            <a:r>
              <a:rPr sz="1700" b="1" spc="5" dirty="0">
                <a:solidFill>
                  <a:srgbClr val="006699"/>
                </a:solidFill>
                <a:latin typeface="Arial"/>
                <a:cs typeface="Arial"/>
              </a:rPr>
              <a:t> </a:t>
            </a:r>
            <a:r>
              <a:rPr sz="1700" b="1" spc="-10" dirty="0">
                <a:solidFill>
                  <a:srgbClr val="006699"/>
                </a:solidFill>
                <a:latin typeface="Arial"/>
                <a:cs typeface="Arial"/>
              </a:rPr>
              <a:t>void</a:t>
            </a:r>
            <a:r>
              <a:rPr sz="1700" b="1" spc="20" dirty="0">
                <a:solidFill>
                  <a:srgbClr val="006699"/>
                </a:solidFill>
                <a:latin typeface="Arial"/>
                <a:cs typeface="Arial"/>
              </a:rPr>
              <a:t> </a:t>
            </a:r>
            <a:r>
              <a:rPr sz="1700" dirty="0">
                <a:latin typeface="Arial MT"/>
                <a:cs typeface="Arial MT"/>
              </a:rPr>
              <a:t>main(String[]</a:t>
            </a:r>
            <a:r>
              <a:rPr sz="1700" spc="-10" dirty="0">
                <a:latin typeface="Arial MT"/>
                <a:cs typeface="Arial MT"/>
              </a:rPr>
              <a:t> </a:t>
            </a:r>
            <a:r>
              <a:rPr sz="1700" dirty="0">
                <a:latin typeface="Arial MT"/>
                <a:cs typeface="Arial MT"/>
              </a:rPr>
              <a:t>args)</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a:p>
            <a:pPr marL="12700" marR="1445260">
              <a:lnSpc>
                <a:spcPct val="100000"/>
              </a:lnSpc>
            </a:pPr>
            <a:r>
              <a:rPr sz="1700" spc="-5" dirty="0">
                <a:latin typeface="Arial MT"/>
                <a:cs typeface="Arial MT"/>
              </a:rPr>
              <a:t>DestructorExample</a:t>
            </a:r>
            <a:r>
              <a:rPr sz="1700" spc="30" dirty="0">
                <a:latin typeface="Arial MT"/>
                <a:cs typeface="Arial MT"/>
              </a:rPr>
              <a:t> </a:t>
            </a:r>
            <a:r>
              <a:rPr sz="1700" dirty="0">
                <a:latin typeface="Arial MT"/>
                <a:cs typeface="Arial MT"/>
              </a:rPr>
              <a:t>de</a:t>
            </a:r>
            <a:r>
              <a:rPr sz="1700" spc="25" dirty="0">
                <a:latin typeface="Arial MT"/>
                <a:cs typeface="Arial MT"/>
              </a:rPr>
              <a:t> </a:t>
            </a:r>
            <a:r>
              <a:rPr sz="1700" dirty="0">
                <a:latin typeface="Arial MT"/>
                <a:cs typeface="Arial MT"/>
              </a:rPr>
              <a:t>=</a:t>
            </a:r>
            <a:r>
              <a:rPr sz="1700" spc="10" dirty="0">
                <a:latin typeface="Arial MT"/>
                <a:cs typeface="Arial MT"/>
              </a:rPr>
              <a:t> </a:t>
            </a:r>
            <a:r>
              <a:rPr sz="1700" b="1" spc="-5" dirty="0">
                <a:solidFill>
                  <a:srgbClr val="006699"/>
                </a:solidFill>
                <a:latin typeface="Arial"/>
                <a:cs typeface="Arial"/>
              </a:rPr>
              <a:t>new</a:t>
            </a:r>
            <a:r>
              <a:rPr sz="1700" b="1" spc="25" dirty="0">
                <a:solidFill>
                  <a:srgbClr val="006699"/>
                </a:solidFill>
                <a:latin typeface="Arial"/>
                <a:cs typeface="Arial"/>
              </a:rPr>
              <a:t> </a:t>
            </a:r>
            <a:r>
              <a:rPr sz="1700" spc="-5" dirty="0">
                <a:latin typeface="Arial MT"/>
                <a:cs typeface="Arial MT"/>
              </a:rPr>
              <a:t>DestructorExample</a:t>
            </a:r>
            <a:r>
              <a:rPr sz="1700" spc="35" dirty="0">
                <a:latin typeface="Arial MT"/>
                <a:cs typeface="Arial MT"/>
              </a:rPr>
              <a:t> </a:t>
            </a:r>
            <a:r>
              <a:rPr sz="1700" spc="-5" dirty="0">
                <a:latin typeface="Arial MT"/>
                <a:cs typeface="Arial MT"/>
              </a:rPr>
              <a:t>(); </a:t>
            </a:r>
            <a:r>
              <a:rPr sz="1700" spc="-459" dirty="0">
                <a:latin typeface="Arial MT"/>
                <a:cs typeface="Arial MT"/>
              </a:rPr>
              <a:t> </a:t>
            </a:r>
            <a:r>
              <a:rPr sz="1700" dirty="0">
                <a:latin typeface="Arial MT"/>
                <a:cs typeface="Arial MT"/>
              </a:rPr>
              <a:t>de.finalize();</a:t>
            </a:r>
            <a:endParaRPr sz="1700">
              <a:latin typeface="Arial MT"/>
              <a:cs typeface="Arial MT"/>
            </a:endParaRPr>
          </a:p>
          <a:p>
            <a:pPr marL="12700">
              <a:lnSpc>
                <a:spcPct val="100000"/>
              </a:lnSpc>
            </a:pPr>
            <a:r>
              <a:rPr sz="1700" dirty="0">
                <a:latin typeface="Arial MT"/>
                <a:cs typeface="Arial MT"/>
              </a:rPr>
              <a:t>de</a:t>
            </a:r>
            <a:r>
              <a:rPr sz="1700" spc="-20" dirty="0">
                <a:latin typeface="Arial MT"/>
                <a:cs typeface="Arial MT"/>
              </a:rPr>
              <a:t> </a:t>
            </a:r>
            <a:r>
              <a:rPr sz="1700" dirty="0">
                <a:latin typeface="Arial MT"/>
                <a:cs typeface="Arial MT"/>
              </a:rPr>
              <a:t>=</a:t>
            </a:r>
            <a:r>
              <a:rPr sz="1700" spc="-25" dirty="0">
                <a:latin typeface="Arial MT"/>
                <a:cs typeface="Arial MT"/>
              </a:rPr>
              <a:t> </a:t>
            </a:r>
            <a:r>
              <a:rPr sz="1700" b="1" spc="-5" dirty="0">
                <a:solidFill>
                  <a:srgbClr val="006699"/>
                </a:solidFill>
                <a:latin typeface="Arial"/>
                <a:cs typeface="Arial"/>
              </a:rPr>
              <a:t>null</a:t>
            </a:r>
            <a:r>
              <a:rPr sz="1700" spc="-5" dirty="0">
                <a:latin typeface="Arial MT"/>
                <a:cs typeface="Arial MT"/>
              </a:rPr>
              <a:t>;</a:t>
            </a:r>
            <a:endParaRPr sz="1700">
              <a:latin typeface="Arial MT"/>
              <a:cs typeface="Arial MT"/>
            </a:endParaRPr>
          </a:p>
          <a:p>
            <a:pPr marL="12700">
              <a:lnSpc>
                <a:spcPct val="100000"/>
              </a:lnSpc>
              <a:spcBef>
                <a:spcPts val="5"/>
              </a:spcBef>
            </a:pPr>
            <a:r>
              <a:rPr sz="1700" spc="-5" dirty="0">
                <a:latin typeface="Arial MT"/>
                <a:cs typeface="Arial MT"/>
              </a:rPr>
              <a:t>System.gc();</a:t>
            </a:r>
            <a:endParaRPr sz="1700">
              <a:latin typeface="Arial MT"/>
              <a:cs typeface="Arial MT"/>
            </a:endParaRPr>
          </a:p>
          <a:p>
            <a:pPr marL="12700">
              <a:lnSpc>
                <a:spcPct val="100000"/>
              </a:lnSpc>
            </a:pPr>
            <a:r>
              <a:rPr sz="1700" spc="-5" dirty="0">
                <a:latin typeface="Arial MT"/>
                <a:cs typeface="Arial MT"/>
              </a:rPr>
              <a:t>System.out.println(</a:t>
            </a:r>
            <a:r>
              <a:rPr sz="1700" spc="-5" dirty="0">
                <a:solidFill>
                  <a:srgbClr val="0000FF"/>
                </a:solidFill>
                <a:latin typeface="Arial MT"/>
                <a:cs typeface="Arial MT"/>
              </a:rPr>
              <a:t>"Inside</a:t>
            </a:r>
            <a:r>
              <a:rPr sz="1700" spc="55" dirty="0">
                <a:solidFill>
                  <a:srgbClr val="0000FF"/>
                </a:solidFill>
                <a:latin typeface="Arial MT"/>
                <a:cs typeface="Arial MT"/>
              </a:rPr>
              <a:t> </a:t>
            </a:r>
            <a:r>
              <a:rPr sz="1700" spc="-5" dirty="0">
                <a:solidFill>
                  <a:srgbClr val="0000FF"/>
                </a:solidFill>
                <a:latin typeface="Arial MT"/>
                <a:cs typeface="Arial MT"/>
              </a:rPr>
              <a:t>the</a:t>
            </a:r>
            <a:r>
              <a:rPr sz="1700" spc="35" dirty="0">
                <a:solidFill>
                  <a:srgbClr val="0000FF"/>
                </a:solidFill>
                <a:latin typeface="Arial MT"/>
                <a:cs typeface="Arial MT"/>
              </a:rPr>
              <a:t> </a:t>
            </a:r>
            <a:r>
              <a:rPr sz="1700" dirty="0">
                <a:solidFill>
                  <a:srgbClr val="0000FF"/>
                </a:solidFill>
                <a:latin typeface="Arial MT"/>
                <a:cs typeface="Arial MT"/>
              </a:rPr>
              <a:t>main()</a:t>
            </a:r>
            <a:r>
              <a:rPr sz="1700" spc="-10" dirty="0">
                <a:solidFill>
                  <a:srgbClr val="0000FF"/>
                </a:solidFill>
                <a:latin typeface="Arial MT"/>
                <a:cs typeface="Arial MT"/>
              </a:rPr>
              <a:t> </a:t>
            </a:r>
            <a:r>
              <a:rPr sz="1700" spc="-5" dirty="0">
                <a:solidFill>
                  <a:srgbClr val="0000FF"/>
                </a:solidFill>
                <a:latin typeface="Arial MT"/>
                <a:cs typeface="Arial MT"/>
              </a:rPr>
              <a:t>method"</a:t>
            </a:r>
            <a:r>
              <a:rPr sz="1700" spc="-5" dirty="0">
                <a:latin typeface="Arial MT"/>
                <a:cs typeface="Arial MT"/>
              </a:rPr>
              <a:t>);</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a:p>
            <a:pPr marL="12700">
              <a:lnSpc>
                <a:spcPct val="100000"/>
              </a:lnSpc>
            </a:pPr>
            <a:r>
              <a:rPr sz="1700" b="1" dirty="0">
                <a:solidFill>
                  <a:srgbClr val="006699"/>
                </a:solidFill>
                <a:latin typeface="Arial"/>
                <a:cs typeface="Arial"/>
              </a:rPr>
              <a:t>protected</a:t>
            </a:r>
            <a:r>
              <a:rPr sz="1700" b="1" spc="-35" dirty="0">
                <a:solidFill>
                  <a:srgbClr val="006699"/>
                </a:solidFill>
                <a:latin typeface="Arial"/>
                <a:cs typeface="Arial"/>
              </a:rPr>
              <a:t> </a:t>
            </a:r>
            <a:r>
              <a:rPr sz="1700" b="1" spc="-10" dirty="0">
                <a:solidFill>
                  <a:srgbClr val="006699"/>
                </a:solidFill>
                <a:latin typeface="Arial"/>
                <a:cs typeface="Arial"/>
              </a:rPr>
              <a:t>void</a:t>
            </a:r>
            <a:r>
              <a:rPr sz="1700" b="1" spc="15" dirty="0">
                <a:solidFill>
                  <a:srgbClr val="006699"/>
                </a:solidFill>
                <a:latin typeface="Arial"/>
                <a:cs typeface="Arial"/>
              </a:rPr>
              <a:t> </a:t>
            </a:r>
            <a:r>
              <a:rPr sz="1700" dirty="0">
                <a:latin typeface="Arial MT"/>
                <a:cs typeface="Arial MT"/>
              </a:rPr>
              <a:t>finalize()</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a:p>
            <a:pPr marL="12700">
              <a:lnSpc>
                <a:spcPct val="100000"/>
              </a:lnSpc>
            </a:pPr>
            <a:r>
              <a:rPr sz="1700" spc="-5" dirty="0">
                <a:latin typeface="Arial MT"/>
                <a:cs typeface="Arial MT"/>
              </a:rPr>
              <a:t>System.out.println(</a:t>
            </a:r>
            <a:r>
              <a:rPr sz="1700" spc="-5" dirty="0">
                <a:solidFill>
                  <a:srgbClr val="0000FF"/>
                </a:solidFill>
                <a:latin typeface="Arial MT"/>
                <a:cs typeface="Arial MT"/>
              </a:rPr>
              <a:t>"Object</a:t>
            </a:r>
            <a:r>
              <a:rPr sz="1700" spc="40" dirty="0">
                <a:solidFill>
                  <a:srgbClr val="0000FF"/>
                </a:solidFill>
                <a:latin typeface="Arial MT"/>
                <a:cs typeface="Arial MT"/>
              </a:rPr>
              <a:t> </a:t>
            </a:r>
            <a:r>
              <a:rPr sz="1700" dirty="0">
                <a:solidFill>
                  <a:srgbClr val="0000FF"/>
                </a:solidFill>
                <a:latin typeface="Arial MT"/>
                <a:cs typeface="Arial MT"/>
              </a:rPr>
              <a:t>is </a:t>
            </a:r>
            <a:r>
              <a:rPr sz="1700" spc="-5" dirty="0">
                <a:solidFill>
                  <a:srgbClr val="0000FF"/>
                </a:solidFill>
                <a:latin typeface="Arial MT"/>
                <a:cs typeface="Arial MT"/>
              </a:rPr>
              <a:t>destroyed</a:t>
            </a:r>
            <a:r>
              <a:rPr sz="1700" spc="55" dirty="0">
                <a:solidFill>
                  <a:srgbClr val="0000FF"/>
                </a:solidFill>
                <a:latin typeface="Arial MT"/>
                <a:cs typeface="Arial MT"/>
              </a:rPr>
              <a:t> </a:t>
            </a:r>
            <a:r>
              <a:rPr sz="1700" dirty="0">
                <a:solidFill>
                  <a:srgbClr val="0000FF"/>
                </a:solidFill>
                <a:latin typeface="Arial MT"/>
                <a:cs typeface="Arial MT"/>
              </a:rPr>
              <a:t>by </a:t>
            </a:r>
            <a:r>
              <a:rPr sz="1700" spc="-5" dirty="0">
                <a:solidFill>
                  <a:srgbClr val="0000FF"/>
                </a:solidFill>
                <a:latin typeface="Arial MT"/>
                <a:cs typeface="Arial MT"/>
              </a:rPr>
              <a:t>the</a:t>
            </a:r>
            <a:r>
              <a:rPr sz="1700" spc="30" dirty="0">
                <a:solidFill>
                  <a:srgbClr val="0000FF"/>
                </a:solidFill>
                <a:latin typeface="Arial MT"/>
                <a:cs typeface="Arial MT"/>
              </a:rPr>
              <a:t> </a:t>
            </a:r>
            <a:r>
              <a:rPr sz="1700" dirty="0">
                <a:solidFill>
                  <a:srgbClr val="0000FF"/>
                </a:solidFill>
                <a:latin typeface="Arial MT"/>
                <a:cs typeface="Arial MT"/>
              </a:rPr>
              <a:t>Garbage</a:t>
            </a:r>
            <a:r>
              <a:rPr sz="1700" spc="10" dirty="0">
                <a:solidFill>
                  <a:srgbClr val="0000FF"/>
                </a:solidFill>
                <a:latin typeface="Arial MT"/>
                <a:cs typeface="Arial MT"/>
              </a:rPr>
              <a:t> </a:t>
            </a:r>
            <a:r>
              <a:rPr sz="1700" dirty="0">
                <a:solidFill>
                  <a:srgbClr val="0000FF"/>
                </a:solidFill>
                <a:latin typeface="Arial MT"/>
                <a:cs typeface="Arial MT"/>
              </a:rPr>
              <a:t>Collector"</a:t>
            </a:r>
            <a:r>
              <a:rPr sz="1700" dirty="0">
                <a:latin typeface="Arial MT"/>
                <a:cs typeface="Arial MT"/>
              </a:rPr>
              <a:t>);</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a:p>
            <a:pPr marL="12700">
              <a:lnSpc>
                <a:spcPct val="100000"/>
              </a:lnSpc>
            </a:pPr>
            <a:r>
              <a:rPr sz="1700" dirty="0">
                <a:latin typeface="Arial MT"/>
                <a:cs typeface="Arial MT"/>
              </a:rPr>
              <a:t>}</a:t>
            </a:r>
            <a:endParaRPr sz="17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00354"/>
            <a:ext cx="7634605" cy="461009"/>
          </a:xfrm>
          <a:prstGeom prst="rect">
            <a:avLst/>
          </a:prstGeom>
        </p:spPr>
        <p:txBody>
          <a:bodyPr vert="horz" wrap="square" lIns="0" tIns="13335" rIns="0" bIns="0" rtlCol="0">
            <a:spAutoFit/>
          </a:bodyPr>
          <a:lstStyle/>
          <a:p>
            <a:pPr marL="12700">
              <a:lnSpc>
                <a:spcPct val="100000"/>
              </a:lnSpc>
              <a:spcBef>
                <a:spcPts val="105"/>
              </a:spcBef>
            </a:pPr>
            <a:r>
              <a:rPr b="0" dirty="0">
                <a:latin typeface="Arial MT"/>
                <a:cs typeface="Arial MT"/>
              </a:rPr>
              <a:t>Difference</a:t>
            </a:r>
            <a:r>
              <a:rPr b="0" spc="-25" dirty="0">
                <a:latin typeface="Arial MT"/>
                <a:cs typeface="Arial MT"/>
              </a:rPr>
              <a:t> </a:t>
            </a:r>
            <a:r>
              <a:rPr b="0" dirty="0">
                <a:latin typeface="Arial MT"/>
                <a:cs typeface="Arial MT"/>
              </a:rPr>
              <a:t>Between</a:t>
            </a:r>
            <a:r>
              <a:rPr b="0" spc="-15" dirty="0">
                <a:latin typeface="Arial MT"/>
                <a:cs typeface="Arial MT"/>
              </a:rPr>
              <a:t> </a:t>
            </a:r>
            <a:r>
              <a:rPr b="0" dirty="0">
                <a:latin typeface="Arial MT"/>
                <a:cs typeface="Arial MT"/>
              </a:rPr>
              <a:t>Constructor</a:t>
            </a:r>
            <a:r>
              <a:rPr b="0" spc="-35" dirty="0">
                <a:latin typeface="Arial MT"/>
                <a:cs typeface="Arial MT"/>
              </a:rPr>
              <a:t> </a:t>
            </a:r>
            <a:r>
              <a:rPr b="0" dirty="0">
                <a:latin typeface="Arial MT"/>
                <a:cs typeface="Arial MT"/>
              </a:rPr>
              <a:t>and</a:t>
            </a:r>
            <a:r>
              <a:rPr b="0" spc="-20" dirty="0">
                <a:latin typeface="Arial MT"/>
                <a:cs typeface="Arial MT"/>
              </a:rPr>
              <a:t> </a:t>
            </a:r>
            <a:r>
              <a:rPr b="0" dirty="0">
                <a:latin typeface="Arial MT"/>
                <a:cs typeface="Arial MT"/>
              </a:rPr>
              <a:t>Destructor</a:t>
            </a:r>
          </a:p>
        </p:txBody>
      </p:sp>
      <p:sp>
        <p:nvSpPr>
          <p:cNvPr id="4" name="object 4"/>
          <p:cNvSpPr txBox="1"/>
          <p:nvPr/>
        </p:nvSpPr>
        <p:spPr>
          <a:xfrm>
            <a:off x="8450326" y="6513317"/>
            <a:ext cx="182880" cy="154305"/>
          </a:xfrm>
          <a:prstGeom prst="rect">
            <a:avLst/>
          </a:prstGeom>
        </p:spPr>
        <p:txBody>
          <a:bodyPr vert="horz" wrap="square" lIns="0" tIns="0" rIns="0" bIns="0" rtlCol="0">
            <a:spAutoFit/>
          </a:bodyPr>
          <a:lstStyle/>
          <a:p>
            <a:pPr marL="38100">
              <a:lnSpc>
                <a:spcPts val="1055"/>
              </a:lnSpc>
            </a:pPr>
            <a:fld id="{81D60167-4931-47E6-BA6A-407CBD079E47}" type="slidenum">
              <a:rPr sz="900" spc="-5" dirty="0">
                <a:latin typeface="PMingLiU-ExtB"/>
                <a:cs typeface="PMingLiU-ExtB"/>
              </a:rPr>
              <a:t>32</a:t>
            </a:fld>
            <a:endParaRPr sz="900">
              <a:latin typeface="PMingLiU-ExtB"/>
              <a:cs typeface="PMingLiU-ExtB"/>
            </a:endParaRPr>
          </a:p>
        </p:txBody>
      </p:sp>
      <p:graphicFrame>
        <p:nvGraphicFramePr>
          <p:cNvPr id="3" name="object 3"/>
          <p:cNvGraphicFramePr>
            <a:graphicFrameLocks noGrp="1"/>
          </p:cNvGraphicFramePr>
          <p:nvPr/>
        </p:nvGraphicFramePr>
        <p:xfrm>
          <a:off x="457200" y="1118361"/>
          <a:ext cx="8228965" cy="4846344"/>
        </p:xfrm>
        <a:graphic>
          <a:graphicData uri="http://schemas.openxmlformats.org/drawingml/2006/table">
            <a:tbl>
              <a:tblPr firstRow="1" bandRow="1">
                <a:tableStyleId>{2D5ABB26-0587-4C30-8999-92F81FD0307C}</a:tableStyleId>
              </a:tblPr>
              <a:tblGrid>
                <a:gridCol w="4077970">
                  <a:extLst>
                    <a:ext uri="{9D8B030D-6E8A-4147-A177-3AD203B41FA5}">
                      <a16:colId xmlns:a16="http://schemas.microsoft.com/office/drawing/2014/main" val="20000"/>
                    </a:ext>
                  </a:extLst>
                </a:gridCol>
                <a:gridCol w="4150995">
                  <a:extLst>
                    <a:ext uri="{9D8B030D-6E8A-4147-A177-3AD203B41FA5}">
                      <a16:colId xmlns:a16="http://schemas.microsoft.com/office/drawing/2014/main" val="20001"/>
                    </a:ext>
                  </a:extLst>
                </a:gridCol>
              </a:tblGrid>
              <a:tr h="640079">
                <a:tc>
                  <a:txBody>
                    <a:bodyPr/>
                    <a:lstStyle/>
                    <a:p>
                      <a:pPr marL="91440">
                        <a:lnSpc>
                          <a:spcPct val="100000"/>
                        </a:lnSpc>
                        <a:spcBef>
                          <a:spcPts val="315"/>
                        </a:spcBef>
                      </a:pPr>
                      <a:r>
                        <a:rPr sz="1800" b="1" spc="-5" dirty="0">
                          <a:latin typeface="Arial"/>
                          <a:cs typeface="Arial"/>
                        </a:rPr>
                        <a:t>Constructor</a:t>
                      </a:r>
                      <a:endParaRPr sz="1800">
                        <a:latin typeface="Arial"/>
                        <a:cs typeface="Arial"/>
                      </a:endParaRPr>
                    </a:p>
                  </a:txBody>
                  <a:tcPr marL="0" marR="0" marT="40005" marB="0">
                    <a:lnT w="12700">
                      <a:solidFill>
                        <a:srgbClr val="3A812E"/>
                      </a:solidFill>
                      <a:prstDash val="solid"/>
                    </a:lnT>
                    <a:lnB w="12700">
                      <a:solidFill>
                        <a:srgbClr val="3A812E"/>
                      </a:solidFill>
                      <a:prstDash val="solid"/>
                    </a:lnB>
                  </a:tcPr>
                </a:tc>
                <a:tc>
                  <a:txBody>
                    <a:bodyPr/>
                    <a:lstStyle/>
                    <a:p>
                      <a:pPr marL="128270">
                        <a:lnSpc>
                          <a:spcPct val="100000"/>
                        </a:lnSpc>
                        <a:spcBef>
                          <a:spcPts val="315"/>
                        </a:spcBef>
                      </a:pPr>
                      <a:r>
                        <a:rPr sz="1800" spc="-5" dirty="0">
                          <a:latin typeface="Arial MT"/>
                          <a:cs typeface="Arial MT"/>
                        </a:rPr>
                        <a:t>Destructor</a:t>
                      </a:r>
                      <a:endParaRPr sz="1800">
                        <a:latin typeface="Arial MT"/>
                        <a:cs typeface="Arial MT"/>
                      </a:endParaRPr>
                    </a:p>
                  </a:txBody>
                  <a:tcPr marL="0" marR="0" marT="40005" marB="0">
                    <a:lnT w="12700">
                      <a:solidFill>
                        <a:srgbClr val="3A812E"/>
                      </a:solidFill>
                      <a:prstDash val="solid"/>
                    </a:lnT>
                    <a:lnB w="12700">
                      <a:solidFill>
                        <a:srgbClr val="3A812E"/>
                      </a:solidFill>
                      <a:prstDash val="solid"/>
                    </a:lnB>
                  </a:tcPr>
                </a:tc>
                <a:extLst>
                  <a:ext uri="{0D108BD9-81ED-4DB2-BD59-A6C34878D82A}">
                    <a16:rowId xmlns:a16="http://schemas.microsoft.com/office/drawing/2014/main" val="10000"/>
                  </a:ext>
                </a:extLst>
              </a:tr>
              <a:tr h="4206265">
                <a:tc>
                  <a:txBody>
                    <a:bodyPr/>
                    <a:lstStyle/>
                    <a:p>
                      <a:pPr marL="434340" indent="-342900">
                        <a:lnSpc>
                          <a:spcPct val="100000"/>
                        </a:lnSpc>
                        <a:spcBef>
                          <a:spcPts val="315"/>
                        </a:spcBef>
                        <a:buAutoNum type="arabicPeriod"/>
                        <a:tabLst>
                          <a:tab pos="433705" algn="l"/>
                          <a:tab pos="434340" algn="l"/>
                        </a:tabLst>
                      </a:pPr>
                      <a:r>
                        <a:rPr sz="1800" dirty="0">
                          <a:latin typeface="Arial MT"/>
                          <a:cs typeface="Arial MT"/>
                        </a:rPr>
                        <a:t>It</a:t>
                      </a:r>
                      <a:r>
                        <a:rPr sz="1800" spc="-15" dirty="0">
                          <a:latin typeface="Arial MT"/>
                          <a:cs typeface="Arial MT"/>
                        </a:rPr>
                        <a:t> </a:t>
                      </a:r>
                      <a:r>
                        <a:rPr sz="1800" spc="-5" dirty="0">
                          <a:latin typeface="Arial MT"/>
                          <a:cs typeface="Arial MT"/>
                        </a:rPr>
                        <a:t>helps</a:t>
                      </a:r>
                      <a:r>
                        <a:rPr sz="1800" spc="5" dirty="0">
                          <a:latin typeface="Arial MT"/>
                          <a:cs typeface="Arial MT"/>
                        </a:rPr>
                        <a:t> </a:t>
                      </a:r>
                      <a:r>
                        <a:rPr sz="1800" spc="-5" dirty="0">
                          <a:latin typeface="Arial MT"/>
                          <a:cs typeface="Arial MT"/>
                        </a:rPr>
                        <a:t>allocate</a:t>
                      </a:r>
                      <a:r>
                        <a:rPr sz="1800" dirty="0">
                          <a:latin typeface="Arial MT"/>
                          <a:cs typeface="Arial MT"/>
                        </a:rPr>
                        <a:t> </a:t>
                      </a:r>
                      <a:r>
                        <a:rPr sz="1800" spc="-5" dirty="0">
                          <a:latin typeface="Arial MT"/>
                          <a:cs typeface="Arial MT"/>
                        </a:rPr>
                        <a:t>memory</a:t>
                      </a:r>
                      <a:r>
                        <a:rPr sz="1800" spc="5" dirty="0">
                          <a:latin typeface="Arial MT"/>
                          <a:cs typeface="Arial MT"/>
                        </a:rPr>
                        <a:t> </a:t>
                      </a:r>
                      <a:r>
                        <a:rPr sz="1800" spc="-5" dirty="0">
                          <a:latin typeface="Arial MT"/>
                          <a:cs typeface="Arial MT"/>
                        </a:rPr>
                        <a:t>to</a:t>
                      </a:r>
                      <a:r>
                        <a:rPr sz="1800" spc="-20" dirty="0">
                          <a:latin typeface="Arial MT"/>
                          <a:cs typeface="Arial MT"/>
                        </a:rPr>
                        <a:t> </a:t>
                      </a:r>
                      <a:r>
                        <a:rPr sz="1800" spc="-5" dirty="0">
                          <a:latin typeface="Arial MT"/>
                          <a:cs typeface="Arial MT"/>
                        </a:rPr>
                        <a:t>an</a:t>
                      </a:r>
                      <a:endParaRPr sz="1800">
                        <a:latin typeface="Arial MT"/>
                        <a:cs typeface="Arial MT"/>
                      </a:endParaRPr>
                    </a:p>
                    <a:p>
                      <a:pPr marL="434340">
                        <a:lnSpc>
                          <a:spcPct val="100000"/>
                        </a:lnSpc>
                      </a:pPr>
                      <a:r>
                        <a:rPr sz="1800" spc="-5" dirty="0">
                          <a:latin typeface="Arial MT"/>
                          <a:cs typeface="Arial MT"/>
                        </a:rPr>
                        <a:t>object.</a:t>
                      </a:r>
                      <a:endParaRPr sz="1800">
                        <a:latin typeface="Arial MT"/>
                        <a:cs typeface="Arial MT"/>
                      </a:endParaRPr>
                    </a:p>
                    <a:p>
                      <a:pPr marL="434340" indent="-342900">
                        <a:lnSpc>
                          <a:spcPct val="100000"/>
                        </a:lnSpc>
                        <a:buAutoNum type="arabicPeriod" startAt="2"/>
                        <a:tabLst>
                          <a:tab pos="433705" algn="l"/>
                          <a:tab pos="434340" algn="l"/>
                        </a:tabLst>
                      </a:pPr>
                      <a:r>
                        <a:rPr sz="1800" dirty="0">
                          <a:latin typeface="Arial MT"/>
                          <a:cs typeface="Arial MT"/>
                        </a:rPr>
                        <a:t>It</a:t>
                      </a:r>
                      <a:r>
                        <a:rPr sz="1800" spc="-20" dirty="0">
                          <a:latin typeface="Arial MT"/>
                          <a:cs typeface="Arial MT"/>
                        </a:rPr>
                        <a:t> </a:t>
                      </a:r>
                      <a:r>
                        <a:rPr sz="1800" spc="-5" dirty="0">
                          <a:latin typeface="Arial MT"/>
                          <a:cs typeface="Arial MT"/>
                        </a:rPr>
                        <a:t>can</a:t>
                      </a:r>
                      <a:r>
                        <a:rPr sz="1800" spc="-20" dirty="0">
                          <a:latin typeface="Arial MT"/>
                          <a:cs typeface="Arial MT"/>
                        </a:rPr>
                        <a:t> </a:t>
                      </a:r>
                      <a:r>
                        <a:rPr sz="1800" dirty="0">
                          <a:latin typeface="Arial MT"/>
                          <a:cs typeface="Arial MT"/>
                        </a:rPr>
                        <a:t>take</a:t>
                      </a:r>
                      <a:r>
                        <a:rPr sz="1800" spc="-25" dirty="0">
                          <a:latin typeface="Arial MT"/>
                          <a:cs typeface="Arial MT"/>
                        </a:rPr>
                        <a:t> </a:t>
                      </a:r>
                      <a:r>
                        <a:rPr sz="1800" spc="-5" dirty="0">
                          <a:latin typeface="Arial MT"/>
                          <a:cs typeface="Arial MT"/>
                        </a:rPr>
                        <a:t>arguments.</a:t>
                      </a:r>
                      <a:endParaRPr sz="1800">
                        <a:latin typeface="Arial MT"/>
                        <a:cs typeface="Arial MT"/>
                      </a:endParaRPr>
                    </a:p>
                    <a:p>
                      <a:pPr marL="434340" marR="296545" indent="-342900">
                        <a:lnSpc>
                          <a:spcPct val="100000"/>
                        </a:lnSpc>
                        <a:buAutoNum type="arabicPeriod" startAt="2"/>
                        <a:tabLst>
                          <a:tab pos="433705" algn="l"/>
                          <a:tab pos="434340" algn="l"/>
                        </a:tabLst>
                      </a:pPr>
                      <a:r>
                        <a:rPr sz="1800" dirty="0">
                          <a:latin typeface="Arial MT"/>
                          <a:cs typeface="Arial MT"/>
                        </a:rPr>
                        <a:t>It</a:t>
                      </a:r>
                      <a:r>
                        <a:rPr sz="1800" spc="-15" dirty="0">
                          <a:latin typeface="Arial MT"/>
                          <a:cs typeface="Arial MT"/>
                        </a:rPr>
                        <a:t> </a:t>
                      </a:r>
                      <a:r>
                        <a:rPr sz="1800" spc="-5" dirty="0">
                          <a:latin typeface="Arial MT"/>
                          <a:cs typeface="Arial MT"/>
                        </a:rPr>
                        <a:t>is called</a:t>
                      </a:r>
                      <a:r>
                        <a:rPr sz="1800" dirty="0">
                          <a:latin typeface="Arial MT"/>
                          <a:cs typeface="Arial MT"/>
                        </a:rPr>
                        <a:t> </a:t>
                      </a:r>
                      <a:r>
                        <a:rPr sz="1800" spc="-5" dirty="0">
                          <a:latin typeface="Arial MT"/>
                          <a:cs typeface="Arial MT"/>
                        </a:rPr>
                        <a:t>automatically</a:t>
                      </a:r>
                      <a:r>
                        <a:rPr sz="1800" spc="15" dirty="0">
                          <a:latin typeface="Arial MT"/>
                          <a:cs typeface="Arial MT"/>
                        </a:rPr>
                        <a:t> </a:t>
                      </a:r>
                      <a:r>
                        <a:rPr sz="1800" spc="-15" dirty="0">
                          <a:latin typeface="Arial MT"/>
                          <a:cs typeface="Arial MT"/>
                        </a:rPr>
                        <a:t>when</a:t>
                      </a:r>
                      <a:r>
                        <a:rPr sz="1800" spc="40" dirty="0">
                          <a:latin typeface="Arial MT"/>
                          <a:cs typeface="Arial MT"/>
                        </a:rPr>
                        <a:t> </a:t>
                      </a:r>
                      <a:r>
                        <a:rPr sz="1800" spc="-5" dirty="0">
                          <a:latin typeface="Arial MT"/>
                          <a:cs typeface="Arial MT"/>
                        </a:rPr>
                        <a:t>an </a:t>
                      </a:r>
                      <a:r>
                        <a:rPr sz="1800" spc="-484" dirty="0">
                          <a:latin typeface="Arial MT"/>
                          <a:cs typeface="Arial MT"/>
                        </a:rPr>
                        <a:t> </a:t>
                      </a:r>
                      <a:r>
                        <a:rPr sz="1800" spc="-5" dirty="0">
                          <a:latin typeface="Arial MT"/>
                          <a:cs typeface="Arial MT"/>
                        </a:rPr>
                        <a:t>object</a:t>
                      </a:r>
                      <a:r>
                        <a:rPr sz="1800" spc="10" dirty="0">
                          <a:latin typeface="Arial MT"/>
                          <a:cs typeface="Arial MT"/>
                        </a:rPr>
                        <a:t> </a:t>
                      </a:r>
                      <a:r>
                        <a:rPr sz="1800" spc="-5" dirty="0">
                          <a:latin typeface="Arial MT"/>
                          <a:cs typeface="Arial MT"/>
                        </a:rPr>
                        <a:t>is</a:t>
                      </a:r>
                      <a:r>
                        <a:rPr sz="1800" dirty="0">
                          <a:latin typeface="Arial MT"/>
                          <a:cs typeface="Arial MT"/>
                        </a:rPr>
                        <a:t> </a:t>
                      </a:r>
                      <a:r>
                        <a:rPr sz="1800" spc="-5" dirty="0">
                          <a:latin typeface="Arial MT"/>
                          <a:cs typeface="Arial MT"/>
                        </a:rPr>
                        <a:t>created.</a:t>
                      </a:r>
                      <a:endParaRPr sz="1800">
                        <a:latin typeface="Arial MT"/>
                        <a:cs typeface="Arial MT"/>
                      </a:endParaRPr>
                    </a:p>
                    <a:p>
                      <a:pPr marL="434340" marR="499745" indent="-342900">
                        <a:lnSpc>
                          <a:spcPct val="100000"/>
                        </a:lnSpc>
                        <a:buAutoNum type="arabicPeriod" startAt="2"/>
                        <a:tabLst>
                          <a:tab pos="433705" algn="l"/>
                          <a:tab pos="434340" algn="l"/>
                        </a:tabLst>
                      </a:pPr>
                      <a:r>
                        <a:rPr sz="1800" dirty="0">
                          <a:latin typeface="Arial MT"/>
                          <a:cs typeface="Arial MT"/>
                        </a:rPr>
                        <a:t>It</a:t>
                      </a:r>
                      <a:r>
                        <a:rPr sz="1800" spc="-10" dirty="0">
                          <a:latin typeface="Arial MT"/>
                          <a:cs typeface="Arial MT"/>
                        </a:rPr>
                        <a:t> </a:t>
                      </a:r>
                      <a:r>
                        <a:rPr sz="1800" spc="-15" dirty="0">
                          <a:latin typeface="Arial MT"/>
                          <a:cs typeface="Arial MT"/>
                        </a:rPr>
                        <a:t>allows</a:t>
                      </a:r>
                      <a:r>
                        <a:rPr sz="1800" spc="45" dirty="0">
                          <a:latin typeface="Arial MT"/>
                          <a:cs typeface="Arial MT"/>
                        </a:rPr>
                        <a:t> </a:t>
                      </a:r>
                      <a:r>
                        <a:rPr sz="1800" spc="-5" dirty="0">
                          <a:latin typeface="Arial MT"/>
                          <a:cs typeface="Arial MT"/>
                        </a:rPr>
                        <a:t>an</a:t>
                      </a:r>
                      <a:r>
                        <a:rPr sz="1800" dirty="0">
                          <a:latin typeface="Arial MT"/>
                          <a:cs typeface="Arial MT"/>
                        </a:rPr>
                        <a:t> </a:t>
                      </a:r>
                      <a:r>
                        <a:rPr sz="1800" spc="-5" dirty="0">
                          <a:latin typeface="Arial MT"/>
                          <a:cs typeface="Arial MT"/>
                        </a:rPr>
                        <a:t>object</a:t>
                      </a:r>
                      <a:r>
                        <a:rPr sz="1800" dirty="0">
                          <a:latin typeface="Arial MT"/>
                          <a:cs typeface="Arial MT"/>
                        </a:rPr>
                        <a:t> to</a:t>
                      </a:r>
                      <a:r>
                        <a:rPr sz="1800" spc="-5" dirty="0">
                          <a:latin typeface="Arial MT"/>
                          <a:cs typeface="Arial MT"/>
                        </a:rPr>
                        <a:t> initialize</a:t>
                      </a:r>
                      <a:r>
                        <a:rPr sz="1800" spc="15" dirty="0">
                          <a:latin typeface="Arial MT"/>
                          <a:cs typeface="Arial MT"/>
                        </a:rPr>
                        <a:t> </a:t>
                      </a:r>
                      <a:r>
                        <a:rPr sz="1800" spc="-5" dirty="0">
                          <a:latin typeface="Arial MT"/>
                          <a:cs typeface="Arial MT"/>
                        </a:rPr>
                        <a:t>a </a:t>
                      </a:r>
                      <a:r>
                        <a:rPr sz="1800" spc="-484" dirty="0">
                          <a:latin typeface="Arial MT"/>
                          <a:cs typeface="Arial MT"/>
                        </a:rPr>
                        <a:t> </a:t>
                      </a:r>
                      <a:r>
                        <a:rPr sz="1800" spc="-5" dirty="0">
                          <a:latin typeface="Arial MT"/>
                          <a:cs typeface="Arial MT"/>
                        </a:rPr>
                        <a:t>value</a:t>
                      </a:r>
                      <a:r>
                        <a:rPr sz="1800" dirty="0">
                          <a:latin typeface="Arial MT"/>
                          <a:cs typeface="Arial MT"/>
                        </a:rPr>
                        <a:t> </a:t>
                      </a:r>
                      <a:r>
                        <a:rPr sz="1800" spc="-5" dirty="0">
                          <a:latin typeface="Arial MT"/>
                          <a:cs typeface="Arial MT"/>
                        </a:rPr>
                        <a:t>before</a:t>
                      </a:r>
                      <a:r>
                        <a:rPr sz="1800" spc="5" dirty="0">
                          <a:latin typeface="Arial MT"/>
                          <a:cs typeface="Arial MT"/>
                        </a:rPr>
                        <a:t> </a:t>
                      </a:r>
                      <a:r>
                        <a:rPr sz="1800" dirty="0">
                          <a:latin typeface="Arial MT"/>
                          <a:cs typeface="Arial MT"/>
                        </a:rPr>
                        <a:t>it</a:t>
                      </a:r>
                      <a:r>
                        <a:rPr sz="1800" spc="-15" dirty="0">
                          <a:latin typeface="Arial MT"/>
                          <a:cs typeface="Arial MT"/>
                        </a:rPr>
                        <a:t> </a:t>
                      </a:r>
                      <a:r>
                        <a:rPr sz="1800" spc="-5" dirty="0">
                          <a:latin typeface="Arial MT"/>
                          <a:cs typeface="Arial MT"/>
                        </a:rPr>
                        <a:t>is</a:t>
                      </a:r>
                      <a:r>
                        <a:rPr sz="1800" dirty="0">
                          <a:latin typeface="Arial MT"/>
                          <a:cs typeface="Arial MT"/>
                        </a:rPr>
                        <a:t> </a:t>
                      </a:r>
                      <a:r>
                        <a:rPr sz="1800" spc="-5" dirty="0">
                          <a:latin typeface="Arial MT"/>
                          <a:cs typeface="Arial MT"/>
                        </a:rPr>
                        <a:t>used.</a:t>
                      </a:r>
                      <a:endParaRPr sz="1800">
                        <a:latin typeface="Arial MT"/>
                        <a:cs typeface="Arial MT"/>
                      </a:endParaRPr>
                    </a:p>
                    <a:p>
                      <a:pPr marL="434340" marR="271780" indent="-342900">
                        <a:lnSpc>
                          <a:spcPct val="100000"/>
                        </a:lnSpc>
                        <a:spcBef>
                          <a:spcPts val="5"/>
                        </a:spcBef>
                        <a:buAutoNum type="arabicPeriod" startAt="2"/>
                        <a:tabLst>
                          <a:tab pos="433705" algn="l"/>
                          <a:tab pos="434340" algn="l"/>
                        </a:tabLst>
                      </a:pPr>
                      <a:r>
                        <a:rPr sz="1800" spc="-5" dirty="0">
                          <a:latin typeface="Arial MT"/>
                          <a:cs typeface="Arial MT"/>
                        </a:rPr>
                        <a:t>They</a:t>
                      </a:r>
                      <a:r>
                        <a:rPr sz="1800" spc="-10" dirty="0">
                          <a:latin typeface="Arial MT"/>
                          <a:cs typeface="Arial MT"/>
                        </a:rPr>
                        <a:t> </a:t>
                      </a:r>
                      <a:r>
                        <a:rPr sz="1800" spc="-5" dirty="0">
                          <a:latin typeface="Arial MT"/>
                          <a:cs typeface="Arial MT"/>
                        </a:rPr>
                        <a:t>are</a:t>
                      </a:r>
                      <a:r>
                        <a:rPr sz="1800" spc="-10" dirty="0">
                          <a:latin typeface="Arial MT"/>
                          <a:cs typeface="Arial MT"/>
                        </a:rPr>
                        <a:t> </a:t>
                      </a:r>
                      <a:r>
                        <a:rPr sz="1800" spc="-5" dirty="0">
                          <a:latin typeface="Arial MT"/>
                          <a:cs typeface="Arial MT"/>
                        </a:rPr>
                        <a:t>called</a:t>
                      </a:r>
                      <a:r>
                        <a:rPr sz="1800" spc="15" dirty="0">
                          <a:latin typeface="Arial MT"/>
                          <a:cs typeface="Arial MT"/>
                        </a:rPr>
                        <a:t> </a:t>
                      </a:r>
                      <a:r>
                        <a:rPr sz="1800" spc="-5" dirty="0">
                          <a:latin typeface="Arial MT"/>
                          <a:cs typeface="Arial MT"/>
                        </a:rPr>
                        <a:t>in</a:t>
                      </a:r>
                      <a:r>
                        <a:rPr sz="1800" spc="-10" dirty="0">
                          <a:latin typeface="Arial MT"/>
                          <a:cs typeface="Arial MT"/>
                        </a:rPr>
                        <a:t> </a:t>
                      </a:r>
                      <a:r>
                        <a:rPr sz="1800" dirty="0">
                          <a:latin typeface="Arial MT"/>
                          <a:cs typeface="Arial MT"/>
                        </a:rPr>
                        <a:t>the</a:t>
                      </a:r>
                      <a:r>
                        <a:rPr sz="1800" spc="-5" dirty="0">
                          <a:latin typeface="Arial MT"/>
                          <a:cs typeface="Arial MT"/>
                        </a:rPr>
                        <a:t> successive </a:t>
                      </a:r>
                      <a:r>
                        <a:rPr sz="1800" spc="-484" dirty="0">
                          <a:latin typeface="Arial MT"/>
                          <a:cs typeface="Arial MT"/>
                        </a:rPr>
                        <a:t> </a:t>
                      </a:r>
                      <a:r>
                        <a:rPr sz="1800" spc="-5" dirty="0">
                          <a:latin typeface="Arial MT"/>
                          <a:cs typeface="Arial MT"/>
                        </a:rPr>
                        <a:t>order</a:t>
                      </a:r>
                      <a:r>
                        <a:rPr sz="1800" dirty="0">
                          <a:latin typeface="Arial MT"/>
                          <a:cs typeface="Arial MT"/>
                        </a:rPr>
                        <a:t> of</a:t>
                      </a:r>
                      <a:r>
                        <a:rPr sz="1800" spc="-10" dirty="0">
                          <a:latin typeface="Arial MT"/>
                          <a:cs typeface="Arial MT"/>
                        </a:rPr>
                        <a:t> </a:t>
                      </a:r>
                      <a:r>
                        <a:rPr sz="1800" spc="-5" dirty="0">
                          <a:latin typeface="Arial MT"/>
                          <a:cs typeface="Arial MT"/>
                        </a:rPr>
                        <a:t>their</a:t>
                      </a:r>
                      <a:r>
                        <a:rPr sz="1800" spc="5" dirty="0">
                          <a:latin typeface="Arial MT"/>
                          <a:cs typeface="Arial MT"/>
                        </a:rPr>
                        <a:t> </a:t>
                      </a:r>
                      <a:r>
                        <a:rPr sz="1800" spc="-5" dirty="0">
                          <a:latin typeface="Arial MT"/>
                          <a:cs typeface="Arial MT"/>
                        </a:rPr>
                        <a:t>creation.</a:t>
                      </a:r>
                      <a:endParaRPr sz="1800">
                        <a:latin typeface="Arial MT"/>
                        <a:cs typeface="Arial MT"/>
                      </a:endParaRPr>
                    </a:p>
                    <a:p>
                      <a:pPr marL="434340" marR="132080" indent="-342900">
                        <a:lnSpc>
                          <a:spcPct val="100000"/>
                        </a:lnSpc>
                        <a:buAutoNum type="arabicPeriod" startAt="2"/>
                        <a:tabLst>
                          <a:tab pos="433705" algn="l"/>
                          <a:tab pos="434340" algn="l"/>
                        </a:tabLst>
                      </a:pPr>
                      <a:r>
                        <a:rPr sz="1800" spc="-5" dirty="0">
                          <a:latin typeface="Arial MT"/>
                          <a:cs typeface="Arial MT"/>
                        </a:rPr>
                        <a:t>There</a:t>
                      </a:r>
                      <a:r>
                        <a:rPr sz="1800" spc="-10" dirty="0">
                          <a:latin typeface="Arial MT"/>
                          <a:cs typeface="Arial MT"/>
                        </a:rPr>
                        <a:t> </a:t>
                      </a:r>
                      <a:r>
                        <a:rPr sz="1800" spc="-5" dirty="0">
                          <a:latin typeface="Arial MT"/>
                          <a:cs typeface="Arial MT"/>
                        </a:rPr>
                        <a:t>can</a:t>
                      </a:r>
                      <a:r>
                        <a:rPr sz="1800" spc="10" dirty="0">
                          <a:latin typeface="Arial MT"/>
                          <a:cs typeface="Arial MT"/>
                        </a:rPr>
                        <a:t> </a:t>
                      </a:r>
                      <a:r>
                        <a:rPr sz="1800" spc="-5" dirty="0">
                          <a:latin typeface="Arial MT"/>
                          <a:cs typeface="Arial MT"/>
                        </a:rPr>
                        <a:t>be multiple</a:t>
                      </a:r>
                      <a:r>
                        <a:rPr sz="1800" spc="15" dirty="0">
                          <a:latin typeface="Arial MT"/>
                          <a:cs typeface="Arial MT"/>
                        </a:rPr>
                        <a:t> </a:t>
                      </a:r>
                      <a:r>
                        <a:rPr sz="1800" spc="-5" dirty="0">
                          <a:latin typeface="Arial MT"/>
                          <a:cs typeface="Arial MT"/>
                        </a:rPr>
                        <a:t>constructors </a:t>
                      </a:r>
                      <a:r>
                        <a:rPr sz="1800" spc="-484" dirty="0">
                          <a:latin typeface="Arial MT"/>
                          <a:cs typeface="Arial MT"/>
                        </a:rPr>
                        <a:t> </a:t>
                      </a:r>
                      <a:r>
                        <a:rPr sz="1800" spc="-5" dirty="0">
                          <a:latin typeface="Arial MT"/>
                          <a:cs typeface="Arial MT"/>
                        </a:rPr>
                        <a:t>in</a:t>
                      </a:r>
                      <a:r>
                        <a:rPr sz="1800" spc="-15" dirty="0">
                          <a:latin typeface="Arial MT"/>
                          <a:cs typeface="Arial MT"/>
                        </a:rPr>
                        <a:t> </a:t>
                      </a:r>
                      <a:r>
                        <a:rPr sz="1800" spc="-5" dirty="0">
                          <a:latin typeface="Arial MT"/>
                          <a:cs typeface="Arial MT"/>
                        </a:rPr>
                        <a:t>a</a:t>
                      </a:r>
                      <a:r>
                        <a:rPr sz="1800" dirty="0">
                          <a:latin typeface="Arial MT"/>
                          <a:cs typeface="Arial MT"/>
                        </a:rPr>
                        <a:t> </a:t>
                      </a:r>
                      <a:r>
                        <a:rPr sz="1800" spc="-5" dirty="0">
                          <a:latin typeface="Arial MT"/>
                          <a:cs typeface="Arial MT"/>
                        </a:rPr>
                        <a:t>single</a:t>
                      </a:r>
                      <a:r>
                        <a:rPr sz="1800" spc="15" dirty="0">
                          <a:latin typeface="Arial MT"/>
                          <a:cs typeface="Arial MT"/>
                        </a:rPr>
                        <a:t> </a:t>
                      </a:r>
                      <a:r>
                        <a:rPr sz="1800" spc="-5" dirty="0">
                          <a:latin typeface="Arial MT"/>
                          <a:cs typeface="Arial MT"/>
                        </a:rPr>
                        <a:t>class.</a:t>
                      </a:r>
                      <a:endParaRPr sz="1800">
                        <a:latin typeface="Arial MT"/>
                        <a:cs typeface="Arial MT"/>
                      </a:endParaRPr>
                    </a:p>
                    <a:p>
                      <a:pPr marL="434340" marR="120650" indent="-342900">
                        <a:lnSpc>
                          <a:spcPct val="100000"/>
                        </a:lnSpc>
                        <a:buAutoNum type="arabicPeriod" startAt="2"/>
                        <a:tabLst>
                          <a:tab pos="433705" algn="l"/>
                          <a:tab pos="434340" algn="l"/>
                        </a:tabLst>
                      </a:pPr>
                      <a:r>
                        <a:rPr sz="1800" dirty="0">
                          <a:latin typeface="Arial MT"/>
                          <a:cs typeface="Arial MT"/>
                        </a:rPr>
                        <a:t>The</a:t>
                      </a:r>
                      <a:r>
                        <a:rPr sz="1800" spc="-25" dirty="0">
                          <a:latin typeface="Arial MT"/>
                          <a:cs typeface="Arial MT"/>
                        </a:rPr>
                        <a:t> </a:t>
                      </a:r>
                      <a:r>
                        <a:rPr sz="1800" spc="-5" dirty="0">
                          <a:latin typeface="Arial MT"/>
                          <a:cs typeface="Arial MT"/>
                        </a:rPr>
                        <a:t>copy</a:t>
                      </a:r>
                      <a:r>
                        <a:rPr sz="1800" dirty="0">
                          <a:latin typeface="Arial MT"/>
                          <a:cs typeface="Arial MT"/>
                        </a:rPr>
                        <a:t> </a:t>
                      </a:r>
                      <a:r>
                        <a:rPr sz="1800" spc="-5" dirty="0">
                          <a:latin typeface="Arial MT"/>
                          <a:cs typeface="Arial MT"/>
                        </a:rPr>
                        <a:t>constructor</a:t>
                      </a:r>
                      <a:r>
                        <a:rPr sz="1800" spc="10" dirty="0">
                          <a:latin typeface="Arial MT"/>
                          <a:cs typeface="Arial MT"/>
                        </a:rPr>
                        <a:t> </a:t>
                      </a:r>
                      <a:r>
                        <a:rPr sz="1800" spc="-15" dirty="0">
                          <a:latin typeface="Arial MT"/>
                          <a:cs typeface="Arial MT"/>
                        </a:rPr>
                        <a:t>allows</a:t>
                      </a:r>
                      <a:r>
                        <a:rPr sz="1800" spc="50" dirty="0">
                          <a:latin typeface="Arial MT"/>
                          <a:cs typeface="Arial MT"/>
                        </a:rPr>
                        <a:t> </a:t>
                      </a:r>
                      <a:r>
                        <a:rPr sz="1800" dirty="0">
                          <a:latin typeface="Arial MT"/>
                          <a:cs typeface="Arial MT"/>
                        </a:rPr>
                        <a:t>the </a:t>
                      </a:r>
                      <a:r>
                        <a:rPr sz="1800" spc="5" dirty="0">
                          <a:latin typeface="Arial MT"/>
                          <a:cs typeface="Arial MT"/>
                        </a:rPr>
                        <a:t> </a:t>
                      </a:r>
                      <a:r>
                        <a:rPr sz="1800" spc="-5" dirty="0">
                          <a:latin typeface="Arial MT"/>
                          <a:cs typeface="Arial MT"/>
                        </a:rPr>
                        <a:t>constructor</a:t>
                      </a:r>
                      <a:r>
                        <a:rPr sz="1800" spc="-10" dirty="0">
                          <a:latin typeface="Arial MT"/>
                          <a:cs typeface="Arial MT"/>
                        </a:rPr>
                        <a:t> </a:t>
                      </a:r>
                      <a:r>
                        <a:rPr sz="1800" dirty="0">
                          <a:latin typeface="Arial MT"/>
                          <a:cs typeface="Arial MT"/>
                        </a:rPr>
                        <a:t>to</a:t>
                      </a:r>
                      <a:r>
                        <a:rPr sz="1800" spc="-5" dirty="0">
                          <a:latin typeface="Arial MT"/>
                          <a:cs typeface="Arial MT"/>
                        </a:rPr>
                        <a:t> declare</a:t>
                      </a:r>
                      <a:r>
                        <a:rPr sz="1800" dirty="0">
                          <a:latin typeface="Arial MT"/>
                          <a:cs typeface="Arial MT"/>
                        </a:rPr>
                        <a:t> </a:t>
                      </a:r>
                      <a:r>
                        <a:rPr sz="1800" spc="-10" dirty="0">
                          <a:latin typeface="Arial MT"/>
                          <a:cs typeface="Arial MT"/>
                        </a:rPr>
                        <a:t>and</a:t>
                      </a:r>
                      <a:r>
                        <a:rPr sz="1800" dirty="0">
                          <a:latin typeface="Arial MT"/>
                          <a:cs typeface="Arial MT"/>
                        </a:rPr>
                        <a:t> </a:t>
                      </a:r>
                      <a:r>
                        <a:rPr sz="1800" spc="-5" dirty="0">
                          <a:latin typeface="Arial MT"/>
                          <a:cs typeface="Arial MT"/>
                        </a:rPr>
                        <a:t>initialize </a:t>
                      </a:r>
                      <a:r>
                        <a:rPr sz="1800" spc="-484" dirty="0">
                          <a:latin typeface="Arial MT"/>
                          <a:cs typeface="Arial MT"/>
                        </a:rPr>
                        <a:t> </a:t>
                      </a:r>
                      <a:r>
                        <a:rPr sz="1800" spc="-5" dirty="0">
                          <a:latin typeface="Arial MT"/>
                          <a:cs typeface="Arial MT"/>
                        </a:rPr>
                        <a:t>an</a:t>
                      </a:r>
                      <a:r>
                        <a:rPr sz="1800" spc="-15" dirty="0">
                          <a:latin typeface="Arial MT"/>
                          <a:cs typeface="Arial MT"/>
                        </a:rPr>
                        <a:t> </a:t>
                      </a:r>
                      <a:r>
                        <a:rPr sz="1800" spc="-5" dirty="0">
                          <a:latin typeface="Arial MT"/>
                          <a:cs typeface="Arial MT"/>
                        </a:rPr>
                        <a:t>object</a:t>
                      </a:r>
                      <a:r>
                        <a:rPr sz="1800" spc="10" dirty="0">
                          <a:latin typeface="Arial MT"/>
                          <a:cs typeface="Arial MT"/>
                        </a:rPr>
                        <a:t> </a:t>
                      </a:r>
                      <a:r>
                        <a:rPr sz="1800" dirty="0">
                          <a:latin typeface="Arial MT"/>
                          <a:cs typeface="Arial MT"/>
                        </a:rPr>
                        <a:t>from</a:t>
                      </a:r>
                      <a:r>
                        <a:rPr sz="1800" spc="-5" dirty="0">
                          <a:latin typeface="Arial MT"/>
                          <a:cs typeface="Arial MT"/>
                        </a:rPr>
                        <a:t> another</a:t>
                      </a:r>
                      <a:r>
                        <a:rPr sz="1800" dirty="0">
                          <a:latin typeface="Arial MT"/>
                          <a:cs typeface="Arial MT"/>
                        </a:rPr>
                        <a:t> </a:t>
                      </a:r>
                      <a:r>
                        <a:rPr sz="1800" spc="-5" dirty="0">
                          <a:latin typeface="Arial MT"/>
                          <a:cs typeface="Arial MT"/>
                        </a:rPr>
                        <a:t>object.</a:t>
                      </a:r>
                      <a:endParaRPr sz="1800">
                        <a:latin typeface="Arial MT"/>
                        <a:cs typeface="Arial MT"/>
                      </a:endParaRPr>
                    </a:p>
                    <a:p>
                      <a:pPr marL="434340" indent="-342900">
                        <a:lnSpc>
                          <a:spcPct val="100000"/>
                        </a:lnSpc>
                        <a:buAutoNum type="arabicPeriod" startAt="2"/>
                        <a:tabLst>
                          <a:tab pos="433705" algn="l"/>
                          <a:tab pos="434340" algn="l"/>
                        </a:tabLst>
                      </a:pPr>
                      <a:r>
                        <a:rPr sz="1800" dirty="0">
                          <a:latin typeface="Arial MT"/>
                          <a:cs typeface="Arial MT"/>
                        </a:rPr>
                        <a:t>It</a:t>
                      </a:r>
                      <a:r>
                        <a:rPr sz="1800" spc="-20" dirty="0">
                          <a:latin typeface="Arial MT"/>
                          <a:cs typeface="Arial MT"/>
                        </a:rPr>
                        <a:t> </a:t>
                      </a:r>
                      <a:r>
                        <a:rPr sz="1800" spc="-5" dirty="0">
                          <a:latin typeface="Arial MT"/>
                          <a:cs typeface="Arial MT"/>
                        </a:rPr>
                        <a:t>can</a:t>
                      </a:r>
                      <a:r>
                        <a:rPr sz="1800" spc="-25" dirty="0">
                          <a:latin typeface="Arial MT"/>
                          <a:cs typeface="Arial MT"/>
                        </a:rPr>
                        <a:t> </a:t>
                      </a:r>
                      <a:r>
                        <a:rPr sz="1800" spc="-5" dirty="0">
                          <a:latin typeface="Arial MT"/>
                          <a:cs typeface="Arial MT"/>
                        </a:rPr>
                        <a:t>be</a:t>
                      </a:r>
                      <a:r>
                        <a:rPr sz="1800" spc="-10" dirty="0">
                          <a:latin typeface="Arial MT"/>
                          <a:cs typeface="Arial MT"/>
                        </a:rPr>
                        <a:t> </a:t>
                      </a:r>
                      <a:r>
                        <a:rPr sz="1800" spc="-5" dirty="0">
                          <a:latin typeface="Arial MT"/>
                          <a:cs typeface="Arial MT"/>
                        </a:rPr>
                        <a:t>overloaded.</a:t>
                      </a:r>
                      <a:endParaRPr sz="1800">
                        <a:latin typeface="Arial MT"/>
                        <a:cs typeface="Arial MT"/>
                      </a:endParaRPr>
                    </a:p>
                  </a:txBody>
                  <a:tcPr marL="0" marR="0" marT="40005" marB="0">
                    <a:lnT w="12700">
                      <a:solidFill>
                        <a:srgbClr val="3A812E"/>
                      </a:solidFill>
                      <a:prstDash val="solid"/>
                    </a:lnT>
                    <a:lnB w="12700">
                      <a:solidFill>
                        <a:srgbClr val="3A812E"/>
                      </a:solidFill>
                      <a:prstDash val="solid"/>
                    </a:lnB>
                    <a:solidFill>
                      <a:srgbClr val="D7E5D5"/>
                    </a:solidFill>
                  </a:tcPr>
                </a:tc>
                <a:tc>
                  <a:txBody>
                    <a:bodyPr/>
                    <a:lstStyle/>
                    <a:p>
                      <a:pPr marL="471170" indent="-343535">
                        <a:lnSpc>
                          <a:spcPct val="100000"/>
                        </a:lnSpc>
                        <a:spcBef>
                          <a:spcPts val="315"/>
                        </a:spcBef>
                        <a:buAutoNum type="arabicPeriod"/>
                        <a:tabLst>
                          <a:tab pos="471170" algn="l"/>
                          <a:tab pos="471805" algn="l"/>
                        </a:tabLst>
                      </a:pPr>
                      <a:r>
                        <a:rPr sz="1800" dirty="0">
                          <a:latin typeface="Arial MT"/>
                          <a:cs typeface="Arial MT"/>
                        </a:rPr>
                        <a:t>It</a:t>
                      </a:r>
                      <a:r>
                        <a:rPr sz="1800" spc="-10" dirty="0">
                          <a:latin typeface="Arial MT"/>
                          <a:cs typeface="Arial MT"/>
                        </a:rPr>
                        <a:t> </a:t>
                      </a:r>
                      <a:r>
                        <a:rPr sz="1800" spc="-5" dirty="0">
                          <a:latin typeface="Arial MT"/>
                          <a:cs typeface="Arial MT"/>
                        </a:rPr>
                        <a:t>deallocates</a:t>
                      </a:r>
                      <a:r>
                        <a:rPr sz="1800" spc="20" dirty="0">
                          <a:latin typeface="Arial MT"/>
                          <a:cs typeface="Arial MT"/>
                        </a:rPr>
                        <a:t> </a:t>
                      </a:r>
                      <a:r>
                        <a:rPr sz="1800" spc="-5" dirty="0">
                          <a:latin typeface="Arial MT"/>
                          <a:cs typeface="Arial MT"/>
                        </a:rPr>
                        <a:t>the</a:t>
                      </a:r>
                      <a:r>
                        <a:rPr sz="1800" spc="-15" dirty="0">
                          <a:latin typeface="Arial MT"/>
                          <a:cs typeface="Arial MT"/>
                        </a:rPr>
                        <a:t> </a:t>
                      </a:r>
                      <a:r>
                        <a:rPr sz="1800" spc="-5" dirty="0">
                          <a:latin typeface="Arial MT"/>
                          <a:cs typeface="Arial MT"/>
                        </a:rPr>
                        <a:t>memory of an</a:t>
                      </a:r>
                      <a:endParaRPr sz="1800">
                        <a:latin typeface="Arial MT"/>
                        <a:cs typeface="Arial MT"/>
                      </a:endParaRPr>
                    </a:p>
                    <a:p>
                      <a:pPr marL="471170">
                        <a:lnSpc>
                          <a:spcPct val="100000"/>
                        </a:lnSpc>
                      </a:pPr>
                      <a:r>
                        <a:rPr sz="1800" spc="-5" dirty="0">
                          <a:latin typeface="Arial MT"/>
                          <a:cs typeface="Arial MT"/>
                        </a:rPr>
                        <a:t>object.</a:t>
                      </a:r>
                      <a:endParaRPr sz="1800">
                        <a:latin typeface="Arial MT"/>
                        <a:cs typeface="Arial MT"/>
                      </a:endParaRPr>
                    </a:p>
                    <a:p>
                      <a:pPr marL="471170" indent="-343535">
                        <a:lnSpc>
                          <a:spcPct val="100000"/>
                        </a:lnSpc>
                        <a:buAutoNum type="arabicPeriod" startAt="2"/>
                        <a:tabLst>
                          <a:tab pos="471170" algn="l"/>
                          <a:tab pos="471805" algn="l"/>
                        </a:tabLst>
                      </a:pPr>
                      <a:r>
                        <a:rPr sz="1800" dirty="0">
                          <a:latin typeface="Arial MT"/>
                          <a:cs typeface="Arial MT"/>
                        </a:rPr>
                        <a:t>It</a:t>
                      </a:r>
                      <a:r>
                        <a:rPr sz="1800" spc="-15" dirty="0">
                          <a:latin typeface="Arial MT"/>
                          <a:cs typeface="Arial MT"/>
                        </a:rPr>
                        <a:t> </a:t>
                      </a:r>
                      <a:r>
                        <a:rPr sz="1800" spc="-10" dirty="0">
                          <a:latin typeface="Arial MT"/>
                          <a:cs typeface="Arial MT"/>
                        </a:rPr>
                        <a:t>doesn’t</a:t>
                      </a:r>
                      <a:r>
                        <a:rPr sz="1800" spc="5" dirty="0">
                          <a:latin typeface="Arial MT"/>
                          <a:cs typeface="Arial MT"/>
                        </a:rPr>
                        <a:t> </a:t>
                      </a:r>
                      <a:r>
                        <a:rPr sz="1800" dirty="0">
                          <a:latin typeface="Arial MT"/>
                          <a:cs typeface="Arial MT"/>
                        </a:rPr>
                        <a:t>take</a:t>
                      </a:r>
                      <a:r>
                        <a:rPr sz="1800" spc="-10" dirty="0">
                          <a:latin typeface="Arial MT"/>
                          <a:cs typeface="Arial MT"/>
                        </a:rPr>
                        <a:t> </a:t>
                      </a:r>
                      <a:r>
                        <a:rPr sz="1800" spc="-5" dirty="0">
                          <a:latin typeface="Arial MT"/>
                          <a:cs typeface="Arial MT"/>
                        </a:rPr>
                        <a:t>any</a:t>
                      </a:r>
                      <a:r>
                        <a:rPr sz="1800" spc="-10" dirty="0">
                          <a:latin typeface="Arial MT"/>
                          <a:cs typeface="Arial MT"/>
                        </a:rPr>
                        <a:t> argument.</a:t>
                      </a:r>
                      <a:endParaRPr sz="1800">
                        <a:latin typeface="Arial MT"/>
                        <a:cs typeface="Arial MT"/>
                      </a:endParaRPr>
                    </a:p>
                    <a:p>
                      <a:pPr marL="471170" marR="269240" indent="-342900">
                        <a:lnSpc>
                          <a:spcPct val="100000"/>
                        </a:lnSpc>
                        <a:buAutoNum type="arabicPeriod" startAt="2"/>
                        <a:tabLst>
                          <a:tab pos="471170" algn="l"/>
                          <a:tab pos="471805" algn="l"/>
                        </a:tabLst>
                      </a:pPr>
                      <a:r>
                        <a:rPr sz="1800" dirty="0">
                          <a:latin typeface="Arial MT"/>
                          <a:cs typeface="Arial MT"/>
                        </a:rPr>
                        <a:t>It</a:t>
                      </a:r>
                      <a:r>
                        <a:rPr sz="1800" spc="-15" dirty="0">
                          <a:latin typeface="Arial MT"/>
                          <a:cs typeface="Arial MT"/>
                        </a:rPr>
                        <a:t> </a:t>
                      </a:r>
                      <a:r>
                        <a:rPr sz="1800" spc="-5" dirty="0">
                          <a:latin typeface="Arial MT"/>
                          <a:cs typeface="Arial MT"/>
                        </a:rPr>
                        <a:t>is called automatically</a:t>
                      </a:r>
                      <a:r>
                        <a:rPr sz="1800" spc="10" dirty="0">
                          <a:latin typeface="Arial MT"/>
                          <a:cs typeface="Arial MT"/>
                        </a:rPr>
                        <a:t> </a:t>
                      </a:r>
                      <a:r>
                        <a:rPr sz="1800" spc="-15" dirty="0">
                          <a:latin typeface="Arial MT"/>
                          <a:cs typeface="Arial MT"/>
                        </a:rPr>
                        <a:t>when</a:t>
                      </a:r>
                      <a:r>
                        <a:rPr sz="1800" spc="40" dirty="0">
                          <a:latin typeface="Arial MT"/>
                          <a:cs typeface="Arial MT"/>
                        </a:rPr>
                        <a:t> </a:t>
                      </a:r>
                      <a:r>
                        <a:rPr sz="1800" dirty="0">
                          <a:latin typeface="Arial MT"/>
                          <a:cs typeface="Arial MT"/>
                        </a:rPr>
                        <a:t>the </a:t>
                      </a:r>
                      <a:r>
                        <a:rPr sz="1800" spc="-484" dirty="0">
                          <a:latin typeface="Arial MT"/>
                          <a:cs typeface="Arial MT"/>
                        </a:rPr>
                        <a:t> </a:t>
                      </a:r>
                      <a:r>
                        <a:rPr sz="1800" spc="-5" dirty="0">
                          <a:latin typeface="Arial MT"/>
                          <a:cs typeface="Arial MT"/>
                        </a:rPr>
                        <a:t>block</a:t>
                      </a:r>
                      <a:r>
                        <a:rPr sz="1800" dirty="0">
                          <a:latin typeface="Arial MT"/>
                          <a:cs typeface="Arial MT"/>
                        </a:rPr>
                        <a:t> </a:t>
                      </a:r>
                      <a:r>
                        <a:rPr sz="1800" spc="-5" dirty="0">
                          <a:latin typeface="Arial MT"/>
                          <a:cs typeface="Arial MT"/>
                        </a:rPr>
                        <a:t>is exited</a:t>
                      </a:r>
                      <a:r>
                        <a:rPr sz="1800" spc="5" dirty="0">
                          <a:latin typeface="Arial MT"/>
                          <a:cs typeface="Arial MT"/>
                        </a:rPr>
                        <a:t> </a:t>
                      </a:r>
                      <a:r>
                        <a:rPr sz="1800" spc="-5" dirty="0">
                          <a:latin typeface="Arial MT"/>
                          <a:cs typeface="Arial MT"/>
                        </a:rPr>
                        <a:t>or </a:t>
                      </a:r>
                      <a:r>
                        <a:rPr sz="1800" spc="-15" dirty="0">
                          <a:latin typeface="Arial MT"/>
                          <a:cs typeface="Arial MT"/>
                        </a:rPr>
                        <a:t>when</a:t>
                      </a:r>
                      <a:r>
                        <a:rPr sz="1800" spc="45" dirty="0">
                          <a:latin typeface="Arial MT"/>
                          <a:cs typeface="Arial MT"/>
                        </a:rPr>
                        <a:t> </a:t>
                      </a:r>
                      <a:r>
                        <a:rPr sz="1800" dirty="0">
                          <a:latin typeface="Arial MT"/>
                          <a:cs typeface="Arial MT"/>
                        </a:rPr>
                        <a:t>the </a:t>
                      </a:r>
                      <a:r>
                        <a:rPr sz="1800" spc="5" dirty="0">
                          <a:latin typeface="Arial MT"/>
                          <a:cs typeface="Arial MT"/>
                        </a:rPr>
                        <a:t> </a:t>
                      </a:r>
                      <a:r>
                        <a:rPr sz="1800" spc="-5" dirty="0">
                          <a:latin typeface="Arial MT"/>
                          <a:cs typeface="Arial MT"/>
                        </a:rPr>
                        <a:t>program</a:t>
                      </a:r>
                      <a:r>
                        <a:rPr sz="1800" spc="5" dirty="0">
                          <a:latin typeface="Arial MT"/>
                          <a:cs typeface="Arial MT"/>
                        </a:rPr>
                        <a:t> </a:t>
                      </a:r>
                      <a:r>
                        <a:rPr sz="1800" spc="-5" dirty="0">
                          <a:latin typeface="Arial MT"/>
                          <a:cs typeface="Arial MT"/>
                        </a:rPr>
                        <a:t>terminates.</a:t>
                      </a:r>
                      <a:endParaRPr sz="1800">
                        <a:latin typeface="Arial MT"/>
                        <a:cs typeface="Arial MT"/>
                      </a:endParaRPr>
                    </a:p>
                    <a:p>
                      <a:pPr marL="471170" marR="118110" indent="-342900">
                        <a:lnSpc>
                          <a:spcPct val="100000"/>
                        </a:lnSpc>
                        <a:buAutoNum type="arabicPeriod" startAt="2"/>
                        <a:tabLst>
                          <a:tab pos="471170" algn="l"/>
                          <a:tab pos="471805" algn="l"/>
                        </a:tabLst>
                      </a:pPr>
                      <a:r>
                        <a:rPr sz="1800" spc="-5" dirty="0">
                          <a:latin typeface="Arial MT"/>
                          <a:cs typeface="Arial MT"/>
                        </a:rPr>
                        <a:t>They</a:t>
                      </a:r>
                      <a:r>
                        <a:rPr sz="1800" spc="-20" dirty="0">
                          <a:latin typeface="Arial MT"/>
                          <a:cs typeface="Arial MT"/>
                        </a:rPr>
                        <a:t> </a:t>
                      </a:r>
                      <a:r>
                        <a:rPr sz="1800" spc="-5" dirty="0">
                          <a:latin typeface="Arial MT"/>
                          <a:cs typeface="Arial MT"/>
                        </a:rPr>
                        <a:t>allow</a:t>
                      </a:r>
                      <a:r>
                        <a:rPr sz="1800" dirty="0">
                          <a:latin typeface="Arial MT"/>
                          <a:cs typeface="Arial MT"/>
                        </a:rPr>
                        <a:t> </a:t>
                      </a:r>
                      <a:r>
                        <a:rPr sz="1800" spc="-5" dirty="0">
                          <a:latin typeface="Arial MT"/>
                          <a:cs typeface="Arial MT"/>
                        </a:rPr>
                        <a:t>objects</a:t>
                      </a:r>
                      <a:r>
                        <a:rPr sz="1800" spc="5" dirty="0">
                          <a:latin typeface="Arial MT"/>
                          <a:cs typeface="Arial MT"/>
                        </a:rPr>
                        <a:t> </a:t>
                      </a:r>
                      <a:r>
                        <a:rPr sz="1800" dirty="0">
                          <a:latin typeface="Arial MT"/>
                          <a:cs typeface="Arial MT"/>
                        </a:rPr>
                        <a:t>to</a:t>
                      </a:r>
                      <a:r>
                        <a:rPr sz="1800" spc="-5" dirty="0">
                          <a:latin typeface="Arial MT"/>
                          <a:cs typeface="Arial MT"/>
                        </a:rPr>
                        <a:t> execute</a:t>
                      </a:r>
                      <a:r>
                        <a:rPr sz="1800" dirty="0">
                          <a:latin typeface="Arial MT"/>
                          <a:cs typeface="Arial MT"/>
                        </a:rPr>
                        <a:t> </a:t>
                      </a:r>
                      <a:r>
                        <a:rPr sz="1800" spc="-5" dirty="0">
                          <a:latin typeface="Arial MT"/>
                          <a:cs typeface="Arial MT"/>
                        </a:rPr>
                        <a:t>code </a:t>
                      </a:r>
                      <a:r>
                        <a:rPr sz="1800" spc="-484" dirty="0">
                          <a:latin typeface="Arial MT"/>
                          <a:cs typeface="Arial MT"/>
                        </a:rPr>
                        <a:t> </a:t>
                      </a:r>
                      <a:r>
                        <a:rPr sz="1800" spc="-15" dirty="0">
                          <a:latin typeface="Arial MT"/>
                          <a:cs typeface="Arial MT"/>
                        </a:rPr>
                        <a:t>when</a:t>
                      </a:r>
                      <a:r>
                        <a:rPr sz="1800" spc="40" dirty="0">
                          <a:latin typeface="Arial MT"/>
                          <a:cs typeface="Arial MT"/>
                        </a:rPr>
                        <a:t> </a:t>
                      </a:r>
                      <a:r>
                        <a:rPr sz="1800" dirty="0">
                          <a:latin typeface="Arial MT"/>
                          <a:cs typeface="Arial MT"/>
                        </a:rPr>
                        <a:t>it </a:t>
                      </a:r>
                      <a:r>
                        <a:rPr sz="1800" spc="-5" dirty="0">
                          <a:latin typeface="Arial MT"/>
                          <a:cs typeface="Arial MT"/>
                        </a:rPr>
                        <a:t>is</a:t>
                      </a:r>
                      <a:r>
                        <a:rPr sz="1800" dirty="0">
                          <a:latin typeface="Arial MT"/>
                          <a:cs typeface="Arial MT"/>
                        </a:rPr>
                        <a:t> </a:t>
                      </a:r>
                      <a:r>
                        <a:rPr sz="1800" spc="-5" dirty="0">
                          <a:latin typeface="Arial MT"/>
                          <a:cs typeface="Arial MT"/>
                        </a:rPr>
                        <a:t>being</a:t>
                      </a:r>
                      <a:r>
                        <a:rPr sz="1800" dirty="0">
                          <a:latin typeface="Arial MT"/>
                          <a:cs typeface="Arial MT"/>
                        </a:rPr>
                        <a:t> </a:t>
                      </a:r>
                      <a:r>
                        <a:rPr sz="1800" spc="-10" dirty="0">
                          <a:latin typeface="Arial MT"/>
                          <a:cs typeface="Arial MT"/>
                        </a:rPr>
                        <a:t>destroyed.</a:t>
                      </a:r>
                      <a:endParaRPr sz="1800">
                        <a:latin typeface="Arial MT"/>
                        <a:cs typeface="Arial MT"/>
                      </a:endParaRPr>
                    </a:p>
                    <a:p>
                      <a:pPr marL="471170" marR="663575" indent="-342900">
                        <a:lnSpc>
                          <a:spcPct val="100000"/>
                        </a:lnSpc>
                        <a:buAutoNum type="arabicPeriod" startAt="2"/>
                        <a:tabLst>
                          <a:tab pos="471170" algn="l"/>
                          <a:tab pos="471805" algn="l"/>
                        </a:tabLst>
                      </a:pPr>
                      <a:r>
                        <a:rPr sz="1800" spc="-5" dirty="0">
                          <a:latin typeface="Arial MT"/>
                          <a:cs typeface="Arial MT"/>
                        </a:rPr>
                        <a:t>They are called in </a:t>
                      </a:r>
                      <a:r>
                        <a:rPr sz="1800" dirty="0">
                          <a:latin typeface="Arial MT"/>
                          <a:cs typeface="Arial MT"/>
                        </a:rPr>
                        <a:t>the </a:t>
                      </a:r>
                      <a:r>
                        <a:rPr sz="1800" spc="-5" dirty="0">
                          <a:latin typeface="Arial MT"/>
                          <a:cs typeface="Arial MT"/>
                        </a:rPr>
                        <a:t>reverse </a:t>
                      </a:r>
                      <a:r>
                        <a:rPr sz="1800" spc="-490" dirty="0">
                          <a:latin typeface="Arial MT"/>
                          <a:cs typeface="Arial MT"/>
                        </a:rPr>
                        <a:t> </a:t>
                      </a:r>
                      <a:r>
                        <a:rPr sz="1800" spc="-5" dirty="0">
                          <a:latin typeface="Arial MT"/>
                          <a:cs typeface="Arial MT"/>
                        </a:rPr>
                        <a:t>order</a:t>
                      </a:r>
                      <a:r>
                        <a:rPr sz="1800" dirty="0">
                          <a:latin typeface="Arial MT"/>
                          <a:cs typeface="Arial MT"/>
                        </a:rPr>
                        <a:t> of</a:t>
                      </a:r>
                      <a:r>
                        <a:rPr sz="1800" spc="-15" dirty="0">
                          <a:latin typeface="Arial MT"/>
                          <a:cs typeface="Arial MT"/>
                        </a:rPr>
                        <a:t> </a:t>
                      </a:r>
                      <a:r>
                        <a:rPr sz="1800" spc="-5" dirty="0">
                          <a:latin typeface="Arial MT"/>
                          <a:cs typeface="Arial MT"/>
                        </a:rPr>
                        <a:t>their</a:t>
                      </a:r>
                      <a:r>
                        <a:rPr sz="1800" spc="10" dirty="0">
                          <a:latin typeface="Arial MT"/>
                          <a:cs typeface="Arial MT"/>
                        </a:rPr>
                        <a:t> </a:t>
                      </a:r>
                      <a:r>
                        <a:rPr sz="1800" spc="-5" dirty="0">
                          <a:latin typeface="Arial MT"/>
                          <a:cs typeface="Arial MT"/>
                        </a:rPr>
                        <a:t>creation.</a:t>
                      </a:r>
                      <a:endParaRPr sz="1800">
                        <a:latin typeface="Arial MT"/>
                        <a:cs typeface="Arial MT"/>
                      </a:endParaRPr>
                    </a:p>
                    <a:p>
                      <a:pPr marL="471170" marR="485140" indent="-342900">
                        <a:lnSpc>
                          <a:spcPct val="100000"/>
                        </a:lnSpc>
                        <a:buAutoNum type="arabicPeriod" startAt="2"/>
                        <a:tabLst>
                          <a:tab pos="471170" algn="l"/>
                          <a:tab pos="471805" algn="l"/>
                        </a:tabLst>
                      </a:pPr>
                      <a:r>
                        <a:rPr sz="1800" spc="-5" dirty="0">
                          <a:latin typeface="Arial MT"/>
                          <a:cs typeface="Arial MT"/>
                        </a:rPr>
                        <a:t>There</a:t>
                      </a:r>
                      <a:r>
                        <a:rPr sz="1800" spc="-15" dirty="0">
                          <a:latin typeface="Arial MT"/>
                          <a:cs typeface="Arial MT"/>
                        </a:rPr>
                        <a:t> </a:t>
                      </a:r>
                      <a:r>
                        <a:rPr sz="1800" spc="-5" dirty="0">
                          <a:latin typeface="Arial MT"/>
                          <a:cs typeface="Arial MT"/>
                        </a:rPr>
                        <a:t>is</a:t>
                      </a:r>
                      <a:r>
                        <a:rPr sz="1800" dirty="0">
                          <a:latin typeface="Arial MT"/>
                          <a:cs typeface="Arial MT"/>
                        </a:rPr>
                        <a:t> </a:t>
                      </a:r>
                      <a:r>
                        <a:rPr sz="1800" spc="-5" dirty="0">
                          <a:latin typeface="Arial MT"/>
                          <a:cs typeface="Arial MT"/>
                        </a:rPr>
                        <a:t>a</a:t>
                      </a:r>
                      <a:r>
                        <a:rPr sz="1800" dirty="0">
                          <a:latin typeface="Arial MT"/>
                          <a:cs typeface="Arial MT"/>
                        </a:rPr>
                        <a:t> </a:t>
                      </a:r>
                      <a:r>
                        <a:rPr sz="1800" spc="-5" dirty="0">
                          <a:latin typeface="Arial MT"/>
                          <a:cs typeface="Arial MT"/>
                        </a:rPr>
                        <a:t>single</a:t>
                      </a:r>
                      <a:r>
                        <a:rPr sz="1800" spc="20" dirty="0">
                          <a:latin typeface="Arial MT"/>
                          <a:cs typeface="Arial MT"/>
                        </a:rPr>
                        <a:t> </a:t>
                      </a:r>
                      <a:r>
                        <a:rPr sz="1800" spc="-5" dirty="0">
                          <a:latin typeface="Arial MT"/>
                          <a:cs typeface="Arial MT"/>
                        </a:rPr>
                        <a:t>destructor</a:t>
                      </a:r>
                      <a:r>
                        <a:rPr sz="1800" dirty="0">
                          <a:latin typeface="Arial MT"/>
                          <a:cs typeface="Arial MT"/>
                        </a:rPr>
                        <a:t> </a:t>
                      </a:r>
                      <a:r>
                        <a:rPr sz="1800" spc="-5" dirty="0">
                          <a:latin typeface="Arial MT"/>
                          <a:cs typeface="Arial MT"/>
                        </a:rPr>
                        <a:t>in</a:t>
                      </a:r>
                      <a:r>
                        <a:rPr sz="1800" spc="-10" dirty="0">
                          <a:latin typeface="Arial MT"/>
                          <a:cs typeface="Arial MT"/>
                        </a:rPr>
                        <a:t> </a:t>
                      </a:r>
                      <a:r>
                        <a:rPr sz="1800" spc="-5" dirty="0">
                          <a:latin typeface="Arial MT"/>
                          <a:cs typeface="Arial MT"/>
                        </a:rPr>
                        <a:t>a </a:t>
                      </a:r>
                      <a:r>
                        <a:rPr sz="1800" spc="-484" dirty="0">
                          <a:latin typeface="Arial MT"/>
                          <a:cs typeface="Arial MT"/>
                        </a:rPr>
                        <a:t> </a:t>
                      </a:r>
                      <a:r>
                        <a:rPr sz="1800" spc="-5" dirty="0">
                          <a:latin typeface="Arial MT"/>
                          <a:cs typeface="Arial MT"/>
                        </a:rPr>
                        <a:t>class.</a:t>
                      </a:r>
                      <a:endParaRPr sz="1800">
                        <a:latin typeface="Arial MT"/>
                        <a:cs typeface="Arial MT"/>
                      </a:endParaRPr>
                    </a:p>
                    <a:p>
                      <a:pPr marL="471170" indent="-343535">
                        <a:lnSpc>
                          <a:spcPct val="100000"/>
                        </a:lnSpc>
                        <a:spcBef>
                          <a:spcPts val="5"/>
                        </a:spcBef>
                        <a:buAutoNum type="arabicPeriod" startAt="2"/>
                        <a:tabLst>
                          <a:tab pos="471170" algn="l"/>
                          <a:tab pos="471805" algn="l"/>
                        </a:tabLst>
                      </a:pPr>
                      <a:r>
                        <a:rPr sz="1800" spc="-5" dirty="0">
                          <a:latin typeface="Arial MT"/>
                          <a:cs typeface="Arial MT"/>
                        </a:rPr>
                        <a:t>Destructor can’t</a:t>
                      </a:r>
                      <a:r>
                        <a:rPr sz="1800" spc="5" dirty="0">
                          <a:latin typeface="Arial MT"/>
                          <a:cs typeface="Arial MT"/>
                        </a:rPr>
                        <a:t> </a:t>
                      </a:r>
                      <a:r>
                        <a:rPr sz="1800" spc="-5" dirty="0">
                          <a:latin typeface="Arial MT"/>
                          <a:cs typeface="Arial MT"/>
                        </a:rPr>
                        <a:t>be</a:t>
                      </a:r>
                      <a:r>
                        <a:rPr sz="1800" spc="-10" dirty="0">
                          <a:latin typeface="Arial MT"/>
                          <a:cs typeface="Arial MT"/>
                        </a:rPr>
                        <a:t> overloaded.</a:t>
                      </a:r>
                      <a:endParaRPr sz="1800">
                        <a:latin typeface="Arial MT"/>
                        <a:cs typeface="Arial MT"/>
                      </a:endParaRPr>
                    </a:p>
                  </a:txBody>
                  <a:tcPr marL="0" marR="0" marT="40005" marB="0">
                    <a:lnT w="12700">
                      <a:solidFill>
                        <a:srgbClr val="3A812E"/>
                      </a:solidFill>
                      <a:prstDash val="solid"/>
                    </a:lnT>
                    <a:lnB w="12700">
                      <a:solidFill>
                        <a:srgbClr val="3A812E"/>
                      </a:solidFill>
                      <a:prstDash val="solid"/>
                    </a:lnB>
                    <a:solidFill>
                      <a:srgbClr val="D7E5D5"/>
                    </a:solidFill>
                  </a:tcPr>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66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794</TotalTime>
  <Words>1998</Words>
  <Application>Microsoft Office PowerPoint</Application>
  <PresentationFormat>On-screen Show (4:3)</PresentationFormat>
  <Paragraphs>263</Paragraphs>
  <Slides>32</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PMingLiU-ExtB</vt:lpstr>
      <vt:lpstr>Arial</vt:lpstr>
      <vt:lpstr>Arial MT</vt:lpstr>
      <vt:lpstr>Calibri</vt:lpstr>
      <vt:lpstr>Consolas</vt:lpstr>
      <vt:lpstr>erdana</vt:lpstr>
      <vt:lpstr>inter-bold</vt:lpstr>
      <vt:lpstr>inter-regular</vt:lpstr>
      <vt:lpstr>PT Sans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rules for writing constructors are as  follows:</vt:lpstr>
      <vt:lpstr>Types of Constructors</vt:lpstr>
      <vt:lpstr>Default Constructor    </vt:lpstr>
      <vt:lpstr>PowerPoint Presentation</vt:lpstr>
      <vt:lpstr>no-arg constructor: </vt:lpstr>
      <vt:lpstr>Example: no-arg constructor </vt:lpstr>
      <vt:lpstr>Parameterized constructor </vt:lpstr>
      <vt:lpstr>Example: parameterized constructor </vt:lpstr>
      <vt:lpstr>Output</vt:lpstr>
      <vt:lpstr>Example2: parameterized constructor </vt:lpstr>
      <vt:lpstr>Continue…</vt:lpstr>
      <vt:lpstr>What if you implement only parameterized constructor in class </vt:lpstr>
      <vt:lpstr>PowerPoint Presentation</vt:lpstr>
      <vt:lpstr>Difference between Constructor and Method</vt:lpstr>
      <vt:lpstr>Constructor Overloading</vt:lpstr>
      <vt:lpstr>Copy Constructor</vt:lpstr>
      <vt:lpstr>PowerPoint Presentation</vt:lpstr>
      <vt:lpstr>Copy Constructor Vs clone() Method </vt:lpstr>
      <vt:lpstr>Java Copy Constructor</vt:lpstr>
      <vt:lpstr>Destructor</vt:lpstr>
      <vt:lpstr>Destructor</vt:lpstr>
      <vt:lpstr>Destructor</vt:lpstr>
      <vt:lpstr>Java finalize() Method</vt:lpstr>
      <vt:lpstr>Example of Destructor</vt:lpstr>
      <vt:lpstr>Difference Between Constructor and Destructor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BCSE103E Computer Programming : Java</dc:title>
  <dc:creator>Magizh</dc:creator>
  <cp:lastModifiedBy>Swathi M</cp:lastModifiedBy>
  <cp:revision>18</cp:revision>
  <dcterms:created xsi:type="dcterms:W3CDTF">2022-09-04T14:10:13Z</dcterms:created>
  <dcterms:modified xsi:type="dcterms:W3CDTF">2022-10-26T15:33:11Z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2022-08-25T00:00:00Z</vt:filetime>
  </property>
  <property fmtid="{D5CDD505-2E9C-101B-9397-08002B2CF9AE}" pid="3" name="Creator">
    <vt:lpwstr>Microsoft® PowerPoint® 2010</vt:lpwstr>
  </property>
  <property fmtid="{D5CDD505-2E9C-101B-9397-08002B2CF9AE}" pid="4" name="LastSaved">
    <vt:filetime>2022-09-04T00:00:00Z</vt:filetime>
  </property>
</Properties>
</file>